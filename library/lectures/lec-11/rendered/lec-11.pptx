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 мае 2024 Tesla отступила от next-generation gigacasting для Model 2. Сама по себе эта новость звучит как сухой производственный апдейт. Но это уже вторая отмена. Первая случилась в апреле 2018, в разгар «production hell» Model 3, когда Илон Маск признал: «Yes, excessive automation at Tesla was a mistake. To be precise, my mistake. Humans are underrated». Та цитата стала канонической не потому, что она звучит ярко, а потому что её произнёс самый известный AI-оптимист индустрии — про собственный завод.</a:t>
            </a:r>
          </a:p>
          <a:p/>
          <a:p>
            <a:r>
              <a:t>Шесть лет спустя Tesla снова попробовала переавтоматизировать — на этот раз через единое алюминиевое литьё всего днища кузова. И снова отступила. Компании не учатся «один раз». Это не разовая ошибка одного руководителя — это структурный паттерн: каждое поколение менеджеров повторяет ставку на «replace humans with machines», и каждое поколение упирается в то же ограничение.</a:t>
            </a:r>
          </a:p>
          <a:p/>
          <a:p>
            <a:r>
              <a:t>Параллельно с Tesla — General Electric потратила больше 4 миллиардов долларов на промышленную платформу Predix и распродала её по частям к 2020 году. IBM Watson Health продан за 1 миллиард в 2022, после маркетинговых обещаний снижения downtime на 47%. Foxconn Wisconsin: 10 тысяч обещанных рабочих мест в 2018 превратились в 1500 к 2024, площадка теперь — дата-центр Microsoft.</a:t>
            </a:r>
          </a:p>
          <a:p/>
          <a:p>
            <a:r>
              <a:t>И поверх всего этого — данные MIT Sloan 2025: 95 процентов AI-пилотов не доходят до production. Среднее время от запуска пилота до его закрытия — 14 месяцев. Перерасход на пути к production — в среднем 380 процентов.</a:t>
            </a:r>
          </a:p>
          <a:p/>
          <a:p>
            <a:r>
              <a:t>Это лекция не про то, как AI трансформирует производство. Это лекция про то, где он работает, где не работает, и как инженер должен решать, в какой колонне он стоит — дискретное производство или процессное — и какой набор инструментов применим в каждой.</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Лекция 11 — это первая из двух лекций про реальное производство в этом курсе. Сегодня мы разбираем дискретное производство (сборка автомобилей, электроники, авионики — где единицы продукции считаются штучно) и процессное производство (химия, фарма, металлургия, цемент — где материал течёт непрерывным потоком). Лекция 12 на следующей неделе продолжит эту тему с фокусом на цифровые двойники и сшивку отдельных инструментов.</a:t>
            </a:r>
          </a:p>
          <a:p/>
          <a:p>
            <a:r>
              <a:t>Пять целей обучения по таксономии Блума. LO1a и LO1b — назвать инструменты и для конкретного кейса понять, какая колонна. LO2 — критически оценивать vendor-claim, потому что 95 процентов пилотов не доходят до production не потому что AI плох, а потому что инженеры не задают правильные вопросы. LO7 — различить два архитектурных выбора: AI как chat-помощник для оператора, или AI как замыкание control loop. LO8 — самая важная цель — сформулировать критерии, когда AI не подходит, и применить их к кейсу. Это лекция про критическое мышление в применении AI к промышленности, а не про восторг от технологий.</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Карта лекции компактная и предсказуемая. Сначала разберём то, что общее для обеих моделей производства — это занимает примерно 12 минут. Adoption landscape с цифрой 78 процентов используют AI и только 5,5 процентов — high performers; индустриальные фундаментальные модели Siemens и Foxconn; OT/IT раскол как фундаментальное препятствие; и три хайп-провала на 4 миллиарда долларов каждый, чтобы поднять scepticism до старта.</a:t>
            </a:r>
          </a:p>
          <a:p/>
          <a:p>
            <a:r>
              <a:t>Затем 17 минут на дискретное производство — компьютерное зрение, коботы, провал Tesla 2018 и границы CV. Дальше 17 минут на процессное — мягкие сенсоры, гибрид MPC и RL, прогностическое обслуживание на границе и регуляторика, которая часто блокирует AI на финальном шаге.</a:t>
            </a:r>
          </a:p>
          <a:p/>
          <a:p>
            <a:r>
              <a:t>Затем 12 минут на самую важную часть — рамку решения. Четыре категории критериев, матрица альтернатив, и worked example Pfizer Vox, на котором мы проходим framework шаг за шагом. И последние 6 минут — замыкание и Q&amp;A.</a:t>
            </a:r>
          </a:p>
          <a:p/>
          <a:p>
            <a:r>
              <a:t>Если у вас сейчас в голове крутится вопрос «когда я могу использовать AI в проекте» — он получит ответ в разделе 4. Раздел 4 — это payoff лекции.</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Шесть терминов из мира промышленных систем, которые понадобятся для этой лекции и для всей карьеры в industrial AI. Остальные acronyms — типа GAMP, ATEX, FKDPP, CIRL — я буду расшифровывать inline при первом упоминании.</a:t>
            </a:r>
          </a:p>
          <a:p/>
          <a:p>
            <a:r>
              <a:t>ISA-95 — это пятиуровневая модель Purdue: L0 — физический процесс, L1 — контроллеры, L2 — диспетчерский слой, L3 — оперативное управление, L4 — корпоративные системы. Эта иерархия — не академическая абстракция, это реальная карта того, куда AI заходит легко, а куда нет. AI спокойно работает на L3 и L4 — это IT-мир, eventually-consistent, audit trail управляемый. На L2 — со скрипом, через decision-support. На L1 — почти никогда, потому что PLC-цикл 1–10 миллисекунд, детерминированный, и LLM с задержкой 100–500 миллисекунд физически не вмещается.</a:t>
            </a:r>
          </a:p>
          <a:p/>
          <a:p>
            <a:r>
              <a:t>OEE — самая важная метрика, которую вы должны помнить. Когда вендор приходит и говорит «наше AI снизит downtime на 25 процентов» — спросите, что с performance, что с quality, и какой компонент OEE он улучшает. Если он не знает — это уже ответ.</a:t>
            </a:r>
          </a:p>
          <a:p/>
          <a:p>
            <a:r>
              <a:t>Мягкий сенсор — фундаментальная концепция процессного производства, мы вернёмся к ней в разделе 3 на кейсах BASF Geismar и Pfizer Vox.</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keystone слайд лекции. Запомните это разделение, потому что мы будем возвращаться к нему весь следующий час с четвертью.</a:t>
            </a:r>
          </a:p>
          <a:p/>
          <a:p>
            <a:r>
              <a:t>Производство делится на две принципиально разные ветви. Дискретное — это там, где продукция считается штучно: автомобиль, телефон, авионика, бытовая техника. На сборочном конвейере проходит конкретный объект, и его можно сфотографировать, измерить, проверить. AI здесь применяется в трёх главных направлениях: компьютерное зрение для контроля качества на инспекции готового изделия; коботы для подачи деталей и помощи оператору; и generative process planning для планирования операций. Канонический провал дискретного — Tesla 2018, когда Маск сам публично признал, что переавтоматизировал и людей мы недооценили.</a:t>
            </a:r>
          </a:p>
          <a:p/>
          <a:p>
            <a:r>
              <a:t>Процессное — это там, где материал течёт. Химический реактор, фармацевтическая линия, доменная печь, цементный карьер, пивоварня. Здесь нет «штучного объекта», есть batch или непрерывный поток. AI здесь применяется в трёх других направлениях: мягкие сенсоры, которые оценивают качество в реальном времени без лабораторных проб; гибрид MPC и RL для управления режимами; и прогностическое обслуживание оборудования. Канонический провал процессного — F-35 ALIS, система прогностического обслуживания на 44 тысячи долларов в час, которую в итоге отменили.</a:t>
            </a:r>
          </a:p>
          <a:p/>
          <a:p>
            <a:r>
              <a:t>Это разные физики, разные регуляторные карты, разные организационные культуры. Когда вы приходите на новое предприятие, первое, что вы должны определить — в какой колонне вы стоите. Из этого следует, какой AI-стек применим, и какие провалы возможны.</a:t>
            </a:r>
          </a:p>
          <a:p/>
          <a:p>
            <a:r>
              <a:t>И поверх обеих колонн — общий универсальный пояс: застревание на пилотной стадии. 78 процентов компаний используют AI хоть в каком-то виде, но только 5,5 процента вытащили из него больше 5 процентов EBIT. Это значит, что три четверти всех проектов «застревают». MIT Sloan уточняет: 95 процентов пилотов не доходят до production. Это не свойство какой-то одной отрасли — это структурная картина 2025-2026 года в обеих колоннах.</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Раздел 1 — это базовый слой. Прежде чем углубляться в дискретное и в процессное по отдельности, нужно понять, что общего у обеих ветвей в 2025-2026 году. Где общая статистика adoption, где общие препятствия, где общие провалы.</a:t>
            </a:r>
          </a:p>
          <a:p/>
          <a:p>
            <a:r>
              <a:t>Раздел займёт примерно 12 минут. Пять слайдов: adoption landscape с числом 78 процентов используют AI и только 5,5 процентов — high performers; расхождение рыночных оценок в 5 раз между аналитиками; OT/IT раскол как фундаментальный structural divide; индустриальные фундаментальные модели Siemens и Foxconn с тремя причинами, почему они не контроллер; и трио хайп-провалов.</a:t>
            </a:r>
          </a:p>
          <a:p/>
          <a:p>
            <a:r>
              <a:t>Если у вас сейчас в голове крутится оптимистический настрой про AI в производстве — этот раздел снимет наивность. Если у вас наоборот скептический — раздел не убедит, что всё провал, потому что мы дальше покажем работающие кейсы.</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Запомните эти две цифры. 78 процентов компаний используют AI в каком-то виде в 2025 году. И только 5,5 процента — это high performers, у которых AI создаёт EBIT-impact больше 5 процентов. Разрыв — в 14 раз. McKinsey называет это adoption-value gap.</a:t>
            </a:r>
          </a:p>
          <a:p/>
          <a:p>
            <a:r>
              <a:t>Не верите McKinsey — посмотрите MIT Sloan. 95 процентов GenAI-пилотов не доходят до production. Среднее время от запуска пилота до его закрытия — 14 месяцев. Перерасход бюджета на пути к production — в среднем 380 процентов. Это очень много, и это среднее, не максимум.</a:t>
            </a:r>
          </a:p>
          <a:p/>
          <a:p>
            <a:r>
              <a:t>RAND даёт ещё более жёсткую цифру: 80,3 процента AI-проектов не приносят запланированной business value. Из 684 миллиардов долларов, инвестированных в AI к концу 2025 года, 547 миллиардов — без business value. Это значит, что почти 80 процентов глобальных AI-денег прожжены в пилотах, которые не дошли до production.</a:t>
            </a:r>
          </a:p>
          <a:p/>
          <a:p>
            <a:r>
              <a:t>Deloitte подтверждает: 42 процента компаний в 2025 закрыли хотя бы одну AI-инициативу. И средний sunk cost на каждую закрытую инициативу — 7,2 миллиона долларов.</a:t>
            </a:r>
          </a:p>
          <a:p/>
          <a:p>
            <a:r>
              <a:t>Запомните этот паттерн: застревание на пилотной стадии — это норма, а не аномалия. Когда мы дальше в разделе 4 будем разбирать рамку решения «когда AI не нужен», вы должны держать в голове эти числа. Большинство тех, кто думает, что им нужен AI, ошибаются.</a:t>
            </a:r>
          </a:p>
          <a:p/>
          <a:p>
            <a:r>
              <a:t>И вот сюда же про OEE. Vendor приходит и говорит: наш AI снизит downtime на 25 процентов. Прекрасно. А что с performance? Что с quality? OEE — это произведение трёх компонентов: доступность × производительность × качество. Если вендор снижает downtime на 25 процентов, но при этом теряет 5 процентов на качестве — OEE может не вырасти вообще или даже упасть. Поэтому третий вопрос к любому вендору после baseline и измерительного окна — в какой компонент OEE добавляется эффект.</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первая красная тряпка для инженера, который работает с industrial AI. Три респектабельных аналитических компании в одном и том же году дают три радикально разные оценки одного и того же сегмента. Markets and Markets — 34 миллиарда долларов. Fortune Business Insights — 7,6 миллиарда. Precedence Research — 8,57 миллиарда. Разница между крайними — четыре с половиной раза.</a:t>
            </a:r>
          </a:p>
          <a:p/>
          <a:p>
            <a:r>
              <a:t>Кто из них прав? Никто. Они все правы внутри своих определений сегмента и своей methodology. Markets and Markets включает в «AI in manufacturing» сервисы, оборудование, ПО, консалтинг. Fortune Business Insights считает только программные платформы. Precedence — где-то посередине. И это даже не учитывая разницу между «выручка от продаж» и «общий объём расходов корпораций на AI».</a:t>
            </a:r>
          </a:p>
          <a:p/>
          <a:p>
            <a:r>
              <a:t>Почему это важно для нас. Когда вендор приходит на встречу с цифрой «рынок наш сегмент 100 миллиардов к 2030» — это маркетинг. Когда аналитик в LinkedIn пишет «AI in manufacturing вырастет в 5 раз» — он повторяет один из этих источников, не зная разницы между ними. Инженер, который принимает решения по procurement, должен научиться спрашивать: какая methodology за этой цифрой? Что включается в сегмент? Это growth от текущей низкой базы или от завышенной?</a:t>
            </a:r>
          </a:p>
          <a:p/>
          <a:p>
            <a:r>
              <a:t>И отдельная нота — Gartner оценивает worldwide GenAI spending в 644 миллиарда долларов на 2025 год. Но это все индустрии вместе: финансы, ретейл, healthcare, manufacturing. Когда такие большие цифры начинают летать по презентациям без указания scope, это плохой знак.</a:t>
            </a:r>
          </a:p>
          <a:p/>
          <a:p>
            <a:r>
              <a:t>Это первый из трёх вопросов, которые мы соберём для кармана: что за methodology за вашей цифрой?</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второй фундаментальный концепт, который вы должны унести из этой лекции. OT/IT раскол.</a:t>
            </a:r>
          </a:p>
          <a:p/>
          <a:p>
            <a:r>
              <a:t>OT — это Operational Technology. Это мир PLC, SCADA, конвейеров, реакторов, доменных печей. Здесь время измеряется в миллисекундах. PLC-цикл управления — 1-10 миллисекунд, и это детерминированный budget. Команда «закрой клапан» должна быть исполнена за гарантированный отрезок времени, иначе процесс пошёл вразнос. Никакой eventual consistency, никакого «возможно, обновится через секунду». Audit trail обязательный, регуляторный — FDA Part 11 в фарме, GAMP в фарма-валидации, ATEX в взрывоопасных зонах. Сертификация SIL 2/3 для safety-critical контуров. Любое изменение требует валидации.</a:t>
            </a:r>
          </a:p>
          <a:p/>
          <a:p>
            <a:r>
              <a:t>IT — это всё остальное. Облако, ML pipelines, корпоративные приложения, ноутбуки операторов. Здесь время в миллисекундах-секундах, иногда минутах. Eventually-consistent — это нормальный паттерн: я отправил запрос в облако, ответ придёт за неопределённое время, иногда повторно. SaaS-обновления каждую неделю — нормально. Audit trail есть, но он для security и compliance, не для control.</a:t>
            </a:r>
          </a:p>
          <a:p/>
          <a:p>
            <a:r>
              <a:t>AI родился и живёт в IT-мире. ML pipelines, GPU-обучение, foundation models, облачные API. И когда AI приходит в производство, он приходит из IT в OT. И упирается в этот фундаментальный structural divide. LLM с задержкой запроса 100-500 миллисекунд физически не вмещается в PLC-цикл 1-10 миллисекунд. Это не «пока не оптимизировали» — это арифметика, разница в 50-100 раз.</a:t>
            </a:r>
          </a:p>
          <a:p/>
          <a:p>
            <a:r>
              <a:t>Из этого следует важный вывод. AI на L3 ISA-95 — на уровне MES — работает спокойно. AI на L4 — корпоративные системы — работает. На L2 — со скрипом, через decision-support, через chat-помощник для оператора. На L1 — почти никогда, кроме узких edge-кейсов с ML-копроцессором рядом с PLC. На L0 — никогда.</a:t>
            </a:r>
          </a:p>
          <a:p/>
          <a:p>
            <a:r>
              <a:t>OT/IT раскол — это не временное препятствие, которое уйдёт через 5 лет. Это структурная характеристика разной физики двух миров.</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Siemens на Hannover Messe в марте 2025 объявила Industrial Foundation Model. Они обучили его на 150 петабайтах верифицированных engineering data — чертежи, P&amp;ID диаграммы, спецификации, инструкции по эксплуатации — плюс 1000 с лишним их собственных AI-патентов. Foxconn в том же марте представила FoxBrain — derivative от Llama 3.1 70B с дотренировкой техниками DeepSeek, заточенный под параметры injection-molding для производства корпусов.</a:t>
            </a:r>
          </a:p>
          <a:p/>
          <a:p>
            <a:r>
              <a:t>Это серьёзные модели от серьёзных компаний. И вокруг них сейчас много маркетинга про «революцию в производстве». Я хочу, чтобы вы сделали один правильный концептуальный шаг и поняли, что эти модели — augmentation для инженера. Это не autonomous controller. И не станут им. Три причины, и эти причины не уходят со временем.</a:t>
            </a:r>
          </a:p>
          <a:p/>
          <a:p>
            <a:r>
              <a:t>Первая — задержка вывода. LLM требует 100-500 миллисекунд на ответ на запрос. Это не «пока медленно, скоро ускорим». Это арифметика для transformer-моделей с миллиардами параметров. PLC-цикл управления — 1-10 миллисекунд детерминированный budget. LLM физически не вмещается в этот budget. Команда «закрой клапан, открой клапан» приходит каждые 10 миллисекунд, и она должна исполниться, не пропустить.</a:t>
            </a:r>
          </a:p>
          <a:p/>
          <a:p>
            <a:r>
              <a:t>Вторая — галлюцинации. LLM по природе своей даёт недетерминированный output. Один и тот же запрос может дать разные ответы. Это нормально для chat-помощника — оператор видит вариант, оценивает, принимает. Это категорически несовместимо с замыканием control loop. Контроллер не имеет права придумать команду «открой клапан на 47 процентов», если такая команда не предусмотрена логикой. Это не философское возражение — это инженерное.</a:t>
            </a:r>
          </a:p>
          <a:p/>
          <a:p>
            <a:r>
              <a:t>Третья — сертификация. SIL 2/3 для safety-critical контуров; FDA Part 11 для фармы; GAMP 5 для валидации; ATEX для взрывоопасных зон. Все эти регуляторные рамки требуют audit trail: какая версия системы выдала какую команду, на каком входе, в какой момент. Black-box ML такого audit trail не даёт. Нет «версии модели», есть «веса нейросети». Регуляторы это не принимают.</a:t>
            </a:r>
          </a:p>
          <a:p/>
          <a:p>
            <a:r>
              <a:t>Значит, Siemens IFM работает там, где помогает инженеру разобрать чертежи. FoxBrain работает там, где подсказывает параметры injection-molding. Они не управляют станком напрямую и не будут. Когда вы услышите «фундаментальная модель управляет заводом» — это маркетинг, это не архитектура.</a:t>
            </a:r>
          </a:p>
          <a:p/>
          <a:p>
            <a:r>
              <a:t>И это очень важный архитектурный выбор: chat-помощник для оператора, который наблюдает, или autonomous controller, который замыкает контур. Это два разных архитектурных класса AI, и они не подменяются.</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Tesla Optimus — отличный наглядный пример паттерна «демо есть, production нет». Tesla показала Optimus впервые в 2022. С тех пор было несколько публичных демо: робот складывает футболки, переносит коробки, ходит по фабрике, передаёт инструменты другим работникам. Это всё впечатляющие видео.</a:t>
            </a:r>
          </a:p>
          <a:p/>
          <a:p>
            <a:r>
              <a:t>Маркетинговое обещание Маска было ярким: 10-20 тысяч Optimus на собственных заводах Tesla к 2025, цена около 30 тысяч долларов за юнит, миллионы юнитов к 2030.</a:t>
            </a:r>
          </a:p>
          <a:p/>
          <a:p>
            <a:r>
              <a:t>Reality check на февраль 2026: Tesla Optimus не задействован в production-сборке ни на одном заводе. Ни на Fremont, ни на Giga Texas, ни на Giga Berlin, ни на Giga Shanghai. Совсем. Самый заметный публичный эпизод — Cybercab event в октябре 2024, где Optimus раздавали напитки гостям. Wired потом подтвердил, что роботы управлялись людьми удалённо. То есть это было дистанционное управление, а не автономная работа.</a:t>
            </a:r>
          </a:p>
          <a:p/>
          <a:p>
            <a:r>
              <a:t>Это не критика Tesla конкретно. Это иллюстрация очень важного паттерна. Демо демонстрирует capability в контролируемой среде, при участии операторов и инженеров. Production требует надёжности 99,9 процентов в неконтролируемой среде, в течение десятков тысяч часов, в тысячах юнитов одновременно. Между этими двумя состояниями — обычно 5-10 лет инженерной работы. И большинство демо до production не доходят.</a:t>
            </a:r>
          </a:p>
          <a:p/>
          <a:p>
            <a:r>
              <a:t>Когда вы видите красивое видео — спрашивайте, на скольких юнитах развёрнуто, в каких условиях, какая статистика отказов. Если ответ «пилот на трёх юнитах в контролируемой среде» — это не production, это демо.</a:t>
            </a:r>
          </a:p>
          <a:p/>
          <a:p>
            <a:r>
              <a:t>И этот паттерн мы увидим ещё много раз сегодня: на коботах, на foundation models, на digital twins.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Три истории, каждая на 4 миллиарда долларов плюс. Три разных компании, три разных провала, три разных урока. Запомните их — это ваша вакцина против AI-восторгов на следующих десяти переговорах.</a:t>
            </a:r>
          </a:p>
          <a:p/>
          <a:p>
            <a:r>
              <a:t>GE Predix. С 2011 по 2020 годы General Electric потратил больше 4 миллиардов долларов на построение Predix — собственного промышленного облака, AOS for industrial, конкурента AWS для производственного сегмента. Идея была амбициозная: GE как технологическая компания, а не машиностроительная. Стратегия — «be everything to everyone». В 2017 году пришёл новый CEO Джон Фланнери, объявил двухмесячный таймаут на пересмотр. К 2018 году стало ясно — стратегия не работает. К 2020 году Predix распродали по частям. Урок прямой: industrial AI — это не general cloud AI с другой подложкой. Это другой класс задач, требующий другой архитектуры, других людей, других контрактов. Размер инвестиций не гарантирует результат.</a:t>
            </a:r>
          </a:p>
          <a:p/>
          <a:p>
            <a:r>
              <a:t>IBM Watson Health и Manufacturing. С 2018 по 2022 годы IBM продавал AI-решения для healthcare и production с яркими маркетинговыми цифрами: 47 процентов снижение downtime, 48 процентов снижение defect rate. В реальности — Watson for Drug Discovery остановили в 2019, корейские больницы не продлили контракты. К 2022 году Watson Health продали Francisco Partners примерно за миллиард. Урок: маркетинговые проценты в pitch deck — это не measured production metrics. Когда вендор показывает 47 процентов в презентации без указания baseline, окна измерения и control group — он не лжёт, он демонстрирует best-case scenario, который редко воспроизводится.</a:t>
            </a:r>
          </a:p>
          <a:p/>
          <a:p>
            <a:r>
              <a:t>Foxconn Wisconsin. В июне 2018 года Дональд Трамп и Терри Гоу заложили первый камень в Mount Pleasant. Глава государства назвал проект «восьмым чудом света». Обещано 10 миллиардов долларов инвестиций и 10 тысяч рабочих мест. Штат выделил 3 миллиарда долларов субсидий. К 2024 году: 10 тысяч рабочих превратились в 1500. LCD-проект превратился в производство меньших экранов, потом в AI-hub без сотрудников, потом в кофейные киоски, потом в обсуждение fish farming. В мае 2024 года Microsoft объявил, что построит на этой площадке Fairwater AI data center за 3,3 миллиарда долларов — на руинах того, что обещали как «восьмое чудо света». Урок: когда маркетинг превышает физику, не верить. «Чудо света» от главы государства про производство — это anti-signal, предсказывает провал.</a:t>
            </a:r>
          </a:p>
          <a:p/>
          <a:p>
            <a:r>
              <a:t>Эти три истории — общий урок. AI в производстве — это не магическая пилюля, это инженерия. И когда вам обещают что-то, что звучит слишком хорошо, спрашивайте детали. Большие провалы оставляют публичный след, на них можно учиться.</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Раздел 2 — это deep-dive в дискретное производство. 17 минут, 9 слайдов. Здесь мы разберём, что реально работает на сборочных линиях BMW и TSMC, и где AI ломается — Boeing 737, Tesla 2018.</a:t>
            </a:r>
          </a:p>
          <a:p/>
          <a:p>
            <a:r>
              <a:t>Главные cornerstones раздела: компьютерное зрение для контроля качества; эталонная разметка как фундаментальная проблема; OEE callback в прогностическом обслуживании; принцип Jidoka и Toyota Production System как анти-теза автоматизации без остатка; границы CV и альтернативные методы — структурированный свет, рентген, rules-based vision.</a:t>
            </a:r>
          </a:p>
          <a:p/>
          <a:p>
            <a:r>
              <a:t>В конце раздела — failure-pattern matrix дискретного, четыре типа провалов с конкретными кейсами.</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Раздел 3 — это deep-dive в процессное производство. Тоже 17 минут, 7 слайдов. Здесь другая физика, другие инструменты, другие провалы.</a:t>
            </a:r>
          </a:p>
          <a:p/>
          <a:p>
            <a:r>
              <a:t>Главные cornerstones раздела: мягкие сенсоры — software-модели вместо лабораторных проб; MPC и RL гибрид, где RL расширяет PID, не замещает; детерминизм edge-вывода — почему latency = determinism, а не только speed; и регуляторные блокеры FDA Part 11 / ATEX / Указ 250 — где AI упирается в сертификацию.</a:t>
            </a:r>
          </a:p>
          <a:p/>
          <a:p>
            <a:r>
              <a:t>В конце раздела — failure-pattern matrix процессного, симметрично к разделу 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Раздел 4 — это payoff лекции. Всё, что мы разобрали до этого, сходится здесь в один практический инструмент: рамку решения «когда AI не нужен».</a:t>
            </a:r>
          </a:p>
          <a:p/>
          <a:p>
            <a:r>
              <a:t>Двенадцать минут. Четыре слайда — но это четыре самых важных слайда сегодня. На s32 — четыре категории критериев, организованные тематически: данные, стоимость, регуляторика, человек. На s33 — матрица альтернатив: SPC, DOE, MPC, RCM, physics-based simulation, rules-based vision — каждый со своей нишей. На s34 — worked example: проходим Pfizer Vox через 5-step framework шаг за шагом. На s35 — sam framework плюс 3 вопроса к вендору + OEE-вопрос.</a:t>
            </a:r>
          </a:p>
          <a:p/>
          <a:p>
            <a:r>
              <a:t>Если вы запомните только один слайд из этой лекции — это должен быть s32 или s35. Они компактные, они применимы напрямую, и они работают на любом AI-проекте, который вы увидите в карьере.</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Раздел 5 — это замыкание. 6 минут. Три слайда. Recap двухколонной схемы с конкретным failure-callback, который я хочу, чтобы вы запомнили формулой. Q&amp;A с пятью вопросами к вендору для кармана. И closing hero — BMW Digital Twin как bridge к лекции 12, которая на следующей неделе.</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Дискретное производство — это та область, где компьютерное зрение для контроля качества действительно работает в production уже сегодня. Три рабочих кейса.</a:t>
            </a:r>
          </a:p>
          <a:p/>
          <a:p>
            <a:r>
              <a:t>BMW Plant Regensburg в 2024 году получил премию «Factory of the Year». В 2025 году они развернули GenAI4Q — bespoke inspection catalogue, где каждый автомобиль на сборочной линии имеет свой собственный набор checkpoints в зависимости от конфигурации. Если клиент заказал спортивный пакет — это другие точки контроля. Это уже не universal computer vision, это GenAI, который генерирует план инспекции под конкретный билд. Партнёр — Datagon AI.</a:t>
            </a:r>
          </a:p>
          <a:p/>
          <a:p>
            <a:r>
              <a:t>TSMC, тайваньский производитель чипов, использует CV для wafer defect detection на 5nm и 3nm узлах. Accuracy — 95 процентов на классификации дефектов. Yield improvement — 10-15 процентов. На high-volume fab, который производит миллионы wafers в год, 10-15 процентов yield — это сотни миллионов долларов чистой прибыли. Это самый зрелый сегмент CV в производстве — wafer inspection полупроводников.</a:t>
            </a:r>
          </a:p>
          <a:p/>
          <a:p>
            <a:r>
              <a:t>Boeing после кризиса январь 2024 — мы про него на следующем слайде — начал в декабре 2025 разворачивать CV-инспекцию критических зон fuselage 737. Photo-driven part validation: фотография части → AI сверяет с CAD-моделью → flag отклонений. Это не замена ручной инспекции, это дополнительный слой.</a:t>
            </a:r>
          </a:p>
          <a:p/>
          <a:p>
            <a:r>
              <a:t>Что общее у всех трёх кейсов — эталонная разметка. Это та самая ground truth, размеченные экспертами примеры дефектов и правильных конфигураций, на которых учится модель. И вот здесь проблема: defect rate в normal production — 1-2 процента. Class imbalance: модель надо тренировать на десятках тысяч нормальных примеров и сравнительно скудных дефектах. Чем редкая аномалия, тем хуже модель её ловит. Это структурное ограничение, и на следующем слайде мы увидим, как оно проявилось в Boeing 737.</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самый важный анти-кейс в дискретном производстве сегодня. Запомните, что я скажу.</a:t>
            </a:r>
          </a:p>
          <a:p/>
          <a:p>
            <a:r>
              <a:t>5 января 2024 года рейс Alaska Airlines 1282, Boeing 737 MAX 9, поднимался из Портленда. На высоте около 16 тысяч футов из фюзеляжа вылетает door plug — это заглушка аварийного выхода, установленная вместо настоящей двери на конкретной комплектации. Все 171 пассажир и 6 членов экипажа выжили только потому, что высота была низкая и большинство было пристёгнуто. Это был критический инцидент, один шаг от массовой катастрофы.</a:t>
            </a:r>
          </a:p>
          <a:p/>
          <a:p>
            <a:r>
              <a:t>Причина оказалась прозаичной. На заводе Boeing в Renton механики снимали door plug для выполнения ремонтных работ рядом. Снятие не было задокументировано в MES. Когда переустанавливали обратно, забыли поставить четыре крепёжных болта. Обшивка закрыла отсутствие болтов от визуального осмотра. Самолёт прошёл финальную инспекцию и вышел на линию.</a:t>
            </a:r>
          </a:p>
          <a:p/>
          <a:p>
            <a:r>
              <a:t>И вот ключевой вопрос. У Boeing на финальной сборке есть computer vision система, использующая AI для inspection критических зон. Где была CV-инспекция?</a:t>
            </a:r>
          </a:p>
          <a:p/>
          <a:p>
            <a:r>
              <a:t>CV видела door plug. Видела, что door plug структурно правильно установлен — нужного цвета, в нужной позиции, с правильным внешним profile. AI видел «дверь стоит на месте». AI не видел, есть ли внутри четыре крепёжных болта — они закрыты обшивкой. Болты — это interior structure, недоступная визуальному осмотру.</a:t>
            </a:r>
          </a:p>
          <a:p/>
          <a:p>
            <a:r>
              <a:t>Последствия для Boeing катастрофические. FAA ввёл cap в 38 самолётов в месяц — потолок производства до решения regulatory. Spirit AeroSystems, поставщик fuselages, должен был сделать rework на 50 самолётах. Everett 737 MAX line задержан на 12 месяцев. Direct стоимость для Boeing — больше миллиарда долларов только прямых затрат, не считая repuTacionнoгo урона.</a:t>
            </a:r>
          </a:p>
          <a:p/>
          <a:p>
            <a:r>
              <a:t>Урок, который я хочу, чтобы вы унесли формулой. CV — последняя линия защиты, не первая. Я скажу это ещё раз: CV — это последняя линия защиты, не первая.</a:t>
            </a:r>
          </a:p>
          <a:p/>
          <a:p>
            <a:r>
              <a:t>Без upstream sign-off — что значит, без того, чтобы при снятии door plug это действие было зарегистрировано в MES — и без audit trail в GAMP-style traceability — AI на финальном осмотре не починит то, что не было задокументировано на сборке. Это касается всех CV-кейсов в дискретном: BMW, TSMC, кого угодно. CV ловит только те дефекты, которые видно снаружи. Если процесс производства не traceable, никакой AI на финале не спасёт.</a:t>
            </a:r>
          </a:p>
          <a:p/>
          <a:p>
            <a:r>
              <a:t>И это первая красная тряпка категории «человек» в наших критериях. Operator distrust, нарушенный процесс документирования — workaround неизбежен, и AI на финале это не лечит.</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один из тех концептов, который не звучит revolutionary, но определяет успех или провал большинства AI-проектов в производстве. Стоимость разметки vs объём данных.</a:t>
            </a:r>
          </a:p>
          <a:p/>
          <a:p>
            <a:r>
              <a:t>Сырые данные — дёшевы. Камера записывает непрерывно. С одного сборочного конвейера за смену набирается порядка 10 терабайт изображений. Сенсоры IoT — температура, давление, вибрация — генерируют гигабайты в день за копейки на гигабайт. SCADA архив накапливается годами. Хранилище стоит, но данные доступны.</a:t>
            </a:r>
          </a:p>
          <a:p/>
          <a:p>
            <a:r>
              <a:t>Эталонная разметка — дорогая. Размеченные экспертами примеры — каждая пометка стоит времени domain-эксперта. На западе — 50-200 долларов в час. В России — 500-2000 рублей в час за квалифицированного инженера. И вот пример: чтобы разметить один пример рентгена сварного шва — где дефект, где нет, какой тип дефекта — уходит 5-15 минут опытного дефектоскописта. Для обучения модели нужны десятки тысяч таких размеченных примеров. Считайте: 30 тысяч примеров × 10 минут = 5000 часов × 1500 рублей = 7,5 миллионов рублей только на разметку. И это для одного типа сварного шва.</a:t>
            </a:r>
          </a:p>
          <a:p/>
          <a:p>
            <a:r>
              <a:t>И class imbalance. Defect rate в нормальном production — 1-2 процента. Это означает: на каждый дефект — 99 нормальных примеров. Чтобы модель училась на тысяче дефектов, нужно собрать 100 тысяч общих примеров. И большинство этих ста тысяч нормальных примеров — взаимозаменяемы и неинтересны для модели.</a:t>
            </a:r>
          </a:p>
          <a:p/>
          <a:p>
            <a:r>
              <a:t>Почему это так важно. Это первый критерий категории «данные» в нашей рамке решения §4. Когда вы будете оценивать AI-проект, первый вопрос — есть ли у вас эталонная разметка в достаточном объёме? Если нет — не имеет значения, какой стек вы выбрали, какая GPU у вас стоит, какую foundation model вы лицензировали. AI не работает.</a:t>
            </a:r>
          </a:p>
          <a:p/>
          <a:p>
            <a:r>
              <a:t>Альтернативы частично решают. Synthetic data — генерируем разметенные примеры искусственно, потом дообучаем на реальных. Transfer learning — начинаем с pre-trained модели на смежной задаче. Active learning — алгоритм сам говорит, какие из неразмеченных примеров стоит разметить в первую очередь. Hybrid rules-based + ML — простые правила ловят 70-80 процентов, ML — оставшиеся.</a:t>
            </a:r>
          </a:p>
          <a:p/>
          <a:p>
            <a:r>
              <a:t>Запомните: разметка — рычаг. Это критерий №1 категории «данные».</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Прогностическое обслуживание на дискретном — это второй по популярности AI-кейс после CV-инспекции. И второй по частоте провалов.</a:t>
            </a:r>
          </a:p>
          <a:p/>
          <a:p>
            <a:r>
              <a:t>Что обещают вендоры. Tata Steel заявляет 20 процентов снижения downtime и 15 процентов снижения maintenance cost. BMW в 2025 году запустил AIQX — realtime sensor and image fusion для прогнозирования отказа узлов. Generic-vendors в отрасли обещают 25-40 процентов снижения downtime и 50-70 процентов снижения reactive maintenance.</a:t>
            </a:r>
          </a:p>
          <a:p/>
          <a:p>
            <a:r>
              <a:t>Эти цифры звучат отлично. И в pilot deployment они часто действительно достигаются, потому что pilot выбирает наилучший случай — самое frequent отказывающее оборудование, наиболее доступные данные, контролируемая среда.</a:t>
            </a:r>
          </a:p>
          <a:p/>
          <a:p>
            <a:r>
              <a:t>McKinsey State of AI 2025: большинство компаний пока не извлекают value от инвестиций в PdM. Это прямая цитата, не моя интерпретация. Только 5,5 процента — high performers. ROI 8-14 месяцев, который вам показывает вендор — это best case, не среднее. Среднее — провал или околонулевой эффект, потому что 95 процентов пилотов не доходят до production.</a:t>
            </a:r>
          </a:p>
          <a:p/>
          <a:p>
            <a:r>
              <a:t>И теперь самая важная мысль про OEE. Когда вендор обещает «–25% downtime» — это не равно «+25% OEE». Запомните эту формулу: «–25% downtime ≠ +25% OEE».</a:t>
            </a:r>
          </a:p>
          <a:p/>
          <a:p>
            <a:r>
              <a:t>Почему. OEE — это произведение трёх компонентов: доступность × производительность × качество. Снижение downtime увеличивает доступность. Но что произошло с другими компонентами?</a:t>
            </a:r>
          </a:p>
          <a:p/>
          <a:p>
            <a:r>
              <a:t>Если для достижения этих –25% увеличили частоту планового обслуживания — производительность упала. Если уменьшили допуски на ТО — могло пострадать качество, потому что несвоевременно заметили деградацию узла. Если перевели обслуживание на ночные смены — это другой режим, тоже эффект.</a:t>
            </a:r>
          </a:p>
          <a:p/>
          <a:p>
            <a:r>
              <a:t>OEE — это то, что подписывает завод-клиент в конце квартала. И там может быть тот же OEE или ниже, даже если downtime снизился. Вы как инженер, оценивающий PdM-предложение, должны разложить.</a:t>
            </a:r>
          </a:p>
          <a:p/>
          <a:p>
            <a:r>
              <a:t>Третий вопрос к любому вендору, после baseline и окна измерения — какой компонент OEE улучшается. Если вендор не может ответить или начинает уклоняться — это уже ответ. У него нет полной картины.</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Коботы и worker-augmentation — это альтернативная парадигма дискретного производства. Не «заменить рабочих», а «дополнить рабочих».</a:t>
            </a:r>
          </a:p>
          <a:p/>
          <a:p>
            <a:r>
              <a:t>Hyundai с Boston Dynamics. Spot — walking robot, который обходит готовый автомобиль на финальной инспекции и фотографирует его с разных ракурсов. AI сравнивает с эталоном. Это не замена инспектора, это инструмент инспектора. И Atlas — первое коммерческое развёртывание гуманоида на HMGMA, Hyundai Motor Group Metaplant America в штате Джорджия. Заметьте — Hyundai первый в массовом auto OEM, кто действительно поставил гуманоида на production-линию, а не на демо. Это пилот, но в production environment.</a:t>
            </a:r>
          </a:p>
          <a:p/>
          <a:p>
            <a:r>
              <a:t>Toyota GAIA — это интересный кейс. В 2023 году сотрудники Toyota создали 8 тысяч AI-моделей. В 2024 году — 10 тысяч. Это не data scientists, это инженеры на цехах, которые освоили low-code AI-инструменты и сделали себе помощников: «вот этот узел часто застревает на этой операции, давайте обучу модель определять, когда он подходит к застреванию». 10 тысяч часов ручной работы сэкономлено в год. Toyota специально оформляет это как proof points: AI как инструмент для сотрудника, а не замена.</a:t>
            </a:r>
          </a:p>
          <a:p/>
          <a:p>
            <a:r>
              <a:t>И вот философская позиция Toyota — Jidoka 2.0. Я процитирую дословно из документации Toyota Production System: цель jidoka не в том, чтобы заменить людей машинами — это в том, чтобы защитить качество, exposing issues early, и освободить людей от mindless monitoring, чтобы они могли сосредоточиться на judgment, creativity, problem-solving и improvement.</a:t>
            </a:r>
          </a:p>
          <a:p/>
          <a:p>
            <a:r>
              <a:t>Это не философское заявление. Это officially документированная позиция крупнейшего auto OEM мира. Они работают на этом принципе с 1950-х годов, со времён Тайити Оно. AI они вписывают в эту же парадигму — augmentation, не replacement.</a:t>
            </a:r>
          </a:p>
          <a:p/>
          <a:p>
            <a:r>
              <a:t>И это резкий контраст с Tesla 2018, к которому мы сейчас перейдём. Tesla попыталась заменить — провалилась. Toyota дополняет — работает. Это не случайность, это структурная разница в подходе.</a:t>
            </a:r>
          </a:p>
          <a:p/>
          <a:p>
            <a:r>
              <a:t>Когда вы будете оценивать AI-проекты в дискретном производстве, спрашивайте: «augment» или «replace»? Augment почти всегда работает. Replace почти никогда не работает целиком и часто проваливается громко.</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Tesla 2018 — это канонический урок для этой лекции и для всей карьеры в industrial AI. Запомните детали.</a:t>
            </a:r>
          </a:p>
          <a:p/>
          <a:p>
            <a:r>
              <a:t>Q1 2018. Tesla обещал миру 2500 Model 3 в неделю — это был ориентир, по которому Wall Street оценивал Tesla. Реально производили 2020 в неделю, и компания горела деньгами. Маск спал на заводе во Fremont. Это называлось «production hell».</a:t>
            </a:r>
          </a:p>
          <a:p/>
          <a:p>
            <a:r>
              <a:t>13 апреля 2018 года, твит Маска: «Yes, excessive automation at Tesla was a mistake. To be precise, my mistake. Humans are underrated». Я переведу: чрезмерная автоматизация в Tesla была ошибкой. Если точнее — моей ошибкой. Людей мы недооценили.</a:t>
            </a:r>
          </a:p>
          <a:p/>
          <a:p>
            <a:r>
              <a:t>В CBS интервью тот же день Маск рассказал конкретику: «у нас была crazy complex network of conveyor belts, и она не работала, мы избавились от неё целиком». Они физически демонтировали конвейерную систему сборки Model 3, потому что робот-конвейер не справлялся с разнообразием конфигураций машины. Демонтировали также робота-«fluffer», который раскладывал fiberglass-маты на battery module — этот робот лучше справлялся в видео, чем на конкретном узле.</a:t>
            </a:r>
          </a:p>
          <a:p/>
          <a:p>
            <a:r>
              <a:t>Что было корневой причиной. IMD Business School разобрал этот случай как case study. Корневая причина: Tesla заменял людей там, где variability — это feature, а не bug. Сборка автомобиля — это десятки тысяч edge cases. Разные конфигурации, разные ракурсы установки, разные допуски на конкретной партии деталей. Человек справляется с variability через judgment — увидел странность, оценил, скорректировал. Робот справляется через жёсткие spec — если variability выходит за spec, программа ломается.</a:t>
            </a:r>
          </a:p>
          <a:p/>
          <a:p>
            <a:r>
              <a:t>И вот структурный урок: automation paradox. Это концепция Лизан Бейнбридж из 1983 года, статья «Ironies of Automation». Бейнбридж сказала: чем больше автоматизация, тем критичнее остающиеся операторы. В нештатной ситуации они должны быстро вмешаться. Но если 99 процентов времени они только наблюдают, не действуя — навык атрофируется. Когда нештатная ситуация случается, оператор не готов. И тогда автоматизация, которая должна была повысить надёжность, становится источником нового класса отказов.</a:t>
            </a:r>
          </a:p>
          <a:p/>
          <a:p>
            <a:r>
              <a:t>Bainbridge написала это в 1983 году про авиацию и атомные станции. Tesla 2018 — практическая иллюстрация ровно того же принципа в новом контексте.</a:t>
            </a:r>
          </a:p>
          <a:p/>
          <a:p>
            <a:r>
              <a:t>Альтернатива — Toyota Production System и Jidoka, о которых мы говорили на предыдущем слайде. Toyota работает с 1950-х годов на том же типе продукта, дёт Camry, RAV4, Corolla. Toyota не пыталась заменить рабочих целиком. Toyota дополняет рабочих. И Toyota построил завод в Texas, который собирает почти столько же машин в год, сколько Tesla, но с другой парадигмой.</a:t>
            </a:r>
          </a:p>
          <a:p/>
          <a:p>
            <a:r>
              <a:t>Это не идеологическая дискуссия. Это инженерное наблюдение: где variability — feature, replace не работает. Augment — работает.</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Где компьютерное зрение для контроля качества не работает, и что использовать вместо.</a:t>
            </a:r>
          </a:p>
          <a:p/>
          <a:p>
            <a:r>
              <a:t>Первое ограничение — low-contrast defects. Микротрещина на алюминиевой поверхности при обычном освещении — практически невидима для CV. Размытые границы дефекта, маленькая контрастность с фоном, шум сенсора. Модель может натренироваться отличать с точностью 60-70 процентов, но это недостаточно для production-уровня. Здесь нужна физическая амплификация сигнала, не больше данных.</a:t>
            </a:r>
          </a:p>
          <a:p/>
          <a:p>
            <a:r>
              <a:t>Второе — сдвиг распределения при смене продукта. Завод обычно производит не одну модель, а 5-10. Модель CV-инспекции, обученная на модели A, работает плохо на модели B. Нужно дообучать. На переоборудование линии под новую модель — дни. На сбор размеченных данных + дообучение CV — недели или месяцы. Это операционный risk.</a:t>
            </a:r>
          </a:p>
          <a:p/>
          <a:p>
            <a:r>
              <a:t>Третье — scarce defect labels. Defect rate 1 процент, и среди этого процента ещё есть rare типы дефектов, которые встречаются раз в 10000 деталей. Класс imbalance возводится в куб. Модель не видит rare defects, потому что у неё мало примеров. Callback к s16 — стоимость разметки.</a:t>
            </a:r>
          </a:p>
          <a:p/>
          <a:p>
            <a:r>
              <a:t>И вот альтернативы, которые надо использовать ДО того, как добавлять ML.</a:t>
            </a:r>
          </a:p>
          <a:p/>
          <a:p>
            <a:r>
              <a:t>Physical signal amplification. Это самая важная категория. Структурированный свет — проектор + камера + триангуляция → получаешь 3D-микрорельеф поверхности. Микротрещина, которая невидима при обычном освещении, видна как изменение высоты на десятки микрон. Trick: ты усиливаешь сам сигнал, а не алгоритм. Поляризованный свет — отлично для стресса в стекле, для scratches в покрытии. Рентген — внутренние дефекты литья, сварных швов. Тепловидение — горячие точки в электронике.</a:t>
            </a:r>
          </a:p>
          <a:p/>
          <a:p>
            <a:r>
              <a:t>Rules-based vision. Простые правила: площадь, контур, цвет, geometric primitives. Это ловит 60-70 процентов inspection workloads в controlled environments. Дёшево, объяснимо, валидируется регулятором за неделю. Когда мы дойдём до §4 и категории «регуляторика» — black-box ML не проходит FDA Part 11. Rules-based проходит без вопросов.</a:t>
            </a:r>
          </a:p>
          <a:p/>
          <a:p>
            <a:r>
              <a:t>Hybrid-подход — самый рациональный. Сначала физика амплифицирует сигнал — получаем чистый input. Потом rules ловят простые случаи — 60-70 процентов inspection workloads. ML добавляется только на остаток — 10-20 процентов сложных случаев. В этой архитектуре ML делает то, в чём он реально хорош, а не пытается заменить всю pipeline.</a:t>
            </a:r>
          </a:p>
          <a:p/>
          <a:p>
            <a:r>
              <a:t>Это рамка для категории «данные» в §4: если у вас нет эталонной разметки в достаточном объёме — попробуйте сначала physical signal amplification, потом rules, и только если осталась 10-20% сложности — ML.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Молодой Лю, председатель Foxconn, на Computex 2025 в мае заявил: после подключения AI-инструментов к Foxconn workflows, программное обеспечение теперь выполняет примерно 80 процентов работы по настройке оборудования для новой production run.</a:t>
            </a:r>
          </a:p>
          <a:p/>
          <a:p>
            <a:r>
              <a:t>Звучит впечатляюще. И я хочу, чтобы вы научились слышать в таких цитатах конкретный паттерн.</a:t>
            </a:r>
          </a:p>
          <a:p/>
          <a:p>
            <a:r>
              <a:t>«80% configuration work» — это vendor self-claim. То есть утверждение, сделанное самим вендором — Foxconn в этом случае это и вендор, и пользователь. Это не third-party measured metric. Никакой McKinsey или Deloitte не приходил в Foxconn и не измерял.</a:t>
            </a:r>
          </a:p>
          <a:p/>
          <a:p>
            <a:r>
              <a:t>И когда вы видите такое утверждение, есть три вопроса, которые вы должны задать. Я хочу, чтобы вы выучили их формулой — они работают на ЛЮБОМ вендорском заявлении.</a:t>
            </a:r>
          </a:p>
          <a:p/>
          <a:p>
            <a:r>
              <a:t>Первый — baseline до AI. На какой объём работы вы сравниваете? Сколько часов или FTE configuration работа занимала ДО внедрения AI? Если вендор не может ответить — он не знает, чему равны его 80 процентов. Может оказаться, что до AI было 100 человеко-часов на смену, сейчас 20. А может — было 12, сейчас 2,4. Это совершенно разные масштабы экономии.</a:t>
            </a:r>
          </a:p>
          <a:p/>
          <a:p>
            <a:r>
              <a:t>Второй — окно измерения. За какой период оценка? Один продукт за день? Среднее за месяц? Самый удачный run? Лучший месяц или средний? Окно измерения определяет интерпретацию.</a:t>
            </a:r>
          </a:p>
          <a:p/>
          <a:p>
            <a:r>
              <a:t>Третий — перечень вмешательств. Какие AI-инструменты учтены в «80 процентах»? Что точно автоматизировано полностью? Что — частично, и доделывает человек? Что вообще осталось ручным, но «оптимизировано через AI-рекомендации»? Эти три вещи — разные операции, и они смешиваются в одной цитате.</a:t>
            </a:r>
          </a:p>
          <a:p/>
          <a:p>
            <a:r>
              <a:t>И теперь четвёртый вопрос, который мы вытащили в OEE-callback: в какой компонент OEE добавляется эффект? Availability — если configuration быстрее, фабрика быстрее переходит на новый продукт, простой между runs меньше. Performance — может выше throughput на одинаковой настройке. Quality — может меньше переделок при сборке после нового настройки. Это три разных канала influence, и они часто конкурируют.</a:t>
            </a:r>
          </a:p>
          <a:p/>
          <a:p>
            <a:r>
              <a:t>Эти четыре вопроса — ваш инструмент для кармана. На следующих 50 встречах с вендорами вы их зададите, и узнаете, что половина вендоров не может ответить ни на один. Это уже ответ — продавец не знает деталей собственного claim.</a:t>
            </a:r>
          </a:p>
          <a:p/>
          <a:p>
            <a:r>
              <a:t>И не считайте, что это критика конкретно Foxconn или Лю. Лю говорит ровно то, что говорят все вендоры. Foxconn просто более прозрачен — публично, на CEO-уровне. Это даёт нам отличный кейс для обучения.</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Резюме раздела 2 — failure-pattern matrix дискретного производства. Четыре типа провалов, которые мы только что разобрали. Запомните их таксономически — это поможет вам распознавать паттерны в новых кейсах.</a:t>
            </a:r>
          </a:p>
          <a:p/>
          <a:p>
            <a:r>
              <a:t>Тип 1 — чрезмерная автоматизация. Попытка заменить человека там, где variability — это feature, не bug. Канонический кейс: Tesla 2018 с её demontированным конвейером Model 3 и роботом-fluffer. Где это видно у вас: любая попытка автоматизации без сохранения человека в петле для нештатных ситуаций. Урок: augment, не replace. Toyota Jidoka 2.0 — модель.</a:t>
            </a:r>
          </a:p>
          <a:p/>
          <a:p>
            <a:r>
              <a:t>Тип 2 — сдвиг распределения при смене продукта. CV-инспекция, обученная на модели A, плохо работает на модели B. Где видно: заводы с 5 или более моделями, редкие конфигурации, смена поставщика, новый стандарт деталей. Урок: план дообучения с самого начала; baseline drift детектор; rules-based fallback на случай, когда CV-инспекция деградирует.</a:t>
            </a:r>
          </a:p>
          <a:p/>
          <a:p>
            <a:r>
              <a:t>Тип 3 — scarce labels и class imbalance. Рарые типы дефектов, 1 на 10 тысяч деталей. Стоимость разметки доминирует. Самый крайний кейс — Boeing 737 door-plug, где CV не видит то, что закрыто обшивкой, и upstream-документация не зафиксировала, что болты не были поставлены. Урок: physical signal amplification — структурированный свет, рентген, тепловидение, поляризованный свет — потом rules-based для controlled situations, и только потом ML на остатке.</a:t>
            </a:r>
          </a:p>
          <a:p/>
          <a:p>
            <a:r>
              <a:t>Тип 4 — vendor self-claim без baseline. «80 процентов работы делает AI», «снижение downtime на 25 процентов», «AIQX даёт прогнозирование без указания OEE-канала». Где видно: любая презентация вендора. Урок: три вопроса — baseline до AI, окно измерения, перечень вмешательств. Плюс четвёртый OEE-вопрос — какой компонент эффективности улучшается.</a:t>
            </a:r>
          </a:p>
          <a:p/>
          <a:p>
            <a:r>
              <a:t>Запомните эти четыре типа. В §4 они станут конкретными критериями категорий «человек», «данные», «стоимость». Failure-matrix дискретного — это эмпирическая база для категорий рамки решения.</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Процессное производство имеет свою фундаментальную концепцию — мягкий сенсор. Запомните: soft sensor — это программная модель, которая оценивает truдно-измеряемые параметры качества по легко-измеряемым входам. Вместо того, чтобы взять физическую пробу из реактора и отправить в лабораторию на 4 часа, мы используем модель на температуре, давлении, расходе, спектроскопических данных — и получаем оценку вязкости или концентрации в реальном времени.</a:t>
            </a:r>
          </a:p>
          <a:p/>
          <a:p>
            <a:r>
              <a:t>BASF Geismar в Луизиане развернул мягкие сенсоры на реакторах в 2023-2024 году. Результат: 30 процентов снижение batch defects без увеличения тестирования. И параллельно — R&amp;D formulation для определённых классов соединений: 18 месяцев → 3 недели. Это огромное ускорение в формулировании, и оно работает потому, что мягкий сенсор не пытается заменить контроллер, он заменяет лабораторную пробу.</a:t>
            </a:r>
          </a:p>
          <a:p/>
          <a:p>
            <a:r>
              <a:t>Pfizer Vox — это, пожалуй, самый интересный кейс в процессном AI для нашей лекции. Запустили в 2024-2025 году на AWS Bedrock + SageMaker. Задачи: идентифицировать «golden batch» parameters для mRNA-вакцин; детектировать аномалии в текущем batch; и рекомендовать действия оператору. Результат: 20 тысяч дополнительных доз вакцины на batch.</a:t>
            </a:r>
          </a:p>
          <a:p/>
          <a:p>
            <a:r>
              <a:t>Я хочу, чтобы вы заметили формулировку. Pfizer не говорит «AI управляет batch process». Pfizer говорит «AI recommends actions to operators». Это не риторика — это архитектура. Vox работает в режиме recommend, не autonomous. Оператор смотрит рекомендацию, оценивает, принимает решение, подписывает действие. Это consistent с FDA Part 11 — оператор подписывает release, не AI.</a:t>
            </a:r>
          </a:p>
          <a:p/>
          <a:p>
            <a:r>
              <a:t>Если бы Pfizer развернул Vox как autonomous controller — без human-in-the-loop — FDA не выпустила бы продукт. Audit trail не работает для black-box ML, мы это разберём через два слайда на регуляторных блокерах.</a:t>
            </a:r>
          </a:p>
          <a:p/>
          <a:p>
            <a:r>
              <a:t>Pfizer Vox мы возьмём в §4 как worked example: пройдём его через 5-step framework, и покажем, как именно эта рамка работает на реальном кейсе. Запомните этот forward-link.</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самый технически сложный слайд в лекции, и я расскажу медленно.</a:t>
            </a:r>
          </a:p>
          <a:p/>
          <a:p>
            <a:r>
              <a:t>В январе-феврале 2022 года Yokogawa в партнёрстве с JSR Corporation провели первый production-прецедент полностью автономного контроля distillation column с использованием Reinforcement Learning. 35 дней без вмешательства человека, 840 часов. Алгоритм называется FKDPP — Factorial Kernel Dynamic Policy Programming. Это получило Japan Industrial Technology Prime Minister's Prize 2023.</a:t>
            </a:r>
          </a:p>
          <a:p/>
          <a:p>
            <a:r>
              <a:t>Что важно. До FKDPP distillation column управлялся через PID — Proportional-Integral-Derivative контроллер — и Advanced Process Control (APC), которая надстраивает оптимизацию над PID. Эти инструменты отлично работают в линейных зонах. Но distillation в нелинейных зонах — например, при переходных режимах — компромисс между output quality, energy consumption и throughput становится сложным многомерным trade-off. Traditional control не справлялся. RL смог найти политику, которая разрешает этот компромисс лучше.</a:t>
            </a:r>
          </a:p>
          <a:p/>
          <a:p>
            <a:r>
              <a:t>Теперь про CIRL — Combined Inverse RL. Это разработка BASF в партнёрстве с Royal Academy of Engineering, 2024-2026. Идея концептуально красива, и я хочу, чтобы вы запомнили формулу. CIRL — это PID внутри loss function deep RL. Это не «RL вместо PID». Это не «два контура параллельно». Это RL расширяет PID, не замещает.</a:t>
            </a:r>
          </a:p>
          <a:p/>
          <a:p>
            <a:r>
              <a:t>Архитектура. PID контроллер работает как baseline — детерминированный, валидируется регулятором, понятен инженеру. Deep RL учит policy, и в её loss function — функции, которую алгоритм минимизирует — заложен PID-результат как baseline. RL может улучшить PID, но не имеет права радикально отклониться от него. RL добавляет ценность в нелинейных зонах, где PID плохо тюнится. В линейных зонах RL автоматически совпадает с PID, потому что loss function его туда тянет.</a:t>
            </a:r>
          </a:p>
          <a:p/>
          <a:p>
            <a:r>
              <a:t>Эта архитектура — компромисс между регуляторной валидируемостью и эффективностью. Регулятор видит PID как известный объект — валидирует. RL — это «надстройка», которая улучшает performance, но не выходит за safety envelope PID. Это inженерное решение проблемы, которая иначе не решается.</a:t>
            </a:r>
          </a:p>
          <a:p/>
          <a:p>
            <a:r>
              <a:t>И теперь про когда RL ломается. RL distribution drift — это структурная проблема RL в производстве. Алгоритм обучен на одном distribution данных, но в реальности данные меняются: batch transitions создают out-of-distribution входы; смена feedstock делает старую политику stale; seasonal shifts влияют на температуру окружающей среды; equipment wear — катализатор стареет, реактор теряет производительность. Любое из этих изменений ломает RL-политику без warning. PID — устойчив к этому, потому что он реагирует на текущие данные, не помнит обучения.</a:t>
            </a:r>
          </a:p>
          <a:p/>
          <a:p>
            <a:r>
              <a:t>Альтернатива в большинстве кейсов — MPC, Model Predictive Control. Explicit model, объяснимый, валидированный. MPC dominates process control в 2026 году. RL — это дополнение на high-level scheduling, не замена низкоуровневого замыкания контура.</a:t>
            </a:r>
          </a:p>
          <a:p/>
          <a:p>
            <a:r>
              <a:t>Это очень важный архитектурный выбор: где RL уместен, где нет. CIRL — наш современный ответ. PID — наш базовый ответ.</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Углубим механизм RL drift, потому что это самый частый провал процессного AI.</a:t>
            </a:r>
          </a:p>
          <a:p/>
          <a:p>
            <a:r>
              <a:t>Первое — batch transitions. Большинство процессов в фарма и химии — batch-based. Между двумя batches процесс проходит переходный режим: меняется сырьё, очищается реактор, изменяются параметры. RL обучен на стабильных steady-state данных. Переходный режим — это входы, которые алгоритм никогда не видел. Это out-of-distribution input, и policy может вести себя совершенно непредсказуемо. На практике вы увидите скачки температуры или нестабильные параметры на старте нового batch. Это не bug, это feature нашего обучения — на каких данных учили, в тех зонах работает, остальное непредсказуемо.</a:t>
            </a:r>
          </a:p>
          <a:p/>
          <a:p>
            <a:r>
              <a:t>Второе — смена feedstock. Сырьё для процесса меняется. Новый поставщик, сезонная вариация в добыче нефти, разные партии катализатора. Policy, обученная на одном feedstock, становится stale на другом. И самое coварное — это незаметно. На бумаге всё нормально: температура та же, давление та же. Но качество продукта дрейфует, потому что RL не «понимает», что входной состав изменился. Он реагирует на параметры, а не на состав.</a:t>
            </a:r>
          </a:p>
          <a:p/>
          <a:p>
            <a:r>
              <a:t>Третье — seasonal shifts. Зимняя температура окружающей среды vs летняя влияет на охлаждение реактора через теплообменник. Если RL обучен на летних данных и работает осенью — может медленно деградировать без видимой причины. Это типичная история про «летом работало хорошо, осенью что-то странное началось». Никто не связывает причину с сезоном, потому что параметры процесса вроде те же.</a:t>
            </a:r>
          </a:p>
          <a:p/>
          <a:p>
            <a:r>
              <a:t>Четвёртое — equipment wear. Катализатор стареет, теплообменник засоряется, pumps теряют производительность, прокладки начинают подтекать. Реакция процесса на одинаковые команды постепенно меняется. RL не учится на дрейфе, потому что он не обучается online без специальной процедуры переподготовки. Policy остаётся той же, реальность дрейфует — расхождение растёт.</a:t>
            </a:r>
          </a:p>
          <a:p/>
          <a:p>
            <a:r>
              <a:t>И вот safe-fallback. MPC — Model Predictive Control. Explicit model, объясним, валидируется регулятором. MPC реагирует на текущие данные, не помнит обучения в смысле фиксированной policy. Если реактор стал работать иначе — MPC корректируется в следующем шаге, потому что он каждый шаг переcчитывает оптимум на основе текущей модели.</a:t>
            </a:r>
          </a:p>
          <a:p/>
          <a:p>
            <a:r>
              <a:t>Правило, которое я хочу, чтобы вы унесли. RL дополняет MPC на high-level scheduling: какой batch запускать, когда переключаться, как распределять ресурсы. На низкоуровневом замыкании контура — где открыть клапан, на сколько процентов — MPC. Это разделение труда, которое уже работает в production у BASF и Yokogawa.</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Edge AI — это та граница, где AI приходит close к PLC, но всё ещё не становится контроллером.</a:t>
            </a:r>
          </a:p>
          <a:p/>
          <a:p>
            <a:r>
              <a:t>POSCO в Корее в 2024 году развернул 180 edge inference nodes на металлургическом производстве. Это nodes — отдельные вычислительные устройства, размещённые на объектах рядом с PLC. На каждом из них работает inference, не обучение. Модель проверена и зафиксирована заранее, на edge она просто делает вывод на текущих данных. Преимущество — failure detection происходит независимо от corporate network. Если интернет упал — edge продолжает работать. Если облако перегружено — local inference моментален.</a:t>
            </a:r>
          </a:p>
          <a:p/>
          <a:p>
            <a:r>
              <a:t>Результаты POSCO: 5 процентов прирост efficiency, 10 процентов снижение потребления энергии, 3 процента прирост yield на hot-rolled steel. Это значимые цифры на масштабе крупного металлургического производства — десятки миллионов долларов в год.</a:t>
            </a:r>
          </a:p>
          <a:p/>
          <a:p>
            <a:r>
              <a:t>Holcim, мировой производитель цемента, развернул AI на 100 заводах с C3 AI в 2024-2026. Cement kiln — это процессный объект, где идут высокотемпературные реакции с горючим топливом. AI оптимизирует расход топлива и предсказывает отказ valve, sensor, нагревателей. CEMEX совместно с Optimitive — другой кейс — даёт 10 процентов экономию энергии, ROI 18 месяцев, и снижение CO2 на 2-5 процентов на тонну clinker. Это уже не маркетинговая цифра, это публично заявленный production-результат на масштабе сотен заводов.</a:t>
            </a:r>
          </a:p>
          <a:p/>
          <a:p>
            <a:r>
              <a:t>И теперь про cornerstone, который я хочу, чтобы вы запомнили формулой. Детерминизм edge-вывода. Latency = determinism, не только speed.</a:t>
            </a:r>
          </a:p>
          <a:p/>
          <a:p>
            <a:r>
              <a:t>PLC-цикл — 1-10 миллисекунд, детерминированный budget. Это значит, что команда должна выполниться за гарантированный отрезок времени. Это требование самого процесса — если клапан не закроется в течение 5 миллисекунд, реактор пошёл в нештатную ситуацию.</a:t>
            </a:r>
          </a:p>
          <a:p/>
          <a:p>
            <a:r>
              <a:t>LLM — 100-500 миллисекунд, недетерминированный. Это не «обычно быстро», это «иногда долго, и мы не знаем когда». Foundation model может ответить за 50 мс, а может за 800 — зависит от очереди в облаке, длины контекста, нагрузки на GPU.</a:t>
            </a:r>
          </a:p>
          <a:p/>
          <a:p>
            <a:r>
              <a:t>Эти два budget различаются в 50-100 раз. Это не временное препятствие.</a:t>
            </a:r>
          </a:p>
          <a:p/>
          <a:p>
            <a:r>
              <a:t>Что работает на границе — edge ML на копроцессоре рядом с PLC. Не LLM, а специализированная маленькая модель: TensorFlow Lite на embedded board, ONNX Runtime, TensorRT — это специальный edge ML stack с детерминированным inference в budget 10-50 миллисекунд. Эта модель проверяет, например, «значение датчика в норме» — да или нет, за 20 миллисекунд гарантированно. Никаких foundation models, никакого общения с облаком.</a:t>
            </a:r>
          </a:p>
          <a:p/>
          <a:p>
            <a:r>
              <a:t>Latency не равно determinism. Облачная модель может быть быстрой, но не детерминированной. Edge ML — медленнее на больших задачах, но детерминирован. Для control loop важен детерминизм, не средняя скорость.</a:t>
            </a:r>
          </a:p>
          <a:p/>
          <a:p>
            <a:r>
              <a:t>И callback к лекции 9: помните F-35 ALIS, $44 тысячи за лётный час, систему заменили на ODIN. Defense PdM учит ровно тому же, что промышленный PdM. Та же физика: AI как augment для оператора (или для механика на земле) работает, AI как autonomous controller на flying systems — не работает. Эти уроки переходят между отраслями.</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Три регуляторные карты, которые часто блокируют AI на финальном шаге процессного производства. Это самая важная категория «регуляторика» в нашей рамке решения §4.</a:t>
            </a:r>
          </a:p>
          <a:p/>
          <a:p>
            <a:r>
              <a:t>Первое — FDA 21 CFR Part 11 в фарма. Это глобально, не только США. Любой фармацевтический продукт, который продаётся в США, должен соответствовать этому требованию. И требование такое: все электронные записи о производстве, тестировании, выпуске должны иметь audit trail, validated systems, traceable changes. Какая версия системы выдала какое решение, на каком входе, в какой момент, кем подписано.</a:t>
            </a:r>
          </a:p>
          <a:p/>
          <a:p>
            <a:r>
              <a:t>Black-box ML такого audit trail не даёт. У вас есть веса нейросети, которые могут быть зафиксированы. Но «версии модели» в смысле, который понимает регулятор — нет. Если модель отвергла batch, оператор и FDA не могут восстановить, почему именно — она просто выдала вероятность ниже порога. Это структурная характеристика ML, не его временный недостаток.</a:t>
            </a:r>
          </a:p>
          <a:p/>
          <a:p>
            <a:r>
              <a:t>Из этого следует: AI не может быть final decision-maker в фарма. Human-in-the-loop обязателен. Оператор смотрит рекомендацию AI, оценивает, подписывает release. Pfizer Vox именно так и работает — рекомендует, оператор решает. GAMP 5 — это framework валидации, как именно подписывать.</a:t>
            </a:r>
          </a:p>
          <a:p/>
          <a:p>
            <a:r>
              <a:t>Что работает: batch quality prediction → operator approval → release. Что не работает: autonomous AI batch release. Регулятор это запретит.</a:t>
            </a:r>
          </a:p>
          <a:p/>
          <a:p>
            <a:r>
              <a:t>Второе — ATEX в Европе и IECEx глобально, для взрывоопасных зон. Это другой тип регуляторики — физический. Здесь не про software, здесь про hardware. Зоны делятся по присутствию взрывоопасной смеси: Zone 0 — постоянное, Zone 1 — периодическое, Zone 2 — редкое. В Zone 0 non-certified AI hardware физически запрещён. Не вопрос ПО — вопрос самой железки.</a:t>
            </a:r>
          </a:p>
          <a:p/>
          <a:p>
            <a:r>
              <a:t>AI может помогать в predictive monitoring gas, temperature, dust на безопасном расстоянии от Zone 0. Но автоматизированное вмешательство в саму Zone 0 — например, специальный AI-актуатор клапана — невозможно с обычной электроникой. Нужен ATEX-сертифицированный hardware, а ML-копроцессор для embedded ML не идёт с такой сертификацией.</a:t>
            </a:r>
          </a:p>
          <a:p/>
          <a:p>
            <a:r>
              <a:t>Третье — Указ Президента РФ номер 250 от 2022 года. Требования по защите критической информационной инфраструктуры, КИИ. Любое развёртывание AI на российских промышленных объектах — а почти все крупные производства попадают под КИИ — проходит через эту обвязку. FZ-152 о персональных данных на КИИ-объектах. Импортозамещение software к 2027 году — 100 процентов КИИ-software должно быть отечественным.</a:t>
            </a:r>
          </a:p>
          <a:p/>
          <a:p>
            <a:r>
              <a:t>Это структурно меняет landscape AI в России. Foundation models от OpenAI, Anthropic, Google — не для КИИ. Сервисы должны быть либо отечественные, либо on-premise с гарантиями. SaaS-модели не проходят. И отдельно — ГОСТ Р 57700.37-2021 по цифровым двойникам, это foreshadow к лекции 12.</a:t>
            </a:r>
          </a:p>
          <a:p/>
          <a:p>
            <a:r>
              <a:t>Урок общий. Регуляторика уже существует. Никто не должен изобретать новую регуляторику под AI — она вписывается в существующую FDA, ATEX, GAMP, Указ 250. AI должен fit existing frameworks, не наоборот. Это конкретный практический совет: когда вы оцениваете AI-проект, первый вопрос регуляторной категории — какой regulatory framework применим, и как AI вписывается в него?</a:t>
            </a:r>
          </a:p>
          <a:p/>
          <a:p>
            <a:r>
              <a:t>И если AI не вписывается — это не «регулятор отстал», это «здесь AI не нужен в текущей архитектуре, нужен другой инструмент».</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Российский контекст в процессном AI — отдельная тема, потому что landscape не симметричен западному.</a:t>
            </a:r>
          </a:p>
          <a:p/>
          <a:p>
            <a:r>
              <a:t>Норникель — это самый зрелый кейс, который мне удалось найти с public-verifiable доказательством. AI на flotation и grinding процессах достиг industrial-operation stage, а не пилотного. Это значит, что система интегрирована в production, не находится в режиме proof-of-concept. Концентрационные процессы — обогащение полиметаллических руд — это meaningful workload, где правильная настройка реагентов и режимов даёт прямой эффект на yield и расход реагентов.</a:t>
            </a:r>
          </a:p>
          <a:p/>
          <a:p>
            <a:r>
              <a:t>В ноябре 2024 года Норникель объявил agreement с Газпром нефть о совместных AI-разработках в process control. Это сигнал того, что cross-industry партнёрства в AI становятся нормой для крупных российских компаний.</a:t>
            </a:r>
          </a:p>
          <a:p/>
          <a:p>
            <a:r>
              <a:t>СИБУР запустил Marketplace технологического моделирования в Q1 2025, полный рост в 2026 году. Это особенно важно в контексте импортозамещения: к 2027 году КИИ-software должно быть на 100 процентов отечественным. СИБУР строит инфраструктуру внутри страны для этого. Каталог технологических моделей, доступных российским компаниям, — это инфраструктурный шаг, который symptom больше, чем конкретный AI-кейс.</a:t>
            </a:r>
          </a:p>
          <a:p/>
          <a:p>
            <a:r>
              <a:t>ММК, НЛМК, Северсталь — три гиганта чёрной металлургии — делают общие декларации о внедрении AI без конкретных metrics. И параллельно — рынок в кризисе. Severstal profit упал на 55 процентов в 2024 году. Это значит, что капитальные расходы на AI-проекты под давлением, и адопция замедляется по экономическим причинам, не из-за технологии.</a:t>
            </a:r>
          </a:p>
          <a:p/>
          <a:p>
            <a:r>
              <a:t>И теперь pedagogical point, который я хочу, чтобы вы унесли. Public-disclosure российских AI-кейсов скудна. Но это анти-pattern в reporting, не доказательство отсутствия adoption. Российские компании реже публикуют конкретные ROI metrics, чем западные — это особенность корпоративной культуры, не наличие или отсутствие AI.</a:t>
            </a:r>
          </a:p>
          <a:p/>
          <a:p>
            <a:r>
              <a:t>Это connects к LO2 — критическая оценка vendor-claim. И обратной стороны тоже: если вендор не показывает конкретных public-verifiable metrics — это red flag, но не приговор. Может быть, есть NDA, может быть, просто не принято публиковать. Ваша работа — спросить три вопроса: baseline, окно измерения, перечень вмешательств. Если вендор отвечает «not allowed to disclose» — это сигнал, но не финальный. Если отвечает уклончиво — это сигнал хуже.</a:t>
            </a:r>
          </a:p>
          <a:p/>
          <a:p>
            <a:r>
              <a:t>Различать PR statement и измеримый эффект — это LO2 в действии. Это касается и российских, и западных вендоров. Symmetric.</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Резюме раздела 3 — failure-pattern matrix процессного производства. Симметрично разделу 2, четыре типа провалов.</a:t>
            </a:r>
          </a:p>
          <a:p/>
          <a:p>
            <a:r>
              <a:t>Тип 1 — RL distribution drift. Мы разобрали детально на s26. Batch transitions, смена feedstock, seasonal shifts, equipment wear. Все четыре механизма ломают RL-политику без warning. Где видно: любая попытка autonomous RL без CIRL-обвязки. Урок: RL дополняет MPC на high-level scheduling. MPC — safe fallback на низкоуровневом замыкании контура.</a:t>
            </a:r>
          </a:p>
          <a:p/>
          <a:p>
            <a:r>
              <a:t>Тип 2 — regulatory blocker. FDA Part 11 запрещает autonomous batch release в фарма; ATEX Zone 0 физически запрещает non-certified AI hardware; Указ 250 требует domestic software на КИИ-объектах в России. Где видно: фарма, химия в Zone 0, российская промышленность. Урок: регуляторика already exists. AI должен fit existing frameworks, не наоборот. HITL и audit trail обязательны в safety-critical контурах.</a:t>
            </a:r>
          </a:p>
          <a:p/>
          <a:p>
            <a:r>
              <a:t>Тип 3 — OT/IT раскол на uncertain edge. LLM-задержка 100-500 миллисекунд не вмещается в PLC-цикл 1-10 миллисекунд. Eventually-consistent поведение IT не работает в strong-consistency мире OT. Где видно: любая попытка автоматизации низкого уровня — L0 и L1 ISA-95 — через облачные модели. Урок: edge ML на копроцессоре, не LLM. Latency = determinism, не только speed.</a:t>
            </a:r>
          </a:p>
          <a:p/>
          <a:p>
            <a:r>
              <a:t>Тип 4 — vendor PR без metrics. ММК, НЛМК, Северсталь — общие декларации без конкретных цифр. Некоторые западные вендоры тоже — особенно те, кто в кризисный квартал. Где видно: там, где decline в публичном disclosure совпадает с corporate stress. Урок: три вопроса — baseline, окно, перечень вмешательств. Если ответы уклончивые — red flag, требует углубления.</a:t>
            </a:r>
          </a:p>
          <a:p/>
          <a:p>
            <a:r>
              <a:t>Запомните эти четыре типа. В §4, на следующих слайдах, они станут конкретными критериями категорий «человек», «данные», «стоимость», «регуляторика». Failure-matrix процессного — это эмпирическая база для категорий рамки решения.</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центральный слайд лекции. Запомните эти четыре категории, и каждый раз, когда будете оценивать AI-проект, проходите их в голове.</a:t>
            </a:r>
          </a:p>
          <a:p/>
          <a:p>
            <a:r>
              <a:t>Категория A — данные. Три критерия. Первый: MTBF — Mean Time Between Failures — больше года. Если узел отказывает раз в год, у вас за пять лет 5 failure events. Для обучения PdM-модели этого недостаточно — не хватает данных, чтобы модель научилась распознавать pattern перед отказом. Здесь работает не AI, а RCM — Reliability-Centered Maintenance — расчёт оптимального интервала ТО на основе физики и MTBF. Второй: если физика процесса известна — CFD для гидродинамики, FEA для механики, kinetics для химии — это надёжнее ML, потому что обобщает на новые конфигурации. ML интерполирует на данных обучения. Третий: эталонная разметка дорогая — defect rate меньше 1 процента, разметка дорогая. Альтернативы для категории A: physics-based simulation, DOE для эксплоративных экспериментов, SPC для статистического контроля.</a:t>
            </a:r>
          </a:p>
          <a:p/>
          <a:p>
            <a:r>
              <a:t>Категория B — стоимость. Два критерия. Четвёртый: false positive cost больше чем 10x false negative. Если ложная тревога дороже пропущенного дефекта — значит, мы скорее остановим линию по ошибочной AI-тревоге, чем пропустим дефект. Здесь работает SPC + RCM, которые предсказуемы и калибруются вручную. Пятый: SIL 2/3 safety-critical — это специальные уровни сертификации для контуров с риском для жизни. ML certification на SIL 2/3 — это очень дорого и долго, обычно нерентабельно. Альтернативы для B: SPC, RCM, rules-based.</a:t>
            </a:r>
          </a:p>
          <a:p/>
          <a:p>
            <a:r>
              <a:t>Категория C — регуляторика. Три критерия. Шестой: audit trail обязателен — FDA Part 11, GAMP 5. Black-box ML здесь не проходит, нужен explainable ML, hybrid с rules или on-premise решение. Седьмой: ATEX Zone 0 — постоянное присутствие взрывоопасной смеси. Hardware restriction, non-certified AI запрещён физически. Восьмой: Указ 250 в России — domestic software на КИИ-объектах. SaaS-облака не подходят, нужно on-premise. Альтернативы для C: explainable ML, hybrid, on-premise.</a:t>
            </a:r>
          </a:p>
          <a:p/>
          <a:p>
            <a:r>
              <a:t>Категория D — человек. Три критерия. Девятый: operator distrust. Если оператор не доверяет AI, он будет workaround — отключит, проигнорирует, найдёт способ обойти. Это структурный risk, особенно в смыслах, где операторы — союзная сторона, не противник. Toyota proof — augmentation, не replacement. Десятый: pilot без go-criteria. Если pilot не имеет explicit go/no-go critериев определённых до старта — он попадает в 80-95 процентов pilot purgatory. Одиннадцатый: demo-hype без 6-месячного production track record. Если вендор показывает только демо, не пускает в production-customer reference — buyer beware. Альтернативы для D: Six Sigma, Jidoka, structured pilots.</a:t>
            </a:r>
          </a:p>
          <a:p/>
          <a:p>
            <a:r>
              <a:t>Это 11 критериев в 4 категориях. Запомните таксономию категорий — это первый шаг применения. Конкретные критерии вы будете adapt под свой контекст.</a:t>
            </a:r>
          </a:p>
          <a:p/>
          <a:p>
            <a:r>
              <a:t>И параллельно — три вопроса к вендору. Запомните их как формулу. Baseline до AI, окно измерения, перечень вмешательств. Плюс четвёртый вопрос про OEE — какой компонент эффективности улучшается. Это инструмент для кармана, который работает на любом vendor pitch.</a:t>
            </a:r>
          </a:p>
          <a:p/>
          <a:p>
            <a:r>
              <a:t>В следующем слайде — матрица альтернативных инструментов. Через слайд — worked example Pfizer Vox, где мы пройдём framework шаг за шагом.</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Шесть альтернативных инструментов, которые вы должны рассматривать ДО того, как тянуться к ML. Каждый со своей нишей, каждый regulatory friendly.</a:t>
            </a:r>
          </a:p>
          <a:p/>
          <a:p>
            <a:r>
              <a:t>SPC — Statistical Process Control. Применим где univariate параметры стабильны: например, температура в реакторе должна быть в диапазоне ±2 градуса. SPC рисует control chart, и оператор видит, когда параметр выходит за three-sigma пределы. Дёшево, объяснимо, регулятор воспринимает это как known object. Слабая сторона — не ловит multi-variate patterns. Если 10 параметров вместе создают anomaly, но каждый по отдельности в норме — SPC не увидит.</a:t>
            </a:r>
          </a:p>
          <a:p/>
          <a:p>
            <a:r>
              <a:t>DOE — Design of Experiments. Это not control inструмент, это эксплоративный. Применим для маленьких партий, для R&amp;D, для understanding какие переменные влияют на качество. Сильная сторона — causal inference, объяснимо, defensible перед регулятором. Слабая — не online, и нужен domain expert для дизайна эксперимента.</a:t>
            </a:r>
          </a:p>
          <a:p/>
          <a:p>
            <a:r>
              <a:t>MPC — Model Predictive Control. Это хлеб с маслом process control. Применим для online управления процессом — реакторы, distillation columns, печи. Explicit model — оператор и регулятор знают, по какой модели контроллер реагирует. Reacts к drift автоматически, потому что каждый шаг переcчитывает оптимум. Dominates process control в 2026 году. Слабая сторона — требует точную модель, и моделирование сложного процесса само по себе работа.</a:t>
            </a:r>
          </a:p>
          <a:p/>
          <a:p>
            <a:r>
              <a:t>RCM — Reliability-Centered Maintenance. Когда MTBF больше года и PdM на ML невозможен — RCM. Это расчёт оптимального интервала ТО на основе физики узла и истории отказов. Объяснимый, calibrated к физике. Слабая — не учится на новых отказах автоматически, нужен инженер для пересмотра графика.</a:t>
            </a:r>
          </a:p>
          <a:p/>
          <a:p>
            <a:r>
              <a:t>Physics-based simulation. CFD для гидродинамики, FEA для механики, kinetics для химии. Когда физика известна — это надёжнее ML. Сильная сторона — обобщается на новые конфигурации, потому что физика та же. Слабая — разработка модели дорогая и требует domain expertise.</a:t>
            </a:r>
          </a:p>
          <a:p/>
          <a:p>
            <a:r>
              <a:t>Rules-based vision. Простые правила: площадь, контур, цвет, geometric primitives. В controlled environments — освещение постоянное, ракурс зафиксирован — ловит 60-70 процентов inspection workloads. Validated за неделю, объяснимо. Слабая — не справляется с variability, любое отклонение от идеала ломает rule.</a:t>
            </a:r>
          </a:p>
          <a:p/>
          <a:p>
            <a:r>
              <a:t>И теперь hybrid patterns, в одной строке. PINN — Physics-Informed Neural Networks — добавляет physics constraints в loss function ML. Снижает требования к данным, увеличивает generalization. CIRL — мы разобрали — PID внутри loss function deep RL, BASF паттерн. ML over SPC — статистический baseline ловит первые 70 процентов, ML добавляется на оставшихся 30 процентов сложности. PLC + edge ML coprocessor — POSCO pattern, который мы видели на s27, где edge inference работает рядом с детерминированным PLC, но не пытается его заменить.</a:t>
            </a:r>
          </a:p>
          <a:p/>
          <a:p>
            <a:r>
              <a:t>Идея матрицы — у вас есть выбор. AI — не единственный инструмент. И часто не лучший.</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Теперь пройдём 5-step framework на конкретном кейсе. Pfizer Vox.</a:t>
            </a:r>
          </a:p>
          <a:p/>
          <a:p>
            <a:r>
              <a:t>Step 1 — identify class. Pfizer хотел детектировать аномалии в производстве mRNA-вакцин и рекомендовать действия оператору. Это процессное производство — continuous bioprocessing. Не штучный продукт, не сборочный конвейер. Batch process с непрерывным мониторингом параметров: температура, pH, концентрация. Класс определён сразу — процессное.</a:t>
            </a:r>
          </a:p>
          <a:p/>
          <a:p>
            <a:r>
              <a:t>Step 2 — map alternatives. Какие неMLные инструменты применимы?</a:t>
            </a:r>
          </a:p>
          <a:p/>
          <a:p>
            <a:r>
              <a:t>SPC — univariate. Даёт baseline для каждого параметра отдельно. Полезно как первый слой, но не ловит multi-variate аномалии, когда сочетание нескольких параметров вне нормы при том, что каждый по отдельности в норме. SPC недостаточен один.</a:t>
            </a:r>
          </a:p>
          <a:p/>
          <a:p>
            <a:r>
              <a:t>DOE — design of experiments. Подходит для R&amp;D на новых формуляциях, не для online мониторинга производства. Pfizer уже знает, какие переменные значимы. DOE не подходит для этого use case.</a:t>
            </a:r>
          </a:p>
          <a:p/>
          <a:p>
            <a:r>
              <a:t>MPC — Model Predictive Control. У Pfizer уже есть MPC для control температуры и других параметров реактора. Но MPC не покрывает rare anomalies в batch quality — это другой класс задач. MPC контролирует процесс, не детектирует deviations в продукте.</a:t>
            </a:r>
          </a:p>
          <a:p/>
          <a:p>
            <a:r>
              <a:t>Следовательно, ML здесь имеет место — для multi-variate anomaly detection поверх существующего SPC и MPC.</a:t>
            </a:r>
          </a:p>
          <a:p/>
          <a:p>
            <a:r>
              <a:t>Step 3 — apply 4 категории.</a:t>
            </a:r>
          </a:p>
          <a:p/>
          <a:p>
            <a:r>
              <a:t>Данные — галочка. Pfizer имеет годы batch data, эталонная разметка доступна из существующих QC-процессов: какие batches прошли release, какие провалили.</a:t>
            </a:r>
          </a:p>
          <a:p/>
          <a:p>
            <a:r>
              <a:t>Стоимость — галочка. False positive cost manageable: если AI поднимет alert на нормальном batch, оператор делает review, дополнительные тесты. Это minute-level disruption, не batch-кill. False negative cost — это deviated batch, который проходит на склад. У Pfizer уже есть downstream QC, который ловит большинство этого, но AI-alert — дополнительный слой.</a:t>
            </a:r>
          </a:p>
          <a:p/>
          <a:p>
            <a:r>
              <a:t>Регуляторика — половина галочки. FDA Part 11 запрещает autonomous batch release. Значит, архитектура AI должна быть recommend mode, не autonomous. Vox рекомендует, оператор оценивает и подписывает release. Это explicit decision-support architecture.</a:t>
            </a:r>
          </a:p>
          <a:p/>
          <a:p>
            <a:r>
              <a:t>Человек — галочка. Operators в Pfizer обучены, и trust к AI строится через recommend pattern. Если оператор соглашается с рекомендацией Vox — он подписывает. Если не соглашается — он не подписывает. AI не противостоит оператору, AI помогает ему.</a:t>
            </a:r>
          </a:p>
          <a:p/>
          <a:p>
            <a:r>
              <a:t>Step 4 — pilot с go-criteria. Pfizer запустил pilot с конкретным go-criterion: 20 тысяч дополнительных доз вакцины per batch. Baseline до AI был известен — статистика производства предыдущих лет. Pilot прошёл go-criterion и был переведён в production.</a:t>
            </a:r>
          </a:p>
          <a:p/>
          <a:p>
            <a:r>
              <a:t>Step 5 — production с HITL. Vox recommends actions to operators. Audit trail полный: какая модель, какая версия, какой вход, какая рекомендация, кем подписано, когда. FDA Part 11 satisfied.</a:t>
            </a:r>
          </a:p>
          <a:p/>
          <a:p>
            <a:r>
              <a:t>И lesson: 5-step framework работает ретроспективно. Pfizer Vox прошёл его шаг за шагом. Это значит, что framework — это готовый инструмент для оценки новых AI-проектов, а не abstract theory.</a:t>
            </a:r>
          </a:p>
          <a:p/>
          <a:p>
            <a:r>
              <a:t>Завтра, когда вы пойдёте на встречу к вендору, который предлагает AI-решение — проходите через 5 шагов в голове. Если хотя бы один из шагов не проходит — это red flag.</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финальный практический слайд лекции. Запомните этот framework — он работает на любом AI-проекте, который вы увидите в карьере.</a:t>
            </a:r>
          </a:p>
          <a:p/>
          <a:p>
            <a:r>
              <a:t>Пять шагов.</a:t>
            </a:r>
          </a:p>
          <a:p/>
          <a:p>
            <a:r>
              <a:t>Первый — identify class. Дискретное или процессное? Это первое разделение, и из него следует вся дальнейшая логика. Какая физика — штучные единицы или непрерывный поток? Какая регуляторика — ISO 9001 или FDA Part 11 или ATEX? Какая культура — Toyota Jidoka или Tesla replace?</a:t>
            </a:r>
          </a:p>
          <a:p/>
          <a:p>
            <a:r>
              <a:t>Второй — map alternatives. Прежде чем тянуться к ML, перечислите неMLные инструменты. SPC, DOE, MPC, RCM, physics-based simulation, rules-based vision. Какие из них применимы к вашей задаче? Какие частично решают её?</a:t>
            </a:r>
          </a:p>
          <a:p/>
          <a:p>
            <a:r>
              <a:t>Третий — apply 4 categories. Пройдите критерии: данные, стоимость, регуляторика, человек. Если все четыре галочки — AI применим. Если хотя бы одна категория проблематична — либо адаптируйте архитектуру, либо рассматривайте альтернативы из step 2.</a:t>
            </a:r>
          </a:p>
          <a:p/>
          <a:p>
            <a:r>
              <a:t>Четвёртый — pilot с explicit go-criteria. До запуска pilot определите: baseline до AI, измерительное окно, go/no-go threshold. Если pilot стартует без этих трёх — он попадает в 80-95 процентов pilot purgatory. Это правило, которое исключает большинство неудач.</a:t>
            </a:r>
          </a:p>
          <a:p/>
          <a:p>
            <a:r>
              <a:t>Пятый — production с HITL и audit trail. Если cвичите pilot и переходите в production: recommend mode для safety-critical контуров. Validated. Traceable. Audit trail для регулятора и для собственного контроля. Если вы не можете объяснить, почему модель приняла решение — это знак, что архитектуру нужно пересмотреть.</a:t>
            </a:r>
          </a:p>
          <a:p/>
          <a:p>
            <a:r>
              <a:t>И параллельно — четыре вопроса к вендору. Я уже их повторял несколько раз сегодня, и сейчас повторю ещё раз, потому что они работают как формула в кармане.</a:t>
            </a:r>
          </a:p>
          <a:p/>
          <a:p>
            <a:r>
              <a:t>Baseline до AI — что было раньше? Окно измерения — за какой период? Перечень вмешательств — что реально автоматизировано? OEE-канал — какой компонент эффективности улучшается?</a:t>
            </a:r>
          </a:p>
          <a:p/>
          <a:p>
            <a:r>
              <a:t>Эти четыре вопроса в комбинации с 5-step framework — это всё, что вам нужно для критической оценки AI-проектов в производстве. Если ваш AI-projector сегодня знает только то, что мы разобрали — он будет в верхней группе инженеров по уровню профессионализма.</a:t>
            </a:r>
          </a:p>
          <a:p/>
          <a:p>
            <a:r>
              <a:t>И последняя нота — hybrid patterns. PINN, CIRL, ML over SPC, PLC plus edge ML coprocessor. Это четыре примера того, как ML интегрируется с проверенными неMLными методами, а не пытается их заменить. Это правильный путь интеграции AI в production. Не «AI вместо PID», а «AI расширяет PID, не замещает».</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двухколонной схемы. Дискретное и процессное — две модели производства, AI входит в обе, но по-разному.</a:t>
            </a:r>
          </a:p>
          <a:p/>
          <a:p>
            <a:r>
              <a:t>В дискретном мы разобрали: компьютерное зрение для контроля качества — BMW GenAI4Q, TSMC, Boeing fuselage. Эталонная разметка как cornerstone — стоимость разметки vs объём данных. Прогностическое обслуживание с OEE callback — vendor обещает –25% downtime, нужен OEE breakdown. Коботы и Toyota Jidoka 2.0 — augment, не replace.</a:t>
            </a:r>
          </a:p>
          <a:p/>
          <a:p>
            <a:r>
              <a:t>Failure-урок дискретного: чрезмерная автоматизация — Tesla 2018; сдвиг распределения при смене продукта; scarce labels и class imbalance; vendor self-claim без baseline.</a:t>
            </a:r>
          </a:p>
          <a:p/>
          <a:p>
            <a:r>
              <a:t>В процессном мы разобрали: мягкие сенсоры — BASF Geismar и Pfizer Vox. MPC / RL гибрид с CIRL — Yokogawa-JSR FKDPP. PdM на границе и детерминизм edge-вывода — POSCO 180 nodes. Регуляторика — FDA Part 11, ATEX, Указ 250.</a:t>
            </a:r>
          </a:p>
          <a:p/>
          <a:p>
            <a:r>
              <a:t>Failure-урок процессного: RL distribution drift; regulatory blocker; OT-IT раскол на uncertain edge; vendor PR без metrics.</a:t>
            </a:r>
          </a:p>
          <a:p/>
          <a:p>
            <a:r>
              <a:t>Общий слой для обеих колонн. Foundation models — Siemens IFM, FoxBrain — это augmentation для инженера, не autonomous controller. Три причины: задержка вывода 100-500 мс, галлюцинации, сертификация. Эти причины не уходят со временем.</a:t>
            </a:r>
          </a:p>
          <a:p/>
          <a:p>
            <a:r>
              <a:t>Застревание на пилотной стадии — universal. 78 процентов используют AI, 5,5 процентов high performers. 95 процентов пилотов не доходят до production. Это не свойство одной отрасли, это структурная картина 2025-2026 года.</a:t>
            </a:r>
          </a:p>
          <a:p/>
          <a:p>
            <a:r>
              <a:t>И теперь — explicit failure-callback. Я хочу, чтобы вы выучили это формулой и могли применить завтра.</a:t>
            </a:r>
          </a:p>
          <a:p/>
          <a:p>
            <a:r>
              <a:t>«Завтра вендор обещает –70 процентов downtime. Задайте три вопроса: baseline до AI, окно измерения, перечень вмешательств. Плюс четвёртый вопрос про OEE — какой компонент эффективности улучшается. Если ответы расплывчатые — это demo, не production. 95 процентов пилотов не доходят до production не потому, что AI плох, а потому что инженеры не задают эти вопросы».</a:t>
            </a:r>
          </a:p>
          <a:p/>
          <a:p>
            <a:r>
              <a:t>Это лекция была про то, как стать тем инженером, который задаёт. Не про AI-восторг. Не про AI-скептицизм. Про критическое суждение в применении AI к промышленности.</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слайд. Пять вопросов к вендору — для кармана, и три типичных студенческих вопроса.</a:t>
            </a:r>
          </a:p>
          <a:p/>
          <a:p>
            <a:r>
              <a:t>Пять вопросов я уже повторял несколько раз сегодня. Сейчас в финальной формулировке.</a:t>
            </a:r>
          </a:p>
          <a:p/>
          <a:p>
            <a:r>
              <a:t>Первый — baseline до AI. На какой объём работы, времени, стоимости вы сравниваете? Что было до внедрения AI? Если вендор не знает baseline — он не знает, чему равны его проценты.</a:t>
            </a:r>
          </a:p>
          <a:p/>
          <a:p>
            <a:r>
              <a:t>Второй — окно измерения. За какой период оценка? День, неделя, месяц, лучший месяц или средний? Окно определяет интерпретацию цифры.</a:t>
            </a:r>
          </a:p>
          <a:p/>
          <a:p>
            <a:r>
              <a:t>Третий — перечень вмешательств. Какие AI-инструменты учтены в «эффекте»? Что реально автоматизировано, что — частично, что осталось на человеке? Цитата Foxconn про «80 процентов configuration work» — это типичный пример, где «80» это compound число, в котором смешаны разные операции.</a:t>
            </a:r>
          </a:p>
          <a:p/>
          <a:p>
            <a:r>
              <a:t>Четвёртый — OEE-канал. В какой компонент OEE добавляется эффект — availability, performance или quality? Это разделяет «25 процентов снижение downtime» на смысловые подкатегории.</a:t>
            </a:r>
          </a:p>
          <a:p/>
          <a:p>
            <a:r>
              <a:t>Пятый — архитектурный класс. Это AI как chat-помощник для оператора, или AI как autonomous controller, замыкающий control loop? FDA / ATEX / SIL 2-3 разрешают этот класс?</a:t>
            </a:r>
          </a:p>
          <a:p/>
          <a:p>
            <a:r>
              <a:t>Запишите эти пять вопросов на стикер и наклейте на монитор. Серьёзно. Каждый раз, когда придёт вендор — пройдите по списку.</a:t>
            </a:r>
          </a:p>
          <a:p/>
          <a:p>
            <a:r>
              <a:t>Теперь к типичным студенческим вопросам, которые я слышу на этой лекции.</a:t>
            </a:r>
          </a:p>
          <a:p/>
          <a:p>
            <a:r>
              <a:t>«Мне говорят внедрить AI на нашем процессе, но я не уверен. Что делать?» Пройдите 5-step framework, который мы разобрали на s35. Если хотя бы один шаг не проходит — отчитайтесь руководству с конкретными цифрами, какой именно шаг не проходит и почему. Не запускайте pilot без go-criteria — это самый частый способ попасть в 80-95 процентов pilot purgatory.</a:t>
            </a:r>
          </a:p>
          <a:p/>
          <a:p>
            <a:r>
              <a:t>«SPC vs ML — что выбрать?» Зависит от регуляторной среды и количества переменных. Если FDA Part 11 и параметры univariate — SPC. Если multi-variate и нужно recommend mode с audit trail — ML, но как recommend, не autonomous. Hybrid: SPC + ML over residuals. Statistical baseline ловит первые 70 процентов, ML добавляется на нелинейном остатке. Это defensible перед регулятором, потому что SPC — known object.</a:t>
            </a:r>
          </a:p>
          <a:p/>
          <a:p>
            <a:r>
              <a:t>«RL vs MPC — что лучше?» MPC dominates control loop. RL дополняет MPC на high-level scheduling: какой batch запускать, когда переключаться. Safe-fallback к MPC mandatory — если RL начинает дрейфовать, система автоматически переключается на MPC. Не deploy RL без CIRL-обвязки или explicit MPC backup.</a:t>
            </a:r>
          </a:p>
          <a:p/>
          <a:p>
            <a:r>
              <a:t>Это самые частые вопросы. Если у вас другой — задавайте.</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slide. BMW Werk с overlay цифрового двойника — это hero, который я выбрал для замыкания этой лекции.</a:t>
            </a:r>
          </a:p>
          <a:p/>
          <a:p>
            <a:r>
              <a:t>Почему BMW. В 2024-2025 году BMW Group объявил, что 30 плюс заводов готовы к цифровому двойнику. На NVIDIA GTC Paris 2025 BMW демонстрировал Virtual Factory — это полный цифровой двойник производственных площадей, который позволяет тестировать новые лayout, новые продуктовые линии, новых роботов в виртуальной среде до того, как развернуть в физической.</a:t>
            </a:r>
          </a:p>
          <a:p/>
          <a:p>
            <a:r>
              <a:t>Это bridge к лекции 12. Сегодня мы разобрали отдельные инструменты — CV-инспекцию на разных линиях, мягкие сенсоры в разных реакторах, прогностическое обслуживание на разных узлах, foundation models для разных задач. Каждый из них самодостаточен, каждый имеет свой scope.</a:t>
            </a:r>
          </a:p>
          <a:p/>
          <a:p>
            <a:r>
              <a:t>Лекция 12 — это сшивка. Цифровой двойник — это унифицирующая абстракция, которая собирает отдельные AI-инструменты в production-fabric. AI в автоматизации работает не как набор отдельных моделей, а как cohesive system, где CV-инспекция, soft sensors, PdM, foundation models — все взаимодействуют через цифровой двойник.</a:t>
            </a:r>
          </a:p>
          <a:p/>
          <a:p>
            <a:r>
              <a:t>В России это направление получило regulatory ground в ГОСТ Р 57700.37-2021 — стандарт по цифровым двойникам. На лекции 12 разберём подробнее.</a:t>
            </a:r>
          </a:p>
          <a:p/>
          <a:p>
            <a:r>
              <a:t>Параллельные примеры. Holcim — world's first digital-twin cement plant (2024). Foxconn в партнёрстве с NVIDIA Omniverse — digital twin для smart factories. Это global trend, и в 2026-2027 году digital twin становится de-facto стандартом в крупных производствах.</a:t>
            </a:r>
          </a:p>
          <a:p/>
          <a:p>
            <a:r>
              <a:t>И foreshadow к лекции 13 — supply chain AI. После того, как digital twin покрывает завод, следующий шаг — как digital twin распространяется на всю цепочку от поставщика до клиента. Это уже другой класс задач, но логически продолжение.</a:t>
            </a:r>
          </a:p>
          <a:p/>
          <a:p>
            <a:r>
              <a:t>Спасибо за внимание. Лекция 11 модуль 2, AI в дискретном и процессном производстве. Вопросы — на семинаре на следующей неделе или в чате.</a:t>
            </a:r>
          </a:p>
          <a:p/>
          <a:p>
            <a:r>
              <a:t>Запомните пять вопросов к вендору. Это самая практическая вещь, которую я вам сегодня передал.</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jpg"/><Relationship Id="rId4" Type="http://schemas.openxmlformats.org/officeDocument/2006/relationships/image" Target="../media/image7.png"/><Relationship Id="rId5" Type="http://schemas.openxmlformats.org/officeDocument/2006/relationships/notesSlide" Target="../notesSlides/notesSlide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2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notesSlide" Target="../notesSlides/notesSlide2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image" Target="../media/image14.png"/><Relationship Id="rId4" Type="http://schemas.openxmlformats.org/officeDocument/2006/relationships/notesSlide" Target="../notesSlides/notesSlide2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2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image" Target="../media/image17.png"/><Relationship Id="rId4" Type="http://schemas.openxmlformats.org/officeDocument/2006/relationships/notesSlide" Target="../notesSlides/notesSlide2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3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3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s01-tesla-giga-press.png"/>
          <p:cNvPicPr>
            <a:picLocks noChangeAspect="1"/>
          </p:cNvPicPr>
          <p:nvPr/>
        </p:nvPicPr>
        <p:blipFill>
          <a:blip r:embed="rId2"/>
          <a:stretch>
            <a:fillRect/>
          </a:stretch>
        </p:blipFill>
        <p:spPr>
          <a:xfrm>
            <a:off x="457200" y="457200"/>
            <a:ext cx="5943600" cy="4389120"/>
          </a:xfrm>
          <a:prstGeom prst="rect">
            <a:avLst/>
          </a:prstGeom>
        </p:spPr>
      </p:pic>
      <p:sp>
        <p:nvSpPr>
          <p:cNvPr id="3" name="TextBox 2"/>
          <p:cNvSpPr txBox="1"/>
          <p:nvPr/>
        </p:nvSpPr>
        <p:spPr>
          <a:xfrm>
            <a:off x="457200" y="4937760"/>
            <a:ext cx="5943600"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Tesla Giga Press · Idra OL 6100 CS · Fremont, 2020 · Wikimedia CC-BY-SA</a:t>
            </a:r>
          </a:p>
        </p:txBody>
      </p:sp>
      <p:sp>
        <p:nvSpPr>
          <p:cNvPr id="4" name="TextBox 3"/>
          <p:cNvSpPr txBox="1"/>
          <p:nvPr/>
        </p:nvSpPr>
        <p:spPr>
          <a:xfrm>
            <a:off x="6675120" y="640080"/>
            <a:ext cx="5212080" cy="4572000"/>
          </a:xfrm>
          <a:prstGeom prst="rect">
            <a:avLst/>
          </a:prstGeom>
          <a:noFill/>
        </p:spPr>
        <p:txBody>
          <a:bodyPr wrap="square" lIns="0" rIns="0" tIns="0" bIns="0" anchor="t">
            <a:spAutoFit/>
          </a:bodyPr>
          <a:lstStyle/>
          <a:p>
            <a:pPr algn="l">
              <a:lnSpc>
                <a:spcPct val="120000"/>
              </a:lnSpc>
            </a:pPr>
            <a:r>
              <a:rPr sz="3000" b="1" i="0">
                <a:solidFill>
                  <a:srgbClr val="21295C"/>
                </a:solidFill>
                <a:latin typeface="Arial"/>
              </a:rPr>
              <a:t>Tesla отступила дважды.</a:t>
            </a:r>
          </a:p>
          <a:p>
            <a:pPr algn="l">
              <a:lnSpc>
                <a:spcPct val="120000"/>
              </a:lnSpc>
            </a:pPr>
            <a:r>
              <a:rPr sz="2400" b="1" i="0">
                <a:solidFill>
                  <a:srgbClr val="065A82"/>
                </a:solidFill>
                <a:latin typeface="Arial"/>
              </a:rPr>
              <a:t>Компании не учатся один раз.</a:t>
            </a:r>
          </a:p>
          <a:p>
            <a:pPr algn="l">
              <a:lnSpc>
                <a:spcPct val="120000"/>
              </a:lnSpc>
            </a:pPr>
            <a:r>
              <a:rPr sz="1000" b="0" i="0">
                <a:solidFill>
                  <a:srgbClr val="21295C"/>
                </a:solidFill>
                <a:latin typeface="Arial"/>
              </a:rPr>
              <a:t/>
            </a:r>
          </a:p>
          <a:p>
            <a:pPr algn="l">
              <a:lnSpc>
                <a:spcPct val="120000"/>
              </a:lnSpc>
            </a:pPr>
            <a:r>
              <a:rPr sz="1400" b="1" i="0">
                <a:solidFill>
                  <a:srgbClr val="F0AB00"/>
                </a:solidFill>
                <a:latin typeface="Arial"/>
              </a:rPr>
              <a:t>Май 2024:</a:t>
            </a:r>
          </a:p>
          <a:p>
            <a:pPr algn="l">
              <a:lnSpc>
                <a:spcPct val="120000"/>
              </a:lnSpc>
            </a:pPr>
            <a:r>
              <a:rPr sz="1400" b="0" i="0">
                <a:solidFill>
                  <a:srgbClr val="21295C"/>
                </a:solidFill>
                <a:latin typeface="Arial"/>
              </a:rPr>
              <a:t>Tesla отказалась от next-generation gigacasting для Model 2.</a:t>
            </a:r>
          </a:p>
          <a:p>
            <a:pPr algn="l">
              <a:lnSpc>
                <a:spcPct val="120000"/>
              </a:lnSpc>
            </a:pPr>
            <a:r>
              <a:rPr sz="1000" b="0" i="0">
                <a:solidFill>
                  <a:srgbClr val="21295C"/>
                </a:solidFill>
                <a:latin typeface="Arial"/>
              </a:rPr>
              <a:t/>
            </a:r>
          </a:p>
          <a:p>
            <a:pPr algn="l">
              <a:lnSpc>
                <a:spcPct val="120000"/>
              </a:lnSpc>
            </a:pPr>
            <a:r>
              <a:rPr sz="1400" b="1" i="0">
                <a:solidFill>
                  <a:srgbClr val="065A82"/>
                </a:solidFill>
                <a:latin typeface="Arial"/>
              </a:rPr>
              <a:t>Апрель 2018:</a:t>
            </a:r>
          </a:p>
          <a:p>
            <a:pPr algn="l">
              <a:lnSpc>
                <a:spcPct val="120000"/>
              </a:lnSpc>
            </a:pPr>
            <a:r>
              <a:rPr sz="1300" b="0" i="1">
                <a:solidFill>
                  <a:srgbClr val="21295C"/>
                </a:solidFill>
                <a:latin typeface="Arial"/>
              </a:rPr>
              <a:t>«Excessive automation at Tesla was a mistake. To be precise, my mistake. Humans are underrated.»</a:t>
            </a:r>
          </a:p>
          <a:p>
            <a:pPr algn="l">
              <a:lnSpc>
                <a:spcPct val="120000"/>
              </a:lnSpc>
            </a:pPr>
            <a:r>
              <a:rPr sz="1100" b="0" i="1">
                <a:solidFill>
                  <a:srgbClr val="6B7685"/>
                </a:solidFill>
                <a:latin typeface="Arial"/>
              </a:rPr>
              <a:t>— Илон Маск, X, 13.04.2018</a:t>
            </a:r>
          </a:p>
        </p:txBody>
      </p:sp>
      <p:sp>
        <p:nvSpPr>
          <p:cNvPr id="5" name="Rounded Rectangle 4"/>
          <p:cNvSpPr/>
          <p:nvPr/>
        </p:nvSpPr>
        <p:spPr>
          <a:xfrm>
            <a:off x="457200" y="5394960"/>
            <a:ext cx="11274552" cy="91440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5532120"/>
            <a:ext cx="10789920" cy="731520"/>
          </a:xfrm>
          <a:prstGeom prst="rect">
            <a:avLst/>
          </a:prstGeom>
          <a:noFill/>
        </p:spPr>
        <p:txBody>
          <a:bodyPr wrap="square" lIns="0" rIns="0" tIns="0" bIns="0" anchor="ctr">
            <a:spAutoFit/>
          </a:bodyPr>
          <a:lstStyle/>
          <a:p>
            <a:pPr algn="ctr">
              <a:lnSpc>
                <a:spcPct val="115000"/>
              </a:lnSpc>
            </a:pPr>
            <a:r>
              <a:rPr sz="1500" b="1" i="0">
                <a:solidFill>
                  <a:srgbClr val="21295C"/>
                </a:solidFill>
                <a:latin typeface="Arial"/>
              </a:rPr>
              <a:t>MIT Sloan 2025: 95% AI-пилотов не доходят до production. Где AI работает, где нет — и как решать инженеру?</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2209190" cy="292608"/>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02336"/>
            <a:ext cx="2209190" cy="256032"/>
          </a:xfrm>
          <a:prstGeom prst="rect">
            <a:avLst/>
          </a:prstGeom>
          <a:noFill/>
        </p:spPr>
        <p:txBody>
          <a:bodyPr wrap="square" lIns="0" rIns="0" tIns="0" bIns="0" anchor="ctr">
            <a:spAutoFit/>
          </a:bodyPr>
          <a:lstStyle/>
          <a:p>
            <a:pPr algn="ctr">
              <a:lnSpc>
                <a:spcPct val="115000"/>
              </a:lnSpc>
            </a:pPr>
            <a:r>
              <a:rPr sz="1000" b="1" i="0">
                <a:solidFill>
                  <a:srgbClr val="21295C"/>
                </a:solidFill>
                <a:latin typeface="Arial"/>
              </a:rPr>
              <a:t>1. Общее</a:t>
            </a:r>
          </a:p>
        </p:txBody>
      </p:sp>
      <p:sp>
        <p:nvSpPr>
          <p:cNvPr id="4" name="Rectangle 3"/>
          <p:cNvSpPr/>
          <p:nvPr/>
        </p:nvSpPr>
        <p:spPr>
          <a:xfrm>
            <a:off x="2712110" y="365760"/>
            <a:ext cx="2209190" cy="292608"/>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12110" y="402336"/>
            <a:ext cx="2209190" cy="256032"/>
          </a:xfrm>
          <a:prstGeom prst="rect">
            <a:avLst/>
          </a:prstGeom>
          <a:noFill/>
        </p:spPr>
        <p:txBody>
          <a:bodyPr wrap="square" lIns="0" rIns="0" tIns="0" bIns="0" anchor="ctr">
            <a:spAutoFit/>
          </a:bodyPr>
          <a:lstStyle/>
          <a:p>
            <a:pPr algn="ctr">
              <a:lnSpc>
                <a:spcPct val="115000"/>
              </a:lnSpc>
            </a:pPr>
            <a:r>
              <a:rPr sz="1000" b="0" i="0">
                <a:solidFill>
                  <a:srgbClr val="6B7685"/>
                </a:solidFill>
                <a:latin typeface="Arial"/>
              </a:rPr>
              <a:t>2. Дискретное</a:t>
            </a:r>
          </a:p>
        </p:txBody>
      </p:sp>
      <p:sp>
        <p:nvSpPr>
          <p:cNvPr id="6" name="Rectangle 5"/>
          <p:cNvSpPr/>
          <p:nvPr/>
        </p:nvSpPr>
        <p:spPr>
          <a:xfrm>
            <a:off x="4967020" y="365760"/>
            <a:ext cx="2209190" cy="292608"/>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967020" y="402336"/>
            <a:ext cx="2209190" cy="256032"/>
          </a:xfrm>
          <a:prstGeom prst="rect">
            <a:avLst/>
          </a:prstGeom>
          <a:noFill/>
        </p:spPr>
        <p:txBody>
          <a:bodyPr wrap="square" lIns="0" rIns="0" tIns="0" bIns="0" anchor="ctr">
            <a:spAutoFit/>
          </a:bodyPr>
          <a:lstStyle/>
          <a:p>
            <a:pPr algn="ctr">
              <a:lnSpc>
                <a:spcPct val="115000"/>
              </a:lnSpc>
            </a:pPr>
            <a:r>
              <a:rPr sz="1000" b="0" i="0">
                <a:solidFill>
                  <a:srgbClr val="6B7685"/>
                </a:solidFill>
                <a:latin typeface="Arial"/>
              </a:rPr>
              <a:t>3. Процессное</a:t>
            </a:r>
          </a:p>
        </p:txBody>
      </p:sp>
      <p:sp>
        <p:nvSpPr>
          <p:cNvPr id="8" name="Rectangle 7"/>
          <p:cNvSpPr/>
          <p:nvPr/>
        </p:nvSpPr>
        <p:spPr>
          <a:xfrm>
            <a:off x="7221931" y="365760"/>
            <a:ext cx="2209190" cy="292608"/>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21931" y="402336"/>
            <a:ext cx="2209190" cy="256032"/>
          </a:xfrm>
          <a:prstGeom prst="rect">
            <a:avLst/>
          </a:prstGeom>
          <a:noFill/>
        </p:spPr>
        <p:txBody>
          <a:bodyPr wrap="square" lIns="0" rIns="0" tIns="0" bIns="0" anchor="ctr">
            <a:spAutoFit/>
          </a:bodyPr>
          <a:lstStyle/>
          <a:p>
            <a:pPr algn="ctr">
              <a:lnSpc>
                <a:spcPct val="115000"/>
              </a:lnSpc>
            </a:pPr>
            <a:r>
              <a:rPr sz="1000" b="0" i="0">
                <a:solidFill>
                  <a:srgbClr val="6B7685"/>
                </a:solidFill>
                <a:latin typeface="Arial"/>
              </a:rPr>
              <a:t>4. Рамка</a:t>
            </a:r>
          </a:p>
        </p:txBody>
      </p:sp>
      <p:sp>
        <p:nvSpPr>
          <p:cNvPr id="10" name="Rectangle 9"/>
          <p:cNvSpPr/>
          <p:nvPr/>
        </p:nvSpPr>
        <p:spPr>
          <a:xfrm>
            <a:off x="9476841" y="365760"/>
            <a:ext cx="2209190" cy="292608"/>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76841" y="402336"/>
            <a:ext cx="2209190" cy="256032"/>
          </a:xfrm>
          <a:prstGeom prst="rect">
            <a:avLst/>
          </a:prstGeom>
          <a:noFill/>
        </p:spPr>
        <p:txBody>
          <a:bodyPr wrap="square" lIns="0" rIns="0" tIns="0" bIns="0" anchor="ctr">
            <a:spAutoFit/>
          </a:bodyPr>
          <a:lstStyle/>
          <a:p>
            <a:pPr algn="ctr">
              <a:lnSpc>
                <a:spcPct val="115000"/>
              </a:lnSpc>
            </a:pPr>
            <a:r>
              <a:rPr sz="1000" b="0" i="0">
                <a:solidFill>
                  <a:srgbClr val="6B7685"/>
                </a:solidFill>
                <a:latin typeface="Arial"/>
              </a:rPr>
              <a:t>5. Замыкание</a:t>
            </a:r>
          </a:p>
        </p:txBody>
      </p:sp>
      <p:sp>
        <p:nvSpPr>
          <p:cNvPr id="12" name="TextBox 11"/>
          <p:cNvSpPr txBox="1"/>
          <p:nvPr/>
        </p:nvSpPr>
        <p:spPr>
          <a:xfrm>
            <a:off x="457200" y="1097280"/>
            <a:ext cx="3657600" cy="4114800"/>
          </a:xfrm>
          <a:prstGeom prst="rect">
            <a:avLst/>
          </a:prstGeom>
          <a:noFill/>
        </p:spPr>
        <p:txBody>
          <a:bodyPr wrap="square" lIns="0" rIns="0" tIns="0" bIns="0" anchor="ctr">
            <a:spAutoFit/>
          </a:bodyPr>
          <a:lstStyle/>
          <a:p>
            <a:pPr algn="ctr">
              <a:lnSpc>
                <a:spcPct val="115000"/>
              </a:lnSpc>
            </a:pPr>
            <a:r>
              <a:rPr sz="24000" b="1" i="0">
                <a:solidFill>
                  <a:srgbClr val="D9E2EC"/>
                </a:solidFill>
                <a:latin typeface="Arial"/>
              </a:rPr>
              <a:t>11</a:t>
            </a:r>
          </a:p>
        </p:txBody>
      </p:sp>
      <p:sp>
        <p:nvSpPr>
          <p:cNvPr id="13" name="TextBox 12"/>
          <p:cNvSpPr txBox="1"/>
          <p:nvPr/>
        </p:nvSpPr>
        <p:spPr>
          <a:xfrm>
            <a:off x="4114800" y="1371600"/>
            <a:ext cx="7589520" cy="1828800"/>
          </a:xfrm>
          <a:prstGeom prst="rect">
            <a:avLst/>
          </a:prstGeom>
          <a:noFill/>
        </p:spPr>
        <p:txBody>
          <a:bodyPr wrap="square" lIns="0" rIns="0" tIns="0" bIns="0" anchor="t">
            <a:spAutoFit/>
          </a:bodyPr>
          <a:lstStyle/>
          <a:p>
            <a:pPr algn="l">
              <a:lnSpc>
                <a:spcPct val="105000"/>
              </a:lnSpc>
            </a:pPr>
            <a:r>
              <a:rPr sz="2200" b="1" i="0">
                <a:solidFill>
                  <a:srgbClr val="1C7293"/>
                </a:solidFill>
                <a:latin typeface="Arial"/>
              </a:rPr>
              <a:t>Лекция 11</a:t>
            </a:r>
          </a:p>
          <a:p>
            <a:pPr algn="l">
              <a:lnSpc>
                <a:spcPct val="105000"/>
              </a:lnSpc>
            </a:pPr>
            <a:r>
              <a:rPr sz="3800" b="1" i="0">
                <a:solidFill>
                  <a:srgbClr val="21295C"/>
                </a:solidFill>
                <a:latin typeface="Arial"/>
              </a:rPr>
              <a:t>AI в дискретном и процессном</a:t>
            </a:r>
          </a:p>
          <a:p>
            <a:pPr algn="l">
              <a:lnSpc>
                <a:spcPct val="105000"/>
              </a:lnSpc>
            </a:pPr>
            <a:r>
              <a:rPr sz="3800" b="1" i="0">
                <a:solidFill>
                  <a:srgbClr val="21295C"/>
                </a:solidFill>
                <a:latin typeface="Arial"/>
              </a:rPr>
              <a:t>производстве</a:t>
            </a:r>
          </a:p>
        </p:txBody>
      </p:sp>
      <p:sp>
        <p:nvSpPr>
          <p:cNvPr id="14" name="TextBox 13"/>
          <p:cNvSpPr txBox="1"/>
          <p:nvPr/>
        </p:nvSpPr>
        <p:spPr>
          <a:xfrm>
            <a:off x="4114800" y="3931920"/>
            <a:ext cx="7589520" cy="914400"/>
          </a:xfrm>
          <a:prstGeom prst="rect">
            <a:avLst/>
          </a:prstGeom>
          <a:noFill/>
        </p:spPr>
        <p:txBody>
          <a:bodyPr wrap="square" lIns="0" rIns="0" tIns="0" bIns="0" anchor="t">
            <a:spAutoFit/>
          </a:bodyPr>
          <a:lstStyle/>
          <a:p>
            <a:pPr algn="l">
              <a:lnSpc>
                <a:spcPct val="125000"/>
              </a:lnSpc>
            </a:pPr>
            <a:r>
              <a:rPr sz="1600" b="0" i="0">
                <a:solidFill>
                  <a:srgbClr val="1C7293"/>
                </a:solidFill>
                <a:latin typeface="Arial"/>
              </a:rPr>
              <a:t>Модуль 2 · 75 минут + Q&amp;A</a:t>
            </a:r>
          </a:p>
          <a:p>
            <a:pPr algn="l">
              <a:lnSpc>
                <a:spcPct val="125000"/>
              </a:lnSpc>
            </a:pPr>
            <a:r>
              <a:rPr sz="1600" b="0" i="0">
                <a:solidFill>
                  <a:srgbClr val="1C7293"/>
                </a:solidFill>
                <a:latin typeface="Arial"/>
              </a:rPr>
              <a:t>Студенты-инженеры 3 курса</a:t>
            </a:r>
          </a:p>
        </p:txBody>
      </p:sp>
      <p:sp>
        <p:nvSpPr>
          <p:cNvPr id="15" name="Rounded Rectangle 14"/>
          <p:cNvSpPr/>
          <p:nvPr/>
        </p:nvSpPr>
        <p:spPr>
          <a:xfrm>
            <a:off x="4114800" y="4937760"/>
            <a:ext cx="7589520" cy="128016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97680" y="5074920"/>
            <a:ext cx="7315200" cy="1097280"/>
          </a:xfrm>
          <a:prstGeom prst="rect">
            <a:avLst/>
          </a:prstGeom>
          <a:noFill/>
        </p:spPr>
        <p:txBody>
          <a:bodyPr wrap="square" lIns="0" rIns="0" tIns="0" bIns="0" anchor="t">
            <a:spAutoFit/>
          </a:bodyPr>
          <a:lstStyle/>
          <a:p>
            <a:pPr algn="l">
              <a:lnSpc>
                <a:spcPct val="120000"/>
              </a:lnSpc>
            </a:pPr>
            <a:r>
              <a:rPr sz="1400" b="1" i="0">
                <a:solidFill>
                  <a:srgbClr val="065A82"/>
                </a:solidFill>
                <a:latin typeface="Arial"/>
              </a:rPr>
              <a:t>Цели лекции:</a:t>
            </a:r>
          </a:p>
          <a:p>
            <a:pPr algn="l">
              <a:lnSpc>
                <a:spcPct val="120000"/>
              </a:lnSpc>
            </a:pPr>
            <a:r>
              <a:rPr sz="1200" b="0" i="0">
                <a:solidFill>
                  <a:srgbClr val="21295C"/>
                </a:solidFill>
                <a:latin typeface="Arial"/>
              </a:rPr>
              <a:t>LO1 — назвать инструменты дискретного и процессного AI · LO2 — критически оценить vendor-claim ·</a:t>
            </a:r>
          </a:p>
          <a:p>
            <a:pPr algn="l">
              <a:lnSpc>
                <a:spcPct val="120000"/>
              </a:lnSpc>
            </a:pPr>
            <a:r>
              <a:rPr sz="1200" b="0" i="0">
                <a:solidFill>
                  <a:srgbClr val="21295C"/>
                </a:solidFill>
                <a:latin typeface="Arial"/>
              </a:rPr>
              <a:t>LO7 — различить chat-помощник vs autonomous controller · LO8 — сформулировать «когда AI не нужен»</a:t>
            </a:r>
          </a:p>
        </p:txBody>
      </p:sp>
      <p:sp>
        <p:nvSpPr>
          <p:cNvPr id="17" name="TextBox 16"/>
          <p:cNvSpPr txBox="1"/>
          <p:nvPr/>
        </p:nvSpPr>
        <p:spPr>
          <a:xfrm>
            <a:off x="457200" y="6446520"/>
            <a:ext cx="11274552" cy="320040"/>
          </a:xfrm>
          <a:prstGeom prst="rect">
            <a:avLst/>
          </a:prstGeom>
          <a:noFill/>
        </p:spPr>
        <p:txBody>
          <a:bodyPr wrap="square" lIns="0" rIns="0" tIns="0" bIns="0" anchor="t">
            <a:spAutoFit/>
          </a:bodyPr>
          <a:lstStyle/>
          <a:p>
            <a:pPr algn="l">
              <a:lnSpc>
                <a:spcPct val="115000"/>
              </a:lnSpc>
            </a:pPr>
            <a:r>
              <a:rPr sz="1100" b="0" i="1">
                <a:solidFill>
                  <a:srgbClr val="1C7293"/>
                </a:solidFill>
                <a:latin typeface="Arial"/>
              </a:rPr>
              <a:t>Курс «Применение AI в инженерии» ·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800" b="1" i="0">
                <a:solidFill>
                  <a:srgbClr val="21295C"/>
                </a:solidFill>
                <a:latin typeface="Arial"/>
              </a:rPr>
              <a:t>Маршрут лекции — пять разделов</a:t>
            </a:r>
          </a:p>
        </p:txBody>
      </p:sp>
      <p:sp>
        <p:nvSpPr>
          <p:cNvPr id="3" name="Rounded Rectangle 2"/>
          <p:cNvSpPr/>
          <p:nvPr/>
        </p:nvSpPr>
        <p:spPr>
          <a:xfrm>
            <a:off x="457200" y="1280160"/>
            <a:ext cx="2212848" cy="484632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06424" y="1554480"/>
            <a:ext cx="914400" cy="91440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554480"/>
            <a:ext cx="2212848" cy="914400"/>
          </a:xfrm>
          <a:prstGeom prst="rect">
            <a:avLst/>
          </a:prstGeom>
          <a:noFill/>
        </p:spPr>
        <p:txBody>
          <a:bodyPr wrap="square" lIns="0" rIns="0" tIns="0" bIns="0" anchor="ctr">
            <a:spAutoFit/>
          </a:bodyPr>
          <a:lstStyle/>
          <a:p>
            <a:pPr algn="ctr">
              <a:lnSpc>
                <a:spcPct val="115000"/>
              </a:lnSpc>
            </a:pPr>
            <a:r>
              <a:rPr sz="4400" b="1" i="0">
                <a:solidFill>
                  <a:srgbClr val="FFFFFF"/>
                </a:solidFill>
                <a:latin typeface="Arial"/>
              </a:rPr>
              <a:t>1</a:t>
            </a:r>
          </a:p>
        </p:txBody>
      </p:sp>
      <p:sp>
        <p:nvSpPr>
          <p:cNvPr id="6" name="TextBox 5"/>
          <p:cNvSpPr txBox="1"/>
          <p:nvPr/>
        </p:nvSpPr>
        <p:spPr>
          <a:xfrm>
            <a:off x="548640" y="2743200"/>
            <a:ext cx="2029967" cy="548640"/>
          </a:xfrm>
          <a:prstGeom prst="rect">
            <a:avLst/>
          </a:prstGeom>
          <a:noFill/>
        </p:spPr>
        <p:txBody>
          <a:bodyPr wrap="square" lIns="0" rIns="0" tIns="0" bIns="0" anchor="t">
            <a:spAutoFit/>
          </a:bodyPr>
          <a:lstStyle/>
          <a:p>
            <a:pPr algn="ctr">
              <a:lnSpc>
                <a:spcPct val="115000"/>
              </a:lnSpc>
            </a:pPr>
            <a:r>
              <a:rPr sz="1800" b="1" i="0">
                <a:solidFill>
                  <a:srgbClr val="21295C"/>
                </a:solidFill>
                <a:latin typeface="Arial"/>
              </a:rPr>
              <a:t>Общее</a:t>
            </a:r>
          </a:p>
        </p:txBody>
      </p:sp>
      <p:sp>
        <p:nvSpPr>
          <p:cNvPr id="7" name="TextBox 6"/>
          <p:cNvSpPr txBox="1"/>
          <p:nvPr/>
        </p:nvSpPr>
        <p:spPr>
          <a:xfrm>
            <a:off x="548640" y="3383279"/>
            <a:ext cx="2029967" cy="365760"/>
          </a:xfrm>
          <a:prstGeom prst="rect">
            <a:avLst/>
          </a:prstGeom>
          <a:noFill/>
        </p:spPr>
        <p:txBody>
          <a:bodyPr wrap="square" lIns="0" rIns="0" tIns="0" bIns="0" anchor="t">
            <a:spAutoFit/>
          </a:bodyPr>
          <a:lstStyle/>
          <a:p>
            <a:pPr algn="ctr">
              <a:lnSpc>
                <a:spcPct val="115000"/>
              </a:lnSpc>
            </a:pPr>
            <a:r>
              <a:rPr sz="1200" b="0" i="1">
                <a:solidFill>
                  <a:srgbClr val="F0AB00"/>
                </a:solidFill>
                <a:latin typeface="Arial"/>
              </a:rPr>
              <a:t>12 мин</a:t>
            </a:r>
          </a:p>
        </p:txBody>
      </p:sp>
      <p:sp>
        <p:nvSpPr>
          <p:cNvPr id="8" name="TextBox 7"/>
          <p:cNvSpPr txBox="1"/>
          <p:nvPr/>
        </p:nvSpPr>
        <p:spPr>
          <a:xfrm>
            <a:off x="640080" y="3886200"/>
            <a:ext cx="1847088" cy="2103120"/>
          </a:xfrm>
          <a:prstGeom prst="rect">
            <a:avLst/>
          </a:prstGeom>
          <a:noFill/>
        </p:spPr>
        <p:txBody>
          <a:bodyPr wrap="square" lIns="0" rIns="0" tIns="0" bIns="0" anchor="t">
            <a:spAutoFit/>
          </a:bodyPr>
          <a:lstStyle/>
          <a:p>
            <a:pPr algn="ctr">
              <a:lnSpc>
                <a:spcPct val="130000"/>
              </a:lnSpc>
            </a:pPr>
            <a:r>
              <a:rPr sz="1100" b="0" i="0">
                <a:solidFill>
                  <a:srgbClr val="4A556B"/>
                </a:solidFill>
                <a:latin typeface="Arial"/>
              </a:rPr>
              <a:t>Adoption · OT/IT · foundation models · трио hype-collapse</a:t>
            </a:r>
          </a:p>
        </p:txBody>
      </p:sp>
      <p:sp>
        <p:nvSpPr>
          <p:cNvPr id="9" name="Rounded Rectangle 8"/>
          <p:cNvSpPr/>
          <p:nvPr/>
        </p:nvSpPr>
        <p:spPr>
          <a:xfrm>
            <a:off x="2715768" y="1280160"/>
            <a:ext cx="2212848" cy="484632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364991" y="1554480"/>
            <a:ext cx="914400" cy="914400"/>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15768" y="1554480"/>
            <a:ext cx="2212848" cy="914400"/>
          </a:xfrm>
          <a:prstGeom prst="rect">
            <a:avLst/>
          </a:prstGeom>
          <a:noFill/>
        </p:spPr>
        <p:txBody>
          <a:bodyPr wrap="square" lIns="0" rIns="0" tIns="0" bIns="0" anchor="ctr">
            <a:spAutoFit/>
          </a:bodyPr>
          <a:lstStyle/>
          <a:p>
            <a:pPr algn="ctr">
              <a:lnSpc>
                <a:spcPct val="115000"/>
              </a:lnSpc>
            </a:pPr>
            <a:r>
              <a:rPr sz="4400" b="1" i="0">
                <a:solidFill>
                  <a:srgbClr val="FFFFFF"/>
                </a:solidFill>
                <a:latin typeface="Arial"/>
              </a:rPr>
              <a:t>2</a:t>
            </a:r>
          </a:p>
        </p:txBody>
      </p:sp>
      <p:sp>
        <p:nvSpPr>
          <p:cNvPr id="12" name="TextBox 11"/>
          <p:cNvSpPr txBox="1"/>
          <p:nvPr/>
        </p:nvSpPr>
        <p:spPr>
          <a:xfrm>
            <a:off x="2807208" y="2743200"/>
            <a:ext cx="2029967" cy="548640"/>
          </a:xfrm>
          <a:prstGeom prst="rect">
            <a:avLst/>
          </a:prstGeom>
          <a:noFill/>
        </p:spPr>
        <p:txBody>
          <a:bodyPr wrap="square" lIns="0" rIns="0" tIns="0" bIns="0" anchor="t">
            <a:spAutoFit/>
          </a:bodyPr>
          <a:lstStyle/>
          <a:p>
            <a:pPr algn="ctr">
              <a:lnSpc>
                <a:spcPct val="115000"/>
              </a:lnSpc>
            </a:pPr>
            <a:r>
              <a:rPr sz="1800" b="1" i="0">
                <a:solidFill>
                  <a:srgbClr val="21295C"/>
                </a:solidFill>
                <a:latin typeface="Arial"/>
              </a:rPr>
              <a:t>Дискретное</a:t>
            </a:r>
          </a:p>
        </p:txBody>
      </p:sp>
      <p:sp>
        <p:nvSpPr>
          <p:cNvPr id="13" name="TextBox 12"/>
          <p:cNvSpPr txBox="1"/>
          <p:nvPr/>
        </p:nvSpPr>
        <p:spPr>
          <a:xfrm>
            <a:off x="2807208" y="3383279"/>
            <a:ext cx="2029967" cy="365760"/>
          </a:xfrm>
          <a:prstGeom prst="rect">
            <a:avLst/>
          </a:prstGeom>
          <a:noFill/>
        </p:spPr>
        <p:txBody>
          <a:bodyPr wrap="square" lIns="0" rIns="0" tIns="0" bIns="0" anchor="t">
            <a:spAutoFit/>
          </a:bodyPr>
          <a:lstStyle/>
          <a:p>
            <a:pPr algn="ctr">
              <a:lnSpc>
                <a:spcPct val="115000"/>
              </a:lnSpc>
            </a:pPr>
            <a:r>
              <a:rPr sz="1200" b="0" i="1">
                <a:solidFill>
                  <a:srgbClr val="F0AB00"/>
                </a:solidFill>
                <a:latin typeface="Arial"/>
              </a:rPr>
              <a:t>17 мин</a:t>
            </a:r>
          </a:p>
        </p:txBody>
      </p:sp>
      <p:sp>
        <p:nvSpPr>
          <p:cNvPr id="14" name="TextBox 13"/>
          <p:cNvSpPr txBox="1"/>
          <p:nvPr/>
        </p:nvSpPr>
        <p:spPr>
          <a:xfrm>
            <a:off x="2898648" y="3886200"/>
            <a:ext cx="1847088" cy="2103120"/>
          </a:xfrm>
          <a:prstGeom prst="rect">
            <a:avLst/>
          </a:prstGeom>
          <a:noFill/>
        </p:spPr>
        <p:txBody>
          <a:bodyPr wrap="square" lIns="0" rIns="0" tIns="0" bIns="0" anchor="t">
            <a:spAutoFit/>
          </a:bodyPr>
          <a:lstStyle/>
          <a:p>
            <a:pPr algn="ctr">
              <a:lnSpc>
                <a:spcPct val="130000"/>
              </a:lnSpc>
            </a:pPr>
            <a:r>
              <a:rPr sz="1100" b="0" i="0">
                <a:solidFill>
                  <a:srgbClr val="4A556B"/>
                </a:solidFill>
                <a:latin typeface="Arial"/>
              </a:rPr>
              <a:t>CV-инспекция · разметка · PdM · коботы · Tesla 2018</a:t>
            </a:r>
          </a:p>
        </p:txBody>
      </p:sp>
      <p:sp>
        <p:nvSpPr>
          <p:cNvPr id="15" name="Rounded Rectangle 14"/>
          <p:cNvSpPr/>
          <p:nvPr/>
        </p:nvSpPr>
        <p:spPr>
          <a:xfrm>
            <a:off x="4974336" y="1280160"/>
            <a:ext cx="2212848" cy="484632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623559" y="1554480"/>
            <a:ext cx="914400" cy="914400"/>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74336" y="1554480"/>
            <a:ext cx="2212848" cy="914400"/>
          </a:xfrm>
          <a:prstGeom prst="rect">
            <a:avLst/>
          </a:prstGeom>
          <a:noFill/>
        </p:spPr>
        <p:txBody>
          <a:bodyPr wrap="square" lIns="0" rIns="0" tIns="0" bIns="0" anchor="ctr">
            <a:spAutoFit/>
          </a:bodyPr>
          <a:lstStyle/>
          <a:p>
            <a:pPr algn="ctr">
              <a:lnSpc>
                <a:spcPct val="115000"/>
              </a:lnSpc>
            </a:pPr>
            <a:r>
              <a:rPr sz="4400" b="1" i="0">
                <a:solidFill>
                  <a:srgbClr val="FFFFFF"/>
                </a:solidFill>
                <a:latin typeface="Arial"/>
              </a:rPr>
              <a:t>3</a:t>
            </a:r>
          </a:p>
        </p:txBody>
      </p:sp>
      <p:sp>
        <p:nvSpPr>
          <p:cNvPr id="18" name="TextBox 17"/>
          <p:cNvSpPr txBox="1"/>
          <p:nvPr/>
        </p:nvSpPr>
        <p:spPr>
          <a:xfrm>
            <a:off x="5065775" y="2743200"/>
            <a:ext cx="2029967" cy="548640"/>
          </a:xfrm>
          <a:prstGeom prst="rect">
            <a:avLst/>
          </a:prstGeom>
          <a:noFill/>
        </p:spPr>
        <p:txBody>
          <a:bodyPr wrap="square" lIns="0" rIns="0" tIns="0" bIns="0" anchor="t">
            <a:spAutoFit/>
          </a:bodyPr>
          <a:lstStyle/>
          <a:p>
            <a:pPr algn="ctr">
              <a:lnSpc>
                <a:spcPct val="115000"/>
              </a:lnSpc>
            </a:pPr>
            <a:r>
              <a:rPr sz="1800" b="1" i="0">
                <a:solidFill>
                  <a:srgbClr val="21295C"/>
                </a:solidFill>
                <a:latin typeface="Arial"/>
              </a:rPr>
              <a:t>Процессное</a:t>
            </a:r>
          </a:p>
        </p:txBody>
      </p:sp>
      <p:sp>
        <p:nvSpPr>
          <p:cNvPr id="19" name="TextBox 18"/>
          <p:cNvSpPr txBox="1"/>
          <p:nvPr/>
        </p:nvSpPr>
        <p:spPr>
          <a:xfrm>
            <a:off x="5065775" y="3383279"/>
            <a:ext cx="2029967" cy="365760"/>
          </a:xfrm>
          <a:prstGeom prst="rect">
            <a:avLst/>
          </a:prstGeom>
          <a:noFill/>
        </p:spPr>
        <p:txBody>
          <a:bodyPr wrap="square" lIns="0" rIns="0" tIns="0" bIns="0" anchor="t">
            <a:spAutoFit/>
          </a:bodyPr>
          <a:lstStyle/>
          <a:p>
            <a:pPr algn="ctr">
              <a:lnSpc>
                <a:spcPct val="115000"/>
              </a:lnSpc>
            </a:pPr>
            <a:r>
              <a:rPr sz="1200" b="0" i="1">
                <a:solidFill>
                  <a:srgbClr val="F0AB00"/>
                </a:solidFill>
                <a:latin typeface="Arial"/>
              </a:rPr>
              <a:t>17 мин</a:t>
            </a:r>
          </a:p>
        </p:txBody>
      </p:sp>
      <p:sp>
        <p:nvSpPr>
          <p:cNvPr id="20" name="TextBox 19"/>
          <p:cNvSpPr txBox="1"/>
          <p:nvPr/>
        </p:nvSpPr>
        <p:spPr>
          <a:xfrm>
            <a:off x="5157216" y="3886200"/>
            <a:ext cx="1847088" cy="2103120"/>
          </a:xfrm>
          <a:prstGeom prst="rect">
            <a:avLst/>
          </a:prstGeom>
          <a:noFill/>
        </p:spPr>
        <p:txBody>
          <a:bodyPr wrap="square" lIns="0" rIns="0" tIns="0" bIns="0" anchor="t">
            <a:spAutoFit/>
          </a:bodyPr>
          <a:lstStyle/>
          <a:p>
            <a:pPr algn="ctr">
              <a:lnSpc>
                <a:spcPct val="130000"/>
              </a:lnSpc>
            </a:pPr>
            <a:r>
              <a:rPr sz="1100" b="0" i="0">
                <a:solidFill>
                  <a:srgbClr val="4A556B"/>
                </a:solidFill>
                <a:latin typeface="Arial"/>
              </a:rPr>
              <a:t>Мягкие сенсоры · MPC/RL · регуляторика · РФ</a:t>
            </a:r>
          </a:p>
        </p:txBody>
      </p:sp>
      <p:sp>
        <p:nvSpPr>
          <p:cNvPr id="21" name="Rounded Rectangle 20"/>
          <p:cNvSpPr/>
          <p:nvPr/>
        </p:nvSpPr>
        <p:spPr>
          <a:xfrm>
            <a:off x="7232903" y="1280160"/>
            <a:ext cx="2212848" cy="484632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882127" y="1554480"/>
            <a:ext cx="914400" cy="91440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32903" y="1554480"/>
            <a:ext cx="2212848" cy="914400"/>
          </a:xfrm>
          <a:prstGeom prst="rect">
            <a:avLst/>
          </a:prstGeom>
          <a:noFill/>
        </p:spPr>
        <p:txBody>
          <a:bodyPr wrap="square" lIns="0" rIns="0" tIns="0" bIns="0" anchor="ctr">
            <a:spAutoFit/>
          </a:bodyPr>
          <a:lstStyle/>
          <a:p>
            <a:pPr algn="ctr">
              <a:lnSpc>
                <a:spcPct val="115000"/>
              </a:lnSpc>
            </a:pPr>
            <a:r>
              <a:rPr sz="4400" b="1" i="0">
                <a:solidFill>
                  <a:srgbClr val="FFFFFF"/>
                </a:solidFill>
                <a:latin typeface="Arial"/>
              </a:rPr>
              <a:t>4</a:t>
            </a:r>
          </a:p>
        </p:txBody>
      </p:sp>
      <p:sp>
        <p:nvSpPr>
          <p:cNvPr id="24" name="TextBox 23"/>
          <p:cNvSpPr txBox="1"/>
          <p:nvPr/>
        </p:nvSpPr>
        <p:spPr>
          <a:xfrm>
            <a:off x="7324344" y="2743200"/>
            <a:ext cx="2029967" cy="548640"/>
          </a:xfrm>
          <a:prstGeom prst="rect">
            <a:avLst/>
          </a:prstGeom>
          <a:noFill/>
        </p:spPr>
        <p:txBody>
          <a:bodyPr wrap="square" lIns="0" rIns="0" tIns="0" bIns="0" anchor="t">
            <a:spAutoFit/>
          </a:bodyPr>
          <a:lstStyle/>
          <a:p>
            <a:pPr algn="ctr">
              <a:lnSpc>
                <a:spcPct val="115000"/>
              </a:lnSpc>
            </a:pPr>
            <a:r>
              <a:rPr sz="1800" b="1" i="0">
                <a:solidFill>
                  <a:srgbClr val="21295C"/>
                </a:solidFill>
                <a:latin typeface="Arial"/>
              </a:rPr>
              <a:t>Рамка решения</a:t>
            </a:r>
          </a:p>
        </p:txBody>
      </p:sp>
      <p:sp>
        <p:nvSpPr>
          <p:cNvPr id="25" name="TextBox 24"/>
          <p:cNvSpPr txBox="1"/>
          <p:nvPr/>
        </p:nvSpPr>
        <p:spPr>
          <a:xfrm>
            <a:off x="7324344" y="3383279"/>
            <a:ext cx="2029967" cy="365760"/>
          </a:xfrm>
          <a:prstGeom prst="rect">
            <a:avLst/>
          </a:prstGeom>
          <a:noFill/>
        </p:spPr>
        <p:txBody>
          <a:bodyPr wrap="square" lIns="0" rIns="0" tIns="0" bIns="0" anchor="t">
            <a:spAutoFit/>
          </a:bodyPr>
          <a:lstStyle/>
          <a:p>
            <a:pPr algn="ctr">
              <a:lnSpc>
                <a:spcPct val="115000"/>
              </a:lnSpc>
            </a:pPr>
            <a:r>
              <a:rPr sz="1200" b="0" i="1">
                <a:solidFill>
                  <a:srgbClr val="F0AB00"/>
                </a:solidFill>
                <a:latin typeface="Arial"/>
              </a:rPr>
              <a:t>12 мин</a:t>
            </a:r>
          </a:p>
        </p:txBody>
      </p:sp>
      <p:sp>
        <p:nvSpPr>
          <p:cNvPr id="26" name="TextBox 25"/>
          <p:cNvSpPr txBox="1"/>
          <p:nvPr/>
        </p:nvSpPr>
        <p:spPr>
          <a:xfrm>
            <a:off x="7415783" y="3886200"/>
            <a:ext cx="1847088" cy="2103120"/>
          </a:xfrm>
          <a:prstGeom prst="rect">
            <a:avLst/>
          </a:prstGeom>
          <a:noFill/>
        </p:spPr>
        <p:txBody>
          <a:bodyPr wrap="square" lIns="0" rIns="0" tIns="0" bIns="0" anchor="t">
            <a:spAutoFit/>
          </a:bodyPr>
          <a:lstStyle/>
          <a:p>
            <a:pPr algn="ctr">
              <a:lnSpc>
                <a:spcPct val="130000"/>
              </a:lnSpc>
            </a:pPr>
            <a:r>
              <a:rPr sz="1100" b="0" i="0">
                <a:solidFill>
                  <a:srgbClr val="4A556B"/>
                </a:solidFill>
                <a:latin typeface="Arial"/>
              </a:rPr>
              <a:t>4 категории критериев · альтернативы · 5-step · Pfizer</a:t>
            </a:r>
          </a:p>
        </p:txBody>
      </p:sp>
      <p:sp>
        <p:nvSpPr>
          <p:cNvPr id="27" name="Rounded Rectangle 26"/>
          <p:cNvSpPr/>
          <p:nvPr/>
        </p:nvSpPr>
        <p:spPr>
          <a:xfrm>
            <a:off x="9491472" y="1280160"/>
            <a:ext cx="2212848" cy="484632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140696" y="1554480"/>
            <a:ext cx="914400" cy="914400"/>
          </a:xfrm>
          <a:prstGeom prst="ellipse">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491472" y="1554480"/>
            <a:ext cx="2212848" cy="914400"/>
          </a:xfrm>
          <a:prstGeom prst="rect">
            <a:avLst/>
          </a:prstGeom>
          <a:noFill/>
        </p:spPr>
        <p:txBody>
          <a:bodyPr wrap="square" lIns="0" rIns="0" tIns="0" bIns="0" anchor="ctr">
            <a:spAutoFit/>
          </a:bodyPr>
          <a:lstStyle/>
          <a:p>
            <a:pPr algn="ctr">
              <a:lnSpc>
                <a:spcPct val="115000"/>
              </a:lnSpc>
            </a:pPr>
            <a:r>
              <a:rPr sz="4400" b="1" i="0">
                <a:solidFill>
                  <a:srgbClr val="FFFFFF"/>
                </a:solidFill>
                <a:latin typeface="Arial"/>
              </a:rPr>
              <a:t>5</a:t>
            </a:r>
          </a:p>
        </p:txBody>
      </p:sp>
      <p:sp>
        <p:nvSpPr>
          <p:cNvPr id="30" name="TextBox 29"/>
          <p:cNvSpPr txBox="1"/>
          <p:nvPr/>
        </p:nvSpPr>
        <p:spPr>
          <a:xfrm>
            <a:off x="9582911" y="2743200"/>
            <a:ext cx="2029967" cy="548640"/>
          </a:xfrm>
          <a:prstGeom prst="rect">
            <a:avLst/>
          </a:prstGeom>
          <a:noFill/>
        </p:spPr>
        <p:txBody>
          <a:bodyPr wrap="square" lIns="0" rIns="0" tIns="0" bIns="0" anchor="t">
            <a:spAutoFit/>
          </a:bodyPr>
          <a:lstStyle/>
          <a:p>
            <a:pPr algn="ctr">
              <a:lnSpc>
                <a:spcPct val="115000"/>
              </a:lnSpc>
            </a:pPr>
            <a:r>
              <a:rPr sz="1800" b="1" i="0">
                <a:solidFill>
                  <a:srgbClr val="21295C"/>
                </a:solidFill>
                <a:latin typeface="Arial"/>
              </a:rPr>
              <a:t>Замыкание</a:t>
            </a:r>
          </a:p>
        </p:txBody>
      </p:sp>
      <p:sp>
        <p:nvSpPr>
          <p:cNvPr id="31" name="TextBox 30"/>
          <p:cNvSpPr txBox="1"/>
          <p:nvPr/>
        </p:nvSpPr>
        <p:spPr>
          <a:xfrm>
            <a:off x="9582911" y="3383279"/>
            <a:ext cx="2029967" cy="365760"/>
          </a:xfrm>
          <a:prstGeom prst="rect">
            <a:avLst/>
          </a:prstGeom>
          <a:noFill/>
        </p:spPr>
        <p:txBody>
          <a:bodyPr wrap="square" lIns="0" rIns="0" tIns="0" bIns="0" anchor="t">
            <a:spAutoFit/>
          </a:bodyPr>
          <a:lstStyle/>
          <a:p>
            <a:pPr algn="ctr">
              <a:lnSpc>
                <a:spcPct val="115000"/>
              </a:lnSpc>
            </a:pPr>
            <a:r>
              <a:rPr sz="1200" b="0" i="1">
                <a:solidFill>
                  <a:srgbClr val="F0AB00"/>
                </a:solidFill>
                <a:latin typeface="Arial"/>
              </a:rPr>
              <a:t>6 мин</a:t>
            </a:r>
          </a:p>
        </p:txBody>
      </p:sp>
      <p:sp>
        <p:nvSpPr>
          <p:cNvPr id="32" name="TextBox 31"/>
          <p:cNvSpPr txBox="1"/>
          <p:nvPr/>
        </p:nvSpPr>
        <p:spPr>
          <a:xfrm>
            <a:off x="9674351" y="3886200"/>
            <a:ext cx="1847088" cy="2103120"/>
          </a:xfrm>
          <a:prstGeom prst="rect">
            <a:avLst/>
          </a:prstGeom>
          <a:noFill/>
        </p:spPr>
        <p:txBody>
          <a:bodyPr wrap="square" lIns="0" rIns="0" tIns="0" bIns="0" anchor="t">
            <a:spAutoFit/>
          </a:bodyPr>
          <a:lstStyle/>
          <a:p>
            <a:pPr algn="ctr">
              <a:lnSpc>
                <a:spcPct val="130000"/>
              </a:lnSpc>
            </a:pPr>
            <a:r>
              <a:rPr sz="1100" b="0" i="0">
                <a:solidFill>
                  <a:srgbClr val="4A556B"/>
                </a:solidFill>
                <a:latin typeface="Arial"/>
              </a:rPr>
              <a:t>Recap · 5 вендор-вопросов · bridge к Лекции 12</a:t>
            </a:r>
          </a:p>
        </p:txBody>
      </p:sp>
      <p:sp>
        <p:nvSpPr>
          <p:cNvPr id="33" name="TextBox 32"/>
          <p:cNvSpPr txBox="1"/>
          <p:nvPr/>
        </p:nvSpPr>
        <p:spPr>
          <a:xfrm>
            <a:off x="457200" y="6446520"/>
            <a:ext cx="11274552" cy="320040"/>
          </a:xfrm>
          <a:prstGeom prst="rect">
            <a:avLst/>
          </a:prstGeom>
          <a:noFill/>
        </p:spPr>
        <p:txBody>
          <a:bodyPr wrap="square" lIns="0" rIns="0" tIns="0" bIns="0" anchor="t">
            <a:spAutoFit/>
          </a:bodyPr>
          <a:lstStyle/>
          <a:p>
            <a:pPr algn="l">
              <a:lnSpc>
                <a:spcPct val="115000"/>
              </a:lnSpc>
            </a:pPr>
            <a:r>
              <a:rPr sz="1100" b="0" i="1">
                <a:solidFill>
                  <a:srgbClr val="1C7293"/>
                </a:solidFill>
                <a:latin typeface="Arial"/>
              </a:rPr>
              <a:t>Раздел 4 — PAYOFF лекции · применимый инструмент для кармана</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800" b="1" i="0">
                <a:solidFill>
                  <a:srgbClr val="21295C"/>
                </a:solidFill>
                <a:latin typeface="Arial"/>
              </a:rPr>
              <a:t>Шесть терминов из мира промышленных систем</a:t>
            </a:r>
          </a:p>
        </p:txBody>
      </p:sp>
      <p:sp>
        <p:nvSpPr>
          <p:cNvPr id="3" name="TextBox 2"/>
          <p:cNvSpPr txBox="1"/>
          <p:nvPr/>
        </p:nvSpPr>
        <p:spPr>
          <a:xfrm>
            <a:off x="457200" y="1051560"/>
            <a:ext cx="11274552" cy="365760"/>
          </a:xfrm>
          <a:prstGeom prst="rect">
            <a:avLst/>
          </a:prstGeom>
          <a:noFill/>
        </p:spPr>
        <p:txBody>
          <a:bodyPr wrap="square" lIns="0" rIns="0" tIns="0" bIns="0" anchor="t">
            <a:spAutoFit/>
          </a:bodyPr>
          <a:lstStyle/>
          <a:p>
            <a:pPr algn="l">
              <a:lnSpc>
                <a:spcPct val="115000"/>
              </a:lnSpc>
            </a:pPr>
            <a:r>
              <a:rPr sz="1400" b="0" i="1">
                <a:solidFill>
                  <a:srgbClr val="1C7293"/>
                </a:solidFill>
                <a:latin typeface="Arial"/>
              </a:rPr>
              <a:t>Must-know для лекции · остальные acronyms — inline gloss при первом упоминании</a:t>
            </a:r>
          </a:p>
        </p:txBody>
      </p:sp>
      <p:sp>
        <p:nvSpPr>
          <p:cNvPr id="4" name="Rounded Rectangle 3"/>
          <p:cNvSpPr/>
          <p:nvPr/>
        </p:nvSpPr>
        <p:spPr>
          <a:xfrm>
            <a:off x="457200" y="1691640"/>
            <a:ext cx="5394960" cy="13716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1828800"/>
            <a:ext cx="1463040" cy="10972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828800"/>
            <a:ext cx="1463040" cy="1097280"/>
          </a:xfrm>
          <a:prstGeom prst="rect">
            <a:avLst/>
          </a:prstGeom>
          <a:noFill/>
        </p:spPr>
        <p:txBody>
          <a:bodyPr wrap="square" lIns="0" rIns="0" tIns="0" bIns="0" anchor="ctr">
            <a:spAutoFit/>
          </a:bodyPr>
          <a:lstStyle/>
          <a:p>
            <a:pPr algn="ctr">
              <a:lnSpc>
                <a:spcPct val="115000"/>
              </a:lnSpc>
            </a:pPr>
            <a:r>
              <a:rPr sz="1500" b="1" i="0">
                <a:solidFill>
                  <a:srgbClr val="FFFFFF"/>
                </a:solidFill>
                <a:latin typeface="Arial"/>
              </a:rPr>
              <a:t>ISA-95</a:t>
            </a:r>
          </a:p>
        </p:txBody>
      </p:sp>
      <p:sp>
        <p:nvSpPr>
          <p:cNvPr id="7" name="TextBox 6"/>
          <p:cNvSpPr txBox="1"/>
          <p:nvPr/>
        </p:nvSpPr>
        <p:spPr>
          <a:xfrm>
            <a:off x="2240280" y="1874520"/>
            <a:ext cx="3474720" cy="1005840"/>
          </a:xfrm>
          <a:prstGeom prst="rect">
            <a:avLst/>
          </a:prstGeom>
          <a:noFill/>
        </p:spPr>
        <p:txBody>
          <a:bodyPr wrap="square" lIns="0" rIns="0" tIns="0" bIns="0" anchor="ctr">
            <a:spAutoFit/>
          </a:bodyPr>
          <a:lstStyle/>
          <a:p>
            <a:pPr algn="l">
              <a:lnSpc>
                <a:spcPct val="130000"/>
              </a:lnSpc>
            </a:pPr>
            <a:r>
              <a:rPr sz="1100" b="0" i="0">
                <a:solidFill>
                  <a:srgbClr val="21295C"/>
                </a:solidFill>
                <a:latin typeface="Arial"/>
              </a:rPr>
              <a:t>5-уровневая иерархия систем управления (L0 процесс ↔ L4 ERP). Опорная сетка.</a:t>
            </a:r>
          </a:p>
        </p:txBody>
      </p:sp>
      <p:sp>
        <p:nvSpPr>
          <p:cNvPr id="8" name="Rounded Rectangle 7"/>
          <p:cNvSpPr/>
          <p:nvPr/>
        </p:nvSpPr>
        <p:spPr>
          <a:xfrm>
            <a:off x="6217920" y="1691640"/>
            <a:ext cx="5394960" cy="13716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355080" y="1828800"/>
            <a:ext cx="1463040" cy="10972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828800"/>
            <a:ext cx="1463040" cy="1097280"/>
          </a:xfrm>
          <a:prstGeom prst="rect">
            <a:avLst/>
          </a:prstGeom>
          <a:noFill/>
        </p:spPr>
        <p:txBody>
          <a:bodyPr wrap="square" lIns="0" rIns="0" tIns="0" bIns="0" anchor="ctr">
            <a:spAutoFit/>
          </a:bodyPr>
          <a:lstStyle/>
          <a:p>
            <a:pPr algn="ctr">
              <a:lnSpc>
                <a:spcPct val="115000"/>
              </a:lnSpc>
            </a:pPr>
            <a:r>
              <a:rPr sz="1500" b="1" i="0">
                <a:solidFill>
                  <a:srgbClr val="FFFFFF"/>
                </a:solidFill>
                <a:latin typeface="Arial"/>
              </a:rPr>
              <a:t>MES</a:t>
            </a:r>
          </a:p>
        </p:txBody>
      </p:sp>
      <p:sp>
        <p:nvSpPr>
          <p:cNvPr id="11" name="TextBox 10"/>
          <p:cNvSpPr txBox="1"/>
          <p:nvPr/>
        </p:nvSpPr>
        <p:spPr>
          <a:xfrm>
            <a:off x="8001000" y="1874520"/>
            <a:ext cx="3474720" cy="1005840"/>
          </a:xfrm>
          <a:prstGeom prst="rect">
            <a:avLst/>
          </a:prstGeom>
          <a:noFill/>
        </p:spPr>
        <p:txBody>
          <a:bodyPr wrap="square" lIns="0" rIns="0" tIns="0" bIns="0" anchor="ctr">
            <a:spAutoFit/>
          </a:bodyPr>
          <a:lstStyle/>
          <a:p>
            <a:pPr algn="l">
              <a:lnSpc>
                <a:spcPct val="130000"/>
              </a:lnSpc>
            </a:pPr>
            <a:r>
              <a:rPr sz="1100" b="0" i="0">
                <a:solidFill>
                  <a:srgbClr val="21295C"/>
                </a:solidFill>
                <a:latin typeface="Arial"/>
              </a:rPr>
              <a:t>Manufacturing Execution System. Уровень L3 — производственные заказы, OEE-отчёты, traceability.</a:t>
            </a:r>
          </a:p>
        </p:txBody>
      </p:sp>
      <p:sp>
        <p:nvSpPr>
          <p:cNvPr id="12" name="Rounded Rectangle 11"/>
          <p:cNvSpPr/>
          <p:nvPr/>
        </p:nvSpPr>
        <p:spPr>
          <a:xfrm>
            <a:off x="457200" y="3200400"/>
            <a:ext cx="5394960" cy="13716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3337560"/>
            <a:ext cx="1463040" cy="10972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3337560"/>
            <a:ext cx="1463040" cy="1097280"/>
          </a:xfrm>
          <a:prstGeom prst="rect">
            <a:avLst/>
          </a:prstGeom>
          <a:noFill/>
        </p:spPr>
        <p:txBody>
          <a:bodyPr wrap="square" lIns="0" rIns="0" tIns="0" bIns="0" anchor="ctr">
            <a:spAutoFit/>
          </a:bodyPr>
          <a:lstStyle/>
          <a:p>
            <a:pPr algn="ctr">
              <a:lnSpc>
                <a:spcPct val="115000"/>
              </a:lnSpc>
            </a:pPr>
            <a:r>
              <a:rPr sz="1500" b="1" i="0">
                <a:solidFill>
                  <a:srgbClr val="FFFFFF"/>
                </a:solidFill>
                <a:latin typeface="Arial"/>
              </a:rPr>
              <a:t>SCADA</a:t>
            </a:r>
          </a:p>
        </p:txBody>
      </p:sp>
      <p:sp>
        <p:nvSpPr>
          <p:cNvPr id="15" name="TextBox 14"/>
          <p:cNvSpPr txBox="1"/>
          <p:nvPr/>
        </p:nvSpPr>
        <p:spPr>
          <a:xfrm>
            <a:off x="2240280" y="3383280"/>
            <a:ext cx="3474720" cy="1005840"/>
          </a:xfrm>
          <a:prstGeom prst="rect">
            <a:avLst/>
          </a:prstGeom>
          <a:noFill/>
        </p:spPr>
        <p:txBody>
          <a:bodyPr wrap="square" lIns="0" rIns="0" tIns="0" bIns="0" anchor="ctr">
            <a:spAutoFit/>
          </a:bodyPr>
          <a:lstStyle/>
          <a:p>
            <a:pPr algn="l">
              <a:lnSpc>
                <a:spcPct val="130000"/>
              </a:lnSpc>
            </a:pPr>
            <a:r>
              <a:rPr sz="1100" b="0" i="0">
                <a:solidFill>
                  <a:srgbClr val="21295C"/>
                </a:solidFill>
                <a:latin typeface="Arial"/>
              </a:rPr>
              <a:t>Supervisory Control And Data Acquisition. Уровень L2 — мнемосхема, диспетчерский контроль.</a:t>
            </a:r>
          </a:p>
        </p:txBody>
      </p:sp>
      <p:sp>
        <p:nvSpPr>
          <p:cNvPr id="16" name="Rounded Rectangle 15"/>
          <p:cNvSpPr/>
          <p:nvPr/>
        </p:nvSpPr>
        <p:spPr>
          <a:xfrm>
            <a:off x="6217920" y="3200400"/>
            <a:ext cx="5394960" cy="13716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55080" y="3337560"/>
            <a:ext cx="1463040" cy="10972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5080" y="3337560"/>
            <a:ext cx="1463040" cy="1097280"/>
          </a:xfrm>
          <a:prstGeom prst="rect">
            <a:avLst/>
          </a:prstGeom>
          <a:noFill/>
        </p:spPr>
        <p:txBody>
          <a:bodyPr wrap="square" lIns="0" rIns="0" tIns="0" bIns="0" anchor="ctr">
            <a:spAutoFit/>
          </a:bodyPr>
          <a:lstStyle/>
          <a:p>
            <a:pPr algn="ctr">
              <a:lnSpc>
                <a:spcPct val="115000"/>
              </a:lnSpc>
            </a:pPr>
            <a:r>
              <a:rPr sz="1500" b="1" i="0">
                <a:solidFill>
                  <a:srgbClr val="FFFFFF"/>
                </a:solidFill>
                <a:latin typeface="Arial"/>
              </a:rPr>
              <a:t>PLC</a:t>
            </a:r>
          </a:p>
        </p:txBody>
      </p:sp>
      <p:sp>
        <p:nvSpPr>
          <p:cNvPr id="19" name="TextBox 18"/>
          <p:cNvSpPr txBox="1"/>
          <p:nvPr/>
        </p:nvSpPr>
        <p:spPr>
          <a:xfrm>
            <a:off x="8001000" y="3383280"/>
            <a:ext cx="3474720" cy="1005840"/>
          </a:xfrm>
          <a:prstGeom prst="rect">
            <a:avLst/>
          </a:prstGeom>
          <a:noFill/>
        </p:spPr>
        <p:txBody>
          <a:bodyPr wrap="square" lIns="0" rIns="0" tIns="0" bIns="0" anchor="ctr">
            <a:spAutoFit/>
          </a:bodyPr>
          <a:lstStyle/>
          <a:p>
            <a:pPr algn="l">
              <a:lnSpc>
                <a:spcPct val="130000"/>
              </a:lnSpc>
            </a:pPr>
            <a:r>
              <a:rPr sz="1100" b="0" i="0">
                <a:solidFill>
                  <a:srgbClr val="21295C"/>
                </a:solidFill>
                <a:latin typeface="Arial"/>
              </a:rPr>
              <a:t>Programmable Logic Controller. Уровень L1. Цикл 1–10 мс, детерминированный. Сюда AI не идёт.</a:t>
            </a:r>
          </a:p>
        </p:txBody>
      </p:sp>
      <p:sp>
        <p:nvSpPr>
          <p:cNvPr id="20" name="Rounded Rectangle 19"/>
          <p:cNvSpPr/>
          <p:nvPr/>
        </p:nvSpPr>
        <p:spPr>
          <a:xfrm>
            <a:off x="457200" y="4709160"/>
            <a:ext cx="5394960" cy="13716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94360" y="4846320"/>
            <a:ext cx="1463040" cy="10972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4846320"/>
            <a:ext cx="1463040" cy="1097280"/>
          </a:xfrm>
          <a:prstGeom prst="rect">
            <a:avLst/>
          </a:prstGeom>
          <a:noFill/>
        </p:spPr>
        <p:txBody>
          <a:bodyPr wrap="square" lIns="0" rIns="0" tIns="0" bIns="0" anchor="ctr">
            <a:spAutoFit/>
          </a:bodyPr>
          <a:lstStyle/>
          <a:p>
            <a:pPr algn="ctr">
              <a:lnSpc>
                <a:spcPct val="115000"/>
              </a:lnSpc>
            </a:pPr>
            <a:r>
              <a:rPr sz="1500" b="1" i="0">
                <a:solidFill>
                  <a:srgbClr val="FFFFFF"/>
                </a:solidFill>
                <a:latin typeface="Arial"/>
              </a:rPr>
              <a:t>OEE</a:t>
            </a:r>
          </a:p>
        </p:txBody>
      </p:sp>
      <p:sp>
        <p:nvSpPr>
          <p:cNvPr id="23" name="TextBox 22"/>
          <p:cNvSpPr txBox="1"/>
          <p:nvPr/>
        </p:nvSpPr>
        <p:spPr>
          <a:xfrm>
            <a:off x="2240280" y="4892040"/>
            <a:ext cx="3474720" cy="1005840"/>
          </a:xfrm>
          <a:prstGeom prst="rect">
            <a:avLst/>
          </a:prstGeom>
          <a:noFill/>
        </p:spPr>
        <p:txBody>
          <a:bodyPr wrap="square" lIns="0" rIns="0" tIns="0" bIns="0" anchor="ctr">
            <a:spAutoFit/>
          </a:bodyPr>
          <a:lstStyle/>
          <a:p>
            <a:pPr algn="l">
              <a:lnSpc>
                <a:spcPct val="130000"/>
              </a:lnSpc>
            </a:pPr>
            <a:r>
              <a:rPr sz="1100" b="0" i="0">
                <a:solidFill>
                  <a:srgbClr val="21295C"/>
                </a:solidFill>
                <a:latin typeface="Arial"/>
              </a:rPr>
              <a:t>Overall Equipment Effectiveness = доступность × производительность × качество. Central метрика.</a:t>
            </a:r>
          </a:p>
        </p:txBody>
      </p:sp>
      <p:sp>
        <p:nvSpPr>
          <p:cNvPr id="24" name="Rounded Rectangle 23"/>
          <p:cNvSpPr/>
          <p:nvPr/>
        </p:nvSpPr>
        <p:spPr>
          <a:xfrm>
            <a:off x="6217920" y="4709160"/>
            <a:ext cx="5394960" cy="13716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355080" y="4846320"/>
            <a:ext cx="1463040" cy="10972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55080" y="4846320"/>
            <a:ext cx="1463040" cy="1097280"/>
          </a:xfrm>
          <a:prstGeom prst="rect">
            <a:avLst/>
          </a:prstGeom>
          <a:noFill/>
        </p:spPr>
        <p:txBody>
          <a:bodyPr wrap="square" lIns="0" rIns="0" tIns="0" bIns="0" anchor="ctr">
            <a:spAutoFit/>
          </a:bodyPr>
          <a:lstStyle/>
          <a:p>
            <a:pPr algn="ctr">
              <a:lnSpc>
                <a:spcPct val="115000"/>
              </a:lnSpc>
            </a:pPr>
            <a:r>
              <a:rPr sz="1500" b="1" i="0">
                <a:solidFill>
                  <a:srgbClr val="FFFFFF"/>
                </a:solidFill>
                <a:latin typeface="Arial"/>
              </a:rPr>
              <a:t>Мягкий сенсор</a:t>
            </a:r>
          </a:p>
        </p:txBody>
      </p:sp>
      <p:sp>
        <p:nvSpPr>
          <p:cNvPr id="27" name="TextBox 26"/>
          <p:cNvSpPr txBox="1"/>
          <p:nvPr/>
        </p:nvSpPr>
        <p:spPr>
          <a:xfrm>
            <a:off x="8001000" y="4892040"/>
            <a:ext cx="3474720" cy="1005840"/>
          </a:xfrm>
          <a:prstGeom prst="rect">
            <a:avLst/>
          </a:prstGeom>
          <a:noFill/>
        </p:spPr>
        <p:txBody>
          <a:bodyPr wrap="square" lIns="0" rIns="0" tIns="0" bIns="0" anchor="ctr">
            <a:spAutoFit/>
          </a:bodyPr>
          <a:lstStyle/>
          <a:p>
            <a:pPr algn="l">
              <a:lnSpc>
                <a:spcPct val="130000"/>
              </a:lnSpc>
            </a:pPr>
            <a:r>
              <a:rPr sz="1100" b="0" i="0">
                <a:solidFill>
                  <a:srgbClr val="21295C"/>
                </a:solidFill>
                <a:latin typeface="Arial"/>
              </a:rPr>
              <a:t>Программная модель: оценивает трудно-измеряемые параметры по легко-измеряемым. Cornerstone процессного.</a:t>
            </a:r>
          </a:p>
        </p:txBody>
      </p:sp>
      <p:sp>
        <p:nvSpPr>
          <p:cNvPr id="28" name="TextBox 27"/>
          <p:cNvSpPr txBox="1"/>
          <p:nvPr/>
        </p:nvSpPr>
        <p:spPr>
          <a:xfrm>
            <a:off x="457200" y="6446520"/>
            <a:ext cx="11274552" cy="320040"/>
          </a:xfrm>
          <a:prstGeom prst="rect">
            <a:avLst/>
          </a:prstGeom>
          <a:noFill/>
        </p:spPr>
        <p:txBody>
          <a:bodyPr wrap="square" lIns="0" rIns="0" tIns="0" bIns="0" anchor="t">
            <a:spAutoFit/>
          </a:bodyPr>
          <a:lstStyle/>
          <a:p>
            <a:pPr algn="l">
              <a:lnSpc>
                <a:spcPct val="115000"/>
              </a:lnSpc>
            </a:pPr>
            <a:r>
              <a:rPr sz="1100" b="0" i="1">
                <a:solidFill>
                  <a:srgbClr val="1C7293"/>
                </a:solidFill>
                <a:latin typeface="Arial"/>
              </a:rPr>
              <a:t>OEE — самая важная метрика лекции · возвращаемся в разделах 1, 2,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731520"/>
          </a:xfrm>
          <a:prstGeom prst="rect">
            <a:avLst/>
          </a:prstGeom>
          <a:noFill/>
        </p:spPr>
        <p:txBody>
          <a:bodyPr wrap="square" lIns="0" rIns="0" tIns="0" bIns="0" anchor="t">
            <a:spAutoFit/>
          </a:bodyPr>
          <a:lstStyle/>
          <a:p>
            <a:pPr algn="l">
              <a:lnSpc>
                <a:spcPct val="115000"/>
              </a:lnSpc>
            </a:pPr>
            <a:r>
              <a:rPr sz="2600" b="1" i="0">
                <a:solidFill>
                  <a:srgbClr val="21295C"/>
                </a:solidFill>
                <a:latin typeface="Arial"/>
              </a:rPr>
              <a:t>Две модели производства. AI входит в обе — но по-разному.</a:t>
            </a:r>
          </a:p>
        </p:txBody>
      </p:sp>
      <p:sp>
        <p:nvSpPr>
          <p:cNvPr id="3" name="Rounded Rectangle 2"/>
          <p:cNvSpPr/>
          <p:nvPr/>
        </p:nvSpPr>
        <p:spPr>
          <a:xfrm>
            <a:off x="457200" y="1280160"/>
            <a:ext cx="5486400" cy="4023360"/>
          </a:xfrm>
          <a:prstGeom prst="roundRect">
            <a:avLst>
              <a:gd name="adj" fmla="val 10000"/>
            </a:avLst>
          </a:prstGeom>
          <a:solidFill>
            <a:srgbClr val="F4F7FA"/>
          </a:solidFill>
          <a:ln w="254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417319"/>
            <a:ext cx="5212080" cy="457200"/>
          </a:xfrm>
          <a:prstGeom prst="rect">
            <a:avLst/>
          </a:prstGeom>
          <a:noFill/>
        </p:spPr>
        <p:txBody>
          <a:bodyPr wrap="square" lIns="0" rIns="0" tIns="0" bIns="0" anchor="t">
            <a:spAutoFit/>
          </a:bodyPr>
          <a:lstStyle/>
          <a:p>
            <a:pPr algn="ctr">
              <a:lnSpc>
                <a:spcPct val="115000"/>
              </a:lnSpc>
            </a:pPr>
            <a:r>
              <a:rPr sz="2200" b="1" i="0">
                <a:solidFill>
                  <a:srgbClr val="065A82"/>
                </a:solidFill>
                <a:latin typeface="Arial"/>
              </a:rPr>
              <a:t>ДИСКРЕТНОЕ</a:t>
            </a:r>
          </a:p>
        </p:txBody>
      </p:sp>
      <p:sp>
        <p:nvSpPr>
          <p:cNvPr id="5" name="TextBox 4"/>
          <p:cNvSpPr txBox="1"/>
          <p:nvPr/>
        </p:nvSpPr>
        <p:spPr>
          <a:xfrm>
            <a:off x="594360" y="1965960"/>
            <a:ext cx="5212080" cy="365760"/>
          </a:xfrm>
          <a:prstGeom prst="rect">
            <a:avLst/>
          </a:prstGeom>
          <a:noFill/>
        </p:spPr>
        <p:txBody>
          <a:bodyPr wrap="square" lIns="0" rIns="0" tIns="0" bIns="0" anchor="t">
            <a:spAutoFit/>
          </a:bodyPr>
          <a:lstStyle/>
          <a:p>
            <a:pPr algn="ctr">
              <a:lnSpc>
                <a:spcPct val="115000"/>
              </a:lnSpc>
            </a:pPr>
            <a:r>
              <a:rPr sz="1300" b="0" i="1">
                <a:solidFill>
                  <a:srgbClr val="4A556B"/>
                </a:solidFill>
                <a:latin typeface="Arial"/>
              </a:rPr>
              <a:t>Единицы продукции считаются штучно</a:t>
            </a:r>
          </a:p>
        </p:txBody>
      </p:sp>
      <p:sp>
        <p:nvSpPr>
          <p:cNvPr id="6" name="TextBox 5"/>
          <p:cNvSpPr txBox="1"/>
          <p:nvPr/>
        </p:nvSpPr>
        <p:spPr>
          <a:xfrm>
            <a:off x="777240" y="2468880"/>
            <a:ext cx="5120640" cy="1828800"/>
          </a:xfrm>
          <a:prstGeom prst="rect">
            <a:avLst/>
          </a:prstGeom>
          <a:noFill/>
        </p:spPr>
        <p:txBody>
          <a:bodyPr wrap="square" lIns="0" rIns="0" tIns="0" bIns="0" anchor="t">
            <a:spAutoFit/>
          </a:bodyPr>
          <a:lstStyle/>
          <a:p>
            <a:pPr algn="l">
              <a:lnSpc>
                <a:spcPct val="130000"/>
              </a:lnSpc>
            </a:pPr>
            <a:r>
              <a:rPr sz="1200" b="0" i="1">
                <a:solidFill>
                  <a:srgbClr val="1C7293"/>
                </a:solidFill>
                <a:latin typeface="Arial"/>
              </a:rPr>
              <a:t>Авто · электроника · авионика · бытовая техника</a:t>
            </a:r>
          </a:p>
          <a:p>
            <a:pPr algn="l">
              <a:lnSpc>
                <a:spcPct val="130000"/>
              </a:lnSpc>
            </a:pPr>
            <a:r>
              <a:rPr sz="600" b="0" i="0">
                <a:solidFill>
                  <a:srgbClr val="21295C"/>
                </a:solidFill>
                <a:latin typeface="Arial"/>
              </a:rPr>
              <a:t/>
            </a:r>
          </a:p>
          <a:p>
            <a:pPr algn="l">
              <a:lnSpc>
                <a:spcPct val="130000"/>
              </a:lnSpc>
            </a:pPr>
            <a:r>
              <a:rPr sz="1300" b="1" i="0">
                <a:solidFill>
                  <a:srgbClr val="21295C"/>
                </a:solidFill>
                <a:latin typeface="Arial"/>
              </a:rPr>
              <a:t>Инструменты AI:</a:t>
            </a:r>
          </a:p>
          <a:p>
            <a:pPr algn="l">
              <a:lnSpc>
                <a:spcPct val="130000"/>
              </a:lnSpc>
            </a:pPr>
            <a:r>
              <a:rPr sz="1300" b="0" i="0">
                <a:solidFill>
                  <a:srgbClr val="21295C"/>
                </a:solidFill>
                <a:latin typeface="Arial"/>
              </a:rPr>
              <a:t>· Компьютерное зрение для контроля качества</a:t>
            </a:r>
          </a:p>
          <a:p>
            <a:pPr algn="l">
              <a:lnSpc>
                <a:spcPct val="130000"/>
              </a:lnSpc>
            </a:pPr>
            <a:r>
              <a:rPr sz="1300" b="0" i="0">
                <a:solidFill>
                  <a:srgbClr val="21295C"/>
                </a:solidFill>
                <a:latin typeface="Arial"/>
              </a:rPr>
              <a:t>· Коботы и worker-augmentation</a:t>
            </a:r>
          </a:p>
          <a:p>
            <a:pPr algn="l">
              <a:lnSpc>
                <a:spcPct val="130000"/>
              </a:lnSpc>
            </a:pPr>
            <a:r>
              <a:rPr sz="1300" b="0" i="0">
                <a:solidFill>
                  <a:srgbClr val="21295C"/>
                </a:solidFill>
                <a:latin typeface="Arial"/>
              </a:rPr>
              <a:t>· Generative process planning</a:t>
            </a:r>
          </a:p>
        </p:txBody>
      </p:sp>
      <p:sp>
        <p:nvSpPr>
          <p:cNvPr id="7" name="Rounded Rectangle 6"/>
          <p:cNvSpPr/>
          <p:nvPr/>
        </p:nvSpPr>
        <p:spPr>
          <a:xfrm>
            <a:off x="594360" y="4526280"/>
            <a:ext cx="5212080" cy="64008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4590288"/>
            <a:ext cx="5120640" cy="502920"/>
          </a:xfrm>
          <a:prstGeom prst="rect">
            <a:avLst/>
          </a:prstGeom>
          <a:noFill/>
        </p:spPr>
        <p:txBody>
          <a:bodyPr wrap="square" lIns="0" rIns="0" tIns="0" bIns="0" anchor="ctr">
            <a:spAutoFit/>
          </a:bodyPr>
          <a:lstStyle/>
          <a:p>
            <a:pPr algn="l">
              <a:lnSpc>
                <a:spcPct val="115000"/>
              </a:lnSpc>
            </a:pPr>
            <a:r>
              <a:rPr sz="1100" b="1" i="0">
                <a:solidFill>
                  <a:srgbClr val="21295C"/>
                </a:solidFill>
                <a:latin typeface="Arial"/>
              </a:rPr>
              <a:t>Канонический провал: Tesla 2018 — «excessive automation a mistake»</a:t>
            </a:r>
          </a:p>
        </p:txBody>
      </p:sp>
      <p:sp>
        <p:nvSpPr>
          <p:cNvPr id="9" name="Rounded Rectangle 8"/>
          <p:cNvSpPr/>
          <p:nvPr/>
        </p:nvSpPr>
        <p:spPr>
          <a:xfrm>
            <a:off x="6245352" y="1280160"/>
            <a:ext cx="5486400" cy="4023360"/>
          </a:xfrm>
          <a:prstGeom prst="roundRect">
            <a:avLst>
              <a:gd name="adj" fmla="val 10000"/>
            </a:avLst>
          </a:prstGeom>
          <a:solidFill>
            <a:srgbClr val="F4F7FA"/>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82512" y="1417319"/>
            <a:ext cx="5212080" cy="457200"/>
          </a:xfrm>
          <a:prstGeom prst="rect">
            <a:avLst/>
          </a:prstGeom>
          <a:noFill/>
        </p:spPr>
        <p:txBody>
          <a:bodyPr wrap="square" lIns="0" rIns="0" tIns="0" bIns="0" anchor="t">
            <a:spAutoFit/>
          </a:bodyPr>
          <a:lstStyle/>
          <a:p>
            <a:pPr algn="ctr">
              <a:lnSpc>
                <a:spcPct val="115000"/>
              </a:lnSpc>
            </a:pPr>
            <a:r>
              <a:rPr sz="2200" b="1" i="0">
                <a:solidFill>
                  <a:srgbClr val="028090"/>
                </a:solidFill>
                <a:latin typeface="Arial"/>
              </a:rPr>
              <a:t>ПРОЦЕССНОЕ</a:t>
            </a:r>
          </a:p>
        </p:txBody>
      </p:sp>
      <p:sp>
        <p:nvSpPr>
          <p:cNvPr id="11" name="TextBox 10"/>
          <p:cNvSpPr txBox="1"/>
          <p:nvPr/>
        </p:nvSpPr>
        <p:spPr>
          <a:xfrm>
            <a:off x="6382512" y="1965960"/>
            <a:ext cx="5212080" cy="365760"/>
          </a:xfrm>
          <a:prstGeom prst="rect">
            <a:avLst/>
          </a:prstGeom>
          <a:noFill/>
        </p:spPr>
        <p:txBody>
          <a:bodyPr wrap="square" lIns="0" rIns="0" tIns="0" bIns="0" anchor="t">
            <a:spAutoFit/>
          </a:bodyPr>
          <a:lstStyle/>
          <a:p>
            <a:pPr algn="ctr">
              <a:lnSpc>
                <a:spcPct val="115000"/>
              </a:lnSpc>
            </a:pPr>
            <a:r>
              <a:rPr sz="1300" b="0" i="1">
                <a:solidFill>
                  <a:srgbClr val="4A556B"/>
                </a:solidFill>
                <a:latin typeface="Arial"/>
              </a:rPr>
              <a:t>Материал течёт непрерывным потоком</a:t>
            </a:r>
          </a:p>
        </p:txBody>
      </p:sp>
      <p:sp>
        <p:nvSpPr>
          <p:cNvPr id="12" name="TextBox 11"/>
          <p:cNvSpPr txBox="1"/>
          <p:nvPr/>
        </p:nvSpPr>
        <p:spPr>
          <a:xfrm>
            <a:off x="6565392" y="2468880"/>
            <a:ext cx="5120640" cy="1828800"/>
          </a:xfrm>
          <a:prstGeom prst="rect">
            <a:avLst/>
          </a:prstGeom>
          <a:noFill/>
        </p:spPr>
        <p:txBody>
          <a:bodyPr wrap="square" lIns="0" rIns="0" tIns="0" bIns="0" anchor="t">
            <a:spAutoFit/>
          </a:bodyPr>
          <a:lstStyle/>
          <a:p>
            <a:pPr algn="l">
              <a:lnSpc>
                <a:spcPct val="130000"/>
              </a:lnSpc>
            </a:pPr>
            <a:r>
              <a:rPr sz="1200" b="0" i="1">
                <a:solidFill>
                  <a:srgbClr val="1C7293"/>
                </a:solidFill>
                <a:latin typeface="Arial"/>
              </a:rPr>
              <a:t>Химия · фарма · металлургия · цемент · пивоварение</a:t>
            </a:r>
          </a:p>
          <a:p>
            <a:pPr algn="l">
              <a:lnSpc>
                <a:spcPct val="130000"/>
              </a:lnSpc>
            </a:pPr>
            <a:r>
              <a:rPr sz="600" b="0" i="0">
                <a:solidFill>
                  <a:srgbClr val="21295C"/>
                </a:solidFill>
                <a:latin typeface="Arial"/>
              </a:rPr>
              <a:t/>
            </a:r>
          </a:p>
          <a:p>
            <a:pPr algn="l">
              <a:lnSpc>
                <a:spcPct val="130000"/>
              </a:lnSpc>
            </a:pPr>
            <a:r>
              <a:rPr sz="1300" b="1" i="0">
                <a:solidFill>
                  <a:srgbClr val="21295C"/>
                </a:solidFill>
                <a:latin typeface="Arial"/>
              </a:rPr>
              <a:t>Инструменты AI:</a:t>
            </a:r>
          </a:p>
          <a:p>
            <a:pPr algn="l">
              <a:lnSpc>
                <a:spcPct val="130000"/>
              </a:lnSpc>
            </a:pPr>
            <a:r>
              <a:rPr sz="1300" b="0" i="0">
                <a:solidFill>
                  <a:srgbClr val="21295C"/>
                </a:solidFill>
                <a:latin typeface="Arial"/>
              </a:rPr>
              <a:t>· Мягкие сенсоры (real-time оценка качества)</a:t>
            </a:r>
          </a:p>
          <a:p>
            <a:pPr algn="l">
              <a:lnSpc>
                <a:spcPct val="130000"/>
              </a:lnSpc>
            </a:pPr>
            <a:r>
              <a:rPr sz="1300" b="0" i="0">
                <a:solidFill>
                  <a:srgbClr val="21295C"/>
                </a:solidFill>
                <a:latin typeface="Arial"/>
              </a:rPr>
              <a:t>· MPC / RL гибрид + CIRL</a:t>
            </a:r>
          </a:p>
          <a:p>
            <a:pPr algn="l">
              <a:lnSpc>
                <a:spcPct val="130000"/>
              </a:lnSpc>
            </a:pPr>
            <a:r>
              <a:rPr sz="1300" b="0" i="0">
                <a:solidFill>
                  <a:srgbClr val="21295C"/>
                </a:solidFill>
                <a:latin typeface="Arial"/>
              </a:rPr>
              <a:t>· Прогностическое обслуживание + edge AI</a:t>
            </a:r>
          </a:p>
        </p:txBody>
      </p:sp>
      <p:sp>
        <p:nvSpPr>
          <p:cNvPr id="13" name="Rounded Rectangle 12"/>
          <p:cNvSpPr/>
          <p:nvPr/>
        </p:nvSpPr>
        <p:spPr>
          <a:xfrm>
            <a:off x="6382512" y="4526280"/>
            <a:ext cx="5212080" cy="64008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65392" y="4590288"/>
            <a:ext cx="5120640" cy="502920"/>
          </a:xfrm>
          <a:prstGeom prst="rect">
            <a:avLst/>
          </a:prstGeom>
          <a:noFill/>
        </p:spPr>
        <p:txBody>
          <a:bodyPr wrap="square" lIns="0" rIns="0" tIns="0" bIns="0" anchor="ctr">
            <a:spAutoFit/>
          </a:bodyPr>
          <a:lstStyle/>
          <a:p>
            <a:pPr algn="l">
              <a:lnSpc>
                <a:spcPct val="115000"/>
              </a:lnSpc>
            </a:pPr>
            <a:r>
              <a:rPr sz="1100" b="1" i="0">
                <a:solidFill>
                  <a:srgbClr val="21295C"/>
                </a:solidFill>
                <a:latin typeface="Arial"/>
              </a:rPr>
              <a:t>Канонический провал: F-35 ALIS — $44K/час, заменён ODIN</a:t>
            </a:r>
          </a:p>
        </p:txBody>
      </p:sp>
      <p:sp>
        <p:nvSpPr>
          <p:cNvPr id="15" name="Rounded Rectangle 14"/>
          <p:cNvSpPr/>
          <p:nvPr/>
        </p:nvSpPr>
        <p:spPr>
          <a:xfrm>
            <a:off x="457200" y="5532120"/>
            <a:ext cx="11274552" cy="82296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5623560"/>
            <a:ext cx="10972800" cy="365760"/>
          </a:xfrm>
          <a:prstGeom prst="rect">
            <a:avLst/>
          </a:prstGeom>
          <a:noFill/>
        </p:spPr>
        <p:txBody>
          <a:bodyPr wrap="square" lIns="0" rIns="0" tIns="0" bIns="0" anchor="t">
            <a:spAutoFit/>
          </a:bodyPr>
          <a:lstStyle/>
          <a:p>
            <a:pPr algn="ctr">
              <a:lnSpc>
                <a:spcPct val="115000"/>
              </a:lnSpc>
            </a:pPr>
            <a:r>
              <a:rPr sz="1200" b="1" i="0">
                <a:solidFill>
                  <a:srgbClr val="21295C"/>
                </a:solidFill>
                <a:latin typeface="Arial"/>
              </a:rPr>
              <a:t>ОБЩЕЕ ДЛЯ ОБЕИХ КОЛОНН</a:t>
            </a:r>
          </a:p>
        </p:txBody>
      </p:sp>
      <p:sp>
        <p:nvSpPr>
          <p:cNvPr id="17" name="TextBox 16"/>
          <p:cNvSpPr txBox="1"/>
          <p:nvPr/>
        </p:nvSpPr>
        <p:spPr>
          <a:xfrm>
            <a:off x="640080" y="5943600"/>
            <a:ext cx="10972800" cy="365760"/>
          </a:xfrm>
          <a:prstGeom prst="rect">
            <a:avLst/>
          </a:prstGeom>
          <a:noFill/>
        </p:spPr>
        <p:txBody>
          <a:bodyPr wrap="square" lIns="0" rIns="0" tIns="0" bIns="0" anchor="t">
            <a:spAutoFit/>
          </a:bodyPr>
          <a:lstStyle/>
          <a:p>
            <a:pPr algn="ctr">
              <a:lnSpc>
                <a:spcPct val="115000"/>
              </a:lnSpc>
            </a:pPr>
            <a:r>
              <a:rPr sz="1400" b="1" i="0">
                <a:solidFill>
                  <a:srgbClr val="21295C"/>
                </a:solidFill>
                <a:latin typeface="Arial"/>
              </a:rPr>
              <a:t>78% используют AI · 5,5% high performers · 95% пилотов не доходят до production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2209190" cy="292608"/>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02336"/>
            <a:ext cx="2209190" cy="256032"/>
          </a:xfrm>
          <a:prstGeom prst="rect">
            <a:avLst/>
          </a:prstGeom>
          <a:noFill/>
        </p:spPr>
        <p:txBody>
          <a:bodyPr wrap="square" lIns="0" rIns="0" tIns="0" bIns="0" anchor="ctr">
            <a:spAutoFit/>
          </a:bodyPr>
          <a:lstStyle/>
          <a:p>
            <a:pPr algn="ctr">
              <a:lnSpc>
                <a:spcPct val="115000"/>
              </a:lnSpc>
            </a:pPr>
            <a:r>
              <a:rPr sz="1000" b="1" i="0">
                <a:solidFill>
                  <a:srgbClr val="21295C"/>
                </a:solidFill>
                <a:latin typeface="Arial"/>
              </a:rPr>
              <a:t>1. Общее</a:t>
            </a:r>
          </a:p>
        </p:txBody>
      </p:sp>
      <p:sp>
        <p:nvSpPr>
          <p:cNvPr id="4" name="Rectangle 3"/>
          <p:cNvSpPr/>
          <p:nvPr/>
        </p:nvSpPr>
        <p:spPr>
          <a:xfrm>
            <a:off x="2712110" y="365760"/>
            <a:ext cx="2209190" cy="292608"/>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12110" y="402336"/>
            <a:ext cx="2209190" cy="256032"/>
          </a:xfrm>
          <a:prstGeom prst="rect">
            <a:avLst/>
          </a:prstGeom>
          <a:noFill/>
        </p:spPr>
        <p:txBody>
          <a:bodyPr wrap="square" lIns="0" rIns="0" tIns="0" bIns="0" anchor="ctr">
            <a:spAutoFit/>
          </a:bodyPr>
          <a:lstStyle/>
          <a:p>
            <a:pPr algn="ctr">
              <a:lnSpc>
                <a:spcPct val="115000"/>
              </a:lnSpc>
            </a:pPr>
            <a:r>
              <a:rPr sz="1000" b="0" i="0">
                <a:solidFill>
                  <a:srgbClr val="6B7685"/>
                </a:solidFill>
                <a:latin typeface="Arial"/>
              </a:rPr>
              <a:t>2. Дискретное</a:t>
            </a:r>
          </a:p>
        </p:txBody>
      </p:sp>
      <p:sp>
        <p:nvSpPr>
          <p:cNvPr id="6" name="Rectangle 5"/>
          <p:cNvSpPr/>
          <p:nvPr/>
        </p:nvSpPr>
        <p:spPr>
          <a:xfrm>
            <a:off x="4967020" y="365760"/>
            <a:ext cx="2209190" cy="292608"/>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967020" y="402336"/>
            <a:ext cx="2209190" cy="256032"/>
          </a:xfrm>
          <a:prstGeom prst="rect">
            <a:avLst/>
          </a:prstGeom>
          <a:noFill/>
        </p:spPr>
        <p:txBody>
          <a:bodyPr wrap="square" lIns="0" rIns="0" tIns="0" bIns="0" anchor="ctr">
            <a:spAutoFit/>
          </a:bodyPr>
          <a:lstStyle/>
          <a:p>
            <a:pPr algn="ctr">
              <a:lnSpc>
                <a:spcPct val="115000"/>
              </a:lnSpc>
            </a:pPr>
            <a:r>
              <a:rPr sz="1000" b="0" i="0">
                <a:solidFill>
                  <a:srgbClr val="6B7685"/>
                </a:solidFill>
                <a:latin typeface="Arial"/>
              </a:rPr>
              <a:t>3. Процессное</a:t>
            </a:r>
          </a:p>
        </p:txBody>
      </p:sp>
      <p:sp>
        <p:nvSpPr>
          <p:cNvPr id="8" name="Rectangle 7"/>
          <p:cNvSpPr/>
          <p:nvPr/>
        </p:nvSpPr>
        <p:spPr>
          <a:xfrm>
            <a:off x="7221931" y="365760"/>
            <a:ext cx="2209190" cy="292608"/>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21931" y="402336"/>
            <a:ext cx="2209190" cy="256032"/>
          </a:xfrm>
          <a:prstGeom prst="rect">
            <a:avLst/>
          </a:prstGeom>
          <a:noFill/>
        </p:spPr>
        <p:txBody>
          <a:bodyPr wrap="square" lIns="0" rIns="0" tIns="0" bIns="0" anchor="ctr">
            <a:spAutoFit/>
          </a:bodyPr>
          <a:lstStyle/>
          <a:p>
            <a:pPr algn="ctr">
              <a:lnSpc>
                <a:spcPct val="115000"/>
              </a:lnSpc>
            </a:pPr>
            <a:r>
              <a:rPr sz="1000" b="0" i="0">
                <a:solidFill>
                  <a:srgbClr val="6B7685"/>
                </a:solidFill>
                <a:latin typeface="Arial"/>
              </a:rPr>
              <a:t>4. Рамка</a:t>
            </a:r>
          </a:p>
        </p:txBody>
      </p:sp>
      <p:sp>
        <p:nvSpPr>
          <p:cNvPr id="10" name="Rectangle 9"/>
          <p:cNvSpPr/>
          <p:nvPr/>
        </p:nvSpPr>
        <p:spPr>
          <a:xfrm>
            <a:off x="9476841" y="365760"/>
            <a:ext cx="2209190" cy="292608"/>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76841" y="402336"/>
            <a:ext cx="2209190" cy="256032"/>
          </a:xfrm>
          <a:prstGeom prst="rect">
            <a:avLst/>
          </a:prstGeom>
          <a:noFill/>
        </p:spPr>
        <p:txBody>
          <a:bodyPr wrap="square" lIns="0" rIns="0" tIns="0" bIns="0" anchor="ctr">
            <a:spAutoFit/>
          </a:bodyPr>
          <a:lstStyle/>
          <a:p>
            <a:pPr algn="ctr">
              <a:lnSpc>
                <a:spcPct val="115000"/>
              </a:lnSpc>
            </a:pPr>
            <a:r>
              <a:rPr sz="1000" b="0" i="0">
                <a:solidFill>
                  <a:srgbClr val="6B7685"/>
                </a:solidFill>
                <a:latin typeface="Arial"/>
              </a:rPr>
              <a:t>5. Замыкание</a:t>
            </a:r>
          </a:p>
        </p:txBody>
      </p:sp>
      <p:sp>
        <p:nvSpPr>
          <p:cNvPr id="12" name="TextBox 11"/>
          <p:cNvSpPr txBox="1"/>
          <p:nvPr/>
        </p:nvSpPr>
        <p:spPr>
          <a:xfrm>
            <a:off x="457200" y="914400"/>
            <a:ext cx="5486400" cy="5029200"/>
          </a:xfrm>
          <a:prstGeom prst="rect">
            <a:avLst/>
          </a:prstGeom>
          <a:noFill/>
        </p:spPr>
        <p:txBody>
          <a:bodyPr wrap="square" lIns="0" rIns="0" tIns="0" bIns="0" anchor="ctr">
            <a:spAutoFit/>
          </a:bodyPr>
          <a:lstStyle/>
          <a:p>
            <a:pPr algn="ctr">
              <a:lnSpc>
                <a:spcPct val="115000"/>
              </a:lnSpc>
            </a:pPr>
            <a:r>
              <a:rPr sz="44000" b="1" i="0">
                <a:solidFill>
                  <a:srgbClr val="D9E2EC"/>
                </a:solidFill>
                <a:latin typeface="Arial"/>
              </a:rPr>
              <a:t>1</a:t>
            </a:r>
          </a:p>
        </p:txBody>
      </p:sp>
      <p:sp>
        <p:nvSpPr>
          <p:cNvPr id="13" name="TextBox 12"/>
          <p:cNvSpPr txBox="1"/>
          <p:nvPr/>
        </p:nvSpPr>
        <p:spPr>
          <a:xfrm>
            <a:off x="5029200" y="2286000"/>
            <a:ext cx="6858000" cy="3200400"/>
          </a:xfrm>
          <a:prstGeom prst="rect">
            <a:avLst/>
          </a:prstGeom>
          <a:noFill/>
        </p:spPr>
        <p:txBody>
          <a:bodyPr wrap="square" lIns="0" rIns="0" tIns="0" bIns="0" anchor="t">
            <a:spAutoFit/>
          </a:bodyPr>
          <a:lstStyle/>
          <a:p>
            <a:pPr algn="l">
              <a:lnSpc>
                <a:spcPct val="115000"/>
              </a:lnSpc>
            </a:pPr>
            <a:r>
              <a:rPr sz="1800" b="1" i="0">
                <a:solidFill>
                  <a:srgbClr val="1C7293"/>
                </a:solidFill>
                <a:latin typeface="Arial"/>
              </a:rPr>
              <a:t>РАЗДЕЛ</a:t>
            </a:r>
          </a:p>
          <a:p>
            <a:pPr algn="l">
              <a:lnSpc>
                <a:spcPct val="115000"/>
              </a:lnSpc>
            </a:pPr>
            <a:r>
              <a:rPr sz="3800" b="1" i="0">
                <a:solidFill>
                  <a:srgbClr val="21295C"/>
                </a:solidFill>
                <a:latin typeface="Arial"/>
              </a:rPr>
              <a:t>Что общее для обеих моделей</a:t>
            </a:r>
          </a:p>
          <a:p>
            <a:pPr algn="l">
              <a:lnSpc>
                <a:spcPct val="115000"/>
              </a:lnSpc>
            </a:pPr>
            <a:r>
              <a:rPr sz="1200" b="0" i="0">
                <a:solidFill>
                  <a:srgbClr val="21295C"/>
                </a:solidFill>
                <a:latin typeface="Arial"/>
              </a:rPr>
              <a:t/>
            </a:r>
          </a:p>
          <a:p>
            <a:pPr algn="l">
              <a:lnSpc>
                <a:spcPct val="115000"/>
              </a:lnSpc>
            </a:pPr>
            <a:r>
              <a:rPr sz="1600" b="0" i="0">
                <a:solidFill>
                  <a:srgbClr val="065A82"/>
                </a:solidFill>
                <a:latin typeface="Arial"/>
              </a:rPr>
              <a:t>Adoption · OT/IT раскол · foundation models · трио hype-collapse</a:t>
            </a:r>
          </a:p>
          <a:p>
            <a:pPr algn="l">
              <a:lnSpc>
                <a:spcPct val="115000"/>
              </a:lnSpc>
            </a:pPr>
            <a:r>
              <a:rPr sz="800" b="0" i="0">
                <a:solidFill>
                  <a:srgbClr val="21295C"/>
                </a:solidFill>
                <a:latin typeface="Arial"/>
              </a:rPr>
              <a:t/>
            </a:r>
          </a:p>
          <a:p>
            <a:pPr algn="l">
              <a:lnSpc>
                <a:spcPct val="115000"/>
              </a:lnSpc>
            </a:pPr>
            <a:r>
              <a:rPr sz="1300" b="0" i="1">
                <a:solidFill>
                  <a:srgbClr val="F0AB00"/>
                </a:solidFill>
                <a:latin typeface="Arial"/>
              </a:rPr>
              <a:t>Раздел 1 · 12 мин · 6 слайдов</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800" b="1" i="0">
                <a:solidFill>
                  <a:srgbClr val="21295C"/>
                </a:solidFill>
                <a:latin typeface="Arial"/>
              </a:rPr>
              <a:t>78% используют. 5,5% извлекают ценность.</a:t>
            </a:r>
          </a:p>
        </p:txBody>
      </p:sp>
      <p:sp>
        <p:nvSpPr>
          <p:cNvPr id="3" name="TextBox 2"/>
          <p:cNvSpPr txBox="1"/>
          <p:nvPr/>
        </p:nvSpPr>
        <p:spPr>
          <a:xfrm>
            <a:off x="457200" y="1051560"/>
            <a:ext cx="11274552" cy="365760"/>
          </a:xfrm>
          <a:prstGeom prst="rect">
            <a:avLst/>
          </a:prstGeom>
          <a:noFill/>
        </p:spPr>
        <p:txBody>
          <a:bodyPr wrap="square" lIns="0" rIns="0" tIns="0" bIns="0" anchor="t">
            <a:spAutoFit/>
          </a:bodyPr>
          <a:lstStyle/>
          <a:p>
            <a:pPr algn="l">
              <a:lnSpc>
                <a:spcPct val="115000"/>
              </a:lnSpc>
            </a:pPr>
            <a:r>
              <a:rPr sz="1400" b="0" i="1">
                <a:solidFill>
                  <a:srgbClr val="1C7293"/>
                </a:solidFill>
                <a:latin typeface="Arial"/>
              </a:rPr>
              <a:t>McKinsey State of AI 2025 — adoption-value gap в ~14×</a:t>
            </a:r>
          </a:p>
        </p:txBody>
      </p:sp>
      <p:sp>
        <p:nvSpPr>
          <p:cNvPr id="4" name="Rounded Rectangle 3"/>
          <p:cNvSpPr/>
          <p:nvPr/>
        </p:nvSpPr>
        <p:spPr>
          <a:xfrm>
            <a:off x="457200" y="1645920"/>
            <a:ext cx="3657600" cy="292608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783080"/>
            <a:ext cx="3657600" cy="914400"/>
          </a:xfrm>
          <a:prstGeom prst="rect">
            <a:avLst/>
          </a:prstGeom>
          <a:noFill/>
        </p:spPr>
        <p:txBody>
          <a:bodyPr wrap="square" lIns="0" rIns="0" tIns="0" bIns="0" anchor="ctr">
            <a:spAutoFit/>
          </a:bodyPr>
          <a:lstStyle/>
          <a:p>
            <a:pPr algn="ctr">
              <a:lnSpc>
                <a:spcPct val="115000"/>
              </a:lnSpc>
            </a:pPr>
            <a:r>
              <a:rPr sz="10000" b="1" i="0">
                <a:solidFill>
                  <a:srgbClr val="F0AB00"/>
                </a:solidFill>
                <a:latin typeface="Arial"/>
              </a:rPr>
              <a:t>5,5%</a:t>
            </a:r>
          </a:p>
        </p:txBody>
      </p:sp>
      <p:sp>
        <p:nvSpPr>
          <p:cNvPr id="6" name="TextBox 5"/>
          <p:cNvSpPr txBox="1"/>
          <p:nvPr/>
        </p:nvSpPr>
        <p:spPr>
          <a:xfrm>
            <a:off x="640080" y="3017520"/>
            <a:ext cx="3291840" cy="1463040"/>
          </a:xfrm>
          <a:prstGeom prst="rect">
            <a:avLst/>
          </a:prstGeom>
          <a:noFill/>
        </p:spPr>
        <p:txBody>
          <a:bodyPr wrap="square" lIns="0" rIns="0" tIns="0" bIns="0" anchor="t">
            <a:spAutoFit/>
          </a:bodyPr>
          <a:lstStyle/>
          <a:p>
            <a:pPr algn="ctr">
              <a:lnSpc>
                <a:spcPct val="130000"/>
              </a:lnSpc>
            </a:pPr>
            <a:r>
              <a:rPr sz="1600" b="1" i="0">
                <a:solidFill>
                  <a:srgbClr val="21295C"/>
                </a:solidFill>
                <a:latin typeface="Arial"/>
              </a:rPr>
              <a:t>high performers</a:t>
            </a:r>
          </a:p>
          <a:p>
            <a:pPr algn="ctr">
              <a:lnSpc>
                <a:spcPct val="130000"/>
              </a:lnSpc>
            </a:pPr>
            <a:r>
              <a:rPr sz="1300" b="0" i="1">
                <a:solidFill>
                  <a:srgbClr val="4A556B"/>
                </a:solidFill>
                <a:latin typeface="Arial"/>
              </a:rPr>
              <a:t>EBIT impact &gt;5% от AI</a:t>
            </a:r>
          </a:p>
          <a:p>
            <a:pPr algn="ctr">
              <a:lnSpc>
                <a:spcPct val="130000"/>
              </a:lnSpc>
            </a:pPr>
            <a:r>
              <a:rPr sz="600" b="0" i="0">
                <a:solidFill>
                  <a:srgbClr val="21295C"/>
                </a:solidFill>
                <a:latin typeface="Arial"/>
              </a:rPr>
              <a:t/>
            </a:r>
          </a:p>
          <a:p>
            <a:pPr algn="ctr">
              <a:lnSpc>
                <a:spcPct val="130000"/>
              </a:lnSpc>
            </a:pPr>
            <a:r>
              <a:rPr sz="1100" b="0" i="1">
                <a:solidFill>
                  <a:srgbClr val="6B7685"/>
                </a:solidFill>
                <a:latin typeface="Arial"/>
              </a:rPr>
              <a:t>McKinsey State of AI 2025</a:t>
            </a:r>
          </a:p>
        </p:txBody>
      </p:sp>
      <p:sp>
        <p:nvSpPr>
          <p:cNvPr id="7" name="Rounded Rectangle 6"/>
          <p:cNvSpPr/>
          <p:nvPr/>
        </p:nvSpPr>
        <p:spPr>
          <a:xfrm>
            <a:off x="4297680" y="1645920"/>
            <a:ext cx="7406640" cy="292608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07-pilot-failure.png"/>
          <p:cNvPicPr>
            <a:picLocks noChangeAspect="1"/>
          </p:cNvPicPr>
          <p:nvPr/>
        </p:nvPicPr>
        <p:blipFill>
          <a:blip r:embed="rId2"/>
          <a:stretch>
            <a:fillRect/>
          </a:stretch>
        </p:blipFill>
        <p:spPr>
          <a:xfrm>
            <a:off x="4480560" y="1783080"/>
            <a:ext cx="7040880" cy="2651760"/>
          </a:xfrm>
          <a:prstGeom prst="rect">
            <a:avLst/>
          </a:prstGeom>
        </p:spPr>
      </p:pic>
      <p:sp>
        <p:nvSpPr>
          <p:cNvPr id="9" name="TextBox 8"/>
          <p:cNvSpPr txBox="1"/>
          <p:nvPr/>
        </p:nvSpPr>
        <p:spPr>
          <a:xfrm>
            <a:off x="457200" y="4709160"/>
            <a:ext cx="11274552" cy="1371600"/>
          </a:xfrm>
          <a:prstGeom prst="rect">
            <a:avLst/>
          </a:prstGeom>
          <a:noFill/>
        </p:spPr>
        <p:txBody>
          <a:bodyPr wrap="square" lIns="0" rIns="0" tIns="0" bIns="0" anchor="t">
            <a:spAutoFit/>
          </a:bodyPr>
          <a:lstStyle/>
          <a:p>
            <a:pPr algn="l">
              <a:lnSpc>
                <a:spcPct val="135000"/>
              </a:lnSpc>
            </a:pPr>
            <a:r>
              <a:rPr sz="1400" b="1" i="0">
                <a:solidFill>
                  <a:srgbClr val="065A82"/>
                </a:solidFill>
                <a:latin typeface="Arial"/>
              </a:rPr>
              <a:t>Параллельные источники:</a:t>
            </a:r>
          </a:p>
          <a:p>
            <a:pPr algn="l">
              <a:lnSpc>
                <a:spcPct val="135000"/>
              </a:lnSpc>
            </a:pPr>
            <a:r>
              <a:rPr sz="1300" b="0" i="0">
                <a:solidFill>
                  <a:srgbClr val="21295C"/>
                </a:solidFill>
                <a:latin typeface="Arial"/>
              </a:rPr>
              <a:t>· MIT Sloan 2025: 95% GenAI-пилотов не доходят до production. Среднее время pilot→shutdown — 14 мес.</a:t>
            </a:r>
          </a:p>
          <a:p>
            <a:pPr algn="l">
              <a:lnSpc>
                <a:spcPct val="135000"/>
              </a:lnSpc>
            </a:pPr>
            <a:r>
              <a:rPr sz="1300" b="0" i="0">
                <a:solidFill>
                  <a:srgbClr val="21295C"/>
                </a:solidFill>
                <a:latin typeface="Arial"/>
              </a:rPr>
              <a:t>· RAND 2025: 80,3% AI-проектов без business value. $547B из $684B AI-инвестиций — без эффекта.</a:t>
            </a:r>
          </a:p>
          <a:p>
            <a:pPr algn="l">
              <a:lnSpc>
                <a:spcPct val="135000"/>
              </a:lnSpc>
            </a:pPr>
            <a:r>
              <a:rPr sz="1300" b="0" i="0">
                <a:solidFill>
                  <a:srgbClr val="21295C"/>
                </a:solidFill>
                <a:latin typeface="Arial"/>
              </a:rPr>
              <a:t>· Deloitte 2025: 42% компаний прекратили ≥1 AI-инициативу. Sunk cost per abandoned — $7,2M.</a:t>
            </a:r>
          </a:p>
        </p:txBody>
      </p:sp>
      <p:sp>
        <p:nvSpPr>
          <p:cNvPr id="10" name="TextBox 9"/>
          <p:cNvSpPr txBox="1"/>
          <p:nvPr/>
        </p:nvSpPr>
        <p:spPr>
          <a:xfrm>
            <a:off x="457200" y="6355080"/>
            <a:ext cx="11274552"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Источники: McKinsey 2025, MIT Sloan 2025, RAND 2025, Deloitte 2025 · [VFY-day-of]</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800" b="1" i="0">
                <a:solidFill>
                  <a:srgbClr val="21295C"/>
                </a:solidFill>
                <a:latin typeface="Arial"/>
              </a:rPr>
              <a:t>Рыночные оценки 2025 расходятся в 5×</a:t>
            </a:r>
          </a:p>
        </p:txBody>
      </p:sp>
      <p:sp>
        <p:nvSpPr>
          <p:cNvPr id="3" name="TextBox 2"/>
          <p:cNvSpPr txBox="1"/>
          <p:nvPr/>
        </p:nvSpPr>
        <p:spPr>
          <a:xfrm>
            <a:off x="457200" y="1051560"/>
            <a:ext cx="11274552" cy="365760"/>
          </a:xfrm>
          <a:prstGeom prst="rect">
            <a:avLst/>
          </a:prstGeom>
          <a:noFill/>
        </p:spPr>
        <p:txBody>
          <a:bodyPr wrap="square" lIns="0" rIns="0" tIns="0" bIns="0" anchor="t">
            <a:spAutoFit/>
          </a:bodyPr>
          <a:lstStyle/>
          <a:p>
            <a:pPr algn="l">
              <a:lnSpc>
                <a:spcPct val="115000"/>
              </a:lnSpc>
            </a:pPr>
            <a:r>
              <a:rPr sz="1400" b="0" i="1">
                <a:solidFill>
                  <a:srgbClr val="1C7293"/>
                </a:solidFill>
                <a:latin typeface="Arial"/>
              </a:rPr>
              <a:t>Три аналитика, один сегмент «AI in manufacturing», три радикально разные цифры</a:t>
            </a:r>
          </a:p>
        </p:txBody>
      </p:sp>
      <p:sp>
        <p:nvSpPr>
          <p:cNvPr id="4" name="Rounded Rectangle 3"/>
          <p:cNvSpPr/>
          <p:nvPr/>
        </p:nvSpPr>
        <p:spPr>
          <a:xfrm>
            <a:off x="457200" y="1645920"/>
            <a:ext cx="6858000" cy="36576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08-market-divergence.png"/>
          <p:cNvPicPr>
            <a:picLocks noChangeAspect="1"/>
          </p:cNvPicPr>
          <p:nvPr/>
        </p:nvPicPr>
        <p:blipFill>
          <a:blip r:embed="rId2"/>
          <a:stretch>
            <a:fillRect/>
          </a:stretch>
        </p:blipFill>
        <p:spPr>
          <a:xfrm>
            <a:off x="640080" y="1783080"/>
            <a:ext cx="6492240" cy="3383280"/>
          </a:xfrm>
          <a:prstGeom prst="rect">
            <a:avLst/>
          </a:prstGeom>
        </p:spPr>
      </p:pic>
      <p:sp>
        <p:nvSpPr>
          <p:cNvPr id="6" name="Rounded Rectangle 5"/>
          <p:cNvSpPr/>
          <p:nvPr/>
        </p:nvSpPr>
        <p:spPr>
          <a:xfrm>
            <a:off x="7498079" y="1645920"/>
            <a:ext cx="4206240" cy="365760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0" y="1828800"/>
            <a:ext cx="3840480" cy="3474720"/>
          </a:xfrm>
          <a:prstGeom prst="rect">
            <a:avLst/>
          </a:prstGeom>
          <a:noFill/>
        </p:spPr>
        <p:txBody>
          <a:bodyPr wrap="square" lIns="0" rIns="0" tIns="0" bIns="0" anchor="t">
            <a:spAutoFit/>
          </a:bodyPr>
          <a:lstStyle/>
          <a:p>
            <a:pPr algn="l">
              <a:lnSpc>
                <a:spcPct val="135000"/>
              </a:lnSpc>
            </a:pPr>
            <a:r>
              <a:rPr sz="1800" b="1" i="0">
                <a:solidFill>
                  <a:srgbClr val="F0AB00"/>
                </a:solidFill>
                <a:latin typeface="Arial"/>
              </a:rPr>
              <a:t>Расхождение 4,5×</a:t>
            </a:r>
          </a:p>
          <a:p>
            <a:pPr algn="l">
              <a:lnSpc>
                <a:spcPct val="135000"/>
              </a:lnSpc>
            </a:pPr>
            <a:r>
              <a:rPr sz="800" b="0" i="0">
                <a:solidFill>
                  <a:srgbClr val="21295C"/>
                </a:solidFill>
                <a:latin typeface="Arial"/>
              </a:rPr>
              <a:t/>
            </a:r>
          </a:p>
          <a:p>
            <a:pPr algn="l">
              <a:lnSpc>
                <a:spcPct val="135000"/>
              </a:lnSpc>
            </a:pPr>
            <a:r>
              <a:rPr sz="1200" b="0" i="0">
                <a:solidFill>
                  <a:srgbClr val="21295C"/>
                </a:solidFill>
                <a:latin typeface="Arial"/>
              </a:rPr>
              <a:t>Это не ошибка одного аналитика — это особенность жанра.</a:t>
            </a:r>
          </a:p>
          <a:p>
            <a:pPr algn="l">
              <a:lnSpc>
                <a:spcPct val="135000"/>
              </a:lnSpc>
            </a:pPr>
            <a:r>
              <a:rPr sz="600" b="0" i="0">
                <a:solidFill>
                  <a:srgbClr val="21295C"/>
                </a:solidFill>
                <a:latin typeface="Arial"/>
              </a:rPr>
              <a:t/>
            </a:r>
          </a:p>
          <a:p>
            <a:pPr algn="l">
              <a:lnSpc>
                <a:spcPct val="135000"/>
              </a:lnSpc>
            </a:pPr>
            <a:r>
              <a:rPr sz="1200" b="0" i="0">
                <a:solidFill>
                  <a:srgbClr val="21295C"/>
                </a:solidFill>
                <a:latin typeface="Arial"/>
              </a:rPr>
              <a:t>Определения сегмента, methodology, scope радикально различаются между источниками.</a:t>
            </a:r>
          </a:p>
          <a:p>
            <a:pPr algn="l">
              <a:lnSpc>
                <a:spcPct val="135000"/>
              </a:lnSpc>
            </a:pPr>
            <a:r>
              <a:rPr sz="800" b="0" i="0">
                <a:solidFill>
                  <a:srgbClr val="21295C"/>
                </a:solidFill>
                <a:latin typeface="Arial"/>
              </a:rPr>
              <a:t/>
            </a:r>
          </a:p>
          <a:p>
            <a:pPr algn="l">
              <a:lnSpc>
                <a:spcPct val="135000"/>
              </a:lnSpc>
            </a:pPr>
            <a:r>
              <a:rPr sz="1200" b="1" i="0">
                <a:solidFill>
                  <a:srgbClr val="065A82"/>
                </a:solidFill>
                <a:latin typeface="Arial"/>
              </a:rPr>
              <a:t>УРОК ДЛЯ ИНЖЕНЕРА:</a:t>
            </a:r>
          </a:p>
          <a:p>
            <a:pPr algn="l">
              <a:lnSpc>
                <a:spcPct val="135000"/>
              </a:lnSpc>
            </a:pPr>
            <a:r>
              <a:rPr sz="1200" b="0" i="0">
                <a:solidFill>
                  <a:srgbClr val="21295C"/>
                </a:solidFill>
                <a:latin typeface="Arial"/>
              </a:rPr>
              <a:t>читайте methodology, не верьте одной цифре.</a:t>
            </a:r>
          </a:p>
        </p:txBody>
      </p:sp>
      <p:sp>
        <p:nvSpPr>
          <p:cNvPr id="8" name="TextBox 7"/>
          <p:cNvSpPr txBox="1"/>
          <p:nvPr/>
        </p:nvSpPr>
        <p:spPr>
          <a:xfrm>
            <a:off x="457200" y="5486400"/>
            <a:ext cx="11274552" cy="640080"/>
          </a:xfrm>
          <a:prstGeom prst="rect">
            <a:avLst/>
          </a:prstGeom>
          <a:noFill/>
        </p:spPr>
        <p:txBody>
          <a:bodyPr wrap="square" lIns="0" rIns="0" tIns="0" bIns="0" anchor="t">
            <a:spAutoFit/>
          </a:bodyPr>
          <a:lstStyle/>
          <a:p>
            <a:pPr algn="l">
              <a:lnSpc>
                <a:spcPct val="125000"/>
              </a:lnSpc>
            </a:pPr>
            <a:r>
              <a:rPr sz="1200" b="0" i="1">
                <a:solidFill>
                  <a:srgbClr val="4A556B"/>
                </a:solidFill>
                <a:latin typeface="Arial"/>
              </a:rPr>
              <a:t>Gartner оценивает worldwide GenAI spending в $644B на 2025 — но это все индустрии вместе, не только производство.</a:t>
            </a:r>
          </a:p>
        </p:txBody>
      </p:sp>
      <p:sp>
        <p:nvSpPr>
          <p:cNvPr id="9" name="TextBox 8"/>
          <p:cNvSpPr txBox="1"/>
          <p:nvPr/>
        </p:nvSpPr>
        <p:spPr>
          <a:xfrm>
            <a:off x="457200" y="6355080"/>
            <a:ext cx="11274552"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Markets and Markets · Precedence · Fortune Business Insights · Gartner 2025 · [VFY-day-of]</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800" b="1" i="0">
                <a:solidFill>
                  <a:srgbClr val="21295C"/>
                </a:solidFill>
                <a:latin typeface="Arial"/>
              </a:rPr>
              <a:t>OT/IT раскол — фундаментальный structural divide</a:t>
            </a:r>
          </a:p>
        </p:txBody>
      </p:sp>
      <p:sp>
        <p:nvSpPr>
          <p:cNvPr id="3" name="TextBox 2"/>
          <p:cNvSpPr txBox="1"/>
          <p:nvPr/>
        </p:nvSpPr>
        <p:spPr>
          <a:xfrm>
            <a:off x="457200" y="1051560"/>
            <a:ext cx="11274552" cy="365760"/>
          </a:xfrm>
          <a:prstGeom prst="rect">
            <a:avLst/>
          </a:prstGeom>
          <a:noFill/>
        </p:spPr>
        <p:txBody>
          <a:bodyPr wrap="square" lIns="0" rIns="0" tIns="0" bIns="0" anchor="t">
            <a:spAutoFit/>
          </a:bodyPr>
          <a:lstStyle/>
          <a:p>
            <a:pPr algn="l">
              <a:lnSpc>
                <a:spcPct val="115000"/>
              </a:lnSpc>
            </a:pPr>
            <a:r>
              <a:rPr sz="1400" b="0" i="1">
                <a:solidFill>
                  <a:srgbClr val="1C7293"/>
                </a:solidFill>
                <a:latin typeface="Arial"/>
              </a:rPr>
              <a:t>AI приходит из IT в OT и упирается в этот раскол</a:t>
            </a:r>
          </a:p>
        </p:txBody>
      </p:sp>
      <p:sp>
        <p:nvSpPr>
          <p:cNvPr id="4" name="Rounded Rectangle 3"/>
          <p:cNvSpPr/>
          <p:nvPr/>
        </p:nvSpPr>
        <p:spPr>
          <a:xfrm>
            <a:off x="457200" y="1645920"/>
            <a:ext cx="5486400" cy="4114800"/>
          </a:xfrm>
          <a:prstGeom prst="roundRect">
            <a:avLst>
              <a:gd name="adj" fmla="val 10000"/>
            </a:avLst>
          </a:prstGeom>
          <a:solidFill>
            <a:srgbClr val="F4F7FA"/>
          </a:solidFill>
          <a:ln w="254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645920"/>
            <a:ext cx="5486400" cy="5486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691640"/>
            <a:ext cx="5486400" cy="457200"/>
          </a:xfrm>
          <a:prstGeom prst="rect">
            <a:avLst/>
          </a:prstGeom>
          <a:noFill/>
        </p:spPr>
        <p:txBody>
          <a:bodyPr wrap="square" lIns="0" rIns="0" tIns="0" bIns="0" anchor="ctr">
            <a:spAutoFit/>
          </a:bodyPr>
          <a:lstStyle/>
          <a:p>
            <a:pPr algn="ctr">
              <a:lnSpc>
                <a:spcPct val="115000"/>
              </a:lnSpc>
            </a:pPr>
            <a:r>
              <a:rPr sz="1600" b="1" i="0">
                <a:solidFill>
                  <a:srgbClr val="FFFFFF"/>
                </a:solidFill>
                <a:latin typeface="Arial"/>
              </a:rPr>
              <a:t>OT · Operational Technology</a:t>
            </a:r>
          </a:p>
        </p:txBody>
      </p:sp>
      <p:sp>
        <p:nvSpPr>
          <p:cNvPr id="7" name="TextBox 6"/>
          <p:cNvSpPr txBox="1"/>
          <p:nvPr/>
        </p:nvSpPr>
        <p:spPr>
          <a:xfrm>
            <a:off x="685800" y="2377440"/>
            <a:ext cx="5029200" cy="3200400"/>
          </a:xfrm>
          <a:prstGeom prst="rect">
            <a:avLst/>
          </a:prstGeom>
          <a:noFill/>
        </p:spPr>
        <p:txBody>
          <a:bodyPr wrap="square" lIns="0" rIns="0" tIns="0" bIns="0" anchor="t">
            <a:spAutoFit/>
          </a:bodyPr>
          <a:lstStyle/>
          <a:p>
            <a:pPr algn="l">
              <a:lnSpc>
                <a:spcPct val="130000"/>
              </a:lnSpc>
            </a:pPr>
            <a:r>
              <a:rPr sz="1100" b="1" i="0">
                <a:solidFill>
                  <a:srgbClr val="1C7293"/>
                </a:solidFill>
                <a:latin typeface="Arial"/>
              </a:rPr>
              <a:t>Где живёт:</a:t>
            </a:r>
          </a:p>
          <a:p>
            <a:pPr algn="l">
              <a:lnSpc>
                <a:spcPct val="130000"/>
              </a:lnSpc>
            </a:pPr>
            <a:r>
              <a:rPr sz="1200" b="0" i="0">
                <a:solidFill>
                  <a:srgbClr val="21295C"/>
                </a:solidFill>
                <a:latin typeface="Arial"/>
              </a:rPr>
              <a:t>PLC · SCADA · DCS · конвейерные приводы · реакторы</a:t>
            </a:r>
          </a:p>
          <a:p>
            <a:pPr algn="l">
              <a:lnSpc>
                <a:spcPct val="130000"/>
              </a:lnSpc>
            </a:pPr>
            <a:r>
              <a:rPr sz="600" b="0" i="0">
                <a:solidFill>
                  <a:srgbClr val="21295C"/>
                </a:solidFill>
                <a:latin typeface="Arial"/>
              </a:rPr>
              <a:t/>
            </a:r>
          </a:p>
          <a:p>
            <a:pPr algn="l">
              <a:lnSpc>
                <a:spcPct val="130000"/>
              </a:lnSpc>
            </a:pPr>
            <a:r>
              <a:rPr sz="1100" b="1" i="0">
                <a:solidFill>
                  <a:srgbClr val="1C7293"/>
                </a:solidFill>
                <a:latin typeface="Arial"/>
              </a:rPr>
              <a:t>Цикл управления:</a:t>
            </a:r>
          </a:p>
          <a:p>
            <a:pPr algn="l">
              <a:lnSpc>
                <a:spcPct val="130000"/>
              </a:lnSpc>
            </a:pPr>
            <a:r>
              <a:rPr sz="1300" b="1" i="0">
                <a:solidFill>
                  <a:srgbClr val="F0AB00"/>
                </a:solidFill>
                <a:latin typeface="Arial"/>
              </a:rPr>
              <a:t>1–10 мс детерминированный</a:t>
            </a:r>
          </a:p>
          <a:p>
            <a:pPr algn="l">
              <a:lnSpc>
                <a:spcPct val="130000"/>
              </a:lnSpc>
            </a:pPr>
            <a:r>
              <a:rPr sz="600" b="0" i="0">
                <a:solidFill>
                  <a:srgbClr val="21295C"/>
                </a:solidFill>
                <a:latin typeface="Arial"/>
              </a:rPr>
              <a:t/>
            </a:r>
          </a:p>
          <a:p>
            <a:pPr algn="l">
              <a:lnSpc>
                <a:spcPct val="130000"/>
              </a:lnSpc>
            </a:pPr>
            <a:r>
              <a:rPr sz="1200" b="0" i="0">
                <a:solidFill>
                  <a:srgbClr val="21295C"/>
                </a:solidFill>
                <a:latin typeface="Arial"/>
              </a:rPr>
              <a:t>Консистентность: strong</a:t>
            </a:r>
          </a:p>
          <a:p>
            <a:pPr algn="l">
              <a:lnSpc>
                <a:spcPct val="130000"/>
              </a:lnSpc>
            </a:pPr>
            <a:r>
              <a:rPr sz="1200" b="0" i="0">
                <a:solidFill>
                  <a:srgbClr val="21295C"/>
                </a:solidFill>
                <a:latin typeface="Arial"/>
              </a:rPr>
              <a:t>Audit trail: обязательный, регуляторный</a:t>
            </a:r>
          </a:p>
          <a:p>
            <a:pPr algn="l">
              <a:lnSpc>
                <a:spcPct val="130000"/>
              </a:lnSpc>
            </a:pPr>
            <a:r>
              <a:rPr sz="1200" b="0" i="0">
                <a:solidFill>
                  <a:srgbClr val="21295C"/>
                </a:solidFill>
                <a:latin typeface="Arial"/>
              </a:rPr>
              <a:t>Sertification: SIL 2/3 для safety-critical</a:t>
            </a:r>
          </a:p>
        </p:txBody>
      </p:sp>
      <p:sp>
        <p:nvSpPr>
          <p:cNvPr id="8" name="Rounded Rectangle 7"/>
          <p:cNvSpPr/>
          <p:nvPr/>
        </p:nvSpPr>
        <p:spPr>
          <a:xfrm>
            <a:off x="6245352" y="1645920"/>
            <a:ext cx="5486400" cy="4114800"/>
          </a:xfrm>
          <a:prstGeom prst="roundRect">
            <a:avLst>
              <a:gd name="adj" fmla="val 10000"/>
            </a:avLst>
          </a:prstGeom>
          <a:solidFill>
            <a:srgbClr val="F4F7FA"/>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45352" y="1645920"/>
            <a:ext cx="5486400" cy="54864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45352" y="1691640"/>
            <a:ext cx="5486400" cy="457200"/>
          </a:xfrm>
          <a:prstGeom prst="rect">
            <a:avLst/>
          </a:prstGeom>
          <a:noFill/>
        </p:spPr>
        <p:txBody>
          <a:bodyPr wrap="square" lIns="0" rIns="0" tIns="0" bIns="0" anchor="ctr">
            <a:spAutoFit/>
          </a:bodyPr>
          <a:lstStyle/>
          <a:p>
            <a:pPr algn="ctr">
              <a:lnSpc>
                <a:spcPct val="115000"/>
              </a:lnSpc>
            </a:pPr>
            <a:r>
              <a:rPr sz="1600" b="1" i="0">
                <a:solidFill>
                  <a:srgbClr val="FFFFFF"/>
                </a:solidFill>
                <a:latin typeface="Arial"/>
              </a:rPr>
              <a:t>IT · Information Technology</a:t>
            </a:r>
          </a:p>
        </p:txBody>
      </p:sp>
      <p:sp>
        <p:nvSpPr>
          <p:cNvPr id="11" name="TextBox 10"/>
          <p:cNvSpPr txBox="1"/>
          <p:nvPr/>
        </p:nvSpPr>
        <p:spPr>
          <a:xfrm>
            <a:off x="6473952" y="2377440"/>
            <a:ext cx="5029200" cy="3200400"/>
          </a:xfrm>
          <a:prstGeom prst="rect">
            <a:avLst/>
          </a:prstGeom>
          <a:noFill/>
        </p:spPr>
        <p:txBody>
          <a:bodyPr wrap="square" lIns="0" rIns="0" tIns="0" bIns="0" anchor="t">
            <a:spAutoFit/>
          </a:bodyPr>
          <a:lstStyle/>
          <a:p>
            <a:pPr algn="l">
              <a:lnSpc>
                <a:spcPct val="130000"/>
              </a:lnSpc>
            </a:pPr>
            <a:r>
              <a:rPr sz="1100" b="1" i="0">
                <a:solidFill>
                  <a:srgbClr val="1C7293"/>
                </a:solidFill>
                <a:latin typeface="Arial"/>
              </a:rPr>
              <a:t>Где живёт:</a:t>
            </a:r>
          </a:p>
          <a:p>
            <a:pPr algn="l">
              <a:lnSpc>
                <a:spcPct val="130000"/>
              </a:lnSpc>
            </a:pPr>
            <a:r>
              <a:rPr sz="1200" b="0" i="0">
                <a:solidFill>
                  <a:srgbClr val="21295C"/>
                </a:solidFill>
                <a:latin typeface="Arial"/>
              </a:rPr>
              <a:t>Облако · дата-центры · корпоративные базы · ML pipelines</a:t>
            </a:r>
          </a:p>
          <a:p>
            <a:pPr algn="l">
              <a:lnSpc>
                <a:spcPct val="130000"/>
              </a:lnSpc>
            </a:pPr>
            <a:r>
              <a:rPr sz="600" b="0" i="0">
                <a:solidFill>
                  <a:srgbClr val="21295C"/>
                </a:solidFill>
                <a:latin typeface="Arial"/>
              </a:rPr>
              <a:t/>
            </a:r>
          </a:p>
          <a:p>
            <a:pPr algn="l">
              <a:lnSpc>
                <a:spcPct val="130000"/>
              </a:lnSpc>
            </a:pPr>
            <a:r>
              <a:rPr sz="1100" b="1" i="0">
                <a:solidFill>
                  <a:srgbClr val="1C7293"/>
                </a:solidFill>
                <a:latin typeface="Arial"/>
              </a:rPr>
              <a:t>Цикл:</a:t>
            </a:r>
          </a:p>
          <a:p>
            <a:pPr algn="l">
              <a:lnSpc>
                <a:spcPct val="130000"/>
              </a:lnSpc>
            </a:pPr>
            <a:r>
              <a:rPr sz="1300" b="1" i="0">
                <a:solidFill>
                  <a:srgbClr val="F0AB00"/>
                </a:solidFill>
                <a:latin typeface="Arial"/>
              </a:rPr>
              <a:t>100–500 мс недетерминированный (LLM)</a:t>
            </a:r>
          </a:p>
          <a:p>
            <a:pPr algn="l">
              <a:lnSpc>
                <a:spcPct val="130000"/>
              </a:lnSpc>
            </a:pPr>
            <a:r>
              <a:rPr sz="600" b="0" i="0">
                <a:solidFill>
                  <a:srgbClr val="21295C"/>
                </a:solidFill>
                <a:latin typeface="Arial"/>
              </a:rPr>
              <a:t/>
            </a:r>
          </a:p>
          <a:p>
            <a:pPr algn="l">
              <a:lnSpc>
                <a:spcPct val="130000"/>
              </a:lnSpc>
            </a:pPr>
            <a:r>
              <a:rPr sz="1200" b="0" i="0">
                <a:solidFill>
                  <a:srgbClr val="21295C"/>
                </a:solidFill>
                <a:latin typeface="Arial"/>
              </a:rPr>
              <a:t>Консистентность: eventually-consistent</a:t>
            </a:r>
          </a:p>
          <a:p>
            <a:pPr algn="l">
              <a:lnSpc>
                <a:spcPct val="130000"/>
              </a:lnSpc>
            </a:pPr>
            <a:r>
              <a:rPr sz="1200" b="0" i="0">
                <a:solidFill>
                  <a:srgbClr val="21295C"/>
                </a:solidFill>
                <a:latin typeface="Arial"/>
              </a:rPr>
              <a:t>Audit trail: security и compliance, не control</a:t>
            </a:r>
          </a:p>
          <a:p>
            <a:pPr algn="l">
              <a:lnSpc>
                <a:spcPct val="130000"/>
              </a:lnSpc>
            </a:pPr>
            <a:r>
              <a:rPr sz="1200" b="0" i="0">
                <a:solidFill>
                  <a:srgbClr val="21295C"/>
                </a:solidFill>
                <a:latin typeface="Arial"/>
              </a:rPr>
              <a:t>Sertification: SaaS-обновления каждую неделю</a:t>
            </a:r>
          </a:p>
        </p:txBody>
      </p:sp>
      <p:sp>
        <p:nvSpPr>
          <p:cNvPr id="12" name="Rounded Rectangle 11"/>
          <p:cNvSpPr/>
          <p:nvPr/>
        </p:nvSpPr>
        <p:spPr>
          <a:xfrm>
            <a:off x="457200" y="5852160"/>
            <a:ext cx="11274552" cy="64008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5897880"/>
            <a:ext cx="10972800" cy="548640"/>
          </a:xfrm>
          <a:prstGeom prst="rect">
            <a:avLst/>
          </a:prstGeom>
          <a:noFill/>
        </p:spPr>
        <p:txBody>
          <a:bodyPr wrap="square" lIns="0" rIns="0" tIns="0" bIns="0" anchor="ctr">
            <a:spAutoFit/>
          </a:bodyPr>
          <a:lstStyle/>
          <a:p>
            <a:pPr algn="ctr">
              <a:lnSpc>
                <a:spcPct val="115000"/>
              </a:lnSpc>
            </a:pPr>
            <a:r>
              <a:rPr sz="1300" b="1" i="0">
                <a:solidFill>
                  <a:srgbClr val="21295C"/>
                </a:solidFill>
                <a:latin typeface="Arial"/>
              </a:rPr>
              <a:t>LLM с задержкой 100–500 мс физически не вмещается в PLC-цикл 1–10 мс — это арифметика, не временное препятствие</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600" b="1" i="0">
                <a:solidFill>
                  <a:srgbClr val="21295C"/>
                </a:solidFill>
                <a:latin typeface="Arial"/>
              </a:rPr>
              <a:t>Фундаментальные модели = augmentation, НЕ controller</a:t>
            </a:r>
          </a:p>
        </p:txBody>
      </p:sp>
      <p:sp>
        <p:nvSpPr>
          <p:cNvPr id="3" name="TextBox 2"/>
          <p:cNvSpPr txBox="1"/>
          <p:nvPr/>
        </p:nvSpPr>
        <p:spPr>
          <a:xfrm>
            <a:off x="457200" y="1051560"/>
            <a:ext cx="11274552" cy="365760"/>
          </a:xfrm>
          <a:prstGeom prst="rect">
            <a:avLst/>
          </a:prstGeom>
          <a:noFill/>
        </p:spPr>
        <p:txBody>
          <a:bodyPr wrap="square" lIns="0" rIns="0" tIns="0" bIns="0" anchor="t">
            <a:spAutoFit/>
          </a:bodyPr>
          <a:lstStyle/>
          <a:p>
            <a:pPr algn="l">
              <a:lnSpc>
                <a:spcPct val="115000"/>
              </a:lnSpc>
            </a:pPr>
            <a:r>
              <a:rPr sz="1400" b="0" i="1">
                <a:solidFill>
                  <a:srgbClr val="1C7293"/>
                </a:solidFill>
                <a:latin typeface="Arial"/>
              </a:rPr>
              <a:t>Siemens IFM + Foxconn FoxBrain — три причины, почему не контроллер</a:t>
            </a:r>
          </a:p>
        </p:txBody>
      </p:sp>
      <p:sp>
        <p:nvSpPr>
          <p:cNvPr id="4" name="Rounded Rectangle 3"/>
          <p:cNvSpPr/>
          <p:nvPr/>
        </p:nvSpPr>
        <p:spPr>
          <a:xfrm>
            <a:off x="457200" y="1554480"/>
            <a:ext cx="3657600" cy="466344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91640"/>
            <a:ext cx="3291840" cy="365760"/>
          </a:xfrm>
          <a:prstGeom prst="rect">
            <a:avLst/>
          </a:prstGeom>
          <a:noFill/>
        </p:spPr>
        <p:txBody>
          <a:bodyPr wrap="square" lIns="0" rIns="0" tIns="0" bIns="0" anchor="t">
            <a:spAutoFit/>
          </a:bodyPr>
          <a:lstStyle/>
          <a:p>
            <a:pPr algn="l">
              <a:lnSpc>
                <a:spcPct val="115000"/>
              </a:lnSpc>
            </a:pPr>
            <a:r>
              <a:rPr sz="1400" b="1" i="0">
                <a:solidFill>
                  <a:srgbClr val="065A82"/>
                </a:solidFill>
                <a:latin typeface="Arial"/>
              </a:rPr>
              <a:t>ЧТО ЕСТЬ</a:t>
            </a:r>
          </a:p>
        </p:txBody>
      </p:sp>
      <p:sp>
        <p:nvSpPr>
          <p:cNvPr id="6" name="TextBox 5"/>
          <p:cNvSpPr txBox="1"/>
          <p:nvPr/>
        </p:nvSpPr>
        <p:spPr>
          <a:xfrm>
            <a:off x="640080" y="2103120"/>
            <a:ext cx="3291840" cy="2194560"/>
          </a:xfrm>
          <a:prstGeom prst="rect">
            <a:avLst/>
          </a:prstGeom>
          <a:noFill/>
        </p:spPr>
        <p:txBody>
          <a:bodyPr wrap="square" lIns="0" rIns="0" tIns="0" bIns="0" anchor="t">
            <a:spAutoFit/>
          </a:bodyPr>
          <a:lstStyle/>
          <a:p>
            <a:pPr algn="l">
              <a:lnSpc>
                <a:spcPct val="130000"/>
              </a:lnSpc>
            </a:pPr>
            <a:r>
              <a:rPr sz="1400" b="1" i="0">
                <a:solidFill>
                  <a:srgbClr val="21295C"/>
                </a:solidFill>
                <a:latin typeface="Arial"/>
              </a:rPr>
              <a:t>Siemens IFM</a:t>
            </a:r>
          </a:p>
          <a:p>
            <a:pPr algn="l">
              <a:lnSpc>
                <a:spcPct val="130000"/>
              </a:lnSpc>
            </a:pPr>
            <a:r>
              <a:rPr sz="1000" b="0" i="1">
                <a:solidFill>
                  <a:srgbClr val="6B7685"/>
                </a:solidFill>
                <a:latin typeface="Arial"/>
              </a:rPr>
              <a:t>Hannover Messe март 2025</a:t>
            </a:r>
          </a:p>
          <a:p>
            <a:pPr algn="l">
              <a:lnSpc>
                <a:spcPct val="130000"/>
              </a:lnSpc>
            </a:pPr>
            <a:r>
              <a:rPr sz="1100" b="0" i="0">
                <a:solidFill>
                  <a:srgbClr val="21295C"/>
                </a:solidFill>
                <a:latin typeface="Arial"/>
              </a:rPr>
              <a:t>150 ПБ engineering data</a:t>
            </a:r>
          </a:p>
          <a:p>
            <a:pPr algn="l">
              <a:lnSpc>
                <a:spcPct val="130000"/>
              </a:lnSpc>
            </a:pPr>
            <a:r>
              <a:rPr sz="1100" b="0" i="0">
                <a:solidFill>
                  <a:srgbClr val="21295C"/>
                </a:solidFill>
                <a:latin typeface="Arial"/>
              </a:rPr>
              <a:t>1000+ AI-патентов Siemens</a:t>
            </a:r>
          </a:p>
          <a:p>
            <a:pPr algn="l">
              <a:lnSpc>
                <a:spcPct val="130000"/>
              </a:lnSpc>
            </a:pPr>
            <a:r>
              <a:rPr sz="1000" b="0" i="0">
                <a:solidFill>
                  <a:srgbClr val="21295C"/>
                </a:solidFill>
                <a:latin typeface="Arial"/>
              </a:rPr>
              <a:t/>
            </a:r>
          </a:p>
          <a:p>
            <a:pPr algn="l">
              <a:lnSpc>
                <a:spcPct val="130000"/>
              </a:lnSpc>
            </a:pPr>
            <a:r>
              <a:rPr sz="1400" b="1" i="0">
                <a:solidFill>
                  <a:srgbClr val="21295C"/>
                </a:solidFill>
                <a:latin typeface="Arial"/>
              </a:rPr>
              <a:t>Foxconn FoxBrain</a:t>
            </a:r>
          </a:p>
          <a:p>
            <a:pPr algn="l">
              <a:lnSpc>
                <a:spcPct val="130000"/>
              </a:lnSpc>
            </a:pPr>
            <a:r>
              <a:rPr sz="1000" b="0" i="1">
                <a:solidFill>
                  <a:srgbClr val="6B7685"/>
                </a:solidFill>
                <a:latin typeface="Arial"/>
              </a:rPr>
              <a:t>Computex 2025</a:t>
            </a:r>
          </a:p>
          <a:p>
            <a:pPr algn="l">
              <a:lnSpc>
                <a:spcPct val="130000"/>
              </a:lnSpc>
            </a:pPr>
            <a:r>
              <a:rPr sz="1100" b="0" i="0">
                <a:solidFill>
                  <a:srgbClr val="21295C"/>
                </a:solidFill>
                <a:latin typeface="Arial"/>
              </a:rPr>
              <a:t>Llama 3.1 70B derivative</a:t>
            </a:r>
          </a:p>
          <a:p>
            <a:pPr algn="l">
              <a:lnSpc>
                <a:spcPct val="130000"/>
              </a:lnSpc>
            </a:pPr>
            <a:r>
              <a:rPr sz="1100" b="0" i="0">
                <a:solidFill>
                  <a:srgbClr val="21295C"/>
                </a:solidFill>
                <a:latin typeface="Arial"/>
              </a:rPr>
              <a:t>Injection-molding параметры</a:t>
            </a:r>
          </a:p>
        </p:txBody>
      </p:sp>
      <p:pic>
        <p:nvPicPr>
          <p:cNvPr id="7" name="Picture 6" descr="s10-siemens-hq.jpg"/>
          <p:cNvPicPr>
            <a:picLocks noChangeAspect="1"/>
          </p:cNvPicPr>
          <p:nvPr/>
        </p:nvPicPr>
        <p:blipFill>
          <a:blip r:embed="rId2"/>
          <a:stretch>
            <a:fillRect/>
          </a:stretch>
        </p:blipFill>
        <p:spPr>
          <a:xfrm>
            <a:off x="640080" y="4434840"/>
            <a:ext cx="3291840" cy="1554480"/>
          </a:xfrm>
          <a:prstGeom prst="rect">
            <a:avLst/>
          </a:prstGeom>
        </p:spPr>
      </p:pic>
      <p:sp>
        <p:nvSpPr>
          <p:cNvPr id="8" name="TextBox 7"/>
          <p:cNvSpPr txBox="1"/>
          <p:nvPr/>
        </p:nvSpPr>
        <p:spPr>
          <a:xfrm>
            <a:off x="640080" y="5989320"/>
            <a:ext cx="3291840"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Siemens HQ Munich · Wikimedia</a:t>
            </a:r>
          </a:p>
        </p:txBody>
      </p:sp>
      <p:sp>
        <p:nvSpPr>
          <p:cNvPr id="9" name="TextBox 8"/>
          <p:cNvSpPr txBox="1"/>
          <p:nvPr/>
        </p:nvSpPr>
        <p:spPr>
          <a:xfrm>
            <a:off x="4389120" y="1691640"/>
            <a:ext cx="7406640" cy="457200"/>
          </a:xfrm>
          <a:prstGeom prst="rect">
            <a:avLst/>
          </a:prstGeom>
          <a:noFill/>
        </p:spPr>
        <p:txBody>
          <a:bodyPr wrap="square" lIns="0" rIns="0" tIns="0" bIns="0" anchor="t">
            <a:spAutoFit/>
          </a:bodyPr>
          <a:lstStyle/>
          <a:p>
            <a:pPr algn="l">
              <a:lnSpc>
                <a:spcPct val="125000"/>
              </a:lnSpc>
            </a:pPr>
            <a:r>
              <a:rPr sz="1400" b="1" i="0">
                <a:solidFill>
                  <a:srgbClr val="065A82"/>
                </a:solidFill>
                <a:latin typeface="Arial"/>
              </a:rPr>
              <a:t>ЧТО НЕ ДЕЛАЮТ — три причины</a:t>
            </a:r>
          </a:p>
        </p:txBody>
      </p:sp>
      <p:sp>
        <p:nvSpPr>
          <p:cNvPr id="10" name="Rounded Rectangle 9"/>
          <p:cNvSpPr/>
          <p:nvPr/>
        </p:nvSpPr>
        <p:spPr>
          <a:xfrm>
            <a:off x="4389120" y="2194560"/>
            <a:ext cx="7406640" cy="109728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0" y="2194560"/>
            <a:ext cx="137160" cy="10972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7720" y="2331720"/>
            <a:ext cx="7178040" cy="411480"/>
          </a:xfrm>
          <a:prstGeom prst="rect">
            <a:avLst/>
          </a:prstGeom>
          <a:noFill/>
        </p:spPr>
        <p:txBody>
          <a:bodyPr wrap="square" lIns="0" rIns="0" tIns="0" bIns="0" anchor="t">
            <a:spAutoFit/>
          </a:bodyPr>
          <a:lstStyle/>
          <a:p>
            <a:pPr algn="l">
              <a:lnSpc>
                <a:spcPct val="115000"/>
              </a:lnSpc>
            </a:pPr>
            <a:r>
              <a:rPr sz="1500" b="1" i="0">
                <a:solidFill>
                  <a:srgbClr val="21295C"/>
                </a:solidFill>
                <a:latin typeface="Arial"/>
              </a:rPr>
              <a:t>1. Задержка вывода</a:t>
            </a:r>
          </a:p>
        </p:txBody>
      </p:sp>
      <p:sp>
        <p:nvSpPr>
          <p:cNvPr id="13" name="TextBox 12"/>
          <p:cNvSpPr txBox="1"/>
          <p:nvPr/>
        </p:nvSpPr>
        <p:spPr>
          <a:xfrm>
            <a:off x="4617720" y="2788920"/>
            <a:ext cx="7178040" cy="502920"/>
          </a:xfrm>
          <a:prstGeom prst="rect">
            <a:avLst/>
          </a:prstGeom>
          <a:noFill/>
        </p:spPr>
        <p:txBody>
          <a:bodyPr wrap="square" lIns="0" rIns="0" tIns="0" bIns="0" anchor="t">
            <a:spAutoFit/>
          </a:bodyPr>
          <a:lstStyle/>
          <a:p>
            <a:pPr algn="l">
              <a:lnSpc>
                <a:spcPct val="130000"/>
              </a:lnSpc>
            </a:pPr>
            <a:r>
              <a:rPr sz="1200" b="0" i="0">
                <a:solidFill>
                  <a:srgbClr val="4A556B"/>
                </a:solidFill>
                <a:latin typeface="Arial"/>
              </a:rPr>
              <a:t>LLM 100–500 мс vs PLC-цикл 1–10 мс. Физически не вмещается в control loop.</a:t>
            </a:r>
          </a:p>
        </p:txBody>
      </p:sp>
      <p:sp>
        <p:nvSpPr>
          <p:cNvPr id="14" name="Rounded Rectangle 13"/>
          <p:cNvSpPr/>
          <p:nvPr/>
        </p:nvSpPr>
        <p:spPr>
          <a:xfrm>
            <a:off x="4389120" y="3429000"/>
            <a:ext cx="7406640" cy="109728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89120" y="3429000"/>
            <a:ext cx="137160" cy="109728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7720" y="3566160"/>
            <a:ext cx="7178040" cy="411480"/>
          </a:xfrm>
          <a:prstGeom prst="rect">
            <a:avLst/>
          </a:prstGeom>
          <a:noFill/>
        </p:spPr>
        <p:txBody>
          <a:bodyPr wrap="square" lIns="0" rIns="0" tIns="0" bIns="0" anchor="t">
            <a:spAutoFit/>
          </a:bodyPr>
          <a:lstStyle/>
          <a:p>
            <a:pPr algn="l">
              <a:lnSpc>
                <a:spcPct val="115000"/>
              </a:lnSpc>
            </a:pPr>
            <a:r>
              <a:rPr sz="1500" b="1" i="0">
                <a:solidFill>
                  <a:srgbClr val="21295C"/>
                </a:solidFill>
                <a:latin typeface="Arial"/>
              </a:rPr>
              <a:t>2. Галлюцинации</a:t>
            </a:r>
          </a:p>
        </p:txBody>
      </p:sp>
      <p:sp>
        <p:nvSpPr>
          <p:cNvPr id="17" name="TextBox 16"/>
          <p:cNvSpPr txBox="1"/>
          <p:nvPr/>
        </p:nvSpPr>
        <p:spPr>
          <a:xfrm>
            <a:off x="4617720" y="4023360"/>
            <a:ext cx="7178040" cy="502920"/>
          </a:xfrm>
          <a:prstGeom prst="rect">
            <a:avLst/>
          </a:prstGeom>
          <a:noFill/>
        </p:spPr>
        <p:txBody>
          <a:bodyPr wrap="square" lIns="0" rIns="0" tIns="0" bIns="0" anchor="t">
            <a:spAutoFit/>
          </a:bodyPr>
          <a:lstStyle/>
          <a:p>
            <a:pPr algn="l">
              <a:lnSpc>
                <a:spcPct val="130000"/>
              </a:lnSpc>
            </a:pPr>
            <a:r>
              <a:rPr sz="1200" b="0" i="0">
                <a:solidFill>
                  <a:srgbClr val="4A556B"/>
                </a:solidFill>
                <a:latin typeface="Arial"/>
              </a:rPr>
              <a:t>Недетерминированный output несовместим с замыканием контура управления.</a:t>
            </a:r>
          </a:p>
        </p:txBody>
      </p:sp>
      <p:sp>
        <p:nvSpPr>
          <p:cNvPr id="18" name="Rounded Rectangle 17"/>
          <p:cNvSpPr/>
          <p:nvPr/>
        </p:nvSpPr>
        <p:spPr>
          <a:xfrm>
            <a:off x="4389120" y="4663440"/>
            <a:ext cx="7406640" cy="109728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89120" y="4663440"/>
            <a:ext cx="137160" cy="109728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17720" y="4800600"/>
            <a:ext cx="7178040" cy="411480"/>
          </a:xfrm>
          <a:prstGeom prst="rect">
            <a:avLst/>
          </a:prstGeom>
          <a:noFill/>
        </p:spPr>
        <p:txBody>
          <a:bodyPr wrap="square" lIns="0" rIns="0" tIns="0" bIns="0" anchor="t">
            <a:spAutoFit/>
          </a:bodyPr>
          <a:lstStyle/>
          <a:p>
            <a:pPr algn="l">
              <a:lnSpc>
                <a:spcPct val="115000"/>
              </a:lnSpc>
            </a:pPr>
            <a:r>
              <a:rPr sz="1500" b="1" i="0">
                <a:solidFill>
                  <a:srgbClr val="21295C"/>
                </a:solidFill>
                <a:latin typeface="Arial"/>
              </a:rPr>
              <a:t>3. Сертификация</a:t>
            </a:r>
          </a:p>
        </p:txBody>
      </p:sp>
      <p:sp>
        <p:nvSpPr>
          <p:cNvPr id="21" name="TextBox 20"/>
          <p:cNvSpPr txBox="1"/>
          <p:nvPr/>
        </p:nvSpPr>
        <p:spPr>
          <a:xfrm>
            <a:off x="4617720" y="5257800"/>
            <a:ext cx="7178040" cy="502920"/>
          </a:xfrm>
          <a:prstGeom prst="rect">
            <a:avLst/>
          </a:prstGeom>
          <a:noFill/>
        </p:spPr>
        <p:txBody>
          <a:bodyPr wrap="square" lIns="0" rIns="0" tIns="0" bIns="0" anchor="t">
            <a:spAutoFit/>
          </a:bodyPr>
          <a:lstStyle/>
          <a:p>
            <a:pPr algn="l">
              <a:lnSpc>
                <a:spcPct val="130000"/>
              </a:lnSpc>
            </a:pPr>
            <a:r>
              <a:rPr sz="1200" b="0" i="0">
                <a:solidFill>
                  <a:srgbClr val="4A556B"/>
                </a:solidFill>
                <a:latin typeface="Arial"/>
              </a:rPr>
              <a:t>Нет audit trail для SIL 2/3, FDA Part 11, GAMP®5. Black-box ML не проходит валидацию.</a:t>
            </a:r>
          </a:p>
        </p:txBody>
      </p:sp>
      <p:sp>
        <p:nvSpPr>
          <p:cNvPr id="22" name="Rounded Rectangle 21"/>
          <p:cNvSpPr/>
          <p:nvPr/>
        </p:nvSpPr>
        <p:spPr>
          <a:xfrm>
            <a:off x="4389120" y="5943600"/>
            <a:ext cx="7406640" cy="54864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0" y="5989320"/>
            <a:ext cx="7223760" cy="457200"/>
          </a:xfrm>
          <a:prstGeom prst="rect">
            <a:avLst/>
          </a:prstGeom>
          <a:noFill/>
        </p:spPr>
        <p:txBody>
          <a:bodyPr wrap="square" lIns="0" rIns="0" tIns="0" bIns="0" anchor="ctr">
            <a:spAutoFit/>
          </a:bodyPr>
          <a:lstStyle/>
          <a:p>
            <a:pPr algn="ctr">
              <a:lnSpc>
                <a:spcPct val="115000"/>
              </a:lnSpc>
            </a:pPr>
            <a:r>
              <a:rPr sz="1200" b="1" i="0">
                <a:solidFill>
                  <a:srgbClr val="21295C"/>
                </a:solidFill>
                <a:latin typeface="Arial"/>
              </a:rPr>
              <a:t>Chat-помощник для оператора ≠ autonomous controller — два разных архитектурных класса</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800" b="1" i="0">
                <a:solidFill>
                  <a:srgbClr val="21295C"/>
                </a:solidFill>
                <a:latin typeface="Arial"/>
              </a:rPr>
              <a:t>Tesla Optimus: демо есть, production нет</a:t>
            </a:r>
          </a:p>
        </p:txBody>
      </p:sp>
      <p:sp>
        <p:nvSpPr>
          <p:cNvPr id="3" name="TextBox 2"/>
          <p:cNvSpPr txBox="1"/>
          <p:nvPr/>
        </p:nvSpPr>
        <p:spPr>
          <a:xfrm>
            <a:off x="457200" y="1051560"/>
            <a:ext cx="11274552" cy="365760"/>
          </a:xfrm>
          <a:prstGeom prst="rect">
            <a:avLst/>
          </a:prstGeom>
          <a:noFill/>
        </p:spPr>
        <p:txBody>
          <a:bodyPr wrap="square" lIns="0" rIns="0" tIns="0" bIns="0" anchor="t">
            <a:spAutoFit/>
          </a:bodyPr>
          <a:lstStyle/>
          <a:p>
            <a:pPr algn="l">
              <a:lnSpc>
                <a:spcPct val="115000"/>
              </a:lnSpc>
            </a:pPr>
            <a:r>
              <a:rPr sz="1400" b="0" i="1">
                <a:solidFill>
                  <a:srgbClr val="1C7293"/>
                </a:solidFill>
                <a:latin typeface="Arial"/>
              </a:rPr>
              <a:t>Recurring pattern: capability в контролируемой среде vs reliability 99,9% в неконтролируемой</a:t>
            </a:r>
          </a:p>
        </p:txBody>
      </p:sp>
      <p:sp>
        <p:nvSpPr>
          <p:cNvPr id="4" name="Rounded Rectangle 3"/>
          <p:cNvSpPr/>
          <p:nvPr/>
        </p:nvSpPr>
        <p:spPr>
          <a:xfrm>
            <a:off x="457200" y="1645920"/>
            <a:ext cx="5486400" cy="4114800"/>
          </a:xfrm>
          <a:prstGeom prst="roundRect">
            <a:avLst>
              <a:gd name="adj" fmla="val 10000"/>
            </a:avLst>
          </a:prstGeom>
          <a:solidFill>
            <a:srgbClr val="F4F7FA"/>
          </a:solidFill>
          <a:ln w="254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645920"/>
            <a:ext cx="5486400" cy="54864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691640"/>
            <a:ext cx="5486400" cy="457200"/>
          </a:xfrm>
          <a:prstGeom prst="rect">
            <a:avLst/>
          </a:prstGeom>
          <a:noFill/>
        </p:spPr>
        <p:txBody>
          <a:bodyPr wrap="square" lIns="0" rIns="0" tIns="0" bIns="0" anchor="ctr">
            <a:spAutoFit/>
          </a:bodyPr>
          <a:lstStyle/>
          <a:p>
            <a:pPr algn="ctr">
              <a:lnSpc>
                <a:spcPct val="115000"/>
              </a:lnSpc>
            </a:pPr>
            <a:r>
              <a:rPr sz="1600" b="1" i="0">
                <a:solidFill>
                  <a:srgbClr val="FFFFFF"/>
                </a:solidFill>
                <a:latin typeface="Arial"/>
              </a:rPr>
              <a:t>ДЕМО · 2022–2024</a:t>
            </a:r>
          </a:p>
        </p:txBody>
      </p:sp>
      <p:sp>
        <p:nvSpPr>
          <p:cNvPr id="7" name="TextBox 6"/>
          <p:cNvSpPr txBox="1"/>
          <p:nvPr/>
        </p:nvSpPr>
        <p:spPr>
          <a:xfrm>
            <a:off x="685800" y="2377440"/>
            <a:ext cx="5029200" cy="3200400"/>
          </a:xfrm>
          <a:prstGeom prst="rect">
            <a:avLst/>
          </a:prstGeom>
          <a:noFill/>
        </p:spPr>
        <p:txBody>
          <a:bodyPr wrap="square" lIns="0" rIns="0" tIns="0" bIns="0" anchor="t">
            <a:spAutoFit/>
          </a:bodyPr>
          <a:lstStyle/>
          <a:p>
            <a:pPr algn="l">
              <a:lnSpc>
                <a:spcPct val="130000"/>
              </a:lnSpc>
            </a:pPr>
            <a:r>
              <a:rPr sz="1100" b="0" i="1">
                <a:solidFill>
                  <a:srgbClr val="6B7685"/>
                </a:solidFill>
                <a:latin typeface="Arial"/>
              </a:rPr>
              <a:t>Tesla AI Day 2022, 2024 · Cybercab event Oct 2024</a:t>
            </a:r>
          </a:p>
          <a:p>
            <a:pPr algn="l">
              <a:lnSpc>
                <a:spcPct val="130000"/>
              </a:lnSpc>
            </a:pPr>
            <a:r>
              <a:rPr sz="800" b="0" i="0">
                <a:solidFill>
                  <a:srgbClr val="21295C"/>
                </a:solidFill>
                <a:latin typeface="Arial"/>
              </a:rPr>
              <a:t/>
            </a:r>
          </a:p>
          <a:p>
            <a:pPr algn="l">
              <a:lnSpc>
                <a:spcPct val="130000"/>
              </a:lnSpc>
            </a:pPr>
            <a:r>
              <a:rPr sz="1300" b="1" i="0">
                <a:solidFill>
                  <a:srgbClr val="065A82"/>
                </a:solidFill>
                <a:latin typeface="Arial"/>
              </a:rPr>
              <a:t>Видеодемо:</a:t>
            </a:r>
          </a:p>
          <a:p>
            <a:pPr algn="l">
              <a:lnSpc>
                <a:spcPct val="130000"/>
              </a:lnSpc>
            </a:pPr>
            <a:r>
              <a:rPr sz="1300" b="0" i="0">
                <a:solidFill>
                  <a:srgbClr val="21295C"/>
                </a:solidFill>
                <a:latin typeface="Arial"/>
              </a:rPr>
              <a:t>· Складывает футболки</a:t>
            </a:r>
          </a:p>
          <a:p>
            <a:pPr algn="l">
              <a:lnSpc>
                <a:spcPct val="130000"/>
              </a:lnSpc>
            </a:pPr>
            <a:r>
              <a:rPr sz="1300" b="0" i="0">
                <a:solidFill>
                  <a:srgbClr val="21295C"/>
                </a:solidFill>
                <a:latin typeface="Arial"/>
              </a:rPr>
              <a:t>· Переносит коробки</a:t>
            </a:r>
          </a:p>
          <a:p>
            <a:pPr algn="l">
              <a:lnSpc>
                <a:spcPct val="130000"/>
              </a:lnSpc>
            </a:pPr>
            <a:r>
              <a:rPr sz="1300" b="0" i="0">
                <a:solidFill>
                  <a:srgbClr val="21295C"/>
                </a:solidFill>
                <a:latin typeface="Arial"/>
              </a:rPr>
              <a:t>· Ходит по фабрике</a:t>
            </a:r>
          </a:p>
          <a:p>
            <a:pPr algn="l">
              <a:lnSpc>
                <a:spcPct val="130000"/>
              </a:lnSpc>
            </a:pPr>
            <a:r>
              <a:rPr sz="1300" b="0" i="0">
                <a:solidFill>
                  <a:srgbClr val="21295C"/>
                </a:solidFill>
                <a:latin typeface="Arial"/>
              </a:rPr>
              <a:t>· Передаёт инструменты</a:t>
            </a:r>
          </a:p>
          <a:p>
            <a:pPr algn="l">
              <a:lnSpc>
                <a:spcPct val="130000"/>
              </a:lnSpc>
            </a:pPr>
            <a:r>
              <a:rPr sz="800" b="0" i="0">
                <a:solidFill>
                  <a:srgbClr val="21295C"/>
                </a:solidFill>
                <a:latin typeface="Arial"/>
              </a:rPr>
              <a:t/>
            </a:r>
          </a:p>
          <a:p>
            <a:pPr algn="l">
              <a:lnSpc>
                <a:spcPct val="130000"/>
              </a:lnSpc>
            </a:pPr>
            <a:r>
              <a:rPr sz="1300" b="1" i="0">
                <a:solidFill>
                  <a:srgbClr val="065A82"/>
                </a:solidFill>
                <a:latin typeface="Arial"/>
              </a:rPr>
              <a:t>Маркетинг:</a:t>
            </a:r>
          </a:p>
          <a:p>
            <a:pPr algn="l">
              <a:lnSpc>
                <a:spcPct val="130000"/>
              </a:lnSpc>
            </a:pPr>
            <a:r>
              <a:rPr sz="1200" b="0" i="0">
                <a:solidFill>
                  <a:srgbClr val="21295C"/>
                </a:solidFill>
                <a:latin typeface="Arial"/>
              </a:rPr>
              <a:t>10–20 тыс. Optimus к 2025, цена ~$30K, миллионы к 2030</a:t>
            </a:r>
          </a:p>
        </p:txBody>
      </p:sp>
      <p:sp>
        <p:nvSpPr>
          <p:cNvPr id="8" name="Rounded Rectangle 7"/>
          <p:cNvSpPr/>
          <p:nvPr/>
        </p:nvSpPr>
        <p:spPr>
          <a:xfrm>
            <a:off x="6245352" y="1645920"/>
            <a:ext cx="5486400" cy="411480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45352" y="1645920"/>
            <a:ext cx="5486400" cy="54864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45352" y="1691640"/>
            <a:ext cx="5486400" cy="457200"/>
          </a:xfrm>
          <a:prstGeom prst="rect">
            <a:avLst/>
          </a:prstGeom>
          <a:noFill/>
        </p:spPr>
        <p:txBody>
          <a:bodyPr wrap="square" lIns="0" rIns="0" tIns="0" bIns="0" anchor="ctr">
            <a:spAutoFit/>
          </a:bodyPr>
          <a:lstStyle/>
          <a:p>
            <a:pPr algn="ctr">
              <a:lnSpc>
                <a:spcPct val="115000"/>
              </a:lnSpc>
            </a:pPr>
            <a:r>
              <a:rPr sz="1600" b="1" i="0">
                <a:solidFill>
                  <a:srgbClr val="FFFFFF"/>
                </a:solidFill>
                <a:latin typeface="Arial"/>
              </a:rPr>
              <a:t>PRODUCTION · 2026</a:t>
            </a:r>
          </a:p>
        </p:txBody>
      </p:sp>
      <p:sp>
        <p:nvSpPr>
          <p:cNvPr id="11" name="TextBox 10"/>
          <p:cNvSpPr txBox="1"/>
          <p:nvPr/>
        </p:nvSpPr>
        <p:spPr>
          <a:xfrm>
            <a:off x="6473952" y="2377440"/>
            <a:ext cx="5029200" cy="3200400"/>
          </a:xfrm>
          <a:prstGeom prst="rect">
            <a:avLst/>
          </a:prstGeom>
          <a:noFill/>
        </p:spPr>
        <p:txBody>
          <a:bodyPr wrap="square" lIns="0" rIns="0" tIns="0" bIns="0" anchor="t">
            <a:spAutoFit/>
          </a:bodyPr>
          <a:lstStyle/>
          <a:p>
            <a:pPr algn="l">
              <a:lnSpc>
                <a:spcPct val="135000"/>
              </a:lnSpc>
            </a:pPr>
            <a:r>
              <a:rPr sz="1100" b="0" i="1">
                <a:solidFill>
                  <a:srgbClr val="6B7685"/>
                </a:solidFill>
                <a:latin typeface="Arial"/>
              </a:rPr>
              <a:t>На февраль 2026:</a:t>
            </a:r>
          </a:p>
          <a:p>
            <a:pPr algn="l">
              <a:lnSpc>
                <a:spcPct val="135000"/>
              </a:lnSpc>
            </a:pPr>
            <a:r>
              <a:rPr sz="800" b="0" i="0">
                <a:solidFill>
                  <a:srgbClr val="21295C"/>
                </a:solidFill>
                <a:latin typeface="Arial"/>
              </a:rPr>
              <a:t/>
            </a:r>
          </a:p>
          <a:p>
            <a:pPr algn="l">
              <a:lnSpc>
                <a:spcPct val="135000"/>
              </a:lnSpc>
            </a:pPr>
            <a:r>
              <a:rPr sz="1400" b="1" i="0">
                <a:solidFill>
                  <a:srgbClr val="21295C"/>
                </a:solidFill>
                <a:latin typeface="Arial"/>
              </a:rPr>
              <a:t>Tesla Optimus НЕ задействован в production-сборке ни на одном заводе.</a:t>
            </a:r>
          </a:p>
          <a:p>
            <a:pPr algn="l">
              <a:lnSpc>
                <a:spcPct val="135000"/>
              </a:lnSpc>
            </a:pPr>
            <a:r>
              <a:rPr sz="800" b="0" i="0">
                <a:solidFill>
                  <a:srgbClr val="21295C"/>
                </a:solidFill>
                <a:latin typeface="Arial"/>
              </a:rPr>
              <a:t/>
            </a:r>
          </a:p>
          <a:p>
            <a:pPr algn="l">
              <a:lnSpc>
                <a:spcPct val="135000"/>
              </a:lnSpc>
            </a:pPr>
            <a:r>
              <a:rPr sz="1200" b="1" i="0">
                <a:solidFill>
                  <a:srgbClr val="065A82"/>
                </a:solidFill>
                <a:latin typeface="Arial"/>
              </a:rPr>
              <a:t>Cybercab event Oct 2024:</a:t>
            </a:r>
          </a:p>
          <a:p>
            <a:pPr algn="l">
              <a:lnSpc>
                <a:spcPct val="135000"/>
              </a:lnSpc>
            </a:pPr>
            <a:r>
              <a:rPr sz="1200" b="0" i="1">
                <a:solidFill>
                  <a:srgbClr val="21295C"/>
                </a:solidFill>
                <a:latin typeface="Arial"/>
              </a:rPr>
              <a:t>Optimus раздавал напитки гостям — Wired подтвердил, что роботы управлялись людьми удалённо.</a:t>
            </a:r>
          </a:p>
        </p:txBody>
      </p:sp>
      <p:sp>
        <p:nvSpPr>
          <p:cNvPr id="12" name="Rounded Rectangle 11"/>
          <p:cNvSpPr/>
          <p:nvPr/>
        </p:nvSpPr>
        <p:spPr>
          <a:xfrm>
            <a:off x="457200" y="5897880"/>
            <a:ext cx="11274552" cy="50292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5943600"/>
            <a:ext cx="10972800" cy="411480"/>
          </a:xfrm>
          <a:prstGeom prst="rect">
            <a:avLst/>
          </a:prstGeom>
          <a:noFill/>
        </p:spPr>
        <p:txBody>
          <a:bodyPr wrap="square" lIns="0" rIns="0" tIns="0" bIns="0" anchor="ctr">
            <a:spAutoFit/>
          </a:bodyPr>
          <a:lstStyle/>
          <a:p>
            <a:pPr algn="ctr">
              <a:lnSpc>
                <a:spcPct val="115000"/>
              </a:lnSpc>
            </a:pPr>
            <a:r>
              <a:rPr sz="1300" b="1" i="0">
                <a:solidFill>
                  <a:srgbClr val="21295C"/>
                </a:solidFill>
                <a:latin typeface="Arial"/>
              </a:rPr>
              <a:t>Между демо и production — обычно 5–10 лет, и большинство демо не переходят</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600" b="1" i="0">
                <a:solidFill>
                  <a:srgbClr val="21295C"/>
                </a:solidFill>
                <a:latin typeface="Arial"/>
              </a:rPr>
              <a:t>Три истории на $4B+ каждая. Один урок: AI ≠ магия.</a:t>
            </a:r>
          </a:p>
        </p:txBody>
      </p:sp>
      <p:sp>
        <p:nvSpPr>
          <p:cNvPr id="3" name="TextBox 2"/>
          <p:cNvSpPr txBox="1"/>
          <p:nvPr/>
        </p:nvSpPr>
        <p:spPr>
          <a:xfrm>
            <a:off x="457200" y="1051560"/>
            <a:ext cx="11274552" cy="365760"/>
          </a:xfrm>
          <a:prstGeom prst="rect">
            <a:avLst/>
          </a:prstGeom>
          <a:noFill/>
        </p:spPr>
        <p:txBody>
          <a:bodyPr wrap="square" lIns="0" rIns="0" tIns="0" bIns="0" anchor="t">
            <a:spAutoFit/>
          </a:bodyPr>
          <a:lstStyle/>
          <a:p>
            <a:pPr algn="l">
              <a:lnSpc>
                <a:spcPct val="115000"/>
              </a:lnSpc>
            </a:pPr>
            <a:r>
              <a:rPr sz="1400" b="0" i="1">
                <a:solidFill>
                  <a:srgbClr val="1C7293"/>
                </a:solidFill>
                <a:latin typeface="Arial"/>
              </a:rPr>
              <a:t>GE Predix · IBM Watson · Foxconn Wisconsin — три провала, три урока</a:t>
            </a:r>
          </a:p>
        </p:txBody>
      </p:sp>
      <p:sp>
        <p:nvSpPr>
          <p:cNvPr id="4" name="Rounded Rectangle 3"/>
          <p:cNvSpPr/>
          <p:nvPr/>
        </p:nvSpPr>
        <p:spPr>
          <a:xfrm>
            <a:off x="457200" y="1554480"/>
            <a:ext cx="3703320" cy="475488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554480"/>
            <a:ext cx="3703320" cy="6400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00200"/>
            <a:ext cx="3520439" cy="548640"/>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GE Predix</a:t>
            </a:r>
          </a:p>
        </p:txBody>
      </p:sp>
      <p:sp>
        <p:nvSpPr>
          <p:cNvPr id="7" name="TextBox 6"/>
          <p:cNvSpPr txBox="1"/>
          <p:nvPr/>
        </p:nvSpPr>
        <p:spPr>
          <a:xfrm>
            <a:off x="594360" y="2331720"/>
            <a:ext cx="3429000" cy="274320"/>
          </a:xfrm>
          <a:prstGeom prst="rect">
            <a:avLst/>
          </a:prstGeom>
          <a:noFill/>
        </p:spPr>
        <p:txBody>
          <a:bodyPr wrap="square" lIns="0" rIns="0" tIns="0" bIns="0" anchor="t">
            <a:spAutoFit/>
          </a:bodyPr>
          <a:lstStyle/>
          <a:p>
            <a:pPr algn="ctr">
              <a:lnSpc>
                <a:spcPct val="115000"/>
              </a:lnSpc>
            </a:pPr>
            <a:r>
              <a:rPr sz="1100" b="0" i="1">
                <a:solidFill>
                  <a:srgbClr val="6B7685"/>
                </a:solidFill>
                <a:latin typeface="Arial"/>
              </a:rPr>
              <a:t>2011–2020</a:t>
            </a:r>
          </a:p>
        </p:txBody>
      </p:sp>
      <p:sp>
        <p:nvSpPr>
          <p:cNvPr id="8" name="TextBox 7"/>
          <p:cNvSpPr txBox="1"/>
          <p:nvPr/>
        </p:nvSpPr>
        <p:spPr>
          <a:xfrm>
            <a:off x="594360" y="2651760"/>
            <a:ext cx="3429000" cy="457200"/>
          </a:xfrm>
          <a:prstGeom prst="rect">
            <a:avLst/>
          </a:prstGeom>
          <a:noFill/>
        </p:spPr>
        <p:txBody>
          <a:bodyPr wrap="square" lIns="0" rIns="0" tIns="0" bIns="0" anchor="t">
            <a:spAutoFit/>
          </a:bodyPr>
          <a:lstStyle/>
          <a:p>
            <a:pPr algn="ctr">
              <a:lnSpc>
                <a:spcPct val="115000"/>
              </a:lnSpc>
            </a:pPr>
            <a:r>
              <a:rPr sz="2200" b="1" i="0">
                <a:solidFill>
                  <a:srgbClr val="F0AB00"/>
                </a:solidFill>
                <a:latin typeface="Arial"/>
              </a:rPr>
              <a:t>$4B+</a:t>
            </a:r>
          </a:p>
        </p:txBody>
      </p:sp>
      <p:sp>
        <p:nvSpPr>
          <p:cNvPr id="9" name="TextBox 8"/>
          <p:cNvSpPr txBox="1"/>
          <p:nvPr/>
        </p:nvSpPr>
        <p:spPr>
          <a:xfrm>
            <a:off x="685800" y="3246120"/>
            <a:ext cx="3246120" cy="2011680"/>
          </a:xfrm>
          <a:prstGeom prst="rect">
            <a:avLst/>
          </a:prstGeom>
          <a:noFill/>
        </p:spPr>
        <p:txBody>
          <a:bodyPr wrap="square" lIns="0" rIns="0" tIns="0" bIns="0" anchor="t">
            <a:spAutoFit/>
          </a:bodyPr>
          <a:lstStyle/>
          <a:p>
            <a:pPr algn="l">
              <a:lnSpc>
                <a:spcPct val="130000"/>
              </a:lnSpc>
            </a:pPr>
            <a:r>
              <a:rPr sz="1100" b="0" i="0">
                <a:solidFill>
                  <a:srgbClr val="21295C"/>
                </a:solidFill>
                <a:latin typeface="Arial"/>
              </a:rPr>
              <a:t>AOS for industrial — свой облачный конкурент AWS.
«be everything to everyone» → развал 2018, продажа частями к 2020.</a:t>
            </a:r>
          </a:p>
        </p:txBody>
      </p:sp>
      <p:sp>
        <p:nvSpPr>
          <p:cNvPr id="10" name="Rounded Rectangle 9"/>
          <p:cNvSpPr/>
          <p:nvPr/>
        </p:nvSpPr>
        <p:spPr>
          <a:xfrm>
            <a:off x="640080" y="5394960"/>
            <a:ext cx="3337560" cy="822960"/>
          </a:xfrm>
          <a:prstGeom prst="roundRect">
            <a:avLst>
              <a:gd name="adj" fmla="val 10000"/>
            </a:avLst>
          </a:prstGeom>
          <a:solidFill>
            <a:srgbClr val="FEF5E0"/>
          </a:solidFill>
          <a:ln w="127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440680"/>
            <a:ext cx="3154679" cy="731520"/>
          </a:xfrm>
          <a:prstGeom prst="rect">
            <a:avLst/>
          </a:prstGeom>
          <a:noFill/>
        </p:spPr>
        <p:txBody>
          <a:bodyPr wrap="square" lIns="0" rIns="0" tIns="0" bIns="0" anchor="ctr">
            <a:spAutoFit/>
          </a:bodyPr>
          <a:lstStyle/>
          <a:p>
            <a:pPr algn="l">
              <a:lnSpc>
                <a:spcPct val="125000"/>
              </a:lnSpc>
            </a:pPr>
            <a:r>
              <a:rPr sz="1100" b="1" i="0">
                <a:solidFill>
                  <a:srgbClr val="21295C"/>
                </a:solidFill>
                <a:latin typeface="Arial"/>
              </a:rPr>
              <a:t>Урок: Industrial AI ≠ general cloud AI. Размер инвестиций ≠ результат.</a:t>
            </a:r>
          </a:p>
        </p:txBody>
      </p:sp>
      <p:sp>
        <p:nvSpPr>
          <p:cNvPr id="12" name="Rounded Rectangle 11"/>
          <p:cNvSpPr/>
          <p:nvPr/>
        </p:nvSpPr>
        <p:spPr>
          <a:xfrm>
            <a:off x="4251959" y="1554480"/>
            <a:ext cx="3703320" cy="475488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51959" y="1554480"/>
            <a:ext cx="3703320" cy="64008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43399" y="1600200"/>
            <a:ext cx="3520439" cy="548640"/>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IBM Watson</a:t>
            </a:r>
          </a:p>
        </p:txBody>
      </p:sp>
      <p:sp>
        <p:nvSpPr>
          <p:cNvPr id="15" name="TextBox 14"/>
          <p:cNvSpPr txBox="1"/>
          <p:nvPr/>
        </p:nvSpPr>
        <p:spPr>
          <a:xfrm>
            <a:off x="4389120" y="2331720"/>
            <a:ext cx="3429000" cy="274320"/>
          </a:xfrm>
          <a:prstGeom prst="rect">
            <a:avLst/>
          </a:prstGeom>
          <a:noFill/>
        </p:spPr>
        <p:txBody>
          <a:bodyPr wrap="square" lIns="0" rIns="0" tIns="0" bIns="0" anchor="t">
            <a:spAutoFit/>
          </a:bodyPr>
          <a:lstStyle/>
          <a:p>
            <a:pPr algn="ctr">
              <a:lnSpc>
                <a:spcPct val="115000"/>
              </a:lnSpc>
            </a:pPr>
            <a:r>
              <a:rPr sz="1100" b="0" i="1">
                <a:solidFill>
                  <a:srgbClr val="6B7685"/>
                </a:solidFill>
                <a:latin typeface="Arial"/>
              </a:rPr>
              <a:t>2018–2022</a:t>
            </a:r>
          </a:p>
        </p:txBody>
      </p:sp>
      <p:sp>
        <p:nvSpPr>
          <p:cNvPr id="16" name="TextBox 15"/>
          <p:cNvSpPr txBox="1"/>
          <p:nvPr/>
        </p:nvSpPr>
        <p:spPr>
          <a:xfrm>
            <a:off x="4389120" y="2651760"/>
            <a:ext cx="3429000" cy="457200"/>
          </a:xfrm>
          <a:prstGeom prst="rect">
            <a:avLst/>
          </a:prstGeom>
          <a:noFill/>
        </p:spPr>
        <p:txBody>
          <a:bodyPr wrap="square" lIns="0" rIns="0" tIns="0" bIns="0" anchor="t">
            <a:spAutoFit/>
          </a:bodyPr>
          <a:lstStyle/>
          <a:p>
            <a:pPr algn="ctr">
              <a:lnSpc>
                <a:spcPct val="115000"/>
              </a:lnSpc>
            </a:pPr>
            <a:r>
              <a:rPr sz="2200" b="1" i="0">
                <a:solidFill>
                  <a:srgbClr val="F0AB00"/>
                </a:solidFill>
                <a:latin typeface="Arial"/>
              </a:rPr>
              <a:t>Multi-$B</a:t>
            </a:r>
          </a:p>
        </p:txBody>
      </p:sp>
      <p:sp>
        <p:nvSpPr>
          <p:cNvPr id="17" name="TextBox 16"/>
          <p:cNvSpPr txBox="1"/>
          <p:nvPr/>
        </p:nvSpPr>
        <p:spPr>
          <a:xfrm>
            <a:off x="4480559" y="3246120"/>
            <a:ext cx="3246120" cy="2011680"/>
          </a:xfrm>
          <a:prstGeom prst="rect">
            <a:avLst/>
          </a:prstGeom>
          <a:noFill/>
        </p:spPr>
        <p:txBody>
          <a:bodyPr wrap="square" lIns="0" rIns="0" tIns="0" bIns="0" anchor="t">
            <a:spAutoFit/>
          </a:bodyPr>
          <a:lstStyle/>
          <a:p>
            <a:pPr algn="l">
              <a:lnSpc>
                <a:spcPct val="130000"/>
              </a:lnSpc>
            </a:pPr>
            <a:r>
              <a:rPr sz="1100" b="0" i="0">
                <a:solidFill>
                  <a:srgbClr val="21295C"/>
                </a:solidFill>
                <a:latin typeface="Arial"/>
              </a:rPr>
              <a:t>«–47% downtime, –48% defect rate» (маркетинг).
Watson for Drug Discovery остановлен 2019. Watson Health продан за $1B в 2022.</a:t>
            </a:r>
          </a:p>
        </p:txBody>
      </p:sp>
      <p:sp>
        <p:nvSpPr>
          <p:cNvPr id="18" name="Rounded Rectangle 17"/>
          <p:cNvSpPr/>
          <p:nvPr/>
        </p:nvSpPr>
        <p:spPr>
          <a:xfrm>
            <a:off x="4434840" y="5394960"/>
            <a:ext cx="3337560" cy="822960"/>
          </a:xfrm>
          <a:prstGeom prst="roundRect">
            <a:avLst>
              <a:gd name="adj" fmla="val 10000"/>
            </a:avLst>
          </a:prstGeom>
          <a:solidFill>
            <a:srgbClr val="FEF5E0"/>
          </a:solidFill>
          <a:ln w="127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26279" y="5440680"/>
            <a:ext cx="3154679" cy="731520"/>
          </a:xfrm>
          <a:prstGeom prst="rect">
            <a:avLst/>
          </a:prstGeom>
          <a:noFill/>
        </p:spPr>
        <p:txBody>
          <a:bodyPr wrap="square" lIns="0" rIns="0" tIns="0" bIns="0" anchor="ctr">
            <a:spAutoFit/>
          </a:bodyPr>
          <a:lstStyle/>
          <a:p>
            <a:pPr algn="l">
              <a:lnSpc>
                <a:spcPct val="125000"/>
              </a:lnSpc>
            </a:pPr>
            <a:r>
              <a:rPr sz="1100" b="1" i="0">
                <a:solidFill>
                  <a:srgbClr val="21295C"/>
                </a:solidFill>
                <a:latin typeface="Arial"/>
              </a:rPr>
              <a:t>Урок: Демо ≠ production. Маркетинговые проценты ≠ measured production metrics.</a:t>
            </a:r>
          </a:p>
        </p:txBody>
      </p:sp>
      <p:sp>
        <p:nvSpPr>
          <p:cNvPr id="20" name="Rounded Rectangle 19"/>
          <p:cNvSpPr/>
          <p:nvPr/>
        </p:nvSpPr>
        <p:spPr>
          <a:xfrm>
            <a:off x="8046719" y="1554480"/>
            <a:ext cx="3703320" cy="475488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46719" y="1554480"/>
            <a:ext cx="3703320" cy="64008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38159" y="1600200"/>
            <a:ext cx="3520439" cy="548640"/>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Foxconn Wisconsin</a:t>
            </a:r>
          </a:p>
        </p:txBody>
      </p:sp>
      <p:sp>
        <p:nvSpPr>
          <p:cNvPr id="23" name="TextBox 22"/>
          <p:cNvSpPr txBox="1"/>
          <p:nvPr/>
        </p:nvSpPr>
        <p:spPr>
          <a:xfrm>
            <a:off x="8183879" y="2331720"/>
            <a:ext cx="3429000" cy="274320"/>
          </a:xfrm>
          <a:prstGeom prst="rect">
            <a:avLst/>
          </a:prstGeom>
          <a:noFill/>
        </p:spPr>
        <p:txBody>
          <a:bodyPr wrap="square" lIns="0" rIns="0" tIns="0" bIns="0" anchor="t">
            <a:spAutoFit/>
          </a:bodyPr>
          <a:lstStyle/>
          <a:p>
            <a:pPr algn="ctr">
              <a:lnSpc>
                <a:spcPct val="115000"/>
              </a:lnSpc>
            </a:pPr>
            <a:r>
              <a:rPr sz="1100" b="0" i="1">
                <a:solidFill>
                  <a:srgbClr val="6B7685"/>
                </a:solidFill>
                <a:latin typeface="Arial"/>
              </a:rPr>
              <a:t>2018–2024</a:t>
            </a:r>
          </a:p>
        </p:txBody>
      </p:sp>
      <p:sp>
        <p:nvSpPr>
          <p:cNvPr id="24" name="TextBox 23"/>
          <p:cNvSpPr txBox="1"/>
          <p:nvPr/>
        </p:nvSpPr>
        <p:spPr>
          <a:xfrm>
            <a:off x="8183879" y="2651760"/>
            <a:ext cx="3429000" cy="457200"/>
          </a:xfrm>
          <a:prstGeom prst="rect">
            <a:avLst/>
          </a:prstGeom>
          <a:noFill/>
        </p:spPr>
        <p:txBody>
          <a:bodyPr wrap="square" lIns="0" rIns="0" tIns="0" bIns="0" anchor="t">
            <a:spAutoFit/>
          </a:bodyPr>
          <a:lstStyle/>
          <a:p>
            <a:pPr algn="ctr">
              <a:lnSpc>
                <a:spcPct val="115000"/>
              </a:lnSpc>
            </a:pPr>
            <a:r>
              <a:rPr sz="2200" b="1" i="0">
                <a:solidFill>
                  <a:srgbClr val="F0AB00"/>
                </a:solidFill>
                <a:latin typeface="Arial"/>
              </a:rPr>
              <a:t>$10B обещано</a:t>
            </a:r>
          </a:p>
        </p:txBody>
      </p:sp>
      <p:sp>
        <p:nvSpPr>
          <p:cNvPr id="25" name="TextBox 24"/>
          <p:cNvSpPr txBox="1"/>
          <p:nvPr/>
        </p:nvSpPr>
        <p:spPr>
          <a:xfrm>
            <a:off x="8275319" y="3246120"/>
            <a:ext cx="3246120" cy="2011680"/>
          </a:xfrm>
          <a:prstGeom prst="rect">
            <a:avLst/>
          </a:prstGeom>
          <a:noFill/>
        </p:spPr>
        <p:txBody>
          <a:bodyPr wrap="square" lIns="0" rIns="0" tIns="0" bIns="0" anchor="t">
            <a:spAutoFit/>
          </a:bodyPr>
          <a:lstStyle/>
          <a:p>
            <a:pPr algn="l">
              <a:lnSpc>
                <a:spcPct val="130000"/>
              </a:lnSpc>
            </a:pPr>
            <a:r>
              <a:rPr sz="1100" b="0" i="0">
                <a:solidFill>
                  <a:srgbClr val="21295C"/>
                </a:solidFill>
                <a:latin typeface="Arial"/>
              </a:rPr>
              <a:t>«Восьмое чудо света» (2018).
10 000 рабочих → 1 500. LCD → screens → AI hub → coffee kiosks → Microsoft Fairwater data center ($3,3B, май 2024).</a:t>
            </a:r>
          </a:p>
        </p:txBody>
      </p:sp>
      <p:sp>
        <p:nvSpPr>
          <p:cNvPr id="26" name="Rounded Rectangle 25"/>
          <p:cNvSpPr/>
          <p:nvPr/>
        </p:nvSpPr>
        <p:spPr>
          <a:xfrm>
            <a:off x="8229599" y="5394960"/>
            <a:ext cx="3337560" cy="822960"/>
          </a:xfrm>
          <a:prstGeom prst="roundRect">
            <a:avLst>
              <a:gd name="adj" fmla="val 10000"/>
            </a:avLst>
          </a:prstGeom>
          <a:solidFill>
            <a:srgbClr val="FEF5E0"/>
          </a:solidFill>
          <a:ln w="127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21040" y="5440680"/>
            <a:ext cx="3154679" cy="731520"/>
          </a:xfrm>
          <a:prstGeom prst="rect">
            <a:avLst/>
          </a:prstGeom>
          <a:noFill/>
        </p:spPr>
        <p:txBody>
          <a:bodyPr wrap="square" lIns="0" rIns="0" tIns="0" bIns="0" anchor="ctr">
            <a:spAutoFit/>
          </a:bodyPr>
          <a:lstStyle/>
          <a:p>
            <a:pPr algn="l">
              <a:lnSpc>
                <a:spcPct val="125000"/>
              </a:lnSpc>
            </a:pPr>
            <a:r>
              <a:rPr sz="1100" b="1" i="0">
                <a:solidFill>
                  <a:srgbClr val="21295C"/>
                </a:solidFill>
                <a:latin typeface="Arial"/>
              </a:rPr>
              <a:t>Урок: «Чудо света» от главы государства — anti-signal. Маркетинг ≠ физика.</a:t>
            </a:r>
          </a:p>
        </p:txBody>
      </p:sp>
      <p:sp>
        <p:nvSpPr>
          <p:cNvPr id="28" name="TextBox 27"/>
          <p:cNvSpPr txBox="1"/>
          <p:nvPr/>
        </p:nvSpPr>
        <p:spPr>
          <a:xfrm>
            <a:off x="457200" y="6355080"/>
            <a:ext cx="11274552"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GE 10-K filings 2017-2020 · IBM Watson Health 2022 sale press · Microsoft Fairwater press May 2024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2209190" cy="292608"/>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02336"/>
            <a:ext cx="2209190" cy="256032"/>
          </a:xfrm>
          <a:prstGeom prst="rect">
            <a:avLst/>
          </a:prstGeom>
          <a:noFill/>
        </p:spPr>
        <p:txBody>
          <a:bodyPr wrap="square" lIns="0" rIns="0" tIns="0" bIns="0" anchor="ctr">
            <a:spAutoFit/>
          </a:bodyPr>
          <a:lstStyle/>
          <a:p>
            <a:pPr algn="ctr">
              <a:lnSpc>
                <a:spcPct val="115000"/>
              </a:lnSpc>
            </a:pPr>
            <a:r>
              <a:rPr sz="1000" b="0" i="0">
                <a:solidFill>
                  <a:srgbClr val="6B7685"/>
                </a:solidFill>
                <a:latin typeface="Arial"/>
              </a:rPr>
              <a:t>1. Общее</a:t>
            </a:r>
          </a:p>
        </p:txBody>
      </p:sp>
      <p:sp>
        <p:nvSpPr>
          <p:cNvPr id="4" name="Rectangle 3"/>
          <p:cNvSpPr/>
          <p:nvPr/>
        </p:nvSpPr>
        <p:spPr>
          <a:xfrm>
            <a:off x="2712110" y="365760"/>
            <a:ext cx="2209190" cy="292608"/>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12110" y="402336"/>
            <a:ext cx="2209190" cy="256032"/>
          </a:xfrm>
          <a:prstGeom prst="rect">
            <a:avLst/>
          </a:prstGeom>
          <a:noFill/>
        </p:spPr>
        <p:txBody>
          <a:bodyPr wrap="square" lIns="0" rIns="0" tIns="0" bIns="0" anchor="ctr">
            <a:spAutoFit/>
          </a:bodyPr>
          <a:lstStyle/>
          <a:p>
            <a:pPr algn="ctr">
              <a:lnSpc>
                <a:spcPct val="115000"/>
              </a:lnSpc>
            </a:pPr>
            <a:r>
              <a:rPr sz="1000" b="1" i="0">
                <a:solidFill>
                  <a:srgbClr val="21295C"/>
                </a:solidFill>
                <a:latin typeface="Arial"/>
              </a:rPr>
              <a:t>2. Дискретное</a:t>
            </a:r>
          </a:p>
        </p:txBody>
      </p:sp>
      <p:sp>
        <p:nvSpPr>
          <p:cNvPr id="6" name="Rectangle 5"/>
          <p:cNvSpPr/>
          <p:nvPr/>
        </p:nvSpPr>
        <p:spPr>
          <a:xfrm>
            <a:off x="4967020" y="365760"/>
            <a:ext cx="2209190" cy="292608"/>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967020" y="402336"/>
            <a:ext cx="2209190" cy="256032"/>
          </a:xfrm>
          <a:prstGeom prst="rect">
            <a:avLst/>
          </a:prstGeom>
          <a:noFill/>
        </p:spPr>
        <p:txBody>
          <a:bodyPr wrap="square" lIns="0" rIns="0" tIns="0" bIns="0" anchor="ctr">
            <a:spAutoFit/>
          </a:bodyPr>
          <a:lstStyle/>
          <a:p>
            <a:pPr algn="ctr">
              <a:lnSpc>
                <a:spcPct val="115000"/>
              </a:lnSpc>
            </a:pPr>
            <a:r>
              <a:rPr sz="1000" b="0" i="0">
                <a:solidFill>
                  <a:srgbClr val="6B7685"/>
                </a:solidFill>
                <a:latin typeface="Arial"/>
              </a:rPr>
              <a:t>3. Процессное</a:t>
            </a:r>
          </a:p>
        </p:txBody>
      </p:sp>
      <p:sp>
        <p:nvSpPr>
          <p:cNvPr id="8" name="Rectangle 7"/>
          <p:cNvSpPr/>
          <p:nvPr/>
        </p:nvSpPr>
        <p:spPr>
          <a:xfrm>
            <a:off x="7221931" y="365760"/>
            <a:ext cx="2209190" cy="292608"/>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21931" y="402336"/>
            <a:ext cx="2209190" cy="256032"/>
          </a:xfrm>
          <a:prstGeom prst="rect">
            <a:avLst/>
          </a:prstGeom>
          <a:noFill/>
        </p:spPr>
        <p:txBody>
          <a:bodyPr wrap="square" lIns="0" rIns="0" tIns="0" bIns="0" anchor="ctr">
            <a:spAutoFit/>
          </a:bodyPr>
          <a:lstStyle/>
          <a:p>
            <a:pPr algn="ctr">
              <a:lnSpc>
                <a:spcPct val="115000"/>
              </a:lnSpc>
            </a:pPr>
            <a:r>
              <a:rPr sz="1000" b="0" i="0">
                <a:solidFill>
                  <a:srgbClr val="6B7685"/>
                </a:solidFill>
                <a:latin typeface="Arial"/>
              </a:rPr>
              <a:t>4. Рамка</a:t>
            </a:r>
          </a:p>
        </p:txBody>
      </p:sp>
      <p:sp>
        <p:nvSpPr>
          <p:cNvPr id="10" name="Rectangle 9"/>
          <p:cNvSpPr/>
          <p:nvPr/>
        </p:nvSpPr>
        <p:spPr>
          <a:xfrm>
            <a:off x="9476841" y="365760"/>
            <a:ext cx="2209190" cy="292608"/>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76841" y="402336"/>
            <a:ext cx="2209190" cy="256032"/>
          </a:xfrm>
          <a:prstGeom prst="rect">
            <a:avLst/>
          </a:prstGeom>
          <a:noFill/>
        </p:spPr>
        <p:txBody>
          <a:bodyPr wrap="square" lIns="0" rIns="0" tIns="0" bIns="0" anchor="ctr">
            <a:spAutoFit/>
          </a:bodyPr>
          <a:lstStyle/>
          <a:p>
            <a:pPr algn="ctr">
              <a:lnSpc>
                <a:spcPct val="115000"/>
              </a:lnSpc>
            </a:pPr>
            <a:r>
              <a:rPr sz="1000" b="0" i="0">
                <a:solidFill>
                  <a:srgbClr val="6B7685"/>
                </a:solidFill>
                <a:latin typeface="Arial"/>
              </a:rPr>
              <a:t>5. Замыкание</a:t>
            </a:r>
          </a:p>
        </p:txBody>
      </p:sp>
      <p:sp>
        <p:nvSpPr>
          <p:cNvPr id="12" name="TextBox 11"/>
          <p:cNvSpPr txBox="1"/>
          <p:nvPr/>
        </p:nvSpPr>
        <p:spPr>
          <a:xfrm>
            <a:off x="457200" y="914400"/>
            <a:ext cx="5486400" cy="5029200"/>
          </a:xfrm>
          <a:prstGeom prst="rect">
            <a:avLst/>
          </a:prstGeom>
          <a:noFill/>
        </p:spPr>
        <p:txBody>
          <a:bodyPr wrap="square" lIns="0" rIns="0" tIns="0" bIns="0" anchor="ctr">
            <a:spAutoFit/>
          </a:bodyPr>
          <a:lstStyle/>
          <a:p>
            <a:pPr algn="ctr">
              <a:lnSpc>
                <a:spcPct val="115000"/>
              </a:lnSpc>
            </a:pPr>
            <a:r>
              <a:rPr sz="44000" b="1" i="0">
                <a:solidFill>
                  <a:srgbClr val="D9E2EC"/>
                </a:solidFill>
                <a:latin typeface="Arial"/>
              </a:rPr>
              <a:t>2</a:t>
            </a:r>
          </a:p>
        </p:txBody>
      </p:sp>
      <p:sp>
        <p:nvSpPr>
          <p:cNvPr id="13" name="TextBox 12"/>
          <p:cNvSpPr txBox="1"/>
          <p:nvPr/>
        </p:nvSpPr>
        <p:spPr>
          <a:xfrm>
            <a:off x="5029200" y="2286000"/>
            <a:ext cx="6858000" cy="3200400"/>
          </a:xfrm>
          <a:prstGeom prst="rect">
            <a:avLst/>
          </a:prstGeom>
          <a:noFill/>
        </p:spPr>
        <p:txBody>
          <a:bodyPr wrap="square" lIns="0" rIns="0" tIns="0" bIns="0" anchor="t">
            <a:spAutoFit/>
          </a:bodyPr>
          <a:lstStyle/>
          <a:p>
            <a:pPr algn="l">
              <a:lnSpc>
                <a:spcPct val="115000"/>
              </a:lnSpc>
            </a:pPr>
            <a:r>
              <a:rPr sz="1800" b="1" i="0">
                <a:solidFill>
                  <a:srgbClr val="1C7293"/>
                </a:solidFill>
                <a:latin typeface="Arial"/>
              </a:rPr>
              <a:t>РАЗДЕЛ</a:t>
            </a:r>
          </a:p>
          <a:p>
            <a:pPr algn="l">
              <a:lnSpc>
                <a:spcPct val="115000"/>
              </a:lnSpc>
            </a:pPr>
            <a:r>
              <a:rPr sz="3800" b="1" i="0">
                <a:solidFill>
                  <a:srgbClr val="21295C"/>
                </a:solidFill>
                <a:latin typeface="Arial"/>
              </a:rPr>
              <a:t>Дискретное производство</a:t>
            </a:r>
          </a:p>
          <a:p>
            <a:pPr algn="l">
              <a:lnSpc>
                <a:spcPct val="115000"/>
              </a:lnSpc>
            </a:pPr>
            <a:r>
              <a:rPr sz="1200" b="0" i="0">
                <a:solidFill>
                  <a:srgbClr val="21295C"/>
                </a:solidFill>
                <a:latin typeface="Arial"/>
              </a:rPr>
              <a:t/>
            </a:r>
          </a:p>
          <a:p>
            <a:pPr algn="l">
              <a:lnSpc>
                <a:spcPct val="115000"/>
              </a:lnSpc>
            </a:pPr>
            <a:r>
              <a:rPr sz="1600" b="0" i="0">
                <a:solidFill>
                  <a:srgbClr val="065A82"/>
                </a:solidFill>
                <a:latin typeface="Arial"/>
              </a:rPr>
              <a:t>CV-инспекция · разметка · PdM · коботы · Tesla 2018 · границы</a:t>
            </a:r>
          </a:p>
          <a:p>
            <a:pPr algn="l">
              <a:lnSpc>
                <a:spcPct val="115000"/>
              </a:lnSpc>
            </a:pPr>
            <a:r>
              <a:rPr sz="800" b="0" i="0">
                <a:solidFill>
                  <a:srgbClr val="21295C"/>
                </a:solidFill>
                <a:latin typeface="Arial"/>
              </a:rPr>
              <a:t/>
            </a:r>
          </a:p>
          <a:p>
            <a:pPr algn="l">
              <a:lnSpc>
                <a:spcPct val="115000"/>
              </a:lnSpc>
            </a:pPr>
            <a:r>
              <a:rPr sz="1300" b="0" i="1">
                <a:solidFill>
                  <a:srgbClr val="F0AB00"/>
                </a:solidFill>
                <a:latin typeface="Arial"/>
              </a:rPr>
              <a:t>Раздел 2 · 17 мин · 9 слайдов</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600" b="1" i="0">
                <a:solidFill>
                  <a:srgbClr val="21295C"/>
                </a:solidFill>
                <a:latin typeface="Arial"/>
              </a:rPr>
              <a:t>CV-инспекция в production — три рабочих кейса</a:t>
            </a:r>
          </a:p>
        </p:txBody>
      </p:sp>
      <p:sp>
        <p:nvSpPr>
          <p:cNvPr id="3" name="TextBox 2"/>
          <p:cNvSpPr txBox="1"/>
          <p:nvPr/>
        </p:nvSpPr>
        <p:spPr>
          <a:xfrm>
            <a:off x="457200" y="1051560"/>
            <a:ext cx="11274552" cy="365760"/>
          </a:xfrm>
          <a:prstGeom prst="rect">
            <a:avLst/>
          </a:prstGeom>
          <a:noFill/>
        </p:spPr>
        <p:txBody>
          <a:bodyPr wrap="square" lIns="0" rIns="0" tIns="0" bIns="0" anchor="t">
            <a:spAutoFit/>
          </a:bodyPr>
          <a:lstStyle/>
          <a:p>
            <a:pPr algn="l">
              <a:lnSpc>
                <a:spcPct val="115000"/>
              </a:lnSpc>
            </a:pPr>
            <a:r>
              <a:rPr sz="1400" b="0" i="1">
                <a:solidFill>
                  <a:srgbClr val="1C7293"/>
                </a:solidFill>
                <a:latin typeface="Arial"/>
              </a:rPr>
              <a:t>BMW · TSMC · Boeing — все три зависят от эталонной разметки</a:t>
            </a:r>
          </a:p>
        </p:txBody>
      </p:sp>
      <p:sp>
        <p:nvSpPr>
          <p:cNvPr id="4" name="Rounded Rectangle 3"/>
          <p:cNvSpPr/>
          <p:nvPr/>
        </p:nvSpPr>
        <p:spPr>
          <a:xfrm>
            <a:off x="457200" y="1600200"/>
            <a:ext cx="3703320" cy="420624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600200"/>
            <a:ext cx="3703320" cy="6400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645920"/>
            <a:ext cx="3703320" cy="548640"/>
          </a:xfrm>
          <a:prstGeom prst="rect">
            <a:avLst/>
          </a:prstGeom>
          <a:noFill/>
        </p:spPr>
        <p:txBody>
          <a:bodyPr wrap="square" lIns="0" rIns="0" tIns="0" bIns="0" anchor="ctr">
            <a:spAutoFit/>
          </a:bodyPr>
          <a:lstStyle/>
          <a:p>
            <a:pPr algn="ctr">
              <a:lnSpc>
                <a:spcPct val="115000"/>
              </a:lnSpc>
            </a:pPr>
            <a:r>
              <a:rPr sz="1700" b="1" i="0">
                <a:solidFill>
                  <a:srgbClr val="FFFFFF"/>
                </a:solidFill>
                <a:latin typeface="Arial"/>
              </a:rPr>
              <a:t>BMW GenAI4Q</a:t>
            </a:r>
          </a:p>
        </p:txBody>
      </p:sp>
      <p:sp>
        <p:nvSpPr>
          <p:cNvPr id="7" name="TextBox 6"/>
          <p:cNvSpPr txBox="1"/>
          <p:nvPr/>
        </p:nvSpPr>
        <p:spPr>
          <a:xfrm>
            <a:off x="594360" y="2377440"/>
            <a:ext cx="3429000" cy="320040"/>
          </a:xfrm>
          <a:prstGeom prst="rect">
            <a:avLst/>
          </a:prstGeom>
          <a:noFill/>
        </p:spPr>
        <p:txBody>
          <a:bodyPr wrap="square" lIns="0" rIns="0" tIns="0" bIns="0" anchor="t">
            <a:spAutoFit/>
          </a:bodyPr>
          <a:lstStyle/>
          <a:p>
            <a:pPr algn="ctr">
              <a:lnSpc>
                <a:spcPct val="115000"/>
              </a:lnSpc>
            </a:pPr>
            <a:r>
              <a:rPr sz="1100" b="0" i="1">
                <a:solidFill>
                  <a:srgbClr val="6B7685"/>
                </a:solidFill>
                <a:latin typeface="Arial"/>
              </a:rPr>
              <a:t>Regensburg, 2025</a:t>
            </a:r>
          </a:p>
        </p:txBody>
      </p:sp>
      <p:pic>
        <p:nvPicPr>
          <p:cNvPr id="8" name="Picture 7" descr="factory.png"/>
          <p:cNvPicPr>
            <a:picLocks noChangeAspect="1"/>
          </p:cNvPicPr>
          <p:nvPr/>
        </p:nvPicPr>
        <p:blipFill>
          <a:blip r:embed="rId2"/>
          <a:stretch>
            <a:fillRect/>
          </a:stretch>
        </p:blipFill>
        <p:spPr>
          <a:xfrm>
            <a:off x="1760219" y="2880360"/>
            <a:ext cx="1097280" cy="1097280"/>
          </a:xfrm>
          <a:prstGeom prst="rect">
            <a:avLst/>
          </a:prstGeom>
        </p:spPr>
      </p:pic>
      <p:sp>
        <p:nvSpPr>
          <p:cNvPr id="9" name="TextBox 8"/>
          <p:cNvSpPr txBox="1"/>
          <p:nvPr/>
        </p:nvSpPr>
        <p:spPr>
          <a:xfrm>
            <a:off x="685800" y="4297680"/>
            <a:ext cx="3337560" cy="274320"/>
          </a:xfrm>
          <a:prstGeom prst="rect">
            <a:avLst/>
          </a:prstGeom>
          <a:noFill/>
        </p:spPr>
        <p:txBody>
          <a:bodyPr wrap="square" lIns="0" rIns="0" tIns="0" bIns="0" anchor="t">
            <a:spAutoFit/>
          </a:bodyPr>
          <a:lstStyle/>
          <a:p>
            <a:pPr algn="l">
              <a:lnSpc>
                <a:spcPct val="115000"/>
              </a:lnSpc>
            </a:pPr>
            <a:r>
              <a:rPr sz="1100" b="0" i="0">
                <a:solidFill>
                  <a:srgbClr val="21295C"/>
                </a:solidFill>
                <a:latin typeface="Arial"/>
              </a:rPr>
              <a:t>· Bespoke catalogue per vehicle</a:t>
            </a:r>
          </a:p>
        </p:txBody>
      </p:sp>
      <p:sp>
        <p:nvSpPr>
          <p:cNvPr id="10" name="TextBox 9"/>
          <p:cNvSpPr txBox="1"/>
          <p:nvPr/>
        </p:nvSpPr>
        <p:spPr>
          <a:xfrm>
            <a:off x="685800" y="4590288"/>
            <a:ext cx="3337560" cy="274320"/>
          </a:xfrm>
          <a:prstGeom prst="rect">
            <a:avLst/>
          </a:prstGeom>
          <a:noFill/>
        </p:spPr>
        <p:txBody>
          <a:bodyPr wrap="square" lIns="0" rIns="0" tIns="0" bIns="0" anchor="t">
            <a:spAutoFit/>
          </a:bodyPr>
          <a:lstStyle/>
          <a:p>
            <a:pPr algn="l">
              <a:lnSpc>
                <a:spcPct val="115000"/>
              </a:lnSpc>
            </a:pPr>
            <a:r>
              <a:rPr sz="1100" b="0" i="0">
                <a:solidFill>
                  <a:srgbClr val="21295C"/>
                </a:solidFill>
                <a:latin typeface="Arial"/>
              </a:rPr>
              <a:t>· FACTORY OF THE YEAR 2024</a:t>
            </a:r>
          </a:p>
        </p:txBody>
      </p:sp>
      <p:sp>
        <p:nvSpPr>
          <p:cNvPr id="11" name="TextBox 10"/>
          <p:cNvSpPr txBox="1"/>
          <p:nvPr/>
        </p:nvSpPr>
        <p:spPr>
          <a:xfrm>
            <a:off x="685800" y="4882896"/>
            <a:ext cx="3337560" cy="274320"/>
          </a:xfrm>
          <a:prstGeom prst="rect">
            <a:avLst/>
          </a:prstGeom>
          <a:noFill/>
        </p:spPr>
        <p:txBody>
          <a:bodyPr wrap="square" lIns="0" rIns="0" tIns="0" bIns="0" anchor="t">
            <a:spAutoFit/>
          </a:bodyPr>
          <a:lstStyle/>
          <a:p>
            <a:pPr algn="l">
              <a:lnSpc>
                <a:spcPct val="115000"/>
              </a:lnSpc>
            </a:pPr>
            <a:r>
              <a:rPr sz="1100" b="0" i="0">
                <a:solidFill>
                  <a:srgbClr val="21295C"/>
                </a:solidFill>
                <a:latin typeface="Arial"/>
              </a:rPr>
              <a:t>· Partner: Datagon AI</a:t>
            </a:r>
          </a:p>
        </p:txBody>
      </p:sp>
      <p:sp>
        <p:nvSpPr>
          <p:cNvPr id="12" name="Rounded Rectangle 11"/>
          <p:cNvSpPr/>
          <p:nvPr/>
        </p:nvSpPr>
        <p:spPr>
          <a:xfrm>
            <a:off x="640080" y="5257800"/>
            <a:ext cx="3337560" cy="45720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5303520"/>
            <a:ext cx="3154679" cy="365760"/>
          </a:xfrm>
          <a:prstGeom prst="rect">
            <a:avLst/>
          </a:prstGeom>
          <a:noFill/>
        </p:spPr>
        <p:txBody>
          <a:bodyPr wrap="square" lIns="0" rIns="0" tIns="0" bIns="0" anchor="ctr">
            <a:spAutoFit/>
          </a:bodyPr>
          <a:lstStyle/>
          <a:p>
            <a:pPr algn="l">
              <a:lnSpc>
                <a:spcPct val="115000"/>
              </a:lnSpc>
            </a:pPr>
            <a:r>
              <a:rPr sz="1000" b="0" i="1">
                <a:solidFill>
                  <a:srgbClr val="21295C"/>
                </a:solidFill>
                <a:latin typeface="Arial"/>
              </a:rPr>
              <a:t>Каждый автомобиль — свой набор checkpoints</a:t>
            </a:r>
          </a:p>
        </p:txBody>
      </p:sp>
      <p:sp>
        <p:nvSpPr>
          <p:cNvPr id="14" name="Rounded Rectangle 13"/>
          <p:cNvSpPr/>
          <p:nvPr/>
        </p:nvSpPr>
        <p:spPr>
          <a:xfrm>
            <a:off x="4251959" y="1600200"/>
            <a:ext cx="3703320" cy="420624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51959" y="1600200"/>
            <a:ext cx="3703320" cy="64008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51959" y="1645920"/>
            <a:ext cx="3703320" cy="548640"/>
          </a:xfrm>
          <a:prstGeom prst="rect">
            <a:avLst/>
          </a:prstGeom>
          <a:noFill/>
        </p:spPr>
        <p:txBody>
          <a:bodyPr wrap="square" lIns="0" rIns="0" tIns="0" bIns="0" anchor="ctr">
            <a:spAutoFit/>
          </a:bodyPr>
          <a:lstStyle/>
          <a:p>
            <a:pPr algn="ctr">
              <a:lnSpc>
                <a:spcPct val="115000"/>
              </a:lnSpc>
            </a:pPr>
            <a:r>
              <a:rPr sz="1700" b="1" i="0">
                <a:solidFill>
                  <a:srgbClr val="FFFFFF"/>
                </a:solidFill>
                <a:latin typeface="Arial"/>
              </a:rPr>
              <a:t>TSMC defect detection</a:t>
            </a:r>
          </a:p>
        </p:txBody>
      </p:sp>
      <p:sp>
        <p:nvSpPr>
          <p:cNvPr id="17" name="TextBox 16"/>
          <p:cNvSpPr txBox="1"/>
          <p:nvPr/>
        </p:nvSpPr>
        <p:spPr>
          <a:xfrm>
            <a:off x="4389120" y="2377440"/>
            <a:ext cx="3429000" cy="320040"/>
          </a:xfrm>
          <a:prstGeom prst="rect">
            <a:avLst/>
          </a:prstGeom>
          <a:noFill/>
        </p:spPr>
        <p:txBody>
          <a:bodyPr wrap="square" lIns="0" rIns="0" tIns="0" bIns="0" anchor="t">
            <a:spAutoFit/>
          </a:bodyPr>
          <a:lstStyle/>
          <a:p>
            <a:pPr algn="ctr">
              <a:lnSpc>
                <a:spcPct val="115000"/>
              </a:lnSpc>
            </a:pPr>
            <a:r>
              <a:rPr sz="1100" b="0" i="1">
                <a:solidFill>
                  <a:srgbClr val="6B7685"/>
                </a:solidFill>
                <a:latin typeface="Arial"/>
              </a:rPr>
              <a:t>5nm / 3nm узлы</a:t>
            </a:r>
          </a:p>
        </p:txBody>
      </p:sp>
      <p:pic>
        <p:nvPicPr>
          <p:cNvPr id="18" name="Picture 17" descr="s14-tsmc.jpg"/>
          <p:cNvPicPr>
            <a:picLocks noChangeAspect="1"/>
          </p:cNvPicPr>
          <p:nvPr/>
        </p:nvPicPr>
        <p:blipFill>
          <a:blip r:embed="rId3"/>
          <a:stretch>
            <a:fillRect/>
          </a:stretch>
        </p:blipFill>
        <p:spPr>
          <a:xfrm>
            <a:off x="4434840" y="2788920"/>
            <a:ext cx="3337560" cy="1371600"/>
          </a:xfrm>
          <a:prstGeom prst="rect">
            <a:avLst/>
          </a:prstGeom>
        </p:spPr>
      </p:pic>
      <p:sp>
        <p:nvSpPr>
          <p:cNvPr id="19" name="TextBox 18"/>
          <p:cNvSpPr txBox="1"/>
          <p:nvPr/>
        </p:nvSpPr>
        <p:spPr>
          <a:xfrm>
            <a:off x="4480559" y="4297680"/>
            <a:ext cx="3337560" cy="274320"/>
          </a:xfrm>
          <a:prstGeom prst="rect">
            <a:avLst/>
          </a:prstGeom>
          <a:noFill/>
        </p:spPr>
        <p:txBody>
          <a:bodyPr wrap="square" lIns="0" rIns="0" tIns="0" bIns="0" anchor="t">
            <a:spAutoFit/>
          </a:bodyPr>
          <a:lstStyle/>
          <a:p>
            <a:pPr algn="l">
              <a:lnSpc>
                <a:spcPct val="115000"/>
              </a:lnSpc>
            </a:pPr>
            <a:r>
              <a:rPr sz="1100" b="0" i="0">
                <a:solidFill>
                  <a:srgbClr val="21295C"/>
                </a:solidFill>
                <a:latin typeface="Arial"/>
              </a:rPr>
              <a:t>· 95% accuracy</a:t>
            </a:r>
          </a:p>
        </p:txBody>
      </p:sp>
      <p:sp>
        <p:nvSpPr>
          <p:cNvPr id="20" name="TextBox 19"/>
          <p:cNvSpPr txBox="1"/>
          <p:nvPr/>
        </p:nvSpPr>
        <p:spPr>
          <a:xfrm>
            <a:off x="4480559" y="4590288"/>
            <a:ext cx="3337560" cy="274320"/>
          </a:xfrm>
          <a:prstGeom prst="rect">
            <a:avLst/>
          </a:prstGeom>
          <a:noFill/>
        </p:spPr>
        <p:txBody>
          <a:bodyPr wrap="square" lIns="0" rIns="0" tIns="0" bIns="0" anchor="t">
            <a:spAutoFit/>
          </a:bodyPr>
          <a:lstStyle/>
          <a:p>
            <a:pPr algn="l">
              <a:lnSpc>
                <a:spcPct val="115000"/>
              </a:lnSpc>
            </a:pPr>
            <a:r>
              <a:rPr sz="1100" b="0" i="0">
                <a:solidFill>
                  <a:srgbClr val="21295C"/>
                </a:solidFill>
                <a:latin typeface="Arial"/>
              </a:rPr>
              <a:t>· +10–15% yield</a:t>
            </a:r>
          </a:p>
        </p:txBody>
      </p:sp>
      <p:sp>
        <p:nvSpPr>
          <p:cNvPr id="21" name="TextBox 20"/>
          <p:cNvSpPr txBox="1"/>
          <p:nvPr/>
        </p:nvSpPr>
        <p:spPr>
          <a:xfrm>
            <a:off x="4480559" y="4882896"/>
            <a:ext cx="3337560" cy="274320"/>
          </a:xfrm>
          <a:prstGeom prst="rect">
            <a:avLst/>
          </a:prstGeom>
          <a:noFill/>
        </p:spPr>
        <p:txBody>
          <a:bodyPr wrap="square" lIns="0" rIns="0" tIns="0" bIns="0" anchor="t">
            <a:spAutoFit/>
          </a:bodyPr>
          <a:lstStyle/>
          <a:p>
            <a:pPr algn="l">
              <a:lnSpc>
                <a:spcPct val="115000"/>
              </a:lnSpc>
            </a:pPr>
            <a:r>
              <a:rPr sz="1100" b="0" i="0">
                <a:solidFill>
                  <a:srgbClr val="21295C"/>
                </a:solidFill>
                <a:latin typeface="Arial"/>
              </a:rPr>
              <a:t>· Сотни миллионов $ в год</a:t>
            </a:r>
          </a:p>
        </p:txBody>
      </p:sp>
      <p:sp>
        <p:nvSpPr>
          <p:cNvPr id="22" name="Rounded Rectangle 21"/>
          <p:cNvSpPr/>
          <p:nvPr/>
        </p:nvSpPr>
        <p:spPr>
          <a:xfrm>
            <a:off x="4434840" y="5257800"/>
            <a:ext cx="3337560" cy="45720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26279" y="5303520"/>
            <a:ext cx="3154679" cy="365760"/>
          </a:xfrm>
          <a:prstGeom prst="rect">
            <a:avLst/>
          </a:prstGeom>
          <a:noFill/>
        </p:spPr>
        <p:txBody>
          <a:bodyPr wrap="square" lIns="0" rIns="0" tIns="0" bIns="0" anchor="ctr">
            <a:spAutoFit/>
          </a:bodyPr>
          <a:lstStyle/>
          <a:p>
            <a:pPr algn="l">
              <a:lnSpc>
                <a:spcPct val="115000"/>
              </a:lnSpc>
            </a:pPr>
            <a:r>
              <a:rPr sz="1000" b="0" i="1">
                <a:solidFill>
                  <a:srgbClr val="21295C"/>
                </a:solidFill>
                <a:latin typeface="Arial"/>
              </a:rPr>
              <a:t>Самый зрелый CV-кейс в производстве чипов</a:t>
            </a:r>
          </a:p>
        </p:txBody>
      </p:sp>
      <p:sp>
        <p:nvSpPr>
          <p:cNvPr id="24" name="Rounded Rectangle 23"/>
          <p:cNvSpPr/>
          <p:nvPr/>
        </p:nvSpPr>
        <p:spPr>
          <a:xfrm>
            <a:off x="8046719" y="1600200"/>
            <a:ext cx="3703320" cy="420624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046719" y="1600200"/>
            <a:ext cx="3703320" cy="64008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6719" y="1645920"/>
            <a:ext cx="3703320" cy="548640"/>
          </a:xfrm>
          <a:prstGeom prst="rect">
            <a:avLst/>
          </a:prstGeom>
          <a:noFill/>
        </p:spPr>
        <p:txBody>
          <a:bodyPr wrap="square" lIns="0" rIns="0" tIns="0" bIns="0" anchor="ctr">
            <a:spAutoFit/>
          </a:bodyPr>
          <a:lstStyle/>
          <a:p>
            <a:pPr algn="ctr">
              <a:lnSpc>
                <a:spcPct val="115000"/>
              </a:lnSpc>
            </a:pPr>
            <a:r>
              <a:rPr sz="1700" b="1" i="0">
                <a:solidFill>
                  <a:srgbClr val="FFFFFF"/>
                </a:solidFill>
                <a:latin typeface="Arial"/>
              </a:rPr>
              <a:t>Boeing 737 fuselage</a:t>
            </a:r>
          </a:p>
        </p:txBody>
      </p:sp>
      <p:sp>
        <p:nvSpPr>
          <p:cNvPr id="27" name="TextBox 26"/>
          <p:cNvSpPr txBox="1"/>
          <p:nvPr/>
        </p:nvSpPr>
        <p:spPr>
          <a:xfrm>
            <a:off x="8183879" y="2377440"/>
            <a:ext cx="3429000" cy="320040"/>
          </a:xfrm>
          <a:prstGeom prst="rect">
            <a:avLst/>
          </a:prstGeom>
          <a:noFill/>
        </p:spPr>
        <p:txBody>
          <a:bodyPr wrap="square" lIns="0" rIns="0" tIns="0" bIns="0" anchor="t">
            <a:spAutoFit/>
          </a:bodyPr>
          <a:lstStyle/>
          <a:p>
            <a:pPr algn="ctr">
              <a:lnSpc>
                <a:spcPct val="115000"/>
              </a:lnSpc>
            </a:pPr>
            <a:r>
              <a:rPr sz="1100" b="0" i="1">
                <a:solidFill>
                  <a:srgbClr val="6B7685"/>
                </a:solidFill>
                <a:latin typeface="Arial"/>
              </a:rPr>
              <a:t>декабрь 2025</a:t>
            </a:r>
          </a:p>
        </p:txBody>
      </p:sp>
      <p:pic>
        <p:nvPicPr>
          <p:cNvPr id="28" name="Picture 27" descr="shield-check.png"/>
          <p:cNvPicPr>
            <a:picLocks noChangeAspect="1"/>
          </p:cNvPicPr>
          <p:nvPr/>
        </p:nvPicPr>
        <p:blipFill>
          <a:blip r:embed="rId4"/>
          <a:stretch>
            <a:fillRect/>
          </a:stretch>
        </p:blipFill>
        <p:spPr>
          <a:xfrm>
            <a:off x="9349740" y="2880360"/>
            <a:ext cx="1097280" cy="1097280"/>
          </a:xfrm>
          <a:prstGeom prst="rect">
            <a:avLst/>
          </a:prstGeom>
        </p:spPr>
      </p:pic>
      <p:sp>
        <p:nvSpPr>
          <p:cNvPr id="29" name="TextBox 28"/>
          <p:cNvSpPr txBox="1"/>
          <p:nvPr/>
        </p:nvSpPr>
        <p:spPr>
          <a:xfrm>
            <a:off x="8275319" y="4297680"/>
            <a:ext cx="3337560" cy="274320"/>
          </a:xfrm>
          <a:prstGeom prst="rect">
            <a:avLst/>
          </a:prstGeom>
          <a:noFill/>
        </p:spPr>
        <p:txBody>
          <a:bodyPr wrap="square" lIns="0" rIns="0" tIns="0" bIns="0" anchor="t">
            <a:spAutoFit/>
          </a:bodyPr>
          <a:lstStyle/>
          <a:p>
            <a:pPr algn="l">
              <a:lnSpc>
                <a:spcPct val="115000"/>
              </a:lnSpc>
            </a:pPr>
            <a:r>
              <a:rPr sz="1100" b="0" i="0">
                <a:solidFill>
                  <a:srgbClr val="21295C"/>
                </a:solidFill>
                <a:latin typeface="Arial"/>
              </a:rPr>
              <a:t>· Post-door-plug crisis</a:t>
            </a:r>
          </a:p>
        </p:txBody>
      </p:sp>
      <p:sp>
        <p:nvSpPr>
          <p:cNvPr id="30" name="TextBox 29"/>
          <p:cNvSpPr txBox="1"/>
          <p:nvPr/>
        </p:nvSpPr>
        <p:spPr>
          <a:xfrm>
            <a:off x="8275319" y="4590288"/>
            <a:ext cx="3337560" cy="274320"/>
          </a:xfrm>
          <a:prstGeom prst="rect">
            <a:avLst/>
          </a:prstGeom>
          <a:noFill/>
        </p:spPr>
        <p:txBody>
          <a:bodyPr wrap="square" lIns="0" rIns="0" tIns="0" bIns="0" anchor="t">
            <a:spAutoFit/>
          </a:bodyPr>
          <a:lstStyle/>
          <a:p>
            <a:pPr algn="l">
              <a:lnSpc>
                <a:spcPct val="115000"/>
              </a:lnSpc>
            </a:pPr>
            <a:r>
              <a:rPr sz="1100" b="0" i="0">
                <a:solidFill>
                  <a:srgbClr val="21295C"/>
                </a:solidFill>
                <a:latin typeface="Arial"/>
              </a:rPr>
              <a:t>· Photo-driven part validation</a:t>
            </a:r>
          </a:p>
        </p:txBody>
      </p:sp>
      <p:sp>
        <p:nvSpPr>
          <p:cNvPr id="31" name="TextBox 30"/>
          <p:cNvSpPr txBox="1"/>
          <p:nvPr/>
        </p:nvSpPr>
        <p:spPr>
          <a:xfrm>
            <a:off x="8275319" y="4882896"/>
            <a:ext cx="3337560" cy="274320"/>
          </a:xfrm>
          <a:prstGeom prst="rect">
            <a:avLst/>
          </a:prstGeom>
          <a:noFill/>
        </p:spPr>
        <p:txBody>
          <a:bodyPr wrap="square" lIns="0" rIns="0" tIns="0" bIns="0" anchor="t">
            <a:spAutoFit/>
          </a:bodyPr>
          <a:lstStyle/>
          <a:p>
            <a:pPr algn="l">
              <a:lnSpc>
                <a:spcPct val="115000"/>
              </a:lnSpc>
            </a:pPr>
            <a:r>
              <a:rPr sz="1100" b="0" i="0">
                <a:solidFill>
                  <a:srgbClr val="21295C"/>
                </a:solidFill>
                <a:latin typeface="Arial"/>
              </a:rPr>
              <a:t>· Дополнительный слой</a:t>
            </a:r>
          </a:p>
        </p:txBody>
      </p:sp>
      <p:sp>
        <p:nvSpPr>
          <p:cNvPr id="32" name="Rounded Rectangle 31"/>
          <p:cNvSpPr/>
          <p:nvPr/>
        </p:nvSpPr>
        <p:spPr>
          <a:xfrm>
            <a:off x="8229599" y="5257800"/>
            <a:ext cx="3337560" cy="45720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21040" y="5303520"/>
            <a:ext cx="3154679" cy="365760"/>
          </a:xfrm>
          <a:prstGeom prst="rect">
            <a:avLst/>
          </a:prstGeom>
          <a:noFill/>
        </p:spPr>
        <p:txBody>
          <a:bodyPr wrap="square" lIns="0" rIns="0" tIns="0" bIns="0" anchor="ctr">
            <a:spAutoFit/>
          </a:bodyPr>
          <a:lstStyle/>
          <a:p>
            <a:pPr algn="l">
              <a:lnSpc>
                <a:spcPct val="115000"/>
              </a:lnSpc>
            </a:pPr>
            <a:r>
              <a:rPr sz="1000" b="0" i="1">
                <a:solidFill>
                  <a:srgbClr val="21295C"/>
                </a:solidFill>
                <a:latin typeface="Arial"/>
              </a:rPr>
              <a:t>CV-инспекция критических зон fuselage</a:t>
            </a:r>
          </a:p>
        </p:txBody>
      </p:sp>
      <p:sp>
        <p:nvSpPr>
          <p:cNvPr id="34" name="Rounded Rectangle 33"/>
          <p:cNvSpPr/>
          <p:nvPr/>
        </p:nvSpPr>
        <p:spPr>
          <a:xfrm>
            <a:off x="457200" y="5943600"/>
            <a:ext cx="11274552" cy="50292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 y="5989320"/>
            <a:ext cx="10972800" cy="457200"/>
          </a:xfrm>
          <a:prstGeom prst="rect">
            <a:avLst/>
          </a:prstGeom>
          <a:noFill/>
        </p:spPr>
        <p:txBody>
          <a:bodyPr wrap="square" lIns="0" rIns="0" tIns="0" bIns="0" anchor="ctr">
            <a:spAutoFit/>
          </a:bodyPr>
          <a:lstStyle/>
          <a:p>
            <a:pPr algn="ctr">
              <a:lnSpc>
                <a:spcPct val="115000"/>
              </a:lnSpc>
            </a:pPr>
            <a:r>
              <a:rPr sz="1300" b="1" i="0">
                <a:solidFill>
                  <a:srgbClr val="21295C"/>
                </a:solidFill>
                <a:latin typeface="Arial"/>
              </a:rPr>
              <a:t>Общее: defect rate 1–2% → class imbalance → разметка — рычаг (s16)</a:t>
            </a:r>
          </a:p>
        </p:txBody>
      </p:sp>
      <p:sp>
        <p:nvSpPr>
          <p:cNvPr id="36" name="TextBox 35"/>
          <p:cNvSpPr txBox="1"/>
          <p:nvPr/>
        </p:nvSpPr>
        <p:spPr>
          <a:xfrm>
            <a:off x="457200" y="6355080"/>
            <a:ext cx="11274552"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BMW Press 2025 · TSMC · Boeing · Wikimedia CC-BY-SA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800" b="1" i="0">
                <a:solidFill>
                  <a:srgbClr val="21295C"/>
                </a:solidFill>
                <a:latin typeface="Arial"/>
              </a:rPr>
              <a:t>CV — последняя линия защиты, не первая</a:t>
            </a:r>
          </a:p>
        </p:txBody>
      </p:sp>
      <p:sp>
        <p:nvSpPr>
          <p:cNvPr id="3" name="TextBox 2"/>
          <p:cNvSpPr txBox="1"/>
          <p:nvPr/>
        </p:nvSpPr>
        <p:spPr>
          <a:xfrm>
            <a:off x="457200" y="1051560"/>
            <a:ext cx="11274552" cy="365760"/>
          </a:xfrm>
          <a:prstGeom prst="rect">
            <a:avLst/>
          </a:prstGeom>
          <a:noFill/>
        </p:spPr>
        <p:txBody>
          <a:bodyPr wrap="square" lIns="0" rIns="0" tIns="0" bIns="0" anchor="t">
            <a:spAutoFit/>
          </a:bodyPr>
          <a:lstStyle/>
          <a:p>
            <a:pPr algn="l">
              <a:lnSpc>
                <a:spcPct val="115000"/>
              </a:lnSpc>
            </a:pPr>
            <a:r>
              <a:rPr sz="1400" b="0" i="1">
                <a:solidFill>
                  <a:srgbClr val="1C7293"/>
                </a:solidFill>
                <a:latin typeface="Arial"/>
              </a:rPr>
              <a:t>Alaska Airlines 1282 · Boeing 737 MAX 9 · 5 января 2024</a:t>
            </a:r>
          </a:p>
        </p:txBody>
      </p:sp>
      <p:sp>
        <p:nvSpPr>
          <p:cNvPr id="4" name="Rounded Rectangle 3"/>
          <p:cNvSpPr/>
          <p:nvPr/>
        </p:nvSpPr>
        <p:spPr>
          <a:xfrm>
            <a:off x="457200" y="1600200"/>
            <a:ext cx="4572000" cy="384048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15-alaska-737-max9.jpg"/>
          <p:cNvPicPr>
            <a:picLocks noChangeAspect="1"/>
          </p:cNvPicPr>
          <p:nvPr/>
        </p:nvPicPr>
        <p:blipFill>
          <a:blip r:embed="rId2"/>
          <a:stretch>
            <a:fillRect/>
          </a:stretch>
        </p:blipFill>
        <p:spPr>
          <a:xfrm>
            <a:off x="594360" y="1737360"/>
            <a:ext cx="4297680" cy="3566160"/>
          </a:xfrm>
          <a:prstGeom prst="rect">
            <a:avLst/>
          </a:prstGeom>
        </p:spPr>
      </p:pic>
      <p:sp>
        <p:nvSpPr>
          <p:cNvPr id="6" name="TextBox 5"/>
          <p:cNvSpPr txBox="1"/>
          <p:nvPr/>
        </p:nvSpPr>
        <p:spPr>
          <a:xfrm>
            <a:off x="457200" y="5349240"/>
            <a:ext cx="4572000"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Alaska 737 MAX 9 N704AL · Wikimedia CC-BY-SA</a:t>
            </a:r>
          </a:p>
        </p:txBody>
      </p:sp>
      <p:sp>
        <p:nvSpPr>
          <p:cNvPr id="7" name="TextBox 6"/>
          <p:cNvSpPr txBox="1"/>
          <p:nvPr/>
        </p:nvSpPr>
        <p:spPr>
          <a:xfrm>
            <a:off x="5212080" y="1600200"/>
            <a:ext cx="6583680" cy="4572000"/>
          </a:xfrm>
          <a:prstGeom prst="rect">
            <a:avLst/>
          </a:prstGeom>
          <a:noFill/>
        </p:spPr>
        <p:txBody>
          <a:bodyPr wrap="square" lIns="0" rIns="0" tIns="0" bIns="0" anchor="t">
            <a:spAutoFit/>
          </a:bodyPr>
          <a:lstStyle/>
          <a:p>
            <a:pPr algn="l">
              <a:lnSpc>
                <a:spcPct val="130000"/>
              </a:lnSpc>
            </a:pPr>
            <a:r>
              <a:rPr sz="1600" b="1" i="0">
                <a:solidFill>
                  <a:srgbClr val="065A82"/>
                </a:solidFill>
                <a:latin typeface="Arial"/>
              </a:rPr>
              <a:t>Что произошло</a:t>
            </a:r>
          </a:p>
          <a:p>
            <a:pPr algn="l">
              <a:lnSpc>
                <a:spcPct val="130000"/>
              </a:lnSpc>
            </a:pPr>
            <a:r>
              <a:rPr sz="1200" b="0" i="0">
                <a:solidFill>
                  <a:srgbClr val="21295C"/>
                </a:solidFill>
                <a:latin typeface="Arial"/>
              </a:rPr>
              <a:t>Высота 16 000 футов. Door plug — заглушка аварийного выхода — вылетела. Все 171 пассажир и 6 экипажа выжили.</a:t>
            </a:r>
          </a:p>
          <a:p>
            <a:pPr algn="l">
              <a:lnSpc>
                <a:spcPct val="130000"/>
              </a:lnSpc>
            </a:pPr>
            <a:r>
              <a:rPr sz="800" b="0" i="0">
                <a:solidFill>
                  <a:srgbClr val="21295C"/>
                </a:solidFill>
                <a:latin typeface="Arial"/>
              </a:rPr>
              <a:t/>
            </a:r>
          </a:p>
          <a:p>
            <a:pPr algn="l">
              <a:lnSpc>
                <a:spcPct val="130000"/>
              </a:lnSpc>
            </a:pPr>
            <a:r>
              <a:rPr sz="1600" b="1" i="0">
                <a:solidFill>
                  <a:srgbClr val="065A82"/>
                </a:solidFill>
                <a:latin typeface="Arial"/>
              </a:rPr>
              <a:t>Причина</a:t>
            </a:r>
          </a:p>
          <a:p>
            <a:pPr algn="l">
              <a:lnSpc>
                <a:spcPct val="130000"/>
              </a:lnSpc>
            </a:pPr>
            <a:r>
              <a:rPr sz="1200" b="0" i="0">
                <a:solidFill>
                  <a:srgbClr val="21295C"/>
                </a:solidFill>
                <a:latin typeface="Arial"/>
              </a:rPr>
              <a:t>Механики Boeing Renton сняли door plug для ремонта рядом, не задокументировали, переустановили БЕЗ четырёх крепёжных болтов.</a:t>
            </a:r>
          </a:p>
          <a:p>
            <a:pPr algn="l">
              <a:lnSpc>
                <a:spcPct val="130000"/>
              </a:lnSpc>
            </a:pPr>
            <a:r>
              <a:rPr sz="800" b="0" i="0">
                <a:solidFill>
                  <a:srgbClr val="21295C"/>
                </a:solidFill>
                <a:latin typeface="Arial"/>
              </a:rPr>
              <a:t/>
            </a:r>
          </a:p>
          <a:p>
            <a:pPr algn="l">
              <a:lnSpc>
                <a:spcPct val="130000"/>
              </a:lnSpc>
            </a:pPr>
            <a:r>
              <a:rPr sz="1600" b="1" i="0">
                <a:solidFill>
                  <a:srgbClr val="065A82"/>
                </a:solidFill>
                <a:latin typeface="Arial"/>
              </a:rPr>
              <a:t>Где была CV-инспекция</a:t>
            </a:r>
          </a:p>
          <a:p>
            <a:pPr algn="l">
              <a:lnSpc>
                <a:spcPct val="130000"/>
              </a:lnSpc>
            </a:pPr>
            <a:r>
              <a:rPr sz="1200" b="0" i="0">
                <a:solidFill>
                  <a:srgbClr val="21295C"/>
                </a:solidFill>
                <a:latin typeface="Arial"/>
              </a:rPr>
              <a:t>AI видит «дверь стоит на месте». Болты ЗАКРЫТЫ обшивкой — AI их физически не видит.</a:t>
            </a:r>
          </a:p>
          <a:p>
            <a:pPr algn="l">
              <a:lnSpc>
                <a:spcPct val="130000"/>
              </a:lnSpc>
            </a:pPr>
            <a:r>
              <a:rPr sz="800" b="0" i="0">
                <a:solidFill>
                  <a:srgbClr val="21295C"/>
                </a:solidFill>
                <a:latin typeface="Arial"/>
              </a:rPr>
              <a:t/>
            </a:r>
          </a:p>
          <a:p>
            <a:pPr algn="l">
              <a:lnSpc>
                <a:spcPct val="130000"/>
              </a:lnSpc>
            </a:pPr>
            <a:r>
              <a:rPr sz="1600" b="1" i="0">
                <a:solidFill>
                  <a:srgbClr val="065A82"/>
                </a:solidFill>
                <a:latin typeface="Arial"/>
              </a:rPr>
              <a:t>Последствия</a:t>
            </a:r>
          </a:p>
          <a:p>
            <a:pPr algn="l">
              <a:lnSpc>
                <a:spcPct val="130000"/>
              </a:lnSpc>
            </a:pPr>
            <a:r>
              <a:rPr sz="1200" b="0" i="0">
                <a:solidFill>
                  <a:srgbClr val="21295C"/>
                </a:solidFill>
                <a:latin typeface="Arial"/>
              </a:rPr>
              <a:t>FAA cap 38/мес · Spirit AeroSystems — 50 fuselages rework · Everett задержан 12 мес · ~$1B+ direct</a:t>
            </a:r>
          </a:p>
        </p:txBody>
      </p:sp>
      <p:sp>
        <p:nvSpPr>
          <p:cNvPr id="8" name="Rounded Rectangle 7"/>
          <p:cNvSpPr/>
          <p:nvPr/>
        </p:nvSpPr>
        <p:spPr>
          <a:xfrm>
            <a:off x="457200" y="5897880"/>
            <a:ext cx="11274552" cy="50292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943600"/>
            <a:ext cx="10972800" cy="411480"/>
          </a:xfrm>
          <a:prstGeom prst="rect">
            <a:avLst/>
          </a:prstGeom>
          <a:noFill/>
        </p:spPr>
        <p:txBody>
          <a:bodyPr wrap="square" lIns="0" rIns="0" tIns="0" bIns="0" anchor="ctr">
            <a:spAutoFit/>
          </a:bodyPr>
          <a:lstStyle/>
          <a:p>
            <a:pPr algn="ctr">
              <a:lnSpc>
                <a:spcPct val="115000"/>
              </a:lnSpc>
            </a:pPr>
            <a:r>
              <a:rPr sz="1400" b="1" i="0">
                <a:solidFill>
                  <a:srgbClr val="21295C"/>
                </a:solidFill>
                <a:latin typeface="Arial"/>
              </a:rPr>
              <a:t>«CV — последняя линия защиты, не первая. Без upstream sign-off + audit trail AI не починит.»</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800" b="1" i="0">
                <a:solidFill>
                  <a:srgbClr val="21295C"/>
                </a:solidFill>
                <a:latin typeface="Arial"/>
              </a:rPr>
              <a:t>Эталонная разметка — дорого. Данные — дёшево.</a:t>
            </a:r>
          </a:p>
        </p:txBody>
      </p:sp>
      <p:sp>
        <p:nvSpPr>
          <p:cNvPr id="3" name="TextBox 2"/>
          <p:cNvSpPr txBox="1"/>
          <p:nvPr/>
        </p:nvSpPr>
        <p:spPr>
          <a:xfrm>
            <a:off x="457200" y="1051560"/>
            <a:ext cx="11274552" cy="365760"/>
          </a:xfrm>
          <a:prstGeom prst="rect">
            <a:avLst/>
          </a:prstGeom>
          <a:noFill/>
        </p:spPr>
        <p:txBody>
          <a:bodyPr wrap="square" lIns="0" rIns="0" tIns="0" bIns="0" anchor="t">
            <a:spAutoFit/>
          </a:bodyPr>
          <a:lstStyle/>
          <a:p>
            <a:pPr algn="l">
              <a:lnSpc>
                <a:spcPct val="115000"/>
              </a:lnSpc>
            </a:pPr>
            <a:r>
              <a:rPr sz="1400" b="0" i="1">
                <a:solidFill>
                  <a:srgbClr val="1C7293"/>
                </a:solidFill>
                <a:latin typeface="Arial"/>
              </a:rPr>
              <a:t>Первый критерий категории «данные» в §4 — есть ли разметка adequate volume</a:t>
            </a:r>
          </a:p>
        </p:txBody>
      </p:sp>
      <p:sp>
        <p:nvSpPr>
          <p:cNvPr id="4" name="Rounded Rectangle 3"/>
          <p:cNvSpPr/>
          <p:nvPr/>
        </p:nvSpPr>
        <p:spPr>
          <a:xfrm>
            <a:off x="457200" y="1600200"/>
            <a:ext cx="5486400" cy="3840480"/>
          </a:xfrm>
          <a:prstGeom prst="roundRect">
            <a:avLst>
              <a:gd name="adj" fmla="val 10000"/>
            </a:avLst>
          </a:prstGeom>
          <a:solidFill>
            <a:srgbClr val="F4F7FA"/>
          </a:solidFill>
          <a:ln w="254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37360"/>
            <a:ext cx="5120640" cy="457200"/>
          </a:xfrm>
          <a:prstGeom prst="rect">
            <a:avLst/>
          </a:prstGeom>
          <a:noFill/>
        </p:spPr>
        <p:txBody>
          <a:bodyPr wrap="square" lIns="0" rIns="0" tIns="0" bIns="0" anchor="t">
            <a:spAutoFit/>
          </a:bodyPr>
          <a:lstStyle/>
          <a:p>
            <a:pPr algn="l">
              <a:lnSpc>
                <a:spcPct val="115000"/>
              </a:lnSpc>
            </a:pPr>
            <a:r>
              <a:rPr sz="1600" b="1" i="0">
                <a:solidFill>
                  <a:srgbClr val="028090"/>
                </a:solidFill>
                <a:latin typeface="Arial"/>
              </a:rPr>
              <a:t>ДЁШЕВО — сырые данные</a:t>
            </a:r>
          </a:p>
        </p:txBody>
      </p:sp>
      <p:sp>
        <p:nvSpPr>
          <p:cNvPr id="6" name="TextBox 5"/>
          <p:cNvSpPr txBox="1"/>
          <p:nvPr/>
        </p:nvSpPr>
        <p:spPr>
          <a:xfrm>
            <a:off x="777240" y="2286000"/>
            <a:ext cx="4937760" cy="3108960"/>
          </a:xfrm>
          <a:prstGeom prst="rect">
            <a:avLst/>
          </a:prstGeom>
          <a:noFill/>
        </p:spPr>
        <p:txBody>
          <a:bodyPr wrap="square" lIns="0" rIns="0" tIns="0" bIns="0" anchor="t">
            <a:spAutoFit/>
          </a:bodyPr>
          <a:lstStyle/>
          <a:p>
            <a:pPr algn="l">
              <a:lnSpc>
                <a:spcPct val="130000"/>
              </a:lnSpc>
            </a:pPr>
            <a:r>
              <a:rPr sz="1200" b="1" i="0">
                <a:solidFill>
                  <a:srgbClr val="21295C"/>
                </a:solidFill>
                <a:latin typeface="Arial"/>
              </a:rPr>
              <a:t>Камеры записывают непрерывно:</a:t>
            </a:r>
          </a:p>
          <a:p>
            <a:pPr algn="l">
              <a:lnSpc>
                <a:spcPct val="130000"/>
              </a:lnSpc>
            </a:pPr>
            <a:r>
              <a:rPr sz="1200" b="0" i="0">
                <a:solidFill>
                  <a:srgbClr val="21295C"/>
                </a:solidFill>
                <a:latin typeface="Arial"/>
              </a:rPr>
              <a:t>· 10 ТБ изображений за смену</a:t>
            </a:r>
          </a:p>
          <a:p>
            <a:pPr algn="l">
              <a:lnSpc>
                <a:spcPct val="130000"/>
              </a:lnSpc>
            </a:pPr>
            <a:r>
              <a:rPr sz="600" b="0" i="0">
                <a:solidFill>
                  <a:srgbClr val="21295C"/>
                </a:solidFill>
                <a:latin typeface="Arial"/>
              </a:rPr>
              <a:t/>
            </a:r>
          </a:p>
          <a:p>
            <a:pPr algn="l">
              <a:lnSpc>
                <a:spcPct val="130000"/>
              </a:lnSpc>
            </a:pPr>
            <a:r>
              <a:rPr sz="1200" b="1" i="0">
                <a:solidFill>
                  <a:srgbClr val="21295C"/>
                </a:solidFill>
                <a:latin typeface="Arial"/>
              </a:rPr>
              <a:t>Сенсоры IoT:</a:t>
            </a:r>
          </a:p>
          <a:p>
            <a:pPr algn="l">
              <a:lnSpc>
                <a:spcPct val="130000"/>
              </a:lnSpc>
            </a:pPr>
            <a:r>
              <a:rPr sz="1200" b="0" i="0">
                <a:solidFill>
                  <a:srgbClr val="21295C"/>
                </a:solidFill>
                <a:latin typeface="Arial"/>
              </a:rPr>
              <a:t>· Температура, давление, вибрация</a:t>
            </a:r>
          </a:p>
          <a:p>
            <a:pPr algn="l">
              <a:lnSpc>
                <a:spcPct val="130000"/>
              </a:lnSpc>
            </a:pPr>
            <a:r>
              <a:rPr sz="1200" b="0" i="0">
                <a:solidFill>
                  <a:srgbClr val="21295C"/>
                </a:solidFill>
                <a:latin typeface="Arial"/>
              </a:rPr>
              <a:t>· Гигабайты в день, копейки на ГБ</a:t>
            </a:r>
          </a:p>
          <a:p>
            <a:pPr algn="l">
              <a:lnSpc>
                <a:spcPct val="130000"/>
              </a:lnSpc>
            </a:pPr>
            <a:r>
              <a:rPr sz="600" b="0" i="0">
                <a:solidFill>
                  <a:srgbClr val="21295C"/>
                </a:solidFill>
                <a:latin typeface="Arial"/>
              </a:rPr>
              <a:t/>
            </a:r>
          </a:p>
          <a:p>
            <a:pPr algn="l">
              <a:lnSpc>
                <a:spcPct val="130000"/>
              </a:lnSpc>
            </a:pPr>
            <a:r>
              <a:rPr sz="1200" b="1" i="0">
                <a:solidFill>
                  <a:srgbClr val="21295C"/>
                </a:solidFill>
                <a:latin typeface="Arial"/>
              </a:rPr>
              <a:t>SCADA-архив:</a:t>
            </a:r>
          </a:p>
          <a:p>
            <a:pPr algn="l">
              <a:lnSpc>
                <a:spcPct val="130000"/>
              </a:lnSpc>
            </a:pPr>
            <a:r>
              <a:rPr sz="1200" b="0" i="0">
                <a:solidFill>
                  <a:srgbClr val="21295C"/>
                </a:solidFill>
                <a:latin typeface="Arial"/>
              </a:rPr>
              <a:t>· Storage стоит, но данные доступны</a:t>
            </a:r>
          </a:p>
        </p:txBody>
      </p:sp>
      <p:sp>
        <p:nvSpPr>
          <p:cNvPr id="7" name="Rounded Rectangle 6"/>
          <p:cNvSpPr/>
          <p:nvPr/>
        </p:nvSpPr>
        <p:spPr>
          <a:xfrm>
            <a:off x="6126480" y="1600200"/>
            <a:ext cx="5605272" cy="384048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60" y="1737360"/>
            <a:ext cx="5212080" cy="457200"/>
          </a:xfrm>
          <a:prstGeom prst="rect">
            <a:avLst/>
          </a:prstGeom>
          <a:noFill/>
        </p:spPr>
        <p:txBody>
          <a:bodyPr wrap="square" lIns="0" rIns="0" tIns="0" bIns="0" anchor="t">
            <a:spAutoFit/>
          </a:bodyPr>
          <a:lstStyle/>
          <a:p>
            <a:pPr algn="l">
              <a:lnSpc>
                <a:spcPct val="115000"/>
              </a:lnSpc>
            </a:pPr>
            <a:r>
              <a:rPr sz="1600" b="1" i="0">
                <a:solidFill>
                  <a:srgbClr val="F0AB00"/>
                </a:solidFill>
                <a:latin typeface="Arial"/>
              </a:rPr>
              <a:t>ДОРОГО — эталонная разметка</a:t>
            </a:r>
          </a:p>
        </p:txBody>
      </p:sp>
      <p:sp>
        <p:nvSpPr>
          <p:cNvPr id="9" name="TextBox 8"/>
          <p:cNvSpPr txBox="1"/>
          <p:nvPr/>
        </p:nvSpPr>
        <p:spPr>
          <a:xfrm>
            <a:off x="6446520" y="2286000"/>
            <a:ext cx="5029200" cy="3108960"/>
          </a:xfrm>
          <a:prstGeom prst="rect">
            <a:avLst/>
          </a:prstGeom>
          <a:noFill/>
        </p:spPr>
        <p:txBody>
          <a:bodyPr wrap="square" lIns="0" rIns="0" tIns="0" bIns="0" anchor="t">
            <a:spAutoFit/>
          </a:bodyPr>
          <a:lstStyle/>
          <a:p>
            <a:pPr algn="l">
              <a:lnSpc>
                <a:spcPct val="130000"/>
              </a:lnSpc>
            </a:pPr>
            <a:r>
              <a:rPr sz="1200" b="1" i="0">
                <a:solidFill>
                  <a:srgbClr val="21295C"/>
                </a:solidFill>
                <a:latin typeface="Arial"/>
              </a:rPr>
              <a:t>1 час domain-эксперта:</a:t>
            </a:r>
          </a:p>
          <a:p>
            <a:pPr algn="l">
              <a:lnSpc>
                <a:spcPct val="130000"/>
              </a:lnSpc>
            </a:pPr>
            <a:r>
              <a:rPr sz="1200" b="0" i="0">
                <a:solidFill>
                  <a:srgbClr val="21295C"/>
                </a:solidFill>
                <a:latin typeface="Arial"/>
              </a:rPr>
              <a:t>· 500–2000 ₽ в РФ / $50–200 на западе</a:t>
            </a:r>
          </a:p>
          <a:p>
            <a:pPr algn="l">
              <a:lnSpc>
                <a:spcPct val="130000"/>
              </a:lnSpc>
            </a:pPr>
            <a:r>
              <a:rPr sz="600" b="0" i="0">
                <a:solidFill>
                  <a:srgbClr val="21295C"/>
                </a:solidFill>
                <a:latin typeface="Arial"/>
              </a:rPr>
              <a:t/>
            </a:r>
          </a:p>
          <a:p>
            <a:pPr algn="l">
              <a:lnSpc>
                <a:spcPct val="130000"/>
              </a:lnSpc>
            </a:pPr>
            <a:r>
              <a:rPr sz="1200" b="1" i="0">
                <a:solidFill>
                  <a:srgbClr val="21295C"/>
                </a:solidFill>
                <a:latin typeface="Arial"/>
              </a:rPr>
              <a:t>Размеченный пример рентгена сварного шва:</a:t>
            </a:r>
          </a:p>
          <a:p>
            <a:pPr algn="l">
              <a:lnSpc>
                <a:spcPct val="130000"/>
              </a:lnSpc>
            </a:pPr>
            <a:r>
              <a:rPr sz="1200" b="0" i="0">
                <a:solidFill>
                  <a:srgbClr val="21295C"/>
                </a:solidFill>
                <a:latin typeface="Arial"/>
              </a:rPr>
              <a:t>· 5–15 минут эксперта</a:t>
            </a:r>
          </a:p>
          <a:p>
            <a:pPr algn="l">
              <a:lnSpc>
                <a:spcPct val="130000"/>
              </a:lnSpc>
            </a:pPr>
            <a:r>
              <a:rPr sz="600" b="0" i="0">
                <a:solidFill>
                  <a:srgbClr val="21295C"/>
                </a:solidFill>
                <a:latin typeface="Arial"/>
              </a:rPr>
              <a:t/>
            </a:r>
          </a:p>
          <a:p>
            <a:pPr algn="l">
              <a:lnSpc>
                <a:spcPct val="130000"/>
              </a:lnSpc>
            </a:pPr>
            <a:r>
              <a:rPr sz="1200" b="1" i="0">
                <a:solidFill>
                  <a:srgbClr val="21295C"/>
                </a:solidFill>
                <a:latin typeface="Arial"/>
              </a:rPr>
              <a:t>Class imbalance:</a:t>
            </a:r>
          </a:p>
          <a:p>
            <a:pPr algn="l">
              <a:lnSpc>
                <a:spcPct val="130000"/>
              </a:lnSpc>
            </a:pPr>
            <a:r>
              <a:rPr sz="1200" b="0" i="0">
                <a:solidFill>
                  <a:srgbClr val="21295C"/>
                </a:solidFill>
                <a:latin typeface="Arial"/>
              </a:rPr>
              <a:t>· Defect rate 1% → 1 дефект на 99 нормальных</a:t>
            </a:r>
          </a:p>
          <a:p>
            <a:pPr algn="l">
              <a:lnSpc>
                <a:spcPct val="130000"/>
              </a:lnSpc>
            </a:pPr>
            <a:r>
              <a:rPr sz="1200" b="0" i="0">
                <a:solidFill>
                  <a:srgbClr val="21295C"/>
                </a:solidFill>
                <a:latin typeface="Arial"/>
              </a:rPr>
              <a:t>· Для 1000 дефектов нужно ~100 000 примеров</a:t>
            </a:r>
          </a:p>
        </p:txBody>
      </p:sp>
      <p:sp>
        <p:nvSpPr>
          <p:cNvPr id="10" name="Rounded Rectangle 9"/>
          <p:cNvSpPr/>
          <p:nvPr/>
        </p:nvSpPr>
        <p:spPr>
          <a:xfrm>
            <a:off x="457200" y="5577840"/>
            <a:ext cx="11274552" cy="82296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623560"/>
            <a:ext cx="10972800" cy="365760"/>
          </a:xfrm>
          <a:prstGeom prst="rect">
            <a:avLst/>
          </a:prstGeom>
          <a:noFill/>
        </p:spPr>
        <p:txBody>
          <a:bodyPr wrap="square" lIns="0" rIns="0" tIns="0" bIns="0" anchor="t">
            <a:spAutoFit/>
          </a:bodyPr>
          <a:lstStyle/>
          <a:p>
            <a:pPr algn="l">
              <a:lnSpc>
                <a:spcPct val="115000"/>
              </a:lnSpc>
            </a:pPr>
            <a:r>
              <a:rPr sz="1200" b="1" i="0">
                <a:solidFill>
                  <a:srgbClr val="065A82"/>
                </a:solidFill>
                <a:latin typeface="Arial"/>
              </a:rPr>
              <a:t>Альтернативы (частично решают):</a:t>
            </a:r>
          </a:p>
        </p:txBody>
      </p:sp>
      <p:sp>
        <p:nvSpPr>
          <p:cNvPr id="12" name="TextBox 11"/>
          <p:cNvSpPr txBox="1"/>
          <p:nvPr/>
        </p:nvSpPr>
        <p:spPr>
          <a:xfrm>
            <a:off x="640080" y="5943600"/>
            <a:ext cx="10972800" cy="457200"/>
          </a:xfrm>
          <a:prstGeom prst="rect">
            <a:avLst/>
          </a:prstGeom>
          <a:noFill/>
        </p:spPr>
        <p:txBody>
          <a:bodyPr wrap="square" lIns="0" rIns="0" tIns="0" bIns="0" anchor="ctr">
            <a:spAutoFit/>
          </a:bodyPr>
          <a:lstStyle/>
          <a:p>
            <a:pPr algn="l">
              <a:lnSpc>
                <a:spcPct val="115000"/>
              </a:lnSpc>
            </a:pPr>
            <a:r>
              <a:rPr sz="1200" b="0" i="0">
                <a:solidFill>
                  <a:srgbClr val="21295C"/>
                </a:solidFill>
                <a:latin typeface="Arial"/>
              </a:rPr>
              <a:t>Synthetic data + transfer learning · Active learning · Rules-based + ML hybrid (rules ловят 70%, ML — оставшиеся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400" b="1" i="0">
                <a:solidFill>
                  <a:srgbClr val="21295C"/>
                </a:solidFill>
                <a:latin typeface="Arial"/>
              </a:rPr>
              <a:t>PdM на дискретном — vendor обещает, McKinsey говорит другое</a:t>
            </a:r>
          </a:p>
        </p:txBody>
      </p:sp>
      <p:sp>
        <p:nvSpPr>
          <p:cNvPr id="3" name="TextBox 2"/>
          <p:cNvSpPr txBox="1"/>
          <p:nvPr/>
        </p:nvSpPr>
        <p:spPr>
          <a:xfrm>
            <a:off x="457200" y="1005840"/>
            <a:ext cx="11274552" cy="365760"/>
          </a:xfrm>
          <a:prstGeom prst="rect">
            <a:avLst/>
          </a:prstGeom>
          <a:noFill/>
        </p:spPr>
        <p:txBody>
          <a:bodyPr wrap="square" lIns="0" rIns="0" tIns="0" bIns="0" anchor="t">
            <a:spAutoFit/>
          </a:bodyPr>
          <a:lstStyle/>
          <a:p>
            <a:pPr algn="l">
              <a:lnSpc>
                <a:spcPct val="115000"/>
              </a:lnSpc>
            </a:pPr>
            <a:r>
              <a:rPr sz="1400" b="0" i="1">
                <a:solidFill>
                  <a:srgbClr val="1C7293"/>
                </a:solidFill>
                <a:latin typeface="Arial"/>
              </a:rPr>
              <a:t>«–25% downtime» ≠ «+25% OEE» — третий вопрос к вендору</a:t>
            </a:r>
          </a:p>
        </p:txBody>
      </p:sp>
      <p:sp>
        <p:nvSpPr>
          <p:cNvPr id="4" name="Rounded Rectangle 3"/>
          <p:cNvSpPr/>
          <p:nvPr/>
        </p:nvSpPr>
        <p:spPr>
          <a:xfrm>
            <a:off x="457200" y="1554480"/>
            <a:ext cx="4114800" cy="219456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17-tata-port-talbot.jpg"/>
          <p:cNvPicPr>
            <a:picLocks noChangeAspect="1"/>
          </p:cNvPicPr>
          <p:nvPr/>
        </p:nvPicPr>
        <p:blipFill>
          <a:blip r:embed="rId2"/>
          <a:stretch>
            <a:fillRect/>
          </a:stretch>
        </p:blipFill>
        <p:spPr>
          <a:xfrm>
            <a:off x="594360" y="1691640"/>
            <a:ext cx="3840480" cy="1965960"/>
          </a:xfrm>
          <a:prstGeom prst="rect">
            <a:avLst/>
          </a:prstGeom>
        </p:spPr>
      </p:pic>
      <p:sp>
        <p:nvSpPr>
          <p:cNvPr id="6" name="TextBox 5"/>
          <p:cNvSpPr txBox="1"/>
          <p:nvPr/>
        </p:nvSpPr>
        <p:spPr>
          <a:xfrm>
            <a:off x="457200" y="3703320"/>
            <a:ext cx="4114800"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Tata Steel Port Talbot · Wikimedia</a:t>
            </a:r>
          </a:p>
        </p:txBody>
      </p:sp>
      <p:sp>
        <p:nvSpPr>
          <p:cNvPr id="7" name="Rounded Rectangle 6"/>
          <p:cNvSpPr/>
          <p:nvPr/>
        </p:nvSpPr>
        <p:spPr>
          <a:xfrm>
            <a:off x="4754880" y="1554480"/>
            <a:ext cx="6949440" cy="219456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37760" y="1691640"/>
            <a:ext cx="6583680" cy="365760"/>
          </a:xfrm>
          <a:prstGeom prst="rect">
            <a:avLst/>
          </a:prstGeom>
          <a:noFill/>
        </p:spPr>
        <p:txBody>
          <a:bodyPr wrap="square" lIns="0" rIns="0" tIns="0" bIns="0" anchor="t">
            <a:spAutoFit/>
          </a:bodyPr>
          <a:lstStyle/>
          <a:p>
            <a:pPr algn="l">
              <a:lnSpc>
                <a:spcPct val="115000"/>
              </a:lnSpc>
            </a:pPr>
            <a:r>
              <a:rPr sz="1300" b="1" i="0">
                <a:solidFill>
                  <a:srgbClr val="F0AB00"/>
                </a:solidFill>
                <a:latin typeface="Arial"/>
              </a:rPr>
              <a:t>VENDOR ОБЕЩАЕТ:</a:t>
            </a:r>
          </a:p>
        </p:txBody>
      </p:sp>
      <p:sp>
        <p:nvSpPr>
          <p:cNvPr id="9" name="TextBox 8"/>
          <p:cNvSpPr txBox="1"/>
          <p:nvPr/>
        </p:nvSpPr>
        <p:spPr>
          <a:xfrm>
            <a:off x="4937760" y="2103120"/>
            <a:ext cx="6583680" cy="1691640"/>
          </a:xfrm>
          <a:prstGeom prst="rect">
            <a:avLst/>
          </a:prstGeom>
          <a:noFill/>
        </p:spPr>
        <p:txBody>
          <a:bodyPr wrap="square" lIns="0" rIns="0" tIns="0" bIns="0" anchor="t">
            <a:spAutoFit/>
          </a:bodyPr>
          <a:lstStyle/>
          <a:p>
            <a:pPr algn="l">
              <a:lnSpc>
                <a:spcPct val="150000"/>
              </a:lnSpc>
            </a:pPr>
            <a:r>
              <a:rPr sz="1200" b="0" i="0">
                <a:solidFill>
                  <a:srgbClr val="21295C"/>
                </a:solidFill>
                <a:latin typeface="Arial"/>
              </a:rPr>
              <a:t>Tata Steel: «–20% downtime, –15% maintenance cost»</a:t>
            </a:r>
          </a:p>
          <a:p>
            <a:pPr algn="l">
              <a:lnSpc>
                <a:spcPct val="150000"/>
              </a:lnSpc>
            </a:pPr>
            <a:r>
              <a:rPr sz="1200" b="0" i="0">
                <a:solidFill>
                  <a:srgbClr val="21295C"/>
                </a:solidFill>
                <a:latin typeface="Arial"/>
              </a:rPr>
              <a:t>BMW AIQX (2025): «realtime sensor + image fusion»</a:t>
            </a:r>
          </a:p>
          <a:p>
            <a:pPr algn="l">
              <a:lnSpc>
                <a:spcPct val="150000"/>
              </a:lnSpc>
            </a:pPr>
            <a:r>
              <a:rPr sz="1200" b="0" i="0">
                <a:solidFill>
                  <a:srgbClr val="21295C"/>
                </a:solidFill>
                <a:latin typeface="Arial"/>
              </a:rPr>
              <a:t>Generic vendors: «–25 до –40% downtime, –50 до –70% reactive maintenance»</a:t>
            </a:r>
          </a:p>
        </p:txBody>
      </p:sp>
      <p:sp>
        <p:nvSpPr>
          <p:cNvPr id="10" name="Rounded Rectangle 9"/>
          <p:cNvSpPr/>
          <p:nvPr/>
        </p:nvSpPr>
        <p:spPr>
          <a:xfrm>
            <a:off x="457200" y="3931920"/>
            <a:ext cx="11274552" cy="1188720"/>
          </a:xfrm>
          <a:prstGeom prst="roundRect">
            <a:avLst>
              <a:gd name="adj" fmla="val 10000"/>
            </a:avLst>
          </a:prstGeom>
          <a:solidFill>
            <a:srgbClr val="F4F7FA"/>
          </a:solidFill>
          <a:ln w="254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4023360"/>
            <a:ext cx="10972800" cy="365760"/>
          </a:xfrm>
          <a:prstGeom prst="rect">
            <a:avLst/>
          </a:prstGeom>
          <a:noFill/>
        </p:spPr>
        <p:txBody>
          <a:bodyPr wrap="square" lIns="0" rIns="0" tIns="0" bIns="0" anchor="t">
            <a:spAutoFit/>
          </a:bodyPr>
          <a:lstStyle/>
          <a:p>
            <a:pPr algn="l">
              <a:lnSpc>
                <a:spcPct val="115000"/>
              </a:lnSpc>
            </a:pPr>
            <a:r>
              <a:rPr sz="1300" b="1" i="0">
                <a:solidFill>
                  <a:srgbClr val="065A82"/>
                </a:solidFill>
                <a:latin typeface="Arial"/>
              </a:rPr>
              <a:t>MCKINSEY 2025 REALITY CHECK:</a:t>
            </a:r>
          </a:p>
        </p:txBody>
      </p:sp>
      <p:sp>
        <p:nvSpPr>
          <p:cNvPr id="12" name="TextBox 11"/>
          <p:cNvSpPr txBox="1"/>
          <p:nvPr/>
        </p:nvSpPr>
        <p:spPr>
          <a:xfrm>
            <a:off x="640080" y="4389120"/>
            <a:ext cx="10972800" cy="685800"/>
          </a:xfrm>
          <a:prstGeom prst="rect">
            <a:avLst/>
          </a:prstGeom>
          <a:noFill/>
        </p:spPr>
        <p:txBody>
          <a:bodyPr wrap="square" lIns="0" rIns="0" tIns="0" bIns="0" anchor="t">
            <a:spAutoFit/>
          </a:bodyPr>
          <a:lstStyle/>
          <a:p>
            <a:pPr algn="l">
              <a:lnSpc>
                <a:spcPct val="140000"/>
              </a:lnSpc>
            </a:pPr>
            <a:r>
              <a:rPr sz="1200" b="0" i="1">
                <a:solidFill>
                  <a:srgbClr val="21295C"/>
                </a:solidFill>
                <a:latin typeface="Arial"/>
              </a:rPr>
              <a:t>«Большинство компаний пока не извлекают value от PdM-инвестиций» — прямая цитата.</a:t>
            </a:r>
          </a:p>
          <a:p>
            <a:pPr algn="l">
              <a:lnSpc>
                <a:spcPct val="140000"/>
              </a:lnSpc>
            </a:pPr>
            <a:r>
              <a:rPr sz="1200" b="0" i="0">
                <a:solidFill>
                  <a:srgbClr val="21295C"/>
                </a:solidFill>
                <a:latin typeface="Arial"/>
              </a:rPr>
              <a:t>ROI 8–14 мес — это best case, не среднее. Только 5,5% high performers извлекают EBIT-impact.</a:t>
            </a:r>
          </a:p>
        </p:txBody>
      </p:sp>
      <p:sp>
        <p:nvSpPr>
          <p:cNvPr id="13" name="Rounded Rectangle 12"/>
          <p:cNvSpPr/>
          <p:nvPr/>
        </p:nvSpPr>
        <p:spPr>
          <a:xfrm>
            <a:off x="457200" y="5257800"/>
            <a:ext cx="11274552" cy="1188720"/>
          </a:xfrm>
          <a:prstGeom prst="roundRect">
            <a:avLst>
              <a:gd name="adj" fmla="val 10000"/>
            </a:avLst>
          </a:prstGeom>
          <a:solidFill>
            <a:srgbClr val="E6F2F4"/>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5349240"/>
            <a:ext cx="10972800" cy="365760"/>
          </a:xfrm>
          <a:prstGeom prst="rect">
            <a:avLst/>
          </a:prstGeom>
          <a:noFill/>
        </p:spPr>
        <p:txBody>
          <a:bodyPr wrap="square" lIns="0" rIns="0" tIns="0" bIns="0" anchor="t">
            <a:spAutoFit/>
          </a:bodyPr>
          <a:lstStyle/>
          <a:p>
            <a:pPr algn="l">
              <a:lnSpc>
                <a:spcPct val="115000"/>
              </a:lnSpc>
            </a:pPr>
            <a:r>
              <a:rPr sz="1300" b="1" i="0">
                <a:solidFill>
                  <a:srgbClr val="028090"/>
                </a:solidFill>
                <a:latin typeface="Arial"/>
              </a:rPr>
              <a:t>OEE CALLBACK — формула:</a:t>
            </a:r>
          </a:p>
        </p:txBody>
      </p:sp>
      <p:sp>
        <p:nvSpPr>
          <p:cNvPr id="15" name="TextBox 14"/>
          <p:cNvSpPr txBox="1"/>
          <p:nvPr/>
        </p:nvSpPr>
        <p:spPr>
          <a:xfrm>
            <a:off x="640080" y="5715000"/>
            <a:ext cx="10972800" cy="365760"/>
          </a:xfrm>
          <a:prstGeom prst="rect">
            <a:avLst/>
          </a:prstGeom>
          <a:noFill/>
        </p:spPr>
        <p:txBody>
          <a:bodyPr wrap="square" lIns="0" rIns="0" tIns="0" bIns="0" anchor="t">
            <a:spAutoFit/>
          </a:bodyPr>
          <a:lstStyle/>
          <a:p>
            <a:pPr algn="ctr">
              <a:lnSpc>
                <a:spcPct val="115000"/>
              </a:lnSpc>
            </a:pPr>
            <a:r>
              <a:rPr sz="1800" b="1" i="0">
                <a:solidFill>
                  <a:srgbClr val="F0AB00"/>
                </a:solidFill>
                <a:latin typeface="Arial"/>
              </a:rPr>
              <a:t>«–25% downtime ≠ +25% OEE»</a:t>
            </a:r>
          </a:p>
        </p:txBody>
      </p:sp>
      <p:sp>
        <p:nvSpPr>
          <p:cNvPr id="16" name="TextBox 15"/>
          <p:cNvSpPr txBox="1"/>
          <p:nvPr/>
        </p:nvSpPr>
        <p:spPr>
          <a:xfrm>
            <a:off x="640080" y="6080760"/>
            <a:ext cx="10972800" cy="320040"/>
          </a:xfrm>
          <a:prstGeom prst="rect">
            <a:avLst/>
          </a:prstGeom>
          <a:noFill/>
        </p:spPr>
        <p:txBody>
          <a:bodyPr wrap="square" lIns="0" rIns="0" tIns="0" bIns="0" anchor="t">
            <a:spAutoFit/>
          </a:bodyPr>
          <a:lstStyle/>
          <a:p>
            <a:pPr algn="ctr">
              <a:lnSpc>
                <a:spcPct val="115000"/>
              </a:lnSpc>
            </a:pPr>
            <a:r>
              <a:rPr sz="1200" b="0" i="1">
                <a:solidFill>
                  <a:srgbClr val="21295C"/>
                </a:solidFill>
                <a:latin typeface="Arial"/>
              </a:rPr>
              <a:t>OEE = доступность × производительность × качество. 3-й вопрос к вендору: какой компонент?</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800" b="1" i="0">
                <a:solidFill>
                  <a:srgbClr val="21295C"/>
                </a:solidFill>
                <a:latin typeface="Arial"/>
              </a:rPr>
              <a:t>Коботы + Toyota Jidoka 2.0</a:t>
            </a:r>
          </a:p>
        </p:txBody>
      </p:sp>
      <p:sp>
        <p:nvSpPr>
          <p:cNvPr id="3" name="TextBox 2"/>
          <p:cNvSpPr txBox="1"/>
          <p:nvPr/>
        </p:nvSpPr>
        <p:spPr>
          <a:xfrm>
            <a:off x="457200" y="1051560"/>
            <a:ext cx="11274552" cy="365760"/>
          </a:xfrm>
          <a:prstGeom prst="rect">
            <a:avLst/>
          </a:prstGeom>
          <a:noFill/>
        </p:spPr>
        <p:txBody>
          <a:bodyPr wrap="square" lIns="0" rIns="0" tIns="0" bIns="0" anchor="t">
            <a:spAutoFit/>
          </a:bodyPr>
          <a:lstStyle/>
          <a:p>
            <a:pPr algn="l">
              <a:lnSpc>
                <a:spcPct val="115000"/>
              </a:lnSpc>
            </a:pPr>
            <a:r>
              <a:rPr sz="1400" b="0" i="1">
                <a:solidFill>
                  <a:srgbClr val="1C7293"/>
                </a:solidFill>
                <a:latin typeface="Arial"/>
              </a:rPr>
              <a:t>Augment, не replace — крупнейший auto OEM мира публично отрицает «AI заменяет людей»</a:t>
            </a:r>
          </a:p>
        </p:txBody>
      </p:sp>
      <p:sp>
        <p:nvSpPr>
          <p:cNvPr id="4" name="Rounded Rectangle 3"/>
          <p:cNvSpPr/>
          <p:nvPr/>
        </p:nvSpPr>
        <p:spPr>
          <a:xfrm>
            <a:off x="457200" y="1554480"/>
            <a:ext cx="3703320" cy="420624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554480"/>
            <a:ext cx="3703320" cy="6400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600200"/>
            <a:ext cx="3703320" cy="548640"/>
          </a:xfrm>
          <a:prstGeom prst="rect">
            <a:avLst/>
          </a:prstGeom>
          <a:noFill/>
        </p:spPr>
        <p:txBody>
          <a:bodyPr wrap="square" lIns="0" rIns="0" tIns="0" bIns="0" anchor="ctr">
            <a:spAutoFit/>
          </a:bodyPr>
          <a:lstStyle/>
          <a:p>
            <a:pPr algn="ctr">
              <a:lnSpc>
                <a:spcPct val="115000"/>
              </a:lnSpc>
            </a:pPr>
            <a:r>
              <a:rPr sz="1500" b="1" i="0">
                <a:solidFill>
                  <a:srgbClr val="FFFFFF"/>
                </a:solidFill>
                <a:latin typeface="Arial"/>
              </a:rPr>
              <a:t>Hyundai + Boston Dynamics</a:t>
            </a:r>
          </a:p>
        </p:txBody>
      </p:sp>
      <p:sp>
        <p:nvSpPr>
          <p:cNvPr id="7" name="TextBox 6"/>
          <p:cNvSpPr txBox="1"/>
          <p:nvPr/>
        </p:nvSpPr>
        <p:spPr>
          <a:xfrm>
            <a:off x="594360" y="2331720"/>
            <a:ext cx="3429000" cy="365760"/>
          </a:xfrm>
          <a:prstGeom prst="rect">
            <a:avLst/>
          </a:prstGeom>
          <a:noFill/>
        </p:spPr>
        <p:txBody>
          <a:bodyPr wrap="square" lIns="0" rIns="0" tIns="0" bIns="0" anchor="t">
            <a:spAutoFit/>
          </a:bodyPr>
          <a:lstStyle/>
          <a:p>
            <a:pPr algn="ctr">
              <a:lnSpc>
                <a:spcPct val="115000"/>
              </a:lnSpc>
            </a:pPr>
            <a:r>
              <a:rPr sz="1200" b="0" i="1">
                <a:solidFill>
                  <a:srgbClr val="F0AB00"/>
                </a:solidFill>
                <a:latin typeface="Arial"/>
              </a:rPr>
              <a:t>Spot для exterior QC</a:t>
            </a:r>
          </a:p>
        </p:txBody>
      </p:sp>
      <p:pic>
        <p:nvPicPr>
          <p:cNvPr id="8" name="Picture 7" descr="cog.png"/>
          <p:cNvPicPr>
            <a:picLocks noChangeAspect="1"/>
          </p:cNvPicPr>
          <p:nvPr/>
        </p:nvPicPr>
        <p:blipFill>
          <a:blip r:embed="rId2"/>
          <a:stretch>
            <a:fillRect/>
          </a:stretch>
        </p:blipFill>
        <p:spPr>
          <a:xfrm>
            <a:off x="1485900" y="2880360"/>
            <a:ext cx="1645920" cy="1645920"/>
          </a:xfrm>
          <a:prstGeom prst="rect">
            <a:avLst/>
          </a:prstGeom>
        </p:spPr>
      </p:pic>
      <p:sp>
        <p:nvSpPr>
          <p:cNvPr id="9" name="TextBox 8"/>
          <p:cNvSpPr txBox="1"/>
          <p:nvPr/>
        </p:nvSpPr>
        <p:spPr>
          <a:xfrm>
            <a:off x="685800" y="4846320"/>
            <a:ext cx="3337560" cy="822960"/>
          </a:xfrm>
          <a:prstGeom prst="rect">
            <a:avLst/>
          </a:prstGeom>
          <a:noFill/>
        </p:spPr>
        <p:txBody>
          <a:bodyPr wrap="square" lIns="0" rIns="0" tIns="0" bIns="0" anchor="t">
            <a:spAutoFit/>
          </a:bodyPr>
          <a:lstStyle/>
          <a:p>
            <a:pPr algn="ctr">
              <a:lnSpc>
                <a:spcPct val="135000"/>
              </a:lnSpc>
            </a:pPr>
            <a:r>
              <a:rPr sz="1100" b="0" i="0">
                <a:solidFill>
                  <a:srgbClr val="21295C"/>
                </a:solidFill>
                <a:latin typeface="Arial"/>
              </a:rPr>
              <a:t>Atlas humanoid — HMGMA, Georgia
Первое коммерческое развёртывание гуманоида</a:t>
            </a:r>
          </a:p>
        </p:txBody>
      </p:sp>
      <p:sp>
        <p:nvSpPr>
          <p:cNvPr id="10" name="Rounded Rectangle 9"/>
          <p:cNvSpPr/>
          <p:nvPr/>
        </p:nvSpPr>
        <p:spPr>
          <a:xfrm>
            <a:off x="4251959" y="1554480"/>
            <a:ext cx="3703320" cy="420624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51959" y="1554480"/>
            <a:ext cx="3703320" cy="64008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51959" y="1600200"/>
            <a:ext cx="3703320" cy="548640"/>
          </a:xfrm>
          <a:prstGeom prst="rect">
            <a:avLst/>
          </a:prstGeom>
          <a:noFill/>
        </p:spPr>
        <p:txBody>
          <a:bodyPr wrap="square" lIns="0" rIns="0" tIns="0" bIns="0" anchor="ctr">
            <a:spAutoFit/>
          </a:bodyPr>
          <a:lstStyle/>
          <a:p>
            <a:pPr algn="ctr">
              <a:lnSpc>
                <a:spcPct val="115000"/>
              </a:lnSpc>
            </a:pPr>
            <a:r>
              <a:rPr sz="1500" b="1" i="0">
                <a:solidFill>
                  <a:srgbClr val="FFFFFF"/>
                </a:solidFill>
                <a:latin typeface="Arial"/>
              </a:rPr>
              <a:t>Toyota GAIA</a:t>
            </a:r>
          </a:p>
        </p:txBody>
      </p:sp>
      <p:sp>
        <p:nvSpPr>
          <p:cNvPr id="13" name="TextBox 12"/>
          <p:cNvSpPr txBox="1"/>
          <p:nvPr/>
        </p:nvSpPr>
        <p:spPr>
          <a:xfrm>
            <a:off x="4389120" y="2331720"/>
            <a:ext cx="3429000" cy="365760"/>
          </a:xfrm>
          <a:prstGeom prst="rect">
            <a:avLst/>
          </a:prstGeom>
          <a:noFill/>
        </p:spPr>
        <p:txBody>
          <a:bodyPr wrap="square" lIns="0" rIns="0" tIns="0" bIns="0" anchor="t">
            <a:spAutoFit/>
          </a:bodyPr>
          <a:lstStyle/>
          <a:p>
            <a:pPr algn="ctr">
              <a:lnSpc>
                <a:spcPct val="115000"/>
              </a:lnSpc>
            </a:pPr>
            <a:r>
              <a:rPr sz="1200" b="0" i="1">
                <a:solidFill>
                  <a:srgbClr val="F0AB00"/>
                </a:solidFill>
                <a:latin typeface="Arial"/>
              </a:rPr>
              <a:t>8 000 (2023) → 10 000 (2024)</a:t>
            </a:r>
          </a:p>
        </p:txBody>
      </p:sp>
      <p:pic>
        <p:nvPicPr>
          <p:cNvPr id="14" name="Picture 13" descr="users.png"/>
          <p:cNvPicPr>
            <a:picLocks noChangeAspect="1"/>
          </p:cNvPicPr>
          <p:nvPr/>
        </p:nvPicPr>
        <p:blipFill>
          <a:blip r:embed="rId3"/>
          <a:stretch>
            <a:fillRect/>
          </a:stretch>
        </p:blipFill>
        <p:spPr>
          <a:xfrm>
            <a:off x="5280659" y="2880360"/>
            <a:ext cx="1645920" cy="1645920"/>
          </a:xfrm>
          <a:prstGeom prst="rect">
            <a:avLst/>
          </a:prstGeom>
        </p:spPr>
      </p:pic>
      <p:sp>
        <p:nvSpPr>
          <p:cNvPr id="15" name="TextBox 14"/>
          <p:cNvSpPr txBox="1"/>
          <p:nvPr/>
        </p:nvSpPr>
        <p:spPr>
          <a:xfrm>
            <a:off x="4480559" y="4846320"/>
            <a:ext cx="3337560" cy="822960"/>
          </a:xfrm>
          <a:prstGeom prst="rect">
            <a:avLst/>
          </a:prstGeom>
          <a:noFill/>
        </p:spPr>
        <p:txBody>
          <a:bodyPr wrap="square" lIns="0" rIns="0" tIns="0" bIns="0" anchor="t">
            <a:spAutoFit/>
          </a:bodyPr>
          <a:lstStyle/>
          <a:p>
            <a:pPr algn="ctr">
              <a:lnSpc>
                <a:spcPct val="135000"/>
              </a:lnSpc>
            </a:pPr>
            <a:r>
              <a:rPr sz="1100" b="0" i="0">
                <a:solidFill>
                  <a:srgbClr val="21295C"/>
                </a:solidFill>
                <a:latin typeface="Arial"/>
              </a:rPr>
              <a:t>AI-моделей создано сотрудниками,
не data scientists. 10 000 часов saved/year</a:t>
            </a:r>
          </a:p>
        </p:txBody>
      </p:sp>
      <p:sp>
        <p:nvSpPr>
          <p:cNvPr id="16" name="Rounded Rectangle 15"/>
          <p:cNvSpPr/>
          <p:nvPr/>
        </p:nvSpPr>
        <p:spPr>
          <a:xfrm>
            <a:off x="8046719" y="1554480"/>
            <a:ext cx="3703320" cy="420624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19" y="1554480"/>
            <a:ext cx="3703320" cy="64008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19" y="1600200"/>
            <a:ext cx="3703320" cy="548640"/>
          </a:xfrm>
          <a:prstGeom prst="rect">
            <a:avLst/>
          </a:prstGeom>
          <a:noFill/>
        </p:spPr>
        <p:txBody>
          <a:bodyPr wrap="square" lIns="0" rIns="0" tIns="0" bIns="0" anchor="ctr">
            <a:spAutoFit/>
          </a:bodyPr>
          <a:lstStyle/>
          <a:p>
            <a:pPr algn="ctr">
              <a:lnSpc>
                <a:spcPct val="115000"/>
              </a:lnSpc>
            </a:pPr>
            <a:r>
              <a:rPr sz="1500" b="1" i="0">
                <a:solidFill>
                  <a:srgbClr val="FFFFFF"/>
                </a:solidFill>
                <a:latin typeface="Arial"/>
              </a:rPr>
              <a:t>Toyota Jidoka 2.0</a:t>
            </a:r>
          </a:p>
        </p:txBody>
      </p:sp>
      <p:sp>
        <p:nvSpPr>
          <p:cNvPr id="19" name="TextBox 18"/>
          <p:cNvSpPr txBox="1"/>
          <p:nvPr/>
        </p:nvSpPr>
        <p:spPr>
          <a:xfrm>
            <a:off x="8183879" y="2331720"/>
            <a:ext cx="3429000" cy="365760"/>
          </a:xfrm>
          <a:prstGeom prst="rect">
            <a:avLst/>
          </a:prstGeom>
          <a:noFill/>
        </p:spPr>
        <p:txBody>
          <a:bodyPr wrap="square" lIns="0" rIns="0" tIns="0" bIns="0" anchor="t">
            <a:spAutoFit/>
          </a:bodyPr>
          <a:lstStyle/>
          <a:p>
            <a:pPr algn="ctr">
              <a:lnSpc>
                <a:spcPct val="115000"/>
              </a:lnSpc>
            </a:pPr>
            <a:r>
              <a:rPr sz="1200" b="0" i="1">
                <a:solidFill>
                  <a:srgbClr val="F0AB00"/>
                </a:solidFill>
                <a:latin typeface="Arial"/>
              </a:rPr>
              <a:t>Официальная позиция</a:t>
            </a:r>
          </a:p>
        </p:txBody>
      </p:sp>
      <p:pic>
        <p:nvPicPr>
          <p:cNvPr id="20" name="Picture 19" descr="wrench.png"/>
          <p:cNvPicPr>
            <a:picLocks noChangeAspect="1"/>
          </p:cNvPicPr>
          <p:nvPr/>
        </p:nvPicPr>
        <p:blipFill>
          <a:blip r:embed="rId4"/>
          <a:stretch>
            <a:fillRect/>
          </a:stretch>
        </p:blipFill>
        <p:spPr>
          <a:xfrm>
            <a:off x="9075419" y="2880360"/>
            <a:ext cx="1645920" cy="1645920"/>
          </a:xfrm>
          <a:prstGeom prst="rect">
            <a:avLst/>
          </a:prstGeom>
        </p:spPr>
      </p:pic>
      <p:sp>
        <p:nvSpPr>
          <p:cNvPr id="21" name="TextBox 20"/>
          <p:cNvSpPr txBox="1"/>
          <p:nvPr/>
        </p:nvSpPr>
        <p:spPr>
          <a:xfrm>
            <a:off x="8275319" y="4846320"/>
            <a:ext cx="3337560" cy="822960"/>
          </a:xfrm>
          <a:prstGeom prst="rect">
            <a:avLst/>
          </a:prstGeom>
          <a:noFill/>
        </p:spPr>
        <p:txBody>
          <a:bodyPr wrap="square" lIns="0" rIns="0" tIns="0" bIns="0" anchor="t">
            <a:spAutoFit/>
          </a:bodyPr>
          <a:lstStyle/>
          <a:p>
            <a:pPr algn="ctr">
              <a:lnSpc>
                <a:spcPct val="135000"/>
              </a:lnSpc>
            </a:pPr>
            <a:r>
              <a:rPr sz="1100" b="0" i="0">
                <a:solidFill>
                  <a:srgbClr val="21295C"/>
                </a:solidFill>
                <a:latin typeface="Arial"/>
              </a:rPr>
              <a:t>«Goal of jidoka isn't to replace people
but to protect quality, expose issues, free people for judgment»</a:t>
            </a:r>
          </a:p>
        </p:txBody>
      </p:sp>
      <p:sp>
        <p:nvSpPr>
          <p:cNvPr id="22" name="Rounded Rectangle 21"/>
          <p:cNvSpPr/>
          <p:nvPr/>
        </p:nvSpPr>
        <p:spPr>
          <a:xfrm>
            <a:off x="457200" y="5897880"/>
            <a:ext cx="11274552" cy="50292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5943600"/>
            <a:ext cx="10972800" cy="411480"/>
          </a:xfrm>
          <a:prstGeom prst="rect">
            <a:avLst/>
          </a:prstGeom>
          <a:noFill/>
        </p:spPr>
        <p:txBody>
          <a:bodyPr wrap="square" lIns="0" rIns="0" tIns="0" bIns="0" anchor="ctr">
            <a:spAutoFit/>
          </a:bodyPr>
          <a:lstStyle/>
          <a:p>
            <a:pPr algn="ctr">
              <a:lnSpc>
                <a:spcPct val="115000"/>
              </a:lnSpc>
            </a:pPr>
            <a:r>
              <a:rPr sz="1300" b="1" i="0">
                <a:solidFill>
                  <a:srgbClr val="21295C"/>
                </a:solidFill>
                <a:latin typeface="Arial"/>
              </a:rPr>
              <a:t>Резкий контраст с Tesla 2018: replace failed, augment работает с 1950-х на том же продукте</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600" b="1" i="0">
                <a:solidFill>
                  <a:srgbClr val="21295C"/>
                </a:solidFill>
                <a:latin typeface="Arial"/>
              </a:rPr>
              <a:t>Tesla 2018 — канонический урок automation paradox</a:t>
            </a:r>
          </a:p>
        </p:txBody>
      </p:sp>
      <p:sp>
        <p:nvSpPr>
          <p:cNvPr id="3" name="TextBox 2"/>
          <p:cNvSpPr txBox="1"/>
          <p:nvPr/>
        </p:nvSpPr>
        <p:spPr>
          <a:xfrm>
            <a:off x="457200" y="1051560"/>
            <a:ext cx="11274552" cy="365760"/>
          </a:xfrm>
          <a:prstGeom prst="rect">
            <a:avLst/>
          </a:prstGeom>
          <a:noFill/>
        </p:spPr>
        <p:txBody>
          <a:bodyPr wrap="square" lIns="0" rIns="0" tIns="0" bIns="0" anchor="t">
            <a:spAutoFit/>
          </a:bodyPr>
          <a:lstStyle/>
          <a:p>
            <a:pPr algn="l">
              <a:lnSpc>
                <a:spcPct val="115000"/>
              </a:lnSpc>
            </a:pPr>
            <a:r>
              <a:rPr sz="1400" b="0" i="1">
                <a:solidFill>
                  <a:srgbClr val="1C7293"/>
                </a:solidFill>
                <a:latin typeface="Arial"/>
              </a:rPr>
              <a:t>Bainbridge 1983 + Toyota alternative + 2024 reMatch (gigacasting retreat)</a:t>
            </a:r>
          </a:p>
        </p:txBody>
      </p:sp>
      <p:sp>
        <p:nvSpPr>
          <p:cNvPr id="4" name="Rounded Rectangle 3"/>
          <p:cNvSpPr/>
          <p:nvPr/>
        </p:nvSpPr>
        <p:spPr>
          <a:xfrm>
            <a:off x="457200" y="1554480"/>
            <a:ext cx="11274552" cy="100584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91640"/>
            <a:ext cx="10972800" cy="411480"/>
          </a:xfrm>
          <a:prstGeom prst="rect">
            <a:avLst/>
          </a:prstGeom>
          <a:noFill/>
        </p:spPr>
        <p:txBody>
          <a:bodyPr wrap="square" lIns="0" rIns="0" tIns="0" bIns="0" anchor="t">
            <a:spAutoFit/>
          </a:bodyPr>
          <a:lstStyle/>
          <a:p>
            <a:pPr algn="l">
              <a:lnSpc>
                <a:spcPct val="115000"/>
              </a:lnSpc>
            </a:pPr>
            <a:r>
              <a:rPr sz="1200" b="1" i="0">
                <a:solidFill>
                  <a:srgbClr val="F0AB00"/>
                </a:solidFill>
                <a:latin typeface="Arial"/>
              </a:rPr>
              <a:t>13 апреля 2018, твит Маска:</a:t>
            </a:r>
          </a:p>
        </p:txBody>
      </p:sp>
      <p:sp>
        <p:nvSpPr>
          <p:cNvPr id="6" name="TextBox 5"/>
          <p:cNvSpPr txBox="1"/>
          <p:nvPr/>
        </p:nvSpPr>
        <p:spPr>
          <a:xfrm>
            <a:off x="640080" y="2103120"/>
            <a:ext cx="10972800" cy="411480"/>
          </a:xfrm>
          <a:prstGeom prst="rect">
            <a:avLst/>
          </a:prstGeom>
          <a:noFill/>
        </p:spPr>
        <p:txBody>
          <a:bodyPr wrap="square" lIns="0" rIns="0" tIns="0" bIns="0" anchor="t">
            <a:spAutoFit/>
          </a:bodyPr>
          <a:lstStyle/>
          <a:p>
            <a:pPr algn="ctr">
              <a:lnSpc>
                <a:spcPct val="115000"/>
              </a:lnSpc>
            </a:pPr>
            <a:r>
              <a:rPr sz="1500" b="1" i="1">
                <a:solidFill>
                  <a:srgbClr val="21295C"/>
                </a:solidFill>
                <a:latin typeface="Arial"/>
              </a:rPr>
              <a:t>«Yes, excessive automation at Tesla was a mistake. To be precise, my mistake. Humans are underrated.»</a:t>
            </a:r>
          </a:p>
        </p:txBody>
      </p:sp>
      <p:sp>
        <p:nvSpPr>
          <p:cNvPr id="7" name="Rounded Rectangle 6"/>
          <p:cNvSpPr/>
          <p:nvPr/>
        </p:nvSpPr>
        <p:spPr>
          <a:xfrm>
            <a:off x="457200" y="2743200"/>
            <a:ext cx="3703320" cy="292608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2743200"/>
            <a:ext cx="3703320" cy="5486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788920"/>
            <a:ext cx="3703320" cy="457200"/>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Q1 2018</a:t>
            </a:r>
          </a:p>
        </p:txBody>
      </p:sp>
      <p:sp>
        <p:nvSpPr>
          <p:cNvPr id="10" name="TextBox 9"/>
          <p:cNvSpPr txBox="1"/>
          <p:nvPr/>
        </p:nvSpPr>
        <p:spPr>
          <a:xfrm>
            <a:off x="640080" y="3520440"/>
            <a:ext cx="3337560" cy="1371600"/>
          </a:xfrm>
          <a:prstGeom prst="rect">
            <a:avLst/>
          </a:prstGeom>
          <a:noFill/>
        </p:spPr>
        <p:txBody>
          <a:bodyPr wrap="square" lIns="0" rIns="0" tIns="0" bIns="0" anchor="t">
            <a:spAutoFit/>
          </a:bodyPr>
          <a:lstStyle/>
          <a:p>
            <a:pPr algn="ctr">
              <a:lnSpc>
                <a:spcPct val="135000"/>
              </a:lnSpc>
            </a:pPr>
            <a:r>
              <a:rPr sz="1200" b="0" i="0">
                <a:solidFill>
                  <a:srgbClr val="21295C"/>
                </a:solidFill>
                <a:latin typeface="Arial"/>
              </a:rPr>
              <a:t>Target: 2 500 Model 3 / week
Реально: 2 020</a:t>
            </a:r>
          </a:p>
        </p:txBody>
      </p:sp>
      <p:sp>
        <p:nvSpPr>
          <p:cNvPr id="11" name="Rounded Rectangle 10"/>
          <p:cNvSpPr/>
          <p:nvPr/>
        </p:nvSpPr>
        <p:spPr>
          <a:xfrm>
            <a:off x="640080" y="4846320"/>
            <a:ext cx="3337560" cy="64008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892040"/>
            <a:ext cx="3246120" cy="548640"/>
          </a:xfrm>
          <a:prstGeom prst="rect">
            <a:avLst/>
          </a:prstGeom>
          <a:noFill/>
        </p:spPr>
        <p:txBody>
          <a:bodyPr wrap="square" lIns="0" rIns="0" tIns="0" bIns="0" anchor="ctr">
            <a:spAutoFit/>
          </a:bodyPr>
          <a:lstStyle/>
          <a:p>
            <a:pPr algn="ctr">
              <a:lnSpc>
                <a:spcPct val="115000"/>
              </a:lnSpc>
            </a:pPr>
            <a:r>
              <a:rPr sz="1100" b="0" i="1">
                <a:solidFill>
                  <a:srgbClr val="21295C"/>
                </a:solidFill>
                <a:latin typeface="Arial"/>
              </a:rPr>
              <a:t>Production hell. Маск спал на заводе</a:t>
            </a:r>
          </a:p>
        </p:txBody>
      </p:sp>
      <p:sp>
        <p:nvSpPr>
          <p:cNvPr id="13" name="Rounded Rectangle 12"/>
          <p:cNvSpPr/>
          <p:nvPr/>
        </p:nvSpPr>
        <p:spPr>
          <a:xfrm>
            <a:off x="4251959" y="2743200"/>
            <a:ext cx="3703320" cy="292608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51959" y="2743200"/>
            <a:ext cx="3703320" cy="54864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51959" y="2788920"/>
            <a:ext cx="3703320" cy="457200"/>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Корневая причина (IMD)</a:t>
            </a:r>
          </a:p>
        </p:txBody>
      </p:sp>
      <p:sp>
        <p:nvSpPr>
          <p:cNvPr id="16" name="TextBox 15"/>
          <p:cNvSpPr txBox="1"/>
          <p:nvPr/>
        </p:nvSpPr>
        <p:spPr>
          <a:xfrm>
            <a:off x="4434840" y="3520440"/>
            <a:ext cx="3337560" cy="1371600"/>
          </a:xfrm>
          <a:prstGeom prst="rect">
            <a:avLst/>
          </a:prstGeom>
          <a:noFill/>
        </p:spPr>
        <p:txBody>
          <a:bodyPr wrap="square" lIns="0" rIns="0" tIns="0" bIns="0" anchor="t">
            <a:spAutoFit/>
          </a:bodyPr>
          <a:lstStyle/>
          <a:p>
            <a:pPr algn="ctr">
              <a:lnSpc>
                <a:spcPct val="135000"/>
              </a:lnSpc>
            </a:pPr>
            <a:r>
              <a:rPr sz="1200" b="0" i="0">
                <a:solidFill>
                  <a:srgbClr val="21295C"/>
                </a:solidFill>
                <a:latin typeface="Arial"/>
              </a:rPr>
              <a:t>Tesla заменял людей там,
где variability — feature, не bug</a:t>
            </a:r>
          </a:p>
        </p:txBody>
      </p:sp>
      <p:sp>
        <p:nvSpPr>
          <p:cNvPr id="17" name="Rounded Rectangle 16"/>
          <p:cNvSpPr/>
          <p:nvPr/>
        </p:nvSpPr>
        <p:spPr>
          <a:xfrm>
            <a:off x="4434840" y="4846320"/>
            <a:ext cx="3337560" cy="64008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80559" y="4892040"/>
            <a:ext cx="3246120" cy="548640"/>
          </a:xfrm>
          <a:prstGeom prst="rect">
            <a:avLst/>
          </a:prstGeom>
          <a:noFill/>
        </p:spPr>
        <p:txBody>
          <a:bodyPr wrap="square" lIns="0" rIns="0" tIns="0" bIns="0" anchor="ctr">
            <a:spAutoFit/>
          </a:bodyPr>
          <a:lstStyle/>
          <a:p>
            <a:pPr algn="ctr">
              <a:lnSpc>
                <a:spcPct val="115000"/>
              </a:lnSpc>
            </a:pPr>
            <a:r>
              <a:rPr sz="1100" b="0" i="1">
                <a:solidFill>
                  <a:srgbClr val="21295C"/>
                </a:solidFill>
                <a:latin typeface="Arial"/>
              </a:rPr>
              <a:t>Сборка — miles of edge cases</a:t>
            </a:r>
          </a:p>
        </p:txBody>
      </p:sp>
      <p:sp>
        <p:nvSpPr>
          <p:cNvPr id="19" name="Rounded Rectangle 18"/>
          <p:cNvSpPr/>
          <p:nvPr/>
        </p:nvSpPr>
        <p:spPr>
          <a:xfrm>
            <a:off x="8046719" y="2743200"/>
            <a:ext cx="3703320" cy="292608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6719" y="2743200"/>
            <a:ext cx="3703320" cy="54864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19" y="2788920"/>
            <a:ext cx="3703320" cy="457200"/>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Bainbridge 1983</a:t>
            </a:r>
          </a:p>
        </p:txBody>
      </p:sp>
      <p:sp>
        <p:nvSpPr>
          <p:cNvPr id="22" name="TextBox 21"/>
          <p:cNvSpPr txBox="1"/>
          <p:nvPr/>
        </p:nvSpPr>
        <p:spPr>
          <a:xfrm>
            <a:off x="8229599" y="3520440"/>
            <a:ext cx="3337560" cy="1371600"/>
          </a:xfrm>
          <a:prstGeom prst="rect">
            <a:avLst/>
          </a:prstGeom>
          <a:noFill/>
        </p:spPr>
        <p:txBody>
          <a:bodyPr wrap="square" lIns="0" rIns="0" tIns="0" bIns="0" anchor="t">
            <a:spAutoFit/>
          </a:bodyPr>
          <a:lstStyle/>
          <a:p>
            <a:pPr algn="ctr">
              <a:lnSpc>
                <a:spcPct val="135000"/>
              </a:lnSpc>
            </a:pPr>
            <a:r>
              <a:rPr sz="1200" b="0" i="0">
                <a:solidFill>
                  <a:srgbClr val="21295C"/>
                </a:solidFill>
                <a:latin typeface="Arial"/>
              </a:rPr>
              <a:t>«Ironies of Automation»:
чем больше автоматизация, тем критичнее операторы</a:t>
            </a:r>
          </a:p>
        </p:txBody>
      </p:sp>
      <p:sp>
        <p:nvSpPr>
          <p:cNvPr id="23" name="Rounded Rectangle 22"/>
          <p:cNvSpPr/>
          <p:nvPr/>
        </p:nvSpPr>
        <p:spPr>
          <a:xfrm>
            <a:off x="8229599" y="4846320"/>
            <a:ext cx="3337560" cy="64008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75319" y="4892040"/>
            <a:ext cx="3246120" cy="548640"/>
          </a:xfrm>
          <a:prstGeom prst="rect">
            <a:avLst/>
          </a:prstGeom>
          <a:noFill/>
        </p:spPr>
        <p:txBody>
          <a:bodyPr wrap="square" lIns="0" rIns="0" tIns="0" bIns="0" anchor="ctr">
            <a:spAutoFit/>
          </a:bodyPr>
          <a:lstStyle/>
          <a:p>
            <a:pPr algn="ctr">
              <a:lnSpc>
                <a:spcPct val="115000"/>
              </a:lnSpc>
            </a:pPr>
            <a:r>
              <a:rPr sz="1100" b="0" i="1">
                <a:solidFill>
                  <a:srgbClr val="21295C"/>
                </a:solidFill>
                <a:latin typeface="Arial"/>
              </a:rPr>
              <a:t>Навык атрофируется — нештатная не отрабатывается</a:t>
            </a:r>
          </a:p>
        </p:txBody>
      </p:sp>
      <p:sp>
        <p:nvSpPr>
          <p:cNvPr id="25" name="Rounded Rectangle 24"/>
          <p:cNvSpPr/>
          <p:nvPr/>
        </p:nvSpPr>
        <p:spPr>
          <a:xfrm>
            <a:off x="457200" y="5852160"/>
            <a:ext cx="11274552" cy="548640"/>
          </a:xfrm>
          <a:prstGeom prst="roundRect">
            <a:avLst>
              <a:gd name="adj" fmla="val 10000"/>
            </a:avLst>
          </a:prstGeom>
          <a:solidFill>
            <a:srgbClr val="E6F2F4"/>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5897880"/>
            <a:ext cx="10972800" cy="457200"/>
          </a:xfrm>
          <a:prstGeom prst="rect">
            <a:avLst/>
          </a:prstGeom>
          <a:noFill/>
        </p:spPr>
        <p:txBody>
          <a:bodyPr wrap="square" lIns="0" rIns="0" tIns="0" bIns="0" anchor="ctr">
            <a:spAutoFit/>
          </a:bodyPr>
          <a:lstStyle/>
          <a:p>
            <a:pPr algn="ctr">
              <a:lnSpc>
                <a:spcPct val="115000"/>
              </a:lnSpc>
            </a:pPr>
            <a:r>
              <a:rPr sz="1300" b="1" i="0">
                <a:solidFill>
                  <a:srgbClr val="21295C"/>
                </a:solidFill>
                <a:latin typeface="Arial"/>
              </a:rPr>
              <a:t>Альтернатива: Toyota Production System + Jidoka — работает с 1950-х на том же продукте</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800" b="1" i="0">
                <a:solidFill>
                  <a:srgbClr val="21295C"/>
                </a:solidFill>
                <a:latin typeface="Arial"/>
              </a:rPr>
              <a:t>Границы CV-QC + альтернативы ДО ML</a:t>
            </a:r>
          </a:p>
        </p:txBody>
      </p:sp>
      <p:sp>
        <p:nvSpPr>
          <p:cNvPr id="3" name="TextBox 2"/>
          <p:cNvSpPr txBox="1"/>
          <p:nvPr/>
        </p:nvSpPr>
        <p:spPr>
          <a:xfrm>
            <a:off x="457200" y="1051560"/>
            <a:ext cx="11274552" cy="365760"/>
          </a:xfrm>
          <a:prstGeom prst="rect">
            <a:avLst/>
          </a:prstGeom>
          <a:noFill/>
        </p:spPr>
        <p:txBody>
          <a:bodyPr wrap="square" lIns="0" rIns="0" tIns="0" bIns="0" anchor="t">
            <a:spAutoFit/>
          </a:bodyPr>
          <a:lstStyle/>
          <a:p>
            <a:pPr algn="l">
              <a:lnSpc>
                <a:spcPct val="115000"/>
              </a:lnSpc>
            </a:pPr>
            <a:r>
              <a:rPr sz="1400" b="0" i="1">
                <a:solidFill>
                  <a:srgbClr val="1C7293"/>
                </a:solidFill>
                <a:latin typeface="Arial"/>
              </a:rPr>
              <a:t>Physical signal amplification → rules-based → ML на остатке</a:t>
            </a:r>
          </a:p>
        </p:txBody>
      </p:sp>
      <p:sp>
        <p:nvSpPr>
          <p:cNvPr id="4" name="Rounded Rectangle 3"/>
          <p:cNvSpPr/>
          <p:nvPr/>
        </p:nvSpPr>
        <p:spPr>
          <a:xfrm>
            <a:off x="457200" y="1554480"/>
            <a:ext cx="5394960" cy="457200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91640"/>
            <a:ext cx="5029200" cy="457200"/>
          </a:xfrm>
          <a:prstGeom prst="rect">
            <a:avLst/>
          </a:prstGeom>
          <a:noFill/>
        </p:spPr>
        <p:txBody>
          <a:bodyPr wrap="square" lIns="0" rIns="0" tIns="0" bIns="0" anchor="t">
            <a:spAutoFit/>
          </a:bodyPr>
          <a:lstStyle/>
          <a:p>
            <a:pPr algn="l">
              <a:lnSpc>
                <a:spcPct val="115000"/>
              </a:lnSpc>
            </a:pPr>
            <a:r>
              <a:rPr sz="1600" b="1" i="0">
                <a:solidFill>
                  <a:srgbClr val="F0AB00"/>
                </a:solidFill>
                <a:latin typeface="Arial"/>
              </a:rPr>
              <a:t>ГДЕ CV ЛОМАЕТСЯ</a:t>
            </a:r>
          </a:p>
        </p:txBody>
      </p:sp>
      <p:sp>
        <p:nvSpPr>
          <p:cNvPr id="6" name="TextBox 5"/>
          <p:cNvSpPr txBox="1"/>
          <p:nvPr/>
        </p:nvSpPr>
        <p:spPr>
          <a:xfrm>
            <a:off x="777240" y="2240280"/>
            <a:ext cx="4937760" cy="3840480"/>
          </a:xfrm>
          <a:prstGeom prst="rect">
            <a:avLst/>
          </a:prstGeom>
          <a:noFill/>
        </p:spPr>
        <p:txBody>
          <a:bodyPr wrap="square" lIns="0" rIns="0" tIns="0" bIns="0" anchor="t">
            <a:spAutoFit/>
          </a:bodyPr>
          <a:lstStyle/>
          <a:p>
            <a:pPr algn="l">
              <a:lnSpc>
                <a:spcPct val="135000"/>
              </a:lnSpc>
            </a:pPr>
            <a:r>
              <a:rPr sz="1300" b="1" i="0">
                <a:solidFill>
                  <a:srgbClr val="21295C"/>
                </a:solidFill>
                <a:latin typeface="Arial"/>
              </a:rPr>
              <a:t>Low-contrast defects</a:t>
            </a:r>
          </a:p>
          <a:p>
            <a:pPr algn="l">
              <a:lnSpc>
                <a:spcPct val="135000"/>
              </a:lnSpc>
            </a:pPr>
            <a:r>
              <a:rPr sz="1100" b="0" i="0">
                <a:solidFill>
                  <a:srgbClr val="21295C"/>
                </a:solidFill>
                <a:latin typeface="Arial"/>
              </a:rPr>
              <a:t>Микротрещина на алюминии при обычном освещении — невидима. Размытые границы, малая контрастность.</a:t>
            </a:r>
          </a:p>
          <a:p>
            <a:pPr algn="l">
              <a:lnSpc>
                <a:spcPct val="135000"/>
              </a:lnSpc>
            </a:pPr>
            <a:r>
              <a:rPr sz="800" b="0" i="0">
                <a:solidFill>
                  <a:srgbClr val="21295C"/>
                </a:solidFill>
                <a:latin typeface="Arial"/>
              </a:rPr>
              <a:t/>
            </a:r>
          </a:p>
          <a:p>
            <a:pPr algn="l">
              <a:lnSpc>
                <a:spcPct val="135000"/>
              </a:lnSpc>
            </a:pPr>
            <a:r>
              <a:rPr sz="1300" b="1" i="0">
                <a:solidFill>
                  <a:srgbClr val="21295C"/>
                </a:solidFill>
                <a:latin typeface="Arial"/>
              </a:rPr>
              <a:t>Сдвиг распределения при смене продукта</a:t>
            </a:r>
          </a:p>
          <a:p>
            <a:pPr algn="l">
              <a:lnSpc>
                <a:spcPct val="135000"/>
              </a:lnSpc>
            </a:pPr>
            <a:r>
              <a:rPr sz="1100" b="0" i="0">
                <a:solidFill>
                  <a:srgbClr val="21295C"/>
                </a:solidFill>
                <a:latin typeface="Arial"/>
              </a:rPr>
              <a:t>Модель CV для модели A плохо работает на модели B. Заводы с 5+ моделями страдают.</a:t>
            </a:r>
          </a:p>
          <a:p>
            <a:pPr algn="l">
              <a:lnSpc>
                <a:spcPct val="135000"/>
              </a:lnSpc>
            </a:pPr>
            <a:r>
              <a:rPr sz="800" b="0" i="0">
                <a:solidFill>
                  <a:srgbClr val="21295C"/>
                </a:solidFill>
                <a:latin typeface="Arial"/>
              </a:rPr>
              <a:t/>
            </a:r>
          </a:p>
          <a:p>
            <a:pPr algn="l">
              <a:lnSpc>
                <a:spcPct val="135000"/>
              </a:lnSpc>
            </a:pPr>
            <a:r>
              <a:rPr sz="1300" b="1" i="0">
                <a:solidFill>
                  <a:srgbClr val="21295C"/>
                </a:solidFill>
                <a:latin typeface="Arial"/>
              </a:rPr>
              <a:t>Scarce defect labels</a:t>
            </a:r>
          </a:p>
          <a:p>
            <a:pPr algn="l">
              <a:lnSpc>
                <a:spcPct val="135000"/>
              </a:lnSpc>
            </a:pPr>
            <a:r>
              <a:rPr sz="1100" b="0" i="0">
                <a:solidFill>
                  <a:srgbClr val="21295C"/>
                </a:solidFill>
                <a:latin typeface="Arial"/>
              </a:rPr>
              <a:t>Defect rate 1% + редкие типы → модель не видит rare defects (callback s16).</a:t>
            </a:r>
          </a:p>
        </p:txBody>
      </p:sp>
      <p:sp>
        <p:nvSpPr>
          <p:cNvPr id="7" name="Rounded Rectangle 6"/>
          <p:cNvSpPr/>
          <p:nvPr/>
        </p:nvSpPr>
        <p:spPr>
          <a:xfrm>
            <a:off x="6035040" y="1554480"/>
            <a:ext cx="5696712" cy="4572000"/>
          </a:xfrm>
          <a:prstGeom prst="roundRect">
            <a:avLst>
              <a:gd name="adj" fmla="val 10000"/>
            </a:avLst>
          </a:prstGeom>
          <a:solidFill>
            <a:srgbClr val="F4F7FA"/>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0" y="1691640"/>
            <a:ext cx="5303520" cy="457200"/>
          </a:xfrm>
          <a:prstGeom prst="rect">
            <a:avLst/>
          </a:prstGeom>
          <a:noFill/>
        </p:spPr>
        <p:txBody>
          <a:bodyPr wrap="square" lIns="0" rIns="0" tIns="0" bIns="0" anchor="t">
            <a:spAutoFit/>
          </a:bodyPr>
          <a:lstStyle/>
          <a:p>
            <a:pPr algn="l">
              <a:lnSpc>
                <a:spcPct val="115000"/>
              </a:lnSpc>
            </a:pPr>
            <a:r>
              <a:rPr sz="1600" b="1" i="0">
                <a:solidFill>
                  <a:srgbClr val="028090"/>
                </a:solidFill>
                <a:latin typeface="Arial"/>
              </a:rPr>
              <a:t>АЛЬТЕРНАТИВЫ — ДО ML</a:t>
            </a:r>
          </a:p>
        </p:txBody>
      </p:sp>
      <p:sp>
        <p:nvSpPr>
          <p:cNvPr id="9" name="TextBox 8"/>
          <p:cNvSpPr txBox="1"/>
          <p:nvPr/>
        </p:nvSpPr>
        <p:spPr>
          <a:xfrm>
            <a:off x="6355080" y="2240280"/>
            <a:ext cx="5212080" cy="3840480"/>
          </a:xfrm>
          <a:prstGeom prst="rect">
            <a:avLst/>
          </a:prstGeom>
          <a:noFill/>
        </p:spPr>
        <p:txBody>
          <a:bodyPr wrap="square" lIns="0" rIns="0" tIns="0" bIns="0" anchor="t">
            <a:spAutoFit/>
          </a:bodyPr>
          <a:lstStyle/>
          <a:p>
            <a:pPr algn="l">
              <a:lnSpc>
                <a:spcPct val="135000"/>
              </a:lnSpc>
            </a:pPr>
            <a:r>
              <a:rPr sz="1300" b="1" i="0">
                <a:solidFill>
                  <a:srgbClr val="065A82"/>
                </a:solidFill>
                <a:latin typeface="Arial"/>
              </a:rPr>
              <a:t>Physical signal amplification:</a:t>
            </a:r>
          </a:p>
          <a:p>
            <a:pPr algn="l">
              <a:lnSpc>
                <a:spcPct val="135000"/>
              </a:lnSpc>
            </a:pPr>
            <a:r>
              <a:rPr sz="1100" b="0" i="0">
                <a:solidFill>
                  <a:srgbClr val="21295C"/>
                </a:solidFill>
                <a:latin typeface="Arial"/>
              </a:rPr>
              <a:t>· Структурированный свет — 3D-микрорельеф</a:t>
            </a:r>
          </a:p>
          <a:p>
            <a:pPr algn="l">
              <a:lnSpc>
                <a:spcPct val="135000"/>
              </a:lnSpc>
            </a:pPr>
            <a:r>
              <a:rPr sz="1100" b="0" i="0">
                <a:solidFill>
                  <a:srgbClr val="21295C"/>
                </a:solidFill>
                <a:latin typeface="Arial"/>
              </a:rPr>
              <a:t>· Поляризованный свет — стресс, scratches</a:t>
            </a:r>
          </a:p>
          <a:p>
            <a:pPr algn="l">
              <a:lnSpc>
                <a:spcPct val="135000"/>
              </a:lnSpc>
            </a:pPr>
            <a:r>
              <a:rPr sz="1100" b="0" i="0">
                <a:solidFill>
                  <a:srgbClr val="21295C"/>
                </a:solidFill>
                <a:latin typeface="Arial"/>
              </a:rPr>
              <a:t>· Рентген (X-ray) — внутренние дефекты</a:t>
            </a:r>
          </a:p>
          <a:p>
            <a:pPr algn="l">
              <a:lnSpc>
                <a:spcPct val="135000"/>
              </a:lnSpc>
            </a:pPr>
            <a:r>
              <a:rPr sz="1100" b="0" i="0">
                <a:solidFill>
                  <a:srgbClr val="21295C"/>
                </a:solidFill>
                <a:latin typeface="Arial"/>
              </a:rPr>
              <a:t>· Тепловидение — горячие точки</a:t>
            </a:r>
          </a:p>
          <a:p>
            <a:pPr algn="l">
              <a:lnSpc>
                <a:spcPct val="135000"/>
              </a:lnSpc>
            </a:pPr>
            <a:r>
              <a:rPr sz="800" b="0" i="0">
                <a:solidFill>
                  <a:srgbClr val="21295C"/>
                </a:solidFill>
                <a:latin typeface="Arial"/>
              </a:rPr>
              <a:t/>
            </a:r>
          </a:p>
          <a:p>
            <a:pPr algn="l">
              <a:lnSpc>
                <a:spcPct val="135000"/>
              </a:lnSpc>
            </a:pPr>
            <a:r>
              <a:rPr sz="1300" b="1" i="0">
                <a:solidFill>
                  <a:srgbClr val="065A82"/>
                </a:solidFill>
                <a:latin typeface="Arial"/>
              </a:rPr>
              <a:t>Rules-based vision</a:t>
            </a:r>
          </a:p>
          <a:p>
            <a:pPr algn="l">
              <a:lnSpc>
                <a:spcPct val="135000"/>
              </a:lnSpc>
            </a:pPr>
            <a:r>
              <a:rPr sz="1100" b="0" i="0">
                <a:solidFill>
                  <a:srgbClr val="21295C"/>
                </a:solidFill>
                <a:latin typeface="Arial"/>
              </a:rPr>
              <a:t>Простые правила (площадь, контур, цвет). 60–70% inspection workloads в controlled env. Validated за неделю.</a:t>
            </a:r>
          </a:p>
          <a:p>
            <a:pPr algn="l">
              <a:lnSpc>
                <a:spcPct val="135000"/>
              </a:lnSpc>
            </a:pPr>
            <a:r>
              <a:rPr sz="800" b="0" i="0">
                <a:solidFill>
                  <a:srgbClr val="21295C"/>
                </a:solidFill>
                <a:latin typeface="Arial"/>
              </a:rPr>
              <a:t/>
            </a:r>
          </a:p>
          <a:p>
            <a:pPr algn="l">
              <a:lnSpc>
                <a:spcPct val="135000"/>
              </a:lnSpc>
            </a:pPr>
            <a:r>
              <a:rPr sz="1300" b="1" i="0">
                <a:solidFill>
                  <a:srgbClr val="F0AB00"/>
                </a:solidFill>
                <a:latin typeface="Arial"/>
              </a:rPr>
              <a:t>Hybrid (рекомендуется):</a:t>
            </a:r>
          </a:p>
          <a:p>
            <a:pPr algn="l">
              <a:lnSpc>
                <a:spcPct val="135000"/>
              </a:lnSpc>
            </a:pPr>
            <a:r>
              <a:rPr sz="1100" b="0" i="1">
                <a:solidFill>
                  <a:srgbClr val="21295C"/>
                </a:solidFill>
                <a:latin typeface="Arial"/>
              </a:rPr>
              <a:t>Физика → rules → ML на остатке (10–20%)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400" b="1" i="0">
                <a:solidFill>
                  <a:srgbClr val="21295C"/>
                </a:solidFill>
                <a:latin typeface="Arial"/>
              </a:rPr>
              <a:t>«80% configuration work» — vendor self-claim, не metric</a:t>
            </a:r>
          </a:p>
        </p:txBody>
      </p:sp>
      <p:sp>
        <p:nvSpPr>
          <p:cNvPr id="3" name="TextBox 2"/>
          <p:cNvSpPr txBox="1"/>
          <p:nvPr/>
        </p:nvSpPr>
        <p:spPr>
          <a:xfrm>
            <a:off x="457200" y="1005840"/>
            <a:ext cx="11274552" cy="365760"/>
          </a:xfrm>
          <a:prstGeom prst="rect">
            <a:avLst/>
          </a:prstGeom>
          <a:noFill/>
        </p:spPr>
        <p:txBody>
          <a:bodyPr wrap="square" lIns="0" rIns="0" tIns="0" bIns="0" anchor="t">
            <a:spAutoFit/>
          </a:bodyPr>
          <a:lstStyle/>
          <a:p>
            <a:pPr algn="l">
              <a:lnSpc>
                <a:spcPct val="115000"/>
              </a:lnSpc>
            </a:pPr>
            <a:r>
              <a:rPr sz="1400" b="0" i="1">
                <a:solidFill>
                  <a:srgbClr val="1C7293"/>
                </a:solidFill>
                <a:latin typeface="Arial"/>
              </a:rPr>
              <a:t>Young Liu, Foxconn chairman, Computex май 2025 — LO2 hook</a:t>
            </a:r>
          </a:p>
        </p:txBody>
      </p:sp>
      <p:sp>
        <p:nvSpPr>
          <p:cNvPr id="4" name="Rounded Rectangle 3"/>
          <p:cNvSpPr/>
          <p:nvPr/>
        </p:nvSpPr>
        <p:spPr>
          <a:xfrm>
            <a:off x="457200" y="1508760"/>
            <a:ext cx="11274552" cy="128016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91640"/>
            <a:ext cx="10972800" cy="548640"/>
          </a:xfrm>
          <a:prstGeom prst="rect">
            <a:avLst/>
          </a:prstGeom>
          <a:noFill/>
        </p:spPr>
        <p:txBody>
          <a:bodyPr wrap="square" lIns="0" rIns="0" tIns="0" bIns="0" anchor="t">
            <a:spAutoFit/>
          </a:bodyPr>
          <a:lstStyle/>
          <a:p>
            <a:pPr algn="ctr">
              <a:lnSpc>
                <a:spcPct val="115000"/>
              </a:lnSpc>
            </a:pPr>
            <a:r>
              <a:rPr sz="1400" b="0" i="1">
                <a:solidFill>
                  <a:srgbClr val="21295C"/>
                </a:solidFill>
                <a:latin typeface="Arial"/>
              </a:rPr>
              <a:t>«After plugging AI tools into Foxconn's workflows, software now performs roughly 80 percent of the work required to configure equipment for a fresh production run.»</a:t>
            </a:r>
          </a:p>
        </p:txBody>
      </p:sp>
      <p:sp>
        <p:nvSpPr>
          <p:cNvPr id="6" name="TextBox 5"/>
          <p:cNvSpPr txBox="1"/>
          <p:nvPr/>
        </p:nvSpPr>
        <p:spPr>
          <a:xfrm>
            <a:off x="640080" y="2331720"/>
            <a:ext cx="10972800" cy="365760"/>
          </a:xfrm>
          <a:prstGeom prst="rect">
            <a:avLst/>
          </a:prstGeom>
          <a:noFill/>
        </p:spPr>
        <p:txBody>
          <a:bodyPr wrap="square" lIns="0" rIns="0" tIns="0" bIns="0" anchor="t">
            <a:spAutoFit/>
          </a:bodyPr>
          <a:lstStyle/>
          <a:p>
            <a:pPr algn="ctr">
              <a:lnSpc>
                <a:spcPct val="115000"/>
              </a:lnSpc>
            </a:pPr>
            <a:r>
              <a:rPr sz="1100" b="0" i="1">
                <a:solidFill>
                  <a:srgbClr val="6B7685"/>
                </a:solidFill>
                <a:latin typeface="Arial"/>
              </a:rPr>
              <a:t>— Young Liu, Foxconn chairman · Computex 2025</a:t>
            </a:r>
          </a:p>
        </p:txBody>
      </p:sp>
      <p:sp>
        <p:nvSpPr>
          <p:cNvPr id="7" name="TextBox 6"/>
          <p:cNvSpPr txBox="1"/>
          <p:nvPr/>
        </p:nvSpPr>
        <p:spPr>
          <a:xfrm>
            <a:off x="457200" y="2926080"/>
            <a:ext cx="11274552" cy="457200"/>
          </a:xfrm>
          <a:prstGeom prst="rect">
            <a:avLst/>
          </a:prstGeom>
          <a:noFill/>
        </p:spPr>
        <p:txBody>
          <a:bodyPr wrap="square" lIns="0" rIns="0" tIns="0" bIns="0" anchor="t">
            <a:spAutoFit/>
          </a:bodyPr>
          <a:lstStyle/>
          <a:p>
            <a:pPr algn="ctr">
              <a:lnSpc>
                <a:spcPct val="115000"/>
              </a:lnSpc>
            </a:pPr>
            <a:r>
              <a:rPr sz="1800" b="1" i="0">
                <a:solidFill>
                  <a:srgbClr val="065A82"/>
                </a:solidFill>
                <a:latin typeface="Arial"/>
              </a:rPr>
              <a:t>Четыре уточняющих вопроса к вендору (для кармана)</a:t>
            </a:r>
          </a:p>
        </p:txBody>
      </p:sp>
      <p:sp>
        <p:nvSpPr>
          <p:cNvPr id="8" name="Rounded Rectangle 7"/>
          <p:cNvSpPr/>
          <p:nvPr/>
        </p:nvSpPr>
        <p:spPr>
          <a:xfrm>
            <a:off x="457200" y="3520440"/>
            <a:ext cx="2697480" cy="27432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40180" y="3749039"/>
            <a:ext cx="731520" cy="73152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3749039"/>
            <a:ext cx="2697480" cy="731520"/>
          </a:xfrm>
          <a:prstGeom prst="rect">
            <a:avLst/>
          </a:prstGeom>
          <a:noFill/>
        </p:spPr>
        <p:txBody>
          <a:bodyPr wrap="square" lIns="0" rIns="0" tIns="0" bIns="0" anchor="ctr">
            <a:spAutoFit/>
          </a:bodyPr>
          <a:lstStyle/>
          <a:p>
            <a:pPr algn="ctr">
              <a:lnSpc>
                <a:spcPct val="115000"/>
              </a:lnSpc>
            </a:pPr>
            <a:r>
              <a:rPr sz="3000" b="1" i="0">
                <a:solidFill>
                  <a:srgbClr val="FFFFFF"/>
                </a:solidFill>
                <a:latin typeface="Arial"/>
              </a:rPr>
              <a:t>1</a:t>
            </a:r>
          </a:p>
        </p:txBody>
      </p:sp>
      <p:sp>
        <p:nvSpPr>
          <p:cNvPr id="11" name="TextBox 10"/>
          <p:cNvSpPr txBox="1"/>
          <p:nvPr/>
        </p:nvSpPr>
        <p:spPr>
          <a:xfrm>
            <a:off x="594360" y="4572000"/>
            <a:ext cx="2423160" cy="457200"/>
          </a:xfrm>
          <a:prstGeom prst="rect">
            <a:avLst/>
          </a:prstGeom>
          <a:noFill/>
        </p:spPr>
        <p:txBody>
          <a:bodyPr wrap="square" lIns="0" rIns="0" tIns="0" bIns="0" anchor="t">
            <a:spAutoFit/>
          </a:bodyPr>
          <a:lstStyle/>
          <a:p>
            <a:pPr algn="ctr">
              <a:lnSpc>
                <a:spcPct val="115000"/>
              </a:lnSpc>
            </a:pPr>
            <a:r>
              <a:rPr sz="1400" b="1" i="0">
                <a:solidFill>
                  <a:srgbClr val="21295C"/>
                </a:solidFill>
                <a:latin typeface="Arial"/>
              </a:rPr>
              <a:t>Baseline до AI</a:t>
            </a:r>
          </a:p>
        </p:txBody>
      </p:sp>
      <p:sp>
        <p:nvSpPr>
          <p:cNvPr id="12" name="TextBox 11"/>
          <p:cNvSpPr txBox="1"/>
          <p:nvPr/>
        </p:nvSpPr>
        <p:spPr>
          <a:xfrm>
            <a:off x="640080" y="5120640"/>
            <a:ext cx="2331720" cy="1097280"/>
          </a:xfrm>
          <a:prstGeom prst="rect">
            <a:avLst/>
          </a:prstGeom>
          <a:noFill/>
        </p:spPr>
        <p:txBody>
          <a:bodyPr wrap="square" lIns="0" rIns="0" tIns="0" bIns="0" anchor="t">
            <a:spAutoFit/>
          </a:bodyPr>
          <a:lstStyle/>
          <a:p>
            <a:pPr algn="ctr">
              <a:lnSpc>
                <a:spcPct val="135000"/>
              </a:lnSpc>
            </a:pPr>
            <a:r>
              <a:rPr sz="1100" b="0" i="0">
                <a:solidFill>
                  <a:srgbClr val="4A556B"/>
                </a:solidFill>
                <a:latin typeface="Arial"/>
              </a:rPr>
              <a:t>На какой объём работы сравниваете? Сколько FTE раньше?</a:t>
            </a:r>
          </a:p>
        </p:txBody>
      </p:sp>
      <p:sp>
        <p:nvSpPr>
          <p:cNvPr id="13" name="Rounded Rectangle 12"/>
          <p:cNvSpPr/>
          <p:nvPr/>
        </p:nvSpPr>
        <p:spPr>
          <a:xfrm>
            <a:off x="3246120" y="3520440"/>
            <a:ext cx="2697480" cy="27432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229100" y="3749039"/>
            <a:ext cx="731520" cy="73152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46120" y="3749039"/>
            <a:ext cx="2697480" cy="731520"/>
          </a:xfrm>
          <a:prstGeom prst="rect">
            <a:avLst/>
          </a:prstGeom>
          <a:noFill/>
        </p:spPr>
        <p:txBody>
          <a:bodyPr wrap="square" lIns="0" rIns="0" tIns="0" bIns="0" anchor="ctr">
            <a:spAutoFit/>
          </a:bodyPr>
          <a:lstStyle/>
          <a:p>
            <a:pPr algn="ctr">
              <a:lnSpc>
                <a:spcPct val="115000"/>
              </a:lnSpc>
            </a:pPr>
            <a:r>
              <a:rPr sz="3000" b="1" i="0">
                <a:solidFill>
                  <a:srgbClr val="FFFFFF"/>
                </a:solidFill>
                <a:latin typeface="Arial"/>
              </a:rPr>
              <a:t>2</a:t>
            </a:r>
          </a:p>
        </p:txBody>
      </p:sp>
      <p:sp>
        <p:nvSpPr>
          <p:cNvPr id="16" name="TextBox 15"/>
          <p:cNvSpPr txBox="1"/>
          <p:nvPr/>
        </p:nvSpPr>
        <p:spPr>
          <a:xfrm>
            <a:off x="3383280" y="4572000"/>
            <a:ext cx="2423160" cy="457200"/>
          </a:xfrm>
          <a:prstGeom prst="rect">
            <a:avLst/>
          </a:prstGeom>
          <a:noFill/>
        </p:spPr>
        <p:txBody>
          <a:bodyPr wrap="square" lIns="0" rIns="0" tIns="0" bIns="0" anchor="t">
            <a:spAutoFit/>
          </a:bodyPr>
          <a:lstStyle/>
          <a:p>
            <a:pPr algn="ctr">
              <a:lnSpc>
                <a:spcPct val="115000"/>
              </a:lnSpc>
            </a:pPr>
            <a:r>
              <a:rPr sz="1400" b="1" i="0">
                <a:solidFill>
                  <a:srgbClr val="21295C"/>
                </a:solidFill>
                <a:latin typeface="Arial"/>
              </a:rPr>
              <a:t>Окно измерения</a:t>
            </a:r>
          </a:p>
        </p:txBody>
      </p:sp>
      <p:sp>
        <p:nvSpPr>
          <p:cNvPr id="17" name="TextBox 16"/>
          <p:cNvSpPr txBox="1"/>
          <p:nvPr/>
        </p:nvSpPr>
        <p:spPr>
          <a:xfrm>
            <a:off x="3429000" y="5120640"/>
            <a:ext cx="2331720" cy="1097280"/>
          </a:xfrm>
          <a:prstGeom prst="rect">
            <a:avLst/>
          </a:prstGeom>
          <a:noFill/>
        </p:spPr>
        <p:txBody>
          <a:bodyPr wrap="square" lIns="0" rIns="0" tIns="0" bIns="0" anchor="t">
            <a:spAutoFit/>
          </a:bodyPr>
          <a:lstStyle/>
          <a:p>
            <a:pPr algn="ctr">
              <a:lnSpc>
                <a:spcPct val="135000"/>
              </a:lnSpc>
            </a:pPr>
            <a:r>
              <a:rPr sz="1100" b="0" i="0">
                <a:solidFill>
                  <a:srgbClr val="4A556B"/>
                </a:solidFill>
                <a:latin typeface="Arial"/>
              </a:rPr>
              <a:t>Период оценки — день, неделя, месяц? Особый продукт или средний run?</a:t>
            </a:r>
          </a:p>
        </p:txBody>
      </p:sp>
      <p:sp>
        <p:nvSpPr>
          <p:cNvPr id="18" name="Rounded Rectangle 17"/>
          <p:cNvSpPr/>
          <p:nvPr/>
        </p:nvSpPr>
        <p:spPr>
          <a:xfrm>
            <a:off x="6035040" y="3520440"/>
            <a:ext cx="2697480" cy="27432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018020" y="3749039"/>
            <a:ext cx="731520" cy="73152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35040" y="3749039"/>
            <a:ext cx="2697480" cy="731520"/>
          </a:xfrm>
          <a:prstGeom prst="rect">
            <a:avLst/>
          </a:prstGeom>
          <a:noFill/>
        </p:spPr>
        <p:txBody>
          <a:bodyPr wrap="square" lIns="0" rIns="0" tIns="0" bIns="0" anchor="ctr">
            <a:spAutoFit/>
          </a:bodyPr>
          <a:lstStyle/>
          <a:p>
            <a:pPr algn="ctr">
              <a:lnSpc>
                <a:spcPct val="115000"/>
              </a:lnSpc>
            </a:pPr>
            <a:r>
              <a:rPr sz="3000" b="1" i="0">
                <a:solidFill>
                  <a:srgbClr val="FFFFFF"/>
                </a:solidFill>
                <a:latin typeface="Arial"/>
              </a:rPr>
              <a:t>3</a:t>
            </a:r>
          </a:p>
        </p:txBody>
      </p:sp>
      <p:sp>
        <p:nvSpPr>
          <p:cNvPr id="21" name="TextBox 20"/>
          <p:cNvSpPr txBox="1"/>
          <p:nvPr/>
        </p:nvSpPr>
        <p:spPr>
          <a:xfrm>
            <a:off x="6172200" y="4572000"/>
            <a:ext cx="2423160" cy="457200"/>
          </a:xfrm>
          <a:prstGeom prst="rect">
            <a:avLst/>
          </a:prstGeom>
          <a:noFill/>
        </p:spPr>
        <p:txBody>
          <a:bodyPr wrap="square" lIns="0" rIns="0" tIns="0" bIns="0" anchor="t">
            <a:spAutoFit/>
          </a:bodyPr>
          <a:lstStyle/>
          <a:p>
            <a:pPr algn="ctr">
              <a:lnSpc>
                <a:spcPct val="115000"/>
              </a:lnSpc>
            </a:pPr>
            <a:r>
              <a:rPr sz="1400" b="1" i="0">
                <a:solidFill>
                  <a:srgbClr val="21295C"/>
                </a:solidFill>
                <a:latin typeface="Arial"/>
              </a:rPr>
              <a:t>Перечень вмешательств</a:t>
            </a:r>
          </a:p>
        </p:txBody>
      </p:sp>
      <p:sp>
        <p:nvSpPr>
          <p:cNvPr id="22" name="TextBox 21"/>
          <p:cNvSpPr txBox="1"/>
          <p:nvPr/>
        </p:nvSpPr>
        <p:spPr>
          <a:xfrm>
            <a:off x="6217920" y="5120640"/>
            <a:ext cx="2331720" cy="1097280"/>
          </a:xfrm>
          <a:prstGeom prst="rect">
            <a:avLst/>
          </a:prstGeom>
          <a:noFill/>
        </p:spPr>
        <p:txBody>
          <a:bodyPr wrap="square" lIns="0" rIns="0" tIns="0" bIns="0" anchor="t">
            <a:spAutoFit/>
          </a:bodyPr>
          <a:lstStyle/>
          <a:p>
            <a:pPr algn="ctr">
              <a:lnSpc>
                <a:spcPct val="135000"/>
              </a:lnSpc>
            </a:pPr>
            <a:r>
              <a:rPr sz="1100" b="0" i="0">
                <a:solidFill>
                  <a:srgbClr val="4A556B"/>
                </a:solidFill>
                <a:latin typeface="Arial"/>
              </a:rPr>
              <a:t>Какие AI-инструменты учтены в «80%»? Что автоматизировано, что — частично?</a:t>
            </a:r>
          </a:p>
        </p:txBody>
      </p:sp>
      <p:sp>
        <p:nvSpPr>
          <p:cNvPr id="23" name="Rounded Rectangle 22"/>
          <p:cNvSpPr/>
          <p:nvPr/>
        </p:nvSpPr>
        <p:spPr>
          <a:xfrm>
            <a:off x="8823960" y="3520440"/>
            <a:ext cx="2697480" cy="27432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806940" y="3749039"/>
            <a:ext cx="731520" cy="73152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823960" y="3749039"/>
            <a:ext cx="2697480" cy="731520"/>
          </a:xfrm>
          <a:prstGeom prst="rect">
            <a:avLst/>
          </a:prstGeom>
          <a:noFill/>
        </p:spPr>
        <p:txBody>
          <a:bodyPr wrap="square" lIns="0" rIns="0" tIns="0" bIns="0" anchor="ctr">
            <a:spAutoFit/>
          </a:bodyPr>
          <a:lstStyle/>
          <a:p>
            <a:pPr algn="ctr">
              <a:lnSpc>
                <a:spcPct val="115000"/>
              </a:lnSpc>
            </a:pPr>
            <a:r>
              <a:rPr sz="3000" b="1" i="0">
                <a:solidFill>
                  <a:srgbClr val="FFFFFF"/>
                </a:solidFill>
                <a:latin typeface="Arial"/>
              </a:rPr>
              <a:t>4</a:t>
            </a:r>
          </a:p>
        </p:txBody>
      </p:sp>
      <p:sp>
        <p:nvSpPr>
          <p:cNvPr id="26" name="TextBox 25"/>
          <p:cNvSpPr txBox="1"/>
          <p:nvPr/>
        </p:nvSpPr>
        <p:spPr>
          <a:xfrm>
            <a:off x="8961120" y="4572000"/>
            <a:ext cx="2423160" cy="457200"/>
          </a:xfrm>
          <a:prstGeom prst="rect">
            <a:avLst/>
          </a:prstGeom>
          <a:noFill/>
        </p:spPr>
        <p:txBody>
          <a:bodyPr wrap="square" lIns="0" rIns="0" tIns="0" bIns="0" anchor="t">
            <a:spAutoFit/>
          </a:bodyPr>
          <a:lstStyle/>
          <a:p>
            <a:pPr algn="ctr">
              <a:lnSpc>
                <a:spcPct val="115000"/>
              </a:lnSpc>
            </a:pPr>
            <a:r>
              <a:rPr sz="1400" b="1" i="0">
                <a:solidFill>
                  <a:srgbClr val="21295C"/>
                </a:solidFill>
                <a:latin typeface="Arial"/>
              </a:rPr>
              <a:t>OEE-канал</a:t>
            </a:r>
          </a:p>
        </p:txBody>
      </p:sp>
      <p:sp>
        <p:nvSpPr>
          <p:cNvPr id="27" name="TextBox 26"/>
          <p:cNvSpPr txBox="1"/>
          <p:nvPr/>
        </p:nvSpPr>
        <p:spPr>
          <a:xfrm>
            <a:off x="9006840" y="5120640"/>
            <a:ext cx="2331720" cy="1097280"/>
          </a:xfrm>
          <a:prstGeom prst="rect">
            <a:avLst/>
          </a:prstGeom>
          <a:noFill/>
        </p:spPr>
        <p:txBody>
          <a:bodyPr wrap="square" lIns="0" rIns="0" tIns="0" bIns="0" anchor="t">
            <a:spAutoFit/>
          </a:bodyPr>
          <a:lstStyle/>
          <a:p>
            <a:pPr algn="ctr">
              <a:lnSpc>
                <a:spcPct val="135000"/>
              </a:lnSpc>
            </a:pPr>
            <a:r>
              <a:rPr sz="1100" b="0" i="0">
                <a:solidFill>
                  <a:srgbClr val="4A556B"/>
                </a:solidFill>
                <a:latin typeface="Arial"/>
              </a:rPr>
              <a:t>Availability (быстрее переход)? Performance (выше throughput)? Quality (меньше переделок)?</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800" b="1" i="0">
                <a:solidFill>
                  <a:srgbClr val="21295C"/>
                </a:solidFill>
                <a:latin typeface="Arial"/>
              </a:rPr>
              <a:t>Четыре типа провалов на дискретном</a:t>
            </a:r>
          </a:p>
        </p:txBody>
      </p:sp>
      <p:sp>
        <p:nvSpPr>
          <p:cNvPr id="3" name="TextBox 2"/>
          <p:cNvSpPr txBox="1"/>
          <p:nvPr/>
        </p:nvSpPr>
        <p:spPr>
          <a:xfrm>
            <a:off x="457200" y="1051560"/>
            <a:ext cx="11274552" cy="365760"/>
          </a:xfrm>
          <a:prstGeom prst="rect">
            <a:avLst/>
          </a:prstGeom>
          <a:noFill/>
        </p:spPr>
        <p:txBody>
          <a:bodyPr wrap="square" lIns="0" rIns="0" tIns="0" bIns="0" anchor="t">
            <a:spAutoFit/>
          </a:bodyPr>
          <a:lstStyle/>
          <a:p>
            <a:pPr algn="l">
              <a:lnSpc>
                <a:spcPct val="115000"/>
              </a:lnSpc>
            </a:pPr>
            <a:r>
              <a:rPr sz="1400" b="0" i="1">
                <a:solidFill>
                  <a:srgbClr val="1C7293"/>
                </a:solidFill>
                <a:latin typeface="Arial"/>
              </a:rPr>
              <a:t>Failure-pattern matrix — эмпирическая база для категорий §4</a:t>
            </a:r>
          </a:p>
        </p:txBody>
      </p:sp>
      <p:sp>
        <p:nvSpPr>
          <p:cNvPr id="4" name="Rounded Rectangle 3"/>
          <p:cNvSpPr/>
          <p:nvPr/>
        </p:nvSpPr>
        <p:spPr>
          <a:xfrm>
            <a:off x="457200" y="1645920"/>
            <a:ext cx="5532120" cy="219456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645920"/>
            <a:ext cx="137160" cy="21945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783080"/>
            <a:ext cx="5166359" cy="365760"/>
          </a:xfrm>
          <a:prstGeom prst="rect">
            <a:avLst/>
          </a:prstGeom>
          <a:noFill/>
        </p:spPr>
        <p:txBody>
          <a:bodyPr wrap="square" lIns="0" rIns="0" tIns="0" bIns="0" anchor="t">
            <a:spAutoFit/>
          </a:bodyPr>
          <a:lstStyle/>
          <a:p>
            <a:pPr algn="l">
              <a:lnSpc>
                <a:spcPct val="115000"/>
              </a:lnSpc>
            </a:pPr>
            <a:r>
              <a:rPr sz="1500" b="1" i="0">
                <a:solidFill>
                  <a:srgbClr val="21295C"/>
                </a:solidFill>
                <a:latin typeface="Arial"/>
              </a:rPr>
              <a:t>1. Чрезмерная автоматизация</a:t>
            </a:r>
          </a:p>
        </p:txBody>
      </p:sp>
      <p:sp>
        <p:nvSpPr>
          <p:cNvPr id="7" name="Rounded Rectangle 6"/>
          <p:cNvSpPr/>
          <p:nvPr/>
        </p:nvSpPr>
        <p:spPr>
          <a:xfrm>
            <a:off x="731520" y="2240280"/>
            <a:ext cx="2286000" cy="3657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267712"/>
            <a:ext cx="2194560" cy="320040"/>
          </a:xfrm>
          <a:prstGeom prst="rect">
            <a:avLst/>
          </a:prstGeom>
          <a:noFill/>
        </p:spPr>
        <p:txBody>
          <a:bodyPr wrap="square" lIns="0" rIns="0" tIns="0" bIns="0" anchor="ctr">
            <a:spAutoFit/>
          </a:bodyPr>
          <a:lstStyle/>
          <a:p>
            <a:pPr algn="l">
              <a:lnSpc>
                <a:spcPct val="115000"/>
              </a:lnSpc>
            </a:pPr>
            <a:r>
              <a:rPr sz="1100" b="1" i="0">
                <a:solidFill>
                  <a:srgbClr val="21295C"/>
                </a:solidFill>
                <a:latin typeface="Arial"/>
              </a:rPr>
              <a:t>Кейс: Tesla 2018</a:t>
            </a:r>
          </a:p>
        </p:txBody>
      </p:sp>
      <p:sp>
        <p:nvSpPr>
          <p:cNvPr id="9" name="TextBox 8"/>
          <p:cNvSpPr txBox="1"/>
          <p:nvPr/>
        </p:nvSpPr>
        <p:spPr>
          <a:xfrm>
            <a:off x="731520" y="2743200"/>
            <a:ext cx="5166359" cy="411480"/>
          </a:xfrm>
          <a:prstGeom prst="rect">
            <a:avLst/>
          </a:prstGeom>
          <a:noFill/>
        </p:spPr>
        <p:txBody>
          <a:bodyPr wrap="square" lIns="0" rIns="0" tIns="0" bIns="0" anchor="t">
            <a:spAutoFit/>
          </a:bodyPr>
          <a:lstStyle/>
          <a:p>
            <a:pPr algn="l">
              <a:lnSpc>
                <a:spcPct val="115000"/>
              </a:lnSpc>
            </a:pPr>
            <a:r>
              <a:rPr sz="1100" b="0" i="1">
                <a:solidFill>
                  <a:srgbClr val="4A556B"/>
                </a:solidFill>
                <a:latin typeface="Arial"/>
              </a:rPr>
              <a:t>Где видно: Replace там, где variability = feature</a:t>
            </a:r>
          </a:p>
        </p:txBody>
      </p:sp>
      <p:sp>
        <p:nvSpPr>
          <p:cNvPr id="10" name="TextBox 9"/>
          <p:cNvSpPr txBox="1"/>
          <p:nvPr/>
        </p:nvSpPr>
        <p:spPr>
          <a:xfrm>
            <a:off x="731520" y="3246120"/>
            <a:ext cx="5166359" cy="457200"/>
          </a:xfrm>
          <a:prstGeom prst="rect">
            <a:avLst/>
          </a:prstGeom>
          <a:noFill/>
        </p:spPr>
        <p:txBody>
          <a:bodyPr wrap="square" lIns="0" rIns="0" tIns="0" bIns="0" anchor="t">
            <a:spAutoFit/>
          </a:bodyPr>
          <a:lstStyle/>
          <a:p>
            <a:pPr algn="l">
              <a:lnSpc>
                <a:spcPct val="115000"/>
              </a:lnSpc>
            </a:pPr>
            <a:r>
              <a:rPr sz="1200" b="1" i="0">
                <a:solidFill>
                  <a:srgbClr val="065A82"/>
                </a:solidFill>
                <a:latin typeface="Arial"/>
              </a:rPr>
              <a:t>Урок: augment, не replace · Jidoka</a:t>
            </a:r>
          </a:p>
        </p:txBody>
      </p:sp>
      <p:sp>
        <p:nvSpPr>
          <p:cNvPr id="11" name="Rounded Rectangle 10"/>
          <p:cNvSpPr/>
          <p:nvPr/>
        </p:nvSpPr>
        <p:spPr>
          <a:xfrm>
            <a:off x="6126480" y="1645920"/>
            <a:ext cx="5532120" cy="219456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26480" y="1645920"/>
            <a:ext cx="137160" cy="219456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783080"/>
            <a:ext cx="5166359" cy="365760"/>
          </a:xfrm>
          <a:prstGeom prst="rect">
            <a:avLst/>
          </a:prstGeom>
          <a:noFill/>
        </p:spPr>
        <p:txBody>
          <a:bodyPr wrap="square" lIns="0" rIns="0" tIns="0" bIns="0" anchor="t">
            <a:spAutoFit/>
          </a:bodyPr>
          <a:lstStyle/>
          <a:p>
            <a:pPr algn="l">
              <a:lnSpc>
                <a:spcPct val="115000"/>
              </a:lnSpc>
            </a:pPr>
            <a:r>
              <a:rPr sz="1500" b="1" i="0">
                <a:solidFill>
                  <a:srgbClr val="21295C"/>
                </a:solidFill>
                <a:latin typeface="Arial"/>
              </a:rPr>
              <a:t>2. Сдвиг распределения</a:t>
            </a:r>
          </a:p>
        </p:txBody>
      </p:sp>
      <p:sp>
        <p:nvSpPr>
          <p:cNvPr id="14" name="Rounded Rectangle 13"/>
          <p:cNvSpPr/>
          <p:nvPr/>
        </p:nvSpPr>
        <p:spPr>
          <a:xfrm>
            <a:off x="6400800" y="2240280"/>
            <a:ext cx="2286000" cy="3657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2267712"/>
            <a:ext cx="2194560" cy="320040"/>
          </a:xfrm>
          <a:prstGeom prst="rect">
            <a:avLst/>
          </a:prstGeom>
          <a:noFill/>
        </p:spPr>
        <p:txBody>
          <a:bodyPr wrap="square" lIns="0" rIns="0" tIns="0" bIns="0" anchor="ctr">
            <a:spAutoFit/>
          </a:bodyPr>
          <a:lstStyle/>
          <a:p>
            <a:pPr algn="l">
              <a:lnSpc>
                <a:spcPct val="115000"/>
              </a:lnSpc>
            </a:pPr>
            <a:r>
              <a:rPr sz="1100" b="1" i="0">
                <a:solidFill>
                  <a:srgbClr val="21295C"/>
                </a:solidFill>
                <a:latin typeface="Arial"/>
              </a:rPr>
              <a:t>Кейс: CV модель A → B</a:t>
            </a:r>
          </a:p>
        </p:txBody>
      </p:sp>
      <p:sp>
        <p:nvSpPr>
          <p:cNvPr id="16" name="TextBox 15"/>
          <p:cNvSpPr txBox="1"/>
          <p:nvPr/>
        </p:nvSpPr>
        <p:spPr>
          <a:xfrm>
            <a:off x="6400800" y="2743200"/>
            <a:ext cx="5166359" cy="411480"/>
          </a:xfrm>
          <a:prstGeom prst="rect">
            <a:avLst/>
          </a:prstGeom>
          <a:noFill/>
        </p:spPr>
        <p:txBody>
          <a:bodyPr wrap="square" lIns="0" rIns="0" tIns="0" bIns="0" anchor="t">
            <a:spAutoFit/>
          </a:bodyPr>
          <a:lstStyle/>
          <a:p>
            <a:pPr algn="l">
              <a:lnSpc>
                <a:spcPct val="115000"/>
              </a:lnSpc>
            </a:pPr>
            <a:r>
              <a:rPr sz="1100" b="0" i="1">
                <a:solidFill>
                  <a:srgbClr val="4A556B"/>
                </a:solidFill>
                <a:latin typeface="Arial"/>
              </a:rPr>
              <a:t>Где видно: Заводы с 5+ моделями · смена поставщика</a:t>
            </a:r>
          </a:p>
        </p:txBody>
      </p:sp>
      <p:sp>
        <p:nvSpPr>
          <p:cNvPr id="17" name="TextBox 16"/>
          <p:cNvSpPr txBox="1"/>
          <p:nvPr/>
        </p:nvSpPr>
        <p:spPr>
          <a:xfrm>
            <a:off x="6400800" y="3246120"/>
            <a:ext cx="5166359" cy="457200"/>
          </a:xfrm>
          <a:prstGeom prst="rect">
            <a:avLst/>
          </a:prstGeom>
          <a:noFill/>
        </p:spPr>
        <p:txBody>
          <a:bodyPr wrap="square" lIns="0" rIns="0" tIns="0" bIns="0" anchor="t">
            <a:spAutoFit/>
          </a:bodyPr>
          <a:lstStyle/>
          <a:p>
            <a:pPr algn="l">
              <a:lnSpc>
                <a:spcPct val="115000"/>
              </a:lnSpc>
            </a:pPr>
            <a:r>
              <a:rPr sz="1200" b="1" i="0">
                <a:solidFill>
                  <a:srgbClr val="065A82"/>
                </a:solidFill>
                <a:latin typeface="Arial"/>
              </a:rPr>
              <a:t>Урок: план дообучения · rules-fallback</a:t>
            </a:r>
          </a:p>
        </p:txBody>
      </p:sp>
      <p:sp>
        <p:nvSpPr>
          <p:cNvPr id="18" name="Rounded Rectangle 17"/>
          <p:cNvSpPr/>
          <p:nvPr/>
        </p:nvSpPr>
        <p:spPr>
          <a:xfrm>
            <a:off x="457200" y="3977639"/>
            <a:ext cx="5532120" cy="219456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3977639"/>
            <a:ext cx="137160" cy="219456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4114800"/>
            <a:ext cx="5166359" cy="365760"/>
          </a:xfrm>
          <a:prstGeom prst="rect">
            <a:avLst/>
          </a:prstGeom>
          <a:noFill/>
        </p:spPr>
        <p:txBody>
          <a:bodyPr wrap="square" lIns="0" rIns="0" tIns="0" bIns="0" anchor="t">
            <a:spAutoFit/>
          </a:bodyPr>
          <a:lstStyle/>
          <a:p>
            <a:pPr algn="l">
              <a:lnSpc>
                <a:spcPct val="115000"/>
              </a:lnSpc>
            </a:pPr>
            <a:r>
              <a:rPr sz="1500" b="1" i="0">
                <a:solidFill>
                  <a:srgbClr val="21295C"/>
                </a:solidFill>
                <a:latin typeface="Arial"/>
              </a:rPr>
              <a:t>3. Scarce labels + class imbalance</a:t>
            </a:r>
          </a:p>
        </p:txBody>
      </p:sp>
      <p:sp>
        <p:nvSpPr>
          <p:cNvPr id="21" name="Rounded Rectangle 20"/>
          <p:cNvSpPr/>
          <p:nvPr/>
        </p:nvSpPr>
        <p:spPr>
          <a:xfrm>
            <a:off x="731520" y="4572000"/>
            <a:ext cx="2286000" cy="3657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599431"/>
            <a:ext cx="2194560" cy="320040"/>
          </a:xfrm>
          <a:prstGeom prst="rect">
            <a:avLst/>
          </a:prstGeom>
          <a:noFill/>
        </p:spPr>
        <p:txBody>
          <a:bodyPr wrap="square" lIns="0" rIns="0" tIns="0" bIns="0" anchor="ctr">
            <a:spAutoFit/>
          </a:bodyPr>
          <a:lstStyle/>
          <a:p>
            <a:pPr algn="l">
              <a:lnSpc>
                <a:spcPct val="115000"/>
              </a:lnSpc>
            </a:pPr>
            <a:r>
              <a:rPr sz="1100" b="1" i="0">
                <a:solidFill>
                  <a:srgbClr val="21295C"/>
                </a:solidFill>
                <a:latin typeface="Arial"/>
              </a:rPr>
              <a:t>Кейс: Boeing 737 door-plug</a:t>
            </a:r>
          </a:p>
        </p:txBody>
      </p:sp>
      <p:sp>
        <p:nvSpPr>
          <p:cNvPr id="23" name="TextBox 22"/>
          <p:cNvSpPr txBox="1"/>
          <p:nvPr/>
        </p:nvSpPr>
        <p:spPr>
          <a:xfrm>
            <a:off x="731520" y="5074920"/>
            <a:ext cx="5166359" cy="411480"/>
          </a:xfrm>
          <a:prstGeom prst="rect">
            <a:avLst/>
          </a:prstGeom>
          <a:noFill/>
        </p:spPr>
        <p:txBody>
          <a:bodyPr wrap="square" lIns="0" rIns="0" tIns="0" bIns="0" anchor="t">
            <a:spAutoFit/>
          </a:bodyPr>
          <a:lstStyle/>
          <a:p>
            <a:pPr algn="l">
              <a:lnSpc>
                <a:spcPct val="115000"/>
              </a:lnSpc>
            </a:pPr>
            <a:r>
              <a:rPr sz="1100" b="0" i="1">
                <a:solidFill>
                  <a:srgbClr val="4A556B"/>
                </a:solidFill>
                <a:latin typeface="Arial"/>
              </a:rPr>
              <a:t>Где видно: 1 дефект на 10 000 · стоимость разметки</a:t>
            </a:r>
          </a:p>
        </p:txBody>
      </p:sp>
      <p:sp>
        <p:nvSpPr>
          <p:cNvPr id="24" name="TextBox 23"/>
          <p:cNvSpPr txBox="1"/>
          <p:nvPr/>
        </p:nvSpPr>
        <p:spPr>
          <a:xfrm>
            <a:off x="731520" y="5577840"/>
            <a:ext cx="5166359" cy="457200"/>
          </a:xfrm>
          <a:prstGeom prst="rect">
            <a:avLst/>
          </a:prstGeom>
          <a:noFill/>
        </p:spPr>
        <p:txBody>
          <a:bodyPr wrap="square" lIns="0" rIns="0" tIns="0" bIns="0" anchor="t">
            <a:spAutoFit/>
          </a:bodyPr>
          <a:lstStyle/>
          <a:p>
            <a:pPr algn="l">
              <a:lnSpc>
                <a:spcPct val="115000"/>
              </a:lnSpc>
            </a:pPr>
            <a:r>
              <a:rPr sz="1200" b="1" i="0">
                <a:solidFill>
                  <a:srgbClr val="065A82"/>
                </a:solidFill>
                <a:latin typeface="Arial"/>
              </a:rPr>
              <a:t>Урок: physical signal · rules ДО ML</a:t>
            </a:r>
          </a:p>
        </p:txBody>
      </p:sp>
      <p:sp>
        <p:nvSpPr>
          <p:cNvPr id="25" name="Rounded Rectangle 24"/>
          <p:cNvSpPr/>
          <p:nvPr/>
        </p:nvSpPr>
        <p:spPr>
          <a:xfrm>
            <a:off x="6126480" y="3977639"/>
            <a:ext cx="5532120" cy="219456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26480" y="3977639"/>
            <a:ext cx="137160" cy="219456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0" y="4114800"/>
            <a:ext cx="5166359" cy="365760"/>
          </a:xfrm>
          <a:prstGeom prst="rect">
            <a:avLst/>
          </a:prstGeom>
          <a:noFill/>
        </p:spPr>
        <p:txBody>
          <a:bodyPr wrap="square" lIns="0" rIns="0" tIns="0" bIns="0" anchor="t">
            <a:spAutoFit/>
          </a:bodyPr>
          <a:lstStyle/>
          <a:p>
            <a:pPr algn="l">
              <a:lnSpc>
                <a:spcPct val="115000"/>
              </a:lnSpc>
            </a:pPr>
            <a:r>
              <a:rPr sz="1500" b="1" i="0">
                <a:solidFill>
                  <a:srgbClr val="21295C"/>
                </a:solidFill>
                <a:latin typeface="Arial"/>
              </a:rPr>
              <a:t>4. Vendor self-claim без baseline</a:t>
            </a:r>
          </a:p>
        </p:txBody>
      </p:sp>
      <p:sp>
        <p:nvSpPr>
          <p:cNvPr id="28" name="Rounded Rectangle 27"/>
          <p:cNvSpPr/>
          <p:nvPr/>
        </p:nvSpPr>
        <p:spPr>
          <a:xfrm>
            <a:off x="6400800" y="4572000"/>
            <a:ext cx="2286000" cy="3657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46520" y="4599431"/>
            <a:ext cx="2194560" cy="320040"/>
          </a:xfrm>
          <a:prstGeom prst="rect">
            <a:avLst/>
          </a:prstGeom>
          <a:noFill/>
        </p:spPr>
        <p:txBody>
          <a:bodyPr wrap="square" lIns="0" rIns="0" tIns="0" bIns="0" anchor="ctr">
            <a:spAutoFit/>
          </a:bodyPr>
          <a:lstStyle/>
          <a:p>
            <a:pPr algn="l">
              <a:lnSpc>
                <a:spcPct val="115000"/>
              </a:lnSpc>
            </a:pPr>
            <a:r>
              <a:rPr sz="1100" b="1" i="0">
                <a:solidFill>
                  <a:srgbClr val="21295C"/>
                </a:solidFill>
                <a:latin typeface="Arial"/>
              </a:rPr>
              <a:t>Кейс: Foxconn «80%»</a:t>
            </a:r>
          </a:p>
        </p:txBody>
      </p:sp>
      <p:sp>
        <p:nvSpPr>
          <p:cNvPr id="30" name="TextBox 29"/>
          <p:cNvSpPr txBox="1"/>
          <p:nvPr/>
        </p:nvSpPr>
        <p:spPr>
          <a:xfrm>
            <a:off x="6400800" y="5074920"/>
            <a:ext cx="5166359" cy="411480"/>
          </a:xfrm>
          <a:prstGeom prst="rect">
            <a:avLst/>
          </a:prstGeom>
          <a:noFill/>
        </p:spPr>
        <p:txBody>
          <a:bodyPr wrap="square" lIns="0" rIns="0" tIns="0" bIns="0" anchor="t">
            <a:spAutoFit/>
          </a:bodyPr>
          <a:lstStyle/>
          <a:p>
            <a:pPr algn="l">
              <a:lnSpc>
                <a:spcPct val="115000"/>
              </a:lnSpc>
            </a:pPr>
            <a:r>
              <a:rPr sz="1100" b="0" i="1">
                <a:solidFill>
                  <a:srgbClr val="4A556B"/>
                </a:solidFill>
                <a:latin typeface="Arial"/>
              </a:rPr>
              <a:t>Где видно: Tata «–20% downtime» · BMW AIQX без OEE</a:t>
            </a:r>
          </a:p>
        </p:txBody>
      </p:sp>
      <p:sp>
        <p:nvSpPr>
          <p:cNvPr id="31" name="TextBox 30"/>
          <p:cNvSpPr txBox="1"/>
          <p:nvPr/>
        </p:nvSpPr>
        <p:spPr>
          <a:xfrm>
            <a:off x="6400800" y="5577840"/>
            <a:ext cx="5166359" cy="457200"/>
          </a:xfrm>
          <a:prstGeom prst="rect">
            <a:avLst/>
          </a:prstGeom>
          <a:noFill/>
        </p:spPr>
        <p:txBody>
          <a:bodyPr wrap="square" lIns="0" rIns="0" tIns="0" bIns="0" anchor="t">
            <a:spAutoFit/>
          </a:bodyPr>
          <a:lstStyle/>
          <a:p>
            <a:pPr algn="l">
              <a:lnSpc>
                <a:spcPct val="115000"/>
              </a:lnSpc>
            </a:pPr>
            <a:r>
              <a:rPr sz="1200" b="1" i="0">
                <a:solidFill>
                  <a:srgbClr val="065A82"/>
                </a:solidFill>
                <a:latin typeface="Arial"/>
              </a:rPr>
              <a:t>Урок: 3 вопроса (baseline / окно / вмешательства) + OEE</a:t>
            </a:r>
          </a:p>
        </p:txBody>
      </p:sp>
      <p:sp>
        <p:nvSpPr>
          <p:cNvPr id="32" name="TextBox 31"/>
          <p:cNvSpPr txBox="1"/>
          <p:nvPr/>
        </p:nvSpPr>
        <p:spPr>
          <a:xfrm>
            <a:off x="457200" y="6446520"/>
            <a:ext cx="11274552" cy="320040"/>
          </a:xfrm>
          <a:prstGeom prst="rect">
            <a:avLst/>
          </a:prstGeom>
          <a:noFill/>
        </p:spPr>
        <p:txBody>
          <a:bodyPr wrap="square" lIns="0" rIns="0" tIns="0" bIns="0" anchor="t">
            <a:spAutoFit/>
          </a:bodyPr>
          <a:lstStyle/>
          <a:p>
            <a:pPr algn="l">
              <a:lnSpc>
                <a:spcPct val="115000"/>
              </a:lnSpc>
            </a:pPr>
            <a:r>
              <a:rPr sz="1100" b="0" i="1">
                <a:solidFill>
                  <a:srgbClr val="1C7293"/>
                </a:solidFill>
                <a:latin typeface="Arial"/>
              </a:rPr>
              <a:t>Эти четыре типа становятся критериями категорий «человек», «данные», «стоимость» в §4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2209190" cy="292608"/>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02336"/>
            <a:ext cx="2209190" cy="256032"/>
          </a:xfrm>
          <a:prstGeom prst="rect">
            <a:avLst/>
          </a:prstGeom>
          <a:noFill/>
        </p:spPr>
        <p:txBody>
          <a:bodyPr wrap="square" lIns="0" rIns="0" tIns="0" bIns="0" anchor="ctr">
            <a:spAutoFit/>
          </a:bodyPr>
          <a:lstStyle/>
          <a:p>
            <a:pPr algn="ctr">
              <a:lnSpc>
                <a:spcPct val="115000"/>
              </a:lnSpc>
            </a:pPr>
            <a:r>
              <a:rPr sz="1000" b="0" i="0">
                <a:solidFill>
                  <a:srgbClr val="6B7685"/>
                </a:solidFill>
                <a:latin typeface="Arial"/>
              </a:rPr>
              <a:t>1. Общее</a:t>
            </a:r>
          </a:p>
        </p:txBody>
      </p:sp>
      <p:sp>
        <p:nvSpPr>
          <p:cNvPr id="4" name="Rectangle 3"/>
          <p:cNvSpPr/>
          <p:nvPr/>
        </p:nvSpPr>
        <p:spPr>
          <a:xfrm>
            <a:off x="2712110" y="365760"/>
            <a:ext cx="2209190" cy="292608"/>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12110" y="402336"/>
            <a:ext cx="2209190" cy="256032"/>
          </a:xfrm>
          <a:prstGeom prst="rect">
            <a:avLst/>
          </a:prstGeom>
          <a:noFill/>
        </p:spPr>
        <p:txBody>
          <a:bodyPr wrap="square" lIns="0" rIns="0" tIns="0" bIns="0" anchor="ctr">
            <a:spAutoFit/>
          </a:bodyPr>
          <a:lstStyle/>
          <a:p>
            <a:pPr algn="ctr">
              <a:lnSpc>
                <a:spcPct val="115000"/>
              </a:lnSpc>
            </a:pPr>
            <a:r>
              <a:rPr sz="1000" b="0" i="0">
                <a:solidFill>
                  <a:srgbClr val="6B7685"/>
                </a:solidFill>
                <a:latin typeface="Arial"/>
              </a:rPr>
              <a:t>2. Дискретное</a:t>
            </a:r>
          </a:p>
        </p:txBody>
      </p:sp>
      <p:sp>
        <p:nvSpPr>
          <p:cNvPr id="6" name="Rectangle 5"/>
          <p:cNvSpPr/>
          <p:nvPr/>
        </p:nvSpPr>
        <p:spPr>
          <a:xfrm>
            <a:off x="4967020" y="365760"/>
            <a:ext cx="2209190" cy="292608"/>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967020" y="402336"/>
            <a:ext cx="2209190" cy="256032"/>
          </a:xfrm>
          <a:prstGeom prst="rect">
            <a:avLst/>
          </a:prstGeom>
          <a:noFill/>
        </p:spPr>
        <p:txBody>
          <a:bodyPr wrap="square" lIns="0" rIns="0" tIns="0" bIns="0" anchor="ctr">
            <a:spAutoFit/>
          </a:bodyPr>
          <a:lstStyle/>
          <a:p>
            <a:pPr algn="ctr">
              <a:lnSpc>
                <a:spcPct val="115000"/>
              </a:lnSpc>
            </a:pPr>
            <a:r>
              <a:rPr sz="1000" b="1" i="0">
                <a:solidFill>
                  <a:srgbClr val="21295C"/>
                </a:solidFill>
                <a:latin typeface="Arial"/>
              </a:rPr>
              <a:t>3. Процессное</a:t>
            </a:r>
          </a:p>
        </p:txBody>
      </p:sp>
      <p:sp>
        <p:nvSpPr>
          <p:cNvPr id="8" name="Rectangle 7"/>
          <p:cNvSpPr/>
          <p:nvPr/>
        </p:nvSpPr>
        <p:spPr>
          <a:xfrm>
            <a:off x="7221931" y="365760"/>
            <a:ext cx="2209190" cy="292608"/>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21931" y="402336"/>
            <a:ext cx="2209190" cy="256032"/>
          </a:xfrm>
          <a:prstGeom prst="rect">
            <a:avLst/>
          </a:prstGeom>
          <a:noFill/>
        </p:spPr>
        <p:txBody>
          <a:bodyPr wrap="square" lIns="0" rIns="0" tIns="0" bIns="0" anchor="ctr">
            <a:spAutoFit/>
          </a:bodyPr>
          <a:lstStyle/>
          <a:p>
            <a:pPr algn="ctr">
              <a:lnSpc>
                <a:spcPct val="115000"/>
              </a:lnSpc>
            </a:pPr>
            <a:r>
              <a:rPr sz="1000" b="0" i="0">
                <a:solidFill>
                  <a:srgbClr val="6B7685"/>
                </a:solidFill>
                <a:latin typeface="Arial"/>
              </a:rPr>
              <a:t>4. Рамка</a:t>
            </a:r>
          </a:p>
        </p:txBody>
      </p:sp>
      <p:sp>
        <p:nvSpPr>
          <p:cNvPr id="10" name="Rectangle 9"/>
          <p:cNvSpPr/>
          <p:nvPr/>
        </p:nvSpPr>
        <p:spPr>
          <a:xfrm>
            <a:off x="9476841" y="365760"/>
            <a:ext cx="2209190" cy="292608"/>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76841" y="402336"/>
            <a:ext cx="2209190" cy="256032"/>
          </a:xfrm>
          <a:prstGeom prst="rect">
            <a:avLst/>
          </a:prstGeom>
          <a:noFill/>
        </p:spPr>
        <p:txBody>
          <a:bodyPr wrap="square" lIns="0" rIns="0" tIns="0" bIns="0" anchor="ctr">
            <a:spAutoFit/>
          </a:bodyPr>
          <a:lstStyle/>
          <a:p>
            <a:pPr algn="ctr">
              <a:lnSpc>
                <a:spcPct val="115000"/>
              </a:lnSpc>
            </a:pPr>
            <a:r>
              <a:rPr sz="1000" b="0" i="0">
                <a:solidFill>
                  <a:srgbClr val="6B7685"/>
                </a:solidFill>
                <a:latin typeface="Arial"/>
              </a:rPr>
              <a:t>5. Замыкание</a:t>
            </a:r>
          </a:p>
        </p:txBody>
      </p:sp>
      <p:sp>
        <p:nvSpPr>
          <p:cNvPr id="12" name="TextBox 11"/>
          <p:cNvSpPr txBox="1"/>
          <p:nvPr/>
        </p:nvSpPr>
        <p:spPr>
          <a:xfrm>
            <a:off x="457200" y="914400"/>
            <a:ext cx="5486400" cy="5029200"/>
          </a:xfrm>
          <a:prstGeom prst="rect">
            <a:avLst/>
          </a:prstGeom>
          <a:noFill/>
        </p:spPr>
        <p:txBody>
          <a:bodyPr wrap="square" lIns="0" rIns="0" tIns="0" bIns="0" anchor="ctr">
            <a:spAutoFit/>
          </a:bodyPr>
          <a:lstStyle/>
          <a:p>
            <a:pPr algn="ctr">
              <a:lnSpc>
                <a:spcPct val="115000"/>
              </a:lnSpc>
            </a:pPr>
            <a:r>
              <a:rPr sz="44000" b="1" i="0">
                <a:solidFill>
                  <a:srgbClr val="D9E2EC"/>
                </a:solidFill>
                <a:latin typeface="Arial"/>
              </a:rPr>
              <a:t>3</a:t>
            </a:r>
          </a:p>
        </p:txBody>
      </p:sp>
      <p:sp>
        <p:nvSpPr>
          <p:cNvPr id="13" name="TextBox 12"/>
          <p:cNvSpPr txBox="1"/>
          <p:nvPr/>
        </p:nvSpPr>
        <p:spPr>
          <a:xfrm>
            <a:off x="5029200" y="2286000"/>
            <a:ext cx="6858000" cy="3200400"/>
          </a:xfrm>
          <a:prstGeom prst="rect">
            <a:avLst/>
          </a:prstGeom>
          <a:noFill/>
        </p:spPr>
        <p:txBody>
          <a:bodyPr wrap="square" lIns="0" rIns="0" tIns="0" bIns="0" anchor="t">
            <a:spAutoFit/>
          </a:bodyPr>
          <a:lstStyle/>
          <a:p>
            <a:pPr algn="l">
              <a:lnSpc>
                <a:spcPct val="115000"/>
              </a:lnSpc>
            </a:pPr>
            <a:r>
              <a:rPr sz="1800" b="1" i="0">
                <a:solidFill>
                  <a:srgbClr val="1C7293"/>
                </a:solidFill>
                <a:latin typeface="Arial"/>
              </a:rPr>
              <a:t>РАЗДЕЛ</a:t>
            </a:r>
          </a:p>
          <a:p>
            <a:pPr algn="l">
              <a:lnSpc>
                <a:spcPct val="115000"/>
              </a:lnSpc>
            </a:pPr>
            <a:r>
              <a:rPr sz="3800" b="1" i="0">
                <a:solidFill>
                  <a:srgbClr val="21295C"/>
                </a:solidFill>
                <a:latin typeface="Arial"/>
              </a:rPr>
              <a:t>Процессное производство</a:t>
            </a:r>
          </a:p>
          <a:p>
            <a:pPr algn="l">
              <a:lnSpc>
                <a:spcPct val="115000"/>
              </a:lnSpc>
            </a:pPr>
            <a:r>
              <a:rPr sz="1200" b="0" i="0">
                <a:solidFill>
                  <a:srgbClr val="21295C"/>
                </a:solidFill>
                <a:latin typeface="Arial"/>
              </a:rPr>
              <a:t/>
            </a:r>
          </a:p>
          <a:p>
            <a:pPr algn="l">
              <a:lnSpc>
                <a:spcPct val="115000"/>
              </a:lnSpc>
            </a:pPr>
            <a:r>
              <a:rPr sz="1600" b="0" i="0">
                <a:solidFill>
                  <a:srgbClr val="065A82"/>
                </a:solidFill>
                <a:latin typeface="Arial"/>
              </a:rPr>
              <a:t>Мягкие сенсоры · MPC/RL · регуляторика · РФ</a:t>
            </a:r>
          </a:p>
          <a:p>
            <a:pPr algn="l">
              <a:lnSpc>
                <a:spcPct val="115000"/>
              </a:lnSpc>
            </a:pPr>
            <a:r>
              <a:rPr sz="800" b="0" i="0">
                <a:solidFill>
                  <a:srgbClr val="21295C"/>
                </a:solidFill>
                <a:latin typeface="Arial"/>
              </a:rPr>
              <a:t/>
            </a:r>
          </a:p>
          <a:p>
            <a:pPr algn="l">
              <a:lnSpc>
                <a:spcPct val="115000"/>
              </a:lnSpc>
            </a:pPr>
            <a:r>
              <a:rPr sz="1300" b="0" i="1">
                <a:solidFill>
                  <a:srgbClr val="F0AB00"/>
                </a:solidFill>
                <a:latin typeface="Arial"/>
              </a:rPr>
              <a:t>Раздел 3 · 17 мин · 7 слайдов</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800" b="1" i="0">
                <a:solidFill>
                  <a:srgbClr val="21295C"/>
                </a:solidFill>
                <a:latin typeface="Arial"/>
              </a:rPr>
              <a:t>Мягкие сенсоры: BASF Geismar + Pfizer Vox</a:t>
            </a:r>
          </a:p>
        </p:txBody>
      </p:sp>
      <p:sp>
        <p:nvSpPr>
          <p:cNvPr id="3" name="TextBox 2"/>
          <p:cNvSpPr txBox="1"/>
          <p:nvPr/>
        </p:nvSpPr>
        <p:spPr>
          <a:xfrm>
            <a:off x="457200" y="1051560"/>
            <a:ext cx="11274552" cy="365760"/>
          </a:xfrm>
          <a:prstGeom prst="rect">
            <a:avLst/>
          </a:prstGeom>
          <a:noFill/>
        </p:spPr>
        <p:txBody>
          <a:bodyPr wrap="square" lIns="0" rIns="0" tIns="0" bIns="0" anchor="t">
            <a:spAutoFit/>
          </a:bodyPr>
          <a:lstStyle/>
          <a:p>
            <a:pPr algn="l">
              <a:lnSpc>
                <a:spcPct val="115000"/>
              </a:lnSpc>
            </a:pPr>
            <a:r>
              <a:rPr sz="1400" b="0" i="1">
                <a:solidFill>
                  <a:srgbClr val="1C7293"/>
                </a:solidFill>
                <a:latin typeface="Arial"/>
              </a:rPr>
              <a:t>Cornerstone процессного производства — software-модель вместо лабораторной пробы</a:t>
            </a:r>
          </a:p>
        </p:txBody>
      </p:sp>
      <p:sp>
        <p:nvSpPr>
          <p:cNvPr id="4" name="Rounded Rectangle 3"/>
          <p:cNvSpPr/>
          <p:nvPr/>
        </p:nvSpPr>
        <p:spPr>
          <a:xfrm>
            <a:off x="457200" y="1554480"/>
            <a:ext cx="5486400" cy="41148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554480"/>
            <a:ext cx="5486400" cy="5486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600200"/>
            <a:ext cx="5486400" cy="457200"/>
          </a:xfrm>
          <a:prstGeom prst="rect">
            <a:avLst/>
          </a:prstGeom>
          <a:noFill/>
        </p:spPr>
        <p:txBody>
          <a:bodyPr wrap="square" lIns="0" rIns="0" tIns="0" bIns="0" anchor="ctr">
            <a:spAutoFit/>
          </a:bodyPr>
          <a:lstStyle/>
          <a:p>
            <a:pPr algn="ctr">
              <a:lnSpc>
                <a:spcPct val="115000"/>
              </a:lnSpc>
            </a:pPr>
            <a:r>
              <a:rPr sz="1500" b="1" i="0">
                <a:solidFill>
                  <a:srgbClr val="FFFFFF"/>
                </a:solidFill>
                <a:latin typeface="Arial"/>
              </a:rPr>
              <a:t>BASF Geismar · 2023–2024</a:t>
            </a:r>
          </a:p>
        </p:txBody>
      </p:sp>
      <p:pic>
        <p:nvPicPr>
          <p:cNvPr id="7" name="Picture 6" descr="s24-basf-ludwigshafen.jpg"/>
          <p:cNvPicPr>
            <a:picLocks noChangeAspect="1"/>
          </p:cNvPicPr>
          <p:nvPr/>
        </p:nvPicPr>
        <p:blipFill>
          <a:blip r:embed="rId2"/>
          <a:stretch>
            <a:fillRect/>
          </a:stretch>
        </p:blipFill>
        <p:spPr>
          <a:xfrm>
            <a:off x="640080" y="2240280"/>
            <a:ext cx="5120640" cy="2011680"/>
          </a:xfrm>
          <a:prstGeom prst="rect">
            <a:avLst/>
          </a:prstGeom>
        </p:spPr>
      </p:pic>
      <p:sp>
        <p:nvSpPr>
          <p:cNvPr id="8" name="TextBox 7"/>
          <p:cNvSpPr txBox="1"/>
          <p:nvPr/>
        </p:nvSpPr>
        <p:spPr>
          <a:xfrm>
            <a:off x="640080" y="4251960"/>
            <a:ext cx="5120640"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BASF Ludwigshafen · Wikimedia CC-BY-SA</a:t>
            </a:r>
          </a:p>
        </p:txBody>
      </p:sp>
      <p:sp>
        <p:nvSpPr>
          <p:cNvPr id="9" name="TextBox 8"/>
          <p:cNvSpPr txBox="1"/>
          <p:nvPr/>
        </p:nvSpPr>
        <p:spPr>
          <a:xfrm>
            <a:off x="640080" y="4617720"/>
            <a:ext cx="5120640" cy="1005840"/>
          </a:xfrm>
          <a:prstGeom prst="rect">
            <a:avLst/>
          </a:prstGeom>
          <a:noFill/>
        </p:spPr>
        <p:txBody>
          <a:bodyPr wrap="square" lIns="0" rIns="0" tIns="0" bIns="0" anchor="t">
            <a:spAutoFit/>
          </a:bodyPr>
          <a:lstStyle/>
          <a:p>
            <a:pPr algn="l">
              <a:lnSpc>
                <a:spcPct val="130000"/>
              </a:lnSpc>
            </a:pPr>
            <a:r>
              <a:rPr sz="1600" b="1" i="0">
                <a:solidFill>
                  <a:srgbClr val="F0AB00"/>
                </a:solidFill>
                <a:latin typeface="Arial"/>
              </a:rPr>
              <a:t>–30% batch defects</a:t>
            </a:r>
          </a:p>
          <a:p>
            <a:pPr algn="l">
              <a:lnSpc>
                <a:spcPct val="130000"/>
              </a:lnSpc>
            </a:pPr>
            <a:r>
              <a:rPr sz="1200" b="0" i="1">
                <a:solidFill>
                  <a:srgbClr val="21295C"/>
                </a:solidFill>
                <a:latin typeface="Arial"/>
              </a:rPr>
              <a:t>без увеличения тестирования</a:t>
            </a:r>
          </a:p>
          <a:p>
            <a:pPr algn="l">
              <a:lnSpc>
                <a:spcPct val="130000"/>
              </a:lnSpc>
            </a:pPr>
            <a:r>
              <a:rPr sz="1200" b="0" i="0">
                <a:solidFill>
                  <a:srgbClr val="21295C"/>
                </a:solidFill>
                <a:latin typeface="Arial"/>
              </a:rPr>
              <a:t>R&amp;D formulation: 18 мес → 3 недели</a:t>
            </a:r>
          </a:p>
        </p:txBody>
      </p:sp>
      <p:sp>
        <p:nvSpPr>
          <p:cNvPr id="10" name="Rounded Rectangle 9"/>
          <p:cNvSpPr/>
          <p:nvPr/>
        </p:nvSpPr>
        <p:spPr>
          <a:xfrm>
            <a:off x="6126480" y="1554480"/>
            <a:ext cx="5605272" cy="41148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26480" y="1554480"/>
            <a:ext cx="5605272" cy="54864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26480" y="1600200"/>
            <a:ext cx="5605272" cy="457200"/>
          </a:xfrm>
          <a:prstGeom prst="rect">
            <a:avLst/>
          </a:prstGeom>
          <a:noFill/>
        </p:spPr>
        <p:txBody>
          <a:bodyPr wrap="square" lIns="0" rIns="0" tIns="0" bIns="0" anchor="ctr">
            <a:spAutoFit/>
          </a:bodyPr>
          <a:lstStyle/>
          <a:p>
            <a:pPr algn="ctr">
              <a:lnSpc>
                <a:spcPct val="115000"/>
              </a:lnSpc>
            </a:pPr>
            <a:r>
              <a:rPr sz="1500" b="1" i="0">
                <a:solidFill>
                  <a:srgbClr val="FFFFFF"/>
                </a:solidFill>
                <a:latin typeface="Arial"/>
              </a:rPr>
              <a:t>Pfizer Vox · 2024–2025</a:t>
            </a:r>
          </a:p>
        </p:txBody>
      </p:sp>
      <p:pic>
        <p:nvPicPr>
          <p:cNvPr id="13" name="Picture 12" descr="pill.png"/>
          <p:cNvPicPr>
            <a:picLocks noChangeAspect="1"/>
          </p:cNvPicPr>
          <p:nvPr/>
        </p:nvPicPr>
        <p:blipFill>
          <a:blip r:embed="rId3"/>
          <a:stretch>
            <a:fillRect/>
          </a:stretch>
        </p:blipFill>
        <p:spPr>
          <a:xfrm>
            <a:off x="8229600" y="2331720"/>
            <a:ext cx="1371600" cy="1371600"/>
          </a:xfrm>
          <a:prstGeom prst="rect">
            <a:avLst/>
          </a:prstGeom>
        </p:spPr>
      </p:pic>
      <p:sp>
        <p:nvSpPr>
          <p:cNvPr id="14" name="TextBox 13"/>
          <p:cNvSpPr txBox="1"/>
          <p:nvPr/>
        </p:nvSpPr>
        <p:spPr>
          <a:xfrm>
            <a:off x="6309360" y="3749039"/>
            <a:ext cx="5239512" cy="365760"/>
          </a:xfrm>
          <a:prstGeom prst="rect">
            <a:avLst/>
          </a:prstGeom>
          <a:noFill/>
        </p:spPr>
        <p:txBody>
          <a:bodyPr wrap="square" lIns="0" rIns="0" tIns="0" bIns="0" anchor="t">
            <a:spAutoFit/>
          </a:bodyPr>
          <a:lstStyle/>
          <a:p>
            <a:pPr algn="ctr">
              <a:lnSpc>
                <a:spcPct val="115000"/>
              </a:lnSpc>
            </a:pPr>
            <a:r>
              <a:rPr sz="1100" b="0" i="1">
                <a:solidFill>
                  <a:srgbClr val="4A556B"/>
                </a:solidFill>
                <a:latin typeface="Arial"/>
              </a:rPr>
              <a:t>GenAI на AWS Bedrock + SageMaker</a:t>
            </a:r>
          </a:p>
        </p:txBody>
      </p:sp>
      <p:sp>
        <p:nvSpPr>
          <p:cNvPr id="15" name="TextBox 14"/>
          <p:cNvSpPr txBox="1"/>
          <p:nvPr/>
        </p:nvSpPr>
        <p:spPr>
          <a:xfrm>
            <a:off x="6309360" y="4343400"/>
            <a:ext cx="5239512" cy="1280160"/>
          </a:xfrm>
          <a:prstGeom prst="rect">
            <a:avLst/>
          </a:prstGeom>
          <a:noFill/>
        </p:spPr>
        <p:txBody>
          <a:bodyPr wrap="square" lIns="0" rIns="0" tIns="0" bIns="0" anchor="t">
            <a:spAutoFit/>
          </a:bodyPr>
          <a:lstStyle/>
          <a:p>
            <a:pPr algn="l">
              <a:lnSpc>
                <a:spcPct val="135000"/>
              </a:lnSpc>
            </a:pPr>
            <a:r>
              <a:rPr sz="1600" b="1" i="0">
                <a:solidFill>
                  <a:srgbClr val="F0AB00"/>
                </a:solidFill>
                <a:latin typeface="Arial"/>
              </a:rPr>
              <a:t>+20 000 doses per batch</a:t>
            </a:r>
          </a:p>
          <a:p>
            <a:pPr algn="l">
              <a:lnSpc>
                <a:spcPct val="135000"/>
              </a:lnSpc>
            </a:pPr>
            <a:r>
              <a:rPr sz="1100" b="0" i="1">
                <a:solidFill>
                  <a:srgbClr val="6B7685"/>
                </a:solidFill>
                <a:latin typeface="Arial"/>
              </a:rPr>
              <a:t>AWS Bedrock + SageMaker</a:t>
            </a:r>
          </a:p>
          <a:p>
            <a:pPr algn="l">
              <a:lnSpc>
                <a:spcPct val="135000"/>
              </a:lnSpc>
            </a:pPr>
            <a:r>
              <a:rPr sz="1200" b="0" i="0">
                <a:solidFill>
                  <a:srgbClr val="21295C"/>
                </a:solidFill>
                <a:latin typeface="Arial"/>
              </a:rPr>
              <a:t>«Recommend», не autonomous — FDA Part 11 consistent</a:t>
            </a:r>
          </a:p>
        </p:txBody>
      </p:sp>
      <p:sp>
        <p:nvSpPr>
          <p:cNvPr id="16" name="Rounded Rectangle 15"/>
          <p:cNvSpPr/>
          <p:nvPr/>
        </p:nvSpPr>
        <p:spPr>
          <a:xfrm>
            <a:off x="457200" y="5806440"/>
            <a:ext cx="11274552" cy="59436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5852160"/>
            <a:ext cx="10972800" cy="502920"/>
          </a:xfrm>
          <a:prstGeom prst="rect">
            <a:avLst/>
          </a:prstGeom>
          <a:noFill/>
        </p:spPr>
        <p:txBody>
          <a:bodyPr wrap="square" lIns="0" rIns="0" tIns="0" bIns="0" anchor="ctr">
            <a:spAutoFit/>
          </a:bodyPr>
          <a:lstStyle/>
          <a:p>
            <a:pPr algn="ctr">
              <a:lnSpc>
                <a:spcPct val="115000"/>
              </a:lnSpc>
            </a:pPr>
            <a:r>
              <a:rPr sz="1200" b="0" i="1">
                <a:solidFill>
                  <a:srgbClr val="21295C"/>
                </a:solidFill>
                <a:latin typeface="Arial"/>
              </a:rPr>
              <a:t>Мягкий сенсор: оценивает труднoизмеряемые параметры по легкоизмеряемым (НЕ контроллер). Pfizer Vox станет worked example в §4.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400" b="1" i="0">
                <a:solidFill>
                  <a:srgbClr val="21295C"/>
                </a:solidFill>
                <a:latin typeface="Arial"/>
              </a:rPr>
              <a:t>MPC / RL гибрид + CIRL — RL расширяет PID, не замещает</a:t>
            </a:r>
          </a:p>
        </p:txBody>
      </p:sp>
      <p:sp>
        <p:nvSpPr>
          <p:cNvPr id="3" name="TextBox 2"/>
          <p:cNvSpPr txBox="1"/>
          <p:nvPr/>
        </p:nvSpPr>
        <p:spPr>
          <a:xfrm>
            <a:off x="457200" y="1005840"/>
            <a:ext cx="11274552" cy="365760"/>
          </a:xfrm>
          <a:prstGeom prst="rect">
            <a:avLst/>
          </a:prstGeom>
          <a:noFill/>
        </p:spPr>
        <p:txBody>
          <a:bodyPr wrap="square" lIns="0" rIns="0" tIns="0" bIns="0" anchor="t">
            <a:spAutoFit/>
          </a:bodyPr>
          <a:lstStyle/>
          <a:p>
            <a:pPr algn="l">
              <a:lnSpc>
                <a:spcPct val="115000"/>
              </a:lnSpc>
            </a:pPr>
            <a:r>
              <a:rPr sz="1400" b="0" i="1">
                <a:solidFill>
                  <a:srgbClr val="1C7293"/>
                </a:solidFill>
                <a:latin typeface="Arial"/>
              </a:rPr>
              <a:t>Yokogawa-JSR FKDPP: 35 дней автономного RL · BASF CIRL: PID в loss function</a:t>
            </a:r>
          </a:p>
        </p:txBody>
      </p:sp>
      <p:sp>
        <p:nvSpPr>
          <p:cNvPr id="4" name="Rounded Rectangle 3"/>
          <p:cNvSpPr/>
          <p:nvPr/>
        </p:nvSpPr>
        <p:spPr>
          <a:xfrm>
            <a:off x="457200" y="1508760"/>
            <a:ext cx="3657600" cy="237744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508760"/>
            <a:ext cx="3657600" cy="5029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554480"/>
            <a:ext cx="3657600" cy="457200"/>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Yokogawa-JSR FKDPP</a:t>
            </a:r>
          </a:p>
        </p:txBody>
      </p:sp>
      <p:pic>
        <p:nvPicPr>
          <p:cNvPr id="7" name="Picture 6" descr="s25-yokogawa.jpg"/>
          <p:cNvPicPr>
            <a:picLocks noChangeAspect="1"/>
          </p:cNvPicPr>
          <p:nvPr/>
        </p:nvPicPr>
        <p:blipFill>
          <a:blip r:embed="rId2"/>
          <a:stretch>
            <a:fillRect/>
          </a:stretch>
        </p:blipFill>
        <p:spPr>
          <a:xfrm>
            <a:off x="594360" y="2148840"/>
            <a:ext cx="3383280" cy="1371600"/>
          </a:xfrm>
          <a:prstGeom prst="rect">
            <a:avLst/>
          </a:prstGeom>
        </p:spPr>
      </p:pic>
      <p:sp>
        <p:nvSpPr>
          <p:cNvPr id="8" name="TextBox 7"/>
          <p:cNvSpPr txBox="1"/>
          <p:nvPr/>
        </p:nvSpPr>
        <p:spPr>
          <a:xfrm>
            <a:off x="594360" y="3611880"/>
            <a:ext cx="3383280" cy="274320"/>
          </a:xfrm>
          <a:prstGeom prst="rect">
            <a:avLst/>
          </a:prstGeom>
          <a:noFill/>
        </p:spPr>
        <p:txBody>
          <a:bodyPr wrap="square" lIns="0" rIns="0" tIns="0" bIns="0" anchor="t">
            <a:spAutoFit/>
          </a:bodyPr>
          <a:lstStyle/>
          <a:p>
            <a:pPr algn="ctr">
              <a:lnSpc>
                <a:spcPct val="115000"/>
              </a:lnSpc>
            </a:pPr>
            <a:r>
              <a:rPr sz="1000" b="0" i="1">
                <a:solidFill>
                  <a:srgbClr val="6B7685"/>
                </a:solidFill>
                <a:latin typeface="Arial"/>
              </a:rPr>
              <a:t>35 дней (840 ч) автономного RL в distillation column · Japan PM Prize 2023</a:t>
            </a:r>
          </a:p>
        </p:txBody>
      </p:sp>
      <p:sp>
        <p:nvSpPr>
          <p:cNvPr id="9" name="Rounded Rectangle 8"/>
          <p:cNvSpPr/>
          <p:nvPr/>
        </p:nvSpPr>
        <p:spPr>
          <a:xfrm>
            <a:off x="4297680" y="1508760"/>
            <a:ext cx="7434072" cy="2377440"/>
          </a:xfrm>
          <a:prstGeom prst="roundRect">
            <a:avLst>
              <a:gd name="adj" fmla="val 10000"/>
            </a:avLst>
          </a:prstGeom>
          <a:solidFill>
            <a:srgbClr val="F4F7FA"/>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60" y="1600200"/>
            <a:ext cx="7223760" cy="365760"/>
          </a:xfrm>
          <a:prstGeom prst="rect">
            <a:avLst/>
          </a:prstGeom>
          <a:noFill/>
        </p:spPr>
        <p:txBody>
          <a:bodyPr wrap="square" lIns="0" rIns="0" tIns="0" bIns="0" anchor="t">
            <a:spAutoFit/>
          </a:bodyPr>
          <a:lstStyle/>
          <a:p>
            <a:pPr algn="l">
              <a:lnSpc>
                <a:spcPct val="115000"/>
              </a:lnSpc>
            </a:pPr>
            <a:r>
              <a:rPr sz="1300" b="1" i="0">
                <a:solidFill>
                  <a:srgbClr val="028090"/>
                </a:solidFill>
                <a:latin typeface="Arial"/>
              </a:rPr>
              <a:t>CIRL architecture — BASF + Royal Academy of Engineering</a:t>
            </a:r>
          </a:p>
        </p:txBody>
      </p:sp>
      <p:sp>
        <p:nvSpPr>
          <p:cNvPr id="11" name="Rectangle 10"/>
          <p:cNvSpPr/>
          <p:nvPr/>
        </p:nvSpPr>
        <p:spPr>
          <a:xfrm>
            <a:off x="4663440" y="2240280"/>
            <a:ext cx="1645920" cy="9144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63440" y="2331720"/>
            <a:ext cx="1645920" cy="731520"/>
          </a:xfrm>
          <a:prstGeom prst="rect">
            <a:avLst/>
          </a:prstGeom>
          <a:noFill/>
        </p:spPr>
        <p:txBody>
          <a:bodyPr wrap="square" lIns="0" rIns="0" tIns="0" bIns="0" anchor="ctr">
            <a:spAutoFit/>
          </a:bodyPr>
          <a:lstStyle/>
          <a:p>
            <a:pPr algn="ctr">
              <a:lnSpc>
                <a:spcPct val="125000"/>
              </a:lnSpc>
            </a:pPr>
            <a:r>
              <a:rPr sz="1100" b="1" i="0">
                <a:solidFill>
                  <a:srgbClr val="FFFFFF"/>
                </a:solidFill>
                <a:latin typeface="Arial"/>
              </a:rPr>
              <a:t>PID controller
(baseline)
детерминированный</a:t>
            </a:r>
          </a:p>
        </p:txBody>
      </p:sp>
      <p:sp>
        <p:nvSpPr>
          <p:cNvPr id="13" name="Rectangle 12"/>
          <p:cNvSpPr/>
          <p:nvPr/>
        </p:nvSpPr>
        <p:spPr>
          <a:xfrm>
            <a:off x="6492240" y="2606040"/>
            <a:ext cx="914400" cy="164592"/>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2788920"/>
            <a:ext cx="1097280" cy="274320"/>
          </a:xfrm>
          <a:prstGeom prst="rect">
            <a:avLst/>
          </a:prstGeom>
          <a:noFill/>
        </p:spPr>
        <p:txBody>
          <a:bodyPr wrap="square" lIns="0" rIns="0" tIns="0" bIns="0" anchor="t">
            <a:spAutoFit/>
          </a:bodyPr>
          <a:lstStyle/>
          <a:p>
            <a:pPr algn="ctr">
              <a:lnSpc>
                <a:spcPct val="115000"/>
              </a:lnSpc>
            </a:pPr>
            <a:r>
              <a:rPr sz="1000" b="0" i="1">
                <a:solidFill>
                  <a:srgbClr val="F0AB00"/>
                </a:solidFill>
                <a:latin typeface="Arial"/>
              </a:rPr>
              <a:t>в loss</a:t>
            </a:r>
          </a:p>
        </p:txBody>
      </p:sp>
      <p:sp>
        <p:nvSpPr>
          <p:cNvPr id="15" name="Rectangle 14"/>
          <p:cNvSpPr/>
          <p:nvPr/>
        </p:nvSpPr>
        <p:spPr>
          <a:xfrm>
            <a:off x="7589520" y="2240280"/>
            <a:ext cx="3931920" cy="91440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9520" y="2331720"/>
            <a:ext cx="3931920" cy="731520"/>
          </a:xfrm>
          <a:prstGeom prst="rect">
            <a:avLst/>
          </a:prstGeom>
          <a:noFill/>
        </p:spPr>
        <p:txBody>
          <a:bodyPr wrap="square" lIns="0" rIns="0" tIns="0" bIns="0" anchor="ctr">
            <a:spAutoFit/>
          </a:bodyPr>
          <a:lstStyle/>
          <a:p>
            <a:pPr algn="ctr">
              <a:lnSpc>
                <a:spcPct val="125000"/>
              </a:lnSpc>
            </a:pPr>
            <a:r>
              <a:rPr sz="1100" b="1" i="0">
                <a:solidFill>
                  <a:srgbClr val="FFFFFF"/>
                </a:solidFill>
                <a:latin typeface="Arial"/>
              </a:rPr>
              <a:t>Deep RL
учит policy с PID как baseline в loss function</a:t>
            </a:r>
          </a:p>
        </p:txBody>
      </p:sp>
      <p:sp>
        <p:nvSpPr>
          <p:cNvPr id="17" name="TextBox 16"/>
          <p:cNvSpPr txBox="1"/>
          <p:nvPr/>
        </p:nvSpPr>
        <p:spPr>
          <a:xfrm>
            <a:off x="4480560" y="3337560"/>
            <a:ext cx="7223760" cy="502920"/>
          </a:xfrm>
          <a:prstGeom prst="rect">
            <a:avLst/>
          </a:prstGeom>
          <a:noFill/>
        </p:spPr>
        <p:txBody>
          <a:bodyPr wrap="square" lIns="0" rIns="0" tIns="0" bIns="0" anchor="t">
            <a:spAutoFit/>
          </a:bodyPr>
          <a:lstStyle/>
          <a:p>
            <a:pPr algn="ctr">
              <a:lnSpc>
                <a:spcPct val="115000"/>
              </a:lnSpc>
            </a:pPr>
            <a:r>
              <a:rPr sz="1100" b="0" i="1">
                <a:solidFill>
                  <a:srgbClr val="21295C"/>
                </a:solidFill>
                <a:latin typeface="Arial"/>
              </a:rPr>
              <a:t>RL adds value в нелинейных зонах. В линейных автоматически совпадает с PID.</a:t>
            </a:r>
          </a:p>
        </p:txBody>
      </p:sp>
      <p:sp>
        <p:nvSpPr>
          <p:cNvPr id="18" name="Rounded Rectangle 17"/>
          <p:cNvSpPr/>
          <p:nvPr/>
        </p:nvSpPr>
        <p:spPr>
          <a:xfrm>
            <a:off x="457200" y="4069080"/>
            <a:ext cx="11274552" cy="100584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4160520"/>
            <a:ext cx="10972800" cy="868680"/>
          </a:xfrm>
          <a:prstGeom prst="rect">
            <a:avLst/>
          </a:prstGeom>
          <a:noFill/>
        </p:spPr>
        <p:txBody>
          <a:bodyPr wrap="square" lIns="0" rIns="0" tIns="0" bIns="0" anchor="t">
            <a:spAutoFit/>
          </a:bodyPr>
          <a:lstStyle/>
          <a:p>
            <a:pPr algn="l">
              <a:lnSpc>
                <a:spcPct val="135000"/>
              </a:lnSpc>
            </a:pPr>
            <a:r>
              <a:rPr sz="1200" b="1" i="0">
                <a:solidFill>
                  <a:srgbClr val="F0AB00"/>
                </a:solidFill>
                <a:latin typeface="Arial"/>
              </a:rPr>
              <a:t>Что НЕ есть CIRL:</a:t>
            </a:r>
          </a:p>
          <a:p>
            <a:pPr algn="l">
              <a:lnSpc>
                <a:spcPct val="135000"/>
              </a:lnSpc>
            </a:pPr>
            <a:r>
              <a:rPr sz="1300" b="0" i="0">
                <a:solidFill>
                  <a:srgbClr val="21295C"/>
                </a:solidFill>
                <a:latin typeface="Arial"/>
              </a:rPr>
              <a:t>✗ Не «RL вместо PID»  ✗ Не «два контура параллельно»  ✓ RL расширяет PID, не замещает</a:t>
            </a:r>
          </a:p>
        </p:txBody>
      </p:sp>
      <p:sp>
        <p:nvSpPr>
          <p:cNvPr id="20" name="Rounded Rectangle 19"/>
          <p:cNvSpPr/>
          <p:nvPr/>
        </p:nvSpPr>
        <p:spPr>
          <a:xfrm>
            <a:off x="457200" y="5212080"/>
            <a:ext cx="11274552" cy="1188720"/>
          </a:xfrm>
          <a:prstGeom prst="roundRect">
            <a:avLst>
              <a:gd name="adj" fmla="val 10000"/>
            </a:avLst>
          </a:prstGeom>
          <a:solidFill>
            <a:srgbClr val="E6F2F4"/>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5303520"/>
            <a:ext cx="10972800" cy="1051560"/>
          </a:xfrm>
          <a:prstGeom prst="rect">
            <a:avLst/>
          </a:prstGeom>
          <a:noFill/>
        </p:spPr>
        <p:txBody>
          <a:bodyPr wrap="square" lIns="0" rIns="0" tIns="0" bIns="0" anchor="t">
            <a:spAutoFit/>
          </a:bodyPr>
          <a:lstStyle/>
          <a:p>
            <a:pPr algn="l">
              <a:lnSpc>
                <a:spcPct val="135000"/>
              </a:lnSpc>
            </a:pPr>
            <a:r>
              <a:rPr sz="1300" b="1" i="0">
                <a:solidFill>
                  <a:srgbClr val="028090"/>
                </a:solidFill>
                <a:latin typeface="Arial"/>
              </a:rPr>
              <a:t>MPC dominates process control:</a:t>
            </a:r>
          </a:p>
          <a:p>
            <a:pPr algn="l">
              <a:lnSpc>
                <a:spcPct val="135000"/>
              </a:lnSpc>
            </a:pPr>
            <a:r>
              <a:rPr sz="1200" b="0" i="0">
                <a:solidFill>
                  <a:srgbClr val="21295C"/>
                </a:solidFill>
                <a:latin typeface="Arial"/>
              </a:rPr>
              <a:t>Explicit model · объясним · валидируется регулятором · реагирует на drift автоматически.</a:t>
            </a:r>
          </a:p>
          <a:p>
            <a:pPr algn="l">
              <a:lnSpc>
                <a:spcPct val="135000"/>
              </a:lnSpc>
            </a:pPr>
            <a:r>
              <a:rPr sz="1200" b="1" i="0">
                <a:solidFill>
                  <a:srgbClr val="21295C"/>
                </a:solidFill>
                <a:latin typeface="Arial"/>
              </a:rPr>
              <a:t>Правило: RL дополняет MPC на high-level scheduling. На замыкании контура — MPC.</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800" b="1" i="0">
                <a:solidFill>
                  <a:srgbClr val="21295C"/>
                </a:solidFill>
                <a:latin typeface="Arial"/>
              </a:rPr>
              <a:t>RL distribution drift — четыре механизма</a:t>
            </a:r>
          </a:p>
        </p:txBody>
      </p:sp>
      <p:sp>
        <p:nvSpPr>
          <p:cNvPr id="3" name="TextBox 2"/>
          <p:cNvSpPr txBox="1"/>
          <p:nvPr/>
        </p:nvSpPr>
        <p:spPr>
          <a:xfrm>
            <a:off x="457200" y="1051560"/>
            <a:ext cx="11274552" cy="365760"/>
          </a:xfrm>
          <a:prstGeom prst="rect">
            <a:avLst/>
          </a:prstGeom>
          <a:noFill/>
        </p:spPr>
        <p:txBody>
          <a:bodyPr wrap="square" lIns="0" rIns="0" tIns="0" bIns="0" anchor="t">
            <a:spAutoFit/>
          </a:bodyPr>
          <a:lstStyle/>
          <a:p>
            <a:pPr algn="l">
              <a:lnSpc>
                <a:spcPct val="115000"/>
              </a:lnSpc>
            </a:pPr>
            <a:r>
              <a:rPr sz="1400" b="0" i="1">
                <a:solidFill>
                  <a:srgbClr val="1C7293"/>
                </a:solidFill>
                <a:latin typeface="Arial"/>
              </a:rPr>
              <a:t>Когда policy, обученная на одном distribution, ломается без warning</a:t>
            </a:r>
          </a:p>
        </p:txBody>
      </p:sp>
      <p:sp>
        <p:nvSpPr>
          <p:cNvPr id="4" name="Rounded Rectangle 3"/>
          <p:cNvSpPr/>
          <p:nvPr/>
        </p:nvSpPr>
        <p:spPr>
          <a:xfrm>
            <a:off x="457200" y="1645920"/>
            <a:ext cx="5532120" cy="196596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645920"/>
            <a:ext cx="137160" cy="19659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783080"/>
            <a:ext cx="5166359" cy="411480"/>
          </a:xfrm>
          <a:prstGeom prst="rect">
            <a:avLst/>
          </a:prstGeom>
          <a:noFill/>
        </p:spPr>
        <p:txBody>
          <a:bodyPr wrap="square" lIns="0" rIns="0" tIns="0" bIns="0" anchor="t">
            <a:spAutoFit/>
          </a:bodyPr>
          <a:lstStyle/>
          <a:p>
            <a:pPr algn="l">
              <a:lnSpc>
                <a:spcPct val="115000"/>
              </a:lnSpc>
            </a:pPr>
            <a:r>
              <a:rPr sz="1500" b="1" i="0">
                <a:solidFill>
                  <a:srgbClr val="21295C"/>
                </a:solidFill>
                <a:latin typeface="Arial"/>
              </a:rPr>
              <a:t>1. Batch transitions</a:t>
            </a:r>
          </a:p>
        </p:txBody>
      </p:sp>
      <p:sp>
        <p:nvSpPr>
          <p:cNvPr id="7" name="Rounded Rectangle 6"/>
          <p:cNvSpPr/>
          <p:nvPr/>
        </p:nvSpPr>
        <p:spPr>
          <a:xfrm>
            <a:off x="731520" y="2286000"/>
            <a:ext cx="1828800" cy="3657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313432"/>
            <a:ext cx="1737360" cy="320040"/>
          </a:xfrm>
          <a:prstGeom prst="rect">
            <a:avLst/>
          </a:prstGeom>
          <a:noFill/>
        </p:spPr>
        <p:txBody>
          <a:bodyPr wrap="square" lIns="0" rIns="0" tIns="0" bIns="0" anchor="ctr">
            <a:spAutoFit/>
          </a:bodyPr>
          <a:lstStyle/>
          <a:p>
            <a:pPr algn="l">
              <a:lnSpc>
                <a:spcPct val="115000"/>
              </a:lnSpc>
            </a:pPr>
            <a:r>
              <a:rPr sz="1100" b="1" i="0">
                <a:solidFill>
                  <a:srgbClr val="21295C"/>
                </a:solidFill>
                <a:latin typeface="Arial"/>
              </a:rPr>
              <a:t>OOD inputs</a:t>
            </a:r>
          </a:p>
        </p:txBody>
      </p:sp>
      <p:sp>
        <p:nvSpPr>
          <p:cNvPr id="9" name="TextBox 8"/>
          <p:cNvSpPr txBox="1"/>
          <p:nvPr/>
        </p:nvSpPr>
        <p:spPr>
          <a:xfrm>
            <a:off x="731520" y="2743200"/>
            <a:ext cx="5166359" cy="822960"/>
          </a:xfrm>
          <a:prstGeom prst="rect">
            <a:avLst/>
          </a:prstGeom>
          <a:noFill/>
        </p:spPr>
        <p:txBody>
          <a:bodyPr wrap="square" lIns="0" rIns="0" tIns="0" bIns="0" anchor="t">
            <a:spAutoFit/>
          </a:bodyPr>
          <a:lstStyle/>
          <a:p>
            <a:pPr algn="l">
              <a:lnSpc>
                <a:spcPct val="135000"/>
              </a:lnSpc>
            </a:pPr>
            <a:r>
              <a:rPr sz="1100" b="0" i="0">
                <a:solidFill>
                  <a:srgbClr val="21295C"/>
                </a:solidFill>
                <a:latin typeface="Arial"/>
              </a:rPr>
              <a:t>RL обучен на steady-state. Переходный режим — out-of-distribution.
Скачки температуры на старте нового batch.</a:t>
            </a:r>
          </a:p>
        </p:txBody>
      </p:sp>
      <p:sp>
        <p:nvSpPr>
          <p:cNvPr id="10" name="Rounded Rectangle 9"/>
          <p:cNvSpPr/>
          <p:nvPr/>
        </p:nvSpPr>
        <p:spPr>
          <a:xfrm>
            <a:off x="6126480" y="1645920"/>
            <a:ext cx="5532120" cy="196596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26480" y="1645920"/>
            <a:ext cx="137160" cy="196596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783080"/>
            <a:ext cx="5166359" cy="411480"/>
          </a:xfrm>
          <a:prstGeom prst="rect">
            <a:avLst/>
          </a:prstGeom>
          <a:noFill/>
        </p:spPr>
        <p:txBody>
          <a:bodyPr wrap="square" lIns="0" rIns="0" tIns="0" bIns="0" anchor="t">
            <a:spAutoFit/>
          </a:bodyPr>
          <a:lstStyle/>
          <a:p>
            <a:pPr algn="l">
              <a:lnSpc>
                <a:spcPct val="115000"/>
              </a:lnSpc>
            </a:pPr>
            <a:r>
              <a:rPr sz="1500" b="1" i="0">
                <a:solidFill>
                  <a:srgbClr val="21295C"/>
                </a:solidFill>
                <a:latin typeface="Arial"/>
              </a:rPr>
              <a:t>2. Смена feedstock</a:t>
            </a:r>
          </a:p>
        </p:txBody>
      </p:sp>
      <p:sp>
        <p:nvSpPr>
          <p:cNvPr id="13" name="Rounded Rectangle 12"/>
          <p:cNvSpPr/>
          <p:nvPr/>
        </p:nvSpPr>
        <p:spPr>
          <a:xfrm>
            <a:off x="6400800" y="2286000"/>
            <a:ext cx="1828800" cy="3657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2313432"/>
            <a:ext cx="1737360" cy="320040"/>
          </a:xfrm>
          <a:prstGeom prst="rect">
            <a:avLst/>
          </a:prstGeom>
          <a:noFill/>
        </p:spPr>
        <p:txBody>
          <a:bodyPr wrap="square" lIns="0" rIns="0" tIns="0" bIns="0" anchor="ctr">
            <a:spAutoFit/>
          </a:bodyPr>
          <a:lstStyle/>
          <a:p>
            <a:pPr algn="l">
              <a:lnSpc>
                <a:spcPct val="115000"/>
              </a:lnSpc>
            </a:pPr>
            <a:r>
              <a:rPr sz="1100" b="1" i="0">
                <a:solidFill>
                  <a:srgbClr val="21295C"/>
                </a:solidFill>
                <a:latin typeface="Arial"/>
              </a:rPr>
              <a:t>Stale policy</a:t>
            </a:r>
          </a:p>
        </p:txBody>
      </p:sp>
      <p:sp>
        <p:nvSpPr>
          <p:cNvPr id="15" name="TextBox 14"/>
          <p:cNvSpPr txBox="1"/>
          <p:nvPr/>
        </p:nvSpPr>
        <p:spPr>
          <a:xfrm>
            <a:off x="6400800" y="2743200"/>
            <a:ext cx="5166359" cy="822960"/>
          </a:xfrm>
          <a:prstGeom prst="rect">
            <a:avLst/>
          </a:prstGeom>
          <a:noFill/>
        </p:spPr>
        <p:txBody>
          <a:bodyPr wrap="square" lIns="0" rIns="0" tIns="0" bIns="0" anchor="t">
            <a:spAutoFit/>
          </a:bodyPr>
          <a:lstStyle/>
          <a:p>
            <a:pPr algn="l">
              <a:lnSpc>
                <a:spcPct val="135000"/>
              </a:lnSpc>
            </a:pPr>
            <a:r>
              <a:rPr sz="1100" b="0" i="0">
                <a:solidFill>
                  <a:srgbClr val="21295C"/>
                </a:solidFill>
                <a:latin typeface="Arial"/>
              </a:rPr>
              <a:t>Состав сырья меняется. Policy на одном — stale на другом.
Незаметно: на бумаге норма, качество дрейфует.</a:t>
            </a:r>
          </a:p>
        </p:txBody>
      </p:sp>
      <p:sp>
        <p:nvSpPr>
          <p:cNvPr id="16" name="Rounded Rectangle 15"/>
          <p:cNvSpPr/>
          <p:nvPr/>
        </p:nvSpPr>
        <p:spPr>
          <a:xfrm>
            <a:off x="457200" y="3749039"/>
            <a:ext cx="5532120" cy="196596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3749039"/>
            <a:ext cx="137160" cy="196596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3886200"/>
            <a:ext cx="5166359" cy="411480"/>
          </a:xfrm>
          <a:prstGeom prst="rect">
            <a:avLst/>
          </a:prstGeom>
          <a:noFill/>
        </p:spPr>
        <p:txBody>
          <a:bodyPr wrap="square" lIns="0" rIns="0" tIns="0" bIns="0" anchor="t">
            <a:spAutoFit/>
          </a:bodyPr>
          <a:lstStyle/>
          <a:p>
            <a:pPr algn="l">
              <a:lnSpc>
                <a:spcPct val="115000"/>
              </a:lnSpc>
            </a:pPr>
            <a:r>
              <a:rPr sz="1500" b="1" i="0">
                <a:solidFill>
                  <a:srgbClr val="21295C"/>
                </a:solidFill>
                <a:latin typeface="Arial"/>
              </a:rPr>
              <a:t>3. Seasonal shifts</a:t>
            </a:r>
          </a:p>
        </p:txBody>
      </p:sp>
      <p:sp>
        <p:nvSpPr>
          <p:cNvPr id="19" name="Rounded Rectangle 18"/>
          <p:cNvSpPr/>
          <p:nvPr/>
        </p:nvSpPr>
        <p:spPr>
          <a:xfrm>
            <a:off x="731520" y="4389120"/>
            <a:ext cx="1828800" cy="3657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416552"/>
            <a:ext cx="1737360" cy="320040"/>
          </a:xfrm>
          <a:prstGeom prst="rect">
            <a:avLst/>
          </a:prstGeom>
          <a:noFill/>
        </p:spPr>
        <p:txBody>
          <a:bodyPr wrap="square" lIns="0" rIns="0" tIns="0" bIns="0" anchor="ctr">
            <a:spAutoFit/>
          </a:bodyPr>
          <a:lstStyle/>
          <a:p>
            <a:pPr algn="l">
              <a:lnSpc>
                <a:spcPct val="115000"/>
              </a:lnSpc>
            </a:pPr>
            <a:r>
              <a:rPr sz="1100" b="1" i="0">
                <a:solidFill>
                  <a:srgbClr val="21295C"/>
                </a:solidFill>
                <a:latin typeface="Arial"/>
              </a:rPr>
              <a:t>Внешняя среда</a:t>
            </a:r>
          </a:p>
        </p:txBody>
      </p:sp>
      <p:sp>
        <p:nvSpPr>
          <p:cNvPr id="21" name="TextBox 20"/>
          <p:cNvSpPr txBox="1"/>
          <p:nvPr/>
        </p:nvSpPr>
        <p:spPr>
          <a:xfrm>
            <a:off x="731520" y="4846320"/>
            <a:ext cx="5166359" cy="822960"/>
          </a:xfrm>
          <a:prstGeom prst="rect">
            <a:avLst/>
          </a:prstGeom>
          <a:noFill/>
        </p:spPr>
        <p:txBody>
          <a:bodyPr wrap="square" lIns="0" rIns="0" tIns="0" bIns="0" anchor="t">
            <a:spAutoFit/>
          </a:bodyPr>
          <a:lstStyle/>
          <a:p>
            <a:pPr algn="l">
              <a:lnSpc>
                <a:spcPct val="135000"/>
              </a:lnSpc>
            </a:pPr>
            <a:r>
              <a:rPr sz="1100" b="0" i="0">
                <a:solidFill>
                  <a:srgbClr val="21295C"/>
                </a:solidFill>
                <a:latin typeface="Arial"/>
              </a:rPr>
              <a:t>Зимняя температура vs летняя влияет на охлаждение.
«Летом работал, осенью странности».</a:t>
            </a:r>
          </a:p>
        </p:txBody>
      </p:sp>
      <p:sp>
        <p:nvSpPr>
          <p:cNvPr id="22" name="Rounded Rectangle 21"/>
          <p:cNvSpPr/>
          <p:nvPr/>
        </p:nvSpPr>
        <p:spPr>
          <a:xfrm>
            <a:off x="6126480" y="3749039"/>
            <a:ext cx="5532120" cy="196596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26480" y="3749039"/>
            <a:ext cx="137160" cy="196596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0" y="3886200"/>
            <a:ext cx="5166359" cy="411480"/>
          </a:xfrm>
          <a:prstGeom prst="rect">
            <a:avLst/>
          </a:prstGeom>
          <a:noFill/>
        </p:spPr>
        <p:txBody>
          <a:bodyPr wrap="square" lIns="0" rIns="0" tIns="0" bIns="0" anchor="t">
            <a:spAutoFit/>
          </a:bodyPr>
          <a:lstStyle/>
          <a:p>
            <a:pPr algn="l">
              <a:lnSpc>
                <a:spcPct val="115000"/>
              </a:lnSpc>
            </a:pPr>
            <a:r>
              <a:rPr sz="1500" b="1" i="0">
                <a:solidFill>
                  <a:srgbClr val="21295C"/>
                </a:solidFill>
                <a:latin typeface="Arial"/>
              </a:rPr>
              <a:t>4. Equipment wear</a:t>
            </a:r>
          </a:p>
        </p:txBody>
      </p:sp>
      <p:sp>
        <p:nvSpPr>
          <p:cNvPr id="25" name="Rounded Rectangle 24"/>
          <p:cNvSpPr/>
          <p:nvPr/>
        </p:nvSpPr>
        <p:spPr>
          <a:xfrm>
            <a:off x="6400800" y="4389120"/>
            <a:ext cx="1828800" cy="3657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46520" y="4416552"/>
            <a:ext cx="1737360" cy="320040"/>
          </a:xfrm>
          <a:prstGeom prst="rect">
            <a:avLst/>
          </a:prstGeom>
          <a:noFill/>
        </p:spPr>
        <p:txBody>
          <a:bodyPr wrap="square" lIns="0" rIns="0" tIns="0" bIns="0" anchor="ctr">
            <a:spAutoFit/>
          </a:bodyPr>
          <a:lstStyle/>
          <a:p>
            <a:pPr algn="l">
              <a:lnSpc>
                <a:spcPct val="115000"/>
              </a:lnSpc>
            </a:pPr>
            <a:r>
              <a:rPr sz="1100" b="1" i="0">
                <a:solidFill>
                  <a:srgbClr val="21295C"/>
                </a:solidFill>
                <a:latin typeface="Arial"/>
              </a:rPr>
              <a:t>Дрейф объекта</a:t>
            </a:r>
          </a:p>
        </p:txBody>
      </p:sp>
      <p:sp>
        <p:nvSpPr>
          <p:cNvPr id="27" name="TextBox 26"/>
          <p:cNvSpPr txBox="1"/>
          <p:nvPr/>
        </p:nvSpPr>
        <p:spPr>
          <a:xfrm>
            <a:off x="6400800" y="4846320"/>
            <a:ext cx="5166359" cy="822960"/>
          </a:xfrm>
          <a:prstGeom prst="rect">
            <a:avLst/>
          </a:prstGeom>
          <a:noFill/>
        </p:spPr>
        <p:txBody>
          <a:bodyPr wrap="square" lIns="0" rIns="0" tIns="0" bIns="0" anchor="t">
            <a:spAutoFit/>
          </a:bodyPr>
          <a:lstStyle/>
          <a:p>
            <a:pPr algn="l">
              <a:lnSpc>
                <a:spcPct val="135000"/>
              </a:lnSpc>
            </a:pPr>
            <a:r>
              <a:rPr sz="1100" b="0" i="0">
                <a:solidFill>
                  <a:srgbClr val="21295C"/>
                </a:solidFill>
                <a:latin typeface="Arial"/>
              </a:rPr>
              <a:t>Катализатор стареет, теплообменник засоряется.
RL не учится online без переподготовки.</a:t>
            </a:r>
          </a:p>
        </p:txBody>
      </p:sp>
      <p:sp>
        <p:nvSpPr>
          <p:cNvPr id="28" name="Rounded Rectangle 27"/>
          <p:cNvSpPr/>
          <p:nvPr/>
        </p:nvSpPr>
        <p:spPr>
          <a:xfrm>
            <a:off x="457200" y="5943600"/>
            <a:ext cx="11274552" cy="502920"/>
          </a:xfrm>
          <a:prstGeom prst="roundRect">
            <a:avLst>
              <a:gd name="adj" fmla="val 10000"/>
            </a:avLst>
          </a:prstGeom>
          <a:solidFill>
            <a:srgbClr val="E6F2F4"/>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5989320"/>
            <a:ext cx="10972800" cy="457200"/>
          </a:xfrm>
          <a:prstGeom prst="rect">
            <a:avLst/>
          </a:prstGeom>
          <a:noFill/>
        </p:spPr>
        <p:txBody>
          <a:bodyPr wrap="square" lIns="0" rIns="0" tIns="0" bIns="0" anchor="ctr">
            <a:spAutoFit/>
          </a:bodyPr>
          <a:lstStyle/>
          <a:p>
            <a:pPr algn="ctr">
              <a:lnSpc>
                <a:spcPct val="115000"/>
              </a:lnSpc>
            </a:pPr>
            <a:r>
              <a:rPr sz="1200" b="1" i="0">
                <a:solidFill>
                  <a:srgbClr val="21295C"/>
                </a:solidFill>
                <a:latin typeface="Arial"/>
              </a:rPr>
              <a:t>Safe-fallback: MPC реагирует на текущие данные, не помнит обучения · MPC mandatory на замыкании контура</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800" b="1" i="0">
                <a:solidFill>
                  <a:srgbClr val="21295C"/>
                </a:solidFill>
                <a:latin typeface="Arial"/>
              </a:rPr>
              <a:t>Edge AI + детерминизм edge-вывода</a:t>
            </a:r>
          </a:p>
        </p:txBody>
      </p:sp>
      <p:sp>
        <p:nvSpPr>
          <p:cNvPr id="3" name="TextBox 2"/>
          <p:cNvSpPr txBox="1"/>
          <p:nvPr/>
        </p:nvSpPr>
        <p:spPr>
          <a:xfrm>
            <a:off x="457200" y="1051560"/>
            <a:ext cx="11274552" cy="365760"/>
          </a:xfrm>
          <a:prstGeom prst="rect">
            <a:avLst/>
          </a:prstGeom>
          <a:noFill/>
        </p:spPr>
        <p:txBody>
          <a:bodyPr wrap="square" lIns="0" rIns="0" tIns="0" bIns="0" anchor="t">
            <a:spAutoFit/>
          </a:bodyPr>
          <a:lstStyle/>
          <a:p>
            <a:pPr algn="l">
              <a:lnSpc>
                <a:spcPct val="115000"/>
              </a:lnSpc>
            </a:pPr>
            <a:r>
              <a:rPr sz="1400" b="0" i="1">
                <a:solidFill>
                  <a:srgbClr val="1C7293"/>
                </a:solidFill>
                <a:latin typeface="Arial"/>
              </a:rPr>
              <a:t>POSCO 180 nodes · Holcim 100 plants · Latency = determinism, не только speed</a:t>
            </a:r>
          </a:p>
        </p:txBody>
      </p:sp>
      <p:sp>
        <p:nvSpPr>
          <p:cNvPr id="4" name="Rounded Rectangle 3"/>
          <p:cNvSpPr/>
          <p:nvPr/>
        </p:nvSpPr>
        <p:spPr>
          <a:xfrm>
            <a:off x="457200" y="1554480"/>
            <a:ext cx="3657600" cy="32004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554480"/>
            <a:ext cx="3657600" cy="5029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600200"/>
            <a:ext cx="3657600" cy="457200"/>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POSCO · Корея 2024</a:t>
            </a:r>
          </a:p>
        </p:txBody>
      </p:sp>
      <p:pic>
        <p:nvPicPr>
          <p:cNvPr id="7" name="Picture 6" descr="s27-posco-tower.jpg"/>
          <p:cNvPicPr>
            <a:picLocks noChangeAspect="1"/>
          </p:cNvPicPr>
          <p:nvPr/>
        </p:nvPicPr>
        <p:blipFill>
          <a:blip r:embed="rId2"/>
          <a:stretch>
            <a:fillRect/>
          </a:stretch>
        </p:blipFill>
        <p:spPr>
          <a:xfrm>
            <a:off x="594360" y="2194560"/>
            <a:ext cx="3383280" cy="1645920"/>
          </a:xfrm>
          <a:prstGeom prst="rect">
            <a:avLst/>
          </a:prstGeom>
        </p:spPr>
      </p:pic>
      <p:sp>
        <p:nvSpPr>
          <p:cNvPr id="8" name="TextBox 7"/>
          <p:cNvSpPr txBox="1"/>
          <p:nvPr/>
        </p:nvSpPr>
        <p:spPr>
          <a:xfrm>
            <a:off x="594360" y="3931920"/>
            <a:ext cx="3383280" cy="777240"/>
          </a:xfrm>
          <a:prstGeom prst="rect">
            <a:avLst/>
          </a:prstGeom>
          <a:noFill/>
        </p:spPr>
        <p:txBody>
          <a:bodyPr wrap="square" lIns="0" rIns="0" tIns="0" bIns="0" anchor="t">
            <a:spAutoFit/>
          </a:bodyPr>
          <a:lstStyle/>
          <a:p>
            <a:pPr algn="l">
              <a:lnSpc>
                <a:spcPct val="125000"/>
              </a:lnSpc>
            </a:pPr>
            <a:r>
              <a:rPr sz="1400" b="1" i="0">
                <a:solidFill>
                  <a:srgbClr val="F0AB00"/>
                </a:solidFill>
                <a:latin typeface="Arial"/>
              </a:rPr>
              <a:t>180 edge nodes</a:t>
            </a:r>
          </a:p>
          <a:p>
            <a:pPr algn="l">
              <a:lnSpc>
                <a:spcPct val="125000"/>
              </a:lnSpc>
            </a:pPr>
            <a:r>
              <a:rPr sz="1000" b="0" i="0">
                <a:solidFill>
                  <a:srgbClr val="21295C"/>
                </a:solidFill>
                <a:latin typeface="Arial"/>
              </a:rPr>
              <a:t>+5% efficiency · –10% energy · +3% yield</a:t>
            </a:r>
          </a:p>
        </p:txBody>
      </p:sp>
      <p:sp>
        <p:nvSpPr>
          <p:cNvPr id="9" name="TextBox 8"/>
          <p:cNvSpPr txBox="1"/>
          <p:nvPr/>
        </p:nvSpPr>
        <p:spPr>
          <a:xfrm>
            <a:off x="457200" y="4617720"/>
            <a:ext cx="3657600"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POSCO Tower · Wikimedia</a:t>
            </a:r>
          </a:p>
        </p:txBody>
      </p:sp>
      <p:sp>
        <p:nvSpPr>
          <p:cNvPr id="10" name="Rounded Rectangle 9"/>
          <p:cNvSpPr/>
          <p:nvPr/>
        </p:nvSpPr>
        <p:spPr>
          <a:xfrm>
            <a:off x="4297680" y="1554480"/>
            <a:ext cx="7434072" cy="32004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1645920"/>
            <a:ext cx="7040880" cy="365760"/>
          </a:xfrm>
          <a:prstGeom prst="rect">
            <a:avLst/>
          </a:prstGeom>
          <a:noFill/>
        </p:spPr>
        <p:txBody>
          <a:bodyPr wrap="square" lIns="0" rIns="0" tIns="0" bIns="0" anchor="t">
            <a:spAutoFit/>
          </a:bodyPr>
          <a:lstStyle/>
          <a:p>
            <a:pPr algn="l">
              <a:lnSpc>
                <a:spcPct val="115000"/>
              </a:lnSpc>
            </a:pPr>
            <a:r>
              <a:rPr sz="1300" b="1" i="0">
                <a:solidFill>
                  <a:srgbClr val="065A82"/>
                </a:solidFill>
                <a:latin typeface="Arial"/>
              </a:rPr>
              <a:t>Latency budget — три уровня:</a:t>
            </a:r>
          </a:p>
        </p:txBody>
      </p:sp>
      <p:pic>
        <p:nvPicPr>
          <p:cNvPr id="12" name="Picture 11" descr="s27-latency-comparison.png"/>
          <p:cNvPicPr>
            <a:picLocks noChangeAspect="1"/>
          </p:cNvPicPr>
          <p:nvPr/>
        </p:nvPicPr>
        <p:blipFill>
          <a:blip r:embed="rId3"/>
          <a:stretch>
            <a:fillRect/>
          </a:stretch>
        </p:blipFill>
        <p:spPr>
          <a:xfrm>
            <a:off x="4480560" y="2057400"/>
            <a:ext cx="7040880" cy="2606040"/>
          </a:xfrm>
          <a:prstGeom prst="rect">
            <a:avLst/>
          </a:prstGeom>
        </p:spPr>
      </p:pic>
      <p:sp>
        <p:nvSpPr>
          <p:cNvPr id="13" name="Rounded Rectangle 12"/>
          <p:cNvSpPr/>
          <p:nvPr/>
        </p:nvSpPr>
        <p:spPr>
          <a:xfrm>
            <a:off x="457200" y="4892040"/>
            <a:ext cx="11274552" cy="68580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4956048"/>
            <a:ext cx="10972800" cy="594360"/>
          </a:xfrm>
          <a:prstGeom prst="rect">
            <a:avLst/>
          </a:prstGeom>
          <a:noFill/>
        </p:spPr>
        <p:txBody>
          <a:bodyPr wrap="square" lIns="0" rIns="0" tIns="0" bIns="0" anchor="ctr">
            <a:spAutoFit/>
          </a:bodyPr>
          <a:lstStyle/>
          <a:p>
            <a:pPr algn="ctr">
              <a:lnSpc>
                <a:spcPct val="115000"/>
              </a:lnSpc>
            </a:pPr>
            <a:r>
              <a:rPr sz="1800" b="1" i="0">
                <a:solidFill>
                  <a:srgbClr val="21295C"/>
                </a:solidFill>
                <a:latin typeface="Arial"/>
              </a:rPr>
              <a:t>«Latency = determinism, не только speed»</a:t>
            </a:r>
          </a:p>
        </p:txBody>
      </p:sp>
      <p:sp>
        <p:nvSpPr>
          <p:cNvPr id="15" name="Rounded Rectangle 14"/>
          <p:cNvSpPr/>
          <p:nvPr/>
        </p:nvSpPr>
        <p:spPr>
          <a:xfrm>
            <a:off x="457200" y="5715000"/>
            <a:ext cx="11274552" cy="64008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5760720"/>
            <a:ext cx="10972800" cy="548640"/>
          </a:xfrm>
          <a:prstGeom prst="rect">
            <a:avLst/>
          </a:prstGeom>
          <a:noFill/>
        </p:spPr>
        <p:txBody>
          <a:bodyPr wrap="square" lIns="0" rIns="0" tIns="0" bIns="0" anchor="ctr">
            <a:spAutoFit/>
          </a:bodyPr>
          <a:lstStyle/>
          <a:p>
            <a:pPr algn="ctr">
              <a:lnSpc>
                <a:spcPct val="115000"/>
              </a:lnSpc>
            </a:pPr>
            <a:r>
              <a:rPr sz="1200" b="0" i="1">
                <a:solidFill>
                  <a:srgbClr val="21295C"/>
                </a:solidFill>
                <a:latin typeface="Arial"/>
              </a:rPr>
              <a:t>F-35 ALIS callback (Лекция 9): $44 000/час, заменён ODIN. Defense PdM учит тому же, что промышленный.</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800" b="1" i="0">
                <a:solidFill>
                  <a:srgbClr val="21295C"/>
                </a:solidFill>
                <a:latin typeface="Arial"/>
              </a:rPr>
              <a:t>Регуляторные блокеры — три карты</a:t>
            </a:r>
          </a:p>
        </p:txBody>
      </p:sp>
      <p:sp>
        <p:nvSpPr>
          <p:cNvPr id="3" name="TextBox 2"/>
          <p:cNvSpPr txBox="1"/>
          <p:nvPr/>
        </p:nvSpPr>
        <p:spPr>
          <a:xfrm>
            <a:off x="457200" y="1051560"/>
            <a:ext cx="11274552" cy="365760"/>
          </a:xfrm>
          <a:prstGeom prst="rect">
            <a:avLst/>
          </a:prstGeom>
          <a:noFill/>
        </p:spPr>
        <p:txBody>
          <a:bodyPr wrap="square" lIns="0" rIns="0" tIns="0" bIns="0" anchor="t">
            <a:spAutoFit/>
          </a:bodyPr>
          <a:lstStyle/>
          <a:p>
            <a:pPr algn="l">
              <a:lnSpc>
                <a:spcPct val="115000"/>
              </a:lnSpc>
            </a:pPr>
            <a:r>
              <a:rPr sz="1400" b="0" i="1">
                <a:solidFill>
                  <a:srgbClr val="1C7293"/>
                </a:solidFill>
                <a:latin typeface="Arial"/>
              </a:rPr>
              <a:t>FDA Part 11 · ATEX · Указ 250 — где AI упирается в сертификацию</a:t>
            </a:r>
          </a:p>
        </p:txBody>
      </p:sp>
      <p:sp>
        <p:nvSpPr>
          <p:cNvPr id="4" name="Rounded Rectangle 3"/>
          <p:cNvSpPr/>
          <p:nvPr/>
        </p:nvSpPr>
        <p:spPr>
          <a:xfrm>
            <a:off x="457200" y="1600200"/>
            <a:ext cx="3703320" cy="45720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600200"/>
            <a:ext cx="3703320" cy="6400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645920"/>
            <a:ext cx="3703320" cy="548640"/>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FDA 21 CFR Part 11</a:t>
            </a:r>
          </a:p>
        </p:txBody>
      </p:sp>
      <p:sp>
        <p:nvSpPr>
          <p:cNvPr id="7" name="TextBox 6"/>
          <p:cNvSpPr txBox="1"/>
          <p:nvPr/>
        </p:nvSpPr>
        <p:spPr>
          <a:xfrm>
            <a:off x="594360" y="2377440"/>
            <a:ext cx="3429000" cy="320040"/>
          </a:xfrm>
          <a:prstGeom prst="rect">
            <a:avLst/>
          </a:prstGeom>
          <a:noFill/>
        </p:spPr>
        <p:txBody>
          <a:bodyPr wrap="square" lIns="0" rIns="0" tIns="0" bIns="0" anchor="t">
            <a:spAutoFit/>
          </a:bodyPr>
          <a:lstStyle/>
          <a:p>
            <a:pPr algn="ctr">
              <a:lnSpc>
                <a:spcPct val="115000"/>
              </a:lnSpc>
            </a:pPr>
            <a:r>
              <a:rPr sz="1100" b="0" i="1">
                <a:solidFill>
                  <a:srgbClr val="6B7685"/>
                </a:solidFill>
                <a:latin typeface="Arial"/>
              </a:rPr>
              <a:t>Фарма, глобально</a:t>
            </a:r>
          </a:p>
        </p:txBody>
      </p:sp>
      <p:sp>
        <p:nvSpPr>
          <p:cNvPr id="8" name="TextBox 7"/>
          <p:cNvSpPr txBox="1"/>
          <p:nvPr/>
        </p:nvSpPr>
        <p:spPr>
          <a:xfrm>
            <a:off x="640080" y="2788920"/>
            <a:ext cx="3337560" cy="640080"/>
          </a:xfrm>
          <a:prstGeom prst="rect">
            <a:avLst/>
          </a:prstGeom>
          <a:noFill/>
        </p:spPr>
        <p:txBody>
          <a:bodyPr wrap="square" lIns="0" rIns="0" tIns="0" bIns="0" anchor="t">
            <a:spAutoFit/>
          </a:bodyPr>
          <a:lstStyle/>
          <a:p>
            <a:pPr algn="l">
              <a:lnSpc>
                <a:spcPct val="130000"/>
              </a:lnSpc>
            </a:pPr>
            <a:r>
              <a:rPr sz="1100" b="1" i="0">
                <a:solidFill>
                  <a:srgbClr val="21295C"/>
                </a:solidFill>
                <a:latin typeface="Arial"/>
              </a:rPr>
              <a:t>Audit trail + validated systems + traceable changes.</a:t>
            </a:r>
          </a:p>
        </p:txBody>
      </p:sp>
      <p:sp>
        <p:nvSpPr>
          <p:cNvPr id="9" name="Rounded Rectangle 8"/>
          <p:cNvSpPr/>
          <p:nvPr/>
        </p:nvSpPr>
        <p:spPr>
          <a:xfrm>
            <a:off x="640080" y="3520440"/>
            <a:ext cx="3337560" cy="12801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3566160"/>
            <a:ext cx="3154679" cy="1188720"/>
          </a:xfrm>
          <a:prstGeom prst="rect">
            <a:avLst/>
          </a:prstGeom>
          <a:noFill/>
        </p:spPr>
        <p:txBody>
          <a:bodyPr wrap="square" lIns="0" rIns="0" tIns="0" bIns="0" anchor="t">
            <a:spAutoFit/>
          </a:bodyPr>
          <a:lstStyle/>
          <a:p>
            <a:pPr algn="l">
              <a:lnSpc>
                <a:spcPct val="130000"/>
              </a:lnSpc>
            </a:pPr>
            <a:r>
              <a:rPr sz="1000" b="0" i="0">
                <a:solidFill>
                  <a:srgbClr val="21295C"/>
                </a:solidFill>
                <a:latin typeface="Arial"/>
              </a:rPr>
              <a:t>БЛОКЕР:
Black-box ML — нет audit trail.
AI не может быть final decision-maker.
HITL обязателен. GAMP®5 validation.</a:t>
            </a:r>
          </a:p>
        </p:txBody>
      </p:sp>
      <p:sp>
        <p:nvSpPr>
          <p:cNvPr id="11" name="TextBox 10"/>
          <p:cNvSpPr txBox="1"/>
          <p:nvPr/>
        </p:nvSpPr>
        <p:spPr>
          <a:xfrm>
            <a:off x="685800" y="4937760"/>
            <a:ext cx="3246120" cy="1097280"/>
          </a:xfrm>
          <a:prstGeom prst="rect">
            <a:avLst/>
          </a:prstGeom>
          <a:noFill/>
        </p:spPr>
        <p:txBody>
          <a:bodyPr wrap="square" lIns="0" rIns="0" tIns="0" bIns="0" anchor="t">
            <a:spAutoFit/>
          </a:bodyPr>
          <a:lstStyle/>
          <a:p>
            <a:pPr algn="l">
              <a:lnSpc>
                <a:spcPct val="135000"/>
              </a:lnSpc>
            </a:pPr>
            <a:r>
              <a:rPr sz="1000" b="0" i="1">
                <a:solidFill>
                  <a:srgbClr val="4A556B"/>
                </a:solidFill>
                <a:latin typeface="Arial"/>
              </a:rPr>
              <a:t>Работает: prediction → operator approval.
Не работает: autonomous batch release.</a:t>
            </a:r>
          </a:p>
        </p:txBody>
      </p:sp>
      <p:sp>
        <p:nvSpPr>
          <p:cNvPr id="12" name="Rounded Rectangle 11"/>
          <p:cNvSpPr/>
          <p:nvPr/>
        </p:nvSpPr>
        <p:spPr>
          <a:xfrm>
            <a:off x="4251959" y="1600200"/>
            <a:ext cx="3703320" cy="45720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51959" y="1600200"/>
            <a:ext cx="3703320" cy="64008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51959" y="1645920"/>
            <a:ext cx="3703320" cy="548640"/>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ATEX / IECEx</a:t>
            </a:r>
          </a:p>
        </p:txBody>
      </p:sp>
      <p:sp>
        <p:nvSpPr>
          <p:cNvPr id="15" name="TextBox 14"/>
          <p:cNvSpPr txBox="1"/>
          <p:nvPr/>
        </p:nvSpPr>
        <p:spPr>
          <a:xfrm>
            <a:off x="4389120" y="2377440"/>
            <a:ext cx="3429000" cy="320040"/>
          </a:xfrm>
          <a:prstGeom prst="rect">
            <a:avLst/>
          </a:prstGeom>
          <a:noFill/>
        </p:spPr>
        <p:txBody>
          <a:bodyPr wrap="square" lIns="0" rIns="0" tIns="0" bIns="0" anchor="t">
            <a:spAutoFit/>
          </a:bodyPr>
          <a:lstStyle/>
          <a:p>
            <a:pPr algn="ctr">
              <a:lnSpc>
                <a:spcPct val="115000"/>
              </a:lnSpc>
            </a:pPr>
            <a:r>
              <a:rPr sz="1100" b="0" i="1">
                <a:solidFill>
                  <a:srgbClr val="6B7685"/>
                </a:solidFill>
                <a:latin typeface="Arial"/>
              </a:rPr>
              <a:t>Взрывоопасные зоны</a:t>
            </a:r>
          </a:p>
        </p:txBody>
      </p:sp>
      <p:sp>
        <p:nvSpPr>
          <p:cNvPr id="16" name="TextBox 15"/>
          <p:cNvSpPr txBox="1"/>
          <p:nvPr/>
        </p:nvSpPr>
        <p:spPr>
          <a:xfrm>
            <a:off x="4434840" y="2788920"/>
            <a:ext cx="3337560" cy="640080"/>
          </a:xfrm>
          <a:prstGeom prst="rect">
            <a:avLst/>
          </a:prstGeom>
          <a:noFill/>
        </p:spPr>
        <p:txBody>
          <a:bodyPr wrap="square" lIns="0" rIns="0" tIns="0" bIns="0" anchor="t">
            <a:spAutoFit/>
          </a:bodyPr>
          <a:lstStyle/>
          <a:p>
            <a:pPr algn="l">
              <a:lnSpc>
                <a:spcPct val="130000"/>
              </a:lnSpc>
            </a:pPr>
            <a:r>
              <a:rPr sz="1100" b="1" i="0">
                <a:solidFill>
                  <a:srgbClr val="21295C"/>
                </a:solidFill>
                <a:latin typeface="Arial"/>
              </a:rPr>
              <a:t>Hardware certified для zones (0, 1, 2).</a:t>
            </a:r>
          </a:p>
        </p:txBody>
      </p:sp>
      <p:sp>
        <p:nvSpPr>
          <p:cNvPr id="17" name="Rounded Rectangle 16"/>
          <p:cNvSpPr/>
          <p:nvPr/>
        </p:nvSpPr>
        <p:spPr>
          <a:xfrm>
            <a:off x="4434840" y="3520440"/>
            <a:ext cx="3337560" cy="12801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26279" y="3566160"/>
            <a:ext cx="3154679" cy="1188720"/>
          </a:xfrm>
          <a:prstGeom prst="rect">
            <a:avLst/>
          </a:prstGeom>
          <a:noFill/>
        </p:spPr>
        <p:txBody>
          <a:bodyPr wrap="square" lIns="0" rIns="0" tIns="0" bIns="0" anchor="t">
            <a:spAutoFit/>
          </a:bodyPr>
          <a:lstStyle/>
          <a:p>
            <a:pPr algn="l">
              <a:lnSpc>
                <a:spcPct val="130000"/>
              </a:lnSpc>
            </a:pPr>
            <a:r>
              <a:rPr sz="1000" b="0" i="0">
                <a:solidFill>
                  <a:srgbClr val="21295C"/>
                </a:solidFill>
                <a:latin typeface="Arial"/>
              </a:rPr>
              <a:t>БЛОКЕР:
Zone 0: non-certified AI hardware ФИЗИЧЕСКИ запрещён.
Не вопрос ПО — вопрос hardware.</a:t>
            </a:r>
          </a:p>
        </p:txBody>
      </p:sp>
      <p:sp>
        <p:nvSpPr>
          <p:cNvPr id="19" name="TextBox 18"/>
          <p:cNvSpPr txBox="1"/>
          <p:nvPr/>
        </p:nvSpPr>
        <p:spPr>
          <a:xfrm>
            <a:off x="4480559" y="4937760"/>
            <a:ext cx="3246120" cy="1097280"/>
          </a:xfrm>
          <a:prstGeom prst="rect">
            <a:avLst/>
          </a:prstGeom>
          <a:noFill/>
        </p:spPr>
        <p:txBody>
          <a:bodyPr wrap="square" lIns="0" rIns="0" tIns="0" bIns="0" anchor="t">
            <a:spAutoFit/>
          </a:bodyPr>
          <a:lstStyle/>
          <a:p>
            <a:pPr algn="l">
              <a:lnSpc>
                <a:spcPct val="135000"/>
              </a:lnSpc>
            </a:pPr>
            <a:r>
              <a:rPr sz="1000" b="0" i="1">
                <a:solidFill>
                  <a:srgbClr val="4A556B"/>
                </a:solidFill>
                <a:latin typeface="Arial"/>
              </a:rPr>
              <a:t>AI помогает в predictive monitoring gas/temp/dust — не заменяет ATEX hardware.</a:t>
            </a:r>
          </a:p>
        </p:txBody>
      </p:sp>
      <p:sp>
        <p:nvSpPr>
          <p:cNvPr id="20" name="Rounded Rectangle 19"/>
          <p:cNvSpPr/>
          <p:nvPr/>
        </p:nvSpPr>
        <p:spPr>
          <a:xfrm>
            <a:off x="8046719" y="1600200"/>
            <a:ext cx="3703320" cy="45720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46719" y="1600200"/>
            <a:ext cx="3703320" cy="64008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19" y="1645920"/>
            <a:ext cx="3703320" cy="548640"/>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Указ № 250 (РФ)</a:t>
            </a:r>
          </a:p>
        </p:txBody>
      </p:sp>
      <p:sp>
        <p:nvSpPr>
          <p:cNvPr id="23" name="TextBox 22"/>
          <p:cNvSpPr txBox="1"/>
          <p:nvPr/>
        </p:nvSpPr>
        <p:spPr>
          <a:xfrm>
            <a:off x="8183879" y="2377440"/>
            <a:ext cx="3429000" cy="320040"/>
          </a:xfrm>
          <a:prstGeom prst="rect">
            <a:avLst/>
          </a:prstGeom>
          <a:noFill/>
        </p:spPr>
        <p:txBody>
          <a:bodyPr wrap="square" lIns="0" rIns="0" tIns="0" bIns="0" anchor="t">
            <a:spAutoFit/>
          </a:bodyPr>
          <a:lstStyle/>
          <a:p>
            <a:pPr algn="ctr">
              <a:lnSpc>
                <a:spcPct val="115000"/>
              </a:lnSpc>
            </a:pPr>
            <a:r>
              <a:rPr sz="1100" b="0" i="1">
                <a:solidFill>
                  <a:srgbClr val="6B7685"/>
                </a:solidFill>
                <a:latin typeface="Arial"/>
              </a:rPr>
              <a:t>2022</a:t>
            </a:r>
          </a:p>
        </p:txBody>
      </p:sp>
      <p:sp>
        <p:nvSpPr>
          <p:cNvPr id="24" name="TextBox 23"/>
          <p:cNvSpPr txBox="1"/>
          <p:nvPr/>
        </p:nvSpPr>
        <p:spPr>
          <a:xfrm>
            <a:off x="8229599" y="2788920"/>
            <a:ext cx="3337560" cy="640080"/>
          </a:xfrm>
          <a:prstGeom prst="rect">
            <a:avLst/>
          </a:prstGeom>
          <a:noFill/>
        </p:spPr>
        <p:txBody>
          <a:bodyPr wrap="square" lIns="0" rIns="0" tIns="0" bIns="0" anchor="t">
            <a:spAutoFit/>
          </a:bodyPr>
          <a:lstStyle/>
          <a:p>
            <a:pPr algn="l">
              <a:lnSpc>
                <a:spcPct val="130000"/>
              </a:lnSpc>
            </a:pPr>
            <a:r>
              <a:rPr sz="1100" b="1" i="0">
                <a:solidFill>
                  <a:srgbClr val="21295C"/>
                </a:solidFill>
                <a:latin typeface="Arial"/>
              </a:rPr>
              <a:t>Защита критической информационной инфраструктуры (КИИ).</a:t>
            </a:r>
          </a:p>
        </p:txBody>
      </p:sp>
      <p:sp>
        <p:nvSpPr>
          <p:cNvPr id="25" name="Rounded Rectangle 24"/>
          <p:cNvSpPr/>
          <p:nvPr/>
        </p:nvSpPr>
        <p:spPr>
          <a:xfrm>
            <a:off x="8229599" y="3520440"/>
            <a:ext cx="3337560" cy="12801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21040" y="3566160"/>
            <a:ext cx="3154679" cy="1188720"/>
          </a:xfrm>
          <a:prstGeom prst="rect">
            <a:avLst/>
          </a:prstGeom>
          <a:noFill/>
        </p:spPr>
        <p:txBody>
          <a:bodyPr wrap="square" lIns="0" rIns="0" tIns="0" bIns="0" anchor="t">
            <a:spAutoFit/>
          </a:bodyPr>
          <a:lstStyle/>
          <a:p>
            <a:pPr algn="l">
              <a:lnSpc>
                <a:spcPct val="130000"/>
              </a:lnSpc>
            </a:pPr>
            <a:r>
              <a:rPr sz="1000" b="0" i="0">
                <a:solidFill>
                  <a:srgbClr val="21295C"/>
                </a:solidFill>
                <a:latin typeface="Arial"/>
              </a:rPr>
              <a:t>БЛОКЕР:
Deploy AI в РФ-промышленности проходит через КИИ-обвязку.
FZ-152 на КИИ. Импортозамещение к 2027.</a:t>
            </a:r>
          </a:p>
        </p:txBody>
      </p:sp>
      <p:sp>
        <p:nvSpPr>
          <p:cNvPr id="27" name="TextBox 26"/>
          <p:cNvSpPr txBox="1"/>
          <p:nvPr/>
        </p:nvSpPr>
        <p:spPr>
          <a:xfrm>
            <a:off x="8275319" y="4937760"/>
            <a:ext cx="3246120" cy="1097280"/>
          </a:xfrm>
          <a:prstGeom prst="rect">
            <a:avLst/>
          </a:prstGeom>
          <a:noFill/>
        </p:spPr>
        <p:txBody>
          <a:bodyPr wrap="square" lIns="0" rIns="0" tIns="0" bIns="0" anchor="t">
            <a:spAutoFit/>
          </a:bodyPr>
          <a:lstStyle/>
          <a:p>
            <a:pPr algn="l">
              <a:lnSpc>
                <a:spcPct val="135000"/>
              </a:lnSpc>
            </a:pPr>
            <a:r>
              <a:rPr sz="1000" b="0" i="1">
                <a:solidFill>
                  <a:srgbClr val="4A556B"/>
                </a:solidFill>
                <a:latin typeface="Arial"/>
              </a:rPr>
              <a:t>ГОСТ Р 57700.37-2021 (цифровые двойники) — foreshadow к Лекции 12.</a:t>
            </a:r>
          </a:p>
        </p:txBody>
      </p:sp>
      <p:sp>
        <p:nvSpPr>
          <p:cNvPr id="28" name="Rounded Rectangle 27"/>
          <p:cNvSpPr/>
          <p:nvPr/>
        </p:nvSpPr>
        <p:spPr>
          <a:xfrm>
            <a:off x="457200" y="6263640"/>
            <a:ext cx="11274552" cy="137160"/>
          </a:xfrm>
          <a:prstGeom prst="roundRect">
            <a:avLst>
              <a:gd name="adj" fmla="val 10000"/>
            </a:avLst>
          </a:prstGeom>
          <a:solidFill>
            <a:srgbClr val="21295C"/>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800" b="1" i="0">
                <a:solidFill>
                  <a:srgbClr val="21295C"/>
                </a:solidFill>
                <a:latin typeface="Arial"/>
              </a:rPr>
              <a:t>Российский контекст — публичные кейсы</a:t>
            </a:r>
          </a:p>
        </p:txBody>
      </p:sp>
      <p:sp>
        <p:nvSpPr>
          <p:cNvPr id="3" name="TextBox 2"/>
          <p:cNvSpPr txBox="1"/>
          <p:nvPr/>
        </p:nvSpPr>
        <p:spPr>
          <a:xfrm>
            <a:off x="457200" y="1051560"/>
            <a:ext cx="11274552" cy="365760"/>
          </a:xfrm>
          <a:prstGeom prst="rect">
            <a:avLst/>
          </a:prstGeom>
          <a:noFill/>
        </p:spPr>
        <p:txBody>
          <a:bodyPr wrap="square" lIns="0" rIns="0" tIns="0" bIns="0" anchor="t">
            <a:spAutoFit/>
          </a:bodyPr>
          <a:lstStyle/>
          <a:p>
            <a:pPr algn="l">
              <a:lnSpc>
                <a:spcPct val="115000"/>
              </a:lnSpc>
            </a:pPr>
            <a:r>
              <a:rPr sz="1400" b="0" i="1">
                <a:solidFill>
                  <a:srgbClr val="1C7293"/>
                </a:solidFill>
                <a:latin typeface="Arial"/>
              </a:rPr>
              <a:t>Норникель · СИБУР · кризис чёрной металлургии · LO2 — различать PR statement и effect</a:t>
            </a:r>
          </a:p>
        </p:txBody>
      </p:sp>
      <p:sp>
        <p:nvSpPr>
          <p:cNvPr id="4" name="Rounded Rectangle 3"/>
          <p:cNvSpPr/>
          <p:nvPr/>
        </p:nvSpPr>
        <p:spPr>
          <a:xfrm>
            <a:off x="457200" y="1554480"/>
            <a:ext cx="5486400" cy="32004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554480"/>
            <a:ext cx="5486400" cy="5029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600200"/>
            <a:ext cx="5486400" cy="457200"/>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Норникель — industrial-operation stage</a:t>
            </a:r>
          </a:p>
        </p:txBody>
      </p:sp>
      <p:pic>
        <p:nvPicPr>
          <p:cNvPr id="7" name="Picture 6" descr="s29-nornickel.jpg"/>
          <p:cNvPicPr>
            <a:picLocks noChangeAspect="1"/>
          </p:cNvPicPr>
          <p:nvPr/>
        </p:nvPicPr>
        <p:blipFill>
          <a:blip r:embed="rId2"/>
          <a:stretch>
            <a:fillRect/>
          </a:stretch>
        </p:blipFill>
        <p:spPr>
          <a:xfrm>
            <a:off x="640080" y="2194560"/>
            <a:ext cx="5120640" cy="1737360"/>
          </a:xfrm>
          <a:prstGeom prst="rect">
            <a:avLst/>
          </a:prstGeom>
        </p:spPr>
      </p:pic>
      <p:sp>
        <p:nvSpPr>
          <p:cNvPr id="8" name="TextBox 7"/>
          <p:cNvSpPr txBox="1"/>
          <p:nvPr/>
        </p:nvSpPr>
        <p:spPr>
          <a:xfrm>
            <a:off x="640080" y="4069080"/>
            <a:ext cx="5120640" cy="640080"/>
          </a:xfrm>
          <a:prstGeom prst="rect">
            <a:avLst/>
          </a:prstGeom>
          <a:noFill/>
        </p:spPr>
        <p:txBody>
          <a:bodyPr wrap="square" lIns="0" rIns="0" tIns="0" bIns="0" anchor="t">
            <a:spAutoFit/>
          </a:bodyPr>
          <a:lstStyle/>
          <a:p>
            <a:pPr algn="l">
              <a:lnSpc>
                <a:spcPct val="130000"/>
              </a:lnSpc>
            </a:pPr>
            <a:r>
              <a:rPr sz="1100" b="0" i="0">
                <a:solidFill>
                  <a:srgbClr val="21295C"/>
                </a:solidFill>
                <a:latin typeface="Arial"/>
              </a:rPr>
              <a:t>AI на flotation / grinding — не пилот, production</a:t>
            </a:r>
          </a:p>
          <a:p>
            <a:pPr algn="l">
              <a:lnSpc>
                <a:spcPct val="130000"/>
              </a:lnSpc>
            </a:pPr>
            <a:r>
              <a:rPr sz="1100" b="0" i="0">
                <a:solidFill>
                  <a:srgbClr val="21295C"/>
                </a:solidFill>
                <a:latin typeface="Arial"/>
              </a:rPr>
              <a:t>Нояб 2024: agreement с Газпром нефть</a:t>
            </a:r>
          </a:p>
        </p:txBody>
      </p:sp>
      <p:sp>
        <p:nvSpPr>
          <p:cNvPr id="9" name="TextBox 8"/>
          <p:cNvSpPr txBox="1"/>
          <p:nvPr/>
        </p:nvSpPr>
        <p:spPr>
          <a:xfrm>
            <a:off x="457200" y="4709160"/>
            <a:ext cx="5486400"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Nornickel's Bystrinsky Mine · Wikimedia CC-BY-SA</a:t>
            </a:r>
          </a:p>
        </p:txBody>
      </p:sp>
      <p:sp>
        <p:nvSpPr>
          <p:cNvPr id="10" name="Rounded Rectangle 9"/>
          <p:cNvSpPr/>
          <p:nvPr/>
        </p:nvSpPr>
        <p:spPr>
          <a:xfrm>
            <a:off x="6126480" y="1554480"/>
            <a:ext cx="5605272" cy="320040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26480" y="1554480"/>
            <a:ext cx="5605272" cy="5029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26480" y="1600200"/>
            <a:ext cx="5605272" cy="457200"/>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СИБУР · ММК / НЛМК / Северсталь</a:t>
            </a:r>
          </a:p>
        </p:txBody>
      </p:sp>
      <p:sp>
        <p:nvSpPr>
          <p:cNvPr id="13" name="TextBox 12"/>
          <p:cNvSpPr txBox="1"/>
          <p:nvPr/>
        </p:nvSpPr>
        <p:spPr>
          <a:xfrm>
            <a:off x="6309360" y="2194560"/>
            <a:ext cx="5239512" cy="2468880"/>
          </a:xfrm>
          <a:prstGeom prst="rect">
            <a:avLst/>
          </a:prstGeom>
          <a:noFill/>
        </p:spPr>
        <p:txBody>
          <a:bodyPr wrap="square" lIns="0" rIns="0" tIns="0" bIns="0" anchor="t">
            <a:spAutoFit/>
          </a:bodyPr>
          <a:lstStyle/>
          <a:p>
            <a:pPr algn="l">
              <a:lnSpc>
                <a:spcPct val="135000"/>
              </a:lnSpc>
            </a:pPr>
            <a:r>
              <a:rPr sz="1300" b="1" i="0">
                <a:solidFill>
                  <a:srgbClr val="21295C"/>
                </a:solidFill>
                <a:latin typeface="Arial"/>
              </a:rPr>
              <a:t>СИБУР Marketplace технологического моделирования</a:t>
            </a:r>
          </a:p>
          <a:p>
            <a:pPr algn="l">
              <a:lnSpc>
                <a:spcPct val="135000"/>
              </a:lnSpc>
            </a:pPr>
            <a:r>
              <a:rPr sz="1100" b="0" i="0">
                <a:solidFill>
                  <a:srgbClr val="21295C"/>
                </a:solidFill>
                <a:latin typeface="Arial"/>
              </a:rPr>
              <a:t>Q1 2025 → 2026 full · импортозамещение к 2027</a:t>
            </a:r>
          </a:p>
          <a:p>
            <a:pPr algn="l">
              <a:lnSpc>
                <a:spcPct val="135000"/>
              </a:lnSpc>
            </a:pPr>
            <a:r>
              <a:rPr sz="800" b="0" i="0">
                <a:solidFill>
                  <a:srgbClr val="21295C"/>
                </a:solidFill>
                <a:latin typeface="Arial"/>
              </a:rPr>
              <a:t/>
            </a:r>
          </a:p>
          <a:p>
            <a:pPr algn="l">
              <a:lnSpc>
                <a:spcPct val="135000"/>
              </a:lnSpc>
            </a:pPr>
            <a:r>
              <a:rPr sz="1300" b="1" i="0">
                <a:solidFill>
                  <a:srgbClr val="21295C"/>
                </a:solidFill>
                <a:latin typeface="Arial"/>
              </a:rPr>
              <a:t>ММК / НЛМК / Северсталь</a:t>
            </a:r>
          </a:p>
          <a:p>
            <a:pPr algn="l">
              <a:lnSpc>
                <a:spcPct val="135000"/>
              </a:lnSpc>
            </a:pPr>
            <a:r>
              <a:rPr sz="1100" b="0" i="0">
                <a:solidFill>
                  <a:srgbClr val="21295C"/>
                </a:solidFill>
                <a:latin typeface="Arial"/>
              </a:rPr>
              <a:t>Общие декларации без specific metrics</a:t>
            </a:r>
          </a:p>
          <a:p>
            <a:pPr algn="l">
              <a:lnSpc>
                <a:spcPct val="135000"/>
              </a:lnSpc>
            </a:pPr>
            <a:r>
              <a:rPr sz="800" b="0" i="0">
                <a:solidFill>
                  <a:srgbClr val="21295C"/>
                </a:solidFill>
                <a:latin typeface="Arial"/>
              </a:rPr>
              <a:t/>
            </a:r>
          </a:p>
          <a:p>
            <a:pPr algn="l">
              <a:lnSpc>
                <a:spcPct val="135000"/>
              </a:lnSpc>
            </a:pPr>
            <a:r>
              <a:rPr sz="1200" b="1" i="0">
                <a:solidFill>
                  <a:srgbClr val="F0AB00"/>
                </a:solidFill>
                <a:latin typeface="Arial"/>
              </a:rPr>
              <a:t>Параллельный кризис отрасли:</a:t>
            </a:r>
          </a:p>
          <a:p>
            <a:pPr algn="l">
              <a:lnSpc>
                <a:spcPct val="135000"/>
              </a:lnSpc>
            </a:pPr>
            <a:r>
              <a:rPr sz="1100" b="0" i="0">
                <a:solidFill>
                  <a:srgbClr val="21295C"/>
                </a:solidFill>
                <a:latin typeface="Arial"/>
              </a:rPr>
              <a:t>Severstal profit –55% в 2024</a:t>
            </a:r>
          </a:p>
        </p:txBody>
      </p:sp>
      <p:sp>
        <p:nvSpPr>
          <p:cNvPr id="14" name="Rounded Rectangle 13"/>
          <p:cNvSpPr/>
          <p:nvPr/>
        </p:nvSpPr>
        <p:spPr>
          <a:xfrm>
            <a:off x="457200" y="5074920"/>
            <a:ext cx="11274552" cy="132588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5166360"/>
            <a:ext cx="10972800" cy="365760"/>
          </a:xfrm>
          <a:prstGeom prst="rect">
            <a:avLst/>
          </a:prstGeom>
          <a:noFill/>
        </p:spPr>
        <p:txBody>
          <a:bodyPr wrap="square" lIns="0" rIns="0" tIns="0" bIns="0" anchor="t">
            <a:spAutoFit/>
          </a:bodyPr>
          <a:lstStyle/>
          <a:p>
            <a:pPr algn="l">
              <a:lnSpc>
                <a:spcPct val="115000"/>
              </a:lnSpc>
            </a:pPr>
            <a:r>
              <a:rPr sz="1300" b="1" i="0">
                <a:solidFill>
                  <a:srgbClr val="F0AB00"/>
                </a:solidFill>
                <a:latin typeface="Arial"/>
              </a:rPr>
              <a:t>PEDAGOGICAL POINT (LO2):</a:t>
            </a:r>
          </a:p>
        </p:txBody>
      </p:sp>
      <p:sp>
        <p:nvSpPr>
          <p:cNvPr id="16" name="TextBox 15"/>
          <p:cNvSpPr txBox="1"/>
          <p:nvPr/>
        </p:nvSpPr>
        <p:spPr>
          <a:xfrm>
            <a:off x="640080" y="5532120"/>
            <a:ext cx="10972800" cy="822960"/>
          </a:xfrm>
          <a:prstGeom prst="rect">
            <a:avLst/>
          </a:prstGeom>
          <a:noFill/>
        </p:spPr>
        <p:txBody>
          <a:bodyPr wrap="square" lIns="0" rIns="0" tIns="0" bIns="0" anchor="t">
            <a:spAutoFit/>
          </a:bodyPr>
          <a:lstStyle/>
          <a:p>
            <a:pPr algn="l">
              <a:lnSpc>
                <a:spcPct val="135000"/>
              </a:lnSpc>
            </a:pPr>
            <a:r>
              <a:rPr sz="1300" b="1" i="0">
                <a:solidFill>
                  <a:srgbClr val="21295C"/>
                </a:solidFill>
                <a:latin typeface="Arial"/>
              </a:rPr>
              <a:t>Public-disclosure скудна — это анти-pattern в reporting, НЕ доказательство absence adoption.</a:t>
            </a:r>
          </a:p>
          <a:p>
            <a:pPr algn="l">
              <a:lnSpc>
                <a:spcPct val="135000"/>
              </a:lnSpc>
            </a:pPr>
            <a:r>
              <a:rPr sz="1200" b="0" i="1">
                <a:solidFill>
                  <a:srgbClr val="21295C"/>
                </a:solidFill>
                <a:latin typeface="Arial"/>
              </a:rPr>
              <a:t>Различать PR statement и измеримый эффект — LO2 в действии (symmetric для российских и западных вендоров).</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800" b="1" i="0">
                <a:solidFill>
                  <a:srgbClr val="21295C"/>
                </a:solidFill>
                <a:latin typeface="Arial"/>
              </a:rPr>
              <a:t>Четыре типа провалов на процессном</a:t>
            </a:r>
          </a:p>
        </p:txBody>
      </p:sp>
      <p:sp>
        <p:nvSpPr>
          <p:cNvPr id="3" name="TextBox 2"/>
          <p:cNvSpPr txBox="1"/>
          <p:nvPr/>
        </p:nvSpPr>
        <p:spPr>
          <a:xfrm>
            <a:off x="457200" y="1051560"/>
            <a:ext cx="11274552" cy="365760"/>
          </a:xfrm>
          <a:prstGeom prst="rect">
            <a:avLst/>
          </a:prstGeom>
          <a:noFill/>
        </p:spPr>
        <p:txBody>
          <a:bodyPr wrap="square" lIns="0" rIns="0" tIns="0" bIns="0" anchor="t">
            <a:spAutoFit/>
          </a:bodyPr>
          <a:lstStyle/>
          <a:p>
            <a:pPr algn="l">
              <a:lnSpc>
                <a:spcPct val="115000"/>
              </a:lnSpc>
            </a:pPr>
            <a:r>
              <a:rPr sz="1400" b="0" i="1">
                <a:solidFill>
                  <a:srgbClr val="1C7293"/>
                </a:solidFill>
                <a:latin typeface="Arial"/>
              </a:rPr>
              <a:t>Failure-pattern matrix — симметрично §2; основа для критериев §4</a:t>
            </a:r>
          </a:p>
        </p:txBody>
      </p:sp>
      <p:sp>
        <p:nvSpPr>
          <p:cNvPr id="4" name="Rounded Rectangle 3"/>
          <p:cNvSpPr/>
          <p:nvPr/>
        </p:nvSpPr>
        <p:spPr>
          <a:xfrm>
            <a:off x="457200" y="1645920"/>
            <a:ext cx="5532120" cy="219456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645920"/>
            <a:ext cx="137160" cy="219456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783080"/>
            <a:ext cx="5166359" cy="365760"/>
          </a:xfrm>
          <a:prstGeom prst="rect">
            <a:avLst/>
          </a:prstGeom>
          <a:noFill/>
        </p:spPr>
        <p:txBody>
          <a:bodyPr wrap="square" lIns="0" rIns="0" tIns="0" bIns="0" anchor="t">
            <a:spAutoFit/>
          </a:bodyPr>
          <a:lstStyle/>
          <a:p>
            <a:pPr algn="l">
              <a:lnSpc>
                <a:spcPct val="115000"/>
              </a:lnSpc>
            </a:pPr>
            <a:r>
              <a:rPr sz="1500" b="1" i="0">
                <a:solidFill>
                  <a:srgbClr val="21295C"/>
                </a:solidFill>
                <a:latin typeface="Arial"/>
              </a:rPr>
              <a:t>1. RL distribution drift</a:t>
            </a:r>
          </a:p>
        </p:txBody>
      </p:sp>
      <p:sp>
        <p:nvSpPr>
          <p:cNvPr id="7" name="Rounded Rectangle 6"/>
          <p:cNvSpPr/>
          <p:nvPr/>
        </p:nvSpPr>
        <p:spPr>
          <a:xfrm>
            <a:off x="731520" y="2240280"/>
            <a:ext cx="5074920" cy="3657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67712"/>
            <a:ext cx="4892040" cy="320040"/>
          </a:xfrm>
          <a:prstGeom prst="rect">
            <a:avLst/>
          </a:prstGeom>
          <a:noFill/>
        </p:spPr>
        <p:txBody>
          <a:bodyPr wrap="square" lIns="0" rIns="0" tIns="0" bIns="0" anchor="ctr">
            <a:spAutoFit/>
          </a:bodyPr>
          <a:lstStyle/>
          <a:p>
            <a:pPr algn="l">
              <a:lnSpc>
                <a:spcPct val="115000"/>
              </a:lnSpc>
            </a:pPr>
            <a:r>
              <a:rPr sz="1000" b="1" i="0">
                <a:solidFill>
                  <a:srgbClr val="21295C"/>
                </a:solidFill>
                <a:latin typeface="Arial"/>
              </a:rPr>
              <a:t>Кейсы: Batch transitions / feedstock / сезон / wear</a:t>
            </a:r>
          </a:p>
        </p:txBody>
      </p:sp>
      <p:sp>
        <p:nvSpPr>
          <p:cNvPr id="9" name="TextBox 8"/>
          <p:cNvSpPr txBox="1"/>
          <p:nvPr/>
        </p:nvSpPr>
        <p:spPr>
          <a:xfrm>
            <a:off x="731520" y="2743200"/>
            <a:ext cx="5166359" cy="411480"/>
          </a:xfrm>
          <a:prstGeom prst="rect">
            <a:avLst/>
          </a:prstGeom>
          <a:noFill/>
        </p:spPr>
        <p:txBody>
          <a:bodyPr wrap="square" lIns="0" rIns="0" tIns="0" bIns="0" anchor="t">
            <a:spAutoFit/>
          </a:bodyPr>
          <a:lstStyle/>
          <a:p>
            <a:pPr algn="l">
              <a:lnSpc>
                <a:spcPct val="115000"/>
              </a:lnSpc>
            </a:pPr>
            <a:r>
              <a:rPr sz="1100" b="0" i="1">
                <a:solidFill>
                  <a:srgbClr val="4A556B"/>
                </a:solidFill>
                <a:latin typeface="Arial"/>
              </a:rPr>
              <a:t>Где видно: Любая попытка autonomous RL без CIRL-обвязки</a:t>
            </a:r>
          </a:p>
        </p:txBody>
      </p:sp>
      <p:sp>
        <p:nvSpPr>
          <p:cNvPr id="10" name="TextBox 9"/>
          <p:cNvSpPr txBox="1"/>
          <p:nvPr/>
        </p:nvSpPr>
        <p:spPr>
          <a:xfrm>
            <a:off x="731520" y="3246120"/>
            <a:ext cx="5166359" cy="457200"/>
          </a:xfrm>
          <a:prstGeom prst="rect">
            <a:avLst/>
          </a:prstGeom>
          <a:noFill/>
        </p:spPr>
        <p:txBody>
          <a:bodyPr wrap="square" lIns="0" rIns="0" tIns="0" bIns="0" anchor="t">
            <a:spAutoFit/>
          </a:bodyPr>
          <a:lstStyle/>
          <a:p>
            <a:pPr algn="l">
              <a:lnSpc>
                <a:spcPct val="130000"/>
              </a:lnSpc>
            </a:pPr>
            <a:r>
              <a:rPr sz="1200" b="1" i="0">
                <a:solidFill>
                  <a:srgbClr val="065A82"/>
                </a:solidFill>
                <a:latin typeface="Arial"/>
              </a:rPr>
              <a:t>Урок: RL дополняет MPC на high-level. MPC — safe fallback</a:t>
            </a:r>
          </a:p>
        </p:txBody>
      </p:sp>
      <p:sp>
        <p:nvSpPr>
          <p:cNvPr id="11" name="Rounded Rectangle 10"/>
          <p:cNvSpPr/>
          <p:nvPr/>
        </p:nvSpPr>
        <p:spPr>
          <a:xfrm>
            <a:off x="6126480" y="1645920"/>
            <a:ext cx="5532120" cy="219456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26480" y="1645920"/>
            <a:ext cx="137160" cy="21945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783080"/>
            <a:ext cx="5166359" cy="365760"/>
          </a:xfrm>
          <a:prstGeom prst="rect">
            <a:avLst/>
          </a:prstGeom>
          <a:noFill/>
        </p:spPr>
        <p:txBody>
          <a:bodyPr wrap="square" lIns="0" rIns="0" tIns="0" bIns="0" anchor="t">
            <a:spAutoFit/>
          </a:bodyPr>
          <a:lstStyle/>
          <a:p>
            <a:pPr algn="l">
              <a:lnSpc>
                <a:spcPct val="115000"/>
              </a:lnSpc>
            </a:pPr>
            <a:r>
              <a:rPr sz="1500" b="1" i="0">
                <a:solidFill>
                  <a:srgbClr val="21295C"/>
                </a:solidFill>
                <a:latin typeface="Arial"/>
              </a:rPr>
              <a:t>2. Regulatory blocker</a:t>
            </a:r>
          </a:p>
        </p:txBody>
      </p:sp>
      <p:sp>
        <p:nvSpPr>
          <p:cNvPr id="14" name="Rounded Rectangle 13"/>
          <p:cNvSpPr/>
          <p:nvPr/>
        </p:nvSpPr>
        <p:spPr>
          <a:xfrm>
            <a:off x="6400800" y="2240280"/>
            <a:ext cx="5074920" cy="3657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2267712"/>
            <a:ext cx="4892040" cy="320040"/>
          </a:xfrm>
          <a:prstGeom prst="rect">
            <a:avLst/>
          </a:prstGeom>
          <a:noFill/>
        </p:spPr>
        <p:txBody>
          <a:bodyPr wrap="square" lIns="0" rIns="0" tIns="0" bIns="0" anchor="ctr">
            <a:spAutoFit/>
          </a:bodyPr>
          <a:lstStyle/>
          <a:p>
            <a:pPr algn="l">
              <a:lnSpc>
                <a:spcPct val="115000"/>
              </a:lnSpc>
            </a:pPr>
            <a:r>
              <a:rPr sz="1000" b="1" i="0">
                <a:solidFill>
                  <a:srgbClr val="21295C"/>
                </a:solidFill>
                <a:latin typeface="Arial"/>
              </a:rPr>
              <a:t>Кейсы: FDA Part 11 / ATEX Zone 0 / Указ 250 КИИ</a:t>
            </a:r>
          </a:p>
        </p:txBody>
      </p:sp>
      <p:sp>
        <p:nvSpPr>
          <p:cNvPr id="16" name="TextBox 15"/>
          <p:cNvSpPr txBox="1"/>
          <p:nvPr/>
        </p:nvSpPr>
        <p:spPr>
          <a:xfrm>
            <a:off x="6400800" y="2743200"/>
            <a:ext cx="5166359" cy="411480"/>
          </a:xfrm>
          <a:prstGeom prst="rect">
            <a:avLst/>
          </a:prstGeom>
          <a:noFill/>
        </p:spPr>
        <p:txBody>
          <a:bodyPr wrap="square" lIns="0" rIns="0" tIns="0" bIns="0" anchor="t">
            <a:spAutoFit/>
          </a:bodyPr>
          <a:lstStyle/>
          <a:p>
            <a:pPr algn="l">
              <a:lnSpc>
                <a:spcPct val="115000"/>
              </a:lnSpc>
            </a:pPr>
            <a:r>
              <a:rPr sz="1100" b="0" i="1">
                <a:solidFill>
                  <a:srgbClr val="4A556B"/>
                </a:solidFill>
                <a:latin typeface="Arial"/>
              </a:rPr>
              <a:t>Где видно: Фарма · химия в Zone 0 · РФ КИИ</a:t>
            </a:r>
          </a:p>
        </p:txBody>
      </p:sp>
      <p:sp>
        <p:nvSpPr>
          <p:cNvPr id="17" name="TextBox 16"/>
          <p:cNvSpPr txBox="1"/>
          <p:nvPr/>
        </p:nvSpPr>
        <p:spPr>
          <a:xfrm>
            <a:off x="6400800" y="3246120"/>
            <a:ext cx="5166359" cy="457200"/>
          </a:xfrm>
          <a:prstGeom prst="rect">
            <a:avLst/>
          </a:prstGeom>
          <a:noFill/>
        </p:spPr>
        <p:txBody>
          <a:bodyPr wrap="square" lIns="0" rIns="0" tIns="0" bIns="0" anchor="t">
            <a:spAutoFit/>
          </a:bodyPr>
          <a:lstStyle/>
          <a:p>
            <a:pPr algn="l">
              <a:lnSpc>
                <a:spcPct val="130000"/>
              </a:lnSpc>
            </a:pPr>
            <a:r>
              <a:rPr sz="1200" b="1" i="0">
                <a:solidFill>
                  <a:srgbClr val="065A82"/>
                </a:solidFill>
                <a:latin typeface="Arial"/>
              </a:rPr>
              <a:t>Урок: Регуляторика already exists. HITL + audit trail mandatory</a:t>
            </a:r>
          </a:p>
        </p:txBody>
      </p:sp>
      <p:sp>
        <p:nvSpPr>
          <p:cNvPr id="18" name="Rounded Rectangle 17"/>
          <p:cNvSpPr/>
          <p:nvPr/>
        </p:nvSpPr>
        <p:spPr>
          <a:xfrm>
            <a:off x="457200" y="3977639"/>
            <a:ext cx="5532120" cy="219456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3977639"/>
            <a:ext cx="137160" cy="219456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4114800"/>
            <a:ext cx="5166359" cy="365760"/>
          </a:xfrm>
          <a:prstGeom prst="rect">
            <a:avLst/>
          </a:prstGeom>
          <a:noFill/>
        </p:spPr>
        <p:txBody>
          <a:bodyPr wrap="square" lIns="0" rIns="0" tIns="0" bIns="0" anchor="t">
            <a:spAutoFit/>
          </a:bodyPr>
          <a:lstStyle/>
          <a:p>
            <a:pPr algn="l">
              <a:lnSpc>
                <a:spcPct val="115000"/>
              </a:lnSpc>
            </a:pPr>
            <a:r>
              <a:rPr sz="1500" b="1" i="0">
                <a:solidFill>
                  <a:srgbClr val="21295C"/>
                </a:solidFill>
                <a:latin typeface="Arial"/>
              </a:rPr>
              <a:t>3. OT/IT раскол на uncertain edge</a:t>
            </a:r>
          </a:p>
        </p:txBody>
      </p:sp>
      <p:sp>
        <p:nvSpPr>
          <p:cNvPr id="21" name="Rounded Rectangle 20"/>
          <p:cNvSpPr/>
          <p:nvPr/>
        </p:nvSpPr>
        <p:spPr>
          <a:xfrm>
            <a:off x="731520" y="4572000"/>
            <a:ext cx="5074920" cy="3657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4599431"/>
            <a:ext cx="4892040" cy="320040"/>
          </a:xfrm>
          <a:prstGeom prst="rect">
            <a:avLst/>
          </a:prstGeom>
          <a:noFill/>
        </p:spPr>
        <p:txBody>
          <a:bodyPr wrap="square" lIns="0" rIns="0" tIns="0" bIns="0" anchor="ctr">
            <a:spAutoFit/>
          </a:bodyPr>
          <a:lstStyle/>
          <a:p>
            <a:pPr algn="l">
              <a:lnSpc>
                <a:spcPct val="115000"/>
              </a:lnSpc>
            </a:pPr>
            <a:r>
              <a:rPr sz="1000" b="1" i="0">
                <a:solidFill>
                  <a:srgbClr val="21295C"/>
                </a:solidFill>
                <a:latin typeface="Arial"/>
              </a:rPr>
              <a:t>Кейсы: LLM 100–500 мс ≠ PLC 1–10 мс</a:t>
            </a:r>
          </a:p>
        </p:txBody>
      </p:sp>
      <p:sp>
        <p:nvSpPr>
          <p:cNvPr id="23" name="TextBox 22"/>
          <p:cNvSpPr txBox="1"/>
          <p:nvPr/>
        </p:nvSpPr>
        <p:spPr>
          <a:xfrm>
            <a:off x="731520" y="5074920"/>
            <a:ext cx="5166359" cy="411480"/>
          </a:xfrm>
          <a:prstGeom prst="rect">
            <a:avLst/>
          </a:prstGeom>
          <a:noFill/>
        </p:spPr>
        <p:txBody>
          <a:bodyPr wrap="square" lIns="0" rIns="0" tIns="0" bIns="0" anchor="t">
            <a:spAutoFit/>
          </a:bodyPr>
          <a:lstStyle/>
          <a:p>
            <a:pPr algn="l">
              <a:lnSpc>
                <a:spcPct val="115000"/>
              </a:lnSpc>
            </a:pPr>
            <a:r>
              <a:rPr sz="1100" b="0" i="1">
                <a:solidFill>
                  <a:srgbClr val="4A556B"/>
                </a:solidFill>
                <a:latin typeface="Arial"/>
              </a:rPr>
              <a:t>Где видно: Любая автоматизация L0–L1 ISA-95 через cloud</a:t>
            </a:r>
          </a:p>
        </p:txBody>
      </p:sp>
      <p:sp>
        <p:nvSpPr>
          <p:cNvPr id="24" name="TextBox 23"/>
          <p:cNvSpPr txBox="1"/>
          <p:nvPr/>
        </p:nvSpPr>
        <p:spPr>
          <a:xfrm>
            <a:off x="731520" y="5577840"/>
            <a:ext cx="5166359" cy="457200"/>
          </a:xfrm>
          <a:prstGeom prst="rect">
            <a:avLst/>
          </a:prstGeom>
          <a:noFill/>
        </p:spPr>
        <p:txBody>
          <a:bodyPr wrap="square" lIns="0" rIns="0" tIns="0" bIns="0" anchor="t">
            <a:spAutoFit/>
          </a:bodyPr>
          <a:lstStyle/>
          <a:p>
            <a:pPr algn="l">
              <a:lnSpc>
                <a:spcPct val="130000"/>
              </a:lnSpc>
            </a:pPr>
            <a:r>
              <a:rPr sz="1200" b="1" i="0">
                <a:solidFill>
                  <a:srgbClr val="065A82"/>
                </a:solidFill>
                <a:latin typeface="Arial"/>
              </a:rPr>
              <a:t>Урок: Edge ML на копроцессоре, не LLM. Latency = determinism</a:t>
            </a:r>
          </a:p>
        </p:txBody>
      </p:sp>
      <p:sp>
        <p:nvSpPr>
          <p:cNvPr id="25" name="Rounded Rectangle 24"/>
          <p:cNvSpPr/>
          <p:nvPr/>
        </p:nvSpPr>
        <p:spPr>
          <a:xfrm>
            <a:off x="6126480" y="3977639"/>
            <a:ext cx="5532120" cy="219456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26480" y="3977639"/>
            <a:ext cx="137160" cy="219456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0" y="4114800"/>
            <a:ext cx="5166359" cy="365760"/>
          </a:xfrm>
          <a:prstGeom prst="rect">
            <a:avLst/>
          </a:prstGeom>
          <a:noFill/>
        </p:spPr>
        <p:txBody>
          <a:bodyPr wrap="square" lIns="0" rIns="0" tIns="0" bIns="0" anchor="t">
            <a:spAutoFit/>
          </a:bodyPr>
          <a:lstStyle/>
          <a:p>
            <a:pPr algn="l">
              <a:lnSpc>
                <a:spcPct val="115000"/>
              </a:lnSpc>
            </a:pPr>
            <a:r>
              <a:rPr sz="1500" b="1" i="0">
                <a:solidFill>
                  <a:srgbClr val="21295C"/>
                </a:solidFill>
                <a:latin typeface="Arial"/>
              </a:rPr>
              <a:t>4. Vendor PR без metrics</a:t>
            </a:r>
          </a:p>
        </p:txBody>
      </p:sp>
      <p:sp>
        <p:nvSpPr>
          <p:cNvPr id="28" name="Rounded Rectangle 27"/>
          <p:cNvSpPr/>
          <p:nvPr/>
        </p:nvSpPr>
        <p:spPr>
          <a:xfrm>
            <a:off x="6400800" y="4572000"/>
            <a:ext cx="5074920" cy="3657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92240" y="4599431"/>
            <a:ext cx="4892040" cy="320040"/>
          </a:xfrm>
          <a:prstGeom prst="rect">
            <a:avLst/>
          </a:prstGeom>
          <a:noFill/>
        </p:spPr>
        <p:txBody>
          <a:bodyPr wrap="square" lIns="0" rIns="0" tIns="0" bIns="0" anchor="ctr">
            <a:spAutoFit/>
          </a:bodyPr>
          <a:lstStyle/>
          <a:p>
            <a:pPr algn="l">
              <a:lnSpc>
                <a:spcPct val="115000"/>
              </a:lnSpc>
            </a:pPr>
            <a:r>
              <a:rPr sz="1000" b="1" i="0">
                <a:solidFill>
                  <a:srgbClr val="21295C"/>
                </a:solidFill>
                <a:latin typeface="Arial"/>
              </a:rPr>
              <a:t>Кейсы: Общие декларации без public-verifiable ROI</a:t>
            </a:r>
          </a:p>
        </p:txBody>
      </p:sp>
      <p:sp>
        <p:nvSpPr>
          <p:cNvPr id="30" name="TextBox 29"/>
          <p:cNvSpPr txBox="1"/>
          <p:nvPr/>
        </p:nvSpPr>
        <p:spPr>
          <a:xfrm>
            <a:off x="6400800" y="5074920"/>
            <a:ext cx="5166359" cy="411480"/>
          </a:xfrm>
          <a:prstGeom prst="rect">
            <a:avLst/>
          </a:prstGeom>
          <a:noFill/>
        </p:spPr>
        <p:txBody>
          <a:bodyPr wrap="square" lIns="0" rIns="0" tIns="0" bIns="0" anchor="t">
            <a:spAutoFit/>
          </a:bodyPr>
          <a:lstStyle/>
          <a:p>
            <a:pPr algn="l">
              <a:lnSpc>
                <a:spcPct val="115000"/>
              </a:lnSpc>
            </a:pPr>
            <a:r>
              <a:rPr sz="1100" b="0" i="1">
                <a:solidFill>
                  <a:srgbClr val="4A556B"/>
                </a:solidFill>
                <a:latin typeface="Arial"/>
              </a:rPr>
              <a:t>Где видно: Крупные публичные компании в кризисный квартал</a:t>
            </a:r>
          </a:p>
        </p:txBody>
      </p:sp>
      <p:sp>
        <p:nvSpPr>
          <p:cNvPr id="31" name="TextBox 30"/>
          <p:cNvSpPr txBox="1"/>
          <p:nvPr/>
        </p:nvSpPr>
        <p:spPr>
          <a:xfrm>
            <a:off x="6400800" y="5577840"/>
            <a:ext cx="5166359" cy="457200"/>
          </a:xfrm>
          <a:prstGeom prst="rect">
            <a:avLst/>
          </a:prstGeom>
          <a:noFill/>
        </p:spPr>
        <p:txBody>
          <a:bodyPr wrap="square" lIns="0" rIns="0" tIns="0" bIns="0" anchor="t">
            <a:spAutoFit/>
          </a:bodyPr>
          <a:lstStyle/>
          <a:p>
            <a:pPr algn="l">
              <a:lnSpc>
                <a:spcPct val="130000"/>
              </a:lnSpc>
            </a:pPr>
            <a:r>
              <a:rPr sz="1200" b="1" i="0">
                <a:solidFill>
                  <a:srgbClr val="065A82"/>
                </a:solidFill>
                <a:latin typeface="Arial"/>
              </a:rPr>
              <a:t>Урок: 3 вопроса (baseline / окно / вмешательства). Уклончивый ответ — red flag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2209190" cy="292608"/>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02336"/>
            <a:ext cx="2209190" cy="256032"/>
          </a:xfrm>
          <a:prstGeom prst="rect">
            <a:avLst/>
          </a:prstGeom>
          <a:noFill/>
        </p:spPr>
        <p:txBody>
          <a:bodyPr wrap="square" lIns="0" rIns="0" tIns="0" bIns="0" anchor="ctr">
            <a:spAutoFit/>
          </a:bodyPr>
          <a:lstStyle/>
          <a:p>
            <a:pPr algn="ctr">
              <a:lnSpc>
                <a:spcPct val="115000"/>
              </a:lnSpc>
            </a:pPr>
            <a:r>
              <a:rPr sz="1000" b="0" i="0">
                <a:solidFill>
                  <a:srgbClr val="6B7685"/>
                </a:solidFill>
                <a:latin typeface="Arial"/>
              </a:rPr>
              <a:t>1. Общее</a:t>
            </a:r>
          </a:p>
        </p:txBody>
      </p:sp>
      <p:sp>
        <p:nvSpPr>
          <p:cNvPr id="4" name="Rectangle 3"/>
          <p:cNvSpPr/>
          <p:nvPr/>
        </p:nvSpPr>
        <p:spPr>
          <a:xfrm>
            <a:off x="2712110" y="365760"/>
            <a:ext cx="2209190" cy="292608"/>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12110" y="402336"/>
            <a:ext cx="2209190" cy="256032"/>
          </a:xfrm>
          <a:prstGeom prst="rect">
            <a:avLst/>
          </a:prstGeom>
          <a:noFill/>
        </p:spPr>
        <p:txBody>
          <a:bodyPr wrap="square" lIns="0" rIns="0" tIns="0" bIns="0" anchor="ctr">
            <a:spAutoFit/>
          </a:bodyPr>
          <a:lstStyle/>
          <a:p>
            <a:pPr algn="ctr">
              <a:lnSpc>
                <a:spcPct val="115000"/>
              </a:lnSpc>
            </a:pPr>
            <a:r>
              <a:rPr sz="1000" b="0" i="0">
                <a:solidFill>
                  <a:srgbClr val="6B7685"/>
                </a:solidFill>
                <a:latin typeface="Arial"/>
              </a:rPr>
              <a:t>2. Дискретное</a:t>
            </a:r>
          </a:p>
        </p:txBody>
      </p:sp>
      <p:sp>
        <p:nvSpPr>
          <p:cNvPr id="6" name="Rectangle 5"/>
          <p:cNvSpPr/>
          <p:nvPr/>
        </p:nvSpPr>
        <p:spPr>
          <a:xfrm>
            <a:off x="4967020" y="365760"/>
            <a:ext cx="2209190" cy="292608"/>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967020" y="402336"/>
            <a:ext cx="2209190" cy="256032"/>
          </a:xfrm>
          <a:prstGeom prst="rect">
            <a:avLst/>
          </a:prstGeom>
          <a:noFill/>
        </p:spPr>
        <p:txBody>
          <a:bodyPr wrap="square" lIns="0" rIns="0" tIns="0" bIns="0" anchor="ctr">
            <a:spAutoFit/>
          </a:bodyPr>
          <a:lstStyle/>
          <a:p>
            <a:pPr algn="ctr">
              <a:lnSpc>
                <a:spcPct val="115000"/>
              </a:lnSpc>
            </a:pPr>
            <a:r>
              <a:rPr sz="1000" b="0" i="0">
                <a:solidFill>
                  <a:srgbClr val="6B7685"/>
                </a:solidFill>
                <a:latin typeface="Arial"/>
              </a:rPr>
              <a:t>3. Процессное</a:t>
            </a:r>
          </a:p>
        </p:txBody>
      </p:sp>
      <p:sp>
        <p:nvSpPr>
          <p:cNvPr id="8" name="Rectangle 7"/>
          <p:cNvSpPr/>
          <p:nvPr/>
        </p:nvSpPr>
        <p:spPr>
          <a:xfrm>
            <a:off x="7221931" y="365760"/>
            <a:ext cx="2209190" cy="292608"/>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21931" y="402336"/>
            <a:ext cx="2209190" cy="256032"/>
          </a:xfrm>
          <a:prstGeom prst="rect">
            <a:avLst/>
          </a:prstGeom>
          <a:noFill/>
        </p:spPr>
        <p:txBody>
          <a:bodyPr wrap="square" lIns="0" rIns="0" tIns="0" bIns="0" anchor="ctr">
            <a:spAutoFit/>
          </a:bodyPr>
          <a:lstStyle/>
          <a:p>
            <a:pPr algn="ctr">
              <a:lnSpc>
                <a:spcPct val="115000"/>
              </a:lnSpc>
            </a:pPr>
            <a:r>
              <a:rPr sz="1000" b="1" i="0">
                <a:solidFill>
                  <a:srgbClr val="21295C"/>
                </a:solidFill>
                <a:latin typeface="Arial"/>
              </a:rPr>
              <a:t>4. Рамка</a:t>
            </a:r>
          </a:p>
        </p:txBody>
      </p:sp>
      <p:sp>
        <p:nvSpPr>
          <p:cNvPr id="10" name="Rectangle 9"/>
          <p:cNvSpPr/>
          <p:nvPr/>
        </p:nvSpPr>
        <p:spPr>
          <a:xfrm>
            <a:off x="9476841" y="365760"/>
            <a:ext cx="2209190" cy="292608"/>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76841" y="402336"/>
            <a:ext cx="2209190" cy="256032"/>
          </a:xfrm>
          <a:prstGeom prst="rect">
            <a:avLst/>
          </a:prstGeom>
          <a:noFill/>
        </p:spPr>
        <p:txBody>
          <a:bodyPr wrap="square" lIns="0" rIns="0" tIns="0" bIns="0" anchor="ctr">
            <a:spAutoFit/>
          </a:bodyPr>
          <a:lstStyle/>
          <a:p>
            <a:pPr algn="ctr">
              <a:lnSpc>
                <a:spcPct val="115000"/>
              </a:lnSpc>
            </a:pPr>
            <a:r>
              <a:rPr sz="1000" b="0" i="0">
                <a:solidFill>
                  <a:srgbClr val="6B7685"/>
                </a:solidFill>
                <a:latin typeface="Arial"/>
              </a:rPr>
              <a:t>5. Замыкание</a:t>
            </a:r>
          </a:p>
        </p:txBody>
      </p:sp>
      <p:sp>
        <p:nvSpPr>
          <p:cNvPr id="12" name="TextBox 11"/>
          <p:cNvSpPr txBox="1"/>
          <p:nvPr/>
        </p:nvSpPr>
        <p:spPr>
          <a:xfrm>
            <a:off x="457200" y="914400"/>
            <a:ext cx="5486400" cy="5029200"/>
          </a:xfrm>
          <a:prstGeom prst="rect">
            <a:avLst/>
          </a:prstGeom>
          <a:noFill/>
        </p:spPr>
        <p:txBody>
          <a:bodyPr wrap="square" lIns="0" rIns="0" tIns="0" bIns="0" anchor="ctr">
            <a:spAutoFit/>
          </a:bodyPr>
          <a:lstStyle/>
          <a:p>
            <a:pPr algn="ctr">
              <a:lnSpc>
                <a:spcPct val="115000"/>
              </a:lnSpc>
            </a:pPr>
            <a:r>
              <a:rPr sz="44000" b="1" i="0">
                <a:solidFill>
                  <a:srgbClr val="D9E2EC"/>
                </a:solidFill>
                <a:latin typeface="Arial"/>
              </a:rPr>
              <a:t>4</a:t>
            </a:r>
          </a:p>
        </p:txBody>
      </p:sp>
      <p:sp>
        <p:nvSpPr>
          <p:cNvPr id="13" name="TextBox 12"/>
          <p:cNvSpPr txBox="1"/>
          <p:nvPr/>
        </p:nvSpPr>
        <p:spPr>
          <a:xfrm>
            <a:off x="5029200" y="2286000"/>
            <a:ext cx="6858000" cy="3200400"/>
          </a:xfrm>
          <a:prstGeom prst="rect">
            <a:avLst/>
          </a:prstGeom>
          <a:noFill/>
        </p:spPr>
        <p:txBody>
          <a:bodyPr wrap="square" lIns="0" rIns="0" tIns="0" bIns="0" anchor="t">
            <a:spAutoFit/>
          </a:bodyPr>
          <a:lstStyle/>
          <a:p>
            <a:pPr algn="l">
              <a:lnSpc>
                <a:spcPct val="115000"/>
              </a:lnSpc>
            </a:pPr>
            <a:r>
              <a:rPr sz="1800" b="1" i="0">
                <a:solidFill>
                  <a:srgbClr val="1C7293"/>
                </a:solidFill>
                <a:latin typeface="Arial"/>
              </a:rPr>
              <a:t>РАЗДЕЛ</a:t>
            </a:r>
          </a:p>
          <a:p>
            <a:pPr algn="l">
              <a:lnSpc>
                <a:spcPct val="115000"/>
              </a:lnSpc>
            </a:pPr>
            <a:r>
              <a:rPr sz="3800" b="1" i="0">
                <a:solidFill>
                  <a:srgbClr val="21295C"/>
                </a:solidFill>
                <a:latin typeface="Arial"/>
              </a:rPr>
              <a:t>Карта решения — когда AI не нужен</a:t>
            </a:r>
          </a:p>
          <a:p>
            <a:pPr algn="l">
              <a:lnSpc>
                <a:spcPct val="115000"/>
              </a:lnSpc>
            </a:pPr>
            <a:r>
              <a:rPr sz="1200" b="0" i="0">
                <a:solidFill>
                  <a:srgbClr val="21295C"/>
                </a:solidFill>
                <a:latin typeface="Arial"/>
              </a:rPr>
              <a:t/>
            </a:r>
          </a:p>
          <a:p>
            <a:pPr algn="l">
              <a:lnSpc>
                <a:spcPct val="115000"/>
              </a:lnSpc>
            </a:pPr>
            <a:r>
              <a:rPr sz="1600" b="0" i="0">
                <a:solidFill>
                  <a:srgbClr val="065A82"/>
                </a:solidFill>
                <a:latin typeface="Arial"/>
              </a:rPr>
              <a:t>4 категории · альтернативы · 5-step framework · Pfizer worked</a:t>
            </a:r>
          </a:p>
          <a:p>
            <a:pPr algn="l">
              <a:lnSpc>
                <a:spcPct val="115000"/>
              </a:lnSpc>
            </a:pPr>
            <a:r>
              <a:rPr sz="800" b="0" i="0">
                <a:solidFill>
                  <a:srgbClr val="21295C"/>
                </a:solidFill>
                <a:latin typeface="Arial"/>
              </a:rPr>
              <a:t/>
            </a:r>
          </a:p>
          <a:p>
            <a:pPr algn="l">
              <a:lnSpc>
                <a:spcPct val="115000"/>
              </a:lnSpc>
            </a:pPr>
            <a:r>
              <a:rPr sz="1300" b="0" i="1">
                <a:solidFill>
                  <a:srgbClr val="F0AB00"/>
                </a:solidFill>
                <a:latin typeface="Arial"/>
              </a:rPr>
              <a:t>Раздел 4 · 12 мин · PAYOFF лекции</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600" b="1" i="0">
                <a:solidFill>
                  <a:srgbClr val="21295C"/>
                </a:solidFill>
                <a:latin typeface="Arial"/>
              </a:rPr>
              <a:t>Четыре категории критериев «AI не подходит»</a:t>
            </a:r>
          </a:p>
        </p:txBody>
      </p:sp>
      <p:sp>
        <p:nvSpPr>
          <p:cNvPr id="3" name="TextBox 2"/>
          <p:cNvSpPr txBox="1"/>
          <p:nvPr/>
        </p:nvSpPr>
        <p:spPr>
          <a:xfrm>
            <a:off x="457200" y="1005840"/>
            <a:ext cx="11274552" cy="365760"/>
          </a:xfrm>
          <a:prstGeom prst="rect">
            <a:avLst/>
          </a:prstGeom>
          <a:noFill/>
        </p:spPr>
        <p:txBody>
          <a:bodyPr wrap="square" lIns="0" rIns="0" tIns="0" bIns="0" anchor="t">
            <a:spAutoFit/>
          </a:bodyPr>
          <a:lstStyle/>
          <a:p>
            <a:pPr algn="l">
              <a:lnSpc>
                <a:spcPct val="115000"/>
              </a:lnSpc>
            </a:pPr>
            <a:r>
              <a:rPr sz="1400" b="0" i="1">
                <a:solidFill>
                  <a:srgbClr val="1C7293"/>
                </a:solidFill>
                <a:latin typeface="Arial"/>
              </a:rPr>
              <a:t>Данные · Стоимость · Регуляторика · Человек — payoff лекции (LO8)</a:t>
            </a:r>
          </a:p>
        </p:txBody>
      </p:sp>
      <p:sp>
        <p:nvSpPr>
          <p:cNvPr id="4" name="Rounded Rectangle 3"/>
          <p:cNvSpPr/>
          <p:nvPr/>
        </p:nvSpPr>
        <p:spPr>
          <a:xfrm>
            <a:off x="457200" y="1554480"/>
            <a:ext cx="5532120" cy="219456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554480"/>
            <a:ext cx="5532120" cy="5029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600200"/>
            <a:ext cx="5257800" cy="411480"/>
          </a:xfrm>
          <a:prstGeom prst="rect">
            <a:avLst/>
          </a:prstGeom>
          <a:noFill/>
        </p:spPr>
        <p:txBody>
          <a:bodyPr wrap="square" lIns="0" rIns="0" tIns="0" bIns="0" anchor="ctr">
            <a:spAutoFit/>
          </a:bodyPr>
          <a:lstStyle/>
          <a:p>
            <a:pPr algn="l">
              <a:lnSpc>
                <a:spcPct val="115000"/>
              </a:lnSpc>
            </a:pPr>
            <a:r>
              <a:rPr sz="1500" b="1" i="0">
                <a:solidFill>
                  <a:srgbClr val="FFFFFF"/>
                </a:solidFill>
                <a:latin typeface="Arial"/>
              </a:rPr>
              <a:t>A · Данные</a:t>
            </a:r>
          </a:p>
        </p:txBody>
      </p:sp>
      <p:sp>
        <p:nvSpPr>
          <p:cNvPr id="7" name="TextBox 6"/>
          <p:cNvSpPr txBox="1"/>
          <p:nvPr/>
        </p:nvSpPr>
        <p:spPr>
          <a:xfrm>
            <a:off x="594360" y="1600200"/>
            <a:ext cx="5257800" cy="411480"/>
          </a:xfrm>
          <a:prstGeom prst="rect">
            <a:avLst/>
          </a:prstGeom>
          <a:noFill/>
        </p:spPr>
        <p:txBody>
          <a:bodyPr wrap="square" lIns="0" rIns="0" tIns="0" bIns="0" anchor="ctr">
            <a:spAutoFit/>
          </a:bodyPr>
          <a:lstStyle/>
          <a:p>
            <a:pPr algn="r">
              <a:lnSpc>
                <a:spcPct val="115000"/>
              </a:lnSpc>
            </a:pPr>
            <a:r>
              <a:rPr sz="1100" b="0" i="1">
                <a:solidFill>
                  <a:srgbClr val="FFFFFF"/>
                </a:solidFill>
                <a:latin typeface="Arial"/>
              </a:rPr>
              <a:t>3 критерия</a:t>
            </a:r>
          </a:p>
        </p:txBody>
      </p:sp>
      <p:sp>
        <p:nvSpPr>
          <p:cNvPr id="8" name="TextBox 7"/>
          <p:cNvSpPr txBox="1"/>
          <p:nvPr/>
        </p:nvSpPr>
        <p:spPr>
          <a:xfrm>
            <a:off x="685800" y="2194560"/>
            <a:ext cx="5074920" cy="292608"/>
          </a:xfrm>
          <a:prstGeom prst="rect">
            <a:avLst/>
          </a:prstGeom>
          <a:noFill/>
        </p:spPr>
        <p:txBody>
          <a:bodyPr wrap="square" lIns="0" rIns="0" tIns="0" bIns="0" anchor="t">
            <a:spAutoFit/>
          </a:bodyPr>
          <a:lstStyle/>
          <a:p>
            <a:pPr algn="l">
              <a:lnSpc>
                <a:spcPct val="115000"/>
              </a:lnSpc>
            </a:pPr>
            <a:r>
              <a:rPr sz="1100" b="0" i="0">
                <a:solidFill>
                  <a:srgbClr val="21295C"/>
                </a:solidFill>
                <a:latin typeface="Arial"/>
              </a:rPr>
              <a:t>· MTBF &gt;1 года · недостаточно failures</a:t>
            </a:r>
          </a:p>
        </p:txBody>
      </p:sp>
      <p:sp>
        <p:nvSpPr>
          <p:cNvPr id="9" name="TextBox 8"/>
          <p:cNvSpPr txBox="1"/>
          <p:nvPr/>
        </p:nvSpPr>
        <p:spPr>
          <a:xfrm>
            <a:off x="685800" y="2514600"/>
            <a:ext cx="5074920" cy="292608"/>
          </a:xfrm>
          <a:prstGeom prst="rect">
            <a:avLst/>
          </a:prstGeom>
          <a:noFill/>
        </p:spPr>
        <p:txBody>
          <a:bodyPr wrap="square" lIns="0" rIns="0" tIns="0" bIns="0" anchor="t">
            <a:spAutoFit/>
          </a:bodyPr>
          <a:lstStyle/>
          <a:p>
            <a:pPr algn="l">
              <a:lnSpc>
                <a:spcPct val="115000"/>
              </a:lnSpc>
            </a:pPr>
            <a:r>
              <a:rPr sz="1100" b="0" i="0">
                <a:solidFill>
                  <a:srgbClr val="21295C"/>
                </a:solidFill>
                <a:latin typeface="Arial"/>
              </a:rPr>
              <a:t>· Известная физика · CFD/FEA лучше ML</a:t>
            </a:r>
          </a:p>
        </p:txBody>
      </p:sp>
      <p:sp>
        <p:nvSpPr>
          <p:cNvPr id="10" name="TextBox 9"/>
          <p:cNvSpPr txBox="1"/>
          <p:nvPr/>
        </p:nvSpPr>
        <p:spPr>
          <a:xfrm>
            <a:off x="685800" y="2834639"/>
            <a:ext cx="5074920" cy="292608"/>
          </a:xfrm>
          <a:prstGeom prst="rect">
            <a:avLst/>
          </a:prstGeom>
          <a:noFill/>
        </p:spPr>
        <p:txBody>
          <a:bodyPr wrap="square" lIns="0" rIns="0" tIns="0" bIns="0" anchor="t">
            <a:spAutoFit/>
          </a:bodyPr>
          <a:lstStyle/>
          <a:p>
            <a:pPr algn="l">
              <a:lnSpc>
                <a:spcPct val="115000"/>
              </a:lnSpc>
            </a:pPr>
            <a:r>
              <a:rPr sz="1100" b="0" i="0">
                <a:solidFill>
                  <a:srgbClr val="21295C"/>
                </a:solidFill>
                <a:latin typeface="Arial"/>
              </a:rPr>
              <a:t>· Эталонная разметка дорогая</a:t>
            </a:r>
          </a:p>
        </p:txBody>
      </p:sp>
      <p:sp>
        <p:nvSpPr>
          <p:cNvPr id="11" name="Rounded Rectangle 10"/>
          <p:cNvSpPr/>
          <p:nvPr/>
        </p:nvSpPr>
        <p:spPr>
          <a:xfrm>
            <a:off x="640080" y="3246120"/>
            <a:ext cx="5166359" cy="45720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291839"/>
            <a:ext cx="4983480" cy="365760"/>
          </a:xfrm>
          <a:prstGeom prst="rect">
            <a:avLst/>
          </a:prstGeom>
          <a:noFill/>
        </p:spPr>
        <p:txBody>
          <a:bodyPr wrap="square" lIns="0" rIns="0" tIns="0" bIns="0" anchor="ctr">
            <a:spAutoFit/>
          </a:bodyPr>
          <a:lstStyle/>
          <a:p>
            <a:pPr algn="l">
              <a:lnSpc>
                <a:spcPct val="115000"/>
              </a:lnSpc>
            </a:pPr>
            <a:r>
              <a:rPr sz="1000" b="1" i="1">
                <a:solidFill>
                  <a:srgbClr val="21295C"/>
                </a:solidFill>
                <a:latin typeface="Arial"/>
              </a:rPr>
              <a:t>Альт-вы: physics-based sim · DOE · SPC</a:t>
            </a:r>
          </a:p>
        </p:txBody>
      </p:sp>
      <p:sp>
        <p:nvSpPr>
          <p:cNvPr id="13" name="Rounded Rectangle 12"/>
          <p:cNvSpPr/>
          <p:nvPr/>
        </p:nvSpPr>
        <p:spPr>
          <a:xfrm>
            <a:off x="6126480" y="1554480"/>
            <a:ext cx="5532120" cy="219456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26480" y="1554480"/>
            <a:ext cx="5532120" cy="5029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3640" y="1600200"/>
            <a:ext cx="5257800" cy="411480"/>
          </a:xfrm>
          <a:prstGeom prst="rect">
            <a:avLst/>
          </a:prstGeom>
          <a:noFill/>
        </p:spPr>
        <p:txBody>
          <a:bodyPr wrap="square" lIns="0" rIns="0" tIns="0" bIns="0" anchor="ctr">
            <a:spAutoFit/>
          </a:bodyPr>
          <a:lstStyle/>
          <a:p>
            <a:pPr algn="l">
              <a:lnSpc>
                <a:spcPct val="115000"/>
              </a:lnSpc>
            </a:pPr>
            <a:r>
              <a:rPr sz="1500" b="1" i="0">
                <a:solidFill>
                  <a:srgbClr val="FFFFFF"/>
                </a:solidFill>
                <a:latin typeface="Arial"/>
              </a:rPr>
              <a:t>B · Стоимость</a:t>
            </a:r>
          </a:p>
        </p:txBody>
      </p:sp>
      <p:sp>
        <p:nvSpPr>
          <p:cNvPr id="16" name="TextBox 15"/>
          <p:cNvSpPr txBox="1"/>
          <p:nvPr/>
        </p:nvSpPr>
        <p:spPr>
          <a:xfrm>
            <a:off x="6263640" y="1600200"/>
            <a:ext cx="5257800" cy="411480"/>
          </a:xfrm>
          <a:prstGeom prst="rect">
            <a:avLst/>
          </a:prstGeom>
          <a:noFill/>
        </p:spPr>
        <p:txBody>
          <a:bodyPr wrap="square" lIns="0" rIns="0" tIns="0" bIns="0" anchor="ctr">
            <a:spAutoFit/>
          </a:bodyPr>
          <a:lstStyle/>
          <a:p>
            <a:pPr algn="r">
              <a:lnSpc>
                <a:spcPct val="115000"/>
              </a:lnSpc>
            </a:pPr>
            <a:r>
              <a:rPr sz="1100" b="0" i="1">
                <a:solidFill>
                  <a:srgbClr val="FFFFFF"/>
                </a:solidFill>
                <a:latin typeface="Arial"/>
              </a:rPr>
              <a:t>2 критерия</a:t>
            </a:r>
          </a:p>
        </p:txBody>
      </p:sp>
      <p:sp>
        <p:nvSpPr>
          <p:cNvPr id="17" name="TextBox 16"/>
          <p:cNvSpPr txBox="1"/>
          <p:nvPr/>
        </p:nvSpPr>
        <p:spPr>
          <a:xfrm>
            <a:off x="6355080" y="2194560"/>
            <a:ext cx="5074920" cy="292608"/>
          </a:xfrm>
          <a:prstGeom prst="rect">
            <a:avLst/>
          </a:prstGeom>
          <a:noFill/>
        </p:spPr>
        <p:txBody>
          <a:bodyPr wrap="square" lIns="0" rIns="0" tIns="0" bIns="0" anchor="t">
            <a:spAutoFit/>
          </a:bodyPr>
          <a:lstStyle/>
          <a:p>
            <a:pPr algn="l">
              <a:lnSpc>
                <a:spcPct val="115000"/>
              </a:lnSpc>
            </a:pPr>
            <a:r>
              <a:rPr sz="1100" b="0" i="0">
                <a:solidFill>
                  <a:srgbClr val="21295C"/>
                </a:solidFill>
                <a:latin typeface="Arial"/>
              </a:rPr>
              <a:t>· FP cost &gt;10× FN · SPC лучше</a:t>
            </a:r>
          </a:p>
        </p:txBody>
      </p:sp>
      <p:sp>
        <p:nvSpPr>
          <p:cNvPr id="18" name="TextBox 17"/>
          <p:cNvSpPr txBox="1"/>
          <p:nvPr/>
        </p:nvSpPr>
        <p:spPr>
          <a:xfrm>
            <a:off x="6355080" y="2514600"/>
            <a:ext cx="5074920" cy="292608"/>
          </a:xfrm>
          <a:prstGeom prst="rect">
            <a:avLst/>
          </a:prstGeom>
          <a:noFill/>
        </p:spPr>
        <p:txBody>
          <a:bodyPr wrap="square" lIns="0" rIns="0" tIns="0" bIns="0" anchor="t">
            <a:spAutoFit/>
          </a:bodyPr>
          <a:lstStyle/>
          <a:p>
            <a:pPr algn="l">
              <a:lnSpc>
                <a:spcPct val="115000"/>
              </a:lnSpc>
            </a:pPr>
            <a:r>
              <a:rPr sz="1100" b="0" i="0">
                <a:solidFill>
                  <a:srgbClr val="21295C"/>
                </a:solidFill>
                <a:latin typeface="Arial"/>
              </a:rPr>
              <a:t>· SIL 2/3 safety-critical · ML cert hard</a:t>
            </a:r>
          </a:p>
        </p:txBody>
      </p:sp>
      <p:sp>
        <p:nvSpPr>
          <p:cNvPr id="19" name="Rounded Rectangle 18"/>
          <p:cNvSpPr/>
          <p:nvPr/>
        </p:nvSpPr>
        <p:spPr>
          <a:xfrm>
            <a:off x="6309360" y="3246120"/>
            <a:ext cx="5166359" cy="45720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3291839"/>
            <a:ext cx="4983480" cy="365760"/>
          </a:xfrm>
          <a:prstGeom prst="rect">
            <a:avLst/>
          </a:prstGeom>
          <a:noFill/>
        </p:spPr>
        <p:txBody>
          <a:bodyPr wrap="square" lIns="0" rIns="0" tIns="0" bIns="0" anchor="ctr">
            <a:spAutoFit/>
          </a:bodyPr>
          <a:lstStyle/>
          <a:p>
            <a:pPr algn="l">
              <a:lnSpc>
                <a:spcPct val="115000"/>
              </a:lnSpc>
            </a:pPr>
            <a:r>
              <a:rPr sz="1000" b="1" i="1">
                <a:solidFill>
                  <a:srgbClr val="21295C"/>
                </a:solidFill>
                <a:latin typeface="Arial"/>
              </a:rPr>
              <a:t>Альт-вы: SPC · RCM · rules-based</a:t>
            </a:r>
          </a:p>
        </p:txBody>
      </p:sp>
      <p:sp>
        <p:nvSpPr>
          <p:cNvPr id="21" name="Rounded Rectangle 20"/>
          <p:cNvSpPr/>
          <p:nvPr/>
        </p:nvSpPr>
        <p:spPr>
          <a:xfrm>
            <a:off x="457200" y="3886200"/>
            <a:ext cx="5532120" cy="219456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3886200"/>
            <a:ext cx="5532120" cy="5029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3931920"/>
            <a:ext cx="5257800" cy="411480"/>
          </a:xfrm>
          <a:prstGeom prst="rect">
            <a:avLst/>
          </a:prstGeom>
          <a:noFill/>
        </p:spPr>
        <p:txBody>
          <a:bodyPr wrap="square" lIns="0" rIns="0" tIns="0" bIns="0" anchor="ctr">
            <a:spAutoFit/>
          </a:bodyPr>
          <a:lstStyle/>
          <a:p>
            <a:pPr algn="l">
              <a:lnSpc>
                <a:spcPct val="115000"/>
              </a:lnSpc>
            </a:pPr>
            <a:r>
              <a:rPr sz="1500" b="1" i="0">
                <a:solidFill>
                  <a:srgbClr val="FFFFFF"/>
                </a:solidFill>
                <a:latin typeface="Arial"/>
              </a:rPr>
              <a:t>C · Регуляторика</a:t>
            </a:r>
          </a:p>
        </p:txBody>
      </p:sp>
      <p:sp>
        <p:nvSpPr>
          <p:cNvPr id="24" name="TextBox 23"/>
          <p:cNvSpPr txBox="1"/>
          <p:nvPr/>
        </p:nvSpPr>
        <p:spPr>
          <a:xfrm>
            <a:off x="594360" y="3931920"/>
            <a:ext cx="5257800" cy="411480"/>
          </a:xfrm>
          <a:prstGeom prst="rect">
            <a:avLst/>
          </a:prstGeom>
          <a:noFill/>
        </p:spPr>
        <p:txBody>
          <a:bodyPr wrap="square" lIns="0" rIns="0" tIns="0" bIns="0" anchor="ctr">
            <a:spAutoFit/>
          </a:bodyPr>
          <a:lstStyle/>
          <a:p>
            <a:pPr algn="r">
              <a:lnSpc>
                <a:spcPct val="115000"/>
              </a:lnSpc>
            </a:pPr>
            <a:r>
              <a:rPr sz="1100" b="0" i="1">
                <a:solidFill>
                  <a:srgbClr val="FFFFFF"/>
                </a:solidFill>
                <a:latin typeface="Arial"/>
              </a:rPr>
              <a:t>3 критерия</a:t>
            </a:r>
          </a:p>
        </p:txBody>
      </p:sp>
      <p:sp>
        <p:nvSpPr>
          <p:cNvPr id="25" name="TextBox 24"/>
          <p:cNvSpPr txBox="1"/>
          <p:nvPr/>
        </p:nvSpPr>
        <p:spPr>
          <a:xfrm>
            <a:off x="685800" y="4526280"/>
            <a:ext cx="5074920" cy="292608"/>
          </a:xfrm>
          <a:prstGeom prst="rect">
            <a:avLst/>
          </a:prstGeom>
          <a:noFill/>
        </p:spPr>
        <p:txBody>
          <a:bodyPr wrap="square" lIns="0" rIns="0" tIns="0" bIns="0" anchor="t">
            <a:spAutoFit/>
          </a:bodyPr>
          <a:lstStyle/>
          <a:p>
            <a:pPr algn="l">
              <a:lnSpc>
                <a:spcPct val="115000"/>
              </a:lnSpc>
            </a:pPr>
            <a:r>
              <a:rPr sz="1100" b="0" i="0">
                <a:solidFill>
                  <a:srgbClr val="21295C"/>
                </a:solidFill>
                <a:latin typeface="Arial"/>
              </a:rPr>
              <a:t>· Audit-trail обязателен (FDA, GAMP)</a:t>
            </a:r>
          </a:p>
        </p:txBody>
      </p:sp>
      <p:sp>
        <p:nvSpPr>
          <p:cNvPr id="26" name="TextBox 25"/>
          <p:cNvSpPr txBox="1"/>
          <p:nvPr/>
        </p:nvSpPr>
        <p:spPr>
          <a:xfrm>
            <a:off x="685800" y="4846320"/>
            <a:ext cx="5074920" cy="292608"/>
          </a:xfrm>
          <a:prstGeom prst="rect">
            <a:avLst/>
          </a:prstGeom>
          <a:noFill/>
        </p:spPr>
        <p:txBody>
          <a:bodyPr wrap="square" lIns="0" rIns="0" tIns="0" bIns="0" anchor="t">
            <a:spAutoFit/>
          </a:bodyPr>
          <a:lstStyle/>
          <a:p>
            <a:pPr algn="l">
              <a:lnSpc>
                <a:spcPct val="115000"/>
              </a:lnSpc>
            </a:pPr>
            <a:r>
              <a:rPr sz="1100" b="0" i="0">
                <a:solidFill>
                  <a:srgbClr val="21295C"/>
                </a:solidFill>
                <a:latin typeface="Arial"/>
              </a:rPr>
              <a:t>· ATEX Zone 0 · hardware restriction</a:t>
            </a:r>
          </a:p>
        </p:txBody>
      </p:sp>
      <p:sp>
        <p:nvSpPr>
          <p:cNvPr id="27" name="TextBox 26"/>
          <p:cNvSpPr txBox="1"/>
          <p:nvPr/>
        </p:nvSpPr>
        <p:spPr>
          <a:xfrm>
            <a:off x="685800" y="5166360"/>
            <a:ext cx="5074920" cy="292608"/>
          </a:xfrm>
          <a:prstGeom prst="rect">
            <a:avLst/>
          </a:prstGeom>
          <a:noFill/>
        </p:spPr>
        <p:txBody>
          <a:bodyPr wrap="square" lIns="0" rIns="0" tIns="0" bIns="0" anchor="t">
            <a:spAutoFit/>
          </a:bodyPr>
          <a:lstStyle/>
          <a:p>
            <a:pPr algn="l">
              <a:lnSpc>
                <a:spcPct val="115000"/>
              </a:lnSpc>
            </a:pPr>
            <a:r>
              <a:rPr sz="1100" b="0" i="0">
                <a:solidFill>
                  <a:srgbClr val="21295C"/>
                </a:solidFill>
                <a:latin typeface="Arial"/>
              </a:rPr>
              <a:t>· Указ 250 / КИИ</a:t>
            </a:r>
          </a:p>
        </p:txBody>
      </p:sp>
      <p:sp>
        <p:nvSpPr>
          <p:cNvPr id="28" name="Rounded Rectangle 27"/>
          <p:cNvSpPr/>
          <p:nvPr/>
        </p:nvSpPr>
        <p:spPr>
          <a:xfrm>
            <a:off x="640080" y="5577840"/>
            <a:ext cx="5166359" cy="45720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5623560"/>
            <a:ext cx="4983480" cy="365760"/>
          </a:xfrm>
          <a:prstGeom prst="rect">
            <a:avLst/>
          </a:prstGeom>
          <a:noFill/>
        </p:spPr>
        <p:txBody>
          <a:bodyPr wrap="square" lIns="0" rIns="0" tIns="0" bIns="0" anchor="ctr">
            <a:spAutoFit/>
          </a:bodyPr>
          <a:lstStyle/>
          <a:p>
            <a:pPr algn="l">
              <a:lnSpc>
                <a:spcPct val="115000"/>
              </a:lnSpc>
            </a:pPr>
            <a:r>
              <a:rPr sz="1000" b="1" i="1">
                <a:solidFill>
                  <a:srgbClr val="21295C"/>
                </a:solidFill>
                <a:latin typeface="Arial"/>
              </a:rPr>
              <a:t>Альт-вы: explainable ML · hybrid · on-premise</a:t>
            </a:r>
          </a:p>
        </p:txBody>
      </p:sp>
      <p:sp>
        <p:nvSpPr>
          <p:cNvPr id="30" name="Rounded Rectangle 29"/>
          <p:cNvSpPr/>
          <p:nvPr/>
        </p:nvSpPr>
        <p:spPr>
          <a:xfrm>
            <a:off x="6126480" y="3886200"/>
            <a:ext cx="5532120" cy="219456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26480" y="3886200"/>
            <a:ext cx="5532120" cy="50292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63640" y="3931920"/>
            <a:ext cx="5257800" cy="411480"/>
          </a:xfrm>
          <a:prstGeom prst="rect">
            <a:avLst/>
          </a:prstGeom>
          <a:noFill/>
        </p:spPr>
        <p:txBody>
          <a:bodyPr wrap="square" lIns="0" rIns="0" tIns="0" bIns="0" anchor="ctr">
            <a:spAutoFit/>
          </a:bodyPr>
          <a:lstStyle/>
          <a:p>
            <a:pPr algn="l">
              <a:lnSpc>
                <a:spcPct val="115000"/>
              </a:lnSpc>
            </a:pPr>
            <a:r>
              <a:rPr sz="1500" b="1" i="0">
                <a:solidFill>
                  <a:srgbClr val="FFFFFF"/>
                </a:solidFill>
                <a:latin typeface="Arial"/>
              </a:rPr>
              <a:t>D · Человек</a:t>
            </a:r>
          </a:p>
        </p:txBody>
      </p:sp>
      <p:sp>
        <p:nvSpPr>
          <p:cNvPr id="33" name="TextBox 32"/>
          <p:cNvSpPr txBox="1"/>
          <p:nvPr/>
        </p:nvSpPr>
        <p:spPr>
          <a:xfrm>
            <a:off x="6263640" y="3931920"/>
            <a:ext cx="5257800" cy="411480"/>
          </a:xfrm>
          <a:prstGeom prst="rect">
            <a:avLst/>
          </a:prstGeom>
          <a:noFill/>
        </p:spPr>
        <p:txBody>
          <a:bodyPr wrap="square" lIns="0" rIns="0" tIns="0" bIns="0" anchor="ctr">
            <a:spAutoFit/>
          </a:bodyPr>
          <a:lstStyle/>
          <a:p>
            <a:pPr algn="r">
              <a:lnSpc>
                <a:spcPct val="115000"/>
              </a:lnSpc>
            </a:pPr>
            <a:r>
              <a:rPr sz="1100" b="0" i="1">
                <a:solidFill>
                  <a:srgbClr val="FFFFFF"/>
                </a:solidFill>
                <a:latin typeface="Arial"/>
              </a:rPr>
              <a:t>3 критерия</a:t>
            </a:r>
          </a:p>
        </p:txBody>
      </p:sp>
      <p:sp>
        <p:nvSpPr>
          <p:cNvPr id="34" name="TextBox 33"/>
          <p:cNvSpPr txBox="1"/>
          <p:nvPr/>
        </p:nvSpPr>
        <p:spPr>
          <a:xfrm>
            <a:off x="6355080" y="4526280"/>
            <a:ext cx="5074920" cy="292608"/>
          </a:xfrm>
          <a:prstGeom prst="rect">
            <a:avLst/>
          </a:prstGeom>
          <a:noFill/>
        </p:spPr>
        <p:txBody>
          <a:bodyPr wrap="square" lIns="0" rIns="0" tIns="0" bIns="0" anchor="t">
            <a:spAutoFit/>
          </a:bodyPr>
          <a:lstStyle/>
          <a:p>
            <a:pPr algn="l">
              <a:lnSpc>
                <a:spcPct val="115000"/>
              </a:lnSpc>
            </a:pPr>
            <a:r>
              <a:rPr sz="1100" b="0" i="0">
                <a:solidFill>
                  <a:srgbClr val="21295C"/>
                </a:solidFill>
                <a:latin typeface="Arial"/>
              </a:rPr>
              <a:t>· Operator distrust → workaround</a:t>
            </a:r>
          </a:p>
        </p:txBody>
      </p:sp>
      <p:sp>
        <p:nvSpPr>
          <p:cNvPr id="35" name="TextBox 34"/>
          <p:cNvSpPr txBox="1"/>
          <p:nvPr/>
        </p:nvSpPr>
        <p:spPr>
          <a:xfrm>
            <a:off x="6355080" y="4846320"/>
            <a:ext cx="5074920" cy="292608"/>
          </a:xfrm>
          <a:prstGeom prst="rect">
            <a:avLst/>
          </a:prstGeom>
          <a:noFill/>
        </p:spPr>
        <p:txBody>
          <a:bodyPr wrap="square" lIns="0" rIns="0" tIns="0" bIns="0" anchor="t">
            <a:spAutoFit/>
          </a:bodyPr>
          <a:lstStyle/>
          <a:p>
            <a:pPr algn="l">
              <a:lnSpc>
                <a:spcPct val="115000"/>
              </a:lnSpc>
            </a:pPr>
            <a:r>
              <a:rPr sz="1100" b="0" i="0">
                <a:solidFill>
                  <a:srgbClr val="21295C"/>
                </a:solidFill>
                <a:latin typeface="Arial"/>
              </a:rPr>
              <a:t>· Pilot без go-criteria · pilot purgatory</a:t>
            </a:r>
          </a:p>
        </p:txBody>
      </p:sp>
      <p:sp>
        <p:nvSpPr>
          <p:cNvPr id="36" name="TextBox 35"/>
          <p:cNvSpPr txBox="1"/>
          <p:nvPr/>
        </p:nvSpPr>
        <p:spPr>
          <a:xfrm>
            <a:off x="6355080" y="5166360"/>
            <a:ext cx="5074920" cy="292608"/>
          </a:xfrm>
          <a:prstGeom prst="rect">
            <a:avLst/>
          </a:prstGeom>
          <a:noFill/>
        </p:spPr>
        <p:txBody>
          <a:bodyPr wrap="square" lIns="0" rIns="0" tIns="0" bIns="0" anchor="t">
            <a:spAutoFit/>
          </a:bodyPr>
          <a:lstStyle/>
          <a:p>
            <a:pPr algn="l">
              <a:lnSpc>
                <a:spcPct val="115000"/>
              </a:lnSpc>
            </a:pPr>
            <a:r>
              <a:rPr sz="1100" b="0" i="0">
                <a:solidFill>
                  <a:srgbClr val="21295C"/>
                </a:solidFill>
                <a:latin typeface="Arial"/>
              </a:rPr>
              <a:t>· Demo-hype без 6-mo production</a:t>
            </a:r>
          </a:p>
        </p:txBody>
      </p:sp>
      <p:sp>
        <p:nvSpPr>
          <p:cNvPr id="37" name="Rounded Rectangle 36"/>
          <p:cNvSpPr/>
          <p:nvPr/>
        </p:nvSpPr>
        <p:spPr>
          <a:xfrm>
            <a:off x="6309360" y="5577840"/>
            <a:ext cx="5166359" cy="45720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00800" y="5623560"/>
            <a:ext cx="4983480" cy="365760"/>
          </a:xfrm>
          <a:prstGeom prst="rect">
            <a:avLst/>
          </a:prstGeom>
          <a:noFill/>
        </p:spPr>
        <p:txBody>
          <a:bodyPr wrap="square" lIns="0" rIns="0" tIns="0" bIns="0" anchor="ctr">
            <a:spAutoFit/>
          </a:bodyPr>
          <a:lstStyle/>
          <a:p>
            <a:pPr algn="l">
              <a:lnSpc>
                <a:spcPct val="115000"/>
              </a:lnSpc>
            </a:pPr>
            <a:r>
              <a:rPr sz="1000" b="1" i="1">
                <a:solidFill>
                  <a:srgbClr val="21295C"/>
                </a:solidFill>
                <a:latin typeface="Arial"/>
              </a:rPr>
              <a:t>Альт-вы: Six Sigma · Jidoka · structured pilots</a:t>
            </a:r>
          </a:p>
        </p:txBody>
      </p:sp>
      <p:sp>
        <p:nvSpPr>
          <p:cNvPr id="39" name="Rounded Rectangle 38"/>
          <p:cNvSpPr/>
          <p:nvPr/>
        </p:nvSpPr>
        <p:spPr>
          <a:xfrm>
            <a:off x="457200" y="6263640"/>
            <a:ext cx="11274552" cy="137160"/>
          </a:xfrm>
          <a:prstGeom prst="roundRect">
            <a:avLst>
              <a:gd name="adj" fmla="val 10000"/>
            </a:avLst>
          </a:prstGeom>
          <a:solidFill>
            <a:srgbClr val="21295C"/>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600" b="1" i="0">
                <a:solidFill>
                  <a:srgbClr val="21295C"/>
                </a:solidFill>
                <a:latin typeface="Arial"/>
              </a:rPr>
              <a:t>Матрица альтернатив — что использовать ДО ML</a:t>
            </a:r>
          </a:p>
        </p:txBody>
      </p:sp>
      <p:sp>
        <p:nvSpPr>
          <p:cNvPr id="3" name="TextBox 2"/>
          <p:cNvSpPr txBox="1"/>
          <p:nvPr/>
        </p:nvSpPr>
        <p:spPr>
          <a:xfrm>
            <a:off x="457200" y="1005840"/>
            <a:ext cx="11274552" cy="365760"/>
          </a:xfrm>
          <a:prstGeom prst="rect">
            <a:avLst/>
          </a:prstGeom>
          <a:noFill/>
        </p:spPr>
        <p:txBody>
          <a:bodyPr wrap="square" lIns="0" rIns="0" tIns="0" bIns="0" anchor="t">
            <a:spAutoFit/>
          </a:bodyPr>
          <a:lstStyle/>
          <a:p>
            <a:pPr algn="l">
              <a:lnSpc>
                <a:spcPct val="115000"/>
              </a:lnSpc>
            </a:pPr>
            <a:r>
              <a:rPr sz="1400" b="0" i="1">
                <a:solidFill>
                  <a:srgbClr val="1C7293"/>
                </a:solidFill>
                <a:latin typeface="Arial"/>
              </a:rPr>
              <a:t>6 инструментов × 5 столбцов — каждый со своей нишей, regulatory friendly</a:t>
            </a:r>
          </a:p>
        </p:txBody>
      </p:sp>
      <p:sp>
        <p:nvSpPr>
          <p:cNvPr id="4" name="Rectangle 3"/>
          <p:cNvSpPr/>
          <p:nvPr/>
        </p:nvSpPr>
        <p:spPr>
          <a:xfrm>
            <a:off x="457200" y="1508760"/>
            <a:ext cx="11274552" cy="4114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554480"/>
            <a:ext cx="1554480" cy="320040"/>
          </a:xfrm>
          <a:prstGeom prst="rect">
            <a:avLst/>
          </a:prstGeom>
          <a:noFill/>
        </p:spPr>
        <p:txBody>
          <a:bodyPr wrap="square" lIns="0" rIns="0" tIns="0" bIns="0" anchor="ctr">
            <a:spAutoFit/>
          </a:bodyPr>
          <a:lstStyle/>
          <a:p>
            <a:pPr algn="ctr">
              <a:lnSpc>
                <a:spcPct val="115000"/>
              </a:lnSpc>
            </a:pPr>
            <a:r>
              <a:rPr sz="1100" b="1" i="0">
                <a:solidFill>
                  <a:srgbClr val="FFFFFF"/>
                </a:solidFill>
                <a:latin typeface="Arial"/>
              </a:rPr>
              <a:t>Инструмент</a:t>
            </a:r>
          </a:p>
        </p:txBody>
      </p:sp>
      <p:sp>
        <p:nvSpPr>
          <p:cNvPr id="6" name="TextBox 5"/>
          <p:cNvSpPr txBox="1"/>
          <p:nvPr/>
        </p:nvSpPr>
        <p:spPr>
          <a:xfrm>
            <a:off x="2011680" y="1554480"/>
            <a:ext cx="2103120" cy="320040"/>
          </a:xfrm>
          <a:prstGeom prst="rect">
            <a:avLst/>
          </a:prstGeom>
          <a:noFill/>
        </p:spPr>
        <p:txBody>
          <a:bodyPr wrap="square" lIns="0" rIns="0" tIns="0" bIns="0" anchor="ctr">
            <a:spAutoFit/>
          </a:bodyPr>
          <a:lstStyle/>
          <a:p>
            <a:pPr algn="ctr">
              <a:lnSpc>
                <a:spcPct val="115000"/>
              </a:lnSpc>
            </a:pPr>
            <a:r>
              <a:rPr sz="1100" b="1" i="0">
                <a:solidFill>
                  <a:srgbClr val="FFFFFF"/>
                </a:solidFill>
                <a:latin typeface="Arial"/>
              </a:rPr>
              <a:t>Когда</a:t>
            </a:r>
          </a:p>
        </p:txBody>
      </p:sp>
      <p:sp>
        <p:nvSpPr>
          <p:cNvPr id="7" name="TextBox 6"/>
          <p:cNvSpPr txBox="1"/>
          <p:nvPr/>
        </p:nvSpPr>
        <p:spPr>
          <a:xfrm>
            <a:off x="4114800" y="1554480"/>
            <a:ext cx="2377440" cy="320040"/>
          </a:xfrm>
          <a:prstGeom prst="rect">
            <a:avLst/>
          </a:prstGeom>
          <a:noFill/>
        </p:spPr>
        <p:txBody>
          <a:bodyPr wrap="square" lIns="0" rIns="0" tIns="0" bIns="0" anchor="ctr">
            <a:spAutoFit/>
          </a:bodyPr>
          <a:lstStyle/>
          <a:p>
            <a:pPr algn="ctr">
              <a:lnSpc>
                <a:spcPct val="115000"/>
              </a:lnSpc>
            </a:pPr>
            <a:r>
              <a:rPr sz="1100" b="1" i="0">
                <a:solidFill>
                  <a:srgbClr val="FFFFFF"/>
                </a:solidFill>
                <a:latin typeface="Arial"/>
              </a:rPr>
              <a:t>Сильные</a:t>
            </a:r>
          </a:p>
        </p:txBody>
      </p:sp>
      <p:sp>
        <p:nvSpPr>
          <p:cNvPr id="8" name="TextBox 7"/>
          <p:cNvSpPr txBox="1"/>
          <p:nvPr/>
        </p:nvSpPr>
        <p:spPr>
          <a:xfrm>
            <a:off x="6492240" y="1554480"/>
            <a:ext cx="2377440" cy="320040"/>
          </a:xfrm>
          <a:prstGeom prst="rect">
            <a:avLst/>
          </a:prstGeom>
          <a:noFill/>
        </p:spPr>
        <p:txBody>
          <a:bodyPr wrap="square" lIns="0" rIns="0" tIns="0" bIns="0" anchor="ctr">
            <a:spAutoFit/>
          </a:bodyPr>
          <a:lstStyle/>
          <a:p>
            <a:pPr algn="ctr">
              <a:lnSpc>
                <a:spcPct val="115000"/>
              </a:lnSpc>
            </a:pPr>
            <a:r>
              <a:rPr sz="1100" b="1" i="0">
                <a:solidFill>
                  <a:srgbClr val="FFFFFF"/>
                </a:solidFill>
                <a:latin typeface="Arial"/>
              </a:rPr>
              <a:t>Слабые</a:t>
            </a:r>
          </a:p>
        </p:txBody>
      </p:sp>
      <p:sp>
        <p:nvSpPr>
          <p:cNvPr id="9" name="TextBox 8"/>
          <p:cNvSpPr txBox="1"/>
          <p:nvPr/>
        </p:nvSpPr>
        <p:spPr>
          <a:xfrm>
            <a:off x="8869680" y="1554480"/>
            <a:ext cx="2862072" cy="320040"/>
          </a:xfrm>
          <a:prstGeom prst="rect">
            <a:avLst/>
          </a:prstGeom>
          <a:noFill/>
        </p:spPr>
        <p:txBody>
          <a:bodyPr wrap="square" lIns="0" rIns="0" tIns="0" bIns="0" anchor="ctr">
            <a:spAutoFit/>
          </a:bodyPr>
          <a:lstStyle/>
          <a:p>
            <a:pPr algn="ctr">
              <a:lnSpc>
                <a:spcPct val="115000"/>
              </a:lnSpc>
            </a:pPr>
            <a:r>
              <a:rPr sz="1100" b="1" i="0">
                <a:solidFill>
                  <a:srgbClr val="FFFFFF"/>
                </a:solidFill>
                <a:latin typeface="Arial"/>
              </a:rPr>
              <a:t>Reg-friendly</a:t>
            </a:r>
          </a:p>
        </p:txBody>
      </p:sp>
      <p:sp>
        <p:nvSpPr>
          <p:cNvPr id="10" name="Rectangle 9"/>
          <p:cNvSpPr/>
          <p:nvPr/>
        </p:nvSpPr>
        <p:spPr>
          <a:xfrm>
            <a:off x="457200" y="1920240"/>
            <a:ext cx="11274552" cy="50292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65960"/>
            <a:ext cx="1371600" cy="411480"/>
          </a:xfrm>
          <a:prstGeom prst="rect">
            <a:avLst/>
          </a:prstGeom>
          <a:noFill/>
        </p:spPr>
        <p:txBody>
          <a:bodyPr wrap="square" lIns="0" rIns="0" tIns="0" bIns="0" anchor="ctr">
            <a:spAutoFit/>
          </a:bodyPr>
          <a:lstStyle/>
          <a:p>
            <a:pPr algn="l">
              <a:lnSpc>
                <a:spcPct val="120000"/>
              </a:lnSpc>
            </a:pPr>
            <a:r>
              <a:rPr sz="1100" b="1" i="0">
                <a:solidFill>
                  <a:srgbClr val="065A82"/>
                </a:solidFill>
                <a:latin typeface="Arial"/>
              </a:rPr>
              <a:t>SPC</a:t>
            </a:r>
          </a:p>
        </p:txBody>
      </p:sp>
      <p:sp>
        <p:nvSpPr>
          <p:cNvPr id="12" name="TextBox 11"/>
          <p:cNvSpPr txBox="1"/>
          <p:nvPr/>
        </p:nvSpPr>
        <p:spPr>
          <a:xfrm>
            <a:off x="2103120" y="1965960"/>
            <a:ext cx="1920239" cy="411480"/>
          </a:xfrm>
          <a:prstGeom prst="rect">
            <a:avLst/>
          </a:prstGeom>
          <a:noFill/>
        </p:spPr>
        <p:txBody>
          <a:bodyPr wrap="square" lIns="0" rIns="0" tIns="0" bIns="0" anchor="ctr">
            <a:spAutoFit/>
          </a:bodyPr>
          <a:lstStyle/>
          <a:p>
            <a:pPr algn="l">
              <a:lnSpc>
                <a:spcPct val="120000"/>
              </a:lnSpc>
            </a:pPr>
            <a:r>
              <a:rPr sz="1100" b="0" i="0">
                <a:solidFill>
                  <a:srgbClr val="21295C"/>
                </a:solidFill>
                <a:latin typeface="Arial"/>
              </a:rPr>
              <a:t>univariate, стабильные</a:t>
            </a:r>
          </a:p>
        </p:txBody>
      </p:sp>
      <p:sp>
        <p:nvSpPr>
          <p:cNvPr id="13" name="TextBox 12"/>
          <p:cNvSpPr txBox="1"/>
          <p:nvPr/>
        </p:nvSpPr>
        <p:spPr>
          <a:xfrm>
            <a:off x="4206240" y="1965960"/>
            <a:ext cx="2194560" cy="411480"/>
          </a:xfrm>
          <a:prstGeom prst="rect">
            <a:avLst/>
          </a:prstGeom>
          <a:noFill/>
        </p:spPr>
        <p:txBody>
          <a:bodyPr wrap="square" lIns="0" rIns="0" tIns="0" bIns="0" anchor="ctr">
            <a:spAutoFit/>
          </a:bodyPr>
          <a:lstStyle/>
          <a:p>
            <a:pPr algn="l">
              <a:lnSpc>
                <a:spcPct val="120000"/>
              </a:lnSpc>
            </a:pPr>
            <a:r>
              <a:rPr sz="1100" b="0" i="0">
                <a:solidFill>
                  <a:srgbClr val="21295C"/>
                </a:solidFill>
                <a:latin typeface="Arial"/>
              </a:rPr>
              <a:t>Дёшево, объяснимо, 100 лет</a:t>
            </a:r>
          </a:p>
        </p:txBody>
      </p:sp>
      <p:sp>
        <p:nvSpPr>
          <p:cNvPr id="14" name="TextBox 13"/>
          <p:cNvSpPr txBox="1"/>
          <p:nvPr/>
        </p:nvSpPr>
        <p:spPr>
          <a:xfrm>
            <a:off x="6583679" y="1965960"/>
            <a:ext cx="2194560" cy="411480"/>
          </a:xfrm>
          <a:prstGeom prst="rect">
            <a:avLst/>
          </a:prstGeom>
          <a:noFill/>
        </p:spPr>
        <p:txBody>
          <a:bodyPr wrap="square" lIns="0" rIns="0" tIns="0" bIns="0" anchor="ctr">
            <a:spAutoFit/>
          </a:bodyPr>
          <a:lstStyle/>
          <a:p>
            <a:pPr algn="l">
              <a:lnSpc>
                <a:spcPct val="120000"/>
              </a:lnSpc>
            </a:pPr>
            <a:r>
              <a:rPr sz="1100" b="0" i="0">
                <a:solidFill>
                  <a:srgbClr val="21295C"/>
                </a:solidFill>
                <a:latin typeface="Arial"/>
              </a:rPr>
              <a:t>Не multi-variate</a:t>
            </a:r>
          </a:p>
        </p:txBody>
      </p:sp>
      <p:sp>
        <p:nvSpPr>
          <p:cNvPr id="15" name="TextBox 14"/>
          <p:cNvSpPr txBox="1"/>
          <p:nvPr/>
        </p:nvSpPr>
        <p:spPr>
          <a:xfrm>
            <a:off x="8961119" y="1965960"/>
            <a:ext cx="2679191" cy="411480"/>
          </a:xfrm>
          <a:prstGeom prst="rect">
            <a:avLst/>
          </a:prstGeom>
          <a:noFill/>
        </p:spPr>
        <p:txBody>
          <a:bodyPr wrap="square" lIns="0" rIns="0" tIns="0" bIns="0" anchor="ctr">
            <a:spAutoFit/>
          </a:bodyPr>
          <a:lstStyle/>
          <a:p>
            <a:pPr algn="l">
              <a:lnSpc>
                <a:spcPct val="120000"/>
              </a:lnSpc>
            </a:pPr>
            <a:r>
              <a:rPr sz="1100" b="0" i="0">
                <a:solidFill>
                  <a:srgbClr val="21295C"/>
                </a:solidFill>
                <a:latin typeface="Arial"/>
              </a:rPr>
              <a:t>✓ FDA / GAMP / ISO</a:t>
            </a:r>
          </a:p>
        </p:txBody>
      </p:sp>
      <p:sp>
        <p:nvSpPr>
          <p:cNvPr id="16" name="Rectangle 15"/>
          <p:cNvSpPr/>
          <p:nvPr/>
        </p:nvSpPr>
        <p:spPr>
          <a:xfrm>
            <a:off x="457200" y="2423160"/>
            <a:ext cx="11274552"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2468880"/>
            <a:ext cx="1371600" cy="411480"/>
          </a:xfrm>
          <a:prstGeom prst="rect">
            <a:avLst/>
          </a:prstGeom>
          <a:noFill/>
        </p:spPr>
        <p:txBody>
          <a:bodyPr wrap="square" lIns="0" rIns="0" tIns="0" bIns="0" anchor="ctr">
            <a:spAutoFit/>
          </a:bodyPr>
          <a:lstStyle/>
          <a:p>
            <a:pPr algn="l">
              <a:lnSpc>
                <a:spcPct val="120000"/>
              </a:lnSpc>
            </a:pPr>
            <a:r>
              <a:rPr sz="1100" b="1" i="0">
                <a:solidFill>
                  <a:srgbClr val="065A82"/>
                </a:solidFill>
                <a:latin typeface="Arial"/>
              </a:rPr>
              <a:t>DOE</a:t>
            </a:r>
          </a:p>
        </p:txBody>
      </p:sp>
      <p:sp>
        <p:nvSpPr>
          <p:cNvPr id="18" name="TextBox 17"/>
          <p:cNvSpPr txBox="1"/>
          <p:nvPr/>
        </p:nvSpPr>
        <p:spPr>
          <a:xfrm>
            <a:off x="2103120" y="2468880"/>
            <a:ext cx="1920239" cy="411480"/>
          </a:xfrm>
          <a:prstGeom prst="rect">
            <a:avLst/>
          </a:prstGeom>
          <a:noFill/>
        </p:spPr>
        <p:txBody>
          <a:bodyPr wrap="square" lIns="0" rIns="0" tIns="0" bIns="0" anchor="ctr">
            <a:spAutoFit/>
          </a:bodyPr>
          <a:lstStyle/>
          <a:p>
            <a:pPr algn="l">
              <a:lnSpc>
                <a:spcPct val="120000"/>
              </a:lnSpc>
            </a:pPr>
            <a:r>
              <a:rPr sz="1100" b="0" i="0">
                <a:solidFill>
                  <a:srgbClr val="21295C"/>
                </a:solidFill>
                <a:latin typeface="Arial"/>
              </a:rPr>
              <a:t>эксплорация, малые партии</a:t>
            </a:r>
          </a:p>
        </p:txBody>
      </p:sp>
      <p:sp>
        <p:nvSpPr>
          <p:cNvPr id="19" name="TextBox 18"/>
          <p:cNvSpPr txBox="1"/>
          <p:nvPr/>
        </p:nvSpPr>
        <p:spPr>
          <a:xfrm>
            <a:off x="4206240" y="2468880"/>
            <a:ext cx="2194560" cy="411480"/>
          </a:xfrm>
          <a:prstGeom prst="rect">
            <a:avLst/>
          </a:prstGeom>
          <a:noFill/>
        </p:spPr>
        <p:txBody>
          <a:bodyPr wrap="square" lIns="0" rIns="0" tIns="0" bIns="0" anchor="ctr">
            <a:spAutoFit/>
          </a:bodyPr>
          <a:lstStyle/>
          <a:p>
            <a:pPr algn="l">
              <a:lnSpc>
                <a:spcPct val="120000"/>
              </a:lnSpc>
            </a:pPr>
            <a:r>
              <a:rPr sz="1100" b="0" i="0">
                <a:solidFill>
                  <a:srgbClr val="21295C"/>
                </a:solidFill>
                <a:latin typeface="Arial"/>
              </a:rPr>
              <a:t>Causal inference</a:t>
            </a:r>
          </a:p>
        </p:txBody>
      </p:sp>
      <p:sp>
        <p:nvSpPr>
          <p:cNvPr id="20" name="TextBox 19"/>
          <p:cNvSpPr txBox="1"/>
          <p:nvPr/>
        </p:nvSpPr>
        <p:spPr>
          <a:xfrm>
            <a:off x="6583679" y="2468880"/>
            <a:ext cx="2194560" cy="411480"/>
          </a:xfrm>
          <a:prstGeom prst="rect">
            <a:avLst/>
          </a:prstGeom>
          <a:noFill/>
        </p:spPr>
        <p:txBody>
          <a:bodyPr wrap="square" lIns="0" rIns="0" tIns="0" bIns="0" anchor="ctr">
            <a:spAutoFit/>
          </a:bodyPr>
          <a:lstStyle/>
          <a:p>
            <a:pPr algn="l">
              <a:lnSpc>
                <a:spcPct val="120000"/>
              </a:lnSpc>
            </a:pPr>
            <a:r>
              <a:rPr sz="1100" b="0" i="0">
                <a:solidFill>
                  <a:srgbClr val="21295C"/>
                </a:solidFill>
                <a:latin typeface="Arial"/>
              </a:rPr>
              <a:t>Не online</a:t>
            </a:r>
          </a:p>
        </p:txBody>
      </p:sp>
      <p:sp>
        <p:nvSpPr>
          <p:cNvPr id="21" name="TextBox 20"/>
          <p:cNvSpPr txBox="1"/>
          <p:nvPr/>
        </p:nvSpPr>
        <p:spPr>
          <a:xfrm>
            <a:off x="8961119" y="2468880"/>
            <a:ext cx="2679191" cy="411480"/>
          </a:xfrm>
          <a:prstGeom prst="rect">
            <a:avLst/>
          </a:prstGeom>
          <a:noFill/>
        </p:spPr>
        <p:txBody>
          <a:bodyPr wrap="square" lIns="0" rIns="0" tIns="0" bIns="0" anchor="ctr">
            <a:spAutoFit/>
          </a:bodyPr>
          <a:lstStyle/>
          <a:p>
            <a:pPr algn="l">
              <a:lnSpc>
                <a:spcPct val="120000"/>
              </a:lnSpc>
            </a:pPr>
            <a:r>
              <a:rPr sz="1100" b="0" i="0">
                <a:solidFill>
                  <a:srgbClr val="21295C"/>
                </a:solidFill>
                <a:latin typeface="Arial"/>
              </a:rPr>
              <a:t>✓</a:t>
            </a:r>
          </a:p>
        </p:txBody>
      </p:sp>
      <p:sp>
        <p:nvSpPr>
          <p:cNvPr id="22" name="Rectangle 21"/>
          <p:cNvSpPr/>
          <p:nvPr/>
        </p:nvSpPr>
        <p:spPr>
          <a:xfrm>
            <a:off x="457200" y="2926080"/>
            <a:ext cx="11274552" cy="50292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2971800"/>
            <a:ext cx="1371600" cy="411480"/>
          </a:xfrm>
          <a:prstGeom prst="rect">
            <a:avLst/>
          </a:prstGeom>
          <a:noFill/>
        </p:spPr>
        <p:txBody>
          <a:bodyPr wrap="square" lIns="0" rIns="0" tIns="0" bIns="0" anchor="ctr">
            <a:spAutoFit/>
          </a:bodyPr>
          <a:lstStyle/>
          <a:p>
            <a:pPr algn="l">
              <a:lnSpc>
                <a:spcPct val="120000"/>
              </a:lnSpc>
            </a:pPr>
            <a:r>
              <a:rPr sz="1100" b="1" i="0">
                <a:solidFill>
                  <a:srgbClr val="065A82"/>
                </a:solidFill>
                <a:latin typeface="Arial"/>
              </a:rPr>
              <a:t>MPC</a:t>
            </a:r>
          </a:p>
        </p:txBody>
      </p:sp>
      <p:sp>
        <p:nvSpPr>
          <p:cNvPr id="24" name="TextBox 23"/>
          <p:cNvSpPr txBox="1"/>
          <p:nvPr/>
        </p:nvSpPr>
        <p:spPr>
          <a:xfrm>
            <a:off x="2103120" y="2971800"/>
            <a:ext cx="1920239" cy="411480"/>
          </a:xfrm>
          <a:prstGeom prst="rect">
            <a:avLst/>
          </a:prstGeom>
          <a:noFill/>
        </p:spPr>
        <p:txBody>
          <a:bodyPr wrap="square" lIns="0" rIns="0" tIns="0" bIns="0" anchor="ctr">
            <a:spAutoFit/>
          </a:bodyPr>
          <a:lstStyle/>
          <a:p>
            <a:pPr algn="l">
              <a:lnSpc>
                <a:spcPct val="120000"/>
              </a:lnSpc>
            </a:pPr>
            <a:r>
              <a:rPr sz="1100" b="0" i="0">
                <a:solidFill>
                  <a:srgbClr val="21295C"/>
                </a:solidFill>
                <a:latin typeface="Arial"/>
              </a:rPr>
              <a:t>process control, online</a:t>
            </a:r>
          </a:p>
        </p:txBody>
      </p:sp>
      <p:sp>
        <p:nvSpPr>
          <p:cNvPr id="25" name="TextBox 24"/>
          <p:cNvSpPr txBox="1"/>
          <p:nvPr/>
        </p:nvSpPr>
        <p:spPr>
          <a:xfrm>
            <a:off x="4206240" y="2971800"/>
            <a:ext cx="2194560" cy="411480"/>
          </a:xfrm>
          <a:prstGeom prst="rect">
            <a:avLst/>
          </a:prstGeom>
          <a:noFill/>
        </p:spPr>
        <p:txBody>
          <a:bodyPr wrap="square" lIns="0" rIns="0" tIns="0" bIns="0" anchor="ctr">
            <a:spAutoFit/>
          </a:bodyPr>
          <a:lstStyle/>
          <a:p>
            <a:pPr algn="l">
              <a:lnSpc>
                <a:spcPct val="120000"/>
              </a:lnSpc>
            </a:pPr>
            <a:r>
              <a:rPr sz="1100" b="0" i="0">
                <a:solidFill>
                  <a:srgbClr val="21295C"/>
                </a:solidFill>
                <a:latin typeface="Arial"/>
              </a:rPr>
              <a:t>Explicit model, reacts к drift</a:t>
            </a:r>
          </a:p>
        </p:txBody>
      </p:sp>
      <p:sp>
        <p:nvSpPr>
          <p:cNvPr id="26" name="TextBox 25"/>
          <p:cNvSpPr txBox="1"/>
          <p:nvPr/>
        </p:nvSpPr>
        <p:spPr>
          <a:xfrm>
            <a:off x="6583679" y="2971800"/>
            <a:ext cx="2194560" cy="411480"/>
          </a:xfrm>
          <a:prstGeom prst="rect">
            <a:avLst/>
          </a:prstGeom>
          <a:noFill/>
        </p:spPr>
        <p:txBody>
          <a:bodyPr wrap="square" lIns="0" rIns="0" tIns="0" bIns="0" anchor="ctr">
            <a:spAutoFit/>
          </a:bodyPr>
          <a:lstStyle/>
          <a:p>
            <a:pPr algn="l">
              <a:lnSpc>
                <a:spcPct val="120000"/>
              </a:lnSpc>
            </a:pPr>
            <a:r>
              <a:rPr sz="1100" b="0" i="0">
                <a:solidFill>
                  <a:srgbClr val="21295C"/>
                </a:solidFill>
                <a:latin typeface="Arial"/>
              </a:rPr>
              <a:t>Нужна точная модель</a:t>
            </a:r>
          </a:p>
        </p:txBody>
      </p:sp>
      <p:sp>
        <p:nvSpPr>
          <p:cNvPr id="27" name="TextBox 26"/>
          <p:cNvSpPr txBox="1"/>
          <p:nvPr/>
        </p:nvSpPr>
        <p:spPr>
          <a:xfrm>
            <a:off x="8961119" y="2971800"/>
            <a:ext cx="2679191" cy="411480"/>
          </a:xfrm>
          <a:prstGeom prst="rect">
            <a:avLst/>
          </a:prstGeom>
          <a:noFill/>
        </p:spPr>
        <p:txBody>
          <a:bodyPr wrap="square" lIns="0" rIns="0" tIns="0" bIns="0" anchor="ctr">
            <a:spAutoFit/>
          </a:bodyPr>
          <a:lstStyle/>
          <a:p>
            <a:pPr algn="l">
              <a:lnSpc>
                <a:spcPct val="120000"/>
              </a:lnSpc>
            </a:pPr>
            <a:r>
              <a:rPr sz="1100" b="0" i="0">
                <a:solidFill>
                  <a:srgbClr val="21295C"/>
                </a:solidFill>
                <a:latin typeface="Arial"/>
              </a:rPr>
              <a:t>✓</a:t>
            </a:r>
          </a:p>
        </p:txBody>
      </p:sp>
      <p:sp>
        <p:nvSpPr>
          <p:cNvPr id="28" name="Rectangle 27"/>
          <p:cNvSpPr/>
          <p:nvPr/>
        </p:nvSpPr>
        <p:spPr>
          <a:xfrm>
            <a:off x="457200" y="3429000"/>
            <a:ext cx="11274552"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3474720"/>
            <a:ext cx="1371600" cy="411480"/>
          </a:xfrm>
          <a:prstGeom prst="rect">
            <a:avLst/>
          </a:prstGeom>
          <a:noFill/>
        </p:spPr>
        <p:txBody>
          <a:bodyPr wrap="square" lIns="0" rIns="0" tIns="0" bIns="0" anchor="ctr">
            <a:spAutoFit/>
          </a:bodyPr>
          <a:lstStyle/>
          <a:p>
            <a:pPr algn="l">
              <a:lnSpc>
                <a:spcPct val="120000"/>
              </a:lnSpc>
            </a:pPr>
            <a:r>
              <a:rPr sz="1100" b="1" i="0">
                <a:solidFill>
                  <a:srgbClr val="065A82"/>
                </a:solidFill>
                <a:latin typeface="Arial"/>
              </a:rPr>
              <a:t>RCM</a:t>
            </a:r>
          </a:p>
        </p:txBody>
      </p:sp>
      <p:sp>
        <p:nvSpPr>
          <p:cNvPr id="30" name="TextBox 29"/>
          <p:cNvSpPr txBox="1"/>
          <p:nvPr/>
        </p:nvSpPr>
        <p:spPr>
          <a:xfrm>
            <a:off x="2103120" y="3474720"/>
            <a:ext cx="1920239" cy="411480"/>
          </a:xfrm>
          <a:prstGeom prst="rect">
            <a:avLst/>
          </a:prstGeom>
          <a:noFill/>
        </p:spPr>
        <p:txBody>
          <a:bodyPr wrap="square" lIns="0" rIns="0" tIns="0" bIns="0" anchor="ctr">
            <a:spAutoFit/>
          </a:bodyPr>
          <a:lstStyle/>
          <a:p>
            <a:pPr algn="l">
              <a:lnSpc>
                <a:spcPct val="120000"/>
              </a:lnSpc>
            </a:pPr>
            <a:r>
              <a:rPr sz="1100" b="0" i="0">
                <a:solidFill>
                  <a:srgbClr val="21295C"/>
                </a:solidFill>
                <a:latin typeface="Arial"/>
              </a:rPr>
              <a:t>MTBF &gt;1 года</a:t>
            </a:r>
          </a:p>
        </p:txBody>
      </p:sp>
      <p:sp>
        <p:nvSpPr>
          <p:cNvPr id="31" name="TextBox 30"/>
          <p:cNvSpPr txBox="1"/>
          <p:nvPr/>
        </p:nvSpPr>
        <p:spPr>
          <a:xfrm>
            <a:off x="4206240" y="3474720"/>
            <a:ext cx="2194560" cy="411480"/>
          </a:xfrm>
          <a:prstGeom prst="rect">
            <a:avLst/>
          </a:prstGeom>
          <a:noFill/>
        </p:spPr>
        <p:txBody>
          <a:bodyPr wrap="square" lIns="0" rIns="0" tIns="0" bIns="0" anchor="ctr">
            <a:spAutoFit/>
          </a:bodyPr>
          <a:lstStyle/>
          <a:p>
            <a:pPr algn="l">
              <a:lnSpc>
                <a:spcPct val="120000"/>
              </a:lnSpc>
            </a:pPr>
            <a:r>
              <a:rPr sz="1100" b="0" i="0">
                <a:solidFill>
                  <a:srgbClr val="21295C"/>
                </a:solidFill>
                <a:latin typeface="Arial"/>
              </a:rPr>
              <a:t>Объяснимый, calibrated</a:t>
            </a:r>
          </a:p>
        </p:txBody>
      </p:sp>
      <p:sp>
        <p:nvSpPr>
          <p:cNvPr id="32" name="TextBox 31"/>
          <p:cNvSpPr txBox="1"/>
          <p:nvPr/>
        </p:nvSpPr>
        <p:spPr>
          <a:xfrm>
            <a:off x="6583679" y="3474720"/>
            <a:ext cx="2194560" cy="411480"/>
          </a:xfrm>
          <a:prstGeom prst="rect">
            <a:avLst/>
          </a:prstGeom>
          <a:noFill/>
        </p:spPr>
        <p:txBody>
          <a:bodyPr wrap="square" lIns="0" rIns="0" tIns="0" bIns="0" anchor="ctr">
            <a:spAutoFit/>
          </a:bodyPr>
          <a:lstStyle/>
          <a:p>
            <a:pPr algn="l">
              <a:lnSpc>
                <a:spcPct val="120000"/>
              </a:lnSpc>
            </a:pPr>
            <a:r>
              <a:rPr sz="1100" b="0" i="0">
                <a:solidFill>
                  <a:srgbClr val="21295C"/>
                </a:solidFill>
                <a:latin typeface="Arial"/>
              </a:rPr>
              <a:t>Не learning</a:t>
            </a:r>
          </a:p>
        </p:txBody>
      </p:sp>
      <p:sp>
        <p:nvSpPr>
          <p:cNvPr id="33" name="TextBox 32"/>
          <p:cNvSpPr txBox="1"/>
          <p:nvPr/>
        </p:nvSpPr>
        <p:spPr>
          <a:xfrm>
            <a:off x="8961119" y="3474720"/>
            <a:ext cx="2679191" cy="411480"/>
          </a:xfrm>
          <a:prstGeom prst="rect">
            <a:avLst/>
          </a:prstGeom>
          <a:noFill/>
        </p:spPr>
        <p:txBody>
          <a:bodyPr wrap="square" lIns="0" rIns="0" tIns="0" bIns="0" anchor="ctr">
            <a:spAutoFit/>
          </a:bodyPr>
          <a:lstStyle/>
          <a:p>
            <a:pPr algn="l">
              <a:lnSpc>
                <a:spcPct val="120000"/>
              </a:lnSpc>
            </a:pPr>
            <a:r>
              <a:rPr sz="1100" b="0" i="0">
                <a:solidFill>
                  <a:srgbClr val="21295C"/>
                </a:solidFill>
                <a:latin typeface="Arial"/>
              </a:rPr>
              <a:t>✓</a:t>
            </a:r>
          </a:p>
        </p:txBody>
      </p:sp>
      <p:sp>
        <p:nvSpPr>
          <p:cNvPr id="34" name="Rectangle 33"/>
          <p:cNvSpPr/>
          <p:nvPr/>
        </p:nvSpPr>
        <p:spPr>
          <a:xfrm>
            <a:off x="457200" y="3931920"/>
            <a:ext cx="11274552" cy="50292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8640" y="3977640"/>
            <a:ext cx="1371600" cy="411480"/>
          </a:xfrm>
          <a:prstGeom prst="rect">
            <a:avLst/>
          </a:prstGeom>
          <a:noFill/>
        </p:spPr>
        <p:txBody>
          <a:bodyPr wrap="square" lIns="0" rIns="0" tIns="0" bIns="0" anchor="ctr">
            <a:spAutoFit/>
          </a:bodyPr>
          <a:lstStyle/>
          <a:p>
            <a:pPr algn="l">
              <a:lnSpc>
                <a:spcPct val="120000"/>
              </a:lnSpc>
            </a:pPr>
            <a:r>
              <a:rPr sz="1100" b="1" i="0">
                <a:solidFill>
                  <a:srgbClr val="065A82"/>
                </a:solidFill>
                <a:latin typeface="Arial"/>
              </a:rPr>
              <a:t>Physics-sim</a:t>
            </a:r>
          </a:p>
        </p:txBody>
      </p:sp>
      <p:sp>
        <p:nvSpPr>
          <p:cNvPr id="36" name="TextBox 35"/>
          <p:cNvSpPr txBox="1"/>
          <p:nvPr/>
        </p:nvSpPr>
        <p:spPr>
          <a:xfrm>
            <a:off x="2103120" y="3977640"/>
            <a:ext cx="1920239" cy="411480"/>
          </a:xfrm>
          <a:prstGeom prst="rect">
            <a:avLst/>
          </a:prstGeom>
          <a:noFill/>
        </p:spPr>
        <p:txBody>
          <a:bodyPr wrap="square" lIns="0" rIns="0" tIns="0" bIns="0" anchor="ctr">
            <a:spAutoFit/>
          </a:bodyPr>
          <a:lstStyle/>
          <a:p>
            <a:pPr algn="l">
              <a:lnSpc>
                <a:spcPct val="120000"/>
              </a:lnSpc>
            </a:pPr>
            <a:r>
              <a:rPr sz="1100" b="0" i="0">
                <a:solidFill>
                  <a:srgbClr val="21295C"/>
                </a:solidFill>
                <a:latin typeface="Arial"/>
              </a:rPr>
              <a:t>известная физика</a:t>
            </a:r>
          </a:p>
        </p:txBody>
      </p:sp>
      <p:sp>
        <p:nvSpPr>
          <p:cNvPr id="37" name="TextBox 36"/>
          <p:cNvSpPr txBox="1"/>
          <p:nvPr/>
        </p:nvSpPr>
        <p:spPr>
          <a:xfrm>
            <a:off x="4206240" y="3977640"/>
            <a:ext cx="2194560" cy="411480"/>
          </a:xfrm>
          <a:prstGeom prst="rect">
            <a:avLst/>
          </a:prstGeom>
          <a:noFill/>
        </p:spPr>
        <p:txBody>
          <a:bodyPr wrap="square" lIns="0" rIns="0" tIns="0" bIns="0" anchor="ctr">
            <a:spAutoFit/>
          </a:bodyPr>
          <a:lstStyle/>
          <a:p>
            <a:pPr algn="l">
              <a:lnSpc>
                <a:spcPct val="120000"/>
              </a:lnSpc>
            </a:pPr>
            <a:r>
              <a:rPr sz="1100" b="0" i="0">
                <a:solidFill>
                  <a:srgbClr val="21295C"/>
                </a:solidFill>
                <a:latin typeface="Arial"/>
              </a:rPr>
              <a:t>Обобщается, CFD/FEA/kinetics</a:t>
            </a:r>
          </a:p>
        </p:txBody>
      </p:sp>
      <p:sp>
        <p:nvSpPr>
          <p:cNvPr id="38" name="TextBox 37"/>
          <p:cNvSpPr txBox="1"/>
          <p:nvPr/>
        </p:nvSpPr>
        <p:spPr>
          <a:xfrm>
            <a:off x="6583679" y="3977640"/>
            <a:ext cx="2194560" cy="411480"/>
          </a:xfrm>
          <a:prstGeom prst="rect">
            <a:avLst/>
          </a:prstGeom>
          <a:noFill/>
        </p:spPr>
        <p:txBody>
          <a:bodyPr wrap="square" lIns="0" rIns="0" tIns="0" bIns="0" anchor="ctr">
            <a:spAutoFit/>
          </a:bodyPr>
          <a:lstStyle/>
          <a:p>
            <a:pPr algn="l">
              <a:lnSpc>
                <a:spcPct val="120000"/>
              </a:lnSpc>
            </a:pPr>
            <a:r>
              <a:rPr sz="1100" b="0" i="0">
                <a:solidFill>
                  <a:srgbClr val="21295C"/>
                </a:solidFill>
                <a:latin typeface="Arial"/>
              </a:rPr>
              <a:t>Дорогая разработка</a:t>
            </a:r>
          </a:p>
        </p:txBody>
      </p:sp>
      <p:sp>
        <p:nvSpPr>
          <p:cNvPr id="39" name="TextBox 38"/>
          <p:cNvSpPr txBox="1"/>
          <p:nvPr/>
        </p:nvSpPr>
        <p:spPr>
          <a:xfrm>
            <a:off x="8961119" y="3977640"/>
            <a:ext cx="2679191" cy="411480"/>
          </a:xfrm>
          <a:prstGeom prst="rect">
            <a:avLst/>
          </a:prstGeom>
          <a:noFill/>
        </p:spPr>
        <p:txBody>
          <a:bodyPr wrap="square" lIns="0" rIns="0" tIns="0" bIns="0" anchor="ctr">
            <a:spAutoFit/>
          </a:bodyPr>
          <a:lstStyle/>
          <a:p>
            <a:pPr algn="l">
              <a:lnSpc>
                <a:spcPct val="120000"/>
              </a:lnSpc>
            </a:pPr>
            <a:r>
              <a:rPr sz="1100" b="0" i="0">
                <a:solidFill>
                  <a:srgbClr val="21295C"/>
                </a:solidFill>
                <a:latin typeface="Arial"/>
              </a:rPr>
              <a:t>✓</a:t>
            </a:r>
          </a:p>
        </p:txBody>
      </p:sp>
      <p:sp>
        <p:nvSpPr>
          <p:cNvPr id="40" name="Rectangle 39"/>
          <p:cNvSpPr/>
          <p:nvPr/>
        </p:nvSpPr>
        <p:spPr>
          <a:xfrm>
            <a:off x="457200" y="4434840"/>
            <a:ext cx="11274552"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8640" y="4480559"/>
            <a:ext cx="1371600" cy="411480"/>
          </a:xfrm>
          <a:prstGeom prst="rect">
            <a:avLst/>
          </a:prstGeom>
          <a:noFill/>
        </p:spPr>
        <p:txBody>
          <a:bodyPr wrap="square" lIns="0" rIns="0" tIns="0" bIns="0" anchor="ctr">
            <a:spAutoFit/>
          </a:bodyPr>
          <a:lstStyle/>
          <a:p>
            <a:pPr algn="l">
              <a:lnSpc>
                <a:spcPct val="120000"/>
              </a:lnSpc>
            </a:pPr>
            <a:r>
              <a:rPr sz="1100" b="1" i="0">
                <a:solidFill>
                  <a:srgbClr val="065A82"/>
                </a:solidFill>
                <a:latin typeface="Arial"/>
              </a:rPr>
              <a:t>Rules-vision</a:t>
            </a:r>
          </a:p>
        </p:txBody>
      </p:sp>
      <p:sp>
        <p:nvSpPr>
          <p:cNvPr id="42" name="TextBox 41"/>
          <p:cNvSpPr txBox="1"/>
          <p:nvPr/>
        </p:nvSpPr>
        <p:spPr>
          <a:xfrm>
            <a:off x="2103120" y="4480559"/>
            <a:ext cx="1920239" cy="411480"/>
          </a:xfrm>
          <a:prstGeom prst="rect">
            <a:avLst/>
          </a:prstGeom>
          <a:noFill/>
        </p:spPr>
        <p:txBody>
          <a:bodyPr wrap="square" lIns="0" rIns="0" tIns="0" bIns="0" anchor="ctr">
            <a:spAutoFit/>
          </a:bodyPr>
          <a:lstStyle/>
          <a:p>
            <a:pPr algn="l">
              <a:lnSpc>
                <a:spcPct val="120000"/>
              </a:lnSpc>
            </a:pPr>
            <a:r>
              <a:rPr sz="1100" b="0" i="0">
                <a:solidFill>
                  <a:srgbClr val="21295C"/>
                </a:solidFill>
                <a:latin typeface="Arial"/>
              </a:rPr>
              <a:t>controlled env</a:t>
            </a:r>
          </a:p>
        </p:txBody>
      </p:sp>
      <p:sp>
        <p:nvSpPr>
          <p:cNvPr id="43" name="TextBox 42"/>
          <p:cNvSpPr txBox="1"/>
          <p:nvPr/>
        </p:nvSpPr>
        <p:spPr>
          <a:xfrm>
            <a:off x="4206240" y="4480559"/>
            <a:ext cx="2194560" cy="411480"/>
          </a:xfrm>
          <a:prstGeom prst="rect">
            <a:avLst/>
          </a:prstGeom>
          <a:noFill/>
        </p:spPr>
        <p:txBody>
          <a:bodyPr wrap="square" lIns="0" rIns="0" tIns="0" bIns="0" anchor="ctr">
            <a:spAutoFit/>
          </a:bodyPr>
          <a:lstStyle/>
          <a:p>
            <a:pPr algn="l">
              <a:lnSpc>
                <a:spcPct val="120000"/>
              </a:lnSpc>
            </a:pPr>
            <a:r>
              <a:rPr sz="1100" b="0" i="0">
                <a:solidFill>
                  <a:srgbClr val="21295C"/>
                </a:solidFill>
                <a:latin typeface="Arial"/>
              </a:rPr>
              <a:t>Validated за неделю</a:t>
            </a:r>
          </a:p>
        </p:txBody>
      </p:sp>
      <p:sp>
        <p:nvSpPr>
          <p:cNvPr id="44" name="TextBox 43"/>
          <p:cNvSpPr txBox="1"/>
          <p:nvPr/>
        </p:nvSpPr>
        <p:spPr>
          <a:xfrm>
            <a:off x="6583679" y="4480559"/>
            <a:ext cx="2194560" cy="411480"/>
          </a:xfrm>
          <a:prstGeom prst="rect">
            <a:avLst/>
          </a:prstGeom>
          <a:noFill/>
        </p:spPr>
        <p:txBody>
          <a:bodyPr wrap="square" lIns="0" rIns="0" tIns="0" bIns="0" anchor="ctr">
            <a:spAutoFit/>
          </a:bodyPr>
          <a:lstStyle/>
          <a:p>
            <a:pPr algn="l">
              <a:lnSpc>
                <a:spcPct val="120000"/>
              </a:lnSpc>
            </a:pPr>
            <a:r>
              <a:rPr sz="1100" b="0" i="0">
                <a:solidFill>
                  <a:srgbClr val="21295C"/>
                </a:solidFill>
                <a:latin typeface="Arial"/>
              </a:rPr>
              <a:t>Не справляется с variability</a:t>
            </a:r>
          </a:p>
        </p:txBody>
      </p:sp>
      <p:sp>
        <p:nvSpPr>
          <p:cNvPr id="45" name="TextBox 44"/>
          <p:cNvSpPr txBox="1"/>
          <p:nvPr/>
        </p:nvSpPr>
        <p:spPr>
          <a:xfrm>
            <a:off x="8961119" y="4480559"/>
            <a:ext cx="2679191" cy="411480"/>
          </a:xfrm>
          <a:prstGeom prst="rect">
            <a:avLst/>
          </a:prstGeom>
          <a:noFill/>
        </p:spPr>
        <p:txBody>
          <a:bodyPr wrap="square" lIns="0" rIns="0" tIns="0" bIns="0" anchor="ctr">
            <a:spAutoFit/>
          </a:bodyPr>
          <a:lstStyle/>
          <a:p>
            <a:pPr algn="l">
              <a:lnSpc>
                <a:spcPct val="120000"/>
              </a:lnSpc>
            </a:pPr>
            <a:r>
              <a:rPr sz="1100" b="0" i="0">
                <a:solidFill>
                  <a:srgbClr val="21295C"/>
                </a:solidFill>
                <a:latin typeface="Arial"/>
              </a:rPr>
              <a:t>✓</a:t>
            </a:r>
          </a:p>
        </p:txBody>
      </p:sp>
      <p:sp>
        <p:nvSpPr>
          <p:cNvPr id="46" name="Rounded Rectangle 45"/>
          <p:cNvSpPr/>
          <p:nvPr/>
        </p:nvSpPr>
        <p:spPr>
          <a:xfrm>
            <a:off x="457200" y="4937760"/>
            <a:ext cx="11274552" cy="1463040"/>
          </a:xfrm>
          <a:prstGeom prst="roundRect">
            <a:avLst>
              <a:gd name="adj" fmla="val 10000"/>
            </a:avLst>
          </a:prstGeom>
          <a:solidFill>
            <a:srgbClr val="FEF5E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0080" y="5029200"/>
            <a:ext cx="10972800" cy="365760"/>
          </a:xfrm>
          <a:prstGeom prst="rect">
            <a:avLst/>
          </a:prstGeom>
          <a:noFill/>
        </p:spPr>
        <p:txBody>
          <a:bodyPr wrap="square" lIns="0" rIns="0" tIns="0" bIns="0" anchor="t">
            <a:spAutoFit/>
          </a:bodyPr>
          <a:lstStyle/>
          <a:p>
            <a:pPr algn="l">
              <a:lnSpc>
                <a:spcPct val="115000"/>
              </a:lnSpc>
            </a:pPr>
            <a:r>
              <a:rPr sz="1300" b="1" i="0">
                <a:solidFill>
                  <a:srgbClr val="F0AB00"/>
                </a:solidFill>
                <a:latin typeface="Arial"/>
              </a:rPr>
              <a:t>HYBRID PATTERNS — в одной строке:</a:t>
            </a:r>
          </a:p>
        </p:txBody>
      </p:sp>
      <p:sp>
        <p:nvSpPr>
          <p:cNvPr id="48" name="TextBox 47"/>
          <p:cNvSpPr txBox="1"/>
          <p:nvPr/>
        </p:nvSpPr>
        <p:spPr>
          <a:xfrm>
            <a:off x="640080" y="5440680"/>
            <a:ext cx="10972800" cy="914400"/>
          </a:xfrm>
          <a:prstGeom prst="rect">
            <a:avLst/>
          </a:prstGeom>
          <a:noFill/>
        </p:spPr>
        <p:txBody>
          <a:bodyPr wrap="square" lIns="0" rIns="0" tIns="0" bIns="0" anchor="t">
            <a:spAutoFit/>
          </a:bodyPr>
          <a:lstStyle/>
          <a:p>
            <a:pPr algn="l">
              <a:lnSpc>
                <a:spcPct val="140000"/>
              </a:lnSpc>
            </a:pPr>
            <a:r>
              <a:rPr sz="1200" b="0" i="0">
                <a:solidFill>
                  <a:srgbClr val="21295C"/>
                </a:solidFill>
                <a:latin typeface="Arial"/>
              </a:rPr>
              <a:t>PINN (Physics-Informed NN) — physics constraints в ML loss · CIRL — PID в loss function deep RL (BASF)</a:t>
            </a:r>
          </a:p>
          <a:p>
            <a:pPr algn="l">
              <a:lnSpc>
                <a:spcPct val="140000"/>
              </a:lnSpc>
            </a:pPr>
            <a:r>
              <a:rPr sz="1200" b="0" i="0">
                <a:solidFill>
                  <a:srgbClr val="21295C"/>
                </a:solidFill>
                <a:latin typeface="Arial"/>
              </a:rPr>
              <a:t>ML over SPC — статистический baseline + ML на остатке · PLC + edge ML coprocessor (POSCO pattern)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400" b="1" i="0">
                <a:solidFill>
                  <a:srgbClr val="21295C"/>
                </a:solidFill>
                <a:latin typeface="Arial"/>
              </a:rPr>
              <a:t>Pfizer Vox через 5-step framework — worked example</a:t>
            </a:r>
          </a:p>
        </p:txBody>
      </p:sp>
      <p:sp>
        <p:nvSpPr>
          <p:cNvPr id="3" name="TextBox 2"/>
          <p:cNvSpPr txBox="1"/>
          <p:nvPr/>
        </p:nvSpPr>
        <p:spPr>
          <a:xfrm>
            <a:off x="457200" y="1005840"/>
            <a:ext cx="11274552" cy="365760"/>
          </a:xfrm>
          <a:prstGeom prst="rect">
            <a:avLst/>
          </a:prstGeom>
          <a:noFill/>
        </p:spPr>
        <p:txBody>
          <a:bodyPr wrap="square" lIns="0" rIns="0" tIns="0" bIns="0" anchor="t">
            <a:spAutoFit/>
          </a:bodyPr>
          <a:lstStyle/>
          <a:p>
            <a:pPr algn="l">
              <a:lnSpc>
                <a:spcPct val="115000"/>
              </a:lnSpc>
            </a:pPr>
            <a:r>
              <a:rPr sz="1400" b="0" i="1">
                <a:solidFill>
                  <a:srgbClr val="1C7293"/>
                </a:solidFill>
                <a:latin typeface="Arial"/>
              </a:rPr>
              <a:t>Применяем framework ретроспективно — это готовый инструмент, не abstract theory</a:t>
            </a:r>
          </a:p>
        </p:txBody>
      </p:sp>
      <p:sp>
        <p:nvSpPr>
          <p:cNvPr id="4" name="Rounded Rectangle 3"/>
          <p:cNvSpPr/>
          <p:nvPr/>
        </p:nvSpPr>
        <p:spPr>
          <a:xfrm>
            <a:off x="457200" y="1554480"/>
            <a:ext cx="2212848" cy="438912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554480"/>
            <a:ext cx="2212848" cy="5029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600200"/>
            <a:ext cx="2212848" cy="411480"/>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STEP 1</a:t>
            </a:r>
          </a:p>
        </p:txBody>
      </p:sp>
      <p:sp>
        <p:nvSpPr>
          <p:cNvPr id="7" name="TextBox 6"/>
          <p:cNvSpPr txBox="1"/>
          <p:nvPr/>
        </p:nvSpPr>
        <p:spPr>
          <a:xfrm>
            <a:off x="548640" y="2148840"/>
            <a:ext cx="2029967" cy="457200"/>
          </a:xfrm>
          <a:prstGeom prst="rect">
            <a:avLst/>
          </a:prstGeom>
          <a:noFill/>
        </p:spPr>
        <p:txBody>
          <a:bodyPr wrap="square" lIns="0" rIns="0" tIns="0" bIns="0" anchor="t">
            <a:spAutoFit/>
          </a:bodyPr>
          <a:lstStyle/>
          <a:p>
            <a:pPr algn="ctr">
              <a:lnSpc>
                <a:spcPct val="115000"/>
              </a:lnSpc>
            </a:pPr>
            <a:r>
              <a:rPr sz="1400" b="1" i="0">
                <a:solidFill>
                  <a:srgbClr val="21295C"/>
                </a:solidFill>
                <a:latin typeface="Arial"/>
              </a:rPr>
              <a:t>Identify class</a:t>
            </a:r>
          </a:p>
        </p:txBody>
      </p:sp>
      <p:sp>
        <p:nvSpPr>
          <p:cNvPr id="8" name="TextBox 7"/>
          <p:cNvSpPr txBox="1"/>
          <p:nvPr/>
        </p:nvSpPr>
        <p:spPr>
          <a:xfrm>
            <a:off x="640080" y="2743200"/>
            <a:ext cx="1847088" cy="3108960"/>
          </a:xfrm>
          <a:prstGeom prst="rect">
            <a:avLst/>
          </a:prstGeom>
          <a:noFill/>
        </p:spPr>
        <p:txBody>
          <a:bodyPr wrap="square" lIns="0" rIns="0" tIns="0" bIns="0" anchor="t">
            <a:spAutoFit/>
          </a:bodyPr>
          <a:lstStyle/>
          <a:p>
            <a:pPr algn="l">
              <a:lnSpc>
                <a:spcPct val="135000"/>
              </a:lnSpc>
            </a:pPr>
            <a:r>
              <a:rPr sz="1100" b="0" i="0">
                <a:solidFill>
                  <a:srgbClr val="21295C"/>
                </a:solidFill>
                <a:latin typeface="Arial"/>
              </a:rPr>
              <a:t>ПРОЦЕССНОЕ — continuous bioprocessing.
mRNA-вакцины: batch process, непрерывный мониторинг.</a:t>
            </a:r>
          </a:p>
        </p:txBody>
      </p:sp>
      <p:sp>
        <p:nvSpPr>
          <p:cNvPr id="9" name="Rounded Rectangle 8"/>
          <p:cNvSpPr/>
          <p:nvPr/>
        </p:nvSpPr>
        <p:spPr>
          <a:xfrm>
            <a:off x="2715768" y="1554480"/>
            <a:ext cx="2212848" cy="438912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15768" y="1554480"/>
            <a:ext cx="2212848" cy="5029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15768" y="1600200"/>
            <a:ext cx="2212848" cy="411480"/>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STEP 2</a:t>
            </a:r>
          </a:p>
        </p:txBody>
      </p:sp>
      <p:sp>
        <p:nvSpPr>
          <p:cNvPr id="12" name="TextBox 11"/>
          <p:cNvSpPr txBox="1"/>
          <p:nvPr/>
        </p:nvSpPr>
        <p:spPr>
          <a:xfrm>
            <a:off x="2807208" y="2148840"/>
            <a:ext cx="2029967" cy="457200"/>
          </a:xfrm>
          <a:prstGeom prst="rect">
            <a:avLst/>
          </a:prstGeom>
          <a:noFill/>
        </p:spPr>
        <p:txBody>
          <a:bodyPr wrap="square" lIns="0" rIns="0" tIns="0" bIns="0" anchor="t">
            <a:spAutoFit/>
          </a:bodyPr>
          <a:lstStyle/>
          <a:p>
            <a:pPr algn="ctr">
              <a:lnSpc>
                <a:spcPct val="115000"/>
              </a:lnSpc>
            </a:pPr>
            <a:r>
              <a:rPr sz="1400" b="1" i="0">
                <a:solidFill>
                  <a:srgbClr val="21295C"/>
                </a:solidFill>
                <a:latin typeface="Arial"/>
              </a:rPr>
              <a:t>Map alternatives</a:t>
            </a:r>
          </a:p>
        </p:txBody>
      </p:sp>
      <p:sp>
        <p:nvSpPr>
          <p:cNvPr id="13" name="TextBox 12"/>
          <p:cNvSpPr txBox="1"/>
          <p:nvPr/>
        </p:nvSpPr>
        <p:spPr>
          <a:xfrm>
            <a:off x="2898648" y="2743200"/>
            <a:ext cx="1847088" cy="3108960"/>
          </a:xfrm>
          <a:prstGeom prst="rect">
            <a:avLst/>
          </a:prstGeom>
          <a:noFill/>
        </p:spPr>
        <p:txBody>
          <a:bodyPr wrap="square" lIns="0" rIns="0" tIns="0" bIns="0" anchor="t">
            <a:spAutoFit/>
          </a:bodyPr>
          <a:lstStyle/>
          <a:p>
            <a:pPr algn="l">
              <a:lnSpc>
                <a:spcPct val="135000"/>
              </a:lnSpc>
            </a:pPr>
            <a:r>
              <a:rPr sz="1100" b="0" i="0">
                <a:solidFill>
                  <a:srgbClr val="21295C"/>
                </a:solidFill>
                <a:latin typeface="Arial"/>
              </a:rPr>
              <a:t>SPC: univariate baseline (недостаточен)
DOE: not suitable (online)
MPC: control, не покрывает rare anomalies</a:t>
            </a:r>
          </a:p>
        </p:txBody>
      </p:sp>
      <p:sp>
        <p:nvSpPr>
          <p:cNvPr id="14" name="Rounded Rectangle 13"/>
          <p:cNvSpPr/>
          <p:nvPr/>
        </p:nvSpPr>
        <p:spPr>
          <a:xfrm>
            <a:off x="4974336" y="1554480"/>
            <a:ext cx="2212848" cy="438912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974336" y="1554480"/>
            <a:ext cx="2212848" cy="5029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974336" y="1600200"/>
            <a:ext cx="2212848" cy="411480"/>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STEP 3</a:t>
            </a:r>
          </a:p>
        </p:txBody>
      </p:sp>
      <p:sp>
        <p:nvSpPr>
          <p:cNvPr id="17" name="TextBox 16"/>
          <p:cNvSpPr txBox="1"/>
          <p:nvPr/>
        </p:nvSpPr>
        <p:spPr>
          <a:xfrm>
            <a:off x="5065775" y="2148840"/>
            <a:ext cx="2029967" cy="457200"/>
          </a:xfrm>
          <a:prstGeom prst="rect">
            <a:avLst/>
          </a:prstGeom>
          <a:noFill/>
        </p:spPr>
        <p:txBody>
          <a:bodyPr wrap="square" lIns="0" rIns="0" tIns="0" bIns="0" anchor="t">
            <a:spAutoFit/>
          </a:bodyPr>
          <a:lstStyle/>
          <a:p>
            <a:pPr algn="ctr">
              <a:lnSpc>
                <a:spcPct val="115000"/>
              </a:lnSpc>
            </a:pPr>
            <a:r>
              <a:rPr sz="1400" b="1" i="0">
                <a:solidFill>
                  <a:srgbClr val="21295C"/>
                </a:solidFill>
                <a:latin typeface="Arial"/>
              </a:rPr>
              <a:t>Apply 4 cats</a:t>
            </a:r>
          </a:p>
        </p:txBody>
      </p:sp>
      <p:sp>
        <p:nvSpPr>
          <p:cNvPr id="18" name="TextBox 17"/>
          <p:cNvSpPr txBox="1"/>
          <p:nvPr/>
        </p:nvSpPr>
        <p:spPr>
          <a:xfrm>
            <a:off x="5157216" y="2743200"/>
            <a:ext cx="1847088" cy="3108960"/>
          </a:xfrm>
          <a:prstGeom prst="rect">
            <a:avLst/>
          </a:prstGeom>
          <a:noFill/>
        </p:spPr>
        <p:txBody>
          <a:bodyPr wrap="square" lIns="0" rIns="0" tIns="0" bIns="0" anchor="t">
            <a:spAutoFit/>
          </a:bodyPr>
          <a:lstStyle/>
          <a:p>
            <a:pPr algn="l">
              <a:lnSpc>
                <a:spcPct val="135000"/>
              </a:lnSpc>
            </a:pPr>
            <a:r>
              <a:rPr sz="1100" b="0" i="0">
                <a:solidFill>
                  <a:srgbClr val="21295C"/>
                </a:solidFill>
                <a:latin typeface="Arial"/>
              </a:rPr>
              <a:t>Данные ✓ много batch data + разметка из QC
Стоимость ✓ FP cost manageable
Регул. ✓/✗ FDA → recommend mode
Человек ✓ operators обучены</a:t>
            </a:r>
          </a:p>
        </p:txBody>
      </p:sp>
      <p:sp>
        <p:nvSpPr>
          <p:cNvPr id="19" name="Rounded Rectangle 18"/>
          <p:cNvSpPr/>
          <p:nvPr/>
        </p:nvSpPr>
        <p:spPr>
          <a:xfrm>
            <a:off x="7232903" y="1554480"/>
            <a:ext cx="2212848" cy="438912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232903" y="1554480"/>
            <a:ext cx="2212848" cy="50292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32903" y="1600200"/>
            <a:ext cx="2212848" cy="411480"/>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STEP 4</a:t>
            </a:r>
          </a:p>
        </p:txBody>
      </p:sp>
      <p:sp>
        <p:nvSpPr>
          <p:cNvPr id="22" name="TextBox 21"/>
          <p:cNvSpPr txBox="1"/>
          <p:nvPr/>
        </p:nvSpPr>
        <p:spPr>
          <a:xfrm>
            <a:off x="7324344" y="2148840"/>
            <a:ext cx="2029967" cy="457200"/>
          </a:xfrm>
          <a:prstGeom prst="rect">
            <a:avLst/>
          </a:prstGeom>
          <a:noFill/>
        </p:spPr>
        <p:txBody>
          <a:bodyPr wrap="square" lIns="0" rIns="0" tIns="0" bIns="0" anchor="t">
            <a:spAutoFit/>
          </a:bodyPr>
          <a:lstStyle/>
          <a:p>
            <a:pPr algn="ctr">
              <a:lnSpc>
                <a:spcPct val="115000"/>
              </a:lnSpc>
            </a:pPr>
            <a:r>
              <a:rPr sz="1400" b="1" i="0">
                <a:solidFill>
                  <a:srgbClr val="21295C"/>
                </a:solidFill>
                <a:latin typeface="Arial"/>
              </a:rPr>
              <a:t>Pilot + go-criteria</a:t>
            </a:r>
          </a:p>
        </p:txBody>
      </p:sp>
      <p:sp>
        <p:nvSpPr>
          <p:cNvPr id="23" name="TextBox 22"/>
          <p:cNvSpPr txBox="1"/>
          <p:nvPr/>
        </p:nvSpPr>
        <p:spPr>
          <a:xfrm>
            <a:off x="7415783" y="2743200"/>
            <a:ext cx="1847088" cy="3108960"/>
          </a:xfrm>
          <a:prstGeom prst="rect">
            <a:avLst/>
          </a:prstGeom>
          <a:noFill/>
        </p:spPr>
        <p:txBody>
          <a:bodyPr wrap="square" lIns="0" rIns="0" tIns="0" bIns="0" anchor="t">
            <a:spAutoFit/>
          </a:bodyPr>
          <a:lstStyle/>
          <a:p>
            <a:pPr algn="l">
              <a:lnSpc>
                <a:spcPct val="135000"/>
              </a:lnSpc>
            </a:pPr>
            <a:r>
              <a:rPr sz="1100" b="0" i="0">
                <a:solidFill>
                  <a:srgbClr val="21295C"/>
                </a:solidFill>
                <a:latin typeface="Arial"/>
              </a:rPr>
              <a:t>+20 000 doses per batch — baseline известен.
Go-criterion: baseline + ROI within 12 mo.</a:t>
            </a:r>
          </a:p>
        </p:txBody>
      </p:sp>
      <p:sp>
        <p:nvSpPr>
          <p:cNvPr id="24" name="Rounded Rectangle 23"/>
          <p:cNvSpPr/>
          <p:nvPr/>
        </p:nvSpPr>
        <p:spPr>
          <a:xfrm>
            <a:off x="9491472" y="1554480"/>
            <a:ext cx="2212848" cy="438912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491472" y="1554480"/>
            <a:ext cx="2212848" cy="5029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491472" y="1600200"/>
            <a:ext cx="2212848" cy="411480"/>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STEP 5</a:t>
            </a:r>
          </a:p>
        </p:txBody>
      </p:sp>
      <p:sp>
        <p:nvSpPr>
          <p:cNvPr id="27" name="TextBox 26"/>
          <p:cNvSpPr txBox="1"/>
          <p:nvPr/>
        </p:nvSpPr>
        <p:spPr>
          <a:xfrm>
            <a:off x="9582911" y="2148840"/>
            <a:ext cx="2029967" cy="457200"/>
          </a:xfrm>
          <a:prstGeom prst="rect">
            <a:avLst/>
          </a:prstGeom>
          <a:noFill/>
        </p:spPr>
        <p:txBody>
          <a:bodyPr wrap="square" lIns="0" rIns="0" tIns="0" bIns="0" anchor="t">
            <a:spAutoFit/>
          </a:bodyPr>
          <a:lstStyle/>
          <a:p>
            <a:pPr algn="ctr">
              <a:lnSpc>
                <a:spcPct val="115000"/>
              </a:lnSpc>
            </a:pPr>
            <a:r>
              <a:rPr sz="1400" b="1" i="0">
                <a:solidFill>
                  <a:srgbClr val="21295C"/>
                </a:solidFill>
                <a:latin typeface="Arial"/>
              </a:rPr>
              <a:t>Production + HITL</a:t>
            </a:r>
          </a:p>
        </p:txBody>
      </p:sp>
      <p:sp>
        <p:nvSpPr>
          <p:cNvPr id="28" name="TextBox 27"/>
          <p:cNvSpPr txBox="1"/>
          <p:nvPr/>
        </p:nvSpPr>
        <p:spPr>
          <a:xfrm>
            <a:off x="9674351" y="2743200"/>
            <a:ext cx="1847088" cy="3108960"/>
          </a:xfrm>
          <a:prstGeom prst="rect">
            <a:avLst/>
          </a:prstGeom>
          <a:noFill/>
        </p:spPr>
        <p:txBody>
          <a:bodyPr wrap="square" lIns="0" rIns="0" tIns="0" bIns="0" anchor="t">
            <a:spAutoFit/>
          </a:bodyPr>
          <a:lstStyle/>
          <a:p>
            <a:pPr algn="l">
              <a:lnSpc>
                <a:spcPct val="135000"/>
              </a:lnSpc>
            </a:pPr>
            <a:r>
              <a:rPr sz="1100" b="0" i="0">
                <a:solidFill>
                  <a:srgbClr val="21295C"/>
                </a:solidFill>
                <a:latin typeface="Arial"/>
              </a:rPr>
              <a:t>«Vox recommends actions to operators»
Architecture: decision-support, не controller.
Audit trail для FDA Part 11 — satisfied.</a:t>
            </a:r>
          </a:p>
        </p:txBody>
      </p:sp>
      <p:sp>
        <p:nvSpPr>
          <p:cNvPr id="29" name="Rounded Rectangle 28"/>
          <p:cNvSpPr/>
          <p:nvPr/>
        </p:nvSpPr>
        <p:spPr>
          <a:xfrm>
            <a:off x="457200" y="6080760"/>
            <a:ext cx="11274552" cy="3657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6126480"/>
            <a:ext cx="10972800" cy="274320"/>
          </a:xfrm>
          <a:prstGeom prst="rect">
            <a:avLst/>
          </a:prstGeom>
          <a:noFill/>
        </p:spPr>
        <p:txBody>
          <a:bodyPr wrap="square" lIns="0" rIns="0" tIns="0" bIns="0" anchor="ctr">
            <a:spAutoFit/>
          </a:bodyPr>
          <a:lstStyle/>
          <a:p>
            <a:pPr algn="ctr">
              <a:lnSpc>
                <a:spcPct val="115000"/>
              </a:lnSpc>
            </a:pPr>
            <a:r>
              <a:rPr sz="1200" b="1" i="1">
                <a:solidFill>
                  <a:srgbClr val="21295C"/>
                </a:solidFill>
                <a:latin typeface="Arial"/>
              </a:rPr>
              <a:t>Lesson: 5-step framework работает ретроспективно — готовый инструмент для оценки новых проектов</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800" b="1" i="0">
                <a:solidFill>
                  <a:srgbClr val="21295C"/>
                </a:solidFill>
                <a:latin typeface="Arial"/>
              </a:rPr>
              <a:t>5-step framework — ваш инструмент для кармана</a:t>
            </a:r>
          </a:p>
        </p:txBody>
      </p:sp>
      <p:sp>
        <p:nvSpPr>
          <p:cNvPr id="3" name="TextBox 2"/>
          <p:cNvSpPr txBox="1"/>
          <p:nvPr/>
        </p:nvSpPr>
        <p:spPr>
          <a:xfrm>
            <a:off x="457200" y="1051560"/>
            <a:ext cx="11274552" cy="365760"/>
          </a:xfrm>
          <a:prstGeom prst="rect">
            <a:avLst/>
          </a:prstGeom>
          <a:noFill/>
        </p:spPr>
        <p:txBody>
          <a:bodyPr wrap="square" lIns="0" rIns="0" tIns="0" bIns="0" anchor="t">
            <a:spAutoFit/>
          </a:bodyPr>
          <a:lstStyle/>
          <a:p>
            <a:pPr algn="l">
              <a:lnSpc>
                <a:spcPct val="115000"/>
              </a:lnSpc>
            </a:pPr>
            <a:r>
              <a:rPr sz="1400" b="0" i="1">
                <a:solidFill>
                  <a:srgbClr val="1C7293"/>
                </a:solidFill>
                <a:latin typeface="Arial"/>
              </a:rPr>
              <a:t>Пять шагов + четыре вопроса к вендору + гибридные паттерны</a:t>
            </a:r>
          </a:p>
        </p:txBody>
      </p:sp>
      <p:sp>
        <p:nvSpPr>
          <p:cNvPr id="4" name="Rounded Rectangle 3"/>
          <p:cNvSpPr/>
          <p:nvPr/>
        </p:nvSpPr>
        <p:spPr>
          <a:xfrm>
            <a:off x="457200" y="1554480"/>
            <a:ext cx="2212848" cy="237744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97864" y="1783080"/>
            <a:ext cx="731520" cy="73152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783080"/>
            <a:ext cx="2212848" cy="731520"/>
          </a:xfrm>
          <a:prstGeom prst="rect">
            <a:avLst/>
          </a:prstGeom>
          <a:noFill/>
        </p:spPr>
        <p:txBody>
          <a:bodyPr wrap="square" lIns="0" rIns="0" tIns="0" bIns="0" anchor="ctr">
            <a:spAutoFit/>
          </a:bodyPr>
          <a:lstStyle/>
          <a:p>
            <a:pPr algn="ctr">
              <a:lnSpc>
                <a:spcPct val="115000"/>
              </a:lnSpc>
            </a:pPr>
            <a:r>
              <a:rPr sz="3000" b="1" i="0">
                <a:solidFill>
                  <a:srgbClr val="FFFFFF"/>
                </a:solidFill>
                <a:latin typeface="Arial"/>
              </a:rPr>
              <a:t>1</a:t>
            </a:r>
          </a:p>
        </p:txBody>
      </p:sp>
      <p:sp>
        <p:nvSpPr>
          <p:cNvPr id="7" name="TextBox 6"/>
          <p:cNvSpPr txBox="1"/>
          <p:nvPr/>
        </p:nvSpPr>
        <p:spPr>
          <a:xfrm>
            <a:off x="548640" y="2606039"/>
            <a:ext cx="2029967" cy="457200"/>
          </a:xfrm>
          <a:prstGeom prst="rect">
            <a:avLst/>
          </a:prstGeom>
          <a:noFill/>
        </p:spPr>
        <p:txBody>
          <a:bodyPr wrap="square" lIns="0" rIns="0" tIns="0" bIns="0" anchor="t">
            <a:spAutoFit/>
          </a:bodyPr>
          <a:lstStyle/>
          <a:p>
            <a:pPr algn="ctr">
              <a:lnSpc>
                <a:spcPct val="115000"/>
              </a:lnSpc>
            </a:pPr>
            <a:r>
              <a:rPr sz="1400" b="1" i="0">
                <a:solidFill>
                  <a:srgbClr val="21295C"/>
                </a:solidFill>
                <a:latin typeface="Arial"/>
              </a:rPr>
              <a:t>Identify class</a:t>
            </a:r>
          </a:p>
        </p:txBody>
      </p:sp>
      <p:sp>
        <p:nvSpPr>
          <p:cNvPr id="8" name="TextBox 7"/>
          <p:cNvSpPr txBox="1"/>
          <p:nvPr/>
        </p:nvSpPr>
        <p:spPr>
          <a:xfrm>
            <a:off x="594360" y="3108960"/>
            <a:ext cx="1938528" cy="731520"/>
          </a:xfrm>
          <a:prstGeom prst="rect">
            <a:avLst/>
          </a:prstGeom>
          <a:noFill/>
        </p:spPr>
        <p:txBody>
          <a:bodyPr wrap="square" lIns="0" rIns="0" tIns="0" bIns="0" anchor="t">
            <a:spAutoFit/>
          </a:bodyPr>
          <a:lstStyle/>
          <a:p>
            <a:pPr algn="ctr">
              <a:lnSpc>
                <a:spcPct val="130000"/>
              </a:lnSpc>
            </a:pPr>
            <a:r>
              <a:rPr sz="1000" b="0" i="0">
                <a:solidFill>
                  <a:srgbClr val="4A556B"/>
                </a:solidFill>
                <a:latin typeface="Arial"/>
              </a:rPr>
              <a:t>discrete / process?
какая физика, регуляторика?</a:t>
            </a:r>
          </a:p>
        </p:txBody>
      </p:sp>
      <p:sp>
        <p:nvSpPr>
          <p:cNvPr id="9" name="Right Arrow 8"/>
          <p:cNvSpPr/>
          <p:nvPr/>
        </p:nvSpPr>
        <p:spPr>
          <a:xfrm>
            <a:off x="2674620" y="2468880"/>
            <a:ext cx="45720" cy="365760"/>
          </a:xfrm>
          <a:prstGeom prst="rightArrow">
            <a:avLst/>
          </a:prstGeom>
          <a:solidFill>
            <a:srgbClr val="F0A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724912" y="1554480"/>
            <a:ext cx="2212848" cy="237744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465575" y="1783080"/>
            <a:ext cx="731520" cy="73152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24912" y="1783080"/>
            <a:ext cx="2212848" cy="731520"/>
          </a:xfrm>
          <a:prstGeom prst="rect">
            <a:avLst/>
          </a:prstGeom>
          <a:noFill/>
        </p:spPr>
        <p:txBody>
          <a:bodyPr wrap="square" lIns="0" rIns="0" tIns="0" bIns="0" anchor="ctr">
            <a:spAutoFit/>
          </a:bodyPr>
          <a:lstStyle/>
          <a:p>
            <a:pPr algn="ctr">
              <a:lnSpc>
                <a:spcPct val="115000"/>
              </a:lnSpc>
            </a:pPr>
            <a:r>
              <a:rPr sz="3000" b="1" i="0">
                <a:solidFill>
                  <a:srgbClr val="FFFFFF"/>
                </a:solidFill>
                <a:latin typeface="Arial"/>
              </a:rPr>
              <a:t>2</a:t>
            </a:r>
          </a:p>
        </p:txBody>
      </p:sp>
      <p:sp>
        <p:nvSpPr>
          <p:cNvPr id="13" name="TextBox 12"/>
          <p:cNvSpPr txBox="1"/>
          <p:nvPr/>
        </p:nvSpPr>
        <p:spPr>
          <a:xfrm>
            <a:off x="2816352" y="2606039"/>
            <a:ext cx="2029967" cy="457200"/>
          </a:xfrm>
          <a:prstGeom prst="rect">
            <a:avLst/>
          </a:prstGeom>
          <a:noFill/>
        </p:spPr>
        <p:txBody>
          <a:bodyPr wrap="square" lIns="0" rIns="0" tIns="0" bIns="0" anchor="t">
            <a:spAutoFit/>
          </a:bodyPr>
          <a:lstStyle/>
          <a:p>
            <a:pPr algn="ctr">
              <a:lnSpc>
                <a:spcPct val="115000"/>
              </a:lnSpc>
            </a:pPr>
            <a:r>
              <a:rPr sz="1400" b="1" i="0">
                <a:solidFill>
                  <a:srgbClr val="21295C"/>
                </a:solidFill>
                <a:latin typeface="Arial"/>
              </a:rPr>
              <a:t>Map alternatives</a:t>
            </a:r>
          </a:p>
        </p:txBody>
      </p:sp>
      <p:sp>
        <p:nvSpPr>
          <p:cNvPr id="14" name="TextBox 13"/>
          <p:cNvSpPr txBox="1"/>
          <p:nvPr/>
        </p:nvSpPr>
        <p:spPr>
          <a:xfrm>
            <a:off x="2862072" y="3108960"/>
            <a:ext cx="1938528" cy="731520"/>
          </a:xfrm>
          <a:prstGeom prst="rect">
            <a:avLst/>
          </a:prstGeom>
          <a:noFill/>
        </p:spPr>
        <p:txBody>
          <a:bodyPr wrap="square" lIns="0" rIns="0" tIns="0" bIns="0" anchor="t">
            <a:spAutoFit/>
          </a:bodyPr>
          <a:lstStyle/>
          <a:p>
            <a:pPr algn="ctr">
              <a:lnSpc>
                <a:spcPct val="130000"/>
              </a:lnSpc>
            </a:pPr>
            <a:r>
              <a:rPr sz="1000" b="0" i="0">
                <a:solidFill>
                  <a:srgbClr val="4A556B"/>
                </a:solidFill>
                <a:latin typeface="Arial"/>
              </a:rPr>
              <a:t>SPC / DOE / MPC / RCM /
physics-sim / rules-vision</a:t>
            </a:r>
          </a:p>
        </p:txBody>
      </p:sp>
      <p:sp>
        <p:nvSpPr>
          <p:cNvPr id="15" name="Right Arrow 14"/>
          <p:cNvSpPr/>
          <p:nvPr/>
        </p:nvSpPr>
        <p:spPr>
          <a:xfrm>
            <a:off x="4942332" y="2468880"/>
            <a:ext cx="45720" cy="365760"/>
          </a:xfrm>
          <a:prstGeom prst="rightArrow">
            <a:avLst/>
          </a:prstGeom>
          <a:solidFill>
            <a:srgbClr val="F0A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992624" y="1554480"/>
            <a:ext cx="2212848" cy="237744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733288" y="1783080"/>
            <a:ext cx="731520" cy="73152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92624" y="1783080"/>
            <a:ext cx="2212848" cy="731520"/>
          </a:xfrm>
          <a:prstGeom prst="rect">
            <a:avLst/>
          </a:prstGeom>
          <a:noFill/>
        </p:spPr>
        <p:txBody>
          <a:bodyPr wrap="square" lIns="0" rIns="0" tIns="0" bIns="0" anchor="ctr">
            <a:spAutoFit/>
          </a:bodyPr>
          <a:lstStyle/>
          <a:p>
            <a:pPr algn="ctr">
              <a:lnSpc>
                <a:spcPct val="115000"/>
              </a:lnSpc>
            </a:pPr>
            <a:r>
              <a:rPr sz="3000" b="1" i="0">
                <a:solidFill>
                  <a:srgbClr val="FFFFFF"/>
                </a:solidFill>
                <a:latin typeface="Arial"/>
              </a:rPr>
              <a:t>3</a:t>
            </a:r>
          </a:p>
        </p:txBody>
      </p:sp>
      <p:sp>
        <p:nvSpPr>
          <p:cNvPr id="19" name="TextBox 18"/>
          <p:cNvSpPr txBox="1"/>
          <p:nvPr/>
        </p:nvSpPr>
        <p:spPr>
          <a:xfrm>
            <a:off x="5084064" y="2606039"/>
            <a:ext cx="2029967" cy="457200"/>
          </a:xfrm>
          <a:prstGeom prst="rect">
            <a:avLst/>
          </a:prstGeom>
          <a:noFill/>
        </p:spPr>
        <p:txBody>
          <a:bodyPr wrap="square" lIns="0" rIns="0" tIns="0" bIns="0" anchor="t">
            <a:spAutoFit/>
          </a:bodyPr>
          <a:lstStyle/>
          <a:p>
            <a:pPr algn="ctr">
              <a:lnSpc>
                <a:spcPct val="115000"/>
              </a:lnSpc>
            </a:pPr>
            <a:r>
              <a:rPr sz="1400" b="1" i="0">
                <a:solidFill>
                  <a:srgbClr val="21295C"/>
                </a:solidFill>
                <a:latin typeface="Arial"/>
              </a:rPr>
              <a:t>Apply 4 categories</a:t>
            </a:r>
          </a:p>
        </p:txBody>
      </p:sp>
      <p:sp>
        <p:nvSpPr>
          <p:cNvPr id="20" name="TextBox 19"/>
          <p:cNvSpPr txBox="1"/>
          <p:nvPr/>
        </p:nvSpPr>
        <p:spPr>
          <a:xfrm>
            <a:off x="5129784" y="3108960"/>
            <a:ext cx="1938528" cy="731520"/>
          </a:xfrm>
          <a:prstGeom prst="rect">
            <a:avLst/>
          </a:prstGeom>
          <a:noFill/>
        </p:spPr>
        <p:txBody>
          <a:bodyPr wrap="square" lIns="0" rIns="0" tIns="0" bIns="0" anchor="t">
            <a:spAutoFit/>
          </a:bodyPr>
          <a:lstStyle/>
          <a:p>
            <a:pPr algn="ctr">
              <a:lnSpc>
                <a:spcPct val="130000"/>
              </a:lnSpc>
            </a:pPr>
            <a:r>
              <a:rPr sz="1000" b="0" i="0">
                <a:solidFill>
                  <a:srgbClr val="4A556B"/>
                </a:solidFill>
                <a:latin typeface="Arial"/>
              </a:rPr>
              <a:t>Данные · Стоимость ·
Регуляторика · Человек</a:t>
            </a:r>
          </a:p>
        </p:txBody>
      </p:sp>
      <p:sp>
        <p:nvSpPr>
          <p:cNvPr id="21" name="Right Arrow 20"/>
          <p:cNvSpPr/>
          <p:nvPr/>
        </p:nvSpPr>
        <p:spPr>
          <a:xfrm>
            <a:off x="7210044" y="2468880"/>
            <a:ext cx="45720" cy="365760"/>
          </a:xfrm>
          <a:prstGeom prst="rightArrow">
            <a:avLst/>
          </a:prstGeom>
          <a:solidFill>
            <a:srgbClr val="F0A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260336" y="1554480"/>
            <a:ext cx="2212848" cy="237744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000999" y="1783080"/>
            <a:ext cx="731520" cy="73152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60336" y="1783080"/>
            <a:ext cx="2212848" cy="731520"/>
          </a:xfrm>
          <a:prstGeom prst="rect">
            <a:avLst/>
          </a:prstGeom>
          <a:noFill/>
        </p:spPr>
        <p:txBody>
          <a:bodyPr wrap="square" lIns="0" rIns="0" tIns="0" bIns="0" anchor="ctr">
            <a:spAutoFit/>
          </a:bodyPr>
          <a:lstStyle/>
          <a:p>
            <a:pPr algn="ctr">
              <a:lnSpc>
                <a:spcPct val="115000"/>
              </a:lnSpc>
            </a:pPr>
            <a:r>
              <a:rPr sz="3000" b="1" i="0">
                <a:solidFill>
                  <a:srgbClr val="FFFFFF"/>
                </a:solidFill>
                <a:latin typeface="Arial"/>
              </a:rPr>
              <a:t>4</a:t>
            </a:r>
          </a:p>
        </p:txBody>
      </p:sp>
      <p:sp>
        <p:nvSpPr>
          <p:cNvPr id="25" name="TextBox 24"/>
          <p:cNvSpPr txBox="1"/>
          <p:nvPr/>
        </p:nvSpPr>
        <p:spPr>
          <a:xfrm>
            <a:off x="7351775" y="2606039"/>
            <a:ext cx="2029967" cy="457200"/>
          </a:xfrm>
          <a:prstGeom prst="rect">
            <a:avLst/>
          </a:prstGeom>
          <a:noFill/>
        </p:spPr>
        <p:txBody>
          <a:bodyPr wrap="square" lIns="0" rIns="0" tIns="0" bIns="0" anchor="t">
            <a:spAutoFit/>
          </a:bodyPr>
          <a:lstStyle/>
          <a:p>
            <a:pPr algn="ctr">
              <a:lnSpc>
                <a:spcPct val="115000"/>
              </a:lnSpc>
            </a:pPr>
            <a:r>
              <a:rPr sz="1400" b="1" i="0">
                <a:solidFill>
                  <a:srgbClr val="21295C"/>
                </a:solidFill>
                <a:latin typeface="Arial"/>
              </a:rPr>
              <a:t>Pilot + go-criteria</a:t>
            </a:r>
          </a:p>
        </p:txBody>
      </p:sp>
      <p:sp>
        <p:nvSpPr>
          <p:cNvPr id="26" name="TextBox 25"/>
          <p:cNvSpPr txBox="1"/>
          <p:nvPr/>
        </p:nvSpPr>
        <p:spPr>
          <a:xfrm>
            <a:off x="7397496" y="3108960"/>
            <a:ext cx="1938528" cy="731520"/>
          </a:xfrm>
          <a:prstGeom prst="rect">
            <a:avLst/>
          </a:prstGeom>
          <a:noFill/>
        </p:spPr>
        <p:txBody>
          <a:bodyPr wrap="square" lIns="0" rIns="0" tIns="0" bIns="0" anchor="t">
            <a:spAutoFit/>
          </a:bodyPr>
          <a:lstStyle/>
          <a:p>
            <a:pPr algn="ctr">
              <a:lnSpc>
                <a:spcPct val="130000"/>
              </a:lnSpc>
            </a:pPr>
            <a:r>
              <a:rPr sz="1000" b="0" i="0">
                <a:solidFill>
                  <a:srgbClr val="4A556B"/>
                </a:solidFill>
                <a:latin typeface="Arial"/>
              </a:rPr>
              <a:t>baseline + measure window +
go/no-go threshold ДО старта</a:t>
            </a:r>
          </a:p>
        </p:txBody>
      </p:sp>
      <p:sp>
        <p:nvSpPr>
          <p:cNvPr id="27" name="Right Arrow 26"/>
          <p:cNvSpPr/>
          <p:nvPr/>
        </p:nvSpPr>
        <p:spPr>
          <a:xfrm>
            <a:off x="9477756" y="2468880"/>
            <a:ext cx="45720" cy="365760"/>
          </a:xfrm>
          <a:prstGeom prst="rightArrow">
            <a:avLst/>
          </a:prstGeom>
          <a:solidFill>
            <a:srgbClr val="F0A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528048" y="1554480"/>
            <a:ext cx="2212848" cy="237744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268711" y="1783080"/>
            <a:ext cx="731520" cy="73152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528048" y="1783080"/>
            <a:ext cx="2212848" cy="731520"/>
          </a:xfrm>
          <a:prstGeom prst="rect">
            <a:avLst/>
          </a:prstGeom>
          <a:noFill/>
        </p:spPr>
        <p:txBody>
          <a:bodyPr wrap="square" lIns="0" rIns="0" tIns="0" bIns="0" anchor="ctr">
            <a:spAutoFit/>
          </a:bodyPr>
          <a:lstStyle/>
          <a:p>
            <a:pPr algn="ctr">
              <a:lnSpc>
                <a:spcPct val="115000"/>
              </a:lnSpc>
            </a:pPr>
            <a:r>
              <a:rPr sz="3000" b="1" i="0">
                <a:solidFill>
                  <a:srgbClr val="FFFFFF"/>
                </a:solidFill>
                <a:latin typeface="Arial"/>
              </a:rPr>
              <a:t>5</a:t>
            </a:r>
          </a:p>
        </p:txBody>
      </p:sp>
      <p:sp>
        <p:nvSpPr>
          <p:cNvPr id="31" name="TextBox 30"/>
          <p:cNvSpPr txBox="1"/>
          <p:nvPr/>
        </p:nvSpPr>
        <p:spPr>
          <a:xfrm>
            <a:off x="9619488" y="2606039"/>
            <a:ext cx="2029967" cy="457200"/>
          </a:xfrm>
          <a:prstGeom prst="rect">
            <a:avLst/>
          </a:prstGeom>
          <a:noFill/>
        </p:spPr>
        <p:txBody>
          <a:bodyPr wrap="square" lIns="0" rIns="0" tIns="0" bIns="0" anchor="t">
            <a:spAutoFit/>
          </a:bodyPr>
          <a:lstStyle/>
          <a:p>
            <a:pPr algn="ctr">
              <a:lnSpc>
                <a:spcPct val="115000"/>
              </a:lnSpc>
            </a:pPr>
            <a:r>
              <a:rPr sz="1400" b="1" i="0">
                <a:solidFill>
                  <a:srgbClr val="21295C"/>
                </a:solidFill>
                <a:latin typeface="Arial"/>
              </a:rPr>
              <a:t>Production + HITL</a:t>
            </a:r>
          </a:p>
        </p:txBody>
      </p:sp>
      <p:sp>
        <p:nvSpPr>
          <p:cNvPr id="32" name="TextBox 31"/>
          <p:cNvSpPr txBox="1"/>
          <p:nvPr/>
        </p:nvSpPr>
        <p:spPr>
          <a:xfrm>
            <a:off x="9665208" y="3108960"/>
            <a:ext cx="1938528" cy="731520"/>
          </a:xfrm>
          <a:prstGeom prst="rect">
            <a:avLst/>
          </a:prstGeom>
          <a:noFill/>
        </p:spPr>
        <p:txBody>
          <a:bodyPr wrap="square" lIns="0" rIns="0" tIns="0" bIns="0" anchor="t">
            <a:spAutoFit/>
          </a:bodyPr>
          <a:lstStyle/>
          <a:p>
            <a:pPr algn="ctr">
              <a:lnSpc>
                <a:spcPct val="130000"/>
              </a:lnSpc>
            </a:pPr>
            <a:r>
              <a:rPr sz="1000" b="0" i="0">
                <a:solidFill>
                  <a:srgbClr val="4A556B"/>
                </a:solidFill>
                <a:latin typeface="Arial"/>
              </a:rPr>
              <a:t>recommend mode safety-critical
validated, traceable</a:t>
            </a:r>
          </a:p>
        </p:txBody>
      </p:sp>
      <p:sp>
        <p:nvSpPr>
          <p:cNvPr id="33" name="Rounded Rectangle 32"/>
          <p:cNvSpPr/>
          <p:nvPr/>
        </p:nvSpPr>
        <p:spPr>
          <a:xfrm>
            <a:off x="457200" y="4114800"/>
            <a:ext cx="11274552" cy="2286000"/>
          </a:xfrm>
          <a:prstGeom prst="roundRect">
            <a:avLst>
              <a:gd name="adj" fmla="val 10000"/>
            </a:avLst>
          </a:prstGeom>
          <a:solidFill>
            <a:srgbClr val="F4F7FA"/>
          </a:solidFill>
          <a:ln w="254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4206240"/>
            <a:ext cx="10972800" cy="365760"/>
          </a:xfrm>
          <a:prstGeom prst="rect">
            <a:avLst/>
          </a:prstGeom>
          <a:noFill/>
        </p:spPr>
        <p:txBody>
          <a:bodyPr wrap="square" lIns="0" rIns="0" tIns="0" bIns="0" anchor="t">
            <a:spAutoFit/>
          </a:bodyPr>
          <a:lstStyle/>
          <a:p>
            <a:pPr algn="ctr">
              <a:lnSpc>
                <a:spcPct val="115000"/>
              </a:lnSpc>
            </a:pPr>
            <a:r>
              <a:rPr sz="1600" b="1" i="0">
                <a:solidFill>
                  <a:srgbClr val="065A82"/>
                </a:solidFill>
                <a:latin typeface="Arial"/>
              </a:rPr>
              <a:t>ЧЕТЫРЕ ВОПРОСА К ВЕНДОРУ — для кармана</a:t>
            </a:r>
          </a:p>
        </p:txBody>
      </p:sp>
      <p:sp>
        <p:nvSpPr>
          <p:cNvPr id="35" name="Rounded Rectangle 34"/>
          <p:cNvSpPr/>
          <p:nvPr/>
        </p:nvSpPr>
        <p:spPr>
          <a:xfrm>
            <a:off x="457200" y="4709160"/>
            <a:ext cx="2743200" cy="155448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4800600"/>
            <a:ext cx="2743200" cy="457200"/>
          </a:xfrm>
          <a:prstGeom prst="rect">
            <a:avLst/>
          </a:prstGeom>
          <a:noFill/>
        </p:spPr>
        <p:txBody>
          <a:bodyPr wrap="square" lIns="0" rIns="0" tIns="0" bIns="0" anchor="t">
            <a:spAutoFit/>
          </a:bodyPr>
          <a:lstStyle/>
          <a:p>
            <a:pPr algn="ctr">
              <a:lnSpc>
                <a:spcPct val="115000"/>
              </a:lnSpc>
            </a:pPr>
            <a:r>
              <a:rPr sz="2200" b="1" i="0">
                <a:solidFill>
                  <a:srgbClr val="F0AB00"/>
                </a:solidFill>
                <a:latin typeface="Arial"/>
              </a:rPr>
              <a:t>1</a:t>
            </a:r>
          </a:p>
        </p:txBody>
      </p:sp>
      <p:sp>
        <p:nvSpPr>
          <p:cNvPr id="37" name="TextBox 36"/>
          <p:cNvSpPr txBox="1"/>
          <p:nvPr/>
        </p:nvSpPr>
        <p:spPr>
          <a:xfrm>
            <a:off x="548640" y="5303520"/>
            <a:ext cx="2560320" cy="365760"/>
          </a:xfrm>
          <a:prstGeom prst="rect">
            <a:avLst/>
          </a:prstGeom>
          <a:noFill/>
        </p:spPr>
        <p:txBody>
          <a:bodyPr wrap="square" lIns="0" rIns="0" tIns="0" bIns="0" anchor="t">
            <a:spAutoFit/>
          </a:bodyPr>
          <a:lstStyle/>
          <a:p>
            <a:pPr algn="ctr">
              <a:lnSpc>
                <a:spcPct val="115000"/>
              </a:lnSpc>
            </a:pPr>
            <a:r>
              <a:rPr sz="1200" b="1" i="0">
                <a:solidFill>
                  <a:srgbClr val="21295C"/>
                </a:solidFill>
                <a:latin typeface="Arial"/>
              </a:rPr>
              <a:t>Baseline до AI</a:t>
            </a:r>
          </a:p>
        </p:txBody>
      </p:sp>
      <p:sp>
        <p:nvSpPr>
          <p:cNvPr id="38" name="TextBox 37"/>
          <p:cNvSpPr txBox="1"/>
          <p:nvPr/>
        </p:nvSpPr>
        <p:spPr>
          <a:xfrm>
            <a:off x="594360" y="5715000"/>
            <a:ext cx="2468880" cy="502920"/>
          </a:xfrm>
          <a:prstGeom prst="rect">
            <a:avLst/>
          </a:prstGeom>
          <a:noFill/>
        </p:spPr>
        <p:txBody>
          <a:bodyPr wrap="square" lIns="0" rIns="0" tIns="0" bIns="0" anchor="t">
            <a:spAutoFit/>
          </a:bodyPr>
          <a:lstStyle/>
          <a:p>
            <a:pPr algn="ctr">
              <a:lnSpc>
                <a:spcPct val="130000"/>
              </a:lnSpc>
            </a:pPr>
            <a:r>
              <a:rPr sz="1000" b="0" i="1">
                <a:solidFill>
                  <a:srgbClr val="4A556B"/>
                </a:solidFill>
                <a:latin typeface="Arial"/>
              </a:rPr>
              <a:t>на какой объём сравниваете?</a:t>
            </a:r>
          </a:p>
        </p:txBody>
      </p:sp>
      <p:sp>
        <p:nvSpPr>
          <p:cNvPr id="39" name="Rounded Rectangle 38"/>
          <p:cNvSpPr/>
          <p:nvPr/>
        </p:nvSpPr>
        <p:spPr>
          <a:xfrm>
            <a:off x="3255264" y="4709160"/>
            <a:ext cx="2743200" cy="155448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55264" y="4800600"/>
            <a:ext cx="2743200" cy="457200"/>
          </a:xfrm>
          <a:prstGeom prst="rect">
            <a:avLst/>
          </a:prstGeom>
          <a:noFill/>
        </p:spPr>
        <p:txBody>
          <a:bodyPr wrap="square" lIns="0" rIns="0" tIns="0" bIns="0" anchor="t">
            <a:spAutoFit/>
          </a:bodyPr>
          <a:lstStyle/>
          <a:p>
            <a:pPr algn="ctr">
              <a:lnSpc>
                <a:spcPct val="115000"/>
              </a:lnSpc>
            </a:pPr>
            <a:r>
              <a:rPr sz="2200" b="1" i="0">
                <a:solidFill>
                  <a:srgbClr val="F0AB00"/>
                </a:solidFill>
                <a:latin typeface="Arial"/>
              </a:rPr>
              <a:t>2</a:t>
            </a:r>
          </a:p>
        </p:txBody>
      </p:sp>
      <p:sp>
        <p:nvSpPr>
          <p:cNvPr id="41" name="TextBox 40"/>
          <p:cNvSpPr txBox="1"/>
          <p:nvPr/>
        </p:nvSpPr>
        <p:spPr>
          <a:xfrm>
            <a:off x="3346704" y="5303520"/>
            <a:ext cx="2560320" cy="365760"/>
          </a:xfrm>
          <a:prstGeom prst="rect">
            <a:avLst/>
          </a:prstGeom>
          <a:noFill/>
        </p:spPr>
        <p:txBody>
          <a:bodyPr wrap="square" lIns="0" rIns="0" tIns="0" bIns="0" anchor="t">
            <a:spAutoFit/>
          </a:bodyPr>
          <a:lstStyle/>
          <a:p>
            <a:pPr algn="ctr">
              <a:lnSpc>
                <a:spcPct val="115000"/>
              </a:lnSpc>
            </a:pPr>
            <a:r>
              <a:rPr sz="1200" b="1" i="0">
                <a:solidFill>
                  <a:srgbClr val="21295C"/>
                </a:solidFill>
                <a:latin typeface="Arial"/>
              </a:rPr>
              <a:t>Окно измерения</a:t>
            </a:r>
          </a:p>
        </p:txBody>
      </p:sp>
      <p:sp>
        <p:nvSpPr>
          <p:cNvPr id="42" name="TextBox 41"/>
          <p:cNvSpPr txBox="1"/>
          <p:nvPr/>
        </p:nvSpPr>
        <p:spPr>
          <a:xfrm>
            <a:off x="3392424" y="5715000"/>
            <a:ext cx="2468880" cy="502920"/>
          </a:xfrm>
          <a:prstGeom prst="rect">
            <a:avLst/>
          </a:prstGeom>
          <a:noFill/>
        </p:spPr>
        <p:txBody>
          <a:bodyPr wrap="square" lIns="0" rIns="0" tIns="0" bIns="0" anchor="t">
            <a:spAutoFit/>
          </a:bodyPr>
          <a:lstStyle/>
          <a:p>
            <a:pPr algn="ctr">
              <a:lnSpc>
                <a:spcPct val="130000"/>
              </a:lnSpc>
            </a:pPr>
            <a:r>
              <a:rPr sz="1000" b="0" i="1">
                <a:solidFill>
                  <a:srgbClr val="4A556B"/>
                </a:solidFill>
                <a:latin typeface="Arial"/>
              </a:rPr>
              <a:t>за какой период оценка?</a:t>
            </a:r>
          </a:p>
        </p:txBody>
      </p:sp>
      <p:sp>
        <p:nvSpPr>
          <p:cNvPr id="43" name="Rounded Rectangle 42"/>
          <p:cNvSpPr/>
          <p:nvPr/>
        </p:nvSpPr>
        <p:spPr>
          <a:xfrm>
            <a:off x="6053328" y="4709160"/>
            <a:ext cx="2743200" cy="155448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053328" y="4800600"/>
            <a:ext cx="2743200" cy="457200"/>
          </a:xfrm>
          <a:prstGeom prst="rect">
            <a:avLst/>
          </a:prstGeom>
          <a:noFill/>
        </p:spPr>
        <p:txBody>
          <a:bodyPr wrap="square" lIns="0" rIns="0" tIns="0" bIns="0" anchor="t">
            <a:spAutoFit/>
          </a:bodyPr>
          <a:lstStyle/>
          <a:p>
            <a:pPr algn="ctr">
              <a:lnSpc>
                <a:spcPct val="115000"/>
              </a:lnSpc>
            </a:pPr>
            <a:r>
              <a:rPr sz="2200" b="1" i="0">
                <a:solidFill>
                  <a:srgbClr val="F0AB00"/>
                </a:solidFill>
                <a:latin typeface="Arial"/>
              </a:rPr>
              <a:t>3</a:t>
            </a:r>
          </a:p>
        </p:txBody>
      </p:sp>
      <p:sp>
        <p:nvSpPr>
          <p:cNvPr id="45" name="TextBox 44"/>
          <p:cNvSpPr txBox="1"/>
          <p:nvPr/>
        </p:nvSpPr>
        <p:spPr>
          <a:xfrm>
            <a:off x="6144768" y="5303520"/>
            <a:ext cx="2560320" cy="365760"/>
          </a:xfrm>
          <a:prstGeom prst="rect">
            <a:avLst/>
          </a:prstGeom>
          <a:noFill/>
        </p:spPr>
        <p:txBody>
          <a:bodyPr wrap="square" lIns="0" rIns="0" tIns="0" bIns="0" anchor="t">
            <a:spAutoFit/>
          </a:bodyPr>
          <a:lstStyle/>
          <a:p>
            <a:pPr algn="ctr">
              <a:lnSpc>
                <a:spcPct val="115000"/>
              </a:lnSpc>
            </a:pPr>
            <a:r>
              <a:rPr sz="1200" b="1" i="0">
                <a:solidFill>
                  <a:srgbClr val="21295C"/>
                </a:solidFill>
                <a:latin typeface="Arial"/>
              </a:rPr>
              <a:t>Перечень вмешательств</a:t>
            </a:r>
          </a:p>
        </p:txBody>
      </p:sp>
      <p:sp>
        <p:nvSpPr>
          <p:cNvPr id="46" name="TextBox 45"/>
          <p:cNvSpPr txBox="1"/>
          <p:nvPr/>
        </p:nvSpPr>
        <p:spPr>
          <a:xfrm>
            <a:off x="6190488" y="5715000"/>
            <a:ext cx="2468880" cy="502920"/>
          </a:xfrm>
          <a:prstGeom prst="rect">
            <a:avLst/>
          </a:prstGeom>
          <a:noFill/>
        </p:spPr>
        <p:txBody>
          <a:bodyPr wrap="square" lIns="0" rIns="0" tIns="0" bIns="0" anchor="t">
            <a:spAutoFit/>
          </a:bodyPr>
          <a:lstStyle/>
          <a:p>
            <a:pPr algn="ctr">
              <a:lnSpc>
                <a:spcPct val="130000"/>
              </a:lnSpc>
            </a:pPr>
            <a:r>
              <a:rPr sz="1000" b="0" i="1">
                <a:solidFill>
                  <a:srgbClr val="4A556B"/>
                </a:solidFill>
                <a:latin typeface="Arial"/>
              </a:rPr>
              <a:t>что реально автоматизировано?</a:t>
            </a:r>
          </a:p>
        </p:txBody>
      </p:sp>
      <p:sp>
        <p:nvSpPr>
          <p:cNvPr id="47" name="Rounded Rectangle 46"/>
          <p:cNvSpPr/>
          <p:nvPr/>
        </p:nvSpPr>
        <p:spPr>
          <a:xfrm>
            <a:off x="8851392" y="4709160"/>
            <a:ext cx="2743200" cy="155448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851392" y="4800600"/>
            <a:ext cx="2743200" cy="457200"/>
          </a:xfrm>
          <a:prstGeom prst="rect">
            <a:avLst/>
          </a:prstGeom>
          <a:noFill/>
        </p:spPr>
        <p:txBody>
          <a:bodyPr wrap="square" lIns="0" rIns="0" tIns="0" bIns="0" anchor="t">
            <a:spAutoFit/>
          </a:bodyPr>
          <a:lstStyle/>
          <a:p>
            <a:pPr algn="ctr">
              <a:lnSpc>
                <a:spcPct val="115000"/>
              </a:lnSpc>
            </a:pPr>
            <a:r>
              <a:rPr sz="2200" b="1" i="0">
                <a:solidFill>
                  <a:srgbClr val="F0AB00"/>
                </a:solidFill>
                <a:latin typeface="Arial"/>
              </a:rPr>
              <a:t>4</a:t>
            </a:r>
          </a:p>
        </p:txBody>
      </p:sp>
      <p:sp>
        <p:nvSpPr>
          <p:cNvPr id="49" name="TextBox 48"/>
          <p:cNvSpPr txBox="1"/>
          <p:nvPr/>
        </p:nvSpPr>
        <p:spPr>
          <a:xfrm>
            <a:off x="8942832" y="5303520"/>
            <a:ext cx="2560320" cy="365760"/>
          </a:xfrm>
          <a:prstGeom prst="rect">
            <a:avLst/>
          </a:prstGeom>
          <a:noFill/>
        </p:spPr>
        <p:txBody>
          <a:bodyPr wrap="square" lIns="0" rIns="0" tIns="0" bIns="0" anchor="t">
            <a:spAutoFit/>
          </a:bodyPr>
          <a:lstStyle/>
          <a:p>
            <a:pPr algn="ctr">
              <a:lnSpc>
                <a:spcPct val="115000"/>
              </a:lnSpc>
            </a:pPr>
            <a:r>
              <a:rPr sz="1200" b="1" i="0">
                <a:solidFill>
                  <a:srgbClr val="21295C"/>
                </a:solidFill>
                <a:latin typeface="Arial"/>
              </a:rPr>
              <a:t>OEE-канал</a:t>
            </a:r>
          </a:p>
        </p:txBody>
      </p:sp>
      <p:sp>
        <p:nvSpPr>
          <p:cNvPr id="50" name="TextBox 49"/>
          <p:cNvSpPr txBox="1"/>
          <p:nvPr/>
        </p:nvSpPr>
        <p:spPr>
          <a:xfrm>
            <a:off x="8988552" y="5715000"/>
            <a:ext cx="2468880" cy="502920"/>
          </a:xfrm>
          <a:prstGeom prst="rect">
            <a:avLst/>
          </a:prstGeom>
          <a:noFill/>
        </p:spPr>
        <p:txBody>
          <a:bodyPr wrap="square" lIns="0" rIns="0" tIns="0" bIns="0" anchor="t">
            <a:spAutoFit/>
          </a:bodyPr>
          <a:lstStyle/>
          <a:p>
            <a:pPr algn="ctr">
              <a:lnSpc>
                <a:spcPct val="130000"/>
              </a:lnSpc>
            </a:pPr>
            <a:r>
              <a:rPr sz="1000" b="0" i="1">
                <a:solidFill>
                  <a:srgbClr val="4A556B"/>
                </a:solidFill>
                <a:latin typeface="Arial"/>
              </a:rPr>
              <a:t>availability / performance / quality?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2209190" cy="292608"/>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02336"/>
            <a:ext cx="2209190" cy="256032"/>
          </a:xfrm>
          <a:prstGeom prst="rect">
            <a:avLst/>
          </a:prstGeom>
          <a:noFill/>
        </p:spPr>
        <p:txBody>
          <a:bodyPr wrap="square" lIns="0" rIns="0" tIns="0" bIns="0" anchor="ctr">
            <a:spAutoFit/>
          </a:bodyPr>
          <a:lstStyle/>
          <a:p>
            <a:pPr algn="ctr">
              <a:lnSpc>
                <a:spcPct val="115000"/>
              </a:lnSpc>
            </a:pPr>
            <a:r>
              <a:rPr sz="1000" b="0" i="0">
                <a:solidFill>
                  <a:srgbClr val="6B7685"/>
                </a:solidFill>
                <a:latin typeface="Arial"/>
              </a:rPr>
              <a:t>1. Общее</a:t>
            </a:r>
          </a:p>
        </p:txBody>
      </p:sp>
      <p:sp>
        <p:nvSpPr>
          <p:cNvPr id="4" name="Rectangle 3"/>
          <p:cNvSpPr/>
          <p:nvPr/>
        </p:nvSpPr>
        <p:spPr>
          <a:xfrm>
            <a:off x="2712110" y="365760"/>
            <a:ext cx="2209190" cy="292608"/>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12110" y="402336"/>
            <a:ext cx="2209190" cy="256032"/>
          </a:xfrm>
          <a:prstGeom prst="rect">
            <a:avLst/>
          </a:prstGeom>
          <a:noFill/>
        </p:spPr>
        <p:txBody>
          <a:bodyPr wrap="square" lIns="0" rIns="0" tIns="0" bIns="0" anchor="ctr">
            <a:spAutoFit/>
          </a:bodyPr>
          <a:lstStyle/>
          <a:p>
            <a:pPr algn="ctr">
              <a:lnSpc>
                <a:spcPct val="115000"/>
              </a:lnSpc>
            </a:pPr>
            <a:r>
              <a:rPr sz="1000" b="0" i="0">
                <a:solidFill>
                  <a:srgbClr val="6B7685"/>
                </a:solidFill>
                <a:latin typeface="Arial"/>
              </a:rPr>
              <a:t>2. Дискретное</a:t>
            </a:r>
          </a:p>
        </p:txBody>
      </p:sp>
      <p:sp>
        <p:nvSpPr>
          <p:cNvPr id="6" name="Rectangle 5"/>
          <p:cNvSpPr/>
          <p:nvPr/>
        </p:nvSpPr>
        <p:spPr>
          <a:xfrm>
            <a:off x="4967020" y="365760"/>
            <a:ext cx="2209190" cy="292608"/>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967020" y="402336"/>
            <a:ext cx="2209190" cy="256032"/>
          </a:xfrm>
          <a:prstGeom prst="rect">
            <a:avLst/>
          </a:prstGeom>
          <a:noFill/>
        </p:spPr>
        <p:txBody>
          <a:bodyPr wrap="square" lIns="0" rIns="0" tIns="0" bIns="0" anchor="ctr">
            <a:spAutoFit/>
          </a:bodyPr>
          <a:lstStyle/>
          <a:p>
            <a:pPr algn="ctr">
              <a:lnSpc>
                <a:spcPct val="115000"/>
              </a:lnSpc>
            </a:pPr>
            <a:r>
              <a:rPr sz="1000" b="0" i="0">
                <a:solidFill>
                  <a:srgbClr val="6B7685"/>
                </a:solidFill>
                <a:latin typeface="Arial"/>
              </a:rPr>
              <a:t>3. Процессное</a:t>
            </a:r>
          </a:p>
        </p:txBody>
      </p:sp>
      <p:sp>
        <p:nvSpPr>
          <p:cNvPr id="8" name="Rectangle 7"/>
          <p:cNvSpPr/>
          <p:nvPr/>
        </p:nvSpPr>
        <p:spPr>
          <a:xfrm>
            <a:off x="7221931" y="365760"/>
            <a:ext cx="2209190" cy="292608"/>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21931" y="402336"/>
            <a:ext cx="2209190" cy="256032"/>
          </a:xfrm>
          <a:prstGeom prst="rect">
            <a:avLst/>
          </a:prstGeom>
          <a:noFill/>
        </p:spPr>
        <p:txBody>
          <a:bodyPr wrap="square" lIns="0" rIns="0" tIns="0" bIns="0" anchor="ctr">
            <a:spAutoFit/>
          </a:bodyPr>
          <a:lstStyle/>
          <a:p>
            <a:pPr algn="ctr">
              <a:lnSpc>
                <a:spcPct val="115000"/>
              </a:lnSpc>
            </a:pPr>
            <a:r>
              <a:rPr sz="1000" b="0" i="0">
                <a:solidFill>
                  <a:srgbClr val="6B7685"/>
                </a:solidFill>
                <a:latin typeface="Arial"/>
              </a:rPr>
              <a:t>4. Рамка</a:t>
            </a:r>
          </a:p>
        </p:txBody>
      </p:sp>
      <p:sp>
        <p:nvSpPr>
          <p:cNvPr id="10" name="Rectangle 9"/>
          <p:cNvSpPr/>
          <p:nvPr/>
        </p:nvSpPr>
        <p:spPr>
          <a:xfrm>
            <a:off x="9476841" y="365760"/>
            <a:ext cx="2209190" cy="292608"/>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76841" y="402336"/>
            <a:ext cx="2209190" cy="256032"/>
          </a:xfrm>
          <a:prstGeom prst="rect">
            <a:avLst/>
          </a:prstGeom>
          <a:noFill/>
        </p:spPr>
        <p:txBody>
          <a:bodyPr wrap="square" lIns="0" rIns="0" tIns="0" bIns="0" anchor="ctr">
            <a:spAutoFit/>
          </a:bodyPr>
          <a:lstStyle/>
          <a:p>
            <a:pPr algn="ctr">
              <a:lnSpc>
                <a:spcPct val="115000"/>
              </a:lnSpc>
            </a:pPr>
            <a:r>
              <a:rPr sz="1000" b="1" i="0">
                <a:solidFill>
                  <a:srgbClr val="21295C"/>
                </a:solidFill>
                <a:latin typeface="Arial"/>
              </a:rPr>
              <a:t>5. Замыкание</a:t>
            </a:r>
          </a:p>
        </p:txBody>
      </p:sp>
      <p:sp>
        <p:nvSpPr>
          <p:cNvPr id="12" name="TextBox 11"/>
          <p:cNvSpPr txBox="1"/>
          <p:nvPr/>
        </p:nvSpPr>
        <p:spPr>
          <a:xfrm>
            <a:off x="457200" y="914400"/>
            <a:ext cx="5486400" cy="5029200"/>
          </a:xfrm>
          <a:prstGeom prst="rect">
            <a:avLst/>
          </a:prstGeom>
          <a:noFill/>
        </p:spPr>
        <p:txBody>
          <a:bodyPr wrap="square" lIns="0" rIns="0" tIns="0" bIns="0" anchor="ctr">
            <a:spAutoFit/>
          </a:bodyPr>
          <a:lstStyle/>
          <a:p>
            <a:pPr algn="ctr">
              <a:lnSpc>
                <a:spcPct val="115000"/>
              </a:lnSpc>
            </a:pPr>
            <a:r>
              <a:rPr sz="44000" b="1" i="0">
                <a:solidFill>
                  <a:srgbClr val="D9E2EC"/>
                </a:solidFill>
                <a:latin typeface="Arial"/>
              </a:rPr>
              <a:t>5</a:t>
            </a:r>
          </a:p>
        </p:txBody>
      </p:sp>
      <p:sp>
        <p:nvSpPr>
          <p:cNvPr id="13" name="TextBox 12"/>
          <p:cNvSpPr txBox="1"/>
          <p:nvPr/>
        </p:nvSpPr>
        <p:spPr>
          <a:xfrm>
            <a:off x="5029200" y="2286000"/>
            <a:ext cx="6858000" cy="3200400"/>
          </a:xfrm>
          <a:prstGeom prst="rect">
            <a:avLst/>
          </a:prstGeom>
          <a:noFill/>
        </p:spPr>
        <p:txBody>
          <a:bodyPr wrap="square" lIns="0" rIns="0" tIns="0" bIns="0" anchor="t">
            <a:spAutoFit/>
          </a:bodyPr>
          <a:lstStyle/>
          <a:p>
            <a:pPr algn="l">
              <a:lnSpc>
                <a:spcPct val="115000"/>
              </a:lnSpc>
            </a:pPr>
            <a:r>
              <a:rPr sz="1800" b="1" i="0">
                <a:solidFill>
                  <a:srgbClr val="1C7293"/>
                </a:solidFill>
                <a:latin typeface="Arial"/>
              </a:rPr>
              <a:t>РАЗДЕЛ</a:t>
            </a:r>
          </a:p>
          <a:p>
            <a:pPr algn="l">
              <a:lnSpc>
                <a:spcPct val="115000"/>
              </a:lnSpc>
            </a:pPr>
            <a:r>
              <a:rPr sz="3800" b="1" i="0">
                <a:solidFill>
                  <a:srgbClr val="21295C"/>
                </a:solidFill>
                <a:latin typeface="Arial"/>
              </a:rPr>
              <a:t>Замыкание</a:t>
            </a:r>
          </a:p>
          <a:p>
            <a:pPr algn="l">
              <a:lnSpc>
                <a:spcPct val="115000"/>
              </a:lnSpc>
            </a:pPr>
            <a:r>
              <a:rPr sz="1200" b="0" i="0">
                <a:solidFill>
                  <a:srgbClr val="21295C"/>
                </a:solidFill>
                <a:latin typeface="Arial"/>
              </a:rPr>
              <a:t/>
            </a:r>
          </a:p>
          <a:p>
            <a:pPr algn="l">
              <a:lnSpc>
                <a:spcPct val="115000"/>
              </a:lnSpc>
            </a:pPr>
            <a:r>
              <a:rPr sz="1600" b="0" i="0">
                <a:solidFill>
                  <a:srgbClr val="065A82"/>
                </a:solidFill>
                <a:latin typeface="Arial"/>
              </a:rPr>
              <a:t>Recap · 5 вендор-вопросов · bridge к Лекции 12</a:t>
            </a:r>
          </a:p>
          <a:p>
            <a:pPr algn="l">
              <a:lnSpc>
                <a:spcPct val="115000"/>
              </a:lnSpc>
            </a:pPr>
            <a:r>
              <a:rPr sz="800" b="0" i="0">
                <a:solidFill>
                  <a:srgbClr val="21295C"/>
                </a:solidFill>
                <a:latin typeface="Arial"/>
              </a:rPr>
              <a:t/>
            </a:r>
          </a:p>
          <a:p>
            <a:pPr algn="l">
              <a:lnSpc>
                <a:spcPct val="115000"/>
              </a:lnSpc>
            </a:pPr>
            <a:r>
              <a:rPr sz="1300" b="0" i="1">
                <a:solidFill>
                  <a:srgbClr val="F0AB00"/>
                </a:solidFill>
                <a:latin typeface="Arial"/>
              </a:rPr>
              <a:t>Раздел 5 · 6 мин · 3 слайда</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600" b="1" i="0">
                <a:solidFill>
                  <a:srgbClr val="21295C"/>
                </a:solidFill>
                <a:latin typeface="Arial"/>
              </a:rPr>
              <a:t>Recap двухколонной схемы + failure-callback</a:t>
            </a:r>
          </a:p>
        </p:txBody>
      </p:sp>
      <p:sp>
        <p:nvSpPr>
          <p:cNvPr id="3" name="TextBox 2"/>
          <p:cNvSpPr txBox="1"/>
          <p:nvPr/>
        </p:nvSpPr>
        <p:spPr>
          <a:xfrm>
            <a:off x="457200" y="1005840"/>
            <a:ext cx="11274552" cy="365760"/>
          </a:xfrm>
          <a:prstGeom prst="rect">
            <a:avLst/>
          </a:prstGeom>
          <a:noFill/>
        </p:spPr>
        <p:txBody>
          <a:bodyPr wrap="square" lIns="0" rIns="0" tIns="0" bIns="0" anchor="t">
            <a:spAutoFit/>
          </a:bodyPr>
          <a:lstStyle/>
          <a:p>
            <a:pPr algn="l">
              <a:lnSpc>
                <a:spcPct val="115000"/>
              </a:lnSpc>
            </a:pPr>
            <a:r>
              <a:rPr sz="1400" b="0" i="1">
                <a:solidFill>
                  <a:srgbClr val="1C7293"/>
                </a:solidFill>
                <a:latin typeface="Arial"/>
              </a:rPr>
              <a:t>Что мы разобрали — discrete | process | universal</a:t>
            </a:r>
          </a:p>
        </p:txBody>
      </p:sp>
      <p:sp>
        <p:nvSpPr>
          <p:cNvPr id="4" name="Rounded Rectangle 3"/>
          <p:cNvSpPr/>
          <p:nvPr/>
        </p:nvSpPr>
        <p:spPr>
          <a:xfrm>
            <a:off x="457200" y="1508760"/>
            <a:ext cx="5486400" cy="3108960"/>
          </a:xfrm>
          <a:prstGeom prst="roundRect">
            <a:avLst>
              <a:gd name="adj" fmla="val 10000"/>
            </a:avLst>
          </a:prstGeom>
          <a:solidFill>
            <a:srgbClr val="F4F7FA"/>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508760"/>
            <a:ext cx="5486400" cy="4572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554480"/>
            <a:ext cx="5486400" cy="365760"/>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ДИСКРЕТНОЕ</a:t>
            </a:r>
          </a:p>
        </p:txBody>
      </p:sp>
      <p:sp>
        <p:nvSpPr>
          <p:cNvPr id="7" name="TextBox 6"/>
          <p:cNvSpPr txBox="1"/>
          <p:nvPr/>
        </p:nvSpPr>
        <p:spPr>
          <a:xfrm>
            <a:off x="640080" y="2057400"/>
            <a:ext cx="5120640" cy="2560320"/>
          </a:xfrm>
          <a:prstGeom prst="rect">
            <a:avLst/>
          </a:prstGeom>
          <a:noFill/>
        </p:spPr>
        <p:txBody>
          <a:bodyPr wrap="square" lIns="0" rIns="0" tIns="0" bIns="0" anchor="t">
            <a:spAutoFit/>
          </a:bodyPr>
          <a:lstStyle/>
          <a:p>
            <a:pPr algn="l">
              <a:lnSpc>
                <a:spcPct val="130000"/>
              </a:lnSpc>
            </a:pPr>
            <a:r>
              <a:rPr sz="1200" b="1" i="0">
                <a:solidFill>
                  <a:srgbClr val="065A82"/>
                </a:solidFill>
                <a:latin typeface="Arial"/>
              </a:rPr>
              <a:t>Инструменты:</a:t>
            </a:r>
          </a:p>
          <a:p>
            <a:pPr algn="l">
              <a:lnSpc>
                <a:spcPct val="130000"/>
              </a:lnSpc>
            </a:pPr>
            <a:r>
              <a:rPr sz="1100" b="0" i="0">
                <a:solidFill>
                  <a:srgbClr val="21295C"/>
                </a:solidFill>
                <a:latin typeface="Arial"/>
              </a:rPr>
              <a:t>CV (BMW + TSMC + Boeing) · разметка · PdM · коботы</a:t>
            </a:r>
          </a:p>
          <a:p>
            <a:pPr algn="l">
              <a:lnSpc>
                <a:spcPct val="130000"/>
              </a:lnSpc>
            </a:pPr>
            <a:r>
              <a:rPr sz="600" b="0" i="0">
                <a:solidFill>
                  <a:srgbClr val="21295C"/>
                </a:solidFill>
                <a:latin typeface="Arial"/>
              </a:rPr>
              <a:t/>
            </a:r>
          </a:p>
          <a:p>
            <a:pPr algn="l">
              <a:lnSpc>
                <a:spcPct val="130000"/>
              </a:lnSpc>
            </a:pPr>
            <a:r>
              <a:rPr sz="1200" b="1" i="0">
                <a:solidFill>
                  <a:srgbClr val="F0AB00"/>
                </a:solidFill>
                <a:latin typeface="Arial"/>
              </a:rPr>
              <a:t>Failure-урок:</a:t>
            </a:r>
          </a:p>
          <a:p>
            <a:pPr algn="l">
              <a:lnSpc>
                <a:spcPct val="130000"/>
              </a:lnSpc>
            </a:pPr>
            <a:r>
              <a:rPr sz="1100" b="0" i="0">
                <a:solidFill>
                  <a:srgbClr val="21295C"/>
                </a:solidFill>
                <a:latin typeface="Arial"/>
              </a:rPr>
              <a:t>чрезмерная автоматизация (Tesla 2018)</a:t>
            </a:r>
          </a:p>
          <a:p>
            <a:pPr algn="l">
              <a:lnSpc>
                <a:spcPct val="130000"/>
              </a:lnSpc>
            </a:pPr>
            <a:r>
              <a:rPr sz="1100" b="0" i="0">
                <a:solidFill>
                  <a:srgbClr val="21295C"/>
                </a:solidFill>
                <a:latin typeface="Arial"/>
              </a:rPr>
              <a:t>сдвиг распределения · scarce labels</a:t>
            </a:r>
          </a:p>
          <a:p>
            <a:pPr algn="l">
              <a:lnSpc>
                <a:spcPct val="130000"/>
              </a:lnSpc>
            </a:pPr>
            <a:r>
              <a:rPr sz="1100" b="0" i="0">
                <a:solidFill>
                  <a:srgbClr val="21295C"/>
                </a:solidFill>
                <a:latin typeface="Arial"/>
              </a:rPr>
              <a:t>vendor self-claim</a:t>
            </a:r>
          </a:p>
        </p:txBody>
      </p:sp>
      <p:sp>
        <p:nvSpPr>
          <p:cNvPr id="8" name="Rounded Rectangle 7"/>
          <p:cNvSpPr/>
          <p:nvPr/>
        </p:nvSpPr>
        <p:spPr>
          <a:xfrm>
            <a:off x="6245352" y="1508760"/>
            <a:ext cx="5486400" cy="3108960"/>
          </a:xfrm>
          <a:prstGeom prst="roundRect">
            <a:avLst>
              <a:gd name="adj" fmla="val 10000"/>
            </a:avLst>
          </a:prstGeom>
          <a:solidFill>
            <a:srgbClr val="F4F7FA"/>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45352" y="1508760"/>
            <a:ext cx="5486400" cy="45720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45352" y="1554480"/>
            <a:ext cx="5486400" cy="365760"/>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ПРОЦЕССНОЕ</a:t>
            </a:r>
          </a:p>
        </p:txBody>
      </p:sp>
      <p:sp>
        <p:nvSpPr>
          <p:cNvPr id="11" name="TextBox 10"/>
          <p:cNvSpPr txBox="1"/>
          <p:nvPr/>
        </p:nvSpPr>
        <p:spPr>
          <a:xfrm>
            <a:off x="6428232" y="2057400"/>
            <a:ext cx="5120640" cy="2560320"/>
          </a:xfrm>
          <a:prstGeom prst="rect">
            <a:avLst/>
          </a:prstGeom>
          <a:noFill/>
        </p:spPr>
        <p:txBody>
          <a:bodyPr wrap="square" lIns="0" rIns="0" tIns="0" bIns="0" anchor="t">
            <a:spAutoFit/>
          </a:bodyPr>
          <a:lstStyle/>
          <a:p>
            <a:pPr algn="l">
              <a:lnSpc>
                <a:spcPct val="130000"/>
              </a:lnSpc>
            </a:pPr>
            <a:r>
              <a:rPr sz="1200" b="1" i="0">
                <a:solidFill>
                  <a:srgbClr val="028090"/>
                </a:solidFill>
                <a:latin typeface="Arial"/>
              </a:rPr>
              <a:t>Инструменты:</a:t>
            </a:r>
          </a:p>
          <a:p>
            <a:pPr algn="l">
              <a:lnSpc>
                <a:spcPct val="130000"/>
              </a:lnSpc>
            </a:pPr>
            <a:r>
              <a:rPr sz="1100" b="0" i="0">
                <a:solidFill>
                  <a:srgbClr val="21295C"/>
                </a:solidFill>
                <a:latin typeface="Arial"/>
              </a:rPr>
              <a:t>мягкие сенсоры · MPC/RL/CIRL · PdM на edge · регуляторика</a:t>
            </a:r>
          </a:p>
          <a:p>
            <a:pPr algn="l">
              <a:lnSpc>
                <a:spcPct val="130000"/>
              </a:lnSpc>
            </a:pPr>
            <a:r>
              <a:rPr sz="600" b="0" i="0">
                <a:solidFill>
                  <a:srgbClr val="21295C"/>
                </a:solidFill>
                <a:latin typeface="Arial"/>
              </a:rPr>
              <a:t/>
            </a:r>
          </a:p>
          <a:p>
            <a:pPr algn="l">
              <a:lnSpc>
                <a:spcPct val="130000"/>
              </a:lnSpc>
            </a:pPr>
            <a:r>
              <a:rPr sz="1200" b="1" i="0">
                <a:solidFill>
                  <a:srgbClr val="F0AB00"/>
                </a:solidFill>
                <a:latin typeface="Arial"/>
              </a:rPr>
              <a:t>Failure-урок:</a:t>
            </a:r>
          </a:p>
          <a:p>
            <a:pPr algn="l">
              <a:lnSpc>
                <a:spcPct val="130000"/>
              </a:lnSpc>
            </a:pPr>
            <a:r>
              <a:rPr sz="1100" b="0" i="0">
                <a:solidFill>
                  <a:srgbClr val="21295C"/>
                </a:solidFill>
                <a:latin typeface="Arial"/>
              </a:rPr>
              <a:t>RL drift · regulatory blocker</a:t>
            </a:r>
          </a:p>
          <a:p>
            <a:pPr algn="l">
              <a:lnSpc>
                <a:spcPct val="130000"/>
              </a:lnSpc>
            </a:pPr>
            <a:r>
              <a:rPr sz="1100" b="0" i="0">
                <a:solidFill>
                  <a:srgbClr val="21295C"/>
                </a:solidFill>
                <a:latin typeface="Arial"/>
              </a:rPr>
              <a:t>OT-IT раскол · vendor PR</a:t>
            </a:r>
          </a:p>
        </p:txBody>
      </p:sp>
      <p:sp>
        <p:nvSpPr>
          <p:cNvPr id="12" name="Rounded Rectangle 11"/>
          <p:cNvSpPr/>
          <p:nvPr/>
        </p:nvSpPr>
        <p:spPr>
          <a:xfrm>
            <a:off x="457200" y="4709160"/>
            <a:ext cx="11274552" cy="73152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754880"/>
            <a:ext cx="10972800" cy="320040"/>
          </a:xfrm>
          <a:prstGeom prst="rect">
            <a:avLst/>
          </a:prstGeom>
          <a:noFill/>
        </p:spPr>
        <p:txBody>
          <a:bodyPr wrap="square" lIns="0" rIns="0" tIns="0" bIns="0" anchor="t">
            <a:spAutoFit/>
          </a:bodyPr>
          <a:lstStyle/>
          <a:p>
            <a:pPr algn="ctr">
              <a:lnSpc>
                <a:spcPct val="115000"/>
              </a:lnSpc>
            </a:pPr>
            <a:r>
              <a:rPr sz="1200" b="1" i="0">
                <a:solidFill>
                  <a:srgbClr val="F0AB00"/>
                </a:solidFill>
                <a:latin typeface="Arial"/>
              </a:rPr>
              <a:t>ОБЩИЙ СЛОЙ</a:t>
            </a:r>
          </a:p>
        </p:txBody>
      </p:sp>
      <p:sp>
        <p:nvSpPr>
          <p:cNvPr id="14" name="TextBox 13"/>
          <p:cNvSpPr txBox="1"/>
          <p:nvPr/>
        </p:nvSpPr>
        <p:spPr>
          <a:xfrm>
            <a:off x="640080" y="5074920"/>
            <a:ext cx="10972800" cy="320040"/>
          </a:xfrm>
          <a:prstGeom prst="rect">
            <a:avLst/>
          </a:prstGeom>
          <a:noFill/>
        </p:spPr>
        <p:txBody>
          <a:bodyPr wrap="square" lIns="0" rIns="0" tIns="0" bIns="0" anchor="t">
            <a:spAutoFit/>
          </a:bodyPr>
          <a:lstStyle/>
          <a:p>
            <a:pPr algn="ctr">
              <a:lnSpc>
                <a:spcPct val="115000"/>
              </a:lnSpc>
            </a:pPr>
            <a:r>
              <a:rPr sz="1100" b="0" i="1">
                <a:solidFill>
                  <a:srgbClr val="21295C"/>
                </a:solidFill>
                <a:latin typeface="Arial"/>
              </a:rPr>
              <a:t>Foundation models = augmentation, не controller · 95% не доходят до production · 4 категории + 5-step framework + 4 вопроса</a:t>
            </a:r>
          </a:p>
        </p:txBody>
      </p:sp>
      <p:sp>
        <p:nvSpPr>
          <p:cNvPr id="15" name="Rounded Rectangle 14"/>
          <p:cNvSpPr/>
          <p:nvPr/>
        </p:nvSpPr>
        <p:spPr>
          <a:xfrm>
            <a:off x="457200" y="5532120"/>
            <a:ext cx="11274552" cy="868680"/>
          </a:xfrm>
          <a:prstGeom prst="roundRect">
            <a:avLst>
              <a:gd name="adj" fmla="val 10000"/>
            </a:avLst>
          </a:prstGeom>
          <a:solidFill>
            <a:srgbClr val="21295C"/>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5623560"/>
            <a:ext cx="10972800" cy="777240"/>
          </a:xfrm>
          <a:prstGeom prst="rect">
            <a:avLst/>
          </a:prstGeom>
          <a:noFill/>
        </p:spPr>
        <p:txBody>
          <a:bodyPr wrap="square" lIns="0" rIns="0" tIns="0" bIns="0" anchor="t">
            <a:spAutoFit/>
          </a:bodyPr>
          <a:lstStyle/>
          <a:p>
            <a:pPr algn="l">
              <a:lnSpc>
                <a:spcPct val="130000"/>
              </a:lnSpc>
            </a:pPr>
            <a:r>
              <a:rPr sz="1200" b="1" i="0">
                <a:solidFill>
                  <a:srgbClr val="F0AB00"/>
                </a:solidFill>
                <a:latin typeface="Arial"/>
              </a:rPr>
              <a:t>FAILURE-CALLBACK (формула):</a:t>
            </a:r>
          </a:p>
          <a:p>
            <a:pPr algn="l">
              <a:lnSpc>
                <a:spcPct val="130000"/>
              </a:lnSpc>
            </a:pPr>
            <a:r>
              <a:rPr sz="1300" b="1" i="1">
                <a:solidFill>
                  <a:srgbClr val="FFFFFF"/>
                </a:solidFill>
                <a:latin typeface="Arial"/>
              </a:rPr>
              <a:t>«Завтра вендор обещает –70% downtime — задайте 3 вопроса + 4-й OEE. Если расплывчатые ответы — это demo, не production.»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640080"/>
          </a:xfrm>
          <a:prstGeom prst="rect">
            <a:avLst/>
          </a:prstGeom>
          <a:noFill/>
        </p:spPr>
        <p:txBody>
          <a:bodyPr wrap="square" lIns="0" rIns="0" tIns="0" bIns="0" anchor="t">
            <a:spAutoFit/>
          </a:bodyPr>
          <a:lstStyle/>
          <a:p>
            <a:pPr algn="l">
              <a:lnSpc>
                <a:spcPct val="115000"/>
              </a:lnSpc>
            </a:pPr>
            <a:r>
              <a:rPr sz="2800" b="1" i="0">
                <a:solidFill>
                  <a:srgbClr val="21295C"/>
                </a:solidFill>
                <a:latin typeface="Arial"/>
              </a:rPr>
              <a:t>Пять вопросов к вендору — для кармана</a:t>
            </a:r>
          </a:p>
        </p:txBody>
      </p:sp>
      <p:sp>
        <p:nvSpPr>
          <p:cNvPr id="3" name="TextBox 2"/>
          <p:cNvSpPr txBox="1"/>
          <p:nvPr/>
        </p:nvSpPr>
        <p:spPr>
          <a:xfrm>
            <a:off x="457200" y="1051560"/>
            <a:ext cx="11274552" cy="365760"/>
          </a:xfrm>
          <a:prstGeom prst="rect">
            <a:avLst/>
          </a:prstGeom>
          <a:noFill/>
        </p:spPr>
        <p:txBody>
          <a:bodyPr wrap="square" lIns="0" rIns="0" tIns="0" bIns="0" anchor="t">
            <a:spAutoFit/>
          </a:bodyPr>
          <a:lstStyle/>
          <a:p>
            <a:pPr algn="l">
              <a:lnSpc>
                <a:spcPct val="115000"/>
              </a:lnSpc>
            </a:pPr>
            <a:r>
              <a:rPr sz="1400" b="0" i="1">
                <a:solidFill>
                  <a:srgbClr val="1C7293"/>
                </a:solidFill>
                <a:latin typeface="Arial"/>
              </a:rPr>
              <a:t>Запишите на стикер, наклейте на монитор · работает на любом vendor pitch</a:t>
            </a:r>
          </a:p>
        </p:txBody>
      </p:sp>
      <p:sp>
        <p:nvSpPr>
          <p:cNvPr id="4" name="Rounded Rectangle 3"/>
          <p:cNvSpPr/>
          <p:nvPr/>
        </p:nvSpPr>
        <p:spPr>
          <a:xfrm>
            <a:off x="457200" y="1554480"/>
            <a:ext cx="2212848" cy="246888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97864" y="1737360"/>
            <a:ext cx="731520" cy="73152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737360"/>
            <a:ext cx="2212848" cy="731520"/>
          </a:xfrm>
          <a:prstGeom prst="rect">
            <a:avLst/>
          </a:prstGeom>
          <a:noFill/>
        </p:spPr>
        <p:txBody>
          <a:bodyPr wrap="square" lIns="0" rIns="0" tIns="0" bIns="0" anchor="ctr">
            <a:spAutoFit/>
          </a:bodyPr>
          <a:lstStyle/>
          <a:p>
            <a:pPr algn="ctr">
              <a:lnSpc>
                <a:spcPct val="115000"/>
              </a:lnSpc>
            </a:pPr>
            <a:r>
              <a:rPr sz="2800" b="1" i="0">
                <a:solidFill>
                  <a:srgbClr val="FFFFFF"/>
                </a:solidFill>
                <a:latin typeface="Arial"/>
              </a:rPr>
              <a:t>1</a:t>
            </a:r>
          </a:p>
        </p:txBody>
      </p:sp>
      <p:sp>
        <p:nvSpPr>
          <p:cNvPr id="7" name="TextBox 6"/>
          <p:cNvSpPr txBox="1"/>
          <p:nvPr/>
        </p:nvSpPr>
        <p:spPr>
          <a:xfrm>
            <a:off x="548640" y="2560320"/>
            <a:ext cx="2029967" cy="457200"/>
          </a:xfrm>
          <a:prstGeom prst="rect">
            <a:avLst/>
          </a:prstGeom>
          <a:noFill/>
        </p:spPr>
        <p:txBody>
          <a:bodyPr wrap="square" lIns="0" rIns="0" tIns="0" bIns="0" anchor="t">
            <a:spAutoFit/>
          </a:bodyPr>
          <a:lstStyle/>
          <a:p>
            <a:pPr algn="ctr">
              <a:lnSpc>
                <a:spcPct val="115000"/>
              </a:lnSpc>
            </a:pPr>
            <a:r>
              <a:rPr sz="1200" b="1" i="0">
                <a:solidFill>
                  <a:srgbClr val="21295C"/>
                </a:solidFill>
                <a:latin typeface="Arial"/>
              </a:rPr>
              <a:t>Baseline до AI</a:t>
            </a:r>
          </a:p>
        </p:txBody>
      </p:sp>
      <p:sp>
        <p:nvSpPr>
          <p:cNvPr id="8" name="TextBox 7"/>
          <p:cNvSpPr txBox="1"/>
          <p:nvPr/>
        </p:nvSpPr>
        <p:spPr>
          <a:xfrm>
            <a:off x="640080" y="3017520"/>
            <a:ext cx="1847088" cy="1005840"/>
          </a:xfrm>
          <a:prstGeom prst="rect">
            <a:avLst/>
          </a:prstGeom>
          <a:noFill/>
        </p:spPr>
        <p:txBody>
          <a:bodyPr wrap="square" lIns="0" rIns="0" tIns="0" bIns="0" anchor="t">
            <a:spAutoFit/>
          </a:bodyPr>
          <a:lstStyle/>
          <a:p>
            <a:pPr algn="ctr">
              <a:lnSpc>
                <a:spcPct val="130000"/>
              </a:lnSpc>
            </a:pPr>
            <a:r>
              <a:rPr sz="1000" b="0" i="0">
                <a:solidFill>
                  <a:srgbClr val="4A556B"/>
                </a:solidFill>
                <a:latin typeface="Arial"/>
              </a:rPr>
              <a:t>На какой объём работы / времени / стоимости сравниваете?</a:t>
            </a:r>
          </a:p>
        </p:txBody>
      </p:sp>
      <p:sp>
        <p:nvSpPr>
          <p:cNvPr id="9" name="Rounded Rectangle 8"/>
          <p:cNvSpPr/>
          <p:nvPr/>
        </p:nvSpPr>
        <p:spPr>
          <a:xfrm>
            <a:off x="2715768" y="1554480"/>
            <a:ext cx="2212848" cy="246888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456432" y="1737360"/>
            <a:ext cx="731520" cy="73152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15768" y="1737360"/>
            <a:ext cx="2212848" cy="731520"/>
          </a:xfrm>
          <a:prstGeom prst="rect">
            <a:avLst/>
          </a:prstGeom>
          <a:noFill/>
        </p:spPr>
        <p:txBody>
          <a:bodyPr wrap="square" lIns="0" rIns="0" tIns="0" bIns="0" anchor="ctr">
            <a:spAutoFit/>
          </a:bodyPr>
          <a:lstStyle/>
          <a:p>
            <a:pPr algn="ctr">
              <a:lnSpc>
                <a:spcPct val="115000"/>
              </a:lnSpc>
            </a:pPr>
            <a:r>
              <a:rPr sz="2800" b="1" i="0">
                <a:solidFill>
                  <a:srgbClr val="FFFFFF"/>
                </a:solidFill>
                <a:latin typeface="Arial"/>
              </a:rPr>
              <a:t>2</a:t>
            </a:r>
          </a:p>
        </p:txBody>
      </p:sp>
      <p:sp>
        <p:nvSpPr>
          <p:cNvPr id="12" name="TextBox 11"/>
          <p:cNvSpPr txBox="1"/>
          <p:nvPr/>
        </p:nvSpPr>
        <p:spPr>
          <a:xfrm>
            <a:off x="2807208" y="2560320"/>
            <a:ext cx="2029967" cy="457200"/>
          </a:xfrm>
          <a:prstGeom prst="rect">
            <a:avLst/>
          </a:prstGeom>
          <a:noFill/>
        </p:spPr>
        <p:txBody>
          <a:bodyPr wrap="square" lIns="0" rIns="0" tIns="0" bIns="0" anchor="t">
            <a:spAutoFit/>
          </a:bodyPr>
          <a:lstStyle/>
          <a:p>
            <a:pPr algn="ctr">
              <a:lnSpc>
                <a:spcPct val="115000"/>
              </a:lnSpc>
            </a:pPr>
            <a:r>
              <a:rPr sz="1200" b="1" i="0">
                <a:solidFill>
                  <a:srgbClr val="21295C"/>
                </a:solidFill>
                <a:latin typeface="Arial"/>
              </a:rPr>
              <a:t>Окно измерения</a:t>
            </a:r>
          </a:p>
        </p:txBody>
      </p:sp>
      <p:sp>
        <p:nvSpPr>
          <p:cNvPr id="13" name="TextBox 12"/>
          <p:cNvSpPr txBox="1"/>
          <p:nvPr/>
        </p:nvSpPr>
        <p:spPr>
          <a:xfrm>
            <a:off x="2898648" y="3017520"/>
            <a:ext cx="1847088" cy="1005840"/>
          </a:xfrm>
          <a:prstGeom prst="rect">
            <a:avLst/>
          </a:prstGeom>
          <a:noFill/>
        </p:spPr>
        <p:txBody>
          <a:bodyPr wrap="square" lIns="0" rIns="0" tIns="0" bIns="0" anchor="t">
            <a:spAutoFit/>
          </a:bodyPr>
          <a:lstStyle/>
          <a:p>
            <a:pPr algn="ctr">
              <a:lnSpc>
                <a:spcPct val="130000"/>
              </a:lnSpc>
            </a:pPr>
            <a:r>
              <a:rPr sz="1000" b="0" i="0">
                <a:solidFill>
                  <a:srgbClr val="4A556B"/>
                </a:solidFill>
                <a:latin typeface="Arial"/>
              </a:rPr>
              <a:t>За какой период оценка — день, неделя, месяц?</a:t>
            </a:r>
          </a:p>
        </p:txBody>
      </p:sp>
      <p:sp>
        <p:nvSpPr>
          <p:cNvPr id="14" name="Rounded Rectangle 13"/>
          <p:cNvSpPr/>
          <p:nvPr/>
        </p:nvSpPr>
        <p:spPr>
          <a:xfrm>
            <a:off x="4974336" y="1554480"/>
            <a:ext cx="2212848" cy="246888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714999" y="1737360"/>
            <a:ext cx="731520" cy="73152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974336" y="1737360"/>
            <a:ext cx="2212848" cy="731520"/>
          </a:xfrm>
          <a:prstGeom prst="rect">
            <a:avLst/>
          </a:prstGeom>
          <a:noFill/>
        </p:spPr>
        <p:txBody>
          <a:bodyPr wrap="square" lIns="0" rIns="0" tIns="0" bIns="0" anchor="ctr">
            <a:spAutoFit/>
          </a:bodyPr>
          <a:lstStyle/>
          <a:p>
            <a:pPr algn="ctr">
              <a:lnSpc>
                <a:spcPct val="115000"/>
              </a:lnSpc>
            </a:pPr>
            <a:r>
              <a:rPr sz="2800" b="1" i="0">
                <a:solidFill>
                  <a:srgbClr val="FFFFFF"/>
                </a:solidFill>
                <a:latin typeface="Arial"/>
              </a:rPr>
              <a:t>3</a:t>
            </a:r>
          </a:p>
        </p:txBody>
      </p:sp>
      <p:sp>
        <p:nvSpPr>
          <p:cNvPr id="17" name="TextBox 16"/>
          <p:cNvSpPr txBox="1"/>
          <p:nvPr/>
        </p:nvSpPr>
        <p:spPr>
          <a:xfrm>
            <a:off x="5065775" y="2560320"/>
            <a:ext cx="2029967" cy="457200"/>
          </a:xfrm>
          <a:prstGeom prst="rect">
            <a:avLst/>
          </a:prstGeom>
          <a:noFill/>
        </p:spPr>
        <p:txBody>
          <a:bodyPr wrap="square" lIns="0" rIns="0" tIns="0" bIns="0" anchor="t">
            <a:spAutoFit/>
          </a:bodyPr>
          <a:lstStyle/>
          <a:p>
            <a:pPr algn="ctr">
              <a:lnSpc>
                <a:spcPct val="115000"/>
              </a:lnSpc>
            </a:pPr>
            <a:r>
              <a:rPr sz="1200" b="1" i="0">
                <a:solidFill>
                  <a:srgbClr val="21295C"/>
                </a:solidFill>
                <a:latin typeface="Arial"/>
              </a:rPr>
              <a:t>Перечень вмешательств</a:t>
            </a:r>
          </a:p>
        </p:txBody>
      </p:sp>
      <p:sp>
        <p:nvSpPr>
          <p:cNvPr id="18" name="TextBox 17"/>
          <p:cNvSpPr txBox="1"/>
          <p:nvPr/>
        </p:nvSpPr>
        <p:spPr>
          <a:xfrm>
            <a:off x="5157216" y="3017520"/>
            <a:ext cx="1847088" cy="1005840"/>
          </a:xfrm>
          <a:prstGeom prst="rect">
            <a:avLst/>
          </a:prstGeom>
          <a:noFill/>
        </p:spPr>
        <p:txBody>
          <a:bodyPr wrap="square" lIns="0" rIns="0" tIns="0" bIns="0" anchor="t">
            <a:spAutoFit/>
          </a:bodyPr>
          <a:lstStyle/>
          <a:p>
            <a:pPr algn="ctr">
              <a:lnSpc>
                <a:spcPct val="130000"/>
              </a:lnSpc>
            </a:pPr>
            <a:r>
              <a:rPr sz="1000" b="0" i="0">
                <a:solidFill>
                  <a:srgbClr val="4A556B"/>
                </a:solidFill>
                <a:latin typeface="Arial"/>
              </a:rPr>
              <a:t>Какие AI-инструменты учтены? Что реально автоматизировано?</a:t>
            </a:r>
          </a:p>
        </p:txBody>
      </p:sp>
      <p:sp>
        <p:nvSpPr>
          <p:cNvPr id="19" name="Rounded Rectangle 18"/>
          <p:cNvSpPr/>
          <p:nvPr/>
        </p:nvSpPr>
        <p:spPr>
          <a:xfrm>
            <a:off x="7232903" y="1554480"/>
            <a:ext cx="2212848" cy="246888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973567" y="1737360"/>
            <a:ext cx="731520" cy="73152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32903" y="1737360"/>
            <a:ext cx="2212848" cy="731520"/>
          </a:xfrm>
          <a:prstGeom prst="rect">
            <a:avLst/>
          </a:prstGeom>
          <a:noFill/>
        </p:spPr>
        <p:txBody>
          <a:bodyPr wrap="square" lIns="0" rIns="0" tIns="0" bIns="0" anchor="ctr">
            <a:spAutoFit/>
          </a:bodyPr>
          <a:lstStyle/>
          <a:p>
            <a:pPr algn="ctr">
              <a:lnSpc>
                <a:spcPct val="115000"/>
              </a:lnSpc>
            </a:pPr>
            <a:r>
              <a:rPr sz="2800" b="1" i="0">
                <a:solidFill>
                  <a:srgbClr val="FFFFFF"/>
                </a:solidFill>
                <a:latin typeface="Arial"/>
              </a:rPr>
              <a:t>4</a:t>
            </a:r>
          </a:p>
        </p:txBody>
      </p:sp>
      <p:sp>
        <p:nvSpPr>
          <p:cNvPr id="22" name="TextBox 21"/>
          <p:cNvSpPr txBox="1"/>
          <p:nvPr/>
        </p:nvSpPr>
        <p:spPr>
          <a:xfrm>
            <a:off x="7324344" y="2560320"/>
            <a:ext cx="2029967" cy="457200"/>
          </a:xfrm>
          <a:prstGeom prst="rect">
            <a:avLst/>
          </a:prstGeom>
          <a:noFill/>
        </p:spPr>
        <p:txBody>
          <a:bodyPr wrap="square" lIns="0" rIns="0" tIns="0" bIns="0" anchor="t">
            <a:spAutoFit/>
          </a:bodyPr>
          <a:lstStyle/>
          <a:p>
            <a:pPr algn="ctr">
              <a:lnSpc>
                <a:spcPct val="115000"/>
              </a:lnSpc>
            </a:pPr>
            <a:r>
              <a:rPr sz="1200" b="1" i="0">
                <a:solidFill>
                  <a:srgbClr val="21295C"/>
                </a:solidFill>
                <a:latin typeface="Arial"/>
              </a:rPr>
              <a:t>OEE-канал</a:t>
            </a:r>
          </a:p>
        </p:txBody>
      </p:sp>
      <p:sp>
        <p:nvSpPr>
          <p:cNvPr id="23" name="TextBox 22"/>
          <p:cNvSpPr txBox="1"/>
          <p:nvPr/>
        </p:nvSpPr>
        <p:spPr>
          <a:xfrm>
            <a:off x="7415783" y="3017520"/>
            <a:ext cx="1847088" cy="1005840"/>
          </a:xfrm>
          <a:prstGeom prst="rect">
            <a:avLst/>
          </a:prstGeom>
          <a:noFill/>
        </p:spPr>
        <p:txBody>
          <a:bodyPr wrap="square" lIns="0" rIns="0" tIns="0" bIns="0" anchor="t">
            <a:spAutoFit/>
          </a:bodyPr>
          <a:lstStyle/>
          <a:p>
            <a:pPr algn="ctr">
              <a:lnSpc>
                <a:spcPct val="130000"/>
              </a:lnSpc>
            </a:pPr>
            <a:r>
              <a:rPr sz="1000" b="0" i="0">
                <a:solidFill>
                  <a:srgbClr val="4A556B"/>
                </a:solidFill>
                <a:latin typeface="Arial"/>
              </a:rPr>
              <a:t>Availability / Performance / Quality — какой компонент?</a:t>
            </a:r>
          </a:p>
        </p:txBody>
      </p:sp>
      <p:sp>
        <p:nvSpPr>
          <p:cNvPr id="24" name="Rounded Rectangle 23"/>
          <p:cNvSpPr/>
          <p:nvPr/>
        </p:nvSpPr>
        <p:spPr>
          <a:xfrm>
            <a:off x="9491472" y="1554480"/>
            <a:ext cx="2212848" cy="246888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232136" y="1737360"/>
            <a:ext cx="731520" cy="73152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491472" y="1737360"/>
            <a:ext cx="2212848" cy="731520"/>
          </a:xfrm>
          <a:prstGeom prst="rect">
            <a:avLst/>
          </a:prstGeom>
          <a:noFill/>
        </p:spPr>
        <p:txBody>
          <a:bodyPr wrap="square" lIns="0" rIns="0" tIns="0" bIns="0" anchor="ctr">
            <a:spAutoFit/>
          </a:bodyPr>
          <a:lstStyle/>
          <a:p>
            <a:pPr algn="ctr">
              <a:lnSpc>
                <a:spcPct val="115000"/>
              </a:lnSpc>
            </a:pPr>
            <a:r>
              <a:rPr sz="2800" b="1" i="0">
                <a:solidFill>
                  <a:srgbClr val="FFFFFF"/>
                </a:solidFill>
                <a:latin typeface="Arial"/>
              </a:rPr>
              <a:t>5</a:t>
            </a:r>
          </a:p>
        </p:txBody>
      </p:sp>
      <p:sp>
        <p:nvSpPr>
          <p:cNvPr id="27" name="TextBox 26"/>
          <p:cNvSpPr txBox="1"/>
          <p:nvPr/>
        </p:nvSpPr>
        <p:spPr>
          <a:xfrm>
            <a:off x="9582911" y="2560320"/>
            <a:ext cx="2029967" cy="457200"/>
          </a:xfrm>
          <a:prstGeom prst="rect">
            <a:avLst/>
          </a:prstGeom>
          <a:noFill/>
        </p:spPr>
        <p:txBody>
          <a:bodyPr wrap="square" lIns="0" rIns="0" tIns="0" bIns="0" anchor="t">
            <a:spAutoFit/>
          </a:bodyPr>
          <a:lstStyle/>
          <a:p>
            <a:pPr algn="ctr">
              <a:lnSpc>
                <a:spcPct val="115000"/>
              </a:lnSpc>
            </a:pPr>
            <a:r>
              <a:rPr sz="1200" b="1" i="0">
                <a:solidFill>
                  <a:srgbClr val="21295C"/>
                </a:solidFill>
                <a:latin typeface="Arial"/>
              </a:rPr>
              <a:t>Архитектурный класс</a:t>
            </a:r>
          </a:p>
        </p:txBody>
      </p:sp>
      <p:sp>
        <p:nvSpPr>
          <p:cNvPr id="28" name="TextBox 27"/>
          <p:cNvSpPr txBox="1"/>
          <p:nvPr/>
        </p:nvSpPr>
        <p:spPr>
          <a:xfrm>
            <a:off x="9674351" y="3017520"/>
            <a:ext cx="1847088" cy="1005840"/>
          </a:xfrm>
          <a:prstGeom prst="rect">
            <a:avLst/>
          </a:prstGeom>
          <a:noFill/>
        </p:spPr>
        <p:txBody>
          <a:bodyPr wrap="square" lIns="0" rIns="0" tIns="0" bIns="0" anchor="t">
            <a:spAutoFit/>
          </a:bodyPr>
          <a:lstStyle/>
          <a:p>
            <a:pPr algn="ctr">
              <a:lnSpc>
                <a:spcPct val="130000"/>
              </a:lnSpc>
            </a:pPr>
            <a:r>
              <a:rPr sz="1000" b="0" i="0">
                <a:solidFill>
                  <a:srgbClr val="4A556B"/>
                </a:solidFill>
                <a:latin typeface="Arial"/>
              </a:rPr>
              <a:t>Chat-помощник для оператора или autonomous controller?</a:t>
            </a:r>
          </a:p>
        </p:txBody>
      </p:sp>
      <p:sp>
        <p:nvSpPr>
          <p:cNvPr id="29" name="TextBox 28"/>
          <p:cNvSpPr txBox="1"/>
          <p:nvPr/>
        </p:nvSpPr>
        <p:spPr>
          <a:xfrm>
            <a:off x="457200" y="4251960"/>
            <a:ext cx="11274552" cy="457200"/>
          </a:xfrm>
          <a:prstGeom prst="rect">
            <a:avLst/>
          </a:prstGeom>
          <a:noFill/>
        </p:spPr>
        <p:txBody>
          <a:bodyPr wrap="square" lIns="0" rIns="0" tIns="0" bIns="0" anchor="t">
            <a:spAutoFit/>
          </a:bodyPr>
          <a:lstStyle/>
          <a:p>
            <a:pPr algn="ctr">
              <a:lnSpc>
                <a:spcPct val="115000"/>
              </a:lnSpc>
            </a:pPr>
            <a:r>
              <a:rPr sz="1800" b="1" i="0">
                <a:solidFill>
                  <a:srgbClr val="065A82"/>
                </a:solidFill>
                <a:latin typeface="Arial"/>
              </a:rPr>
              <a:t>Типичные студенческие вопросы</a:t>
            </a:r>
          </a:p>
        </p:txBody>
      </p:sp>
      <p:sp>
        <p:nvSpPr>
          <p:cNvPr id="30" name="Rounded Rectangle 29"/>
          <p:cNvSpPr/>
          <p:nvPr/>
        </p:nvSpPr>
        <p:spPr>
          <a:xfrm>
            <a:off x="457200" y="4800600"/>
            <a:ext cx="3703320" cy="155448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94360" y="4937760"/>
            <a:ext cx="3429000" cy="640080"/>
          </a:xfrm>
          <a:prstGeom prst="rect">
            <a:avLst/>
          </a:prstGeom>
          <a:noFill/>
        </p:spPr>
        <p:txBody>
          <a:bodyPr wrap="square" lIns="0" rIns="0" tIns="0" bIns="0" anchor="t">
            <a:spAutoFit/>
          </a:bodyPr>
          <a:lstStyle/>
          <a:p>
            <a:pPr algn="l">
              <a:lnSpc>
                <a:spcPct val="130000"/>
              </a:lnSpc>
            </a:pPr>
            <a:r>
              <a:rPr sz="1100" b="1" i="1">
                <a:solidFill>
                  <a:srgbClr val="21295C"/>
                </a:solidFill>
                <a:latin typeface="Arial"/>
              </a:rPr>
              <a:t>Q. «Мне говорят внедрить AI на нашем процессе, но я не уверен»</a:t>
            </a:r>
          </a:p>
        </p:txBody>
      </p:sp>
      <p:sp>
        <p:nvSpPr>
          <p:cNvPr id="32" name="TextBox 31"/>
          <p:cNvSpPr txBox="1"/>
          <p:nvPr/>
        </p:nvSpPr>
        <p:spPr>
          <a:xfrm>
            <a:off x="594360" y="5577840"/>
            <a:ext cx="3429000" cy="731520"/>
          </a:xfrm>
          <a:prstGeom prst="rect">
            <a:avLst/>
          </a:prstGeom>
          <a:noFill/>
        </p:spPr>
        <p:txBody>
          <a:bodyPr wrap="square" lIns="0" rIns="0" tIns="0" bIns="0" anchor="t">
            <a:spAutoFit/>
          </a:bodyPr>
          <a:lstStyle/>
          <a:p>
            <a:pPr algn="l">
              <a:lnSpc>
                <a:spcPct val="130000"/>
              </a:lnSpc>
            </a:pPr>
            <a:r>
              <a:rPr sz="1000" b="0" i="0">
                <a:solidFill>
                  <a:srgbClr val="4A556B"/>
                </a:solidFill>
                <a:latin typeface="Arial"/>
              </a:rPr>
              <a:t>→ Пройдите 5-step framework. Если хотя бы шаг не проходит — отчитайтесь руководству. Не запускайте pilot без go-criteria.</a:t>
            </a:r>
          </a:p>
        </p:txBody>
      </p:sp>
      <p:sp>
        <p:nvSpPr>
          <p:cNvPr id="33" name="Rounded Rectangle 32"/>
          <p:cNvSpPr/>
          <p:nvPr/>
        </p:nvSpPr>
        <p:spPr>
          <a:xfrm>
            <a:off x="4251960" y="4800600"/>
            <a:ext cx="3703320" cy="155448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89120" y="4937760"/>
            <a:ext cx="3429000" cy="640080"/>
          </a:xfrm>
          <a:prstGeom prst="rect">
            <a:avLst/>
          </a:prstGeom>
          <a:noFill/>
        </p:spPr>
        <p:txBody>
          <a:bodyPr wrap="square" lIns="0" rIns="0" tIns="0" bIns="0" anchor="t">
            <a:spAutoFit/>
          </a:bodyPr>
          <a:lstStyle/>
          <a:p>
            <a:pPr algn="l">
              <a:lnSpc>
                <a:spcPct val="130000"/>
              </a:lnSpc>
            </a:pPr>
            <a:r>
              <a:rPr sz="1100" b="1" i="1">
                <a:solidFill>
                  <a:srgbClr val="21295C"/>
                </a:solidFill>
                <a:latin typeface="Arial"/>
              </a:rPr>
              <a:t>Q. «SPC vs ML — что выбрать?»</a:t>
            </a:r>
          </a:p>
        </p:txBody>
      </p:sp>
      <p:sp>
        <p:nvSpPr>
          <p:cNvPr id="35" name="TextBox 34"/>
          <p:cNvSpPr txBox="1"/>
          <p:nvPr/>
        </p:nvSpPr>
        <p:spPr>
          <a:xfrm>
            <a:off x="4389120" y="5577840"/>
            <a:ext cx="3429000" cy="731520"/>
          </a:xfrm>
          <a:prstGeom prst="rect">
            <a:avLst/>
          </a:prstGeom>
          <a:noFill/>
        </p:spPr>
        <p:txBody>
          <a:bodyPr wrap="square" lIns="0" rIns="0" tIns="0" bIns="0" anchor="t">
            <a:spAutoFit/>
          </a:bodyPr>
          <a:lstStyle/>
          <a:p>
            <a:pPr algn="l">
              <a:lnSpc>
                <a:spcPct val="130000"/>
              </a:lnSpc>
            </a:pPr>
            <a:r>
              <a:rPr sz="1000" b="0" i="0">
                <a:solidFill>
                  <a:srgbClr val="4A556B"/>
                </a:solidFill>
                <a:latin typeface="Arial"/>
              </a:rPr>
              <a:t>→ FDA + univariate → SPC. Multi-variate + recommend mode + audit trail → ML. Hybrid: SPC + ML over residuals — defensible перед регулятором.</a:t>
            </a:r>
          </a:p>
        </p:txBody>
      </p:sp>
      <p:sp>
        <p:nvSpPr>
          <p:cNvPr id="36" name="Rounded Rectangle 35"/>
          <p:cNvSpPr/>
          <p:nvPr/>
        </p:nvSpPr>
        <p:spPr>
          <a:xfrm>
            <a:off x="8046720" y="4800600"/>
            <a:ext cx="3703320" cy="1554480"/>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183880" y="4937760"/>
            <a:ext cx="3429000" cy="640080"/>
          </a:xfrm>
          <a:prstGeom prst="rect">
            <a:avLst/>
          </a:prstGeom>
          <a:noFill/>
        </p:spPr>
        <p:txBody>
          <a:bodyPr wrap="square" lIns="0" rIns="0" tIns="0" bIns="0" anchor="t">
            <a:spAutoFit/>
          </a:bodyPr>
          <a:lstStyle/>
          <a:p>
            <a:pPr algn="l">
              <a:lnSpc>
                <a:spcPct val="130000"/>
              </a:lnSpc>
            </a:pPr>
            <a:r>
              <a:rPr sz="1100" b="1" i="1">
                <a:solidFill>
                  <a:srgbClr val="21295C"/>
                </a:solidFill>
                <a:latin typeface="Arial"/>
              </a:rPr>
              <a:t>Q. «RL vs MPC — что лучше?»</a:t>
            </a:r>
          </a:p>
        </p:txBody>
      </p:sp>
      <p:sp>
        <p:nvSpPr>
          <p:cNvPr id="38" name="TextBox 37"/>
          <p:cNvSpPr txBox="1"/>
          <p:nvPr/>
        </p:nvSpPr>
        <p:spPr>
          <a:xfrm>
            <a:off x="8183880" y="5577840"/>
            <a:ext cx="3429000" cy="731520"/>
          </a:xfrm>
          <a:prstGeom prst="rect">
            <a:avLst/>
          </a:prstGeom>
          <a:noFill/>
        </p:spPr>
        <p:txBody>
          <a:bodyPr wrap="square" lIns="0" rIns="0" tIns="0" bIns="0" anchor="t">
            <a:spAutoFit/>
          </a:bodyPr>
          <a:lstStyle/>
          <a:p>
            <a:pPr algn="l">
              <a:lnSpc>
                <a:spcPct val="130000"/>
              </a:lnSpc>
            </a:pPr>
            <a:r>
              <a:rPr sz="1000" b="0" i="0">
                <a:solidFill>
                  <a:srgbClr val="4A556B"/>
                </a:solidFill>
                <a:latin typeface="Arial"/>
              </a:rPr>
              <a:t>→ MPC dominates control loop. RL дополняет MPC на high-level scheduling. Safe-fallback к MPC mandatory.</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s39-bmw-welt.jpg"/>
          <p:cNvPicPr>
            <a:picLocks noChangeAspect="1"/>
          </p:cNvPicPr>
          <p:nvPr/>
        </p:nvPicPr>
        <p:blipFill>
          <a:blip r:embed="rId2"/>
          <a:stretch>
            <a:fillRect/>
          </a:stretch>
        </p:blipFill>
        <p:spPr>
          <a:xfrm>
            <a:off x="457200" y="457200"/>
            <a:ext cx="5943600" cy="4572000"/>
          </a:xfrm>
          <a:prstGeom prst="rect">
            <a:avLst/>
          </a:prstGeom>
        </p:spPr>
      </p:pic>
      <p:sp>
        <p:nvSpPr>
          <p:cNvPr id="3" name="TextBox 2"/>
          <p:cNvSpPr txBox="1"/>
          <p:nvPr/>
        </p:nvSpPr>
        <p:spPr>
          <a:xfrm>
            <a:off x="457200" y="5120640"/>
            <a:ext cx="5943600"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BMW Welt / Group · Wikimedia · BMW Digital Twin · NVIDIA GTC Paris 2025</a:t>
            </a:r>
          </a:p>
        </p:txBody>
      </p:sp>
      <p:sp>
        <p:nvSpPr>
          <p:cNvPr id="4" name="TextBox 3"/>
          <p:cNvSpPr txBox="1"/>
          <p:nvPr/>
        </p:nvSpPr>
        <p:spPr>
          <a:xfrm>
            <a:off x="6675120" y="640080"/>
            <a:ext cx="5212080" cy="4572000"/>
          </a:xfrm>
          <a:prstGeom prst="rect">
            <a:avLst/>
          </a:prstGeom>
          <a:noFill/>
        </p:spPr>
        <p:txBody>
          <a:bodyPr wrap="square" lIns="0" rIns="0" tIns="0" bIns="0" anchor="t">
            <a:spAutoFit/>
          </a:bodyPr>
          <a:lstStyle/>
          <a:p>
            <a:pPr algn="l">
              <a:lnSpc>
                <a:spcPct val="120000"/>
              </a:lnSpc>
            </a:pPr>
            <a:r>
              <a:rPr sz="1400" b="0" i="1">
                <a:solidFill>
                  <a:srgbClr val="F0AB00"/>
                </a:solidFill>
                <a:latin typeface="Arial"/>
              </a:rPr>
              <a:t>Лекция 12 — bridge</a:t>
            </a:r>
          </a:p>
          <a:p>
            <a:pPr algn="l">
              <a:lnSpc>
                <a:spcPct val="120000"/>
              </a:lnSpc>
            </a:pPr>
            <a:r>
              <a:rPr sz="2600" b="1" i="0">
                <a:solidFill>
                  <a:srgbClr val="21295C"/>
                </a:solidFill>
                <a:latin typeface="Arial"/>
              </a:rPr>
              <a:t>Сшивка инструментов в</a:t>
            </a:r>
          </a:p>
          <a:p>
            <a:pPr algn="l">
              <a:lnSpc>
                <a:spcPct val="120000"/>
              </a:lnSpc>
            </a:pPr>
            <a:r>
              <a:rPr sz="2600" b="1" i="0">
                <a:solidFill>
                  <a:srgbClr val="21295C"/>
                </a:solidFill>
                <a:latin typeface="Arial"/>
              </a:rPr>
              <a:t>production-fabric</a:t>
            </a:r>
          </a:p>
          <a:p>
            <a:pPr algn="l">
              <a:lnSpc>
                <a:spcPct val="120000"/>
              </a:lnSpc>
            </a:pPr>
            <a:r>
              <a:rPr sz="1000" b="0" i="0">
                <a:solidFill>
                  <a:srgbClr val="21295C"/>
                </a:solidFill>
                <a:latin typeface="Arial"/>
              </a:rPr>
              <a:t/>
            </a:r>
          </a:p>
          <a:p>
            <a:pPr algn="l">
              <a:lnSpc>
                <a:spcPct val="120000"/>
              </a:lnSpc>
            </a:pPr>
            <a:r>
              <a:rPr sz="1400" b="1" i="0">
                <a:solidFill>
                  <a:srgbClr val="065A82"/>
                </a:solidFill>
                <a:latin typeface="Arial"/>
              </a:rPr>
              <a:t>Сегодня:</a:t>
            </a:r>
          </a:p>
          <a:p>
            <a:pPr algn="l">
              <a:lnSpc>
                <a:spcPct val="120000"/>
              </a:lnSpc>
            </a:pPr>
            <a:r>
              <a:rPr sz="1200" b="0" i="0">
                <a:solidFill>
                  <a:srgbClr val="21295C"/>
                </a:solidFill>
                <a:latin typeface="Arial"/>
              </a:rPr>
              <a:t>CV-инспекция, soft sensors, PdM, foundation models — отдельные инструменты.</a:t>
            </a:r>
          </a:p>
          <a:p>
            <a:pPr algn="l">
              <a:lnSpc>
                <a:spcPct val="120000"/>
              </a:lnSpc>
            </a:pPr>
            <a:r>
              <a:rPr sz="800" b="0" i="0">
                <a:solidFill>
                  <a:srgbClr val="21295C"/>
                </a:solidFill>
                <a:latin typeface="Arial"/>
              </a:rPr>
              <a:t/>
            </a:r>
          </a:p>
          <a:p>
            <a:pPr algn="l">
              <a:lnSpc>
                <a:spcPct val="120000"/>
              </a:lnSpc>
            </a:pPr>
            <a:r>
              <a:rPr sz="1400" b="1" i="0">
                <a:solidFill>
                  <a:srgbClr val="065A82"/>
                </a:solidFill>
                <a:latin typeface="Arial"/>
              </a:rPr>
              <a:t>Лекция 12:</a:t>
            </a:r>
          </a:p>
          <a:p>
            <a:pPr algn="l">
              <a:lnSpc>
                <a:spcPct val="120000"/>
              </a:lnSpc>
            </a:pPr>
            <a:r>
              <a:rPr sz="1200" b="0" i="0">
                <a:solidFill>
                  <a:srgbClr val="21295C"/>
                </a:solidFill>
                <a:latin typeface="Arial"/>
              </a:rPr>
              <a:t>Цифровые двойники как унифицирующая абстракция · AI в автоматизации · ГОСТ Р 57700.37 в РФ.</a:t>
            </a:r>
          </a:p>
          <a:p>
            <a:pPr algn="l">
              <a:lnSpc>
                <a:spcPct val="120000"/>
              </a:lnSpc>
            </a:pPr>
            <a:r>
              <a:rPr sz="800" b="0" i="0">
                <a:solidFill>
                  <a:srgbClr val="21295C"/>
                </a:solidFill>
                <a:latin typeface="Arial"/>
              </a:rPr>
              <a:t/>
            </a:r>
          </a:p>
          <a:p>
            <a:pPr algn="l">
              <a:lnSpc>
                <a:spcPct val="120000"/>
              </a:lnSpc>
            </a:pPr>
            <a:r>
              <a:rPr sz="1400" b="1" i="0">
                <a:solidFill>
                  <a:srgbClr val="065A82"/>
                </a:solidFill>
                <a:latin typeface="Arial"/>
              </a:rPr>
              <a:t>Параллели:</a:t>
            </a:r>
          </a:p>
          <a:p>
            <a:pPr algn="l">
              <a:lnSpc>
                <a:spcPct val="120000"/>
              </a:lnSpc>
            </a:pPr>
            <a:r>
              <a:rPr sz="1200" b="0" i="1">
                <a:solidFill>
                  <a:srgbClr val="4A556B"/>
                </a:solidFill>
                <a:latin typeface="Arial"/>
              </a:rPr>
              <a:t>BMW 30+ plants · Holcim world-first cement DT · Foxconn-NVIDIA Omniverse</a:t>
            </a:r>
          </a:p>
        </p:txBody>
      </p:sp>
      <p:sp>
        <p:nvSpPr>
          <p:cNvPr id="5" name="Rounded Rectangle 4"/>
          <p:cNvSpPr/>
          <p:nvPr/>
        </p:nvSpPr>
        <p:spPr>
          <a:xfrm>
            <a:off x="457200" y="5532120"/>
            <a:ext cx="11274552" cy="914400"/>
          </a:xfrm>
          <a:prstGeom prst="roundRect">
            <a:avLst>
              <a:gd name="adj" fmla="val 10000"/>
            </a:avLst>
          </a:prstGeom>
          <a:solidFill>
            <a:srgbClr val="21295C"/>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623560"/>
            <a:ext cx="10972800" cy="365760"/>
          </a:xfrm>
          <a:prstGeom prst="rect">
            <a:avLst/>
          </a:prstGeom>
          <a:noFill/>
        </p:spPr>
        <p:txBody>
          <a:bodyPr wrap="square" lIns="0" rIns="0" tIns="0" bIns="0" anchor="t">
            <a:spAutoFit/>
          </a:bodyPr>
          <a:lstStyle/>
          <a:p>
            <a:pPr algn="ctr">
              <a:lnSpc>
                <a:spcPct val="115000"/>
              </a:lnSpc>
            </a:pPr>
            <a:r>
              <a:rPr sz="1500" b="1" i="0">
                <a:solidFill>
                  <a:srgbClr val="FFFFFF"/>
                </a:solidFill>
                <a:latin typeface="Arial"/>
              </a:rPr>
              <a:t>Спасибо · Лекция 11 · AI в дискретном и процессном производстве</a:t>
            </a:r>
          </a:p>
        </p:txBody>
      </p:sp>
      <p:sp>
        <p:nvSpPr>
          <p:cNvPr id="7" name="TextBox 6"/>
          <p:cNvSpPr txBox="1"/>
          <p:nvPr/>
        </p:nvSpPr>
        <p:spPr>
          <a:xfrm>
            <a:off x="640080" y="6035040"/>
            <a:ext cx="10972800" cy="320040"/>
          </a:xfrm>
          <a:prstGeom prst="rect">
            <a:avLst/>
          </a:prstGeom>
          <a:noFill/>
        </p:spPr>
        <p:txBody>
          <a:bodyPr wrap="square" lIns="0" rIns="0" tIns="0" bIns="0" anchor="t">
            <a:spAutoFit/>
          </a:bodyPr>
          <a:lstStyle/>
          <a:p>
            <a:pPr algn="ctr">
              <a:lnSpc>
                <a:spcPct val="115000"/>
              </a:lnSpc>
            </a:pPr>
            <a:r>
              <a:rPr sz="1200" b="0" i="1">
                <a:solidFill>
                  <a:srgbClr val="FEF5E0"/>
                </a:solidFill>
                <a:latin typeface="Arial"/>
              </a:rPr>
              <a:t>Запомните 5 вопросов к вендору — это самая практическая вещь сегодня</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