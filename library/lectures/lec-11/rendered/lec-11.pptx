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Молодой Лю, председатель Foxconn, на Computex 2025 в мае заявил: после подключения AI-инструментов к Foxconn workflows, программное обеспечение теперь выполняет примерно 80 процентов работы по настройке оборудования для новой production run.</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Лю. Лю говорит ровно то, что говорят все вендоры. Foxconn просто более прозрачен — публично, на CEO-уровне.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MTBF — Mean Time Between Failures — больше года. Если узел отказывает раз в год, у вас за пять лет 5 failure events. Для обучения PdM-модели этого недостаточно — не хватает данных, чтобы модель научилась распознавать pattern перед отказом. Здесь работает не AI, а RCM — Reliability-Centered Maintenance — расчёт оптимального интервала ТО на основе физики и MTBF. Второй: если физика процесса известна — CFD для гидродинамики, FEA для механики, kinetics для химии — это надёжнее ML, потому что обобщает на новые конфигурации. ML интерполирует на данных обучения. Третий: эталонная разметка дорогая — defect rate меньше 1 процента, разметка дорогая. Альтернативы для категории A: physics-based simulation, DOE для эксплоративных экспериментов, SPC для статистического контроля.</a:t>
            </a:r>
          </a:p>
          <a:p/>
          <a:p>
            <a:r>
              <a:t>Категория B — стоимость. Два критерия. Четвёртый: false positive cost больше чем 10x false negative. Если ложная тревога дороже пропущенного дефекта — значит, мы скорее остановим линию по ошибочной AI-тревоге, чем пропустим дефект. Здесь работает SPC + RCM, которые предсказуемы и калибруются вручную. Пятый: SIL 2/3 safety-critical — это специальные уровни сертификации для контуров с риском для жизни. ML certification на SIL 2/3 — это очень дорого и долго, обычно нерентабельно. Альтернативы для B: SPC, RCM, rules-based.</a:t>
            </a:r>
          </a:p>
          <a:p/>
          <a:p>
            <a:r>
              <a:t>Категория C — регуляторика. Три критерия. Шестой: audit trail обязателен — FDA Part 11, GAMP 5. Black-box ML здесь не проходит, нужен explainable ML, hybrid с rules или on-premise решение. Седьмой: ATEX Zone 0 — постоянное присутствие взрывоопасной смеси. Hardware restriction, non-certified AI запрещён физически. Восьмой: Указ 250 в России — domestic software на КИИ-объектах. SaaS-облака не подходят, нужно on-premise. Альтернативы для C: explainable ML, hybrid, on-premise.</a:t>
            </a:r>
          </a:p>
          <a:p/>
          <a:p>
            <a:r>
              <a:t>Категория D — человек. Три критерия. Девятый: operator distrust. Если оператор не доверяет AI, он будет workaround — отключит, проигнорирует, найдёт способ обойти. Это структурный risk, особенно в смыслах, где операторы — союзная сторона, не противник. Toyota proof — augmentation, не replacement. Десятый: pilot без go-criteria. Если pilot не имеет explicit go/no-go critериев определённых до старта — он попадает в 80-95 процентов pilot purgatory. Одиннадцатый: demo-hype без 6-месячного production track record. Если вендор показывает только демо, не пускает в production-customer reference — buyer beware. Альтернативы для D: Six Sigma, Jidoka, structured pilots.</a:t>
            </a:r>
          </a:p>
          <a:p/>
          <a:p>
            <a:r>
              <a:t>Это 11 критериев в 4 категориях. Запомните таксономию категорий — это первый шаг применения. Конкретные критерии вы будете adapt под свой контекст.</a:t>
            </a:r>
          </a:p>
          <a:p/>
          <a:p>
            <a:r>
              <a:t>И параллельно — три вопроса к вендору. Запомните их как формулу. Baseline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vendor pitch.</a:t>
            </a:r>
          </a:p>
          <a:p/>
          <a:p>
            <a:r>
              <a:t>В следующем слайде — матрица альтернативных инструментов. Через слайд — worked example Pfizer Vox, где мы пройдём framework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этот framework — он работает на любом AI-проекте, который вы увидите в карьере.</a:t>
            </a:r>
          </a:p>
          <a:p/>
          <a:p>
            <a:r>
              <a:t>Пять шагов.</a:t>
            </a:r>
          </a:p>
          <a:p/>
          <a:p>
            <a:r>
              <a:t>Первый — identify class.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replace?</a:t>
            </a:r>
          </a:p>
          <a:p/>
          <a:p>
            <a:r>
              <a:t>Второй — map alternatives. Прежде чем тянуться к ML, перечислите неMLные инструменты. SPC, DOE, MPC, RCM, physics-based simulation, rules-based vision. Какие из них применимы к вашей задаче? Какие частично решают её?</a:t>
            </a:r>
          </a:p>
          <a:p/>
          <a:p>
            <a:r>
              <a:t>Третий — apply 4 categories.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step 2.</a:t>
            </a:r>
          </a:p>
          <a:p/>
          <a:p>
            <a:r>
              <a:t>Четвёртый — pilot с explicit go-criteria. До запуска pilot определите: baseline до AI, измерительное окно, go/no-go threshold. Если pilot стартует без этих трёх — он попадает в 80-95 процентов pilot purgatory. Это правило, которое исключает большинство неудач.</a:t>
            </a:r>
          </a:p>
          <a:p/>
          <a:p>
            <a:r>
              <a:t>Пятый — production с HITL и audit trail. Если cвичите pilot и переходите в production: recommend mode для safety-critical контуров. Validated. Traceable. Audit trail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четыре вопроса к вендору. Я уже их повторял несколько раз сегодня, и сейчас повторю ещё раз, потому что они работают как формула в кармане.</a:t>
            </a:r>
          </a:p>
          <a:p/>
          <a:p>
            <a:r>
              <a:t>Baseline до AI — что было раньше? Окно измерения — за какой период? Перечень вмешательств — что реально автоматизировано? OEE-канал — какой компонент эффективности улучшается?</a:t>
            </a:r>
          </a:p>
          <a:p/>
          <a:p>
            <a:r>
              <a:t>Эти четыре вопроса в комбинации с 5-step framework — это всё, что вам нужно для критической оценки AI-проектов в производстве. Если ваш AI-projector сегодня знает только то, что мы разобрали — он будет в верхней группе инженеров по уровню профессионализма.</a:t>
            </a:r>
          </a:p>
          <a:p/>
          <a:p>
            <a:r>
              <a:t>И последняя нота — hybrid patterns. PINN, CIRL, ML over SPC, PLC plus edge ML coprocessor. Это четыре примера того, как ML интегрируется с проверенными неMLными методами, а не пытается их заменить. Это правильный путь интеграции AI в production.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слайд.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baseline до AI. На какой объём работы, времени, стоимости вы сравниваете? Что было до внедрения AI? Если вендор не знает baseline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configuration work» — это типичный пример, где «80» это compound число, в котором смешаны разные операции.</a:t>
            </a:r>
          </a:p>
          <a:p/>
          <a:p>
            <a:r>
              <a:t>Четвёртый — OEE-канал. В какой компонент OEE добавляется эффект — availability, performance или quality? Это разделяет «25 процентов снижение downtime» на смысловые подкатегории.</a:t>
            </a:r>
          </a:p>
          <a:p/>
          <a:p>
            <a:r>
              <a:t>Пятый — архитектурный класс. Это AI как chat-помощник для оператора, или AI как autonomous controller, замыкающий control loop? FDA / ATEX / SIL 2-3 разрешают этот класс?</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5-step framework, который мы разобрали на s35. Если хотя бы один шаг не проходит — отчитайтесь руководству с конкретными цифрами, какой именно шаг не проходит и почему. Не запускайте pilot без go-criteria — это самый частый способ попасть в 80-95 процентов pilot purgatory.</a:t>
            </a:r>
          </a:p>
          <a:p/>
          <a:p>
            <a:r>
              <a:t>«SPC vs ML — что выбрать?» Зависит от регуляторной среды и количества переменных. Если FDA Part 11 и параметры univariate — SPC. Если multi-variate и нужно recommend mode с audit trail — ML, но как recommend, не autonomous. Hybrid: SPC + ML over residuals. Statistical baseline ловит первые 70 процентов, ML добавляется на нелинейном остатке. Это defensible перед регулятором, потому что SPC — known object.</a:t>
            </a:r>
          </a:p>
          <a:p/>
          <a:p>
            <a:r>
              <a:t>«RL vs MPC — что лучше?» MPC dominates control loop. RL дополняет MPC на high-level scheduling: какой batch запускать, когда переключаться. Safe-fallback к MPC mandatory — если RL начинает дрейфовать, система автоматически переключается на MPC. Не deploy RL без CIRL-обвязки или explicit MPC backup.</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5943600" cy="4389120"/>
          </a:xfrm>
          <a:prstGeom prst="rect">
            <a:avLst/>
          </a:prstGeom>
        </p:spPr>
      </p:pic>
      <p:sp>
        <p:nvSpPr>
          <p:cNvPr id="3" name="TextBox 2"/>
          <p:cNvSpPr txBox="1"/>
          <p:nvPr/>
        </p:nvSpPr>
        <p:spPr>
          <a:xfrm>
            <a:off x="457200" y="493776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Fremont, 2020 · Wikimedia CC-BY-SA</a:t>
            </a:r>
          </a:p>
        </p:txBody>
      </p:sp>
      <p:sp>
        <p:nvSpPr>
          <p:cNvPr id="4" name="TextBox 3"/>
          <p:cNvSpPr txBox="1"/>
          <p:nvPr/>
        </p:nvSpPr>
        <p:spPr>
          <a:xfrm>
            <a:off x="6675120" y="640080"/>
            <a:ext cx="5212080" cy="4572000"/>
          </a:xfrm>
          <a:prstGeom prst="rect">
            <a:avLst/>
          </a:prstGeom>
          <a:noFill/>
        </p:spPr>
        <p:txBody>
          <a:bodyPr wrap="square" lIns="0" rIns="0" tIns="0" bIns="0" anchor="t">
            <a:spAutoFit/>
          </a:bodyPr>
          <a:lstStyle/>
          <a:p>
            <a:pPr algn="l">
              <a:lnSpc>
                <a:spcPct val="120000"/>
              </a:lnSpc>
            </a:pPr>
            <a:r>
              <a:rPr sz="3000" b="1" i="0">
                <a:solidFill>
                  <a:srgbClr val="21295C"/>
                </a:solidFill>
                <a:latin typeface="Arial"/>
              </a:rPr>
              <a:t>Tesla отступила дважды.</a:t>
            </a:r>
          </a:p>
          <a:p>
            <a:pPr algn="l">
              <a:lnSpc>
                <a:spcPct val="120000"/>
              </a:lnSpc>
            </a:pPr>
            <a:r>
              <a:rPr sz="2400" b="1" i="0">
                <a:solidFill>
                  <a:srgbClr val="065A82"/>
                </a:solidFill>
                <a:latin typeface="Arial"/>
              </a:rPr>
              <a:t>Компании не учатся один раз.</a:t>
            </a:r>
          </a:p>
          <a:p>
            <a:pPr algn="l">
              <a:lnSpc>
                <a:spcPct val="120000"/>
              </a:lnSpc>
            </a:pPr>
            <a:r>
              <a:rPr sz="1000" b="0" i="0">
                <a:solidFill>
                  <a:srgbClr val="21295C"/>
                </a:solidFill>
                <a:latin typeface="Arial"/>
              </a:rPr>
              <a:t/>
            </a:r>
          </a:p>
          <a:p>
            <a:pPr algn="l">
              <a:lnSpc>
                <a:spcPct val="120000"/>
              </a:lnSpc>
            </a:pPr>
            <a:r>
              <a:rPr sz="1400" b="1" i="0">
                <a:solidFill>
                  <a:srgbClr val="F0AB00"/>
                </a:solidFill>
                <a:latin typeface="Arial"/>
              </a:rPr>
              <a:t>Май 2024:</a:t>
            </a:r>
          </a:p>
          <a:p>
            <a:pPr algn="l">
              <a:lnSpc>
                <a:spcPct val="120000"/>
              </a:lnSpc>
            </a:pPr>
            <a:r>
              <a:rPr sz="1400" b="0" i="0">
                <a:solidFill>
                  <a:srgbClr val="21295C"/>
                </a:solidFill>
                <a:latin typeface="Arial"/>
              </a:rPr>
              <a:t>Tesla отказалась от next-generation gigacasting для Model 2.</a:t>
            </a:r>
          </a:p>
          <a:p>
            <a:pPr algn="l">
              <a:lnSpc>
                <a:spcPct val="120000"/>
              </a:lnSpc>
            </a:pPr>
            <a:r>
              <a:rPr sz="1000" b="0" i="0">
                <a:solidFill>
                  <a:srgbClr val="21295C"/>
                </a:solidFill>
                <a:latin typeface="Arial"/>
              </a:rPr>
              <a:t/>
            </a:r>
          </a:p>
          <a:p>
            <a:pPr algn="l">
              <a:lnSpc>
                <a:spcPct val="120000"/>
              </a:lnSpc>
            </a:pPr>
            <a:r>
              <a:rPr sz="1400" b="1" i="0">
                <a:solidFill>
                  <a:srgbClr val="065A82"/>
                </a:solidFill>
                <a:latin typeface="Arial"/>
              </a:rPr>
              <a:t>Апрель 2018:</a:t>
            </a:r>
          </a:p>
          <a:p>
            <a:pPr algn="l">
              <a:lnSpc>
                <a:spcPct val="120000"/>
              </a:lnSpc>
            </a:pPr>
            <a:r>
              <a:rPr sz="1300" b="0" i="1">
                <a:solidFill>
                  <a:srgbClr val="21295C"/>
                </a:solidFill>
                <a:latin typeface="Arial"/>
              </a:rPr>
              <a:t>«Excessive automation at Tesla was a mistake. To be precise, my mistake. Humans are underrated.»</a:t>
            </a:r>
          </a:p>
          <a:p>
            <a:pPr algn="l">
              <a:lnSpc>
                <a:spcPct val="120000"/>
              </a:lnSpc>
            </a:pPr>
            <a:r>
              <a:rPr sz="1100" b="0" i="1">
                <a:solidFill>
                  <a:srgbClr val="6B7685"/>
                </a:solidFill>
                <a:latin typeface="Arial"/>
              </a:rPr>
              <a:t>— Илон Маск, X, 13.04.2018</a:t>
            </a:r>
          </a:p>
        </p:txBody>
      </p:sp>
      <p:sp>
        <p:nvSpPr>
          <p:cNvPr id="5" name="Rounded Rectangle 4"/>
          <p:cNvSpPr/>
          <p:nvPr/>
        </p:nvSpPr>
        <p:spPr>
          <a:xfrm>
            <a:off x="457200" y="539496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53212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production.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vendor-claim ·</a:t>
            </a:r>
          </a:p>
          <a:p>
            <a:pPr algn="l">
              <a:lnSpc>
                <a:spcPct val="120000"/>
              </a:lnSpc>
            </a:pPr>
            <a:r>
              <a:rPr sz="1200" b="0" i="0">
                <a:solidFill>
                  <a:srgbClr val="21295C"/>
                </a:solidFill>
                <a:latin typeface="Arial"/>
              </a:rPr>
              <a:t>LO7 — различить chat-помощник vs autonomous controller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Adoption · OT/IT · foundation models · трио hype-collapse</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CV-инспекция · разметка · PdM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РФ</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5-step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мин</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Recap · 5 вендор-вопросов · bridge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Раздел 4 — PAYOFF лекции · применимый инструмент для кармана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Must-know для лекции · остальные acronyms — inline gloss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ERP).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Уровень L3 — производственные заказы, OEE-отчёты, traceability.</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доступность × производительность × качество. Central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трудно-измеряемые параметры по легко-измеряемым. Cornerstone процессного.</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 · возвращаемся в разделах 1, 2,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worker-augmentation</a:t>
            </a:r>
          </a:p>
          <a:p>
            <a:pPr algn="l">
              <a:lnSpc>
                <a:spcPct val="130000"/>
              </a:lnSpc>
            </a:pPr>
            <a:r>
              <a:rPr sz="1300" b="0" i="0">
                <a:solidFill>
                  <a:srgbClr val="21295C"/>
                </a:solidFill>
                <a:latin typeface="Arial"/>
              </a:rPr>
              <a:t>· Generative process planning</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«excessive automation a mistake»</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(real-time оценка качества)</a:t>
            </a:r>
          </a:p>
          <a:p>
            <a:pPr algn="l">
              <a:lnSpc>
                <a:spcPct val="130000"/>
              </a:lnSpc>
            </a:pPr>
            <a:r>
              <a:rPr sz="1300" b="0" i="0">
                <a:solidFill>
                  <a:srgbClr val="21295C"/>
                </a:solidFill>
                <a:latin typeface="Arial"/>
              </a:rPr>
              <a:t>· MPC / RL гибрид + CIRL</a:t>
            </a:r>
          </a:p>
          <a:p>
            <a:pPr algn="l">
              <a:lnSpc>
                <a:spcPct val="130000"/>
              </a:lnSpc>
            </a:pPr>
            <a:r>
              <a:rPr sz="1300" b="0" i="0">
                <a:solidFill>
                  <a:srgbClr val="21295C"/>
                </a:solidFill>
                <a:latin typeface="Arial"/>
              </a:rPr>
              <a:t>· Прогностическое обслуживание + edge AI</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$44K/час, заменён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78% используют AI · 5,5% high performers · 95% пилотов не доходят до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Adoption · OT/IT раскол · foundation models · трио hype-collapse</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12 мин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adoption-value gap в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600" b="1" i="0">
                <a:solidFill>
                  <a:srgbClr val="21295C"/>
                </a:solidFill>
                <a:latin typeface="Arial"/>
              </a:rPr>
              <a:t>high performers</a:t>
            </a:r>
          </a:p>
          <a:p>
            <a:pPr algn="ctr">
              <a:lnSpc>
                <a:spcPct val="130000"/>
              </a:lnSpc>
            </a:pPr>
            <a:r>
              <a:rPr sz="1300" b="0" i="1">
                <a:solidFill>
                  <a:srgbClr val="4A556B"/>
                </a:solidFill>
                <a:latin typeface="Arial"/>
              </a:rPr>
              <a:t>EBIT impact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GenAI-пилотов не доходят до production. Среднее время pilot→shutdown — 14 мес.</a:t>
            </a:r>
          </a:p>
          <a:p>
            <a:pPr algn="l">
              <a:lnSpc>
                <a:spcPct val="135000"/>
              </a:lnSpc>
            </a:pPr>
            <a:r>
              <a:rPr sz="1300" b="0" i="0">
                <a:solidFill>
                  <a:srgbClr val="21295C"/>
                </a:solidFill>
                <a:latin typeface="Arial"/>
              </a:rPr>
              <a:t>· RAND 2025: 80,3% AI-проектов без business value. $547B из $684B AI-инвестиций — без эффекта.</a:t>
            </a:r>
          </a:p>
          <a:p>
            <a:pPr algn="l">
              <a:lnSpc>
                <a:spcPct val="135000"/>
              </a:lnSpc>
            </a:pPr>
            <a:r>
              <a:rPr sz="1300" b="0" i="0">
                <a:solidFill>
                  <a:srgbClr val="21295C"/>
                </a:solidFill>
                <a:latin typeface="Arial"/>
              </a:rPr>
              <a:t>· Deloitte 2025: 42% компаний прекратили ≥1 AI-инициативу. Sunk cost per abandoned — $7,2M.</a:t>
            </a:r>
          </a:p>
        </p:txBody>
      </p:sp>
      <p:sp>
        <p:nvSpPr>
          <p:cNvPr id="10" name="TextBox 9"/>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Deloitte 2025 · [VFY-day-of]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methodology, scope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methodology,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worldwide GenAI spending в $644B на 2025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 · [VFY-day-of]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фундаментальный structural divide</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IT в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Operational Technology</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конвейерные приводы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strong</a:t>
            </a:r>
          </a:p>
          <a:p>
            <a:pPr algn="l">
              <a:lnSpc>
                <a:spcPct val="130000"/>
              </a:lnSpc>
            </a:pPr>
            <a:r>
              <a:rPr sz="1200" b="0" i="0">
                <a:solidFill>
                  <a:srgbClr val="21295C"/>
                </a:solidFill>
                <a:latin typeface="Arial"/>
              </a:rPr>
              <a:t>Audit trail: обязательный, регуляторный</a:t>
            </a:r>
          </a:p>
          <a:p>
            <a:pPr algn="l">
              <a:lnSpc>
                <a:spcPct val="130000"/>
              </a:lnSpc>
            </a:pPr>
            <a:r>
              <a:rPr sz="1200" b="0" i="0">
                <a:solidFill>
                  <a:srgbClr val="21295C"/>
                </a:solidFill>
                <a:latin typeface="Arial"/>
              </a:rPr>
              <a:t>Sertification: SIL 2/3 для safety-critical</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Information Technology</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ML pipelines</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eventually-consistent</a:t>
            </a:r>
          </a:p>
          <a:p>
            <a:pPr algn="l">
              <a:lnSpc>
                <a:spcPct val="130000"/>
              </a:lnSpc>
            </a:pPr>
            <a:r>
              <a:rPr sz="1200" b="0" i="0">
                <a:solidFill>
                  <a:srgbClr val="21295C"/>
                </a:solidFill>
                <a:latin typeface="Arial"/>
              </a:rPr>
              <a:t>Audit trail: security и compliance, не control</a:t>
            </a:r>
          </a:p>
          <a:p>
            <a:pPr algn="l">
              <a:lnSpc>
                <a:spcPct val="130000"/>
              </a:lnSpc>
            </a:pPr>
            <a:r>
              <a:rPr sz="1200" b="0" i="0">
                <a:solidFill>
                  <a:srgbClr val="21295C"/>
                </a:solidFill>
                <a:latin typeface="Arial"/>
              </a:rPr>
              <a:t>Sertification: SaaS-обновления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с задержкой 100–500 мс физически не вмещается в PLC-цикл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Фундаментальные модели = augmentation, НЕ controller</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IFM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Siemens IFM</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engineering data</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4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Llama 3.1 70B derivative</a:t>
            </a:r>
          </a:p>
          <a:p>
            <a:pPr algn="l">
              <a:lnSpc>
                <a:spcPct val="130000"/>
              </a:lnSpc>
            </a:pPr>
            <a:r>
              <a:rPr sz="1100" b="0" i="0">
                <a:solidFill>
                  <a:srgbClr val="21295C"/>
                </a:solidFill>
                <a:latin typeface="Arial"/>
              </a:rPr>
              <a:t>Injection-molding параметры</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LLM 100–500 мс vs PLC-цикл 1–10 мс. Физически не вмещается в control loop.</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output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audit trail для SIL 2/3, FDA Part 11, GAMP®5. Black-box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Chat-помощник для оператора ≠ autonomous controller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production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Recurring pattern: capability в контролируемой среде vs reliability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Cybercab event Oct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a:t>
            </a:r>
          </a:p>
          <a:p>
            <a:pPr algn="l">
              <a:lnSpc>
                <a:spcPct val="130000"/>
              </a:lnSpc>
            </a:pPr>
            <a:r>
              <a:rPr sz="1200" b="0" i="0">
                <a:solidFill>
                  <a:srgbClr val="21295C"/>
                </a:solidFill>
                <a:latin typeface="Arial"/>
              </a:rPr>
              <a:t>10–20 тыс. Optimus к 2025, цена ~$30K, миллионы к 2030</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PRODUCTION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февраль 2026:</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production-сборке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Cybercab event Oct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production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$4B+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$4B+</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AOS for industrial — свой облачный конкурент AWS.
«be everything to everyone» → развал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Industrial AI ≠ general cloud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Multi-$B</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downtime, –48% defect rate» (маркетинг).
Watson for Drug Discovery остановлен 2019. Watson Health продан за $1B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production. Маркетинговые проценты ≠ measured production metrics.</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$10B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10 000 рабочих → 1 500. LCD → screens → AI hub → coffee kiosks → Microsoft Fairwater data center ($3,3B,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anti-signal.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GE 10-K filings 2017-2020 · IBM Watson Health 2022 sale press · Microsoft Fairwater press May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CV-инспекция · разметка · PdM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17 мин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CV-инспекция в production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Regensburg, 2025</a:t>
            </a:r>
          </a:p>
        </p:txBody>
      </p:sp>
      <p:pic>
        <p:nvPicPr>
          <p:cNvPr id="8" name="Picture 7" descr="factory.png"/>
          <p:cNvPicPr>
            <a:picLocks noChangeAspect="1"/>
          </p:cNvPicPr>
          <p:nvPr/>
        </p:nvPicPr>
        <p:blipFill>
          <a:blip r:embed="rId2"/>
          <a:stretch>
            <a:fillRect/>
          </a:stretch>
        </p:blipFill>
        <p:spPr>
          <a:xfrm>
            <a:off x="1760219" y="2880360"/>
            <a:ext cx="1097280" cy="1097280"/>
          </a:xfrm>
          <a:prstGeom prst="rect">
            <a:avLst/>
          </a:prstGeom>
        </p:spPr>
      </p:pic>
      <p:sp>
        <p:nvSpPr>
          <p:cNvPr id="9" name="TextBox 8"/>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Bespoke catalogue per vehicle</a:t>
            </a:r>
          </a:p>
        </p:txBody>
      </p:sp>
      <p:sp>
        <p:nvSpPr>
          <p:cNvPr id="10" name="TextBox 9"/>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FACTORY OF THE YEAR 2024</a:t>
            </a:r>
          </a:p>
        </p:txBody>
      </p:sp>
      <p:sp>
        <p:nvSpPr>
          <p:cNvPr id="11" name="TextBox 10"/>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Partner: Datagon AI</a:t>
            </a:r>
          </a:p>
        </p:txBody>
      </p:sp>
      <p:sp>
        <p:nvSpPr>
          <p:cNvPr id="12" name="Rounded Rectangle 11"/>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checkpoints</a:t>
            </a:r>
          </a:p>
        </p:txBody>
      </p:sp>
      <p:sp>
        <p:nvSpPr>
          <p:cNvPr id="14" name="Rounded Rectangle 13"/>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defect detection</a:t>
            </a:r>
          </a:p>
        </p:txBody>
      </p:sp>
      <p:sp>
        <p:nvSpPr>
          <p:cNvPr id="17" name="TextBox 16"/>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5nm / 3nm узлы</a:t>
            </a:r>
          </a:p>
        </p:txBody>
      </p:sp>
      <p:pic>
        <p:nvPicPr>
          <p:cNvPr id="18" name="Picture 17" descr="s14-tsmc.jpg"/>
          <p:cNvPicPr>
            <a:picLocks noChangeAspect="1"/>
          </p:cNvPicPr>
          <p:nvPr/>
        </p:nvPicPr>
        <p:blipFill>
          <a:blip r:embed="rId3"/>
          <a:stretch>
            <a:fillRect/>
          </a:stretch>
        </p:blipFill>
        <p:spPr>
          <a:xfrm>
            <a:off x="4434840" y="2788920"/>
            <a:ext cx="3337560" cy="1371600"/>
          </a:xfrm>
          <a:prstGeom prst="rect">
            <a:avLst/>
          </a:prstGeom>
        </p:spPr>
      </p:pic>
      <p:sp>
        <p:nvSpPr>
          <p:cNvPr id="19" name="TextBox 18"/>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accuracy</a:t>
            </a:r>
          </a:p>
        </p:txBody>
      </p:sp>
      <p:sp>
        <p:nvSpPr>
          <p:cNvPr id="20" name="TextBox 19"/>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yield</a:t>
            </a:r>
          </a:p>
        </p:txBody>
      </p:sp>
      <p:sp>
        <p:nvSpPr>
          <p:cNvPr id="21" name="TextBox 20"/>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миллионов $ в год</a:t>
            </a:r>
          </a:p>
        </p:txBody>
      </p:sp>
      <p:sp>
        <p:nvSpPr>
          <p:cNvPr id="22" name="Rounded Rectangle 21"/>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Самый зрелый CV-кейс в производстве чипов</a:t>
            </a:r>
          </a:p>
        </p:txBody>
      </p:sp>
      <p:sp>
        <p:nvSpPr>
          <p:cNvPr id="24" name="Rounded Rectangle 23"/>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7" name="TextBox 26"/>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pic>
        <p:nvPicPr>
          <p:cNvPr id="28" name="Picture 27" descr="shield-check.png"/>
          <p:cNvPicPr>
            <a:picLocks noChangeAspect="1"/>
          </p:cNvPicPr>
          <p:nvPr/>
        </p:nvPicPr>
        <p:blipFill>
          <a:blip r:embed="rId4"/>
          <a:stretch>
            <a:fillRect/>
          </a:stretch>
        </p:blipFill>
        <p:spPr>
          <a:xfrm>
            <a:off x="9349740" y="2880360"/>
            <a:ext cx="1097280" cy="1097280"/>
          </a:xfrm>
          <a:prstGeom prst="rect">
            <a:avLst/>
          </a:prstGeom>
        </p:spPr>
      </p:pic>
      <p:sp>
        <p:nvSpPr>
          <p:cNvPr id="29" name="TextBox 28"/>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Post-door-plug crisis</a:t>
            </a:r>
          </a:p>
        </p:txBody>
      </p:sp>
      <p:sp>
        <p:nvSpPr>
          <p:cNvPr id="30" name="TextBox 29"/>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Photo-driven part validation</a:t>
            </a:r>
          </a:p>
        </p:txBody>
      </p:sp>
      <p:sp>
        <p:nvSpPr>
          <p:cNvPr id="31" name="TextBox 30"/>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a:t>
            </a:r>
          </a:p>
        </p:txBody>
      </p:sp>
      <p:sp>
        <p:nvSpPr>
          <p:cNvPr id="32" name="Rounded Rectangle 31"/>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CV-инспекция критических зон fuselage</a:t>
            </a:r>
          </a:p>
        </p:txBody>
      </p:sp>
      <p:sp>
        <p:nvSpPr>
          <p:cNvPr id="34" name="Rounded Rectangle 33"/>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defect rate 1–2% → class imbalance → разметка — критический рычаг</a:t>
            </a:r>
          </a:p>
        </p:txBody>
      </p:sp>
      <p:sp>
        <p:nvSpPr>
          <p:cNvPr id="36" name="TextBox 35"/>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TSMC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CV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Door plug — заглушка аварийного выхода — вылетела. Все 171 пассажир и 6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door plug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CV-инспекция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FAA cap 38/мес · Spirit AeroSystems — 50 fuselages rework · Everett задержан 12 мес · ~$1B+ direct</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«CV — последняя линия защиты, не первая. Без upstream sign-off + audit trail AI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в §4 — есть ли разметка adequate volume</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Сенсоры IoT:</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на ГБ</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SCADA-архив:</a:t>
            </a:r>
          </a:p>
          <a:p>
            <a:pPr algn="l">
              <a:lnSpc>
                <a:spcPct val="130000"/>
              </a:lnSpc>
            </a:pPr>
            <a:r>
              <a:rPr sz="1200" b="0" i="0">
                <a:solidFill>
                  <a:srgbClr val="21295C"/>
                </a:solidFill>
                <a:latin typeface="Arial"/>
              </a:rPr>
              <a:t>· Storage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domain-эксперта:</a:t>
            </a:r>
          </a:p>
          <a:p>
            <a:pPr algn="l">
              <a:lnSpc>
                <a:spcPct val="130000"/>
              </a:lnSpc>
            </a:pPr>
            <a:r>
              <a:rPr sz="1200" b="0" i="0">
                <a:solidFill>
                  <a:srgbClr val="21295C"/>
                </a:solidFill>
                <a:latin typeface="Arial"/>
              </a:rPr>
              <a:t>· 500–2000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Class imbalance:</a:t>
            </a:r>
          </a:p>
          <a:p>
            <a:pPr algn="l">
              <a:lnSpc>
                <a:spcPct val="130000"/>
              </a:lnSpc>
            </a:pPr>
            <a:r>
              <a:rPr sz="1200" b="0" i="0">
                <a:solidFill>
                  <a:srgbClr val="21295C"/>
                </a:solidFill>
                <a:latin typeface="Arial"/>
              </a:rPr>
              <a:t>· Defect rate 1% → 1 дефект на 99 нормальных</a:t>
            </a:r>
          </a:p>
          <a:p>
            <a:pPr algn="l">
              <a:lnSpc>
                <a:spcPct val="130000"/>
              </a:lnSpc>
            </a:pPr>
            <a:r>
              <a:rPr sz="1200" b="0" i="0">
                <a:solidFill>
                  <a:srgbClr val="21295C"/>
                </a:solidFill>
                <a:latin typeface="Arial"/>
              </a:rPr>
              <a:t>· Для 1000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Synthetic data + transfer learning · Active learning · Rules-based + ML hybrid (rules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PdM на дискретном — vendor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downtime»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VENDOR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downtime, –15% maintenance cost»</a:t>
            </a:r>
          </a:p>
          <a:p>
            <a:pPr algn="l">
              <a:lnSpc>
                <a:spcPct val="150000"/>
              </a:lnSpc>
            </a:pPr>
            <a:r>
              <a:rPr sz="1200" b="0" i="0">
                <a:solidFill>
                  <a:srgbClr val="21295C"/>
                </a:solidFill>
                <a:latin typeface="Arial"/>
              </a:rPr>
              <a:t>BMW AIQX (2025): «realtime sensor + image fusion»</a:t>
            </a:r>
          </a:p>
          <a:p>
            <a:pPr algn="l">
              <a:lnSpc>
                <a:spcPct val="150000"/>
              </a:lnSpc>
            </a:pPr>
            <a:r>
              <a:rPr sz="1200" b="0" i="0">
                <a:solidFill>
                  <a:srgbClr val="21295C"/>
                </a:solidFill>
                <a:latin typeface="Arial"/>
              </a:rPr>
              <a:t>Generic vendors: «–25 до –40% downtime, –50 до –70% reactive maintenance»</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MCKINSEY 2025 REALITY CHECK:</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value от PdM-инвестиций» — прямая цитата.</a:t>
            </a:r>
          </a:p>
          <a:p>
            <a:pPr algn="l">
              <a:lnSpc>
                <a:spcPct val="140000"/>
              </a:lnSpc>
            </a:pPr>
            <a:r>
              <a:rPr sz="1200" b="0" i="0">
                <a:solidFill>
                  <a:srgbClr val="21295C"/>
                </a:solidFill>
                <a:latin typeface="Arial"/>
              </a:rPr>
              <a:t>ROI 8–14 мес — это best case, не среднее. Только 5,5% high performers извлекают EBIT-impact.</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OEE CALLBACK — формула:</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downtime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Augment, не replace — крупнейший auto OEM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exterior QC</a:t>
            </a:r>
          </a:p>
        </p:txBody>
      </p:sp>
      <p:pic>
        <p:nvPicPr>
          <p:cNvPr id="8" name="Picture 7" descr="cog.png"/>
          <p:cNvPicPr>
            <a:picLocks noChangeAspect="1"/>
          </p:cNvPicPr>
          <p:nvPr/>
        </p:nvPicPr>
        <p:blipFill>
          <a:blip r:embed="rId2"/>
          <a:stretch>
            <a:fillRect/>
          </a:stretch>
        </p:blipFill>
        <p:spPr>
          <a:xfrm>
            <a:off x="1485900" y="2880360"/>
            <a:ext cx="1645920" cy="1645920"/>
          </a:xfrm>
          <a:prstGeom prst="rect">
            <a:avLst/>
          </a:prstGeom>
        </p:spPr>
      </p:pic>
      <p:sp>
        <p:nvSpPr>
          <p:cNvPr id="9" name="TextBox 8"/>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humanoid — HMGMA, Georgia
Первое коммерческое развёртывание гуманоида</a:t>
            </a:r>
          </a:p>
        </p:txBody>
      </p:sp>
      <p:sp>
        <p:nvSpPr>
          <p:cNvPr id="10" name="Rounded Rectangle 9"/>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3" name="TextBox 12"/>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pic>
        <p:nvPicPr>
          <p:cNvPr id="14" name="Picture 13" descr="users.png"/>
          <p:cNvPicPr>
            <a:picLocks noChangeAspect="1"/>
          </p:cNvPicPr>
          <p:nvPr/>
        </p:nvPicPr>
        <p:blipFill>
          <a:blip r:embed="rId3"/>
          <a:stretch>
            <a:fillRect/>
          </a:stretch>
        </p:blipFill>
        <p:spPr>
          <a:xfrm>
            <a:off x="5280659" y="2880360"/>
            <a:ext cx="1645920" cy="1645920"/>
          </a:xfrm>
          <a:prstGeom prst="rect">
            <a:avLst/>
          </a:prstGeom>
        </p:spPr>
      </p:pic>
      <p:sp>
        <p:nvSpPr>
          <p:cNvPr id="15" name="TextBox 14"/>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сотрудниками,
не data scientists. 10 000 часов saved/year</a:t>
            </a:r>
          </a:p>
        </p:txBody>
      </p:sp>
      <p:sp>
        <p:nvSpPr>
          <p:cNvPr id="16" name="Rounded Rectangle 15"/>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19" name="TextBox 18"/>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pic>
        <p:nvPicPr>
          <p:cNvPr id="20" name="Picture 19" descr="wrench.png"/>
          <p:cNvPicPr>
            <a:picLocks noChangeAspect="1"/>
          </p:cNvPicPr>
          <p:nvPr/>
        </p:nvPicPr>
        <p:blipFill>
          <a:blip r:embed="rId4"/>
          <a:stretch>
            <a:fillRect/>
          </a:stretch>
        </p:blipFill>
        <p:spPr>
          <a:xfrm>
            <a:off x="9075419" y="2880360"/>
            <a:ext cx="1645920" cy="1645920"/>
          </a:xfrm>
          <a:prstGeom prst="rect">
            <a:avLst/>
          </a:prstGeom>
        </p:spPr>
      </p:pic>
      <p:sp>
        <p:nvSpPr>
          <p:cNvPr id="21" name="TextBox 20"/>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«Goal of jidoka isn't to replace people
but to protect quality, expose issues, free people for judgment»</a:t>
            </a:r>
          </a:p>
        </p:txBody>
      </p:sp>
      <p:sp>
        <p:nvSpPr>
          <p:cNvPr id="22" name="Rounded Rectangle 2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replace failed, augment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automation paradox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Toyota alternative + 2024 reMatch (gigacasting retreat)</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500" b="1" i="1">
                <a:solidFill>
                  <a:srgbClr val="21295C"/>
                </a:solidFill>
                <a:latin typeface="Arial"/>
              </a:rPr>
              <a:t>«Yes, excessive automation at Tesla was a mistake. To be precise, my mistake. Humans are underrated.»</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Q1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Target: 2 500 Model 3 / week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Production hell.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 (IMD)</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variability — feature, не bug</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miles of edge cases</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«Ironies of Automation»:
чем больше автоматизация,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Альтернатива: Toyota Production System + Jidoka — работает с 1950-х на том же продукте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Границы CV-QC + альтернативы ДО ML</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Physical signal amplification → rules-based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CV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Low-contrast defects</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CV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Scarce defect labels</a:t>
            </a:r>
          </a:p>
          <a:p>
            <a:pPr algn="l">
              <a:lnSpc>
                <a:spcPct val="135000"/>
              </a:lnSpc>
            </a:pPr>
            <a:r>
              <a:rPr sz="1100" b="0" i="0">
                <a:solidFill>
                  <a:srgbClr val="21295C"/>
                </a:solidFill>
                <a:latin typeface="Arial"/>
              </a:rPr>
              <a:t>Defect rate 1% + редкие типы → модель не видит rare defects (callback s16).</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ML</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Physical signal amplification:</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scratches</a:t>
            </a:r>
          </a:p>
          <a:p>
            <a:pPr algn="l">
              <a:lnSpc>
                <a:spcPct val="135000"/>
              </a:lnSpc>
            </a:pPr>
            <a:r>
              <a:rPr sz="1100" b="0" i="0">
                <a:solidFill>
                  <a:srgbClr val="21295C"/>
                </a:solidFill>
                <a:latin typeface="Arial"/>
              </a:rPr>
              <a:t>· Рентген (X-ray)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Rules-based vision</a:t>
            </a:r>
          </a:p>
          <a:p>
            <a:pPr algn="l">
              <a:lnSpc>
                <a:spcPct val="135000"/>
              </a:lnSpc>
            </a:pPr>
            <a:r>
              <a:rPr sz="1100" b="0" i="0">
                <a:solidFill>
                  <a:srgbClr val="21295C"/>
                </a:solidFill>
                <a:latin typeface="Arial"/>
              </a:rPr>
              <a:t>Простые правила (площадь, контур, цвет). 60–70% inspection workloads в controlled env. Validated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Hybrid (рекомендуется):</a:t>
            </a:r>
          </a:p>
          <a:p>
            <a:pPr algn="l">
              <a:lnSpc>
                <a:spcPct val="135000"/>
              </a:lnSpc>
            </a:pPr>
            <a:r>
              <a:rPr sz="1100" b="0" i="1">
                <a:solidFill>
                  <a:srgbClr val="21295C"/>
                </a:solidFill>
                <a:latin typeface="Arial"/>
              </a:rPr>
              <a:t>Физика → rules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«80% configuration work» — vendor self-claim, не metric</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Young Liu, Foxconn chairman, Computex май 2025 — LO2 hook</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54864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«After plugging AI tools into Foxconn's workflows, software now performs roughly 80 percent of the work required to configure equipment for a fresh production run.»</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Young Liu, Foxconn chairman · Computex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Baseline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FTE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run?</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OEE-канал</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Availability (быстрее переход)? Performance (выше throughput)? Quality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Failure-pattern matrix — эмпирическая база для категорий §4</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Replace там, где variability = feature</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augment, не replace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rules-fallback</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Scarce labels + class imbalance</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door-plug</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physical signal · rules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Vendor self-claim без baseline</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downtime»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(baseline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РФ</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17 мин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batch defects</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R&amp;D formulation: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pic>
        <p:nvPicPr>
          <p:cNvPr id="13" name="Picture 12" descr="pill.png"/>
          <p:cNvPicPr>
            <a:picLocks noChangeAspect="1"/>
          </p:cNvPicPr>
          <p:nvPr/>
        </p:nvPicPr>
        <p:blipFill>
          <a:blip r:embed="rId3"/>
          <a:stretch>
            <a:fillRect/>
          </a:stretch>
        </p:blipFill>
        <p:spPr>
          <a:xfrm>
            <a:off x="8229600" y="2331720"/>
            <a:ext cx="1371600" cy="1371600"/>
          </a:xfrm>
          <a:prstGeom prst="rect">
            <a:avLst/>
          </a:prstGeom>
        </p:spPr>
      </p:pic>
      <p:sp>
        <p:nvSpPr>
          <p:cNvPr id="14" name="TextBox 13"/>
          <p:cNvSpPr txBox="1"/>
          <p:nvPr/>
        </p:nvSpPr>
        <p:spPr>
          <a:xfrm>
            <a:off x="6309360" y="3749039"/>
            <a:ext cx="5239512" cy="365760"/>
          </a:xfrm>
          <a:prstGeom prst="rect">
            <a:avLst/>
          </a:prstGeom>
          <a:noFill/>
        </p:spPr>
        <p:txBody>
          <a:bodyPr wrap="square" lIns="0" rIns="0" tIns="0" bIns="0" anchor="t">
            <a:spAutoFit/>
          </a:bodyPr>
          <a:lstStyle/>
          <a:p>
            <a:pPr algn="ctr">
              <a:lnSpc>
                <a:spcPct val="115000"/>
              </a:lnSpc>
            </a:pPr>
            <a:r>
              <a:rPr sz="1100" b="0" i="1">
                <a:solidFill>
                  <a:srgbClr val="4A556B"/>
                </a:solidFill>
                <a:latin typeface="Arial"/>
              </a:rPr>
              <a:t>GenAI на AWS Bedrock + SageMaker</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doses per batch</a:t>
            </a:r>
          </a:p>
          <a:p>
            <a:pPr algn="l">
              <a:lnSpc>
                <a:spcPct val="135000"/>
              </a:lnSpc>
            </a:pPr>
            <a:r>
              <a:rPr sz="1100" b="0" i="1">
                <a:solidFill>
                  <a:srgbClr val="6B7685"/>
                </a:solidFill>
                <a:latin typeface="Arial"/>
              </a:rPr>
              <a:t>AWS Bedrock + SageMaker</a:t>
            </a:r>
          </a:p>
          <a:p>
            <a:pPr algn="l">
              <a:lnSpc>
                <a:spcPct val="135000"/>
              </a:lnSpc>
            </a:pPr>
            <a:r>
              <a:rPr sz="1200" b="0" i="0">
                <a:solidFill>
                  <a:srgbClr val="21295C"/>
                </a:solidFill>
                <a:latin typeface="Arial"/>
              </a:rPr>
              <a:t>«Recommend», не autonomous — FDA Part 11 consistent</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worked example в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MPC / RL гибрид + CIRL — RL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 в loss function</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distillation column · Japan PM Prize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CIRL architecture — BASF + Royal Academy of Engineering</a:t>
            </a:r>
          </a:p>
        </p:txBody>
      </p:sp>
      <p:sp>
        <p:nvSpPr>
          <p:cNvPr id="11" name="Rectangle 10"/>
          <p:cNvSpPr/>
          <p:nvPr/>
        </p:nvSpPr>
        <p:spPr>
          <a:xfrm>
            <a:off x="4663440" y="2240280"/>
            <a:ext cx="1645920" cy="9144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1645920" cy="731520"/>
          </a:xfrm>
          <a:prstGeom prst="rect">
            <a:avLst/>
          </a:prstGeom>
          <a:noFill/>
        </p:spPr>
        <p:txBody>
          <a:bodyPr wrap="square" lIns="0" rIns="0" tIns="0" bIns="0" anchor="ctr">
            <a:spAutoFit/>
          </a:bodyPr>
          <a:lstStyle/>
          <a:p>
            <a:pPr algn="ctr">
              <a:lnSpc>
                <a:spcPct val="125000"/>
              </a:lnSpc>
            </a:pPr>
            <a:r>
              <a:rPr sz="1100" b="1" i="0">
                <a:solidFill>
                  <a:srgbClr val="FFFFFF"/>
                </a:solidFill>
                <a:latin typeface="Arial"/>
              </a:rPr>
              <a:t>PID controller
(baseline)
детерминированный</a:t>
            </a:r>
          </a:p>
        </p:txBody>
      </p:sp>
      <p:sp>
        <p:nvSpPr>
          <p:cNvPr id="13" name="Rectangle 12"/>
          <p:cNvSpPr/>
          <p:nvPr/>
        </p:nvSpPr>
        <p:spPr>
          <a:xfrm>
            <a:off x="6492240" y="2606040"/>
            <a:ext cx="914400" cy="1645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788920"/>
            <a:ext cx="1097280" cy="274320"/>
          </a:xfrm>
          <a:prstGeom prst="rect">
            <a:avLst/>
          </a:prstGeom>
          <a:noFill/>
        </p:spPr>
        <p:txBody>
          <a:bodyPr wrap="square" lIns="0" rIns="0" tIns="0" bIns="0" anchor="t">
            <a:spAutoFit/>
          </a:bodyPr>
          <a:lstStyle/>
          <a:p>
            <a:pPr algn="ctr">
              <a:lnSpc>
                <a:spcPct val="115000"/>
              </a:lnSpc>
            </a:pPr>
            <a:r>
              <a:rPr sz="1000" b="0" i="1">
                <a:solidFill>
                  <a:srgbClr val="F0AB00"/>
                </a:solidFill>
                <a:latin typeface="Arial"/>
              </a:rPr>
              <a:t>в loss</a:t>
            </a:r>
          </a:p>
        </p:txBody>
      </p:sp>
      <p:sp>
        <p:nvSpPr>
          <p:cNvPr id="15" name="Rectangle 14"/>
          <p:cNvSpPr/>
          <p:nvPr/>
        </p:nvSpPr>
        <p:spPr>
          <a:xfrm>
            <a:off x="7589520" y="2240280"/>
            <a:ext cx="3931920" cy="9144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2331720"/>
            <a:ext cx="3931920" cy="731520"/>
          </a:xfrm>
          <a:prstGeom prst="rect">
            <a:avLst/>
          </a:prstGeom>
          <a:noFill/>
        </p:spPr>
        <p:txBody>
          <a:bodyPr wrap="square" lIns="0" rIns="0" tIns="0" bIns="0" anchor="ctr">
            <a:spAutoFit/>
          </a:bodyPr>
          <a:lstStyle/>
          <a:p>
            <a:pPr algn="ctr">
              <a:lnSpc>
                <a:spcPct val="125000"/>
              </a:lnSpc>
            </a:pPr>
            <a:r>
              <a:rPr sz="1100" b="1" i="0">
                <a:solidFill>
                  <a:srgbClr val="FFFFFF"/>
                </a:solidFill>
                <a:latin typeface="Arial"/>
              </a:rPr>
              <a:t>Deep RL
учит policy с PID как baseline в loss function</a:t>
            </a:r>
          </a:p>
        </p:txBody>
      </p:sp>
      <p:sp>
        <p:nvSpPr>
          <p:cNvPr id="17" name="TextBox 16"/>
          <p:cNvSpPr txBox="1"/>
          <p:nvPr/>
        </p:nvSpPr>
        <p:spPr>
          <a:xfrm>
            <a:off x="4480560" y="3337560"/>
            <a:ext cx="7223760" cy="50292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RL adds value в нелинейных зонах. В линейных автоматически совпадает с PID.</a:t>
            </a:r>
          </a:p>
        </p:txBody>
      </p:sp>
      <p:sp>
        <p:nvSpPr>
          <p:cNvPr id="18" name="Rounded Rectangle 17"/>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20" name="Rounded Rectangle 19"/>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dominates process control:</a:t>
            </a:r>
          </a:p>
          <a:p>
            <a:pPr algn="l">
              <a:lnSpc>
                <a:spcPct val="135000"/>
              </a:lnSpc>
            </a:pPr>
            <a:r>
              <a:rPr sz="1200" b="0" i="0">
                <a:solidFill>
                  <a:srgbClr val="21295C"/>
                </a:solidFill>
                <a:latin typeface="Arial"/>
              </a:rPr>
              <a:t>Explicit model · объясним · валидируется регулятором · реагирует на drift автоматически.</a:t>
            </a:r>
          </a:p>
          <a:p>
            <a:pPr algn="l">
              <a:lnSpc>
                <a:spcPct val="135000"/>
              </a:lnSpc>
            </a:pPr>
            <a:r>
              <a:rPr sz="1200" b="1" i="0">
                <a:solidFill>
                  <a:srgbClr val="21295C"/>
                </a:solidFill>
                <a:latin typeface="Arial"/>
              </a:rPr>
              <a:t>Правило: RL дополняет MPC на high-level scheduling.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RL distribution drift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policy, обученная на одном distribution, ломается без warning</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Batch transitions</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OOD inputs</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steady-state. Переходный режим — out-of-distribution.
Скачки температуры на старте нового batch.</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feedstock</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Stale policy</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Policy на одном — stale на другом.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Seasonal shifts</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vs летняя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Equipment wear</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online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Safe-fallback: MPC реагирует на текущие данные, не помнит обучения · MPC mandatory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Edge AI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180 nodes · Holcim 100 plants · Latency = determinism, не только speed</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 nodes</a:t>
            </a:r>
          </a:p>
          <a:p>
            <a:pPr algn="l">
              <a:lnSpc>
                <a:spcPct val="125000"/>
              </a:lnSpc>
            </a:pPr>
            <a:r>
              <a:rPr sz="1000" b="0" i="0">
                <a:solidFill>
                  <a:srgbClr val="21295C"/>
                </a:solidFill>
                <a:latin typeface="Arial"/>
              </a:rPr>
              <a:t>+5% efficiency · –10% energy · +3% yield</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Latency budget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«Latency = determinism, не только speed»</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F-35 ALIS callback (Лекция 9): $44 000/час, заменён ODIN. Defense PdM учит тому же, что промышленный.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Audit trail + validated systems + traceable changes.</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Black-box ML — нет audit trail.
AI не может быть final decision-maker.
HITL обязателен. GAMP®5 validation.</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prediction → operator approval.
Не работает: autonomous batch release.</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Hardware certified для zones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Zone 0: non-certified AI hardware ФИЗИЧЕСКИ запрещён.
Не вопрос ПО — вопрос hardware.</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predictive monitoring gas/temp/dust — не заменяет ATEX hardware.</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Deploy AI в РФ-промышленности проходит через КИИ-обвязку.
FZ-152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foreshadow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LO2 — различать PR statement и effect</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industrial-operation stage</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69080"/>
            <a:ext cx="5120640" cy="6400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flotation / grinding — не пилот, production</a:t>
            </a:r>
          </a:p>
          <a:p>
            <a:pPr algn="l">
              <a:lnSpc>
                <a:spcPct val="130000"/>
              </a:lnSpc>
            </a:pPr>
            <a:r>
              <a:rPr sz="1100" b="0" i="0">
                <a:solidFill>
                  <a:srgbClr val="21295C"/>
                </a:solidFill>
                <a:latin typeface="Arial"/>
              </a:rPr>
              <a:t>Нояб 2024: agreement с Газпром нефть</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Nornickel's Bystrinsky Mine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Marketplace технологического моделирования</a:t>
            </a:r>
          </a:p>
          <a:p>
            <a:pPr algn="l">
              <a:lnSpc>
                <a:spcPct val="135000"/>
              </a:lnSpc>
            </a:pPr>
            <a:r>
              <a:rPr sz="1100" b="0" i="0">
                <a:solidFill>
                  <a:srgbClr val="21295C"/>
                </a:solidFill>
                <a:latin typeface="Arial"/>
              </a:rPr>
              <a:t>Q1 2025 → 2026 full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specific metrics</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Severstal profit –55% в 2024</a:t>
            </a:r>
          </a:p>
        </p:txBody>
      </p:sp>
      <p:sp>
        <p:nvSpPr>
          <p:cNvPr id="14" name="Rounded Rectangle 13"/>
          <p:cNvSpPr/>
          <p:nvPr/>
        </p:nvSpPr>
        <p:spPr>
          <a:xfrm>
            <a:off x="457200" y="5074920"/>
            <a:ext cx="11274552" cy="13258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1663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PEDAGOGICAL POINT (LO2):</a:t>
            </a:r>
          </a:p>
        </p:txBody>
      </p:sp>
      <p:sp>
        <p:nvSpPr>
          <p:cNvPr id="16" name="TextBox 15"/>
          <p:cNvSpPr txBox="1"/>
          <p:nvPr/>
        </p:nvSpPr>
        <p:spPr>
          <a:xfrm>
            <a:off x="640080" y="5532120"/>
            <a:ext cx="10972800" cy="82296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Public-disclosure скудна — это анти-pattern в reporting, НЕ доказательство absence adoption.</a:t>
            </a:r>
          </a:p>
          <a:p>
            <a:pPr algn="l">
              <a:lnSpc>
                <a:spcPct val="135000"/>
              </a:lnSpc>
            </a:pPr>
            <a:r>
              <a:rPr sz="1200" b="0" i="1">
                <a:solidFill>
                  <a:srgbClr val="21295C"/>
                </a:solidFill>
                <a:latin typeface="Arial"/>
              </a:rPr>
              <a:t>Различать PR statement и измеримый эффект — LO2 в действии (symmetric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Failure-pattern matrix — симметрично §2; основа для критериев §4</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RL distribution drift</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Batch transitions / feedstock / сезон / wear</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autonomous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high-level. MPC — safe fallback</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Regulatory blocker</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Zone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Zone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already exists. HITL + audit trail mandatory</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uncertain edge</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cloud</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Edge ML на копроцессоре, не LLM. Latency = determinism</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Vendor PR без metrics</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public-verifiable ROI</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(baseline / окно / вмешательства). Уклончивый ответ — red flag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5-step framework · Pfizer worked</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12 мин · PAYOFF лекции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payoff лекции (LO8)</a:t>
            </a:r>
          </a:p>
        </p:txBody>
      </p:sp>
      <p:sp>
        <p:nvSpPr>
          <p:cNvPr id="4" name="Rounded Rectangle 3"/>
          <p:cNvSpPr/>
          <p:nvPr/>
        </p:nvSpPr>
        <p:spPr>
          <a:xfrm>
            <a:off x="457200" y="155448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A · Данные</a:t>
            </a:r>
          </a:p>
        </p:txBody>
      </p:sp>
      <p:sp>
        <p:nvSpPr>
          <p:cNvPr id="7" name="TextBox 6"/>
          <p:cNvSpPr txBox="1"/>
          <p:nvPr/>
        </p:nvSpPr>
        <p:spPr>
          <a:xfrm>
            <a:off x="594360" y="160020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8" name="TextBox 7"/>
          <p:cNvSpPr txBox="1"/>
          <p:nvPr/>
        </p:nvSpPr>
        <p:spPr>
          <a:xfrm>
            <a:off x="685800" y="21945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MTBF &gt;1 года · недостаточно failures</a:t>
            </a:r>
          </a:p>
        </p:txBody>
      </p:sp>
      <p:sp>
        <p:nvSpPr>
          <p:cNvPr id="9" name="TextBox 8"/>
          <p:cNvSpPr txBox="1"/>
          <p:nvPr/>
        </p:nvSpPr>
        <p:spPr>
          <a:xfrm>
            <a:off x="685800" y="251460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Известная физика · CFD/FEA лучше ML</a:t>
            </a:r>
          </a:p>
        </p:txBody>
      </p:sp>
      <p:sp>
        <p:nvSpPr>
          <p:cNvPr id="10" name="TextBox 9"/>
          <p:cNvSpPr txBox="1"/>
          <p:nvPr/>
        </p:nvSpPr>
        <p:spPr>
          <a:xfrm>
            <a:off x="685800" y="2834639"/>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Эталонная разметка дорогая</a:t>
            </a:r>
          </a:p>
        </p:txBody>
      </p:sp>
      <p:sp>
        <p:nvSpPr>
          <p:cNvPr id="11" name="Rounded Rectangle 10"/>
          <p:cNvSpPr/>
          <p:nvPr/>
        </p:nvSpPr>
        <p:spPr>
          <a:xfrm>
            <a:off x="640080" y="324612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91839"/>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physics-based sim · DOE · SPC</a:t>
            </a:r>
          </a:p>
        </p:txBody>
      </p:sp>
      <p:sp>
        <p:nvSpPr>
          <p:cNvPr id="13" name="Rounded Rectangle 12"/>
          <p:cNvSpPr/>
          <p:nvPr/>
        </p:nvSpPr>
        <p:spPr>
          <a:xfrm>
            <a:off x="6126480" y="155448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B · Стоимость</a:t>
            </a:r>
          </a:p>
        </p:txBody>
      </p:sp>
      <p:sp>
        <p:nvSpPr>
          <p:cNvPr id="16" name="TextBox 15"/>
          <p:cNvSpPr txBox="1"/>
          <p:nvPr/>
        </p:nvSpPr>
        <p:spPr>
          <a:xfrm>
            <a:off x="6263640" y="160020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2 критерия</a:t>
            </a:r>
          </a:p>
        </p:txBody>
      </p:sp>
      <p:sp>
        <p:nvSpPr>
          <p:cNvPr id="17" name="TextBox 16"/>
          <p:cNvSpPr txBox="1"/>
          <p:nvPr/>
        </p:nvSpPr>
        <p:spPr>
          <a:xfrm>
            <a:off x="6355080" y="21945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FP cost &gt;10× FN · SPC лучше</a:t>
            </a:r>
          </a:p>
        </p:txBody>
      </p:sp>
      <p:sp>
        <p:nvSpPr>
          <p:cNvPr id="18" name="TextBox 17"/>
          <p:cNvSpPr txBox="1"/>
          <p:nvPr/>
        </p:nvSpPr>
        <p:spPr>
          <a:xfrm>
            <a:off x="6355080" y="251460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SIL 2/3 safety-critical · ML cert hard</a:t>
            </a:r>
          </a:p>
        </p:txBody>
      </p:sp>
      <p:sp>
        <p:nvSpPr>
          <p:cNvPr id="19" name="Rounded Rectangle 18"/>
          <p:cNvSpPr/>
          <p:nvPr/>
        </p:nvSpPr>
        <p:spPr>
          <a:xfrm>
            <a:off x="6309360" y="324612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91839"/>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SPC · RCM · rules-based</a:t>
            </a:r>
          </a:p>
        </p:txBody>
      </p:sp>
      <p:sp>
        <p:nvSpPr>
          <p:cNvPr id="21" name="Rounded Rectangle 20"/>
          <p:cNvSpPr/>
          <p:nvPr/>
        </p:nvSpPr>
        <p:spPr>
          <a:xfrm>
            <a:off x="457200" y="388620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86200"/>
            <a:ext cx="5532120"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93192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C · Регуляторика</a:t>
            </a:r>
          </a:p>
        </p:txBody>
      </p:sp>
      <p:sp>
        <p:nvSpPr>
          <p:cNvPr id="24" name="TextBox 23"/>
          <p:cNvSpPr txBox="1"/>
          <p:nvPr/>
        </p:nvSpPr>
        <p:spPr>
          <a:xfrm>
            <a:off x="594360" y="393192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25" name="TextBox 24"/>
          <p:cNvSpPr txBox="1"/>
          <p:nvPr/>
        </p:nvSpPr>
        <p:spPr>
          <a:xfrm>
            <a:off x="685800" y="452628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Audit-trail обязателен (FDA, GAMP)</a:t>
            </a:r>
          </a:p>
        </p:txBody>
      </p:sp>
      <p:sp>
        <p:nvSpPr>
          <p:cNvPr id="26" name="TextBox 25"/>
          <p:cNvSpPr txBox="1"/>
          <p:nvPr/>
        </p:nvSpPr>
        <p:spPr>
          <a:xfrm>
            <a:off x="685800" y="484632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ATEX Zone 0 · hardware restriction</a:t>
            </a:r>
          </a:p>
        </p:txBody>
      </p:sp>
      <p:sp>
        <p:nvSpPr>
          <p:cNvPr id="27" name="TextBox 26"/>
          <p:cNvSpPr txBox="1"/>
          <p:nvPr/>
        </p:nvSpPr>
        <p:spPr>
          <a:xfrm>
            <a:off x="685800" y="51663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Указ 250 / КИИ</a:t>
            </a:r>
          </a:p>
        </p:txBody>
      </p:sp>
      <p:sp>
        <p:nvSpPr>
          <p:cNvPr id="28" name="Rounded Rectangle 27"/>
          <p:cNvSpPr/>
          <p:nvPr/>
        </p:nvSpPr>
        <p:spPr>
          <a:xfrm>
            <a:off x="640080" y="557784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623560"/>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explainable ML · hybrid · on-premise</a:t>
            </a:r>
          </a:p>
        </p:txBody>
      </p:sp>
      <p:sp>
        <p:nvSpPr>
          <p:cNvPr id="30" name="Rounded Rectangle 29"/>
          <p:cNvSpPr/>
          <p:nvPr/>
        </p:nvSpPr>
        <p:spPr>
          <a:xfrm>
            <a:off x="6126480" y="388620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886200"/>
            <a:ext cx="5532120"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931920"/>
            <a:ext cx="525780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D · Человек</a:t>
            </a:r>
          </a:p>
        </p:txBody>
      </p:sp>
      <p:sp>
        <p:nvSpPr>
          <p:cNvPr id="33" name="TextBox 32"/>
          <p:cNvSpPr txBox="1"/>
          <p:nvPr/>
        </p:nvSpPr>
        <p:spPr>
          <a:xfrm>
            <a:off x="6263640" y="3931920"/>
            <a:ext cx="5257800" cy="411480"/>
          </a:xfrm>
          <a:prstGeom prst="rect">
            <a:avLst/>
          </a:prstGeom>
          <a:noFill/>
        </p:spPr>
        <p:txBody>
          <a:bodyPr wrap="square" lIns="0" rIns="0" tIns="0" bIns="0" anchor="ctr">
            <a:spAutoFit/>
          </a:bodyPr>
          <a:lstStyle/>
          <a:p>
            <a:pPr algn="r">
              <a:lnSpc>
                <a:spcPct val="115000"/>
              </a:lnSpc>
            </a:pPr>
            <a:r>
              <a:rPr sz="1100" b="0" i="1">
                <a:solidFill>
                  <a:srgbClr val="FFFFFF"/>
                </a:solidFill>
                <a:latin typeface="Arial"/>
              </a:rPr>
              <a:t>3 критерия</a:t>
            </a:r>
          </a:p>
        </p:txBody>
      </p:sp>
      <p:sp>
        <p:nvSpPr>
          <p:cNvPr id="34" name="TextBox 33"/>
          <p:cNvSpPr txBox="1"/>
          <p:nvPr/>
        </p:nvSpPr>
        <p:spPr>
          <a:xfrm>
            <a:off x="6355080" y="452628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Operator distrust → workaround</a:t>
            </a:r>
          </a:p>
        </p:txBody>
      </p:sp>
      <p:sp>
        <p:nvSpPr>
          <p:cNvPr id="35" name="TextBox 34"/>
          <p:cNvSpPr txBox="1"/>
          <p:nvPr/>
        </p:nvSpPr>
        <p:spPr>
          <a:xfrm>
            <a:off x="6355080" y="484632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Pilot без go-criteria · pilot purgatory</a:t>
            </a:r>
          </a:p>
        </p:txBody>
      </p:sp>
      <p:sp>
        <p:nvSpPr>
          <p:cNvPr id="36" name="TextBox 35"/>
          <p:cNvSpPr txBox="1"/>
          <p:nvPr/>
        </p:nvSpPr>
        <p:spPr>
          <a:xfrm>
            <a:off x="6355080" y="5166360"/>
            <a:ext cx="5074920" cy="292608"/>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Demo-hype без 6-mo production</a:t>
            </a:r>
          </a:p>
        </p:txBody>
      </p:sp>
      <p:sp>
        <p:nvSpPr>
          <p:cNvPr id="37" name="Rounded Rectangle 36"/>
          <p:cNvSpPr/>
          <p:nvPr/>
        </p:nvSpPr>
        <p:spPr>
          <a:xfrm>
            <a:off x="6309360" y="5577840"/>
            <a:ext cx="5166359"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5623560"/>
            <a:ext cx="4983480" cy="365760"/>
          </a:xfrm>
          <a:prstGeom prst="rect">
            <a:avLst/>
          </a:prstGeom>
          <a:noFill/>
        </p:spPr>
        <p:txBody>
          <a:bodyPr wrap="square" lIns="0" rIns="0" tIns="0" bIns="0" anchor="ctr">
            <a:spAutoFit/>
          </a:bodyPr>
          <a:lstStyle/>
          <a:p>
            <a:pPr algn="l">
              <a:lnSpc>
                <a:spcPct val="115000"/>
              </a:lnSpc>
            </a:pPr>
            <a:r>
              <a:rPr sz="1000" b="1" i="1">
                <a:solidFill>
                  <a:srgbClr val="21295C"/>
                </a:solidFill>
                <a:latin typeface="Arial"/>
              </a:rPr>
              <a:t>Альт-вы: Six Sigma · Jidoka · structured pilots</a:t>
            </a:r>
          </a:p>
        </p:txBody>
      </p:sp>
      <p:sp>
        <p:nvSpPr>
          <p:cNvPr id="39" name="Rounded Rectangle 38"/>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Матрица альтернатив — что использовать ДО ML</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regulatory friendly</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Reg-friendly</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univariate, стабильные</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multi-variate</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Causal inference</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online</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process control, online</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Explicit model, reacts к drift</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calibrated</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learning</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Physics-sim</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CFD/FEA/kinetics</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Rules-vision</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controlled env</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Validated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variability</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HYBRID PATTERNS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(Physics-Informed NN) — physics constraints в ML loss · CIRL — PID в loss function deep RL (BASF)</a:t>
            </a:r>
          </a:p>
          <a:p>
            <a:pPr algn="l">
              <a:lnSpc>
                <a:spcPct val="140000"/>
              </a:lnSpc>
            </a:pPr>
            <a:r>
              <a:rPr sz="1200" b="0" i="0">
                <a:solidFill>
                  <a:srgbClr val="21295C"/>
                </a:solidFill>
                <a:latin typeface="Arial"/>
              </a:rPr>
              <a:t>ML over SPC — статистический baseline + ML на остатке · PLC + edge ML coprocessor (POSCO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5-step framework — worked example</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framework ретроспективно — это готовый инструмент, не abstract theory</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Identify class</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continuous bioprocessing.
mRNA-вакцины: batch process,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Map alternatives</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univariate baseline (недостаточен)
DOE: not suitable (online)
MPC: control, не покрывает rare anomalies</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Apply 4 cats</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batch data + разметка из QC
Стоимость ✓ FP cost manageable
Регул. ✓/✗ FDA → recommend mode
Человек ✓ operators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Pilot + go-criteria</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doses per batch — baseline известен.
Go-criterion: baseline + ROI within 12 mo.</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STEP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Production + HITL</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recommends actions to operators»
Architecture: decision-support, не controller.
Audit trail для FDA Part 11 — satisfied.</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Lesson: 5-step framework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5-step framework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четыре вопроса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Identify class</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discrete / process?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Map alternatives</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physics-sim / rules-vision</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Apply 4 categories</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Pilot + go-criteria</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baseline + measure window +
go/no-go threshold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Production + HITL</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recommend mode safety-critical
validated, traceable</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ЧЕТЫРЕ ВОПРОСА К ВЕНДОРУ — для кармана</a:t>
            </a:r>
          </a:p>
        </p:txBody>
      </p:sp>
      <p:sp>
        <p:nvSpPr>
          <p:cNvPr id="35" name="Rounded Rectangle 34"/>
          <p:cNvSpPr/>
          <p:nvPr/>
        </p:nvSpPr>
        <p:spPr>
          <a:xfrm>
            <a:off x="457200"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a:t>
            </a:r>
          </a:p>
        </p:txBody>
      </p:sp>
      <p:sp>
        <p:nvSpPr>
          <p:cNvPr id="37" name="TextBox 36"/>
          <p:cNvSpPr txBox="1"/>
          <p:nvPr/>
        </p:nvSpPr>
        <p:spPr>
          <a:xfrm>
            <a:off x="548640"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Baseline до AI</a:t>
            </a:r>
          </a:p>
        </p:txBody>
      </p:sp>
      <p:sp>
        <p:nvSpPr>
          <p:cNvPr id="38" name="TextBox 37"/>
          <p:cNvSpPr txBox="1"/>
          <p:nvPr/>
        </p:nvSpPr>
        <p:spPr>
          <a:xfrm>
            <a:off x="594360"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на какой объём сравниваете?</a:t>
            </a:r>
          </a:p>
        </p:txBody>
      </p:sp>
      <p:sp>
        <p:nvSpPr>
          <p:cNvPr id="39" name="Rounded Rectangle 38"/>
          <p:cNvSpPr/>
          <p:nvPr/>
        </p:nvSpPr>
        <p:spPr>
          <a:xfrm>
            <a:off x="3255264"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55264"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2</a:t>
            </a:r>
          </a:p>
        </p:txBody>
      </p:sp>
      <p:sp>
        <p:nvSpPr>
          <p:cNvPr id="41" name="TextBox 40"/>
          <p:cNvSpPr txBox="1"/>
          <p:nvPr/>
        </p:nvSpPr>
        <p:spPr>
          <a:xfrm>
            <a:off x="3346704"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42" name="TextBox 41"/>
          <p:cNvSpPr txBox="1"/>
          <p:nvPr/>
        </p:nvSpPr>
        <p:spPr>
          <a:xfrm>
            <a:off x="3392424"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за какой период оценка?</a:t>
            </a:r>
          </a:p>
        </p:txBody>
      </p:sp>
      <p:sp>
        <p:nvSpPr>
          <p:cNvPr id="43" name="Rounded Rectangle 42"/>
          <p:cNvSpPr/>
          <p:nvPr/>
        </p:nvSpPr>
        <p:spPr>
          <a:xfrm>
            <a:off x="6053328"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53328"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3</a:t>
            </a:r>
          </a:p>
        </p:txBody>
      </p:sp>
      <p:sp>
        <p:nvSpPr>
          <p:cNvPr id="45" name="TextBox 44"/>
          <p:cNvSpPr txBox="1"/>
          <p:nvPr/>
        </p:nvSpPr>
        <p:spPr>
          <a:xfrm>
            <a:off x="6144768"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46" name="TextBox 45"/>
          <p:cNvSpPr txBox="1"/>
          <p:nvPr/>
        </p:nvSpPr>
        <p:spPr>
          <a:xfrm>
            <a:off x="6190488"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что реально автоматизировано?</a:t>
            </a:r>
          </a:p>
        </p:txBody>
      </p:sp>
      <p:sp>
        <p:nvSpPr>
          <p:cNvPr id="47" name="Rounded Rectangle 46"/>
          <p:cNvSpPr/>
          <p:nvPr/>
        </p:nvSpPr>
        <p:spPr>
          <a:xfrm>
            <a:off x="8851392" y="4709160"/>
            <a:ext cx="274320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51392" y="4800600"/>
            <a:ext cx="27432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a:t>
            </a:r>
          </a:p>
        </p:txBody>
      </p:sp>
      <p:sp>
        <p:nvSpPr>
          <p:cNvPr id="49" name="TextBox 48"/>
          <p:cNvSpPr txBox="1"/>
          <p:nvPr/>
        </p:nvSpPr>
        <p:spPr>
          <a:xfrm>
            <a:off x="8942832" y="5303520"/>
            <a:ext cx="256032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OEE-канал</a:t>
            </a:r>
          </a:p>
        </p:txBody>
      </p:sp>
      <p:sp>
        <p:nvSpPr>
          <p:cNvPr id="50" name="TextBox 49"/>
          <p:cNvSpPr txBox="1"/>
          <p:nvPr/>
        </p:nvSpPr>
        <p:spPr>
          <a:xfrm>
            <a:off x="8988552" y="5715000"/>
            <a:ext cx="2468880" cy="502920"/>
          </a:xfrm>
          <a:prstGeom prst="rect">
            <a:avLst/>
          </a:prstGeom>
          <a:noFill/>
        </p:spPr>
        <p:txBody>
          <a:bodyPr wrap="square" lIns="0" rIns="0" tIns="0" bIns="0" anchor="t">
            <a:spAutoFit/>
          </a:bodyPr>
          <a:lstStyle/>
          <a:p>
            <a:pPr algn="ctr">
              <a:lnSpc>
                <a:spcPct val="130000"/>
              </a:lnSpc>
            </a:pPr>
            <a:r>
              <a:rPr sz="1000" b="0" i="1">
                <a:solidFill>
                  <a:srgbClr val="4A556B"/>
                </a:solidFill>
                <a:latin typeface="Arial"/>
              </a:rPr>
              <a:t>availability / performance / quality?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Recap · 5 вендор-вопросов · bridge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6 мин · 3 слайда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Recap двухколонной схемы + failure-callback</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discrete | process | universal</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CV (BMW + TSMC + Boeing) · разметка · PdM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Failure-урок:</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scarce labels</a:t>
            </a:r>
          </a:p>
          <a:p>
            <a:pPr algn="l">
              <a:lnSpc>
                <a:spcPct val="130000"/>
              </a:lnSpc>
            </a:pPr>
            <a:r>
              <a:rPr sz="1100" b="0" i="0">
                <a:solidFill>
                  <a:srgbClr val="21295C"/>
                </a:solidFill>
                <a:latin typeface="Arial"/>
              </a:rPr>
              <a:t>vendor self-claim</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PdM на edge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Failure-урок:</a:t>
            </a:r>
          </a:p>
          <a:p>
            <a:pPr algn="l">
              <a:lnSpc>
                <a:spcPct val="130000"/>
              </a:lnSpc>
            </a:pPr>
            <a:r>
              <a:rPr sz="1100" b="0" i="0">
                <a:solidFill>
                  <a:srgbClr val="21295C"/>
                </a:solidFill>
                <a:latin typeface="Arial"/>
              </a:rPr>
              <a:t>RL drift · regulatory blocker</a:t>
            </a:r>
          </a:p>
          <a:p>
            <a:pPr algn="l">
              <a:lnSpc>
                <a:spcPct val="130000"/>
              </a:lnSpc>
            </a:pPr>
            <a:r>
              <a:rPr sz="1100" b="0" i="0">
                <a:solidFill>
                  <a:srgbClr val="21295C"/>
                </a:solidFill>
                <a:latin typeface="Arial"/>
              </a:rPr>
              <a:t>OT-IT раскол · vendor PR</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Foundation models = augmentation, не controller · 95% не доходят до production · 4 категории + 5-step framework + 4 вопроса</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FAILURE-CALLBACK (формула):</a:t>
            </a:r>
          </a:p>
          <a:p>
            <a:pPr algn="l">
              <a:lnSpc>
                <a:spcPct val="130000"/>
              </a:lnSpc>
            </a:pPr>
            <a:r>
              <a:rPr sz="1300" b="1" i="1">
                <a:solidFill>
                  <a:srgbClr val="FFFFFF"/>
                </a:solidFill>
                <a:latin typeface="Arial"/>
              </a:rPr>
              <a:t>«Завтра вендор обещает –70% downtime — задайте 3 вопроса + 4-й OEE. Если расплывчатые ответы — это demo, не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vendor pitch</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Baseline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OEE-канал</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Availability / Performance / Quality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Архитектурный класс</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Chat-помощник для оператора или autonomous controller?</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5-step framework. Если хотя бы шаг не проходит — отчитайтесь руководству. Не запускайте pilot без go-criteria.</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«SPC vs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univariate → SPC. Multi-variate + recommend mode + audit trail → ML. Hybrid: SPC + ML over residuals — defensible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Q. «RL vs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dominates control loop. RL дополняет MPC на high-level scheduling. Safe-fallback к MPC mandatory.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5943600" cy="4572000"/>
          </a:xfrm>
          <a:prstGeom prst="rect">
            <a:avLst/>
          </a:prstGeom>
        </p:spPr>
      </p:pic>
      <p:sp>
        <p:nvSpPr>
          <p:cNvPr id="3" name="TextBox 2"/>
          <p:cNvSpPr txBox="1"/>
          <p:nvPr/>
        </p:nvSpPr>
        <p:spPr>
          <a:xfrm>
            <a:off x="457200" y="512064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 BMW Digital Twin · NVIDIA GTC Paris 2025</a:t>
            </a:r>
          </a:p>
        </p:txBody>
      </p:sp>
      <p:sp>
        <p:nvSpPr>
          <p:cNvPr id="4" name="TextBox 3"/>
          <p:cNvSpPr txBox="1"/>
          <p:nvPr/>
        </p:nvSpPr>
        <p:spPr>
          <a:xfrm>
            <a:off x="6675120" y="640080"/>
            <a:ext cx="5212080" cy="4572000"/>
          </a:xfrm>
          <a:prstGeom prst="rect">
            <a:avLst/>
          </a:prstGeom>
          <a:noFill/>
        </p:spPr>
        <p:txBody>
          <a:bodyPr wrap="square" lIns="0" rIns="0" tIns="0" bIns="0" anchor="t">
            <a:spAutoFit/>
          </a:bodyPr>
          <a:lstStyle/>
          <a:p>
            <a:pPr algn="l">
              <a:lnSpc>
                <a:spcPct val="120000"/>
              </a:lnSpc>
            </a:pPr>
            <a:r>
              <a:rPr sz="1400" b="0" i="1">
                <a:solidFill>
                  <a:srgbClr val="F0AB00"/>
                </a:solidFill>
                <a:latin typeface="Arial"/>
              </a:rPr>
              <a:t>Лекция 12 — bridge</a:t>
            </a:r>
          </a:p>
          <a:p>
            <a:pPr algn="l">
              <a:lnSpc>
                <a:spcPct val="120000"/>
              </a:lnSpc>
            </a:pPr>
            <a:r>
              <a:rPr sz="2600" b="1" i="0">
                <a:solidFill>
                  <a:srgbClr val="21295C"/>
                </a:solidFill>
                <a:latin typeface="Arial"/>
              </a:rPr>
              <a:t>Сшивка инструментов в</a:t>
            </a:r>
          </a:p>
          <a:p>
            <a:pPr algn="l">
              <a:lnSpc>
                <a:spcPct val="120000"/>
              </a:lnSpc>
            </a:pPr>
            <a:r>
              <a:rPr sz="2600" b="1" i="0">
                <a:solidFill>
                  <a:srgbClr val="21295C"/>
                </a:solidFill>
                <a:latin typeface="Arial"/>
              </a:rPr>
              <a:t>production-fabric</a:t>
            </a:r>
          </a:p>
          <a:p>
            <a:pPr algn="l">
              <a:lnSpc>
                <a:spcPct val="120000"/>
              </a:lnSpc>
            </a:pPr>
            <a:r>
              <a:rPr sz="1000" b="0" i="0">
                <a:solidFill>
                  <a:srgbClr val="21295C"/>
                </a:solidFill>
                <a:latin typeface="Arial"/>
              </a:rPr>
              <a:t/>
            </a:r>
          </a:p>
          <a:p>
            <a:pPr algn="l">
              <a:lnSpc>
                <a:spcPct val="120000"/>
              </a:lnSpc>
            </a:pPr>
            <a:r>
              <a:rPr sz="1400" b="1" i="0">
                <a:solidFill>
                  <a:srgbClr val="065A82"/>
                </a:solidFill>
                <a:latin typeface="Arial"/>
              </a:rPr>
              <a:t>Сегодня:</a:t>
            </a:r>
          </a:p>
          <a:p>
            <a:pPr algn="l">
              <a:lnSpc>
                <a:spcPct val="120000"/>
              </a:lnSpc>
            </a:pPr>
            <a:r>
              <a:rPr sz="1200" b="0" i="0">
                <a:solidFill>
                  <a:srgbClr val="21295C"/>
                </a:solidFill>
                <a:latin typeface="Arial"/>
              </a:rPr>
              <a:t>CV-инспекция, soft sensors, PdM, foundation models — отдельные инструменты.</a:t>
            </a:r>
          </a:p>
          <a:p>
            <a:pPr algn="l">
              <a:lnSpc>
                <a:spcPct val="120000"/>
              </a:lnSpc>
            </a:pPr>
            <a:r>
              <a:rPr sz="800" b="0" i="0">
                <a:solidFill>
                  <a:srgbClr val="21295C"/>
                </a:solidFill>
                <a:latin typeface="Arial"/>
              </a:rPr>
              <a:t/>
            </a:r>
          </a:p>
          <a:p>
            <a:pPr algn="l">
              <a:lnSpc>
                <a:spcPct val="120000"/>
              </a:lnSpc>
            </a:pPr>
            <a:r>
              <a:rPr sz="1400" b="1" i="0">
                <a:solidFill>
                  <a:srgbClr val="065A82"/>
                </a:solidFill>
                <a:latin typeface="Arial"/>
              </a:rPr>
              <a:t>Лекция 12:</a:t>
            </a:r>
          </a:p>
          <a:p>
            <a:pPr algn="l">
              <a:lnSpc>
                <a:spcPct val="120000"/>
              </a:lnSpc>
            </a:pPr>
            <a:r>
              <a:rPr sz="1200" b="0" i="0">
                <a:solidFill>
                  <a:srgbClr val="21295C"/>
                </a:solidFill>
                <a:latin typeface="Arial"/>
              </a:rPr>
              <a:t>Цифровые двойники как унифицирующая абстракция · AI в автоматизации · ГОСТ Р 57700.37 в РФ.</a:t>
            </a:r>
          </a:p>
          <a:p>
            <a:pPr algn="l">
              <a:lnSpc>
                <a:spcPct val="120000"/>
              </a:lnSpc>
            </a:pPr>
            <a:r>
              <a:rPr sz="800" b="0" i="0">
                <a:solidFill>
                  <a:srgbClr val="21295C"/>
                </a:solidFill>
                <a:latin typeface="Arial"/>
              </a:rPr>
              <a:t/>
            </a:r>
          </a:p>
          <a:p>
            <a:pPr algn="l">
              <a:lnSpc>
                <a:spcPct val="120000"/>
              </a:lnSpc>
            </a:pPr>
            <a:r>
              <a:rPr sz="1400" b="1" i="0">
                <a:solidFill>
                  <a:srgbClr val="065A82"/>
                </a:solidFill>
                <a:latin typeface="Arial"/>
              </a:rPr>
              <a:t>Параллели:</a:t>
            </a:r>
          </a:p>
          <a:p>
            <a:pPr algn="l">
              <a:lnSpc>
                <a:spcPct val="120000"/>
              </a:lnSpc>
            </a:pPr>
            <a:r>
              <a:rPr sz="1200" b="0" i="1">
                <a:solidFill>
                  <a:srgbClr val="4A556B"/>
                </a:solidFill>
                <a:latin typeface="Arial"/>
              </a:rPr>
              <a:t>BMW 30+ plants · Holcim world-first cement DT · Foxconn-NVIDIA Omniverse</a:t>
            </a:r>
          </a:p>
        </p:txBody>
      </p:sp>
      <p:sp>
        <p:nvSpPr>
          <p:cNvPr id="5" name="Rounded Rectangle 4"/>
          <p:cNvSpPr/>
          <p:nvPr/>
        </p:nvSpPr>
        <p:spPr>
          <a:xfrm>
            <a:off x="457200" y="5532120"/>
            <a:ext cx="11274552" cy="91440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035040"/>
            <a:ext cx="10972800" cy="320040"/>
          </a:xfrm>
          <a:prstGeom prst="rect">
            <a:avLst/>
          </a:prstGeom>
          <a:noFill/>
        </p:spPr>
        <p:txBody>
          <a:bodyPr wrap="square" lIns="0" rIns="0" tIns="0" bIns="0" anchor="t">
            <a:spAutoFit/>
          </a:bodyPr>
          <a:lstStyle/>
          <a:p>
            <a:pPr algn="ctr">
              <a:lnSpc>
                <a:spcPct val="115000"/>
              </a:lnSpc>
            </a:pPr>
            <a:r>
              <a:rPr sz="12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