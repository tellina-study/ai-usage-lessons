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slide broke the agent's context into four levels; each of them has its own honest limit, and those limits are different — which is why we walk through them in the same order.</a:t>
            </a:r>
          </a:p>
          <a:p>
            <a:r>
              <a:t>Level one, the persistent instructions. The failure mode here is worse than simply not having a file: both the agent and the human trust an artifact that has stopped describing the real project. A missing file the agent compensates for by asking a question or scouting the repository; a stale one it follows literally. Concretely: the file prescribes a build command that was replaced long ago, the agent stubbornly runs it, gets an opaque environment error, and spends turns diagnosing a problem that does not exist — while it would have found the current command by searching in seconds.</a:t>
            </a:r>
          </a:p>
          <a:p>
            <a:r>
              <a:t>Level two, the context of a single session. Compaction is summarization, and summarization is lossy by definition: if the conversation explicitly decided not to use library X because of a licensing conflict, and the model judged that detail secondary while compressing, the decision disappears silently. No error is raised — the agent simply proposes, a few turns later, exactly what was just rejected. JIT retrieval suffers symmetrically from the other side of the same trade-off: the agent pulls in what it thought to ask for, and what it does not know exists it will never request.</a:t>
            </a:r>
          </a:p>
          <a:p>
            <a:r>
              <a:t>Level three, the operational history. There is one instruction file, and it gets re-read together with the project at every review; an archive of write-ups is dozens of separate documents, and it ages unnoticed. The agent finds a document by relevance to the query rather than by currency, and proposes a workaround for a problem that was closed six months ago.</a:t>
            </a:r>
          </a:p>
          <a:p>
            <a:r>
              <a:t>Level four, memory. It accumulates on its own, so it cannot be proofread line by line. A wrong belief, once retained and read only by the agent itself, is reproduced in every following session — what it needs is periodic checking from outside, not line-by-line editing. Hence the allocation rule: what cannot be lost silently is recorded at level one.</a:t>
            </a:r>
          </a:p>
          <a:p>
            <a:r>
              <a:t>Sources:</a:t>
            </a:r>
          </a:p>
          <a:p>
            <a:r>
              <a:t>[1] Anthropic — context engineering — compaction summarizes lossily; JIT retrieval will not ask for what it does not know exists — curation trades one risk for another. https://www.anthropic.com/engineering/effective-context-engineering-for-ai-agents [VFY-day-of]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practice of the phase is harness engineering, and this is yet another separate cross-section that must not be confused with the first two. The first was about how to work, the second about what to store, this one about what to check with. Birgitta Böckeler of Thoughtworks formulates the main idea this way: reliable AI development is achieved not by giving the model more freedom, but by narrowing its solution space with explicit structure and verification [1]. The reason lies in the nature of the model: it is nondeterministic — the same prompt gives different answers, some of which are plausibly wrong. And the harness is deterministic: a test either passes or not, a linter either complains or not. We surround the nondeterministic core with a deterministic harness — linters, structural tests, entropy management, plus a security perimeter: least privilege, an isolated environment, a pull request as a mandatory gate [1].</a:t>
            </a:r>
          </a:p>
          <a:p>
            <a:r>
              <a:t>The main mechanism of the harness is the loop through failure. When the agent stalls, this is not a reason to blame the model, but a diagnostic signal about a hole in the scaffold: not enough of a build command — add it to AGENTS.md; the agent broke an architectural invariant — write a fitness function that will catch it on every commit [3]; generated unsafe code — put a SAST-gate in place. The scaffold grows out of real failures, and a good practice is to assemble evals from twenty to fifty tasks from your own bug tracker.</a:t>
            </a:r>
          </a:p>
          <a:p>
            <a:r>
              <a:t>And now the honest limitation for which this slide stands in the bucket of failures: guardrails are not equal to verification. The scaffold, as Böckeler says, contains no check of functionality and behavior — a linter knows the code is formatted, but does not know whether it solves the right task [1]. Hence the phase's takeaway: three layers work, and none replaces another — the harness holds the form, behavior tests check behavior, the human is responsible for the merge. It is precisely about this last layer that Simon Willison, author of the term "vibe engineering," speaks sharply: if the code is not reviewed by a human, it is not yet engineering [2] — responsibility for merging is not handed off to the harness or to the model [2].</a:t>
            </a:r>
          </a:p>
          <a:p>
            <a:r>
              <a:t>Sources:</a:t>
            </a:r>
          </a:p>
          <a:p>
            <a:r>
              <a:t>[1] Thoughtworks — Exploring Gen AI (Böckeler) — harness engineering: a deterministic scaffold around the model. https://martinfowler.com/articles/exploring-gen-ai.html</a:t>
            </a:r>
          </a:p>
          <a:p>
            <a:r>
              <a:t>[2] Willison — Vibe engineering — "review it — or it's not engineering"; three layers of control. https://simonwillison.net/2025/Oct/7/vibe-engineering/</a:t>
            </a:r>
          </a:p>
          <a:p>
            <a:r>
              <a:t>[3] Thoughtworks — fitness function — invariant violation -&gt; add a fitness function back into the harness. https://www.thoughtworks.com/radar/techniques/architectural-fitness-function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permanent instruction layer — AGENTS.md — is read by the agent on every turn, and you pay for it in context always, even for an instruction needed once a quarter. A skill resolves exactly that trade-off: it is a folder with a SKILL.md file that is loaded only when the task matches it. Until it is called, it costs almost nothing.</a:t>
            </a:r>
          </a:p>
          <a:p>
            <a:r>
              <a:t>The more important question is not the mechanism but what is actually worth moving into a skill in development. Practice reduces to three recognizable types. The first is running every check with one command: this repository's linter, type checker and tests are invoked in a single call rather than reconstructed by the agent from fragments of configuration. The second is a throwaway database for an integration test: how to bring up a real Postgres or Kafka in a container for the duration of a run and tear it down after. The third is building documentation from the code: walking the project structure and dependencies, assembling the README and the architecture decision records. All three share one profile — many steps, needed rarely.</a:t>
            </a:r>
          </a:p>
          <a:p>
            <a:r>
              <a:t>The boundary matters as much as the list. A skill is not the answer when the procedure is needed every turn — that belongs in AGENTS.md; when the task is a one-off — just ask in chat; when it is a single fact rather than a sequence of steps — a line in the instructions is enough. Skills about "everything at once" are actively harmful: the agent picks a skill by its description, and a vague description means it either will not find the skill in time or will apply it in the wrong place. The same rule was formulated independently in recent software-engineering work: one skill, one coherent capability recognizable from its description.</a:t>
            </a:r>
          </a:p>
          <a:p>
            <a:r>
              <a:t>The format is declared an open standard and is confirmed in Codex CLI, but Cursor has no on-demand layer — there the rules are always active. The phrase "the tool supports skills" is worth checking rather than taking on trust.</a:t>
            </a:r>
          </a:p>
          <a:p>
            <a:r>
              <a:t>Sources:</a:t>
            </a:r>
          </a:p>
          <a:p>
            <a:r>
              <a:t>[1] Agent Skills — open standard — the SKILL.md format works across several AI tools, not one vendor. https://agentskills.io/</a:t>
            </a:r>
          </a:p>
          <a:p>
            <a:r>
              <a:t>[2] Claude Docs — Skills — the body of a skill loads only when used — progressive disclosure. https://code.claude.com/docs/en/skills [VFY-day-of]</a:t>
            </a:r>
          </a:p>
          <a:p>
            <a:r>
              <a:t>[3] Destefanis — Authoring Agent Skills (arXiv:2607.25032) — SE design principles for a skill: single responsibility, high cohesion / low coupling; single author, preprint. https://arxiv.org/abs/2607.25032 [VFY-day-of]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MCP the agent sees only the files of the working copy and the terminal. That is enough for code, but not for anything outside the repository: the issue tracker, a live browser, the build system. While there is no bridge, the engineer is the bridge — carrying data across by hand. MCP removes that: on connection the server publishes the list of its tools, and the agent calls them in the same loop it uses for built-in ones.</a:t>
            </a:r>
          </a:p>
          <a:p>
            <a:r>
              <a:t>There is a cost here that is discussed less often. The server publishes not the system's whole interface but a curated set of tools. What is not in the set is out of reach for the agent even if the system itself can do it: the GitHub MCP toolset is a subset of what is reachable through the GitHub API and through the gh command in the terminal. On top of that, every tool schema occupies context permanently, from the moment of connection rather than at call time. So where the agent already has a terminal, a narrow command is often cheaper than an MCP call, and the set of active servers is worth keeping minimal.</a:t>
            </a:r>
          </a:p>
          <a:p>
            <a:r>
              <a:t>Security deserves its own point, and here it is important not to get the sign wrong. The lethal trifecta is access to data, a channel out, and untrusted content; what is dangerous is precisely their combination. One server usually grants the first two at once, in a single connection, and the third arrives through the same channel as soon as the agent reads someone else's issue. That is a risk, not a convenience: a concentration of access, not a defense. A documented case: instructions hidden in public issues made the agent leak private-repository data through the pull requests it created.</a:t>
            </a:r>
          </a:p>
          <a:p>
            <a:r>
              <a:t>This is closed in three steps, and their order matters. Read-only by default: write tools are skipped even if the agent asked for them. Write access is opened for a specific task as a separate decision, not as an out-of-the-box setting. And the fewer servers are connected, the fewer corners of the trifecta and the less permanent context you carry.</a:t>
            </a:r>
          </a:p>
          <a:p>
            <a:r>
              <a:t>Sources:</a:t>
            </a:r>
          </a:p>
          <a:p>
            <a:r>
              <a:t>[1] GitHub MCP server — toolsets enabled selectively; an explicit read-only mode — writes are skipped. https://github.com/github/github-mcp-server [VFY-day-of]</a:t>
            </a:r>
          </a:p>
          <a:p>
            <a:r>
              <a:t>[2] Playwright MCP server (Microsoft) — an accessibility tree instead of a screenshot; generates an e2e test. https://github.com/microsoft/playwright-mcp [VFY-day-of]</a:t>
            </a:r>
          </a:p>
          <a:p>
            <a:r>
              <a:t>[3] Willison — the lethal trifecta — one MCP server often covers 2 of the 3 corners in a single connection. https://simonwillison.net/2025/Jun/16/the-lethal-trifecta/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task-logging layer is grown to fit the task rather than taken at maximum from the start. The patterns line up in ascending order of complexity.</a:t>
            </a:r>
          </a:p>
          <a:p>
            <a:r>
              <a:t>The simplest is one file, a shared chronological log: everything that happened is written down in sequence. It gives a coherent picture of "what and when" and reads well for a human, but in a team it becomes a bottleneck — everyone edits the same place, and merge conflicts are constant. The next step is a folder in which each task gets one file. Conflicts drop noticeably: different people write into different files. The granularity here is not arbitrary: the open-source project Backlog.md ties the size of a file to the rule "one task — one context window — one pull request", so that a change stays the size a human can read in one sitting. The most elaborate option is a folder per task with several files inside: only this gives a detailed trail of the intermediate steps, it is needed on long complex tasks, and it noticeably breeds directories.</a:t>
            </a:r>
          </a:p>
          <a:p>
            <a:r>
              <a:t>Three questions decide the choice: who works — one person or a team; how long the task lives; and why the trail is needed — to reconstruct a chronology, to report, or to review the line of reasoning.</a:t>
            </a:r>
          </a:p>
          <a:p>
            <a:r>
              <a:t>There is also a fourth option that is not file-based: keeping the operational log in the tracker — Jira, Linear, GitHub Issues. The advantages are real: it is visible to non-technical participants, it fits the process the team already has, and it keeps the repository clean. The drawback is specific: the tracker sits outside the agent's file context, and for the agent to read it you need a bridge over MCP or an API — an extra external dependency and a network call instead of a local file read.</a:t>
            </a:r>
          </a:p>
          <a:p>
            <a:r>
              <a:t>It is worth separately distinguishing what is not a task log at all: the built-in to-do lists live inside a single session and do not survive it, and commit history as the only log is a workable approach that is formalized nowhere.</a:t>
            </a:r>
          </a:p>
          <a:p>
            <a:r>
              <a:t>Sources:</a:t>
            </a:r>
          </a:p>
          <a:p>
            <a:r>
              <a:t>[1] Backlog.md — open-source project — "one task = one context window = one pull request". https://github.com/MrLesk/Backlog.md</a:t>
            </a:r>
          </a:p>
          <a:p>
            <a:r>
              <a:t>[2] Claude Docs — best practices (Task tools) — TaskCreate/TaskUpdate/TaskGet/TaskList — session-scoped live progress. https://code.claude.com/docs/en/best-practices [VFY-day-of]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itself is indifferent to what a commit message says and how a branch is named: it checks none of it. A convention is not a requirement of the tool but a voluntary team agreement, written down where everyone can see it — including the agent. What makes it written down is AGENTS.md: a rule that lives only in a developer's head is a rule the agent cannot read.</a:t>
            </a:r>
          </a:p>
          <a:p>
            <a:r>
              <a:t>The point of each of the three agreements is worth understanding separately from its syntax.</a:t>
            </a:r>
          </a:p>
          <a:p>
            <a:r>
              <a:t>The commit. The first line begins with a marker for what kind of change this is, and only then the description. The marker is not there for a human but for a program: from it, the release changelog and the new version number assemble themselves automatically — a fix bumps the last digit, a new capability the middle one. With an agent the point gets stronger: it commits systematically and an order of magnitude more often than a human, and there is no longer anyone to re-read every commit by eye — structure turns volume into an asset rather than noise.</a:t>
            </a:r>
          </a:p>
          <a:p>
            <a:r>
              <a:t>The branch. Task type, a slash, a short lowercase description; and for an agent's branches, dedicated prefixes. The branch name is the only thing a reviewer sees before opening the changes. The prefix says immediately that an agent drove this branch, and such branches can carry a separate checking rule. Without an agreement the branch list turns into "test2" and "fix-final".</a:t>
            </a:r>
          </a:p>
          <a:p>
            <a:r>
              <a:t>The pull-request description. A fixed set of sections: why, what changed, what was not touched, how it was checked, risks, what was deferred. The reviewer spends time on checking rather than on reconstructing the intent. The biggest saving comes from "what was not touched" — it removes the need to hunt for side effects where there were none. The agent fills the template in as it works rather than recalling it at the end.</a:t>
            </a:r>
          </a:p>
          <a:p>
            <a:r>
              <a:t>A rule common to all three: an agent never commits straight into the shared branch — every task gets its own.</a:t>
            </a:r>
          </a:p>
          <a:p>
            <a:r>
              <a:t>Sources:</a:t>
            </a:r>
          </a:p>
          <a:p>
            <a:r>
              <a:t>[1] Conventional Commits v1.0.0 — &lt;type&gt;[scope]: &lt;description&gt;; fix→PATCH, feat→MINOR, BREAKING CHANGE→MAJOR. https://www.conventionalcommits.org/en/v1.0.0/</a:t>
            </a:r>
          </a:p>
          <a:p>
            <a:r>
              <a:t>[2] Conventional Branch v1.1.0 — AI Agent Source Prefixes: ai/, claude/, codex/, copilot/, cursor/. https://conventionalbranch.org/ [VFY-day-of]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a discipline as apparently settled as "we do not commit secrets" has a practical hole that opens specifically in the agent context. On 28 January 2026 The Register independently documented and verified the following: Claude Code, checked on version v2.1.12, reads .env files containing secrets even when they are explicitly listed in both .gitignore and .claudeignore — the tool prints a warning that the file contains credentials, and then prints the contents anyway. At the date of publication there were at least four open issues on GitHub. The source's key formulation demolishes an intuitive but wrong assumption: "ignored by git" and "ignored by Claude Code" are two different things, governed by different configuration files. A file being excluded from version control does not mean the agent will leave it alone either — the git ignore list and the agent's file access are independent systems with independent policies.</a:t>
            </a:r>
          </a:p>
          <a:p>
            <a:r>
              <a:t>There is a practical but honestly incomplete mitigation: a permissions.deny rule in the agent settings blocks the built-in file-reading tool. It has a specific, checkable limit: a deny rule on Read does not block Bash subprocesses — the command cat .env executed through Bash walks around the rule, because the rule applies to one particular file tool rather than to every way of reading a file. Really closing the hole needs OS-level sandboxing — a restriction at the process level that applies to all of the agent's subprocesses.</a:t>
            </a:r>
          </a:p>
          <a:p>
            <a:r>
              <a:t>The baseline defense is built in three layers of increasing strictness: Gitleaks as a rule-first pre-commit scanner, fast but bypassable with the --no-verify flag; the same Gitleaks plus TruffleHog in verified mode on every pull request in CI, which is already a binding gate because CI cannot be dodged; and server-side push protection on the git-hosting side, which holds even when client hooks are bypassed. The lesson: the convention about what to commit and the policy about what the agent may read are two different contracts.</a:t>
            </a:r>
          </a:p>
          <a:p>
            <a:r>
              <a:t>Sources:</a:t>
            </a:r>
          </a:p>
          <a:p>
            <a:r>
              <a:t>[1] The Register — Claude Code reads .env despite .gitignore — "ignored by git" and "ignored by Claude Code" are two different contracts; at least 4 open issues at the time of publication. https://www.theregister.com/2026/01/28/ [VFY-day-of]</a:t>
            </a:r>
          </a:p>
          <a:p>
            <a:r>
              <a:t>[2] Gitleaks — rule-first secret scanner — regex + entropy, pre-commit hook, bypassable with --no-verify. https://github.com/gitleaks/gitleaks</a:t>
            </a:r>
          </a:p>
          <a:p>
            <a:r>
              <a:t>[3] TruffleHog — verification-first scanner — a live API call confirms the credential is valid right now. https://github.com/trufflesecurity/trufflehog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there is only one session, there is one working copy of the repository and no question arises. The problem appears when several agent sessions — or several tasks of one developer — run in parallel: their files are shared, and one session's uncommitted edits are visible to, and can be ruined by, another. This is not a speculative risk. The write-up of claude-code #60295 describes exactly this case: two sessions worked in one directory on different branches, one switched branch, and the second session's working tree silently changed; the second session had no way to learn that its picture of the state was stale, and trying to "fix" such a state with destructive commands risks losing data outright. This course lost hours of its own work to the same class of conflict.</a:t>
            </a:r>
          </a:p>
          <a:p>
            <a:r>
              <a:t>Git worktree separates precisely the files: each session gets its own working directory with its own branch. The history stays single — the folder is not a copy of the repository but another view on the same history, which is why creating one is cheaper than cloning: the object graph is not duplicated. Two commands are enough. In Claude Code the isolation is also enforced rather than taken on trust: the tool blocks edits whose working directory is outside the assigned folder, so a neighboring session cannot be touched even by mistake.</a:t>
            </a:r>
          </a:p>
          <a:p>
            <a:r>
              <a:t>It is worth knowing in advance where that isolation ends. Only the files are separated; the .git directory is shared, and so is the lock on it. In the write-up of claude-code #55724, of thirteen parallel agents five committed successfully and eight lost unsaved work to contention on .git/index.lock; at five sessions the failure happens occasionally, at ten and above almost certainly. As for how many folders to keep in parallel, there is no single norm: three-to-five and four-to-eight are both quoted, but that is a consensus of blog posts rather than a measured figure from documentation.</a:t>
            </a:r>
          </a:p>
          <a:p>
            <a:r>
              <a:t>The conclusion: the worktree mechanic itself is older than any AI agent and does not depend on one; what is new is only the frequency with which parallel sessions make a shared folder an expensive mistake.</a:t>
            </a:r>
          </a:p>
          <a:p>
            <a:r>
              <a:t>Sources:</a:t>
            </a:r>
          </a:p>
          <a:p>
            <a:r>
              <a:t>[1] Git — worktree documentation — a separate working directory with its own branch, but sharing the .git object store with the main copy. https://git-scm.com/docs/git-worktree</a:t>
            </a:r>
          </a:p>
          <a:p>
            <a:r>
              <a:t>[2] Claude Code — docs, best practices — the isolation is enforced: the tool blocks edits outside the assigned worktree. https://code.claude.com/docs/en/best-practices [VFY-day-of]</a:t>
            </a:r>
          </a:p>
          <a:p>
            <a:r>
              <a:t>[3] claude-code #60295 — branch swap — two sessions in one working directory: a checkout in one silently switches the other's working tree, reflog attached; closed as not planned. https://github.com/anthropics/claude-code/issues/60295</a:t>
            </a:r>
          </a:p>
          <a:p>
            <a:r>
              <a:t>[4] claude-code #55724 — the .git lock — 13 parallel agents: 5 committed, 8 lost work to contention on .git/index.lock; closed as a duplicate. https://github.com/anthropics/claude-code/issues/55724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failure of the implementation phase was named by Addy Osmani, a Google Chrome engineer — the seventy-percent problem, updated to eighty percent in agentic coding [1]. The gist: AI gets a typical task to about seventy percent fast and cheap, and this creates the feeling that the task is almost done [1]. But the last twenty to thirty percent — edge cases, error handling, security, integration with the rest of the system, behavior under load — remain exactly as hard as they were, and require experienced oversight [1]. It is critical to understand: the gap is structural, not temporary. The specifics of your particular system are absent from the model's training data — this is essential complexity per Brooks, and it will not close with the next version of the model. Hence the familiar "two steps back" loop: you fix one thing — another breaks [1].</a:t>
            </a:r>
          </a:p>
          <a:p>
            <a:r>
              <a:t>A particular but important case — "almost right" code is costlier than obviously wrong [1]. Obviously wrong code falls over right away, you throw it out. "Almost right" passes a quick glance, gets into the system, and breaks on an edge case in production, while the work shifts from the pleasant writing to the unpleasant debugging of someone else's plausible logic that you didn't write and don't hold in your head.</a:t>
            </a:r>
          </a:p>
          <a:p>
            <a:r>
              <a:t>Now the measured consequence — two independent GitClear measurements, not one. The first covers two hundred eleven million lines over 2020-2024: clones rose from eight point three to twelve point three percent, refactored code fell from about twenty-five to under ten percent, and churn — code rewritten within two weeks — rose from three point three to five point seven [2]. The second is a separate, more recent sample of six hundred twenty-three million changes over 2023-2026: refactoring fell from twenty-one to three point eight percent, duplication rose from forty point three to seventy-three per million lines, and churn rose a further fifteen percent. Two samples, two measurements — not one figure growing from 211 to 623 million. Both are correlation rather than controlled experiment, but they point the same way: the accumulation of tech debt [2]. And Osmani's knowledge paradox: the experienced challenge AI's output, while beginners accept it as is, building a house of cards — so AI amplifies the strong more than the weak [1]. The alternative — not "don't use AI," but the discipline of the previous slides: small verifiable units, a harness, and mandatory reading of the diff before accept, plus duplication and churn metrics in CI as a gate. And the unchanging rule: merge is always a human.</a:t>
            </a:r>
          </a:p>
          <a:p>
            <a:r>
              <a:t>Sources:</a:t>
            </a:r>
          </a:p>
          <a:p>
            <a:r>
              <a:t>[1] Osmani — The 70% Problem — AI speeds up the first ~70%, the last 20-30% (understanding) is hard. https://addyo.substack.com/p/the-70-problem-hard-truths-about</a:t>
            </a:r>
          </a:p>
          <a:p>
            <a:r>
              <a:t>[2] GitClear — AI code quality 2025 (211M lines) — rising clones and churn, falling refactoring — tech-debt markers (correlation). https://www.gitclear.com/ai_assistant_code_quality_2025_research [VFY-day-of]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phase is testing, and what leads in it is not a vendor "generate tests" button but the discipline of TDD, test-driven development. The test is written before the code and is an executable specification: a machine-checkable "right or wrong". This is the same class of human-owned artifact as the spec and the ADR, only executable.</a:t>
            </a:r>
          </a:p>
          <a:p>
            <a:r>
              <a:t>Why the test is an especially reliable instrument in an AI world: it is immune to both the "almost right" and the perception gap. A test does not feel that all is well — it either passes or it does not. That is exactly why, as DORA shows, TDD is the methodology on which the AI multiplier acts most strongly: the test gives the model a precise target and narrows the space of plausible but incorrect interpretations. This section covers the TDD practice with an important nuance about structure versus ritual, and one failure: green tests that lie.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practice of the testing phase is TDD, and the first thing to separate here is what works with an agent and what does not. What does not work is the mechanical requirement to write the tests first. Birgitta Böckeler ran the experiment inside the agent loop itself: instructing the agent to write the test before the code produced no clear gain and cost about three times more tokens, after which she stopped asking for it [2]. The value of TDD is carried by the structure — an executable specification plus a deterministic run gate — not by the order of the commands.</a:t>
            </a:r>
          </a:p>
          <a:p>
            <a:r>
              <a:t>What works instead is five steps. First: the human states what exactly the test must assert — an invariant or acceptance criterion, before any code is generated; this is essential complexity and it is not delegated. Second: leave the generation order to the agent — test and code together, or code and then the test; there is no need to force the sequence. Third: a human reads the test's assertions — a good test holds on to behavior and to the interface rather than to implementation details, otherwise it breaks with every refactor, whereas a test bound to the interface survives one [3]. Fourth: only a deterministic executor counts as a run — a script or CI with a real exit code; the model's phrase "all green" is not a run. Fifth: the gate is set on the share of defects actually caught rather than on the coverage percentage, and every real incident becomes a permanent regression test.</a:t>
            </a:r>
          </a:p>
          <a:p>
            <a:r>
              <a:t>The distribution of roles in the red-green-refactor cycle does not change through any of this [1]: AI quickly writes a volume of tests — that is accidental complexity; the human decides what the test must assert. The invariant worth taking away from this slide: not "the test was written first", but "the test exists, asserts what the human decided, and was run by a machine".</a:t>
            </a:r>
          </a:p>
          <a:p>
            <a:r>
              <a:t>Sources:</a:t>
            </a:r>
          </a:p>
          <a:p>
            <a:r>
              <a:t>[1] Beck — TDD: By Example — red-green-refactor; the human owns the test spec. https://www.informit.com/store/test-driven-development-by-example-9780321146533</a:t>
            </a:r>
          </a:p>
          <a:p>
            <a:r>
              <a:t>[2] Böckeler — TDD in the agent loop — TDD-first in the agent loop: no gain + ~3x tokens; the structure is what's valuable. https://martinfowler.com/articles/exploring-gen-ai/tdd-in-the-agent-loop.html [VFY-day-of]</a:t>
            </a:r>
          </a:p>
          <a:p>
            <a:r>
              <a:t>[3] Fowler — Exploring Gen AI (tests-as-guardrails) — a test forces the interface without coupling to the implementation. https://martinfowler.com/articles/exploring-gen-ai.html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 of the testing phase is twofold, and both failure modes are treacherous in that they create a false sense of protection. The first: "all green" that lies. Martin Fowler observed this directly: a language model readily reports "all tests green", while in fact there are failures [1]. The mechanism is the same one we covered in Lecture 2: the model generates the plausible text of the report by the same next-token sampling with which it generates code — and "all tests passed" is simply a plausible continuation, not a fact. The lesson for the engineer: the AI's report of a test run is not proof of a run. The gate must be a deterministic run — a script or CI with a real process exit code — not the model's word in a chat.</a:t>
            </a:r>
          </a:p>
          <a:p>
            <a:r>
              <a:t>The second failure mode is subtler — coverage instead of mutation testing. The coverage metric is deceptive: it says a line of code was touched during a run, but touched does not mean verified — a test could execute the line and assert nothing about it. Mutation testing measures more honestly: you deliberately introduce artificial defects, mutants, into the code and see what share your tests killed. The key danger in combination with AI has a precise name — Goodhart's law: when a measure becomes a target, it stops being a good measure. AI optimizes exactly what you measure: set a gate on coverage and AI will write tests that inflate coverage without improving defect detection.</a:t>
            </a:r>
          </a:p>
          <a:p>
            <a:r>
              <a:t>Meta's data and subsequent comparisons show this numerically: LLM generation covers more classes — thirty-two percent versus five point three for a narrow targeted method — but at the same time kills fewer mutants, two point four percent versus fifteen [2]. So more tests and higher coverage does not mean better defect detection, and sometimes the opposite. The alternative: make the gate a deterministic run and a quality gate on mutation score, not on coverage; and turn every defect caught in production into a permanent regression test.</a:t>
            </a:r>
          </a:p>
          <a:p>
            <a:r>
              <a:t>Sources:</a:t>
            </a:r>
          </a:p>
          <a:p>
            <a:r>
              <a:t>[1] Fowler — Exploring Gen AI — "all green" lies: the AI's report of a run != proof of a run. https://martinfowler.com/articles/exploring-gen-ai.html</a:t>
            </a:r>
          </a:p>
          <a:p>
            <a:r>
              <a:t>[2] Meta — TestGen-LLM — more coverage (32% vs 5.3%), but fewer mutants killed (2.4% vs 15%). https://arxiv.org/abs/2501.12862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www.anthropic.com/engineering/effective-context-engineering-for-ai-agents" TargetMode="Externa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martinfowler.com/articles/exploring-gen-ai.html" TargetMode="External"/><Relationship Id="rId4" Type="http://schemas.openxmlformats.org/officeDocument/2006/relationships/hyperlink" Target="https://simonwillison.net/2025/Oct/7/vibe-engineering/" TargetMode="External"/><Relationship Id="rId5" Type="http://schemas.openxmlformats.org/officeDocument/2006/relationships/hyperlink" Target="https://www.thoughtworks.com/radar/techniques/architectural-fitness-function" TargetMode="Externa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hyperlink" Target="https://agentskills.io/" TargetMode="External"/><Relationship Id="rId7" Type="http://schemas.openxmlformats.org/officeDocument/2006/relationships/hyperlink" Target="https://code.claude.com/docs/en/skills" TargetMode="External"/><Relationship Id="rId8" Type="http://schemas.openxmlformats.org/officeDocument/2006/relationships/hyperlink" Target="https://arxiv.org/abs/2607.25032" TargetMode="Externa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png"/><Relationship Id="rId7" Type="http://schemas.openxmlformats.org/officeDocument/2006/relationships/image" Target="../media/image14.png"/><Relationship Id="rId8" Type="http://schemas.openxmlformats.org/officeDocument/2006/relationships/hyperlink" Target="https://github.com/github/github-mcp-server" TargetMode="External"/><Relationship Id="rId9" Type="http://schemas.openxmlformats.org/officeDocument/2006/relationships/hyperlink" Target="https://github.com/microsoft/playwright-mcp" TargetMode="External"/><Relationship Id="rId10" Type="http://schemas.openxmlformats.org/officeDocument/2006/relationships/hyperlink" Target="https://simonwillison.net/2025/Jun/16/the-lethal-trifecta/" TargetMode="Externa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hyperlink" Target="https://github.com/MrLesk/Backlog.md" TargetMode="External"/><Relationship Id="rId7" Type="http://schemas.openxmlformats.org/officeDocument/2006/relationships/hyperlink" Target="https://code.claude.com/docs/en/best-practices" TargetMode="Externa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hyperlink" Target="https://www.conventionalcommits.org/en/v1.0.0/" TargetMode="External"/><Relationship Id="rId7" Type="http://schemas.openxmlformats.org/officeDocument/2006/relationships/hyperlink" Target="https://conventionalbranch.org/" TargetMode="Externa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s://www.theregister.com/2026/01/28/" TargetMode="External"/><Relationship Id="rId6" Type="http://schemas.openxmlformats.org/officeDocument/2006/relationships/hyperlink" Target="https://github.com/gitleaks/gitleaks" TargetMode="External"/><Relationship Id="rId7" Type="http://schemas.openxmlformats.org/officeDocument/2006/relationships/hyperlink" Target="https://github.com/trufflesecurity/trufflehog" TargetMode="Externa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4.png"/><Relationship Id="rId6" Type="http://schemas.openxmlformats.org/officeDocument/2006/relationships/image" Target="../media/image4.png"/><Relationship Id="rId7" Type="http://schemas.openxmlformats.org/officeDocument/2006/relationships/hyperlink" Target="https://git-scm.com/docs/git-worktree" TargetMode="External"/><Relationship Id="rId8" Type="http://schemas.openxmlformats.org/officeDocument/2006/relationships/hyperlink" Target="https://code.claude.com/docs/en/best-practices" TargetMode="External"/><Relationship Id="rId9" Type="http://schemas.openxmlformats.org/officeDocument/2006/relationships/hyperlink" Target="https://github.com/anthropics/claude-code/issues/60295" TargetMode="External"/><Relationship Id="rId10" Type="http://schemas.openxmlformats.org/officeDocument/2006/relationships/hyperlink" Target="https://github.com/anthropics/claude-code/issues/55724" TargetMode="Externa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hyperlink" Target="https://addyo.substack.com/p/the-70-problem-hard-truths-about" TargetMode="External"/><Relationship Id="rId4" Type="http://schemas.openxmlformats.org/officeDocument/2006/relationships/hyperlink" Target="https://www.gitclear.com/ai_assistant_code_quality_2025_research" TargetMode="Externa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formit.com/store/test-driven-development-by-example-9780321146533" TargetMode="External"/><Relationship Id="rId3" Type="http://schemas.openxmlformats.org/officeDocument/2006/relationships/hyperlink" Target="https://martinfowler.com/articles/exploring-gen-ai/tdd-in-the-agent-loop.html" TargetMode="External"/><Relationship Id="rId4" Type="http://schemas.openxmlformats.org/officeDocument/2006/relationships/hyperlink" Target="https://martinfowler.com/articles/exploring-gen-ai.html" TargetMode="Externa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hyperlink" Target="https://martinfowler.com/articles/exploring-gen-ai.html" TargetMode="External"/><Relationship Id="rId5" Type="http://schemas.openxmlformats.org/officeDocument/2006/relationships/hyperlink" Target="https://arxiv.org/abs/2501.12862" TargetMode="External"/><Relationship Id="rId6"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676656"/>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Every level has its own limit — the risk changes, it does not disappear</a:t>
            </a:r>
          </a:p>
        </p:txBody>
      </p:sp>
      <p:sp>
        <p:nvSpPr>
          <p:cNvPr id="3" name="Rounded Rectangle 2"/>
          <p:cNvSpPr/>
          <p:nvPr/>
        </p:nvSpPr>
        <p:spPr>
          <a:xfrm>
            <a:off x="502920" y="1298448"/>
            <a:ext cx="2697480" cy="3054096"/>
          </a:xfrm>
          <a:prstGeom prst="roundRect">
            <a:avLst>
              <a:gd name="adj" fmla="val 1129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hield-alert-mid.png"/>
          <p:cNvPicPr>
            <a:picLocks noChangeAspect="1"/>
          </p:cNvPicPr>
          <p:nvPr/>
        </p:nvPicPr>
        <p:blipFill>
          <a:blip r:embed="rId2"/>
          <a:stretch>
            <a:fillRect/>
          </a:stretch>
        </p:blipFill>
        <p:spPr>
          <a:xfrm>
            <a:off x="704088" y="1463039"/>
            <a:ext cx="402336" cy="402336"/>
          </a:xfrm>
          <a:prstGeom prst="rect">
            <a:avLst/>
          </a:prstGeom>
        </p:spPr>
      </p:pic>
      <p:sp>
        <p:nvSpPr>
          <p:cNvPr id="5" name="TextBox 4"/>
          <p:cNvSpPr txBox="1"/>
          <p:nvPr/>
        </p:nvSpPr>
        <p:spPr>
          <a:xfrm>
            <a:off x="704088" y="1956815"/>
            <a:ext cx="2295144" cy="182880"/>
          </a:xfrm>
          <a:prstGeom prst="rect">
            <a:avLst/>
          </a:prstGeom>
          <a:noFill/>
        </p:spPr>
        <p:txBody>
          <a:bodyPr wrap="square" lIns="0" rIns="0" tIns="0" bIns="0" anchor="t">
            <a:spAutoFit/>
          </a:bodyPr>
          <a:lstStyle/>
          <a:p>
            <a:pPr algn="l">
              <a:lnSpc>
                <a:spcPct val="100000"/>
              </a:lnSpc>
            </a:pPr>
            <a:r>
              <a:rPr sz="850" b="1" i="0">
                <a:solidFill>
                  <a:srgbClr val="1C7293"/>
                </a:solidFill>
                <a:latin typeface="DejaVu Sans"/>
              </a:rPr>
              <a:t>LEVEL 1 · INSTRUCTIONS</a:t>
            </a:r>
          </a:p>
        </p:txBody>
      </p:sp>
      <p:sp>
        <p:nvSpPr>
          <p:cNvPr id="6" name="TextBox 5"/>
          <p:cNvSpPr txBox="1"/>
          <p:nvPr/>
        </p:nvSpPr>
        <p:spPr>
          <a:xfrm>
            <a:off x="704088" y="2157984"/>
            <a:ext cx="2295144" cy="512064"/>
          </a:xfrm>
          <a:prstGeom prst="rect">
            <a:avLst/>
          </a:prstGeom>
          <a:noFill/>
        </p:spPr>
        <p:txBody>
          <a:bodyPr wrap="square" lIns="0" rIns="0" tIns="0" bIns="0" anchor="t">
            <a:spAutoFit/>
          </a:bodyPr>
          <a:lstStyle/>
          <a:p>
            <a:pPr algn="l">
              <a:lnSpc>
                <a:spcPct val="106000"/>
              </a:lnSpc>
            </a:pPr>
            <a:r>
              <a:rPr sz="1250" b="1" i="0">
                <a:solidFill>
                  <a:srgbClr val="065A82"/>
                </a:solidFill>
                <a:latin typeface="DejaVu Sans"/>
              </a:rPr>
              <a:t>A stale file is worse than no file</a:t>
            </a:r>
          </a:p>
        </p:txBody>
      </p:sp>
      <p:sp>
        <p:nvSpPr>
          <p:cNvPr id="7" name="TextBox 6"/>
          <p:cNvSpPr txBox="1"/>
          <p:nvPr/>
        </p:nvSpPr>
        <p:spPr>
          <a:xfrm>
            <a:off x="704088" y="2670048"/>
            <a:ext cx="2295144" cy="1591056"/>
          </a:xfrm>
          <a:prstGeom prst="rect">
            <a:avLst/>
          </a:prstGeom>
          <a:noFill/>
        </p:spPr>
        <p:txBody>
          <a:bodyPr wrap="square" lIns="0" rIns="0" tIns="0" bIns="0" anchor="t">
            <a:spAutoFit/>
          </a:bodyPr>
          <a:lstStyle/>
          <a:p>
            <a:pPr algn="l">
              <a:lnSpc>
                <a:spcPct val="116000"/>
              </a:lnSpc>
            </a:pPr>
            <a:r>
              <a:rPr sz="950" b="0" i="0">
                <a:solidFill>
                  <a:srgbClr val="21295C"/>
                </a:solidFill>
                <a:latin typeface="DejaVu Sans"/>
              </a:rPr>
              <a:t>A missing file the agent makes up for by asking; a stale one it trusts literally.</a:t>
            </a:r>
          </a:p>
          <a:p>
            <a:pPr algn="l">
              <a:lnSpc>
                <a:spcPct val="116000"/>
              </a:lnSpc>
            </a:pPr>
            <a:r>
              <a:rPr sz="950" b="0" i="0">
                <a:solidFill>
                  <a:srgbClr val="21295C"/>
                </a:solidFill>
                <a:latin typeface="DejaVu Sans"/>
              </a:rPr>
              <a:t/>
            </a:r>
          </a:p>
          <a:p>
            <a:pPr algn="l">
              <a:lnSpc>
                <a:spcPct val="116000"/>
              </a:lnSpc>
            </a:pPr>
            <a:r>
              <a:rPr sz="950" b="0" i="0">
                <a:solidFill>
                  <a:srgbClr val="21295C"/>
                </a:solidFill>
                <a:latin typeface="DejaVu Sans"/>
              </a:rPr>
              <a:t>It prescribes a build command that was replaced long ago — the agent keeps running it and burns turns for nothing.</a:t>
            </a:r>
          </a:p>
        </p:txBody>
      </p:sp>
      <p:sp>
        <p:nvSpPr>
          <p:cNvPr id="8" name="Rounded Rectangle 7"/>
          <p:cNvSpPr/>
          <p:nvPr/>
        </p:nvSpPr>
        <p:spPr>
          <a:xfrm>
            <a:off x="3337560" y="1298448"/>
            <a:ext cx="2697480" cy="3054096"/>
          </a:xfrm>
          <a:prstGeom prst="roundRect">
            <a:avLst>
              <a:gd name="adj" fmla="val 11299"/>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yers-teal.png"/>
          <p:cNvPicPr>
            <a:picLocks noChangeAspect="1"/>
          </p:cNvPicPr>
          <p:nvPr/>
        </p:nvPicPr>
        <p:blipFill>
          <a:blip r:embed="rId3"/>
          <a:stretch>
            <a:fillRect/>
          </a:stretch>
        </p:blipFill>
        <p:spPr>
          <a:xfrm>
            <a:off x="3538728" y="1463039"/>
            <a:ext cx="402336" cy="402336"/>
          </a:xfrm>
          <a:prstGeom prst="rect">
            <a:avLst/>
          </a:prstGeom>
        </p:spPr>
      </p:pic>
      <p:sp>
        <p:nvSpPr>
          <p:cNvPr id="10" name="TextBox 9"/>
          <p:cNvSpPr txBox="1"/>
          <p:nvPr/>
        </p:nvSpPr>
        <p:spPr>
          <a:xfrm>
            <a:off x="3538728" y="1956815"/>
            <a:ext cx="2295144" cy="182880"/>
          </a:xfrm>
          <a:prstGeom prst="rect">
            <a:avLst/>
          </a:prstGeom>
          <a:noFill/>
        </p:spPr>
        <p:txBody>
          <a:bodyPr wrap="square" lIns="0" rIns="0" tIns="0" bIns="0" anchor="t">
            <a:spAutoFit/>
          </a:bodyPr>
          <a:lstStyle/>
          <a:p>
            <a:pPr algn="l">
              <a:lnSpc>
                <a:spcPct val="100000"/>
              </a:lnSpc>
            </a:pPr>
            <a:r>
              <a:rPr sz="850" b="1" i="0">
                <a:solidFill>
                  <a:srgbClr val="1C7293"/>
                </a:solidFill>
                <a:latin typeface="DejaVu Sans"/>
              </a:rPr>
              <a:t>LEVEL 2 · SESSION</a:t>
            </a:r>
          </a:p>
        </p:txBody>
      </p:sp>
      <p:sp>
        <p:nvSpPr>
          <p:cNvPr id="11" name="TextBox 10"/>
          <p:cNvSpPr txBox="1"/>
          <p:nvPr/>
        </p:nvSpPr>
        <p:spPr>
          <a:xfrm>
            <a:off x="3538728" y="2157984"/>
            <a:ext cx="2295144" cy="512064"/>
          </a:xfrm>
          <a:prstGeom prst="rect">
            <a:avLst/>
          </a:prstGeom>
          <a:noFill/>
        </p:spPr>
        <p:txBody>
          <a:bodyPr wrap="square" lIns="0" rIns="0" tIns="0" bIns="0" anchor="t">
            <a:spAutoFit/>
          </a:bodyPr>
          <a:lstStyle/>
          <a:p>
            <a:pPr algn="l">
              <a:lnSpc>
                <a:spcPct val="106000"/>
              </a:lnSpc>
            </a:pPr>
            <a:r>
              <a:rPr sz="1250" b="1" i="0">
                <a:solidFill>
                  <a:srgbClr val="028090"/>
                </a:solidFill>
                <a:latin typeface="DejaVu Sans"/>
              </a:rPr>
              <a:t>Compaction loses, JIT will not ask</a:t>
            </a:r>
          </a:p>
        </p:txBody>
      </p:sp>
      <p:sp>
        <p:nvSpPr>
          <p:cNvPr id="12" name="TextBox 11"/>
          <p:cNvSpPr txBox="1"/>
          <p:nvPr/>
        </p:nvSpPr>
        <p:spPr>
          <a:xfrm>
            <a:off x="3538728" y="2670048"/>
            <a:ext cx="2295144" cy="1591056"/>
          </a:xfrm>
          <a:prstGeom prst="rect">
            <a:avLst/>
          </a:prstGeom>
          <a:noFill/>
        </p:spPr>
        <p:txBody>
          <a:bodyPr wrap="square" lIns="0" rIns="0" tIns="0" bIns="0" anchor="t">
            <a:spAutoFit/>
          </a:bodyPr>
          <a:lstStyle/>
          <a:p>
            <a:pPr algn="l">
              <a:lnSpc>
                <a:spcPct val="116000"/>
              </a:lnSpc>
            </a:pPr>
            <a:r>
              <a:rPr sz="950" b="0" i="0">
                <a:solidFill>
                  <a:srgbClr val="21295C"/>
                </a:solidFill>
                <a:latin typeface="DejaVu Sans"/>
              </a:rPr>
              <a:t>Summarization is lossy: "do not use library X" may not survive into the summary, and the agent will propose exactly that. No error is raised.</a:t>
            </a:r>
          </a:p>
          <a:p>
            <a:pPr algn="l">
              <a:lnSpc>
                <a:spcPct val="116000"/>
              </a:lnSpc>
            </a:pPr>
            <a:r>
              <a:rPr sz="950" b="0" i="0">
                <a:solidFill>
                  <a:srgbClr val="21295C"/>
                </a:solidFill>
                <a:latin typeface="DejaVu Sans"/>
              </a:rPr>
              <a:t/>
            </a:r>
          </a:p>
          <a:p>
            <a:pPr algn="l">
              <a:lnSpc>
                <a:spcPct val="116000"/>
              </a:lnSpc>
            </a:pPr>
            <a:r>
              <a:rPr sz="950" b="0" i="0">
                <a:solidFill>
                  <a:srgbClr val="21295C"/>
                </a:solidFill>
                <a:latin typeface="DejaVu Sans"/>
              </a:rPr>
              <a:t>JIT is symmetric: what the agent does not know exists, it will never request.</a:t>
            </a:r>
          </a:p>
        </p:txBody>
      </p:sp>
      <p:sp>
        <p:nvSpPr>
          <p:cNvPr id="13" name="Rounded Rectangle 12"/>
          <p:cNvSpPr/>
          <p:nvPr/>
        </p:nvSpPr>
        <p:spPr>
          <a:xfrm>
            <a:off x="6172200" y="1298448"/>
            <a:ext cx="2697480" cy="3054096"/>
          </a:xfrm>
          <a:prstGeom prst="roundRect">
            <a:avLst>
              <a:gd name="adj" fmla="val 11299"/>
            </a:avLst>
          </a:prstGeom>
          <a:solidFill>
            <a:srgbClr val="F4F7FA"/>
          </a:solidFill>
          <a:ln w="1905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lock-mid.png"/>
          <p:cNvPicPr>
            <a:picLocks noChangeAspect="1"/>
          </p:cNvPicPr>
          <p:nvPr/>
        </p:nvPicPr>
        <p:blipFill>
          <a:blip r:embed="rId4"/>
          <a:stretch>
            <a:fillRect/>
          </a:stretch>
        </p:blipFill>
        <p:spPr>
          <a:xfrm>
            <a:off x="6373368" y="1463039"/>
            <a:ext cx="402336" cy="402336"/>
          </a:xfrm>
          <a:prstGeom prst="rect">
            <a:avLst/>
          </a:prstGeom>
        </p:spPr>
      </p:pic>
      <p:sp>
        <p:nvSpPr>
          <p:cNvPr id="15" name="TextBox 14"/>
          <p:cNvSpPr txBox="1"/>
          <p:nvPr/>
        </p:nvSpPr>
        <p:spPr>
          <a:xfrm>
            <a:off x="6373368" y="1956815"/>
            <a:ext cx="2295144" cy="182880"/>
          </a:xfrm>
          <a:prstGeom prst="rect">
            <a:avLst/>
          </a:prstGeom>
          <a:noFill/>
        </p:spPr>
        <p:txBody>
          <a:bodyPr wrap="square" lIns="0" rIns="0" tIns="0" bIns="0" anchor="t">
            <a:spAutoFit/>
          </a:bodyPr>
          <a:lstStyle/>
          <a:p>
            <a:pPr algn="l">
              <a:lnSpc>
                <a:spcPct val="100000"/>
              </a:lnSpc>
            </a:pPr>
            <a:r>
              <a:rPr sz="850" b="1" i="0">
                <a:solidFill>
                  <a:srgbClr val="1C7293"/>
                </a:solidFill>
                <a:latin typeface="DejaVu Sans"/>
              </a:rPr>
              <a:t>LEVEL 3 · HISTORY</a:t>
            </a:r>
          </a:p>
        </p:txBody>
      </p:sp>
      <p:sp>
        <p:nvSpPr>
          <p:cNvPr id="16" name="TextBox 15"/>
          <p:cNvSpPr txBox="1"/>
          <p:nvPr/>
        </p:nvSpPr>
        <p:spPr>
          <a:xfrm>
            <a:off x="6373368" y="2157984"/>
            <a:ext cx="2295144" cy="512064"/>
          </a:xfrm>
          <a:prstGeom prst="rect">
            <a:avLst/>
          </a:prstGeom>
          <a:noFill/>
        </p:spPr>
        <p:txBody>
          <a:bodyPr wrap="square" lIns="0" rIns="0" tIns="0" bIns="0" anchor="t">
            <a:spAutoFit/>
          </a:bodyPr>
          <a:lstStyle/>
          <a:p>
            <a:pPr algn="l">
              <a:lnSpc>
                <a:spcPct val="106000"/>
              </a:lnSpc>
            </a:pPr>
            <a:r>
              <a:rPr sz="1250" b="1" i="0">
                <a:solidFill>
                  <a:srgbClr val="065A82"/>
                </a:solidFill>
                <a:latin typeface="DejaVu Sans"/>
              </a:rPr>
              <a:t>Ages more quietly than instructions</a:t>
            </a:r>
          </a:p>
        </p:txBody>
      </p:sp>
      <p:sp>
        <p:nvSpPr>
          <p:cNvPr id="17" name="TextBox 16"/>
          <p:cNvSpPr txBox="1"/>
          <p:nvPr/>
        </p:nvSpPr>
        <p:spPr>
          <a:xfrm>
            <a:off x="6373368" y="2670048"/>
            <a:ext cx="2295144" cy="1591056"/>
          </a:xfrm>
          <a:prstGeom prst="rect">
            <a:avLst/>
          </a:prstGeom>
          <a:noFill/>
        </p:spPr>
        <p:txBody>
          <a:bodyPr wrap="square" lIns="0" rIns="0" tIns="0" bIns="0" anchor="t">
            <a:spAutoFit/>
          </a:bodyPr>
          <a:lstStyle/>
          <a:p>
            <a:pPr algn="l">
              <a:lnSpc>
                <a:spcPct val="116000"/>
              </a:lnSpc>
            </a:pPr>
            <a:r>
              <a:rPr sz="950" b="0" i="0">
                <a:solidFill>
                  <a:srgbClr val="21295C"/>
                </a:solidFill>
                <a:latin typeface="DejaVu Sans"/>
              </a:rPr>
              <a:t>There is one instruction file — it gets re-read along with the project. An archive of write-ups is dozens of documents.</a:t>
            </a:r>
          </a:p>
          <a:p>
            <a:pPr algn="l">
              <a:lnSpc>
                <a:spcPct val="116000"/>
              </a:lnSpc>
            </a:pPr>
            <a:r>
              <a:rPr sz="950" b="0" i="0">
                <a:solidFill>
                  <a:srgbClr val="21295C"/>
                </a:solidFill>
                <a:latin typeface="DejaVu Sans"/>
              </a:rPr>
              <a:t/>
            </a:r>
          </a:p>
          <a:p>
            <a:pPr algn="l">
              <a:lnSpc>
                <a:spcPct val="116000"/>
              </a:lnSpc>
            </a:pPr>
            <a:r>
              <a:rPr sz="950" b="0" i="0">
                <a:solidFill>
                  <a:srgbClr val="21295C"/>
                </a:solidFill>
                <a:latin typeface="DejaVu Sans"/>
              </a:rPr>
              <a:t>The agent finds them by relevance, not by currency, and proposes a workaround for a problem closed long ago.</a:t>
            </a:r>
          </a:p>
        </p:txBody>
      </p:sp>
      <p:sp>
        <p:nvSpPr>
          <p:cNvPr id="18" name="Rounded Rectangle 17"/>
          <p:cNvSpPr/>
          <p:nvPr/>
        </p:nvSpPr>
        <p:spPr>
          <a:xfrm>
            <a:off x="9006840" y="1298448"/>
            <a:ext cx="2697480" cy="3054096"/>
          </a:xfrm>
          <a:prstGeom prst="roundRect">
            <a:avLst>
              <a:gd name="adj" fmla="val 11299"/>
            </a:avLst>
          </a:prstGeom>
          <a:solidFill>
            <a:srgbClr val="F4F7FA"/>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ock-teal.png"/>
          <p:cNvPicPr>
            <a:picLocks noChangeAspect="1"/>
          </p:cNvPicPr>
          <p:nvPr/>
        </p:nvPicPr>
        <p:blipFill>
          <a:blip r:embed="rId5"/>
          <a:stretch>
            <a:fillRect/>
          </a:stretch>
        </p:blipFill>
        <p:spPr>
          <a:xfrm>
            <a:off x="9208008" y="1463039"/>
            <a:ext cx="402336" cy="402336"/>
          </a:xfrm>
          <a:prstGeom prst="rect">
            <a:avLst/>
          </a:prstGeom>
        </p:spPr>
      </p:pic>
      <p:sp>
        <p:nvSpPr>
          <p:cNvPr id="20" name="TextBox 19"/>
          <p:cNvSpPr txBox="1"/>
          <p:nvPr/>
        </p:nvSpPr>
        <p:spPr>
          <a:xfrm>
            <a:off x="9208008" y="1956815"/>
            <a:ext cx="2295144" cy="182880"/>
          </a:xfrm>
          <a:prstGeom prst="rect">
            <a:avLst/>
          </a:prstGeom>
          <a:noFill/>
        </p:spPr>
        <p:txBody>
          <a:bodyPr wrap="square" lIns="0" rIns="0" tIns="0" bIns="0" anchor="t">
            <a:spAutoFit/>
          </a:bodyPr>
          <a:lstStyle/>
          <a:p>
            <a:pPr algn="l">
              <a:lnSpc>
                <a:spcPct val="100000"/>
              </a:lnSpc>
            </a:pPr>
            <a:r>
              <a:rPr sz="850" b="1" i="0">
                <a:solidFill>
                  <a:srgbClr val="1C7293"/>
                </a:solidFill>
                <a:latin typeface="DejaVu Sans"/>
              </a:rPr>
              <a:t>LEVEL 4 · MEMORY</a:t>
            </a:r>
          </a:p>
        </p:txBody>
      </p:sp>
      <p:sp>
        <p:nvSpPr>
          <p:cNvPr id="21" name="TextBox 20"/>
          <p:cNvSpPr txBox="1"/>
          <p:nvPr/>
        </p:nvSpPr>
        <p:spPr>
          <a:xfrm>
            <a:off x="9208008" y="2157984"/>
            <a:ext cx="2295144" cy="512064"/>
          </a:xfrm>
          <a:prstGeom prst="rect">
            <a:avLst/>
          </a:prstGeom>
          <a:noFill/>
        </p:spPr>
        <p:txBody>
          <a:bodyPr wrap="square" lIns="0" rIns="0" tIns="0" bIns="0" anchor="t">
            <a:spAutoFit/>
          </a:bodyPr>
          <a:lstStyle/>
          <a:p>
            <a:pPr algn="l">
              <a:lnSpc>
                <a:spcPct val="106000"/>
              </a:lnSpc>
            </a:pPr>
            <a:r>
              <a:rPr sz="1250" b="1" i="0">
                <a:solidFill>
                  <a:srgbClr val="028090"/>
                </a:solidFill>
                <a:latin typeface="DejaVu Sans"/>
              </a:rPr>
              <a:t>Entrenches a wrong conclusion</a:t>
            </a:r>
          </a:p>
        </p:txBody>
      </p:sp>
      <p:sp>
        <p:nvSpPr>
          <p:cNvPr id="22" name="TextBox 21"/>
          <p:cNvSpPr txBox="1"/>
          <p:nvPr/>
        </p:nvSpPr>
        <p:spPr>
          <a:xfrm>
            <a:off x="9208008" y="2670048"/>
            <a:ext cx="2295144" cy="1591056"/>
          </a:xfrm>
          <a:prstGeom prst="rect">
            <a:avLst/>
          </a:prstGeom>
          <a:noFill/>
        </p:spPr>
        <p:txBody>
          <a:bodyPr wrap="square" lIns="0" rIns="0" tIns="0" bIns="0" anchor="t">
            <a:spAutoFit/>
          </a:bodyPr>
          <a:lstStyle/>
          <a:p>
            <a:pPr algn="l">
              <a:lnSpc>
                <a:spcPct val="116000"/>
              </a:lnSpc>
            </a:pPr>
            <a:r>
              <a:rPr sz="950" b="0" i="0">
                <a:solidFill>
                  <a:srgbClr val="21295C"/>
                </a:solidFill>
                <a:latin typeface="DejaVu Sans"/>
              </a:rPr>
              <a:t>Memory accumulates on its own, so it cannot be proofread line by line like a file.</a:t>
            </a:r>
          </a:p>
          <a:p>
            <a:pPr algn="l">
              <a:lnSpc>
                <a:spcPct val="116000"/>
              </a:lnSpc>
            </a:pPr>
            <a:r>
              <a:rPr sz="950" b="0" i="0">
                <a:solidFill>
                  <a:srgbClr val="21295C"/>
                </a:solidFill>
                <a:latin typeface="DejaVu Sans"/>
              </a:rPr>
              <a:t/>
            </a:r>
          </a:p>
          <a:p>
            <a:pPr algn="l">
              <a:lnSpc>
                <a:spcPct val="116000"/>
              </a:lnSpc>
            </a:pPr>
            <a:r>
              <a:rPr sz="950" b="0" i="0">
                <a:solidFill>
                  <a:srgbClr val="21295C"/>
                </a:solidFill>
                <a:latin typeface="DejaVu Sans"/>
              </a:rPr>
              <a:t>A wrong belief, once retained and read only by the agent itself, keeps being reproduced — it needs periodic checking from outside, not editing.</a:t>
            </a:r>
          </a:p>
        </p:txBody>
      </p:sp>
      <p:sp>
        <p:nvSpPr>
          <p:cNvPr id="23" name="Rounded Rectangle 22"/>
          <p:cNvSpPr/>
          <p:nvPr/>
        </p:nvSpPr>
        <p:spPr>
          <a:xfrm>
            <a:off x="502920" y="4498848"/>
            <a:ext cx="11201400" cy="548640"/>
          </a:xfrm>
          <a:prstGeom prst="roundRect">
            <a:avLst>
              <a:gd name="adj" fmla="val 8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4562856"/>
            <a:ext cx="10789920" cy="420624"/>
          </a:xfrm>
          <a:prstGeom prst="rect">
            <a:avLst/>
          </a:prstGeom>
          <a:noFill/>
        </p:spPr>
        <p:txBody>
          <a:bodyPr wrap="square" lIns="0" rIns="0" tIns="0" bIns="0" anchor="ctr">
            <a:spAutoFit/>
          </a:bodyPr>
          <a:lstStyle/>
          <a:p>
            <a:pPr algn="ctr">
              <a:lnSpc>
                <a:spcPct val="115000"/>
              </a:lnSpc>
            </a:pPr>
            <a:r>
              <a:rPr sz="1200" b="1" i="0">
                <a:solidFill>
                  <a:srgbClr val="21295C"/>
                </a:solidFill>
                <a:latin typeface="DejaVu Sans"/>
              </a:rPr>
              <a:t>No curation technique removes the risk — each one trades one risk for another. That is a limit of the technique itself, not a consequence of applying it carelessly.</a:t>
            </a:r>
          </a:p>
        </p:txBody>
      </p:sp>
      <p:sp>
        <p:nvSpPr>
          <p:cNvPr id="25" name="Rounded Rectangle 24"/>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Hence the allocation rule: a decision you cannot afford to lose silently is not trusted to level 2 — it is recorded at level 1, the only one that is not compressed between turns.</a:t>
            </a:r>
          </a:p>
        </p:txBody>
      </p:sp>
      <p:sp>
        <p:nvSpPr>
          <p:cNvPr id="27" name="TextBox 26"/>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Anthropic — context engineering</a:t>
            </a:r>
          </a:p>
        </p:txBody>
      </p:sp>
      <p:sp>
        <p:nvSpPr>
          <p:cNvPr id="28" name="TextBox 27"/>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25 / 58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300" b="1" i="0">
                <a:solidFill>
                  <a:srgbClr val="21295C"/>
                </a:solidFill>
                <a:latin typeface="DejaVu Sans"/>
              </a:rPr>
              <a:t>A deterministic scaffold-gate around a non-deterministic model</a:t>
            </a:r>
          </a:p>
        </p:txBody>
      </p:sp>
      <p:sp>
        <p:nvSpPr>
          <p:cNvPr id="3" name="Rounded Rectangle 2"/>
          <p:cNvSpPr/>
          <p:nvPr/>
        </p:nvSpPr>
        <p:spPr>
          <a:xfrm>
            <a:off x="502920" y="1417320"/>
            <a:ext cx="553212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1517904"/>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linters</a:t>
            </a:r>
          </a:p>
        </p:txBody>
      </p:sp>
      <p:sp>
        <p:nvSpPr>
          <p:cNvPr id="5" name="Rounded Rectangle 4"/>
          <p:cNvSpPr/>
          <p:nvPr/>
        </p:nvSpPr>
        <p:spPr>
          <a:xfrm>
            <a:off x="2493264" y="1517904"/>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structural tests</a:t>
            </a:r>
          </a:p>
        </p:txBody>
      </p:sp>
      <p:sp>
        <p:nvSpPr>
          <p:cNvPr id="6" name="Rounded Rectangle 5"/>
          <p:cNvSpPr/>
          <p:nvPr/>
        </p:nvSpPr>
        <p:spPr>
          <a:xfrm>
            <a:off x="4227576" y="1517904"/>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fitness functions</a:t>
            </a:r>
          </a:p>
        </p:txBody>
      </p:sp>
      <p:sp>
        <p:nvSpPr>
          <p:cNvPr id="7" name="Rounded Rectangle 6"/>
          <p:cNvSpPr/>
          <p:nvPr/>
        </p:nvSpPr>
        <p:spPr>
          <a:xfrm>
            <a:off x="758952" y="1993391"/>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SAST gate</a:t>
            </a:r>
          </a:p>
        </p:txBody>
      </p:sp>
      <p:sp>
        <p:nvSpPr>
          <p:cNvPr id="8" name="Rounded Rectangle 7"/>
          <p:cNvSpPr/>
          <p:nvPr/>
        </p:nvSpPr>
        <p:spPr>
          <a:xfrm>
            <a:off x="2493264" y="1993391"/>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least-privilege</a:t>
            </a:r>
          </a:p>
        </p:txBody>
      </p:sp>
      <p:sp>
        <p:nvSpPr>
          <p:cNvPr id="9" name="Rounded Rectangle 8"/>
          <p:cNvSpPr/>
          <p:nvPr/>
        </p:nvSpPr>
        <p:spPr>
          <a:xfrm>
            <a:off x="4227576" y="1993391"/>
            <a:ext cx="1551432" cy="40233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950" b="1">
                <a:solidFill>
                  <a:srgbClr val="FFFFFF"/>
                </a:solidFill>
                <a:latin typeface="DejaVu Sans"/>
              </a:rPr>
              <a:t>sandbox</a:t>
            </a:r>
          </a:p>
        </p:txBody>
      </p:sp>
      <p:sp>
        <p:nvSpPr>
          <p:cNvPr id="10" name="TextBox 9"/>
          <p:cNvSpPr txBox="1"/>
          <p:nvPr/>
        </p:nvSpPr>
        <p:spPr>
          <a:xfrm>
            <a:off x="758952" y="2432304"/>
            <a:ext cx="5020056" cy="310896"/>
          </a:xfrm>
          <a:prstGeom prst="rect">
            <a:avLst/>
          </a:prstGeom>
          <a:noFill/>
        </p:spPr>
        <p:txBody>
          <a:bodyPr wrap="square" lIns="0" rIns="0" tIns="0" bIns="0" anchor="t">
            <a:spAutoFit/>
          </a:bodyPr>
          <a:lstStyle/>
          <a:p>
            <a:pPr algn="l">
              <a:lnSpc>
                <a:spcPct val="108000"/>
              </a:lnSpc>
            </a:pPr>
            <a:r>
              <a:rPr sz="950" b="0" i="1">
                <a:solidFill>
                  <a:srgbClr val="065A82"/>
                </a:solidFill>
                <a:latin typeface="DejaVu Sans"/>
              </a:rPr>
              <a:t>SAST — static application security testing: analysis of code for vulnerabilities without running it. least-privilege — the minimum rights needed, nothing more.</a:t>
            </a:r>
          </a:p>
        </p:txBody>
      </p:sp>
      <p:sp>
        <p:nvSpPr>
          <p:cNvPr id="11" name="Oval 10"/>
          <p:cNvSpPr/>
          <p:nvPr/>
        </p:nvSpPr>
        <p:spPr>
          <a:xfrm>
            <a:off x="2702052" y="2761488"/>
            <a:ext cx="1133856" cy="1133856"/>
          </a:xfrm>
          <a:prstGeom prst="ellipse">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pu-gold.png"/>
          <p:cNvPicPr>
            <a:picLocks noChangeAspect="1"/>
          </p:cNvPicPr>
          <p:nvPr/>
        </p:nvPicPr>
        <p:blipFill>
          <a:blip r:embed="rId2"/>
          <a:stretch>
            <a:fillRect/>
          </a:stretch>
        </p:blipFill>
        <p:spPr>
          <a:xfrm>
            <a:off x="2958084" y="2889504"/>
            <a:ext cx="512064" cy="512064"/>
          </a:xfrm>
          <a:prstGeom prst="rect">
            <a:avLst/>
          </a:prstGeom>
        </p:spPr>
      </p:pic>
      <p:sp>
        <p:nvSpPr>
          <p:cNvPr id="13" name="TextBox 12"/>
          <p:cNvSpPr txBox="1"/>
          <p:nvPr/>
        </p:nvSpPr>
        <p:spPr>
          <a:xfrm>
            <a:off x="2446020" y="3401568"/>
            <a:ext cx="1645920" cy="310896"/>
          </a:xfrm>
          <a:prstGeom prst="rect">
            <a:avLst/>
          </a:prstGeom>
          <a:noFill/>
        </p:spPr>
        <p:txBody>
          <a:bodyPr wrap="square" lIns="0" rIns="0" tIns="0" bIns="0" anchor="t">
            <a:spAutoFit/>
          </a:bodyPr>
          <a:lstStyle/>
          <a:p>
            <a:pPr algn="ctr">
              <a:lnSpc>
                <a:spcPct val="115000"/>
              </a:lnSpc>
            </a:pPr>
            <a:r>
              <a:rPr sz="1150" b="1" i="0">
                <a:solidFill>
                  <a:srgbClr val="21295C"/>
                </a:solidFill>
                <a:latin typeface="DejaVu Sans"/>
              </a:rPr>
              <a:t>MODEL</a:t>
            </a:r>
          </a:p>
        </p:txBody>
      </p:sp>
      <p:sp>
        <p:nvSpPr>
          <p:cNvPr id="14" name="TextBox 13"/>
          <p:cNvSpPr txBox="1"/>
          <p:nvPr/>
        </p:nvSpPr>
        <p:spPr>
          <a:xfrm>
            <a:off x="758952" y="4023360"/>
            <a:ext cx="5020056" cy="786384"/>
          </a:xfrm>
          <a:prstGeom prst="rect">
            <a:avLst/>
          </a:prstGeom>
          <a:noFill/>
        </p:spPr>
        <p:txBody>
          <a:bodyPr wrap="square" lIns="0" rIns="0" tIns="0" bIns="0" anchor="t">
            <a:spAutoFit/>
          </a:bodyPr>
          <a:lstStyle/>
          <a:p>
            <a:pPr algn="ctr">
              <a:lnSpc>
                <a:spcPct val="112000"/>
              </a:lnSpc>
            </a:pPr>
            <a:r>
              <a:rPr sz="1050" b="0" i="0">
                <a:solidFill>
                  <a:srgbClr val="21295C"/>
                </a:solidFill>
                <a:latin typeface="DejaVu Sans"/>
              </a:rPr>
              <a:t>Reliability is not 'give the model more freedom', but narrowing its decision space. The model is non-deterministic (one prompt → different answers); the harness is deterministic (a test either passed or not).</a:t>
            </a:r>
          </a:p>
        </p:txBody>
      </p:sp>
      <p:sp>
        <p:nvSpPr>
          <p:cNvPr id="15" name="TextBox 14"/>
          <p:cNvSpPr txBox="1"/>
          <p:nvPr/>
        </p:nvSpPr>
        <p:spPr>
          <a:xfrm>
            <a:off x="758952" y="4791456"/>
            <a:ext cx="5020056" cy="219456"/>
          </a:xfrm>
          <a:prstGeom prst="rect">
            <a:avLst/>
          </a:prstGeom>
          <a:noFill/>
        </p:spPr>
        <p:txBody>
          <a:bodyPr wrap="square" lIns="0" rIns="0" tIns="0" bIns="0" anchor="t">
            <a:spAutoFit/>
          </a:bodyPr>
          <a:lstStyle/>
          <a:p>
            <a:pPr algn="ctr">
              <a:lnSpc>
                <a:spcPct val="115000"/>
              </a:lnSpc>
            </a:pPr>
            <a:r>
              <a:rPr sz="900" b="0" i="1">
                <a:solidFill>
                  <a:srgbClr val="1C7293"/>
                </a:solidFill>
                <a:latin typeface="DejaVu Sans"/>
              </a:rPr>
              <a:t>— Böckeler 2026, harness engineering </a:t>
            </a:r>
            <a:r>
              <a:rPr sz="468" baseline="30000" b="0" i="1">
                <a:latin typeface="DejaVu Sans"/>
                <a:cs typeface="DejaVu Sans"/>
                <a:ea typeface="DejaVu Sans"/>
                <a:solidFill>
                  <a:srgbClr val="1C7293"/>
                </a:solidFill>
              </a:rPr>
              <a:t>[1]</a:t>
            </a:r>
          </a:p>
        </p:txBody>
      </p:sp>
      <p:sp>
        <p:nvSpPr>
          <p:cNvPr id="16" name="Rounded Rectangle 15"/>
          <p:cNvSpPr/>
          <p:nvPr/>
        </p:nvSpPr>
        <p:spPr>
          <a:xfrm>
            <a:off x="6263640" y="1417320"/>
            <a:ext cx="5440680" cy="1783080"/>
          </a:xfrm>
          <a:prstGeom prst="roundRect">
            <a:avLst>
              <a:gd name="adj" fmla="val 1709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3096" y="1517904"/>
            <a:ext cx="5001768" cy="329184"/>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The feedback loop — the main mechanism</a:t>
            </a:r>
          </a:p>
        </p:txBody>
      </p:sp>
      <p:sp>
        <p:nvSpPr>
          <p:cNvPr id="18" name="TextBox 17"/>
          <p:cNvSpPr txBox="1"/>
          <p:nvPr/>
        </p:nvSpPr>
        <p:spPr>
          <a:xfrm>
            <a:off x="6483096" y="1883664"/>
            <a:ext cx="5001768" cy="1243584"/>
          </a:xfrm>
          <a:prstGeom prst="rect">
            <a:avLst/>
          </a:prstGeom>
          <a:noFill/>
        </p:spPr>
        <p:txBody>
          <a:bodyPr wrap="square" lIns="0" rIns="0" tIns="0" bIns="0" anchor="t">
            <a:spAutoFit/>
          </a:bodyPr>
          <a:lstStyle/>
          <a:p>
            <a:pPr algn="l">
              <a:lnSpc>
                <a:spcPct val="122000"/>
              </a:lnSpc>
            </a:pPr>
            <a:r>
              <a:rPr sz="1100" b="0" i="0">
                <a:solidFill>
                  <a:srgbClr val="21295C"/>
                </a:solidFill>
                <a:latin typeface="DejaVu Sans"/>
              </a:rPr>
              <a:t>The agent stalls → that's a signal of a hole in the scaffold → add the missing piece back:</a:t>
            </a:r>
          </a:p>
          <a:p>
            <a:pPr algn="l">
              <a:lnSpc>
                <a:spcPct val="122000"/>
              </a:lnSpc>
            </a:pPr>
            <a:r>
              <a:rPr sz="1100" b="0" i="0">
                <a:solidFill>
                  <a:srgbClr val="21295C"/>
                </a:solidFill>
                <a:latin typeface="DejaVu Sans"/>
              </a:rPr>
              <a:t>• a command was missing → into AGENTS.md</a:t>
            </a:r>
          </a:p>
          <a:p>
            <a:pPr algn="l">
              <a:lnSpc>
                <a:spcPct val="122000"/>
              </a:lnSpc>
            </a:pPr>
            <a:r>
              <a:rPr sz="1100" b="0" i="0">
                <a:solidFill>
                  <a:srgbClr val="21295C"/>
                </a:solidFill>
                <a:latin typeface="DejaVu Sans"/>
              </a:rPr>
              <a:t>• an invariant was violated → a fitness function </a:t>
            </a:r>
            <a:r>
              <a:rPr sz="572" baseline="30000" b="0" i="1">
                <a:latin typeface="DejaVu Sans"/>
                <a:cs typeface="DejaVu Sans"/>
                <a:ea typeface="DejaVu Sans"/>
                <a:solidFill>
                  <a:srgbClr val="1C7293"/>
                </a:solidFill>
              </a:rPr>
              <a:t>[3]</a:t>
            </a:r>
          </a:p>
          <a:p>
            <a:pPr algn="l">
              <a:lnSpc>
                <a:spcPct val="122000"/>
              </a:lnSpc>
            </a:pPr>
            <a:r>
              <a:rPr sz="1100" b="0" i="0">
                <a:solidFill>
                  <a:srgbClr val="21295C"/>
                </a:solidFill>
                <a:latin typeface="DejaVu Sans"/>
              </a:rPr>
              <a:t>• unsafe → a SAST gate</a:t>
            </a:r>
          </a:p>
        </p:txBody>
      </p:sp>
      <p:sp>
        <p:nvSpPr>
          <p:cNvPr id="19" name="Rounded Rectangle 18"/>
          <p:cNvSpPr/>
          <p:nvPr/>
        </p:nvSpPr>
        <p:spPr>
          <a:xfrm>
            <a:off x="6263640" y="3310128"/>
            <a:ext cx="5440680" cy="822960"/>
          </a:xfrm>
          <a:prstGeom prst="roundRect">
            <a:avLst>
              <a:gd name="adj" fmla="val 6000"/>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3096" y="3401568"/>
            <a:ext cx="5001768" cy="658368"/>
          </a:xfrm>
          <a:prstGeom prst="rect">
            <a:avLst/>
          </a:prstGeom>
          <a:noFill/>
        </p:spPr>
        <p:txBody>
          <a:bodyPr wrap="square" lIns="0" rIns="0" tIns="0" bIns="0" anchor="t">
            <a:spAutoFit/>
          </a:bodyPr>
          <a:lstStyle/>
          <a:p>
            <a:pPr algn="l">
              <a:lnSpc>
                <a:spcPct val="115000"/>
              </a:lnSpc>
            </a:pPr>
            <a:r>
              <a:rPr sz="1200" b="1" i="0">
                <a:solidFill>
                  <a:srgbClr val="028090"/>
                </a:solidFill>
                <a:latin typeface="DejaVu Sans"/>
              </a:rPr>
              <a:t>Guardrails != verification. </a:t>
            </a:r>
            <a:r>
              <a:rPr sz="1150" b="0" i="0">
                <a:solidFill>
                  <a:srgbClr val="21295C"/>
                </a:solidFill>
                <a:latin typeface="DejaVu Sans"/>
              </a:rPr>
              <a:t>A linter knows the code is formatted — it does not know whether it solves the right problem. The scaffold does not check behavior.</a:t>
            </a:r>
          </a:p>
        </p:txBody>
      </p:sp>
      <p:sp>
        <p:nvSpPr>
          <p:cNvPr id="21" name="Rounded Rectangle 20"/>
          <p:cNvSpPr/>
          <p:nvPr/>
        </p:nvSpPr>
        <p:spPr>
          <a:xfrm>
            <a:off x="6263640" y="4242816"/>
            <a:ext cx="5440680" cy="786384"/>
          </a:xfrm>
          <a:prstGeom prst="roundRect">
            <a:avLst>
              <a:gd name="adj" fmla="val 6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4306824"/>
            <a:ext cx="5001768" cy="676656"/>
          </a:xfrm>
          <a:prstGeom prst="rect">
            <a:avLst/>
          </a:prstGeom>
          <a:noFill/>
        </p:spPr>
        <p:txBody>
          <a:bodyPr wrap="square" lIns="0" rIns="0" tIns="0" bIns="0" anchor="ctr">
            <a:spAutoFit/>
          </a:bodyPr>
          <a:lstStyle/>
          <a:p>
            <a:pPr algn="l">
              <a:lnSpc>
                <a:spcPct val="115000"/>
              </a:lnSpc>
            </a:pPr>
            <a:r>
              <a:rPr sz="1150" b="1" i="0">
                <a:solidFill>
                  <a:srgbClr val="21295C"/>
                </a:solidFill>
                <a:latin typeface="DejaVu Sans"/>
              </a:rPr>
              <a:t>Three layers, none replaces another: harness + behavioral tests + human at merge. </a:t>
            </a:r>
            <a:r>
              <a:rPr sz="1000" b="0" i="1">
                <a:solidFill>
                  <a:srgbClr val="1C7293"/>
                </a:solidFill>
                <a:latin typeface="DejaVu Sans"/>
              </a:rPr>
              <a:t>Willison: 'review it — or it's not engineering' (vibe engineering) </a:t>
            </a:r>
            <a:r>
              <a:rPr sz="520" baseline="30000" b="0" i="1">
                <a:latin typeface="DejaVu Sans"/>
                <a:cs typeface="DejaVu Sans"/>
                <a:ea typeface="DejaVu Sans"/>
                <a:solidFill>
                  <a:srgbClr val="1C7293"/>
                </a:solidFill>
              </a:rPr>
              <a:t>[2]</a:t>
            </a:r>
            <a:r>
              <a:rPr sz="1000" b="0" i="1">
                <a:latin typeface="DejaVu Sans"/>
                <a:cs typeface="DejaVu Sans"/>
                <a:ea typeface="DejaVu Sans"/>
                <a:solidFill>
                  <a:srgbClr val="1C7293"/>
                </a:solidFill>
              </a:rPr>
              <a:t>.</a:t>
            </a:r>
          </a:p>
        </p:txBody>
      </p:sp>
      <p:sp>
        <p:nvSpPr>
          <p:cNvPr id="23" name="Rounded Rectangle 22"/>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A deterministic scaffold holds the non-deterministic model: we narrow the decision space, not give more freedom.</a:t>
            </a:r>
          </a:p>
        </p:txBody>
      </p:sp>
      <p:sp>
        <p:nvSpPr>
          <p:cNvPr id="25" name="TextBox 24"/>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Thoughtworks — Exploring Gen AI (Böckeler)</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Willison — Vibe engineering</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5"/>
              </a:rPr>
              <a:t>Thoughtworks — fitness function</a:t>
            </a:r>
          </a:p>
        </p:txBody>
      </p:sp>
      <p:sp>
        <p:nvSpPr>
          <p:cNvPr id="26" name="TextBox 2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26 / 58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01400" cy="5486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In development, a skill pays off on a rare but repeatable procedure</a:t>
            </a:r>
          </a:p>
        </p:txBody>
      </p:sp>
      <p:sp>
        <p:nvSpPr>
          <p:cNvPr id="3" name="TextBox 2"/>
          <p:cNvSpPr txBox="1"/>
          <p:nvPr/>
        </p:nvSpPr>
        <p:spPr>
          <a:xfrm>
            <a:off x="502920" y="987552"/>
            <a:ext cx="6675120" cy="256032"/>
          </a:xfrm>
          <a:prstGeom prst="rect">
            <a:avLst/>
          </a:prstGeom>
          <a:noFill/>
        </p:spPr>
        <p:txBody>
          <a:bodyPr wrap="square" lIns="0" rIns="0" tIns="0" bIns="0" anchor="t">
            <a:spAutoFit/>
          </a:bodyPr>
          <a:lstStyle/>
          <a:p>
            <a:pPr algn="l">
              <a:lnSpc>
                <a:spcPct val="115000"/>
              </a:lnSpc>
            </a:pPr>
            <a:r>
              <a:rPr sz="1200" b="1" i="0">
                <a:solidFill>
                  <a:srgbClr val="1C7293"/>
                </a:solidFill>
                <a:latin typeface="DejaVu Sans"/>
              </a:rPr>
              <a:t>WHAT DEVELOPERS ACTUALLY MOVE INTO A SKILL</a:t>
            </a:r>
          </a:p>
        </p:txBody>
      </p:sp>
      <p:sp>
        <p:nvSpPr>
          <p:cNvPr id="4" name="Rounded Rectangle 3"/>
          <p:cNvSpPr/>
          <p:nvPr/>
        </p:nvSpPr>
        <p:spPr>
          <a:xfrm>
            <a:off x="502920" y="1261872"/>
            <a:ext cx="6675120" cy="111556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minal-teal.png"/>
          <p:cNvPicPr>
            <a:picLocks noChangeAspect="1"/>
          </p:cNvPicPr>
          <p:nvPr/>
        </p:nvPicPr>
        <p:blipFill>
          <a:blip r:embed="rId2"/>
          <a:stretch>
            <a:fillRect/>
          </a:stretch>
        </p:blipFill>
        <p:spPr>
          <a:xfrm>
            <a:off x="704088" y="1408175"/>
            <a:ext cx="402336" cy="402336"/>
          </a:xfrm>
          <a:prstGeom prst="rect">
            <a:avLst/>
          </a:prstGeom>
        </p:spPr>
      </p:pic>
      <p:sp>
        <p:nvSpPr>
          <p:cNvPr id="6" name="TextBox 5"/>
          <p:cNvSpPr txBox="1"/>
          <p:nvPr/>
        </p:nvSpPr>
        <p:spPr>
          <a:xfrm>
            <a:off x="1252728" y="1389888"/>
            <a:ext cx="5724144" cy="274320"/>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Run every check with one command</a:t>
            </a:r>
          </a:p>
        </p:txBody>
      </p:sp>
      <p:sp>
        <p:nvSpPr>
          <p:cNvPr id="7" name="TextBox 6"/>
          <p:cNvSpPr txBox="1"/>
          <p:nvPr/>
        </p:nvSpPr>
        <p:spPr>
          <a:xfrm>
            <a:off x="1252728" y="1700784"/>
            <a:ext cx="5724144" cy="566928"/>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Linter → type check → tests (ruff/mypy/pytest or eslint/tsc/vitest) are invoked in a single call, instead of being reconstructed from scratch against this repository's conventions.</a:t>
            </a:r>
          </a:p>
        </p:txBody>
      </p:sp>
      <p:sp>
        <p:nvSpPr>
          <p:cNvPr id="8" name="Rounded Rectangle 7"/>
          <p:cNvSpPr/>
          <p:nvPr/>
        </p:nvSpPr>
        <p:spPr>
          <a:xfrm>
            <a:off x="502920" y="2468880"/>
            <a:ext cx="6675120" cy="111556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tabase-mid.png"/>
          <p:cNvPicPr>
            <a:picLocks noChangeAspect="1"/>
          </p:cNvPicPr>
          <p:nvPr/>
        </p:nvPicPr>
        <p:blipFill>
          <a:blip r:embed="rId3"/>
          <a:stretch>
            <a:fillRect/>
          </a:stretch>
        </p:blipFill>
        <p:spPr>
          <a:xfrm>
            <a:off x="704088" y="2615184"/>
            <a:ext cx="402336" cy="402336"/>
          </a:xfrm>
          <a:prstGeom prst="rect">
            <a:avLst/>
          </a:prstGeom>
        </p:spPr>
      </p:pic>
      <p:sp>
        <p:nvSpPr>
          <p:cNvPr id="10" name="TextBox 9"/>
          <p:cNvSpPr txBox="1"/>
          <p:nvPr/>
        </p:nvSpPr>
        <p:spPr>
          <a:xfrm>
            <a:off x="1252728" y="2596896"/>
            <a:ext cx="5724144" cy="274320"/>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A throwaway database for an integration test</a:t>
            </a:r>
          </a:p>
        </p:txBody>
      </p:sp>
      <p:sp>
        <p:nvSpPr>
          <p:cNvPr id="11" name="TextBox 10"/>
          <p:cNvSpPr txBox="1"/>
          <p:nvPr/>
        </p:nvSpPr>
        <p:spPr>
          <a:xfrm>
            <a:off x="1252728" y="2907792"/>
            <a:ext cx="5724144" cy="566928"/>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How to bring up a real Postgres or Kafka in a container for the duration of a run and tear it down after. The procedure is written down — the agent is not recalling the configuration from memory.</a:t>
            </a:r>
          </a:p>
        </p:txBody>
      </p:sp>
      <p:sp>
        <p:nvSpPr>
          <p:cNvPr id="12" name="Rounded Rectangle 11"/>
          <p:cNvSpPr/>
          <p:nvPr/>
        </p:nvSpPr>
        <p:spPr>
          <a:xfrm>
            <a:off x="502920" y="3675888"/>
            <a:ext cx="6675120" cy="111556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ile-code-teal.png"/>
          <p:cNvPicPr>
            <a:picLocks noChangeAspect="1"/>
          </p:cNvPicPr>
          <p:nvPr/>
        </p:nvPicPr>
        <p:blipFill>
          <a:blip r:embed="rId4"/>
          <a:stretch>
            <a:fillRect/>
          </a:stretch>
        </p:blipFill>
        <p:spPr>
          <a:xfrm>
            <a:off x="704088" y="3822192"/>
            <a:ext cx="402336" cy="402336"/>
          </a:xfrm>
          <a:prstGeom prst="rect">
            <a:avLst/>
          </a:prstGeom>
        </p:spPr>
      </p:pic>
      <p:sp>
        <p:nvSpPr>
          <p:cNvPr id="14" name="TextBox 13"/>
          <p:cNvSpPr txBox="1"/>
          <p:nvPr/>
        </p:nvSpPr>
        <p:spPr>
          <a:xfrm>
            <a:off x="1252728" y="3803904"/>
            <a:ext cx="5724144" cy="274320"/>
          </a:xfrm>
          <a:prstGeom prst="rect">
            <a:avLst/>
          </a:prstGeom>
          <a:noFill/>
        </p:spPr>
        <p:txBody>
          <a:bodyPr wrap="square" lIns="0" rIns="0" tIns="0" bIns="0" anchor="t">
            <a:spAutoFit/>
          </a:bodyPr>
          <a:lstStyle/>
          <a:p>
            <a:pPr algn="l">
              <a:lnSpc>
                <a:spcPct val="115000"/>
              </a:lnSpc>
            </a:pPr>
            <a:r>
              <a:rPr sz="1300" b="1" i="0">
                <a:solidFill>
                  <a:srgbClr val="028090"/>
                </a:solidFill>
                <a:latin typeface="DejaVu Sans"/>
              </a:rPr>
              <a:t>Building documentation from the code</a:t>
            </a:r>
          </a:p>
        </p:txBody>
      </p:sp>
      <p:sp>
        <p:nvSpPr>
          <p:cNvPr id="15" name="TextBox 14"/>
          <p:cNvSpPr txBox="1"/>
          <p:nvPr/>
        </p:nvSpPr>
        <p:spPr>
          <a:xfrm>
            <a:off x="1252728" y="4114800"/>
            <a:ext cx="5724144" cy="566928"/>
          </a:xfrm>
          <a:prstGeom prst="rect">
            <a:avLst/>
          </a:prstGeom>
          <a:noFill/>
        </p:spPr>
        <p:txBody>
          <a:bodyPr wrap="square" lIns="0" rIns="0" tIns="0" bIns="0" anchor="t">
            <a:spAutoFit/>
          </a:bodyPr>
          <a:lstStyle/>
          <a:p>
            <a:pPr algn="l">
              <a:lnSpc>
                <a:spcPct val="112000"/>
              </a:lnSpc>
            </a:pPr>
            <a:r>
              <a:rPr sz="1100" b="0" i="0">
                <a:solidFill>
                  <a:srgbClr val="21295C"/>
                </a:solidFill>
                <a:latin typeface="DejaVu Sans"/>
              </a:rPr>
              <a:t>Walk the project structure and its dependencies, assemble the README and the architecture decision records. Many steps, needed rarely — exactly the profile a skill exists for.</a:t>
            </a:r>
          </a:p>
        </p:txBody>
      </p:sp>
      <p:sp>
        <p:nvSpPr>
          <p:cNvPr id="16" name="TextBox 15"/>
          <p:cNvSpPr txBox="1"/>
          <p:nvPr/>
        </p:nvSpPr>
        <p:spPr>
          <a:xfrm>
            <a:off x="502920" y="4956048"/>
            <a:ext cx="6675120" cy="256032"/>
          </a:xfrm>
          <a:prstGeom prst="rect">
            <a:avLst/>
          </a:prstGeom>
          <a:noFill/>
        </p:spPr>
        <p:txBody>
          <a:bodyPr wrap="square" lIns="0" rIns="0" tIns="0" bIns="0" anchor="t">
            <a:spAutoFit/>
          </a:bodyPr>
          <a:lstStyle/>
          <a:p>
            <a:pPr algn="l">
              <a:lnSpc>
                <a:spcPct val="115000"/>
              </a:lnSpc>
            </a:pPr>
            <a:r>
              <a:rPr sz="1000" b="1" i="0">
                <a:solidFill>
                  <a:srgbClr val="5B6678"/>
                </a:solidFill>
                <a:latin typeface="DejaVu Sans"/>
              </a:rPr>
              <a:t>Example:  </a:t>
            </a:r>
            <a:r>
              <a:rPr sz="900" b="0" i="1">
                <a:solidFill>
                  <a:srgbClr val="028090"/>
                </a:solidFill>
                <a:latin typeface="DejaVu Sans Mono"/>
              </a:rPr>
              <a:t>lint+type-check+test skill</a:t>
            </a:r>
            <a:r>
              <a:rPr sz="900" b="0" i="0">
                <a:solidFill>
                  <a:srgbClr val="5B6678"/>
                </a:solidFill>
                <a:latin typeface="DejaVu Sans"/>
              </a:rPr>
              <a:t>  ·  </a:t>
            </a:r>
            <a:r>
              <a:rPr sz="900" b="0" i="1">
                <a:solidFill>
                  <a:srgbClr val="065A82"/>
                </a:solidFill>
                <a:latin typeface="DejaVu Sans Mono"/>
              </a:rPr>
              <a:t>testcontainers-docker skill</a:t>
            </a:r>
            <a:r>
              <a:rPr sz="900" b="0" i="0">
                <a:solidFill>
                  <a:srgbClr val="5B6678"/>
                </a:solidFill>
                <a:latin typeface="DejaVu Sans"/>
              </a:rPr>
              <a:t>  ·  </a:t>
            </a:r>
            <a:r>
              <a:rPr sz="900" b="0" i="1">
                <a:solidFill>
                  <a:srgbClr val="028090"/>
                </a:solidFill>
                <a:latin typeface="DejaVu Sans Mono"/>
              </a:rPr>
              <a:t>README Generator skill</a:t>
            </a:r>
          </a:p>
        </p:txBody>
      </p:sp>
      <p:sp>
        <p:nvSpPr>
          <p:cNvPr id="17" name="Rounded Rectangle 16"/>
          <p:cNvSpPr/>
          <p:nvPr/>
        </p:nvSpPr>
        <p:spPr>
          <a:xfrm>
            <a:off x="7360920" y="987552"/>
            <a:ext cx="4361688" cy="1426464"/>
          </a:xfrm>
          <a:prstGeom prst="roundRect">
            <a:avLst>
              <a:gd name="adj" fmla="val 21367"/>
            </a:avLst>
          </a:prstGeom>
          <a:solidFill>
            <a:srgbClr val="E5EAF0"/>
          </a:solidFill>
          <a:ln w="1524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slash-mid.png"/>
          <p:cNvPicPr>
            <a:picLocks noChangeAspect="1"/>
          </p:cNvPicPr>
          <p:nvPr/>
        </p:nvPicPr>
        <p:blipFill>
          <a:blip r:embed="rId5"/>
          <a:stretch>
            <a:fillRect/>
          </a:stretch>
        </p:blipFill>
        <p:spPr>
          <a:xfrm>
            <a:off x="7543800" y="1078992"/>
            <a:ext cx="365760" cy="365760"/>
          </a:xfrm>
          <a:prstGeom prst="rect">
            <a:avLst/>
          </a:prstGeom>
        </p:spPr>
      </p:pic>
      <p:sp>
        <p:nvSpPr>
          <p:cNvPr id="19" name="TextBox 18"/>
          <p:cNvSpPr txBox="1"/>
          <p:nvPr/>
        </p:nvSpPr>
        <p:spPr>
          <a:xfrm>
            <a:off x="8019288" y="1097280"/>
            <a:ext cx="3520439" cy="256032"/>
          </a:xfrm>
          <a:prstGeom prst="rect">
            <a:avLst/>
          </a:prstGeom>
          <a:noFill/>
        </p:spPr>
        <p:txBody>
          <a:bodyPr wrap="square" lIns="0" rIns="0" tIns="0" bIns="0" anchor="t">
            <a:spAutoFit/>
          </a:bodyPr>
          <a:lstStyle/>
          <a:p>
            <a:pPr algn="l">
              <a:lnSpc>
                <a:spcPct val="115000"/>
              </a:lnSpc>
            </a:pPr>
            <a:r>
              <a:rPr sz="1250" b="1" i="0">
                <a:solidFill>
                  <a:srgbClr val="21295C"/>
                </a:solidFill>
                <a:latin typeface="DejaVu Sans"/>
              </a:rPr>
              <a:t>When a skill is not the answer</a:t>
            </a:r>
          </a:p>
        </p:txBody>
      </p:sp>
      <p:sp>
        <p:nvSpPr>
          <p:cNvPr id="20" name="TextBox 19"/>
          <p:cNvSpPr txBox="1"/>
          <p:nvPr/>
        </p:nvSpPr>
        <p:spPr>
          <a:xfrm>
            <a:off x="7562088" y="1444752"/>
            <a:ext cx="3959351" cy="987552"/>
          </a:xfrm>
          <a:prstGeom prst="rect">
            <a:avLst/>
          </a:prstGeom>
          <a:noFill/>
        </p:spPr>
        <p:txBody>
          <a:bodyPr wrap="square" lIns="0" rIns="0" tIns="0" bIns="0" anchor="t">
            <a:spAutoFit/>
          </a:bodyPr>
          <a:lstStyle/>
          <a:p>
            <a:pPr algn="l">
              <a:lnSpc>
                <a:spcPct val="130000"/>
              </a:lnSpc>
            </a:pPr>
            <a:r>
              <a:rPr sz="1050" b="0" i="0">
                <a:solidFill>
                  <a:srgbClr val="21295C"/>
                </a:solidFill>
                <a:latin typeface="DejaVu Sans"/>
              </a:rPr>
              <a:t>• needed every turn (build, tests) — that is AGENTS.md</a:t>
            </a:r>
          </a:p>
          <a:p>
            <a:pPr algn="l">
              <a:lnSpc>
                <a:spcPct val="130000"/>
              </a:lnSpc>
            </a:pPr>
            <a:r>
              <a:rPr sz="1050" b="0" i="0">
                <a:solidFill>
                  <a:srgbClr val="21295C"/>
                </a:solidFill>
                <a:latin typeface="DejaVu Sans"/>
              </a:rPr>
              <a:t>• a one-off task — just ask for it in chat</a:t>
            </a:r>
          </a:p>
          <a:p>
            <a:pPr algn="l">
              <a:lnSpc>
                <a:spcPct val="130000"/>
              </a:lnSpc>
            </a:pPr>
            <a:r>
              <a:rPr sz="1050" b="0" i="0">
                <a:solidFill>
                  <a:srgbClr val="21295C"/>
                </a:solidFill>
                <a:latin typeface="DejaVu Sans"/>
              </a:rPr>
              <a:t>• one fact, not a procedure — a line in AGENTS.md</a:t>
            </a:r>
          </a:p>
          <a:p>
            <a:pPr algn="l">
              <a:lnSpc>
                <a:spcPct val="130000"/>
              </a:lnSpc>
            </a:pPr>
            <a:r>
              <a:rPr sz="1050" b="0" i="0">
                <a:solidFill>
                  <a:srgbClr val="21295C"/>
                </a:solidFill>
                <a:latin typeface="DejaVu Sans"/>
              </a:rPr>
              <a:t>• "everything at once" — the model will not pick it</a:t>
            </a:r>
          </a:p>
        </p:txBody>
      </p:sp>
      <p:sp>
        <p:nvSpPr>
          <p:cNvPr id="21" name="Rounded Rectangle 20"/>
          <p:cNvSpPr/>
          <p:nvPr/>
        </p:nvSpPr>
        <p:spPr>
          <a:xfrm>
            <a:off x="7360920" y="2761488"/>
            <a:ext cx="4361688" cy="1005840"/>
          </a:xfrm>
          <a:prstGeom prst="roundRect">
            <a:avLst>
              <a:gd name="adj" fmla="val 8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0" y="2889504"/>
            <a:ext cx="3995927" cy="804672"/>
          </a:xfrm>
          <a:prstGeom prst="rect">
            <a:avLst/>
          </a:prstGeom>
          <a:noFill/>
        </p:spPr>
        <p:txBody>
          <a:bodyPr wrap="square" lIns="0" rIns="0" tIns="0" bIns="0" anchor="t">
            <a:spAutoFit/>
          </a:bodyPr>
          <a:lstStyle/>
          <a:p>
            <a:pPr algn="l">
              <a:lnSpc>
                <a:spcPct val="114000"/>
              </a:lnSpc>
            </a:pPr>
            <a:r>
              <a:rPr sz="1100" b="1" i="0">
                <a:solidFill>
                  <a:srgbClr val="065A82"/>
                </a:solidFill>
                <a:latin typeface="DejaVu Sans"/>
              </a:rPr>
              <a:t>AGENTS.md</a:t>
            </a:r>
            <a:r>
              <a:rPr sz="1050" b="0" i="0">
                <a:solidFill>
                  <a:srgbClr val="21295C"/>
                </a:solidFill>
                <a:latin typeface="DejaVu Sans"/>
              </a:rPr>
              <a:t> — in context every turn; you pay for it always.</a:t>
            </a:r>
          </a:p>
          <a:p>
            <a:pPr algn="l">
              <a:lnSpc>
                <a:spcPct val="114000"/>
              </a:lnSpc>
              <a:spcBef>
                <a:spcPts val="400"/>
              </a:spcBef>
            </a:pPr>
            <a:r>
              <a:rPr sz="1100" b="1" i="0">
                <a:solidFill>
                  <a:srgbClr val="028090"/>
                </a:solidFill>
                <a:latin typeface="DejaVu Sans"/>
              </a:rPr>
              <a:t>SKILL.md</a:t>
            </a:r>
            <a:r>
              <a:rPr sz="1050" b="0" i="0">
                <a:solidFill>
                  <a:srgbClr val="21295C"/>
                </a:solidFill>
                <a:latin typeface="DejaVu Sans"/>
              </a:rPr>
              <a:t> — loaded only on call; until then it costs zero.</a:t>
            </a:r>
          </a:p>
        </p:txBody>
      </p:sp>
      <p:sp>
        <p:nvSpPr>
          <p:cNvPr id="23" name="TextBox 22"/>
          <p:cNvSpPr txBox="1"/>
          <p:nvPr/>
        </p:nvSpPr>
        <p:spPr>
          <a:xfrm>
            <a:off x="7360920" y="3968496"/>
            <a:ext cx="4361688" cy="1005840"/>
          </a:xfrm>
          <a:prstGeom prst="rect">
            <a:avLst/>
          </a:prstGeom>
          <a:noFill/>
        </p:spPr>
        <p:txBody>
          <a:bodyPr wrap="square" lIns="0" rIns="0" tIns="0" bIns="0" anchor="t">
            <a:spAutoFit/>
          </a:bodyPr>
          <a:lstStyle/>
          <a:p>
            <a:pPr algn="l">
              <a:lnSpc>
                <a:spcPct val="116000"/>
              </a:lnSpc>
            </a:pPr>
            <a:r>
              <a:rPr sz="1050" b="0" i="1">
                <a:solidFill>
                  <a:srgbClr val="5B6678"/>
                </a:solidFill>
                <a:latin typeface="DejaVu Sans"/>
              </a:rPr>
              <a:t>Honestly: the format is open (the Agent Skills standard) and confirmed in Codex CLI, but Cursor has no on-demand layer — there the rules are always active. "The tool supports skills" is worth double-checking.</a:t>
            </a:r>
          </a:p>
        </p:txBody>
      </p:sp>
      <p:sp>
        <p:nvSpPr>
          <p:cNvPr id="24" name="Rounded Rectangle 23"/>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The dividing rule: needed every turn — into AGENTS.md; rare but detailed — into a skill; once — just say it in chat.</a:t>
            </a:r>
          </a:p>
        </p:txBody>
      </p:sp>
      <p:sp>
        <p:nvSpPr>
          <p:cNvPr id="26" name="TextBox 25"/>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Agent Skills — open standard</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7"/>
              </a:rPr>
              <a:t>Claude Docs — Skills</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8"/>
              </a:rPr>
              <a:t>Destefanis — Authoring Agent Skills (arXiv:2607.25032)</a:t>
            </a:r>
          </a:p>
        </p:txBody>
      </p:sp>
      <p:sp>
        <p:nvSpPr>
          <p:cNvPr id="27" name="TextBox 2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27 / 58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5486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MCP removes the human bridge — at the cost of narrower system access</a:t>
            </a:r>
          </a:p>
        </p:txBody>
      </p:sp>
      <p:sp>
        <p:nvSpPr>
          <p:cNvPr id="3" name="Rounded Rectangle 2"/>
          <p:cNvSpPr/>
          <p:nvPr/>
        </p:nvSpPr>
        <p:spPr>
          <a:xfrm>
            <a:off x="502920" y="1152144"/>
            <a:ext cx="1920240"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t-mid.png"/>
          <p:cNvPicPr>
            <a:picLocks noChangeAspect="1"/>
          </p:cNvPicPr>
          <p:nvPr/>
        </p:nvPicPr>
        <p:blipFill>
          <a:blip r:embed="rId2"/>
          <a:stretch>
            <a:fillRect/>
          </a:stretch>
        </p:blipFill>
        <p:spPr>
          <a:xfrm>
            <a:off x="1216152" y="1280160"/>
            <a:ext cx="493776" cy="493776"/>
          </a:xfrm>
          <a:prstGeom prst="rect">
            <a:avLst/>
          </a:prstGeom>
        </p:spPr>
      </p:pic>
      <p:sp>
        <p:nvSpPr>
          <p:cNvPr id="5" name="TextBox 4"/>
          <p:cNvSpPr txBox="1"/>
          <p:nvPr/>
        </p:nvSpPr>
        <p:spPr>
          <a:xfrm>
            <a:off x="557784" y="1828800"/>
            <a:ext cx="1810512" cy="256032"/>
          </a:xfrm>
          <a:prstGeom prst="rect">
            <a:avLst/>
          </a:prstGeom>
          <a:noFill/>
        </p:spPr>
        <p:txBody>
          <a:bodyPr wrap="square" lIns="0" rIns="0" tIns="0" bIns="0" anchor="t">
            <a:spAutoFit/>
          </a:bodyPr>
          <a:lstStyle/>
          <a:p>
            <a:pPr algn="ctr">
              <a:lnSpc>
                <a:spcPct val="115000"/>
              </a:lnSpc>
            </a:pPr>
            <a:r>
              <a:rPr sz="1200" b="1" i="0">
                <a:solidFill>
                  <a:srgbClr val="21295C"/>
                </a:solidFill>
                <a:latin typeface="DejaVu Sans"/>
              </a:rPr>
              <a:t>AGENT</a:t>
            </a:r>
          </a:p>
        </p:txBody>
      </p:sp>
      <p:sp>
        <p:nvSpPr>
          <p:cNvPr id="6" name="TextBox 5"/>
          <p:cNvSpPr txBox="1"/>
          <p:nvPr/>
        </p:nvSpPr>
        <p:spPr>
          <a:xfrm>
            <a:off x="557784" y="2084832"/>
            <a:ext cx="1810512" cy="365760"/>
          </a:xfrm>
          <a:prstGeom prst="rect">
            <a:avLst/>
          </a:prstGeom>
          <a:noFill/>
        </p:spPr>
        <p:txBody>
          <a:bodyPr wrap="square" lIns="0" rIns="0" tIns="0" bIns="0" anchor="t">
            <a:spAutoFit/>
          </a:bodyPr>
          <a:lstStyle/>
          <a:p>
            <a:pPr algn="ctr">
              <a:lnSpc>
                <a:spcPct val="105000"/>
              </a:lnSpc>
            </a:pPr>
            <a:r>
              <a:rPr sz="950" b="0" i="1">
                <a:solidFill>
                  <a:srgbClr val="5B6678"/>
                </a:solidFill>
                <a:latin typeface="DejaVu Sans"/>
              </a:rPr>
              <a:t>built in: files + shell</a:t>
            </a:r>
          </a:p>
        </p:txBody>
      </p:sp>
      <p:cxnSp>
        <p:nvCxnSpPr>
          <p:cNvPr id="7" name="Connector 6"/>
          <p:cNvCxnSpPr/>
          <p:nvPr/>
        </p:nvCxnSpPr>
        <p:spPr>
          <a:xfrm flipV="1">
            <a:off x="1463040" y="1024128"/>
            <a:ext cx="0" cy="128016"/>
          </a:xfrm>
          <a:prstGeom prst="line">
            <a:avLst/>
          </a:prstGeom>
          <a:ln w="20320">
            <a:solidFill>
              <a:srgbClr val="028090"/>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463040" y="1024128"/>
            <a:ext cx="8820149" cy="0"/>
          </a:xfrm>
          <a:prstGeom prst="line">
            <a:avLst/>
          </a:prstGeom>
          <a:ln w="20320">
            <a:solidFill>
              <a:srgbClr val="028090"/>
            </a:solidFill>
            <a:prstDash val="dash"/>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926080" y="1152144"/>
            <a:ext cx="2811170"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oxes-teal.png"/>
          <p:cNvPicPr>
            <a:picLocks noChangeAspect="1"/>
          </p:cNvPicPr>
          <p:nvPr/>
        </p:nvPicPr>
        <p:blipFill>
          <a:blip r:embed="rId3"/>
          <a:stretch>
            <a:fillRect/>
          </a:stretch>
        </p:blipFill>
        <p:spPr>
          <a:xfrm>
            <a:off x="3090672" y="1261872"/>
            <a:ext cx="365760" cy="365760"/>
          </a:xfrm>
          <a:prstGeom prst="rect">
            <a:avLst/>
          </a:prstGeom>
        </p:spPr>
      </p:pic>
      <p:sp>
        <p:nvSpPr>
          <p:cNvPr id="11" name="TextBox 10"/>
          <p:cNvSpPr txBox="1"/>
          <p:nvPr/>
        </p:nvSpPr>
        <p:spPr>
          <a:xfrm>
            <a:off x="3529584" y="1280160"/>
            <a:ext cx="2061362" cy="292608"/>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GitHub MCP</a:t>
            </a:r>
          </a:p>
        </p:txBody>
      </p:sp>
      <p:sp>
        <p:nvSpPr>
          <p:cNvPr id="12" name="TextBox 11"/>
          <p:cNvSpPr txBox="1"/>
          <p:nvPr/>
        </p:nvSpPr>
        <p:spPr>
          <a:xfrm>
            <a:off x="3090672" y="1627632"/>
            <a:ext cx="2481986" cy="749808"/>
          </a:xfrm>
          <a:prstGeom prst="rect">
            <a:avLst/>
          </a:prstGeom>
          <a:noFill/>
        </p:spPr>
        <p:txBody>
          <a:bodyPr wrap="square" lIns="0" rIns="0" tIns="0" bIns="0" anchor="t">
            <a:spAutoFit/>
          </a:bodyPr>
          <a:lstStyle/>
          <a:p>
            <a:pPr algn="l">
              <a:lnSpc>
                <a:spcPct val="110000"/>
              </a:lnSpc>
            </a:pPr>
            <a:r>
              <a:rPr sz="950" b="0" i="0">
                <a:solidFill>
                  <a:srgbClr val="21295C"/>
                </a:solidFill>
                <a:latin typeface="DejaVu Sans"/>
              </a:rPr>
              <a:t>issues, pull requests, builds — by toolsets that are enabled selectively</a:t>
            </a:r>
          </a:p>
        </p:txBody>
      </p:sp>
      <p:cxnSp>
        <p:nvCxnSpPr>
          <p:cNvPr id="13" name="Connector 12"/>
          <p:cNvCxnSpPr/>
          <p:nvPr/>
        </p:nvCxnSpPr>
        <p:spPr>
          <a:xfrm>
            <a:off x="4331665" y="1024128"/>
            <a:ext cx="0" cy="128016"/>
          </a:xfrm>
          <a:prstGeom prst="line">
            <a:avLst/>
          </a:prstGeom>
          <a:ln w="20320">
            <a:solidFill>
              <a:srgbClr val="028090"/>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901842" y="1152144"/>
            <a:ext cx="2811170"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can-search-teal.png"/>
          <p:cNvPicPr>
            <a:picLocks noChangeAspect="1"/>
          </p:cNvPicPr>
          <p:nvPr/>
        </p:nvPicPr>
        <p:blipFill>
          <a:blip r:embed="rId4"/>
          <a:stretch>
            <a:fillRect/>
          </a:stretch>
        </p:blipFill>
        <p:spPr>
          <a:xfrm>
            <a:off x="6066434" y="1261872"/>
            <a:ext cx="365760" cy="365760"/>
          </a:xfrm>
          <a:prstGeom prst="rect">
            <a:avLst/>
          </a:prstGeom>
        </p:spPr>
      </p:pic>
      <p:sp>
        <p:nvSpPr>
          <p:cNvPr id="16" name="TextBox 15"/>
          <p:cNvSpPr txBox="1"/>
          <p:nvPr/>
        </p:nvSpPr>
        <p:spPr>
          <a:xfrm>
            <a:off x="6505346" y="1280160"/>
            <a:ext cx="2061362" cy="292608"/>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Playwright MCP</a:t>
            </a:r>
          </a:p>
        </p:txBody>
      </p:sp>
      <p:sp>
        <p:nvSpPr>
          <p:cNvPr id="17" name="TextBox 16"/>
          <p:cNvSpPr txBox="1"/>
          <p:nvPr/>
        </p:nvSpPr>
        <p:spPr>
          <a:xfrm>
            <a:off x="6066434" y="1627632"/>
            <a:ext cx="2481986" cy="749808"/>
          </a:xfrm>
          <a:prstGeom prst="rect">
            <a:avLst/>
          </a:prstGeom>
          <a:noFill/>
        </p:spPr>
        <p:txBody>
          <a:bodyPr wrap="square" lIns="0" rIns="0" tIns="0" bIns="0" anchor="t">
            <a:spAutoFit/>
          </a:bodyPr>
          <a:lstStyle/>
          <a:p>
            <a:pPr algn="l">
              <a:lnSpc>
                <a:spcPct val="110000"/>
              </a:lnSpc>
            </a:pPr>
            <a:r>
              <a:rPr sz="950" b="0" i="0">
                <a:solidFill>
                  <a:srgbClr val="21295C"/>
                </a:solidFill>
                <a:latin typeface="DejaVu Sans"/>
              </a:rPr>
              <a:t>the browser: a structural tree of elements instead of a screenshot; clicks, fills in forms</a:t>
            </a:r>
          </a:p>
        </p:txBody>
      </p:sp>
      <p:cxnSp>
        <p:nvCxnSpPr>
          <p:cNvPr id="18" name="Connector 17"/>
          <p:cNvCxnSpPr/>
          <p:nvPr/>
        </p:nvCxnSpPr>
        <p:spPr>
          <a:xfrm>
            <a:off x="7307427" y="1024128"/>
            <a:ext cx="0" cy="128016"/>
          </a:xfrm>
          <a:prstGeom prst="line">
            <a:avLst/>
          </a:prstGeom>
          <a:ln w="20320">
            <a:solidFill>
              <a:srgbClr val="028090"/>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877604" y="1152144"/>
            <a:ext cx="2811170" cy="1298448"/>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ink-teal.png"/>
          <p:cNvPicPr>
            <a:picLocks noChangeAspect="1"/>
          </p:cNvPicPr>
          <p:nvPr/>
        </p:nvPicPr>
        <p:blipFill>
          <a:blip r:embed="rId5"/>
          <a:stretch>
            <a:fillRect/>
          </a:stretch>
        </p:blipFill>
        <p:spPr>
          <a:xfrm>
            <a:off x="9042196" y="1261872"/>
            <a:ext cx="365760" cy="365760"/>
          </a:xfrm>
          <a:prstGeom prst="rect">
            <a:avLst/>
          </a:prstGeom>
        </p:spPr>
      </p:pic>
      <p:sp>
        <p:nvSpPr>
          <p:cNvPr id="21" name="TextBox 20"/>
          <p:cNvSpPr txBox="1"/>
          <p:nvPr/>
        </p:nvSpPr>
        <p:spPr>
          <a:xfrm>
            <a:off x="9481108" y="1280160"/>
            <a:ext cx="2061362" cy="292608"/>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Filesystem MCP</a:t>
            </a:r>
          </a:p>
        </p:txBody>
      </p:sp>
      <p:sp>
        <p:nvSpPr>
          <p:cNvPr id="22" name="TextBox 21"/>
          <p:cNvSpPr txBox="1"/>
          <p:nvPr/>
        </p:nvSpPr>
        <p:spPr>
          <a:xfrm>
            <a:off x="9042196" y="1627632"/>
            <a:ext cx="2481986" cy="749808"/>
          </a:xfrm>
          <a:prstGeom prst="rect">
            <a:avLst/>
          </a:prstGeom>
          <a:noFill/>
        </p:spPr>
        <p:txBody>
          <a:bodyPr wrap="square" lIns="0" rIns="0" tIns="0" bIns="0" anchor="t">
            <a:spAutoFit/>
          </a:bodyPr>
          <a:lstStyle/>
          <a:p>
            <a:pPr algn="l">
              <a:lnSpc>
                <a:spcPct val="110000"/>
              </a:lnSpc>
            </a:pPr>
            <a:r>
              <a:rPr sz="950" b="0" i="0">
                <a:solidFill>
                  <a:srgbClr val="21295C"/>
                </a:solidFill>
                <a:latin typeface="DejaVu Sans"/>
              </a:rPr>
              <a:t>a class of servers: access to directories OUTSIDE the working copy — a neighboring repo, a shared disk</a:t>
            </a:r>
          </a:p>
        </p:txBody>
      </p:sp>
      <p:cxnSp>
        <p:nvCxnSpPr>
          <p:cNvPr id="23" name="Connector 22"/>
          <p:cNvCxnSpPr/>
          <p:nvPr/>
        </p:nvCxnSpPr>
        <p:spPr>
          <a:xfrm>
            <a:off x="10283189" y="1024128"/>
            <a:ext cx="0" cy="128016"/>
          </a:xfrm>
          <a:prstGeom prst="line">
            <a:avLst/>
          </a:prstGeom>
          <a:ln w="20320">
            <a:solidFill>
              <a:srgbClr val="028090"/>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2578608"/>
            <a:ext cx="11201400" cy="987552"/>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2670048"/>
            <a:ext cx="4663440" cy="256032"/>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MCP is narrower than direct access</a:t>
            </a:r>
          </a:p>
        </p:txBody>
      </p:sp>
      <p:sp>
        <p:nvSpPr>
          <p:cNvPr id="26" name="Rounded Rectangle 25"/>
          <p:cNvSpPr/>
          <p:nvPr/>
        </p:nvSpPr>
        <p:spPr>
          <a:xfrm>
            <a:off x="722376" y="2962656"/>
            <a:ext cx="4480560" cy="237744"/>
          </a:xfrm>
          <a:prstGeom prst="roundRect">
            <a:avLst>
              <a:gd name="adj" fmla="val 30000"/>
            </a:avLst>
          </a:prstGeom>
          <a:solidFill>
            <a:srgbClr val="E5EAF0"/>
          </a:solidFill>
          <a:ln w="9525">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 y="2971799"/>
            <a:ext cx="4297680" cy="219456"/>
          </a:xfrm>
          <a:prstGeom prst="rect">
            <a:avLst/>
          </a:prstGeom>
          <a:noFill/>
        </p:spPr>
        <p:txBody>
          <a:bodyPr wrap="square" lIns="0" rIns="0" tIns="0" bIns="0" anchor="ctr">
            <a:spAutoFit/>
          </a:bodyPr>
          <a:lstStyle/>
          <a:p>
            <a:pPr algn="l">
              <a:lnSpc>
                <a:spcPct val="115000"/>
              </a:lnSpc>
            </a:pPr>
            <a:r>
              <a:rPr sz="900" b="0" i="0">
                <a:solidFill>
                  <a:srgbClr val="5B6678"/>
                </a:solidFill>
                <a:latin typeface="DejaVu Sans"/>
              </a:rPr>
              <a:t>the system's full interface: its API and its terminal command</a:t>
            </a:r>
          </a:p>
        </p:txBody>
      </p:sp>
      <p:sp>
        <p:nvSpPr>
          <p:cNvPr id="28" name="Rounded Rectangle 27"/>
          <p:cNvSpPr/>
          <p:nvPr/>
        </p:nvSpPr>
        <p:spPr>
          <a:xfrm>
            <a:off x="722376" y="3255263"/>
            <a:ext cx="1965960" cy="237744"/>
          </a:xfrm>
          <a:prstGeom prst="roundRect">
            <a:avLst>
              <a:gd name="adj" fmla="val 3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3264407"/>
            <a:ext cx="1783080" cy="219456"/>
          </a:xfrm>
          <a:prstGeom prst="rect">
            <a:avLst/>
          </a:prstGeom>
          <a:noFill/>
        </p:spPr>
        <p:txBody>
          <a:bodyPr wrap="square" lIns="0" rIns="0" tIns="0" bIns="0" anchor="ctr">
            <a:spAutoFit/>
          </a:bodyPr>
          <a:lstStyle/>
          <a:p>
            <a:pPr algn="l">
              <a:lnSpc>
                <a:spcPct val="115000"/>
              </a:lnSpc>
            </a:pPr>
            <a:r>
              <a:rPr sz="900" b="1" i="0">
                <a:solidFill>
                  <a:srgbClr val="FFFFFF"/>
                </a:solidFill>
                <a:latin typeface="DejaVu Sans"/>
              </a:rPr>
              <a:t>the MCP toolset</a:t>
            </a:r>
          </a:p>
        </p:txBody>
      </p:sp>
      <p:sp>
        <p:nvSpPr>
          <p:cNvPr id="30" name="TextBox 29"/>
          <p:cNvSpPr txBox="1"/>
          <p:nvPr/>
        </p:nvSpPr>
        <p:spPr>
          <a:xfrm>
            <a:off x="2798064" y="3264407"/>
            <a:ext cx="2651760" cy="219456"/>
          </a:xfrm>
          <a:prstGeom prst="rect">
            <a:avLst/>
          </a:prstGeom>
          <a:noFill/>
        </p:spPr>
        <p:txBody>
          <a:bodyPr wrap="square" lIns="0" rIns="0" tIns="0" bIns="0" anchor="ctr">
            <a:spAutoFit/>
          </a:bodyPr>
          <a:lstStyle/>
          <a:p>
            <a:pPr algn="l">
              <a:lnSpc>
                <a:spcPct val="115000"/>
              </a:lnSpc>
            </a:pPr>
            <a:r>
              <a:rPr sz="900" b="0" i="1">
                <a:solidFill>
                  <a:srgbClr val="5B6678"/>
                </a:solidFill>
                <a:latin typeface="DejaVu Sans"/>
              </a:rPr>
              <a:t>— a subset, not the whole interface</a:t>
            </a:r>
          </a:p>
        </p:txBody>
      </p:sp>
      <p:sp>
        <p:nvSpPr>
          <p:cNvPr id="31" name="TextBox 30"/>
          <p:cNvSpPr txBox="1"/>
          <p:nvPr/>
        </p:nvSpPr>
        <p:spPr>
          <a:xfrm>
            <a:off x="5623560" y="2688336"/>
            <a:ext cx="5897880" cy="786384"/>
          </a:xfrm>
          <a:prstGeom prst="rect">
            <a:avLst/>
          </a:prstGeom>
          <a:noFill/>
        </p:spPr>
        <p:txBody>
          <a:bodyPr wrap="square" lIns="0" rIns="0" tIns="0" bIns="0" anchor="t">
            <a:spAutoFit/>
          </a:bodyPr>
          <a:lstStyle/>
          <a:p>
            <a:pPr algn="l">
              <a:lnSpc>
                <a:spcPct val="114000"/>
              </a:lnSpc>
            </a:pPr>
            <a:r>
              <a:rPr sz="1000" b="0" i="0">
                <a:solidFill>
                  <a:srgbClr val="21295C"/>
                </a:solidFill>
                <a:latin typeface="DejaVu Sans"/>
              </a:rPr>
              <a:t>The server publishes a curated set of tools rather than the system's whole interface: what is not in the set is out of reach for the agent, even if the system can do it. And every tool schema occupies context permanently — so where the agent already has a shell, a narrow command is often cheaper than an MCP call.</a:t>
            </a:r>
          </a:p>
        </p:txBody>
      </p:sp>
      <p:sp>
        <p:nvSpPr>
          <p:cNvPr id="32" name="Rounded Rectangle 31"/>
          <p:cNvSpPr/>
          <p:nvPr/>
        </p:nvSpPr>
        <p:spPr>
          <a:xfrm>
            <a:off x="502920" y="3694176"/>
            <a:ext cx="5257800" cy="1389888"/>
          </a:xfrm>
          <a:prstGeom prst="roundRect">
            <a:avLst>
              <a:gd name="adj" fmla="val 21929"/>
            </a:avLst>
          </a:prstGeom>
          <a:solidFill>
            <a:srgbClr val="E5EAF0"/>
          </a:solidFill>
          <a:ln w="1524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shield-alert-mid.png"/>
          <p:cNvPicPr>
            <a:picLocks noChangeAspect="1"/>
          </p:cNvPicPr>
          <p:nvPr/>
        </p:nvPicPr>
        <p:blipFill>
          <a:blip r:embed="rId6"/>
          <a:stretch>
            <a:fillRect/>
          </a:stretch>
        </p:blipFill>
        <p:spPr>
          <a:xfrm>
            <a:off x="704088" y="3803904"/>
            <a:ext cx="365760" cy="365760"/>
          </a:xfrm>
          <a:prstGeom prst="rect">
            <a:avLst/>
          </a:prstGeom>
        </p:spPr>
      </p:pic>
      <p:sp>
        <p:nvSpPr>
          <p:cNvPr id="34" name="TextBox 33"/>
          <p:cNvSpPr txBox="1"/>
          <p:nvPr/>
        </p:nvSpPr>
        <p:spPr>
          <a:xfrm>
            <a:off x="1143000" y="3822191"/>
            <a:ext cx="4416552" cy="256032"/>
          </a:xfrm>
          <a:prstGeom prst="rect">
            <a:avLst/>
          </a:prstGeom>
          <a:noFill/>
        </p:spPr>
        <p:txBody>
          <a:bodyPr wrap="square" lIns="0" rIns="0" tIns="0" bIns="0" anchor="t">
            <a:spAutoFit/>
          </a:bodyPr>
          <a:lstStyle/>
          <a:p>
            <a:pPr algn="l">
              <a:lnSpc>
                <a:spcPct val="115000"/>
              </a:lnSpc>
            </a:pPr>
            <a:r>
              <a:rPr sz="1100" b="1" i="0">
                <a:solidFill>
                  <a:srgbClr val="21295C"/>
                </a:solidFill>
                <a:latin typeface="DejaVu Sans"/>
              </a:rPr>
              <a:t>The danger: one connection — two corners out of three</a:t>
            </a:r>
          </a:p>
        </p:txBody>
      </p:sp>
      <p:sp>
        <p:nvSpPr>
          <p:cNvPr id="35" name="TextBox 34"/>
          <p:cNvSpPr txBox="1"/>
          <p:nvPr/>
        </p:nvSpPr>
        <p:spPr>
          <a:xfrm>
            <a:off x="704088" y="4114800"/>
            <a:ext cx="4855464" cy="914400"/>
          </a:xfrm>
          <a:prstGeom prst="rect">
            <a:avLst/>
          </a:prstGeom>
          <a:noFill/>
        </p:spPr>
        <p:txBody>
          <a:bodyPr wrap="square" lIns="0" rIns="0" tIns="0" bIns="0" anchor="t">
            <a:spAutoFit/>
          </a:bodyPr>
          <a:lstStyle/>
          <a:p>
            <a:pPr algn="l">
              <a:lnSpc>
                <a:spcPct val="110000"/>
              </a:lnSpc>
            </a:pPr>
            <a:r>
              <a:rPr sz="950" b="0" i="0">
                <a:solidFill>
                  <a:srgbClr val="21295C"/>
                </a:solidFill>
                <a:latin typeface="DejaVu Sans"/>
              </a:rPr>
              <a:t>The lethal trifecta: access to data + a channel out + untrusted content. One server usually grants the first two at once, and the third arrives through the same channel. Documented: instructions hidden in public issues exfiltrated private-repository data through the pull requests the agent created.</a:t>
            </a:r>
          </a:p>
        </p:txBody>
      </p:sp>
      <p:sp>
        <p:nvSpPr>
          <p:cNvPr id="36" name="Right Arrow 35"/>
          <p:cNvSpPr/>
          <p:nvPr/>
        </p:nvSpPr>
        <p:spPr>
          <a:xfrm>
            <a:off x="5870448" y="4206240"/>
            <a:ext cx="457200" cy="365760"/>
          </a:xfrm>
          <a:prstGeom prst="rightArrow">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446520" y="3694176"/>
            <a:ext cx="5257800" cy="1389888"/>
          </a:xfrm>
          <a:prstGeom prst="roundRect">
            <a:avLst>
              <a:gd name="adj" fmla="val 21929"/>
            </a:avLst>
          </a:prstGeom>
          <a:solidFill>
            <a:srgbClr val="E4F1F2"/>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shield-check-teal.png"/>
          <p:cNvPicPr>
            <a:picLocks noChangeAspect="1"/>
          </p:cNvPicPr>
          <p:nvPr/>
        </p:nvPicPr>
        <p:blipFill>
          <a:blip r:embed="rId7"/>
          <a:stretch>
            <a:fillRect/>
          </a:stretch>
        </p:blipFill>
        <p:spPr>
          <a:xfrm>
            <a:off x="6647688" y="3803904"/>
            <a:ext cx="365760" cy="365760"/>
          </a:xfrm>
          <a:prstGeom prst="rect">
            <a:avLst/>
          </a:prstGeom>
        </p:spPr>
      </p:pic>
      <p:sp>
        <p:nvSpPr>
          <p:cNvPr id="39" name="TextBox 38"/>
          <p:cNvSpPr txBox="1"/>
          <p:nvPr/>
        </p:nvSpPr>
        <p:spPr>
          <a:xfrm>
            <a:off x="7086600" y="3822191"/>
            <a:ext cx="4416552" cy="256032"/>
          </a:xfrm>
          <a:prstGeom prst="rect">
            <a:avLst/>
          </a:prstGeom>
          <a:noFill/>
        </p:spPr>
        <p:txBody>
          <a:bodyPr wrap="square" lIns="0" rIns="0" tIns="0" bIns="0" anchor="t">
            <a:spAutoFit/>
          </a:bodyPr>
          <a:lstStyle/>
          <a:p>
            <a:pPr algn="l">
              <a:lnSpc>
                <a:spcPct val="115000"/>
              </a:lnSpc>
            </a:pPr>
            <a:r>
              <a:rPr sz="1150" b="1" i="0">
                <a:solidFill>
                  <a:srgbClr val="028090"/>
                </a:solidFill>
                <a:latin typeface="DejaVu Sans"/>
              </a:rPr>
              <a:t>What closes it</a:t>
            </a:r>
          </a:p>
        </p:txBody>
      </p:sp>
      <p:sp>
        <p:nvSpPr>
          <p:cNvPr id="40" name="TextBox 39"/>
          <p:cNvSpPr txBox="1"/>
          <p:nvPr/>
        </p:nvSpPr>
        <p:spPr>
          <a:xfrm>
            <a:off x="6647688" y="4096512"/>
            <a:ext cx="4855464" cy="932688"/>
          </a:xfrm>
          <a:prstGeom prst="rect">
            <a:avLst/>
          </a:prstGeom>
          <a:noFill/>
        </p:spPr>
        <p:txBody>
          <a:bodyPr wrap="square" lIns="0" rIns="0" tIns="0" bIns="0" anchor="t">
            <a:spAutoFit/>
          </a:bodyPr>
          <a:lstStyle/>
          <a:p>
            <a:pPr algn="l">
              <a:lnSpc>
                <a:spcPct val="110000"/>
              </a:lnSpc>
            </a:pPr>
            <a:r>
              <a:rPr sz="950" b="0" i="0">
                <a:solidFill>
                  <a:srgbClr val="21295C"/>
                </a:solidFill>
                <a:latin typeface="DejaVu Sans"/>
              </a:rPr>
              <a:t>1. Read-only by default — write tools are skipped, even if the agent asked for them.</a:t>
            </a:r>
          </a:p>
          <a:p>
            <a:pPr algn="l">
              <a:lnSpc>
                <a:spcPct val="110000"/>
              </a:lnSpc>
            </a:pPr>
            <a:r>
              <a:rPr sz="950" b="0" i="0">
                <a:solidFill>
                  <a:srgbClr val="21295C"/>
                </a:solidFill>
                <a:latin typeface="DejaVu Sans"/>
              </a:rPr>
              <a:t>2. Write access is opened for a specific task, as a separate decision, not an out-of-the-box setting.</a:t>
            </a:r>
          </a:p>
          <a:p>
            <a:pPr algn="l">
              <a:lnSpc>
                <a:spcPct val="110000"/>
              </a:lnSpc>
            </a:pPr>
            <a:r>
              <a:rPr sz="950" b="0" i="0">
                <a:solidFill>
                  <a:srgbClr val="21295C"/>
                </a:solidFill>
                <a:latin typeface="DejaVu Sans"/>
              </a:rPr>
              <a:t>3. The fewest servers connected — fewer corners, less context.</a:t>
            </a:r>
          </a:p>
        </p:txBody>
      </p:sp>
      <p:sp>
        <p:nvSpPr>
          <p:cNvPr id="41" name="Rounded Rectangle 40"/>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This is a risk, not a convenience: read-only by default, and write access opened deliberately and per task.</a:t>
            </a:r>
          </a:p>
        </p:txBody>
      </p:sp>
      <p:sp>
        <p:nvSpPr>
          <p:cNvPr id="43" name="TextBox 42"/>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8"/>
              </a:rPr>
              <a:t>GitHub MCP server</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9"/>
              </a:rPr>
              <a:t>Playwright MCP server (Microsoft)</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10"/>
              </a:rPr>
              <a:t>Willison — the lethal trifecta</a:t>
            </a:r>
          </a:p>
        </p:txBody>
      </p:sp>
      <p:sp>
        <p:nvSpPr>
          <p:cNvPr id="44" name="TextBox 4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28 / 58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548640"/>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Task logging is grown to fit the task, not taken at maximum</a:t>
            </a:r>
          </a:p>
        </p:txBody>
      </p:sp>
      <p:sp>
        <p:nvSpPr>
          <p:cNvPr id="3" name="TextBox 2"/>
          <p:cNvSpPr txBox="1"/>
          <p:nvPr/>
        </p:nvSpPr>
        <p:spPr>
          <a:xfrm>
            <a:off x="502920" y="969264"/>
            <a:ext cx="11201400" cy="237744"/>
          </a:xfrm>
          <a:prstGeom prst="rect">
            <a:avLst/>
          </a:prstGeom>
          <a:noFill/>
        </p:spPr>
        <p:txBody>
          <a:bodyPr wrap="square" lIns="0" rIns="0" tIns="0" bIns="0" anchor="t">
            <a:spAutoFit/>
          </a:bodyPr>
          <a:lstStyle/>
          <a:p>
            <a:pPr algn="l">
              <a:lnSpc>
                <a:spcPct val="115000"/>
              </a:lnSpc>
            </a:pPr>
            <a:r>
              <a:rPr sz="1100" b="1" i="0">
                <a:solidFill>
                  <a:srgbClr val="1C7293"/>
                </a:solidFill>
                <a:latin typeface="DejaVu Sans"/>
              </a:rPr>
              <a:t>COMPLEXITY GROWS LEFT TO RIGHT:  one file  →  a set of files in one folder  →  a folder structure</a:t>
            </a:r>
          </a:p>
        </p:txBody>
      </p:sp>
      <p:sp>
        <p:nvSpPr>
          <p:cNvPr id="4" name="Rounded Rectangle 3"/>
          <p:cNvSpPr/>
          <p:nvPr/>
        </p:nvSpPr>
        <p:spPr>
          <a:xfrm>
            <a:off x="502920" y="1188720"/>
            <a:ext cx="3636264" cy="475488"/>
          </a:xfrm>
          <a:prstGeom prst="roundRect">
            <a:avLst>
              <a:gd name="adj" fmla="val 12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st-ordered-white.png"/>
          <p:cNvPicPr>
            <a:picLocks noChangeAspect="1"/>
          </p:cNvPicPr>
          <p:nvPr/>
        </p:nvPicPr>
        <p:blipFill>
          <a:blip r:embed="rId2"/>
          <a:stretch>
            <a:fillRect/>
          </a:stretch>
        </p:blipFill>
        <p:spPr>
          <a:xfrm>
            <a:off x="630936" y="1243584"/>
            <a:ext cx="365760" cy="365760"/>
          </a:xfrm>
          <a:prstGeom prst="rect">
            <a:avLst/>
          </a:prstGeom>
        </p:spPr>
      </p:pic>
      <p:sp>
        <p:nvSpPr>
          <p:cNvPr id="6" name="TextBox 5"/>
          <p:cNvSpPr txBox="1"/>
          <p:nvPr/>
        </p:nvSpPr>
        <p:spPr>
          <a:xfrm>
            <a:off x="1069848" y="1216152"/>
            <a:ext cx="2977896" cy="420624"/>
          </a:xfrm>
          <a:prstGeom prst="rect">
            <a:avLst/>
          </a:prstGeom>
          <a:noFill/>
        </p:spPr>
        <p:txBody>
          <a:bodyPr wrap="square" lIns="0" rIns="0" tIns="0" bIns="0" anchor="ctr">
            <a:spAutoFit/>
          </a:bodyPr>
          <a:lstStyle/>
          <a:p>
            <a:pPr algn="l">
              <a:lnSpc>
                <a:spcPct val="98000"/>
              </a:lnSpc>
            </a:pPr>
            <a:r>
              <a:rPr sz="1150" b="1" i="0">
                <a:solidFill>
                  <a:srgbClr val="FFFFFF"/>
                </a:solidFill>
                <a:latin typeface="DejaVu Sans"/>
              </a:rPr>
              <a:t>(a) One file — a shared log</a:t>
            </a:r>
          </a:p>
        </p:txBody>
      </p:sp>
      <p:sp>
        <p:nvSpPr>
          <p:cNvPr id="7" name="Rounded Rectangle 6"/>
          <p:cNvSpPr/>
          <p:nvPr/>
        </p:nvSpPr>
        <p:spPr>
          <a:xfrm>
            <a:off x="4285488" y="1188720"/>
            <a:ext cx="3636264" cy="475488"/>
          </a:xfrm>
          <a:prstGeom prst="roundRect">
            <a:avLst>
              <a:gd name="adj" fmla="val 12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ipboard-list-white.png"/>
          <p:cNvPicPr>
            <a:picLocks noChangeAspect="1"/>
          </p:cNvPicPr>
          <p:nvPr/>
        </p:nvPicPr>
        <p:blipFill>
          <a:blip r:embed="rId3"/>
          <a:stretch>
            <a:fillRect/>
          </a:stretch>
        </p:blipFill>
        <p:spPr>
          <a:xfrm>
            <a:off x="4413504" y="1243584"/>
            <a:ext cx="365760" cy="365760"/>
          </a:xfrm>
          <a:prstGeom prst="rect">
            <a:avLst/>
          </a:prstGeom>
        </p:spPr>
      </p:pic>
      <p:sp>
        <p:nvSpPr>
          <p:cNvPr id="9" name="TextBox 8"/>
          <p:cNvSpPr txBox="1"/>
          <p:nvPr/>
        </p:nvSpPr>
        <p:spPr>
          <a:xfrm>
            <a:off x="4852416" y="1216152"/>
            <a:ext cx="2977896" cy="420624"/>
          </a:xfrm>
          <a:prstGeom prst="rect">
            <a:avLst/>
          </a:prstGeom>
          <a:noFill/>
        </p:spPr>
        <p:txBody>
          <a:bodyPr wrap="square" lIns="0" rIns="0" tIns="0" bIns="0" anchor="ctr">
            <a:spAutoFit/>
          </a:bodyPr>
          <a:lstStyle/>
          <a:p>
            <a:pPr algn="l">
              <a:lnSpc>
                <a:spcPct val="98000"/>
              </a:lnSpc>
            </a:pPr>
            <a:r>
              <a:rPr sz="1150" b="1" i="0">
                <a:solidFill>
                  <a:srgbClr val="FFFFFF"/>
                </a:solidFill>
                <a:latin typeface="DejaVu Sans"/>
              </a:rPr>
              <a:t>(b) A folder, one file per task</a:t>
            </a:r>
          </a:p>
        </p:txBody>
      </p:sp>
      <p:sp>
        <p:nvSpPr>
          <p:cNvPr id="10" name="Rounded Rectangle 9"/>
          <p:cNvSpPr/>
          <p:nvPr/>
        </p:nvSpPr>
        <p:spPr>
          <a:xfrm>
            <a:off x="8068056" y="1188720"/>
            <a:ext cx="3636264" cy="475488"/>
          </a:xfrm>
          <a:prstGeom prst="roundRect">
            <a:avLst>
              <a:gd name="adj" fmla="val 12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le-stack-white.png"/>
          <p:cNvPicPr>
            <a:picLocks noChangeAspect="1"/>
          </p:cNvPicPr>
          <p:nvPr/>
        </p:nvPicPr>
        <p:blipFill>
          <a:blip r:embed="rId4"/>
          <a:stretch>
            <a:fillRect/>
          </a:stretch>
        </p:blipFill>
        <p:spPr>
          <a:xfrm>
            <a:off x="8196072" y="1243584"/>
            <a:ext cx="365760" cy="365760"/>
          </a:xfrm>
          <a:prstGeom prst="rect">
            <a:avLst/>
          </a:prstGeom>
        </p:spPr>
      </p:pic>
      <p:sp>
        <p:nvSpPr>
          <p:cNvPr id="12" name="TextBox 11"/>
          <p:cNvSpPr txBox="1"/>
          <p:nvPr/>
        </p:nvSpPr>
        <p:spPr>
          <a:xfrm>
            <a:off x="8634984" y="1216152"/>
            <a:ext cx="2977896" cy="420624"/>
          </a:xfrm>
          <a:prstGeom prst="rect">
            <a:avLst/>
          </a:prstGeom>
          <a:noFill/>
        </p:spPr>
        <p:txBody>
          <a:bodyPr wrap="square" lIns="0" rIns="0" tIns="0" bIns="0" anchor="ctr">
            <a:spAutoFit/>
          </a:bodyPr>
          <a:lstStyle/>
          <a:p>
            <a:pPr algn="l">
              <a:lnSpc>
                <a:spcPct val="98000"/>
              </a:lnSpc>
            </a:pPr>
            <a:r>
              <a:rPr sz="1150" b="1" i="0">
                <a:solidFill>
                  <a:srgbClr val="FFFFFF"/>
                </a:solidFill>
                <a:latin typeface="DejaVu Sans"/>
              </a:rPr>
              <a:t>(c) A folder per task + files</a:t>
            </a:r>
          </a:p>
        </p:txBody>
      </p:sp>
      <p:sp>
        <p:nvSpPr>
          <p:cNvPr id="13" name="Rounded Rectangle 12"/>
          <p:cNvSpPr/>
          <p:nvPr/>
        </p:nvSpPr>
        <p:spPr>
          <a:xfrm>
            <a:off x="502920" y="1719072"/>
            <a:ext cx="3636264" cy="731520"/>
          </a:xfrm>
          <a:prstGeom prst="roundRect">
            <a:avLst>
              <a:gd name="adj" fmla="val 6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1755648"/>
            <a:ext cx="3380231" cy="219456"/>
          </a:xfrm>
          <a:prstGeom prst="rect">
            <a:avLst/>
          </a:prstGeom>
          <a:noFill/>
        </p:spPr>
        <p:txBody>
          <a:bodyPr wrap="square" lIns="0" rIns="0" tIns="0" bIns="0" anchor="t">
            <a:spAutoFit/>
          </a:bodyPr>
          <a:lstStyle/>
          <a:p>
            <a:pPr algn="l">
              <a:lnSpc>
                <a:spcPct val="115000"/>
              </a:lnSpc>
            </a:pPr>
            <a:r>
              <a:rPr sz="1200" b="1" i="0">
                <a:solidFill>
                  <a:srgbClr val="1C7293"/>
                </a:solidFill>
                <a:latin typeface="DejaVu Sans"/>
              </a:rPr>
              <a:t>SOLO OR A TEAM</a:t>
            </a:r>
          </a:p>
        </p:txBody>
      </p:sp>
      <p:sp>
        <p:nvSpPr>
          <p:cNvPr id="15" name="TextBox 14"/>
          <p:cNvSpPr txBox="1"/>
          <p:nvPr/>
        </p:nvSpPr>
        <p:spPr>
          <a:xfrm>
            <a:off x="630936" y="1993392"/>
            <a:ext cx="3380231" cy="402336"/>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A team — one shared chronology, but frequent merge conflicts</a:t>
            </a:r>
          </a:p>
        </p:txBody>
      </p:sp>
      <p:sp>
        <p:nvSpPr>
          <p:cNvPr id="16" name="Rounded Rectangle 15"/>
          <p:cNvSpPr/>
          <p:nvPr/>
        </p:nvSpPr>
        <p:spPr>
          <a:xfrm>
            <a:off x="4285488" y="1719072"/>
            <a:ext cx="3636264" cy="731520"/>
          </a:xfrm>
          <a:prstGeom prst="roundRect">
            <a:avLst>
              <a:gd name="adj" fmla="val 6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13504" y="1783080"/>
            <a:ext cx="3380231" cy="603504"/>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A mid-sized team — fewer conflicts</a:t>
            </a:r>
          </a:p>
        </p:txBody>
      </p:sp>
      <p:sp>
        <p:nvSpPr>
          <p:cNvPr id="18" name="Rounded Rectangle 17"/>
          <p:cNvSpPr/>
          <p:nvPr/>
        </p:nvSpPr>
        <p:spPr>
          <a:xfrm>
            <a:off x="8068056" y="1719072"/>
            <a:ext cx="3636264" cy="731520"/>
          </a:xfrm>
          <a:prstGeom prst="roundRect">
            <a:avLst>
              <a:gd name="adj" fmla="val 6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96072" y="1783080"/>
            <a:ext cx="3380231" cy="603504"/>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One developer or a small team; breeds directories</a:t>
            </a:r>
          </a:p>
        </p:txBody>
      </p:sp>
      <p:sp>
        <p:nvSpPr>
          <p:cNvPr id="20" name="Rounded Rectangle 19"/>
          <p:cNvSpPr/>
          <p:nvPr/>
        </p:nvSpPr>
        <p:spPr>
          <a:xfrm>
            <a:off x="502920" y="2505456"/>
            <a:ext cx="3636264" cy="530352"/>
          </a:xfrm>
          <a:prstGeom prst="roundRect">
            <a:avLst>
              <a:gd name="adj" fmla="val 6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 y="2542032"/>
            <a:ext cx="3380231" cy="219456"/>
          </a:xfrm>
          <a:prstGeom prst="rect">
            <a:avLst/>
          </a:prstGeom>
          <a:noFill/>
        </p:spPr>
        <p:txBody>
          <a:bodyPr wrap="square" lIns="0" rIns="0" tIns="0" bIns="0" anchor="t">
            <a:spAutoFit/>
          </a:bodyPr>
          <a:lstStyle/>
          <a:p>
            <a:pPr algn="l">
              <a:lnSpc>
                <a:spcPct val="115000"/>
              </a:lnSpc>
            </a:pPr>
            <a:r>
              <a:rPr sz="1200" b="1" i="0">
                <a:solidFill>
                  <a:srgbClr val="1C7293"/>
                </a:solidFill>
                <a:latin typeface="DejaVu Sans"/>
              </a:rPr>
              <a:t>TASK LIFETIME</a:t>
            </a:r>
          </a:p>
        </p:txBody>
      </p:sp>
      <p:sp>
        <p:nvSpPr>
          <p:cNvPr id="22" name="TextBox 21"/>
          <p:cNvSpPr txBox="1"/>
          <p:nvPr/>
        </p:nvSpPr>
        <p:spPr>
          <a:xfrm>
            <a:off x="630936" y="2779776"/>
            <a:ext cx="3380231" cy="201167"/>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Short, frequent</a:t>
            </a:r>
          </a:p>
        </p:txBody>
      </p:sp>
      <p:sp>
        <p:nvSpPr>
          <p:cNvPr id="23" name="Rounded Rectangle 22"/>
          <p:cNvSpPr/>
          <p:nvPr/>
        </p:nvSpPr>
        <p:spPr>
          <a:xfrm>
            <a:off x="4285488" y="2505456"/>
            <a:ext cx="3636264" cy="530352"/>
          </a:xfrm>
          <a:prstGeom prst="roundRect">
            <a:avLst>
              <a:gd name="adj" fmla="val 6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13504" y="2569464"/>
            <a:ext cx="3380231" cy="402335"/>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"1 context window = 1 pull request"</a:t>
            </a:r>
          </a:p>
        </p:txBody>
      </p:sp>
      <p:sp>
        <p:nvSpPr>
          <p:cNvPr id="25" name="Rounded Rectangle 24"/>
          <p:cNvSpPr/>
          <p:nvPr/>
        </p:nvSpPr>
        <p:spPr>
          <a:xfrm>
            <a:off x="8068056" y="2505456"/>
            <a:ext cx="3636264" cy="530352"/>
          </a:xfrm>
          <a:prstGeom prst="roundRect">
            <a:avLst>
              <a:gd name="adj" fmla="val 6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6072" y="2569464"/>
            <a:ext cx="3380231" cy="402335"/>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Long-lived, complex</a:t>
            </a:r>
          </a:p>
        </p:txBody>
      </p:sp>
      <p:sp>
        <p:nvSpPr>
          <p:cNvPr id="27" name="Rounded Rectangle 26"/>
          <p:cNvSpPr/>
          <p:nvPr/>
        </p:nvSpPr>
        <p:spPr>
          <a:xfrm>
            <a:off x="502920" y="3090672"/>
            <a:ext cx="3636264" cy="658368"/>
          </a:xfrm>
          <a:prstGeom prst="roundRect">
            <a:avLst>
              <a:gd name="adj" fmla="val 6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 y="3127248"/>
            <a:ext cx="3380231" cy="219456"/>
          </a:xfrm>
          <a:prstGeom prst="rect">
            <a:avLst/>
          </a:prstGeom>
          <a:noFill/>
        </p:spPr>
        <p:txBody>
          <a:bodyPr wrap="square" lIns="0" rIns="0" tIns="0" bIns="0" anchor="t">
            <a:spAutoFit/>
          </a:bodyPr>
          <a:lstStyle/>
          <a:p>
            <a:pPr algn="l">
              <a:lnSpc>
                <a:spcPct val="115000"/>
              </a:lnSpc>
            </a:pPr>
            <a:r>
              <a:rPr sz="1200" b="1" i="0">
                <a:solidFill>
                  <a:srgbClr val="1C7293"/>
                </a:solidFill>
                <a:latin typeface="DejaVu Sans"/>
              </a:rPr>
              <a:t>AUDIT TRAIL</a:t>
            </a:r>
          </a:p>
        </p:txBody>
      </p:sp>
      <p:sp>
        <p:nvSpPr>
          <p:cNvPr id="29" name="TextBox 28"/>
          <p:cNvSpPr txBox="1"/>
          <p:nvPr/>
        </p:nvSpPr>
        <p:spPr>
          <a:xfrm>
            <a:off x="630936" y="3364991"/>
            <a:ext cx="3380231" cy="329184"/>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Chronological — "what and when"</a:t>
            </a:r>
          </a:p>
        </p:txBody>
      </p:sp>
      <p:sp>
        <p:nvSpPr>
          <p:cNvPr id="30" name="Rounded Rectangle 29"/>
          <p:cNvSpPr/>
          <p:nvPr/>
        </p:nvSpPr>
        <p:spPr>
          <a:xfrm>
            <a:off x="4285488" y="3090672"/>
            <a:ext cx="3636264" cy="658368"/>
          </a:xfrm>
          <a:prstGeom prst="roundRect">
            <a:avLst>
              <a:gd name="adj" fmla="val 6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13504" y="3154679"/>
            <a:ext cx="3380231" cy="530352"/>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Partial — outcome + structured fields</a:t>
            </a:r>
          </a:p>
        </p:txBody>
      </p:sp>
      <p:sp>
        <p:nvSpPr>
          <p:cNvPr id="32" name="Rounded Rectangle 31"/>
          <p:cNvSpPr/>
          <p:nvPr/>
        </p:nvSpPr>
        <p:spPr>
          <a:xfrm>
            <a:off x="8068056" y="3090672"/>
            <a:ext cx="3636264" cy="658368"/>
          </a:xfrm>
          <a:prstGeom prst="roundRect">
            <a:avLst>
              <a:gd name="adj" fmla="val 6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96072" y="3154679"/>
            <a:ext cx="3380231" cy="530352"/>
          </a:xfrm>
          <a:prstGeom prst="rect">
            <a:avLst/>
          </a:prstGeom>
          <a:noFill/>
        </p:spPr>
        <p:txBody>
          <a:bodyPr wrap="square" lIns="0" rIns="0" tIns="0" bIns="0" anchor="t">
            <a:spAutoFit/>
          </a:bodyPr>
          <a:lstStyle/>
          <a:p>
            <a:pPr algn="l">
              <a:lnSpc>
                <a:spcPct val="106000"/>
              </a:lnSpc>
            </a:pPr>
            <a:r>
              <a:rPr sz="1300" b="0" i="0">
                <a:solidFill>
                  <a:srgbClr val="21295C"/>
                </a:solidFill>
                <a:latin typeface="DejaVu Sans"/>
              </a:rPr>
              <a:t>Detailed — intermediate steps of the reasoning</a:t>
            </a:r>
          </a:p>
        </p:txBody>
      </p:sp>
      <p:sp>
        <p:nvSpPr>
          <p:cNvPr id="34" name="TextBox 33"/>
          <p:cNvSpPr txBox="1"/>
          <p:nvPr/>
        </p:nvSpPr>
        <p:spPr>
          <a:xfrm>
            <a:off x="502920" y="3803904"/>
            <a:ext cx="11201400" cy="274320"/>
          </a:xfrm>
          <a:prstGeom prst="rect">
            <a:avLst/>
          </a:prstGeom>
          <a:noFill/>
        </p:spPr>
        <p:txBody>
          <a:bodyPr wrap="square" lIns="0" rIns="0" tIns="0" bIns="0" anchor="t">
            <a:spAutoFit/>
          </a:bodyPr>
          <a:lstStyle/>
          <a:p>
            <a:pPr algn="l">
              <a:lnSpc>
                <a:spcPct val="115000"/>
              </a:lnSpc>
            </a:pPr>
            <a:r>
              <a:rPr sz="1100" b="1" i="0">
                <a:solidFill>
                  <a:srgbClr val="5B6678"/>
                </a:solidFill>
                <a:latin typeface="DejaVu Sans"/>
              </a:rPr>
              <a:t>Example:  </a:t>
            </a:r>
            <a:r>
              <a:rPr sz="1100" b="0" i="1">
                <a:solidFill>
                  <a:srgbClr val="1C7293"/>
                </a:solidFill>
                <a:latin typeface="DejaVu Sans Mono"/>
              </a:rPr>
              <a:t>notes/decisions.md</a:t>
            </a:r>
            <a:r>
              <a:rPr sz="1100" b="0" i="0">
                <a:solidFill>
                  <a:srgbClr val="5B6678"/>
                </a:solidFill>
                <a:latin typeface="DejaVu Sans"/>
              </a:rPr>
              <a:t>   ·   </a:t>
            </a:r>
            <a:r>
              <a:rPr sz="1100" b="0" i="1">
                <a:solidFill>
                  <a:srgbClr val="065A82"/>
                </a:solidFill>
                <a:latin typeface="DejaVu Sans Mono"/>
              </a:rPr>
              <a:t>Backlog.md</a:t>
            </a:r>
            <a:r>
              <a:rPr sz="1100" b="0" i="0">
                <a:solidFill>
                  <a:srgbClr val="5B6678"/>
                </a:solidFill>
                <a:latin typeface="DejaVu Sans"/>
              </a:rPr>
              <a:t>   ·   </a:t>
            </a:r>
            <a:r>
              <a:rPr sz="1100" b="0" i="1">
                <a:solidFill>
                  <a:srgbClr val="21295C"/>
                </a:solidFill>
                <a:latin typeface="DejaVu Sans Mono"/>
              </a:rPr>
              <a:t>notes/research/*.md</a:t>
            </a:r>
          </a:p>
        </p:txBody>
      </p:sp>
      <p:sp>
        <p:nvSpPr>
          <p:cNvPr id="35" name="Rounded Rectangle 34"/>
          <p:cNvSpPr/>
          <p:nvPr/>
        </p:nvSpPr>
        <p:spPr>
          <a:xfrm>
            <a:off x="502920" y="4096512"/>
            <a:ext cx="7498079" cy="1042415"/>
          </a:xfrm>
          <a:prstGeom prst="roundRect">
            <a:avLst>
              <a:gd name="adj" fmla="val 22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layout-grid-teal.png"/>
          <p:cNvPicPr>
            <a:picLocks noChangeAspect="1"/>
          </p:cNvPicPr>
          <p:nvPr/>
        </p:nvPicPr>
        <p:blipFill>
          <a:blip r:embed="rId5"/>
          <a:stretch>
            <a:fillRect/>
          </a:stretch>
        </p:blipFill>
        <p:spPr>
          <a:xfrm>
            <a:off x="667512" y="4169664"/>
            <a:ext cx="347472" cy="347472"/>
          </a:xfrm>
          <a:prstGeom prst="rect">
            <a:avLst/>
          </a:prstGeom>
        </p:spPr>
      </p:pic>
      <p:sp>
        <p:nvSpPr>
          <p:cNvPr id="37" name="TextBox 36"/>
          <p:cNvSpPr txBox="1"/>
          <p:nvPr/>
        </p:nvSpPr>
        <p:spPr>
          <a:xfrm>
            <a:off x="1088136" y="4178808"/>
            <a:ext cx="6729983" cy="237744"/>
          </a:xfrm>
          <a:prstGeom prst="rect">
            <a:avLst/>
          </a:prstGeom>
          <a:noFill/>
        </p:spPr>
        <p:txBody>
          <a:bodyPr wrap="square" lIns="0" rIns="0" tIns="0" bIns="0" anchor="t">
            <a:spAutoFit/>
          </a:bodyPr>
          <a:lstStyle/>
          <a:p>
            <a:pPr algn="l">
              <a:lnSpc>
                <a:spcPct val="115000"/>
              </a:lnSpc>
            </a:pPr>
            <a:r>
              <a:rPr sz="1100" b="1" i="0">
                <a:solidFill>
                  <a:srgbClr val="028090"/>
                </a:solidFill>
                <a:latin typeface="DejaVu Sans"/>
              </a:rPr>
              <a:t>A fourth option — the log in the tracker (Jira, Linear, GitHub Issues)</a:t>
            </a:r>
          </a:p>
        </p:txBody>
      </p:sp>
      <p:sp>
        <p:nvSpPr>
          <p:cNvPr id="38" name="TextBox 37"/>
          <p:cNvSpPr txBox="1"/>
          <p:nvPr/>
        </p:nvSpPr>
        <p:spPr>
          <a:xfrm>
            <a:off x="667512" y="4498848"/>
            <a:ext cx="7168895" cy="585216"/>
          </a:xfrm>
          <a:prstGeom prst="rect">
            <a:avLst/>
          </a:prstGeom>
          <a:noFill/>
        </p:spPr>
        <p:txBody>
          <a:bodyPr wrap="square" lIns="0" rIns="0" tIns="0" bIns="0" anchor="t">
            <a:spAutoFit/>
          </a:bodyPr>
          <a:lstStyle/>
          <a:p>
            <a:pPr algn="l">
              <a:lnSpc>
                <a:spcPct val="108000"/>
              </a:lnSpc>
            </a:pPr>
            <a:r>
              <a:rPr sz="950" b="1" i="0">
                <a:solidFill>
                  <a:srgbClr val="028090"/>
                </a:solidFill>
                <a:latin typeface="DejaVu Sans"/>
              </a:rPr>
              <a:t>For: </a:t>
            </a:r>
            <a:r>
              <a:rPr sz="950" b="0" i="0">
                <a:solidFill>
                  <a:srgbClr val="21295C"/>
                </a:solidFill>
                <a:latin typeface="DejaVu Sans"/>
              </a:rPr>
              <a:t>visible to non-technical participants, fits the process the team already has, keeps the repository clean.</a:t>
            </a:r>
          </a:p>
          <a:p>
            <a:pPr algn="l">
              <a:lnSpc>
                <a:spcPct val="108000"/>
              </a:lnSpc>
              <a:spcBef>
                <a:spcPts val="200"/>
              </a:spcBef>
            </a:pPr>
            <a:r>
              <a:rPr sz="950" b="1" i="0">
                <a:solidFill>
                  <a:srgbClr val="21295C"/>
                </a:solidFill>
                <a:latin typeface="DejaVu Sans"/>
              </a:rPr>
              <a:t>Against: </a:t>
            </a:r>
            <a:r>
              <a:rPr sz="950" b="0" i="0">
                <a:solidFill>
                  <a:srgbClr val="21295C"/>
                </a:solidFill>
                <a:latin typeface="DejaVu Sans"/>
              </a:rPr>
              <a:t>it sits outside the agent's file context — you need a bridge over MCP or an API; an extra external dependency and a network call instead of a local read.</a:t>
            </a:r>
          </a:p>
        </p:txBody>
      </p:sp>
      <p:sp>
        <p:nvSpPr>
          <p:cNvPr id="39" name="Rounded Rectangle 38"/>
          <p:cNvSpPr/>
          <p:nvPr/>
        </p:nvSpPr>
        <p:spPr>
          <a:xfrm>
            <a:off x="8092440" y="4096512"/>
            <a:ext cx="3611880" cy="1042415"/>
          </a:xfrm>
          <a:prstGeom prst="roundRect">
            <a:avLst>
              <a:gd name="adj" fmla="val 8000"/>
            </a:avLst>
          </a:prstGeom>
          <a:solidFill>
            <a:srgbClr val="E5EAF0"/>
          </a:solidFill>
          <a:ln w="9525">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38744" y="4187952"/>
            <a:ext cx="3319272" cy="859536"/>
          </a:xfrm>
          <a:prstGeom prst="rect">
            <a:avLst/>
          </a:prstGeom>
          <a:noFill/>
        </p:spPr>
        <p:txBody>
          <a:bodyPr wrap="square" lIns="0" rIns="0" tIns="0" bIns="0" anchor="t">
            <a:spAutoFit/>
          </a:bodyPr>
          <a:lstStyle/>
          <a:p>
            <a:pPr algn="l">
              <a:lnSpc>
                <a:spcPct val="108000"/>
              </a:lnSpc>
            </a:pPr>
            <a:r>
              <a:rPr sz="950" b="1" i="0">
                <a:solidFill>
                  <a:srgbClr val="5B6678"/>
                </a:solidFill>
                <a:latin typeface="DejaVu Sans"/>
              </a:rPr>
              <a:t>Not a task log at all: </a:t>
            </a:r>
            <a:r>
              <a:rPr sz="950" b="0" i="1">
                <a:solidFill>
                  <a:srgbClr val="5B6678"/>
                </a:solidFill>
                <a:latin typeface="DejaVu Sans"/>
              </a:rPr>
              <a:t>the built-in TodoWrite/Task* lives inside one session; commit history as the only log — workable, but formalized nowhere.</a:t>
            </a:r>
          </a:p>
        </p:txBody>
      </p:sp>
      <p:sp>
        <p:nvSpPr>
          <p:cNvPr id="41" name="Rounded Rectangle 40"/>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The criterion is compound: who works + how long the task lives + why an audit trail is needed — not whatever came to hand first.</a:t>
            </a:r>
          </a:p>
        </p:txBody>
      </p:sp>
      <p:sp>
        <p:nvSpPr>
          <p:cNvPr id="43" name="TextBox 4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Backlog.md — open-source project</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7"/>
              </a:rPr>
              <a:t>Claude Docs — best practices (Task tools)</a:t>
            </a:r>
          </a:p>
        </p:txBody>
      </p:sp>
      <p:sp>
        <p:nvSpPr>
          <p:cNvPr id="44" name="TextBox 4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29 / 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530352"/>
          </a:xfrm>
          <a:prstGeom prst="rect">
            <a:avLst/>
          </a:prstGeom>
          <a:noFill/>
        </p:spPr>
        <p:txBody>
          <a:bodyPr wrap="square" lIns="0" rIns="0" tIns="0" bIns="0" anchor="t">
            <a:spAutoFit/>
          </a:bodyPr>
          <a:lstStyle/>
          <a:p>
            <a:pPr algn="l">
              <a:lnSpc>
                <a:spcPct val="110000"/>
              </a:lnSpc>
            </a:pPr>
            <a:r>
              <a:rPr sz="1900" b="1" i="0">
                <a:solidFill>
                  <a:srgbClr val="21295C"/>
                </a:solidFill>
                <a:latin typeface="DejaVu Sans"/>
              </a:rPr>
              <a:t>Git conventions are a team agreement, not a requirement of git</a:t>
            </a:r>
          </a:p>
        </p:txBody>
      </p:sp>
      <p:sp>
        <p:nvSpPr>
          <p:cNvPr id="3" name="Rounded Rectangle 2"/>
          <p:cNvSpPr/>
          <p:nvPr/>
        </p:nvSpPr>
        <p:spPr>
          <a:xfrm>
            <a:off x="502920" y="969264"/>
            <a:ext cx="11201400" cy="713232"/>
          </a:xfrm>
          <a:prstGeom prst="roundRect">
            <a:avLst>
              <a:gd name="adj" fmla="val 22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sers-teal.png"/>
          <p:cNvPicPr>
            <a:picLocks noChangeAspect="1"/>
          </p:cNvPicPr>
          <p:nvPr/>
        </p:nvPicPr>
        <p:blipFill>
          <a:blip r:embed="rId2"/>
          <a:stretch>
            <a:fillRect/>
          </a:stretch>
        </p:blipFill>
        <p:spPr>
          <a:xfrm>
            <a:off x="685800" y="1133856"/>
            <a:ext cx="384048" cy="384048"/>
          </a:xfrm>
          <a:prstGeom prst="rect">
            <a:avLst/>
          </a:prstGeom>
        </p:spPr>
      </p:pic>
      <p:sp>
        <p:nvSpPr>
          <p:cNvPr id="5" name="TextBox 4"/>
          <p:cNvSpPr txBox="1"/>
          <p:nvPr/>
        </p:nvSpPr>
        <p:spPr>
          <a:xfrm>
            <a:off x="1197864" y="1060704"/>
            <a:ext cx="10323576" cy="566928"/>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Git itself is indifferent to what a commit message says and how a branch is named — it checks none of it. A convention is a voluntary team agreement, written down in AGENTS.md: shape the history the same way every time, so that both a human and a program can parse it. An agent follows only the agreement it can see written down.</a:t>
            </a:r>
          </a:p>
        </p:txBody>
      </p:sp>
      <p:sp>
        <p:nvSpPr>
          <p:cNvPr id="6" name="Rounded Rectangle 5"/>
          <p:cNvSpPr/>
          <p:nvPr/>
        </p:nvSpPr>
        <p:spPr>
          <a:xfrm>
            <a:off x="502920" y="1773936"/>
            <a:ext cx="3611879" cy="3017520"/>
          </a:xfrm>
          <a:prstGeom prst="roundRect">
            <a:avLst>
              <a:gd name="adj" fmla="val 101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901952"/>
            <a:ext cx="1417320" cy="31089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Commit</a:t>
            </a:r>
          </a:p>
        </p:txBody>
      </p:sp>
      <p:pic>
        <p:nvPicPr>
          <p:cNvPr id="8" name="Picture 7" descr="git-compare-mid.png"/>
          <p:cNvPicPr>
            <a:picLocks noChangeAspect="1"/>
          </p:cNvPicPr>
          <p:nvPr/>
        </p:nvPicPr>
        <p:blipFill>
          <a:blip r:embed="rId3"/>
          <a:stretch>
            <a:fillRect/>
          </a:stretch>
        </p:blipFill>
        <p:spPr>
          <a:xfrm>
            <a:off x="3547872" y="1883664"/>
            <a:ext cx="365760" cy="365760"/>
          </a:xfrm>
          <a:prstGeom prst="rect">
            <a:avLst/>
          </a:prstGeom>
        </p:spPr>
      </p:pic>
      <p:sp>
        <p:nvSpPr>
          <p:cNvPr id="9" name="TextBox 8"/>
          <p:cNvSpPr txBox="1"/>
          <p:nvPr/>
        </p:nvSpPr>
        <p:spPr>
          <a:xfrm>
            <a:off x="685800" y="2304288"/>
            <a:ext cx="3246120" cy="182880"/>
          </a:xfrm>
          <a:prstGeom prst="rect">
            <a:avLst/>
          </a:prstGeom>
          <a:noFill/>
        </p:spPr>
        <p:txBody>
          <a:bodyPr wrap="square" lIns="0" rIns="0" tIns="0" bIns="0" anchor="t">
            <a:spAutoFit/>
          </a:bodyPr>
          <a:lstStyle/>
          <a:p>
            <a:pPr algn="l">
              <a:lnSpc>
                <a:spcPct val="115000"/>
              </a:lnSpc>
            </a:pPr>
            <a:r>
              <a:rPr sz="900" b="1" i="0">
                <a:solidFill>
                  <a:srgbClr val="1C7293"/>
                </a:solidFill>
                <a:latin typeface="DejaVu Sans"/>
              </a:rPr>
              <a:t>WHAT IT IS</a:t>
            </a:r>
          </a:p>
        </p:txBody>
      </p:sp>
      <p:sp>
        <p:nvSpPr>
          <p:cNvPr id="10" name="TextBox 9"/>
          <p:cNvSpPr txBox="1"/>
          <p:nvPr/>
        </p:nvSpPr>
        <p:spPr>
          <a:xfrm>
            <a:off x="685800" y="2505456"/>
            <a:ext cx="3246120" cy="475488"/>
          </a:xfrm>
          <a:prstGeom prst="rect">
            <a:avLst/>
          </a:prstGeom>
          <a:noFill/>
        </p:spPr>
        <p:txBody>
          <a:bodyPr wrap="square" lIns="0" rIns="0" tIns="0" bIns="0" anchor="t">
            <a:spAutoFit/>
          </a:bodyPr>
          <a:lstStyle/>
          <a:p>
            <a:pPr algn="l">
              <a:lnSpc>
                <a:spcPct val="114000"/>
              </a:lnSpc>
            </a:pPr>
            <a:r>
              <a:rPr sz="950" b="0" i="0">
                <a:solidFill>
                  <a:srgbClr val="21295C"/>
                </a:solidFill>
                <a:latin typeface="DejaVu Sans"/>
              </a:rPr>
              <a:t>An agreed-in-advance shape for the first line of a commit: first a marker for "what kind of change is this", then the description.</a:t>
            </a:r>
          </a:p>
        </p:txBody>
      </p:sp>
      <p:sp>
        <p:nvSpPr>
          <p:cNvPr id="11" name="Rounded Rectangle 10"/>
          <p:cNvSpPr/>
          <p:nvPr/>
        </p:nvSpPr>
        <p:spPr>
          <a:xfrm>
            <a:off x="685800" y="3017520"/>
            <a:ext cx="3246120" cy="384048"/>
          </a:xfrm>
          <a:prstGeom prst="roundRect">
            <a:avLst>
              <a:gd name="adj" fmla="val 10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072384"/>
            <a:ext cx="3063239" cy="292608"/>
          </a:xfrm>
          <a:prstGeom prst="rect">
            <a:avLst/>
          </a:prstGeom>
          <a:noFill/>
        </p:spPr>
        <p:txBody>
          <a:bodyPr wrap="square" lIns="0" rIns="0" tIns="0" bIns="0" anchor="t">
            <a:spAutoFit/>
          </a:bodyPr>
          <a:lstStyle/>
          <a:p>
            <a:pPr algn="l">
              <a:lnSpc>
                <a:spcPct val="112000"/>
              </a:lnSpc>
            </a:pPr>
            <a:r>
              <a:rPr sz="800" b="0" i="0">
                <a:solidFill>
                  <a:srgbClr val="5B6678"/>
                </a:solidFill>
                <a:latin typeface="DejaVu Sans Mono"/>
              </a:rPr>
              <a:t>feat(auth): sign-in with a one-time code</a:t>
            </a:r>
          </a:p>
          <a:p>
            <a:pPr algn="l">
              <a:lnSpc>
                <a:spcPct val="112000"/>
              </a:lnSpc>
            </a:pPr>
            <a:r>
              <a:rPr sz="800" b="0" i="0">
                <a:solidFill>
                  <a:srgbClr val="5B6678"/>
                </a:solidFill>
                <a:latin typeface="DejaVu Sans Mono"/>
              </a:rPr>
              <a:t>fix(api): do not drop the header on retry</a:t>
            </a:r>
          </a:p>
        </p:txBody>
      </p:sp>
      <p:sp>
        <p:nvSpPr>
          <p:cNvPr id="13" name="TextBox 12"/>
          <p:cNvSpPr txBox="1"/>
          <p:nvPr/>
        </p:nvSpPr>
        <p:spPr>
          <a:xfrm>
            <a:off x="685800" y="3474720"/>
            <a:ext cx="3246120" cy="182880"/>
          </a:xfrm>
          <a:prstGeom prst="rect">
            <a:avLst/>
          </a:prstGeom>
          <a:noFill/>
        </p:spPr>
        <p:txBody>
          <a:bodyPr wrap="square" lIns="0" rIns="0" tIns="0" bIns="0" anchor="t">
            <a:spAutoFit/>
          </a:bodyPr>
          <a:lstStyle/>
          <a:p>
            <a:pPr algn="l">
              <a:lnSpc>
                <a:spcPct val="115000"/>
              </a:lnSpc>
            </a:pPr>
            <a:r>
              <a:rPr sz="900" b="1" i="0">
                <a:solidFill>
                  <a:srgbClr val="1C7293"/>
                </a:solidFill>
                <a:latin typeface="DejaVu Sans"/>
              </a:rPr>
              <a:t>WHY IT IS NEEDED</a:t>
            </a:r>
          </a:p>
        </p:txBody>
      </p:sp>
      <p:sp>
        <p:nvSpPr>
          <p:cNvPr id="14" name="TextBox 13"/>
          <p:cNvSpPr txBox="1"/>
          <p:nvPr/>
        </p:nvSpPr>
        <p:spPr>
          <a:xfrm>
            <a:off x="685800" y="3675887"/>
            <a:ext cx="3246120" cy="1005840"/>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That marker is read by a program, not a human: from it, the release changelog and the new version number assemble themselves (fix → 2.4.1, feat → 2.5.0). An agent commits an order of magnitude more often than a human — there is no longer anyone to re-read every commit by eye.</a:t>
            </a:r>
          </a:p>
        </p:txBody>
      </p:sp>
      <p:sp>
        <p:nvSpPr>
          <p:cNvPr id="15" name="Rounded Rectangle 14"/>
          <p:cNvSpPr/>
          <p:nvPr/>
        </p:nvSpPr>
        <p:spPr>
          <a:xfrm>
            <a:off x="4297679" y="1773936"/>
            <a:ext cx="3611879" cy="3017520"/>
          </a:xfrm>
          <a:prstGeom prst="roundRect">
            <a:avLst>
              <a:gd name="adj" fmla="val 101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0559" y="1901952"/>
            <a:ext cx="1417320" cy="31089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Branch</a:t>
            </a:r>
          </a:p>
        </p:txBody>
      </p:sp>
      <p:pic>
        <p:nvPicPr>
          <p:cNvPr id="17" name="Picture 16" descr="git-branch-teal.png"/>
          <p:cNvPicPr>
            <a:picLocks noChangeAspect="1"/>
          </p:cNvPicPr>
          <p:nvPr/>
        </p:nvPicPr>
        <p:blipFill>
          <a:blip r:embed="rId4"/>
          <a:stretch>
            <a:fillRect/>
          </a:stretch>
        </p:blipFill>
        <p:spPr>
          <a:xfrm>
            <a:off x="7342631" y="1883664"/>
            <a:ext cx="365760" cy="365760"/>
          </a:xfrm>
          <a:prstGeom prst="rect">
            <a:avLst/>
          </a:prstGeom>
        </p:spPr>
      </p:pic>
      <p:sp>
        <p:nvSpPr>
          <p:cNvPr id="18" name="TextBox 17"/>
          <p:cNvSpPr txBox="1"/>
          <p:nvPr/>
        </p:nvSpPr>
        <p:spPr>
          <a:xfrm>
            <a:off x="4480559" y="2304288"/>
            <a:ext cx="3246120" cy="182880"/>
          </a:xfrm>
          <a:prstGeom prst="rect">
            <a:avLst/>
          </a:prstGeom>
          <a:noFill/>
        </p:spPr>
        <p:txBody>
          <a:bodyPr wrap="square" lIns="0" rIns="0" tIns="0" bIns="0" anchor="t">
            <a:spAutoFit/>
          </a:bodyPr>
          <a:lstStyle/>
          <a:p>
            <a:pPr algn="l">
              <a:lnSpc>
                <a:spcPct val="115000"/>
              </a:lnSpc>
            </a:pPr>
            <a:r>
              <a:rPr sz="900" b="1" i="0">
                <a:solidFill>
                  <a:srgbClr val="1C7293"/>
                </a:solidFill>
                <a:latin typeface="DejaVu Sans"/>
              </a:rPr>
              <a:t>WHAT IT IS</a:t>
            </a:r>
          </a:p>
        </p:txBody>
      </p:sp>
      <p:sp>
        <p:nvSpPr>
          <p:cNvPr id="19" name="TextBox 18"/>
          <p:cNvSpPr txBox="1"/>
          <p:nvPr/>
        </p:nvSpPr>
        <p:spPr>
          <a:xfrm>
            <a:off x="4480559" y="2505456"/>
            <a:ext cx="3246120" cy="475488"/>
          </a:xfrm>
          <a:prstGeom prst="rect">
            <a:avLst/>
          </a:prstGeom>
          <a:noFill/>
        </p:spPr>
        <p:txBody>
          <a:bodyPr wrap="square" lIns="0" rIns="0" tIns="0" bIns="0" anchor="t">
            <a:spAutoFit/>
          </a:bodyPr>
          <a:lstStyle/>
          <a:p>
            <a:pPr algn="l">
              <a:lnSpc>
                <a:spcPct val="114000"/>
              </a:lnSpc>
            </a:pPr>
            <a:r>
              <a:rPr sz="950" b="0" i="0">
                <a:solidFill>
                  <a:srgbClr val="21295C"/>
                </a:solidFill>
                <a:latin typeface="DejaVu Sans"/>
              </a:rPr>
              <a:t>Task type, a slash, a short lowercase description. For an agent's branches — dedicated prefixes.</a:t>
            </a:r>
          </a:p>
        </p:txBody>
      </p:sp>
      <p:sp>
        <p:nvSpPr>
          <p:cNvPr id="20" name="Rounded Rectangle 19"/>
          <p:cNvSpPr/>
          <p:nvPr/>
        </p:nvSpPr>
        <p:spPr>
          <a:xfrm>
            <a:off x="4480559" y="3017520"/>
            <a:ext cx="3246120" cy="384048"/>
          </a:xfrm>
          <a:prstGeom prst="roundRect">
            <a:avLst>
              <a:gd name="adj" fmla="val 10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1999" y="3072384"/>
            <a:ext cx="3063239" cy="292608"/>
          </a:xfrm>
          <a:prstGeom prst="rect">
            <a:avLst/>
          </a:prstGeom>
          <a:noFill/>
        </p:spPr>
        <p:txBody>
          <a:bodyPr wrap="square" lIns="0" rIns="0" tIns="0" bIns="0" anchor="t">
            <a:spAutoFit/>
          </a:bodyPr>
          <a:lstStyle/>
          <a:p>
            <a:pPr algn="l">
              <a:lnSpc>
                <a:spcPct val="112000"/>
              </a:lnSpc>
            </a:pPr>
            <a:r>
              <a:rPr sz="800" b="0" i="0">
                <a:solidFill>
                  <a:srgbClr val="5B6678"/>
                </a:solidFill>
                <a:latin typeface="DejaVu Sans Mono"/>
              </a:rPr>
              <a:t>claude/security-patch</a:t>
            </a:r>
          </a:p>
          <a:p>
            <a:pPr algn="l">
              <a:lnSpc>
                <a:spcPct val="112000"/>
              </a:lnSpc>
            </a:pPr>
            <a:r>
              <a:rPr sz="800" b="0" i="0">
                <a:solidFill>
                  <a:srgbClr val="5B6678"/>
                </a:solidFill>
                <a:latin typeface="DejaVu Sans Mono"/>
              </a:rPr>
              <a:t>ai/refactor-auth-flow</a:t>
            </a:r>
          </a:p>
        </p:txBody>
      </p:sp>
      <p:sp>
        <p:nvSpPr>
          <p:cNvPr id="22" name="TextBox 21"/>
          <p:cNvSpPr txBox="1"/>
          <p:nvPr/>
        </p:nvSpPr>
        <p:spPr>
          <a:xfrm>
            <a:off x="4480559" y="3474720"/>
            <a:ext cx="3246120" cy="182880"/>
          </a:xfrm>
          <a:prstGeom prst="rect">
            <a:avLst/>
          </a:prstGeom>
          <a:noFill/>
        </p:spPr>
        <p:txBody>
          <a:bodyPr wrap="square" lIns="0" rIns="0" tIns="0" bIns="0" anchor="t">
            <a:spAutoFit/>
          </a:bodyPr>
          <a:lstStyle/>
          <a:p>
            <a:pPr algn="l">
              <a:lnSpc>
                <a:spcPct val="115000"/>
              </a:lnSpc>
            </a:pPr>
            <a:r>
              <a:rPr sz="900" b="1" i="0">
                <a:solidFill>
                  <a:srgbClr val="1C7293"/>
                </a:solidFill>
                <a:latin typeface="DejaVu Sans"/>
              </a:rPr>
              <a:t>WHY IT IS NEEDED</a:t>
            </a:r>
          </a:p>
        </p:txBody>
      </p:sp>
      <p:sp>
        <p:nvSpPr>
          <p:cNvPr id="23" name="TextBox 22"/>
          <p:cNvSpPr txBox="1"/>
          <p:nvPr/>
        </p:nvSpPr>
        <p:spPr>
          <a:xfrm>
            <a:off x="4480559" y="3675887"/>
            <a:ext cx="3246120" cy="1005840"/>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branch name is the only thing a reviewer sees before opening the changes. The prefix says immediately that an agent drove this branch, and such branches can carry their own rule. Without an agreement the branch list reads "test2" and "fix-final".</a:t>
            </a:r>
          </a:p>
        </p:txBody>
      </p:sp>
      <p:sp>
        <p:nvSpPr>
          <p:cNvPr id="24" name="Rounded Rectangle 23"/>
          <p:cNvSpPr/>
          <p:nvPr/>
        </p:nvSpPr>
        <p:spPr>
          <a:xfrm>
            <a:off x="8092440" y="1773936"/>
            <a:ext cx="3611879" cy="3017520"/>
          </a:xfrm>
          <a:prstGeom prst="roundRect">
            <a:avLst>
              <a:gd name="adj" fmla="val 1010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75319" y="1901952"/>
            <a:ext cx="1417320" cy="31089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Description</a:t>
            </a:r>
          </a:p>
        </p:txBody>
      </p:sp>
      <p:pic>
        <p:nvPicPr>
          <p:cNvPr id="26" name="Picture 25" descr="git-pull-request-mid.png"/>
          <p:cNvPicPr>
            <a:picLocks noChangeAspect="1"/>
          </p:cNvPicPr>
          <p:nvPr/>
        </p:nvPicPr>
        <p:blipFill>
          <a:blip r:embed="rId5"/>
          <a:stretch>
            <a:fillRect/>
          </a:stretch>
        </p:blipFill>
        <p:spPr>
          <a:xfrm>
            <a:off x="11137392" y="1883664"/>
            <a:ext cx="365760" cy="365760"/>
          </a:xfrm>
          <a:prstGeom prst="rect">
            <a:avLst/>
          </a:prstGeom>
        </p:spPr>
      </p:pic>
      <p:sp>
        <p:nvSpPr>
          <p:cNvPr id="27" name="TextBox 26"/>
          <p:cNvSpPr txBox="1"/>
          <p:nvPr/>
        </p:nvSpPr>
        <p:spPr>
          <a:xfrm>
            <a:off x="8275319" y="2304288"/>
            <a:ext cx="3246120" cy="182880"/>
          </a:xfrm>
          <a:prstGeom prst="rect">
            <a:avLst/>
          </a:prstGeom>
          <a:noFill/>
        </p:spPr>
        <p:txBody>
          <a:bodyPr wrap="square" lIns="0" rIns="0" tIns="0" bIns="0" anchor="t">
            <a:spAutoFit/>
          </a:bodyPr>
          <a:lstStyle/>
          <a:p>
            <a:pPr algn="l">
              <a:lnSpc>
                <a:spcPct val="115000"/>
              </a:lnSpc>
            </a:pPr>
            <a:r>
              <a:rPr sz="900" b="1" i="0">
                <a:solidFill>
                  <a:srgbClr val="1C7293"/>
                </a:solidFill>
                <a:latin typeface="DejaVu Sans"/>
              </a:rPr>
              <a:t>WHAT IT IS</a:t>
            </a:r>
          </a:p>
        </p:txBody>
      </p:sp>
      <p:sp>
        <p:nvSpPr>
          <p:cNvPr id="28" name="TextBox 27"/>
          <p:cNvSpPr txBox="1"/>
          <p:nvPr/>
        </p:nvSpPr>
        <p:spPr>
          <a:xfrm>
            <a:off x="8275319" y="2505456"/>
            <a:ext cx="3246120" cy="475488"/>
          </a:xfrm>
          <a:prstGeom prst="rect">
            <a:avLst/>
          </a:prstGeom>
          <a:noFill/>
        </p:spPr>
        <p:txBody>
          <a:bodyPr wrap="square" lIns="0" rIns="0" tIns="0" bIns="0" anchor="t">
            <a:spAutoFit/>
          </a:bodyPr>
          <a:lstStyle/>
          <a:p>
            <a:pPr algn="l">
              <a:lnSpc>
                <a:spcPct val="114000"/>
              </a:lnSpc>
            </a:pPr>
            <a:r>
              <a:rPr sz="950" b="0" i="0">
                <a:solidFill>
                  <a:srgbClr val="21295C"/>
                </a:solidFill>
                <a:latin typeface="DejaVu Sans"/>
              </a:rPr>
              <a:t>A pull request — the window where changes are shown to a human before they reach shared code.</a:t>
            </a:r>
          </a:p>
        </p:txBody>
      </p:sp>
      <p:sp>
        <p:nvSpPr>
          <p:cNvPr id="29" name="Rounded Rectangle 28"/>
          <p:cNvSpPr/>
          <p:nvPr/>
        </p:nvSpPr>
        <p:spPr>
          <a:xfrm>
            <a:off x="8275319" y="3017520"/>
            <a:ext cx="3246120" cy="384048"/>
          </a:xfrm>
          <a:prstGeom prst="roundRect">
            <a:avLst>
              <a:gd name="adj" fmla="val 10000"/>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66760" y="3072384"/>
            <a:ext cx="3063239" cy="292608"/>
          </a:xfrm>
          <a:prstGeom prst="rect">
            <a:avLst/>
          </a:prstGeom>
          <a:noFill/>
        </p:spPr>
        <p:txBody>
          <a:bodyPr wrap="square" lIns="0" rIns="0" tIns="0" bIns="0" anchor="t">
            <a:spAutoFit/>
          </a:bodyPr>
          <a:lstStyle/>
          <a:p>
            <a:pPr algn="l">
              <a:lnSpc>
                <a:spcPct val="112000"/>
              </a:lnSpc>
            </a:pPr>
            <a:r>
              <a:rPr sz="800" b="0" i="0">
                <a:solidFill>
                  <a:srgbClr val="5B6678"/>
                </a:solidFill>
                <a:latin typeface="DejaVu Sans Mono"/>
              </a:rPr>
              <a:t>Why → What changed → What was not touched →</a:t>
            </a:r>
          </a:p>
          <a:p>
            <a:pPr algn="l">
              <a:lnSpc>
                <a:spcPct val="112000"/>
              </a:lnSpc>
            </a:pPr>
            <a:r>
              <a:rPr sz="800" b="0" i="0">
                <a:solidFill>
                  <a:srgbClr val="5B6678"/>
                </a:solidFill>
                <a:latin typeface="DejaVu Sans Mono"/>
              </a:rPr>
              <a:t>How it was checked → Risks → Deferred</a:t>
            </a:r>
          </a:p>
        </p:txBody>
      </p:sp>
      <p:sp>
        <p:nvSpPr>
          <p:cNvPr id="31" name="TextBox 30"/>
          <p:cNvSpPr txBox="1"/>
          <p:nvPr/>
        </p:nvSpPr>
        <p:spPr>
          <a:xfrm>
            <a:off x="8275319" y="3474720"/>
            <a:ext cx="3246120" cy="182880"/>
          </a:xfrm>
          <a:prstGeom prst="rect">
            <a:avLst/>
          </a:prstGeom>
          <a:noFill/>
        </p:spPr>
        <p:txBody>
          <a:bodyPr wrap="square" lIns="0" rIns="0" tIns="0" bIns="0" anchor="t">
            <a:spAutoFit/>
          </a:bodyPr>
          <a:lstStyle/>
          <a:p>
            <a:pPr algn="l">
              <a:lnSpc>
                <a:spcPct val="115000"/>
              </a:lnSpc>
            </a:pPr>
            <a:r>
              <a:rPr sz="900" b="1" i="0">
                <a:solidFill>
                  <a:srgbClr val="1C7293"/>
                </a:solidFill>
                <a:latin typeface="DejaVu Sans"/>
              </a:rPr>
              <a:t>WHY IT IS NEEDED</a:t>
            </a:r>
          </a:p>
        </p:txBody>
      </p:sp>
      <p:sp>
        <p:nvSpPr>
          <p:cNvPr id="32" name="TextBox 31"/>
          <p:cNvSpPr txBox="1"/>
          <p:nvPr/>
        </p:nvSpPr>
        <p:spPr>
          <a:xfrm>
            <a:off x="8275319" y="3675887"/>
            <a:ext cx="3246120" cy="1005840"/>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The reviewer spends time on checking, not on reconstructing the intent. The biggest saving is the "what was not touched" line: no hunting for side effects where there were none. Without a template every request is shaped differently. The agent fills the template in as it works.</a:t>
            </a:r>
          </a:p>
        </p:txBody>
      </p:sp>
      <p:sp>
        <p:nvSpPr>
          <p:cNvPr id="33" name="TextBox 32"/>
          <p:cNvSpPr txBox="1"/>
          <p:nvPr/>
        </p:nvSpPr>
        <p:spPr>
          <a:xfrm>
            <a:off x="502920" y="4882896"/>
            <a:ext cx="11201400" cy="274320"/>
          </a:xfrm>
          <a:prstGeom prst="rect">
            <a:avLst/>
          </a:prstGeom>
          <a:noFill/>
        </p:spPr>
        <p:txBody>
          <a:bodyPr wrap="square" lIns="0" rIns="0" tIns="0" bIns="0" anchor="t">
            <a:spAutoFit/>
          </a:bodyPr>
          <a:lstStyle/>
          <a:p>
            <a:pPr algn="ctr">
              <a:lnSpc>
                <a:spcPct val="108000"/>
              </a:lnSpc>
            </a:pPr>
            <a:r>
              <a:rPr sz="1050" b="0" i="1">
                <a:solidFill>
                  <a:srgbClr val="5B6678"/>
                </a:solidFill>
                <a:latin typeface="DejaVu Sans"/>
              </a:rPr>
              <a:t>A rule common to all three: an agent never commits straight into the shared branch — every task gets its own. The same thing this course asks of people.</a:t>
            </a:r>
          </a:p>
        </p:txBody>
      </p:sp>
      <p:sp>
        <p:nvSpPr>
          <p:cNvPr id="34" name="Rounded Rectangle 33"/>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300" b="1" i="0">
                <a:solidFill>
                  <a:srgbClr val="21295C"/>
                </a:solidFill>
                <a:latin typeface="DejaVu Sans"/>
              </a:rPr>
              <a:t>An agreement written down nowhere does not work: an agent follows only the rule it can see in AGENTS.md.</a:t>
            </a:r>
          </a:p>
        </p:txBody>
      </p:sp>
      <p:sp>
        <p:nvSpPr>
          <p:cNvPr id="36" name="TextBox 35"/>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6"/>
              </a:rPr>
              <a:t>Conventional Commits v1.0.0</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7"/>
              </a:rPr>
              <a:t>Conventional Branch v1.1.0</a:t>
            </a:r>
          </a:p>
        </p:txBody>
      </p:sp>
      <p:sp>
        <p:nvSpPr>
          <p:cNvPr id="37" name="TextBox 36"/>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30 / 58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1850" b="1" i="0">
                <a:solidFill>
                  <a:srgbClr val="21295C"/>
                </a:solidFill>
                <a:latin typeface="DejaVu Sans"/>
              </a:rPr>
              <a:t>Secrets are a separate contract: .gitignore does not mean "the agent will not read it either"</a:t>
            </a:r>
          </a:p>
        </p:txBody>
      </p:sp>
      <p:sp>
        <p:nvSpPr>
          <p:cNvPr id="3" name="Rounded Rectangle 2"/>
          <p:cNvSpPr/>
          <p:nvPr/>
        </p:nvSpPr>
        <p:spPr>
          <a:xfrm>
            <a:off x="502920" y="1316736"/>
            <a:ext cx="5989320" cy="1810512"/>
          </a:xfrm>
          <a:prstGeom prst="roundRect">
            <a:avLst>
              <a:gd name="adj" fmla="val 16835"/>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ey-mid.png"/>
          <p:cNvPicPr>
            <a:picLocks noChangeAspect="1"/>
          </p:cNvPicPr>
          <p:nvPr/>
        </p:nvPicPr>
        <p:blipFill>
          <a:blip r:embed="rId2"/>
          <a:stretch>
            <a:fillRect/>
          </a:stretch>
        </p:blipFill>
        <p:spPr>
          <a:xfrm>
            <a:off x="704088" y="1444752"/>
            <a:ext cx="420624" cy="420624"/>
          </a:xfrm>
          <a:prstGeom prst="rect">
            <a:avLst/>
          </a:prstGeom>
        </p:spPr>
      </p:pic>
      <p:sp>
        <p:nvSpPr>
          <p:cNvPr id="5" name="TextBox 4"/>
          <p:cNvSpPr txBox="1"/>
          <p:nvPr/>
        </p:nvSpPr>
        <p:spPr>
          <a:xfrm>
            <a:off x="1252728" y="1481328"/>
            <a:ext cx="5020056" cy="329184"/>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The Register, 2026-01-28 </a:t>
            </a:r>
            <a:r>
              <a:rPr sz="650" baseline="30000" b="0" i="1">
                <a:latin typeface="DejaVu Sans"/>
                <a:cs typeface="DejaVu Sans"/>
                <a:ea typeface="DejaVu Sans"/>
                <a:solidFill>
                  <a:srgbClr val="1C7293"/>
                </a:solidFill>
              </a:rPr>
              <a:t>[1]</a:t>
            </a:r>
          </a:p>
        </p:txBody>
      </p:sp>
      <p:sp>
        <p:nvSpPr>
          <p:cNvPr id="6" name="TextBox 5"/>
          <p:cNvSpPr txBox="1"/>
          <p:nvPr/>
        </p:nvSpPr>
        <p:spPr>
          <a:xfrm>
            <a:off x="722376" y="1883664"/>
            <a:ext cx="5550408" cy="731520"/>
          </a:xfrm>
          <a:prstGeom prst="rect">
            <a:avLst/>
          </a:prstGeom>
          <a:noFill/>
        </p:spPr>
        <p:txBody>
          <a:bodyPr wrap="square" lIns="0" rIns="0" tIns="0" bIns="0" anchor="t">
            <a:spAutoFit/>
          </a:bodyPr>
          <a:lstStyle/>
          <a:p>
            <a:pPr algn="l">
              <a:lnSpc>
                <a:spcPct val="114000"/>
              </a:lnSpc>
            </a:pPr>
            <a:r>
              <a:rPr sz="1050" b="0" i="0">
                <a:solidFill>
                  <a:srgbClr val="21295C"/>
                </a:solidFill>
                <a:latin typeface="DejaVu Sans"/>
              </a:rPr>
              <a:t>Claude Code (v2.1.12) read .env despite both .gitignore and .claudeignore — it warns about credentials and prints the contents anyway. At least 4 open issues.</a:t>
            </a:r>
          </a:p>
        </p:txBody>
      </p:sp>
      <p:sp>
        <p:nvSpPr>
          <p:cNvPr id="7" name="Rounded Rectangle 6"/>
          <p:cNvSpPr/>
          <p:nvPr/>
        </p:nvSpPr>
        <p:spPr>
          <a:xfrm>
            <a:off x="722376" y="2633472"/>
            <a:ext cx="5550408" cy="438912"/>
          </a:xfrm>
          <a:prstGeom prst="roundRect">
            <a:avLst>
              <a:gd name="adj" fmla="val 10000"/>
            </a:avLst>
          </a:prstGeom>
          <a:solidFill>
            <a:srgbClr val="E4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679191"/>
            <a:ext cx="5257800" cy="347472"/>
          </a:xfrm>
          <a:prstGeom prst="rect">
            <a:avLst/>
          </a:prstGeom>
          <a:noFill/>
        </p:spPr>
        <p:txBody>
          <a:bodyPr wrap="square" lIns="0" rIns="0" tIns="0" bIns="0" anchor="ctr">
            <a:spAutoFit/>
          </a:bodyPr>
          <a:lstStyle/>
          <a:p>
            <a:pPr algn="l">
              <a:lnSpc>
                <a:spcPct val="115000"/>
              </a:lnSpc>
            </a:pPr>
            <a:r>
              <a:rPr sz="950" b="0" i="1">
                <a:solidFill>
                  <a:srgbClr val="21295C"/>
                </a:solidFill>
                <a:latin typeface="DejaVu Sans Mono"/>
              </a:rPr>
              <a:t>"Ignored by git" and "ignored by Claude Code" are two different things.</a:t>
            </a:r>
          </a:p>
        </p:txBody>
      </p:sp>
      <p:sp>
        <p:nvSpPr>
          <p:cNvPr id="9" name="Rounded Rectangle 8"/>
          <p:cNvSpPr/>
          <p:nvPr/>
        </p:nvSpPr>
        <p:spPr>
          <a:xfrm>
            <a:off x="502920" y="3273552"/>
            <a:ext cx="5989320" cy="1737360"/>
          </a:xfrm>
          <a:prstGeom prst="roundRect">
            <a:avLst>
              <a:gd name="adj" fmla="val 17543"/>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hield-alert-mid.png"/>
          <p:cNvPicPr>
            <a:picLocks noChangeAspect="1"/>
          </p:cNvPicPr>
          <p:nvPr/>
        </p:nvPicPr>
        <p:blipFill>
          <a:blip r:embed="rId3"/>
          <a:stretch>
            <a:fillRect/>
          </a:stretch>
        </p:blipFill>
        <p:spPr>
          <a:xfrm>
            <a:off x="704088" y="3401568"/>
            <a:ext cx="402336" cy="402336"/>
          </a:xfrm>
          <a:prstGeom prst="rect">
            <a:avLst/>
          </a:prstGeom>
        </p:spPr>
      </p:pic>
      <p:sp>
        <p:nvSpPr>
          <p:cNvPr id="11" name="TextBox 10"/>
          <p:cNvSpPr txBox="1"/>
          <p:nvPr/>
        </p:nvSpPr>
        <p:spPr>
          <a:xfrm>
            <a:off x="1234440" y="3419856"/>
            <a:ext cx="5038344" cy="329184"/>
          </a:xfrm>
          <a:prstGeom prst="rect">
            <a:avLst/>
          </a:prstGeom>
          <a:noFill/>
        </p:spPr>
        <p:txBody>
          <a:bodyPr wrap="square" lIns="0" rIns="0" tIns="0" bIns="0" anchor="t">
            <a:spAutoFit/>
          </a:bodyPr>
          <a:lstStyle/>
          <a:p>
            <a:pPr algn="l">
              <a:lnSpc>
                <a:spcPct val="115000"/>
              </a:lnSpc>
            </a:pPr>
            <a:r>
              <a:rPr sz="1200" b="1" i="0">
                <a:solidFill>
                  <a:srgbClr val="21295C"/>
                </a:solidFill>
                <a:latin typeface="DejaVu Sans"/>
              </a:rPr>
              <a:t>permissions.deny does not block Bash</a:t>
            </a:r>
          </a:p>
        </p:txBody>
      </p:sp>
      <p:sp>
        <p:nvSpPr>
          <p:cNvPr id="12" name="TextBox 11"/>
          <p:cNvSpPr txBox="1"/>
          <p:nvPr/>
        </p:nvSpPr>
        <p:spPr>
          <a:xfrm>
            <a:off x="722376" y="3803904"/>
            <a:ext cx="5550408" cy="1097280"/>
          </a:xfrm>
          <a:prstGeom prst="rect">
            <a:avLst/>
          </a:prstGeom>
          <a:noFill/>
        </p:spPr>
        <p:txBody>
          <a:bodyPr wrap="square" lIns="0" rIns="0" tIns="0" bIns="0" anchor="t">
            <a:spAutoFit/>
          </a:bodyPr>
          <a:lstStyle/>
          <a:p>
            <a:pPr algn="l">
              <a:lnSpc>
                <a:spcPct val="116000"/>
              </a:lnSpc>
            </a:pPr>
            <a:r>
              <a:rPr sz="1050" b="0" i="0">
                <a:solidFill>
                  <a:srgbClr val="21295C"/>
                </a:solidFill>
                <a:latin typeface="DejaVu Sans"/>
              </a:rPr>
              <a:t>deny(Read(./.env)) blocks the built-in file tool — but `cat .env` through Bash walks around the rule. Two independent contracts: closing this needs OS-level sandboxing.</a:t>
            </a:r>
          </a:p>
        </p:txBody>
      </p:sp>
      <p:sp>
        <p:nvSpPr>
          <p:cNvPr id="13" name="Rounded Rectangle 12"/>
          <p:cNvSpPr/>
          <p:nvPr/>
        </p:nvSpPr>
        <p:spPr>
          <a:xfrm>
            <a:off x="6675120" y="1316736"/>
            <a:ext cx="5029200" cy="3749039"/>
          </a:xfrm>
          <a:prstGeom prst="roundRect">
            <a:avLst>
              <a:gd name="adj" fmla="val 8130"/>
            </a:avLst>
          </a:prstGeom>
          <a:solidFill>
            <a:srgbClr val="F4F7FA"/>
          </a:solidFill>
          <a:ln w="2032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ock-teal.png"/>
          <p:cNvPicPr>
            <a:picLocks noChangeAspect="1"/>
          </p:cNvPicPr>
          <p:nvPr/>
        </p:nvPicPr>
        <p:blipFill>
          <a:blip r:embed="rId4"/>
          <a:stretch>
            <a:fillRect/>
          </a:stretch>
        </p:blipFill>
        <p:spPr>
          <a:xfrm>
            <a:off x="6876288" y="1463039"/>
            <a:ext cx="420624" cy="420624"/>
          </a:xfrm>
          <a:prstGeom prst="rect">
            <a:avLst/>
          </a:prstGeom>
        </p:spPr>
      </p:pic>
      <p:sp>
        <p:nvSpPr>
          <p:cNvPr id="15" name="TextBox 14"/>
          <p:cNvSpPr txBox="1"/>
          <p:nvPr/>
        </p:nvSpPr>
        <p:spPr>
          <a:xfrm>
            <a:off x="7424927" y="1499616"/>
            <a:ext cx="4078224" cy="329184"/>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A three-layer defense</a:t>
            </a:r>
          </a:p>
        </p:txBody>
      </p:sp>
      <p:sp>
        <p:nvSpPr>
          <p:cNvPr id="16" name="Oval 15"/>
          <p:cNvSpPr/>
          <p:nvPr/>
        </p:nvSpPr>
        <p:spPr>
          <a:xfrm>
            <a:off x="6894576" y="1975104"/>
            <a:ext cx="329184" cy="3291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94576" y="1975104"/>
            <a:ext cx="329184" cy="329184"/>
          </a:xfrm>
          <a:prstGeom prst="rect">
            <a:avLst/>
          </a:prstGeom>
          <a:noFill/>
        </p:spPr>
        <p:txBody>
          <a:bodyPr wrap="square" lIns="0" rIns="0" tIns="0" bIns="0" anchor="ctr">
            <a:spAutoFit/>
          </a:bodyPr>
          <a:lstStyle/>
          <a:p>
            <a:pPr algn="ctr">
              <a:lnSpc>
                <a:spcPct val="115000"/>
              </a:lnSpc>
            </a:pPr>
            <a:r>
              <a:rPr sz="1300" b="1" i="0">
                <a:solidFill>
                  <a:srgbClr val="FFFFFF"/>
                </a:solidFill>
                <a:latin typeface="DejaVu Sans"/>
              </a:rPr>
              <a:t>1</a:t>
            </a:r>
          </a:p>
        </p:txBody>
      </p:sp>
      <p:sp>
        <p:nvSpPr>
          <p:cNvPr id="18" name="TextBox 17"/>
          <p:cNvSpPr txBox="1"/>
          <p:nvPr/>
        </p:nvSpPr>
        <p:spPr>
          <a:xfrm>
            <a:off x="7333488" y="1956816"/>
            <a:ext cx="4133087" cy="292608"/>
          </a:xfrm>
          <a:prstGeom prst="rect">
            <a:avLst/>
          </a:prstGeom>
          <a:noFill/>
        </p:spPr>
        <p:txBody>
          <a:bodyPr wrap="square" lIns="0" rIns="0" tIns="0" bIns="0" anchor="t">
            <a:spAutoFit/>
          </a:bodyPr>
          <a:lstStyle/>
          <a:p>
            <a:pPr algn="l">
              <a:lnSpc>
                <a:spcPct val="100000"/>
              </a:lnSpc>
            </a:pPr>
            <a:r>
              <a:rPr sz="1150" b="1" i="0">
                <a:solidFill>
                  <a:srgbClr val="21295C"/>
                </a:solidFill>
                <a:latin typeface="DejaVu Sans"/>
              </a:rPr>
              <a:t>pre-commit hook (Gitleaks)</a:t>
            </a:r>
          </a:p>
        </p:txBody>
      </p:sp>
      <p:sp>
        <p:nvSpPr>
          <p:cNvPr id="19" name="TextBox 18"/>
          <p:cNvSpPr txBox="1"/>
          <p:nvPr/>
        </p:nvSpPr>
        <p:spPr>
          <a:xfrm>
            <a:off x="7333488" y="2267712"/>
            <a:ext cx="4133087" cy="566928"/>
          </a:xfrm>
          <a:prstGeom prst="rect">
            <a:avLst/>
          </a:prstGeom>
          <a:noFill/>
        </p:spPr>
        <p:txBody>
          <a:bodyPr wrap="square" lIns="0" rIns="0" tIns="0" bIns="0" anchor="t">
            <a:spAutoFit/>
          </a:bodyPr>
          <a:lstStyle/>
          <a:p>
            <a:pPr algn="l">
              <a:lnSpc>
                <a:spcPct val="114000"/>
              </a:lnSpc>
            </a:pPr>
            <a:r>
              <a:rPr sz="1000" b="0" i="0">
                <a:solidFill>
                  <a:srgbClr val="21295C"/>
                </a:solidFill>
                <a:latin typeface="DejaVu Sans"/>
              </a:rPr>
              <a:t>local and fast — but bypassable with --no-verify: an advisory barrier, not a binding one.</a:t>
            </a:r>
          </a:p>
        </p:txBody>
      </p:sp>
      <p:sp>
        <p:nvSpPr>
          <p:cNvPr id="20" name="Oval 19"/>
          <p:cNvSpPr/>
          <p:nvPr/>
        </p:nvSpPr>
        <p:spPr>
          <a:xfrm>
            <a:off x="6894576" y="2980944"/>
            <a:ext cx="329184" cy="3291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94576" y="2980944"/>
            <a:ext cx="329184" cy="329184"/>
          </a:xfrm>
          <a:prstGeom prst="rect">
            <a:avLst/>
          </a:prstGeom>
          <a:noFill/>
        </p:spPr>
        <p:txBody>
          <a:bodyPr wrap="square" lIns="0" rIns="0" tIns="0" bIns="0" anchor="ctr">
            <a:spAutoFit/>
          </a:bodyPr>
          <a:lstStyle/>
          <a:p>
            <a:pPr algn="ctr">
              <a:lnSpc>
                <a:spcPct val="115000"/>
              </a:lnSpc>
            </a:pPr>
            <a:r>
              <a:rPr sz="1300" b="1" i="0">
                <a:solidFill>
                  <a:srgbClr val="FFFFFF"/>
                </a:solidFill>
                <a:latin typeface="DejaVu Sans"/>
              </a:rPr>
              <a:t>2</a:t>
            </a:r>
          </a:p>
        </p:txBody>
      </p:sp>
      <p:sp>
        <p:nvSpPr>
          <p:cNvPr id="22" name="TextBox 21"/>
          <p:cNvSpPr txBox="1"/>
          <p:nvPr/>
        </p:nvSpPr>
        <p:spPr>
          <a:xfrm>
            <a:off x="7333488" y="2962656"/>
            <a:ext cx="4133087" cy="292608"/>
          </a:xfrm>
          <a:prstGeom prst="rect">
            <a:avLst/>
          </a:prstGeom>
          <a:noFill/>
        </p:spPr>
        <p:txBody>
          <a:bodyPr wrap="square" lIns="0" rIns="0" tIns="0" bIns="0" anchor="t">
            <a:spAutoFit/>
          </a:bodyPr>
          <a:lstStyle/>
          <a:p>
            <a:pPr algn="l">
              <a:lnSpc>
                <a:spcPct val="100000"/>
              </a:lnSpc>
            </a:pPr>
            <a:r>
              <a:rPr sz="1150" b="1" i="0">
                <a:solidFill>
                  <a:srgbClr val="21295C"/>
                </a:solidFill>
                <a:latin typeface="DejaVu Sans"/>
              </a:rPr>
              <a:t>CI gate (Gitleaks + TruffleHog verified)</a:t>
            </a:r>
          </a:p>
        </p:txBody>
      </p:sp>
      <p:sp>
        <p:nvSpPr>
          <p:cNvPr id="23" name="TextBox 22"/>
          <p:cNvSpPr txBox="1"/>
          <p:nvPr/>
        </p:nvSpPr>
        <p:spPr>
          <a:xfrm>
            <a:off x="7333488" y="3273552"/>
            <a:ext cx="4133087" cy="566928"/>
          </a:xfrm>
          <a:prstGeom prst="rect">
            <a:avLst/>
          </a:prstGeom>
          <a:noFill/>
        </p:spPr>
        <p:txBody>
          <a:bodyPr wrap="square" lIns="0" rIns="0" tIns="0" bIns="0" anchor="t">
            <a:spAutoFit/>
          </a:bodyPr>
          <a:lstStyle/>
          <a:p>
            <a:pPr algn="l">
              <a:lnSpc>
                <a:spcPct val="114000"/>
              </a:lnSpc>
            </a:pPr>
            <a:r>
              <a:rPr sz="1000" b="0" i="0">
                <a:solidFill>
                  <a:srgbClr val="21295C"/>
                </a:solidFill>
                <a:latin typeface="DejaVu Sans"/>
              </a:rPr>
              <a:t>on every PR — a binding gate: CI cannot be dodged by branching around the hook.</a:t>
            </a:r>
          </a:p>
        </p:txBody>
      </p:sp>
      <p:sp>
        <p:nvSpPr>
          <p:cNvPr id="24" name="Oval 23"/>
          <p:cNvSpPr/>
          <p:nvPr/>
        </p:nvSpPr>
        <p:spPr>
          <a:xfrm>
            <a:off x="6894576" y="3986784"/>
            <a:ext cx="329184" cy="32918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94576" y="3986784"/>
            <a:ext cx="329184" cy="329184"/>
          </a:xfrm>
          <a:prstGeom prst="rect">
            <a:avLst/>
          </a:prstGeom>
          <a:noFill/>
        </p:spPr>
        <p:txBody>
          <a:bodyPr wrap="square" lIns="0" rIns="0" tIns="0" bIns="0" anchor="ctr">
            <a:spAutoFit/>
          </a:bodyPr>
          <a:lstStyle/>
          <a:p>
            <a:pPr algn="ctr">
              <a:lnSpc>
                <a:spcPct val="115000"/>
              </a:lnSpc>
            </a:pPr>
            <a:r>
              <a:rPr sz="1300" b="1" i="0">
                <a:solidFill>
                  <a:srgbClr val="FFFFFF"/>
                </a:solidFill>
                <a:latin typeface="DejaVu Sans"/>
              </a:rPr>
              <a:t>3</a:t>
            </a:r>
          </a:p>
        </p:txBody>
      </p:sp>
      <p:sp>
        <p:nvSpPr>
          <p:cNvPr id="26" name="TextBox 25"/>
          <p:cNvSpPr txBox="1"/>
          <p:nvPr/>
        </p:nvSpPr>
        <p:spPr>
          <a:xfrm>
            <a:off x="7333488" y="3968496"/>
            <a:ext cx="4133087" cy="292608"/>
          </a:xfrm>
          <a:prstGeom prst="rect">
            <a:avLst/>
          </a:prstGeom>
          <a:noFill/>
        </p:spPr>
        <p:txBody>
          <a:bodyPr wrap="square" lIns="0" rIns="0" tIns="0" bIns="0" anchor="t">
            <a:spAutoFit/>
          </a:bodyPr>
          <a:lstStyle/>
          <a:p>
            <a:pPr algn="l">
              <a:lnSpc>
                <a:spcPct val="100000"/>
              </a:lnSpc>
            </a:pPr>
            <a:r>
              <a:rPr sz="1150" b="1" i="0">
                <a:solidFill>
                  <a:srgbClr val="21295C"/>
                </a:solidFill>
                <a:latin typeface="DejaVu Sans"/>
              </a:rPr>
              <a:t>server-side push protection</a:t>
            </a:r>
          </a:p>
        </p:txBody>
      </p:sp>
      <p:sp>
        <p:nvSpPr>
          <p:cNvPr id="27" name="TextBox 26"/>
          <p:cNvSpPr txBox="1"/>
          <p:nvPr/>
        </p:nvSpPr>
        <p:spPr>
          <a:xfrm>
            <a:off x="7333488" y="4279392"/>
            <a:ext cx="4133087" cy="566928"/>
          </a:xfrm>
          <a:prstGeom prst="rect">
            <a:avLst/>
          </a:prstGeom>
          <a:noFill/>
        </p:spPr>
        <p:txBody>
          <a:bodyPr wrap="square" lIns="0" rIns="0" tIns="0" bIns="0" anchor="t">
            <a:spAutoFit/>
          </a:bodyPr>
          <a:lstStyle/>
          <a:p>
            <a:pPr algn="l">
              <a:lnSpc>
                <a:spcPct val="114000"/>
              </a:lnSpc>
            </a:pPr>
            <a:r>
              <a:rPr sz="1000" b="0" i="0">
                <a:solidFill>
                  <a:srgbClr val="21295C"/>
                </a:solidFill>
                <a:latin typeface="DejaVu Sans"/>
              </a:rPr>
              <a:t>at the git-hosting level — holds even when client hooks are bypassed.</a:t>
            </a:r>
          </a:p>
        </p:txBody>
      </p:sp>
      <p:sp>
        <p:nvSpPr>
          <p:cNvPr id="28" name="Rounded Rectangle 27"/>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00" b="1" i="0">
                <a:solidFill>
                  <a:srgbClr val="21295C"/>
                </a:solidFill>
                <a:latin typeface="DejaVu Sans"/>
              </a:rPr>
              <a:t>What you commit and what the agent is allowed to read are two different, independently configured contracts; closing one does not close the other.</a:t>
            </a:r>
          </a:p>
        </p:txBody>
      </p:sp>
      <p:sp>
        <p:nvSpPr>
          <p:cNvPr id="30" name="TextBox 29"/>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5"/>
              </a:rPr>
              <a:t>The Register — Claude Code reads .env despite .gitignore</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6"/>
              </a:rPr>
              <a:t>Gitleaks — rule-first secret scanner</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7"/>
              </a:rPr>
              <a:t>TruffleHog — verification-first scanner</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31 / 58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530352"/>
          </a:xfrm>
          <a:prstGeom prst="rect">
            <a:avLst/>
          </a:prstGeom>
          <a:noFill/>
        </p:spPr>
        <p:txBody>
          <a:bodyPr wrap="square" lIns="0" rIns="0" tIns="0" bIns="0" anchor="t">
            <a:spAutoFit/>
          </a:bodyPr>
          <a:lstStyle/>
          <a:p>
            <a:pPr algn="l">
              <a:lnSpc>
                <a:spcPct val="110000"/>
              </a:lnSpc>
            </a:pPr>
            <a:r>
              <a:rPr sz="2000" b="1" i="0">
                <a:solidFill>
                  <a:srgbClr val="21295C"/>
                </a:solidFill>
                <a:latin typeface="DejaVu Sans"/>
              </a:rPr>
              <a:t>Every parallel session gets its own folder; all they share is the history</a:t>
            </a:r>
          </a:p>
        </p:txBody>
      </p:sp>
      <p:sp>
        <p:nvSpPr>
          <p:cNvPr id="3" name="TextBox 2"/>
          <p:cNvSpPr txBox="1"/>
          <p:nvPr/>
        </p:nvSpPr>
        <p:spPr>
          <a:xfrm>
            <a:off x="502920" y="1207007"/>
            <a:ext cx="914400" cy="603504"/>
          </a:xfrm>
          <a:prstGeom prst="rect">
            <a:avLst/>
          </a:prstGeom>
          <a:noFill/>
        </p:spPr>
        <p:txBody>
          <a:bodyPr wrap="square" lIns="0" rIns="0" tIns="0" bIns="0" anchor="ctr">
            <a:spAutoFit/>
          </a:bodyPr>
          <a:lstStyle/>
          <a:p>
            <a:pPr algn="r">
              <a:lnSpc>
                <a:spcPct val="106000"/>
              </a:lnSpc>
            </a:pPr>
            <a:r>
              <a:rPr sz="950" b="1" i="0">
                <a:solidFill>
                  <a:srgbClr val="1C7293"/>
                </a:solidFill>
                <a:latin typeface="DejaVu Sans"/>
              </a:rPr>
              <a:t>SESSIONS</a:t>
            </a:r>
          </a:p>
        </p:txBody>
      </p:sp>
      <p:sp>
        <p:nvSpPr>
          <p:cNvPr id="4" name="TextBox 3"/>
          <p:cNvSpPr txBox="1"/>
          <p:nvPr/>
        </p:nvSpPr>
        <p:spPr>
          <a:xfrm>
            <a:off x="502920" y="1901952"/>
            <a:ext cx="914400" cy="676656"/>
          </a:xfrm>
          <a:prstGeom prst="rect">
            <a:avLst/>
          </a:prstGeom>
          <a:noFill/>
        </p:spPr>
        <p:txBody>
          <a:bodyPr wrap="square" lIns="0" rIns="0" tIns="0" bIns="0" anchor="ctr">
            <a:spAutoFit/>
          </a:bodyPr>
          <a:lstStyle/>
          <a:p>
            <a:pPr algn="r">
              <a:lnSpc>
                <a:spcPct val="106000"/>
              </a:lnSpc>
            </a:pPr>
            <a:r>
              <a:rPr sz="950" b="1" i="0">
                <a:solidFill>
                  <a:srgbClr val="1C7293"/>
                </a:solidFill>
                <a:latin typeface="DejaVu Sans"/>
              </a:rPr>
              <a:t>FILES</a:t>
            </a:r>
          </a:p>
          <a:p>
            <a:pPr algn="r">
              <a:lnSpc>
                <a:spcPct val="106000"/>
              </a:lnSpc>
            </a:pPr>
            <a:r>
              <a:rPr sz="950" b="1" i="0">
                <a:solidFill>
                  <a:srgbClr val="1C7293"/>
                </a:solidFill>
                <a:latin typeface="DejaVu Sans"/>
              </a:rPr>
              <a:t>IN PROGRESS</a:t>
            </a:r>
          </a:p>
        </p:txBody>
      </p:sp>
      <p:sp>
        <p:nvSpPr>
          <p:cNvPr id="5" name="TextBox 4"/>
          <p:cNvSpPr txBox="1"/>
          <p:nvPr/>
        </p:nvSpPr>
        <p:spPr>
          <a:xfrm>
            <a:off x="502920" y="2670048"/>
            <a:ext cx="914400" cy="603504"/>
          </a:xfrm>
          <a:prstGeom prst="rect">
            <a:avLst/>
          </a:prstGeom>
          <a:noFill/>
        </p:spPr>
        <p:txBody>
          <a:bodyPr wrap="square" lIns="0" rIns="0" tIns="0" bIns="0" anchor="ctr">
            <a:spAutoFit/>
          </a:bodyPr>
          <a:lstStyle/>
          <a:p>
            <a:pPr algn="r">
              <a:lnSpc>
                <a:spcPct val="106000"/>
              </a:lnSpc>
            </a:pPr>
            <a:r>
              <a:rPr sz="950" b="1" i="0">
                <a:solidFill>
                  <a:srgbClr val="1C7293"/>
                </a:solidFill>
                <a:latin typeface="DejaVu Sans"/>
              </a:rPr>
              <a:t>HISTORY</a:t>
            </a:r>
          </a:p>
          <a:p>
            <a:pPr algn="r">
              <a:lnSpc>
                <a:spcPct val="106000"/>
              </a:lnSpc>
            </a:pPr>
            <a:r>
              <a:rPr sz="950" b="1" i="0">
                <a:solidFill>
                  <a:srgbClr val="1C7293"/>
                </a:solidFill>
                <a:latin typeface="DejaVu Sans"/>
              </a:rPr>
              <a:t>.git</a:t>
            </a:r>
          </a:p>
        </p:txBody>
      </p:sp>
      <p:sp>
        <p:nvSpPr>
          <p:cNvPr id="6" name="Rounded Rectangle 5"/>
          <p:cNvSpPr/>
          <p:nvPr/>
        </p:nvSpPr>
        <p:spPr>
          <a:xfrm>
            <a:off x="1517904" y="896112"/>
            <a:ext cx="4956048" cy="2633472"/>
          </a:xfrm>
          <a:prstGeom prst="roundRect">
            <a:avLst>
              <a:gd name="adj" fmla="val 11574"/>
            </a:avLst>
          </a:prstGeom>
          <a:solidFill>
            <a:srgbClr val="FFFFFF"/>
          </a:solidFill>
          <a:ln w="1524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iangle-alert-gold.png"/>
          <p:cNvPicPr>
            <a:picLocks noChangeAspect="1"/>
          </p:cNvPicPr>
          <p:nvPr/>
        </p:nvPicPr>
        <p:blipFill>
          <a:blip r:embed="rId2"/>
          <a:stretch>
            <a:fillRect/>
          </a:stretch>
        </p:blipFill>
        <p:spPr>
          <a:xfrm>
            <a:off x="1664207" y="950976"/>
            <a:ext cx="310896" cy="310896"/>
          </a:xfrm>
          <a:prstGeom prst="rect">
            <a:avLst/>
          </a:prstGeom>
        </p:spPr>
      </p:pic>
      <p:sp>
        <p:nvSpPr>
          <p:cNvPr id="8" name="TextBox 7"/>
          <p:cNvSpPr txBox="1"/>
          <p:nvPr/>
        </p:nvSpPr>
        <p:spPr>
          <a:xfrm>
            <a:off x="2066543" y="950976"/>
            <a:ext cx="4261103" cy="274320"/>
          </a:xfrm>
          <a:prstGeom prst="rect">
            <a:avLst/>
          </a:prstGeom>
          <a:noFill/>
        </p:spPr>
        <p:txBody>
          <a:bodyPr wrap="square" lIns="0" rIns="0" tIns="0" bIns="0" anchor="ctr">
            <a:spAutoFit/>
          </a:bodyPr>
          <a:lstStyle/>
          <a:p>
            <a:pPr algn="l">
              <a:lnSpc>
                <a:spcPct val="115000"/>
              </a:lnSpc>
            </a:pPr>
            <a:r>
              <a:rPr sz="1200" b="1" i="0">
                <a:solidFill>
                  <a:srgbClr val="21295C"/>
                </a:solidFill>
                <a:latin typeface="DejaVu Sans"/>
              </a:rPr>
              <a:t>Without worktree — one folder for everyone</a:t>
            </a:r>
          </a:p>
        </p:txBody>
      </p:sp>
      <p:sp>
        <p:nvSpPr>
          <p:cNvPr id="9" name="Rounded Rectangle 8"/>
          <p:cNvSpPr/>
          <p:nvPr/>
        </p:nvSpPr>
        <p:spPr>
          <a:xfrm>
            <a:off x="1664207" y="1261872"/>
            <a:ext cx="1481328" cy="49377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Session A</a:t>
            </a:r>
          </a:p>
        </p:txBody>
      </p:sp>
      <p:sp>
        <p:nvSpPr>
          <p:cNvPr id="10" name="Down Arrow 9"/>
          <p:cNvSpPr/>
          <p:nvPr/>
        </p:nvSpPr>
        <p:spPr>
          <a:xfrm>
            <a:off x="2327148" y="1773936"/>
            <a:ext cx="155448" cy="182880"/>
          </a:xfrm>
          <a:prstGeom prst="downArrow">
            <a:avLst/>
          </a:prstGeom>
          <a:solidFill>
            <a:srgbClr val="5B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55263" y="1261872"/>
            <a:ext cx="1481328" cy="49377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Session B</a:t>
            </a:r>
          </a:p>
        </p:txBody>
      </p:sp>
      <p:sp>
        <p:nvSpPr>
          <p:cNvPr id="12" name="Down Arrow 11"/>
          <p:cNvSpPr/>
          <p:nvPr/>
        </p:nvSpPr>
        <p:spPr>
          <a:xfrm>
            <a:off x="3918203" y="1773936"/>
            <a:ext cx="155448" cy="182880"/>
          </a:xfrm>
          <a:prstGeom prst="downArrow">
            <a:avLst/>
          </a:prstGeom>
          <a:solidFill>
            <a:srgbClr val="5B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46319" y="1261872"/>
            <a:ext cx="1481328" cy="49377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Session C</a:t>
            </a:r>
          </a:p>
        </p:txBody>
      </p:sp>
      <p:sp>
        <p:nvSpPr>
          <p:cNvPr id="14" name="Down Arrow 13"/>
          <p:cNvSpPr/>
          <p:nvPr/>
        </p:nvSpPr>
        <p:spPr>
          <a:xfrm>
            <a:off x="5509259" y="1773936"/>
            <a:ext cx="155448" cy="182880"/>
          </a:xfrm>
          <a:prstGeom prst="downArrow">
            <a:avLst/>
          </a:prstGeom>
          <a:solidFill>
            <a:srgbClr val="5B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664207" y="1956816"/>
            <a:ext cx="4663440" cy="566928"/>
          </a:xfrm>
          <a:prstGeom prst="roundRect">
            <a:avLst>
              <a:gd name="adj" fmla="val 8000"/>
            </a:avLst>
          </a:prstGeom>
          <a:solidFill>
            <a:srgbClr val="E5EAF0"/>
          </a:solidFill>
          <a:ln w="1524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ile-stack-mid.png"/>
          <p:cNvPicPr>
            <a:picLocks noChangeAspect="1"/>
          </p:cNvPicPr>
          <p:nvPr/>
        </p:nvPicPr>
        <p:blipFill>
          <a:blip r:embed="rId3"/>
          <a:stretch>
            <a:fillRect/>
          </a:stretch>
        </p:blipFill>
        <p:spPr>
          <a:xfrm>
            <a:off x="1792224" y="2075688"/>
            <a:ext cx="310896" cy="310896"/>
          </a:xfrm>
          <a:prstGeom prst="rect">
            <a:avLst/>
          </a:prstGeom>
        </p:spPr>
      </p:pic>
      <p:sp>
        <p:nvSpPr>
          <p:cNvPr id="17" name="TextBox 16"/>
          <p:cNvSpPr txBox="1"/>
          <p:nvPr/>
        </p:nvSpPr>
        <p:spPr>
          <a:xfrm>
            <a:off x="2176272" y="2011680"/>
            <a:ext cx="4023359" cy="219456"/>
          </a:xfrm>
          <a:prstGeom prst="rect">
            <a:avLst/>
          </a:prstGeom>
          <a:noFill/>
        </p:spPr>
        <p:txBody>
          <a:bodyPr wrap="square" lIns="0" rIns="0" tIns="0" bIns="0" anchor="t">
            <a:spAutoFit/>
          </a:bodyPr>
          <a:lstStyle/>
          <a:p>
            <a:pPr algn="l">
              <a:lnSpc>
                <a:spcPct val="115000"/>
              </a:lnSpc>
            </a:pPr>
            <a:r>
              <a:rPr sz="1050" b="1" i="0">
                <a:solidFill>
                  <a:srgbClr val="21295C"/>
                </a:solidFill>
                <a:latin typeface="DejaVu Sans"/>
              </a:rPr>
              <a:t>one working copy for all</a:t>
            </a:r>
          </a:p>
        </p:txBody>
      </p:sp>
      <p:sp>
        <p:nvSpPr>
          <p:cNvPr id="18" name="TextBox 17"/>
          <p:cNvSpPr txBox="1"/>
          <p:nvPr/>
        </p:nvSpPr>
        <p:spPr>
          <a:xfrm>
            <a:off x="2176272" y="2231136"/>
            <a:ext cx="4023359" cy="237744"/>
          </a:xfrm>
          <a:prstGeom prst="rect">
            <a:avLst/>
          </a:prstGeom>
          <a:noFill/>
        </p:spPr>
        <p:txBody>
          <a:bodyPr wrap="square" lIns="0" rIns="0" tIns="0" bIns="0" anchor="t">
            <a:spAutoFit/>
          </a:bodyPr>
          <a:lstStyle/>
          <a:p>
            <a:pPr algn="l">
              <a:lnSpc>
                <a:spcPct val="115000"/>
              </a:lnSpc>
            </a:pPr>
            <a:r>
              <a:rPr sz="950" b="0" i="0">
                <a:solidFill>
                  <a:srgbClr val="5B6678"/>
                </a:solidFill>
                <a:latin typeface="DejaVu Sans"/>
              </a:rPr>
              <a:t>uncommitted edits sit in the very same files</a:t>
            </a:r>
          </a:p>
        </p:txBody>
      </p:sp>
      <p:sp>
        <p:nvSpPr>
          <p:cNvPr id="19" name="Down Arrow 18"/>
          <p:cNvSpPr/>
          <p:nvPr/>
        </p:nvSpPr>
        <p:spPr>
          <a:xfrm>
            <a:off x="3918204" y="2578608"/>
            <a:ext cx="155448" cy="182880"/>
          </a:xfrm>
          <a:prstGeom prst="downArrow">
            <a:avLst/>
          </a:prstGeom>
          <a:solidFill>
            <a:srgbClr val="5B66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64207" y="2724912"/>
            <a:ext cx="4663440" cy="493776"/>
          </a:xfrm>
          <a:prstGeom prst="roundRect">
            <a:avLst>
              <a:gd name="adj" fmla="val 9000"/>
            </a:avLst>
          </a:prstGeom>
          <a:solidFill>
            <a:srgbClr val="E5EAF0"/>
          </a:solidFill>
          <a:ln w="1524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it-branch-mid.png"/>
          <p:cNvPicPr>
            <a:picLocks noChangeAspect="1"/>
          </p:cNvPicPr>
          <p:nvPr/>
        </p:nvPicPr>
        <p:blipFill>
          <a:blip r:embed="rId4"/>
          <a:stretch>
            <a:fillRect/>
          </a:stretch>
        </p:blipFill>
        <p:spPr>
          <a:xfrm>
            <a:off x="1792224" y="2807208"/>
            <a:ext cx="310896" cy="310896"/>
          </a:xfrm>
          <a:prstGeom prst="rect">
            <a:avLst/>
          </a:prstGeom>
        </p:spPr>
      </p:pic>
      <p:sp>
        <p:nvSpPr>
          <p:cNvPr id="22" name="TextBox 21"/>
          <p:cNvSpPr txBox="1"/>
          <p:nvPr/>
        </p:nvSpPr>
        <p:spPr>
          <a:xfrm>
            <a:off x="2176272" y="2761488"/>
            <a:ext cx="4023359" cy="420624"/>
          </a:xfrm>
          <a:prstGeom prst="rect">
            <a:avLst/>
          </a:prstGeom>
          <a:noFill/>
        </p:spPr>
        <p:txBody>
          <a:bodyPr wrap="square" lIns="0" rIns="0" tIns="0" bIns="0" anchor="ctr">
            <a:spAutoFit/>
          </a:bodyPr>
          <a:lstStyle/>
          <a:p>
            <a:pPr algn="l">
              <a:lnSpc>
                <a:spcPct val="115000"/>
              </a:lnSpc>
            </a:pPr>
            <a:r>
              <a:rPr sz="1050" b="1" i="0">
                <a:solidFill>
                  <a:srgbClr val="21295C"/>
                </a:solidFill>
                <a:latin typeface="DejaVu Sans"/>
              </a:rPr>
              <a:t>one repository history</a:t>
            </a:r>
          </a:p>
        </p:txBody>
      </p:sp>
      <p:sp>
        <p:nvSpPr>
          <p:cNvPr id="23" name="TextBox 22"/>
          <p:cNvSpPr txBox="1"/>
          <p:nvPr/>
        </p:nvSpPr>
        <p:spPr>
          <a:xfrm>
            <a:off x="1517904" y="3584448"/>
            <a:ext cx="4956048" cy="329184"/>
          </a:xfrm>
          <a:prstGeom prst="rect">
            <a:avLst/>
          </a:prstGeom>
          <a:noFill/>
        </p:spPr>
        <p:txBody>
          <a:bodyPr wrap="square" lIns="0" rIns="0" tIns="0" bIns="0" anchor="t">
            <a:spAutoFit/>
          </a:bodyPr>
          <a:lstStyle/>
          <a:p>
            <a:pPr algn="l">
              <a:lnSpc>
                <a:spcPct val="112000"/>
              </a:lnSpc>
            </a:pPr>
            <a:r>
              <a:rPr sz="1000" b="0" i="0">
                <a:solidFill>
                  <a:srgbClr val="5B6678"/>
                </a:solidFill>
                <a:latin typeface="DejaVu Sans"/>
              </a:rPr>
              <a:t>What breaks: one session silently switches another's working tree — claude-code #60295. This course lost hours to it.</a:t>
            </a:r>
          </a:p>
        </p:txBody>
      </p:sp>
      <p:sp>
        <p:nvSpPr>
          <p:cNvPr id="24" name="Rounded Rectangle 23"/>
          <p:cNvSpPr/>
          <p:nvPr/>
        </p:nvSpPr>
        <p:spPr>
          <a:xfrm>
            <a:off x="6748272" y="896112"/>
            <a:ext cx="4956048" cy="2633472"/>
          </a:xfrm>
          <a:prstGeom prst="roundRect">
            <a:avLst>
              <a:gd name="adj" fmla="val 11574"/>
            </a:avLst>
          </a:prstGeom>
          <a:solidFill>
            <a:srgbClr val="F4F7FA"/>
          </a:solidFill>
          <a:ln w="2032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hield-check-teal.png"/>
          <p:cNvPicPr>
            <a:picLocks noChangeAspect="1"/>
          </p:cNvPicPr>
          <p:nvPr/>
        </p:nvPicPr>
        <p:blipFill>
          <a:blip r:embed="rId5"/>
          <a:stretch>
            <a:fillRect/>
          </a:stretch>
        </p:blipFill>
        <p:spPr>
          <a:xfrm>
            <a:off x="6894576" y="950976"/>
            <a:ext cx="310896" cy="310896"/>
          </a:xfrm>
          <a:prstGeom prst="rect">
            <a:avLst/>
          </a:prstGeom>
        </p:spPr>
      </p:pic>
      <p:sp>
        <p:nvSpPr>
          <p:cNvPr id="26" name="TextBox 25"/>
          <p:cNvSpPr txBox="1"/>
          <p:nvPr/>
        </p:nvSpPr>
        <p:spPr>
          <a:xfrm>
            <a:off x="7296912" y="950976"/>
            <a:ext cx="4261103" cy="274320"/>
          </a:xfrm>
          <a:prstGeom prst="rect">
            <a:avLst/>
          </a:prstGeom>
          <a:noFill/>
        </p:spPr>
        <p:txBody>
          <a:bodyPr wrap="square" lIns="0" rIns="0" tIns="0" bIns="0" anchor="ctr">
            <a:spAutoFit/>
          </a:bodyPr>
          <a:lstStyle/>
          <a:p>
            <a:pPr algn="l">
              <a:lnSpc>
                <a:spcPct val="115000"/>
              </a:lnSpc>
            </a:pPr>
            <a:r>
              <a:rPr sz="1200" b="1" i="0">
                <a:solidFill>
                  <a:srgbClr val="028090"/>
                </a:solidFill>
                <a:latin typeface="DejaVu Sans"/>
              </a:rPr>
              <a:t>With worktree — a folder of its own per session</a:t>
            </a:r>
          </a:p>
        </p:txBody>
      </p:sp>
      <p:sp>
        <p:nvSpPr>
          <p:cNvPr id="27" name="Rounded Rectangle 26"/>
          <p:cNvSpPr/>
          <p:nvPr/>
        </p:nvSpPr>
        <p:spPr>
          <a:xfrm>
            <a:off x="6894576" y="1261872"/>
            <a:ext cx="1481328" cy="49377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Session A</a:t>
            </a:r>
          </a:p>
        </p:txBody>
      </p:sp>
      <p:sp>
        <p:nvSpPr>
          <p:cNvPr id="28" name="Down Arrow 27"/>
          <p:cNvSpPr/>
          <p:nvPr/>
        </p:nvSpPr>
        <p:spPr>
          <a:xfrm>
            <a:off x="7557515" y="1773936"/>
            <a:ext cx="155448" cy="182880"/>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894576" y="1956816"/>
            <a:ext cx="1481328" cy="566928"/>
          </a:xfrm>
          <a:prstGeom prst="roundRect">
            <a:avLst>
              <a:gd name="adj" fmla="val 10000"/>
            </a:avLst>
          </a:prstGeom>
          <a:solidFill>
            <a:srgbClr val="E4F1F2"/>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0" y="2011680"/>
            <a:ext cx="1371600" cy="219456"/>
          </a:xfrm>
          <a:prstGeom prst="rect">
            <a:avLst/>
          </a:prstGeom>
          <a:noFill/>
        </p:spPr>
        <p:txBody>
          <a:bodyPr wrap="square" lIns="0" rIns="0" tIns="0" bIns="0" anchor="t">
            <a:spAutoFit/>
          </a:bodyPr>
          <a:lstStyle/>
          <a:p>
            <a:pPr algn="ctr">
              <a:lnSpc>
                <a:spcPct val="115000"/>
              </a:lnSpc>
            </a:pPr>
            <a:r>
              <a:rPr sz="1050" b="1" i="0">
                <a:solidFill>
                  <a:srgbClr val="028090"/>
                </a:solidFill>
                <a:latin typeface="DejaVu Sans Mono"/>
              </a:rPr>
              <a:t>/wt-a</a:t>
            </a:r>
          </a:p>
        </p:txBody>
      </p:sp>
      <p:sp>
        <p:nvSpPr>
          <p:cNvPr id="31" name="TextBox 30"/>
          <p:cNvSpPr txBox="1"/>
          <p:nvPr/>
        </p:nvSpPr>
        <p:spPr>
          <a:xfrm>
            <a:off x="6949440" y="2231136"/>
            <a:ext cx="1371600" cy="237744"/>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its own branch</a:t>
            </a:r>
          </a:p>
        </p:txBody>
      </p:sp>
      <p:sp>
        <p:nvSpPr>
          <p:cNvPr id="32" name="Down Arrow 31"/>
          <p:cNvSpPr/>
          <p:nvPr/>
        </p:nvSpPr>
        <p:spPr>
          <a:xfrm>
            <a:off x="7557515" y="2578608"/>
            <a:ext cx="155448" cy="182880"/>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485632" y="1261872"/>
            <a:ext cx="1481328" cy="49377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Session B</a:t>
            </a:r>
          </a:p>
        </p:txBody>
      </p:sp>
      <p:sp>
        <p:nvSpPr>
          <p:cNvPr id="34" name="Down Arrow 33"/>
          <p:cNvSpPr/>
          <p:nvPr/>
        </p:nvSpPr>
        <p:spPr>
          <a:xfrm>
            <a:off x="9148572" y="1773936"/>
            <a:ext cx="155448" cy="182880"/>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485632" y="1956816"/>
            <a:ext cx="1481328" cy="566928"/>
          </a:xfrm>
          <a:prstGeom prst="roundRect">
            <a:avLst>
              <a:gd name="adj" fmla="val 10000"/>
            </a:avLst>
          </a:prstGeom>
          <a:solidFill>
            <a:srgbClr val="E4F1F2"/>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0496" y="2011680"/>
            <a:ext cx="1371600" cy="219456"/>
          </a:xfrm>
          <a:prstGeom prst="rect">
            <a:avLst/>
          </a:prstGeom>
          <a:noFill/>
        </p:spPr>
        <p:txBody>
          <a:bodyPr wrap="square" lIns="0" rIns="0" tIns="0" bIns="0" anchor="t">
            <a:spAutoFit/>
          </a:bodyPr>
          <a:lstStyle/>
          <a:p>
            <a:pPr algn="ctr">
              <a:lnSpc>
                <a:spcPct val="115000"/>
              </a:lnSpc>
            </a:pPr>
            <a:r>
              <a:rPr sz="1050" b="1" i="0">
                <a:solidFill>
                  <a:srgbClr val="028090"/>
                </a:solidFill>
                <a:latin typeface="DejaVu Sans Mono"/>
              </a:rPr>
              <a:t>/wt-b</a:t>
            </a:r>
          </a:p>
        </p:txBody>
      </p:sp>
      <p:sp>
        <p:nvSpPr>
          <p:cNvPr id="37" name="TextBox 36"/>
          <p:cNvSpPr txBox="1"/>
          <p:nvPr/>
        </p:nvSpPr>
        <p:spPr>
          <a:xfrm>
            <a:off x="8540496" y="2231136"/>
            <a:ext cx="1371600" cy="237744"/>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its own branch</a:t>
            </a:r>
          </a:p>
        </p:txBody>
      </p:sp>
      <p:sp>
        <p:nvSpPr>
          <p:cNvPr id="38" name="Down Arrow 37"/>
          <p:cNvSpPr/>
          <p:nvPr/>
        </p:nvSpPr>
        <p:spPr>
          <a:xfrm>
            <a:off x="9148572" y="2578608"/>
            <a:ext cx="155448" cy="182880"/>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076688" y="1261872"/>
            <a:ext cx="1481328" cy="493776"/>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wrap="none"/>
          <a:lstStyle/>
          <a:p>
            <a:pPr algn="ctr"/>
            <a:r>
              <a:rPr sz="1100" b="1">
                <a:solidFill>
                  <a:srgbClr val="FFFFFF"/>
                </a:solidFill>
                <a:latin typeface="DejaVu Sans"/>
              </a:rPr>
              <a:t>Session C</a:t>
            </a:r>
          </a:p>
        </p:txBody>
      </p:sp>
      <p:sp>
        <p:nvSpPr>
          <p:cNvPr id="40" name="Down Arrow 39"/>
          <p:cNvSpPr/>
          <p:nvPr/>
        </p:nvSpPr>
        <p:spPr>
          <a:xfrm>
            <a:off x="10739628" y="1773936"/>
            <a:ext cx="155448" cy="182880"/>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0076688" y="1956816"/>
            <a:ext cx="1481328" cy="566928"/>
          </a:xfrm>
          <a:prstGeom prst="roundRect">
            <a:avLst>
              <a:gd name="adj" fmla="val 10000"/>
            </a:avLst>
          </a:prstGeom>
          <a:solidFill>
            <a:srgbClr val="E4F1F2"/>
          </a:solidFill>
          <a:ln w="1651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31552" y="2011680"/>
            <a:ext cx="1371600" cy="219456"/>
          </a:xfrm>
          <a:prstGeom prst="rect">
            <a:avLst/>
          </a:prstGeom>
          <a:noFill/>
        </p:spPr>
        <p:txBody>
          <a:bodyPr wrap="square" lIns="0" rIns="0" tIns="0" bIns="0" anchor="t">
            <a:spAutoFit/>
          </a:bodyPr>
          <a:lstStyle/>
          <a:p>
            <a:pPr algn="ctr">
              <a:lnSpc>
                <a:spcPct val="115000"/>
              </a:lnSpc>
            </a:pPr>
            <a:r>
              <a:rPr sz="1050" b="1" i="0">
                <a:solidFill>
                  <a:srgbClr val="028090"/>
                </a:solidFill>
                <a:latin typeface="DejaVu Sans Mono"/>
              </a:rPr>
              <a:t>/wt-c</a:t>
            </a:r>
          </a:p>
        </p:txBody>
      </p:sp>
      <p:sp>
        <p:nvSpPr>
          <p:cNvPr id="43" name="TextBox 42"/>
          <p:cNvSpPr txBox="1"/>
          <p:nvPr/>
        </p:nvSpPr>
        <p:spPr>
          <a:xfrm>
            <a:off x="10131552" y="2231136"/>
            <a:ext cx="1371600" cy="237744"/>
          </a:xfrm>
          <a:prstGeom prst="rect">
            <a:avLst/>
          </a:prstGeom>
          <a:noFill/>
        </p:spPr>
        <p:txBody>
          <a:bodyPr wrap="square" lIns="0" rIns="0" tIns="0" bIns="0" anchor="t">
            <a:spAutoFit/>
          </a:bodyPr>
          <a:lstStyle/>
          <a:p>
            <a:pPr algn="ctr">
              <a:lnSpc>
                <a:spcPct val="115000"/>
              </a:lnSpc>
            </a:pPr>
            <a:r>
              <a:rPr sz="950" b="0" i="0">
                <a:solidFill>
                  <a:srgbClr val="5B6678"/>
                </a:solidFill>
                <a:latin typeface="DejaVu Sans"/>
              </a:rPr>
              <a:t>its own branch</a:t>
            </a:r>
          </a:p>
        </p:txBody>
      </p:sp>
      <p:sp>
        <p:nvSpPr>
          <p:cNvPr id="44" name="Down Arrow 43"/>
          <p:cNvSpPr/>
          <p:nvPr/>
        </p:nvSpPr>
        <p:spPr>
          <a:xfrm>
            <a:off x="10739628" y="2578608"/>
            <a:ext cx="155448" cy="182880"/>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894576" y="2724912"/>
            <a:ext cx="4663440" cy="493776"/>
          </a:xfrm>
          <a:prstGeom prst="roundRect">
            <a:avLst>
              <a:gd name="adj" fmla="val 9000"/>
            </a:avLst>
          </a:prstGeom>
          <a:solidFill>
            <a:srgbClr val="E5EAF0"/>
          </a:solidFill>
          <a:ln w="1524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git-branch-mid.png"/>
          <p:cNvPicPr>
            <a:picLocks noChangeAspect="1"/>
          </p:cNvPicPr>
          <p:nvPr/>
        </p:nvPicPr>
        <p:blipFill>
          <a:blip r:embed="rId4"/>
          <a:stretch>
            <a:fillRect/>
          </a:stretch>
        </p:blipFill>
        <p:spPr>
          <a:xfrm>
            <a:off x="7022592" y="2807208"/>
            <a:ext cx="310896" cy="310896"/>
          </a:xfrm>
          <a:prstGeom prst="rect">
            <a:avLst/>
          </a:prstGeom>
        </p:spPr>
      </p:pic>
      <p:sp>
        <p:nvSpPr>
          <p:cNvPr id="47" name="TextBox 46"/>
          <p:cNvSpPr txBox="1"/>
          <p:nvPr/>
        </p:nvSpPr>
        <p:spPr>
          <a:xfrm>
            <a:off x="7406640" y="2761488"/>
            <a:ext cx="4023359" cy="420624"/>
          </a:xfrm>
          <a:prstGeom prst="rect">
            <a:avLst/>
          </a:prstGeom>
          <a:noFill/>
        </p:spPr>
        <p:txBody>
          <a:bodyPr wrap="square" lIns="0" rIns="0" tIns="0" bIns="0" anchor="ctr">
            <a:spAutoFit/>
          </a:bodyPr>
          <a:lstStyle/>
          <a:p>
            <a:pPr algn="l">
              <a:lnSpc>
                <a:spcPct val="115000"/>
              </a:lnSpc>
            </a:pPr>
            <a:r>
              <a:rPr sz="1050" b="1" i="0">
                <a:solidFill>
                  <a:srgbClr val="21295C"/>
                </a:solidFill>
                <a:latin typeface="DejaVu Sans"/>
              </a:rPr>
              <a:t>the same history — this level did not change</a:t>
            </a:r>
          </a:p>
        </p:txBody>
      </p:sp>
      <p:sp>
        <p:nvSpPr>
          <p:cNvPr id="48" name="TextBox 47"/>
          <p:cNvSpPr txBox="1"/>
          <p:nvPr/>
        </p:nvSpPr>
        <p:spPr>
          <a:xfrm>
            <a:off x="6748272" y="3584448"/>
            <a:ext cx="4956048" cy="329184"/>
          </a:xfrm>
          <a:prstGeom prst="rect">
            <a:avLst/>
          </a:prstGeom>
          <a:noFill/>
        </p:spPr>
        <p:txBody>
          <a:bodyPr wrap="square" lIns="0" rIns="0" tIns="0" bIns="0" anchor="t">
            <a:spAutoFit/>
          </a:bodyPr>
          <a:lstStyle/>
          <a:p>
            <a:pPr algn="l">
              <a:lnSpc>
                <a:spcPct val="112000"/>
              </a:lnSpc>
            </a:pPr>
            <a:r>
              <a:rPr sz="1000" b="0" i="0">
                <a:solidFill>
                  <a:srgbClr val="5B6678"/>
                </a:solidFill>
                <a:latin typeface="DejaVu Sans"/>
              </a:rPr>
              <a:t>What changes: only the files are separated. Branches and commits stay shared — the folder is a view on the same history, not a copy.</a:t>
            </a:r>
          </a:p>
        </p:txBody>
      </p:sp>
      <p:sp>
        <p:nvSpPr>
          <p:cNvPr id="49" name="Rounded Rectangle 48"/>
          <p:cNvSpPr/>
          <p:nvPr/>
        </p:nvSpPr>
        <p:spPr>
          <a:xfrm>
            <a:off x="502920" y="3950208"/>
            <a:ext cx="3749039" cy="1097280"/>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7512" y="4023360"/>
            <a:ext cx="3419856" cy="201168"/>
          </a:xfrm>
          <a:prstGeom prst="rect">
            <a:avLst/>
          </a:prstGeom>
          <a:noFill/>
        </p:spPr>
        <p:txBody>
          <a:bodyPr wrap="square" lIns="0" rIns="0" tIns="0" bIns="0" anchor="t">
            <a:spAutoFit/>
          </a:bodyPr>
          <a:lstStyle/>
          <a:p>
            <a:pPr algn="l">
              <a:lnSpc>
                <a:spcPct val="115000"/>
              </a:lnSpc>
            </a:pPr>
            <a:r>
              <a:rPr sz="1050" b="1" i="0">
                <a:solidFill>
                  <a:srgbClr val="065A82"/>
                </a:solidFill>
                <a:latin typeface="DejaVu Sans"/>
              </a:rPr>
              <a:t>Two commands — and the folder is ready</a:t>
            </a:r>
          </a:p>
        </p:txBody>
      </p:sp>
      <p:sp>
        <p:nvSpPr>
          <p:cNvPr id="51" name="TextBox 50"/>
          <p:cNvSpPr txBox="1"/>
          <p:nvPr/>
        </p:nvSpPr>
        <p:spPr>
          <a:xfrm>
            <a:off x="667512" y="4261104"/>
            <a:ext cx="3419856" cy="210312"/>
          </a:xfrm>
          <a:prstGeom prst="rect">
            <a:avLst/>
          </a:prstGeom>
          <a:noFill/>
        </p:spPr>
        <p:txBody>
          <a:bodyPr wrap="square" lIns="0" rIns="0" tIns="0" bIns="0" anchor="t">
            <a:spAutoFit/>
          </a:bodyPr>
          <a:lstStyle/>
          <a:p>
            <a:pPr algn="l">
              <a:lnSpc>
                <a:spcPct val="100000"/>
              </a:lnSpc>
            </a:pPr>
            <a:r>
              <a:rPr sz="900" b="0" i="0">
                <a:solidFill>
                  <a:srgbClr val="5B6678"/>
                </a:solidFill>
                <a:latin typeface="DejaVu Sans Mono"/>
              </a:rPr>
              <a:t>git worktree add --detach /wt-a &lt;commit&gt;</a:t>
            </a:r>
          </a:p>
        </p:txBody>
      </p:sp>
      <p:sp>
        <p:nvSpPr>
          <p:cNvPr id="52" name="TextBox 51"/>
          <p:cNvSpPr txBox="1"/>
          <p:nvPr/>
        </p:nvSpPr>
        <p:spPr>
          <a:xfrm>
            <a:off x="667512" y="4489704"/>
            <a:ext cx="3419856" cy="210312"/>
          </a:xfrm>
          <a:prstGeom prst="rect">
            <a:avLst/>
          </a:prstGeom>
          <a:noFill/>
        </p:spPr>
        <p:txBody>
          <a:bodyPr wrap="square" lIns="0" rIns="0" tIns="0" bIns="0" anchor="t">
            <a:spAutoFit/>
          </a:bodyPr>
          <a:lstStyle/>
          <a:p>
            <a:pPr algn="l">
              <a:lnSpc>
                <a:spcPct val="100000"/>
              </a:lnSpc>
            </a:pPr>
            <a:r>
              <a:rPr sz="900" b="0" i="0">
                <a:solidFill>
                  <a:srgbClr val="5B6678"/>
                </a:solidFill>
                <a:latin typeface="DejaVu Sans Mono"/>
              </a:rPr>
              <a:t>cd /wt-a &amp;&amp; git checkout -b task-A</a:t>
            </a:r>
          </a:p>
        </p:txBody>
      </p:sp>
      <p:sp>
        <p:nvSpPr>
          <p:cNvPr id="53" name="TextBox 52"/>
          <p:cNvSpPr txBox="1"/>
          <p:nvPr/>
        </p:nvSpPr>
        <p:spPr>
          <a:xfrm>
            <a:off x="667512" y="4736592"/>
            <a:ext cx="3419856" cy="237744"/>
          </a:xfrm>
          <a:prstGeom prst="rect">
            <a:avLst/>
          </a:prstGeom>
          <a:noFill/>
        </p:spPr>
        <p:txBody>
          <a:bodyPr wrap="square" lIns="0" rIns="0" tIns="0" bIns="0" anchor="t">
            <a:spAutoFit/>
          </a:bodyPr>
          <a:lstStyle/>
          <a:p>
            <a:pPr algn="l">
              <a:lnSpc>
                <a:spcPct val="115000"/>
              </a:lnSpc>
            </a:pPr>
            <a:r>
              <a:rPr sz="950" b="0" i="1">
                <a:solidFill>
                  <a:srgbClr val="5B6678"/>
                </a:solidFill>
                <a:latin typeface="DejaVu Sans"/>
              </a:rPr>
              <a:t>Cheaper than cloning: the history is not duplicated.</a:t>
            </a:r>
          </a:p>
        </p:txBody>
      </p:sp>
      <p:sp>
        <p:nvSpPr>
          <p:cNvPr id="54" name="Rounded Rectangle 53"/>
          <p:cNvSpPr/>
          <p:nvPr/>
        </p:nvSpPr>
        <p:spPr>
          <a:xfrm>
            <a:off x="4389120" y="3950208"/>
            <a:ext cx="3200400" cy="1097280"/>
          </a:xfrm>
          <a:prstGeom prst="roundRect">
            <a:avLst>
              <a:gd name="adj" fmla="val 22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lock-teal.png"/>
          <p:cNvPicPr>
            <a:picLocks noChangeAspect="1"/>
          </p:cNvPicPr>
          <p:nvPr/>
        </p:nvPicPr>
        <p:blipFill>
          <a:blip r:embed="rId6"/>
          <a:stretch>
            <a:fillRect/>
          </a:stretch>
        </p:blipFill>
        <p:spPr>
          <a:xfrm>
            <a:off x="4535424" y="4041648"/>
            <a:ext cx="292608" cy="292608"/>
          </a:xfrm>
          <a:prstGeom prst="rect">
            <a:avLst/>
          </a:prstGeom>
        </p:spPr>
      </p:pic>
      <p:sp>
        <p:nvSpPr>
          <p:cNvPr id="56" name="TextBox 55"/>
          <p:cNvSpPr txBox="1"/>
          <p:nvPr/>
        </p:nvSpPr>
        <p:spPr>
          <a:xfrm>
            <a:off x="4882896" y="4041648"/>
            <a:ext cx="2560320" cy="201168"/>
          </a:xfrm>
          <a:prstGeom prst="rect">
            <a:avLst/>
          </a:prstGeom>
          <a:noFill/>
        </p:spPr>
        <p:txBody>
          <a:bodyPr wrap="square" lIns="0" rIns="0" tIns="0" bIns="0" anchor="t">
            <a:spAutoFit/>
          </a:bodyPr>
          <a:lstStyle/>
          <a:p>
            <a:pPr algn="l">
              <a:lnSpc>
                <a:spcPct val="115000"/>
              </a:lnSpc>
            </a:pPr>
            <a:r>
              <a:rPr sz="1050" b="1" i="0">
                <a:solidFill>
                  <a:srgbClr val="028090"/>
                </a:solidFill>
                <a:latin typeface="DejaVu Sans"/>
              </a:rPr>
              <a:t>Not on trust alone</a:t>
            </a:r>
          </a:p>
        </p:txBody>
      </p:sp>
      <p:sp>
        <p:nvSpPr>
          <p:cNvPr id="57" name="TextBox 56"/>
          <p:cNvSpPr txBox="1"/>
          <p:nvPr/>
        </p:nvSpPr>
        <p:spPr>
          <a:xfrm>
            <a:off x="4535424" y="4297680"/>
            <a:ext cx="2907792" cy="585216"/>
          </a:xfrm>
          <a:prstGeom prst="rect">
            <a:avLst/>
          </a:prstGeom>
          <a:noFill/>
        </p:spPr>
        <p:txBody>
          <a:bodyPr wrap="square" lIns="0" rIns="0" tIns="0" bIns="0" anchor="t">
            <a:spAutoFit/>
          </a:bodyPr>
          <a:lstStyle/>
          <a:p>
            <a:pPr algn="l">
              <a:lnSpc>
                <a:spcPct val="112000"/>
              </a:lnSpc>
            </a:pPr>
            <a:r>
              <a:rPr sz="950" b="0" i="0">
                <a:solidFill>
                  <a:srgbClr val="21295C"/>
                </a:solidFill>
                <a:latin typeface="DejaVu Sans"/>
              </a:rPr>
              <a:t>Claude Code blocks edits whose working directory is outside the assigned folder: a neighboring session cannot be touched even by mistake.</a:t>
            </a:r>
          </a:p>
        </p:txBody>
      </p:sp>
      <p:sp>
        <p:nvSpPr>
          <p:cNvPr id="58" name="Rounded Rectangle 57"/>
          <p:cNvSpPr/>
          <p:nvPr/>
        </p:nvSpPr>
        <p:spPr>
          <a:xfrm>
            <a:off x="7772400" y="3950208"/>
            <a:ext cx="3931920" cy="1097280"/>
          </a:xfrm>
          <a:prstGeom prst="roundRect">
            <a:avLst>
              <a:gd name="adj" fmla="val 7000"/>
            </a:avLst>
          </a:prstGeom>
          <a:solidFill>
            <a:srgbClr val="E5EAF0"/>
          </a:solidFill>
          <a:ln w="11430">
            <a:solidFill>
              <a:srgbClr val="5B66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918704" y="4041648"/>
            <a:ext cx="3639312" cy="201168"/>
          </a:xfrm>
          <a:prstGeom prst="rect">
            <a:avLst/>
          </a:prstGeom>
          <a:noFill/>
        </p:spPr>
        <p:txBody>
          <a:bodyPr wrap="square" lIns="0" rIns="0" tIns="0" bIns="0" anchor="t">
            <a:spAutoFit/>
          </a:bodyPr>
          <a:lstStyle/>
          <a:p>
            <a:pPr algn="l">
              <a:lnSpc>
                <a:spcPct val="115000"/>
              </a:lnSpc>
            </a:pPr>
            <a:r>
              <a:rPr sz="1050" b="1" i="0">
                <a:solidFill>
                  <a:srgbClr val="5B6678"/>
                </a:solidFill>
                <a:latin typeface="DejaVu Sans"/>
              </a:rPr>
              <a:t>The boundary: a shared .git is a shared lock</a:t>
            </a:r>
          </a:p>
        </p:txBody>
      </p:sp>
      <p:sp>
        <p:nvSpPr>
          <p:cNvPr id="60" name="TextBox 59"/>
          <p:cNvSpPr txBox="1"/>
          <p:nvPr/>
        </p:nvSpPr>
        <p:spPr>
          <a:xfrm>
            <a:off x="7918704" y="4279392"/>
            <a:ext cx="3639312" cy="658368"/>
          </a:xfrm>
          <a:prstGeom prst="rect">
            <a:avLst/>
          </a:prstGeom>
          <a:noFill/>
        </p:spPr>
        <p:txBody>
          <a:bodyPr wrap="square" lIns="0" rIns="0" tIns="0" bIns="0" anchor="t">
            <a:spAutoFit/>
          </a:bodyPr>
          <a:lstStyle/>
          <a:p>
            <a:pPr algn="l">
              <a:lnSpc>
                <a:spcPct val="112000"/>
              </a:lnSpc>
            </a:pPr>
            <a:r>
              <a:rPr sz="950" b="0" i="1">
                <a:solidFill>
                  <a:srgbClr val="5B6678"/>
                </a:solidFill>
                <a:latin typeface="DejaVu Sans"/>
              </a:rPr>
              <a:t>The files are separated, but .git is one for everyone: 8 of 13 parallel agents lost unsaved work on the .git/index.lock. At 5 sessions — occasionally; at 10+ — almost certainly.</a:t>
            </a:r>
          </a:p>
        </p:txBody>
      </p:sp>
      <p:sp>
        <p:nvSpPr>
          <p:cNvPr id="61" name="Rounded Rectangle 60"/>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worktree mechanic is older than any AI agent; what is new is only the frequency: parallel sessions make a shared folder an expensive mistake every day.</a:t>
            </a:r>
          </a:p>
        </p:txBody>
      </p:sp>
      <p:sp>
        <p:nvSpPr>
          <p:cNvPr id="63" name="TextBox 62"/>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00" b="1" i="1">
                <a:solidFill>
                  <a:srgbClr val="065A82"/>
                </a:solidFill>
                <a:latin typeface="DejaVu Sans"/>
              </a:rPr>
              <a:t>[1] </a:t>
            </a:r>
            <a:r>
              <a:rPr sz="800" i="1">
                <a:solidFill>
                  <a:srgbClr val="1C7293"/>
                </a:solidFill>
                <a:latin typeface="DejaVu Sans"/>
                <a:hlinkClick r:id="rId7"/>
              </a:rPr>
              <a:t>Git — worktree documentation</a:t>
            </a:r>
            <a:r>
              <a:rPr sz="800" i="1">
                <a:solidFill>
                  <a:srgbClr val="1C7293"/>
                </a:solidFill>
                <a:latin typeface="DejaVu Sans"/>
              </a:rPr>
              <a:t>   ·   </a:t>
            </a:r>
            <a:r>
              <a:rPr sz="800" b="1" i="1">
                <a:solidFill>
                  <a:srgbClr val="065A82"/>
                </a:solidFill>
                <a:latin typeface="DejaVu Sans"/>
              </a:rPr>
              <a:t>[2] </a:t>
            </a:r>
            <a:r>
              <a:rPr sz="800" i="1">
                <a:solidFill>
                  <a:srgbClr val="1C7293"/>
                </a:solidFill>
                <a:latin typeface="DejaVu Sans"/>
                <a:hlinkClick r:id="rId8"/>
              </a:rPr>
              <a:t>Claude Code — docs, best practices</a:t>
            </a:r>
            <a:r>
              <a:rPr sz="800" i="1">
                <a:solidFill>
                  <a:srgbClr val="1C7293"/>
                </a:solidFill>
                <a:latin typeface="DejaVu Sans"/>
              </a:rPr>
              <a:t>   ·   </a:t>
            </a:r>
            <a:r>
              <a:rPr sz="800" b="1" i="1">
                <a:solidFill>
                  <a:srgbClr val="065A82"/>
                </a:solidFill>
                <a:latin typeface="DejaVu Sans"/>
              </a:rPr>
              <a:t>[3] </a:t>
            </a:r>
            <a:r>
              <a:rPr sz="800" i="1">
                <a:solidFill>
                  <a:srgbClr val="1C7293"/>
                </a:solidFill>
                <a:latin typeface="DejaVu Sans"/>
                <a:hlinkClick r:id="rId9"/>
              </a:rPr>
              <a:t>claude-code #60295 — branch swap</a:t>
            </a:r>
            <a:r>
              <a:rPr sz="800" i="1">
                <a:solidFill>
                  <a:srgbClr val="1C7293"/>
                </a:solidFill>
                <a:latin typeface="DejaVu Sans"/>
              </a:rPr>
              <a:t>   ·   </a:t>
            </a:r>
            <a:r>
              <a:rPr sz="800" b="1" i="1">
                <a:solidFill>
                  <a:srgbClr val="065A82"/>
                </a:solidFill>
                <a:latin typeface="DejaVu Sans"/>
              </a:rPr>
              <a:t>[4] </a:t>
            </a:r>
            <a:r>
              <a:rPr sz="800" i="1">
                <a:solidFill>
                  <a:srgbClr val="1C7293"/>
                </a:solidFill>
                <a:latin typeface="DejaVu Sans"/>
                <a:hlinkClick r:id="rId10"/>
              </a:rPr>
              <a:t>claude-code #55724 — the .git lock</a:t>
            </a:r>
          </a:p>
        </p:txBody>
      </p:sp>
      <p:sp>
        <p:nvSpPr>
          <p:cNvPr id="64" name="TextBox 6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32 / 58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The 70% problem: AI speeds up the first 70%, but not the last 30% — understanding</a:t>
            </a:r>
          </a:p>
        </p:txBody>
      </p:sp>
      <p:sp>
        <p:nvSpPr>
          <p:cNvPr id="3" name="Rounded Rectangle 2"/>
          <p:cNvSpPr/>
          <p:nvPr/>
        </p:nvSpPr>
        <p:spPr>
          <a:xfrm>
            <a:off x="502920" y="1389888"/>
            <a:ext cx="553212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810512"/>
            <a:ext cx="3488436" cy="640080"/>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265676" y="1810512"/>
            <a:ext cx="1495044" cy="64008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56816"/>
            <a:ext cx="3488436" cy="365760"/>
          </a:xfrm>
          <a:prstGeom prst="rect">
            <a:avLst/>
          </a:prstGeom>
          <a:noFill/>
        </p:spPr>
        <p:txBody>
          <a:bodyPr wrap="square" lIns="0" rIns="0" tIns="0" bIns="0" anchor="ctr">
            <a:spAutoFit/>
          </a:bodyPr>
          <a:lstStyle/>
          <a:p>
            <a:pPr algn="ctr">
              <a:lnSpc>
                <a:spcPct val="115000"/>
              </a:lnSpc>
            </a:pPr>
            <a:r>
              <a:rPr sz="1100" b="1" i="0">
                <a:solidFill>
                  <a:srgbClr val="FFFFFF"/>
                </a:solidFill>
                <a:latin typeface="DejaVu Sans"/>
              </a:rPr>
              <a:t>first ~70% — fast, cheap</a:t>
            </a:r>
          </a:p>
        </p:txBody>
      </p:sp>
      <p:sp>
        <p:nvSpPr>
          <p:cNvPr id="7" name="TextBox 6"/>
          <p:cNvSpPr txBox="1"/>
          <p:nvPr/>
        </p:nvSpPr>
        <p:spPr>
          <a:xfrm>
            <a:off x="4265676" y="1901952"/>
            <a:ext cx="1495044" cy="457200"/>
          </a:xfrm>
          <a:prstGeom prst="rect">
            <a:avLst/>
          </a:prstGeom>
          <a:noFill/>
        </p:spPr>
        <p:txBody>
          <a:bodyPr wrap="square" lIns="0" rIns="0" tIns="0" bIns="0" anchor="ctr">
            <a:spAutoFit/>
          </a:bodyPr>
          <a:lstStyle/>
          <a:p>
            <a:pPr algn="ctr">
              <a:lnSpc>
                <a:spcPct val="115000"/>
              </a:lnSpc>
            </a:pPr>
            <a:r>
              <a:rPr sz="1000" b="1" i="0">
                <a:solidFill>
                  <a:srgbClr val="21295C"/>
                </a:solidFill>
                <a:latin typeface="DejaVu Sans"/>
              </a:rPr>
              <a:t>last 20-30%</a:t>
            </a:r>
          </a:p>
        </p:txBody>
      </p:sp>
      <p:sp>
        <p:nvSpPr>
          <p:cNvPr id="8" name="TextBox 7"/>
          <p:cNvSpPr txBox="1"/>
          <p:nvPr/>
        </p:nvSpPr>
        <p:spPr>
          <a:xfrm>
            <a:off x="777240" y="2542032"/>
            <a:ext cx="4983480" cy="822960"/>
          </a:xfrm>
          <a:prstGeom prst="rect">
            <a:avLst/>
          </a:prstGeom>
          <a:noFill/>
        </p:spPr>
        <p:txBody>
          <a:bodyPr wrap="square" lIns="0" rIns="0" tIns="0" bIns="0" anchor="t">
            <a:spAutoFit/>
          </a:bodyPr>
          <a:lstStyle/>
          <a:p>
            <a:pPr algn="l">
              <a:lnSpc>
                <a:spcPct val="114000"/>
              </a:lnSpc>
            </a:pPr>
            <a:r>
              <a:rPr sz="1050" b="0" i="0">
                <a:solidFill>
                  <a:srgbClr val="21295C"/>
                </a:solidFill>
                <a:latin typeface="DejaVu Sans"/>
              </a:rPr>
              <a:t>The last 20-30% — edge cases, error handling, security, integration, behavior under load — stay just as hard and require senior oversight. The gap is structural: the system's specifics are absent from the training data.</a:t>
            </a:r>
          </a:p>
        </p:txBody>
      </p:sp>
      <p:sp>
        <p:nvSpPr>
          <p:cNvPr id="9" name="Rounded Rectangle 8"/>
          <p:cNvSpPr/>
          <p:nvPr/>
        </p:nvSpPr>
        <p:spPr>
          <a:xfrm>
            <a:off x="777240" y="3529584"/>
            <a:ext cx="4983480" cy="1316736"/>
          </a:xfrm>
          <a:prstGeom prst="roundRect">
            <a:avLst>
              <a:gd name="adj" fmla="val 5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621024"/>
            <a:ext cx="4581144" cy="1170432"/>
          </a:xfrm>
          <a:prstGeom prst="rect">
            <a:avLst/>
          </a:prstGeom>
          <a:noFill/>
        </p:spPr>
        <p:txBody>
          <a:bodyPr wrap="square" lIns="0" rIns="0" tIns="0" bIns="0" anchor="ctr">
            <a:spAutoFit/>
          </a:bodyPr>
          <a:lstStyle/>
          <a:p>
            <a:pPr algn="l">
              <a:lnSpc>
                <a:spcPct val="116000"/>
              </a:lnSpc>
            </a:pPr>
            <a:r>
              <a:rPr sz="1100" b="1" i="0">
                <a:solidFill>
                  <a:srgbClr val="21295C"/>
                </a:solidFill>
                <a:latin typeface="DejaVu Sans"/>
              </a:rPr>
              <a:t>'Almost right' code is costlier than obviously wrong code: it passes a quick glance and breaks on an edge case. Work shifts from writing to debugging someone else's plausible logic.</a:t>
            </a:r>
          </a:p>
        </p:txBody>
      </p:sp>
      <p:sp>
        <p:nvSpPr>
          <p:cNvPr id="11" name="Rounded Rectangle 10"/>
          <p:cNvSpPr/>
          <p:nvPr/>
        </p:nvSpPr>
        <p:spPr>
          <a:xfrm>
            <a:off x="6263640" y="1353312"/>
            <a:ext cx="5440680" cy="1042415"/>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3096" y="1426464"/>
            <a:ext cx="5001768" cy="274320"/>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Stack Overflow 2025: 66%</a:t>
            </a:r>
          </a:p>
        </p:txBody>
      </p:sp>
      <p:sp>
        <p:nvSpPr>
          <p:cNvPr id="13" name="TextBox 12"/>
          <p:cNvSpPr txBox="1"/>
          <p:nvPr/>
        </p:nvSpPr>
        <p:spPr>
          <a:xfrm>
            <a:off x="6483096" y="1719072"/>
            <a:ext cx="5001768" cy="694944"/>
          </a:xfrm>
          <a:prstGeom prst="rect">
            <a:avLst/>
          </a:prstGeom>
          <a:noFill/>
        </p:spPr>
        <p:txBody>
          <a:bodyPr wrap="square" lIns="0" rIns="0" tIns="0" bIns="0" anchor="t">
            <a:spAutoFit/>
          </a:bodyPr>
          <a:lstStyle/>
          <a:p>
            <a:pPr algn="l">
              <a:lnSpc>
                <a:spcPct val="110000"/>
              </a:lnSpc>
            </a:pPr>
            <a:r>
              <a:rPr sz="1000" b="0" i="0">
                <a:solidFill>
                  <a:srgbClr val="21295C"/>
                </a:solidFill>
                <a:latin typeface="DejaVu Sans"/>
              </a:rPr>
              <a:t>of developers named their top frustration 'solutions that are almost right, but not quite'.</a:t>
            </a:r>
          </a:p>
        </p:txBody>
      </p:sp>
      <p:sp>
        <p:nvSpPr>
          <p:cNvPr id="14" name="Rounded Rectangle 13"/>
          <p:cNvSpPr/>
          <p:nvPr/>
        </p:nvSpPr>
        <p:spPr>
          <a:xfrm>
            <a:off x="6263640" y="2487168"/>
            <a:ext cx="5440680" cy="1481328"/>
          </a:xfrm>
          <a:prstGeom prst="roundRect">
            <a:avLst>
              <a:gd name="adj" fmla="val 2057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3096" y="2560320"/>
            <a:ext cx="5001768" cy="274320"/>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GitClear · two independent measurements </a:t>
            </a:r>
            <a:r>
              <a:rPr sz="624" baseline="30000" b="0" i="1">
                <a:latin typeface="DejaVu Sans"/>
                <a:cs typeface="DejaVu Sans"/>
                <a:ea typeface="DejaVu Sans"/>
                <a:solidFill>
                  <a:srgbClr val="1C7293"/>
                </a:solidFill>
              </a:rPr>
              <a:t>[2]</a:t>
            </a:r>
          </a:p>
        </p:txBody>
      </p:sp>
      <p:sp>
        <p:nvSpPr>
          <p:cNvPr id="16" name="TextBox 15"/>
          <p:cNvSpPr txBox="1"/>
          <p:nvPr/>
        </p:nvSpPr>
        <p:spPr>
          <a:xfrm>
            <a:off x="6483096" y="2852927"/>
            <a:ext cx="5001768" cy="1133856"/>
          </a:xfrm>
          <a:prstGeom prst="rect">
            <a:avLst/>
          </a:prstGeom>
          <a:noFill/>
        </p:spPr>
        <p:txBody>
          <a:bodyPr wrap="square" lIns="0" rIns="0" tIns="0" bIns="0" anchor="t">
            <a:spAutoFit/>
          </a:bodyPr>
          <a:lstStyle/>
          <a:p>
            <a:pPr algn="l">
              <a:lnSpc>
                <a:spcPct val="110000"/>
              </a:lnSpc>
            </a:pPr>
            <a:r>
              <a:rPr sz="1000" b="0" i="0">
                <a:solidFill>
                  <a:srgbClr val="21295C"/>
                </a:solidFill>
                <a:latin typeface="DejaVu Sans"/>
              </a:rPr>
              <a:t>211M lines (2020-24): clones 8.3→12.3%, refactoring ~25→&lt;10%, churn 3.3→5.7%.</a:t>
            </a:r>
          </a:p>
          <a:p>
            <a:pPr algn="l">
              <a:lnSpc>
                <a:spcPct val="110000"/>
              </a:lnSpc>
            </a:pPr>
            <a:r>
              <a:rPr sz="1000" b="0" i="0">
                <a:solidFill>
                  <a:srgbClr val="21295C"/>
                </a:solidFill>
                <a:latin typeface="DejaVu Sans"/>
              </a:rPr>
              <a:t>623M changes (2023-26): refactoring 21→3.8% (-70%), duplicates 40.3→73.0 per M lines (+81%), churn +15%.</a:t>
            </a:r>
          </a:p>
          <a:p>
            <a:pPr algn="l">
              <a:lnSpc>
                <a:spcPct val="110000"/>
              </a:lnSpc>
            </a:pPr>
            <a:r>
              <a:rPr sz="1000" b="0" i="0">
                <a:solidFill>
                  <a:srgbClr val="21295C"/>
                </a:solidFill>
                <a:latin typeface="DejaVu Sans"/>
              </a:rPr>
              <a:t>(Both are correlation, not an RCT.)</a:t>
            </a:r>
          </a:p>
        </p:txBody>
      </p:sp>
      <p:sp>
        <p:nvSpPr>
          <p:cNvPr id="17" name="Rounded Rectangle 16"/>
          <p:cNvSpPr/>
          <p:nvPr/>
        </p:nvSpPr>
        <p:spPr>
          <a:xfrm>
            <a:off x="6263640" y="4059935"/>
            <a:ext cx="5440680" cy="950976"/>
          </a:xfrm>
          <a:prstGeom prst="roundRect">
            <a:avLst>
              <a:gd name="adj" fmla="val 22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4133087"/>
            <a:ext cx="5001768" cy="274320"/>
          </a:xfrm>
          <a:prstGeom prst="rect">
            <a:avLst/>
          </a:prstGeom>
          <a:noFill/>
        </p:spPr>
        <p:txBody>
          <a:bodyPr wrap="square" lIns="0" rIns="0" tIns="0" bIns="0" anchor="t">
            <a:spAutoFit/>
          </a:bodyPr>
          <a:lstStyle/>
          <a:p>
            <a:pPr algn="l">
              <a:lnSpc>
                <a:spcPct val="115000"/>
              </a:lnSpc>
            </a:pPr>
            <a:r>
              <a:rPr sz="1200" b="1" i="0">
                <a:solidFill>
                  <a:srgbClr val="065A82"/>
                </a:solidFill>
                <a:latin typeface="DejaVu Sans"/>
              </a:rPr>
              <a:t>The knowledge paradox (Osmani) </a:t>
            </a:r>
            <a:r>
              <a:rPr sz="624" baseline="30000" b="0" i="1">
                <a:latin typeface="DejaVu Sans"/>
                <a:cs typeface="DejaVu Sans"/>
                <a:ea typeface="DejaVu Sans"/>
                <a:solidFill>
                  <a:srgbClr val="1C7293"/>
                </a:solidFill>
              </a:rPr>
              <a:t>[1]</a:t>
            </a:r>
          </a:p>
        </p:txBody>
      </p:sp>
      <p:sp>
        <p:nvSpPr>
          <p:cNvPr id="19" name="TextBox 18"/>
          <p:cNvSpPr txBox="1"/>
          <p:nvPr/>
        </p:nvSpPr>
        <p:spPr>
          <a:xfrm>
            <a:off x="6483096" y="4425696"/>
            <a:ext cx="5001768" cy="603503"/>
          </a:xfrm>
          <a:prstGeom prst="rect">
            <a:avLst/>
          </a:prstGeom>
          <a:noFill/>
        </p:spPr>
        <p:txBody>
          <a:bodyPr wrap="square" lIns="0" rIns="0" tIns="0" bIns="0" anchor="t">
            <a:spAutoFit/>
          </a:bodyPr>
          <a:lstStyle/>
          <a:p>
            <a:pPr algn="l">
              <a:lnSpc>
                <a:spcPct val="110000"/>
              </a:lnSpc>
            </a:pPr>
            <a:r>
              <a:rPr sz="1000" b="0" i="0">
                <a:solidFill>
                  <a:srgbClr val="21295C"/>
                </a:solidFill>
                <a:latin typeface="DejaVu Sans"/>
              </a:rPr>
              <a:t>seniors challenge the AI's output, juniors accept it ('a house of cards') — AI amplifies the experienced more.</a:t>
            </a:r>
          </a:p>
        </p:txBody>
      </p:sp>
      <p:sp>
        <p:nvSpPr>
          <p:cNvPr id="20" name="Rounded Rectangle 19"/>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alternative — small verifiable units + a harness + reading the diff before accept; duplication and churn metrics in CI as a gate. Merge is always the human.</a:t>
            </a:r>
          </a:p>
        </p:txBody>
      </p:sp>
      <p:pic>
        <p:nvPicPr>
          <p:cNvPr id="22" name="Picture 21" descr="band-hide-the-pain-harold-merged-en.png"/>
          <p:cNvPicPr>
            <a:picLocks noChangeAspect="1"/>
          </p:cNvPicPr>
          <p:nvPr/>
        </p:nvPicPr>
        <p:blipFill>
          <a:blip r:embed="rId2"/>
          <a:stretch>
            <a:fillRect/>
          </a:stretch>
        </p:blipFill>
        <p:spPr>
          <a:xfrm>
            <a:off x="7827264" y="5852160"/>
            <a:ext cx="3877056" cy="585216"/>
          </a:xfrm>
          <a:prstGeom prst="rect">
            <a:avLst/>
          </a:prstGeom>
        </p:spPr>
      </p:pic>
      <p:sp>
        <p:nvSpPr>
          <p:cNvPr id="23" name="TextBox 22"/>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3"/>
              </a:rPr>
              <a:t>Osmani — The 70% Problem</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4"/>
              </a:rPr>
              <a:t>GitClear — AI code quality 2025 (211M lines)</a:t>
            </a:r>
          </a:p>
        </p:txBody>
      </p:sp>
      <p:sp>
        <p:nvSpPr>
          <p:cNvPr id="24" name="TextBox 23"/>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33 / 58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818120" y="182880"/>
            <a:ext cx="4114800" cy="5303520"/>
          </a:xfrm>
          <a:prstGeom prst="rect">
            <a:avLst/>
          </a:prstGeom>
          <a:noFill/>
        </p:spPr>
        <p:txBody>
          <a:bodyPr wrap="square" lIns="0" rIns="0" tIns="0" bIns="0" anchor="ctr">
            <a:spAutoFit/>
          </a:bodyPr>
          <a:lstStyle/>
          <a:p>
            <a:pPr algn="ctr">
              <a:lnSpc>
                <a:spcPct val="100000"/>
              </a:lnSpc>
            </a:pPr>
            <a:r>
              <a:rPr sz="40000" b="1" i="0">
                <a:solidFill>
                  <a:srgbClr val="D9E2EC"/>
                </a:solidFill>
                <a:latin typeface="DejaVu Sans"/>
              </a:rPr>
              <a:t>4</a:t>
            </a:r>
          </a:p>
        </p:txBody>
      </p:sp>
      <p:sp>
        <p:nvSpPr>
          <p:cNvPr id="3" name="TextBox 2"/>
          <p:cNvSpPr txBox="1"/>
          <p:nvPr/>
        </p:nvSpPr>
        <p:spPr>
          <a:xfrm>
            <a:off x="685800" y="1417320"/>
            <a:ext cx="6858000" cy="502920"/>
          </a:xfrm>
          <a:prstGeom prst="rect">
            <a:avLst/>
          </a:prstGeom>
          <a:noFill/>
        </p:spPr>
        <p:txBody>
          <a:bodyPr wrap="square" lIns="0" rIns="0" tIns="0" bIns="0" anchor="t">
            <a:spAutoFit/>
          </a:bodyPr>
          <a:lstStyle/>
          <a:p>
            <a:pPr algn="l">
              <a:lnSpc>
                <a:spcPct val="115000"/>
              </a:lnSpc>
            </a:pPr>
            <a:r>
              <a:rPr sz="2000" b="1" i="0">
                <a:solidFill>
                  <a:srgbClr val="028090"/>
                </a:solidFill>
                <a:latin typeface="DejaVu Sans"/>
              </a:rPr>
              <a:t>SECTION 4</a:t>
            </a:r>
          </a:p>
        </p:txBody>
      </p:sp>
      <p:sp>
        <p:nvSpPr>
          <p:cNvPr id="4" name="Rectangle 3"/>
          <p:cNvSpPr/>
          <p:nvPr/>
        </p:nvSpPr>
        <p:spPr>
          <a:xfrm>
            <a:off x="713232" y="1993392"/>
            <a:ext cx="640080"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331720"/>
            <a:ext cx="7040880" cy="1600200"/>
          </a:xfrm>
          <a:prstGeom prst="rect">
            <a:avLst/>
          </a:prstGeom>
          <a:noFill/>
        </p:spPr>
        <p:txBody>
          <a:bodyPr wrap="square" lIns="0" rIns="0" tIns="0" bIns="0" anchor="t">
            <a:spAutoFit/>
          </a:bodyPr>
          <a:lstStyle/>
          <a:p>
            <a:pPr algn="l">
              <a:lnSpc>
                <a:spcPct val="108000"/>
              </a:lnSpc>
            </a:pPr>
            <a:r>
              <a:rPr sz="3200" b="1" i="0">
                <a:solidFill>
                  <a:srgbClr val="21295C"/>
                </a:solidFill>
                <a:latin typeface="DejaVu Sans"/>
              </a:rPr>
              <a:t>Testing — TDD as a discipline</a:t>
            </a:r>
          </a:p>
        </p:txBody>
      </p:sp>
      <p:sp>
        <p:nvSpPr>
          <p:cNvPr id="6" name="TextBox 5"/>
          <p:cNvSpPr txBox="1"/>
          <p:nvPr/>
        </p:nvSpPr>
        <p:spPr>
          <a:xfrm>
            <a:off x="713232" y="4069080"/>
            <a:ext cx="6995160" cy="1691640"/>
          </a:xfrm>
          <a:prstGeom prst="rect">
            <a:avLst/>
          </a:prstGeom>
          <a:noFill/>
        </p:spPr>
        <p:txBody>
          <a:bodyPr wrap="square" lIns="0" rIns="0" tIns="0" bIns="0" anchor="t">
            <a:spAutoFit/>
          </a:bodyPr>
          <a:lstStyle/>
          <a:p>
            <a:pPr algn="l">
              <a:lnSpc>
                <a:spcPct val="118000"/>
              </a:lnSpc>
            </a:pPr>
            <a:r>
              <a:rPr sz="1550" b="0" i="1">
                <a:solidFill>
                  <a:srgbClr val="1C7293"/>
                </a:solidFill>
                <a:latin typeface="DejaVu Sans"/>
              </a:rPr>
              <a:t>Implementation produces code — testing produces a verified claim about its correctness. TDD discipline leads here: the test is an executable specification, subject to neither the "almost right" nor the perception gap.</a:t>
            </a:r>
          </a:p>
        </p:txBody>
      </p:sp>
      <p:sp>
        <p:nvSpPr>
          <p:cNvPr id="7" name="Rounded Rectangle 6"/>
          <p:cNvSpPr/>
          <p:nvPr/>
        </p:nvSpPr>
        <p:spPr>
          <a:xfrm>
            <a:off x="50292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0</a:t>
            </a:r>
          </a:p>
        </p:txBody>
      </p:sp>
      <p:sp>
        <p:nvSpPr>
          <p:cNvPr id="9" name="TextBox 8"/>
          <p:cNvSpPr txBox="1"/>
          <p:nvPr/>
        </p:nvSpPr>
        <p:spPr>
          <a:xfrm>
            <a:off x="53035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Intro</a:t>
            </a:r>
          </a:p>
        </p:txBody>
      </p:sp>
      <p:sp>
        <p:nvSpPr>
          <p:cNvPr id="10" name="Rounded Rectangle 9"/>
          <p:cNvSpPr/>
          <p:nvPr/>
        </p:nvSpPr>
        <p:spPr>
          <a:xfrm>
            <a:off x="191452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41956"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1</a:t>
            </a:r>
          </a:p>
        </p:txBody>
      </p:sp>
      <p:sp>
        <p:nvSpPr>
          <p:cNvPr id="12" name="TextBox 11"/>
          <p:cNvSpPr txBox="1"/>
          <p:nvPr/>
        </p:nvSpPr>
        <p:spPr>
          <a:xfrm>
            <a:off x="1941956"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Requirements</a:t>
            </a:r>
          </a:p>
        </p:txBody>
      </p:sp>
      <p:sp>
        <p:nvSpPr>
          <p:cNvPr id="13" name="Rounded Rectangle 12"/>
          <p:cNvSpPr/>
          <p:nvPr/>
        </p:nvSpPr>
        <p:spPr>
          <a:xfrm>
            <a:off x="332613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356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2</a:t>
            </a:r>
          </a:p>
        </p:txBody>
      </p:sp>
      <p:sp>
        <p:nvSpPr>
          <p:cNvPr id="15" name="TextBox 14"/>
          <p:cNvSpPr txBox="1"/>
          <p:nvPr/>
        </p:nvSpPr>
        <p:spPr>
          <a:xfrm>
            <a:off x="335356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Architecture</a:t>
            </a:r>
          </a:p>
        </p:txBody>
      </p:sp>
      <p:sp>
        <p:nvSpPr>
          <p:cNvPr id="16" name="Rounded Rectangle 15"/>
          <p:cNvSpPr/>
          <p:nvPr/>
        </p:nvSpPr>
        <p:spPr>
          <a:xfrm>
            <a:off x="473773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516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3</a:t>
            </a:r>
          </a:p>
        </p:txBody>
      </p:sp>
      <p:sp>
        <p:nvSpPr>
          <p:cNvPr id="18" name="TextBox 17"/>
          <p:cNvSpPr txBox="1"/>
          <p:nvPr/>
        </p:nvSpPr>
        <p:spPr>
          <a:xfrm>
            <a:off x="476516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Implementation</a:t>
            </a:r>
          </a:p>
        </p:txBody>
      </p:sp>
      <p:sp>
        <p:nvSpPr>
          <p:cNvPr id="19" name="Rounded Rectangle 18"/>
          <p:cNvSpPr/>
          <p:nvPr/>
        </p:nvSpPr>
        <p:spPr>
          <a:xfrm>
            <a:off x="6149340" y="5989320"/>
            <a:ext cx="1320165" cy="530352"/>
          </a:xfrm>
          <a:prstGeom prst="roundRect">
            <a:avLst>
              <a:gd name="adj" fmla="val 12000"/>
            </a:avLst>
          </a:prstGeom>
          <a:solidFill>
            <a:srgbClr val="FDF3DC"/>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76772" y="6053328"/>
            <a:ext cx="1265301" cy="182880"/>
          </a:xfrm>
          <a:prstGeom prst="rect">
            <a:avLst/>
          </a:prstGeom>
          <a:noFill/>
        </p:spPr>
        <p:txBody>
          <a:bodyPr wrap="square" lIns="0" rIns="0" tIns="0" bIns="0" anchor="t">
            <a:spAutoFit/>
          </a:bodyPr>
          <a:lstStyle/>
          <a:p>
            <a:pPr algn="ctr">
              <a:lnSpc>
                <a:spcPct val="115000"/>
              </a:lnSpc>
            </a:pPr>
            <a:r>
              <a:rPr sz="1100" b="1" i="0">
                <a:solidFill>
                  <a:srgbClr val="21295C"/>
                </a:solidFill>
                <a:latin typeface="DejaVu Sans"/>
              </a:rPr>
              <a:t>4</a:t>
            </a:r>
          </a:p>
        </p:txBody>
      </p:sp>
      <p:sp>
        <p:nvSpPr>
          <p:cNvPr id="21" name="TextBox 20"/>
          <p:cNvSpPr txBox="1"/>
          <p:nvPr/>
        </p:nvSpPr>
        <p:spPr>
          <a:xfrm>
            <a:off x="6176772" y="6254496"/>
            <a:ext cx="1265301" cy="237744"/>
          </a:xfrm>
          <a:prstGeom prst="rect">
            <a:avLst/>
          </a:prstGeom>
          <a:noFill/>
        </p:spPr>
        <p:txBody>
          <a:bodyPr wrap="square" lIns="0" rIns="0" tIns="0" bIns="0" anchor="t">
            <a:spAutoFit/>
          </a:bodyPr>
          <a:lstStyle/>
          <a:p>
            <a:pPr algn="ctr">
              <a:lnSpc>
                <a:spcPct val="95000"/>
              </a:lnSpc>
            </a:pPr>
            <a:r>
              <a:rPr sz="950" b="1" i="0">
                <a:solidFill>
                  <a:srgbClr val="21295C"/>
                </a:solidFill>
                <a:latin typeface="DejaVu Sans"/>
              </a:rPr>
              <a:t>Testing</a:t>
            </a:r>
          </a:p>
        </p:txBody>
      </p:sp>
      <p:sp>
        <p:nvSpPr>
          <p:cNvPr id="22" name="Rounded Rectangle 21"/>
          <p:cNvSpPr/>
          <p:nvPr/>
        </p:nvSpPr>
        <p:spPr>
          <a:xfrm>
            <a:off x="756094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837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5</a:t>
            </a:r>
          </a:p>
        </p:txBody>
      </p:sp>
      <p:sp>
        <p:nvSpPr>
          <p:cNvPr id="24" name="TextBox 23"/>
          <p:cNvSpPr txBox="1"/>
          <p:nvPr/>
        </p:nvSpPr>
        <p:spPr>
          <a:xfrm>
            <a:off x="758837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Review+Sec.</a:t>
            </a:r>
          </a:p>
        </p:txBody>
      </p:sp>
      <p:sp>
        <p:nvSpPr>
          <p:cNvPr id="25" name="Rounded Rectangle 24"/>
          <p:cNvSpPr/>
          <p:nvPr/>
        </p:nvSpPr>
        <p:spPr>
          <a:xfrm>
            <a:off x="8972550"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9982"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6</a:t>
            </a:r>
          </a:p>
        </p:txBody>
      </p:sp>
      <p:sp>
        <p:nvSpPr>
          <p:cNvPr id="27" name="TextBox 26"/>
          <p:cNvSpPr txBox="1"/>
          <p:nvPr/>
        </p:nvSpPr>
        <p:spPr>
          <a:xfrm>
            <a:off x="8999982"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Delivery+</a:t>
            </a:r>
          </a:p>
        </p:txBody>
      </p:sp>
      <p:sp>
        <p:nvSpPr>
          <p:cNvPr id="28" name="Rounded Rectangle 27"/>
          <p:cNvSpPr/>
          <p:nvPr/>
        </p:nvSpPr>
        <p:spPr>
          <a:xfrm>
            <a:off x="10384155" y="5989320"/>
            <a:ext cx="1320165" cy="530352"/>
          </a:xfrm>
          <a:prstGeom prst="roundRect">
            <a:avLst>
              <a:gd name="adj" fmla="val 12000"/>
            </a:avLst>
          </a:prstGeom>
          <a:solidFill>
            <a:srgbClr val="F4F7FA"/>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11587" y="6053328"/>
            <a:ext cx="1265301" cy="182880"/>
          </a:xfrm>
          <a:prstGeom prst="rect">
            <a:avLst/>
          </a:prstGeom>
          <a:noFill/>
        </p:spPr>
        <p:txBody>
          <a:bodyPr wrap="square" lIns="0" rIns="0" tIns="0" bIns="0" anchor="t">
            <a:spAutoFit/>
          </a:bodyPr>
          <a:lstStyle/>
          <a:p>
            <a:pPr algn="ctr">
              <a:lnSpc>
                <a:spcPct val="115000"/>
              </a:lnSpc>
            </a:pPr>
            <a:r>
              <a:rPr sz="1100" b="1" i="0">
                <a:solidFill>
                  <a:srgbClr val="1C7293"/>
                </a:solidFill>
                <a:latin typeface="DejaVu Sans"/>
              </a:rPr>
              <a:t>7</a:t>
            </a:r>
          </a:p>
        </p:txBody>
      </p:sp>
      <p:sp>
        <p:nvSpPr>
          <p:cNvPr id="30" name="TextBox 29"/>
          <p:cNvSpPr txBox="1"/>
          <p:nvPr/>
        </p:nvSpPr>
        <p:spPr>
          <a:xfrm>
            <a:off x="10411587" y="6254496"/>
            <a:ext cx="1265301" cy="237744"/>
          </a:xfrm>
          <a:prstGeom prst="rect">
            <a:avLst/>
          </a:prstGeom>
          <a:noFill/>
        </p:spPr>
        <p:txBody>
          <a:bodyPr wrap="square" lIns="0" rIns="0" tIns="0" bIns="0" anchor="t">
            <a:spAutoFit/>
          </a:bodyPr>
          <a:lstStyle/>
          <a:p>
            <a:pPr algn="ctr">
              <a:lnSpc>
                <a:spcPct val="95000"/>
              </a:lnSpc>
            </a:pPr>
            <a:r>
              <a:rPr sz="950" b="0" i="0">
                <a:solidFill>
                  <a:srgbClr val="5B6678"/>
                </a:solidFill>
                <a:latin typeface="DejaVu Sans"/>
              </a:rPr>
              <a:t>Synthesis</a:t>
            </a:r>
          </a:p>
        </p:txBody>
      </p:sp>
      <p:sp>
        <p:nvSpPr>
          <p:cNvPr id="31" name="TextBox 30"/>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34 / 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247120" cy="749808"/>
          </a:xfrm>
          <a:prstGeom prst="rect">
            <a:avLst/>
          </a:prstGeom>
          <a:noFill/>
        </p:spPr>
        <p:txBody>
          <a:bodyPr wrap="square" lIns="0" rIns="0" tIns="0" bIns="0" anchor="t">
            <a:spAutoFit/>
          </a:bodyPr>
          <a:lstStyle/>
          <a:p>
            <a:pPr algn="l">
              <a:lnSpc>
                <a:spcPct val="110000"/>
              </a:lnSpc>
            </a:pPr>
            <a:r>
              <a:rPr sz="2100" b="1" i="0">
                <a:solidFill>
                  <a:srgbClr val="21295C"/>
                </a:solidFill>
                <a:latin typeface="DejaVu Sans"/>
              </a:rPr>
              <a:t>TDD with a coding agent: not the ritual "test first", but five steps that work</a:t>
            </a:r>
          </a:p>
        </p:txBody>
      </p:sp>
      <p:sp>
        <p:nvSpPr>
          <p:cNvPr id="3" name="Rounded Rectangle 2"/>
          <p:cNvSpPr/>
          <p:nvPr/>
        </p:nvSpPr>
        <p:spPr>
          <a:xfrm>
            <a:off x="502920" y="1280160"/>
            <a:ext cx="4754880" cy="3749039"/>
          </a:xfrm>
          <a:prstGeom prst="roundRect">
            <a:avLst>
              <a:gd name="adj" fmla="val 813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371600"/>
            <a:ext cx="4315968" cy="310896"/>
          </a:xfrm>
          <a:prstGeom prst="rect">
            <a:avLst/>
          </a:prstGeom>
          <a:noFill/>
        </p:spPr>
        <p:txBody>
          <a:bodyPr wrap="square" lIns="0" rIns="0" tIns="0" bIns="0" anchor="t">
            <a:spAutoFit/>
          </a:bodyPr>
          <a:lstStyle/>
          <a:p>
            <a:pPr algn="l">
              <a:lnSpc>
                <a:spcPct val="100000"/>
              </a:lnSpc>
            </a:pPr>
            <a:r>
              <a:rPr sz="1200" b="1" i="0">
                <a:solidFill>
                  <a:srgbClr val="065A82"/>
                </a:solidFill>
                <a:latin typeface="DejaVu Sans"/>
              </a:rPr>
              <a:t>The red-green-refactor cycle (Kent Beck, TDD) </a:t>
            </a:r>
            <a:r>
              <a:rPr sz="624" baseline="30000" b="0" i="1">
                <a:latin typeface="DejaVu Sans"/>
                <a:cs typeface="DejaVu Sans"/>
                <a:ea typeface="DejaVu Sans"/>
                <a:solidFill>
                  <a:srgbClr val="1C7293"/>
                </a:solidFill>
              </a:rPr>
              <a:t>[1]</a:t>
            </a:r>
            <a:r>
              <a:rPr sz="1200" b="1" i="0">
                <a:latin typeface="DejaVu Sans"/>
                <a:cs typeface="DejaVu Sans"/>
                <a:ea typeface="DejaVu Sans"/>
                <a:solidFill>
                  <a:srgbClr val="065A82"/>
                </a:solidFill>
              </a:rPr>
              <a:t> — the human owns the test spec</a:t>
            </a:r>
          </a:p>
        </p:txBody>
      </p:sp>
      <p:sp>
        <p:nvSpPr>
          <p:cNvPr id="5" name="Rounded Rectangle 4"/>
          <p:cNvSpPr/>
          <p:nvPr/>
        </p:nvSpPr>
        <p:spPr>
          <a:xfrm>
            <a:off x="758952" y="1792224"/>
            <a:ext cx="4242816" cy="493776"/>
          </a:xfrm>
          <a:prstGeom prst="roundRect">
            <a:avLst>
              <a:gd name="adj" fmla="val 10000"/>
            </a:avLst>
          </a:prstGeom>
          <a:solidFill>
            <a:srgbClr val="FDF3DC"/>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929384"/>
            <a:ext cx="219456" cy="219456"/>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97864" y="1828800"/>
            <a:ext cx="1463040" cy="420624"/>
          </a:xfrm>
          <a:prstGeom prst="rect">
            <a:avLst/>
          </a:prstGeom>
          <a:noFill/>
        </p:spPr>
        <p:txBody>
          <a:bodyPr wrap="square" lIns="0" rIns="0" tIns="0" bIns="0" anchor="ctr">
            <a:spAutoFit/>
          </a:bodyPr>
          <a:lstStyle/>
          <a:p>
            <a:pPr algn="l">
              <a:lnSpc>
                <a:spcPct val="115000"/>
              </a:lnSpc>
            </a:pPr>
            <a:r>
              <a:rPr sz="1200" b="1" i="0">
                <a:solidFill>
                  <a:srgbClr val="21295C"/>
                </a:solidFill>
                <a:latin typeface="DejaVu Sans Mono"/>
              </a:rPr>
              <a:t>red</a:t>
            </a:r>
          </a:p>
        </p:txBody>
      </p:sp>
      <p:sp>
        <p:nvSpPr>
          <p:cNvPr id="8" name="TextBox 7"/>
          <p:cNvSpPr txBox="1"/>
          <p:nvPr/>
        </p:nvSpPr>
        <p:spPr>
          <a:xfrm>
            <a:off x="2423160" y="1828800"/>
            <a:ext cx="2542032" cy="420624"/>
          </a:xfrm>
          <a:prstGeom prst="rect">
            <a:avLst/>
          </a:prstGeom>
          <a:noFill/>
        </p:spPr>
        <p:txBody>
          <a:bodyPr wrap="square" lIns="0" rIns="0" tIns="0" bIns="0" anchor="ctr">
            <a:spAutoFit/>
          </a:bodyPr>
          <a:lstStyle/>
          <a:p>
            <a:pPr algn="l">
              <a:lnSpc>
                <a:spcPct val="115000"/>
              </a:lnSpc>
            </a:pPr>
            <a:r>
              <a:rPr sz="1050" b="0" i="0">
                <a:solidFill>
                  <a:srgbClr val="5B6678"/>
                </a:solidFill>
                <a:latin typeface="DejaVu Sans"/>
              </a:rPr>
              <a:t>a failing test expresses a requirement</a:t>
            </a:r>
          </a:p>
        </p:txBody>
      </p:sp>
      <p:sp>
        <p:nvSpPr>
          <p:cNvPr id="9" name="Rounded Rectangle 8"/>
          <p:cNvSpPr/>
          <p:nvPr/>
        </p:nvSpPr>
        <p:spPr>
          <a:xfrm>
            <a:off x="758952" y="2377440"/>
            <a:ext cx="4242816" cy="493776"/>
          </a:xfrm>
          <a:prstGeom prst="roundRect">
            <a:avLst>
              <a:gd name="adj" fmla="val 10000"/>
            </a:avLst>
          </a:prstGeom>
          <a:solidFill>
            <a:srgbClr val="F4F7FA"/>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414016"/>
            <a:ext cx="1463040" cy="420624"/>
          </a:xfrm>
          <a:prstGeom prst="rect">
            <a:avLst/>
          </a:prstGeom>
          <a:noFill/>
        </p:spPr>
        <p:txBody>
          <a:bodyPr wrap="square" lIns="0" rIns="0" tIns="0" bIns="0" anchor="ctr">
            <a:spAutoFit/>
          </a:bodyPr>
          <a:lstStyle/>
          <a:p>
            <a:pPr algn="l">
              <a:lnSpc>
                <a:spcPct val="115000"/>
              </a:lnSpc>
            </a:pPr>
            <a:r>
              <a:rPr sz="1200" b="1" i="0">
                <a:solidFill>
                  <a:srgbClr val="21295C"/>
                </a:solidFill>
                <a:latin typeface="DejaVu Sans Mono"/>
              </a:rPr>
              <a:t>green</a:t>
            </a:r>
          </a:p>
        </p:txBody>
      </p:sp>
      <p:sp>
        <p:nvSpPr>
          <p:cNvPr id="11" name="TextBox 10"/>
          <p:cNvSpPr txBox="1"/>
          <p:nvPr/>
        </p:nvSpPr>
        <p:spPr>
          <a:xfrm>
            <a:off x="2423160" y="2414016"/>
            <a:ext cx="2542032" cy="420624"/>
          </a:xfrm>
          <a:prstGeom prst="rect">
            <a:avLst/>
          </a:prstGeom>
          <a:noFill/>
        </p:spPr>
        <p:txBody>
          <a:bodyPr wrap="square" lIns="0" rIns="0" tIns="0" bIns="0" anchor="ctr">
            <a:spAutoFit/>
          </a:bodyPr>
          <a:lstStyle/>
          <a:p>
            <a:pPr algn="l">
              <a:lnSpc>
                <a:spcPct val="115000"/>
              </a:lnSpc>
            </a:pPr>
            <a:r>
              <a:rPr sz="1050" b="0" i="0">
                <a:solidFill>
                  <a:srgbClr val="5B6678"/>
                </a:solidFill>
                <a:latin typeface="DejaVu Sans"/>
              </a:rPr>
              <a:t>the code that makes it pass</a:t>
            </a:r>
          </a:p>
        </p:txBody>
      </p:sp>
      <p:sp>
        <p:nvSpPr>
          <p:cNvPr id="12" name="Rounded Rectangle 11"/>
          <p:cNvSpPr/>
          <p:nvPr/>
        </p:nvSpPr>
        <p:spPr>
          <a:xfrm>
            <a:off x="758952" y="2962656"/>
            <a:ext cx="4242816" cy="493776"/>
          </a:xfrm>
          <a:prstGeom prst="roundRect">
            <a:avLst>
              <a:gd name="adj" fmla="val 10000"/>
            </a:avLst>
          </a:prstGeom>
          <a:solidFill>
            <a:srgbClr val="F4F7FA"/>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999232"/>
            <a:ext cx="1463040" cy="420624"/>
          </a:xfrm>
          <a:prstGeom prst="rect">
            <a:avLst/>
          </a:prstGeom>
          <a:noFill/>
        </p:spPr>
        <p:txBody>
          <a:bodyPr wrap="square" lIns="0" rIns="0" tIns="0" bIns="0" anchor="ctr">
            <a:spAutoFit/>
          </a:bodyPr>
          <a:lstStyle/>
          <a:p>
            <a:pPr algn="l">
              <a:lnSpc>
                <a:spcPct val="115000"/>
              </a:lnSpc>
            </a:pPr>
            <a:r>
              <a:rPr sz="1200" b="1" i="0">
                <a:solidFill>
                  <a:srgbClr val="21295C"/>
                </a:solidFill>
                <a:latin typeface="DejaVu Sans Mono"/>
              </a:rPr>
              <a:t>refactor</a:t>
            </a:r>
          </a:p>
        </p:txBody>
      </p:sp>
      <p:sp>
        <p:nvSpPr>
          <p:cNvPr id="14" name="TextBox 13"/>
          <p:cNvSpPr txBox="1"/>
          <p:nvPr/>
        </p:nvSpPr>
        <p:spPr>
          <a:xfrm>
            <a:off x="2423160" y="2999232"/>
            <a:ext cx="2542032" cy="420624"/>
          </a:xfrm>
          <a:prstGeom prst="rect">
            <a:avLst/>
          </a:prstGeom>
          <a:noFill/>
        </p:spPr>
        <p:txBody>
          <a:bodyPr wrap="square" lIns="0" rIns="0" tIns="0" bIns="0" anchor="ctr">
            <a:spAutoFit/>
          </a:bodyPr>
          <a:lstStyle/>
          <a:p>
            <a:pPr algn="l">
              <a:lnSpc>
                <a:spcPct val="115000"/>
              </a:lnSpc>
            </a:pPr>
            <a:r>
              <a:rPr sz="1050" b="0" i="0">
                <a:solidFill>
                  <a:srgbClr val="5B6678"/>
                </a:solidFill>
                <a:latin typeface="DejaVu Sans"/>
              </a:rPr>
              <a:t>improve while keeping it green</a:t>
            </a:r>
          </a:p>
        </p:txBody>
      </p:sp>
      <p:sp>
        <p:nvSpPr>
          <p:cNvPr id="15" name="TextBox 14"/>
          <p:cNvSpPr txBox="1"/>
          <p:nvPr/>
        </p:nvSpPr>
        <p:spPr>
          <a:xfrm>
            <a:off x="758952" y="3529584"/>
            <a:ext cx="4242816" cy="164592"/>
          </a:xfrm>
          <a:prstGeom prst="rect">
            <a:avLst/>
          </a:prstGeom>
          <a:noFill/>
        </p:spPr>
        <p:txBody>
          <a:bodyPr wrap="square" lIns="0" rIns="0" tIns="0" bIns="0" anchor="t">
            <a:spAutoFit/>
          </a:bodyPr>
          <a:lstStyle/>
          <a:p>
            <a:pPr algn="ctr">
              <a:lnSpc>
                <a:spcPct val="115000"/>
              </a:lnSpc>
            </a:pPr>
            <a:r>
              <a:rPr sz="1050" b="1" i="1">
                <a:solidFill>
                  <a:srgbClr val="F0AB00"/>
                </a:solidFill>
                <a:latin typeface="DejaVu Sans"/>
              </a:rPr>
              <a:t>↑ repeats</a:t>
            </a:r>
          </a:p>
        </p:txBody>
      </p:sp>
      <p:sp>
        <p:nvSpPr>
          <p:cNvPr id="16" name="Rounded Rectangle 15"/>
          <p:cNvSpPr/>
          <p:nvPr/>
        </p:nvSpPr>
        <p:spPr>
          <a:xfrm>
            <a:off x="758952" y="3785615"/>
            <a:ext cx="4242816" cy="1097280"/>
          </a:xfrm>
          <a:prstGeom prst="roundRect">
            <a:avLst>
              <a:gd name="adj" fmla="val 6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3895344"/>
            <a:ext cx="3913632" cy="896112"/>
          </a:xfrm>
          <a:prstGeom prst="rect">
            <a:avLst/>
          </a:prstGeom>
          <a:noFill/>
        </p:spPr>
        <p:txBody>
          <a:bodyPr wrap="square" lIns="0" rIns="0" tIns="0" bIns="0" anchor="t">
            <a:spAutoFit/>
          </a:bodyPr>
          <a:lstStyle/>
          <a:p>
            <a:pPr algn="l">
              <a:lnSpc>
                <a:spcPct val="115000"/>
              </a:lnSpc>
            </a:pPr>
            <a:r>
              <a:rPr sz="1150" b="1" i="0">
                <a:solidFill>
                  <a:srgbClr val="028090"/>
                </a:solidFill>
                <a:latin typeface="DejaVu Sans"/>
              </a:rPr>
              <a:t>AI writes tests fast</a:t>
            </a:r>
            <a:r>
              <a:rPr sz="1150" b="0" i="0">
                <a:solidFill>
                  <a:srgbClr val="21295C"/>
                </a:solidFill>
                <a:latin typeface="DejaVu Sans"/>
              </a:rPr>
              <a:t> — volume (accidental). </a:t>
            </a:r>
            <a:r>
              <a:rPr sz="1150" b="1" i="0">
                <a:solidFill>
                  <a:srgbClr val="21295C"/>
                </a:solidFill>
                <a:latin typeface="DejaVu Sans"/>
              </a:rPr>
              <a:t>The human decides WHAT the test must assert</a:t>
            </a:r>
            <a:r>
              <a:rPr sz="1150" b="0" i="0">
                <a:solidFill>
                  <a:srgbClr val="21295C"/>
                </a:solidFill>
                <a:latin typeface="DejaVu Sans"/>
              </a:rPr>
              <a:t> — essential.</a:t>
            </a:r>
          </a:p>
        </p:txBody>
      </p:sp>
      <p:sp>
        <p:nvSpPr>
          <p:cNvPr id="18" name="Rounded Rectangle 17"/>
          <p:cNvSpPr/>
          <p:nvPr/>
        </p:nvSpPr>
        <p:spPr>
          <a:xfrm>
            <a:off x="5504688" y="1280160"/>
            <a:ext cx="6199632" cy="932688"/>
          </a:xfrm>
          <a:prstGeom prst="roundRect">
            <a:avLst>
              <a:gd name="adj" fmla="val 6000"/>
            </a:avLst>
          </a:prstGeom>
          <a:solidFill>
            <a:srgbClr val="FDF3DC"/>
          </a:solidFill>
          <a:ln w="2032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05855" y="1335024"/>
            <a:ext cx="5797296" cy="256032"/>
          </a:xfrm>
          <a:prstGeom prst="rect">
            <a:avLst/>
          </a:prstGeom>
          <a:noFill/>
        </p:spPr>
        <p:txBody>
          <a:bodyPr wrap="square" lIns="0" rIns="0" tIns="0" bIns="0" anchor="t">
            <a:spAutoFit/>
          </a:bodyPr>
          <a:lstStyle/>
          <a:p>
            <a:pPr algn="l">
              <a:lnSpc>
                <a:spcPct val="115000"/>
              </a:lnSpc>
            </a:pPr>
            <a:r>
              <a:rPr sz="1200" b="1" i="0">
                <a:solidFill>
                  <a:srgbClr val="21295C"/>
                </a:solidFill>
                <a:latin typeface="DejaVu Sans"/>
              </a:rPr>
              <a:t>What does NOT work: ordering the agent to write tests first</a:t>
            </a:r>
          </a:p>
        </p:txBody>
      </p:sp>
      <p:sp>
        <p:nvSpPr>
          <p:cNvPr id="20" name="TextBox 19"/>
          <p:cNvSpPr txBox="1"/>
          <p:nvPr/>
        </p:nvSpPr>
        <p:spPr>
          <a:xfrm>
            <a:off x="5705855" y="1600200"/>
            <a:ext cx="5797296" cy="566928"/>
          </a:xfrm>
          <a:prstGeom prst="rect">
            <a:avLst/>
          </a:prstGeom>
          <a:noFill/>
        </p:spPr>
        <p:txBody>
          <a:bodyPr wrap="square" lIns="0" rIns="0" tIns="0" bIns="0" anchor="t">
            <a:spAutoFit/>
          </a:bodyPr>
          <a:lstStyle/>
          <a:p>
            <a:pPr algn="l">
              <a:lnSpc>
                <a:spcPct val="106000"/>
              </a:lnSpc>
            </a:pPr>
            <a:r>
              <a:rPr sz="1050" b="0" i="0">
                <a:solidFill>
                  <a:srgbClr val="21295C"/>
                </a:solidFill>
                <a:latin typeface="DejaVu Sans"/>
              </a:rPr>
              <a:t>Böckeler </a:t>
            </a:r>
            <a:r>
              <a:rPr sz="546" baseline="30000" b="0" i="1">
                <a:latin typeface="DejaVu Sans"/>
                <a:cs typeface="DejaVu Sans"/>
                <a:ea typeface="DejaVu Sans"/>
                <a:solidFill>
                  <a:srgbClr val="1C7293"/>
                </a:solidFill>
              </a:rPr>
              <a:t>[2]</a:t>
            </a:r>
            <a:r>
              <a:rPr sz="1050" b="0" i="0">
                <a:latin typeface="DejaVu Sans"/>
                <a:cs typeface="DejaVu Sans"/>
                <a:ea typeface="DejaVu Sans"/>
                <a:solidFill>
                  <a:srgbClr val="21295C"/>
                </a:solidFill>
              </a:rPr>
              <a:t>: in the agent loop this produced no gain and about three times more tokens — "I stopped telling agents to write tests first". The value is carried by the structure, not by the order of the commands.</a:t>
            </a:r>
          </a:p>
        </p:txBody>
      </p:sp>
      <p:sp>
        <p:nvSpPr>
          <p:cNvPr id="21" name="Rounded Rectangle 20"/>
          <p:cNvSpPr/>
          <p:nvPr/>
        </p:nvSpPr>
        <p:spPr>
          <a:xfrm>
            <a:off x="5504688" y="2286000"/>
            <a:ext cx="6199632" cy="2359152"/>
          </a:xfrm>
          <a:prstGeom prst="roundRect">
            <a:avLst>
              <a:gd name="adj" fmla="val 1291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05855" y="2350008"/>
            <a:ext cx="5797296" cy="256032"/>
          </a:xfrm>
          <a:prstGeom prst="rect">
            <a:avLst/>
          </a:prstGeom>
          <a:noFill/>
        </p:spPr>
        <p:txBody>
          <a:bodyPr wrap="square" lIns="0" rIns="0" tIns="0" bIns="0" anchor="t">
            <a:spAutoFit/>
          </a:bodyPr>
          <a:lstStyle/>
          <a:p>
            <a:pPr algn="l">
              <a:lnSpc>
                <a:spcPct val="115000"/>
              </a:lnSpc>
            </a:pPr>
            <a:r>
              <a:rPr sz="1250" b="1" i="0">
                <a:solidFill>
                  <a:srgbClr val="065A82"/>
                </a:solidFill>
                <a:latin typeface="DejaVu Sans"/>
              </a:rPr>
              <a:t>What works instead — a five-step recipe</a:t>
            </a:r>
          </a:p>
        </p:txBody>
      </p:sp>
      <p:sp>
        <p:nvSpPr>
          <p:cNvPr id="23" name="Rounded Rectangle 22"/>
          <p:cNvSpPr/>
          <p:nvPr/>
        </p:nvSpPr>
        <p:spPr>
          <a:xfrm>
            <a:off x="5705855" y="2679191"/>
            <a:ext cx="274320" cy="274320"/>
          </a:xfrm>
          <a:prstGeom prst="roundRect">
            <a:avLst>
              <a:gd name="adj" fmla="val 2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05855" y="2697479"/>
            <a:ext cx="274320" cy="256032"/>
          </a:xfrm>
          <a:prstGeom prst="rect">
            <a:avLst/>
          </a:prstGeom>
          <a:noFill/>
        </p:spPr>
        <p:txBody>
          <a:bodyPr wrap="square" lIns="0" rIns="0" tIns="0" bIns="0" anchor="ctr">
            <a:spAutoFit/>
          </a:bodyPr>
          <a:lstStyle/>
          <a:p>
            <a:pPr algn="ctr">
              <a:lnSpc>
                <a:spcPct val="115000"/>
              </a:lnSpc>
            </a:pPr>
            <a:r>
              <a:rPr sz="1100" b="1" i="0">
                <a:solidFill>
                  <a:srgbClr val="FFFFFF"/>
                </a:solidFill>
                <a:latin typeface="DejaVu Sans"/>
              </a:rPr>
              <a:t>1</a:t>
            </a:r>
          </a:p>
        </p:txBody>
      </p:sp>
      <p:sp>
        <p:nvSpPr>
          <p:cNvPr id="25" name="TextBox 24"/>
          <p:cNvSpPr txBox="1"/>
          <p:nvPr/>
        </p:nvSpPr>
        <p:spPr>
          <a:xfrm>
            <a:off x="6071616" y="2651760"/>
            <a:ext cx="5413248" cy="402336"/>
          </a:xfrm>
          <a:prstGeom prst="rect">
            <a:avLst/>
          </a:prstGeom>
          <a:noFill/>
        </p:spPr>
        <p:txBody>
          <a:bodyPr wrap="square" lIns="0" rIns="0" tIns="0" bIns="0" anchor="t">
            <a:spAutoFit/>
          </a:bodyPr>
          <a:lstStyle/>
          <a:p>
            <a:pPr algn="l">
              <a:lnSpc>
                <a:spcPct val="106000"/>
              </a:lnSpc>
            </a:pPr>
            <a:r>
              <a:rPr sz="1100" b="1" i="0">
                <a:solidFill>
                  <a:srgbClr val="21295C"/>
                </a:solidFill>
                <a:latin typeface="DejaVu Sans"/>
              </a:rPr>
              <a:t>The human states WHAT the test must assert</a:t>
            </a:r>
            <a:r>
              <a:rPr sz="1100" b="0" i="0">
                <a:solidFill>
                  <a:srgbClr val="21295C"/>
                </a:solidFill>
                <a:latin typeface="DejaVu Sans"/>
              </a:rPr>
              <a:t> — an invariant or acceptance criterion, before any code is generated.</a:t>
            </a:r>
          </a:p>
        </p:txBody>
      </p:sp>
      <p:sp>
        <p:nvSpPr>
          <p:cNvPr id="26" name="Rounded Rectangle 25"/>
          <p:cNvSpPr/>
          <p:nvPr/>
        </p:nvSpPr>
        <p:spPr>
          <a:xfrm>
            <a:off x="5705855" y="3072384"/>
            <a:ext cx="274320" cy="274320"/>
          </a:xfrm>
          <a:prstGeom prst="roundRect">
            <a:avLst>
              <a:gd name="adj" fmla="val 2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05855" y="3090672"/>
            <a:ext cx="274320" cy="256032"/>
          </a:xfrm>
          <a:prstGeom prst="rect">
            <a:avLst/>
          </a:prstGeom>
          <a:noFill/>
        </p:spPr>
        <p:txBody>
          <a:bodyPr wrap="square" lIns="0" rIns="0" tIns="0" bIns="0" anchor="ctr">
            <a:spAutoFit/>
          </a:bodyPr>
          <a:lstStyle/>
          <a:p>
            <a:pPr algn="ctr">
              <a:lnSpc>
                <a:spcPct val="115000"/>
              </a:lnSpc>
            </a:pPr>
            <a:r>
              <a:rPr sz="1100" b="1" i="0">
                <a:solidFill>
                  <a:srgbClr val="FFFFFF"/>
                </a:solidFill>
                <a:latin typeface="DejaVu Sans"/>
              </a:rPr>
              <a:t>2</a:t>
            </a:r>
          </a:p>
        </p:txBody>
      </p:sp>
      <p:sp>
        <p:nvSpPr>
          <p:cNvPr id="28" name="TextBox 27"/>
          <p:cNvSpPr txBox="1"/>
          <p:nvPr/>
        </p:nvSpPr>
        <p:spPr>
          <a:xfrm>
            <a:off x="6071616" y="3044952"/>
            <a:ext cx="5413248" cy="402336"/>
          </a:xfrm>
          <a:prstGeom prst="rect">
            <a:avLst/>
          </a:prstGeom>
          <a:noFill/>
        </p:spPr>
        <p:txBody>
          <a:bodyPr wrap="square" lIns="0" rIns="0" tIns="0" bIns="0" anchor="t">
            <a:spAutoFit/>
          </a:bodyPr>
          <a:lstStyle/>
          <a:p>
            <a:pPr algn="l">
              <a:lnSpc>
                <a:spcPct val="106000"/>
              </a:lnSpc>
            </a:pPr>
            <a:r>
              <a:rPr sz="1100" b="1" i="0">
                <a:solidFill>
                  <a:srgbClr val="21295C"/>
                </a:solidFill>
                <a:latin typeface="DejaVu Sans"/>
              </a:rPr>
              <a:t>Leave the generation order to the agent</a:t>
            </a:r>
            <a:r>
              <a:rPr sz="1100" b="0" i="0">
                <a:solidFill>
                  <a:srgbClr val="21295C"/>
                </a:solidFill>
                <a:latin typeface="DejaVu Sans"/>
              </a:rPr>
              <a:t> — test and code together, or code then test; forcing "test first" is not needed.</a:t>
            </a:r>
          </a:p>
        </p:txBody>
      </p:sp>
      <p:sp>
        <p:nvSpPr>
          <p:cNvPr id="29" name="Rounded Rectangle 28"/>
          <p:cNvSpPr/>
          <p:nvPr/>
        </p:nvSpPr>
        <p:spPr>
          <a:xfrm>
            <a:off x="5705855" y="3465575"/>
            <a:ext cx="274320" cy="274320"/>
          </a:xfrm>
          <a:prstGeom prst="roundRect">
            <a:avLst>
              <a:gd name="adj" fmla="val 2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05855" y="3483863"/>
            <a:ext cx="274320" cy="256032"/>
          </a:xfrm>
          <a:prstGeom prst="rect">
            <a:avLst/>
          </a:prstGeom>
          <a:noFill/>
        </p:spPr>
        <p:txBody>
          <a:bodyPr wrap="square" lIns="0" rIns="0" tIns="0" bIns="0" anchor="ctr">
            <a:spAutoFit/>
          </a:bodyPr>
          <a:lstStyle/>
          <a:p>
            <a:pPr algn="ctr">
              <a:lnSpc>
                <a:spcPct val="115000"/>
              </a:lnSpc>
            </a:pPr>
            <a:r>
              <a:rPr sz="1100" b="1" i="0">
                <a:solidFill>
                  <a:srgbClr val="FFFFFF"/>
                </a:solidFill>
                <a:latin typeface="DejaVu Sans"/>
              </a:rPr>
              <a:t>3</a:t>
            </a:r>
          </a:p>
        </p:txBody>
      </p:sp>
      <p:sp>
        <p:nvSpPr>
          <p:cNvPr id="31" name="TextBox 30"/>
          <p:cNvSpPr txBox="1"/>
          <p:nvPr/>
        </p:nvSpPr>
        <p:spPr>
          <a:xfrm>
            <a:off x="6071616" y="3438144"/>
            <a:ext cx="5413248" cy="402336"/>
          </a:xfrm>
          <a:prstGeom prst="rect">
            <a:avLst/>
          </a:prstGeom>
          <a:noFill/>
        </p:spPr>
        <p:txBody>
          <a:bodyPr wrap="square" lIns="0" rIns="0" tIns="0" bIns="0" anchor="t">
            <a:spAutoFit/>
          </a:bodyPr>
          <a:lstStyle/>
          <a:p>
            <a:pPr algn="l">
              <a:lnSpc>
                <a:spcPct val="106000"/>
              </a:lnSpc>
            </a:pPr>
            <a:r>
              <a:rPr sz="1100" b="1" i="0">
                <a:solidFill>
                  <a:srgbClr val="21295C"/>
                </a:solidFill>
                <a:latin typeface="DejaVu Sans"/>
              </a:rPr>
              <a:t>A human reads the test's assertions</a:t>
            </a:r>
            <a:r>
              <a:rPr sz="1100" b="0" i="0">
                <a:solidFill>
                  <a:srgbClr val="21295C"/>
                </a:solidFill>
                <a:latin typeface="DejaVu Sans"/>
              </a:rPr>
              <a:t>: the test holds on to behavior, not to the implementation (Fowler </a:t>
            </a:r>
            <a:r>
              <a:rPr sz="572" baseline="30000" b="0" i="1">
                <a:latin typeface="DejaVu Sans"/>
                <a:cs typeface="DejaVu Sans"/>
                <a:ea typeface="DejaVu Sans"/>
                <a:solidFill>
                  <a:srgbClr val="1C7293"/>
                </a:solidFill>
              </a:rPr>
              <a:t>[3]</a:t>
            </a:r>
            <a:r>
              <a:rPr sz="1100" b="0" i="0">
                <a:latin typeface="DejaVu Sans"/>
                <a:cs typeface="DejaVu Sans"/>
                <a:ea typeface="DejaVu Sans"/>
                <a:solidFill>
                  <a:srgbClr val="21295C"/>
                </a:solidFill>
              </a:rPr>
              <a:t>).</a:t>
            </a:r>
          </a:p>
        </p:txBody>
      </p:sp>
      <p:sp>
        <p:nvSpPr>
          <p:cNvPr id="32" name="Rounded Rectangle 31"/>
          <p:cNvSpPr/>
          <p:nvPr/>
        </p:nvSpPr>
        <p:spPr>
          <a:xfrm>
            <a:off x="5705855" y="3858768"/>
            <a:ext cx="274320" cy="274320"/>
          </a:xfrm>
          <a:prstGeom prst="roundRect">
            <a:avLst>
              <a:gd name="adj" fmla="val 2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05855" y="3877055"/>
            <a:ext cx="274320" cy="256032"/>
          </a:xfrm>
          <a:prstGeom prst="rect">
            <a:avLst/>
          </a:prstGeom>
          <a:noFill/>
        </p:spPr>
        <p:txBody>
          <a:bodyPr wrap="square" lIns="0" rIns="0" tIns="0" bIns="0" anchor="ctr">
            <a:spAutoFit/>
          </a:bodyPr>
          <a:lstStyle/>
          <a:p>
            <a:pPr algn="ctr">
              <a:lnSpc>
                <a:spcPct val="115000"/>
              </a:lnSpc>
            </a:pPr>
            <a:r>
              <a:rPr sz="1100" b="1" i="0">
                <a:solidFill>
                  <a:srgbClr val="FFFFFF"/>
                </a:solidFill>
                <a:latin typeface="DejaVu Sans"/>
              </a:rPr>
              <a:t>4</a:t>
            </a:r>
          </a:p>
        </p:txBody>
      </p:sp>
      <p:sp>
        <p:nvSpPr>
          <p:cNvPr id="34" name="TextBox 33"/>
          <p:cNvSpPr txBox="1"/>
          <p:nvPr/>
        </p:nvSpPr>
        <p:spPr>
          <a:xfrm>
            <a:off x="6071616" y="3831335"/>
            <a:ext cx="5413248" cy="402336"/>
          </a:xfrm>
          <a:prstGeom prst="rect">
            <a:avLst/>
          </a:prstGeom>
          <a:noFill/>
        </p:spPr>
        <p:txBody>
          <a:bodyPr wrap="square" lIns="0" rIns="0" tIns="0" bIns="0" anchor="t">
            <a:spAutoFit/>
          </a:bodyPr>
          <a:lstStyle/>
          <a:p>
            <a:pPr algn="l">
              <a:lnSpc>
                <a:spcPct val="106000"/>
              </a:lnSpc>
            </a:pPr>
            <a:r>
              <a:rPr sz="1100" b="1" i="0">
                <a:solidFill>
                  <a:srgbClr val="21295C"/>
                </a:solidFill>
                <a:latin typeface="DejaVu Sans"/>
              </a:rPr>
              <a:t>Only a deterministic executor counts as a run</a:t>
            </a:r>
            <a:r>
              <a:rPr sz="1100" b="0" i="0">
                <a:solidFill>
                  <a:srgbClr val="21295C"/>
                </a:solidFill>
                <a:latin typeface="DejaVu Sans"/>
              </a:rPr>
              <a:t> (a script or CI with a real exit code); "the model said they're green" is not a run.</a:t>
            </a:r>
          </a:p>
        </p:txBody>
      </p:sp>
      <p:sp>
        <p:nvSpPr>
          <p:cNvPr id="35" name="Rounded Rectangle 34"/>
          <p:cNvSpPr/>
          <p:nvPr/>
        </p:nvSpPr>
        <p:spPr>
          <a:xfrm>
            <a:off x="5705855" y="4251960"/>
            <a:ext cx="274320" cy="274320"/>
          </a:xfrm>
          <a:prstGeom prst="roundRect">
            <a:avLst>
              <a:gd name="adj" fmla="val 28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05855" y="4270248"/>
            <a:ext cx="274320" cy="256032"/>
          </a:xfrm>
          <a:prstGeom prst="rect">
            <a:avLst/>
          </a:prstGeom>
          <a:noFill/>
        </p:spPr>
        <p:txBody>
          <a:bodyPr wrap="square" lIns="0" rIns="0" tIns="0" bIns="0" anchor="ctr">
            <a:spAutoFit/>
          </a:bodyPr>
          <a:lstStyle/>
          <a:p>
            <a:pPr algn="ctr">
              <a:lnSpc>
                <a:spcPct val="115000"/>
              </a:lnSpc>
            </a:pPr>
            <a:r>
              <a:rPr sz="1100" b="1" i="0">
                <a:solidFill>
                  <a:srgbClr val="FFFFFF"/>
                </a:solidFill>
                <a:latin typeface="DejaVu Sans"/>
              </a:rPr>
              <a:t>5</a:t>
            </a:r>
          </a:p>
        </p:txBody>
      </p:sp>
      <p:sp>
        <p:nvSpPr>
          <p:cNvPr id="37" name="TextBox 36"/>
          <p:cNvSpPr txBox="1"/>
          <p:nvPr/>
        </p:nvSpPr>
        <p:spPr>
          <a:xfrm>
            <a:off x="6071616" y="4224528"/>
            <a:ext cx="5413248" cy="402336"/>
          </a:xfrm>
          <a:prstGeom prst="rect">
            <a:avLst/>
          </a:prstGeom>
          <a:noFill/>
        </p:spPr>
        <p:txBody>
          <a:bodyPr wrap="square" lIns="0" rIns="0" tIns="0" bIns="0" anchor="t">
            <a:spAutoFit/>
          </a:bodyPr>
          <a:lstStyle/>
          <a:p>
            <a:pPr algn="l">
              <a:lnSpc>
                <a:spcPct val="106000"/>
              </a:lnSpc>
            </a:pPr>
            <a:r>
              <a:rPr sz="1100" b="1" i="0">
                <a:solidFill>
                  <a:srgbClr val="21295C"/>
                </a:solidFill>
                <a:latin typeface="DejaVu Sans"/>
              </a:rPr>
              <a:t>Gate on the share of defects actually caught</a:t>
            </a:r>
            <a:r>
              <a:rPr sz="1100" b="0" i="0">
                <a:solidFill>
                  <a:srgbClr val="21295C"/>
                </a:solidFill>
                <a:latin typeface="DejaVu Sans"/>
              </a:rPr>
              <a:t>, not on the coverage percentage. Every incident → a permanent regression test.</a:t>
            </a:r>
          </a:p>
        </p:txBody>
      </p:sp>
      <p:sp>
        <p:nvSpPr>
          <p:cNvPr id="38" name="Rounded Rectangle 37"/>
          <p:cNvSpPr/>
          <p:nvPr/>
        </p:nvSpPr>
        <p:spPr>
          <a:xfrm>
            <a:off x="5504688" y="4718304"/>
            <a:ext cx="6199632" cy="384048"/>
          </a:xfrm>
          <a:prstGeom prst="roundRect">
            <a:avLst>
              <a:gd name="adj" fmla="val 7000"/>
            </a:avLst>
          </a:prstGeom>
          <a:solidFill>
            <a:srgbClr val="E5EAF0"/>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05855" y="4764024"/>
            <a:ext cx="5797296" cy="310896"/>
          </a:xfrm>
          <a:prstGeom prst="rect">
            <a:avLst/>
          </a:prstGeom>
          <a:noFill/>
        </p:spPr>
        <p:txBody>
          <a:bodyPr wrap="square" lIns="0" rIns="0" tIns="0" bIns="0" anchor="ctr">
            <a:spAutoFit/>
          </a:bodyPr>
          <a:lstStyle/>
          <a:p>
            <a:pPr algn="l">
              <a:lnSpc>
                <a:spcPct val="115000"/>
              </a:lnSpc>
            </a:pPr>
            <a:r>
              <a:rPr sz="1000" b="0" i="1">
                <a:solidFill>
                  <a:srgbClr val="5B6678"/>
                </a:solidFill>
                <a:latin typeface="DejaVu Sans"/>
              </a:rPr>
              <a:t>Executors (secondary): AWS Q /test · Qodo · JetBrains Junie · Anthropic (failing test → fix + Stop-hook as a gate).</a:t>
            </a:r>
          </a:p>
        </p:txBody>
      </p:sp>
      <p:sp>
        <p:nvSpPr>
          <p:cNvPr id="40" name="Rounded Rectangle 39"/>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invariant is not "the test was written first", but "the test exists, asserts what the human decided, and was run by a machine". Willison: "if you haven't seen it work, it's not a working system".</a:t>
            </a:r>
          </a:p>
        </p:txBody>
      </p:sp>
      <p:sp>
        <p:nvSpPr>
          <p:cNvPr id="42" name="TextBox 41"/>
          <p:cNvSpPr txBox="1"/>
          <p:nvPr/>
        </p:nvSpPr>
        <p:spPr>
          <a:xfrm>
            <a:off x="502920" y="6419088"/>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2"/>
              </a:rPr>
              <a:t>Beck — TDD: By Example</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3"/>
              </a:rPr>
              <a:t>Böckeler — TDD in the agent loop</a:t>
            </a:r>
            <a:r>
              <a:rPr sz="850" i="1">
                <a:solidFill>
                  <a:srgbClr val="1C7293"/>
                </a:solidFill>
                <a:latin typeface="DejaVu Sans"/>
              </a:rPr>
              <a:t>   ·   </a:t>
            </a:r>
            <a:r>
              <a:rPr sz="850" b="1" i="1">
                <a:solidFill>
                  <a:srgbClr val="065A82"/>
                </a:solidFill>
                <a:latin typeface="DejaVu Sans"/>
              </a:rPr>
              <a:t>[3] </a:t>
            </a:r>
            <a:r>
              <a:rPr sz="850" i="1">
                <a:solidFill>
                  <a:srgbClr val="1C7293"/>
                </a:solidFill>
                <a:latin typeface="DejaVu Sans"/>
                <a:hlinkClick r:id="rId4"/>
              </a:rPr>
              <a:t>Fowler — Exploring Gen AI (tests-as-guardrails)</a:t>
            </a:r>
          </a:p>
        </p:txBody>
      </p:sp>
      <p:sp>
        <p:nvSpPr>
          <p:cNvPr id="43" name="TextBox 42"/>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35 / 58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55680" cy="749808"/>
          </a:xfrm>
          <a:prstGeom prst="rect">
            <a:avLst/>
          </a:prstGeom>
          <a:noFill/>
        </p:spPr>
        <p:txBody>
          <a:bodyPr wrap="square" lIns="0" rIns="0" tIns="0" bIns="0" anchor="t">
            <a:spAutoFit/>
          </a:bodyPr>
          <a:lstStyle/>
          <a:p>
            <a:pPr algn="l">
              <a:lnSpc>
                <a:spcPct val="110000"/>
              </a:lnSpc>
            </a:pPr>
            <a:r>
              <a:rPr sz="2200" b="1" i="0">
                <a:solidFill>
                  <a:srgbClr val="21295C"/>
                </a:solidFill>
                <a:latin typeface="DejaVu Sans"/>
              </a:rPr>
              <a:t>Green tests and high coverage can lie — the gate must be honest</a:t>
            </a:r>
          </a:p>
        </p:txBody>
      </p:sp>
      <p:sp>
        <p:nvSpPr>
          <p:cNvPr id="3" name="Rounded Rectangle 2"/>
          <p:cNvSpPr/>
          <p:nvPr/>
        </p:nvSpPr>
        <p:spPr>
          <a:xfrm>
            <a:off x="502920" y="1389888"/>
            <a:ext cx="553212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essage-square-warning-mid.png"/>
          <p:cNvPicPr>
            <a:picLocks noChangeAspect="1"/>
          </p:cNvPicPr>
          <p:nvPr/>
        </p:nvPicPr>
        <p:blipFill>
          <a:blip r:embed="rId2"/>
          <a:stretch>
            <a:fillRect/>
          </a:stretch>
        </p:blipFill>
        <p:spPr>
          <a:xfrm>
            <a:off x="722376" y="1517904"/>
            <a:ext cx="457200" cy="457200"/>
          </a:xfrm>
          <a:prstGeom prst="rect">
            <a:avLst/>
          </a:prstGeom>
        </p:spPr>
      </p:pic>
      <p:sp>
        <p:nvSpPr>
          <p:cNvPr id="5" name="TextBox 4"/>
          <p:cNvSpPr txBox="1"/>
          <p:nvPr/>
        </p:nvSpPr>
        <p:spPr>
          <a:xfrm>
            <a:off x="1307592" y="1554480"/>
            <a:ext cx="4526279" cy="365760"/>
          </a:xfrm>
          <a:prstGeom prst="rect">
            <a:avLst/>
          </a:prstGeom>
          <a:noFill/>
        </p:spPr>
        <p:txBody>
          <a:bodyPr wrap="square" lIns="0" rIns="0" tIns="0" bIns="0" anchor="t">
            <a:spAutoFit/>
          </a:bodyPr>
          <a:lstStyle/>
          <a:p>
            <a:pPr algn="l">
              <a:lnSpc>
                <a:spcPct val="115000"/>
              </a:lnSpc>
            </a:pPr>
            <a:r>
              <a:rPr sz="1300" b="1" i="0">
                <a:solidFill>
                  <a:srgbClr val="065A82"/>
                </a:solidFill>
                <a:latin typeface="DejaVu Sans"/>
              </a:rPr>
              <a:t>"all green" lies (Fowler) </a:t>
            </a:r>
            <a:r>
              <a:rPr sz="676" baseline="30000" b="0" i="1">
                <a:latin typeface="DejaVu Sans"/>
                <a:cs typeface="DejaVu Sans"/>
                <a:ea typeface="DejaVu Sans"/>
                <a:solidFill>
                  <a:srgbClr val="1C7293"/>
                </a:solidFill>
              </a:rPr>
              <a:t>[1]</a:t>
            </a:r>
          </a:p>
        </p:txBody>
      </p:sp>
      <p:sp>
        <p:nvSpPr>
          <p:cNvPr id="6" name="TextBox 5"/>
          <p:cNvSpPr txBox="1"/>
          <p:nvPr/>
        </p:nvSpPr>
        <p:spPr>
          <a:xfrm>
            <a:off x="722376" y="1993392"/>
            <a:ext cx="5093208" cy="914400"/>
          </a:xfrm>
          <a:prstGeom prst="rect">
            <a:avLst/>
          </a:prstGeom>
          <a:noFill/>
        </p:spPr>
        <p:txBody>
          <a:bodyPr wrap="square" lIns="0" rIns="0" tIns="0" bIns="0" anchor="t">
            <a:spAutoFit/>
          </a:bodyPr>
          <a:lstStyle/>
          <a:p>
            <a:pPr algn="l">
              <a:lnSpc>
                <a:spcPct val="116000"/>
              </a:lnSpc>
            </a:pPr>
            <a:r>
              <a:rPr sz="1150" b="0" i="0">
                <a:solidFill>
                  <a:srgbClr val="21295C"/>
                </a:solidFill>
                <a:latin typeface="DejaVu Sans"/>
              </a:rPr>
              <a:t>"An LLM will happily say 'all tests green' even when there are failures." The mechanism is the same — the model generates a plausible report with the same token-by-token sampling.</a:t>
            </a:r>
          </a:p>
        </p:txBody>
      </p:sp>
      <p:sp>
        <p:nvSpPr>
          <p:cNvPr id="7" name="Rounded Rectangle 6"/>
          <p:cNvSpPr/>
          <p:nvPr/>
        </p:nvSpPr>
        <p:spPr>
          <a:xfrm>
            <a:off x="722376" y="2962656"/>
            <a:ext cx="5093208" cy="804672"/>
          </a:xfrm>
          <a:prstGeom prst="roundRect">
            <a:avLst>
              <a:gd name="adj" fmla="val 6000"/>
            </a:avLst>
          </a:prstGeom>
          <a:solidFill>
            <a:srgbClr val="E4F1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3054096"/>
            <a:ext cx="4709159" cy="640080"/>
          </a:xfrm>
          <a:prstGeom prst="rect">
            <a:avLst/>
          </a:prstGeom>
          <a:noFill/>
        </p:spPr>
        <p:txBody>
          <a:bodyPr wrap="square" lIns="0" rIns="0" tIns="0" bIns="0" anchor="ctr">
            <a:spAutoFit/>
          </a:bodyPr>
          <a:lstStyle/>
          <a:p>
            <a:pPr algn="l">
              <a:lnSpc>
                <a:spcPct val="114000"/>
              </a:lnSpc>
            </a:pPr>
            <a:r>
              <a:rPr sz="1150" b="1" i="0">
                <a:solidFill>
                  <a:srgbClr val="21295C"/>
                </a:solidFill>
                <a:latin typeface="DejaVu Sans"/>
              </a:rPr>
              <a:t>The AI's report of a run != proof of a run. The gate is a deterministic run by a script/CI with a real return code, not the model's words.</a:t>
            </a:r>
          </a:p>
        </p:txBody>
      </p:sp>
      <p:sp>
        <p:nvSpPr>
          <p:cNvPr id="9" name="TextBox 8"/>
          <p:cNvSpPr txBox="1"/>
          <p:nvPr/>
        </p:nvSpPr>
        <p:spPr>
          <a:xfrm>
            <a:off x="722376" y="3877056"/>
            <a:ext cx="5093208" cy="1097280"/>
          </a:xfrm>
          <a:prstGeom prst="rect">
            <a:avLst/>
          </a:prstGeom>
          <a:noFill/>
        </p:spPr>
        <p:txBody>
          <a:bodyPr wrap="square" lIns="0" rIns="0" tIns="0" bIns="0" anchor="t">
            <a:spAutoFit/>
          </a:bodyPr>
          <a:lstStyle/>
          <a:p>
            <a:pPr algn="l">
              <a:lnSpc>
                <a:spcPct val="114000"/>
              </a:lnSpc>
            </a:pPr>
            <a:r>
              <a:rPr sz="1100" b="0" i="0">
                <a:solidFill>
                  <a:srgbClr val="21295C"/>
                </a:solidFill>
                <a:latin typeface="DejaVu Sans"/>
              </a:rPr>
              <a:t>Coverage is deceptive: a line "touched" != checked. More honest — mutation testing: inject artificial "mutant" defects and measure the share killed. The danger — Goodhart's law: AI optimizes the target metric; a coverage gate → tests "for coverage," not for defects.</a:t>
            </a:r>
          </a:p>
        </p:txBody>
      </p:sp>
      <p:sp>
        <p:nvSpPr>
          <p:cNvPr id="10" name="Rounded Rectangle 9"/>
          <p:cNvSpPr/>
          <p:nvPr/>
        </p:nvSpPr>
        <p:spPr>
          <a:xfrm>
            <a:off x="6263640" y="1389888"/>
            <a:ext cx="5440680" cy="3675887"/>
          </a:xfrm>
          <a:prstGeom prst="roundRect">
            <a:avLst>
              <a:gd name="adj" fmla="val 82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24-meta-mutation.png"/>
          <p:cNvPicPr>
            <a:picLocks noChangeAspect="1"/>
          </p:cNvPicPr>
          <p:nvPr/>
        </p:nvPicPr>
        <p:blipFill>
          <a:blip r:embed="rId3"/>
          <a:stretch>
            <a:fillRect/>
          </a:stretch>
        </p:blipFill>
        <p:spPr>
          <a:xfrm>
            <a:off x="6943725" y="1517904"/>
            <a:ext cx="4080510" cy="2331720"/>
          </a:xfrm>
          <a:prstGeom prst="rect">
            <a:avLst/>
          </a:prstGeom>
        </p:spPr>
      </p:pic>
      <p:sp>
        <p:nvSpPr>
          <p:cNvPr id="12" name="TextBox 11"/>
          <p:cNvSpPr txBox="1"/>
          <p:nvPr/>
        </p:nvSpPr>
        <p:spPr>
          <a:xfrm>
            <a:off x="6483096" y="3913632"/>
            <a:ext cx="5001768" cy="1060704"/>
          </a:xfrm>
          <a:prstGeom prst="rect">
            <a:avLst/>
          </a:prstGeom>
          <a:noFill/>
        </p:spPr>
        <p:txBody>
          <a:bodyPr wrap="square" lIns="0" rIns="0" tIns="0" bIns="0" anchor="t">
            <a:spAutoFit/>
          </a:bodyPr>
          <a:lstStyle/>
          <a:p>
            <a:pPr algn="l">
              <a:lnSpc>
                <a:spcPct val="116000"/>
              </a:lnSpc>
            </a:pPr>
            <a:r>
              <a:rPr sz="1100" b="0" i="0">
                <a:solidFill>
                  <a:srgbClr val="21295C"/>
                </a:solidFill>
                <a:latin typeface="DejaVu Sans"/>
              </a:rPr>
              <a:t>Meta </a:t>
            </a:r>
            <a:r>
              <a:rPr sz="572" baseline="30000" b="0" i="1">
                <a:latin typeface="DejaVu Sans"/>
                <a:cs typeface="DejaVu Sans"/>
                <a:ea typeface="DejaVu Sans"/>
                <a:solidFill>
                  <a:srgbClr val="1C7293"/>
                </a:solidFill>
              </a:rPr>
              <a:t>[2]</a:t>
            </a:r>
            <a:r>
              <a:rPr sz="1100" b="0" i="0">
                <a:latin typeface="DejaVu Sans"/>
                <a:cs typeface="DejaVu Sans"/>
                <a:ea typeface="DejaVu Sans"/>
                <a:solidFill>
                  <a:srgbClr val="21295C"/>
                </a:solidFill>
              </a:rPr>
              <a:t>: LLM generation covers more classes (32% vs 5.3% for a narrow targeted method), but kills fewer mutants (2.4% vs 15%). More tests and coverage != better defect detection.</a:t>
            </a:r>
          </a:p>
        </p:txBody>
      </p:sp>
      <p:sp>
        <p:nvSpPr>
          <p:cNvPr id="13" name="Rounded Rectangle 12"/>
          <p:cNvSpPr/>
          <p:nvPr/>
        </p:nvSpPr>
        <p:spPr>
          <a:xfrm>
            <a:off x="502920" y="5230368"/>
            <a:ext cx="11201400" cy="566928"/>
          </a:xfrm>
          <a:prstGeom prst="roundRect">
            <a:avLst>
              <a:gd name="adj" fmla="val 10000"/>
            </a:avLst>
          </a:prstGeom>
          <a:solidFill>
            <a:srgbClr val="FDF3DC"/>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5285231"/>
            <a:ext cx="10762488" cy="457200"/>
          </a:xfrm>
          <a:prstGeom prst="rect">
            <a:avLst/>
          </a:prstGeom>
          <a:noFill/>
        </p:spPr>
        <p:txBody>
          <a:bodyPr wrap="square" lIns="0" rIns="0" tIns="0" bIns="0" anchor="ctr">
            <a:spAutoFit/>
          </a:bodyPr>
          <a:lstStyle/>
          <a:p>
            <a:pPr algn="ctr">
              <a:lnSpc>
                <a:spcPct val="120000"/>
              </a:lnSpc>
            </a:pPr>
            <a:r>
              <a:rPr sz="1250" b="1" i="0">
                <a:solidFill>
                  <a:srgbClr val="21295C"/>
                </a:solidFill>
                <a:latin typeface="DejaVu Sans"/>
              </a:rPr>
              <a:t>The alternative: a deterministic run as the gate + a quality gate on mutation score, not coverage. Incident → permanent regression test.</a:t>
            </a:r>
          </a:p>
        </p:txBody>
      </p:sp>
      <p:sp>
        <p:nvSpPr>
          <p:cNvPr id="15" name="TextBox 14"/>
          <p:cNvSpPr txBox="1"/>
          <p:nvPr/>
        </p:nvSpPr>
        <p:spPr>
          <a:xfrm>
            <a:off x="502920" y="6455664"/>
            <a:ext cx="11201400" cy="548640"/>
          </a:xfrm>
          <a:prstGeom prst="rect">
            <a:avLst/>
          </a:prstGeom>
          <a:noFill/>
        </p:spPr>
        <p:txBody>
          <a:bodyPr wrap="square" lIns="0" rIns="0" tIns="0" bIns="0" anchor="t">
            <a:spAutoFit/>
          </a:bodyPr>
          <a:lstStyle/>
          <a:p>
            <a:pPr algn="l">
              <a:lnSpc>
                <a:spcPct val="102000"/>
              </a:lnSpc>
            </a:pPr>
            <a:r>
              <a:rPr sz="850" b="1" i="1">
                <a:solidFill>
                  <a:srgbClr val="065A82"/>
                </a:solidFill>
                <a:latin typeface="DejaVu Sans"/>
              </a:rPr>
              <a:t>[1] </a:t>
            </a:r>
            <a:r>
              <a:rPr sz="850" i="1">
                <a:solidFill>
                  <a:srgbClr val="1C7293"/>
                </a:solidFill>
                <a:latin typeface="DejaVu Sans"/>
                <a:hlinkClick r:id="rId4"/>
              </a:rPr>
              <a:t>Fowler — Exploring Gen AI</a:t>
            </a:r>
            <a:r>
              <a:rPr sz="850" i="1">
                <a:solidFill>
                  <a:srgbClr val="1C7293"/>
                </a:solidFill>
                <a:latin typeface="DejaVu Sans"/>
              </a:rPr>
              <a:t>   ·   </a:t>
            </a:r>
            <a:r>
              <a:rPr sz="850" b="1" i="1">
                <a:solidFill>
                  <a:srgbClr val="065A82"/>
                </a:solidFill>
                <a:latin typeface="DejaVu Sans"/>
              </a:rPr>
              <a:t>[2] </a:t>
            </a:r>
            <a:r>
              <a:rPr sz="850" i="1">
                <a:solidFill>
                  <a:srgbClr val="1C7293"/>
                </a:solidFill>
                <a:latin typeface="DejaVu Sans"/>
                <a:hlinkClick r:id="rId5"/>
              </a:rPr>
              <a:t>Meta — TestGen-LLM</a:t>
            </a:r>
          </a:p>
        </p:txBody>
      </p:sp>
      <p:sp>
        <p:nvSpPr>
          <p:cNvPr id="16" name="TextBox 15"/>
          <p:cNvSpPr txBox="1"/>
          <p:nvPr/>
        </p:nvSpPr>
        <p:spPr>
          <a:xfrm>
            <a:off x="11274552" y="6547104"/>
            <a:ext cx="868680" cy="256032"/>
          </a:xfrm>
          <a:prstGeom prst="rect">
            <a:avLst/>
          </a:prstGeom>
          <a:noFill/>
        </p:spPr>
        <p:txBody>
          <a:bodyPr wrap="none" lIns="0" rIns="0" tIns="0" bIns="0">
            <a:spAutoFit/>
          </a:bodyPr>
          <a:lstStyle/>
          <a:p>
            <a:pPr algn="r">
              <a:lnSpc>
                <a:spcPct val="100000"/>
              </a:lnSpc>
            </a:pPr>
            <a:r>
              <a:rPr sz="1000" i="1">
                <a:solidFill>
                  <a:srgbClr val="5B6678"/>
                </a:solidFill>
                <a:latin typeface="DejaVu Sans"/>
              </a:rPr>
              <a:t>36 / 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