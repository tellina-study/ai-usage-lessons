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закончили открытие и поставили центральный вопрос. Дальше — первый из шести разделов: карта AI в медицине.</a:t>
            </a:r>
          </a:p>
          <a:p/>
          <a:p>
            <a:r>
              <a:t>В этом разделе мы разберём четыре разные индустрии, которые скрываются за словом «медицинский AI» — это не один набор инструментов, а четыре. Затем посмотрим на масштаб через FDA-список: 1 451 одобренное устройство к концу 2025 года — это уже инфраструктура, не футурология. И в финале раздела ответим на вопрос «зачем инженеру глубоко погружаться в медицинский AI» — три причины: высокие ставки, строгое регулирование, прозрачные операционные метрики.</a:t>
            </a:r>
          </a:p>
          <a:p/>
          <a:p>
            <a:r>
              <a:t>Карта нужна, чтобы дальше — когда мы будем смотреть на конкретные кейсы — не путать AI-диагностику с разработкой лекарств. Это разные задачи, разные данные, разные регуляторные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Переходим к самому большому разделу лекции — четырнадцать минут на AI-диагностику. Этот раздел — зеркало, в котором отражается весь медицинский AI: что работает, что не работает, и почему обычной accuracy недостаточно.</a:t>
            </a:r>
          </a:p>
          <a:p/>
          <a:p>
            <a:r>
              <a:t>Сначала мы разберём пайплайн компьютерного зрения — изображение через CNN или ViT превращается в метку с оценкой уверенности. Это не LLM, это другая ветка AI. Затем — четыре метрики, без которых медицинская модель опасна: чувствительность, специфичность, распространённость и PPV. Покажу на примере CheXNet, как одна и та же модель даёт PPV восемь процентов при скрининге и семьдесят восемь процентов в госпитале.</a:t>
            </a:r>
          </a:p>
          <a:p/>
          <a:p>
            <a:r>
              <a:t>Потом — три ключевых исследования: Liu 2019 мета-анализ визуализации, MASAI 2024-2025 РКИ маммографии с n больше ста тысяч, и Goh 2024 — парадокс augmentation на клинических рассуждениях. И в финале — российский operational case mosmed.ai с конкретными цифрами, а также два примера bias: дерматология и пульсоксиметр.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подтвердили: AI-диагностика — обещание сбылось. Дальше — четырнадцать минут на самую медийно громкую область медицинского AI: разработку лекарств.</a:t>
            </a:r>
          </a:p>
          <a:p/>
          <a:p>
            <a:r>
              <a:t>В этом разделе три ключевых истории. Первая — AlphaFold: задача пятидесятилетней давности решена, двести миллионов структур белков предсказаны, Нобелевская премия по химии 2024 года. Это безусловный прорыв. Вторая — Rentosertib от Insilico Medicine: первый AI-препарат, дошедший до peer-reviewed Phase IIa в Nature Medicine, июнь 2025. Третья — DSP-1181: тот самый «первый AI-препарат в клинических испытаниях» из заголовков 2020 года, Phase 1 которого тихо закрыли в 2022.</a:t>
            </a:r>
          </a:p>
          <a:p/>
          <a:p>
            <a:r>
              <a:t>В финале — три юрисдикции регулирования: FDA с финализированным PCCP, EU AI Act с дедлайном 2 августа 2026, и российская система с пятьюдесятью семью зарегистрированными AI-медизделиями.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посмотрели, что AI в медицине умеет. Теперь — про границы. Этот раздел не критика ради критики, это инженерная гигиена.</a:t>
            </a:r>
          </a:p>
          <a:p/>
          <a:p>
            <a:r>
              <a:t>Начнём с разговора о том, как LLM меняет workflow студента-медика и врача — паттерн «объясни как для студента N курса» и его границы. Это переход к LLM в медицине: AI как объяснитель работает, но требует проверки.</a:t>
            </a:r>
          </a:p>
          <a:p/>
          <a:p>
            <a:r>
              <a:t>Потом — глубокий разбор bias на примере Obermeyer 2019: статья в Science о том, как коммерческий AI для двухсот миллионов американцев систематически недооценивал тяжесть болезни у чернокожих пациентов. Это не теория, это реальные пациенты и реальный выбор прокси-переменной.</a:t>
            </a:r>
          </a:p>
          <a:p/>
          <a:p>
            <a:r>
              <a:t>Потом — три задокументированных LLM-антипаттерна: NEDA Tessa, состязательные галлюцинации в Communications Medicine 2025, и сорок миллионов американцев, использующих ChatGPT для самодиагностики.</a:t>
            </a:r>
          </a:p>
          <a:p/>
          <a:p>
            <a:r>
              <a:t>Затем Change Healthcare: атака февраля 2024 года, сто девяносто миллионов пострадавших, два с половиной миллиарда стоимости восстановления. И в финале — рамка четырёх актёров: кто отвечает за AI-ошибку. Это ответ на центральный вопрос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стабильно работающих паттернов общения с большими языковыми моделями — это формула «объясни как для студента N курса». Когда вы говорите AI «объясни мне sensitivity и specificity для AI-диагностики на конкретном примере, например маммографический скрининг, как для студента второго курса технического вуза», — модель выдаёт связное объяснение с правильным уровнем детализации. Это не магия — это паттерн, который работает, потому что в обучающих данных LLM много текстов с явной маркировкой целевой аудитории.</a:t>
            </a:r>
          </a:p>
          <a:p/>
          <a:p>
            <a:r>
              <a:t>В медицине этот паттерн меняет реальные сценарии. Интерн читает редкое заболевание ночью на дежурстве — раньше нужно было звонить старшему, теперь можно за минуту получить связное first-pass объяснение от LLM. Ординатор разбирает новую методику исследования — то же. Врач сталкивается с новым классом препаратов и хочет быстро понять механизм действия — то же. Время между вопросом «что это вообще такое» и первым приближением к ответу падает с часов до секунд. Это меняет workflow.</a:t>
            </a:r>
          </a:p>
          <a:p/>
          <a:p>
            <a:r>
              <a:t>При этом качество — нестабильно. AI отлично пересказывает учебник: definitions, базовые механизмы, типовые примеры. AI плохо передаёт неявное знание клинициста: когда правило не работает, какие комбинации признаков подозрительны для опытного врача, какие подводные камни в конкретной российской практике 2026 года. То есть формальная часть знания — пересказывается, профессиональная интуиция — нет.</a:t>
            </a:r>
          </a:p>
          <a:p/>
          <a:p>
            <a:r>
              <a:t>И самое важное — caveat. AI даёт цифры без источника. AI пересказывает учебник пятилетней давности как «текущую практику», не предупреждая, что guidelines обновились. AI уверенно произносит неправильное название препарата, потому что в обучающих данных была опечатка. Поэтому правило для медицины и для любого high-stakes контекста: AI — первое приближение, не источник истины. Финальная верификация — учебник, клинические guidelines, старший коллега. Этот навык — отличать «AI отлично объяснил» от «AI дал цифру, которую нужно проверить» — мы будем тренировать весь курс, и именно он отделяет грамотного пользователя LLM от наивного.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 (U Michigan Law School) и Gerke 2020 (Penn State Dickinson Law) — основа 4-actor framework.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раздела. Сейчас финал — шесть минут на то, чтобы собрать главное в три наблюдения и связать сегодняшний материал с курсом дальше.</a:t>
            </a:r>
          </a:p>
          <a:p/>
          <a:p>
            <a:r>
              <a:t>Структура заключения. Сначала — три главных вывода лекции: AI-диагностика работает, разработка лекарств — частично, ответственность остаётся на враче. Это не финальный синтез, это заготовка для черновика чек-листа, который вы будете дополнять на Лекции 9 по этике.</a:t>
            </a:r>
          </a:p>
          <a:p/>
          <a:p>
            <a:r>
              <a:t>Затем — закрывающая фраза, возврат к центральному вопросу. И тизер Лекции 6 про производство и сельское хозяйство — где AI работает в другом физическом окружении, на другом масштабе и с другими ставками.</a:t>
            </a:r>
          </a:p>
          <a:p/>
          <a:p>
            <a:r>
              <a:t>И в финале — Q&amp;A. После такого материала вопросов обычно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051560"/>
            <a:ext cx="1028700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как объяснитель и его границы. Этика.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4 типа применений · масштаб FDA · почему медицина — показательный кейс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6459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847088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0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AI-диагностика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продукты: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· IDx-DR · Aidoc · Watson 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6459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Скрининговые программы для миллионов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программы: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(Швеция, n&gt;100k) · BreastScreen · NHS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40462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47388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платформы: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Tempus · Foundation Med · Webiomed (РФ)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59" y="40462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247388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8079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игроки: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· Insilico · Recursion · Сбер AI 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642823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150876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▲
изображения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95478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
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37719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МОДАЛЬНОСТЬ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показательный кейс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11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8328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01168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691640"/>
            <a:ext cx="3322015" cy="4160520"/>
          </a:xfrm>
          <a:prstGeom prst="roundRect">
            <a:avLst>
              <a:gd name="adj" fmla="val 91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8-radiologist-scre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995331"/>
            <a:ext cx="3047695" cy="32330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02920" y="60350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1081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computer vision · sens/spec/PPV · MASAI vs Goh · mosmed.ai · bias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верно идентифицированных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верно классифицированных как здоровые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встречается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Визуализация: AI+врач сильнее каждого. Рассуждения: AI один сильнее тандема врач+AI.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ориентир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832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7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337560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33756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2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1206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6235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AI один сильнее тандема врач+AI — парадокс совместной работы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чернокожих 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Разработка лекарств:
обещания vs реальность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AlphaFold · Rentosertib peer-reviewed · DSP-1181 reality check · регулирование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420624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737360"/>
            <a:ext cx="301752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37760" y="1554480"/>
            <a:ext cx="676656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1828800"/>
            <a:ext cx="612648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Разработка лекарств —
</a:t>
            </a:r>
            <a:r>
              <a:rPr sz="23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check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84120"/>
            <a:ext cx="3794759" cy="25298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Молекулярная биология — поле, где работают AlphaFold/AlphaProteo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как объяснитель
и его границы. Этика.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AI как объяснитель · Obermeyer · NEDA Tessa · Change Healthcare · 4 актёра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как объяснитель — что меняется в обучении и работе врача.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Один из самых стабильно работающих паттернов LLM — «объясни как для студента N курса».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70332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book-ope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Паттерн «объясни как для…»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«Объясни sensitivity/specificity как для студента 2 курса техвуза» — LLM выдаёт связное объяснение с примером.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Работает: интерн читает редкое заболевание, ординатор — методику исследования, врач — новый класс препаратов.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0332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graduation-ca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1168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772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Что меняется в обучении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Студент-инженер получает персонального наставника по запросу. Время «спросить старшего» сокращается с часов до секунд.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Качество — нестабильно. AI отлично пересказывает учебник, плохо передаёт неявное знание клинициста.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691640"/>
            <a:ext cx="370332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alert-triang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868680" cy="868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Оговорка: проверяй перед тем, как доверять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даёт цифры без источника. AI пересказывает учебник 5-летней давности как «текущую практику».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Правило: AI = первое приближение. Финальная верификация — учебник, guidelines, старший коллега.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98932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06247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AI — мощный объяснитель. Не источник истины. Это меняет рабочий процесс врача и студента — но не отменяет проверку.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Паттерн «explain like for» широко используется студентами медфаков 2024–2026 (см. JAMA Educ 2024 · Med Teach 2025).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8" name="Picture 7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60320"/>
            <a:ext cx="6400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5292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Optum/UnitedHealth занижал риск у чернокожих в 2 раза — proxy «расходы» вместо «тяжесть».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355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200 млн американцев · 5 лет до фикса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79476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37033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08736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NEDA Tessa давал опасные советы при eating disorder — приводил к госпитализации.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40 млн американцев — самодиагностика без врача</a:t>
            </a:r>
          </a:p>
        </p:txBody>
      </p:sp>
      <p:pic>
        <p:nvPicPr>
          <p:cNvPr id="16" name="Picture 15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292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4944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218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Change Healthcare ransomware (февр. 2024): 190 млн пострадали, $2.5 млрд убытков.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824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mosmed.ai = 18 млн+ изображений — та же поверхность атаки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чернокожих 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Чернокожие: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чернокожих 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чернокожих 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23-cyber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76" y="4526280"/>
            <a:ext cx="1369888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3776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0" y="1554480"/>
            <a:ext cx="47548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3736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(US) · Notified Bodies (EU) · Росздравнадзор (РФ)
надзорная роль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4754880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73736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= подсказка, не решение
Приказ 203н · EU AI Act Art.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388620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8600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Больница · клиника · ДЗМ Москвы
средний технический контроль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88620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Insilico · Aidoc · Webiomed · Care Mentor AI
PCCP-обновления · пост-маркет 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3387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463040"/>
            <a:ext cx="91440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4712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26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(U Michigan Law School) · Gerke 2020 (Penn State Dickinson Law) · EU AI Act 2024/1689 Art. 14.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3 наблюдения · тизер Лекции 6 ·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чек-листа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Личная версия → Лекция 14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заготовка для черновика чек-листа на следующей лекции. Не финальный синтез — заготовка.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основа для черновика чек-листа на следующей лекции по этике.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8-agricul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280" y="2240280"/>
            <a:ext cx="251968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576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200" b="0" i="1">
                <a:solidFill>
                  <a:srgbClr val="21295C"/>
                </a:solidFill>
                <a:latin typeface="Arial"/>
              </a:rPr>
              <a:t>  эффективности (российский кейс)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Предиктивное обслуживание · контроль качества · физический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33172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19" y="23774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3832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Лекции 9
→ личная версия на Лекции 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749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65A82"/>
                </a:solidFill>
                <a:latin typeface="Arial"/>
              </a:rPr>
              <a:t>Спасибо за внимание.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