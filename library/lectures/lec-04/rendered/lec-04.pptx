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четвёртая лекция курса «AI в разных индустриях».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микро-упражнение — единственное активное взаимодействие студента с AI за всю лекцию, и оно соответствует требованию курса о десяти минутах AI web-chat на занятии. Учебная цель — LO4: применить AI web-chat для разъяснения статистических понятий и критически оценить полученный ответ.</a:t>
            </a:r>
          </a:p>
          <a:p/>
          <a:p>
            <a:r>
              <a:t>Шаг первый, три минуты. Откройте AI web-chat. На лекции у вас должны работать ChatGPT, Claude, YandexGPT или GigaChat — последние два удобны для русскоязычной работы. Введите готовый промпт; можно адаптировать по вкусу: «Объясни мне, что такое sensitivity и specificity для AI-диагностики на конкретном примере, например маммографический скрининг. Объясни как для студента второго курса технического вуза, со знанием базовой теории вероятностей». Этот формат — «объясни как студенту X курса» — один из самых стабильно работающих паттернов общения с LLM.</a:t>
            </a:r>
          </a:p>
          <a:p/>
          <a:p>
            <a:r>
              <a:t>Шаг второй, три минуты. Прочитайте ответ. Отметьте — на бумаге, в notes-app, в комментарии в чате — одно из следующего: одну фактическую неточность; одно неподтверждённое утверждение, которое нельзя проверить; одно место, где объяснение слишком абстрактное и не помогает понять.</a:t>
            </a:r>
          </a:p>
          <a:p/>
          <a:p>
            <a:r>
              <a:t>Шаг третий, четыре минуты. На лекции — два-три студента читают свои находки, лектор показывает свой control-ответ, заранее прогнанный накануне с того же промпта. Дискуссия: что AI сделал хорошо, что — поверхностно или подозрительно.</a:t>
            </a:r>
          </a:p>
          <a:p/>
          <a:p>
            <a:r>
              <a:t>Если вы проходите этот материал в self-study режиме — выполните шаги один–два самостоятельно за пять минут. Главное: paragraph-level critique. «AI отлично объяснил для студента второго курса» — это LLM-паттерн сработал. «AI дал число sensitivity 0.95 без citation» — это анти-паттерн, не верьте автоматически. Эта дисциплина критической оценки — то, что мы будем тренировать весь курс; четвёртое микро-упражнение здесь, Практикум 1 будет на лекции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2019, Stanford Technology Law Review; Gerke et al. 2020, Artificial Intelligence in Healthcare, Elsevier.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input для черновика чек-листа на лекции 9 «Этика и регулирование». Не финальный синтез — input.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Следующее занятие по расписанию курса — Коллоквиум 1, пятая лекция, охватывающий первые четыре содержательные лекции: введение, AI в разработке ПО, AI в финансах и ритейле, AI в медицине. Коллоквиум включает тестовую часть на классификацию AI-технологий и письменный мини-кейс по триаде «Проблема — Результат — Ограничение». Подготовка к коллоквиуму — это в первую очередь повторение четырёх предыдущих глав методички, включая эту.</a:t>
            </a:r>
          </a:p>
          <a:p/>
          <a:p>
            <a:r>
              <a:t>После Коллоквиума 1 — Лекция 6 «AI в производстве и сельском хозяйстве». Здесь главный российский кейс — Cognitive Agro Pilot, более полутора тысяч машин в работе, заявленный прирост эффективности тридцать-сорок процентов. Кроме сельского хозяйства, мы посмотрим predictive maintenance, quality control, collaborative robots, физический AI: дроны-инспекторы, автономный транспорт, digital twins. Из ячейки «медицина» движемся в ячейку «производство»; ставки другие — не пациент, а оборудование и урожай — но многие методологические принципы переносятся: валидация на разных популяциях, transparency, post-market monitoring.</a:t>
            </a:r>
          </a:p>
          <a:p/>
          <a:p>
            <a:r>
              <a:t>И ещё одна важная связь forward. Три принципа responsibility, которые мы сформулировали сегодня — transparency и калибровка; validation set покрывает deployment population; audit-trail и post-market monitoring — это не финальный синтез, а input для черновика чек-листа, который вы создадите на Лекции 9 «Этика и регулирование». На Лекции 14 «Будущее AI» вы превратите этот черновик в personal версию чек-листа из трёх-пяти пунктов. Опциональное домашнее задание для тех, у кого есть время: найти один случай medical AI в новостях за последний месяц (Reuters, STAT News, Habr) и применить к нему 4-actor framework со слайда 24. Не оценивается; для тренировки навыка применения.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3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сек инференса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пневмония, кардиомегалия, ателектаз…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5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тепловая карта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резервный PNG (живой демо —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23560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C7293"/>
                </a:solidFill>
                <a:latin typeface="Arial"/>
              </a:rPr>
              <a:t>Курс «AI в разных индустриях»  ·  75 мин  ·  13 мая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рабочая 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AI/ML-устройства, одобренные для медицины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8745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mosmed.ai — 5 лет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317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ДЗМ Москвы →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(к концу 2025, 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868680"/>
            <a:ext cx="10287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Маршрут лекции — 4 раздела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Разработка лекарств — обещания vs реальность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Этика и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5-doctor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27" y="3749039"/>
            <a:ext cx="2812783" cy="18745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58000" y="57150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Врач + ноутбук + стетоскоп — где AI встречает клиническую работу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Стейкс: $22–38 млрд (2025), прогноз &gt; $100 млрд к 2030 (MarketsAndMarkets, Towards Healthcare).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набор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Модальность данных × охват = карта применений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1874519"/>
            <a:ext cx="45948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60320" y="2011680"/>
            <a:ext cx="35432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AI-диагностика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926080"/>
            <a:ext cx="43205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КТ · МРТ · рентген · дермато-скан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429000"/>
            <a:ext cx="43205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mosmed.ai · IDx-DR · Aidoc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7940" y="1874519"/>
            <a:ext cx="45948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05740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38060" y="2011680"/>
            <a:ext cx="35432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Популяционная визуализация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0820" y="2926080"/>
            <a:ext cx="43205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Скрининговые программы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0820" y="3429000"/>
            <a:ext cx="43205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MASAI (Швеция) · BreastScreen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00200" y="3977639"/>
            <a:ext cx="45948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416052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0" y="4114800"/>
            <a:ext cx="35432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Персонализированная медицина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5029200"/>
            <a:ext cx="43205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Геномный AI · клинические решения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532120"/>
            <a:ext cx="43205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Tempus · Foundation Med · Webiomed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7940" y="3977639"/>
            <a:ext cx="4594859" cy="1920239"/>
          </a:xfrm>
          <a:prstGeom prst="roundRect">
            <a:avLst>
              <a:gd name="adj" fmla="val 1587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4160520"/>
            <a:ext cx="640080" cy="640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38060" y="4114800"/>
            <a:ext cx="354329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Разработка лекарств + эпид.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0820" y="5029200"/>
            <a:ext cx="43205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Генеративная химия · структуры белков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0820" y="5532120"/>
            <a:ext cx="43205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AlphaFold · Insilico · Generate Bio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45919" y="19202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23660" y="402336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08760" y="6080759"/>
            <a:ext cx="9555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один пациент        ОХВАТ        популяция / фарма 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1783080"/>
            <a:ext cx="10515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МОДАЛЬНОСТЬ
▲ изображения /
   сигналы
▼ текст /
   молекулы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Фокус лекции — квадранты с золотыми точками: AI-диагностика + разработка лекарств.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AI-устройства, одобренных FDA.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AI/ML-устройства, одобренные FDA для медицины · накопленным итогом · к концу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Перелом — 2022–2024:
экспоненциальный рост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к концу 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инструктивный пример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прозрачные операционные метрики.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Калибровка уверенности модели, audit-trail, fallback-сценарии.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4884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828800"/>
            <a:ext cx="3703320" cy="402336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4884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58200" y="3200400"/>
            <a:ext cx="31546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Прозрачные операционные метрики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977639"/>
            <a:ext cx="3154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mosmed.ai: 14 млн+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компьютерное зрение,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изображение → метка с оценкой уверенности.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дообучение на мед. данных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Вероятность +
тепловая карта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решение
+ верификация + подпись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121-слойная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 → CNN/ViT → вектор вероятностей + тепловая карта. Тепловая карта = Grad-CAM (Selvaraju 2017): какие пиксели вносили вклад в предсказание. Врач принимает решение, AI — помощник.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интерпретация решения модели.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«точности» (accuracy) недостаточно.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Чувствительность · специфичность · распространённость · PPV. Sens/spec не зависят от prev;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Матрица ошибок 2 ×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предсказание AI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положит.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отрицат.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истина
↓
болен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здоров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истинно-полож.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ложно-отрицат.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ложно-полож.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истинно-отрицат.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которых поймал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Специфичность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не напуганных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Распространённость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всего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«болен» — насколько верить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чувствительность 0.94–0.96 · специфичность 0.89–0.93 (диапазон). Для расчёта PPV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Рабочая точка (operating point) зависит от порога + патологии.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Визуализация: AI+врач &gt; врач. Рассуждения: парадокс augmentation.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рабочий процесс».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1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мета-анализ, 14 проспективных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4591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9202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Мета-анализ по визуализации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645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874519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объединённая чувствительность: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423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39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0039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5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20039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47472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РКИ маммографии, n &gt; 100 000 (Швеция)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0039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42899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чувствит. 80.5% (AI) vs 73.8% (стандарт)  ·  нагрузка −44%  ·  интервальный рак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— значимо лучше каждого по отдельности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154679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154679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ПОБЕДА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24712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548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1206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(окт.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7548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0292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Клинические рассуждения,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983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GPT-4 в одиночку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5321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Парадокс augmentation — AI не улучшил рассуждения врача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на уровне эксплуатации.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в эксплуатации · 14 млн+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рентген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облако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федеративная AI-платформа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сервисов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+ 2-е мнение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решение
+ верификация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обработанных изображений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датасетов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Федеративная платформа: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 (bias) = следствие дизайна, а не баг.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За его пределами — может проваливаться несправедливо.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Дерматология — тон кожи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датасеты обучения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Daneshjou 2022 — чувствит.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Исправление: дообучение на DDI закрыло разрыв;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Пульсоксиметр — расовое смещение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датчик систематически завышает SpO2 на тёмной коже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Sjoding 2020 NEJM — гипоксия чаще пропускается у Black-пациентов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значит для AI: модели с SpO2 на входе наследуют ошибку датчика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Валидационный набор должен покрывать целевую популяцию. Не академическая тонкость — профессиональная ответственность.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(mosmed.ai: 14 млн+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783080"/>
            <a:ext cx="9418320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37360" y="2148840"/>
            <a:ext cx="86868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Разработка лекарств — </a:t>
            </a:r>
            <a:r>
              <a:rPr sz="2600" b="1" i="0">
                <a:solidFill>
                  <a:srgbClr val="F0AB00"/>
                </a:solidFill>
                <a:latin typeface="Arial"/>
              </a:rPr>
              <a:t>обещали в 10 раз быстрее.</a:t>
            </a:r>
          </a:p>
          <a:p>
            <a:pPr algn="ctr">
              <a:lnSpc>
                <a:spcPct val="13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check-circ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help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Phase IIa с рецензированием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help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Промежуточная пересборка. Дальше — где AI ускоряет разработку лекарств и две истории.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открытие, не клинические испытания.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успеха. AI ускоряет стадии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месяцев)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слабо — это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Поиск
мишени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Поиск
кандидатов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Оптимиз.
кандидатов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Доклинич.
испытания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Прогноз
токсичности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Клинич.
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Стратиф.
пациентов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отсева на клинических — AI не меняет. Это биология, а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«AI ускорил дизайн молекулы» (подтверждено) ≠ «AI ускорил одобрение препарата» (не подтверждено).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AlphaFold: 200 млн+ структур. AlphaProteo: связующие белки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Задача 50-летней давности — решена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База AlphaFold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структур белков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открытый, бесплатный доступ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(сент.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успешных связываний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Первый AI-связующий для VEGF-A · аффинность в 3–300×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точности на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Взаимодействия белок–лиганд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863840" y="2148840"/>
            <a:ext cx="3611879" cy="3429000"/>
          </a:xfrm>
          <a:prstGeom prst="roundRect">
            <a:avLst>
              <a:gd name="adj" fmla="val 5000"/>
            </a:avLst>
          </a:prstGeom>
          <a:solidFill>
            <a:srgbClr val="E6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2970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9429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888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2347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8806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49740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514332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78924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43516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008108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6978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83437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9896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6355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32814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989820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154412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319004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483596" y="39730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648188" y="3863339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309860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74452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639044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803636" y="35158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968228" y="34061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3D-структура белка (схематично)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AI-препарат с рецензированным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мишени с AI
→ доклинический кандидат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месяцев против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Объявлены топ-результаты
Phase IIa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Пресс-релиз Insilico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рецензированное РКИ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центр в Китае · ИЛФ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60 мг 1× в день → +98.4 мл ФЖЕЛ (форсиров. жизн. ёмкость лёгких) vs −20.3 мл плацебо (12 недель)  ·  Δ ~118 мл. ИЛФ — клинически значимо.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Российский контекст (2024–2025, доклинические):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Альянс №1 CD137 онкология (май 2024); Альянс №2 Альцгеймер (ноябрь 2025); MADD (ИТМО+Сбер,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доклинические: 0 препаратов российской разработки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проверка реальностью: AI ускорил дизайн, не клинику.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AI-разработанный препарат в клинических испытаниях» (2020) → Phase 1 закрыта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Вход в Phase 1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ОКР · Япония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ЗАКРЫТА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Причина не указана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Статус Synapse:
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Текущий R&amp;D-статус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 ускорил дизайн молекулы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подтверждено.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Клиническая эффективность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«AI-препарат = быстро + эффективно»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два независимых тезиса, объединённых маркетингом.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Медицинский AI = высокий риск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Подходы отличаются процессами, а не принципами.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специальные правила для 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финализирован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новое разрешение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вендор заранее декларирует допустимые обновления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ЕС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Регулятор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Европейская комиссия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Основание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(высокий риск)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высокий риск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— полное соответствие для медицинского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Зарегистрировано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РФ + 5 зарубежных)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Ускоренный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Локализация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→ Проектируйте с PCCP в уме: дрейф данных, триггеры переобучения, обновления порогов — план заранее.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(категория FDA) · MDR — EU Medical Device Regulation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Используем AI для понимания AI — но проверяем.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Web-чат + критическая оценка ответа.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7498079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05740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Шаг 1  ·  3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7744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Открой web-чат (ChatGPT / Claude / YandexGPT / GigaChat). Введи промпт ниже: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01752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Шаг 2  ·  3 мин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33756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Отметь карандашом: 1 неточность ИЛИ 1 непроверяемое утверждение ИЛИ 1 слишком абстрактное место.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31920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77640"/>
            <a:ext cx="64007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Шаг 3  ·  4 мин — разбор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97680"/>
            <a:ext cx="64007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Лектор спросит — 2–3 студента читают (1 мин). Лектор покажет эталонный ответ.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29200"/>
            <a:ext cx="6949440" cy="1097280"/>
          </a:xfrm>
          <a:prstGeom prst="roundRect">
            <a:avLst>
              <a:gd name="adj" fmla="val 5000"/>
            </a:avLst>
          </a:prstGeom>
          <a:solidFill>
            <a:srgbClr val="F0F4F8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66751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Готовый промпт: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667511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21295C"/>
                </a:solidFill>
                <a:latin typeface="Liberation Mono"/>
              </a:rPr>
              <a:t>«Объясни мне, что такое чувствительность и специфичность для AI-диагностики на конкретном примере (скрининг маммографии). Объясни как для студента 2 курса техн. вуза, со знанием базовой теории вероятностей.»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1691640"/>
            <a:ext cx="3657600" cy="457200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19659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Эталонный ответ (готовится накануне)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2468880"/>
            <a:ext cx="310896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76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2651760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Чувствительность — доля...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898648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...правильно пойманных AI.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3145536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TP / (TP + FN).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392424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639312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Специфичность — доля...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3886200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...правильно отпущенных.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133088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TN / (TN + FP).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379976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626864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Маммография — пример: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4873752"/>
            <a:ext cx="2834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MASAI sens 80.5%, spec 98.5%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585215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Готовится преподавателем накануне.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635508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42823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Цель — критика на уровне абзаца. AI отлично объясняет — это паттерн. AI даёт цифры без источника — антипаттерн.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medical-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901" y="1965960"/>
            <a:ext cx="2460678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Каждый AI-диагноз заканчивается этим — взаимодействием врача с пациентом.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9" name="Picture 8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697479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265176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1.  Смещение (bias) в медицинском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1546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Глубокий разбор: Obermeyer 2019</a:t>
            </a:r>
          </a:p>
        </p:txBody>
      </p:sp>
      <p:pic>
        <p:nvPicPr>
          <p:cNvPr id="12" name="Picture 11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8862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0880" y="3840479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2.  LLM-антипаттерны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3434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NEDA Tessa + adversarial + 40 млн самодиагностик</a:t>
            </a:r>
          </a:p>
        </p:txBody>
      </p:sp>
      <p:pic>
        <p:nvPicPr>
          <p:cNvPr id="15" name="Picture 14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74920"/>
            <a:ext cx="731520" cy="731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0880" y="502920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3.  Безопасность данных + ответственность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5532120"/>
            <a:ext cx="4526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Change Healthcare + рамка 4 актёров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проектирования — не задним числом после первого инцидента.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Коммерческий AI для 200 млн американцев систематически недооценивал тяжесть болезни у Black-пациентов.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Найти пациентов,
кому нужна
доп. помощь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Прокси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Расходы на
предыдущее
лечение
(не тяжесть)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Источник смещения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Black: −$1 800/год
(разный доступ)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риск-скоре у Black-пациентов: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 млн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Исправление: гибридный прокси (расходы + хронические)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доля Black-пациентов в программах ведения пациентов высокого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смещения  ·  не теория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медицинский AI — 3 задокументированных случая.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Ответственность вендора · состязательные галлюцинации · самодиагностика в массовом масштабе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— скандал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ответственность вендора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Май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одобрен NEDA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генеративный БЕЗ одобрения NEDA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скриншоты Maxwell → отключён за 24 часа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Состязательные галлюцинации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галлюцин. 83%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клинических виньеток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её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Mitigation-промпт → снижает вдвое, но ≠ ноль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Самодиагностика в масштабе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 млн американцев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 млн американцев использовали ChatGPT для здоровья за 3 месяца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совершеннолетних США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Генеративный AI ≠ rule-based AI. Изменения дизайна вендором могут обойти clinical-safety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переключения на генеративный режим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Обучающие данные медицинского AI наследуют риски безопасности.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Change Healthcare (февр. 2024): 190 млн человек, $2.457 млрд на восстановление — медданные мишень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315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млн американцев пострадали от утечки данных Change Healthcare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пострадавших американцев (~57% населения США)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восстановления UHG, 3 кв.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ТБ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украдено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Несколько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сбои в страховых выплатах США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выкуп ALPHV/BlackCat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2628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Связь с AI — обучающие датасеты медицинского AI наследуют те же риски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 млн+ изображений → расширяет цели для ransomware. Анонимизация ≠ необратимая (Sweeney 2002 — re-identification губернатора Массачусетса).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Конечная ответственность — неделима.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актёра с разной комбинацией: технический контроль × юридическая ответственность.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78308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96596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1720" y="196596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C7293"/>
                </a:solidFill>
                <a:latin typeface="Arial"/>
              </a:rPr>
              <a:t>Регулятор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603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Одобряет · проверяет · отзывает разрешения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2608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FDA · EU NB · Росздравнадзор · надзорная роль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965960"/>
            <a:ext cx="640080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23760" y="196596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5603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Конечный диагностический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92608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AI — подсказка, не решение · высокая ответственность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47472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657600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31720" y="365760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Оператор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5196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Выбор вендора · обучение · развёртывание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1772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Больница · клиника · ДЗМ · средний контроль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474720"/>
            <a:ext cx="4709159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3657600"/>
            <a:ext cx="640080" cy="640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223760" y="3657600"/>
            <a:ext cx="36575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Вендор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25196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Дизайн модели · заявки на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61772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6B7685"/>
                </a:solidFill>
                <a:latin typeface="Arial"/>
              </a:rPr>
              <a:t>Обновления PCCP · пострыночный мониторинг · высокий контроль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166360"/>
            <a:ext cx="9784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1">
                <a:solidFill>
                  <a:srgbClr val="21295C"/>
                </a:solidFill>
                <a:latin typeface="Arial"/>
              </a:rPr>
              <a:t>◄ низкий контроль · ТЕХНИЧЕСКИЙ КОНТРОЛЬ · высокий контроль 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1691640"/>
            <a:ext cx="822960" cy="3383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ОТВЕТ-
СТВЕН-
НОСТЬ
▲ высокая
▼ низкая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86400"/>
            <a:ext cx="11247120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692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Врач ставит диагноз. AI подсказывает. Конечная клиническая ответственность — </a:t>
            </a:r>
            <a:r>
              <a:rPr sz="1700" b="1" i="0">
                <a:solidFill>
                  <a:srgbClr val="F0AB00"/>
                </a:solidFill>
                <a:latin typeface="Arial"/>
              </a:rPr>
              <a:t>неделима.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Stanford TLR · Gerke et al. 2020 (Elsevier) · EU AI Act 2024/1689.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главных вывода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рамка ответственности.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— 14 млн+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— 1 451 устройство (к концу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— нагрузка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CV-пайплайн уровня 2017–2024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Разработка лекарств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решена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Rentosertib — Phase IIa подтверждён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программа закрыта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Отсев на клинических не изменился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её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черновик чек-листа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Личная версия → Лекция 14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вывода = заготовка для черновика чек-листа на следующей лекции. Не финальный синтез — заготовка.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doctor-pat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143000"/>
            <a:ext cx="3438143" cy="42976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48639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Врач — тот, кто берёт ответственность за пациента.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62355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Возврат к центральному вопросу — ответ.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Прозрачность · валидированная популяция · audit-trail — три инженерных принципа в копилку Лекции 9.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Лекция 6 + черновик чек-листа.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3 принципа сегодня — основа для черновика чек-листа на следующей лекции по этике.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tractor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0" y="23774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6 — Производство и сельское хозяйство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Cognitive Agro Pilot — 1 500+ машин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+30–40%</a:t>
            </a:r>
            <a:r>
              <a:rPr sz="1300" b="0" i="1">
                <a:solidFill>
                  <a:srgbClr val="21295C"/>
                </a:solidFill>
                <a:latin typeface="Arial"/>
              </a:rPr>
              <a:t>  эффективности (российский кейс)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891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Предиктивное обслуживание · контроль качества · физический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486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arrow-right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33172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19" y="237744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Лекция 9 — Этика и регулирование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338328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3 принципа сегодня
→ черновик чек-листа на Лекции 9
→ личная версия на Лекции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989320"/>
            <a:ext cx="11247120" cy="5943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062472"/>
            <a:ext cx="1088136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Опционально: найти 1 случай медицинского AI в новостях + применить рамку 4 актёров. Не оценивается; тренировка навыка.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371600"/>
            <a:ext cx="112471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Q&amp;A?</a:t>
            </a:r>
          </a:p>
        </p:txBody>
      </p:sp>
      <p:pic>
        <p:nvPicPr>
          <p:cNvPr id="3" name="Picture 2" descr="lucide-help-circ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1737360"/>
            <a:ext cx="1371600" cy="1371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434840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43484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1. Кто изменил мнение о медицинском AI?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102352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023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2. Чей знакомый получал AI-диагноз? Поделитесь.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69864"/>
            <a:ext cx="11247120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769864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3. Стартап в медицинском AI — какой первый вопрос про валидацию?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Курс «AI в разных индустриях» · Семинар-04 — разбор кейса · консультации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