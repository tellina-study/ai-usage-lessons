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Перед вами один конкретный пример того, что AI делает в медицине сегодня. На сайте `mlmed.org/tools/xray/` открыт публичный инструмент Chester AI, разработанный группой Cohen et al. в Mila Quebec и McGill University. Если перетащить в окно браузера любой рентгеновский снимок грудной клетки, модель примерно за три секунды выдаёт вероятностный профиль по восемнадцати патологиям — пневмония, кардиомегалия, ателектаз, плевральный выпот и так далее — и тепловую карту, показывающую, в какие области изображения «смотрела» модель.</a:t>
            </a:r>
          </a:p>
          <a:p/>
          <a:p>
            <a:r>
              <a:t>Три свойства этой демонстрации задают тон лекции. Во-первых, модель работает локально в браузере: изображение не загружается на сервер, не покидает устройство. Это design choice разработчиков, отражающий тот факт, что медицинские данные — особая категория, требующая privacy-by-design. Во-вторых, это не LLM, а narrow computer vision: конкретная свёрточная архитектура, потомок CheXNet (Rajpurkar et al. 2017), обученная на сотнях тысяч размеченных рентгеновских снимков. ChatGPT не умеет ставить метку патологии на рентгене за три секунды; Chester умеет, но не умеет писать стихи. Каждая система — узкая. И в-третьих, это уровень технологий 2017–2024 годов в рутинно работающей сегодня форме: пять лет назад такая возможность была демонстрационной, сейчас — производственной. AI в медицине, о котором мы будем говорить в этой главе, — это технологически зрелое поле, а не лабораторный эксперимент.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Это титульный слайд лекции. Он короткий по смыслу: курс, номер лекции, тема, длительность, дата. Шаблон визуально совпадает с другими лекциями курса — это часть continuity, к которой студент уже привык. Никакого дополнительного контента здесь нет; задача слайда — обозначить точку входа в лекцию и быстро перейти к опросу. Лектор задерживается на нём ровно столько, сколько нужно, чтобы аудитория сориентировалась, и сразу переходит к слайду 3 с тремя вопросами для разогрева. Если читатель проходит лекцию в self-study режиме — этот слайд можно пропускать сразу после фиксации того, что это Лекция 7 курса «AI в разных индустриях» и четвёртая отраслевая лекция (разработка ПО → финансы → инженерное проектирование → медицина).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Прежде чем погружаться в материал, попробуйте оценить три цифры — это короткий разогрев и одновременно подготовка к тому, что мы увидим на следующем слайде. Первый вопрос про FDA: сколько медицинских устройств с AI или ML-функциональностью официально одобрено в США к концу 2025 года? Вариантов четыре — меньше ста, от ста до пятисот, от пятисот до тысячи, больше тысячи. Не подсказывайте друг другу — просто поднимите руку на тот вариант, который кажется правильным. Запомните своё число — мы сравним с реальностью через минуту.</a:t>
            </a:r>
          </a:p>
          <a:p/>
          <a:p>
            <a:r>
              <a:t>Второй вопрос — личный. Получали ли вы за последний год медицинский результат, в котором участвовал AI? Это может быть КТ, рентген, ЭКГ, дерматологический скан, маммография — словом, любой случай, когда вы знаете или подозреваете, что AI-модель смотрела на ваши данные. Поднимите руку, если да. На третий вопрос — про доверие AI-диагнозу больше, чем человеческому, — большинство людей отвечают «нет», и это нормальная интуиция. Это хороший вход в разговор об ответственности, к которой мы вернёмся в пятом разделе лекции. Ваши ответы сейчас — стартовая точка, реальные данные я покажу на следующем слайде.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Ответы на первый вопрос. К концу 2025 года FDA авторизовало одну тысячу четыреста пятьдесят одно AI и ML-enabled medical device кумулятивно: двести пятьдесят восемь новых одобрений в 2024 году плюс двести девяносто пять новых в 2025. Примерно 76 процентов этих устройств относятся к радиологии — компьютерное зрение для рентгена, КТ, МРТ, маммографии, дерматологии. LLM в FDA-списке на 2026 год — единицы. Это и есть ответ на вопрос «что именно работает»: преимущественно computer vision для медицинских изображений.</a:t>
            </a:r>
          </a:p>
          <a:p/>
          <a:p>
            <a:r>
              <a:t>В России операционный масштаб AI-диагностики тоже значителен. Платформа mosmed.ai, изначально запущенная как Московский эксперимент в ноябре 2019 года, за пять лет работы обработала более четырнадцати миллионов исследований; в мае 2024 года она получила федеральный запуск под названием MosMedAI и теперь покрывает семьдесят четыре региона России. К платформе подключено более двух тысяч медицинских организаций; на ней развёрнуто около семидесяти AI-сервисов на сорока трёх клинических областях, обработано более восемнадцати миллионов изображений, разработаны одиннадцать национальных стандартов.</a:t>
            </a:r>
          </a:p>
          <a:p/>
          <a:p>
            <a:r>
              <a:t>Этот двойной сигнал — массовое внедрение в США и в России одновременно — показывает: AI в медицине перешёл из стадии лабораторного эксперимента в стадию производственной инфраструктуры. Но как мы увидим дальше, «production» не означает «решены все проблемы»; именно потому, что это масштаб, ошибки и злоупотребления тоже становятся массовыми.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Цифры с предыдущего слайда — четырнадцать миллионов исследований mosmed.ai, тысяча четыреста пятьдесят один FDA-устройство — это масштаб индустрии. Но за каждым из этих чисел стоит инженерный вопрос: какое именно обещание сбылось, и где остаётся пространство для ошибки. Рынок AI в здравоохранении оценивается в двадцать два–тридцать восемь миллиардов долларов в 2025 году по разным источникам, с прогнозом до ста миллиардов к 2030 году. Параллельно с этим растёт и число инцидент-репортов о AI-bias и медицинских ошибках. Этот двойной сигнал и формирует центральный вопрос лекции.</a:t>
            </a:r>
          </a:p>
          <a:p/>
          <a:p>
            <a:r>
              <a:t>На лекции 1 мы спрашивали: где AI работает, где — нет. Сегодня углубляемся: даже там, где AI работает, остаются вопросы ответственности. Эта лекция построена в четыре блока: сначала карта AI в медицине, потом AI-диагностика как зеркало методических проблем, затем drug discovery как баланс сбывшихся и не сбывшихся обещаний, и в конце — этика, безопасность и ответственность. На лекции 9 «Этика и регулирование» вы соберёте из этих четырёх блоков три принципа ответственного использования AI — они станут входом в черновик чек-листа, который вы доработаете на лекции 14. Сегодняшняя лекция — это материал для синтеза, не сам синтез.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Мы только что закончили открытие и поставили центральный вопрос. Дальше — первый из шести разделов: карта AI в медицине.</a:t>
            </a:r>
          </a:p>
          <a:p/>
          <a:p>
            <a:r>
              <a:t>В этом разделе мы разберём четыре разные индустрии, которые скрываются за словом «медицинский AI» — это не один набор инструментов, а четыре. Затем посмотрим на масштаб через FDA-список: 1 451 одобренное устройство к концу 2025 года — это уже инфраструктура, не футурология. И в финале раздела ответим на вопрос «зачем инженеру глубоко погружаться в медицинский AI» — три причины: высокие ставки, строгое регулирование, прозрачные операционные метрики.</a:t>
            </a:r>
          </a:p>
          <a:p/>
          <a:p>
            <a:r>
              <a:t>Карта нужна, чтобы дальше — когда мы будем смотреть на конкретные кейсы — не путать AI-диагностику с разработкой лекарств. Это разные задачи, разные данные, разные регуляторные требования.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AI в медицине — это не одна индустрия и не один стек технологий. Удобно рассмотреть четыре типа применений на двух осях. Первая ось — modality, или модальность данных: изображение и сигнал против текста и молекулы. Image- и signal-задачи — рентген, КТ, МРТ, ЭКГ, дерматологический скан — обрабатываются компьютерным зрением: CNN, Vision Transformer, специализированные foundation-модели вроде MedCLIP и BiomedCLIP. Text- и molecule-задачи — клинические записи, генерация молекул, прогнозирование структуры белка — обрабатываются другими архитектурами: трансформерами для текста, генеративной химией типа Insilico Chemistry42, AlphaProteo для молекул, AlphaFold для структур белков.</a:t>
            </a:r>
          </a:p>
          <a:p/>
          <a:p>
            <a:r>
              <a:t>Вторая ось — scope: один пациент против популяции или фармы. Single-patient задачи — это диагноз или назначение конкретному человеку. Population-задачи — это анализ когорт и индустриальные процессы: программы скрининга, drug discovery, эпидемиологический мониторинг.</a:t>
            </a:r>
          </a:p>
          <a:p/>
          <a:p>
            <a:r>
              <a:t>Пересечение двух осей даёт четыре ячейки. AI-диагностика — самая массовая (76 процентов FDA-списка) — это mosmed.ai, IDx-DR, Aidoc, Care Mentor AI. Population imaging analytics — мониторинг скрининговых программ. Персонализированная медицина — genomic AI и clinical decision support. Drug discovery — AlphaFold, Insilico, Generate Biomedicines. Эта классификация — не визуальный декор: modality определяет ML-stack, а scope определяет regulatory pathway (single patient = medical device по логике FDA SaMD; population analytics — другой регуляторный путь). Сегодня мы углубляемся в левую колонку (диагностика) и нижнюю-правую (drug discovery).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Десятилетняя динамика FDA-одобрений AI и ML-медицинских устройств — это самая прозрачная картина зрелости поля, доступная инженеру в открытых данных. В 2015 году в списке FDA было примерно шесть AI/ML-устройств за год. Между 1995 и 2015 годами кумулятивно — около тридцати трёх устройств, то есть около трёх процентов от текущего объёма. К 2020 году годовой приток вырос до шестидесяти четырёх устройств. Перелом приходится на 2022–2024 годы: в 2023 одобрено около двухсот двадцати одного нового устройства, в 2024 — двести пятьдесят восемь, в 2025 — двести девяносто пять. Кумулятивно к концу 2025 года в списке тысяча четыреста пятьдесят одно AI/ML-устройство.</a:t>
            </a:r>
          </a:p>
          <a:p/>
          <a:p>
            <a:r>
              <a:t>Два контекстных факта. Первое: около семидесяти шести процентов этих устройств относятся к радиологии — это computer vision для рентгена, КТ, МРТ, маммографии, ультразвука. Следующие по объёму специальности — кардиология и неврология; LLM-based устройства составляют единицы и пока редкость в FDA-списке. Второе: список FDA — публичный и обновляется примерно поквартально. Любой инженер может проверить статус конкретного устройства по идентификатору 510(k) или De Novo.</a:t>
            </a:r>
          </a:p>
          <a:p/>
          <a:p>
            <a:r>
              <a:t>«Тысяча четыреста пятьдесят один» — это не «AI в каждой клинике» и не «AI заменил рентгенологов». Это означает, что AI-диагностика перешла из стадии лабораторного эксперимента в стадию производственной инфраструктуры — и именно поэтому методические и регуляторные практики, о которых пойдёт речь в следующих разделах, становятся профессионально обязательными.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Возникает разумный вопрос: я не врач, зачем мне глубоко погружаться именно в медицинский AI? Ответ — три причины, каждая из которых формирует профессиональный навык, переносимый дальше.</a:t>
            </a:r>
          </a:p>
          <a:p/>
          <a:p>
            <a:r>
              <a:t>Первая причина — высокие ставки. Ошибка модели в кредитном скоринге — это финансовый ущерб; ошибка в маркетинговой рекомендации — упущенная конверсия. Ошибка медицинской AI-модели — пропущенный диагноз, лишняя биопсия, неправильное назначение. Это качественно другая стоимость ошибки, и она заставляет инженера думать о вещах, которые в менее регулируемых индустриях можно было откладывать: калибровка confidence-score, audit-trail, post-market monitoring, fallback-сценарии, интерпретируемость для конечного пользователя.</a:t>
            </a:r>
          </a:p>
          <a:p/>
          <a:p>
            <a:r>
              <a:t>Вторая причина — строгое регулирование. Медицинский AI — это первое поле, в котором инженер встречает реальную нормативку: FDA SaMD framework, EU AI Act с medical AI в категории high-risk, Росздравнадзор. Эти регуляторы требуют конкретных процессов разработки и валидации, и за нарушения предусмотрены санкции. Если инженер научится проектировать AI под эти требования, он автоматически освоит навыки, которые пригодятся в финансах (PCI DSS, ФЗ-152), в автомобильной (ISO 26262), в авиации (DO-178C).</a:t>
            </a:r>
          </a:p>
          <a:p/>
          <a:p>
            <a:r>
              <a:t>Третья причина — прозрачная operational scale. В отличие от индустриальных проектов, где «увеличение продуктивности на X%» оценивается косвенно, медицинская диагностика даёт прямые измеримые метрики: количество исследований, чувствительность скрининга, время до диагноза, доля ложноположительных. mosmed.ai за пять лет обработал четырнадцать миллионов исследований — это не маркетинговая оценка, это число actual scan'ов с подтверждаемой статистикой. И ещё одна деталь, делающая timeline actionable: 2 августа 2026 года вступает в силу первый этап обязательств EU AI Act по high-risk AI — через два с половиной месяца после нашей лекции.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Переходим к самому большому разделу лекции — четырнадцать минут на AI-диагностику. Этот раздел — зеркало, в котором отражается весь медицинский AI: что работает, что не работает, и почему обычной accuracy недостаточно.</a:t>
            </a:r>
          </a:p>
          <a:p/>
          <a:p>
            <a:r>
              <a:t>Сначала мы разберём пайплайн компьютерного зрения — изображение через CNN или ViT превращается в метку с оценкой уверенности. Это не LLM, это другая ветка AI. Затем — четыре метрики, без которых медицинская модель опасна: чувствительность, специфичность, распространённость и PPV. Покажу на примере CheXNet, как одна и та же модель даёт PPV восемь процентов при скрининге и семьдесят восемь процентов в госпитале.</a:t>
            </a:r>
          </a:p>
          <a:p/>
          <a:p>
            <a:r>
              <a:t>Потом — три ключевых исследования: Liu 2019 мета-анализ визуализации, MASAI 2024-2025 РКИ маммографии с n больше ста тысяч, и Goh 2024 — парадокс augmentation на клинических рассуждениях. И в финале — российский operational case mosmed.ai с конкретными цифрами, а также два примера bias: дерматология и пульсоксиметр.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AI-диагностика — это в первую очередь computer vision-классификация: на вход подаётся медицинское изображение, на выход — вероятностное распределение по классам патологий и тепловая карта или bounding box, показывающие, где модель «увидела» признак. Этот pipeline укладывается в четыре стадии.</a:t>
            </a:r>
          </a:p>
          <a:p/>
          <a:p>
            <a:r>
              <a:t>Первая стадия — input. Сырое медицинское изображение: DICOM-файл с КТ-аппарата, JPEG-фото дермато-скана, PNG-маммограмма. Изображение проходит препроцессинг — ресайз, нормализация интенсивности, иногда деперсонализация (удаление PHI-меток с пиксельного уровня).</a:t>
            </a:r>
          </a:p>
          <a:p/>
          <a:p>
            <a:r>
              <a:t>Вторая стадия — модель. Исторически CNN: ResNet, EfficientNet. С 2024 года всё чаще Vision Transformer и специализированные foundation models — MedCLIP, BiomedCLIP, RoentGen. Обычная схема — pre-trained на ImageNet, затем fine-tuned на медицинском датасете.</a:t>
            </a:r>
          </a:p>
          <a:p/>
          <a:p>
            <a:r>
              <a:t>Третья стадия — output. Probability score от нуля до единицы для каждого класса патологий и тепловая карта, чаще всего сгенерированная техникой Grad-CAM (Selvaraju et al. 2017), показывающая, какие пиксели вносили наибольший вклад в предсказание. Это попытка дать врачу explainability — неполную, но лучше, чем чёрный ящик.</a:t>
            </a:r>
          </a:p>
          <a:p/>
          <a:p>
            <a:r>
              <a:t>Четвёртая стадия — workflow. Врач видит изображение, heatmap и probability score и принимает диагностическое решение. AI здесь — decision support, не decision maker.</a:t>
            </a:r>
          </a:p>
          <a:p/>
          <a:p>
            <a:r>
              <a:t>Историческая референсная модель — CheXNet (Rajpurkar et al. 2017), 121-слойная DenseNet, обученная классифицировать четырнадцать патологий грудной клетки. CheXNet был одним из первых широко известных результатов «AI выходит на уровень специалиста». Современные модели — Vision Transformers и multimodal foundation models — превосходят CheXNet по точности и универсальности, но методологическая основа осталась той же.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Для медицинского AI обычная accuracy — недостаточная метрика. Нужно различать четыре связанных понятия, и понимание разницы — minimal due diligence для оценки любой медицинской CV-модели.</a:t>
            </a:r>
          </a:p>
          <a:p/>
          <a:p>
            <a:r>
              <a:t>Sensitivity, или чувствительность, — это доля больных людей, которых AI правильно поймал: TP делённое на TP плюс FN. Чувствительность критична для скрининга, где пропустить больного — катастрофа: рак на ранней стадии, инсульт, инфаркт. Specificity, или специфичность, — это доля здоровых, которых AI правильно не напугал: TN на TN плюс FP. Специфичность критична для confirmation-задач, где ложноположительный диагноз сам по себе наносит вред: биопсия, химиотерапия, паника пациента.</a:t>
            </a:r>
          </a:p>
          <a:p/>
          <a:p>
            <a:r>
              <a:t>Prevalence — распространённость болезни в популяции. Это не свойство модели, а свойство популяции, на которой модель применяется. PPV, или positive predictive value, — это вероятность реальной болезни при положительном AI-ответе: TP на TP плюс FP. Через формулу Байеса PPV выражается через sens, spec и prev напрямую.</a:t>
            </a:r>
          </a:p>
          <a:p/>
          <a:p>
            <a:r>
              <a:t>Главный нюанс. Sensitivity и specificity не зависят от prevalence — это свойства модели. PPV — зависит. Возьмём пример. CheXNet (Rajpurkar 2017) на pneumonia detection даёт примерно sens 0.94–0.96 и spec 0.89–0.93. В больничной выборке с prevalence 30 процентов PPV получается около семидесяти восьми процентов — клинически приемлемо. Если ту же модель применить как screening в общей популяции с prevalence один процент — PPV падает до примерно восьми процентов. Та же модель, та же accuracy — но восемь из ста положительных результатов действительно больны, остальные девяносто два — false positives. «94% accuracy» в маркетинге и «8% PPV в screening» — два очень разных восприятия одной модели.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Один из самых частых вопросов в популярной прессе — «AI уже превзошёл врачей?» Корректный ответ — «зависит от задачи, и нюансов больше, чем популярная пресса передаёт». Три эталонных исследования дают согласованную картину с разными ответами для разных задач.</a:t>
            </a:r>
          </a:p>
          <a:p/>
          <a:p>
            <a:r>
              <a:t>Liu и соавторы (2019, Lancet Digital Health) — первый крупный мета-анализ AI-диагностических исследований, четырнадцать проспективных работ. Pooled sensitivity AI — восемьдесят семь процентов, у клиницистов — восемьдесят пять. Разница есть, но скромная; исторический контекст «AI на уровне врача» для некоторых задач уже к 2019 году.</a:t>
            </a:r>
          </a:p>
          <a:p/>
          <a:p>
            <a:r>
              <a:t>MASAI Sweden RCT 2024–2025 — самое сильное peer-reviewed свидетельство клинической пользы AI-маммографии на сегодня. Дизайн — рандомизированное контролируемое исследование, более ста тысяч шведских женщин случайно распределялись на стандартное «двойное чтение» (два радиолога) или на AI-поддерживаемое чтение (один радиолог + AI). Чувствительность AI-поддерживаемого скрининга — восемьдесят целых пять десятых процента против семидесяти трёх и восьми у стандартного при одинаковой специфичности. Cancer detection rate — шесть и четыре против пяти на тысячу. Снижение нагрузки радиолога на сорок четыре процента. В follow-up 2025 года — снижение interval cancer rate на двенадцать процентов: дополнительные раки, найденные AI, — клинически значимые, не overdiagnosis.</a:t>
            </a:r>
          </a:p>
          <a:p/>
          <a:p>
            <a:r>
              <a:t>Goh и соавторы (JAMA Network Open, октябрь 2024) — про диагностическое мышление, не imaging. Пятьдесят врачей с GPT-4 или без. Медиана score — семьдесят шесть процентов с GPT-4 против семидесяти четырёх без; разница незначима. Сюрприз: GPT-4 alone давал более высокий score, чем доктор-плюс-GPT-4. Этот феномен называется augmentation gap: пользователи недозагружают возможности AI, держат его на роли «второго мнения», которое можно проигнорировать. Вывод для инженера: вопрос «AI или врач» — неправильный; правильные — «какая задача?», «какой workflow?», «как AI и врач интегрированы?».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Концентрированный пример того, как AI-диагностическое обещание сбылось в operational форме, — московская платформа mosmed.ai. Эксперимент по применению искусственного интеллекта в лучевой диагностике начат в Москве в ноябре 2019 года как городской проект Департамента здравоохранения Москвы и НПКЦ диагностики и телемедицины. В мае 2024 года проект запущен на федеральном уровне как MosMedAI.</a:t>
            </a:r>
          </a:p>
          <a:p/>
          <a:p>
            <a:r>
              <a:t>К концу 2025 — началу 2026 годов операционные метрики платформы складываются в production-картину. За пять лет работы AI проанализировал более четырнадцати миллионов исследований. К платформе подключено более двух тысяч медицинских организаций в семидесяти четырёх регионах России. Обработано более восемнадцати миллионов медицинских изображений, развёрнуто около семидесяти AI-сервисов на сорока трёх клинических областях — от рентгенографии грудной клетки и КТ лёгких (включая COVID-релевантные сервисы 2020–2022 годов) до маммографии, остеоденситометрии и КТ головного мозга. На основе опыта проекта разработано одиннадцать национальных стандартов и около трёхсот эталонных датасетов для бенчмаркинга AI-моделей.</a:t>
            </a:r>
          </a:p>
          <a:p/>
          <a:p>
            <a:r>
              <a:t>Архитектурно mosmed.ai — federated AI-platform: разные vendor-модели от Сбер AI Lab, Care Mentor AI, Третьего Мнения, Webiomed и других проходят через единый деплоймент, единую систему бенчмаркинга и единый интерфейс врача. Это и есть operational AI-инфраструктура: не один монопольный поставщик, а маркетплейс верифицированных моделей. Здесь — обещание AI-диагностики сбылось в operational форме (массовый деплоймент, измеримые метрики, прозрачная статистика). На следующих слайдах мы увидим: обещание drug discovery (Insilico Rentosertib) — частично сбылось в peer-reviewed форме; обещание полностью автономного AI-врача — нет, и это правильно.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AI-диагностика хорошо работает в распределении, на котором обучена. За пределами этого распределения она может проваливаться несимметрично — и эти провалы не bug, а consequence design choices в подборе тренировочных данных. Два классических кейса.</a:t>
            </a:r>
          </a:p>
          <a:p/>
          <a:p>
            <a:r>
              <a:t>Первый — дерматология и тон кожи. Большинство публично доступных дерматологических AI-датасетов, включая ISIC challenge archive — основной открытый ресурс, — исторически перепредставляли пациентов со светлой кожей из США, Европы и Австралии. Daneshjou и соавторы в 2022 году (Science Advances) протестировали несколько ранее опубликованных дерматологических алгоритмов на разнообразной по тонам кожи выборке и обнаружили: на изображениях кожи с тёмными тонами Фитцпатрика V и VI чувствительность падала на двадцать–тридцать процентов по сравнению со светлыми тонами I–III. Важный нюанс: дерматологи-люди тоже работали хуже на тёмной коже, но fine-tuning на разнообразном датасете DDI закрыл этот разрыв для AI, и fine-tuned модели в итоге превзошли дерматологов в обнаружении злокачественных образований на тёмной коже. Source bias — не моральная категория, а технический следствие выбора датасета; и он решаем.</a:t>
            </a:r>
          </a:p>
          <a:p/>
          <a:p>
            <a:r>
              <a:t>Второй — пульсоксиметры. Это случай, в котором bias проникает в AI через входной сенсор, а не через тренировочный датасет AI как такового. Пульсоксиметры систематически переоценивают SpO2 у пациентов с тёмной кожей — гипоксия пропускается чаще (Sjoding et al. 2020). FDA выпустило safety communication по этой проблеме в 2021 году. AI-системы, использующие SpO2 как input feature, наследуют этот сенсорный bias.</a:t>
            </a:r>
          </a:p>
          <a:p/>
          <a:p>
            <a:r>
              <a:t>Инженерное следствие для обоих кейсов одинаковое: validation set должен покрывать deployment population. Это не academic point — это профессиональная ответственность.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Мы прошли половину лекции и подтвердили: AI-диагностика — обещание сбылось. Дальше — четырнадцать минут на самую медийно громкую область медицинского AI: разработку лекарств.</a:t>
            </a:r>
          </a:p>
          <a:p/>
          <a:p>
            <a:r>
              <a:t>В этом разделе три ключевых истории. Первая — AlphaFold: задача пятидесятилетней давности решена, двести миллионов структур белков предсказаны, Нобелевская премия по химии 2024 года. Это безусловный прорыв. Вторая — Rentosertib от Insilico Medicine: первый AI-препарат, дошедший до peer-reviewed Phase IIa в Nature Medicine, июнь 2025. Третья — DSP-1181: тот самый «первый AI-препарат в клинических испытаниях» из заголовков 2020 года, Phase 1 которого тихо закрыли в 2022.</a:t>
            </a:r>
          </a:p>
          <a:p/>
          <a:p>
            <a:r>
              <a:t>В финале — три юрисдикции регулирования: FDA с финализированным PCCP, EU AI Act с дедлайном 2 августа 2026, и российская система с пятьюдесятью семью зарегистрированными AI-медизделиями.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Мы прошли половину лекции и хороший момент — остановиться и вернуться к центральному вопросу. На первом слайде мы видели Chester AI, который ставит метку патологии на рентгене за три секунды. На седьмом слайде — что таких систем у FDA одобрено уже почти полторы тысячи. На двенадцатом — что mosmed.ai обработал четырнадцать миллионов исследований за пять лет в семидесяти четырёх регионах России. По первой части обещания AI в медицине ответ предварительный есть: AI-диагностика сбылась в operational форме, и качество подтверждено peer-reviewed RCT уровня MASAI Sweden.</a:t>
            </a:r>
          </a:p>
          <a:p/>
          <a:p>
            <a:r>
              <a:t>Дальше — drug discovery. Маркетинговое обещание 2020–2022 годов было простым и громким: «AI ускорит разработку лекарств в десять раз». Что из этого реально к 2026 году, на момент нашей лекции? Ответ распадается на две части. Первая — что именно AI ускоряет в pipeline; вторая — два конкретных кейса с противоположными исходами, Insilico Rentosertib и DSP-1181, оба важных по разным причинам. К концу третьего раздела мы должны видеть, какие из обещаний имели под собой verifiable evidence, а какие были маркетинговой риффрафикой. Это и есть подготовка к финальной части — об ответственности и регулировании.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Перед тем как обсуждать конкретные истории успехов и неудач AI в drug discovery, нужно понимать pipeline индустрии. Традиционная разработка нового лекарства — это путь длиной десять-пятнадцать лет и стоимостью один–два миллиарда долларов на каждый одобренный препарат. Большинство кандидатов отсеивается по пути: примерный шанс перейти от Phase 1 до одобренного препарата составляет около шести и семи десятых процента.</a:t>
            </a:r>
          </a:p>
          <a:p/>
          <a:p>
            <a:r>
              <a:t>Pipeline разделяется на пять условных стадий. Первая — target identification. Какой биологический белок-мишень атаковать для лечения болезни? Здесь AI применяется для прогнозирования структуры белка (AlphaFold) и для дизайна белков-связывающих молекул (AlphaProteo). Вторая — hit discovery. Поиск молекулы-кандидата с initial activity signal. «Hit» — это молекула с начальным сигналом активности против цели. Здесь работают generative chemistry-модели: Insilico Chemistry42, Exscientia, Generate Biomedicines. Третья — lead optimization. «Lead» — это hit, доведённый до preclinical-readiness: улучшенная аффинность, селективность, стабильность. Между hit и lead — годы лабораторной работы; здесь AI ассистирует через симуляцию плюс ML. Четвёртая — preclinical: эксперименты на клетках и животных, ADMET-моделирование. Пятая — clinical Phase I, II, III: эксперименты на людях. Phase 1 — safety на малой когорте; Phase 2 — efficacy и dose-finding на средней; Phase 3 — confirmatory на большой.</a:t>
            </a:r>
          </a:p>
          <a:p/>
          <a:p>
            <a:r>
              <a:t>И главный вывод: AI ускоряет стадии один–три значительно — с четырёх-пяти лет до двенадцати-восемнадцати месяцев в лучших случаях. Стадии четыре–пять остаются доменом биологии, а не алгоритма. Привычная фраза «AI ускорит drug в десять раз» смешивает две разные claim: AI ускоряет design — verified; AI ускоряет approval — не verified, потому что восемьдесят процентов drug timeline — это clinical trials.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Самое заметное достижение AI в drug discovery за последние два года — линейка foundation models DeepMind для биологии. Эта линейка получила половину Нобелевской премии по химии 2024 года: Demis Hassabis и John Jumper за AlphaFold разделили её с David Baker за computational protein design в Розетте.</a:t>
            </a:r>
          </a:p>
          <a:p/>
          <a:p>
            <a:r>
              <a:t>AlphaFold 2 (2021) решила пятидесятилетнюю задачу — предсказание трёхмерной структуры белка по аминокислотной последовательности. К 2024 году в открытой AlphaFold Protein Structure Database — более двухсот миллионов структур белков. База открыта и бесплатна, доступна по адресу alphafold.ebi.ac.uk. DeepMind также заявляет о более чем двух миллионах исследователей-пользователей; эта последняя цифра — self-reported industry metric, не peer-reviewed, поэтому мы её приводим с явной атрибуцией.</a:t>
            </a:r>
          </a:p>
          <a:p/>
          <a:p>
            <a:r>
              <a:t>AlphaFold 3 (Nature, 8 мая 2024) — diffusion-based архитектура, расширяющая возможности от чисто белков к биомолекулярным комплексам: protein–DNA, protein–RNA, protein–ligand, ion. Улучшение точности примерно на пятьдесят процентов на бенчмарке PoseBusters для protein-ligand interactions — это первый случай, когда AI-система превзошла classical physics-based методы докинга, основной инструмент computational drug discovery последних тридцати лет.</a:t>
            </a:r>
          </a:p>
          <a:p/>
          <a:p>
            <a:r>
              <a:t>AlphaProteo (DeepMind, 5 сентября 2024) — семейство ML-моделей для de novo дизайна белковых binders. По данным DeepMind: восемьдесят восемь процентов success rate для целевого белка BHRF1; улучшение аффинности в три–триста раз против лучших ранее доступных методов на семи белковых мишенях; первый AI-сгенерированный binder для VEGF-A. Caveat — независимая репликация в других лабораториях публично пока не зафиксирована, поэтому это DeepMind's own claim, а не консенсусный peer-reviewed результат. Важная инженерная деталь: AlphaFold предсказывает структуру; drug discovery требует ещё lead optimization, ADMET, валидации. Это accelerator одной стадии, не replacement всего pipeline.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Insilico Medicine Rentosertib (внутренний код ISM001-055 / INS018_055) — на момент мая 2026 года первый AI-designed препарат с peer-reviewed positive Phase IIa readout, опубликованный в Nature Medicine в июне 2025 года. Дизайн исследования: Phase IIa рандомизированное двойное-слепое плацебо-контролируемое испытание (NCT05938920), семьдесят один пациент с идиопатическим лёгочным фиброзом — IPF, серьёзное хроническое заболевание лёгких с прогрессирующим рубцеванием — в двадцати одном клиническом центре в Китае. Препарат — TNIK inhibitor; TNIK — киназа, играющая роль в фиброгенезе.</a:t>
            </a:r>
          </a:p>
          <a:p/>
          <a:p>
            <a:r>
              <a:t>В группе дозы шестьдесят миллиграммов один раз в день в течение двенадцати недель средняя динамика форсированной жизненной ёмкости лёгких составила плюс девяносто восемь и четыре десятых миллилитра против минус двадцать целых трёх десятых в плацебо-группе. Клинически значимая разница около ста восемнадцати миллилитров: для пациентов с IPF позитивная динамика FVC — primary endpoint большинства фазных исследований этой нозологии. Наиболее частые побочные эффекты — диарея и отклонения функции печени, по четырнадцать и восемь десятых процента соответственно в группе шестидесяти миллиграммов.</a:t>
            </a:r>
          </a:p>
          <a:p/>
          <a:p>
            <a:r>
              <a:t>Что это значит для нарратива «AI ускоряет drug discovery». Insilico заявляет, что путь от target identification (TNIK как мишень) до preclinical candidate занял примерно восемнадцать месяцев против традиционных четырёх-пяти лет. Эта оценка хронологии — self-reported (опирается на корпоративный timeline Insilico, не verifiable независимо). Verifiable — сам факт публикации в Nature Medicine с положительным первичным эндпойнтом. Это качественный сдвиг по сравнению с пресс-релизами и первая peer-reviewed clinical proof-of-concept для AI-driven drug discovery.</a:t>
            </a:r>
          </a:p>
          <a:p/>
          <a:p>
            <a:r>
              <a:t>Инженерный урок: AI ускорил design — это verifiable. Clinical efficacy — отдельная задача, отдельная биология. Phase 3 для Rentosertib ещё впереди, и девяносто процентов clinical attrition rate в индустрии — статистика, которую AI не меняет.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Параллельно с success-историей Rentosertib важно рассмотреть и обратный сценарий — препарат, на который десять лет назад указывали как «доказательство AI-революции в drug discovery» и который не дошёл до пациентов. Это DSP-1181.</a:t>
            </a:r>
          </a:p>
          <a:p/>
          <a:p>
            <a:r>
              <a:t>В январе 2020 года японская Sumitomo Dainippon Pharma и британская AI-биотех Exscientia объявили о запуске Phase 1 испытаний нового препарата для обсессивно-компульсивного расстройства. Заявлено: путь от target identification до Phase 1 entry занял около двенадцати месяцев против традиционных четырёх–пяти лет для аналогичных задач. Препарат был назван «первым AI-designed drug в clinical trials» и стал главным маркетинговым примером для индустрии в 2020–2022 годах.</a:t>
            </a:r>
          </a:p>
          <a:p/>
          <a:p>
            <a:r>
              <a:t>Что произошло дальше. В 2022 году Phase 1 в Японии была остановлена. Причина discontinuation публично не раскрыта — источники указывают на возможную комбинацию efficacy, safety или business decision, но без специфики. На май 2026 года глобальный R&amp;D-статус DSP-1181 в Synapse Drug Profile зафиксирован как Discontinued.</a:t>
            </a:r>
          </a:p>
          <a:p/>
          <a:p>
            <a:r>
              <a:t>Инженерный урок из этого кейса. AI ускорил design phase — это verifiable, эта часть работает. Но clinical efficacy — отдельная задача, отдельная биология. Маркетинговое обещание «AI drug = быстро + эффективно» — это две объединённые в рекламе claim'ы, которые в реальности независимы. AI не сделал DSP-1181 эффективным; AI ускорил поиск кандидата, а кандидат не показал ожидаемого клинического результата.</a:t>
            </a:r>
          </a:p>
          <a:p/>
          <a:p>
            <a:r>
              <a:t>Это полезный антипод Rentosertib. Insilico показал, что AI-design'ed препарат может добраться до peer-reviewed Phase IIa с положительным эндпойнтом. DSP-1181 показал, что AI-design'ed препарат может не добраться до пациента. Оба случая совместимы с реальностью: около девяноста процентов clinical attrition rate в индустрии — статистика, на которую AI не влияет. Если вы будете строить AI для drug discovery — две claim'ы должны быть отделены: «ускоряем design» — техническая мера; «повышаем approval probability» — клинико-биологическая.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В трёх крупных юрисдикциях медицинский AI классифицирован как high-risk категория. Подходы отличаются процессами, а не принципами.</a:t>
            </a:r>
          </a:p>
          <a:p/>
          <a:p>
            <a:r>
              <a:t>В США регулятор — FDA. Базовая категория — SaMD (Software as Medical Device), и поверх неё — AI/ML-specific framework. Ключевое нововведение: Predetermined Change Control Plan, или PCCP, финальная гайданс выпущена 4 декабря 2024 года. Проблема, которую он решает: классическое medical device одобрение — это one-and-done, после одобрения изменения требуют новой submission. AI-модели эволюционируют непрерывно. До PCCP каждое обновление AI-модели требовало new FDA submission, занимающую двенадцать–восемнадцать месяцев. С PCCP vendor заранее декларирует, какие изменения допустимы, и FDA pre-authorizes эти изменения — vendor может обновлять модель в production без full re-submission. Это первый продакшн-grade CI/CD-framework для medical AI.</a:t>
            </a:r>
          </a:p>
          <a:p/>
          <a:p>
            <a:r>
              <a:t>В Европе — EU AI Act (Регламент 2024/1689). Medical AI попадает в категорию high-risk по Article 6 + Annex III. Важные даты: 2 августа 2026 года вступают в силу обязательства для Annex III high-risk не-MDR систем — это через два с половиной месяца после нашей лекции. 2 августа 2027 года — для MDR-regulated medical AI, то есть для большинства клинических устройств. Vendors всех категорий готовятся одновременно.</a:t>
            </a:r>
          </a:p>
          <a:p/>
          <a:p>
            <a:r>
              <a:t>В России регулятор — Росздравнадзор и ВНИИИМТ. К середине 2026 года зарегистрировано пятьдесят семь AI-медизделий: пятьдесят два российских и пять иностранных. Expedited procedure для AI-медизделий действует с 1 марта 2025 года (ПП РФ № 1684); первый зарегистрированный AI software — Webiomed, 3 апреля 2020 года. Российская специфика — обязательная передача данных в АИС Росздравнадзора и data localization по ФЗ-23, действующая с 1 июля 2025 года. Инженерный вывод: если проектируете AI для medical device, проектируйте сразу с PCCP в уме — data drift, retraining triggers, threshold updates должны быть планированы ex ante.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Мы посмотрели, что AI в медицине умеет. Теперь — про границы. Этот раздел не критика ради критики, это инженерная гигиена.</a:t>
            </a:r>
          </a:p>
          <a:p/>
          <a:p>
            <a:r>
              <a:t>Начнём с разговора о том, как LLM меняет workflow студента-медика и врача — паттерн «объясни как для студента N курса» и его границы. Это переход к LLM в медицине: AI как объяснитель работает, но требует проверки.</a:t>
            </a:r>
          </a:p>
          <a:p/>
          <a:p>
            <a:r>
              <a:t>Потом — глубокий разбор bias на примере Obermeyer 2019: статья в Science о том, как коммерческий AI для двухсот миллионов американцев систематически недооценивал тяжесть болезни у чернокожих пациентов. Это не теория, это реальные пациенты и реальный выбор прокси-переменной.</a:t>
            </a:r>
          </a:p>
          <a:p/>
          <a:p>
            <a:r>
              <a:t>Потом — три задокументированных LLM-антипаттерна: NEDA Tessa, состязательные галлюцинации в Communications Medicine 2025, и сорок миллионов американцев, использующих ChatGPT для самодиагностики.</a:t>
            </a:r>
          </a:p>
          <a:p/>
          <a:p>
            <a:r>
              <a:t>Затем Change Healthcare: атака февраля 2024 года, сто девяносто миллионов пострадавших, два с половиной миллиарда стоимости восстановления. И в финале — рамка четырёх актёров: кто отвечает за AI-ошибку. Это ответ на центральный вопрос лекции.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Один из самых стабильно работающих паттернов общения с большими языковыми моделями — это формула «объясни как для студента N курса». Когда вы говорите AI «объясни мне sensitivity и specificity для AI-диагностики на конкретном примере, например маммографический скрининг, как для студента второго курса технического вуза», — модель выдаёт связное объяснение с правильным уровнем детализации. Это не магия — это паттерн, который работает, потому что в обучающих данных LLM много текстов с явной маркировкой целевой аудитории.</a:t>
            </a:r>
          </a:p>
          <a:p/>
          <a:p>
            <a:r>
              <a:t>В медицине этот паттерн меняет реальные сценарии. Интерн читает редкое заболевание ночью на дежурстве — раньше нужно было звонить старшему, теперь можно за минуту получить связное first-pass объяснение от LLM. Ординатор разбирает новую методику исследования — то же. Врач сталкивается с новым классом препаратов и хочет быстро понять механизм действия — то же. Время между вопросом «что это вообще такое» и первым приближением к ответу падает с часов до секунд. Это меняет workflow.</a:t>
            </a:r>
          </a:p>
          <a:p/>
          <a:p>
            <a:r>
              <a:t>При этом качество — нестабильно. AI отлично пересказывает учебник: definitions, базовые механизмы, типовые примеры. AI плохо передаёт неявное знание клинициста: когда правило не работает, какие комбинации признаков подозрительны для опытного врача, какие подводные камни в конкретной российской практике 2026 года. То есть формальная часть знания — пересказывается, профессиональная интуиция — нет.</a:t>
            </a:r>
          </a:p>
          <a:p/>
          <a:p>
            <a:r>
              <a:t>И самое важное — caveat. AI даёт цифры без источника. AI пересказывает учебник пятилетней давности как «текущую практику», не предупреждая, что guidelines обновились. AI уверенно произносит неправильное название препарата, потому что в обучающих данных была опечатка. Поэтому правило для медицины и для любого high-stakes контекста: AI — первое приближение, не источник истины. Финальная верификация — учебник, клинические guidelines, старший коллега. Этот навык — отличать «AI отлично объяснил» от «AI дал цифру, которую нужно проверить» — мы будем тренировать весь курс, и именно он отделяет грамотного пользователя LLM от наивного.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В медицинском AI ставки максимальны: ошибка модели — это ошибка диагноза или назначения, и она оборачивается реальным вредом пациенту. В отличие от других индустрий, где ошибку можно частично исправить или компенсировать, в медицине последствия часто необратимы: пропущенный рак, лишняя биопсия, осложнения от ненужной терапии.</a:t>
            </a:r>
          </a:p>
          <a:p/>
          <a:p>
            <a:r>
              <a:t>В оставшейся части лекции мы разберём четыре темы, которые формируют профессиональный минимум для инженера, работающего в medical AI. Первая — bias в medical AI на примере Obermeyer 2019. Это золотой стандарт case study; одна из самых цитируемых работ в области, и она показывает, как выбор прокси-переменной в metric-driven модели становится выбором политики. Вторая — LLM анти-паттерны: NEDA Tessa, adversarial hallucination, массовое self-diagnosis. Здесь главное различие — LLM в медицинском контексте не то же самое, что medical AI; они требуют разных design countermeasures. Третья — безопасность медицинских данных: Change Healthcare breach и российское регулирование (ФЗ-152, ФЗ-23). И четвёртая — архитектура ответственности: кто отвечает, когда AI ошибается.</a:t>
            </a:r>
          </a:p>
          <a:p/>
          <a:p>
            <a:r>
              <a:t>Тон последнего раздела — серьёзный, без алармизма. Цель — научить инженера думать о границах сразу, на стадии design, а не post-hoc после первого инцидента. На лекции 9 «Этика и регулирование» вы превратите три принципа отсюда в черновик чек-листа; на лекции 14 «Будущее AI» — финализируете personal версию. Сегодня мы накапливаем материал для синтеза.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Obermeyer, Powers, Vogeli и Mullainathan, Science, страницы 447–453, 2019 года. Это золотой стандарт case study по bias в medical AI; цитируется более трёх тысяч раз; обязательное чтение для любого AI-инженера, работающего в healthcare.</a:t>
            </a:r>
          </a:p>
          <a:p/>
          <a:p>
            <a:r>
              <a:t>Контекст. В США существует коммерческий алгоритм Impact Pro, разработанный компанией Optum, дочкой UnitedHealth, и применяемый ежегодно для примерно двухсот миллионов американцев — для идентификации пациентов с высоким риском, нуждающихся в дополнительной координированной помощи. Алгоритм даёт risk score; пациенты с высоким score попадают в high-risk care management programs.</a:t>
            </a:r>
          </a:p>
          <a:p/>
          <a:p>
            <a:r>
              <a:t>Что нашли исследователи. На одном и том же risk score чернокожие пациенты были существенно болезненнее, чем белые: у них было на двадцать шесть процентов больше хронических заболеваний. То есть алгоритм систематически недооценивал тяжесть болезни у черных пациентов.</a:t>
            </a:r>
          </a:p>
          <a:p/>
          <a:p>
            <a:r>
              <a:t>Почему. Алгоритм был обучен предсказывать healthcare cost — расходы на лечение — как прокси для healthcare need, медицинской потребности. Эти две переменные коррелируют — больные тратят больше — но они не идентичны. Чернокожие пациенты исторически тратили на здравоохранение примерно на тысячу восемьсот долларов в год меньше, чем равно-больные белые, из-за access disparities: меньше страхового покрытия, географические барьеры, недоверие к системе, дискриминация. Алгоритм видел: у этих пациентов низкие расходы, значит, они «менее больны». На самом деле они были такими же больными, но получали меньше помощи.</a:t>
            </a:r>
          </a:p>
          <a:p/>
          <a:p>
            <a:r>
              <a:t>Исправление. Когда исследователи переобучили алгоритм на гибридный proxy (cost + chronic conditions), bias уменьшился на восемьдесят четыре процента. Доля чернокожих пациентов в high-risk care management programs выросла с семнадцати и семи десятых процента до сорока шести и пяти десятых. Это не теоретическое улучшение — это конкретные пациенты, получившие доступ к дополнительной помощи. Инженерный урок: когда выбираете прокси, спрашивайте — какие демографические группы могут иметь систематически разный доступ к этой прокси? Выбор метрики — это выбор политики, даже когда никто о политике не думает.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LLM в медицине — это не то же самое, что medical AI. Это важное различие. Medical AI, который проходит FDA-одобрение, — специализированная computer vision или табличная модель с подтверждённой клинической валидацией. LLM в медицинском контексте — general-purpose language model, который случилось так, что используется для медицинских вопросов; и в этом качестве на 2025–2026 годы зафиксированы три documented anti-pattern cases.</a:t>
            </a:r>
          </a:p>
          <a:p/>
          <a:p>
            <a:r>
              <a:t>Первый кейс — NEDA Tessa, vendor accountability story. National Eating Disorders Association с примерно 2018 года использовала чат-бот Tessa, разработанный компанией Cass, как первую линию helpline. Изначально Tessa был rule-based: чёткий decision-tree, никакой генерации, никаких советов вне предварительно одобренных сценариев. Это design choice со стороны NEDA — eating disorders requires clinical safety design. В марте 2023 года Cass самовольно сменила Tessa с rule-based на generative LLM — без согласования с NEDA, без новой клинической валидации. 30 мая 2023 года Sharon Maxwell опубликовала скриншоты: Tessa в новой форме советовал терять один-два фунта в неделю, удерживать дефицит калорий пятьсот-тысячу в день, целиться на две тысячи калорий максимум в день — классические eating disorder triggers. NEDA сняла Tessa с обращения в течение двадцати четырёх часов. Урок: generative AI ≠ rule-based AI; vendor design changes могут обойти clinical safety design.</a:t>
            </a:r>
          </a:p>
          <a:p/>
          <a:p>
            <a:r>
              <a:t>Второй кейс — adversarial hallucination. Communications Medicine 2025 года: шесть ведущих LLM на трёхстах клинических vignette'ах с подсаженной фейк-деталью. Модели повторяли или расширяли подсаженный фейк в восьмидесяти трёх процентах случаев. Mitigation prompt снижал rate примерно вдвое, но не до нуля. Урок: LLMs are gullible к planted errors; человеческая верификация фактов требуется для каждого факта.</a:t>
            </a:r>
          </a:p>
          <a:p/>
          <a:p>
            <a:r>
              <a:t>Третий кейс — patient self-diagnosis. Примерно сорок миллионов американцев используют ChatGPT для healthcare-вопросов; три из пяти взрослых — за последние три месяца. Регулирование за этим не успевает. Если строите medical-adjacent LLM-product — design choices масштабируются на десятки миллионов людей.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Медицинские данные — самая защищаемая категория данных в большинстве юрисдикций. И — самая ценная для атакующих, потому что они содержат combinations PII плюс медицинскую историю, которые нельзя «отменить»: номер кредитной карты банк блокирует за минуты, медицинский диагноз — нельзя.</a:t>
            </a:r>
          </a:p>
          <a:p/>
          <a:p>
            <a:r>
              <a:t>Кейс — Change Healthcare breach, февраль 2024 года, крупнейший healthcare data breach в истории США. Двадцать первого февраля ransomware-группа ALPHV/BlackCat атаковала Change Healthcare — дочернюю компанию UnitedHealth Group, обрабатывающую около трети всех claims в американской системе здравоохранения. Vector атаки — уязвимый Citrix remote access без MFA. Числа: сто девяносто миллионов американцев в затронутом объёме PHI — примерно пятьдесят семь процентов населения США. Шесть терабайт данных эксфильтровано. Двадцать два миллиона долларов выкупа выплачены в Bitcoin. Два миллиарда четыреста пятьдесят семь миллионов долларов — total recovery cost для UHG за третий квартал 2024 года. Многонедельный перерыв в обработке claims по всей US healthcare system.</a:t>
            </a:r>
          </a:p>
          <a:p/>
          <a:p>
            <a:r>
              <a:t>Связь с medical AI критически важна. Medical AI training datasets наследуют security risk медицинских данных. mosmed.ai имеет более восемнадцати миллионов медицинских изображений в своих datasets. Что произойдёт, если такой dataset эксфильтрован? Анонимизация не равна анонимности: каноническая иллюстрация — re-identification медзаписи губернатора Massachusetts через сопоставление HIPAA-compliant deidentified dataset с публичным voter roll, Sweeney 2002. Полную anonymity при работе со структурированными PII обычно невозможно гарантировать.</a:t>
            </a:r>
          </a:p>
          <a:p/>
          <a:p>
            <a:r>
              <a:t>Регуляторика. HIPAA (US, 1996) защищает PHI и ePHI. GDPR (EU, 2016/679) — sensitive personal data special category, Article 9. ФЗ-152 (РФ, 2006) с major amendments 2024–2025: с 30 мая 2025 года ужесточённые требования к операторам. ФЗ-23 от 28 февраля 2025 года (data localization): персональные данные граждан РФ не обрабатываются на серверах вне России с 1 июля 2025 года. Инженерный урок: проектируя medical AI, вы проектируете target для criminal groups. Защита: data localization, de-identification + differential privacy, segmentation, secure-by-design pipeline.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Это центральная секция для центрального вопроса лекции. Мы прошли половину пути: AI-диагностика работает, mosmed.ai тому пример; drug discovery частично работает, Rentosertib и DSP-1181 — две стороны одной медали; bias и LLM анти-паттерны реальны. Теперь — кто отвечает, когда AI ошибается. Применяем 4-actor framework: Price 2019 (U Michigan Law School) и Gerke 2020 (Penn State Dickinson Law) — основа 4-actor framework. Ответственность распределяется между четырьмя акторами с разной комбинацией technical control × legal liability.</a:t>
            </a:r>
          </a:p>
          <a:p/>
          <a:p>
            <a:r>
              <a:t>Врач — высокий control и высокая liability. Ставит финальный диагноз. AI — это input, не decision-maker. С юридической точки зрения врач остаётся primary responsible person; AI-suggestion — это «второе мнение», не decision. Это не punitive distribution: только врач имеет full context — анамнез, осмотр, лабораторные результаты, AI-output как один из inputs; никакой другой actor этого full context не имеет.</a:t>
            </a:r>
          </a:p>
          <a:p/>
          <a:p>
            <a:r>
              <a:t>Healthcare operator — больница, клиника, ДЗМ. Средний control и средняя liability. Выбирает поставщика AI, обеспечивает training персонала, мониторит работу системы в production. Если operator деплоит AI без adequate тренинга врачей — несёт ответственность за foreseeable misuse.</a:t>
            </a:r>
          </a:p>
          <a:p/>
          <a:p>
            <a:r>
              <a:t>AI-vendor — высокий control, низкая-средняя liability. Дизайнит модель, делает safety claims при FDA / EU / Росздравнадзор-регистрации, обеспечивает PCCP-updates. Если model design имеет defect — vendor несёт liability по product liability. При faithful disclosure ограничений и proper post-market surveillance liability ограничена.</a:t>
            </a:r>
          </a:p>
          <a:p/>
          <a:p>
            <a:r>
              <a:t>Regulator — FDA, EU Notified Bodies, Росздравнадзор. Низкий control, высокий oversight. Approves системы, проводит post-market surveillance, может revoke authorization. Не несёт liability за individual cases, но несёт systemic responsibility за качество approval process. Central principle: финальная клиническая ответственность не делится между человеком и алгоритмом. Врач ставит диагноз. AI подсказывает. Это юридический консенсус во всех трёх крупных юрисдикциях. Если работаете в AI-vendor роли, ваша responsibility — design AI так, чтобы врач мог выполнить свою responsibility. Эти три инженерных принципа войдут в финальный takeaway на следующем слайде.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Мы прошли четыре раздела. Сейчас финал — шесть минут на то, чтобы собрать главное в три наблюдения и связать сегодняшний материал с курсом дальше.</a:t>
            </a:r>
          </a:p>
          <a:p/>
          <a:p>
            <a:r>
              <a:t>Структура заключения. Сначала — три главных вывода лекции: AI-диагностика работает, разработка лекарств — частично, ответственность остаётся на враче. Это не финальный синтез, это сырьё для копилки персонального чек-листа, который вы соберёте на финальной Лекции 17 «Систематизация знаний и навыков».</a:t>
            </a:r>
          </a:p>
          <a:p/>
          <a:p>
            <a:r>
              <a:t>Затем — закрывающая фраза, возврат к центральному вопросу. И взгляд вперёд: медицина — четвёртая отраслевая лекция, отраслевой тур продолжается дальше в другие индустрии, где ставки другие, но методологические принципы переносятся.</a:t>
            </a:r>
          </a:p>
          <a:p/>
          <a:p>
            <a:r>
              <a:t>И в финале — Q&amp;A. После такого материала вопросов обычно хватает.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Если коротко описать, что мы прошли — три вывода и одно operational следствие. Первый. AI-диагностика работает. mosmed.ai обработал более четырнадцати миллионов исследований за пять лет в семидесяти четырёх регионах России; FDA одобрил тысячу четыреста пятьдесят одно AI/ML-устройство кумулятивно к концу 2025 года, семьдесят шесть процентов — радиология; MASAI Sweden RCT 2024–2025 подтвердил, что AI-supported маммография повышает чувствительность скрининга с семидесяти трёх и восьми десятых до восьмидесяти и пяти процентов при снижении нагрузки радиолога на сорок четыре процента. Это не футурология; это computer-vision-pipeline уровня 2017–2024 годов в production-форме.</a:t>
            </a:r>
          </a:p>
          <a:p/>
          <a:p>
            <a:r>
              <a:t>Второй. Drug discovery работает частично. AlphaFold предсказал более двухсот миллионов структур белков и получил Нобелевскую премию по химии 2024 года — Hassabis, Jumper и Baker, последний за computational protein design. Insilico Rentosertib стал первым AI-designed препаратом с peer-reviewed positive Phase IIa readout в Nature Medicine, июнь 2025 года. DSP-1181 — discontinued. AI ускоряет discovery в пять–десять раз; clinical attrition rate около девяноста процентов AI не меняет, потому что эта статистика определяется биологией, а не алгоритмом.</a:t>
            </a:r>
          </a:p>
          <a:p/>
          <a:p>
            <a:r>
              <a:t>Третий. Ответственность — на враче. AI подсказывает, врач решает. Инженер строит систему так, чтобы responsibility была технически выполнима: transparency и калибровка confidence, audit-trail, деперсонализация данных, post-market monitoring. Конкретные три принципа — transparency + calibration; validation set покрывает deployment population; audit-trail + post-market monitoring — это вход в копилку персонального чек-листа. Не финальный синтез — сырьё; финал собирается на Лекции 17 «Систематизация знаний и навыков» из всех отраслевых кейсов курса. Если в одной фразе: врач ставит диагноз, AI подсказывает, инженер делает так, чтобы врач мог по-настоящему решать.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Возвращаемся к центральному вопросу лекции. Какие AI-обещания в медицине сбылись? AI-диагностика — да, и есть конкретные числа: mosmed.ai с четырнадцатью миллионами исследований, MASAI Sweden RCT со снижением нагрузки радиолога на сорок четыре процента. Drug discovery — частично: Rentosertib peer-reviewed в Nature Medicine; DSP-1181 discontinued. И главная часть вопроса — кто отвечает, когда AI ошибается. Ответственность всегда на враче. Это не уступка консерватизму и не недоверие к AI. Это структурное распределение: только врач имеет full context.</a:t>
            </a:r>
          </a:p>
          <a:p/>
          <a:p>
            <a:r>
              <a:t>И отсюда — закрывающая фраза, на которой держится профессиональный смысл этой лекции для инженера. Врач ставит диагноз. AI подсказывает. Инженер делает так, чтобы врач мог по-настоящему решать. По-настоящему — это значит с пониманием того, что модель сделала и почему (transparency, Grad-CAM heatmap, confidence score); с уверенностью, что эта модель валидирована именно для той популяции, на которой её сейчас применяют; с возможностью восстановить, кто, когда, с какой версией модели получил такой output — это audit-trail. Эти три инженерных принципа и есть то, что вы построили сегодня в копилку лекции 9. На лекции 14 — финальный личный чек-лист.</a:t>
            </a:r>
          </a:p>
          <a:p/>
          <a:p>
            <a:r>
              <a:t>Если вы запомните одно предложение из этой лекции через две недели — пусть это будет именно оно. Врач решает. AI подсказывает. Инженер обеспечивает то, что делает первое предложение технически выполнимым.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Медицина — четвёртая отраслевая лекция курса: отраслевой блок начинается с разработки программного обеспечения, затем финансы и ритейл, затем инженерное проектирование, и теперь медицина — индустрия с наивысшими ставками, человеческой жизнью. Дальше отраслевой тур продолжается. Мы будем переходить в другие индустрии, где ставки качественно другие: не пациент, а оборудование, урожай, инфраструктура. Но многие методологические принципы этой лекции переносятся напрямую — валидация модели на разных популяциях, прозрачность и интерпретируемость выхода, мониторинг качества после развёртывания. Стоимость ошибки меняется от индустрии к индустрии, а инженерная дисциплина оценки AI — нет.</a:t>
            </a:r>
          </a:p>
          <a:p/>
          <a:p>
            <a:r>
              <a:t>Самое важное, что нужно унести с этой лекции, — три наблюдения об ответственном использовании AI в медицине. Первое: AI-выход должен быть интерпретируемым, а его confidence score — калибровано-проверенным. Второе: валидационный датасет должен покрывать ту популяцию, на которой модель реально работает; bias тестируется явно. Третье: должны быть audit-trail и постоянный мониторинг качества в production. Это не финальный синтез — это сырьё, вход в копилку вашего персонального чек-листа ответственного использования AI. Финал собирается не сегодня и не на следующей лекции, а на финальной Лекции 17 «Систематизация знаний и навыков», где вы будете синтезировать чек-лист из всех отраслевых кейсов курса, а не из одного. Один такой кейс — медицинский — у вас теперь есть.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Открытое Q&amp;A. Подождите пять-десять секунд тишины — это нормально, аудитория переваривает плотный материал. Если вопросов нет — есть три провокации в запасе. Первая — кто после этой лекции изменил мнение о медицинском AI? Второй — у кого был знакомый или родственник, чей диагноз ставился с участием AI? Третий — если бы вам предложили работать в medical AI стартапе, какой первый вопрос вы бы задали о их validation процессе?</a:t>
            </a:r>
          </a:p>
          <a:p/>
          <a:p>
            <a:r>
              <a:t>Самый частый вопрос, который возникает на лекциях этого типа — «как студенту-инженеру войти в medical AI?». Короткий ответ: курс «Системы ИИ» (track в технических вузах), Сбер AI Lab, Yandex AI Lab, Сколтех medical AI center, для медицинской визуализации — НПКЦ ДиТ ДЗМ (mosmed.ai), для drug discovery — AIRI Bioinformatics, MADD team (ИТМО + Сбер AI Lab). Все эти команды берут стажёров и junior инженеров с базовым ML и опытом работы с CV или NLP.</a:t>
            </a:r>
          </a:p>
          <a:p/>
          <a:p>
            <a:r>
              <a:t>Если кто-то задаёт технический вопрос, требующий глубокого ответа, на который не хватает времени в Q&amp;A — отложите его на office hours или в семинар sem-04, где будет полтора часа на case-анализ medical AI deployment в российском контексте. Финальный beat — поблагодарите за внимание; напомните про семинар; напомните, что готовый материал для копилки лекции 9 уже есть, и сегодняшние три принципа — реальный input в будущий черновик чек-листа.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7.png"/><Relationship Id="rId4" Type="http://schemas.openxmlformats.org/officeDocument/2006/relationships/image" Target="../media/image8.png"/><Relationship Id="rId5" Type="http://schemas.openxmlformats.org/officeDocument/2006/relationships/image" Target="../media/image9.png"/><Relationship Id="rId6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image" Target="../media/image12.png"/><Relationship Id="rId4" Type="http://schemas.openxmlformats.org/officeDocument/2006/relationships/image" Target="../media/image13.png"/><Relationship Id="rId5" Type="http://schemas.openxmlformats.org/officeDocument/2006/relationships/image" Target="../media/image14.jpg"/><Relationship Id="rId6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Relationship Id="rId3" Type="http://schemas.openxmlformats.org/officeDocument/2006/relationships/image" Target="../media/image11.png"/><Relationship Id="rId4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jpg"/><Relationship Id="rId3" Type="http://schemas.openxmlformats.org/officeDocument/2006/relationships/image" Target="../media/image17.png"/><Relationship Id="rId4" Type="http://schemas.openxmlformats.org/officeDocument/2006/relationships/image" Target="../media/image18.png"/><Relationship Id="rId5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Relationship Id="rId3" Type="http://schemas.openxmlformats.org/officeDocument/2006/relationships/image" Target="../media/image9.png"/><Relationship Id="rId4" Type="http://schemas.openxmlformats.org/officeDocument/2006/relationships/image" Target="../media/image20.png"/><Relationship Id="rId5" Type="http://schemas.openxmlformats.org/officeDocument/2006/relationships/image" Target="../media/image21.png"/><Relationship Id="rId6" Type="http://schemas.openxmlformats.org/officeDocument/2006/relationships/image" Target="../media/image22.png"/><Relationship Id="rId7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jpg"/><Relationship Id="rId3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Relationship Id="rId3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Relationship Id="rId3" Type="http://schemas.openxmlformats.org/officeDocument/2006/relationships/image" Target="../media/image25.png"/><Relationship Id="rId4" Type="http://schemas.openxmlformats.org/officeDocument/2006/relationships/image" Target="../media/image11.png"/><Relationship Id="rId5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jpg"/><Relationship Id="rId3" Type="http://schemas.openxmlformats.org/officeDocument/2006/relationships/image" Target="../media/image4.png"/><Relationship Id="rId4" Type="http://schemas.openxmlformats.org/officeDocument/2006/relationships/image" Target="../media/image27.png"/><Relationship Id="rId5" Type="http://schemas.openxmlformats.org/officeDocument/2006/relationships/image" Target="../media/image28.png"/><Relationship Id="rId6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png"/><Relationship Id="rId3" Type="http://schemas.openxmlformats.org/officeDocument/2006/relationships/image" Target="../media/image29.png"/><Relationship Id="rId4" Type="http://schemas.openxmlformats.org/officeDocument/2006/relationships/image" Target="../media/image22.png"/><Relationship Id="rId5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.jpg"/><Relationship Id="rId3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.png"/><Relationship Id="rId3" Type="http://schemas.openxmlformats.org/officeDocument/2006/relationships/image" Target="../media/image3.png"/><Relationship Id="rId4" Type="http://schemas.openxmlformats.org/officeDocument/2006/relationships/image" Target="../media/image32.png"/><Relationship Id="rId5" Type="http://schemas.openxmlformats.org/officeDocument/2006/relationships/image" Target="../media/image33.png"/><Relationship Id="rId6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4.png"/><Relationship Id="rId3" Type="http://schemas.openxmlformats.org/officeDocument/2006/relationships/image" Target="../media/image9.png"/><Relationship Id="rId4" Type="http://schemas.openxmlformats.org/officeDocument/2006/relationships/image" Target="../media/image22.png"/><Relationship Id="rId5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.jpg"/><Relationship Id="rId3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6.png"/><Relationship Id="rId3" Type="http://schemas.openxmlformats.org/officeDocument/2006/relationships/image" Target="../media/image37.png"/><Relationship Id="rId4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548640"/>
            <a:ext cx="5394960" cy="2377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600" b="1" i="0">
                <a:solidFill>
                  <a:srgbClr val="21295C"/>
                </a:solidFill>
                <a:latin typeface="Arial"/>
              </a:rPr>
              <a:t>AI ставит метку патологии на рентгене за ~3 секунды — локально в браузере, без облака.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3108960"/>
            <a:ext cx="539496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 i="1">
                <a:solidFill>
                  <a:srgbClr val="065A82"/>
                </a:solidFill>
                <a:latin typeface="Arial"/>
              </a:rPr>
              <a:t>Это narrow CV, не ChatGPT. Узкая модель решает одну задачу — классификацию рентгена.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572000"/>
            <a:ext cx="5394960" cy="1554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21295C"/>
                </a:solidFill>
                <a:latin typeface="Arial"/>
              </a:rPr>
              <a:t>На экране — </a:t>
            </a:r>
            <a:r>
              <a:rPr sz="1500" b="1" i="0">
                <a:solidFill>
                  <a:srgbClr val="065A82"/>
                </a:solidFill>
                <a:latin typeface="Arial"/>
              </a:rPr>
              <a:t>Chester AI</a:t>
            </a:r>
            <a:r>
              <a:rPr sz="1500" b="0" i="0">
                <a:solidFill>
                  <a:srgbClr val="21295C"/>
                </a:solidFill>
                <a:latin typeface="Arial"/>
              </a:rPr>
              <a:t> (Cohen et al., 2019, Mila/McGill).</a:t>
            </a:r>
          </a:p>
          <a:p>
            <a:pPr algn="l">
              <a:lnSpc>
                <a:spcPct val="135000"/>
              </a:lnSpc>
            </a:pPr>
            <a:r>
              <a:rPr sz="1500" b="1" i="0">
                <a:solidFill>
                  <a:srgbClr val="F0AB00"/>
                </a:solidFill>
                <a:latin typeface="Arial"/>
              </a:rPr>
              <a:t>~3 сек инференса</a:t>
            </a:r>
            <a:r>
              <a:rPr sz="1500" b="0" i="0">
                <a:solidFill>
                  <a:srgbClr val="21295C"/>
                </a:solidFill>
                <a:latin typeface="Arial"/>
              </a:rPr>
              <a:t>  ·  </a:t>
            </a:r>
            <a:r>
              <a:rPr sz="1500" b="1" i="0">
                <a:solidFill>
                  <a:srgbClr val="028090"/>
                </a:solidFill>
                <a:latin typeface="Arial"/>
              </a:rPr>
              <a:t>локально в браузере</a:t>
            </a:r>
          </a:p>
          <a:p>
            <a:pPr algn="l">
              <a:lnSpc>
                <a:spcPct val="135000"/>
              </a:lnSpc>
            </a:pPr>
            <a:r>
              <a:rPr sz="1400" b="0" i="1">
                <a:solidFill>
                  <a:srgbClr val="6B7685"/>
                </a:solidFill>
                <a:latin typeface="Arial"/>
              </a:rPr>
              <a:t>18 патологий: пневмония, кардиомегалия, ателектаз…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080760" y="502920"/>
            <a:ext cx="5760720" cy="4206240"/>
          </a:xfrm>
          <a:prstGeom prst="roundRect">
            <a:avLst>
              <a:gd name="adj" fmla="val 7246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chester-pneumonia-resul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45352" y="976579"/>
            <a:ext cx="5431535" cy="3258921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080760" y="4754879"/>
            <a:ext cx="57607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 i="1">
                <a:solidFill>
                  <a:srgbClr val="1C7293"/>
                </a:solidFill>
                <a:latin typeface="Arial"/>
              </a:rPr>
              <a:t>Chester AI · mlmed.org/tools/xray/ · тепловая карта + 18 классов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00800"/>
            <a:ext cx="112471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6B7685"/>
                </a:solidFill>
                <a:latin typeface="Arial"/>
              </a:rPr>
              <a:t>Cohen et al. 2019 (arXiv:1901.11210) · резервный PNG (живой демо — при наличии интернета)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0" y="1828800"/>
            <a:ext cx="4846320" cy="5029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2000" b="1" i="0">
                <a:solidFill>
                  <a:srgbClr val="D9E2EC"/>
                </a:solidFill>
                <a:latin typeface="Arial"/>
              </a:rPr>
              <a:t>07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914400"/>
            <a:ext cx="59436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028090"/>
                </a:solidFill>
                <a:latin typeface="Arial"/>
              </a:rPr>
              <a:t>ЛЕКЦИЯ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417320"/>
            <a:ext cx="640080" cy="45720"/>
          </a:xfrm>
          <a:prstGeom prst="rect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828800"/>
            <a:ext cx="7772400" cy="2377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5800" b="1" i="0">
                <a:solidFill>
                  <a:srgbClr val="21295C"/>
                </a:solidFill>
                <a:latin typeface="Arial"/>
              </a:rPr>
              <a:t>AI в медицине
и фармацевтике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4983480"/>
            <a:ext cx="45720" cy="502920"/>
          </a:xfrm>
          <a:prstGeom prst="rect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4983480"/>
            <a:ext cx="96012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0" i="0">
                <a:solidFill>
                  <a:srgbClr val="065A82"/>
                </a:solidFill>
                <a:latin typeface="Arial"/>
              </a:rPr>
              <a:t>Какие AI-обещания в медицине сбылись — и кто отвечает за ошибки.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247120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00" b="1" i="0">
                <a:solidFill>
                  <a:srgbClr val="F0AB00"/>
                </a:solidFill>
                <a:latin typeface="Arial"/>
              </a:rPr>
              <a:t>ПОДНИМИТЕ РУКИ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868680"/>
            <a:ext cx="11247120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21295C"/>
                </a:solidFill>
                <a:latin typeface="Arial"/>
              </a:rPr>
              <a:t>Сначала — ваша оценка, потом — данные.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783080"/>
            <a:ext cx="3703320" cy="4389120"/>
          </a:xfrm>
          <a:prstGeom prst="roundRect">
            <a:avLst>
              <a:gd name="adj" fmla="val 823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ucide-hand-blu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2057400"/>
            <a:ext cx="777240" cy="7772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645920" y="2103120"/>
            <a:ext cx="246887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065A82"/>
                </a:solidFill>
                <a:latin typeface="Arial"/>
              </a:rPr>
              <a:t>Q1  ·  один вариант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2971800"/>
            <a:ext cx="3154679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700" b="1" i="0">
                <a:solidFill>
                  <a:srgbClr val="21295C"/>
                </a:solidFill>
                <a:latin typeface="Arial"/>
              </a:rPr>
              <a:t>Сколько AI-устройств одобрено FDA к концу 2025?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" y="4389120"/>
            <a:ext cx="3154679" cy="384048"/>
          </a:xfrm>
          <a:prstGeom prst="roundRect">
            <a:avLst>
              <a:gd name="adj" fmla="val 5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36576" bIns="36576" wrap="none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&lt; 100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77240" y="4818888"/>
            <a:ext cx="3154679" cy="384048"/>
          </a:xfrm>
          <a:prstGeom prst="roundRect">
            <a:avLst>
              <a:gd name="adj" fmla="val 5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36576" bIns="36576" wrap="none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100 – 500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5248656"/>
            <a:ext cx="3154679" cy="384048"/>
          </a:xfrm>
          <a:prstGeom prst="roundRect">
            <a:avLst>
              <a:gd name="adj" fmla="val 5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36576" bIns="36576" wrap="none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500 – 1 000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5678424"/>
            <a:ext cx="3154679" cy="384048"/>
          </a:xfrm>
          <a:prstGeom prst="roundRect">
            <a:avLst>
              <a:gd name="adj" fmla="val 5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36576" bIns="36576" wrap="none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&gt; 1 000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43400" y="1783080"/>
            <a:ext cx="3703320" cy="4389120"/>
          </a:xfrm>
          <a:prstGeom prst="roundRect">
            <a:avLst>
              <a:gd name="adj" fmla="val 823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lucide-stethoscope-blu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17720" y="2057400"/>
            <a:ext cx="777240" cy="77724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5486400" y="2103120"/>
            <a:ext cx="246887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028090"/>
                </a:solidFill>
                <a:latin typeface="Arial"/>
              </a:rPr>
              <a:t>Q2  ·  личный опыт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17720" y="2971800"/>
            <a:ext cx="3154679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700" b="1" i="0">
                <a:solidFill>
                  <a:srgbClr val="21295C"/>
                </a:solidFill>
                <a:latin typeface="Arial"/>
              </a:rPr>
              <a:t>Получали медицинский результат с участием AI за год?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617720" y="4389120"/>
            <a:ext cx="3154679" cy="38404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24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36576" bIns="36576" wrap="none"/>
          <a:lstStyle/>
          <a:p>
            <a:pPr algn="ctr"/>
            <a:r>
              <a:rPr sz="1300" b="1">
                <a:solidFill>
                  <a:srgbClr val="028090"/>
                </a:solidFill>
                <a:latin typeface="Arial"/>
              </a:rPr>
              <a:t>Да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617720" y="4818888"/>
            <a:ext cx="3154679" cy="38404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24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36576" bIns="36576" wrap="none"/>
          <a:lstStyle/>
          <a:p>
            <a:pPr algn="ctr"/>
            <a:r>
              <a:rPr sz="1300" b="1">
                <a:solidFill>
                  <a:srgbClr val="028090"/>
                </a:solidFill>
                <a:latin typeface="Arial"/>
              </a:rPr>
              <a:t>Нет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617720" y="5248656"/>
            <a:ext cx="3154679" cy="38404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24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36576" bIns="36576" wrap="none"/>
          <a:lstStyle/>
          <a:p>
            <a:pPr algn="ctr"/>
            <a:r>
              <a:rPr sz="1300" b="1">
                <a:solidFill>
                  <a:srgbClr val="028090"/>
                </a:solidFill>
                <a:latin typeface="Arial"/>
              </a:rPr>
              <a:t>Не уверен(а)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183880" y="1783080"/>
            <a:ext cx="3703320" cy="4389120"/>
          </a:xfrm>
          <a:prstGeom prst="roundRect">
            <a:avLst>
              <a:gd name="adj" fmla="val 823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lucide-scale-blu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58200" y="2057400"/>
            <a:ext cx="777240" cy="777240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9326880" y="2103120"/>
            <a:ext cx="246887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065A82"/>
                </a:solidFill>
                <a:latin typeface="Arial"/>
              </a:rPr>
              <a:t>Q3  ·  доверие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458200" y="2971800"/>
            <a:ext cx="3154679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700" b="1" i="0">
                <a:solidFill>
                  <a:srgbClr val="21295C"/>
                </a:solidFill>
                <a:latin typeface="Arial"/>
              </a:rPr>
              <a:t>Доверяете AI-диагнозу больше, чем человеческому?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458200" y="4389120"/>
            <a:ext cx="3154679" cy="384048"/>
          </a:xfrm>
          <a:prstGeom prst="roundRect">
            <a:avLst>
              <a:gd name="adj" fmla="val 5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36576" bIns="36576" wrap="none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Да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458200" y="4818888"/>
            <a:ext cx="3154679" cy="384048"/>
          </a:xfrm>
          <a:prstGeom prst="roundRect">
            <a:avLst>
              <a:gd name="adj" fmla="val 5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36576" bIns="36576" wrap="none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Нет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458200" y="5248656"/>
            <a:ext cx="3154679" cy="384048"/>
          </a:xfrm>
          <a:prstGeom prst="roundRect">
            <a:avLst>
              <a:gd name="adj" fmla="val 5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36576" bIns="36576" wrap="none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Зависит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2920" y="6400800"/>
            <a:ext cx="112471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1">
                <a:solidFill>
                  <a:srgbClr val="1C7293"/>
                </a:solidFill>
                <a:latin typeface="Arial"/>
              </a:rPr>
              <a:t>Запомните свои ответы — сравним с реальностью на следующем слайде.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11480"/>
            <a:ext cx="11247120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21295C"/>
                </a:solidFill>
                <a:latin typeface="Arial"/>
              </a:rPr>
              <a:t>AI в медицине — уже не «будущее», а рабочая инфраструктура.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691640"/>
            <a:ext cx="6675120" cy="4297680"/>
          </a:xfrm>
          <a:prstGeom prst="roundRect">
            <a:avLst>
              <a:gd name="adj" fmla="val 7092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874520"/>
            <a:ext cx="61264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FDA — AI/ML-устройства, одобренные для медицины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286000"/>
            <a:ext cx="61264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1">
                <a:solidFill>
                  <a:srgbClr val="1C7293"/>
                </a:solidFill>
                <a:latin typeface="Arial"/>
              </a:rPr>
              <a:t>накопленным итогом · к концу 2025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2788920"/>
            <a:ext cx="6126480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0" b="1" i="0">
                <a:solidFill>
                  <a:srgbClr val="F0AB00"/>
                </a:solidFill>
                <a:latin typeface="Arial"/>
              </a:rPr>
              <a:t>1 451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4663440"/>
            <a:ext cx="61264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0" i="1">
                <a:solidFill>
                  <a:srgbClr val="21295C"/>
                </a:solidFill>
                <a:latin typeface="Arial"/>
              </a:rPr>
              <a:t>одобрено к концу 2025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5212080"/>
            <a:ext cx="20421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00" b="1" i="0">
                <a:solidFill>
                  <a:srgbClr val="065A82"/>
                </a:solidFill>
                <a:latin typeface="Arial"/>
              </a:rPr>
              <a:t>76%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5623560"/>
            <a:ext cx="20421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 i="1">
                <a:solidFill>
                  <a:srgbClr val="6B7685"/>
                </a:solidFill>
                <a:latin typeface="Arial"/>
              </a:rPr>
              <a:t>радиология (CV)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819400" y="5212080"/>
            <a:ext cx="20421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00" b="1" i="0">
                <a:solidFill>
                  <a:srgbClr val="065A82"/>
                </a:solidFill>
                <a:latin typeface="Arial"/>
              </a:rPr>
              <a:t>+295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819400" y="5623560"/>
            <a:ext cx="20421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 i="1">
                <a:solidFill>
                  <a:srgbClr val="6B7685"/>
                </a:solidFill>
                <a:latin typeface="Arial"/>
              </a:rPr>
              <a:t>новых в 2025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861560" y="5212080"/>
            <a:ext cx="20421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00" b="1" i="0">
                <a:solidFill>
                  <a:srgbClr val="065A82"/>
                </a:solidFill>
                <a:latin typeface="Arial"/>
              </a:rPr>
              <a:t>+258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861560" y="5623560"/>
            <a:ext cx="20421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 i="1">
                <a:solidFill>
                  <a:srgbClr val="6B7685"/>
                </a:solidFill>
                <a:latin typeface="Arial"/>
              </a:rPr>
              <a:t>новых в 2024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406640" y="1691640"/>
            <a:ext cx="4480560" cy="4297680"/>
          </a:xfrm>
          <a:prstGeom prst="roundRect">
            <a:avLst>
              <a:gd name="adj" fmla="val 7092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80960" y="1874520"/>
            <a:ext cx="39319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 i="0">
                <a:solidFill>
                  <a:srgbClr val="21295C"/>
                </a:solidFill>
                <a:latin typeface="Arial"/>
              </a:rPr>
              <a:t>mosmed.ai — 5 лет работы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80960" y="2331720"/>
            <a:ext cx="39319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1C7293"/>
                </a:solidFill>
                <a:latin typeface="Arial"/>
              </a:rPr>
              <a:t>ДЗМ Москвы → MosMedAI (май 2024)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680960" y="2834640"/>
            <a:ext cx="196596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F0AB00"/>
                </a:solidFill>
                <a:latin typeface="Arial"/>
              </a:rPr>
              <a:t>14 млн+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680960" y="3337560"/>
            <a:ext cx="1965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6B7685"/>
                </a:solidFill>
                <a:latin typeface="Arial"/>
              </a:rPr>
              <a:t>исследований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46920" y="2834640"/>
            <a:ext cx="196596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065A82"/>
                </a:solidFill>
                <a:latin typeface="Arial"/>
              </a:rPr>
              <a:t>74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646920" y="3337560"/>
            <a:ext cx="1965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6B7685"/>
                </a:solidFill>
                <a:latin typeface="Arial"/>
              </a:rPr>
              <a:t>региона РФ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680960" y="3794760"/>
            <a:ext cx="196596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065A82"/>
                </a:solidFill>
                <a:latin typeface="Arial"/>
              </a:rPr>
              <a:t>2 000+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680960" y="4297680"/>
            <a:ext cx="1965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6B7685"/>
                </a:solidFill>
                <a:latin typeface="Arial"/>
              </a:rPr>
              <a:t>медорганизаций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646920" y="3794760"/>
            <a:ext cx="196596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065A82"/>
                </a:solidFill>
                <a:latin typeface="Arial"/>
              </a:rPr>
              <a:t>18 млн+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646920" y="4297680"/>
            <a:ext cx="1965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6B7685"/>
                </a:solidFill>
                <a:latin typeface="Arial"/>
              </a:rPr>
              <a:t>изображений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680960" y="4754880"/>
            <a:ext cx="196596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065A82"/>
                </a:solidFill>
                <a:latin typeface="Arial"/>
              </a:rPr>
              <a:t>70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680960" y="5257800"/>
            <a:ext cx="1965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6B7685"/>
                </a:solidFill>
                <a:latin typeface="Arial"/>
              </a:rPr>
              <a:t>AI-сервисов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646920" y="4754880"/>
            <a:ext cx="196596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065A82"/>
                </a:solidFill>
                <a:latin typeface="Arial"/>
              </a:rPr>
              <a:t>11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646920" y="5257800"/>
            <a:ext cx="1965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6B7685"/>
                </a:solidFill>
                <a:latin typeface="Arial"/>
              </a:rPr>
              <a:t>нац. стандартов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02920" y="6400800"/>
            <a:ext cx="112471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6B7685"/>
                </a:solidFill>
                <a:latin typeface="Arial"/>
              </a:rPr>
              <a:t>FDA AI/ML list (к концу 2025, theimagingwire.com 10.12.2025) · Remedium 2025 · mos.ru AI Leaders Award.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02920" y="548640"/>
            <a:ext cx="11201400" cy="2743200"/>
          </a:xfrm>
          <a:prstGeom prst="roundRect">
            <a:avLst>
              <a:gd name="adj" fmla="val 11111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60120" y="1051560"/>
            <a:ext cx="10287000" cy="20116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3000" b="1" i="0">
                <a:solidFill>
                  <a:srgbClr val="21295C"/>
                </a:solidFill>
                <a:latin typeface="Arial"/>
              </a:rPr>
              <a:t>Какие AI-обещания в медицине </a:t>
            </a:r>
            <a:r>
              <a:rPr sz="3000" b="1" i="0">
                <a:solidFill>
                  <a:srgbClr val="F0AB00"/>
                </a:solidFill>
                <a:latin typeface="Arial"/>
              </a:rPr>
              <a:t>реально сбылись</a:t>
            </a:r>
            <a:r>
              <a:rPr sz="3000" b="1" i="0">
                <a:solidFill>
                  <a:srgbClr val="21295C"/>
                </a:solidFill>
                <a:latin typeface="Arial"/>
              </a:rPr>
              <a:t> к 2026 году — и </a:t>
            </a:r>
            <a:r>
              <a:rPr sz="3000" b="1" i="0">
                <a:solidFill>
                  <a:srgbClr val="F0AB00"/>
                </a:solidFill>
                <a:latin typeface="Arial"/>
              </a:rPr>
              <a:t>кто отвечает</a:t>
            </a:r>
            <a:r>
              <a:rPr sz="3000" b="1" i="0">
                <a:solidFill>
                  <a:srgbClr val="21295C"/>
                </a:solidFill>
                <a:latin typeface="Arial"/>
              </a:rPr>
              <a:t>, когда AI-диагноз ошибочен?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3520440"/>
            <a:ext cx="5943600" cy="2651760"/>
          </a:xfrm>
          <a:prstGeom prst="roundRect">
            <a:avLst>
              <a:gd name="adj" fmla="val 11494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3703320"/>
            <a:ext cx="5394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065A82"/>
                </a:solidFill>
                <a:latin typeface="Arial"/>
              </a:rPr>
              <a:t>Маршрут лекции — 4 раздела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4206240"/>
            <a:ext cx="411480" cy="411480"/>
          </a:xfrm>
          <a:prstGeom prst="roundRect">
            <a:avLst>
              <a:gd name="adj" fmla="val 5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4206240"/>
            <a:ext cx="41148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80160" y="4251959"/>
            <a:ext cx="49377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21295C"/>
                </a:solidFill>
                <a:latin typeface="Arial"/>
              </a:rPr>
              <a:t>Карта AI в медицине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77240" y="4663440"/>
            <a:ext cx="411480" cy="411480"/>
          </a:xfrm>
          <a:prstGeom prst="roundRect">
            <a:avLst>
              <a:gd name="adj" fmla="val 5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4663440"/>
            <a:ext cx="41148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80160" y="4709159"/>
            <a:ext cx="49377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21295C"/>
                </a:solidFill>
                <a:latin typeface="Arial"/>
              </a:rPr>
              <a:t>AI-диагностика как зеркало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77240" y="5120640"/>
            <a:ext cx="411480" cy="411480"/>
          </a:xfrm>
          <a:prstGeom prst="roundRect">
            <a:avLst>
              <a:gd name="adj" fmla="val 5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5120640"/>
            <a:ext cx="41148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80160" y="5166359"/>
            <a:ext cx="49377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21295C"/>
                </a:solidFill>
                <a:latin typeface="Arial"/>
              </a:rPr>
              <a:t>Разработка лекарств — обещания vs реальность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5577840"/>
            <a:ext cx="411480" cy="411480"/>
          </a:xfrm>
          <a:prstGeom prst="roundRect">
            <a:avLst>
              <a:gd name="adj" fmla="val 5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7240" y="5577840"/>
            <a:ext cx="41148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 i="0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80160" y="5623559"/>
            <a:ext cx="49377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21295C"/>
                </a:solidFill>
                <a:latin typeface="Arial"/>
              </a:rPr>
              <a:t>AI как объяснитель и его границы. Этика.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675120" y="3520440"/>
            <a:ext cx="5029200" cy="2651760"/>
          </a:xfrm>
          <a:prstGeom prst="roundRect">
            <a:avLst>
              <a:gd name="adj" fmla="val 11494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s05-doctor-laptop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83327" y="3749039"/>
            <a:ext cx="2812783" cy="1874519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1097280"/>
            <a:ext cx="3657600" cy="411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30000" b="1" i="0">
                <a:solidFill>
                  <a:srgbClr val="D9E2EC"/>
                </a:solidFill>
                <a:latin typeface="Arial"/>
              </a:rPr>
              <a:t>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297680" y="1463040"/>
            <a:ext cx="7315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i="0">
                <a:solidFill>
                  <a:srgbClr val="028090"/>
                </a:solidFill>
                <a:latin typeface="Arial"/>
              </a:rPr>
              <a:t>РАЗДЕЛ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297680" y="1965960"/>
            <a:ext cx="7315200" cy="1645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4400" b="1" i="0">
                <a:solidFill>
                  <a:srgbClr val="21295C"/>
                </a:solidFill>
                <a:latin typeface="Arial"/>
              </a:rPr>
              <a:t>Карта AI
в медицине</a:t>
            </a:r>
          </a:p>
        </p:txBody>
      </p:sp>
      <p:sp>
        <p:nvSpPr>
          <p:cNvPr id="5" name="Rectangle 4"/>
          <p:cNvSpPr/>
          <p:nvPr/>
        </p:nvSpPr>
        <p:spPr>
          <a:xfrm>
            <a:off x="4297680" y="3611880"/>
            <a:ext cx="36576" cy="502920"/>
          </a:xfrm>
          <a:prstGeom prst="rect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434840" y="3611880"/>
            <a:ext cx="722376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800" b="0" i="0">
                <a:solidFill>
                  <a:srgbClr val="065A82"/>
                </a:solidFill>
                <a:latin typeface="Arial"/>
              </a:rPr>
              <a:t>4 типа применений · масштаб FDA · почему медицина — показательный кейс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5349240"/>
            <a:ext cx="1783080" cy="868680"/>
          </a:xfrm>
          <a:prstGeom prst="roundRect">
            <a:avLst>
              <a:gd name="adj" fmla="val 25000"/>
            </a:avLst>
          </a:prstGeom>
          <a:solidFill>
            <a:srgbClr val="E6F2F4"/>
          </a:solidFill>
          <a:ln w="1524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5440679"/>
            <a:ext cx="17830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00" b="1" i="0">
                <a:solidFill>
                  <a:srgbClr val="028090"/>
                </a:solidFill>
                <a:latin typeface="Arial"/>
              </a:rPr>
              <a:t>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9496" y="5806440"/>
            <a:ext cx="1709928" cy="3657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900" b="0" i="0">
                <a:solidFill>
                  <a:srgbClr val="065A82"/>
                </a:solidFill>
                <a:latin typeface="Arial"/>
              </a:rPr>
              <a:t>Открытие
и опросы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395728" y="5349240"/>
            <a:ext cx="1783080" cy="868680"/>
          </a:xfrm>
          <a:prstGeom prst="roundRect">
            <a:avLst>
              <a:gd name="adj" fmla="val 25000"/>
            </a:avLst>
          </a:prstGeom>
          <a:solidFill>
            <a:srgbClr val="F0AB00"/>
          </a:solidFill>
          <a:ln w="2540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395728" y="5440679"/>
            <a:ext cx="17830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432304" y="5806440"/>
            <a:ext cx="1709928" cy="3657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900" b="1" i="0">
                <a:solidFill>
                  <a:srgbClr val="FFFFFF"/>
                </a:solidFill>
                <a:latin typeface="Arial"/>
              </a:rPr>
              <a:t>Карта AI
в медицине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288536" y="5349240"/>
            <a:ext cx="1783080" cy="86868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27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288536" y="5440679"/>
            <a:ext cx="17830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00" b="1" i="0">
                <a:solidFill>
                  <a:srgbClr val="1C7293"/>
                </a:solidFill>
                <a:latin typeface="Arial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25112" y="5806440"/>
            <a:ext cx="1709928" cy="3657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900" b="0" i="0">
                <a:solidFill>
                  <a:srgbClr val="6B7685"/>
                </a:solidFill>
                <a:latin typeface="Arial"/>
              </a:rPr>
              <a:t>AI-диагностика
как зеркало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81344" y="5349240"/>
            <a:ext cx="1783080" cy="86868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27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181344" y="5440679"/>
            <a:ext cx="17830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00" b="1" i="0">
                <a:solidFill>
                  <a:srgbClr val="1C7293"/>
                </a:solidFill>
                <a:latin typeface="Arial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17920" y="5806440"/>
            <a:ext cx="1709928" cy="3657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900" b="0" i="0">
                <a:solidFill>
                  <a:srgbClr val="6B7685"/>
                </a:solidFill>
                <a:latin typeface="Arial"/>
              </a:rPr>
              <a:t>Разработка
лекарств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074152" y="5349240"/>
            <a:ext cx="1783080" cy="86868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27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074152" y="5440679"/>
            <a:ext cx="17830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00" b="1" i="0">
                <a:solidFill>
                  <a:srgbClr val="1C7293"/>
                </a:solidFill>
                <a:latin typeface="Arial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110728" y="5806440"/>
            <a:ext cx="1709928" cy="3657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900" b="0" i="0">
                <a:solidFill>
                  <a:srgbClr val="6B7685"/>
                </a:solidFill>
                <a:latin typeface="Arial"/>
              </a:rPr>
              <a:t>AI-объяснитель
+ этика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966960" y="5349240"/>
            <a:ext cx="1783080" cy="86868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27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966960" y="5440679"/>
            <a:ext cx="17830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00" b="1" i="0">
                <a:solidFill>
                  <a:srgbClr val="1C7293"/>
                </a:solidFill>
                <a:latin typeface="Arial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003536" y="5806440"/>
            <a:ext cx="1709928" cy="3657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900" b="0" i="0">
                <a:solidFill>
                  <a:srgbClr val="6B7685"/>
                </a:solidFill>
                <a:latin typeface="Arial"/>
              </a:rPr>
              <a:t>Заключение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11480"/>
            <a:ext cx="11247120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21295C"/>
                </a:solidFill>
                <a:latin typeface="Arial"/>
              </a:rPr>
              <a:t>AI в медицине — 4 разные индустрии, не один набор инструментов.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097280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i="1">
                <a:solidFill>
                  <a:srgbClr val="065A82"/>
                </a:solidFill>
                <a:latin typeface="Arial"/>
              </a:rPr>
              <a:t>Модальность данных × охват = карта применений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463040" y="1645920"/>
            <a:ext cx="4663440" cy="2217420"/>
          </a:xfrm>
          <a:prstGeom prst="roundRect">
            <a:avLst>
              <a:gd name="adj" fmla="val 13745"/>
            </a:avLst>
          </a:prstGeom>
          <a:solidFill>
            <a:srgbClr val="FEF5E0"/>
          </a:solidFill>
          <a:ln w="3810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463040" y="1645920"/>
            <a:ext cx="4663440" cy="91440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ucide-scan-blu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45920" y="1847088"/>
            <a:ext cx="868680" cy="86868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2651760" y="1847088"/>
            <a:ext cx="3383279" cy="8686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 i="0">
                <a:solidFill>
                  <a:srgbClr val="21295C"/>
                </a:solidFill>
                <a:latin typeface="Arial"/>
              </a:rPr>
              <a:t>AI-диагностика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45920" y="2788920"/>
            <a:ext cx="43891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 i="1">
                <a:solidFill>
                  <a:srgbClr val="065A82"/>
                </a:solidFill>
                <a:latin typeface="Arial"/>
              </a:rPr>
              <a:t>КТ · МРТ · рентген · дермато-скан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45920" y="3246120"/>
            <a:ext cx="4389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 i="0">
                <a:solidFill>
                  <a:srgbClr val="6B7685"/>
                </a:solidFill>
                <a:latin typeface="Arial"/>
              </a:rPr>
              <a:t>Типичные продукты: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45920" y="3520439"/>
            <a:ext cx="43891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mosmed.ai · IDx-DR · Aidoc · Watson Imaging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309359" y="1645920"/>
            <a:ext cx="4663440" cy="2217420"/>
          </a:xfrm>
          <a:prstGeom prst="roundRect">
            <a:avLst>
              <a:gd name="adj" fmla="val 13745"/>
            </a:avLst>
          </a:prstGeom>
          <a:solidFill>
            <a:srgbClr val="F4F7FA"/>
          </a:solidFill>
          <a:ln w="254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309359" y="1645920"/>
            <a:ext cx="4663440" cy="91440"/>
          </a:xfrm>
          <a:prstGeom prst="rect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lucide-heart-pulse-blu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92240" y="1847088"/>
            <a:ext cx="868680" cy="86868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498079" y="1847088"/>
            <a:ext cx="3383279" cy="8686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 i="0">
                <a:solidFill>
                  <a:srgbClr val="21295C"/>
                </a:solidFill>
                <a:latin typeface="Arial"/>
              </a:rPr>
              <a:t>Популяционная визуализация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92240" y="2788920"/>
            <a:ext cx="43891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 i="1">
                <a:solidFill>
                  <a:srgbClr val="1C7293"/>
                </a:solidFill>
                <a:latin typeface="Arial"/>
              </a:rPr>
              <a:t>Скрининговые программы для миллионов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92240" y="3246120"/>
            <a:ext cx="4389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 i="0">
                <a:solidFill>
                  <a:srgbClr val="6B7685"/>
                </a:solidFill>
                <a:latin typeface="Arial"/>
              </a:rPr>
              <a:t>Типичные программы: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92240" y="3520439"/>
            <a:ext cx="43891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MASAI (Швеция, n&gt;100k) · BreastScreen · NHS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463040" y="4046220"/>
            <a:ext cx="4663440" cy="2217420"/>
          </a:xfrm>
          <a:prstGeom prst="roundRect">
            <a:avLst>
              <a:gd name="adj" fmla="val 13745"/>
            </a:avLst>
          </a:prstGeom>
          <a:solidFill>
            <a:srgbClr val="F4F7FA"/>
          </a:solidFill>
          <a:ln w="254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463040" y="4046220"/>
            <a:ext cx="4663440" cy="91440"/>
          </a:xfrm>
          <a:prstGeom prst="rect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lucide-pill-blu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45920" y="4247388"/>
            <a:ext cx="868680" cy="868680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2651760" y="4247388"/>
            <a:ext cx="3383279" cy="8686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 i="0">
                <a:solidFill>
                  <a:srgbClr val="21295C"/>
                </a:solidFill>
                <a:latin typeface="Arial"/>
              </a:rPr>
              <a:t>Персонализированная медицина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645920" y="5189220"/>
            <a:ext cx="43891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 i="1">
                <a:solidFill>
                  <a:srgbClr val="1C7293"/>
                </a:solidFill>
                <a:latin typeface="Arial"/>
              </a:rPr>
              <a:t>Геномный AI · клинические решения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645920" y="5646420"/>
            <a:ext cx="4389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 i="0">
                <a:solidFill>
                  <a:srgbClr val="6B7685"/>
                </a:solidFill>
                <a:latin typeface="Arial"/>
              </a:rPr>
              <a:t>Типичные платформы: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645920" y="5920740"/>
            <a:ext cx="43891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Tempus · Foundation Med · Webiomed (РФ)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309359" y="4046220"/>
            <a:ext cx="4663440" cy="2217420"/>
          </a:xfrm>
          <a:prstGeom prst="roundRect">
            <a:avLst>
              <a:gd name="adj" fmla="val 13745"/>
            </a:avLst>
          </a:prstGeom>
          <a:solidFill>
            <a:srgbClr val="FEF5E0"/>
          </a:solidFill>
          <a:ln w="3810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309359" y="4046220"/>
            <a:ext cx="4663440" cy="91440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7" name="Picture 26" descr="lucide-flask-conical-blu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92240" y="4247388"/>
            <a:ext cx="868680" cy="868680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7498079" y="4247388"/>
            <a:ext cx="3383279" cy="8686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 i="0">
                <a:solidFill>
                  <a:srgbClr val="21295C"/>
                </a:solidFill>
                <a:latin typeface="Arial"/>
              </a:rPr>
              <a:t>Разработка лекарств + эпид.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92240" y="5189220"/>
            <a:ext cx="43891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 i="1">
                <a:solidFill>
                  <a:srgbClr val="065A82"/>
                </a:solidFill>
                <a:latin typeface="Arial"/>
              </a:rPr>
              <a:t>Генеративная химия · структуры белков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92240" y="5646420"/>
            <a:ext cx="4389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 i="0">
                <a:solidFill>
                  <a:srgbClr val="6B7685"/>
                </a:solidFill>
                <a:latin typeface="Arial"/>
              </a:rPr>
              <a:t>Типичные игроки: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92240" y="5920740"/>
            <a:ext cx="43891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AlphaFold · Insilico · Recursion · Сбер AI Lab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371600" y="6428232"/>
            <a:ext cx="96926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 i="1">
                <a:solidFill>
                  <a:srgbClr val="21295C"/>
                </a:solidFill>
                <a:latin typeface="Arial"/>
              </a:rPr>
              <a:t>◄ один пациент        ОХВАТ        популяция ►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74320" y="1508760"/>
            <a:ext cx="1188720" cy="24003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1" i="0">
                <a:solidFill>
                  <a:srgbClr val="21295C"/>
                </a:solidFill>
                <a:latin typeface="Arial"/>
              </a:rPr>
              <a:t>▲
изображения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74320" y="3954780"/>
            <a:ext cx="1188720" cy="24003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1" i="0">
                <a:solidFill>
                  <a:srgbClr val="21295C"/>
                </a:solidFill>
                <a:latin typeface="Arial"/>
              </a:rPr>
              <a:t>текст
▼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74320" y="3771900"/>
            <a:ext cx="11887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 i="1">
                <a:solidFill>
                  <a:srgbClr val="028090"/>
                </a:solidFill>
                <a:latin typeface="Arial"/>
              </a:rPr>
              <a:t>МОДАЛЬНОСТЬ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11480"/>
            <a:ext cx="11247120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21295C"/>
                </a:solidFill>
                <a:latin typeface="Arial"/>
              </a:rPr>
              <a:t>За 10 лет — от 6 до 1 451 AI-устройства, одобренных FDA.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097280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i="1">
                <a:solidFill>
                  <a:srgbClr val="065A82"/>
                </a:solidFill>
                <a:latin typeface="Arial"/>
              </a:rPr>
              <a:t>Это инфраструктура, не футурология.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783080"/>
            <a:ext cx="8229600" cy="4297680"/>
          </a:xfrm>
          <a:prstGeom prst="roundRect">
            <a:avLst>
              <a:gd name="adj" fmla="val 7092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c1-fda-ba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45919" y="2057400"/>
            <a:ext cx="5943600" cy="356616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77240" y="5715000"/>
            <a:ext cx="76809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 i="1">
                <a:solidFill>
                  <a:srgbClr val="1C7293"/>
                </a:solidFill>
                <a:latin typeface="Arial"/>
              </a:rPr>
              <a:t>AI/ML-устройства, одобренные FDA для медицины · накопленным итогом · к концу 2025.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961120" y="1783080"/>
            <a:ext cx="3154680" cy="4297680"/>
          </a:xfrm>
          <a:prstGeom prst="roundRect">
            <a:avLst>
              <a:gd name="adj" fmla="val 9661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235440" y="2057400"/>
            <a:ext cx="260604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21295C"/>
                </a:solidFill>
                <a:latin typeface="Arial"/>
              </a:rPr>
              <a:t>Ключевые числа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235440" y="2560320"/>
            <a:ext cx="26060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400" b="1" i="0">
                <a:solidFill>
                  <a:srgbClr val="F0AB00"/>
                </a:solidFill>
                <a:latin typeface="Arial"/>
              </a:rPr>
              <a:t>1 451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235440" y="3108960"/>
            <a:ext cx="26060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6B7685"/>
                </a:solidFill>
                <a:latin typeface="Arial"/>
              </a:rPr>
              <a:t>накопленным итогом · к концу 2025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235440" y="3566160"/>
            <a:ext cx="26060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 i="0">
                <a:solidFill>
                  <a:srgbClr val="065A82"/>
                </a:solidFill>
                <a:latin typeface="Arial"/>
              </a:rPr>
              <a:t>76%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235440" y="4023360"/>
            <a:ext cx="26060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6B7685"/>
                </a:solidFill>
                <a:latin typeface="Arial"/>
              </a:rPr>
              <a:t>радиология (CV)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235440" y="4480560"/>
            <a:ext cx="26060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 i="0">
                <a:solidFill>
                  <a:srgbClr val="065A82"/>
                </a:solidFill>
                <a:latin typeface="Arial"/>
              </a:rPr>
              <a:t>+295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235440" y="4937760"/>
            <a:ext cx="26060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6B7685"/>
                </a:solidFill>
                <a:latin typeface="Arial"/>
              </a:rPr>
              <a:t>новых в 2025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235440" y="5394960"/>
            <a:ext cx="2606040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1">
                <a:solidFill>
                  <a:srgbClr val="F0AB00"/>
                </a:solidFill>
                <a:latin typeface="Arial"/>
              </a:rPr>
              <a:t>Перелом — 2022–2024:
экспоненциальный рост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2920" y="6400800"/>
            <a:ext cx="112471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6B7685"/>
                </a:solidFill>
                <a:latin typeface="Arial"/>
              </a:rPr>
              <a:t>FDA AI/ML list (fda.gov, к концу 2025) · JAMA Network Open systematic review 2025 · The Imaging Wire 10.12.2025.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11480"/>
            <a:ext cx="11247120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21295C"/>
                </a:solidFill>
                <a:latin typeface="Arial"/>
              </a:rPr>
              <a:t>Медицина — показательный кейс для инженера.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097280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i="1">
                <a:solidFill>
                  <a:srgbClr val="065A82"/>
                </a:solidFill>
                <a:latin typeface="Arial"/>
              </a:rPr>
              <a:t>Высокие ставки + строгое регулирование + прозрачные операционные метрики.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691640"/>
            <a:ext cx="2468880" cy="4160520"/>
          </a:xfrm>
          <a:prstGeom prst="roundRect">
            <a:avLst>
              <a:gd name="adj" fmla="val 12345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ucide-alert-triangle-blu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2011680"/>
            <a:ext cx="868680" cy="8686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77240" y="3017520"/>
            <a:ext cx="192024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 i="0">
                <a:solidFill>
                  <a:srgbClr val="065A82"/>
                </a:solidFill>
                <a:latin typeface="Arial"/>
              </a:rPr>
              <a:t>Высокие ставки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3840480"/>
            <a:ext cx="192024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Ошибка модели → ошибка диагноза → вред пациенту.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4846320"/>
            <a:ext cx="192024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1">
                <a:solidFill>
                  <a:srgbClr val="6B7685"/>
                </a:solidFill>
                <a:latin typeface="Arial"/>
              </a:rPr>
              <a:t>Калибровка уверенности модели, audit-trail, fallback-сценарии.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108960" y="1691640"/>
            <a:ext cx="2468880" cy="4160520"/>
          </a:xfrm>
          <a:prstGeom prst="roundRect">
            <a:avLst>
              <a:gd name="adj" fmla="val 12345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lucide-shield-blu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83280" y="2011680"/>
            <a:ext cx="868680" cy="86868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3383280" y="3017520"/>
            <a:ext cx="192024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 i="0">
                <a:solidFill>
                  <a:srgbClr val="1C7293"/>
                </a:solidFill>
                <a:latin typeface="Arial"/>
              </a:rPr>
              <a:t>Строгое регулирование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383280" y="3840480"/>
            <a:ext cx="192024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FDA SaMD · EU AI Act high-risk · Росздравнадзор.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383280" y="4846320"/>
            <a:ext cx="192024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1">
                <a:solidFill>
                  <a:srgbClr val="6B7685"/>
                </a:solidFill>
                <a:latin typeface="Arial"/>
              </a:rPr>
              <a:t>Регуляторные навыки переносятся в финансы, авто, авиа.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715000" y="1691640"/>
            <a:ext cx="2468880" cy="4160520"/>
          </a:xfrm>
          <a:prstGeom prst="roundRect">
            <a:avLst>
              <a:gd name="adj" fmla="val 12345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lucide-coins-blu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89320" y="2011680"/>
            <a:ext cx="868680" cy="86868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5989320" y="3017520"/>
            <a:ext cx="192024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 i="0">
                <a:solidFill>
                  <a:srgbClr val="065A82"/>
                </a:solidFill>
                <a:latin typeface="Arial"/>
              </a:rPr>
              <a:t>Прозрачные операционные метрики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89320" y="3840480"/>
            <a:ext cx="192024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mosmed.ai: 14 млн+ исследований · 74 региона · 70 сервисов.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89320" y="4846320"/>
            <a:ext cx="192024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1">
                <a:solidFill>
                  <a:srgbClr val="6B7685"/>
                </a:solidFill>
                <a:latin typeface="Arial"/>
              </a:rPr>
              <a:t>Метрики измеримы — не маркетинговая оценка.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366760" y="1691640"/>
            <a:ext cx="3322015" cy="4160520"/>
          </a:xfrm>
          <a:prstGeom prst="roundRect">
            <a:avLst>
              <a:gd name="adj" fmla="val 9175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s08-radiologist-screen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503920" y="1995331"/>
            <a:ext cx="3047695" cy="3233096"/>
          </a:xfrm>
          <a:prstGeom prst="rect">
            <a:avLst/>
          </a:prstGeom>
        </p:spPr>
      </p:pic>
      <p:sp>
        <p:nvSpPr>
          <p:cNvPr id="21" name="Rounded Rectangle 20"/>
          <p:cNvSpPr/>
          <p:nvPr/>
        </p:nvSpPr>
        <p:spPr>
          <a:xfrm>
            <a:off x="502920" y="6035040"/>
            <a:ext cx="11247120" cy="457200"/>
          </a:xfrm>
          <a:prstGeom prst="roundRect">
            <a:avLst>
              <a:gd name="adj" fmla="val 12000"/>
            </a:avLst>
          </a:prstGeom>
          <a:solidFill>
            <a:srgbClr val="FEF5E0"/>
          </a:solidFill>
          <a:ln w="1524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85800" y="6108192"/>
            <a:ext cx="1088136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→ Регуляторные навыки переносятся: PCI DSS · ФЗ-152 · ISO 26262 · DO-178C.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1097280"/>
            <a:ext cx="3657600" cy="411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30000" b="1" i="0">
                <a:solidFill>
                  <a:srgbClr val="D9E2EC"/>
                </a:solidFill>
                <a:latin typeface="Arial"/>
              </a:rPr>
              <a:t>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297680" y="1463040"/>
            <a:ext cx="7315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i="0">
                <a:solidFill>
                  <a:srgbClr val="028090"/>
                </a:solidFill>
                <a:latin typeface="Arial"/>
              </a:rPr>
              <a:t>РАЗДЕЛ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297680" y="1965960"/>
            <a:ext cx="7315200" cy="1645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4400" b="1" i="0">
                <a:solidFill>
                  <a:srgbClr val="21295C"/>
                </a:solidFill>
                <a:latin typeface="Arial"/>
              </a:rPr>
              <a:t>AI-диагностика
как зеркало</a:t>
            </a:r>
          </a:p>
        </p:txBody>
      </p:sp>
      <p:sp>
        <p:nvSpPr>
          <p:cNvPr id="5" name="Rectangle 4"/>
          <p:cNvSpPr/>
          <p:nvPr/>
        </p:nvSpPr>
        <p:spPr>
          <a:xfrm>
            <a:off x="4297680" y="3611880"/>
            <a:ext cx="36576" cy="502920"/>
          </a:xfrm>
          <a:prstGeom prst="rect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434840" y="3611880"/>
            <a:ext cx="722376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800" b="0" i="0">
                <a:solidFill>
                  <a:srgbClr val="065A82"/>
                </a:solidFill>
                <a:latin typeface="Arial"/>
              </a:rPr>
              <a:t>computer vision · sens/spec/PPV · MASAI vs Goh · mosmed.ai · bias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5349240"/>
            <a:ext cx="1783080" cy="868680"/>
          </a:xfrm>
          <a:prstGeom prst="roundRect">
            <a:avLst>
              <a:gd name="adj" fmla="val 25000"/>
            </a:avLst>
          </a:prstGeom>
          <a:solidFill>
            <a:srgbClr val="E6F2F4"/>
          </a:solidFill>
          <a:ln w="1524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5440679"/>
            <a:ext cx="17830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00" b="1" i="0">
                <a:solidFill>
                  <a:srgbClr val="028090"/>
                </a:solidFill>
                <a:latin typeface="Arial"/>
              </a:rPr>
              <a:t>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9496" y="5806440"/>
            <a:ext cx="1709928" cy="3657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900" b="0" i="0">
                <a:solidFill>
                  <a:srgbClr val="065A82"/>
                </a:solidFill>
                <a:latin typeface="Arial"/>
              </a:rPr>
              <a:t>Открытие
и опросы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395728" y="5349240"/>
            <a:ext cx="1783080" cy="868680"/>
          </a:xfrm>
          <a:prstGeom prst="roundRect">
            <a:avLst>
              <a:gd name="adj" fmla="val 25000"/>
            </a:avLst>
          </a:prstGeom>
          <a:solidFill>
            <a:srgbClr val="E6F2F4"/>
          </a:solidFill>
          <a:ln w="1524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395728" y="5440679"/>
            <a:ext cx="17830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00" b="1" i="0">
                <a:solidFill>
                  <a:srgbClr val="028090"/>
                </a:solidFill>
                <a:latin typeface="Arial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432304" y="5806440"/>
            <a:ext cx="1709928" cy="3657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900" b="0" i="0">
                <a:solidFill>
                  <a:srgbClr val="065A82"/>
                </a:solidFill>
                <a:latin typeface="Arial"/>
              </a:rPr>
              <a:t>Карта AI
в медицине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288536" y="5349240"/>
            <a:ext cx="1783080" cy="868680"/>
          </a:xfrm>
          <a:prstGeom prst="roundRect">
            <a:avLst>
              <a:gd name="adj" fmla="val 25000"/>
            </a:avLst>
          </a:prstGeom>
          <a:solidFill>
            <a:srgbClr val="F0AB00"/>
          </a:solidFill>
          <a:ln w="2540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288536" y="5440679"/>
            <a:ext cx="17830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25112" y="5806440"/>
            <a:ext cx="1709928" cy="3657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900" b="1" i="0">
                <a:solidFill>
                  <a:srgbClr val="FFFFFF"/>
                </a:solidFill>
                <a:latin typeface="Arial"/>
              </a:rPr>
              <a:t>AI-диагностика
как зеркало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81344" y="5349240"/>
            <a:ext cx="1783080" cy="86868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27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181344" y="5440679"/>
            <a:ext cx="17830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00" b="1" i="0">
                <a:solidFill>
                  <a:srgbClr val="1C7293"/>
                </a:solidFill>
                <a:latin typeface="Arial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17920" y="5806440"/>
            <a:ext cx="1709928" cy="3657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900" b="0" i="0">
                <a:solidFill>
                  <a:srgbClr val="6B7685"/>
                </a:solidFill>
                <a:latin typeface="Arial"/>
              </a:rPr>
              <a:t>Разработка
лекарств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074152" y="5349240"/>
            <a:ext cx="1783080" cy="86868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27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074152" y="5440679"/>
            <a:ext cx="17830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00" b="1" i="0">
                <a:solidFill>
                  <a:srgbClr val="1C7293"/>
                </a:solidFill>
                <a:latin typeface="Arial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110728" y="5806440"/>
            <a:ext cx="1709928" cy="3657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900" b="0" i="0">
                <a:solidFill>
                  <a:srgbClr val="6B7685"/>
                </a:solidFill>
                <a:latin typeface="Arial"/>
              </a:rPr>
              <a:t>AI-объяснитель
+ этика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966960" y="5349240"/>
            <a:ext cx="1783080" cy="86868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27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966960" y="5440679"/>
            <a:ext cx="17830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00" b="1" i="0">
                <a:solidFill>
                  <a:srgbClr val="1C7293"/>
                </a:solidFill>
                <a:latin typeface="Arial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003536" y="5806440"/>
            <a:ext cx="1709928" cy="3657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900" b="0" i="0">
                <a:solidFill>
                  <a:srgbClr val="6B7685"/>
                </a:solidFill>
                <a:latin typeface="Arial"/>
              </a:rPr>
              <a:t>Заключение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11480"/>
            <a:ext cx="11247120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21295C"/>
                </a:solidFill>
                <a:latin typeface="Arial"/>
              </a:rPr>
              <a:t>AI-диагностика — это компьютерное зрение, не LLM.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097280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i="1">
                <a:solidFill>
                  <a:srgbClr val="065A82"/>
                </a:solidFill>
                <a:latin typeface="Arial"/>
              </a:rPr>
              <a:t>изображение → метка с оценкой уверенности. Это не LLM.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828800"/>
            <a:ext cx="2434590" cy="2377440"/>
          </a:xfrm>
          <a:prstGeom prst="roundRect">
            <a:avLst>
              <a:gd name="adj" fmla="val 1282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85800" y="2011680"/>
            <a:ext cx="2068830" cy="502920"/>
          </a:xfrm>
          <a:prstGeom prst="roundRect">
            <a:avLst>
              <a:gd name="adj" fmla="val 20000"/>
            </a:avLst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2011680"/>
            <a:ext cx="206883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 i="0">
                <a:solidFill>
                  <a:srgbClr val="FFFFFF"/>
                </a:solidFill>
                <a:latin typeface="Arial"/>
              </a:rPr>
              <a:t>1. Вход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606040"/>
            <a:ext cx="2068830" cy="1463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0000"/>
              </a:lnSpc>
            </a:pPr>
            <a:r>
              <a:rPr sz="1300" b="0" i="0">
                <a:solidFill>
                  <a:srgbClr val="21295C"/>
                </a:solidFill>
                <a:latin typeface="Arial"/>
              </a:rPr>
              <a:t>Изображение
DICOM / PNG / JPEG
(препроцессинг)</a:t>
            </a:r>
          </a:p>
        </p:txBody>
      </p:sp>
      <p:sp>
        <p:nvSpPr>
          <p:cNvPr id="8" name="Right Arrow 7"/>
          <p:cNvSpPr/>
          <p:nvPr/>
        </p:nvSpPr>
        <p:spPr>
          <a:xfrm>
            <a:off x="2983230" y="2788920"/>
            <a:ext cx="411480" cy="457200"/>
          </a:xfrm>
          <a:prstGeom prst="rightArrow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3440430" y="1828800"/>
            <a:ext cx="2434590" cy="2377440"/>
          </a:xfrm>
          <a:prstGeom prst="roundRect">
            <a:avLst>
              <a:gd name="adj" fmla="val 12820"/>
            </a:avLst>
          </a:prstGeom>
          <a:solidFill>
            <a:srgbClr val="FEF5E0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3623310" y="2011680"/>
            <a:ext cx="2068830" cy="502920"/>
          </a:xfrm>
          <a:prstGeom prst="roundRect">
            <a:avLst>
              <a:gd name="adj" fmla="val 2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623310" y="2011680"/>
            <a:ext cx="206883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 i="0">
                <a:solidFill>
                  <a:srgbClr val="21295C"/>
                </a:solidFill>
                <a:latin typeface="Arial"/>
              </a:rPr>
              <a:t>2. Модель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23310" y="2606040"/>
            <a:ext cx="2068830" cy="1463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0000"/>
              </a:lnSpc>
            </a:pPr>
            <a:r>
              <a:rPr sz="1300" b="0" i="0">
                <a:solidFill>
                  <a:srgbClr val="21295C"/>
                </a:solidFill>
                <a:latin typeface="Arial"/>
              </a:rPr>
              <a:t>CNN / ViT
(не LLM)
дообучение на мед. данных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5920740" y="2788920"/>
            <a:ext cx="411480" cy="457200"/>
          </a:xfrm>
          <a:prstGeom prst="rightArrow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6377940" y="1828800"/>
            <a:ext cx="2434590" cy="2377440"/>
          </a:xfrm>
          <a:prstGeom prst="roundRect">
            <a:avLst>
              <a:gd name="adj" fmla="val 1282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560820" y="2011680"/>
            <a:ext cx="2068830" cy="502920"/>
          </a:xfrm>
          <a:prstGeom prst="roundRect">
            <a:avLst>
              <a:gd name="adj" fmla="val 2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60820" y="2011680"/>
            <a:ext cx="206883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 i="0">
                <a:solidFill>
                  <a:srgbClr val="FFFFFF"/>
                </a:solidFill>
                <a:latin typeface="Arial"/>
              </a:rPr>
              <a:t>3. Выход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60820" y="2606040"/>
            <a:ext cx="2068830" cy="1463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0000"/>
              </a:lnSpc>
            </a:pPr>
            <a:r>
              <a:rPr sz="1300" b="0" i="0">
                <a:solidFill>
                  <a:srgbClr val="21295C"/>
                </a:solidFill>
                <a:latin typeface="Arial"/>
              </a:rPr>
              <a:t>Вероятность +
тепловая карта / bbox
(Grad-CAM*)</a:t>
            </a:r>
          </a:p>
        </p:txBody>
      </p:sp>
      <p:sp>
        <p:nvSpPr>
          <p:cNvPr id="18" name="Right Arrow 17"/>
          <p:cNvSpPr/>
          <p:nvPr/>
        </p:nvSpPr>
        <p:spPr>
          <a:xfrm>
            <a:off x="8858250" y="2788920"/>
            <a:ext cx="411480" cy="457200"/>
          </a:xfrm>
          <a:prstGeom prst="rightArrow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9315450" y="1828800"/>
            <a:ext cx="2434590" cy="2377440"/>
          </a:xfrm>
          <a:prstGeom prst="roundRect">
            <a:avLst>
              <a:gd name="adj" fmla="val 1282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9498330" y="2011680"/>
            <a:ext cx="2068830" cy="502920"/>
          </a:xfrm>
          <a:prstGeom prst="roundRect">
            <a:avLst>
              <a:gd name="adj" fmla="val 20000"/>
            </a:avLst>
          </a:prstGeom>
          <a:solidFill>
            <a:srgbClr val="2129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498330" y="2011680"/>
            <a:ext cx="206883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 i="0">
                <a:solidFill>
                  <a:srgbClr val="FFFFFF"/>
                </a:solidFill>
                <a:latin typeface="Arial"/>
              </a:rPr>
              <a:t>4. Внедрение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498330" y="2606040"/>
            <a:ext cx="2068830" cy="1463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0000"/>
              </a:lnSpc>
            </a:pPr>
            <a:r>
              <a:rPr sz="1300" b="0" i="0">
                <a:solidFill>
                  <a:srgbClr val="21295C"/>
                </a:solidFill>
                <a:latin typeface="Arial"/>
              </a:rPr>
              <a:t>Врач: решение
+ верификация + подпись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02920" y="4434840"/>
            <a:ext cx="11247120" cy="2103120"/>
          </a:xfrm>
          <a:prstGeom prst="roundRect">
            <a:avLst>
              <a:gd name="adj" fmla="val 14492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77240" y="4572000"/>
            <a:ext cx="106984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Пример: CheXNet — 121-слойная DenseNet, 14 патологий грудной клетки (Rajpurkar et al. 2017)</a:t>
            </a:r>
          </a:p>
        </p:txBody>
      </p:sp>
      <p:pic>
        <p:nvPicPr>
          <p:cNvPr id="25" name="Picture 24" descr="chester-pneumonia-resul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4937759"/>
            <a:ext cx="2438400" cy="1463040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3429000" y="5029200"/>
            <a:ext cx="804672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300" b="0" i="0">
                <a:solidFill>
                  <a:srgbClr val="21295C"/>
                </a:solidFill>
                <a:latin typeface="Arial"/>
              </a:rPr>
              <a:t>Изображение → CNN/ViT → вектор вероятностей + тепловая карта. Тепловая карта = Grad-CAM (Selvaraju 2017): какие пиксели вносили вклад в предсказание. Врач принимает решение, AI — помощник.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02920" y="658368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6B7685"/>
                </a:solidFill>
                <a:latin typeface="Arial"/>
              </a:rPr>
              <a:t>*Grad-CAM — визуальная интерпретация решения модели. DenseNet — CNN-архитектура. Rajpurkar arXiv:1711.05225 · Selvaraju arXiv:1610.02391.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11480"/>
            <a:ext cx="11247120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21295C"/>
                </a:solidFill>
                <a:latin typeface="Arial"/>
              </a:rPr>
              <a:t>Для медицинского AI «точности» (accuracy) недостаточно.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097280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1">
                <a:solidFill>
                  <a:srgbClr val="065A82"/>
                </a:solidFill>
                <a:latin typeface="Arial"/>
              </a:rPr>
              <a:t>Чувствительность · специфичность · распространённость · PPV. Sens/spec не зависят от prev; PPV — зависит.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691640"/>
            <a:ext cx="5212080" cy="3840480"/>
          </a:xfrm>
          <a:prstGeom prst="roundRect">
            <a:avLst>
              <a:gd name="adj" fmla="val 7936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1828800"/>
            <a:ext cx="46634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Матрица ошибок 2 ×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80160" y="2560320"/>
            <a:ext cx="4251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 i="1">
                <a:solidFill>
                  <a:srgbClr val="6B7685"/>
                </a:solidFill>
                <a:latin typeface="Arial"/>
              </a:rPr>
              <a:t>предсказание AI →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80160" y="2834639"/>
            <a:ext cx="21259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 i="0">
                <a:solidFill>
                  <a:srgbClr val="065A82"/>
                </a:solidFill>
                <a:latin typeface="Arial"/>
              </a:rPr>
              <a:t>положит.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406140" y="2834639"/>
            <a:ext cx="21259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 i="0">
                <a:solidFill>
                  <a:srgbClr val="065A82"/>
                </a:solidFill>
                <a:latin typeface="Arial"/>
              </a:rPr>
              <a:t>отрицат.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337560"/>
            <a:ext cx="640080" cy="11658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 i="1">
                <a:solidFill>
                  <a:srgbClr val="6B7685"/>
                </a:solidFill>
                <a:latin typeface="Arial"/>
              </a:rPr>
              <a:t>истина
↓
болен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4503420"/>
            <a:ext cx="640080" cy="11658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 i="1">
                <a:solidFill>
                  <a:srgbClr val="6B7685"/>
                </a:solidFill>
                <a:latin typeface="Arial"/>
              </a:rPr>
              <a:t>здоров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280160" y="3246120"/>
            <a:ext cx="2125980" cy="1165860"/>
          </a:xfrm>
          <a:prstGeom prst="rect">
            <a:avLst/>
          </a:prstGeom>
          <a:solidFill>
            <a:srgbClr val="E3EEF3"/>
          </a:solidFill>
          <a:ln w="1016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280160" y="3337560"/>
            <a:ext cx="21259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2000" b="1" i="0">
                <a:solidFill>
                  <a:srgbClr val="1C7293"/>
                </a:solidFill>
                <a:latin typeface="Arial"/>
              </a:rPr>
              <a:t>TP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80160" y="3657600"/>
            <a:ext cx="21259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000" b="0" i="0">
                <a:solidFill>
                  <a:srgbClr val="21295C"/>
                </a:solidFill>
                <a:latin typeface="Arial"/>
              </a:rPr>
              <a:t>истинно-полож.
правильно нашли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406140" y="3246120"/>
            <a:ext cx="2125980" cy="1165860"/>
          </a:xfrm>
          <a:prstGeom prst="rect">
            <a:avLst/>
          </a:prstGeom>
          <a:solidFill>
            <a:srgbClr val="D7DBE4"/>
          </a:solidFill>
          <a:ln w="10160">
            <a:solidFill>
              <a:srgbClr val="2129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406140" y="3337560"/>
            <a:ext cx="21259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2000" b="1" i="0">
                <a:solidFill>
                  <a:srgbClr val="21295C"/>
                </a:solidFill>
                <a:latin typeface="Arial"/>
              </a:rPr>
              <a:t>FN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06140" y="3657600"/>
            <a:ext cx="21259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000" b="0" i="0">
                <a:solidFill>
                  <a:srgbClr val="21295C"/>
                </a:solidFill>
                <a:latin typeface="Arial"/>
              </a:rPr>
              <a:t>ложно-отрицат.
пропустили больного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280160" y="4411980"/>
            <a:ext cx="2125980" cy="1165860"/>
          </a:xfrm>
          <a:prstGeom prst="rect">
            <a:avLst/>
          </a:prstGeom>
          <a:solidFill>
            <a:srgbClr val="FEF5E0"/>
          </a:solidFill>
          <a:ln w="1016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280160" y="4503420"/>
            <a:ext cx="21259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2000" b="1" i="0">
                <a:solidFill>
                  <a:srgbClr val="21295C"/>
                </a:solidFill>
                <a:latin typeface="Arial"/>
              </a:rPr>
              <a:t>FP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80160" y="4823460"/>
            <a:ext cx="21259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000" b="0" i="0">
                <a:solidFill>
                  <a:srgbClr val="21295C"/>
                </a:solidFill>
                <a:latin typeface="Arial"/>
              </a:rPr>
              <a:t>ложно-полож.
ложная тревога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406140" y="4411980"/>
            <a:ext cx="2125980" cy="1165860"/>
          </a:xfrm>
          <a:prstGeom prst="rect">
            <a:avLst/>
          </a:prstGeom>
          <a:solidFill>
            <a:srgbClr val="D9E2EC"/>
          </a:solidFill>
          <a:ln w="10160">
            <a:solidFill>
              <a:srgbClr val="065A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406140" y="4503420"/>
            <a:ext cx="21259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2000" b="1" i="0">
                <a:solidFill>
                  <a:srgbClr val="065A82"/>
                </a:solidFill>
                <a:latin typeface="Arial"/>
              </a:rPr>
              <a:t>TN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406140" y="4823460"/>
            <a:ext cx="21259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000" b="0" i="0">
                <a:solidFill>
                  <a:srgbClr val="21295C"/>
                </a:solidFill>
                <a:latin typeface="Arial"/>
              </a:rPr>
              <a:t>истинно-отрицат.
правильно отпустили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989320" y="1691640"/>
            <a:ext cx="5943600" cy="3840480"/>
          </a:xfrm>
          <a:prstGeom prst="roundRect">
            <a:avLst>
              <a:gd name="adj" fmla="val 7936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263640" y="1828800"/>
            <a:ext cx="53949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4 метрики — формула + смысл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263640" y="2286000"/>
            <a:ext cx="22402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Чувствительность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63640" y="2651760"/>
            <a:ext cx="2194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065A82"/>
                </a:solidFill>
                <a:latin typeface="Liberation Mono"/>
              </a:rPr>
              <a:t>TP / (TP+FN)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595360" y="2331720"/>
            <a:ext cx="3108960" cy="594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доля больных, верно идентифицированных AI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63640" y="2999232"/>
            <a:ext cx="22402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Специфичность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263640" y="3364992"/>
            <a:ext cx="2194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065A82"/>
                </a:solidFill>
                <a:latin typeface="Liberation Mono"/>
              </a:rPr>
              <a:t>TN / (TN+FP)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595360" y="3044952"/>
            <a:ext cx="3108960" cy="594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доля здоровых, верно классифицированных как здоровые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263640" y="3712464"/>
            <a:ext cx="22402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Распространённость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263640" y="4078224"/>
            <a:ext cx="2194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065A82"/>
                </a:solidFill>
                <a:latin typeface="Liberation Mono"/>
              </a:rPr>
              <a:t>(TP+FN) / всего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595360" y="3758184"/>
            <a:ext cx="3108960" cy="594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как часто болезнь встречается в популяции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263640" y="4425696"/>
            <a:ext cx="22402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 i="0">
                <a:solidFill>
                  <a:srgbClr val="F0AB00"/>
                </a:solidFill>
                <a:latin typeface="Arial"/>
              </a:rPr>
              <a:t>PPV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263640" y="4791456"/>
            <a:ext cx="2194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065A82"/>
                </a:solidFill>
                <a:latin typeface="Liberation Mono"/>
              </a:rPr>
              <a:t>TP / (TP+FP)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595360" y="4471416"/>
            <a:ext cx="3108960" cy="594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если AI сказал «болен» — насколько верить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502920" y="5623560"/>
            <a:ext cx="11247120" cy="640080"/>
          </a:xfrm>
          <a:prstGeom prst="roundRect">
            <a:avLst>
              <a:gd name="adj" fmla="val 12000"/>
            </a:avLst>
          </a:prstGeom>
          <a:solidFill>
            <a:srgbClr val="FEF5E0"/>
          </a:solidFill>
          <a:ln w="1524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85800" y="5696712"/>
            <a:ext cx="10881360" cy="4937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 i="0">
                <a:solidFill>
                  <a:srgbClr val="21295C"/>
                </a:solidFill>
                <a:latin typeface="Arial"/>
              </a:rPr>
              <a:t>CheXNet (Rajpurkar 2017): чувствительность 0.94–0.96 · специфичность 0.89–0.93 (диапазон). Для расчёта PPV берём sens 0.94 / spec 0.89  →  PPV ~8% при prev 1% (скрининг)  ·  ~78% при prev 30% (госпиталь).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02920" y="6355080"/>
            <a:ext cx="112471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6B7685"/>
                </a:solidFill>
                <a:latin typeface="Arial"/>
              </a:rPr>
              <a:t>Та же модель, та же accuracy — разные PPV. Рабочая точка (operating point) зависит от порога + патологии.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11480"/>
            <a:ext cx="11247120" cy="1234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000" b="1" i="0">
                <a:solidFill>
                  <a:srgbClr val="21295C"/>
                </a:solidFill>
                <a:latin typeface="Arial"/>
              </a:rPr>
              <a:t>Визуализация: AI+врач сильнее каждого. Рассуждения: AI один сильнее тандема врач+AI.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371600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1">
                <a:solidFill>
                  <a:srgbClr val="065A82"/>
                </a:solidFill>
                <a:latin typeface="Arial"/>
              </a:rPr>
              <a:t>Вопрос «AI или врач» поставлен неправильно. Правильный — «какая задача и какой рабочий процесс».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783080"/>
            <a:ext cx="11247120" cy="1417320"/>
          </a:xfrm>
          <a:prstGeom prst="roundRect">
            <a:avLst>
              <a:gd name="adj" fmla="val 21505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920240"/>
            <a:ext cx="2743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 i="0">
                <a:solidFill>
                  <a:srgbClr val="21295C"/>
                </a:solidFill>
                <a:latin typeface="Arial"/>
              </a:rPr>
              <a:t>Liu et al. 2019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2286000"/>
            <a:ext cx="27432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1">
                <a:solidFill>
                  <a:srgbClr val="6B7685"/>
                </a:solidFill>
                <a:latin typeface="Arial"/>
              </a:rPr>
              <a:t>Lancet Digital Health — мета-анализ, 14 проспективных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0" y="1920240"/>
            <a:ext cx="24688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6B7685"/>
                </a:solidFill>
                <a:latin typeface="Arial"/>
              </a:rPr>
              <a:t>Область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0" y="2194560"/>
            <a:ext cx="246888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Мета-анализ по визуализации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55080" y="192024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6B7685"/>
                </a:solidFill>
                <a:latin typeface="Arial"/>
              </a:rPr>
              <a:t>Результат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55080" y="2148840"/>
            <a:ext cx="54864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объединённая чувствительность: AI 0.87  ·  врач 0.85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55080" y="2697480"/>
            <a:ext cx="54864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1">
                <a:solidFill>
                  <a:srgbClr val="065A82"/>
                </a:solidFill>
                <a:latin typeface="Arial"/>
              </a:rPr>
              <a:t>→ Близко к паритету, исторический ориентир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3246120"/>
            <a:ext cx="11247120" cy="1417320"/>
          </a:xfrm>
          <a:prstGeom prst="roundRect">
            <a:avLst>
              <a:gd name="adj" fmla="val 21505"/>
            </a:avLst>
          </a:prstGeom>
          <a:solidFill>
            <a:srgbClr val="FEF5E0"/>
          </a:solidFill>
          <a:ln w="2286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5800" y="3383279"/>
            <a:ext cx="2743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 i="0">
                <a:solidFill>
                  <a:srgbClr val="21295C"/>
                </a:solidFill>
                <a:latin typeface="Arial"/>
              </a:rPr>
              <a:t>MASAI 2024–2025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3749039"/>
            <a:ext cx="27432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1">
                <a:solidFill>
                  <a:srgbClr val="6B7685"/>
                </a:solidFill>
                <a:latin typeface="Arial"/>
              </a:rPr>
              <a:t>Lancet Digital Health (2024) + Lancet (2025)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57600" y="3383279"/>
            <a:ext cx="24688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6B7685"/>
                </a:solidFill>
                <a:latin typeface="Arial"/>
              </a:rPr>
              <a:t>Область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57600" y="3657600"/>
            <a:ext cx="246888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РКИ маммографии, n &gt; 100 000 (Швеция)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55080" y="3383279"/>
            <a:ext cx="4023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6B7685"/>
                </a:solidFill>
                <a:latin typeface="Arial"/>
              </a:rPr>
              <a:t>Результат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55080" y="3611879"/>
            <a:ext cx="402336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1" i="0">
                <a:solidFill>
                  <a:srgbClr val="21295C"/>
                </a:solidFill>
                <a:latin typeface="Arial"/>
              </a:rPr>
              <a:t>чувствит. 80.5% (AI) vs 73.8% (стандарт)  ·  нагрузка −44%  ·  интервальный рак −12%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55080" y="4160520"/>
            <a:ext cx="402336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1">
                <a:solidFill>
                  <a:srgbClr val="F0AB00"/>
                </a:solidFill>
                <a:latin typeface="Arial"/>
              </a:rPr>
              <a:t>→ AI+радиолог — значимо лучше каждого по отдельности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0469880" y="3337560"/>
            <a:ext cx="1234440" cy="548640"/>
          </a:xfrm>
          <a:prstGeom prst="roundRect">
            <a:avLst>
              <a:gd name="adj" fmla="val 3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469880" y="3337560"/>
            <a:ext cx="123444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 i="0">
                <a:solidFill>
                  <a:srgbClr val="FFFFFF"/>
                </a:solidFill>
                <a:latin typeface="Arial"/>
              </a:rPr>
              <a:t>ПОБЕДА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02920" y="4709160"/>
            <a:ext cx="11247120" cy="1417320"/>
          </a:xfrm>
          <a:prstGeom prst="roundRect">
            <a:avLst>
              <a:gd name="adj" fmla="val 21505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5800" y="4846320"/>
            <a:ext cx="2743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 i="0">
                <a:solidFill>
                  <a:srgbClr val="21295C"/>
                </a:solidFill>
                <a:latin typeface="Arial"/>
              </a:rPr>
              <a:t>Goh et al. 2024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85800" y="5212080"/>
            <a:ext cx="27432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1">
                <a:solidFill>
                  <a:srgbClr val="6B7685"/>
                </a:solidFill>
                <a:latin typeface="Arial"/>
              </a:rPr>
              <a:t>JAMA Network Open (окт. 2024)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657600" y="4846320"/>
            <a:ext cx="24688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6B7685"/>
                </a:solidFill>
                <a:latin typeface="Arial"/>
              </a:rPr>
              <a:t>Область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657600" y="5120640"/>
            <a:ext cx="246888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Клинические рассуждения, 50 врачей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355080" y="48463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6B7685"/>
                </a:solidFill>
                <a:latin typeface="Arial"/>
              </a:rPr>
              <a:t>Результат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55080" y="5074920"/>
            <a:ext cx="54864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GPT-4 в одиночку 76%  ·  врач+GPT-4 74%  (p = 0.60)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355080" y="5623560"/>
            <a:ext cx="54864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1">
                <a:solidFill>
                  <a:srgbClr val="065A82"/>
                </a:solidFill>
                <a:latin typeface="Arial"/>
              </a:rPr>
              <a:t>→ AI один сильнее тандема врач+AI — парадокс совместной работы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02920" y="6263640"/>
            <a:ext cx="112471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6B7685"/>
                </a:solidFill>
                <a:latin typeface="Arial"/>
              </a:rPr>
              <a:t>Liu 2019 doi: 10.1016/S2589-7500(19)30123-2  ·  MASAI Lancet 2025  ·  Goh JAMA Netw Open 2024.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11480"/>
            <a:ext cx="11247120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21295C"/>
                </a:solidFill>
                <a:latin typeface="Arial"/>
              </a:rPr>
              <a:t>mosmed.ai — обещание сбылось на уровне эксплуатации.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097280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1">
                <a:solidFill>
                  <a:srgbClr val="065A82"/>
                </a:solidFill>
                <a:latin typeface="Arial"/>
              </a:rPr>
              <a:t>5 лет в эксплуатации · 14 млн+ исследований · 74 региона · 70 AI-сервисов.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691640"/>
            <a:ext cx="2468880" cy="118872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874520"/>
            <a:ext cx="219456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 i="0">
                <a:solidFill>
                  <a:srgbClr val="1C7293"/>
                </a:solidFill>
                <a:latin typeface="Arial"/>
              </a:rPr>
              <a:t>Снимок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331720"/>
            <a:ext cx="219456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0" i="1">
                <a:solidFill>
                  <a:srgbClr val="21295C"/>
                </a:solidFill>
                <a:latin typeface="Arial"/>
              </a:rPr>
              <a:t>КТ / МРТ / рентген</a:t>
            </a:r>
          </a:p>
        </p:txBody>
      </p:sp>
      <p:sp>
        <p:nvSpPr>
          <p:cNvPr id="7" name="Right Arrow 6"/>
          <p:cNvSpPr/>
          <p:nvPr/>
        </p:nvSpPr>
        <p:spPr>
          <a:xfrm>
            <a:off x="3017520" y="2103120"/>
            <a:ext cx="365760" cy="365760"/>
          </a:xfrm>
          <a:prstGeom prst="rightArrow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3429000" y="1691640"/>
            <a:ext cx="2468880" cy="118872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566160" y="1874520"/>
            <a:ext cx="219456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 i="0">
                <a:solidFill>
                  <a:srgbClr val="065A82"/>
                </a:solidFill>
                <a:latin typeface="Arial"/>
              </a:rPr>
              <a:t>mosmed.ai
облако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566160" y="2331720"/>
            <a:ext cx="219456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0" i="1">
                <a:solidFill>
                  <a:srgbClr val="21295C"/>
                </a:solidFill>
                <a:latin typeface="Arial"/>
              </a:rPr>
              <a:t>федеративная AI-платформа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5943600" y="2103120"/>
            <a:ext cx="365760" cy="365760"/>
          </a:xfrm>
          <a:prstGeom prst="rightArrow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355080" y="1691640"/>
            <a:ext cx="2468880" cy="118872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92240" y="1874520"/>
            <a:ext cx="219456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 i="0">
                <a:solidFill>
                  <a:srgbClr val="065A82"/>
                </a:solidFill>
                <a:latin typeface="Arial"/>
              </a:rPr>
              <a:t>AI-анализ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92240" y="2331720"/>
            <a:ext cx="219456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0" i="1">
                <a:solidFill>
                  <a:srgbClr val="21295C"/>
                </a:solidFill>
                <a:latin typeface="Arial"/>
              </a:rPr>
              <a:t>70 сервисов
43 области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8869680" y="2103120"/>
            <a:ext cx="365760" cy="365760"/>
          </a:xfrm>
          <a:prstGeom prst="rightArrow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9281160" y="1691640"/>
            <a:ext cx="2468880" cy="1188720"/>
          </a:xfrm>
          <a:prstGeom prst="roundRect">
            <a:avLst>
              <a:gd name="adj" fmla="val 25000"/>
            </a:avLst>
          </a:prstGeom>
          <a:solidFill>
            <a:srgbClr val="FEF5E0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418320" y="1874520"/>
            <a:ext cx="219456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 i="0">
                <a:solidFill>
                  <a:srgbClr val="F0AB00"/>
                </a:solidFill>
                <a:latin typeface="Arial"/>
              </a:rPr>
              <a:t>Врач + 2-е мнение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418320" y="2331720"/>
            <a:ext cx="219456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0" i="1">
                <a:solidFill>
                  <a:srgbClr val="21295C"/>
                </a:solidFill>
                <a:latin typeface="Arial"/>
              </a:rPr>
              <a:t>решение
+ верификация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02920" y="3108960"/>
            <a:ext cx="3657600" cy="1394460"/>
          </a:xfrm>
          <a:prstGeom prst="roundRect">
            <a:avLst>
              <a:gd name="adj" fmla="val 21857"/>
            </a:avLst>
          </a:prstGeom>
          <a:solidFill>
            <a:srgbClr val="FEF5E0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85800" y="3291840"/>
            <a:ext cx="329184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200" b="1" i="0">
                <a:solidFill>
                  <a:srgbClr val="F0AB00"/>
                </a:solidFill>
                <a:latin typeface="Arial"/>
              </a:rPr>
              <a:t>14 млн+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5800" y="3931920"/>
            <a:ext cx="329184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1">
                <a:solidFill>
                  <a:srgbClr val="6B7685"/>
                </a:solidFill>
                <a:latin typeface="Arial"/>
              </a:rPr>
              <a:t>исследований за 5 лет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297680" y="3108960"/>
            <a:ext cx="3657600" cy="1394460"/>
          </a:xfrm>
          <a:prstGeom prst="roundRect">
            <a:avLst>
              <a:gd name="adj" fmla="val 21857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480560" y="3291840"/>
            <a:ext cx="329184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200" b="1" i="0">
                <a:solidFill>
                  <a:srgbClr val="065A82"/>
                </a:solidFill>
                <a:latin typeface="Arial"/>
              </a:rPr>
              <a:t>2 000+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480560" y="3931920"/>
            <a:ext cx="329184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1">
                <a:solidFill>
                  <a:srgbClr val="6B7685"/>
                </a:solidFill>
                <a:latin typeface="Arial"/>
              </a:rPr>
              <a:t>медорганизаций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092440" y="3108960"/>
            <a:ext cx="3657600" cy="1394460"/>
          </a:xfrm>
          <a:prstGeom prst="roundRect">
            <a:avLst>
              <a:gd name="adj" fmla="val 21857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275320" y="3291840"/>
            <a:ext cx="329184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200" b="1" i="0">
                <a:solidFill>
                  <a:srgbClr val="065A82"/>
                </a:solidFill>
                <a:latin typeface="Arial"/>
              </a:rPr>
              <a:t>74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75320" y="3931920"/>
            <a:ext cx="329184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1">
                <a:solidFill>
                  <a:srgbClr val="6B7685"/>
                </a:solidFill>
                <a:latin typeface="Arial"/>
              </a:rPr>
              <a:t>региона РФ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02920" y="4640580"/>
            <a:ext cx="3657600" cy="1394460"/>
          </a:xfrm>
          <a:prstGeom prst="roundRect">
            <a:avLst>
              <a:gd name="adj" fmla="val 21857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85800" y="4823460"/>
            <a:ext cx="329184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200" b="1" i="0">
                <a:solidFill>
                  <a:srgbClr val="065A82"/>
                </a:solidFill>
                <a:latin typeface="Arial"/>
              </a:rPr>
              <a:t>18 млн+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85800" y="5463540"/>
            <a:ext cx="329184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1">
                <a:solidFill>
                  <a:srgbClr val="6B7685"/>
                </a:solidFill>
                <a:latin typeface="Arial"/>
              </a:rPr>
              <a:t>обработанных изображений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297680" y="4640580"/>
            <a:ext cx="3657600" cy="1394460"/>
          </a:xfrm>
          <a:prstGeom prst="roundRect">
            <a:avLst>
              <a:gd name="adj" fmla="val 21857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480560" y="4823460"/>
            <a:ext cx="329184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200" b="1" i="0">
                <a:solidFill>
                  <a:srgbClr val="065A82"/>
                </a:solidFill>
                <a:latin typeface="Arial"/>
              </a:rPr>
              <a:t>70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480560" y="5463540"/>
            <a:ext cx="329184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1">
                <a:solidFill>
                  <a:srgbClr val="6B7685"/>
                </a:solidFill>
                <a:latin typeface="Arial"/>
              </a:rPr>
              <a:t>AI-сервисов на 43 областях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092440" y="4640580"/>
            <a:ext cx="3657600" cy="1394460"/>
          </a:xfrm>
          <a:prstGeom prst="roundRect">
            <a:avLst>
              <a:gd name="adj" fmla="val 21857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275320" y="4823460"/>
            <a:ext cx="329184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200" b="1" i="0">
                <a:solidFill>
                  <a:srgbClr val="065A82"/>
                </a:solidFill>
                <a:latin typeface="Arial"/>
              </a:rPr>
              <a:t>11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275320" y="5463540"/>
            <a:ext cx="329184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1">
                <a:solidFill>
                  <a:srgbClr val="6B7685"/>
                </a:solidFill>
                <a:latin typeface="Arial"/>
              </a:rPr>
              <a:t>нац. стандартов · 300+ датасетов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02920" y="6263640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6B7685"/>
                </a:solidFill>
                <a:latin typeface="Arial"/>
              </a:rPr>
              <a:t>mos.ru AI Leaders Award · Remedium 2025 · Healthcare ME 2026. Федеративная платформа: Сбер AI Lab, Care Mentor AI, Третье Мнение, Webiomed.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11480"/>
            <a:ext cx="11247120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21295C"/>
                </a:solidFill>
                <a:latin typeface="Arial"/>
              </a:rPr>
              <a:t>Смещение (bias) = следствие дизайна, а не баг.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097280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1">
                <a:solidFill>
                  <a:srgbClr val="065A82"/>
                </a:solidFill>
                <a:latin typeface="Arial"/>
              </a:rPr>
              <a:t>AI хорошо работает в распределении обучения. За его пределами — может проваливаться несправедливо.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691640"/>
            <a:ext cx="5532120" cy="4160520"/>
          </a:xfrm>
          <a:prstGeom prst="roundRect">
            <a:avLst>
              <a:gd name="adj" fmla="val 7326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ucide-eye-blu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2011680"/>
            <a:ext cx="777240" cy="7772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737360" y="2057400"/>
            <a:ext cx="416052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900" b="1" i="0">
                <a:solidFill>
                  <a:srgbClr val="21295C"/>
                </a:solidFill>
                <a:latin typeface="Arial"/>
              </a:rPr>
              <a:t>Дерматология — тон кожи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14400" y="3227832"/>
            <a:ext cx="109728" cy="109728"/>
          </a:xfrm>
          <a:prstGeom prst="roundRect">
            <a:avLst>
              <a:gd name="adj" fmla="val 5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3063240"/>
            <a:ext cx="466344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 i="0">
                <a:solidFill>
                  <a:srgbClr val="21295C"/>
                </a:solidFill>
                <a:latin typeface="Arial"/>
              </a:rPr>
              <a:t>Механизм: датасеты обучения (ISIC) перепредставляют светлую кожу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14400" y="4096511"/>
            <a:ext cx="109728" cy="109728"/>
          </a:xfrm>
          <a:prstGeom prst="roundRect">
            <a:avLst>
              <a:gd name="adj" fmla="val 5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43000" y="3931920"/>
            <a:ext cx="466344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 i="0">
                <a:solidFill>
                  <a:srgbClr val="21295C"/>
                </a:solidFill>
                <a:latin typeface="Arial"/>
              </a:rPr>
              <a:t>Доказательство: Daneshjou 2022 — чувствит. ↓ 20–30% на коже Фитцпатрика V–VI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14400" y="4965192"/>
            <a:ext cx="109728" cy="109728"/>
          </a:xfrm>
          <a:prstGeom prst="roundRect">
            <a:avLst>
              <a:gd name="adj" fmla="val 5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43000" y="4800600"/>
            <a:ext cx="466344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 i="0">
                <a:solidFill>
                  <a:srgbClr val="21295C"/>
                </a:solidFill>
                <a:latin typeface="Arial"/>
              </a:rPr>
              <a:t>Исправление: дообучение на DDI закрыло разрыв; AI &gt; дерматолога на тёмной коже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5440680"/>
            <a:ext cx="4709159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1C7293"/>
                </a:solidFill>
                <a:latin typeface="Arial"/>
              </a:rPr>
              <a:t>Daneshjou 2022, Science Advances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17920" y="1691640"/>
            <a:ext cx="5532120" cy="4160520"/>
          </a:xfrm>
          <a:prstGeom prst="roundRect">
            <a:avLst>
              <a:gd name="adj" fmla="val 7326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lucide-alert-triangle-blu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37959" y="2011680"/>
            <a:ext cx="777240" cy="77724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7452360" y="2057400"/>
            <a:ext cx="416052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900" b="1" i="0">
                <a:solidFill>
                  <a:srgbClr val="21295C"/>
                </a:solidFill>
                <a:latin typeface="Arial"/>
              </a:rPr>
              <a:t>Пульсоксиметр — расовое смещение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629400" y="3227832"/>
            <a:ext cx="109728" cy="109728"/>
          </a:xfrm>
          <a:prstGeom prst="roundRect">
            <a:avLst>
              <a:gd name="adj" fmla="val 5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858000" y="3063240"/>
            <a:ext cx="466344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 i="0">
                <a:solidFill>
                  <a:srgbClr val="21295C"/>
                </a:solidFill>
                <a:latin typeface="Arial"/>
              </a:rPr>
              <a:t>Механизм: датчик систематически завышает SpO2 на тёмной коже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629400" y="4096511"/>
            <a:ext cx="109728" cy="109728"/>
          </a:xfrm>
          <a:prstGeom prst="roundRect">
            <a:avLst>
              <a:gd name="adj" fmla="val 5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858000" y="3931920"/>
            <a:ext cx="466344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 i="0">
                <a:solidFill>
                  <a:srgbClr val="21295C"/>
                </a:solidFill>
                <a:latin typeface="Arial"/>
              </a:rPr>
              <a:t>Доказательство: Sjoding 2020 NEJM — гипоксия чаще пропускается у чернокожих пациентов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629400" y="4965192"/>
            <a:ext cx="109728" cy="109728"/>
          </a:xfrm>
          <a:prstGeom prst="roundRect">
            <a:avLst>
              <a:gd name="adj" fmla="val 5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858000" y="4800600"/>
            <a:ext cx="466344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 i="0">
                <a:solidFill>
                  <a:srgbClr val="21295C"/>
                </a:solidFill>
                <a:latin typeface="Arial"/>
              </a:rPr>
              <a:t>Что значит для AI: модели с SpO2 на входе наследуют ошибку датчика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629400" y="5440680"/>
            <a:ext cx="4709159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1C7293"/>
                </a:solidFill>
                <a:latin typeface="Arial"/>
              </a:rPr>
              <a:t>Sjoding 2020, NEJM · FDA Safety 2021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02920" y="5989320"/>
            <a:ext cx="11247120" cy="502920"/>
          </a:xfrm>
          <a:prstGeom prst="roundRect">
            <a:avLst>
              <a:gd name="adj" fmla="val 12000"/>
            </a:avLst>
          </a:prstGeom>
          <a:solidFill>
            <a:srgbClr val="FEF5E0"/>
          </a:solidFill>
          <a:ln w="1524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85800" y="6062472"/>
            <a:ext cx="10881360" cy="3566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→ Валидационный набор должен покрывать целевую популяцию. Не академическая тонкость — профессиональная ответственность.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1097280"/>
            <a:ext cx="3657600" cy="411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30000" b="1" i="0">
                <a:solidFill>
                  <a:srgbClr val="D9E2EC"/>
                </a:solidFill>
                <a:latin typeface="Arial"/>
              </a:rPr>
              <a:t>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297680" y="1463040"/>
            <a:ext cx="7315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i="0">
                <a:solidFill>
                  <a:srgbClr val="028090"/>
                </a:solidFill>
                <a:latin typeface="Arial"/>
              </a:rPr>
              <a:t>РАЗДЕЛ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297680" y="1965960"/>
            <a:ext cx="7315200" cy="1645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4400" b="1" i="0">
                <a:solidFill>
                  <a:srgbClr val="21295C"/>
                </a:solidFill>
                <a:latin typeface="Arial"/>
              </a:rPr>
              <a:t>Разработка лекарств:
обещания vs реальность</a:t>
            </a:r>
          </a:p>
        </p:txBody>
      </p:sp>
      <p:sp>
        <p:nvSpPr>
          <p:cNvPr id="5" name="Rectangle 4"/>
          <p:cNvSpPr/>
          <p:nvPr/>
        </p:nvSpPr>
        <p:spPr>
          <a:xfrm>
            <a:off x="4297680" y="3611880"/>
            <a:ext cx="36576" cy="502920"/>
          </a:xfrm>
          <a:prstGeom prst="rect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434840" y="3611880"/>
            <a:ext cx="722376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800" b="0" i="0">
                <a:solidFill>
                  <a:srgbClr val="065A82"/>
                </a:solidFill>
                <a:latin typeface="Arial"/>
              </a:rPr>
              <a:t>AlphaFold · Rentosertib peer-reviewed · DSP-1181 reality check · регулирование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5349240"/>
            <a:ext cx="1783080" cy="868680"/>
          </a:xfrm>
          <a:prstGeom prst="roundRect">
            <a:avLst>
              <a:gd name="adj" fmla="val 25000"/>
            </a:avLst>
          </a:prstGeom>
          <a:solidFill>
            <a:srgbClr val="E6F2F4"/>
          </a:solidFill>
          <a:ln w="1524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5440679"/>
            <a:ext cx="17830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00" b="1" i="0">
                <a:solidFill>
                  <a:srgbClr val="028090"/>
                </a:solidFill>
                <a:latin typeface="Arial"/>
              </a:rPr>
              <a:t>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9496" y="5806440"/>
            <a:ext cx="1709928" cy="3657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900" b="0" i="0">
                <a:solidFill>
                  <a:srgbClr val="065A82"/>
                </a:solidFill>
                <a:latin typeface="Arial"/>
              </a:rPr>
              <a:t>Открытие
и опросы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395728" y="5349240"/>
            <a:ext cx="1783080" cy="868680"/>
          </a:xfrm>
          <a:prstGeom prst="roundRect">
            <a:avLst>
              <a:gd name="adj" fmla="val 25000"/>
            </a:avLst>
          </a:prstGeom>
          <a:solidFill>
            <a:srgbClr val="E6F2F4"/>
          </a:solidFill>
          <a:ln w="1524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395728" y="5440679"/>
            <a:ext cx="17830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00" b="1" i="0">
                <a:solidFill>
                  <a:srgbClr val="028090"/>
                </a:solidFill>
                <a:latin typeface="Arial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432304" y="5806440"/>
            <a:ext cx="1709928" cy="3657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900" b="0" i="0">
                <a:solidFill>
                  <a:srgbClr val="065A82"/>
                </a:solidFill>
                <a:latin typeface="Arial"/>
              </a:rPr>
              <a:t>Карта AI
в медицине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288536" y="5349240"/>
            <a:ext cx="1783080" cy="868680"/>
          </a:xfrm>
          <a:prstGeom prst="roundRect">
            <a:avLst>
              <a:gd name="adj" fmla="val 25000"/>
            </a:avLst>
          </a:prstGeom>
          <a:solidFill>
            <a:srgbClr val="E6F2F4"/>
          </a:solidFill>
          <a:ln w="1524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288536" y="5440679"/>
            <a:ext cx="17830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00" b="1" i="0">
                <a:solidFill>
                  <a:srgbClr val="028090"/>
                </a:solidFill>
                <a:latin typeface="Arial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25112" y="5806440"/>
            <a:ext cx="1709928" cy="3657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900" b="0" i="0">
                <a:solidFill>
                  <a:srgbClr val="065A82"/>
                </a:solidFill>
                <a:latin typeface="Arial"/>
              </a:rPr>
              <a:t>AI-диагностика
как зеркало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81344" y="5349240"/>
            <a:ext cx="1783080" cy="868680"/>
          </a:xfrm>
          <a:prstGeom prst="roundRect">
            <a:avLst>
              <a:gd name="adj" fmla="val 25000"/>
            </a:avLst>
          </a:prstGeom>
          <a:solidFill>
            <a:srgbClr val="F0AB00"/>
          </a:solidFill>
          <a:ln w="2540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181344" y="5440679"/>
            <a:ext cx="17830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17920" y="5806440"/>
            <a:ext cx="1709928" cy="3657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900" b="1" i="0">
                <a:solidFill>
                  <a:srgbClr val="FFFFFF"/>
                </a:solidFill>
                <a:latin typeface="Arial"/>
              </a:rPr>
              <a:t>Разработка
лекарств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074152" y="5349240"/>
            <a:ext cx="1783080" cy="86868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27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074152" y="5440679"/>
            <a:ext cx="17830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00" b="1" i="0">
                <a:solidFill>
                  <a:srgbClr val="1C7293"/>
                </a:solidFill>
                <a:latin typeface="Arial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110728" y="5806440"/>
            <a:ext cx="1709928" cy="3657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900" b="0" i="0">
                <a:solidFill>
                  <a:srgbClr val="6B7685"/>
                </a:solidFill>
                <a:latin typeface="Arial"/>
              </a:rPr>
              <a:t>AI-объяснитель
+ этика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966960" y="5349240"/>
            <a:ext cx="1783080" cy="86868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27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966960" y="5440679"/>
            <a:ext cx="17830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00" b="1" i="0">
                <a:solidFill>
                  <a:srgbClr val="1C7293"/>
                </a:solidFill>
                <a:latin typeface="Arial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003536" y="5806440"/>
            <a:ext cx="1709928" cy="3657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900" b="0" i="0">
                <a:solidFill>
                  <a:srgbClr val="6B7685"/>
                </a:solidFill>
                <a:latin typeface="Arial"/>
              </a:rPr>
              <a:t>Заключение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112471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 i="0">
                <a:solidFill>
                  <a:srgbClr val="028090"/>
                </a:solidFill>
                <a:latin typeface="Arial"/>
              </a:rPr>
              <a:t>МЫ ПРОШЛИ ПОЛОВИНУ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777240"/>
            <a:ext cx="112471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1800" b="0" i="1">
                <a:solidFill>
                  <a:srgbClr val="065A82"/>
                </a:solidFill>
                <a:latin typeface="Arial"/>
              </a:rPr>
              <a:t>AI-диагностика — обещание сбылось (mosmed.ai: 14 млн+ исследований, 74 региона).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554480"/>
            <a:ext cx="4206240" cy="2606040"/>
          </a:xfrm>
          <a:prstGeom prst="roundRect">
            <a:avLst>
              <a:gd name="adj" fmla="val 11695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s14-pharma-lab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79" y="1737360"/>
            <a:ext cx="3017520" cy="201168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4937760" y="1554480"/>
            <a:ext cx="6766560" cy="2606040"/>
          </a:xfrm>
          <a:prstGeom prst="roundRect">
            <a:avLst>
              <a:gd name="adj" fmla="val 11695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257800" y="1828800"/>
            <a:ext cx="6126480" cy="2057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0000"/>
              </a:lnSpc>
            </a:pPr>
            <a:r>
              <a:rPr sz="2300" b="1" i="0">
                <a:solidFill>
                  <a:srgbClr val="21295C"/>
                </a:solidFill>
                <a:latin typeface="Arial"/>
              </a:rPr>
              <a:t>Разработка лекарств —
</a:t>
            </a:r>
            <a:r>
              <a:rPr sz="2300" b="1" i="0">
                <a:solidFill>
                  <a:srgbClr val="F0AB00"/>
                </a:solidFill>
                <a:latin typeface="Arial"/>
              </a:rPr>
              <a:t>обещали в 10 раз быстрее.</a:t>
            </a:r>
          </a:p>
          <a:p>
            <a:pPr algn="ctr">
              <a:lnSpc>
                <a:spcPct val="130000"/>
              </a:lnSpc>
            </a:pPr>
            <a:r>
              <a:rPr sz="800" b="0" i="0">
                <a:solidFill>
                  <a:srgbClr val="FFFFFF"/>
                </a:solidFill>
                <a:latin typeface="Arial"/>
              </a:rPr>
              <a:t> </a:t>
            </a:r>
          </a:p>
          <a:p>
            <a:pPr algn="ctr">
              <a:lnSpc>
                <a:spcPct val="130000"/>
              </a:lnSpc>
            </a:pPr>
            <a:r>
              <a:rPr sz="2300" b="1" i="0">
                <a:solidFill>
                  <a:srgbClr val="21295C"/>
                </a:solidFill>
                <a:latin typeface="Arial"/>
              </a:rPr>
              <a:t>Что реально к 2026 году?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3727" y="4389120"/>
            <a:ext cx="3566160" cy="1554480"/>
          </a:xfrm>
          <a:prstGeom prst="roundRect">
            <a:avLst>
              <a:gd name="adj" fmla="val 19607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lucide-check-circle-blu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2327" y="4617720"/>
            <a:ext cx="640080" cy="64008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569567" y="4617720"/>
            <a:ext cx="2377439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 i="0">
                <a:solidFill>
                  <a:srgbClr val="028090"/>
                </a:solidFill>
                <a:latin typeface="Arial"/>
              </a:rPr>
              <a:t>✓  mosmed.ai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69567" y="5074920"/>
            <a:ext cx="237743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 i="1">
                <a:solidFill>
                  <a:srgbClr val="21295C"/>
                </a:solidFill>
                <a:latin typeface="Arial"/>
              </a:rPr>
              <a:t>обещание сбылось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12767" y="4389120"/>
            <a:ext cx="3566160" cy="1554480"/>
          </a:xfrm>
          <a:prstGeom prst="roundRect">
            <a:avLst>
              <a:gd name="adj" fmla="val 19607"/>
            </a:avLst>
          </a:prstGeom>
          <a:solidFill>
            <a:srgbClr val="F4F7FA"/>
          </a:solidFill>
          <a:ln w="2540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lucide-help-circle-blu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41367" y="4617720"/>
            <a:ext cx="640080" cy="64008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5318607" y="4617720"/>
            <a:ext cx="2377439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 i="0">
                <a:solidFill>
                  <a:srgbClr val="F0AB00"/>
                </a:solidFill>
                <a:latin typeface="Arial"/>
              </a:rPr>
              <a:t>?  Rentosertib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18607" y="5074920"/>
            <a:ext cx="237743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 i="1">
                <a:solidFill>
                  <a:srgbClr val="21295C"/>
                </a:solidFill>
                <a:latin typeface="Arial"/>
              </a:rPr>
              <a:t>Phase IIa с рецензированием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61807" y="4389120"/>
            <a:ext cx="3566160" cy="1554480"/>
          </a:xfrm>
          <a:prstGeom prst="roundRect">
            <a:avLst>
              <a:gd name="adj" fmla="val 19607"/>
            </a:avLst>
          </a:prstGeom>
          <a:solidFill>
            <a:srgbClr val="F4F7FA"/>
          </a:solidFill>
          <a:ln w="2540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lucide-help-circle-blu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90407" y="4617720"/>
            <a:ext cx="640080" cy="64008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9067647" y="4617720"/>
            <a:ext cx="2377439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 i="0">
                <a:solidFill>
                  <a:srgbClr val="F0AB00"/>
                </a:solidFill>
                <a:latin typeface="Arial"/>
              </a:rPr>
              <a:t>?  DSP-1181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067647" y="5074920"/>
            <a:ext cx="237743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 i="1">
                <a:solidFill>
                  <a:srgbClr val="21295C"/>
                </a:solidFill>
                <a:latin typeface="Arial"/>
              </a:rPr>
              <a:t>программа закрыта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2920" y="6263640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 i="1">
                <a:solidFill>
                  <a:srgbClr val="6B7685"/>
                </a:solidFill>
                <a:latin typeface="Arial"/>
              </a:rPr>
              <a:t>Промежуточная пересборка. Дальше — где AI ускоряет разработку лекарств и две истории.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11480"/>
            <a:ext cx="11247120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21295C"/>
                </a:solidFill>
                <a:latin typeface="Arial"/>
              </a:rPr>
              <a:t>AI ускоряет открытие, не клинические испытания.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097280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1">
                <a:solidFill>
                  <a:srgbClr val="065A82"/>
                </a:solidFill>
                <a:latin typeface="Arial"/>
              </a:rPr>
              <a:t>10–15 лет · $1–2 млрд · ~6.7% успеха. AI ускоряет стадии 1–3.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965960"/>
            <a:ext cx="6594652" cy="365760"/>
          </a:xfrm>
          <a:prstGeom prst="roundRect">
            <a:avLst>
              <a:gd name="adj" fmla="val 30000"/>
            </a:avLst>
          </a:prstGeom>
          <a:solidFill>
            <a:srgbClr val="FEF5E0"/>
          </a:solidFill>
          <a:ln w="1270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965960"/>
            <a:ext cx="6594652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 i="0">
                <a:solidFill>
                  <a:srgbClr val="21295C"/>
                </a:solidFill>
                <a:latin typeface="Arial"/>
              </a:rPr>
              <a:t>AI ускоряет значительно (4–5 лет → 12–18 месяцев)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481620" y="1965960"/>
            <a:ext cx="4268419" cy="365760"/>
          </a:xfrm>
          <a:prstGeom prst="roundRect">
            <a:avLst>
              <a:gd name="adj" fmla="val 30000"/>
            </a:avLst>
          </a:prstGeom>
          <a:solidFill>
            <a:srgbClr val="E5EAF0"/>
          </a:solidFill>
          <a:ln w="12700">
            <a:solidFill>
              <a:srgbClr val="6B76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481620" y="1965960"/>
            <a:ext cx="4268419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 i="0">
                <a:solidFill>
                  <a:srgbClr val="21295C"/>
                </a:solidFill>
                <a:latin typeface="Arial"/>
              </a:rPr>
              <a:t>AI помогает слабо — это биология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2423160"/>
            <a:ext cx="1942185" cy="2377440"/>
          </a:xfrm>
          <a:prstGeom prst="roundRect">
            <a:avLst>
              <a:gd name="adj" fmla="val 15693"/>
            </a:avLst>
          </a:prstGeom>
          <a:solidFill>
            <a:srgbClr val="F4F7FA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lucide-target-blu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53972" y="2606040"/>
            <a:ext cx="640080" cy="64008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94360" y="3337560"/>
            <a:ext cx="1759305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 i="0">
                <a:solidFill>
                  <a:srgbClr val="1C7293"/>
                </a:solidFill>
                <a:latin typeface="Arial"/>
              </a:rPr>
              <a:t>1. Поиск
мишени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3840480"/>
            <a:ext cx="1759305" cy="914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0000"/>
              </a:lnSpc>
            </a:pPr>
            <a:r>
              <a:rPr sz="1100" b="0" i="1">
                <a:solidFill>
                  <a:srgbClr val="21295C"/>
                </a:solidFill>
                <a:latin typeface="Arial"/>
              </a:rPr>
              <a:t>AlphaFold
AlphaProteo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2490825" y="3429000"/>
            <a:ext cx="292607" cy="365760"/>
          </a:xfrm>
          <a:prstGeom prst="rightArrow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2829153" y="2423160"/>
            <a:ext cx="1942185" cy="2377440"/>
          </a:xfrm>
          <a:prstGeom prst="roundRect">
            <a:avLst>
              <a:gd name="adj" fmla="val 15693"/>
            </a:avLst>
          </a:prstGeom>
          <a:solidFill>
            <a:srgbClr val="F4F7FA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lucide-flask-conical-blu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80206" y="2606040"/>
            <a:ext cx="640080" cy="64008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2920593" y="3337560"/>
            <a:ext cx="1759305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 i="0">
                <a:solidFill>
                  <a:srgbClr val="065A82"/>
                </a:solidFill>
                <a:latin typeface="Arial"/>
              </a:rPr>
              <a:t>2. Поиск
кандидатов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20593" y="3840480"/>
            <a:ext cx="1759305" cy="914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0000"/>
              </a:lnSpc>
            </a:pPr>
            <a:r>
              <a:rPr sz="1100" b="0" i="1">
                <a:solidFill>
                  <a:srgbClr val="21295C"/>
                </a:solidFill>
                <a:latin typeface="Arial"/>
              </a:rPr>
              <a:t>Insilico
Exscientia
Generate Bio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4817059" y="3429000"/>
            <a:ext cx="292607" cy="365760"/>
          </a:xfrm>
          <a:prstGeom prst="rightArrow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155387" y="2423160"/>
            <a:ext cx="1942185" cy="2377440"/>
          </a:xfrm>
          <a:prstGeom prst="roundRect">
            <a:avLst>
              <a:gd name="adj" fmla="val 15693"/>
            </a:avLst>
          </a:prstGeom>
          <a:solidFill>
            <a:srgbClr val="F4F7FA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lucide-sparkles-blu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06440" y="2606040"/>
            <a:ext cx="640080" cy="64008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5246827" y="3337560"/>
            <a:ext cx="1759305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 i="0">
                <a:solidFill>
                  <a:srgbClr val="065A82"/>
                </a:solidFill>
                <a:latin typeface="Arial"/>
              </a:rPr>
              <a:t>3. Оптимиз.
кандидатов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246827" y="3840480"/>
            <a:ext cx="1759305" cy="914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0000"/>
              </a:lnSpc>
            </a:pPr>
            <a:r>
              <a:rPr sz="1100" b="0" i="1">
                <a:solidFill>
                  <a:srgbClr val="21295C"/>
                </a:solidFill>
                <a:latin typeface="Arial"/>
              </a:rPr>
              <a:t>Симуляция
+ ML</a:t>
            </a:r>
          </a:p>
        </p:txBody>
      </p:sp>
      <p:sp>
        <p:nvSpPr>
          <p:cNvPr id="22" name="Right Arrow 21"/>
          <p:cNvSpPr/>
          <p:nvPr/>
        </p:nvSpPr>
        <p:spPr>
          <a:xfrm>
            <a:off x="7143292" y="3429000"/>
            <a:ext cx="292607" cy="365760"/>
          </a:xfrm>
          <a:prstGeom prst="rightArrow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7481620" y="2423160"/>
            <a:ext cx="1942185" cy="2377440"/>
          </a:xfrm>
          <a:prstGeom prst="roundRect">
            <a:avLst>
              <a:gd name="adj" fmla="val 15693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4" name="Picture 23" descr="lucide-microscope-blu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132673" y="2606040"/>
            <a:ext cx="640080" cy="640080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7573060" y="3337560"/>
            <a:ext cx="1759305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4. Доклинич.
испытания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573060" y="3840480"/>
            <a:ext cx="1759305" cy="914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0000"/>
              </a:lnSpc>
            </a:pPr>
            <a:r>
              <a:rPr sz="1100" b="0" i="1">
                <a:solidFill>
                  <a:srgbClr val="21295C"/>
                </a:solidFill>
                <a:latin typeface="Arial"/>
              </a:rPr>
              <a:t>Прогноз
токсичности</a:t>
            </a:r>
          </a:p>
        </p:txBody>
      </p:sp>
      <p:sp>
        <p:nvSpPr>
          <p:cNvPr id="27" name="Right Arrow 26"/>
          <p:cNvSpPr/>
          <p:nvPr/>
        </p:nvSpPr>
        <p:spPr>
          <a:xfrm>
            <a:off x="9469526" y="3429000"/>
            <a:ext cx="292607" cy="365760"/>
          </a:xfrm>
          <a:prstGeom prst="rightArrow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9807854" y="2423160"/>
            <a:ext cx="1942185" cy="2377440"/>
          </a:xfrm>
          <a:prstGeom prst="roundRect">
            <a:avLst>
              <a:gd name="adj" fmla="val 15693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9" name="Picture 28" descr="lucide-users-blu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458907" y="2606040"/>
            <a:ext cx="640080" cy="640080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9899294" y="3337560"/>
            <a:ext cx="1759305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5. Клинич.
I/II/III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899294" y="3840480"/>
            <a:ext cx="1759305" cy="914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0000"/>
              </a:lnSpc>
            </a:pPr>
            <a:r>
              <a:rPr sz="1100" b="0" i="1">
                <a:solidFill>
                  <a:srgbClr val="21295C"/>
                </a:solidFill>
                <a:latin typeface="Arial"/>
              </a:rPr>
              <a:t>Стратиф.
пациентов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02920" y="5074920"/>
            <a:ext cx="11247120" cy="502920"/>
          </a:xfrm>
          <a:prstGeom prst="roundRect">
            <a:avLst>
              <a:gd name="adj" fmla="val 12000"/>
            </a:avLst>
          </a:prstGeom>
          <a:solidFill>
            <a:srgbClr val="FEF5E0"/>
          </a:solidFill>
          <a:ln w="1524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85800" y="5148072"/>
            <a:ext cx="10881360" cy="3566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→ ~90% отсева на клинических — AI не меняет. Это биология, а не алгоритм.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02920" y="5715000"/>
            <a:ext cx="112471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«AI ускорил дизайн молекулы» (подтверждено) ≠ «AI ускорил одобрение препарата» (не подтверждено).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02920" y="6355080"/>
            <a:ext cx="112471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6B7685"/>
                </a:solidFill>
                <a:latin typeface="Arial"/>
              </a:rPr>
              <a:t>DiMasi 2016 J Health Econ · Wouters 2020 JAMA · Mullard 2024 Nature Reviews Drug Discovery.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11480"/>
            <a:ext cx="11247120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200" b="1" i="0">
                <a:solidFill>
                  <a:srgbClr val="21295C"/>
                </a:solidFill>
                <a:latin typeface="Arial"/>
              </a:rPr>
              <a:t>AlphaFold: 200 млн+ структур. AlphaProteo: связующие белки de novo.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005840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1">
                <a:solidFill>
                  <a:srgbClr val="065A82"/>
                </a:solidFill>
                <a:latin typeface="Arial"/>
              </a:rPr>
              <a:t>Задача 50-летней давности — решена · Нобель по химии 2024 (Hassabis + Jumper + Baker).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691640"/>
            <a:ext cx="6858000" cy="1417320"/>
          </a:xfrm>
          <a:prstGeom prst="roundRect">
            <a:avLst>
              <a:gd name="adj" fmla="val 21505"/>
            </a:avLst>
          </a:prstGeom>
          <a:solidFill>
            <a:srgbClr val="FEF5E0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1874520"/>
            <a:ext cx="63093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 i="0">
                <a:solidFill>
                  <a:srgbClr val="21295C"/>
                </a:solidFill>
                <a:latin typeface="Arial"/>
              </a:rPr>
              <a:t>База AlphaFold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2286000"/>
            <a:ext cx="219456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400" b="1" i="0">
                <a:solidFill>
                  <a:srgbClr val="F0AB00"/>
                </a:solidFill>
                <a:latin typeface="Arial"/>
              </a:rPr>
              <a:t>200M+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063239" y="2286000"/>
            <a:ext cx="40233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структур белков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063239" y="2651760"/>
            <a:ext cx="40233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1">
                <a:solidFill>
                  <a:srgbClr val="6B7685"/>
                </a:solidFill>
                <a:latin typeface="Arial"/>
              </a:rPr>
              <a:t>alphafold.ebi.ac.uk · открытый, бесплатный доступ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3200400"/>
            <a:ext cx="6858000" cy="1417320"/>
          </a:xfrm>
          <a:prstGeom prst="roundRect">
            <a:avLst>
              <a:gd name="adj" fmla="val 21505"/>
            </a:avLst>
          </a:prstGeom>
          <a:solidFill>
            <a:srgbClr val="FEF5E0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3383280"/>
            <a:ext cx="63093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 i="0">
                <a:solidFill>
                  <a:srgbClr val="21295C"/>
                </a:solidFill>
                <a:latin typeface="Arial"/>
              </a:rPr>
              <a:t>AlphaProteo (сент. 2024)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3794760"/>
            <a:ext cx="219456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400" b="1" i="0">
                <a:solidFill>
                  <a:srgbClr val="F0AB00"/>
                </a:solidFill>
                <a:latin typeface="Arial"/>
              </a:rPr>
              <a:t>88%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063239" y="3794760"/>
            <a:ext cx="40233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успешных связываний BHRF1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063239" y="4160520"/>
            <a:ext cx="40233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1">
                <a:solidFill>
                  <a:srgbClr val="6B7685"/>
                </a:solidFill>
                <a:latin typeface="Arial"/>
              </a:rPr>
              <a:t>Первый AI-связующий для VEGF-A · аффинность в 3–300×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2920" y="4709160"/>
            <a:ext cx="6858000" cy="1417320"/>
          </a:xfrm>
          <a:prstGeom prst="roundRect">
            <a:avLst>
              <a:gd name="adj" fmla="val 21505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4892040"/>
            <a:ext cx="63093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 i="0">
                <a:solidFill>
                  <a:srgbClr val="21295C"/>
                </a:solidFill>
                <a:latin typeface="Arial"/>
              </a:rPr>
              <a:t>AlphaFold 3 (Nature 2024)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5303520"/>
            <a:ext cx="219456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400" b="1" i="0">
                <a:solidFill>
                  <a:srgbClr val="065A82"/>
                </a:solidFill>
                <a:latin typeface="Arial"/>
              </a:rPr>
              <a:t>+50%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063239" y="5303520"/>
            <a:ext cx="40233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точности на PoseBusters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063239" y="5669280"/>
            <a:ext cx="40233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1">
                <a:solidFill>
                  <a:srgbClr val="6B7685"/>
                </a:solidFill>
                <a:latin typeface="Arial"/>
              </a:rPr>
              <a:t>Взаимодействия белок–лиганд · diffusion-based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589520" y="1691640"/>
            <a:ext cx="4160520" cy="4526280"/>
          </a:xfrm>
          <a:prstGeom prst="roundRect">
            <a:avLst>
              <a:gd name="adj" fmla="val 7326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s14-pharma-lab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0" y="2484120"/>
            <a:ext cx="3794759" cy="2529839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7772400" y="5715000"/>
            <a:ext cx="379475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 i="1">
                <a:solidFill>
                  <a:srgbClr val="1C7293"/>
                </a:solidFill>
                <a:latin typeface="Arial"/>
              </a:rPr>
              <a:t>Молекулярная биология — поле, где работают AlphaFold/AlphaProteo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144000" y="1097280"/>
            <a:ext cx="2651760" cy="411480"/>
          </a:xfrm>
          <a:prstGeom prst="roundRect">
            <a:avLst>
              <a:gd name="adj" fmla="val 3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144000" y="1097280"/>
            <a:ext cx="265176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 i="0">
                <a:solidFill>
                  <a:srgbClr val="FFFFFF"/>
                </a:solidFill>
                <a:latin typeface="Arial"/>
              </a:rPr>
              <a:t>Нобель по химии 2024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02920" y="6355080"/>
            <a:ext cx="112471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6B7685"/>
                </a:solidFill>
                <a:latin typeface="Arial"/>
              </a:rPr>
              <a:t>Jumper et al. Nature 2021 · Abramson et al. Nature May 2024 · Watson et al. arXiv:2409.08022 · alphafold.ebi.ac.uk.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11480"/>
            <a:ext cx="11247120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200" b="1" i="0">
                <a:solidFill>
                  <a:srgbClr val="21295C"/>
                </a:solidFill>
                <a:latin typeface="Arial"/>
              </a:rPr>
              <a:t>Rentosertib — первый AI-препарат с рецензированным Phase IIa.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005840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1">
                <a:solidFill>
                  <a:srgbClr val="065A82"/>
                </a:solidFill>
                <a:latin typeface="Arial"/>
              </a:rPr>
              <a:t>Nature Medicine, июнь 2025 · PMID 40461817 · Insilico Medicine (ISM001-055)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783080"/>
            <a:ext cx="112471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6B7685"/>
                </a:solidFill>
                <a:latin typeface="Arial"/>
              </a:rPr>
              <a:t>ВРЕМЯ →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2194560"/>
            <a:ext cx="2952205" cy="2286000"/>
          </a:xfrm>
          <a:prstGeom prst="roundRect">
            <a:avLst>
              <a:gd name="adj" fmla="val 13333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2377440"/>
            <a:ext cx="258644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 i="0">
                <a:solidFill>
                  <a:srgbClr val="1C7293"/>
                </a:solidFill>
                <a:latin typeface="Arial"/>
              </a:rPr>
              <a:t>2020–2022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926080"/>
            <a:ext cx="2586445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Поиск мишени с AI
→ доклинический кандидат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3886200"/>
            <a:ext cx="2586445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1">
                <a:solidFill>
                  <a:srgbClr val="6B7685"/>
                </a:solidFill>
                <a:latin typeface="Arial"/>
              </a:rPr>
              <a:t>— ~18 месяцев против 4–5 лет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500845" y="3154679"/>
            <a:ext cx="3657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2400" b="1" i="0">
                <a:solidFill>
                  <a:srgbClr val="6B7685"/>
                </a:solidFill>
                <a:latin typeface="Arial"/>
              </a:rPr>
              <a:t>—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912325" y="2194560"/>
            <a:ext cx="2952205" cy="2286000"/>
          </a:xfrm>
          <a:prstGeom prst="roundRect">
            <a:avLst>
              <a:gd name="adj" fmla="val 13333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095205" y="2377440"/>
            <a:ext cx="258644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 i="0">
                <a:solidFill>
                  <a:srgbClr val="065A82"/>
                </a:solidFill>
                <a:latin typeface="Arial"/>
              </a:rPr>
              <a:t>Окт. 2024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095205" y="2926080"/>
            <a:ext cx="2586445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Объявлены топ-результаты
Phase IIa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095205" y="3886200"/>
            <a:ext cx="2586445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1">
                <a:solidFill>
                  <a:srgbClr val="6B7685"/>
                </a:solidFill>
                <a:latin typeface="Arial"/>
              </a:rPr>
              <a:t>— Пресс-релиз Insilico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10251" y="3154679"/>
            <a:ext cx="3657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2400" b="1" i="0">
                <a:solidFill>
                  <a:srgbClr val="6B7685"/>
                </a:solidFill>
                <a:latin typeface="Arial"/>
              </a:rPr>
              <a:t>—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321731" y="2057400"/>
            <a:ext cx="4428308" cy="2560320"/>
          </a:xfrm>
          <a:prstGeom prst="roundRect">
            <a:avLst>
              <a:gd name="adj" fmla="val 11904"/>
            </a:avLst>
          </a:prstGeom>
          <a:solidFill>
            <a:srgbClr val="F4F7FA"/>
          </a:solidFill>
          <a:ln w="317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504611" y="2240280"/>
            <a:ext cx="406254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 i="0">
                <a:solidFill>
                  <a:srgbClr val="F0AB00"/>
                </a:solidFill>
                <a:latin typeface="Arial"/>
              </a:rPr>
              <a:t>Июнь 2025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504611" y="2788920"/>
            <a:ext cx="4062548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00" b="1" i="0">
                <a:solidFill>
                  <a:srgbClr val="21295C"/>
                </a:solidFill>
                <a:latin typeface="Arial"/>
              </a:rPr>
              <a:t>Nature Medicine
рецензированное РКИ n=71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504611" y="3749039"/>
            <a:ext cx="4062548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 i="1">
                <a:solidFill>
                  <a:srgbClr val="F0AB00"/>
                </a:solidFill>
                <a:latin typeface="Arial"/>
              </a:rPr>
              <a:t>— 21 центр в Китае · ИЛФ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02920" y="4754880"/>
            <a:ext cx="11247120" cy="685800"/>
          </a:xfrm>
          <a:prstGeom prst="roundRect">
            <a:avLst>
              <a:gd name="adj" fmla="val 12000"/>
            </a:avLst>
          </a:prstGeom>
          <a:solidFill>
            <a:srgbClr val="FEF5E0"/>
          </a:solidFill>
          <a:ln w="1524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85800" y="4828032"/>
            <a:ext cx="10881360" cy="5394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 i="0">
                <a:solidFill>
                  <a:srgbClr val="21295C"/>
                </a:solidFill>
                <a:latin typeface="Arial"/>
              </a:rPr>
              <a:t>60 мг 1× в день → +98.4 мл ФЖЕЛ (форсиров. жизн. ёмкость лёгких) vs −20.3 мл плацебо (12 недель)  ·  Δ ~118 мл. ИЛФ — клинически значимо.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02920" y="5532120"/>
            <a:ext cx="11247120" cy="86868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77240" y="5623559"/>
            <a:ext cx="1069848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1" i="0">
                <a:solidFill>
                  <a:srgbClr val="028090"/>
                </a:solidFill>
                <a:latin typeface="Arial"/>
              </a:rPr>
              <a:t>Российский контекст (2024–2025, доклинические): </a:t>
            </a:r>
            <a:r>
              <a:rPr sz="1100" b="0" i="0">
                <a:solidFill>
                  <a:srgbClr val="21295C"/>
                </a:solidFill>
                <a:latin typeface="Arial"/>
              </a:rPr>
              <a:t>Сбер AI Lab + AIRI + Р-Фарм — Альянс №1 CD137 онкология (май 2024); Альянс №2 Альцгеймер (ноябрь 2025); MADD (ИТМО+Сбер, EMNLP 2025); DiMA (AIRI, ICML 2025).</a:t>
            </a:r>
          </a:p>
          <a:p>
            <a:pPr algn="l">
              <a:lnSpc>
                <a:spcPct val="130000"/>
              </a:lnSpc>
            </a:pPr>
            <a:r>
              <a:rPr sz="1100" b="0" i="1">
                <a:solidFill>
                  <a:srgbClr val="6B7685"/>
                </a:solidFill>
                <a:latin typeface="Arial"/>
              </a:rPr>
              <a:t>Все программы — доклинические: 0 препаратов российской разработки в клинических испытаниях на май 2026.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02920" y="6446520"/>
            <a:ext cx="112471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1C7293"/>
                </a:solidFill>
                <a:latin typeface="Arial"/>
              </a:rPr>
              <a:t>PubMed 40461817 · NCT05938920 · Nature Medicine июнь 2025 · MADD EMNLP 2025 · DiMA ICML 2025.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11480"/>
            <a:ext cx="11247120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200" b="1" i="0">
                <a:solidFill>
                  <a:srgbClr val="21295C"/>
                </a:solidFill>
                <a:latin typeface="Arial"/>
              </a:rPr>
              <a:t>DSP-1181 — проверка реальностью: AI ускорил дизайн, не клинику.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005840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1">
                <a:solidFill>
                  <a:srgbClr val="065A82"/>
                </a:solidFill>
                <a:latin typeface="Arial"/>
              </a:rPr>
              <a:t>«Первый AI-разработанный препарат в клинических испытаниях» (2020) → Phase 1 закрыта (2022).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783080"/>
            <a:ext cx="112471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6B7685"/>
                </a:solidFill>
                <a:latin typeface="Arial"/>
              </a:rPr>
              <a:t>ВРЕМЯ →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2194560"/>
            <a:ext cx="2952205" cy="2286000"/>
          </a:xfrm>
          <a:prstGeom prst="roundRect">
            <a:avLst>
              <a:gd name="adj" fmla="val 13333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2377440"/>
            <a:ext cx="258644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 i="0">
                <a:solidFill>
                  <a:srgbClr val="1C7293"/>
                </a:solidFill>
                <a:latin typeface="Arial"/>
              </a:rPr>
              <a:t>Январь 2020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926080"/>
            <a:ext cx="2586445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Вход в Phase 1
Exscientia + Sumitomo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3886200"/>
            <a:ext cx="2586445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1">
                <a:solidFill>
                  <a:srgbClr val="6B7685"/>
                </a:solidFill>
                <a:latin typeface="Arial"/>
              </a:rPr>
              <a:t>— ОКР · Япония · 12 мес vs 4–5 лет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500845" y="3154679"/>
            <a:ext cx="3657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2400" b="1" i="0">
                <a:solidFill>
                  <a:srgbClr val="6B7685"/>
                </a:solidFill>
                <a:latin typeface="Arial"/>
              </a:rPr>
              <a:t>—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912325" y="2057400"/>
            <a:ext cx="4428308" cy="2560320"/>
          </a:xfrm>
          <a:prstGeom prst="roundRect">
            <a:avLst>
              <a:gd name="adj" fmla="val 11904"/>
            </a:avLst>
          </a:prstGeom>
          <a:solidFill>
            <a:srgbClr val="F4F7FA"/>
          </a:solidFill>
          <a:ln w="31750">
            <a:solidFill>
              <a:srgbClr val="4A55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095205" y="2240280"/>
            <a:ext cx="406254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 i="0">
                <a:solidFill>
                  <a:srgbClr val="4A556B"/>
                </a:solidFill>
                <a:latin typeface="Arial"/>
              </a:rPr>
              <a:t>2022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095205" y="2788920"/>
            <a:ext cx="4062548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00" b="1" i="0">
                <a:solidFill>
                  <a:srgbClr val="21295C"/>
                </a:solidFill>
                <a:latin typeface="Arial"/>
              </a:rPr>
              <a:t>✕ Phase 1
ЗАКРЫТА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095205" y="3749039"/>
            <a:ext cx="4062548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 i="1">
                <a:solidFill>
                  <a:srgbClr val="4A556B"/>
                </a:solidFill>
                <a:latin typeface="Arial"/>
              </a:rPr>
              <a:t>— Причина не указана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86354" y="3154679"/>
            <a:ext cx="3657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2400" b="1" i="0">
                <a:solidFill>
                  <a:srgbClr val="6B7685"/>
                </a:solidFill>
                <a:latin typeface="Arial"/>
              </a:rPr>
              <a:t>—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797834" y="2194560"/>
            <a:ext cx="2952205" cy="2286000"/>
          </a:xfrm>
          <a:prstGeom prst="roundRect">
            <a:avLst>
              <a:gd name="adj" fmla="val 13333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980714" y="2377440"/>
            <a:ext cx="258644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Май 2026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980714" y="2926080"/>
            <a:ext cx="2586445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Статус Synapse:
программа закрыта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980714" y="3886200"/>
            <a:ext cx="2586445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1">
                <a:solidFill>
                  <a:srgbClr val="6B7685"/>
                </a:solidFill>
                <a:latin typeface="Arial"/>
              </a:rPr>
              <a:t>— Текущий R&amp;D-статус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02920" y="4983480"/>
            <a:ext cx="11247120" cy="1280160"/>
          </a:xfrm>
          <a:prstGeom prst="roundRect">
            <a:avLst>
              <a:gd name="adj" fmla="val 23809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7240" y="5166360"/>
            <a:ext cx="10698480" cy="9143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00" b="1" i="0">
                <a:solidFill>
                  <a:srgbClr val="065A82"/>
                </a:solidFill>
                <a:latin typeface="Arial"/>
              </a:rPr>
              <a:t>AI ускорил дизайн молекулы</a:t>
            </a:r>
            <a:r>
              <a:rPr sz="1500" b="0" i="0">
                <a:solidFill>
                  <a:srgbClr val="21295C"/>
                </a:solidFill>
                <a:latin typeface="Arial"/>
              </a:rPr>
              <a:t>  (12 мес vs 4–5 лет) — </a:t>
            </a:r>
            <a:r>
              <a:rPr sz="1500" b="1" i="0">
                <a:solidFill>
                  <a:srgbClr val="028090"/>
                </a:solidFill>
                <a:latin typeface="Arial"/>
              </a:rPr>
              <a:t>подтверждено.</a:t>
            </a:r>
          </a:p>
          <a:p>
            <a:pPr algn="l">
              <a:lnSpc>
                <a:spcPct val="130000"/>
              </a:lnSpc>
            </a:pPr>
            <a:r>
              <a:rPr sz="1600" b="1" i="0">
                <a:solidFill>
                  <a:srgbClr val="065A82"/>
                </a:solidFill>
                <a:latin typeface="Arial"/>
              </a:rPr>
              <a:t>Клиническая эффективность</a:t>
            </a:r>
            <a:r>
              <a:rPr sz="1500" b="0" i="0">
                <a:solidFill>
                  <a:srgbClr val="21295C"/>
                </a:solidFill>
                <a:latin typeface="Arial"/>
              </a:rPr>
              <a:t>  — отдельная задача биологии.</a:t>
            </a:r>
          </a:p>
          <a:p>
            <a:pPr algn="l">
              <a:lnSpc>
                <a:spcPct val="130000"/>
              </a:lnSpc>
            </a:pPr>
            <a:r>
              <a:rPr sz="1300" b="0" i="1">
                <a:solidFill>
                  <a:srgbClr val="6B7685"/>
                </a:solidFill>
                <a:latin typeface="Arial"/>
              </a:rPr>
              <a:t>«AI-препарат = быстро + эффективно»</a:t>
            </a:r>
            <a:r>
              <a:rPr sz="1300" b="0" i="1">
                <a:solidFill>
                  <a:srgbClr val="6B7685"/>
                </a:solidFill>
                <a:latin typeface="Arial"/>
              </a:rPr>
              <a:t>  — два независимых тезиса, объединённых маркетингом.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2920" y="6446520"/>
            <a:ext cx="112471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1C7293"/>
                </a:solidFill>
                <a:latin typeface="Arial"/>
              </a:rPr>
              <a:t>Synapse/PatSnap drug profile · Sumitomo 2020 press · CAS Insights · Recursion + Exscientia merger Aug 2024.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11480"/>
            <a:ext cx="11247120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21295C"/>
                </a:solidFill>
                <a:latin typeface="Arial"/>
              </a:rPr>
              <a:t>Медицинский AI = высокий риск во всех 3 крупных юрисдикциях.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097280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1">
                <a:solidFill>
                  <a:srgbClr val="065A82"/>
                </a:solidFill>
                <a:latin typeface="Arial"/>
              </a:rPr>
              <a:t>Подходы отличаются процессами, а не принципами.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783080"/>
            <a:ext cx="3703320" cy="4389120"/>
          </a:xfrm>
          <a:prstGeom prst="roundRect">
            <a:avLst>
              <a:gd name="adj" fmla="val 823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ucide-flag-blu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2057400"/>
            <a:ext cx="640080" cy="6400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508760" y="2103120"/>
            <a:ext cx="2514600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21295C"/>
                </a:solidFill>
                <a:latin typeface="Arial"/>
              </a:rPr>
              <a:t>США (FDA)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2971800"/>
            <a:ext cx="315467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065A82"/>
                </a:solidFill>
                <a:latin typeface="Arial"/>
              </a:rPr>
              <a:t>Структура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3246120"/>
            <a:ext cx="3154679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SaMD + специальные правила для AI/ML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3685032"/>
            <a:ext cx="315467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065A82"/>
                </a:solidFill>
                <a:latin typeface="Arial"/>
              </a:rPr>
              <a:t>PCCP финализирован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3959352"/>
            <a:ext cx="3154679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4 декабря 2024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398264"/>
            <a:ext cx="315467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065A82"/>
                </a:solidFill>
                <a:latin typeface="Arial"/>
              </a:rPr>
              <a:t>До PCCP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4672584"/>
            <a:ext cx="3154679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каждое обновление = новое разрешение (12–18 мес)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5111496"/>
            <a:ext cx="315467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065A82"/>
                </a:solidFill>
                <a:latin typeface="Arial"/>
              </a:rPr>
              <a:t>С PCCP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5385816"/>
            <a:ext cx="3154679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вендор заранее декларирует допустимые обновления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343400" y="1783080"/>
            <a:ext cx="3703320" cy="4389120"/>
          </a:xfrm>
          <a:prstGeom prst="roundRect">
            <a:avLst>
              <a:gd name="adj" fmla="val 8230"/>
            </a:avLst>
          </a:prstGeom>
          <a:solidFill>
            <a:srgbClr val="F4F7FA"/>
          </a:solidFill>
          <a:ln w="2540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lucide-flag-blu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17720" y="2057400"/>
            <a:ext cx="640080" cy="64008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5349240" y="2103120"/>
            <a:ext cx="2514600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21295C"/>
                </a:solidFill>
                <a:latin typeface="Arial"/>
              </a:rPr>
              <a:t>ЕС (AI Act)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17720" y="2971800"/>
            <a:ext cx="315467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065A82"/>
                </a:solidFill>
                <a:latin typeface="Arial"/>
              </a:rPr>
              <a:t>Регулятор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617720" y="3246120"/>
            <a:ext cx="3154679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Европейская комиссия + Notified Bodies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617720" y="3685032"/>
            <a:ext cx="315467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065A82"/>
                </a:solidFill>
                <a:latin typeface="Arial"/>
              </a:rPr>
              <a:t>Основание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617720" y="3959352"/>
            <a:ext cx="3154679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Article 6 + Annex III (высокий риск)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617720" y="4398264"/>
            <a:ext cx="315467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F0AB00"/>
                </a:solidFill>
                <a:latin typeface="Arial"/>
              </a:rPr>
              <a:t>⚠ 2 авг. 2026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617720" y="4672584"/>
            <a:ext cx="3154679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Annex III высокий риск → 2.5 мес после лекции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617720" y="5111496"/>
            <a:ext cx="315467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F0AB00"/>
                </a:solidFill>
                <a:latin typeface="Arial"/>
              </a:rPr>
              <a:t>⚠ 2 авг. 2027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617720" y="5385816"/>
            <a:ext cx="3154679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MDR — полное соответствие для медицинского AI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183880" y="1783080"/>
            <a:ext cx="3703320" cy="4389120"/>
          </a:xfrm>
          <a:prstGeom prst="roundRect">
            <a:avLst>
              <a:gd name="adj" fmla="val 823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7" name="Picture 26" descr="lucide-flag-blu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58200" y="2057400"/>
            <a:ext cx="640080" cy="640080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9189720" y="2103120"/>
            <a:ext cx="2514600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21295C"/>
                </a:solidFill>
                <a:latin typeface="Arial"/>
              </a:rPr>
              <a:t>РФ (Росздравнадзор)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458200" y="2971800"/>
            <a:ext cx="315467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065A82"/>
                </a:solidFill>
                <a:latin typeface="Arial"/>
              </a:rPr>
              <a:t>Зарегистрировано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458200" y="3246120"/>
            <a:ext cx="3154679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57 AI-медизделий (52 РФ + 5 зарубежных)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458200" y="3685032"/>
            <a:ext cx="315467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065A82"/>
                </a:solidFill>
                <a:latin typeface="Arial"/>
              </a:rPr>
              <a:t>Ускоренный режим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458200" y="3959352"/>
            <a:ext cx="3154679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1 марта 2025 (ПП РФ № 1684)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458200" y="4398264"/>
            <a:ext cx="315467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065A82"/>
                </a:solidFill>
                <a:latin typeface="Arial"/>
              </a:rPr>
              <a:t>Первый AI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458200" y="4672584"/>
            <a:ext cx="3154679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Webiomed, 3 апреля 2020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458200" y="5111496"/>
            <a:ext cx="315467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065A82"/>
                </a:solidFill>
                <a:latin typeface="Arial"/>
              </a:rPr>
              <a:t>Локализация данных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458200" y="5385816"/>
            <a:ext cx="3154679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ФЗ-23, 1 июля 2025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502920" y="6263640"/>
            <a:ext cx="11247120" cy="365760"/>
          </a:xfrm>
          <a:prstGeom prst="roundRect">
            <a:avLst>
              <a:gd name="adj" fmla="val 12000"/>
            </a:avLst>
          </a:prstGeom>
          <a:solidFill>
            <a:srgbClr val="FEF5E0"/>
          </a:solidFill>
          <a:ln w="1524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85800" y="6336792"/>
            <a:ext cx="1088136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 i="0">
                <a:solidFill>
                  <a:srgbClr val="21295C"/>
                </a:solidFill>
                <a:latin typeface="Arial"/>
              </a:rPr>
              <a:t>→ Проектируйте с PCCP в уме: дрейф данных, триггеры переобучения, обновления порогов — план заранее.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02920" y="6629400"/>
            <a:ext cx="112471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1C7293"/>
                </a:solidFill>
                <a:latin typeface="Arial"/>
              </a:rPr>
              <a:t>SaMD — Software as Medical Device (категория FDA) · MDR — EU Medical Device Regulation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1097280"/>
            <a:ext cx="3657600" cy="411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30000" b="1" i="0">
                <a:solidFill>
                  <a:srgbClr val="D9E2EC"/>
                </a:solidFill>
                <a:latin typeface="Arial"/>
              </a:rPr>
              <a:t>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297680" y="1463040"/>
            <a:ext cx="7315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i="0">
                <a:solidFill>
                  <a:srgbClr val="028090"/>
                </a:solidFill>
                <a:latin typeface="Arial"/>
              </a:rPr>
              <a:t>РАЗДЕЛ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297680" y="1965960"/>
            <a:ext cx="7315200" cy="1645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4400" b="1" i="0">
                <a:solidFill>
                  <a:srgbClr val="21295C"/>
                </a:solidFill>
                <a:latin typeface="Arial"/>
              </a:rPr>
              <a:t>AI как объяснитель
и его границы. Этика.</a:t>
            </a:r>
          </a:p>
        </p:txBody>
      </p:sp>
      <p:sp>
        <p:nvSpPr>
          <p:cNvPr id="5" name="Rectangle 4"/>
          <p:cNvSpPr/>
          <p:nvPr/>
        </p:nvSpPr>
        <p:spPr>
          <a:xfrm>
            <a:off x="4297680" y="3611880"/>
            <a:ext cx="36576" cy="502920"/>
          </a:xfrm>
          <a:prstGeom prst="rect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434840" y="3611880"/>
            <a:ext cx="722376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800" b="0" i="0">
                <a:solidFill>
                  <a:srgbClr val="065A82"/>
                </a:solidFill>
                <a:latin typeface="Arial"/>
              </a:rPr>
              <a:t>AI как объяснитель · Obermeyer · NEDA Tessa · Change Healthcare · 4 актёра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5349240"/>
            <a:ext cx="1783080" cy="868680"/>
          </a:xfrm>
          <a:prstGeom prst="roundRect">
            <a:avLst>
              <a:gd name="adj" fmla="val 25000"/>
            </a:avLst>
          </a:prstGeom>
          <a:solidFill>
            <a:srgbClr val="E6F2F4"/>
          </a:solidFill>
          <a:ln w="1524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5440679"/>
            <a:ext cx="17830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00" b="1" i="0">
                <a:solidFill>
                  <a:srgbClr val="028090"/>
                </a:solidFill>
                <a:latin typeface="Arial"/>
              </a:rPr>
              <a:t>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9496" y="5806440"/>
            <a:ext cx="1709928" cy="3657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900" b="0" i="0">
                <a:solidFill>
                  <a:srgbClr val="065A82"/>
                </a:solidFill>
                <a:latin typeface="Arial"/>
              </a:rPr>
              <a:t>Открытие
и опросы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395728" y="5349240"/>
            <a:ext cx="1783080" cy="868680"/>
          </a:xfrm>
          <a:prstGeom prst="roundRect">
            <a:avLst>
              <a:gd name="adj" fmla="val 25000"/>
            </a:avLst>
          </a:prstGeom>
          <a:solidFill>
            <a:srgbClr val="E6F2F4"/>
          </a:solidFill>
          <a:ln w="1524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395728" y="5440679"/>
            <a:ext cx="17830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00" b="1" i="0">
                <a:solidFill>
                  <a:srgbClr val="028090"/>
                </a:solidFill>
                <a:latin typeface="Arial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432304" y="5806440"/>
            <a:ext cx="1709928" cy="3657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900" b="0" i="0">
                <a:solidFill>
                  <a:srgbClr val="065A82"/>
                </a:solidFill>
                <a:latin typeface="Arial"/>
              </a:rPr>
              <a:t>Карта AI
в медицине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288536" y="5349240"/>
            <a:ext cx="1783080" cy="868680"/>
          </a:xfrm>
          <a:prstGeom prst="roundRect">
            <a:avLst>
              <a:gd name="adj" fmla="val 25000"/>
            </a:avLst>
          </a:prstGeom>
          <a:solidFill>
            <a:srgbClr val="E6F2F4"/>
          </a:solidFill>
          <a:ln w="1524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288536" y="5440679"/>
            <a:ext cx="17830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00" b="1" i="0">
                <a:solidFill>
                  <a:srgbClr val="028090"/>
                </a:solidFill>
                <a:latin typeface="Arial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25112" y="5806440"/>
            <a:ext cx="1709928" cy="3657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900" b="0" i="0">
                <a:solidFill>
                  <a:srgbClr val="065A82"/>
                </a:solidFill>
                <a:latin typeface="Arial"/>
              </a:rPr>
              <a:t>AI-диагностика
как зеркало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81344" y="5349240"/>
            <a:ext cx="1783080" cy="868680"/>
          </a:xfrm>
          <a:prstGeom prst="roundRect">
            <a:avLst>
              <a:gd name="adj" fmla="val 25000"/>
            </a:avLst>
          </a:prstGeom>
          <a:solidFill>
            <a:srgbClr val="E6F2F4"/>
          </a:solidFill>
          <a:ln w="1524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181344" y="5440679"/>
            <a:ext cx="17830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00" b="1" i="0">
                <a:solidFill>
                  <a:srgbClr val="028090"/>
                </a:solidFill>
                <a:latin typeface="Arial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17920" y="5806440"/>
            <a:ext cx="1709928" cy="3657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900" b="0" i="0">
                <a:solidFill>
                  <a:srgbClr val="065A82"/>
                </a:solidFill>
                <a:latin typeface="Arial"/>
              </a:rPr>
              <a:t>Разработка
лекарств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074152" y="5349240"/>
            <a:ext cx="1783080" cy="868680"/>
          </a:xfrm>
          <a:prstGeom prst="roundRect">
            <a:avLst>
              <a:gd name="adj" fmla="val 25000"/>
            </a:avLst>
          </a:prstGeom>
          <a:solidFill>
            <a:srgbClr val="F0AB00"/>
          </a:solidFill>
          <a:ln w="2540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074152" y="5440679"/>
            <a:ext cx="17830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00" b="1" i="0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110728" y="5806440"/>
            <a:ext cx="1709928" cy="3657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900" b="1" i="0">
                <a:solidFill>
                  <a:srgbClr val="FFFFFF"/>
                </a:solidFill>
                <a:latin typeface="Arial"/>
              </a:rPr>
              <a:t>AI-объяснитель
+ этика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966960" y="5349240"/>
            <a:ext cx="1783080" cy="86868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27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966960" y="5440679"/>
            <a:ext cx="17830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00" b="1" i="0">
                <a:solidFill>
                  <a:srgbClr val="1C7293"/>
                </a:solidFill>
                <a:latin typeface="Arial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003536" y="5806440"/>
            <a:ext cx="1709928" cy="3657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900" b="0" i="0">
                <a:solidFill>
                  <a:srgbClr val="6B7685"/>
                </a:solidFill>
                <a:latin typeface="Arial"/>
              </a:rPr>
              <a:t>Заключение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11480"/>
            <a:ext cx="11247120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200" b="1" i="0">
                <a:solidFill>
                  <a:srgbClr val="21295C"/>
                </a:solidFill>
                <a:latin typeface="Arial"/>
              </a:rPr>
              <a:t>AI как объяснитель — что меняется в обучении и работе врача.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097280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1">
                <a:solidFill>
                  <a:srgbClr val="065A82"/>
                </a:solidFill>
                <a:latin typeface="Arial"/>
              </a:rPr>
              <a:t>Один из самых стабильно работающих паттернов LLM — «объясни как для студента N курса».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691640"/>
            <a:ext cx="3703320" cy="4160520"/>
          </a:xfrm>
          <a:prstGeom prst="roundRect">
            <a:avLst>
              <a:gd name="adj" fmla="val 823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1691640"/>
            <a:ext cx="3703320" cy="91440"/>
          </a:xfrm>
          <a:prstGeom prst="rect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ucide-book-open-blu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2011680"/>
            <a:ext cx="868680" cy="86868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77240" y="2971800"/>
            <a:ext cx="3154679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 i="0">
                <a:solidFill>
                  <a:srgbClr val="065A82"/>
                </a:solidFill>
                <a:latin typeface="Arial"/>
              </a:rPr>
              <a:t>Паттерн «объясни как для…»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3886200"/>
            <a:ext cx="3154679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«Объясни sensitivity/specificity как для студента 2 курса техвуза» — LLM выдаёт связное объяснение с примером.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4937760"/>
            <a:ext cx="3154679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i="1">
                <a:solidFill>
                  <a:srgbClr val="6B7685"/>
                </a:solidFill>
                <a:latin typeface="Arial"/>
              </a:rPr>
              <a:t>Работает: интерн читает редкое заболевание, ординатор — методику исследования, врач — новый класс препаратов.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43400" y="1691640"/>
            <a:ext cx="3703320" cy="4160520"/>
          </a:xfrm>
          <a:prstGeom prst="roundRect">
            <a:avLst>
              <a:gd name="adj" fmla="val 823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343400" y="1691640"/>
            <a:ext cx="3703320" cy="91440"/>
          </a:xfrm>
          <a:prstGeom prst="rect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lucide-graduation-cap-blu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17720" y="2011680"/>
            <a:ext cx="868680" cy="86868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4617720" y="2971800"/>
            <a:ext cx="3154679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 i="0">
                <a:solidFill>
                  <a:srgbClr val="1C7293"/>
                </a:solidFill>
                <a:latin typeface="Arial"/>
              </a:rPr>
              <a:t>Что меняется в обучении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17720" y="3886200"/>
            <a:ext cx="3154679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Студент-инженер получает персонального наставника по запросу. Время «спросить старшего» сокращается с часов до секунд.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17720" y="4937760"/>
            <a:ext cx="3154679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i="1">
                <a:solidFill>
                  <a:srgbClr val="6B7685"/>
                </a:solidFill>
                <a:latin typeface="Arial"/>
              </a:rPr>
              <a:t>Качество — нестабильно. AI отлично пересказывает учебник, плохо передаёт неявное знание клинициста.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83880" y="1691640"/>
            <a:ext cx="3703320" cy="4160520"/>
          </a:xfrm>
          <a:prstGeom prst="roundRect">
            <a:avLst>
              <a:gd name="adj" fmla="val 8230"/>
            </a:avLst>
          </a:prstGeom>
          <a:solidFill>
            <a:srgbClr val="FEF5E0"/>
          </a:solidFill>
          <a:ln w="317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183880" y="1691640"/>
            <a:ext cx="3703320" cy="91440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lucide-alert-triangle-blu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58200" y="2011680"/>
            <a:ext cx="868680" cy="868680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8458200" y="2971800"/>
            <a:ext cx="3154679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 i="0">
                <a:solidFill>
                  <a:srgbClr val="F0AB00"/>
                </a:solidFill>
                <a:latin typeface="Arial"/>
              </a:rPr>
              <a:t>Оговорка: проверяй перед тем, как доверять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58200" y="3886200"/>
            <a:ext cx="3154679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AI даёт цифры без источника. AI пересказывает учебник 5-летней давности как «текущую практику».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458200" y="4937760"/>
            <a:ext cx="3154679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i="1">
                <a:solidFill>
                  <a:srgbClr val="6B7685"/>
                </a:solidFill>
                <a:latin typeface="Arial"/>
              </a:rPr>
              <a:t>Правило: AI = первое приближение. Финальная верификация — учебник, guidelines, старший коллега.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02920" y="5989320"/>
            <a:ext cx="11247120" cy="457200"/>
          </a:xfrm>
          <a:prstGeom prst="roundRect">
            <a:avLst>
              <a:gd name="adj" fmla="val 12000"/>
            </a:avLst>
          </a:prstGeom>
          <a:solidFill>
            <a:srgbClr val="FEF5E0"/>
          </a:solidFill>
          <a:ln w="1524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5800" y="6062472"/>
            <a:ext cx="1088136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→ AI — мощный объяснитель. Не источник истины. Это меняет рабочий процесс врача и студента — но не отменяет проверку.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02920" y="6492240"/>
            <a:ext cx="1124712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6B7685"/>
                </a:solidFill>
                <a:latin typeface="Arial"/>
              </a:rPr>
              <a:t>Паттерн «explain like for» широко используется студентами медфаков 2024–2026 (см. JAMA Educ 2024 · Med Teach 2025).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11480"/>
            <a:ext cx="11247120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21295C"/>
                </a:solidFill>
                <a:latin typeface="Arial"/>
              </a:rPr>
              <a:t>В медицинском AI ставки максимальны.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097280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1">
                <a:solidFill>
                  <a:srgbClr val="065A82"/>
                </a:solidFill>
                <a:latin typeface="Arial"/>
              </a:rPr>
              <a:t>Ошибка модели = ошибка диагноза или назначения = вред пациенту.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691640"/>
            <a:ext cx="5120640" cy="4480560"/>
          </a:xfrm>
          <a:prstGeom prst="roundRect">
            <a:avLst>
              <a:gd name="adj" fmla="val 6802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s20-medical-team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32901" y="1965960"/>
            <a:ext cx="2460678" cy="370332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5897880" y="1691640"/>
            <a:ext cx="5806440" cy="4480560"/>
          </a:xfrm>
          <a:prstGeom prst="roundRect">
            <a:avLst>
              <a:gd name="adj" fmla="val 6802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172200" y="1920240"/>
            <a:ext cx="5257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Что инженер должен знать про границы</a:t>
            </a:r>
          </a:p>
        </p:txBody>
      </p:sp>
      <p:pic>
        <p:nvPicPr>
          <p:cNvPr id="8" name="Picture 7" descr="lucide-scale-blu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72200" y="2560320"/>
            <a:ext cx="640080" cy="64008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949440" y="2468880"/>
            <a:ext cx="46634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065A82"/>
                </a:solidFill>
                <a:latin typeface="Arial"/>
              </a:rPr>
              <a:t>1.  Смещение (bias) в медицинском AI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949440" y="2852928"/>
            <a:ext cx="466344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Optum/UnitedHealth занижал риск у чернокожих в 2 раза — proxy «расходы» вместо «тяжесть».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949440" y="3355848"/>
            <a:ext cx="46634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1">
                <a:solidFill>
                  <a:srgbClr val="F0AB00"/>
                </a:solidFill>
                <a:latin typeface="Arial"/>
              </a:rPr>
              <a:t>200 млн американцев · 5 лет до фикса</a:t>
            </a:r>
          </a:p>
        </p:txBody>
      </p:sp>
      <p:pic>
        <p:nvPicPr>
          <p:cNvPr id="12" name="Picture 11" descr="lucide-message-circle-warning-blu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72200" y="3794760"/>
            <a:ext cx="640080" cy="64008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949440" y="3703320"/>
            <a:ext cx="46634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065A82"/>
                </a:solidFill>
                <a:latin typeface="Arial"/>
              </a:rPr>
              <a:t>2.  LLM-антипаттерны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49440" y="4087368"/>
            <a:ext cx="466344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NEDA Tessa давал опасные советы при eating disorder — приводил к госпитализации.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49440" y="4590288"/>
            <a:ext cx="46634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1">
                <a:solidFill>
                  <a:srgbClr val="F0AB00"/>
                </a:solidFill>
                <a:latin typeface="Arial"/>
              </a:rPr>
              <a:t>40 млн американцев — самодиагностика без врача</a:t>
            </a:r>
          </a:p>
        </p:txBody>
      </p:sp>
      <p:pic>
        <p:nvPicPr>
          <p:cNvPr id="16" name="Picture 15" descr="lucide-shield-check-blu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172200" y="5029200"/>
            <a:ext cx="640080" cy="64008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6949440" y="4937760"/>
            <a:ext cx="46634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065A82"/>
                </a:solidFill>
                <a:latin typeface="Arial"/>
              </a:rPr>
              <a:t>3.  Безопасность данных + ответственность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949440" y="5321808"/>
            <a:ext cx="466344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Change Healthcare ransomware (февр. 2024): 190 млн пострадали, $2.5 млрд убытков.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949440" y="5824728"/>
            <a:ext cx="46634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1">
                <a:solidFill>
                  <a:srgbClr val="F0AB00"/>
                </a:solidFill>
                <a:latin typeface="Arial"/>
              </a:rPr>
              <a:t>mosmed.ai = 18 млн+ изображений — та же поверхность атаки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02920" y="6263640"/>
            <a:ext cx="11247120" cy="457200"/>
          </a:xfrm>
          <a:prstGeom prst="roundRect">
            <a:avLst>
              <a:gd name="adj" fmla="val 12000"/>
            </a:avLst>
          </a:prstGeom>
          <a:solidFill>
            <a:srgbClr val="FEF5E0"/>
          </a:solidFill>
          <a:ln w="1524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85800" y="6336792"/>
            <a:ext cx="1088136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→ Думать про границы сразу, на стадии проектирования — не задним числом после первого инцидента.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11480"/>
            <a:ext cx="11247120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200" b="1" i="0">
                <a:solidFill>
                  <a:srgbClr val="21295C"/>
                </a:solidFill>
                <a:latin typeface="Arial"/>
              </a:rPr>
              <a:t>Obermeyer 2019 — выбор прокси стал выбором политики.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005840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1">
                <a:solidFill>
                  <a:srgbClr val="065A82"/>
                </a:solidFill>
                <a:latin typeface="Arial"/>
              </a:rPr>
              <a:t>Коммерческий AI для 200 млн американцев систематически недооценивал тяжесть болезни у чернокожих пациентов.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691640"/>
            <a:ext cx="3444240" cy="1508760"/>
          </a:xfrm>
          <a:prstGeom prst="roundRect">
            <a:avLst>
              <a:gd name="adj" fmla="val 20202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828800"/>
            <a:ext cx="30784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 i="0">
                <a:solidFill>
                  <a:srgbClr val="1C7293"/>
                </a:solidFill>
                <a:latin typeface="Arial"/>
              </a:rPr>
              <a:t>Цель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2240280"/>
            <a:ext cx="3078480" cy="8229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Найти пациентов,
кому нужна
доп. помощь</a:t>
            </a:r>
          </a:p>
        </p:txBody>
      </p:sp>
      <p:sp>
        <p:nvSpPr>
          <p:cNvPr id="7" name="Right Arrow 6"/>
          <p:cNvSpPr/>
          <p:nvPr/>
        </p:nvSpPr>
        <p:spPr>
          <a:xfrm>
            <a:off x="3992880" y="2263139"/>
            <a:ext cx="365760" cy="365760"/>
          </a:xfrm>
          <a:prstGeom prst="rightArrow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4404360" y="1691640"/>
            <a:ext cx="3444240" cy="1508760"/>
          </a:xfrm>
          <a:prstGeom prst="roundRect">
            <a:avLst>
              <a:gd name="adj" fmla="val 20202"/>
            </a:avLst>
          </a:prstGeom>
          <a:solidFill>
            <a:srgbClr val="FEF5E0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87240" y="1828800"/>
            <a:ext cx="30784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 i="0">
                <a:solidFill>
                  <a:srgbClr val="F0AB00"/>
                </a:solidFill>
                <a:latin typeface="Arial"/>
              </a:rPr>
              <a:t>Прокси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87240" y="2240280"/>
            <a:ext cx="3078480" cy="8229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Расходы на
предыдущее
лечение
(не тяжесть)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7894320" y="2263139"/>
            <a:ext cx="365760" cy="365760"/>
          </a:xfrm>
          <a:prstGeom prst="rightArrow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8305800" y="1691640"/>
            <a:ext cx="3444240" cy="1508760"/>
          </a:xfrm>
          <a:prstGeom prst="roundRect">
            <a:avLst>
              <a:gd name="adj" fmla="val 20202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488680" y="1828800"/>
            <a:ext cx="30784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 i="0">
                <a:solidFill>
                  <a:srgbClr val="4A556B"/>
                </a:solidFill>
                <a:latin typeface="Arial"/>
              </a:rPr>
              <a:t>Источник смещения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488680" y="2240280"/>
            <a:ext cx="3078480" cy="8229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Чернокожие: −$1 800/год
(разный доступ)
→ AI «менее больны»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" y="3383280"/>
            <a:ext cx="5486400" cy="2468880"/>
          </a:xfrm>
          <a:prstGeom prst="roundRect">
            <a:avLst>
              <a:gd name="adj" fmla="val 12345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7240" y="3566160"/>
            <a:ext cx="49377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При одинаковом риск-скоре у чернокожих пациентов: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4069080"/>
            <a:ext cx="493776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400" b="1" i="0">
                <a:solidFill>
                  <a:srgbClr val="F0AB00"/>
                </a:solidFill>
                <a:latin typeface="Arial"/>
              </a:rPr>
              <a:t>+26%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" y="5074920"/>
            <a:ext cx="49377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 i="0">
                <a:solidFill>
                  <a:srgbClr val="21295C"/>
                </a:solidFill>
                <a:latin typeface="Arial"/>
              </a:rPr>
              <a:t>больше хронических заболеваний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7240" y="5486400"/>
            <a:ext cx="49377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1C7293"/>
                </a:solidFill>
                <a:latin typeface="Arial"/>
              </a:rPr>
              <a:t>Science 2019 · n ≈ 200 млн американцев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17920" y="3383280"/>
            <a:ext cx="5532120" cy="2468880"/>
          </a:xfrm>
          <a:prstGeom prst="roundRect">
            <a:avLst>
              <a:gd name="adj" fmla="val 12345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92240" y="3566160"/>
            <a:ext cx="49834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Исправление: гибридный прокси (расходы + хронические)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92240" y="4069080"/>
            <a:ext cx="4983480" cy="8229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 i="0">
                <a:solidFill>
                  <a:srgbClr val="4A556B"/>
                </a:solidFill>
                <a:latin typeface="Arial"/>
              </a:rPr>
              <a:t>17.7%</a:t>
            </a:r>
            <a:r>
              <a:rPr sz="3200" b="1" i="0">
                <a:solidFill>
                  <a:srgbClr val="6B7685"/>
                </a:solidFill>
                <a:latin typeface="Arial"/>
              </a:rPr>
              <a:t>  →  </a:t>
            </a:r>
            <a:r>
              <a:rPr sz="3200" b="1" i="0">
                <a:solidFill>
                  <a:srgbClr val="F0AB00"/>
                </a:solidFill>
                <a:latin typeface="Arial"/>
              </a:rPr>
              <a:t>46.5%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92240" y="4892040"/>
            <a:ext cx="49834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доля чернокожих пациентов в программах ведения пациентов высокого риска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92240" y="5486400"/>
            <a:ext cx="49834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1">
                <a:solidFill>
                  <a:srgbClr val="F0AB00"/>
                </a:solidFill>
                <a:latin typeface="Arial"/>
              </a:rPr>
              <a:t>−84% смещения  ·  не теория — реальные пациенты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02920" y="5989320"/>
            <a:ext cx="11247120" cy="502920"/>
          </a:xfrm>
          <a:prstGeom prst="roundRect">
            <a:avLst>
              <a:gd name="adj" fmla="val 12000"/>
            </a:avLst>
          </a:prstGeom>
          <a:solidFill>
            <a:srgbClr val="FEF5E0"/>
          </a:solidFill>
          <a:ln w="1524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85800" y="6062472"/>
            <a:ext cx="10881360" cy="3566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→ Выбирая прокси, спрашивайте: какие группы имеют систематически разный доступ к ней?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02920" y="658368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6B7685"/>
                </a:solidFill>
                <a:latin typeface="Arial"/>
              </a:rPr>
              <a:t>Obermeyer, Powers, Vogeli, Mullainathan — Science 366, 447 (2019). DOI: 10.1126/science.aax2342.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11480"/>
            <a:ext cx="11247120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200" b="1" i="0">
                <a:solidFill>
                  <a:srgbClr val="21295C"/>
                </a:solidFill>
                <a:latin typeface="Arial"/>
              </a:rPr>
              <a:t>LLM в медицине ≠ медицинский AI — 3 задокументированных случая.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005840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1">
                <a:solidFill>
                  <a:srgbClr val="065A82"/>
                </a:solidFill>
                <a:latin typeface="Arial"/>
              </a:rPr>
              <a:t>Ответственность вендора · состязательные галлюцинации · самодиагностика в массовом масштабе (2025–2026).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645920"/>
            <a:ext cx="11247120" cy="1298448"/>
          </a:xfrm>
          <a:prstGeom prst="roundRect">
            <a:avLst>
              <a:gd name="adj" fmla="val 23474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ucide-message-circle-warning-blu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1847088"/>
            <a:ext cx="777240" cy="7772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737360" y="1810512"/>
            <a:ext cx="41148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 i="0">
                <a:solidFill>
                  <a:srgbClr val="21295C"/>
                </a:solidFill>
                <a:latin typeface="Arial"/>
              </a:rPr>
              <a:t>NEDA Tessa — скандал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737360" y="2249424"/>
            <a:ext cx="2286000" cy="292608"/>
          </a:xfrm>
          <a:prstGeom prst="roundRect">
            <a:avLst>
              <a:gd name="adj" fmla="val 3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737360" y="2249424"/>
            <a:ext cx="228600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FFFFFF"/>
                </a:solidFill>
                <a:latin typeface="Arial"/>
              </a:rPr>
              <a:t>ответственность вендора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737360" y="2606040"/>
            <a:ext cx="4114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1">
                <a:solidFill>
                  <a:srgbClr val="1C7293"/>
                </a:solidFill>
                <a:latin typeface="Arial"/>
              </a:rPr>
              <a:t>Май 2023 · NPR · AI Incident DB #545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2200" y="1929384"/>
            <a:ext cx="91440" cy="91440"/>
          </a:xfrm>
          <a:prstGeom prst="roundRect">
            <a:avLst>
              <a:gd name="adj" fmla="val 5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55080" y="1810512"/>
            <a:ext cx="525780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~2018–2022: rule-based, одобрен NEDA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2276856"/>
            <a:ext cx="91440" cy="91440"/>
          </a:xfrm>
          <a:prstGeom prst="roundRect">
            <a:avLst>
              <a:gd name="adj" fmla="val 5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55080" y="2157984"/>
            <a:ext cx="525780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Начало 2023: Cass → генеративный БЕЗ одобрения NEDA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72200" y="2624328"/>
            <a:ext cx="91440" cy="91440"/>
          </a:xfrm>
          <a:prstGeom prst="roundRect">
            <a:avLst>
              <a:gd name="adj" fmla="val 5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55080" y="2505456"/>
            <a:ext cx="525780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30 мая 2023: скриншоты Maxwell → отключён за 24 часа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2920" y="3017520"/>
            <a:ext cx="11247120" cy="1298448"/>
          </a:xfrm>
          <a:prstGeom prst="roundRect">
            <a:avLst>
              <a:gd name="adj" fmla="val 23474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lucide-alert-octagon-blu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3218688"/>
            <a:ext cx="777240" cy="77724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1737360" y="3182112"/>
            <a:ext cx="41148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 i="0">
                <a:solidFill>
                  <a:srgbClr val="21295C"/>
                </a:solidFill>
                <a:latin typeface="Arial"/>
              </a:rPr>
              <a:t>Состязательные галлюцинации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737360" y="3621024"/>
            <a:ext cx="2286000" cy="292608"/>
          </a:xfrm>
          <a:prstGeom prst="roundRect">
            <a:avLst>
              <a:gd name="adj" fmla="val 3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737360" y="3621024"/>
            <a:ext cx="228600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FFFFFF"/>
                </a:solidFill>
                <a:latin typeface="Arial"/>
              </a:rPr>
              <a:t>галлюцин. 83%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37360" y="3977639"/>
            <a:ext cx="4114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1">
                <a:solidFill>
                  <a:srgbClr val="1C7293"/>
                </a:solidFill>
                <a:latin typeface="Arial"/>
              </a:rPr>
              <a:t>Communications Medicine 2025 (Nature)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172200" y="3300984"/>
            <a:ext cx="91440" cy="91440"/>
          </a:xfrm>
          <a:prstGeom prst="roundRect">
            <a:avLst>
              <a:gd name="adj" fmla="val 5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55080" y="3182112"/>
            <a:ext cx="525780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6 ведущих LLM, 300 клинических виньеток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72200" y="3648456"/>
            <a:ext cx="91440" cy="91440"/>
          </a:xfrm>
          <a:prstGeom prst="roundRect">
            <a:avLst>
              <a:gd name="adj" fmla="val 5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355080" y="3529584"/>
            <a:ext cx="525780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С подсаженной фейк-деталью → расширяют её в 83% случаев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172200" y="3995928"/>
            <a:ext cx="91440" cy="91440"/>
          </a:xfrm>
          <a:prstGeom prst="roundRect">
            <a:avLst>
              <a:gd name="adj" fmla="val 5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355080" y="3877056"/>
            <a:ext cx="525780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Mitigation-промпт → снижает вдвое, но ≠ ноль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02920" y="4389120"/>
            <a:ext cx="11247120" cy="1298448"/>
          </a:xfrm>
          <a:prstGeom prst="roundRect">
            <a:avLst>
              <a:gd name="adj" fmla="val 23474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9" name="Picture 28" descr="lucide-users-blu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7240" y="4590288"/>
            <a:ext cx="777240" cy="777240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1737360" y="4553712"/>
            <a:ext cx="41148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 i="0">
                <a:solidFill>
                  <a:srgbClr val="21295C"/>
                </a:solidFill>
                <a:latin typeface="Arial"/>
              </a:rPr>
              <a:t>Самодиагностика в масштабе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1737360" y="4992624"/>
            <a:ext cx="2286000" cy="292608"/>
          </a:xfrm>
          <a:prstGeom prst="roundRect">
            <a:avLst>
              <a:gd name="adj" fmla="val 3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737360" y="4992624"/>
            <a:ext cx="228600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FFFFFF"/>
                </a:solidFill>
                <a:latin typeface="Arial"/>
              </a:rPr>
              <a:t>40 млн американцев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737360" y="5349240"/>
            <a:ext cx="4114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1">
                <a:solidFill>
                  <a:srgbClr val="1C7293"/>
                </a:solidFill>
                <a:latin typeface="Arial"/>
              </a:rPr>
              <a:t>OpenAI / Gallup 2025 · Becker's Hospital Review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172200" y="4672583"/>
            <a:ext cx="91440" cy="91440"/>
          </a:xfrm>
          <a:prstGeom prst="roundRect">
            <a:avLst>
              <a:gd name="adj" fmla="val 5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355080" y="4553712"/>
            <a:ext cx="525780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~40 млн американцев использовали ChatGPT для здоровья за 3 месяца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172200" y="5020055"/>
            <a:ext cx="91440" cy="91440"/>
          </a:xfrm>
          <a:prstGeom prst="roundRect">
            <a:avLst>
              <a:gd name="adj" fmla="val 5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355080" y="4901183"/>
            <a:ext cx="525780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3 из 5 совершеннолетних США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6172200" y="5367527"/>
            <a:ext cx="91440" cy="91440"/>
          </a:xfrm>
          <a:prstGeom prst="roundRect">
            <a:avLst>
              <a:gd name="adj" fmla="val 5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355080" y="5248655"/>
            <a:ext cx="525780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Регулирование за этим не успевает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502920" y="5989320"/>
            <a:ext cx="11247120" cy="411480"/>
          </a:xfrm>
          <a:prstGeom prst="roundRect">
            <a:avLst>
              <a:gd name="adj" fmla="val 12000"/>
            </a:avLst>
          </a:prstGeom>
          <a:solidFill>
            <a:srgbClr val="FEF5E0"/>
          </a:solidFill>
          <a:ln w="1524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85800" y="6062472"/>
            <a:ext cx="10881360" cy="2651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→ Генеративный AI ≠ rule-based AI. Изменения дизайна вендором могут обойти clinical-safety проверку.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02920" y="6492240"/>
            <a:ext cx="1124712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6B7685"/>
                </a:solidFill>
                <a:latin typeface="Arial"/>
              </a:rPr>
              <a:t>Точная дата переключения на генеративный режим — начало 2023 (источники не дают строгий месяц).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11480"/>
            <a:ext cx="11247120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200" b="1" i="0">
                <a:solidFill>
                  <a:srgbClr val="21295C"/>
                </a:solidFill>
                <a:latin typeface="Arial"/>
              </a:rPr>
              <a:t>Обучающие данные медицинского AI наследуют риски безопасности.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097280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1">
                <a:solidFill>
                  <a:srgbClr val="065A82"/>
                </a:solidFill>
                <a:latin typeface="Arial"/>
              </a:rPr>
              <a:t>Change Healthcare (февр. 2024): 190 млн человек, $2.457 млрд на восстановление — медданные мишень №1.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691640"/>
            <a:ext cx="11247120" cy="77724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1783080"/>
            <a:ext cx="1069848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065A82"/>
                </a:solidFill>
                <a:latin typeface="Arial"/>
              </a:rPr>
              <a:t>BleepingComputer · 21.02.2024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2011680"/>
            <a:ext cx="106984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 i="0">
                <a:solidFill>
                  <a:srgbClr val="21295C"/>
                </a:solidFill>
                <a:latin typeface="Arial"/>
              </a:rPr>
              <a:t>UnitedHealth: 190 млн американцев пострадали от утечки данных Change Healthcare 2024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2606040"/>
            <a:ext cx="2161641" cy="1554480"/>
          </a:xfrm>
          <a:prstGeom prst="roundRect">
            <a:avLst>
              <a:gd name="adj" fmla="val 19607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2834640"/>
            <a:ext cx="1887321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5000"/>
              </a:lnSpc>
            </a:pPr>
            <a:r>
              <a:rPr sz="2400" b="1" i="0">
                <a:solidFill>
                  <a:srgbClr val="065A82"/>
                </a:solidFill>
                <a:latin typeface="Arial"/>
              </a:rPr>
              <a:t>190 млн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474720"/>
            <a:ext cx="1887321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1100" b="0" i="1">
                <a:solidFill>
                  <a:srgbClr val="21295C"/>
                </a:solidFill>
                <a:latin typeface="Arial"/>
              </a:rPr>
              <a:t>пострадавших американцев (~57% населения США)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774289" y="2606040"/>
            <a:ext cx="2161641" cy="1554480"/>
          </a:xfrm>
          <a:prstGeom prst="roundRect">
            <a:avLst>
              <a:gd name="adj" fmla="val 19607"/>
            </a:avLst>
          </a:prstGeom>
          <a:solidFill>
            <a:srgbClr val="FEF5E0"/>
          </a:solidFill>
          <a:ln w="2540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911449" y="2834640"/>
            <a:ext cx="1887321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5000"/>
              </a:lnSpc>
            </a:pPr>
            <a:r>
              <a:rPr sz="2400" b="1" i="0">
                <a:solidFill>
                  <a:srgbClr val="F0AB00"/>
                </a:solidFill>
                <a:latin typeface="Arial"/>
              </a:rPr>
              <a:t>$2.457 млрд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11449" y="3474720"/>
            <a:ext cx="1887321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1100" b="0" i="1">
                <a:solidFill>
                  <a:srgbClr val="21295C"/>
                </a:solidFill>
                <a:latin typeface="Arial"/>
              </a:rPr>
              <a:t>стоимость восстановления UHG, 3 кв. 2024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45659" y="2606040"/>
            <a:ext cx="2161641" cy="1554480"/>
          </a:xfrm>
          <a:prstGeom prst="roundRect">
            <a:avLst>
              <a:gd name="adj" fmla="val 19607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182819" y="2834640"/>
            <a:ext cx="1887321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5000"/>
              </a:lnSpc>
            </a:pPr>
            <a:r>
              <a:rPr sz="2400" b="1" i="0">
                <a:solidFill>
                  <a:srgbClr val="065A82"/>
                </a:solidFill>
                <a:latin typeface="Arial"/>
              </a:rPr>
              <a:t>6 ТБ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182819" y="3474720"/>
            <a:ext cx="1887321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1100" b="0" i="1">
                <a:solidFill>
                  <a:srgbClr val="21295C"/>
                </a:solidFill>
                <a:latin typeface="Arial"/>
              </a:rPr>
              <a:t>украдено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317028" y="2606040"/>
            <a:ext cx="2161641" cy="1554480"/>
          </a:xfrm>
          <a:prstGeom prst="roundRect">
            <a:avLst>
              <a:gd name="adj" fmla="val 19607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454188" y="2834640"/>
            <a:ext cx="1887321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5000"/>
              </a:lnSpc>
            </a:pPr>
            <a:r>
              <a:rPr sz="2400" b="1" i="0">
                <a:solidFill>
                  <a:srgbClr val="065A82"/>
                </a:solidFill>
                <a:latin typeface="Arial"/>
              </a:rPr>
              <a:t>Несколько недель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454188" y="3474720"/>
            <a:ext cx="1887321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1100" b="0" i="1">
                <a:solidFill>
                  <a:srgbClr val="21295C"/>
                </a:solidFill>
                <a:latin typeface="Arial"/>
              </a:rPr>
              <a:t>сбои в страховых выплатах США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588398" y="2606040"/>
            <a:ext cx="2161641" cy="1554480"/>
          </a:xfrm>
          <a:prstGeom prst="roundRect">
            <a:avLst>
              <a:gd name="adj" fmla="val 19607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725558" y="2834640"/>
            <a:ext cx="1887321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5000"/>
              </a:lnSpc>
            </a:pPr>
            <a:r>
              <a:rPr sz="2400" b="1" i="0">
                <a:solidFill>
                  <a:srgbClr val="065A82"/>
                </a:solidFill>
                <a:latin typeface="Arial"/>
              </a:rPr>
              <a:t>$22 млн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725558" y="3474720"/>
            <a:ext cx="1887321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1100" b="0" i="1">
                <a:solidFill>
                  <a:srgbClr val="21295C"/>
                </a:solidFill>
                <a:latin typeface="Arial"/>
              </a:rPr>
              <a:t>выкуп ALPHV/BlackCat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02920" y="4343400"/>
            <a:ext cx="11247120" cy="1280160"/>
          </a:xfrm>
          <a:prstGeom prst="roundRect">
            <a:avLst>
              <a:gd name="adj" fmla="val 23809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3" name="Picture 22" descr="s23-cybersecurity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2376" y="4526280"/>
            <a:ext cx="1369888" cy="914400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2331720" y="4526280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Связь с AI — обучающие датасеты медицинского AI наследуют те же риски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331720" y="4937760"/>
            <a:ext cx="9144000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mosmed.ai = 18 млн+ изображений → расширяет цели для ransomware. Анонимизация ≠ необратимая (Sweeney 2002 — re-identification губернатора Массачусетса).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63727" y="5760720"/>
            <a:ext cx="3566160" cy="457200"/>
          </a:xfrm>
          <a:prstGeom prst="roundRect">
            <a:avLst>
              <a:gd name="adj" fmla="val 5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36576" bIns="36576" wrap="none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HIPAA (US, 1996)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312767" y="5760720"/>
            <a:ext cx="3566160" cy="457200"/>
          </a:xfrm>
          <a:prstGeom prst="roundRect">
            <a:avLst>
              <a:gd name="adj" fmla="val 5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36576" bIns="36576" wrap="none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GDPR (EU, 2016/679)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061807" y="5760720"/>
            <a:ext cx="3566160" cy="457200"/>
          </a:xfrm>
          <a:prstGeom prst="roundRect">
            <a:avLst>
              <a:gd name="adj" fmla="val 5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36576" bIns="36576" wrap="none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ФЗ-152 + ФЗ-23 (1 июля 2025)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02920" y="644652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6B7685"/>
                </a:solidFill>
                <a:latin typeface="Arial"/>
              </a:rPr>
              <a:t>UHG newsroom · BleepingComputer · HIPAA Journal · House Energy &amp; Commerce.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11480"/>
            <a:ext cx="11247120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200" b="1" i="0">
                <a:solidFill>
                  <a:srgbClr val="21295C"/>
                </a:solidFill>
                <a:latin typeface="Arial"/>
              </a:rPr>
              <a:t>Врач решает. AI подсказывает. Конечная ответственность — неделима.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005840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1">
                <a:solidFill>
                  <a:srgbClr val="065A82"/>
                </a:solidFill>
                <a:latin typeface="Arial"/>
              </a:rPr>
              <a:t>4 актёра с разной комбинацией: технический контроль × юридическая ответственность.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280160" y="1554480"/>
            <a:ext cx="4754880" cy="1965960"/>
          </a:xfrm>
          <a:prstGeom prst="roundRect">
            <a:avLst>
              <a:gd name="adj" fmla="val 15503"/>
            </a:avLst>
          </a:prstGeom>
          <a:solidFill>
            <a:srgbClr val="F4F7FA"/>
          </a:solidFill>
          <a:ln w="254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280160" y="1554480"/>
            <a:ext cx="4754880" cy="73152"/>
          </a:xfrm>
          <a:prstGeom prst="rect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ucide-gavel-blu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44752" y="1737360"/>
            <a:ext cx="731520" cy="73152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2286000" y="1737360"/>
            <a:ext cx="3657600" cy="7772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 i="0">
                <a:solidFill>
                  <a:srgbClr val="1C7293"/>
                </a:solidFill>
                <a:latin typeface="Arial"/>
              </a:rPr>
              <a:t>Регулятор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63040" y="2560320"/>
            <a:ext cx="44805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Одобряет · проверяет · отзывает разрешения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63040" y="3017520"/>
            <a:ext cx="448056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1">
                <a:solidFill>
                  <a:srgbClr val="6B7685"/>
                </a:solidFill>
                <a:latin typeface="Arial"/>
              </a:rPr>
              <a:t>FDA (US) · Notified Bodies (EU) · Росздравнадзор (РФ)
надзорная роль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0" y="1554480"/>
            <a:ext cx="4754880" cy="1965960"/>
          </a:xfrm>
          <a:prstGeom prst="roundRect">
            <a:avLst>
              <a:gd name="adj" fmla="val 15503"/>
            </a:avLst>
          </a:prstGeom>
          <a:solidFill>
            <a:srgbClr val="FEF5E0"/>
          </a:solidFill>
          <a:ln w="3810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17920" y="1554480"/>
            <a:ext cx="4754880" cy="73152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lucide-stethoscope-blu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82512" y="1737360"/>
            <a:ext cx="731520" cy="73152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7223760" y="1737360"/>
            <a:ext cx="3657600" cy="7772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 i="0">
                <a:solidFill>
                  <a:srgbClr val="F0AB00"/>
                </a:solidFill>
                <a:latin typeface="Arial"/>
              </a:rPr>
              <a:t>Врач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0" y="2560320"/>
            <a:ext cx="44805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Конечный диагностический ответ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0" y="3017520"/>
            <a:ext cx="448056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1">
                <a:solidFill>
                  <a:srgbClr val="6B7685"/>
                </a:solidFill>
                <a:latin typeface="Arial"/>
              </a:rPr>
              <a:t>AI = подсказка, не решение
Приказ 203н · EU AI Act Art. 14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280160" y="3703320"/>
            <a:ext cx="4754880" cy="1965960"/>
          </a:xfrm>
          <a:prstGeom prst="roundRect">
            <a:avLst>
              <a:gd name="adj" fmla="val 15503"/>
            </a:avLst>
          </a:prstGeom>
          <a:solidFill>
            <a:srgbClr val="F4F7FA"/>
          </a:solidFill>
          <a:ln w="254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280160" y="3703320"/>
            <a:ext cx="4754880" cy="73152"/>
          </a:xfrm>
          <a:prstGeom prst="rect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lucide-building-2-blu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44752" y="3886200"/>
            <a:ext cx="731520" cy="731520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2286000" y="3886200"/>
            <a:ext cx="3657600" cy="7772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 i="0">
                <a:solidFill>
                  <a:srgbClr val="065A82"/>
                </a:solidFill>
                <a:latin typeface="Arial"/>
              </a:rPr>
              <a:t>Оператор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63040" y="4709160"/>
            <a:ext cx="44805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Выбор вендора · обучение · развёртывание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463040" y="5166360"/>
            <a:ext cx="448056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1">
                <a:solidFill>
                  <a:srgbClr val="6B7685"/>
                </a:solidFill>
                <a:latin typeface="Arial"/>
              </a:rPr>
              <a:t>Больница · клиника · ДЗМ Москвы
средний технический контроль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17920" y="3703320"/>
            <a:ext cx="4754880" cy="1965960"/>
          </a:xfrm>
          <a:prstGeom prst="roundRect">
            <a:avLst>
              <a:gd name="adj" fmla="val 15503"/>
            </a:avLst>
          </a:prstGeom>
          <a:solidFill>
            <a:srgbClr val="F4F7FA"/>
          </a:solidFill>
          <a:ln w="254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17920" y="3703320"/>
            <a:ext cx="4754880" cy="73152"/>
          </a:xfrm>
          <a:prstGeom prst="rect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4" name="Picture 23" descr="lucide-code-blu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82512" y="3886200"/>
            <a:ext cx="731520" cy="731520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7223760" y="3886200"/>
            <a:ext cx="3657600" cy="7772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 i="0">
                <a:solidFill>
                  <a:srgbClr val="065A82"/>
                </a:solidFill>
                <a:latin typeface="Arial"/>
              </a:rPr>
              <a:t>Вендор AI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00800" y="4709160"/>
            <a:ext cx="44805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Дизайн модели · заявки на безопасность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00800" y="5166360"/>
            <a:ext cx="448056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1">
                <a:solidFill>
                  <a:srgbClr val="6B7685"/>
                </a:solidFill>
                <a:latin typeface="Arial"/>
              </a:rPr>
              <a:t>Insilico · Aidoc · Webiomed · Care Mentor AI
PCCP-обновления · пост-маркет мониторинг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88720" y="5833872"/>
            <a:ext cx="9875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 i="1">
                <a:solidFill>
                  <a:srgbClr val="21295C"/>
                </a:solidFill>
                <a:latin typeface="Arial"/>
              </a:rPr>
              <a:t>◄ низкий контроль · ТЕХНИЧЕСКИЙ КОНТРОЛЬ · высокий контроль ►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74320" y="1463040"/>
            <a:ext cx="914400" cy="42976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21295C"/>
                </a:solidFill>
                <a:latin typeface="Arial"/>
              </a:rPr>
              <a:t>ОТВЕТ-
СТВЕН-
НОСТЬ
▲ высокая
▼ низкая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02920" y="6080760"/>
            <a:ext cx="11247120" cy="502920"/>
          </a:xfrm>
          <a:prstGeom prst="roundRect">
            <a:avLst>
              <a:gd name="adj" fmla="val 25000"/>
            </a:avLst>
          </a:prstGeom>
          <a:solidFill>
            <a:srgbClr val="FEF5E0"/>
          </a:solidFill>
          <a:ln w="317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77240" y="6126480"/>
            <a:ext cx="1069848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Врач ставит диагноз. AI подсказывает. Конечная клиническая ответственность — </a:t>
            </a:r>
            <a:r>
              <a:rPr sz="1400" b="1" i="0">
                <a:solidFill>
                  <a:srgbClr val="F0AB00"/>
                </a:solidFill>
                <a:latin typeface="Arial"/>
              </a:rPr>
              <a:t>неделима.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02920" y="6629400"/>
            <a:ext cx="112471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6B7685"/>
                </a:solidFill>
                <a:latin typeface="Arial"/>
              </a:rPr>
              <a:t>Price 2019 (U Michigan Law School) · Gerke 2020 (Penn State Dickinson Law) · EU AI Act 2024/1689 Art. 14.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1097280"/>
            <a:ext cx="3657600" cy="411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30000" b="1" i="0">
                <a:solidFill>
                  <a:srgbClr val="D9E2EC"/>
                </a:solidFill>
                <a:latin typeface="Arial"/>
              </a:rPr>
              <a:t>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297680" y="1463040"/>
            <a:ext cx="7315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i="0">
                <a:solidFill>
                  <a:srgbClr val="028090"/>
                </a:solidFill>
                <a:latin typeface="Arial"/>
              </a:rPr>
              <a:t>РАЗДЕЛ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297680" y="1965960"/>
            <a:ext cx="7315200" cy="1645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4400" b="1" i="0">
                <a:solidFill>
                  <a:srgbClr val="21295C"/>
                </a:solidFill>
                <a:latin typeface="Arial"/>
              </a:rPr>
              <a:t>Заключение</a:t>
            </a:r>
          </a:p>
        </p:txBody>
      </p:sp>
      <p:sp>
        <p:nvSpPr>
          <p:cNvPr id="5" name="Rectangle 4"/>
          <p:cNvSpPr/>
          <p:nvPr/>
        </p:nvSpPr>
        <p:spPr>
          <a:xfrm>
            <a:off x="4297680" y="3611880"/>
            <a:ext cx="36576" cy="502920"/>
          </a:xfrm>
          <a:prstGeom prst="rect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434840" y="3611880"/>
            <a:ext cx="722376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800" b="0" i="0">
                <a:solidFill>
                  <a:srgbClr val="065A82"/>
                </a:solidFill>
                <a:latin typeface="Arial"/>
              </a:rPr>
              <a:t>3 наблюдения · что дальше · Q&amp;A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5349240"/>
            <a:ext cx="1783080" cy="868680"/>
          </a:xfrm>
          <a:prstGeom prst="roundRect">
            <a:avLst>
              <a:gd name="adj" fmla="val 25000"/>
            </a:avLst>
          </a:prstGeom>
          <a:solidFill>
            <a:srgbClr val="E6F2F4"/>
          </a:solidFill>
          <a:ln w="1524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5440679"/>
            <a:ext cx="17830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00" b="1" i="0">
                <a:solidFill>
                  <a:srgbClr val="028090"/>
                </a:solidFill>
                <a:latin typeface="Arial"/>
              </a:rPr>
              <a:t>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9496" y="5806440"/>
            <a:ext cx="1709928" cy="3657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900" b="0" i="0">
                <a:solidFill>
                  <a:srgbClr val="065A82"/>
                </a:solidFill>
                <a:latin typeface="Arial"/>
              </a:rPr>
              <a:t>Открытие
и опросы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395728" y="5349240"/>
            <a:ext cx="1783080" cy="868680"/>
          </a:xfrm>
          <a:prstGeom prst="roundRect">
            <a:avLst>
              <a:gd name="adj" fmla="val 25000"/>
            </a:avLst>
          </a:prstGeom>
          <a:solidFill>
            <a:srgbClr val="E6F2F4"/>
          </a:solidFill>
          <a:ln w="1524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395728" y="5440679"/>
            <a:ext cx="17830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00" b="1" i="0">
                <a:solidFill>
                  <a:srgbClr val="028090"/>
                </a:solidFill>
                <a:latin typeface="Arial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432304" y="5806440"/>
            <a:ext cx="1709928" cy="3657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900" b="0" i="0">
                <a:solidFill>
                  <a:srgbClr val="065A82"/>
                </a:solidFill>
                <a:latin typeface="Arial"/>
              </a:rPr>
              <a:t>Карта AI
в медицине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288536" y="5349240"/>
            <a:ext cx="1783080" cy="868680"/>
          </a:xfrm>
          <a:prstGeom prst="roundRect">
            <a:avLst>
              <a:gd name="adj" fmla="val 25000"/>
            </a:avLst>
          </a:prstGeom>
          <a:solidFill>
            <a:srgbClr val="E6F2F4"/>
          </a:solidFill>
          <a:ln w="1524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288536" y="5440679"/>
            <a:ext cx="17830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00" b="1" i="0">
                <a:solidFill>
                  <a:srgbClr val="028090"/>
                </a:solidFill>
                <a:latin typeface="Arial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25112" y="5806440"/>
            <a:ext cx="1709928" cy="3657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900" b="0" i="0">
                <a:solidFill>
                  <a:srgbClr val="065A82"/>
                </a:solidFill>
                <a:latin typeface="Arial"/>
              </a:rPr>
              <a:t>AI-диагностика
как зеркало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81344" y="5349240"/>
            <a:ext cx="1783080" cy="868680"/>
          </a:xfrm>
          <a:prstGeom prst="roundRect">
            <a:avLst>
              <a:gd name="adj" fmla="val 25000"/>
            </a:avLst>
          </a:prstGeom>
          <a:solidFill>
            <a:srgbClr val="E6F2F4"/>
          </a:solidFill>
          <a:ln w="1524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181344" y="5440679"/>
            <a:ext cx="17830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00" b="1" i="0">
                <a:solidFill>
                  <a:srgbClr val="028090"/>
                </a:solidFill>
                <a:latin typeface="Arial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17920" y="5806440"/>
            <a:ext cx="1709928" cy="3657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900" b="0" i="0">
                <a:solidFill>
                  <a:srgbClr val="065A82"/>
                </a:solidFill>
                <a:latin typeface="Arial"/>
              </a:rPr>
              <a:t>Разработка
лекарств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074152" y="5349240"/>
            <a:ext cx="1783080" cy="868680"/>
          </a:xfrm>
          <a:prstGeom prst="roundRect">
            <a:avLst>
              <a:gd name="adj" fmla="val 25000"/>
            </a:avLst>
          </a:prstGeom>
          <a:solidFill>
            <a:srgbClr val="E6F2F4"/>
          </a:solidFill>
          <a:ln w="1524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074152" y="5440679"/>
            <a:ext cx="17830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00" b="1" i="0">
                <a:solidFill>
                  <a:srgbClr val="028090"/>
                </a:solidFill>
                <a:latin typeface="Arial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110728" y="5806440"/>
            <a:ext cx="1709928" cy="3657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900" b="0" i="0">
                <a:solidFill>
                  <a:srgbClr val="065A82"/>
                </a:solidFill>
                <a:latin typeface="Arial"/>
              </a:rPr>
              <a:t>AI-объяснитель
+ этика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966960" y="5349240"/>
            <a:ext cx="1783080" cy="868680"/>
          </a:xfrm>
          <a:prstGeom prst="roundRect">
            <a:avLst>
              <a:gd name="adj" fmla="val 25000"/>
            </a:avLst>
          </a:prstGeom>
          <a:solidFill>
            <a:srgbClr val="F0AB00"/>
          </a:solidFill>
          <a:ln w="2540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966960" y="5440679"/>
            <a:ext cx="17830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00" b="1" i="0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003536" y="5806440"/>
            <a:ext cx="1709928" cy="3657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900" b="1" i="0">
                <a:solidFill>
                  <a:srgbClr val="FFFFFF"/>
                </a:solidFill>
                <a:latin typeface="Arial"/>
              </a:rPr>
              <a:t>Заключение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11480"/>
            <a:ext cx="11247120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21295C"/>
                </a:solidFill>
                <a:latin typeface="Arial"/>
              </a:rPr>
              <a:t>3 главных вывода — медицинский AI к 2026 году.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097280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1">
                <a:solidFill>
                  <a:srgbClr val="065A82"/>
                </a:solidFill>
                <a:latin typeface="Arial"/>
              </a:rPr>
              <a:t>Работающая инфраструктура + конкретная рамка ответственности.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783080"/>
            <a:ext cx="3703320" cy="4206240"/>
          </a:xfrm>
          <a:prstGeom prst="roundRect">
            <a:avLst>
              <a:gd name="adj" fmla="val 823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ucide-activity-blu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2103120"/>
            <a:ext cx="1005840" cy="10058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920240" y="2194560"/>
            <a:ext cx="2148839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600" b="1" i="0">
                <a:solidFill>
                  <a:srgbClr val="065A82"/>
                </a:solidFill>
                <a:latin typeface="Arial"/>
              </a:rPr>
              <a:t>✓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3291839"/>
            <a:ext cx="3154679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 i="0">
                <a:solidFill>
                  <a:srgbClr val="21295C"/>
                </a:solidFill>
                <a:latin typeface="Arial"/>
              </a:rPr>
              <a:t>AI-диагностика работает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" y="4233672"/>
            <a:ext cx="91440" cy="91440"/>
          </a:xfrm>
          <a:prstGeom prst="roundRect">
            <a:avLst>
              <a:gd name="adj" fmla="val 5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4114800"/>
            <a:ext cx="3108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mosmed.ai — 14 млн+ исследований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4617720"/>
            <a:ext cx="91440" cy="91440"/>
          </a:xfrm>
          <a:prstGeom prst="roundRect">
            <a:avLst>
              <a:gd name="adj" fmla="val 5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4498848"/>
            <a:ext cx="3108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FDA — 1 451 устройство (к концу 2025)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77240" y="5001768"/>
            <a:ext cx="91440" cy="91440"/>
          </a:xfrm>
          <a:prstGeom prst="roundRect">
            <a:avLst>
              <a:gd name="adj" fmla="val 5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60120" y="4882896"/>
            <a:ext cx="3108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MASAI — нагрузка −44%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77240" y="5385816"/>
            <a:ext cx="91440" cy="91440"/>
          </a:xfrm>
          <a:prstGeom prst="roundRect">
            <a:avLst>
              <a:gd name="adj" fmla="val 5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60120" y="5266944"/>
            <a:ext cx="3108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CV-пайплайн уровня 2017–2024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343400" y="1783080"/>
            <a:ext cx="3703320" cy="4206240"/>
          </a:xfrm>
          <a:prstGeom prst="roundRect">
            <a:avLst>
              <a:gd name="adj" fmla="val 8230"/>
            </a:avLst>
          </a:prstGeom>
          <a:solidFill>
            <a:srgbClr val="FEF5E0"/>
          </a:solidFill>
          <a:ln w="2540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lucide-flask-conical-blu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17720" y="2103120"/>
            <a:ext cx="1005840" cy="100584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5760720" y="2194560"/>
            <a:ext cx="2148839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600" b="1" i="0">
                <a:solidFill>
                  <a:srgbClr val="F0AB00"/>
                </a:solidFill>
                <a:latin typeface="Arial"/>
              </a:rPr>
              <a:t>~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617720" y="3291839"/>
            <a:ext cx="3154679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 i="0">
                <a:solidFill>
                  <a:srgbClr val="21295C"/>
                </a:solidFill>
                <a:latin typeface="Arial"/>
              </a:rPr>
              <a:t>Разработка лекарств — частично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617720" y="4233672"/>
            <a:ext cx="91440" cy="91440"/>
          </a:xfrm>
          <a:prstGeom prst="roundRect">
            <a:avLst>
              <a:gd name="adj" fmla="val 5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800600" y="4114800"/>
            <a:ext cx="3108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AlphaFold решена · Нобель 2024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617720" y="4617720"/>
            <a:ext cx="91440" cy="91440"/>
          </a:xfrm>
          <a:prstGeom prst="roundRect">
            <a:avLst>
              <a:gd name="adj" fmla="val 5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800600" y="4498848"/>
            <a:ext cx="3108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Rentosertib — Phase IIa подтверждён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617720" y="5001768"/>
            <a:ext cx="91440" cy="91440"/>
          </a:xfrm>
          <a:prstGeom prst="roundRect">
            <a:avLst>
              <a:gd name="adj" fmla="val 5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800600" y="4882896"/>
            <a:ext cx="3108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DSP-1181 — программа закрыта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617720" y="5385816"/>
            <a:ext cx="91440" cy="91440"/>
          </a:xfrm>
          <a:prstGeom prst="roundRect">
            <a:avLst>
              <a:gd name="adj" fmla="val 5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800600" y="5266944"/>
            <a:ext cx="3108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Отсев на клинических не изменился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183880" y="1783080"/>
            <a:ext cx="3703320" cy="4206240"/>
          </a:xfrm>
          <a:prstGeom prst="roundRect">
            <a:avLst>
              <a:gd name="adj" fmla="val 823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9" name="Picture 28" descr="lucide-users-blu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58200" y="2103120"/>
            <a:ext cx="1005840" cy="1005840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9601200" y="2194560"/>
            <a:ext cx="2148839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600" b="1" i="0">
                <a:solidFill>
                  <a:srgbClr val="21295C"/>
                </a:solidFill>
                <a:latin typeface="Arial"/>
              </a:rPr>
              <a:t>→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458200" y="3291839"/>
            <a:ext cx="3154679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 i="0">
                <a:solidFill>
                  <a:srgbClr val="21295C"/>
                </a:solidFill>
                <a:latin typeface="Arial"/>
              </a:rPr>
              <a:t>Ответственность — на враче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8458200" y="4233672"/>
            <a:ext cx="91440" cy="91440"/>
          </a:xfrm>
          <a:prstGeom prst="roundRect">
            <a:avLst>
              <a:gd name="adj" fmla="val 50000"/>
            </a:avLst>
          </a:prstGeom>
          <a:solidFill>
            <a:srgbClr val="2129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641080" y="4114800"/>
            <a:ext cx="3108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AI подсказывает, врач решает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458200" y="4617720"/>
            <a:ext cx="91440" cy="91440"/>
          </a:xfrm>
          <a:prstGeom prst="roundRect">
            <a:avLst>
              <a:gd name="adj" fmla="val 50000"/>
            </a:avLst>
          </a:prstGeom>
          <a:solidFill>
            <a:srgbClr val="2129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641080" y="4498848"/>
            <a:ext cx="3108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Инженер делает её выполнимой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8458200" y="5001768"/>
            <a:ext cx="91440" cy="91440"/>
          </a:xfrm>
          <a:prstGeom prst="roundRect">
            <a:avLst>
              <a:gd name="adj" fmla="val 50000"/>
            </a:avLst>
          </a:prstGeom>
          <a:solidFill>
            <a:srgbClr val="2129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641080" y="4882896"/>
            <a:ext cx="3108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3 принципа → копилка для синтеза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8458200" y="5385816"/>
            <a:ext cx="91440" cy="91440"/>
          </a:xfrm>
          <a:prstGeom prst="roundRect">
            <a:avLst>
              <a:gd name="adj" fmla="val 50000"/>
            </a:avLst>
          </a:prstGeom>
          <a:solidFill>
            <a:srgbClr val="2129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641080" y="5266944"/>
            <a:ext cx="3108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Финал — Лекция 17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502920" y="6263640"/>
            <a:ext cx="11247120" cy="411480"/>
          </a:xfrm>
          <a:prstGeom prst="roundRect">
            <a:avLst>
              <a:gd name="adj" fmla="val 12000"/>
            </a:avLst>
          </a:prstGeom>
          <a:solidFill>
            <a:srgbClr val="FEF5E0"/>
          </a:solidFill>
          <a:ln w="1524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85800" y="6336792"/>
            <a:ext cx="10881360" cy="2651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→ 3 вывода = сырьё для копилки чек-листа. Не финальный синтез — финал на Лекции 17.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02920" y="777240"/>
            <a:ext cx="5029200" cy="5303520"/>
          </a:xfrm>
          <a:prstGeom prst="roundRect">
            <a:avLst>
              <a:gd name="adj" fmla="val 606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s27-doctor-patien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98448" y="1143000"/>
            <a:ext cx="3438143" cy="4297679"/>
          </a:xfrm>
          <a:prstGeom prst="rect">
            <a:avLst/>
          </a:prstGeom>
        </p:spPr>
      </p:pic>
      <p:sp>
        <p:nvSpPr>
          <p:cNvPr id="4" name="Rounded Rectangle 3"/>
          <p:cNvSpPr/>
          <p:nvPr/>
        </p:nvSpPr>
        <p:spPr>
          <a:xfrm>
            <a:off x="5760720" y="777240"/>
            <a:ext cx="5943600" cy="5303520"/>
          </a:xfrm>
          <a:prstGeom prst="roundRect">
            <a:avLst>
              <a:gd name="adj" fmla="val 5747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126480" y="1325880"/>
            <a:ext cx="5212080" cy="42062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3000" b="1" i="0">
                <a:solidFill>
                  <a:srgbClr val="21295C"/>
                </a:solidFill>
                <a:latin typeface="Arial"/>
              </a:rPr>
              <a:t>Врач ставит диагноз.</a:t>
            </a:r>
          </a:p>
          <a:p>
            <a:pPr algn="l">
              <a:lnSpc>
                <a:spcPct val="130000"/>
              </a:lnSpc>
            </a:pPr>
            <a:r>
              <a:rPr sz="3000" b="1" i="0">
                <a:solidFill>
                  <a:srgbClr val="065A82"/>
                </a:solidFill>
                <a:latin typeface="Arial"/>
              </a:rPr>
              <a:t>AI подсказывает.</a:t>
            </a:r>
          </a:p>
          <a:p>
            <a:pPr algn="l">
              <a:lnSpc>
                <a:spcPct val="130000"/>
              </a:lnSpc>
            </a:pPr>
            <a:r>
              <a:rPr sz="3000" b="1" i="0">
                <a:solidFill>
                  <a:srgbClr val="21295C"/>
                </a:solidFill>
                <a:latin typeface="Arial"/>
              </a:rPr>
              <a:t>Инженер делает так,</a:t>
            </a:r>
          </a:p>
          <a:p>
            <a:pPr algn="l">
              <a:lnSpc>
                <a:spcPct val="130000"/>
              </a:lnSpc>
            </a:pPr>
            <a:r>
              <a:rPr sz="3000" b="1" i="0">
                <a:solidFill>
                  <a:srgbClr val="21295C"/>
                </a:solidFill>
                <a:latin typeface="Arial"/>
              </a:rPr>
              <a:t>чтобы врач мог</a:t>
            </a:r>
          </a:p>
          <a:p>
            <a:pPr algn="l">
              <a:lnSpc>
                <a:spcPct val="130000"/>
              </a:lnSpc>
            </a:pPr>
            <a:r>
              <a:rPr sz="3600" b="1" i="0">
                <a:solidFill>
                  <a:srgbClr val="F0AB00"/>
                </a:solidFill>
                <a:latin typeface="Arial"/>
              </a:rPr>
              <a:t>по-настоящему</a:t>
            </a:r>
            <a:r>
              <a:rPr sz="3000" b="1" i="0">
                <a:solidFill>
                  <a:srgbClr val="21295C"/>
                </a:solidFill>
                <a:latin typeface="Arial"/>
              </a:rPr>
              <a:t> решать.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11480"/>
            <a:ext cx="11247120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200" b="1" i="0">
                <a:solidFill>
                  <a:srgbClr val="21295C"/>
                </a:solidFill>
                <a:latin typeface="Arial"/>
              </a:rPr>
              <a:t>Что дальше: место медицины в туре + копилка для синтеза.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005840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1">
                <a:solidFill>
                  <a:srgbClr val="065A82"/>
                </a:solidFill>
                <a:latin typeface="Arial"/>
              </a:rPr>
              <a:t>Медицина — четвёртая отраслевая лекция; принципы переносятся, финал синтеза — на Лекции 17.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874519"/>
            <a:ext cx="5486400" cy="3703320"/>
          </a:xfrm>
          <a:prstGeom prst="roundRect">
            <a:avLst>
              <a:gd name="adj" fmla="val 823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ucide-trending-up-blu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2167127"/>
            <a:ext cx="777240" cy="7772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691640" y="2258568"/>
            <a:ext cx="3611880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21295C"/>
                </a:solidFill>
                <a:latin typeface="Arial"/>
              </a:rPr>
              <a:t>Где мы в отраслевом туре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3154679"/>
            <a:ext cx="493776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 i="0">
                <a:solidFill>
                  <a:srgbClr val="21295C"/>
                </a:solidFill>
                <a:latin typeface="Arial"/>
              </a:rPr>
              <a:t>Медицина — </a:t>
            </a:r>
            <a:r>
              <a:rPr sz="1400" b="1" i="0">
                <a:solidFill>
                  <a:srgbClr val="F0AB00"/>
                </a:solidFill>
                <a:latin typeface="Arial"/>
              </a:rPr>
              <a:t>четвёртая отраслевая лекция</a:t>
            </a:r>
            <a:r>
              <a:rPr sz="1400" b="0" i="0">
                <a:solidFill>
                  <a:srgbClr val="21295C"/>
                </a:solidFill>
                <a:latin typeface="Arial"/>
              </a:rPr>
              <a:t>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3657600"/>
            <a:ext cx="49377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1">
                <a:solidFill>
                  <a:srgbClr val="1C7293"/>
                </a:solidFill>
                <a:latin typeface="Arial"/>
              </a:rPr>
              <a:t>ПО → финансы → инженерное проектирование → медицина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4160520"/>
            <a:ext cx="4937760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 i="0">
                <a:solidFill>
                  <a:srgbClr val="21295C"/>
                </a:solidFill>
                <a:latin typeface="Arial"/>
              </a:rPr>
              <a:t>Дальше тур продолжается — другие индустрии, где ставки другие: не пациент, а оборудование, урожай, инфраструктура.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5184648"/>
            <a:ext cx="49377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1">
                <a:solidFill>
                  <a:srgbClr val="065A82"/>
                </a:solidFill>
                <a:latin typeface="Arial"/>
              </a:rPr>
              <a:t>Принципы переносятся: валидация · transparency · monitoring.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63640" y="1874519"/>
            <a:ext cx="5486400" cy="3703320"/>
          </a:xfrm>
          <a:prstGeom prst="roundRect">
            <a:avLst>
              <a:gd name="adj" fmla="val 823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lucide-list-checks-blu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37959" y="2167127"/>
            <a:ext cx="777240" cy="77724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7452360" y="2258568"/>
            <a:ext cx="4114800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21295C"/>
                </a:solidFill>
                <a:latin typeface="Arial"/>
              </a:rPr>
              <a:t>3 наблюдения → копилка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37959" y="3172968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766559" y="3108960"/>
            <a:ext cx="461772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Transparency + calibration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66559" y="3419856"/>
            <a:ext cx="461772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 i="1">
                <a:solidFill>
                  <a:srgbClr val="1C7293"/>
                </a:solidFill>
                <a:latin typeface="Arial"/>
              </a:rPr>
              <a:t>интерпретируемый выход; confidence калибровано-проверен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537959" y="3886200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766559" y="3822191"/>
            <a:ext cx="461772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Validation set покрывает deployment population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766559" y="4133087"/>
            <a:ext cx="461772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 i="1">
                <a:solidFill>
                  <a:srgbClr val="1C7293"/>
                </a:solidFill>
                <a:latin typeface="Arial"/>
              </a:rPr>
              <a:t>bias тестируется явно; датасет репрезентативен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537959" y="4599432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766559" y="4535424"/>
            <a:ext cx="461772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Audit-trail + post-market monitoring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766559" y="4846320"/>
            <a:ext cx="461772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 i="1">
                <a:solidFill>
                  <a:srgbClr val="1C7293"/>
                </a:solidFill>
                <a:latin typeface="Arial"/>
              </a:rPr>
              <a:t>кто/когда/какая версия восстановимо; качество мониторится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37959" y="5184648"/>
            <a:ext cx="49377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1">
                <a:solidFill>
                  <a:srgbClr val="065A82"/>
                </a:solidFill>
                <a:latin typeface="Arial"/>
              </a:rPr>
              <a:t>Это вход в копилку персонального чек-листа.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02920" y="5852160"/>
            <a:ext cx="11247120" cy="502920"/>
          </a:xfrm>
          <a:prstGeom prst="roundRect">
            <a:avLst>
              <a:gd name="adj" fmla="val 12000"/>
            </a:avLst>
          </a:prstGeom>
          <a:solidFill>
            <a:srgbClr val="FEF5E0"/>
          </a:solidFill>
          <a:ln w="1524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85800" y="5925312"/>
            <a:ext cx="10881360" cy="3566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Финал синтеза — Лекция 17 «Систематизация знаний и навыков»: сборка чек-листа из всех отраслевых кейсов курса.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377440"/>
            <a:ext cx="11247120" cy="23774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0" b="1" i="0">
                <a:solidFill>
                  <a:srgbClr val="21295C"/>
                </a:solidFill>
                <a:latin typeface="Arial"/>
              </a:rPr>
              <a:t>Вопросы?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074920"/>
            <a:ext cx="1124712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2400" b="0" i="1">
                <a:solidFill>
                  <a:srgbClr val="065A82"/>
                </a:solidFill>
                <a:latin typeface="Arial"/>
              </a:rPr>
              <a:t>Спасибо за внимание.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49224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 i="1">
                <a:solidFill>
                  <a:srgbClr val="1C7293"/>
                </a:solidFill>
                <a:latin typeface="Arial"/>
              </a:rPr>
              <a:t>Курс «AI в разных индустриях» · Семинар-04 — разбор кейса · консультации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