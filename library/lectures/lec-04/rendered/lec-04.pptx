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вами один конкретный пример того, что AI делает в медицине сегодня. На сайте `mlmed.org/tools/xray/` открыт публичный инструмент Chester AI, разработанный группой Cohen et al. в Mila Quebec и McGill University. Если перетащить в окно браузера любой рентгеновский снимок грудной клетки, модель примерно за три секунды выдаёт вероятностный профиль по восемнадцати патологиям — пневмония, кардиомегалия, ателектаз, плевральный выпот и так далее — и тепловую карту, показывающую, в какие области изображения «смотрела» модель.</a:t>
            </a:r>
          </a:p>
          <a:p/>
          <a:p>
            <a:r>
              <a:t>Три свойства этой демонстрации задают тон лекции. Во-первых, модель работает локально в браузере: изображение не загружается на сервер, не покидает устройство. Это design choice разработчиков, отражающий тот факт, что медицинские данные — особая категория, требующая privacy-by-design. Во-вторых, это не LLM, а narrow computer vision: конкретная свёрточная архитектура, потомок CheXNet (Rajpurkar et al. 2017), обученная на сотнях тысяч размеченных рентгеновских снимков. ChatGPT не умеет ставить метку патологии на рентгене за три секунды; Chester умеет, но не умеет писать стихи. Каждая система — узкая. И в-третьих, это уровень технологий 2017–2024 годов в рутинно работающей сегодня форме: пять лет назад такая возможность была демонстрационной, сейчас — производственной. AI в медицине, о котором мы будем говорить в этой главе, — это технологически зрелое поле, а не лабораторный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Он короткий по смыслу: курс, номер лекции, тема, длительность, дата. Шаблон визуально совпадает с другими лекциями курса — это часть continuity, к которой студент уже привык. Никакого дополнительного контента здесь нет; задача слайда — обозначить точку входа в лекцию и быстро перейти к опросу. Лектор задерживается на нём ровно столько, сколько нужно, чтобы аудитория сориентировалась, и сразу переходит к слайду 3 с тремя вопросами для разогрева. Если читатель проходит лекцию в self-study режиме — этот слайд можно пропускать сразу после фиксации того, что это четвёртая лекция курса «AI в разных индустриях».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материал, попробуйте оценить три цифры — это короткий разогрев и одновременно подготовка к тому, что мы увидим на следующем слайде. Первый вопрос про FDA: сколько медицинских устройств с AI или ML-функциональностью официально одобрено в США к концу 2025 года? Вариантов четыре — меньше ста, от ста до пятисот, от пятисот до тысячи, больше тысячи. Не подсказывайте друг другу — просто поднимите руку на тот вариант, который кажется правильным. Запомните своё число — мы сравним с реальностью через минуту.</a:t>
            </a:r>
          </a:p>
          <a:p/>
          <a:p>
            <a:r>
              <a:t>Второй вопрос — личный. Получали ли вы за последний год медицинский результат, в котором участвовал AI? Это может быть КТ, рентген, ЭКГ, дерматологический скан, маммография — словом, любой случай, когда вы знаете или подозреваете, что AI-модель смотрела на ваши данные. Поднимите руку, если да. На третий вопрос — про доверие AI-диагнозу больше, чем человеческому, — большинство людей отвечают «нет», и это нормальная интуиция. Это хороший вход в разговор об ответственности, к которой мы вернёмся в пятом разделе лекции. Ваши ответы сейчас — стартовая точка, реальные данные я покажу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Ответы на первый вопрос. К концу 2025 года FDA авторизовало одну тысячу четыреста пятьдесят одно AI и ML-enabled medical device кумулятивно: двести пятьдесят восемь новых одобрений в 2024 году плюс двести девяносто пять новых в 2025. Примерно 76 процентов этих устройств относятся к радиологии — компьютерное зрение для рентгена, КТ, МРТ, маммографии, дерматологии. LLM в FDA-списке на 2026 год — единицы. Это и есть ответ на вопрос «что именно работает»: преимущественно computer vision для медицинских изображений.</a:t>
            </a:r>
          </a:p>
          <a:p/>
          <a:p>
            <a:r>
              <a:t>В России операционный масштаб AI-диагностики тоже значителен. Платформа mosmed.ai, изначально запущенная как Московский эксперимент в ноябре 2019 года, за пять лет работы обработала более четырнадцати миллионов исследований; в мае 2024 года она получила федеральный запуск под названием MosMedAI и теперь покрывает семьдесят четыре региона России. К платформе подключено более двух тысяч медицинских организаций; на ней развёрнуто около семидесяти AI-сервисов на сорока трёх клинических областях, обработано более восемнадцати миллионов изображений, разработаны одиннадцать национальных стандартов.</a:t>
            </a:r>
          </a:p>
          <a:p/>
          <a:p>
            <a:r>
              <a:t>Этот двойной сигнал — массовое внедрение в США и в России одновременно — показывает: AI в медицине перешёл из стадии лабораторного эксперимента в стадию производственной инфраструктуры. Но как мы увидим дальше, «production» не означает «решены все проблемы»; именно потому, что это масштаб, ошибки и злоупотребления тоже становятся массовыми.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с предыдущего слайда — четырнадцать миллионов исследований mosmed.ai, тысяча четыреста пятьдесят один FDA-устройство — это масштаб индустрии. Но за каждым из этих чисел стоит инженерный вопрос: какое именно обещание сбылось, и где остаётся пространство для ошибки. Рынок AI в здравоохранении оценивается в двадцать два–тридцать восемь миллиардов долларов в 2025 году по разным источникам, с прогнозом до ста миллиардов к 2030 году. Параллельно с этим растёт и число инцидент-репортов о AI-bias и медицинских ошибках. Этот двойной сигнал и формирует центральный вопрос лекции.</a:t>
            </a:r>
          </a:p>
          <a:p/>
          <a:p>
            <a:r>
              <a:t>На лекции 1 мы спрашивали: где AI работает, где — нет. Сегодня углубляемся: даже там, где AI работает, остаются вопросы ответственности. Эта лекция построена в четыре блока: сначала карта AI в медицине, потом AI-диагностика как зеркало методических проблем, затем drug discovery как баланс сбывшихся и не сбывшихся обещаний, и в конце — этика, безопасность и ответственность. На лекции 9 «Этика и регулирование» вы соберёте из этих четырёх блоков три принципа ответственного использования AI — они станут входом в черновик чек-листа, который вы доработаете на лекции 14. Сегодняшняя лекция — это материал для синтеза, не сам синтез.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закончили открытие и поставили центральный вопрос. Дальше — первый из шести разделов: карта AI в медицине.</a:t>
            </a:r>
          </a:p>
          <a:p/>
          <a:p>
            <a:r>
              <a:t>В этом разделе мы разберём четыре разные индустрии, которые скрываются за словом «медицинский AI» — это не один набор инструментов, а четыре. Затем посмотрим на масштаб через FDA-список: 1 451 одобренное устройство к концу 2025 года — это уже инфраструктура, не футурология. И в финале раздела ответим на вопрос «зачем инженеру глубоко погружаться в медицинский AI» — три причины: высокие ставки, строгое регулирование, прозрачные операционные метрики.</a:t>
            </a:r>
          </a:p>
          <a:p/>
          <a:p>
            <a:r>
              <a:t>Карта нужна, чтобы дальше — когда мы будем смотреть на конкретные кейсы — не путать AI-диагностику с разработкой лекарств. Это разные задачи, разные данные, разные регуляторные требования.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в медицине — это не одна индустрия и не один стек технологий. Удобно рассмотреть четыре типа применений на двух осях. Первая ось — modality, или модальность данных: изображение и сигнал против текста и молекулы. Image- и signal-задачи — рентген, КТ, МРТ, ЭКГ, дерматологический скан — обрабатываются компьютерным зрением: CNN, Vision Transformer, специализированные foundation-модели вроде MedCLIP и BiomedCLIP. Text- и molecule-задачи — клинические записи, генерация молекул, прогнозирование структуры белка — обрабатываются другими архитектурами: трансформерами для текста, генеративной химией типа Insilico Chemistry42, AlphaProteo для молекул, AlphaFold для структур белков.</a:t>
            </a:r>
          </a:p>
          <a:p/>
          <a:p>
            <a:r>
              <a:t>Вторая ось — scope: один пациент против популяции или фармы. Single-patient задачи — это диагноз или назначение конкретному человеку. Population-задачи — это анализ когорт и индустриальные процессы: программы скрининга, drug discovery, эпидемиологический мониторинг.</a:t>
            </a:r>
          </a:p>
          <a:p/>
          <a:p>
            <a:r>
              <a:t>Пересечение двух осей даёт четыре ячейки. AI-диагностика — самая массовая (76 процентов FDA-списка) — это mosmed.ai, IDx-DR, Aidoc, Care Mentor AI. Population imaging analytics — мониторинг скрининговых программ. Персонализированная медицина — genomic AI и clinical decision support. Drug discovery — AlphaFold, Insilico, Generate Biomedicines. Эта классификация — не визуальный декор: modality определяет ML-stack, а scope определяет regulatory pathway (single patient = medical device по логике FDA SaMD; population analytics — другой регуляторный путь). Сегодня мы углубляемся в левую колонку (диагностика) и нижнюю-правую (drug discovery).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Десятилетняя динамика FDA-одобрений AI и ML-медицинских устройств — это самая прозрачная картина зрелости поля, доступная инженеру в открытых данных. В 2015 году в списке FDA было примерно шесть AI/ML-устройств за год. Между 1995 и 2015 годами кумулятивно — около тридцати трёх устройств, то есть около трёх процентов от текущего объёма. К 2020 году годовой приток вырос до шестидесяти четырёх устройств. Перелом приходится на 2022–2024 годы: в 2023 одобрено около двухсот двадцати одного нового устройства, в 2024 — двести пятьдесят восемь, в 2025 — двести девяносто пять. Кумулятивно к концу 2025 года в списке тысяча четыреста пятьдесят одно AI/ML-устройство.</a:t>
            </a:r>
          </a:p>
          <a:p/>
          <a:p>
            <a:r>
              <a:t>Два контекстных факта. Первое: около семидесяти шести процентов этих устройств относятся к радиологии — это computer vision для рентгена, КТ, МРТ, маммографии, ультразвука. Следующие по объёму специальности — кардиология и неврология; LLM-based устройства составляют единицы и пока редкость в FDA-списке. Второе: список FDA — публичный и обновляется примерно поквартально. Любой инженер может проверить статус конкретного устройства по идентификатору 510(k) или De Novo.</a:t>
            </a:r>
          </a:p>
          <a:p/>
          <a:p>
            <a:r>
              <a:t>«Тысяча четыреста пятьдесят один» — это не «AI в каждой клинике» и не «AI заменил рентгенологов». Это означает, что AI-диагностика перешла из стадии лабораторного эксперимента в стадию производственной инфраструктуры — и именно поэтому методические и регуляторные практики, о которых пойдёт речь в следующих разделах, становятся профессионально обязательными.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Возникает разумный вопрос: я не врач, зачем мне глубоко погружаться именно в медицинский AI? Ответ — три причины, каждая из которых формирует профессиональный навык, переносимый дальше.</a:t>
            </a:r>
          </a:p>
          <a:p/>
          <a:p>
            <a:r>
              <a:t>Первая причина — высокие ставки. Ошибка модели в кредитном скоринге — это финансовый ущерб; ошибка в маркетинговой рекомендации — упущенная конверсия. Ошибка медицинской AI-модели — пропущенный диагноз, лишняя биопсия, неправильное назначение. Это качественно другая стоимость ошибки, и она заставляет инженера думать о вещах, которые в менее регулируемых индустриях можно было откладывать: калибровка confidence-score, audit-trail, post-market monitoring, fallback-сценарии, интерпретируемость для конечного пользователя.</a:t>
            </a:r>
          </a:p>
          <a:p/>
          <a:p>
            <a:r>
              <a:t>Вторая причина — строгое регулирование. Медицинский AI — это первое поле, в котором инженер встречает реальную нормативку: FDA SaMD framework, EU AI Act с medical AI в категории high-risk, Росздравнадзор. Эти регуляторы требуют конкретных процессов разработки и валидации, и за нарушения предусмотрены санкции. Если инженер научится проектировать AI под эти требования, он автоматически освоит навыки, которые пригодятся в финансах (PCI DSS, ФЗ-152), в автомобильной (ISO 26262), в авиации (DO-178C).</a:t>
            </a:r>
          </a:p>
          <a:p/>
          <a:p>
            <a:r>
              <a:t>Третья причина — прозрачная operational scale. В отличие от индустриальных проектов, где «увеличение продуктивности на X%» оценивается косвенно, медицинская диагностика даёт прямые измеримые метрики: количество исследований, чувствительность скрининга, время до диагноза, доля ложноположительных. mosmed.ai за пять лет обработал четырнадцать миллионов исследований — это не маркетинговая оценка, это число actual scan'ов с подтверждаемой статистикой. И ещё одна деталь, делающая timeline actionable: 2 августа 2026 года вступает в силу первый этап обязательств EU AI Act по high-risk AI — через два с половиной месяца после нашей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Переходим к самому большому разделу лекции — четырнадцать минут на AI-диагностику. Этот раздел — зеркало, в котором отражается весь медицинский AI: что работает, что не работает, и почему обычной accuracy недостаточно.</a:t>
            </a:r>
          </a:p>
          <a:p/>
          <a:p>
            <a:r>
              <a:t>Сначала мы разберём пайплайн компьютерного зрения — изображение через CNN или ViT превращается в метку с оценкой уверенности. Это не LLM, это другая ветка AI. Затем — четыре метрики, без которых медицинская модель опасна: чувствительность, специфичность, распространённость и PPV. Покажу на примере CheXNet, как одна и та же модель даёт PPV восемь процентов при скрининге и семьдесят восемь процентов в госпитале.</a:t>
            </a:r>
          </a:p>
          <a:p/>
          <a:p>
            <a:r>
              <a:t>Потом — три ключевых исследования: Liu 2019 мета-анализ визуализации, MASAI 2024-2025 РКИ маммографии с n больше ста тысяч, и Goh 2024 — парадокс augmentation на клинических рассуждениях. И в финале — российский operational case mosmed.ai с конкретными цифрами, а также два примера bias: дерматология и пульсоксиметр.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— это в первую очередь computer vision-классификация: на вход подаётся медицинское изображение, на выход — вероятностное распределение по классам патологий и тепловая карта или bounding box, показывающие, где модель «увидела» признак. Этот pipeline укладывается в четыре стадии.</a:t>
            </a:r>
          </a:p>
          <a:p/>
          <a:p>
            <a:r>
              <a:t>Первая стадия — input. Сырое медицинское изображение: DICOM-файл с КТ-аппарата, JPEG-фото дермато-скана, PNG-маммограмма. Изображение проходит препроцессинг — ресайз, нормализация интенсивности, иногда деперсонализация (удаление PHI-меток с пиксельного уровня).</a:t>
            </a:r>
          </a:p>
          <a:p/>
          <a:p>
            <a:r>
              <a:t>Вторая стадия — модель. Исторически CNN: ResNet, EfficientNet. С 2024 года всё чаще Vision Transformer и специализированные foundation models — MedCLIP, BiomedCLIP, RoentGen. Обычная схема — pre-trained на ImageNet, затем fine-tuned на медицинском датасете.</a:t>
            </a:r>
          </a:p>
          <a:p/>
          <a:p>
            <a:r>
              <a:t>Третья стадия — output. Probability score от нуля до единицы для каждого класса патологий и тепловая карта, чаще всего сгенерированная техникой Grad-CAM (Selvaraju et al. 2017), показывающая, какие пиксели вносили наибольший вклад в предсказание. Это попытка дать врачу explainability — неполную, но лучше, чем чёрный ящик.</a:t>
            </a:r>
          </a:p>
          <a:p/>
          <a:p>
            <a:r>
              <a:t>Четвёртая стадия — workflow. Врач видит изображение, heatmap и probability score и принимает диагностическое решение. AI здесь — decision support, не decision maker.</a:t>
            </a:r>
          </a:p>
          <a:p/>
          <a:p>
            <a:r>
              <a:t>Историческая референсная модель — CheXNet (Rajpurkar et al. 2017), 121-слойная DenseNet, обученная классифицировать четырнадцать патологий грудной клетки. CheXNet был одним из первых широко известных результатов «AI выходит на уровень специалиста». Современные модели — Vision Transformers и multimodal foundation models — превосходят CheXNet по точности и универсальности, но методологическая основа осталась той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медицинского AI обычная accuracy — недостаточная метрика. Нужно различать четыре связанных понятия, и понимание разницы — minimal due diligence для оценки любой медицинской CV-модели.</a:t>
            </a:r>
          </a:p>
          <a:p/>
          <a:p>
            <a:r>
              <a:t>Sensitivity, или чувствительность, — это доля больных людей, которых AI правильно поймал: TP делённое на TP плюс FN. Чувствительность критична для скрининга, где пропустить больного — катастрофа: рак на ранней стадии, инсульт, инфаркт. Specificity, или специфичность, — это доля здоровых, которых AI правильно не напугал: TN на TN плюс FP. Специфичность критична для confirmation-задач, где ложноположительный диагноз сам по себе наносит вред: биопсия, химиотерапия, паника пациента.</a:t>
            </a:r>
          </a:p>
          <a:p/>
          <a:p>
            <a:r>
              <a:t>Prevalence — распространённость болезни в популяции. Это не свойство модели, а свойство популяции, на которой модель применяется. PPV, или positive predictive value, — это вероятность реальной болезни при положительном AI-ответе: TP на TP плюс FP. Через формулу Байеса PPV выражается через sens, spec и prev напрямую.</a:t>
            </a:r>
          </a:p>
          <a:p/>
          <a:p>
            <a:r>
              <a:t>Главный нюанс. Sensitivity и specificity не зависят от prevalence — это свойства модели. PPV — зависит. Возьмём пример. CheXNet (Rajpurkar 2017) на pneumonia detection даёт примерно sens 0.94–0.96 и spec 0.89–0.93. В больничной выборке с prevalence 30 процентов PPV получается около семидесяти восьми процентов — клинически приемлемо. Если ту же модель применить как screening в общей популяции с prevalence один процент — PPV падает до примерно восьми процентов. Та же модель, та же accuracy — но восемь из ста положительных результатов действительно больны, остальные девяносто два — false positives. «94% accuracy» в маркетинге и «8% PPV в screening» — два очень разных восприятия одной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частых вопросов в популярной прессе — «AI уже превзошёл врачей?» Корректный ответ — «зависит от задачи, и нюансов больше, чем популярная пресса передаёт». Три эталонных исследования дают согласованную картину с разными ответами для разных задач.</a:t>
            </a:r>
          </a:p>
          <a:p/>
          <a:p>
            <a:r>
              <a:t>Liu и соавторы (2019, Lancet Digital Health) — первый крупный мета-анализ AI-диагностических исследований, четырнадцать проспективных работ. Pooled sensitivity AI — восемьдесят семь процентов, у клиницистов — восемьдесят пять. Разница есть, но скромная; исторический контекст «AI на уровне врача» для некоторых задач уже к 2019 году.</a:t>
            </a:r>
          </a:p>
          <a:p/>
          <a:p>
            <a:r>
              <a:t>MASAI Sweden RCT 2024–2025 — самое сильное peer-reviewed свидетельство клинической пользы AI-маммографии на сегодня. Дизайн — рандомизированное контролируемое исследование, более ста тысяч шведских женщин случайно распределялись на стандартное «двойное чтение» (два радиолога) или на AI-поддерживаемое чтение (один радиолог + AI). Чувствительность AI-поддерживаемого скрининга — восемьдесят целых пять десятых процента против семидесяти трёх и восьми у стандартного при одинаковой специфичности. Cancer detection rate — шесть и четыре против пяти на тысячу. Снижение нагрузки радиолога на сорок четыре процента. В follow-up 2025 года — снижение interval cancer rate на двенадцать процентов: дополнительные раки, найденные AI, — клинически значимые, не overdiagnosis.</a:t>
            </a:r>
          </a:p>
          <a:p/>
          <a:p>
            <a:r>
              <a:t>Goh и соавторы (JAMA Network Open, октябрь 2024) — про диагностическое мышление, не imaging. Пятьдесят врачей с GPT-4 или без. Медиана score — семьдесят шесть процентов с GPT-4 против семидесяти четырёх без; разница незначима. Сюрприз: GPT-4 alone давал более высокий score, чем доктор-плюс-GPT-4. Этот феномен называется augmentation gap: пользователи недозагружают возможности AI, держат его на роли «второго мнения», которое можно проигнорировать. Вывод для инженера: вопрос «AI или врач» — неправильный; правильные — «какая задача?», «какой workflow?», «как AI и врач интегрированы?».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Концентрированный пример того, как AI-диагностическое обещание сбылось в operational форме, — московская платформа mosmed.ai. Эксперимент по применению искусственного интеллекта в лучевой диагностике начат в Москве в ноябре 2019 года как городской проект Департамента здравоохранения Москвы и НПКЦ диагностики и телемедицины. В мае 2024 года проект запущен на федеральном уровне как MosMedAI.</a:t>
            </a:r>
          </a:p>
          <a:p/>
          <a:p>
            <a:r>
              <a:t>К концу 2025 — началу 2026 годов операционные метрики платформы складываются в production-картину. За пять лет работы AI проанализировал более четырнадцати миллионов исследований. К платформе подключено более двух тысяч медицинских организаций в семидесяти четырёх регионах России. Обработано более восемнадцати миллионов медицинских изображений, развёрнуто около семидесяти AI-сервисов на сорока трёх клинических областях — от рентгенографии грудной клетки и КТ лёгких (включая COVID-релевантные сервисы 2020–2022 годов) до маммографии, остеоденситометрии и КТ головного мозга. На основе опыта проекта разработано одиннадцать национальных стандартов и около трёхсот эталонных датасетов для бенчмаркинга AI-моделей.</a:t>
            </a:r>
          </a:p>
          <a:p/>
          <a:p>
            <a:r>
              <a:t>Архитектурно mosmed.ai — federated AI-platform: разные vendor-модели от Сбер AI Lab, Care Mentor AI, Третьего Мнения, Webiomed и других проходят через единый деплоймент, единую систему бенчмаркинга и единый интерфейс врача. Это и есть operational AI-инфраструктура: не один монопольный поставщик, а маркетплейс верифицированных моделей. Здесь — обещание AI-диагностики сбылось в operational форме (массовый деплоймент, измеримые метрики, прозрачная статистика). На следующих слайдах мы увидим: обещание drug discovery (Insilico Rentosertib) — частично сбылось в peer-reviewed форме; обещание полностью автономного AI-врача — нет, и это правильно.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хорошо работает в распределении, на котором обучена. За пределами этого распределения она может проваливаться несимметрично — и эти провалы не bug, а consequence design choices в подборе тренировочных данных. Два классических кейса.</a:t>
            </a:r>
          </a:p>
          <a:p/>
          <a:p>
            <a:r>
              <a:t>Первый — дерматология и тон кожи. Большинство публично доступных дерматологических AI-датасетов, включая ISIC challenge archive — основной открытый ресурс, — исторически перепредставляли пациентов со светлой кожей из США, Европы и Австралии. Daneshjou и соавторы в 2022 году (Science Advances) протестировали несколько ранее опубликованных дерматологических алгоритмов на разнообразной по тонам кожи выборке и обнаружили: на изображениях кожи с тёмными тонами Фитцпатрика V и VI чувствительность падала на двадцать–тридцать процентов по сравнению со светлыми тонами I–III. Важный нюанс: дерматологи-люди тоже работали хуже на тёмной коже, но fine-tuning на разнообразном датасете DDI закрыл этот разрыв для AI, и fine-tuned модели в итоге превзошли дерматологов в обнаружении злокачественных образований на тёмной коже. Source bias — не моральная категория, а технический следствие выбора датасета; и он решаем.</a:t>
            </a:r>
          </a:p>
          <a:p/>
          <a:p>
            <a:r>
              <a:t>Второй — пульсоксиметры. Это случай, в котором bias проникает в AI через входной сенсор, а не через тренировочный датасет AI как такового. Пульсоксиметры систематически переоценивают SpO2 у пациентов с тёмной кожей — гипоксия пропускается чаще (Sjoding et al. 2020). FDA выпустило safety communication по этой проблеме в 2021 году. AI-системы, использующие SpO2 как input feature, наследуют этот сенсорный bias.</a:t>
            </a:r>
          </a:p>
          <a:p/>
          <a:p>
            <a:r>
              <a:t>Инженерное следствие для обоих кейсов одинаковое: validation set должен покрывать deployment population. Это не academic point — это профессиональная ответственность.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подтвердили: AI-диагностика — обещание сбылось. Дальше — четырнадцать минут на самую медийно громкую область медицинского AI: разработку лекарств.</a:t>
            </a:r>
          </a:p>
          <a:p/>
          <a:p>
            <a:r>
              <a:t>В этом разделе три ключевых истории. Первая — AlphaFold: задача пятидесятилетней давности решена, двести миллионов структур белков предсказаны, Нобелевская премия по химии 2024 года. Это безусловный прорыв. Вторая — Rentosertib от Insilico Medicine: первый AI-препарат, дошедший до peer-reviewed Phase IIa в Nature Medicine, июнь 2025. Третья — DSP-1181: тот самый «первый AI-препарат в клинических испытаниях» из заголовков 2020 года, Phase 1 которого тихо закрыли в 2022.</a:t>
            </a:r>
          </a:p>
          <a:p/>
          <a:p>
            <a:r>
              <a:t>В финале — три юрисдикции регулирования: FDA с финализированным PCCP, EU AI Act с дедлайном 2 августа 2026, и российская система с пятьюдесятью семью зарегистрированными AI-медизделиями.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хороший момент — остановиться и вернуться к центральному вопросу. На первом слайде мы видели Chester AI, который ставит метку патологии на рентгене за три секунды. На седьмом слайде — что таких систем у FDA одобрено уже почти полторы тысячи. На двенадцатом — что mosmed.ai обработал четырнадцать миллионов исследований за пять лет в семидесяти четырёх регионах России. По первой части обещания AI в медицине ответ предварительный есть: AI-диагностика сбылась в operational форме, и качество подтверждено peer-reviewed RCT уровня MASAI Sweden.</a:t>
            </a:r>
          </a:p>
          <a:p/>
          <a:p>
            <a:r>
              <a:t>Дальше — drug discovery. Маркетинговое обещание 2020–2022 годов было простым и громким: «AI ускорит разработку лекарств в десять раз». Что из этого реально к 2026 году, на момент нашей лекции? Ответ распадается на две части. Первая — что именно AI ускоряет в pipeline; вторая — два конкретных кейса с противоположными исходами, Insilico Rentosertib и DSP-1181, оба важных по разным причинам. К концу третьего раздела мы должны видеть, какие из обещаний имели под собой verifiable evidence, а какие были маркетинговой риффрафикой. Это и есть подготовка к финальной части — об ответственности и регулировании.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обсуждать конкретные истории успехов и неудач AI в drug discovery, нужно понимать pipeline индустрии. Традиционная разработка нового лекарства — это путь длиной десять-пятнадцать лет и стоимостью один–два миллиарда долларов на каждый одобренный препарат. Большинство кандидатов отсеивается по пути: примерный шанс перейти от Phase 1 до одобренного препарата составляет около шести и семи десятых процента.</a:t>
            </a:r>
          </a:p>
          <a:p/>
          <a:p>
            <a:r>
              <a:t>Pipeline разделяется на пять условных стадий. Первая — target identification. Какой биологический белок-мишень атаковать для лечения болезни? Здесь AI применяется для прогнозирования структуры белка (AlphaFold) и для дизайна белков-связывающих молекул (AlphaProteo). Вторая — hit discovery. Поиск молекулы-кандидата с initial activity signal. «Hit» — это молекула с начальным сигналом активности против цели. Здесь работают generative chemistry-модели: Insilico Chemistry42, Exscientia, Generate Biomedicines. Третья — lead optimization. «Lead» — это hit, доведённый до preclinical-readiness: улучшенная аффинность, селективность, стабильность. Между hit и lead — годы лабораторной работы; здесь AI ассистирует через симуляцию плюс ML. Четвёртая — preclinical: эксперименты на клетках и животных, ADMET-моделирование. Пятая — clinical Phase I, II, III: эксперименты на людях. Phase 1 — safety на малой когорте; Phase 2 — efficacy и dose-finding на средней; Phase 3 — confirmatory на большой.</a:t>
            </a:r>
          </a:p>
          <a:p/>
          <a:p>
            <a:r>
              <a:t>И главный вывод: AI ускоряет стадии один–три значительно — с четырёх-пяти лет до двенадцати-восемнадцати месяцев в лучших случаях. Стадии четыре–пять остаются доменом биологии, а не алгоритма. Привычная фраза «AI ускорит drug в десять раз» смешивает две разные claim: AI ускоряет design — verified; AI ускоряет approval — не verified, потому что восемьдесят процентов drug timeline — это clinical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Самое заметное достижение AI в drug discovery за последние два года — линейка foundation models DeepMind для биологии. Эта линейка получила половину Нобелевской премии по химии 2024 года: Demis Hassabis и John Jumper за AlphaFold разделили её с David Baker за computational protein design в Розетте.</a:t>
            </a:r>
          </a:p>
          <a:p/>
          <a:p>
            <a:r>
              <a:t>AlphaFold 2 (2021) решила пятидесятилетнюю задачу — предсказание трёхмерной структуры белка по аминокислотной последовательности. К 2024 году в открытой AlphaFold Protein Structure Database — более двухсот миллионов структур белков. База открыта и бесплатна, доступна по адресу alphafold.ebi.ac.uk. DeepMind также заявляет о более чем двух миллионах исследователей-пользователей; эта последняя цифра — self-reported industry metric, не peer-reviewed, поэтому мы её приводим с явной атрибуцией.</a:t>
            </a:r>
          </a:p>
          <a:p/>
          <a:p>
            <a:r>
              <a:t>AlphaFold 3 (Nature, 8 мая 2024) — diffusion-based архитектура, расширяющая возможности от чисто белков к биомолекулярным комплексам: protein–DNA, protein–RNA, protein–ligand, ion. Улучшение точности примерно на пятьдесят процентов на бенчмарке PoseBusters для protein-ligand interactions — это первый случай, когда AI-система превзошла classical physics-based методы докинга, основной инструмент computational drug discovery последних тридцати лет.</a:t>
            </a:r>
          </a:p>
          <a:p/>
          <a:p>
            <a:r>
              <a:t>AlphaProteo (DeepMind, 5 сентября 2024) — семейство ML-моделей для de novo дизайна белковых binders. По данным DeepMind: восемьдесят восемь процентов success rate для целевого белка BHRF1; улучшение аффинности в три–триста раз против лучших ранее доступных методов на семи белковых мишенях; первый AI-сгенерированный binder для VEGF-A. Caveat — независимая репликация в других лабораториях публично пока не зафиксирована, поэтому это DeepMind's own claim, а не консенсусный peer-reviewed результат. Важная инженерная деталь: AlphaFold предсказывает структуру; drug discovery требует ещё lead optimization, ADMET, валидации. Это accelerator одной стадии, не replacement всего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Insilico Medicine Rentosertib (внутренний код ISM001-055 / INS018_055) — на момент мая 2026 года первый AI-designed препарат с peer-reviewed positive Phase IIa readout, опубликованный в Nature Medicine в июне 2025 года. Дизайн исследования: Phase IIa рандомизированное двойное-слепое плацебо-контролируемое испытание (NCT05938920), семьдесят один пациент с идиопатическим лёгочным фиброзом — IPF, серьёзное хроническое заболевание лёгких с прогрессирующим рубцеванием — в двадцати одном клиническом центре в Китае. Препарат — TNIK inhibitor; TNIK — киназа, играющая роль в фиброгенезе.</a:t>
            </a:r>
          </a:p>
          <a:p/>
          <a:p>
            <a:r>
              <a:t>В группе дозы шестьдесят миллиграммов один раз в день в течение двенадцати недель средняя динамика форсированной жизненной ёмкости лёгких составила плюс девяносто восемь и четыре десятых миллилитра против минус двадцать целых трёх десятых в плацебо-группе. Клинически значимая разница около ста восемнадцати миллилитров: для пациентов с IPF позитивная динамика FVC — primary endpoint большинства фазных исследований этой нозологии. Наиболее частые побочные эффекты — диарея и отклонения функции печени, по четырнадцать и восемь десятых процента соответственно в группе шестидесяти миллиграммов.</a:t>
            </a:r>
          </a:p>
          <a:p/>
          <a:p>
            <a:r>
              <a:t>Что это значит для нарратива «AI ускоряет drug discovery». Insilico заявляет, что путь от target identification (TNIK как мишень) до preclinical candidate занял примерно восемнадцать месяцев против традиционных четырёх-пяти лет. Эта оценка хронологии — self-reported (опирается на корпоративный timeline Insilico, не verifiable независимо). Verifiable — сам факт публикации в Nature Medicine с положительным первичным эндпойнтом. Это качественный сдвиг по сравнению с пресс-релизами и первая peer-reviewed clinical proof-of-concept для AI-driven drug discovery.</a:t>
            </a:r>
          </a:p>
          <a:p/>
          <a:p>
            <a:r>
              <a:t>Инженерный урок: AI ускорил design — это verifiable. Clinical efficacy — отдельная задача, отдельная биология. Phase 3 для Rentosertib ещё впереди, и девяносто процентов clinical attrition rate в индустрии — статистика, которую AI не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success-историей Rentosertib важно рассмотреть и обратный сценарий — препарат, на который десять лет назад указывали как «доказательство AI-революции в drug discovery» и который не дошёл до пациентов. Это DSP-1181.</a:t>
            </a:r>
          </a:p>
          <a:p/>
          <a:p>
            <a:r>
              <a:t>В январе 2020 года японская Sumitomo Dainippon Pharma и британская AI-биотех Exscientia объявили о запуске Phase 1 испытаний нового препарата для обсессивно-компульсивного расстройства. Заявлено: путь от target identification до Phase 1 entry занял около двенадцати месяцев против традиционных четырёх–пяти лет для аналогичных задач. Препарат был назван «первым AI-designed drug в clinical trials» и стал главным маркетинговым примером для индустрии в 2020–2022 годах.</a:t>
            </a:r>
          </a:p>
          <a:p/>
          <a:p>
            <a:r>
              <a:t>Что произошло дальше. В 2022 году Phase 1 в Японии была остановлена. Причина discontinuation публично не раскрыта — источники указывают на возможную комбинацию efficacy, safety или business decision, но без специфики. На май 2026 года глобальный R&amp;D-статус DSP-1181 в Synapse Drug Profile зафиксирован как Discontinued.</a:t>
            </a:r>
          </a:p>
          <a:p/>
          <a:p>
            <a:r>
              <a:t>Инженерный урок из этого кейса. AI ускорил design phase — это verifiable, эта часть работает. Но clinical efficacy — отдельная задача, отдельная биология. Маркетинговое обещание «AI drug = быстро + эффективно» — это две объединённые в рекламе claim'ы, которые в реальности независимы. AI не сделал DSP-1181 эффективным; AI ускорил поиск кандидата, а кандидат не показал ожидаемого клинического результата.</a:t>
            </a:r>
          </a:p>
          <a:p/>
          <a:p>
            <a:r>
              <a:t>Это полезный антипод Rentosertib. Insilico показал, что AI-design'ed препарат может добраться до peer-reviewed Phase IIa с положительным эндпойнтом. DSP-1181 показал, что AI-design'ed препарат может не добраться до пациента. Оба случая совместимы с реальностью: около девяноста процентов clinical attrition rate в индустрии — статистика, на которую AI не влияет. Если вы будете строить AI для drug discovery — две claim'ы должны быть отделены: «ускоряем design» — техническая мера; «повышаем approval probability» — клинико-биологическая.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трёх крупных юрисдикциях медицинский AI классифицирован как high-risk категория. Подходы отличаются процессами, а не принципами.</a:t>
            </a:r>
          </a:p>
          <a:p/>
          <a:p>
            <a:r>
              <a:t>В США регулятор — FDA. Базовая категория — SaMD (Software as Medical Device), и поверх неё — AI/ML-specific framework. Ключевое нововведение: Predetermined Change Control Plan, или PCCP, финальная гайданс выпущена 4 декабря 2024 года. Проблема, которую он решает: классическое medical device одобрение — это one-and-done, после одобрения изменения требуют новой submission. AI-модели эволюционируют непрерывно. До PCCP каждое обновление AI-модели требовало new FDA submission, занимающую двенадцать–восемнадцать месяцев. С PCCP vendor заранее декларирует, какие изменения допустимы, и FDA pre-authorizes эти изменения — vendor может обновлять модель в production без full re-submission. Это первый продакшн-grade CI/CD-framework для medical AI.</a:t>
            </a:r>
          </a:p>
          <a:p/>
          <a:p>
            <a:r>
              <a:t>В Европе — EU AI Act (Регламент 2024/1689). Medical AI попадает в категорию high-risk по Article 6 + Annex III. Важные даты: 2 августа 2026 года вступают в силу обязательства для Annex III high-risk не-MDR систем — это через два с половиной месяца после нашей лекции. 2 августа 2027 года — для MDR-regulated medical AI, то есть для большинства клинических устройств. Vendors всех категорий готовятся одновременно.</a:t>
            </a:r>
          </a:p>
          <a:p/>
          <a:p>
            <a:r>
              <a:t>В России регулятор — Росздравнадзор и ВНИИИМТ. К середине 2026 года зарегистрировано пятьдесят семь AI-медизделий: пятьдесят два российских и пять иностранных. Expedited procedure для AI-медизделий действует с 1 марта 2025 года (ПП РФ № 1684); первый зарегистрированный AI software — Webiomed, 3 апреля 2020 года. Российская специфика — обязательная передача данных в АИС Росздравнадзора и data localization по ФЗ-23, действующая с 1 июля 2025 года. Инженерный вывод: если проектируете AI для medical device, проектируйте сразу с PCCP в уме — data drift, retraining triggers, threshold updates должны быть планированы ex 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посмотрели, что AI в медицине умеет. Теперь — про границы. Этот раздел не критика ради критики, это инженерная гигиена.</a:t>
            </a:r>
          </a:p>
          <a:p/>
          <a:p>
            <a:r>
              <a:t>Начнём с разговора о том, как LLM меняет workflow студента-медика и врача — паттерн «объясни как для студента N курса» и его границы. Это переход к LLM в медицине: AI как объяснитель работает, но требует проверки.</a:t>
            </a:r>
          </a:p>
          <a:p/>
          <a:p>
            <a:r>
              <a:t>Потом — глубокий разбор bias на примере Obermeyer 2019: статья в Science о том, как коммерческий AI для двухсот миллионов американцев систематически недооценивал тяжесть болезни у чернокожих пациентов. Это не теория, это реальные пациенты и реальный выбор прокси-переменной.</a:t>
            </a:r>
          </a:p>
          <a:p/>
          <a:p>
            <a:r>
              <a:t>Потом — три задокументированных LLM-антипаттерна: NEDA Tessa, состязательные галлюцинации в Communications Medicine 2025, и сорок миллионов американцев, использующих ChatGPT для самодиагностики.</a:t>
            </a:r>
          </a:p>
          <a:p/>
          <a:p>
            <a:r>
              <a:t>Затем Change Healthcare: атака февраля 2024 года, сто девяносто миллионов пострадавших, два с половиной миллиарда стоимости восстановления. И в финале — рамка четырёх актёров: кто отвечает за AI-ошибку. Это ответ на центральный вопрос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стабильно работающих паттернов общения с большими языковыми моделями — это формула «объясни как для студента N курса». Когда вы говорите AI «объясни мне sensitivity и specificity для AI-диагностики на конкретном примере, например маммографический скрининг, как для студента второго курса технического вуза», — модель выдаёт связное объяснение с правильным уровнем детализации. Это не магия — это паттерн, который работает, потому что в обучающих данных LLM много текстов с явной маркировкой целевой аудитории.</a:t>
            </a:r>
          </a:p>
          <a:p/>
          <a:p>
            <a:r>
              <a:t>В медицине этот паттерн меняет реальные сценарии. Интерн читает редкое заболевание ночью на дежурстве — раньше нужно было звонить старшему, теперь можно за минуту получить связное first-pass объяснение от LLM. Ординатор разбирает новую методику исследования — то же. Врач сталкивается с новым классом препаратов и хочет быстро понять механизм действия — то же. Время между вопросом «что это вообще такое» и первым приближением к ответу падает с часов до секунд. Это меняет workflow.</a:t>
            </a:r>
          </a:p>
          <a:p/>
          <a:p>
            <a:r>
              <a:t>При этом качество — нестабильно. AI отлично пересказывает учебник: definitions, базовые механизмы, типовые примеры. AI плохо передаёт неявное знание клинициста: когда правило не работает, какие комбинации признаков подозрительны для опытного врача, какие подводные камни в конкретной российской практике 2026 года. То есть формальная часть знания — пересказывается, профессиональная интуиция — нет.</a:t>
            </a:r>
          </a:p>
          <a:p/>
          <a:p>
            <a:r>
              <a:t>И самое важное — caveat. AI даёт цифры без источника. AI пересказывает учебник пятилетней давности как «текущую практику», не предупреждая, что guidelines обновились. AI уверенно произносит неправильное название препарата, потому что в обучающих данных была опечатка. Поэтому правило для медицины и для любого high-stakes контекста: AI — первое приближение, не источник истины. Финальная верификация — учебник, клинические guidelines, старший коллега. Этот навык — отличать «AI отлично объяснил» от «AI дал цифру, которую нужно проверить» — мы будем тренировать весь курс, и именно он отделяет грамотного пользователя LLM от наивного.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медицинском AI ставки максимальны: ошибка модели — это ошибка диагноза или назначения, и она оборачивается реальным вредом пациенту. В отличие от других индустрий, где ошибку можно частично исправить или компенсировать, в медицине последствия часто необратимы: пропущенный рак, лишняя биопсия, осложнения от ненужной терапии.</a:t>
            </a:r>
          </a:p>
          <a:p/>
          <a:p>
            <a:r>
              <a:t>В оставшейся части лекции мы разберём четыре темы, которые формируют профессиональный минимум для инженера, работающего в medical AI. Первая — bias в medical AI на примере Obermeyer 2019. Это золотой стандарт case study; одна из самых цитируемых работ в области, и она показывает, как выбор прокси-переменной в metric-driven модели становится выбором политики. Вторая — LLM анти-паттерны: NEDA Tessa, adversarial hallucination, массовое self-diagnosis. Здесь главное различие — LLM в медицинском контексте не то же самое, что medical AI; они требуют разных design countermeasures. Третья — безопасность медицинских данных: Change Healthcare breach и российское регулирование (ФЗ-152, ФЗ-23). И четвёртая — архитектура ответственности: кто отвечает, когда AI ошибается.</a:t>
            </a:r>
          </a:p>
          <a:p/>
          <a:p>
            <a:r>
              <a:t>Тон последнего раздела — серьёзный, без алармизма. Цель — научить инженера думать о границах сразу, на стадии design, а не post-hoc после первого инцидента. На лекции 9 «Этика и регулирование» вы превратите три принципа отсюда в черновик чек-листа; на лекции 14 «Будущее AI» — финализируете personal версию. Сегодня мы накапливаем материал для синтеза.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Obermeyer, Powers, Vogeli и Mullainathan, Science, страницы 447–453, 2019 года. Это золотой стандарт case study по bias в medical AI; цитируется более трёх тысяч раз; обязательное чтение для любого AI-инженера, работающего в healthcare.</a:t>
            </a:r>
          </a:p>
          <a:p/>
          <a:p>
            <a:r>
              <a:t>Контекст. В США существует коммерческий алгоритм Impact Pro, разработанный компанией Optum, дочкой UnitedHealth, и применяемый ежегодно для примерно двухсот миллионов американцев — для идентификации пациентов с высоким риском, нуждающихся в дополнительной координированной помощи. Алгоритм даёт risk score; пациенты с высоким score попадают в high-risk care management programs.</a:t>
            </a:r>
          </a:p>
          <a:p/>
          <a:p>
            <a:r>
              <a:t>Что нашли исследователи. На одном и том же risk score чернокожие пациенты были существенно болезненнее, чем белые: у них было на двадцать шесть процентов больше хронических заболеваний. То есть алгоритм систематически недооценивал тяжесть болезни у черных пациентов.</a:t>
            </a:r>
          </a:p>
          <a:p/>
          <a:p>
            <a:r>
              <a:t>Почему. Алгоритм был обучен предсказывать healthcare cost — расходы на лечение — как прокси для healthcare need, медицинской потребности. Эти две переменные коррелируют — больные тратят больше — но они не идентичны. Чернокожие пациенты исторически тратили на здравоохранение примерно на тысячу восемьсот долларов в год меньше, чем равно-больные белые, из-за access disparities: меньше страхового покрытия, географические барьеры, недоверие к системе, дискриминация. Алгоритм видел: у этих пациентов низкие расходы, значит, они «менее больны». На самом деле они были такими же больными, но получали меньше помощи.</a:t>
            </a:r>
          </a:p>
          <a:p/>
          <a:p>
            <a:r>
              <a:t>Исправление. Когда исследователи переобучили алгоритм на гибридный proxy (cost + chronic conditions), bias уменьшился на восемьдесят четыре процента. Доля чернокожих пациентов в high-risk care management programs выросла с семнадцати и семи десятых процента до сорока шести и пяти десятых. Это не теоретическое улучшение — это конкретные пациенты, получившие доступ к дополнительной помощи. Инженерный урок: когда выбираете прокси, спрашивайте — какие демографические группы могут иметь систематически разный доступ к этой прокси? Выбор метрики — это выбор политики, даже когда никто о политике не думает.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в медицине — это не то же самое, что medical AI. Это важное различие. Medical AI, который проходит FDA-одобрение, — специализированная computer vision или табличная модель с подтверждённой клинической валидацией. LLM в медицинском контексте — general-purpose language model, который случилось так, что используется для медицинских вопросов; и в этом качестве на 2025–2026 годы зафиксированы три documented anti-pattern cases.</a:t>
            </a:r>
          </a:p>
          <a:p/>
          <a:p>
            <a:r>
              <a:t>Первый кейс — NEDA Tessa, vendor accountability story. National Eating Disorders Association с примерно 2018 года использовала чат-бот Tessa, разработанный компанией Cass, как первую линию helpline. Изначально Tessa был rule-based: чёткий decision-tree, никакой генерации, никаких советов вне предварительно одобренных сценариев. Это design choice со стороны NEDA — eating disorders requires clinical safety design. В марте 2023 года Cass самовольно сменила Tessa с rule-based на generative LLM — без согласования с NEDA, без новой клинической валидации. 30 мая 2023 года Sharon Maxwell опубликовала скриншоты: Tessa в новой форме советовал терять один-два фунта в неделю, удерживать дефицит калорий пятьсот-тысячу в день, целиться на две тысячи калорий максимум в день — классические eating disorder triggers. NEDA сняла Tessa с обращения в течение двадцати четырёх часов. Урок: generative AI ≠ rule-based AI; vendor design changes могут обойти clinical safety design.</a:t>
            </a:r>
          </a:p>
          <a:p/>
          <a:p>
            <a:r>
              <a:t>Второй кейс — adversarial hallucination. Communications Medicine 2025 года: шесть ведущих LLM на трёхстах клинических vignette'ах с подсаженной фейк-деталью. Модели повторяли или расширяли подсаженный фейк в восьмидесяти трёх процентах случаев. Mitigation prompt снижал rate примерно вдвое, но не до нуля. Урок: LLMs are gullible к planted errors; человеческая верификация фактов требуется для каждого факта.</a:t>
            </a:r>
          </a:p>
          <a:p/>
          <a:p>
            <a:r>
              <a:t>Третий кейс — patient self-diagnosis. Примерно сорок миллионов американцев используют ChatGPT для healthcare-вопросов; три из пяти взрослых — за последние три месяца. Регулирование за этим не успевает. Если строите medical-adjacent LLM-product — design choices масштабируются на десятки миллионов людей.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Медицинские данные — самая защищаемая категория данных в большинстве юрисдикций. И — самая ценная для атакующих, потому что они содержат combinations PII плюс медицинскую историю, которые нельзя «отменить»: номер кредитной карты банк блокирует за минуты, медицинский диагноз — нельзя.</a:t>
            </a:r>
          </a:p>
          <a:p/>
          <a:p>
            <a:r>
              <a:t>Кейс — Change Healthcare breach, февраль 2024 года, крупнейший healthcare data breach в истории США. Двадцать первого февраля ransomware-группа ALPHV/BlackCat атаковала Change Healthcare — дочернюю компанию UnitedHealth Group, обрабатывающую около трети всех claims в американской системе здравоохранения. Vector атаки — уязвимый Citrix remote access без MFA. Числа: сто девяносто миллионов американцев в затронутом объёме PHI — примерно пятьдесят семь процентов населения США. Шесть терабайт данных эксфильтровано. Двадцать два миллиона долларов выкупа выплачены в Bitcoin. Два миллиарда четыреста пятьдесят семь миллионов долларов — total recovery cost для UHG за третий квартал 2024 года. Многонедельный перерыв в обработке claims по всей US healthcare system.</a:t>
            </a:r>
          </a:p>
          <a:p/>
          <a:p>
            <a:r>
              <a:t>Связь с medical AI критически важна. Medical AI training datasets наследуют security risk медицинских данных. mosmed.ai имеет более восемнадцати миллионов медицинских изображений в своих datasets. Что произойдёт, если такой dataset эксфильтрован? Анонимизация не равна анонимности: каноническая иллюстрация — re-identification медзаписи губернатора Massachusetts через сопоставление HIPAA-compliant deidentified dataset с публичным voter roll, Sweeney 2002. Полную anonymity при работе со структурированными PII обычно невозможно гарантировать.</a:t>
            </a:r>
          </a:p>
          <a:p/>
          <a:p>
            <a:r>
              <a:t>Регуляторика. HIPAA (US, 1996) защищает PHI и ePHI. GDPR (EU, 2016/679) — sensitive personal data special category, Article 9. ФЗ-152 (РФ, 2006) с major amendments 2024–2025: с 30 мая 2025 года ужесточённые требования к операторам. ФЗ-23 от 28 февраля 2025 года (data localization): персональные данные граждан РФ не обрабатываются на серверах вне России с 1 июля 2025 года. Инженерный урок: проектируя medical AI, вы проектируете target для criminal groups. Защита: data localization, de-identification + differential privacy, segmentation, secure-by-design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секция для центрального вопроса лекции. Мы прошли половину пути: AI-диагностика работает, mosmed.ai тому пример; drug discovery частично работает, Rentosertib и DSP-1181 — две стороны одной медали; bias и LLM анти-паттерны реальны. Теперь — кто отвечает, когда AI ошибается. Применяем 4-actor framework: Price 2019, Stanford Technology Law Review; Gerke et al. 2020, Artificial Intelligence in Healthcare, Elsevier. Ответственность распределяется между четырьмя акторами с разной комбинацией technical control × legal liability.</a:t>
            </a:r>
          </a:p>
          <a:p/>
          <a:p>
            <a:r>
              <a:t>Врач — высокий control и высокая liability. Ставит финальный диагноз. AI — это input, не decision-maker. С юридической точки зрения врач остаётся primary responsible person; AI-suggestion — это «второе мнение», не decision. Это не punitive distribution: только врач имеет full context — анамнез, осмотр, лабораторные результаты, AI-output как один из inputs; никакой другой actor этого full context не имеет.</a:t>
            </a:r>
          </a:p>
          <a:p/>
          <a:p>
            <a:r>
              <a:t>Healthcare operator — больница, клиника, ДЗМ. Средний control и средняя liability. Выбирает поставщика AI, обеспечивает training персонала, мониторит работу системы в production. Если operator деплоит AI без adequate тренинга врачей — несёт ответственность за foreseeable misuse.</a:t>
            </a:r>
          </a:p>
          <a:p/>
          <a:p>
            <a:r>
              <a:t>AI-vendor — высокий control, низкая-средняя liability. Дизайнит модель, делает safety claims при FDA / EU / Росздравнадзор-регистрации, обеспечивает PCCP-updates. Если model design имеет defect — vendor несёт liability по product liability. При faithful disclosure ограничений и proper post-market surveillance liability ограничена.</a:t>
            </a:r>
          </a:p>
          <a:p/>
          <a:p>
            <a:r>
              <a:t>Regulator — FDA, EU Notified Bodies, Росздравнадзор. Низкий control, высокий oversight. Approves системы, проводит post-market surveillance, может revoke authorization. Не несёт liability за individual cases, но несёт systemic responsibility за качество approval process. Central principle: финальная клиническая ответственность не делится между человеком и алгоритмом. Врач ставит диагноз. AI подсказывает. Это юридический консенсус во всех трёх крупных юрисдикциях. Если работаете в AI-vendor роли, ваша responsibility — design AI так, чтобы врач мог выполнить свою responsibility. Эти три инженерных принципа войдут в финальный takeaway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раздела. Сейчас финал — шесть минут на то, чтобы собрать главное в три наблюдения и связать сегодняшний материал с курсом дальше.</a:t>
            </a:r>
          </a:p>
          <a:p/>
          <a:p>
            <a:r>
              <a:t>Структура заключения. Сначала — три главных вывода лекции: AI-диагностика работает, разработка лекарств — частично, ответственность остаётся на враче. Это не финальный синтез, это заготовка для черновика чек-листа, который вы будете дополнять на Лекции 9 по этике.</a:t>
            </a:r>
          </a:p>
          <a:p/>
          <a:p>
            <a:r>
              <a:t>Затем — закрывающая фраза, возврат к центральному вопросу. И тизер Лекции 6 про производство и сельское хозяйство — где AI работает в другом физическом окружении, на другом масштабе и с другими ставками.</a:t>
            </a:r>
          </a:p>
          <a:p/>
          <a:p>
            <a:r>
              <a:t>И в финале — Q&amp;A. После такого материала вопросов обычно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коротко описать, что мы прошли — три вывода и одно operational следствие. Первый. AI-диагностика работает. mosmed.ai обработал более четырнадцати миллионов исследований за пять лет в семидесяти четырёх регионах России; FDA одобрил тысячу четыреста пятьдесят одно AI/ML-устройство кумулятивно к концу 2025 года, семьдесят шесть процентов — радиология; MASAI Sweden RCT 2024–2025 подтвердил, что AI-supported маммография повышает чувствительность скрининга с семидесяти трёх и восьми десятых до восьмидесяти и пяти процентов при снижении нагрузки радиолога на сорок четыре процента. Это не футурология; это computer-vision-pipeline уровня 2017–2024 годов в production-форме.</a:t>
            </a:r>
          </a:p>
          <a:p/>
          <a:p>
            <a:r>
              <a:t>Второй. Drug discovery работает частично. AlphaFold предсказал более двухсот миллионов структур белков и получил Нобелевскую премию по химии 2024 года — Hassabis, Jumper и Baker, последний за computational protein design. Insilico Rentosertib стал первым AI-designed препаратом с peer-reviewed positive Phase IIa readout в Nature Medicine, июнь 2025 года. DSP-1181 — discontinued. AI ускоряет discovery в пять–десять раз; clinical attrition rate около девяноста процентов AI не меняет, потому что эта статистика определяется биологией, а не алгоритмом.</a:t>
            </a:r>
          </a:p>
          <a:p/>
          <a:p>
            <a:r>
              <a:t>Третий. Ответственность — на враче. AI подсказывает, врач решает. Инженер строит систему так, чтобы responsibility была технически выполнима: transparency и калибровка confidence, audit-trail, деперсонализация данных, post-market monitoring. Конкретные три принципа — transparency + calibration; validation set покрывает deployment population; audit-trail + post-market monitoring — это input для черновика чек-листа на лекции 9 «Этика и регулирование». Не финальный синтез — input. Если в одной фразе: врач ставит диагноз, AI подсказывает, инженер делает так, чтобы врач мог по-настоящему решать.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центральному вопросу лекции. Какие AI-обещания в медицине сбылись? AI-диагностика — да, и есть конкретные числа: mosmed.ai с четырнадцатью миллионами исследований, MASAI Sweden RCT со снижением нагрузки радиолога на сорок четыре процента. Drug discovery — частично: Rentosertib peer-reviewed в Nature Medicine; DSP-1181 discontinued. И главная часть вопроса — кто отвечает, когда AI ошибается. Ответственность всегда на враче. Это не уступка консерватизму и не недоверие к AI. Это структурное распределение: только врач имеет full context.</a:t>
            </a:r>
          </a:p>
          <a:p/>
          <a:p>
            <a:r>
              <a:t>И отсюда — закрывающая фраза, на которой держится профессиональный смысл этой лекции для инженера. Врач ставит диагноз. AI подсказывает. Инженер делает так, чтобы врач мог по-настоящему решать. По-настоящему — это значит с пониманием того, что модель сделала и почему (transparency, Grad-CAM heatmap, confidence score); с уверенностью, что эта модель валидирована именно для той популяции, на которой её сейчас применяют; с возможностью восстановить, кто, когда, с какой версией модели получил такой output — это audit-trail. Эти три инженерных принципа и есть то, что вы построили сегодня в копилку лекции 9. На лекции 14 — финальный личный чек-лист.</a:t>
            </a:r>
          </a:p>
          <a:p/>
          <a:p>
            <a:r>
              <a:t>Если вы запомните одно предложение из этой лекции через две недели — пусть это будет именно оно. Врач решает. AI подсказывает. Инженер обеспечивает то, что делает первое предложение технически выполнимым.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Следующее занятие по расписанию курса — Коллоквиум 1, пятая лекция, охватывающий первые четыре содержательные лекции: введение, AI в разработке ПО, AI в финансах и ритейле, AI в медицине. Коллоквиум включает тестовую часть на классификацию AI-технологий и письменный мини-кейс по триаде «Проблема — Результат — Ограничение». Подготовка к коллоквиуму — это в первую очередь повторение четырёх предыдущих глав методички, включая эту.</a:t>
            </a:r>
          </a:p>
          <a:p/>
          <a:p>
            <a:r>
              <a:t>После Коллоквиума 1 — Лекция 6 «AI в производстве и сельском хозяйстве». Здесь главный российский кейс — Cognitive Agro Pilot, более полутора тысяч машин в работе, заявленный прирост эффективности тридцать-сорок процентов. Кроме сельского хозяйства, мы посмотрим predictive maintenance, quality control, collaborative robots, физический AI: дроны-инспекторы, автономный транспорт, digital twins. Из ячейки «медицина» движемся в ячейку «производство»; ставки другие — не пациент, а оборудование и урожай — но многие методологические принципы переносятся: валидация на разных популяциях, transparency, post-market monitoring.</a:t>
            </a:r>
          </a:p>
          <a:p/>
          <a:p>
            <a:r>
              <a:t>И ещё одна важная связь forward. Три принципа responsibility, которые мы сформулировали сегодня — transparency и калибровка; validation set покрывает deployment population; audit-trail и post-market monitoring — это не финальный синтез, а input для черновика чек-листа, который вы создадите на Лекции 9 «Этика и регулирование». На Лекции 14 «Будущее AI» вы превратите этот черновик в personal версию чек-листа из трёх-пяти пунктов. Опциональное домашнее задание для тех, у кого есть время: найти один случай medical AI в новостях за последний месяц (Reuters, STAT News, Habr) и применить к нему 4-actor framework со слайда 24. Не оценивается; для тренировки навыка применения.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Открытое Q&amp;A. Подождите пять-десять секунд тишины — это нормально, аудитория переваривает плотный материал. Если вопросов нет — есть три провокации в запасе. Первая — кто после этой лекции изменил мнение о медицинском AI? Второй — у кого был знакомый или родственник, чей диагноз ставился с участием AI? Третий — если бы вам предложили работать в medical AI стартапе, какой первый вопрос вы бы задали о их validation процессе?</a:t>
            </a:r>
          </a:p>
          <a:p/>
          <a:p>
            <a:r>
              <a:t>Самый частый вопрос, который возникает на лекциях этого типа — «как студенту-инженеру войти в medical AI?». Короткий ответ: курс «Системы ИИ» (track в технических вузах), Сбер AI Lab, Yandex AI Lab, Сколтех medical AI center, для медицинской визуализации — НПКЦ ДиТ ДЗМ (mosmed.ai), для drug discovery — AIRI Bioinformatics, MADD team (ИТМО + Сбер AI Lab). Все эти команды берут стажёров и junior инженеров с базовым ML и опытом работы с CV или NLP.</a:t>
            </a:r>
          </a:p>
          <a:p/>
          <a:p>
            <a:r>
              <a:t>Если кто-то задаёт технический вопрос, требующий глубокого ответа, на который не хватает времени в Q&amp;A — отложите его на office hours или в семинар sem-04, где будет полтора часа на case-анализ medical AI deployment в российском контексте. Финальный beat — поблагодарите за внимание; напомните про семинар; напомните, что готовый материал для копилки лекции 9 уже есть, и сегодняшние три принципа — реальный input в будущий черновик чек-листа.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4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9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ставит метку патологии на рентгене за ~3 секунды — локально в браузере, без облака.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narrow CV, не ChatGPT. Узкая модель решает одну задачу — классификацию рентгена.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Chester AI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(Cohen et al., 2019, Mila/McGill).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~3 сек инференса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локально в браузере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6B7685"/>
                </a:solidFill>
                <a:latin typeface="Arial"/>
              </a:rPr>
              <a:t>18 патологий: пневмония, кардиомегалия, ателектаз…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502920"/>
            <a:ext cx="57607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976579"/>
            <a:ext cx="5431535" cy="3258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4754879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Chester AI · mlmed.org/tools/xray/ · тепловая карта + 18 классов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Cohen et al. 2019 (arXiv:1901.11210) · резервный PNG (живой демо — при наличии интернета)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1828800"/>
            <a:ext cx="48463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21295C"/>
                </a:solidFill>
                <a:latin typeface="Arial"/>
              </a:rPr>
              <a:t>AI в медицине
и фармацевтике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065A82"/>
                </a:solidFill>
                <a:latin typeface="Arial"/>
              </a:rPr>
              <a:t>Какие AI-обещания в медицине сбылись — и кто отвечает за ошибки.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ПОДНИМИТЕ РУКИ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Сначала — ваша оценка, потом —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han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4592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Q1  ·  один 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Сколько AI-устройств одобрено FDA к концу 2025?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&lt; 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100 –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500 –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678424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&gt; 1 000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57400"/>
            <a:ext cx="777240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Q2  ·  личный опыт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Получали медицинский результат с участием AI за год?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 уверен(а)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sca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57400"/>
            <a:ext cx="777240" cy="7772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Q3  ·  доверие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Доверяете AI-диагнозу больше, чем человеческому?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Зависит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Запомните свои ответы — сравним с реальностью на следующем слайде.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уже не «будущее», а рабочая инфраструктура.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667512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FDA — AI/ML-устройства, одобренные для медицины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одобрено к концу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940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940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156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156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691640"/>
            <a:ext cx="448056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87452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mosmed.ai — 5 лет работы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3172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ДЗМ Москвы → MosMedAI (май 2024)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исследований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изображений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AI-сервисов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нац. стандартов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(к концу 2025, theimagingwire.com 10.12.2025) · Remedium 2025 · mos.ru AI Leaders Award.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11201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051560"/>
            <a:ext cx="1028700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Какие AI-обещания в медицине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реально сбылись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к 2026 году — и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кто отвечает</a:t>
            </a:r>
            <a:r>
              <a:rPr sz="3000" b="1" i="0">
                <a:solidFill>
                  <a:srgbClr val="21295C"/>
                </a:solidFill>
                <a:latin typeface="Arial"/>
              </a:rPr>
              <a:t>, когда AI-диагноз ошибочен?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520440"/>
            <a:ext cx="59436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7033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Маршрут лекции — 4 раздела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206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062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2519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Карта AI в медицине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6634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709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AI-диагностика как зеркало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1206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206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663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Разработка лекарств — обещания vs реальность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778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6235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Этика и ответственность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520440"/>
            <a:ext cx="50292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05-doctor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327" y="3749039"/>
            <a:ext cx="2812783" cy="187451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58000" y="57150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Иллюстрация: врач + ноутбук + стетоскоп — рабочий процесс с AI в клинике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4 типа применений · масштаб FDA · почему медицина — показательный кейс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4 разные индустрии, не один набор инструментов.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Модальность данных × охват = карта применений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6459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63040" y="1645920"/>
            <a:ext cx="4663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sca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847088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51760" y="18470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AI-диагностика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КТ · МРТ · рентген · дермато-скан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продукты: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5204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· IDx-DR · Aidoc · Watson Imaging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6459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59" y="1645920"/>
            <a:ext cx="466344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heart-puls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47088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79" y="18470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Популяционная визуализация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889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Скрининговые программы для миллионов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246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программы: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204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(Швеция, n&gt;100k) · BreastScreen · NHS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40462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63040" y="4046220"/>
            <a:ext cx="466344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pil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4247388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51760" y="42473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Персонализированная медицина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1892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Геномный AI · клинические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6464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платформы: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9207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Tempus · Foundation Med · Webiomed (РФ)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40462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59" y="4046220"/>
            <a:ext cx="4663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sk-conical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247388"/>
            <a:ext cx="868680" cy="8686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98079" y="42473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Разработка лекарств + эпид.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1892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Генеративная химия · структуры белков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6464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игроки: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9207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· Insilico · Recursion · Сбер AI Lab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6428232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один пациент        ОХВАТ        популяция 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1508760"/>
            <a:ext cx="1188720" cy="2400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▲
изображения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954780"/>
            <a:ext cx="1188720" cy="2400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
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37719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28090"/>
                </a:solidFill>
                <a:latin typeface="Arial"/>
              </a:rPr>
              <a:t>МОДАЛЬНОСТЬ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За 10 лет — от 6 до 1 451 AI-устройства, одобренных FDA.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инфраструктура, не футурология.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82296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-fda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2057400"/>
            <a:ext cx="594360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AI/ML-устройства, одобренные FDA для медицины · накопленным итогом · к концу 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783080"/>
            <a:ext cx="3154680" cy="4297680"/>
          </a:xfrm>
          <a:prstGeom prst="roundRect">
            <a:avLst>
              <a:gd name="adj" fmla="val 96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0" y="205740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Ключевые числа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31089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5661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40233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4805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49377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394960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Перелом — 2022–2024:
экспоненциальный рост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(fda.gov, к концу 2025) · JAMA Network Open systematic review 2025 · The Imaging Wire 10.12.2025.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Медицина — показательный кейс для инженера.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Высокие ставки + строгое регулирование + прозрачные операционные метрики.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lert-triang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Высокие ставки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Ошибка модели → ошибка диагноза → вред пациенту.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Калибровка уверенности модели, audit-trail, fallback-сценарии.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shiel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011680"/>
            <a:ext cx="868680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8328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Строгое регулирование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FDA SaMD · EU AI Act high-risk · Росздравнадзор.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Регуляторные навыки переносятся в финансы, авто, авиа.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coin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01168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Прозрачные операционные метрики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mosmed.ai: 14 млн+ исследований · 74 региона · 70 сервисов.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Метрики измеримы — не маркетинговая оценка.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1691640"/>
            <a:ext cx="3322015" cy="4160520"/>
          </a:xfrm>
          <a:prstGeom prst="roundRect">
            <a:avLst>
              <a:gd name="adj" fmla="val 91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08-radiologist-scree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1995331"/>
            <a:ext cx="3047695" cy="32330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503920" y="5394960"/>
            <a:ext cx="3047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Иллюстрация: радиолог + AI-рабочая станция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60350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1081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Регуляторные навыки переносятся: PCI DSS · ФЗ-152 · ISO 26262 · DO-178C.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computer vision · sens/spec/PPV · MASAI vs Goh · mosmed.ai · bias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AI-диагностика — это компьютерное зрение, не LLM.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изображение → метка с оценкой уверенности. Это не LLM.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1. Вход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
DICOM / PNG / JPEG
(препроцессинг)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8323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4043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2331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331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331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CNN / ViT
(не LLM)
дообучение на мед. данных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074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6082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082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3. Выход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Вероятность +
тепловая карта / bbox
(Grad-CAM*)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5825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545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9833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833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4. Внедрение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9833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Врач: решение
+ верификация + подпись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34840"/>
            <a:ext cx="1124712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720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Пример: CheXNet — 121-слойная DenseNet, 14 патологий грудной клетки (Rajpurkar et al. 2017)</a:t>
            </a:r>
          </a:p>
        </p:txBody>
      </p:sp>
      <p:pic>
        <p:nvPicPr>
          <p:cNvPr id="25" name="Picture 24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937759"/>
            <a:ext cx="2438400" cy="1463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29000" y="5029200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 → CNN/ViT → вектор вероятностей + тепловая карта. Тепловая карта = Grad-CAM (Selvaraju 2017): какие пиксели вносили вклад в предсказание. Врач принимает решение, AI — помощник.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*Grad-CAM — визуальная интерпретация решения модели. DenseNet — CNN-архитектура. Rajpurkar arXiv:1711.05225 · Selvaraju arXiv:1610.02391.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медицинского AI «точности» (accuracy) недостаточно.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Чувствительность · специфичность · распространённость · PPV. Sens/spec не зависят от prev; PPV — зависит.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2120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Матрица ошибок 2 ×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6032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предсказание AI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положит.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отрицат.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истина
↓
болен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0342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здоров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3246120"/>
            <a:ext cx="2125980" cy="1165860"/>
          </a:xfrm>
          <a:prstGeom prst="rect">
            <a:avLst/>
          </a:prstGeom>
          <a:solidFill>
            <a:srgbClr val="E3EEF3"/>
          </a:solidFill>
          <a:ln w="101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истинно-полож.
правильно нашли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6140" y="3246120"/>
            <a:ext cx="2125980" cy="1165860"/>
          </a:xfrm>
          <a:prstGeom prst="rect">
            <a:avLst/>
          </a:prstGeom>
          <a:solidFill>
            <a:srgbClr val="D7DBE4"/>
          </a:solidFill>
          <a:ln w="1016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4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614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ложно-отрицат.
пропустили больного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4411980"/>
            <a:ext cx="2125980" cy="1165860"/>
          </a:xfrm>
          <a:prstGeom prst="rect">
            <a:avLst/>
          </a:prstGeom>
          <a:solidFill>
            <a:srgbClr val="FEF5E0"/>
          </a:solidFill>
          <a:ln w="101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ложно-полож.
ложная тревога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6140" y="4411980"/>
            <a:ext cx="2125980" cy="1165860"/>
          </a:xfrm>
          <a:prstGeom prst="rect">
            <a:avLst/>
          </a:prstGeom>
          <a:solidFill>
            <a:srgbClr val="D9E2EC"/>
          </a:solidFill>
          <a:ln w="101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14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614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истинно-отрицат.
правильно отпустили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1691640"/>
            <a:ext cx="594360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828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 метрики — формула + смысл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2860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Чувствительность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651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331720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больных, верно идентифицированных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9923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Специфичность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3649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TN / (TN+FP)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044952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здоровых, верно классифицированных как здоровые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712464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Распространённость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078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(TP+FN) / всего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758184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как часто болезнь встречается в популяции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425696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PPV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7914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471416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если AI сказал «болен» — насколько верить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623560"/>
            <a:ext cx="1124712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696712"/>
            <a:ext cx="1088136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CheXNet (Rajpurkar 2017): чувствительность 0.94–0.96 · специфичность 0.89–0.93 (диапазон). Для расчёта PPV берём sens 0.94 / spec 0.89  →  PPV ~8% при prev 1% (скрининг)  ·  ~78% при prev 30% (госпиталь).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Та же модель, та же accuracy — разные PPV. Рабочая точка (operating point) зависит от порога + патологии.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Визуализация: AI+врач сильнее каждого. Рассуждения: AI один сильнее тандема врач+AI.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Вопрос «AI или врач» поставлен неправильно. Правильный — «какая задача и какой рабочий процесс».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Liu et al. 2019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— мета-анализ, 14 проспективных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920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9456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Мета-анализ по визуализации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488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объединённая чувствительность: AI 0.87  ·  врач 0.85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6974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Близко к паритету, исторический ориентир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4612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8327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MASAI 2024–2025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49039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(2024) + Lancet (2025)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38327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РКИ маммографии, n &gt; 100 000 (Швеция)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383279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79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чувствит. 80.5% (AI) vs 73.8% (стандарт)  ·  нагрузка −44%  ·  интервальный рак −12%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16052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→ AI+радиолог — значимо лучше каждого по отдельности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3337560"/>
            <a:ext cx="1234440" cy="54864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3337560"/>
            <a:ext cx="1234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ПОБЕДА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0916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846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Goh et al.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2120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JAMA Network Open (окт. 2024)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46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12064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Клинические рассуждения, 50 врачей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074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GPT-4 в одиночку 76%  ·  врач+GPT-4 74%  (p = 0.60)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6235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AI один сильнее тандема врач+AI — парадокс совместной работы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Liu 2019 doi: 10.1016/S2589-7500(19)30123-2  ·  MASAI Lancet 2025  ·  Goh JAMA Netw Open 2024.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mosmed.ai — обещание сбылось на уровне эксплуатации.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5 лет в эксплуатации · 14 млн+ исследований · 74 региона · 70 AI-сервисов.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Снимок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КТ / МРТ / рентген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1752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mosmed.ai
облако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федеративная AI-платформа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AI-анализ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70 сервисов
43 области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6968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8116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Врач + 2-е мнение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решение
+ верификация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исследований за 5 лет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обработанных изображений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AI-сервисов на 43 областях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нац. стандартов · 300+ датасетов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mos.ru AI Leaders Award · Remedium 2025 · Healthcare ME 2026. Федеративная платформа: Сбер AI Lab, Care Mentor AI, Третье Мнение, Webiomed.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 (bias) = следствие дизайна, а не баг.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AI хорошо работает в распределении обучения. За его пределами — может проваливаться несправедливо.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ey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Дерматология — тон кожи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датасеты обучения (ISIC) перепредставляют светлую кожу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Daneshjou 2022 — чувствит. ↓ 20–30% на коже Фитцпатрика V–VI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Исправление: дообучение на DDI закрыло разрыв; AI &gt; дерматолога на тёмной коже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Daneshjou 2022, Science Advances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alert-triang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011680"/>
            <a:ext cx="777240" cy="777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52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Пульсоксиметр — расовое смещение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датчик систематически завышает SpO2 на тёмной коже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Sjoding 2020 NEJM — гипоксия чаще пропускается у чернокожих пациентов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Что значит для AI: модели с SpO2 на входе наследуют ошибку датчика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Sjoding 2020, NEJM · FDA Safety 2021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Валидационный набор должен покрывать целевую популяцию. Не академическая тонкость — профессиональная ответственность.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Разработка лекарств:
обещания vs реальность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AlphaFold · Rentosertib peer-reviewed · DSP-1181 reality check · регулирование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МЫ ПРОШЛИ ПОЛОВИНУ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AI-диагностика — обещание сбылось (mosmed.ai: 14 млн+ исследований, 74 региона).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4206240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4-pharma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1737360"/>
            <a:ext cx="301752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377647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Иллюстрация: фарма-лаборатория — место встречи AI-дизайна и биологии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554480"/>
            <a:ext cx="6766560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57800" y="1828800"/>
            <a:ext cx="6126480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Разработка лекарств —
</a:t>
            </a:r>
            <a:r>
              <a:rPr sz="2300" b="1" i="0">
                <a:solidFill>
                  <a:srgbClr val="F0AB00"/>
                </a:solidFill>
                <a:latin typeface="Arial"/>
              </a:rPr>
              <a:t>обещали в 10 раз быстрее.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 </a:t>
            </a:r>
          </a:p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Что реально к 2026 году?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72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heck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27" y="461772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6956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✓  mosmed.ai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956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обещание сбылось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help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1367" y="461772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1860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Rentosertib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860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Phase IIa с рецензированием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80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help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0407" y="461772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764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DSP-1181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764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программа закрыта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Промежуточная пересборка. Дальше — где AI ускоряет разработку лекарств и две истории.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ускоряет открытие, не клинические испытания.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10–15 лет · $1–2 млрд · ~6.7% успеха. AI ускоряет стадии 1–3.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6594652" cy="365760"/>
          </a:xfrm>
          <a:prstGeom prst="roundRect">
            <a:avLst>
              <a:gd name="adj" fmla="val 3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65946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ускоряет значительно (4–5 лет → 12–18 месяцев)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81620" y="1965960"/>
            <a:ext cx="4268419" cy="36576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81620" y="1965960"/>
            <a:ext cx="42684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помогает слабо — это биология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targe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" y="260604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1. Поиск
мишени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AlphaFold
AlphaProteo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90825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29153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206" y="260604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0593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Поиск
кандидатов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0593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Insilico
Exscientia
Generate Bio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17059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55387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sparkle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606040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46827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Оптимиз.
кандидатов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6827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Симуляция
+ ML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43292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816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microscop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2673" y="260604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730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4. Доклинич.
испытания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30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Прогноз
токсичности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69526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07854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8907" y="2606040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899294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5. Клинич.
I/II/III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9294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Стратиф.
пациентов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480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~90% отсева на клинических — AI не меняет. Это биология, а не алгоритм.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7150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«AI ускорил дизайн молекулы» (подтверждено) ≠ «AI ускорил одобрение препарата» (не подтверждено).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DiMasi 2016 J Health Econ · Wouters 2020 JAMA · Mullard 2024 Nature Reviews Drug Discovery.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AlphaFold: 200 млн+ структур. AlphaProteo: связующие белки de novo.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Задача 50-летней давности — решена · Нобель по химии 2024 (Hassabis + Jumper + Baker).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База AlphaFold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200M+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39" y="2286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структур белков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65176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alphafold.ebi.ac.uk · открытый, бесплатный доступ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0040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AlphaProteo (сент.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6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3794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успешных связываний BHRF1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416052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Первый AI-связующий для VEGF-A · аффинность в 3–300×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0916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AlphaFold 3 (Nature 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035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+50%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53035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точности на PoseBusters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39" y="566928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Взаимодействия белок–лиганд · diffusion-based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691640"/>
            <a:ext cx="4160520" cy="452628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14-pharma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484120"/>
            <a:ext cx="3794759" cy="252983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0" y="5715000"/>
            <a:ext cx="3794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Молекулярная биология — поле, где работают AlphaFold/AlphaProteo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097280"/>
            <a:ext cx="2651760" cy="41148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09728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Нобель по химии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Jumper et al. Nature 2021 · Abramson et al. Nature May 2024 · Watson et al. arXiv:2409.08022 · alphafold.ebi.ac.uk.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Rentosertib — первый AI-препарат с рецензированным Phase IIa.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Nature Medicine, июнь 2025 · PMID 40461817 · Insilico Medicine (ISM001-055)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2020–2022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Поиск мишени с AI
→ доклинический кандидат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~18 месяцев против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Окт.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Объявлены топ-результаты
Phase IIa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Пресс-релиз Insilico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0251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1731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4611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Июнь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4611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Nature Medicine
рецензированное РКИ n=71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4611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F0AB00"/>
                </a:solidFill>
                <a:latin typeface="Arial"/>
              </a:rPr>
              <a:t>— 21 центр в Китае · ИЛФ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08813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60 мг 1× в день → +98.4 мл ФЖЕЛ (форсиров. жизн. ёмкость лёгких) vs −20.3 мл плацебо (12 недель)  ·  Δ ~118 мл. ИЛФ — клинически значимо.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2471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23559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Российский контекст (2024–2025, доклинические):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Сбер AI Lab + AIRI + Р-Фарм — Альянс №1 CD137 онкология (май 2024); Альянс №2 Альцгеймер (ноябрь 2025); MADD (ИТМО+Сбер, EMNLP 2025); DiMA (AIRI, ICML 2025).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Все программы — доклинические: 0 препаратов российской разработки в клинических испытаниях на май 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PubMed 40461817 · NCT05938920 · Nature Medicine июнь 2025 · MADD EMNLP 2025 · DiMA ICML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DSP-1181 — проверка реальностью: AI ускорил дизайн, не клинику.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«Первый AI-разработанный препарат в клинических испытаниях» (2020) → Phase 1 закрыта (2022).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Январь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Вход в Phase 1
Exscientia + Sumitomo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ОКР · Япония · 12 мес vs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4A5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A556B"/>
                </a:solidFill>
                <a:latin typeface="Arial"/>
              </a:rPr>
              <a:t>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✕ Phase 1
ЗАКРЫТА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4A556B"/>
                </a:solidFill>
                <a:latin typeface="Arial"/>
              </a:rPr>
              <a:t>— Причина не указана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354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97834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0714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Май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0714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Статус Synapse:
программа закрыта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714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Текущий R&amp;D-статус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8348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66360"/>
            <a:ext cx="106984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AI ускорил дизайн молекулы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(12 мес vs 4–5 лет) —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подтверждено.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Клиническая эффективность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— отдельная задача биологии.</a:t>
            </a:r>
          </a:p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«AI-препарат = быстро + эффективно»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два независимых тезиса, объединённых маркетингом.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Synapse/PatSnap drug profile · Sumitomo 2020 press · CAS Insights · Recursion + Exscientia merger Aug 2024.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Медицинский AI = высокий риск во всех 3 крупных юрисдикциях.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Подходы отличаются процессами, а не принципами.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США (FDA)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Структура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SaMD + специальные правила для AI/ML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PCCP финализирован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 декабря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До PCCP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каждое обновление = новое разрешение (12–18 мес)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 PCCP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вендор заранее декларирует допустимые обновления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574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924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ЕС (AI Act)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Регулятор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Европейская комиссия + Notified Bodies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Основание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Article 6 + Annex III (высокий риск)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Annex III высокий риск → 2.5 мес после лекции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MDR — полное соответствие для медицинского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057400"/>
            <a:ext cx="640080" cy="6400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РФ (Росздравнадзор)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Зарегистрировано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57 AI-медизделий (52 РФ + 5 зарубежных)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Ускоренный режим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 марта 2025 (ПП РФ № 1684)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Первый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Webiomed, 3 апреля 2020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Локализация данных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ФЗ-23, 1 июля 2025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6263640"/>
            <a:ext cx="11247120" cy="365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336792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→ Проектируйте с PCCP в уме: дрейф данных, триггеры переобучения, обновления порогов — план заранее.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SaMD — Software as Medical Device (категория FDA) · MDR — EU Medical Device Regulation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Этика
и ответственность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AI как объяснитель · Obermeyer · NEDA Tessa · Change Healthcare · 4 актёра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как объяснитель — что меняется в обучении и работе врача.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Один из самых стабильно работающих паттернов LLM — «объясни как для студента N курса».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3703320" cy="91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book-ope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Паттерн «объясни как для…»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«Объясни sensitivity/specificity как для студента 2 курса техвуза» — LLM выдаёт связное объяснение с примером.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Работает: интерн читает редкое заболевание, ординатор — методику исследования, врач — новый класс препаратов.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370332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graduation-cap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1168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1772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Что меняется в обучении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Студент-инженер получает персонального наставника по запросу. Время «спросить старшего» сокращается с часов до секунд.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Качество — нестабильно. AI отлично пересказывает учебник, плохо передаёт неявное знание клинициста.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691640"/>
            <a:ext cx="370332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alert-triang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11680"/>
            <a:ext cx="868680" cy="868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5820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Оговорка: проверяй перед тем, как доверять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даёт цифры без источника. AI пересказывает учебник 5-летней давности как «текущую практику».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Правило: AI = первое приближение. Финальная верификация — учебник, guidelines, старший коллега.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98932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06247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AI — мощный объяснитель. Не источник истины. Это меняет рабочий процесс врача и студента — но не отменяет проверку.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Паттерн «explain like for» широко используется студентами медфаков 2024–2026 (см. JAMA Educ 2024 · Med Teach 2025).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 медицинском AI ставки максимальны.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Ошибка модели = ошибка диагноза или назначения = вред пациенту.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1206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0-medical-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901" y="1965960"/>
            <a:ext cx="2460678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Иллюстрация: каждый AI-диагноз заканчивается этим — взаимодействием врача с пациентом.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691640"/>
            <a:ext cx="58064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92024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инженер должен знать про границы</a:t>
            </a:r>
          </a:p>
        </p:txBody>
      </p:sp>
      <p:pic>
        <p:nvPicPr>
          <p:cNvPr id="9" name="Picture 8" descr="lucide-sca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6032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0" y="24688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1.  Смещение (bias) в медицинском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85292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Optum/UnitedHealth занижал риск у чернокожих в 2 раза — proxy «расходы» вместо «тяжесть».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3558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200 млн американцев · 5 лет до фикса</a:t>
            </a:r>
          </a:p>
        </p:txBody>
      </p:sp>
      <p:pic>
        <p:nvPicPr>
          <p:cNvPr id="13" name="Picture 12" descr="lucide-message-circle-warning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79476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49440" y="37033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 LLM-антипаттерны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408736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NEDA Tessa давал опасные советы при eating disorder — приводил к госпитализации.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40 млн американцев — самодиагностика без врача</a:t>
            </a:r>
          </a:p>
        </p:txBody>
      </p:sp>
      <p:pic>
        <p:nvPicPr>
          <p:cNvPr id="17" name="Picture 16" descr="lucide-shield-check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02920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49440" y="49377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 Безопасность данных + ответственность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32180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Change Healthcare ransomware (февр. 2024): 190 млн пострадали, $2.5 млрд убытков.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8247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mosmed.ai = 18 млн+ изображений — та же поверхность атаки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62636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3367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Думать про границы сразу, на стадии проектирования — не задним числом после первого инцидента.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Obermeyer 2019 — выбор прокси стал выбором политики.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Коммерческий AI для 200 млн американцев систематически недооценивал тяжесть болезни у чернокожих пациентов.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Цель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Найти пациентов,
кому нужна
доп. помощь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9288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436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24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Прокси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24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Расходы на
предыдущее
лечение
(не тяжесть)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432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0580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868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A556B"/>
                </a:solidFill>
                <a:latin typeface="Arial"/>
              </a:rPr>
              <a:t>Источник смещения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868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Чернокожие: −$1 800/год
(разный доступ)
→ AI «менее больны»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548640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 одинаковом риск-скоре у чернокожих пациентов: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+26%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больше хронических заболеваний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864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Science 2019 · n ≈ 200 млн американцев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383280"/>
            <a:ext cx="553212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5661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Исправление: гибридный прокси (расходы + хронические)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4A556B"/>
                </a:solidFill>
                <a:latin typeface="Arial"/>
              </a:rPr>
              <a:t>17.7%</a:t>
            </a:r>
            <a:r>
              <a:rPr sz="3200" b="1" i="0">
                <a:solidFill>
                  <a:srgbClr val="6B7685"/>
                </a:solidFill>
                <a:latin typeface="Arial"/>
              </a:rPr>
              <a:t>  →  </a:t>
            </a:r>
            <a:r>
              <a:rPr sz="3200" b="1" i="0">
                <a:solidFill>
                  <a:srgbClr val="F0AB00"/>
                </a:solidFill>
                <a:latin typeface="Arial"/>
              </a:rPr>
              <a:t>46.5%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доля чернокожих пациентов в программах ведения пациентов высокого риска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48640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−84% смещения  ·  не теория — реальные пациенты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Выбирая прокси, спрашивайте: какие группы имеют систематически разный доступ к ней?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Obermeyer, Powers, Vogeli, Mullainathan — Science 366, 447 (2019). DOI: 10.1126/science.aax2342.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LLM в медицине ≠ медицинский AI — 3 задокументированных случая.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Ответственность вендора · состязательные галлюцинации · самодиагностика в массовом масштабе (2025–2026).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message-circle-warnin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47088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18105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NEDA Tessa — скандал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22494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2494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ответственность вендора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606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Май 2023 · NPR · AI Incident DB #545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293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105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~2018–2022: rule-based, одобрен NEDA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Начало 2023: Cass → генеративный БЕЗ одобрения NEDA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6243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5054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30 мая 2023: скриншоты Maxwell → отключён за 24 часа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175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alert-octagon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18688"/>
            <a:ext cx="77724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37360" y="31821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Состязательные галлюцинации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36210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6210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галлюцин. 83%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9776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Communications Medicine 2025 (Nature)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3009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1821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 ведущих LLM, 300 клинических виньеток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6484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5295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 подсаженной фейк-деталью → расширяют её в 83% случаев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995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8770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Mitigation-промпт → снижает вдвое, но ≠ ноль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90288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4553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Самодиагностика в масштабе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37360" y="49926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4992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40 млн американцев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53492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OpenAI / Gallup 2025 · Becker's Hospital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672583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45537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~40 млн американцев использовали ChatGPT для здоровья за 3 месяца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020055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901183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из 5 совершеннолетних США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5367527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5248655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Регулирование за этим не успевает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98932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06247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Генеративный AI ≠ rule-based AI. Изменения дизайна вендором могут обойти clinical-safety проверку.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Точная дата переключения на генеративный режим — начало 2023 (источники не дают строгий месяц).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Обучающие данные медицинского AI наследуют риски безопасности.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Change Healthcare (февр. 2024): 190 млн человек, $2.457 млрд на восстановление — медданные мишень №1.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BleepingComputer · 21.02.2024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UnitedHealth: 190 млн американцев пострадали от утечки данных Change Healthcare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190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пострадавших американцев (~57% населения США)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428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144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$2.457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144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стоимость восстановления UHG, 3 кв.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565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281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6 ТБ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281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украдено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702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418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Несколько недель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418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сбои в страховых выплатах США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839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2555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$22 млн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555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выкуп ALPHV/BlackCat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23-cybersec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376" y="4526280"/>
            <a:ext cx="1369888" cy="914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Связь с AI — обучающие датасеты медицинского AI наследуют те же риски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93776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= 18 млн+ изображений → расширяет цели для ransomware. Анонимизация ≠ необратимая (Sweeney 2002 — re-identification губернатора Массачусетса).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372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HIPAA (US, 1996)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276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GDPR (EU, 2016/679)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80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ФЗ-152 + ФЗ-23 (1 июля 2025)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UHG newsroom · BleepingComputer · HIPAA Journal · House Energy &amp; Commerce.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Врач решает. AI подсказывает. Конечная ответственность — неделима.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4 актёра с разной комбинацией: технический контроль × юридическая ответственность.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55448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80160" y="1554480"/>
            <a:ext cx="475488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gavel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73736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17373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C7293"/>
                </a:solidFill>
                <a:latin typeface="Arial"/>
              </a:rPr>
              <a:t>Регулятор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Одобряет · проверяет · отзывает разрешения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017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(US) · Notified Bodies (EU) · Росздравнадзор (РФ)
надзорная роль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4754880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73736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0" y="17373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Врач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Конечный диагностический ответ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 = подсказка, не решение
Приказ 203н · EU AI Act Art. 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370332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80160" y="3703320"/>
            <a:ext cx="47548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building-2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752" y="3886200"/>
            <a:ext cx="731520" cy="731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28600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Оператор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7091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вендора · обучение · развёртывание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Больница · клиника · ДЗМ Москвы
средний технический контроль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0332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703320"/>
            <a:ext cx="47548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cod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88620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Вендор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091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Дизайн модели · заявки на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66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Insilico · Aidoc · Webiomed · Care Mentor AI
PCCP-обновления · пост-маркет 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833872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низкий контроль · ТЕХНИЧЕСКИЙ КОНТРОЛЬ · высокий контроль 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1463040"/>
            <a:ext cx="91440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ОТВЕТ-
СТВЕН-
НОСТЬ
▲ высокая
▼ низкая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6080760"/>
            <a:ext cx="11247120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1264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Врач ставит диагноз. AI подсказывает. Конечная клиническая ответственность —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неделима.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Price 2019 Stanford TLR · Gerke et al. 2020 (Elsevier) · EU AI Act 2024/1689 Art. 14.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3 наблюдения · тизер Лекции 6 · Q&amp;A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3 главных вывода — медицинский AI к 2026 году.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Работающая инфраструктура + конкретная рамка ответственности.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ctivity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024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AI-диагностика работает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— 14 млн+ исследований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FDA — 1 451 устройство (к концу 2025)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— нагрузка −44%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CV-пайплайн уровня 2017–2024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1005840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0AB00"/>
                </a:solidFill>
                <a:latin typeface="Arial"/>
              </a:rPr>
              <a:t>~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Разработка лекарств — частично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решена · Нобель 2024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Rentosertib — Phase IIa подтверждён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DSP-1181 — программа закрыта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Отсев на клинических не изменился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03120"/>
            <a:ext cx="1005840" cy="10058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0120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Ответственность — на враче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5820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подсказывает, врач решает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5820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Инженер делает её выполнимой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820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4108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принципа → черновик чек-листа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5820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108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Личная версия → Лекция 14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6364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33679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3 вывода = заготовка для черновика чек-листа на следующей лекции. Не финальный синтез — заготовка.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777240"/>
            <a:ext cx="5029200" cy="530352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7-doctor-pati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143000"/>
            <a:ext cx="3438143" cy="42976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548639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Иллюстрация: врач — тот, кто берёт ответственность за пациента.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777240"/>
            <a:ext cx="5943600" cy="5303520"/>
          </a:xfrm>
          <a:prstGeom prst="roundRect">
            <a:avLst>
              <a:gd name="adj" fmla="val 57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3258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Врач ставит диагноз.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AI подсказывает.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Инженер делает так,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чтобы врач мог</a:t>
            </a:r>
          </a:p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по-настоящему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решать.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562355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Возврат к центральному вопросу — ответ.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Прозрачность · валидированная популяция · audit-trail — три инженерных принципа в копилку Лекции 9.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Что дальше: Лекция 6 + черновик чек-листа.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3 принципа сегодня — основа для черновика чек-листа на следующей лекции по этике.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5486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8-agricul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280" y="2240280"/>
            <a:ext cx="2519680" cy="1417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6576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Лекция 6 — Производство и сельское хозяйство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7763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Cognitive Agro Pilot — 1 500+ машин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891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+30–40%</a:t>
            </a:r>
            <a:r>
              <a:rPr sz="1200" b="0" i="1">
                <a:solidFill>
                  <a:srgbClr val="21295C"/>
                </a:solidFill>
                <a:latin typeface="Arial"/>
              </a:rPr>
              <a:t>  эффективности (российский кейс)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Предиктивное обслуживание · контроль качества · физический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486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arrow-right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33172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19" y="2377440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Лекция 9 — Этика и регулирование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338328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 принципа сегодня
→ черновик чек-листа на Лекции 9
→ личная версия на Лекции 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989320"/>
            <a:ext cx="11247120" cy="5943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062472"/>
            <a:ext cx="1088136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Опционально: найти 1 случай медицинского AI в новостях + применить рамку 4 актёров. Не оценивается; тренировка навыка.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749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65A82"/>
                </a:solidFill>
                <a:latin typeface="Arial"/>
              </a:rPr>
              <a:t>Спасибо за внимание.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«AI в разных индустриях» · Семинар-04 — разбор кейса · консультации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