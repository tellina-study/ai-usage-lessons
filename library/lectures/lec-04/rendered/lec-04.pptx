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мейнтейнеры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дублировать и не растягивать, зафиксируем явно, что переносится готовым и не переобъясняется, а только применяется к разработке ПО. Из Лекции 1 — слоистая картина «модель, чат, агент, приложение» и понимание промпта; мы пользуемся этим как известным словарём. Из Лекции 2 — механизм, по которому AI выдаёт «почти правильный» текст: ответ генерируется сэмплингом, поэтому правдоподобный не равно верный; мы ссылаемся на это одной фразой там, где это нужно.</a:t>
            </a:r>
          </a:p>
          <a:p/>
          <a:p>
            <a:r>
              <a:t>Из Лекции 3 переносятся четыре блока. Первый — лестница сложности: правило «оставайся на нижней ступени архитектуры, поднимайся только под явное требование задачи». Лестница автономности A→D этой лекции — её прямое отраслевое продолжение. Второй — критерий «когда не ИИ вовсе»: для детерминированной верифицируемой задачи правильная архитектура — обычный код; мы применяем этот критерий к dev-задачам в каждом разделе. Третий — цикл агента plan, act, check, iterate; кодинг-агент Раздела 2 — это ровно этот цикл, применённый к коду. Четвёртый — prompt injection: недоверенный контент в контексте модели может стать командой; в разработке это материализуется как атака CamoLeak.</a:t>
            </a:r>
          </a:p>
          <a:p/>
          <a:p>
            <a:r>
              <a:t>Иначе говоря, Лекции 1–3 дали аппарат выбора архитектуры в общем виде; эта лекция берёт одну индустрию и показывает, как аппарат работает на ней — и где именно ломается, если применять AI без суждения. Если эти четыре блока вспоминаются смутно, стоит перечитать соответствующие разделы главы Лекции 3 до этой лекции: дальше они используются как известные.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возвращается в каждом разделе: AI пишет код всё лучше — где он реально ускоряет, где замедляет или вредит, и что в работе инженера не делегируется. Первая половина вопроса, «где ускоряет, где вредит», разбирается через лестницу автономности и через «не только код». Вторая половина, «что не делегируется», — сквозная: в конце каждого раздела стоит явный блок «когда здесь человек обязателен», а в финале всё собирается в матрицу решения и чек-лист. Пять явных точек возврата: «почти правильный» код, решение о слиянии, автономный деструктив и perception-gap, безопасность, и Brooks с DORA. Ответом будет не «AI хорош» и не «AI плох», а аппарат, которым инженер для конкретной dev-задачи называет уместный уровень автономии, конфигурацию и точку обязательного человеческого контроля.</a:t>
            </a:r>
          </a:p>
          <a:p/>
          <a:p>
            <a:r>
              <a:t>Несущая ось лекции — лестница автономности: четыре уровня того, насколько самостоятельно AI участвует в разработке. A — автодополнение: AI дописывает строку, человек принимает каждое предложение. B — мелкие задачи через чат: AI генерирует фрагмент, человек ревьюит после. C — кодинг-агент: AI планирует, правит много файлов, человек ревьюит pull request. D — оркестратор: AI берёт задачу из трекера, человек отвечает за стратегию и слияние.</a:t>
            </a:r>
          </a:p>
          <a:p/>
          <a:p>
            <a:r>
              <a:t>Важный disclaimer, который повторю прямо сейчас. Эта лестница A→D — дидактическая карта именно этой лекции, а не отраслевой стандарт и не общепринятая классификация. В литературе и у вендоров вы встретите другие разбиения. Мы выбрали эти четыре уровня, потому что они монотонно наращивают одну величину — степень, в которой AI сам определяет последовательность действий, — и потому что это прямое продолжение лестницы сложности Лекции 3. Правило действует буквально: чем выше уровень автономии, тем строже должен быть критерий «здесь обязателен человек».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введём единую рамку, через которую мы будем смотреть на каждый уровень A→D одинаково. Это снимает главный риск перечисления уровней — превращение их в список инструментов вместо аппарата суждения. Для любого уровня автономии мы задаём четыре вопроса. Что делает AI — какой именно объём работы он выполняет самостоятельно на этом уровне. Кто решает — кто принимает содержательное решение: что строить, что принять, что слить. Где человек обязателен — конкретная точка, в которой отсутствие человека превращает уровень из инструмента в источник катастрофы. Типичный риск — характерный режим отказа именно этого уровня.</a:t>
            </a:r>
          </a:p>
          <a:p/>
          <a:p>
            <a:r>
              <a:t>Эта рамка — отраслевая проекция правила лестницы Лекции 3: оставайся на нижней ступени, поднимайся только под требование. В разработке это звучит так: не повышай уровень автономии AI без явного требования задачи, которого уровень ниже не закрывает, потому что каждый подъём оплачивается ослаблением человеческого контроля над тем, что попадает в кодовую базу.</a:t>
            </a:r>
          </a:p>
          <a:p/>
          <a:p>
            <a:r>
              <a:t>Покажу масштаб этого размена. Уровень A человек контролирует на каждом токене; уровень D человек контролирует только на входе, при постановке, и на выходе, при слиянии и выкладке в продакшен, а всё между — автономно. Рамка из четырёх вопросов делает явным, что именно вы отдаёте, поднимаясь на уровень выше, и этот «счёт» — не лозунг, а перечень. Мы применяем эту рамку к A и B в этом разделе, к C — в Разделе 2, к D — в Разделе 3, и каждый раз четвёртый вопрос, «где человек обязателен», окажется несущим.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 — это METR, к которому вернёмся в Разделе 3.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на слайде s17.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Применим рамку. Что делает AI: предлагает продолжение по контексту. Кто решает: человек, на каждом предложении. Где человек обязателен: собственно везде — это уровень с максимальным человеческим контролем по построению. Типичный риск: автопринятие без чтения.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Границу A и B важно сформулировать точно, потому что её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Применим рамку. Что делает AI: генерирует законченный фрагмент по поставленной задаче. Кто решает: человек ставит задачу и принимает решение, годен ли результат. Где человек обязателен: на ревью результата до интеграции — потому что на уровне B уже нет защиты «я видел каждую строку, пока она писалась». Типичный риск: «почти правильный» код,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показывают около восьмидесяти восьми–восьмидесяти девяти процентов. Цифра близка к девяноста и звучит как «агент почти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 около шестидесяти четырёх процентов. Один и тот же класс систем: около восьмидесяти восьми на знакомом публичном коде и около шестидесяти четырёх на честном незнакомом. Разрыв примерно в двадцать четыре процентных пункта — это и есть главный инженерный факт уровня C.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90%» превращается в «примерно 2 из 3».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второй раз. 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остальными токенами. Цикл агента на каждом шаге заново решает, что сделать дальше; запрет в начале диалога не является жёстким барьером — это ещё один фактор, который правдоподобная цепочка рассуждений может локально перевесить. Это та же confused-deputy-логика из Лекции 3, но в её внутреннем варианте.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жёсткого, внешнего по отношению к агенту человеческого гейта, потому что инструкция-ограничение в промпте не является контролем, самооценка агента не является проверкой, а отчёт агента об инциденте не является доказательством. Альтернатива многоуровневая: жёсткое разделение dev и prod, обязательный human approval на деструктив, immutable-бэкапы и проверенный rollback, принцип least-privilege, two-person-rule на агентов. Корневая ошибка Replit — не «плохо настроенный агент», а выбор уровня автономии, неадекватного цене ошибки задачи; если гейты поставить нельзя — правильный ответ не «настроить аккуратнее», а понизить уровень автономии.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Это операционализация навыка LO7: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четыре точки возврата центрального вопроса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четыре точки возврата центрального вопроса.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Точка первая, из раздела про уровни A и B: риск — «почти правильный» код; контроль — человеческое ревью плюс тест до того, как доверять фрагменту. Точка вторая,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Точка третья,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Точка четвёртая,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точка возврата центрального вопроса — и концептуальное ядро ответа на «что не делегируется».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следствие, и пятый возврат ребром.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дисциплина, что с benchmark-числами из Раздела 2: отделять подтверждённое от заявленного. Архитектурно опасно строить процесс на слабо подтверждённом vendor-claim — это критерий: docs-as-code как контекст агента — да; «спека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шестидесяти четырёх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7889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8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200400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AI ускорит на −24%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86783"/>
            <a:ext cx="27889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8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986783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ускорил примерно на −20%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27889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8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773168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 AI задачи заняли на +19% дольше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335024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help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73568" y="157276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perception-gap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2176272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разрыв между субъективным ощущением скорости («AI меня ускоряет») и объективно измеренным фактом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0" y="3822191"/>
            <a:ext cx="4572000" cy="1673352"/>
          </a:xfrm>
          <a:prstGeom prst="roundRect">
            <a:avLst>
              <a:gd name="adj" fmla="val 18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88352" y="3986783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Ускоряет ли AI лично вас — на сколько?
И откуда вы это знаете?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«Мне кажется, инструмент помогает» — это гипотеза, а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Лекция 4 не вводит новый аппарат — она применяет аппарат Лекции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Переносим готовым, не переобъясняем: 4 блока обзорного Модуля 1 → их проекция на разработку ПО.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11475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5532120" cy="51206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408176"/>
            <a:ext cx="5257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Из обзорного Модуля 1 (Л1–Л3)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408176"/>
            <a:ext cx="5623560" cy="51206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1344" y="1408176"/>
            <a:ext cx="5349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→ Проекция на разработку ПО (Л4)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32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965960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Лестница сложности (§5.1): оставайся на нижней ступени, поднимайся под требование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920240"/>
            <a:ext cx="56235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1344" y="1965960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Лестница автономности A→D — та же лестница, та же логика подъёма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06624"/>
            <a:ext cx="553212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752344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«Когда не ИИ вовсе» (§5.2): детерминированное → обычный код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706624"/>
            <a:ext cx="562356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2752344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Критерий «не AI» применяем в каждом разделе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93008"/>
            <a:ext cx="5532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538727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Цикл агента plan→act→check→iterate
(планируй→делай→проверяй→повторяй; §4.3)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493008"/>
            <a:ext cx="56235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1344" y="3538727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Кодинг-агент (уровень C) = ровно этот цикл, применённый к коду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79392"/>
            <a:ext cx="553212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4325112"/>
            <a:ext cx="52578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Prompt injection (§4.7): недоверенный контент → команда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4279392"/>
            <a:ext cx="5623560" cy="786384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4325112"/>
            <a:ext cx="5349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CamoLeak = prompt-injection в dev-агенте (Раздел 4)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49824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04688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A→D — это лестница сложности Лекции 3, применённая к одной индустрии. Правило не меняется: чем выше уровень автономии, тем строже критерий «здесь обязателен человек».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31520" cy="731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99616"/>
            <a:ext cx="10469880" cy="1225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 второй половине вопроса — «где человек обязателен» — возвращаемся 5 раз: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3621024"/>
            <a:ext cx="196961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§1.4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3931920"/>
            <a:ext cx="196961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
правильный»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297" y="3621024"/>
            <a:ext cx="196961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§2.3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8297" y="3931920"/>
            <a:ext cx="196961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3947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8811" y="3621024"/>
            <a:ext cx="196961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§3.5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8811" y="3931920"/>
            <a:ext cx="196961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+
perception-gap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60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3621024"/>
            <a:ext cx="196961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§4.4/§4.7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9324" y="3931920"/>
            <a:ext cx="196961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безопасность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24974" y="3511296"/>
            <a:ext cx="2079345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9838" y="3621024"/>
            <a:ext cx="196961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§5.2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79838" y="3931920"/>
            <a:ext cx="196961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Brooks /
DORA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54880"/>
            <a:ext cx="11201400" cy="9692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09744"/>
            <a:ext cx="10762488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 не «AI плох», а аппарат: для конкретной задачи назвать уровень автономии, конфигурацию и точку обязательного человеческого контроля. Главное в работе инженера — то, что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Лестница автономности A–D — карта этой лекции (course-scaffold), не отраслевой стандарт. Каждый уровень разберём отдельно.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Одна рамка для всех четырёх уровней.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Снимает главный риск перечисления уровней — превращение их в список инструментов вместо аппарата суждения.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-grid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337" y="171907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Что делает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какой объём работы AI выполняет самостоятельно на этом уровне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3562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r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79" y="1719072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81578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Кто решает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8154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принимает содержательное решение — что строить, что принять, что слить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check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4621" y="1719072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2220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Где человек обязателен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точка, где отсутствие человека превращает уровень из инструмента в источник катастрофы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4846" y="1481328"/>
            <a:ext cx="2649474" cy="2788920"/>
          </a:xfrm>
          <a:prstGeom prst="roundRect">
            <a:avLst>
              <a:gd name="adj" fmla="val 115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iangle-aler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5263" y="171907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82862" y="2395728"/>
            <a:ext cx="239344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4. Типичный риск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999232"/>
            <a:ext cx="232029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характерный режим отказа именно этого уровня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Не повышай уровень автономии AI без явного требования задачи, которого уровень ниже не закрывает — каждый подъём оплачивается ослаблением человеческого контроля над тем, что попадает в кодовую базу. Это отраслевая проекция правила лестницы Лекции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11201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Самый безопасный уровень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Автодополнение — AI дописывает строку/блок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4752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591056"/>
            <a:ext cx="5971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</a:t>
            </a:r>
          </a:p>
        </p:txBody>
      </p:sp>
      <p:pic>
        <p:nvPicPr>
          <p:cNvPr id="6" name="Picture 5" descr="c06-context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9" y="1938528"/>
            <a:ext cx="4892040" cy="29352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444752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70064" y="1591056"/>
            <a:ext cx="4096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Рамка уровня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0064" y="19202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делает AI: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0848" y="19202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предлагает продолжение по контексту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3774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Кто решает: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70848" y="23774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человек, на каждом предложении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0064" y="28346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Где обязателен: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везде — максимум контроля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3291840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Типичный риск: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291840"/>
            <a:ext cx="23957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автопринятие без чтения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931920"/>
            <a:ext cx="4572000" cy="13350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5" y="3986784"/>
            <a:ext cx="4133087" cy="1225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текста. Gold-факт: −19% на знакомом легаси у экспертов (METR).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Граница A↔B — первое реальное делегирование: человек проверяет после, а не во время.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2432304"/>
          </a:xfrm>
          <a:prstGeom prst="roundRect">
            <a:avLst>
              <a:gd name="adj" fmla="val 1253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36192"/>
            <a:ext cx="2788920" cy="457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536192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53619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536192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53619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993391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93391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993391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993391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93391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993391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60320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560320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56032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56032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56032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56032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127248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127248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3127248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3127248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3127248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3127248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9867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36592"/>
            <a:ext cx="1120140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846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Рамка уровня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175504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Что делает AI: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9424" y="5175504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генерирует законченный фрагмент по задаче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5175504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Кто решает: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5175504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принимает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687568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обязателен: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9424" y="5687568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ревью результата до интеграции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5687568"/>
            <a:ext cx="1508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Типичный риск: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5687568"/>
            <a:ext cx="37947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«почти правильный» код (s08)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08-almost-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1740408"/>
            <a:ext cx="2331720" cy="1813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0" y="1609344"/>
            <a:ext cx="2240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68880"/>
            <a:ext cx="2240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разработчиков (Stack Overflow 2025) — топ-фрустрация: «почти правильно, но не совсем». Дороже явно неверного: компилируется, проходит счастливый путь — ломается в проде.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 Первая точка возврата центрального вопроса.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TDD, применённый к постановке задачи для LLM (методология №1 — Раздел 5).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гейта (строгое определение — s25).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близорукий план — не видит накопленную стоимость и время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130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30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падающий или зацикленный act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7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307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подмена реальной проверки самооценкой («тесты прошли», не прогнав)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8270" y="1627631"/>
            <a:ext cx="236601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4846" y="2066543"/>
            <a:ext cx="229285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повторяет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4846" y="2926080"/>
            <a:ext cx="229285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нет внешнего лимита итераций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сэмплингом, что и ошибка (callback Лекции 3 §4.3).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PR и merge (s13) · риск — падение надёжности на незнакомом коде (s12)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бенчмарк: AI дают реальную issue из трекера open-source проекта; измеряют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2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919" y="1773936"/>
            <a:ext cx="4922520" cy="29535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27632"/>
            <a:ext cx="4572000" cy="1417320"/>
          </a:xfrm>
          <a:prstGeom prst="roundRect">
            <a:avLst>
              <a:gd name="adj" fmla="val 2150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70064" y="1773936"/>
            <a:ext cx="409651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~24 п.п. — главный инженерный факт уровня C: «почти 90%» → «примерно 2 из 3»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182112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64" y="3328416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валидированных задач, публичный код (был в обучении). Pro — приватные кодбазы, контаминация-резистентно, честный незнакомый код.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[VFY-day-of]: SWE-bench лидеры меняются еженедельно. Цифра без среза («Verified или Pro?») и без даты для решения не информативна.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40817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GitClear: 211M строк (2020→2024)</a:t>
            </a:r>
          </a:p>
        </p:txBody>
      </p:sp>
      <p:pic>
        <p:nvPicPr>
          <p:cNvPr id="10" name="Picture 9" descr="c13-gitcl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233" y="1719072"/>
            <a:ext cx="4218093" cy="2423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11696" y="4206240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0AB00"/>
                </a:solidFill>
                <a:latin typeface="Arial"/>
              </a:rPr>
              <a:t>→ AI оптимизирует скорость порождения, не качество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 Вторая точка возврата центрального вопроса.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201400" cy="12801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(перенос Лекции 3 §4.5)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937760"/>
            <a:ext cx="107899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D:  что делает AI — ведёт цикл от issue до PR · кто решает — человек: стратегия, приоритеты, approval, merge, прод · где обязателен — на любом необратимом/прод-действии · риск — автономный деструктив без подтверждения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outage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(hook s01 закрыт)</a:t>
            </a:r>
          </a:p>
        </p:txBody>
      </p:sp>
      <p:pic>
        <p:nvPicPr>
          <p:cNvPr id="5" name="Picture 4" descr="c17-metr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306" y="1682496"/>
            <a:ext cx="3899747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" y="3986784"/>
            <a:ext cx="60076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Эффект AI монотонно убывает с (контекст в голове) + (цена проверки) + (есть своя быстрая альтернатива). Одна функция объединяет +56% / +7–22% / −19%.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9" name="Oval 8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12" name="Oval 11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15" name="Oval 14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18" name="Oval 17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21" name="Oval 20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и его методологическая ловушка — в главе. Третья точка возврата.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essential-решение (Brooks, Раздел 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90672"/>
            <a:ext cx="5971031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mutation-тестирование — в код вносят искусственные дефекты-«мутанты»; mutation score = доля упавших хотя бы на одном тесте.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895344"/>
            <a:ext cx="597103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quality-gate — автоматический порог в CI, ниже которого изменение не проходит.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Бенчмарк на 50 реальных багах — фундаментальный размен «полнота обнаружения ↔ FP-шум».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Высокий catch-rate приходит с FP-нагрузкой, которую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FP? архитектурная уместность? дублирование (GitClear)?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 (§2.3-деградация + FP-шум). AI-ревью сужает работу человека-ревьюера, но не закрывает точку accountability.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vendor-бенчмарк,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стандартный каталог-классификатор типов уязвимостей (напр. CWE-89 — SQL-инъекция)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81051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статический анализ кода без запуска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54203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анализ работающего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27355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анализ зависимостей на известные уязвимости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691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secret-scanning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005072"/>
            <a:ext cx="255117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утёкших ключей / токенов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Доли [VFY], концептуально стабильно. Четвёртая точка возврата — частично; полный возврат на s23.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Выдуманный пакет как supply-chain атака.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поставок: злоумышленник регистрирует имя пакета, которое LLM стабильно галлюцинирует, и публикует malware.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9344"/>
            <a:ext cx="64465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737360"/>
            <a:ext cx="6007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Жизненный цикл атаки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1214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1214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084832"/>
            <a:ext cx="556869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собрать выдуманные имена пакетов из моделей</a:t>
            </a:r>
          </a:p>
        </p:txBody>
      </p:sp>
      <p:sp>
        <p:nvSpPr>
          <p:cNvPr id="9" name="Oval 8"/>
          <p:cNvSpPr/>
          <p:nvPr/>
        </p:nvSpPr>
        <p:spPr>
          <a:xfrm>
            <a:off x="740664" y="276148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76148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24912"/>
            <a:ext cx="556869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отфильтровать по воспроизводимости (43% — во всех 10 запросах)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340156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40156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64992"/>
            <a:ext cx="556869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зарегистрировать имя в npm/PyPI + опубликовать malware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" y="404164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041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005072"/>
            <a:ext cx="556869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ждать: разработчик/агент делает `pip install` — malware при установке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609344"/>
            <a:ext cx="4572000" cy="3108960"/>
          </a:xfrm>
          <a:prstGeom prst="roundRect">
            <a:avLst>
              <a:gd name="adj" fmla="val 980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1773936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~20% сгенерированных сэмплов рекомендуют несуществующие пакеты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0064" y="2569464"/>
            <a:ext cx="409651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58% воспроизводимо (&gt;1 запроса) — это и есть ось угрозы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3483863"/>
            <a:ext cx="409651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уровне D установка может произойти без единого человеческого взгляда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Не-AI барьер: lockfile + хэш-пиннинг · allowlist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Проценты [VFY], направление стабильно.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(retention, судебные приказы) — прямой перенос Лекции 3 §4.6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55648"/>
            <a:ext cx="5084064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скрытые в невидимом markdown PR инструкции заставляли Copilot Chat искать AWS-ключи и эксфильтровать. Механизм — ровно confused-deputy §4.7: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CVE-номер и точный механизм/хронология — в главе. Полный четвёртый возврат центрального вопроса.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41732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1978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Точка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16736"/>
            <a:ext cx="429768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48256" y="1316736"/>
            <a:ext cx="40782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16736"/>
            <a:ext cx="544068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5936" y="1316736"/>
            <a:ext cx="52212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14173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119786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1 · §1.4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792224"/>
            <a:ext cx="42976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8256" y="1792224"/>
            <a:ext cx="4078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92224"/>
            <a:ext cx="54406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792224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141732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119786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2 · §2.3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2505456"/>
            <a:ext cx="429768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48256" y="2505456"/>
            <a:ext cx="4078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505456"/>
            <a:ext cx="544068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2505456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14173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119786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3 · §3.4–3.5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218688"/>
            <a:ext cx="42976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48256" y="3218688"/>
            <a:ext cx="4078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perception-gap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218688"/>
            <a:ext cx="54406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3218688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141732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119786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4 · §4.4/4.7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3931920"/>
            <a:ext cx="429768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48256" y="3931920"/>
            <a:ext cx="4078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931920"/>
            <a:ext cx="544068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45936" y="3931920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Заливка: золото SOLID = лучшая совместимость; бирюза SOLID = антипаттерн, отвергается по построению.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детерминированный feedback-loop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(requirements / design / tasks)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CI-gates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компенсация системного эффекта: AI ↑throughput, но ↓delivery stability (DORA)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паттерна §1.5;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Практики уточняются, не уходят.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1"/>
            <a:ext cx="53675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Brooks, «No Silver Bullet» (1986)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810512"/>
            <a:ext cx="53675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accidental (привнесённая): рутина, boilerplate, ручной debug, доки — AI силён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2852928"/>
            <a:ext cx="5404103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9260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essential (существенная): «the hardest part is deciding precisely what to build» — AI не помогает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913631"/>
            <a:ext cx="536752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AI удешевил привнесённую; существенная — постановка, выбор, ответственность — осталась там же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298448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11696" y="1444751"/>
            <a:ext cx="4773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DORA 2025 (n~5000)</a:t>
            </a:r>
          </a:p>
        </p:txBody>
      </p:sp>
      <p:sp>
        <p:nvSpPr>
          <p:cNvPr id="11" name="Oval 10"/>
          <p:cNvSpPr/>
          <p:nvPr/>
        </p:nvSpPr>
        <p:spPr>
          <a:xfrm>
            <a:off x="6729983" y="18562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810512"/>
            <a:ext cx="4480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adoption ~90%, широкая вера в рост продуктивности</a:t>
            </a:r>
          </a:p>
        </p:txBody>
      </p:sp>
      <p:sp>
        <p:nvSpPr>
          <p:cNvPr id="13" name="Oval 12"/>
          <p:cNvSpPr/>
          <p:nvPr/>
        </p:nvSpPr>
        <p:spPr>
          <a:xfrm>
            <a:off x="6729983" y="256946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2523744"/>
            <a:ext cx="4480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отрицательная связь AI с delivery stability — 2-й год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93407" y="3291840"/>
            <a:ext cx="4809744" cy="1417320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3419856"/>
            <a:ext cx="448056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«AI doesn't fix a team; it amplifies what's already there» — слабый процесс деградирует быстрее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09744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864607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AI — амплификатор, не корректор. Сильная культура с AI сильнее; слабая — деградирует быстрее. Критерий: рабочие gates ДО масштабирования AI, а не вместо.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coordination overhead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«exhausted bottleneck»: одно узкое место 24/7, нет второго ревьюера → single point of failure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peer-review, распределённая ответственность, ownership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амплифицирует сильную команду (и слабую —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solo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MVP / well-scoped / обратимые последствия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Human judgment (что строить, цена, рынок) — невосполнимое ядро в ОБЕИХ конфигурациях (Brooks). Adoption-доли [VFY-day-of].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Разделяйте подтверждённое и заявленное.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в репозитории, под версионным контролем, рядом с кодом и в том же ревью.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4752"/>
            <a:ext cx="5486400" cy="3246120"/>
          </a:xfrm>
          <a:prstGeom prst="roundRect">
            <a:avLst>
              <a:gd name="adj" fmla="val 9389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591056"/>
            <a:ext cx="50474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 (HIGH)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057400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11680"/>
            <a:ext cx="47731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AGENTS.md / CLAUDE.md — машиночитаемый контекст агента — де-факто стандарт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2953512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907792"/>
            <a:ext cx="47731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формализован 08.2025, рост ~20k → 40k+ репозиториев, нативная поддержка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849624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803904"/>
            <a:ext cx="47731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работает как контекст-инжиниринг для агента (мост Лекции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44752"/>
            <a:ext cx="5486400" cy="3246120"/>
          </a:xfrm>
          <a:prstGeom prst="roundRect">
            <a:avLst>
              <a:gd name="adj" fmla="val 9389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591056"/>
            <a:ext cx="50474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СЛАБО ПОДТВЕРЖДЕНО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057400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2011680"/>
            <a:ext cx="47731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«спека замещает код как единственный источник истины» = vendor-claim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2953512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2907792"/>
            <a:ext cx="47731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сами SDD-практики: «code remains the source of truth»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849624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3803904"/>
            <a:ext cx="47731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числа 3–10× — early-adopter-репорты, не независимое исследование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Первое — использовать. Второе — не закладывать в архитектуру как факт. Та же дисциплина, что с benchmark-числами: отделять подтверждённое от заявленного.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AGENTS.md/CLAUDE.md adoption-числа [VFY-day-of]. «Спека = единственная истина» — vendor-claim, помечать «слабо подтверждено».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014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Матрица выбора уровня автономии.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Структура для аргумента, не сумма баллов. Бирюза SOLID = жёсткий гейт / слабая сторона.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9264"/>
            <a:ext cx="11475720" cy="3785616"/>
          </a:xfrm>
          <a:prstGeom prst="roundRect">
            <a:avLst>
              <a:gd name="adj" fmla="val 80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42415"/>
            <a:ext cx="2514600" cy="621792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235000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Ось 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042415"/>
            <a:ext cx="2240280" cy="62179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t-cursor-input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908" y="110642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16936" y="13898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A автодоп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042415"/>
            <a:ext cx="2240280" cy="62179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d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188" y="1106424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57216" y="13898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B мелкие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042415"/>
            <a:ext cx="2240280" cy="62179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o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6468" y="1106424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97496" y="13898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 агент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042415"/>
            <a:ext cx="2240280" cy="62179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it-pull-request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6748" y="1106424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37776" y="1389888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D оркестр.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664207"/>
            <a:ext cx="2514600" cy="60350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664207"/>
            <a:ext cx="2350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1664207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79" y="1664207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любая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1664207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59" y="1664207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средняя 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1664207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1664207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→ строгий ревью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664207"/>
            <a:ext cx="2240280" cy="603504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1664207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высокая → не 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267712"/>
            <a:ext cx="2514600" cy="60350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267712"/>
            <a:ext cx="2350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Обратимость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2267712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2267712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любая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267712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66359" y="2267712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20" y="2267712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2267712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 → ревью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2267712"/>
            <a:ext cx="2240280" cy="603504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20" y="2267712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только обратимое / hard-gate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2871216"/>
            <a:ext cx="2514600" cy="60350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871216"/>
            <a:ext cx="2350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360" y="2871216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79" y="2871216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любая (с чтением)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0" y="2871216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2871216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некрит.-средн.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20" y="2871216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0" y="2871216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критичное → senior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01200" y="2871216"/>
            <a:ext cx="2240280" cy="603504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2871216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прод → hard human-gate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474720"/>
            <a:ext cx="2514600" cy="60350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474720"/>
            <a:ext cx="2350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Аудит / ответств.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80360" y="3474720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26079" y="3474720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на токене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20640" y="3474720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66359" y="3474720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на фрагменте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60920" y="3474720"/>
            <a:ext cx="2240280" cy="603504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06640" y="3474720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человек на merge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01200" y="3474720"/>
            <a:ext cx="2240280" cy="603504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46920" y="3474720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человек на approval+merge+прод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078224"/>
            <a:ext cx="2514600" cy="60350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078224"/>
            <a:ext cx="23500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80360" y="4078224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79" y="4078224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строгость чтения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20640" y="4078224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6359" y="4078224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необходимость теста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60920" y="4078224"/>
            <a:ext cx="2240280" cy="603504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4078224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строгость ревью/CI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01200" y="4078224"/>
            <a:ext cx="2240280" cy="603504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46920" y="4078224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допустим ли D вообще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846320"/>
            <a:ext cx="11475720" cy="1591056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circle-slash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22392"/>
            <a:ext cx="438912" cy="43891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280160" y="4919472"/>
            <a:ext cx="10332720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Детерминированная, верифицируемая, повторяемая задача (парсинг, валидация по схеме, арифметика, маршрутизация по правилам) → обычный код, без AI. AI добавил бы недетерминизм + «почти правильное» + поверхность prompt injection без выигрыша.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 (§5.2)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 Это payoff центрального вопроса.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(~64%)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77724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0744" y="667512"/>
            <a:ext cx="10104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0698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Лестница A→D + матрица §6.1 + чек-лист §6.4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20140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85232"/>
            <a:ext cx="11201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Семинар 4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