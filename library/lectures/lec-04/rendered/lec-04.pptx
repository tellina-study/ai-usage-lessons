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мейнтейнеры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дублировать и не растягивать, зафиксируем явно, что переносится готовым и не переобъясняется, а только применяется к разработке ПО. Из Лекции 1 — слоистая картина «модель, чат, агент, приложение» и понимание промпта; мы пользуемся этим как известным словарём. Из Лекции 2 — механизм, по которому AI выдаёт «почти правильный» текст: ответ генерируется сэмплингом, поэтому правдоподобный не равно верный; мы ссылаемся на это одной фразой там, где это нужно.</a:t>
            </a:r>
          </a:p>
          <a:p/>
          <a:p>
            <a:r>
              <a:t>Из Лекции 3 переносятся четыре блока. Первый — лестница сложности: правило «оставайся на нижней ступени архитектуры, поднимайся только под явное требование задачи». Лестница автономности A→D этой лекции — её прямое отраслевое продолжение. Второй — критерий «когда не ИИ вовсе»: для детерминированной верифицируемой задачи правильная архитектура — обычный код; мы применяем этот критерий к dev-задачам в каждом разделе. Третий — цикл агента plan, act, check, iterate; кодинг-агент Раздела 2 — это ровно этот цикл, применённый к коду. Четвёртый — prompt injection: недоверенный контент в контексте модели может стать командой; в разработке это материализуется как атака CamoLeak.</a:t>
            </a:r>
          </a:p>
          <a:p/>
          <a:p>
            <a:r>
              <a:t>Иначе говоря, Лекции 1–3 дали аппарат выбора архитектуры в общем виде; эта лекция берёт одну индустрию и показывает, как аппарат работает на ней — и где именно ломается, если применять AI без суждения. Если эти четыре блока вспоминаются смутно, стоит перечитать соответствующие разделы главы Лекции 3 до этой лекции: дальше они используются как известные.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возвращается в каждом разделе: AI пишет код всё лучше — где он реально ускоряет, где замедляет или вредит, и что в работе инженера не делегируется. Первая половина вопроса, «где ускоряет, где вредит», разбирается через лестницу автономности и через «не только код». Вторая половина, «что не делегируется», — сквозная: в конце каждого раздела стоит явный блок «когда здесь человек обязателен», а в финале всё собирается в матрицу решения и чек-лист. Пять явных точек возврата: «почти правильный» код, решение о слиянии, автономный деструктив и perception-gap, безопасность, и Brooks с DORA. Ответом будет не «AI хорош» и не «AI плох», а аппарат, которым инженер для конкретной dev-задачи называет уместный уровень автономии, конфигурацию и точку обязательного человеческого контроля.</a:t>
            </a:r>
          </a:p>
          <a:p/>
          <a:p>
            <a:r>
              <a:t>Несущая ось лекции — лестница автономности: четыре уровня того, насколько самостоятельно AI участвует в разработке. A — автодополнение: AI дописывает строку, человек принимает каждое предложение. B — мелкие задачи через чат: AI генерирует фрагмент, человек ревьюит после. C — кодинг-агент: AI планирует, правит много файлов, человек ревьюит pull request. D — оркестратор: AI берёт задачу из трекера, человек отвечает за стратегию и слияние.</a:t>
            </a:r>
          </a:p>
          <a:p/>
          <a:p>
            <a:r>
              <a:t>Важный disclaimer, который повторю прямо сейчас. Эта лестница A→D — дидактическая карта именно этой лекции, а не отраслевой стандарт и не общепринятая классификация. В литературе и у вендоров вы встретите другие разбиения. Мы выбрали эти четыре уровня, потому что они монотонно наращивают одну величину — степень, в которой AI сам определяет последовательность действий, — и потому что это прямое продолжение лестницы сложности Лекции 3. Правило действует буквально: чем выше уровень автономии, тем строже должен быть критерий «здесь обязателен человек».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введём единую рамку, через которую мы будем смотреть на каждый уровень A→D одинаково. Это снимает главный риск перечисления уровней — превращение их в список инструментов вместо аппарата суждения. Для любого уровня автономии мы задаём четыре вопроса. Что делает AI — какой именно объём работы он выполняет самостоятельно на этом уровне. Кто решает — кто принимает содержательное решение: что строить, что принять, что слить. Где человек обязателен — конкретная точка, в которой отсутствие человека превращает уровень из инструмента в источник катастрофы. Типичный риск — характерный режим отказа именно этого уровня.</a:t>
            </a:r>
          </a:p>
          <a:p/>
          <a:p>
            <a:r>
              <a:t>Эта рамка — отраслевая проекция правила лестницы Лекции 3: оставайся на нижней ступени, поднимайся только под требование. В разработке это звучит так: не повышай уровень автономии AI без явного требования задачи, которого уровень ниже не закрывает, потому что каждый подъём оплачивается ослаблением человеческого контроля над тем, что попадает в кодовую базу.</a:t>
            </a:r>
          </a:p>
          <a:p/>
          <a:p>
            <a:r>
              <a:t>Покажу масштаб этого размена. Уровень A человек контролирует на каждом токене; уровень D человек контролирует только на входе, при постановке, и на выходе, при слиянии и выкладке в продакшен, а всё между — автономно. Рамка из четырёх вопросов делает явным, что именно вы отдаёте, поднимаясь на уровень выше, и этот «счёт» — не лозунг, а перечень. Мы применяем эту рамку к A и B в этом разделе, к C — в Разделе 2, к D — в Разделе 3, и каждый раз четвёртый вопрос, «где человек обязателен», окажется несущим.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 — это METR, к которому вернёмся в Разделе 3.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на слайде s17.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Применим рамку. Что делает AI: предлагает продолжение по контексту. Кто решает: человек, на каждом предложении. Где человек обязателен: собственно везде — это уровень с максимальным человеческим контролем по построению. Типичный риск: автопринятие без чтения.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Границу A и B важно сформулировать точно, потому что её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Применим рамку. Что делает AI: генерирует законченный фрагмент по поставленной задаче. Кто решает: человек ставит задачу и принимает решение, годен ли результат. Где человек обязателен: на ревью результата до интеграции — потому что на уровне B уже нет защиты «я видел каждую строку, пока она писалась». Типичный риск: «почти правильный» код,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показывают около восьмидесяти восьми–восьмидесяти девяти процентов. Цифра близка к девяноста и звучит как «агент почти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 около шестидесяти четырёх процентов. Один и тот же класс систем: около восьмидесяти восьми на знакомом публичном коде и около шестидесяти четырёх на честном незнакомом. Разрыв примерно в двадцать четыре процентных пункта — это и есть главный инженерный факт уровня C.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90%» превращается в «примерно 2 из 3».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второй раз. 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Это операционализация навыка LO7: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четыре точки возврата центрального вопроса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четыре точки возврата центрального вопроса.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Точка первая, из раздела про уровни A и B: риск — «почти правильный» код; контроль — человеческое ревью плюс тест до того, как доверять фрагменту. Точка вторая,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Точка третья,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Точка четвёртая,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точка возврата центрального вопроса — и концептуальное ядро ответа на «что не делегируется».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следствие, и пятый возврат ребром.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шестидесяти четырёх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163824"/>
            <a:ext cx="214883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−24%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86783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279392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думали, что ускорил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950207"/>
            <a:ext cx="214883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≈ −20%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73168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06577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F0AB00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736592"/>
            <a:ext cx="214883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1335024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help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2" y="1536192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73568" y="157276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perception-gap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2176272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разрыв между субъективным ощущением скорости («AI меня ускоряет») и объективно измеренным фактом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3822191"/>
            <a:ext cx="4572000" cy="1673352"/>
          </a:xfrm>
          <a:prstGeom prst="roundRect">
            <a:avLst>
              <a:gd name="adj" fmla="val 18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88352" y="3986783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Ускоряет ли AI лично вас — на сколько?
И откуда вы это знаете?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«Мне кажется, инструмент помогает» — это гипотеза, а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Лекция 4 не вводит новый аппарат — она применяет аппарат Лекции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Переносим готовым, не переобъясняем: 4 блока обзорного Модуля 1 → их проекция на разработку ПО.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11475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5532120" cy="51206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408176"/>
            <a:ext cx="5257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Из обзорного Модуля 1 (Лекции 1–3)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408176"/>
            <a:ext cx="5623560" cy="51206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1344" y="1408176"/>
            <a:ext cx="5349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→ Проекция на разработку ПО (эта лекция)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32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965960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Лестница сложности: оставайся на нижней ступени, поднимайся под требование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920240"/>
            <a:ext cx="56235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1344" y="1965960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Лестница автономности A→D — та же лестница, та же логика подъёма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06624"/>
            <a:ext cx="553212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752344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«Когда не ИИ вовсе»: детерминированное → обычный код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706624"/>
            <a:ext cx="562356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2752344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Критерий «не AI» применяем в каждом разделе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93008"/>
            <a:ext cx="5532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538727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Цикл агента: планируй → делай → проверяй → повторяй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493008"/>
            <a:ext cx="56235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1344" y="3538727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Кодинг-агент (уровень C) = ровно этот цикл, применённый к коду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79392"/>
            <a:ext cx="553212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4325112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Prompt injection (внедрение команды через недоверенный контент)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4279392"/>
            <a:ext cx="562356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4325112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CamoLeak — та же атака, но внутри dev-агента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49824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04688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A→D — это лестница сложности Лекции 3, применённая к одной индустрии. Правило не меняется: чем выше уровень автономии, тем строже критерий «здесь обязателен человек».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31520" cy="731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99616"/>
            <a:ext cx="10469880" cy="1225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 второй половине вопроса — «где человек обязателен» — возвращаемся 5 раз: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7144" y="3593592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7144" y="35935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3968496"/>
            <a:ext cx="1969617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«почти
правильный» код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3433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7658" y="3593592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7658" y="35935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8297" y="3968496"/>
            <a:ext cx="1969617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merge
без чтения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3947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8172" y="3593592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8172" y="35935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8811" y="3968496"/>
            <a:ext cx="1969617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деструктив +
перекос ощущения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44460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8685" y="3593592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685" y="35935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9324" y="3968496"/>
            <a:ext cx="1969617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уязвимость +
утечка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24974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09199" y="3593592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09199" y="35935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9838" y="3968496"/>
            <a:ext cx="1969617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что строить
(Brooks / DORA)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54880"/>
            <a:ext cx="11201400" cy="9692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4809744"/>
            <a:ext cx="10762488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 не «AI плох», а аппарат: для конкретной задачи назвать уровень автономии, конфигурацию и точку обязательного человеческого контроля. Главное в работе инженера — то, что НЕ делегируется.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Лестница автономности A–D — учебная карта этой лекции, не отраслевой стандарт. Каждый уровень разберём отдельно.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Одна рамка для всех четырёх уровней.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Снимает главный риск перечисления уровней — превращение их в список инструментов вместо аппарата суждения.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-grid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337" y="171907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Что делает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какой объём работы AI выполняет самостоятельно на этом уровне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3562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ser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79" y="1719072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81578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Кто решает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8154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принимает содержательное решение — что строить, что принять, что слить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check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4621" y="1719072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2220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Где человек обязателен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точка, где отсутствие человека превращает уровень из инструмента в источник катастрофы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4846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riangle-aler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5263" y="171907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82862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4. Типичный риск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характерный режим отказа именно этого уровня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Не повышай уровень автономии AI без явного требования задачи, которого уровень ниже не закрывает — каждый подъём оплачивается ослаблением человеческого контроля над тем, что попадает в кодовую базу. Это отраслевая проекция правила лестницы Лекции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11201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Самый безопасный уровень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Автодополнение — AI дописывает строку/блок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44752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591056"/>
            <a:ext cx="5971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975104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84832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2048256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990088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099816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063240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4005072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114800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Знакомое легаси — эксперты (METR)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078224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300" b="1" i="0">
                <a:solidFill>
                  <a:srgbClr val="F0AB00"/>
                </a:solidFill>
                <a:latin typeface="Arial"/>
              </a:rPr>
              <a:t>−19%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444752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591056"/>
            <a:ext cx="4096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Рамка уровня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9202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делает AI: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19202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предлагает продолжение по контексту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3774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Кто решает: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3774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человек, на каждом предложении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8346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Где обязателен: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8346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везде — максимум контроля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2918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Типичный риск: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32918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автопринятие без чтения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931920"/>
            <a:ext cx="4572000" cy="13350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986784"/>
            <a:ext cx="4133087" cy="1225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текста. Gold-факт: −19% на знакомом легаси у экспертов (METR).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Граница A↔B — первое реальное делегирование: человек проверяет после, а не во время.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2432304"/>
          </a:xfrm>
          <a:prstGeom prst="roundRect">
            <a:avLst>
              <a:gd name="adj" fmla="val 1253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36192"/>
            <a:ext cx="2788920" cy="45720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536192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53619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536192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53619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993391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93391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993391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993391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93391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993391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60320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560320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56032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56032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56032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56032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127248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127248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3127248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3127248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3127248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3127248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319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9867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36592"/>
            <a:ext cx="1120140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8463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Рамка уровня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5175504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Что делает AI: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9424" y="5175504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генерирует законченный фрагмент по задаче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5175504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Кто решает: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5175504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принимает результат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687568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обязателен: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9424" y="5687568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ревью результата до интеграции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5687568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Типичный риск: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5824" y="5687568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«почти правильный» код — разберём далее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 Первая точка возврата центрального вопроса.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близорукий план — не видит накопленную стоимость и время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130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30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падающий или зацикленный act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7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307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подмена реальной проверки самооценкой («тесты прошли», не прогнав)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1827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484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повторяет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484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нет внешнего лимита итераций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644652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847088"/>
            <a:ext cx="5971031" cy="1188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4233671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920240"/>
            <a:ext cx="169164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88,7%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3108960"/>
            <a:ext cx="5971031" cy="42062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108960"/>
            <a:ext cx="59710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−24 процентных пункта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602736"/>
            <a:ext cx="5971031" cy="1188720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12463"/>
            <a:ext cx="4233671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675888"/>
            <a:ext cx="169164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64,3%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45920"/>
            <a:ext cx="4572000" cy="1417320"/>
          </a:xfrm>
          <a:prstGeom prst="roundRect">
            <a:avLst>
              <a:gd name="adj" fmla="val 21505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92224"/>
            <a:ext cx="409651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90%» на знакомом коде → «примерно 2 из 3»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3200400"/>
            <a:ext cx="45720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3346704"/>
            <a:ext cx="40965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это бенчмарк (мерило): набор реальных задач, на котором сравнивают модели; лидеры меняются почти еженедельно. Цифра без среза («Verified или Pro?») и без даты для решения не информативна.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0AB00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4206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 Вторая точка возврата центрального вопроса.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201400" cy="12801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937760"/>
            <a:ext cx="107899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D:  что делает AI — ведёт цикл от issue до PR · кто решает — человек: стратегия, приоритеты, approval, merge, прод · где обязателен — на любом необратимом/прод-действии · риск — автономный деструктив без подтверждения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и его методологическая ловушка — в главе. Третья точка возврата.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90672"/>
            <a:ext cx="5971031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mutation-тестирование — в код вносят искусственные дефекты-«мутанты»; mutation score = доля упавших хотя бы на одном тесте.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895344"/>
            <a:ext cx="597103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quality-gate — автоматический порог в CI, ниже которого изменение не проходит.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стандартный каталог-классификатор типов уязвимостей (напр. CWE-89 — SQL-инъекция)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1051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статический анализ кода без запуска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54203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анализ работающего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27355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анализ зависимостей на известные уязвимости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secret-scanning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00507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утёкших ключей / токенов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F0AB00"/>
                </a:solidFill>
                <a:latin typeface="Arial"/>
              </a:rPr>
              <a:t>58%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CVE-номер и точный механизм/хронология — в главе. Полный четвёртый возврат центрального вопроса.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712463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(опрос ~5000 команд)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023360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подряд. Вывод DORA: AI не чинит команду — он усиливает то, что уже есть.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01184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956048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быстрее. Поэтому исторические практики и управление командой не исчезают — они уточняются.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solo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отдать AI, а что писать руками.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1645920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0200" y="1353312"/>
            <a:ext cx="9829800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Простое и повторяемое AI делает отлично. Писать код руками сейчас осмысленно для сложного и нестандартного — там, где цена ошибки и нужный контекст высоки.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9806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Три оси, которые решают (а не сумма баллов):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3581400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an-search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31012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3328416"/>
            <a:ext cx="2712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Цена ошибки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803904"/>
            <a:ext cx="31424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низкая, обратимо — выше автономия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79392"/>
            <a:ext cx="3215640" cy="420624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4279392"/>
            <a:ext cx="299618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высокая, необратимо — руки + человеческий гейт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19" y="3127248"/>
            <a:ext cx="3581400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-compar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4087" y="331012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6151" y="3328416"/>
            <a:ext cx="2712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2375" y="3803904"/>
            <a:ext cx="31424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типовой, знакомый — AI надёжен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5799" y="4279392"/>
            <a:ext cx="3215640" cy="420624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5528" y="4279392"/>
            <a:ext cx="299618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незнакомый, приватный — надёжность AI резко падает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2920" y="3127248"/>
            <a:ext cx="3581400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4088" y="3310128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36151" y="3328416"/>
            <a:ext cx="2712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Повторяемость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2376" y="3803904"/>
            <a:ext cx="31424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повторяемое, по правилу — кандидат на 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05799" y="4279392"/>
            <a:ext cx="3215640" cy="420624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5528" y="4279392"/>
            <a:ext cx="299618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разовое, нестандартное — здесь сильнее человек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92624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047488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Крайний случай: детерминированная, проверяемая, повторяемая задача (парсинг, валидация по схеме, арифметика) → обычный код, без AI вовсе. Полная матрица 5 осей × 4 уровня — в материалах лекции.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Синтез: METR (эксперты медленнее на знакомом сложном), Brooks (рутина ≠ суть), 70/80%-проблема, разрыв SWE-bench Verified ↔ Pro. Полная матрица — в главе.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 Это payoff центрального вопроса.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(~64%)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77724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0744" y="667512"/>
            <a:ext cx="10104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0698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201400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85232"/>
            <a:ext cx="11201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Семинар 4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