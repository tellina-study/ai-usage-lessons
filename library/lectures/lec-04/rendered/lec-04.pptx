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карту, диагностику и разработку лекарств. Дальше — десять минут активной работы.</a:t>
            </a:r>
          </a:p>
          <a:p/>
          <a:p>
            <a:r>
              <a:t>Логика этого раздела простая: мы только что обсудили четыре метрики, по которым оценивается медицинский AI. Сейчас вы возьмёте любой публичный web-чат — ChatGPT, Claude, YandexGPT, GigaChat — и попросите AI объяснить эти метрики. Затем найдёте в ответе одну неточность, одно непроверяемое утверждение или одно слишком абстрактное место.</a:t>
            </a:r>
          </a:p>
          <a:p/>
          <a:p>
            <a:r>
              <a:t>Это упражнение применяет LO4 — критическую оценку AI-ответа на конкретном предметном материале. Цель не «получить правильный ответ от AI». Цель — заметить, где модель уходит от строгости, где даёт цифры без источника, где обтекает специфику. Это навык, который вы будете применять везде, не только в медицине.</a:t>
            </a:r>
          </a:p>
          <a:p/>
          <a:p>
            <a:r>
              <a:t>После упражнения два-три студента читают свои находки, я показываю эталонный ответ — и переходим к финальному разделу про этику.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микро-упражнение — единственное активное взаимодействие студента с AI за всю лекцию, и оно соответствует требованию курса о десяти минутах AI web-chat на занятии. Учебная цель — LO4: применить AI web-chat для разъяснения статистических понятий и критически оценить полученный ответ.</a:t>
            </a:r>
          </a:p>
          <a:p/>
          <a:p>
            <a:r>
              <a:t>Шаг первый, три минуты. Откройте AI web-chat. На лекции у вас должны работать ChatGPT, Claude, YandexGPT или GigaChat — последние два удобны для русскоязычной работы. Введите готовый промпт; можно адаптировать по вкусу: «Объясни мне, что такое sensitivity и specificity для AI-диагностики на конкретном примере, например маммографический скрининг. Объясни как для студента второго курса технического вуза, со знанием базовой теории вероятностей». Этот формат — «объясни как студенту X курса» — один из самых стабильно работающих паттернов общения с LLM.</a:t>
            </a:r>
          </a:p>
          <a:p/>
          <a:p>
            <a:r>
              <a:t>Шаг второй, три минуты. Прочитайте ответ. Отметьте — на бумаге, в notes-app, в комментарии в чате — одно из следующего: одну фактическую неточность; одно неподтверждённое утверждение, которое нельзя проверить; одно место, где объяснение слишком абстрактное и не помогает понять.</a:t>
            </a:r>
          </a:p>
          <a:p/>
          <a:p>
            <a:r>
              <a:t>Шаг третий, четыре минуты. На лекции — два-три студента читают свои находки, лектор показывает свой control-ответ, заранее прогнанный накануне с того же промпта. Дискуссия: что AI сделал хорошо, что — поверхностно или подозрительно.</a:t>
            </a:r>
          </a:p>
          <a:p/>
          <a:p>
            <a:r>
              <a:t>Если вы проходите этот материал в self-study режиме — выполните шаги один–два самостоятельно за пять минут. Главное: paragraph-level critique. «AI отлично объяснил для студента второго курса» — это LLM-паттерн сработал. «AI дал число sensitivity 0.95 без citation» — это анти-паттерн, не верьте автоматически. Эта дисциплина критической оценки — то, что мы будем тренировать весь курс; четвёртое микро-упражнение здесь, Практикум 1 будет на лекции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двенадцать минут на то, что он ломает или может сломать. Этот раздел не критика ради критики, это инженерная гигиена.</a:t>
            </a:r>
          </a:p>
          <a:p/>
          <a:p>
            <a:r>
              <a:t>Четыре темы. Сначала глубокий разбор bias на примере Obermeyer 2019 — статья в Science о том, как коммерческий AI для двухсот миллионов американцев систематически недооценивал тяжесть болезни у Black-пациентов.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Третье —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пять разделов.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заготовка для черновика чек-листа, который вы будете дополнять на Лекции 9 по этике.</a:t>
            </a:r>
          </a:p>
          <a:p/>
          <a:p>
            <a:r>
              <a:t>Затем — закрывающая фраза, возврат к центральному вопросу. И тизер Лекции 6 про производство и сельское хозяйство — где AI работает в другом физическом окружении, на другом масштабе и с другими ставками.</a:t>
            </a:r>
          </a:p>
          <a:p/>
          <a:p>
            <a:r>
              <a:t>И в финале — Q&amp;A. Я заранее приготовил три backup-вопроса, если у вас не возникнет своих — но обычно после такого материала вопросов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4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Курс «AI в разных индустриях»  ·  75 мин  ·  13 мая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868680"/>
            <a:ext cx="10287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0" y="5715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+ ноутбук + стетоскоп — где AI встречает клиническую работу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Стейкс: $22–38 млрд (2025), прогноз &gt; $100 млрд к 2030 (MarketsAndMarkets, Towards Healthcare).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инструктивный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/ фарма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54480"/>
            <a:ext cx="1188720" cy="4800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МОДАЛЬНОСТЬ
▲ изображения /
   сигналы
▼ текст /
   молекулы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379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Фокус лекции — квадранты с золотой подсветкой: AI-диагностика + разработка лекарств.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инструктивный пример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03920" y="5394960"/>
            <a:ext cx="3047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Radiologist + AI workstation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которых поймал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не напуганных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Визуализация: AI+врач &gt; врач. Рассуждения: парадокс augmentation.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1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1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423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39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5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0039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7472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0039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42899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154679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154679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54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0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029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83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5321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Парадокс augmentation — AI не улучшил рассуждения врача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Black-пациентов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776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Фарма-лаборатория — где AI-дизайн встречается с биологией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Микро-упражнение
с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10 минут · ChatGPT/Claude/YandexGPT · применяем LO4 на практике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Используем AI для понимания AI — но проверяем.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Web-чат + критическая оценка ответа.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7498079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5740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Шаг 1  ·  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7744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Открой web-чат (ChatGPT / Claude / YandexGPT / GigaChat). Введи промпт ниже: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1752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Шаг 2  ·  3 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3756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Отметь карандашом: 1 неточность ИЛИ 1 непроверяемое утверждение ИЛИ 1 слишком абстрактное место.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7764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Шаг 3  ·  4 мин — разбор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9768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Лектор спросит — 2–3 студента читают (1 мин). Лектор покажет эталонный ответ.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29200"/>
            <a:ext cx="6949440" cy="10972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6675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Готовый промпт: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66751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Liberation Mono"/>
              </a:rPr>
              <a:t>«Объясни мне, что такое чувствительность и специфичность для AI-диагностики на конкретном примере (скрининг маммографии). Объясни как для студента 2 курса техн. вуза, со знанием базовой теории вероятностей.»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1691640"/>
            <a:ext cx="3657600" cy="45720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9-student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874520"/>
            <a:ext cx="1645920" cy="1097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49640" y="30632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Эталонный ответ (готовится накануне)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49640" y="3520440"/>
            <a:ext cx="3108960" cy="2285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6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3749039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Чувствительность — доля...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959352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...правильно пойманных AI.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169663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TP / (TP + FN).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379976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590288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Специфичность — доля...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800600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...правильно отпущенных.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010912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TN / (TN + FP).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21224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431536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Маммография — пример: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641848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MASAI sens 80.5%, spec 98.5%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585215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Готовится преподавателем накануне.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635508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642823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Цель — критика на уровне абзаца. AI отлично объясняет — это паттерн. AI даёт цифры без источника — антипаттерн.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Этика
и ответственность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Obermeyer bias · NEDA Tessa · Change Healthcare · 4-actor framework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AI-диагноз заканчивается этим — взаимодействием врача с пациентом.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9" name="Picture 8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697479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265176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546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Глубокий разбор: Obermeyer 2019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862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38404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3434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NEDA Tessa + adversarial + 40 млн самодиагностик</a:t>
            </a:r>
          </a:p>
        </p:txBody>
      </p:sp>
      <p:pic>
        <p:nvPicPr>
          <p:cNvPr id="15" name="Picture 14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7492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0880" y="50292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53212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Change Healthcare + рамка 4 актёров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Black-пациентов.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Black: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Black-пациентов: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Black-пациентов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 Art. 14.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тизер Лекции 6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5326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25326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1902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7733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7733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309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70140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0140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6716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7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2547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9123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Микро-упражнение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14954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4954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1530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Этика и
ответственность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37361" y="5349240"/>
            <a:ext cx="1512678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7361" y="5440679"/>
            <a:ext cx="15126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37" y="5806440"/>
            <a:ext cx="143952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чек-листа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Личная версия → Лекция 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заготовка для черновика чек-листа на следующей лекции. Не финальный синтез — заготовка.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48639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— тот, кто берёт ответственность за пациента.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62355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Возврат к центральному вопросу — ответ.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Прозрачность · валидированная популяция · audit-trail — три инженерных принципа в копилку Лекции 9.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основа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8-agricul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280" y="2240280"/>
            <a:ext cx="251968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6576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200" b="0" i="1">
                <a:solidFill>
                  <a:srgbClr val="21295C"/>
                </a:solidFill>
                <a:latin typeface="Arial"/>
              </a:rPr>
              <a:t>  эффективности (российский кейс)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Предиктивное обслуживание · контроль качества · физический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Лекции 9
→ личная версия на Лекции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89320"/>
            <a:ext cx="1124712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062472"/>
            <a:ext cx="108813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Опционально: найти 1 случай медицинского AI в новостях + применить рамку 4 актёров. Не оценивается; тренировка навыка.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lucide-help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737360"/>
            <a:ext cx="1371600" cy="1371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840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1. Кто изменил мнение о медицинском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102352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023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2. Чей знакомый получал AI-диагноз? Поделитесь.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69864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769864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3. Стартап в медицинском AI — какой первый вопрос про валидацию?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