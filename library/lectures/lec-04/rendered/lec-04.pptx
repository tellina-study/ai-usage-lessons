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один конкретный пример того, что AI делает в медицине сегодня. На сайте `mlmed.org/tools/xray/` открыт публичный инструмент Chester AI, разработанный группой Cohen et al. в Mila Quebec и McGill University. Если перетащить в окно браузера любой рентгеновский снимок грудной клетки, модель примерно за три секунды выдаёт вероятностный профиль по восемнадцати патологиям — пневмония, кардиомегалия, ателектаз, плевральный выпот и так далее — и тепловую карту, показывающую, в какие области изображения «смотрела» модель.</a:t>
            </a:r>
          </a:p>
          <a:p/>
          <a:p>
            <a:r>
              <a:t>Три свойства этой демонстрации задают тон лекции. Во-первых, модель работает локально в браузере: изображение не загружается на сервер, не покидает устройство. Это design choice разработчиков, отражающий тот факт, что медицинские данные — особая категория, требующая privacy-by-design. Во-вторых, это не LLM, а narrow computer vision: конкретная свёрточная архитектура, потомок CheXNet (Rajpurkar et al. 2017), обученная на сотнях тысяч размеченных рентгеновских снимков. ChatGPT не умеет ставить метку патологии на рентгене за три секунды; Chester умеет, но не умеет писать стихи. Каждая система — узкая. И в-третьих, это уровень технологий 2017–2024 годов в рутинно работающей сегодня форме: пять лет назад такая возможность была демонстрационной, сейчас — производственной. AI в медицине, о котором мы будем говорить в этой главе, — это технологически зрелое поле, а не лабораторный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Он короткий по смыслу: курс, номер лекции, тема, длительность, дата. Шаблон визуально совпадает с другими лекциями курса — это часть continuity, к которой студент уже привык. Никакого дополнительного контента здесь нет; задача слайда — обозначить точку входа в лекцию и быстро перейти к опросу. Лектор задерживается на нём ровно столько, сколько нужно, чтобы аудитория сориентировалась, и сразу переходит к слайду 3 с тремя вопросами для разогрева. Если читатель проходит лекцию в self-study режиме — этот слайд можно пропускать сразу после фиксации того, что это четвёртая лекция курса «AI в разных индустриях».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материал, попробуйте оценить три цифры — это короткий разогрев и одновременно подготовка к тому, что мы увидим на следующем слайде. Первый вопрос про FDA: сколько медицинских устройств с AI или ML-функциональностью официально одобрено в США к концу 2025 года? Вариантов четыре — меньше ста, от ста до пятисот, от пятисот до тысячи, больше тысячи. Не подсказывайте друг другу — просто поднимите руку на тот вариант, который кажется правильным. Запомните своё число — мы сравним с реальностью через минуту.</a:t>
            </a:r>
          </a:p>
          <a:p/>
          <a:p>
            <a:r>
              <a:t>Второй вопрос — личный. Получали ли вы за последний год медицинский результат, в котором участвовал AI? Это может быть КТ, рентген, ЭКГ, дерматологический скан, маммография — словом, любой случай, когда вы знаете или подозреваете, что AI-модель смотрела на ваши данные. Поднимите руку, если да. На третий вопрос — про доверие AI-диагнозу больше, чем человеческому, — большинство людей отвечают «нет», и это нормальная интуиция. Это хороший вход в разговор об ответственности, к которой мы вернёмся в пятом разделе лекции. Ваши ответы сейчас — стартовая точка, реальные данные я покажу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Ответы на первый вопрос. К концу 2025 года FDA авторизовало одну тысячу четыреста пятьдесят одно AI и ML-enabled medical device кумулятивно: двести пятьдесят восемь новых одобрений в 2024 году плюс двести девяносто пять новых в 2025. Примерно 76 процентов этих устройств относятся к радиологии — компьютерное зрение для рентгена, КТ, МРТ, маммографии, дерматологии. LLM в FDA-списке на 2026 год — единицы. Это и есть ответ на вопрос «что именно работает»: преимущественно computer vision для медицинских изображений.</a:t>
            </a:r>
          </a:p>
          <a:p/>
          <a:p>
            <a:r>
              <a:t>В России операционный масштаб AI-диагностики тоже значителен. Платформа mosmed.ai, изначально запущенная как Московский эксперимент в ноябре 2019 года, за пять лет работы обработала более четырнадцати миллионов исследований; в мае 2024 года она получила федеральный запуск под названием MosMedAI и теперь покрывает семьдесят четыре региона России. К платформе подключено более двух тысяч медицинских организаций; на ней развёрнуто около семидесяти AI-сервисов на сорока трёх клинических областях, обработано более восемнадцати миллионов изображений, разработаны одиннадцать национальных стандартов.</a:t>
            </a:r>
          </a:p>
          <a:p/>
          <a:p>
            <a:r>
              <a:t>Этот двойной сигнал — массовое внедрение в США и в России одновременно — показывает: AI в медицине перешёл из стадии лабораторного эксперимента в стадию производственной инфраструктуры. Но как мы увидим дальше, «production» не означает «решены все проблемы»; именно потому, что это масштаб, ошибки и злоупотребления тоже становятся массовыми.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с предыдущего слайда — четырнадцать миллионов исследований mosmed.ai, тысяча четыреста пятьдесят один FDA-устройство — это масштаб индустрии. Но за каждым из этих чисел стоит инженерный вопрос: какое именно обещание сбылось, и где остаётся пространство для ошибки. Рынок AI в здравоохранении оценивается в двадцать два–тридцать восемь миллиардов долларов в 2025 году по разным источникам, с прогнозом до ста миллиардов к 2030 году. Параллельно с этим растёт и число инцидент-репортов о AI-bias и медицинских ошибках. Этот двойной сигнал и формирует центральный вопрос лекции.</a:t>
            </a:r>
          </a:p>
          <a:p/>
          <a:p>
            <a:r>
              <a:t>На лекции 1 мы спрашивали: где AI работает, где — нет. Сегодня углубляемся: даже там, где AI работает, остаются вопросы ответственности. Эта лекция построена в четыре блока: сначала карта AI в медицине, потом AI-диагностика как зеркало методических проблем, затем drug discovery как баланс сбывшихся и не сбывшихся обещаний, и в конце — этика, безопасность и ответственность. На лекции 9 «Этика и регулирование» вы соберёте из этих четырёх блоков три принципа ответственного использования AI — они станут входом в черновик чек-листа, который вы доработаете на лекции 14. Сегодняшняя лекция — это материал для синтеза, не сам синтез.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в медицине — это не одна индустрия и не один стек технологий. Удобно рассмотреть четыре типа применений на двух осях. Первая ось — modality, или модальность данных: изображение и сигнал против текста и молекулы. Image- и signal-задачи — рентген, КТ, МРТ, ЭКГ, дерматологический скан — обрабатываются компьютерным зрением: CNN, Vision Transformer, специализированные foundation-модели вроде MedCLIP и BiomedCLIP. Text- и molecule-задачи — клинические записи, генерация молекул, прогнозирование структуры белка — обрабатываются другими архитектурами: трансформерами для текста, генеративной химией типа Insilico Chemistry42, AlphaProteo для молекул, AlphaFold для структур белков.</a:t>
            </a:r>
          </a:p>
          <a:p/>
          <a:p>
            <a:r>
              <a:t>Вторая ось — scope: один пациент против популяции или фармы. Single-patient задачи — это диагноз или назначение конкретному человеку. Population-задачи — это анализ когорт и индустриальные процессы: программы скрининга, drug discovery, эпидемиологический мониторинг.</a:t>
            </a:r>
          </a:p>
          <a:p/>
          <a:p>
            <a:r>
              <a:t>Пересечение двух осей даёт четыре ячейки. AI-диагностика — самая массовая (76 процентов FDA-списка) — это mosmed.ai, IDx-DR, Aidoc, Care Mentor AI. Population imaging analytics — мониторинг скрининговых программ. Персонализированная медицина — genomic AI и clinical decision support. Drug discovery — AlphaFold, Insilico, Generate Biomedicines. Эта классификация — не визуальный декор: modality определяет ML-stack, а scope определяет regulatory pathway (single patient = medical device по логике FDA SaMD; population analytics — другой регуляторный путь). Сегодня мы углубляемся в левую колонку (диагностика) и нижнюю-правую (drug discovery).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Десятилетняя динамика FDA-одобрений AI и ML-медицинских устройств — это самая прозрачная картина зрелости поля, доступная инженеру в открытых данных. В 2015 году в списке FDA было примерно шесть AI/ML-устройств за год. Между 1995 и 2015 годами кумулятивно — около тридцати трёх устройств, то есть около трёх процентов от текущего объёма. К 2020 году годовой приток вырос до шестидесяти четырёх устройств. Перелом приходится на 2022–2024 годы: в 2023 одобрено около двухсот двадцати одного нового устройства, в 2024 — двести пятьдесят восемь, в 2025 — двести девяносто пять. Кумулятивно к концу 2025 года в списке тысяча четыреста пятьдесят одно AI/ML-устройство.</a:t>
            </a:r>
          </a:p>
          <a:p/>
          <a:p>
            <a:r>
              <a:t>Два контекстных факта. Первое: около семидесяти шести процентов этих устройств относятся к радиологии — это computer vision для рентгена, КТ, МРТ, маммографии, ультразвука. Следующие по объёму специальности — кардиология и неврология; LLM-based устройства составляют единицы и пока редкость в FDA-списке. Второе: список FDA — публичный и обновляется примерно поквартально. Любой инженер может проверить статус конкретного устройства по идентификатору 510(k) или De Novo.</a:t>
            </a:r>
          </a:p>
          <a:p/>
          <a:p>
            <a:r>
              <a:t>«Тысяча четыреста пятьдесят один» — это не «AI в каждой клинике» и не «AI заменил рентгенологов». Это означает, что AI-диагностика перешла из стадии лабораторного эксперимента в стадию производственной инфраструктуры — и именно поэтому методические и регуляторные практики, о которых пойдёт речь в следующих разделах, становятся профессионально обязательными.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Возникает разумный вопрос: я не врач, зачем мне глубоко погружаться именно в медицинский AI? Ответ — три причины, каждая из которых формирует профессиональный навык, переносимый дальше.</a:t>
            </a:r>
          </a:p>
          <a:p/>
          <a:p>
            <a:r>
              <a:t>Первая причина — высокие ставки. Ошибка модели в кредитном скоринге — это финансовый ущерб; ошибка в маркетинговой рекомендации — упущенная конверсия. Ошибка медицинской AI-модели — пропущенный диагноз, лишняя биопсия, неправильное назначение. Это качественно другая стоимость ошибки, и она заставляет инженера думать о вещах, которые в менее регулируемых индустриях можно было откладывать: калибровка confidence-score, audit-trail, post-market monitoring, fallback-сценарии, интерпретируемость для конечного пользователя.</a:t>
            </a:r>
          </a:p>
          <a:p/>
          <a:p>
            <a:r>
              <a:t>Вторая причина — строгое регулирование. Медицинский AI — это первое поле, в котором инженер встречает реальную нормативку: FDA SaMD framework, EU AI Act с medical AI в категории high-risk, Росздравнадзор. Эти регуляторы требуют конкретных процессов разработки и валидации, и за нарушения предусмотрены санкции. Если инженер научится проектировать AI под эти требования, он автоматически освоит навыки, которые пригодятся в финансах (PCI DSS, ФЗ-152), в автомобильной (ISO 26262), в авиации (DO-178C).</a:t>
            </a:r>
          </a:p>
          <a:p/>
          <a:p>
            <a:r>
              <a:t>Третья причина — прозрачная operational scale. В отличие от индустриальных проектов, где «увеличение продуктивности на X%» оценивается косвенно, медицинская диагностика даёт прямые измеримые метрики: количество исследований, чувствительность скрининга, время до диагноза, доля ложноположительных. mosmed.ai за пять лет обработал четырнадцать миллионов исследований — это не маркетинговая оценка, это число actual scan'ов с подтверждаемой статистикой. И ещё одна деталь, делающая timeline actionable: 2 августа 2026 года вступает в силу первый этап обязательств EU AI Act по high-risk AI — через два с половиной месяца после нашей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— это в первую очередь computer vision-классификация: на вход подаётся медицинское изображение, на выход — вероятностное распределение по классам патологий и тепловая карта или bounding box, показывающие, где модель «увидела» признак. Этот pipeline укладывается в четыре стадии.</a:t>
            </a:r>
          </a:p>
          <a:p/>
          <a:p>
            <a:r>
              <a:t>Первая стадия — input. Сырое медицинское изображение: DICOM-файл с КТ-аппарата, JPEG-фото дермато-скана, PNG-маммограмма. Изображение проходит препроцессинг — ресайз, нормализация интенсивности, иногда деперсонализация (удаление PHI-меток с пиксельного уровня).</a:t>
            </a:r>
          </a:p>
          <a:p/>
          <a:p>
            <a:r>
              <a:t>Вторая стадия — модель. Исторически CNN: ResNet, EfficientNet. С 2024 года всё чаще Vision Transformer и специализированные foundation models — MedCLIP, BiomedCLIP, RoentGen. Обычная схема — pre-trained на ImageNet, затем fine-tuned на медицинском датасете.</a:t>
            </a:r>
          </a:p>
          <a:p/>
          <a:p>
            <a:r>
              <a:t>Третья стадия — output. Probability score от нуля до единицы для каждого класса патологий и тепловая карта, чаще всего сгенерированная техникой Grad-CAM (Selvaraju et al. 2017), показывающая, какие пиксели вносили наибольший вклад в предсказание. Это попытка дать врачу explainability — неполную, но лучше, чем чёрный ящик.</a:t>
            </a:r>
          </a:p>
          <a:p/>
          <a:p>
            <a:r>
              <a:t>Четвёртая стадия — workflow. Врач видит изображение, heatmap и probability score и принимает диагностическое решение. AI здесь — decision support, не decision maker.</a:t>
            </a:r>
          </a:p>
          <a:p/>
          <a:p>
            <a:r>
              <a:t>Историческая референсная модель — CheXNet (Rajpurkar et al. 2017), 121-слойная DenseNet, обученная классифицировать четырнадцать патологий грудной клетки. CheXNet был одним из первых широко известных результатов «AI выходит на уровень специалиста». Современные модели — Vision Transformers и multimodal foundation models — превосходят CheXNet по точности и универсальности, но методологическая основа осталась 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медицинского AI обычная accuracy — недостаточная метрика. Нужно различать четыре связанных понятия, и понимание разницы — minimal due diligence для оценки любой медицинской CV-модели.</a:t>
            </a:r>
          </a:p>
          <a:p/>
          <a:p>
            <a:r>
              <a:t>Sensitivity, или чувствительность, — это доля больных людей, которых AI правильно поймал: TP делённое на TP плюс FN. Чувствительность критична для скрининга, где пропустить больного — катастрофа: рак на ранней стадии, инсульт, инфаркт. Specificity, или специфичность, — это доля здоровых, которых AI правильно не напугал: TN на TN плюс FP. Специфичность критична для confirmation-задач, где ложноположительный диагноз сам по себе наносит вред: биопсия, химиотерапия, паника пациента.</a:t>
            </a:r>
          </a:p>
          <a:p/>
          <a:p>
            <a:r>
              <a:t>Prevalence — распространённость болезни в популяции. Это не свойство модели, а свойство популяции, на которой модель применяется. PPV, или positive predictive value, — это вероятность реальной болезни при положительном AI-ответе: TP на TP плюс FP. Через формулу Байеса PPV выражается через sens, spec и prev напрямую.</a:t>
            </a:r>
          </a:p>
          <a:p/>
          <a:p>
            <a:r>
              <a:t>Главный нюанс. Sensitivity и specificity не зависят от prevalence — это свойства модели. PPV — зависит. Возьмём пример. CheXNet (Rajpurkar 2017) на pneumonia detection даёт примерно sens 0.94–0.96 и spec 0.89–0.93. В больничной выборке с prevalence 30 процентов PPV получается около семидесяти восьми процентов — клинически приемлемо. Если ту же модель применить как screening в общей популяции с prevalence один процент — PPV падает до примерно восьми процентов. Та же модель, та же accuracy — но восемь из ста положительных результатов действительно больны, остальные девяносто два — false positives. «94% accuracy» в маркетинге и «8% PPV в screening» — два очень разных восприятия одной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частых вопросов в популярной прессе — «AI уже превзошёл врачей?» Корректный ответ — «зависит от задачи, и нюансов больше, чем популярная пресса передаёт». Три эталонных исследования дают согласованную картину с разными ответами для разных задач.</a:t>
            </a:r>
          </a:p>
          <a:p/>
          <a:p>
            <a:r>
              <a:t>Liu и соавторы (2019, Lancet Digital Health) — первый крупный мета-анализ AI-диагностических исследований, четырнадцать проспективных работ. Pooled sensitivity AI — восемьдесят семь процентов, у клиницистов — восемьдесят пять. Разница есть, но скромная; исторический контекст «AI на уровне врача» для некоторых задач уже к 2019 году.</a:t>
            </a:r>
          </a:p>
          <a:p/>
          <a:p>
            <a:r>
              <a:t>MASAI Sweden RCT 2024–2025 — самое сильное peer-reviewed свидетельство клинической пользы AI-маммографии на сегодня. Дизайн — рандомизированное контролируемое исследование, более ста тысяч шведских женщин случайно распределялись на стандартное «двойное чтение» (два радиолога) или на AI-поддерживаемое чтение (один радиолог + AI). Чувствительность AI-поддерживаемого скрининга — восемьдесят целых пять десятых процента против семидесяти трёх и восьми у стандартного при одинаковой специфичности. Cancer detection rate — шесть и четыре против пяти на тысячу. Снижение нагрузки радиолога на сорок четыре процента. В follow-up 2025 года — снижение interval cancer rate на двенадцать процентов: дополнительные раки, найденные AI, — клинически значимые, не overdiagnosis.</a:t>
            </a:r>
          </a:p>
          <a:p/>
          <a:p>
            <a:r>
              <a:t>Goh и соавторы (JAMA Network Open, октябрь 2024) — про диагностическое мышление, не imaging. Пятьдесят врачей с GPT-4 или без. Медиана score — семьдесят шесть процентов с GPT-4 против семидесяти четырёх без; разница незначима. Сюрприз: GPT-4 alone давал более высокий score, чем доктор-плюс-GPT-4. Этот феномен называется augmentation gap: пользователи недозагружают возможности AI, держат его на роли «второго мнения», которое можно проигнорировать. Вывод для инженера: вопрос «AI или врач» — неправильный; правильные — «какая задача?», «какой workflow?», «как AI и врач интегрированы?».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Концентрированный пример того, как AI-диагностическое обещание сбылось в operational форме, — московская платформа mosmed.ai. Эксперимент по применению искусственного интеллекта в лучевой диагностике начат в Москве в ноябре 2019 года как городской проект Департамента здравоохранения Москвы и НПКЦ диагностики и телемедицины. В мае 2024 года проект запущен на федеральном уровне как MosMedAI.</a:t>
            </a:r>
          </a:p>
          <a:p/>
          <a:p>
            <a:r>
              <a:t>К концу 2025 — началу 2026 годов операционные метрики платформы складываются в production-картину. За пять лет работы AI проанализировал более четырнадцати миллионов исследований. К платформе подключено более двух тысяч медицинских организаций в семидесяти четырёх регионах России. Обработано более восемнадцати миллионов медицинских изображений, развёрнуто около семидесяти AI-сервисов на сорока трёх клинических областях — от рентгенографии грудной клетки и КТ лёгких (включая COVID-релевантные сервисы 2020–2022 годов) до маммографии, остеоденситометрии и КТ головного мозга. На основе опыта проекта разработано одиннадцать национальных стандартов и около трёхсот эталонных датасетов для бенчмаркинга AI-моделей.</a:t>
            </a:r>
          </a:p>
          <a:p/>
          <a:p>
            <a:r>
              <a:t>Архитектурно mosmed.ai — federated AI-platform: разные vendor-модели от Сбер AI Lab, Care Mentor AI, Третьего Мнения, Webiomed и других проходят через единый деплоймент, единую систему бенчмаркинга и единый интерфейс врача. Это и есть operational AI-инфраструктура: не один монопольный поставщик, а маркетплейс верифицированных моделей. Здесь — обещание AI-диагностики сбылось в operational форме (массовый деплоймент, измеримые метрики, прозрачная статистика). На следующих слайдах мы увидим: обещание drug discovery (Insilico Rentosertib) — частично сбылось в peer-reviewed форме; обещание полностью автономного AI-врача — нет, и это правильно.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хорошо работает в распределении, на котором обучена. За пределами этого распределения она может проваливаться несимметрично — и эти провалы не bug, а consequence design choices в подборе тренировочных данных. Два классических кейса.</a:t>
            </a:r>
          </a:p>
          <a:p/>
          <a:p>
            <a:r>
              <a:t>Первый — дерматология и тон кожи. Большинство публично доступных дерматологических AI-датасетов, включая ISIC challenge archive — основной открытый ресурс, — исторически перепредставляли пациентов со светлой кожей из США, Европы и Австралии. Daneshjou и соавторы в 2022 году (Science Advances) протестировали несколько ранее опубликованных дерматологических алгоритмов на разнообразной по тонам кожи выборке и обнаружили: на изображениях кожи с тёмными тонами Фитцпатрика V и VI чувствительность падала на двадцать–тридцать процентов по сравнению со светлыми тонами I–III. Важный нюанс: дерматологи-люди тоже работали хуже на тёмной коже, но fine-tuning на разнообразном датасете DDI закрыл этот разрыв для AI, и fine-tuned модели в итоге превзошли дерматологов в обнаружении злокачественных образований на тёмной коже. Source bias — не моральная категория, а технический следствие выбора датасета; и он решаем.</a:t>
            </a:r>
          </a:p>
          <a:p/>
          <a:p>
            <a:r>
              <a:t>Второй — пульсоксиметры. Это случай, в котором bias проникает в AI через входной сенсор, а не через тренировочный датасет AI как такового. Пульсоксиметры систематически переоценивают SpO2 у пациентов с тёмной кожей — гипоксия пропускается чаще (Sjoding et al. 2020). FDA выпустило safety communication по этой проблеме в 2021 году. AI-системы, использующие SpO2 как input feature, наследуют этот сенсорный bias.</a:t>
            </a:r>
          </a:p>
          <a:p/>
          <a:p>
            <a:r>
              <a:t>Инженерное следствие для обоих кейсов одинаковое: validation set должен покрывать deployment population. Это не academic point — это профессиональная ответственность.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хороший момент — остановиться и вернуться к центральному вопросу. На первом слайде мы видели Chester AI, который ставит метку патологии на рентгене за три секунды. На седьмом слайде — что таких систем у FDA одобрено уже почти полторы тысячи. На двенадцатом — что mosmed.ai обработал четырнадцать миллионов исследований за пять лет в семидесяти четырёх регионах России. По первой части обещания AI в медицине ответ предварительный есть: AI-диагностика сбылась в operational форме, и качество подтверждено peer-reviewed RCT уровня MASAI Sweden.</a:t>
            </a:r>
          </a:p>
          <a:p/>
          <a:p>
            <a:r>
              <a:t>Дальше — drug discovery. Маркетинговое обещание 2020–2022 годов было простым и громким: «AI ускорит разработку лекарств в десять раз». Что из этого реально к 2026 году, на момент нашей лекции? Ответ распадается на две части. Первая — что именно AI ускоряет в pipeline; вторая — два конкретных кейса с противоположными исходами, Insilico Rentosertib и DSP-1181, оба важных по разным причинам. К концу третьего раздела мы должны видеть, какие из обещаний имели под собой verifiable evidence, а какие были маркетинговой риффрафикой. Это и есть подготовка к финальной части — об ответственности и регулировании.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обсуждать конкретные истории успехов и неудач AI в drug discovery, нужно понимать pipeline индустрии. Традиционная разработка нового лекарства — это путь длиной десять-пятнадцать лет и стоимостью один–два миллиарда долларов на каждый одобренный препарат. Большинство кандидатов отсеивается по пути: примерный шанс перейти от Phase 1 до одобренного препарата составляет около шести и семи десятых процента.</a:t>
            </a:r>
          </a:p>
          <a:p/>
          <a:p>
            <a:r>
              <a:t>Pipeline разделяется на пять условных стадий. Первая — target identification. Какой биологический белок-мишень атаковать для лечения болезни? Здесь AI применяется для прогнозирования структуры белка (AlphaFold) и для дизайна белков-связывающих молекул (AlphaProteo). Вторая — hit discovery. Поиск молекулы-кандидата с initial activity signal. «Hit» — это молекула с начальным сигналом активности против цели. Здесь работают generative chemistry-модели: Insilico Chemistry42, Exscientia, Generate Biomedicines. Третья — lead optimization. «Lead» — это hit, доведённый до preclinical-readiness: улучшенная аффинность, селективность, стабильность. Между hit и lead — годы лабораторной работы; здесь AI ассистирует через симуляцию плюс ML. Четвёртая — preclinical: эксперименты на клетках и животных, ADMET-моделирование. Пятая — clinical Phase I, II, III: эксперименты на людях. Phase 1 — safety на малой когорте; Phase 2 — efficacy и dose-finding на средней; Phase 3 — confirmatory на большой.</a:t>
            </a:r>
          </a:p>
          <a:p/>
          <a:p>
            <a:r>
              <a:t>И главный вывод: AI ускоряет стадии один–три значительно — с четырёх-пяти лет до двенадцати-восемнадцати месяцев в лучших случаях. Стадии четыре–пять остаются доменом биологии, а не алгоритма. Привычная фраза «AI ускорит drug в десять раз» смешивает две разные claim: AI ускоряет design — verified; AI ускоряет approval — не verified, потому что восемьдесят процентов drug timeline — это clinical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Самое заметное достижение AI в drug discovery за последние два года — линейка foundation models DeepMind для биологии. Эта линейка получила половину Нобелевской премии по химии 2024 года: Demis Hassabis и John Jumper за AlphaFold разделили её с David Baker за computational protein design в Розетте.</a:t>
            </a:r>
          </a:p>
          <a:p/>
          <a:p>
            <a:r>
              <a:t>AlphaFold 2 (2021) решила пятидесятилетнюю задачу — предсказание трёхмерной структуры белка по аминокислотной последовательности. К 2024 году в открытой AlphaFold Protein Structure Database — более двухсот миллионов структур белков. База открыта и бесплатна, доступна по адресу alphafold.ebi.ac.uk. DeepMind также заявляет о более чем двух миллионах исследователей-пользователей; эта последняя цифра — self-reported industry metric, не peer-reviewed, поэтому мы её приводим с явной атрибуцией.</a:t>
            </a:r>
          </a:p>
          <a:p/>
          <a:p>
            <a:r>
              <a:t>AlphaFold 3 (Nature, 8 мая 2024) — diffusion-based архитектура, расширяющая возможности от чисто белков к биомолекулярным комплексам: protein–DNA, protein–RNA, protein–ligand, ion. Улучшение точности примерно на пятьдесят процентов на бенчмарке PoseBusters для protein-ligand interactions — это первый случай, когда AI-система превзошла classical physics-based методы докинга, основной инструмент computational drug discovery последних тридцати лет.</a:t>
            </a:r>
          </a:p>
          <a:p/>
          <a:p>
            <a:r>
              <a:t>AlphaProteo (DeepMind, 5 сентября 2024) — семейство ML-моделей для de novo дизайна белковых binders. По данным DeepMind: восемьдесят восемь процентов success rate для целевого белка BHRF1; улучшение аффинности в три–триста раз против лучших ранее доступных методов на семи белковых мишенях; первый AI-сгенерированный binder для VEGF-A. Caveat — независимая репликация в других лабораториях публично пока не зафиксирована, поэтому это DeepMind's own claim, а не консенсусный peer-reviewed результат. Важная инженерная деталь: AlphaFold предсказывает структуру; drug discovery требует ещё lead optimization, ADMET, валидации. Это accelerator одной стадии, не replacement всего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Insilico Medicine Rentosertib (внутренний код ISM001-055 / INS018_055) — на момент мая 2026 года первый AI-designed препарат с peer-reviewed positive Phase IIa readout, опубликованный в Nature Medicine в июне 2025 года. Дизайн исследования: Phase IIa рандомизированное двойное-слепое плацебо-контролируемое испытание (NCT05938920), семьдесят один пациент с идиопатическим лёгочным фиброзом — IPF, серьёзное хроническое заболевание лёгких с прогрессирующим рубцеванием — в двадцати одном клиническом центре в Китае. Препарат — TNIK inhibitor; TNIK — киназа, играющая роль в фиброгенезе.</a:t>
            </a:r>
          </a:p>
          <a:p/>
          <a:p>
            <a:r>
              <a:t>В группе дозы шестьдесят миллиграммов один раз в день в течение двенадцати недель средняя динамика форсированной жизненной ёмкости лёгких составила плюс девяносто восемь и четыре десятых миллилитра против минус двадцать целых трёх десятых в плацебо-группе. Клинически значимая разница около ста восемнадцати миллилитров: для пациентов с IPF позитивная динамика FVC — primary endpoint большинства фазных исследований этой нозологии. Наиболее частые побочные эффекты — диарея и отклонения функции печени, по четырнадцать и восемь десятых процента соответственно в группе шестидесяти миллиграммов.</a:t>
            </a:r>
          </a:p>
          <a:p/>
          <a:p>
            <a:r>
              <a:t>Что это значит для нарратива «AI ускоряет drug discovery». Insilico заявляет, что путь от target identification (TNIK как мишень) до preclinical candidate занял примерно восемнадцать месяцев против традиционных четырёх-пяти лет. Эта оценка хронологии — self-reported (опирается на корпоративный timeline Insilico, не verifiable независимо). Verifiable — сам факт публикации в Nature Medicine с положительным первичным эндпойнтом. Это качественный сдвиг по сравнению с пресс-релизами и первая peer-reviewed clinical proof-of-concept для AI-driven drug discovery.</a:t>
            </a:r>
          </a:p>
          <a:p/>
          <a:p>
            <a:r>
              <a:t>Инженерный урок: AI ускорил design — это verifiable. Clinical efficacy — отдельная задача, отдельная биология. Phase 3 для Rentosertib ещё впереди, и девяносто процентов clinical attrition rate в индустрии — статистика, которую AI не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success-историей Rentosertib важно рассмотреть и обратный сценарий — препарат, на который десять лет назад указывали как «доказательство AI-революции в drug discovery» и который не дошёл до пациентов. Это DSP-1181.</a:t>
            </a:r>
          </a:p>
          <a:p/>
          <a:p>
            <a:r>
              <a:t>В январе 2020 года японская Sumitomo Dainippon Pharma и британская AI-биотех Exscientia объявили о запуске Phase 1 испытаний нового препарата для обсессивно-компульсивного расстройства. Заявлено: путь от target identification до Phase 1 entry занял около двенадцати месяцев против традиционных четырёх–пяти лет для аналогичных задач. Препарат был назван «первым AI-designed drug в clinical trials» и стал главным маркетинговым примером для индустрии в 2020–2022 годах.</a:t>
            </a:r>
          </a:p>
          <a:p/>
          <a:p>
            <a:r>
              <a:t>Что произошло дальше. В 2022 году Phase 1 в Японии была остановлена. Причина discontinuation публично не раскрыта — источники указывают на возможную комбинацию efficacy, safety или business decision, но без специфики. На май 2026 года глобальный R&amp;D-статус DSP-1181 в Synapse Drug Profile зафиксирован как Discontinued.</a:t>
            </a:r>
          </a:p>
          <a:p/>
          <a:p>
            <a:r>
              <a:t>Инженерный урок из этого кейса. AI ускорил design phase — это verifiable, эта часть работает. Но clinical efficacy — отдельная задача, отдельная биология. Маркетинговое обещание «AI drug = быстро + эффективно» — это две объединённые в рекламе claim'ы, которые в реальности независимы. AI не сделал DSP-1181 эффективным; AI ускорил поиск кандидата, а кандидат не показал ожидаемого клинического результата.</a:t>
            </a:r>
          </a:p>
          <a:p/>
          <a:p>
            <a:r>
              <a:t>Это полезный антипод Rentosertib. Insilico показал, что AI-design'ed препарат может добраться до peer-reviewed Phase IIa с положительным эндпойнтом. DSP-1181 показал, что AI-design'ed препарат может не добраться до пациента. Оба случая совместимы с реальностью: около девяноста процентов clinical attrition rate в индустрии — статистика, на которую AI не влияет. Если вы будете строить AI для drug discovery — две claim'ы должны быть отделены: «ускоряем design» — техническая мера; «повышаем approval probability» — клинико-биологическая.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трёх крупных юрисдикциях медицинский AI классифицирован как high-risk категория. Подходы отличаются процессами, а не принципами.</a:t>
            </a:r>
          </a:p>
          <a:p/>
          <a:p>
            <a:r>
              <a:t>В США регулятор — FDA. Базовая категория — SaMD (Software as Medical Device), и поверх неё — AI/ML-specific framework. Ключевое нововведение: Predetermined Change Control Plan, или PCCP, финальная гайданс выпущена 4 декабря 2024 года. Проблема, которую он решает: классическое medical device одобрение — это one-and-done, после одобрения изменения требуют новой submission. AI-модели эволюционируют непрерывно. До PCCP каждое обновление AI-модели требовало new FDA submission, занимающую двенадцать–восемнадцать месяцев. С PCCP vendor заранее декларирует, какие изменения допустимы, и FDA pre-authorizes эти изменения — vendor может обновлять модель в production без full re-submission. Это первый продакшн-grade CI/CD-framework для medical AI.</a:t>
            </a:r>
          </a:p>
          <a:p/>
          <a:p>
            <a:r>
              <a:t>В Европе — EU AI Act (Регламент 2024/1689). Medical AI попадает в категорию high-risk по Article 6 + Annex III. Важные даты: 2 августа 2026 года вступают в силу обязательства для Annex III high-risk не-MDR систем — это через два с половиной месяца после нашей лекции. 2 августа 2027 года — для MDR-regulated medical AI, то есть для большинства клинических устройств. Vendors всех категорий готовятся одновременно.</a:t>
            </a:r>
          </a:p>
          <a:p/>
          <a:p>
            <a:r>
              <a:t>В России регулятор — Росздравнадзор и ВНИИИМТ. К середине 2026 года зарегистрировано пятьдесят семь AI-медизделий: пятьдесят два российских и пять иностранных. Expedited procedure для AI-медизделий действует с 1 марта 2025 года (ПП РФ № 1684); первый зарегистрированный AI software — Webiomed, 3 апреля 2020 года. Российская специфика — обязательная передача данных в АИС Росздравнадзора и data localization по ФЗ-23, действующая с 1 июля 2025 года. Инженерный вывод: если проектируете AI для medical device, проектируйте сразу с PCCP в уме — data drift, retraining triggers, threshold updates должны быть планированы ex 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микро-упражнение — единственное активное взаимодействие студента с AI за всю лекцию, и оно соответствует требованию курса о десяти минутах AI web-chat на занятии. Учебная цель — LO4: применить AI web-chat для разъяснения статистических понятий и критически оценить полученный ответ.</a:t>
            </a:r>
          </a:p>
          <a:p/>
          <a:p>
            <a:r>
              <a:t>Шаг первый, три минуты. Откройте AI web-chat. На лекции у вас должны работать ChatGPT, Claude, YandexGPT или GigaChat — последние два удобны для русскоязычной работы. Введите готовый промпт; можно адаптировать по вкусу: «Объясни мне, что такое sensitivity и specificity для AI-диагностики на конкретном примере, например маммографический скрининг. Объясни как для студента второго курса технического вуза, со знанием базовой теории вероятностей». Этот формат — «объясни как студенту X курса» — один из самых стабильно работающих паттернов общения с LLM.</a:t>
            </a:r>
          </a:p>
          <a:p/>
          <a:p>
            <a:r>
              <a:t>Шаг второй, три минуты. Прочитайте ответ. Отметьте — на бумаге, в notes-app, в комментарии в чате — одно из следующего: одну фактическую неточность; одно неподтверждённое утверждение, которое нельзя проверить; одно место, где объяснение слишком абстрактное и не помогает понять.</a:t>
            </a:r>
          </a:p>
          <a:p/>
          <a:p>
            <a:r>
              <a:t>Шаг третий, четыре минуты. На лекции — два-три студента читают свои находки, лектор показывает свой control-ответ, заранее прогнанный накануне с того же промпта. Дискуссия: что AI сделал хорошо, что — поверхностно или подозрительно.</a:t>
            </a:r>
          </a:p>
          <a:p/>
          <a:p>
            <a:r>
              <a:t>Если вы проходите этот материал в self-study режиме — выполните шаги один–два самостоятельно за пять минут. Главное: paragraph-level critique. «AI отлично объяснил для студента второго курса» — это LLM-паттерн сработал. «AI дал число sensitivity 0.95 без citation» — это анти-паттерн, не верьте автоматически. Эта дисциплина критической оценки — то, что мы будем тренировать весь курс; четвёртое микро-упражнение здесь, Практикум 1 будет на лекции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медицинском AI ставки максимальны: ошибка модели — это ошибка диагноза или назначения, и она оборачивается реальным вредом пациенту. В отличие от других индустрий, где ошибку можно частично исправить или компенсировать, в медицине последствия часто необратимы: пропущенный рак, лишняя биопсия, осложнения от ненужной терапии.</a:t>
            </a:r>
          </a:p>
          <a:p/>
          <a:p>
            <a:r>
              <a:t>В оставшейся части лекции мы разберём четыре темы, которые формируют профессиональный минимум для инженера, работающего в medical AI. Первая — bias в medical AI на примере Obermeyer 2019. Это золотой стандарт case study; одна из самых цитируемых работ в области, и она показывает, как выбор прокси-переменной в metric-driven модели становится выбором политики. Вторая — LLM анти-паттерны: NEDA Tessa, adversarial hallucination, массовое self-diagnosis. Здесь главное различие — LLM в медицинском контексте не то же самое, что medical AI; они требуют разных design countermeasures. Третья — безопасность медицинских данных: Change Healthcare breach и российское регулирование (ФЗ-152, ФЗ-23). И четвёртая — архитектура ответственности: кто отвечает, когда AI ошибается.</a:t>
            </a:r>
          </a:p>
          <a:p/>
          <a:p>
            <a:r>
              <a:t>Тон последнего раздела — серьёзный, без алармизма. Цель — научить инженера думать о границах сразу, на стадии design, а не post-hoc после первого инцидента. На лекции 9 «Этика и регулирование» вы превратите три принципа отсюда в черновик чек-листа; на лекции 14 «Будущее AI» — финализируете personal версию. Сегодня мы накапливаем материал для синтеза.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Obermeyer, Powers, Vogeli и Mullainathan, Science, страницы 447–453, 2019 года. Это золотой стандарт case study по bias в medical AI; цитируется более трёх тысяч раз; обязательное чтение для любого AI-инженера, работающего в healthcare.</a:t>
            </a:r>
          </a:p>
          <a:p/>
          <a:p>
            <a:r>
              <a:t>Контекст. В США существует коммерческий алгоритм Impact Pro, разработанный компанией Optum, дочкой UnitedHealth, и применяемый ежегодно для примерно двухсот миллионов американцев — для идентификации пациентов с высоким риском, нуждающихся в дополнительной координированной помощи. Алгоритм даёт risk score; пациенты с высоким score попадают в high-risk care management programs.</a:t>
            </a:r>
          </a:p>
          <a:p/>
          <a:p>
            <a:r>
              <a:t>Что нашли исследователи. На одном и том же risk score чернокожие пациенты были существенно болезненнее, чем белые: у них было на двадцать шесть процентов больше хронических заболеваний. То есть алгоритм систематически недооценивал тяжесть болезни у черных пациентов.</a:t>
            </a:r>
          </a:p>
          <a:p/>
          <a:p>
            <a:r>
              <a:t>Почему. Алгоритм был обучен предсказывать healthcare cost — расходы на лечение — как прокси для healthcare need, медицинской потребности. Эти две переменные коррелируют — больные тратят больше — но они не идентичны. Чернокожие пациенты исторически тратили на здравоохранение примерно на тысячу восемьсот долларов в год меньше, чем равно-больные белые, из-за access disparities: меньше страхового покрытия, географические барьеры, недоверие к системе, дискриминация. Алгоритм видел: у этих пациентов низкие расходы, значит, они «менее больны». На самом деле они были такими же больными, но получали меньше помощи.</a:t>
            </a:r>
          </a:p>
          <a:p/>
          <a:p>
            <a:r>
              <a:t>Исправление. Когда исследователи переобучили алгоритм на гибридный proxy (cost + chronic conditions), bias уменьшился на восемьдесят четыре процента. Доля чернокожих пациентов в high-risk care management programs выросла с семнадцати и семи десятых процента до сорока шести и пяти десятых. Это не теоретическое улучшение — это конкретные пациенты, получившие доступ к дополнительной помощи. Инженерный урок: когда выбираете прокси, спрашивайте — какие демографические группы могут иметь систематически разный доступ к этой прокси? Выбор метрики — это выбор политики, даже когда никто о политике не думает.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в медицине — это не то же самое, что medical AI. Это важное различие. Medical AI, который проходит FDA-одобрение, — специализированная computer vision или табличная модель с подтверждённой клинической валидацией. LLM в медицинском контексте — general-purpose language model, который случилось так, что используется для медицинских вопросов; и в этом качестве на 2025–2026 годы зафиксированы три documented anti-pattern cases.</a:t>
            </a:r>
          </a:p>
          <a:p/>
          <a:p>
            <a:r>
              <a:t>Первый кейс — NEDA Tessa, vendor accountability story. National Eating Disorders Association с примерно 2018 года использовала чат-бот Tessa, разработанный компанией Cass, как первую линию helpline. Изначально Tessa был rule-based: чёткий decision-tree, никакой генерации, никаких советов вне предварительно одобренных сценариев. Это design choice со стороны NEDA — eating disorders requires clinical safety design. В марте 2023 года Cass самовольно сменила Tessa с rule-based на generative LLM — без согласования с NEDA, без новой клинической валидации. 30 мая 2023 года Sharon Maxwell опубликовала скриншоты: Tessa в новой форме советовал терять один-два фунта в неделю, удерживать дефицит калорий пятьсот-тысячу в день, целиться на две тысячи калорий максимум в день — классические eating disorder triggers. NEDA сняла Tessa с обращения в течение двадцати четырёх часов. Урок: generative AI ≠ rule-based AI; vendor design changes могут обойти clinical safety design.</a:t>
            </a:r>
          </a:p>
          <a:p/>
          <a:p>
            <a:r>
              <a:t>Второй кейс — adversarial hallucination. Communications Medicine 2025 года: шесть ведущих LLM на трёхстах клинических vignette'ах с подсаженной фейк-деталью. Модели повторяли или расширяли подсаженный фейк в восьмидесяти трёх процентах случаев. Mitigation prompt снижал rate примерно вдвое, но не до нуля. Урок: LLMs are gullible к planted errors; человеческая верификация фактов требуется для каждого факта.</a:t>
            </a:r>
          </a:p>
          <a:p/>
          <a:p>
            <a:r>
              <a:t>Третий кейс — patient self-diagnosis. Примерно сорок миллионов американцев используют ChatGPT для healthcare-вопросов; три из пяти взрослых — за последние три месяца. Регулирование за этим не успевает. Если строите medical-adjacent LLM-product — design choices масштабируются на десятки миллионов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Медицинские данные — самая защищаемая категория данных в большинстве юрисдикций. И — самая ценная для атакующих, потому что они содержат combinations PII плюс медицинскую историю, которые нельзя «отменить»: номер кредитной карты банк блокирует за минуты, медицинский диагноз — нельзя.</a:t>
            </a:r>
          </a:p>
          <a:p/>
          <a:p>
            <a:r>
              <a:t>Кейс — Change Healthcare breach, февраль 2024 года, крупнейший healthcare data breach в истории США. Двадцать первого февраля ransomware-группа ALPHV/BlackCat атаковала Change Healthcare — дочернюю компанию UnitedHealth Group, обрабатывающую около трети всех claims в американской системе здравоохранения. Vector атаки — уязвимый Citrix remote access без MFA. Числа: сто девяносто миллионов американцев в затронутом объёме PHI — примерно пятьдесят семь процентов населения США. Шесть терабайт данных эксфильтровано. Двадцать два миллиона долларов выкупа выплачены в Bitcoin. Два миллиарда четыреста пятьдесят семь миллионов долларов — total recovery cost для UHG за третий квартал 2024 года. Многонедельный перерыв в обработке claims по всей US healthcare system.</a:t>
            </a:r>
          </a:p>
          <a:p/>
          <a:p>
            <a:r>
              <a:t>Связь с medical AI критически важна. Medical AI training datasets наследуют security risk медицинских данных. mosmed.ai имеет более восемнадцати миллионов медицинских изображений в своих datasets. Что произойдёт, если такой dataset эксфильтрован? Анонимизация не равна анонимности: каноническая иллюстрация — re-identification медзаписи губернатора Massachusetts через сопоставление HIPAA-compliant deidentified dataset с публичным voter roll, Sweeney 2002. Полную anonymity при работе со структурированными PII обычно невозможно гарантировать.</a:t>
            </a:r>
          </a:p>
          <a:p/>
          <a:p>
            <a:r>
              <a:t>Регуляторика. HIPAA (US, 1996) защищает PHI и ePHI. GDPR (EU, 2016/679) — sensitive personal data special category, Article 9. ФЗ-152 (РФ, 2006) с major amendments 2024–2025: с 30 мая 2025 года ужесточённые требования к операторам. ФЗ-23 от 28 февраля 2025 года (data localization): персональные данные граждан РФ не обрабатываются на серверах вне России с 1 июля 2025 года. Инженерный урок: проектируя medical AI, вы проектируете target для criminal groups. Защита: data localization, de-identification + differential privacy, segmentation, secure-by-design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секция для центрального вопроса лекции. Мы прошли половину пути: AI-диагностика работает, mosmed.ai тому пример; drug discovery частично работает, Rentosertib и DSP-1181 — две стороны одной медали; bias и LLM анти-паттерны реальны. Теперь — кто отвечает, когда AI ошибается. Применяем 4-actor framework: Price 2019, Stanford Technology Law Review; Gerke et al. 2020, Artificial Intelligence in Healthcare, Elsevier. Ответственность распределяется между четырьмя акторами с разной комбинацией technical control × legal liability.</a:t>
            </a:r>
          </a:p>
          <a:p/>
          <a:p>
            <a:r>
              <a:t>Врач — высокий control и высокая liability. Ставит финальный диагноз. AI — это input, не decision-maker. С юридической точки зрения врач остаётся primary responsible person; AI-suggestion — это «второе мнение», не decision. Это не punitive distribution: только врач имеет full context — анамнез, осмотр, лабораторные результаты, AI-output как один из inputs; никакой другой actor этого full context не имеет.</a:t>
            </a:r>
          </a:p>
          <a:p/>
          <a:p>
            <a:r>
              <a:t>Healthcare operator — больница, клиника, ДЗМ. Средний control и средняя liability. Выбирает поставщика AI, обеспечивает training персонала, мониторит работу системы в production. Если operator деплоит AI без adequate тренинга врачей — несёт ответственность за foreseeable misuse.</a:t>
            </a:r>
          </a:p>
          <a:p/>
          <a:p>
            <a:r>
              <a:t>AI-vendor — высокий control, низкая-средняя liability. Дизайнит модель, делает safety claims при FDA / EU / Росздравнадзор-регистрации, обеспечивает PCCP-updates. Если model design имеет defect — vendor несёт liability по product liability. При faithful disclosure ограничений и proper post-market surveillance liability ограничена.</a:t>
            </a:r>
          </a:p>
          <a:p/>
          <a:p>
            <a:r>
              <a:t>Regulator — FDA, EU Notified Bodies, Росздравнадзор. Низкий control, высокий oversight. Approves системы, проводит post-market surveillance, может revoke authorization. Не несёт liability за individual cases, но несёт systemic responsibility за качество approval process. Central principle: финальная клиническая ответственность не делится между человеком и алгоритмом. Врач ставит диагноз. AI подсказывает. Это юридический консенсус во всех трёх крупных юрисдикциях. Если работаете в AI-vendor роли, ваша responsibility — design AI так, чтобы врач мог выполнить свою responsibility. Эти три инженерных принципа войдут в финальный takeaway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описать, что мы прошли — три вывода и одно operational следствие. Первый. AI-диагностика работает. mosmed.ai обработал более четырнадцати миллионов исследований за пять лет в семидесяти четырёх регионах России; FDA одобрил тысячу четыреста пятьдесят одно AI/ML-устройство кумулятивно к концу 2025 года, семьдесят шесть процентов — радиология; MASAI Sweden RCT 2024–2025 подтвердил, что AI-supported маммография повышает чувствительность скрининга с семидесяти трёх и восьми десятых до восьмидесяти и пяти процентов при снижении нагрузки радиолога на сорок четыре процента. Это не футурология; это computer-vision-pipeline уровня 2017–2024 годов в production-форме.</a:t>
            </a:r>
          </a:p>
          <a:p/>
          <a:p>
            <a:r>
              <a:t>Второй. Drug discovery работает частично. AlphaFold предсказал более двухсот миллионов структур белков и получил Нобелевскую премию по химии 2024 года — Hassabis, Jumper и Baker, последний за computational protein design. Insilico Rentosertib стал первым AI-designed препаратом с peer-reviewed positive Phase IIa readout в Nature Medicine, июнь 2025 года. DSP-1181 — discontinued. AI ускоряет discovery в пять–десять раз; clinical attrition rate около девяноста процентов AI не меняет, потому что эта статистика определяется биологией, а не алгоритмом.</a:t>
            </a:r>
          </a:p>
          <a:p/>
          <a:p>
            <a:r>
              <a:t>Третий. Ответственность — на враче. AI подсказывает, врач решает. Инженер строит систему так, чтобы responsibility была технически выполнима: transparency и калибровка confidence, audit-trail, деперсонализация данных, post-market monitoring. Конкретные три принципа — transparency + calibration; validation set покрывает deployment population; audit-trail + post-market monitoring — это input для черновика чек-листа на лекции 9 «Этика и регулирование». Не финальный синтез — input. Если в одной фразе: врач ставит диагноз, AI подсказывает, инженер делает так, чтобы врач мог по-настоящему решать.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центральному вопросу лекции. Какие AI-обещания в медицине сбылись? AI-диагностика — да, и есть конкретные числа: mosmed.ai с четырнадцатью миллионами исследований, MASAI Sweden RCT со снижением нагрузки радиолога на сорок четыре процента. Drug discovery — частично: Rentosertib peer-reviewed в Nature Medicine; DSP-1181 discontinued. И главная часть вопроса — кто отвечает, когда AI ошибается. Ответственность всегда на враче. Это не уступка консерватизму и не недоверие к AI. Это структурное распределение: только врач имеет full context.</a:t>
            </a:r>
          </a:p>
          <a:p/>
          <a:p>
            <a:r>
              <a:t>И отсюда — закрывающая фраза, на которой держится профессиональный смысл этой лекции для инженера. Врач ставит диагноз. AI подсказывает. Инженер делает так, чтобы врач мог по-настоящему решать. По-настоящему — это значит с пониманием того, что модель сделала и почему (transparency, Grad-CAM heatmap, confidence score); с уверенностью, что эта модель валидирована именно для той популяции, на которой её сейчас применяют; с возможностью восстановить, кто, когда, с какой версией модели получил такой output — это audit-trail. Эти три инженерных принципа и есть то, что вы построили сегодня в копилку лекции 9. На лекции 14 — финальный личный чек-лист.</a:t>
            </a:r>
          </a:p>
          <a:p/>
          <a:p>
            <a:r>
              <a:t>Если вы запомните одно предложение из этой лекции через две недели — пусть это будет именно оно. Врач решает. AI подсказывает. Инженер обеспечивает то, что делает первое предложение технически выполнимым.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Следующее занятие по расписанию курса — Коллоквиум 1, пятая лекция, охватывающий первые четыре содержательные лекции: введение, AI в разработке ПО, AI в финансах и ритейле, AI в медицине. Коллоквиум включает тестовую часть на классификацию AI-технологий и письменный мини-кейс по триаде «Проблема — Результат — Ограничение». Подготовка к коллоквиуму — это в первую очередь повторение четырёх предыдущих глав методички, включая эту.</a:t>
            </a:r>
          </a:p>
          <a:p/>
          <a:p>
            <a:r>
              <a:t>После Коллоквиума 1 — Лекция 6 «AI в производстве и сельском хозяйстве». Здесь главный российский кейс — Cognitive Agro Pilot, более полутора тысяч машин в работе, заявленный прирост эффективности тридцать-сорок процентов. Кроме сельского хозяйства, мы посмотрим predictive maintenance, quality control, collaborative robots, физический AI: дроны-инспекторы, автономный транспорт, digital twins. Из ячейки «медицина» движемся в ячейку «производство»; ставки другие — не пациент, а оборудование и урожай — но многие методологические принципы переносятся: валидация на разных популяциях, transparency, post-market monitoring.</a:t>
            </a:r>
          </a:p>
          <a:p/>
          <a:p>
            <a:r>
              <a:t>И ещё одна важная связь forward. Три принципа responsibility, которые мы сформулировали сегодня — transparency и калибровка; validation set покрывает deployment population; audit-trail и post-market monitoring — это не финальный синтез, а input для черновика чек-листа, который вы создадите на Лекции 9 «Этика и регулирование». На Лекции 14 «Будущее AI» вы превратите этот черновик в personal версию чек-листа из трёх-пяти пунктов. Опциональное домашнее задание для тех, у кого есть время: найти один случай medical AI в новостях за последний месяц (Reuters, STAT News, Habr) и применить к нему 4-actor framework со слайда 24. Не оценивается; для тренировки навыка применения.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Открытое Q&amp;A. Подождите пять-десять секунд тишины — это нормально, аудитория переваривает плотный материал. Если вопросов нет — есть три провокации в запасе. Первая — кто после этой лекции изменил мнение о медицинском AI? Второй — у кого был знакомый или родственник, чей диагноз ставился с участием AI? Третий — если бы вам предложили работать в medical AI стартапе, какой первый вопрос вы бы задали о их validation процессе?</a:t>
            </a:r>
          </a:p>
          <a:p/>
          <a:p>
            <a:r>
              <a:t>Самый частый вопрос, который возникает на лекциях этого типа — «как студенту-инженеру войти в medical AI?». Короткий ответ: курс «Системы ИИ» (track в технических вузах), Сбер AI Lab, Yandex AI Lab, Сколтех medical AI center, для медицинской визуализации — НПКЦ ДиТ ДЗМ (mosmed.ai), для drug discovery — AIRI Bioinformatics, MADD team (ИТМО + Сбер AI Lab). Все эти команды берут стажёров и junior инженеров с базовым ML и опытом работы с CV или NLP.</a:t>
            </a:r>
          </a:p>
          <a:p/>
          <a:p>
            <a:r>
              <a:t>Если кто-то задаёт технический вопрос, требующий глубокого ответа, на который не хватает времени в Q&amp;A — отложите его на office hours или в семинар sem-04, где будет полтора часа на case-анализ medical AI deployment в российском контексте. Финальный beat — поблагодарите за внимание; напомните про семинар; напомните, что готовый материал для копилки лекции 9 уже есть, и сегодняшние три принципа — реальный input в будущий черновик чек-листа.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4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3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ставит метку патологии на рентгене за ~3 секунды — локально в браузере, без облака.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narrow CV, не ChatGPT. Узкая модель решает одну задачу — классификацию рентгена.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Chester AI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(Cohen et al., 2019, Mila/McGill).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~3 sec inference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локально в браузере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18 патологий: pneumonia, cardiomegaly, atelectasis…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502920"/>
            <a:ext cx="57607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976579"/>
            <a:ext cx="5431536" cy="3258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475487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Chester AI · mlmed.org/tools/xray/ · heatmap + 18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Cohen et al. 2019 (arXiv:1901.11210) · backup PNG (live demo при наличии интернета)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1828800"/>
            <a:ext cx="48463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21295C"/>
                </a:solidFill>
                <a:latin typeface="Arial"/>
              </a:rPr>
              <a:t>AI в медицине
и фармацевтике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065A82"/>
                </a:solidFill>
                <a:latin typeface="Arial"/>
              </a:rPr>
              <a:t>Какие AI-обещания в медицине сбылись — и кто отвечает за ошибки.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Курс «AI в разных индустриях»  ·  75 мин  ·  13 мая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ПОДНИМИТЕ РУКИ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4592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  ·  один 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Сколько AI-устройств одобрено FDA к концу 2025?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&lt;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100 –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500 –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678424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&gt; 1 000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5740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Q2  ·  личный опыт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Получали медицинский результат с участием AI за год?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 уверен(а)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sca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57400"/>
            <a:ext cx="777240" cy="77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Q3  ·  доверие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Доверяете AI-диагнозу больше, чем человеческому?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Зависит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Запомните свои ответы — сравним с реальностью на следующем слайде.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уже не «будущее», а production-инфраструктура.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66751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FDA — AI/ML-Enabled Medical Devices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cumulative · end-2025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одобрено к концу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940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940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156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156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691640"/>
            <a:ext cx="4480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2024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mosmed.ai — 5 лет 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774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ДЗМ Москвы → федеральный MosMedAI (май 2024)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исследований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изображений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AI-сервисов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нац. стандартов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end-2025 (theimagingwire.com 10.12.2025) · Remedium 2025 · mos.ru AI Leaders Award.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11201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868680"/>
            <a:ext cx="10287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325880"/>
            <a:ext cx="1028700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Какие AI-обещания в медицине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реально сбылись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к 2026 году — и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кто отвечает</a:t>
            </a:r>
            <a:r>
              <a:rPr sz="3000" b="1" i="0">
                <a:solidFill>
                  <a:srgbClr val="21295C"/>
                </a:solidFill>
                <a:latin typeface="Arial"/>
              </a:rPr>
              <a:t>, когда AI-диагноз ошибочен?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0440"/>
            <a:ext cx="59436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7033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Roadmap — 4 раздела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06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2062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2519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Карта AI в медицине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634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709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AI-диагностика как зеркало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51206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Drug discovery — обещания vs реальность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778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Этика и ответственность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3520440"/>
            <a:ext cx="50292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5-stat-fda-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749039"/>
            <a:ext cx="4663440" cy="187451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58000" y="57150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STAT News — AI Prognosis (statnews.com, 13.05.2026)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Стейкс: $22–38 млрд (2025), прогноз &gt; $100 млрд к 2030 (MarketsAndMarkets, Towards Healthcare).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4 разные индустрии, не один tools-set.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Modality × Scope = design-driven taxonomy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74519"/>
            <a:ext cx="47091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sca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1720" y="205740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AI-диагностика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880360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CT · MRI · X-ray · дермато-скан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33756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mosmed.ai · IDx-DR · Aidoc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74519"/>
            <a:ext cx="47091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heart-pul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05740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23760" y="205740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Population imaging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880360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Скрининговые программы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33756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MASAI (Sweden) · BreastScreen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977639"/>
            <a:ext cx="47091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pil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416052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31720" y="416052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Personalized medicine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983480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Genomic AI · clinical decision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44068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Tempus · Foundation Med · Webiomed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977639"/>
            <a:ext cx="47091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flask-conical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160520"/>
            <a:ext cx="640080" cy="640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23760" y="416052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Drug discovery + эпид.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83480"/>
            <a:ext cx="4434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Generative chemistry · structures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44068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AlphaFold · Insilico · Generate Bio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17319" y="1920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60" y="402336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6080759"/>
            <a:ext cx="9784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single patient        SCOPE        population / pharma 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1783080"/>
            <a:ext cx="8229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MODALITY
▲
image/
signal
▼
text/
molecule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Фокус лекции — gold dots: AI-диагностика + Drug discovery.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За 10 лет — от 6 до 1 451 AI-устройств в FDA-list.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инфраструктура, не футурология.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82296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-fda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2057400"/>
            <a:ext cx="59436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Cumulative AI/ML-enabled medical devices (FDA), end-2025.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83080"/>
            <a:ext cx="3154680" cy="4297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0" y="205740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Ключевые числа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31089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cumulative · end-2025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5661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0233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4805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49377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394960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Pivot — 2022–2024:
exponential acceleration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(fda.gov, end-2025) · JAMA Network Open systematic review 2025 · The Imaging Wire 10.12.2025.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Медицина — инструктивный case для инженера.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Высокие ставки + строгое регулирование + прозрачная operational scale.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lert-triang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200400"/>
            <a:ext cx="31546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Высокие ставки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3154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Ошибка модели → ошибка диагноза → вред пациенту.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Калибровка confidence, audit-trail, fallback.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hiel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4884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200400"/>
            <a:ext cx="31546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Строгое регулирование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977639"/>
            <a:ext cx="3154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FDA SaMD · EU AI Act high-risk · Росздравнадзор.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Регуляторные навыки переносятся в финансы, авто, авиа.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82880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coin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4884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58200" y="3200400"/>
            <a:ext cx="31546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Прозрачная operational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977639"/>
            <a:ext cx="3154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mosmed.ai: 14M+ исследований · 74 региона · 70 сервисов.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Метрики измеримы — не маркетинговая оценка.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Регуляторные навыки переносятся: PCI DSS · ФЗ-152 · ISO 26262 · DO-178C.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AI-диагностика — это computer vision, не LLM.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image → label с confidence score. Это не LLM.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1.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
DICOM / PNG / JPEG
(препроцессинг)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8323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4043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2331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331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331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CNN / ViT
(не LLM)
medical fine-tune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074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6082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082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3.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Probability +
heatmap / bbox
(Grad-CAM*)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825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545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9833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833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4.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9833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Врач: decision
+ verify + 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24712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720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Пример: CheXNet — 121-layer DenseNet, 14 патологий грудной клетки (Rajpurkar et al. 2017)</a:t>
            </a:r>
          </a:p>
        </p:txBody>
      </p:sp>
      <p:pic>
        <p:nvPicPr>
          <p:cNvPr id="25" name="Picture 24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937759"/>
            <a:ext cx="2438400" cy="1463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292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Image → CNN/ViT → probability vector + heatmap. Heatmap = Grad-CAM (визуальная attribution heatmap, Selvaraju 2017): какие пиксели вносили вклад в предсказание. Врач — decision-maker, AI — decision support.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*Grad-CAM — визуальная attribution. DenseNet — CNN-архитектура. Rajpurkar arXiv:1711.05225 · Selvaraju arXiv:1610.02391.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медицинского AI «accuracy» недостаточна.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Sens · Spec · Prevalence · PPV. Sens/spec не зависят от prevalence; PPV — зависит.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2120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 × 2 confusion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 prediction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positive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negative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Truth
↓
sick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0342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healthy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3246120"/>
            <a:ext cx="2125980" cy="1165860"/>
          </a:xfrm>
          <a:prstGeom prst="rect">
            <a:avLst/>
          </a:prstGeom>
          <a:solidFill>
            <a:srgbClr val="E3EEF3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true positive
правильно нашли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6140" y="3246120"/>
            <a:ext cx="2125980" cy="1165860"/>
          </a:xfrm>
          <a:prstGeom prst="rect">
            <a:avLst/>
          </a:prstGeom>
          <a:solidFill>
            <a:srgbClr val="D7DBE4"/>
          </a:solidFill>
          <a:ln w="1016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4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614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false negative
пропустили больного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4411980"/>
            <a:ext cx="2125980" cy="1165860"/>
          </a:xfrm>
          <a:prstGeom prst="rect">
            <a:avLst/>
          </a:prstGeom>
          <a:solidFill>
            <a:srgbClr val="FEF5E0"/>
          </a:solidFill>
          <a:ln w="101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false positive
ложная тревога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6140" y="4411980"/>
            <a:ext cx="2125980" cy="1165860"/>
          </a:xfrm>
          <a:prstGeom prst="rect">
            <a:avLst/>
          </a:prstGeom>
          <a:solidFill>
            <a:srgbClr val="D9E2EC"/>
          </a:solidFill>
          <a:ln w="101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14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614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true negative
правильно отпустили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1691640"/>
            <a:ext cx="594360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28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метрики — формула + смысл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860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Sensitivity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651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331720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больных, которых поймал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992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Specificity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3649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TN / (TN+FP)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044952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здоровых, не напуганных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71246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Prevalence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078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(TP+FN) / 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758184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как часто болезнь в популяции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2569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PPV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791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471416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AI сказал болен, вер-ть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2356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96712"/>
            <a:ext cx="1088136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CheXNet (Rajpurkar 2017): sens 0.94–0.96 · spec 0.89–0.93 (range).  Для PPV math берём sens 0.94 / spec 0.89  →  PPV ~8% при prev 1% (скрининг)  ·  ~78% при prev 30% (госпиталь).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Та же модель, та же accuracy — разные PPV. Operating point зависит от threshold + патологии.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Imaging — AI+врач &gt; врач. Reasoning — augmentation gap.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Вопрос «AI или врач» поставлен неправильно. Правильный — «какая задача и какой workflow».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1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Liu et al. 2019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— meta-analysis 14 prospective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645919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92024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Imaging meta-analysis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pooled sens AI 0.87  ·  врач 0.85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423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Близко к паритету, исторический 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39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0039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MASAI 2024–2025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59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(2024) + Lancet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00399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7472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Mammography RCT, n &gt; 100 000 (Sweden)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20039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42899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sens 80.5% (AI) vs 73.8% (стандарт)  ·  workload −44%  ·  interval cancer −12%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7763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→ AI+радиолог → значимо лучше каждого alone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3154679"/>
            <a:ext cx="1234440" cy="5486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3154679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WIN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17720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54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Goh et al.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12064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JAMA Network Open (Oct 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75488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Domain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0292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Clinical reasoning, 50 врачей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9834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GPT-4 alone 76%  ·  врач+GPT-4 74%  (p = 0.60)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5321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Augmentation gap: AI не helped human reasoning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Liu 2019 doi: 10.1016/S2589-7500(19)30123-2  ·  MASAI Lancet 2025  ·  Goh JAMA Netw Open 2024.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mosmed.ai — обещание сбылось в operational форме.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5 лет production · 14M+ исследований · 74 региона · 70 AI-сервисов.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Снимок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КТ / МРТ / X-ray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mosmed.ai
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federated AI-platform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AI-анализ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70 services
43 области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968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8116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Врач + 2nd opinion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decision
+ verify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исследований за 5 лет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изображений processed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AI-сервисов на 43 областях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нац. стандартов · 300+ datasets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mos.ru AI Leaders Award · Remedium 2025 · Healthcare ME 2026. Federated platform: Сбер AI Lab, Care Mentor AI, Третье Мнение, Webiomed.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Bias = consequence design choices, не bug.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AI хорошо работает в распределении обучения. Outside — может проваливаться unfairly.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ey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Dermatology — skin 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Mechanism: training datasets (ISIC) перепредставляют светлую кожу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Evidence: Daneshjou 2022 — sens ↓ 20–30% на коже Фитцпатрика V–VI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Fix: fine-tuning на DDI закрыл gap; AI &gt; дерматолога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Daneshjou 2022, Science Advances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alert-triang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011680"/>
            <a:ext cx="777240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Pulse oximeter — racial bias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Mechanism: sensor systematically overestimates SpO2 на dark skin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Evidence: Sjoding 2020 NEJM — гипоксия пропускается чаще у Black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implication: модели с SpO2 input feature наследуют sensor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Sjoding 2020, NEJM · FDA Safety 2021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Validation set должен покрывать deployment population. Не academic point — профессиональная ответственность.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МЫ ПРОШЛИ ПОЛОВИНУ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AI-диагностика — обещание сбылось (mosmed: 14M+ исследований, 74 региона).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783080"/>
            <a:ext cx="9418320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2148840"/>
            <a:ext cx="86868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Drug discovery — </a:t>
            </a:r>
            <a:r>
              <a:rPr sz="2800" b="1" i="0">
                <a:solidFill>
                  <a:srgbClr val="F0AB00"/>
                </a:solidFill>
                <a:latin typeface="Arial"/>
              </a:rPr>
              <a:t>обещали 10× быстрее.</a:t>
            </a:r>
          </a:p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реально к 2026 году?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check-circ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4617720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6956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✓  mosmed.ai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956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обещание сбылось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76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help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4617720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1860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Rentosertib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860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peer-reviewed Phase IIa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180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help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407" y="461772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6764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DSP-1181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764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discontinued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Mid-lecture re-orientation. Дальше — где AI ускоряет drug discovery и две истории.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ускоряет discovery, не clinical trials.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10–15 лет · $1–2 млрд · ~6.7% success rate. AI ускоряет stages 1–3.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6594652" cy="36576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65946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ускоряет значительно (4–5 лет → 12–18 мес)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81620" y="1965960"/>
            <a:ext cx="4268419" cy="36576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81620" y="1965960"/>
            <a:ext cx="42684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помогает marginally — биология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targe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" y="260604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1. Target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AlphaFold
AlphaProteo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90825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29153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206" y="260604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0593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Hit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0593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Insilico
Exscientia
Generate 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7059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55387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sparkle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60604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46827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Lead opt.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6827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Simulation
+ ML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43292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816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microscop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2673" y="260604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730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4. Preclinical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0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Toxicity
predict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69526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7854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8907" y="2606040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899294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5. Clinical I/II/III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9294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Patient
stratification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480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~90% clinical attrition rate — AI не меняет. Биология, не алгоритм.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7150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«AI ускорил design» (verified) ≠ «AI ускорил approval» (не verified).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DiMasi 2016 J Health Econ · Wouters 2020 JAMA · Mullard 2024 Nature Reviews Drug Discovery.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AlphaFold 200M+; AlphaProteo проектирует binders de novo.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Решённая задача 50-летней давности · Нобель по химии 2024 (Hassabis + Jumper + Baker).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200M+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structures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6517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alphafold.ebi.ac.uk · open, free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AlphaProteo (Sep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3794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success rate BHRF1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41605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First AI binder для VEGF-A · 3–300× affinity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0916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3 (Nature 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+50%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53035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accuracy PoseBusters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39" y="566928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Protein–ligand interactions · diffusion-based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91640"/>
            <a:ext cx="4160520" cy="452628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863840" y="2148840"/>
            <a:ext cx="3611879" cy="3429000"/>
          </a:xfrm>
          <a:prstGeom prst="roundRect">
            <a:avLst>
              <a:gd name="adj" fmla="val 5000"/>
            </a:avLst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29700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94292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8884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23476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88068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49740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4332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78924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843516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008108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69780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834372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98964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63556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328148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989820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54412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19004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483596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648188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309860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74452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639044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803636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968228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0" y="5715000"/>
            <a:ext cx="3794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3D protein structure (schematic)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0" y="1097280"/>
            <a:ext cx="2651760" cy="41148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10972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Нобель по химии 2024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Jumper et al. Nature 2021 · Abramson et al. Nature May 2024 · Watson et al. arXiv:2409.08022 · alphafold.ebi.ac.uk.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Rentosertib — первый AI-designed drug с peer-reviewed Phase IIa.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Nature Medicine, июнь 2025 · PMID 40461817 · Insilico Medicine (ISM001-055)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2020–2022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AI-driven target ID
→ preclinical candidate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~18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Окт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Topline Phase IIa
results announced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Insilico press release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0251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1731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4611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Июнь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4611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Nature Medicine
peer-reviewed RCT n=71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4611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F0AB00"/>
                </a:solidFill>
                <a:latin typeface="Arial"/>
              </a:rPr>
              <a:t>— 21 China sites · IPF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08813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60 mg QD → +98.4 mL FVC (forced vital capacity) vs −20.3 mL placebo (12 weeks)  ·  Δ ~118 mL. IPF — clinically significant.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471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23559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RU context (2024–2025 preclinical):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Сбер AI Lab + AIRI + Р-Фарм — Alliance #1 CD137 онкология (май 2024); Alliance #2 Alzheimer (ноябрь 2025); MADD (ITMO+Сбер, EMNLP 2025); DiMA (AIRI, ICML 2025).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Все программы — preclinical: 0 RU-designed препаратов в клинических испытаниях на май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PubMed 40461817 · NCT05938920 · Nature Medicine июнь 2025 · MADD EMNLP 2025 · DiMA ICML 2025.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DSP-1181 — reality check: AI ускорил design, не clinical.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«Первый AI-designed drug в clinical trials» (2020) → Phase 1 discontinued (2022).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Январь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Phase 1 entry
Exscientia + Sumitomo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OCD · Japan · 12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4A5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A556B"/>
                </a:solidFill>
                <a:latin typeface="Arial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✕ Phase 1
DISCONTINUED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4A556B"/>
                </a:solidFill>
                <a:latin typeface="Arial"/>
              </a:rPr>
              <a:t>— Cause not specified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354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97834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0714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Май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0714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Synapse status:
Discontinued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714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Current R&amp;D status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8348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AI ускорил design</a:t>
            </a:r>
            <a:r>
              <a:rPr sz="1600" b="0" i="0">
                <a:solidFill>
                  <a:srgbClr val="21295C"/>
                </a:solidFill>
                <a:latin typeface="Arial"/>
              </a:rPr>
              <a:t>  (12 мес vs 4–5 лет) — </a:t>
            </a:r>
            <a:r>
              <a:rPr sz="1600" b="1" i="0">
                <a:solidFill>
                  <a:srgbClr val="028090"/>
                </a:solidFill>
                <a:latin typeface="Arial"/>
              </a:rPr>
              <a:t>verified.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Clinical efficacy</a:t>
            </a:r>
            <a:r>
              <a:rPr sz="1600" b="0" i="0">
                <a:solidFill>
                  <a:srgbClr val="21295C"/>
                </a:solidFill>
                <a:latin typeface="Arial"/>
              </a:rPr>
              <a:t>  — отдельная задача биологии.</a:t>
            </a:r>
          </a:p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«AI drug = быстро + эффективно»</a:t>
            </a:r>
            <a:r>
              <a:rPr sz="1400" b="0" i="1">
                <a:solidFill>
                  <a:srgbClr val="6B7685"/>
                </a:solidFill>
                <a:latin typeface="Arial"/>
              </a:rPr>
              <a:t>  — две объединённые в рекламе claim'ы.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Synapse/PatSnap drug profile · Sumitomo 2020 press · CAS Insights · Recursion + Exscientia merger Aug 2024.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Medical AI = high-risk во всех 3 крупных юрисдикциях.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Approaches отличаются процессами, не principles.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США (FDA)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SaMD + AI/ML-specific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PCCP final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 декабря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До PCCP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обновление = new submission (12–18 мес)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 PCCP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vendor pre-declares допустимые updates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574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EU (AI Act)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Regulator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EU Commission + Notified Bodies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Базис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Article 6 + Annex III (high-risk)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Annex III high-risk → 2.5 мес после лекции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MDR full compliance для medical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057400"/>
            <a:ext cx="640080" cy="640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РФ (Росздравнадзор)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Registered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57 AI-медизделий (52 RF + 5 foreign)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Expedited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 марта 2025 (ПП РФ № 1684)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Первый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Webiomed, 3 апреля 2020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Дата-локализация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ФЗ-23, 1 июля 2025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Проектируйте с PCCP в уме: data drift, retraining triggers, threshold updates — план ex ante.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72084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SaMD — Software as Medical Device (FDA category) · MDR — EU Medical Device Regulation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Используем AI для понимания AI — но проверяем.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Web-chat + критическая оценка ответа.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7498079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05740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Step 1  ·  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7744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Открой web-chat (ChatGPT / Claude / YandexGPT / GigaChat). Введи промпт ниже: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718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01752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Step 2  ·  3 мин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33756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Отметь карандашом: 1 неточность ИЛИ 1 unverifiable claim ИЛИ 1 слишком абстрактное место.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319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7764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Step 3  ·  4 мин — reveal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9768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Лектор спросит — 2–3 студента читают (1 мин). Лектор покажет control-ответ.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29200"/>
            <a:ext cx="6949440" cy="1097280"/>
          </a:xfrm>
          <a:prstGeom prst="roundRect">
            <a:avLst>
              <a:gd name="adj" fmla="val 5000"/>
            </a:avLst>
          </a:prstGeom>
          <a:solidFill>
            <a:srgbClr val="F0F4F8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6675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Готовый промпт: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667511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21295C"/>
                </a:solidFill>
                <a:latin typeface="Liberation Mono"/>
              </a:rPr>
              <a:t>«Объясни мне, что такое sensitivity и specificity для AI-диагностики на конкретном примере (mammography screening). Объясни как для студента 2 курса техн. вуза, со знанием базовой probability.»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1691640"/>
            <a:ext cx="3657600" cy="45720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19659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Control-ответ (готовится накануне)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2468880"/>
            <a:ext cx="31089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76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2651760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Sensitivity — это доля...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898648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...правильно поймал AI.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45536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TP / (TP + FN).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92424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639312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Specificity — это доля...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886200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...правильно отпустил.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133088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TN / (TN + FP).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379976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626864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Mammography примеры: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4873752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MASAI sens 80.5%, spec 98.5%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5852159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Готовится преподавателем накануне.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635508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42823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Цель — paragraph-level critique. AI отлично объясняет — паттерн. AI даёт цифры без citation — анти-паттерн.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 медицинском AI ставки максимальны.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Ошибка модели = ошибка диагноза или назначения = вред пациенту.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0-harvard-ai-regu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4663440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Harvard Gazette — AI healthcare regulation (Jan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691640"/>
            <a:ext cx="58064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92024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инженер должен знать про границы</a:t>
            </a:r>
          </a:p>
        </p:txBody>
      </p:sp>
      <p:pic>
        <p:nvPicPr>
          <p:cNvPr id="9" name="Picture 8" descr="lucide-sca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697479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265176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1.  Bias в medical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3154679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Obermeyer 2019 deep-dive</a:t>
            </a:r>
          </a:p>
        </p:txBody>
      </p:sp>
      <p:pic>
        <p:nvPicPr>
          <p:cNvPr id="12" name="Picture 11" descr="lucide-message-circle-warning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8862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3840479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2.  LLM anti-pattern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434340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NEDA Tessa + adversarial + 40M self-dx</a:t>
            </a:r>
          </a:p>
        </p:txBody>
      </p:sp>
      <p:pic>
        <p:nvPicPr>
          <p:cNvPr id="15" name="Picture 14" descr="lucide-shield-check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074920"/>
            <a:ext cx="731520" cy="731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40880" y="502920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3.  Безопасность данных + responsibility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553212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Change Healthcare + 4-actor framework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Думать про границы сразу, на стадии design — не post-hoc после первого инцидента.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Obermeyer 2019 — выбор прокси стал выбором политики.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Commercial AI для 200M Americans systematically underestimated severity для black patients.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Identify patients
needing
additional care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9288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436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24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Proxy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24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Spending on
previous care
(не severity)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432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0580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868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A556B"/>
                </a:solidFill>
                <a:latin typeface="Arial"/>
              </a:rPr>
              <a:t>Bias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868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Black: −$1 800/y
(access disparities)
→ AI «менее больны»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548640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 одинаковом risk score у Black: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+26%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больше хронических заболеваний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Science 2019 · n ≈ 200M американцев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83280"/>
            <a:ext cx="553212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5661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Fix: hybrid proxy (cost + chronic conditions)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4A556B"/>
                </a:solidFill>
                <a:latin typeface="Arial"/>
              </a:rPr>
              <a:t>17.7%</a:t>
            </a:r>
            <a:r>
              <a:rPr sz="3200" b="1" i="0">
                <a:solidFill>
                  <a:srgbClr val="6B7685"/>
                </a:solidFill>
                <a:latin typeface="Arial"/>
              </a:rPr>
              <a:t>  →  </a:t>
            </a:r>
            <a:r>
              <a:rPr sz="3200" b="1" i="0">
                <a:solidFill>
                  <a:srgbClr val="F0AB00"/>
                </a:solidFill>
                <a:latin typeface="Arial"/>
              </a:rPr>
              <a:t>46.5%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Black patients в high-risk care management programs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8640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−84% bias  ·  не теоретический fix — реальные пациенты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Выбирая прокси, спрашивайте: какие группы имеют систематически разный доступ к ней?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Obermeyer, Powers, Vogeli, Mullainathan — Science 366, 447 (2019). DOI: 10.1126/science.aax2342.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LLM в медицине ≠ medical AI — 3 documented cases.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Vendor accountability · adversarial hallucination · mass self-diagnosis (2025–2026).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message-circle-warnin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47088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1810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NEDA Tessa scandal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2494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2494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vendor accountability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606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May 2023 · NPR · AI Incident DB #545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293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105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~2018–2022: rule-based, NEDA approved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Начало 2023: Cass → generative БЕЗ NEDA approval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6243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5054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30 мая 2023: Maxwell screenshots → suspended 24h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175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alert-octagon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18688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37360" y="3182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Adversarial hallucination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36210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6210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83% halluc.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776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Communications Medicine 2025 (Nature)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3009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1821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 ведущих LLM, 300 clinical vignettes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484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5295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 подсаженной фейк-деталью → расширяют в 83% случаев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995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8770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Mitigation prompt → halves but ≠ zero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90288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4553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Self-diagnosis at scale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37360" y="49926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4992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40M Americans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3492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OpenAI / Gallup 2025 · Becker's Hospital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672583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5537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~40M Americans use ChatGPT для health past 3 months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020055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901183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из 5 US adults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5367527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248655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Регулирование за этим не успевает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8932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06247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Generative AI ≠ rule-based AI. Vendor design changes могут обойти clinical safety design.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Точная дата generative switch — начало 2023 (источники не дают строгий месяц).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Medical AI training datasets наследуют data security risk.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Change Healthcare (Feb 2024): 190M человек, $2.457 млрд recovery cost — medical data target №1.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247120" cy="7315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BleepingComputer · 21.02.2024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UnitedHealth: 190 million Americans impacted by 2024 Change Healthcare data breach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190M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Americans affected (~57% US pop)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428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144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$2.457B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144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recovery cost UHG Q3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565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281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6 TB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281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exfiltrated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702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418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Multi-week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418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US claims disruption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839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555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$22M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555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ALPHV/BlackCat ransom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262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connection — medical AI training datasets inherit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= 18M+ images → ransomware target scope. Анонимизация ≠ anonymity (Sweeney 2002 re-identification governor MA).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372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HIPAA (US, 1996)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276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GDPR (EU, 2016/679)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180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ФЗ-152 + ФЗ-23 (1 июля 2025)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UHG newsroom · BleepingComputer · HIPAA Journal · House Energy &amp; Commerce.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Врач решает. AI подсказывает. Final responsibility undivided.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4 actors с разной комбинацией technical control × legal liability.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78308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gavel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96596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1720" y="196596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C7293"/>
                </a:solidFill>
                <a:latin typeface="Arial"/>
              </a:rPr>
              <a:t>Regulator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97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Approves · audits · revokes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6324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FDA · EU NB · Росздравнадзор · high oversight role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9659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23760" y="196596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Врач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Final diagnostic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6324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 = подсказка, не decision · high liability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47472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building-2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65760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31720" y="365760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Operator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891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Vendor selection · training · deployment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75488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Больница · клиника · ДЗМ · medium control + liability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47472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cod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3657600"/>
            <a:ext cx="640080" cy="640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23760" y="365760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Vendor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3891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Model design · safety claims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75488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PCCP updates · post-market surveil. · high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166360"/>
            <a:ext cx="9784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◄ low control · TECHNICAL CONTROL · high control 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1691640"/>
            <a:ext cx="8229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LIABILITY
▲
high
▼
low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864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69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Врач ставит диагноз. AI подсказывает. Final clinical responsibility — </a:t>
            </a:r>
            <a:r>
              <a:rPr sz="1900" b="1" i="0">
                <a:solidFill>
                  <a:srgbClr val="F0AB00"/>
                </a:solidFill>
                <a:latin typeface="Arial"/>
              </a:rPr>
              <a:t>undivided.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Price 2019 Stanford TLR · Gerke et al. 2020 (Elsevier) · EU AI Act 2024/1689.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3 takeaways — медицинский AI к 2026 году.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Работающая инфраструктура + конкретная responsibility framework.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ctivity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AI-диагностика работает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14M+ исследований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FDA 1 451 devices (end-2025)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workload −44%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CV-pipeline 2017–2024 уровня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1005840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Drug discovery — частично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solved · Нобель 2024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Insilico Rentosertib — Phase IIa peer-reviewed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DSP-1181 — discontinued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Clinical attrition unchanged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03120"/>
            <a:ext cx="1005840" cy="10058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0120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Ответственность — на враче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5820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подсказывает, врач решает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20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Инженер делает responsibility выполнимой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принципа → черновик следующей лекции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Personal версия → последняя лекция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6364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33679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3 takeaways = input для черновика чек-листа на следующей лекции. Не финальный синтез — input.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777240"/>
            <a:ext cx="5029200" cy="530352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7-ama-trust-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4480560" cy="42976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548639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AMA — AI Trust Index, physicians + patients (ama-assn.org)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777240"/>
            <a:ext cx="5943600" cy="5303520"/>
          </a:xfrm>
          <a:prstGeom prst="roundRect">
            <a:avLst>
              <a:gd name="adj" fmla="val 57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3258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Врач ставит диагноз.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AI подсказывает.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Инженер делает так,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чтобы врач мог</a:t>
            </a:r>
          </a:p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по-настоящему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решать.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62355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callback to central question — payoff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Transparency · validated population · audit-trail — три инженерных принципа в копилку Lec 9.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дальше: Лекция 6 + черновик чек-листа.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3 принципа сегодня — input для черновика чек-листа на следующей лекции по этике.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tractor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0" y="23774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Лекция 6 — Производство и сельское хозяйство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Cognitive Agro Pilot — 1 500+ машин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+30–40%</a:t>
            </a:r>
            <a:r>
              <a:rPr sz="1300" b="0" i="1">
                <a:solidFill>
                  <a:srgbClr val="21295C"/>
                </a:solidFill>
                <a:latin typeface="Arial"/>
              </a:rPr>
              <a:t>  эффективности (Russian context)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891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Predictive maintenance · QC · physical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arrow-right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33172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19" y="2377440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Лекция 9 — Этика и регулирование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338328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 принципа сегодня
→ черновик чек-листа на Lec 9
→ personal версия на Lec 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989320"/>
            <a:ext cx="11247120" cy="5943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062472"/>
            <a:ext cx="108813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Опционально: найти 1 case medical AI в news + apply 4-actor framework. Не оценивается; тренировка навыка.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371600"/>
            <a:ext cx="112471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21295C"/>
                </a:solidFill>
                <a:latin typeface="Arial"/>
              </a:rPr>
              <a:t>Q&amp;A?</a:t>
            </a:r>
          </a:p>
        </p:txBody>
      </p:sp>
      <p:pic>
        <p:nvPicPr>
          <p:cNvPr id="3" name="Picture 2" descr="lucide-help-circ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737360"/>
            <a:ext cx="1371600" cy="13716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34840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1. Кто изменил мнение о медицинском AI?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102352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0235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2. Чей знакомый получал AI-диагноз? Поделитесь.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69864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769864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3. Medical AI стартап — первый вопрос о validation?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Курс «AI в разных индустриях» · sem-04 case study · office hours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