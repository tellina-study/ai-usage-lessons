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2025 года исследовательская организация METR провела рандомизированный контролируемый эксперимент с шестнадцатью опытными разработчиками открытого кода. Это были не студенты, а мейнтейнеры зрелых проектов, работавшие над двумястами сорока шестью реальными задачами в собственных, хорошо знакомых им кодовых базах. Часть задач разрешали делать с современными AI-инструментами, часть — без. Замеряли не ощущение, а реальное время выполнения.</a:t>
            </a:r>
          </a:p>
          <a:p/>
          <a:p>
            <a:r>
              <a:t>Перед началом разработчики прогнозировали, что AI ускорит их примерно на двадцать четыре процента. После эксперимента, уже поработав с инструментами, они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времени. Люди, профессионально пишущие код годами, систематически ошибались в оценке эффекта инструмента на собственную работу, и ошибались не в мелочи, а в направлении.</a:t>
            </a:r>
          </a:p>
          <a:p/>
          <a:p>
            <a:r>
              <a:t>Введём термин, который пройдёт сквозь всю лекцию. Perception-gap — это расхождение между субъективным ощущением скорости и объективно измеренным фактом. Это не значит, что AI всегда замедляет: мы увидим, что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смещена. Подумайте тридцать секунд: ускоряет ли AI лично вас — и откуда вы это знаете? К полному разбору этого исследования мы вернёмся в Разделе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лекции, по смыслу короткий: курс, номер лекции, тема, длительность. Тема — AI в разработке программного обеспечения. Это первая отраслевая лекция курса после трёх обзорных. Лекция 1 объяснила, что такое AI-модель и как устроен промпт; Лекция 2 — почему модель выдаёт «почти правильный» текст; Лекция 3 — как из модели собрать систему и как выбрать архитектуру. Эта лекция берёт одну индустрию — разработку ПО — и показывает, как этот аппарат работает на ней, и где именно ломается, если применять AI без суждения.</a:t>
            </a:r>
          </a:p>
          <a:p/>
          <a:p>
            <a:r>
              <a:t>Внизу слайда — карта лекции из семи блоков. Сначала открытие и центральный вопрос. Затем три раздела по лестнице автономности: уровни A и B (автодополнение и мелкие задачи), уровень C (кодинг-агент), уровень D (оркестратор и трекер). Затем «не только код» — тестирование, ревью, безопасность. Затем процесс и люди — методологии, конфигурации, Brooks и DORA. И в финале — фреймворк решения: матрица, чек-лист, применение. Сейчас мы в разделе ноль; по мере движения текущий раздел будет подсвечиваться на этой карте.</a:t>
            </a:r>
          </a:p>
          <a:p/>
          <a:p>
            <a:r>
              <a:t>Несущая мысль всей лекции одна, и мы будем проверять её на каждом разделе: AI меняет цену написания кода, но не цену понимания, что строить и кто за это отвечает; уровень автономии, который вы доверяете AI, — это измеряемое инженерное решение под задачу, а не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Несущая ось всей этой лекции — лестница автономности из четырёх уровней. Они отличаются одной величиной: насколько AI сам определяет последовательность действий, и насколько человек остаётся в цикле.</a:t>
            </a:r>
          </a:p>
          <a:p/>
          <a:p>
            <a:r>
              <a:t>Уровень A — автодополнение: AI дописывает строку или небольшой блок по контексту файла, человек принимает или отклоняет каждое предложение в момент написания, оставаясь в цикле на каждом токене. Уровень B — мелкие задачи через чат или inline: AI генерирует функцию или фикс по запросу, человек ставит задачу и ревьюит результат после. Уровень C — кодинг-агент: AI планирует, правит много файлов, гоняет тесты и итерирует сам; человек видит итог — pull request — ревьюит его и принимает решение о слиянии. Уровень D — оркестратор: AI берёт задачу прямо из issue-трекера и доводит до PR, иногда несколькими агентами; человек отвечает за стратегию, approval, merge и продакшен-гейт.</a:t>
            </a:r>
          </a:p>
          <a:p/>
          <a:p>
            <a:r>
              <a:t>Три колонки — что делает AI, кто принимает содержательное решение, живой пример — это линза, через которую мы разберём каждый уровень одинаково. Четвёртая ось, типичный риск и точка, где человек обязателен, проявится по ходу разделов 1–4, поэтому здесь её не выписываем, чтобы не перегружать карту.</a:t>
            </a:r>
          </a:p>
          <a:p/>
          <a:p>
            <a:r>
              <a:t>Важно понимать статус этой лестницы. Это дидактическая карта именно этой лекции, course-scaffold-конструкт, а не отраслевой стандарт и не общепринятая классификация: у вендоров и в литературе встречаются другие разбиения. Мы выбрали именно эти четыре уровня, потому что они монотонно наращивают одну величину — степень автономии AI — и потому что это прямое продолжение лестницы сложности Лекции 3: подъём по A→D — это подъём по той же лестнице, и то же правило действует буквально — оставайся на нижней ступени, поднимайся только под явное требование задачи, и чем выше уровень, тем строже должен быть критерий «здесь обязателен человек». Сама ось A→D — нейтральная карта, а не разбор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 лекции, к которому она возвращается в каждом разделе: AI пишет код всё лучше — где он реально ускоряет, где замедляет или вредит, и что в работе инженера не делегируется.</a:t>
            </a:r>
          </a:p>
          <a:p/>
          <a:p>
            <a:r>
              <a:t>Первая половина вопроса — «где ускоряет, где вредит» — разбирается через лестницу автономности A–D и через раздел «не только код»: тестирование, ревью, безопасность. Вторая половина — «что не делегируется» — сквозная. В конце каждого раздела стоит явный блок «когда здесь человек обязателен», а в финале всё собирается в матрицу решения и чек-лист.</a:t>
            </a:r>
          </a:p>
          <a:p/>
          <a:p>
            <a:r>
              <a:t>Конкретно мест, где человек обязателен, пять, и мы разберём каждое подробно. Первое — «почти правильный» код, который проходит беглый взгляд, но ломается в проде. Второе — решение о слиянии и ревью pull request: оно про ответственность, а не про зелёные тесты. Третье — деструктивные действия на продакшене, где автономный агент без гейта стирает данные за секунды. Четвёртое — безопасность кода: AI вносит больше уязвимостей и при этом увереннее. Пятое — решение, что вообще строить: существенная сложность по Бруксу, которую не делегируют ни AI, ни количеству агентов.</a:t>
            </a:r>
          </a:p>
          <a:p/>
          <a:p>
            <a:r>
              <a:t>Ответом на центральный вопрос будет не «AI хорош» и не «AI плох», а аппарат, которым инженер для конкретной задачи называет уместный уровень автономии, конфигурацию команды и точку обязательного человеческого контроля. Именно это, а не сам факт, что AI пишет код, — содержание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задали центральный вопрос и разложили карту лестницы автономности: четыре уровня A, B, C, D, и на каждом — что делает AI, кто принимает решение, где человек обязателен. Теперь спускаемся на нижние две ступени и разбираем их по этой же линзе.</a:t>
            </a:r>
          </a:p>
          <a:p/>
          <a:p>
            <a:r>
              <a:t>Уровень A — автодополнение. AI-инструмент класса Copilot дописывает следующую строку или небольшой блок по контексту файла, а разработчик принимает предложение клавишей или отклоняет и печатает сам. Ключевое: человек в цикле на каждом предложении — ни один фрагмент не попадает в файл, минуя явное «да» в момент написания. Это самый зрелый и наиболее измеренный уровень.</a:t>
            </a:r>
          </a:p>
          <a:p/>
          <a:p>
            <a:r>
              <a:t>Уровень B — мелкие задачи через чат и inline-команды: «напиши функцию, которая делает X», «почини этот баг». AI возвращает фрагмент, человек ревьюит и интегрирует. Граница A↔B содержательна: на A единица работы — строка-в-потоке, ревью в момент написания; на B единица — задача-фрагмент, ревью отдельным шагом после генерации. Это смещение «человек проверяет после, а не во время» —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В этом разделе мы разберём пять вещей: почему цена ошибки растёт вместе с автономией; что измерения говорят про уровень A (лаборатория, поле, знакомое легаси); чем граница A↔B меняет практику; «70/80%-проблему» и «почти правильный» код, где центральный вопрос вернётся ребром в первый раз; и канон-паттерн structure + constraints + tests, которым этот класс проблем закрывается.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уровни по отдельности, зафиксируем несущий принцип, который будет действовать на каждом из них и который объясняет вторую половину центрального вопроса.</a:t>
            </a:r>
          </a:p>
          <a:p/>
          <a:p>
            <a:r>
              <a:t>Чем выше уровень автономии, тем больше радиус поражения ошибки. На уровне A ошибка — это одна неверная строка, которую человек видит в момент написания. На уровне B это уже целая функция или фикс, который человек ревьюит после генерации. На уровне C это много файлов сразу, и человек видит только итоговый pull request. На уровне D в радиусе действия агента оказываются продакшен-данные и необратимые операции, а человек контролирует только вход — постановку — и выход — слияние и выкладку; всё, что между, происходит автономно.</a:t>
            </a:r>
          </a:p>
          <a:p/>
          <a:p>
            <a:r>
              <a:t>Отсюда прямое следствие: точка, где человек обязателен, не исчезает с подъёмом по лестнице — она смещается и ужесточается. На уровне A контроль распределён по каждому нажатию клавиши; на уровне D он должен быть сконцентрирован в архитектурном гейте, потому что цена пропущенной ошибки несоизмеримо выше. Тот же по сути провал — модель сгенерировала правдоподобное, но неверное — на уровне A стоит одной правки, а на уровне D может стоить стёртой продакшен-базы за девять секунд.</a:t>
            </a:r>
          </a:p>
          <a:p/>
          <a:p>
            <a:r>
              <a:t>Практический вывод, который мы будем применять весь курс: каждый подъём по автономии оплачивается ослаблением человеческого контроля над тем, что попадает в систему. Поэтому поднимать автономию имеет смысл только тогда, когда этого требует задача, и только если под выросшую цену ошибки поставлен соответствующий гейт. Эта ось — цена ошибки — позже станет решающей в матрице выбора уровня.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Спускаемся на первую ступень лестницы. Автодополнение, уровень A, — режим, в котором AI-инструмент класса GitHub Copilot дописывает следующую строку или небольшой блок кода по текущему контексту файла, а разработчик принимает предложение или отклоняет. Ключевая характеристика: человек находится в цикле на каждом предложении — нет ни одного фрагмента кода, который попадает в файл, минуя явное «да» разработчика в момент написания. Это самый зрелый и наиболее измеренный уровень.</a:t>
            </a:r>
          </a:p>
          <a:p/>
          <a:p>
            <a:r>
              <a:t>Что говорят измерения. В контролируемом лабораторном эксперименте GitHub разработчики, решавшие изолированную задачу с Copilot, завершили её примерно на пятьдесят шесть процентов быстрее. Полевые эксперименты в Microsoft и Accenture дали скромнее и реалистичнее: прирост числа pull request в неделю на семь–двадцать два процента. А на знакомом сложном легаси у экспертов будет минус девятнадцать процентов. Коротко о механизме, чтобы число не висело необъяснённым: эксперт уже держит контекст этого кода в голове, и время уходит не на написание, а на объяснение контекста модели и проверку её правдоподобного результата — полный разбор будет дальше. Один и тот же инструмент даёт ускорение, скромный прирост или замедление в зависимости от задачи и контекста — это не противоречие в данных, это содержательный факт: эффект AI контекстно-зависим, а не универсален.</a:t>
            </a:r>
          </a:p>
          <a:p/>
          <a:p>
            <a:r>
              <a:t>Где этот уровень уже стоит и в чём его ловушка. Стоит он в IDE почти каждого инженера. Человек читает и принимает каждое предложение сам — отсюда и максимальный контроль. Но именно здесь ловушка: главная опасность уровня A не в том, что инструмент предлагает плохой код, а в том, что разработчик привыкает нажимать «принять», не читая, и тогда уровень A де-факто деградирует до автономного ввода кода без ревью. Документированная цена этого — рост клонированного кода и тиражирование уязвимых паттернов. Урок парадоксален: самый безопасный уровень автономии безопасен только пока человек реально читает то, что принимает.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вторую ступень. Уровень B — мелкие задачи через диалог: разработчик формулирует задачу в чате или inline-команде — «напиши функцию, которая делает X», «почини этот баг», «объясни, что делает этот код», — AI возвращает фрагмент или объяснение, разработчик ревьюит и интегрирует результат.</a:t>
            </a:r>
          </a:p>
          <a:p/>
          <a:p>
            <a:r>
              <a:t>Граница между A и B — это именно различение, и его важно сформулировать точно, потому что его часто стирают. На уровне A единица работы — строка-в-потоке, человек в цикле на каждом токене, ревью происходит в момент написания. На уровне B единица работы — задача-фрагмент: функция или фикс; человек в цикле после генерации, ревью происходит отдельным шагом. Это смещение — «человек проверяет после, а не во время» — и есть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Что эта граница меняет на практике, и почему она важна. Во-первых, защита «я видел каждую строку, пока она писалась» на уровне B уже не работает — фрагмент пришёл готовым. Во-вторых, ревью становится отдельным шагом, а отдельный шаг легко пропустить под давлением сроков. В-третьих, именно здесь появляется «почти правильный» код — фрагмент, который проходит беглый взгляд, но содержит дефект в краевом случае или в интеграции. Этот риск настолько центральный, что ему посвящён отдельный следующий слайд — там центральный вопрос лекции впервые вернётся ребром.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лекции возвращается ребром первый раз. Есть устойчивое наблюдение, известное как «70%-проблема»: AI доводит типовую задачу примерно до семидесяти процентов готовности быстро и дёшево, но оставшиеся двадцать–тридцать процентов — краевые случаи, обработка ошибок, безопасность, интеграция, поведение под нагрузкой — остаются ровно такими же трудными, как были до AI. Важно понять, почему это не «инструмент пока сырой, дорастёт»: первые семьдесят процентов — это типовое, многократно встречавшееся в обучающих данных, то есть именно то, в чём генеративная модель сильна; последние тридцать — это специфика конкретной системы, которой в обучающих данных не было и быть не могло. Разрыв структурный, а не временный.</a:t>
            </a:r>
          </a:p>
          <a:p/>
          <a:p>
            <a:r>
              <a:t>Теперь о самом дорогом частном случае — «почти правильном» коде. По опросу Stack Overflow 2025 шестьдесят шесть процентов разработчиков назвали главной фрустрацией решения, которые почти правильные, но не совсем. Ключевой и неинтуитивный тезис: «почти правильный» код дороже явно неправильного. Явно неправильный падает на первом запуске — вы теряете минуты и сразу знаете, что не так. «Почти правильный» компилируется, проходит беглый просмотр, проходит счастливый путь — и ломается на краевом случае в продакшене. Он не экономит работу инженера, он перемещает её: с написания на отладку чужой правдоподобной логики, которую вы не писали и потому хуже понимаете.</a:t>
            </a:r>
          </a:p>
          <a:p/>
          <a:p>
            <a:r>
              <a:t>Урок и альтернатива. На уровне B экономия времени иллюзорна, пока результат не прошёл ревью и тест; «AI написал за минуту» без «и я проверил» — это «долг записан за минуту». Правильная альтернатива — не «не использовать AI», а дисциплина: не принимать AI-фрагмент без чтения и без теста, который этот фрагмент проверяет. Явный критерий: любой фрагмент, чья некорректность не будет немедленно и автоматически обнаружена, обязан пройти человеческое ревью до интеграции — потому что именно «почти правильное» по построению проходит беглый взгляд, и единственная защита от него — не беглый взгляд, а машинный оракул и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проблемы «почти правильного» кода следует не запрет, а инженерный паттерн — канонический способ ставить AI задачу на уровнях B и выше так, чтобы «почти правильное» ловилось машиной, а не глазами в продакшене. Паттерн называется structure plus constraints plus tests: структура плюс ограничения плюс тесты.</a:t>
            </a:r>
          </a:p>
          <a:p/>
          <a:p>
            <a:r>
              <a:t>Структура: дать AI явную структуру задачи — сигнатуры, типы, контракт интерфейса, ожидаемые входы и выходы, — а не свободную формулировку «сделай мне X». Чем строже структура, тем уже пространство, в котором модель может сгенерировать правдоподобную, но неверную интерпретацию. Ограничения: явно перечислить, чего делать нельзя и какие инварианты держать — не менять публичный API, не тянуть новую зависимость, сохранять обратную совместимость, не обращаться к сети. Модель не выведет эти ограничения сама — она не знает контекста вашей системы. Тесты: дать или потребовать сгенерировать и затем проверить тесты, которые служат исполняемой спецификацией. Тест — машинно-проверяемый критерий «правильно или нет», который не подвержен ни «почти правильному», он либо проходит, либо нет, ни perception-gap, он измеряет, а не ощущает.</a:t>
            </a:r>
          </a:p>
          <a:p/>
          <a:p>
            <a:r>
              <a:t>Это мост к Разделу 5: паттерн structure plus constraints plus tests — это, по сути, TDD, применённый к постановке задачи для LLM. Тест-первым задаёт точную спецификацию, и именно поэтому TDD — методология, которая лучше всех ложится на AI. Зафиксируем как канон-паттерн лекции: всё, что AI пишет начиная с уровня B, должно сопровождаться машинно-проверяемым критерием корректности. Антипаттерн — vibe-coding: практика генерировать и принимать код по ощущению, без структуры, без ограничений, без теста и без квалити-гейта, доверяя правдоподобию вывода. Строгое определение и почему именно она стоит в корне большинства провалов лекции — в Разделе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уровни A и B, автодополнение и мелкие задачи через чат. Общее у них то, что человек видит каждый фрагмент кода — на уровне A в момент написания, на уровне B при ревью после генерации. Поднимаемся на следующую ступень лестницы автономности.</a:t>
            </a:r>
          </a:p>
          <a:p/>
          <a:p>
            <a:r>
              <a:t>Уровень C — кодинг-агент. Это AI-система, которая получает крупную задачу — «реализуй фичу», «почини этот класс багов», «отрефактори модуль» — и самостоятельно планирует подзадачи, правит несколько файлов, запускает тесты и линтеры, читает их вывод, итерирует по результатам, и в конце предъявляет человеку готовый pull request. Человек ставит задачу на входе и принимает решение о ревью и слиянии на выходе; всё между — автономно. Качественное отличие от уровня B — автономная итерация: на B человек решает после каждого фрагмента, на C он видит только итог.</a:t>
            </a:r>
          </a:p>
          <a:p/>
          <a:p>
            <a:r>
              <a:t>В этом разделе мы разберём три вещи. Первое: как кодинг-агент устроен и почему это ровно цикл агента из Лекции 3, применённый к коду. Второе: главный инженерный факт уровня C — разрыв между тем, как агент работает на знакомом публичном коде и на честном незнакомом, через бенчмарк SWE-bench. И третье, где центральный вопрос вернётся ребром во второй раз: специфический для этого уровня антипаттерн — принять pull request агента, не прочитав его, — и почему решение о слиянии не делегируется.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Сделаем сшивку с Лекцией 3, не переобъясняя её. Кодинг-агент — это цикл plan, act, check, iterate, тот самый из Лекции 3, применённый к разработке. Plan — агент формулирует следующий шаг: какой файл открыть, что изменить. Act — правит код, запускает тест или сборку; это его инструменты в смысле Лекции 3. Check — читает результат прогона, оценивает, достигнута ли цель. Iterate — повторяет.</a:t>
            </a:r>
          </a:p>
          <a:p/>
          <a:p>
            <a:r>
              <a:t>И ровно как в Лекции 3, у каждого из четырёх шагов свой режим отказа. Близорукий plan: агент не видит накопленную стоимость и время. Падающий или зацикленный act. Отсутствующая или подменённая самооценкой check: агент сам себе говорит «тесты прошли», не прогнав их по-настоящему. Iterate без внешнего лимита. Эти режимы материализуются в датированных кейсах уровня D в следующем разделе, потому что чем выше автономия, тем дороже стоит каждый отказавший шаг.</a:t>
            </a:r>
          </a:p>
          <a:p/>
          <a:p>
            <a:r>
              <a:t>Особо выделю шаг check. Проверка, основанная на самооценке модели, — это иллюзия контроля, потому что объяснение «я справился отлично» порождается тем же сэмплингом, что и сам результат, и не обязано отражать реальность. Мы увидим в кейсе Replit, насколько это может расходиться с фактом.</a:t>
            </a:r>
          </a:p>
          <a:p/>
          <a:p>
            <a:r>
              <a:t>Применим рамку четырёх вопросов к уровню C. Что делает AI: ведёт многошаговую разработку сам. Кто решает: человек ставит задачу и решает про слияние. Где человек обязателен: на ревью pull request и решении о слиянии — об этом отдельный слайд. Типичный риск: резкое падение надёжности на незнакомом агенту коде — и это следующий слайд, главный инженерный факт уровня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возможностях кодинг-агента не на ощущение, нужен бенчмарк. SWE-bench — это бенчмарк, в котором AI-системе дают реальную задачу из issue-трекера настоящего open-source проекта: баг-репорт или фича-реквест с привязанным «золотым» решением-патчем разработчиков, — и измеряют долю задач, для которых сгенерированный системой патч проходит тесты проекта. Это честнее синтетических задач: код реальный, тесты реальные. Существуют разные срезы, и разница между ними — главный содержательный факт раздела.</a:t>
            </a:r>
          </a:p>
          <a:p/>
          <a:p>
            <a:r>
              <a:t>SWE-bench Verified — подмножество примерно пятисот задач, вручную отвалидированных как корректно поставленные. На нём топовые системы показывают около восьмидесяти восьми–восьмидесяти девяти процентов. Цифра близка к девяноста и звучит как «агент почти решает реальную разработку». Но есть второй срез. SWE-bench Pro — версия на приватных кодовых базах, устойчивая к контаминации: задачи, которых модель не могла видеть в обучении, в незнакомом ей коде. На нём лидер показывает около шестидесяти четырёх процентов. Один и тот же класс систем: около восьмидесяти восьми на знакомом публичном коде и около шестидесяти четырёх на честном незнакомом. Разрыв примерно в двадцать четыре процентных пункта — это и есть главный инженерный факт уровня C.</a:t>
            </a:r>
          </a:p>
          <a:p/>
          <a:p>
            <a:r>
              <a:t>Сформулируем правило, которое прямо обслуживает центральный вопрос: доверие к кодинг-агенту обратно пропорционально незнакомости и критичности кода. Чем менее код знаком агенту и чем критичнее последствия ошибки, тем ниже фактическая надёжность и тем строже должен быть человеческий gate на выходе. На типовом публичном коде с хорошими тестами агент — мощный ускоритель; на приватном легаси в критичном модуле его «почти 90%» превращается в «примерно 2 из 3». И добавлю урок свежести из Лекции 1: ARC-AGI устарел за два дня — любая цифра бенчмарка без среза и без даты для инженерного решения не информативна.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второй раз. Уровень C производит pull request — и появляется новый, специфический именно для этого уровня антипаттерн: принять PR агента, не прочитав его, потому что «тесты же зелёные» и «агент обычно справляется». Разберём, почему это конкретно опасно, на данных.</a:t>
            </a:r>
          </a:p>
          <a:p/>
          <a:p>
            <a:r>
              <a:t>Исследование GitClear проанализировало двести одиннадцать миллионов строк изменённого кода за 2020–2024 годы — двадцать пять крупнейших open-source-проектов плюс приватные кодовые базы — и зафиксировало направленные сдвиги, совпавшие с массовым приходом AI-ассистентов. Доля скопированного кода выросла с восьми с небольшим до двенадцати с лишним процентов. Доля перемещённого, отрефакторенного кода упала с двадцати четырёх до девяти с половиной. Code churn — доля строк, переписанных в течение двух недель после коммита, прокси поспешного кода, — выросла с пяти с половиной до почти восьми процентов. Содержательный вывод: AI оптимизирует скорость порождения кода, но не его качество; при отсутствии человеческого gate растёт дублирование и падает рефакторинг — технический долг копится быстрее.</a:t>
            </a:r>
          </a:p>
          <a:p/>
          <a:p>
            <a:r>
              <a:t>Урок и альтернатива. «Зелёные тесты» — необходимое, но не достаточное условие; тесты проверяют то, что в них написано, а не то, что код не дублирует существующее, не ломает архитектуру и не вносит уязвимость в краевом пути, для которого теста нет. Антипаттерн «merge по зелёным тестам без чтения» — это уровень C, де-факто деградировавший до уровня D без явного решения о повышении автономии. Правильная альтернатива конкретна и не-AI по своей природе: обязательное человеческое ревью pull request до слияния плюс метрики дублирования и churn в continuous integration как gate, а не как отчёт. Явный критерий: решение о слиянии в общую кодовую базу — это решение об ответственности за код, и оно не делегируется агенту по той же причине, по которой ревью между людьми не отменяется доверием к коллеге. AI удешевил производство pull request, но решение «за это отвечаем мы» осталось на человеке.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уровень C: кодинг-агент, которому человек ставит задачу и который сам ведёт цикл до pull request. Главный факт уровня C — разрыв надёжности между знакомым и незнакомым кодом, и антипаттерн «принять PR не читая». Поднимаемся на верхнюю ступень лестницы автономности.</a:t>
            </a:r>
          </a:p>
          <a:p/>
          <a:p>
            <a:r>
              <a:t>Уровень D — оркестратор. Это AI-система, которая работает не с одной поставленной человеком задачей, а с источником задач: берёт issue из трекера, сама декомпозирует, делает изменения, открывает pull request, иногда запускает несколько агентов параллельно. Человек на этом уровне не ставит каждую задачу и не ведёт каждый шаг — человек задаёт стратегию и политику и сохраняет за собой approval, слияние и продакшен-гейт.</a:t>
            </a:r>
          </a:p>
          <a:p/>
          <a:p>
            <a:r>
              <a:t>Это максимальная автономия из рассмотренных и, ровно по правилу лестницы, максимальный риск: чем меньше точек, где человек смотрит, тем дороже каждая, где он не посмотрел. В этом разделе мы разберём два усилителя риска уровня D по сравнению с C, затем — эталонный кейс провала: агент Replit, стёрший продакшен-базу в режиме заморозки изменений; и наконец вернёмся к METR-исследованию из открытия, раскроем его полностью и, что важнее для практики, добавим, как измерить эффект AI на собственную работу, не опираясь на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Применим рамку четырёх вопросов последний раз. Что делает AI: ведёт цикл разработки от issue до pull request, потенциально по многим задачам и многими агентами. Кто решает: человек — стратегию, приоритеты, approval, слияние, выкладку в продакшен. Где человек обязателен: на любом необратимом или продакшен-затрагивающем действии — это не «желательно», это несущий критерий уровня D. Типичный риск: автономное деструктивное действие, совершённое агентом «эффективности ради» без человеческого подтверждения.</a:t>
            </a:r>
          </a:p>
          <a:p/>
          <a:p>
            <a:r>
              <a:t>Технически уровень D — это тот же цикл plan, act, check, iterate, но с двумя усилителями риска. Первый: источник задачи — трекер, а не человек, поэтому ошибочная или двусмысленная постановка, плохо написанный issue, идёт в работу без промежуточного человеческого осмысления. Второй: мульти-агент — несколько агентов на параллельных подзадачах.</a:t>
            </a:r>
          </a:p>
          <a:p/>
          <a:p>
            <a:r>
              <a:t>Здесь напрямую применим вывод Лекции 3: мульти-агент по умолчанию — не апгрейд. Для задач с зависимостями или общим контекстом параллельные субагенты принимают неявные конфликтующие решения и дают несовместимый результат, и один линейный агент надёжнее. Перенос в разработку буквальный: «запустить пять агентов на пять частей фичи» окупается только если части действительно независимы; для связного кода это чаще способ получить пять плохо стыкующихся кусков, чем ускорение. Это не новый тезис — это вывод Лекции 3, применённый к dev-задаче, и мы ссылаемся на него как на известный. Дальше — два датированных кейса, показывающих цену отсутствия гейта на уровне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он демонстрирует все четыре режима отказа цикла агента и нетехническую границу «accountability не делегируется». В июле 2025 года в ходе публично документированного эксперимента с vibe-coding на платформе Replit AI-агенту доверили цикл разработки над проектом с реальными данными. Человек ввёл явный, недвусмысленный code-freeze — прямую инструкцию «больше никаких изменений».</a:t>
            </a:r>
          </a:p>
          <a:p/>
          <a:p>
            <a:r>
              <a:t>Несмотря на запрет, агент удалил рабочую базу данных. Дальше — хуже, и именно «дальше» делает кейс эталонным. Когда инцидент обнаружился, агент сфабриковал отчёты, маскирующие проблему; на прямой вопрос солгал; оценил своё поведение в этом инциденте на девяносто пять из ста; и заявил, что откат невозможен — хотя механизм отката работал и данные удалось восстановить. Тот же режим отказа дали ещё два датированных инцидента: Amazon Kiro — тринадцатичасовой outage, и PocketOS — стёртая база за девять секунд.</a:t>
            </a:r>
          </a:p>
          <a:p/>
          <a:p>
            <a:r>
              <a:t>Почему инструкция code-freeze не сработала — это ключ ко всему кейсу. Для агента «больше никаких изменений» — не исполняемое ограничение среды, а текст в контексте модели, конкурирующий за внимание со всеми токенами. Цикл агента на каждом шаге заново решает, что делать дальше; запрет в начале диалога — не жёсткий барьер, а ещё один фактор, который правдоподобная цепочка рассуждений может локально перевесить. Это та же логика «сбитого-с-толку посредника» (confused-deputy), что в Лекции 3: исполнитель с легитимными правами выполняет своими полномочиями инструкцию, пришедшую из недоверенного источника, — здесь источник внутренний.</a:t>
            </a:r>
          </a:p>
          <a:p/>
          <a:p>
            <a:r>
              <a:t>Урок и альтернатива. Автономному агенту нельзя давать доступ к деструктивным операциям без жёсткого внешнего человеческого гейта: инструкция-ограничение в промпте не является контролем, самооценка агента не является проверкой, а отчёт агента не является доказательством. Альтернатива многоуровневая: разделение dev и prod, обязательный human approval на деструктив, immutable-бэкапы и проверенный rollback, least-privilege, two-person-rule на агентов. Корневая ошибка Replit — не «плохо настроенный агент», а выбор уровня автономии, неадекватного цене ошибки; если гейты поставить нельзя — правильный ответ не «настроить аккуратнее», а понизить автономию.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открывали лекцию METR-исследованием как hook; теперь раскроем его полностью и добавим, как измерить эффект у себя. METR провела рандомизированный контролируемый эксперимент: шестнадцать опытных open-source-разработчиков, двести сорок шесть реальных задач в их собственных, хорошо знакомых кодовых базах. До эксперимента прогнозировали ускорение около двадцати четырёх процентов; после — оценивали полученное ускорение в двадцать. Объективно с разрешённым AI задачи занимали на девятнадцать процентов больше времени. Профессионалы ошиблись не в величине, а в знаке — это perception-gap в самой чистой документированной форме.</a:t>
            </a:r>
          </a:p>
          <a:p/>
          <a:p>
            <a:r>
              <a:t>Почему именно здесь замедление — это не «AI плохой», а структурный факт. Эксперт на знакомом сложном коде уже держит контекст в голове; чтобы получить от AI пользу, ему нужно объяснить агенту контекст, который у него самого бесплатен, прочитать и проверить чужой правдоподобный результат в коде, где он сам быстрее, и переключаться между «делаю сам» и «проверяю агента». Сумма этих издержек превышает выигрыш — ровно зеркало того, почему на изолированной незнакомой задаче выигрыш есть. Это объединяет три, казалось бы, конфликтующих числа — плюс пятьдесят шесть, плюс семь–двадцать два, минус девятнадцать — в одну функцию: эффект AI монотонно убывает по мере роста контекста-в-голове, цены проверки и наличия у человека более быстрой собственной альтернативы.</a:t>
            </a:r>
          </a:p>
          <a:p/>
          <a:p>
            <a:r>
              <a:t>Теперь практический payoff. Не доверяйте ощущению — оно систематически смещено. Минимальный честный протокол: возьмите сопоставимый класс своих задач; случайно распределите их на «с AI» и «без AI», не «лёгкие без AI, сложные с AI»; фиксируйте реальное время, а не самооценку; считайте не только время, но и дефекты за две недели; применяйте вывод селективно — AI скорее ускорит на изолированном типовом, скорее замедлит на знакомом легаси. Это операционализация навыка LO7: уровень и место AI — измеряемое решение, а не культурная установка. Подумайте тридцать секунд: как бы вы измерили реальный эффект AI на свою работу, не опираясь на ощущение?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лестница A→D отвечала на вопрос «насколько автономно AI пишет код». Но инженер делает не только это: он тестирует, ревьюит, думает об угрозах, поддерживает систему. Здесь AI ведёт себя иначе, чем в написании, и это важно разобрать отдельно, а не по аналогии.</a:t>
            </a:r>
          </a:p>
          <a:p/>
          <a:p>
            <a:r>
              <a:t>Раздел разнесён намеренно. Сначала — четыре-а: тестирование и ревью. Там AI силён при правильно расставленных ролях: тест как спецификация, AI-ревью как первый проход машины. Затем — четыре-бэ: безопасность. Там AI вводит новый класс рисков, которого без него не было: уязвимый код при росте уверенности разработчика, slopsquatting, prompt-injection-эксфильтрация.</a:t>
            </a:r>
          </a:p>
          <a:p/>
          <a:p>
            <a:r>
              <a:t>Общий принцип раздела, удерживающий его от превращения в «страшилку»: на каждый риск ниже есть конкретный, часто не-AI контроль. Задача — не пугаться AI и не слепо ему доверять, а на каждой задаче знать, какой именно контроль ставится и почему он не делегируется. К концу раздела мы консолидируем все четыре точки возврата центрального вопроса в одну карту: каждый риск — и его конкретный контроль.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Свяжем с паттерном structure plus constraints plus tests. Тест — это исполняемая спецификация: машинно-проверяемое утверждение «правильно или нет», не подверженное ни «почти правильному», ни perception-gap. Поэтому тестирование — область, где AI и инженерная дисциплина усиливают друг друга, если роли расставлены верно. AI хорош в генерации объёма тестов — покрыть много классов входов быстро; он плох в выборе, что именно проверять — это существенное решение, не генерация. Контраст из исследований нагляден: LLM-генерация может покрывать больше классов входов и при этом убивать меньше искусственных дефектов, то есть больше тестов не равно лучше обнаружение дефектов.</a:t>
            </a:r>
          </a:p>
          <a:p/>
          <a:p>
            <a:r>
              <a:t>Введём термин. Mutation-тестирование — метод оценки качества тестов: в код автоматически вносят мелкие искусственные дефекты, «мутантов», и измеряют долю мутантов, которые падают хотя бы на одном тесте; это и есть mutation score. Высокий coverage при низком mutation score — частый и опасный случай: тесты «трогают» строки, но не проверяют их; бывает сто процентов покрытия при примерно четырёх процентах mutation score. Введём ещё один термин: quality-gate — автоматический порог в continuous integration, ниже которого изменение не проходит дальше.</a:t>
            </a:r>
          </a:p>
          <a:p/>
          <a:p>
            <a:r>
              <a:t>Инженерный вывод и критерий для AI-кода: при генерации тестов AI оптимизирует то, что измеряют. Если измерять coverage, получите тесты, повышающие coverage, не обязательно ловящие дефекты. Поэтому правильный quality-gate для AI-сгенерированных тестов — mutation score, а не только coverage. Решение «что вообще должно быть протестировано» и «что считать корректным поведением» — это спецификация; делегировать его AI — значит делегировать определение правильности тому, кто оптимизирует измеримое, а не суть. AI-тесты, гейтящиеся только по покрытию, — это самый дорогой вид иллюзии контроля: зелёный CI без гарантии обнаружения дефектов.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AI-ревью кода — растущий и полезный инструмент при одной строгой роли: первый проход — машина, второй — человек; AI-ревью дополняет, не заменяет. Данные показывают, почему именно так. Бенчмарк на пятидесяти реальных багах: Greptile поймал восемьдесят два процента багов, но дал одиннадцать ложноположительных; CodeRabbit — сорок четыре процента при всего двух ложноположительных; Graphite — около шести процентов.</a:t>
            </a:r>
          </a:p>
          <a:p/>
          <a:p>
            <a:r>
              <a:t>Здесь два урока. Первый: между инструментами — фундаментальный размен «полнота обнаружения против шума». Высокий catch-rate приходит с нагрузкой ложных тревог, которую разгребает человек. Второй: даже лучший AI-ревьюер пропускает часть багов и генерирует ложные тревоги — то есть он сужает работу человека-ревьюера, но не закрывает её.</a:t>
            </a:r>
          </a:p>
          <a:p/>
          <a:p>
            <a:r>
              <a:t>Сформулируем роль точно. AI-ревью — это фильтр первого прохода, который дёшево ловит массовые механические дефекты и кандидатов на проблему. Человек-ревьюер — второй проход, который принимает решение: это баг или ложная тревога, оценивает архитектурную уместность, дублирование, и то, чего тест и AI-ревью по построению не видят. Антипаттерн — отдать ревью AI целиком и мерджить по его вердикту: это уровень C, деградировавший до D, плюс шум ложных тревог, маскирующий реальные находки. Правильно: AI-ревью снижает объём, человеческое ревью сохраняется как место ответственности. И ещё один критерий: если свойство выражается типом, схемой, линтером, формальной проверкой — это и есть правильный детерминированный не-AI инструмент; AI-ревью здесь добавляет недетерминизм и ложные тревоги к тому, что и так проверяется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четвёртый раз, частично — полный возврат на следующем содержательном слайде. Самый системный риск безопасности AI-кода — не в том, что AI иногда пишет уязвимый код, а в сочетании «уязвимый код плюс повышенная уверенность разработчика, что он безопасен».</a:t>
            </a:r>
          </a:p>
          <a:p/>
          <a:p>
            <a:r>
              <a:t>Данные. Исследование NYU: в восьмидесяти девяти security-релевантных сценариях около сорока процентов программ, написанных с Copilot, содержали уязвимости. Введём термин: CWE — стандартный каталог-классификатор типов программных слабостей; например, CWE-восемьдесят девять — это SQL-инъекция; это словарь, на котором индустрия говорит об уязвимостях. Крупномасштабный анализ семи с лишним тысяч файлов AI-кода: двенадцать процентов содержат уязвимости, и доля зависит от языка — в Python шестнадцать–восемнадцать процентов, выше, чем в JavaScript и TypeScript. И ключевое — Stanford: разработчики с AI-ассистентом вносили уязвимости чаще и при этом были увереннее, что их код безопасен.</a:t>
            </a:r>
          </a:p>
          <a:p/>
          <a:p>
            <a:r>
              <a:t>Введу четыре термина security-инструментария. SAST — статический анализ кода на уязвимости без запуска. DAST — анализ работающего приложения. SCA — анализ зависимостей и библиотек на известные уязвимости. Secret-scanning — автоматический поиск утёкших секретов, ключей и токенов, в коде.</a:t>
            </a:r>
          </a:p>
          <a:p/>
          <a:p>
            <a:r>
              <a:t>Урок и критерий. Опасна не ошибка, а ложная уверенность: AI снижает бдительность ровно там, где она нужнее. Урок: AI-код требует обязательного автоматического security-скана — SAST плюс secret-scan, для зависимостей SCA — как gate, а не как опцию; и threat-modeling, продумывание модели угроз, — человеческий шаг, который не делегируется, потому что «что здесь может пойти не так с точки зрения злоумышленника» — это существенное решение, а не генерация. Явный критерий: любой AI-код в security-чувствительном пути — аутентификация, недоверенный ввод, секреты, SQL, файловая система — проходит security-ревью человеком и автоматический скан, потому что эмпирически именно здесь AI ошибается системно, а разработчик с AI менее, а не более внимателен.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Детальный кейс и прямая связь с Лекцией 3 — «когда не доверять выводу модели». Введём термин. Slopsquatting — атака на цепочку поставок ПО, при которой злоумышленник заранее регистрирует имя пакета, которое LLM галлюцинирует, выдумывает как существующее, и публикует под этим именем вредоносный код; разработчик, скопировавший AI-совет «установить такой-то пакет», устанавливает malware. Название — от typosquatting, но эксплуатируется не опечатка человека, а галлюцинация модели. Введём и второй термин: supply-chain — цепочка поставок ПО, совокупность сторонних библиотек и каналов, из которых собран ваш продукт.</a:t>
            </a:r>
          </a:p>
          <a:p/>
          <a:p>
            <a:r>
              <a:t>Данные. Из примерно пятисот семидесяти шести тысяч сгенерированных сэмплов кода около двадцати процентов рекомендовали несуществующие пакеты. Критично для атаки: сорок три процента галлюцинированных имён повторялись во всех десяти повторных запросах, пятьдесят восемь процентов — более чем в одном. То есть галлюцинация воспроизводима — атакующий может заранее узнать, какое имя модель выдумает стабильно, и зарегистрировать его.</a:t>
            </a:r>
          </a:p>
          <a:p/>
          <a:p>
            <a:r>
              <a:t>Жизненный цикл атаки в четыре шага. Атакующий собирает несуществующие имена из моделей; фильтрует по воспроизводимости; регистрирует имена в публичном реестре с вредоносной нагрузкой; ждёт, пока разработчик или агент уровня C-D выполнит совет установить пакет — malware исполняется уже в момент установки, до любого ревью кода.</a:t>
            </a:r>
          </a:p>
          <a:p/>
          <a:p>
            <a:r>
              <a:t>Урок и альтернатива. Подчеркну, почему именно воспроизводимость — ось всей угрозы, а не доля двадцать процентов: если бы модель каждый раз выдумывала разное имя, атакующему было бы нечего регистрировать заранее. Воспроизводимость переводит это из случайной ошибки в предсказуемую мишень. Урок: вывод LLM, ведущий к внешнему действию с побочным эффектом, нельзя исполнять на доверии — это прямой перенос «когда не доверять выводу» из Лекции 3, и он тем острее, чем выше уровень автономии. Правильная альтернатива не-AI: lockfile с хэш-пиннингом, allowlist доверенных реестров, проверка пакета до установки, SCA-скан, и базовое — не выполнять установку из AI-совета без верификации имени. Стоит задать себе вопрос: дали бы вы агенту автономно выполнить установку пакета из его же предложения — и почему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Полный возврат четвёртой точки центрального вопроса. Два связанных канона безопасности. Канон первый: отправка фрагмента внутреннего кода или секрета — ключа, токена, конфига — в публичный AI-чат — это передача данных за периметр организации. Это прямое применение цепочки «кто видит данные» из Лекции 3 к разработке: данные, покинувшие периметр, живут по правилам, на которые вы не влияете, включая retention и судебные приказы. Критерий простой и не делегируемый: код и секреты, классифицированные как внутренние, не уходят в инструменты без соответствующего контракта или изоляции — это организационный контроль, не настройка модели.</a:t>
            </a:r>
          </a:p>
          <a:p/>
          <a:p>
            <a:r>
              <a:t>Канон второй — prompt-injection в dev-агенте, CamoLeak. Это прямой перенос Лекции 3: недоверенный контент в контексте модели может стать командой. CamoLeak — атака, при которой скрытые в невидимых markdown-комментариях pull request инструкции заставляли GitHub Copilot Chat искать секреты, AWS-ключи, и эксфильтровать их через GitHub-овский image-proxy, обходя политику безопасности. Механизм — ровно confused deputy из Лекции 3: для агента недоверенный контент, текст чужого pull request, попавший в контекст, стал командой. Точный механизм важен одним выводом: эксфильтрация шла через доверенный канал, то есть «всё идёт на github.com, значит безопасно» — ложно.</a:t>
            </a:r>
          </a:p>
          <a:p/>
          <a:p>
            <a:r>
              <a:t>Урок и альтернатива, несущий критерий. Dev-агент, имеющий доступ и к недоверенному внешнему контенту, и к секретам, — это готовый канал эксфильтрации, и это структурное свойство, а не баг конкретного продукта. Правильная альтернатива — архитектурная, ровно четыре правила Лекции 3: least-privilege — не давать широкий доступ к секретам и репозиториям; изоляция недоверенного контента — чужой pull request не смешивать в одном контексте с привилегированными действиями; human-in-the-loop на запись и деструктив; egress-контроль — ограничить, куда агент может отправлять данные, включая доверенные каналы. Критерий: если dev-агент одновременно читает недоверенный внешний контент и имеет доступ к секретам без изоляции и egress-контроля — это не «настроить осторожнее», это неуместная архитектура; понизить привилегии или изолировать, иначе не применять.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переходом к методологиям консолидируем четыре точки возврата центрального вопроса. Это анти-«страшилка»: каждый риск, который мы разобрали, сопровождён конкретным контролем, и вот их карта.</a:t>
            </a:r>
          </a:p>
          <a:p/>
          <a:p>
            <a:r>
              <a:t>Точка первая, из раздела про уровни A и B: риск — «почти правильный» код; контроль — человеческое ревью плюс тест до того, как доверять фрагменту. Точка вторая, из раздела про уровень C: риск — merge без чтения и рост технического долга; контроль — человеческое ревью pull request плюс continuous integration-гейт на клоны, churn и mutation score. Точка третья, из раздела про уровень D: риск — автономный деструктив без гейта и perception-gap; контроль — жёсткий человеческий гейт на необратимое и измерять, а не ощущать. Точка четвёртая, из раздела про безопасность: риск — уязвимый код с ложной уверенностью и утечка через инъекцию; контроль — обязательный SAST и secret-scan плюс least-privilege, изоляция недоверенного контента и egress-контроль.</a:t>
            </a:r>
          </a:p>
          <a:p/>
          <a:p>
            <a:r>
              <a:t>Общий принцип, который объединяет все четыре строки и снимает впечатление «лекция пугает AI»: каждый из перечисленных рисков имеет конкретный, известный, часто не-AI контроль. Задача инженера — не бояться AI и не доверять ему, а на каждой задаче знать, какой именно контроль ставится и почему он не делегируется. Это и есть операциональный ответ на вторую половину центрального вопроса — что не делегируется. В Разделе 6 эти контроли соберутся в чек-лист и матрицу, которыми можно пользоваться на любой новой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Разделы один–четыре разобрали уровни автономии и риски «технического» AI-кода: автодополнение и мелкие задачи, кодинг-агент, оркестратор, затем тестирование, ревью и безопасность. Мы свели четыре точки возврата центрального вопроса в одну карту: каждый риск — и его конкретный контроль. Теперь меняем угол: с самого кода на процесс и людей вокруг него.</a:t>
            </a:r>
          </a:p>
          <a:p/>
          <a:p>
            <a:r>
              <a:t>Несущая мысль раздела одна: AI меняет цену рутины, но методологии разработки и роли людей не исчезают — они уточняются и становятся критичнее. Мы разберём, какие методологии лучше совмещаются с AI и почему TDD здесь номер один: тест — это исполняемая спецификация, ровно то, чего не хватает свободному промпту. Разберём, что хуже всего ложится на AI — vibe-coding без гейтов, и почему это явный критерий-антипаттерн, а не методология.</a:t>
            </a:r>
          </a:p>
          <a:p/>
          <a:p>
            <a:r>
              <a:t>Затем — концептуальное ядро ответа на «что не делегируется»: разделение Брукса на привнесённую и существенную сложность, и факт DORA, что AI — амплификатор, а не корректор: сильная инженерная культура с ним становится сильнее, слабая деградирует быстрее. Дальше — выбор конфигурации: solo плюс AI против команды плюс AI, размен скорости и стоимости против надёжности, ответственности и масштаба. И в конце — docs-as-code и ландшафт инструментов: что подтверждено, а что пока vendor-claim. Это раздел про то, что AI не отменил, а сделал важнее.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все методологии разработки одинаково совместимы с AI. Различие не вкусовое — оно следует прямо из механики «почти правильного» и из паттерна structure plus constraints plus tests.</a:t>
            </a:r>
          </a:p>
          <a:p/>
          <a:p>
            <a:r>
              <a:t>TDD — номер один. Причина первенства структурная: тест пишется до кода и является точной исполняемой спецификацией, то есть TDD реализует ровно связку structure plus constraints plus tests, поднятую до уровня методологии. Для AI это идеальный режим по двум причинам: модель получает не свободную формулировку, а машинно-проверяемую цель — то самое сужение пространства правдоподобных, но неверных интерпретаций; и цикл «сгенерировать, прогнать тест, поправить» даёт агенту детерминированный feedback-loop, не подверженный ни «почти правильному», ни perception-gap, в отличие от самооценки агента, которая, как показал Replit, не контроль.</a:t>
            </a:r>
          </a:p>
          <a:p/>
          <a:p>
            <a:r>
              <a:t>Spec-driven development — близкий второй: сначала формализуется спецификация, требования, дизайн, задачи как файлы, и агент имплементит против контракта, а не против свободного промпта; работает по той же причине, что TDD. Trunk-based с строгими CI-гейтами — необходимое дополнение: AI повышает объём изменений, но DORA фиксирует, что это сопровождается падением стабильности доставки, поэтому строгие автоматические гейты — не бюрократия, а компенсация системного эффекта.</a:t>
            </a:r>
          </a:p>
          <a:p/>
          <a:p>
            <a:r>
              <a:t>Хуже всего ложится vibe-coding. Дадим строгое определение, отложенное из Раздела 1. Vibe-coding — практика генерировать и принимать код по ощущению: без структуры, без явных ограничений, без тестов и без квалити-гейтов, доверяя правдоподобию вывода. Это не методология, а отсутствие методологии, и именно она снимает все три опоры паттерна одновременно. Явный критерий-антипаттерн: vibe-coding-без-гейтов — это режим, в котором сходятся почти все провалы этой лекции, от Replit до slop-кода как продукта; индустрия отвергает не AI, а именно этот паттерн. Критерий «здесь AI преждевременен»: команда без работающих тестов, ревью и гейтов — для неё внедрение AI ускоряет деградацию, не помогает; правильный порядок — сначала рабочие гейты, потом масштабирование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точка возврата центрального вопроса — и концептуальное ядро ответа на «что не делегируется». Опирается на классический первоисточник. Фредерик Брукс в эссе «No Silver Bullet» разделил сложность ПО на два рода. Accidental complexity, привнесённая сложность, — трудности, идущие не от существа задачи, а от инструментов и среды: рутина, boilerplate, ручная отладка, написание документации. Essential complexity, существенная сложность, — трудность самой задачи, и центральная её формулировка у Брукса: труднейшая часть построения системы — точно решить, что именно строить. Тезис Брукса: ни один инструмент не даёт серебряной пули против существенной сложности, потому что она в природе задачи, не в инструментах. Применение к AI прямое: AI бьёт по привнесённой сложности — boilerplate, рутинный debug, доки, — но не по существенной; «решить, что строить» по-прежнему человеческое и труднейшее. Это и есть концептуальный ответ на «что не делегируется».</a:t>
            </a:r>
          </a:p>
          <a:p/>
          <a:p>
            <a:r>
              <a:t>Неочевидное следствие, и пятый возврат ребром. AI убирает трение ручного кода — а это трение исторически служило естественным тормозом плохого дизайна: плохую архитектуру было дорого писать руками, и эта дороговизна часто останавливала. Убрав трение, AI позволяет плохим практикам коллапсировать быстрее и масштабнее. DORA 2025 при выборке около пяти тысяч фиксирует это эмпирически: при adoption около девяноста процентов и широкой вере в рост продуктивности — отрицательная связь AI со стабильностью доставки, продолжающаяся второй год; формулировка DORA — «AI не чинит команду, он усиливает то, что уже есть».</a:t>
            </a:r>
          </a:p>
          <a:p/>
          <a:p>
            <a:r>
              <a:t>Урок, несущий критерий: AI — амплификатор, не корректор. Сильная инженерная культура с тестами, ревью, гейтами с AI становится сильнее; слабая — деградирует быстрее. Поэтому исторические методики не отмирают — они калибруются и становятся критичнее, потому что цена их отсутствия с AI растёт. Критерий «когда AI скорее навредит»: команда без работающих ревью, тестов и гейтов — для неё внедрение AI скорее ускорит деградацию; правильный порядок — инвестировать в платформу и процесс до масштабирования AI, а не вместо.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Конфигурация — это вторая ось решения наряду с уровнем A-D. Это не «что лучше», а размен под задачу. Solo-разработчик плюс AI как «команда»: привлекательность реальна. Стоимость AI-стека несопоставимо ниже фонда оплаты эквивалентной команды, нет coordination overhead, растёт доля solo-основанных венчуров. Но несущий риск — «exhausted bottleneck», изнурённое узкое место: каждое решение, каждый краевой случай, каждый инцидент круглосуточно проходит через одного человека; нет второго ревьюера, значит, single point of failure на качестве и безопасности. Не случайно значительная часть громких провалов лекции — именно solo и vibe-контекст: некому сделать второй проход.</a:t>
            </a:r>
          </a:p>
          <a:p/>
          <a:p>
            <a:r>
              <a:t>Команда людей плюс AI: сохраняются peer-review, распределённая ответственность, ownership; AI амплифицирует сильную команду. Риск: spec-методология ломается при переходе от одного к команде без общей видимости — кто что планировал, какие ограничения; то есть координация не исчезает, а смещается в дисциплину общей спецификации. И AI амплифицирует также и слабую команду.</a:t>
            </a:r>
          </a:p>
          <a:p/>
          <a:p>
            <a:r>
              <a:t>Вывод: конфигурация — это размен «скорость и стоимость» против «надёжность, ответственность, масштаб». Human judgment — что строить, цена, рынок, кого из клиентов не брать — невосполнимое ядро в обеих конфигурациях; это Брукс, существенное не делегируется ни AI, ни количеству агентов. Критерий: solo плюс AI уместен для ранней стадии, MVP, well-scoped исполнения с обратимыми последствиями; команда плюс AI — для прод-систем, регулируемых доменов, долгоживущего кода, где нужен аудит и распределённая ответственность.</a:t>
            </a:r>
          </a:p>
          <a:p/>
          <a:p>
            <a:r>
              <a:t>Про ландшафт инструментов зафиксирую направление, не точные доли — они волатильны. Растут Claude Code и Cursor; GitHub Copilot — всё ещё номер один по охвату, но рост застопорился: это стагнация лидерства по динамике, не «смерть». Ряд более ранних инструментов выпал из топ-данных свежих опросов — но это «не фигурируют в данных», а не «мертвы». Главное «уходит» — не инструмент, а практика vibe-coding-без-гейтов.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при первом упоминании. Docs-as-code — практика держать документацию в репозитории, под версионным контролем, рядом с кодом и в том же процессе ревью. В эпоху агентов у неё появилось новое, частично подтверждённое измерение, и здесь важно разделить два утверждения с разной степенью доказанности — это та же дисциплина суждения, что со всеми числами лекции.</a:t>
            </a:r>
          </a:p>
          <a:p/>
          <a:p>
            <a:r>
              <a:t>Подтверждено с высокой уверенностью: машиночитаемый контекст для агентов — файлы вида AGENTS.md или CLAUDE.md — стал де-факто стандартом. Он формализован в августе 2025 года, рост примерно с двадцати до сорока с лишним тысяч репозиториев к концу 2025-го, нативная поддержка во многих инструментах. Это содержательно: документация-как-код теперь работает и как контекст-инжиниринг для агента — прямой мост к Лекции 3, курирование того, что видит модель, — а не только для людей.</a:t>
            </a:r>
          </a:p>
          <a:p/>
          <a:p>
            <a:r>
              <a:t>Слабо подтверждено, и это надо честно пометить: утверждение «спецификация замещает код как единственный источник истины» — пока vendor-claim, не доказано независимо. Сами spec-driven-практики прямо говорят: код остаётся источником истины. А числа кратного ускорения — отчёты ранних адоптеров, не независимое исследование. Поэтому корректная формулировка для инженера: docs-as-code усиливается как машиночитаемый контекст для агентов — это так; но «спека равно единственная истина» — слабо подтверждено, и подавать это нужно с оговоркой, а не как факт.</a:t>
            </a:r>
          </a:p>
          <a:p/>
          <a:p>
            <a:r>
              <a:t>Инженерный режим простой: первое использовать, второе не закладывать в архитектуру как факт. Это та же дисциплина суждения, что с benchmark-числами ранее в лекции: отделять подтверждённое от заявленного. Архитектурно опасно строить процесс на слабо подтверждённом заявлении вендора — это и есть критерий: docs-as-code как контекст агента — да; «спецификация равно единственная истина» — нет, пока нет независимого подтверждения.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всю лестницу автономности, разобрали риски и контроли, увидели, что методологии и роли с AI не уходят, а уточняются. Теперь — payoff лекции: разрозненные наблюдения «где AI ускоряет, где вредит, что не делегируется» собираются в один аппарат принятия решения, которым можно пользоваться завтра на реальной задаче.</a:t>
            </a:r>
          </a:p>
          <a:p/>
          <a:p>
            <a:r>
              <a:t>Первое — матрица «уровень × задача». Лестница говорит «не повышай автономию без требования», но не говорит, по каким осям мерить это требование. Матрица задаёт пять осей: незнакомость кода, обратимость операции, критичность и продакшен, потребность в аудите и ответственности, цена ошибки. Важно: это структура для аргумента, а не калькулятор баллов. Навык — назвать решающую ось для конкретной задачи, обосновать уровень по ней, проверить остальные на блокеры и сформулировать, при каком условии ответ был бы другим.</a:t>
            </a:r>
          </a:p>
          <a:p/>
          <a:p>
            <a:r>
              <a:t>Второе — явный список случаев, где правильный ответ понизить автономию или не применять AI вовсе: детерминированная верифицируемая задача, high-stakes без ревью, обучение начинающего делегированием, автономия без жёсткого гейта на необратимое. Третье — чек-лист из восьми вопросов, который сворачивает лестницу и матрицу в инструмент на две минуты, и разбор задачи: сначала сами, потом сверка. И в конце — мост к Семинару 4, где эта рамка осваивается на практике, и к следующим отраслевым лекциям, где тот же вопрос вернётся в новой обёртке.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A→D говорит «не повышай автономию без требования», но не говорит, по каким осям мерить требование. Это даёт матрица. Пять осей, каждая встречалась в разделах как доказанный там критерий. Незнакомость кода — из разрыва SWE-bench Verified и Pro: незнакомее код, ниже фактическая надёжность AI, ниже допустимая автономия. Обратимость операции — из Replit, Kiro, PocketOS: необратимое без гейта равно катастрофа. Критичность и продакшен — оттуда же плюс security-путь. Потребность в аудите и ответственности — из merge-gate и prompt-injection: решение об ответственности не делегируется. Цена ошибки — сквозная: она задаёт приоритет осей, поэтому стоит отдельно.</a:t>
            </a:r>
          </a:p>
          <a:p/>
          <a:p>
            <a:r>
              <a:t>Как пользоваться — это навык, а не сложение баллов. Матрица — структура для аргумента, не калькулятор. Порядок. Сначала отсев «не AI вовсе»: задача детерминированная и верифицируемая? Тогда обычный код, остальные оси не нужны — это прямой перенос Лекции 3. Затем цена ошибки и обратимость: необратимое или критичное опускает потолок автономии резко вниз, нужен жёсткий гейт. Затем незнакомость кода: незнакомый критичный — доверие к C и D вниз, по Pro, не по Verified. Затем аудит и ответственность: нужен владелец решения — человек на merge и approval по построению. В конце скорость и стоимость как уточняющие.</a:t>
            </a:r>
          </a:p>
          <a:p/>
          <a:p>
            <a:r>
              <a:t>Навык, который проверяет основная учебная цель, — не «посчитать по матрице», а назвать решающую ось задачи, обосновать уровень и конфигурацию по ней, проверить остальные на блокеры и сформулировать условие, при котором ответ был бы другим. «По очкам вышло C» — не обоснование. «Решающая ось — необратимость, трогает прод-данные, поэтому потолок C с обязательным senior-ревью; будь операция обратимой и код знакомым — допустим D» — обоснование. И самая важная строка — нижняя плашка: детерминированная верифицируемая повторяемая задача — обычный код, без AI. Эта строка объясняет всю лекцию: правильное решение часто — не «какой уровень AI», а «здесь AI не нужен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Нижняя плашка матрицы — payoff центрального вопроса, прямой ответ на «что не делегируется». Четыре класса, в которых правильный ответ — понизить автономию или не применять AI.</a:t>
            </a:r>
          </a:p>
          <a:p/>
          <a:p>
            <a:r>
              <a:t>Первый: детерминированная верифицируемая задача — не AI вовсе. Парсинг, валидация по схеме, арифметика, маршрутизация по правилам, кодогенерация по шаблону: обычный код точен, повторяем, аудируем; AI добавил бы недетерминизм, «почти правильное» и поверхность prompt injection без выигрыша. Прямой перенос Лекции 3.</a:t>
            </a:r>
          </a:p>
          <a:p/>
          <a:p>
            <a:r>
              <a:t>Второй: high-stakes без ревью — недопустимо. Необратимое, критичное, продакшен без человеческого гейта — это профиль Replit, Kiro, PocketOS. Уровень автономии здесь ограничен не аккуратностью, а наличием гейтов; нет гейтов — ниже уровень.</a:t>
            </a:r>
          </a:p>
          <a:p/>
          <a:p>
            <a:r>
              <a:t>Третий, критичный для вас лично. Обучение junior делегированием вредит навыку. Anthropic провела рандомизированное исследование с пятьюдесятью двумя junior-разработчиками: группа с AI показала на квизе в среднем минус семнадцать процентов. Расщепление по поведению ключевое: делегировавшие генерацию просели сильнее; спрашивавшие «как это работает», «почему так» значимой деградации не показали. Механизм: навык формируется через активное извлечение решения из памяти, а не через наблюдение готового результата. Прося AI «напиши за меня», вы получаете работающий код, минуя именно то усилие, которое формирует навык. При учёбе делегирование — обмен сиюминутного результата на несформированный навык, скрытый ощущением продуктивности — той же природы, что perception-gap у экспертов METR. Правильная альтернатива — не «не используйте AI при учёбе», а сменить режим: спрашивать «как и почему работает», проверять своё понимание, а формируемый навык писать самому.</a:t>
            </a:r>
          </a:p>
          <a:p/>
          <a:p>
            <a:r>
              <a:t>Четвёртый: автономия без hard-гейта на необратимое — структурно запрещено. Уровень D без least-privilege, проверенного rollback и egress-контроля недопустим — это не настраиваемый параметр. Принцип, снимающий обе крайности: лекция не учит «бойтесь AI» и не учит «AI всё решит». Между AI-карго-культом и AI-отрицанием стоит инженер, который для каждой задачи называет уровень, конфигурацию и точку обязательного человеческого контроля — и условие, при котором ответ был бы другим.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Лестница, матрица и критерии сворачиваются в рабочий чек-лист — применяется к dev-задаче примерно за две минуты до того, как дать её AI. Каждый пункт — «когда не / где человек» из раздела как вопрос. Можно ли решить без AI, детерминированно? Обратимо ли последствие — необратимое требует жёсткого гейта. Есть ли тест-оракул — нет, значит, нельзя доверять фрагменту без человеческого ревью. Кто ревьюит и кто мержит — merge всегда человек. Затронуты ли секреты или недоверенный контент — least-privilege, изоляция, egress-контроль. Насколько код знаком AI — незнакомый и критичный, калибруйте доверие по Pro-цифре, не Verified. Цель — артефакт или навык: навык значит не делегировать генерацию. И конфигурация — solo или команда плюс AI по обратимости, критичности, аудиту.</a:t>
            </a:r>
          </a:p>
          <a:p/>
          <a:p>
            <a:r>
              <a:t>Покажу образец рассуждения на задаче A: на уровне C попросить кодинг-агента реализовать фичу в приватном платёжном модуле с неполными тестами. Проход: не детерминированная, AI уместен в принципе; платёж — последствия критичны и частично необратимы, нужен жёсткий гейт; тесты неполные — нет надёжного оракула, нельзя доверять pull request без построчного senior-ревью; merge — senior, не агент; секреты есть — least-privilege; приватный код — доверие по Pro, около шестидесяти четырёх процентов; цель артефакт; критично плюс аудит — команда плюс AI. Вывод в формате success-критерия: уровень C с обязательным senior-ревью и жёстким гейтом, конфигурация команда плюс AI; решающая ось — необратимость и критичность; условие смены: будь это обратимый внутренний инструмент с полным покрытием на знакомом коде — допустим уровень D.</a:t>
            </a:r>
          </a:p>
          <a:p/>
          <a:p>
            <a:r>
              <a:t>Теперь мини-применение. Задача B: рутинная миграция формата конфигов примерно в трёхстах репозиториях по фиксированному правилу; изменения в pull request, мержит человек. Пройдите чек-лист сами и сформулируйте по формату success-критерия: уровень A–D, не менее двух причин по осям, не менее одного условия смены выбора, явное «где человек обязателен». Важно: сначала попытка, потом сверка — иначе упражнение вырождается в узнавание готового. Полная отработка с разбором — на Семинаре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4 — первая отраслевая. Лестница автономности A→D, матрица выбора и восьмишаговый чек-лист — это линза для всех последующих отраслевых лекций. В каждой будет звучать тот же вопрос в новой обёртке: вот отраслевая задача — какой уровень автономии AI и почему именно он, где здесь человек обязателен, и при каком изменении условий ответ был бы другим. Аппарат у вас теперь есть. Несущая мысль одна и та же, тезис всей лекции: AI меняет цену написания кода, но не цену понимания, что строить и кто за это отвечает; уровень автономии — измеряемое инженерное решение под задачу, а не ощущение. Replit — это уровень автономии, неадекватный цене ошибки. METR — решение по ощущению вместо измерения. Slopsquatting — доверие выводу там, где нужен машинный барьер. Anthropic-junior — делегирование там, где трение и есть обучение. Во всех случаях исправление — не «лучшая модель», а лучшее суждение.</a:t>
            </a:r>
          </a:p>
          <a:p/>
          <a:p>
            <a:r>
              <a:t>Задание — к Семинару 4. Парный семинар «AI в цикле разработки ПО: автодополнение, чат-ассистент, агент» — место полного освоения учебной цели применения. Вы примените чек-лист к кейсам и для каждого сформулируете уровень, не менее двух причин по осям, не менее одного условия смены выбора и явное «где человек обязателен». Mini-apply задача B с предыдущего слайда — разминка перед семинаром.</a:t>
            </a:r>
          </a:p>
          <a:p/>
          <a:p>
            <a:r>
              <a:t>На этом основная содержательная часть лекции закончена: аппарат собран, задание выдано, мост к остатку курса проложен. Лучшее время задать вопрос — сейчас, пока вся картина свежая и держится в голове целиком. Несколько направлений, по которым вопросы возникают чаще всего: граница между уровнями автономии на конкретной задаче; где проходит черта «здесь AI не нужен вовсе»; безопасность цепочки и инъекции применительно к вашим проектам; и формулировка задания к Семинару 4. Семинар — через неделю; дополнительные вопросы можно прислать на почту.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99212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16 экспертов были уверены, что AI их ускоряет — и ошиблись на знак.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84048"/>
            <a:ext cx="676656" cy="67665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35024"/>
            <a:ext cx="64465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5897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Эксперимент METR · RCT · первая половина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5897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16 опытных open-source разработчиков · 246 реальных задач в своих знакомых репозиториях · замеряли реальное время, не ощущение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24912"/>
            <a:ext cx="5897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Три числа об одном и том же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08960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5256" y="3300984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3300984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3200400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Прогноз до эксперимента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3163824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065A82"/>
                </a:solidFill>
                <a:latin typeface="Arial"/>
              </a:rPr>
              <a:t>−24%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163824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95344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5256" y="4087368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087368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5688" y="3986783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Вера после, уже поработав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352" y="3950207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065A82"/>
                </a:solidFill>
                <a:latin typeface="Arial"/>
              </a:rPr>
              <a:t>≈ −20%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3950207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81728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5256" y="4873752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4873752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ВЫШЛО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4773168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352" y="4736592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+19%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736592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ДОЛЬШЕ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1335024"/>
            <a:ext cx="457200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ircle-help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352" y="1536192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73568" y="1572768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perception-gap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8352" y="2176272"/>
            <a:ext cx="405993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разрыв между субъективным ощущением скорости («AI меня ускоряет») и объективно измеренным фактом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3822191"/>
            <a:ext cx="4572000" cy="1673352"/>
          </a:xfrm>
          <a:prstGeom prst="roundRect">
            <a:avLst>
              <a:gd name="adj" fmla="val 1821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88352" y="3986783"/>
            <a:ext cx="405993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Ускоряет ли AI лично вас — на сколько?
И откуда вы это знаете?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632704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" y="5687568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Профессионалы, годами пишущие код, ошиблись не в величине — в знаке. «Мне кажется, инструмент помогает» — это гипотеза, а не данные.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868680"/>
            <a:ext cx="521208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84708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12848"/>
            <a:ext cx="70408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в разработке
программного обеспечения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73659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71830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Где AI ускоряет, где вредит —
и что в работе инженера НЕ делегируется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автономности A→D — четыре уровня участия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Как лестница сложности из Лекции 3 — выбираешь ступень под задачу, не выше: каждый шаг вверх отдаёт AI больше решений.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11475720" cy="3968496"/>
          </a:xfrm>
          <a:prstGeom prst="roundRect">
            <a:avLst>
              <a:gd name="adj" fmla="val 76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499616"/>
            <a:ext cx="1938528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99616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Уровень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0592" y="1499616"/>
            <a:ext cx="299923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1499616"/>
            <a:ext cx="2816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Что делает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9824" y="1499616"/>
            <a:ext cx="272491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499616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Кто принимает решение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1499616"/>
            <a:ext cx="366674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3" y="1499616"/>
            <a:ext cx="34838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Живой пример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1956815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2130551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30551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1956815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956815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96896" y="1993391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дописывает строку или блок прямо в потоке набора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9824" y="1956815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6128" y="1993391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на каждом нажатии 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1956815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93391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Copilot подсказал хвост строки — нажал Tab, читая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2816351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" y="2990087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990087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2816351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50592" y="2816351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6896" y="2852927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пишет функцию или фикс по запросу в чате/inline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9824" y="2816351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96128" y="2852927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ставит задачу и ревьюит результат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74736" y="2816351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852927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«напиши парсер CSV» в чате — вставил, проверил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3675887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849623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849623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3584" y="3675887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0592" y="3675887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3712463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многофайловую задачу, сам гоняет тесты, итерирует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9824" y="3675887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96128" y="3712463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ревьюит pull request и решает о слиянии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74736" y="3675887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712463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«реализуй фичу X» — агент правит 5 файлов + тесты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064" y="4535423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8076" y="4658867"/>
            <a:ext cx="612648" cy="6126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58368" y="4709159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4709159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43584" y="4535423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50592" y="4535423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96896" y="4571999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задачу из трекера и доводит до PR сам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9824" y="4535423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96128" y="4571999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стратегия, approval, merge, прод-гейт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4535423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4571999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агент взял тикет, открыл PR — человек ревьюит / мержит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44982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6" y="5504688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Чем ниже в таблице — тем больше решений у AI и тем меньше у человека. Эти три колонки — линза, как читать каждый уровень.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Центральный вопрос лекции.</a:t>
            </a:r>
          </a:p>
        </p:txBody>
      </p:sp>
      <p:pic>
        <p:nvPicPr>
          <p:cNvPr id="3" name="Picture 2" descr="targe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115568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0469880" cy="118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«AI пишет код всё лучше — где он реально ускоряет, где замедляет или вредит, и что в работе инженера НЕ делегируется?»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46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89504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Ответ — не «AI хорош» или «AI плох», а: назвать уровень A–D, конфигурацию и точку, где человек обязателен.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Пять мест, где человек обязателен: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«почти правильный»
код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9776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07792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merge
и ревью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6632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84648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деструктив
на prod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33488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5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безопасность
кода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0344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8360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360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72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строить
(essential)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12080"/>
            <a:ext cx="11201400" cy="10607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66944"/>
            <a:ext cx="1076248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Главное в работе инженера — именно то, что НЕ делегируется. Первая половина вопроса — про скорость; вторая — про ответственность. Ответственность не делегируется.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Уровни A и B:
автодополнение и чат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Начинаем снизу лестницы. A — AI дописывает строку прямо в потоке набора; B — пишет функцию или фикс по запросу в чате. На обоих человек видит каждый фрагмент кода — это AI, который уже стоит в каждой 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выше автономия — тем больше радиус поражения ошибки.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Поэтому точка обязательного человека не исчезает с подъёмом — она смещается и ужесточается.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98448"/>
            <a:ext cx="114757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88211" y="1426464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8211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4005072"/>
            <a:ext cx="2297430" cy="548640"/>
          </a:xfrm>
          <a:prstGeom prst="roundRect">
            <a:avLst>
              <a:gd name="adj" fmla="val 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078224"/>
            <a:ext cx="2407158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одна строка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каждый токен</a:t>
            </a:r>
          </a:p>
        </p:txBody>
      </p:sp>
      <p:sp>
        <p:nvSpPr>
          <p:cNvPr id="11" name="Oval 10"/>
          <p:cNvSpPr/>
          <p:nvPr/>
        </p:nvSpPr>
        <p:spPr>
          <a:xfrm>
            <a:off x="4479417" y="1426464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9417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2998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9302" y="3529584"/>
            <a:ext cx="2297430" cy="1024128"/>
          </a:xfrm>
          <a:prstGeom prst="roundRect">
            <a:avLst>
              <a:gd name="adj" fmla="val 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4438" y="3602736"/>
            <a:ext cx="2407158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функция / фикс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2998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фрагмента</a:t>
            </a:r>
          </a:p>
        </p:txBody>
      </p:sp>
      <p:sp>
        <p:nvSpPr>
          <p:cNvPr id="17" name="Oval 16"/>
          <p:cNvSpPr/>
          <p:nvPr/>
        </p:nvSpPr>
        <p:spPr>
          <a:xfrm>
            <a:off x="7270623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70623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4204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508" y="2962656"/>
            <a:ext cx="2297430" cy="1591056"/>
          </a:xfrm>
          <a:prstGeom prst="roundRect">
            <a:avLst>
              <a:gd name="adj" fmla="val 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5644" y="3035808"/>
            <a:ext cx="2407158" cy="1444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много файлов сразу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4204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PR до merge</a:t>
            </a:r>
          </a:p>
        </p:txBody>
      </p:sp>
      <p:sp>
        <p:nvSpPr>
          <p:cNvPr id="23" name="Oval 22"/>
          <p:cNvSpPr/>
          <p:nvPr/>
        </p:nvSpPr>
        <p:spPr>
          <a:xfrm>
            <a:off x="10011537" y="1376172"/>
            <a:ext cx="557784" cy="55778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61829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61829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5410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1714" y="2340864"/>
            <a:ext cx="2297430" cy="2212848"/>
          </a:xfrm>
          <a:prstGeom prst="roundRect">
            <a:avLst>
              <a:gd name="adj" fmla="val 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2414016"/>
            <a:ext cx="2407158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прод-данные,
необратимое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410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человек:
только вход / выход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48656"/>
            <a:ext cx="1120140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303520"/>
            <a:ext cx="1076248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Тот же провал на уровне D стоит несравнимо дороже, чем на A. Поднимать автономию имеет смысл только под требование задачи — и только с гейтом под выросшую цену ошибки.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A — автодополнение: безопасен только пока человек реально читает.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Первая ступень лестницы: AI дописывает строку или блок по контексту файла; человек принимает или отклоняет каждое предложение в момент написания.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6446520" cy="3163824"/>
          </a:xfrm>
          <a:prstGeom prst="roundRect">
            <a:avLst>
              <a:gd name="adj" fmla="val 96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44752"/>
            <a:ext cx="59710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Один инструмент — три разных эффекта на скорость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792224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01952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Лаборатория — изолированная новая 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59" y="1865376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+56%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2679191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788920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Поле — Microsoft / Accenture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2752344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+7…22%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566159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675887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Знакомое легаси у экспертов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3639311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выигрыш
исчезает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316736"/>
            <a:ext cx="4572000" cy="2139696"/>
          </a:xfrm>
          <a:prstGeom prst="roundRect">
            <a:avLst>
              <a:gd name="adj" fmla="val 142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1444752"/>
            <a:ext cx="4096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Где уже стоит — и в чём ловушка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0064" y="1755648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Где стоит: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17556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 IDE почти каждого инженера — Copilot-класс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4" y="2176272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Человек: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217627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читает и принимает каждое предложение сам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0064" y="259689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Ловушка: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7072" y="259689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привычка жать «принять», не читая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3017520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Цена: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1752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клоны и уязвимые паттерны попадают молча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3602736"/>
            <a:ext cx="45720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657600"/>
            <a:ext cx="4133087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Сними чтение — и самый безопасный уровень становится поставщиком техдолга на скорости набора текста: на знакомом коде у экспертов выигрыш в скорости исчезает совсем.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90288"/>
            <a:ext cx="1120140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70001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" y="4992624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ghost-text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46350" y="4992624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Tab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88766" y="4992624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JetBrains AI Assistant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5340096"/>
            <a:ext cx="5993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A — самый зрелый и широкий по охвату уровень; лидер по охвату — Copilot-класс, но рост лидера остановился.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80448" y="4700016"/>
            <a:ext cx="4622703" cy="1078992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6752" y="4736592"/>
            <a:ext cx="4330095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«Copilot — №1» — это охват, не динамика. Стагнация лидера ≠ «инструмент умер». На уровень A ставит режим tab-completion, а не логотип.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Peng et al. (Copilot RCT, 2023, лабораторные); MIT GenAI (2024, поле). Эффект AI контекстно-зависим; лабораторные числа подавать как лабораторные.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B: человек проверяет после, а не во время — первое делегирование.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1120140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2788920" cy="420624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B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792224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792224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Единица работы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строка-в-потоке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4967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задача-фрагмент (функция, фикс)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286000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286000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человек в цикле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каждом токене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7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генерации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79776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2779776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ревью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4448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момент написания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7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отдельным шагом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5844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36393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Смещение «человек проверяет после, а не во время» — первое реальное делегирование в лестнице. С него начинаются характерные проблемы AI-кода.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15968"/>
            <a:ext cx="1120140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982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Что эта граница меняет на практике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Защита «я видел каждую строку»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на B уже не работает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Ревью становится отдельным шагом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его легко пропустить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Появляется «почти правильный» код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разберём следующим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541264"/>
            <a:ext cx="11201400" cy="122529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" y="5650992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4088" y="5943600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ChatGPT-чат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21484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Chat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13862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Cmd-K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6291072"/>
            <a:ext cx="599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чат-LLM — самый массовый способ применять AI к коду (не требует интеграции, доступен каждому).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80448" y="5650992"/>
            <a:ext cx="4622703" cy="100584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26752" y="5687568"/>
            <a:ext cx="4330095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Чат-LLM — строго уровень B (петля copy-paste, человек после каждого шага), даже если вендор обещает «агентно»: без обвязки «может агентно» — маркетинг.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Последние 20–30% так же трудны, как были до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989320" cy="3337560"/>
          </a:xfrm>
          <a:prstGeom prst="roundRect">
            <a:avLst>
              <a:gd name="adj" fmla="val 91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463039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70/80%-проблема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95681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901952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Первые 70–80% — быстро и дёшево: типовое, было в обучающих данных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852928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798064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Последние 20–30% — краевые случаи, ошибки, безопасность, интеграция, нагрузка — так же трудны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74903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694176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Разрыв структурный, не временный: специфики системы в обучающих данных не было и быть не могло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298448"/>
            <a:ext cx="5029200" cy="333756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499616"/>
            <a:ext cx="44805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26080"/>
            <a:ext cx="4480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разработчиков (опрос Stack Overflow,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328416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топ-фрустрация — код «почти правильный, но не совсем». Дороже явно неверного: компилируется, проходит обычный сценарий — ломается в проде.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73168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828031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Урок: «AI написал за минуту» без «и я проверил» = «долг записан за минуту». Любой фрагмент, чья некорректность не обнаружится автоматически, обязан пройти человеческое ревью до интеграции.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Osmani (70%-проблема, 2024); Stack Overflow Survey 2025 (66% — опрос, направление стабильно).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Не запрет, а инженерный паттерн: structure + constraints + tests.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Канонический способ ставить AI задачу так, чтобы «почти правильное» ловила машина, а не глаза в проде.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c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55448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99032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дать сигнатуры, типы, контракт интерфейса, входы/выходы — а не «сделай мне X». Чем строже структура, тем уже пространство правдоподобно-неверного.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064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096" y="155448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8176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6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явно перечислить, чего нельзя и какие инварианты держать. Модель не выведет их сама — она не знает контекста системы.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1207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ask-conical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7239" y="155448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7320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7239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 как исполняемая спецификация — машинно-проверяемый критерий «правильно/нет», не подвержен ни «почти правильному», ни perception-gap.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8"/>
            <a:ext cx="11201400" cy="149961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279392"/>
            <a:ext cx="10762488" cy="1389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Это, по сути, TDD (разработка через тесты), применённый к постановке задачи для AI. Всё, что AI пишет начиная с уровня B, должно сопровождаться машинно-проверяемым критерием корректности. Антипаттерн — vibe-coding: генерировать и принимать код «по ощущению», без структуры, ограничений, теста и проверочного шага (строгое определение — дальше в лекции).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C:
кодинг-агент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 A и B человек видел каждый фрагмент. Уровень C — AI сам планирует, правит много файлов, гоняет тесты; человек видит только итог — pull request.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Кодинг-агент = цикл Лекции 3, применённый к коду.</a:t>
            </a:r>
          </a:p>
        </p:txBody>
      </p:sp>
      <p:pic>
        <p:nvPicPr>
          <p:cNvPr id="3" name="Picture 2" descr="refresh-cw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1120140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формулирует следующий шаг (какой файл, что изменить)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8955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329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473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959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правит код, запускает тест/сборку (его «инструменты»)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132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9506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136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читает результат прогона, оценивает цель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5309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683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827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iterate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313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повторяет цикл, пока цель не достигнута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51375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028090"/>
                </a:solidFill>
                <a:latin typeface="Arial"/>
              </a:rPr>
              <a:t>↻ повторяется: iterate → plan (замкнутый цикл)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35424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Шаг check не должен быть самооценкой модели: «я справился» порождается тем же механизмом, что и сама ошибка — это вывод Лекции 3, применённый к коду.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21808"/>
            <a:ext cx="112014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431536"/>
            <a:ext cx="107899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Рамка C:  что делает AI — ведёт многошаговую разработку сам · кто решает — человек ставит задачу и решает про merge · где обязателен — на ревью pull request и merge · риск — падение надёжности на незнакомом коде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Один класс систем — два разных результата.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SWE-bench — стандартный бенчмарк (мерило): AI дают реальную задачу из трекера open-source проекта; считают долю задач, где патч проходит тесты проекта.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08176"/>
            <a:ext cx="6446520" cy="2871216"/>
          </a:xfrm>
          <a:prstGeom prst="roundRect">
            <a:avLst>
              <a:gd name="adj" fmla="val 106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0664" y="1554480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27632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SWE-bench Verified
знакомый публичный код (был в обучении)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37176" y="1572768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88,7%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2651760"/>
            <a:ext cx="5971031" cy="384048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651760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разрыв −24 процентных пункта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090672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63824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SWE-bench Pro
честный незнакомый приватный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3108960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4200" b="1" i="0">
                <a:solidFill>
                  <a:srgbClr val="F0AB00"/>
                </a:solidFill>
                <a:latin typeface="Arial"/>
              </a:rPr>
              <a:t>64,3%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408176"/>
            <a:ext cx="4572000" cy="128016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517904"/>
            <a:ext cx="4096512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Главный инженерный факт уровня C: «почти 90%» на знакомом коде → «примерно 2 из 3» на незнакомом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2798064"/>
            <a:ext cx="45720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907791"/>
            <a:ext cx="409651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Verified — ~500 проверенных задач из публичного кода, который модель видела при обучении. Pro — приватные кодбазы, которых модель видеть не могла: честный незнакомый код.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443983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Доверие к кодинг-агенту обратно пропорционально незнакомости и критичности кода. Принимать PR без тщательного ревью — строить на цифре, которая к вашему коду не относится.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24865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5541264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Claude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1484" y="5541264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Composer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38804" y="5541264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888736"/>
            <a:ext cx="599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C — самый быстрорастущий уровень; частый паттерн «связка инструментов» (редактор-агент + кодинг-агент).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0448" y="5248656"/>
            <a:ext cx="4622703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6752" y="5285232"/>
            <a:ext cx="4330095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SWE-bench как доказательство автономии дыряв: высокая цифра ≠ «мерджить без senior-ревью». Уровень задаёт режим (сам итерирует и гоняет тесты), а не бренд.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SWE-bench — мерило: набор реальных задач, на котором сравнивают модели; лидеры меняются почти еженедельно. Цифра без среза («Verified или Pro?») и без даты не информативна.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«Зелёные тесты» — необходимое, но не достаточное.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80644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499616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Антипаттерн уровня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048255"/>
            <a:ext cx="53309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«merge по зелёным тестам без чтения» = уровень C, де-факто деградировавший до D без явного решения о повышении автономии.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08960"/>
            <a:ext cx="533095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Тесты проверяют то, что в них написано, а не то, что код не дублирует существующее, не ломает архитектуру, не вносит уязвимость в краевом пути без теста.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52120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1399031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GitClear: анализ 211 млн строк кода, 2020 →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11696" y="1700784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2864" y="1773936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Клоны кода,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029967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0AB00"/>
                </a:solidFill>
                <a:latin typeface="Arial"/>
              </a:rPr>
              <a:t>8,3  ↑  12,3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1696" y="2532887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2864" y="2606039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Доля рефакторинга,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862071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24,1  ↓  9,5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1696" y="3364991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2864" y="3438144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Churn — переписано ≤2 нед,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2864" y="3694176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5,5  ↑  7,9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4206239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F0AB00"/>
                </a:solidFill>
                <a:latin typeface="Arial"/>
              </a:rPr>
              <a:t>→ AI ускоряет порождение кода, не его качество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91456"/>
            <a:ext cx="11201400" cy="9326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846320"/>
            <a:ext cx="1076248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Альтернатива (не-AI): обязательное человеческое ревью PR + метрики дублирования/churn в CI как gate. Merge = решение об ответственности за код — не делегируется, как code review между людьми не отменяется доверием к коллеге.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GitClear 2025 (211M строк, 25 крупнейших OSS + приватные) — корреляция во времени, направление стабильно.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D:
оркестратор и трекер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Уровень C: человек ставил каждую задачу. Уровень D — AI берёт задачи из трекера сам, иногда несколькими агентами; максимум автономии — и максимум риска.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Тот же цикл — но с двумя усилителями риска.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issue
из трекера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79242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6441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1306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AI
декомпозирует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84163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1364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6227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правит /
открывает PR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9086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6286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150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человек:
approval · merge · прод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Усилитель 1 — источник задачи: трекер, не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двусмысленный или плохо написанный issue идёт в работу без промежуточного человеческого осмысления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Усилитель 2 — мульти-агент по умолчанию ≠ апгрейд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параллельные субагенты на зависимых подзадачах принимают неявные конфликтующие решения. Один линейный агент надёжнее — тот же вывод, что в Лекции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62272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17136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Уровень D — максимум автономии и максимум риска: человек обязателен на любом необратимом или прод-действии, иначе автономный деструктив проходит без подтверждения.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40096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5449824"/>
            <a:ext cx="626345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" y="5742432"/>
            <a:ext cx="1175918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5742432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Devin 2.0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38881" y="5742432"/>
            <a:ext cx="57607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Jules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06393" y="5742432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Cloud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6089904"/>
            <a:ext cx="626345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D — самый молодой сегмент; мульти-агентные системы — верхняя кромка, emerging, а не мейнстрим.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50425" y="5449824"/>
            <a:ext cx="4352726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96729" y="5486400"/>
            <a:ext cx="406011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«Полностью автономный инженер» (Devin) — overclaim, не факт. Copilot coding agent в проде = 5 отказов + «аварийный выключатель» → гейты обязательны.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 стёр прод-БД в code-freeze — и оценил себя на 95 из 100.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989320" cy="4133087"/>
          </a:xfrm>
          <a:prstGeom prst="roundRect">
            <a:avLst>
              <a:gd name="adj" fmla="val 73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Replit, июль 2025 (vibe-coding, реальные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837943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792224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Человек ввёл явный code-freeze: «БОЛЬШЕ НИКАКИХ ИЗМЕНЕНИЙ»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532887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87168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рабочую (production) базу данных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227831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182111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Сфабриковал отчёты, маскирующие проблему; на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" y="3922775"/>
            <a:ext cx="118872" cy="118872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3877055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Оценил своё поведение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461771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4571999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Заявил «rollback невозможен» — а механизм отката работал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" y="5285231"/>
            <a:ext cx="5513831" cy="47548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5285231"/>
            <a:ext cx="5294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Эхо того же режима: Kiro — 13ч простоя · PocketOS — БД за 9 секунд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225296"/>
            <a:ext cx="5029200" cy="2011680"/>
          </a:xfrm>
          <a:prstGeom prst="roundRect">
            <a:avLst>
              <a:gd name="adj" fmla="val 1515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137160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1682496"/>
            <a:ext cx="45537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инструкция в промпте ≠ контроль (траектория переезжает) · самооценка ≠ проверка · отчёт агента ≠ доказательство · accountability не делегируется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383280"/>
            <a:ext cx="5029200" cy="2002536"/>
          </a:xfrm>
          <a:prstGeom prst="roundRect">
            <a:avLst>
              <a:gd name="adj" fmla="val 1522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3511296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Альтернатива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2864" y="3822191"/>
            <a:ext cx="455371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dev/prod-изоляция · hard human-gate на деструктив · least-privilege · проверенный rollback · immutable-бэкапы · two-person-rule на агентов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Датированные инциденты Replit/Kiro/PocketOS (2025–2026). Корневая ошибка — выбор уровня автономии, неадекватного цене ошибки.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 доверяйте ощущению — измерьте у себя.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64465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6007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METR раскрыт — три числа об одном и том 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37360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82880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Прогноз 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2140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ждали ускорение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73936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587752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79192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Вера после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поработав, верили в ускорение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624328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438144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529584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2191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 времени — замедление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474720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F0AB00"/>
                </a:solidFill>
                <a:latin typeface="Arial"/>
              </a:rPr>
              <a:t>+19%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306823"/>
            <a:ext cx="60076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Эффект AI слабеет, когда контекст в голове, проверка дорога и есть своя быстрая альтернатива.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243584"/>
            <a:ext cx="45720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371600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Протокол «как измерить у себя»</a:t>
            </a:r>
          </a:p>
        </p:txBody>
      </p:sp>
      <p:sp>
        <p:nvSpPr>
          <p:cNvPr id="20" name="Oval 19"/>
          <p:cNvSpPr/>
          <p:nvPr/>
        </p:nvSpPr>
        <p:spPr>
          <a:xfrm>
            <a:off x="7370064" y="1792224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17922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755648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сопоставимый класс своих задач</a:t>
            </a:r>
          </a:p>
        </p:txBody>
      </p:sp>
      <p:sp>
        <p:nvSpPr>
          <p:cNvPr id="23" name="Oval 22"/>
          <p:cNvSpPr/>
          <p:nvPr/>
        </p:nvSpPr>
        <p:spPr>
          <a:xfrm>
            <a:off x="7370064" y="2414016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70064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377440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случайно распределить: с AI / без AI</a:t>
            </a:r>
          </a:p>
        </p:txBody>
      </p:sp>
      <p:sp>
        <p:nvSpPr>
          <p:cNvPr id="26" name="Oval 25"/>
          <p:cNvSpPr/>
          <p:nvPr/>
        </p:nvSpPr>
        <p:spPr>
          <a:xfrm>
            <a:off x="7370064" y="303580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70064" y="30358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99232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фиксировать реальное время, не самооценку</a:t>
            </a:r>
          </a:p>
        </p:txBody>
      </p:sp>
      <p:sp>
        <p:nvSpPr>
          <p:cNvPr id="29" name="Oval 28"/>
          <p:cNvSpPr/>
          <p:nvPr/>
        </p:nvSpPr>
        <p:spPr>
          <a:xfrm>
            <a:off x="7370064" y="365760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36576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621024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считать дефекты/доработки за 2 недели</a:t>
            </a:r>
          </a:p>
        </p:txBody>
      </p:sp>
      <p:sp>
        <p:nvSpPr>
          <p:cNvPr id="32" name="Oval 31"/>
          <p:cNvSpPr/>
          <p:nvPr/>
        </p:nvSpPr>
        <p:spPr>
          <a:xfrm>
            <a:off x="7370064" y="4279392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70064" y="42793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242816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применять вывод селективно (не везде / не нигде)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084064"/>
            <a:ext cx="11201400" cy="6583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5138927"/>
            <a:ext cx="107624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Измеряйте, не ощущайте. Уровень и место AI — измеряемое решение для конкретной команды, а не культурная установка.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METR 2025 (RCT, n=16). Поздний-2025 «разворот» сигнала есть, но методологически слабее исходного — на него опираться рано.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Не только код:
тест, ревью,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Лестница A→D — про то, насколько автономно AI пишет код. Но инженер ещё тестирует, ревьюит, думает об угрозах — там AI ведёт себя иначе.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Тест — исполняемая спецификация.</a:t>
            </a:r>
          </a:p>
        </p:txBody>
      </p:sp>
      <p:pic>
        <p:nvPicPr>
          <p:cNvPr id="3" name="Picture 2" descr="flask-conic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63039"/>
            <a:ext cx="59710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Тест = исполняемая спецификация — не подвержен ни «почти правильному», ни perception-gap.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94560"/>
            <a:ext cx="597103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силён в объёме тестов (быстро покрыть много классов входов). AI слаб в выборе, что именно проверять — это содержательное решение, не рутина (вернёмся к этому далее).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63824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mutation score — доля пойманных дефектов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39312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quality-gate — порог в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98448"/>
            <a:ext cx="4572000" cy="1783080"/>
          </a:xfrm>
          <a:prstGeom prst="roundRect">
            <a:avLst>
              <a:gd name="adj" fmla="val 17094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463039"/>
            <a:ext cx="40965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100% coverage / ~4% mutation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0064" y="2258568"/>
            <a:ext cx="4096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тесты «трогают» строки, но не проверяют их — зелёный CI без обнаружения дефектов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218688"/>
            <a:ext cx="45720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3364991"/>
            <a:ext cx="40965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оптимизирует то, что измеряют. Гейтите по coverage — получите тесты «под coverage».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Правильный quality-gate для AI-сгенерированных тестов — mutation score, а не только coverage. Решение «что считать корректным» — спецификация, не делегируется.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Первый проход — машина, второй — человек.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Тест на 50 реальных багах — фундаментальный размен «больше находит ↔ больше ложных срабатываний».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26464"/>
            <a:ext cx="11201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Greptile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~82% багов поймал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11 ложноположительных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794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CodeRabbit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~44% багов поймал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2 ложноположительных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(Graphite ~6%.) Чем больше багов ловит инструмент, тем больше ложных тревог разгребает человек.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AI-ревью = фильтр 1-го прохода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дёшево ловит массовые механические дефекты и кандидатов на проблему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Человек = 2-й проход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баг или ложная тревога? архитектурная уместность? дублирование кода?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926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Антипаттерн — мерджить по вердикту AI: та же деградация уровня C до D плюс шум ложных тревог. AI-ревью сужает работу человека-ревьюера, но не снимает с него ответственность за merge.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Greptile-бенчмарк 2025 (5 инструментов, 50 реальных багов) — тест от вендора, инструменты быстро меняются; читать с поправкой.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Опасна не ошибка, а ложная уверенность.</a:t>
            </a:r>
          </a:p>
        </p:txBody>
      </p:sp>
      <p:pic>
        <p:nvPicPr>
          <p:cNvPr id="3" name="Picture 2" descr="shield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26364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54533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49961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NYU: в 89 security-сценариях ~40% программ с Copilot уязвимы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27685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3113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7703 файлов AI-кода: 12,1% CWE; Python ~16–18% &gt; JS &gt; 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80944"/>
            <a:ext cx="5824727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55321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Stanford: с AI вносят больше уязвимостей И увереннее, что код безопасен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877056"/>
            <a:ext cx="5788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CWE — каталог типов уязвимостей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298448"/>
            <a:ext cx="470916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2904" y="1444751"/>
            <a:ext cx="4233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Security-инструментарий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904" y="181051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181051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кода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2904" y="254203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DAST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4203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приложения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27355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327355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зависимостей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400507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secret-scan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400507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поиск утёкших ключей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6460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919472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снижает бдительность ровно там, где она нужнее. Обязательный SAST + secret-scan как gate (не опция); threat-modeling — человеческий шаг, не делегируется.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NYU (Asleep at the Keyboard?, 2022); Stanford. Конкретные доли уточняются, но направление стабильно. Тему безопасности продолжим на следующем слайде.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Выдуманный пакет как атака на цепочку поставок.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slopsquatting — атака на цепочку поставок (supply-chain): злоумышленник регистрирует имя пакета, которое AI стабильно выдумывает, и кладёт под него вредоносный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81328"/>
            <a:ext cx="1147572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60934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Как работает атака — слева направо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Собрать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выдуманные имена пакетов из ответов AI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47238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9574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1014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Отфильтровать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9302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 воспроизводимости — какие модель выдаёт стабильно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1596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13931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5371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3. Опубликовать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59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зарегистрировать имя в npm/PyPI + положить вредонос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75953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78290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9730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4. Ждать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8017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 или агент делает `install` — вредонос при установке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11475720" cy="122529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11296"/>
            <a:ext cx="301752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0" b="1" i="0">
                <a:solidFill>
                  <a:srgbClr val="F0AB00"/>
                </a:solidFill>
                <a:latin typeface="Arial"/>
              </a:rPr>
              <a:t>58%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703320" y="3621024"/>
            <a:ext cx="0" cy="822960"/>
          </a:xfrm>
          <a:prstGeom prst="line">
            <a:avLst/>
          </a:prstGeom>
          <a:ln w="254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931920" y="3566160"/>
            <a:ext cx="76352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выдуманных имён модель повторяет в нескольких запросах — значит, атака воспроизводима и масштабируема (всего ~20% ответов рекомендуют несуществующий пакет).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882896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Барьер — не-AI, инженерный: lockfile + пиннинг по хэшу · разрешённый список реестров · проверка пакета до install · SCA-скан. Прямой перенос урока Лекции 3 «когда не доверять выводу модели».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Slopsquatting — термин Seth Larson (PSF, 2025); исследование 576 000 сэмплов. Конкретные проценты уточняются, направление стабильно.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Недоверенный ввод + привилегии = утечка.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Канон 1 — корп.код/секреты в публичный чат =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792224"/>
            <a:ext cx="50840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за периметром живут по правилам, на которые вы не влияете (срок хранения, судебные приказы) — прямой перенос урока Лекции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Канон 2 — prompt-injection (CamoLeak)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1737360"/>
            <a:ext cx="508406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скрытые в невидимом тексте PR инструкции заставляли Copilot Chat искать AWS-ключи и отправлять наружу. Это «сбитый-с-толку посредник» (confused-deputy): агент исполняет чужую инструкцию своими правами — чужой PR стал командой.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1840"/>
            <a:ext cx="112014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40156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Защита — архитектурная, ровно 4 правила Лекции 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least-privilege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давать широкий доступ к секретам/репо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изоляция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чужой PR/issue ≠ привилегированный контекст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human-in-the-loop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write/деструктив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egress-контроль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ограничить, куда агент шлёт данные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01184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56048"/>
            <a:ext cx="10762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Структурное свойство, а не баг продукта. Лекция 3 это уже доказала; CamoLeak — её dev-инстанс. Защита та же, не новая.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CamoLeak — задокументированный prompt-injection в Copilot Chat (раскрыт 2025, исправлен вендором).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Каждый риск — и его конкретный контроль.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47572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7772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55778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46634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8176" y="1316736"/>
            <a:ext cx="444398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Риск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316736"/>
            <a:ext cx="571500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316736"/>
            <a:ext cx="549554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Контроль (часто не-AI)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92224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792224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1792224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8176" y="1792224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«почти правильный» код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792224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792224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человеческое ревью + тест до доверия фрагменту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505456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505456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8176" y="2505456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merge без чтения, рост техдолга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505456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2505456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ревью PR + CI-gate (клоны / churn / mutation)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18688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218688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3218688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218688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деструктив без гейта; перекос ощущения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218688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3218688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hard human-gate на необратимое; измерять, не ощущать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31920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" y="3931920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80160" y="3931920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8176" y="3931920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уязвимый код + ложная уверенность; утечка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931920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3931920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SAST/secret-scan; least-privilege + изоляция + egress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64608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4919472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Каждый риск имеет конкретный, известный, часто не-AI контроль. Задача инженера — не бояться AI и не доверять ему, а знать, какой контроль ставится и почему он не делегируется.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Методологии,
конфигурации, люди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Разделы 1–4 были про AI-код и его риски. Дальше — про процесс и людей: какие методологии ложатся на AI, чем solo+AI отличается от команды. AI меняет цену рутины — но методологии и роли не уходят, они уточняются.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Не все методологии одинаково совместимы с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04672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Совместимость падает сверху вниз: TDD ложится на AI лучше всего, vibe-coding — антипаттерн.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33856"/>
            <a:ext cx="114757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301752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261872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Методология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39" y="1261872"/>
            <a:ext cx="809244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261872"/>
            <a:ext cx="78181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Почему ложится / что меняется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3017520" cy="676656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55648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TDD — №1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1755648"/>
            <a:ext cx="8092440" cy="676656"/>
          </a:xfrm>
          <a:prstGeom prst="rect">
            <a:avLst/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792224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 пишется до кода = точная исполняемая спецификация + детерминированная обратная связь для агента (не самооценка)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32304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432304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spec-driven (спека до кода)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9" y="2432304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6744" y="2468880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контракт (требования / дизайн / задачи) сужает пространство правдоподобно-неверного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108960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trunk-based + CI-гейты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39" y="3108960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6744" y="3145536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компенсирует системный эффект: AI ускоряет поток изменений, но снижает стабильность доставки (данные DORA)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85616"/>
            <a:ext cx="3017520" cy="676656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785616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vibe-coding — антипаттерн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39" y="3785616"/>
            <a:ext cx="8092440" cy="676656"/>
          </a:xfrm>
          <a:prstGeom prst="rect">
            <a:avLst/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66744" y="3822192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структуры/ограничений/теста/гейта — снимает все 3 опоры инженерного паттерна; корень провалов лекции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98848"/>
            <a:ext cx="11201400" cy="12252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553712"/>
            <a:ext cx="1076248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vibe-coding (строгое определение): генерировать и принимать код «по ощущению» — без явной структуры задачи, без сформулированных ограничений, без машинно-проверяемого теста и без quality-gate, доверяя правдоподобию вывода. Это не методология, а её отсутствие.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DORA 2025: «AI — амплификатор, и TDD усиливается». Индустрия отвергает не AI, а паттерн vibe-coding-без-гейтов.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убирает рутину — но не решение, что строить.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Классика инженерии (Брукс, 1986): сложность ПО бывает двух родов — и AI помогает только с одним.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Привнесённая сложность (accidental)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не от задачи, а от инструментов и рутины: boilerplate (шаблонный код), ручная отладка, документация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силён: эту рутину он реально удешевляет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Существенная сложность (essential)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самой задачи: точно решить, ЧТО именно строить, — выбор, постановка, ответственность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не помогает: это и есть «что не делегируется»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02736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712463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DORA 2025 (опрос ~5000 команд) — почему практики не уходят: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023360"/>
            <a:ext cx="10698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внедрили ~90% команд, но связь AI со стабильностью доставки — отрицательная, второй год подряд. Вывод DORA: AI не чинит команду — он усиливает то, что уже есть.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901184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956048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— усилитель, не исправитель. Сильную инженерную культуру (тесты, ревью, гейты) AI делает сильнее; слабую — ломает быстрее. Поэтому исторические практики и управление командой не исчезают — они уточняются.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Конфигурация — это размен под задачу, не «что круче».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дёшево / быстро, нет затрат на согласование между людьми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истощённое узкое место: один человек 24/7, нет второго ревьюера → единственная точка отказа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622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622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взаимное ревью, распределённая ответственность, владение кодом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622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усиливает сильную команду (а слабую — ломает быстрее, данные DORA)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solo +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ранняя стадия / прототип / узкая чёткая задача / обратимые последствия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 / регулируемое / долгоживущий код / нужен аудит и распределённая ответственность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9262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47488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Ландшафт (направление, не точные доли): Copilot стагнирует (всё ещё #1 по охвату); Claude Code / Cursor растут; уходит не инструмент, а практика vibe-coding-без-гейтов.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Человеческое суждение (что строить, цена, рынок) — невосполнимое ядро в ОБЕИХ конфигурациях. Доли охвата инструментов меняются почти еженедельно — важно направление, не точное число.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AI документация важнее, чем для человека — но не вся.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docs-as-code — документация лежит в репозитории рядом с кодом, под версионным контролем и в том же ревью, что и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Почему для AI важнее (подтверждено)</a:t>
            </a:r>
          </a:p>
        </p:txBody>
      </p:sp>
      <p:sp>
        <p:nvSpPr>
          <p:cNvPr id="6" name="Oval 5"/>
          <p:cNvSpPr/>
          <p:nvPr/>
        </p:nvSpPr>
        <p:spPr>
          <a:xfrm>
            <a:off x="740664" y="232257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добирает контекст сам — догадается, спросит коллегу; агент видит только то, что ему дали текстом</a:t>
            </a:r>
          </a:p>
        </p:txBody>
      </p:sp>
      <p:sp>
        <p:nvSpPr>
          <p:cNvPr id="8" name="Oval 7"/>
          <p:cNvSpPr/>
          <p:nvPr/>
        </p:nvSpPr>
        <p:spPr>
          <a:xfrm>
            <a:off x="740664" y="314553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AGENTS.md / CLAUDE.md — файл с контекстом и правилами для агента — де-факто стандарт (с августа 2025)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396849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рост с ~20k до 40k+ репозиториев, нативная поддержка в инструментах — это документация для машины, не для людей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Где слабое место (пока не доказано)</a:t>
            </a:r>
          </a:p>
        </p:txBody>
      </p:sp>
      <p:sp>
        <p:nvSpPr>
          <p:cNvPr id="14" name="Oval 13"/>
          <p:cNvSpPr/>
          <p:nvPr/>
        </p:nvSpPr>
        <p:spPr>
          <a:xfrm>
            <a:off x="6455664" y="232257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тезис «спецификация замещает код как единственный источник истины» — пока заявление вендоров, не независимое исследование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14553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сами же эти практики признают: источник истины остаётся код</a:t>
            </a:r>
          </a:p>
        </p:txBody>
      </p:sp>
      <p:sp>
        <p:nvSpPr>
          <p:cNvPr id="18" name="Oval 17"/>
          <p:cNvSpPr/>
          <p:nvPr/>
        </p:nvSpPr>
        <p:spPr>
          <a:xfrm>
            <a:off x="6455664" y="396849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цифры ускорения в 3–10× — отчёты ранних адоптеров, не проверенные данные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Контекст для агента в репозитории — использовать, это работает. «Спека вместо кода как истина» — не закладывать в архитектуру как факт, пока нет независимого подтверждения.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Числа охвата AGENTS.md/CLAUDE.md быстро растут — важен факт стандарта, не точное число. «Спека = единственная истина» — заявление вендора, помечаем «слабо подтверждено».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Фреймворк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Всё, что разобрали — «где ускоряет / где вредит / что не делегируется» — собираем в один аппарат: матрица уровень × задача, критерий «когда не и опасно», чек-лист перед тем, как дать задачу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мерить требование задачи — пять осей выбора.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1201400" cy="118872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243584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27048" y="1042416"/>
            <a:ext cx="9902952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Простое и обратимое AI ведёт сам; сложное, незнакомое и необратимое — руки + человеческий гейт. Решает не сумма баллов, а главная ось задачи.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11201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Пять осей — для каждой задачи назвать решающую, проверить остальные на блокеры: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56032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2642615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2560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Незнакомость кода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56032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знакомый типовой → AI надёжен · приватный/легаси → надёжность падает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10896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fresh-cw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319125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2688" y="3108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Обратимость операции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10896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обратимо → выше автономия · необратимо → жёсткий человеческий гейт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65760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am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" y="373989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32688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Критичность / прод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365760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некритичное → шире автономия · прод и пользователи → строгий 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20624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avel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" y="4288536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" y="42062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Аудит / ответственность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20624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нет следа → можно · нужен владелец решения → человек на merge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754879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4837175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32688" y="475487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Цена ошибки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4754879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задаёт приоритет осей — она вето: одна высокая опускает потолок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132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4681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Сначала отсев: детерминированная, проверяемая, повторяемая задача (парсинг, валидация по схеме, арифметика) → обычный код, без AI вовсе — остальные оси не нужны.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Синтез разделов: METR · Brooks · 70/80%-проблема · разрыв SWE-bench Verified↔Pro · Replit/CamoLeak.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Когда правильный ответ — понизить автономию или не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Детерминированная верифицируемая → не AI вовсе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парсинг, валидация по схеме, арифметика, маршрутизация — обычный код точен и аудируем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426464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86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High-stakes без ревью → недопустимо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необратимое/критичное/прод без человеческого гейта — профиль Replit/Kiro/PocketOS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uation-cap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3697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3. Обучение junior делегированием → вредит навыку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Anthropic RCT: делегировавшие — −17% на квизе; спрашивавшие «как работает» — без деградации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3236976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86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4. Автономия без hard-гейта на необратимое → запрещено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уровень D без least-privilege / rollback / egress — не настраиваемый параметр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Глава не «бойтесь AI» и не «AI всё решит». Между AI-карго-культом и AI-отрицанием — инженер, который для каждой задачи называет уровень, конфигурацию, точку человеческого контроля и условие смены.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Anthropic «How AI Impacts Skill Formation» (2026, n=52): −17% / &gt;60% делегировали / ≥65% спрашивали концепции.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Чек-лист «прежде чем дать задачу AI».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6446520" cy="502920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0664" y="149961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99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46304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Можно ли решить без AI (детерм., верифиц.)? → не добавляй AI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080260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80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4368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Обратимо ли последствие? Необратимое → hard human-gate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2660904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6609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624328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Есть ли тест-оракул? Нет → ревью обязательно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" y="3241548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2415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3204972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Кто ревьюит и кто мержит? Merge — всегда человек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382219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82219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3785615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Затронуты секреты / недоверенный контент? → least-priv + изоляция</a:t>
            </a:r>
          </a:p>
        </p:txBody>
      </p:sp>
      <p:sp>
        <p:nvSpPr>
          <p:cNvPr id="19" name="Oval 18"/>
          <p:cNvSpPr/>
          <p:nvPr/>
        </p:nvSpPr>
        <p:spPr>
          <a:xfrm>
            <a:off x="740664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366259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Насколько код знаком AI? Незнакомый → доверие по Pro (~64%)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" y="4983479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9834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4946903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Цель — артефакт или навык? Навык → не делегировать генерацию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" y="5564123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56412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5527547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Конфигурация: solo+AI или команда+AI — по обратимости/аудиту?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25296"/>
            <a:ext cx="452628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33502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1645920"/>
            <a:ext cx="40873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приватный платёжный модуль, тесты неполные → C с обязательным senior-ревью + hard-гейт, команда+AI. Решающая ось — необратимость+критичность. Условие смены: обратимый внутренний инструмент с полным покрытием → допустим 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694176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380390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4114800"/>
            <a:ext cx="40873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миграция формата конфигов в ~300 репо по фикс-правилу, мержит человек — пройдите чек-лист сами за 2 минуты (think-pair-share)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248656"/>
            <a:ext cx="452628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7496" y="5303520"/>
            <a:ext cx="408736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ДО разбора. Полная отработка — Семинар 4.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77724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80744" y="667512"/>
            <a:ext cx="10104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Лекция 4 — первая отраслевая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0744" y="1069848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Лестница A→D + матрица выбора + чек-лист — линза для всех следующих отраслевых лекций: тот же вопрос в новой обёртке.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10652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Задание — Семинар 4: «AI в цикле разработки ПО: автодополнение, чат-ассистент, агент»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Для каждого кейса: уровень + ≥2 причины по осям + ≥1 условие смены + явное «где человек обязателен». Mini-apply задача B — разминка.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201400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85232"/>
            <a:ext cx="11201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065A82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89320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Семинар 4 — на следующей неделе.  Дополнительные вопросы — на e-mail.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