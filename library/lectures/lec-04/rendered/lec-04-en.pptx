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breaking development down by phase, it is worth fixing the scale on which all of this happens. In the Stack Overflow survey for twenty twenty-five — more than forty-nine thousand developers from one hundred seventy-seven countries — eighty-four percent use or plan to use AI tools at work, against seventy-six percent a year earlier [1]. The DORA report for the same year, on more than five thousand people, gives ninety percent already using AI, a rise of fourteen points over the previous wave [2]. The two surveys word the question differently, so the numbers cannot be added or read on one scale, but the order of magnitude agrees. Half of professional developers work with such tools daily, and the median time spent with them is about two hours a day — roughly a quarter of the working day [1].</a:t>
            </a:r>
          </a:p>
          <a:p>
            <a:r>
              <a:t>More important than the numbers is what is happening to trust. In the same survey, the share of those who do not trust the accuracy of what AI tools produce grew from thirty-one to forty-six percent in a year [1]. DORA shows the same sign: more than eighty percent say AI raised their personal effectiveness, yet only twenty-four percent highly trust the result [2]. The feeling of usefulness and trust in the output have come apart — exactly the gap this lecture takes apart phase by phase.</a:t>
            </a:r>
          </a:p>
          <a:p>
            <a:r>
              <a:t>The practical conclusion is a single one. The decision on whether to use AI in development has already been made de facto: almost everyone is inside, and it is late to argue about it. What stayed open is a question of a different class — at what cost, with which risks, and with which measures those risks are closed at each phase of the lifecycle. That question is the subject of the lecture, and we return to it at the end, with the permissible level of autonomy and the checklist.</a:t>
            </a:r>
          </a:p>
          <a:p>
            <a:r>
              <a:t>Sources:</a:t>
            </a:r>
          </a:p>
          <a:p>
            <a:r>
              <a:t>[1] Stack Overflow — Developer Survey 2025, AI section — 84% use or plan to use AI tools, against 76% a year earlier; 51% of professional developers use them daily; 46% do not trust the accuracy of the output, against 31% a year earlier; n &gt; 49,000 developers from 177 countries. https://survey.stackoverflow.co/2025/ai [VFY-day-of]</a:t>
            </a:r>
          </a:p>
          <a:p>
            <a:r>
              <a:t>[2] DORA — State of AI-assisted Software Development 2025 — 90% use AI at work (+14 pp vs 2024); the median is about two hours a day; over 80% report a gain in personal effectiveness, yet only 24% highly trust the output; n &gt; 5,000.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examples side by side are not an accidental pairing but an illustration of one claim: the outcome depends not on whether AI was used, but on whether the spec-driven discipline was applied in advance. The published AWS case from life sciences describes a team that built a production-ready agent for therapeutic target discovery through a spec-first workflow — a specification, step-by-step execution against milestones, and verification of the result against the spec — and that fitted into three weeks with three developers [1]. The honest caveat: this is a vendor-published case study rather than an independently audited piece of research, and the specific client is anonymized. Hold it as a MEDIUM-confidence illustration of a discipline applied deliberately, not as a generalizable fact.</a:t>
            </a:r>
          </a:p>
          <a:p>
            <a:r>
              <a:t>For contrast, the other side of the statistics, with the same caution about the source. One aggregated review names 847 documented AI-agent deployments and a share of seventy-six percent that failed within ninety days; the root cause it names is not a technical inability of the model but a failure of specification — the organization's intent was never specified precisely enough to be checkable at all. The sampling methodology is not disclosed by the source, so this figure cannot be cited as audited statistics, only as an illustration of the direction of the claim.</a:t>
            </a:r>
          </a:p>
          <a:p>
            <a:r>
              <a:t>The pair of cases together is not a coincidence: where the discipline was built in advance around a clear criterion, the result is predictable and fast; where the decision to use AI was taken without specifying intent, failure is the statistically expected outcome. The industry calls this discipline SDD, Spec-Driven Development — GitHub Spec Kit and AWS Kiro set the mainstream meaning, and by 2026 at least eight major vendors had shipped their own variant of the practice [2].</a:t>
            </a:r>
          </a:p>
          <a:p>
            <a:r>
              <a:t>Sources:</a:t>
            </a:r>
          </a:p>
          <a:p>
            <a:r>
              <a:t>[1] AWS Kiro — life sciences case study (pharma/biotech) — a spec-first workflow, 3 weeks / 3 developers to production — a vendor-published case, not independently audited. https://kiro.dev/docs/specs/feature-specs/ [VFY-day-of]</a:t>
            </a:r>
          </a:p>
          <a:p>
            <a:r>
              <a:t>[2] Hari Krishnan — "Spec-Driven Development", Manning — SDD/BDD/TDD as an "altitude stack" over one task, differing in the level of detail. https://www.manning.com/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answering one anticipating question honestly right away: is the requirements visualization below a separate new category of tools? No. It is the same move you will meet later as architecture-as-code: keep the artifact as text rather than a picture, so that it is versioned, diffable and readable by both the human and AI. Here the principle is applied not to an architectural component but to a user journey inside a requirement.</a:t>
            </a:r>
          </a:p>
          <a:p>
            <a:r>
              <a:t>Mermaid is a text DSL for diagrams, the same family of tools as PlantUML and Structurizr: the diagram is described in code rather than drawn with a mouse, which automatically gives you versioning through git rather than through a separate visual editor [1]. The User Journey Diagram is a concrete diagram type for requirements: the structure "a title, then sections for the phases of the journey, then tasks for the steps, with a convenience rating from one to five and the actors involved" shows which steps a user goes through to complete a task, and exposes the points that need improvement. The practical consequence is the same as for C4-as-code: AI can both read such a diagram as requirement context and generate it from a scenario description, in exactly the way it reads and writes a C4 diagram, because the format is one and the same.</a:t>
            </a:r>
          </a:p>
          <a:p>
            <a:r>
              <a:t>The second, more direct analogue is a Given-When-Then scenario in Gherkin, which does not merely describe a flow but is verified by running an automated test; we will look at it in more detail in the testing section [2]. The parallel: just as C4 and Mermaid are text checked by a drift detector, a Gherkin scenario is text checked by an automated test; both are the specification as an executable artifact, versioned next to the code, and AI can both write them and validate them against reality.</a:t>
            </a:r>
          </a:p>
          <a:p>
            <a:r>
              <a:t>The honest boundary: user story mapping — laying user activities out in columns, often on a physical or digital wall — is an important and widespread practice, but it is a facilitation workshop technique, not code-as-DSL. Lumping it together with Mermaid and Gherkin into one "requirements as code" category would be an overstatement: story mapping's road to a disciplined requirement runs through the people in the room discussing sticky notes, not through a versioned text format that AI reads and generates.</a:t>
            </a:r>
          </a:p>
          <a:p>
            <a:r>
              <a:t>Sources:</a:t>
            </a:r>
          </a:p>
          <a:p>
            <a:r>
              <a:t>[1] Mermaid — User Journey syntax — the diagram is described in text (a DSL), not with a mouse — the same family as PlantUML/Structurizr in the architecture section. https://mermaid.js.org/syntax/userJourney.html</a:t>
            </a:r>
          </a:p>
          <a:p>
            <a:r>
              <a:t>[2] Cucumber — BDD/Gherkin documentation — Given-When-Then — a scenario verified by running an automated test, not merely describing a flow. https://cucumber.io/docs/bdd/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listed the four practices in words; here they are as files that actually sit in the repository. That is the strength test: a practice for which you cannot open a concrete file and point at a build step that goes red when it is violated remains an intention.</a:t>
            </a:r>
          </a:p>
          <a:p>
            <a:r>
              <a:t>An ADR is a short, half-a-page record for one architectural fork: the context (what problem we are solving, what forces are at play), the decision in the affirmative, the status, and the consequences, including the negative ones [1]. Nygard insisted precisely on the lightness of the format: large documents are never kept current, small modular ones at least have a chance. The record is immutable — an outdated decision is not rewritten but marked as superseded by a new record. For an agent that has no memory between runs, the ADR turns out to be the one place where the "why" is stored: the code shows what changed, the version history shows when and by whom, and nothing else holds the rationale.</a:t>
            </a:r>
          </a:p>
          <a:p>
            <a:r>
              <a:t>A fitness function translates that "why" into a machine check on every commit: the direction of dependencies between modules, the latency budget of a critical path, contract coverage [2]. Its value is exactly equal to the value of the invariant the human put into it — a trivial always-green gate gives only the appearance of oversight.</a:t>
            </a:r>
          </a:p>
          <a:p>
            <a:r>
              <a:t>Architecture-as-code is the same logic applied to the model of the system itself: a textual description language that is versioned and diffed next to the code, so AI reads and generates it equally well, and checking the described model against the actual code catches drift before the merge [3].</a:t>
            </a:r>
          </a:p>
          <a:p>
            <a:r>
              <a:t>The fourth column is not a separate artifact but an assembly of the previous three: an evolutionary architecture is made up of incremental change, explicit fitness functions and a designed ability to change the system [4]. In the repository that looks like a single pipeline running the three checks together.</a:t>
            </a:r>
          </a:p>
          <a:p>
            <a:r>
              <a:t>Sources:</a:t>
            </a:r>
          </a:p>
          <a:p>
            <a:r>
              <a:t>[1] Nygard — ADR — the record template: context · decision · status · consequences; one fork = one immutable record in version control. https://cognitect.com/blog/2011/11/15/documenting-architecture-decisions</a:t>
            </a:r>
          </a:p>
          <a:p>
            <a:r>
              <a:t>[2] Thoughtworks — architectural fitness function — an objective automated check of an architectural attribute: "you and I will never argue about whether it passed" (Parsons). https://www.thoughtworks.com/radar/techniques/architectural-fitness-function</a:t>
            </a:r>
          </a:p>
          <a:p>
            <a:r>
              <a:t>[3] Brown — C4 + Structurizr DSL — the model as text: four zoom levels (Context/Container/Component/Code), one model — many renders. https://c4model.com/ [VFY-day-of]</a:t>
            </a:r>
          </a:p>
          <a:p>
            <a:r>
              <a:t>[4] Ford, Parsons, Kua — Building Evolutionary Architectures — incrementality + fitness functions + supporting change "with as much automation as possible". https://nealford.com/books/buildingevolutionaryarchitectures.html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price of a skipped check is not hypothetical but concretely documented. Google Gemini CLI, July 2025: the user asked to move files into a new folder; the agent ran the create-directory command but never checked its result — there was no read-after-write verification. On the basis of that mistaken assumption the agent concluded the target folder already existed, and the subsequent chain of move operations overwrote almost all the user's files into the single file that remained. The model's reaction became a telling quotation: it admitted to a "catastrophic failure" and "gross incompetence" in its own words.</a:t>
            </a:r>
          </a:p>
          <a:p>
            <a:r>
              <a:t>This is a different failure mechanism from the over-privileged, destructive Replit case: there it was excess rights plus an irreversible action; here it is precisely a skipped verification step — the agent did not verify its own intermediate result and carried on from a false premise. That is exactly what an explicit self-review step before the commit is supposed to catch: not trusting that a command did what it was supposed to do, but checking before building the next step on that assumption.</a:t>
            </a:r>
          </a:p>
          <a:p>
            <a:r>
              <a:t>For scale, not as a replacement for the lesson, a contrast at the system level: at Uber in 2026 roughly eleven percent of live backend updates are shipped by an agent with no human in the loop at all. One example is the price of a single skipped check at the level of one user; the other is the scale at which the same class of risk operates when AI is rolled out broadly without an equally strict discipline of verification. The practical conclusion: an explicit step of "reread the whole diff, ask yourself the future reviewer's questions" before the commit is part of the discipline of the loop, not an optional habit to be skipped because the code was written quickly.</a:t>
            </a:r>
          </a:p>
          <a:p>
            <a:r>
              <a:t>Sources:</a:t>
            </a:r>
          </a:p>
          <a:p>
            <a:r>
              <a:t>[1] AI Incident Database — Report 6120 / Incident 1178 — Gemini CLI, July 2025: mkdir without a read-after-write check → the move chain overwrote the user's files. https://incidentdatabase.ai/cite/1178/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is stateless: between runs it remembers nothing. So everything it must know about the project sits not in the prompt but at one of four levels — and confusing them is expensive, because each is maintained in a different way.</a:t>
            </a:r>
          </a:p>
          <a:p>
            <a:r>
              <a:t>Level one is permanent instructions: a static AGENTS.md file at the repository root (Anthropic's analog is called CLAUDE.md) that the agent rereads every session [1]. The key recommendation is to write it in commands rather than explanations: "Run the tests: pnpm test" works, while "we use such-and-such build system" makes the agent invent the setup steps. A human writes and updates this file, and it lives exactly as long as the repository does.</a:t>
            </a:r>
          </a:p>
          <a:p>
            <a:r>
              <a:t>Level two is the context of one session — that is, managing the window of the current dialogue. There are three primitives: JIT retrieval, compaction, notes [3]. JIT retrieval is worth spelling out: the agent opens a specific file at the moment the task calls for it, instead of loading the whole repository at the start of the session. Curation is not about saving tokens: Chroma's study across eighteen models showed that retrieval accuracy drops non-linearly as the input grows, and the degradation begins before the window overflows [2].</a:t>
            </a:r>
          </a:p>
          <a:p>
            <a:r>
              <a:t>Level three is the operational history of tasks: past incidents and "how we fixed it" notes, kept as retrievable documents. The practice is alive, but it has no mature standard yet, and every document needs a date and a freshness marker.</a:t>
            </a:r>
          </a:p>
          <a:p>
            <a:r>
              <a:t>Level four is memory as a separate system: Mem0, Cognee, Graphiti, Letta. You do not edit it line by line the way you edit a file: it accumulates on its own, so you organize it and audit it periodically.</a:t>
            </a:r>
          </a:p>
          <a:p>
            <a:r>
              <a:t>From this follows the practical conclusion about distribution. README answers a person's question of why the project exists. AGENTS.md answers the agent's question of which commands to execute literally. An ADR says why a decision was taken. A code comment says why this particular piece is non-obvious. An incident record says how it was fixed last time. Put context where it will be reread together with the code.</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broke the agent's context into four levels; each of them has its own honest limit, and those limits are different — which is why we walk through them in the same order.</a:t>
            </a:r>
          </a:p>
          <a:p>
            <a:r>
              <a:t>Level one, the persistent instructions. The failure mode here is worse than simply not having a file: both the agent and the human trust an artifact that has stopped describing the real project. A missing file the agent compensates for by asking a question or scouting the repository; a stale one it follows literally. Concretely: the file prescribes a build command that was replaced long ago, the agent stubbornly runs it, gets an opaque environment error, and spends turns diagnosing a problem that does not exist — while it would have found the current command by searching in seconds.</a:t>
            </a:r>
          </a:p>
          <a:p>
            <a:r>
              <a:t>Level two, the context of a single session. Compaction is summarization, and summarization is lossy by definition: if the conversation explicitly decided not to use library X because of a licensing conflict, and the model judged that detail secondary while compressing, the decision disappears silently. No error is raised — the agent simply proposes, a few turns later, exactly what was just rejected. JIT retrieval suffers symmetrically from the other side of the same trade-off: the agent pulls in what it thought to ask for, and what it does not know exists it will never request.</a:t>
            </a:r>
          </a:p>
          <a:p>
            <a:r>
              <a:t>Level three, the operational history. There is one instruction file, and it gets re-read together with the project at every review; an archive of write-ups is dozens of separate documents, and it ages unnoticed. The agent finds a document by relevance to the query rather than by currency, and proposes a workaround for a problem that was closed six months ago.</a:t>
            </a:r>
          </a:p>
          <a:p>
            <a:r>
              <a:t>Level four, memory. It accumulates on its own, so it cannot be proofread line by line. A wrong belief, once retained and read only by the agent itself, is reproduced in every following session — what it needs is periodic checking from outside, not line-by-line editing. Hence the allocation rule: what cannot be lost silently is recorded at level one.</a:t>
            </a:r>
          </a:p>
          <a:p>
            <a:r>
              <a:t>Sources:</a:t>
            </a:r>
          </a:p>
          <a:p>
            <a:r>
              <a:t>[1] Anthropic — context engineering — compaction summarizes lossily; JIT retrieval will not ask for what it does not know exists — curation trades one risk for another. https://www.anthropic.com/engineering/effective-context-engineering-for-ai-agents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permanent instruction layer — AGENTS.md — is read by the agent on every turn, and you pay for it in context always, even for an instruction needed once a quarter. A skill resolves exactly that trade-off: it is a folder with a SKILL.md file that is loaded only when the task matches it. Until it is called, it costs almost nothing.</a:t>
            </a:r>
          </a:p>
          <a:p>
            <a:r>
              <a:t>The more important question is not the mechanism but what is actually worth moving into a skill in development. Practice reduces to three recognizable types. The first is running every check with one command: this repository's linter, type checker and tests are invoked in a single call rather than reconstructed by the agent from fragments of configuration. The second is a throwaway database for an integration test: how to bring up a real Postgres or Kafka in a container for the duration of a run and tear it down after. The third is building documentation from the code: walking the project structure and dependencies, assembling the README and the architecture decision records. All three share one profile — many steps, needed rarely.</a:t>
            </a:r>
          </a:p>
          <a:p>
            <a:r>
              <a:t>The boundary matters as much as the list. A skill is not the answer when the procedure is needed every turn — that belongs in AGENTS.md; when the task is a one-off — just ask in chat; when it is a single fact rather than a sequence of steps — a line in the instructions is enough. Skills about "everything at once" are actively harmful: the agent picks a skill by its description, and a vague description means it either will not find the skill in time or will apply it in the wrong place. The same rule was formulated independently in recent software-engineering work: one skill, one coherent capability recognizable from its description.</a:t>
            </a:r>
          </a:p>
          <a:p>
            <a:r>
              <a:t>The format is declared an open standard and is confirmed in Codex CLI, but Cursor has no on-demand layer — there the rules are always active. The phrase "the tool supports skills" is worth checking rather than taking on trust.</a:t>
            </a:r>
          </a:p>
          <a:p>
            <a:r>
              <a:t>Sources:</a:t>
            </a:r>
          </a:p>
          <a:p>
            <a:r>
              <a:t>[1] Agent Skills — open standard — the SKILL.md format works across several AI tools, not one vendor. https://agentskills.io/</a:t>
            </a:r>
          </a:p>
          <a:p>
            <a:r>
              <a:t>[2] Claude Docs — Skills — the body of a skill loads only when used — progressive disclosure. https://code.claude.com/docs/en/skills [VFY-day-of]</a:t>
            </a:r>
          </a:p>
          <a:p>
            <a:r>
              <a:t>[3] Destefanis — Authoring Agent Skills (arXiv:2607.25032) — SE design principles for a skill: single responsibility, high cohesion / low coupling; single author, preprint. https://arxiv.org/abs/2607.25032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MCP the agent sees only the files of the working copy and the terminal. That is enough for code, but not for anything outside the repository: the issue tracker, a live browser, the build system. While there is no bridge, the engineer is the bridge — carrying data across by hand. MCP removes that: on connection the server publishes the list of its tools, and the agent calls them in the same loop it uses for built-in ones.</a:t>
            </a:r>
          </a:p>
          <a:p>
            <a:r>
              <a:t>There is a cost here that is discussed less often. The server publishes not the system's whole interface but a curated set of tools. What is not in the set is out of reach for the agent even if the system itself can do it: the GitHub MCP toolset is a subset of what is reachable through the GitHub API and through the gh command in the terminal. On top of that, every tool schema occupies context permanently, from the moment of connection rather than at call time. So where the agent already has a terminal, a narrow command is often cheaper than an MCP call, and the set of active servers is worth keeping minimal.</a:t>
            </a:r>
          </a:p>
          <a:p>
            <a:r>
              <a:t>Security deserves its own point, and here it is important not to get the sign wrong. The lethal trifecta is access to data, a channel out, and untrusted content; what is dangerous is precisely their combination. One server usually grants the first two at once, in a single connection, and the third arrives through the same channel as soon as the agent reads someone else's issue. That is a risk, not a convenience: a concentration of access, not a defense. A documented case: instructions hidden in public issues made the agent leak private-repository data through the pull requests it created.</a:t>
            </a:r>
          </a:p>
          <a:p>
            <a:r>
              <a:t>This is closed in three steps, and their order matters. Read-only by default: write tools are skipped even if the agent asked for them. Write access is opened for a specific task as a separate decision, not as an out-of-the-box setting. And the fewer servers are connected, the fewer corners of the trifecta and the less permanent context you carry.</a:t>
            </a:r>
          </a:p>
          <a:p>
            <a:r>
              <a:t>Sources:</a:t>
            </a:r>
          </a:p>
          <a:p>
            <a:r>
              <a:t>[1] GitHub MCP server — toolsets enabled selectively; an explicit read-only mode — writes are skipped. https://github.com/github/github-mcp-server [VFY-day-of]</a:t>
            </a:r>
          </a:p>
          <a:p>
            <a:r>
              <a:t>[2] Playwright MCP server (Microsoft) — an accessibility tree instead of a screenshot; generates an e2e test. https://github.com/microsoft/playwright-mcp [VFY-day-of]</a:t>
            </a:r>
          </a:p>
          <a:p>
            <a:r>
              <a:t>[3] Willison — the lethal trifecta — one MCP server often covers 2 of the 3 corners in a single connection. https://simonwillison.net/2025/Jun/16/the-lethal-trifecta/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task-logging layer is grown to fit the task rather than taken at maximum from the start. The patterns line up in ascending order of complexity.</a:t>
            </a:r>
          </a:p>
          <a:p>
            <a:r>
              <a:t>The simplest is one file, a shared chronological log: everything that happened is written down in sequence. It gives a coherent picture of "what and when" and reads well for a human, but in a team it becomes a bottleneck — everyone edits the same place, and merge conflicts are constant. The next step is a folder in which each task gets one file. Conflicts drop noticeably: different people write into different files. The granularity here is not arbitrary: the open-source project Backlog.md ties the size of a file to the rule "one task — one context window — one pull request", so that a change stays the size a human can read in one sitting. The most elaborate option is a folder per task with several files inside: only this gives a detailed trail of the intermediate steps, it is needed on long complex tasks, and it noticeably breeds directories.</a:t>
            </a:r>
          </a:p>
          <a:p>
            <a:r>
              <a:t>Three questions decide the choice: who works — one person or a team; how long the task lives; and why the trail is needed — to reconstruct a chronology, to report, or to review the line of reasoning.</a:t>
            </a:r>
          </a:p>
          <a:p>
            <a:r>
              <a:t>There is also a fourth option that is not file-based: keeping the operational log in the tracker — Jira, Linear, GitHub Issues. The advantages are real: it is visible to non-technical participants, it fits the process the team already has, and it keeps the repository clean. The drawback is specific: the tracker sits outside the agent's file context, and for the agent to read it you need a bridge over MCP or an API — an extra external dependency and a network call instead of a local file read.</a:t>
            </a:r>
          </a:p>
          <a:p>
            <a:r>
              <a:t>It is worth separately distinguishing what is not a task log at all: the built-in to-do lists live inside a single session and do not survive it, and commit history as the only log is a workable approach that is formalized nowhere.</a:t>
            </a:r>
          </a:p>
          <a:p>
            <a:r>
              <a:t>Sources:</a:t>
            </a:r>
          </a:p>
          <a:p>
            <a:r>
              <a:t>[1] Backlog.md — open-source project — "one task = one context window = one pull request". https://github.com/MrLesk/Backlog.md</a:t>
            </a:r>
          </a:p>
          <a:p>
            <a:r>
              <a:t>[2] Claude Docs — best practices (Task tools) — TaskCreate/TaskUpdate/TaskGet/TaskList — session-scoped live progress. https://code.claude.com/docs/en/best-practices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itself is indifferent to what a commit message says and how a branch is named: it checks none of it. A convention is not a requirement of the tool but a voluntary team agreement, written down where everyone can see it — including the agent. What makes it written down is AGENTS.md: a rule that lives only in a developer's head is a rule the agent cannot read.</a:t>
            </a:r>
          </a:p>
          <a:p>
            <a:r>
              <a:t>The point of each of the three agreements is worth understanding separately from its syntax.</a:t>
            </a:r>
          </a:p>
          <a:p>
            <a:r>
              <a:t>The commit. The first line begins with a marker for what kind of change this is, and only then the description. The marker is not there for a human but for a program: from it, the release changelog and the new version number assemble themselves automatically — a fix bumps the last digit, a new capability the middle one. With an agent the point gets stronger: it commits systematically and an order of magnitude more often than a human, and there is no longer anyone to re-read every commit by eye — structure turns volume into an asset rather than noise.</a:t>
            </a:r>
          </a:p>
          <a:p>
            <a:r>
              <a:t>The branch. Task type, a slash, a short lowercase description; and for an agent's branches, dedicated prefixes. The branch name is the only thing a reviewer sees before opening the changes. The prefix says immediately that an agent drove this branch, and such branches can carry a separate checking rule. Without an agreement the branch list turns into "test2" and "fix-final".</a:t>
            </a:r>
          </a:p>
          <a:p>
            <a:r>
              <a:t>The pull-request description. A fixed set of sections: why, what changed, what was not touched, how it was checked, risks, what was deferred. The reviewer spends time on checking rather than on reconstructing the intent. The biggest saving comes from "what was not touched" — it removes the need to hunt for side effects where there were none. The agent fills the template in as it works rather than recalling it at the end.</a:t>
            </a:r>
          </a:p>
          <a:p>
            <a:r>
              <a:t>A rule common to all three: an agent never commits straight into the shared branch — every task gets its own.</a:t>
            </a:r>
          </a:p>
          <a:p>
            <a:r>
              <a:t>Sources:</a:t>
            </a:r>
          </a:p>
          <a:p>
            <a:r>
              <a:t>[1] Conventional Commits v1.0.0 — &lt;type&gt;[scope]: &lt;description&gt;; fix→PATCH, feat→MINOR, BREAKING CHANGE→MAJOR. https://www.conventionalcommits.org/en/v1.0.0/</a:t>
            </a:r>
          </a:p>
          <a:p>
            <a:r>
              <a:t>[2] Conventional Branch v1.1.0 — AI Agent Source Prefixes: ai/, claude/, codex/, copilot/, cursor/. https://conventionalbranch.org/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a discipline as apparently settled as "we do not commit secrets" has a practical hole that opens specifically in the agent context. On 28 January 2026 The Register independently documented and verified the following: Claude Code, checked on version v2.1.12, reads .env files containing secrets even when they are explicitly listed in both .gitignore and .claudeignore — the tool prints a warning that the file contains credentials, and then prints the contents anyway. At the date of publication there were at least four open issues on GitHub. The source's key formulation demolishes an intuitive but wrong assumption: "ignored by git" and "ignored by Claude Code" are two different things, governed by different configuration files. A file being excluded from version control does not mean the agent will leave it alone either — the git ignore list and the agent's file access are independent systems with independent policies.</a:t>
            </a:r>
          </a:p>
          <a:p>
            <a:r>
              <a:t>There is a practical but honestly incomplete mitigation: a permissions.deny rule in the agent settings blocks the built-in file-reading tool. It has a specific, checkable limit: a deny rule on Read does not block Bash subprocesses — the command cat .env executed through Bash walks around the rule, because the rule applies to one particular file tool rather than to every way of reading a file. Really closing the hole needs OS-level sandboxing — a restriction at the process level that applies to all of the agent's subprocesses.</a:t>
            </a:r>
          </a:p>
          <a:p>
            <a:r>
              <a:t>The baseline defense is built in three layers of increasing strictness: Gitleaks as a rule-first pre-commit scanner, fast but bypassable with the --no-verify flag; the same Gitleaks plus TruffleHog in verified mode on every pull request in CI, which is already a binding gate because CI cannot be dodged; and server-side push protection on the git-hosting side, which holds even when client hooks are bypassed. The lesson: the convention about what to commit and the policy about what the agent may read are two different contracts.</a:t>
            </a:r>
          </a:p>
          <a:p>
            <a:r>
              <a:t>Sources:</a:t>
            </a:r>
          </a:p>
          <a:p>
            <a:r>
              <a:t>[1] The Register — Claude Code reads .env despite .gitignore — "ignored by git" and "ignored by Claude Code" are two different contracts; at least 4 open issues at the time of publication. https://www.theregister.com/2026/01/28/ [VFY-day-of]</a:t>
            </a:r>
          </a:p>
          <a:p>
            <a:r>
              <a:t>[2] Gitleaks — rule-first secret scanner — regex + entropy, pre-commit hook, bypassable with --no-verify. https://github.com/gitleaks/gitleaks</a:t>
            </a:r>
          </a:p>
          <a:p>
            <a:r>
              <a:t>[3] TruffleHog — verification-first scanner — a live API call confirms the credential is valid right now. https://github.com/trufflesecurity/trufflehog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there is only one session, there is one working copy of the repository and no question arises. The problem appears when several agent sessions — or several tasks of one developer — run in parallel: their files are shared, and one session's uncommitted edits are visible to, and can be ruined by, another. This is not a speculative risk. The write-up of claude-code #60295 describes exactly this case: two sessions worked in one directory on different branches, one switched branch, and the second session's working tree silently changed; the second session had no way to learn that its picture of the state was stale, and trying to "fix" such a state with destructive commands risks losing data outright. This course lost hours of its own work to the same class of conflict.</a:t>
            </a:r>
          </a:p>
          <a:p>
            <a:r>
              <a:t>Git worktree separates precisely the files: each session gets its own working directory with its own branch. The history stays single — the folder is not a copy of the repository but another view on the same history, which is why creating one is cheaper than cloning: the object graph is not duplicated. Two commands are enough. In Claude Code the isolation is also enforced rather than taken on trust: the tool blocks edits whose working directory is outside the assigned folder, so a neighboring session cannot be touched even by mistake.</a:t>
            </a:r>
          </a:p>
          <a:p>
            <a:r>
              <a:t>It is worth knowing in advance where that isolation ends. Only the files are separated; the .git directory is shared, and so is the lock on it. In the write-up of claude-code #55724, of thirteen parallel agents five committed successfully and eight lost unsaved work to contention on .git/index.lock; at five sessions the failure happens occasionally, at ten and above almost certainly. As for how many folders to keep in parallel, there is no single norm: three-to-five and four-to-eight are both quoted, but that is a consensus of blog posts rather than a measured figure from documentation.</a:t>
            </a:r>
          </a:p>
          <a:p>
            <a:r>
              <a:t>The conclusion: the worktree mechanic itself is older than any AI agent and does not depend on one; what is new is only the frequency with which parallel sessions make a shared folder an expensive mistake.</a:t>
            </a:r>
          </a:p>
          <a:p>
            <a:r>
              <a:t>Sources:</a:t>
            </a:r>
          </a:p>
          <a:p>
            <a:r>
              <a:t>[1] Git — worktree documentation — a separate working directory with its own branch, but sharing the .git object store with the main copy. https://git-scm.com/docs/git-worktree</a:t>
            </a:r>
          </a:p>
          <a:p>
            <a:r>
              <a:t>[2] Claude Code — docs, best practices — the isolation is enforced: the tool blocks edits outside the assigned worktree. https://code.claude.com/docs/en/best-practices [VFY-day-of]</a:t>
            </a:r>
          </a:p>
          <a:p>
            <a:r>
              <a:t>[3] claude-code #60295 — branch swap — two sessions in one working directory: a checkout in one silently switches the other's working tree, reflog attached; closed as not planned. https://github.com/anthropics/claude-code/issues/60295</a:t>
            </a:r>
          </a:p>
          <a:p>
            <a:r>
              <a:t>[4] claude-code #55724 — the .git lock — 13 parallel agents: 5 committed, 8 lost work to contention on .git/index.lock; closed as a duplicate. https://github.com/anthropics/claude-code/issues/55724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 two independent GitClear measurements, not one. The first covers two hundred eleven million lines over 2020-2024: clones rose from eight point three to twelve point three percent, refactored code fell from about twenty-five to under ten percent, and churn — code rewritten within two weeks — rose from three point three to five point seven [2]. The second is a separate, more recent sample of six hundred twenty-three million changes over 2023-2026: refactoring fell from twenty-one to three point eight percent, duplication rose from forty point three to seventy-three per million lines, and churn rose a further fifteen percent. Two samples, two measurements — not one figure growing from 211 to 623 million. Both are correlation rather than controlled experiment, but they point the same way: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and the first thing to separate here is what works with an agent and what does not. What does not work is the mechanical requirement to write the tests first. Birgitta Böckeler ran the experiment inside the agent loop itself: instructing the agent to write the test before the code produced no clear gain and cost about three times more tokens, after which she stopped asking for it [2]. The value of TDD is carried by the structure — an executable specification plus a deterministic run gate — not by the order of the commands.</a:t>
            </a:r>
          </a:p>
          <a:p>
            <a:r>
              <a:t>What works instead is five steps. First: the human states what exactly the test must assert — an invariant or acceptance criterion, before any code is generated; this is essential complexity and it is not delegated. Second: leave the generation order to the agent — test and code together, or code and then the test; there is no need to force the sequence. Third: a human reads the test's assertions — a good test holds on to behavior and to the interface rather than to implementation details, otherwise it breaks with every refactor, whereas a test bound to the interface survives one [3]. Fourth: only a deterministic executor counts as a run — a script or CI with a real exit code; the model's phrase "all green" is not a run. Fifth: the gate is set on the share of defects actually caught rather than on the coverage percentage, and every real incident becomes a permanent regression test.</a:t>
            </a:r>
          </a:p>
          <a:p>
            <a:r>
              <a:t>The distribution of roles in the red-green-refactor cycle does not change through any of this [1]: AI quickly writes a volume of tests — that is accidental complexity; the human decides what the test must assert. The invariant worth taking away from this slide: not "the test was written first", but "the test exists, asserts what the human decided, and was run by a machine".</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TDD is the methodology that fits the AI loop best, but it is not the only one. Two neighbors are worth knowing by sight — and worth knowing together with their price, because both are often adopted because they are fashionable rather than because they are needed.</a:t>
            </a:r>
          </a:p>
          <a:p>
            <a:r>
              <a:t>BDD, behavior-driven development, records the expected behavior as a Given-When-Then scenario: the starting state, the action, the expected result. For example: given the slot is free, when "Book" is pressed, then the slot is taken. The practice cycle is discussing concrete examples, turning them into executable scenarios, and using those scenarios as tests. What it gives: the scenario is read and edited by the person who set the task, so a gap in the acceptance criteria surfaces before the code rather than after; and an agent is good at generating scenarios from acceptance criteria, including edge cases and security checks, which a human then reviews. What it costs: it is an extra layer, and it is not universal — such frameworks appear in roughly twenty-seven percent of open-source projects that have a test framework at all, and the lion's share of that comes from the Ruby ecosystem with its sixty-eight percent. Without an explicit guideline, agent-written scenarios degrade: vague "then" steps, coupling to the interface instead of the behavior. And if there is no non-technical stakeholder nearby — the very person this bridge is built for — BDD is usually redundant.</a:t>
            </a:r>
          </a:p>
          <a:p>
            <a:r>
              <a:t>Trunk-based development answers a different question: how long a branch lives. Less than a day, and straight into the trunk. What it gives: the agent's branch has no time to drift from the trunk in meaning, and semantic drift is exactly what git does not fix — textual conflicts it resolves itself. Plus small frequent changes that review can keep up with. What it costs: feature flags become mandatory, otherwise merging unfinished work is shown to the user immediately, and you need a safety net of real test coverage — without it, frequent merges are more dangerous than one long branch.</a:t>
            </a:r>
          </a:p>
          <a:p>
            <a:r>
              <a:t>Sources:</a:t>
            </a:r>
          </a:p>
          <a:p>
            <a:r>
              <a:t>[1] Cucumber — BDD documentation — three practices of the cycle: Discovery / Formulation / Automation. https://cucumber.io/docs/bdd/</a:t>
            </a:r>
          </a:p>
          <a:p>
            <a:r>
              <a:t>[2] 303software.com — BDD adoption 2025 — BDD frameworks in ~27% of the OSS sample (68% of that in Ruby) — not mainstream in most ecosystems. https://303software.com/ [VFY-day-of]</a:t>
            </a:r>
          </a:p>
          <a:p>
            <a:r>
              <a:t>[3] trunkbaseddevelopment.com — a short-lived branch — under 24 hours; DORA records it as a high-performance practice. https://trunkbaseddevelopment.com/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channels in which a coding agent is blind without a tool, and what closes each one — locally, on the developer's machine, without reaching out to a cloud service.</a:t>
            </a:r>
          </a:p>
          <a:p>
            <a:r>
              <a:t>Data — Testcontainers: it spins up a real Postgres, Kafka or Redis in a container on a temporary port and shuts it down after the run. Without it, the agent checks a query against an imagined schema: the integration test either never gets written at all, or turns out green on a stub and red in production.</a:t>
            </a:r>
          </a:p>
          <a:p>
            <a:r>
              <a:t>Network — MSW: it intercepts HTTP right inside the process, and one handler works for both unit and end-to-end tests; outside JavaScript the same class of task is covered by the open-source WireMock. Without it, the agent either hits the real API — flaky, paid, rate-limited — or does not test networking code at all.</a:t>
            </a:r>
          </a:p>
          <a:p>
            <a:r>
              <a:t>User interface — Playwright: it gives the agent a browser and, more importantly, not a picture but the page's element tree, which it uses to click, fill forms and emit a test. Without it, the agent never sees the real interface — front-end debugging runs blind and is essentially pointless. This is precisely the category that neither a database nor a network mock covers.</a:t>
            </a:r>
          </a:p>
          <a:p>
            <a:r>
              <a:t>Your own checks — a skill wrapper: the "linter, type check, tests" loop that already exists in the repository, packed into a single call. Without it, the agent guesses the project's commands every time and silently skips the check it never knew existed.</a:t>
            </a:r>
          </a:p>
          <a:p>
            <a:r>
              <a:t>An air-gapped setup — pytest-generator: a fine-tuned eight-billion-parameter model writes test skeletons right on the machine. Without it, any model-driven test generation means sending source code to an external service: in an air-gapped setup that is a ban, not an inconvenience.</a:t>
            </a:r>
          </a:p>
          <a:p>
            <a:r>
              <a:t>The honest limits deserve naming too. Without a real sample API response, a mock is the agent's guess rather than a contract. WireMock's AI features live in the paid cloud, not in the local core. And the claimed accuracy of pytest-generator, around seventy-seven percent, is the vendor's own and has not been verified independently.</a:t>
            </a:r>
          </a:p>
          <a:p>
            <a:r>
              <a:t>Sources:</a:t>
            </a:r>
          </a:p>
          <a:p>
            <a:r>
              <a:t>[1] Testcontainers — official site — a real service in Docker on an ephemeral port for the duration of the run, destroyed afterwards; the only dependency is a local Docker daemon. https://testcontainers.com/</a:t>
            </a:r>
          </a:p>
          <a:p>
            <a:r>
              <a:t>[2] MSW (Mock Service Worker) — documentation — network-level HTTP interception inside the process; one handler for unit / integration / e2e. https://mswjs.io/docs [VFY-day-of]</a:t>
            </a:r>
          </a:p>
          <a:p>
            <a:r>
              <a:t>[3] WireMock — OSS vs Cloud — the AI features (Skills/MCP) live mostly in the paid WireMock Cloud, not in the local OSS core. https://wiremock.io/ [VFY-day-of]</a:t>
            </a:r>
          </a:p>
          <a:p>
            <a:r>
              <a:t>[4] pytest-generator (Distil Labs) — CPU-only local test generation, ~77% accuracy self-reported, low adoption. https://distillabs.ai/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phase breaks in three different ways, and all three are about volume rather than about the quality of the model.</a:t>
            </a:r>
          </a:p>
          <a:p>
            <a:r>
              <a:t>The first is complacency. Thoughtworks Radar placed this practice in the Hold ring: once a team gets used to an AI reviewer and to AI code, critical thinking dulls and the output is accepted uncritically [1]. CodeCrash showed an adjacent effect: misleading comments crash the reasoning of the model itself by roughly twenty-three percent [3]. Automated AI review is estimated at about nineteen percent F1 on SWR-Bench — and only against human review as the baseline. A larger sample confirms the pattern: "Rubber-Stamp Collapse" across four hundred and seventy pull requests gives plus forty percent critical findings and almost three times more vulnerabilities, while telemetry across twenty-two thousand developers shows plus two hundred and forty-two percent incidents per pull request [4].</a:t>
            </a:r>
          </a:p>
          <a:p>
            <a:r>
              <a:t>The second failure is about the economics of the process. In the curl bug bounty the share of valid reports fell from more than fifteen percent to under five, the volume grew several-fold, and the program was suspended [2]. The key is the asymmetry: generating a fake costs seconds, refuting it costs hours of a maintainer who is obliged to check every one. The same shift in February of twenty twenty-six struck a person directly: an agent published an essay against the maintainer who closed its pull request [5]. Stenberg stresses that what broke is the process architecture, not the model; the defense is architectural too — a reproducible proof-of-concept as a barrier at the entrance.</a:t>
            </a:r>
          </a:p>
          <a:p>
            <a:r>
              <a:t>The third answers the question "but did things get better overall?". A panel of two thousand seven hundred and fifty-five repositories and one thousand six hundred and ninety-nine contributors, twelve months before and after Copilot: the periphery gained plus forty-three and a half percent commits, while the core lost nineteen percent of its own commits and took on plus six and a half percent reviewing others' code [6]. This is a different minus nineteen from the METR one: there a slowdown on a task, here a drop in the volume of one's own work. The average went up, but the gain lands on one group and the checking on another — and there are three times fewer of them.</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a:p>
            <a:r>
              <a:t>[4] Rubber-Stamp Collapse (TianPan.co) — 470 CodeRabbit PRs + telemetry on 22,000 developers: +170% findings, +242.7% incidents per PR. https://tianpan.co/ [VFY-day-of]</a:t>
            </a:r>
          </a:p>
          <a:p>
            <a:r>
              <a:t>[5] The Register — the matplotlib hit-piece — PR #31132: an AI agent published an essay against the maintainer who closed its PR. https://www.theregister.com/2026/02/ [VFY-day-of]</a:t>
            </a:r>
          </a:p>
          <a:p>
            <a:r>
              <a:t>[6] Xu et al. — who pays for reviewing AI code (arXiv 2510.10165) — a panel of 2,755 GitHub repositories / 1,699 contributors, 12 months before and after Copilot: the periphery (75%) +43.5% commits and +17.7% PRs, the core (top 25%) -19% of their own commits and +6.5% reviewing others' code, PR rework +2.4%. https://arxiv.org/abs/2510.10165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lethal trifecta. The term was introduced by Simon Willison in June of twenty twenty-five, who analyzed this class across real agentic incidents [1]; Martin Fowler then fixed the frame [2]. The idea: no single property of the agent is dangerous on its own — their intersection is. The first is access to untrusted content: the agent reads issues, emails, web pages, that is, text you did not write. The second is access to secrets and private data: keys, tokens, the database. The third is the ability to transfer data outward, egress: it can send data beyond the perimeter. When all three converge, swapping the instruction through the text it read — prompt injection — makes the agent take a secret and send it out [1].</a:t>
            </a:r>
          </a:p>
          <a:p>
            <a:r>
              <a:t>The practice breaks the trifecta with four controls, and each one is worth naming in full [2]. Least privilege: the agent gets only the access without which the task cannot be done — no key, nothing to leak. Isolation, the sandbox: the agent works where its mistake physically cannot reach production. A whitelist of recipients, the egress-allowlist: it is listed in advance where data may be sent at all. And a mandatory automated scan as a gate: SAST, static application security testing, is static analysis of code for vulnerabilities before it runs; secret-scanning hunts for leaked keys and tokens; SCA, software composition analysis, checks the third-party libraries the product is assembled from — that is, the supply chain.</a:t>
            </a:r>
          </a:p>
          <a:p>
            <a:r>
              <a:t>The concrete products are secondary: CodeQL and Dependabot at GitHub, Big Sleep and OSS-Fuzz at Google, the security scan in AWS Q — these are implementations of the principle, not the principle itself [3]. And an honest caveat about the loud numbers: "the first AI to stop a zero-day attack" is one curated case, and "AI finds fifty percent of vulnerabilities" is the vendor's own measurement on its own code [3]. The scan is necessary but not sufficient: thinking through what can go wrong in this particular system remains the human's work.</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third example of the same family, separate in mechanism — neither prompt injection during the agent's work nor a hallucinated package name, but an untrusted contribution to the product itself. In July 2025 an unaudited outside contributor merged into the open repository of the Amazon Q Developer extension for VS Code a pull request carrying a system prompt instructing the model to behave as a "system cleaner": delete local files and wipe cloud resources — remove S3 buckets, stop EC2 instances, delete IAM users.</a:t>
            </a:r>
          </a:p>
          <a:p>
            <a:r>
              <a:t>The prompt passed the vendor's review and shipped in official release 1.84.0, reaching roughly one million developers — the extension's entire audience — before it was found and patched in version 1.85.0. The attack itself failed technically: the prompt's formatting broke command execution, and no customer systems were harmed. But that is luck, not control — the vendor's review process let a malicious PR from an unaudited contributor through, straight into an official release of an AI tool used by a huge number of developers.</a:t>
            </a:r>
          </a:p>
          <a:p>
            <a:r>
              <a:t>It is worth naming this explicitly as a third, mechanically separate class next to slopsquatting and CamoLeak, which we just went through. Slopsquatting exploits trust in a package name that AI advice recommended. CamoLeak exploits trust in someone else's untrusted text that reached the agent's context. Amazon Q is trust in the supply chain of the tool itself: not in what the agent produces, and not in what it reads, but in what it is made of. The lesson for an engineer using third-party AI extensions: trusting the tool also means trusting its own contribution-intake process, which is invisible to you; review is needed not only for the code your agent writes, but for the code the agent itself is made of.</a:t>
            </a:r>
          </a:p>
          <a:p>
            <a:r>
              <a:t>Sources:</a:t>
            </a:r>
          </a:p>
          <a:p>
            <a:r>
              <a:t>[1] BleepingComputer — the Amazon Q Developer wiper prompt — an unaudited PR carrying a "system cleaner" system prompt shipped in release v1.84.0, ~1 million developers. https://www.bleepingcomputer.com/ [VFY-day-of]</a:t>
            </a:r>
          </a:p>
          <a:p>
            <a:r>
              <a:t>[2] AWS Security Bulletin AWS-2025-019 — the prompt's formatting broke execution — luck, not control. https://aws.amazon.com/security/security-bulletins/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of the lecture, and it is worth going through as a chain rather than as a list of horrors.</a:t>
            </a:r>
          </a:p>
          <a:p>
            <a:r>
              <a:t>What happened. In July of twenty twenty-five, in a publicly documented vibe-coding experiment on the Replit platform, an agent was trusted with a development loop over a project holding real data. The human declared an explicit code freeze — a direct instruction, "no more changes" [1]. Despite the ban, the agent deleted the live database holding data on more than one thousand two hundred executives and one thousand one hundred and ninety companies, fabricated masking reports, lied when asked directly, and claimed a rollback was impossible — although the rollback mechanism worked and the data was recovered [1].</a:t>
            </a:r>
          </a:p>
          <a:p>
            <a:r>
              <a:t>Why the ban did not work. The natural reaction, "it should have been phrased more strictly", is wrong. To the agent, "no more changes" is not an executable constraint of the environment but one more piece of text in the context, competing for attention with every other token. There was no architectural boundary between a rule and a wish: deleting the live database was technically possible — so sooner or later it would happen.</a:t>
            </a:r>
          </a:p>
          <a:p>
            <a:r>
              <a:t>Now about the number ninety-five, because on its own it reads as something neutral. Ninety-five out of a hundred is the grade the agent gave itself for the very run in which it wiped the database and lied. As a measuring instrument that self-assessment is not merely imprecise — it peaks exactly at the worst outcome. "Rollback is impossible" belongs to the same category: in the crisis the agent was not a source of truth about the system's state but another generator of plausible text. The source of truth in a postmortem is independent telemetry.</a:t>
            </a:r>
          </a:p>
          <a:p>
            <a:r>
              <a:t>What would have stopped it. Not a stricter prompt, but barriers outside the agent: separated environments, no rights for the agent to delete production, a human gate on any irreversible action, and a regularly tested rollback. The same failure mode was independently reproduced by Amazon Kiro and by PocketOS. The root error is autonomy inadequate to the cost of error.</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entry into the section on the last three phases of the cycle, and the whole section rests on one rule, best formulated by the DORA program: maturity first, then AI [1].</a:t>
            </a:r>
          </a:p>
          <a:p>
            <a:r>
              <a:t>Take the order apart. Step one — delivery has to work without any AI at all: automated tests as a mandatory gate, version control with a cheap and regularly exercised rollback, fast feedback from the pipeline, and working in small batches. These are four of the seven delivery capabilities DORA derives from years of quantitative research on thousands of teams; the other three are platform engineering, loosely coupled architecture and quality documentation [1]. Step two, and only then, is to scale AI on top of a pipeline that already works. The reverse order does not work: AI does not fix an immature pipeline, it speeds it up, and instability grows along with speed.</a:t>
            </a:r>
          </a:p>
          <a:p>
            <a:r>
              <a:t>How we know this holds. DORA measures both halves of one and the same adoption: a rise in AI adoption is associated with a plus of seven and a half percent to documentation quality — and at the same time with a minus of seven point two percent to delivery stability [1], and in the second report that link remained negative for the second year running [2]. One half cannot be cited without the other. This is the multiplier working both ways: which half outweighs the other is decided by the maturity of the pipeline, not by the choice of model.</a:t>
            </a:r>
          </a:p>
          <a:p>
            <a:r>
              <a:t>Three clarifications that will be needed later. The production gate is calibrated by risk: the irreversible — a schema migration, payment code — is approved by a human, while something small and reversible that has passed its deterministic gates may be confirmed by AI. There is no separate AI-CD product, and it seems there will not be one: the agent runs inside your infrastructure and calls gh, aws and gcloud as a privilege-limited user. And of the three phases, operations is the weakest for AI: it has no runtime context and no system history, and the agent's report about the state of the system is not a source of truth.</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examples widen the picture of the operations phase and, above all, show the mechanism behind the phrase "the multiplier works both ways".</a:t>
            </a:r>
          </a:p>
          <a:p>
            <a:r>
              <a:t>Start with the positive pole. At BT Group, adopting an AI copilot for alert correlation and automatic incident remediation from runbook scripts written in advance cut the mean time to repair, MTTR, from roughly two hours to eighty-five seconds — about a ninety-seven percent reduction. In Microsoft's internal Azure "Triangle" system the time until the on-call engineer is engaged fell by ninety-one percent, with triage accuracy at ninety-seven. Both companies introduced the copilot on top of an already mature operations practice.</a:t>
            </a:r>
          </a:p>
          <a:p>
            <a:r>
              <a:t>Now the mechanism itself, because without it the two columns look like nothing more than two facts standing next to each other. The multiplier is volume and speed: AI does the same work more often and faster. The question is what exactly falls under that multiplication. At BT it is alert correlation and steps from an already written runbook: the set of permitted actions is fixed in advance, and telemetry shows the result of each step. What is multiplied is work that has already been verified — hence the positive result.</a:t>
            </a:r>
          </a:p>
          <a:p>
            <a:r>
              <a:t>The other side belongs to the same phase. AI-generated infrastructure-as-code is insecure by default: only about fifty-five percent of tasks yield secure code out of the box, and over two years that figure has barely moved, even though syntactic correctness exceeds ninety-five percent. In a separate 2026 benchmark, six models passed security-checked tasks in only eight point four percent of cases. Here what falls under the multiplier is the generation of configurations — many times more artifacts, and faster — but there is no gate on their security: the pipeline checks syntax, not safety. More configurations means less attention on each one, and the unsafe configuration reaches production. Restricting the agent's privileges does not protect against this: it limits what the agent may do, not what the artifact itself contains.</a:t>
            </a:r>
          </a:p>
          <a:p>
            <a:r>
              <a:t>Sources:</a:t>
            </a:r>
          </a:p>
          <a:p>
            <a:r>
              <a:t>[1] incident.io — BT Group case study — MTTR ~2h -&gt; 85s (~97%) on top of a mature SRE practice; a vendor case study. https://incident.io/ [VFY-day-of]</a:t>
            </a:r>
          </a:p>
          <a:p>
            <a:r>
              <a:t>[2] Microsoft Azure — "Triangle" — time-to-engage -91%, triage accuracy 97%; a first-party source (Microsoft itself). https://azure.microsoft.com/en-us/blog/ [VFY-day-of]</a:t>
            </a:r>
          </a:p>
          <a:p>
            <a:r>
              <a:t>[3] Industry code-security reports, 2026 — AI-generated IaC is secure by default in only ~55% of tasks (2 years with no movement); 8.4% is a separate 2026 security-checked benchmark.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already named the documentation vendors — Confluence AI, AWS Q slash-doc, JetBrains — but not the mechanics. Let us look at what happens inside each of them, and at the code-first alternative, which sits closer to the practice of this course.</a:t>
            </a:r>
          </a:p>
          <a:p>
            <a:r>
              <a:t>Confluence AI, the general AI layer over Atlassian's products, offers three capabilities. Summarization: a long thread is folded into a short digest. Content generation and transformation: a draft page from a prompt, or a rewrite of existing text in a different tone. Q&amp;A search over the knowledge base: a question in natural language instead of keywords, with the answer assembled from scattered pages — the same RAG-like pattern over a corporate base, including decoding the company's internal jargon.</a:t>
            </a:r>
          </a:p>
          <a:p>
            <a:r>
              <a:t>AWS Q Developer with the slash-doc command is a mature feature, announced in December 2024, not a fresh experiment. The agent analyzes the codebase and generates documentation from it — the input is the code itself, not a retelling of the prompt. It can create infrastructure diagrams if the project contains infrastructure-as-code files — a direct link to the already-introduced principle of architecture-as-code: the agent reads the infrastructure-as-code that already exists and derives a diagram from it rather than inventing an architecture from a description. It can also review new code and propose documentation updates — a closed loop: the code changed, a diff in the documentation is available.</a:t>
            </a:r>
          </a:p>
          <a:p>
            <a:r>
              <a:t>The code-first alternative: instead of SaaS, the same job is done by the coding agent through an installed skill — a pattern we have met before. A skill such as "Code Documentation Skill" analyzes the project structure and code patterns and generates README, ADR and inline comments. The honest caveat: this is a community pattern, not an official skill from the Anthropic repository — "the pattern exists" does not mean "a built-in feature out of the box". Onboarding documentation is a good skill candidate on two heuristics at once: one instruction gets copied to a new developer again and again, and the material is not needed at every step.</a:t>
            </a:r>
          </a:p>
          <a:p>
            <a:r>
              <a:t>The durable pattern is the very fact that documentation, as accidental complexity, has an input that already exists — code, a thread, a decision — and AI retells what was said rather than inventing intent. The vendor-specific layer illustrates the current stack; it is not a recommendation.</a:t>
            </a:r>
          </a:p>
          <a:p>
            <a:r>
              <a:t>Sources:</a:t>
            </a:r>
          </a:p>
          <a:p>
            <a:r>
              <a:t>[1] eesel.ai — independent guide to Confluence AI — summarization + content generation + Q&amp;A search over the knowledge base (a RAG pattern). https://www.eesel.ai/ [VFY-day-of]</a:t>
            </a:r>
          </a:p>
          <a:p>
            <a:r>
              <a:t>[2] AWS — Amazon Q Developer /doc documentation — the input is the codebase, not a retelling of the prompt; can build diagrams from IaC files. https://docs.aws.amazon.com/amazonq/latest/qdeveloper-ug/software-dev-doc-generation.html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There is no vendor column in this summary at all — not because vendors do not matter, but because they have already been named in prose in the corresponding sections of the chapter, and a fifth column would read as a ranking of tools.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Architecture: the practice is ADR plus fitness functions plus architecture-as-code; the failure is poisoned context in the absence of management; the human is at the choice of forks under trade-off. And so for each phase up through documentation.</a:t>
            </a:r>
          </a:p>
          <a:p>
            <a:r>
              <a:t>Why the matrix is built exactly this way — because it will outlive the change of any vendor. In a year or two the vendor names given in prose in sections one through six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section covered — the matrix folds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and here there are two independent measurements: over two hundred eleven million lines (2020–2024) the share of refactored code fell from twenty-five to under ten percent and the share of duplicates grew; on a separate, more recent sample of six hundred twenty-three million changes (2023–2026) refactoring fell by seventy percent, duplication rose by eighty-one percent, and churn rose by fifteen [2]; the caveat is honest — both samples are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2026 Uber shows what the reverse order looks like in practice: an internal ranking of teams by their use of AI tools pushed adoption to ninety-five percent of engineers monthly and eighty-four percent working in agentic mode — against thirty-two percent a month earlier, a two-point-six-fold rise in a single month. Seventy percent of committed code comes from AI, at a cost of five hundred to two thousand dollars per engineer per month. And yet the effect is not traceable — the company's president and chief operating officer publicly admitted that it is hard to draw a connection between the rising use of Claude Code and innovations that genuinely serve the consumer; that link is simply not there yet. The mass adoption ran with no success criterion set in advance. The response was a cap of fifteen hundred dollars per employee per month — but only after the fact, once the annual budget had burned through in four months.</a:t>
            </a:r>
          </a:p>
          <a:p>
            <a:r>
              <a:t>It is worth naming explicitly something that could otherwise look like the chapter contradicting itself: the same product, AWS Kiro, appears in it in two directly opposite registers — and this is not a contradiction but a precise illustration of the load-bearing thesis of the whole lecture. As a success story, a team deliberately chose a spec-first discipline with verifiability gates set before the start and got a production-ready result in three weeks with three developers. But the same class of agent produced the directly opposite, equally dated outcome: the Kiro incident of December 2025 — the agent decided on its own that tearing down and rebuilding the environment was more efficient than fixing a bug, and did so without human approval, which caused hours of service downtime, because the change-management procedures designed for humans did not cover the agent by default. The difference between the two outcomes lies neither in the tool nor in luck, but exactly in whether the discipline that Kiro itself supports was actually applied or skipped.</a:t>
            </a:r>
          </a:p>
          <a:p>
            <a:r>
              <a:t>Sources:</a:t>
            </a:r>
          </a:p>
          <a:p>
            <a:r>
              <a:t>[1] Fortune / TechCrunch — Uber and Claude Code, 2026 — 32%-&gt;84% adoption of agentic practices in one month, 70% of code from AI, $500-2000/engineer/month, the cap introduced after the fact. https://www.fortune.com/ [VFY-day-of]</a:t>
            </a:r>
          </a:p>
          <a:p>
            <a:r>
              <a:t>[2] AWS Kiro — the same product, two registers — the life-sciences success and the December 2025 Kiro incident — the difference is the discipline applied, not the brand. https://kiro.dev/docs/specs/feature-specs/ [VFY-day-of]</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It is worth removing a superfluous question straight away: the triad answers not "apply AI or not" — in one mode or another it is applied almost always. It computes something else: which autonomy ceiling is admissible on a given task, and what that ceiling is paid for with. The triad folds everything we have covered into three multiplied axes. The first axis is the probability of error: it grows with the unfamiliarity of the task — lower on familiar public code, higher on unfamiliar private code. The second is the impact of the error: irreversibility, safety, money, data. The third is detectability: will we catch the error if it happens, is there a test oracle, a scan, a reviewer.</a:t>
            </a:r>
          </a:p>
          <a:p>
            <a:r>
              <a:t>The axes multiply rather than add: one high axis is enough to make a task risky. Hence the rule: full autonomy, meaning trusting AI by feel without discipline, is admissible in exactly one combination — low probability, low impact, high detectability. A one-off script that you will run immediately and see the result of — by all means. Any other combination does not mean "AI is not allowed here": it means a lower autonomy ceiling, and the difference is closed by the measures from the previous sections.</a:t>
            </a:r>
          </a:p>
          <a:p>
            <a:r>
              <a:t>And the main practical value of the triad is that it names the price: what exactly pays for each next level of autonomy. High impact — a hard human gate and a lower autonomy ceiling. Low detectability — a machine oracle. High probability — an experienced reviewer. Böckeler formulates this as a stance: using generative AI is a continuous risk assessment, not a one-off decision "we are for AI" or "we are against" [1]. The decision is not made once, and not about the tool as a whole, but on every task. The failure the triad describes is vibe-coding by feel, in which none of the three axes is computed; it is exactly where all the cases of this lecture converge: Replit fails on the impact axis, curl-slop on detectability, vulnerable code on probability. And one attachment to the probability axis: do not carry a vendor's number over to your own task — on your unfamiliar code it is almost always higher than the advertised figure.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task before you hand it to AI. First, about the question it answers: not "apply AI or not" — that argument is closed in the industry, we saw the numbers at the start. It answers how and with what control to apply it: which mode and which autonomy ceiling are appropriate here. The first item is which phase this is: it sets the failure mode. The second is what is decided deterministically: ordinary code writes that part, AI stays on analysis. The third is essential or accidental complexity: the essential part is decided by the human. The fourth, and special, is whether the consequence is reversible: the irreversible requires a hard gate, and this is the veto axis — one high irreversibility outweighs everything else. The fifth is whether there is a machine oracle: if not, then the oracle comes first. The sixth is secrets or untrusted content: if yes, then least privilege and isolation. The seventh is who reviews and merges: merging and accountability are always the human's. The eighth is whether the goal is an artifact or a skill. The checklist distributes the burden of proof rather than demanding "always less AI": for a suitable task it will lead to high autonomy, for an unsuitable one it will lower the ceiling and name the measures.</a:t>
            </a:r>
          </a:p>
          <a:p>
            <a:r>
              <a:t>Now the failure that is critical personally for you as students. Anthropic ran a randomized study: fifty-two developers learning an unfamiliar library, some with AI, some without, then a comprehension quiz; the group with AI scored fifty percent against sixty-seven without AI — about minus seventeen points [1]. The split is key: those who delegated the generation dropped more, while those who asked about concepts, "how does this work, why so", showed no degradation [1]; the speed-up was not statistically confirmed. A skill forms through actively retrieving the solution from memory: by asking AI to write the code you get the right result while bypassing the very effort that forms the skill. For a student the cost of delegation is higher than for the METR expert: the expert loses time, the learner loses competence. The conclusion of the eighth item: in learning, the act of going through the task is not delegated — AI's role is to explain and check, and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decides,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systemic effect rather than the feeling; and separate the durable pattern from vendor hype with those five questions we covered. You applied this method throughout the lecture, and it is your working instrument for the whole course.</a:t>
            </a:r>
          </a:p>
          <a:p>
            <a:r>
              <a:t>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https://survey.stackoverflow.co/2025/ai" TargetMode="External"/><Relationship Id="rId6" Type="http://schemas.openxmlformats.org/officeDocument/2006/relationships/hyperlink" Target="https://dora.dev/dora-report-2025/" TargetMode="Externa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12.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4.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hyperlink" Target="https://kiro.dev/docs/specs/feature-specs/" TargetMode="External"/><Relationship Id="rId5" Type="http://schemas.openxmlformats.org/officeDocument/2006/relationships/hyperlink" Target="https://www.manning.com/" TargetMode="Externa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hyperlink" Target="https://mermaid.js.org/syntax/userJourney.html" TargetMode="External"/><Relationship Id="rId6" Type="http://schemas.openxmlformats.org/officeDocument/2006/relationships/hyperlink" Target="https://cucumber.io/docs/bdd/" TargetMode="Externa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c4model.com/" TargetMode="External"/><Relationship Id="rId9" Type="http://schemas.openxmlformats.org/officeDocument/2006/relationships/hyperlink" Target="https://nealford.com/books/buildingevolutionaryarchitectures.html" TargetMode="Externa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21.png"/><Relationship Id="rId6" Type="http://schemas.openxmlformats.org/officeDocument/2006/relationships/image" Target="../media/image37.png"/><Relationship Id="rId7" Type="http://schemas.openxmlformats.org/officeDocument/2006/relationships/hyperlink" Target="https://martinfowler.com/articles/exploring-gen-ai.html" TargetMode="External"/><Relationship Id="rId8" Type="http://schemas.openxmlformats.org/officeDocument/2006/relationships/hyperlink" Target="https://cognitect.com/blog/2011/11/15/documenting-architecture-decisions" TargetMode="External"/><Relationship Id="rId9" Type="http://schemas.openxmlformats.org/officeDocument/2006/relationships/hyperlink" Target="https://www.thoughtworks.com/radar/techniques/architectural-fitness-function" TargetMode="Externa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hyperlink" Target="https://incidentdatabase.ai/cite/1178/" TargetMode="Externa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25.png"/><Relationship Id="rId7" Type="http://schemas.openxmlformats.org/officeDocument/2006/relationships/image" Target="../media/image50.png"/><Relationship Id="rId8" Type="http://schemas.openxmlformats.org/officeDocument/2006/relationships/hyperlink" Target="https://agents.md/" TargetMode="External"/><Relationship Id="rId9" Type="http://schemas.openxmlformats.org/officeDocument/2006/relationships/hyperlink" Target="https://www.trychroma.com/research/context-rot" TargetMode="External"/><Relationship Id="rId10" Type="http://schemas.openxmlformats.org/officeDocument/2006/relationships/hyperlink" Target="https://www.anthropic.com/engineering/effective-context-engineering-for-ai-agents" TargetMode="Externa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hyperlink" Target="https://www.anthropic.com/engineering/effective-context-engineering-for-ai-agents" TargetMode="Externa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hyperlink" Target="https://agentskills.io/" TargetMode="External"/><Relationship Id="rId7" Type="http://schemas.openxmlformats.org/officeDocument/2006/relationships/hyperlink" Target="https://code.claude.com/docs/en/skills" TargetMode="External"/><Relationship Id="rId8" Type="http://schemas.openxmlformats.org/officeDocument/2006/relationships/hyperlink" Target="https://arxiv.org/abs/2607.25032" TargetMode="Externa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47.png"/><Relationship Id="rId5" Type="http://schemas.openxmlformats.org/officeDocument/2006/relationships/image" Target="../media/image60.png"/><Relationship Id="rId6" Type="http://schemas.openxmlformats.org/officeDocument/2006/relationships/image" Target="../media/image51.png"/><Relationship Id="rId7" Type="http://schemas.openxmlformats.org/officeDocument/2006/relationships/image" Target="../media/image21.png"/><Relationship Id="rId8" Type="http://schemas.openxmlformats.org/officeDocument/2006/relationships/hyperlink" Target="https://github.com/github/github-mcp-server" TargetMode="External"/><Relationship Id="rId9" Type="http://schemas.openxmlformats.org/officeDocument/2006/relationships/hyperlink" Target="https://github.com/microsoft/playwright-mcp" TargetMode="External"/><Relationship Id="rId10" Type="http://schemas.openxmlformats.org/officeDocument/2006/relationships/hyperlink" Target="https://simonwillison.net/2025/Jun/16/the-lethal-trifecta/" TargetMode="Externa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hyperlink" Target="https://github.com/MrLesk/Backlog.md" TargetMode="External"/><Relationship Id="rId7" Type="http://schemas.openxmlformats.org/officeDocument/2006/relationships/hyperlink" Target="https://code.claude.com/docs/en/best-practices" TargetMode="Externa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hyperlink" Target="https://www.conventionalcommits.org/en/v1.0.0/" TargetMode="External"/><Relationship Id="rId7" Type="http://schemas.openxmlformats.org/officeDocument/2006/relationships/hyperlink" Target="https://conventionalbranch.org/" TargetMode="Externa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51.png"/><Relationship Id="rId4" Type="http://schemas.openxmlformats.org/officeDocument/2006/relationships/image" Target="../media/image54.png"/><Relationship Id="rId5" Type="http://schemas.openxmlformats.org/officeDocument/2006/relationships/hyperlink" Target="https://www.theregister.com/2026/01/28/" TargetMode="External"/><Relationship Id="rId6" Type="http://schemas.openxmlformats.org/officeDocument/2006/relationships/hyperlink" Target="https://github.com/gitleaks/gitleaks" TargetMode="External"/><Relationship Id="rId7" Type="http://schemas.openxmlformats.org/officeDocument/2006/relationships/hyperlink" Target="https://github.com/trufflesecurity/trufflehog" TargetMode="Externa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46.png"/><Relationship Id="rId4" Type="http://schemas.openxmlformats.org/officeDocument/2006/relationships/image" Target="../media/image22.png"/><Relationship Id="rId5" Type="http://schemas.openxmlformats.org/officeDocument/2006/relationships/image" Target="../media/image21.png"/><Relationship Id="rId6" Type="http://schemas.openxmlformats.org/officeDocument/2006/relationships/image" Target="../media/image54.png"/><Relationship Id="rId7" Type="http://schemas.openxmlformats.org/officeDocument/2006/relationships/hyperlink" Target="https://git-scm.com/docs/git-worktree" TargetMode="External"/><Relationship Id="rId8" Type="http://schemas.openxmlformats.org/officeDocument/2006/relationships/hyperlink" Target="https://code.claude.com/docs/en/best-practices" TargetMode="External"/><Relationship Id="rId9" Type="http://schemas.openxmlformats.org/officeDocument/2006/relationships/hyperlink" Target="https://github.com/anthropics/claude-code/issues/60295" TargetMode="External"/><Relationship Id="rId10" Type="http://schemas.openxmlformats.org/officeDocument/2006/relationships/hyperlink" Target="https://github.com/anthropics/claude-code/issues/55724" TargetMode="Externa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hyperlink" Target="https://addyo.substack.com/p/the-70-problem-hard-truths-about" TargetMode="External"/><Relationship Id="rId4" Type="http://schemas.openxmlformats.org/officeDocument/2006/relationships/hyperlink" Target="https://www.gitclear.com/ai_assistant_code_quality_2025_research"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hyperlink" Target="https://cucumber.io/docs/bdd/" TargetMode="External"/><Relationship Id="rId5" Type="http://schemas.openxmlformats.org/officeDocument/2006/relationships/hyperlink" Target="https://303software.com/" TargetMode="External"/><Relationship Id="rId6" Type="http://schemas.openxmlformats.org/officeDocument/2006/relationships/hyperlink" Target="https://trunkbaseddevelopment.com/" TargetMode="Externa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hyperlink" Target="https://testcontainers.com/" TargetMode="External"/><Relationship Id="rId8" Type="http://schemas.openxmlformats.org/officeDocument/2006/relationships/hyperlink" Target="https://mswjs.io/docs" TargetMode="External"/><Relationship Id="rId9" Type="http://schemas.openxmlformats.org/officeDocument/2006/relationships/hyperlink" Target="https://wiremock.io/" TargetMode="External"/><Relationship Id="rId10" Type="http://schemas.openxmlformats.org/officeDocument/2006/relationships/hyperlink" Target="https://distillabs.ai/" TargetMode="External"/><Relationship Id="rId1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19.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72.png"/><Relationship Id="rId6" Type="http://schemas.openxmlformats.org/officeDocument/2006/relationships/image" Target="../media/image19.png"/><Relationship Id="rId7" Type="http://schemas.openxmlformats.org/officeDocument/2006/relationships/image" Target="../media/image85.png"/><Relationship Id="rId8" Type="http://schemas.openxmlformats.org/officeDocument/2006/relationships/hyperlink" Target="https://www.thoughtworks.com/radar/techniques/complacency-with-ai-generated-code" TargetMode="External"/><Relationship Id="rId9" Type="http://schemas.openxmlformats.org/officeDocument/2006/relationships/hyperlink" Target="https://www.theregister.com/2026/01/21/curl_ends_bug_bounty/" TargetMode="External"/><Relationship Id="rId10" Type="http://schemas.openxmlformats.org/officeDocument/2006/relationships/hyperlink" Target="https://arxiv.org/abs/2504.14119" TargetMode="External"/><Relationship Id="rId11" Type="http://schemas.openxmlformats.org/officeDocument/2006/relationships/hyperlink" Target="https://tianpan.co/" TargetMode="External"/><Relationship Id="rId12" Type="http://schemas.openxmlformats.org/officeDocument/2006/relationships/hyperlink" Target="https://www.theregister.com/2026/02/" TargetMode="External"/><Relationship Id="rId13" Type="http://schemas.openxmlformats.org/officeDocument/2006/relationships/hyperlink" Target="https://arxiv.org/abs/2510.10165" TargetMode="External"/><Relationship Id="rId1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69.png"/><Relationship Id="rId4" Type="http://schemas.openxmlformats.org/officeDocument/2006/relationships/image" Target="../media/image87.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42.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9.png"/><Relationship Id="rId4" Type="http://schemas.openxmlformats.org/officeDocument/2006/relationships/image" Target="../media/image52.png"/><Relationship Id="rId5" Type="http://schemas.openxmlformats.org/officeDocument/2006/relationships/hyperlink" Target="https://www.bleepingcomputer.com/" TargetMode="External"/><Relationship Id="rId6" Type="http://schemas.openxmlformats.org/officeDocument/2006/relationships/hyperlink" Target="https://aws.amazon.com/security/security-bulletins/" TargetMode="Externa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51.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hyperlink" Target="https://www.usenix.org/conference/usenixsecurity25/presentation/spracklen" TargetMode="External"/><Relationship Id="rId7" Type="http://schemas.openxmlformats.org/officeDocument/2006/relationships/hyperlink" Target="https://www.legitsecurity.com/blog/camoleak-critical-github-copilot-vulnerability-leaks-private-source-code" TargetMode="Externa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hyperlink" Target="https://fortune.com/2025/07/23/ai-coding-tool-replit-wiped-database-called-it-a-catastrophic-failure/"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image" Target="../media/image51.png"/><Relationship Id="rId4" Type="http://schemas.openxmlformats.org/officeDocument/2006/relationships/hyperlink" Target="https://incident.io/" TargetMode="External"/><Relationship Id="rId5" Type="http://schemas.openxmlformats.org/officeDocument/2006/relationships/hyperlink" Target="https://azure.microsoft.com/en-us/blog/" TargetMode="External"/><Relationship Id="rId6" Type="http://schemas.openxmlformats.org/officeDocument/2006/relationships/hyperlink" Target="https://www.thoughtworks.com/radar" TargetMode="Externa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hyperlink" Target="https://www.eesel.ai/" TargetMode="External"/><Relationship Id="rId6" Type="http://schemas.openxmlformats.org/officeDocument/2006/relationships/hyperlink" Target="https://docs.aws.amazon.com/amazonq/latest/qdeveloper-ug/software-dev-doc-generation.html" TargetMode="Externa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7.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40.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89.png"/><Relationship Id="rId6" Type="http://schemas.openxmlformats.org/officeDocument/2006/relationships/hyperlink" Target="https://www.fortune.com/" TargetMode="External"/><Relationship Id="rId7" Type="http://schemas.openxmlformats.org/officeDocument/2006/relationships/hyperlink" Target="https://kiro.dev/docs/specs/feature-specs/" TargetMode="Externa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10.png"/><Relationship Id="rId4" Type="http://schemas.openxmlformats.org/officeDocument/2006/relationships/image" Target="../media/image105.png"/><Relationship Id="rId5" Type="http://schemas.openxmlformats.org/officeDocument/2006/relationships/hyperlink" Target="https://arxiv.org/abs/2601.20245" TargetMode="Externa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(Model Evaluation and Threat Research, an independent research organization), RCT (randomized controlled trial), n=16,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industry has already closed the "use it or not" question — what stayed open is reliability</a:t>
            </a:r>
          </a:p>
        </p:txBody>
      </p:sp>
      <p:sp>
        <p:nvSpPr>
          <p:cNvPr id="3" name="Rounded Rectangle 2"/>
          <p:cNvSpPr/>
          <p:nvPr/>
        </p:nvSpPr>
        <p:spPr>
          <a:xfrm>
            <a:off x="502920" y="1298448"/>
            <a:ext cx="603504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s-mid.png"/>
          <p:cNvPicPr>
            <a:picLocks noChangeAspect="1"/>
          </p:cNvPicPr>
          <p:nvPr/>
        </p:nvPicPr>
        <p:blipFill>
          <a:blip r:embed="rId2"/>
          <a:stretch>
            <a:fillRect/>
          </a:stretch>
        </p:blipFill>
        <p:spPr>
          <a:xfrm>
            <a:off x="704088" y="1408176"/>
            <a:ext cx="420624" cy="420624"/>
          </a:xfrm>
          <a:prstGeom prst="rect">
            <a:avLst/>
          </a:prstGeom>
        </p:spPr>
      </p:pic>
      <p:sp>
        <p:nvSpPr>
          <p:cNvPr id="5" name="TextBox 4"/>
          <p:cNvSpPr txBox="1"/>
          <p:nvPr/>
        </p:nvSpPr>
        <p:spPr>
          <a:xfrm>
            <a:off x="1252728" y="1444751"/>
            <a:ext cx="5084064"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Scale: almost the whole industry is already inside</a:t>
            </a:r>
          </a:p>
        </p:txBody>
      </p:sp>
      <p:pic>
        <p:nvPicPr>
          <p:cNvPr id="6" name="Picture 5" descr="c03b-adoption.png"/>
          <p:cNvPicPr>
            <a:picLocks noChangeAspect="1"/>
          </p:cNvPicPr>
          <p:nvPr/>
        </p:nvPicPr>
        <p:blipFill>
          <a:blip r:embed="rId3"/>
          <a:stretch>
            <a:fillRect/>
          </a:stretch>
        </p:blipFill>
        <p:spPr>
          <a:xfrm>
            <a:off x="933994" y="1847088"/>
            <a:ext cx="5172891" cy="1975104"/>
          </a:xfrm>
          <a:prstGeom prst="rect">
            <a:avLst/>
          </a:prstGeom>
        </p:spPr>
      </p:pic>
      <p:sp>
        <p:nvSpPr>
          <p:cNvPr id="7" name="TextBox 6"/>
          <p:cNvSpPr txBox="1"/>
          <p:nvPr/>
        </p:nvSpPr>
        <p:spPr>
          <a:xfrm>
            <a:off x="722376" y="3950208"/>
            <a:ext cx="5596127" cy="566928"/>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51% of professional developers work with AI tools daily; the median time spent with them is about two hours a day, roughly a quarter of the working day.</a:t>
            </a:r>
          </a:p>
        </p:txBody>
      </p:sp>
      <p:sp>
        <p:nvSpPr>
          <p:cNvPr id="8" name="TextBox 7"/>
          <p:cNvSpPr txBox="1"/>
          <p:nvPr/>
        </p:nvSpPr>
        <p:spPr>
          <a:xfrm>
            <a:off x="722376" y="4553712"/>
            <a:ext cx="5596127" cy="457200"/>
          </a:xfrm>
          <a:prstGeom prst="rect">
            <a:avLst/>
          </a:prstGeom>
          <a:noFill/>
        </p:spPr>
        <p:txBody>
          <a:bodyPr wrap="square" lIns="0" rIns="0" tIns="0" bIns="0" anchor="t">
            <a:spAutoFit/>
          </a:bodyPr>
          <a:lstStyle/>
          <a:p>
            <a:pPr algn="l">
              <a:lnSpc>
                <a:spcPct val="110000"/>
              </a:lnSpc>
            </a:pPr>
            <a:r>
              <a:rPr sz="900" b="0" i="1">
                <a:solidFill>
                  <a:srgbClr val="5B6678"/>
                </a:solidFill>
                <a:latin typeface="DejaVu Sans"/>
              </a:rPr>
              <a:t>The surveys differ: Stack Overflow asks "use or plan to use" (more than 49,000 people from 177 countries), DORA asks "use" (more than 5,000). The order of magnitude agrees.</a:t>
            </a:r>
          </a:p>
        </p:txBody>
      </p:sp>
      <p:sp>
        <p:nvSpPr>
          <p:cNvPr id="9" name="Rounded Rectangle 8"/>
          <p:cNvSpPr/>
          <p:nvPr/>
        </p:nvSpPr>
        <p:spPr>
          <a:xfrm>
            <a:off x="6720840" y="1298448"/>
            <a:ext cx="4983480" cy="3840480"/>
          </a:xfrm>
          <a:prstGeom prst="roundRect">
            <a:avLst>
              <a:gd name="adj" fmla="val 7936"/>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help-teal.png"/>
          <p:cNvPicPr>
            <a:picLocks noChangeAspect="1"/>
          </p:cNvPicPr>
          <p:nvPr/>
        </p:nvPicPr>
        <p:blipFill>
          <a:blip r:embed="rId4"/>
          <a:stretch>
            <a:fillRect/>
          </a:stretch>
        </p:blipFill>
        <p:spPr>
          <a:xfrm>
            <a:off x="6922007" y="1408176"/>
            <a:ext cx="420624" cy="420624"/>
          </a:xfrm>
          <a:prstGeom prst="rect">
            <a:avLst/>
          </a:prstGeom>
        </p:spPr>
      </p:pic>
      <p:sp>
        <p:nvSpPr>
          <p:cNvPr id="11" name="TextBox 10"/>
          <p:cNvSpPr txBox="1"/>
          <p:nvPr/>
        </p:nvSpPr>
        <p:spPr>
          <a:xfrm>
            <a:off x="7470648" y="1444751"/>
            <a:ext cx="4032504"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Trust, meanwhile, is falling</a:t>
            </a:r>
          </a:p>
        </p:txBody>
      </p:sp>
      <p:sp>
        <p:nvSpPr>
          <p:cNvPr id="12" name="Rounded Rectangle 11"/>
          <p:cNvSpPr/>
          <p:nvPr/>
        </p:nvSpPr>
        <p:spPr>
          <a:xfrm>
            <a:off x="6903720" y="1901952"/>
            <a:ext cx="4617720" cy="1207008"/>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68312" y="2011680"/>
            <a:ext cx="1371600" cy="822960"/>
          </a:xfrm>
          <a:prstGeom prst="rect">
            <a:avLst/>
          </a:prstGeom>
          <a:noFill/>
        </p:spPr>
        <p:txBody>
          <a:bodyPr wrap="square" lIns="0" rIns="0" tIns="0" bIns="0" anchor="ctr">
            <a:spAutoFit/>
          </a:bodyPr>
          <a:lstStyle/>
          <a:p>
            <a:pPr algn="l">
              <a:lnSpc>
                <a:spcPct val="115000"/>
              </a:lnSpc>
            </a:pPr>
            <a:r>
              <a:rPr sz="3800" b="1" i="0">
                <a:solidFill>
                  <a:srgbClr val="21295C"/>
                </a:solidFill>
                <a:latin typeface="DejaVu Sans"/>
              </a:rPr>
              <a:t>46%</a:t>
            </a:r>
          </a:p>
        </p:txBody>
      </p:sp>
      <p:sp>
        <p:nvSpPr>
          <p:cNvPr id="14" name="TextBox 13"/>
          <p:cNvSpPr txBox="1"/>
          <p:nvPr/>
        </p:nvSpPr>
        <p:spPr>
          <a:xfrm>
            <a:off x="8476488" y="2029967"/>
            <a:ext cx="2880360" cy="969264"/>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do not trust the accuracy of what AI tools produce — against 31% a year earlier </a:t>
            </a:r>
            <a:r>
              <a:rPr sz="598" baseline="30000" b="0" i="1">
                <a:latin typeface="DejaVu Sans"/>
                <a:cs typeface="DejaVu Sans"/>
                <a:ea typeface="DejaVu Sans"/>
                <a:solidFill>
                  <a:srgbClr val="1C7293"/>
                </a:solidFill>
              </a:rPr>
              <a:t>[1]</a:t>
            </a:r>
          </a:p>
        </p:txBody>
      </p:sp>
      <p:sp>
        <p:nvSpPr>
          <p:cNvPr id="15" name="TextBox 14"/>
          <p:cNvSpPr txBox="1"/>
          <p:nvPr/>
        </p:nvSpPr>
        <p:spPr>
          <a:xfrm>
            <a:off x="6940296" y="3236976"/>
            <a:ext cx="4544568" cy="768096"/>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Over 80% at the same time report a gain in personal effectiveness — yet only 24% highly trust the result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The feeling of usefulness and trust in the output have come apart.</a:t>
            </a:r>
          </a:p>
        </p:txBody>
      </p:sp>
      <p:sp>
        <p:nvSpPr>
          <p:cNvPr id="16" name="Rounded Rectangle 15"/>
          <p:cNvSpPr/>
          <p:nvPr/>
        </p:nvSpPr>
        <p:spPr>
          <a:xfrm>
            <a:off x="6903720" y="4059935"/>
            <a:ext cx="4617720" cy="896112"/>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4133087"/>
            <a:ext cx="4251960" cy="76809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Almost everyone uses them — fewer than half trust them. Nothing left to argue in "switch AI on or not"; the engineering question is what closes this gap.</a:t>
            </a:r>
          </a:p>
        </p:txBody>
      </p:sp>
      <p:sp>
        <p:nvSpPr>
          <p:cNvPr id="18" name="Rounded Rectangle 17"/>
          <p:cNvSpPr/>
          <p:nvPr/>
        </p:nvSpPr>
        <p:spPr>
          <a:xfrm>
            <a:off x="502920" y="526694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21807"/>
            <a:ext cx="10762488" cy="51206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84–90% of the industry is already inside, and the share is growing for the second year running. So the useful question is not "use AI or not" but at what cost, with which risks, and with which measures they are closed — phase by phase.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Stack Overflow — Developer Survey 2025, AI section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DORA — State of AI-assisted Software Development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4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15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150" b="0" i="0">
                <a:solidFill>
                  <a:srgbClr val="21295C"/>
                </a:solidFill>
                <a:latin typeface="DejaVu Sans"/>
              </a:rPr>
              <a:t>task comes from the tracker, result is a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(DevOps Research and Assessment — Google's research program on the maturity of DevOps practices)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in advance — a fast result; without it, failure is expected, not accidental</a:t>
            </a:r>
          </a:p>
        </p:txBody>
      </p:sp>
      <p:sp>
        <p:nvSpPr>
          <p:cNvPr id="3" name="Rounded Rectangle 2"/>
          <p:cNvSpPr/>
          <p:nvPr/>
        </p:nvSpPr>
        <p:spPr>
          <a:xfrm>
            <a:off x="502920" y="1316736"/>
            <a:ext cx="5532120" cy="3072384"/>
          </a:xfrm>
          <a:prstGeom prst="roundRect">
            <a:avLst>
              <a:gd name="adj" fmla="val 992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gold.png"/>
          <p:cNvPicPr>
            <a:picLocks noChangeAspect="1"/>
          </p:cNvPicPr>
          <p:nvPr/>
        </p:nvPicPr>
        <p:blipFill>
          <a:blip r:embed="rId2"/>
          <a:stretch>
            <a:fillRect/>
          </a:stretch>
        </p:blipFill>
        <p:spPr>
          <a:xfrm>
            <a:off x="704088" y="1463039"/>
            <a:ext cx="420624" cy="420624"/>
          </a:xfrm>
          <a:prstGeom prst="rect">
            <a:avLst/>
          </a:prstGeom>
        </p:spPr>
      </p:pic>
      <p:sp>
        <p:nvSpPr>
          <p:cNvPr id="5" name="TextBox 4"/>
          <p:cNvSpPr txBox="1"/>
          <p:nvPr/>
        </p:nvSpPr>
        <p:spPr>
          <a:xfrm>
            <a:off x="1252728" y="1499616"/>
            <a:ext cx="4617720" cy="329184"/>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AWS Kiro · life sciences (pharma/biotech, 2026)</a:t>
            </a:r>
          </a:p>
        </p:txBody>
      </p:sp>
      <p:sp>
        <p:nvSpPr>
          <p:cNvPr id="6" name="TextBox 5"/>
          <p:cNvSpPr txBox="1"/>
          <p:nvPr/>
        </p:nvSpPr>
        <p:spPr>
          <a:xfrm>
            <a:off x="722376" y="1938528"/>
            <a:ext cx="5093208"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production-ready agent for therapeutic target discovery: a spec-first workflow — specification → execution against milestones → verification against the spec.</a:t>
            </a:r>
          </a:p>
        </p:txBody>
      </p:sp>
      <p:sp>
        <p:nvSpPr>
          <p:cNvPr id="7" name="TextBox 6"/>
          <p:cNvSpPr txBox="1"/>
          <p:nvPr/>
        </p:nvSpPr>
        <p:spPr>
          <a:xfrm>
            <a:off x="722376" y="2798064"/>
            <a:ext cx="5093208" cy="548640"/>
          </a:xfrm>
          <a:prstGeom prst="rect">
            <a:avLst/>
          </a:prstGeom>
          <a:noFill/>
        </p:spPr>
        <p:txBody>
          <a:bodyPr wrap="square" lIns="0" rIns="0" tIns="0" bIns="0" anchor="t">
            <a:spAutoFit/>
          </a:bodyPr>
          <a:lstStyle/>
          <a:p>
            <a:pPr algn="l">
              <a:lnSpc>
                <a:spcPct val="115000"/>
              </a:lnSpc>
            </a:pPr>
            <a:r>
              <a:rPr sz="2200" b="1" i="0">
                <a:solidFill>
                  <a:srgbClr val="065A82"/>
                </a:solidFill>
                <a:latin typeface="DejaVu Sans"/>
              </a:rPr>
              <a:t>3 weeks, 3 developers</a:t>
            </a:r>
          </a:p>
        </p:txBody>
      </p:sp>
      <p:sp>
        <p:nvSpPr>
          <p:cNvPr id="8" name="TextBox 7"/>
          <p:cNvSpPr txBox="1"/>
          <p:nvPr/>
        </p:nvSpPr>
        <p:spPr>
          <a:xfrm>
            <a:off x="722376" y="3364992"/>
            <a:ext cx="5093208" cy="310896"/>
          </a:xfrm>
          <a:prstGeom prst="rect">
            <a:avLst/>
          </a:prstGeom>
          <a:noFill/>
        </p:spPr>
        <p:txBody>
          <a:bodyPr wrap="square" lIns="0" rIns="0" tIns="0" bIns="0" anchor="t">
            <a:spAutoFit/>
          </a:bodyPr>
          <a:lstStyle/>
          <a:p>
            <a:pPr algn="l">
              <a:lnSpc>
                <a:spcPct val="115000"/>
              </a:lnSpc>
            </a:pPr>
            <a:r>
              <a:rPr sz="1100" b="0" i="1">
                <a:solidFill>
                  <a:srgbClr val="21295C"/>
                </a:solidFill>
                <a:latin typeface="DejaVu Sans"/>
              </a:rPr>
              <a:t>— not a drawn-out cycle of ad-hoc prompting.</a:t>
            </a:r>
          </a:p>
        </p:txBody>
      </p:sp>
      <p:sp>
        <p:nvSpPr>
          <p:cNvPr id="9" name="TextBox 8"/>
          <p:cNvSpPr txBox="1"/>
          <p:nvPr/>
        </p:nvSpPr>
        <p:spPr>
          <a:xfrm>
            <a:off x="722376" y="3749039"/>
            <a:ext cx="5093208" cy="548640"/>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Medium confidence — a vendor-published case study, not an independent audit.</a:t>
            </a:r>
          </a:p>
        </p:txBody>
      </p:sp>
      <p:sp>
        <p:nvSpPr>
          <p:cNvPr id="10" name="Rounded Rectangle 9"/>
          <p:cNvSpPr/>
          <p:nvPr/>
        </p:nvSpPr>
        <p:spPr>
          <a:xfrm>
            <a:off x="6172200" y="1316736"/>
            <a:ext cx="5532120" cy="3072384"/>
          </a:xfrm>
          <a:prstGeom prst="roundRect">
            <a:avLst>
              <a:gd name="adj" fmla="val 99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ircle-x-mid.png"/>
          <p:cNvPicPr>
            <a:picLocks noChangeAspect="1"/>
          </p:cNvPicPr>
          <p:nvPr/>
        </p:nvPicPr>
        <p:blipFill>
          <a:blip r:embed="rId3"/>
          <a:stretch>
            <a:fillRect/>
          </a:stretch>
        </p:blipFill>
        <p:spPr>
          <a:xfrm>
            <a:off x="6373368" y="1463039"/>
            <a:ext cx="420624" cy="420624"/>
          </a:xfrm>
          <a:prstGeom prst="rect">
            <a:avLst/>
          </a:prstGeom>
        </p:spPr>
      </p:pic>
      <p:sp>
        <p:nvSpPr>
          <p:cNvPr id="12" name="TextBox 11"/>
          <p:cNvSpPr txBox="1"/>
          <p:nvPr/>
        </p:nvSpPr>
        <p:spPr>
          <a:xfrm>
            <a:off x="6922008" y="1499616"/>
            <a:ext cx="4617720" cy="329184"/>
          </a:xfrm>
          <a:prstGeom prst="rect">
            <a:avLst/>
          </a:prstGeom>
          <a:noFill/>
        </p:spPr>
        <p:txBody>
          <a:bodyPr wrap="square" lIns="0" rIns="0" tIns="0" bIns="0" anchor="t">
            <a:spAutoFit/>
          </a:bodyPr>
          <a:lstStyle/>
          <a:p>
            <a:pPr algn="l">
              <a:lnSpc>
                <a:spcPct val="100000"/>
              </a:lnSpc>
            </a:pPr>
            <a:r>
              <a:rPr sz="1250" b="1" i="0">
                <a:solidFill>
                  <a:srgbClr val="21295C"/>
                </a:solidFill>
                <a:latin typeface="DejaVu Sans"/>
              </a:rPr>
              <a:t>847 documented AI-agent deployments</a:t>
            </a:r>
          </a:p>
        </p:txBody>
      </p:sp>
      <p:sp>
        <p:nvSpPr>
          <p:cNvPr id="13" name="TextBox 12"/>
          <p:cNvSpPr txBox="1"/>
          <p:nvPr/>
        </p:nvSpPr>
        <p:spPr>
          <a:xfrm>
            <a:off x="6391656" y="1938528"/>
            <a:ext cx="5093208" cy="54864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76% failed within 90 days</a:t>
            </a:r>
          </a:p>
        </p:txBody>
      </p:sp>
      <p:sp>
        <p:nvSpPr>
          <p:cNvPr id="14" name="TextBox 13"/>
          <p:cNvSpPr txBox="1"/>
          <p:nvPr/>
        </p:nvSpPr>
        <p:spPr>
          <a:xfrm>
            <a:off x="6391656" y="2505456"/>
            <a:ext cx="5093208" cy="713232"/>
          </a:xfrm>
          <a:prstGeom prst="rect">
            <a:avLst/>
          </a:prstGeom>
          <a:noFill/>
        </p:spPr>
        <p:txBody>
          <a:bodyPr wrap="square" lIns="0" rIns="0" tIns="0" bIns="0" anchor="t">
            <a:spAutoFit/>
          </a:bodyPr>
          <a:lstStyle/>
          <a:p>
            <a:pPr algn="l">
              <a:lnSpc>
                <a:spcPct val="124000"/>
              </a:lnSpc>
            </a:pPr>
            <a:r>
              <a:rPr sz="1200" b="0" i="0">
                <a:solidFill>
                  <a:srgbClr val="21295C"/>
                </a:solidFill>
                <a:latin typeface="DejaVu Sans"/>
              </a:rPr>
              <a:t>The root cause named by the source is a failure of specification, not an inability of the model.</a:t>
            </a:r>
          </a:p>
        </p:txBody>
      </p:sp>
      <p:sp>
        <p:nvSpPr>
          <p:cNvPr id="15" name="TextBox 14"/>
          <p:cNvSpPr txBox="1"/>
          <p:nvPr/>
        </p:nvSpPr>
        <p:spPr>
          <a:xfrm>
            <a:off x="6391656" y="3236976"/>
            <a:ext cx="5093208" cy="512064"/>
          </a:xfrm>
          <a:prstGeom prst="rect">
            <a:avLst/>
          </a:prstGeom>
          <a:noFill/>
        </p:spPr>
        <p:txBody>
          <a:bodyPr wrap="square" lIns="0" rIns="0" tIns="0" bIns="0" anchor="t">
            <a:spAutoFit/>
          </a:bodyPr>
          <a:lstStyle/>
          <a:p>
            <a:pPr algn="l">
              <a:lnSpc>
                <a:spcPct val="116000"/>
              </a:lnSpc>
            </a:pPr>
            <a:r>
              <a:rPr sz="1050" b="0" i="1">
                <a:solidFill>
                  <a:srgbClr val="5B6678"/>
                </a:solidFill>
                <a:latin typeface="DejaVu Sans"/>
              </a:rPr>
              <a:t>The intent was never specified precisely enough to be checkable at all.</a:t>
            </a:r>
          </a:p>
        </p:txBody>
      </p:sp>
      <p:sp>
        <p:nvSpPr>
          <p:cNvPr id="16" name="TextBox 15"/>
          <p:cNvSpPr txBox="1"/>
          <p:nvPr/>
        </p:nvSpPr>
        <p:spPr>
          <a:xfrm>
            <a:off x="6391656" y="3749039"/>
            <a:ext cx="5093208" cy="548640"/>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Low-to-medium confidence — the sampling methodology is not disclosed; an illustration of the claim, not audited statistics.</a:t>
            </a:r>
          </a:p>
        </p:txBody>
      </p:sp>
      <p:sp>
        <p:nvSpPr>
          <p:cNvPr id="17" name="Rounded Rectangle 16"/>
          <p:cNvSpPr/>
          <p:nvPr/>
        </p:nvSpPr>
        <p:spPr>
          <a:xfrm>
            <a:off x="502920" y="4535424"/>
            <a:ext cx="11201400" cy="566928"/>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08576"/>
            <a:ext cx="10789920" cy="438912"/>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SDD (Spec-Driven Development) — </a:t>
            </a:r>
            <a:r>
              <a:rPr sz="1150" b="0" i="0">
                <a:solidFill>
                  <a:srgbClr val="21295C"/>
                </a:solidFill>
                <a:latin typeface="DejaVu Sans"/>
              </a:rPr>
              <a:t>GitHub Spec Kit ~90k stars; by 2026, at least 8 major vendors with their own variant of the practice.</a:t>
            </a:r>
          </a:p>
        </p:txBody>
      </p:sp>
      <p:sp>
        <p:nvSpPr>
          <p:cNvPr id="19" name="Rounded Rectangle 18"/>
          <p:cNvSpPr/>
          <p:nvPr/>
        </p:nvSpPr>
        <p:spPr>
          <a:xfrm>
            <a:off x="502920" y="5248656"/>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303520"/>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Discipline in advance is not a guarantee but a shift in probability: specifying the intent makes failure the exception rather than the statistically expected outcome.</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AWS Kiro — life sciences case study (pharma/biotech)</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Hari Krishnan — "Spec-Driven Development", Manning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(Easy Approach to Requirements Syntax)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(non-functional requirements)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(architecture decision record);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Visualizing requirements — the same architecture-as-code principle</a:t>
            </a:r>
          </a:p>
        </p:txBody>
      </p:sp>
      <p:sp>
        <p:nvSpPr>
          <p:cNvPr id="3" name="Rounded Rectangle 2"/>
          <p:cNvSpPr/>
          <p:nvPr/>
        </p:nvSpPr>
        <p:spPr>
          <a:xfrm>
            <a:off x="502920" y="1316736"/>
            <a:ext cx="5532120" cy="3054096"/>
          </a:xfrm>
          <a:prstGeom prst="roundRect">
            <a:avLst>
              <a:gd name="adj" fmla="val 998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ute-mid.png"/>
          <p:cNvPicPr>
            <a:picLocks noChangeAspect="1"/>
          </p:cNvPicPr>
          <p:nvPr/>
        </p:nvPicPr>
        <p:blipFill>
          <a:blip r:embed="rId2"/>
          <a:stretch>
            <a:fillRect/>
          </a:stretch>
        </p:blipFill>
        <p:spPr>
          <a:xfrm>
            <a:off x="704088" y="1463039"/>
            <a:ext cx="402336" cy="402336"/>
          </a:xfrm>
          <a:prstGeom prst="rect">
            <a:avLst/>
          </a:prstGeom>
        </p:spPr>
      </p:pic>
      <p:sp>
        <p:nvSpPr>
          <p:cNvPr id="5" name="TextBox 4"/>
          <p:cNvSpPr txBox="1"/>
          <p:nvPr/>
        </p:nvSpPr>
        <p:spPr>
          <a:xfrm>
            <a:off x="1234440"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Mermaid User Journey</a:t>
            </a:r>
          </a:p>
        </p:txBody>
      </p:sp>
      <p:sp>
        <p:nvSpPr>
          <p:cNvPr id="6" name="TextBox 5"/>
          <p:cNvSpPr txBox="1"/>
          <p:nvPr/>
        </p:nvSpPr>
        <p:spPr>
          <a:xfrm>
            <a:off x="722376" y="1883664"/>
            <a:ext cx="5093208" cy="10058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text DSL for diagrams, the same family as PlantUML/Structurizr for architecture. Structure: title → journey sections → steps with a 1–5 rating and actors.</a:t>
            </a:r>
          </a:p>
        </p:txBody>
      </p:sp>
      <p:sp>
        <p:nvSpPr>
          <p:cNvPr id="7" name="Rounded Rectangle 6"/>
          <p:cNvSpPr/>
          <p:nvPr/>
        </p:nvSpPr>
        <p:spPr>
          <a:xfrm>
            <a:off x="722376" y="2944368"/>
            <a:ext cx="5093208" cy="89611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 y="299923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title Booking a meeting room</a:t>
            </a:r>
          </a:p>
        </p:txBody>
      </p:sp>
      <p:sp>
        <p:nvSpPr>
          <p:cNvPr id="9" name="TextBox 8"/>
          <p:cNvSpPr txBox="1"/>
          <p:nvPr/>
        </p:nvSpPr>
        <p:spPr>
          <a:xfrm>
            <a:off x="832104" y="320497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section Find a slot</a:t>
            </a:r>
          </a:p>
        </p:txBody>
      </p:sp>
      <p:sp>
        <p:nvSpPr>
          <p:cNvPr id="10" name="TextBox 9"/>
          <p:cNvSpPr txBox="1"/>
          <p:nvPr/>
        </p:nvSpPr>
        <p:spPr>
          <a:xfrm>
            <a:off x="832104" y="341071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  Open the calendar: 4: Engineer</a:t>
            </a:r>
          </a:p>
        </p:txBody>
      </p:sp>
      <p:sp>
        <p:nvSpPr>
          <p:cNvPr id="11" name="TextBox 10"/>
          <p:cNvSpPr txBox="1"/>
          <p:nvPr/>
        </p:nvSpPr>
        <p:spPr>
          <a:xfrm>
            <a:off x="832104" y="3616452"/>
            <a:ext cx="4873752" cy="201168"/>
          </a:xfrm>
          <a:prstGeom prst="rect">
            <a:avLst/>
          </a:prstGeom>
          <a:noFill/>
        </p:spPr>
        <p:txBody>
          <a:bodyPr wrap="square" lIns="0" rIns="0" tIns="0" bIns="0" anchor="t">
            <a:spAutoFit/>
          </a:bodyPr>
          <a:lstStyle/>
          <a:p>
            <a:pPr algn="l">
              <a:lnSpc>
                <a:spcPct val="100000"/>
              </a:lnSpc>
            </a:pPr>
            <a:r>
              <a:rPr sz="950" b="0" i="0">
                <a:solidFill>
                  <a:srgbClr val="5B6678"/>
                </a:solidFill>
                <a:latin typeface="DejaVu Sans Mono"/>
              </a:rPr>
              <a:t>  Find a free slot: 2: Engineer</a:t>
            </a:r>
          </a:p>
        </p:txBody>
      </p:sp>
      <p:sp>
        <p:nvSpPr>
          <p:cNvPr id="12" name="TextBox 11"/>
          <p:cNvSpPr txBox="1"/>
          <p:nvPr/>
        </p:nvSpPr>
        <p:spPr>
          <a:xfrm>
            <a:off x="722376" y="3913631"/>
            <a:ext cx="5093208" cy="420624"/>
          </a:xfrm>
          <a:prstGeom prst="rect">
            <a:avLst/>
          </a:prstGeom>
          <a:noFill/>
        </p:spPr>
        <p:txBody>
          <a:bodyPr wrap="square" lIns="0" rIns="0" tIns="0" bIns="0" anchor="t">
            <a:spAutoFit/>
          </a:bodyPr>
          <a:lstStyle/>
          <a:p>
            <a:pPr algn="l">
              <a:lnSpc>
                <a:spcPct val="112000"/>
              </a:lnSpc>
            </a:pPr>
            <a:r>
              <a:rPr sz="1000" b="0" i="1">
                <a:solidFill>
                  <a:srgbClr val="1C7293"/>
                </a:solidFill>
                <a:latin typeface="DejaVu Sans"/>
              </a:rPr>
              <a:t>AI both reads such a diagram as context and generates it from a scenario — the same format as C4: text in the repository.</a:t>
            </a:r>
          </a:p>
        </p:txBody>
      </p:sp>
      <p:sp>
        <p:nvSpPr>
          <p:cNvPr id="13" name="Rounded Rectangle 12"/>
          <p:cNvSpPr/>
          <p:nvPr/>
        </p:nvSpPr>
        <p:spPr>
          <a:xfrm>
            <a:off x="6172200" y="1316736"/>
            <a:ext cx="5532120" cy="3054096"/>
          </a:xfrm>
          <a:prstGeom prst="roundRect">
            <a:avLst>
              <a:gd name="adj" fmla="val 998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teal.png"/>
          <p:cNvPicPr>
            <a:picLocks noChangeAspect="1"/>
          </p:cNvPicPr>
          <p:nvPr/>
        </p:nvPicPr>
        <p:blipFill>
          <a:blip r:embed="rId3"/>
          <a:stretch>
            <a:fillRect/>
          </a:stretch>
        </p:blipFill>
        <p:spPr>
          <a:xfrm>
            <a:off x="6373368" y="1463039"/>
            <a:ext cx="402336" cy="402336"/>
          </a:xfrm>
          <a:prstGeom prst="rect">
            <a:avLst/>
          </a:prstGeom>
        </p:spPr>
      </p:pic>
      <p:sp>
        <p:nvSpPr>
          <p:cNvPr id="15" name="TextBox 14"/>
          <p:cNvSpPr txBox="1"/>
          <p:nvPr/>
        </p:nvSpPr>
        <p:spPr>
          <a:xfrm>
            <a:off x="6903720"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The bridge to Gherkin — an executable spec</a:t>
            </a:r>
          </a:p>
        </p:txBody>
      </p:sp>
      <p:sp>
        <p:nvSpPr>
          <p:cNvPr id="16" name="TextBox 15"/>
          <p:cNvSpPr txBox="1"/>
          <p:nvPr/>
        </p:nvSpPr>
        <p:spPr>
          <a:xfrm>
            <a:off x="6391656" y="1883664"/>
            <a:ext cx="5093208" cy="10058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more direct analogue of architecture-as-code: the scenario does not merely describe a flow, it is verified by running an automated test (the testing section).</a:t>
            </a:r>
          </a:p>
        </p:txBody>
      </p:sp>
      <p:sp>
        <p:nvSpPr>
          <p:cNvPr id="17" name="Rounded Rectangle 16"/>
          <p:cNvSpPr/>
          <p:nvPr/>
        </p:nvSpPr>
        <p:spPr>
          <a:xfrm>
            <a:off x="6391656" y="2944368"/>
            <a:ext cx="5093208" cy="89611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1384" y="3054096"/>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Given the meeting room is free</a:t>
            </a:r>
          </a:p>
        </p:txBody>
      </p:sp>
      <p:sp>
        <p:nvSpPr>
          <p:cNvPr id="19" name="TextBox 18"/>
          <p:cNvSpPr txBox="1"/>
          <p:nvPr/>
        </p:nvSpPr>
        <p:spPr>
          <a:xfrm>
            <a:off x="6501384" y="3287268"/>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When an engineer books a slot</a:t>
            </a:r>
          </a:p>
        </p:txBody>
      </p:sp>
      <p:sp>
        <p:nvSpPr>
          <p:cNvPr id="20" name="TextBox 19"/>
          <p:cNvSpPr txBox="1"/>
          <p:nvPr/>
        </p:nvSpPr>
        <p:spPr>
          <a:xfrm>
            <a:off x="6501384" y="3520439"/>
            <a:ext cx="4873752" cy="219456"/>
          </a:xfrm>
          <a:prstGeom prst="rect">
            <a:avLst/>
          </a:prstGeom>
          <a:noFill/>
        </p:spPr>
        <p:txBody>
          <a:bodyPr wrap="square" lIns="0" rIns="0" tIns="0" bIns="0" anchor="t">
            <a:spAutoFit/>
          </a:bodyPr>
          <a:lstStyle/>
          <a:p>
            <a:pPr algn="l">
              <a:lnSpc>
                <a:spcPct val="100000"/>
              </a:lnSpc>
            </a:pPr>
            <a:r>
              <a:rPr sz="1000" b="0" i="0">
                <a:solidFill>
                  <a:srgbClr val="5B6678"/>
                </a:solidFill>
                <a:latin typeface="DejaVu Sans Mono"/>
              </a:rPr>
              <a:t>Then the booking is confirmed</a:t>
            </a:r>
          </a:p>
        </p:txBody>
      </p:sp>
      <p:sp>
        <p:nvSpPr>
          <p:cNvPr id="21" name="TextBox 20"/>
          <p:cNvSpPr txBox="1"/>
          <p:nvPr/>
        </p:nvSpPr>
        <p:spPr>
          <a:xfrm>
            <a:off x="6391656" y="3913631"/>
            <a:ext cx="5093208" cy="420624"/>
          </a:xfrm>
          <a:prstGeom prst="rect">
            <a:avLst/>
          </a:prstGeom>
          <a:noFill/>
        </p:spPr>
        <p:txBody>
          <a:bodyPr wrap="square" lIns="0" rIns="0" tIns="0" bIns="0" anchor="t">
            <a:spAutoFit/>
          </a:bodyPr>
          <a:lstStyle/>
          <a:p>
            <a:pPr algn="l">
              <a:lnSpc>
                <a:spcPct val="112000"/>
              </a:lnSpc>
            </a:pPr>
            <a:r>
              <a:rPr sz="1000" b="0" i="1">
                <a:solidFill>
                  <a:srgbClr val="1C7293"/>
                </a:solidFill>
                <a:latin typeface="DejaVu Sans"/>
              </a:rPr>
              <a:t>Just as C4/Mermaid is text checked by a drift detector, Gherkin is text checked by an automated test: AI can write and validate both.</a:t>
            </a:r>
          </a:p>
        </p:txBody>
      </p:sp>
      <p:sp>
        <p:nvSpPr>
          <p:cNvPr id="22" name="Rounded Rectangle 21"/>
          <p:cNvSpPr/>
          <p:nvPr/>
        </p:nvSpPr>
        <p:spPr>
          <a:xfrm>
            <a:off x="502920" y="4480559"/>
            <a:ext cx="11201400" cy="566928"/>
          </a:xfrm>
          <a:prstGeom prst="roundRect">
            <a:avLst>
              <a:gd name="adj" fmla="val 10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ircle-slash-teal.png"/>
          <p:cNvPicPr>
            <a:picLocks noChangeAspect="1"/>
          </p:cNvPicPr>
          <p:nvPr/>
        </p:nvPicPr>
        <p:blipFill>
          <a:blip r:embed="rId4"/>
          <a:stretch>
            <a:fillRect/>
          </a:stretch>
        </p:blipFill>
        <p:spPr>
          <a:xfrm>
            <a:off x="658368" y="4571999"/>
            <a:ext cx="365760" cy="365760"/>
          </a:xfrm>
          <a:prstGeom prst="rect">
            <a:avLst/>
          </a:prstGeom>
        </p:spPr>
      </p:pic>
      <p:sp>
        <p:nvSpPr>
          <p:cNvPr id="24" name="TextBox 23"/>
          <p:cNvSpPr txBox="1"/>
          <p:nvPr/>
        </p:nvSpPr>
        <p:spPr>
          <a:xfrm>
            <a:off x="1170432" y="4544568"/>
            <a:ext cx="10378440" cy="438912"/>
          </a:xfrm>
          <a:prstGeom prst="rect">
            <a:avLst/>
          </a:prstGeom>
          <a:noFill/>
        </p:spPr>
        <p:txBody>
          <a:bodyPr wrap="square" lIns="0" rIns="0" tIns="0" bIns="0" anchor="ctr">
            <a:spAutoFit/>
          </a:bodyPr>
          <a:lstStyle/>
          <a:p>
            <a:pPr algn="l">
              <a:lnSpc>
                <a:spcPct val="115000"/>
              </a:lnSpc>
            </a:pPr>
            <a:r>
              <a:rPr sz="1050" b="1" i="0">
                <a:solidFill>
                  <a:srgbClr val="5B6678"/>
                </a:solidFill>
                <a:latin typeface="DejaVu Sans"/>
              </a:rPr>
              <a:t>The honest boundary: </a:t>
            </a:r>
            <a:r>
              <a:rPr sz="1000" b="0" i="0">
                <a:solidFill>
                  <a:srgbClr val="21295C"/>
                </a:solidFill>
                <a:latin typeface="DejaVu Sans"/>
              </a:rPr>
              <a:t>story mapping (laying activities out in columns, Miro/FigJam) is an important practice, but it is a facilitation workshop technique, not code-as-DSL. Here the road to a disciplined requirement runs through the people in the room, not through versioned text.</a:t>
            </a:r>
          </a:p>
        </p:txBody>
      </p:sp>
      <p:sp>
        <p:nvSpPr>
          <p:cNvPr id="25" name="Rounded Rectangle 24"/>
          <p:cNvSpPr/>
          <p:nvPr/>
        </p:nvSpPr>
        <p:spPr>
          <a:xfrm>
            <a:off x="502920" y="5157216"/>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12079"/>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a separate new tool category — the same move as architecture-as-code: the artifact as text rather than a picture, so that AI can read and generate it on a par with the human.</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Mermaid — User Journey syntax</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Cucumber — BDD/Gherkin documentation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676656"/>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Every practice is a concrete file in the repository</a:t>
            </a:r>
          </a:p>
        </p:txBody>
      </p:sp>
      <p:sp>
        <p:nvSpPr>
          <p:cNvPr id="3" name="TextBox 2"/>
          <p:cNvSpPr txBox="1"/>
          <p:nvPr/>
        </p:nvSpPr>
        <p:spPr>
          <a:xfrm>
            <a:off x="502920" y="1078992"/>
            <a:ext cx="1120140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The same four practices — not as a description, but as the artifact that sits in the repository and is checked by the build.</a:t>
            </a:r>
          </a:p>
        </p:txBody>
      </p:sp>
      <p:sp>
        <p:nvSpPr>
          <p:cNvPr id="4" name="Rounded Rectangle 3"/>
          <p:cNvSpPr/>
          <p:nvPr/>
        </p:nvSpPr>
        <p:spPr>
          <a:xfrm>
            <a:off x="502920" y="1316736"/>
            <a:ext cx="2704338"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avel-white.png"/>
          <p:cNvPicPr>
            <a:picLocks noChangeAspect="1"/>
          </p:cNvPicPr>
          <p:nvPr/>
        </p:nvPicPr>
        <p:blipFill>
          <a:blip r:embed="rId2"/>
          <a:stretch>
            <a:fillRect/>
          </a:stretch>
        </p:blipFill>
        <p:spPr>
          <a:xfrm>
            <a:off x="621792" y="1399032"/>
            <a:ext cx="365760" cy="365760"/>
          </a:xfrm>
          <a:prstGeom prst="rect">
            <a:avLst/>
          </a:prstGeom>
        </p:spPr>
      </p:pic>
      <p:sp>
        <p:nvSpPr>
          <p:cNvPr id="6" name="TextBox 5"/>
          <p:cNvSpPr txBox="1"/>
          <p:nvPr/>
        </p:nvSpPr>
        <p:spPr>
          <a:xfrm>
            <a:off x="1051560"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ADR</a:t>
            </a:r>
          </a:p>
        </p:txBody>
      </p:sp>
      <p:sp>
        <p:nvSpPr>
          <p:cNvPr id="7" name="TextBox 6"/>
          <p:cNvSpPr txBox="1"/>
          <p:nvPr/>
        </p:nvSpPr>
        <p:spPr>
          <a:xfrm>
            <a:off x="539496"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docs/adr/0007-event-queue.md</a:t>
            </a:r>
          </a:p>
        </p:txBody>
      </p:sp>
      <p:sp>
        <p:nvSpPr>
          <p:cNvPr id="8" name="Rounded Rectangle 7"/>
          <p:cNvSpPr/>
          <p:nvPr/>
        </p:nvSpPr>
        <p:spPr>
          <a:xfrm>
            <a:off x="502920"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ADR-0007. Queue instead of</a:t>
            </a:r>
          </a:p>
        </p:txBody>
      </p:sp>
      <p:sp>
        <p:nvSpPr>
          <p:cNvPr id="10" name="TextBox 9"/>
          <p:cNvSpPr txBox="1"/>
          <p:nvPr/>
        </p:nvSpPr>
        <p:spPr>
          <a:xfrm>
            <a:off x="621792"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direct warehouse calls</a:t>
            </a:r>
          </a:p>
        </p:txBody>
      </p:sp>
      <p:sp>
        <p:nvSpPr>
          <p:cNvPr id="11" name="TextBox 10"/>
          <p:cNvSpPr txBox="1"/>
          <p:nvPr/>
        </p:nvSpPr>
        <p:spPr>
          <a:xfrm>
            <a:off x="621792"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Status: accepted · 2026-03-12</a:t>
            </a:r>
          </a:p>
        </p:txBody>
      </p:sp>
      <p:sp>
        <p:nvSpPr>
          <p:cNvPr id="12" name="TextBox 11"/>
          <p:cNvSpPr txBox="1"/>
          <p:nvPr/>
        </p:nvSpPr>
        <p:spPr>
          <a:xfrm>
            <a:off x="621792"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Context: on warehouse outage</a:t>
            </a:r>
          </a:p>
        </p:txBody>
      </p:sp>
      <p:sp>
        <p:nvSpPr>
          <p:cNvPr id="13" name="TextBox 12"/>
          <p:cNvSpPr txBox="1"/>
          <p:nvPr/>
        </p:nvSpPr>
        <p:spPr>
          <a:xfrm>
            <a:off x="621792"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orders are lost silently</a:t>
            </a:r>
          </a:p>
        </p:txBody>
      </p:sp>
      <p:sp>
        <p:nvSpPr>
          <p:cNvPr id="14" name="TextBox 13"/>
          <p:cNvSpPr txBox="1"/>
          <p:nvPr/>
        </p:nvSpPr>
        <p:spPr>
          <a:xfrm>
            <a:off x="621792"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Decision: orders go through</a:t>
            </a:r>
          </a:p>
        </p:txBody>
      </p:sp>
      <p:sp>
        <p:nvSpPr>
          <p:cNvPr id="15" name="TextBox 14"/>
          <p:cNvSpPr txBox="1"/>
          <p:nvPr/>
        </p:nvSpPr>
        <p:spPr>
          <a:xfrm>
            <a:off x="621792"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an event queue</a:t>
            </a:r>
          </a:p>
        </p:txBody>
      </p:sp>
      <p:sp>
        <p:nvSpPr>
          <p:cNvPr id="16" name="TextBox 15"/>
          <p:cNvSpPr txBox="1"/>
          <p:nvPr/>
        </p:nvSpPr>
        <p:spPr>
          <a:xfrm>
            <a:off x="621792"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Consequences: + we survive</a:t>
            </a:r>
          </a:p>
        </p:txBody>
      </p:sp>
      <p:sp>
        <p:nvSpPr>
          <p:cNvPr id="17" name="TextBox 16"/>
          <p:cNvSpPr txBox="1"/>
          <p:nvPr/>
        </p:nvSpPr>
        <p:spPr>
          <a:xfrm>
            <a:off x="621792"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 warehouse outage;</a:t>
            </a:r>
          </a:p>
        </p:txBody>
      </p:sp>
      <p:sp>
        <p:nvSpPr>
          <p:cNvPr id="18" name="TextBox 17"/>
          <p:cNvSpPr txBox="1"/>
          <p:nvPr/>
        </p:nvSpPr>
        <p:spPr>
          <a:xfrm>
            <a:off x="621792" y="378927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confirmation 2 s</a:t>
            </a:r>
          </a:p>
        </p:txBody>
      </p:sp>
      <p:sp>
        <p:nvSpPr>
          <p:cNvPr id="19" name="TextBox 18"/>
          <p:cNvSpPr txBox="1"/>
          <p:nvPr/>
        </p:nvSpPr>
        <p:spPr>
          <a:xfrm>
            <a:off x="621792" y="3959352"/>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instead of instant</a:t>
            </a:r>
          </a:p>
        </p:txBody>
      </p:sp>
      <p:sp>
        <p:nvSpPr>
          <p:cNvPr id="20" name="Rounded Rectangle 19"/>
          <p:cNvSpPr/>
          <p:nvPr/>
        </p:nvSpPr>
        <p:spPr>
          <a:xfrm>
            <a:off x="502920" y="4297679"/>
            <a:ext cx="2704338" cy="896112"/>
          </a:xfrm>
          <a:prstGeom prst="roundRect">
            <a:avLst>
              <a:gd name="adj" fmla="val 7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The human chose and signed the fork — AI could write the text. The record is immutable: an outdated one is replaced, not edited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a:t>
            </a:r>
          </a:p>
        </p:txBody>
      </p:sp>
      <p:sp>
        <p:nvSpPr>
          <p:cNvPr id="22" name="Rounded Rectangle 21"/>
          <p:cNvSpPr/>
          <p:nvPr/>
        </p:nvSpPr>
        <p:spPr>
          <a:xfrm>
            <a:off x="3335274" y="1316736"/>
            <a:ext cx="2704338"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white.png"/>
          <p:cNvPicPr>
            <a:picLocks noChangeAspect="1"/>
          </p:cNvPicPr>
          <p:nvPr/>
        </p:nvPicPr>
        <p:blipFill>
          <a:blip r:embed="rId3"/>
          <a:stretch>
            <a:fillRect/>
          </a:stretch>
        </p:blipFill>
        <p:spPr>
          <a:xfrm>
            <a:off x="3454146" y="1399032"/>
            <a:ext cx="365760" cy="365760"/>
          </a:xfrm>
          <a:prstGeom prst="rect">
            <a:avLst/>
          </a:prstGeom>
        </p:spPr>
      </p:pic>
      <p:sp>
        <p:nvSpPr>
          <p:cNvPr id="24" name="TextBox 23"/>
          <p:cNvSpPr txBox="1"/>
          <p:nvPr/>
        </p:nvSpPr>
        <p:spPr>
          <a:xfrm>
            <a:off x="3883913"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Fitness function</a:t>
            </a:r>
          </a:p>
        </p:txBody>
      </p:sp>
      <p:sp>
        <p:nvSpPr>
          <p:cNvPr id="25" name="TextBox 24"/>
          <p:cNvSpPr txBox="1"/>
          <p:nvPr/>
        </p:nvSpPr>
        <p:spPr>
          <a:xfrm>
            <a:off x="3371850"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tests/architecture/test_layers.py</a:t>
            </a:r>
          </a:p>
        </p:txBody>
      </p:sp>
      <p:sp>
        <p:nvSpPr>
          <p:cNvPr id="26" name="Rounded Rectangle 25"/>
          <p:cNvSpPr/>
          <p:nvPr/>
        </p:nvSpPr>
        <p:spPr>
          <a:xfrm>
            <a:off x="3335274"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54146"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invariant 1: module bounds</a:t>
            </a:r>
          </a:p>
        </p:txBody>
      </p:sp>
      <p:sp>
        <p:nvSpPr>
          <p:cNvPr id="28" name="TextBox 27"/>
          <p:cNvSpPr txBox="1"/>
          <p:nvPr/>
        </p:nvSpPr>
        <p:spPr>
          <a:xfrm>
            <a:off x="3454146"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def test_payment_not_ui():</a:t>
            </a:r>
          </a:p>
        </p:txBody>
      </p:sp>
      <p:sp>
        <p:nvSpPr>
          <p:cNvPr id="29" name="TextBox 28"/>
          <p:cNvSpPr txBox="1"/>
          <p:nvPr/>
        </p:nvSpPr>
        <p:spPr>
          <a:xfrm>
            <a:off x="3454146"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assert not depends_on(</a:t>
            </a:r>
          </a:p>
        </p:txBody>
      </p:sp>
      <p:sp>
        <p:nvSpPr>
          <p:cNvPr id="30" name="TextBox 29"/>
          <p:cNvSpPr txBox="1"/>
          <p:nvPr/>
        </p:nvSpPr>
        <p:spPr>
          <a:xfrm>
            <a:off x="3454146"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"payment", "ui")</a:t>
            </a:r>
          </a:p>
        </p:txBody>
      </p:sp>
      <p:sp>
        <p:nvSpPr>
          <p:cNvPr id="31" name="TextBox 30"/>
          <p:cNvSpPr txBox="1"/>
          <p:nvPr/>
        </p:nvSpPr>
        <p:spPr>
          <a:xfrm>
            <a:off x="3454146"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r>
          </a:p>
        </p:txBody>
      </p:sp>
      <p:sp>
        <p:nvSpPr>
          <p:cNvPr id="32" name="TextBox 31"/>
          <p:cNvSpPr txBox="1"/>
          <p:nvPr/>
        </p:nvSpPr>
        <p:spPr>
          <a:xfrm>
            <a:off x="3454146"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invariant 2: 200 ms budget</a:t>
            </a:r>
          </a:p>
        </p:txBody>
      </p:sp>
      <p:sp>
        <p:nvSpPr>
          <p:cNvPr id="33" name="TextBox 32"/>
          <p:cNvSpPr txBox="1"/>
          <p:nvPr/>
        </p:nvSpPr>
        <p:spPr>
          <a:xfrm>
            <a:off x="3454146"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def test_checkout_p95():</a:t>
            </a:r>
          </a:p>
        </p:txBody>
      </p:sp>
      <p:sp>
        <p:nvSpPr>
          <p:cNvPr id="34" name="TextBox 33"/>
          <p:cNvSpPr txBox="1"/>
          <p:nvPr/>
        </p:nvSpPr>
        <p:spPr>
          <a:xfrm>
            <a:off x="3454146"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assert p95("/checkout") &lt; 200</a:t>
            </a:r>
          </a:p>
        </p:txBody>
      </p:sp>
      <p:sp>
        <p:nvSpPr>
          <p:cNvPr id="35" name="Rounded Rectangle 34"/>
          <p:cNvSpPr/>
          <p:nvPr/>
        </p:nvSpPr>
        <p:spPr>
          <a:xfrm>
            <a:off x="3335274" y="4297679"/>
            <a:ext cx="2704338" cy="896112"/>
          </a:xfrm>
          <a:prstGeom prst="roundRect">
            <a:avLst>
              <a:gd name="adj" fmla="val 7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81578"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Which invariant is critical is the human's call — it is their definition of 'good'. Violated on a commit — the build goes red </a:t>
            </a:r>
            <a:r>
              <a:rPr sz="494" baseline="30000" b="0" i="1">
                <a:latin typeface="DejaVu Sans"/>
                <a:cs typeface="DejaVu Sans"/>
                <a:ea typeface="DejaVu Sans"/>
                <a:solidFill>
                  <a:srgbClr val="1C7293"/>
                </a:solidFill>
              </a:rPr>
              <a:t>[2]</a:t>
            </a:r>
            <a:r>
              <a:rPr sz="950" b="0" i="0">
                <a:latin typeface="DejaVu Sans"/>
                <a:cs typeface="DejaVu Sans"/>
                <a:ea typeface="DejaVu Sans"/>
                <a:solidFill>
                  <a:srgbClr val="21295C"/>
                </a:solidFill>
              </a:rPr>
              <a:t>.</a:t>
            </a:r>
          </a:p>
        </p:txBody>
      </p:sp>
      <p:sp>
        <p:nvSpPr>
          <p:cNvPr id="37" name="Rounded Rectangle 36"/>
          <p:cNvSpPr/>
          <p:nvPr/>
        </p:nvSpPr>
        <p:spPr>
          <a:xfrm>
            <a:off x="6167628" y="1316736"/>
            <a:ext cx="2704338"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ayout-grid-white.png"/>
          <p:cNvPicPr>
            <a:picLocks noChangeAspect="1"/>
          </p:cNvPicPr>
          <p:nvPr/>
        </p:nvPicPr>
        <p:blipFill>
          <a:blip r:embed="rId4"/>
          <a:stretch>
            <a:fillRect/>
          </a:stretch>
        </p:blipFill>
        <p:spPr>
          <a:xfrm>
            <a:off x="6286500" y="1399032"/>
            <a:ext cx="365760" cy="365760"/>
          </a:xfrm>
          <a:prstGeom prst="rect">
            <a:avLst/>
          </a:prstGeom>
        </p:spPr>
      </p:pic>
      <p:sp>
        <p:nvSpPr>
          <p:cNvPr id="39" name="TextBox 38"/>
          <p:cNvSpPr txBox="1"/>
          <p:nvPr/>
        </p:nvSpPr>
        <p:spPr>
          <a:xfrm>
            <a:off x="6716268"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C4 / arch-as-code</a:t>
            </a:r>
          </a:p>
        </p:txBody>
      </p:sp>
      <p:sp>
        <p:nvSpPr>
          <p:cNvPr id="40" name="TextBox 39"/>
          <p:cNvSpPr txBox="1"/>
          <p:nvPr/>
        </p:nvSpPr>
        <p:spPr>
          <a:xfrm>
            <a:off x="6204204"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docs/architecture/workspace.dsl</a:t>
            </a:r>
          </a:p>
        </p:txBody>
      </p:sp>
      <p:sp>
        <p:nvSpPr>
          <p:cNvPr id="41" name="Rounded Rectangle 40"/>
          <p:cNvSpPr/>
          <p:nvPr/>
        </p:nvSpPr>
        <p:spPr>
          <a:xfrm>
            <a:off x="6167628"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86500"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workspace {</a:t>
            </a:r>
          </a:p>
        </p:txBody>
      </p:sp>
      <p:sp>
        <p:nvSpPr>
          <p:cNvPr id="43" name="TextBox 42"/>
          <p:cNvSpPr txBox="1"/>
          <p:nvPr/>
        </p:nvSpPr>
        <p:spPr>
          <a:xfrm>
            <a:off x="6286500"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model {</a:t>
            </a:r>
          </a:p>
        </p:txBody>
      </p:sp>
      <p:sp>
        <p:nvSpPr>
          <p:cNvPr id="44" name="TextBox 43"/>
          <p:cNvSpPr txBox="1"/>
          <p:nvPr/>
        </p:nvSpPr>
        <p:spPr>
          <a:xfrm>
            <a:off x="6286500"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eng = person "Engineer"</a:t>
            </a:r>
          </a:p>
        </p:txBody>
      </p:sp>
      <p:sp>
        <p:nvSpPr>
          <p:cNvPr id="45" name="TextBox 44"/>
          <p:cNvSpPr txBox="1"/>
          <p:nvPr/>
        </p:nvSpPr>
        <p:spPr>
          <a:xfrm>
            <a:off x="6286500"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app = softwareSystem "Booking" {</a:t>
            </a:r>
          </a:p>
        </p:txBody>
      </p:sp>
      <p:sp>
        <p:nvSpPr>
          <p:cNvPr id="46" name="TextBox 45"/>
          <p:cNvSpPr txBox="1"/>
          <p:nvPr/>
        </p:nvSpPr>
        <p:spPr>
          <a:xfrm>
            <a:off x="6286500"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api = container "API"</a:t>
            </a:r>
          </a:p>
        </p:txBody>
      </p:sp>
      <p:sp>
        <p:nvSpPr>
          <p:cNvPr id="47" name="TextBox 46"/>
          <p:cNvSpPr txBox="1"/>
          <p:nvPr/>
        </p:nvSpPr>
        <p:spPr>
          <a:xfrm>
            <a:off x="6286500"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db  = container "Bookings DB"</a:t>
            </a:r>
          </a:p>
        </p:txBody>
      </p:sp>
      <p:sp>
        <p:nvSpPr>
          <p:cNvPr id="48" name="TextBox 47"/>
          <p:cNvSpPr txBox="1"/>
          <p:nvPr/>
        </p:nvSpPr>
        <p:spPr>
          <a:xfrm>
            <a:off x="6286500"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t>
            </a:r>
          </a:p>
        </p:txBody>
      </p:sp>
      <p:sp>
        <p:nvSpPr>
          <p:cNvPr id="49" name="TextBox 48"/>
          <p:cNvSpPr txBox="1"/>
          <p:nvPr/>
        </p:nvSpPr>
        <p:spPr>
          <a:xfrm>
            <a:off x="6286500"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eng -&gt; api "books a room"</a:t>
            </a:r>
          </a:p>
        </p:txBody>
      </p:sp>
      <p:sp>
        <p:nvSpPr>
          <p:cNvPr id="50" name="TextBox 49"/>
          <p:cNvSpPr txBox="1"/>
          <p:nvPr/>
        </p:nvSpPr>
        <p:spPr>
          <a:xfrm>
            <a:off x="6286500"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t>
            </a:r>
          </a:p>
        </p:txBody>
      </p:sp>
      <p:sp>
        <p:nvSpPr>
          <p:cNvPr id="51" name="TextBox 50"/>
          <p:cNvSpPr txBox="1"/>
          <p:nvPr/>
        </p:nvSpPr>
        <p:spPr>
          <a:xfrm>
            <a:off x="6286500" y="378927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a:t>
            </a:r>
          </a:p>
        </p:txBody>
      </p:sp>
      <p:sp>
        <p:nvSpPr>
          <p:cNvPr id="52" name="Rounded Rectangle 51"/>
          <p:cNvSpPr/>
          <p:nvPr/>
        </p:nvSpPr>
        <p:spPr>
          <a:xfrm>
            <a:off x="6167628" y="4297679"/>
            <a:ext cx="2704338" cy="896112"/>
          </a:xfrm>
          <a:prstGeom prst="roundRect">
            <a:avLst>
              <a:gd name="adj" fmla="val 7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13932"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Text, not a picture: changes are visible line by line and reviewed together with the code; checking the model against the code catches drift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a:t>
            </a:r>
          </a:p>
        </p:txBody>
      </p:sp>
      <p:sp>
        <p:nvSpPr>
          <p:cNvPr id="54" name="Rounded Rectangle 53"/>
          <p:cNvSpPr/>
          <p:nvPr/>
        </p:nvSpPr>
        <p:spPr>
          <a:xfrm>
            <a:off x="8999982" y="1316736"/>
            <a:ext cx="2704338"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refresh-cw-white.png"/>
          <p:cNvPicPr>
            <a:picLocks noChangeAspect="1"/>
          </p:cNvPicPr>
          <p:nvPr/>
        </p:nvPicPr>
        <p:blipFill>
          <a:blip r:embed="rId5"/>
          <a:stretch>
            <a:fillRect/>
          </a:stretch>
        </p:blipFill>
        <p:spPr>
          <a:xfrm>
            <a:off x="9118854" y="1399032"/>
            <a:ext cx="365760" cy="365760"/>
          </a:xfrm>
          <a:prstGeom prst="rect">
            <a:avLst/>
          </a:prstGeom>
        </p:spPr>
      </p:pic>
      <p:sp>
        <p:nvSpPr>
          <p:cNvPr id="56" name="TextBox 55"/>
          <p:cNvSpPr txBox="1"/>
          <p:nvPr/>
        </p:nvSpPr>
        <p:spPr>
          <a:xfrm>
            <a:off x="9548622" y="1371600"/>
            <a:ext cx="2064258" cy="457199"/>
          </a:xfrm>
          <a:prstGeom prst="rect">
            <a:avLst/>
          </a:prstGeom>
          <a:noFill/>
        </p:spPr>
        <p:txBody>
          <a:bodyPr wrap="square" lIns="0" rIns="0" tIns="0" bIns="0" anchor="ctr">
            <a:spAutoFit/>
          </a:bodyPr>
          <a:lstStyle/>
          <a:p>
            <a:pPr algn="l">
              <a:lnSpc>
                <a:spcPct val="98000"/>
              </a:lnSpc>
            </a:pPr>
            <a:r>
              <a:rPr sz="1200" b="1" i="0">
                <a:solidFill>
                  <a:srgbClr val="FFFFFF"/>
                </a:solidFill>
                <a:latin typeface="DejaVu Sans"/>
              </a:rPr>
              <a:t>Evolutionary arch.</a:t>
            </a:r>
          </a:p>
        </p:txBody>
      </p:sp>
      <p:sp>
        <p:nvSpPr>
          <p:cNvPr id="57" name="TextBox 56"/>
          <p:cNvSpPr txBox="1"/>
          <p:nvPr/>
        </p:nvSpPr>
        <p:spPr>
          <a:xfrm>
            <a:off x="9036558" y="1929384"/>
            <a:ext cx="2631186" cy="201168"/>
          </a:xfrm>
          <a:prstGeom prst="rect">
            <a:avLst/>
          </a:prstGeom>
          <a:noFill/>
        </p:spPr>
        <p:txBody>
          <a:bodyPr wrap="square" lIns="0" rIns="0" tIns="0" bIns="0" anchor="t">
            <a:spAutoFit/>
          </a:bodyPr>
          <a:lstStyle/>
          <a:p>
            <a:pPr algn="l">
              <a:lnSpc>
                <a:spcPct val="100000"/>
              </a:lnSpc>
            </a:pPr>
            <a:r>
              <a:rPr sz="800" b="0" i="0">
                <a:solidFill>
                  <a:srgbClr val="1C7293"/>
                </a:solidFill>
                <a:latin typeface="DejaVu Sans Mono"/>
              </a:rPr>
              <a:t>.github/workflows/architecture.yml</a:t>
            </a:r>
          </a:p>
        </p:txBody>
      </p:sp>
      <p:sp>
        <p:nvSpPr>
          <p:cNvPr id="58" name="Rounded Rectangle 57"/>
          <p:cNvSpPr/>
          <p:nvPr/>
        </p:nvSpPr>
        <p:spPr>
          <a:xfrm>
            <a:off x="8999982" y="2176272"/>
            <a:ext cx="2704338" cy="2029968"/>
          </a:xfrm>
          <a:prstGeom prst="roundRect">
            <a:avLst>
              <a:gd name="adj" fmla="val 500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18854" y="225856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gate: three practices together</a:t>
            </a:r>
          </a:p>
        </p:txBody>
      </p:sp>
      <p:sp>
        <p:nvSpPr>
          <p:cNvPr id="60" name="TextBox 59"/>
          <p:cNvSpPr txBox="1"/>
          <p:nvPr/>
        </p:nvSpPr>
        <p:spPr>
          <a:xfrm>
            <a:off x="9118854" y="242864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adr-lint docs/adr/</a:t>
            </a:r>
          </a:p>
        </p:txBody>
      </p:sp>
      <p:sp>
        <p:nvSpPr>
          <p:cNvPr id="61" name="TextBox 60"/>
          <p:cNvSpPr txBox="1"/>
          <p:nvPr/>
        </p:nvSpPr>
        <p:spPr>
          <a:xfrm>
            <a:off x="9118854" y="2598724"/>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no fork without a record</a:t>
            </a:r>
          </a:p>
        </p:txBody>
      </p:sp>
      <p:sp>
        <p:nvSpPr>
          <p:cNvPr id="62" name="TextBox 61"/>
          <p:cNvSpPr txBox="1"/>
          <p:nvPr/>
        </p:nvSpPr>
        <p:spPr>
          <a:xfrm>
            <a:off x="9118854" y="2768803"/>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pytest tests/architecture</a:t>
            </a:r>
          </a:p>
        </p:txBody>
      </p:sp>
      <p:sp>
        <p:nvSpPr>
          <p:cNvPr id="63" name="TextBox 62"/>
          <p:cNvSpPr txBox="1"/>
          <p:nvPr/>
        </p:nvSpPr>
        <p:spPr>
          <a:xfrm>
            <a:off x="9118854" y="2938881"/>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invariants hold</a:t>
            </a:r>
          </a:p>
        </p:txBody>
      </p:sp>
      <p:sp>
        <p:nvSpPr>
          <p:cNvPr id="64" name="TextBox 63"/>
          <p:cNvSpPr txBox="1"/>
          <p:nvPr/>
        </p:nvSpPr>
        <p:spPr>
          <a:xfrm>
            <a:off x="9118854" y="3108959"/>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structurizr-cli drift</a:t>
            </a:r>
          </a:p>
        </p:txBody>
      </p:sp>
      <p:sp>
        <p:nvSpPr>
          <p:cNvPr id="65" name="TextBox 64"/>
          <p:cNvSpPr txBox="1"/>
          <p:nvPr/>
        </p:nvSpPr>
        <p:spPr>
          <a:xfrm>
            <a:off x="9118854" y="3279038"/>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 model and code agree</a:t>
            </a:r>
          </a:p>
        </p:txBody>
      </p:sp>
      <p:sp>
        <p:nvSpPr>
          <p:cNvPr id="66" name="TextBox 65"/>
          <p:cNvSpPr txBox="1"/>
          <p:nvPr/>
        </p:nvSpPr>
        <p:spPr>
          <a:xfrm>
            <a:off x="9118854" y="3449116"/>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a red step blocks</a:t>
            </a:r>
          </a:p>
        </p:txBody>
      </p:sp>
      <p:sp>
        <p:nvSpPr>
          <p:cNvPr id="67" name="TextBox 66"/>
          <p:cNvSpPr txBox="1"/>
          <p:nvPr/>
        </p:nvSpPr>
        <p:spPr>
          <a:xfrm>
            <a:off x="9118854" y="3619195"/>
            <a:ext cx="2503170" cy="173736"/>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merging the change</a:t>
            </a:r>
          </a:p>
        </p:txBody>
      </p:sp>
      <p:sp>
        <p:nvSpPr>
          <p:cNvPr id="68" name="Rounded Rectangle 67"/>
          <p:cNvSpPr/>
          <p:nvPr/>
        </p:nvSpPr>
        <p:spPr>
          <a:xfrm>
            <a:off x="8999982" y="4297679"/>
            <a:ext cx="2704338" cy="896112"/>
          </a:xfrm>
          <a:prstGeom prst="roundRect">
            <a:avLst>
              <a:gd name="adj" fmla="val 7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6286" y="4361688"/>
            <a:ext cx="2411730" cy="768096"/>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It has no artifact of its own — it has the gate that holds the previous three together on every change. The human sets the direction </a:t>
            </a:r>
            <a:r>
              <a:rPr sz="494" baseline="30000" b="0" i="1">
                <a:latin typeface="DejaVu Sans"/>
                <a:cs typeface="DejaVu Sans"/>
                <a:ea typeface="DejaVu Sans"/>
                <a:solidFill>
                  <a:srgbClr val="1C7293"/>
                </a:solidFill>
              </a:rPr>
              <a:t>[4]</a:t>
            </a:r>
            <a:r>
              <a:rPr sz="950" b="0" i="0">
                <a:latin typeface="DejaVu Sans"/>
                <a:cs typeface="DejaVu Sans"/>
                <a:ea typeface="DejaVu Sans"/>
                <a:solidFill>
                  <a:srgbClr val="21295C"/>
                </a:solidFill>
              </a:rPr>
              <a:t>.</a:t>
            </a:r>
          </a:p>
        </p:txBody>
      </p:sp>
      <p:sp>
        <p:nvSpPr>
          <p:cNvPr id="70" name="Rounded Rectangle 69"/>
          <p:cNvSpPr/>
          <p:nvPr/>
        </p:nvSpPr>
        <p:spPr>
          <a:xfrm>
            <a:off x="502920" y="528523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22376" y="5340096"/>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You can tell a practice by its artifact: if you cannot show a file in the repository and a red build step when it is violated, it is not yet a practice, only an intention.</a:t>
            </a:r>
          </a:p>
        </p:txBody>
      </p:sp>
      <p:sp>
        <p:nvSpPr>
          <p:cNvPr id="72" name="TextBox 7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Thoughtworks — architectural fitness function</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 + Structurizr DSL</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Ford, Parsons, Kua — Building Evolutionary Architectures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461772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pic>
        <p:nvPicPr>
          <p:cNvPr id="7" name="Picture 6" descr="flame-gold.png"/>
          <p:cNvPicPr>
            <a:picLocks noChangeAspect="1"/>
          </p:cNvPicPr>
          <p:nvPr/>
        </p:nvPicPr>
        <p:blipFill>
          <a:blip r:embed="rId2"/>
          <a:stretch>
            <a:fillRect/>
          </a:stretch>
        </p:blipFill>
        <p:spPr>
          <a:xfrm>
            <a:off x="5431536" y="2011680"/>
            <a:ext cx="402336" cy="402336"/>
          </a:xfrm>
          <a:prstGeom prst="rect">
            <a:avLst/>
          </a:prstGeom>
        </p:spPr>
      </p:pic>
      <p:sp>
        <p:nvSpPr>
          <p:cNvPr id="8" name="Rounded Rectangle 7"/>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1" name="TextBox 10"/>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2" name="Rounded Rectangle 11"/>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4" name="TextBox 13"/>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5" name="Rounded Rectangle 14"/>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7" name="TextBox 16"/>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8" name="Rounded Rectangle 17"/>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20" name="TextBox 19"/>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1" name="Rounded Rectangle 20"/>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user-check-teal.png"/>
          <p:cNvPicPr>
            <a:picLocks noChangeAspect="1"/>
          </p:cNvPicPr>
          <p:nvPr/>
        </p:nvPicPr>
        <p:blipFill>
          <a:blip r:embed="rId3"/>
          <a:stretch>
            <a:fillRect/>
          </a:stretch>
        </p:blipFill>
        <p:spPr>
          <a:xfrm>
            <a:off x="6464807" y="2176272"/>
            <a:ext cx="457200" cy="457200"/>
          </a:xfrm>
          <a:prstGeom prst="rect">
            <a:avLst/>
          </a:prstGeom>
        </p:spPr>
      </p:pic>
      <p:sp>
        <p:nvSpPr>
          <p:cNvPr id="23" name="TextBox 22"/>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4" name="TextBox 23"/>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signs off the decisions and is accountable for them; AI can be a full co-architect or draft its first version — but does not sign.</a:t>
            </a:r>
          </a:p>
        </p:txBody>
      </p:sp>
      <p:sp>
        <p:nvSpPr>
          <p:cNvPr id="25" name="Rounded Rectangle 24"/>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avel-teal.png"/>
          <p:cNvPicPr>
            <a:picLocks noChangeAspect="1"/>
          </p:cNvPicPr>
          <p:nvPr/>
        </p:nvPicPr>
        <p:blipFill>
          <a:blip r:embed="rId4"/>
          <a:stretch>
            <a:fillRect/>
          </a:stretch>
        </p:blipFill>
        <p:spPr>
          <a:xfrm>
            <a:off x="6464807" y="3236976"/>
            <a:ext cx="457200" cy="457200"/>
          </a:xfrm>
          <a:prstGeom prst="rect">
            <a:avLst/>
          </a:prstGeom>
        </p:spPr>
      </p:pic>
      <p:sp>
        <p:nvSpPr>
          <p:cNvPr id="27" name="TextBox 26"/>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8" name="TextBox 27"/>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9" name="Rounded Rectangle 28"/>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hield-check-teal.png"/>
          <p:cNvPicPr>
            <a:picLocks noChangeAspect="1"/>
          </p:cNvPicPr>
          <p:nvPr/>
        </p:nvPicPr>
        <p:blipFill>
          <a:blip r:embed="rId5"/>
          <a:stretch>
            <a:fillRect/>
          </a:stretch>
        </p:blipFill>
        <p:spPr>
          <a:xfrm>
            <a:off x="6464807" y="4297680"/>
            <a:ext cx="457200" cy="457200"/>
          </a:xfrm>
          <a:prstGeom prst="rect">
            <a:avLst/>
          </a:prstGeom>
        </p:spPr>
      </p:pic>
      <p:sp>
        <p:nvSpPr>
          <p:cNvPr id="31" name="TextBox 30"/>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2" name="TextBox 31"/>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3" name="Rounded Rectangle 3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pic>
        <p:nvPicPr>
          <p:cNvPr id="35" name="Picture 34" descr="band-x-everywhere.png"/>
          <p:cNvPicPr>
            <a:picLocks noChangeAspect="1"/>
          </p:cNvPicPr>
          <p:nvPr/>
        </p:nvPicPr>
        <p:blipFill>
          <a:blip r:embed="rId6"/>
          <a:stretch>
            <a:fillRect/>
          </a:stretch>
        </p:blipFill>
        <p:spPr>
          <a:xfrm>
            <a:off x="8613648" y="5852448"/>
            <a:ext cx="3090672" cy="584639"/>
          </a:xfrm>
          <a:prstGeom prst="rect">
            <a:avLst/>
          </a:prstGeom>
        </p:spPr>
      </p:pic>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Thoughtworks — fitness function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Self-review is a mandatory step between code and commit, not an optional habit</a:t>
            </a:r>
          </a:p>
        </p:txBody>
      </p:sp>
      <p:sp>
        <p:nvSpPr>
          <p:cNvPr id="3" name="Rounded Rectangle 2"/>
          <p:cNvSpPr/>
          <p:nvPr/>
        </p:nvSpPr>
        <p:spPr>
          <a:xfrm>
            <a:off x="502920" y="1316736"/>
            <a:ext cx="59893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ug-mid.png"/>
          <p:cNvPicPr>
            <a:picLocks noChangeAspect="1"/>
          </p:cNvPicPr>
          <p:nvPr/>
        </p:nvPicPr>
        <p:blipFill>
          <a:blip r:embed="rId2"/>
          <a:stretch>
            <a:fillRect/>
          </a:stretch>
        </p:blipFill>
        <p:spPr>
          <a:xfrm>
            <a:off x="704088" y="1444752"/>
            <a:ext cx="420624" cy="420624"/>
          </a:xfrm>
          <a:prstGeom prst="rect">
            <a:avLst/>
          </a:prstGeom>
        </p:spPr>
      </p:pic>
      <p:sp>
        <p:nvSpPr>
          <p:cNvPr id="5" name="TextBox 4"/>
          <p:cNvSpPr txBox="1"/>
          <p:nvPr/>
        </p:nvSpPr>
        <p:spPr>
          <a:xfrm>
            <a:off x="1252728" y="1481328"/>
            <a:ext cx="4526279"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Gemini CLI, July 2025 </a:t>
            </a:r>
            <a:r>
              <a:rPr sz="676" baseline="30000" b="0" i="1">
                <a:latin typeface="DejaVu Sans"/>
                <a:cs typeface="DejaVu Sans"/>
                <a:ea typeface="DejaVu Sans"/>
                <a:solidFill>
                  <a:srgbClr val="1C7293"/>
                </a:solidFill>
              </a:rPr>
              <a:t>[1]</a:t>
            </a:r>
          </a:p>
        </p:txBody>
      </p:sp>
      <p:pic>
        <p:nvPicPr>
          <p:cNvPr id="6" name="Picture 5" descr="gemini-logo.png"/>
          <p:cNvPicPr>
            <a:picLocks noChangeAspect="1"/>
          </p:cNvPicPr>
          <p:nvPr/>
        </p:nvPicPr>
        <p:blipFill>
          <a:blip r:embed="rId3"/>
          <a:stretch>
            <a:fillRect/>
          </a:stretch>
        </p:blipFill>
        <p:spPr>
          <a:xfrm>
            <a:off x="5925312" y="1426464"/>
            <a:ext cx="329184" cy="329184"/>
          </a:xfrm>
          <a:prstGeom prst="rect">
            <a:avLst/>
          </a:prstGeom>
        </p:spPr>
      </p:pic>
      <p:sp>
        <p:nvSpPr>
          <p:cNvPr id="7" name="TextBox 6"/>
          <p:cNvSpPr txBox="1"/>
          <p:nvPr/>
        </p:nvSpPr>
        <p:spPr>
          <a:xfrm>
            <a:off x="5669279" y="1773936"/>
            <a:ext cx="841248"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Google Gemini</a:t>
            </a:r>
          </a:p>
        </p:txBody>
      </p:sp>
      <p:sp>
        <p:nvSpPr>
          <p:cNvPr id="8" name="TextBox 7"/>
          <p:cNvSpPr txBox="1"/>
          <p:nvPr/>
        </p:nvSpPr>
        <p:spPr>
          <a:xfrm>
            <a:off x="722376" y="1883664"/>
            <a:ext cx="5550408" cy="274320"/>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AI Incident Database, Report 6120 / Incident 1178</a:t>
            </a:r>
          </a:p>
        </p:txBody>
      </p:sp>
      <p:sp>
        <p:nvSpPr>
          <p:cNvPr id="9" name="TextBox 8"/>
          <p:cNvSpPr txBox="1"/>
          <p:nvPr/>
        </p:nvSpPr>
        <p:spPr>
          <a:xfrm>
            <a:off x="722376" y="2231136"/>
            <a:ext cx="5550408"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user asked to move files into a new folder. The agent ran mkdir but never checked the result — it concluded the folder already existed, and the chain of move commands overwrote almost all the user's files into the one that was left.</a:t>
            </a:r>
          </a:p>
        </p:txBody>
      </p:sp>
      <p:sp>
        <p:nvSpPr>
          <p:cNvPr id="10" name="Rounded Rectangle 9"/>
          <p:cNvSpPr/>
          <p:nvPr/>
        </p:nvSpPr>
        <p:spPr>
          <a:xfrm>
            <a:off x="722376" y="3493008"/>
            <a:ext cx="5550408" cy="13716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584448"/>
            <a:ext cx="5166359" cy="1188720"/>
          </a:xfrm>
          <a:prstGeom prst="rect">
            <a:avLst/>
          </a:prstGeom>
          <a:noFill/>
        </p:spPr>
        <p:txBody>
          <a:bodyPr wrap="square" lIns="0" rIns="0" tIns="0" bIns="0" anchor="ctr">
            <a:spAutoFit/>
          </a:bodyPr>
          <a:lstStyle/>
          <a:p>
            <a:pPr algn="l">
              <a:lnSpc>
                <a:spcPct val="120000"/>
              </a:lnSpc>
            </a:pPr>
            <a:r>
              <a:rPr sz="1150" b="0" i="1">
                <a:solidFill>
                  <a:srgbClr val="21295C"/>
                </a:solidFill>
                <a:latin typeface="DejaVu Sans Mono"/>
              </a:rPr>
              <a:t>"I have completely and catastrophically failed you. My review of the commands confirms my gross incompetence."</a:t>
            </a:r>
          </a:p>
        </p:txBody>
      </p:sp>
      <p:sp>
        <p:nvSpPr>
          <p:cNvPr id="12" name="Rounded Rectangle 11"/>
          <p:cNvSpPr/>
          <p:nvPr/>
        </p:nvSpPr>
        <p:spPr>
          <a:xfrm>
            <a:off x="6675120" y="1316736"/>
            <a:ext cx="5029200" cy="1700784"/>
          </a:xfrm>
          <a:prstGeom prst="roundRect">
            <a:avLst>
              <a:gd name="adj" fmla="val 17921"/>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ircle-slash-mid.png"/>
          <p:cNvPicPr>
            <a:picLocks noChangeAspect="1"/>
          </p:cNvPicPr>
          <p:nvPr/>
        </p:nvPicPr>
        <p:blipFill>
          <a:blip r:embed="rId4"/>
          <a:stretch>
            <a:fillRect/>
          </a:stretch>
        </p:blipFill>
        <p:spPr>
          <a:xfrm>
            <a:off x="6876288" y="1463040"/>
            <a:ext cx="384048" cy="384048"/>
          </a:xfrm>
          <a:prstGeom prst="rect">
            <a:avLst/>
          </a:prstGeom>
        </p:spPr>
      </p:pic>
      <p:sp>
        <p:nvSpPr>
          <p:cNvPr id="14" name="TextBox 13"/>
          <p:cNvSpPr txBox="1"/>
          <p:nvPr/>
        </p:nvSpPr>
        <p:spPr>
          <a:xfrm>
            <a:off x="7388352" y="1481328"/>
            <a:ext cx="4114800" cy="310896"/>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A different failure mechanism</a:t>
            </a:r>
          </a:p>
        </p:txBody>
      </p:sp>
      <p:sp>
        <p:nvSpPr>
          <p:cNvPr id="15" name="TextBox 14"/>
          <p:cNvSpPr txBox="1"/>
          <p:nvPr/>
        </p:nvSpPr>
        <p:spPr>
          <a:xfrm>
            <a:off x="6894576" y="1865376"/>
            <a:ext cx="4590288" cy="107899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Not 'too many privileges' (as with Replit) — here one specific 'check' was skipped: the agent did not verify the intermediate result and built the next step on a false assumption.</a:t>
            </a:r>
          </a:p>
        </p:txBody>
      </p:sp>
      <p:sp>
        <p:nvSpPr>
          <p:cNvPr id="16" name="Rounded Rectangle 15"/>
          <p:cNvSpPr/>
          <p:nvPr/>
        </p:nvSpPr>
        <p:spPr>
          <a:xfrm>
            <a:off x="6675120" y="3200400"/>
            <a:ext cx="5029200"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auge-teal.png"/>
          <p:cNvPicPr>
            <a:picLocks noChangeAspect="1"/>
          </p:cNvPicPr>
          <p:nvPr/>
        </p:nvPicPr>
        <p:blipFill>
          <a:blip r:embed="rId5"/>
          <a:stretch>
            <a:fillRect/>
          </a:stretch>
        </p:blipFill>
        <p:spPr>
          <a:xfrm>
            <a:off x="6876288" y="3328416"/>
            <a:ext cx="384048" cy="384048"/>
          </a:xfrm>
          <a:prstGeom prst="rect">
            <a:avLst/>
          </a:prstGeom>
        </p:spPr>
      </p:pic>
      <p:sp>
        <p:nvSpPr>
          <p:cNvPr id="18" name="TextBox 17"/>
          <p:cNvSpPr txBox="1"/>
          <p:nvPr/>
        </p:nvSpPr>
        <p:spPr>
          <a:xfrm>
            <a:off x="7388352" y="3346704"/>
            <a:ext cx="4114800" cy="310896"/>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Scale (for contrast)</a:t>
            </a:r>
          </a:p>
        </p:txBody>
      </p:sp>
      <p:sp>
        <p:nvSpPr>
          <p:cNvPr id="19" name="TextBox 18"/>
          <p:cNvSpPr txBox="1"/>
          <p:nvPr/>
        </p:nvSpPr>
        <p:spPr>
          <a:xfrm>
            <a:off x="6894576" y="3749039"/>
            <a:ext cx="4590288" cy="402336"/>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~11%</a:t>
            </a:r>
          </a:p>
        </p:txBody>
      </p:sp>
      <p:sp>
        <p:nvSpPr>
          <p:cNvPr id="20" name="TextBox 19"/>
          <p:cNvSpPr txBox="1"/>
          <p:nvPr/>
        </p:nvSpPr>
        <p:spPr>
          <a:xfrm>
            <a:off x="6894576" y="4187952"/>
            <a:ext cx="4590288" cy="80467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of live backend updates at Uber (2026) are shipped by an agent with no human in the loop.</a:t>
            </a:r>
          </a:p>
        </p:txBody>
      </p:sp>
      <p:sp>
        <p:nvSpPr>
          <p:cNvPr id="21" name="Rounded Rectangle 2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Self-review is a mandatory step of explore→plan→code→commit: reread the diff and check the result before you commit.</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AI Incident Database — Report 6120 / Incident 1178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676656"/>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levels of agent context — each one is maintained differently</a:t>
            </a:r>
          </a:p>
        </p:txBody>
      </p:sp>
      <p:sp>
        <p:nvSpPr>
          <p:cNvPr id="3" name="TextBox 2"/>
          <p:cNvSpPr txBox="1"/>
          <p:nvPr/>
        </p:nvSpPr>
        <p:spPr>
          <a:xfrm>
            <a:off x="502920" y="1042415"/>
            <a:ext cx="1120140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The agent is stateless: between runs it remembers nothing — everything it must know about the project sits at one of these four levels.</a:t>
            </a:r>
          </a:p>
        </p:txBody>
      </p:sp>
      <p:sp>
        <p:nvSpPr>
          <p:cNvPr id="4" name="Rounded Rectangle 3"/>
          <p:cNvSpPr/>
          <p:nvPr/>
        </p:nvSpPr>
        <p:spPr>
          <a:xfrm>
            <a:off x="502920" y="1316736"/>
            <a:ext cx="7269480" cy="786384"/>
          </a:xfrm>
          <a:prstGeom prst="roundRect">
            <a:avLst>
              <a:gd name="adj" fmla="val 6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stack-mid.png"/>
          <p:cNvPicPr>
            <a:picLocks noChangeAspect="1"/>
          </p:cNvPicPr>
          <p:nvPr/>
        </p:nvPicPr>
        <p:blipFill>
          <a:blip r:embed="rId2"/>
          <a:stretch>
            <a:fillRect/>
          </a:stretch>
        </p:blipFill>
        <p:spPr>
          <a:xfrm>
            <a:off x="630936" y="1435607"/>
            <a:ext cx="310896" cy="310896"/>
          </a:xfrm>
          <a:prstGeom prst="rect">
            <a:avLst/>
          </a:prstGeom>
        </p:spPr>
      </p:pic>
      <p:sp>
        <p:nvSpPr>
          <p:cNvPr id="6" name="TextBox 5"/>
          <p:cNvSpPr txBox="1"/>
          <p:nvPr/>
        </p:nvSpPr>
        <p:spPr>
          <a:xfrm>
            <a:off x="1033272" y="1399032"/>
            <a:ext cx="1289304" cy="182880"/>
          </a:xfrm>
          <a:prstGeom prst="rect">
            <a:avLst/>
          </a:prstGeom>
          <a:noFill/>
        </p:spPr>
        <p:txBody>
          <a:bodyPr wrap="square" lIns="0" rIns="0" tIns="0" bIns="0" anchor="t">
            <a:spAutoFit/>
          </a:bodyPr>
          <a:lstStyle/>
          <a:p>
            <a:pPr algn="l">
              <a:lnSpc>
                <a:spcPct val="100000"/>
              </a:lnSpc>
            </a:pPr>
            <a:r>
              <a:rPr sz="800" b="1" i="0">
                <a:solidFill>
                  <a:srgbClr val="1C7293"/>
                </a:solidFill>
                <a:latin typeface="DejaVu Sans"/>
              </a:rPr>
              <a:t>LEVEL 1</a:t>
            </a:r>
          </a:p>
        </p:txBody>
      </p:sp>
      <p:sp>
        <p:nvSpPr>
          <p:cNvPr id="7" name="TextBox 6"/>
          <p:cNvSpPr txBox="1"/>
          <p:nvPr/>
        </p:nvSpPr>
        <p:spPr>
          <a:xfrm>
            <a:off x="1033272" y="1563624"/>
            <a:ext cx="1289304" cy="347472"/>
          </a:xfrm>
          <a:prstGeom prst="rect">
            <a:avLst/>
          </a:prstGeom>
          <a:noFill/>
        </p:spPr>
        <p:txBody>
          <a:bodyPr wrap="square" lIns="0" rIns="0" tIns="0" bIns="0" anchor="t">
            <a:spAutoFit/>
          </a:bodyPr>
          <a:lstStyle/>
          <a:p>
            <a:pPr algn="l">
              <a:lnSpc>
                <a:spcPct val="98000"/>
              </a:lnSpc>
            </a:pPr>
            <a:r>
              <a:rPr sz="1050" b="1" i="0">
                <a:solidFill>
                  <a:srgbClr val="065A82"/>
                </a:solidFill>
                <a:latin typeface="DejaVu Sans"/>
              </a:rPr>
              <a:t>Permanent</a:t>
            </a:r>
          </a:p>
          <a:p>
            <a:pPr algn="l">
              <a:lnSpc>
                <a:spcPct val="98000"/>
              </a:lnSpc>
            </a:pPr>
            <a:r>
              <a:rPr sz="1050" b="1" i="0">
                <a:solidFill>
                  <a:srgbClr val="065A82"/>
                </a:solidFill>
                <a:latin typeface="DejaVu Sans"/>
              </a:rPr>
              <a:t>instructions</a:t>
            </a:r>
          </a:p>
        </p:txBody>
      </p:sp>
      <p:sp>
        <p:nvSpPr>
          <p:cNvPr id="8" name="TextBox 7"/>
          <p:cNvSpPr txBox="1"/>
          <p:nvPr/>
        </p:nvSpPr>
        <p:spPr>
          <a:xfrm>
            <a:off x="630936" y="1883664"/>
            <a:ext cx="1691640" cy="164592"/>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human · lives with the repo</a:t>
            </a:r>
          </a:p>
        </p:txBody>
      </p:sp>
      <p:sp>
        <p:nvSpPr>
          <p:cNvPr id="9" name="TextBox 8"/>
          <p:cNvSpPr txBox="1"/>
          <p:nvPr/>
        </p:nvSpPr>
        <p:spPr>
          <a:xfrm>
            <a:off x="2423160" y="1399032"/>
            <a:ext cx="274320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static file at the repository root: the agent rereads it every session — precisely because it has no memory between runs.</a:t>
            </a:r>
          </a:p>
        </p:txBody>
      </p:sp>
      <p:sp>
        <p:nvSpPr>
          <p:cNvPr id="10" name="TextBox 9"/>
          <p:cNvSpPr txBox="1"/>
          <p:nvPr/>
        </p:nvSpPr>
        <p:spPr>
          <a:xfrm>
            <a:off x="5266944" y="1399032"/>
            <a:ext cx="2377440" cy="640080"/>
          </a:xfrm>
          <a:prstGeom prst="rect">
            <a:avLst/>
          </a:prstGeom>
          <a:noFill/>
        </p:spPr>
        <p:txBody>
          <a:bodyPr wrap="square" lIns="0" rIns="0" tIns="0" bIns="0" anchor="t">
            <a:spAutoFit/>
          </a:bodyPr>
          <a:lstStyle/>
          <a:p>
            <a:pPr algn="l">
              <a:lnSpc>
                <a:spcPct val="115000"/>
              </a:lnSpc>
            </a:pPr>
            <a:r>
              <a:rPr sz="950" b="1" i="0">
                <a:solidFill>
                  <a:srgbClr val="065A82"/>
                </a:solidFill>
                <a:latin typeface="DejaVu Sans"/>
              </a:rPr>
              <a:t>AGENTS.md</a:t>
            </a:r>
            <a:r>
              <a:rPr sz="950" b="0" i="0">
                <a:solidFill>
                  <a:srgbClr val="21295C"/>
                </a:solidFill>
                <a:latin typeface="DejaVu Sans"/>
              </a:rPr>
              <a:t> (the analog is CLAUDE.md): “Tests: pnpm test” — verbatim build and test commands, code style, guardrails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a:t>
            </a:r>
          </a:p>
        </p:txBody>
      </p:sp>
      <p:sp>
        <p:nvSpPr>
          <p:cNvPr id="11" name="Rounded Rectangle 10"/>
          <p:cNvSpPr/>
          <p:nvPr/>
        </p:nvSpPr>
        <p:spPr>
          <a:xfrm>
            <a:off x="502920" y="2157984"/>
            <a:ext cx="7269480" cy="786384"/>
          </a:xfrm>
          <a:prstGeom prst="roundRect">
            <a:avLst>
              <a:gd name="adj" fmla="val 6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n-search-teal.png"/>
          <p:cNvPicPr>
            <a:picLocks noChangeAspect="1"/>
          </p:cNvPicPr>
          <p:nvPr/>
        </p:nvPicPr>
        <p:blipFill>
          <a:blip r:embed="rId3"/>
          <a:stretch>
            <a:fillRect/>
          </a:stretch>
        </p:blipFill>
        <p:spPr>
          <a:xfrm>
            <a:off x="630936" y="2276856"/>
            <a:ext cx="310896" cy="310896"/>
          </a:xfrm>
          <a:prstGeom prst="rect">
            <a:avLst/>
          </a:prstGeom>
        </p:spPr>
      </p:pic>
      <p:sp>
        <p:nvSpPr>
          <p:cNvPr id="13" name="TextBox 12"/>
          <p:cNvSpPr txBox="1"/>
          <p:nvPr/>
        </p:nvSpPr>
        <p:spPr>
          <a:xfrm>
            <a:off x="1033272" y="2240279"/>
            <a:ext cx="1289304" cy="182880"/>
          </a:xfrm>
          <a:prstGeom prst="rect">
            <a:avLst/>
          </a:prstGeom>
          <a:noFill/>
        </p:spPr>
        <p:txBody>
          <a:bodyPr wrap="square" lIns="0" rIns="0" tIns="0" bIns="0" anchor="t">
            <a:spAutoFit/>
          </a:bodyPr>
          <a:lstStyle/>
          <a:p>
            <a:pPr algn="l">
              <a:lnSpc>
                <a:spcPct val="100000"/>
              </a:lnSpc>
            </a:pPr>
            <a:r>
              <a:rPr sz="800" b="1" i="0">
                <a:solidFill>
                  <a:srgbClr val="1C7293"/>
                </a:solidFill>
                <a:latin typeface="DejaVu Sans"/>
              </a:rPr>
              <a:t>LEVEL 2</a:t>
            </a:r>
          </a:p>
        </p:txBody>
      </p:sp>
      <p:sp>
        <p:nvSpPr>
          <p:cNvPr id="14" name="TextBox 13"/>
          <p:cNvSpPr txBox="1"/>
          <p:nvPr/>
        </p:nvSpPr>
        <p:spPr>
          <a:xfrm>
            <a:off x="1033272" y="2404872"/>
            <a:ext cx="1289304" cy="347472"/>
          </a:xfrm>
          <a:prstGeom prst="rect">
            <a:avLst/>
          </a:prstGeom>
          <a:noFill/>
        </p:spPr>
        <p:txBody>
          <a:bodyPr wrap="square" lIns="0" rIns="0" tIns="0" bIns="0" anchor="t">
            <a:spAutoFit/>
          </a:bodyPr>
          <a:lstStyle/>
          <a:p>
            <a:pPr algn="l">
              <a:lnSpc>
                <a:spcPct val="98000"/>
              </a:lnSpc>
            </a:pPr>
            <a:r>
              <a:rPr sz="1050" b="1" i="0">
                <a:solidFill>
                  <a:srgbClr val="028090"/>
                </a:solidFill>
                <a:latin typeface="DejaVu Sans"/>
              </a:rPr>
              <a:t>Context of</a:t>
            </a:r>
          </a:p>
          <a:p>
            <a:pPr algn="l">
              <a:lnSpc>
                <a:spcPct val="98000"/>
              </a:lnSpc>
            </a:pPr>
            <a:r>
              <a:rPr sz="1050" b="1" i="0">
                <a:solidFill>
                  <a:srgbClr val="028090"/>
                </a:solidFill>
                <a:latin typeface="DejaVu Sans"/>
              </a:rPr>
              <a:t>one session</a:t>
            </a:r>
          </a:p>
        </p:txBody>
      </p:sp>
      <p:sp>
        <p:nvSpPr>
          <p:cNvPr id="15" name="TextBox 14"/>
          <p:cNvSpPr txBox="1"/>
          <p:nvPr/>
        </p:nvSpPr>
        <p:spPr>
          <a:xfrm>
            <a:off x="630936" y="2724912"/>
            <a:ext cx="1691640" cy="164592"/>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human+agent · one session</a:t>
            </a:r>
          </a:p>
        </p:txBody>
      </p:sp>
      <p:sp>
        <p:nvSpPr>
          <p:cNvPr id="16" name="TextBox 15"/>
          <p:cNvSpPr txBox="1"/>
          <p:nvPr/>
        </p:nvSpPr>
        <p:spPr>
          <a:xfrm>
            <a:off x="2423160" y="2240279"/>
            <a:ext cx="274320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window of the current dialogue. Three curation primitives: JIT retrieval, compaction, notes. More context ≠ better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a:t>
            </a:r>
          </a:p>
        </p:txBody>
      </p:sp>
      <p:sp>
        <p:nvSpPr>
          <p:cNvPr id="17" name="TextBox 16"/>
          <p:cNvSpPr txBox="1"/>
          <p:nvPr/>
        </p:nvSpPr>
        <p:spPr>
          <a:xfrm>
            <a:off x="5266944" y="2240279"/>
            <a:ext cx="2377440" cy="640080"/>
          </a:xfrm>
          <a:prstGeom prst="rect">
            <a:avLst/>
          </a:prstGeom>
          <a:noFill/>
        </p:spPr>
        <p:txBody>
          <a:bodyPr wrap="square" lIns="0" rIns="0" tIns="0" bIns="0" anchor="t">
            <a:spAutoFit/>
          </a:bodyPr>
          <a:lstStyle/>
          <a:p>
            <a:pPr algn="l">
              <a:lnSpc>
                <a:spcPct val="115000"/>
              </a:lnSpc>
            </a:pPr>
            <a:r>
              <a:rPr sz="950" b="1" i="0">
                <a:solidFill>
                  <a:srgbClr val="028090"/>
                </a:solidFill>
                <a:latin typeface="DejaVu Sans"/>
              </a:rPr>
              <a:t>JIT retrieval</a:t>
            </a:r>
            <a:r>
              <a:rPr sz="950" b="0" i="0">
                <a:solidFill>
                  <a:srgbClr val="21295C"/>
                </a:solidFill>
                <a:latin typeface="DejaVu Sans"/>
              </a:rPr>
              <a:t> — the agent opens the file it needs at the moment the task calls for it, instead of loading the whole repository up front.</a:t>
            </a:r>
          </a:p>
        </p:txBody>
      </p:sp>
      <p:sp>
        <p:nvSpPr>
          <p:cNvPr id="18" name="Rounded Rectangle 17"/>
          <p:cNvSpPr/>
          <p:nvPr/>
        </p:nvSpPr>
        <p:spPr>
          <a:xfrm>
            <a:off x="502920" y="2999232"/>
            <a:ext cx="7269480" cy="786384"/>
          </a:xfrm>
          <a:prstGeom prst="roundRect">
            <a:avLst>
              <a:gd name="adj" fmla="val 6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lipboard-list-mid.png"/>
          <p:cNvPicPr>
            <a:picLocks noChangeAspect="1"/>
          </p:cNvPicPr>
          <p:nvPr/>
        </p:nvPicPr>
        <p:blipFill>
          <a:blip r:embed="rId4"/>
          <a:stretch>
            <a:fillRect/>
          </a:stretch>
        </p:blipFill>
        <p:spPr>
          <a:xfrm>
            <a:off x="630936" y="3118103"/>
            <a:ext cx="310896" cy="310896"/>
          </a:xfrm>
          <a:prstGeom prst="rect">
            <a:avLst/>
          </a:prstGeom>
        </p:spPr>
      </p:pic>
      <p:sp>
        <p:nvSpPr>
          <p:cNvPr id="20" name="TextBox 19"/>
          <p:cNvSpPr txBox="1"/>
          <p:nvPr/>
        </p:nvSpPr>
        <p:spPr>
          <a:xfrm>
            <a:off x="1033272" y="3081527"/>
            <a:ext cx="1289304" cy="182880"/>
          </a:xfrm>
          <a:prstGeom prst="rect">
            <a:avLst/>
          </a:prstGeom>
          <a:noFill/>
        </p:spPr>
        <p:txBody>
          <a:bodyPr wrap="square" lIns="0" rIns="0" tIns="0" bIns="0" anchor="t">
            <a:spAutoFit/>
          </a:bodyPr>
          <a:lstStyle/>
          <a:p>
            <a:pPr algn="l">
              <a:lnSpc>
                <a:spcPct val="100000"/>
              </a:lnSpc>
            </a:pPr>
            <a:r>
              <a:rPr sz="800" b="1" i="0">
                <a:solidFill>
                  <a:srgbClr val="1C7293"/>
                </a:solidFill>
                <a:latin typeface="DejaVu Sans"/>
              </a:rPr>
              <a:t>LEVEL 3</a:t>
            </a:r>
          </a:p>
        </p:txBody>
      </p:sp>
      <p:sp>
        <p:nvSpPr>
          <p:cNvPr id="21" name="TextBox 20"/>
          <p:cNvSpPr txBox="1"/>
          <p:nvPr/>
        </p:nvSpPr>
        <p:spPr>
          <a:xfrm>
            <a:off x="1033272" y="3246120"/>
            <a:ext cx="1289304" cy="347472"/>
          </a:xfrm>
          <a:prstGeom prst="rect">
            <a:avLst/>
          </a:prstGeom>
          <a:noFill/>
        </p:spPr>
        <p:txBody>
          <a:bodyPr wrap="square" lIns="0" rIns="0" tIns="0" bIns="0" anchor="t">
            <a:spAutoFit/>
          </a:bodyPr>
          <a:lstStyle/>
          <a:p>
            <a:pPr algn="l">
              <a:lnSpc>
                <a:spcPct val="98000"/>
              </a:lnSpc>
            </a:pPr>
            <a:r>
              <a:rPr sz="1050" b="1" i="0">
                <a:solidFill>
                  <a:srgbClr val="065A82"/>
                </a:solidFill>
                <a:latin typeface="DejaVu Sans"/>
              </a:rPr>
              <a:t>Operational</a:t>
            </a:r>
          </a:p>
          <a:p>
            <a:pPr algn="l">
              <a:lnSpc>
                <a:spcPct val="98000"/>
              </a:lnSpc>
            </a:pPr>
            <a:r>
              <a:rPr sz="1050" b="1" i="0">
                <a:solidFill>
                  <a:srgbClr val="065A82"/>
                </a:solidFill>
                <a:latin typeface="DejaVu Sans"/>
              </a:rPr>
              <a:t>task history</a:t>
            </a:r>
          </a:p>
        </p:txBody>
      </p:sp>
      <p:sp>
        <p:nvSpPr>
          <p:cNvPr id="22" name="TextBox 21"/>
          <p:cNvSpPr txBox="1"/>
          <p:nvPr/>
        </p:nvSpPr>
        <p:spPr>
          <a:xfrm>
            <a:off x="630936" y="3566160"/>
            <a:ext cx="1691640" cy="164592"/>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people · between tasks</a:t>
            </a:r>
          </a:p>
        </p:txBody>
      </p:sp>
      <p:sp>
        <p:nvSpPr>
          <p:cNvPr id="23" name="TextBox 22"/>
          <p:cNvSpPr txBox="1"/>
          <p:nvPr/>
        </p:nvSpPr>
        <p:spPr>
          <a:xfrm>
            <a:off x="2423160" y="3081527"/>
            <a:ext cx="274320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Past incidents and “how we fixed it” notes — as retrievable documents, so the agent does not reinvent them. No mature standard exists.</a:t>
            </a:r>
          </a:p>
        </p:txBody>
      </p:sp>
      <p:sp>
        <p:nvSpPr>
          <p:cNvPr id="24" name="TextBox 23"/>
          <p:cNvSpPr txBox="1"/>
          <p:nvPr/>
        </p:nvSpPr>
        <p:spPr>
          <a:xfrm>
            <a:off x="5266944" y="3081527"/>
            <a:ext cx="2377440" cy="640080"/>
          </a:xfrm>
          <a:prstGeom prst="rect">
            <a:avLst/>
          </a:prstGeom>
          <a:noFill/>
        </p:spPr>
        <p:txBody>
          <a:bodyPr wrap="square" lIns="0" rIns="0" tIns="0" bIns="0" anchor="t">
            <a:spAutoFit/>
          </a:bodyPr>
          <a:lstStyle/>
          <a:p>
            <a:pPr algn="l">
              <a:lnSpc>
                <a:spcPct val="115000"/>
              </a:lnSpc>
            </a:pPr>
            <a:r>
              <a:rPr sz="950" b="1" i="0">
                <a:solidFill>
                  <a:srgbClr val="065A82"/>
                </a:solidFill>
                <a:latin typeface="DejaVu Sans"/>
              </a:rPr>
              <a:t>An incident record</a:t>
            </a:r>
            <a:r>
              <a:rPr sz="950" b="0" i="0">
                <a:solidFill>
                  <a:srgbClr val="21295C"/>
                </a:solidFill>
                <a:latin typeface="DejaVu Sans"/>
              </a:rPr>
              <a:t> with a date and a status: “current” / “obsolete, see commit X” — otherwise the archive ages unnoticed.</a:t>
            </a:r>
          </a:p>
        </p:txBody>
      </p:sp>
      <p:sp>
        <p:nvSpPr>
          <p:cNvPr id="25" name="Rounded Rectangle 24"/>
          <p:cNvSpPr/>
          <p:nvPr/>
        </p:nvSpPr>
        <p:spPr>
          <a:xfrm>
            <a:off x="502920" y="3840479"/>
            <a:ext cx="7269480" cy="786384"/>
          </a:xfrm>
          <a:prstGeom prst="roundRect">
            <a:avLst>
              <a:gd name="adj" fmla="val 6000"/>
            </a:avLst>
          </a:prstGeom>
          <a:solidFill>
            <a:srgbClr val="FFFFFF"/>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base-teal.png"/>
          <p:cNvPicPr>
            <a:picLocks noChangeAspect="1"/>
          </p:cNvPicPr>
          <p:nvPr/>
        </p:nvPicPr>
        <p:blipFill>
          <a:blip r:embed="rId5"/>
          <a:stretch>
            <a:fillRect/>
          </a:stretch>
        </p:blipFill>
        <p:spPr>
          <a:xfrm>
            <a:off x="630936" y="3959351"/>
            <a:ext cx="310896" cy="310896"/>
          </a:xfrm>
          <a:prstGeom prst="rect">
            <a:avLst/>
          </a:prstGeom>
        </p:spPr>
      </p:pic>
      <p:sp>
        <p:nvSpPr>
          <p:cNvPr id="27" name="TextBox 26"/>
          <p:cNvSpPr txBox="1"/>
          <p:nvPr/>
        </p:nvSpPr>
        <p:spPr>
          <a:xfrm>
            <a:off x="1033272" y="3922775"/>
            <a:ext cx="1289304" cy="182880"/>
          </a:xfrm>
          <a:prstGeom prst="rect">
            <a:avLst/>
          </a:prstGeom>
          <a:noFill/>
        </p:spPr>
        <p:txBody>
          <a:bodyPr wrap="square" lIns="0" rIns="0" tIns="0" bIns="0" anchor="t">
            <a:spAutoFit/>
          </a:bodyPr>
          <a:lstStyle/>
          <a:p>
            <a:pPr algn="l">
              <a:lnSpc>
                <a:spcPct val="100000"/>
              </a:lnSpc>
            </a:pPr>
            <a:r>
              <a:rPr sz="800" b="1" i="0">
                <a:solidFill>
                  <a:srgbClr val="1C7293"/>
                </a:solidFill>
                <a:latin typeface="DejaVu Sans"/>
              </a:rPr>
              <a:t>LEVEL 4</a:t>
            </a:r>
          </a:p>
        </p:txBody>
      </p:sp>
      <p:sp>
        <p:nvSpPr>
          <p:cNvPr id="28" name="TextBox 27"/>
          <p:cNvSpPr txBox="1"/>
          <p:nvPr/>
        </p:nvSpPr>
        <p:spPr>
          <a:xfrm>
            <a:off x="1033272" y="4087367"/>
            <a:ext cx="1289304" cy="347472"/>
          </a:xfrm>
          <a:prstGeom prst="rect">
            <a:avLst/>
          </a:prstGeom>
          <a:noFill/>
        </p:spPr>
        <p:txBody>
          <a:bodyPr wrap="square" lIns="0" rIns="0" tIns="0" bIns="0" anchor="t">
            <a:spAutoFit/>
          </a:bodyPr>
          <a:lstStyle/>
          <a:p>
            <a:pPr algn="l">
              <a:lnSpc>
                <a:spcPct val="98000"/>
              </a:lnSpc>
            </a:pPr>
            <a:r>
              <a:rPr sz="1050" b="1" i="0">
                <a:solidFill>
                  <a:srgbClr val="028090"/>
                </a:solidFill>
                <a:latin typeface="DejaVu Sans"/>
              </a:rPr>
              <a:t>Memory</a:t>
            </a:r>
          </a:p>
          <a:p>
            <a:pPr algn="l">
              <a:lnSpc>
                <a:spcPct val="98000"/>
              </a:lnSpc>
            </a:pPr>
            <a:r>
              <a:rPr sz="1050" b="1" i="0">
                <a:solidFill>
                  <a:srgbClr val="028090"/>
                </a:solidFill>
                <a:latin typeface="DejaVu Sans"/>
              </a:rPr>
              <a:t>(slot 1)</a:t>
            </a:r>
          </a:p>
        </p:txBody>
      </p:sp>
      <p:sp>
        <p:nvSpPr>
          <p:cNvPr id="29" name="TextBox 28"/>
          <p:cNvSpPr txBox="1"/>
          <p:nvPr/>
        </p:nvSpPr>
        <p:spPr>
          <a:xfrm>
            <a:off x="630936" y="4407407"/>
            <a:ext cx="1691640" cy="164592"/>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system · a human checks it</a:t>
            </a:r>
          </a:p>
        </p:txBody>
      </p:sp>
      <p:sp>
        <p:nvSpPr>
          <p:cNvPr id="30" name="TextBox 29"/>
          <p:cNvSpPr txBox="1"/>
          <p:nvPr/>
        </p:nvSpPr>
        <p:spPr>
          <a:xfrm>
            <a:off x="2423160" y="3922775"/>
            <a:ext cx="274320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separate system: it decides for itself what to retain across sessions. You do not edit it line by line — you organize and audit it.</a:t>
            </a:r>
          </a:p>
        </p:txBody>
      </p:sp>
      <p:sp>
        <p:nvSpPr>
          <p:cNvPr id="31" name="TextBox 30"/>
          <p:cNvSpPr txBox="1"/>
          <p:nvPr/>
        </p:nvSpPr>
        <p:spPr>
          <a:xfrm>
            <a:off x="5266944" y="3922775"/>
            <a:ext cx="2377440" cy="640080"/>
          </a:xfrm>
          <a:prstGeom prst="rect">
            <a:avLst/>
          </a:prstGeom>
          <a:noFill/>
        </p:spPr>
        <p:txBody>
          <a:bodyPr wrap="square" lIns="0" rIns="0" tIns="0" bIns="0" anchor="t">
            <a:spAutoFit/>
          </a:bodyPr>
          <a:lstStyle/>
          <a:p>
            <a:pPr algn="l">
              <a:lnSpc>
                <a:spcPct val="115000"/>
              </a:lnSpc>
            </a:pPr>
            <a:r>
              <a:rPr sz="950" b="1" i="0">
                <a:solidFill>
                  <a:srgbClr val="028090"/>
                </a:solidFill>
                <a:latin typeface="DejaVu Sans"/>
              </a:rPr>
              <a:t>Mem0 · Cognee · Graphiti · Letta</a:t>
            </a:r>
            <a:r>
              <a:rPr sz="950" b="0" i="0">
                <a:solidFill>
                  <a:srgbClr val="21295C"/>
                </a:solidFill>
                <a:latin typeface="DejaVu Sans"/>
              </a:rPr>
              <a:t> — you tune the selection rules, you do not edit the contents.</a:t>
            </a:r>
          </a:p>
        </p:txBody>
      </p:sp>
      <p:sp>
        <p:nvSpPr>
          <p:cNvPr id="32" name="Rounded Rectangle 31"/>
          <p:cNvSpPr/>
          <p:nvPr/>
        </p:nvSpPr>
        <p:spPr>
          <a:xfrm>
            <a:off x="502920" y="4718303"/>
            <a:ext cx="7269480" cy="512064"/>
          </a:xfrm>
          <a:prstGeom prst="roundRect">
            <a:avLst>
              <a:gd name="adj" fmla="val 8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764023"/>
            <a:ext cx="6903720" cy="438912"/>
          </a:xfrm>
          <a:prstGeom prst="rect">
            <a:avLst/>
          </a:prstGeom>
          <a:noFill/>
        </p:spPr>
        <p:txBody>
          <a:bodyPr wrap="square" lIns="0" rIns="0" tIns="0" bIns="0" anchor="t">
            <a:spAutoFit/>
          </a:bodyPr>
          <a:lstStyle/>
          <a:p>
            <a:pPr algn="l">
              <a:lnSpc>
                <a:spcPct val="110000"/>
              </a:lnSpc>
            </a:pPr>
            <a:r>
              <a:rPr sz="900" b="0" i="0">
                <a:solidFill>
                  <a:srgbClr val="21295C"/>
                </a:solidFill>
                <a:latin typeface="DejaVu Sans"/>
              </a:rPr>
              <a:t>Why level 2 is curated rather than accumulated: retrieval accuracy drops non-linearly as the input grows — degradation starts BEFORE the window overflows (Chroma, 18 models) </a:t>
            </a:r>
            <a:r>
              <a:rPr sz="468" baseline="30000" b="0" i="1">
                <a:latin typeface="DejaVu Sans"/>
                <a:cs typeface="DejaVu Sans"/>
                <a:ea typeface="DejaVu Sans"/>
                <a:solidFill>
                  <a:srgbClr val="1C7293"/>
                </a:solidFill>
              </a:rPr>
              <a:t>[2]</a:t>
            </a:r>
            <a:r>
              <a:rPr sz="900" b="0" i="0">
                <a:latin typeface="DejaVu Sans"/>
                <a:cs typeface="DejaVu Sans"/>
                <a:ea typeface="DejaVu Sans"/>
                <a:solidFill>
                  <a:srgbClr val="21295C"/>
                </a:solidFill>
              </a:rPr>
              <a:t>. Demo: ~172k tokens vs ~334k without curation — a direction, not a measured multiplier.</a:t>
            </a:r>
          </a:p>
        </p:txBody>
      </p:sp>
      <p:sp>
        <p:nvSpPr>
          <p:cNvPr id="34" name="Rounded Rectangle 33"/>
          <p:cNvSpPr/>
          <p:nvPr/>
        </p:nvSpPr>
        <p:spPr>
          <a:xfrm>
            <a:off x="7909560" y="1316736"/>
            <a:ext cx="3840480" cy="3913631"/>
          </a:xfrm>
          <a:prstGeom prst="roundRect">
            <a:avLst>
              <a:gd name="adj" fmla="val 793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ist-checks-mid.png"/>
          <p:cNvPicPr>
            <a:picLocks noChangeAspect="1"/>
          </p:cNvPicPr>
          <p:nvPr/>
        </p:nvPicPr>
        <p:blipFill>
          <a:blip r:embed="rId6"/>
          <a:stretch>
            <a:fillRect/>
          </a:stretch>
        </p:blipFill>
        <p:spPr>
          <a:xfrm>
            <a:off x="8092440" y="1463039"/>
            <a:ext cx="347472" cy="347472"/>
          </a:xfrm>
          <a:prstGeom prst="rect">
            <a:avLst/>
          </a:prstGeom>
        </p:spPr>
      </p:pic>
      <p:sp>
        <p:nvSpPr>
          <p:cNvPr id="36" name="TextBox 35"/>
          <p:cNvSpPr txBox="1"/>
          <p:nvPr/>
        </p:nvSpPr>
        <p:spPr>
          <a:xfrm>
            <a:off x="8531352" y="1481328"/>
            <a:ext cx="3054096"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What goes where in the repository</a:t>
            </a:r>
          </a:p>
        </p:txBody>
      </p:sp>
      <p:sp>
        <p:nvSpPr>
          <p:cNvPr id="37" name="TextBox 36"/>
          <p:cNvSpPr txBox="1"/>
          <p:nvPr/>
        </p:nvSpPr>
        <p:spPr>
          <a:xfrm>
            <a:off x="8129016" y="1920240"/>
            <a:ext cx="3401568" cy="475488"/>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README — </a:t>
            </a:r>
            <a:r>
              <a:rPr sz="1000" b="0" i="0">
                <a:solidFill>
                  <a:srgbClr val="5B6678"/>
                </a:solidFill>
                <a:latin typeface="DejaVu Sans"/>
              </a:rPr>
              <a:t>why the project exists and where to start — for a person opening it for the first time.</a:t>
            </a:r>
          </a:p>
        </p:txBody>
      </p:sp>
      <p:sp>
        <p:nvSpPr>
          <p:cNvPr id="38" name="TextBox 37"/>
          <p:cNvSpPr txBox="1"/>
          <p:nvPr/>
        </p:nvSpPr>
        <p:spPr>
          <a:xfrm>
            <a:off x="8129016" y="2418588"/>
            <a:ext cx="3401568" cy="475488"/>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AGENTS.md — </a:t>
            </a:r>
            <a:r>
              <a:rPr sz="1000" b="0" i="0">
                <a:solidFill>
                  <a:srgbClr val="5B6678"/>
                </a:solidFill>
                <a:latin typeface="DejaVu Sans"/>
              </a:rPr>
              <a:t>commands and constraints the agent executes literally, with no paraphrasing.</a:t>
            </a:r>
          </a:p>
        </p:txBody>
      </p:sp>
      <p:sp>
        <p:nvSpPr>
          <p:cNvPr id="39" name="TextBox 38"/>
          <p:cNvSpPr txBox="1"/>
          <p:nvPr/>
        </p:nvSpPr>
        <p:spPr>
          <a:xfrm>
            <a:off x="8129016" y="2916936"/>
            <a:ext cx="3401568" cy="475488"/>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ADR — </a:t>
            </a:r>
            <a:r>
              <a:rPr sz="1000" b="0" i="0">
                <a:solidFill>
                  <a:srgbClr val="5B6678"/>
                </a:solidFill>
                <a:latin typeface="DejaVu Sans"/>
              </a:rPr>
              <a:t>why a decision was taken and what was rejected — what the code does not say.</a:t>
            </a:r>
          </a:p>
        </p:txBody>
      </p:sp>
      <p:sp>
        <p:nvSpPr>
          <p:cNvPr id="40" name="TextBox 39"/>
          <p:cNvSpPr txBox="1"/>
          <p:nvPr/>
        </p:nvSpPr>
        <p:spPr>
          <a:xfrm>
            <a:off x="8129016" y="3415284"/>
            <a:ext cx="3401568" cy="475488"/>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Code comment — </a:t>
            </a:r>
            <a:r>
              <a:rPr sz="1000" b="0" i="0">
                <a:solidFill>
                  <a:srgbClr val="5B6678"/>
                </a:solidFill>
                <a:latin typeface="DejaVu Sans"/>
              </a:rPr>
              <a:t>why this particular piece is non-obvious; ships in the same change.</a:t>
            </a:r>
          </a:p>
        </p:txBody>
      </p:sp>
      <p:sp>
        <p:nvSpPr>
          <p:cNvPr id="41" name="TextBox 40"/>
          <p:cNvSpPr txBox="1"/>
          <p:nvPr/>
        </p:nvSpPr>
        <p:spPr>
          <a:xfrm>
            <a:off x="8129016" y="3913632"/>
            <a:ext cx="3401568" cy="475488"/>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Incident record — </a:t>
            </a:r>
            <a:r>
              <a:rPr sz="1000" b="0" i="0">
                <a:solidFill>
                  <a:srgbClr val="5B6678"/>
                </a:solidFill>
                <a:latin typeface="DejaVu Sans"/>
              </a:rPr>
              <a:t>how it was fixed last time — with a date and a freshness marker.</a:t>
            </a:r>
          </a:p>
        </p:txBody>
      </p:sp>
      <p:sp>
        <p:nvSpPr>
          <p:cNvPr id="42" name="Rounded Rectangle 41"/>
          <p:cNvSpPr/>
          <p:nvPr/>
        </p:nvSpPr>
        <p:spPr>
          <a:xfrm>
            <a:off x="8092440" y="4448556"/>
            <a:ext cx="3474720" cy="713232"/>
          </a:xfrm>
          <a:prstGeom prst="roundRect">
            <a:avLst>
              <a:gd name="adj" fmla="val 8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0456" y="4512564"/>
            <a:ext cx="3218688" cy="585216"/>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Rule: put it where the artifact gets reread together with the code. Whatever must not be lost silently goes to level 1.</a:t>
            </a:r>
          </a:p>
        </p:txBody>
      </p:sp>
      <p:sp>
        <p:nvSpPr>
          <p:cNvPr id="44" name="Rounded Rectangle 4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Context lives in the repository, not in the prompt — but each level is maintained differently: instructions are written, sessions are curated, history is dated, memory is configured and audited.</a:t>
            </a:r>
          </a:p>
        </p:txBody>
      </p:sp>
      <p:pic>
        <p:nvPicPr>
          <p:cNvPr id="46" name="Picture 45" descr="band-monkey-puppet.png"/>
          <p:cNvPicPr>
            <a:picLocks noChangeAspect="1"/>
          </p:cNvPicPr>
          <p:nvPr/>
        </p:nvPicPr>
        <p:blipFill>
          <a:blip r:embed="rId7"/>
          <a:stretch>
            <a:fillRect/>
          </a:stretch>
        </p:blipFill>
        <p:spPr>
          <a:xfrm>
            <a:off x="8798052" y="5852160"/>
            <a:ext cx="2904744" cy="585216"/>
          </a:xfrm>
          <a:prstGeom prst="rect">
            <a:avLst/>
          </a:prstGeom>
        </p:spPr>
      </p:pic>
      <p:sp>
        <p:nvSpPr>
          <p:cNvPr id="47" name="TextBox 4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8"/>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9"/>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10"/>
              </a:rPr>
              <a:t>Anthropic — context engineering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676656"/>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Every level has its own limit — the risk changes, it does not disappear</a:t>
            </a:r>
          </a:p>
        </p:txBody>
      </p:sp>
      <p:sp>
        <p:nvSpPr>
          <p:cNvPr id="3" name="Rounded Rectangle 2"/>
          <p:cNvSpPr/>
          <p:nvPr/>
        </p:nvSpPr>
        <p:spPr>
          <a:xfrm>
            <a:off x="502920" y="1298448"/>
            <a:ext cx="2697480" cy="3054096"/>
          </a:xfrm>
          <a:prstGeom prst="roundRect">
            <a:avLst>
              <a:gd name="adj" fmla="val 1129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mid.png"/>
          <p:cNvPicPr>
            <a:picLocks noChangeAspect="1"/>
          </p:cNvPicPr>
          <p:nvPr/>
        </p:nvPicPr>
        <p:blipFill>
          <a:blip r:embed="rId2"/>
          <a:stretch>
            <a:fillRect/>
          </a:stretch>
        </p:blipFill>
        <p:spPr>
          <a:xfrm>
            <a:off x="704088" y="1463039"/>
            <a:ext cx="402336" cy="402336"/>
          </a:xfrm>
          <a:prstGeom prst="rect">
            <a:avLst/>
          </a:prstGeom>
        </p:spPr>
      </p:pic>
      <p:sp>
        <p:nvSpPr>
          <p:cNvPr id="5" name="TextBox 4"/>
          <p:cNvSpPr txBox="1"/>
          <p:nvPr/>
        </p:nvSpPr>
        <p:spPr>
          <a:xfrm>
            <a:off x="704088" y="1956815"/>
            <a:ext cx="2295144" cy="182880"/>
          </a:xfrm>
          <a:prstGeom prst="rect">
            <a:avLst/>
          </a:prstGeom>
          <a:noFill/>
        </p:spPr>
        <p:txBody>
          <a:bodyPr wrap="square" lIns="0" rIns="0" tIns="0" bIns="0" anchor="t">
            <a:spAutoFit/>
          </a:bodyPr>
          <a:lstStyle/>
          <a:p>
            <a:pPr algn="l">
              <a:lnSpc>
                <a:spcPct val="100000"/>
              </a:lnSpc>
            </a:pPr>
            <a:r>
              <a:rPr sz="850" b="1" i="0">
                <a:solidFill>
                  <a:srgbClr val="1C7293"/>
                </a:solidFill>
                <a:latin typeface="DejaVu Sans"/>
              </a:rPr>
              <a:t>LEVEL 1 · INSTRUCTIONS</a:t>
            </a:r>
          </a:p>
        </p:txBody>
      </p:sp>
      <p:sp>
        <p:nvSpPr>
          <p:cNvPr id="6" name="TextBox 5"/>
          <p:cNvSpPr txBox="1"/>
          <p:nvPr/>
        </p:nvSpPr>
        <p:spPr>
          <a:xfrm>
            <a:off x="704088" y="2157984"/>
            <a:ext cx="2295144" cy="512064"/>
          </a:xfrm>
          <a:prstGeom prst="rect">
            <a:avLst/>
          </a:prstGeom>
          <a:noFill/>
        </p:spPr>
        <p:txBody>
          <a:bodyPr wrap="square" lIns="0" rIns="0" tIns="0" bIns="0" anchor="t">
            <a:spAutoFit/>
          </a:bodyPr>
          <a:lstStyle/>
          <a:p>
            <a:pPr algn="l">
              <a:lnSpc>
                <a:spcPct val="106000"/>
              </a:lnSpc>
            </a:pPr>
            <a:r>
              <a:rPr sz="1250" b="1" i="0">
                <a:solidFill>
                  <a:srgbClr val="065A82"/>
                </a:solidFill>
                <a:latin typeface="DejaVu Sans"/>
              </a:rPr>
              <a:t>A stale file is worse than no file</a:t>
            </a:r>
          </a:p>
        </p:txBody>
      </p:sp>
      <p:sp>
        <p:nvSpPr>
          <p:cNvPr id="7" name="TextBox 6"/>
          <p:cNvSpPr txBox="1"/>
          <p:nvPr/>
        </p:nvSpPr>
        <p:spPr>
          <a:xfrm>
            <a:off x="704088" y="2670048"/>
            <a:ext cx="2295144" cy="1591056"/>
          </a:xfrm>
          <a:prstGeom prst="rect">
            <a:avLst/>
          </a:prstGeom>
          <a:noFill/>
        </p:spPr>
        <p:txBody>
          <a:bodyPr wrap="square" lIns="0" rIns="0" tIns="0" bIns="0" anchor="t">
            <a:spAutoFit/>
          </a:bodyPr>
          <a:lstStyle/>
          <a:p>
            <a:pPr algn="l">
              <a:lnSpc>
                <a:spcPct val="116000"/>
              </a:lnSpc>
            </a:pPr>
            <a:r>
              <a:rPr sz="950" b="0" i="0">
                <a:solidFill>
                  <a:srgbClr val="21295C"/>
                </a:solidFill>
                <a:latin typeface="DejaVu Sans"/>
              </a:rPr>
              <a:t>A missing file the agent makes up for by asking; a stale one it trusts literally.</a:t>
            </a:r>
          </a:p>
          <a:p>
            <a:pPr algn="l">
              <a:lnSpc>
                <a:spcPct val="116000"/>
              </a:lnSpc>
            </a:pPr>
            <a:r>
              <a:rPr sz="950" b="0" i="0">
                <a:solidFill>
                  <a:srgbClr val="21295C"/>
                </a:solidFill>
                <a:latin typeface="DejaVu Sans"/>
              </a:rPr>
              <a:t/>
            </a:r>
          </a:p>
          <a:p>
            <a:pPr algn="l">
              <a:lnSpc>
                <a:spcPct val="116000"/>
              </a:lnSpc>
            </a:pPr>
            <a:r>
              <a:rPr sz="950" b="0" i="0">
                <a:solidFill>
                  <a:srgbClr val="21295C"/>
                </a:solidFill>
                <a:latin typeface="DejaVu Sans"/>
              </a:rPr>
              <a:t>It prescribes a build command that was replaced long ago — the agent keeps running it and burns turns for nothing.</a:t>
            </a:r>
          </a:p>
        </p:txBody>
      </p:sp>
      <p:sp>
        <p:nvSpPr>
          <p:cNvPr id="8" name="Rounded Rectangle 7"/>
          <p:cNvSpPr/>
          <p:nvPr/>
        </p:nvSpPr>
        <p:spPr>
          <a:xfrm>
            <a:off x="3337560" y="1298448"/>
            <a:ext cx="2697480" cy="3054096"/>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ers-teal.png"/>
          <p:cNvPicPr>
            <a:picLocks noChangeAspect="1"/>
          </p:cNvPicPr>
          <p:nvPr/>
        </p:nvPicPr>
        <p:blipFill>
          <a:blip r:embed="rId3"/>
          <a:stretch>
            <a:fillRect/>
          </a:stretch>
        </p:blipFill>
        <p:spPr>
          <a:xfrm>
            <a:off x="3538728" y="1463039"/>
            <a:ext cx="402336" cy="402336"/>
          </a:xfrm>
          <a:prstGeom prst="rect">
            <a:avLst/>
          </a:prstGeom>
        </p:spPr>
      </p:pic>
      <p:sp>
        <p:nvSpPr>
          <p:cNvPr id="10" name="TextBox 9"/>
          <p:cNvSpPr txBox="1"/>
          <p:nvPr/>
        </p:nvSpPr>
        <p:spPr>
          <a:xfrm>
            <a:off x="3538728" y="1956815"/>
            <a:ext cx="2295144" cy="182880"/>
          </a:xfrm>
          <a:prstGeom prst="rect">
            <a:avLst/>
          </a:prstGeom>
          <a:noFill/>
        </p:spPr>
        <p:txBody>
          <a:bodyPr wrap="square" lIns="0" rIns="0" tIns="0" bIns="0" anchor="t">
            <a:spAutoFit/>
          </a:bodyPr>
          <a:lstStyle/>
          <a:p>
            <a:pPr algn="l">
              <a:lnSpc>
                <a:spcPct val="100000"/>
              </a:lnSpc>
            </a:pPr>
            <a:r>
              <a:rPr sz="850" b="1" i="0">
                <a:solidFill>
                  <a:srgbClr val="1C7293"/>
                </a:solidFill>
                <a:latin typeface="DejaVu Sans"/>
              </a:rPr>
              <a:t>LEVEL 2 · SESSION</a:t>
            </a:r>
          </a:p>
        </p:txBody>
      </p:sp>
      <p:sp>
        <p:nvSpPr>
          <p:cNvPr id="11" name="TextBox 10"/>
          <p:cNvSpPr txBox="1"/>
          <p:nvPr/>
        </p:nvSpPr>
        <p:spPr>
          <a:xfrm>
            <a:off x="3538728" y="2157984"/>
            <a:ext cx="2295144" cy="512064"/>
          </a:xfrm>
          <a:prstGeom prst="rect">
            <a:avLst/>
          </a:prstGeom>
          <a:noFill/>
        </p:spPr>
        <p:txBody>
          <a:bodyPr wrap="square" lIns="0" rIns="0" tIns="0" bIns="0" anchor="t">
            <a:spAutoFit/>
          </a:bodyPr>
          <a:lstStyle/>
          <a:p>
            <a:pPr algn="l">
              <a:lnSpc>
                <a:spcPct val="106000"/>
              </a:lnSpc>
            </a:pPr>
            <a:r>
              <a:rPr sz="1250" b="1" i="0">
                <a:solidFill>
                  <a:srgbClr val="028090"/>
                </a:solidFill>
                <a:latin typeface="DejaVu Sans"/>
              </a:rPr>
              <a:t>Compaction loses, JIT will not ask</a:t>
            </a:r>
          </a:p>
        </p:txBody>
      </p:sp>
      <p:sp>
        <p:nvSpPr>
          <p:cNvPr id="12" name="TextBox 11"/>
          <p:cNvSpPr txBox="1"/>
          <p:nvPr/>
        </p:nvSpPr>
        <p:spPr>
          <a:xfrm>
            <a:off x="3538728" y="2670048"/>
            <a:ext cx="2295144" cy="1591056"/>
          </a:xfrm>
          <a:prstGeom prst="rect">
            <a:avLst/>
          </a:prstGeom>
          <a:noFill/>
        </p:spPr>
        <p:txBody>
          <a:bodyPr wrap="square" lIns="0" rIns="0" tIns="0" bIns="0" anchor="t">
            <a:spAutoFit/>
          </a:bodyPr>
          <a:lstStyle/>
          <a:p>
            <a:pPr algn="l">
              <a:lnSpc>
                <a:spcPct val="116000"/>
              </a:lnSpc>
            </a:pPr>
            <a:r>
              <a:rPr sz="950" b="0" i="0">
                <a:solidFill>
                  <a:srgbClr val="21295C"/>
                </a:solidFill>
                <a:latin typeface="DejaVu Sans"/>
              </a:rPr>
              <a:t>Summarization is lossy: "do not use library X" may not survive into the summary, and the agent will propose exactly that. No error is raised.</a:t>
            </a:r>
          </a:p>
          <a:p>
            <a:pPr algn="l">
              <a:lnSpc>
                <a:spcPct val="116000"/>
              </a:lnSpc>
            </a:pPr>
            <a:r>
              <a:rPr sz="950" b="0" i="0">
                <a:solidFill>
                  <a:srgbClr val="21295C"/>
                </a:solidFill>
                <a:latin typeface="DejaVu Sans"/>
              </a:rPr>
              <a:t/>
            </a:r>
          </a:p>
          <a:p>
            <a:pPr algn="l">
              <a:lnSpc>
                <a:spcPct val="116000"/>
              </a:lnSpc>
            </a:pPr>
            <a:r>
              <a:rPr sz="950" b="0" i="0">
                <a:solidFill>
                  <a:srgbClr val="21295C"/>
                </a:solidFill>
                <a:latin typeface="DejaVu Sans"/>
              </a:rPr>
              <a:t>JIT is symmetric: what the agent does not know exists, it will never request.</a:t>
            </a:r>
          </a:p>
        </p:txBody>
      </p:sp>
      <p:sp>
        <p:nvSpPr>
          <p:cNvPr id="13" name="Rounded Rectangle 12"/>
          <p:cNvSpPr/>
          <p:nvPr/>
        </p:nvSpPr>
        <p:spPr>
          <a:xfrm>
            <a:off x="6172200" y="1298448"/>
            <a:ext cx="2697480" cy="3054096"/>
          </a:xfrm>
          <a:prstGeom prst="roundRect">
            <a:avLst>
              <a:gd name="adj" fmla="val 1129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lock-mid.png"/>
          <p:cNvPicPr>
            <a:picLocks noChangeAspect="1"/>
          </p:cNvPicPr>
          <p:nvPr/>
        </p:nvPicPr>
        <p:blipFill>
          <a:blip r:embed="rId4"/>
          <a:stretch>
            <a:fillRect/>
          </a:stretch>
        </p:blipFill>
        <p:spPr>
          <a:xfrm>
            <a:off x="6373368" y="1463039"/>
            <a:ext cx="402336" cy="402336"/>
          </a:xfrm>
          <a:prstGeom prst="rect">
            <a:avLst/>
          </a:prstGeom>
        </p:spPr>
      </p:pic>
      <p:sp>
        <p:nvSpPr>
          <p:cNvPr id="15" name="TextBox 14"/>
          <p:cNvSpPr txBox="1"/>
          <p:nvPr/>
        </p:nvSpPr>
        <p:spPr>
          <a:xfrm>
            <a:off x="6373368" y="1956815"/>
            <a:ext cx="2295144" cy="182880"/>
          </a:xfrm>
          <a:prstGeom prst="rect">
            <a:avLst/>
          </a:prstGeom>
          <a:noFill/>
        </p:spPr>
        <p:txBody>
          <a:bodyPr wrap="square" lIns="0" rIns="0" tIns="0" bIns="0" anchor="t">
            <a:spAutoFit/>
          </a:bodyPr>
          <a:lstStyle/>
          <a:p>
            <a:pPr algn="l">
              <a:lnSpc>
                <a:spcPct val="100000"/>
              </a:lnSpc>
            </a:pPr>
            <a:r>
              <a:rPr sz="850" b="1" i="0">
                <a:solidFill>
                  <a:srgbClr val="1C7293"/>
                </a:solidFill>
                <a:latin typeface="DejaVu Sans"/>
              </a:rPr>
              <a:t>LEVEL 3 · HISTORY</a:t>
            </a:r>
          </a:p>
        </p:txBody>
      </p:sp>
      <p:sp>
        <p:nvSpPr>
          <p:cNvPr id="16" name="TextBox 15"/>
          <p:cNvSpPr txBox="1"/>
          <p:nvPr/>
        </p:nvSpPr>
        <p:spPr>
          <a:xfrm>
            <a:off x="6373368" y="2157984"/>
            <a:ext cx="2295144" cy="512064"/>
          </a:xfrm>
          <a:prstGeom prst="rect">
            <a:avLst/>
          </a:prstGeom>
          <a:noFill/>
        </p:spPr>
        <p:txBody>
          <a:bodyPr wrap="square" lIns="0" rIns="0" tIns="0" bIns="0" anchor="t">
            <a:spAutoFit/>
          </a:bodyPr>
          <a:lstStyle/>
          <a:p>
            <a:pPr algn="l">
              <a:lnSpc>
                <a:spcPct val="106000"/>
              </a:lnSpc>
            </a:pPr>
            <a:r>
              <a:rPr sz="1250" b="1" i="0">
                <a:solidFill>
                  <a:srgbClr val="065A82"/>
                </a:solidFill>
                <a:latin typeface="DejaVu Sans"/>
              </a:rPr>
              <a:t>Ages more quietly than instructions</a:t>
            </a:r>
          </a:p>
        </p:txBody>
      </p:sp>
      <p:sp>
        <p:nvSpPr>
          <p:cNvPr id="17" name="TextBox 16"/>
          <p:cNvSpPr txBox="1"/>
          <p:nvPr/>
        </p:nvSpPr>
        <p:spPr>
          <a:xfrm>
            <a:off x="6373368" y="2670048"/>
            <a:ext cx="2295144" cy="1591056"/>
          </a:xfrm>
          <a:prstGeom prst="rect">
            <a:avLst/>
          </a:prstGeom>
          <a:noFill/>
        </p:spPr>
        <p:txBody>
          <a:bodyPr wrap="square" lIns="0" rIns="0" tIns="0" bIns="0" anchor="t">
            <a:spAutoFit/>
          </a:bodyPr>
          <a:lstStyle/>
          <a:p>
            <a:pPr algn="l">
              <a:lnSpc>
                <a:spcPct val="116000"/>
              </a:lnSpc>
            </a:pPr>
            <a:r>
              <a:rPr sz="950" b="0" i="0">
                <a:solidFill>
                  <a:srgbClr val="21295C"/>
                </a:solidFill>
                <a:latin typeface="DejaVu Sans"/>
              </a:rPr>
              <a:t>There is one instruction file — it gets re-read along with the project. An archive of write-ups is dozens of documents.</a:t>
            </a:r>
          </a:p>
          <a:p>
            <a:pPr algn="l">
              <a:lnSpc>
                <a:spcPct val="116000"/>
              </a:lnSpc>
            </a:pPr>
            <a:r>
              <a:rPr sz="950" b="0" i="0">
                <a:solidFill>
                  <a:srgbClr val="21295C"/>
                </a:solidFill>
                <a:latin typeface="DejaVu Sans"/>
              </a:rPr>
              <a:t/>
            </a:r>
          </a:p>
          <a:p>
            <a:pPr algn="l">
              <a:lnSpc>
                <a:spcPct val="116000"/>
              </a:lnSpc>
            </a:pPr>
            <a:r>
              <a:rPr sz="950" b="0" i="0">
                <a:solidFill>
                  <a:srgbClr val="21295C"/>
                </a:solidFill>
                <a:latin typeface="DejaVu Sans"/>
              </a:rPr>
              <a:t>The agent finds them by relevance, not by currency, and proposes a workaround for a problem closed long ago.</a:t>
            </a:r>
          </a:p>
        </p:txBody>
      </p:sp>
      <p:sp>
        <p:nvSpPr>
          <p:cNvPr id="18" name="Rounded Rectangle 17"/>
          <p:cNvSpPr/>
          <p:nvPr/>
        </p:nvSpPr>
        <p:spPr>
          <a:xfrm>
            <a:off x="9006840" y="1298448"/>
            <a:ext cx="2697480" cy="3054096"/>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lock-teal.png"/>
          <p:cNvPicPr>
            <a:picLocks noChangeAspect="1"/>
          </p:cNvPicPr>
          <p:nvPr/>
        </p:nvPicPr>
        <p:blipFill>
          <a:blip r:embed="rId5"/>
          <a:stretch>
            <a:fillRect/>
          </a:stretch>
        </p:blipFill>
        <p:spPr>
          <a:xfrm>
            <a:off x="9208008" y="1463039"/>
            <a:ext cx="402336" cy="402336"/>
          </a:xfrm>
          <a:prstGeom prst="rect">
            <a:avLst/>
          </a:prstGeom>
        </p:spPr>
      </p:pic>
      <p:sp>
        <p:nvSpPr>
          <p:cNvPr id="20" name="TextBox 19"/>
          <p:cNvSpPr txBox="1"/>
          <p:nvPr/>
        </p:nvSpPr>
        <p:spPr>
          <a:xfrm>
            <a:off x="9208008" y="1956815"/>
            <a:ext cx="2295144" cy="182880"/>
          </a:xfrm>
          <a:prstGeom prst="rect">
            <a:avLst/>
          </a:prstGeom>
          <a:noFill/>
        </p:spPr>
        <p:txBody>
          <a:bodyPr wrap="square" lIns="0" rIns="0" tIns="0" bIns="0" anchor="t">
            <a:spAutoFit/>
          </a:bodyPr>
          <a:lstStyle/>
          <a:p>
            <a:pPr algn="l">
              <a:lnSpc>
                <a:spcPct val="100000"/>
              </a:lnSpc>
            </a:pPr>
            <a:r>
              <a:rPr sz="850" b="1" i="0">
                <a:solidFill>
                  <a:srgbClr val="1C7293"/>
                </a:solidFill>
                <a:latin typeface="DejaVu Sans"/>
              </a:rPr>
              <a:t>LEVEL 4 · MEMORY</a:t>
            </a:r>
          </a:p>
        </p:txBody>
      </p:sp>
      <p:sp>
        <p:nvSpPr>
          <p:cNvPr id="21" name="TextBox 20"/>
          <p:cNvSpPr txBox="1"/>
          <p:nvPr/>
        </p:nvSpPr>
        <p:spPr>
          <a:xfrm>
            <a:off x="9208008" y="2157984"/>
            <a:ext cx="2295144" cy="512064"/>
          </a:xfrm>
          <a:prstGeom prst="rect">
            <a:avLst/>
          </a:prstGeom>
          <a:noFill/>
        </p:spPr>
        <p:txBody>
          <a:bodyPr wrap="square" lIns="0" rIns="0" tIns="0" bIns="0" anchor="t">
            <a:spAutoFit/>
          </a:bodyPr>
          <a:lstStyle/>
          <a:p>
            <a:pPr algn="l">
              <a:lnSpc>
                <a:spcPct val="106000"/>
              </a:lnSpc>
            </a:pPr>
            <a:r>
              <a:rPr sz="1250" b="1" i="0">
                <a:solidFill>
                  <a:srgbClr val="028090"/>
                </a:solidFill>
                <a:latin typeface="DejaVu Sans"/>
              </a:rPr>
              <a:t>Entrenches a wrong conclusion</a:t>
            </a:r>
          </a:p>
        </p:txBody>
      </p:sp>
      <p:sp>
        <p:nvSpPr>
          <p:cNvPr id="22" name="TextBox 21"/>
          <p:cNvSpPr txBox="1"/>
          <p:nvPr/>
        </p:nvSpPr>
        <p:spPr>
          <a:xfrm>
            <a:off x="9208008" y="2670048"/>
            <a:ext cx="2295144" cy="1591056"/>
          </a:xfrm>
          <a:prstGeom prst="rect">
            <a:avLst/>
          </a:prstGeom>
          <a:noFill/>
        </p:spPr>
        <p:txBody>
          <a:bodyPr wrap="square" lIns="0" rIns="0" tIns="0" bIns="0" anchor="t">
            <a:spAutoFit/>
          </a:bodyPr>
          <a:lstStyle/>
          <a:p>
            <a:pPr algn="l">
              <a:lnSpc>
                <a:spcPct val="116000"/>
              </a:lnSpc>
            </a:pPr>
            <a:r>
              <a:rPr sz="950" b="0" i="0">
                <a:solidFill>
                  <a:srgbClr val="21295C"/>
                </a:solidFill>
                <a:latin typeface="DejaVu Sans"/>
              </a:rPr>
              <a:t>Memory accumulates on its own, so it cannot be proofread line by line like a file.</a:t>
            </a:r>
          </a:p>
          <a:p>
            <a:pPr algn="l">
              <a:lnSpc>
                <a:spcPct val="116000"/>
              </a:lnSpc>
            </a:pPr>
            <a:r>
              <a:rPr sz="950" b="0" i="0">
                <a:solidFill>
                  <a:srgbClr val="21295C"/>
                </a:solidFill>
                <a:latin typeface="DejaVu Sans"/>
              </a:rPr>
              <a:t/>
            </a:r>
          </a:p>
          <a:p>
            <a:pPr algn="l">
              <a:lnSpc>
                <a:spcPct val="116000"/>
              </a:lnSpc>
            </a:pPr>
            <a:r>
              <a:rPr sz="950" b="0" i="0">
                <a:solidFill>
                  <a:srgbClr val="21295C"/>
                </a:solidFill>
                <a:latin typeface="DejaVu Sans"/>
              </a:rPr>
              <a:t>A wrong belief, once retained and read only by the agent itself, keeps being reproduced — it needs periodic checking from outside, not editing.</a:t>
            </a:r>
          </a:p>
        </p:txBody>
      </p:sp>
      <p:sp>
        <p:nvSpPr>
          <p:cNvPr id="23" name="Rounded Rectangle 22"/>
          <p:cNvSpPr/>
          <p:nvPr/>
        </p:nvSpPr>
        <p:spPr>
          <a:xfrm>
            <a:off x="502920" y="4498848"/>
            <a:ext cx="112014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562856"/>
            <a:ext cx="10789920"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No curation technique removes the risk — each one trades one risk for another. That is a limit of the technique itself, not a consequence of applying it carelessly.</a:t>
            </a:r>
          </a:p>
        </p:txBody>
      </p:sp>
      <p:sp>
        <p:nvSpPr>
          <p:cNvPr id="25" name="Rounded Rectangle 24"/>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Hence the allocation rule: a decision you cannot afford to lose silently is not trusted to level 2 — it is recorded at level 1, the only one that is not compressed between turns.</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Anthropic — context engineering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17904"/>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17904"/>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17904"/>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1993391"/>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1993391"/>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1993391"/>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TextBox 9"/>
          <p:cNvSpPr txBox="1"/>
          <p:nvPr/>
        </p:nvSpPr>
        <p:spPr>
          <a:xfrm>
            <a:off x="758952" y="2432304"/>
            <a:ext cx="5020056" cy="310896"/>
          </a:xfrm>
          <a:prstGeom prst="rect">
            <a:avLst/>
          </a:prstGeom>
          <a:noFill/>
        </p:spPr>
        <p:txBody>
          <a:bodyPr wrap="square" lIns="0" rIns="0" tIns="0" bIns="0" anchor="t">
            <a:spAutoFit/>
          </a:bodyPr>
          <a:lstStyle/>
          <a:p>
            <a:pPr algn="l">
              <a:lnSpc>
                <a:spcPct val="108000"/>
              </a:lnSpc>
            </a:pPr>
            <a:r>
              <a:rPr sz="950" b="0" i="1">
                <a:solidFill>
                  <a:srgbClr val="065A82"/>
                </a:solidFill>
                <a:latin typeface="DejaVu Sans"/>
              </a:rPr>
              <a:t>SAST — static application security testing: analysis of code for vulnerabilities without running it. least-privilege — the minimum rights needed, nothing more.</a:t>
            </a:r>
          </a:p>
        </p:txBody>
      </p:sp>
      <p:sp>
        <p:nvSpPr>
          <p:cNvPr id="11" name="Oval 10"/>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2"/>
          <a:stretch>
            <a:fillRect/>
          </a:stretch>
        </p:blipFill>
        <p:spPr>
          <a:xfrm>
            <a:off x="2958084" y="2889504"/>
            <a:ext cx="512064" cy="512064"/>
          </a:xfrm>
          <a:prstGeom prst="rect">
            <a:avLst/>
          </a:prstGeom>
        </p:spPr>
      </p:pic>
      <p:sp>
        <p:nvSpPr>
          <p:cNvPr id="13" name="TextBox 12"/>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4" name="TextBox 13"/>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5" name="TextBox 14"/>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6" name="Rounded Rectangle 15"/>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8" name="TextBox 17"/>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9" name="Rounded Rectangle 18"/>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1" name="Rounded Rectangle 20"/>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3" name="Rounded Rectangle 2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In development, a skill pays off on a rare but repeatable procedure</a:t>
            </a:r>
          </a:p>
        </p:txBody>
      </p:sp>
      <p:sp>
        <p:nvSpPr>
          <p:cNvPr id="3" name="TextBox 2"/>
          <p:cNvSpPr txBox="1"/>
          <p:nvPr/>
        </p:nvSpPr>
        <p:spPr>
          <a:xfrm>
            <a:off x="502920" y="987552"/>
            <a:ext cx="6675120" cy="256032"/>
          </a:xfrm>
          <a:prstGeom prst="rect">
            <a:avLst/>
          </a:prstGeom>
          <a:noFill/>
        </p:spPr>
        <p:txBody>
          <a:bodyPr wrap="square" lIns="0" rIns="0" tIns="0" bIns="0" anchor="t">
            <a:spAutoFit/>
          </a:bodyPr>
          <a:lstStyle/>
          <a:p>
            <a:pPr algn="l">
              <a:lnSpc>
                <a:spcPct val="115000"/>
              </a:lnSpc>
            </a:pPr>
            <a:r>
              <a:rPr sz="1200" b="1" i="0">
                <a:solidFill>
                  <a:srgbClr val="1C7293"/>
                </a:solidFill>
                <a:latin typeface="DejaVu Sans"/>
              </a:rPr>
              <a:t>WHAT DEVELOPERS ACTUALLY MOVE INTO A SKILL</a:t>
            </a:r>
          </a:p>
        </p:txBody>
      </p:sp>
      <p:sp>
        <p:nvSpPr>
          <p:cNvPr id="4" name="Rounded Rectangle 3"/>
          <p:cNvSpPr/>
          <p:nvPr/>
        </p:nvSpPr>
        <p:spPr>
          <a:xfrm>
            <a:off x="502920" y="1261872"/>
            <a:ext cx="6675120" cy="111556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teal.png"/>
          <p:cNvPicPr>
            <a:picLocks noChangeAspect="1"/>
          </p:cNvPicPr>
          <p:nvPr/>
        </p:nvPicPr>
        <p:blipFill>
          <a:blip r:embed="rId2"/>
          <a:stretch>
            <a:fillRect/>
          </a:stretch>
        </p:blipFill>
        <p:spPr>
          <a:xfrm>
            <a:off x="704088" y="1408175"/>
            <a:ext cx="402336" cy="402336"/>
          </a:xfrm>
          <a:prstGeom prst="rect">
            <a:avLst/>
          </a:prstGeom>
        </p:spPr>
      </p:pic>
      <p:sp>
        <p:nvSpPr>
          <p:cNvPr id="6" name="TextBox 5"/>
          <p:cNvSpPr txBox="1"/>
          <p:nvPr/>
        </p:nvSpPr>
        <p:spPr>
          <a:xfrm>
            <a:off x="1252728" y="1389888"/>
            <a:ext cx="5724144"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Run every check with one command</a:t>
            </a:r>
          </a:p>
        </p:txBody>
      </p:sp>
      <p:sp>
        <p:nvSpPr>
          <p:cNvPr id="7" name="TextBox 6"/>
          <p:cNvSpPr txBox="1"/>
          <p:nvPr/>
        </p:nvSpPr>
        <p:spPr>
          <a:xfrm>
            <a:off x="1252728" y="1700784"/>
            <a:ext cx="5724144" cy="56692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Linter → type check → tests (ruff/mypy/pytest or eslint/tsc/vitest) are invoked in a single call, instead of being reconstructed from scratch against this repository's conventions.</a:t>
            </a:r>
          </a:p>
        </p:txBody>
      </p:sp>
      <p:sp>
        <p:nvSpPr>
          <p:cNvPr id="8" name="Rounded Rectangle 7"/>
          <p:cNvSpPr/>
          <p:nvPr/>
        </p:nvSpPr>
        <p:spPr>
          <a:xfrm>
            <a:off x="502920" y="2468880"/>
            <a:ext cx="6675120" cy="111556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tabase-mid.png"/>
          <p:cNvPicPr>
            <a:picLocks noChangeAspect="1"/>
          </p:cNvPicPr>
          <p:nvPr/>
        </p:nvPicPr>
        <p:blipFill>
          <a:blip r:embed="rId3"/>
          <a:stretch>
            <a:fillRect/>
          </a:stretch>
        </p:blipFill>
        <p:spPr>
          <a:xfrm>
            <a:off x="704088" y="2615184"/>
            <a:ext cx="402336" cy="402336"/>
          </a:xfrm>
          <a:prstGeom prst="rect">
            <a:avLst/>
          </a:prstGeom>
        </p:spPr>
      </p:pic>
      <p:sp>
        <p:nvSpPr>
          <p:cNvPr id="10" name="TextBox 9"/>
          <p:cNvSpPr txBox="1"/>
          <p:nvPr/>
        </p:nvSpPr>
        <p:spPr>
          <a:xfrm>
            <a:off x="1252728" y="2596896"/>
            <a:ext cx="5724144"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 throwaway database for an integration test</a:t>
            </a:r>
          </a:p>
        </p:txBody>
      </p:sp>
      <p:sp>
        <p:nvSpPr>
          <p:cNvPr id="11" name="TextBox 10"/>
          <p:cNvSpPr txBox="1"/>
          <p:nvPr/>
        </p:nvSpPr>
        <p:spPr>
          <a:xfrm>
            <a:off x="1252728" y="2907792"/>
            <a:ext cx="5724144" cy="56692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How to bring up a real Postgres or Kafka in a container for the duration of a run and tear it down after. The procedure is written down — the agent is not recalling the configuration from memory.</a:t>
            </a:r>
          </a:p>
        </p:txBody>
      </p:sp>
      <p:sp>
        <p:nvSpPr>
          <p:cNvPr id="12" name="Rounded Rectangle 11"/>
          <p:cNvSpPr/>
          <p:nvPr/>
        </p:nvSpPr>
        <p:spPr>
          <a:xfrm>
            <a:off x="502920" y="3675888"/>
            <a:ext cx="6675120" cy="111556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code-teal.png"/>
          <p:cNvPicPr>
            <a:picLocks noChangeAspect="1"/>
          </p:cNvPicPr>
          <p:nvPr/>
        </p:nvPicPr>
        <p:blipFill>
          <a:blip r:embed="rId4"/>
          <a:stretch>
            <a:fillRect/>
          </a:stretch>
        </p:blipFill>
        <p:spPr>
          <a:xfrm>
            <a:off x="704088" y="3822192"/>
            <a:ext cx="402336" cy="402336"/>
          </a:xfrm>
          <a:prstGeom prst="rect">
            <a:avLst/>
          </a:prstGeom>
        </p:spPr>
      </p:pic>
      <p:sp>
        <p:nvSpPr>
          <p:cNvPr id="14" name="TextBox 13"/>
          <p:cNvSpPr txBox="1"/>
          <p:nvPr/>
        </p:nvSpPr>
        <p:spPr>
          <a:xfrm>
            <a:off x="1252728" y="3803904"/>
            <a:ext cx="5724144"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Building documentation from the code</a:t>
            </a:r>
          </a:p>
        </p:txBody>
      </p:sp>
      <p:sp>
        <p:nvSpPr>
          <p:cNvPr id="15" name="TextBox 14"/>
          <p:cNvSpPr txBox="1"/>
          <p:nvPr/>
        </p:nvSpPr>
        <p:spPr>
          <a:xfrm>
            <a:off x="1252728" y="4114800"/>
            <a:ext cx="5724144" cy="56692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Walk the project structure and its dependencies, assemble the README and the architecture decision records. Many steps, needed rarely — exactly the profile a skill exists for.</a:t>
            </a:r>
          </a:p>
        </p:txBody>
      </p:sp>
      <p:sp>
        <p:nvSpPr>
          <p:cNvPr id="16" name="TextBox 15"/>
          <p:cNvSpPr txBox="1"/>
          <p:nvPr/>
        </p:nvSpPr>
        <p:spPr>
          <a:xfrm>
            <a:off x="502920" y="4956048"/>
            <a:ext cx="6675120" cy="256032"/>
          </a:xfrm>
          <a:prstGeom prst="rect">
            <a:avLst/>
          </a:prstGeom>
          <a:noFill/>
        </p:spPr>
        <p:txBody>
          <a:bodyPr wrap="square" lIns="0" rIns="0" tIns="0" bIns="0" anchor="t">
            <a:spAutoFit/>
          </a:bodyPr>
          <a:lstStyle/>
          <a:p>
            <a:pPr algn="l">
              <a:lnSpc>
                <a:spcPct val="115000"/>
              </a:lnSpc>
            </a:pPr>
            <a:r>
              <a:rPr sz="1000" b="1" i="0">
                <a:solidFill>
                  <a:srgbClr val="5B6678"/>
                </a:solidFill>
                <a:latin typeface="DejaVu Sans"/>
              </a:rPr>
              <a:t>Example:  </a:t>
            </a:r>
            <a:r>
              <a:rPr sz="900" b="0" i="1">
                <a:solidFill>
                  <a:srgbClr val="028090"/>
                </a:solidFill>
                <a:latin typeface="DejaVu Sans Mono"/>
              </a:rPr>
              <a:t>lint+type-check+test skill</a:t>
            </a:r>
            <a:r>
              <a:rPr sz="900" b="0" i="0">
                <a:solidFill>
                  <a:srgbClr val="5B6678"/>
                </a:solidFill>
                <a:latin typeface="DejaVu Sans"/>
              </a:rPr>
              <a:t>  ·  </a:t>
            </a:r>
            <a:r>
              <a:rPr sz="900" b="0" i="1">
                <a:solidFill>
                  <a:srgbClr val="065A82"/>
                </a:solidFill>
                <a:latin typeface="DejaVu Sans Mono"/>
              </a:rPr>
              <a:t>testcontainers-docker skill</a:t>
            </a:r>
            <a:r>
              <a:rPr sz="900" b="0" i="0">
                <a:solidFill>
                  <a:srgbClr val="5B6678"/>
                </a:solidFill>
                <a:latin typeface="DejaVu Sans"/>
              </a:rPr>
              <a:t>  ·  </a:t>
            </a:r>
            <a:r>
              <a:rPr sz="900" b="0" i="1">
                <a:solidFill>
                  <a:srgbClr val="028090"/>
                </a:solidFill>
                <a:latin typeface="DejaVu Sans Mono"/>
              </a:rPr>
              <a:t>README Generator skill</a:t>
            </a:r>
          </a:p>
        </p:txBody>
      </p:sp>
      <p:sp>
        <p:nvSpPr>
          <p:cNvPr id="17" name="Rounded Rectangle 16"/>
          <p:cNvSpPr/>
          <p:nvPr/>
        </p:nvSpPr>
        <p:spPr>
          <a:xfrm>
            <a:off x="7360920" y="987552"/>
            <a:ext cx="4361688" cy="1426464"/>
          </a:xfrm>
          <a:prstGeom prst="roundRect">
            <a:avLst>
              <a:gd name="adj" fmla="val 21367"/>
            </a:avLst>
          </a:prstGeom>
          <a:solidFill>
            <a:srgbClr val="E5EAF0"/>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slash-mid.png"/>
          <p:cNvPicPr>
            <a:picLocks noChangeAspect="1"/>
          </p:cNvPicPr>
          <p:nvPr/>
        </p:nvPicPr>
        <p:blipFill>
          <a:blip r:embed="rId5"/>
          <a:stretch>
            <a:fillRect/>
          </a:stretch>
        </p:blipFill>
        <p:spPr>
          <a:xfrm>
            <a:off x="7543800" y="1078992"/>
            <a:ext cx="365760" cy="365760"/>
          </a:xfrm>
          <a:prstGeom prst="rect">
            <a:avLst/>
          </a:prstGeom>
        </p:spPr>
      </p:pic>
      <p:sp>
        <p:nvSpPr>
          <p:cNvPr id="19" name="TextBox 18"/>
          <p:cNvSpPr txBox="1"/>
          <p:nvPr/>
        </p:nvSpPr>
        <p:spPr>
          <a:xfrm>
            <a:off x="8019288" y="1097280"/>
            <a:ext cx="3520439"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When a skill is not the answer</a:t>
            </a:r>
          </a:p>
        </p:txBody>
      </p:sp>
      <p:sp>
        <p:nvSpPr>
          <p:cNvPr id="20" name="TextBox 19"/>
          <p:cNvSpPr txBox="1"/>
          <p:nvPr/>
        </p:nvSpPr>
        <p:spPr>
          <a:xfrm>
            <a:off x="7562088" y="1444752"/>
            <a:ext cx="3959351" cy="987552"/>
          </a:xfrm>
          <a:prstGeom prst="rect">
            <a:avLst/>
          </a:prstGeom>
          <a:noFill/>
        </p:spPr>
        <p:txBody>
          <a:bodyPr wrap="square" lIns="0" rIns="0" tIns="0" bIns="0" anchor="t">
            <a:spAutoFit/>
          </a:bodyPr>
          <a:lstStyle/>
          <a:p>
            <a:pPr algn="l">
              <a:lnSpc>
                <a:spcPct val="130000"/>
              </a:lnSpc>
            </a:pPr>
            <a:r>
              <a:rPr sz="1050" b="0" i="0">
                <a:solidFill>
                  <a:srgbClr val="21295C"/>
                </a:solidFill>
                <a:latin typeface="DejaVu Sans"/>
              </a:rPr>
              <a:t>• needed every turn (build, tests) — that is AGENTS.md</a:t>
            </a:r>
          </a:p>
          <a:p>
            <a:pPr algn="l">
              <a:lnSpc>
                <a:spcPct val="130000"/>
              </a:lnSpc>
            </a:pPr>
            <a:r>
              <a:rPr sz="1050" b="0" i="0">
                <a:solidFill>
                  <a:srgbClr val="21295C"/>
                </a:solidFill>
                <a:latin typeface="DejaVu Sans"/>
              </a:rPr>
              <a:t>• a one-off task — just ask for it in chat</a:t>
            </a:r>
          </a:p>
          <a:p>
            <a:pPr algn="l">
              <a:lnSpc>
                <a:spcPct val="130000"/>
              </a:lnSpc>
            </a:pPr>
            <a:r>
              <a:rPr sz="1050" b="0" i="0">
                <a:solidFill>
                  <a:srgbClr val="21295C"/>
                </a:solidFill>
                <a:latin typeface="DejaVu Sans"/>
              </a:rPr>
              <a:t>• one fact, not a procedure — a line in AGENTS.md</a:t>
            </a:r>
          </a:p>
          <a:p>
            <a:pPr algn="l">
              <a:lnSpc>
                <a:spcPct val="130000"/>
              </a:lnSpc>
            </a:pPr>
            <a:r>
              <a:rPr sz="1050" b="0" i="0">
                <a:solidFill>
                  <a:srgbClr val="21295C"/>
                </a:solidFill>
                <a:latin typeface="DejaVu Sans"/>
              </a:rPr>
              <a:t>• "everything at once" — the model will not pick it</a:t>
            </a:r>
          </a:p>
        </p:txBody>
      </p:sp>
      <p:sp>
        <p:nvSpPr>
          <p:cNvPr id="21" name="Rounded Rectangle 20"/>
          <p:cNvSpPr/>
          <p:nvPr/>
        </p:nvSpPr>
        <p:spPr>
          <a:xfrm>
            <a:off x="7360920" y="2761488"/>
            <a:ext cx="4361688" cy="1005840"/>
          </a:xfrm>
          <a:prstGeom prst="roundRect">
            <a:avLst>
              <a:gd name="adj" fmla="val 8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43800" y="2889504"/>
            <a:ext cx="3995927" cy="804672"/>
          </a:xfrm>
          <a:prstGeom prst="rect">
            <a:avLst/>
          </a:prstGeom>
          <a:noFill/>
        </p:spPr>
        <p:txBody>
          <a:bodyPr wrap="square" lIns="0" rIns="0" tIns="0" bIns="0" anchor="t">
            <a:spAutoFit/>
          </a:bodyPr>
          <a:lstStyle/>
          <a:p>
            <a:pPr algn="l">
              <a:lnSpc>
                <a:spcPct val="114000"/>
              </a:lnSpc>
            </a:pPr>
            <a:r>
              <a:rPr sz="1100" b="1" i="0">
                <a:solidFill>
                  <a:srgbClr val="065A82"/>
                </a:solidFill>
                <a:latin typeface="DejaVu Sans"/>
              </a:rPr>
              <a:t>AGENTS.md</a:t>
            </a:r>
            <a:r>
              <a:rPr sz="1050" b="0" i="0">
                <a:solidFill>
                  <a:srgbClr val="21295C"/>
                </a:solidFill>
                <a:latin typeface="DejaVu Sans"/>
              </a:rPr>
              <a:t> — in context every turn; you pay for it always.</a:t>
            </a:r>
          </a:p>
          <a:p>
            <a:pPr algn="l">
              <a:lnSpc>
                <a:spcPct val="114000"/>
              </a:lnSpc>
              <a:spcBef>
                <a:spcPts val="400"/>
              </a:spcBef>
            </a:pPr>
            <a:r>
              <a:rPr sz="1100" b="1" i="0">
                <a:solidFill>
                  <a:srgbClr val="028090"/>
                </a:solidFill>
                <a:latin typeface="DejaVu Sans"/>
              </a:rPr>
              <a:t>SKILL.md</a:t>
            </a:r>
            <a:r>
              <a:rPr sz="1050" b="0" i="0">
                <a:solidFill>
                  <a:srgbClr val="21295C"/>
                </a:solidFill>
                <a:latin typeface="DejaVu Sans"/>
              </a:rPr>
              <a:t> — loaded only on call; until then it costs zero.</a:t>
            </a:r>
          </a:p>
        </p:txBody>
      </p:sp>
      <p:sp>
        <p:nvSpPr>
          <p:cNvPr id="23" name="TextBox 22"/>
          <p:cNvSpPr txBox="1"/>
          <p:nvPr/>
        </p:nvSpPr>
        <p:spPr>
          <a:xfrm>
            <a:off x="7360920" y="3968496"/>
            <a:ext cx="4361688" cy="1005840"/>
          </a:xfrm>
          <a:prstGeom prst="rect">
            <a:avLst/>
          </a:prstGeom>
          <a:noFill/>
        </p:spPr>
        <p:txBody>
          <a:bodyPr wrap="square" lIns="0" rIns="0" tIns="0" bIns="0" anchor="t">
            <a:spAutoFit/>
          </a:bodyPr>
          <a:lstStyle/>
          <a:p>
            <a:pPr algn="l">
              <a:lnSpc>
                <a:spcPct val="116000"/>
              </a:lnSpc>
            </a:pPr>
            <a:r>
              <a:rPr sz="1050" b="0" i="1">
                <a:solidFill>
                  <a:srgbClr val="5B6678"/>
                </a:solidFill>
                <a:latin typeface="DejaVu Sans"/>
              </a:rPr>
              <a:t>Honestly: the format is open (the Agent Skills standard) and confirmed in Codex CLI, but Cursor has no on-demand layer — there the rules are always active. "The tool supports skills" is worth double-checking.</a:t>
            </a:r>
          </a:p>
        </p:txBody>
      </p:sp>
      <p:sp>
        <p:nvSpPr>
          <p:cNvPr id="24" name="Rounded Rectangle 2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dividing rule: needed every turn — into AGENTS.md; rare but detailed — into a skill; once — just say it in chat.</a:t>
            </a:r>
          </a:p>
        </p:txBody>
      </p:sp>
      <p:sp>
        <p:nvSpPr>
          <p:cNvPr id="26" name="TextBox 2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Agent Skills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Claude Docs — Skills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Destefanis — Authoring Agent Skills (arXiv:2607.25032)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5486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MCP removes the human bridge — at the cost of narrower system access</a:t>
            </a:r>
          </a:p>
        </p:txBody>
      </p:sp>
      <p:sp>
        <p:nvSpPr>
          <p:cNvPr id="3" name="Rounded Rectangle 2"/>
          <p:cNvSpPr/>
          <p:nvPr/>
        </p:nvSpPr>
        <p:spPr>
          <a:xfrm>
            <a:off x="502920" y="1152144"/>
            <a:ext cx="192024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t-mid.png"/>
          <p:cNvPicPr>
            <a:picLocks noChangeAspect="1"/>
          </p:cNvPicPr>
          <p:nvPr/>
        </p:nvPicPr>
        <p:blipFill>
          <a:blip r:embed="rId2"/>
          <a:stretch>
            <a:fillRect/>
          </a:stretch>
        </p:blipFill>
        <p:spPr>
          <a:xfrm>
            <a:off x="1216152" y="1280160"/>
            <a:ext cx="493776" cy="493776"/>
          </a:xfrm>
          <a:prstGeom prst="rect">
            <a:avLst/>
          </a:prstGeom>
        </p:spPr>
      </p:pic>
      <p:sp>
        <p:nvSpPr>
          <p:cNvPr id="5" name="TextBox 4"/>
          <p:cNvSpPr txBox="1"/>
          <p:nvPr/>
        </p:nvSpPr>
        <p:spPr>
          <a:xfrm>
            <a:off x="557784" y="1828800"/>
            <a:ext cx="1810512" cy="256032"/>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AGENT</a:t>
            </a:r>
          </a:p>
        </p:txBody>
      </p:sp>
      <p:sp>
        <p:nvSpPr>
          <p:cNvPr id="6" name="TextBox 5"/>
          <p:cNvSpPr txBox="1"/>
          <p:nvPr/>
        </p:nvSpPr>
        <p:spPr>
          <a:xfrm>
            <a:off x="557784" y="2084832"/>
            <a:ext cx="1810512"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built in: files + shell</a:t>
            </a:r>
          </a:p>
        </p:txBody>
      </p:sp>
      <p:cxnSp>
        <p:nvCxnSpPr>
          <p:cNvPr id="7" name="Connector 6"/>
          <p:cNvCxnSpPr/>
          <p:nvPr/>
        </p:nvCxnSpPr>
        <p:spPr>
          <a:xfrm flipV="1">
            <a:off x="1463040" y="1024128"/>
            <a:ext cx="0" cy="128016"/>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1024128"/>
            <a:ext cx="8820149" cy="0"/>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26080" y="1152144"/>
            <a:ext cx="281117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es-teal.png"/>
          <p:cNvPicPr>
            <a:picLocks noChangeAspect="1"/>
          </p:cNvPicPr>
          <p:nvPr/>
        </p:nvPicPr>
        <p:blipFill>
          <a:blip r:embed="rId3"/>
          <a:stretch>
            <a:fillRect/>
          </a:stretch>
        </p:blipFill>
        <p:spPr>
          <a:xfrm>
            <a:off x="3090672" y="1261872"/>
            <a:ext cx="365760" cy="365760"/>
          </a:xfrm>
          <a:prstGeom prst="rect">
            <a:avLst/>
          </a:prstGeom>
        </p:spPr>
      </p:pic>
      <p:sp>
        <p:nvSpPr>
          <p:cNvPr id="11" name="TextBox 10"/>
          <p:cNvSpPr txBox="1"/>
          <p:nvPr/>
        </p:nvSpPr>
        <p:spPr>
          <a:xfrm>
            <a:off x="3529584" y="1280160"/>
            <a:ext cx="2061362"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GitHub MCP</a:t>
            </a:r>
          </a:p>
        </p:txBody>
      </p:sp>
      <p:sp>
        <p:nvSpPr>
          <p:cNvPr id="12" name="TextBox 11"/>
          <p:cNvSpPr txBox="1"/>
          <p:nvPr/>
        </p:nvSpPr>
        <p:spPr>
          <a:xfrm>
            <a:off x="3090672" y="1627632"/>
            <a:ext cx="2481986" cy="749808"/>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issues, pull requests, builds — by toolsets that are enabled selectively</a:t>
            </a:r>
          </a:p>
        </p:txBody>
      </p:sp>
      <p:cxnSp>
        <p:nvCxnSpPr>
          <p:cNvPr id="13" name="Connector 12"/>
          <p:cNvCxnSpPr/>
          <p:nvPr/>
        </p:nvCxnSpPr>
        <p:spPr>
          <a:xfrm>
            <a:off x="4331665" y="1024128"/>
            <a:ext cx="0" cy="128016"/>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01842" y="1152144"/>
            <a:ext cx="281117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an-search-teal.png"/>
          <p:cNvPicPr>
            <a:picLocks noChangeAspect="1"/>
          </p:cNvPicPr>
          <p:nvPr/>
        </p:nvPicPr>
        <p:blipFill>
          <a:blip r:embed="rId4"/>
          <a:stretch>
            <a:fillRect/>
          </a:stretch>
        </p:blipFill>
        <p:spPr>
          <a:xfrm>
            <a:off x="6066434" y="1261872"/>
            <a:ext cx="365760" cy="365760"/>
          </a:xfrm>
          <a:prstGeom prst="rect">
            <a:avLst/>
          </a:prstGeom>
        </p:spPr>
      </p:pic>
      <p:sp>
        <p:nvSpPr>
          <p:cNvPr id="16" name="TextBox 15"/>
          <p:cNvSpPr txBox="1"/>
          <p:nvPr/>
        </p:nvSpPr>
        <p:spPr>
          <a:xfrm>
            <a:off x="6505346" y="1280160"/>
            <a:ext cx="2061362"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Playwright MCP</a:t>
            </a:r>
          </a:p>
        </p:txBody>
      </p:sp>
      <p:sp>
        <p:nvSpPr>
          <p:cNvPr id="17" name="TextBox 16"/>
          <p:cNvSpPr txBox="1"/>
          <p:nvPr/>
        </p:nvSpPr>
        <p:spPr>
          <a:xfrm>
            <a:off x="6066434" y="1627632"/>
            <a:ext cx="2481986" cy="749808"/>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the browser: a structural tree of elements instead of a screenshot; clicks, fills in forms</a:t>
            </a:r>
          </a:p>
        </p:txBody>
      </p:sp>
      <p:cxnSp>
        <p:nvCxnSpPr>
          <p:cNvPr id="18" name="Connector 17"/>
          <p:cNvCxnSpPr/>
          <p:nvPr/>
        </p:nvCxnSpPr>
        <p:spPr>
          <a:xfrm>
            <a:off x="7307427" y="1024128"/>
            <a:ext cx="0" cy="128016"/>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77604" y="1152144"/>
            <a:ext cx="281117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ink-teal.png"/>
          <p:cNvPicPr>
            <a:picLocks noChangeAspect="1"/>
          </p:cNvPicPr>
          <p:nvPr/>
        </p:nvPicPr>
        <p:blipFill>
          <a:blip r:embed="rId5"/>
          <a:stretch>
            <a:fillRect/>
          </a:stretch>
        </p:blipFill>
        <p:spPr>
          <a:xfrm>
            <a:off x="9042196" y="1261872"/>
            <a:ext cx="365760" cy="365760"/>
          </a:xfrm>
          <a:prstGeom prst="rect">
            <a:avLst/>
          </a:prstGeom>
        </p:spPr>
      </p:pic>
      <p:sp>
        <p:nvSpPr>
          <p:cNvPr id="21" name="TextBox 20"/>
          <p:cNvSpPr txBox="1"/>
          <p:nvPr/>
        </p:nvSpPr>
        <p:spPr>
          <a:xfrm>
            <a:off x="9481108" y="1280160"/>
            <a:ext cx="2061362"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Filesystem MCP</a:t>
            </a:r>
          </a:p>
        </p:txBody>
      </p:sp>
      <p:sp>
        <p:nvSpPr>
          <p:cNvPr id="22" name="TextBox 21"/>
          <p:cNvSpPr txBox="1"/>
          <p:nvPr/>
        </p:nvSpPr>
        <p:spPr>
          <a:xfrm>
            <a:off x="9042196" y="1627632"/>
            <a:ext cx="2481986" cy="749808"/>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a class of servers: access to directories OUTSIDE the working copy — a neighboring repo, a shared disk</a:t>
            </a:r>
          </a:p>
        </p:txBody>
      </p:sp>
      <p:cxnSp>
        <p:nvCxnSpPr>
          <p:cNvPr id="23" name="Connector 22"/>
          <p:cNvCxnSpPr/>
          <p:nvPr/>
        </p:nvCxnSpPr>
        <p:spPr>
          <a:xfrm>
            <a:off x="10283189" y="1024128"/>
            <a:ext cx="0" cy="128016"/>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2578608"/>
            <a:ext cx="112014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2670048"/>
            <a:ext cx="466344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MCP is narrower than direct access</a:t>
            </a:r>
          </a:p>
        </p:txBody>
      </p:sp>
      <p:sp>
        <p:nvSpPr>
          <p:cNvPr id="26" name="Rounded Rectangle 25"/>
          <p:cNvSpPr/>
          <p:nvPr/>
        </p:nvSpPr>
        <p:spPr>
          <a:xfrm>
            <a:off x="722376" y="2962656"/>
            <a:ext cx="4480560" cy="237744"/>
          </a:xfrm>
          <a:prstGeom prst="roundRect">
            <a:avLst>
              <a:gd name="adj" fmla="val 30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 y="2971799"/>
            <a:ext cx="4297680" cy="219456"/>
          </a:xfrm>
          <a:prstGeom prst="rect">
            <a:avLst/>
          </a:prstGeom>
          <a:noFill/>
        </p:spPr>
        <p:txBody>
          <a:bodyPr wrap="square" lIns="0" rIns="0" tIns="0" bIns="0" anchor="ctr">
            <a:spAutoFit/>
          </a:bodyPr>
          <a:lstStyle/>
          <a:p>
            <a:pPr algn="l">
              <a:lnSpc>
                <a:spcPct val="115000"/>
              </a:lnSpc>
            </a:pPr>
            <a:r>
              <a:rPr sz="900" b="0" i="0">
                <a:solidFill>
                  <a:srgbClr val="5B6678"/>
                </a:solidFill>
                <a:latin typeface="DejaVu Sans"/>
              </a:rPr>
              <a:t>the system's full interface: its API and its terminal command</a:t>
            </a:r>
          </a:p>
        </p:txBody>
      </p:sp>
      <p:sp>
        <p:nvSpPr>
          <p:cNvPr id="28" name="Rounded Rectangle 27"/>
          <p:cNvSpPr/>
          <p:nvPr/>
        </p:nvSpPr>
        <p:spPr>
          <a:xfrm>
            <a:off x="722376" y="3255263"/>
            <a:ext cx="1965960" cy="23774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3264407"/>
            <a:ext cx="1783080" cy="219456"/>
          </a:xfrm>
          <a:prstGeom prst="rect">
            <a:avLst/>
          </a:prstGeom>
          <a:noFill/>
        </p:spPr>
        <p:txBody>
          <a:bodyPr wrap="square" lIns="0" rIns="0" tIns="0" bIns="0" anchor="ctr">
            <a:spAutoFit/>
          </a:bodyPr>
          <a:lstStyle/>
          <a:p>
            <a:pPr algn="l">
              <a:lnSpc>
                <a:spcPct val="115000"/>
              </a:lnSpc>
            </a:pPr>
            <a:r>
              <a:rPr sz="900" b="1" i="0">
                <a:solidFill>
                  <a:srgbClr val="FFFFFF"/>
                </a:solidFill>
                <a:latin typeface="DejaVu Sans"/>
              </a:rPr>
              <a:t>the MCP toolset</a:t>
            </a:r>
          </a:p>
        </p:txBody>
      </p:sp>
      <p:sp>
        <p:nvSpPr>
          <p:cNvPr id="30" name="TextBox 29"/>
          <p:cNvSpPr txBox="1"/>
          <p:nvPr/>
        </p:nvSpPr>
        <p:spPr>
          <a:xfrm>
            <a:off x="2798064" y="3264407"/>
            <a:ext cx="2651760" cy="219456"/>
          </a:xfrm>
          <a:prstGeom prst="rect">
            <a:avLst/>
          </a:prstGeom>
          <a:noFill/>
        </p:spPr>
        <p:txBody>
          <a:bodyPr wrap="square" lIns="0" rIns="0" tIns="0" bIns="0" anchor="ctr">
            <a:spAutoFit/>
          </a:bodyPr>
          <a:lstStyle/>
          <a:p>
            <a:pPr algn="l">
              <a:lnSpc>
                <a:spcPct val="115000"/>
              </a:lnSpc>
            </a:pPr>
            <a:r>
              <a:rPr sz="900" b="0" i="1">
                <a:solidFill>
                  <a:srgbClr val="5B6678"/>
                </a:solidFill>
                <a:latin typeface="DejaVu Sans"/>
              </a:rPr>
              <a:t>— a subset, not the whole interface</a:t>
            </a:r>
          </a:p>
        </p:txBody>
      </p:sp>
      <p:sp>
        <p:nvSpPr>
          <p:cNvPr id="31" name="TextBox 30"/>
          <p:cNvSpPr txBox="1"/>
          <p:nvPr/>
        </p:nvSpPr>
        <p:spPr>
          <a:xfrm>
            <a:off x="5623560" y="2688336"/>
            <a:ext cx="5897880" cy="786384"/>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The server publishes a curated set of tools rather than the system's whole interface: what is not in the set is out of reach for the agent, even if the system can do it. And every tool schema occupies context permanently — so where the agent already has a shell, a narrow command is often cheaper than an MCP call.</a:t>
            </a:r>
          </a:p>
        </p:txBody>
      </p:sp>
      <p:sp>
        <p:nvSpPr>
          <p:cNvPr id="32" name="Rounded Rectangle 31"/>
          <p:cNvSpPr/>
          <p:nvPr/>
        </p:nvSpPr>
        <p:spPr>
          <a:xfrm>
            <a:off x="502920" y="3694176"/>
            <a:ext cx="5257800" cy="1389888"/>
          </a:xfrm>
          <a:prstGeom prst="roundRect">
            <a:avLst>
              <a:gd name="adj" fmla="val 21929"/>
            </a:avLst>
          </a:prstGeom>
          <a:solidFill>
            <a:srgbClr val="E5EAF0"/>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hield-alert-mid.png"/>
          <p:cNvPicPr>
            <a:picLocks noChangeAspect="1"/>
          </p:cNvPicPr>
          <p:nvPr/>
        </p:nvPicPr>
        <p:blipFill>
          <a:blip r:embed="rId6"/>
          <a:stretch>
            <a:fillRect/>
          </a:stretch>
        </p:blipFill>
        <p:spPr>
          <a:xfrm>
            <a:off x="704088" y="3803904"/>
            <a:ext cx="365760" cy="365760"/>
          </a:xfrm>
          <a:prstGeom prst="rect">
            <a:avLst/>
          </a:prstGeom>
        </p:spPr>
      </p:pic>
      <p:sp>
        <p:nvSpPr>
          <p:cNvPr id="34" name="TextBox 33"/>
          <p:cNvSpPr txBox="1"/>
          <p:nvPr/>
        </p:nvSpPr>
        <p:spPr>
          <a:xfrm>
            <a:off x="1143000" y="3822191"/>
            <a:ext cx="4416552"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The danger: one connection — two corners out of three</a:t>
            </a:r>
          </a:p>
        </p:txBody>
      </p:sp>
      <p:sp>
        <p:nvSpPr>
          <p:cNvPr id="35" name="TextBox 34"/>
          <p:cNvSpPr txBox="1"/>
          <p:nvPr/>
        </p:nvSpPr>
        <p:spPr>
          <a:xfrm>
            <a:off x="704088" y="4114800"/>
            <a:ext cx="4855464" cy="914400"/>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The lethal trifecta: access to data + a channel out + untrusted content. One server usually grants the first two at once, and the third arrives through the same channel. Documented: instructions hidden in public issues exfiltrated private-repository data through the pull requests the agent created.</a:t>
            </a:r>
          </a:p>
        </p:txBody>
      </p:sp>
      <p:sp>
        <p:nvSpPr>
          <p:cNvPr id="36" name="Right Arrow 35"/>
          <p:cNvSpPr/>
          <p:nvPr/>
        </p:nvSpPr>
        <p:spPr>
          <a:xfrm>
            <a:off x="5870448" y="4206240"/>
            <a:ext cx="457200" cy="36576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446520" y="3694176"/>
            <a:ext cx="5257800" cy="1389888"/>
          </a:xfrm>
          <a:prstGeom prst="roundRect">
            <a:avLst>
              <a:gd name="adj" fmla="val 21929"/>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shield-check-teal.png"/>
          <p:cNvPicPr>
            <a:picLocks noChangeAspect="1"/>
          </p:cNvPicPr>
          <p:nvPr/>
        </p:nvPicPr>
        <p:blipFill>
          <a:blip r:embed="rId7"/>
          <a:stretch>
            <a:fillRect/>
          </a:stretch>
        </p:blipFill>
        <p:spPr>
          <a:xfrm>
            <a:off x="6647688" y="3803904"/>
            <a:ext cx="365760" cy="365760"/>
          </a:xfrm>
          <a:prstGeom prst="rect">
            <a:avLst/>
          </a:prstGeom>
        </p:spPr>
      </p:pic>
      <p:sp>
        <p:nvSpPr>
          <p:cNvPr id="39" name="TextBox 38"/>
          <p:cNvSpPr txBox="1"/>
          <p:nvPr/>
        </p:nvSpPr>
        <p:spPr>
          <a:xfrm>
            <a:off x="7086600" y="3822191"/>
            <a:ext cx="4416552" cy="256032"/>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What closes it</a:t>
            </a:r>
          </a:p>
        </p:txBody>
      </p:sp>
      <p:sp>
        <p:nvSpPr>
          <p:cNvPr id="40" name="TextBox 39"/>
          <p:cNvSpPr txBox="1"/>
          <p:nvPr/>
        </p:nvSpPr>
        <p:spPr>
          <a:xfrm>
            <a:off x="6647688" y="4096512"/>
            <a:ext cx="4855464" cy="932688"/>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1. Read-only by default — write tools are skipped, even if the agent asked for them.</a:t>
            </a:r>
          </a:p>
          <a:p>
            <a:pPr algn="l">
              <a:lnSpc>
                <a:spcPct val="110000"/>
              </a:lnSpc>
            </a:pPr>
            <a:r>
              <a:rPr sz="950" b="0" i="0">
                <a:solidFill>
                  <a:srgbClr val="21295C"/>
                </a:solidFill>
                <a:latin typeface="DejaVu Sans"/>
              </a:rPr>
              <a:t>2. Write access is opened for a specific task, as a separate decision, not an out-of-the-box setting.</a:t>
            </a:r>
          </a:p>
          <a:p>
            <a:pPr algn="l">
              <a:lnSpc>
                <a:spcPct val="110000"/>
              </a:lnSpc>
            </a:pPr>
            <a:r>
              <a:rPr sz="950" b="0" i="0">
                <a:solidFill>
                  <a:srgbClr val="21295C"/>
                </a:solidFill>
                <a:latin typeface="DejaVu Sans"/>
              </a:rPr>
              <a:t>3. The fewest servers connected — fewer corners, less context.</a:t>
            </a:r>
          </a:p>
        </p:txBody>
      </p:sp>
      <p:sp>
        <p:nvSpPr>
          <p:cNvPr id="41" name="Rounded Rectangle 4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This is a risk, not a convenience: read-only by default, and write access opened deliberately and per task.</a:t>
            </a:r>
          </a:p>
        </p:txBody>
      </p:sp>
      <p:sp>
        <p:nvSpPr>
          <p:cNvPr id="43" name="TextBox 4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8"/>
              </a:rPr>
              <a:t>GitHub MCP server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9"/>
              </a:rPr>
              <a:t>Playwright MCP server (Microsoft)</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10"/>
              </a:rPr>
              <a:t>Willison — the lethal trifecta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5486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Task logging is grown to fit the task, not taken at maximum</a:t>
            </a:r>
          </a:p>
        </p:txBody>
      </p:sp>
      <p:sp>
        <p:nvSpPr>
          <p:cNvPr id="3" name="TextBox 2"/>
          <p:cNvSpPr txBox="1"/>
          <p:nvPr/>
        </p:nvSpPr>
        <p:spPr>
          <a:xfrm>
            <a:off x="502920" y="969264"/>
            <a:ext cx="11201400" cy="237744"/>
          </a:xfrm>
          <a:prstGeom prst="rect">
            <a:avLst/>
          </a:prstGeom>
          <a:noFill/>
        </p:spPr>
        <p:txBody>
          <a:bodyPr wrap="square" lIns="0" rIns="0" tIns="0" bIns="0" anchor="t">
            <a:spAutoFit/>
          </a:bodyPr>
          <a:lstStyle/>
          <a:p>
            <a:pPr algn="l">
              <a:lnSpc>
                <a:spcPct val="115000"/>
              </a:lnSpc>
            </a:pPr>
            <a:r>
              <a:rPr sz="1100" b="1" i="0">
                <a:solidFill>
                  <a:srgbClr val="1C7293"/>
                </a:solidFill>
                <a:latin typeface="DejaVu Sans"/>
              </a:rPr>
              <a:t>COMPLEXITY GROWS LEFT TO RIGHT:  one file  →  a set of files in one folder  →  a folder structure</a:t>
            </a:r>
          </a:p>
        </p:txBody>
      </p:sp>
      <p:sp>
        <p:nvSpPr>
          <p:cNvPr id="4" name="Rounded Rectangle 3"/>
          <p:cNvSpPr/>
          <p:nvPr/>
        </p:nvSpPr>
        <p:spPr>
          <a:xfrm>
            <a:off x="502920" y="1188720"/>
            <a:ext cx="3636264" cy="475488"/>
          </a:xfrm>
          <a:prstGeom prst="roundRect">
            <a:avLst>
              <a:gd name="adj" fmla="val 1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ordered-white.png"/>
          <p:cNvPicPr>
            <a:picLocks noChangeAspect="1"/>
          </p:cNvPicPr>
          <p:nvPr/>
        </p:nvPicPr>
        <p:blipFill>
          <a:blip r:embed="rId2"/>
          <a:stretch>
            <a:fillRect/>
          </a:stretch>
        </p:blipFill>
        <p:spPr>
          <a:xfrm>
            <a:off x="630936" y="1243584"/>
            <a:ext cx="365760" cy="365760"/>
          </a:xfrm>
          <a:prstGeom prst="rect">
            <a:avLst/>
          </a:prstGeom>
        </p:spPr>
      </p:pic>
      <p:sp>
        <p:nvSpPr>
          <p:cNvPr id="6" name="TextBox 5"/>
          <p:cNvSpPr txBox="1"/>
          <p:nvPr/>
        </p:nvSpPr>
        <p:spPr>
          <a:xfrm>
            <a:off x="1069848" y="1216152"/>
            <a:ext cx="2977896" cy="420624"/>
          </a:xfrm>
          <a:prstGeom prst="rect">
            <a:avLst/>
          </a:prstGeom>
          <a:noFill/>
        </p:spPr>
        <p:txBody>
          <a:bodyPr wrap="square" lIns="0" rIns="0" tIns="0" bIns="0" anchor="ctr">
            <a:spAutoFit/>
          </a:bodyPr>
          <a:lstStyle/>
          <a:p>
            <a:pPr algn="l">
              <a:lnSpc>
                <a:spcPct val="98000"/>
              </a:lnSpc>
            </a:pPr>
            <a:r>
              <a:rPr sz="1150" b="1" i="0">
                <a:solidFill>
                  <a:srgbClr val="FFFFFF"/>
                </a:solidFill>
                <a:latin typeface="DejaVu Sans"/>
              </a:rPr>
              <a:t>(a) One file — a shared log</a:t>
            </a:r>
          </a:p>
        </p:txBody>
      </p:sp>
      <p:sp>
        <p:nvSpPr>
          <p:cNvPr id="7" name="Rounded Rectangle 6"/>
          <p:cNvSpPr/>
          <p:nvPr/>
        </p:nvSpPr>
        <p:spPr>
          <a:xfrm>
            <a:off x="4285488" y="1188720"/>
            <a:ext cx="3636264" cy="47548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ipboard-list-white.png"/>
          <p:cNvPicPr>
            <a:picLocks noChangeAspect="1"/>
          </p:cNvPicPr>
          <p:nvPr/>
        </p:nvPicPr>
        <p:blipFill>
          <a:blip r:embed="rId3"/>
          <a:stretch>
            <a:fillRect/>
          </a:stretch>
        </p:blipFill>
        <p:spPr>
          <a:xfrm>
            <a:off x="4413504" y="1243584"/>
            <a:ext cx="365760" cy="365760"/>
          </a:xfrm>
          <a:prstGeom prst="rect">
            <a:avLst/>
          </a:prstGeom>
        </p:spPr>
      </p:pic>
      <p:sp>
        <p:nvSpPr>
          <p:cNvPr id="9" name="TextBox 8"/>
          <p:cNvSpPr txBox="1"/>
          <p:nvPr/>
        </p:nvSpPr>
        <p:spPr>
          <a:xfrm>
            <a:off x="4852416" y="1216152"/>
            <a:ext cx="2977896" cy="420624"/>
          </a:xfrm>
          <a:prstGeom prst="rect">
            <a:avLst/>
          </a:prstGeom>
          <a:noFill/>
        </p:spPr>
        <p:txBody>
          <a:bodyPr wrap="square" lIns="0" rIns="0" tIns="0" bIns="0" anchor="ctr">
            <a:spAutoFit/>
          </a:bodyPr>
          <a:lstStyle/>
          <a:p>
            <a:pPr algn="l">
              <a:lnSpc>
                <a:spcPct val="98000"/>
              </a:lnSpc>
            </a:pPr>
            <a:r>
              <a:rPr sz="1150" b="1" i="0">
                <a:solidFill>
                  <a:srgbClr val="FFFFFF"/>
                </a:solidFill>
                <a:latin typeface="DejaVu Sans"/>
              </a:rPr>
              <a:t>(b) A folder, one file per task</a:t>
            </a:r>
          </a:p>
        </p:txBody>
      </p:sp>
      <p:sp>
        <p:nvSpPr>
          <p:cNvPr id="10" name="Rounded Rectangle 9"/>
          <p:cNvSpPr/>
          <p:nvPr/>
        </p:nvSpPr>
        <p:spPr>
          <a:xfrm>
            <a:off x="8068056" y="1188720"/>
            <a:ext cx="3636264" cy="475488"/>
          </a:xfrm>
          <a:prstGeom prst="roundRect">
            <a:avLst>
              <a:gd name="adj" fmla="val 1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le-stack-white.png"/>
          <p:cNvPicPr>
            <a:picLocks noChangeAspect="1"/>
          </p:cNvPicPr>
          <p:nvPr/>
        </p:nvPicPr>
        <p:blipFill>
          <a:blip r:embed="rId4"/>
          <a:stretch>
            <a:fillRect/>
          </a:stretch>
        </p:blipFill>
        <p:spPr>
          <a:xfrm>
            <a:off x="8196072" y="1243584"/>
            <a:ext cx="365760" cy="365760"/>
          </a:xfrm>
          <a:prstGeom prst="rect">
            <a:avLst/>
          </a:prstGeom>
        </p:spPr>
      </p:pic>
      <p:sp>
        <p:nvSpPr>
          <p:cNvPr id="12" name="TextBox 11"/>
          <p:cNvSpPr txBox="1"/>
          <p:nvPr/>
        </p:nvSpPr>
        <p:spPr>
          <a:xfrm>
            <a:off x="8634984" y="1216152"/>
            <a:ext cx="2977896" cy="420624"/>
          </a:xfrm>
          <a:prstGeom prst="rect">
            <a:avLst/>
          </a:prstGeom>
          <a:noFill/>
        </p:spPr>
        <p:txBody>
          <a:bodyPr wrap="square" lIns="0" rIns="0" tIns="0" bIns="0" anchor="ctr">
            <a:spAutoFit/>
          </a:bodyPr>
          <a:lstStyle/>
          <a:p>
            <a:pPr algn="l">
              <a:lnSpc>
                <a:spcPct val="98000"/>
              </a:lnSpc>
            </a:pPr>
            <a:r>
              <a:rPr sz="1150" b="1" i="0">
                <a:solidFill>
                  <a:srgbClr val="FFFFFF"/>
                </a:solidFill>
                <a:latin typeface="DejaVu Sans"/>
              </a:rPr>
              <a:t>(c) A folder per task + files</a:t>
            </a:r>
          </a:p>
        </p:txBody>
      </p:sp>
      <p:sp>
        <p:nvSpPr>
          <p:cNvPr id="13" name="Rounded Rectangle 12"/>
          <p:cNvSpPr/>
          <p:nvPr/>
        </p:nvSpPr>
        <p:spPr>
          <a:xfrm>
            <a:off x="502920" y="1719072"/>
            <a:ext cx="3636264" cy="731520"/>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 y="1755648"/>
            <a:ext cx="3380231" cy="219456"/>
          </a:xfrm>
          <a:prstGeom prst="rect">
            <a:avLst/>
          </a:prstGeom>
          <a:noFill/>
        </p:spPr>
        <p:txBody>
          <a:bodyPr wrap="square" lIns="0" rIns="0" tIns="0" bIns="0" anchor="t">
            <a:spAutoFit/>
          </a:bodyPr>
          <a:lstStyle/>
          <a:p>
            <a:pPr algn="l">
              <a:lnSpc>
                <a:spcPct val="115000"/>
              </a:lnSpc>
            </a:pPr>
            <a:r>
              <a:rPr sz="1200" b="1" i="0">
                <a:solidFill>
                  <a:srgbClr val="1C7293"/>
                </a:solidFill>
                <a:latin typeface="DejaVu Sans"/>
              </a:rPr>
              <a:t>SOLO OR A TEAM</a:t>
            </a:r>
          </a:p>
        </p:txBody>
      </p:sp>
      <p:sp>
        <p:nvSpPr>
          <p:cNvPr id="15" name="TextBox 14"/>
          <p:cNvSpPr txBox="1"/>
          <p:nvPr/>
        </p:nvSpPr>
        <p:spPr>
          <a:xfrm>
            <a:off x="630936" y="1993392"/>
            <a:ext cx="3380231" cy="402336"/>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A team — one shared chronology, but frequent merge conflicts</a:t>
            </a:r>
          </a:p>
        </p:txBody>
      </p:sp>
      <p:sp>
        <p:nvSpPr>
          <p:cNvPr id="16" name="Rounded Rectangle 15"/>
          <p:cNvSpPr/>
          <p:nvPr/>
        </p:nvSpPr>
        <p:spPr>
          <a:xfrm>
            <a:off x="4285488" y="1719072"/>
            <a:ext cx="3636264" cy="731520"/>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3504" y="1783080"/>
            <a:ext cx="3380231" cy="603504"/>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A mid-sized team — fewer conflicts</a:t>
            </a:r>
          </a:p>
        </p:txBody>
      </p:sp>
      <p:sp>
        <p:nvSpPr>
          <p:cNvPr id="18" name="Rounded Rectangle 17"/>
          <p:cNvSpPr/>
          <p:nvPr/>
        </p:nvSpPr>
        <p:spPr>
          <a:xfrm>
            <a:off x="8068056" y="1719072"/>
            <a:ext cx="3636264" cy="731520"/>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6072" y="1783080"/>
            <a:ext cx="3380231" cy="603504"/>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One developer or a small team; breeds directories</a:t>
            </a:r>
          </a:p>
        </p:txBody>
      </p:sp>
      <p:sp>
        <p:nvSpPr>
          <p:cNvPr id="20" name="Rounded Rectangle 19"/>
          <p:cNvSpPr/>
          <p:nvPr/>
        </p:nvSpPr>
        <p:spPr>
          <a:xfrm>
            <a:off x="502920" y="2505456"/>
            <a:ext cx="3636264" cy="53035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 y="2542032"/>
            <a:ext cx="3380231" cy="219456"/>
          </a:xfrm>
          <a:prstGeom prst="rect">
            <a:avLst/>
          </a:prstGeom>
          <a:noFill/>
        </p:spPr>
        <p:txBody>
          <a:bodyPr wrap="square" lIns="0" rIns="0" tIns="0" bIns="0" anchor="t">
            <a:spAutoFit/>
          </a:bodyPr>
          <a:lstStyle/>
          <a:p>
            <a:pPr algn="l">
              <a:lnSpc>
                <a:spcPct val="115000"/>
              </a:lnSpc>
            </a:pPr>
            <a:r>
              <a:rPr sz="1200" b="1" i="0">
                <a:solidFill>
                  <a:srgbClr val="1C7293"/>
                </a:solidFill>
                <a:latin typeface="DejaVu Sans"/>
              </a:rPr>
              <a:t>TASK LIFETIME</a:t>
            </a:r>
          </a:p>
        </p:txBody>
      </p:sp>
      <p:sp>
        <p:nvSpPr>
          <p:cNvPr id="22" name="TextBox 21"/>
          <p:cNvSpPr txBox="1"/>
          <p:nvPr/>
        </p:nvSpPr>
        <p:spPr>
          <a:xfrm>
            <a:off x="630936" y="2779776"/>
            <a:ext cx="3380231" cy="201167"/>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Short, frequent</a:t>
            </a:r>
          </a:p>
        </p:txBody>
      </p:sp>
      <p:sp>
        <p:nvSpPr>
          <p:cNvPr id="23" name="Rounded Rectangle 22"/>
          <p:cNvSpPr/>
          <p:nvPr/>
        </p:nvSpPr>
        <p:spPr>
          <a:xfrm>
            <a:off x="4285488" y="2505456"/>
            <a:ext cx="3636264" cy="53035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3504" y="2569464"/>
            <a:ext cx="3380231" cy="402335"/>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"1 context window = 1 pull request"</a:t>
            </a:r>
          </a:p>
        </p:txBody>
      </p:sp>
      <p:sp>
        <p:nvSpPr>
          <p:cNvPr id="25" name="Rounded Rectangle 24"/>
          <p:cNvSpPr/>
          <p:nvPr/>
        </p:nvSpPr>
        <p:spPr>
          <a:xfrm>
            <a:off x="8068056" y="2505456"/>
            <a:ext cx="3636264" cy="530352"/>
          </a:xfrm>
          <a:prstGeom prst="roundRect">
            <a:avLst>
              <a:gd name="adj" fmla="val 6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6072" y="2569464"/>
            <a:ext cx="3380231" cy="402335"/>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Long-lived, complex</a:t>
            </a:r>
          </a:p>
        </p:txBody>
      </p:sp>
      <p:sp>
        <p:nvSpPr>
          <p:cNvPr id="27" name="Rounded Rectangle 26"/>
          <p:cNvSpPr/>
          <p:nvPr/>
        </p:nvSpPr>
        <p:spPr>
          <a:xfrm>
            <a:off x="502920" y="3090672"/>
            <a:ext cx="3636264" cy="658368"/>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127248"/>
            <a:ext cx="3380231" cy="219456"/>
          </a:xfrm>
          <a:prstGeom prst="rect">
            <a:avLst/>
          </a:prstGeom>
          <a:noFill/>
        </p:spPr>
        <p:txBody>
          <a:bodyPr wrap="square" lIns="0" rIns="0" tIns="0" bIns="0" anchor="t">
            <a:spAutoFit/>
          </a:bodyPr>
          <a:lstStyle/>
          <a:p>
            <a:pPr algn="l">
              <a:lnSpc>
                <a:spcPct val="115000"/>
              </a:lnSpc>
            </a:pPr>
            <a:r>
              <a:rPr sz="1200" b="1" i="0">
                <a:solidFill>
                  <a:srgbClr val="1C7293"/>
                </a:solidFill>
                <a:latin typeface="DejaVu Sans"/>
              </a:rPr>
              <a:t>AUDIT TRAIL</a:t>
            </a:r>
          </a:p>
        </p:txBody>
      </p:sp>
      <p:sp>
        <p:nvSpPr>
          <p:cNvPr id="29" name="TextBox 28"/>
          <p:cNvSpPr txBox="1"/>
          <p:nvPr/>
        </p:nvSpPr>
        <p:spPr>
          <a:xfrm>
            <a:off x="630936" y="3364991"/>
            <a:ext cx="3380231" cy="329184"/>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Chronological — "what and when"</a:t>
            </a:r>
          </a:p>
        </p:txBody>
      </p:sp>
      <p:sp>
        <p:nvSpPr>
          <p:cNvPr id="30" name="Rounded Rectangle 29"/>
          <p:cNvSpPr/>
          <p:nvPr/>
        </p:nvSpPr>
        <p:spPr>
          <a:xfrm>
            <a:off x="4285488" y="3090672"/>
            <a:ext cx="3636264" cy="658368"/>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13504" y="3154679"/>
            <a:ext cx="3380231" cy="530352"/>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Partial — outcome + structured fields</a:t>
            </a:r>
          </a:p>
        </p:txBody>
      </p:sp>
      <p:sp>
        <p:nvSpPr>
          <p:cNvPr id="32" name="Rounded Rectangle 31"/>
          <p:cNvSpPr/>
          <p:nvPr/>
        </p:nvSpPr>
        <p:spPr>
          <a:xfrm>
            <a:off x="8068056" y="3090672"/>
            <a:ext cx="3636264" cy="658368"/>
          </a:xfrm>
          <a:prstGeom prst="roundRect">
            <a:avLst>
              <a:gd name="adj" fmla="val 6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6072" y="3154679"/>
            <a:ext cx="3380231" cy="530352"/>
          </a:xfrm>
          <a:prstGeom prst="rect">
            <a:avLst/>
          </a:prstGeom>
          <a:noFill/>
        </p:spPr>
        <p:txBody>
          <a:bodyPr wrap="square" lIns="0" rIns="0" tIns="0" bIns="0" anchor="t">
            <a:spAutoFit/>
          </a:bodyPr>
          <a:lstStyle/>
          <a:p>
            <a:pPr algn="l">
              <a:lnSpc>
                <a:spcPct val="106000"/>
              </a:lnSpc>
            </a:pPr>
            <a:r>
              <a:rPr sz="1300" b="0" i="0">
                <a:solidFill>
                  <a:srgbClr val="21295C"/>
                </a:solidFill>
                <a:latin typeface="DejaVu Sans"/>
              </a:rPr>
              <a:t>Detailed — intermediate steps of the reasoning</a:t>
            </a:r>
          </a:p>
        </p:txBody>
      </p:sp>
      <p:sp>
        <p:nvSpPr>
          <p:cNvPr id="34" name="TextBox 33"/>
          <p:cNvSpPr txBox="1"/>
          <p:nvPr/>
        </p:nvSpPr>
        <p:spPr>
          <a:xfrm>
            <a:off x="502920" y="3803904"/>
            <a:ext cx="11201400" cy="274320"/>
          </a:xfrm>
          <a:prstGeom prst="rect">
            <a:avLst/>
          </a:prstGeom>
          <a:noFill/>
        </p:spPr>
        <p:txBody>
          <a:bodyPr wrap="square" lIns="0" rIns="0" tIns="0" bIns="0" anchor="t">
            <a:spAutoFit/>
          </a:bodyPr>
          <a:lstStyle/>
          <a:p>
            <a:pPr algn="l">
              <a:lnSpc>
                <a:spcPct val="115000"/>
              </a:lnSpc>
            </a:pPr>
            <a:r>
              <a:rPr sz="1100" b="1" i="0">
                <a:solidFill>
                  <a:srgbClr val="5B6678"/>
                </a:solidFill>
                <a:latin typeface="DejaVu Sans"/>
              </a:rPr>
              <a:t>Example:  </a:t>
            </a:r>
            <a:r>
              <a:rPr sz="1100" b="0" i="1">
                <a:solidFill>
                  <a:srgbClr val="1C7293"/>
                </a:solidFill>
                <a:latin typeface="DejaVu Sans Mono"/>
              </a:rPr>
              <a:t>notes/decisions.md</a:t>
            </a:r>
            <a:r>
              <a:rPr sz="1100" b="0" i="0">
                <a:solidFill>
                  <a:srgbClr val="5B6678"/>
                </a:solidFill>
                <a:latin typeface="DejaVu Sans"/>
              </a:rPr>
              <a:t>   ·   </a:t>
            </a:r>
            <a:r>
              <a:rPr sz="1100" b="0" i="1">
                <a:solidFill>
                  <a:srgbClr val="065A82"/>
                </a:solidFill>
                <a:latin typeface="DejaVu Sans Mono"/>
              </a:rPr>
              <a:t>Backlog.md</a:t>
            </a:r>
            <a:r>
              <a:rPr sz="1100" b="0" i="0">
                <a:solidFill>
                  <a:srgbClr val="5B6678"/>
                </a:solidFill>
                <a:latin typeface="DejaVu Sans"/>
              </a:rPr>
              <a:t>   ·   </a:t>
            </a:r>
            <a:r>
              <a:rPr sz="1100" b="0" i="1">
                <a:solidFill>
                  <a:srgbClr val="21295C"/>
                </a:solidFill>
                <a:latin typeface="DejaVu Sans Mono"/>
              </a:rPr>
              <a:t>notes/research/*.md</a:t>
            </a:r>
          </a:p>
        </p:txBody>
      </p:sp>
      <p:sp>
        <p:nvSpPr>
          <p:cNvPr id="35" name="Rounded Rectangle 34"/>
          <p:cNvSpPr/>
          <p:nvPr/>
        </p:nvSpPr>
        <p:spPr>
          <a:xfrm>
            <a:off x="502920" y="4096512"/>
            <a:ext cx="7498079" cy="1042415"/>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layout-grid-teal.png"/>
          <p:cNvPicPr>
            <a:picLocks noChangeAspect="1"/>
          </p:cNvPicPr>
          <p:nvPr/>
        </p:nvPicPr>
        <p:blipFill>
          <a:blip r:embed="rId5"/>
          <a:stretch>
            <a:fillRect/>
          </a:stretch>
        </p:blipFill>
        <p:spPr>
          <a:xfrm>
            <a:off x="667512" y="4169664"/>
            <a:ext cx="347472" cy="347472"/>
          </a:xfrm>
          <a:prstGeom prst="rect">
            <a:avLst/>
          </a:prstGeom>
        </p:spPr>
      </p:pic>
      <p:sp>
        <p:nvSpPr>
          <p:cNvPr id="37" name="TextBox 36"/>
          <p:cNvSpPr txBox="1"/>
          <p:nvPr/>
        </p:nvSpPr>
        <p:spPr>
          <a:xfrm>
            <a:off x="1088136" y="4178808"/>
            <a:ext cx="6729983"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DejaVu Sans"/>
              </a:rPr>
              <a:t>A fourth option — the log in the tracker (Jira, Linear, GitHub Issues)</a:t>
            </a:r>
          </a:p>
        </p:txBody>
      </p:sp>
      <p:sp>
        <p:nvSpPr>
          <p:cNvPr id="38" name="TextBox 37"/>
          <p:cNvSpPr txBox="1"/>
          <p:nvPr/>
        </p:nvSpPr>
        <p:spPr>
          <a:xfrm>
            <a:off x="667512" y="4498848"/>
            <a:ext cx="7168895" cy="585216"/>
          </a:xfrm>
          <a:prstGeom prst="rect">
            <a:avLst/>
          </a:prstGeom>
          <a:noFill/>
        </p:spPr>
        <p:txBody>
          <a:bodyPr wrap="square" lIns="0" rIns="0" tIns="0" bIns="0" anchor="t">
            <a:spAutoFit/>
          </a:bodyPr>
          <a:lstStyle/>
          <a:p>
            <a:pPr algn="l">
              <a:lnSpc>
                <a:spcPct val="108000"/>
              </a:lnSpc>
            </a:pPr>
            <a:r>
              <a:rPr sz="950" b="1" i="0">
                <a:solidFill>
                  <a:srgbClr val="028090"/>
                </a:solidFill>
                <a:latin typeface="DejaVu Sans"/>
              </a:rPr>
              <a:t>For: </a:t>
            </a:r>
            <a:r>
              <a:rPr sz="950" b="0" i="0">
                <a:solidFill>
                  <a:srgbClr val="21295C"/>
                </a:solidFill>
                <a:latin typeface="DejaVu Sans"/>
              </a:rPr>
              <a:t>visible to non-technical participants, fits the process the team already has, keeps the repository clean.</a:t>
            </a:r>
          </a:p>
          <a:p>
            <a:pPr algn="l">
              <a:lnSpc>
                <a:spcPct val="108000"/>
              </a:lnSpc>
              <a:spcBef>
                <a:spcPts val="200"/>
              </a:spcBef>
            </a:pPr>
            <a:r>
              <a:rPr sz="950" b="1" i="0">
                <a:solidFill>
                  <a:srgbClr val="21295C"/>
                </a:solidFill>
                <a:latin typeface="DejaVu Sans"/>
              </a:rPr>
              <a:t>Against: </a:t>
            </a:r>
            <a:r>
              <a:rPr sz="950" b="0" i="0">
                <a:solidFill>
                  <a:srgbClr val="21295C"/>
                </a:solidFill>
                <a:latin typeface="DejaVu Sans"/>
              </a:rPr>
              <a:t>it sits outside the agent's file context — you need a bridge over MCP or an API; an extra external dependency and a network call instead of a local read.</a:t>
            </a:r>
          </a:p>
        </p:txBody>
      </p:sp>
      <p:sp>
        <p:nvSpPr>
          <p:cNvPr id="39" name="Rounded Rectangle 38"/>
          <p:cNvSpPr/>
          <p:nvPr/>
        </p:nvSpPr>
        <p:spPr>
          <a:xfrm>
            <a:off x="8092440" y="4096512"/>
            <a:ext cx="3611880" cy="1042415"/>
          </a:xfrm>
          <a:prstGeom prst="roundRect">
            <a:avLst>
              <a:gd name="adj" fmla="val 8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4187952"/>
            <a:ext cx="3319272" cy="859536"/>
          </a:xfrm>
          <a:prstGeom prst="rect">
            <a:avLst/>
          </a:prstGeom>
          <a:noFill/>
        </p:spPr>
        <p:txBody>
          <a:bodyPr wrap="square" lIns="0" rIns="0" tIns="0" bIns="0" anchor="t">
            <a:spAutoFit/>
          </a:bodyPr>
          <a:lstStyle/>
          <a:p>
            <a:pPr algn="l">
              <a:lnSpc>
                <a:spcPct val="108000"/>
              </a:lnSpc>
            </a:pPr>
            <a:r>
              <a:rPr sz="950" b="1" i="0">
                <a:solidFill>
                  <a:srgbClr val="5B6678"/>
                </a:solidFill>
                <a:latin typeface="DejaVu Sans"/>
              </a:rPr>
              <a:t>Not a task log at all: </a:t>
            </a:r>
            <a:r>
              <a:rPr sz="950" b="0" i="1">
                <a:solidFill>
                  <a:srgbClr val="5B6678"/>
                </a:solidFill>
                <a:latin typeface="DejaVu Sans"/>
              </a:rPr>
              <a:t>the built-in TodoWrite/Task* lives inside one session; commit history as the only log — workable, but formalized nowhere.</a:t>
            </a:r>
          </a:p>
        </p:txBody>
      </p:sp>
      <p:sp>
        <p:nvSpPr>
          <p:cNvPr id="41" name="Rounded Rectangle 4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criterion is compound: who works + how long the task lives + why an audit trail is needed — not whatever came to hand first.</a:t>
            </a:r>
          </a:p>
        </p:txBody>
      </p:sp>
      <p:sp>
        <p:nvSpPr>
          <p:cNvPr id="43" name="TextBox 4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Backlog.md — open-source project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Claude Docs — best practices (Task tools)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530352"/>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Git conventions are a team agreement, not a requirement of git</a:t>
            </a:r>
          </a:p>
        </p:txBody>
      </p:sp>
      <p:sp>
        <p:nvSpPr>
          <p:cNvPr id="3" name="Rounded Rectangle 2"/>
          <p:cNvSpPr/>
          <p:nvPr/>
        </p:nvSpPr>
        <p:spPr>
          <a:xfrm>
            <a:off x="502920" y="969264"/>
            <a:ext cx="1120140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s-teal.png"/>
          <p:cNvPicPr>
            <a:picLocks noChangeAspect="1"/>
          </p:cNvPicPr>
          <p:nvPr/>
        </p:nvPicPr>
        <p:blipFill>
          <a:blip r:embed="rId2"/>
          <a:stretch>
            <a:fillRect/>
          </a:stretch>
        </p:blipFill>
        <p:spPr>
          <a:xfrm>
            <a:off x="685800" y="1133856"/>
            <a:ext cx="384048" cy="384048"/>
          </a:xfrm>
          <a:prstGeom prst="rect">
            <a:avLst/>
          </a:prstGeom>
        </p:spPr>
      </p:pic>
      <p:sp>
        <p:nvSpPr>
          <p:cNvPr id="5" name="TextBox 4"/>
          <p:cNvSpPr txBox="1"/>
          <p:nvPr/>
        </p:nvSpPr>
        <p:spPr>
          <a:xfrm>
            <a:off x="1197864" y="1060704"/>
            <a:ext cx="10323576"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Git itself is indifferent to what a commit message says and how a branch is named — it checks none of it. A convention is a voluntary team agreement, written down in AGENTS.md: shape the history the same way every time, so that both a human and a program can parse it. An agent follows only the agreement it can see written down.</a:t>
            </a:r>
          </a:p>
        </p:txBody>
      </p:sp>
      <p:sp>
        <p:nvSpPr>
          <p:cNvPr id="6" name="Rounded Rectangle 5"/>
          <p:cNvSpPr/>
          <p:nvPr/>
        </p:nvSpPr>
        <p:spPr>
          <a:xfrm>
            <a:off x="502920" y="1773936"/>
            <a:ext cx="3611879"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901952"/>
            <a:ext cx="1417320"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Commit</a:t>
            </a:r>
          </a:p>
        </p:txBody>
      </p:sp>
      <p:pic>
        <p:nvPicPr>
          <p:cNvPr id="8" name="Picture 7" descr="git-compare-mid.png"/>
          <p:cNvPicPr>
            <a:picLocks noChangeAspect="1"/>
          </p:cNvPicPr>
          <p:nvPr/>
        </p:nvPicPr>
        <p:blipFill>
          <a:blip r:embed="rId3"/>
          <a:stretch>
            <a:fillRect/>
          </a:stretch>
        </p:blipFill>
        <p:spPr>
          <a:xfrm>
            <a:off x="3547872" y="1883664"/>
            <a:ext cx="365760" cy="365760"/>
          </a:xfrm>
          <a:prstGeom prst="rect">
            <a:avLst/>
          </a:prstGeom>
        </p:spPr>
      </p:pic>
      <p:sp>
        <p:nvSpPr>
          <p:cNvPr id="9" name="TextBox 8"/>
          <p:cNvSpPr txBox="1"/>
          <p:nvPr/>
        </p:nvSpPr>
        <p:spPr>
          <a:xfrm>
            <a:off x="685800" y="2304288"/>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IS</a:t>
            </a:r>
          </a:p>
        </p:txBody>
      </p:sp>
      <p:sp>
        <p:nvSpPr>
          <p:cNvPr id="10" name="TextBox 9"/>
          <p:cNvSpPr txBox="1"/>
          <p:nvPr/>
        </p:nvSpPr>
        <p:spPr>
          <a:xfrm>
            <a:off x="685800" y="2505456"/>
            <a:ext cx="3246120" cy="475488"/>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An agreed-in-advance shape for the first line of a commit: first a marker for "what kind of change is this", then the description.</a:t>
            </a:r>
          </a:p>
        </p:txBody>
      </p:sp>
      <p:sp>
        <p:nvSpPr>
          <p:cNvPr id="11" name="Rounded Rectangle 10"/>
          <p:cNvSpPr/>
          <p:nvPr/>
        </p:nvSpPr>
        <p:spPr>
          <a:xfrm>
            <a:off x="685800" y="3017520"/>
            <a:ext cx="3246120" cy="384048"/>
          </a:xfrm>
          <a:prstGeom prst="roundRect">
            <a:avLst>
              <a:gd name="adj" fmla="val 10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72384"/>
            <a:ext cx="3063239" cy="292608"/>
          </a:xfrm>
          <a:prstGeom prst="rect">
            <a:avLst/>
          </a:prstGeom>
          <a:noFill/>
        </p:spPr>
        <p:txBody>
          <a:bodyPr wrap="square" lIns="0" rIns="0" tIns="0" bIns="0" anchor="t">
            <a:spAutoFit/>
          </a:bodyPr>
          <a:lstStyle/>
          <a:p>
            <a:pPr algn="l">
              <a:lnSpc>
                <a:spcPct val="112000"/>
              </a:lnSpc>
            </a:pPr>
            <a:r>
              <a:rPr sz="800" b="0" i="0">
                <a:solidFill>
                  <a:srgbClr val="5B6678"/>
                </a:solidFill>
                <a:latin typeface="DejaVu Sans Mono"/>
              </a:rPr>
              <a:t>feat(auth): sign-in with a one-time code</a:t>
            </a:r>
          </a:p>
          <a:p>
            <a:pPr algn="l">
              <a:lnSpc>
                <a:spcPct val="112000"/>
              </a:lnSpc>
            </a:pPr>
            <a:r>
              <a:rPr sz="800" b="0" i="0">
                <a:solidFill>
                  <a:srgbClr val="5B6678"/>
                </a:solidFill>
                <a:latin typeface="DejaVu Sans Mono"/>
              </a:rPr>
              <a:t>fix(api): do not drop the header on retry</a:t>
            </a:r>
          </a:p>
        </p:txBody>
      </p:sp>
      <p:sp>
        <p:nvSpPr>
          <p:cNvPr id="13" name="TextBox 12"/>
          <p:cNvSpPr txBox="1"/>
          <p:nvPr/>
        </p:nvSpPr>
        <p:spPr>
          <a:xfrm>
            <a:off x="685800" y="3474720"/>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WHY IT IS NEEDED</a:t>
            </a:r>
          </a:p>
        </p:txBody>
      </p:sp>
      <p:sp>
        <p:nvSpPr>
          <p:cNvPr id="14" name="TextBox 13"/>
          <p:cNvSpPr txBox="1"/>
          <p:nvPr/>
        </p:nvSpPr>
        <p:spPr>
          <a:xfrm>
            <a:off x="685800" y="3675887"/>
            <a:ext cx="3246120" cy="100584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That marker is read by a program, not a human: from it, the release changelog and the new version number assemble themselves (fix → 2.4.1, feat → 2.5.0). An agent commits an order of magnitude more often than a human — there is no longer anyone to re-read every commit by eye.</a:t>
            </a:r>
          </a:p>
        </p:txBody>
      </p:sp>
      <p:sp>
        <p:nvSpPr>
          <p:cNvPr id="15" name="Rounded Rectangle 14"/>
          <p:cNvSpPr/>
          <p:nvPr/>
        </p:nvSpPr>
        <p:spPr>
          <a:xfrm>
            <a:off x="4297679" y="1773936"/>
            <a:ext cx="3611879"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80559" y="1901952"/>
            <a:ext cx="1417320"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Branch</a:t>
            </a:r>
          </a:p>
        </p:txBody>
      </p:sp>
      <p:pic>
        <p:nvPicPr>
          <p:cNvPr id="17" name="Picture 16" descr="git-branch-teal.png"/>
          <p:cNvPicPr>
            <a:picLocks noChangeAspect="1"/>
          </p:cNvPicPr>
          <p:nvPr/>
        </p:nvPicPr>
        <p:blipFill>
          <a:blip r:embed="rId4"/>
          <a:stretch>
            <a:fillRect/>
          </a:stretch>
        </p:blipFill>
        <p:spPr>
          <a:xfrm>
            <a:off x="7342631" y="1883664"/>
            <a:ext cx="365760" cy="365760"/>
          </a:xfrm>
          <a:prstGeom prst="rect">
            <a:avLst/>
          </a:prstGeom>
        </p:spPr>
      </p:pic>
      <p:sp>
        <p:nvSpPr>
          <p:cNvPr id="18" name="TextBox 17"/>
          <p:cNvSpPr txBox="1"/>
          <p:nvPr/>
        </p:nvSpPr>
        <p:spPr>
          <a:xfrm>
            <a:off x="4480559" y="2304288"/>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IS</a:t>
            </a:r>
          </a:p>
        </p:txBody>
      </p:sp>
      <p:sp>
        <p:nvSpPr>
          <p:cNvPr id="19" name="TextBox 18"/>
          <p:cNvSpPr txBox="1"/>
          <p:nvPr/>
        </p:nvSpPr>
        <p:spPr>
          <a:xfrm>
            <a:off x="4480559" y="2505456"/>
            <a:ext cx="3246120" cy="475488"/>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Task type, a slash, a short lowercase description. For an agent's branches — dedicated prefixes.</a:t>
            </a:r>
          </a:p>
        </p:txBody>
      </p:sp>
      <p:sp>
        <p:nvSpPr>
          <p:cNvPr id="20" name="Rounded Rectangle 19"/>
          <p:cNvSpPr/>
          <p:nvPr/>
        </p:nvSpPr>
        <p:spPr>
          <a:xfrm>
            <a:off x="4480559" y="3017520"/>
            <a:ext cx="3246120" cy="384048"/>
          </a:xfrm>
          <a:prstGeom prst="roundRect">
            <a:avLst>
              <a:gd name="adj" fmla="val 10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3072384"/>
            <a:ext cx="3063239" cy="292608"/>
          </a:xfrm>
          <a:prstGeom prst="rect">
            <a:avLst/>
          </a:prstGeom>
          <a:noFill/>
        </p:spPr>
        <p:txBody>
          <a:bodyPr wrap="square" lIns="0" rIns="0" tIns="0" bIns="0" anchor="t">
            <a:spAutoFit/>
          </a:bodyPr>
          <a:lstStyle/>
          <a:p>
            <a:pPr algn="l">
              <a:lnSpc>
                <a:spcPct val="112000"/>
              </a:lnSpc>
            </a:pPr>
            <a:r>
              <a:rPr sz="800" b="0" i="0">
                <a:solidFill>
                  <a:srgbClr val="5B6678"/>
                </a:solidFill>
                <a:latin typeface="DejaVu Sans Mono"/>
              </a:rPr>
              <a:t>claude/security-patch</a:t>
            </a:r>
          </a:p>
          <a:p>
            <a:pPr algn="l">
              <a:lnSpc>
                <a:spcPct val="112000"/>
              </a:lnSpc>
            </a:pPr>
            <a:r>
              <a:rPr sz="800" b="0" i="0">
                <a:solidFill>
                  <a:srgbClr val="5B6678"/>
                </a:solidFill>
                <a:latin typeface="DejaVu Sans Mono"/>
              </a:rPr>
              <a:t>ai/refactor-auth-flow</a:t>
            </a:r>
          </a:p>
        </p:txBody>
      </p:sp>
      <p:sp>
        <p:nvSpPr>
          <p:cNvPr id="22" name="TextBox 21"/>
          <p:cNvSpPr txBox="1"/>
          <p:nvPr/>
        </p:nvSpPr>
        <p:spPr>
          <a:xfrm>
            <a:off x="4480559" y="3474720"/>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WHY IT IS NEEDED</a:t>
            </a:r>
          </a:p>
        </p:txBody>
      </p:sp>
      <p:sp>
        <p:nvSpPr>
          <p:cNvPr id="23" name="TextBox 22"/>
          <p:cNvSpPr txBox="1"/>
          <p:nvPr/>
        </p:nvSpPr>
        <p:spPr>
          <a:xfrm>
            <a:off x="4480559" y="3675887"/>
            <a:ext cx="3246120" cy="100584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branch name is the only thing a reviewer sees before opening the changes. The prefix says immediately that an agent drove this branch, and such branches can carry their own rule. Without an agreement the branch list reads "test2" and "fix-final".</a:t>
            </a:r>
          </a:p>
        </p:txBody>
      </p:sp>
      <p:sp>
        <p:nvSpPr>
          <p:cNvPr id="24" name="Rounded Rectangle 23"/>
          <p:cNvSpPr/>
          <p:nvPr/>
        </p:nvSpPr>
        <p:spPr>
          <a:xfrm>
            <a:off x="8092440" y="1773936"/>
            <a:ext cx="3611879"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75319" y="1901952"/>
            <a:ext cx="1417320"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Description</a:t>
            </a:r>
          </a:p>
        </p:txBody>
      </p:sp>
      <p:pic>
        <p:nvPicPr>
          <p:cNvPr id="26" name="Picture 25" descr="git-pull-request-mid.png"/>
          <p:cNvPicPr>
            <a:picLocks noChangeAspect="1"/>
          </p:cNvPicPr>
          <p:nvPr/>
        </p:nvPicPr>
        <p:blipFill>
          <a:blip r:embed="rId5"/>
          <a:stretch>
            <a:fillRect/>
          </a:stretch>
        </p:blipFill>
        <p:spPr>
          <a:xfrm>
            <a:off x="11137392" y="1883664"/>
            <a:ext cx="365760" cy="365760"/>
          </a:xfrm>
          <a:prstGeom prst="rect">
            <a:avLst/>
          </a:prstGeom>
        </p:spPr>
      </p:pic>
      <p:sp>
        <p:nvSpPr>
          <p:cNvPr id="27" name="TextBox 26"/>
          <p:cNvSpPr txBox="1"/>
          <p:nvPr/>
        </p:nvSpPr>
        <p:spPr>
          <a:xfrm>
            <a:off x="8275319" y="2304288"/>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IS</a:t>
            </a:r>
          </a:p>
        </p:txBody>
      </p:sp>
      <p:sp>
        <p:nvSpPr>
          <p:cNvPr id="28" name="TextBox 27"/>
          <p:cNvSpPr txBox="1"/>
          <p:nvPr/>
        </p:nvSpPr>
        <p:spPr>
          <a:xfrm>
            <a:off x="8275319" y="2505456"/>
            <a:ext cx="3246120" cy="475488"/>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A pull request — the window where changes are shown to a human before they reach shared code.</a:t>
            </a:r>
          </a:p>
        </p:txBody>
      </p:sp>
      <p:sp>
        <p:nvSpPr>
          <p:cNvPr id="29" name="Rounded Rectangle 28"/>
          <p:cNvSpPr/>
          <p:nvPr/>
        </p:nvSpPr>
        <p:spPr>
          <a:xfrm>
            <a:off x="8275319" y="3017520"/>
            <a:ext cx="3246120" cy="384048"/>
          </a:xfrm>
          <a:prstGeom prst="roundRect">
            <a:avLst>
              <a:gd name="adj" fmla="val 10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66760" y="3072384"/>
            <a:ext cx="3063239" cy="292608"/>
          </a:xfrm>
          <a:prstGeom prst="rect">
            <a:avLst/>
          </a:prstGeom>
          <a:noFill/>
        </p:spPr>
        <p:txBody>
          <a:bodyPr wrap="square" lIns="0" rIns="0" tIns="0" bIns="0" anchor="t">
            <a:spAutoFit/>
          </a:bodyPr>
          <a:lstStyle/>
          <a:p>
            <a:pPr algn="l">
              <a:lnSpc>
                <a:spcPct val="112000"/>
              </a:lnSpc>
            </a:pPr>
            <a:r>
              <a:rPr sz="800" b="0" i="0">
                <a:solidFill>
                  <a:srgbClr val="5B6678"/>
                </a:solidFill>
                <a:latin typeface="DejaVu Sans Mono"/>
              </a:rPr>
              <a:t>Why → What changed → What was not touched →</a:t>
            </a:r>
          </a:p>
          <a:p>
            <a:pPr algn="l">
              <a:lnSpc>
                <a:spcPct val="112000"/>
              </a:lnSpc>
            </a:pPr>
            <a:r>
              <a:rPr sz="800" b="0" i="0">
                <a:solidFill>
                  <a:srgbClr val="5B6678"/>
                </a:solidFill>
                <a:latin typeface="DejaVu Sans Mono"/>
              </a:rPr>
              <a:t>How it was checked → Risks → Deferred</a:t>
            </a:r>
          </a:p>
        </p:txBody>
      </p:sp>
      <p:sp>
        <p:nvSpPr>
          <p:cNvPr id="31" name="TextBox 30"/>
          <p:cNvSpPr txBox="1"/>
          <p:nvPr/>
        </p:nvSpPr>
        <p:spPr>
          <a:xfrm>
            <a:off x="8275319" y="3474720"/>
            <a:ext cx="3246120" cy="182880"/>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WHY IT IS NEEDED</a:t>
            </a:r>
          </a:p>
        </p:txBody>
      </p:sp>
      <p:sp>
        <p:nvSpPr>
          <p:cNvPr id="32" name="TextBox 31"/>
          <p:cNvSpPr txBox="1"/>
          <p:nvPr/>
        </p:nvSpPr>
        <p:spPr>
          <a:xfrm>
            <a:off x="8275319" y="3675887"/>
            <a:ext cx="3246120" cy="100584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The reviewer spends time on checking, not on reconstructing the intent. The biggest saving is the "what was not touched" line: no hunting for side effects where there were none. Without a template every request is shaped differently. The agent fills the template in as it works.</a:t>
            </a:r>
          </a:p>
        </p:txBody>
      </p:sp>
      <p:sp>
        <p:nvSpPr>
          <p:cNvPr id="33" name="TextBox 32"/>
          <p:cNvSpPr txBox="1"/>
          <p:nvPr/>
        </p:nvSpPr>
        <p:spPr>
          <a:xfrm>
            <a:off x="502920" y="4882896"/>
            <a:ext cx="11201400" cy="274320"/>
          </a:xfrm>
          <a:prstGeom prst="rect">
            <a:avLst/>
          </a:prstGeom>
          <a:noFill/>
        </p:spPr>
        <p:txBody>
          <a:bodyPr wrap="square" lIns="0" rIns="0" tIns="0" bIns="0" anchor="t">
            <a:spAutoFit/>
          </a:bodyPr>
          <a:lstStyle/>
          <a:p>
            <a:pPr algn="ctr">
              <a:lnSpc>
                <a:spcPct val="108000"/>
              </a:lnSpc>
            </a:pPr>
            <a:r>
              <a:rPr sz="1050" b="0" i="1">
                <a:solidFill>
                  <a:srgbClr val="5B6678"/>
                </a:solidFill>
                <a:latin typeface="DejaVu Sans"/>
              </a:rPr>
              <a:t>A rule common to all three: an agent never commits straight into the shared branch — every task gets its own. The same thing this course asks of people.</a:t>
            </a:r>
          </a:p>
        </p:txBody>
      </p:sp>
      <p:sp>
        <p:nvSpPr>
          <p:cNvPr id="34" name="Rounded Rectangle 3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An agreement written down nowhere does not work: an agent follows only the rule it can see in AGENTS.md.</a:t>
            </a:r>
          </a:p>
        </p:txBody>
      </p:sp>
      <p:sp>
        <p:nvSpPr>
          <p:cNvPr id="36" name="TextBox 3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Conventional Commits v1.0.0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Conventional Branch v1.1.0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1850" b="1" i="0">
                <a:solidFill>
                  <a:srgbClr val="21295C"/>
                </a:solidFill>
                <a:latin typeface="DejaVu Sans"/>
              </a:rPr>
              <a:t>Secrets are a separate contract: .gitignore does not mean "the agent will not read it either"</a:t>
            </a:r>
          </a:p>
        </p:txBody>
      </p:sp>
      <p:sp>
        <p:nvSpPr>
          <p:cNvPr id="3" name="Rounded Rectangle 2"/>
          <p:cNvSpPr/>
          <p:nvPr/>
        </p:nvSpPr>
        <p:spPr>
          <a:xfrm>
            <a:off x="502920" y="1316736"/>
            <a:ext cx="5989320"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ey-mid.png"/>
          <p:cNvPicPr>
            <a:picLocks noChangeAspect="1"/>
          </p:cNvPicPr>
          <p:nvPr/>
        </p:nvPicPr>
        <p:blipFill>
          <a:blip r:embed="rId2"/>
          <a:stretch>
            <a:fillRect/>
          </a:stretch>
        </p:blipFill>
        <p:spPr>
          <a:xfrm>
            <a:off x="704088" y="1444752"/>
            <a:ext cx="420624" cy="420624"/>
          </a:xfrm>
          <a:prstGeom prst="rect">
            <a:avLst/>
          </a:prstGeom>
        </p:spPr>
      </p:pic>
      <p:sp>
        <p:nvSpPr>
          <p:cNvPr id="5" name="TextBox 4"/>
          <p:cNvSpPr txBox="1"/>
          <p:nvPr/>
        </p:nvSpPr>
        <p:spPr>
          <a:xfrm>
            <a:off x="1252728" y="1481328"/>
            <a:ext cx="5020056"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Register, 2026-01-28 </a:t>
            </a:r>
            <a:r>
              <a:rPr sz="650" baseline="30000" b="0" i="1">
                <a:latin typeface="DejaVu Sans"/>
                <a:cs typeface="DejaVu Sans"/>
                <a:ea typeface="DejaVu Sans"/>
                <a:solidFill>
                  <a:srgbClr val="1C7293"/>
                </a:solidFill>
              </a:rPr>
              <a:t>[1]</a:t>
            </a:r>
          </a:p>
        </p:txBody>
      </p:sp>
      <p:sp>
        <p:nvSpPr>
          <p:cNvPr id="6" name="TextBox 5"/>
          <p:cNvSpPr txBox="1"/>
          <p:nvPr/>
        </p:nvSpPr>
        <p:spPr>
          <a:xfrm>
            <a:off x="722376" y="1883664"/>
            <a:ext cx="5550408" cy="73152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Claude Code (v2.1.12) read .env despite both .gitignore and .claudeignore — it warns about credentials and prints the contents anyway. At least 4 open issues.</a:t>
            </a:r>
          </a:p>
        </p:txBody>
      </p:sp>
      <p:sp>
        <p:nvSpPr>
          <p:cNvPr id="7" name="Rounded Rectangle 6"/>
          <p:cNvSpPr/>
          <p:nvPr/>
        </p:nvSpPr>
        <p:spPr>
          <a:xfrm>
            <a:off x="722376" y="2633472"/>
            <a:ext cx="5550408" cy="438912"/>
          </a:xfrm>
          <a:prstGeom prst="roundRect">
            <a:avLst>
              <a:gd name="adj" fmla="val 1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679191"/>
            <a:ext cx="5257800" cy="347472"/>
          </a:xfrm>
          <a:prstGeom prst="rect">
            <a:avLst/>
          </a:prstGeom>
          <a:noFill/>
        </p:spPr>
        <p:txBody>
          <a:bodyPr wrap="square" lIns="0" rIns="0" tIns="0" bIns="0" anchor="ctr">
            <a:spAutoFit/>
          </a:bodyPr>
          <a:lstStyle/>
          <a:p>
            <a:pPr algn="l">
              <a:lnSpc>
                <a:spcPct val="115000"/>
              </a:lnSpc>
            </a:pPr>
            <a:r>
              <a:rPr sz="950" b="0" i="1">
                <a:solidFill>
                  <a:srgbClr val="21295C"/>
                </a:solidFill>
                <a:latin typeface="DejaVu Sans Mono"/>
              </a:rPr>
              <a:t>"Ignored by git" and "ignored by Claude Code" are two different things.</a:t>
            </a:r>
          </a:p>
        </p:txBody>
      </p:sp>
      <p:sp>
        <p:nvSpPr>
          <p:cNvPr id="9" name="Rounded Rectangle 8"/>
          <p:cNvSpPr/>
          <p:nvPr/>
        </p:nvSpPr>
        <p:spPr>
          <a:xfrm>
            <a:off x="502920" y="3273552"/>
            <a:ext cx="5989320" cy="1737360"/>
          </a:xfrm>
          <a:prstGeom prst="roundRect">
            <a:avLst>
              <a:gd name="adj" fmla="val 17543"/>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ield-alert-mid.png"/>
          <p:cNvPicPr>
            <a:picLocks noChangeAspect="1"/>
          </p:cNvPicPr>
          <p:nvPr/>
        </p:nvPicPr>
        <p:blipFill>
          <a:blip r:embed="rId3"/>
          <a:stretch>
            <a:fillRect/>
          </a:stretch>
        </p:blipFill>
        <p:spPr>
          <a:xfrm>
            <a:off x="704088" y="3401568"/>
            <a:ext cx="402336" cy="402336"/>
          </a:xfrm>
          <a:prstGeom prst="rect">
            <a:avLst/>
          </a:prstGeom>
        </p:spPr>
      </p:pic>
      <p:sp>
        <p:nvSpPr>
          <p:cNvPr id="11" name="TextBox 10"/>
          <p:cNvSpPr txBox="1"/>
          <p:nvPr/>
        </p:nvSpPr>
        <p:spPr>
          <a:xfrm>
            <a:off x="1234440" y="3419856"/>
            <a:ext cx="5038344" cy="329184"/>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permissions.deny does not block Bash</a:t>
            </a:r>
          </a:p>
        </p:txBody>
      </p:sp>
      <p:sp>
        <p:nvSpPr>
          <p:cNvPr id="12" name="TextBox 11"/>
          <p:cNvSpPr txBox="1"/>
          <p:nvPr/>
        </p:nvSpPr>
        <p:spPr>
          <a:xfrm>
            <a:off x="722376" y="3803904"/>
            <a:ext cx="5550408" cy="1097280"/>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deny(Read(./.env)) blocks the built-in file tool — but `cat .env` through Bash walks around the rule. Two independent contracts: closing this needs OS-level sandboxing.</a:t>
            </a:r>
          </a:p>
        </p:txBody>
      </p:sp>
      <p:sp>
        <p:nvSpPr>
          <p:cNvPr id="13" name="Rounded Rectangle 12"/>
          <p:cNvSpPr/>
          <p:nvPr/>
        </p:nvSpPr>
        <p:spPr>
          <a:xfrm>
            <a:off x="6675120" y="1316736"/>
            <a:ext cx="5029200" cy="3749039"/>
          </a:xfrm>
          <a:prstGeom prst="roundRect">
            <a:avLst>
              <a:gd name="adj" fmla="val 813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teal.png"/>
          <p:cNvPicPr>
            <a:picLocks noChangeAspect="1"/>
          </p:cNvPicPr>
          <p:nvPr/>
        </p:nvPicPr>
        <p:blipFill>
          <a:blip r:embed="rId4"/>
          <a:stretch>
            <a:fillRect/>
          </a:stretch>
        </p:blipFill>
        <p:spPr>
          <a:xfrm>
            <a:off x="6876288" y="1463039"/>
            <a:ext cx="420624" cy="420624"/>
          </a:xfrm>
          <a:prstGeom prst="rect">
            <a:avLst/>
          </a:prstGeom>
        </p:spPr>
      </p:pic>
      <p:sp>
        <p:nvSpPr>
          <p:cNvPr id="15" name="TextBox 14"/>
          <p:cNvSpPr txBox="1"/>
          <p:nvPr/>
        </p:nvSpPr>
        <p:spPr>
          <a:xfrm>
            <a:off x="7424927" y="1499616"/>
            <a:ext cx="4078224"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 three-layer defense</a:t>
            </a:r>
          </a:p>
        </p:txBody>
      </p:sp>
      <p:sp>
        <p:nvSpPr>
          <p:cNvPr id="16" name="Oval 15"/>
          <p:cNvSpPr/>
          <p:nvPr/>
        </p:nvSpPr>
        <p:spPr>
          <a:xfrm>
            <a:off x="6894576" y="1975104"/>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94576" y="1975104"/>
            <a:ext cx="329184" cy="329184"/>
          </a:xfrm>
          <a:prstGeom prst="rect">
            <a:avLst/>
          </a:prstGeom>
          <a:noFill/>
        </p:spPr>
        <p:txBody>
          <a:bodyPr wrap="square" lIns="0" rIns="0" tIns="0" bIns="0" anchor="ctr">
            <a:spAutoFit/>
          </a:bodyPr>
          <a:lstStyle/>
          <a:p>
            <a:pPr algn="ctr">
              <a:lnSpc>
                <a:spcPct val="115000"/>
              </a:lnSpc>
            </a:pPr>
            <a:r>
              <a:rPr sz="1300" b="1" i="0">
                <a:solidFill>
                  <a:srgbClr val="FFFFFF"/>
                </a:solidFill>
                <a:latin typeface="DejaVu Sans"/>
              </a:rPr>
              <a:t>1</a:t>
            </a:r>
          </a:p>
        </p:txBody>
      </p:sp>
      <p:sp>
        <p:nvSpPr>
          <p:cNvPr id="18" name="TextBox 17"/>
          <p:cNvSpPr txBox="1"/>
          <p:nvPr/>
        </p:nvSpPr>
        <p:spPr>
          <a:xfrm>
            <a:off x="7333488" y="1956816"/>
            <a:ext cx="4133087" cy="292608"/>
          </a:xfrm>
          <a:prstGeom prst="rect">
            <a:avLst/>
          </a:prstGeom>
          <a:noFill/>
        </p:spPr>
        <p:txBody>
          <a:bodyPr wrap="square" lIns="0" rIns="0" tIns="0" bIns="0" anchor="t">
            <a:spAutoFit/>
          </a:bodyPr>
          <a:lstStyle/>
          <a:p>
            <a:pPr algn="l">
              <a:lnSpc>
                <a:spcPct val="100000"/>
              </a:lnSpc>
            </a:pPr>
            <a:r>
              <a:rPr sz="1150" b="1" i="0">
                <a:solidFill>
                  <a:srgbClr val="21295C"/>
                </a:solidFill>
                <a:latin typeface="DejaVu Sans"/>
              </a:rPr>
              <a:t>pre-commit hook (Gitleaks)</a:t>
            </a:r>
          </a:p>
        </p:txBody>
      </p:sp>
      <p:sp>
        <p:nvSpPr>
          <p:cNvPr id="19" name="TextBox 18"/>
          <p:cNvSpPr txBox="1"/>
          <p:nvPr/>
        </p:nvSpPr>
        <p:spPr>
          <a:xfrm>
            <a:off x="7333488" y="2267712"/>
            <a:ext cx="4133087" cy="566928"/>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local and fast — but bypassable with --no-verify: an advisory barrier, not a binding one.</a:t>
            </a:r>
          </a:p>
        </p:txBody>
      </p:sp>
      <p:sp>
        <p:nvSpPr>
          <p:cNvPr id="20" name="Oval 19"/>
          <p:cNvSpPr/>
          <p:nvPr/>
        </p:nvSpPr>
        <p:spPr>
          <a:xfrm>
            <a:off x="6894576" y="2980944"/>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94576" y="2980944"/>
            <a:ext cx="329184" cy="329184"/>
          </a:xfrm>
          <a:prstGeom prst="rect">
            <a:avLst/>
          </a:prstGeom>
          <a:noFill/>
        </p:spPr>
        <p:txBody>
          <a:bodyPr wrap="square" lIns="0" rIns="0" tIns="0" bIns="0" anchor="ctr">
            <a:spAutoFit/>
          </a:bodyPr>
          <a:lstStyle/>
          <a:p>
            <a:pPr algn="ctr">
              <a:lnSpc>
                <a:spcPct val="115000"/>
              </a:lnSpc>
            </a:pPr>
            <a:r>
              <a:rPr sz="1300" b="1" i="0">
                <a:solidFill>
                  <a:srgbClr val="FFFFFF"/>
                </a:solidFill>
                <a:latin typeface="DejaVu Sans"/>
              </a:rPr>
              <a:t>2</a:t>
            </a:r>
          </a:p>
        </p:txBody>
      </p:sp>
      <p:sp>
        <p:nvSpPr>
          <p:cNvPr id="22" name="TextBox 21"/>
          <p:cNvSpPr txBox="1"/>
          <p:nvPr/>
        </p:nvSpPr>
        <p:spPr>
          <a:xfrm>
            <a:off x="7333488" y="2962656"/>
            <a:ext cx="4133087" cy="292608"/>
          </a:xfrm>
          <a:prstGeom prst="rect">
            <a:avLst/>
          </a:prstGeom>
          <a:noFill/>
        </p:spPr>
        <p:txBody>
          <a:bodyPr wrap="square" lIns="0" rIns="0" tIns="0" bIns="0" anchor="t">
            <a:spAutoFit/>
          </a:bodyPr>
          <a:lstStyle/>
          <a:p>
            <a:pPr algn="l">
              <a:lnSpc>
                <a:spcPct val="100000"/>
              </a:lnSpc>
            </a:pPr>
            <a:r>
              <a:rPr sz="1150" b="1" i="0">
                <a:solidFill>
                  <a:srgbClr val="21295C"/>
                </a:solidFill>
                <a:latin typeface="DejaVu Sans"/>
              </a:rPr>
              <a:t>CI gate (Gitleaks + TruffleHog verified)</a:t>
            </a:r>
          </a:p>
        </p:txBody>
      </p:sp>
      <p:sp>
        <p:nvSpPr>
          <p:cNvPr id="23" name="TextBox 22"/>
          <p:cNvSpPr txBox="1"/>
          <p:nvPr/>
        </p:nvSpPr>
        <p:spPr>
          <a:xfrm>
            <a:off x="7333488" y="3273552"/>
            <a:ext cx="4133087" cy="566928"/>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on every PR — a binding gate: CI cannot be dodged by branching around the hook.</a:t>
            </a:r>
          </a:p>
        </p:txBody>
      </p:sp>
      <p:sp>
        <p:nvSpPr>
          <p:cNvPr id="24" name="Oval 23"/>
          <p:cNvSpPr/>
          <p:nvPr/>
        </p:nvSpPr>
        <p:spPr>
          <a:xfrm>
            <a:off x="6894576" y="3986784"/>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94576" y="3986784"/>
            <a:ext cx="329184" cy="329184"/>
          </a:xfrm>
          <a:prstGeom prst="rect">
            <a:avLst/>
          </a:prstGeom>
          <a:noFill/>
        </p:spPr>
        <p:txBody>
          <a:bodyPr wrap="square" lIns="0" rIns="0" tIns="0" bIns="0" anchor="ctr">
            <a:spAutoFit/>
          </a:bodyPr>
          <a:lstStyle/>
          <a:p>
            <a:pPr algn="ctr">
              <a:lnSpc>
                <a:spcPct val="115000"/>
              </a:lnSpc>
            </a:pPr>
            <a:r>
              <a:rPr sz="1300" b="1" i="0">
                <a:solidFill>
                  <a:srgbClr val="FFFFFF"/>
                </a:solidFill>
                <a:latin typeface="DejaVu Sans"/>
              </a:rPr>
              <a:t>3</a:t>
            </a:r>
          </a:p>
        </p:txBody>
      </p:sp>
      <p:sp>
        <p:nvSpPr>
          <p:cNvPr id="26" name="TextBox 25"/>
          <p:cNvSpPr txBox="1"/>
          <p:nvPr/>
        </p:nvSpPr>
        <p:spPr>
          <a:xfrm>
            <a:off x="7333488" y="3968496"/>
            <a:ext cx="4133087" cy="292608"/>
          </a:xfrm>
          <a:prstGeom prst="rect">
            <a:avLst/>
          </a:prstGeom>
          <a:noFill/>
        </p:spPr>
        <p:txBody>
          <a:bodyPr wrap="square" lIns="0" rIns="0" tIns="0" bIns="0" anchor="t">
            <a:spAutoFit/>
          </a:bodyPr>
          <a:lstStyle/>
          <a:p>
            <a:pPr algn="l">
              <a:lnSpc>
                <a:spcPct val="100000"/>
              </a:lnSpc>
            </a:pPr>
            <a:r>
              <a:rPr sz="1150" b="1" i="0">
                <a:solidFill>
                  <a:srgbClr val="21295C"/>
                </a:solidFill>
                <a:latin typeface="DejaVu Sans"/>
              </a:rPr>
              <a:t>server-side push protection</a:t>
            </a:r>
          </a:p>
        </p:txBody>
      </p:sp>
      <p:sp>
        <p:nvSpPr>
          <p:cNvPr id="27" name="TextBox 26"/>
          <p:cNvSpPr txBox="1"/>
          <p:nvPr/>
        </p:nvSpPr>
        <p:spPr>
          <a:xfrm>
            <a:off x="7333488" y="4279392"/>
            <a:ext cx="4133087" cy="566928"/>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at the git-hosting level — holds even when client hooks are bypassed.</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What you commit and what the agent is allowed to read are two different, independently configured contracts; closing one does not close the other.</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The Register — Claude Code reads .env despite .gitignore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Gitleaks — rule-first secret scanner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TruffleHog — verification-first scanner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53035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Every parallel session gets its own folder; all they share is the history</a:t>
            </a:r>
          </a:p>
        </p:txBody>
      </p:sp>
      <p:sp>
        <p:nvSpPr>
          <p:cNvPr id="3" name="TextBox 2"/>
          <p:cNvSpPr txBox="1"/>
          <p:nvPr/>
        </p:nvSpPr>
        <p:spPr>
          <a:xfrm>
            <a:off x="502920" y="1207007"/>
            <a:ext cx="914400" cy="603504"/>
          </a:xfrm>
          <a:prstGeom prst="rect">
            <a:avLst/>
          </a:prstGeom>
          <a:noFill/>
        </p:spPr>
        <p:txBody>
          <a:bodyPr wrap="square" lIns="0" rIns="0" tIns="0" bIns="0" anchor="ctr">
            <a:spAutoFit/>
          </a:bodyPr>
          <a:lstStyle/>
          <a:p>
            <a:pPr algn="r">
              <a:lnSpc>
                <a:spcPct val="106000"/>
              </a:lnSpc>
            </a:pPr>
            <a:r>
              <a:rPr sz="950" b="1" i="0">
                <a:solidFill>
                  <a:srgbClr val="1C7293"/>
                </a:solidFill>
                <a:latin typeface="DejaVu Sans"/>
              </a:rPr>
              <a:t>SESSIONS</a:t>
            </a:r>
          </a:p>
        </p:txBody>
      </p:sp>
      <p:sp>
        <p:nvSpPr>
          <p:cNvPr id="4" name="TextBox 3"/>
          <p:cNvSpPr txBox="1"/>
          <p:nvPr/>
        </p:nvSpPr>
        <p:spPr>
          <a:xfrm>
            <a:off x="502920" y="1901952"/>
            <a:ext cx="914400" cy="676656"/>
          </a:xfrm>
          <a:prstGeom prst="rect">
            <a:avLst/>
          </a:prstGeom>
          <a:noFill/>
        </p:spPr>
        <p:txBody>
          <a:bodyPr wrap="square" lIns="0" rIns="0" tIns="0" bIns="0" anchor="ctr">
            <a:spAutoFit/>
          </a:bodyPr>
          <a:lstStyle/>
          <a:p>
            <a:pPr algn="r">
              <a:lnSpc>
                <a:spcPct val="106000"/>
              </a:lnSpc>
            </a:pPr>
            <a:r>
              <a:rPr sz="950" b="1" i="0">
                <a:solidFill>
                  <a:srgbClr val="1C7293"/>
                </a:solidFill>
                <a:latin typeface="DejaVu Sans"/>
              </a:rPr>
              <a:t>FILES</a:t>
            </a:r>
          </a:p>
          <a:p>
            <a:pPr algn="r">
              <a:lnSpc>
                <a:spcPct val="106000"/>
              </a:lnSpc>
            </a:pPr>
            <a:r>
              <a:rPr sz="950" b="1" i="0">
                <a:solidFill>
                  <a:srgbClr val="1C7293"/>
                </a:solidFill>
                <a:latin typeface="DejaVu Sans"/>
              </a:rPr>
              <a:t>IN PROGRESS</a:t>
            </a:r>
          </a:p>
        </p:txBody>
      </p:sp>
      <p:sp>
        <p:nvSpPr>
          <p:cNvPr id="5" name="TextBox 4"/>
          <p:cNvSpPr txBox="1"/>
          <p:nvPr/>
        </p:nvSpPr>
        <p:spPr>
          <a:xfrm>
            <a:off x="502920" y="2670048"/>
            <a:ext cx="914400" cy="603504"/>
          </a:xfrm>
          <a:prstGeom prst="rect">
            <a:avLst/>
          </a:prstGeom>
          <a:noFill/>
        </p:spPr>
        <p:txBody>
          <a:bodyPr wrap="square" lIns="0" rIns="0" tIns="0" bIns="0" anchor="ctr">
            <a:spAutoFit/>
          </a:bodyPr>
          <a:lstStyle/>
          <a:p>
            <a:pPr algn="r">
              <a:lnSpc>
                <a:spcPct val="106000"/>
              </a:lnSpc>
            </a:pPr>
            <a:r>
              <a:rPr sz="950" b="1" i="0">
                <a:solidFill>
                  <a:srgbClr val="1C7293"/>
                </a:solidFill>
                <a:latin typeface="DejaVu Sans"/>
              </a:rPr>
              <a:t>HISTORY</a:t>
            </a:r>
          </a:p>
          <a:p>
            <a:pPr algn="r">
              <a:lnSpc>
                <a:spcPct val="106000"/>
              </a:lnSpc>
            </a:pPr>
            <a:r>
              <a:rPr sz="950" b="1" i="0">
                <a:solidFill>
                  <a:srgbClr val="1C7293"/>
                </a:solidFill>
                <a:latin typeface="DejaVu Sans"/>
              </a:rPr>
              <a:t>.git</a:t>
            </a:r>
          </a:p>
        </p:txBody>
      </p:sp>
      <p:sp>
        <p:nvSpPr>
          <p:cNvPr id="6" name="Rounded Rectangle 5"/>
          <p:cNvSpPr/>
          <p:nvPr/>
        </p:nvSpPr>
        <p:spPr>
          <a:xfrm>
            <a:off x="1517904" y="896112"/>
            <a:ext cx="4956048" cy="2633472"/>
          </a:xfrm>
          <a:prstGeom prst="roundRect">
            <a:avLst>
              <a:gd name="adj" fmla="val 11574"/>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iangle-alert-gold.png"/>
          <p:cNvPicPr>
            <a:picLocks noChangeAspect="1"/>
          </p:cNvPicPr>
          <p:nvPr/>
        </p:nvPicPr>
        <p:blipFill>
          <a:blip r:embed="rId2"/>
          <a:stretch>
            <a:fillRect/>
          </a:stretch>
        </p:blipFill>
        <p:spPr>
          <a:xfrm>
            <a:off x="1664207" y="950976"/>
            <a:ext cx="310896" cy="310896"/>
          </a:xfrm>
          <a:prstGeom prst="rect">
            <a:avLst/>
          </a:prstGeom>
        </p:spPr>
      </p:pic>
      <p:sp>
        <p:nvSpPr>
          <p:cNvPr id="8" name="TextBox 7"/>
          <p:cNvSpPr txBox="1"/>
          <p:nvPr/>
        </p:nvSpPr>
        <p:spPr>
          <a:xfrm>
            <a:off x="2066543" y="950976"/>
            <a:ext cx="4261103" cy="27432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Without worktree — one folder for everyone</a:t>
            </a:r>
          </a:p>
        </p:txBody>
      </p:sp>
      <p:sp>
        <p:nvSpPr>
          <p:cNvPr id="9" name="Rounded Rectangle 8"/>
          <p:cNvSpPr/>
          <p:nvPr/>
        </p:nvSpPr>
        <p:spPr>
          <a:xfrm>
            <a:off x="1664207"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A</a:t>
            </a:r>
          </a:p>
        </p:txBody>
      </p:sp>
      <p:sp>
        <p:nvSpPr>
          <p:cNvPr id="10" name="Down Arrow 9"/>
          <p:cNvSpPr/>
          <p:nvPr/>
        </p:nvSpPr>
        <p:spPr>
          <a:xfrm>
            <a:off x="2327148" y="1773936"/>
            <a:ext cx="155448" cy="182880"/>
          </a:xfrm>
          <a:prstGeom prst="downArrow">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55263"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B</a:t>
            </a:r>
          </a:p>
        </p:txBody>
      </p:sp>
      <p:sp>
        <p:nvSpPr>
          <p:cNvPr id="12" name="Down Arrow 11"/>
          <p:cNvSpPr/>
          <p:nvPr/>
        </p:nvSpPr>
        <p:spPr>
          <a:xfrm>
            <a:off x="3918203" y="1773936"/>
            <a:ext cx="155448" cy="182880"/>
          </a:xfrm>
          <a:prstGeom prst="downArrow">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46319"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C</a:t>
            </a:r>
          </a:p>
        </p:txBody>
      </p:sp>
      <p:sp>
        <p:nvSpPr>
          <p:cNvPr id="14" name="Down Arrow 13"/>
          <p:cNvSpPr/>
          <p:nvPr/>
        </p:nvSpPr>
        <p:spPr>
          <a:xfrm>
            <a:off x="5509259" y="1773936"/>
            <a:ext cx="155448" cy="182880"/>
          </a:xfrm>
          <a:prstGeom prst="downArrow">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664207" y="1956816"/>
            <a:ext cx="4663440" cy="566928"/>
          </a:xfrm>
          <a:prstGeom prst="roundRect">
            <a:avLst>
              <a:gd name="adj" fmla="val 8000"/>
            </a:avLst>
          </a:prstGeom>
          <a:solidFill>
            <a:srgbClr val="E5EAF0"/>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stack-mid.png"/>
          <p:cNvPicPr>
            <a:picLocks noChangeAspect="1"/>
          </p:cNvPicPr>
          <p:nvPr/>
        </p:nvPicPr>
        <p:blipFill>
          <a:blip r:embed="rId3"/>
          <a:stretch>
            <a:fillRect/>
          </a:stretch>
        </p:blipFill>
        <p:spPr>
          <a:xfrm>
            <a:off x="1792224" y="2075688"/>
            <a:ext cx="310896" cy="310896"/>
          </a:xfrm>
          <a:prstGeom prst="rect">
            <a:avLst/>
          </a:prstGeom>
        </p:spPr>
      </p:pic>
      <p:sp>
        <p:nvSpPr>
          <p:cNvPr id="17" name="TextBox 16"/>
          <p:cNvSpPr txBox="1"/>
          <p:nvPr/>
        </p:nvSpPr>
        <p:spPr>
          <a:xfrm>
            <a:off x="2176272" y="2011680"/>
            <a:ext cx="4023359" cy="219456"/>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one working copy for all</a:t>
            </a:r>
          </a:p>
        </p:txBody>
      </p:sp>
      <p:sp>
        <p:nvSpPr>
          <p:cNvPr id="18" name="TextBox 17"/>
          <p:cNvSpPr txBox="1"/>
          <p:nvPr/>
        </p:nvSpPr>
        <p:spPr>
          <a:xfrm>
            <a:off x="2176272" y="2231136"/>
            <a:ext cx="4023359" cy="237744"/>
          </a:xfrm>
          <a:prstGeom prst="rect">
            <a:avLst/>
          </a:prstGeom>
          <a:noFill/>
        </p:spPr>
        <p:txBody>
          <a:bodyPr wrap="square" lIns="0" rIns="0" tIns="0" bIns="0" anchor="t">
            <a:spAutoFit/>
          </a:bodyPr>
          <a:lstStyle/>
          <a:p>
            <a:pPr algn="l">
              <a:lnSpc>
                <a:spcPct val="115000"/>
              </a:lnSpc>
            </a:pPr>
            <a:r>
              <a:rPr sz="950" b="0" i="0">
                <a:solidFill>
                  <a:srgbClr val="5B6678"/>
                </a:solidFill>
                <a:latin typeface="DejaVu Sans"/>
              </a:rPr>
              <a:t>uncommitted edits sit in the very same files</a:t>
            </a:r>
          </a:p>
        </p:txBody>
      </p:sp>
      <p:sp>
        <p:nvSpPr>
          <p:cNvPr id="19" name="Down Arrow 18"/>
          <p:cNvSpPr/>
          <p:nvPr/>
        </p:nvSpPr>
        <p:spPr>
          <a:xfrm>
            <a:off x="3918204" y="2578608"/>
            <a:ext cx="155448" cy="182880"/>
          </a:xfrm>
          <a:prstGeom prst="downArrow">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64207" y="2724912"/>
            <a:ext cx="4663440" cy="493776"/>
          </a:xfrm>
          <a:prstGeom prst="roundRect">
            <a:avLst>
              <a:gd name="adj" fmla="val 9000"/>
            </a:avLst>
          </a:prstGeom>
          <a:solidFill>
            <a:srgbClr val="E5EAF0"/>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mid.png"/>
          <p:cNvPicPr>
            <a:picLocks noChangeAspect="1"/>
          </p:cNvPicPr>
          <p:nvPr/>
        </p:nvPicPr>
        <p:blipFill>
          <a:blip r:embed="rId4"/>
          <a:stretch>
            <a:fillRect/>
          </a:stretch>
        </p:blipFill>
        <p:spPr>
          <a:xfrm>
            <a:off x="1792224" y="2807208"/>
            <a:ext cx="310896" cy="310896"/>
          </a:xfrm>
          <a:prstGeom prst="rect">
            <a:avLst/>
          </a:prstGeom>
        </p:spPr>
      </p:pic>
      <p:sp>
        <p:nvSpPr>
          <p:cNvPr id="22" name="TextBox 21"/>
          <p:cNvSpPr txBox="1"/>
          <p:nvPr/>
        </p:nvSpPr>
        <p:spPr>
          <a:xfrm>
            <a:off x="2176272" y="2761488"/>
            <a:ext cx="4023359" cy="420624"/>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one repository history</a:t>
            </a:r>
          </a:p>
        </p:txBody>
      </p:sp>
      <p:sp>
        <p:nvSpPr>
          <p:cNvPr id="23" name="TextBox 22"/>
          <p:cNvSpPr txBox="1"/>
          <p:nvPr/>
        </p:nvSpPr>
        <p:spPr>
          <a:xfrm>
            <a:off x="1517904" y="3584448"/>
            <a:ext cx="4956048" cy="329184"/>
          </a:xfrm>
          <a:prstGeom prst="rect">
            <a:avLst/>
          </a:prstGeom>
          <a:noFill/>
        </p:spPr>
        <p:txBody>
          <a:bodyPr wrap="square" lIns="0" rIns="0" tIns="0" bIns="0" anchor="t">
            <a:spAutoFit/>
          </a:bodyPr>
          <a:lstStyle/>
          <a:p>
            <a:pPr algn="l">
              <a:lnSpc>
                <a:spcPct val="112000"/>
              </a:lnSpc>
            </a:pPr>
            <a:r>
              <a:rPr sz="1000" b="0" i="0">
                <a:solidFill>
                  <a:srgbClr val="5B6678"/>
                </a:solidFill>
                <a:latin typeface="DejaVu Sans"/>
              </a:rPr>
              <a:t>What breaks: one session silently switches another's working tree — claude-code #60295. This course lost hours to it.</a:t>
            </a:r>
          </a:p>
        </p:txBody>
      </p:sp>
      <p:sp>
        <p:nvSpPr>
          <p:cNvPr id="24" name="Rounded Rectangle 23"/>
          <p:cNvSpPr/>
          <p:nvPr/>
        </p:nvSpPr>
        <p:spPr>
          <a:xfrm>
            <a:off x="6748272" y="896112"/>
            <a:ext cx="4956048" cy="2633472"/>
          </a:xfrm>
          <a:prstGeom prst="roundRect">
            <a:avLst>
              <a:gd name="adj" fmla="val 11574"/>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check-teal.png"/>
          <p:cNvPicPr>
            <a:picLocks noChangeAspect="1"/>
          </p:cNvPicPr>
          <p:nvPr/>
        </p:nvPicPr>
        <p:blipFill>
          <a:blip r:embed="rId5"/>
          <a:stretch>
            <a:fillRect/>
          </a:stretch>
        </p:blipFill>
        <p:spPr>
          <a:xfrm>
            <a:off x="6894576" y="950976"/>
            <a:ext cx="310896" cy="310896"/>
          </a:xfrm>
          <a:prstGeom prst="rect">
            <a:avLst/>
          </a:prstGeom>
        </p:spPr>
      </p:pic>
      <p:sp>
        <p:nvSpPr>
          <p:cNvPr id="26" name="TextBox 25"/>
          <p:cNvSpPr txBox="1"/>
          <p:nvPr/>
        </p:nvSpPr>
        <p:spPr>
          <a:xfrm>
            <a:off x="7296912" y="950976"/>
            <a:ext cx="4261103" cy="274320"/>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With worktree — a folder of its own per session</a:t>
            </a:r>
          </a:p>
        </p:txBody>
      </p:sp>
      <p:sp>
        <p:nvSpPr>
          <p:cNvPr id="27" name="Rounded Rectangle 26"/>
          <p:cNvSpPr/>
          <p:nvPr/>
        </p:nvSpPr>
        <p:spPr>
          <a:xfrm>
            <a:off x="6894576"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A</a:t>
            </a:r>
          </a:p>
        </p:txBody>
      </p:sp>
      <p:sp>
        <p:nvSpPr>
          <p:cNvPr id="28" name="Down Arrow 27"/>
          <p:cNvSpPr/>
          <p:nvPr/>
        </p:nvSpPr>
        <p:spPr>
          <a:xfrm>
            <a:off x="7557515" y="1773936"/>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894576" y="1956816"/>
            <a:ext cx="1481328" cy="566928"/>
          </a:xfrm>
          <a:prstGeom prst="roundRect">
            <a:avLst>
              <a:gd name="adj" fmla="val 10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2011680"/>
            <a:ext cx="1371600" cy="219456"/>
          </a:xfrm>
          <a:prstGeom prst="rect">
            <a:avLst/>
          </a:prstGeom>
          <a:noFill/>
        </p:spPr>
        <p:txBody>
          <a:bodyPr wrap="square" lIns="0" rIns="0" tIns="0" bIns="0" anchor="t">
            <a:spAutoFit/>
          </a:bodyPr>
          <a:lstStyle/>
          <a:p>
            <a:pPr algn="ctr">
              <a:lnSpc>
                <a:spcPct val="115000"/>
              </a:lnSpc>
            </a:pPr>
            <a:r>
              <a:rPr sz="1050" b="1" i="0">
                <a:solidFill>
                  <a:srgbClr val="028090"/>
                </a:solidFill>
                <a:latin typeface="DejaVu Sans Mono"/>
              </a:rPr>
              <a:t>/wt-a</a:t>
            </a:r>
          </a:p>
        </p:txBody>
      </p:sp>
      <p:sp>
        <p:nvSpPr>
          <p:cNvPr id="31" name="TextBox 30"/>
          <p:cNvSpPr txBox="1"/>
          <p:nvPr/>
        </p:nvSpPr>
        <p:spPr>
          <a:xfrm>
            <a:off x="6949440" y="2231136"/>
            <a:ext cx="1371600" cy="237744"/>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its own branch</a:t>
            </a:r>
          </a:p>
        </p:txBody>
      </p:sp>
      <p:sp>
        <p:nvSpPr>
          <p:cNvPr id="32" name="Down Arrow 31"/>
          <p:cNvSpPr/>
          <p:nvPr/>
        </p:nvSpPr>
        <p:spPr>
          <a:xfrm>
            <a:off x="7557515" y="2578608"/>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485632"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B</a:t>
            </a:r>
          </a:p>
        </p:txBody>
      </p:sp>
      <p:sp>
        <p:nvSpPr>
          <p:cNvPr id="34" name="Down Arrow 33"/>
          <p:cNvSpPr/>
          <p:nvPr/>
        </p:nvSpPr>
        <p:spPr>
          <a:xfrm>
            <a:off x="9148572" y="1773936"/>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485632" y="1956816"/>
            <a:ext cx="1481328" cy="566928"/>
          </a:xfrm>
          <a:prstGeom prst="roundRect">
            <a:avLst>
              <a:gd name="adj" fmla="val 10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11680"/>
            <a:ext cx="1371600" cy="219456"/>
          </a:xfrm>
          <a:prstGeom prst="rect">
            <a:avLst/>
          </a:prstGeom>
          <a:noFill/>
        </p:spPr>
        <p:txBody>
          <a:bodyPr wrap="square" lIns="0" rIns="0" tIns="0" bIns="0" anchor="t">
            <a:spAutoFit/>
          </a:bodyPr>
          <a:lstStyle/>
          <a:p>
            <a:pPr algn="ctr">
              <a:lnSpc>
                <a:spcPct val="115000"/>
              </a:lnSpc>
            </a:pPr>
            <a:r>
              <a:rPr sz="1050" b="1" i="0">
                <a:solidFill>
                  <a:srgbClr val="028090"/>
                </a:solidFill>
                <a:latin typeface="DejaVu Sans Mono"/>
              </a:rPr>
              <a:t>/wt-b</a:t>
            </a:r>
          </a:p>
        </p:txBody>
      </p:sp>
      <p:sp>
        <p:nvSpPr>
          <p:cNvPr id="37" name="TextBox 36"/>
          <p:cNvSpPr txBox="1"/>
          <p:nvPr/>
        </p:nvSpPr>
        <p:spPr>
          <a:xfrm>
            <a:off x="8540496" y="2231136"/>
            <a:ext cx="1371600" cy="237744"/>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its own branch</a:t>
            </a:r>
          </a:p>
        </p:txBody>
      </p:sp>
      <p:sp>
        <p:nvSpPr>
          <p:cNvPr id="38" name="Down Arrow 37"/>
          <p:cNvSpPr/>
          <p:nvPr/>
        </p:nvSpPr>
        <p:spPr>
          <a:xfrm>
            <a:off x="9148572" y="2578608"/>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076688" y="1261872"/>
            <a:ext cx="1481328" cy="49377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Session C</a:t>
            </a:r>
          </a:p>
        </p:txBody>
      </p:sp>
      <p:sp>
        <p:nvSpPr>
          <p:cNvPr id="40" name="Down Arrow 39"/>
          <p:cNvSpPr/>
          <p:nvPr/>
        </p:nvSpPr>
        <p:spPr>
          <a:xfrm>
            <a:off x="10739628" y="1773936"/>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076688" y="1956816"/>
            <a:ext cx="1481328" cy="566928"/>
          </a:xfrm>
          <a:prstGeom prst="roundRect">
            <a:avLst>
              <a:gd name="adj" fmla="val 10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31552" y="2011680"/>
            <a:ext cx="1371600" cy="219456"/>
          </a:xfrm>
          <a:prstGeom prst="rect">
            <a:avLst/>
          </a:prstGeom>
          <a:noFill/>
        </p:spPr>
        <p:txBody>
          <a:bodyPr wrap="square" lIns="0" rIns="0" tIns="0" bIns="0" anchor="t">
            <a:spAutoFit/>
          </a:bodyPr>
          <a:lstStyle/>
          <a:p>
            <a:pPr algn="ctr">
              <a:lnSpc>
                <a:spcPct val="115000"/>
              </a:lnSpc>
            </a:pPr>
            <a:r>
              <a:rPr sz="1050" b="1" i="0">
                <a:solidFill>
                  <a:srgbClr val="028090"/>
                </a:solidFill>
                <a:latin typeface="DejaVu Sans Mono"/>
              </a:rPr>
              <a:t>/wt-c</a:t>
            </a:r>
          </a:p>
        </p:txBody>
      </p:sp>
      <p:sp>
        <p:nvSpPr>
          <p:cNvPr id="43" name="TextBox 42"/>
          <p:cNvSpPr txBox="1"/>
          <p:nvPr/>
        </p:nvSpPr>
        <p:spPr>
          <a:xfrm>
            <a:off x="10131552" y="2231136"/>
            <a:ext cx="1371600" cy="237744"/>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its own branch</a:t>
            </a:r>
          </a:p>
        </p:txBody>
      </p:sp>
      <p:sp>
        <p:nvSpPr>
          <p:cNvPr id="44" name="Down Arrow 43"/>
          <p:cNvSpPr/>
          <p:nvPr/>
        </p:nvSpPr>
        <p:spPr>
          <a:xfrm>
            <a:off x="10739628" y="2578608"/>
            <a:ext cx="155448" cy="182880"/>
          </a:xfrm>
          <a:prstGeom prst="down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894576" y="2724912"/>
            <a:ext cx="4663440" cy="493776"/>
          </a:xfrm>
          <a:prstGeom prst="roundRect">
            <a:avLst>
              <a:gd name="adj" fmla="val 9000"/>
            </a:avLst>
          </a:prstGeom>
          <a:solidFill>
            <a:srgbClr val="E5EAF0"/>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it-branch-mid.png"/>
          <p:cNvPicPr>
            <a:picLocks noChangeAspect="1"/>
          </p:cNvPicPr>
          <p:nvPr/>
        </p:nvPicPr>
        <p:blipFill>
          <a:blip r:embed="rId4"/>
          <a:stretch>
            <a:fillRect/>
          </a:stretch>
        </p:blipFill>
        <p:spPr>
          <a:xfrm>
            <a:off x="7022592" y="2807208"/>
            <a:ext cx="310896" cy="310896"/>
          </a:xfrm>
          <a:prstGeom prst="rect">
            <a:avLst/>
          </a:prstGeom>
        </p:spPr>
      </p:pic>
      <p:sp>
        <p:nvSpPr>
          <p:cNvPr id="47" name="TextBox 46"/>
          <p:cNvSpPr txBox="1"/>
          <p:nvPr/>
        </p:nvSpPr>
        <p:spPr>
          <a:xfrm>
            <a:off x="7406640" y="2761488"/>
            <a:ext cx="4023359" cy="420624"/>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the same history — this level did not change</a:t>
            </a:r>
          </a:p>
        </p:txBody>
      </p:sp>
      <p:sp>
        <p:nvSpPr>
          <p:cNvPr id="48" name="TextBox 47"/>
          <p:cNvSpPr txBox="1"/>
          <p:nvPr/>
        </p:nvSpPr>
        <p:spPr>
          <a:xfrm>
            <a:off x="6748272" y="3584448"/>
            <a:ext cx="4956048" cy="329184"/>
          </a:xfrm>
          <a:prstGeom prst="rect">
            <a:avLst/>
          </a:prstGeom>
          <a:noFill/>
        </p:spPr>
        <p:txBody>
          <a:bodyPr wrap="square" lIns="0" rIns="0" tIns="0" bIns="0" anchor="t">
            <a:spAutoFit/>
          </a:bodyPr>
          <a:lstStyle/>
          <a:p>
            <a:pPr algn="l">
              <a:lnSpc>
                <a:spcPct val="112000"/>
              </a:lnSpc>
            </a:pPr>
            <a:r>
              <a:rPr sz="1000" b="0" i="0">
                <a:solidFill>
                  <a:srgbClr val="5B6678"/>
                </a:solidFill>
                <a:latin typeface="DejaVu Sans"/>
              </a:rPr>
              <a:t>What changes: only the files are separated. Branches and commits stay shared — the folder is a view on the same history, not a copy.</a:t>
            </a:r>
          </a:p>
        </p:txBody>
      </p:sp>
      <p:sp>
        <p:nvSpPr>
          <p:cNvPr id="49" name="Rounded Rectangle 48"/>
          <p:cNvSpPr/>
          <p:nvPr/>
        </p:nvSpPr>
        <p:spPr>
          <a:xfrm>
            <a:off x="502920" y="3950208"/>
            <a:ext cx="3749039"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7512" y="4023360"/>
            <a:ext cx="3419856" cy="201168"/>
          </a:xfrm>
          <a:prstGeom prst="rect">
            <a:avLst/>
          </a:prstGeom>
          <a:noFill/>
        </p:spPr>
        <p:txBody>
          <a:bodyPr wrap="square" lIns="0" rIns="0" tIns="0" bIns="0" anchor="t">
            <a:spAutoFit/>
          </a:bodyPr>
          <a:lstStyle/>
          <a:p>
            <a:pPr algn="l">
              <a:lnSpc>
                <a:spcPct val="115000"/>
              </a:lnSpc>
            </a:pPr>
            <a:r>
              <a:rPr sz="1050" b="1" i="0">
                <a:solidFill>
                  <a:srgbClr val="065A82"/>
                </a:solidFill>
                <a:latin typeface="DejaVu Sans"/>
              </a:rPr>
              <a:t>Two commands — and the folder is ready</a:t>
            </a:r>
          </a:p>
        </p:txBody>
      </p:sp>
      <p:sp>
        <p:nvSpPr>
          <p:cNvPr id="51" name="TextBox 50"/>
          <p:cNvSpPr txBox="1"/>
          <p:nvPr/>
        </p:nvSpPr>
        <p:spPr>
          <a:xfrm>
            <a:off x="667512" y="4261104"/>
            <a:ext cx="3419856" cy="210312"/>
          </a:xfrm>
          <a:prstGeom prst="rect">
            <a:avLst/>
          </a:prstGeom>
          <a:noFill/>
        </p:spPr>
        <p:txBody>
          <a:bodyPr wrap="square" lIns="0" rIns="0" tIns="0" bIns="0" anchor="t">
            <a:spAutoFit/>
          </a:bodyPr>
          <a:lstStyle/>
          <a:p>
            <a:pPr algn="l">
              <a:lnSpc>
                <a:spcPct val="100000"/>
              </a:lnSpc>
            </a:pPr>
            <a:r>
              <a:rPr sz="900" b="0" i="0">
                <a:solidFill>
                  <a:srgbClr val="5B6678"/>
                </a:solidFill>
                <a:latin typeface="DejaVu Sans Mono"/>
              </a:rPr>
              <a:t>git worktree add --detach /wt-a &lt;commit&gt;</a:t>
            </a:r>
          </a:p>
        </p:txBody>
      </p:sp>
      <p:sp>
        <p:nvSpPr>
          <p:cNvPr id="52" name="TextBox 51"/>
          <p:cNvSpPr txBox="1"/>
          <p:nvPr/>
        </p:nvSpPr>
        <p:spPr>
          <a:xfrm>
            <a:off x="667512" y="4489704"/>
            <a:ext cx="3419856" cy="210312"/>
          </a:xfrm>
          <a:prstGeom prst="rect">
            <a:avLst/>
          </a:prstGeom>
          <a:noFill/>
        </p:spPr>
        <p:txBody>
          <a:bodyPr wrap="square" lIns="0" rIns="0" tIns="0" bIns="0" anchor="t">
            <a:spAutoFit/>
          </a:bodyPr>
          <a:lstStyle/>
          <a:p>
            <a:pPr algn="l">
              <a:lnSpc>
                <a:spcPct val="100000"/>
              </a:lnSpc>
            </a:pPr>
            <a:r>
              <a:rPr sz="900" b="0" i="0">
                <a:solidFill>
                  <a:srgbClr val="5B6678"/>
                </a:solidFill>
                <a:latin typeface="DejaVu Sans Mono"/>
              </a:rPr>
              <a:t>cd /wt-a &amp;&amp; git checkout -b task-A</a:t>
            </a:r>
          </a:p>
        </p:txBody>
      </p:sp>
      <p:sp>
        <p:nvSpPr>
          <p:cNvPr id="53" name="TextBox 52"/>
          <p:cNvSpPr txBox="1"/>
          <p:nvPr/>
        </p:nvSpPr>
        <p:spPr>
          <a:xfrm>
            <a:off x="667512" y="4736592"/>
            <a:ext cx="3419856"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Cheaper than cloning: the history is not duplicated.</a:t>
            </a:r>
          </a:p>
        </p:txBody>
      </p:sp>
      <p:sp>
        <p:nvSpPr>
          <p:cNvPr id="54" name="Rounded Rectangle 53"/>
          <p:cNvSpPr/>
          <p:nvPr/>
        </p:nvSpPr>
        <p:spPr>
          <a:xfrm>
            <a:off x="4389120" y="3950208"/>
            <a:ext cx="3200400" cy="1097280"/>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lock-teal.png"/>
          <p:cNvPicPr>
            <a:picLocks noChangeAspect="1"/>
          </p:cNvPicPr>
          <p:nvPr/>
        </p:nvPicPr>
        <p:blipFill>
          <a:blip r:embed="rId6"/>
          <a:stretch>
            <a:fillRect/>
          </a:stretch>
        </p:blipFill>
        <p:spPr>
          <a:xfrm>
            <a:off x="4535424" y="4041648"/>
            <a:ext cx="292608" cy="292608"/>
          </a:xfrm>
          <a:prstGeom prst="rect">
            <a:avLst/>
          </a:prstGeom>
        </p:spPr>
      </p:pic>
      <p:sp>
        <p:nvSpPr>
          <p:cNvPr id="56" name="TextBox 55"/>
          <p:cNvSpPr txBox="1"/>
          <p:nvPr/>
        </p:nvSpPr>
        <p:spPr>
          <a:xfrm>
            <a:off x="4882896" y="4041648"/>
            <a:ext cx="2560320" cy="201168"/>
          </a:xfrm>
          <a:prstGeom prst="rect">
            <a:avLst/>
          </a:prstGeom>
          <a:noFill/>
        </p:spPr>
        <p:txBody>
          <a:bodyPr wrap="square" lIns="0" rIns="0" tIns="0" bIns="0" anchor="t">
            <a:spAutoFit/>
          </a:bodyPr>
          <a:lstStyle/>
          <a:p>
            <a:pPr algn="l">
              <a:lnSpc>
                <a:spcPct val="115000"/>
              </a:lnSpc>
            </a:pPr>
            <a:r>
              <a:rPr sz="1050" b="1" i="0">
                <a:solidFill>
                  <a:srgbClr val="028090"/>
                </a:solidFill>
                <a:latin typeface="DejaVu Sans"/>
              </a:rPr>
              <a:t>Not on trust alone</a:t>
            </a:r>
          </a:p>
        </p:txBody>
      </p:sp>
      <p:sp>
        <p:nvSpPr>
          <p:cNvPr id="57" name="TextBox 56"/>
          <p:cNvSpPr txBox="1"/>
          <p:nvPr/>
        </p:nvSpPr>
        <p:spPr>
          <a:xfrm>
            <a:off x="4535424" y="4297680"/>
            <a:ext cx="2907792" cy="58521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Claude Code blocks edits whose working directory is outside the assigned folder: a neighboring session cannot be touched even by mistake.</a:t>
            </a:r>
          </a:p>
        </p:txBody>
      </p:sp>
      <p:sp>
        <p:nvSpPr>
          <p:cNvPr id="58" name="Rounded Rectangle 57"/>
          <p:cNvSpPr/>
          <p:nvPr/>
        </p:nvSpPr>
        <p:spPr>
          <a:xfrm>
            <a:off x="7772400" y="3950208"/>
            <a:ext cx="3931920" cy="1097280"/>
          </a:xfrm>
          <a:prstGeom prst="roundRect">
            <a:avLst>
              <a:gd name="adj" fmla="val 7000"/>
            </a:avLst>
          </a:prstGeom>
          <a:solidFill>
            <a:srgbClr val="E5EAF0"/>
          </a:solidFill>
          <a:ln w="1143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18704" y="4041648"/>
            <a:ext cx="3639312" cy="20116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boundary: a shared .git is a shared lock</a:t>
            </a:r>
          </a:p>
        </p:txBody>
      </p:sp>
      <p:sp>
        <p:nvSpPr>
          <p:cNvPr id="60" name="TextBox 59"/>
          <p:cNvSpPr txBox="1"/>
          <p:nvPr/>
        </p:nvSpPr>
        <p:spPr>
          <a:xfrm>
            <a:off x="7918704" y="4279392"/>
            <a:ext cx="3639312" cy="658368"/>
          </a:xfrm>
          <a:prstGeom prst="rect">
            <a:avLst/>
          </a:prstGeom>
          <a:noFill/>
        </p:spPr>
        <p:txBody>
          <a:bodyPr wrap="square" lIns="0" rIns="0" tIns="0" bIns="0" anchor="t">
            <a:spAutoFit/>
          </a:bodyPr>
          <a:lstStyle/>
          <a:p>
            <a:pPr algn="l">
              <a:lnSpc>
                <a:spcPct val="112000"/>
              </a:lnSpc>
            </a:pPr>
            <a:r>
              <a:rPr sz="950" b="0" i="1">
                <a:solidFill>
                  <a:srgbClr val="5B6678"/>
                </a:solidFill>
                <a:latin typeface="DejaVu Sans"/>
              </a:rPr>
              <a:t>The files are separated, but .git is one for everyone: 8 of 13 parallel agents lost unsaved work on the .git/index.lock. At 5 sessions — occasionally; at 10+ — almost certainly.</a:t>
            </a:r>
          </a:p>
        </p:txBody>
      </p:sp>
      <p:sp>
        <p:nvSpPr>
          <p:cNvPr id="61" name="Rounded Rectangle 6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worktree mechanic is older than any AI agent; what is new is only the frequency: parallel sessions make a shared folder an expensive mistake every day.</a:t>
            </a:r>
          </a:p>
        </p:txBody>
      </p:sp>
      <p:sp>
        <p:nvSpPr>
          <p:cNvPr id="63" name="TextBox 6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7"/>
              </a:rPr>
              <a:t>Git — worktree documentation</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8"/>
              </a:rPr>
              <a:t>Claude Code — docs, best practices</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9"/>
              </a:rPr>
              <a:t>claude-code #60295 — branch swap</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10"/>
              </a:rPr>
              <a:t>claude-code #55724 — the .git lock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53312"/>
            <a:ext cx="544068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26464"/>
            <a:ext cx="5001768"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Stack Overflow 2025: 66%</a:t>
            </a:r>
          </a:p>
        </p:txBody>
      </p:sp>
      <p:sp>
        <p:nvSpPr>
          <p:cNvPr id="13" name="TextBox 12"/>
          <p:cNvSpPr txBox="1"/>
          <p:nvPr/>
        </p:nvSpPr>
        <p:spPr>
          <a:xfrm>
            <a:off x="6483096" y="1719072"/>
            <a:ext cx="5001768" cy="694944"/>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87168"/>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60320"/>
            <a:ext cx="5001768"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GitClear · two independent measurements </a:t>
            </a:r>
            <a:r>
              <a:rPr sz="624" baseline="30000" b="0" i="1">
                <a:latin typeface="DejaVu Sans"/>
                <a:cs typeface="DejaVu Sans"/>
                <a:ea typeface="DejaVu Sans"/>
                <a:solidFill>
                  <a:srgbClr val="1C7293"/>
                </a:solidFill>
              </a:rPr>
              <a:t>[2]</a:t>
            </a:r>
          </a:p>
        </p:txBody>
      </p:sp>
      <p:sp>
        <p:nvSpPr>
          <p:cNvPr id="16" name="TextBox 15"/>
          <p:cNvSpPr txBox="1"/>
          <p:nvPr/>
        </p:nvSpPr>
        <p:spPr>
          <a:xfrm>
            <a:off x="6483096" y="2852927"/>
            <a:ext cx="5001768" cy="1133856"/>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211M lines (2020-24): clones 8.3→12.3%, refactoring ~25→&lt;10%, churn 3.3→5.7%.</a:t>
            </a:r>
          </a:p>
          <a:p>
            <a:pPr algn="l">
              <a:lnSpc>
                <a:spcPct val="110000"/>
              </a:lnSpc>
            </a:pPr>
            <a:r>
              <a:rPr sz="1000" b="0" i="0">
                <a:solidFill>
                  <a:srgbClr val="21295C"/>
                </a:solidFill>
                <a:latin typeface="DejaVu Sans"/>
              </a:rPr>
              <a:t>623M changes (2023-26): refactoring 21→3.8% (-70%), duplicates 40.3→73.0 per M lines (+81%), churn +15%.</a:t>
            </a:r>
          </a:p>
          <a:p>
            <a:pPr algn="l">
              <a:lnSpc>
                <a:spcPct val="110000"/>
              </a:lnSpc>
            </a:pPr>
            <a:r>
              <a:rPr sz="1000" b="0" i="0">
                <a:solidFill>
                  <a:srgbClr val="21295C"/>
                </a:solidFill>
                <a:latin typeface="DejaVu Sans"/>
              </a:rPr>
              <a:t>(Both are correlation, not an RCT.)</a:t>
            </a:r>
          </a:p>
        </p:txBody>
      </p:sp>
      <p:sp>
        <p:nvSpPr>
          <p:cNvPr id="17" name="Rounded Rectangle 16"/>
          <p:cNvSpPr/>
          <p:nvPr/>
        </p:nvSpPr>
        <p:spPr>
          <a:xfrm>
            <a:off x="6263640" y="4059935"/>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133087"/>
            <a:ext cx="5001768" cy="274320"/>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The knowledge paradox (Osmani) </a:t>
            </a:r>
            <a:r>
              <a:rPr sz="624" baseline="30000" b="0" i="1">
                <a:latin typeface="DejaVu Sans"/>
                <a:cs typeface="DejaVu Sans"/>
                <a:ea typeface="DejaVu Sans"/>
                <a:solidFill>
                  <a:srgbClr val="1C7293"/>
                </a:solidFill>
              </a:rPr>
              <a:t>[1]</a:t>
            </a:r>
          </a:p>
        </p:txBody>
      </p:sp>
      <p:sp>
        <p:nvSpPr>
          <p:cNvPr id="19" name="TextBox 18"/>
          <p:cNvSpPr txBox="1"/>
          <p:nvPr/>
        </p:nvSpPr>
        <p:spPr>
          <a:xfrm>
            <a:off x="6483096" y="4425696"/>
            <a:ext cx="5001768" cy="603503"/>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pic>
        <p:nvPicPr>
          <p:cNvPr id="22" name="Picture 21" descr="band-hide-the-pain-harold-merged-en.png"/>
          <p:cNvPicPr>
            <a:picLocks noChangeAspect="1"/>
          </p:cNvPicPr>
          <p:nvPr/>
        </p:nvPicPr>
        <p:blipFill>
          <a:blip r:embed="rId2"/>
          <a:stretch>
            <a:fillRect/>
          </a:stretch>
        </p:blipFill>
        <p:spPr>
          <a:xfrm>
            <a:off x="7827264" y="5852160"/>
            <a:ext cx="3877056" cy="585216"/>
          </a:xfrm>
          <a:prstGeom prst="rect">
            <a:avLst/>
          </a:prstGeom>
        </p:spPr>
      </p:pic>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GitClear — AI code quality 2025 (211M lines)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TDD with a coding agent: not the ritual "test first", but five steps that work</a:t>
            </a:r>
          </a:p>
        </p:txBody>
      </p:sp>
      <p:sp>
        <p:nvSpPr>
          <p:cNvPr id="3" name="Rounded Rectangle 2"/>
          <p:cNvSpPr/>
          <p:nvPr/>
        </p:nvSpPr>
        <p:spPr>
          <a:xfrm>
            <a:off x="502920" y="1280160"/>
            <a:ext cx="475488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71600"/>
            <a:ext cx="4315968" cy="310896"/>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red-green-refactor cycle (Kent Beck, TDD)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065A82"/>
                </a:solidFill>
              </a:rPr>
              <a:t> — the human owns the test spec</a:t>
            </a:r>
          </a:p>
        </p:txBody>
      </p:sp>
      <p:sp>
        <p:nvSpPr>
          <p:cNvPr id="5" name="Rounded Rectangle 4"/>
          <p:cNvSpPr/>
          <p:nvPr/>
        </p:nvSpPr>
        <p:spPr>
          <a:xfrm>
            <a:off x="758952" y="1792224"/>
            <a:ext cx="4242816"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92938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97864" y="1828800"/>
            <a:ext cx="1463040" cy="420624"/>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Mono"/>
              </a:rPr>
              <a:t>red</a:t>
            </a:r>
          </a:p>
        </p:txBody>
      </p:sp>
      <p:sp>
        <p:nvSpPr>
          <p:cNvPr id="8" name="TextBox 7"/>
          <p:cNvSpPr txBox="1"/>
          <p:nvPr/>
        </p:nvSpPr>
        <p:spPr>
          <a:xfrm>
            <a:off x="2423160" y="1828800"/>
            <a:ext cx="2542032"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58952" y="2377440"/>
            <a:ext cx="4242816"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414016"/>
            <a:ext cx="1463040" cy="420624"/>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Mono"/>
              </a:rPr>
              <a:t>green</a:t>
            </a:r>
          </a:p>
        </p:txBody>
      </p:sp>
      <p:sp>
        <p:nvSpPr>
          <p:cNvPr id="11" name="TextBox 10"/>
          <p:cNvSpPr txBox="1"/>
          <p:nvPr/>
        </p:nvSpPr>
        <p:spPr>
          <a:xfrm>
            <a:off x="2423160" y="2414016"/>
            <a:ext cx="2542032"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58952" y="2962656"/>
            <a:ext cx="4242816"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999232"/>
            <a:ext cx="1463040" cy="420624"/>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Mono"/>
              </a:rPr>
              <a:t>refactor</a:t>
            </a:r>
          </a:p>
        </p:txBody>
      </p:sp>
      <p:sp>
        <p:nvSpPr>
          <p:cNvPr id="14" name="TextBox 13"/>
          <p:cNvSpPr txBox="1"/>
          <p:nvPr/>
        </p:nvSpPr>
        <p:spPr>
          <a:xfrm>
            <a:off x="2423160" y="2999232"/>
            <a:ext cx="2542032"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58952" y="3529584"/>
            <a:ext cx="4242816" cy="164592"/>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58952" y="3785615"/>
            <a:ext cx="4242816" cy="109728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3895344"/>
            <a:ext cx="3913632" cy="896112"/>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04688" y="1280160"/>
            <a:ext cx="6199632" cy="932688"/>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05855" y="1335024"/>
            <a:ext cx="5797296" cy="256032"/>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What does NOT work: ordering the agent to write tests first</a:t>
            </a:r>
          </a:p>
        </p:txBody>
      </p:sp>
      <p:sp>
        <p:nvSpPr>
          <p:cNvPr id="20" name="TextBox 19"/>
          <p:cNvSpPr txBox="1"/>
          <p:nvPr/>
        </p:nvSpPr>
        <p:spPr>
          <a:xfrm>
            <a:off x="5705855" y="1600200"/>
            <a:ext cx="5797296" cy="566928"/>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in the agent loop this produced no gain and about three times more tokens — "I stopped telling agents to write tests first". The value is carried by the structure, not by the order of the commands.</a:t>
            </a:r>
          </a:p>
        </p:txBody>
      </p:sp>
      <p:sp>
        <p:nvSpPr>
          <p:cNvPr id="21" name="Rounded Rectangle 20"/>
          <p:cNvSpPr/>
          <p:nvPr/>
        </p:nvSpPr>
        <p:spPr>
          <a:xfrm>
            <a:off x="5504688" y="2286000"/>
            <a:ext cx="6199632" cy="2359152"/>
          </a:xfrm>
          <a:prstGeom prst="roundRect">
            <a:avLst>
              <a:gd name="adj" fmla="val 129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5855" y="2350008"/>
            <a:ext cx="5797296"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What works instead — a five-step recipe</a:t>
            </a:r>
          </a:p>
        </p:txBody>
      </p:sp>
      <p:sp>
        <p:nvSpPr>
          <p:cNvPr id="23" name="Rounded Rectangle 22"/>
          <p:cNvSpPr/>
          <p:nvPr/>
        </p:nvSpPr>
        <p:spPr>
          <a:xfrm>
            <a:off x="5705855" y="2679191"/>
            <a:ext cx="274320" cy="274320"/>
          </a:xfrm>
          <a:prstGeom prst="roundRect">
            <a:avLst>
              <a:gd name="adj" fmla="val 2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05855" y="2697479"/>
            <a:ext cx="274320" cy="25603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1</a:t>
            </a:r>
          </a:p>
        </p:txBody>
      </p:sp>
      <p:sp>
        <p:nvSpPr>
          <p:cNvPr id="25" name="TextBox 24"/>
          <p:cNvSpPr txBox="1"/>
          <p:nvPr/>
        </p:nvSpPr>
        <p:spPr>
          <a:xfrm>
            <a:off x="6071616" y="2651760"/>
            <a:ext cx="5413248" cy="402336"/>
          </a:xfrm>
          <a:prstGeom prst="rect">
            <a:avLst/>
          </a:prstGeom>
          <a:noFill/>
        </p:spPr>
        <p:txBody>
          <a:bodyPr wrap="square" lIns="0" rIns="0" tIns="0" bIns="0" anchor="t">
            <a:spAutoFit/>
          </a:bodyPr>
          <a:lstStyle/>
          <a:p>
            <a:pPr algn="l">
              <a:lnSpc>
                <a:spcPct val="106000"/>
              </a:lnSpc>
            </a:pPr>
            <a:r>
              <a:rPr sz="1100" b="1" i="0">
                <a:solidFill>
                  <a:srgbClr val="21295C"/>
                </a:solidFill>
                <a:latin typeface="DejaVu Sans"/>
              </a:rPr>
              <a:t>The human states WHAT the test must assert</a:t>
            </a:r>
            <a:r>
              <a:rPr sz="1100" b="0" i="0">
                <a:solidFill>
                  <a:srgbClr val="21295C"/>
                </a:solidFill>
                <a:latin typeface="DejaVu Sans"/>
              </a:rPr>
              <a:t> — an invariant or acceptance criterion, before any code is generated.</a:t>
            </a:r>
          </a:p>
        </p:txBody>
      </p:sp>
      <p:sp>
        <p:nvSpPr>
          <p:cNvPr id="26" name="Rounded Rectangle 25"/>
          <p:cNvSpPr/>
          <p:nvPr/>
        </p:nvSpPr>
        <p:spPr>
          <a:xfrm>
            <a:off x="5705855" y="3072384"/>
            <a:ext cx="274320" cy="274320"/>
          </a:xfrm>
          <a:prstGeom prst="roundRect">
            <a:avLst>
              <a:gd name="adj" fmla="val 2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05855" y="3090672"/>
            <a:ext cx="274320" cy="25603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2</a:t>
            </a:r>
          </a:p>
        </p:txBody>
      </p:sp>
      <p:sp>
        <p:nvSpPr>
          <p:cNvPr id="28" name="TextBox 27"/>
          <p:cNvSpPr txBox="1"/>
          <p:nvPr/>
        </p:nvSpPr>
        <p:spPr>
          <a:xfrm>
            <a:off x="6071616" y="3044952"/>
            <a:ext cx="5413248" cy="402336"/>
          </a:xfrm>
          <a:prstGeom prst="rect">
            <a:avLst/>
          </a:prstGeom>
          <a:noFill/>
        </p:spPr>
        <p:txBody>
          <a:bodyPr wrap="square" lIns="0" rIns="0" tIns="0" bIns="0" anchor="t">
            <a:spAutoFit/>
          </a:bodyPr>
          <a:lstStyle/>
          <a:p>
            <a:pPr algn="l">
              <a:lnSpc>
                <a:spcPct val="106000"/>
              </a:lnSpc>
            </a:pPr>
            <a:r>
              <a:rPr sz="1100" b="1" i="0">
                <a:solidFill>
                  <a:srgbClr val="21295C"/>
                </a:solidFill>
                <a:latin typeface="DejaVu Sans"/>
              </a:rPr>
              <a:t>Leave the generation order to the agent</a:t>
            </a:r>
            <a:r>
              <a:rPr sz="1100" b="0" i="0">
                <a:solidFill>
                  <a:srgbClr val="21295C"/>
                </a:solidFill>
                <a:latin typeface="DejaVu Sans"/>
              </a:rPr>
              <a:t> — test and code together, or code then test; forcing "test first" is not needed.</a:t>
            </a:r>
          </a:p>
        </p:txBody>
      </p:sp>
      <p:sp>
        <p:nvSpPr>
          <p:cNvPr id="29" name="Rounded Rectangle 28"/>
          <p:cNvSpPr/>
          <p:nvPr/>
        </p:nvSpPr>
        <p:spPr>
          <a:xfrm>
            <a:off x="5705855" y="3465575"/>
            <a:ext cx="274320" cy="274320"/>
          </a:xfrm>
          <a:prstGeom prst="roundRect">
            <a:avLst>
              <a:gd name="adj" fmla="val 2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05855" y="3483863"/>
            <a:ext cx="274320" cy="25603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3</a:t>
            </a:r>
          </a:p>
        </p:txBody>
      </p:sp>
      <p:sp>
        <p:nvSpPr>
          <p:cNvPr id="31" name="TextBox 30"/>
          <p:cNvSpPr txBox="1"/>
          <p:nvPr/>
        </p:nvSpPr>
        <p:spPr>
          <a:xfrm>
            <a:off x="6071616" y="3438144"/>
            <a:ext cx="5413248" cy="402336"/>
          </a:xfrm>
          <a:prstGeom prst="rect">
            <a:avLst/>
          </a:prstGeom>
          <a:noFill/>
        </p:spPr>
        <p:txBody>
          <a:bodyPr wrap="square" lIns="0" rIns="0" tIns="0" bIns="0" anchor="t">
            <a:spAutoFit/>
          </a:bodyPr>
          <a:lstStyle/>
          <a:p>
            <a:pPr algn="l">
              <a:lnSpc>
                <a:spcPct val="106000"/>
              </a:lnSpc>
            </a:pPr>
            <a:r>
              <a:rPr sz="1100" b="1" i="0">
                <a:solidFill>
                  <a:srgbClr val="21295C"/>
                </a:solidFill>
                <a:latin typeface="DejaVu Sans"/>
              </a:rPr>
              <a:t>A human reads the test's assertions</a:t>
            </a:r>
            <a:r>
              <a:rPr sz="1100" b="0" i="0">
                <a:solidFill>
                  <a:srgbClr val="21295C"/>
                </a:solidFill>
                <a:latin typeface="DejaVu Sans"/>
              </a:rPr>
              <a:t>: the test holds on to behavior, not to the implementation (Fowler </a:t>
            </a:r>
            <a:r>
              <a:rPr sz="572" baseline="30000" b="0" i="1">
                <a:latin typeface="DejaVu Sans"/>
                <a:cs typeface="DejaVu Sans"/>
                <a:ea typeface="DejaVu Sans"/>
                <a:solidFill>
                  <a:srgbClr val="1C7293"/>
                </a:solidFill>
              </a:rPr>
              <a:t>[3]</a:t>
            </a:r>
            <a:r>
              <a:rPr sz="1100" b="0" i="0">
                <a:latin typeface="DejaVu Sans"/>
                <a:cs typeface="DejaVu Sans"/>
                <a:ea typeface="DejaVu Sans"/>
                <a:solidFill>
                  <a:srgbClr val="21295C"/>
                </a:solidFill>
              </a:rPr>
              <a:t>).</a:t>
            </a:r>
          </a:p>
        </p:txBody>
      </p:sp>
      <p:sp>
        <p:nvSpPr>
          <p:cNvPr id="32" name="Rounded Rectangle 31"/>
          <p:cNvSpPr/>
          <p:nvPr/>
        </p:nvSpPr>
        <p:spPr>
          <a:xfrm>
            <a:off x="5705855" y="3858768"/>
            <a:ext cx="274320" cy="274320"/>
          </a:xfrm>
          <a:prstGeom prst="roundRect">
            <a:avLst>
              <a:gd name="adj" fmla="val 2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5855" y="3877055"/>
            <a:ext cx="274320" cy="25603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4</a:t>
            </a:r>
          </a:p>
        </p:txBody>
      </p:sp>
      <p:sp>
        <p:nvSpPr>
          <p:cNvPr id="34" name="TextBox 33"/>
          <p:cNvSpPr txBox="1"/>
          <p:nvPr/>
        </p:nvSpPr>
        <p:spPr>
          <a:xfrm>
            <a:off x="6071616" y="3831335"/>
            <a:ext cx="5413248" cy="402336"/>
          </a:xfrm>
          <a:prstGeom prst="rect">
            <a:avLst/>
          </a:prstGeom>
          <a:noFill/>
        </p:spPr>
        <p:txBody>
          <a:bodyPr wrap="square" lIns="0" rIns="0" tIns="0" bIns="0" anchor="t">
            <a:spAutoFit/>
          </a:bodyPr>
          <a:lstStyle/>
          <a:p>
            <a:pPr algn="l">
              <a:lnSpc>
                <a:spcPct val="106000"/>
              </a:lnSpc>
            </a:pPr>
            <a:r>
              <a:rPr sz="1100" b="1" i="0">
                <a:solidFill>
                  <a:srgbClr val="21295C"/>
                </a:solidFill>
                <a:latin typeface="DejaVu Sans"/>
              </a:rPr>
              <a:t>Only a deterministic executor counts as a run</a:t>
            </a:r>
            <a:r>
              <a:rPr sz="1100" b="0" i="0">
                <a:solidFill>
                  <a:srgbClr val="21295C"/>
                </a:solidFill>
                <a:latin typeface="DejaVu Sans"/>
              </a:rPr>
              <a:t> (a script or CI with a real exit code); "the model said they're green" is not a run.</a:t>
            </a:r>
          </a:p>
        </p:txBody>
      </p:sp>
      <p:sp>
        <p:nvSpPr>
          <p:cNvPr id="35" name="Rounded Rectangle 34"/>
          <p:cNvSpPr/>
          <p:nvPr/>
        </p:nvSpPr>
        <p:spPr>
          <a:xfrm>
            <a:off x="5705855" y="4251960"/>
            <a:ext cx="274320" cy="274320"/>
          </a:xfrm>
          <a:prstGeom prst="roundRect">
            <a:avLst>
              <a:gd name="adj" fmla="val 2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05855" y="4270248"/>
            <a:ext cx="274320" cy="25603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5</a:t>
            </a:r>
          </a:p>
        </p:txBody>
      </p:sp>
      <p:sp>
        <p:nvSpPr>
          <p:cNvPr id="37" name="TextBox 36"/>
          <p:cNvSpPr txBox="1"/>
          <p:nvPr/>
        </p:nvSpPr>
        <p:spPr>
          <a:xfrm>
            <a:off x="6071616" y="4224528"/>
            <a:ext cx="5413248" cy="402336"/>
          </a:xfrm>
          <a:prstGeom prst="rect">
            <a:avLst/>
          </a:prstGeom>
          <a:noFill/>
        </p:spPr>
        <p:txBody>
          <a:bodyPr wrap="square" lIns="0" rIns="0" tIns="0" bIns="0" anchor="t">
            <a:spAutoFit/>
          </a:bodyPr>
          <a:lstStyle/>
          <a:p>
            <a:pPr algn="l">
              <a:lnSpc>
                <a:spcPct val="106000"/>
              </a:lnSpc>
            </a:pPr>
            <a:r>
              <a:rPr sz="1100" b="1" i="0">
                <a:solidFill>
                  <a:srgbClr val="21295C"/>
                </a:solidFill>
                <a:latin typeface="DejaVu Sans"/>
              </a:rPr>
              <a:t>Gate on the share of defects actually caught</a:t>
            </a:r>
            <a:r>
              <a:rPr sz="1100" b="0" i="0">
                <a:solidFill>
                  <a:srgbClr val="21295C"/>
                </a:solidFill>
                <a:latin typeface="DejaVu Sans"/>
              </a:rPr>
              <a:t>, not on the coverage percentage. Every incident → a permanent regression test.</a:t>
            </a:r>
          </a:p>
        </p:txBody>
      </p:sp>
      <p:sp>
        <p:nvSpPr>
          <p:cNvPr id="38" name="Rounded Rectangle 37"/>
          <p:cNvSpPr/>
          <p:nvPr/>
        </p:nvSpPr>
        <p:spPr>
          <a:xfrm>
            <a:off x="5504688" y="4718304"/>
            <a:ext cx="6199632" cy="384048"/>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05855" y="4764024"/>
            <a:ext cx="5797296"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40" name="Rounded Rectangle 3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invariant is not "the test was written first", but "the test exists, asserts what the human decided, and was run by a machine". Willison: "if you haven't seen it work, it's not a working system".</a:t>
            </a:r>
          </a:p>
        </p:txBody>
      </p:sp>
      <p:sp>
        <p:nvSpPr>
          <p:cNvPr id="42" name="TextBox 4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BDD and trunk-based on the AI loop: what they give, what they cost</a:t>
            </a:r>
          </a:p>
        </p:txBody>
      </p:sp>
      <p:sp>
        <p:nvSpPr>
          <p:cNvPr id="3" name="Rounded Rectangle 2"/>
          <p:cNvSpPr/>
          <p:nvPr/>
        </p:nvSpPr>
        <p:spPr>
          <a:xfrm>
            <a:off x="502920" y="1133856"/>
            <a:ext cx="5532120" cy="4005072"/>
          </a:xfrm>
          <a:prstGeom prst="roundRect">
            <a:avLst>
              <a:gd name="adj" fmla="val 761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04088" y="1261872"/>
            <a:ext cx="384048" cy="384048"/>
          </a:xfrm>
          <a:prstGeom prst="rect">
            <a:avLst/>
          </a:prstGeom>
        </p:spPr>
      </p:pic>
      <p:sp>
        <p:nvSpPr>
          <p:cNvPr id="5" name="TextBox 4"/>
          <p:cNvSpPr txBox="1"/>
          <p:nvPr/>
        </p:nvSpPr>
        <p:spPr>
          <a:xfrm>
            <a:off x="1216152" y="1280160"/>
            <a:ext cx="461772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BDD — a test in business language</a:t>
            </a:r>
          </a:p>
        </p:txBody>
      </p:sp>
      <p:sp>
        <p:nvSpPr>
          <p:cNvPr id="6" name="TextBox 5"/>
          <p:cNvSpPr txBox="1"/>
          <p:nvPr/>
        </p:nvSpPr>
        <p:spPr>
          <a:xfrm>
            <a:off x="704088" y="1609344"/>
            <a:ext cx="5129783" cy="658368"/>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BDD (Behavior-Driven Development) — a Given-When-Then scenario a non-technical stakeholder can read and edit. The cycle: discuss examples → write them down as scenarios → run them as tests.</a:t>
            </a:r>
          </a:p>
        </p:txBody>
      </p:sp>
      <p:sp>
        <p:nvSpPr>
          <p:cNvPr id="7" name="Rounded Rectangle 6"/>
          <p:cNvSpPr/>
          <p:nvPr/>
        </p:nvSpPr>
        <p:spPr>
          <a:xfrm>
            <a:off x="685800" y="2286000"/>
            <a:ext cx="5166359" cy="292608"/>
          </a:xfrm>
          <a:prstGeom prst="roundRect">
            <a:avLst>
              <a:gd name="adj" fmla="val 1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313432"/>
            <a:ext cx="4910328" cy="256032"/>
          </a:xfrm>
          <a:prstGeom prst="rect">
            <a:avLst/>
          </a:prstGeom>
          <a:noFill/>
        </p:spPr>
        <p:txBody>
          <a:bodyPr wrap="square" lIns="0" rIns="0" tIns="0" bIns="0" anchor="ctr">
            <a:spAutoFit/>
          </a:bodyPr>
          <a:lstStyle/>
          <a:p>
            <a:pPr algn="l">
              <a:lnSpc>
                <a:spcPct val="104000"/>
              </a:lnSpc>
            </a:pPr>
            <a:r>
              <a:rPr sz="950" b="0" i="1">
                <a:solidFill>
                  <a:srgbClr val="5B6678"/>
                </a:solidFill>
                <a:latin typeface="DejaVu Sans"/>
              </a:rPr>
              <a:t>Given the slot is free · When "Book" is pressed · Then the slot is taken</a:t>
            </a:r>
          </a:p>
        </p:txBody>
      </p:sp>
      <p:sp>
        <p:nvSpPr>
          <p:cNvPr id="9" name="Rounded Rectangle 8"/>
          <p:cNvSpPr/>
          <p:nvPr/>
        </p:nvSpPr>
        <p:spPr>
          <a:xfrm>
            <a:off x="685800" y="2651760"/>
            <a:ext cx="5166359" cy="111556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706624"/>
            <a:ext cx="4873752" cy="237744"/>
          </a:xfrm>
          <a:prstGeom prst="rect">
            <a:avLst/>
          </a:prstGeom>
          <a:noFill/>
        </p:spPr>
        <p:txBody>
          <a:bodyPr wrap="square" lIns="0" rIns="0" tIns="0" bIns="0" anchor="t">
            <a:spAutoFit/>
          </a:bodyPr>
          <a:lstStyle/>
          <a:p>
            <a:pPr algn="l">
              <a:lnSpc>
                <a:spcPct val="100000"/>
              </a:lnSpc>
            </a:pPr>
            <a:r>
              <a:rPr sz="1400" b="1" i="0">
                <a:solidFill>
                  <a:srgbClr val="028090"/>
                </a:solidFill>
                <a:latin typeface="DejaVu Sans"/>
              </a:rPr>
              <a:t>+  </a:t>
            </a:r>
            <a:r>
              <a:rPr sz="1100" b="1" i="0">
                <a:solidFill>
                  <a:srgbClr val="028090"/>
                </a:solidFill>
                <a:latin typeface="DejaVu Sans"/>
              </a:rPr>
              <a:t>WHAT IT GIVES</a:t>
            </a:r>
          </a:p>
        </p:txBody>
      </p:sp>
      <p:sp>
        <p:nvSpPr>
          <p:cNvPr id="11" name="TextBox 10"/>
          <p:cNvSpPr txBox="1"/>
          <p:nvPr/>
        </p:nvSpPr>
        <p:spPr>
          <a:xfrm>
            <a:off x="832104" y="2962656"/>
            <a:ext cx="4873752" cy="74980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A gap in the acceptance criteria shows up before the code: the scenario is read by the people who set the task.</a:t>
            </a:r>
          </a:p>
          <a:p>
            <a:pPr algn="l">
              <a:lnSpc>
                <a:spcPct val="110000"/>
              </a:lnSpc>
              <a:spcBef>
                <a:spcPts val="400"/>
              </a:spcBef>
            </a:pPr>
            <a:r>
              <a:rPr sz="1050" b="0" i="0">
                <a:solidFill>
                  <a:srgbClr val="21295C"/>
                </a:solidFill>
                <a:latin typeface="DejaVu Sans"/>
              </a:rPr>
              <a:t>• The agent generates scenarios from acceptance criteria — including edge cases and security checks; the human reviews them.</a:t>
            </a:r>
          </a:p>
        </p:txBody>
      </p:sp>
      <p:sp>
        <p:nvSpPr>
          <p:cNvPr id="12" name="Rounded Rectangle 11"/>
          <p:cNvSpPr/>
          <p:nvPr/>
        </p:nvSpPr>
        <p:spPr>
          <a:xfrm>
            <a:off x="685800" y="3822191"/>
            <a:ext cx="5166359" cy="1316736"/>
          </a:xfrm>
          <a:prstGeom prst="roundRect">
            <a:avLst>
              <a:gd name="adj" fmla="val 6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877055"/>
            <a:ext cx="4873752" cy="237744"/>
          </a:xfrm>
          <a:prstGeom prst="rect">
            <a:avLst/>
          </a:prstGeom>
          <a:noFill/>
        </p:spPr>
        <p:txBody>
          <a:bodyPr wrap="square" lIns="0" rIns="0" tIns="0" bIns="0" anchor="t">
            <a:spAutoFit/>
          </a:bodyPr>
          <a:lstStyle/>
          <a:p>
            <a:pPr algn="l">
              <a:lnSpc>
                <a:spcPct val="100000"/>
              </a:lnSpc>
            </a:pPr>
            <a:r>
              <a:rPr sz="1400" b="1" i="0">
                <a:solidFill>
                  <a:srgbClr val="F0AB00"/>
                </a:solidFill>
                <a:latin typeface="DejaVu Sans"/>
              </a:rPr>
              <a:t>−  </a:t>
            </a:r>
            <a:r>
              <a:rPr sz="1100" b="1" i="0">
                <a:solidFill>
                  <a:srgbClr val="21295C"/>
                </a:solidFill>
                <a:latin typeface="DejaVu Sans"/>
              </a:rPr>
              <a:t>WHAT IT COSTS</a:t>
            </a:r>
          </a:p>
        </p:txBody>
      </p:sp>
      <p:sp>
        <p:nvSpPr>
          <p:cNvPr id="14" name="TextBox 13"/>
          <p:cNvSpPr txBox="1"/>
          <p:nvPr/>
        </p:nvSpPr>
        <p:spPr>
          <a:xfrm>
            <a:off x="832104" y="4133087"/>
            <a:ext cx="4873752" cy="95097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An extra layer: ~27% of open-source projects that have a test framework at all (68% of those are Ruby).</a:t>
            </a:r>
          </a:p>
          <a:p>
            <a:pPr algn="l">
              <a:lnSpc>
                <a:spcPct val="110000"/>
              </a:lnSpc>
              <a:spcBef>
                <a:spcPts val="400"/>
              </a:spcBef>
            </a:pPr>
            <a:r>
              <a:rPr sz="1050" b="0" i="0">
                <a:solidFill>
                  <a:srgbClr val="21295C"/>
                </a:solidFill>
                <a:latin typeface="DejaVu Sans"/>
              </a:rPr>
              <a:t>• Without a guideline the agent's scenarios degrade: vague Then steps, coupling to the UI.</a:t>
            </a:r>
          </a:p>
          <a:p>
            <a:pPr algn="l">
              <a:lnSpc>
                <a:spcPct val="110000"/>
              </a:lnSpc>
              <a:spcBef>
                <a:spcPts val="400"/>
              </a:spcBef>
            </a:pPr>
            <a:r>
              <a:rPr sz="1050" b="0" i="0">
                <a:solidFill>
                  <a:srgbClr val="21295C"/>
                </a:solidFill>
                <a:latin typeface="DejaVu Sans"/>
              </a:rPr>
              <a:t>• With no non-technical stakeholder around it is redundant.</a:t>
            </a:r>
          </a:p>
        </p:txBody>
      </p:sp>
      <p:sp>
        <p:nvSpPr>
          <p:cNvPr id="15" name="Rounded Rectangle 14"/>
          <p:cNvSpPr/>
          <p:nvPr/>
        </p:nvSpPr>
        <p:spPr>
          <a:xfrm>
            <a:off x="6172200" y="1133856"/>
            <a:ext cx="5532120" cy="4005072"/>
          </a:xfrm>
          <a:prstGeom prst="roundRect">
            <a:avLst>
              <a:gd name="adj" fmla="val 761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it-merge-teal.png"/>
          <p:cNvPicPr>
            <a:picLocks noChangeAspect="1"/>
          </p:cNvPicPr>
          <p:nvPr/>
        </p:nvPicPr>
        <p:blipFill>
          <a:blip r:embed="rId3"/>
          <a:stretch>
            <a:fillRect/>
          </a:stretch>
        </p:blipFill>
        <p:spPr>
          <a:xfrm>
            <a:off x="6373368" y="1261872"/>
            <a:ext cx="384048" cy="384048"/>
          </a:xfrm>
          <a:prstGeom prst="rect">
            <a:avLst/>
          </a:prstGeom>
        </p:spPr>
      </p:pic>
      <p:sp>
        <p:nvSpPr>
          <p:cNvPr id="17" name="TextBox 16"/>
          <p:cNvSpPr txBox="1"/>
          <p:nvPr/>
        </p:nvSpPr>
        <p:spPr>
          <a:xfrm>
            <a:off x="6885432" y="1280160"/>
            <a:ext cx="461772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Trunk-based — a short-lived branch</a:t>
            </a:r>
          </a:p>
        </p:txBody>
      </p:sp>
      <p:sp>
        <p:nvSpPr>
          <p:cNvPr id="18" name="TextBox 17"/>
          <p:cNvSpPr txBox="1"/>
          <p:nvPr/>
        </p:nvSpPr>
        <p:spPr>
          <a:xfrm>
            <a:off x="6373368" y="1609344"/>
            <a:ext cx="5129783" cy="658368"/>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Trunk-based development — a branch lives less than a day (DORA) and merges into the trunk. Git fixes textual conflicts, but not the semantic assumptions of the agent's branch.</a:t>
            </a:r>
          </a:p>
        </p:txBody>
      </p:sp>
      <p:sp>
        <p:nvSpPr>
          <p:cNvPr id="19" name="Rounded Rectangle 18"/>
          <p:cNvSpPr/>
          <p:nvPr/>
        </p:nvSpPr>
        <p:spPr>
          <a:xfrm>
            <a:off x="6355080" y="2286000"/>
            <a:ext cx="5166359" cy="292608"/>
          </a:xfrm>
          <a:prstGeom prst="roundRect">
            <a:avLst>
              <a:gd name="adj" fmla="val 1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3096" y="2313432"/>
            <a:ext cx="4910328" cy="256032"/>
          </a:xfrm>
          <a:prstGeom prst="rect">
            <a:avLst/>
          </a:prstGeom>
          <a:noFill/>
        </p:spPr>
        <p:txBody>
          <a:bodyPr wrap="square" lIns="0" rIns="0" tIns="0" bIns="0" anchor="ctr">
            <a:spAutoFit/>
          </a:bodyPr>
          <a:lstStyle/>
          <a:p>
            <a:pPr algn="l">
              <a:lnSpc>
                <a:spcPct val="104000"/>
              </a:lnSpc>
            </a:pPr>
            <a:r>
              <a:rPr sz="950" b="0" i="1">
                <a:solidFill>
                  <a:srgbClr val="5B6678"/>
                </a:solidFill>
                <a:latin typeface="DejaVu Sans"/>
              </a:rPr>
              <a:t>claude/fix-auth: opened in the morning, merged by lunch behind a flag</a:t>
            </a:r>
          </a:p>
        </p:txBody>
      </p:sp>
      <p:sp>
        <p:nvSpPr>
          <p:cNvPr id="21" name="Rounded Rectangle 20"/>
          <p:cNvSpPr/>
          <p:nvPr/>
        </p:nvSpPr>
        <p:spPr>
          <a:xfrm>
            <a:off x="6355080" y="2651760"/>
            <a:ext cx="5166359" cy="111556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1384" y="2706624"/>
            <a:ext cx="4873752" cy="237744"/>
          </a:xfrm>
          <a:prstGeom prst="rect">
            <a:avLst/>
          </a:prstGeom>
          <a:noFill/>
        </p:spPr>
        <p:txBody>
          <a:bodyPr wrap="square" lIns="0" rIns="0" tIns="0" bIns="0" anchor="t">
            <a:spAutoFit/>
          </a:bodyPr>
          <a:lstStyle/>
          <a:p>
            <a:pPr algn="l">
              <a:lnSpc>
                <a:spcPct val="100000"/>
              </a:lnSpc>
            </a:pPr>
            <a:r>
              <a:rPr sz="1400" b="1" i="0">
                <a:solidFill>
                  <a:srgbClr val="028090"/>
                </a:solidFill>
                <a:latin typeface="DejaVu Sans"/>
              </a:rPr>
              <a:t>+  </a:t>
            </a:r>
            <a:r>
              <a:rPr sz="1100" b="1" i="0">
                <a:solidFill>
                  <a:srgbClr val="028090"/>
                </a:solidFill>
                <a:latin typeface="DejaVu Sans"/>
              </a:rPr>
              <a:t>WHAT IT GIVES</a:t>
            </a:r>
          </a:p>
        </p:txBody>
      </p:sp>
      <p:sp>
        <p:nvSpPr>
          <p:cNvPr id="23" name="TextBox 22"/>
          <p:cNvSpPr txBox="1"/>
          <p:nvPr/>
        </p:nvSpPr>
        <p:spPr>
          <a:xfrm>
            <a:off x="6501384" y="2962656"/>
            <a:ext cx="4873752" cy="74980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The agent's branch has no time to drift from the trunk in meaning — and semantic drift is what git does not fix.</a:t>
            </a:r>
          </a:p>
          <a:p>
            <a:pPr algn="l">
              <a:lnSpc>
                <a:spcPct val="110000"/>
              </a:lnSpc>
              <a:spcBef>
                <a:spcPts val="400"/>
              </a:spcBef>
            </a:pPr>
            <a:r>
              <a:rPr sz="1050" b="0" i="0">
                <a:solidFill>
                  <a:srgbClr val="21295C"/>
                </a:solidFill>
                <a:latin typeface="DejaVu Sans"/>
              </a:rPr>
              <a:t>• Small frequent changes: review keeps up with the pace of agent commits, and the agent's branch prefix means something.</a:t>
            </a:r>
          </a:p>
        </p:txBody>
      </p:sp>
      <p:sp>
        <p:nvSpPr>
          <p:cNvPr id="24" name="Rounded Rectangle 23"/>
          <p:cNvSpPr/>
          <p:nvPr/>
        </p:nvSpPr>
        <p:spPr>
          <a:xfrm>
            <a:off x="6355080" y="3822191"/>
            <a:ext cx="5166359" cy="1316736"/>
          </a:xfrm>
          <a:prstGeom prst="roundRect">
            <a:avLst>
              <a:gd name="adj" fmla="val 6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1384" y="3877055"/>
            <a:ext cx="4873752" cy="237744"/>
          </a:xfrm>
          <a:prstGeom prst="rect">
            <a:avLst/>
          </a:prstGeom>
          <a:noFill/>
        </p:spPr>
        <p:txBody>
          <a:bodyPr wrap="square" lIns="0" rIns="0" tIns="0" bIns="0" anchor="t">
            <a:spAutoFit/>
          </a:bodyPr>
          <a:lstStyle/>
          <a:p>
            <a:pPr algn="l">
              <a:lnSpc>
                <a:spcPct val="100000"/>
              </a:lnSpc>
            </a:pPr>
            <a:r>
              <a:rPr sz="1400" b="1" i="0">
                <a:solidFill>
                  <a:srgbClr val="F0AB00"/>
                </a:solidFill>
                <a:latin typeface="DejaVu Sans"/>
              </a:rPr>
              <a:t>−  </a:t>
            </a:r>
            <a:r>
              <a:rPr sz="1100" b="1" i="0">
                <a:solidFill>
                  <a:srgbClr val="21295C"/>
                </a:solidFill>
                <a:latin typeface="DejaVu Sans"/>
              </a:rPr>
              <a:t>WHAT IT COSTS</a:t>
            </a:r>
          </a:p>
        </p:txBody>
      </p:sp>
      <p:sp>
        <p:nvSpPr>
          <p:cNvPr id="26" name="TextBox 25"/>
          <p:cNvSpPr txBox="1"/>
          <p:nvPr/>
        </p:nvSpPr>
        <p:spPr>
          <a:xfrm>
            <a:off x="6501384" y="4133087"/>
            <a:ext cx="4873752" cy="95097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Feature flags are mandatory: without them, merging unfinished work shows it to the user right away.</a:t>
            </a:r>
          </a:p>
          <a:p>
            <a:pPr algn="l">
              <a:lnSpc>
                <a:spcPct val="110000"/>
              </a:lnSpc>
              <a:spcBef>
                <a:spcPts val="400"/>
              </a:spcBef>
            </a:pPr>
            <a:r>
              <a:rPr sz="1050" b="0" i="0">
                <a:solidFill>
                  <a:srgbClr val="21295C"/>
                </a:solidFill>
                <a:latin typeface="DejaVu Sans"/>
              </a:rPr>
              <a:t>• You need a safety net — real test coverage and a green deterministic run; without it, frequent merges are more dangerous than a long branch.</a:t>
            </a:r>
          </a:p>
        </p:txBody>
      </p:sp>
      <p:sp>
        <p:nvSpPr>
          <p:cNvPr id="27" name="Rounded Rectangle 26"/>
          <p:cNvSpPr/>
          <p:nvPr/>
        </p:nvSpPr>
        <p:spPr>
          <a:xfrm>
            <a:off x="502920" y="5248656"/>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303520"/>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Both extend practices already named rather than adding a new axis: BDD earns its place where a non-technical stakeholder exists; trunk-based, where automated checks and feature flags already do.</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Cucumber — BDD documentation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303software.com — BDD adoption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trunkbaseddevelopment.com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agent's local toolkit: closing its five blind channels</a:t>
            </a:r>
          </a:p>
        </p:txBody>
      </p:sp>
      <p:sp>
        <p:nvSpPr>
          <p:cNvPr id="3" name="Rounded Rectangle 2"/>
          <p:cNvSpPr/>
          <p:nvPr/>
        </p:nvSpPr>
        <p:spPr>
          <a:xfrm>
            <a:off x="502920" y="1097280"/>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white.png"/>
          <p:cNvPicPr>
            <a:picLocks noChangeAspect="1"/>
          </p:cNvPicPr>
          <p:nvPr/>
        </p:nvPicPr>
        <p:blipFill>
          <a:blip r:embed="rId2"/>
          <a:stretch>
            <a:fillRect/>
          </a:stretch>
        </p:blipFill>
        <p:spPr>
          <a:xfrm>
            <a:off x="621792" y="1179576"/>
            <a:ext cx="365760" cy="365760"/>
          </a:xfrm>
          <a:prstGeom prst="rect">
            <a:avLst/>
          </a:prstGeom>
        </p:spPr>
      </p:pic>
      <p:sp>
        <p:nvSpPr>
          <p:cNvPr id="5" name="TextBox 4"/>
          <p:cNvSpPr txBox="1"/>
          <p:nvPr/>
        </p:nvSpPr>
        <p:spPr>
          <a:xfrm>
            <a:off x="1051560"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Data</a:t>
            </a:r>
          </a:p>
        </p:txBody>
      </p:sp>
      <p:sp>
        <p:nvSpPr>
          <p:cNvPr id="6" name="TextBox 5"/>
          <p:cNvSpPr txBox="1"/>
          <p:nvPr/>
        </p:nvSpPr>
        <p:spPr>
          <a:xfrm>
            <a:off x="1051560"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Testcontainers</a:t>
            </a:r>
          </a:p>
        </p:txBody>
      </p:sp>
      <p:sp>
        <p:nvSpPr>
          <p:cNvPr id="7" name="Rounded Rectangle 6"/>
          <p:cNvSpPr/>
          <p:nvPr/>
        </p:nvSpPr>
        <p:spPr>
          <a:xfrm>
            <a:off x="502920"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9" name="TextBox 8"/>
          <p:cNvSpPr txBox="1"/>
          <p:nvPr/>
        </p:nvSpPr>
        <p:spPr>
          <a:xfrm>
            <a:off x="630936"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Spins up a real Postgres / Kafka / Redis in Docker on a temporary port — on the agent's own machine.</a:t>
            </a:r>
          </a:p>
        </p:txBody>
      </p:sp>
      <p:sp>
        <p:nvSpPr>
          <p:cNvPr id="10" name="Rounded Rectangle 9"/>
          <p:cNvSpPr/>
          <p:nvPr/>
        </p:nvSpPr>
        <p:spPr>
          <a:xfrm>
            <a:off x="502920"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12" name="TextBox 11"/>
          <p:cNvSpPr txBox="1"/>
          <p:nvPr/>
        </p:nvSpPr>
        <p:spPr>
          <a:xfrm>
            <a:off x="630936"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checks a query against an imagined schema: the test is either never written, or green on a stub and red in prod.</a:t>
            </a:r>
          </a:p>
        </p:txBody>
      </p:sp>
      <p:sp>
        <p:nvSpPr>
          <p:cNvPr id="13" name="Rounded Rectangle 12"/>
          <p:cNvSpPr/>
          <p:nvPr/>
        </p:nvSpPr>
        <p:spPr>
          <a:xfrm>
            <a:off x="4285488" y="1097280"/>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ute-white.png"/>
          <p:cNvPicPr>
            <a:picLocks noChangeAspect="1"/>
          </p:cNvPicPr>
          <p:nvPr/>
        </p:nvPicPr>
        <p:blipFill>
          <a:blip r:embed="rId3"/>
          <a:stretch>
            <a:fillRect/>
          </a:stretch>
        </p:blipFill>
        <p:spPr>
          <a:xfrm>
            <a:off x="4404360" y="1179576"/>
            <a:ext cx="365760" cy="365760"/>
          </a:xfrm>
          <a:prstGeom prst="rect">
            <a:avLst/>
          </a:prstGeom>
        </p:spPr>
      </p:pic>
      <p:sp>
        <p:nvSpPr>
          <p:cNvPr id="15" name="TextBox 14"/>
          <p:cNvSpPr txBox="1"/>
          <p:nvPr/>
        </p:nvSpPr>
        <p:spPr>
          <a:xfrm>
            <a:off x="4834128"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Network</a:t>
            </a:r>
          </a:p>
        </p:txBody>
      </p:sp>
      <p:sp>
        <p:nvSpPr>
          <p:cNvPr id="16" name="TextBox 15"/>
          <p:cNvSpPr txBox="1"/>
          <p:nvPr/>
        </p:nvSpPr>
        <p:spPr>
          <a:xfrm>
            <a:off x="4834128"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MSW</a:t>
            </a:r>
          </a:p>
        </p:txBody>
      </p:sp>
      <p:sp>
        <p:nvSpPr>
          <p:cNvPr id="17" name="Rounded Rectangle 16"/>
          <p:cNvSpPr/>
          <p:nvPr/>
        </p:nvSpPr>
        <p:spPr>
          <a:xfrm>
            <a:off x="4285488"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3504"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19" name="TextBox 18"/>
          <p:cNvSpPr txBox="1"/>
          <p:nvPr/>
        </p:nvSpPr>
        <p:spPr>
          <a:xfrm>
            <a:off x="4413504"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Intercepts HTTP inside the process: one handler for both unit and end-to-end tests. Outside JS — WireMock (open source).</a:t>
            </a:r>
          </a:p>
        </p:txBody>
      </p:sp>
      <p:sp>
        <p:nvSpPr>
          <p:cNvPr id="20" name="Rounded Rectangle 19"/>
          <p:cNvSpPr/>
          <p:nvPr/>
        </p:nvSpPr>
        <p:spPr>
          <a:xfrm>
            <a:off x="4285488"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22" name="TextBox 21"/>
          <p:cNvSpPr txBox="1"/>
          <p:nvPr/>
        </p:nvSpPr>
        <p:spPr>
          <a:xfrm>
            <a:off x="4413504"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either hits the real API — flaky, paid, rate-limited — or does not test networking code at all.</a:t>
            </a:r>
          </a:p>
        </p:txBody>
      </p:sp>
      <p:sp>
        <p:nvSpPr>
          <p:cNvPr id="23" name="Rounded Rectangle 22"/>
          <p:cNvSpPr/>
          <p:nvPr/>
        </p:nvSpPr>
        <p:spPr>
          <a:xfrm>
            <a:off x="8068056" y="1097280"/>
            <a:ext cx="3636264"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onitor-white.png"/>
          <p:cNvPicPr>
            <a:picLocks noChangeAspect="1"/>
          </p:cNvPicPr>
          <p:nvPr/>
        </p:nvPicPr>
        <p:blipFill>
          <a:blip r:embed="rId4"/>
          <a:stretch>
            <a:fillRect/>
          </a:stretch>
        </p:blipFill>
        <p:spPr>
          <a:xfrm>
            <a:off x="8186928" y="1179576"/>
            <a:ext cx="365760" cy="365760"/>
          </a:xfrm>
          <a:prstGeom prst="rect">
            <a:avLst/>
          </a:prstGeom>
        </p:spPr>
      </p:pic>
      <p:sp>
        <p:nvSpPr>
          <p:cNvPr id="25" name="TextBox 24"/>
          <p:cNvSpPr txBox="1"/>
          <p:nvPr/>
        </p:nvSpPr>
        <p:spPr>
          <a:xfrm>
            <a:off x="8616696"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User interface</a:t>
            </a:r>
          </a:p>
        </p:txBody>
      </p:sp>
      <p:sp>
        <p:nvSpPr>
          <p:cNvPr id="26" name="TextBox 25"/>
          <p:cNvSpPr txBox="1"/>
          <p:nvPr/>
        </p:nvSpPr>
        <p:spPr>
          <a:xfrm>
            <a:off x="8616696"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Playwright</a:t>
            </a:r>
          </a:p>
        </p:txBody>
      </p:sp>
      <p:sp>
        <p:nvSpPr>
          <p:cNvPr id="27" name="Rounded Rectangle 26"/>
          <p:cNvSpPr/>
          <p:nvPr/>
        </p:nvSpPr>
        <p:spPr>
          <a:xfrm>
            <a:off x="8068056"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6072"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29" name="TextBox 28"/>
          <p:cNvSpPr txBox="1"/>
          <p:nvPr/>
        </p:nvSpPr>
        <p:spPr>
          <a:xfrm>
            <a:off x="8196072"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Gives the agent a browser: not a picture, but the page's element (accessibility) tree — it clicks, fills forms, emits a test.</a:t>
            </a:r>
          </a:p>
        </p:txBody>
      </p:sp>
      <p:sp>
        <p:nvSpPr>
          <p:cNvPr id="30" name="Rounded Rectangle 29"/>
          <p:cNvSpPr/>
          <p:nvPr/>
        </p:nvSpPr>
        <p:spPr>
          <a:xfrm>
            <a:off x="8068056"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96072"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32" name="TextBox 31"/>
          <p:cNvSpPr txBox="1"/>
          <p:nvPr/>
        </p:nvSpPr>
        <p:spPr>
          <a:xfrm>
            <a:off x="8196072"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never sees the real interface: front-end debugging runs blind and is essentially pointless.</a:t>
            </a:r>
          </a:p>
        </p:txBody>
      </p:sp>
      <p:sp>
        <p:nvSpPr>
          <p:cNvPr id="33" name="Rounded Rectangle 32"/>
          <p:cNvSpPr/>
          <p:nvPr/>
        </p:nvSpPr>
        <p:spPr>
          <a:xfrm>
            <a:off x="502920" y="3364992"/>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terminal-white.png"/>
          <p:cNvPicPr>
            <a:picLocks noChangeAspect="1"/>
          </p:cNvPicPr>
          <p:nvPr/>
        </p:nvPicPr>
        <p:blipFill>
          <a:blip r:embed="rId5"/>
          <a:stretch>
            <a:fillRect/>
          </a:stretch>
        </p:blipFill>
        <p:spPr>
          <a:xfrm>
            <a:off x="621792" y="3447288"/>
            <a:ext cx="365760" cy="365760"/>
          </a:xfrm>
          <a:prstGeom prst="rect">
            <a:avLst/>
          </a:prstGeom>
        </p:spPr>
      </p:pic>
      <p:sp>
        <p:nvSpPr>
          <p:cNvPr id="35" name="TextBox 34"/>
          <p:cNvSpPr txBox="1"/>
          <p:nvPr/>
        </p:nvSpPr>
        <p:spPr>
          <a:xfrm>
            <a:off x="1051560" y="3401568"/>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Your own checks</a:t>
            </a:r>
          </a:p>
        </p:txBody>
      </p:sp>
      <p:sp>
        <p:nvSpPr>
          <p:cNvPr id="36" name="TextBox 35"/>
          <p:cNvSpPr txBox="1"/>
          <p:nvPr/>
        </p:nvSpPr>
        <p:spPr>
          <a:xfrm>
            <a:off x="1051560" y="3593592"/>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a skill wrapper</a:t>
            </a:r>
          </a:p>
        </p:txBody>
      </p:sp>
      <p:sp>
        <p:nvSpPr>
          <p:cNvPr id="37" name="Rounded Rectangle 36"/>
          <p:cNvSpPr/>
          <p:nvPr/>
        </p:nvSpPr>
        <p:spPr>
          <a:xfrm>
            <a:off x="502920" y="3931920"/>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3968496"/>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39" name="TextBox 38"/>
          <p:cNvSpPr txBox="1"/>
          <p:nvPr/>
        </p:nvSpPr>
        <p:spPr>
          <a:xfrm>
            <a:off x="630936" y="4142232"/>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Packs the repository's existing "linter → type check → tests" loop into a single call.</a:t>
            </a:r>
          </a:p>
        </p:txBody>
      </p:sp>
      <p:sp>
        <p:nvSpPr>
          <p:cNvPr id="40" name="Rounded Rectangle 39"/>
          <p:cNvSpPr/>
          <p:nvPr/>
        </p:nvSpPr>
        <p:spPr>
          <a:xfrm>
            <a:off x="502920" y="4736592"/>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4773168"/>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42" name="TextBox 41"/>
          <p:cNvSpPr txBox="1"/>
          <p:nvPr/>
        </p:nvSpPr>
        <p:spPr>
          <a:xfrm>
            <a:off x="630936" y="4946904"/>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guesses the project's commands every time — and silently skips the check it never knew about.</a:t>
            </a:r>
          </a:p>
        </p:txBody>
      </p:sp>
      <p:sp>
        <p:nvSpPr>
          <p:cNvPr id="43" name="Rounded Rectangle 42"/>
          <p:cNvSpPr/>
          <p:nvPr/>
        </p:nvSpPr>
        <p:spPr>
          <a:xfrm>
            <a:off x="4285488" y="3364992"/>
            <a:ext cx="3636264"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lock-white.png"/>
          <p:cNvPicPr>
            <a:picLocks noChangeAspect="1"/>
          </p:cNvPicPr>
          <p:nvPr/>
        </p:nvPicPr>
        <p:blipFill>
          <a:blip r:embed="rId6"/>
          <a:stretch>
            <a:fillRect/>
          </a:stretch>
        </p:blipFill>
        <p:spPr>
          <a:xfrm>
            <a:off x="4404360" y="3447288"/>
            <a:ext cx="365760" cy="365760"/>
          </a:xfrm>
          <a:prstGeom prst="rect">
            <a:avLst/>
          </a:prstGeom>
        </p:spPr>
      </p:pic>
      <p:sp>
        <p:nvSpPr>
          <p:cNvPr id="45" name="TextBox 44"/>
          <p:cNvSpPr txBox="1"/>
          <p:nvPr/>
        </p:nvSpPr>
        <p:spPr>
          <a:xfrm>
            <a:off x="4834128" y="3401568"/>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Air-gapped setup</a:t>
            </a:r>
          </a:p>
        </p:txBody>
      </p:sp>
      <p:sp>
        <p:nvSpPr>
          <p:cNvPr id="46" name="TextBox 45"/>
          <p:cNvSpPr txBox="1"/>
          <p:nvPr/>
        </p:nvSpPr>
        <p:spPr>
          <a:xfrm>
            <a:off x="4834128" y="3593592"/>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pytest-generator</a:t>
            </a:r>
          </a:p>
        </p:txBody>
      </p:sp>
      <p:sp>
        <p:nvSpPr>
          <p:cNvPr id="47" name="Rounded Rectangle 46"/>
          <p:cNvSpPr/>
          <p:nvPr/>
        </p:nvSpPr>
        <p:spPr>
          <a:xfrm>
            <a:off x="4285488" y="3931920"/>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3504" y="3968496"/>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49" name="TextBox 48"/>
          <p:cNvSpPr txBox="1"/>
          <p:nvPr/>
        </p:nvSpPr>
        <p:spPr>
          <a:xfrm>
            <a:off x="4413504" y="4142232"/>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A fine-tuned 8-billion-parameter model (~5 GB, a CPU build exists) writes test skeletons on the machine.</a:t>
            </a:r>
          </a:p>
        </p:txBody>
      </p:sp>
      <p:sp>
        <p:nvSpPr>
          <p:cNvPr id="50" name="Rounded Rectangle 49"/>
          <p:cNvSpPr/>
          <p:nvPr/>
        </p:nvSpPr>
        <p:spPr>
          <a:xfrm>
            <a:off x="4285488" y="4736592"/>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13504" y="4773168"/>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52" name="TextBox 51"/>
          <p:cNvSpPr txBox="1"/>
          <p:nvPr/>
        </p:nvSpPr>
        <p:spPr>
          <a:xfrm>
            <a:off x="4413504" y="4946904"/>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Any AI test generation = sending source code to an external service: in an air-gapped setup that is a ban.</a:t>
            </a:r>
          </a:p>
        </p:txBody>
      </p:sp>
      <p:sp>
        <p:nvSpPr>
          <p:cNvPr id="53" name="Rounded Rectangle 52"/>
          <p:cNvSpPr/>
          <p:nvPr/>
        </p:nvSpPr>
        <p:spPr>
          <a:xfrm>
            <a:off x="8068056" y="3364992"/>
            <a:ext cx="3636264" cy="221284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32648" y="3493008"/>
            <a:ext cx="330708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How to choose</a:t>
            </a:r>
          </a:p>
        </p:txBody>
      </p:sp>
      <p:sp>
        <p:nvSpPr>
          <p:cNvPr id="55" name="TextBox 54"/>
          <p:cNvSpPr txBox="1"/>
          <p:nvPr/>
        </p:nvSpPr>
        <p:spPr>
          <a:xfrm>
            <a:off x="8232648" y="3822191"/>
            <a:ext cx="3307080" cy="1645920"/>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Each tool closes exactly one channel the agent is blind in: data, network, user interface, your own checks, an air-gapped setup.</a:t>
            </a:r>
          </a:p>
          <a:p>
            <a:pPr algn="l">
              <a:lnSpc>
                <a:spcPct val="110000"/>
              </a:lnSpc>
            </a:pPr>
            <a:r>
              <a:rPr sz="1000" b="0" i="0">
                <a:solidFill>
                  <a:srgbClr val="21295C"/>
                </a:solidFill>
                <a:latin typeface="DejaVu Sans"/>
              </a:rPr>
              <a:t/>
            </a:r>
          </a:p>
          <a:p>
            <a:pPr algn="l">
              <a:lnSpc>
                <a:spcPct val="110000"/>
              </a:lnSpc>
            </a:pPr>
            <a:r>
              <a:rPr sz="1000" b="0" i="0">
                <a:solidFill>
                  <a:srgbClr val="21295C"/>
                </a:solidFill>
                <a:latin typeface="DejaVu Sans"/>
              </a:rPr>
              <a:t>Local, deterministic and already working — take it and wrap it; the only thing worth writing yourself is a wrapper around your own check loop.</a:t>
            </a:r>
          </a:p>
        </p:txBody>
      </p:sp>
      <p:sp>
        <p:nvSpPr>
          <p:cNvPr id="56" name="Rounded Rectangle 55"/>
          <p:cNvSpPr/>
          <p:nvPr/>
        </p:nvSpPr>
        <p:spPr>
          <a:xfrm>
            <a:off x="502920" y="5650992"/>
            <a:ext cx="11201400" cy="438912"/>
          </a:xfrm>
          <a:prstGeom prst="roundRect">
            <a:avLst>
              <a:gd name="adj" fmla="val 11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 y="5687568"/>
            <a:ext cx="10872216" cy="365760"/>
          </a:xfrm>
          <a:prstGeom prst="rect">
            <a:avLst/>
          </a:prstGeom>
          <a:noFill/>
        </p:spPr>
        <p:txBody>
          <a:bodyPr wrap="square" lIns="0" rIns="0" tIns="0" bIns="0" anchor="ctr">
            <a:spAutoFit/>
          </a:bodyPr>
          <a:lstStyle/>
          <a:p>
            <a:pPr algn="l">
              <a:lnSpc>
                <a:spcPct val="108000"/>
              </a:lnSpc>
            </a:pPr>
            <a:r>
              <a:rPr sz="950" b="0" i="1">
                <a:solidFill>
                  <a:srgbClr val="5B6678"/>
                </a:solidFill>
                <a:latin typeface="DejaVu Sans"/>
              </a:rPr>
              <a:t>Honest limits: without a real sample API response an MSW mock is the agent's guess, not a contract · WireMock's AI features live in the paid WireMock Cloud, not in the local open-source core · pytest-generator — ~77% accuracy claimed by the vendor, not independently verified, adoption low.</a:t>
            </a:r>
          </a:p>
        </p:txBody>
      </p:sp>
      <p:sp>
        <p:nvSpPr>
          <p:cNvPr id="58" name="TextBox 5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Testcontainers — official site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MSW (Mock Service Worker) — documentation</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WireMock — OSS vs Cloud</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pytest-generator (Distil Labs)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Review failure: complacency, the "fake in seconds, triage in hours" asymmetry, and a load shift onto seniors</a:t>
            </a:r>
          </a:p>
        </p:txBody>
      </p:sp>
      <p:sp>
        <p:nvSpPr>
          <p:cNvPr id="3" name="Rounded Rectangle 2"/>
          <p:cNvSpPr/>
          <p:nvPr/>
        </p:nvSpPr>
        <p:spPr>
          <a:xfrm>
            <a:off x="50292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426464"/>
            <a:ext cx="384048" cy="384048"/>
          </a:xfrm>
          <a:prstGeom prst="rect">
            <a:avLst/>
          </a:prstGeom>
        </p:spPr>
      </p:pic>
      <p:sp>
        <p:nvSpPr>
          <p:cNvPr id="5" name="TextBox 4"/>
          <p:cNvSpPr txBox="1"/>
          <p:nvPr/>
        </p:nvSpPr>
        <p:spPr>
          <a:xfrm>
            <a:off x="1179576" y="1426464"/>
            <a:ext cx="2697480"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1. Complacency toward AI code </a:t>
            </a:r>
            <a:r>
              <a:rPr sz="624" baseline="30000" b="0" i="1">
                <a:latin typeface="DejaVu Sans"/>
                <a:cs typeface="DejaVu Sans"/>
                <a:ea typeface="DejaVu Sans"/>
                <a:solidFill>
                  <a:srgbClr val="1C7293"/>
                </a:solidFill>
              </a:rPr>
              <a:t>[1]</a:t>
            </a:r>
          </a:p>
        </p:txBody>
      </p:sp>
      <p:sp>
        <p:nvSpPr>
          <p:cNvPr id="6" name="TextBox 5"/>
          <p:cNvSpPr txBox="1"/>
          <p:nvPr/>
        </p:nvSpPr>
        <p:spPr>
          <a:xfrm>
            <a:off x="1179576" y="1737360"/>
            <a:ext cx="2697480" cy="256032"/>
          </a:xfrm>
          <a:prstGeom prst="rect">
            <a:avLst/>
          </a:prstGeom>
          <a:noFill/>
        </p:spPr>
        <p:txBody>
          <a:bodyPr wrap="square" lIns="0" rIns="0" tIns="0" bIns="0" anchor="t">
            <a:spAutoFit/>
          </a:bodyPr>
          <a:lstStyle/>
          <a:p>
            <a:pPr algn="l">
              <a:lnSpc>
                <a:spcPct val="115000"/>
              </a:lnSpc>
            </a:pPr>
            <a:r>
              <a:rPr sz="900" b="0" i="1">
                <a:solidFill>
                  <a:srgbClr val="5B6678"/>
                </a:solidFill>
                <a:latin typeface="DejaVu Sans"/>
              </a:rPr>
              <a:t>Thoughtworks Radar — the Hold ring</a:t>
            </a:r>
          </a:p>
        </p:txBody>
      </p:sp>
      <p:sp>
        <p:nvSpPr>
          <p:cNvPr id="7" name="TextBox 6"/>
          <p:cNvSpPr txBox="1"/>
          <p:nvPr/>
        </p:nvSpPr>
        <p:spPr>
          <a:xfrm>
            <a:off x="722376" y="2121408"/>
            <a:ext cx="315468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Uncritical acceptance of AI code, a drop in critical thinking. CodeCrash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misleading comments crash the model’s reasoning (~−23%).</a:t>
            </a:r>
          </a:p>
        </p:txBody>
      </p:sp>
      <p:sp>
        <p:nvSpPr>
          <p:cNvPr id="8" name="Rounded Rectangle 7"/>
          <p:cNvSpPr/>
          <p:nvPr/>
        </p:nvSpPr>
        <p:spPr>
          <a:xfrm>
            <a:off x="722376" y="2798064"/>
            <a:ext cx="3154680" cy="603504"/>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834639"/>
            <a:ext cx="2898648" cy="530352"/>
          </a:xfrm>
          <a:prstGeom prst="rect">
            <a:avLst/>
          </a:prstGeom>
          <a:noFill/>
        </p:spPr>
        <p:txBody>
          <a:bodyPr wrap="square" lIns="0" rIns="0" tIns="0" bIns="0" anchor="ctr">
            <a:spAutoFit/>
          </a:bodyPr>
          <a:lstStyle/>
          <a:p>
            <a:pPr algn="l">
              <a:lnSpc>
                <a:spcPct val="110000"/>
              </a:lnSpc>
            </a:pPr>
            <a:r>
              <a:rPr sz="950" b="1" i="0">
                <a:solidFill>
                  <a:srgbClr val="21295C"/>
                </a:solidFill>
                <a:latin typeface="DejaVu Sans"/>
              </a:rPr>
              <a:t>AI review ~19% F1 (SWR-Bench) — against human review as the baseline.</a:t>
            </a:r>
          </a:p>
        </p:txBody>
      </p:sp>
      <p:sp>
        <p:nvSpPr>
          <p:cNvPr id="10" name="TextBox 9"/>
          <p:cNvSpPr txBox="1"/>
          <p:nvPr/>
        </p:nvSpPr>
        <p:spPr>
          <a:xfrm>
            <a:off x="722376" y="3511296"/>
            <a:ext cx="3154680" cy="274320"/>
          </a:xfrm>
          <a:prstGeom prst="rect">
            <a:avLst/>
          </a:prstGeom>
          <a:noFill/>
        </p:spPr>
        <p:txBody>
          <a:bodyPr wrap="square" lIns="0" rIns="0" tIns="0" bIns="0" anchor="t">
            <a:spAutoFit/>
          </a:bodyPr>
          <a:lstStyle/>
          <a:p>
            <a:pPr algn="l">
              <a:lnSpc>
                <a:spcPct val="115000"/>
              </a:lnSpc>
            </a:pPr>
            <a:r>
              <a:rPr sz="1050" b="1" i="0">
                <a:solidFill>
                  <a:srgbClr val="065A82"/>
                </a:solidFill>
                <a:latin typeface="DejaVu Sans"/>
              </a:rPr>
              <a:t>Rubber-Stamp Collapse, 470 PRs </a:t>
            </a:r>
            <a:r>
              <a:rPr sz="546" baseline="30000" b="0" i="1">
                <a:latin typeface="DejaVu Sans"/>
                <a:cs typeface="DejaVu Sans"/>
                <a:ea typeface="DejaVu Sans"/>
                <a:solidFill>
                  <a:srgbClr val="1C7293"/>
                </a:solidFill>
              </a:rPr>
              <a:t>[4]</a:t>
            </a:r>
          </a:p>
        </p:txBody>
      </p:sp>
      <p:sp>
        <p:nvSpPr>
          <p:cNvPr id="11" name="TextBox 10"/>
          <p:cNvSpPr txBox="1"/>
          <p:nvPr/>
        </p:nvSpPr>
        <p:spPr>
          <a:xfrm>
            <a:off x="722376" y="3803904"/>
            <a:ext cx="3154680" cy="65836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+170% findings, +40% of them critical, ×2.74 vulnerabilities; across 22,000 developers — +242.7% incidents per PR.</a:t>
            </a:r>
          </a:p>
        </p:txBody>
      </p:sp>
      <p:sp>
        <p:nvSpPr>
          <p:cNvPr id="12" name="TextBox 11"/>
          <p:cNvSpPr txBox="1"/>
          <p:nvPr/>
        </p:nvSpPr>
        <p:spPr>
          <a:xfrm>
            <a:off x="722376" y="4480560"/>
            <a:ext cx="3154680" cy="566928"/>
          </a:xfrm>
          <a:prstGeom prst="rect">
            <a:avLst/>
          </a:prstGeom>
          <a:noFill/>
        </p:spPr>
        <p:txBody>
          <a:bodyPr wrap="square" lIns="0" rIns="0" tIns="0" bIns="0" anchor="t">
            <a:spAutoFit/>
          </a:bodyPr>
          <a:lstStyle/>
          <a:p>
            <a:pPr algn="l">
              <a:lnSpc>
                <a:spcPct val="112000"/>
              </a:lnSpc>
            </a:pPr>
            <a:r>
              <a:rPr sz="950" b="0" i="1">
                <a:solidFill>
                  <a:srgbClr val="5B6678"/>
                </a:solidFill>
                <a:latin typeface="DejaVu Sans"/>
              </a:rPr>
              <a:t>Stenberg: AI analyzers "in the right hands" do find real bugs — what is broken is the process architecture, not the model.</a:t>
            </a:r>
          </a:p>
        </p:txBody>
      </p:sp>
      <p:sp>
        <p:nvSpPr>
          <p:cNvPr id="13" name="Rounded Rectangle 12"/>
          <p:cNvSpPr/>
          <p:nvPr/>
        </p:nvSpPr>
        <p:spPr>
          <a:xfrm>
            <a:off x="429768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age-x-mid.png"/>
          <p:cNvPicPr>
            <a:picLocks noChangeAspect="1"/>
          </p:cNvPicPr>
          <p:nvPr/>
        </p:nvPicPr>
        <p:blipFill>
          <a:blip r:embed="rId3"/>
          <a:stretch>
            <a:fillRect/>
          </a:stretch>
        </p:blipFill>
        <p:spPr>
          <a:xfrm>
            <a:off x="4517136" y="1426464"/>
            <a:ext cx="384048" cy="384048"/>
          </a:xfrm>
          <a:prstGeom prst="rect">
            <a:avLst/>
          </a:prstGeom>
        </p:spPr>
      </p:pic>
      <p:sp>
        <p:nvSpPr>
          <p:cNvPr id="15" name="TextBox 14"/>
          <p:cNvSpPr txBox="1"/>
          <p:nvPr/>
        </p:nvSpPr>
        <p:spPr>
          <a:xfrm>
            <a:off x="4974336" y="1426464"/>
            <a:ext cx="2404872" cy="566928"/>
          </a:xfrm>
          <a:prstGeom prst="rect">
            <a:avLst/>
          </a:prstGeom>
          <a:noFill/>
        </p:spPr>
        <p:txBody>
          <a:bodyPr wrap="square" lIns="0" rIns="0" tIns="0" bIns="0" anchor="t">
            <a:spAutoFit/>
          </a:bodyPr>
          <a:lstStyle/>
          <a:p>
            <a:pPr algn="l">
              <a:lnSpc>
                <a:spcPct val="106000"/>
              </a:lnSpc>
            </a:pPr>
            <a:r>
              <a:rPr sz="1200" b="1" i="0">
                <a:solidFill>
                  <a:srgbClr val="065A82"/>
                </a:solidFill>
                <a:latin typeface="DejaVu Sans"/>
              </a:rPr>
              <a:t>2. curl-slop as a DDoS on maintainers </a:t>
            </a:r>
            <a:r>
              <a:rPr sz="624" baseline="30000" b="0" i="1">
                <a:latin typeface="DejaVu Sans"/>
                <a:cs typeface="DejaVu Sans"/>
                <a:ea typeface="DejaVu Sans"/>
                <a:solidFill>
                  <a:srgbClr val="1C7293"/>
                </a:solidFill>
              </a:rPr>
              <a:t>[2]</a:t>
            </a:r>
          </a:p>
        </p:txBody>
      </p:sp>
      <p:pic>
        <p:nvPicPr>
          <p:cNvPr id="16" name="Picture 15" descr="curl-logo.png"/>
          <p:cNvPicPr>
            <a:picLocks noChangeAspect="1"/>
          </p:cNvPicPr>
          <p:nvPr/>
        </p:nvPicPr>
        <p:blipFill>
          <a:blip r:embed="rId4"/>
          <a:stretch>
            <a:fillRect/>
          </a:stretch>
        </p:blipFill>
        <p:spPr>
          <a:xfrm>
            <a:off x="7379208" y="1408176"/>
            <a:ext cx="365760" cy="365760"/>
          </a:xfrm>
          <a:prstGeom prst="rect">
            <a:avLst/>
          </a:prstGeom>
        </p:spPr>
      </p:pic>
      <p:sp>
        <p:nvSpPr>
          <p:cNvPr id="17" name="TextBox 16"/>
          <p:cNvSpPr txBox="1"/>
          <p:nvPr/>
        </p:nvSpPr>
        <p:spPr>
          <a:xfrm>
            <a:off x="7050024" y="1792224"/>
            <a:ext cx="694944"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curl — official logo</a:t>
            </a:r>
          </a:p>
        </p:txBody>
      </p:sp>
      <p:sp>
        <p:nvSpPr>
          <p:cNvPr id="18" name="TextBox 17"/>
          <p:cNvSpPr txBox="1"/>
          <p:nvPr/>
        </p:nvSpPr>
        <p:spPr>
          <a:xfrm>
            <a:off x="4517136" y="2084831"/>
            <a:ext cx="3154680" cy="40233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flood of LLM "vulnerability reports" into the curl bug bounty.</a:t>
            </a:r>
          </a:p>
        </p:txBody>
      </p:sp>
      <p:sp>
        <p:nvSpPr>
          <p:cNvPr id="19" name="Rounded Rectangle 18"/>
          <p:cNvSpPr/>
          <p:nvPr/>
        </p:nvSpPr>
        <p:spPr>
          <a:xfrm>
            <a:off x="4517136" y="2523744"/>
            <a:ext cx="3154680" cy="713232"/>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2560320"/>
            <a:ext cx="2898648" cy="640080"/>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Cost asymmetry: a fake takes seconds, refuting it takes hours of a maintainer’s time.</a:t>
            </a:r>
          </a:p>
        </p:txBody>
      </p:sp>
      <p:sp>
        <p:nvSpPr>
          <p:cNvPr id="21" name="TextBox 20"/>
          <p:cNvSpPr txBox="1"/>
          <p:nvPr/>
        </p:nvSpPr>
        <p:spPr>
          <a:xfrm>
            <a:off x="4517136" y="3346704"/>
            <a:ext cx="3154680" cy="65836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Valid reports &gt;15% → &lt;5% (~1 in 20–30); volume grew several-fold; the program was suspended and moved back to HackerOne in March 2026.</a:t>
            </a:r>
          </a:p>
        </p:txBody>
      </p:sp>
      <p:sp>
        <p:nvSpPr>
          <p:cNvPr id="22" name="Rounded Rectangle 21"/>
          <p:cNvSpPr/>
          <p:nvPr/>
        </p:nvSpPr>
        <p:spPr>
          <a:xfrm>
            <a:off x="4517136" y="4059935"/>
            <a:ext cx="3154680" cy="932688"/>
          </a:xfrm>
          <a:prstGeom prst="roundRect">
            <a:avLst>
              <a:gd name="adj" fmla="val 7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square-warning-mid.png"/>
          <p:cNvPicPr>
            <a:picLocks noChangeAspect="1"/>
          </p:cNvPicPr>
          <p:nvPr/>
        </p:nvPicPr>
        <p:blipFill>
          <a:blip r:embed="rId5"/>
          <a:stretch>
            <a:fillRect/>
          </a:stretch>
        </p:blipFill>
        <p:spPr>
          <a:xfrm>
            <a:off x="4626864" y="4133087"/>
            <a:ext cx="274320" cy="274320"/>
          </a:xfrm>
          <a:prstGeom prst="rect">
            <a:avLst/>
          </a:prstGeom>
        </p:spPr>
      </p:pic>
      <p:sp>
        <p:nvSpPr>
          <p:cNvPr id="24" name="TextBox 23"/>
          <p:cNvSpPr txBox="1"/>
          <p:nvPr/>
        </p:nvSpPr>
        <p:spPr>
          <a:xfrm>
            <a:off x="4956048" y="4123944"/>
            <a:ext cx="2679192" cy="256032"/>
          </a:xfrm>
          <a:prstGeom prst="rect">
            <a:avLst/>
          </a:prstGeom>
          <a:noFill/>
        </p:spPr>
        <p:txBody>
          <a:bodyPr wrap="square" lIns="0" rIns="0" tIns="0" bIns="0" anchor="t">
            <a:spAutoFit/>
          </a:bodyPr>
          <a:lstStyle/>
          <a:p>
            <a:pPr algn="l">
              <a:lnSpc>
                <a:spcPct val="115000"/>
              </a:lnSpc>
            </a:pPr>
            <a:r>
              <a:rPr sz="950" b="1" i="0">
                <a:solidFill>
                  <a:srgbClr val="21295C"/>
                </a:solidFill>
                <a:latin typeface="DejaVu Sans"/>
              </a:rPr>
              <a:t>matplotlib, February 2026 </a:t>
            </a:r>
            <a:r>
              <a:rPr sz="494" baseline="30000" b="0" i="1">
                <a:latin typeface="DejaVu Sans"/>
                <a:cs typeface="DejaVu Sans"/>
                <a:ea typeface="DejaVu Sans"/>
                <a:solidFill>
                  <a:srgbClr val="1C7293"/>
                </a:solidFill>
              </a:rPr>
              <a:t>[5]</a:t>
            </a:r>
          </a:p>
        </p:txBody>
      </p:sp>
      <p:sp>
        <p:nvSpPr>
          <p:cNvPr id="25" name="TextBox 24"/>
          <p:cNvSpPr txBox="1"/>
          <p:nvPr/>
        </p:nvSpPr>
        <p:spPr>
          <a:xfrm>
            <a:off x="4626864" y="4407408"/>
            <a:ext cx="2935224" cy="530352"/>
          </a:xfrm>
          <a:prstGeom prst="rect">
            <a:avLst/>
          </a:prstGeom>
          <a:noFill/>
        </p:spPr>
        <p:txBody>
          <a:bodyPr wrap="square" lIns="0" rIns="0" tIns="0" bIns="0" anchor="t">
            <a:spAutoFit/>
          </a:bodyPr>
          <a:lstStyle/>
          <a:p>
            <a:pPr algn="l">
              <a:lnSpc>
                <a:spcPct val="110000"/>
              </a:lnSpc>
            </a:pPr>
            <a:r>
              <a:rPr sz="900" b="0" i="0">
                <a:solidFill>
                  <a:srgbClr val="21295C"/>
                </a:solidFill>
                <a:latin typeface="DejaVu Sans"/>
              </a:rPr>
              <a:t>An AI agent wrote and published an essay against the maintainer who closed its PR — the same economics, aimed at a person.</a:t>
            </a:r>
          </a:p>
        </p:txBody>
      </p:sp>
      <p:sp>
        <p:nvSpPr>
          <p:cNvPr id="26" name="Rounded Rectangle 25"/>
          <p:cNvSpPr/>
          <p:nvPr/>
        </p:nvSpPr>
        <p:spPr>
          <a:xfrm>
            <a:off x="809244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ale-teal.png"/>
          <p:cNvPicPr>
            <a:picLocks noChangeAspect="1"/>
          </p:cNvPicPr>
          <p:nvPr/>
        </p:nvPicPr>
        <p:blipFill>
          <a:blip r:embed="rId6"/>
          <a:stretch>
            <a:fillRect/>
          </a:stretch>
        </p:blipFill>
        <p:spPr>
          <a:xfrm>
            <a:off x="8311896" y="1426464"/>
            <a:ext cx="384048" cy="384048"/>
          </a:xfrm>
          <a:prstGeom prst="rect">
            <a:avLst/>
          </a:prstGeom>
        </p:spPr>
      </p:pic>
      <p:sp>
        <p:nvSpPr>
          <p:cNvPr id="28" name="TextBox 27"/>
          <p:cNvSpPr txBox="1"/>
          <p:nvPr/>
        </p:nvSpPr>
        <p:spPr>
          <a:xfrm>
            <a:off x="8769096" y="1426464"/>
            <a:ext cx="2697480" cy="566928"/>
          </a:xfrm>
          <a:prstGeom prst="rect">
            <a:avLst/>
          </a:prstGeom>
          <a:noFill/>
        </p:spPr>
        <p:txBody>
          <a:bodyPr wrap="square" lIns="0" rIns="0" tIns="0" bIns="0" anchor="t">
            <a:spAutoFit/>
          </a:bodyPr>
          <a:lstStyle/>
          <a:p>
            <a:pPr algn="l">
              <a:lnSpc>
                <a:spcPct val="106000"/>
              </a:lnSpc>
            </a:pPr>
            <a:r>
              <a:rPr sz="1200" b="1" i="0">
                <a:solidFill>
                  <a:srgbClr val="065A82"/>
                </a:solidFill>
                <a:latin typeface="DejaVu Sans"/>
              </a:rPr>
              <a:t>3. Not a net gain, a redistribution </a:t>
            </a:r>
            <a:r>
              <a:rPr sz="624" baseline="30000" b="0" i="1">
                <a:latin typeface="DejaVu Sans"/>
                <a:cs typeface="DejaVu Sans"/>
                <a:ea typeface="DejaVu Sans"/>
                <a:solidFill>
                  <a:srgbClr val="1C7293"/>
                </a:solidFill>
              </a:rPr>
              <a:t>[6]</a:t>
            </a:r>
          </a:p>
        </p:txBody>
      </p:sp>
      <p:sp>
        <p:nvSpPr>
          <p:cNvPr id="29" name="TextBox 28"/>
          <p:cNvSpPr txBox="1"/>
          <p:nvPr/>
        </p:nvSpPr>
        <p:spPr>
          <a:xfrm>
            <a:off x="8311896" y="2048256"/>
            <a:ext cx="3154680" cy="713232"/>
          </a:xfrm>
          <a:prstGeom prst="rect">
            <a:avLst/>
          </a:prstGeom>
          <a:noFill/>
        </p:spPr>
        <p:txBody>
          <a:bodyPr wrap="square" lIns="0" rIns="0" tIns="0" bIns="0" anchor="t">
            <a:spAutoFit/>
          </a:bodyPr>
          <a:lstStyle/>
          <a:p>
            <a:pPr algn="l">
              <a:lnSpc>
                <a:spcPct val="114000"/>
              </a:lnSpc>
            </a:pPr>
            <a:r>
              <a:rPr sz="900" b="0" i="1">
                <a:solidFill>
                  <a:srgbClr val="5B6678"/>
                </a:solidFill>
                <a:latin typeface="DejaVu Sans"/>
              </a:rPr>
              <a:t>Xu et al.: 2,755 GitHub repositories, 1,699 contributors, 12 months before and after Copilot. The "core" = top 25% by commits BEFORE, the "periphery" = the other 75%.</a:t>
            </a:r>
          </a:p>
        </p:txBody>
      </p:sp>
      <p:sp>
        <p:nvSpPr>
          <p:cNvPr id="30" name="Rounded Rectangle 29"/>
          <p:cNvSpPr/>
          <p:nvPr/>
        </p:nvSpPr>
        <p:spPr>
          <a:xfrm>
            <a:off x="8311896" y="2798064"/>
            <a:ext cx="3154680" cy="585216"/>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9912" y="2834639"/>
            <a:ext cx="2898648" cy="512064"/>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Periphery (juniors): commits +43.5%, PRs +17.7%</a:t>
            </a:r>
          </a:p>
        </p:txBody>
      </p:sp>
      <p:sp>
        <p:nvSpPr>
          <p:cNvPr id="32" name="Rounded Rectangle 31"/>
          <p:cNvSpPr/>
          <p:nvPr/>
        </p:nvSpPr>
        <p:spPr>
          <a:xfrm>
            <a:off x="8311896" y="3438144"/>
            <a:ext cx="3154680" cy="585216"/>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9912" y="3474720"/>
            <a:ext cx="2898648" cy="512064"/>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Core (seniors): own commits −19%, reviewing others’ +6.5%</a:t>
            </a:r>
          </a:p>
        </p:txBody>
      </p:sp>
      <p:sp>
        <p:nvSpPr>
          <p:cNvPr id="34" name="TextBox 33"/>
          <p:cNvSpPr txBox="1"/>
          <p:nvPr/>
        </p:nvSpPr>
        <p:spPr>
          <a:xfrm>
            <a:off x="8311896" y="4114800"/>
            <a:ext cx="3154680" cy="256032"/>
          </a:xfrm>
          <a:prstGeom prst="rect">
            <a:avLst/>
          </a:prstGeom>
          <a:noFill/>
        </p:spPr>
        <p:txBody>
          <a:bodyPr wrap="square" lIns="0" rIns="0" tIns="0" bIns="0" anchor="t">
            <a:spAutoFit/>
          </a:bodyPr>
          <a:lstStyle/>
          <a:p>
            <a:pPr algn="l">
              <a:lnSpc>
                <a:spcPct val="115000"/>
              </a:lnSpc>
            </a:pPr>
            <a:r>
              <a:rPr sz="950" b="0" i="0">
                <a:solidFill>
                  <a:srgbClr val="21295C"/>
                </a:solidFill>
                <a:latin typeface="DejaVu Sans"/>
              </a:rPr>
              <a:t>PR rework after submission: +2.4%.</a:t>
            </a:r>
          </a:p>
        </p:txBody>
      </p:sp>
      <p:sp>
        <p:nvSpPr>
          <p:cNvPr id="35" name="TextBox 34"/>
          <p:cNvSpPr txBox="1"/>
          <p:nvPr/>
        </p:nvSpPr>
        <p:spPr>
          <a:xfrm>
            <a:off x="8311896" y="4407408"/>
            <a:ext cx="3154680" cy="621792"/>
          </a:xfrm>
          <a:prstGeom prst="rect">
            <a:avLst/>
          </a:prstGeom>
          <a:noFill/>
        </p:spPr>
        <p:txBody>
          <a:bodyPr wrap="square" lIns="0" rIns="0" tIns="0" bIns="0" anchor="t">
            <a:spAutoFit/>
          </a:bodyPr>
          <a:lstStyle/>
          <a:p>
            <a:pPr algn="l">
              <a:lnSpc>
                <a:spcPct val="112000"/>
              </a:lnSpc>
            </a:pPr>
            <a:r>
              <a:rPr sz="950" b="0" i="1">
                <a:solidFill>
                  <a:srgbClr val="5B6678"/>
                </a:solidFill>
                <a:latin typeface="DejaVu Sans"/>
              </a:rPr>
              <a:t>"Productivity went up overall" — but the gain lands on one group and the new review work on another, and there are three times fewer of them.</a:t>
            </a:r>
          </a:p>
        </p:txBody>
      </p:sp>
      <p:sp>
        <p:nvSpPr>
          <p:cNvPr id="36" name="Rounded Rectangle 35"/>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In none of the three did AI "make things worse" — it removed the limiter on volume while the cost of checking stayed the same. The alternative: a machine-verifiable barrier at the entrance and an honest account of who pays for the checking.</a:t>
            </a:r>
          </a:p>
        </p:txBody>
      </p:sp>
      <p:pic>
        <p:nvPicPr>
          <p:cNvPr id="38" name="Picture 37" descr="band-evil-kermit-en.png"/>
          <p:cNvPicPr>
            <a:picLocks noChangeAspect="1"/>
          </p:cNvPicPr>
          <p:nvPr/>
        </p:nvPicPr>
        <p:blipFill>
          <a:blip r:embed="rId7"/>
          <a:stretch>
            <a:fillRect/>
          </a:stretch>
        </p:blipFill>
        <p:spPr>
          <a:xfrm>
            <a:off x="8494776" y="5834115"/>
            <a:ext cx="3209544" cy="529865"/>
          </a:xfrm>
          <a:prstGeom prst="rect">
            <a:avLst/>
          </a:prstGeom>
        </p:spPr>
      </p:pic>
      <p:sp>
        <p:nvSpPr>
          <p:cNvPr id="39" name="TextBox 38"/>
          <p:cNvSpPr txBox="1"/>
          <p:nvPr/>
        </p:nvSpPr>
        <p:spPr>
          <a:xfrm>
            <a:off x="502920" y="6400800"/>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8"/>
              </a:rPr>
              <a:t>Thoughtworks — Complacency with AI-generated code</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9"/>
              </a:rPr>
              <a:t>curl — the end of the bug bounty (The Register)</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10"/>
              </a:rPr>
              <a:t>CodeCrash</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11"/>
              </a:rPr>
              <a:t>Rubber-Stamp Collapse (TianPan.co)</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12"/>
              </a:rPr>
              <a:t>The Register — the matplotlib hit-piece</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13"/>
              </a:rPr>
              <a:t>Xu et al. — who pays for reviewing AI code (arXiv 2510.10165)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16736"/>
            <a:ext cx="534924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08176"/>
            <a:ext cx="4910327" cy="640080"/>
          </a:xfrm>
          <a:prstGeom prst="rect">
            <a:avLst/>
          </a:prstGeom>
          <a:noFill/>
        </p:spPr>
        <p:txBody>
          <a:bodyPr wrap="square" lIns="0" rIns="0" tIns="0" bIns="0" anchor="t">
            <a:spAutoFit/>
          </a:bodyPr>
          <a:lstStyle/>
          <a:p>
            <a:pPr algn="l">
              <a:lnSpc>
                <a:spcPct val="108000"/>
              </a:lnSpc>
            </a:pPr>
            <a:r>
              <a:rPr sz="1200" b="1" i="0">
                <a:solidFill>
                  <a:srgbClr val="065A82"/>
                </a:solidFill>
                <a:latin typeface="DejaVu Sans"/>
              </a:rPr>
              <a:t>The lethal trifecta (Willison, June 2025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065A82"/>
                </a:solidFill>
              </a:rPr>
              <a:t>; Fowler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065A82"/>
                </a:solidFill>
              </a:rPr>
              <a:t>) — no single property is dangerous on its own, only the intersection of all three:</a:t>
            </a:r>
          </a:p>
        </p:txBody>
      </p:sp>
      <p:sp>
        <p:nvSpPr>
          <p:cNvPr id="5" name="Rounded Rectangle 4"/>
          <p:cNvSpPr/>
          <p:nvPr/>
        </p:nvSpPr>
        <p:spPr>
          <a:xfrm>
            <a:off x="722376" y="2103120"/>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68680" y="2249424"/>
            <a:ext cx="402336" cy="402336"/>
          </a:xfrm>
          <a:prstGeom prst="rect">
            <a:avLst/>
          </a:prstGeom>
        </p:spPr>
      </p:pic>
      <p:sp>
        <p:nvSpPr>
          <p:cNvPr id="7" name="TextBox 6"/>
          <p:cNvSpPr txBox="1"/>
          <p:nvPr/>
        </p:nvSpPr>
        <p:spPr>
          <a:xfrm>
            <a:off x="1399032" y="2176272"/>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1. untrusted content</a:t>
            </a:r>
          </a:p>
        </p:txBody>
      </p:sp>
      <p:sp>
        <p:nvSpPr>
          <p:cNvPr id="8" name="TextBox 7"/>
          <p:cNvSpPr txBox="1"/>
          <p:nvPr/>
        </p:nvSpPr>
        <p:spPr>
          <a:xfrm>
            <a:off x="1399032" y="2505456"/>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issues, emails, web pages — you did not write them</a:t>
            </a:r>
          </a:p>
        </p:txBody>
      </p:sp>
      <p:sp>
        <p:nvSpPr>
          <p:cNvPr id="9" name="Rounded Rectangle 8"/>
          <p:cNvSpPr/>
          <p:nvPr/>
        </p:nvSpPr>
        <p:spPr>
          <a:xfrm>
            <a:off x="722376" y="2907791"/>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68680" y="3054096"/>
            <a:ext cx="402336" cy="402336"/>
          </a:xfrm>
          <a:prstGeom prst="rect">
            <a:avLst/>
          </a:prstGeom>
        </p:spPr>
      </p:pic>
      <p:sp>
        <p:nvSpPr>
          <p:cNvPr id="11" name="TextBox 10"/>
          <p:cNvSpPr txBox="1"/>
          <p:nvPr/>
        </p:nvSpPr>
        <p:spPr>
          <a:xfrm>
            <a:off x="1399032" y="2980944"/>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2. secrets and private data</a:t>
            </a:r>
          </a:p>
        </p:txBody>
      </p:sp>
      <p:sp>
        <p:nvSpPr>
          <p:cNvPr id="12" name="TextBox 11"/>
          <p:cNvSpPr txBox="1"/>
          <p:nvPr/>
        </p:nvSpPr>
        <p:spPr>
          <a:xfrm>
            <a:off x="1399032" y="3310127"/>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keys, tokens, database access</a:t>
            </a:r>
          </a:p>
        </p:txBody>
      </p:sp>
      <p:sp>
        <p:nvSpPr>
          <p:cNvPr id="13" name="Rounded Rectangle 12"/>
          <p:cNvSpPr/>
          <p:nvPr/>
        </p:nvSpPr>
        <p:spPr>
          <a:xfrm>
            <a:off x="722376" y="3712463"/>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68680" y="3858768"/>
            <a:ext cx="402336" cy="402336"/>
          </a:xfrm>
          <a:prstGeom prst="rect">
            <a:avLst/>
          </a:prstGeom>
        </p:spPr>
      </p:pic>
      <p:sp>
        <p:nvSpPr>
          <p:cNvPr id="15" name="TextBox 14"/>
          <p:cNvSpPr txBox="1"/>
          <p:nvPr/>
        </p:nvSpPr>
        <p:spPr>
          <a:xfrm>
            <a:off x="1399032" y="3785615"/>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3. outbound transfer (egress)</a:t>
            </a:r>
          </a:p>
        </p:txBody>
      </p:sp>
      <p:sp>
        <p:nvSpPr>
          <p:cNvPr id="16" name="TextBox 15"/>
          <p:cNvSpPr txBox="1"/>
          <p:nvPr/>
        </p:nvSpPr>
        <p:spPr>
          <a:xfrm>
            <a:off x="1399032" y="4114800"/>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a channel outward: data can leave the perimeter</a:t>
            </a:r>
          </a:p>
        </p:txBody>
      </p:sp>
      <p:sp>
        <p:nvSpPr>
          <p:cNvPr id="17" name="TextBox 16"/>
          <p:cNvSpPr txBox="1"/>
          <p:nvPr/>
        </p:nvSpPr>
        <p:spPr>
          <a:xfrm>
            <a:off x="722376" y="4572000"/>
            <a:ext cx="4910327" cy="548640"/>
          </a:xfrm>
          <a:prstGeom prst="rect">
            <a:avLst/>
          </a:prstGeom>
          <a:noFill/>
        </p:spPr>
        <p:txBody>
          <a:bodyPr wrap="square" lIns="0" rIns="0" tIns="0" bIns="0" anchor="t">
            <a:spAutoFit/>
          </a:bodyPr>
          <a:lstStyle/>
          <a:p>
            <a:pPr algn="l">
              <a:lnSpc>
                <a:spcPct val="112000"/>
              </a:lnSpc>
            </a:pPr>
            <a:r>
              <a:rPr sz="1000" b="0" i="1">
                <a:solidFill>
                  <a:srgbClr val="065A82"/>
                </a:solidFill>
                <a:latin typeface="DejaVu Sans"/>
              </a:rPr>
              <a:t>All three at once make a ready-made leak channel: the agent’s instruction is swapped through text it read (prompt injection) → grab a secret → send it out.</a:t>
            </a:r>
          </a:p>
        </p:txBody>
      </p:sp>
      <p:sp>
        <p:nvSpPr>
          <p:cNvPr id="18" name="Rounded Rectangle 17"/>
          <p:cNvSpPr/>
          <p:nvPr/>
        </p:nvSpPr>
        <p:spPr>
          <a:xfrm>
            <a:off x="6080760" y="1316736"/>
            <a:ext cx="562356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08176"/>
            <a:ext cx="5184648" cy="292608"/>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controls that break the trifecta</a:t>
            </a:r>
          </a:p>
        </p:txBody>
      </p:sp>
      <p:sp>
        <p:nvSpPr>
          <p:cNvPr id="20" name="Rounded Rectangle 19"/>
          <p:cNvSpPr/>
          <p:nvPr/>
        </p:nvSpPr>
        <p:spPr>
          <a:xfrm>
            <a:off x="6300216" y="1783080"/>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1</a:t>
            </a:r>
          </a:p>
        </p:txBody>
      </p:sp>
      <p:sp>
        <p:nvSpPr>
          <p:cNvPr id="21" name="TextBox 20"/>
          <p:cNvSpPr txBox="1"/>
          <p:nvPr/>
        </p:nvSpPr>
        <p:spPr>
          <a:xfrm>
            <a:off x="6665976" y="1755648"/>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least-privilege (minimum necessary access)</a:t>
            </a:r>
          </a:p>
        </p:txBody>
      </p:sp>
      <p:sp>
        <p:nvSpPr>
          <p:cNvPr id="22" name="TextBox 21"/>
          <p:cNvSpPr txBox="1"/>
          <p:nvPr/>
        </p:nvSpPr>
        <p:spPr>
          <a:xfrm>
            <a:off x="6665976" y="2011680"/>
            <a:ext cx="4800600" cy="329184"/>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the agent is given only the access without which the task cannot be done. No key — nothing to leak.</a:t>
            </a:r>
          </a:p>
        </p:txBody>
      </p:sp>
      <p:sp>
        <p:nvSpPr>
          <p:cNvPr id="23" name="Rounded Rectangle 22"/>
          <p:cNvSpPr/>
          <p:nvPr/>
        </p:nvSpPr>
        <p:spPr>
          <a:xfrm>
            <a:off x="6300216" y="2423160"/>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2</a:t>
            </a:r>
          </a:p>
        </p:txBody>
      </p:sp>
      <p:sp>
        <p:nvSpPr>
          <p:cNvPr id="24" name="TextBox 23"/>
          <p:cNvSpPr txBox="1"/>
          <p:nvPr/>
        </p:nvSpPr>
        <p:spPr>
          <a:xfrm>
            <a:off x="6665976" y="2395728"/>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sandbox (an isolated environment)</a:t>
            </a:r>
          </a:p>
        </p:txBody>
      </p:sp>
      <p:sp>
        <p:nvSpPr>
          <p:cNvPr id="25" name="TextBox 24"/>
          <p:cNvSpPr txBox="1"/>
          <p:nvPr/>
        </p:nvSpPr>
        <p:spPr>
          <a:xfrm>
            <a:off x="6665976" y="2651760"/>
            <a:ext cx="4800600" cy="201167"/>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the agent works in a sandbox: its mistake physically cannot reach prod.</a:t>
            </a:r>
          </a:p>
        </p:txBody>
      </p:sp>
      <p:sp>
        <p:nvSpPr>
          <p:cNvPr id="26" name="Rounded Rectangle 25"/>
          <p:cNvSpPr/>
          <p:nvPr/>
        </p:nvSpPr>
        <p:spPr>
          <a:xfrm>
            <a:off x="6300216" y="2935224"/>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3</a:t>
            </a:r>
          </a:p>
        </p:txBody>
      </p:sp>
      <p:sp>
        <p:nvSpPr>
          <p:cNvPr id="27" name="TextBox 26"/>
          <p:cNvSpPr txBox="1"/>
          <p:nvPr/>
        </p:nvSpPr>
        <p:spPr>
          <a:xfrm>
            <a:off x="6665976" y="2907792"/>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egress-allowlist (a whitelist of recipients)</a:t>
            </a:r>
          </a:p>
        </p:txBody>
      </p:sp>
      <p:sp>
        <p:nvSpPr>
          <p:cNvPr id="28" name="TextBox 27"/>
          <p:cNvSpPr txBox="1"/>
          <p:nvPr/>
        </p:nvSpPr>
        <p:spPr>
          <a:xfrm>
            <a:off x="6665976" y="3163824"/>
            <a:ext cx="4800600" cy="329184"/>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it is listed in advance where data may be sent at all; everything else is closed.</a:t>
            </a:r>
          </a:p>
        </p:txBody>
      </p:sp>
      <p:sp>
        <p:nvSpPr>
          <p:cNvPr id="29" name="Rounded Rectangle 28"/>
          <p:cNvSpPr/>
          <p:nvPr/>
        </p:nvSpPr>
        <p:spPr>
          <a:xfrm>
            <a:off x="6300216" y="3575303"/>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4</a:t>
            </a:r>
          </a:p>
        </p:txBody>
      </p:sp>
      <p:sp>
        <p:nvSpPr>
          <p:cNvPr id="30" name="TextBox 29"/>
          <p:cNvSpPr txBox="1"/>
          <p:nvPr/>
        </p:nvSpPr>
        <p:spPr>
          <a:xfrm>
            <a:off x="6665976" y="3547872"/>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SAST gate (a mandatory automated scan)</a:t>
            </a:r>
          </a:p>
        </p:txBody>
      </p:sp>
      <p:sp>
        <p:nvSpPr>
          <p:cNvPr id="31" name="TextBox 30"/>
          <p:cNvSpPr txBox="1"/>
          <p:nvPr/>
        </p:nvSpPr>
        <p:spPr>
          <a:xfrm>
            <a:off x="6665976" y="3803904"/>
            <a:ext cx="4800600" cy="713232"/>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SAST (static application security testing) — static analysis of code for vulnerabilities before it runs; secret-scanning — hunting for leaked keys and tokens; SCA (software composition analysis) — checking third-party libraries (the supply chain) for known vulnerabilities.</a:t>
            </a:r>
          </a:p>
        </p:txBody>
      </p:sp>
      <p:sp>
        <p:nvSpPr>
          <p:cNvPr id="32" name="Rounded Rectangle 31"/>
          <p:cNvSpPr/>
          <p:nvPr/>
        </p:nvSpPr>
        <p:spPr>
          <a:xfrm>
            <a:off x="6300216" y="4590288"/>
            <a:ext cx="5184648" cy="457200"/>
          </a:xfrm>
          <a:prstGeom prst="roundRect">
            <a:avLst>
              <a:gd name="adj" fmla="val 8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617720"/>
            <a:ext cx="4892040" cy="402336"/>
          </a:xfrm>
          <a:prstGeom prst="rect">
            <a:avLst/>
          </a:prstGeom>
          <a:noFill/>
        </p:spPr>
        <p:txBody>
          <a:bodyPr wrap="square" lIns="0" rIns="0" tIns="0" bIns="0" anchor="ctr">
            <a:spAutoFit/>
          </a:bodyPr>
          <a:lstStyle/>
          <a:p>
            <a:pPr algn="l">
              <a:lnSpc>
                <a:spcPct val="110000"/>
              </a:lnSpc>
            </a:pPr>
            <a:r>
              <a:rPr sz="900" b="0" i="0">
                <a:solidFill>
                  <a:srgbClr val="21295C"/>
                </a:solidFill>
                <a:latin typeface="DejaVu Sans"/>
              </a:rPr>
              <a:t>"The first AI to stop a zero-day attack" — one curated case; "AI finds 50% of vulnerabilities" — the vendor’s own measurements on its own code </a:t>
            </a:r>
            <a:r>
              <a:rPr sz="468" baseline="30000" b="0" i="1">
                <a:latin typeface="DejaVu Sans"/>
                <a:cs typeface="DejaVu Sans"/>
                <a:ea typeface="DejaVu Sans"/>
                <a:solidFill>
                  <a:srgbClr val="1C7293"/>
                </a:solidFill>
              </a:rPr>
              <a:t>[3]</a:t>
            </a:r>
            <a:r>
              <a:rPr sz="900" b="0" i="0">
                <a:latin typeface="DejaVu Sans"/>
                <a:cs typeface="DejaVu Sans"/>
                <a:ea typeface="DejaVu Sans"/>
                <a:solidFill>
                  <a:srgbClr val="21295C"/>
                </a:solidFill>
              </a:rPr>
              <a:t>.</a:t>
            </a:r>
          </a:p>
        </p:txBody>
      </p:sp>
      <p:sp>
        <p:nvSpPr>
          <p:cNvPr id="34" name="Rounded Rectangle 3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scan as a gate + an architectural break of the trifecta. The scan is necessary but NOT sufficient: thinking through what can go wrong at all is the human’s work.</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Trust is also needed in what the AI tool itself is made of</a:t>
            </a:r>
          </a:p>
        </p:txBody>
      </p:sp>
      <p:sp>
        <p:nvSpPr>
          <p:cNvPr id="3" name="Rounded Rectangle 2"/>
          <p:cNvSpPr/>
          <p:nvPr/>
        </p:nvSpPr>
        <p:spPr>
          <a:xfrm>
            <a:off x="502920" y="1316736"/>
            <a:ext cx="59893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04088" y="1463039"/>
            <a:ext cx="438912" cy="438912"/>
          </a:xfrm>
          <a:prstGeom prst="rect">
            <a:avLst/>
          </a:prstGeom>
        </p:spPr>
      </p:pic>
      <p:sp>
        <p:nvSpPr>
          <p:cNvPr id="5" name="TextBox 4"/>
          <p:cNvSpPr txBox="1"/>
          <p:nvPr/>
        </p:nvSpPr>
        <p:spPr>
          <a:xfrm>
            <a:off x="1271016" y="1499616"/>
            <a:ext cx="425196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Amazon Q Developer, July 2025 </a:t>
            </a:r>
            <a:r>
              <a:rPr sz="676" baseline="30000" b="0" i="1">
                <a:latin typeface="DejaVu Sans"/>
                <a:cs typeface="DejaVu Sans"/>
                <a:ea typeface="DejaVu Sans"/>
                <a:solidFill>
                  <a:srgbClr val="1C7293"/>
                </a:solidFill>
              </a:rPr>
              <a:t>[1]</a:t>
            </a:r>
          </a:p>
        </p:txBody>
      </p:sp>
      <p:pic>
        <p:nvPicPr>
          <p:cNvPr id="6" name="Picture 5" descr="aws-logo.png"/>
          <p:cNvPicPr>
            <a:picLocks noChangeAspect="1"/>
          </p:cNvPicPr>
          <p:nvPr/>
        </p:nvPicPr>
        <p:blipFill>
          <a:blip r:embed="rId3"/>
          <a:stretch>
            <a:fillRect/>
          </a:stretch>
        </p:blipFill>
        <p:spPr>
          <a:xfrm>
            <a:off x="5561076" y="1463039"/>
            <a:ext cx="655320" cy="393192"/>
          </a:xfrm>
          <a:prstGeom prst="rect">
            <a:avLst/>
          </a:prstGeom>
        </p:spPr>
      </p:pic>
      <p:sp>
        <p:nvSpPr>
          <p:cNvPr id="7" name="TextBox 6"/>
          <p:cNvSpPr txBox="1"/>
          <p:nvPr/>
        </p:nvSpPr>
        <p:spPr>
          <a:xfrm>
            <a:off x="5486400" y="1847088"/>
            <a:ext cx="804672"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AWS · Wikimedia</a:t>
            </a:r>
          </a:p>
        </p:txBody>
      </p:sp>
      <p:sp>
        <p:nvSpPr>
          <p:cNvPr id="8" name="TextBox 7"/>
          <p:cNvSpPr txBox="1"/>
          <p:nvPr/>
        </p:nvSpPr>
        <p:spPr>
          <a:xfrm>
            <a:off x="722376" y="1938528"/>
            <a:ext cx="5550408" cy="1243584"/>
          </a:xfrm>
          <a:prstGeom prst="rect">
            <a:avLst/>
          </a:prstGeom>
          <a:noFill/>
        </p:spPr>
        <p:txBody>
          <a:bodyPr wrap="square" lIns="0" rIns="0" tIns="0" bIns="0" anchor="t">
            <a:spAutoFit/>
          </a:bodyPr>
          <a:lstStyle/>
          <a:p>
            <a:pPr algn="l">
              <a:lnSpc>
                <a:spcPct val="118000"/>
              </a:lnSpc>
            </a:pPr>
            <a:r>
              <a:rPr sz="1100" b="0" i="0">
                <a:solidFill>
                  <a:srgbClr val="21295C"/>
                </a:solidFill>
                <a:latin typeface="DejaVu Sans"/>
              </a:rPr>
              <a:t>An unaudited outside contributor merged a PR carrying a "system cleaner" system prompt (aws s3 rb, stopping EC2, deleting IAM users) into the official release of the VS Code extension.</a:t>
            </a:r>
          </a:p>
        </p:txBody>
      </p:sp>
      <p:sp>
        <p:nvSpPr>
          <p:cNvPr id="9" name="TextBox 8"/>
          <p:cNvSpPr txBox="1"/>
          <p:nvPr/>
        </p:nvSpPr>
        <p:spPr>
          <a:xfrm>
            <a:off x="722376" y="3200400"/>
            <a:ext cx="5550408" cy="548640"/>
          </a:xfrm>
          <a:prstGeom prst="rect">
            <a:avLst/>
          </a:prstGeom>
          <a:noFill/>
        </p:spPr>
        <p:txBody>
          <a:bodyPr wrap="square" lIns="0" rIns="0" tIns="0" bIns="0" anchor="t">
            <a:spAutoFit/>
          </a:bodyPr>
          <a:lstStyle/>
          <a:p>
            <a:pPr algn="l">
              <a:lnSpc>
                <a:spcPct val="115000"/>
              </a:lnSpc>
            </a:pPr>
            <a:r>
              <a:rPr sz="2400" b="1" i="0">
                <a:solidFill>
                  <a:srgbClr val="028090"/>
                </a:solidFill>
                <a:latin typeface="DejaVu Sans"/>
              </a:rPr>
              <a:t>~1 million</a:t>
            </a:r>
          </a:p>
        </p:txBody>
      </p:sp>
      <p:sp>
        <p:nvSpPr>
          <p:cNvPr id="10" name="TextBox 9"/>
          <p:cNvSpPr txBox="1"/>
          <p:nvPr/>
        </p:nvSpPr>
        <p:spPr>
          <a:xfrm>
            <a:off x="722376" y="3694176"/>
            <a:ext cx="5550408" cy="402336"/>
          </a:xfrm>
          <a:prstGeom prst="rect">
            <a:avLst/>
          </a:prstGeom>
          <a:noFill/>
        </p:spPr>
        <p:txBody>
          <a:bodyPr wrap="square" lIns="0" rIns="0" tIns="0" bIns="0" anchor="t">
            <a:spAutoFit/>
          </a:bodyPr>
          <a:lstStyle/>
          <a:p>
            <a:pPr algn="l">
              <a:lnSpc>
                <a:spcPct val="115000"/>
              </a:lnSpc>
            </a:pPr>
            <a:r>
              <a:rPr sz="1050" b="0" i="1">
                <a:solidFill>
                  <a:srgbClr val="21295C"/>
                </a:solidFill>
                <a:latin typeface="DejaVu Sans"/>
              </a:rPr>
              <a:t>developers on release v1.84.0, before the v1.85.0 patch </a:t>
            </a:r>
            <a:r>
              <a:rPr sz="546" baseline="30000" b="0" i="1">
                <a:latin typeface="DejaVu Sans"/>
                <a:cs typeface="DejaVu Sans"/>
                <a:ea typeface="DejaVu Sans"/>
                <a:solidFill>
                  <a:srgbClr val="1C7293"/>
                </a:solidFill>
              </a:rPr>
              <a:t>[2]</a:t>
            </a:r>
            <a:r>
              <a:rPr sz="1050" b="0" i="1">
                <a:latin typeface="DejaVu Sans"/>
                <a:cs typeface="DejaVu Sans"/>
                <a:ea typeface="DejaVu Sans"/>
                <a:solidFill>
                  <a:srgbClr val="21295C"/>
                </a:solidFill>
              </a:rPr>
              <a:t>.</a:t>
            </a:r>
          </a:p>
        </p:txBody>
      </p:sp>
      <p:sp>
        <p:nvSpPr>
          <p:cNvPr id="11" name="Rounded Rectangle 10"/>
          <p:cNvSpPr/>
          <p:nvPr/>
        </p:nvSpPr>
        <p:spPr>
          <a:xfrm>
            <a:off x="722376" y="4187952"/>
            <a:ext cx="5550408" cy="731520"/>
          </a:xfrm>
          <a:prstGeom prst="roundRect">
            <a:avLst>
              <a:gd name="adj" fmla="val 8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242816"/>
            <a:ext cx="5257800" cy="621792"/>
          </a:xfrm>
          <a:prstGeom prst="rect">
            <a:avLst/>
          </a:prstGeom>
          <a:noFill/>
        </p:spPr>
        <p:txBody>
          <a:bodyPr wrap="square" lIns="0" rIns="0" tIns="0" bIns="0" anchor="ctr">
            <a:spAutoFit/>
          </a:bodyPr>
          <a:lstStyle/>
          <a:p>
            <a:pPr algn="l">
              <a:lnSpc>
                <a:spcPct val="114000"/>
              </a:lnSpc>
            </a:pPr>
            <a:r>
              <a:rPr sz="1050" b="0" i="1">
                <a:solidFill>
                  <a:srgbClr val="5B6678"/>
                </a:solidFill>
                <a:latin typeface="DejaVu Sans"/>
              </a:rPr>
              <a:t>The attack failed technically (the prompt’s formatting broke execution) — that is luck, not control.</a:t>
            </a:r>
          </a:p>
        </p:txBody>
      </p:sp>
      <p:sp>
        <p:nvSpPr>
          <p:cNvPr id="13" name="Rounded Rectangle 12"/>
          <p:cNvSpPr/>
          <p:nvPr/>
        </p:nvSpPr>
        <p:spPr>
          <a:xfrm>
            <a:off x="6675120" y="1316736"/>
            <a:ext cx="5029200" cy="3749039"/>
          </a:xfrm>
          <a:prstGeom prst="roundRect">
            <a:avLst>
              <a:gd name="adj" fmla="val 813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yers-teal.png"/>
          <p:cNvPicPr>
            <a:picLocks noChangeAspect="1"/>
          </p:cNvPicPr>
          <p:nvPr/>
        </p:nvPicPr>
        <p:blipFill>
          <a:blip r:embed="rId4"/>
          <a:stretch>
            <a:fillRect/>
          </a:stretch>
        </p:blipFill>
        <p:spPr>
          <a:xfrm>
            <a:off x="6876288" y="1463039"/>
            <a:ext cx="420624" cy="420624"/>
          </a:xfrm>
          <a:prstGeom prst="rect">
            <a:avLst/>
          </a:prstGeom>
        </p:spPr>
      </p:pic>
      <p:sp>
        <p:nvSpPr>
          <p:cNvPr id="15" name="TextBox 14"/>
          <p:cNvSpPr txBox="1"/>
          <p:nvPr/>
        </p:nvSpPr>
        <p:spPr>
          <a:xfrm>
            <a:off x="7406640" y="1499616"/>
            <a:ext cx="4078224"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Three mechanically different fronts</a:t>
            </a:r>
          </a:p>
        </p:txBody>
      </p:sp>
      <p:sp>
        <p:nvSpPr>
          <p:cNvPr id="16" name="TextBox 15"/>
          <p:cNvSpPr txBox="1"/>
          <p:nvPr/>
        </p:nvSpPr>
        <p:spPr>
          <a:xfrm>
            <a:off x="6894576" y="197510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Slopsquatting</a:t>
            </a:r>
          </a:p>
        </p:txBody>
      </p:sp>
      <p:sp>
        <p:nvSpPr>
          <p:cNvPr id="17" name="TextBox 16"/>
          <p:cNvSpPr txBox="1"/>
          <p:nvPr/>
        </p:nvSpPr>
        <p:spPr>
          <a:xfrm>
            <a:off x="6894576" y="226771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a package name that AI advice recommended.</a:t>
            </a:r>
          </a:p>
        </p:txBody>
      </p:sp>
      <p:sp>
        <p:nvSpPr>
          <p:cNvPr id="18" name="TextBox 17"/>
          <p:cNvSpPr txBox="1"/>
          <p:nvPr/>
        </p:nvSpPr>
        <p:spPr>
          <a:xfrm>
            <a:off x="6894576" y="298094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CamoLeak</a:t>
            </a:r>
          </a:p>
        </p:txBody>
      </p:sp>
      <p:sp>
        <p:nvSpPr>
          <p:cNvPr id="19" name="TextBox 18"/>
          <p:cNvSpPr txBox="1"/>
          <p:nvPr/>
        </p:nvSpPr>
        <p:spPr>
          <a:xfrm>
            <a:off x="6894576" y="327355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someone else’s untrusted text (a PR comment) inside the agent’s context.</a:t>
            </a:r>
          </a:p>
        </p:txBody>
      </p:sp>
      <p:sp>
        <p:nvSpPr>
          <p:cNvPr id="20" name="TextBox 19"/>
          <p:cNvSpPr txBox="1"/>
          <p:nvPr/>
        </p:nvSpPr>
        <p:spPr>
          <a:xfrm>
            <a:off x="6894576" y="398678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Amazon Q</a:t>
            </a:r>
          </a:p>
        </p:txBody>
      </p:sp>
      <p:sp>
        <p:nvSpPr>
          <p:cNvPr id="21" name="TextBox 20"/>
          <p:cNvSpPr txBox="1"/>
          <p:nvPr/>
        </p:nvSpPr>
        <p:spPr>
          <a:xfrm>
            <a:off x="6894576" y="427939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the supply chain of the tool itself — not in its output and not in its input, but in what it is made of.</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Review is needed not only for the code your agent writes, but for the code the AI tool itself is made of.</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BleepingComputer — the Amazon Q Developer wiper prompt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AWS Security Bulletin AWS-2025-019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17904"/>
            <a:ext cx="3657600" cy="512064"/>
          </a:xfrm>
          <a:prstGeom prst="rect">
            <a:avLst/>
          </a:prstGeom>
          <a:noFill/>
        </p:spPr>
        <p:txBody>
          <a:bodyPr wrap="square" lIns="0" rIns="0" tIns="0" bIns="0" anchor="t">
            <a:spAutoFit/>
          </a:bodyPr>
          <a:lstStyle/>
          <a:p>
            <a:pPr algn="l">
              <a:lnSpc>
                <a:spcPct val="105000"/>
              </a:lnSpc>
            </a:pPr>
            <a:r>
              <a:rPr sz="1150" b="1" i="0">
                <a:solidFill>
                  <a:srgbClr val="065A82"/>
                </a:solidFill>
                <a:latin typeface="DejaVu Sans"/>
              </a:rPr>
              <a:t>CamoLeak (prompt injection in a dev agent · Legit Security) </a:t>
            </a:r>
            <a:r>
              <a:rPr sz="598" baseline="30000" b="0" i="1">
                <a:latin typeface="DejaVu Sans"/>
                <a:cs typeface="DejaVu Sans"/>
                <a:ea typeface="DejaVu Sans"/>
                <a:solidFill>
                  <a:srgbClr val="1C7293"/>
                </a:solidFill>
              </a:rPr>
              <a:t>[2]</a:t>
            </a:r>
          </a:p>
        </p:txBody>
      </p:sp>
      <p:pic>
        <p:nvPicPr>
          <p:cNvPr id="19" name="Picture 18" descr="copilot-logo.png"/>
          <p:cNvPicPr>
            <a:picLocks noChangeAspect="1"/>
          </p:cNvPicPr>
          <p:nvPr/>
        </p:nvPicPr>
        <p:blipFill>
          <a:blip r:embed="rId4"/>
          <a:stretch>
            <a:fillRect/>
          </a:stretch>
        </p:blipFill>
        <p:spPr>
          <a:xfrm>
            <a:off x="10917936" y="1481328"/>
            <a:ext cx="365760" cy="365760"/>
          </a:xfrm>
          <a:prstGeom prst="rect">
            <a:avLst/>
          </a:prstGeom>
        </p:spPr>
      </p:pic>
      <p:sp>
        <p:nvSpPr>
          <p:cNvPr id="20" name="TextBox 19"/>
          <p:cNvSpPr txBox="1"/>
          <p:nvPr/>
        </p:nvSpPr>
        <p:spPr>
          <a:xfrm>
            <a:off x="10771632" y="1856231"/>
            <a:ext cx="658368"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GitHub Copilot</a:t>
            </a:r>
          </a:p>
        </p:txBody>
      </p:sp>
      <p:sp>
        <p:nvSpPr>
          <p:cNvPr id="21" name="TextBox 20"/>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2" name="Rounded Rectangle 21"/>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4" name="TextBox 23"/>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5" name="Rounded Rectangle 24"/>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pic>
        <p:nvPicPr>
          <p:cNvPr id="27" name="Picture 26" descr="band-domino-effect-en.png"/>
          <p:cNvPicPr>
            <a:picLocks noChangeAspect="1"/>
          </p:cNvPicPr>
          <p:nvPr/>
        </p:nvPicPr>
        <p:blipFill>
          <a:blip r:embed="rId5"/>
          <a:stretch>
            <a:fillRect/>
          </a:stretch>
        </p:blipFill>
        <p:spPr>
          <a:xfrm>
            <a:off x="9162288" y="5852160"/>
            <a:ext cx="2542032" cy="585216"/>
          </a:xfrm>
          <a:prstGeom prst="rect">
            <a:avLst/>
          </a:prstGeom>
        </p:spPr>
      </p:pic>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CamoLeak — CVE-2025-59145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16736"/>
            <a:ext cx="553212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08176"/>
            <a:ext cx="509320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What happened — Replit, July 2025 </a:t>
            </a:r>
            <a:r>
              <a:rPr sz="650" baseline="30000" b="0" i="1">
                <a:latin typeface="DejaVu Sans"/>
                <a:cs typeface="DejaVu Sans"/>
                <a:ea typeface="DejaVu Sans"/>
                <a:solidFill>
                  <a:srgbClr val="1C7293"/>
                </a:solidFill>
              </a:rPr>
              <a:t>[1]</a:t>
            </a:r>
          </a:p>
        </p:txBody>
      </p:sp>
      <p:sp>
        <p:nvSpPr>
          <p:cNvPr id="5" name="TextBox 4"/>
          <p:cNvSpPr txBox="1"/>
          <p:nvPr/>
        </p:nvSpPr>
        <p:spPr>
          <a:xfrm>
            <a:off x="722376" y="1719072"/>
            <a:ext cx="5093208"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 vibe-coding experiment. The human declared an explicit code freeze: "NO MORE CHANGES". Despite the ban, the agent:</a:t>
            </a:r>
          </a:p>
        </p:txBody>
      </p:sp>
      <p:sp>
        <p:nvSpPr>
          <p:cNvPr id="6" name="Oval 5"/>
          <p:cNvSpPr/>
          <p:nvPr/>
        </p:nvSpPr>
        <p:spPr>
          <a:xfrm>
            <a:off x="777240" y="242316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59152"/>
            <a:ext cx="4745736" cy="475488"/>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deleted the live (production) database — data on 1200+ executives and 1190+ companies</a:t>
            </a:r>
          </a:p>
        </p:txBody>
      </p:sp>
      <p:sp>
        <p:nvSpPr>
          <p:cNvPr id="8" name="Oval 7"/>
          <p:cNvSpPr/>
          <p:nvPr/>
        </p:nvSpPr>
        <p:spPr>
          <a:xfrm>
            <a:off x="777240" y="2898648"/>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34640"/>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fabricated reports masking the problem</a:t>
            </a:r>
          </a:p>
        </p:txBody>
      </p:sp>
      <p:sp>
        <p:nvSpPr>
          <p:cNvPr id="10" name="Oval 9"/>
          <p:cNvSpPr/>
          <p:nvPr/>
        </p:nvSpPr>
        <p:spPr>
          <a:xfrm>
            <a:off x="777240" y="320954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145536"/>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lied when asked directly</a:t>
            </a:r>
          </a:p>
        </p:txBody>
      </p:sp>
      <p:sp>
        <p:nvSpPr>
          <p:cNvPr id="12" name="Oval 11"/>
          <p:cNvSpPr/>
          <p:nvPr/>
        </p:nvSpPr>
        <p:spPr>
          <a:xfrm>
            <a:off x="777240" y="3520439"/>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456432"/>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rated its own behavior 95 out of 100</a:t>
            </a:r>
          </a:p>
        </p:txBody>
      </p:sp>
      <p:sp>
        <p:nvSpPr>
          <p:cNvPr id="14" name="Oval 13"/>
          <p:cNvSpPr/>
          <p:nvPr/>
        </p:nvSpPr>
        <p:spPr>
          <a:xfrm>
            <a:off x="777240" y="383133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767328"/>
            <a:ext cx="4745736" cy="475488"/>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claimed rollback was impossible — although the mechanism worked and the data was restored</a:t>
            </a:r>
          </a:p>
        </p:txBody>
      </p:sp>
      <p:sp>
        <p:nvSpPr>
          <p:cNvPr id="16" name="Rounded Rectangle 15"/>
          <p:cNvSpPr/>
          <p:nvPr/>
        </p:nvSpPr>
        <p:spPr>
          <a:xfrm>
            <a:off x="722376" y="4242816"/>
            <a:ext cx="5093208" cy="768096"/>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297679"/>
            <a:ext cx="4745736" cy="676656"/>
          </a:xfrm>
          <a:prstGeom prst="rect">
            <a:avLst/>
          </a:prstGeom>
          <a:noFill/>
        </p:spPr>
        <p:txBody>
          <a:bodyPr wrap="square" lIns="0" rIns="0" tIns="0" bIns="0" anchor="ctr">
            <a:spAutoFit/>
          </a:bodyPr>
          <a:lstStyle/>
          <a:p>
            <a:pPr algn="l">
              <a:lnSpc>
                <a:spcPct val="112000"/>
              </a:lnSpc>
            </a:pPr>
            <a:r>
              <a:rPr sz="1000" b="0" i="1">
                <a:solidFill>
                  <a:srgbClr val="5B6678"/>
                </a:solidFill>
                <a:latin typeface="DejaVu Sans"/>
              </a:rPr>
              <a:t>Echoes of the same class (The Register): Amazon Kiro, December 2025 — hours of downtime. PocketOS / Cursor, April 2026 — a separate incident, a database wiped in 9 seconds.</a:t>
            </a:r>
          </a:p>
        </p:txBody>
      </p:sp>
      <p:sp>
        <p:nvSpPr>
          <p:cNvPr id="18" name="Rounded Rectangle 17"/>
          <p:cNvSpPr/>
          <p:nvPr/>
        </p:nvSpPr>
        <p:spPr>
          <a:xfrm>
            <a:off x="6263640" y="1316736"/>
            <a:ext cx="5440680" cy="120700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1408176"/>
            <a:ext cx="500176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Why the ban did not work</a:t>
            </a:r>
          </a:p>
        </p:txBody>
      </p:sp>
      <p:sp>
        <p:nvSpPr>
          <p:cNvPr id="20" name="TextBox 19"/>
          <p:cNvSpPr txBox="1"/>
          <p:nvPr/>
        </p:nvSpPr>
        <p:spPr>
          <a:xfrm>
            <a:off x="6483096" y="1719072"/>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"NO MORE CHANGES" is, to an agent, not a barrier in the environment but one more piece of text competing for attention. There was no boundary between a "rule" and a "wish": deleting the prod database was technically possible.</a:t>
            </a:r>
          </a:p>
        </p:txBody>
      </p:sp>
      <p:sp>
        <p:nvSpPr>
          <p:cNvPr id="21" name="Rounded Rectangle 20"/>
          <p:cNvSpPr/>
          <p:nvPr/>
        </p:nvSpPr>
        <p:spPr>
          <a:xfrm>
            <a:off x="6263640" y="2596896"/>
            <a:ext cx="5440680" cy="12435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2688336"/>
            <a:ext cx="500176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Why the agent’s report proves nothing</a:t>
            </a:r>
          </a:p>
        </p:txBody>
      </p:sp>
      <p:sp>
        <p:nvSpPr>
          <p:cNvPr id="23" name="TextBox 22"/>
          <p:cNvSpPr txBox="1"/>
          <p:nvPr/>
        </p:nvSpPr>
        <p:spPr>
          <a:xfrm>
            <a:off x="6483096" y="2999232"/>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"95 out of 100" is the grade the agent gave itself for the very run in which it wiped the database and lied: it peaks exactly at the worst outcome. "Rollback is impossible" also turned out to be untrue. The source of truth in a postmortem is independent telemetry, not the agent’s account.</a:t>
            </a:r>
          </a:p>
        </p:txBody>
      </p:sp>
      <p:sp>
        <p:nvSpPr>
          <p:cNvPr id="24" name="Rounded Rectangle 23"/>
          <p:cNvSpPr/>
          <p:nvPr/>
        </p:nvSpPr>
        <p:spPr>
          <a:xfrm>
            <a:off x="6263640" y="3913631"/>
            <a:ext cx="5440680" cy="1225296"/>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4005072"/>
            <a:ext cx="500176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What would have stopped it</a:t>
            </a:r>
          </a:p>
        </p:txBody>
      </p:sp>
      <p:sp>
        <p:nvSpPr>
          <p:cNvPr id="26" name="TextBox 25"/>
          <p:cNvSpPr txBox="1"/>
          <p:nvPr/>
        </p:nvSpPr>
        <p:spPr>
          <a:xfrm>
            <a:off x="6483096" y="4315968"/>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Not a stricter prompt, but barriers outside the agent: separation of the development environment from prod · no rights to delete prod (least-privilege — minimum necessary access) · a human gate on any irreversible action · a regularly tested rollback.</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root error is not a "badly configured agent" but autonomy inadequate to the cost of error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Accountability for prod stays human: it cannot be handed to the agent along with the task.</a:t>
            </a:r>
          </a:p>
        </p:txBody>
      </p:sp>
      <p:pic>
        <p:nvPicPr>
          <p:cNvPr id="29" name="Picture 28" descr="band-boardroom-panel3-en.png"/>
          <p:cNvPicPr>
            <a:picLocks noChangeAspect="1"/>
          </p:cNvPicPr>
          <p:nvPr/>
        </p:nvPicPr>
        <p:blipFill>
          <a:blip r:embed="rId2"/>
          <a:stretch>
            <a:fillRect/>
          </a:stretch>
        </p:blipFill>
        <p:spPr>
          <a:xfrm>
            <a:off x="8185213" y="5943600"/>
            <a:ext cx="3517773" cy="512064"/>
          </a:xfrm>
          <a:prstGeom prst="rect">
            <a:avLst/>
          </a:prstGeom>
        </p:spPr>
      </p:pic>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Fortune — Replit AI wiped the production DB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price.</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16736"/>
            <a:ext cx="553212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2376" y="1426464"/>
            <a:ext cx="5093208" cy="64008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463039"/>
            <a:ext cx="4764024" cy="566928"/>
          </a:xfrm>
          <a:prstGeom prst="rect">
            <a:avLst/>
          </a:prstGeom>
          <a:noFill/>
        </p:spPr>
        <p:txBody>
          <a:bodyPr wrap="square" lIns="0" rIns="0" tIns="0" bIns="0" anchor="ctr">
            <a:spAutoFit/>
          </a:bodyPr>
          <a:lstStyle/>
          <a:p>
            <a:pPr algn="l">
              <a:lnSpc>
                <a:spcPct val="110000"/>
              </a:lnSpc>
            </a:pPr>
            <a:r>
              <a:rPr sz="1200" b="1" i="0">
                <a:solidFill>
                  <a:srgbClr val="21295C"/>
                </a:solidFill>
                <a:latin typeface="DejaVu Sans"/>
              </a:rPr>
              <a:t>"AI amplifies what is already there" — so there is only one order, and it runs against intuition:</a:t>
            </a:r>
          </a:p>
        </p:txBody>
      </p:sp>
      <p:sp>
        <p:nvSpPr>
          <p:cNvPr id="6" name="Rounded Rectangle 5"/>
          <p:cNvSpPr/>
          <p:nvPr/>
        </p:nvSpPr>
        <p:spPr>
          <a:xfrm>
            <a:off x="722376" y="2176272"/>
            <a:ext cx="5093208" cy="822960"/>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267712"/>
            <a:ext cx="256032"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1</a:t>
            </a:r>
          </a:p>
        </p:txBody>
      </p:sp>
      <p:sp>
        <p:nvSpPr>
          <p:cNvPr id="8" name="TextBox 7"/>
          <p:cNvSpPr txBox="1"/>
          <p:nvPr/>
        </p:nvSpPr>
        <p:spPr>
          <a:xfrm>
            <a:off x="1216152" y="2249424"/>
            <a:ext cx="4562856" cy="694944"/>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First — mature delivery that works WITHOUT AI: automated tests as a gate · version control with cheap rollback · fast feedback · small batches. These are four of the seven delivery capabilities DORA identifies.</a:t>
            </a:r>
          </a:p>
        </p:txBody>
      </p:sp>
      <p:sp>
        <p:nvSpPr>
          <p:cNvPr id="9" name="Rounded Rectangle 8"/>
          <p:cNvSpPr/>
          <p:nvPr/>
        </p:nvSpPr>
        <p:spPr>
          <a:xfrm>
            <a:off x="722376" y="3090672"/>
            <a:ext cx="5093208" cy="457200"/>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3182112"/>
            <a:ext cx="256032"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2</a:t>
            </a:r>
          </a:p>
        </p:txBody>
      </p:sp>
      <p:sp>
        <p:nvSpPr>
          <p:cNvPr id="11" name="TextBox 10"/>
          <p:cNvSpPr txBox="1"/>
          <p:nvPr/>
        </p:nvSpPr>
        <p:spPr>
          <a:xfrm>
            <a:off x="1216152" y="3163824"/>
            <a:ext cx="4562856" cy="329184"/>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Only then — scale AI on top of it.</a:t>
            </a:r>
          </a:p>
        </p:txBody>
      </p:sp>
      <p:sp>
        <p:nvSpPr>
          <p:cNvPr id="12" name="TextBox 11"/>
          <p:cNvSpPr txBox="1"/>
          <p:nvPr/>
        </p:nvSpPr>
        <p:spPr>
          <a:xfrm>
            <a:off x="722376" y="3657600"/>
            <a:ext cx="5093208" cy="402336"/>
          </a:xfrm>
          <a:prstGeom prst="rect">
            <a:avLst/>
          </a:prstGeom>
          <a:noFill/>
        </p:spPr>
        <p:txBody>
          <a:bodyPr wrap="square" lIns="0" rIns="0" tIns="0" bIns="0" anchor="t">
            <a:spAutoFit/>
          </a:bodyPr>
          <a:lstStyle/>
          <a:p>
            <a:pPr algn="l">
              <a:lnSpc>
                <a:spcPct val="112000"/>
              </a:lnSpc>
            </a:pPr>
            <a:r>
              <a:rPr sz="1150" b="1" i="0">
                <a:solidFill>
                  <a:srgbClr val="065A82"/>
                </a:solidFill>
                <a:latin typeface="DejaVu Sans"/>
              </a:rPr>
              <a:t>The reverse does not work: AI does not fix an immature pipeline — it speeds it up.</a:t>
            </a:r>
          </a:p>
        </p:txBody>
      </p:sp>
      <p:sp>
        <p:nvSpPr>
          <p:cNvPr id="13" name="TextBox 12"/>
          <p:cNvSpPr txBox="1"/>
          <p:nvPr/>
        </p:nvSpPr>
        <p:spPr>
          <a:xfrm>
            <a:off x="722376" y="4151376"/>
            <a:ext cx="5093208" cy="969264"/>
          </a:xfrm>
          <a:prstGeom prst="rect">
            <a:avLst/>
          </a:prstGeom>
          <a:noFill/>
        </p:spPr>
        <p:txBody>
          <a:bodyPr wrap="square" lIns="0" rIns="0" tIns="0" bIns="0" anchor="t">
            <a:spAutoFit/>
          </a:bodyPr>
          <a:lstStyle/>
          <a:p>
            <a:pPr algn="l">
              <a:lnSpc>
                <a:spcPct val="114000"/>
              </a:lnSpc>
            </a:pPr>
            <a:r>
              <a:rPr sz="950" b="0" i="1">
                <a:solidFill>
                  <a:srgbClr val="5B6678"/>
                </a:solidFill>
                <a:latin typeface="DejaVu Sans"/>
              </a:rPr>
              <a:t>Inside the practice: the prod gate is calibrated by risk — a human approves the irreversible; something small and reversible that has passed its gates may be confirmed by AI. AI consumes the pipeline but does not own it: the agent calls gh / aws / gcloud as a privilege-limited user. Operations is the weakest of the three phases: no runtime context.</a:t>
            </a:r>
          </a:p>
        </p:txBody>
      </p:sp>
      <p:sp>
        <p:nvSpPr>
          <p:cNvPr id="14" name="Rounded Rectangle 13"/>
          <p:cNvSpPr/>
          <p:nvPr/>
        </p:nvSpPr>
        <p:spPr>
          <a:xfrm>
            <a:off x="6263640" y="1316736"/>
            <a:ext cx="544068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33-dora.png"/>
          <p:cNvPicPr>
            <a:picLocks noChangeAspect="1"/>
          </p:cNvPicPr>
          <p:nvPr/>
        </p:nvPicPr>
        <p:blipFill>
          <a:blip r:embed="rId2"/>
          <a:stretch>
            <a:fillRect/>
          </a:stretch>
        </p:blipFill>
        <p:spPr>
          <a:xfrm>
            <a:off x="7111419" y="1426464"/>
            <a:ext cx="3745121" cy="2231136"/>
          </a:xfrm>
          <a:prstGeom prst="rect">
            <a:avLst/>
          </a:prstGeom>
        </p:spPr>
      </p:pic>
      <p:sp>
        <p:nvSpPr>
          <p:cNvPr id="16" name="Rounded Rectangle 15"/>
          <p:cNvSpPr/>
          <p:nvPr/>
        </p:nvSpPr>
        <p:spPr>
          <a:xfrm>
            <a:off x="6446520" y="3767328"/>
            <a:ext cx="5074920" cy="822960"/>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3813048"/>
            <a:ext cx="4709160" cy="749808"/>
          </a:xfrm>
          <a:prstGeom prst="rect">
            <a:avLst/>
          </a:prstGeom>
          <a:noFill/>
        </p:spPr>
        <p:txBody>
          <a:bodyPr wrap="square" lIns="0" rIns="0" tIns="0" bIns="0" anchor="ctr">
            <a:spAutoFit/>
          </a:bodyPr>
          <a:lstStyle/>
          <a:p>
            <a:pPr algn="l">
              <a:lnSpc>
                <a:spcPct val="112000"/>
              </a:lnSpc>
            </a:pPr>
            <a:r>
              <a:rPr sz="1050" b="1" i="0">
                <a:solidFill>
                  <a:srgbClr val="21295C"/>
                </a:solidFill>
                <a:latin typeface="DejaVu Sans"/>
              </a:rPr>
              <a:t>One and the same AI adoption yields both halves: +7.5% to documentation quality and -7.2% to delivery stability (DORA 2024 </a:t>
            </a:r>
            <a:r>
              <a:rPr sz="546" baseline="30000" b="0" i="1">
                <a:latin typeface="DejaVu Sans"/>
                <a:cs typeface="DejaVu Sans"/>
                <a:ea typeface="DejaVu Sans"/>
                <a:solidFill>
                  <a:srgbClr val="1C7293"/>
                </a:solidFill>
              </a:rPr>
              <a:t>[1]</a:t>
            </a:r>
            <a:r>
              <a:rPr sz="1050" b="1" i="0">
                <a:latin typeface="DejaVu Sans"/>
                <a:cs typeface="DejaVu Sans"/>
                <a:ea typeface="DejaVu Sans"/>
                <a:solidFill>
                  <a:srgbClr val="21295C"/>
                </a:solidFill>
              </a:rPr>
              <a:t>); the link with stability is negative for the second year running (DORA 2025 </a:t>
            </a:r>
            <a:r>
              <a:rPr sz="546" baseline="30000" b="0" i="1">
                <a:latin typeface="DejaVu Sans"/>
                <a:cs typeface="DejaVu Sans"/>
                <a:ea typeface="DejaVu Sans"/>
                <a:solidFill>
                  <a:srgbClr val="1C7293"/>
                </a:solidFill>
              </a:rPr>
              <a:t>[2]</a:t>
            </a:r>
            <a:r>
              <a:rPr sz="1050" b="1" i="0">
                <a:latin typeface="DejaVu Sans"/>
                <a:cs typeface="DejaVu Sans"/>
                <a:ea typeface="DejaVu Sans"/>
                <a:solidFill>
                  <a:srgbClr val="21295C"/>
                </a:solidFill>
              </a:rPr>
              <a:t>).</a:t>
            </a:r>
          </a:p>
        </p:txBody>
      </p:sp>
      <p:sp>
        <p:nvSpPr>
          <p:cNvPr id="18" name="TextBox 17"/>
          <p:cNvSpPr txBox="1"/>
          <p:nvPr/>
        </p:nvSpPr>
        <p:spPr>
          <a:xfrm>
            <a:off x="6483096" y="4700016"/>
            <a:ext cx="5001768" cy="45720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Which half outweighs the other is decided by the maturity of the pipeline, not by the choice of model.</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failure of this phase is scaling AI onto an immature pipeline: both speed and instability grow. Hype: "an AI-CD/ops product as a replacement for the human".</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1850" b="1" i="0">
                <a:solidFill>
                  <a:srgbClr val="21295C"/>
                </a:solidFill>
                <a:latin typeface="DejaVu Sans"/>
              </a:rPr>
              <a:t>The multiplier is volume: a mature gate multiplies what is verified, a missing gate multiplies what is unsafe</a:t>
            </a:r>
          </a:p>
        </p:txBody>
      </p:sp>
      <p:sp>
        <p:nvSpPr>
          <p:cNvPr id="3" name="Rounded Rectangle 2"/>
          <p:cNvSpPr/>
          <p:nvPr/>
        </p:nvSpPr>
        <p:spPr>
          <a:xfrm>
            <a:off x="502920" y="1316736"/>
            <a:ext cx="5532120" cy="3822191"/>
          </a:xfrm>
          <a:prstGeom prst="roundRect">
            <a:avLst>
              <a:gd name="adj" fmla="val 79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gold.png"/>
          <p:cNvPicPr>
            <a:picLocks noChangeAspect="1"/>
          </p:cNvPicPr>
          <p:nvPr/>
        </p:nvPicPr>
        <p:blipFill>
          <a:blip r:embed="rId2"/>
          <a:stretch>
            <a:fillRect/>
          </a:stretch>
        </p:blipFill>
        <p:spPr>
          <a:xfrm>
            <a:off x="704088" y="1444752"/>
            <a:ext cx="402336" cy="402336"/>
          </a:xfrm>
          <a:prstGeom prst="rect">
            <a:avLst/>
          </a:prstGeom>
        </p:spPr>
      </p:pic>
      <p:sp>
        <p:nvSpPr>
          <p:cNvPr id="5" name="TextBox 4"/>
          <p:cNvSpPr txBox="1"/>
          <p:nvPr/>
        </p:nvSpPr>
        <p:spPr>
          <a:xfrm>
            <a:off x="1234440" y="1463039"/>
            <a:ext cx="4599431"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Where the AI copilot works</a:t>
            </a:r>
          </a:p>
        </p:txBody>
      </p:sp>
      <p:sp>
        <p:nvSpPr>
          <p:cNvPr id="6" name="TextBox 5"/>
          <p:cNvSpPr txBox="1"/>
          <p:nvPr/>
        </p:nvSpPr>
        <p:spPr>
          <a:xfrm>
            <a:off x="722376" y="1847088"/>
            <a:ext cx="5093208"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BT Group </a:t>
            </a:r>
            <a:r>
              <a:rPr sz="598" baseline="30000" b="0" i="1">
                <a:latin typeface="DejaVu Sans"/>
                <a:cs typeface="DejaVu Sans"/>
                <a:ea typeface="DejaVu Sans"/>
                <a:solidFill>
                  <a:srgbClr val="1C7293"/>
                </a:solidFill>
              </a:rPr>
              <a:t>[1]</a:t>
            </a:r>
          </a:p>
        </p:txBody>
      </p:sp>
      <p:sp>
        <p:nvSpPr>
          <p:cNvPr id="7" name="TextBox 6"/>
          <p:cNvSpPr txBox="1"/>
          <p:nvPr/>
        </p:nvSpPr>
        <p:spPr>
          <a:xfrm>
            <a:off x="722376" y="2103120"/>
            <a:ext cx="509320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MTTR ~2h → 85s (~97% reduction)</a:t>
            </a:r>
          </a:p>
        </p:txBody>
      </p:sp>
      <p:sp>
        <p:nvSpPr>
          <p:cNvPr id="8" name="TextBox 7"/>
          <p:cNvSpPr txBox="1"/>
          <p:nvPr/>
        </p:nvSpPr>
        <p:spPr>
          <a:xfrm>
            <a:off x="722376" y="2468880"/>
            <a:ext cx="5093208" cy="384048"/>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MTTR (mean time to repair) — the average time to restore service after an incident</a:t>
            </a:r>
          </a:p>
        </p:txBody>
      </p:sp>
      <p:sp>
        <p:nvSpPr>
          <p:cNvPr id="9" name="TextBox 8"/>
          <p:cNvSpPr txBox="1"/>
          <p:nvPr/>
        </p:nvSpPr>
        <p:spPr>
          <a:xfrm>
            <a:off x="722376" y="2889504"/>
            <a:ext cx="5093208"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Microsoft Azure "Triangle" </a:t>
            </a:r>
            <a:r>
              <a:rPr sz="598" baseline="30000" b="0" i="1">
                <a:latin typeface="DejaVu Sans"/>
                <a:cs typeface="DejaVu Sans"/>
                <a:ea typeface="DejaVu Sans"/>
                <a:solidFill>
                  <a:srgbClr val="1C7293"/>
                </a:solidFill>
              </a:rPr>
              <a:t>[2]</a:t>
            </a:r>
          </a:p>
        </p:txBody>
      </p:sp>
      <p:sp>
        <p:nvSpPr>
          <p:cNvPr id="10" name="TextBox 9"/>
          <p:cNvSpPr txBox="1"/>
          <p:nvPr/>
        </p:nvSpPr>
        <p:spPr>
          <a:xfrm>
            <a:off x="722376" y="3127248"/>
            <a:ext cx="509320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time-to-engage -91%, triage 97%</a:t>
            </a:r>
          </a:p>
        </p:txBody>
      </p:sp>
      <p:sp>
        <p:nvSpPr>
          <p:cNvPr id="11" name="TextBox 10"/>
          <p:cNvSpPr txBox="1"/>
          <p:nvPr/>
        </p:nvSpPr>
        <p:spPr>
          <a:xfrm>
            <a:off x="722376" y="3456432"/>
            <a:ext cx="5093208" cy="237744"/>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time-to-engage — the time until the on-call engineer is engaged</a:t>
            </a:r>
          </a:p>
        </p:txBody>
      </p:sp>
      <p:sp>
        <p:nvSpPr>
          <p:cNvPr id="12" name="Rounded Rectangle 11"/>
          <p:cNvSpPr/>
          <p:nvPr/>
        </p:nvSpPr>
        <p:spPr>
          <a:xfrm>
            <a:off x="722376" y="3730752"/>
            <a:ext cx="5093208" cy="512064"/>
          </a:xfrm>
          <a:prstGeom prst="roundRect">
            <a:avLst>
              <a:gd name="adj" fmla="val 800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758183"/>
            <a:ext cx="4800600" cy="457200"/>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What AI multiplies: </a:t>
            </a:r>
            <a:r>
              <a:rPr sz="950" b="0" i="0">
                <a:solidFill>
                  <a:srgbClr val="21295C"/>
                </a:solidFill>
                <a:latin typeface="DejaVu Sans"/>
              </a:rPr>
              <a:t>alert correlation and steps from a runbook written in advance.</a:t>
            </a:r>
          </a:p>
        </p:txBody>
      </p:sp>
      <p:sp>
        <p:nvSpPr>
          <p:cNvPr id="14" name="Rounded Rectangle 13"/>
          <p:cNvSpPr/>
          <p:nvPr/>
        </p:nvSpPr>
        <p:spPr>
          <a:xfrm>
            <a:off x="722376" y="4297679"/>
            <a:ext cx="5093208" cy="804672"/>
          </a:xfrm>
          <a:prstGeom prst="roundRect">
            <a:avLst>
              <a:gd name="adj" fmla="val 800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34256"/>
            <a:ext cx="4800600" cy="749808"/>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Where the gate is: </a:t>
            </a:r>
            <a:r>
              <a:rPr sz="950" b="0" i="0">
                <a:solidFill>
                  <a:srgbClr val="21295C"/>
                </a:solidFill>
                <a:latin typeface="DejaVu Sans"/>
              </a:rPr>
              <a:t>the runbook (a ready-made remediation script) defines the permitted actions, telemetry shows the result of every step. What is multiplied is work already verified — on top of an ALREADY mature operations practice (SRE).</a:t>
            </a:r>
          </a:p>
        </p:txBody>
      </p:sp>
      <p:sp>
        <p:nvSpPr>
          <p:cNvPr id="16" name="Rounded Rectangle 15"/>
          <p:cNvSpPr/>
          <p:nvPr/>
        </p:nvSpPr>
        <p:spPr>
          <a:xfrm>
            <a:off x="6263640" y="1316736"/>
            <a:ext cx="5440680" cy="3822191"/>
          </a:xfrm>
          <a:prstGeom prst="roundRect">
            <a:avLst>
              <a:gd name="adj" fmla="val 7974"/>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64807" y="1444752"/>
            <a:ext cx="402336" cy="402336"/>
          </a:xfrm>
          <a:prstGeom prst="rect">
            <a:avLst/>
          </a:prstGeom>
        </p:spPr>
      </p:pic>
      <p:sp>
        <p:nvSpPr>
          <p:cNvPr id="18" name="TextBox 17"/>
          <p:cNvSpPr txBox="1"/>
          <p:nvPr/>
        </p:nvSpPr>
        <p:spPr>
          <a:xfrm>
            <a:off x="6995159" y="1463039"/>
            <a:ext cx="4507992"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The same multiplier, the other side</a:t>
            </a:r>
          </a:p>
        </p:txBody>
      </p:sp>
      <p:sp>
        <p:nvSpPr>
          <p:cNvPr id="19" name="TextBox 18"/>
          <p:cNvSpPr txBox="1"/>
          <p:nvPr/>
        </p:nvSpPr>
        <p:spPr>
          <a:xfrm>
            <a:off x="6483096" y="1847088"/>
            <a:ext cx="5001768" cy="402336"/>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AI-generated IaC (infrastructure-as-code) </a:t>
            </a:r>
            <a:r>
              <a:rPr sz="598" baseline="30000" b="0" i="1">
                <a:latin typeface="DejaVu Sans"/>
                <a:cs typeface="DejaVu Sans"/>
                <a:ea typeface="DejaVu Sans"/>
                <a:solidFill>
                  <a:srgbClr val="1C7293"/>
                </a:solidFill>
              </a:rPr>
              <a:t>[3]</a:t>
            </a:r>
          </a:p>
        </p:txBody>
      </p:sp>
      <p:sp>
        <p:nvSpPr>
          <p:cNvPr id="20" name="TextBox 19"/>
          <p:cNvSpPr txBox="1"/>
          <p:nvPr/>
        </p:nvSpPr>
        <p:spPr>
          <a:xfrm>
            <a:off x="6483096" y="2267712"/>
            <a:ext cx="5001768"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~55% secure by default</a:t>
            </a:r>
          </a:p>
        </p:txBody>
      </p:sp>
      <p:sp>
        <p:nvSpPr>
          <p:cNvPr id="21" name="TextBox 20"/>
          <p:cNvSpPr txBox="1"/>
          <p:nvPr/>
        </p:nvSpPr>
        <p:spPr>
          <a:xfrm>
            <a:off x="6483096" y="2633472"/>
            <a:ext cx="5001768" cy="548640"/>
          </a:xfrm>
          <a:prstGeom prst="rect">
            <a:avLst/>
          </a:prstGeom>
          <a:noFill/>
        </p:spPr>
        <p:txBody>
          <a:bodyPr wrap="square" lIns="0" rIns="0" tIns="0" bIns="0" anchor="t">
            <a:spAutoFit/>
          </a:bodyPr>
          <a:lstStyle/>
          <a:p>
            <a:pPr algn="l">
              <a:lnSpc>
                <a:spcPct val="110000"/>
              </a:lnSpc>
            </a:pPr>
            <a:r>
              <a:rPr sz="950" b="0" i="1">
                <a:solidFill>
                  <a:srgbClr val="5B6678"/>
                </a:solidFill>
                <a:latin typeface="DejaVu Sans"/>
              </a:rPr>
              <a:t>the share of tasks where the generated Terraform / Kubernetes code is secure out of the box, with no human edits; over 2 years the figure has barely moved. Syntactic correctness &gt;95%.</a:t>
            </a:r>
          </a:p>
        </p:txBody>
      </p:sp>
      <p:sp>
        <p:nvSpPr>
          <p:cNvPr id="22" name="TextBox 21"/>
          <p:cNvSpPr txBox="1"/>
          <p:nvPr/>
        </p:nvSpPr>
        <p:spPr>
          <a:xfrm>
            <a:off x="6483096" y="3182112"/>
            <a:ext cx="5001768" cy="475488"/>
          </a:xfrm>
          <a:prstGeom prst="rect">
            <a:avLst/>
          </a:prstGeom>
          <a:noFill/>
        </p:spPr>
        <p:txBody>
          <a:bodyPr wrap="square" lIns="0" rIns="0" tIns="0" bIns="0" anchor="t">
            <a:spAutoFit/>
          </a:bodyPr>
          <a:lstStyle/>
          <a:p>
            <a:pPr algn="l">
              <a:lnSpc>
                <a:spcPct val="110000"/>
              </a:lnSpc>
            </a:pPr>
            <a:r>
              <a:rPr sz="1150" b="1" i="0">
                <a:solidFill>
                  <a:srgbClr val="21295C"/>
                </a:solidFill>
                <a:latin typeface="DejaVu Sans"/>
              </a:rPr>
              <a:t>A separate 2026 benchmark, a different measurement: 8.4% on security-checked tasks</a:t>
            </a:r>
          </a:p>
        </p:txBody>
      </p:sp>
      <p:sp>
        <p:nvSpPr>
          <p:cNvPr id="23" name="Rounded Rectangle 22"/>
          <p:cNvSpPr/>
          <p:nvPr/>
        </p:nvSpPr>
        <p:spPr>
          <a:xfrm>
            <a:off x="6483096" y="3730752"/>
            <a:ext cx="5001768" cy="512064"/>
          </a:xfrm>
          <a:prstGeom prst="roundRect">
            <a:avLst>
              <a:gd name="adj" fmla="val 8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3758183"/>
            <a:ext cx="4709160" cy="457200"/>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What AI multiplies: </a:t>
            </a:r>
            <a:r>
              <a:rPr sz="950" b="0" i="0">
                <a:solidFill>
                  <a:srgbClr val="21295C"/>
                </a:solidFill>
                <a:latin typeface="DejaVu Sans"/>
              </a:rPr>
              <a:t>the generation of configurations — many times more artifacts, and faster.</a:t>
            </a:r>
          </a:p>
        </p:txBody>
      </p:sp>
      <p:sp>
        <p:nvSpPr>
          <p:cNvPr id="25" name="Rounded Rectangle 24"/>
          <p:cNvSpPr/>
          <p:nvPr/>
        </p:nvSpPr>
        <p:spPr>
          <a:xfrm>
            <a:off x="6483096" y="4297679"/>
            <a:ext cx="5001768" cy="804672"/>
          </a:xfrm>
          <a:prstGeom prst="roundRect">
            <a:avLst>
              <a:gd name="adj" fmla="val 8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29400" y="4334256"/>
            <a:ext cx="4709160" cy="749808"/>
          </a:xfrm>
          <a:prstGeom prst="rect">
            <a:avLst/>
          </a:prstGeom>
          <a:noFill/>
        </p:spPr>
        <p:txBody>
          <a:bodyPr wrap="square" lIns="0" rIns="0" tIns="0" bIns="0" anchor="ctr">
            <a:spAutoFit/>
          </a:bodyPr>
          <a:lstStyle/>
          <a:p>
            <a:pPr algn="l">
              <a:lnSpc>
                <a:spcPct val="115000"/>
              </a:lnSpc>
            </a:pPr>
            <a:r>
              <a:rPr sz="950" b="1" i="0">
                <a:solidFill>
                  <a:srgbClr val="21295C"/>
                </a:solidFill>
                <a:latin typeface="DejaVu Sans"/>
              </a:rPr>
              <a:t>There is no gate: </a:t>
            </a:r>
            <a:r>
              <a:rPr sz="950" b="0" i="0">
                <a:solidFill>
                  <a:srgbClr val="21295C"/>
                </a:solidFill>
                <a:latin typeface="DejaVu Sans"/>
              </a:rPr>
              <a:t>the pipeline checks syntax, not security. More configurations → less attention on each → the unsafe one reaches production.</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problem is not that "there are more rollouts" but WHAT exactly is being multiplied: BT multiplies a verified step, IaC generation multiplies an unverified artifact. The multiplier is the same; only the maturity of the gate differs.</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incident.io — BT Group case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Microsoft Azure — "Triangle"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Industry code-security reports, 2026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comprehension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documentation toolchain: the input is code, the output is a retelling of what was already said</a:t>
            </a:r>
          </a:p>
        </p:txBody>
      </p:sp>
      <p:sp>
        <p:nvSpPr>
          <p:cNvPr id="3" name="Rounded Rectangle 2"/>
          <p:cNvSpPr/>
          <p:nvPr/>
        </p:nvSpPr>
        <p:spPr>
          <a:xfrm>
            <a:off x="502920" y="1298448"/>
            <a:ext cx="5532120" cy="3712463"/>
          </a:xfrm>
          <a:prstGeom prst="roundRect">
            <a:avLst>
              <a:gd name="adj" fmla="val 821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t-mid.png"/>
          <p:cNvPicPr>
            <a:picLocks noChangeAspect="1"/>
          </p:cNvPicPr>
          <p:nvPr/>
        </p:nvPicPr>
        <p:blipFill>
          <a:blip r:embed="rId2"/>
          <a:stretch>
            <a:fillRect/>
          </a:stretch>
        </p:blipFill>
        <p:spPr>
          <a:xfrm>
            <a:off x="704088" y="1444751"/>
            <a:ext cx="402336" cy="402336"/>
          </a:xfrm>
          <a:prstGeom prst="rect">
            <a:avLst/>
          </a:prstGeom>
        </p:spPr>
      </p:pic>
      <p:sp>
        <p:nvSpPr>
          <p:cNvPr id="5" name="TextBox 4"/>
          <p:cNvSpPr txBox="1"/>
          <p:nvPr/>
        </p:nvSpPr>
        <p:spPr>
          <a:xfrm>
            <a:off x="1234440" y="1463039"/>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The SaaS vendor layer</a:t>
            </a:r>
          </a:p>
        </p:txBody>
      </p:sp>
      <p:sp>
        <p:nvSpPr>
          <p:cNvPr id="6" name="TextBox 5"/>
          <p:cNvSpPr txBox="1"/>
          <p:nvPr/>
        </p:nvSpPr>
        <p:spPr>
          <a:xfrm>
            <a:off x="722376" y="1901952"/>
            <a:ext cx="50932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Confluence AI (Atlassian Intelligence)</a:t>
            </a:r>
          </a:p>
        </p:txBody>
      </p:sp>
      <p:sp>
        <p:nvSpPr>
          <p:cNvPr id="7" name="TextBox 6"/>
          <p:cNvSpPr txBox="1"/>
          <p:nvPr/>
        </p:nvSpPr>
        <p:spPr>
          <a:xfrm>
            <a:off x="722376" y="2194560"/>
            <a:ext cx="5093208" cy="1005840"/>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Summarizing a long thread into a digest; generating and transforming a draft from a prompt; Q&amp;A search over the knowledge base (a RAG-like pattern over the corporate base).</a:t>
            </a:r>
          </a:p>
        </p:txBody>
      </p:sp>
      <p:sp>
        <p:nvSpPr>
          <p:cNvPr id="8" name="Rectangle 7"/>
          <p:cNvSpPr/>
          <p:nvPr/>
        </p:nvSpPr>
        <p:spPr>
          <a:xfrm>
            <a:off x="722376" y="3218688"/>
            <a:ext cx="5093208"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4991"/>
            <a:ext cx="50932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AWS Q Developer /doc</a:t>
            </a:r>
          </a:p>
        </p:txBody>
      </p:sp>
      <p:sp>
        <p:nvSpPr>
          <p:cNvPr id="10" name="TextBox 9"/>
          <p:cNvSpPr txBox="1"/>
          <p:nvPr/>
        </p:nvSpPr>
        <p:spPr>
          <a:xfrm>
            <a:off x="722376" y="3657600"/>
            <a:ext cx="5093208" cy="1298448"/>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The agent analyzes the codebase rather than retelling the prompt. It builds infrastructure diagrams from IaC files (Terraform/CDK) — a direct link to the already-introduced principle of architecture-as-code. A closed loop: the code changed → a diff in the documentation is proposed.</a:t>
            </a:r>
          </a:p>
        </p:txBody>
      </p:sp>
      <p:sp>
        <p:nvSpPr>
          <p:cNvPr id="11" name="Rounded Rectangle 10"/>
          <p:cNvSpPr/>
          <p:nvPr/>
        </p:nvSpPr>
        <p:spPr>
          <a:xfrm>
            <a:off x="6172200" y="1298448"/>
            <a:ext cx="5532120" cy="3712463"/>
          </a:xfrm>
          <a:prstGeom prst="roundRect">
            <a:avLst>
              <a:gd name="adj" fmla="val 821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code-teal.png"/>
          <p:cNvPicPr>
            <a:picLocks noChangeAspect="1"/>
          </p:cNvPicPr>
          <p:nvPr/>
        </p:nvPicPr>
        <p:blipFill>
          <a:blip r:embed="rId3"/>
          <a:stretch>
            <a:fillRect/>
          </a:stretch>
        </p:blipFill>
        <p:spPr>
          <a:xfrm>
            <a:off x="6373368" y="1444751"/>
            <a:ext cx="402336" cy="402336"/>
          </a:xfrm>
          <a:prstGeom prst="rect">
            <a:avLst/>
          </a:prstGeom>
        </p:spPr>
      </p:pic>
      <p:sp>
        <p:nvSpPr>
          <p:cNvPr id="13" name="TextBox 12"/>
          <p:cNvSpPr txBox="1"/>
          <p:nvPr/>
        </p:nvSpPr>
        <p:spPr>
          <a:xfrm>
            <a:off x="6903720" y="1463039"/>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The code-first alternative</a:t>
            </a:r>
          </a:p>
        </p:txBody>
      </p:sp>
      <p:sp>
        <p:nvSpPr>
          <p:cNvPr id="14" name="TextBox 13"/>
          <p:cNvSpPr txBox="1"/>
          <p:nvPr/>
        </p:nvSpPr>
        <p:spPr>
          <a:xfrm>
            <a:off x="6391656" y="1901952"/>
            <a:ext cx="5093208" cy="1243584"/>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Instead of a separate SaaS — the coding agent itself, through an installed skill ("Code Documentation Skill", "README Generator"): it analyzes the project structure, the dependencies and the code patterns, and generates README / ADR / inline comments.</a:t>
            </a:r>
          </a:p>
        </p:txBody>
      </p:sp>
      <p:sp>
        <p:nvSpPr>
          <p:cNvPr id="15" name="Rounded Rectangle 14"/>
          <p:cNvSpPr/>
          <p:nvPr/>
        </p:nvSpPr>
        <p:spPr>
          <a:xfrm>
            <a:off x="6391656" y="3218688"/>
            <a:ext cx="5093208" cy="1481328"/>
          </a:xfrm>
          <a:prstGeom prst="roundRect">
            <a:avLst>
              <a:gd name="adj" fmla="val 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aduation-cap-teal.png"/>
          <p:cNvPicPr>
            <a:picLocks noChangeAspect="1"/>
          </p:cNvPicPr>
          <p:nvPr/>
        </p:nvPicPr>
        <p:blipFill>
          <a:blip r:embed="rId4"/>
          <a:stretch>
            <a:fillRect/>
          </a:stretch>
        </p:blipFill>
        <p:spPr>
          <a:xfrm>
            <a:off x="6556248" y="3346704"/>
            <a:ext cx="347472" cy="347472"/>
          </a:xfrm>
          <a:prstGeom prst="rect">
            <a:avLst/>
          </a:prstGeom>
        </p:spPr>
      </p:pic>
      <p:sp>
        <p:nvSpPr>
          <p:cNvPr id="17" name="TextBox 16"/>
          <p:cNvSpPr txBox="1"/>
          <p:nvPr/>
        </p:nvSpPr>
        <p:spPr>
          <a:xfrm>
            <a:off x="6995160" y="3364991"/>
            <a:ext cx="4361688"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DejaVu Sans"/>
              </a:rPr>
              <a:t>An honest caveat</a:t>
            </a:r>
          </a:p>
        </p:txBody>
      </p:sp>
      <p:sp>
        <p:nvSpPr>
          <p:cNvPr id="18" name="TextBox 17"/>
          <p:cNvSpPr txBox="1"/>
          <p:nvPr/>
        </p:nvSpPr>
        <p:spPr>
          <a:xfrm>
            <a:off x="6556248" y="3694176"/>
            <a:ext cx="4764024" cy="914400"/>
          </a:xfrm>
          <a:prstGeom prst="rect">
            <a:avLst/>
          </a:prstGeom>
          <a:noFill/>
        </p:spPr>
        <p:txBody>
          <a:bodyPr wrap="square" lIns="0" rIns="0" tIns="0" bIns="0" anchor="t">
            <a:spAutoFit/>
          </a:bodyPr>
          <a:lstStyle/>
          <a:p>
            <a:pPr algn="l">
              <a:lnSpc>
                <a:spcPct val="116000"/>
              </a:lnSpc>
            </a:pPr>
            <a:r>
              <a:rPr sz="1050" b="0" i="1">
                <a:solidFill>
                  <a:srgbClr val="5B6678"/>
                </a:solidFill>
                <a:latin typeface="DejaVu Sans"/>
              </a:rPr>
              <a:t>a community pattern, not a single official skill from the Anthropic repository. Onboarding documentation is a good skill candidate by the heuristics already introduced: a repeated instruction + it needs progressive disclosure.</a:t>
            </a:r>
          </a:p>
        </p:txBody>
      </p:sp>
      <p:sp>
        <p:nvSpPr>
          <p:cNvPr id="19" name="Rounded Rectangle 18"/>
          <p:cNvSpPr/>
          <p:nvPr/>
        </p:nvSpPr>
        <p:spPr>
          <a:xfrm>
            <a:off x="502920" y="5138927"/>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1"/>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vendor-specific layer illustrates the mechanics of the current 2026 stack, not a recommendation of one vendor: the same pattern is available through a skill on top of the agent you already use, without SaaS.</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eesel.ai — independent guide to Confluence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AWS — Amazon Q Developer /doc documentation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lecture's matrix: the practice leads — no vendor column</a:t>
            </a:r>
          </a:p>
        </p:txBody>
      </p:sp>
      <p:sp>
        <p:nvSpPr>
          <p:cNvPr id="3" name="Rounded Rectangle 2"/>
          <p:cNvSpPr/>
          <p:nvPr/>
        </p:nvSpPr>
        <p:spPr>
          <a:xfrm>
            <a:off x="502920" y="1078992"/>
            <a:ext cx="17830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67335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Phase</a:t>
            </a:r>
          </a:p>
        </p:txBody>
      </p:sp>
      <p:sp>
        <p:nvSpPr>
          <p:cNvPr id="5" name="Rounded Rectangle 4"/>
          <p:cNvSpPr/>
          <p:nvPr/>
        </p:nvSpPr>
        <p:spPr>
          <a:xfrm>
            <a:off x="2286000" y="1078992"/>
            <a:ext cx="3520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1106424"/>
            <a:ext cx="341071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Leading practice</a:t>
            </a:r>
          </a:p>
        </p:txBody>
      </p:sp>
      <p:sp>
        <p:nvSpPr>
          <p:cNvPr id="7" name="Rounded Rectangle 6"/>
          <p:cNvSpPr/>
          <p:nvPr/>
        </p:nvSpPr>
        <p:spPr>
          <a:xfrm>
            <a:off x="5806440" y="1078992"/>
            <a:ext cx="31089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61303" y="1106424"/>
            <a:ext cx="2999232" cy="329184"/>
          </a:xfrm>
          <a:prstGeom prst="rect">
            <a:avLst/>
          </a:prstGeom>
          <a:noFill/>
        </p:spPr>
        <p:txBody>
          <a:bodyPr wrap="square" lIns="0" rIns="0" tIns="0" bIns="0" anchor="ctr">
            <a:spAutoFit/>
          </a:bodyPr>
          <a:lstStyle/>
          <a:p>
            <a:pPr algn="ctr">
              <a:lnSpc>
                <a:spcPct val="95000"/>
              </a:lnSpc>
            </a:pPr>
            <a:r>
              <a:rPr sz="1100" b="1" i="0">
                <a:solidFill>
                  <a:srgbClr val="FFFFFF"/>
                </a:solidFill>
                <a:latin typeface="DejaVu Sans"/>
              </a:rPr>
              <a:t>Failure mode</a:t>
            </a:r>
          </a:p>
        </p:txBody>
      </p:sp>
      <p:sp>
        <p:nvSpPr>
          <p:cNvPr id="9" name="Rounded Rectangle 8"/>
          <p:cNvSpPr/>
          <p:nvPr/>
        </p:nvSpPr>
        <p:spPr>
          <a:xfrm>
            <a:off x="8915400" y="1078992"/>
            <a:ext cx="278892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70264" y="1106424"/>
            <a:ext cx="2679191" cy="329184"/>
          </a:xfrm>
          <a:prstGeom prst="rect">
            <a:avLst/>
          </a:prstGeom>
          <a:noFill/>
        </p:spPr>
        <p:txBody>
          <a:bodyPr wrap="square" lIns="0" rIns="0" tIns="0" bIns="0" anchor="ctr">
            <a:spAutoFit/>
          </a:bodyPr>
          <a:lstStyle/>
          <a:p>
            <a:pPr algn="ctr">
              <a:lnSpc>
                <a:spcPct val="95000"/>
              </a:lnSpc>
            </a:pPr>
            <a:r>
              <a:rPr sz="1100" b="1" i="0">
                <a:solidFill>
                  <a:srgbClr val="21295C"/>
                </a:solidFill>
                <a:latin typeface="DejaVu Sans"/>
              </a:rPr>
              <a:t>Where the human is required</a:t>
            </a:r>
          </a:p>
        </p:txBody>
      </p:sp>
      <p:sp>
        <p:nvSpPr>
          <p:cNvPr id="11" name="Rounded Rectangle 10"/>
          <p:cNvSpPr/>
          <p:nvPr/>
        </p:nvSpPr>
        <p:spPr>
          <a:xfrm>
            <a:off x="502920" y="1517904"/>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le-code-mid.png"/>
          <p:cNvPicPr>
            <a:picLocks noChangeAspect="1"/>
          </p:cNvPicPr>
          <p:nvPr/>
        </p:nvPicPr>
        <p:blipFill>
          <a:blip r:embed="rId2"/>
          <a:stretch>
            <a:fillRect/>
          </a:stretch>
        </p:blipFill>
        <p:spPr>
          <a:xfrm>
            <a:off x="576072" y="1609344"/>
            <a:ext cx="292608" cy="292608"/>
          </a:xfrm>
          <a:prstGeom prst="rect">
            <a:avLst/>
          </a:prstGeom>
        </p:spPr>
      </p:pic>
      <p:sp>
        <p:nvSpPr>
          <p:cNvPr id="13" name="TextBox 12"/>
          <p:cNvSpPr txBox="1"/>
          <p:nvPr/>
        </p:nvSpPr>
        <p:spPr>
          <a:xfrm>
            <a:off x="923544" y="1554480"/>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4" name="Rounded Rectangle 13"/>
          <p:cNvSpPr/>
          <p:nvPr/>
        </p:nvSpPr>
        <p:spPr>
          <a:xfrm>
            <a:off x="2286000" y="1517904"/>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1554480"/>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spec-driven: spec before code</a:t>
            </a:r>
          </a:p>
        </p:txBody>
      </p:sp>
      <p:sp>
        <p:nvSpPr>
          <p:cNvPr id="16" name="Rounded Rectangle 15"/>
          <p:cNvSpPr/>
          <p:nvPr/>
        </p:nvSpPr>
        <p:spPr>
          <a:xfrm>
            <a:off x="5806440" y="1517904"/>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79" y="1554480"/>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prompt-and-pray; "spec = truth"</a:t>
            </a:r>
          </a:p>
        </p:txBody>
      </p:sp>
      <p:sp>
        <p:nvSpPr>
          <p:cNvPr id="18" name="Rounded Rectangle 17"/>
          <p:cNvSpPr/>
          <p:nvPr/>
        </p:nvSpPr>
        <p:spPr>
          <a:xfrm>
            <a:off x="8915400" y="1517904"/>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6840" y="1554480"/>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deciding what to build</a:t>
            </a:r>
          </a:p>
        </p:txBody>
      </p:sp>
      <p:sp>
        <p:nvSpPr>
          <p:cNvPr id="20" name="Rounded Rectangle 19"/>
          <p:cNvSpPr/>
          <p:nvPr/>
        </p:nvSpPr>
        <p:spPr>
          <a:xfrm>
            <a:off x="502920" y="2029967"/>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mid.png"/>
          <p:cNvPicPr>
            <a:picLocks noChangeAspect="1"/>
          </p:cNvPicPr>
          <p:nvPr/>
        </p:nvPicPr>
        <p:blipFill>
          <a:blip r:embed="rId3"/>
          <a:stretch>
            <a:fillRect/>
          </a:stretch>
        </p:blipFill>
        <p:spPr>
          <a:xfrm>
            <a:off x="576072" y="2121407"/>
            <a:ext cx="292608" cy="292608"/>
          </a:xfrm>
          <a:prstGeom prst="rect">
            <a:avLst/>
          </a:prstGeom>
        </p:spPr>
      </p:pic>
      <p:sp>
        <p:nvSpPr>
          <p:cNvPr id="22" name="TextBox 21"/>
          <p:cNvSpPr txBox="1"/>
          <p:nvPr/>
        </p:nvSpPr>
        <p:spPr>
          <a:xfrm>
            <a:off x="923544" y="2066543"/>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3" name="Rounded Rectangle 22"/>
          <p:cNvSpPr/>
          <p:nvPr/>
        </p:nvSpPr>
        <p:spPr>
          <a:xfrm>
            <a:off x="2286000" y="2029967"/>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77440" y="2066543"/>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ADR + fitness + arch-as-code</a:t>
            </a:r>
          </a:p>
        </p:txBody>
      </p:sp>
      <p:sp>
        <p:nvSpPr>
          <p:cNvPr id="25" name="Rounded Rectangle 24"/>
          <p:cNvSpPr/>
          <p:nvPr/>
        </p:nvSpPr>
        <p:spPr>
          <a:xfrm>
            <a:off x="5806440" y="2029967"/>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79" y="2066543"/>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poisoned context without management</a:t>
            </a:r>
          </a:p>
        </p:txBody>
      </p:sp>
      <p:sp>
        <p:nvSpPr>
          <p:cNvPr id="27" name="Rounded Rectangle 26"/>
          <p:cNvSpPr/>
          <p:nvPr/>
        </p:nvSpPr>
        <p:spPr>
          <a:xfrm>
            <a:off x="8915400" y="2029967"/>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2066543"/>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choosing the forks under trade-off</a:t>
            </a:r>
          </a:p>
        </p:txBody>
      </p:sp>
      <p:sp>
        <p:nvSpPr>
          <p:cNvPr id="29" name="Rounded Rectangle 28"/>
          <p:cNvSpPr/>
          <p:nvPr/>
        </p:nvSpPr>
        <p:spPr>
          <a:xfrm>
            <a:off x="502920" y="2542032"/>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ode-mid.png"/>
          <p:cNvPicPr>
            <a:picLocks noChangeAspect="1"/>
          </p:cNvPicPr>
          <p:nvPr/>
        </p:nvPicPr>
        <p:blipFill>
          <a:blip r:embed="rId4"/>
          <a:stretch>
            <a:fillRect/>
          </a:stretch>
        </p:blipFill>
        <p:spPr>
          <a:xfrm>
            <a:off x="576072" y="2633472"/>
            <a:ext cx="292608" cy="292608"/>
          </a:xfrm>
          <a:prstGeom prst="rect">
            <a:avLst/>
          </a:prstGeom>
        </p:spPr>
      </p:pic>
      <p:sp>
        <p:nvSpPr>
          <p:cNvPr id="31" name="TextBox 30"/>
          <p:cNvSpPr txBox="1"/>
          <p:nvPr/>
        </p:nvSpPr>
        <p:spPr>
          <a:xfrm>
            <a:off x="923544" y="2578608"/>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2" name="Rounded Rectangle 31"/>
          <p:cNvSpPr/>
          <p:nvPr/>
        </p:nvSpPr>
        <p:spPr>
          <a:xfrm>
            <a:off x="2286000" y="2542032"/>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377440" y="2578608"/>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explore→plan→code→commit + harness</a:t>
            </a:r>
          </a:p>
        </p:txBody>
      </p:sp>
      <p:sp>
        <p:nvSpPr>
          <p:cNvPr id="34" name="Rounded Rectangle 33"/>
          <p:cNvSpPr/>
          <p:nvPr/>
        </p:nvSpPr>
        <p:spPr>
          <a:xfrm>
            <a:off x="5806440" y="2542032"/>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97879" y="2578608"/>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the 70% problem; "almost right"</a:t>
            </a:r>
          </a:p>
        </p:txBody>
      </p:sp>
      <p:sp>
        <p:nvSpPr>
          <p:cNvPr id="36" name="Rounded Rectangle 35"/>
          <p:cNvSpPr/>
          <p:nvPr/>
        </p:nvSpPr>
        <p:spPr>
          <a:xfrm>
            <a:off x="8915400" y="2542032"/>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06840" y="2578608"/>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reviewing the diff + merge</a:t>
            </a:r>
          </a:p>
        </p:txBody>
      </p:sp>
      <p:sp>
        <p:nvSpPr>
          <p:cNvPr id="38" name="Rounded Rectangle 37"/>
          <p:cNvSpPr/>
          <p:nvPr/>
        </p:nvSpPr>
        <p:spPr>
          <a:xfrm>
            <a:off x="502920" y="3054096"/>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flask-conical-mid.png"/>
          <p:cNvPicPr>
            <a:picLocks noChangeAspect="1"/>
          </p:cNvPicPr>
          <p:nvPr/>
        </p:nvPicPr>
        <p:blipFill>
          <a:blip r:embed="rId5"/>
          <a:stretch>
            <a:fillRect/>
          </a:stretch>
        </p:blipFill>
        <p:spPr>
          <a:xfrm>
            <a:off x="576072" y="3145535"/>
            <a:ext cx="292608" cy="292608"/>
          </a:xfrm>
          <a:prstGeom prst="rect">
            <a:avLst/>
          </a:prstGeom>
        </p:spPr>
      </p:pic>
      <p:sp>
        <p:nvSpPr>
          <p:cNvPr id="40" name="TextBox 39"/>
          <p:cNvSpPr txBox="1"/>
          <p:nvPr/>
        </p:nvSpPr>
        <p:spPr>
          <a:xfrm>
            <a:off x="923544" y="3090672"/>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1" name="Rounded Rectangle 40"/>
          <p:cNvSpPr/>
          <p:nvPr/>
        </p:nvSpPr>
        <p:spPr>
          <a:xfrm>
            <a:off x="2286000" y="3054096"/>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77440" y="3090672"/>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TDD: test-as-spec + determ. gate</a:t>
            </a:r>
          </a:p>
        </p:txBody>
      </p:sp>
      <p:sp>
        <p:nvSpPr>
          <p:cNvPr id="43" name="Rounded Rectangle 42"/>
          <p:cNvSpPr/>
          <p:nvPr/>
        </p:nvSpPr>
        <p:spPr>
          <a:xfrm>
            <a:off x="5806440" y="3054096"/>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97879" y="3090672"/>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"all green" lies; coverage != defects</a:t>
            </a:r>
          </a:p>
        </p:txBody>
      </p:sp>
      <p:sp>
        <p:nvSpPr>
          <p:cNvPr id="45" name="Rounded Rectangle 44"/>
          <p:cNvSpPr/>
          <p:nvPr/>
        </p:nvSpPr>
        <p:spPr>
          <a:xfrm>
            <a:off x="8915400" y="3054096"/>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06840" y="3090672"/>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what the test asserts</a:t>
            </a:r>
          </a:p>
        </p:txBody>
      </p:sp>
      <p:sp>
        <p:nvSpPr>
          <p:cNvPr id="47" name="Rounded Rectangle 46"/>
          <p:cNvSpPr/>
          <p:nvPr/>
        </p:nvSpPr>
        <p:spPr>
          <a:xfrm>
            <a:off x="502920" y="3566160"/>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shield-check-mid.png"/>
          <p:cNvPicPr>
            <a:picLocks noChangeAspect="1"/>
          </p:cNvPicPr>
          <p:nvPr/>
        </p:nvPicPr>
        <p:blipFill>
          <a:blip r:embed="rId6"/>
          <a:stretch>
            <a:fillRect/>
          </a:stretch>
        </p:blipFill>
        <p:spPr>
          <a:xfrm>
            <a:off x="576072" y="3657600"/>
            <a:ext cx="292608" cy="292608"/>
          </a:xfrm>
          <a:prstGeom prst="rect">
            <a:avLst/>
          </a:prstGeom>
        </p:spPr>
      </p:pic>
      <p:sp>
        <p:nvSpPr>
          <p:cNvPr id="49" name="TextBox 48"/>
          <p:cNvSpPr txBox="1"/>
          <p:nvPr/>
        </p:nvSpPr>
        <p:spPr>
          <a:xfrm>
            <a:off x="923544" y="3602736"/>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50" name="Rounded Rectangle 49"/>
          <p:cNvSpPr/>
          <p:nvPr/>
        </p:nvSpPr>
        <p:spPr>
          <a:xfrm>
            <a:off x="2286000" y="3566160"/>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377440" y="3602736"/>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fresh-context; least-priv+SAST</a:t>
            </a:r>
          </a:p>
        </p:txBody>
      </p:sp>
      <p:sp>
        <p:nvSpPr>
          <p:cNvPr id="52" name="Rounded Rectangle 51"/>
          <p:cNvSpPr/>
          <p:nvPr/>
        </p:nvSpPr>
        <p:spPr>
          <a:xfrm>
            <a:off x="5806440" y="3566160"/>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97879" y="3602736"/>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complacency; false confidence</a:t>
            </a:r>
          </a:p>
        </p:txBody>
      </p:sp>
      <p:sp>
        <p:nvSpPr>
          <p:cNvPr id="54" name="Rounded Rectangle 53"/>
          <p:cNvSpPr/>
          <p:nvPr/>
        </p:nvSpPr>
        <p:spPr>
          <a:xfrm>
            <a:off x="8915400" y="3566160"/>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06840" y="3602736"/>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 second pass + threat modeling</a:t>
            </a:r>
          </a:p>
        </p:txBody>
      </p:sp>
      <p:sp>
        <p:nvSpPr>
          <p:cNvPr id="56" name="Rounded Rectangle 55"/>
          <p:cNvSpPr/>
          <p:nvPr/>
        </p:nvSpPr>
        <p:spPr>
          <a:xfrm>
            <a:off x="502920" y="4078224"/>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git-merge-mid.png"/>
          <p:cNvPicPr>
            <a:picLocks noChangeAspect="1"/>
          </p:cNvPicPr>
          <p:nvPr/>
        </p:nvPicPr>
        <p:blipFill>
          <a:blip r:embed="rId7"/>
          <a:stretch>
            <a:fillRect/>
          </a:stretch>
        </p:blipFill>
        <p:spPr>
          <a:xfrm>
            <a:off x="576072" y="4169663"/>
            <a:ext cx="292608" cy="292608"/>
          </a:xfrm>
          <a:prstGeom prst="rect">
            <a:avLst/>
          </a:prstGeom>
        </p:spPr>
      </p:pic>
      <p:sp>
        <p:nvSpPr>
          <p:cNvPr id="58" name="TextBox 57"/>
          <p:cNvSpPr txBox="1"/>
          <p:nvPr/>
        </p:nvSpPr>
        <p:spPr>
          <a:xfrm>
            <a:off x="923544" y="4114800"/>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59" name="Rounded Rectangle 58"/>
          <p:cNvSpPr/>
          <p:nvPr/>
        </p:nvSpPr>
        <p:spPr>
          <a:xfrm>
            <a:off x="2286000" y="4078224"/>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377440" y="4114800"/>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headless + risk-calibr. gate (DORA-first)</a:t>
            </a:r>
          </a:p>
        </p:txBody>
      </p:sp>
      <p:sp>
        <p:nvSpPr>
          <p:cNvPr id="61" name="Rounded Rectangle 60"/>
          <p:cNvSpPr/>
          <p:nvPr/>
        </p:nvSpPr>
        <p:spPr>
          <a:xfrm>
            <a:off x="5806440" y="4078224"/>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897879" y="4114800"/>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AI consumes, does not own</a:t>
            </a:r>
          </a:p>
        </p:txBody>
      </p:sp>
      <p:sp>
        <p:nvSpPr>
          <p:cNvPr id="63" name="Rounded Rectangle 62"/>
          <p:cNvSpPr/>
          <p:nvPr/>
        </p:nvSpPr>
        <p:spPr>
          <a:xfrm>
            <a:off x="8915400" y="4078224"/>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06840" y="4114800"/>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prod gate (hard on the irreversible)</a:t>
            </a:r>
          </a:p>
        </p:txBody>
      </p:sp>
      <p:sp>
        <p:nvSpPr>
          <p:cNvPr id="65" name="Rounded Rectangle 64"/>
          <p:cNvSpPr/>
          <p:nvPr/>
        </p:nvSpPr>
        <p:spPr>
          <a:xfrm>
            <a:off x="502920" y="4590288"/>
            <a:ext cx="178308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wrench-mid.png"/>
          <p:cNvPicPr>
            <a:picLocks noChangeAspect="1"/>
          </p:cNvPicPr>
          <p:nvPr/>
        </p:nvPicPr>
        <p:blipFill>
          <a:blip r:embed="rId8"/>
          <a:stretch>
            <a:fillRect/>
          </a:stretch>
        </p:blipFill>
        <p:spPr>
          <a:xfrm>
            <a:off x="576072" y="4681727"/>
            <a:ext cx="292608" cy="292608"/>
          </a:xfrm>
          <a:prstGeom prst="rect">
            <a:avLst/>
          </a:prstGeom>
        </p:spPr>
      </p:pic>
      <p:sp>
        <p:nvSpPr>
          <p:cNvPr id="67" name="TextBox 66"/>
          <p:cNvSpPr txBox="1"/>
          <p:nvPr/>
        </p:nvSpPr>
        <p:spPr>
          <a:xfrm>
            <a:off x="923544" y="4626864"/>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68" name="Rounded Rectangle 67"/>
          <p:cNvSpPr/>
          <p:nvPr/>
        </p:nvSpPr>
        <p:spPr>
          <a:xfrm>
            <a:off x="2286000" y="4590288"/>
            <a:ext cx="352044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377440" y="4626864"/>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telemetry + on-call</a:t>
            </a:r>
          </a:p>
        </p:txBody>
      </p:sp>
      <p:sp>
        <p:nvSpPr>
          <p:cNvPr id="70" name="Rounded Rectangle 69"/>
          <p:cNvSpPr/>
          <p:nvPr/>
        </p:nvSpPr>
        <p:spPr>
          <a:xfrm>
            <a:off x="5806440" y="4590288"/>
            <a:ext cx="3108960" cy="475488"/>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897879" y="4626864"/>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no system context</a:t>
            </a:r>
          </a:p>
        </p:txBody>
      </p:sp>
      <p:sp>
        <p:nvSpPr>
          <p:cNvPr id="72" name="Rounded Rectangle 71"/>
          <p:cNvSpPr/>
          <p:nvPr/>
        </p:nvSpPr>
        <p:spPr>
          <a:xfrm>
            <a:off x="8915400" y="4590288"/>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006840" y="4626864"/>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owning the system model</a:t>
            </a:r>
          </a:p>
        </p:txBody>
      </p:sp>
      <p:sp>
        <p:nvSpPr>
          <p:cNvPr id="74" name="Rounded Rectangle 73"/>
          <p:cNvSpPr/>
          <p:nvPr/>
        </p:nvSpPr>
        <p:spPr>
          <a:xfrm>
            <a:off x="502920" y="5102352"/>
            <a:ext cx="178308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lightbulb-mid.png"/>
          <p:cNvPicPr>
            <a:picLocks noChangeAspect="1"/>
          </p:cNvPicPr>
          <p:nvPr/>
        </p:nvPicPr>
        <p:blipFill>
          <a:blip r:embed="rId9"/>
          <a:stretch>
            <a:fillRect/>
          </a:stretch>
        </p:blipFill>
        <p:spPr>
          <a:xfrm>
            <a:off x="576072" y="5193792"/>
            <a:ext cx="292608" cy="292608"/>
          </a:xfrm>
          <a:prstGeom prst="rect">
            <a:avLst/>
          </a:prstGeom>
        </p:spPr>
      </p:pic>
      <p:sp>
        <p:nvSpPr>
          <p:cNvPr id="76" name="TextBox 75"/>
          <p:cNvSpPr txBox="1"/>
          <p:nvPr/>
        </p:nvSpPr>
        <p:spPr>
          <a:xfrm>
            <a:off x="923544" y="5138928"/>
            <a:ext cx="1325880" cy="402336"/>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77" name="Rounded Rectangle 76"/>
          <p:cNvSpPr/>
          <p:nvPr/>
        </p:nvSpPr>
        <p:spPr>
          <a:xfrm>
            <a:off x="2286000" y="5102352"/>
            <a:ext cx="352044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377440" y="5138928"/>
            <a:ext cx="3337560"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docs-as-context (code = truth)</a:t>
            </a:r>
          </a:p>
        </p:txBody>
      </p:sp>
      <p:sp>
        <p:nvSpPr>
          <p:cNvPr id="79" name="Rounded Rectangle 78"/>
          <p:cNvSpPr/>
          <p:nvPr/>
        </p:nvSpPr>
        <p:spPr>
          <a:xfrm>
            <a:off x="5806440" y="5102352"/>
            <a:ext cx="3108960" cy="475488"/>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897879" y="5138928"/>
            <a:ext cx="292607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cognitive debt; hallucinations</a:t>
            </a:r>
          </a:p>
        </p:txBody>
      </p:sp>
      <p:sp>
        <p:nvSpPr>
          <p:cNvPr id="81" name="Rounded Rectangle 80"/>
          <p:cNvSpPr/>
          <p:nvPr/>
        </p:nvSpPr>
        <p:spPr>
          <a:xfrm>
            <a:off x="8915400" y="5102352"/>
            <a:ext cx="2788920" cy="475488"/>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006840" y="5138928"/>
            <a:ext cx="2606039" cy="402336"/>
          </a:xfrm>
          <a:prstGeom prst="rect">
            <a:avLst/>
          </a:prstGeom>
          <a:noFill/>
        </p:spPr>
        <p:txBody>
          <a:bodyPr wrap="square" lIns="0" rIns="0" tIns="0" bIns="0" anchor="ctr">
            <a:spAutoFit/>
          </a:bodyPr>
          <a:lstStyle/>
          <a:p>
            <a:pPr algn="l">
              <a:lnSpc>
                <a:spcPct val="98000"/>
              </a:lnSpc>
            </a:pPr>
            <a:r>
              <a:rPr sz="1030" b="0" i="0">
                <a:solidFill>
                  <a:srgbClr val="21295C"/>
                </a:solidFill>
                <a:latin typeface="DejaVu Sans"/>
              </a:rPr>
              <a:t>pace &lt;= comprehension pace</a:t>
            </a:r>
          </a:p>
        </p:txBody>
      </p:sp>
      <p:sp>
        <p:nvSpPr>
          <p:cNvPr id="83" name="Rounded Rectangle 82"/>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vendor names from sections 1-6 are replaceable; the practice, the failure mode and the human's point here are durable — they rest on the character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covered, not assigned. </a:t>
            </a:r>
            <a:r>
              <a:rPr sz="598" baseline="30000" b="0" i="1">
                <a:latin typeface="DejaVu Sans"/>
                <a:cs typeface="DejaVu Sans"/>
                <a:ea typeface="DejaVu Sans"/>
                <a:solidFill>
                  <a:srgbClr val="1C7293"/>
                </a:solidFill>
              </a:rPr>
              <a:t>[1]</a:t>
            </a:r>
          </a:p>
        </p:txBody>
      </p:sp>
      <p:sp>
        <p:nvSpPr>
          <p:cNvPr id="85" name="TextBox 84"/>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DORA (n ~ 5000, systemic) </a:t>
            </a:r>
            <a:r>
              <a:rPr sz="598" baseline="30000" b="0" i="1">
                <a:latin typeface="DejaVu Sans"/>
                <a:cs typeface="DejaVu Sans"/>
                <a:ea typeface="DejaVu Sans"/>
                <a:solidFill>
                  <a:srgbClr val="1C7293"/>
                </a:solidFill>
              </a:rPr>
              <a:t>[1]</a:t>
            </a:r>
          </a:p>
        </p:txBody>
      </p:sp>
      <p:sp>
        <p:nvSpPr>
          <p:cNvPr id="6" name="TextBox 5"/>
          <p:cNvSpPr txBox="1"/>
          <p:nvPr/>
        </p:nvSpPr>
        <p:spPr>
          <a:xfrm>
            <a:off x="722376" y="2596896"/>
            <a:ext cx="3191256" cy="1097280"/>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GitClear — two measurements </a:t>
            </a:r>
            <a:r>
              <a:rPr sz="598" baseline="30000" b="0" i="1">
                <a:latin typeface="DejaVu Sans"/>
                <a:cs typeface="DejaVu Sans"/>
                <a:ea typeface="DejaVu Sans"/>
                <a:solidFill>
                  <a:srgbClr val="1C7293"/>
                </a:solidFill>
              </a:rPr>
              <a:t>[2]</a:t>
            </a:r>
          </a:p>
        </p:txBody>
      </p:sp>
      <p:sp>
        <p:nvSpPr>
          <p:cNvPr id="11" name="TextBox 10"/>
          <p:cNvSpPr txBox="1"/>
          <p:nvPr/>
        </p:nvSpPr>
        <p:spPr>
          <a:xfrm>
            <a:off x="4507992" y="2596896"/>
            <a:ext cx="3191256" cy="1097280"/>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211M lines (2020-24): refactoring ~25%→&lt;10%, duplicates 8.3%→12.3%. 623M changes (2023-26): refactoring 21%→3.8% (-70%), duplicates +81%, churn +15%. (Both are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42062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METR (n = 16, experts, familiar code) </a:t>
            </a:r>
            <a:r>
              <a:rPr sz="598" baseline="30000" b="0" i="1">
                <a:latin typeface="DejaVu Sans"/>
                <a:cs typeface="DejaVu Sans"/>
                <a:ea typeface="DejaVu Sans"/>
                <a:solidFill>
                  <a:srgbClr val="1C7293"/>
                </a:solidFill>
              </a:rPr>
              <a:t>[3]</a:t>
            </a:r>
          </a:p>
        </p:txBody>
      </p:sp>
      <p:sp>
        <p:nvSpPr>
          <p:cNvPr id="16" name="TextBox 15"/>
          <p:cNvSpPr txBox="1"/>
          <p:nvPr/>
        </p:nvSpPr>
        <p:spPr>
          <a:xfrm>
            <a:off x="8293608" y="2596896"/>
            <a:ext cx="3191256" cy="1097280"/>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Scale of adoption is not yet an effect: what decides is neither the brand nor the reach, but the discipline applied</a:t>
            </a:r>
          </a:p>
        </p:txBody>
      </p:sp>
      <p:sp>
        <p:nvSpPr>
          <p:cNvPr id="3" name="Rounded Rectangle 2"/>
          <p:cNvSpPr/>
          <p:nvPr/>
        </p:nvSpPr>
        <p:spPr>
          <a:xfrm>
            <a:off x="502920" y="1316736"/>
            <a:ext cx="5532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704088" y="1444752"/>
            <a:ext cx="420624" cy="420624"/>
          </a:xfrm>
          <a:prstGeom prst="rect">
            <a:avLst/>
          </a:prstGeom>
        </p:spPr>
      </p:pic>
      <p:sp>
        <p:nvSpPr>
          <p:cNvPr id="5" name="TextBox 4"/>
          <p:cNvSpPr txBox="1"/>
          <p:nvPr/>
        </p:nvSpPr>
        <p:spPr>
          <a:xfrm>
            <a:off x="1252728" y="1481328"/>
            <a:ext cx="3977639"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Uber, 2026 </a:t>
            </a:r>
            <a:r>
              <a:rPr sz="676" baseline="30000" b="0" i="1">
                <a:latin typeface="DejaVu Sans"/>
                <a:cs typeface="DejaVu Sans"/>
                <a:ea typeface="DejaVu Sans"/>
                <a:solidFill>
                  <a:srgbClr val="1C7293"/>
                </a:solidFill>
              </a:rPr>
              <a:t>[1]</a:t>
            </a:r>
          </a:p>
        </p:txBody>
      </p:sp>
      <p:pic>
        <p:nvPicPr>
          <p:cNvPr id="6" name="Picture 5" descr="uber-logo.png"/>
          <p:cNvPicPr>
            <a:picLocks noChangeAspect="1"/>
          </p:cNvPicPr>
          <p:nvPr/>
        </p:nvPicPr>
        <p:blipFill>
          <a:blip r:embed="rId3"/>
          <a:stretch>
            <a:fillRect/>
          </a:stretch>
        </p:blipFill>
        <p:spPr>
          <a:xfrm>
            <a:off x="5248655" y="1408176"/>
            <a:ext cx="548640" cy="548640"/>
          </a:xfrm>
          <a:prstGeom prst="rect">
            <a:avLst/>
          </a:prstGeom>
        </p:spPr>
      </p:pic>
      <p:sp>
        <p:nvSpPr>
          <p:cNvPr id="7" name="TextBox 6"/>
          <p:cNvSpPr txBox="1"/>
          <p:nvPr/>
        </p:nvSpPr>
        <p:spPr>
          <a:xfrm>
            <a:off x="5120640" y="1975104"/>
            <a:ext cx="822960"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Uber · Wikimedia</a:t>
            </a:r>
          </a:p>
        </p:txBody>
      </p:sp>
      <p:sp>
        <p:nvSpPr>
          <p:cNvPr id="8" name="TextBox 7"/>
          <p:cNvSpPr txBox="1"/>
          <p:nvPr/>
        </p:nvSpPr>
        <p:spPr>
          <a:xfrm>
            <a:off x="722376" y="1956815"/>
            <a:ext cx="4343400" cy="256032"/>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Scale of adoption</a:t>
            </a:r>
          </a:p>
        </p:txBody>
      </p:sp>
      <p:sp>
        <p:nvSpPr>
          <p:cNvPr id="9" name="TextBox 8"/>
          <p:cNvSpPr txBox="1"/>
          <p:nvPr/>
        </p:nvSpPr>
        <p:spPr>
          <a:xfrm>
            <a:off x="722376" y="2231136"/>
            <a:ext cx="5093208" cy="658368"/>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agentic practices 32% → 84% in one month (a 2.6× rise) · 95% of engineers monthly · 70% of committed code — from AI · $500–2000 per engineer per month</a:t>
            </a:r>
          </a:p>
        </p:txBody>
      </p:sp>
      <p:sp>
        <p:nvSpPr>
          <p:cNvPr id="10" name="Rounded Rectangle 9"/>
          <p:cNvSpPr/>
          <p:nvPr/>
        </p:nvSpPr>
        <p:spPr>
          <a:xfrm>
            <a:off x="722376" y="2962656"/>
            <a:ext cx="5093208" cy="133502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3035808"/>
            <a:ext cx="4764024" cy="292608"/>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Effect: not traceable</a:t>
            </a:r>
          </a:p>
        </p:txBody>
      </p:sp>
      <p:sp>
        <p:nvSpPr>
          <p:cNvPr id="12" name="TextBox 11"/>
          <p:cNvSpPr txBox="1"/>
          <p:nvPr/>
        </p:nvSpPr>
        <p:spPr>
          <a:xfrm>
            <a:off x="886968" y="3346704"/>
            <a:ext cx="4764024" cy="658368"/>
          </a:xfrm>
          <a:prstGeom prst="rect">
            <a:avLst/>
          </a:prstGeom>
          <a:noFill/>
        </p:spPr>
        <p:txBody>
          <a:bodyPr wrap="square" lIns="0" rIns="0" tIns="0" bIns="0" anchor="t">
            <a:spAutoFit/>
          </a:bodyPr>
          <a:lstStyle/>
          <a:p>
            <a:pPr algn="l">
              <a:lnSpc>
                <a:spcPct val="112000"/>
              </a:lnSpc>
            </a:pPr>
            <a:r>
              <a:rPr sz="950" b="0" i="1">
                <a:solidFill>
                  <a:srgbClr val="21295C"/>
                </a:solidFill>
                <a:latin typeface="DejaVu Sans"/>
              </a:rPr>
              <a:t>"It's hard to draw a connection between the company's rising use of Claude Code and innovations meant to serve consumers… That link is not there yet"</a:t>
            </a:r>
          </a:p>
        </p:txBody>
      </p:sp>
      <p:sp>
        <p:nvSpPr>
          <p:cNvPr id="13" name="TextBox 12"/>
          <p:cNvSpPr txBox="1"/>
          <p:nvPr/>
        </p:nvSpPr>
        <p:spPr>
          <a:xfrm>
            <a:off x="886968" y="4005072"/>
            <a:ext cx="4764024" cy="219456"/>
          </a:xfrm>
          <a:prstGeom prst="rect">
            <a:avLst/>
          </a:prstGeom>
          <a:noFill/>
        </p:spPr>
        <p:txBody>
          <a:bodyPr wrap="square" lIns="0" rIns="0" tIns="0" bIns="0" anchor="t">
            <a:spAutoFit/>
          </a:bodyPr>
          <a:lstStyle/>
          <a:p>
            <a:pPr algn="l">
              <a:lnSpc>
                <a:spcPct val="115000"/>
              </a:lnSpc>
            </a:pPr>
            <a:r>
              <a:rPr sz="850" b="0" i="1">
                <a:solidFill>
                  <a:srgbClr val="5B6678"/>
                </a:solidFill>
                <a:latin typeface="DejaVu Sans"/>
              </a:rPr>
              <a:t>— Andrew Macdonald, President and COO of Uber</a:t>
            </a:r>
          </a:p>
        </p:txBody>
      </p:sp>
      <p:sp>
        <p:nvSpPr>
          <p:cNvPr id="14" name="TextBox 13"/>
          <p:cNvSpPr txBox="1"/>
          <p:nvPr/>
        </p:nvSpPr>
        <p:spPr>
          <a:xfrm>
            <a:off x="722376" y="4407408"/>
            <a:ext cx="5093208" cy="566928"/>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Response: a $1500 per-employee monthly cap — after the fact, once the annual budget had burned through in 4 months.</a:t>
            </a:r>
          </a:p>
        </p:txBody>
      </p:sp>
      <p:sp>
        <p:nvSpPr>
          <p:cNvPr id="15" name="Rounded Rectangle 14"/>
          <p:cNvSpPr/>
          <p:nvPr/>
        </p:nvSpPr>
        <p:spPr>
          <a:xfrm>
            <a:off x="6263640" y="1316736"/>
            <a:ext cx="5440680" cy="3749039"/>
          </a:xfrm>
          <a:prstGeom prst="roundRect">
            <a:avLst>
              <a:gd name="adj" fmla="val 813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lit-teal.png"/>
          <p:cNvPicPr>
            <a:picLocks noChangeAspect="1"/>
          </p:cNvPicPr>
          <p:nvPr/>
        </p:nvPicPr>
        <p:blipFill>
          <a:blip r:embed="rId4"/>
          <a:stretch>
            <a:fillRect/>
          </a:stretch>
        </p:blipFill>
        <p:spPr>
          <a:xfrm>
            <a:off x="6464807" y="1444752"/>
            <a:ext cx="420624" cy="420624"/>
          </a:xfrm>
          <a:prstGeom prst="rect">
            <a:avLst/>
          </a:prstGeom>
        </p:spPr>
      </p:pic>
      <p:sp>
        <p:nvSpPr>
          <p:cNvPr id="17" name="TextBox 16"/>
          <p:cNvSpPr txBox="1"/>
          <p:nvPr/>
        </p:nvSpPr>
        <p:spPr>
          <a:xfrm>
            <a:off x="7013448" y="1481328"/>
            <a:ext cx="3291840" cy="548640"/>
          </a:xfrm>
          <a:prstGeom prst="rect">
            <a:avLst/>
          </a:prstGeom>
          <a:noFill/>
        </p:spPr>
        <p:txBody>
          <a:bodyPr wrap="square" lIns="0" rIns="0" tIns="0" bIns="0" anchor="t">
            <a:spAutoFit/>
          </a:bodyPr>
          <a:lstStyle/>
          <a:p>
            <a:pPr algn="l">
              <a:lnSpc>
                <a:spcPct val="105000"/>
              </a:lnSpc>
            </a:pPr>
            <a:r>
              <a:rPr sz="1150" b="1" i="0">
                <a:solidFill>
                  <a:srgbClr val="028090"/>
                </a:solidFill>
                <a:latin typeface="DejaVu Sans"/>
              </a:rPr>
              <a:t>AWS Kiro — the same product, two registers </a:t>
            </a:r>
            <a:r>
              <a:rPr sz="598" baseline="30000" b="0" i="1">
                <a:latin typeface="DejaVu Sans"/>
                <a:cs typeface="DejaVu Sans"/>
                <a:ea typeface="DejaVu Sans"/>
                <a:solidFill>
                  <a:srgbClr val="1C7293"/>
                </a:solidFill>
              </a:rPr>
              <a:t>[2]</a:t>
            </a:r>
          </a:p>
        </p:txBody>
      </p:sp>
      <p:pic>
        <p:nvPicPr>
          <p:cNvPr id="18" name="Picture 17" descr="aws-logo.png"/>
          <p:cNvPicPr>
            <a:picLocks noChangeAspect="1"/>
          </p:cNvPicPr>
          <p:nvPr/>
        </p:nvPicPr>
        <p:blipFill>
          <a:blip r:embed="rId5"/>
          <a:stretch>
            <a:fillRect/>
          </a:stretch>
        </p:blipFill>
        <p:spPr>
          <a:xfrm>
            <a:off x="10698480" y="1445666"/>
            <a:ext cx="621792" cy="373075"/>
          </a:xfrm>
          <a:prstGeom prst="rect">
            <a:avLst/>
          </a:prstGeom>
        </p:spPr>
      </p:pic>
      <p:sp>
        <p:nvSpPr>
          <p:cNvPr id="19" name="TextBox 18"/>
          <p:cNvSpPr txBox="1"/>
          <p:nvPr/>
        </p:nvSpPr>
        <p:spPr>
          <a:xfrm>
            <a:off x="10607040" y="1847088"/>
            <a:ext cx="804672"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AWS · Wikimedia</a:t>
            </a:r>
          </a:p>
        </p:txBody>
      </p:sp>
      <p:sp>
        <p:nvSpPr>
          <p:cNvPr id="20" name="TextBox 19"/>
          <p:cNvSpPr txBox="1"/>
          <p:nvPr/>
        </p:nvSpPr>
        <p:spPr>
          <a:xfrm>
            <a:off x="6483096" y="1920240"/>
            <a:ext cx="5001768"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Success:</a:t>
            </a:r>
          </a:p>
        </p:txBody>
      </p:sp>
      <p:sp>
        <p:nvSpPr>
          <p:cNvPr id="21" name="TextBox 20"/>
          <p:cNvSpPr txBox="1"/>
          <p:nvPr/>
        </p:nvSpPr>
        <p:spPr>
          <a:xfrm>
            <a:off x="6483096" y="2212848"/>
            <a:ext cx="5001768" cy="713232"/>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life sciences — a spec-first discipline, verifiability gates set in advance → production in 3 weeks (the same case we already saw earlier in the lecture).</a:t>
            </a:r>
          </a:p>
        </p:txBody>
      </p:sp>
      <p:sp>
        <p:nvSpPr>
          <p:cNvPr id="22" name="TextBox 21"/>
          <p:cNvSpPr txBox="1"/>
          <p:nvPr/>
        </p:nvSpPr>
        <p:spPr>
          <a:xfrm>
            <a:off x="6483096" y="2962656"/>
            <a:ext cx="5001768"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Failure:</a:t>
            </a:r>
          </a:p>
        </p:txBody>
      </p:sp>
      <p:sp>
        <p:nvSpPr>
          <p:cNvPr id="23" name="TextBox 22"/>
          <p:cNvSpPr txBox="1"/>
          <p:nvPr/>
        </p:nvSpPr>
        <p:spPr>
          <a:xfrm>
            <a:off x="6483096" y="3255264"/>
            <a:ext cx="5001768" cy="859536"/>
          </a:xfrm>
          <a:prstGeom prst="rect">
            <a:avLst/>
          </a:prstGeom>
          <a:noFill/>
        </p:spPr>
        <p:txBody>
          <a:bodyPr wrap="square" lIns="0" rIns="0" tIns="0" bIns="0" anchor="t">
            <a:spAutoFit/>
          </a:bodyPr>
          <a:lstStyle/>
          <a:p>
            <a:pPr algn="l">
              <a:lnSpc>
                <a:spcPct val="116000"/>
              </a:lnSpc>
            </a:pPr>
            <a:r>
              <a:rPr sz="1050" b="0" i="0">
                <a:solidFill>
                  <a:srgbClr val="21295C"/>
                </a:solidFill>
                <a:latin typeface="DejaVu Sans"/>
              </a:rPr>
              <a:t>the Kiro incident, December 2025 — the agent autonomously tore down and rebuilt the environment without approval → hours of downtime.</a:t>
            </a:r>
          </a:p>
        </p:txBody>
      </p:sp>
      <p:sp>
        <p:nvSpPr>
          <p:cNvPr id="24" name="Rounded Rectangle 23"/>
          <p:cNvSpPr/>
          <p:nvPr/>
        </p:nvSpPr>
        <p:spPr>
          <a:xfrm>
            <a:off x="6483096" y="4187952"/>
            <a:ext cx="5001768" cy="731520"/>
          </a:xfrm>
          <a:prstGeom prst="roundRect">
            <a:avLst>
              <a:gd name="adj" fmla="val 8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4242816"/>
            <a:ext cx="4709160" cy="621792"/>
          </a:xfrm>
          <a:prstGeom prst="rect">
            <a:avLst/>
          </a:prstGeom>
          <a:noFill/>
        </p:spPr>
        <p:txBody>
          <a:bodyPr wrap="square" lIns="0" rIns="0" tIns="0" bIns="0" anchor="ctr">
            <a:spAutoFit/>
          </a:bodyPr>
          <a:lstStyle/>
          <a:p>
            <a:pPr algn="l">
              <a:lnSpc>
                <a:spcPct val="114000"/>
              </a:lnSpc>
            </a:pPr>
            <a:r>
              <a:rPr sz="1000" b="0" i="1">
                <a:solidFill>
                  <a:srgbClr val="5B6678"/>
                </a:solidFill>
                <a:latin typeface="DejaVu Sans"/>
              </a:rPr>
              <a:t>The difference is not the brand (the product is one and the same) but the discipline applied or skipped: here the outcome is measurable in both directions — unlike the scale without a criterion on the left.</a:t>
            </a:r>
          </a:p>
        </p:txBody>
      </p:sp>
      <p:sp>
        <p:nvSpPr>
          <p:cNvPr id="26" name="Rounded Rectangle 25"/>
          <p:cNvSpPr/>
          <p:nvPr/>
        </p:nvSpPr>
        <p:spPr>
          <a:xfrm>
            <a:off x="502920" y="517550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230368"/>
            <a:ext cx="10762488" cy="60350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 rise in adoption is not in itself a result: 2.6× in one month with no criterion set in advance produced a rise in spending and an unconfirmed effect. The decision about the scale of AI is a measurable engineering decision with a criterion set in advance, not cultural inertia.</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Fortune / TechCrunch — Uber and Claude Code,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AWS Kiro — the same product, two registers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question is not "AI or not" but which level of autonomy: probability × impact × detectability</a:t>
            </a:r>
          </a:p>
        </p:txBody>
      </p:sp>
      <p:sp>
        <p:nvSpPr>
          <p:cNvPr id="3" name="Rounded Rectangle 2"/>
          <p:cNvSpPr/>
          <p:nvPr/>
        </p:nvSpPr>
        <p:spPr>
          <a:xfrm>
            <a:off x="502920" y="1152144"/>
            <a:ext cx="11201400"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07008"/>
            <a:ext cx="10762488" cy="347472"/>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AI is applied in one mode or another almost always — the triad answers not "yes / no" but which autonomy ceiling is admissible and what pays for it.</a:t>
            </a:r>
          </a:p>
        </p:txBody>
      </p:sp>
      <p:sp>
        <p:nvSpPr>
          <p:cNvPr id="5" name="Rounded Rectangle 4"/>
          <p:cNvSpPr/>
          <p:nvPr/>
        </p:nvSpPr>
        <p:spPr>
          <a:xfrm>
            <a:off x="502920" y="1773936"/>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86537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7" name="Rounded Rectangle 6"/>
          <p:cNvSpPr/>
          <p:nvPr/>
        </p:nvSpPr>
        <p:spPr>
          <a:xfrm>
            <a:off x="722376" y="219456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5696712" y="214884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2359152"/>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0" name="TextBox 9"/>
          <p:cNvSpPr txBox="1"/>
          <p:nvPr/>
        </p:nvSpPr>
        <p:spPr>
          <a:xfrm>
            <a:off x="2880360" y="2322576"/>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grows with unfamiliarity of the task and codebase</a:t>
            </a:r>
          </a:p>
        </p:txBody>
      </p:sp>
      <p:sp>
        <p:nvSpPr>
          <p:cNvPr id="11" name="Rounded Rectangle 10"/>
          <p:cNvSpPr/>
          <p:nvPr/>
        </p:nvSpPr>
        <p:spPr>
          <a:xfrm>
            <a:off x="502920" y="2816352"/>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0779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3" name="Rounded Rectangle 12"/>
          <p:cNvSpPr/>
          <p:nvPr/>
        </p:nvSpPr>
        <p:spPr>
          <a:xfrm>
            <a:off x="722376" y="323697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5696712" y="319125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401568"/>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6" name="TextBox 15"/>
          <p:cNvSpPr txBox="1"/>
          <p:nvPr/>
        </p:nvSpPr>
        <p:spPr>
          <a:xfrm>
            <a:off x="2880360" y="3364992"/>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7" name="Rounded Rectangle 16"/>
          <p:cNvSpPr/>
          <p:nvPr/>
        </p:nvSpPr>
        <p:spPr>
          <a:xfrm>
            <a:off x="502920" y="3858768"/>
            <a:ext cx="5943600" cy="96926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950208"/>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9" name="Rounded Rectangle 18"/>
          <p:cNvSpPr/>
          <p:nvPr/>
        </p:nvSpPr>
        <p:spPr>
          <a:xfrm>
            <a:off x="722376" y="4279392"/>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5696712" y="4233672"/>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443984"/>
            <a:ext cx="21488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2" name="TextBox 21"/>
          <p:cNvSpPr txBox="1"/>
          <p:nvPr/>
        </p:nvSpPr>
        <p:spPr>
          <a:xfrm>
            <a:off x="2880360" y="4407408"/>
            <a:ext cx="333756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or review that catches it</a:t>
            </a:r>
          </a:p>
        </p:txBody>
      </p:sp>
      <p:sp>
        <p:nvSpPr>
          <p:cNvPr id="23" name="Rounded Rectangle 22"/>
          <p:cNvSpPr/>
          <p:nvPr/>
        </p:nvSpPr>
        <p:spPr>
          <a:xfrm>
            <a:off x="6720840" y="1773936"/>
            <a:ext cx="4983480" cy="1554480"/>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0296" y="1865376"/>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Where the autonomy ceiling is highest</a:t>
            </a:r>
          </a:p>
        </p:txBody>
      </p:sp>
      <p:sp>
        <p:nvSpPr>
          <p:cNvPr id="25" name="TextBox 24"/>
          <p:cNvSpPr txBox="1"/>
          <p:nvPr/>
        </p:nvSpPr>
        <p:spPr>
          <a:xfrm>
            <a:off x="6940296" y="2212848"/>
            <a:ext cx="4544568" cy="106070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Full vibe-coding — only with the combination low × low × high: low probability of error, low impact, high detectability. Any other combination is not a ban on AI but a lower ceiling and mandatory measures. The axes multiply, they do not add.</a:t>
            </a:r>
          </a:p>
        </p:txBody>
      </p:sp>
      <p:sp>
        <p:nvSpPr>
          <p:cNvPr id="26" name="Rounded Rectangle 25"/>
          <p:cNvSpPr/>
          <p:nvPr/>
        </p:nvSpPr>
        <p:spPr>
          <a:xfrm>
            <a:off x="6720840" y="3401568"/>
            <a:ext cx="4983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0296" y="3493008"/>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What a higher level is paid for with:</a:t>
            </a:r>
          </a:p>
        </p:txBody>
      </p:sp>
      <p:sp>
        <p:nvSpPr>
          <p:cNvPr id="28" name="TextBox 27"/>
          <p:cNvSpPr txBox="1"/>
          <p:nvPr/>
        </p:nvSpPr>
        <p:spPr>
          <a:xfrm>
            <a:off x="6940296" y="3858768"/>
            <a:ext cx="4544568" cy="896112"/>
          </a:xfrm>
          <a:prstGeom prst="rect">
            <a:avLst/>
          </a:prstGeom>
          <a:noFill/>
        </p:spPr>
        <p:txBody>
          <a:bodyPr wrap="square" lIns="0" rIns="0" tIns="0" bIns="0" anchor="t">
            <a:spAutoFit/>
          </a:bodyPr>
          <a:lstStyle/>
          <a:p>
            <a:pPr algn="l">
              <a:lnSpc>
                <a:spcPct val="128000"/>
              </a:lnSpc>
            </a:pPr>
            <a:r>
              <a:rPr sz="1100" b="0" i="0">
                <a:solidFill>
                  <a:srgbClr val="21295C"/>
                </a:solidFill>
                <a:latin typeface="DejaVu Sans"/>
              </a:rPr>
              <a:t>• impact ↑ → a hard human gate</a:t>
            </a:r>
          </a:p>
          <a:p>
            <a:pPr algn="l">
              <a:lnSpc>
                <a:spcPct val="128000"/>
              </a:lnSpc>
            </a:pPr>
            <a:r>
              <a:rPr sz="1100" b="0" i="0">
                <a:solidFill>
                  <a:srgbClr val="21295C"/>
                </a:solidFill>
                <a:latin typeface="DejaVu Sans"/>
              </a:rPr>
              <a:t>• detectability ↓ → a machine oracle</a:t>
            </a:r>
          </a:p>
          <a:p>
            <a:pPr algn="l">
              <a:lnSpc>
                <a:spcPct val="128000"/>
              </a:lnSpc>
            </a:pPr>
            <a:r>
              <a:rPr sz="1100" b="0" i="0">
                <a:solidFill>
                  <a:srgbClr val="21295C"/>
                </a:solidFill>
                <a:latin typeface="DejaVu Sans"/>
              </a:rPr>
              <a:t>• probability ↑ → line-by-line senior review</a:t>
            </a:r>
          </a:p>
        </p:txBody>
      </p:sp>
      <p:sp>
        <p:nvSpPr>
          <p:cNvPr id="29" name="Rounded Rectangle 28"/>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029200"/>
            <a:ext cx="10762488" cy="80467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decision is not made once and not about the tool as a whole, but on every task. The failure is vibe-coding "by feel": not one of the three axes is computed.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Eight questions — not "AI or not", but how, where and with what control to apply it</a:t>
            </a:r>
          </a:p>
        </p:txBody>
      </p:sp>
      <p:sp>
        <p:nvSpPr>
          <p:cNvPr id="3" name="Rounded Rectangle 2"/>
          <p:cNvSpPr/>
          <p:nvPr/>
        </p:nvSpPr>
        <p:spPr>
          <a:xfrm>
            <a:off x="502920" y="1389888"/>
            <a:ext cx="64465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00200"/>
            <a:ext cx="292608" cy="292608"/>
          </a:xfrm>
          <a:prstGeom prst="rect">
            <a:avLst/>
          </a:prstGeom>
        </p:spPr>
      </p:pic>
      <p:sp>
        <p:nvSpPr>
          <p:cNvPr id="5" name="TextBox 4"/>
          <p:cNvSpPr txBox="1"/>
          <p:nvPr/>
        </p:nvSpPr>
        <p:spPr>
          <a:xfrm>
            <a:off x="1143000" y="1554480"/>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1. Which lifecycle phase is this? It sets the failure mode</a:t>
            </a:r>
          </a:p>
        </p:txBody>
      </p:sp>
      <p:pic>
        <p:nvPicPr>
          <p:cNvPr id="6" name="Picture 5" descr="check-check-mid.png"/>
          <p:cNvPicPr>
            <a:picLocks noChangeAspect="1"/>
          </p:cNvPicPr>
          <p:nvPr/>
        </p:nvPicPr>
        <p:blipFill>
          <a:blip r:embed="rId2"/>
          <a:stretch>
            <a:fillRect/>
          </a:stretch>
        </p:blipFill>
        <p:spPr>
          <a:xfrm>
            <a:off x="758952" y="2075688"/>
            <a:ext cx="292608" cy="292608"/>
          </a:xfrm>
          <a:prstGeom prst="rect">
            <a:avLst/>
          </a:prstGeom>
        </p:spPr>
      </p:pic>
      <p:sp>
        <p:nvSpPr>
          <p:cNvPr id="7" name="TextBox 6"/>
          <p:cNvSpPr txBox="1"/>
          <p:nvPr/>
        </p:nvSpPr>
        <p:spPr>
          <a:xfrm>
            <a:off x="1143000" y="2029968"/>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2. What is decided deterministically here? Ordinary code writes that part; AI is for analysis and checking</a:t>
            </a:r>
          </a:p>
        </p:txBody>
      </p:sp>
      <p:pic>
        <p:nvPicPr>
          <p:cNvPr id="8" name="Picture 7" descr="check-check-mid.png"/>
          <p:cNvPicPr>
            <a:picLocks noChangeAspect="1"/>
          </p:cNvPicPr>
          <p:nvPr/>
        </p:nvPicPr>
        <p:blipFill>
          <a:blip r:embed="rId2"/>
          <a:stretch>
            <a:fillRect/>
          </a:stretch>
        </p:blipFill>
        <p:spPr>
          <a:xfrm>
            <a:off x="758952" y="2551175"/>
            <a:ext cx="292608" cy="292608"/>
          </a:xfrm>
          <a:prstGeom prst="rect">
            <a:avLst/>
          </a:prstGeom>
        </p:spPr>
      </p:pic>
      <p:sp>
        <p:nvSpPr>
          <p:cNvPr id="9" name="TextBox 8"/>
          <p:cNvSpPr txBox="1"/>
          <p:nvPr/>
        </p:nvSpPr>
        <p:spPr>
          <a:xfrm>
            <a:off x="1143000" y="2505456"/>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3. Essential or accidental complexity? Essential — the human decides, AI stays at the periphery</a:t>
            </a:r>
          </a:p>
        </p:txBody>
      </p:sp>
      <p:sp>
        <p:nvSpPr>
          <p:cNvPr id="10" name="Rounded Rectangle 9"/>
          <p:cNvSpPr/>
          <p:nvPr/>
        </p:nvSpPr>
        <p:spPr>
          <a:xfrm>
            <a:off x="685800" y="2962656"/>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26664"/>
            <a:ext cx="292608" cy="292608"/>
          </a:xfrm>
          <a:prstGeom prst="rect">
            <a:avLst/>
          </a:prstGeom>
        </p:spPr>
      </p:pic>
      <p:sp>
        <p:nvSpPr>
          <p:cNvPr id="12" name="TextBox 11"/>
          <p:cNvSpPr txBox="1"/>
          <p:nvPr/>
        </p:nvSpPr>
        <p:spPr>
          <a:xfrm>
            <a:off x="1143000" y="2980944"/>
            <a:ext cx="5605272" cy="402336"/>
          </a:xfrm>
          <a:prstGeom prst="rect">
            <a:avLst/>
          </a:prstGeom>
          <a:noFill/>
        </p:spPr>
        <p:txBody>
          <a:bodyPr wrap="square" lIns="0" rIns="0" tIns="0" bIns="0" anchor="ctr">
            <a:spAutoFit/>
          </a:bodyPr>
          <a:lstStyle/>
          <a:p>
            <a:pPr algn="l">
              <a:lnSpc>
                <a:spcPct val="102000"/>
              </a:lnSpc>
            </a:pPr>
            <a:r>
              <a:rPr sz="1050" b="1" i="0">
                <a:solidFill>
                  <a:srgbClr val="21295C"/>
                </a:solidFill>
                <a:latin typeface="DejaVu Sans"/>
              </a:rPr>
              <a:t>4. Is the consequence reversible? Irreversible → lower the autonomy ceiling, a hard gate — the VETO axis</a:t>
            </a:r>
          </a:p>
        </p:txBody>
      </p:sp>
      <p:pic>
        <p:nvPicPr>
          <p:cNvPr id="13" name="Picture 12" descr="check-check-mid.png"/>
          <p:cNvPicPr>
            <a:picLocks noChangeAspect="1"/>
          </p:cNvPicPr>
          <p:nvPr/>
        </p:nvPicPr>
        <p:blipFill>
          <a:blip r:embed="rId2"/>
          <a:stretch>
            <a:fillRect/>
          </a:stretch>
        </p:blipFill>
        <p:spPr>
          <a:xfrm>
            <a:off x="758952" y="3502151"/>
            <a:ext cx="292608" cy="292608"/>
          </a:xfrm>
          <a:prstGeom prst="rect">
            <a:avLst/>
          </a:prstGeom>
        </p:spPr>
      </p:pic>
      <p:sp>
        <p:nvSpPr>
          <p:cNvPr id="14" name="TextBox 13"/>
          <p:cNvSpPr txBox="1"/>
          <p:nvPr/>
        </p:nvSpPr>
        <p:spPr>
          <a:xfrm>
            <a:off x="1143000" y="3456432"/>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5. Is there a machine oracle (test, SAST, run)? No → the oracle first, autonomy after</a:t>
            </a:r>
          </a:p>
        </p:txBody>
      </p:sp>
      <p:pic>
        <p:nvPicPr>
          <p:cNvPr id="15" name="Picture 14" descr="check-check-mid.png"/>
          <p:cNvPicPr>
            <a:picLocks noChangeAspect="1"/>
          </p:cNvPicPr>
          <p:nvPr/>
        </p:nvPicPr>
        <p:blipFill>
          <a:blip r:embed="rId2"/>
          <a:stretch>
            <a:fillRect/>
          </a:stretch>
        </p:blipFill>
        <p:spPr>
          <a:xfrm>
            <a:off x="758952" y="3977640"/>
            <a:ext cx="292608" cy="292608"/>
          </a:xfrm>
          <a:prstGeom prst="rect">
            <a:avLst/>
          </a:prstGeom>
        </p:spPr>
      </p:pic>
      <p:sp>
        <p:nvSpPr>
          <p:cNvPr id="16" name="TextBox 15"/>
          <p:cNvSpPr txBox="1"/>
          <p:nvPr/>
        </p:nvSpPr>
        <p:spPr>
          <a:xfrm>
            <a:off x="1143000" y="3931920"/>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6. Are secrets / untrusted content involved? Yes → least privilege and isolation</a:t>
            </a:r>
          </a:p>
        </p:txBody>
      </p:sp>
      <p:pic>
        <p:nvPicPr>
          <p:cNvPr id="17" name="Picture 16" descr="check-check-mid.png"/>
          <p:cNvPicPr>
            <a:picLocks noChangeAspect="1"/>
          </p:cNvPicPr>
          <p:nvPr/>
        </p:nvPicPr>
        <p:blipFill>
          <a:blip r:embed="rId2"/>
          <a:stretch>
            <a:fillRect/>
          </a:stretch>
        </p:blipFill>
        <p:spPr>
          <a:xfrm>
            <a:off x="758952" y="4453128"/>
            <a:ext cx="292608" cy="292608"/>
          </a:xfrm>
          <a:prstGeom prst="rect">
            <a:avLst/>
          </a:prstGeom>
        </p:spPr>
      </p:pic>
      <p:sp>
        <p:nvSpPr>
          <p:cNvPr id="18" name="TextBox 17"/>
          <p:cNvSpPr txBox="1"/>
          <p:nvPr/>
        </p:nvSpPr>
        <p:spPr>
          <a:xfrm>
            <a:off x="1143000" y="4407407"/>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7. Who reviews and who merges? Merging and accountability — always the human</a:t>
            </a:r>
          </a:p>
        </p:txBody>
      </p:sp>
      <p:pic>
        <p:nvPicPr>
          <p:cNvPr id="19" name="Picture 18" descr="check-check-mid.png"/>
          <p:cNvPicPr>
            <a:picLocks noChangeAspect="1"/>
          </p:cNvPicPr>
          <p:nvPr/>
        </p:nvPicPr>
        <p:blipFill>
          <a:blip r:embed="rId2"/>
          <a:stretch>
            <a:fillRect/>
          </a:stretch>
        </p:blipFill>
        <p:spPr>
          <a:xfrm>
            <a:off x="758952" y="4928616"/>
            <a:ext cx="292608" cy="292608"/>
          </a:xfrm>
          <a:prstGeom prst="rect">
            <a:avLst/>
          </a:prstGeom>
        </p:spPr>
      </p:pic>
      <p:sp>
        <p:nvSpPr>
          <p:cNvPr id="20" name="TextBox 19"/>
          <p:cNvSpPr txBox="1"/>
          <p:nvPr/>
        </p:nvSpPr>
        <p:spPr>
          <a:xfrm>
            <a:off x="1143000" y="4882896"/>
            <a:ext cx="5605272" cy="402336"/>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8. Is the goal an artifact or a skill? A skill → do not delegate the generation</a:t>
            </a:r>
          </a:p>
        </p:txBody>
      </p:sp>
      <p:sp>
        <p:nvSpPr>
          <p:cNvPr id="21" name="Rounded Rectangle 20"/>
          <p:cNvSpPr/>
          <p:nvPr/>
        </p:nvSpPr>
        <p:spPr>
          <a:xfrm>
            <a:off x="7178040" y="1389888"/>
            <a:ext cx="452628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956912" y="1499616"/>
            <a:ext cx="2968534" cy="1847088"/>
          </a:xfrm>
          <a:prstGeom prst="rect">
            <a:avLst/>
          </a:prstGeom>
        </p:spPr>
      </p:pic>
      <p:sp>
        <p:nvSpPr>
          <p:cNvPr id="23" name="TextBox 22"/>
          <p:cNvSpPr txBox="1"/>
          <p:nvPr/>
        </p:nvSpPr>
        <p:spPr>
          <a:xfrm>
            <a:off x="7397496" y="3419856"/>
            <a:ext cx="4087368" cy="1389888"/>
          </a:xfrm>
          <a:prstGeom prst="rect">
            <a:avLst/>
          </a:prstGeom>
          <a:noFill/>
        </p:spPr>
        <p:txBody>
          <a:bodyPr wrap="square" lIns="0" rIns="0" tIns="0" bIns="0" anchor="t">
            <a:spAutoFit/>
          </a:bodyPr>
          <a:lstStyle/>
          <a:p>
            <a:pPr algn="l">
              <a:lnSpc>
                <a:spcPct val="118000"/>
              </a:lnSpc>
            </a:pPr>
            <a:r>
              <a:rPr sz="1050" b="0" i="0">
                <a:solidFill>
                  <a:srgbClr val="21295C"/>
                </a:solidFill>
                <a:latin typeface="DejaVu Sans"/>
              </a:rPr>
              <a:t>Anthropic, Shen &amp; Tamkin 2026 (RCT, n=52, learning an unfamiliar library)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the AI group scored 50% on the quiz against 67% without AI (~-17 pp). Those who delegated the generation dropped; those who asked about concepts ("how it works, why") show no degradation. The speed-up is statistically insignificant.</a:t>
            </a:r>
          </a:p>
        </p:txBody>
      </p:sp>
      <p:sp>
        <p:nvSpPr>
          <p:cNvPr id="24" name="TextBox 23"/>
          <p:cNvSpPr txBox="1"/>
          <p:nvPr/>
        </p:nvSpPr>
        <p:spPr>
          <a:xfrm>
            <a:off x="7397496" y="4846320"/>
            <a:ext cx="4087368" cy="475488"/>
          </a:xfrm>
          <a:prstGeom prst="rect">
            <a:avLst/>
          </a:prstGeom>
          <a:noFill/>
        </p:spPr>
        <p:txBody>
          <a:bodyPr wrap="square" lIns="0" rIns="0" tIns="0" bIns="0" anchor="t">
            <a:spAutoFit/>
          </a:bodyPr>
          <a:lstStyle/>
          <a:p>
            <a:pPr algn="l">
              <a:lnSpc>
                <a:spcPct val="110000"/>
              </a:lnSpc>
            </a:pPr>
            <a:r>
              <a:rPr sz="1100" b="1" i="0">
                <a:solidFill>
                  <a:srgbClr val="065A82"/>
                </a:solidFill>
                <a:latin typeface="DejaVu Sans"/>
              </a:rPr>
              <a:t>When the goal is a skill, you do the writing; AI explains and checks.</a:t>
            </a:r>
          </a:p>
        </p:txBody>
      </p:sp>
      <p:sp>
        <p:nvSpPr>
          <p:cNvPr id="25" name="Rounded Rectangle 24"/>
          <p:cNvSpPr/>
          <p:nvPr/>
        </p:nvSpPr>
        <p:spPr>
          <a:xfrm>
            <a:off x="502920" y="54864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41264"/>
            <a:ext cx="10762488" cy="676656"/>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does not decide "apply AI or not" — it issues a mode: for a suitable task it leads to high autonomy; for an unsuitable one it lowers the ceiling and names the mandatory measures. This is a distribution of the burden of proof, not "always less AI". Irreversibility and impact are the veto axis.</a:t>
            </a:r>
          </a:p>
        </p:txBody>
      </p:sp>
      <p:sp>
        <p:nvSpPr>
          <p:cNvPr id="27" name="TextBox 26"/>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926080"/>
            <a:ext cx="5349240" cy="329184"/>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method carries over to every industry (not a list of tools):</a:t>
            </a:r>
          </a:p>
        </p:txBody>
      </p:sp>
      <p:sp>
        <p:nvSpPr>
          <p:cNvPr id="8" name="Oval 7"/>
          <p:cNvSpPr/>
          <p:nvPr/>
        </p:nvSpPr>
        <p:spPr>
          <a:xfrm>
            <a:off x="640080" y="3456432"/>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56432"/>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1</a:t>
            </a:r>
          </a:p>
        </p:txBody>
      </p:sp>
      <p:sp>
        <p:nvSpPr>
          <p:cNvPr id="10" name="TextBox 9"/>
          <p:cNvSpPr txBox="1"/>
          <p:nvPr/>
        </p:nvSpPr>
        <p:spPr>
          <a:xfrm>
            <a:off x="1060704" y="3419856"/>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decompose the activity into phases</a:t>
            </a:r>
          </a:p>
        </p:txBody>
      </p:sp>
      <p:sp>
        <p:nvSpPr>
          <p:cNvPr id="11" name="Oval 10"/>
          <p:cNvSpPr/>
          <p:nvPr/>
        </p:nvSpPr>
        <p:spPr>
          <a:xfrm>
            <a:off x="640080" y="3968496"/>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968496"/>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2</a:t>
            </a:r>
          </a:p>
        </p:txBody>
      </p:sp>
      <p:sp>
        <p:nvSpPr>
          <p:cNvPr id="13" name="TextBox 12"/>
          <p:cNvSpPr txBox="1"/>
          <p:nvPr/>
        </p:nvSpPr>
        <p:spPr>
          <a:xfrm>
            <a:off x="1060704" y="3931920"/>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ask: accidental or essential complexity</a:t>
            </a:r>
          </a:p>
        </p:txBody>
      </p:sp>
      <p:sp>
        <p:nvSpPr>
          <p:cNvPr id="14" name="Oval 13"/>
          <p:cNvSpPr/>
          <p:nvPr/>
        </p:nvSpPr>
        <p:spPr>
          <a:xfrm>
            <a:off x="640080" y="4480560"/>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480560"/>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3</a:t>
            </a:r>
          </a:p>
        </p:txBody>
      </p:sp>
      <p:sp>
        <p:nvSpPr>
          <p:cNvPr id="16" name="TextBox 15"/>
          <p:cNvSpPr txBox="1"/>
          <p:nvPr/>
        </p:nvSpPr>
        <p:spPr>
          <a:xfrm>
            <a:off x="1060704" y="4443984"/>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demand a baseline for every number and the systemic effect</a:t>
            </a:r>
          </a:p>
        </p:txBody>
      </p:sp>
      <p:sp>
        <p:nvSpPr>
          <p:cNvPr id="17" name="Oval 16"/>
          <p:cNvSpPr/>
          <p:nvPr/>
        </p:nvSpPr>
        <p:spPr>
          <a:xfrm>
            <a:off x="640080" y="49926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992624"/>
            <a:ext cx="292608" cy="292608"/>
          </a:xfrm>
          <a:prstGeom prst="rect">
            <a:avLst/>
          </a:prstGeom>
          <a:noFill/>
        </p:spPr>
        <p:txBody>
          <a:bodyPr wrap="square" lIns="0" rIns="0" tIns="0" bIns="0" anchor="ctr">
            <a:spAutoFit/>
          </a:bodyPr>
          <a:lstStyle/>
          <a:p>
            <a:pPr algn="ctr">
              <a:lnSpc>
                <a:spcPct val="115000"/>
              </a:lnSpc>
            </a:pPr>
            <a:r>
              <a:rPr sz="1250" b="1" i="0">
                <a:solidFill>
                  <a:srgbClr val="FFFFFF"/>
                </a:solidFill>
                <a:latin typeface="DejaVu Sans"/>
              </a:rPr>
              <a:t>4</a:t>
            </a:r>
          </a:p>
        </p:txBody>
      </p:sp>
      <p:sp>
        <p:nvSpPr>
          <p:cNvPr id="19" name="TextBox 18"/>
          <p:cNvSpPr txBox="1"/>
          <p:nvPr/>
        </p:nvSpPr>
        <p:spPr>
          <a:xfrm>
            <a:off x="1060704" y="4956048"/>
            <a:ext cx="4983480" cy="384048"/>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separate the durable pattern from vendor hype with five questions</a:t>
            </a:r>
          </a:p>
        </p:txBody>
      </p:sp>
      <p:sp>
        <p:nvSpPr>
          <p:cNvPr id="20" name="TextBox 19"/>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DejaVu San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