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титульный слайд лекции. Он короткий по смыслу: курс, номер лекции, тема, длительность, дата. Лекция посвящена тому, что в современных CAD-системах называют «AI» — генеративный дизайн, мгновенный «AI-расчёт напряжений», text-to-CAD, LLM-копайлоты — и тому, почему за одним словом скрываются принципиально разные технологии с разной математикой, разными гарантиями и разными провалами.</a:t>
            </a:r>
          </a:p>
          <a:p/>
          <a:p>
            <a:r>
              <a:t>Шаблон визуально совпадает с другими лекциями курса — это часть continuity, к которой студент уже привык. Никакого дополнительного контента здесь нет; задача слайда — обозначить точку входа в лекцию. Основной разоблачающий тезис прозвучит уже на следующем слайде: «органическая» деталь, которую принято считать работой искусственного интеллекта, на самом деле получена детерминированным численным оптимизатором с математической постановкой 1904 года. Лекция строится в шесть частей: фундамент и таксономия шести классов ИИ, генеративный дизайн как оптимизационный ML, суррогатные модели и PINN, генеративный AI и LLM в CAD, критерии неприменимости и ответственность, и в конце — синтез в виде правила решения. Сквозная дисциплина всей лекции — прежде чем доверять инструменту, назвать его вид и спросить о гарантиях.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нами конкретная деталь, ставшая каноническим примером в индустрии: кронштейн крепления сиденья, спроектированный General Motors совместно с Autodesk и представленный в 2018 году. Восемь отдельных деталей прежнего узла заменены одной; выбранный вариант оказался примерно на 40% легче и заметно прочнее прежнего; программа сгенерировала более 150 альтернативных вариантов, из которых инженер выбрал один.</a:t>
            </a:r>
          </a:p>
          <a:p/>
          <a:p>
            <a:r>
              <a:t>Естественный вопрос инженера, впервые увидевшего такую деталь: какой вид ИИ её спроектировал? И здесь происходит первый разоблачительный поворот. Правильный ответ: ни один генеративный AI. Эту форму не «придумала» нейросеть. Её получил детерминированный численный оптимизатор, решавший точно поставленную инженером задачу — минимизировать массу при ограничении на напряжения и заданных нагрузках. Математическая постановка этой задачи восходит к работе австралийского инженера Энтони Мичелла 1904 года — за столетие до появления диффузионных моделей и больших языковых моделей.</a:t>
            </a:r>
          </a:p>
          <a:p/>
          <a:p>
            <a:r>
              <a:t>Это различение — не педантизм. Если считать, что деталь придумал ИИ, теряется понимание того, что результат полностью определён физикой и постановкой задачи: те же входы дадут тот же результат, а любая ошибка в постановке даст математически безупречный, но непригодный ответ. Если же ясно, что перед инженером оптимизатор, понятно, где искать причину неудачи и что ответственность за постановку и проверку лежит на инженере. Вся дальнейшая лекция — развёртывание этого различения по шести классам технологий, которые маркетинг объединяет словом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Центральная мысль курса в применении к проектированию формулируется как требование к самому себе. Прежде чем доверить инструменту проектное решение, нужно ответить на три вопроса. Первый: это детерминированная математика, дающая при тех же входах тот же ответ, или обученная вероятностная модель, сэмплирующая из распределения? Второй: что именно оптимизируется и кто задал ограничения — инженер или данные? Третий: кто несёт юридическую и инженерную ответственность за результат? Эти три вопроса повторяются как якорь в каждой части лекции.</a:t>
            </a:r>
          </a:p>
          <a:p/>
          <a:p>
            <a:r>
              <a:t>Лекция устроена в шесть содержательных частей. Сначала фундамент и таксономия шести классов ИИ. Затем три части глубокого разбора — генеративный дизайн как оптимизационный ML, суррогатные модели и PINN, генеративный AI и LLM. Потом критерии, по которым инженер заранее говорит «нет», и кто несёт ответственность. И в конце — синтез в виде правила решения, проведённого на конкретной задаче.</a:t>
            </a:r>
          </a:p>
          <a:p/>
          <a:p>
            <a:r>
              <a:t>Важная честная оговорка об объёме. Назвать и расположить на оси нужно уметь любой из шести классов — это и есть навык классификации. Но глубоко, с разбором провалов, разбираются только три класса, где цена ошибки в проектировании наивысшая. Computer Vision и эволюционные алгоритмы получают по одному реальному примеру и явной границе применимости — этого достаточно для узнавания. Это сознательное решение по фокусу, а не пробел: спайн обещает классификацию шести классов и глубину — для трёх.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посмотрели на кронштейн и установили, что его спроектировал не генеративный AI, а детерминированный оптимизатор. Дальше — первая из шести частей: фундамент и таксономия.</a:t>
            </a:r>
          </a:p>
          <a:p/>
          <a:p>
            <a:r>
              <a:t>В этой части сначала устанавливается одно различение, которое проходит сквозь всю лекцию как несущая ось: детерминированная оптимизация решает уравнение, заданное инженером, а обученная порождающая модель угадывает ответ по выученным примерам и не содержит внутри физического закона. Без этого различения все дальнейшие рассуждения о том, где ИИ проваливается, звучали бы как «он иногда ошибается»; с ним становится понятно, почему ошибки одних классов структурно неизбежны, а других — нет.</a:t>
            </a:r>
          </a:p>
          <a:p/>
          <a:p>
            <a:r>
              <a:t>Затем вводятся шесть классов ИИ, встречающихся в инженерном проектировании, расположенные на одной оси от детерминированных к вероятностным. Это пока скелет — одна ось и шесть ярлыков с короткими определениями; полная атрибутивная матрица соберётся к концу лекции, когда каждая её ячейка будет наполнена смыслом. Эта часть нужна, чтобы дальше не путать топологическую оптимизацию с генеративной нейросетью, а суррогат — с решателем: это разные классы с разными гарантиями.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таксономия классов станет осмысленной, нужно установить одно различение — несущую ось всей лекции.</a:t>
            </a:r>
          </a:p>
          <a:p/>
          <a:p>
            <a:r>
              <a:t>Детерминированная оптимизация решает уравнение, заданное инженером. Инженер формулирует целевую функцию — например, массу детали — и ограничения: равновесие сил, условие прочности, ограничение на объём. Алгоритм численно ищет точку, удовлетворяющую этим уравнениям и минимизирующую цель. Внутри этого процесса физический закон присутствует явно — он записан в уравнениях равновесия, которые решаются на каждой итерации. При одних и тех же входных данных алгоритм даёт один и тот же ответ. Это воспроизводимый, прослеживаемый процесс. Топологическая оптимизация, которую маркетинг называет генеративным дизайном, относится именно сюда.</a:t>
            </a:r>
          </a:p>
          <a:p/>
          <a:p>
            <a:r>
              <a:t>Обученная порождающая модель сэмплирует из распределения, выученного на данных. Диффузионная модель геометрии или большая языковая модель не содержит внутри себя уравнения равновесия. Она училась на огромном корпусе примеров и научилась воспроизводить статистические закономерности этого корпуса — то есть «как обычно выглядит деталь» или «как обычно звучит абзац спецификации». Когда такая модель генерирует деталь, она производит нечто похожее на обучающие данные, а не нечто, удовлетворяющее уравнению равновесия. Поэтому её ошибка не самодиагностируется: модель не «знает», что геометрия не несёт нагрузку, ровно так же, как не «знает», что названный ею номер ГОСТа не существует. Эта ось — рабочий инструмент: встречая любой инструмент с ИИ, первым делом его располагают на ней.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Имея несущую ось, введём шесть классов ИИ, встречающихся в инженерном проектировании. Важно: на этом этапе мы не строим полную атрибутивную матрицу «класс × гарантии × зрелость × кто отвечает». Такая матрица, предъявленная сразу, перегрузила бы изложение — половина её ячеек состояла бы из терминов, которые ещё не введены. Поэтому здесь — скелет: одна ось и шесть ярлыков с определением в одну фразу. Полная матрица соберётся постепенно и будет предъявлена целиком в конце лекции.</a:t>
            </a:r>
          </a:p>
          <a:p/>
          <a:p>
            <a:r>
              <a:t>Ось одна — детерминированная математика против обученной вероятностной модели. Слева направо: оптимизационный ML и топологическая оптимизация — численный поиск, двигающий плотность материала, минимизируя массу при ограничении по напряжениям; это то, что маркетинг зовёт генеративным дизайном. Эволюционные и генетические алгоритмы — стохастический популяционный поиск по заданной целевой функции. Суррогатные модели и PINN — нейросеть, выучившая отображение «геометрия и нагрузки → поля напряжений» на тысячах прошлых расчётов. Computer Vision — свёрточные сети для контроля дефектов и измерения. LLM-ассистент — языковая модель для текстовых артефактов. Генеративный AI геометрии — диффузионные и трансформерные модели, порождающие 3D без физических гарантий.</a:t>
            </a:r>
          </a:p>
          <a:p/>
          <a:p>
            <a:r>
              <a:t>Структура важна: классы один и два — оптимизация заданной функции, физика присутствует как ограничение. Класс три — аппроксимация решателя, физика была в обучающих данных, но не в самой модели. Классы четыре, пять, шесть — вероятностные модели восприятия и порождения, физического закона внутри нет вообще. Чем правее по оси, тем меньше встроенных гарантий и тем выше цена ошибки в ответственном проектировании.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блок устроен как справочник: его не нужно удерживать в памяти целиком — он собирается по мере прохождения дальнейших частей. На этом этапе достаточно один раз пройти его, узнавая классы. Сам формат «когда подходит — когда не применим — классическая альтернатива» не украшение: он и есть операциональная форма центральной мысли курса, и он повторяется как якорь в каждой части.</a:t>
            </a:r>
          </a:p>
          <a:p/>
          <a:p>
            <a:r>
              <a:t>Оптимизационный ML и топологическая оптимизация подходят там, где нужно снизить массу при заданной жёсткости или прочности, найти нетривиальную силовую схему, спроектировать деталь под аддитивное производство, где «органическая» форма изготовима. Не применим, когда ограничения заданы неполно: оптимизатор честно выдаст оптимум под неверную постановку и не заменит проверку на изготовимость и нормоконтроль. Классическая альтернатива — параметрическая оптимизация с ручным выбором сечений по сортаменту плюс расчёт по нормам; для типовых конструкций — нормативный расчёт без оптимизации вообще. Этот класс разбирается глубоко в части про генеративный дизайн.</a:t>
            </a:r>
          </a:p>
          <a:p/>
          <a:p>
            <a:r>
              <a:t>Суррогатные модели и PINN подходят для быстрого прогона большого числа вариантов внутри обучающей области и предварительного отсева. Не применим: экстраполяция за пределы обучающего распределения, задачи с разрывами полей, финальные сертификационные расчёты. Классическая альтернатива — полный МКЭ или CFD-решатель с проверкой сходимости сетки. Этот класс разбирается глубоко в части про суррогаты.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Завершим обзор шести классов тремя оставшимися. Генеративный AI для геометрии и LLM-ассистент подходят для раннего концепт-скетча, мудборда, вариативности форм для дизайн-ревью, а LLM — ещё и для черновика технического текста под обязательную проверку. Не применимы как источник готовой геометрии в расчёт или производство без полной ручной переработки и как источник истины по маркам, номерам стандартов, допускам, числам. Классическая альтернатива — параметрический CAD с явными ограничениями плюс детерминированная топологическая оптимизация плюс КЭ-валидация; для фактов — нормативная база и справочник.</a:t>
            </a:r>
          </a:p>
          <a:p/>
          <a:p>
            <a:r>
              <a:t>Computer Vision подходит как первый фильтр в высокообъёмной рутинной сортировке: подсветить подозрительные зоны оператору. В контролируемых условиях современные свёрточные сети показывают высокую точность классификации дефектов. Не применим как единственный арбитр годности в безопасностно-критичном неразрушающем контроле: модели плохо переносятся между установками и материалами. Альтернатива — нормированный неразрушающий контроль с квалифицированным дефектоскопистом и аттестованной методикой вероятности обнаружения.</a:t>
            </a:r>
          </a:p>
          <a:p/>
          <a:p>
            <a:r>
              <a:t>Эволюционные и генетические алгоритмы подходят для противоречивых или необычных требований. Канонический пример — эволюционная антенна миссии NASA ST5: генетический алгоритм нашёл «органическую» форму антенны за несколько человеко-месяцев, и она отработала штатно. Не применим, когда нужна интерпретируемость и объяснимость регулятору: эволюционную форму эксперт «не прочитает». Из этого разбора кристаллизуются три вопроса-якоря, к которым мы возвращаемся в каждой части: детерминированное или вероятностное; что оптимизируется и кто задал ограничения; кто несёт ответственность.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установили несущую ось и расположили на ней шесть классов. Теперь — первая из трёх частей глубокого разбора, и она про класс с самой громкой терминологической путаницей.</a:t>
            </a:r>
          </a:p>
          <a:p/>
          <a:p>
            <a:r>
              <a:t>Когда CAD-система показывает окно «Generative Design» и сопровождает результат словами «AI generates the design», под капотом работает топологическая оптимизация — детерминированный численный метод, который при тех же входах даёт тот же результат и не содержит ни одной обученной порождающей модели. В этой части мы разберём терминологическую ловушку и её инженерную цену, построим классическую родословную метода от уже известного — от условия прочности из сопромата и градиентного спуска — до промышленного стандарта SIMP, посмотрим на реальные кейсы GM и Airbus с указанием вида ИИ, на честную российскую картину и на фундаментальный провал раздела.</a:t>
            </a:r>
          </a:p>
          <a:p/>
          <a:p>
            <a:r>
              <a:t>Главный вывод части прозвучит так: «AI generates» означает сходимость к оптимуму заданной инженером функции при заданных инженером ограничениях, а не сэмпл из выученного распределения. Это различение — иммунитет к маркетинговой подмене и основа для всех дальнейших частей.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Сформулируем разоблачающий тезис в полную силу. Когда CAD-система показывает окно «Generative Design» и сопровождает результат словами «AI generates the design», происходит подмена понятий, имеющая конкретную инженерную цену. Под капотом этих инструментов работает топологическая оптимизация — детерминированный численный метод, который при тех же входах даёт тот же результат и не содержит ни одной обученной порождающей модели. Характерно, что сам вендор в своём техническом блоге проводит это различение, формулируя, что топологическая оптимизация — это метод внутри generative design, а не «генеративный AI».</a:t>
            </a:r>
          </a:p>
          <a:p/>
          <a:p>
            <a:r>
              <a:t>Почему это важно практически, а не терминологически? Инженер, считающий, что «AI придумал деталь», совершает две ошибки сразу. Первая: он недооценивает свою ответственность за постановку — раз придумал AI, значит, и спрос с AI. На самом деле каждая особенность формы детерминирована заданными нагрузками, ограничениями и целевой функцией; если они заданы неверно, форма будет математически оптимальной и инженерно бесполезной. Вторая: он переоценивает «творческие» способности инструмента — оптимизатор не изобретает функцию детали и не разрешает технических противоречий, он лишь распределяет материал внутри заданного пространства под фиксированную функцию.</a:t>
            </a:r>
          </a:p>
          <a:p/>
          <a:p>
            <a:r>
              <a:t>Урок этого раздела прямой: прежде чем доверять, нужно спросить «какой это вид ИИ» — и для генеративного дизайна правильный ответ почти всегда «детерминированная оптимизация, не порождающая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Понятие топологической оптимизации строится от уже известного, а не предъявляется как данность. Из курса сопротивления материалов известно условие прочности: эквивалентное напряжение по фон Мизесу не должно превышать допускаемого. Оттуда же — интуиция недогруженного материала: если в каком-то сечении напряжение существенно ниже допускаемого, этот материал работает не в полную силу, его в принципе можно убрать, и деталь всё ещё выдержит. Доведённая до предела, эта интуиция даёт идею равнопрочной конструкции. Именно её в 1904 году формализовал Энтони Мичелл — он дал интуицию и постановку задачи, а не вычислительную формулу; практическое применение стало возможным только с появлением вычислительной техники.</a:t>
            </a:r>
          </a:p>
          <a:p/>
          <a:p>
            <a:r>
              <a:t>Второй мост — от градиентного спуска, который вводился в лекции 2 как способ обучения нейросети. Тот же алгоритм наискорейшего спуска был предложен ещё Огюстеном Коши в 1847 году. И именно он — а не нейросеть — двигает плотности материала в топологической оптимизации. Различается лишь, что оптимизируется: в нейросети — веса, в топологической оптимизации — плотность материала в каждой точке детали. Алгоритм поиска один и тот же.</a:t>
            </a:r>
          </a:p>
          <a:p/>
          <a:p>
            <a:r>
              <a:t>Численный метод родился в работе Бендсё и Кикучи 1988 года: непрерывный вопрос «какова плотность материала здесь» вместо недифференцируемого «есть он или нет». Практический стандарт — метод SIMP 1989 года: каждой ячейке приписывается плотность от нуля до единицы, штраф делает промежуточные плотности невыгодными, и оптимум выталкивается к «чёрно-белому» решению. Ключевой вывод: на каждом шаге внутри цикла явно решается уравнение равновесия — физический закон присутствует в математике алгоритма. Никакой обучённой генеративной модели нет; алгоритм сходится к минимуму заданной инженером функции, а не сэмплирует из распределения дизайнов.</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кейса стали каноническими; разберём их с указанием вида ИИ. Первый — тот самый кронштейн сиденья General Motors, с которого начиналась лекция: восемь деталей узла консолидированы в одну, выбранный вариант примерно на 40% легче и заметно прочнее прежнего, программа сгенерировала более 150 альтернатив. Вид ИИ: многокритериальная численная оптимизация плюс облачный перебор вариантов под цель «минимум массы при ограничении напряжений и заданном способе изготовления». Это не диффузионная модель; «150 вариантов» — это 150 точек, удовлетворяющих условиям оптимума при разных весах целей, а не 150 сэмплов нейросети.</a:t>
            </a:r>
          </a:p>
          <a:p/>
          <a:p>
            <a:r>
              <a:t>Второй — бионическая перегородка салона Airbus A320. Масса снижена примерно на 45 процентов: около 35 килограммов против примерно 65 у стандартной, решётчатая «костная» структура, материал Scalmalloy — алюминиево-магниево-скандиевый сплав для лазерного спекания, конструкция собрана из множества напечатанных секций и титановых соединителей. Оценка экономии топлива по парку самолётов в прессе приводится, но как порядковая оценка, а не точный измеренный факт, поэтому конкретным числом не выносится. Вид ИИ снова: топологическая и решётчатая оптимизация плюс эволюционный перебор, не порождающая модель.</a:t>
            </a:r>
          </a:p>
          <a:p/>
          <a:p>
            <a:r>
              <a:t>Обратите внимание на повторяющийся паттерн: обе детали требуют аддитивного производства — 3D-печати. Это не случайность, а ограничение, к которому мы вернёмся, когда будем разбирать провал раздела: красивая «органическая» форма по умолчанию изготовима только послойной печатью.</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Картина в России честно неоднородна, и именно честность здесь — методическая ценность, а не повод для оптимизма или пессимизма.</a:t>
            </a:r>
          </a:p>
          <a:p/>
          <a:p>
            <a:r>
              <a:t>Реальные достижения есть. ОКБ Сухого выпустило силовой кронштейн на основе бионического подхода: алюминиевый кронштейн для Су-57, цифровая модель построена на суперкомпьютере, новая деталь примерно на четверть легче традиционных аналогов; прорабатывался также прототип кронштейна навески двери для МС-21-300, титановые версии — лазерное послойное сплавление металлического порошка.</a:t>
            </a:r>
          </a:p>
          <a:p/>
          <a:p>
            <a:r>
              <a:t>Но есть и подмена понятий. В КОМПАС-3D топологическая оптимизация доступна через приложение APM FEM, которое, по заявлению вендора, исключает значительную долю объёма модели с сохранением прочности. Существенно для линии лекции: это детерминированный плотностной алгоритм семейства SIMP, а не AI. Маркетинговая подача «AI-проектирование» здесь — ровно та же терминологическая ловушка, что и у западных вендоров, просто на отечественном инструменте, знакомом по учебным CAD-классам. Геометрическое ядро C3D — стратегически важный актив: в мире коммерчески доступны по сути два-три геометрических ядра, и наличие отечественного — редкость.</a:t>
            </a:r>
          </a:p>
          <a:p/>
          <a:p>
            <a:r>
              <a:t>И честный пробел: зрелого AI-генеративного движка уровня Autodesk Fusion в России на 2026 год по существу нет — подтверждена только топологическая оптимизация, детерминированная. Это незачем приукрашивать; для инженера это означает, что отечественная альтернатива западному «генеративному дизайну» — классическая топологическая оптимизация плюс ручная реконструкция, что само по себе нормальный инструмент с понятными гарантиями.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 фундаментальное ограничение топологической оптимизации, и оно не то, которое обычно ожидают. Оптимизатор честно решает поставленную задачу. Если постановка неполна — забыт усталостный нагрузочный случай, не заданы технологические ограничения литья или доступа фрезы, не учтён монтажный сценарий — алгоритм всё равно сойдётся к математически безупречному оптимуму, но под неверную постановку. Это знакомо по сопромату: если упущен расчётный случай нагружения, расчёт может быть арифметически верен, а конструкция опасна. Здесь то же самое, но коварнее: красивая «органическая» форма выглядит так убедительно, что её непригодность не видна на глаз. Главный риск — не галлюцинация, её тут нет, метод детерминирован, а неполно заданные ограничения.</a:t>
            </a:r>
          </a:p>
          <a:p/>
          <a:p>
            <a:r>
              <a:t>Конкретный пример — неизготовимость. Топологическая оптимизация легко выдаёт замкнутую внутреннюю полость с криволинейными рёбрами, к которым нет доступа ни одной фрезой и которые невозможно получить литьём без неизвлекаемого стержня. Такую форму можно изготовить только аддитивно. Российские инженеры в профессиональных публикациях прямо отмечают, что генеративная геометрия часто неизготовима традиционными методами, трудна для обмера и нормоконтроля по ЕСКД и требует ручной реконструкции в редактируемое твёрдое тело. То есть генеративный инструмент — это вход в процесс проектирования, а не его выход. Это структурное следствие постановки: в критерии нет члена, штрафующего за технологическую недоступность, если инженер его туда не заложил.</a:t>
            </a:r>
          </a:p>
          <a:p/>
          <a:p>
            <a:r>
              <a:t>Классическая альтернатива: для серийной детали, которая будет фрезероваться или литься, классическая параметрическая модель плюс ручная топологическая оптимизация под технологичность практичнее «красивой» AI-геометрии. Оптимизатор как идея-генератор допустим; как источник готовой производственной геометрии для серийной механообработки — нет.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предыдущей части ИИ оказался на левой стороне оси — детерминированный оптимизатор решает уравнение. Эта часть — про класс с правой стороны: суррогатные модели и PINN.</a:t>
            </a:r>
          </a:p>
          <a:p/>
          <a:p>
            <a:r>
              <a:t>В части про генеративный дизайн мы решали уравнение равновесия внутри цикла оптимизации, не уточняя, что это за уравнение. Здесь мы сначала закроем этот пробел от известного: КЭ-анализ знаком хотя бы на уровне пользователя CAD — разбить деталь на сетку, получить поле напряжений. Суррогат — это нейросеть, выучившая отображение «геометрия и нагрузки → поля напряжений» на тысячах прошлых расчётов; она не решает уравнение, а угадывает его решение по примерам. Это в точности правая сторона несущей оси.</a:t>
            </a:r>
          </a:p>
          <a:p/>
          <a:p>
            <a:r>
              <a:t>Дальше в этой части — состояние рынка 2026 года с критическим чтением заявленных ускорений, разбор PINN и его главного ограничения — сглаживания резких пиков напряжений у концентратора, и наконец прямой ответ на вопрос «зачем тогда суррогат»: он ускоряет перебор вариантов на этапе поиска, но финал по каждому отобранному кандидату считает аттестованный детерминированный решатель. Центральный вывод части — критерий применимости: суррогат валиден только в обучающей области, экстраполяция за её пределы даёт молчаливую ошибку.</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предыдущей части мы решали уравнение равновесия внутри цикла оптимизации, не уточняя, что это за уравнение. Закроем пробел от известного. КЭ-анализ — метод конечных элементов — знаком хотя бы на уровне пользователя CAD: деталь разбивается на сетку конечных элементов, прикладываются нагрузки и закрепления, программа выдаёт цветную картину поля напряжений. Содержательно решатель берёт вектор нагрузок, решает систему линейных уравнений равновесия относительно перемещений, а из перемещений вычисляет деформации и напряжения. Это проверенная, прослеживаемая, детерминированная математика, которой более шестидесяти лет, и её точность контролируется проверкой сходимости при сгущении сетки.</a:t>
            </a:r>
          </a:p>
          <a:p/>
          <a:p>
            <a:r>
              <a:t>Суррогатная модель, она же метамодель, — это нейросеть, которая выучила отображение «геометрия и нагрузки → поле напряжений» на тысячах прошлых КЭ-расчётов и теперь выдаёт ответ почти мгновенно. Ключевое слово — выучила. Суррогат не решает систему уравнений равновесия, он угадывает её решение по примерам, на которых обучался. Это в точности правая сторона несущей оси: угадывает по выученным примерам. Отличие суррогата от генеративной модели в том, что обучающие примеры были физически корректными — их посчитал аттестованный решатель, — поэтому в пределах того, что суррогат «видел», он надёжен. За пределами — нет.</a:t>
            </a:r>
          </a:p>
          <a:p/>
          <a:p>
            <a:r>
              <a:t>Запомним и когда происходит обучение: оффлайн, заранее, на архиве из тысяч дорогих расчётов, а не в момент использования. Это важно для экономики метода: чтобы суррогат был полезен, кто-то должен сначала оплатить тысячи прогонов точного решателя. Под капотом по-прежнему система уравнений равновесия — её вывод через слабую форму подробно разобран в главе; суррогат эту систему не решает, он лишь предсказывает результат быстрее и приближённо.</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 2026 году крупные вендоры превратили суррогаты в продукт. Перечислим коротко, читая числа критически. Ansys SimAI в релизе 2026 R1 — суррогат на основе редуцированной модели, интерполирующий между ранее посчитанными результатами; заявленное ускорение — порядка от десятков до сотен раз на счётно-тяжёлых задачах. Altair PhysicsAI обучается на историческом архиве симуляций и разворачивается как «решатель», заявлено ускорение до порядка тысячи раз. NVIDIA PhysicsNeMo — открытый Python-фреймворк для physics-AI, охватывающий спектр от чистых PINN до нейронных операторов. Похожие суррогат-модели для отдельных классов задач, например для турбомашин, анонсируют и другие связки вендоров с заявленным ускорением порядка тысяч раз.</a:t>
            </a:r>
          </a:p>
          <a:p/>
          <a:p>
            <a:r>
              <a:t>Здесь нужна методическая ремарка, и она важнее самих чисел. Каждое из этих ускорений — «до N раз» на выгодных для вендора частных случаях. В среднем по парку задач выигрыш скромнее, и почти всегда из расчёта окупаемости исключают стоимость генерации обучающего архива — а это тысячи дорогих прогонов точного решателя, которые кто-то должен был оплатить заранее. К числам вида «в тысячу раз» нужно относиться как к верхней границе на узком классе задач, не как к типичному ускорению. Это прямая иллюстрация общего правила курса: маркетинговое число — это потолок на удобном кейсе, а инженерное решение принимается по типичному поведению инструмента, а не по его рекордам.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Отдельный подкласс — physics-informed neural networks, PINN. Идея красива: в функцию потерь нейросети добавляют штраф за невязку дифференциального уравнения, так что сеть обучается «уважать» физику. Маркетинг подаёт это как «нейросеть, которая знает физику». Реальность по рецензируемым обзорам существенно скромнее, и главное ограничение удобнее всего объяснить через сопромат.</a:t>
            </a:r>
          </a:p>
          <a:p/>
          <a:p>
            <a:r>
              <a:t>Из курса сопромата известен концентратор напряжений: у отверстия, галтели, выточки поле напряжений имеет резкий локальный пик — именно там деталь и разрушается, и именно ради этого пика считается коэффициент концентрации. Нейросеть с гладкими функциями активации легко выучивает плавные поля, но плохо — резкие перепады. Это свойство называют спектральным сдвигом: нейросеть тяготеет к сглаженным решениям. Практическое следствие прямое: PINN, обученная на детали с концентратором, склонна размазать пик напряжения у отверстия и выдать заниженное значение в опасном сечении. Заниженное напряжение в концентраторе — это недооценённый риск разрушения, наихудший возможный тип ошибки в расчёте на прочность.</a:t>
            </a:r>
          </a:p>
          <a:p/>
          <a:p>
            <a:r>
              <a:t>Есть и прочие ограничения. PINN не превосходит зрелые численные методы на стандартных прямых задачах и часто медленнее, чем решить ту же задачу классическим решателем; не обобщается за пределы сценария обучения; при сбое непрозрачен — нельзя понять, виновата физика, шум данных или ёмкость сети. Дифференцирование усиливает высокочастотный шум измерений. Это документировано в рецензируемых обзорах как фундаментальное свойство метода, а не дефект реализации — его нельзя «починить» большей сетью. Где PINN действительно полезен: разреженные данные, обратные задачи, сложная геометрия — узкая, но реальная ниша, а не замена решателя для прямых задач.</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 разбора PINN закономерен вопрос: если суррогат угадывает, а PINN размазывает — зачем вообще эта часть? Ответ прямой и конструктивный. На этапе поиска конструктор перебирает десятки и сотни вариантов: а если ребро толще, а если перенести бобышку, а если другой материал. Считать каждый вариант полным аттестованным МКЭ дорого по времени. Здесь суррогат на своём месте: прогнать сотни вариантов кронштейна за минуты, отсеять заведомо слабые, оставить пять-десять кандидатов. Но — и это критерий — финал по каждому отобранному кандидату считает аттестованный детерминированный решатель. Суррогат ускоряет перебор на этапе поиска; он не выдаёт сертифицируемого результата.</a:t>
            </a:r>
          </a:p>
          <a:p/>
          <a:p>
            <a:r>
              <a:t>Центральный вывод части — критерий применимости. Суррогат валиден только внутри области, на которой обучался. Экстраполяция за её пределы — новый режим, новый материал, геометрия вне распределения — даёт молчаливую ошибку: модель не сообщает, что вышла за границу применимости, она просто уверенно выдаёт неверное число. Формулировка «молчаливая ошибка» здесь ключевая: отсутствие сообщения об ошибке не означает корректности. Поэтому суррогат недопустим там, где нужна гарантия — сертификация, расчёт с коэффициентом запаса, — и допустим там, где нужен быстрый предварительный отсев с последующей точной верификацией.</a:t>
            </a:r>
          </a:p>
          <a:p/>
          <a:p>
            <a:r>
              <a:t>В России CAE-пакет «Логос» — флагман импортонезависимой суперкомпьютерной симуляции; нативных нейросетевых решателей внутри его ядра в открытых источниках не подтверждено — суррогаты применяются в обёртке экосистемы, а не внутри решателя. Платформа CML-Bench — пример накопленной инженерной базы знаний, питающей систему ассистентов: та же модель «архив расчётов → суррогат». Заявления вида «в тысячи раз» — узкие частные случаи, игнорирующие стоимость обучающего архива.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Суррогат из предыдущей части угадывал по примерам, но обученным на физически корректных данных — поэтому в своей области он надёжен. Эта часть — про класс, устроенный принципиально иначе.</a:t>
            </a:r>
          </a:p>
          <a:p/>
          <a:p>
            <a:r>
              <a:t>Генеративная модель геометрии и большая языковая модель обучены воспроизводить статистические закономерности корпуса — как обычно выглядит деталь, как обычно звучит абзац спецификации. В их математике нет ни уравнения равновесия, ни понятия силового потока, напряжения, усталости, коэффициента запаса. Диффузионная модель, генерируя кронштейн, производит форму, статистически похожую на кронштейны из обучающих данных; она не вычисляет, выдержит ли форма нагрузку, потому что в ней нет той величины, которую можно было бы вычислить. Это прямое следствие фундамента, установленного в начале лекции: модель аппроксимирует, как выглядит или как звучит ответ, а не как объект работает.</a:t>
            </a:r>
          </a:p>
          <a:p/>
          <a:p>
            <a:r>
              <a:t>Отсюда определяющее всю часть следствие: опасна не сама по себе ошибка генеративной модели — ошибаются все инструменты, — а сочетание уверенного экспертного тона и отсутствия внутренней проверки. Неверный ответ звучит так же убедительно, как верный. Именно это делает цену галлюцинации в проектировании особенно высокой и роднит провалы этой части с историческими катастрофами на стыках систем — к ним мы и придём в кульминации части на кейсе Mars Climate Orbiter.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Разделим ландшафт на два сильно различных по зрелости слоя. Первый — LLM-копайлоты поверх CAD. Autodesk Assistant в Fusion превращает текстовый промпт в команды — «раздели это тело», «выдави грань» — и может генерировать и исполнять скрипты через API. Siemens Design Copilot — ассистент на знаниях вендора, заявлена авто-генерация значительной доли двумерных видов чертежей на основе анализа массива пользовательских чертежей. Mastercam Copilot — помощник по программированию обработки. Это относительно зрелый слой: LLM как интерфейс к существующим детерминированным операциям, под контролем инженера.</a:t>
            </a:r>
          </a:p>
          <a:p/>
          <a:p>
            <a:r>
              <a:t>Второй слой — text-to-CAD и нейро-CAD, и он незрелый. Zoo.dev — открытый text-to-CAD: текст в 3D с экспортом в STEP или STL. Autodesk Project Bernini — исследовательская генеративная 3D-модель, обученная на порядка десяти миллионов 3D-форм; существенная деталь: сам Autodesk помечает Bernini как «строго экспериментальный, не для публичного использования» — честный сигнал зрелости, контрастирующий с маркетинговым «AI проектирует за инженера». Autodesk Neural CAD с анонсированной целью редактируемой геометрии из одного промпта — коммерческая доступность заявлена как предстоящая, без точной даты, то есть пока не общедоступный продукт. Академический фронтир активен, но это исследования, не производственные инструменты.</a:t>
            </a:r>
          </a:p>
          <a:p/>
          <a:p>
            <a:r>
              <a:t>Вывод по ландшафту: зрелое — это LLM как интерфейс к детерминированным операциям. Генерация геометрии по тексту в 2026 году — концепт и ранняя бета, что подтверждает даже маркировка Bernini самим вендором.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Есть конкретный паттерн, где LLM приносит реальную пользу инженеру, и его стоит сформулировать точно, чтобы отделить от антипаттерна следующего слайда.</a:t>
            </a:r>
          </a:p>
          <a:p/>
          <a:p>
            <a:r>
              <a:t>LLM хорошо генерирует черновик текстового артефакта с точной терминологией формы: структуру пояснительной записки, болванку технических условий, переформулировку требования, объяснение того, как устроен пункт стандарта. Здесь модель сильна именно в том, в чём она обучена, — в языковой форме. Грамотный промпт описывает требуемую структуру и терминологию документа, а на выходе получается каркас, экономящий инженеру время на рутине.</a:t>
            </a:r>
          </a:p>
          <a:p/>
          <a:p>
            <a:r>
              <a:t>Но — и это встроенная в паттерн граница — фактическое наполнение подлежит обязательной сверке. Конкретные марки материалов, номера стандартов, числовые допуски, значения коэффициентов инженер обязан сверить с нормативной базой. LLM даёт правильную форму и потенциально неверное содержание; это сочетание полезно для черновика и опасно для финального документа. Паттерн формулируется так: LLM пишет черновик, инженер верифицирует факты по первоисточнику — всегда, без исключений. Важно, что граница здесь проходит не между «использовать LLM» и «не использовать», а между формой и содержанием: за форму отвечает модель, за каждый факт — инженер с нормативной базой в руках.</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кейс этого раздела — катастрофа Mars Climate Orbiter, и она разбирается развёрнуто, потому что является точной структурной моделью того, как проваливается ИИ на стыке систем. В сентябре 1999 года связь с межпланетной станцией была потеряна при выходе на орбиту Марса; полная стоимость миссии — около 327 миллионов долларов. Причина не в сложной физике. Наземный программный модуль расчёта импульсов двигателей выдавал данные в фунт-силах, умноженных на секунды, а программа расчёта траектории ожидала ньютоны на секунды — расхождение в 4,45 раза. Конвертацию никто не выполнил: одна сторона предположила, что её сделала другая. Комиссия по расследованию возложила ответственность не на ошибку в формуле, а на отсутствие независимой проверки, которая поймала бы рассогласование на интерфейсе двух систем.</a:t>
            </a:r>
          </a:p>
          <a:p/>
          <a:p>
            <a:r>
              <a:t>Спроецируем на сегодняшний день. LLM-ассистент в инженерном процессе — это ровно такой стык систем: он берёт величины из одного контекста и передаёт в другой, и он уверенно путает единицы — psi и мегапаскали, миллиметры и дюймы, ньютон-метры и фунт-футы. Принять число от ИИ без независимой размерностной проверки — это цифровой Mars Climate Orbiter. Урок: размерный контроль и независимая верификация на каждом интерфейсе с ИИ, а не доверие к уверенному ответу.</a:t>
            </a:r>
          </a:p>
          <a:p/>
          <a:p>
            <a:r>
              <a:t>Тот же паттерн виден ещё в двух классических кейсах. Gimli Glider — Boeing 767, выработавший всё топливо из-за ручного пересчёта с неверным коэффициентом; экипаж посадил машину планированием. Hyatt Regency — обрушение подвесных переходов отеля после того, как узел подвески изменили на позднем этапе фактически без независимого пересчёта. Связующая нить трёх кейсов: ни одна катастрофа не вызвана сложной физикой — все три это необнаруженное рассогласование или непроверенное изменение на стыке, где каждый предполагал, что проверит кто-то другой. ИИ-ассистент создаёт ровно такие стыки в товарных количествах.</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Исторические аналоги показывают паттерн. Бенчмарки дают воспроизводимую статистику — это аргумент другого типа, и его нельзя смешивать с катастрофами. На пятистах реальных количественных задачах пять сильнейших моделей показали точность примерно в диапазоне от сорока пяти до шестидесяти трёх процентов; лучшая модель — порядка шестидесяти трёх. То есть на инженерных расчётах сильнейшие модели ошибаются примерно у трети–половины задач. Отдельный бенчмарк зафиксировал заметное падение точности при простом перефразировании условия — признак того, что модель опирается на поверхностный паттерн-матчинг, а не на устойчивое рассуждение; в исследовании по статике модели путали растяжение и сжатие в стержнях фермы.</a:t>
            </a:r>
          </a:p>
          <a:p/>
          <a:p>
            <a:r>
              <a:t>Ещё показателен аэрокосмический кейс: модель на вопрос о поверхностной обработке титановых крепёжных элементов фюзеляжа рекомендовала покрытие, нарушающее три аэрокосмических стандарта одновременно. Кейс ценен не именем модели, а характером ошибки: рекомендация звучала экспертно и при этом одновременно нарушала три независимых нормативных документа.</a:t>
            </a:r>
          </a:p>
          <a:p/>
          <a:p>
            <a:r>
              <a:t>Сведём урок воедино. Первое: LLM — не источник истины по маркам, ГОСТ, допускам, числам; «уверенно ошибается» опаснее, чем «не знает», потому что не вызывает настороженности. Второе: размерный и фактический контроль плюс независимая верификация обязательны на каждом интерфейсе с ИИ. Третье: предложение ИИ, меняющее силовую схему, оформляется как формальный change-request, а не принимается репликой в чате. Честная оговорка: громких именно-ИИ катастроф в проектировании на сегодня задокументировано мало — тема молодая, ущерб реализуется с лагом. Это не аргумент в пользу безопасности: доказательная база — исторические аналоги, воспроизводимые бенчмарки и исследования ограничений. Задача инженера — предотвратить первый громкий ИИ-провал, а не разбирать его постфактум.</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Предыдущие части показывали, как проваливаются конкретные классы. Эта часть — концентрированное ядро центральной мысли курса: критерии, по которым инженер заранее говорит «нет», и какой инструмент правильнее в каждом случае.</a:t>
            </a:r>
          </a:p>
          <a:p/>
          <a:p>
            <a:r>
              <a:t>Решающее правило одно: чем выше детерминированность задачи и цена ошибки, тем меньше в ней места вероятностному ИИ. В этой части мы развернём это в таблицу критериев — сертификационный расчёт, коэффициент запаса, нормоконтроль по ГОСТ, юридическая ответственность, наличие точного решателя, безопасность жизни, единицы на стыке систем, изменение силовой схемы — и для каждого критерия назовём, почему вероятностный ИИ структурно не годится и какой инструмент правильный. Затем добавим конкретные российские нормативные границы: барьер ЕСКД, аттестацию Ростехнадзора, требования 187-ФЗ и 58-ФЗ, вопрос авторского права. И завершим часть концептуальной границей, замыкающей спайн: инженер задаёт ограничения и отвечает, его подпись — это деонтологическая, а не техническая ответственность; AI предлагает форму, но человек отвечает, верифицирует и изобретает функцию. Важно: это не запрет на ИИ, а указание его места.</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Решающее правило одно: чем выше детерминированность задачи и цена ошибки, тем меньше в ней места вероятностному ИИ. Развернём его в таблицу. Для сертификационного расчёта нужны воспроизводимость и трассируемость, а LLM и суррогат дают разброс и не сертифицируемы — правильный инструмент это аттестованный детерминированный решатель с проверкой сходимости плюс независимая верификация. Коэффициент запаса задаётся нормой и ответственным инженером, а не «оптимизируется» моделью — правильно взять нормативное значение по стандарту с инженерным обоснованием. Нормоконтроль по ГОСТ, ASTM, ISO: LLM галлюцинирует номера стандартов, марки, допуски — нужна нормативная база и нормоконтролёр со сверкой по первоисточнику.</a:t>
            </a:r>
          </a:p>
          <a:p/>
          <a:p>
            <a:r>
              <a:t>Юридическая ответственность: ИИ не субъект ответственности, подпись и accountability на инженере — ИИ максимум черновик под проверку. Если доступен точный детерминированный решатель, аппроксимация хуже и не нужна — прямой расчёт, суррогат только предварительный фильтр. Безопасность жизни — несущие конструкции, авиация, сосуды давления: цена ошибки это жизни, вероятностная модель не даёт гарантий — нормированный расчёт плюс независимая проверка плюс натурные испытания. Единицы измерения на стыке систем: ИИ уверенно путает единицы, как в Mars и Gimli — нужна машинная проверка размерностей и единая система единиц. Изменение силовой схемы «по чату» без пересчёта — это Hyatt; нужен формальный change-request с независимым пересчётом.</a:t>
            </a:r>
          </a:p>
          <a:p/>
          <a:p>
            <a:r>
              <a:t>Резюме таблицы — операциональная форма миссии курса: ИИ в инженерии есть инструмент расширения вариативности и черновика, а не арбитра истины и носителя ответственности. Заметьте: это не запрет на ИИ, а указание его места. Детерминированная топологическая оптимизация в этой таблице нигде не запрещена — запреты касаются вероятностных классов там, где требуется гарантия.</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Российский контекст добавляет к общим критериям конкретные нормативные и операционные границы. Первая — барьер ЕСКД. Единая система конструкторской документации требует строго регламентированных чертежей, спецификаций, допусков, обозначений. Выращенная органическая или решётчатая геометрия плохо ложится на двумерную чертёжную парадигму ЕСКД: выпуск нормоконтролируемой документации на такую деталь нетривиален и требует пересмотра практики нормоконтроля — перехода к аннотированным 3D-моделям. Это знакомая по курсовой работе с ЕСКД ситуация: красивая форма, которую нечем корректно проставить размерами и допусками.</a:t>
            </a:r>
          </a:p>
          <a:p/>
          <a:p>
            <a:r>
              <a:t>Вторая — аттестация и верификация. Расчётное ядро APM Structure3D имеет аттестат Ростехнадзора; без аттестованной верификации конструкция не допускается в надзорное производство. ИИ-сгенерированная или суррогат-просчитанная конструкция без аттестованной верификации формально не допускается — граница здесь юридическая и жёсткая.</a:t>
            </a:r>
          </a:p>
          <a:p/>
          <a:p>
            <a:r>
              <a:t>Третья — санкционно-лицензионный риск. Принудительная блокировка ранее работавших AutoCAD и Fusion у российских пользователей в 2022–2024 годах — конкретный пример того, как облачно-привязанный инструмент становится единой точкой отказа. Нормативные драйверы импортозамещения — 187-ФЗ о безопасности критической информационной инфраструктуры и поправки 58-ФЗ; для значимых объектов облачные западные CAD неприменимы — данные не должны покидать защищённый контур. И четвёртая граница — авторство: по российскому праву машина не субъект авторского права; ответственность за конструкцию несёт инженер или организация-исполнитель, не инструмент.</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Завершим часть концептуальной границей, замыкающей спайн. Инженер задаёт ограничения и отвечает за результат: подпись конструктора и расчётчика под документацией — это юридическая ответственность за безопасность. Её нельзя делегировать оптимизатору или нейросети. Это ограничение не техническое, а деонтологическое: ответственность всегда у человека, независимо от происхождения геометрии. AI предлагает форму — человек отвечает и верифицирует.</a:t>
            </a:r>
          </a:p>
          <a:p/>
          <a:p>
            <a:r>
              <a:t>Полезно историческое сопоставление с ТРИЗ. Теория решения изобретательских задач, работа над которой начата Генрихом Альтшуллером с 1946 года, формализует изобретение — разрешение технического противоречия, выбор принципа действия, идеальный конечный результат. «Генеративный дизайн» оптимизирует форму при фиксированной функции и фиксированном пространстве проектирования. Это разные уровни: изменить принцип действия узла, разрешить противоречие «прочный, но лёгкий» сменой схемы — это уровень ТРИЗ и инженерного творчества, недоступный топологическому оптимизатору, который лишь распределяет материал в заданном объёме под заданную функцию.</a:t>
            </a:r>
          </a:p>
          <a:p/>
          <a:p>
            <a:r>
              <a:t>Историческая ирония: ещё в 1946 году советская инженерная школа утверждала, что креатив алгоритмизируем — но алгоритмизировала именно концептуальное изобретение, а не косметику формы. Современный «генеративный дизайн» алгоритмизирует более узкий срез, чем обещал ТРИЗ восемьдесят лет назад. Формула, замыкающая спайн всей лекции: AI генерирует — человек отвечает, верифицирует и изобретает функцию.</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классов ИИ названы и расположены на оси, три класса с высшей ценой ошибки разобраны глубоко вместе с их провалами, критерии неприменимости сведены в таблицу, а граница ответственности названа явно. Дальше — заключительная, синтезирующая часть лекции.</a:t>
            </a:r>
          </a:p>
          <a:p/>
          <a:p>
            <a:r>
              <a:t>Здесь не вводится ни одного нового класса и ни одного нового факта. Задача части другая: показать, что всё разобранное складывается в один рабочий инструмент мышления. Сначала — полностью проработанный пример: одна инженерная задача проводится по трём вопросам-якорям в двух производственных сценариях, и видно, как один вопрос разводит обоснованные ответы. Затем правило решения сворачивается в короткий ментальный чек-лист, рядом с которым предъявляется полная таксономическая матрица шести классов — та, что была обещана в начале лекции и сознательно отложена, пока каждая её ячейка не наполнилась смыслом.</a:t>
            </a:r>
          </a:p>
          <a:p/>
          <a:p>
            <a:r>
              <a:t>Смысл этой части — не запомнить ещё что-то, а унести с собой процедуру: встречая инструмент с ярлыком «AI», назвать его вид, расположить на оси, проверить полноту постановки, спросить про точный нормативный инструмент и помнить, что подпись и ответственность не делегируются. Завершается лекция открытым обсуждением.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всё в один полностью проработанный пример принятия решения. Дана задача: снизить массу силового кронштейна. Рассмотрим два производственных сценария: серийная деталь, изготавливаемая фрезерованием на пятиосевом станке, и единичная деталь, изготавливаемая аддитивно. Проведём обе ветки через три вопроса-якоря.</a:t>
            </a:r>
          </a:p>
          <a:p/>
          <a:p>
            <a:r>
              <a:t>Серийная фрезеровка. Вопрос первый: нужна гарантия прочности серийной детали — значит, базовый инструмент детерминированный, генеративный AI геометрии отпадает сразу как вероятностный без физических гарантий. Вопрос второй: оптимизируем массу при ограничении прочности — это постановка топологической оптимизации, но критическое ограничение здесь технологичность фрезеровки, и чистая топ-оптимизация выдаст неизготовимую фрезой форму; суррогат для сертификации серийной детали неприменим из-за молчаливой ошибки. Вопрос третий: серийная ответственная деталь требует аттестованной верификации и подписи инженера. Вывод: правильный инструмент — классическая параметрическая модель плюс ручная топ-оптимизация под технологичность, с финальным аттестованным МКЭ.</a:t>
            </a:r>
          </a:p>
          <a:p/>
          <a:p>
            <a:r>
              <a:t>Аддитив, единичная деталь. Первый вопрос — та же потребность в гарантии, базовый инструмент детерминированный. Второй: аддитив снимает большинство технологических ограничений на форму, постановка топ-оптимизации применима в полную силу, но ограничения должны включать особенности печати. Третий: если деталь силовая, финал всё равно считает аттестованный решатель, а суррогат уместен для перебора сотен топологий на этапе поиска, не для финала. Вывод: детерминированная топ-оптимизация с полным набором технологических ограничений печати, финал — аттестованный МКЭ, генеративный AI геометрии по-прежнему нет. Одна и та же задача дала разные обоснованные ответы — и оба получены не по вкусу, а проведением по трём вопросам с явным «почему не другие классы».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правило решения. Перед тем как доверить инструменту проектное решение, нужно последовательно: назвать вид ИИ и расположить его на оси «детерминированное — вероятностное»; определить, детерминированная это оптимизация, решающая заданное уравнение, или вероятностная модель, угадывающая по примерам; спросить, что оптимизируется и кто задал ограничения — полна ли постановка, не пропущен ли нагрузочный случай, технологическое ограничение, нормоконтроль; проверить, есть ли точный или нормативный инструмент — если задача сертификационная или есть аттестованный решатель, вероятностный ИИ лишний или опасен; и наконец, помнить, что подпись и ответственность не делегируются модели.</a:t>
            </a:r>
          </a:p>
          <a:p/>
          <a:p>
            <a:r>
              <a:t>Теперь, когда каждый класс пройден и каждая ячейка наполнена смыслом, предъявляем полную таксономическую матрицу — ту, что обещали в начале лекции и сознательно не давали сразу. Топологическая оптимизация — детерминированная, гарантирует оптимум заданной функции при заданных ограничениях, зрелая, отвечает инженер за постановку и проверку. Эволюционные алгоритмы — стохастическая оптимизация, зрелые нишево. Суррогат и PINN — вероятностная аппроксимация, точна только в обучающей области, финал на решателе. Computer Vision — вероятностная классификация, первый фильтр дефектов. LLM-ассистент — вероятностная порождающая, гарантирует языковую форму, не факты. Генеративный AI геометрии — вероятностная порождающая, ничего не гарантирует о физике, концепт и ранняя бета. Во всех строках колонки «кто отвечает» стоит инженер.</a:t>
            </a:r>
          </a:p>
          <a:p/>
          <a:p>
            <a:r>
              <a:t>Эта матрица — не для заучивания, а для применения: она операционализирует все три вопроса-якоря по шести классам сразу. Профильные кафедры и суперкомпьютерные центры технических университетов работают со всем этим спектром — от аттестованных решателей до накопленных архивов расчётов; описанное здесь не теория из будущего, а текущая инженерная практика.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Открытое Q&amp;A. Пауза в несколько секунд тишины — это нормально, аудитория переваривает плотный материал. Если вопросов нет — есть три провокации в запасе. Первая: какой инструмент в знакомом CAD маркетинг называет «AI», и какой это на самом деле вид ИИ — детерминированная оптимизация или обученная модель? Вторая: где в реальном проекте есть «стык систем», на котором ИИ мог бы уверенно перепутать единицы, как в Mars Climate Orbiter? Третья: назовите конкретную задачу, где обоснованно сказать ИИ «нет», и назовите правильный инструмент.</a:t>
            </a:r>
          </a:p>
          <a:p/>
          <a:p>
            <a:r>
              <a:t>Самый частый вопрос на лекциях этого типа — зачем студенту-инженеру KKT и слабая форма Галёркина, если он не будет писать решатель. Короткий ответ: не ради вычислений руками. Понимание родословной даёт точное знание, что есть «AI-результат» генеративного дизайна — точка, удовлетворяющая условиям оптимума, а не сэмпл из распределения; это иммунитет к маркетинговой подмене. А слабая форма показывает, что именно суррогат обходит — дискретизированный закон равновесия, — и делает осязаемой границу «суррогат угадывает выход, не решает уравнение».</a:t>
            </a:r>
          </a:p>
          <a:p/>
          <a:p>
            <a:r>
              <a:t>Если технический вопрос требует глубокого ответа, на который не хватает времени — его стоит отложить на семинар, где будет полтора часа на разбор кейса инженерного проектирования в российском контексте. Главный навык, который должен остаться, — не список технологий, а дисциплина вопроса: назови вид ИИ, расположи его на оси, проверь полноту постановки, спроси про точный нормативный инструмент и помни, что подпись и ответственность не делегируются. Именно умение обоснованно сказать «нет» отличает инженера от оператора кнопки.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6949440" y="1554480"/>
            <a:ext cx="5212080" cy="5029200"/>
          </a:xfrm>
          <a:prstGeom prst="rect">
            <a:avLst/>
          </a:prstGeom>
          <a:noFill/>
        </p:spPr>
        <p:txBody>
          <a:bodyPr wrap="square" lIns="0" rIns="0" tIns="0" bIns="0" anchor="t">
            <a:spAutoFit/>
          </a:bodyPr>
          <a:lstStyle/>
          <a:p>
            <a:pPr algn="l">
              <a:lnSpc>
                <a:spcPct val="100000"/>
              </a:lnSpc>
            </a:pPr>
            <a:r>
              <a:rPr sz="32000" b="1" i="0">
                <a:solidFill>
                  <a:srgbClr val="D9E2EC"/>
                </a:solidFill>
                <a:latin typeface="Arial"/>
              </a:rPr>
              <a:t>06</a:t>
            </a:r>
          </a:p>
        </p:txBody>
      </p:sp>
      <p:sp>
        <p:nvSpPr>
          <p:cNvPr id="3" name="TextBox 2"/>
          <p:cNvSpPr txBox="1"/>
          <p:nvPr/>
        </p:nvSpPr>
        <p:spPr>
          <a:xfrm>
            <a:off x="640080" y="960120"/>
            <a:ext cx="6400800" cy="50292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ЛЕКЦИЯ</a:t>
            </a:r>
          </a:p>
        </p:txBody>
      </p:sp>
      <p:sp>
        <p:nvSpPr>
          <p:cNvPr id="4" name="Rectangle 3"/>
          <p:cNvSpPr/>
          <p:nvPr/>
        </p:nvSpPr>
        <p:spPr>
          <a:xfrm>
            <a:off x="658368" y="1463040"/>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7498079" cy="2743200"/>
          </a:xfrm>
          <a:prstGeom prst="rect">
            <a:avLst/>
          </a:prstGeom>
          <a:noFill/>
        </p:spPr>
        <p:txBody>
          <a:bodyPr wrap="square" lIns="0" rIns="0" tIns="0" bIns="0" anchor="t">
            <a:spAutoFit/>
          </a:bodyPr>
          <a:lstStyle/>
          <a:p>
            <a:pPr algn="l">
              <a:lnSpc>
                <a:spcPct val="106000"/>
              </a:lnSpc>
            </a:pPr>
            <a:r>
              <a:rPr sz="5200" b="1" i="0">
                <a:solidFill>
                  <a:srgbClr val="21295C"/>
                </a:solidFill>
                <a:latin typeface="Arial"/>
              </a:rPr>
              <a:t>AI в инженерном
проектировании
и CAD/CAM</a:t>
            </a:r>
          </a:p>
        </p:txBody>
      </p:sp>
      <p:sp>
        <p:nvSpPr>
          <p:cNvPr id="6" name="Rectangle 5"/>
          <p:cNvSpPr/>
          <p:nvPr/>
        </p:nvSpPr>
        <p:spPr>
          <a:xfrm>
            <a:off x="640080" y="5074920"/>
            <a:ext cx="457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074920"/>
            <a:ext cx="9875520" cy="548640"/>
          </a:xfrm>
          <a:prstGeom prst="rect">
            <a:avLst/>
          </a:prstGeom>
          <a:noFill/>
        </p:spPr>
        <p:txBody>
          <a:bodyPr wrap="square" lIns="0" rIns="0" tIns="0" bIns="0" anchor="t">
            <a:spAutoFit/>
          </a:bodyPr>
          <a:lstStyle/>
          <a:p>
            <a:pPr algn="l">
              <a:lnSpc>
                <a:spcPct val="125000"/>
              </a:lnSpc>
            </a:pPr>
            <a:r>
              <a:rPr sz="2000" b="0" i="0">
                <a:solidFill>
                  <a:srgbClr val="065A82"/>
                </a:solidFill>
                <a:latin typeface="Arial"/>
              </a:rPr>
              <a:t>Назови вид ИИ, прежде чем доверить ему проектное решение.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Какой вид ИИ спроектировал этот кронштейн?</a:t>
            </a:r>
          </a:p>
        </p:txBody>
      </p:sp>
      <p:sp>
        <p:nvSpPr>
          <p:cNvPr id="3" name="Rounded Rectangle 2"/>
          <p:cNvSpPr/>
          <p:nvPr/>
        </p:nvSpPr>
        <p:spPr>
          <a:xfrm>
            <a:off x="502920" y="1417320"/>
            <a:ext cx="6035040" cy="4434840"/>
          </a:xfrm>
          <a:prstGeom prst="roundRect">
            <a:avLst>
              <a:gd name="adj" fmla="val 68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ionic-bracket.png"/>
          <p:cNvPicPr>
            <a:picLocks noChangeAspect="1"/>
          </p:cNvPicPr>
          <p:nvPr/>
        </p:nvPicPr>
        <p:blipFill>
          <a:blip r:embed="rId2"/>
          <a:stretch>
            <a:fillRect/>
          </a:stretch>
        </p:blipFill>
        <p:spPr>
          <a:xfrm>
            <a:off x="1096854" y="1618488"/>
            <a:ext cx="4847169" cy="3593591"/>
          </a:xfrm>
          <a:prstGeom prst="rect">
            <a:avLst/>
          </a:prstGeom>
        </p:spPr>
      </p:pic>
      <p:sp>
        <p:nvSpPr>
          <p:cNvPr id="5" name="TextBox 4"/>
          <p:cNvSpPr txBox="1"/>
          <p:nvPr/>
        </p:nvSpPr>
        <p:spPr>
          <a:xfrm>
            <a:off x="502920" y="5376671"/>
            <a:ext cx="6035040" cy="384048"/>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«Органическая» ажурная форма — выглядит как «выращенная» нейросетью</a:t>
            </a:r>
          </a:p>
        </p:txBody>
      </p:sp>
      <p:sp>
        <p:nvSpPr>
          <p:cNvPr id="6" name="Rounded Rectangle 5"/>
          <p:cNvSpPr/>
          <p:nvPr/>
        </p:nvSpPr>
        <p:spPr>
          <a:xfrm>
            <a:off x="6720840" y="1417320"/>
            <a:ext cx="4983480" cy="4434840"/>
          </a:xfrm>
          <a:prstGeom prst="roundRect">
            <a:avLst>
              <a:gd name="adj" fmla="val 68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1828800"/>
            <a:ext cx="425196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Ответ:</a:t>
            </a:r>
          </a:p>
        </p:txBody>
      </p:sp>
      <p:sp>
        <p:nvSpPr>
          <p:cNvPr id="8" name="TextBox 7"/>
          <p:cNvSpPr txBox="1"/>
          <p:nvPr/>
        </p:nvSpPr>
        <p:spPr>
          <a:xfrm>
            <a:off x="7086600" y="2377440"/>
            <a:ext cx="4251960" cy="2834640"/>
          </a:xfrm>
          <a:prstGeom prst="rect">
            <a:avLst/>
          </a:prstGeom>
          <a:noFill/>
        </p:spPr>
        <p:txBody>
          <a:bodyPr wrap="square" lIns="0" rIns="0" tIns="0" bIns="0" anchor="t">
            <a:spAutoFit/>
          </a:bodyPr>
          <a:lstStyle/>
          <a:p>
            <a:pPr algn="l">
              <a:lnSpc>
                <a:spcPct val="132000"/>
              </a:lnSpc>
            </a:pPr>
            <a:r>
              <a:rPr sz="2800" b="1" i="0">
                <a:solidFill>
                  <a:srgbClr val="21295C"/>
                </a:solidFill>
                <a:latin typeface="Arial"/>
              </a:rPr>
              <a:t>Ни один
генеративный AI.</a:t>
            </a:r>
          </a:p>
          <a:p>
            <a:pPr algn="l">
              <a:lnSpc>
                <a:spcPct val="122000"/>
              </a:lnSpc>
            </a:pPr>
            <a:r>
              <a:rPr sz="2100" b="1" i="0">
                <a:solidFill>
                  <a:srgbClr val="065A82"/>
                </a:solidFill>
                <a:latin typeface="Arial"/>
              </a:rPr>
              <a:t>Детерминированный
численный оптимизатор.</a:t>
            </a:r>
          </a:p>
          <a:p>
            <a:pPr algn="l">
              <a:lnSpc>
                <a:spcPct val="122000"/>
              </a:lnSpc>
            </a:pPr>
            <a:r>
              <a:rPr sz="2100" b="1" i="0">
                <a:solidFill>
                  <a:srgbClr val="21295C"/>
                </a:solidFill>
                <a:latin typeface="Arial"/>
              </a:rPr>
              <a:t>Постановка — </a:t>
            </a:r>
            <a:r>
              <a:rPr sz="2500" b="1" i="0">
                <a:solidFill>
                  <a:srgbClr val="F0AB00"/>
                </a:solidFill>
                <a:latin typeface="Arial"/>
              </a:rPr>
              <a:t>1904 год</a:t>
            </a:r>
            <a:r>
              <a:rPr sz="2100" b="1" i="0">
                <a:solidFill>
                  <a:srgbClr val="21295C"/>
                </a:solidFill>
                <a:latin typeface="Arial"/>
              </a:rPr>
              <a:t>.</a:t>
            </a:r>
          </a:p>
        </p:txBody>
      </p:sp>
      <p:sp>
        <p:nvSpPr>
          <p:cNvPr id="9" name="Rounded Rectangle 8"/>
          <p:cNvSpPr/>
          <p:nvPr/>
        </p:nvSpPr>
        <p:spPr>
          <a:xfrm>
            <a:off x="7086600" y="4892040"/>
            <a:ext cx="4251960" cy="731520"/>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946903"/>
            <a:ext cx="3794760" cy="621792"/>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8 деталей → 1  ·  масса −~40%
&gt;150 вариантов перебора</a:t>
            </a:r>
          </a:p>
        </p:txBody>
      </p:sp>
      <p:sp>
        <p:nvSpPr>
          <p:cNvPr id="11" name="TextBox 10"/>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GM seat bracket (General Motors × Autodesk, 2018) · постановка восходит к работе Мичелла, 1904.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Спайн лекции — три вопроса к самому себе и шесть частей.</a:t>
            </a:r>
          </a:p>
        </p:txBody>
      </p:sp>
      <p:sp>
        <p:nvSpPr>
          <p:cNvPr id="3" name="Rounded Rectangle 2"/>
          <p:cNvSpPr/>
          <p:nvPr/>
        </p:nvSpPr>
        <p:spPr>
          <a:xfrm>
            <a:off x="502920" y="1325880"/>
            <a:ext cx="11201400" cy="2697480"/>
          </a:xfrm>
          <a:prstGeom prst="roundRect">
            <a:avLst>
              <a:gd name="adj" fmla="val 1129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27048"/>
            <a:ext cx="105613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Три вопроса-якоря — повторяются в каждой части</a:t>
            </a:r>
          </a:p>
        </p:txBody>
      </p:sp>
      <p:sp>
        <p:nvSpPr>
          <p:cNvPr id="5" name="Rounded Rectangle 4"/>
          <p:cNvSpPr/>
          <p:nvPr/>
        </p:nvSpPr>
        <p:spPr>
          <a:xfrm>
            <a:off x="822960" y="2039112"/>
            <a:ext cx="438912" cy="43891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39112"/>
            <a:ext cx="438912" cy="438912"/>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7" name="TextBox 6"/>
          <p:cNvSpPr txBox="1"/>
          <p:nvPr/>
        </p:nvSpPr>
        <p:spPr>
          <a:xfrm>
            <a:off x="1399032" y="2066543"/>
            <a:ext cx="9921240" cy="502920"/>
          </a:xfrm>
          <a:prstGeom prst="rect">
            <a:avLst/>
          </a:prstGeom>
          <a:noFill/>
        </p:spPr>
        <p:txBody>
          <a:bodyPr wrap="square" lIns="0" rIns="0" tIns="0" bIns="0" anchor="ctr">
            <a:spAutoFit/>
          </a:bodyPr>
          <a:lstStyle/>
          <a:p>
            <a:pPr algn="l">
              <a:lnSpc>
                <a:spcPct val="112000"/>
              </a:lnSpc>
            </a:pPr>
            <a:r>
              <a:rPr sz="1800" b="1" i="0">
                <a:solidFill>
                  <a:srgbClr val="21295C"/>
                </a:solidFill>
                <a:latin typeface="Arial"/>
              </a:rPr>
              <a:t>Детерминированная математика или обученная вероятностная модель?</a:t>
            </a:r>
          </a:p>
        </p:txBody>
      </p:sp>
      <p:sp>
        <p:nvSpPr>
          <p:cNvPr id="8" name="Rounded Rectangle 7"/>
          <p:cNvSpPr/>
          <p:nvPr/>
        </p:nvSpPr>
        <p:spPr>
          <a:xfrm>
            <a:off x="822960" y="2642616"/>
            <a:ext cx="438912" cy="43891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42616"/>
            <a:ext cx="438912" cy="438912"/>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0" name="TextBox 9"/>
          <p:cNvSpPr txBox="1"/>
          <p:nvPr/>
        </p:nvSpPr>
        <p:spPr>
          <a:xfrm>
            <a:off x="1399032" y="2670048"/>
            <a:ext cx="9921240" cy="502920"/>
          </a:xfrm>
          <a:prstGeom prst="rect">
            <a:avLst/>
          </a:prstGeom>
          <a:noFill/>
        </p:spPr>
        <p:txBody>
          <a:bodyPr wrap="square" lIns="0" rIns="0" tIns="0" bIns="0" anchor="ctr">
            <a:spAutoFit/>
          </a:bodyPr>
          <a:lstStyle/>
          <a:p>
            <a:pPr algn="l">
              <a:lnSpc>
                <a:spcPct val="112000"/>
              </a:lnSpc>
            </a:pPr>
            <a:r>
              <a:rPr sz="1800" b="1" i="0">
                <a:solidFill>
                  <a:srgbClr val="21295C"/>
                </a:solidFill>
                <a:latin typeface="Arial"/>
              </a:rPr>
              <a:t>Что оптимизируется и кто задал ограничения?</a:t>
            </a:r>
          </a:p>
        </p:txBody>
      </p:sp>
      <p:sp>
        <p:nvSpPr>
          <p:cNvPr id="11" name="Rounded Rectangle 10"/>
          <p:cNvSpPr/>
          <p:nvPr/>
        </p:nvSpPr>
        <p:spPr>
          <a:xfrm>
            <a:off x="822960" y="3246120"/>
            <a:ext cx="438912" cy="43891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46120"/>
            <a:ext cx="438912" cy="438912"/>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3" name="TextBox 12"/>
          <p:cNvSpPr txBox="1"/>
          <p:nvPr/>
        </p:nvSpPr>
        <p:spPr>
          <a:xfrm>
            <a:off x="1399032" y="3273552"/>
            <a:ext cx="9921240" cy="502920"/>
          </a:xfrm>
          <a:prstGeom prst="rect">
            <a:avLst/>
          </a:prstGeom>
          <a:noFill/>
        </p:spPr>
        <p:txBody>
          <a:bodyPr wrap="square" lIns="0" rIns="0" tIns="0" bIns="0" anchor="ctr">
            <a:spAutoFit/>
          </a:bodyPr>
          <a:lstStyle/>
          <a:p>
            <a:pPr algn="l">
              <a:lnSpc>
                <a:spcPct val="112000"/>
              </a:lnSpc>
            </a:pPr>
            <a:r>
              <a:rPr sz="1800" b="1" i="0">
                <a:solidFill>
                  <a:srgbClr val="21295C"/>
                </a:solidFill>
                <a:latin typeface="Arial"/>
              </a:rPr>
              <a:t>Кто несёт ответственность?</a:t>
            </a:r>
          </a:p>
        </p:txBody>
      </p:sp>
      <p:sp>
        <p:nvSpPr>
          <p:cNvPr id="14" name="Rounded Rectangle 13"/>
          <p:cNvSpPr/>
          <p:nvPr/>
        </p:nvSpPr>
        <p:spPr>
          <a:xfrm>
            <a:off x="502920" y="4297680"/>
            <a:ext cx="1512678" cy="1417320"/>
          </a:xfrm>
          <a:prstGeom prst="roundRect">
            <a:avLst>
              <a:gd name="adj" fmla="val 21505"/>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462272"/>
            <a:ext cx="1512678" cy="502920"/>
          </a:xfrm>
          <a:prstGeom prst="rect">
            <a:avLst/>
          </a:prstGeom>
          <a:noFill/>
        </p:spPr>
        <p:txBody>
          <a:bodyPr wrap="square" lIns="0" rIns="0" tIns="0" bIns="0" anchor="t">
            <a:spAutoFit/>
          </a:bodyPr>
          <a:lstStyle/>
          <a:p>
            <a:pPr algn="ctr">
              <a:lnSpc>
                <a:spcPct val="100000"/>
              </a:lnSpc>
            </a:pPr>
            <a:r>
              <a:rPr sz="2600" b="1" i="0">
                <a:solidFill>
                  <a:srgbClr val="FFFFFF"/>
                </a:solidFill>
                <a:latin typeface="Arial"/>
              </a:rPr>
              <a:t>0</a:t>
            </a:r>
          </a:p>
        </p:txBody>
      </p:sp>
      <p:sp>
        <p:nvSpPr>
          <p:cNvPr id="16" name="TextBox 15"/>
          <p:cNvSpPr txBox="1"/>
          <p:nvPr/>
        </p:nvSpPr>
        <p:spPr>
          <a:xfrm>
            <a:off x="539496" y="5010912"/>
            <a:ext cx="1439526" cy="640080"/>
          </a:xfrm>
          <a:prstGeom prst="rect">
            <a:avLst/>
          </a:prstGeom>
          <a:noFill/>
        </p:spPr>
        <p:txBody>
          <a:bodyPr wrap="square" lIns="0" rIns="0" tIns="0" bIns="0" anchor="t">
            <a:spAutoFit/>
          </a:bodyPr>
          <a:lstStyle/>
          <a:p>
            <a:pPr algn="ctr">
              <a:lnSpc>
                <a:spcPct val="115000"/>
              </a:lnSpc>
            </a:pPr>
            <a:r>
              <a:rPr sz="1000" b="1" i="0">
                <a:solidFill>
                  <a:srgbClr val="FFFFFF"/>
                </a:solidFill>
                <a:latin typeface="Arial"/>
              </a:rPr>
              <a:t>Старт
+ карта</a:t>
            </a:r>
          </a:p>
        </p:txBody>
      </p:sp>
      <p:sp>
        <p:nvSpPr>
          <p:cNvPr id="17" name="Rounded Rectangle 16"/>
          <p:cNvSpPr/>
          <p:nvPr/>
        </p:nvSpPr>
        <p:spPr>
          <a:xfrm>
            <a:off x="2125326"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25326"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1</a:t>
            </a:r>
          </a:p>
        </p:txBody>
      </p:sp>
      <p:sp>
        <p:nvSpPr>
          <p:cNvPr id="19" name="TextBox 18"/>
          <p:cNvSpPr txBox="1"/>
          <p:nvPr/>
        </p:nvSpPr>
        <p:spPr>
          <a:xfrm>
            <a:off x="2161902"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Фундамент
+ таксономия</a:t>
            </a:r>
          </a:p>
        </p:txBody>
      </p:sp>
      <p:sp>
        <p:nvSpPr>
          <p:cNvPr id="20" name="Rounded Rectangle 19"/>
          <p:cNvSpPr/>
          <p:nvPr/>
        </p:nvSpPr>
        <p:spPr>
          <a:xfrm>
            <a:off x="3747733"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7733"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2</a:t>
            </a:r>
          </a:p>
        </p:txBody>
      </p:sp>
      <p:sp>
        <p:nvSpPr>
          <p:cNvPr id="22" name="TextBox 21"/>
          <p:cNvSpPr txBox="1"/>
          <p:nvPr/>
        </p:nvSpPr>
        <p:spPr>
          <a:xfrm>
            <a:off x="3784309"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Генеративный
дизайн ≠ genAI</a:t>
            </a:r>
          </a:p>
        </p:txBody>
      </p:sp>
      <p:sp>
        <p:nvSpPr>
          <p:cNvPr id="23" name="Rounded Rectangle 22"/>
          <p:cNvSpPr/>
          <p:nvPr/>
        </p:nvSpPr>
        <p:spPr>
          <a:xfrm>
            <a:off x="5370140"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70140"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3</a:t>
            </a:r>
          </a:p>
        </p:txBody>
      </p:sp>
      <p:sp>
        <p:nvSpPr>
          <p:cNvPr id="25" name="TextBox 24"/>
          <p:cNvSpPr txBox="1"/>
          <p:nvPr/>
        </p:nvSpPr>
        <p:spPr>
          <a:xfrm>
            <a:off x="5406716"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Суррогат
/ PINN</a:t>
            </a:r>
          </a:p>
        </p:txBody>
      </p:sp>
      <p:sp>
        <p:nvSpPr>
          <p:cNvPr id="26" name="Rounded Rectangle 25"/>
          <p:cNvSpPr/>
          <p:nvPr/>
        </p:nvSpPr>
        <p:spPr>
          <a:xfrm>
            <a:off x="6992547"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2547"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4</a:t>
            </a:r>
          </a:p>
        </p:txBody>
      </p:sp>
      <p:sp>
        <p:nvSpPr>
          <p:cNvPr id="28" name="TextBox 27"/>
          <p:cNvSpPr txBox="1"/>
          <p:nvPr/>
        </p:nvSpPr>
        <p:spPr>
          <a:xfrm>
            <a:off x="7029123"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Генеративный
AI / LLM</a:t>
            </a:r>
          </a:p>
        </p:txBody>
      </p:sp>
      <p:sp>
        <p:nvSpPr>
          <p:cNvPr id="29" name="Rounded Rectangle 28"/>
          <p:cNvSpPr/>
          <p:nvPr/>
        </p:nvSpPr>
        <p:spPr>
          <a:xfrm>
            <a:off x="8614954"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4954"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5</a:t>
            </a:r>
          </a:p>
        </p:txBody>
      </p:sp>
      <p:sp>
        <p:nvSpPr>
          <p:cNvPr id="31" name="TextBox 30"/>
          <p:cNvSpPr txBox="1"/>
          <p:nvPr/>
        </p:nvSpPr>
        <p:spPr>
          <a:xfrm>
            <a:off x="8651530"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Когда
сказать «нет»</a:t>
            </a:r>
          </a:p>
        </p:txBody>
      </p:sp>
      <p:sp>
        <p:nvSpPr>
          <p:cNvPr id="32" name="Rounded Rectangle 31"/>
          <p:cNvSpPr/>
          <p:nvPr/>
        </p:nvSpPr>
        <p:spPr>
          <a:xfrm>
            <a:off x="10237361" y="4297680"/>
            <a:ext cx="1512678" cy="1417320"/>
          </a:xfrm>
          <a:prstGeom prst="roundRect">
            <a:avLst>
              <a:gd name="adj" fmla="val 21505"/>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7361" y="4462272"/>
            <a:ext cx="1512678" cy="502920"/>
          </a:xfrm>
          <a:prstGeom prst="rect">
            <a:avLst/>
          </a:prstGeom>
          <a:noFill/>
        </p:spPr>
        <p:txBody>
          <a:bodyPr wrap="square" lIns="0" rIns="0" tIns="0" bIns="0" anchor="t">
            <a:spAutoFit/>
          </a:bodyPr>
          <a:lstStyle/>
          <a:p>
            <a:pPr algn="ctr">
              <a:lnSpc>
                <a:spcPct val="100000"/>
              </a:lnSpc>
            </a:pPr>
            <a:r>
              <a:rPr sz="2600" b="1" i="0">
                <a:solidFill>
                  <a:srgbClr val="065A82"/>
                </a:solidFill>
                <a:latin typeface="Arial"/>
              </a:rPr>
              <a:t>6</a:t>
            </a:r>
          </a:p>
        </p:txBody>
      </p:sp>
      <p:sp>
        <p:nvSpPr>
          <p:cNvPr id="34" name="TextBox 33"/>
          <p:cNvSpPr txBox="1"/>
          <p:nvPr/>
        </p:nvSpPr>
        <p:spPr>
          <a:xfrm>
            <a:off x="10273937" y="5010912"/>
            <a:ext cx="1439526" cy="640080"/>
          </a:xfrm>
          <a:prstGeom prst="rect">
            <a:avLst/>
          </a:prstGeom>
          <a:noFill/>
        </p:spPr>
        <p:txBody>
          <a:bodyPr wrap="square" lIns="0" rIns="0" tIns="0" bIns="0" anchor="t">
            <a:spAutoFit/>
          </a:bodyPr>
          <a:lstStyle/>
          <a:p>
            <a:pPr algn="ctr">
              <a:lnSpc>
                <a:spcPct val="115000"/>
              </a:lnSpc>
            </a:pPr>
            <a:r>
              <a:rPr sz="1000" b="0" i="0">
                <a:solidFill>
                  <a:srgbClr val="6B7685"/>
                </a:solidFill>
                <a:latin typeface="Arial"/>
              </a:rPr>
              <a:t>Синтез</a:t>
            </a:r>
          </a:p>
        </p:txBody>
      </p:sp>
      <p:sp>
        <p:nvSpPr>
          <p:cNvPr id="35" name="TextBox 34"/>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Классификация — для всех 6 классов ИИ; глубина — для трёх с высшей ценой ошибки.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1</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Назови
вид ИИ</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фундамент — решать уравнение vs угадывать по примерам — и таксономия шести классов</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Синтез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Детерминированная оптимизация решает уравнение; обученная модель угадывает по примерам.</a:t>
            </a:r>
          </a:p>
        </p:txBody>
      </p:sp>
      <p:sp>
        <p:nvSpPr>
          <p:cNvPr id="3" name="Rounded Rectangle 2"/>
          <p:cNvSpPr/>
          <p:nvPr/>
        </p:nvSpPr>
        <p:spPr>
          <a:xfrm>
            <a:off x="502920" y="1417320"/>
            <a:ext cx="11201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1783080"/>
            <a:ext cx="18288" cy="342900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unction-square-blue.png"/>
          <p:cNvPicPr>
            <a:picLocks noChangeAspect="1"/>
          </p:cNvPicPr>
          <p:nvPr/>
        </p:nvPicPr>
        <p:blipFill>
          <a:blip r:embed="rId2"/>
          <a:stretch>
            <a:fillRect/>
          </a:stretch>
        </p:blipFill>
        <p:spPr>
          <a:xfrm>
            <a:off x="960120" y="1783080"/>
            <a:ext cx="640080" cy="640080"/>
          </a:xfrm>
          <a:prstGeom prst="rect">
            <a:avLst/>
          </a:prstGeom>
        </p:spPr>
      </p:pic>
      <p:sp>
        <p:nvSpPr>
          <p:cNvPr id="6" name="TextBox 5"/>
          <p:cNvSpPr txBox="1"/>
          <p:nvPr/>
        </p:nvSpPr>
        <p:spPr>
          <a:xfrm>
            <a:off x="1801368" y="1801368"/>
            <a:ext cx="3845052" cy="713232"/>
          </a:xfrm>
          <a:prstGeom prst="rect">
            <a:avLst/>
          </a:prstGeom>
          <a:noFill/>
        </p:spPr>
        <p:txBody>
          <a:bodyPr wrap="square" lIns="0" rIns="0" tIns="0" bIns="0" anchor="ctr">
            <a:spAutoFit/>
          </a:bodyPr>
          <a:lstStyle/>
          <a:p>
            <a:pPr algn="l">
              <a:lnSpc>
                <a:spcPct val="110000"/>
              </a:lnSpc>
            </a:pPr>
            <a:r>
              <a:rPr sz="2000" b="1" i="0">
                <a:solidFill>
                  <a:srgbClr val="065A82"/>
                </a:solidFill>
                <a:latin typeface="Arial"/>
              </a:rPr>
              <a:t>РЕШАЕТ заданное уравнение</a:t>
            </a:r>
          </a:p>
        </p:txBody>
      </p:sp>
      <p:sp>
        <p:nvSpPr>
          <p:cNvPr id="7" name="Rounded Rectangle 6"/>
          <p:cNvSpPr/>
          <p:nvPr/>
        </p:nvSpPr>
        <p:spPr>
          <a:xfrm>
            <a:off x="978408" y="2850641"/>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2560320"/>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Инженер формулирует цель и ограничения (равновесие, прочность, объём)</a:t>
            </a:r>
          </a:p>
        </p:txBody>
      </p:sp>
      <p:sp>
        <p:nvSpPr>
          <p:cNvPr id="9" name="Rounded Rectangle 8"/>
          <p:cNvSpPr/>
          <p:nvPr/>
        </p:nvSpPr>
        <p:spPr>
          <a:xfrm>
            <a:off x="978408" y="3541013"/>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3250691"/>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Алгоритм численно ищет точку, удовлетворяющую уравнениям</a:t>
            </a:r>
          </a:p>
        </p:txBody>
      </p:sp>
      <p:sp>
        <p:nvSpPr>
          <p:cNvPr id="11" name="Rounded Rectangle 10"/>
          <p:cNvSpPr/>
          <p:nvPr/>
        </p:nvSpPr>
        <p:spPr>
          <a:xfrm>
            <a:off x="978408" y="4231386"/>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3941063"/>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Физический закон присутствует явно</a:t>
            </a:r>
          </a:p>
        </p:txBody>
      </p:sp>
      <p:sp>
        <p:nvSpPr>
          <p:cNvPr id="13" name="Rounded Rectangle 12"/>
          <p:cNvSpPr/>
          <p:nvPr/>
        </p:nvSpPr>
        <p:spPr>
          <a:xfrm>
            <a:off x="978408" y="4921757"/>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52728" y="4631436"/>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Тот же вход → тот же ответ · воспроизводимо и прослеживаемо</a:t>
            </a:r>
          </a:p>
        </p:txBody>
      </p:sp>
      <p:pic>
        <p:nvPicPr>
          <p:cNvPr id="15" name="Picture 14" descr="dices-teal.png"/>
          <p:cNvPicPr>
            <a:picLocks noChangeAspect="1"/>
          </p:cNvPicPr>
          <p:nvPr/>
        </p:nvPicPr>
        <p:blipFill>
          <a:blip r:embed="rId3"/>
          <a:stretch>
            <a:fillRect/>
          </a:stretch>
        </p:blipFill>
        <p:spPr>
          <a:xfrm>
            <a:off x="6560820" y="1783080"/>
            <a:ext cx="640080" cy="640080"/>
          </a:xfrm>
          <a:prstGeom prst="rect">
            <a:avLst/>
          </a:prstGeom>
        </p:spPr>
      </p:pic>
      <p:sp>
        <p:nvSpPr>
          <p:cNvPr id="16" name="TextBox 15"/>
          <p:cNvSpPr txBox="1"/>
          <p:nvPr/>
        </p:nvSpPr>
        <p:spPr>
          <a:xfrm>
            <a:off x="7402068" y="1801368"/>
            <a:ext cx="3845052" cy="713232"/>
          </a:xfrm>
          <a:prstGeom prst="rect">
            <a:avLst/>
          </a:prstGeom>
          <a:noFill/>
        </p:spPr>
        <p:txBody>
          <a:bodyPr wrap="square" lIns="0" rIns="0" tIns="0" bIns="0" anchor="ctr">
            <a:spAutoFit/>
          </a:bodyPr>
          <a:lstStyle/>
          <a:p>
            <a:pPr algn="l">
              <a:lnSpc>
                <a:spcPct val="110000"/>
              </a:lnSpc>
            </a:pPr>
            <a:r>
              <a:rPr sz="2000" b="1" i="0">
                <a:solidFill>
                  <a:srgbClr val="028090"/>
                </a:solidFill>
                <a:latin typeface="Arial"/>
              </a:rPr>
              <a:t>УГАДЫВАЕТ по примерам</a:t>
            </a:r>
          </a:p>
        </p:txBody>
      </p:sp>
      <p:sp>
        <p:nvSpPr>
          <p:cNvPr id="17" name="Rounded Rectangle 16"/>
          <p:cNvSpPr/>
          <p:nvPr/>
        </p:nvSpPr>
        <p:spPr>
          <a:xfrm>
            <a:off x="6579107" y="2850641"/>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3428" y="2560320"/>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Модель обучена на корпусе примеров</a:t>
            </a:r>
          </a:p>
        </p:txBody>
      </p:sp>
      <p:sp>
        <p:nvSpPr>
          <p:cNvPr id="19" name="Rounded Rectangle 18"/>
          <p:cNvSpPr/>
          <p:nvPr/>
        </p:nvSpPr>
        <p:spPr>
          <a:xfrm>
            <a:off x="6579107" y="3541013"/>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3428" y="3250691"/>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Воспроизводит «как обычно выглядит / звучит ответ»</a:t>
            </a:r>
          </a:p>
        </p:txBody>
      </p:sp>
      <p:sp>
        <p:nvSpPr>
          <p:cNvPr id="21" name="Rounded Rectangle 20"/>
          <p:cNvSpPr/>
          <p:nvPr/>
        </p:nvSpPr>
        <p:spPr>
          <a:xfrm>
            <a:off x="6579107" y="4231386"/>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3428" y="3941063"/>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Уравнения равновесия внутри нет</a:t>
            </a:r>
          </a:p>
        </p:txBody>
      </p:sp>
      <p:sp>
        <p:nvSpPr>
          <p:cNvPr id="23" name="Rounded Rectangle 22"/>
          <p:cNvSpPr/>
          <p:nvPr/>
        </p:nvSpPr>
        <p:spPr>
          <a:xfrm>
            <a:off x="6579107" y="4921757"/>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3428" y="4631436"/>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Ошибка не самодиагностируется</a:t>
            </a:r>
          </a:p>
        </p:txBody>
      </p:sp>
      <p:sp>
        <p:nvSpPr>
          <p:cNvPr id="25" name="Rounded Rectangle 24"/>
          <p:cNvSpPr/>
          <p:nvPr/>
        </p:nvSpPr>
        <p:spPr>
          <a:xfrm>
            <a:off x="502920" y="5715000"/>
            <a:ext cx="11201400" cy="713232"/>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769864"/>
            <a:ext cx="10744200" cy="603504"/>
          </a:xfrm>
          <a:prstGeom prst="rect">
            <a:avLst/>
          </a:prstGeom>
          <a:noFill/>
        </p:spPr>
        <p:txBody>
          <a:bodyPr wrap="square" lIns="0" rIns="0" tIns="0" bIns="0" anchor="ctr">
            <a:spAutoFit/>
          </a:bodyPr>
          <a:lstStyle/>
          <a:p>
            <a:pPr algn="ctr">
              <a:lnSpc>
                <a:spcPct val="122000"/>
              </a:lnSpc>
            </a:pPr>
            <a:r>
              <a:rPr sz="1900" b="1" i="0">
                <a:solidFill>
                  <a:srgbClr val="21295C"/>
                </a:solidFill>
                <a:latin typeface="Arial"/>
              </a:rPr>
              <a:t>Любой инструмент «с ИИ» сначала располагают на этой оси.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Шесть классов ИИ ложатся на одну ось: чем правее — тем меньше встроенных гарантий.</a:t>
            </a:r>
          </a:p>
        </p:txBody>
      </p:sp>
      <p:sp>
        <p:nvSpPr>
          <p:cNvPr id="3" name="Rounded Rectangle 2"/>
          <p:cNvSpPr/>
          <p:nvPr/>
        </p:nvSpPr>
        <p:spPr>
          <a:xfrm>
            <a:off x="502920" y="1298448"/>
            <a:ext cx="11201400" cy="512064"/>
          </a:xfrm>
          <a:prstGeom prst="roundRect">
            <a:avLst>
              <a:gd name="adj" fmla="val 1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mark-gold.png"/>
          <p:cNvPicPr>
            <a:picLocks noChangeAspect="1"/>
          </p:cNvPicPr>
          <p:nvPr/>
        </p:nvPicPr>
        <p:blipFill>
          <a:blip r:embed="rId2"/>
          <a:stretch>
            <a:fillRect/>
          </a:stretch>
        </p:blipFill>
        <p:spPr>
          <a:xfrm>
            <a:off x="704088" y="1389888"/>
            <a:ext cx="329184" cy="329184"/>
          </a:xfrm>
          <a:prstGeom prst="rect">
            <a:avLst/>
          </a:prstGeom>
        </p:spPr>
      </p:pic>
      <p:sp>
        <p:nvSpPr>
          <p:cNvPr id="5" name="TextBox 4"/>
          <p:cNvSpPr txBox="1"/>
          <p:nvPr/>
        </p:nvSpPr>
        <p:spPr>
          <a:xfrm>
            <a:off x="1161288" y="1298448"/>
            <a:ext cx="10332720" cy="512064"/>
          </a:xfrm>
          <a:prstGeom prst="rect">
            <a:avLst/>
          </a:prstGeom>
          <a:noFill/>
        </p:spPr>
        <p:txBody>
          <a:bodyPr wrap="square" lIns="0" rIns="0" tIns="0" bIns="0" anchor="ctr">
            <a:spAutoFit/>
          </a:bodyPr>
          <a:lstStyle/>
          <a:p>
            <a:pPr algn="l">
              <a:lnSpc>
                <a:spcPct val="110000"/>
              </a:lnSpc>
            </a:pPr>
            <a:r>
              <a:rPr sz="1400" b="1" i="0">
                <a:solidFill>
                  <a:srgbClr val="21295C"/>
                </a:solidFill>
                <a:latin typeface="Arial"/>
              </a:rPr>
              <a:t>Это справочный скелет — шесть классов не нужно заучивать сразу: они наполнятся смыслом по ходу лекции.</a:t>
            </a:r>
          </a:p>
        </p:txBody>
      </p:sp>
      <p:sp>
        <p:nvSpPr>
          <p:cNvPr id="6" name="Rounded Rectangle 5"/>
          <p:cNvSpPr/>
          <p:nvPr/>
        </p:nvSpPr>
        <p:spPr>
          <a:xfrm>
            <a:off x="502920" y="1956816"/>
            <a:ext cx="11201400" cy="3931920"/>
          </a:xfrm>
          <a:prstGeom prst="roundRect">
            <a:avLst>
              <a:gd name="adj" fmla="val 77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2779776"/>
            <a:ext cx="9372600" cy="5486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378440" y="2660904"/>
            <a:ext cx="502920" cy="29260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12848"/>
            <a:ext cx="365760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детерминированное</a:t>
            </a:r>
          </a:p>
        </p:txBody>
      </p:sp>
      <p:sp>
        <p:nvSpPr>
          <p:cNvPr id="10" name="TextBox 9"/>
          <p:cNvSpPr txBox="1"/>
          <p:nvPr/>
        </p:nvSpPr>
        <p:spPr>
          <a:xfrm>
            <a:off x="7132320" y="2212848"/>
            <a:ext cx="4114800" cy="365760"/>
          </a:xfrm>
          <a:prstGeom prst="rect">
            <a:avLst/>
          </a:prstGeom>
          <a:noFill/>
        </p:spPr>
        <p:txBody>
          <a:bodyPr wrap="square" lIns="0" rIns="0" tIns="0" bIns="0" anchor="t">
            <a:spAutoFit/>
          </a:bodyPr>
          <a:lstStyle/>
          <a:p>
            <a:pPr algn="r">
              <a:lnSpc>
                <a:spcPct val="115000"/>
              </a:lnSpc>
            </a:pPr>
            <a:r>
              <a:rPr sz="1400" b="1" i="0">
                <a:solidFill>
                  <a:srgbClr val="F0AB00"/>
                </a:solidFill>
                <a:latin typeface="Arial"/>
              </a:rPr>
              <a:t>вероятностное →  меньше гарантий</a:t>
            </a:r>
          </a:p>
        </p:txBody>
      </p:sp>
      <p:sp>
        <p:nvSpPr>
          <p:cNvPr id="11" name="Rounded Rectangle 10"/>
          <p:cNvSpPr/>
          <p:nvPr/>
        </p:nvSpPr>
        <p:spPr>
          <a:xfrm>
            <a:off x="1706118" y="2724912"/>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rs-blue.png"/>
          <p:cNvPicPr>
            <a:picLocks noChangeAspect="1"/>
          </p:cNvPicPr>
          <p:nvPr/>
        </p:nvPicPr>
        <p:blipFill>
          <a:blip r:embed="rId3"/>
          <a:stretch>
            <a:fillRect/>
          </a:stretch>
        </p:blipFill>
        <p:spPr>
          <a:xfrm>
            <a:off x="1523238" y="3163824"/>
            <a:ext cx="512064" cy="512064"/>
          </a:xfrm>
          <a:prstGeom prst="rect">
            <a:avLst/>
          </a:prstGeom>
        </p:spPr>
      </p:pic>
      <p:sp>
        <p:nvSpPr>
          <p:cNvPr id="13" name="TextBox 12"/>
          <p:cNvSpPr txBox="1"/>
          <p:nvPr/>
        </p:nvSpPr>
        <p:spPr>
          <a:xfrm>
            <a:off x="941832" y="3749039"/>
            <a:ext cx="1674876" cy="868680"/>
          </a:xfrm>
          <a:prstGeom prst="rect">
            <a:avLst/>
          </a:prstGeom>
          <a:noFill/>
        </p:spPr>
        <p:txBody>
          <a:bodyPr wrap="square" lIns="0" rIns="0" tIns="0" bIns="0" anchor="t">
            <a:spAutoFit/>
          </a:bodyPr>
          <a:lstStyle/>
          <a:p>
            <a:pPr algn="ctr">
              <a:lnSpc>
                <a:spcPct val="108000"/>
              </a:lnSpc>
            </a:pPr>
            <a:r>
              <a:rPr sz="1300" b="1" i="0">
                <a:solidFill>
                  <a:srgbClr val="065A82"/>
                </a:solidFill>
                <a:latin typeface="Arial"/>
              </a:rPr>
              <a:t>1. Оптим. ML /
топологическая
оптимизация</a:t>
            </a:r>
          </a:p>
        </p:txBody>
      </p:sp>
      <p:sp>
        <p:nvSpPr>
          <p:cNvPr id="14" name="TextBox 13"/>
          <p:cNvSpPr txBox="1"/>
          <p:nvPr/>
        </p:nvSpPr>
        <p:spPr>
          <a:xfrm>
            <a:off x="941832"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двигает плотность материала,
мин. массу при σ ≤ [σ]</a:t>
            </a:r>
          </a:p>
        </p:txBody>
      </p:sp>
      <p:sp>
        <p:nvSpPr>
          <p:cNvPr id="15" name="Rounded Rectangle 14"/>
          <p:cNvSpPr/>
          <p:nvPr/>
        </p:nvSpPr>
        <p:spPr>
          <a:xfrm>
            <a:off x="3435858" y="2724912"/>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it-branch-blue.png"/>
          <p:cNvPicPr>
            <a:picLocks noChangeAspect="1"/>
          </p:cNvPicPr>
          <p:nvPr/>
        </p:nvPicPr>
        <p:blipFill>
          <a:blip r:embed="rId4"/>
          <a:stretch>
            <a:fillRect/>
          </a:stretch>
        </p:blipFill>
        <p:spPr>
          <a:xfrm>
            <a:off x="3252978" y="3163824"/>
            <a:ext cx="512064" cy="512064"/>
          </a:xfrm>
          <a:prstGeom prst="rect">
            <a:avLst/>
          </a:prstGeom>
        </p:spPr>
      </p:pic>
      <p:sp>
        <p:nvSpPr>
          <p:cNvPr id="17" name="TextBox 16"/>
          <p:cNvSpPr txBox="1"/>
          <p:nvPr/>
        </p:nvSpPr>
        <p:spPr>
          <a:xfrm>
            <a:off x="2671572" y="3749039"/>
            <a:ext cx="1674876" cy="868680"/>
          </a:xfrm>
          <a:prstGeom prst="rect">
            <a:avLst/>
          </a:prstGeom>
          <a:noFill/>
        </p:spPr>
        <p:txBody>
          <a:bodyPr wrap="square" lIns="0" rIns="0" tIns="0" bIns="0" anchor="t">
            <a:spAutoFit/>
          </a:bodyPr>
          <a:lstStyle/>
          <a:p>
            <a:pPr algn="ctr">
              <a:lnSpc>
                <a:spcPct val="108000"/>
              </a:lnSpc>
            </a:pPr>
            <a:r>
              <a:rPr sz="1300" b="1" i="0">
                <a:solidFill>
                  <a:srgbClr val="065A82"/>
                </a:solidFill>
                <a:latin typeface="Arial"/>
              </a:rPr>
              <a:t>2. Эволюционные
/ GA</a:t>
            </a:r>
          </a:p>
        </p:txBody>
      </p:sp>
      <p:sp>
        <p:nvSpPr>
          <p:cNvPr id="18" name="TextBox 17"/>
          <p:cNvSpPr txBox="1"/>
          <p:nvPr/>
        </p:nvSpPr>
        <p:spPr>
          <a:xfrm>
            <a:off x="2671572"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мутация и отбор по
заданной целевой функции</a:t>
            </a:r>
          </a:p>
        </p:txBody>
      </p:sp>
      <p:sp>
        <p:nvSpPr>
          <p:cNvPr id="19" name="Rounded Rectangle 18"/>
          <p:cNvSpPr/>
          <p:nvPr/>
        </p:nvSpPr>
        <p:spPr>
          <a:xfrm>
            <a:off x="5165597" y="2724912"/>
            <a:ext cx="164592" cy="1645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auge-blue.png"/>
          <p:cNvPicPr>
            <a:picLocks noChangeAspect="1"/>
          </p:cNvPicPr>
          <p:nvPr/>
        </p:nvPicPr>
        <p:blipFill>
          <a:blip r:embed="rId5"/>
          <a:stretch>
            <a:fillRect/>
          </a:stretch>
        </p:blipFill>
        <p:spPr>
          <a:xfrm>
            <a:off x="4982717" y="3163824"/>
            <a:ext cx="512064" cy="512064"/>
          </a:xfrm>
          <a:prstGeom prst="rect">
            <a:avLst/>
          </a:prstGeom>
        </p:spPr>
      </p:pic>
      <p:sp>
        <p:nvSpPr>
          <p:cNvPr id="21" name="TextBox 20"/>
          <p:cNvSpPr txBox="1"/>
          <p:nvPr/>
        </p:nvSpPr>
        <p:spPr>
          <a:xfrm>
            <a:off x="4401312" y="3749039"/>
            <a:ext cx="1674876" cy="868680"/>
          </a:xfrm>
          <a:prstGeom prst="rect">
            <a:avLst/>
          </a:prstGeom>
          <a:noFill/>
        </p:spPr>
        <p:txBody>
          <a:bodyPr wrap="square" lIns="0" rIns="0" tIns="0" bIns="0" anchor="t">
            <a:spAutoFit/>
          </a:bodyPr>
          <a:lstStyle/>
          <a:p>
            <a:pPr algn="ctr">
              <a:lnSpc>
                <a:spcPct val="108000"/>
              </a:lnSpc>
            </a:pPr>
            <a:r>
              <a:rPr sz="1300" b="1" i="0">
                <a:solidFill>
                  <a:srgbClr val="1C7293"/>
                </a:solidFill>
                <a:latin typeface="Arial"/>
              </a:rPr>
              <a:t>3. Суррогат
/ PINN</a:t>
            </a:r>
          </a:p>
        </p:txBody>
      </p:sp>
      <p:sp>
        <p:nvSpPr>
          <p:cNvPr id="22" name="TextBox 21"/>
          <p:cNvSpPr txBox="1"/>
          <p:nvPr/>
        </p:nvSpPr>
        <p:spPr>
          <a:xfrm>
            <a:off x="4401312"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нейросеть выучила вход→
выход тысяч расчётов</a:t>
            </a:r>
          </a:p>
        </p:txBody>
      </p:sp>
      <p:sp>
        <p:nvSpPr>
          <p:cNvPr id="23" name="Rounded Rectangle 22"/>
          <p:cNvSpPr/>
          <p:nvPr/>
        </p:nvSpPr>
        <p:spPr>
          <a:xfrm>
            <a:off x="6895338" y="2724912"/>
            <a:ext cx="164592" cy="1645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can-eye-blue.png"/>
          <p:cNvPicPr>
            <a:picLocks noChangeAspect="1"/>
          </p:cNvPicPr>
          <p:nvPr/>
        </p:nvPicPr>
        <p:blipFill>
          <a:blip r:embed="rId6"/>
          <a:stretch>
            <a:fillRect/>
          </a:stretch>
        </p:blipFill>
        <p:spPr>
          <a:xfrm>
            <a:off x="6712458" y="3163824"/>
            <a:ext cx="512064" cy="512064"/>
          </a:xfrm>
          <a:prstGeom prst="rect">
            <a:avLst/>
          </a:prstGeom>
        </p:spPr>
      </p:pic>
      <p:sp>
        <p:nvSpPr>
          <p:cNvPr id="25" name="TextBox 24"/>
          <p:cNvSpPr txBox="1"/>
          <p:nvPr/>
        </p:nvSpPr>
        <p:spPr>
          <a:xfrm>
            <a:off x="6131052" y="3749039"/>
            <a:ext cx="1674876" cy="868680"/>
          </a:xfrm>
          <a:prstGeom prst="rect">
            <a:avLst/>
          </a:prstGeom>
          <a:noFill/>
        </p:spPr>
        <p:txBody>
          <a:bodyPr wrap="square" lIns="0" rIns="0" tIns="0" bIns="0" anchor="t">
            <a:spAutoFit/>
          </a:bodyPr>
          <a:lstStyle/>
          <a:p>
            <a:pPr algn="ctr">
              <a:lnSpc>
                <a:spcPct val="108000"/>
              </a:lnSpc>
            </a:pPr>
            <a:r>
              <a:rPr sz="1300" b="1" i="0">
                <a:solidFill>
                  <a:srgbClr val="1C7293"/>
                </a:solidFill>
                <a:latin typeface="Arial"/>
              </a:rPr>
              <a:t>4. Computer
Vision</a:t>
            </a:r>
          </a:p>
        </p:txBody>
      </p:sp>
      <p:sp>
        <p:nvSpPr>
          <p:cNvPr id="26" name="TextBox 25"/>
          <p:cNvSpPr txBox="1"/>
          <p:nvPr/>
        </p:nvSpPr>
        <p:spPr>
          <a:xfrm>
            <a:off x="6131052"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вероятностный
классификатор изображений</a:t>
            </a:r>
          </a:p>
        </p:txBody>
      </p:sp>
      <p:sp>
        <p:nvSpPr>
          <p:cNvPr id="27" name="Rounded Rectangle 26"/>
          <p:cNvSpPr/>
          <p:nvPr/>
        </p:nvSpPr>
        <p:spPr>
          <a:xfrm>
            <a:off x="8625078" y="2724912"/>
            <a:ext cx="164592" cy="16459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message-square-blue.png"/>
          <p:cNvPicPr>
            <a:picLocks noChangeAspect="1"/>
          </p:cNvPicPr>
          <p:nvPr/>
        </p:nvPicPr>
        <p:blipFill>
          <a:blip r:embed="rId7"/>
          <a:stretch>
            <a:fillRect/>
          </a:stretch>
        </p:blipFill>
        <p:spPr>
          <a:xfrm>
            <a:off x="8442198" y="3163824"/>
            <a:ext cx="512064" cy="512064"/>
          </a:xfrm>
          <a:prstGeom prst="rect">
            <a:avLst/>
          </a:prstGeom>
        </p:spPr>
      </p:pic>
      <p:sp>
        <p:nvSpPr>
          <p:cNvPr id="29" name="TextBox 28"/>
          <p:cNvSpPr txBox="1"/>
          <p:nvPr/>
        </p:nvSpPr>
        <p:spPr>
          <a:xfrm>
            <a:off x="7860791" y="3749039"/>
            <a:ext cx="1674876" cy="868680"/>
          </a:xfrm>
          <a:prstGeom prst="rect">
            <a:avLst/>
          </a:prstGeom>
          <a:noFill/>
        </p:spPr>
        <p:txBody>
          <a:bodyPr wrap="square" lIns="0" rIns="0" tIns="0" bIns="0" anchor="t">
            <a:spAutoFit/>
          </a:bodyPr>
          <a:lstStyle/>
          <a:p>
            <a:pPr algn="ctr">
              <a:lnSpc>
                <a:spcPct val="108000"/>
              </a:lnSpc>
            </a:pPr>
            <a:r>
              <a:rPr sz="1300" b="1" i="0">
                <a:solidFill>
                  <a:srgbClr val="028090"/>
                </a:solidFill>
                <a:latin typeface="Arial"/>
              </a:rPr>
              <a:t>5. LLM-
ассистент</a:t>
            </a:r>
          </a:p>
        </p:txBody>
      </p:sp>
      <p:sp>
        <p:nvSpPr>
          <p:cNvPr id="30" name="TextBox 29"/>
          <p:cNvSpPr txBox="1"/>
          <p:nvPr/>
        </p:nvSpPr>
        <p:spPr>
          <a:xfrm>
            <a:off x="7860791"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текстовые черновики,
объяснение пунктов норм</a:t>
            </a:r>
          </a:p>
        </p:txBody>
      </p:sp>
      <p:sp>
        <p:nvSpPr>
          <p:cNvPr id="31" name="Rounded Rectangle 30"/>
          <p:cNvSpPr/>
          <p:nvPr/>
        </p:nvSpPr>
        <p:spPr>
          <a:xfrm>
            <a:off x="10354817" y="2724912"/>
            <a:ext cx="164592" cy="16459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box-blue.png"/>
          <p:cNvPicPr>
            <a:picLocks noChangeAspect="1"/>
          </p:cNvPicPr>
          <p:nvPr/>
        </p:nvPicPr>
        <p:blipFill>
          <a:blip r:embed="rId8"/>
          <a:stretch>
            <a:fillRect/>
          </a:stretch>
        </p:blipFill>
        <p:spPr>
          <a:xfrm>
            <a:off x="10171938" y="3163824"/>
            <a:ext cx="512064" cy="512064"/>
          </a:xfrm>
          <a:prstGeom prst="rect">
            <a:avLst/>
          </a:prstGeom>
        </p:spPr>
      </p:pic>
      <p:sp>
        <p:nvSpPr>
          <p:cNvPr id="33" name="TextBox 32"/>
          <p:cNvSpPr txBox="1"/>
          <p:nvPr/>
        </p:nvSpPr>
        <p:spPr>
          <a:xfrm>
            <a:off x="9590531" y="3749039"/>
            <a:ext cx="1674876" cy="868680"/>
          </a:xfrm>
          <a:prstGeom prst="rect">
            <a:avLst/>
          </a:prstGeom>
          <a:noFill/>
        </p:spPr>
        <p:txBody>
          <a:bodyPr wrap="square" lIns="0" rIns="0" tIns="0" bIns="0" anchor="t">
            <a:spAutoFit/>
          </a:bodyPr>
          <a:lstStyle/>
          <a:p>
            <a:pPr algn="ctr">
              <a:lnSpc>
                <a:spcPct val="108000"/>
              </a:lnSpc>
            </a:pPr>
            <a:r>
              <a:rPr sz="1300" b="1" i="0">
                <a:solidFill>
                  <a:srgbClr val="028090"/>
                </a:solidFill>
                <a:latin typeface="Arial"/>
              </a:rPr>
              <a:t>6. Генеративный AI
геометрии</a:t>
            </a:r>
          </a:p>
        </p:txBody>
      </p:sp>
      <p:sp>
        <p:nvSpPr>
          <p:cNvPr id="34" name="TextBox 33"/>
          <p:cNvSpPr txBox="1"/>
          <p:nvPr/>
        </p:nvSpPr>
        <p:spPr>
          <a:xfrm>
            <a:off x="9590531" y="4645152"/>
            <a:ext cx="1674876" cy="960120"/>
          </a:xfrm>
          <a:prstGeom prst="rect">
            <a:avLst/>
          </a:prstGeom>
          <a:noFill/>
        </p:spPr>
        <p:txBody>
          <a:bodyPr wrap="square" lIns="0" rIns="0" tIns="0" bIns="0" anchor="t">
            <a:spAutoFit/>
          </a:bodyPr>
          <a:lstStyle/>
          <a:p>
            <a:pPr algn="ctr">
              <a:lnSpc>
                <a:spcPct val="116000"/>
              </a:lnSpc>
            </a:pPr>
            <a:r>
              <a:rPr sz="1200" b="0" i="0">
                <a:solidFill>
                  <a:srgbClr val="21295C"/>
                </a:solidFill>
                <a:latin typeface="Arial"/>
              </a:rPr>
              <a:t>порождает 3D без
физических гарантий</a:t>
            </a:r>
          </a:p>
        </p:txBody>
      </p:sp>
      <p:sp>
        <p:nvSpPr>
          <p:cNvPr id="35" name="TextBox 34"/>
          <p:cNvSpPr txBox="1"/>
          <p:nvPr/>
        </p:nvSpPr>
        <p:spPr>
          <a:xfrm>
            <a:off x="914400" y="5468112"/>
            <a:ext cx="10378440" cy="347472"/>
          </a:xfrm>
          <a:prstGeom prst="rect">
            <a:avLst/>
          </a:prstGeom>
          <a:noFill/>
        </p:spPr>
        <p:txBody>
          <a:bodyPr wrap="square" lIns="0" rIns="0" tIns="0" bIns="0" anchor="t">
            <a:spAutoFit/>
          </a:bodyPr>
          <a:lstStyle/>
          <a:p>
            <a:pPr algn="ctr">
              <a:lnSpc>
                <a:spcPct val="115000"/>
              </a:lnSpc>
            </a:pPr>
            <a:r>
              <a:rPr sz="1250" b="0" i="1">
                <a:solidFill>
                  <a:srgbClr val="6B7685"/>
                </a:solidFill>
                <a:latin typeface="Arial"/>
              </a:rPr>
              <a:t>классы 1–2 — оптимизация заданной функции · 3 — аппроксимация решателя · 4–6 — вероятностные модели</a:t>
            </a:r>
          </a:p>
        </p:txBody>
      </p:sp>
      <p:sp>
        <p:nvSpPr>
          <p:cNvPr id="36" name="TextBox 35"/>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Полная атрибутивная матрица — в финале лекции, когда каждая ячейка наполнится смыслом.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Оптимизационный ML и суррогат/PINN — узнать по границе.</a:t>
            </a:r>
          </a:p>
        </p:txBody>
      </p:sp>
      <p:sp>
        <p:nvSpPr>
          <p:cNvPr id="3" name="Rounded Rectangle 2"/>
          <p:cNvSpPr/>
          <p:nvPr/>
        </p:nvSpPr>
        <p:spPr>
          <a:xfrm>
            <a:off x="502920" y="1417320"/>
            <a:ext cx="11201400" cy="4434840"/>
          </a:xfrm>
          <a:prstGeom prst="roundRect">
            <a:avLst>
              <a:gd name="adj" fmla="val 68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91839" y="1618488"/>
            <a:ext cx="2602992" cy="475488"/>
          </a:xfrm>
          <a:prstGeom prst="roundRect">
            <a:avLst>
              <a:gd name="adj" fmla="val 1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37559" y="1618488"/>
            <a:ext cx="2511552" cy="475488"/>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Когда ДА</a:t>
            </a:r>
          </a:p>
        </p:txBody>
      </p:sp>
      <p:sp>
        <p:nvSpPr>
          <p:cNvPr id="6" name="Rounded Rectangle 5"/>
          <p:cNvSpPr/>
          <p:nvPr/>
        </p:nvSpPr>
        <p:spPr>
          <a:xfrm>
            <a:off x="6004560" y="1618488"/>
            <a:ext cx="2602992" cy="475488"/>
          </a:xfrm>
          <a:prstGeom prst="roundRect">
            <a:avLst>
              <a:gd name="adj" fmla="val 16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50280" y="1618488"/>
            <a:ext cx="2511552" cy="47548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Когда НЕТ</a:t>
            </a:r>
          </a:p>
        </p:txBody>
      </p:sp>
      <p:sp>
        <p:nvSpPr>
          <p:cNvPr id="8" name="Rounded Rectangle 7"/>
          <p:cNvSpPr/>
          <p:nvPr/>
        </p:nvSpPr>
        <p:spPr>
          <a:xfrm>
            <a:off x="8717280" y="1618488"/>
            <a:ext cx="2602992" cy="475488"/>
          </a:xfrm>
          <a:prstGeom prst="roundRect">
            <a:avLst>
              <a:gd name="adj" fmla="val 1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0" y="1618488"/>
            <a:ext cx="2511552" cy="475488"/>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Классическая альтернатива</a:t>
            </a:r>
          </a:p>
        </p:txBody>
      </p:sp>
      <p:sp>
        <p:nvSpPr>
          <p:cNvPr id="10" name="Rounded Rectangle 9"/>
          <p:cNvSpPr/>
          <p:nvPr/>
        </p:nvSpPr>
        <p:spPr>
          <a:xfrm>
            <a:off x="731520" y="2304288"/>
            <a:ext cx="2514600" cy="1568195"/>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rs-blue.png"/>
          <p:cNvPicPr>
            <a:picLocks noChangeAspect="1"/>
          </p:cNvPicPr>
          <p:nvPr/>
        </p:nvPicPr>
        <p:blipFill>
          <a:blip r:embed="rId2"/>
          <a:stretch>
            <a:fillRect/>
          </a:stretch>
        </p:blipFill>
        <p:spPr>
          <a:xfrm>
            <a:off x="886968" y="2850642"/>
            <a:ext cx="457200" cy="457200"/>
          </a:xfrm>
          <a:prstGeom prst="rect">
            <a:avLst/>
          </a:prstGeom>
        </p:spPr>
      </p:pic>
      <p:sp>
        <p:nvSpPr>
          <p:cNvPr id="12" name="TextBox 11"/>
          <p:cNvSpPr txBox="1"/>
          <p:nvPr/>
        </p:nvSpPr>
        <p:spPr>
          <a:xfrm>
            <a:off x="1417320" y="2304288"/>
            <a:ext cx="1801368" cy="1568195"/>
          </a:xfrm>
          <a:prstGeom prst="rect">
            <a:avLst/>
          </a:prstGeom>
          <a:noFill/>
        </p:spPr>
        <p:txBody>
          <a:bodyPr wrap="square" lIns="0" rIns="0" tIns="0" bIns="0" anchor="ctr">
            <a:spAutoFit/>
          </a:bodyPr>
          <a:lstStyle/>
          <a:p>
            <a:pPr algn="l">
              <a:lnSpc>
                <a:spcPct val="112000"/>
              </a:lnSpc>
            </a:pPr>
            <a:r>
              <a:rPr sz="1500" b="1" i="0">
                <a:solidFill>
                  <a:srgbClr val="065A82"/>
                </a:solidFill>
                <a:latin typeface="Arial"/>
              </a:rPr>
              <a:t>Оптимизационный ML / топологическая оптимизация</a:t>
            </a:r>
          </a:p>
        </p:txBody>
      </p:sp>
      <p:sp>
        <p:nvSpPr>
          <p:cNvPr id="13" name="Rounded Rectangle 12"/>
          <p:cNvSpPr/>
          <p:nvPr/>
        </p:nvSpPr>
        <p:spPr>
          <a:xfrm>
            <a:off x="3291839" y="2304288"/>
            <a:ext cx="2602992" cy="1568195"/>
          </a:xfrm>
          <a:prstGeom prst="roundRect">
            <a:avLst>
              <a:gd name="adj" fmla="val 1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2304288"/>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снижение массы при заданной прочности; детали под аддитив</a:t>
            </a:r>
          </a:p>
        </p:txBody>
      </p:sp>
      <p:sp>
        <p:nvSpPr>
          <p:cNvPr id="15" name="Rounded Rectangle 14"/>
          <p:cNvSpPr/>
          <p:nvPr/>
        </p:nvSpPr>
        <p:spPr>
          <a:xfrm>
            <a:off x="6004560" y="2304288"/>
            <a:ext cx="2602992" cy="1568195"/>
          </a:xfrm>
          <a:prstGeom prst="roundRect">
            <a:avLst>
              <a:gd name="adj" fmla="val 10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0864" y="2304288"/>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ограничения заданы неполно — оптимум под неверную постановку</a:t>
            </a:r>
          </a:p>
        </p:txBody>
      </p:sp>
      <p:sp>
        <p:nvSpPr>
          <p:cNvPr id="17" name="Rounded Rectangle 16"/>
          <p:cNvSpPr/>
          <p:nvPr/>
        </p:nvSpPr>
        <p:spPr>
          <a:xfrm>
            <a:off x="8717280" y="2304288"/>
            <a:ext cx="2602992" cy="1568195"/>
          </a:xfrm>
          <a:prstGeom prst="roundRect">
            <a:avLst>
              <a:gd name="adj" fmla="val 1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3584" y="2304288"/>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параметрическая оптимизация + расчёт по нормам</a:t>
            </a:r>
          </a:p>
        </p:txBody>
      </p:sp>
      <p:sp>
        <p:nvSpPr>
          <p:cNvPr id="19" name="Rounded Rectangle 18"/>
          <p:cNvSpPr/>
          <p:nvPr/>
        </p:nvSpPr>
        <p:spPr>
          <a:xfrm>
            <a:off x="731520" y="4000500"/>
            <a:ext cx="2514600" cy="1568195"/>
          </a:xfrm>
          <a:prstGeom prst="roundRect">
            <a:avLst>
              <a:gd name="adj" fmla="val 1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auge-blue.png"/>
          <p:cNvPicPr>
            <a:picLocks noChangeAspect="1"/>
          </p:cNvPicPr>
          <p:nvPr/>
        </p:nvPicPr>
        <p:blipFill>
          <a:blip r:embed="rId3"/>
          <a:stretch>
            <a:fillRect/>
          </a:stretch>
        </p:blipFill>
        <p:spPr>
          <a:xfrm>
            <a:off x="886968" y="4546854"/>
            <a:ext cx="457200" cy="457200"/>
          </a:xfrm>
          <a:prstGeom prst="rect">
            <a:avLst/>
          </a:prstGeom>
        </p:spPr>
      </p:pic>
      <p:sp>
        <p:nvSpPr>
          <p:cNvPr id="21" name="TextBox 20"/>
          <p:cNvSpPr txBox="1"/>
          <p:nvPr/>
        </p:nvSpPr>
        <p:spPr>
          <a:xfrm>
            <a:off x="1417320" y="4000500"/>
            <a:ext cx="1801368" cy="1568195"/>
          </a:xfrm>
          <a:prstGeom prst="rect">
            <a:avLst/>
          </a:prstGeom>
          <a:noFill/>
        </p:spPr>
        <p:txBody>
          <a:bodyPr wrap="square" lIns="0" rIns="0" tIns="0" bIns="0" anchor="ctr">
            <a:spAutoFit/>
          </a:bodyPr>
          <a:lstStyle/>
          <a:p>
            <a:pPr algn="l">
              <a:lnSpc>
                <a:spcPct val="112000"/>
              </a:lnSpc>
            </a:pPr>
            <a:r>
              <a:rPr sz="1500" b="1" i="0">
                <a:solidFill>
                  <a:srgbClr val="1C7293"/>
                </a:solidFill>
                <a:latin typeface="Arial"/>
              </a:rPr>
              <a:t>Суррогат / PINN</a:t>
            </a:r>
          </a:p>
        </p:txBody>
      </p:sp>
      <p:sp>
        <p:nvSpPr>
          <p:cNvPr id="22" name="Rounded Rectangle 21"/>
          <p:cNvSpPr/>
          <p:nvPr/>
        </p:nvSpPr>
        <p:spPr>
          <a:xfrm>
            <a:off x="3291839" y="4000500"/>
            <a:ext cx="2602992" cy="1568195"/>
          </a:xfrm>
          <a:prstGeom prst="roundRect">
            <a:avLst>
              <a:gd name="adj" fmla="val 1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38144" y="4000500"/>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быстрый прогон многих вариантов внутри обучающей области</a:t>
            </a:r>
          </a:p>
        </p:txBody>
      </p:sp>
      <p:sp>
        <p:nvSpPr>
          <p:cNvPr id="24" name="Rounded Rectangle 23"/>
          <p:cNvSpPr/>
          <p:nvPr/>
        </p:nvSpPr>
        <p:spPr>
          <a:xfrm>
            <a:off x="6004560" y="4000500"/>
            <a:ext cx="2602992" cy="1568195"/>
          </a:xfrm>
          <a:prstGeom prst="roundRect">
            <a:avLst>
              <a:gd name="adj" fmla="val 10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50864" y="4000500"/>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экстраполяция за обучение, разрывы полей, сертификация</a:t>
            </a:r>
          </a:p>
        </p:txBody>
      </p:sp>
      <p:sp>
        <p:nvSpPr>
          <p:cNvPr id="26" name="Rounded Rectangle 25"/>
          <p:cNvSpPr/>
          <p:nvPr/>
        </p:nvSpPr>
        <p:spPr>
          <a:xfrm>
            <a:off x="8717280" y="4000500"/>
            <a:ext cx="2602992" cy="1568195"/>
          </a:xfrm>
          <a:prstGeom prst="roundRect">
            <a:avLst>
              <a:gd name="adj" fmla="val 1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3584" y="4000500"/>
            <a:ext cx="2328672" cy="1568195"/>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полный МКЭ / CFD с проверкой сходимости сетки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300" b="1" i="0">
                <a:solidFill>
                  <a:srgbClr val="21295C"/>
                </a:solidFill>
                <a:latin typeface="Arial"/>
              </a:rPr>
              <a:t>Генеративный AI/LLM, Computer Vision и эволюционные/GA — по одному примеру и границе.</a:t>
            </a:r>
          </a:p>
        </p:txBody>
      </p:sp>
      <p:sp>
        <p:nvSpPr>
          <p:cNvPr id="3" name="Rounded Rectangle 2"/>
          <p:cNvSpPr/>
          <p:nvPr/>
        </p:nvSpPr>
        <p:spPr>
          <a:xfrm>
            <a:off x="502920" y="1417320"/>
            <a:ext cx="3703320" cy="4434840"/>
          </a:xfrm>
          <a:prstGeom prst="roundRect">
            <a:avLst>
              <a:gd name="adj" fmla="val 8230"/>
            </a:avLst>
          </a:prstGeom>
          <a:solidFill>
            <a:srgbClr val="F4F7FA"/>
          </a:solidFill>
          <a:ln w="228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7512" y="1581912"/>
            <a:ext cx="3374136" cy="896112"/>
          </a:xfrm>
          <a:prstGeom prst="roundRect">
            <a:avLst>
              <a:gd name="adj" fmla="val 14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ssage-square-white.png"/>
          <p:cNvPicPr>
            <a:picLocks noChangeAspect="1"/>
          </p:cNvPicPr>
          <p:nvPr/>
        </p:nvPicPr>
        <p:blipFill>
          <a:blip r:embed="rId2"/>
          <a:stretch>
            <a:fillRect/>
          </a:stretch>
        </p:blipFill>
        <p:spPr>
          <a:xfrm>
            <a:off x="813816" y="1764792"/>
            <a:ext cx="548640" cy="548640"/>
          </a:xfrm>
          <a:prstGeom prst="rect">
            <a:avLst/>
          </a:prstGeom>
        </p:spPr>
      </p:pic>
      <p:sp>
        <p:nvSpPr>
          <p:cNvPr id="6" name="TextBox 5"/>
          <p:cNvSpPr txBox="1"/>
          <p:nvPr/>
        </p:nvSpPr>
        <p:spPr>
          <a:xfrm>
            <a:off x="1453896" y="1600200"/>
            <a:ext cx="2587752" cy="859536"/>
          </a:xfrm>
          <a:prstGeom prst="rect">
            <a:avLst/>
          </a:prstGeom>
          <a:noFill/>
        </p:spPr>
        <p:txBody>
          <a:bodyPr wrap="square" lIns="0" rIns="0" tIns="0" bIns="0" anchor="ctr">
            <a:spAutoFit/>
          </a:bodyPr>
          <a:lstStyle/>
          <a:p>
            <a:pPr algn="l">
              <a:lnSpc>
                <a:spcPct val="110000"/>
              </a:lnSpc>
            </a:pPr>
            <a:r>
              <a:rPr sz="1500" b="1" i="0">
                <a:solidFill>
                  <a:srgbClr val="FFFFFF"/>
                </a:solidFill>
                <a:latin typeface="Arial"/>
              </a:rPr>
              <a:t>Генеративный AI / LLM-ассистент</a:t>
            </a:r>
          </a:p>
        </p:txBody>
      </p:sp>
      <p:sp>
        <p:nvSpPr>
          <p:cNvPr id="7" name="Rounded Rectangle 6"/>
          <p:cNvSpPr/>
          <p:nvPr/>
        </p:nvSpPr>
        <p:spPr>
          <a:xfrm>
            <a:off x="667512" y="2624328"/>
            <a:ext cx="3374136" cy="905255"/>
          </a:xfrm>
          <a:prstGeom prst="roundRect">
            <a:avLst>
              <a:gd name="adj" fmla="val 7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706624"/>
            <a:ext cx="3136391"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  когда ДА</a:t>
            </a:r>
          </a:p>
        </p:txBody>
      </p:sp>
      <p:sp>
        <p:nvSpPr>
          <p:cNvPr id="9" name="TextBox 8"/>
          <p:cNvSpPr txBox="1"/>
          <p:nvPr/>
        </p:nvSpPr>
        <p:spPr>
          <a:xfrm>
            <a:off x="813816" y="2990088"/>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концепт-скетч, мудборд; черновик текста под проверку</a:t>
            </a:r>
          </a:p>
        </p:txBody>
      </p:sp>
      <p:sp>
        <p:nvSpPr>
          <p:cNvPr id="10" name="Rounded Rectangle 9"/>
          <p:cNvSpPr/>
          <p:nvPr/>
        </p:nvSpPr>
        <p:spPr>
          <a:xfrm>
            <a:off x="667512" y="3639311"/>
            <a:ext cx="3374136" cy="905255"/>
          </a:xfrm>
          <a:prstGeom prst="roundRect">
            <a:avLst>
              <a:gd name="adj" fmla="val 7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3721607"/>
            <a:ext cx="3136391" cy="274320"/>
          </a:xfrm>
          <a:prstGeom prst="rect">
            <a:avLst/>
          </a:prstGeom>
          <a:noFill/>
        </p:spPr>
        <p:txBody>
          <a:bodyPr wrap="square" lIns="0" rIns="0" tIns="0" bIns="0" anchor="t">
            <a:spAutoFit/>
          </a:bodyPr>
          <a:lstStyle/>
          <a:p>
            <a:pPr algn="l">
              <a:lnSpc>
                <a:spcPct val="115000"/>
              </a:lnSpc>
            </a:pPr>
            <a:r>
              <a:rPr sz="1250" b="1" i="0">
                <a:solidFill>
                  <a:srgbClr val="1C7293"/>
                </a:solidFill>
                <a:latin typeface="Arial"/>
              </a:rPr>
              <a:t>✗  когда НЕТ</a:t>
            </a:r>
          </a:p>
        </p:txBody>
      </p:sp>
      <p:sp>
        <p:nvSpPr>
          <p:cNvPr id="12" name="TextBox 11"/>
          <p:cNvSpPr txBox="1"/>
          <p:nvPr/>
        </p:nvSpPr>
        <p:spPr>
          <a:xfrm>
            <a:off x="813816" y="4005072"/>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деталь в расчёт/производство без переработки; истина по нормам</a:t>
            </a:r>
          </a:p>
        </p:txBody>
      </p:sp>
      <p:sp>
        <p:nvSpPr>
          <p:cNvPr id="13" name="Rounded Rectangle 12"/>
          <p:cNvSpPr/>
          <p:nvPr/>
        </p:nvSpPr>
        <p:spPr>
          <a:xfrm>
            <a:off x="667512" y="4654295"/>
            <a:ext cx="3374136" cy="905255"/>
          </a:xfrm>
          <a:prstGeom prst="roundRect">
            <a:avLst>
              <a:gd name="adj" fmla="val 7000"/>
            </a:avLst>
          </a:prstGeom>
          <a:solidFill>
            <a:srgbClr val="E6F2F4"/>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736591"/>
            <a:ext cx="3136391"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  альтернатива</a:t>
            </a:r>
          </a:p>
        </p:txBody>
      </p:sp>
      <p:sp>
        <p:nvSpPr>
          <p:cNvPr id="15" name="TextBox 14"/>
          <p:cNvSpPr txBox="1"/>
          <p:nvPr/>
        </p:nvSpPr>
        <p:spPr>
          <a:xfrm>
            <a:off x="813816" y="5020055"/>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параметрика + детерм. топ-оптимизация + КЭ; норматив</a:t>
            </a:r>
          </a:p>
        </p:txBody>
      </p:sp>
      <p:sp>
        <p:nvSpPr>
          <p:cNvPr id="16" name="Rounded Rectangle 15"/>
          <p:cNvSpPr/>
          <p:nvPr/>
        </p:nvSpPr>
        <p:spPr>
          <a:xfrm>
            <a:off x="4343400" y="1417320"/>
            <a:ext cx="3703320" cy="4434840"/>
          </a:xfrm>
          <a:prstGeom prst="roundRect">
            <a:avLst>
              <a:gd name="adj" fmla="val 8230"/>
            </a:avLst>
          </a:prstGeom>
          <a:solidFill>
            <a:srgbClr val="F4F7FA"/>
          </a:solidFill>
          <a:ln w="228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07992" y="1581912"/>
            <a:ext cx="3374136" cy="896112"/>
          </a:xfrm>
          <a:prstGeom prst="roundRect">
            <a:avLst>
              <a:gd name="adj" fmla="val 1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can-eye-white.png"/>
          <p:cNvPicPr>
            <a:picLocks noChangeAspect="1"/>
          </p:cNvPicPr>
          <p:nvPr/>
        </p:nvPicPr>
        <p:blipFill>
          <a:blip r:embed="rId3"/>
          <a:stretch>
            <a:fillRect/>
          </a:stretch>
        </p:blipFill>
        <p:spPr>
          <a:xfrm>
            <a:off x="4654296" y="1764792"/>
            <a:ext cx="548640" cy="548640"/>
          </a:xfrm>
          <a:prstGeom prst="rect">
            <a:avLst/>
          </a:prstGeom>
        </p:spPr>
      </p:pic>
      <p:sp>
        <p:nvSpPr>
          <p:cNvPr id="19" name="TextBox 18"/>
          <p:cNvSpPr txBox="1"/>
          <p:nvPr/>
        </p:nvSpPr>
        <p:spPr>
          <a:xfrm>
            <a:off x="5294376" y="1600200"/>
            <a:ext cx="2587752" cy="859536"/>
          </a:xfrm>
          <a:prstGeom prst="rect">
            <a:avLst/>
          </a:prstGeom>
          <a:noFill/>
        </p:spPr>
        <p:txBody>
          <a:bodyPr wrap="square" lIns="0" rIns="0" tIns="0" bIns="0" anchor="ctr">
            <a:spAutoFit/>
          </a:bodyPr>
          <a:lstStyle/>
          <a:p>
            <a:pPr algn="l">
              <a:lnSpc>
                <a:spcPct val="110000"/>
              </a:lnSpc>
            </a:pPr>
            <a:r>
              <a:rPr sz="1500" b="1" i="0">
                <a:solidFill>
                  <a:srgbClr val="FFFFFF"/>
                </a:solidFill>
                <a:latin typeface="Arial"/>
              </a:rPr>
              <a:t>Computer Vision</a:t>
            </a:r>
          </a:p>
        </p:txBody>
      </p:sp>
      <p:sp>
        <p:nvSpPr>
          <p:cNvPr id="20" name="Rounded Rectangle 19"/>
          <p:cNvSpPr/>
          <p:nvPr/>
        </p:nvSpPr>
        <p:spPr>
          <a:xfrm>
            <a:off x="4507992" y="2624328"/>
            <a:ext cx="3374136" cy="905255"/>
          </a:xfrm>
          <a:prstGeom prst="roundRect">
            <a:avLst>
              <a:gd name="adj" fmla="val 7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4296" y="2706624"/>
            <a:ext cx="3136391"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  когда ДА</a:t>
            </a:r>
          </a:p>
        </p:txBody>
      </p:sp>
      <p:sp>
        <p:nvSpPr>
          <p:cNvPr id="22" name="TextBox 21"/>
          <p:cNvSpPr txBox="1"/>
          <p:nvPr/>
        </p:nvSpPr>
        <p:spPr>
          <a:xfrm>
            <a:off x="4654296" y="2990088"/>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высокообъёмная рутинная сортировка как первый фильтр</a:t>
            </a:r>
          </a:p>
        </p:txBody>
      </p:sp>
      <p:sp>
        <p:nvSpPr>
          <p:cNvPr id="23" name="Rounded Rectangle 22"/>
          <p:cNvSpPr/>
          <p:nvPr/>
        </p:nvSpPr>
        <p:spPr>
          <a:xfrm>
            <a:off x="4507992" y="3639311"/>
            <a:ext cx="3374136" cy="905255"/>
          </a:xfrm>
          <a:prstGeom prst="roundRect">
            <a:avLst>
              <a:gd name="adj" fmla="val 7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3721607"/>
            <a:ext cx="3136391" cy="274320"/>
          </a:xfrm>
          <a:prstGeom prst="rect">
            <a:avLst/>
          </a:prstGeom>
          <a:noFill/>
        </p:spPr>
        <p:txBody>
          <a:bodyPr wrap="square" lIns="0" rIns="0" tIns="0" bIns="0" anchor="t">
            <a:spAutoFit/>
          </a:bodyPr>
          <a:lstStyle/>
          <a:p>
            <a:pPr algn="l">
              <a:lnSpc>
                <a:spcPct val="115000"/>
              </a:lnSpc>
            </a:pPr>
            <a:r>
              <a:rPr sz="1250" b="1" i="0">
                <a:solidFill>
                  <a:srgbClr val="1C7293"/>
                </a:solidFill>
                <a:latin typeface="Arial"/>
              </a:rPr>
              <a:t>✗  когда НЕТ</a:t>
            </a:r>
          </a:p>
        </p:txBody>
      </p:sp>
      <p:sp>
        <p:nvSpPr>
          <p:cNvPr id="25" name="TextBox 24"/>
          <p:cNvSpPr txBox="1"/>
          <p:nvPr/>
        </p:nvSpPr>
        <p:spPr>
          <a:xfrm>
            <a:off x="4654296" y="4005072"/>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единственный арбитр годности в безопасностно-критичном НК</a:t>
            </a:r>
          </a:p>
        </p:txBody>
      </p:sp>
      <p:sp>
        <p:nvSpPr>
          <p:cNvPr id="26" name="Rounded Rectangle 25"/>
          <p:cNvSpPr/>
          <p:nvPr/>
        </p:nvSpPr>
        <p:spPr>
          <a:xfrm>
            <a:off x="4507992" y="4654295"/>
            <a:ext cx="3374136" cy="905255"/>
          </a:xfrm>
          <a:prstGeom prst="roundRect">
            <a:avLst>
              <a:gd name="adj" fmla="val 7000"/>
            </a:avLst>
          </a:prstGeom>
          <a:solidFill>
            <a:srgbClr val="E6F2F4"/>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54296" y="4736591"/>
            <a:ext cx="3136391"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  альтернатива</a:t>
            </a:r>
          </a:p>
        </p:txBody>
      </p:sp>
      <p:sp>
        <p:nvSpPr>
          <p:cNvPr id="28" name="TextBox 27"/>
          <p:cNvSpPr txBox="1"/>
          <p:nvPr/>
        </p:nvSpPr>
        <p:spPr>
          <a:xfrm>
            <a:off x="4654296" y="5020055"/>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нормированный НК с дефектоскопистом и методикой POD (вероятность обнаружения дефекта)</a:t>
            </a:r>
          </a:p>
        </p:txBody>
      </p:sp>
      <p:sp>
        <p:nvSpPr>
          <p:cNvPr id="29" name="Rounded Rectangle 28"/>
          <p:cNvSpPr/>
          <p:nvPr/>
        </p:nvSpPr>
        <p:spPr>
          <a:xfrm>
            <a:off x="8183880" y="1417320"/>
            <a:ext cx="3703320" cy="4434840"/>
          </a:xfrm>
          <a:prstGeom prst="roundRect">
            <a:avLst>
              <a:gd name="adj" fmla="val 8230"/>
            </a:avLst>
          </a:prstGeom>
          <a:solidFill>
            <a:srgbClr val="F4F7FA"/>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48472" y="1581912"/>
            <a:ext cx="3374136" cy="89611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it-branch-white.png"/>
          <p:cNvPicPr>
            <a:picLocks noChangeAspect="1"/>
          </p:cNvPicPr>
          <p:nvPr/>
        </p:nvPicPr>
        <p:blipFill>
          <a:blip r:embed="rId4"/>
          <a:stretch>
            <a:fillRect/>
          </a:stretch>
        </p:blipFill>
        <p:spPr>
          <a:xfrm>
            <a:off x="8494776" y="1764792"/>
            <a:ext cx="548640" cy="548640"/>
          </a:xfrm>
          <a:prstGeom prst="rect">
            <a:avLst/>
          </a:prstGeom>
        </p:spPr>
      </p:pic>
      <p:sp>
        <p:nvSpPr>
          <p:cNvPr id="32" name="TextBox 31"/>
          <p:cNvSpPr txBox="1"/>
          <p:nvPr/>
        </p:nvSpPr>
        <p:spPr>
          <a:xfrm>
            <a:off x="9134856" y="1600200"/>
            <a:ext cx="2587752" cy="859536"/>
          </a:xfrm>
          <a:prstGeom prst="rect">
            <a:avLst/>
          </a:prstGeom>
          <a:noFill/>
        </p:spPr>
        <p:txBody>
          <a:bodyPr wrap="square" lIns="0" rIns="0" tIns="0" bIns="0" anchor="ctr">
            <a:spAutoFit/>
          </a:bodyPr>
          <a:lstStyle/>
          <a:p>
            <a:pPr algn="l">
              <a:lnSpc>
                <a:spcPct val="110000"/>
              </a:lnSpc>
            </a:pPr>
            <a:r>
              <a:rPr sz="1500" b="1" i="0">
                <a:solidFill>
                  <a:srgbClr val="FFFFFF"/>
                </a:solidFill>
                <a:latin typeface="Arial"/>
              </a:rPr>
              <a:t>Эволюционные / GA</a:t>
            </a:r>
          </a:p>
        </p:txBody>
      </p:sp>
      <p:sp>
        <p:nvSpPr>
          <p:cNvPr id="33" name="Rounded Rectangle 32"/>
          <p:cNvSpPr/>
          <p:nvPr/>
        </p:nvSpPr>
        <p:spPr>
          <a:xfrm>
            <a:off x="8348472" y="2624328"/>
            <a:ext cx="3374136" cy="905255"/>
          </a:xfrm>
          <a:prstGeom prst="roundRect">
            <a:avLst>
              <a:gd name="adj" fmla="val 7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94776" y="2706624"/>
            <a:ext cx="3136391"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  когда ДА</a:t>
            </a:r>
          </a:p>
        </p:txBody>
      </p:sp>
      <p:sp>
        <p:nvSpPr>
          <p:cNvPr id="35" name="TextBox 34"/>
          <p:cNvSpPr txBox="1"/>
          <p:nvPr/>
        </p:nvSpPr>
        <p:spPr>
          <a:xfrm>
            <a:off x="8494776" y="2990088"/>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противоречивые требования (антенна NASA ST5)</a:t>
            </a:r>
          </a:p>
        </p:txBody>
      </p:sp>
      <p:sp>
        <p:nvSpPr>
          <p:cNvPr id="36" name="Rounded Rectangle 35"/>
          <p:cNvSpPr/>
          <p:nvPr/>
        </p:nvSpPr>
        <p:spPr>
          <a:xfrm>
            <a:off x="8348472" y="3639311"/>
            <a:ext cx="3374136" cy="905255"/>
          </a:xfrm>
          <a:prstGeom prst="roundRect">
            <a:avLst>
              <a:gd name="adj" fmla="val 7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721607"/>
            <a:ext cx="3136391" cy="274320"/>
          </a:xfrm>
          <a:prstGeom prst="rect">
            <a:avLst/>
          </a:prstGeom>
          <a:noFill/>
        </p:spPr>
        <p:txBody>
          <a:bodyPr wrap="square" lIns="0" rIns="0" tIns="0" bIns="0" anchor="t">
            <a:spAutoFit/>
          </a:bodyPr>
          <a:lstStyle/>
          <a:p>
            <a:pPr algn="l">
              <a:lnSpc>
                <a:spcPct val="115000"/>
              </a:lnSpc>
            </a:pPr>
            <a:r>
              <a:rPr sz="1250" b="1" i="0">
                <a:solidFill>
                  <a:srgbClr val="1C7293"/>
                </a:solidFill>
                <a:latin typeface="Arial"/>
              </a:rPr>
              <a:t>✗  когда НЕТ</a:t>
            </a:r>
          </a:p>
        </p:txBody>
      </p:sp>
      <p:sp>
        <p:nvSpPr>
          <p:cNvPr id="38" name="TextBox 37"/>
          <p:cNvSpPr txBox="1"/>
          <p:nvPr/>
        </p:nvSpPr>
        <p:spPr>
          <a:xfrm>
            <a:off x="8494776" y="4005072"/>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нужна сертификационная объяснимость и интерпретируемость</a:t>
            </a:r>
          </a:p>
        </p:txBody>
      </p:sp>
      <p:sp>
        <p:nvSpPr>
          <p:cNvPr id="39" name="Rounded Rectangle 38"/>
          <p:cNvSpPr/>
          <p:nvPr/>
        </p:nvSpPr>
        <p:spPr>
          <a:xfrm>
            <a:off x="8348472" y="4654295"/>
            <a:ext cx="3374136" cy="905255"/>
          </a:xfrm>
          <a:prstGeom prst="roundRect">
            <a:avLst>
              <a:gd name="adj" fmla="val 7000"/>
            </a:avLst>
          </a:prstGeom>
          <a:solidFill>
            <a:srgbClr val="E6F2F4"/>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4736591"/>
            <a:ext cx="3136391"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  альтернатива</a:t>
            </a:r>
          </a:p>
        </p:txBody>
      </p:sp>
      <p:sp>
        <p:nvSpPr>
          <p:cNvPr id="41" name="TextBox 40"/>
          <p:cNvSpPr txBox="1"/>
          <p:nvPr/>
        </p:nvSpPr>
        <p:spPr>
          <a:xfrm>
            <a:off x="8494776" y="5020055"/>
            <a:ext cx="3136391" cy="521207"/>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аналитический / градиентный синтез по методике</a:t>
            </a:r>
          </a:p>
        </p:txBody>
      </p:sp>
      <p:sp>
        <p:nvSpPr>
          <p:cNvPr id="42" name="Rounded Rectangle 41"/>
          <p:cNvSpPr/>
          <p:nvPr/>
        </p:nvSpPr>
        <p:spPr>
          <a:xfrm>
            <a:off x="502920" y="5989320"/>
            <a:ext cx="11201400" cy="56692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6044183"/>
            <a:ext cx="10744200" cy="457200"/>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Якоря: детерм./вероятн.?  ·  что оптимизируется, кто задал ограничения?  ·  кто отвечает?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2</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Генеративный дизайн —
это не генеративный AI</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детерминированный оптимизатор на классической математике (Мичелл, Коши, SIMP), а не порождающая модель</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Синтез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«AI generates the design» — маркетинговая подмена понятий.</a:t>
            </a:r>
          </a:p>
        </p:txBody>
      </p:sp>
      <p:sp>
        <p:nvSpPr>
          <p:cNvPr id="3" name="Rounded Rectangle 2"/>
          <p:cNvSpPr/>
          <p:nvPr/>
        </p:nvSpPr>
        <p:spPr>
          <a:xfrm>
            <a:off x="502920" y="1417320"/>
            <a:ext cx="11201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1783080"/>
            <a:ext cx="18288" cy="342900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gaphone-teal.png"/>
          <p:cNvPicPr>
            <a:picLocks noChangeAspect="1"/>
          </p:cNvPicPr>
          <p:nvPr/>
        </p:nvPicPr>
        <p:blipFill>
          <a:blip r:embed="rId2"/>
          <a:stretch>
            <a:fillRect/>
          </a:stretch>
        </p:blipFill>
        <p:spPr>
          <a:xfrm>
            <a:off x="960120" y="1783080"/>
            <a:ext cx="640080" cy="640080"/>
          </a:xfrm>
          <a:prstGeom prst="rect">
            <a:avLst/>
          </a:prstGeom>
        </p:spPr>
      </p:pic>
      <p:sp>
        <p:nvSpPr>
          <p:cNvPr id="6" name="TextBox 5"/>
          <p:cNvSpPr txBox="1"/>
          <p:nvPr/>
        </p:nvSpPr>
        <p:spPr>
          <a:xfrm>
            <a:off x="1801368" y="1801368"/>
            <a:ext cx="3845052" cy="713232"/>
          </a:xfrm>
          <a:prstGeom prst="rect">
            <a:avLst/>
          </a:prstGeom>
          <a:noFill/>
        </p:spPr>
        <p:txBody>
          <a:bodyPr wrap="square" lIns="0" rIns="0" tIns="0" bIns="0" anchor="ctr">
            <a:spAutoFit/>
          </a:bodyPr>
          <a:lstStyle/>
          <a:p>
            <a:pPr algn="l">
              <a:lnSpc>
                <a:spcPct val="110000"/>
              </a:lnSpc>
            </a:pPr>
            <a:r>
              <a:rPr sz="2000" b="1" i="0">
                <a:solidFill>
                  <a:srgbClr val="065A82"/>
                </a:solidFill>
                <a:latin typeface="Arial"/>
              </a:rPr>
              <a:t>Маркетинг говорит</a:t>
            </a:r>
          </a:p>
        </p:txBody>
      </p:sp>
      <p:sp>
        <p:nvSpPr>
          <p:cNvPr id="7" name="Rounded Rectangle 6"/>
          <p:cNvSpPr/>
          <p:nvPr/>
        </p:nvSpPr>
        <p:spPr>
          <a:xfrm>
            <a:off x="978408" y="2965704"/>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2560320"/>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«AI generates the design»</a:t>
            </a:r>
          </a:p>
        </p:txBody>
      </p:sp>
      <p:sp>
        <p:nvSpPr>
          <p:cNvPr id="9" name="Rounded Rectangle 8"/>
          <p:cNvSpPr/>
          <p:nvPr/>
        </p:nvSpPr>
        <p:spPr>
          <a:xfrm>
            <a:off x="978408" y="3886200"/>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3480816"/>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«ИИ придумал деталь»</a:t>
            </a:r>
          </a:p>
        </p:txBody>
      </p:sp>
      <p:sp>
        <p:nvSpPr>
          <p:cNvPr id="11" name="Rounded Rectangle 10"/>
          <p:cNvSpPr/>
          <p:nvPr/>
        </p:nvSpPr>
        <p:spPr>
          <a:xfrm>
            <a:off x="978408" y="4806695"/>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4401311"/>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«творческий искусственный интеллект»</a:t>
            </a:r>
          </a:p>
        </p:txBody>
      </p:sp>
      <p:pic>
        <p:nvPicPr>
          <p:cNvPr id="13" name="Picture 12" descr="cog-blue.png"/>
          <p:cNvPicPr>
            <a:picLocks noChangeAspect="1"/>
          </p:cNvPicPr>
          <p:nvPr/>
        </p:nvPicPr>
        <p:blipFill>
          <a:blip r:embed="rId3"/>
          <a:stretch>
            <a:fillRect/>
          </a:stretch>
        </p:blipFill>
        <p:spPr>
          <a:xfrm>
            <a:off x="6560820" y="1783080"/>
            <a:ext cx="640080" cy="640080"/>
          </a:xfrm>
          <a:prstGeom prst="rect">
            <a:avLst/>
          </a:prstGeom>
        </p:spPr>
      </p:pic>
      <p:sp>
        <p:nvSpPr>
          <p:cNvPr id="14" name="TextBox 13"/>
          <p:cNvSpPr txBox="1"/>
          <p:nvPr/>
        </p:nvSpPr>
        <p:spPr>
          <a:xfrm>
            <a:off x="7402068" y="1801368"/>
            <a:ext cx="3845052" cy="713232"/>
          </a:xfrm>
          <a:prstGeom prst="rect">
            <a:avLst/>
          </a:prstGeom>
          <a:noFill/>
        </p:spPr>
        <p:txBody>
          <a:bodyPr wrap="square" lIns="0" rIns="0" tIns="0" bIns="0" anchor="ctr">
            <a:spAutoFit/>
          </a:bodyPr>
          <a:lstStyle/>
          <a:p>
            <a:pPr algn="l">
              <a:lnSpc>
                <a:spcPct val="110000"/>
              </a:lnSpc>
            </a:pPr>
            <a:r>
              <a:rPr sz="2000" b="1" i="0">
                <a:solidFill>
                  <a:srgbClr val="028090"/>
                </a:solidFill>
                <a:latin typeface="Arial"/>
              </a:rPr>
              <a:t>Что на самом деле</a:t>
            </a:r>
          </a:p>
        </p:txBody>
      </p:sp>
      <p:sp>
        <p:nvSpPr>
          <p:cNvPr id="15" name="Rounded Rectangle 14"/>
          <p:cNvSpPr/>
          <p:nvPr/>
        </p:nvSpPr>
        <p:spPr>
          <a:xfrm>
            <a:off x="6579107" y="2850641"/>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3428" y="2560320"/>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Топологическая оптимизация — детерминированный численный метод</a:t>
            </a:r>
          </a:p>
        </p:txBody>
      </p:sp>
      <p:sp>
        <p:nvSpPr>
          <p:cNvPr id="17" name="Rounded Rectangle 16"/>
          <p:cNvSpPr/>
          <p:nvPr/>
        </p:nvSpPr>
        <p:spPr>
          <a:xfrm>
            <a:off x="6579107" y="3541013"/>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3428" y="3250691"/>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Тот же вход → тот же ответ</a:t>
            </a:r>
          </a:p>
        </p:txBody>
      </p:sp>
      <p:sp>
        <p:nvSpPr>
          <p:cNvPr id="19" name="Rounded Rectangle 18"/>
          <p:cNvSpPr/>
          <p:nvPr/>
        </p:nvSpPr>
        <p:spPr>
          <a:xfrm>
            <a:off x="6579107" y="4231386"/>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3428" y="3941063"/>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Ни одной обученной порождающей модели</a:t>
            </a:r>
          </a:p>
        </p:txBody>
      </p:sp>
      <p:sp>
        <p:nvSpPr>
          <p:cNvPr id="21" name="Rounded Rectangle 20"/>
          <p:cNvSpPr/>
          <p:nvPr/>
        </p:nvSpPr>
        <p:spPr>
          <a:xfrm>
            <a:off x="6579107" y="4921757"/>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3428" y="4631436"/>
            <a:ext cx="4466844" cy="690371"/>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Сам вендор различает топ-оптимизацию и «генеративный AI»</a:t>
            </a:r>
          </a:p>
        </p:txBody>
      </p:sp>
      <p:sp>
        <p:nvSpPr>
          <p:cNvPr id="23" name="Rounded Rectangle 22"/>
          <p:cNvSpPr/>
          <p:nvPr/>
        </p:nvSpPr>
        <p:spPr>
          <a:xfrm>
            <a:off x="502920" y="5715000"/>
            <a:ext cx="11201400" cy="713232"/>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769864"/>
            <a:ext cx="10744200" cy="603504"/>
          </a:xfrm>
          <a:prstGeom prst="rect">
            <a:avLst/>
          </a:prstGeom>
          <a:noFill/>
        </p:spPr>
        <p:txBody>
          <a:bodyPr wrap="square" lIns="0" rIns="0" tIns="0" bIns="0" anchor="ctr">
            <a:spAutoFit/>
          </a:bodyPr>
          <a:lstStyle/>
          <a:p>
            <a:pPr algn="ctr">
              <a:lnSpc>
                <a:spcPct val="122000"/>
              </a:lnSpc>
            </a:pPr>
            <a:r>
              <a:rPr sz="1900" b="1" i="0">
                <a:solidFill>
                  <a:srgbClr val="21295C"/>
                </a:solidFill>
                <a:latin typeface="Arial"/>
              </a:rPr>
              <a:t>Урок: прежде чем доверять — спроси, какой это вид ИИ.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Топологическая оптимизация — это градиентный спуск по плотности материала.</a:t>
            </a:r>
          </a:p>
        </p:txBody>
      </p:sp>
      <p:sp>
        <p:nvSpPr>
          <p:cNvPr id="3" name="Rounded Rectangle 2"/>
          <p:cNvSpPr/>
          <p:nvPr/>
        </p:nvSpPr>
        <p:spPr>
          <a:xfrm>
            <a:off x="502920" y="1298448"/>
            <a:ext cx="11201400" cy="493776"/>
          </a:xfrm>
          <a:prstGeom prst="roundRect">
            <a:avLst>
              <a:gd name="adj" fmla="val 18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it-branch-teal.png"/>
          <p:cNvPicPr>
            <a:picLocks noChangeAspect="1"/>
          </p:cNvPicPr>
          <p:nvPr/>
        </p:nvPicPr>
        <p:blipFill>
          <a:blip r:embed="rId2"/>
          <a:stretch>
            <a:fillRect/>
          </a:stretch>
        </p:blipFill>
        <p:spPr>
          <a:xfrm>
            <a:off x="704088" y="1389888"/>
            <a:ext cx="310896" cy="310896"/>
          </a:xfrm>
          <a:prstGeom prst="rect">
            <a:avLst/>
          </a:prstGeom>
        </p:spPr>
      </p:pic>
      <p:sp>
        <p:nvSpPr>
          <p:cNvPr id="5" name="TextBox 4"/>
          <p:cNvSpPr txBox="1"/>
          <p:nvPr/>
        </p:nvSpPr>
        <p:spPr>
          <a:xfrm>
            <a:off x="1143000" y="1298448"/>
            <a:ext cx="10332720" cy="493776"/>
          </a:xfrm>
          <a:prstGeom prst="rect">
            <a:avLst/>
          </a:prstGeom>
          <a:noFill/>
        </p:spPr>
        <p:txBody>
          <a:bodyPr wrap="square" lIns="0" rIns="0" tIns="0" bIns="0" anchor="ctr">
            <a:spAutoFit/>
          </a:bodyPr>
          <a:lstStyle/>
          <a:p>
            <a:pPr algn="l">
              <a:lnSpc>
                <a:spcPct val="108000"/>
              </a:lnSpc>
            </a:pPr>
            <a:r>
              <a:rPr sz="1300" b="1" i="0">
                <a:solidFill>
                  <a:srgbClr val="21295C"/>
                </a:solidFill>
                <a:latin typeface="Arial"/>
              </a:rPr>
              <a:t>Это родословная (логический порядок), а не хронология: постановка Мичелла (1904) — основа; алгоритм Коши (1847) старше по дате, но применяется к ней позже.</a:t>
            </a:r>
          </a:p>
        </p:txBody>
      </p:sp>
      <p:sp>
        <p:nvSpPr>
          <p:cNvPr id="6" name="Rounded Rectangle 5"/>
          <p:cNvSpPr/>
          <p:nvPr/>
        </p:nvSpPr>
        <p:spPr>
          <a:xfrm>
            <a:off x="502920" y="1920240"/>
            <a:ext cx="11201400" cy="3950208"/>
          </a:xfrm>
          <a:prstGeom prst="roundRect">
            <a:avLst>
              <a:gd name="adj" fmla="val 771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3703320"/>
            <a:ext cx="10195560" cy="457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29968"/>
            <a:ext cx="10195560" cy="292608"/>
          </a:xfrm>
          <a:prstGeom prst="rect">
            <a:avLst/>
          </a:prstGeom>
          <a:noFill/>
        </p:spPr>
        <p:txBody>
          <a:bodyPr wrap="square" lIns="0" rIns="0" tIns="0" bIns="0" anchor="t">
            <a:spAutoFit/>
          </a:bodyPr>
          <a:lstStyle/>
          <a:p>
            <a:pPr algn="r">
              <a:lnSpc>
                <a:spcPct val="115000"/>
              </a:lnSpc>
            </a:pPr>
            <a:r>
              <a:rPr sz="1200" b="1" i="1">
                <a:solidFill>
                  <a:srgbClr val="1C7293"/>
                </a:solidFill>
                <a:latin typeface="Arial"/>
              </a:rPr>
              <a:t>логическая родословная  →</a:t>
            </a:r>
          </a:p>
        </p:txBody>
      </p:sp>
      <p:sp>
        <p:nvSpPr>
          <p:cNvPr id="9" name="Right Arrow 8"/>
          <p:cNvSpPr/>
          <p:nvPr/>
        </p:nvSpPr>
        <p:spPr>
          <a:xfrm>
            <a:off x="2189988" y="3625596"/>
            <a:ext cx="1709928" cy="201168"/>
          </a:xfrm>
          <a:prstGeom prst="right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43100" y="3643884"/>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2377440"/>
            <a:ext cx="1929384" cy="1097280"/>
          </a:xfrm>
          <a:prstGeom prst="rect">
            <a:avLst/>
          </a:prstGeom>
          <a:noFill/>
        </p:spPr>
        <p:txBody>
          <a:bodyPr wrap="square" lIns="0" rIns="0" tIns="0" bIns="0" anchor="b">
            <a:spAutoFit/>
          </a:bodyPr>
          <a:lstStyle/>
          <a:p>
            <a:pPr algn="ctr">
              <a:lnSpc>
                <a:spcPct val="110000"/>
              </a:lnSpc>
            </a:pPr>
            <a:r>
              <a:rPr sz="1400" b="1" i="0">
                <a:solidFill>
                  <a:srgbClr val="21295C"/>
                </a:solidFill>
                <a:latin typeface="Arial"/>
              </a:rPr>
              <a:t>Известно из
сопромата</a:t>
            </a:r>
          </a:p>
        </p:txBody>
      </p:sp>
      <p:sp>
        <p:nvSpPr>
          <p:cNvPr id="12" name="TextBox 11"/>
          <p:cNvSpPr txBox="1"/>
          <p:nvPr/>
        </p:nvSpPr>
        <p:spPr>
          <a:xfrm>
            <a:off x="1060704" y="3995928"/>
            <a:ext cx="1929384" cy="1051560"/>
          </a:xfrm>
          <a:prstGeom prst="rect">
            <a:avLst/>
          </a:prstGeom>
          <a:noFill/>
        </p:spPr>
        <p:txBody>
          <a:bodyPr wrap="square" lIns="0" rIns="0" tIns="0" bIns="0" anchor="t">
            <a:spAutoFit/>
          </a:bodyPr>
          <a:lstStyle/>
          <a:p>
            <a:pPr algn="ctr">
              <a:lnSpc>
                <a:spcPct val="116000"/>
              </a:lnSpc>
            </a:pPr>
            <a:r>
              <a:rPr sz="1300" b="0" i="0">
                <a:solidFill>
                  <a:srgbClr val="6B7685"/>
                </a:solidFill>
                <a:latin typeface="Arial"/>
              </a:rPr>
              <a:t>недогруженный материал
можно убрать (равнопрочность)</a:t>
            </a:r>
          </a:p>
        </p:txBody>
      </p:sp>
      <p:sp>
        <p:nvSpPr>
          <p:cNvPr id="13" name="Right Arrow 12"/>
          <p:cNvSpPr/>
          <p:nvPr/>
        </p:nvSpPr>
        <p:spPr>
          <a:xfrm>
            <a:off x="4229100" y="3625596"/>
            <a:ext cx="1709928" cy="201168"/>
          </a:xfrm>
          <a:prstGeom prst="right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82212" y="3643884"/>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9816" y="2377440"/>
            <a:ext cx="1929384" cy="1097280"/>
          </a:xfrm>
          <a:prstGeom prst="rect">
            <a:avLst/>
          </a:prstGeom>
          <a:noFill/>
        </p:spPr>
        <p:txBody>
          <a:bodyPr wrap="square" lIns="0" rIns="0" tIns="0" bIns="0" anchor="b">
            <a:spAutoFit/>
          </a:bodyPr>
          <a:lstStyle/>
          <a:p>
            <a:pPr algn="ctr">
              <a:lnSpc>
                <a:spcPct val="110000"/>
              </a:lnSpc>
            </a:pPr>
            <a:r>
              <a:rPr sz="1400" b="1" i="0">
                <a:solidFill>
                  <a:srgbClr val="21295C"/>
                </a:solidFill>
                <a:latin typeface="Arial"/>
              </a:rPr>
              <a:t>Мичелл 1904</a:t>
            </a:r>
          </a:p>
        </p:txBody>
      </p:sp>
      <p:sp>
        <p:nvSpPr>
          <p:cNvPr id="16" name="TextBox 15"/>
          <p:cNvSpPr txBox="1"/>
          <p:nvPr/>
        </p:nvSpPr>
        <p:spPr>
          <a:xfrm>
            <a:off x="3099816" y="3995928"/>
            <a:ext cx="1929384" cy="1051560"/>
          </a:xfrm>
          <a:prstGeom prst="rect">
            <a:avLst/>
          </a:prstGeom>
          <a:noFill/>
        </p:spPr>
        <p:txBody>
          <a:bodyPr wrap="square" lIns="0" rIns="0" tIns="0" bIns="0" anchor="t">
            <a:spAutoFit/>
          </a:bodyPr>
          <a:lstStyle/>
          <a:p>
            <a:pPr algn="ctr">
              <a:lnSpc>
                <a:spcPct val="116000"/>
              </a:lnSpc>
            </a:pPr>
            <a:r>
              <a:rPr sz="1300" b="0" i="0">
                <a:solidFill>
                  <a:srgbClr val="6B7685"/>
                </a:solidFill>
                <a:latin typeface="Arial"/>
              </a:rPr>
              <a:t>интуиция и постановка
(минимум материала)</a:t>
            </a:r>
          </a:p>
        </p:txBody>
      </p:sp>
      <p:sp>
        <p:nvSpPr>
          <p:cNvPr id="17" name="Right Arrow 16"/>
          <p:cNvSpPr/>
          <p:nvPr/>
        </p:nvSpPr>
        <p:spPr>
          <a:xfrm>
            <a:off x="6268212" y="3625596"/>
            <a:ext cx="1709928" cy="201168"/>
          </a:xfrm>
          <a:prstGeom prst="right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21324" y="3643884"/>
            <a:ext cx="164592" cy="1645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2377440"/>
            <a:ext cx="1929384" cy="1097280"/>
          </a:xfrm>
          <a:prstGeom prst="rect">
            <a:avLst/>
          </a:prstGeom>
          <a:noFill/>
        </p:spPr>
        <p:txBody>
          <a:bodyPr wrap="square" lIns="0" rIns="0" tIns="0" bIns="0" anchor="b">
            <a:spAutoFit/>
          </a:bodyPr>
          <a:lstStyle/>
          <a:p>
            <a:pPr algn="ctr">
              <a:lnSpc>
                <a:spcPct val="110000"/>
              </a:lnSpc>
            </a:pPr>
            <a:r>
              <a:rPr sz="1400" b="1" i="0">
                <a:solidFill>
                  <a:srgbClr val="21295C"/>
                </a:solidFill>
                <a:latin typeface="Arial"/>
              </a:rPr>
              <a:t>Коши 1847 /
градиентный спуск</a:t>
            </a:r>
          </a:p>
        </p:txBody>
      </p:sp>
      <p:sp>
        <p:nvSpPr>
          <p:cNvPr id="20" name="TextBox 19"/>
          <p:cNvSpPr txBox="1"/>
          <p:nvPr/>
        </p:nvSpPr>
        <p:spPr>
          <a:xfrm>
            <a:off x="5138928" y="3995928"/>
            <a:ext cx="1929384" cy="1051560"/>
          </a:xfrm>
          <a:prstGeom prst="rect">
            <a:avLst/>
          </a:prstGeom>
          <a:noFill/>
        </p:spPr>
        <p:txBody>
          <a:bodyPr wrap="square" lIns="0" rIns="0" tIns="0" bIns="0" anchor="t">
            <a:spAutoFit/>
          </a:bodyPr>
          <a:lstStyle/>
          <a:p>
            <a:pPr algn="ctr">
              <a:lnSpc>
                <a:spcPct val="116000"/>
              </a:lnSpc>
            </a:pPr>
            <a:r>
              <a:rPr sz="1300" b="0" i="0">
                <a:solidFill>
                  <a:srgbClr val="6B7685"/>
                </a:solidFill>
                <a:latin typeface="Arial"/>
              </a:rPr>
              <a:t>тот же алгоритм
наискорейшего спуска</a:t>
            </a:r>
          </a:p>
        </p:txBody>
      </p:sp>
      <p:sp>
        <p:nvSpPr>
          <p:cNvPr id="21" name="Right Arrow 20"/>
          <p:cNvSpPr/>
          <p:nvPr/>
        </p:nvSpPr>
        <p:spPr>
          <a:xfrm>
            <a:off x="8307323" y="3625596"/>
            <a:ext cx="1709928" cy="201168"/>
          </a:xfrm>
          <a:prstGeom prst="right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60436" y="3643884"/>
            <a:ext cx="164592" cy="1645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39" y="2377440"/>
            <a:ext cx="1929384" cy="1097280"/>
          </a:xfrm>
          <a:prstGeom prst="rect">
            <a:avLst/>
          </a:prstGeom>
          <a:noFill/>
        </p:spPr>
        <p:txBody>
          <a:bodyPr wrap="square" lIns="0" rIns="0" tIns="0" bIns="0" anchor="b">
            <a:spAutoFit/>
          </a:bodyPr>
          <a:lstStyle/>
          <a:p>
            <a:pPr algn="ctr">
              <a:lnSpc>
                <a:spcPct val="110000"/>
              </a:lnSpc>
            </a:pPr>
            <a:r>
              <a:rPr sz="1400" b="1" i="0">
                <a:solidFill>
                  <a:srgbClr val="21295C"/>
                </a:solidFill>
                <a:latin typeface="Arial"/>
              </a:rPr>
              <a:t>Бендсё–Кикучи
1988</a:t>
            </a:r>
          </a:p>
        </p:txBody>
      </p:sp>
      <p:sp>
        <p:nvSpPr>
          <p:cNvPr id="24" name="TextBox 23"/>
          <p:cNvSpPr txBox="1"/>
          <p:nvPr/>
        </p:nvSpPr>
        <p:spPr>
          <a:xfrm>
            <a:off x="7178039" y="3995928"/>
            <a:ext cx="1929384" cy="1051560"/>
          </a:xfrm>
          <a:prstGeom prst="rect">
            <a:avLst/>
          </a:prstGeom>
          <a:noFill/>
        </p:spPr>
        <p:txBody>
          <a:bodyPr wrap="square" lIns="0" rIns="0" tIns="0" bIns="0" anchor="t">
            <a:spAutoFit/>
          </a:bodyPr>
          <a:lstStyle/>
          <a:p>
            <a:pPr algn="ctr">
              <a:lnSpc>
                <a:spcPct val="116000"/>
              </a:lnSpc>
            </a:pPr>
            <a:r>
              <a:rPr sz="1300" b="0" i="0">
                <a:solidFill>
                  <a:srgbClr val="6B7685"/>
                </a:solidFill>
                <a:latin typeface="Arial"/>
              </a:rPr>
              <a:t>численный метод:
непрерывная плотность</a:t>
            </a:r>
          </a:p>
        </p:txBody>
      </p:sp>
      <p:sp>
        <p:nvSpPr>
          <p:cNvPr id="25" name="Rounded Rectangle 24"/>
          <p:cNvSpPr/>
          <p:nvPr/>
        </p:nvSpPr>
        <p:spPr>
          <a:xfrm>
            <a:off x="10035540" y="3579876"/>
            <a:ext cx="292608"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7152" y="2377440"/>
            <a:ext cx="1929384" cy="1097280"/>
          </a:xfrm>
          <a:prstGeom prst="rect">
            <a:avLst/>
          </a:prstGeom>
          <a:noFill/>
        </p:spPr>
        <p:txBody>
          <a:bodyPr wrap="square" lIns="0" rIns="0" tIns="0" bIns="0" anchor="b">
            <a:spAutoFit/>
          </a:bodyPr>
          <a:lstStyle/>
          <a:p>
            <a:pPr algn="ctr">
              <a:lnSpc>
                <a:spcPct val="110000"/>
              </a:lnSpc>
            </a:pPr>
            <a:r>
              <a:rPr sz="1600" b="1" i="0">
                <a:solidFill>
                  <a:srgbClr val="F0AB00"/>
                </a:solidFill>
                <a:latin typeface="Arial"/>
              </a:rPr>
              <a:t>SIMP 1989</a:t>
            </a:r>
          </a:p>
        </p:txBody>
      </p:sp>
      <p:sp>
        <p:nvSpPr>
          <p:cNvPr id="27" name="TextBox 26"/>
          <p:cNvSpPr txBox="1"/>
          <p:nvPr/>
        </p:nvSpPr>
        <p:spPr>
          <a:xfrm>
            <a:off x="9217152" y="3995928"/>
            <a:ext cx="1929384" cy="1051560"/>
          </a:xfrm>
          <a:prstGeom prst="rect">
            <a:avLst/>
          </a:prstGeom>
          <a:noFill/>
        </p:spPr>
        <p:txBody>
          <a:bodyPr wrap="square" lIns="0" rIns="0" tIns="0" bIns="0" anchor="t">
            <a:spAutoFit/>
          </a:bodyPr>
          <a:lstStyle/>
          <a:p>
            <a:pPr algn="ctr">
              <a:lnSpc>
                <a:spcPct val="116000"/>
              </a:lnSpc>
            </a:pPr>
            <a:r>
              <a:rPr sz="1300" b="0" i="0">
                <a:solidFill>
                  <a:srgbClr val="6B7685"/>
                </a:solidFill>
                <a:latin typeface="Arial"/>
              </a:rPr>
              <a:t>индустриальный стандарт:
ρ∈[0,1], штраф к «ч/б»</a:t>
            </a:r>
          </a:p>
        </p:txBody>
      </p:sp>
      <p:sp>
        <p:nvSpPr>
          <p:cNvPr id="28" name="Rounded Rectangle 27"/>
          <p:cNvSpPr/>
          <p:nvPr/>
        </p:nvSpPr>
        <p:spPr>
          <a:xfrm>
            <a:off x="960120" y="5029200"/>
            <a:ext cx="10287000" cy="640080"/>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084064"/>
            <a:ext cx="9829800" cy="530352"/>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на каждом шаге явно решается уравнение равновесия — сходимость к оптимуму, НЕ сэмпл из распределения</a:t>
            </a:r>
          </a:p>
        </p:txBody>
      </p:sp>
      <p:sp>
        <p:nvSpPr>
          <p:cNvPr id="30" name="TextBox 29"/>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KKT / множители Лагранжа — формальное условие оптимума; формул на слайде нет.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300" b="1" i="0">
                <a:solidFill>
                  <a:srgbClr val="21295C"/>
                </a:solidFill>
                <a:latin typeface="Arial"/>
              </a:rPr>
              <a:t>GM и Airbus: радикальное снижение массы — численная оптимизация и перебор, не diffusion.</a:t>
            </a:r>
          </a:p>
        </p:txBody>
      </p:sp>
      <p:sp>
        <p:nvSpPr>
          <p:cNvPr id="3" name="Rounded Rectangle 2"/>
          <p:cNvSpPr/>
          <p:nvPr/>
        </p:nvSpPr>
        <p:spPr>
          <a:xfrm>
            <a:off x="502920" y="1463040"/>
            <a:ext cx="5486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r-blue.png"/>
          <p:cNvPicPr>
            <a:picLocks noChangeAspect="1"/>
          </p:cNvPicPr>
          <p:nvPr/>
        </p:nvPicPr>
        <p:blipFill>
          <a:blip r:embed="rId2"/>
          <a:stretch>
            <a:fillRect/>
          </a:stretch>
        </p:blipFill>
        <p:spPr>
          <a:xfrm>
            <a:off x="868680" y="1828800"/>
            <a:ext cx="868680" cy="868680"/>
          </a:xfrm>
          <a:prstGeom prst="rect">
            <a:avLst/>
          </a:prstGeom>
        </p:spPr>
      </p:pic>
      <p:sp>
        <p:nvSpPr>
          <p:cNvPr id="5" name="TextBox 4"/>
          <p:cNvSpPr txBox="1"/>
          <p:nvPr/>
        </p:nvSpPr>
        <p:spPr>
          <a:xfrm>
            <a:off x="1874519" y="1938528"/>
            <a:ext cx="3931920" cy="685800"/>
          </a:xfrm>
          <a:prstGeom prst="rect">
            <a:avLst/>
          </a:prstGeom>
          <a:noFill/>
        </p:spPr>
        <p:txBody>
          <a:bodyPr wrap="square" lIns="0" rIns="0" tIns="0" bIns="0" anchor="ctr">
            <a:spAutoFit/>
          </a:bodyPr>
          <a:lstStyle/>
          <a:p>
            <a:pPr algn="l">
              <a:lnSpc>
                <a:spcPct val="115000"/>
              </a:lnSpc>
            </a:pPr>
            <a:r>
              <a:rPr sz="2200" b="1" i="0">
                <a:solidFill>
                  <a:srgbClr val="21295C"/>
                </a:solidFill>
                <a:latin typeface="Arial"/>
              </a:rPr>
              <a:t>GM seat bracket</a:t>
            </a:r>
          </a:p>
        </p:txBody>
      </p:sp>
      <p:sp>
        <p:nvSpPr>
          <p:cNvPr id="6" name="Rounded Rectangle 5"/>
          <p:cNvSpPr/>
          <p:nvPr/>
        </p:nvSpPr>
        <p:spPr>
          <a:xfrm>
            <a:off x="914400" y="3154680"/>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6152" y="3063240"/>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8 деталей → 1</a:t>
            </a:r>
          </a:p>
        </p:txBody>
      </p:sp>
      <p:sp>
        <p:nvSpPr>
          <p:cNvPr id="8" name="Rounded Rectangle 7"/>
          <p:cNvSpPr/>
          <p:nvPr/>
        </p:nvSpPr>
        <p:spPr>
          <a:xfrm>
            <a:off x="914400" y="3758183"/>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3666744"/>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масса −~40%</a:t>
            </a:r>
          </a:p>
        </p:txBody>
      </p:sp>
      <p:sp>
        <p:nvSpPr>
          <p:cNvPr id="10" name="Rounded Rectangle 9"/>
          <p:cNvSpPr/>
          <p:nvPr/>
        </p:nvSpPr>
        <p:spPr>
          <a:xfrm>
            <a:off x="914400" y="4361688"/>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4270248"/>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&gt;150 вариантов перебора</a:t>
            </a:r>
          </a:p>
        </p:txBody>
      </p:sp>
      <p:sp>
        <p:nvSpPr>
          <p:cNvPr id="12" name="Rounded Rectangle 11"/>
          <p:cNvSpPr/>
          <p:nvPr/>
        </p:nvSpPr>
        <p:spPr>
          <a:xfrm>
            <a:off x="914400" y="4663440"/>
            <a:ext cx="4663440" cy="71323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663440"/>
            <a:ext cx="4352544" cy="713232"/>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вид ИИ: численная оптимизация + облачный перебор</a:t>
            </a:r>
          </a:p>
        </p:txBody>
      </p:sp>
      <p:sp>
        <p:nvSpPr>
          <p:cNvPr id="14" name="Rounded Rectangle 13"/>
          <p:cNvSpPr/>
          <p:nvPr/>
        </p:nvSpPr>
        <p:spPr>
          <a:xfrm>
            <a:off x="6217920" y="1463040"/>
            <a:ext cx="5486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lane-blue.png"/>
          <p:cNvPicPr>
            <a:picLocks noChangeAspect="1"/>
          </p:cNvPicPr>
          <p:nvPr/>
        </p:nvPicPr>
        <p:blipFill>
          <a:blip r:embed="rId3"/>
          <a:stretch>
            <a:fillRect/>
          </a:stretch>
        </p:blipFill>
        <p:spPr>
          <a:xfrm>
            <a:off x="6583680" y="1828800"/>
            <a:ext cx="868680" cy="868680"/>
          </a:xfrm>
          <a:prstGeom prst="rect">
            <a:avLst/>
          </a:prstGeom>
        </p:spPr>
      </p:pic>
      <p:sp>
        <p:nvSpPr>
          <p:cNvPr id="16" name="TextBox 15"/>
          <p:cNvSpPr txBox="1"/>
          <p:nvPr/>
        </p:nvSpPr>
        <p:spPr>
          <a:xfrm>
            <a:off x="7589520" y="1938528"/>
            <a:ext cx="3931920" cy="685800"/>
          </a:xfrm>
          <a:prstGeom prst="rect">
            <a:avLst/>
          </a:prstGeom>
          <a:noFill/>
        </p:spPr>
        <p:txBody>
          <a:bodyPr wrap="square" lIns="0" rIns="0" tIns="0" bIns="0" anchor="ctr">
            <a:spAutoFit/>
          </a:bodyPr>
          <a:lstStyle/>
          <a:p>
            <a:pPr algn="l">
              <a:lnSpc>
                <a:spcPct val="115000"/>
              </a:lnSpc>
            </a:pPr>
            <a:r>
              <a:rPr sz="2200" b="1" i="0">
                <a:solidFill>
                  <a:srgbClr val="21295C"/>
                </a:solidFill>
                <a:latin typeface="Arial"/>
              </a:rPr>
              <a:t>Airbus bionic partition</a:t>
            </a:r>
          </a:p>
        </p:txBody>
      </p:sp>
      <p:sp>
        <p:nvSpPr>
          <p:cNvPr id="17" name="Rounded Rectangle 16"/>
          <p:cNvSpPr/>
          <p:nvPr/>
        </p:nvSpPr>
        <p:spPr>
          <a:xfrm>
            <a:off x="6629400" y="3154680"/>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31152" y="3063240"/>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масса −~45%</a:t>
            </a:r>
          </a:p>
        </p:txBody>
      </p:sp>
      <p:sp>
        <p:nvSpPr>
          <p:cNvPr id="19" name="Rounded Rectangle 18"/>
          <p:cNvSpPr/>
          <p:nvPr/>
        </p:nvSpPr>
        <p:spPr>
          <a:xfrm>
            <a:off x="6629400" y="3758183"/>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31152" y="3666744"/>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≈35 кг против ≈65 кг</a:t>
            </a:r>
          </a:p>
        </p:txBody>
      </p:sp>
      <p:sp>
        <p:nvSpPr>
          <p:cNvPr id="21" name="Rounded Rectangle 20"/>
          <p:cNvSpPr/>
          <p:nvPr/>
        </p:nvSpPr>
        <p:spPr>
          <a:xfrm>
            <a:off x="6629400" y="4361688"/>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31152" y="4270248"/>
            <a:ext cx="4480560" cy="457200"/>
          </a:xfrm>
          <a:prstGeom prst="rect">
            <a:avLst/>
          </a:prstGeom>
          <a:noFill/>
        </p:spPr>
        <p:txBody>
          <a:bodyPr wrap="square" lIns="0" rIns="0" tIns="0" bIns="0" anchor="t">
            <a:spAutoFit/>
          </a:bodyPr>
          <a:lstStyle/>
          <a:p>
            <a:pPr algn="l">
              <a:lnSpc>
                <a:spcPct val="110000"/>
              </a:lnSpc>
            </a:pPr>
            <a:r>
              <a:rPr sz="1900" b="1" i="0">
                <a:solidFill>
                  <a:srgbClr val="21295C"/>
                </a:solidFill>
                <a:latin typeface="Arial"/>
              </a:rPr>
              <a:t>материал Scalmalloy</a:t>
            </a:r>
          </a:p>
        </p:txBody>
      </p:sp>
      <p:sp>
        <p:nvSpPr>
          <p:cNvPr id="23" name="Rounded Rectangle 22"/>
          <p:cNvSpPr/>
          <p:nvPr/>
        </p:nvSpPr>
        <p:spPr>
          <a:xfrm>
            <a:off x="6629400" y="4663440"/>
            <a:ext cx="4663440" cy="71323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84848" y="4663440"/>
            <a:ext cx="4352544" cy="713232"/>
          </a:xfrm>
          <a:prstGeom prst="rect">
            <a:avLst/>
          </a:prstGeom>
          <a:noFill/>
        </p:spPr>
        <p:txBody>
          <a:bodyPr wrap="square" lIns="0" rIns="0" tIns="0" bIns="0" anchor="ctr">
            <a:spAutoFit/>
          </a:bodyPr>
          <a:lstStyle/>
          <a:p>
            <a:pPr algn="l">
              <a:lnSpc>
                <a:spcPct val="116000"/>
              </a:lnSpc>
            </a:pPr>
            <a:r>
              <a:rPr sz="1400" b="1" i="0">
                <a:solidFill>
                  <a:srgbClr val="FFFFFF"/>
                </a:solidFill>
                <a:latin typeface="Arial"/>
              </a:rPr>
              <a:t>вид ИИ: топологическая/решётчатая оптимизация + перебор</a:t>
            </a:r>
          </a:p>
        </p:txBody>
      </p:sp>
      <p:sp>
        <p:nvSpPr>
          <p:cNvPr id="25" name="Rounded Rectangle 24"/>
          <p:cNvSpPr/>
          <p:nvPr/>
        </p:nvSpPr>
        <p:spPr>
          <a:xfrm>
            <a:off x="502920" y="5779008"/>
            <a:ext cx="11201400" cy="65836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833872"/>
            <a:ext cx="10744200" cy="548640"/>
          </a:xfrm>
          <a:prstGeom prst="rect">
            <a:avLst/>
          </a:prstGeom>
          <a:noFill/>
        </p:spPr>
        <p:txBody>
          <a:bodyPr wrap="square" lIns="0" rIns="0" tIns="0" bIns="0" anchor="ctr">
            <a:spAutoFit/>
          </a:bodyPr>
          <a:lstStyle/>
          <a:p>
            <a:pPr algn="ctr">
              <a:lnSpc>
                <a:spcPct val="122000"/>
              </a:lnSpc>
            </a:pPr>
            <a:r>
              <a:rPr sz="1600" b="1" i="0">
                <a:solidFill>
                  <a:srgbClr val="21295C"/>
                </a:solidFill>
                <a:latin typeface="Arial"/>
              </a:rPr>
              <a:t>Обе детали требуют аддитива — это ограничение, не случайность.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В России APM FEM в КОМПАС-3D — это детерминированный SIMP, а не AI.</a:t>
            </a:r>
          </a:p>
        </p:txBody>
      </p:sp>
      <p:sp>
        <p:nvSpPr>
          <p:cNvPr id="3" name="Rounded Rectangle 2"/>
          <p:cNvSpPr/>
          <p:nvPr/>
        </p:nvSpPr>
        <p:spPr>
          <a:xfrm>
            <a:off x="502920" y="1325880"/>
            <a:ext cx="3703320" cy="4846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ward-blue.png"/>
          <p:cNvPicPr>
            <a:picLocks noChangeAspect="1"/>
          </p:cNvPicPr>
          <p:nvPr/>
        </p:nvPicPr>
        <p:blipFill>
          <a:blip r:embed="rId2"/>
          <a:stretch>
            <a:fillRect/>
          </a:stretch>
        </p:blipFill>
        <p:spPr>
          <a:xfrm>
            <a:off x="795528" y="1636776"/>
            <a:ext cx="804672" cy="804672"/>
          </a:xfrm>
          <a:prstGeom prst="rect">
            <a:avLst/>
          </a:prstGeom>
        </p:spPr>
      </p:pic>
      <p:sp>
        <p:nvSpPr>
          <p:cNvPr id="5" name="TextBox 4"/>
          <p:cNvSpPr txBox="1"/>
          <p:nvPr/>
        </p:nvSpPr>
        <p:spPr>
          <a:xfrm>
            <a:off x="795528" y="2587752"/>
            <a:ext cx="3118103" cy="777240"/>
          </a:xfrm>
          <a:prstGeom prst="rect">
            <a:avLst/>
          </a:prstGeom>
          <a:noFill/>
        </p:spPr>
        <p:txBody>
          <a:bodyPr wrap="square" lIns="0" rIns="0" tIns="0" bIns="0" anchor="t">
            <a:spAutoFit/>
          </a:bodyPr>
          <a:lstStyle/>
          <a:p>
            <a:pPr algn="l">
              <a:lnSpc>
                <a:spcPct val="112000"/>
              </a:lnSpc>
            </a:pPr>
            <a:r>
              <a:rPr sz="1800" b="1" i="0">
                <a:solidFill>
                  <a:srgbClr val="065A82"/>
                </a:solidFill>
                <a:latin typeface="Arial"/>
              </a:rPr>
              <a:t>Реальные достижения</a:t>
            </a:r>
          </a:p>
        </p:txBody>
      </p:sp>
      <p:sp>
        <p:nvSpPr>
          <p:cNvPr id="6" name="Rounded Rectangle 5"/>
          <p:cNvSpPr/>
          <p:nvPr/>
        </p:nvSpPr>
        <p:spPr>
          <a:xfrm>
            <a:off x="795528" y="3557015"/>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3474720"/>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ОКБ Сухого — силовой кронштейн Су-57 ~на четверть легче</a:t>
            </a:r>
          </a:p>
        </p:txBody>
      </p:sp>
      <p:sp>
        <p:nvSpPr>
          <p:cNvPr id="8" name="Rounded Rectangle 7"/>
          <p:cNvSpPr/>
          <p:nvPr/>
        </p:nvSpPr>
        <p:spPr>
          <a:xfrm>
            <a:off x="795528" y="4489704"/>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4407408"/>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цифровая модель на суперкомпьютере · LPBF (лазерное послойное сплавление)</a:t>
            </a:r>
          </a:p>
        </p:txBody>
      </p:sp>
      <p:sp>
        <p:nvSpPr>
          <p:cNvPr id="10" name="Rounded Rectangle 9"/>
          <p:cNvSpPr/>
          <p:nvPr/>
        </p:nvSpPr>
        <p:spPr>
          <a:xfrm>
            <a:off x="795528" y="5422392"/>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340096"/>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прорабатывался прототип для МС-21-300</a:t>
            </a:r>
          </a:p>
        </p:txBody>
      </p:sp>
      <p:sp>
        <p:nvSpPr>
          <p:cNvPr id="12" name="Rounded Rectangle 11"/>
          <p:cNvSpPr/>
          <p:nvPr/>
        </p:nvSpPr>
        <p:spPr>
          <a:xfrm>
            <a:off x="4343400" y="1325880"/>
            <a:ext cx="3703320" cy="4846320"/>
          </a:xfrm>
          <a:prstGeom prst="roundRect">
            <a:avLst>
              <a:gd name="adj" fmla="val 823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lert-triangle-gold.png"/>
          <p:cNvPicPr>
            <a:picLocks noChangeAspect="1"/>
          </p:cNvPicPr>
          <p:nvPr/>
        </p:nvPicPr>
        <p:blipFill>
          <a:blip r:embed="rId3"/>
          <a:stretch>
            <a:fillRect/>
          </a:stretch>
        </p:blipFill>
        <p:spPr>
          <a:xfrm>
            <a:off x="4636008" y="1636776"/>
            <a:ext cx="804672" cy="804672"/>
          </a:xfrm>
          <a:prstGeom prst="rect">
            <a:avLst/>
          </a:prstGeom>
        </p:spPr>
      </p:pic>
      <p:sp>
        <p:nvSpPr>
          <p:cNvPr id="14" name="TextBox 13"/>
          <p:cNvSpPr txBox="1"/>
          <p:nvPr/>
        </p:nvSpPr>
        <p:spPr>
          <a:xfrm>
            <a:off x="4636008" y="2587752"/>
            <a:ext cx="3118103" cy="777240"/>
          </a:xfrm>
          <a:prstGeom prst="rect">
            <a:avLst/>
          </a:prstGeom>
          <a:noFill/>
        </p:spPr>
        <p:txBody>
          <a:bodyPr wrap="square" lIns="0" rIns="0" tIns="0" bIns="0" anchor="t">
            <a:spAutoFit/>
          </a:bodyPr>
          <a:lstStyle/>
          <a:p>
            <a:pPr algn="l">
              <a:lnSpc>
                <a:spcPct val="112000"/>
              </a:lnSpc>
            </a:pPr>
            <a:r>
              <a:rPr sz="1800" b="1" i="0">
                <a:solidFill>
                  <a:srgbClr val="F0AB00"/>
                </a:solidFill>
                <a:latin typeface="Arial"/>
              </a:rPr>
              <a:t>Подмена понятий</a:t>
            </a:r>
          </a:p>
        </p:txBody>
      </p:sp>
      <p:sp>
        <p:nvSpPr>
          <p:cNvPr id="15" name="Rounded Rectangle 14"/>
          <p:cNvSpPr/>
          <p:nvPr/>
        </p:nvSpPr>
        <p:spPr>
          <a:xfrm>
            <a:off x="4636008" y="3557015"/>
            <a:ext cx="100584" cy="10058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3474720"/>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APM FEM исключает существенную долю объёма с сохранением прочности</a:t>
            </a:r>
          </a:p>
        </p:txBody>
      </p:sp>
      <p:sp>
        <p:nvSpPr>
          <p:cNvPr id="17" name="Rounded Rectangle 16"/>
          <p:cNvSpPr/>
          <p:nvPr/>
        </p:nvSpPr>
        <p:spPr>
          <a:xfrm>
            <a:off x="4636008" y="4489704"/>
            <a:ext cx="100584" cy="10058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37176" y="4407408"/>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но это детерминированный SIMP, НЕ AI — та же ловушка</a:t>
            </a:r>
          </a:p>
        </p:txBody>
      </p:sp>
      <p:sp>
        <p:nvSpPr>
          <p:cNvPr id="19" name="Rounded Rectangle 18"/>
          <p:cNvSpPr/>
          <p:nvPr/>
        </p:nvSpPr>
        <p:spPr>
          <a:xfrm>
            <a:off x="4636008" y="5422392"/>
            <a:ext cx="100584" cy="10058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37176" y="5340096"/>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ядро C3D — стратегический актив (в мире — единицы ядер)</a:t>
            </a:r>
          </a:p>
        </p:txBody>
      </p:sp>
      <p:sp>
        <p:nvSpPr>
          <p:cNvPr id="21" name="Rounded Rectangle 20"/>
          <p:cNvSpPr/>
          <p:nvPr/>
        </p:nvSpPr>
        <p:spPr>
          <a:xfrm>
            <a:off x="8183880" y="1325880"/>
            <a:ext cx="3703320" cy="4846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ircle-slash-blue.png"/>
          <p:cNvPicPr>
            <a:picLocks noChangeAspect="1"/>
          </p:cNvPicPr>
          <p:nvPr/>
        </p:nvPicPr>
        <p:blipFill>
          <a:blip r:embed="rId4"/>
          <a:stretch>
            <a:fillRect/>
          </a:stretch>
        </p:blipFill>
        <p:spPr>
          <a:xfrm>
            <a:off x="8476488" y="1636776"/>
            <a:ext cx="804672" cy="804672"/>
          </a:xfrm>
          <a:prstGeom prst="rect">
            <a:avLst/>
          </a:prstGeom>
        </p:spPr>
      </p:pic>
      <p:sp>
        <p:nvSpPr>
          <p:cNvPr id="23" name="TextBox 22"/>
          <p:cNvSpPr txBox="1"/>
          <p:nvPr/>
        </p:nvSpPr>
        <p:spPr>
          <a:xfrm>
            <a:off x="8476488" y="2587752"/>
            <a:ext cx="3118103" cy="777240"/>
          </a:xfrm>
          <a:prstGeom prst="rect">
            <a:avLst/>
          </a:prstGeom>
          <a:noFill/>
        </p:spPr>
        <p:txBody>
          <a:bodyPr wrap="square" lIns="0" rIns="0" tIns="0" bIns="0" anchor="t">
            <a:spAutoFit/>
          </a:bodyPr>
          <a:lstStyle/>
          <a:p>
            <a:pPr algn="l">
              <a:lnSpc>
                <a:spcPct val="112000"/>
              </a:lnSpc>
            </a:pPr>
            <a:r>
              <a:rPr sz="1800" b="1" i="0">
                <a:solidFill>
                  <a:srgbClr val="1C7293"/>
                </a:solidFill>
                <a:latin typeface="Arial"/>
              </a:rPr>
              <a:t>Где честно отстаём</a:t>
            </a:r>
          </a:p>
        </p:txBody>
      </p:sp>
      <p:sp>
        <p:nvSpPr>
          <p:cNvPr id="24" name="Rounded Rectangle 23"/>
          <p:cNvSpPr/>
          <p:nvPr/>
        </p:nvSpPr>
        <p:spPr>
          <a:xfrm>
            <a:off x="8476488" y="3557015"/>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77656" y="3474720"/>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зрелого AI-генеративного движка уровня Fusion в РФ нет</a:t>
            </a:r>
          </a:p>
        </p:txBody>
      </p:sp>
      <p:sp>
        <p:nvSpPr>
          <p:cNvPr id="26" name="Rounded Rectangle 25"/>
          <p:cNvSpPr/>
          <p:nvPr/>
        </p:nvSpPr>
        <p:spPr>
          <a:xfrm>
            <a:off x="8476488" y="4489704"/>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77656" y="4407408"/>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честная альтернатива — классическая топ-оптимизация</a:t>
            </a:r>
          </a:p>
        </p:txBody>
      </p:sp>
      <p:sp>
        <p:nvSpPr>
          <p:cNvPr id="28" name="Rounded Rectangle 27"/>
          <p:cNvSpPr/>
          <p:nvPr/>
        </p:nvSpPr>
        <p:spPr>
          <a:xfrm>
            <a:off x="8476488" y="5422392"/>
            <a:ext cx="100584" cy="1005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77656" y="5340096"/>
            <a:ext cx="2971800" cy="841248"/>
          </a:xfrm>
          <a:prstGeom prst="rect">
            <a:avLst/>
          </a:prstGeom>
          <a:noFill/>
        </p:spPr>
        <p:txBody>
          <a:bodyPr wrap="square" lIns="0" rIns="0" tIns="0" bIns="0" anchor="t">
            <a:spAutoFit/>
          </a:bodyPr>
          <a:lstStyle/>
          <a:p>
            <a:pPr algn="l">
              <a:lnSpc>
                <a:spcPct val="124000"/>
              </a:lnSpc>
            </a:pPr>
            <a:r>
              <a:rPr sz="1350" b="0" i="0">
                <a:solidFill>
                  <a:srgbClr val="21295C"/>
                </a:solidFill>
                <a:latin typeface="Arial"/>
              </a:rPr>
              <a:t>+ ручная реконструкция в редактируемое тело</a:t>
            </a:r>
          </a:p>
        </p:txBody>
      </p:sp>
      <p:sp>
        <p:nvSpPr>
          <p:cNvPr id="30" name="TextBox 29"/>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Точная доля объёма, исключаемого APM FEM, — по заявлению вендора.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Главный риск топологической оптимизации — не «галлюцинация», а garbage-in → optimal garbage.</a:t>
            </a:r>
          </a:p>
        </p:txBody>
      </p:sp>
      <p:sp>
        <p:nvSpPr>
          <p:cNvPr id="3" name="Rounded Rectangle 2"/>
          <p:cNvSpPr/>
          <p:nvPr/>
        </p:nvSpPr>
        <p:spPr>
          <a:xfrm>
            <a:off x="502920" y="1463040"/>
            <a:ext cx="3416808"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7512" y="1627632"/>
            <a:ext cx="3087624"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627632"/>
            <a:ext cx="3014472"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1. Неполная постановка</a:t>
            </a:r>
          </a:p>
        </p:txBody>
      </p:sp>
      <p:sp>
        <p:nvSpPr>
          <p:cNvPr id="6" name="TextBox 5"/>
          <p:cNvSpPr txBox="1"/>
          <p:nvPr/>
        </p:nvSpPr>
        <p:spPr>
          <a:xfrm>
            <a:off x="722376" y="2651760"/>
            <a:ext cx="2977896" cy="14356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забыт нагрузочный случай;
не заданы технологические
ограничения</a:t>
            </a:r>
          </a:p>
        </p:txBody>
      </p:sp>
      <p:sp>
        <p:nvSpPr>
          <p:cNvPr id="7" name="Right Arrow 6"/>
          <p:cNvSpPr/>
          <p:nvPr/>
        </p:nvSpPr>
        <p:spPr>
          <a:xfrm>
            <a:off x="3965448" y="2638044"/>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95216" y="1463040"/>
            <a:ext cx="3416808"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59808" y="1627632"/>
            <a:ext cx="3087624"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6384" y="1627632"/>
            <a:ext cx="3014472"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2. Детерминированный
оптимизатор</a:t>
            </a:r>
          </a:p>
        </p:txBody>
      </p:sp>
      <p:sp>
        <p:nvSpPr>
          <p:cNvPr id="11" name="TextBox 10"/>
          <p:cNvSpPr txBox="1"/>
          <p:nvPr/>
        </p:nvSpPr>
        <p:spPr>
          <a:xfrm>
            <a:off x="4614672" y="2651760"/>
            <a:ext cx="2977896" cy="14356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честно решает
поставленную задачу</a:t>
            </a:r>
          </a:p>
        </p:txBody>
      </p:sp>
      <p:sp>
        <p:nvSpPr>
          <p:cNvPr id="12" name="Right Arrow 11"/>
          <p:cNvSpPr/>
          <p:nvPr/>
        </p:nvSpPr>
        <p:spPr>
          <a:xfrm>
            <a:off x="7857744" y="2638044"/>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87512" y="1463040"/>
            <a:ext cx="3416808" cy="2788920"/>
          </a:xfrm>
          <a:prstGeom prst="roundRect">
            <a:avLst>
              <a:gd name="adj" fmla="val 10928"/>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52104" y="1627632"/>
            <a:ext cx="3087624" cy="914400"/>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8680" y="1627632"/>
            <a:ext cx="3014472" cy="914400"/>
          </a:xfrm>
          <a:prstGeom prst="rect">
            <a:avLst/>
          </a:prstGeom>
          <a:noFill/>
        </p:spPr>
        <p:txBody>
          <a:bodyPr wrap="square" lIns="0" rIns="0" tIns="0" bIns="0" anchor="ctr">
            <a:spAutoFit/>
          </a:bodyPr>
          <a:lstStyle/>
          <a:p>
            <a:pPr algn="ctr">
              <a:lnSpc>
                <a:spcPct val="110000"/>
              </a:lnSpc>
            </a:pPr>
            <a:r>
              <a:rPr sz="1500" b="1" i="0">
                <a:solidFill>
                  <a:srgbClr val="21295C"/>
                </a:solidFill>
                <a:latin typeface="Arial"/>
              </a:rPr>
              <a:t>3. Безупречный оптимум —
инженерно непригодная форма</a:t>
            </a:r>
          </a:p>
        </p:txBody>
      </p:sp>
      <p:sp>
        <p:nvSpPr>
          <p:cNvPr id="16" name="TextBox 15"/>
          <p:cNvSpPr txBox="1"/>
          <p:nvPr/>
        </p:nvSpPr>
        <p:spPr>
          <a:xfrm>
            <a:off x="8506968" y="2651760"/>
            <a:ext cx="2977896" cy="14356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математически верна,
изготовить нельзя</a:t>
            </a:r>
          </a:p>
        </p:txBody>
      </p:sp>
      <p:sp>
        <p:nvSpPr>
          <p:cNvPr id="17" name="Rounded Rectangle 16"/>
          <p:cNvSpPr/>
          <p:nvPr/>
        </p:nvSpPr>
        <p:spPr>
          <a:xfrm>
            <a:off x="502920" y="4480560"/>
            <a:ext cx="5532120" cy="1920240"/>
          </a:xfrm>
          <a:prstGeom prst="roundRect">
            <a:avLst>
              <a:gd name="adj" fmla="val 1587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an-blue.png"/>
          <p:cNvPicPr>
            <a:picLocks noChangeAspect="1"/>
          </p:cNvPicPr>
          <p:nvPr/>
        </p:nvPicPr>
        <p:blipFill>
          <a:blip r:embed="rId2"/>
          <a:stretch>
            <a:fillRect/>
          </a:stretch>
        </p:blipFill>
        <p:spPr>
          <a:xfrm>
            <a:off x="777240" y="4791456"/>
            <a:ext cx="768096" cy="768096"/>
          </a:xfrm>
          <a:prstGeom prst="rect">
            <a:avLst/>
          </a:prstGeom>
        </p:spPr>
      </p:pic>
      <p:sp>
        <p:nvSpPr>
          <p:cNvPr id="19" name="TextBox 18"/>
          <p:cNvSpPr txBox="1"/>
          <p:nvPr/>
        </p:nvSpPr>
        <p:spPr>
          <a:xfrm>
            <a:off x="1673352" y="4718304"/>
            <a:ext cx="4123944" cy="1444752"/>
          </a:xfrm>
          <a:prstGeom prst="rect">
            <a:avLst/>
          </a:prstGeom>
          <a:noFill/>
        </p:spPr>
        <p:txBody>
          <a:bodyPr wrap="square" lIns="0" rIns="0" tIns="0" bIns="0" anchor="ctr">
            <a:spAutoFit/>
          </a:bodyPr>
          <a:lstStyle/>
          <a:p>
            <a:pPr algn="l">
              <a:lnSpc>
                <a:spcPct val="124000"/>
              </a:lnSpc>
            </a:pPr>
            <a:r>
              <a:rPr sz="1400" b="0" i="0">
                <a:solidFill>
                  <a:srgbClr val="21295C"/>
                </a:solidFill>
                <a:latin typeface="Arial"/>
              </a:rPr>
              <a:t>Неизготовимость: замкнутые полости и криволинейные рёбра без доступа фрезы — только аддитив; трудно для обмера и нормоконтроля по ЕСКД.</a:t>
            </a:r>
          </a:p>
        </p:txBody>
      </p:sp>
      <p:sp>
        <p:nvSpPr>
          <p:cNvPr id="20" name="Rounded Rectangle 19"/>
          <p:cNvSpPr/>
          <p:nvPr/>
        </p:nvSpPr>
        <p:spPr>
          <a:xfrm>
            <a:off x="6172200" y="4480560"/>
            <a:ext cx="5532120" cy="1920240"/>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535424"/>
            <a:ext cx="5074920" cy="181051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Альтернатива для серийной фрезеровки/литья — классическая параметрика + ручная топологическая оптимизация под технологичность.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3</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ИИ ускоряет счёт,
не заменяет физику</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суррогат угадывает выход решателя по примерам; PINN сглаживает скачки</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Синтез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КЭ-анализ решает уравнения равновесия; суррогат угадывает поле по примерам.</a:t>
            </a:r>
          </a:p>
        </p:txBody>
      </p:sp>
      <p:sp>
        <p:nvSpPr>
          <p:cNvPr id="3" name="Rounded Rectangle 2"/>
          <p:cNvSpPr/>
          <p:nvPr/>
        </p:nvSpPr>
        <p:spPr>
          <a:xfrm>
            <a:off x="502920" y="1417320"/>
            <a:ext cx="11201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1783080"/>
            <a:ext cx="18288" cy="342900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id-3x3-blue.png"/>
          <p:cNvPicPr>
            <a:picLocks noChangeAspect="1"/>
          </p:cNvPicPr>
          <p:nvPr/>
        </p:nvPicPr>
        <p:blipFill>
          <a:blip r:embed="rId2"/>
          <a:stretch>
            <a:fillRect/>
          </a:stretch>
        </p:blipFill>
        <p:spPr>
          <a:xfrm>
            <a:off x="960120" y="1783080"/>
            <a:ext cx="640080" cy="640080"/>
          </a:xfrm>
          <a:prstGeom prst="rect">
            <a:avLst/>
          </a:prstGeom>
        </p:spPr>
      </p:pic>
      <p:sp>
        <p:nvSpPr>
          <p:cNvPr id="6" name="TextBox 5"/>
          <p:cNvSpPr txBox="1"/>
          <p:nvPr/>
        </p:nvSpPr>
        <p:spPr>
          <a:xfrm>
            <a:off x="1801368" y="1801368"/>
            <a:ext cx="3845052" cy="713232"/>
          </a:xfrm>
          <a:prstGeom prst="rect">
            <a:avLst/>
          </a:prstGeom>
          <a:noFill/>
        </p:spPr>
        <p:txBody>
          <a:bodyPr wrap="square" lIns="0" rIns="0" tIns="0" bIns="0" anchor="ctr">
            <a:spAutoFit/>
          </a:bodyPr>
          <a:lstStyle/>
          <a:p>
            <a:pPr algn="l">
              <a:lnSpc>
                <a:spcPct val="110000"/>
              </a:lnSpc>
            </a:pPr>
            <a:r>
              <a:rPr sz="2000" b="1" i="0">
                <a:solidFill>
                  <a:srgbClr val="065A82"/>
                </a:solidFill>
                <a:latin typeface="Arial"/>
              </a:rPr>
              <a:t>КЭ-решатель</a:t>
            </a:r>
          </a:p>
        </p:txBody>
      </p:sp>
      <p:sp>
        <p:nvSpPr>
          <p:cNvPr id="7" name="Rounded Rectangle 6"/>
          <p:cNvSpPr/>
          <p:nvPr/>
        </p:nvSpPr>
        <p:spPr>
          <a:xfrm>
            <a:off x="978408" y="2965704"/>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2560320"/>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деталь → сетка → решает систему уравнений равновесия → поле напряжений</a:t>
            </a:r>
          </a:p>
        </p:txBody>
      </p:sp>
      <p:sp>
        <p:nvSpPr>
          <p:cNvPr id="9" name="Rounded Rectangle 8"/>
          <p:cNvSpPr/>
          <p:nvPr/>
        </p:nvSpPr>
        <p:spPr>
          <a:xfrm>
            <a:off x="978408" y="3886200"/>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3480816"/>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проверенная, прослеживаемая, детерминированная математика</a:t>
            </a:r>
          </a:p>
        </p:txBody>
      </p:sp>
      <p:sp>
        <p:nvSpPr>
          <p:cNvPr id="11" name="Rounded Rectangle 10"/>
          <p:cNvSpPr/>
          <p:nvPr/>
        </p:nvSpPr>
        <p:spPr>
          <a:xfrm>
            <a:off x="978408" y="4806695"/>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4401311"/>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контроль погрешности проверкой сходимости сетки</a:t>
            </a:r>
          </a:p>
        </p:txBody>
      </p:sp>
      <p:pic>
        <p:nvPicPr>
          <p:cNvPr id="13" name="Picture 12" descr="gauge-teal.png"/>
          <p:cNvPicPr>
            <a:picLocks noChangeAspect="1"/>
          </p:cNvPicPr>
          <p:nvPr/>
        </p:nvPicPr>
        <p:blipFill>
          <a:blip r:embed="rId3"/>
          <a:stretch>
            <a:fillRect/>
          </a:stretch>
        </p:blipFill>
        <p:spPr>
          <a:xfrm>
            <a:off x="6560820" y="1783080"/>
            <a:ext cx="640080" cy="640080"/>
          </a:xfrm>
          <a:prstGeom prst="rect">
            <a:avLst/>
          </a:prstGeom>
        </p:spPr>
      </p:pic>
      <p:sp>
        <p:nvSpPr>
          <p:cNvPr id="14" name="TextBox 13"/>
          <p:cNvSpPr txBox="1"/>
          <p:nvPr/>
        </p:nvSpPr>
        <p:spPr>
          <a:xfrm>
            <a:off x="7402068" y="1801368"/>
            <a:ext cx="3845052" cy="713232"/>
          </a:xfrm>
          <a:prstGeom prst="rect">
            <a:avLst/>
          </a:prstGeom>
          <a:noFill/>
        </p:spPr>
        <p:txBody>
          <a:bodyPr wrap="square" lIns="0" rIns="0" tIns="0" bIns="0" anchor="ctr">
            <a:spAutoFit/>
          </a:bodyPr>
          <a:lstStyle/>
          <a:p>
            <a:pPr algn="l">
              <a:lnSpc>
                <a:spcPct val="110000"/>
              </a:lnSpc>
            </a:pPr>
            <a:r>
              <a:rPr sz="2000" b="1" i="0">
                <a:solidFill>
                  <a:srgbClr val="028090"/>
                </a:solidFill>
                <a:latin typeface="Arial"/>
              </a:rPr>
              <a:t>Суррогат</a:t>
            </a:r>
          </a:p>
        </p:txBody>
      </p:sp>
      <p:sp>
        <p:nvSpPr>
          <p:cNvPr id="15" name="Rounded Rectangle 14"/>
          <p:cNvSpPr/>
          <p:nvPr/>
        </p:nvSpPr>
        <p:spPr>
          <a:xfrm>
            <a:off x="6579107" y="2965704"/>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3428" y="2560320"/>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выучил отображение «геометрия+нагрузки → напряжения» на тысячах расчётов</a:t>
            </a:r>
          </a:p>
        </p:txBody>
      </p:sp>
      <p:sp>
        <p:nvSpPr>
          <p:cNvPr id="17" name="Rounded Rectangle 16"/>
          <p:cNvSpPr/>
          <p:nvPr/>
        </p:nvSpPr>
        <p:spPr>
          <a:xfrm>
            <a:off x="6579107" y="3886200"/>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3428" y="3480816"/>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НЕ решает уравнение — угадывает по примерам</a:t>
            </a:r>
          </a:p>
        </p:txBody>
      </p:sp>
      <p:sp>
        <p:nvSpPr>
          <p:cNvPr id="19" name="Rounded Rectangle 18"/>
          <p:cNvSpPr/>
          <p:nvPr/>
        </p:nvSpPr>
        <p:spPr>
          <a:xfrm>
            <a:off x="6579107" y="4806695"/>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3428" y="4401311"/>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обучение оффлайн, заранее, на дорогом архиве</a:t>
            </a:r>
          </a:p>
        </p:txBody>
      </p:sp>
      <p:sp>
        <p:nvSpPr>
          <p:cNvPr id="21" name="Rounded Rectangle 20"/>
          <p:cNvSpPr/>
          <p:nvPr/>
        </p:nvSpPr>
        <p:spPr>
          <a:xfrm>
            <a:off x="502920" y="5715000"/>
            <a:ext cx="11201400" cy="713232"/>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69864"/>
            <a:ext cx="10744200" cy="603504"/>
          </a:xfrm>
          <a:prstGeom prst="rect">
            <a:avLst/>
          </a:prstGeom>
          <a:noFill/>
        </p:spPr>
        <p:txBody>
          <a:bodyPr wrap="square" lIns="0" rIns="0" tIns="0" bIns="0" anchor="ctr">
            <a:spAutoFit/>
          </a:bodyPr>
          <a:lstStyle/>
          <a:p>
            <a:pPr algn="ctr">
              <a:lnSpc>
                <a:spcPct val="122000"/>
              </a:lnSpc>
            </a:pPr>
            <a:r>
              <a:rPr sz="1800" b="1" i="0">
                <a:solidFill>
                  <a:srgbClr val="21295C"/>
                </a:solidFill>
                <a:latin typeface="Arial"/>
              </a:rPr>
              <a:t>Под капотом — система уравнений равновесия; суррогат её не решает.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Суррогаты-2026: «до N×» — верхняя граница, не типичное.</a:t>
            </a:r>
          </a:p>
        </p:txBody>
      </p:sp>
      <p:sp>
        <p:nvSpPr>
          <p:cNvPr id="3" name="TextBox 2"/>
          <p:cNvSpPr txBox="1"/>
          <p:nvPr/>
        </p:nvSpPr>
        <p:spPr>
          <a:xfrm>
            <a:off x="502920" y="1097280"/>
            <a:ext cx="11247120" cy="36576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К 2026 крупные вендоры превратили суррогаты в продукт — числа читаем критически.</a:t>
            </a:r>
          </a:p>
        </p:txBody>
      </p:sp>
      <p:sp>
        <p:nvSpPr>
          <p:cNvPr id="4" name="Rounded Rectangle 3"/>
          <p:cNvSpPr/>
          <p:nvPr/>
        </p:nvSpPr>
        <p:spPr>
          <a:xfrm>
            <a:off x="502920" y="1645920"/>
            <a:ext cx="3703320" cy="3200400"/>
          </a:xfrm>
          <a:prstGeom prst="roundRect">
            <a:avLst>
              <a:gd name="adj" fmla="val 95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ap-blue.png"/>
          <p:cNvPicPr>
            <a:picLocks noChangeAspect="1"/>
          </p:cNvPicPr>
          <p:nvPr/>
        </p:nvPicPr>
        <p:blipFill>
          <a:blip r:embed="rId2"/>
          <a:stretch>
            <a:fillRect/>
          </a:stretch>
        </p:blipFill>
        <p:spPr>
          <a:xfrm>
            <a:off x="795528" y="1956816"/>
            <a:ext cx="676656" cy="676656"/>
          </a:xfrm>
          <a:prstGeom prst="rect">
            <a:avLst/>
          </a:prstGeom>
        </p:spPr>
      </p:pic>
      <p:sp>
        <p:nvSpPr>
          <p:cNvPr id="6" name="TextBox 5"/>
          <p:cNvSpPr txBox="1"/>
          <p:nvPr/>
        </p:nvSpPr>
        <p:spPr>
          <a:xfrm>
            <a:off x="1600200" y="1975104"/>
            <a:ext cx="2423160" cy="621792"/>
          </a:xfrm>
          <a:prstGeom prst="rect">
            <a:avLst/>
          </a:prstGeom>
          <a:noFill/>
        </p:spPr>
        <p:txBody>
          <a:bodyPr wrap="square" lIns="0" rIns="0" tIns="0" bIns="0" anchor="ctr">
            <a:spAutoFit/>
          </a:bodyPr>
          <a:lstStyle/>
          <a:p>
            <a:pPr algn="l">
              <a:lnSpc>
                <a:spcPct val="110000"/>
              </a:lnSpc>
            </a:pPr>
            <a:r>
              <a:rPr sz="1800" b="1" i="0">
                <a:solidFill>
                  <a:srgbClr val="21295C"/>
                </a:solidFill>
                <a:latin typeface="Arial"/>
              </a:rPr>
              <a:t>Ansys SimAI</a:t>
            </a:r>
          </a:p>
        </p:txBody>
      </p:sp>
      <p:sp>
        <p:nvSpPr>
          <p:cNvPr id="7" name="TextBox 6"/>
          <p:cNvSpPr txBox="1"/>
          <p:nvPr/>
        </p:nvSpPr>
        <p:spPr>
          <a:xfrm>
            <a:off x="795528" y="2779776"/>
            <a:ext cx="3118103" cy="347472"/>
          </a:xfrm>
          <a:prstGeom prst="rect">
            <a:avLst/>
          </a:prstGeom>
          <a:noFill/>
        </p:spPr>
        <p:txBody>
          <a:bodyPr wrap="square" lIns="0" rIns="0" tIns="0" bIns="0" anchor="t">
            <a:spAutoFit/>
          </a:bodyPr>
          <a:lstStyle/>
          <a:p>
            <a:pPr algn="l">
              <a:lnSpc>
                <a:spcPct val="115000"/>
              </a:lnSpc>
            </a:pPr>
            <a:r>
              <a:rPr sz="1300" b="0" i="1">
                <a:solidFill>
                  <a:srgbClr val="028090"/>
                </a:solidFill>
                <a:latin typeface="Arial"/>
              </a:rPr>
              <a:t>релиз 2026 R1</a:t>
            </a:r>
          </a:p>
        </p:txBody>
      </p:sp>
      <p:sp>
        <p:nvSpPr>
          <p:cNvPr id="8" name="TextBox 7"/>
          <p:cNvSpPr txBox="1"/>
          <p:nvPr/>
        </p:nvSpPr>
        <p:spPr>
          <a:xfrm>
            <a:off x="795528" y="3200400"/>
            <a:ext cx="3118103" cy="1508760"/>
          </a:xfrm>
          <a:prstGeom prst="rect">
            <a:avLst/>
          </a:prstGeom>
          <a:noFill/>
        </p:spPr>
        <p:txBody>
          <a:bodyPr wrap="square" lIns="0" rIns="0" tIns="0" bIns="0" anchor="t">
            <a:spAutoFit/>
          </a:bodyPr>
          <a:lstStyle/>
          <a:p>
            <a:pPr algn="l">
              <a:lnSpc>
                <a:spcPct val="130000"/>
              </a:lnSpc>
            </a:pPr>
            <a:r>
              <a:rPr sz="1450" b="0" i="0">
                <a:solidFill>
                  <a:srgbClr val="21295C"/>
                </a:solidFill>
                <a:latin typeface="Arial"/>
              </a:rPr>
              <a:t>суррогат на основе редуцированной модели; ускорение — от десятков до сотен раз</a:t>
            </a:r>
          </a:p>
        </p:txBody>
      </p:sp>
      <p:sp>
        <p:nvSpPr>
          <p:cNvPr id="9" name="Rounded Rectangle 8"/>
          <p:cNvSpPr/>
          <p:nvPr/>
        </p:nvSpPr>
        <p:spPr>
          <a:xfrm>
            <a:off x="4343400" y="1645920"/>
            <a:ext cx="3703320" cy="3200400"/>
          </a:xfrm>
          <a:prstGeom prst="roundRect">
            <a:avLst>
              <a:gd name="adj" fmla="val 95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zap-blue.png"/>
          <p:cNvPicPr>
            <a:picLocks noChangeAspect="1"/>
          </p:cNvPicPr>
          <p:nvPr/>
        </p:nvPicPr>
        <p:blipFill>
          <a:blip r:embed="rId2"/>
          <a:stretch>
            <a:fillRect/>
          </a:stretch>
        </p:blipFill>
        <p:spPr>
          <a:xfrm>
            <a:off x="4636008" y="1956816"/>
            <a:ext cx="676656" cy="676656"/>
          </a:xfrm>
          <a:prstGeom prst="rect">
            <a:avLst/>
          </a:prstGeom>
        </p:spPr>
      </p:pic>
      <p:sp>
        <p:nvSpPr>
          <p:cNvPr id="11" name="TextBox 10"/>
          <p:cNvSpPr txBox="1"/>
          <p:nvPr/>
        </p:nvSpPr>
        <p:spPr>
          <a:xfrm>
            <a:off x="5440680" y="1975104"/>
            <a:ext cx="2423160" cy="621792"/>
          </a:xfrm>
          <a:prstGeom prst="rect">
            <a:avLst/>
          </a:prstGeom>
          <a:noFill/>
        </p:spPr>
        <p:txBody>
          <a:bodyPr wrap="square" lIns="0" rIns="0" tIns="0" bIns="0" anchor="ctr">
            <a:spAutoFit/>
          </a:bodyPr>
          <a:lstStyle/>
          <a:p>
            <a:pPr algn="l">
              <a:lnSpc>
                <a:spcPct val="110000"/>
              </a:lnSpc>
            </a:pPr>
            <a:r>
              <a:rPr sz="1800" b="1" i="0">
                <a:solidFill>
                  <a:srgbClr val="21295C"/>
                </a:solidFill>
                <a:latin typeface="Arial"/>
              </a:rPr>
              <a:t>Altair PhysicsAI</a:t>
            </a:r>
          </a:p>
        </p:txBody>
      </p:sp>
      <p:sp>
        <p:nvSpPr>
          <p:cNvPr id="12" name="TextBox 11"/>
          <p:cNvSpPr txBox="1"/>
          <p:nvPr/>
        </p:nvSpPr>
        <p:spPr>
          <a:xfrm>
            <a:off x="4636008" y="2779776"/>
            <a:ext cx="3118103" cy="347472"/>
          </a:xfrm>
          <a:prstGeom prst="rect">
            <a:avLst/>
          </a:prstGeom>
          <a:noFill/>
        </p:spPr>
        <p:txBody>
          <a:bodyPr wrap="square" lIns="0" rIns="0" tIns="0" bIns="0" anchor="t">
            <a:spAutoFit/>
          </a:bodyPr>
          <a:lstStyle/>
          <a:p>
            <a:pPr algn="l">
              <a:lnSpc>
                <a:spcPct val="115000"/>
              </a:lnSpc>
            </a:pPr>
            <a:r>
              <a:rPr sz="1300" b="0" i="1">
                <a:solidFill>
                  <a:srgbClr val="028090"/>
                </a:solidFill>
                <a:latin typeface="Arial"/>
              </a:rPr>
              <a:t>обучение на архиве</a:t>
            </a:r>
          </a:p>
        </p:txBody>
      </p:sp>
      <p:sp>
        <p:nvSpPr>
          <p:cNvPr id="13" name="TextBox 12"/>
          <p:cNvSpPr txBox="1"/>
          <p:nvPr/>
        </p:nvSpPr>
        <p:spPr>
          <a:xfrm>
            <a:off x="4636008" y="3200400"/>
            <a:ext cx="3118103" cy="1508760"/>
          </a:xfrm>
          <a:prstGeom prst="rect">
            <a:avLst/>
          </a:prstGeom>
          <a:noFill/>
        </p:spPr>
        <p:txBody>
          <a:bodyPr wrap="square" lIns="0" rIns="0" tIns="0" bIns="0" anchor="t">
            <a:spAutoFit/>
          </a:bodyPr>
          <a:lstStyle/>
          <a:p>
            <a:pPr algn="l">
              <a:lnSpc>
                <a:spcPct val="130000"/>
              </a:lnSpc>
            </a:pPr>
            <a:r>
              <a:rPr sz="1450" b="0" i="0">
                <a:solidFill>
                  <a:srgbClr val="21295C"/>
                </a:solidFill>
                <a:latin typeface="Arial"/>
              </a:rPr>
              <a:t>учится на историческом архиве симуляций; ускорение до порядка тысячи раз</a:t>
            </a:r>
          </a:p>
        </p:txBody>
      </p:sp>
      <p:sp>
        <p:nvSpPr>
          <p:cNvPr id="14" name="Rounded Rectangle 13"/>
          <p:cNvSpPr/>
          <p:nvPr/>
        </p:nvSpPr>
        <p:spPr>
          <a:xfrm>
            <a:off x="8183880" y="1645920"/>
            <a:ext cx="3703320" cy="3200400"/>
          </a:xfrm>
          <a:prstGeom prst="roundRect">
            <a:avLst>
              <a:gd name="adj" fmla="val 95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zap-blue.png"/>
          <p:cNvPicPr>
            <a:picLocks noChangeAspect="1"/>
          </p:cNvPicPr>
          <p:nvPr/>
        </p:nvPicPr>
        <p:blipFill>
          <a:blip r:embed="rId2"/>
          <a:stretch>
            <a:fillRect/>
          </a:stretch>
        </p:blipFill>
        <p:spPr>
          <a:xfrm>
            <a:off x="8476488" y="1956816"/>
            <a:ext cx="676656" cy="676656"/>
          </a:xfrm>
          <a:prstGeom prst="rect">
            <a:avLst/>
          </a:prstGeom>
        </p:spPr>
      </p:pic>
      <p:sp>
        <p:nvSpPr>
          <p:cNvPr id="16" name="TextBox 15"/>
          <p:cNvSpPr txBox="1"/>
          <p:nvPr/>
        </p:nvSpPr>
        <p:spPr>
          <a:xfrm>
            <a:off x="9281160" y="1975104"/>
            <a:ext cx="2423160" cy="621792"/>
          </a:xfrm>
          <a:prstGeom prst="rect">
            <a:avLst/>
          </a:prstGeom>
          <a:noFill/>
        </p:spPr>
        <p:txBody>
          <a:bodyPr wrap="square" lIns="0" rIns="0" tIns="0" bIns="0" anchor="ctr">
            <a:spAutoFit/>
          </a:bodyPr>
          <a:lstStyle/>
          <a:p>
            <a:pPr algn="l">
              <a:lnSpc>
                <a:spcPct val="110000"/>
              </a:lnSpc>
            </a:pPr>
            <a:r>
              <a:rPr sz="1800" b="1" i="0">
                <a:solidFill>
                  <a:srgbClr val="21295C"/>
                </a:solidFill>
                <a:latin typeface="Arial"/>
              </a:rPr>
              <a:t>NVIDIA PhysicsNeMo</a:t>
            </a:r>
          </a:p>
        </p:txBody>
      </p:sp>
      <p:sp>
        <p:nvSpPr>
          <p:cNvPr id="17" name="TextBox 16"/>
          <p:cNvSpPr txBox="1"/>
          <p:nvPr/>
        </p:nvSpPr>
        <p:spPr>
          <a:xfrm>
            <a:off x="8476488" y="2779776"/>
            <a:ext cx="3118103" cy="347472"/>
          </a:xfrm>
          <a:prstGeom prst="rect">
            <a:avLst/>
          </a:prstGeom>
          <a:noFill/>
        </p:spPr>
        <p:txBody>
          <a:bodyPr wrap="square" lIns="0" rIns="0" tIns="0" bIns="0" anchor="t">
            <a:spAutoFit/>
          </a:bodyPr>
          <a:lstStyle/>
          <a:p>
            <a:pPr algn="l">
              <a:lnSpc>
                <a:spcPct val="115000"/>
              </a:lnSpc>
            </a:pPr>
            <a:r>
              <a:rPr sz="1300" b="0" i="1">
                <a:solidFill>
                  <a:srgbClr val="028090"/>
                </a:solidFill>
                <a:latin typeface="Arial"/>
              </a:rPr>
              <a:t>open-source</a:t>
            </a:r>
          </a:p>
        </p:txBody>
      </p:sp>
      <p:sp>
        <p:nvSpPr>
          <p:cNvPr id="18" name="TextBox 17"/>
          <p:cNvSpPr txBox="1"/>
          <p:nvPr/>
        </p:nvSpPr>
        <p:spPr>
          <a:xfrm>
            <a:off x="8476488" y="3200400"/>
            <a:ext cx="3118103" cy="1508760"/>
          </a:xfrm>
          <a:prstGeom prst="rect">
            <a:avLst/>
          </a:prstGeom>
          <a:noFill/>
        </p:spPr>
        <p:txBody>
          <a:bodyPr wrap="square" lIns="0" rIns="0" tIns="0" bIns="0" anchor="t">
            <a:spAutoFit/>
          </a:bodyPr>
          <a:lstStyle/>
          <a:p>
            <a:pPr algn="l">
              <a:lnSpc>
                <a:spcPct val="130000"/>
              </a:lnSpc>
            </a:pPr>
            <a:r>
              <a:rPr sz="1450" b="0" i="0">
                <a:solidFill>
                  <a:srgbClr val="21295C"/>
                </a:solidFill>
                <a:latin typeface="Arial"/>
              </a:rPr>
              <a:t>открытый Python-фреймворк physics-AI: от PINN до нейронных операторов</a:t>
            </a:r>
          </a:p>
        </p:txBody>
      </p:sp>
      <p:sp>
        <p:nvSpPr>
          <p:cNvPr id="19" name="Rounded Rectangle 18"/>
          <p:cNvSpPr/>
          <p:nvPr/>
        </p:nvSpPr>
        <p:spPr>
          <a:xfrm>
            <a:off x="502920" y="5074920"/>
            <a:ext cx="11201400" cy="1353312"/>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129783"/>
            <a:ext cx="10744200" cy="1243584"/>
          </a:xfrm>
          <a:prstGeom prst="rect">
            <a:avLst/>
          </a:prstGeom>
          <a:noFill/>
        </p:spPr>
        <p:txBody>
          <a:bodyPr wrap="square" lIns="0" rIns="0" tIns="0" bIns="0" anchor="ctr">
            <a:spAutoFit/>
          </a:bodyPr>
          <a:lstStyle/>
          <a:p>
            <a:pPr algn="l">
              <a:lnSpc>
                <a:spcPct val="122000"/>
              </a:lnSpc>
            </a:pPr>
            <a:r>
              <a:rPr sz="1600" b="1" i="0">
                <a:solidFill>
                  <a:srgbClr val="21295C"/>
                </a:solidFill>
                <a:latin typeface="Arial"/>
              </a:rPr>
              <a:t>«до ~10²–10³×» (≈ ×100–×1000) — на выгодном для вендора частном случае. Стоимость генерации обучающего архива (тысячи дорогих прогонов решателя) из ROI исключают.</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PINN «размазывает» пик у концентратора и выдаёт заниженное напряжение.</a:t>
            </a:r>
          </a:p>
        </p:txBody>
      </p:sp>
      <p:sp>
        <p:nvSpPr>
          <p:cNvPr id="3" name="Rounded Rectangle 2"/>
          <p:cNvSpPr/>
          <p:nvPr/>
        </p:nvSpPr>
        <p:spPr>
          <a:xfrm>
            <a:off x="502920" y="1417320"/>
            <a:ext cx="6263640" cy="4434840"/>
          </a:xfrm>
          <a:prstGeom prst="roundRect">
            <a:avLst>
              <a:gd name="adj" fmla="val 68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2377440"/>
            <a:ext cx="32004" cy="2514599"/>
          </a:xfrm>
          <a:prstGeom prst="rect">
            <a:avLst/>
          </a:prstGeom>
          <a:solidFill>
            <a:srgbClr val="6B76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4892040"/>
            <a:ext cx="5349240" cy="32004"/>
          </a:xfrm>
          <a:prstGeom prst="rect">
            <a:avLst/>
          </a:prstGeom>
          <a:solidFill>
            <a:srgbClr val="6B76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18488"/>
            <a:ext cx="5715000" cy="310896"/>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напряжение вдоль сечения у отверстия / выточки</a:t>
            </a:r>
          </a:p>
        </p:txBody>
      </p:sp>
      <p:sp>
        <p:nvSpPr>
          <p:cNvPr id="7" name="Freeform 6"/>
          <p:cNvSpPr/>
          <p:nvPr/>
        </p:nvSpPr>
        <p:spPr>
          <a:xfrm>
            <a:off x="1115568" y="3200399"/>
            <a:ext cx="5166359" cy="1691641"/>
          </a:xfrm>
          <a:custGeom>
            <a:avLst/>
            <a:gdLst/>
            <a:ahLst/>
            <a:cxnLst/>
            <a:rect l="l" t="t" r="r" b="b"/>
            <a:pathLst>
              <a:path w="5166359" h="1691641">
                <a:moveTo>
                  <a:pt x="0" y="1691641"/>
                </a:moveTo>
                <a:lnTo>
                  <a:pt x="0" y="1188716"/>
                </a:lnTo>
                <a:lnTo>
                  <a:pt x="64579" y="1188712"/>
                </a:lnTo>
                <a:lnTo>
                  <a:pt x="129159" y="1188706"/>
                </a:lnTo>
                <a:lnTo>
                  <a:pt x="193738" y="1188694"/>
                </a:lnTo>
                <a:lnTo>
                  <a:pt x="258318" y="1188673"/>
                </a:lnTo>
                <a:lnTo>
                  <a:pt x="322897" y="1188638"/>
                </a:lnTo>
                <a:lnTo>
                  <a:pt x="387477" y="1188578"/>
                </a:lnTo>
                <a:lnTo>
                  <a:pt x="452056" y="1188481"/>
                </a:lnTo>
                <a:lnTo>
                  <a:pt x="516636" y="1188322"/>
                </a:lnTo>
                <a:lnTo>
                  <a:pt x="581215" y="1188068"/>
                </a:lnTo>
                <a:lnTo>
                  <a:pt x="645795" y="1187670"/>
                </a:lnTo>
                <a:lnTo>
                  <a:pt x="710374" y="1187055"/>
                </a:lnTo>
                <a:lnTo>
                  <a:pt x="774954" y="1186120"/>
                </a:lnTo>
                <a:lnTo>
                  <a:pt x="839533" y="1184724"/>
                </a:lnTo>
                <a:lnTo>
                  <a:pt x="904113" y="1182675"/>
                </a:lnTo>
                <a:lnTo>
                  <a:pt x="968692" y="1179715"/>
                </a:lnTo>
                <a:lnTo>
                  <a:pt x="1033272" y="1175515"/>
                </a:lnTo>
                <a:lnTo>
                  <a:pt x="1097851" y="1169656"/>
                </a:lnTo>
                <a:lnTo>
                  <a:pt x="1162431" y="1161625"/>
                </a:lnTo>
                <a:lnTo>
                  <a:pt x="1227010" y="1150807"/>
                </a:lnTo>
                <a:lnTo>
                  <a:pt x="1291590" y="1136492"/>
                </a:lnTo>
                <a:lnTo>
                  <a:pt x="1356169" y="1117888"/>
                </a:lnTo>
                <a:lnTo>
                  <a:pt x="1420749" y="1094147"/>
                </a:lnTo>
                <a:lnTo>
                  <a:pt x="1485328" y="1064405"/>
                </a:lnTo>
                <a:lnTo>
                  <a:pt x="1549908" y="1027845"/>
                </a:lnTo>
                <a:lnTo>
                  <a:pt x="1614487" y="983759"/>
                </a:lnTo>
                <a:lnTo>
                  <a:pt x="1679067" y="931642"/>
                </a:lnTo>
                <a:lnTo>
                  <a:pt x="1743646" y="871271"/>
                </a:lnTo>
                <a:lnTo>
                  <a:pt x="1808226" y="802800"/>
                </a:lnTo>
                <a:lnTo>
                  <a:pt x="1872805" y="726834"/>
                </a:lnTo>
                <a:lnTo>
                  <a:pt x="1937385" y="644485"/>
                </a:lnTo>
                <a:lnTo>
                  <a:pt x="2001964" y="557396"/>
                </a:lnTo>
                <a:lnTo>
                  <a:pt x="2066544" y="467725"/>
                </a:lnTo>
                <a:lnTo>
                  <a:pt x="2131123" y="378084"/>
                </a:lnTo>
                <a:lnTo>
                  <a:pt x="2195703" y="291428"/>
                </a:lnTo>
                <a:lnTo>
                  <a:pt x="2260282" y="210906"/>
                </a:lnTo>
                <a:lnTo>
                  <a:pt x="2324862" y="139679"/>
                </a:lnTo>
                <a:lnTo>
                  <a:pt x="2389441" y="80712"/>
                </a:lnTo>
                <a:lnTo>
                  <a:pt x="2454020" y="36574"/>
                </a:lnTo>
                <a:lnTo>
                  <a:pt x="2518600" y="9251"/>
                </a:lnTo>
                <a:lnTo>
                  <a:pt x="2583180" y="0"/>
                </a:lnTo>
                <a:lnTo>
                  <a:pt x="2647759" y="9251"/>
                </a:lnTo>
                <a:lnTo>
                  <a:pt x="2712339" y="36574"/>
                </a:lnTo>
                <a:lnTo>
                  <a:pt x="2776918" y="80712"/>
                </a:lnTo>
                <a:lnTo>
                  <a:pt x="2841498" y="139679"/>
                </a:lnTo>
                <a:lnTo>
                  <a:pt x="2906077" y="210906"/>
                </a:lnTo>
                <a:lnTo>
                  <a:pt x="2970657" y="291428"/>
                </a:lnTo>
                <a:lnTo>
                  <a:pt x="3035236" y="378084"/>
                </a:lnTo>
                <a:lnTo>
                  <a:pt x="3099815" y="467725"/>
                </a:lnTo>
                <a:lnTo>
                  <a:pt x="3164395" y="557396"/>
                </a:lnTo>
                <a:lnTo>
                  <a:pt x="3228975" y="644485"/>
                </a:lnTo>
                <a:lnTo>
                  <a:pt x="3293554" y="726834"/>
                </a:lnTo>
                <a:lnTo>
                  <a:pt x="3358134" y="802800"/>
                </a:lnTo>
                <a:lnTo>
                  <a:pt x="3422713" y="871271"/>
                </a:lnTo>
                <a:lnTo>
                  <a:pt x="3487293" y="931642"/>
                </a:lnTo>
                <a:lnTo>
                  <a:pt x="3551872" y="983759"/>
                </a:lnTo>
                <a:lnTo>
                  <a:pt x="3616451" y="1027845"/>
                </a:lnTo>
                <a:lnTo>
                  <a:pt x="3681031" y="1064405"/>
                </a:lnTo>
                <a:lnTo>
                  <a:pt x="3745611" y="1094147"/>
                </a:lnTo>
                <a:lnTo>
                  <a:pt x="3810190" y="1117888"/>
                </a:lnTo>
                <a:lnTo>
                  <a:pt x="3874770" y="1136492"/>
                </a:lnTo>
                <a:lnTo>
                  <a:pt x="3939349" y="1150807"/>
                </a:lnTo>
                <a:lnTo>
                  <a:pt x="4003929" y="1161625"/>
                </a:lnTo>
                <a:lnTo>
                  <a:pt x="4068508" y="1169656"/>
                </a:lnTo>
                <a:lnTo>
                  <a:pt x="4133088" y="1175515"/>
                </a:lnTo>
                <a:lnTo>
                  <a:pt x="4197667" y="1179715"/>
                </a:lnTo>
                <a:lnTo>
                  <a:pt x="4262247" y="1182675"/>
                </a:lnTo>
                <a:lnTo>
                  <a:pt x="4326826" y="1184724"/>
                </a:lnTo>
                <a:lnTo>
                  <a:pt x="4391405" y="1186120"/>
                </a:lnTo>
                <a:lnTo>
                  <a:pt x="4455985" y="1187055"/>
                </a:lnTo>
                <a:lnTo>
                  <a:pt x="4520565" y="1187670"/>
                </a:lnTo>
                <a:lnTo>
                  <a:pt x="4585144" y="1188068"/>
                </a:lnTo>
                <a:lnTo>
                  <a:pt x="4649724" y="1188322"/>
                </a:lnTo>
                <a:lnTo>
                  <a:pt x="4714303" y="1188481"/>
                </a:lnTo>
                <a:lnTo>
                  <a:pt x="4778882" y="1188578"/>
                </a:lnTo>
                <a:lnTo>
                  <a:pt x="4843462" y="1188638"/>
                </a:lnTo>
                <a:lnTo>
                  <a:pt x="4908041" y="1188673"/>
                </a:lnTo>
                <a:lnTo>
                  <a:pt x="4972621" y="1188694"/>
                </a:lnTo>
                <a:lnTo>
                  <a:pt x="5037201" y="1188706"/>
                </a:lnTo>
                <a:lnTo>
                  <a:pt x="5101780" y="1188712"/>
                </a:lnTo>
                <a:lnTo>
                  <a:pt x="5166359" y="1188716"/>
                </a:lnTo>
                <a:lnTo>
                  <a:pt x="5166359" y="1691641"/>
                </a:lnTo>
                <a:close/>
              </a:path>
            </a:pathLst>
          </a:cu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115568" y="2148839"/>
            <a:ext cx="5166359" cy="2743201"/>
          </a:xfrm>
          <a:custGeom>
            <a:avLst/>
            <a:gdLst/>
            <a:ahLst/>
            <a:cxnLst/>
            <a:rect l="l" t="t" r="r" b="b"/>
            <a:pathLst>
              <a:path w="5166359" h="2743201">
                <a:moveTo>
                  <a:pt x="0" y="2743201"/>
                </a:moveTo>
                <a:lnTo>
                  <a:pt x="0" y="2240281"/>
                </a:lnTo>
                <a:lnTo>
                  <a:pt x="64579" y="2240281"/>
                </a:lnTo>
                <a:lnTo>
                  <a:pt x="129159" y="2240281"/>
                </a:lnTo>
                <a:lnTo>
                  <a:pt x="193738" y="2240281"/>
                </a:lnTo>
                <a:lnTo>
                  <a:pt x="258318" y="2240281"/>
                </a:lnTo>
                <a:lnTo>
                  <a:pt x="322897" y="2240281"/>
                </a:lnTo>
                <a:lnTo>
                  <a:pt x="387477" y="2240281"/>
                </a:lnTo>
                <a:lnTo>
                  <a:pt x="452056" y="2240281"/>
                </a:lnTo>
                <a:lnTo>
                  <a:pt x="516636" y="2240281"/>
                </a:lnTo>
                <a:lnTo>
                  <a:pt x="581215" y="2240280"/>
                </a:lnTo>
                <a:lnTo>
                  <a:pt x="645795" y="2240280"/>
                </a:lnTo>
                <a:lnTo>
                  <a:pt x="710374" y="2240280"/>
                </a:lnTo>
                <a:lnTo>
                  <a:pt x="774954" y="2240280"/>
                </a:lnTo>
                <a:lnTo>
                  <a:pt x="839533" y="2240280"/>
                </a:lnTo>
                <a:lnTo>
                  <a:pt x="904113" y="2240280"/>
                </a:lnTo>
                <a:lnTo>
                  <a:pt x="968692" y="2240280"/>
                </a:lnTo>
                <a:lnTo>
                  <a:pt x="1033272" y="2240280"/>
                </a:lnTo>
                <a:lnTo>
                  <a:pt x="1097851" y="2240280"/>
                </a:lnTo>
                <a:lnTo>
                  <a:pt x="1162431" y="2240280"/>
                </a:lnTo>
                <a:lnTo>
                  <a:pt x="1227010" y="2240280"/>
                </a:lnTo>
                <a:lnTo>
                  <a:pt x="1291590" y="2240280"/>
                </a:lnTo>
                <a:lnTo>
                  <a:pt x="1356169" y="2240277"/>
                </a:lnTo>
                <a:lnTo>
                  <a:pt x="1420749" y="2240267"/>
                </a:lnTo>
                <a:lnTo>
                  <a:pt x="1485328" y="2240233"/>
                </a:lnTo>
                <a:lnTo>
                  <a:pt x="1549908" y="2240117"/>
                </a:lnTo>
                <a:lnTo>
                  <a:pt x="1614487" y="2239762"/>
                </a:lnTo>
                <a:lnTo>
                  <a:pt x="1679067" y="2238754"/>
                </a:lnTo>
                <a:lnTo>
                  <a:pt x="1743646" y="2236114"/>
                </a:lnTo>
                <a:lnTo>
                  <a:pt x="1808226" y="2229719"/>
                </a:lnTo>
                <a:lnTo>
                  <a:pt x="1872805" y="2215430"/>
                </a:lnTo>
                <a:lnTo>
                  <a:pt x="1937385" y="2186003"/>
                </a:lnTo>
                <a:lnTo>
                  <a:pt x="2001964" y="2130227"/>
                </a:lnTo>
                <a:lnTo>
                  <a:pt x="2066544" y="2033139"/>
                </a:lnTo>
                <a:lnTo>
                  <a:pt x="2131123" y="1878355"/>
                </a:lnTo>
                <a:lnTo>
                  <a:pt x="2195703" y="1653254"/>
                </a:lnTo>
                <a:lnTo>
                  <a:pt x="2260282" y="1356422"/>
                </a:lnTo>
                <a:lnTo>
                  <a:pt x="2324862" y="1004920"/>
                </a:lnTo>
                <a:lnTo>
                  <a:pt x="2389441" y="637437"/>
                </a:lnTo>
                <a:lnTo>
                  <a:pt x="2454020" y="309757"/>
                </a:lnTo>
                <a:lnTo>
                  <a:pt x="2518600" y="81813"/>
                </a:lnTo>
                <a:lnTo>
                  <a:pt x="2583180" y="0"/>
                </a:lnTo>
                <a:lnTo>
                  <a:pt x="2647759" y="81813"/>
                </a:lnTo>
                <a:lnTo>
                  <a:pt x="2712339" y="309757"/>
                </a:lnTo>
                <a:lnTo>
                  <a:pt x="2776918" y="637437"/>
                </a:lnTo>
                <a:lnTo>
                  <a:pt x="2841498" y="1004920"/>
                </a:lnTo>
                <a:lnTo>
                  <a:pt x="2906077" y="1356422"/>
                </a:lnTo>
                <a:lnTo>
                  <a:pt x="2970657" y="1653254"/>
                </a:lnTo>
                <a:lnTo>
                  <a:pt x="3035236" y="1878355"/>
                </a:lnTo>
                <a:lnTo>
                  <a:pt x="3099815" y="2033139"/>
                </a:lnTo>
                <a:lnTo>
                  <a:pt x="3164395" y="2130227"/>
                </a:lnTo>
                <a:lnTo>
                  <a:pt x="3228975" y="2186003"/>
                </a:lnTo>
                <a:lnTo>
                  <a:pt x="3293554" y="2215430"/>
                </a:lnTo>
                <a:lnTo>
                  <a:pt x="3358134" y="2229719"/>
                </a:lnTo>
                <a:lnTo>
                  <a:pt x="3422713" y="2236114"/>
                </a:lnTo>
                <a:lnTo>
                  <a:pt x="3487293" y="2238754"/>
                </a:lnTo>
                <a:lnTo>
                  <a:pt x="3551872" y="2239762"/>
                </a:lnTo>
                <a:lnTo>
                  <a:pt x="3616451" y="2240117"/>
                </a:lnTo>
                <a:lnTo>
                  <a:pt x="3681031" y="2240233"/>
                </a:lnTo>
                <a:lnTo>
                  <a:pt x="3745611" y="2240267"/>
                </a:lnTo>
                <a:lnTo>
                  <a:pt x="3810190" y="2240277"/>
                </a:lnTo>
                <a:lnTo>
                  <a:pt x="3874770" y="2240280"/>
                </a:lnTo>
                <a:lnTo>
                  <a:pt x="3939349" y="2240280"/>
                </a:lnTo>
                <a:lnTo>
                  <a:pt x="4003929" y="2240280"/>
                </a:lnTo>
                <a:lnTo>
                  <a:pt x="4068508" y="2240280"/>
                </a:lnTo>
                <a:lnTo>
                  <a:pt x="4133088" y="2240280"/>
                </a:lnTo>
                <a:lnTo>
                  <a:pt x="4197667" y="2240280"/>
                </a:lnTo>
                <a:lnTo>
                  <a:pt x="4262247" y="2240280"/>
                </a:lnTo>
                <a:lnTo>
                  <a:pt x="4326826" y="2240280"/>
                </a:lnTo>
                <a:lnTo>
                  <a:pt x="4391405" y="2240280"/>
                </a:lnTo>
                <a:lnTo>
                  <a:pt x="4455985" y="2240280"/>
                </a:lnTo>
                <a:lnTo>
                  <a:pt x="4520565" y="2240280"/>
                </a:lnTo>
                <a:lnTo>
                  <a:pt x="4585144" y="2240280"/>
                </a:lnTo>
                <a:lnTo>
                  <a:pt x="4649724" y="2240281"/>
                </a:lnTo>
                <a:lnTo>
                  <a:pt x="4714303" y="2240281"/>
                </a:lnTo>
                <a:lnTo>
                  <a:pt x="4778882" y="2240281"/>
                </a:lnTo>
                <a:lnTo>
                  <a:pt x="4843462" y="2240281"/>
                </a:lnTo>
                <a:lnTo>
                  <a:pt x="4908041" y="2240281"/>
                </a:lnTo>
                <a:lnTo>
                  <a:pt x="4972621" y="2240281"/>
                </a:lnTo>
                <a:lnTo>
                  <a:pt x="5037201" y="2240281"/>
                </a:lnTo>
                <a:lnTo>
                  <a:pt x="5101780" y="2240281"/>
                </a:lnTo>
                <a:lnTo>
                  <a:pt x="5166359" y="2240281"/>
                </a:lnTo>
                <a:lnTo>
                  <a:pt x="5166359" y="2743201"/>
                </a:lnTo>
                <a:close/>
              </a:path>
            </a:pathLst>
          </a:custGeom>
          <a:solidFill>
            <a:srgbClr val="DDECF2"/>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p-Down Arrow 8"/>
          <p:cNvSpPr/>
          <p:nvPr/>
        </p:nvSpPr>
        <p:spPr>
          <a:xfrm>
            <a:off x="4988052" y="2185415"/>
            <a:ext cx="256032" cy="978407"/>
          </a:xfrm>
          <a:prstGeom prst="upDown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3812" y="2345436"/>
            <a:ext cx="1691640" cy="749808"/>
          </a:xfrm>
          <a:prstGeom prst="rect">
            <a:avLst/>
          </a:prstGeom>
          <a:noFill/>
        </p:spPr>
        <p:txBody>
          <a:bodyPr wrap="square" lIns="0" rIns="0" tIns="0" bIns="0" anchor="ctr">
            <a:spAutoFit/>
          </a:bodyPr>
          <a:lstStyle/>
          <a:p>
            <a:pPr algn="l">
              <a:lnSpc>
                <a:spcPct val="108000"/>
              </a:lnSpc>
            </a:pPr>
            <a:r>
              <a:rPr sz="1300" b="1" i="0">
                <a:solidFill>
                  <a:srgbClr val="F0AB00"/>
                </a:solidFill>
                <a:latin typeface="Arial"/>
              </a:rPr>
              <a:t>занижение
напряжения</a:t>
            </a:r>
          </a:p>
        </p:txBody>
      </p:sp>
      <p:sp>
        <p:nvSpPr>
          <p:cNvPr id="11" name="Rounded Rectangle 10"/>
          <p:cNvSpPr/>
          <p:nvPr/>
        </p:nvSpPr>
        <p:spPr>
          <a:xfrm>
            <a:off x="3643884" y="2295144"/>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1984248"/>
            <a:ext cx="2240280" cy="713232"/>
          </a:xfrm>
          <a:prstGeom prst="rect">
            <a:avLst/>
          </a:prstGeom>
          <a:noFill/>
        </p:spPr>
        <p:txBody>
          <a:bodyPr wrap="square" lIns="0" rIns="0" tIns="0" bIns="0" anchor="t">
            <a:spAutoFit/>
          </a:bodyPr>
          <a:lstStyle/>
          <a:p>
            <a:pPr algn="l">
              <a:lnSpc>
                <a:spcPct val="110000"/>
              </a:lnSpc>
            </a:pPr>
            <a:r>
              <a:rPr sz="1400" b="1" i="0">
                <a:solidFill>
                  <a:srgbClr val="065A82"/>
                </a:solidFill>
                <a:latin typeface="Arial"/>
              </a:rPr>
              <a:t>истинный пик —
концентратор</a:t>
            </a:r>
          </a:p>
        </p:txBody>
      </p:sp>
      <p:sp>
        <p:nvSpPr>
          <p:cNvPr id="13" name="TextBox 12"/>
          <p:cNvSpPr txBox="1"/>
          <p:nvPr/>
        </p:nvSpPr>
        <p:spPr>
          <a:xfrm>
            <a:off x="4251959" y="3474720"/>
            <a:ext cx="2240280" cy="713232"/>
          </a:xfrm>
          <a:prstGeom prst="rect">
            <a:avLst/>
          </a:prstGeom>
          <a:noFill/>
        </p:spPr>
        <p:txBody>
          <a:bodyPr wrap="square" lIns="0" rIns="0" tIns="0" bIns="0" anchor="t">
            <a:spAutoFit/>
          </a:bodyPr>
          <a:lstStyle/>
          <a:p>
            <a:pPr algn="r">
              <a:lnSpc>
                <a:spcPct val="110000"/>
              </a:lnSpc>
            </a:pPr>
            <a:r>
              <a:rPr sz="1400" b="1" i="0">
                <a:solidFill>
                  <a:srgbClr val="028090"/>
                </a:solidFill>
                <a:latin typeface="Arial"/>
              </a:rPr>
              <a:t>PINN — размазанный,
заниженный пик</a:t>
            </a:r>
          </a:p>
        </p:txBody>
      </p:sp>
      <p:sp>
        <p:nvSpPr>
          <p:cNvPr id="14" name="TextBox 13"/>
          <p:cNvSpPr txBox="1"/>
          <p:nvPr/>
        </p:nvSpPr>
        <p:spPr>
          <a:xfrm>
            <a:off x="868680" y="5038344"/>
            <a:ext cx="5532120" cy="676656"/>
          </a:xfrm>
          <a:prstGeom prst="rect">
            <a:avLst/>
          </a:prstGeom>
          <a:noFill/>
        </p:spPr>
        <p:txBody>
          <a:bodyPr wrap="square" lIns="0" rIns="0" tIns="0" bIns="0" anchor="t">
            <a:spAutoFit/>
          </a:bodyPr>
          <a:lstStyle/>
          <a:p>
            <a:pPr algn="ctr">
              <a:lnSpc>
                <a:spcPct val="116000"/>
              </a:lnSpc>
            </a:pPr>
            <a:r>
              <a:rPr sz="1300" b="1" i="0">
                <a:solidFill>
                  <a:srgbClr val="F0AB00"/>
                </a:solidFill>
                <a:latin typeface="Arial"/>
              </a:rPr>
              <a:t>заниженное напряжение в опасном сечении = недооценённый риск разрушения</a:t>
            </a:r>
          </a:p>
        </p:txBody>
      </p:sp>
      <p:sp>
        <p:nvSpPr>
          <p:cNvPr id="15" name="Rounded Rectangle 14"/>
          <p:cNvSpPr/>
          <p:nvPr/>
        </p:nvSpPr>
        <p:spPr>
          <a:xfrm>
            <a:off x="6949440" y="1417320"/>
            <a:ext cx="4754880" cy="4434840"/>
          </a:xfrm>
          <a:prstGeom prst="roundRect">
            <a:avLst>
              <a:gd name="adj" fmla="val 68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42048" y="1673352"/>
            <a:ext cx="4169664" cy="438912"/>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Прочие ограничения</a:t>
            </a:r>
          </a:p>
        </p:txBody>
      </p:sp>
      <p:sp>
        <p:nvSpPr>
          <p:cNvPr id="17" name="Rounded Rectangle 16"/>
          <p:cNvSpPr/>
          <p:nvPr/>
        </p:nvSpPr>
        <p:spPr>
          <a:xfrm>
            <a:off x="7242048" y="2404872"/>
            <a:ext cx="109728" cy="10972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2331720"/>
            <a:ext cx="3968496" cy="65836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не превосходит зрелые решатели на прямых задачах, часто медленнее</a:t>
            </a:r>
          </a:p>
        </p:txBody>
      </p:sp>
      <p:sp>
        <p:nvSpPr>
          <p:cNvPr id="19" name="Rounded Rectangle 18"/>
          <p:cNvSpPr/>
          <p:nvPr/>
        </p:nvSpPr>
        <p:spPr>
          <a:xfrm>
            <a:off x="7242048" y="3154679"/>
            <a:ext cx="109728" cy="10972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61504" y="3081527"/>
            <a:ext cx="3968496" cy="65836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не обобщается за пределы обучения</a:t>
            </a:r>
          </a:p>
        </p:txBody>
      </p:sp>
      <p:sp>
        <p:nvSpPr>
          <p:cNvPr id="21" name="Rounded Rectangle 20"/>
          <p:cNvSpPr/>
          <p:nvPr/>
        </p:nvSpPr>
        <p:spPr>
          <a:xfrm>
            <a:off x="7242048" y="3904487"/>
            <a:ext cx="109728" cy="10972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61504" y="3831335"/>
            <a:ext cx="3968496" cy="65836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при сбое непрозрачен</a:t>
            </a:r>
          </a:p>
        </p:txBody>
      </p:sp>
      <p:sp>
        <p:nvSpPr>
          <p:cNvPr id="23" name="Rounded Rectangle 22"/>
          <p:cNvSpPr/>
          <p:nvPr/>
        </p:nvSpPr>
        <p:spPr>
          <a:xfrm>
            <a:off x="7242048" y="4654296"/>
            <a:ext cx="109728" cy="10972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61504" y="4581144"/>
            <a:ext cx="3968496" cy="65836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усиливает высокочастотный шум данных</a:t>
            </a:r>
          </a:p>
        </p:txBody>
      </p:sp>
      <p:sp>
        <p:nvSpPr>
          <p:cNvPr id="25" name="Rounded Rectangle 24"/>
          <p:cNvSpPr/>
          <p:nvPr/>
        </p:nvSpPr>
        <p:spPr>
          <a:xfrm>
            <a:off x="7242048" y="4663440"/>
            <a:ext cx="4169664" cy="1005840"/>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0648" y="4718303"/>
            <a:ext cx="3712464" cy="89611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Где PINN реально полезен: разреженные данные, обратные задачи, сложная геометрия — НЕ замена FEM/CFD.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Суррогат — для перебора; финал считает аттестованный решатель.</a:t>
            </a:r>
          </a:p>
        </p:txBody>
      </p:sp>
      <p:sp>
        <p:nvSpPr>
          <p:cNvPr id="3" name="Rounded Rectangle 2"/>
          <p:cNvSpPr/>
          <p:nvPr/>
        </p:nvSpPr>
        <p:spPr>
          <a:xfrm>
            <a:off x="502920" y="1463040"/>
            <a:ext cx="2443734" cy="2240280"/>
          </a:xfrm>
          <a:prstGeom prst="roundRect">
            <a:avLst>
              <a:gd name="adj" fmla="val 136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7512" y="1627632"/>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627632"/>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1. Сотни вариантов
на этапе поиска</a:t>
            </a:r>
          </a:p>
        </p:txBody>
      </p:sp>
      <p:sp>
        <p:nvSpPr>
          <p:cNvPr id="6" name="TextBox 5"/>
          <p:cNvSpPr txBox="1"/>
          <p:nvPr/>
        </p:nvSpPr>
        <p:spPr>
          <a:xfrm>
            <a:off x="722376" y="2651760"/>
            <a:ext cx="2004822" cy="886968"/>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а если ребро толще,
а если другой материал</a:t>
            </a:r>
          </a:p>
        </p:txBody>
      </p:sp>
      <p:sp>
        <p:nvSpPr>
          <p:cNvPr id="7" name="Right Arrow 6"/>
          <p:cNvSpPr/>
          <p:nvPr/>
        </p:nvSpPr>
        <p:spPr>
          <a:xfrm>
            <a:off x="2992374" y="2363724"/>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2141" y="1463040"/>
            <a:ext cx="2443734" cy="2240280"/>
          </a:xfrm>
          <a:prstGeom prst="roundRect">
            <a:avLst>
              <a:gd name="adj" fmla="val 136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86734" y="1627632"/>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3310" y="1627632"/>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2. Суррогат
отсеивает</a:t>
            </a:r>
          </a:p>
        </p:txBody>
      </p:sp>
      <p:sp>
        <p:nvSpPr>
          <p:cNvPr id="11" name="TextBox 10"/>
          <p:cNvSpPr txBox="1"/>
          <p:nvPr/>
        </p:nvSpPr>
        <p:spPr>
          <a:xfrm>
            <a:off x="3641598" y="2651760"/>
            <a:ext cx="2004822" cy="886968"/>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прогон за минуты,
отсев заведомо слабых</a:t>
            </a:r>
          </a:p>
        </p:txBody>
      </p:sp>
      <p:sp>
        <p:nvSpPr>
          <p:cNvPr id="12" name="Right Arrow 11"/>
          <p:cNvSpPr/>
          <p:nvPr/>
        </p:nvSpPr>
        <p:spPr>
          <a:xfrm>
            <a:off x="5911595" y="2363724"/>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1364" y="1463040"/>
            <a:ext cx="2443734" cy="2240280"/>
          </a:xfrm>
          <a:prstGeom prst="roundRect">
            <a:avLst>
              <a:gd name="adj" fmla="val 136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05955" y="1627632"/>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2531" y="1627632"/>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3. 5–10
кандидатов</a:t>
            </a:r>
          </a:p>
        </p:txBody>
      </p:sp>
      <p:sp>
        <p:nvSpPr>
          <p:cNvPr id="16" name="TextBox 15"/>
          <p:cNvSpPr txBox="1"/>
          <p:nvPr/>
        </p:nvSpPr>
        <p:spPr>
          <a:xfrm>
            <a:off x="6560820" y="2651760"/>
            <a:ext cx="2004822" cy="886968"/>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узкий шорт-лист</a:t>
            </a:r>
          </a:p>
        </p:txBody>
      </p:sp>
      <p:sp>
        <p:nvSpPr>
          <p:cNvPr id="17" name="Right Arrow 16"/>
          <p:cNvSpPr/>
          <p:nvPr/>
        </p:nvSpPr>
        <p:spPr>
          <a:xfrm>
            <a:off x="8830818" y="2363724"/>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60586" y="1463040"/>
            <a:ext cx="2443734" cy="2240280"/>
          </a:xfrm>
          <a:prstGeom prst="roundRect">
            <a:avLst>
              <a:gd name="adj" fmla="val 13605"/>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25178" y="1627632"/>
            <a:ext cx="2114550" cy="914400"/>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1754" y="1627632"/>
            <a:ext cx="2041398" cy="914400"/>
          </a:xfrm>
          <a:prstGeom prst="rect">
            <a:avLst/>
          </a:prstGeom>
          <a:noFill/>
        </p:spPr>
        <p:txBody>
          <a:bodyPr wrap="square" lIns="0" rIns="0" tIns="0" bIns="0" anchor="ctr">
            <a:spAutoFit/>
          </a:bodyPr>
          <a:lstStyle/>
          <a:p>
            <a:pPr algn="ctr">
              <a:lnSpc>
                <a:spcPct val="110000"/>
              </a:lnSpc>
            </a:pPr>
            <a:r>
              <a:rPr sz="1500" b="1" i="0">
                <a:solidFill>
                  <a:srgbClr val="21295C"/>
                </a:solidFill>
                <a:latin typeface="Arial"/>
              </a:rPr>
              <a:t>4. Аттестованный
решатель — финал</a:t>
            </a:r>
          </a:p>
        </p:txBody>
      </p:sp>
      <p:sp>
        <p:nvSpPr>
          <p:cNvPr id="21" name="TextBox 20"/>
          <p:cNvSpPr txBox="1"/>
          <p:nvPr/>
        </p:nvSpPr>
        <p:spPr>
          <a:xfrm>
            <a:off x="9480042" y="2651760"/>
            <a:ext cx="2004822" cy="886968"/>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детерминированный
сертифицируемый расчёт</a:t>
            </a:r>
          </a:p>
        </p:txBody>
      </p:sp>
      <p:sp>
        <p:nvSpPr>
          <p:cNvPr id="22" name="Rounded Rectangle 21"/>
          <p:cNvSpPr/>
          <p:nvPr/>
        </p:nvSpPr>
        <p:spPr>
          <a:xfrm>
            <a:off x="502920" y="3931920"/>
            <a:ext cx="11201400" cy="960120"/>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86783"/>
            <a:ext cx="10744200" cy="85039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Критерий: суррогат валиден только внутри обучающей области. Экстраполяция = молчаливая ошибка (модель не сообщает, что вышла за границу).</a:t>
            </a:r>
          </a:p>
        </p:txBody>
      </p:sp>
      <p:sp>
        <p:nvSpPr>
          <p:cNvPr id="24" name="Rounded Rectangle 23"/>
          <p:cNvSpPr/>
          <p:nvPr/>
        </p:nvSpPr>
        <p:spPr>
          <a:xfrm>
            <a:off x="502920" y="5074920"/>
            <a:ext cx="11201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66359"/>
            <a:ext cx="10652760" cy="685800"/>
          </a:xfrm>
          <a:prstGeom prst="rect">
            <a:avLst/>
          </a:prstGeom>
          <a:noFill/>
        </p:spPr>
        <p:txBody>
          <a:bodyPr wrap="square" lIns="0" rIns="0" tIns="0" bIns="0" anchor="ctr">
            <a:spAutoFit/>
          </a:bodyPr>
          <a:lstStyle/>
          <a:p>
            <a:pPr algn="l">
              <a:lnSpc>
                <a:spcPct val="118000"/>
              </a:lnSpc>
            </a:pPr>
            <a:r>
              <a:rPr sz="1200" b="0" i="1">
                <a:solidFill>
                  <a:srgbClr val="065A82"/>
                </a:solidFill>
                <a:latin typeface="Arial"/>
              </a:rPr>
              <a:t>Россия: «Логос» (Росатом) — суррогаты в обёртке, не в ядре решателя · CML-Bench (СПбПУ) — накопленный архив → ассистент.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4</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Где галлюцинация
стоит дорого</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генеративный AI и LLM не содержат физического закона — цена уверенной ошибки в проектировании высока</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Синтез</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Зрелое — LLM как интерфейс; генерация геометрии по тексту — ранняя бета.</a:t>
            </a:r>
          </a:p>
        </p:txBody>
      </p:sp>
      <p:sp>
        <p:nvSpPr>
          <p:cNvPr id="3" name="Rounded Rectangle 2"/>
          <p:cNvSpPr/>
          <p:nvPr/>
        </p:nvSpPr>
        <p:spPr>
          <a:xfrm>
            <a:off x="502920" y="1417320"/>
            <a:ext cx="112014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1783080"/>
            <a:ext cx="18288" cy="342900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minal-blue.png"/>
          <p:cNvPicPr>
            <a:picLocks noChangeAspect="1"/>
          </p:cNvPicPr>
          <p:nvPr/>
        </p:nvPicPr>
        <p:blipFill>
          <a:blip r:embed="rId2"/>
          <a:stretch>
            <a:fillRect/>
          </a:stretch>
        </p:blipFill>
        <p:spPr>
          <a:xfrm>
            <a:off x="960120" y="1783080"/>
            <a:ext cx="640080" cy="640080"/>
          </a:xfrm>
          <a:prstGeom prst="rect">
            <a:avLst/>
          </a:prstGeom>
        </p:spPr>
      </p:pic>
      <p:sp>
        <p:nvSpPr>
          <p:cNvPr id="6" name="TextBox 5"/>
          <p:cNvSpPr txBox="1"/>
          <p:nvPr/>
        </p:nvSpPr>
        <p:spPr>
          <a:xfrm>
            <a:off x="1801368" y="1801368"/>
            <a:ext cx="3845052" cy="713232"/>
          </a:xfrm>
          <a:prstGeom prst="rect">
            <a:avLst/>
          </a:prstGeom>
          <a:noFill/>
        </p:spPr>
        <p:txBody>
          <a:bodyPr wrap="square" lIns="0" rIns="0" tIns="0" bIns="0" anchor="ctr">
            <a:spAutoFit/>
          </a:bodyPr>
          <a:lstStyle/>
          <a:p>
            <a:pPr algn="l">
              <a:lnSpc>
                <a:spcPct val="110000"/>
              </a:lnSpc>
            </a:pPr>
            <a:r>
              <a:rPr sz="2000" b="1" i="0">
                <a:solidFill>
                  <a:srgbClr val="065A82"/>
                </a:solidFill>
                <a:latin typeface="Arial"/>
              </a:rPr>
              <a:t>Зрелый слой: LLM как интерфейс</a:t>
            </a:r>
          </a:p>
        </p:txBody>
      </p:sp>
      <p:sp>
        <p:nvSpPr>
          <p:cNvPr id="7" name="Rounded Rectangle 6"/>
          <p:cNvSpPr/>
          <p:nvPr/>
        </p:nvSpPr>
        <p:spPr>
          <a:xfrm>
            <a:off x="978408" y="2965704"/>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2560320"/>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текстовый промпт → команды CAD над существующими детерминированными операциями</a:t>
            </a:r>
          </a:p>
        </p:txBody>
      </p:sp>
      <p:sp>
        <p:nvSpPr>
          <p:cNvPr id="9" name="Rounded Rectangle 8"/>
          <p:cNvSpPr/>
          <p:nvPr/>
        </p:nvSpPr>
        <p:spPr>
          <a:xfrm>
            <a:off x="978408" y="3886200"/>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3480816"/>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под контролем инженера</a:t>
            </a:r>
          </a:p>
        </p:txBody>
      </p:sp>
      <p:sp>
        <p:nvSpPr>
          <p:cNvPr id="11" name="Rounded Rectangle 10"/>
          <p:cNvSpPr/>
          <p:nvPr/>
        </p:nvSpPr>
        <p:spPr>
          <a:xfrm>
            <a:off x="978408" y="4806695"/>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4401311"/>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напр. Autodesk Assistant, Siemens Design Copilot</a:t>
            </a:r>
          </a:p>
        </p:txBody>
      </p:sp>
      <p:pic>
        <p:nvPicPr>
          <p:cNvPr id="13" name="Picture 12" descr="flask-conical-teal.png"/>
          <p:cNvPicPr>
            <a:picLocks noChangeAspect="1"/>
          </p:cNvPicPr>
          <p:nvPr/>
        </p:nvPicPr>
        <p:blipFill>
          <a:blip r:embed="rId3"/>
          <a:stretch>
            <a:fillRect/>
          </a:stretch>
        </p:blipFill>
        <p:spPr>
          <a:xfrm>
            <a:off x="6560820" y="1783080"/>
            <a:ext cx="640080" cy="640080"/>
          </a:xfrm>
          <a:prstGeom prst="rect">
            <a:avLst/>
          </a:prstGeom>
        </p:spPr>
      </p:pic>
      <p:sp>
        <p:nvSpPr>
          <p:cNvPr id="14" name="TextBox 13"/>
          <p:cNvSpPr txBox="1"/>
          <p:nvPr/>
        </p:nvSpPr>
        <p:spPr>
          <a:xfrm>
            <a:off x="7402068" y="1801368"/>
            <a:ext cx="3845052" cy="713232"/>
          </a:xfrm>
          <a:prstGeom prst="rect">
            <a:avLst/>
          </a:prstGeom>
          <a:noFill/>
        </p:spPr>
        <p:txBody>
          <a:bodyPr wrap="square" lIns="0" rIns="0" tIns="0" bIns="0" anchor="ctr">
            <a:spAutoFit/>
          </a:bodyPr>
          <a:lstStyle/>
          <a:p>
            <a:pPr algn="l">
              <a:lnSpc>
                <a:spcPct val="110000"/>
              </a:lnSpc>
            </a:pPr>
            <a:r>
              <a:rPr sz="2000" b="1" i="0">
                <a:solidFill>
                  <a:srgbClr val="028090"/>
                </a:solidFill>
                <a:latin typeface="Arial"/>
              </a:rPr>
              <a:t>Незрелый слой: text-to-CAD / нейро-CAD</a:t>
            </a:r>
          </a:p>
        </p:txBody>
      </p:sp>
      <p:sp>
        <p:nvSpPr>
          <p:cNvPr id="15" name="Rounded Rectangle 14"/>
          <p:cNvSpPr/>
          <p:nvPr/>
        </p:nvSpPr>
        <p:spPr>
          <a:xfrm>
            <a:off x="6579107" y="2965704"/>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3428" y="2560320"/>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генерация 3D-геометрии по тексту</a:t>
            </a:r>
          </a:p>
        </p:txBody>
      </p:sp>
      <p:sp>
        <p:nvSpPr>
          <p:cNvPr id="17" name="Rounded Rectangle 16"/>
          <p:cNvSpPr/>
          <p:nvPr/>
        </p:nvSpPr>
        <p:spPr>
          <a:xfrm>
            <a:off x="6579107" y="3886200"/>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3428" y="3480816"/>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напр. Zoo.dev, Autodesk Bernini</a:t>
            </a:r>
          </a:p>
        </p:txBody>
      </p:sp>
      <p:sp>
        <p:nvSpPr>
          <p:cNvPr id="19" name="Rounded Rectangle 18"/>
          <p:cNvSpPr/>
          <p:nvPr/>
        </p:nvSpPr>
        <p:spPr>
          <a:xfrm>
            <a:off x="6579107" y="4806695"/>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3428" y="4401311"/>
            <a:ext cx="4466844" cy="920495"/>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коммерческая доступность нейро-CAD заявлена «предстоящей», без даты</a:t>
            </a:r>
          </a:p>
        </p:txBody>
      </p:sp>
      <p:sp>
        <p:nvSpPr>
          <p:cNvPr id="21" name="Rounded Rectangle 20"/>
          <p:cNvSpPr/>
          <p:nvPr/>
        </p:nvSpPr>
        <p:spPr>
          <a:xfrm>
            <a:off x="502920" y="5715000"/>
            <a:ext cx="11201400" cy="713232"/>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69864"/>
            <a:ext cx="10744200" cy="603504"/>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Сам вендор помечает Bernini «strictly experimental, not for public use» — честный сигнал зрелости.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LLM пишет черновик технического текста — инженер верифицирует факты.</a:t>
            </a:r>
          </a:p>
        </p:txBody>
      </p:sp>
      <p:sp>
        <p:nvSpPr>
          <p:cNvPr id="3" name="Rounded Rectangle 2"/>
          <p:cNvSpPr/>
          <p:nvPr/>
        </p:nvSpPr>
        <p:spPr>
          <a:xfrm>
            <a:off x="502920" y="1508760"/>
            <a:ext cx="2443734" cy="3017520"/>
          </a:xfrm>
          <a:prstGeom prst="roundRect">
            <a:avLst>
              <a:gd name="adj" fmla="val 124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67512" y="1673351"/>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673351"/>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1. Промпт с точной
терминологией формы</a:t>
            </a:r>
          </a:p>
        </p:txBody>
      </p:sp>
      <p:sp>
        <p:nvSpPr>
          <p:cNvPr id="6" name="TextBox 5"/>
          <p:cNvSpPr txBox="1"/>
          <p:nvPr/>
        </p:nvSpPr>
        <p:spPr>
          <a:xfrm>
            <a:off x="722376" y="2697479"/>
            <a:ext cx="2004822" cy="16642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требуемая структура
и терминология документа</a:t>
            </a:r>
          </a:p>
        </p:txBody>
      </p:sp>
      <p:sp>
        <p:nvSpPr>
          <p:cNvPr id="7" name="Right Arrow 6"/>
          <p:cNvSpPr/>
          <p:nvPr/>
        </p:nvSpPr>
        <p:spPr>
          <a:xfrm>
            <a:off x="2992374" y="2798063"/>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2141" y="1508760"/>
            <a:ext cx="2443734" cy="3017520"/>
          </a:xfrm>
          <a:prstGeom prst="roundRect">
            <a:avLst>
              <a:gd name="adj" fmla="val 124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86734" y="1673351"/>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3310" y="1673351"/>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2. LLM</a:t>
            </a:r>
          </a:p>
        </p:txBody>
      </p:sp>
      <p:sp>
        <p:nvSpPr>
          <p:cNvPr id="11" name="TextBox 10"/>
          <p:cNvSpPr txBox="1"/>
          <p:nvPr/>
        </p:nvSpPr>
        <p:spPr>
          <a:xfrm>
            <a:off x="3641598" y="2697479"/>
            <a:ext cx="2004822" cy="16642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генерирует
языковую форму</a:t>
            </a:r>
          </a:p>
        </p:txBody>
      </p:sp>
      <p:sp>
        <p:nvSpPr>
          <p:cNvPr id="12" name="Right Arrow 11"/>
          <p:cNvSpPr/>
          <p:nvPr/>
        </p:nvSpPr>
        <p:spPr>
          <a:xfrm>
            <a:off x="5911595" y="2798063"/>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1364" y="1508760"/>
            <a:ext cx="2443734" cy="3017520"/>
          </a:xfrm>
          <a:prstGeom prst="roundRect">
            <a:avLst>
              <a:gd name="adj" fmla="val 124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05955" y="1673351"/>
            <a:ext cx="2114550" cy="91440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2531" y="1673351"/>
            <a:ext cx="2041398" cy="914400"/>
          </a:xfrm>
          <a:prstGeom prst="rect">
            <a:avLst/>
          </a:prstGeom>
          <a:noFill/>
        </p:spPr>
        <p:txBody>
          <a:bodyPr wrap="square" lIns="0" rIns="0" tIns="0" bIns="0" anchor="ctr">
            <a:spAutoFit/>
          </a:bodyPr>
          <a:lstStyle/>
          <a:p>
            <a:pPr algn="ctr">
              <a:lnSpc>
                <a:spcPct val="110000"/>
              </a:lnSpc>
            </a:pPr>
            <a:r>
              <a:rPr sz="1500" b="1" i="0">
                <a:solidFill>
                  <a:srgbClr val="FFFFFF"/>
                </a:solidFill>
                <a:latin typeface="Arial"/>
              </a:rPr>
              <a:t>3. Черновик</a:t>
            </a:r>
          </a:p>
        </p:txBody>
      </p:sp>
      <p:sp>
        <p:nvSpPr>
          <p:cNvPr id="16" name="TextBox 15"/>
          <p:cNvSpPr txBox="1"/>
          <p:nvPr/>
        </p:nvSpPr>
        <p:spPr>
          <a:xfrm>
            <a:off x="6560820" y="2697479"/>
            <a:ext cx="2004822" cy="16642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пояснит. записка / болванка ТУ /
объяснение пункта стандарта</a:t>
            </a:r>
          </a:p>
        </p:txBody>
      </p:sp>
      <p:sp>
        <p:nvSpPr>
          <p:cNvPr id="17" name="Right Arrow 16"/>
          <p:cNvSpPr/>
          <p:nvPr/>
        </p:nvSpPr>
        <p:spPr>
          <a:xfrm>
            <a:off x="8830818" y="2798063"/>
            <a:ext cx="384048" cy="43891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60586" y="1508760"/>
            <a:ext cx="2443734" cy="3017520"/>
          </a:xfrm>
          <a:prstGeom prst="roundRect">
            <a:avLst>
              <a:gd name="adj" fmla="val 12472"/>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25178" y="1673351"/>
            <a:ext cx="2114550" cy="914400"/>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1754" y="1673351"/>
            <a:ext cx="2041398" cy="914400"/>
          </a:xfrm>
          <a:prstGeom prst="rect">
            <a:avLst/>
          </a:prstGeom>
          <a:noFill/>
        </p:spPr>
        <p:txBody>
          <a:bodyPr wrap="square" lIns="0" rIns="0" tIns="0" bIns="0" anchor="ctr">
            <a:spAutoFit/>
          </a:bodyPr>
          <a:lstStyle/>
          <a:p>
            <a:pPr algn="ctr">
              <a:lnSpc>
                <a:spcPct val="110000"/>
              </a:lnSpc>
            </a:pPr>
            <a:r>
              <a:rPr sz="1500" b="1" i="0">
                <a:solidFill>
                  <a:srgbClr val="21295C"/>
                </a:solidFill>
                <a:latin typeface="Arial"/>
              </a:rPr>
              <a:t>4. ОБЯЗАТЕЛЬНАЯ
верификация инженером</a:t>
            </a:r>
          </a:p>
        </p:txBody>
      </p:sp>
      <p:sp>
        <p:nvSpPr>
          <p:cNvPr id="21" name="TextBox 20"/>
          <p:cNvSpPr txBox="1"/>
          <p:nvPr/>
        </p:nvSpPr>
        <p:spPr>
          <a:xfrm>
            <a:off x="9480042" y="2697479"/>
            <a:ext cx="2004822" cy="1664207"/>
          </a:xfrm>
          <a:prstGeom prst="rect">
            <a:avLst/>
          </a:prstGeom>
          <a:noFill/>
        </p:spPr>
        <p:txBody>
          <a:bodyPr wrap="square" lIns="0" rIns="0" tIns="0" bIns="0" anchor="ctr">
            <a:spAutoFit/>
          </a:bodyPr>
          <a:lstStyle/>
          <a:p>
            <a:pPr algn="ctr">
              <a:lnSpc>
                <a:spcPct val="128000"/>
              </a:lnSpc>
            </a:pPr>
            <a:r>
              <a:rPr sz="1400" b="0" i="0">
                <a:solidFill>
                  <a:srgbClr val="21295C"/>
                </a:solidFill>
                <a:latin typeface="Arial"/>
              </a:rPr>
              <a:t>сверка по
первоисточнику</a:t>
            </a:r>
          </a:p>
        </p:txBody>
      </p:sp>
      <p:sp>
        <p:nvSpPr>
          <p:cNvPr id="22" name="Rounded Rectangle 21"/>
          <p:cNvSpPr/>
          <p:nvPr/>
        </p:nvSpPr>
        <p:spPr>
          <a:xfrm>
            <a:off x="502920" y="4846320"/>
            <a:ext cx="11201400" cy="157276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901183"/>
            <a:ext cx="10744200" cy="1463040"/>
          </a:xfrm>
          <a:prstGeom prst="rect">
            <a:avLst/>
          </a:prstGeom>
          <a:noFill/>
        </p:spPr>
        <p:txBody>
          <a:bodyPr wrap="square" lIns="0" rIns="0" tIns="0" bIns="0" anchor="ctr">
            <a:spAutoFit/>
          </a:bodyPr>
          <a:lstStyle/>
          <a:p>
            <a:pPr algn="l">
              <a:lnSpc>
                <a:spcPct val="122000"/>
              </a:lnSpc>
            </a:pPr>
            <a:r>
              <a:rPr sz="1600" b="1" i="0">
                <a:solidFill>
                  <a:srgbClr val="21295C"/>
                </a:solidFill>
                <a:latin typeface="Arial"/>
              </a:rPr>
              <a:t>LLM даёт правильную ФОРМУ и потенциально неверное СОДЕРЖАНИЕ — полезно для черновика, опасно для финала. Граница проходит между формой (модель) и содержанием (инженер); верификация — всегда, без исключений.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5000"/>
              </a:lnSpc>
            </a:pPr>
            <a:r>
              <a:rPr sz="2300" b="1" i="0">
                <a:solidFill>
                  <a:srgbClr val="21295C"/>
                </a:solidFill>
                <a:latin typeface="Arial"/>
              </a:rPr>
              <a:t>Mars Climate Orbiter: $327 млн — непроверенное рассогласование единиц на стыке систем.</a:t>
            </a:r>
          </a:p>
        </p:txBody>
      </p:sp>
      <p:sp>
        <p:nvSpPr>
          <p:cNvPr id="3" name="Rounded Rectangle 2"/>
          <p:cNvSpPr/>
          <p:nvPr/>
        </p:nvSpPr>
        <p:spPr>
          <a:xfrm>
            <a:off x="502920" y="1325880"/>
            <a:ext cx="11201400" cy="3931920"/>
          </a:xfrm>
          <a:prstGeom prst="roundRect">
            <a:avLst>
              <a:gd name="adj" fmla="val 77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tellite-blue.png"/>
          <p:cNvPicPr>
            <a:picLocks noChangeAspect="1"/>
          </p:cNvPicPr>
          <p:nvPr/>
        </p:nvPicPr>
        <p:blipFill>
          <a:blip r:embed="rId2"/>
          <a:stretch>
            <a:fillRect/>
          </a:stretch>
        </p:blipFill>
        <p:spPr>
          <a:xfrm>
            <a:off x="850392" y="1655064"/>
            <a:ext cx="1051560" cy="1051560"/>
          </a:xfrm>
          <a:prstGeom prst="rect">
            <a:avLst/>
          </a:prstGeom>
        </p:spPr>
      </p:pic>
      <p:sp>
        <p:nvSpPr>
          <p:cNvPr id="5" name="TextBox 4"/>
          <p:cNvSpPr txBox="1"/>
          <p:nvPr/>
        </p:nvSpPr>
        <p:spPr>
          <a:xfrm>
            <a:off x="2148840" y="1728216"/>
            <a:ext cx="9281160" cy="658368"/>
          </a:xfrm>
          <a:prstGeom prst="rect">
            <a:avLst/>
          </a:prstGeom>
          <a:noFill/>
        </p:spPr>
        <p:txBody>
          <a:bodyPr wrap="square" lIns="0" rIns="0" tIns="0" bIns="0" anchor="ctr">
            <a:spAutoFit/>
          </a:bodyPr>
          <a:lstStyle/>
          <a:p>
            <a:pPr algn="l">
              <a:lnSpc>
                <a:spcPct val="115000"/>
              </a:lnSpc>
            </a:pPr>
            <a:r>
              <a:rPr sz="2400" b="1" i="0">
                <a:solidFill>
                  <a:srgbClr val="21295C"/>
                </a:solidFill>
                <a:latin typeface="Arial"/>
              </a:rPr>
              <a:t>Mars Climate Orbiter (1999)</a:t>
            </a:r>
          </a:p>
        </p:txBody>
      </p:sp>
      <p:sp>
        <p:nvSpPr>
          <p:cNvPr id="6" name="Rounded Rectangle 5"/>
          <p:cNvSpPr/>
          <p:nvPr/>
        </p:nvSpPr>
        <p:spPr>
          <a:xfrm>
            <a:off x="941832" y="2825496"/>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52728" y="2743200"/>
            <a:ext cx="10012680" cy="475488"/>
          </a:xfrm>
          <a:prstGeom prst="rect">
            <a:avLst/>
          </a:prstGeom>
          <a:noFill/>
        </p:spPr>
        <p:txBody>
          <a:bodyPr wrap="square" lIns="0" rIns="0" tIns="0" bIns="0" anchor="t">
            <a:spAutoFit/>
          </a:bodyPr>
          <a:lstStyle/>
          <a:p>
            <a:pPr algn="l">
              <a:lnSpc>
                <a:spcPct val="118000"/>
              </a:lnSpc>
            </a:pPr>
            <a:r>
              <a:rPr sz="1550" b="0" i="0">
                <a:solidFill>
                  <a:srgbClr val="21295C"/>
                </a:solidFill>
                <a:latin typeface="Arial"/>
              </a:rPr>
              <a:t>потеря связи при выходе на орбиту Марса · стоимость миссии </a:t>
            </a:r>
            <a:r>
              <a:rPr sz="1800" b="1" i="0">
                <a:solidFill>
                  <a:srgbClr val="F0AB00"/>
                </a:solidFill>
                <a:latin typeface="Arial"/>
              </a:rPr>
              <a:t>≈ $327 млн</a:t>
            </a:r>
          </a:p>
        </p:txBody>
      </p:sp>
      <p:sp>
        <p:nvSpPr>
          <p:cNvPr id="8" name="Rounded Rectangle 7"/>
          <p:cNvSpPr/>
          <p:nvPr/>
        </p:nvSpPr>
        <p:spPr>
          <a:xfrm>
            <a:off x="941832" y="3392424"/>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52728" y="3310128"/>
            <a:ext cx="10012680" cy="475488"/>
          </a:xfrm>
          <a:prstGeom prst="rect">
            <a:avLst/>
          </a:prstGeom>
          <a:noFill/>
        </p:spPr>
        <p:txBody>
          <a:bodyPr wrap="square" lIns="0" rIns="0" tIns="0" bIns="0" anchor="t">
            <a:spAutoFit/>
          </a:bodyPr>
          <a:lstStyle/>
          <a:p>
            <a:pPr algn="l">
              <a:lnSpc>
                <a:spcPct val="118000"/>
              </a:lnSpc>
            </a:pPr>
            <a:r>
              <a:rPr sz="1550" b="0" i="0">
                <a:solidFill>
                  <a:srgbClr val="21295C"/>
                </a:solidFill>
                <a:latin typeface="Arial"/>
              </a:rPr>
              <a:t>наземный модуль выдавал фунт-силы·с, программа ожидала ньютоны·с — расхождение ×4,45</a:t>
            </a:r>
          </a:p>
        </p:txBody>
      </p:sp>
      <p:sp>
        <p:nvSpPr>
          <p:cNvPr id="10" name="Rounded Rectangle 9"/>
          <p:cNvSpPr/>
          <p:nvPr/>
        </p:nvSpPr>
        <p:spPr>
          <a:xfrm>
            <a:off x="941832" y="3959352"/>
            <a:ext cx="128016" cy="12801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2728" y="3877056"/>
            <a:ext cx="10012680" cy="475488"/>
          </a:xfrm>
          <a:prstGeom prst="rect">
            <a:avLst/>
          </a:prstGeom>
          <a:noFill/>
        </p:spPr>
        <p:txBody>
          <a:bodyPr wrap="square" lIns="0" rIns="0" tIns="0" bIns="0" anchor="t">
            <a:spAutoFit/>
          </a:bodyPr>
          <a:lstStyle/>
          <a:p>
            <a:pPr algn="l">
              <a:lnSpc>
                <a:spcPct val="118000"/>
              </a:lnSpc>
            </a:pPr>
            <a:r>
              <a:rPr sz="1550" b="0" i="0">
                <a:solidFill>
                  <a:srgbClr val="21295C"/>
                </a:solidFill>
                <a:latin typeface="Arial"/>
              </a:rPr>
              <a:t>конвертацию никто не выполнил: каждая сторона предположила, что её сделала другая</a:t>
            </a:r>
          </a:p>
        </p:txBody>
      </p:sp>
      <p:sp>
        <p:nvSpPr>
          <p:cNvPr id="12" name="Rounded Rectangle 11"/>
          <p:cNvSpPr/>
          <p:nvPr/>
        </p:nvSpPr>
        <p:spPr>
          <a:xfrm>
            <a:off x="941832" y="4251960"/>
            <a:ext cx="10323576" cy="84124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4306824"/>
            <a:ext cx="9866376" cy="731520"/>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LLM-ассистент = такой стык систем: берёт величины из одного контекста, передаёт в другой и УВЕРЕННО путает единицы (psi и МПа, мм и дюймы).</a:t>
            </a:r>
          </a:p>
        </p:txBody>
      </p:sp>
      <p:sp>
        <p:nvSpPr>
          <p:cNvPr id="14" name="Rounded Rectangle 13"/>
          <p:cNvSpPr/>
          <p:nvPr/>
        </p:nvSpPr>
        <p:spPr>
          <a:xfrm>
            <a:off x="502920" y="5413248"/>
            <a:ext cx="11201400" cy="10058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lane-blue.png"/>
          <p:cNvPicPr>
            <a:picLocks noChangeAspect="1"/>
          </p:cNvPicPr>
          <p:nvPr/>
        </p:nvPicPr>
        <p:blipFill>
          <a:blip r:embed="rId3"/>
          <a:stretch>
            <a:fillRect/>
          </a:stretch>
        </p:blipFill>
        <p:spPr>
          <a:xfrm>
            <a:off x="795528" y="5577840"/>
            <a:ext cx="292608" cy="292608"/>
          </a:xfrm>
          <a:prstGeom prst="rect">
            <a:avLst/>
          </a:prstGeom>
        </p:spPr>
      </p:pic>
      <p:sp>
        <p:nvSpPr>
          <p:cNvPr id="16" name="TextBox 15"/>
          <p:cNvSpPr txBox="1"/>
          <p:nvPr/>
        </p:nvSpPr>
        <p:spPr>
          <a:xfrm>
            <a:off x="1216152" y="5559552"/>
            <a:ext cx="10195560" cy="347472"/>
          </a:xfrm>
          <a:prstGeom prst="rect">
            <a:avLst/>
          </a:prstGeom>
          <a:noFill/>
        </p:spPr>
        <p:txBody>
          <a:bodyPr wrap="square" lIns="0" rIns="0" tIns="0" bIns="0" anchor="ctr">
            <a:spAutoFit/>
          </a:bodyPr>
          <a:lstStyle/>
          <a:p>
            <a:pPr algn="l">
              <a:lnSpc>
                <a:spcPct val="105000"/>
              </a:lnSpc>
            </a:pPr>
            <a:r>
              <a:rPr sz="1300" b="0" i="0">
                <a:solidFill>
                  <a:srgbClr val="6B7685"/>
                </a:solidFill>
                <a:latin typeface="Arial"/>
              </a:rPr>
              <a:t>Gimli Glider (1983) — ручной пересчёт топлива с неверным коэффициентом</a:t>
            </a:r>
          </a:p>
        </p:txBody>
      </p:sp>
      <p:pic>
        <p:nvPicPr>
          <p:cNvPr id="17" name="Picture 16" descr="building-2-blue.png"/>
          <p:cNvPicPr>
            <a:picLocks noChangeAspect="1"/>
          </p:cNvPicPr>
          <p:nvPr/>
        </p:nvPicPr>
        <p:blipFill>
          <a:blip r:embed="rId4"/>
          <a:stretch>
            <a:fillRect/>
          </a:stretch>
        </p:blipFill>
        <p:spPr>
          <a:xfrm>
            <a:off x="795528" y="5961888"/>
            <a:ext cx="292608" cy="292608"/>
          </a:xfrm>
          <a:prstGeom prst="rect">
            <a:avLst/>
          </a:prstGeom>
        </p:spPr>
      </p:pic>
      <p:sp>
        <p:nvSpPr>
          <p:cNvPr id="18" name="TextBox 17"/>
          <p:cNvSpPr txBox="1"/>
          <p:nvPr/>
        </p:nvSpPr>
        <p:spPr>
          <a:xfrm>
            <a:off x="1216152" y="5943600"/>
            <a:ext cx="10195560" cy="347472"/>
          </a:xfrm>
          <a:prstGeom prst="rect">
            <a:avLst/>
          </a:prstGeom>
          <a:noFill/>
        </p:spPr>
        <p:txBody>
          <a:bodyPr wrap="square" lIns="0" rIns="0" tIns="0" bIns="0" anchor="ctr">
            <a:spAutoFit/>
          </a:bodyPr>
          <a:lstStyle/>
          <a:p>
            <a:pPr algn="l">
              <a:lnSpc>
                <a:spcPct val="105000"/>
              </a:lnSpc>
            </a:pPr>
            <a:r>
              <a:rPr sz="1300" b="0" i="0">
                <a:solidFill>
                  <a:srgbClr val="6B7685"/>
                </a:solidFill>
                <a:latin typeface="Arial"/>
              </a:rPr>
              <a:t>Hyatt Regency (1981) — изменение узла подвески «на словах» без независимого пересчёта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LLM ошибается примерно у трети–половины инженерных расчётов.</a:t>
            </a:r>
          </a:p>
        </p:txBody>
      </p:sp>
      <p:sp>
        <p:nvSpPr>
          <p:cNvPr id="3" name="TextBox 2"/>
          <p:cNvSpPr txBox="1"/>
          <p:nvPr/>
        </p:nvSpPr>
        <p:spPr>
          <a:xfrm>
            <a:off x="502920" y="1097280"/>
            <a:ext cx="11247120" cy="36576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Воспроизводимая статистика — аргумент другого типа, чем единичные исторические катастрофы.</a:t>
            </a:r>
          </a:p>
        </p:txBody>
      </p:sp>
      <p:sp>
        <p:nvSpPr>
          <p:cNvPr id="4" name="Rounded Rectangle 3"/>
          <p:cNvSpPr/>
          <p:nvPr/>
        </p:nvSpPr>
        <p:spPr>
          <a:xfrm>
            <a:off x="502920" y="1645920"/>
            <a:ext cx="11201400" cy="260604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83664"/>
            <a:ext cx="10561320" cy="41148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ORCA Benchmark — 5 SOTA-моделей на реальных расчётах</a:t>
            </a:r>
          </a:p>
        </p:txBody>
      </p:sp>
      <p:sp>
        <p:nvSpPr>
          <p:cNvPr id="6" name="Rounded Rectangle 5"/>
          <p:cNvSpPr/>
          <p:nvPr/>
        </p:nvSpPr>
        <p:spPr>
          <a:xfrm>
            <a:off x="960120" y="2697480"/>
            <a:ext cx="7360920" cy="7315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72534" y="2697480"/>
            <a:ext cx="1324965" cy="73152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33491" y="2642616"/>
            <a:ext cx="109728" cy="84124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502152"/>
            <a:ext cx="7360920" cy="310896"/>
          </a:xfrm>
          <a:prstGeom prst="rect">
            <a:avLst/>
          </a:prstGeom>
          <a:noFill/>
        </p:spPr>
        <p:txBody>
          <a:bodyPr wrap="square" lIns="0" rIns="0" tIns="0" bIns="0" anchor="t">
            <a:spAutoFit/>
          </a:bodyPr>
          <a:lstStyle/>
          <a:p>
            <a:pPr algn="l">
              <a:lnSpc>
                <a:spcPct val="115000"/>
              </a:lnSpc>
            </a:pPr>
            <a:r>
              <a:rPr sz="1300" b="0" i="1">
                <a:solidFill>
                  <a:srgbClr val="6B7685"/>
                </a:solidFill>
                <a:latin typeface="Arial"/>
              </a:rPr>
              <a:t>точность ~45–63%  (диапазон, не точное число)</a:t>
            </a:r>
          </a:p>
        </p:txBody>
      </p:sp>
      <p:sp>
        <p:nvSpPr>
          <p:cNvPr id="10" name="TextBox 9"/>
          <p:cNvSpPr txBox="1"/>
          <p:nvPr/>
        </p:nvSpPr>
        <p:spPr>
          <a:xfrm>
            <a:off x="8549640" y="2651760"/>
            <a:ext cx="2834639" cy="822960"/>
          </a:xfrm>
          <a:prstGeom prst="rect">
            <a:avLst/>
          </a:prstGeom>
          <a:noFill/>
        </p:spPr>
        <p:txBody>
          <a:bodyPr wrap="square" lIns="0" rIns="0" tIns="0" bIns="0" anchor="ctr">
            <a:spAutoFit/>
          </a:bodyPr>
          <a:lstStyle/>
          <a:p>
            <a:pPr algn="l">
              <a:lnSpc>
                <a:spcPct val="115000"/>
              </a:lnSpc>
            </a:pPr>
            <a:r>
              <a:rPr sz="2000" b="1" i="0">
                <a:solidFill>
                  <a:srgbClr val="F0AB00"/>
                </a:solidFill>
                <a:latin typeface="Arial"/>
              </a:rPr>
              <a:t>лучшая ~63%</a:t>
            </a:r>
          </a:p>
        </p:txBody>
      </p:sp>
      <p:sp>
        <p:nvSpPr>
          <p:cNvPr id="11" name="Rounded Rectangle 10"/>
          <p:cNvSpPr/>
          <p:nvPr/>
        </p:nvSpPr>
        <p:spPr>
          <a:xfrm>
            <a:off x="502920" y="4434840"/>
            <a:ext cx="548640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4581144"/>
            <a:ext cx="4901184"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EngiBench</a:t>
            </a:r>
          </a:p>
        </p:txBody>
      </p:sp>
      <p:sp>
        <p:nvSpPr>
          <p:cNvPr id="13" name="TextBox 12"/>
          <p:cNvSpPr txBox="1"/>
          <p:nvPr/>
        </p:nvSpPr>
        <p:spPr>
          <a:xfrm>
            <a:off x="795528" y="4965192"/>
            <a:ext cx="4901184" cy="640080"/>
          </a:xfrm>
          <a:prstGeom prst="rect">
            <a:avLst/>
          </a:prstGeom>
          <a:noFill/>
        </p:spPr>
        <p:txBody>
          <a:bodyPr wrap="square" lIns="0" rIns="0" tIns="0" bIns="0" anchor="t">
            <a:spAutoFit/>
          </a:bodyPr>
          <a:lstStyle/>
          <a:p>
            <a:pPr algn="l">
              <a:lnSpc>
                <a:spcPct val="120000"/>
              </a:lnSpc>
            </a:pPr>
            <a:r>
              <a:rPr sz="1300" b="0" i="0">
                <a:solidFill>
                  <a:srgbClr val="6B7685"/>
                </a:solidFill>
                <a:latin typeface="Arial"/>
              </a:rPr>
              <a:t>падение точности при простом перефразировании = паттерн-матчинг, не рассуждение</a:t>
            </a:r>
          </a:p>
        </p:txBody>
      </p:sp>
      <p:sp>
        <p:nvSpPr>
          <p:cNvPr id="14" name="Rounded Rectangle 13"/>
          <p:cNvSpPr/>
          <p:nvPr/>
        </p:nvSpPr>
        <p:spPr>
          <a:xfrm>
            <a:off x="6217920" y="4434840"/>
            <a:ext cx="548640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4581144"/>
            <a:ext cx="4901184"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Аэрокосмический кейс</a:t>
            </a:r>
          </a:p>
        </p:txBody>
      </p:sp>
      <p:sp>
        <p:nvSpPr>
          <p:cNvPr id="16" name="TextBox 15"/>
          <p:cNvSpPr txBox="1"/>
          <p:nvPr/>
        </p:nvSpPr>
        <p:spPr>
          <a:xfrm>
            <a:off x="6510528" y="4965192"/>
            <a:ext cx="4901184" cy="640080"/>
          </a:xfrm>
          <a:prstGeom prst="rect">
            <a:avLst/>
          </a:prstGeom>
          <a:noFill/>
        </p:spPr>
        <p:txBody>
          <a:bodyPr wrap="square" lIns="0" rIns="0" tIns="0" bIns="0" anchor="t">
            <a:spAutoFit/>
          </a:bodyPr>
          <a:lstStyle/>
          <a:p>
            <a:pPr algn="l">
              <a:lnSpc>
                <a:spcPct val="120000"/>
              </a:lnSpc>
            </a:pPr>
            <a:r>
              <a:rPr sz="1300" b="0" i="0">
                <a:solidFill>
                  <a:srgbClr val="6B7685"/>
                </a:solidFill>
                <a:latin typeface="Arial"/>
              </a:rPr>
              <a:t>рекомендация по обработке нарушала 3 независимых стандарта сразу — звучала экспертно</a:t>
            </a:r>
          </a:p>
        </p:txBody>
      </p:sp>
      <p:sp>
        <p:nvSpPr>
          <p:cNvPr id="17" name="Rounded Rectangle 16"/>
          <p:cNvSpPr/>
          <p:nvPr/>
        </p:nvSpPr>
        <p:spPr>
          <a:xfrm>
            <a:off x="502920" y="5779008"/>
            <a:ext cx="11201400" cy="65836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833872"/>
            <a:ext cx="10744200" cy="54864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LLM — не источник истины по маркам/ГОСТ/допускам · независимая верификация на каждом интерфейсе с ИИ · правка силовой схемы = формальный change-request, не «ОК» в чате.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5</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Когда сказать
ИИ «нет»</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критерии неприменимости, правильный инструмент и кто несёт ответственность</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0" i="0">
                <a:solidFill>
                  <a:srgbClr val="6B7685"/>
                </a:solidFill>
                <a:latin typeface="Arial"/>
              </a:rPr>
              <a:t>Синтез</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7772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Чем выше цена ошибки — тем меньше места вероятностному ИИ.</a:t>
            </a:r>
          </a:p>
        </p:txBody>
      </p:sp>
      <p:sp>
        <p:nvSpPr>
          <p:cNvPr id="3" name="Rounded Rectangle 2"/>
          <p:cNvSpPr/>
          <p:nvPr/>
        </p:nvSpPr>
        <p:spPr>
          <a:xfrm>
            <a:off x="502920" y="1170432"/>
            <a:ext cx="11201400" cy="4736592"/>
          </a:xfrm>
          <a:prstGeom prst="roundRect">
            <a:avLst>
              <a:gd name="adj" fmla="val 64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316736"/>
            <a:ext cx="3355848" cy="43891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1316736"/>
            <a:ext cx="3246120" cy="438912"/>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Критерий</a:t>
            </a:r>
          </a:p>
        </p:txBody>
      </p:sp>
      <p:sp>
        <p:nvSpPr>
          <p:cNvPr id="6" name="Rounded Rectangle 5"/>
          <p:cNvSpPr/>
          <p:nvPr/>
        </p:nvSpPr>
        <p:spPr>
          <a:xfrm>
            <a:off x="4206240" y="1316736"/>
            <a:ext cx="3520440" cy="43891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61103" y="1316736"/>
            <a:ext cx="3410712" cy="438912"/>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Почему вероятностный ИИ не годится</a:t>
            </a:r>
          </a:p>
        </p:txBody>
      </p:sp>
      <p:sp>
        <p:nvSpPr>
          <p:cNvPr id="8" name="Rounded Rectangle 7"/>
          <p:cNvSpPr/>
          <p:nvPr/>
        </p:nvSpPr>
        <p:spPr>
          <a:xfrm>
            <a:off x="7818120" y="1316736"/>
            <a:ext cx="3538727" cy="438912"/>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2984" y="1316736"/>
            <a:ext cx="3428999" cy="438912"/>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Более правильный инструмент</a:t>
            </a:r>
          </a:p>
        </p:txBody>
      </p:sp>
      <p:sp>
        <p:nvSpPr>
          <p:cNvPr id="10" name="Rectangle 9"/>
          <p:cNvSpPr/>
          <p:nvPr/>
        </p:nvSpPr>
        <p:spPr>
          <a:xfrm>
            <a:off x="758952" y="1828800"/>
            <a:ext cx="10689336" cy="388619"/>
          </a:xfrm>
          <a:prstGeom prst="rect">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le-check-blue.png"/>
          <p:cNvPicPr>
            <a:picLocks noChangeAspect="1"/>
          </p:cNvPicPr>
          <p:nvPr/>
        </p:nvPicPr>
        <p:blipFill>
          <a:blip r:embed="rId2"/>
          <a:stretch>
            <a:fillRect/>
          </a:stretch>
        </p:blipFill>
        <p:spPr>
          <a:xfrm>
            <a:off x="850392" y="1863089"/>
            <a:ext cx="365760" cy="365760"/>
          </a:xfrm>
          <a:prstGeom prst="rect">
            <a:avLst/>
          </a:prstGeom>
        </p:spPr>
      </p:pic>
      <p:sp>
        <p:nvSpPr>
          <p:cNvPr id="12" name="TextBox 11"/>
          <p:cNvSpPr txBox="1"/>
          <p:nvPr/>
        </p:nvSpPr>
        <p:spPr>
          <a:xfrm>
            <a:off x="1325880" y="1828800"/>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Сертификационный расчёт</a:t>
            </a:r>
          </a:p>
        </p:txBody>
      </p:sp>
      <p:sp>
        <p:nvSpPr>
          <p:cNvPr id="13" name="TextBox 12"/>
          <p:cNvSpPr txBox="1"/>
          <p:nvPr/>
        </p:nvSpPr>
        <p:spPr>
          <a:xfrm>
            <a:off x="4206240" y="1828800"/>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нужна трассируемость</a:t>
            </a:r>
          </a:p>
        </p:txBody>
      </p:sp>
      <p:sp>
        <p:nvSpPr>
          <p:cNvPr id="14" name="TextBox 13"/>
          <p:cNvSpPr txBox="1"/>
          <p:nvPr/>
        </p:nvSpPr>
        <p:spPr>
          <a:xfrm>
            <a:off x="7818120" y="1828800"/>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аттестованный решатель + верификация</a:t>
            </a:r>
          </a:p>
        </p:txBody>
      </p:sp>
      <p:sp>
        <p:nvSpPr>
          <p:cNvPr id="15" name="Rectangle 14"/>
          <p:cNvSpPr/>
          <p:nvPr/>
        </p:nvSpPr>
        <p:spPr>
          <a:xfrm>
            <a:off x="758952" y="2263139"/>
            <a:ext cx="10689336" cy="388619"/>
          </a:xfrm>
          <a:prstGeom prst="rect">
            <a:avLst/>
          </a:prstGeom>
          <a:solidFill>
            <a:srgbClr val="F4F7FA"/>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ield-blue.png"/>
          <p:cNvPicPr>
            <a:picLocks noChangeAspect="1"/>
          </p:cNvPicPr>
          <p:nvPr/>
        </p:nvPicPr>
        <p:blipFill>
          <a:blip r:embed="rId3"/>
          <a:stretch>
            <a:fillRect/>
          </a:stretch>
        </p:blipFill>
        <p:spPr>
          <a:xfrm>
            <a:off x="850392" y="2297429"/>
            <a:ext cx="365760" cy="365760"/>
          </a:xfrm>
          <a:prstGeom prst="rect">
            <a:avLst/>
          </a:prstGeom>
        </p:spPr>
      </p:pic>
      <p:sp>
        <p:nvSpPr>
          <p:cNvPr id="17" name="TextBox 16"/>
          <p:cNvSpPr txBox="1"/>
          <p:nvPr/>
        </p:nvSpPr>
        <p:spPr>
          <a:xfrm>
            <a:off x="1325880" y="2263139"/>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Коэффициент запаса</a:t>
            </a:r>
          </a:p>
        </p:txBody>
      </p:sp>
      <p:sp>
        <p:nvSpPr>
          <p:cNvPr id="18" name="TextBox 17"/>
          <p:cNvSpPr txBox="1"/>
          <p:nvPr/>
        </p:nvSpPr>
        <p:spPr>
          <a:xfrm>
            <a:off x="4206240" y="2263139"/>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задаётся нормой, не моделью</a:t>
            </a:r>
          </a:p>
        </p:txBody>
      </p:sp>
      <p:sp>
        <p:nvSpPr>
          <p:cNvPr id="19" name="TextBox 18"/>
          <p:cNvSpPr txBox="1"/>
          <p:nvPr/>
        </p:nvSpPr>
        <p:spPr>
          <a:xfrm>
            <a:off x="7818120" y="2263139"/>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норматив + обоснование инженера</a:t>
            </a:r>
          </a:p>
        </p:txBody>
      </p:sp>
      <p:sp>
        <p:nvSpPr>
          <p:cNvPr id="20" name="Rectangle 19"/>
          <p:cNvSpPr/>
          <p:nvPr/>
        </p:nvSpPr>
        <p:spPr>
          <a:xfrm>
            <a:off x="758952" y="2697479"/>
            <a:ext cx="10689336" cy="388619"/>
          </a:xfrm>
          <a:prstGeom prst="rect">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le-stack-blue.png"/>
          <p:cNvPicPr>
            <a:picLocks noChangeAspect="1"/>
          </p:cNvPicPr>
          <p:nvPr/>
        </p:nvPicPr>
        <p:blipFill>
          <a:blip r:embed="rId4"/>
          <a:stretch>
            <a:fillRect/>
          </a:stretch>
        </p:blipFill>
        <p:spPr>
          <a:xfrm>
            <a:off x="850392" y="2731769"/>
            <a:ext cx="365760" cy="365760"/>
          </a:xfrm>
          <a:prstGeom prst="rect">
            <a:avLst/>
          </a:prstGeom>
        </p:spPr>
      </p:pic>
      <p:sp>
        <p:nvSpPr>
          <p:cNvPr id="22" name="TextBox 21"/>
          <p:cNvSpPr txBox="1"/>
          <p:nvPr/>
        </p:nvSpPr>
        <p:spPr>
          <a:xfrm>
            <a:off x="1325880" y="2697479"/>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Нормоконтроль ГОСТ/ISO</a:t>
            </a:r>
          </a:p>
        </p:txBody>
      </p:sp>
      <p:sp>
        <p:nvSpPr>
          <p:cNvPr id="23" name="TextBox 22"/>
          <p:cNvSpPr txBox="1"/>
          <p:nvPr/>
        </p:nvSpPr>
        <p:spPr>
          <a:xfrm>
            <a:off x="4206240" y="2697479"/>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галлюцинирует номера и допуски</a:t>
            </a:r>
          </a:p>
        </p:txBody>
      </p:sp>
      <p:sp>
        <p:nvSpPr>
          <p:cNvPr id="24" name="TextBox 23"/>
          <p:cNvSpPr txBox="1"/>
          <p:nvPr/>
        </p:nvSpPr>
        <p:spPr>
          <a:xfrm>
            <a:off x="7818120" y="2697479"/>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нормативная база + нормоконтролёр</a:t>
            </a:r>
          </a:p>
        </p:txBody>
      </p:sp>
      <p:sp>
        <p:nvSpPr>
          <p:cNvPr id="25" name="Rectangle 24"/>
          <p:cNvSpPr/>
          <p:nvPr/>
        </p:nvSpPr>
        <p:spPr>
          <a:xfrm>
            <a:off x="758952" y="3131820"/>
            <a:ext cx="10689336" cy="388619"/>
          </a:xfrm>
          <a:prstGeom prst="rect">
            <a:avLst/>
          </a:prstGeom>
          <a:solidFill>
            <a:srgbClr val="F4F7FA"/>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cale-blue.png"/>
          <p:cNvPicPr>
            <a:picLocks noChangeAspect="1"/>
          </p:cNvPicPr>
          <p:nvPr/>
        </p:nvPicPr>
        <p:blipFill>
          <a:blip r:embed="rId5"/>
          <a:stretch>
            <a:fillRect/>
          </a:stretch>
        </p:blipFill>
        <p:spPr>
          <a:xfrm>
            <a:off x="850392" y="3166109"/>
            <a:ext cx="365760" cy="365760"/>
          </a:xfrm>
          <a:prstGeom prst="rect">
            <a:avLst/>
          </a:prstGeom>
        </p:spPr>
      </p:pic>
      <p:sp>
        <p:nvSpPr>
          <p:cNvPr id="27" name="TextBox 26"/>
          <p:cNvSpPr txBox="1"/>
          <p:nvPr/>
        </p:nvSpPr>
        <p:spPr>
          <a:xfrm>
            <a:off x="1325880" y="3131820"/>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Юридическая ответственность</a:t>
            </a:r>
          </a:p>
        </p:txBody>
      </p:sp>
      <p:sp>
        <p:nvSpPr>
          <p:cNvPr id="28" name="TextBox 27"/>
          <p:cNvSpPr txBox="1"/>
          <p:nvPr/>
        </p:nvSpPr>
        <p:spPr>
          <a:xfrm>
            <a:off x="4206240" y="3131820"/>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ИИ не субъект ответственности</a:t>
            </a:r>
          </a:p>
        </p:txBody>
      </p:sp>
      <p:sp>
        <p:nvSpPr>
          <p:cNvPr id="29" name="TextBox 28"/>
          <p:cNvSpPr txBox="1"/>
          <p:nvPr/>
        </p:nvSpPr>
        <p:spPr>
          <a:xfrm>
            <a:off x="7818120" y="3131820"/>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инженер с подписью</a:t>
            </a:r>
          </a:p>
        </p:txBody>
      </p:sp>
      <p:sp>
        <p:nvSpPr>
          <p:cNvPr id="30" name="Rectangle 29"/>
          <p:cNvSpPr/>
          <p:nvPr/>
        </p:nvSpPr>
        <p:spPr>
          <a:xfrm>
            <a:off x="758952" y="3566159"/>
            <a:ext cx="10689336" cy="388619"/>
          </a:xfrm>
          <a:prstGeom prst="rect">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unction-square-blue.png"/>
          <p:cNvPicPr>
            <a:picLocks noChangeAspect="1"/>
          </p:cNvPicPr>
          <p:nvPr/>
        </p:nvPicPr>
        <p:blipFill>
          <a:blip r:embed="rId6"/>
          <a:stretch>
            <a:fillRect/>
          </a:stretch>
        </p:blipFill>
        <p:spPr>
          <a:xfrm>
            <a:off x="850392" y="3600449"/>
            <a:ext cx="365760" cy="365760"/>
          </a:xfrm>
          <a:prstGeom prst="rect">
            <a:avLst/>
          </a:prstGeom>
        </p:spPr>
      </p:pic>
      <p:sp>
        <p:nvSpPr>
          <p:cNvPr id="32" name="TextBox 31"/>
          <p:cNvSpPr txBox="1"/>
          <p:nvPr/>
        </p:nvSpPr>
        <p:spPr>
          <a:xfrm>
            <a:off x="1325880" y="3566159"/>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Есть точный решатель</a:t>
            </a:r>
          </a:p>
        </p:txBody>
      </p:sp>
      <p:sp>
        <p:nvSpPr>
          <p:cNvPr id="33" name="TextBox 32"/>
          <p:cNvSpPr txBox="1"/>
          <p:nvPr/>
        </p:nvSpPr>
        <p:spPr>
          <a:xfrm>
            <a:off x="4206240" y="3566159"/>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аппроксимация хуже точного</a:t>
            </a:r>
          </a:p>
        </p:txBody>
      </p:sp>
      <p:sp>
        <p:nvSpPr>
          <p:cNvPr id="34" name="TextBox 33"/>
          <p:cNvSpPr txBox="1"/>
          <p:nvPr/>
        </p:nvSpPr>
        <p:spPr>
          <a:xfrm>
            <a:off x="7818120" y="3566159"/>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прямой численный расчёт</a:t>
            </a:r>
          </a:p>
        </p:txBody>
      </p:sp>
      <p:sp>
        <p:nvSpPr>
          <p:cNvPr id="35" name="Rectangle 34"/>
          <p:cNvSpPr/>
          <p:nvPr/>
        </p:nvSpPr>
        <p:spPr>
          <a:xfrm>
            <a:off x="758952" y="4000499"/>
            <a:ext cx="10689336" cy="388619"/>
          </a:xfrm>
          <a:prstGeom prst="rect">
            <a:avLst/>
          </a:prstGeom>
          <a:solidFill>
            <a:srgbClr val="F4F7FA"/>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eart-pulse-blue.png"/>
          <p:cNvPicPr>
            <a:picLocks noChangeAspect="1"/>
          </p:cNvPicPr>
          <p:nvPr/>
        </p:nvPicPr>
        <p:blipFill>
          <a:blip r:embed="rId7"/>
          <a:stretch>
            <a:fillRect/>
          </a:stretch>
        </p:blipFill>
        <p:spPr>
          <a:xfrm>
            <a:off x="850392" y="4034789"/>
            <a:ext cx="365760" cy="365760"/>
          </a:xfrm>
          <a:prstGeom prst="rect">
            <a:avLst/>
          </a:prstGeom>
        </p:spPr>
      </p:pic>
      <p:sp>
        <p:nvSpPr>
          <p:cNvPr id="37" name="TextBox 36"/>
          <p:cNvSpPr txBox="1"/>
          <p:nvPr/>
        </p:nvSpPr>
        <p:spPr>
          <a:xfrm>
            <a:off x="1325880" y="4000499"/>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Безопасность жизни</a:t>
            </a:r>
          </a:p>
        </p:txBody>
      </p:sp>
      <p:sp>
        <p:nvSpPr>
          <p:cNvPr id="38" name="TextBox 37"/>
          <p:cNvSpPr txBox="1"/>
          <p:nvPr/>
        </p:nvSpPr>
        <p:spPr>
          <a:xfrm>
            <a:off x="4206240" y="4000499"/>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цена ошибки — жизни людей</a:t>
            </a:r>
          </a:p>
        </p:txBody>
      </p:sp>
      <p:sp>
        <p:nvSpPr>
          <p:cNvPr id="39" name="TextBox 38"/>
          <p:cNvSpPr txBox="1"/>
          <p:nvPr/>
        </p:nvSpPr>
        <p:spPr>
          <a:xfrm>
            <a:off x="7818120" y="4000499"/>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норм. расчёт + проверка + НК</a:t>
            </a:r>
          </a:p>
        </p:txBody>
      </p:sp>
      <p:sp>
        <p:nvSpPr>
          <p:cNvPr id="40" name="Rectangle 39"/>
          <p:cNvSpPr/>
          <p:nvPr/>
        </p:nvSpPr>
        <p:spPr>
          <a:xfrm>
            <a:off x="758952" y="4434840"/>
            <a:ext cx="10689336" cy="388619"/>
          </a:xfrm>
          <a:prstGeom prst="rect">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ruler-blue.png"/>
          <p:cNvPicPr>
            <a:picLocks noChangeAspect="1"/>
          </p:cNvPicPr>
          <p:nvPr/>
        </p:nvPicPr>
        <p:blipFill>
          <a:blip r:embed="rId8"/>
          <a:stretch>
            <a:fillRect/>
          </a:stretch>
        </p:blipFill>
        <p:spPr>
          <a:xfrm>
            <a:off x="850392" y="4469129"/>
            <a:ext cx="365760" cy="365760"/>
          </a:xfrm>
          <a:prstGeom prst="rect">
            <a:avLst/>
          </a:prstGeom>
        </p:spPr>
      </p:pic>
      <p:sp>
        <p:nvSpPr>
          <p:cNvPr id="42" name="TextBox 41"/>
          <p:cNvSpPr txBox="1"/>
          <p:nvPr/>
        </p:nvSpPr>
        <p:spPr>
          <a:xfrm>
            <a:off x="1325880" y="4434840"/>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Единицы на стыке систем</a:t>
            </a:r>
          </a:p>
        </p:txBody>
      </p:sp>
      <p:sp>
        <p:nvSpPr>
          <p:cNvPr id="43" name="TextBox 42"/>
          <p:cNvSpPr txBox="1"/>
          <p:nvPr/>
        </p:nvSpPr>
        <p:spPr>
          <a:xfrm>
            <a:off x="4206240" y="4434840"/>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уверенно путает единицы (Mars)</a:t>
            </a:r>
          </a:p>
        </p:txBody>
      </p:sp>
      <p:sp>
        <p:nvSpPr>
          <p:cNvPr id="44" name="TextBox 43"/>
          <p:cNvSpPr txBox="1"/>
          <p:nvPr/>
        </p:nvSpPr>
        <p:spPr>
          <a:xfrm>
            <a:off x="7818120" y="4434840"/>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проверка размерностей + единая СИ</a:t>
            </a:r>
          </a:p>
        </p:txBody>
      </p:sp>
      <p:sp>
        <p:nvSpPr>
          <p:cNvPr id="45" name="Rectangle 44"/>
          <p:cNvSpPr/>
          <p:nvPr/>
        </p:nvSpPr>
        <p:spPr>
          <a:xfrm>
            <a:off x="758952" y="4869179"/>
            <a:ext cx="10689336" cy="388619"/>
          </a:xfrm>
          <a:prstGeom prst="rect">
            <a:avLst/>
          </a:prstGeom>
          <a:solidFill>
            <a:srgbClr val="F4F7FA"/>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it-pull-request-blue.png"/>
          <p:cNvPicPr>
            <a:picLocks noChangeAspect="1"/>
          </p:cNvPicPr>
          <p:nvPr/>
        </p:nvPicPr>
        <p:blipFill>
          <a:blip r:embed="rId9"/>
          <a:stretch>
            <a:fillRect/>
          </a:stretch>
        </p:blipFill>
        <p:spPr>
          <a:xfrm>
            <a:off x="850392" y="4903469"/>
            <a:ext cx="365760" cy="365760"/>
          </a:xfrm>
          <a:prstGeom prst="rect">
            <a:avLst/>
          </a:prstGeom>
        </p:spPr>
      </p:pic>
      <p:sp>
        <p:nvSpPr>
          <p:cNvPr id="47" name="TextBox 46"/>
          <p:cNvSpPr txBox="1"/>
          <p:nvPr/>
        </p:nvSpPr>
        <p:spPr>
          <a:xfrm>
            <a:off x="1325880" y="4869179"/>
            <a:ext cx="2834640" cy="388619"/>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Изменение силовой схемы</a:t>
            </a:r>
          </a:p>
        </p:txBody>
      </p:sp>
      <p:sp>
        <p:nvSpPr>
          <p:cNvPr id="48" name="TextBox 47"/>
          <p:cNvSpPr txBox="1"/>
          <p:nvPr/>
        </p:nvSpPr>
        <p:spPr>
          <a:xfrm>
            <a:off x="4206240" y="4869179"/>
            <a:ext cx="3483864" cy="388619"/>
          </a:xfrm>
          <a:prstGeom prst="rect">
            <a:avLst/>
          </a:prstGeom>
          <a:noFill/>
        </p:spPr>
        <p:txBody>
          <a:bodyPr wrap="square" lIns="0" rIns="0" tIns="0" bIns="0" anchor="ctr">
            <a:spAutoFit/>
          </a:bodyPr>
          <a:lstStyle/>
          <a:p>
            <a:pPr algn="l">
              <a:lnSpc>
                <a:spcPct val="100000"/>
              </a:lnSpc>
            </a:pPr>
            <a:r>
              <a:rPr sz="1400" b="0" i="0">
                <a:solidFill>
                  <a:srgbClr val="6B7685"/>
                </a:solidFill>
                <a:latin typeface="Arial"/>
              </a:rPr>
              <a:t>«по чату» без пересчёта (Hyatt)</a:t>
            </a:r>
          </a:p>
        </p:txBody>
      </p:sp>
      <p:sp>
        <p:nvSpPr>
          <p:cNvPr id="49" name="TextBox 48"/>
          <p:cNvSpPr txBox="1"/>
          <p:nvPr/>
        </p:nvSpPr>
        <p:spPr>
          <a:xfrm>
            <a:off x="7818120" y="4869179"/>
            <a:ext cx="3502151" cy="388619"/>
          </a:xfrm>
          <a:prstGeom prst="rect">
            <a:avLst/>
          </a:prstGeom>
          <a:noFill/>
        </p:spPr>
        <p:txBody>
          <a:bodyPr wrap="square" lIns="0" rIns="0" tIns="0" bIns="0" anchor="ctr">
            <a:spAutoFit/>
          </a:bodyPr>
          <a:lstStyle/>
          <a:p>
            <a:pPr algn="l">
              <a:lnSpc>
                <a:spcPct val="100000"/>
              </a:lnSpc>
            </a:pPr>
            <a:r>
              <a:rPr sz="1400" b="1" i="0">
                <a:solidFill>
                  <a:srgbClr val="065A82"/>
                </a:solidFill>
                <a:latin typeface="Arial"/>
              </a:rPr>
              <a:t>change-request + пересчёт</a:t>
            </a:r>
          </a:p>
        </p:txBody>
      </p:sp>
      <p:sp>
        <p:nvSpPr>
          <p:cNvPr id="50" name="Rounded Rectangle 49"/>
          <p:cNvSpPr/>
          <p:nvPr/>
        </p:nvSpPr>
        <p:spPr>
          <a:xfrm>
            <a:off x="758952" y="5303520"/>
            <a:ext cx="10689336" cy="493776"/>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 y="5358383"/>
            <a:ext cx="10232136" cy="384048"/>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ИИ — инструмент расширения вариативности и черновика, не арбитр истины и не носитель ответственности.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500" b="1" i="0">
                <a:solidFill>
                  <a:srgbClr val="21295C"/>
                </a:solidFill>
                <a:latin typeface="Arial"/>
              </a:rPr>
              <a:t>В России границы ИИ-геометрии конкретны и нормативны.</a:t>
            </a:r>
          </a:p>
        </p:txBody>
      </p:sp>
      <p:sp>
        <p:nvSpPr>
          <p:cNvPr id="3" name="Rounded Rectangle 2"/>
          <p:cNvSpPr/>
          <p:nvPr/>
        </p:nvSpPr>
        <p:spPr>
          <a:xfrm>
            <a:off x="502920" y="1371600"/>
            <a:ext cx="548640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stack-blue.png"/>
          <p:cNvPicPr>
            <a:picLocks noChangeAspect="1"/>
          </p:cNvPicPr>
          <p:nvPr/>
        </p:nvPicPr>
        <p:blipFill>
          <a:blip r:embed="rId2"/>
          <a:stretch>
            <a:fillRect/>
          </a:stretch>
        </p:blipFill>
        <p:spPr>
          <a:xfrm>
            <a:off x="813816" y="1664208"/>
            <a:ext cx="640080" cy="640080"/>
          </a:xfrm>
          <a:prstGeom prst="rect">
            <a:avLst/>
          </a:prstGeom>
        </p:spPr>
      </p:pic>
      <p:sp>
        <p:nvSpPr>
          <p:cNvPr id="5" name="TextBox 4"/>
          <p:cNvSpPr txBox="1"/>
          <p:nvPr/>
        </p:nvSpPr>
        <p:spPr>
          <a:xfrm>
            <a:off x="1618488" y="1700784"/>
            <a:ext cx="4169664" cy="566928"/>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Барьер ЕСКД</a:t>
            </a:r>
          </a:p>
        </p:txBody>
      </p:sp>
      <p:sp>
        <p:nvSpPr>
          <p:cNvPr id="6" name="Rounded Rectangle 5"/>
          <p:cNvSpPr/>
          <p:nvPr/>
        </p:nvSpPr>
        <p:spPr>
          <a:xfrm>
            <a:off x="832104" y="2624328"/>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42032"/>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выращенная органическая геометрия плохо ложится на 2D-чертёж</a:t>
            </a:r>
          </a:p>
        </p:txBody>
      </p:sp>
      <p:sp>
        <p:nvSpPr>
          <p:cNvPr id="8" name="Rounded Rectangle 7"/>
          <p:cNvSpPr/>
          <p:nvPr/>
        </p:nvSpPr>
        <p:spPr>
          <a:xfrm>
            <a:off x="832104" y="3227832"/>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45536"/>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нормоконтролируемую документацию нетривиально выпустить</a:t>
            </a:r>
          </a:p>
        </p:txBody>
      </p:sp>
      <p:sp>
        <p:nvSpPr>
          <p:cNvPr id="10" name="Rounded Rectangle 9"/>
          <p:cNvSpPr/>
          <p:nvPr/>
        </p:nvSpPr>
        <p:spPr>
          <a:xfrm>
            <a:off x="6217920" y="1371600"/>
            <a:ext cx="548640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dge-check-blue.png"/>
          <p:cNvPicPr>
            <a:picLocks noChangeAspect="1"/>
          </p:cNvPicPr>
          <p:nvPr/>
        </p:nvPicPr>
        <p:blipFill>
          <a:blip r:embed="rId3"/>
          <a:stretch>
            <a:fillRect/>
          </a:stretch>
        </p:blipFill>
        <p:spPr>
          <a:xfrm>
            <a:off x="6528816" y="1664208"/>
            <a:ext cx="640080" cy="640080"/>
          </a:xfrm>
          <a:prstGeom prst="rect">
            <a:avLst/>
          </a:prstGeom>
        </p:spPr>
      </p:pic>
      <p:sp>
        <p:nvSpPr>
          <p:cNvPr id="12" name="TextBox 11"/>
          <p:cNvSpPr txBox="1"/>
          <p:nvPr/>
        </p:nvSpPr>
        <p:spPr>
          <a:xfrm>
            <a:off x="7333488" y="1700784"/>
            <a:ext cx="4169664" cy="566928"/>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Аттестация и верификация</a:t>
            </a:r>
          </a:p>
        </p:txBody>
      </p:sp>
      <p:sp>
        <p:nvSpPr>
          <p:cNvPr id="13" name="Rounded Rectangle 12"/>
          <p:cNvSpPr/>
          <p:nvPr/>
        </p:nvSpPr>
        <p:spPr>
          <a:xfrm>
            <a:off x="6547104" y="2624328"/>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59" y="2542032"/>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ядро APM Structure3D — аттестат Ростехнадзора</a:t>
            </a:r>
          </a:p>
        </p:txBody>
      </p:sp>
      <p:sp>
        <p:nvSpPr>
          <p:cNvPr id="15" name="Rounded Rectangle 14"/>
          <p:cNvSpPr/>
          <p:nvPr/>
        </p:nvSpPr>
        <p:spPr>
          <a:xfrm>
            <a:off x="6547104" y="3227832"/>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59" y="3145536"/>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без аттестованной верификации в надзорное производство нельзя</a:t>
            </a:r>
          </a:p>
        </p:txBody>
      </p:sp>
      <p:sp>
        <p:nvSpPr>
          <p:cNvPr id="17" name="Rounded Rectangle 16"/>
          <p:cNvSpPr/>
          <p:nvPr/>
        </p:nvSpPr>
        <p:spPr>
          <a:xfrm>
            <a:off x="502920" y="3904487"/>
            <a:ext cx="548640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erver-blue.png"/>
          <p:cNvPicPr>
            <a:picLocks noChangeAspect="1"/>
          </p:cNvPicPr>
          <p:nvPr/>
        </p:nvPicPr>
        <p:blipFill>
          <a:blip r:embed="rId4"/>
          <a:stretch>
            <a:fillRect/>
          </a:stretch>
        </p:blipFill>
        <p:spPr>
          <a:xfrm>
            <a:off x="813816" y="4197096"/>
            <a:ext cx="640080" cy="640080"/>
          </a:xfrm>
          <a:prstGeom prst="rect">
            <a:avLst/>
          </a:prstGeom>
        </p:spPr>
      </p:pic>
      <p:sp>
        <p:nvSpPr>
          <p:cNvPr id="19" name="TextBox 18"/>
          <p:cNvSpPr txBox="1"/>
          <p:nvPr/>
        </p:nvSpPr>
        <p:spPr>
          <a:xfrm>
            <a:off x="1618488" y="4233672"/>
            <a:ext cx="4169664" cy="566928"/>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187-ФЗ / 58-ФЗ</a:t>
            </a:r>
          </a:p>
        </p:txBody>
      </p:sp>
      <p:sp>
        <p:nvSpPr>
          <p:cNvPr id="20" name="Rounded Rectangle 19"/>
          <p:cNvSpPr/>
          <p:nvPr/>
        </p:nvSpPr>
        <p:spPr>
          <a:xfrm>
            <a:off x="832104" y="5157216"/>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074920"/>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для значимых КИИ облачные западные CAD неприменимы</a:t>
            </a:r>
          </a:p>
        </p:txBody>
      </p:sp>
      <p:sp>
        <p:nvSpPr>
          <p:cNvPr id="22" name="Rounded Rectangle 21"/>
          <p:cNvSpPr/>
          <p:nvPr/>
        </p:nvSpPr>
        <p:spPr>
          <a:xfrm>
            <a:off x="832104" y="5760720"/>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678424"/>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блокировка AutoCAD/Fusion 2022–2024 — единая точка отказа</a:t>
            </a:r>
          </a:p>
        </p:txBody>
      </p:sp>
      <p:sp>
        <p:nvSpPr>
          <p:cNvPr id="24" name="Rounded Rectangle 23"/>
          <p:cNvSpPr/>
          <p:nvPr/>
        </p:nvSpPr>
        <p:spPr>
          <a:xfrm>
            <a:off x="6217920" y="3904487"/>
            <a:ext cx="5486400" cy="2331720"/>
          </a:xfrm>
          <a:prstGeom prst="roundRect">
            <a:avLst>
              <a:gd name="adj" fmla="val 13071"/>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pyright-gold.png"/>
          <p:cNvPicPr>
            <a:picLocks noChangeAspect="1"/>
          </p:cNvPicPr>
          <p:nvPr/>
        </p:nvPicPr>
        <p:blipFill>
          <a:blip r:embed="rId5"/>
          <a:stretch>
            <a:fillRect/>
          </a:stretch>
        </p:blipFill>
        <p:spPr>
          <a:xfrm>
            <a:off x="6528816" y="4197096"/>
            <a:ext cx="640080" cy="640080"/>
          </a:xfrm>
          <a:prstGeom prst="rect">
            <a:avLst/>
          </a:prstGeom>
        </p:spPr>
      </p:pic>
      <p:sp>
        <p:nvSpPr>
          <p:cNvPr id="26" name="TextBox 25"/>
          <p:cNvSpPr txBox="1"/>
          <p:nvPr/>
        </p:nvSpPr>
        <p:spPr>
          <a:xfrm>
            <a:off x="7333488" y="4233672"/>
            <a:ext cx="4169664" cy="566928"/>
          </a:xfrm>
          <a:prstGeom prst="rect">
            <a:avLst/>
          </a:prstGeom>
          <a:noFill/>
        </p:spPr>
        <p:txBody>
          <a:bodyPr wrap="square" lIns="0" rIns="0" tIns="0" bIns="0" anchor="ctr">
            <a:spAutoFit/>
          </a:bodyPr>
          <a:lstStyle/>
          <a:p>
            <a:pPr algn="l">
              <a:lnSpc>
                <a:spcPct val="115000"/>
              </a:lnSpc>
            </a:pPr>
            <a:r>
              <a:rPr sz="1800" b="1" i="0">
                <a:solidFill>
                  <a:srgbClr val="F0AB00"/>
                </a:solidFill>
                <a:latin typeface="Arial"/>
              </a:rPr>
              <a:t>Авторство и право</a:t>
            </a:r>
          </a:p>
        </p:txBody>
      </p:sp>
      <p:sp>
        <p:nvSpPr>
          <p:cNvPr id="27" name="Rounded Rectangle 26"/>
          <p:cNvSpPr/>
          <p:nvPr/>
        </p:nvSpPr>
        <p:spPr>
          <a:xfrm>
            <a:off x="6547104" y="5157216"/>
            <a:ext cx="109728" cy="10972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59" y="5074920"/>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по праву РФ машина не субъект авторского права</a:t>
            </a:r>
          </a:p>
        </p:txBody>
      </p:sp>
      <p:sp>
        <p:nvSpPr>
          <p:cNvPr id="29" name="Rounded Rectangle 28"/>
          <p:cNvSpPr/>
          <p:nvPr/>
        </p:nvSpPr>
        <p:spPr>
          <a:xfrm>
            <a:off x="6547104" y="5760720"/>
            <a:ext cx="109728" cy="10972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59" y="5678424"/>
            <a:ext cx="4645152" cy="566928"/>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отвечает инженер или организация, не инструмент</a:t>
            </a:r>
          </a:p>
        </p:txBody>
      </p:sp>
      <p:sp>
        <p:nvSpPr>
          <p:cNvPr id="31" name="TextBox 30"/>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КИИ — критическая информационная инфраструктура (187-ФЗ).</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AI генерирует форму — человек отвечает, верифицирует и изобретает функцию.</a:t>
            </a:r>
          </a:p>
        </p:txBody>
      </p:sp>
      <p:sp>
        <p:nvSpPr>
          <p:cNvPr id="3" name="Rounded Rectangle 2"/>
          <p:cNvSpPr/>
          <p:nvPr/>
        </p:nvSpPr>
        <p:spPr>
          <a:xfrm>
            <a:off x="502920" y="1325880"/>
            <a:ext cx="11201400" cy="3520440"/>
          </a:xfrm>
          <a:prstGeom prst="roundRect">
            <a:avLst>
              <a:gd name="adj" fmla="val 865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4476" y="1691640"/>
            <a:ext cx="18288" cy="278892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x-teal.png"/>
          <p:cNvPicPr>
            <a:picLocks noChangeAspect="1"/>
          </p:cNvPicPr>
          <p:nvPr/>
        </p:nvPicPr>
        <p:blipFill>
          <a:blip r:embed="rId2"/>
          <a:stretch>
            <a:fillRect/>
          </a:stretch>
        </p:blipFill>
        <p:spPr>
          <a:xfrm>
            <a:off x="960120" y="1691640"/>
            <a:ext cx="640080" cy="640080"/>
          </a:xfrm>
          <a:prstGeom prst="rect">
            <a:avLst/>
          </a:prstGeom>
        </p:spPr>
      </p:pic>
      <p:sp>
        <p:nvSpPr>
          <p:cNvPr id="6" name="TextBox 5"/>
          <p:cNvSpPr txBox="1"/>
          <p:nvPr/>
        </p:nvSpPr>
        <p:spPr>
          <a:xfrm>
            <a:off x="1801368" y="1709928"/>
            <a:ext cx="3845052" cy="713232"/>
          </a:xfrm>
          <a:prstGeom prst="rect">
            <a:avLst/>
          </a:prstGeom>
          <a:noFill/>
        </p:spPr>
        <p:txBody>
          <a:bodyPr wrap="square" lIns="0" rIns="0" tIns="0" bIns="0" anchor="ctr">
            <a:spAutoFit/>
          </a:bodyPr>
          <a:lstStyle/>
          <a:p>
            <a:pPr algn="l">
              <a:lnSpc>
                <a:spcPct val="110000"/>
              </a:lnSpc>
            </a:pPr>
            <a:r>
              <a:rPr sz="2000" b="1" i="0">
                <a:solidFill>
                  <a:srgbClr val="065A82"/>
                </a:solidFill>
                <a:latin typeface="Arial"/>
              </a:rPr>
              <a:t>AI</a:t>
            </a:r>
          </a:p>
        </p:txBody>
      </p:sp>
      <p:sp>
        <p:nvSpPr>
          <p:cNvPr id="7" name="Rounded Rectangle 6"/>
          <p:cNvSpPr/>
          <p:nvPr/>
        </p:nvSpPr>
        <p:spPr>
          <a:xfrm>
            <a:off x="978408" y="2944368"/>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2468880"/>
            <a:ext cx="4466844" cy="1060704"/>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предлагает форму при фиксированной функции</a:t>
            </a:r>
          </a:p>
        </p:txBody>
      </p:sp>
      <p:sp>
        <p:nvSpPr>
          <p:cNvPr id="9" name="Rounded Rectangle 8"/>
          <p:cNvSpPr/>
          <p:nvPr/>
        </p:nvSpPr>
        <p:spPr>
          <a:xfrm>
            <a:off x="978408" y="4005072"/>
            <a:ext cx="109728" cy="1097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3529584"/>
            <a:ext cx="4466844" cy="1060704"/>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распределяет материал в заданном объёме</a:t>
            </a:r>
          </a:p>
        </p:txBody>
      </p:sp>
      <p:pic>
        <p:nvPicPr>
          <p:cNvPr id="11" name="Picture 10" descr="pen-tool-blue.png"/>
          <p:cNvPicPr>
            <a:picLocks noChangeAspect="1"/>
          </p:cNvPicPr>
          <p:nvPr/>
        </p:nvPicPr>
        <p:blipFill>
          <a:blip r:embed="rId3"/>
          <a:stretch>
            <a:fillRect/>
          </a:stretch>
        </p:blipFill>
        <p:spPr>
          <a:xfrm>
            <a:off x="6560820" y="1691640"/>
            <a:ext cx="640080" cy="640080"/>
          </a:xfrm>
          <a:prstGeom prst="rect">
            <a:avLst/>
          </a:prstGeom>
        </p:spPr>
      </p:pic>
      <p:sp>
        <p:nvSpPr>
          <p:cNvPr id="12" name="TextBox 11"/>
          <p:cNvSpPr txBox="1"/>
          <p:nvPr/>
        </p:nvSpPr>
        <p:spPr>
          <a:xfrm>
            <a:off x="7402068" y="1709928"/>
            <a:ext cx="3845052" cy="713232"/>
          </a:xfrm>
          <a:prstGeom prst="rect">
            <a:avLst/>
          </a:prstGeom>
          <a:noFill/>
        </p:spPr>
        <p:txBody>
          <a:bodyPr wrap="square" lIns="0" rIns="0" tIns="0" bIns="0" anchor="ctr">
            <a:spAutoFit/>
          </a:bodyPr>
          <a:lstStyle/>
          <a:p>
            <a:pPr algn="l">
              <a:lnSpc>
                <a:spcPct val="110000"/>
              </a:lnSpc>
            </a:pPr>
            <a:r>
              <a:rPr sz="2000" b="1" i="0">
                <a:solidFill>
                  <a:srgbClr val="028090"/>
                </a:solidFill>
                <a:latin typeface="Arial"/>
              </a:rPr>
              <a:t>Человек</a:t>
            </a:r>
          </a:p>
        </p:txBody>
      </p:sp>
      <p:sp>
        <p:nvSpPr>
          <p:cNvPr id="13" name="Rounded Rectangle 12"/>
          <p:cNvSpPr/>
          <p:nvPr/>
        </p:nvSpPr>
        <p:spPr>
          <a:xfrm>
            <a:off x="6579107" y="2767584"/>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3428" y="2468880"/>
            <a:ext cx="4466844" cy="707136"/>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задаёт ограничения</a:t>
            </a:r>
          </a:p>
        </p:txBody>
      </p:sp>
      <p:sp>
        <p:nvSpPr>
          <p:cNvPr id="15" name="Rounded Rectangle 14"/>
          <p:cNvSpPr/>
          <p:nvPr/>
        </p:nvSpPr>
        <p:spPr>
          <a:xfrm>
            <a:off x="6579107" y="3474720"/>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3428" y="3176016"/>
            <a:ext cx="4466844" cy="707136"/>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ОТВЕЧАЕТ за результат (подпись = юр. ответственность за безопасность)</a:t>
            </a:r>
          </a:p>
        </p:txBody>
      </p:sp>
      <p:sp>
        <p:nvSpPr>
          <p:cNvPr id="17" name="Rounded Rectangle 16"/>
          <p:cNvSpPr/>
          <p:nvPr/>
        </p:nvSpPr>
        <p:spPr>
          <a:xfrm>
            <a:off x="6579107" y="4181856"/>
            <a:ext cx="109728" cy="10972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3428" y="3883152"/>
            <a:ext cx="4466844" cy="707136"/>
          </a:xfrm>
          <a:prstGeom prst="rect">
            <a:avLst/>
          </a:prstGeom>
          <a:noFill/>
        </p:spPr>
        <p:txBody>
          <a:bodyPr wrap="square" lIns="0" rIns="0" tIns="0" bIns="0" anchor="ctr">
            <a:spAutoFit/>
          </a:bodyPr>
          <a:lstStyle/>
          <a:p>
            <a:pPr algn="l">
              <a:lnSpc>
                <a:spcPct val="122000"/>
              </a:lnSpc>
            </a:pPr>
            <a:r>
              <a:rPr sz="1700" b="0" i="0">
                <a:solidFill>
                  <a:srgbClr val="21295C"/>
                </a:solidFill>
                <a:latin typeface="Arial"/>
              </a:rPr>
              <a:t>ограничение деонтологическое, не техническое — не делегируется</a:t>
            </a:r>
          </a:p>
        </p:txBody>
      </p:sp>
      <p:sp>
        <p:nvSpPr>
          <p:cNvPr id="19" name="Rounded Rectangle 18"/>
          <p:cNvSpPr/>
          <p:nvPr/>
        </p:nvSpPr>
        <p:spPr>
          <a:xfrm>
            <a:off x="502920" y="4983480"/>
            <a:ext cx="11201400" cy="91440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ghtbulb-blue.png"/>
          <p:cNvPicPr>
            <a:picLocks noChangeAspect="1"/>
          </p:cNvPicPr>
          <p:nvPr/>
        </p:nvPicPr>
        <p:blipFill>
          <a:blip r:embed="rId4"/>
          <a:stretch>
            <a:fillRect/>
          </a:stretch>
        </p:blipFill>
        <p:spPr>
          <a:xfrm>
            <a:off x="795528" y="5166360"/>
            <a:ext cx="548640" cy="548640"/>
          </a:xfrm>
          <a:prstGeom prst="rect">
            <a:avLst/>
          </a:prstGeom>
        </p:spPr>
      </p:pic>
      <p:sp>
        <p:nvSpPr>
          <p:cNvPr id="21" name="TextBox 20"/>
          <p:cNvSpPr txBox="1"/>
          <p:nvPr/>
        </p:nvSpPr>
        <p:spPr>
          <a:xfrm>
            <a:off x="1527048" y="5093208"/>
            <a:ext cx="9921240" cy="694944"/>
          </a:xfrm>
          <a:prstGeom prst="rect">
            <a:avLst/>
          </a:prstGeom>
          <a:noFill/>
        </p:spPr>
        <p:txBody>
          <a:bodyPr wrap="square" lIns="0" rIns="0" tIns="0" bIns="0" anchor="ctr">
            <a:spAutoFit/>
          </a:bodyPr>
          <a:lstStyle/>
          <a:p>
            <a:pPr algn="l">
              <a:lnSpc>
                <a:spcPct val="120000"/>
              </a:lnSpc>
            </a:pPr>
            <a:r>
              <a:rPr sz="1400" b="0" i="0">
                <a:solidFill>
                  <a:srgbClr val="21295C"/>
                </a:solidFill>
                <a:latin typeface="Arial"/>
              </a:rPr>
              <a:t>ТРИЗ (Альтшуллер, с 1946) формализует ИЗОБРЕТЕНИЕ — разрешение технического противоречия; это уровень выше, чем оптимизация формы при фиксированной функции.</a:t>
            </a:r>
          </a:p>
        </p:txBody>
      </p:sp>
      <p:sp>
        <p:nvSpPr>
          <p:cNvPr id="22" name="Rounded Rectangle 21"/>
          <p:cNvSpPr/>
          <p:nvPr/>
        </p:nvSpPr>
        <p:spPr>
          <a:xfrm>
            <a:off x="502920" y="6016752"/>
            <a:ext cx="11201400" cy="56692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071616"/>
            <a:ext cx="10744200" cy="457200"/>
          </a:xfrm>
          <a:prstGeom prst="rect">
            <a:avLst/>
          </a:prstGeom>
          <a:noFill/>
        </p:spPr>
        <p:txBody>
          <a:bodyPr wrap="square" lIns="0" rIns="0" tIns="0" bIns="0" anchor="ctr">
            <a:spAutoFit/>
          </a:bodyPr>
          <a:lstStyle/>
          <a:p>
            <a:pPr algn="ctr">
              <a:lnSpc>
                <a:spcPct val="122000"/>
              </a:lnSpc>
            </a:pPr>
            <a:r>
              <a:rPr sz="1700" b="1" i="0">
                <a:solidFill>
                  <a:srgbClr val="21295C"/>
                </a:solidFill>
                <a:latin typeface="Arial"/>
              </a:rPr>
              <a:t>AI генерирует — человек отвечает, верифицирует и изобретает функцию.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840480" cy="4572000"/>
          </a:xfrm>
          <a:prstGeom prst="rect">
            <a:avLst/>
          </a:prstGeom>
          <a:noFill/>
        </p:spPr>
        <p:txBody>
          <a:bodyPr wrap="square" lIns="0" rIns="0" tIns="0" bIns="0" anchor="t">
            <a:spAutoFit/>
          </a:bodyPr>
          <a:lstStyle/>
          <a:p>
            <a:pPr algn="ctr">
              <a:lnSpc>
                <a:spcPct val="100000"/>
              </a:lnSpc>
            </a:pPr>
            <a:r>
              <a:rPr sz="32000" b="1" i="0">
                <a:solidFill>
                  <a:srgbClr val="D9E2EC"/>
                </a:solidFill>
                <a:latin typeface="Arial"/>
              </a:rPr>
              <a:t>6</a:t>
            </a:r>
          </a:p>
        </p:txBody>
      </p:sp>
      <p:sp>
        <p:nvSpPr>
          <p:cNvPr id="3" name="TextBox 2"/>
          <p:cNvSpPr txBox="1"/>
          <p:nvPr/>
        </p:nvSpPr>
        <p:spPr>
          <a:xfrm>
            <a:off x="4434840" y="14173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ЧАСТЬ</a:t>
            </a:r>
          </a:p>
        </p:txBody>
      </p:sp>
      <p:sp>
        <p:nvSpPr>
          <p:cNvPr id="4" name="TextBox 3"/>
          <p:cNvSpPr txBox="1"/>
          <p:nvPr/>
        </p:nvSpPr>
        <p:spPr>
          <a:xfrm>
            <a:off x="4434840" y="1920240"/>
            <a:ext cx="7315200" cy="1737360"/>
          </a:xfrm>
          <a:prstGeom prst="rect">
            <a:avLst/>
          </a:prstGeom>
          <a:noFill/>
        </p:spPr>
        <p:txBody>
          <a:bodyPr wrap="square" lIns="0" rIns="0" tIns="0" bIns="0" anchor="t">
            <a:spAutoFit/>
          </a:bodyPr>
          <a:lstStyle/>
          <a:p>
            <a:pPr algn="l">
              <a:lnSpc>
                <a:spcPct val="112000"/>
              </a:lnSpc>
            </a:pPr>
            <a:r>
              <a:rPr sz="4400" b="1" i="0">
                <a:solidFill>
                  <a:srgbClr val="21295C"/>
                </a:solidFill>
                <a:latin typeface="Arial"/>
              </a:rPr>
              <a:t>Синтез</a:t>
            </a:r>
          </a:p>
        </p:txBody>
      </p:sp>
      <p:sp>
        <p:nvSpPr>
          <p:cNvPr id="5" name="Rectangle 4"/>
          <p:cNvSpPr/>
          <p:nvPr/>
        </p:nvSpPr>
        <p:spPr>
          <a:xfrm>
            <a:off x="4434840" y="3703320"/>
            <a:ext cx="457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3703320"/>
            <a:ext cx="6949440" cy="1188720"/>
          </a:xfrm>
          <a:prstGeom prst="rect">
            <a:avLst/>
          </a:prstGeom>
          <a:noFill/>
        </p:spPr>
        <p:txBody>
          <a:bodyPr wrap="square" lIns="0" rIns="0" tIns="0" bIns="0" anchor="t">
            <a:spAutoFit/>
          </a:bodyPr>
          <a:lstStyle/>
          <a:p>
            <a:pPr algn="l">
              <a:lnSpc>
                <a:spcPct val="130000"/>
              </a:lnSpc>
            </a:pPr>
            <a:r>
              <a:rPr sz="1800" b="0" i="0">
                <a:solidFill>
                  <a:srgbClr val="065A82"/>
                </a:solidFill>
                <a:latin typeface="Arial"/>
              </a:rPr>
              <a:t>классы и провалы разобраны — собираем правило решения на конкретной задаче</a:t>
            </a:r>
          </a:p>
        </p:txBody>
      </p:sp>
      <p:sp>
        <p:nvSpPr>
          <p:cNvPr id="7" name="Rounded Rectangle 6"/>
          <p:cNvSpPr/>
          <p:nvPr/>
        </p:nvSpPr>
        <p:spPr>
          <a:xfrm>
            <a:off x="50292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035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Старт
+ карта</a:t>
            </a:r>
          </a:p>
        </p:txBody>
      </p:sp>
      <p:sp>
        <p:nvSpPr>
          <p:cNvPr id="10" name="Rounded Rectangle 9"/>
          <p:cNvSpPr/>
          <p:nvPr/>
        </p:nvSpPr>
        <p:spPr>
          <a:xfrm>
            <a:off x="2125326"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326"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152758"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Фундамент
+ таксономия</a:t>
            </a:r>
          </a:p>
        </p:txBody>
      </p:sp>
      <p:sp>
        <p:nvSpPr>
          <p:cNvPr id="13" name="Rounded Rectangle 12"/>
          <p:cNvSpPr/>
          <p:nvPr/>
        </p:nvSpPr>
        <p:spPr>
          <a:xfrm>
            <a:off x="3747733"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7733"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3775165"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дизайн ≠ genAI</a:t>
            </a:r>
          </a:p>
        </p:txBody>
      </p:sp>
      <p:sp>
        <p:nvSpPr>
          <p:cNvPr id="16" name="Rounded Rectangle 15"/>
          <p:cNvSpPr/>
          <p:nvPr/>
        </p:nvSpPr>
        <p:spPr>
          <a:xfrm>
            <a:off x="5370140"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0140"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3</a:t>
            </a:r>
          </a:p>
        </p:txBody>
      </p:sp>
      <p:sp>
        <p:nvSpPr>
          <p:cNvPr id="18" name="TextBox 17"/>
          <p:cNvSpPr txBox="1"/>
          <p:nvPr/>
        </p:nvSpPr>
        <p:spPr>
          <a:xfrm>
            <a:off x="5397572"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Суррогат
/ PINN</a:t>
            </a:r>
          </a:p>
        </p:txBody>
      </p:sp>
      <p:sp>
        <p:nvSpPr>
          <p:cNvPr id="19" name="Rounded Rectangle 18"/>
          <p:cNvSpPr/>
          <p:nvPr/>
        </p:nvSpPr>
        <p:spPr>
          <a:xfrm>
            <a:off x="6992547"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2547"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4</a:t>
            </a:r>
          </a:p>
        </p:txBody>
      </p:sp>
      <p:sp>
        <p:nvSpPr>
          <p:cNvPr id="21" name="TextBox 20"/>
          <p:cNvSpPr txBox="1"/>
          <p:nvPr/>
        </p:nvSpPr>
        <p:spPr>
          <a:xfrm>
            <a:off x="7019979"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Генеративный
AI / LLM</a:t>
            </a:r>
          </a:p>
        </p:txBody>
      </p:sp>
      <p:sp>
        <p:nvSpPr>
          <p:cNvPr id="22" name="Rounded Rectangle 21"/>
          <p:cNvSpPr/>
          <p:nvPr/>
        </p:nvSpPr>
        <p:spPr>
          <a:xfrm>
            <a:off x="8614954" y="5349240"/>
            <a:ext cx="1512678"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4954" y="5422392"/>
            <a:ext cx="1512678" cy="384048"/>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5</a:t>
            </a:r>
          </a:p>
        </p:txBody>
      </p:sp>
      <p:sp>
        <p:nvSpPr>
          <p:cNvPr id="24" name="TextBox 23"/>
          <p:cNvSpPr txBox="1"/>
          <p:nvPr/>
        </p:nvSpPr>
        <p:spPr>
          <a:xfrm>
            <a:off x="8642386" y="5779007"/>
            <a:ext cx="1457814" cy="411479"/>
          </a:xfrm>
          <a:prstGeom prst="rect">
            <a:avLst/>
          </a:prstGeom>
          <a:noFill/>
        </p:spPr>
        <p:txBody>
          <a:bodyPr wrap="square" lIns="0" rIns="0" tIns="0" bIns="0" anchor="t">
            <a:spAutoFit/>
          </a:bodyPr>
          <a:lstStyle/>
          <a:p>
            <a:pPr algn="ctr">
              <a:lnSpc>
                <a:spcPct val="112000"/>
              </a:lnSpc>
            </a:pPr>
            <a:r>
              <a:rPr sz="850" b="0" i="0">
                <a:solidFill>
                  <a:srgbClr val="065A82"/>
                </a:solidFill>
                <a:latin typeface="Arial"/>
              </a:rPr>
              <a:t>Когда
сказать «нет»</a:t>
            </a:r>
          </a:p>
        </p:txBody>
      </p:sp>
      <p:sp>
        <p:nvSpPr>
          <p:cNvPr id="25" name="Rounded Rectangle 24"/>
          <p:cNvSpPr/>
          <p:nvPr/>
        </p:nvSpPr>
        <p:spPr>
          <a:xfrm>
            <a:off x="10237361" y="5349240"/>
            <a:ext cx="1512678"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7361" y="5422392"/>
            <a:ext cx="1512678" cy="384048"/>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6</a:t>
            </a:r>
          </a:p>
        </p:txBody>
      </p:sp>
      <p:sp>
        <p:nvSpPr>
          <p:cNvPr id="27" name="TextBox 26"/>
          <p:cNvSpPr txBox="1"/>
          <p:nvPr/>
        </p:nvSpPr>
        <p:spPr>
          <a:xfrm>
            <a:off x="10264793" y="5779007"/>
            <a:ext cx="1457814" cy="411479"/>
          </a:xfrm>
          <a:prstGeom prst="rect">
            <a:avLst/>
          </a:prstGeom>
          <a:noFill/>
        </p:spPr>
        <p:txBody>
          <a:bodyPr wrap="square" lIns="0" rIns="0" tIns="0" bIns="0" anchor="t">
            <a:spAutoFit/>
          </a:bodyPr>
          <a:lstStyle/>
          <a:p>
            <a:pPr algn="ctr">
              <a:lnSpc>
                <a:spcPct val="112000"/>
              </a:lnSpc>
            </a:pPr>
            <a:r>
              <a:rPr sz="850" b="1" i="0">
                <a:solidFill>
                  <a:srgbClr val="FFFFFF"/>
                </a:solidFill>
                <a:latin typeface="Arial"/>
              </a:rPr>
              <a:t>Синтез</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Облегчить кронштейн: один вопрос-якорь развёл обоснованные ответы.</a:t>
            </a:r>
          </a:p>
        </p:txBody>
      </p:sp>
      <p:sp>
        <p:nvSpPr>
          <p:cNvPr id="3" name="Rounded Rectangle 2"/>
          <p:cNvSpPr/>
          <p:nvPr/>
        </p:nvSpPr>
        <p:spPr>
          <a:xfrm>
            <a:off x="3246120" y="1280160"/>
            <a:ext cx="5715000" cy="640080"/>
          </a:xfrm>
          <a:prstGeom prst="roundRect">
            <a:avLst>
              <a:gd name="adj" fmla="val 14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46120" y="1280160"/>
            <a:ext cx="5715000" cy="6400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Задача: снизить массу силового кронштейна</a:t>
            </a:r>
          </a:p>
        </p:txBody>
      </p:sp>
      <p:sp>
        <p:nvSpPr>
          <p:cNvPr id="5" name="Down Arrow 4"/>
          <p:cNvSpPr/>
          <p:nvPr/>
        </p:nvSpPr>
        <p:spPr>
          <a:xfrm>
            <a:off x="5943600" y="1938527"/>
            <a:ext cx="320040" cy="292608"/>
          </a:xfrm>
          <a:prstGeom prst="down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2286000"/>
            <a:ext cx="5486400" cy="2907792"/>
          </a:xfrm>
          <a:prstGeom prst="roundRect">
            <a:avLst>
              <a:gd name="adj" fmla="val 104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ctory-blue.png"/>
          <p:cNvPicPr>
            <a:picLocks noChangeAspect="1"/>
          </p:cNvPicPr>
          <p:nvPr/>
        </p:nvPicPr>
        <p:blipFill>
          <a:blip r:embed="rId2"/>
          <a:stretch>
            <a:fillRect/>
          </a:stretch>
        </p:blipFill>
        <p:spPr>
          <a:xfrm>
            <a:off x="758952" y="2468880"/>
            <a:ext cx="475488" cy="475488"/>
          </a:xfrm>
          <a:prstGeom prst="rect">
            <a:avLst/>
          </a:prstGeom>
        </p:spPr>
      </p:pic>
      <p:sp>
        <p:nvSpPr>
          <p:cNvPr id="8" name="TextBox 7"/>
          <p:cNvSpPr txBox="1"/>
          <p:nvPr/>
        </p:nvSpPr>
        <p:spPr>
          <a:xfrm>
            <a:off x="1344168" y="2487168"/>
            <a:ext cx="4462272" cy="45720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(а) серийная фрезеровка</a:t>
            </a:r>
          </a:p>
        </p:txBody>
      </p:sp>
      <p:sp>
        <p:nvSpPr>
          <p:cNvPr id="9" name="Rounded Rectangle 8"/>
          <p:cNvSpPr/>
          <p:nvPr/>
        </p:nvSpPr>
        <p:spPr>
          <a:xfrm>
            <a:off x="777240" y="3189732"/>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63240"/>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Q1 нужна гарантия → детерминированный</a:t>
            </a:r>
          </a:p>
        </p:txBody>
      </p:sp>
      <p:sp>
        <p:nvSpPr>
          <p:cNvPr id="11" name="Rounded Rectangle 10"/>
          <p:cNvSpPr/>
          <p:nvPr/>
        </p:nvSpPr>
        <p:spPr>
          <a:xfrm>
            <a:off x="777240" y="3534156"/>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407664"/>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Q2 критич. ограничение — технологичность фрезы; чистая топ-оптимизация выдаст неизготовимое</a:t>
            </a:r>
          </a:p>
        </p:txBody>
      </p:sp>
      <p:sp>
        <p:nvSpPr>
          <p:cNvPr id="13" name="Rounded Rectangle 12"/>
          <p:cNvSpPr/>
          <p:nvPr/>
        </p:nvSpPr>
        <p:spPr>
          <a:xfrm>
            <a:off x="777240" y="3878580"/>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752088"/>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Q3 нужна аттестация + подпись</a:t>
            </a:r>
          </a:p>
        </p:txBody>
      </p:sp>
      <p:sp>
        <p:nvSpPr>
          <p:cNvPr id="15" name="Rounded Rectangle 14"/>
          <p:cNvSpPr/>
          <p:nvPr/>
        </p:nvSpPr>
        <p:spPr>
          <a:xfrm>
            <a:off x="758952" y="4279392"/>
            <a:ext cx="4974336" cy="804672"/>
          </a:xfrm>
          <a:prstGeom prst="roundRect">
            <a:avLst>
              <a:gd name="adj" fmla="val 10000"/>
            </a:avLst>
          </a:prstGeom>
          <a:solidFill>
            <a:srgbClr val="FEF5E0"/>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79392"/>
            <a:ext cx="4681728" cy="804672"/>
          </a:xfrm>
          <a:prstGeom prst="rect">
            <a:avLst/>
          </a:prstGeom>
          <a:noFill/>
        </p:spPr>
        <p:txBody>
          <a:bodyPr wrap="square" lIns="0" rIns="0" tIns="0" bIns="0" anchor="ctr">
            <a:spAutoFit/>
          </a:bodyPr>
          <a:lstStyle/>
          <a:p>
            <a:pPr algn="l">
              <a:lnSpc>
                <a:spcPct val="116000"/>
              </a:lnSpc>
            </a:pPr>
            <a:r>
              <a:rPr sz="1050" b="1" i="0">
                <a:solidFill>
                  <a:srgbClr val="21295C"/>
                </a:solidFill>
                <a:latin typeface="Arial"/>
              </a:rPr>
              <a:t>Параметрика + ручная топ-оптимизация под технологичность; финал — аттестованный МКЭ. НЕ генеративный AI, НЕ суррогат для финала.</a:t>
            </a:r>
          </a:p>
        </p:txBody>
      </p:sp>
      <p:sp>
        <p:nvSpPr>
          <p:cNvPr id="17" name="Rounded Rectangle 16"/>
          <p:cNvSpPr/>
          <p:nvPr/>
        </p:nvSpPr>
        <p:spPr>
          <a:xfrm>
            <a:off x="6217920" y="2286000"/>
            <a:ext cx="5486400" cy="2907792"/>
          </a:xfrm>
          <a:prstGeom prst="roundRect">
            <a:avLst>
              <a:gd name="adj" fmla="val 104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rinter-blue.png"/>
          <p:cNvPicPr>
            <a:picLocks noChangeAspect="1"/>
          </p:cNvPicPr>
          <p:nvPr/>
        </p:nvPicPr>
        <p:blipFill>
          <a:blip r:embed="rId3"/>
          <a:stretch>
            <a:fillRect/>
          </a:stretch>
        </p:blipFill>
        <p:spPr>
          <a:xfrm>
            <a:off x="6473952" y="2468880"/>
            <a:ext cx="475488" cy="475488"/>
          </a:xfrm>
          <a:prstGeom prst="rect">
            <a:avLst/>
          </a:prstGeom>
        </p:spPr>
      </p:pic>
      <p:sp>
        <p:nvSpPr>
          <p:cNvPr id="19" name="TextBox 18"/>
          <p:cNvSpPr txBox="1"/>
          <p:nvPr/>
        </p:nvSpPr>
        <p:spPr>
          <a:xfrm>
            <a:off x="7059168" y="2487168"/>
            <a:ext cx="4462272" cy="45720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(б) аддитив</a:t>
            </a:r>
          </a:p>
        </p:txBody>
      </p:sp>
      <p:sp>
        <p:nvSpPr>
          <p:cNvPr id="20" name="Rounded Rectangle 19"/>
          <p:cNvSpPr/>
          <p:nvPr/>
        </p:nvSpPr>
        <p:spPr>
          <a:xfrm>
            <a:off x="6492240" y="3189732"/>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063240"/>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Q1 та же гарантия → детерминированный</a:t>
            </a:r>
          </a:p>
        </p:txBody>
      </p:sp>
      <p:sp>
        <p:nvSpPr>
          <p:cNvPr id="22" name="Rounded Rectangle 21"/>
          <p:cNvSpPr/>
          <p:nvPr/>
        </p:nvSpPr>
        <p:spPr>
          <a:xfrm>
            <a:off x="6492240" y="3534156"/>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407664"/>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Q2 аддитив снимает ограничения формы — топ-оптимизация в полную силу</a:t>
            </a:r>
          </a:p>
        </p:txBody>
      </p:sp>
      <p:sp>
        <p:nvSpPr>
          <p:cNvPr id="24" name="Rounded Rectangle 23"/>
          <p:cNvSpPr/>
          <p:nvPr/>
        </p:nvSpPr>
        <p:spPr>
          <a:xfrm>
            <a:off x="6492240" y="3878580"/>
            <a:ext cx="82296" cy="822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752088"/>
            <a:ext cx="4773168" cy="344424"/>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Q3 финал на аттестованном решателе; суррогат — для перебора</a:t>
            </a:r>
          </a:p>
        </p:txBody>
      </p:sp>
      <p:sp>
        <p:nvSpPr>
          <p:cNvPr id="26" name="Rounded Rectangle 25"/>
          <p:cNvSpPr/>
          <p:nvPr/>
        </p:nvSpPr>
        <p:spPr>
          <a:xfrm>
            <a:off x="6473952" y="4279392"/>
            <a:ext cx="4974336" cy="804672"/>
          </a:xfrm>
          <a:prstGeom prst="roundRect">
            <a:avLst>
              <a:gd name="adj" fmla="val 10000"/>
            </a:avLst>
          </a:prstGeom>
          <a:solidFill>
            <a:srgbClr val="FEF5E0"/>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0256" y="4279392"/>
            <a:ext cx="4681728" cy="804672"/>
          </a:xfrm>
          <a:prstGeom prst="rect">
            <a:avLst/>
          </a:prstGeom>
          <a:noFill/>
        </p:spPr>
        <p:txBody>
          <a:bodyPr wrap="square" lIns="0" rIns="0" tIns="0" bIns="0" anchor="ctr">
            <a:spAutoFit/>
          </a:bodyPr>
          <a:lstStyle/>
          <a:p>
            <a:pPr algn="l">
              <a:lnSpc>
                <a:spcPct val="116000"/>
              </a:lnSpc>
            </a:pPr>
            <a:r>
              <a:rPr sz="1050" b="1" i="0">
                <a:solidFill>
                  <a:srgbClr val="21295C"/>
                </a:solidFill>
                <a:latin typeface="Arial"/>
              </a:rPr>
              <a:t>Детерминированная топ-оптимизация + финал на решателе; суррогат опционально для перебора; генеративный AI геометрии — нет.</a:t>
            </a:r>
          </a:p>
        </p:txBody>
      </p:sp>
      <p:sp>
        <p:nvSpPr>
          <p:cNvPr id="28" name="Rounded Rectangle 27"/>
          <p:cNvSpPr/>
          <p:nvPr/>
        </p:nvSpPr>
        <p:spPr>
          <a:xfrm>
            <a:off x="502920" y="5349240"/>
            <a:ext cx="11201400" cy="566928"/>
          </a:xfrm>
          <a:prstGeom prst="roundRect">
            <a:avLst>
              <a:gd name="adj" fmla="val 14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404103"/>
            <a:ext cx="10744200" cy="457200"/>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Один вопрос-якорь (Q2 — что оптимизируется и какие ограничения) развёл ответы.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t">
            <a:spAutoFit/>
          </a:bodyPr>
          <a:lstStyle/>
          <a:p>
            <a:pPr algn="l">
              <a:lnSpc>
                <a:spcPct val="115000"/>
              </a:lnSpc>
            </a:pPr>
            <a:r>
              <a:rPr sz="2300" b="1" i="0">
                <a:solidFill>
                  <a:srgbClr val="21295C"/>
                </a:solidFill>
                <a:latin typeface="Arial"/>
              </a:rPr>
              <a:t>Правило решения — пять вопросов; полная матрица собрана из всех частей.</a:t>
            </a:r>
          </a:p>
        </p:txBody>
      </p:sp>
      <p:sp>
        <p:nvSpPr>
          <p:cNvPr id="3" name="Rounded Rectangle 2"/>
          <p:cNvSpPr/>
          <p:nvPr/>
        </p:nvSpPr>
        <p:spPr>
          <a:xfrm>
            <a:off x="502920" y="1298448"/>
            <a:ext cx="4800600" cy="4599432"/>
          </a:xfrm>
          <a:prstGeom prst="roundRect">
            <a:avLst>
              <a:gd name="adj" fmla="val 6626"/>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ist-checks-gold.png"/>
          <p:cNvPicPr>
            <a:picLocks noChangeAspect="1"/>
          </p:cNvPicPr>
          <p:nvPr/>
        </p:nvPicPr>
        <p:blipFill>
          <a:blip r:embed="rId2"/>
          <a:stretch>
            <a:fillRect/>
          </a:stretch>
        </p:blipFill>
        <p:spPr>
          <a:xfrm>
            <a:off x="813816" y="1572768"/>
            <a:ext cx="658368" cy="658368"/>
          </a:xfrm>
          <a:prstGeom prst="rect">
            <a:avLst/>
          </a:prstGeom>
        </p:spPr>
      </p:pic>
      <p:sp>
        <p:nvSpPr>
          <p:cNvPr id="5" name="TextBox 4"/>
          <p:cNvSpPr txBox="1"/>
          <p:nvPr/>
        </p:nvSpPr>
        <p:spPr>
          <a:xfrm>
            <a:off x="1581912" y="1627631"/>
            <a:ext cx="3538728" cy="603504"/>
          </a:xfrm>
          <a:prstGeom prst="rect">
            <a:avLst/>
          </a:prstGeom>
          <a:noFill/>
        </p:spPr>
        <p:txBody>
          <a:bodyPr wrap="square" lIns="0" rIns="0" tIns="0" bIns="0" anchor="ctr">
            <a:spAutoFit/>
          </a:bodyPr>
          <a:lstStyle/>
          <a:p>
            <a:pPr algn="l">
              <a:lnSpc>
                <a:spcPct val="115000"/>
              </a:lnSpc>
            </a:pPr>
            <a:r>
              <a:rPr sz="2100" b="1" i="0">
                <a:solidFill>
                  <a:srgbClr val="21295C"/>
                </a:solidFill>
                <a:latin typeface="Arial"/>
              </a:rPr>
              <a:t>Правило решения</a:t>
            </a:r>
          </a:p>
        </p:txBody>
      </p:sp>
      <p:sp>
        <p:nvSpPr>
          <p:cNvPr id="6" name="Rounded Rectangle 5"/>
          <p:cNvSpPr/>
          <p:nvPr/>
        </p:nvSpPr>
        <p:spPr>
          <a:xfrm>
            <a:off x="850392" y="2505456"/>
            <a:ext cx="457200" cy="45720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505456"/>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8" name="TextBox 7"/>
          <p:cNvSpPr txBox="1"/>
          <p:nvPr/>
        </p:nvSpPr>
        <p:spPr>
          <a:xfrm>
            <a:off x="1435608" y="2450592"/>
            <a:ext cx="3630168" cy="73152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Назови вид ИИ, расположи на оси</a:t>
            </a:r>
          </a:p>
        </p:txBody>
      </p:sp>
      <p:sp>
        <p:nvSpPr>
          <p:cNvPr id="9" name="Rounded Rectangle 8"/>
          <p:cNvSpPr/>
          <p:nvPr/>
        </p:nvSpPr>
        <p:spPr>
          <a:xfrm>
            <a:off x="850392" y="3182112"/>
            <a:ext cx="457200" cy="45720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3182112"/>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1" name="TextBox 10"/>
          <p:cNvSpPr txBox="1"/>
          <p:nvPr/>
        </p:nvSpPr>
        <p:spPr>
          <a:xfrm>
            <a:off x="1435608" y="3127248"/>
            <a:ext cx="3630168" cy="73152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Детерминированное или вероятностное?</a:t>
            </a:r>
          </a:p>
        </p:txBody>
      </p:sp>
      <p:sp>
        <p:nvSpPr>
          <p:cNvPr id="12" name="Rounded Rectangle 11"/>
          <p:cNvSpPr/>
          <p:nvPr/>
        </p:nvSpPr>
        <p:spPr>
          <a:xfrm>
            <a:off x="850392" y="3858768"/>
            <a:ext cx="457200" cy="45720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858768"/>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4" name="TextBox 13"/>
          <p:cNvSpPr txBox="1"/>
          <p:nvPr/>
        </p:nvSpPr>
        <p:spPr>
          <a:xfrm>
            <a:off x="1435608" y="3803904"/>
            <a:ext cx="3630168" cy="73152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Что оптимизируется, кто задал ограничения? Полна ли постановка?</a:t>
            </a:r>
          </a:p>
        </p:txBody>
      </p:sp>
      <p:sp>
        <p:nvSpPr>
          <p:cNvPr id="15" name="Rounded Rectangle 14"/>
          <p:cNvSpPr/>
          <p:nvPr/>
        </p:nvSpPr>
        <p:spPr>
          <a:xfrm>
            <a:off x="850392" y="4535424"/>
            <a:ext cx="457200" cy="45720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535424"/>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17" name="TextBox 16"/>
          <p:cNvSpPr txBox="1"/>
          <p:nvPr/>
        </p:nvSpPr>
        <p:spPr>
          <a:xfrm>
            <a:off x="1435608" y="4480560"/>
            <a:ext cx="3630168" cy="73152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Есть ли точный / нормативный инструмент?</a:t>
            </a:r>
          </a:p>
        </p:txBody>
      </p:sp>
      <p:sp>
        <p:nvSpPr>
          <p:cNvPr id="18" name="Rounded Rectangle 17"/>
          <p:cNvSpPr/>
          <p:nvPr/>
        </p:nvSpPr>
        <p:spPr>
          <a:xfrm>
            <a:off x="850392" y="5212080"/>
            <a:ext cx="457200" cy="45720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521208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20" name="TextBox 19"/>
          <p:cNvSpPr txBox="1"/>
          <p:nvPr/>
        </p:nvSpPr>
        <p:spPr>
          <a:xfrm>
            <a:off x="1435608" y="5157216"/>
            <a:ext cx="3630168" cy="73152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Кто отвечает?</a:t>
            </a:r>
          </a:p>
        </p:txBody>
      </p:sp>
      <p:sp>
        <p:nvSpPr>
          <p:cNvPr id="21" name="Rounded Rectangle 20"/>
          <p:cNvSpPr/>
          <p:nvPr/>
        </p:nvSpPr>
        <p:spPr>
          <a:xfrm>
            <a:off x="5440680" y="1298448"/>
            <a:ext cx="6263640" cy="4599432"/>
          </a:xfrm>
          <a:prstGeom prst="roundRect">
            <a:avLst>
              <a:gd name="adj" fmla="val 66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able-blue.png"/>
          <p:cNvPicPr>
            <a:picLocks noChangeAspect="1"/>
          </p:cNvPicPr>
          <p:nvPr/>
        </p:nvPicPr>
        <p:blipFill>
          <a:blip r:embed="rId3"/>
          <a:stretch>
            <a:fillRect/>
          </a:stretch>
        </p:blipFill>
        <p:spPr>
          <a:xfrm>
            <a:off x="5678424" y="1499616"/>
            <a:ext cx="384048" cy="384048"/>
          </a:xfrm>
          <a:prstGeom prst="rect">
            <a:avLst/>
          </a:prstGeom>
        </p:spPr>
      </p:pic>
      <p:sp>
        <p:nvSpPr>
          <p:cNvPr id="23" name="TextBox 22"/>
          <p:cNvSpPr txBox="1"/>
          <p:nvPr/>
        </p:nvSpPr>
        <p:spPr>
          <a:xfrm>
            <a:off x="6135624" y="1499616"/>
            <a:ext cx="5394959" cy="384048"/>
          </a:xfrm>
          <a:prstGeom prst="rect">
            <a:avLst/>
          </a:prstGeom>
          <a:noFill/>
        </p:spPr>
        <p:txBody>
          <a:bodyPr wrap="square" lIns="0" rIns="0" tIns="0" bIns="0" anchor="ctr">
            <a:spAutoFit/>
          </a:bodyPr>
          <a:lstStyle/>
          <a:p>
            <a:pPr algn="l">
              <a:lnSpc>
                <a:spcPct val="115000"/>
              </a:lnSpc>
            </a:pPr>
            <a:r>
              <a:rPr sz="1400" b="1" i="0">
                <a:solidFill>
                  <a:srgbClr val="6B7685"/>
                </a:solidFill>
                <a:latin typeface="Arial"/>
              </a:rPr>
              <a:t>Полная таксономическая матрица 6 классов</a:t>
            </a:r>
          </a:p>
        </p:txBody>
      </p:sp>
      <p:sp>
        <p:nvSpPr>
          <p:cNvPr id="24" name="Rounded Rectangle 23"/>
          <p:cNvSpPr/>
          <p:nvPr/>
        </p:nvSpPr>
        <p:spPr>
          <a:xfrm>
            <a:off x="5641848" y="1993391"/>
            <a:ext cx="1572768" cy="512064"/>
          </a:xfrm>
          <a:prstGeom prst="roundRect">
            <a:avLst>
              <a:gd name="adj" fmla="val 1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0136" y="1993391"/>
            <a:ext cx="1536192" cy="512064"/>
          </a:xfrm>
          <a:prstGeom prst="rect">
            <a:avLst/>
          </a:prstGeom>
          <a:noFill/>
        </p:spPr>
        <p:txBody>
          <a:bodyPr wrap="square" lIns="0" rIns="0" tIns="0" bIns="0" anchor="ctr">
            <a:spAutoFit/>
          </a:bodyPr>
          <a:lstStyle/>
          <a:p>
            <a:pPr algn="ctr">
              <a:lnSpc>
                <a:spcPct val="95000"/>
              </a:lnSpc>
            </a:pPr>
            <a:r>
              <a:rPr sz="1100" b="1" i="0">
                <a:solidFill>
                  <a:srgbClr val="FFFFFF"/>
                </a:solidFill>
                <a:latin typeface="Arial"/>
              </a:rPr>
              <a:t>Класс</a:t>
            </a:r>
          </a:p>
        </p:txBody>
      </p:sp>
      <p:sp>
        <p:nvSpPr>
          <p:cNvPr id="26" name="Rounded Rectangle 25"/>
          <p:cNvSpPr/>
          <p:nvPr/>
        </p:nvSpPr>
        <p:spPr>
          <a:xfrm>
            <a:off x="7269480" y="1993391"/>
            <a:ext cx="1042415" cy="512064"/>
          </a:xfrm>
          <a:prstGeom prst="roundRect">
            <a:avLst>
              <a:gd name="adj" fmla="val 1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7768" y="1993391"/>
            <a:ext cx="1005839" cy="512064"/>
          </a:xfrm>
          <a:prstGeom prst="rect">
            <a:avLst/>
          </a:prstGeom>
          <a:noFill/>
        </p:spPr>
        <p:txBody>
          <a:bodyPr wrap="square" lIns="0" rIns="0" tIns="0" bIns="0" anchor="ctr">
            <a:spAutoFit/>
          </a:bodyPr>
          <a:lstStyle/>
          <a:p>
            <a:pPr algn="ctr">
              <a:lnSpc>
                <a:spcPct val="95000"/>
              </a:lnSpc>
            </a:pPr>
            <a:r>
              <a:rPr sz="1100" b="1" i="0">
                <a:solidFill>
                  <a:srgbClr val="FFFFFF"/>
                </a:solidFill>
                <a:latin typeface="Arial"/>
              </a:rPr>
              <a:t>Природа</a:t>
            </a:r>
          </a:p>
        </p:txBody>
      </p:sp>
      <p:sp>
        <p:nvSpPr>
          <p:cNvPr id="28" name="Rounded Rectangle 27"/>
          <p:cNvSpPr/>
          <p:nvPr/>
        </p:nvSpPr>
        <p:spPr>
          <a:xfrm>
            <a:off x="8366760" y="1993391"/>
            <a:ext cx="1271016" cy="512064"/>
          </a:xfrm>
          <a:prstGeom prst="roundRect">
            <a:avLst>
              <a:gd name="adj" fmla="val 1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5048" y="1993391"/>
            <a:ext cx="1234439" cy="512064"/>
          </a:xfrm>
          <a:prstGeom prst="rect">
            <a:avLst/>
          </a:prstGeom>
          <a:noFill/>
        </p:spPr>
        <p:txBody>
          <a:bodyPr wrap="square" lIns="0" rIns="0" tIns="0" bIns="0" anchor="ctr">
            <a:spAutoFit/>
          </a:bodyPr>
          <a:lstStyle/>
          <a:p>
            <a:pPr algn="ctr">
              <a:lnSpc>
                <a:spcPct val="95000"/>
              </a:lnSpc>
            </a:pPr>
            <a:r>
              <a:rPr sz="1100" b="1" i="0">
                <a:solidFill>
                  <a:srgbClr val="FFFFFF"/>
                </a:solidFill>
                <a:latin typeface="Arial"/>
              </a:rPr>
              <a:t>Гарантирует</a:t>
            </a:r>
          </a:p>
        </p:txBody>
      </p:sp>
      <p:sp>
        <p:nvSpPr>
          <p:cNvPr id="30" name="Rounded Rectangle 29"/>
          <p:cNvSpPr/>
          <p:nvPr/>
        </p:nvSpPr>
        <p:spPr>
          <a:xfrm>
            <a:off x="9692640" y="1993391"/>
            <a:ext cx="905256" cy="512064"/>
          </a:xfrm>
          <a:prstGeom prst="roundRect">
            <a:avLst>
              <a:gd name="adj" fmla="val 1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10928" y="1993391"/>
            <a:ext cx="868680" cy="512064"/>
          </a:xfrm>
          <a:prstGeom prst="rect">
            <a:avLst/>
          </a:prstGeom>
          <a:noFill/>
        </p:spPr>
        <p:txBody>
          <a:bodyPr wrap="square" lIns="0" rIns="0" tIns="0" bIns="0" anchor="ctr">
            <a:spAutoFit/>
          </a:bodyPr>
          <a:lstStyle/>
          <a:p>
            <a:pPr algn="ctr">
              <a:lnSpc>
                <a:spcPct val="95000"/>
              </a:lnSpc>
            </a:pPr>
            <a:r>
              <a:rPr sz="1100" b="1" i="0">
                <a:solidFill>
                  <a:srgbClr val="FFFFFF"/>
                </a:solidFill>
                <a:latin typeface="Arial"/>
              </a:rPr>
              <a:t>Зрелость</a:t>
            </a:r>
          </a:p>
        </p:txBody>
      </p:sp>
      <p:sp>
        <p:nvSpPr>
          <p:cNvPr id="32" name="Rounded Rectangle 31"/>
          <p:cNvSpPr/>
          <p:nvPr/>
        </p:nvSpPr>
        <p:spPr>
          <a:xfrm>
            <a:off x="10652760" y="1993391"/>
            <a:ext cx="923544" cy="512064"/>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71048" y="1993391"/>
            <a:ext cx="886968" cy="512064"/>
          </a:xfrm>
          <a:prstGeom prst="rect">
            <a:avLst/>
          </a:prstGeom>
          <a:noFill/>
        </p:spPr>
        <p:txBody>
          <a:bodyPr wrap="square" lIns="0" rIns="0" tIns="0" bIns="0" anchor="ctr">
            <a:spAutoFit/>
          </a:bodyPr>
          <a:lstStyle/>
          <a:p>
            <a:pPr algn="ctr">
              <a:lnSpc>
                <a:spcPct val="95000"/>
              </a:lnSpc>
            </a:pPr>
            <a:r>
              <a:rPr sz="1100" b="1" i="0">
                <a:solidFill>
                  <a:srgbClr val="21295C"/>
                </a:solidFill>
                <a:latin typeface="Arial"/>
              </a:rPr>
              <a:t>Кто
отвечает</a:t>
            </a:r>
          </a:p>
        </p:txBody>
      </p:sp>
      <p:sp>
        <p:nvSpPr>
          <p:cNvPr id="34" name="Rectangle 33"/>
          <p:cNvSpPr/>
          <p:nvPr/>
        </p:nvSpPr>
        <p:spPr>
          <a:xfrm>
            <a:off x="5641848" y="2560320"/>
            <a:ext cx="5934456" cy="434340"/>
          </a:xfrm>
          <a:prstGeom prst="rect">
            <a:avLst/>
          </a:prstGeom>
          <a:solidFill>
            <a:srgbClr val="FFFFFF"/>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8424" y="2560320"/>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Топ-
оптимизация</a:t>
            </a:r>
          </a:p>
        </p:txBody>
      </p:sp>
      <p:sp>
        <p:nvSpPr>
          <p:cNvPr id="36" name="TextBox 35"/>
          <p:cNvSpPr txBox="1"/>
          <p:nvPr/>
        </p:nvSpPr>
        <p:spPr>
          <a:xfrm>
            <a:off x="7306056" y="2560320"/>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детерм.</a:t>
            </a:r>
          </a:p>
        </p:txBody>
      </p:sp>
      <p:sp>
        <p:nvSpPr>
          <p:cNvPr id="37" name="TextBox 36"/>
          <p:cNvSpPr txBox="1"/>
          <p:nvPr/>
        </p:nvSpPr>
        <p:spPr>
          <a:xfrm>
            <a:off x="8403336" y="2560320"/>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оптимум
функции</a:t>
            </a:r>
          </a:p>
        </p:txBody>
      </p:sp>
      <p:sp>
        <p:nvSpPr>
          <p:cNvPr id="38" name="TextBox 37"/>
          <p:cNvSpPr txBox="1"/>
          <p:nvPr/>
        </p:nvSpPr>
        <p:spPr>
          <a:xfrm>
            <a:off x="9729215" y="2560320"/>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зрелая</a:t>
            </a:r>
          </a:p>
        </p:txBody>
      </p:sp>
      <p:sp>
        <p:nvSpPr>
          <p:cNvPr id="39" name="TextBox 38"/>
          <p:cNvSpPr txBox="1"/>
          <p:nvPr/>
        </p:nvSpPr>
        <p:spPr>
          <a:xfrm>
            <a:off x="10689336" y="2560320"/>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40" name="Rectangle 39"/>
          <p:cNvSpPr/>
          <p:nvPr/>
        </p:nvSpPr>
        <p:spPr>
          <a:xfrm>
            <a:off x="5641848" y="3040379"/>
            <a:ext cx="5934456" cy="434340"/>
          </a:xfrm>
          <a:prstGeom prst="rect">
            <a:avLst/>
          </a:prstGeom>
          <a:solidFill>
            <a:srgbClr val="F4F7FA"/>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78424" y="3040379"/>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Эволюц. / GA</a:t>
            </a:r>
          </a:p>
        </p:txBody>
      </p:sp>
      <p:sp>
        <p:nvSpPr>
          <p:cNvPr id="42" name="TextBox 41"/>
          <p:cNvSpPr txBox="1"/>
          <p:nvPr/>
        </p:nvSpPr>
        <p:spPr>
          <a:xfrm>
            <a:off x="7306056" y="3040379"/>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стохаст.</a:t>
            </a:r>
          </a:p>
        </p:txBody>
      </p:sp>
      <p:sp>
        <p:nvSpPr>
          <p:cNvPr id="43" name="TextBox 42"/>
          <p:cNvSpPr txBox="1"/>
          <p:nvPr/>
        </p:nvSpPr>
        <p:spPr>
          <a:xfrm>
            <a:off x="8403336" y="3040379"/>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оптимум
функции</a:t>
            </a:r>
          </a:p>
        </p:txBody>
      </p:sp>
      <p:sp>
        <p:nvSpPr>
          <p:cNvPr id="44" name="TextBox 43"/>
          <p:cNvSpPr txBox="1"/>
          <p:nvPr/>
        </p:nvSpPr>
        <p:spPr>
          <a:xfrm>
            <a:off x="9729215" y="3040379"/>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нишево</a:t>
            </a:r>
          </a:p>
        </p:txBody>
      </p:sp>
      <p:sp>
        <p:nvSpPr>
          <p:cNvPr id="45" name="TextBox 44"/>
          <p:cNvSpPr txBox="1"/>
          <p:nvPr/>
        </p:nvSpPr>
        <p:spPr>
          <a:xfrm>
            <a:off x="10689336" y="3040379"/>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46" name="Rectangle 45"/>
          <p:cNvSpPr/>
          <p:nvPr/>
        </p:nvSpPr>
        <p:spPr>
          <a:xfrm>
            <a:off x="5641848" y="3520439"/>
            <a:ext cx="5934456" cy="434340"/>
          </a:xfrm>
          <a:prstGeom prst="rect">
            <a:avLst/>
          </a:prstGeom>
          <a:solidFill>
            <a:srgbClr val="FFFFFF"/>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78424" y="3520439"/>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Суррогат /
PINN</a:t>
            </a:r>
          </a:p>
        </p:txBody>
      </p:sp>
      <p:sp>
        <p:nvSpPr>
          <p:cNvPr id="48" name="TextBox 47"/>
          <p:cNvSpPr txBox="1"/>
          <p:nvPr/>
        </p:nvSpPr>
        <p:spPr>
          <a:xfrm>
            <a:off x="7306056" y="3520439"/>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вероятн.</a:t>
            </a:r>
          </a:p>
        </p:txBody>
      </p:sp>
      <p:sp>
        <p:nvSpPr>
          <p:cNvPr id="49" name="TextBox 48"/>
          <p:cNvSpPr txBox="1"/>
          <p:nvPr/>
        </p:nvSpPr>
        <p:spPr>
          <a:xfrm>
            <a:off x="8403336" y="3520439"/>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только
в домене</a:t>
            </a:r>
          </a:p>
        </p:txBody>
      </p:sp>
      <p:sp>
        <p:nvSpPr>
          <p:cNvPr id="50" name="TextBox 49"/>
          <p:cNvSpPr txBox="1"/>
          <p:nvPr/>
        </p:nvSpPr>
        <p:spPr>
          <a:xfrm>
            <a:off x="9729215" y="3520439"/>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растёт</a:t>
            </a:r>
          </a:p>
        </p:txBody>
      </p:sp>
      <p:sp>
        <p:nvSpPr>
          <p:cNvPr id="51" name="TextBox 50"/>
          <p:cNvSpPr txBox="1"/>
          <p:nvPr/>
        </p:nvSpPr>
        <p:spPr>
          <a:xfrm>
            <a:off x="10689336" y="3520439"/>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52" name="Rectangle 51"/>
          <p:cNvSpPr/>
          <p:nvPr/>
        </p:nvSpPr>
        <p:spPr>
          <a:xfrm>
            <a:off x="5641848" y="4000500"/>
            <a:ext cx="5934456" cy="434340"/>
          </a:xfrm>
          <a:prstGeom prst="rect">
            <a:avLst/>
          </a:prstGeom>
          <a:solidFill>
            <a:srgbClr val="F4F7FA"/>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78424" y="4000500"/>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Computer
Vision</a:t>
            </a:r>
          </a:p>
        </p:txBody>
      </p:sp>
      <p:sp>
        <p:nvSpPr>
          <p:cNvPr id="54" name="TextBox 53"/>
          <p:cNvSpPr txBox="1"/>
          <p:nvPr/>
        </p:nvSpPr>
        <p:spPr>
          <a:xfrm>
            <a:off x="7306056" y="4000500"/>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вероятн.</a:t>
            </a:r>
          </a:p>
        </p:txBody>
      </p:sp>
      <p:sp>
        <p:nvSpPr>
          <p:cNvPr id="55" name="TextBox 54"/>
          <p:cNvSpPr txBox="1"/>
          <p:nvPr/>
        </p:nvSpPr>
        <p:spPr>
          <a:xfrm>
            <a:off x="8403336" y="4000500"/>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первый
фильтр</a:t>
            </a:r>
          </a:p>
        </p:txBody>
      </p:sp>
      <p:sp>
        <p:nvSpPr>
          <p:cNvPr id="56" name="TextBox 55"/>
          <p:cNvSpPr txBox="1"/>
          <p:nvPr/>
        </p:nvSpPr>
        <p:spPr>
          <a:xfrm>
            <a:off x="9729215" y="4000500"/>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зрелая</a:t>
            </a:r>
          </a:p>
        </p:txBody>
      </p:sp>
      <p:sp>
        <p:nvSpPr>
          <p:cNvPr id="57" name="TextBox 56"/>
          <p:cNvSpPr txBox="1"/>
          <p:nvPr/>
        </p:nvSpPr>
        <p:spPr>
          <a:xfrm>
            <a:off x="10689336" y="4000500"/>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58" name="Rectangle 57"/>
          <p:cNvSpPr/>
          <p:nvPr/>
        </p:nvSpPr>
        <p:spPr>
          <a:xfrm>
            <a:off x="5641848" y="4480560"/>
            <a:ext cx="5934456" cy="434340"/>
          </a:xfrm>
          <a:prstGeom prst="rect">
            <a:avLst/>
          </a:prstGeom>
          <a:solidFill>
            <a:srgbClr val="FFFFFF"/>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78424" y="4480560"/>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LLM-
ассистент</a:t>
            </a:r>
          </a:p>
        </p:txBody>
      </p:sp>
      <p:sp>
        <p:nvSpPr>
          <p:cNvPr id="60" name="TextBox 59"/>
          <p:cNvSpPr txBox="1"/>
          <p:nvPr/>
        </p:nvSpPr>
        <p:spPr>
          <a:xfrm>
            <a:off x="7306056" y="4480560"/>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вероятн.</a:t>
            </a:r>
          </a:p>
        </p:txBody>
      </p:sp>
      <p:sp>
        <p:nvSpPr>
          <p:cNvPr id="61" name="TextBox 60"/>
          <p:cNvSpPr txBox="1"/>
          <p:nvPr/>
        </p:nvSpPr>
        <p:spPr>
          <a:xfrm>
            <a:off x="8403336" y="4480560"/>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языковую
форму</a:t>
            </a:r>
          </a:p>
        </p:txBody>
      </p:sp>
      <p:sp>
        <p:nvSpPr>
          <p:cNvPr id="62" name="TextBox 61"/>
          <p:cNvSpPr txBox="1"/>
          <p:nvPr/>
        </p:nvSpPr>
        <p:spPr>
          <a:xfrm>
            <a:off x="9729215" y="4480560"/>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зрелая</a:t>
            </a:r>
          </a:p>
        </p:txBody>
      </p:sp>
      <p:sp>
        <p:nvSpPr>
          <p:cNvPr id="63" name="TextBox 62"/>
          <p:cNvSpPr txBox="1"/>
          <p:nvPr/>
        </p:nvSpPr>
        <p:spPr>
          <a:xfrm>
            <a:off x="10689336" y="4480560"/>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64" name="Rectangle 63"/>
          <p:cNvSpPr/>
          <p:nvPr/>
        </p:nvSpPr>
        <p:spPr>
          <a:xfrm>
            <a:off x="5641848" y="4960620"/>
            <a:ext cx="5934456" cy="434340"/>
          </a:xfrm>
          <a:prstGeom prst="rect">
            <a:avLst/>
          </a:prstGeom>
          <a:solidFill>
            <a:srgbClr val="F4F7FA"/>
          </a:solidFill>
          <a:ln w="762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78424" y="4960620"/>
            <a:ext cx="1536192" cy="434340"/>
          </a:xfrm>
          <a:prstGeom prst="rect">
            <a:avLst/>
          </a:prstGeom>
          <a:noFill/>
        </p:spPr>
        <p:txBody>
          <a:bodyPr wrap="square" lIns="0" rIns="0" tIns="0" bIns="0" anchor="ctr">
            <a:spAutoFit/>
          </a:bodyPr>
          <a:lstStyle/>
          <a:p>
            <a:pPr algn="ctr">
              <a:lnSpc>
                <a:spcPct val="98000"/>
              </a:lnSpc>
            </a:pPr>
            <a:r>
              <a:rPr sz="1200" b="1" i="0">
                <a:solidFill>
                  <a:srgbClr val="21295C"/>
                </a:solidFill>
                <a:latin typeface="Arial"/>
              </a:rPr>
              <a:t>Генерат.
геометрии</a:t>
            </a:r>
          </a:p>
        </p:txBody>
      </p:sp>
      <p:sp>
        <p:nvSpPr>
          <p:cNvPr id="66" name="TextBox 65"/>
          <p:cNvSpPr txBox="1"/>
          <p:nvPr/>
        </p:nvSpPr>
        <p:spPr>
          <a:xfrm>
            <a:off x="7306056" y="4960620"/>
            <a:ext cx="10058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вероятн.</a:t>
            </a:r>
          </a:p>
        </p:txBody>
      </p:sp>
      <p:sp>
        <p:nvSpPr>
          <p:cNvPr id="67" name="TextBox 66"/>
          <p:cNvSpPr txBox="1"/>
          <p:nvPr/>
        </p:nvSpPr>
        <p:spPr>
          <a:xfrm>
            <a:off x="8403336" y="4960620"/>
            <a:ext cx="1234439"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ничего
о физике</a:t>
            </a:r>
          </a:p>
        </p:txBody>
      </p:sp>
      <p:sp>
        <p:nvSpPr>
          <p:cNvPr id="68" name="TextBox 67"/>
          <p:cNvSpPr txBox="1"/>
          <p:nvPr/>
        </p:nvSpPr>
        <p:spPr>
          <a:xfrm>
            <a:off x="9729215" y="4960620"/>
            <a:ext cx="868680" cy="434340"/>
          </a:xfrm>
          <a:prstGeom prst="rect">
            <a:avLst/>
          </a:prstGeom>
          <a:noFill/>
        </p:spPr>
        <p:txBody>
          <a:bodyPr wrap="square" lIns="0" rIns="0" tIns="0" bIns="0" anchor="ctr">
            <a:spAutoFit/>
          </a:bodyPr>
          <a:lstStyle/>
          <a:p>
            <a:pPr algn="ctr">
              <a:lnSpc>
                <a:spcPct val="98000"/>
              </a:lnSpc>
            </a:pPr>
            <a:r>
              <a:rPr sz="1200" b="0" i="0">
                <a:solidFill>
                  <a:srgbClr val="6B7685"/>
                </a:solidFill>
                <a:latin typeface="Arial"/>
              </a:rPr>
              <a:t>бета</a:t>
            </a:r>
          </a:p>
        </p:txBody>
      </p:sp>
      <p:sp>
        <p:nvSpPr>
          <p:cNvPr id="69" name="TextBox 68"/>
          <p:cNvSpPr txBox="1"/>
          <p:nvPr/>
        </p:nvSpPr>
        <p:spPr>
          <a:xfrm>
            <a:off x="10689336" y="4960620"/>
            <a:ext cx="886968" cy="434340"/>
          </a:xfrm>
          <a:prstGeom prst="rect">
            <a:avLst/>
          </a:prstGeom>
          <a:noFill/>
        </p:spPr>
        <p:txBody>
          <a:bodyPr wrap="square" lIns="0" rIns="0" tIns="0" bIns="0" anchor="ctr">
            <a:spAutoFit/>
          </a:bodyPr>
          <a:lstStyle/>
          <a:p>
            <a:pPr algn="ctr">
              <a:lnSpc>
                <a:spcPct val="98000"/>
              </a:lnSpc>
            </a:pPr>
            <a:r>
              <a:rPr sz="1200" b="1" i="0">
                <a:solidFill>
                  <a:srgbClr val="F0AB00"/>
                </a:solidFill>
                <a:latin typeface="Arial"/>
              </a:rPr>
              <a:t>инженер</a:t>
            </a:r>
          </a:p>
        </p:txBody>
      </p:sp>
      <p:sp>
        <p:nvSpPr>
          <p:cNvPr id="70" name="TextBox 69"/>
          <p:cNvSpPr txBox="1"/>
          <p:nvPr/>
        </p:nvSpPr>
        <p:spPr>
          <a:xfrm>
            <a:off x="5641848" y="5458968"/>
            <a:ext cx="5861303" cy="365760"/>
          </a:xfrm>
          <a:prstGeom prst="rect">
            <a:avLst/>
          </a:prstGeom>
          <a:noFill/>
        </p:spPr>
        <p:txBody>
          <a:bodyPr wrap="square" lIns="0" rIns="0" tIns="0" bIns="0" anchor="t">
            <a:spAutoFit/>
          </a:bodyPr>
          <a:lstStyle/>
          <a:p>
            <a:pPr algn="ctr">
              <a:lnSpc>
                <a:spcPct val="115000"/>
              </a:lnSpc>
            </a:pPr>
            <a:r>
              <a:rPr sz="1100" b="1" i="1">
                <a:solidFill>
                  <a:srgbClr val="F0AB00"/>
                </a:solidFill>
                <a:latin typeface="Arial"/>
              </a:rPr>
              <a:t>колонка «кто отвечает» — везде инженер</a:t>
            </a:r>
          </a:p>
        </p:txBody>
      </p:sp>
      <p:sp>
        <p:nvSpPr>
          <p:cNvPr id="71" name="TextBox 70"/>
          <p:cNvSpPr txBox="1"/>
          <p:nvPr/>
        </p:nvSpPr>
        <p:spPr>
          <a:xfrm>
            <a:off x="502920" y="6437376"/>
            <a:ext cx="11247120" cy="320040"/>
          </a:xfrm>
          <a:prstGeom prst="rect">
            <a:avLst/>
          </a:prstGeom>
          <a:noFill/>
        </p:spPr>
        <p:txBody>
          <a:bodyPr wrap="square" lIns="0" rIns="0" tIns="0" bIns="0" anchor="t">
            <a:spAutoFit/>
          </a:bodyPr>
          <a:lstStyle/>
          <a:p>
            <a:pPr algn="l">
              <a:lnSpc>
                <a:spcPct val="105000"/>
              </a:lnSpc>
            </a:pPr>
            <a:r>
              <a:rPr sz="1200" b="0" i="1">
                <a:solidFill>
                  <a:srgbClr val="1C7293"/>
                </a:solidFill>
                <a:latin typeface="Arial"/>
              </a:rPr>
              <a:t>Профильные кафедры и суперкомпьютерные центры технических университетов работают со всем этим спектром.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message-circle-question-gold.png"/>
          <p:cNvPicPr>
            <a:picLocks noChangeAspect="1"/>
          </p:cNvPicPr>
          <p:nvPr/>
        </p:nvPicPr>
        <p:blipFill>
          <a:blip r:embed="rId2"/>
          <a:stretch>
            <a:fillRect/>
          </a:stretch>
        </p:blipFill>
        <p:spPr>
          <a:xfrm>
            <a:off x="4160520" y="1417320"/>
            <a:ext cx="1325880" cy="1325880"/>
          </a:xfrm>
          <a:prstGeom prst="rect">
            <a:avLst/>
          </a:prstGeom>
        </p:spPr>
      </p:pic>
      <p:sp>
        <p:nvSpPr>
          <p:cNvPr id="3" name="TextBox 2"/>
          <p:cNvSpPr txBox="1"/>
          <p:nvPr/>
        </p:nvSpPr>
        <p:spPr>
          <a:xfrm>
            <a:off x="5577840" y="1417320"/>
            <a:ext cx="4114800" cy="1371600"/>
          </a:xfrm>
          <a:prstGeom prst="rect">
            <a:avLst/>
          </a:prstGeom>
          <a:noFill/>
        </p:spPr>
        <p:txBody>
          <a:bodyPr wrap="square" lIns="0" rIns="0" tIns="0" bIns="0" anchor="ctr">
            <a:spAutoFit/>
          </a:bodyPr>
          <a:lstStyle/>
          <a:p>
            <a:pPr algn="l">
              <a:lnSpc>
                <a:spcPct val="100000"/>
              </a:lnSpc>
            </a:pPr>
            <a:r>
              <a:rPr sz="9200" b="1" i="0">
                <a:solidFill>
                  <a:srgbClr val="21295C"/>
                </a:solidFill>
                <a:latin typeface="Arial"/>
              </a:rPr>
              <a:t>Q&amp;A?</a:t>
            </a:r>
          </a:p>
        </p:txBody>
      </p:sp>
      <p:sp>
        <p:nvSpPr>
          <p:cNvPr id="4" name="Rounded Rectangle 3"/>
          <p:cNvSpPr/>
          <p:nvPr/>
        </p:nvSpPr>
        <p:spPr>
          <a:xfrm>
            <a:off x="1783080" y="3154680"/>
            <a:ext cx="864108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48840" y="3355848"/>
            <a:ext cx="7909559" cy="32004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Если вопросов нет — три провокации:</a:t>
            </a:r>
          </a:p>
        </p:txBody>
      </p:sp>
      <p:sp>
        <p:nvSpPr>
          <p:cNvPr id="6" name="Rounded Rectangle 5"/>
          <p:cNvSpPr/>
          <p:nvPr/>
        </p:nvSpPr>
        <p:spPr>
          <a:xfrm>
            <a:off x="2148840" y="3758184"/>
            <a:ext cx="310896" cy="31089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48840" y="3758184"/>
            <a:ext cx="310896" cy="310896"/>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1</a:t>
            </a:r>
          </a:p>
        </p:txBody>
      </p:sp>
      <p:sp>
        <p:nvSpPr>
          <p:cNvPr id="8" name="TextBox 7"/>
          <p:cNvSpPr txBox="1"/>
          <p:nvPr/>
        </p:nvSpPr>
        <p:spPr>
          <a:xfrm>
            <a:off x="2606040" y="3721608"/>
            <a:ext cx="7452359" cy="518159"/>
          </a:xfrm>
          <a:prstGeom prst="rect">
            <a:avLst/>
          </a:prstGeom>
          <a:noFill/>
        </p:spPr>
        <p:txBody>
          <a:bodyPr wrap="square" lIns="0" rIns="0" tIns="0" bIns="0" anchor="t">
            <a:spAutoFit/>
          </a:bodyPr>
          <a:lstStyle/>
          <a:p>
            <a:pPr algn="l">
              <a:lnSpc>
                <a:spcPct val="120000"/>
              </a:lnSpc>
            </a:pPr>
            <a:r>
              <a:rPr sz="1300" b="0" i="1">
                <a:solidFill>
                  <a:srgbClr val="21295C"/>
                </a:solidFill>
                <a:latin typeface="Arial"/>
              </a:rPr>
              <a:t>Какой инструмент маркетинг называет «AI» в знакомом CAD — и какой это на самом деле вид ИИ?</a:t>
            </a:r>
          </a:p>
        </p:txBody>
      </p:sp>
      <p:sp>
        <p:nvSpPr>
          <p:cNvPr id="9" name="Rounded Rectangle 8"/>
          <p:cNvSpPr/>
          <p:nvPr/>
        </p:nvSpPr>
        <p:spPr>
          <a:xfrm>
            <a:off x="2148840" y="4276344"/>
            <a:ext cx="310896" cy="31089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4276344"/>
            <a:ext cx="310896" cy="310896"/>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2</a:t>
            </a:r>
          </a:p>
        </p:txBody>
      </p:sp>
      <p:sp>
        <p:nvSpPr>
          <p:cNvPr id="11" name="TextBox 10"/>
          <p:cNvSpPr txBox="1"/>
          <p:nvPr/>
        </p:nvSpPr>
        <p:spPr>
          <a:xfrm>
            <a:off x="2606040" y="4239768"/>
            <a:ext cx="7452359" cy="518159"/>
          </a:xfrm>
          <a:prstGeom prst="rect">
            <a:avLst/>
          </a:prstGeom>
          <a:noFill/>
        </p:spPr>
        <p:txBody>
          <a:bodyPr wrap="square" lIns="0" rIns="0" tIns="0" bIns="0" anchor="t">
            <a:spAutoFit/>
          </a:bodyPr>
          <a:lstStyle/>
          <a:p>
            <a:pPr algn="l">
              <a:lnSpc>
                <a:spcPct val="120000"/>
              </a:lnSpc>
            </a:pPr>
            <a:r>
              <a:rPr sz="1300" b="0" i="1">
                <a:solidFill>
                  <a:srgbClr val="21295C"/>
                </a:solidFill>
                <a:latin typeface="Arial"/>
              </a:rPr>
              <a:t>Где в проекте возникает «стык систем», на котором ИИ мог бы уверенно перепутать единицы?</a:t>
            </a:r>
          </a:p>
        </p:txBody>
      </p:sp>
      <p:sp>
        <p:nvSpPr>
          <p:cNvPr id="12" name="Rounded Rectangle 11"/>
          <p:cNvSpPr/>
          <p:nvPr/>
        </p:nvSpPr>
        <p:spPr>
          <a:xfrm>
            <a:off x="2148840" y="4794504"/>
            <a:ext cx="310896" cy="31089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40" y="4794504"/>
            <a:ext cx="310896" cy="310896"/>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3</a:t>
            </a:r>
          </a:p>
        </p:txBody>
      </p:sp>
      <p:sp>
        <p:nvSpPr>
          <p:cNvPr id="14" name="TextBox 13"/>
          <p:cNvSpPr txBox="1"/>
          <p:nvPr/>
        </p:nvSpPr>
        <p:spPr>
          <a:xfrm>
            <a:off x="2606040" y="4757928"/>
            <a:ext cx="7452359" cy="518159"/>
          </a:xfrm>
          <a:prstGeom prst="rect">
            <a:avLst/>
          </a:prstGeom>
          <a:noFill/>
        </p:spPr>
        <p:txBody>
          <a:bodyPr wrap="square" lIns="0" rIns="0" tIns="0" bIns="0" anchor="t">
            <a:spAutoFit/>
          </a:bodyPr>
          <a:lstStyle/>
          <a:p>
            <a:pPr algn="l">
              <a:lnSpc>
                <a:spcPct val="120000"/>
              </a:lnSpc>
            </a:pPr>
            <a:r>
              <a:rPr sz="1300" b="0" i="1">
                <a:solidFill>
                  <a:srgbClr val="21295C"/>
                </a:solidFill>
                <a:latin typeface="Arial"/>
              </a:rPr>
              <a:t>Назвать задачу, где ИИ обоснованно отвечают «нет», и правильный инструмент.</a:t>
            </a:r>
          </a:p>
        </p:txBody>
      </p:sp>
      <p:sp>
        <p:nvSpPr>
          <p:cNvPr id="15" name="TextBox 14"/>
          <p:cNvSpPr txBox="1"/>
          <p:nvPr/>
        </p:nvSpPr>
        <p:spPr>
          <a:xfrm>
            <a:off x="502920" y="5989320"/>
            <a:ext cx="11247120" cy="32004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Курс «AI в разных индустриях» · семинар — case study инженерного проектирования · консультации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