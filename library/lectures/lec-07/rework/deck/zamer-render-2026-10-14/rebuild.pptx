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commons.wikimedia.org/wiki/File:Clinical_Trial_Volunteer_Signs_Informed_Consent_Form_%2845116548901%29.jpg"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016/S1470-2045%2823%2900298-X" TargetMode="External"/><Relationship Id="rId4" Type="http://schemas.openxmlformats.org/officeDocument/2006/relationships/hyperlink" Target="https://doi.org/10.1016/S0140-6736%2825%2902464-X"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016/S1470-2045%2823%2900298-X" TargetMode="External"/><Relationship Id="rId4" Type="http://schemas.openxmlformats.org/officeDocument/2006/relationships/hyperlink" Target="https://doi.org/10.1016/S0140-6736%2825%2902464-X" TargetMode="External"/><Relationship Id="rId5" Type="http://schemas.openxmlformats.org/officeDocument/2006/relationships/hyperlink" Target="https://doi.org/10.1038/s41591-024-03408-6"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1038/s41467-023-44676-z"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www.accessdata.fda.gov/cdrh_docs/pdf18/DEN180001.pdf"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1038/s42256-021-00307-0"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arxiv.org/abs/1711.05225"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1145/3313831.3376718"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1145/3313831.3376718"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126/sciadv.abq6147" TargetMode="External"/><Relationship Id="rId4" Type="http://schemas.openxmlformats.org/officeDocument/2006/relationships/hyperlink" Target="https://doi.org/10.1111/j.1365-2133.2008.08713.x"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126/sciadv.abq6147"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1126/science.aax2342"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126/science.aax2342"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056/AIoa2501001" TargetMode="External"/><Relationship Id="rId4" Type="http://schemas.openxmlformats.org/officeDocument/2006/relationships/hyperlink" Target="https://arxiv.org/abs/2210.14306"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1148/radiol.252590"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1148/radiol.252590"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148/radiol.243688"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038/s41746-020-0232-8"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038/s41746-020-0232-8" TargetMode="External"/><Relationship Id="rId4" Type="http://schemas.openxmlformats.org/officeDocument/2006/relationships/hyperlink" Target="https://doi.org/10.1136/amiajnl-2011-000089"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001/jamanetworkopen.2024.40969"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001/jamanetworkopen.2024.40969"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016/S0140-6736%2825%2902464-X" TargetMode="External"/><Relationship Id="rId4" Type="http://schemas.openxmlformats.org/officeDocument/2006/relationships/hyperlink" Target="https://doi.org/10.1016/S1470-2045%2823%2900298-X"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1016/S0140-6736%2825%2902464-X" TargetMode="External"/><Relationship Id="rId4" Type="http://schemas.openxmlformats.org/officeDocument/2006/relationships/hyperlink" Target="https://doi.org/10.1148/radiol.242566"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1016/j.jelectrocard.2018.08.007" TargetMode="External"/><Relationship Id="rId4" Type="http://schemas.openxmlformats.org/officeDocument/2006/relationships/hyperlink" Target="https://doi.org/10.1038/s41591-024-02850-w" TargetMode="External"/><Relationship Id="rId5" Type="http://schemas.openxmlformats.org/officeDocument/2006/relationships/hyperlink" Target="https://arxiv.org/abs/2102.09692" TargetMode="External"/><Relationship Id="rId6" Type="http://schemas.openxmlformats.org/officeDocument/2006/relationships/hyperlink" Target="https://doi.org/10.1037/xge0000033"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1038/s41562-024-02024-1" TargetMode="External"/><Relationship Id="rId4" Type="http://schemas.openxmlformats.org/officeDocument/2006/relationships/hyperlink" Target="https://arxiv.org/abs/2405.06087"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 Id="rId3" Type="http://schemas.openxmlformats.org/officeDocument/2006/relationships/hyperlink" Target="https://doi.org/10.1093/jamiaopen/ooab062" TargetMode="External"/><Relationship Id="rId4" Type="http://schemas.openxmlformats.org/officeDocument/2006/relationships/hyperlink" Target="https://doi.org/10.1371/journal.pone.0110274"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 Id="rId3" Type="http://schemas.openxmlformats.org/officeDocument/2006/relationships/hyperlink" Target="https://doi.org/10.1001/jamainternmed.2021.2626" TargetMode="External"/><Relationship Id="rId4" Type="http://schemas.openxmlformats.org/officeDocument/2006/relationships/hyperlink" Target="https://doi.org/10.1001/jamanetworkopen.2026.0181"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 Id="rId3" Type="http://schemas.openxmlformats.org/officeDocument/2006/relationships/hyperlink" Target="https://doi.org/10.1001/jamainternmed.2021.2626" TargetMode="External"/><Relationship Id="rId4" Type="http://schemas.openxmlformats.org/officeDocument/2006/relationships/hyperlink" Target="https://doi.org/10.1093/jamiaopen/ooab062"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 Id="rId3" Type="http://schemas.openxmlformats.org/officeDocument/2006/relationships/hyperlink" Target="https://doi.org/10.1093/jamiaopen/ooae133" TargetMode="External"/><Relationship Id="rId4" Type="http://schemas.openxmlformats.org/officeDocument/2006/relationships/hyperlink" Target="https://doi.org/10.1001/jamanetworkopen.2026.0181"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 Id="rId3" Type="http://schemas.openxmlformats.org/officeDocument/2006/relationships/hyperlink" Target="https://doi.org/10.1001/jamanetworkopen.2021.35286"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 Id="rId3" Type="http://schemas.openxmlformats.org/officeDocument/2006/relationships/hyperlink" Target="https://www.medrxiv.org/content/10.1101/2025.07.10.25331333" TargetMode="External"/><Relationship Id="rId4" Type="http://schemas.openxmlformats.org/officeDocument/2006/relationships/hyperlink" Target="https://clinicaltrials.gov/study/NCT06792890"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 Id="rId3" Type="http://schemas.openxmlformats.org/officeDocument/2006/relationships/hyperlink" Target="https://www.medrxiv.org/content/10.1101/2025.07.10.25331333" TargetMode="External"/><Relationship Id="rId4" Type="http://schemas.openxmlformats.org/officeDocument/2006/relationships/hyperlink" Target="https://clinicaltrials.gov/study/NCT06792890"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 Id="rId3" Type="http://schemas.openxmlformats.org/officeDocument/2006/relationships/hyperlink" Target="https://www.medrxiv.org/content/10.1101/2025.07.10.25331333"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 Id="rId3" Type="http://schemas.openxmlformats.org/officeDocument/2006/relationships/hyperlink" Target="https://doi.org/10.1001/jamainternmed.2025.0821"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 Id="rId3" Type="http://schemas.openxmlformats.org/officeDocument/2006/relationships/hyperlink" Target="https://doi.org/10.1001/jamanetworkopen.2026.16556" TargetMode="External"/><Relationship Id="rId4" Type="http://schemas.openxmlformats.org/officeDocument/2006/relationships/hyperlink" Target="https://doi.org/10.1001/jamainternmed.2025.0821" TargetMode="External"/><Relationship Id="rId5" Type="http://schemas.openxmlformats.org/officeDocument/2006/relationships/hyperlink" Target="https://doi.org/10.7759/cureus.109247"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 Id="rId3" Type="http://schemas.openxmlformats.org/officeDocument/2006/relationships/hyperlink" Target="https://eur-lex.europa.eu/eli/reg/2024/1689/oj" TargetMode="External"/><Relationship Id="rId4" Type="http://schemas.openxmlformats.org/officeDocument/2006/relationships/hyperlink" Target="https://doi.org/10.1001/jamanetworkopen.2025.42338"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 Id="rId3" Type="http://schemas.openxmlformats.org/officeDocument/2006/relationships/hyperlink" Target="https://doi.org/10.1093/jamia/ocad118"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 Id="rId3" Type="http://schemas.openxmlformats.org/officeDocument/2006/relationships/hyperlink" Target="https://doi.org/10.1093/jamia/ocad118"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 Id="rId3" Type="http://schemas.openxmlformats.org/officeDocument/2006/relationships/hyperlink" Target="https://doi.org/10.1007/s00330-025-12273-x" TargetMode="External"/><Relationship Id="rId4" Type="http://schemas.openxmlformats.org/officeDocument/2006/relationships/hyperlink" Target="https://doi.org/10.1038/s43018-026-01128-z"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 Id="rId3" Type="http://schemas.openxmlformats.org/officeDocument/2006/relationships/hyperlink" Target="https://doi.org/10.1001/jamanetworkopen.2025.42338" TargetMode="External"/><Relationship Id="rId4" Type="http://schemas.openxmlformats.org/officeDocument/2006/relationships/hyperlink" Target="https://eur-lex.europa.eu/eli/reg/2024/1689/oj" TargetMode="Externa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 Id="rId3" Type="http://schemas.openxmlformats.org/officeDocument/2006/relationships/hyperlink" Target="https://www.fda.gov/regulatory-information/search-fda-guidance-documents/marketing-submission-recommendations-predetermined-change-control-plan-artificial-intelligence" TargetMode="External"/><Relationship Id="rId4" Type="http://schemas.openxmlformats.org/officeDocument/2006/relationships/hyperlink" Target="http://publication.pravo.gov.ru/document/0001202510140015" TargetMode="External"/><Relationship Id="rId5" Type="http://schemas.openxmlformats.org/officeDocument/2006/relationships/hyperlink" Target="https://eur-lex.europa.eu/eli/reg/2024/1689/oj" TargetMode="External"/><Relationship Id="rId6" Type="http://schemas.openxmlformats.org/officeDocument/2006/relationships/hyperlink" Target="https://doi.org/10.1001/jamahealthforum.2025.3172" TargetMode="Externa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 Id="rId3" Type="http://schemas.openxmlformats.org/officeDocument/2006/relationships/hyperlink" Target="https://doi.org/10.1001/jamanetworkopen.2025.42338" TargetMode="External"/><Relationship Id="rId4" Type="http://schemas.openxmlformats.org/officeDocument/2006/relationships/hyperlink" Target="https://doi.org/10.1007/s00330-025-12273-x" TargetMode="External"/><Relationship Id="rId5" Type="http://schemas.openxmlformats.org/officeDocument/2006/relationships/hyperlink" Target="https://doi.org/10.1093/jamia/ocad118" TargetMode="External"/><Relationship Id="rId6" Type="http://schemas.openxmlformats.org/officeDocument/2006/relationships/hyperlink" Target="https://eur-lex.europa.eu/eli/reg/2024/1689/oj"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 Id="rId3" Type="http://schemas.openxmlformats.org/officeDocument/2006/relationships/hyperlink" Target="https://go.bio.org/rs/490-EHZ-999/images/ClinicalDevelopmentSuccessRates2011_2020.pdf" TargetMode="External"/><Relationship Id="rId4" Type="http://schemas.openxmlformats.org/officeDocument/2006/relationships/hyperlink" Target="https://doi.org/10.1016/j.drudis.2024.104009" TargetMode="External"/><Relationship Id="rId5" Type="http://schemas.openxmlformats.org/officeDocument/2006/relationships/hyperlink" Target="https://doi.org/10.1200/JCO.2026.44.16_suppl.11072"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 Id="rId3" Type="http://schemas.openxmlformats.org/officeDocument/2006/relationships/hyperlink" Target="https://go.bio.org/rs/490-EHZ-999/images/ClinicalDevelopmentSuccessRates2011_2020.pdf" TargetMode="Externa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 Id="rId3" Type="http://schemas.openxmlformats.org/officeDocument/2006/relationships/hyperlink" Target="https://go.bio.org/rs/490-EHZ-999/images/ClinicalDevelopmentSuccessRates2011_2020.pdf" TargetMode="Externa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 Id="rId3" Type="http://schemas.openxmlformats.org/officeDocument/2006/relationships/hyperlink" Target="https://pmc.ncbi.nlm.nih.gov/articles/PMC9231077/" TargetMode="Externa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 Id="rId3" Type="http://schemas.openxmlformats.org/officeDocument/2006/relationships/hyperlink" Target="https://go.bio.org/rs/490-EHZ-999/images/ClinicalDevelopmentSuccessRates2011_2020.pdf" TargetMode="Externa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 Id="rId3" Type="http://schemas.openxmlformats.org/officeDocument/2006/relationships/hyperlink" Target="https://doi.org/10.1016/j.drudis.2024.104009" TargetMode="External"/><Relationship Id="rId4" Type="http://schemas.openxmlformats.org/officeDocument/2006/relationships/hyperlink" Target="https://go.bio.org/rs/490-EHZ-999/images/ClinicalDevelopmentSuccessRates2011_2020.pdf" TargetMode="Externa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 Id="rId3" Type="http://schemas.openxmlformats.org/officeDocument/2006/relationships/hyperlink" Target="https://doi.org/10.1200/JCO.2026.44.16_suppl.11072" TargetMode="External"/><Relationship Id="rId4" Type="http://schemas.openxmlformats.org/officeDocument/2006/relationships/hyperlink" Target="https://doi.org/10.1016/j.drudis.2024.104009" TargetMode="Externa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 Id="rId3" Type="http://schemas.openxmlformats.org/officeDocument/2006/relationships/hyperlink" Target="https://www.rcsb.org/stats" TargetMode="External"/><Relationship Id="rId4" Type="http://schemas.openxmlformats.org/officeDocument/2006/relationships/hyperlink" Target="https://doi.org/10.1080/14789450.2025.2456046" TargetMode="Externa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 Id="rId3" Type="http://schemas.openxmlformats.org/officeDocument/2006/relationships/hyperlink" Target="https://doi.org/10.1200/JCO.2026.44.16_suppl.11072" TargetMode="External"/><Relationship Id="rId4" Type="http://schemas.openxmlformats.org/officeDocument/2006/relationships/hyperlink" Target="https://doi.org/10.1016/j.drudis.2024.104009" TargetMode="External"/><Relationship Id="rId5" Type="http://schemas.openxmlformats.org/officeDocument/2006/relationships/hyperlink" Target="https://go.bio.org/rs/490-EHZ-999/images/ClinicalDevelopmentSuccessRates2011_2020.pdf" TargetMode="Externa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 Id="rId3" Type="http://schemas.openxmlformats.org/officeDocument/2006/relationships/hyperlink" Target="https://doi.org/10.1016/j.gie.2014.07.058" TargetMode="Externa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 Id="rId3" Type="http://schemas.openxmlformats.org/officeDocument/2006/relationships/hyperlink" Target="https://doi.org/10.1016/j.cgh.2020.11.019" TargetMode="External"/><Relationship Id="rId4" Type="http://schemas.openxmlformats.org/officeDocument/2006/relationships/hyperlink" Target="https://doi.org/10.1155/2016/7631981" TargetMode="External"/><Relationship Id="rId5" Type="http://schemas.openxmlformats.org/officeDocument/2006/relationships/hyperlink" Target="https://doi.org/10.1007/s00384-023-04585-5" TargetMode="Externa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 Id="rId3" Type="http://schemas.openxmlformats.org/officeDocument/2006/relationships/hyperlink" Target="https://doi.org/10.1016/S2468-1253%2825%2900133-5" TargetMode="External"/><Relationship Id="rId4" Type="http://schemas.openxmlformats.org/officeDocument/2006/relationships/hyperlink" Target="https://doi.org/10.1016/S2468-1253%2825%2900294-8" TargetMode="Externa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 Id="rId3" Type="http://schemas.openxmlformats.org/officeDocument/2006/relationships/hyperlink" Target="https://doi.org/10.1016/S2468-1253%2825%2900133-5" TargetMode="External"/><Relationship Id="rId4" Type="http://schemas.openxmlformats.org/officeDocument/2006/relationships/hyperlink" Target="https://doi.org/10.1073/pnas.2422633122" TargetMode="Externa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 Id="rId3" Type="http://schemas.openxmlformats.org/officeDocument/2006/relationships/hyperlink" Target="https://metr.org/blog/2026-02-24-uplift-update/" TargetMode="Externa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 Id="rId3" Type="http://schemas.openxmlformats.org/officeDocument/2006/relationships/hyperlink" Target="https://doi.org/10.1016/S2468-1253%2825%2900133-5" TargetMode="Externa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 Id="rId3" Type="http://schemas.openxmlformats.org/officeDocument/2006/relationships/hyperlink" Target="https://doi.org/10.1001/jamahealthforum.2025.3172" TargetMode="External"/><Relationship Id="rId4" Type="http://schemas.openxmlformats.org/officeDocument/2006/relationships/hyperlink" Target="https://doi.org/10.1001/jamanetworkopen.2025.42338" TargetMode="External"/><Relationship Id="rId5" Type="http://schemas.openxmlformats.org/officeDocument/2006/relationships/hyperlink" Target="https://eur-lex.europa.eu/eli/reg/2024/1689/oj" TargetMode="Externa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 Id="rId3" Type="http://schemas.openxmlformats.org/officeDocument/2006/relationships/hyperlink" Target="https://doi.org/10.1001/jamahealthforum.2025.3172" TargetMode="Externa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Чем эта лекция отличается от прошлой по предмету: там накопленное считалось в изделиях, здесь — в людях. Партию бракованных деталей отзывают; принятое клиническое решение отозвать нельзя, даже когда ошибку нашли сразу после. Это меняет саму постановку вопроса о цене ошибки, и курс идёт в медицину вторым не случайно — чтобы цена отказа стала видна по контрасту.</a:t>
            </a:r>
          </a:p>
          <a:p>
            <a:r>
              <a:t/>
            </a:r>
          </a:p>
          <a:p>
            <a:r>
              <a:t>Что значит «процедура удерживает цену ошибки»: двойное чтение снимка, второе мнение коллеги, консилиум при спорном случае, информированное согласие перед вмешательством — ни одно из этих устройств не придумано ради искусственного интеллекта. Все они существовали задолго до него и решали одну задачу: чтобы ошибка одного человека не стала окончательным решением без проверки. Модель входит в уже сложившуюся процедуру; своей она не строит. Поэтому и вопрос лекции — о самой процедуре и о человеке внутри неё: что с ними происходит, когда рядом появляется участник, который не устаёт, не сомневается и не просит паузы.</a:t>
            </a:r>
          </a:p>
          <a:p>
            <a:r>
              <a:t/>
            </a:r>
          </a:p>
          <a:p>
            <a:r>
              <a:t>Почему именно медицина идёт после машиностроения: предмет тот же — та же пара вопросов «что стоит пропуск» и «что стоит ложная тревога», то же устройство разбора через цену обеих ошибок. Граница допустимого риска при этом проведена в другом месте, и увидеть её можно по контрасту с уже разобранной отраслью; абстрактное рассуждение её не показывает.</a:t>
            </a:r>
          </a:p>
          <a:p>
            <a:r>
              <a:t/>
            </a:r>
          </a:p>
          <a:p>
            <a:r>
              <a:t>Что стоит унести, даже если к концу лекции забудутся все числа: спрашивать надо предметно: что именно в каждом конкретном случае делает человек после того, как модель уже посмотрела. Ответом на этот вопрос лекция и занята, случай за случаем. Оценок инструментам она не выставляет — предъявляет то, что инструмент сделал с работой вокруг себя.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Лекция идёт по пути одного случая, и это не каталог применений. Каталог отвечает на вопрос «что бывает»; путь отвечает на вопрос «где за это платят». Кто-то решает, попадёт ли человек в поле зрения вообще. Потом измеряют. Потом по измеренному ставят диагноз. Потом следят, что меняется дальше. И всё это время пишут запись, которую кто-то прочтёт потом.</a:t>
            </a:r>
          </a:p>
          <a:p>
            <a:r>
              <a:t/>
            </a:r>
          </a:p>
          <a:p>
            <a:r>
              <a:t>Порядок первых пяти разделов держится не удобством изложения. Смотреть можно только того, кто уже попал в поле зрения: человек, которого не позвали, невидим для любой модели, какой бы точной она ни была. Решать можно только по тому, что измерено, и свойства измерения переезжают в решение целиком, вместе со своими смещениями. Наблюдать имеет смысл после того, как решение принято, — наблюдение отвечает на вопрос, что стало дальше. Запись читают после того, как её сделали, и читает её другой человек, у которого вопрос свой. Переставить эти пять ступеней нельзя, и у перестановки нет варианта, при котором она работает.</a:t>
            </a:r>
          </a:p>
          <a:p>
            <a:r>
              <a:t/>
            </a:r>
          </a:p>
          <a:p>
            <a:r>
              <a:t>Чем путь кончается, лекция сказать не может, и сказать об этом надо прямо. Измерений долгосрочного исхода человека после решения, принятого с участием модели, не нашлось ни одного: ни одного замера, где прослежено, что стало со здоровьем людей через годы после того, как модель вошла в процедуру. Там, где должен стоять шестой шаг пути, стоит прочерк.</a:t>
            </a:r>
          </a:p>
          <a:p>
            <a:r>
              <a:t/>
            </a:r>
          </a:p>
          <a:p>
            <a:r>
              <a:t>Три раздела на путь не ложатся, и объединять их с пятью было бы подменой. Чем удерживают — это процедура: двойное чтение, арбитраж, подпись, норматив; она стоит вокруг всех пяти сразу, отдельным шагом её не поставить. Разработка лекарства — другой предмет: откуда берётся то, что назначают, и там удешевили начало, а узкое место осталось на испытаниях. Что стало с теми, кто решает, — замер по человеку: что сделалось с его вниманием, навыком и готовностью возразить. Шаг работы такого замера не показывает. Поперёк — это их настоящее положение, и назвать его так честнее, чем выстроить восемь разделов в один ряд и сделать вид, что они однородны.</a:t>
            </a:r>
          </a:p>
          <a:p>
            <a:r>
              <a:t/>
            </a:r>
          </a:p>
          <a:p>
            <a:r>
              <a:t>Отсюда разница между клиническим решением и инженерным, и она в цене отката. В инженерии накопленное считается в изделиях, и партию отзывают: дорого, публично, но возможно. В медицине накопленное считается в людях. Устройство с рынка снять можно; решения, принятые по нему за два года его работы, останутся решениями. Снимок перечитывают сколько угодно раз, назначение отменяют, пока его не выполнили, — а проведённую операцию и месяцы, потерянные на неверном лечении, не отменяет ничто.</a:t>
            </a:r>
          </a:p>
          <a:p>
            <a:r>
              <a:t/>
            </a:r>
          </a:p>
          <a:p>
            <a:r>
              <a:t>Форма у каждого разбора одна, и это освобождает слушателя от необходимости угадывать устройство следующего раздела. Сначала цена обеих ошибок: что стоит пропуск и что стоит ложная тревога. Потом оба классических режима, посчитанные в тех же единицах: модель, сравнённая с пустым местом, выигрывает всегда, и выигрыш этот ничего не значит. Потом модель против этих двух режимов. И в конце — что переехало, названное именем, вместе с парой «дало — потребовало».</a:t>
            </a:r>
          </a:p>
          <a:p>
            <a:r>
              <a:t/>
            </a:r>
          </a:p>
          <a:p>
            <a:r>
              <a:t>Производство лекарственной формы на линии, устройство предсказания структуры белка и цифровые двойники закрывают другие лекции курса. Назначение лечения и оперативная помощь разобраны в главе, со сцены сегодня не идут: на них не нашлось разборов, у которых обе половины измерены в сопоставимых единицах.</a:t>
            </a:r>
          </a:p>
          <a:p>
            <a:r>
              <a:t/>
            </a:r>
          </a:p>
          <a:p>
            <a:r>
              <a:t>Вопрос залу стоит задать и подождать ответа. Результат обследования, пришедший раньше, чем его прочитал врач, видел почти каждый, у кого есть доступ к электронной карте. Это и есть первый шаг пути, увиденный с другой стороны: данные уже есть, решения по ним ещё нет, и промежуток между этими двумя моментами — ровно то место, куда входит модель.</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Разложить четыре устройства помогает один признак — кто смотрит первым. Смотрит первым: человек читает данные сам, модель подключается после него или не подключается вовсе. Это классический режим, и именно с ним модель сравнивают. Смотрит вторым: первый проход сделан моделью, человек читает её результат и подтверждает либо отклоняет. Смотрит только спорное: человек подключается там, где модель и второй источник не сошлись или где модель отметила случай сомнительным; остального потока он не видит. Подписывает не глядя: формально требование выполнено, человек в контуре стоит и подпись его есть — фактически участия нет. Шкала не ранжирует ступени по качеству: на каждой есть и выигрыш, и своя слепота.</a:t>
            </a:r>
          </a:p>
          <a:p>
            <a:r>
              <a:t/>
            </a:r>
          </a:p>
          <a:p>
            <a:r>
              <a:t>Обоснование участия начинается отрицанием точности, и это не фигура речи: измерено, что часто человек не точнее, и опора, стоящая на его точности, рассыпалась бы на первом же разборе. Опоры другие. Право подписи выдано человеку: ни в одной из рассмотренных стран модель права подписи не имеет, заключение оформляется подписью человека, а при разборе случая оценивают действия человека. Отсюда прямое следствие: вопрос о модели оказывается вопросом о процедуре вокруг неё. Ошибается иначе: выигрыш паре даёт несовпадение ошибок; превосходство одной из сторон его не даёт — если человек и модель ошибаются на одних и тех же случаях, пара не даёт ничего. Отменить нельзя: изделие отозвать можно, и отзывают; решения, принятые по нему до отзыва, не отзываются.</a:t>
            </a:r>
          </a:p>
          <a:p>
            <a:r>
              <a:t/>
            </a:r>
          </a:p>
          <a:p>
            <a:r>
              <a:t>Три проверки нужны не только в медицине. Первая: если вывод проверяют по самообъяснению модели, это не проверка — объяснение построено той же системой и согласовано с выводом по устройству. Вторая: нужны две доли сразу, доля отклонённых подсказок и доля верных отклонений; без второй первая не подтверждает ничего, отклонять можно всё подряд. Третья: у вопроса «успевает ли» бывает ответ «нет», и дальше он будет назван числом.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имени — весь рабочий инструмент, которым курс называет каждый встреченный инструмент. Первое отвечает на вопрос, что система выдаёт на выходе: классификация ставит метку из списка, распознавание находит и опознаёт во входе, поиск с генерацией сначала находит и ранжирует, а потом создаёт содержимое по найденному, прогноз предсказывает число, планирование строит последовательность действий. Названия эти курсу знакомы, и определений со сцены они не требуют: на экране рядом с каждым стоит то, что система по нему выдаёт, одной строкой. Второе имя — с какими данными система работает: текст, изображение, звук, видео, структурированные данные, код, комбинации нескольких видов сразу. Пара бывает составной, и это не оговорка: чат, который ищет в документах и пишет по ним ответ, решает две задачи подряд.</a:t>
            </a:r>
          </a:p>
          <a:p>
            <a:r>
              <a:t/>
            </a:r>
          </a:p>
          <a:p>
            <a:r>
              <a:t>Зачем это нужно. Два имени задают поставщику два вопроса, на которые тот обязан ответить коротко. Если ответа нет или он звучит как «у нас комплексное решение на основе искусственного интеллекта», разговор о пригодности инструмента ещё не начался. По паре имён сразу видно, где искать опыт: распознавание на изображении — обкатанная область с готовыми мерами качества, а планирование на структурированных данных в медицинской практике встречается редко, и каждый случай придётся разбирать с нуля. И пара показывает подмену, которая стоит дорого: успех показывают в одной клетке, а продают инструмент для другой.</a:t>
            </a:r>
          </a:p>
          <a:p>
            <a:r>
              <a:t/>
            </a:r>
          </a:p>
          <a:p>
            <a:r>
              <a:t>Заполняется карта по ходу, и обещать стоит ровно это. В конце каждого раздела на экран возвращается та же сетка, и в неё вписываются короткие имена случаев, которые раздел разобрал: по строкам типы задач, по столбцам виды данных. К последнему разделу карта собрана целиком, и с этого момента читать на ней надо прочерки. Занятых клеток за всю лекцию наберётся четыре, то есть восемь из двенадцати показанных так и останутся пустыми. Эти восемь — такое же содержание карты, как четыре занятых: пустая клетка говорит, что инструмент такого класса на этой стадии искать незачем, и время, которое ушло бы на поиск, карта экономит заранее. Заполнение само по себе результат, и восемь неподвижных прочерков — результат тоже.</a:t>
            </a:r>
          </a:p>
          <a:p>
            <a:r>
              <a:t/>
            </a:r>
          </a:p>
          <a:p>
            <a:r>
              <a:t>Общую картину стоит держать в голове с первой минуты. Медицина занимает здесь четыре клетки, и все четыре — те же, которыми заканчивалась инженерная лекция: распознавание и классификация на изображении, прогноз на структурированных данных, поиск с генерацией на тексте. Совпадение клеток и есть результат: отрасли различают цена ошибки и процедура вокруг человека, класс модели их не различает. Чисел в этой раскладке нет ни одного — ни долей рынка, ни числа допущенных изделий, ни «лидеров».</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Чтение медицинских данных стало стоить три секунды и ноль рублей. Инструмент открывается в браузере, вычисление идёт на том же ноутбуке, снимок не уходит на сервер, барьера входа нет вообще. Дальше читается то, что у этого удешевления на другом конце, и адресов платежа четыре.</a:t>
            </a:r>
          </a:p>
          <a:p>
            <a:r>
              <a:t/>
            </a:r>
          </a:p>
          <a:p>
            <a:r>
              <a:t>Внимание. Человек смотрит после модели, и его зрительный поиск сужается — это измерено движением глаз, причём в обе стороны: при верной подсказке охват снимка падает, и качество чтения при этом растёт; при подсказке, пропустившей находку, охват падает так же, а качество чтения обваливается.</a:t>
            </a:r>
          </a:p>
          <a:p>
            <a:r>
              <a:t/>
            </a:r>
          </a:p>
          <a:p>
            <a:r>
              <a:t>Навык. Человек перестаёт делать сам то, что делал годами. Измерено это отключением помощника: доля обнаружения в процедурах без него у тех, кто к нему привык, оказалась ниже, чем до его появления. Состав свидетельства здесь слабее остальных трёх, и его стоит назвать составом: на реальной работе следствие измерено один раз и спорно, то же явление измерено случайным распределением в учёбе, повторения на реальной работе нет ни одного.</a:t>
            </a:r>
          </a:p>
          <a:p>
            <a:r>
              <a:t/>
            </a:r>
          </a:p>
          <a:p>
            <a:r>
              <a:t>Подпись. Человек подтверждает решение, которого не читал. Требование, чтобы человек оставался последним звеном, у регулятора записано; проверку же этого требования нашли у 56 радиологических изделий из 717 — у восьми процентов.</a:t>
            </a:r>
          </a:p>
          <a:p>
            <a:r>
              <a:t/>
            </a:r>
          </a:p>
          <a:p>
            <a:r>
              <a:t>Арбитраж. Разбор одного расхождения дороже прежнего чтения: снимок занимает 48 секунд, разбор расхождения — две минуты двенадцать секунд, то есть пять чтений. И когда первичных человеческих чтений стало вдвое меньше, объём арбитража вырос больше чем наполовину.</a:t>
            </a:r>
          </a:p>
          <a:p>
            <a:r>
              <a:t/>
            </a:r>
          </a:p>
          <a:p>
            <a:r>
              <a:t>Половина этой оси курсу знакома с прошлой лекции: подешевел шаг — платят на другом. Своё здесь одно, и ради него ось и объявлена — адрес платежа. Платят тем шагом, который делает человек, — ни деньгами, ни вычислительным временем.</a:t>
            </a:r>
          </a:p>
          <a:p>
            <a:r>
              <a:t/>
            </a:r>
          </a:p>
          <a:p>
            <a:r>
              <a:t>Теперь о том, как эти четыре слова живут дальше, потому что услышать их один раз мало. Словарь форм влияния на процесс курсу знаком с прошлой лекции, и девять его имён держат почти каждый разбор, который пойдёт дальше: «нагрузка переехала на другой шаг», «сменился исполнитель», «сместилась цена ошибки». Четыре адреса платежа этот словарь не отменяют и не повторяют — они отвечают на другой вопрос об одном и том же случае. Форма говорит, что сделалось с работой: где она теперь стоит, сколько её, чья рука её делает, чем кончается ошибка. Адрес говорит, на каком человеческом шаге это сделалось: смотрит он вторым, перестал ли делать сам, подписал ли непрочитанное, разбирает ли расхождение.</a:t>
            </a:r>
          </a:p>
          <a:p>
            <a:r>
              <a:t/>
            </a:r>
          </a:p>
          <a:p>
            <a:r>
              <a:t>Отсюда порядок, по которому идёт каждый разбор дальше. Каждый кончается формой — или названным отказом её присвоить, и отказ этот такой же вердикт, как имя. В сборке формы сводятся обратно к четырём адресам, и сводятся счётом: по каждому адресу стоит измерение с названным разрядом. Держать в голове надо обе половины: формой измеряется работа, адресом измеряется человек. Смешивать их нельзя: работа переезжает так, что ни один человеческий шаг этого не чувствует, и человек платит там, где работа осталась на месте.</a:t>
            </a:r>
          </a:p>
          <a:p>
            <a:r>
              <a:t/>
            </a:r>
          </a:p>
          <a:p>
            <a:r>
              <a:t>Пример про разработку стоит на особом положении, и сказать об этом надо прямо. Разборы лекции отобраны по трём условиям, и последнее — обе половины измерены в сопоставимых единицах. Этот не проходит: сколько часов проверки прибавилось на час сэкономленного письма, никто не считал. Поэтому он идёт здесь иллюстрацией оси; разбором он не идёт. Стоит он тут ровно потому, что ось на нём узнаётся без перевода.</a:t>
            </a:r>
          </a:p>
          <a:p>
            <a:r>
              <a:t/>
            </a:r>
          </a:p>
          <a:p>
            <a:r>
              <a:t>**Источники.** </a:t>
            </a:r>
            <a:r>
              <a:rPr u="sng">
                <a:solidFill>
                  <a:srgbClr val="065A82"/>
                </a:solidFill>
                <a:hlinkClick r:id="rId3"/>
              </a:rPr>
              <a:t>снимок: NIAID, Викисклад, CC BY 2.0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Дальше лекция разбирает решения о человеке, который уже попал в поле зрения, а здесь решается, попадёт ли он вообще — и это решение принимается до всякого диагноза, часто без врача и всегда без участия самого пациента в момент, когда оно принимается.</a:t>
            </a:r>
          </a:p>
          <a:p>
            <a:r>
              <a:t/>
            </a:r>
          </a:p>
          <a:p>
            <a:r>
              <a:t>Два разбора раздела показывают эту работу с двух разных сторон одной и той же задачи — сортировки потока, кого вообще стоит посмотреть внимательнее. «Пример 1: чат-бот первой линии» — случай, где модель (или то, что ею называли) встала на входе в поток обращений и решала, кого направить, а кого нет; разбор идёт через то, что предъявили публично, и через то, что это стоило каналу обращений, когда удешевлённый вход изменил само число людей, которые решили обратиться. «Глазное дно без офтальмолога» — случай, где выигрыш измерен не точностью чтения, а явкой: пока человек с диабетом идёт за направлением к отдельному специалисту, до теста реально доходят 22 из 100; когда снимок делает медсестра в первичном звене и решение «направить или нет» выносится на месте, до теста доходят 100 из 100 — это смена доступа, а не точности прибора.</a:t>
            </a:r>
          </a:p>
          <a:p>
            <a:r>
              <a:t/>
            </a:r>
          </a:p>
          <a:p>
            <a:r>
              <a:t>Общее между разборами — не тема и не отрасль, а то, что оба показывают: отбор решает не только «кого лечить», но прежде — «кого вообще стоит заметить», и ошибка на этом шаге не видна там, где её обычно ищут, потому что она случается раньше любого диагноза и любого измерения точности.</a:t>
            </a:r>
          </a:p>
          <a:p>
            <a:r>
              <a:t/>
            </a:r>
          </a:p>
          <a:p>
            <a:r>
              <a:t>Снимок рядом — настоящий кабинет чтения снимков с двумя рабочими местами и маммографическими мониторами: работа отбора выглядит именно так — не драматично, а буднично, и именно в этой будничности она чаще всего и остаётся незамеченной.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модели: без этого непонятно, во что инструмент вмешивается. На слайде семь действий названы одной строкой, здесь — каждое.</a:t>
            </a:r>
          </a:p>
          <a:p>
            <a:r>
              <a:t/>
            </a:r>
          </a:p>
          <a:p>
            <a:r>
              <a:t>Назначить порог. Возраст, с которого зовут, и интервал между приглашениями записаны в документе органа здравоохранения. Их назначает не разработчик и не врач у монитора, а тот, кто решил, что хуже — пропустить или позвать лишнего.</a:t>
            </a:r>
          </a:p>
          <a:p>
            <a:r>
              <a:t/>
            </a:r>
          </a:p>
          <a:p>
            <a:r>
              <a:t>Позвать по списку. Письмо приходит человеку, который ни на что не жаловался: его выбрал признак группы — возраст, пол, профессия, прежний диагноз.</a:t>
            </a:r>
          </a:p>
          <a:p>
            <a:r>
              <a:t/>
            </a:r>
          </a:p>
          <a:p>
            <a:r>
              <a:t>Снять исследование. Снимок делает лаборант, и это отдельная квалификация, отдельное рабочее место и отдельная очередь.</a:t>
            </a:r>
          </a:p>
          <a:p>
            <a:r>
              <a:t/>
            </a:r>
          </a:p>
          <a:p>
            <a:r>
              <a:t>Прочесть двумя. Двойное чтение придумано до всякой автоматики и ради одного: чтобы ошибка одного человека не стала решением. Выигрыш даёт несовпадение ошибок — пропуски двух людей приходятся на разные снимки, и держится это на том, что второй не видит заключения первого.</a:t>
            </a:r>
          </a:p>
          <a:p>
            <a:r>
              <a:t/>
            </a:r>
          </a:p>
          <a:p>
            <a:r>
              <a:t>Разрешить расхождение. Третий читатель подключается только там, где двое разошлись, и разрешать расхождение должен тот, кто обоих заключений не писал.</a:t>
            </a:r>
          </a:p>
          <a:p>
            <a:r>
              <a:t/>
            </a:r>
          </a:p>
          <a:p>
            <a:r>
              <a:t>Сообщить исход. Письмо «норма» либо звонок с приглашением на дообследование — и недели ожидания между ними.</a:t>
            </a:r>
          </a:p>
          <a:p>
            <a:r>
              <a:t/>
            </a:r>
          </a:p>
          <a:p>
            <a:r>
              <a:t>Отсортировать пришедших без приглашения. Здесь решают, кого смотреть сегодня, а кого через две недели. Вошедшего в приёмное отделение относят к одной из пяти категорий тяжести: медсестра задаёт несколько вопросов, снимает несколько величин и сверяет с таблицей. Каждой категории назначено нормативное время до осмотра врачом. Недооценка — человек с развивающимся инфарктом сидит в очереди; переоценка — занят ресурс, которого не хватило кому-то другому. Обе ошибки платит одна смена.</a:t>
            </a:r>
          </a:p>
          <a:p>
            <a:r>
              <a:t/>
            </a:r>
          </a:p>
          <a:p>
            <a:r>
              <a:t>Теперь то же поле с моделью, и назвать его надо до разборов. Из семи действий обученная модель заняла три. Четвёртое — чтение: она сортирует поток по предсказанному риску, и человек читает отобранное. Шестое — «направить или нет» выносится на месте и без специалиста. Седьмое — в сортировке потока она занимает место протокольной шкалы. Порог она не назначает: за ним стоит цена обеих ошибок и подпись под ней. Приглашение, съёмку и арбитраж она не трогает. И один шаг она добавляет — добыть годный снимок: у специалиста такой операции не существовало, он компенсировал условия съёмки сам.</a:t>
            </a:r>
          </a:p>
          <a:p>
            <a:r>
              <a:t/>
            </a:r>
          </a:p>
          <a:p>
            <a:r>
              <a:t>И свойство этой шкалы, которое встретится ещё не раз: веса в ней назначены людьми и опубликованы. Обученная модель на том же месте выдаёт тот же выход — категорию или приоритет — и весов своих не предъявляет. Сравнение с ней становится возможным только по результату.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Порог вмешательства — это документ. Возраст, с которого зовут. Интервал между приглашениями. Критерий, по которому человека отзывают на дообследование. Всё это записано в документе органа здравоохранения, и записано задолго до того, как кто-нибудь измерил точность какого-нибудь прибора. Разработчик модели порога не назначает; врач у монитора порога не назначает; его назначает тот, кто решил, что хуже — пропустить или позвать лишнего. С этого и начинается разбор любого случая: пока не названа цена обеих ошибок, никакая точность не читается.</a:t>
            </a:r>
          </a:p>
          <a:p>
            <a:r>
              <a:t/>
            </a:r>
          </a:p>
          <a:p>
            <a:r>
              <a:t>Цена пропуска в этом режиме считается долей рака, найденного между двумя приглашениями: программа его не поймала, поймал симптом. Единица честная, потому что считается она на тех же людях, которых программа смотрела. Сам счёт предъявляется там, где разбирают чтение снимка: у этого числа есть вторая половина и оговорка о значимости, и без них оно читается сильнее, чем есть.</a:t>
            </a:r>
          </a:p>
          <a:p>
            <a:r>
              <a:t/>
            </a:r>
          </a:p>
          <a:p>
            <a:r>
              <a:t>Цена ложного вызова — два человека из ста обследованных вызваны повторно. За этим стоит повторный снимок, иногда биопсия и несколько недель, которые человек живёт с открытым вопросом. Последнее в отчёты не ставят, и это тоже цена — её платит не программа и не поставщик, а тот, кого позвали.</a:t>
            </a:r>
          </a:p>
          <a:p>
            <a:r>
              <a:t/>
            </a:r>
          </a:p>
          <a:p>
            <a:r>
              <a:t>База у обоих чисел одна, и называть её надо вместе с ними: контрольная группа шведской рандомизированной программы скрининга, пятьдесят две тысячи восемьсот семьдесят две женщины, двойное чтение без всякой модели, наблюдение два года. Распределение по группам случайное, исходы написаны заранее — это высший разряд свидетельства из тех, что встретятся в этой лекции, и именно поэтому контрольная группа годится как точка отсчёта для всего остального.</a:t>
            </a:r>
          </a:p>
          <a:p>
            <a:r>
              <a:t/>
            </a:r>
          </a:p>
          <a:p>
            <a:r>
              <a:t>Главное, что стоит унести: обе цены назначены в этом режиме до всякой модели и без всякой модели. Когда дальше кто-то скажет «система снижает число пропусков на столько-то процентов», первый вопрос будет не про проценты, а про то, какую из двух цен эта система должна была уменьшать и кто это решил.</a:t>
            </a:r>
          </a:p>
          <a:p>
            <a:r>
              <a:t/>
            </a:r>
          </a:p>
          <a:p>
            <a:r>
              <a:t>**Источники.** </a:t>
            </a:r>
            <a:r>
              <a:rPr u="sng">
                <a:solidFill>
                  <a:srgbClr val="065A82"/>
                </a:solidFill>
                <a:hlinkClick r:id="rId3"/>
              </a:rPr>
              <a:t>MASAI, анализ безопасности, Lancet Oncology 2023</a:t>
            </a:r>
            <a:r>
              <a:t> · </a:t>
            </a:r>
            <a:r>
              <a:rPr u="sng">
                <a:solidFill>
                  <a:srgbClr val="065A82"/>
                </a:solidFill>
                <a:hlinkClick r:id="rId4"/>
              </a:rPr>
              <a:t>MASAI, итоговый анализ, The Lancet 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классический режим — не делать ничего и ждать, пока человек придёт сам. Считать его труднее первого, потому что нулём он не работает: тот, кого не позвали, всё равно однажды придёт — позже и с другой стадией. Значит сравнивать надо не «нашли или не нашли», а когда нашли.</a:t>
            </a:r>
          </a:p>
          <a:p>
            <a:r>
              <a:t/>
            </a:r>
          </a:p>
          <a:p>
            <a:r>
              <a:t>Единственный момент, когда этот режим измеряли случайным распределением, — время, когда скрининг только вводили. Мальмёское испытание набирало участниц с середины семидесятых по середину восьмидесятых и распределяло приглашение случайно: две группы отличались ровно тем, позвали человека или нет. Доля стадии II и выше среди найденных случаев составила девяносто один случай из ста пятидесяти девяти в группе без приглашения — пятьдесят семь из ста — против шестидесяти двух из ста шестидесяти в приглашённой, то есть тридцати девяти из ста.</a:t>
            </a:r>
          </a:p>
          <a:p>
            <a:r>
              <a:t/>
            </a:r>
          </a:p>
          <a:p>
            <a:r>
              <a:t>Единица выбрана не случайно. Доля поздних стадий среди найденных не зависит от того, сколько случаев нашли, — только от того, когда их нашли. Поэтому она годится для сравнения двух порядков работы, тогда как «сколько нашли» сравнивало бы заодно и охват, и мощность программы, и численность групп.</a:t>
            </a:r>
          </a:p>
          <a:p>
            <a:r>
              <a:t/>
            </a:r>
          </a:p>
          <a:p>
            <a:r>
              <a:t>Оговорка, без которой это число нельзя употреблять. Испытание шло почти полвека назад: другой прибор, другое лечение, другая эпоха. Это измерение режима, а не свойств аппаратуры, и переносить его на сегодняшнюю технику нельзя. Складывать его с числами шведской программы тоже нельзя: две разные программы и две разные эпохи, и вместе они дают только одно — две стороны цены, назначенные до всякой модели. Сегодня такое сравнение не поставить вовсе, потому что программу не отменяют ради замера. Воспроизведение: по направлению эффекта — многократно, разными программами разных стран; по величине — нет, и от эпохи величина зависит сильно.</a:t>
            </a:r>
          </a:p>
          <a:p>
            <a:r>
              <a:t/>
            </a:r>
          </a:p>
          <a:p>
            <a:r>
              <a:t>Отсюда и общее правило, которое дальше будет работать молча: когда поставщик сравнивает свою систему «с тем, как было раньше», надо спрашивать, какое именно «раньше» он посчитал — и в каких единицах.</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Шведская программа поставила испытание со случайным распределением: одно плечо читало снимки по-прежнему — двое людей с арбитражем на расхождении, — во втором модель сортировала поток по предсказанному риску, и человек читал отобранное. Исходы написаны заранее.</a:t>
            </a:r>
          </a:p>
          <a:p>
            <a:r>
              <a:t/>
            </a:r>
          </a:p>
          <a:p>
            <a:r>
              <a:t>Публикаций у программы две, и выборки у них разные: промежуточный анализ безопасности на восьмидесяти тысячах распределённых женщин и итоговый на ста шести тысячах. Числа из них в один список складывать нельзя: объём человеческого чтения принадлежит промежуточному анализу, а чувствительность 80,5 против 73,8 — итоговому, и специфичность там одинакова в обоих плечах. Поставленное под чужую выборку число становится другим утверждением.</a:t>
            </a:r>
          </a:p>
          <a:p>
            <a:r>
              <a:t/>
            </a:r>
          </a:p>
          <a:p>
            <a:r>
              <a:t>Ответ этого разбора на вопрос раздела: большинство обследованных второго независимого человека больше не получает. Двойное чтение как механизм несовпадения ошибок заменено одним человеческим чтением поверх модели плюс арбитраж — и цена лежит здесь, в устройстве процедуры, а не в точности прибора.</a:t>
            </a:r>
          </a:p>
          <a:p>
            <a:r>
              <a:t/>
            </a:r>
          </a:p>
          <a:p>
            <a:r>
              <a:t>Германская программа стоит для контраста, и разряд её ниже шведского: это наблюдательное внедрение, применять модель каждый радиолог решал сам, распределения по группам не было. Поэтому направление подтверждено, а величину приписывать модели нельзя. Устройство работы опубликовано — двойное чтение с поддержкой модели против обычного двойного чтения, то есть второго читателя в Германии не заменяли. Отсюда вывод, которого одно внедрение дать не может: фраза «внедрили модель в скрининг» означает две разные процедуры, и вопрос «выросло ли выявление» ни о чём не говорит, пока не назван порядок работы, внутри которого оно выросло.</a:t>
            </a:r>
          </a:p>
          <a:p>
            <a:r>
              <a:t/>
            </a:r>
          </a:p>
          <a:p>
            <a:r>
              <a:t>А вот где охват сообщают, а устройство работы — нет: отечественная платформа лучевой диагностики. Больше шестнадцати миллионов исследований в семидесяти пяти регионах, методика подсчёта не раскрыта; сколько всего лучевых исследований делается в стране за год, не опубликовано — значит доля охвата не вычисляется. Независимого протокола сравнения с врачом без модели в открытом доступе нет. Это утверждение об одном источнике, и на скрининговые программы оно не распространяется.</a:t>
            </a:r>
          </a:p>
          <a:p>
            <a:r>
              <a:t/>
            </a:r>
          </a:p>
          <a:p>
            <a:r>
              <a:t>**Источники.** </a:t>
            </a:r>
            <a:r>
              <a:rPr u="sng">
                <a:solidFill>
                  <a:srgbClr val="065A82"/>
                </a:solidFill>
                <a:hlinkClick r:id="rId3"/>
              </a:rPr>
              <a:t>MASAI, анализ безопасности, Lancet Oncology 2023</a:t>
            </a:r>
            <a:r>
              <a:t> · </a:t>
            </a:r>
            <a:r>
              <a:rPr u="sng">
                <a:solidFill>
                  <a:srgbClr val="065A82"/>
                </a:solidFill>
                <a:hlinkClick r:id="rId4"/>
              </a:rPr>
              <a:t>MASAI, итоговый анализ, The Lancet 2026</a:t>
            </a:r>
            <a:r>
              <a:t> · </a:t>
            </a:r>
            <a:r>
              <a:rPr u="sng">
                <a:solidFill>
                  <a:srgbClr val="065A82"/>
                </a:solidFill>
                <a:hlinkClick r:id="rId5"/>
              </a:rPr>
              <a:t>Eisemann и соавт., PRAIM, Nature Medicine 2025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в сортировке обращений считается так. Пропустить того, кому помощь нужна сейчас, — цена в исходе. Занять приём тем, кому он не нужен, — цена во времени врача и в чьём-то отложенном визите. И третья цена, которую обычно не считают вовсе: сортировка стоит денег тому, кто её содержит, и устройство оплаты решает, выживет ли она.</a:t>
            </a:r>
          </a:p>
          <a:p>
            <a:r>
              <a:t/>
            </a:r>
          </a:p>
          <a:p>
            <a:r>
              <a:t>Что предъявили. В июне 2018 года публично заявили, что приложение набрало восемьдесят один процент против семидесяти двух на экзаменационных вопросах для начинающих врачей — против среднего результата живых врачей. Коллегия врачей общей практики публично назвала эти заявления сомнительными.</a:t>
            </a:r>
          </a:p>
          <a:p>
            <a:r>
              <a:t/>
            </a:r>
          </a:p>
          <a:p>
            <a:r>
              <a:t>Почему эта метрика не читается как основание. Вопрос экзамена приходит сформулированным и содержит нужные признаки. Живое обращение приходит без формулировки: человек говорит «мне плохо», а «загрудинная боль с иррадиацией в левую руку» он не произносит. Экзаменационная метрика измеряет работу с готовой формулировкой — ровно ту часть задачи, которой в открытом потоке нет. И правильное сравнение существовало: за год до демонстрации независимое сопоставление трёх приложений на тех же задачах поставило его на последнее место — типовые болезни он распознавал хуже всех. Сравнение было, и его прошли мимо.</a:t>
            </a:r>
          </a:p>
          <a:p>
            <a:r>
              <a:t/>
            </a:r>
          </a:p>
          <a:p>
            <a:r>
              <a:t>Проверка «уберите модель, продолжит ли работать остальное». По публичному заявлению бывшего руководителя регуляторных вопросов компании, внутри «алгоритма» было дерево решений «если — то», собранное в таблице; он же документировал проблемы распознавания для надзорных органов с 2017 года. Сила этого свидетельства называется прямо: слова участника, не аудит. Выдать их за установленный факт значило бы сделать то, за что случай и разбирают.</a:t>
            </a:r>
          </a:p>
          <a:p>
            <a:r>
              <a:t/>
            </a:r>
          </a:p>
          <a:p>
            <a:r>
              <a:t>Случай всё равно взят, и провал условия — его содержание. Измерена здесь не точность дерева решений, а цена заявления о модели: копаешь — а там не модель. Урок остаётся проверяемым критерием: демонстрационная метрика не служит основанием для допуска в открытый поток, и спрашивать надо, на каком материале она получена и какой части живой задачи в нём нет.</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Классический режим здесь посчитан в деньгах, и счёт простой. Практика получает от национальной службы около ста пятидесяти пяти фунтов на зарегистрированного человека в год, и эта сумма не зависит от числа обращений. Классическая частота обращений — четыре раза в год у людей от двадцати пяти до сорока четырёх и три с четвертью у людей от пятнадцати до двадцати четырёх. База выбрана эта, а не среднее по стране: больше восьмидесяти процентов списка сервиса были младше сорока, и среднее разницу бы занизило.</a:t>
            </a:r>
          </a:p>
          <a:p>
            <a:r>
              <a:t/>
            </a:r>
          </a:p>
          <a:p>
            <a:r>
              <a:t>В сервисе обращений стало четыре и три десятых на человека в год. Это оценка независимого отчёта по двенадцати месяцам данных, причём личные обращения посчитаны по единственному месяцу, который дали посчитать. Оговорка обязательна — это оценка с продолжением тренда, и отчёт сам это пишет.</a:t>
            </a:r>
          </a:p>
          <a:p>
            <a:r>
              <a:t/>
            </a:r>
          </a:p>
          <a:p>
            <a:r>
              <a:t>Дальше арифметика проводится делением, и в ней вся соль. Сверху — фиксированная сумма за человека в год. Снизу — выросшее число обращений. Каждое следующее обращение бесплатно для пациента и оплачивается тем же платежом, поделённым на большее число обращений. Нагрузка переехала с сортировки на приём, и платить за это стало некому. Двигатель переезда стоит назвать отдельно: доступность канала, а не качество модели. Вход стал мгновенным и бесплатным, и обращений стало больше; плохо ли сортировало дерево решений, данных нет.</a:t>
            </a:r>
          </a:p>
          <a:p>
            <a:r>
              <a:t/>
            </a:r>
          </a:p>
          <a:p>
            <a:r>
              <a:t>Что получили и чего это потребовало. Получили круглосуточную сортировку и низкий порог обращения. Потребовало: экономику в минус на каждом пациенте, более десяти миллионов фунтов дополнительных расходов заказчика услуги за год при списке около сорока девяти тысяч человек и задокументированный случай, когда симптомы, похожие на инфаркт, не были распознаны. В сумме: оценка на выходе через слияние — четыре с лишним миллиарда долларов, банкротство в августе 2023 года, активы проданы за пятьсот тысяч фунтов — в части сообщений та же сумма названа как 620 тысяч долларов.</a:t>
            </a:r>
          </a:p>
          <a:p>
            <a:r>
              <a:t/>
            </a:r>
          </a:p>
          <a:p>
            <a:r>
              <a:t>Чего эти числа не доказывают: был ли рост обращений непокрытой потребностью или спросом, созданным самим предложением. Отчёт честно говорит, что не знает, и удобного чтения выбирать не стоит.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называется здесь до всякой точности. Пропустить поражение глазного дна у человека с диабетом — значит дойти до потери зрения: до поздних стадий оно бессимптомно, человек ничего не чувствует и потому не приходит. Лишнее направление стоит визита к специалисту, которого в районе может не быть. И третья величина, решающая всё: теряют на неявке. Тест, до которого человек не дошёл, имеет нулевую чувствительность, какой бы она ни была в лаборатории.</a:t>
            </a:r>
          </a:p>
          <a:p>
            <a:r>
              <a:t/>
            </a:r>
          </a:p>
          <a:p>
            <a:r>
              <a:t>Оба классических режима посчитаны в одной единице — в явке. Первый: раз в год человек с диабетом идёт к офтальмологу, тот сам снимает и читает; до теста доходят двадцать два человека из ста. Отдельный визит к отдельному специалисту в отдельный день, часто в другом городе, притом что человек ничего не чувствует, — режим теряет людей по дороге. Второй режим называть неприятно, и распространён он шире: не обследовать вовсе. Явка у него ноль, и получена она определением, а не измерением. Так устроено наблюдение там, где офтальмолога в районе нет.</a:t>
            </a:r>
          </a:p>
          <a:p>
            <a:r>
              <a:t/>
            </a:r>
          </a:p>
          <a:p>
            <a:r>
              <a:t>Модель против этих режимов. Снимок делает медсестра или техник первичного звена, решение «направить или нет» выдаётся на месте меньше чем за минуту, без офтальмолога — доходят сто из ста. База: испытание со случайным распределением, подростки от восьми до двадцати одного года с диабетом, восемьдесят один человек против восьмидесяти трёх, один прибор. Чувствительность прибора здесь не произносится: распространённости поражения в этих выборках в источниках нет, а точность без группы и распространённости не читается.</a:t>
            </a:r>
          </a:p>
          <a:p>
            <a:r>
              <a:t/>
            </a:r>
          </a:p>
          <a:p>
            <a:r>
              <a:t>Второй шаг того же пути посчитан внутри того же испытания: из двадцати пяти человек, у кого результат оказался отклонением, до офтальмолога дошли шестнадцать — шестьдесят четыре из ста против двадцати двух в контроле. Критерий, который разбор оставляет: автономия переносит ответственность, но не отменяет работу — перекладывает её на другой шаг и другого человека. Если этот шаг не посчитали, внедрение считается дешевле, чем есть.</a:t>
            </a:r>
          </a:p>
          <a:p>
            <a:r>
              <a:t/>
            </a:r>
          </a:p>
          <a:p>
            <a:r>
              <a:t>**Источники.** </a:t>
            </a:r>
            <a:r>
              <a:rPr u="sng">
                <a:solidFill>
                  <a:srgbClr val="065A82"/>
                </a:solidFill>
                <a:hlinkClick r:id="rId3"/>
              </a:rPr>
              <a:t>Wolf и соавт., Nature Communications 2024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Ведущая форма изменения здесь — сменился исполнитель. Решение «направить или нет» перешло от офтальмолога к допущенному регулятором устройству целиком, и вместе с решением сместилась ответственность за пропуск: прежде она лежала на решении врача, теперь — на изделии. Это единственный случай всей лекции, где исполнитель сменился по документу: первое разрешение на автономную диагностику без интерпретации врачом выдано в 2018 году. Производная форма — появился шаг, которого не было: добиться годного снимка. У офтальмолога такой операции не существовало, потому что условия съёмки он компенсировал сам, на месте.</a:t>
            </a:r>
          </a:p>
          <a:p>
            <a:r>
              <a:t/>
            </a:r>
          </a:p>
          <a:p>
            <a:r>
              <a:t>Сколько стоит этот новый шаг, измерено — но на другом материале, и это надо называть вслух. На зрелом потоке у прибора другого производителя и у взрослых пациентов пять процентов снимков негодны по качеству: счёт идёт на сто одну тысячу визитов в четырёхстах с лишним клиниках, и семьдесят пять с лишним процентов потока специалист не видит вовсе. С явкой двадцать два против ста эти числа в одну бухгалтерию не складываются: две разные программы, два разных прибора, две разные возрастные группы. Сложить их в одну пару «дало — потребовало» означало бы ровно ту склейку выборок, которую эта лекция разбирает.</a:t>
            </a:r>
          </a:p>
          <a:p>
            <a:r>
              <a:t/>
            </a:r>
          </a:p>
          <a:p>
            <a:r>
              <a:t>Что стало с офтальмологом. Он видит примерно пятую часть потока, и это та часть, которую отобрала модель. Прежде именно специалист решал, что нормально; теперь нормальное к нему не приходит — и проверить, что оно действительно было нормальным, он не может. Это и есть переезд, названный точно: работа не исчезла, она перешла к другому исполнителю, а вместе с ней перешла и возможность её проверить.</a:t>
            </a:r>
          </a:p>
          <a:p>
            <a:r>
              <a:t/>
            </a:r>
          </a:p>
          <a:p>
            <a:r>
              <a:t>Чем этот случай отличается от шведского скрининга, где тоже «внедрили модель»: там модель распределяла снимки, а заключение оставалось за человеком — сменился порядок работы. Здесь заключение выдаёт устройство — сменился исполнитель. Одними словами эти два внедрения описывать нельзя, хотя описывают.</a:t>
            </a:r>
          </a:p>
          <a:p>
            <a:r>
              <a:t/>
            </a:r>
          </a:p>
          <a:p>
            <a:r>
              <a:t>**Источники.** </a:t>
            </a:r>
            <a:r>
              <a:rPr u="sng">
                <a:solidFill>
                  <a:srgbClr val="065A82"/>
                </a:solidFill>
                <a:hlinkClick r:id="rId3"/>
              </a:rPr>
              <a:t>решение регулятора США DEN180001, 2018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четырём вопросам, которые будут задаваться на каждой. Числа стоят на разборах, откуда эти обобщения взяты.</a:t>
            </a:r>
          </a:p>
          <a:p>
            <a:r>
              <a:t/>
            </a:r>
          </a:p>
          <a:p>
            <a:r>
              <a:t>Что получается. Выигрыш в обоих разборах измерен доступом — тем, сколько людей дошло до обследования и сколько снимков прочёл второй человек. Берут его двумя способами: снимают объём человеческого чтения там, где процедура уже плотная, и дотягиваются до тех, кто иначе не придёт. Второй способ в этом разделе сильнее, и причина простая: тест, до которого человек не дошёл, имеет нулевую чувствительность. Точности модель здесь не прибавила ни в одном разборе.</a:t>
            </a:r>
          </a:p>
          <a:p>
            <a:r>
              <a:t/>
            </a:r>
          </a:p>
          <a:p>
            <a:r>
              <a:t>Что не получается. Три границы, и ни одна не про качество модели. Порог модель не назначает: что хуже — пропустить или позвать лишнего — решает тот, кто это подписывает. В открытом потоке обращений выигрыша не дал ни один разбор, а единственная состоявшаяся попытка кончилась банкротством. И за годность снимка автономное чтение не отвечает: добывать её приходится человеку без профильной подготовки.</a:t>
            </a:r>
          </a:p>
          <a:p>
            <a:r>
              <a:t/>
            </a:r>
          </a:p>
          <a:p>
            <a:r>
              <a:t>Что стало с работой. Две формы, названные по словарю. На сервисе первой линии нагрузка переехала на другой шаг — с сортировки на приём, — и платить за переехавшую нагрузку оказалось некому. На автономном скрининге глазного дна сменился исполнитель: решение целиком перешло к допущенному устройству, и производной формой появился шаг, которого не было. Третье следствие не форма, а свойство процедуры: второго независимого человека большинство обследованных больше не получает.</a:t>
            </a:r>
          </a:p>
          <a:p>
            <a:r>
              <a:t/>
            </a:r>
          </a:p>
          <a:p>
            <a:r>
              <a:t>Что это держит. Порог вмешательства, записанный документом задолго до всякого прибора. Двойное чтение и арбитраж при расхождении — там, где второго читателя не заменили. И честный прочерк: процедуры, которая проверяла бы отсеянное фильтром, нет. Ответ на вопрос «кто разбирает то, что он отфильтровал» чаще всего «никто», и это не упущение одной организации, а пустое место в самом порядке работы.</a:t>
            </a:r>
          </a:p>
          <a:p>
            <a:r>
              <a:t/>
            </a:r>
          </a:p>
          <a:p>
            <a:r>
              <a:t>Что уходит дальше. Поток, отобранный моделью, приходит на следующий шаг уже смещённым, и обнаруживает ошибку отбора только следующий виток — другой человек в другой день.</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Карта раздела — та же сетка, которой курс называет каждый встреченный инструмент: по строкам тип задачи, по столбцам вид данных. Собирается она ради одного вопроса, который инженер задаёт поставщику до всякой демонстрации: какую задачу ваша система решает и на каких данных. Пока на этот вопрос нет короткого ответа, разговор о пригодности инструмента ещё не начался.</a:t>
            </a:r>
          </a:p>
          <a:p>
            <a:r>
              <a:t/>
            </a:r>
          </a:p>
          <a:p>
            <a:r>
              <a:t>Занято в разделе три клетки из двенадцати показанных, и стоит пройти по каждой.</a:t>
            </a:r>
          </a:p>
          <a:p>
            <a:r>
              <a:t/>
            </a:r>
          </a:p>
          <a:p>
            <a:r>
              <a:t>Классификация на изображении — автономное чтение глазного дна. На входе снимок сетчатки, на выходе метка из конечного набора: направить или нет. Ничего, кроме метки, устройство не выдаёт, и в этом вся задача.</a:t>
            </a:r>
          </a:p>
          <a:p>
            <a:r>
              <a:t/>
            </a:r>
          </a:p>
          <a:p>
            <a:r>
              <a:t>Распознавание на изображении — сортировка потока по предсказанному риску. Система находит на снимке подозрительные места и расставляет исследования по очереди; читает отобранное человек. Выход здесь — разметка и порядок исследований, и поэтому клетка другая.</a:t>
            </a:r>
          </a:p>
          <a:p>
            <a:r>
              <a:t/>
            </a:r>
          </a:p>
          <a:p>
            <a:r>
              <a:t>Поиск с генерацией на тексте — чат-бот первой линии. Человек описывает жалобу свободным текстом, система ищет подходящее и отвечает словами. Клетка занята неудачей, и помнить надо обе половины: сама клетка рабочая — запись приёма под диктовку в ней живёт и сегодня, — а сортировка живого обращения в открытом потоке в ней не получилась.</a:t>
            </a:r>
          </a:p>
          <a:p>
            <a:r>
              <a:t/>
            </a:r>
          </a:p>
          <a:p>
            <a:r>
              <a:t>Теперь прочерки, ради которых карта и собирается. Прогноза в разделе нет ни одного, и это не пробел подбора. Кого звать на обследование и с каким интервалом — назначено документом: за порогом стоит решение о том, что хуже — пропустить или позвать лишнего, — и подпись под этим решением. Предсказывать тут нечего: величину назначают. Поставщик, который приносит на эту стадию прогнозную модель, предлагает инструмент не для этой работы, и видно это по карте за несколько секунд, до разбора его цифр.</a:t>
            </a:r>
          </a:p>
          <a:p>
            <a:r>
              <a:t/>
            </a:r>
          </a:p>
          <a:p>
            <a:r>
              <a:t>Классификации и распознавания на тексте в разделе нет. Поиска с генерацией на изображении и на структурированных данных нет. Девять клеток из двенадцати пусты, и пустая клетка говорит ровно столько же, сколько занятая: инструмент такого класса здесь искать незачем, и время, которое ушло бы на поиск, карта экономит заранее.</a:t>
            </a:r>
          </a:p>
          <a:p>
            <a:r>
              <a:t/>
            </a:r>
          </a:p>
          <a:p>
            <a:r>
              <a:t>Третье читается прямо с таблицы. Ни одна из трёх занятых клеток не про лечение: модель на этой стадии решает, кого посмотрят; что с человеком делать, решают дальше по пути. Отсюда и мера выигрыша, которая вышла в разделе, — доступ. Точности модель здесь не прибавила.</a:t>
            </a:r>
          </a:p>
          <a:p>
            <a:r>
              <a:t/>
            </a:r>
          </a:p>
          <a:p>
            <a:r>
              <a:t>Клетки накопительные. Полужирным набрано то, что занял этот раздел; дальше к ним добавятся клетки следующих разделов, и к концу станет видно, сколько клеток занято всего и какие остались пустыми до последней минуты. Складывать между собой числа разных клеток нельзя: у каждой своя выборка, своя программа и своя оговорка. Складывается только одно — перечень мест, где обученная модель на этом пути вообще встала.</a:t>
            </a:r>
          </a:p>
          <a:p>
            <a:r>
              <a:t/>
            </a:r>
          </a:p>
          <a:p>
            <a:r>
              <a:t>Что из этого следует для работы инженера. Встретив инструмент, положите его в сетку прежде всего остального: что он выдаёт на выходе и с какими данными работает. Это две минуты разговора, и после них видно, с каким классическим способом его сравнивать и у кого спрашивать цифры. Инструмент, который в клетку не укладывается, — повод задать поставщику тот же вопрос ещё раз, другими словами. А успех, показанный в одной клетке и проданный для другой, карта ловит раньше, чем начинается спор о процентах.</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стоит вторым по месту в работе. В первом решали, кого вообще посмотреть; здесь человек уже в поле зрения, его измерили — и заключение по измеренному выносит система. Границу с третьим разделом проводит подпись: там она остаётся за человеком, здесь её ставит машина. Ни модальность данных, ни сложность алгоритма эту границу не задают.</a:t>
            </a:r>
          </a:p>
          <a:p>
            <a:r>
              <a:t/>
            </a:r>
          </a:p>
          <a:p>
            <a:r>
              <a:t>Раздел держится на одной мысли, которую трудно удержать при чтении рекламных материалов. Любая доля — чувствительность, специфичность, точность — посчитана на конкретной группе людей, и при переносе на другую группу она перестаёт означать то же самое. Поэтому раздел начинается с того, из чего сделана работа стадии: кто назначает рабочую точку, кто решает, годно ли измерение, и кто пересчитывает долю под свою распространённость. Внедрения идут после.</a:t>
            </a:r>
          </a:p>
          <a:p>
            <a:r>
              <a:t/>
            </a:r>
          </a:p>
          <a:p>
            <a:r>
              <a:t>Три разбора берут три разных места, где можно провалиться, не ошибившись в чтении. «Таиланд» — провал развёртывания: автономное чтение снимков глазного дна в одиннадцати клиниках отклоняет по качеству каждый пятый снимок, и причины обе про место съёмки, а не про модель. «Кожа и состав набора» — провал обучающего набора: на биопсийно подтверждённых изображениях три модели теряют на тёмных тонах кожи от девяти до пятнадцати пунктов площади под кривой. «Расходы вместо болезни» — провал определения цели: целевой переменной взяты будущие расходы на лечение, а решение принималось о болезни.</a:t>
            </a:r>
          </a:p>
          <a:p>
            <a:r>
              <a:t/>
            </a:r>
          </a:p>
          <a:p>
            <a:r>
              <a:t>Названия произносятся здесь затем, чтобы потом узнавать слайд по уже сказанному имени: каждый из трёх выйдет на экран ровно под этим заголовком. Номер «Пример N» носят только эти три: у каждого названа цена обеих ошибок, посчитаны классические режимы и названо, что переехало в работе. Остальное в разделе называется своими именами и номера не получает. Отдельным кадром стоит классический режим контроля годности — работа техника, которая делается без всякой модели и которую первый разбор потом застаёт изменившейся. Два упоминания идут с числом и разборами не становятся: систематический обзор работ по снимкам при ковидной пневмонии на кадре заземления и смещение прибора насыщения крови на своде раздела.</a:t>
            </a:r>
          </a:p>
          <a:p>
            <a:r>
              <a:t/>
            </a:r>
          </a:p>
          <a:p>
            <a:r>
              <a:t>Снимок рядом — настоящее рабочее место, где снимают данные. Разговор про доли начинается отсюда: сначала кто-то ставит человека к прибору.</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модели. На слайде шесть действий названы одной строкой, здесь — каждое.</a:t>
            </a:r>
          </a:p>
          <a:p>
            <a:r>
              <a:t/>
            </a:r>
          </a:p>
          <a:p>
            <a:r>
              <a:t>Назначить рабочую точку. Порог, за которым система или лаборатория объявляет «болен», выбирает протокол под цену обеих ошибок — ту самую, что назначена до всякой точности. Вкус разработчика в этом выборе не участвует, и сделан выбор раньше, чем разработчик к задаче подошёл.</a:t>
            </a:r>
          </a:p>
          <a:p>
            <a:r>
              <a:t/>
            </a:r>
          </a:p>
          <a:p>
            <a:r>
              <a:t>Снять измерение. Это отдельная квалификация, отдельное рабочее место и отдельная очередь: лаборант, техник, медсестра у прибора.</a:t>
            </a:r>
          </a:p>
          <a:p>
            <a:r>
              <a:t/>
            </a:r>
          </a:p>
          <a:p>
            <a:r>
              <a:t>Решить, годно ли измерение. Техник смотрит на экран и решает: читать или переснимать. Правило записано в инструкции кабинета — положение пациента, захват объёма, артефакты, видимость того, что должно быть видно. В самом приборе этого правила нет вовсе.</a:t>
            </a:r>
          </a:p>
          <a:p>
            <a:r>
              <a:t/>
            </a:r>
          </a:p>
          <a:p>
            <a:r>
              <a:t>Прочесть и назвать две доли. Чувствительность берёт только больных, специфичность только здоровых. Инженеру они знакомы под другими именами — полнота по положительному классу и по отрицательному; медицинские взяты затем, что в клинических публикациях стоят именно они. Общая точность ни одну не заменяет: на редком событии она измеряет распространённость, а не работу системы.</a:t>
            </a:r>
          </a:p>
          <a:p>
            <a:r>
              <a:t/>
            </a:r>
          </a:p>
          <a:p>
            <a:r>
              <a:t>Пересчитать под свою распространённость. Доли меняются только вместе, и названы они всегда парой и всегда для одной рабочей точки. Долю верных тревог считает тот, кто применяет, — и считает заново для своей группы.</a:t>
            </a:r>
          </a:p>
          <a:p>
            <a:r>
              <a:t/>
            </a:r>
          </a:p>
          <a:p>
            <a:r>
              <a:t>Сообщить результат тому, кто решает. Врач на приёме видит долю верных тревог среди пришедших к нему тревог; чувствительности он не видит вовсе.</a:t>
            </a:r>
          </a:p>
          <a:p>
            <a:r>
              <a:t/>
            </a:r>
          </a:p>
          <a:p>
            <a:r>
              <a:t>И то же поле с моделью, названное до разборов. Из шести действий обученная модель заняла два: чтение измерения целиком, без специалиста, и сообщение результата — где вместо величины на стол приходит один балл и отбор по порогу. Рабочую точку она не назначает, переснять не умеет, годность входа остаётся человеку без профильной подготовки, а пересчёт под свою распространённость делает тот, кто применяет. Один шаг она добавляет — повторный визит тем, чьё измерение не прошло по качеству. Выигрыш же её здесь в постоянстве: десятитысячный кадр читается так же, как первый.</a:t>
            </a:r>
          </a:p>
          <a:p>
            <a:r>
              <a:t/>
            </a:r>
          </a:p>
          <a:p>
            <a:r>
              <a:t>Систематический обзор работ по ковидной пневмонии отобрал из двух тысяч двухсот двенадцати публикаций шестьдесят две и не нашёл среди них ни одной, пригодной для клиники. Доли считали все; группу, на которой они посчитаны, почти никто. Оговорка обязательна: это вывод о качестве исследовательских работ, про внедрённые системы он не говорит ничего.</a:t>
            </a:r>
          </a:p>
          <a:p>
            <a:r>
              <a:t/>
            </a:r>
          </a:p>
          <a:p>
            <a:r>
              <a:t>**Источники.** </a:t>
            </a:r>
            <a:r>
              <a:rPr u="sng">
                <a:solidFill>
                  <a:srgbClr val="065A82"/>
                </a:solidFill>
                <a:hlinkClick r:id="rId3"/>
              </a:rPr>
              <a:t>Roberts и соавт., Nature Machine Intelligence 2021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Счёт здесь короткий, и группа его сделает быстрее, чем я проговорю. Возьмём одну систему с одной рабочей точкой: она ловит 94 больных из ста и напрасно пугает 11 здоровых из ста. Эти два числа — иллюстрация методики, взятая из опубликованной рабочей точки модели чтения снимков грудной клетки; характеристикой конкретного изделия они не служат, и ни одно решение о закупке на них опирать нельзя.</a:t>
            </a:r>
          </a:p>
          <a:p>
            <a:r>
              <a:t/>
            </a:r>
          </a:p>
          <a:p>
            <a:r>
              <a:t>Применим её в двух группах, которые отличаются ровно одним — долей больных среди обследованных.</a:t>
            </a:r>
          </a:p>
          <a:p>
            <a:r>
              <a:t/>
            </a:r>
          </a:p>
          <a:p>
            <a:r>
              <a:t>Поголовный поток: десять тысяч человек подряд, болезнь у одного из ста, то есть у 100 из 10 000. Верных тревог 94, ложных 1 089, всего 1 183. Профильное отделение: те же десять тысяч, но сюда людей уже отобрали по жалобе или направлению, болезнь у тридцати из ста. Верных 2 820, ложных 770, всего 3 590.</a:t>
            </a:r>
          </a:p>
          <a:p>
            <a:r>
              <a:t/>
            </a:r>
          </a:p>
          <a:p>
            <a:r>
              <a:t>Теперь то, ради чего счёт и ведётся. Врач на приёме чувствительности не видит вовсе — он видит, какая доля пришедших к нему тревог оказалась болезнью. В первом случае это 94 из 1 183, то есть 8 из ста. Во втором 2 820 из 3 590, то есть 79 из ста. Разница почти десятикратная, и внутри системы при этом не изменилась ни одна строка: менялась только группа, а долю больных в ней назначил тот, кто решил, кого звать на обследование, — не разработчик. Это решение об отборе, принятое за всех ещё до того, как кто-нибудь посмотрел на точность.</a:t>
            </a:r>
          </a:p>
          <a:p>
            <a:r>
              <a:t/>
            </a:r>
          </a:p>
          <a:p>
            <a:r>
              <a:t>Это точность по положительному классу, и у неё два имени, потому что в двух профессиях она называется по-разному. Инженеру она знакома как точность по положительному классу. В клинических работах она стоит под именем прогностической ценности положительного результата, и зависит она от распространённости, то есть от доли больных в обследованной группе. Распространённость свойством прибора не служит: её меняет тот, кто решил, кого обследовать.</a:t>
            </a:r>
          </a:p>
          <a:p>
            <a:r>
              <a:t/>
            </a:r>
          </a:p>
          <a:p>
            <a:r>
              <a:t>Что это значит для врача. Объяснять пациенту одну ложную тревогу из десяти и девять ложных из десяти — две разные профессии, и разговоры эти устроены по-разному. Что это значит для инженера. Перенос системы из профильного отделения в поголовное обследование меняет смысл выхода: один и тот же сигнал «болен» в первом случае почти достоверная находка, во втором — повод для дообследования, которое в девяти случаях из десяти кончится словом «норма».</a:t>
            </a:r>
          </a:p>
          <a:p>
            <a:r>
              <a:t/>
            </a:r>
          </a:p>
          <a:p>
            <a:r>
              <a:t>И отсюда три способа поднять долю верных тревог, ни один из которых не состоит в улучшении модели. Поднять порог: ложных тревог станет меньше, пропущенных больных больше, и обменный курс здесь назначает цена обеих ошибок. Изменить группу: обследовать тех, у кого болезнь встречается чаще. Поставить второй, подтверждающий тест и объявлять «болен» только по двум — именно так устроены две ступени скрининговых программ. Отсюда и правило, которое раздел выдаёт всей лекции: заявленная точность без названной группы и названной распространённости не читается.</a:t>
            </a:r>
          </a:p>
          <a:p>
            <a:r>
              <a:t/>
            </a:r>
          </a:p>
          <a:p>
            <a:r>
              <a:t>**Источники.** </a:t>
            </a:r>
            <a:r>
              <a:rPr u="sng">
                <a:solidFill>
                  <a:srgbClr val="065A82"/>
                </a:solidFill>
                <a:hlinkClick r:id="rId3"/>
              </a:rPr>
              <a:t>Rajpurkar и соавт., CheXNet 2017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называет классический режим — так же, как стадия требований в инженерной лекции предъявляет «требование, которое можно нарушить» прежде всякого инструмента. Номера «Пример N» он не носит: цены обеих ошибок в числах у него нет, счёта против модели тоже, и быть их здесь не должно. Он описывает работу, которая делается без всякой модели.</a:t>
            </a:r>
          </a:p>
          <a:p>
            <a:r>
              <a:t/>
            </a:r>
          </a:p>
          <a:p>
            <a:r>
              <a:t>Кабинет флюорографии районной поликлиники. Техник ставит пациента к аппарату, снимает, смотрит на экран и решает: годится или переснять. Решает он по тому, что видно на кадре, — положение пациента, захват объёма, наличие артефактов, видимость того, что должно быть видно. Это правило живёт в инструкции кабинета и в глазах того, кто снимал; в самом приборе его нет вовсе.</a:t>
            </a:r>
          </a:p>
          <a:p>
            <a:r>
              <a:t/>
            </a:r>
          </a:p>
          <a:p>
            <a:r>
              <a:t>Если негодный снимок уйдёт на чтение, читать будут артефакт — и читающий об этом может не узнать, потому что пациента он не видел. Диагноз поставят по тому, что видно, а не по тому, что было на самом деле. Заметить подмену, кроме техника, некому: обратная связь к нему не возвращается, и до пересмотра случая никто обычно и не узнаёт, что снимок был негодным.</a:t>
            </a:r>
          </a:p>
          <a:p>
            <a:r>
              <a:t/>
            </a:r>
          </a:p>
          <a:p>
            <a:r>
              <a:t>Отсюда общее утверждение, которое стоит произнести прежде всякого разбора: до всякого чтения кто-то решает, пригодно ли измерение, и решает это человек. Контроль годности — процедура, и свойством прибора он не становится.</a:t>
            </a:r>
          </a:p>
          <a:p>
            <a:r>
              <a:t/>
            </a:r>
          </a:p>
          <a:p>
            <a:r>
              <a:t>У этой работы есть объём, и объём этот меряется. Техник переснимает, пациент переодевается второй раз, очередь стоит. В разборе, который идёт следом, та же работа посчитана прямо: при автономном чтении снимков глазного дна в одиннадцати клиниках по качеству отклонили 393 снимка из 1 838 — то есть каждый пятый из всего потока первых полугода.</a:t>
            </a:r>
          </a:p>
          <a:p>
            <a:r>
              <a:t/>
            </a:r>
          </a:p>
          <a:p>
            <a:r>
              <a:t>И вот где сцена перестаёт быть бытовой. Пока чтение делает человек, годность остаётся внутренним делом кабинета: не понравилось — переснял. Когда чтение становится автономным и выполняется на месте, годность превращается в условие, от которого зависит результат: переснять некому, и посмотреть на заключение специалисту тоже некому. Из трёх режимов чтения — двойное чтение, арбитраж и контроль годности — раздел берёт только третий; первые два придут позже, вместе с человеком, который читает рядом с моделью.</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считается здесь в исходах и в визитах, а не в деньгах. Пропущенное поражение глазного дна у человека с диабетом — это необратимая потеря зрения: до поздних стадий оно бессимптомно, человек ничего не чувствует и сам не приходит. Ложная тревога — направление к офтальмологу, которого в районе может не быть вовсе, и очередь, в которой стоят те, кому направление нужно. Денежных оценок для этой страны в открытых источниках нет, а американские сюда не переносятся, поэтому цена названа исходом и визитом.</a:t>
            </a:r>
          </a:p>
          <a:p>
            <a:r>
              <a:t/>
            </a:r>
          </a:p>
          <a:p>
            <a:r>
              <a:t>Классический режим произносится словами и без числа: раз в год человек с диабетом идёт на приём к офтальмологу, тот сам снимает и сам читает. Своего счёта этого режима на той же тайской выборке в источнике нет, и подставлять сюда явку из другого испытания — другая страна, другая возрастная группа — значило бы склеить две выборки в одну.</a:t>
            </a:r>
          </a:p>
          <a:p>
            <a:r>
              <a:t/>
            </a:r>
          </a:p>
          <a:p>
            <a:r>
              <a:t>Модель против этого режима: автономное чтение двух снимков глазного дна прямо в кабинете первичного звена, результат меньше чем за минуту, без офтальмолога. И вот что показало поле. За первые полгода развёртывания в одиннадцати клиниках по качеству отклонён 21 снимок из ста — 393 из 1 838 сделанных. Причины названы и обе про место, а не про модель: освещение в кабинете, где снимали, и медленная связь, из-за которой снимок не успевал уйти на обработку.</a:t>
            </a:r>
          </a:p>
          <a:p>
            <a:r>
              <a:t/>
            </a:r>
          </a:p>
          <a:p>
            <a:r>
              <a:t>Два числа рядом стоять не должны, и это стоит произнести прямо: 21 из ста — доля негодных снимков, а не доля неявки. Явку мерил другой разбор, на другой выборке и в другой стране.</a:t>
            </a:r>
          </a:p>
          <a:p>
            <a:r>
              <a:t/>
            </a:r>
          </a:p>
          <a:p>
            <a:r>
              <a:t>Лабораторная точность модели-предшественника опубликована, и в этом разборе она не произносится — по тому самому правилу раздела: у неё нет ни названной группы, ни названной распространённости. Правило применяется к числу, которое разбору было бы выгодно.</a:t>
            </a:r>
          </a:p>
          <a:p>
            <a:r>
              <a:t/>
            </a:r>
          </a:p>
          <a:p>
            <a:r>
              <a:t>**Источники.** </a:t>
            </a:r>
            <a:r>
              <a:rPr u="sng">
                <a:solidFill>
                  <a:srgbClr val="065A82"/>
                </a:solidFill>
                <a:hlinkClick r:id="rId3"/>
              </a:rPr>
              <a:t>Beede и соавт., CHI 2020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Нагрузка выросла на том же месте, и это ведущее изменение в этом случае. Место и рука те же — техник первичного звена, та же камера, — а объём работы больше: у него появилась работа добиться годного снимка. У офтальмолога такой операции не было вовсе, потому что он компенсировал условия съёмки сам: подправил положение, переснял, посмотрел собственными глазами на результат.</a:t>
            </a:r>
          </a:p>
          <a:p>
            <a:r>
              <a:t/>
            </a:r>
          </a:p>
          <a:p>
            <a:r>
              <a:t>Рядом появился шаг, которого в классическом порядке не существовало: повторный визит для тех, чей снимок не прошёл. Это 21 человек из каждых ста обследованных — 393 отклонённых снимка из 1 838 за первые полгода, — и каждому из них нужно прийти второй раз.</a:t>
            </a:r>
          </a:p>
          <a:p>
            <a:r>
              <a:t/>
            </a:r>
          </a:p>
          <a:p>
            <a:r>
              <a:t>Причины отклонения наблюдение называет поимённо, и обе они про место, а не про модель: освещение в кабинете, где снимали, и медленная связь, из-за которой снимок не успевал уйти на обработку. Ни одна из двух на лабораторном наборе не видна.</a:t>
            </a:r>
          </a:p>
          <a:p>
            <a:r>
              <a:t/>
            </a:r>
          </a:p>
          <a:p>
            <a:r>
              <a:t>Пара, которой разбор закрывается. Дало: результат в кабинете первичного звена, без направления и без ожидания специалиста. Потребовало: годного снимка в условиях, под которые систему не проверяли. В сумме: на старте развёртывания результат оказался хуже лабораторного замера, и разница объясняется устройством места, а не устройством модели.</a:t>
            </a:r>
          </a:p>
          <a:p>
            <a:r>
              <a:t/>
            </a:r>
          </a:p>
          <a:p>
            <a:r>
              <a:t>Урок, который стоит унести с этого разбора целиком. Провалилось развёртывание — чтение сработало. Лабораторный набор, на котором модель проверяли, собран из снимков, прошедших отбор по качеству; в поле этот отбор делает человек, которому никто не сказал, по какому правилу он отбирает. Модель приехала готовой, место под неё — нет, и ровно это место никто не измерял до внедрения. Ни одно из двух названных изменений не про модель: оба про место.</a:t>
            </a:r>
          </a:p>
          <a:p>
            <a:r>
              <a:t/>
            </a:r>
          </a:p>
          <a:p>
            <a:r>
              <a:t>И честная оговорка о силе свидетельства. Это полевое наблюдательное исследование внедрения: одиннадцать клиник, первые полгода. Измерено однажды, прямого повторения нет — и это произносится рядом с числом, а не вместо него.</a:t>
            </a:r>
          </a:p>
          <a:p>
            <a:r>
              <a:t/>
            </a:r>
          </a:p>
          <a:p>
            <a:r>
              <a:t>**Источники.** </a:t>
            </a:r>
            <a:r>
              <a:rPr u="sng">
                <a:solidFill>
                  <a:srgbClr val="065A82"/>
                </a:solidFill>
                <a:hlinkClick r:id="rId3"/>
              </a:rPr>
              <a:t>Beede и соавт., CHI 2020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называется здесь стадией. Пропущенное злокачественное образование кожи — лечение на поздней стадии, а не на ранней; единого числа выживаемости по группам, посчитанного на одной когорте за один период, в открытых сводках нет, поэтому цена названа стадией, а не процентом. Лишняя тревога — биопсия, рубец и месяцы ожидания результата.</a:t>
            </a:r>
          </a:p>
          <a:p>
            <a:r>
              <a:t/>
            </a:r>
          </a:p>
          <a:p>
            <a:r>
              <a:t>Оба классических режима взяты из одной работы и одной методологии: метаанализ прямого сравнения показал, что осмотр невооружённым глазом находит восемьдесят шесть больных из ста при специфичности семьдесят семь, а дермоскопия у обученного специалиста — девяносто один при специфичности семьдесят четыре. Свежий обзор по той же задаче даёт для осмотра другие числа, а сводной оценки дермоскопии не даёт вовсе из-за разнородности работ; две методологии рядом не ставятся, иначе сравнение пойдёт между методиками подсчёта, а не между режимами.</a:t>
            </a:r>
          </a:p>
          <a:p>
            <a:r>
              <a:t/>
            </a:r>
          </a:p>
          <a:p>
            <a:r>
              <a:t>Модель против этих режимов. На наборе из шестисот пятидесяти шести изображений, каждое с подтверждённой биопсией, три модели дают площадь под кривой на тёмных тонах кожи на девять-пятнадцать пунктов ниже, чем на светлых. Состав набора назван поимённо: двести восемь светлых тонов, двести сорок один средних, двести семь самых тёмных. Знаменатель приличный, и говорить о «нескольких примерах» здесь нельзя.</a:t>
            </a:r>
          </a:p>
          <a:p>
            <a:r>
              <a:t/>
            </a:r>
          </a:p>
          <a:p>
            <a:r>
              <a:t>Одну ходовую цифру разбор произносить отказывается, и отказ стоит произнести вслух. Формулировка «на тёмной коже чувствительность падает на двадцать-тридцать процентов» в публикации не найдена, источник не опознаётся. Ближайшее измеренное выглядит иначе и относится к одной из трёх моделей: шестьдесят девять больных из ста на светлых тонах против двадцати трёх на тёмных. Правило раздела применяется к числу, которое разбору было бы выгодно.</a:t>
            </a:r>
          </a:p>
          <a:p>
            <a:r>
              <a:t/>
            </a:r>
          </a:p>
          <a:p>
            <a:r>
              <a:t>Единица замера названа точно: это пункты площади под кривой, мера различения больного и здорового, а не доля найденных больных. Подменять одно другим нельзя — величины разной природы, и разрыв в пунктах площади не переводится в проценты пропущенных.</a:t>
            </a:r>
          </a:p>
          <a:p>
            <a:r>
              <a:t/>
            </a:r>
          </a:p>
          <a:p>
            <a:r>
              <a:t>**Источники.** </a:t>
            </a:r>
            <a:r>
              <a:rPr u="sng">
                <a:solidFill>
                  <a:srgbClr val="065A82"/>
                </a:solidFill>
                <a:hlinkClick r:id="rId3"/>
              </a:rPr>
              <a:t>Daneshjou и соавт., Science Advances 2022</a:t>
            </a:r>
            <a:r>
              <a:t> · </a:t>
            </a:r>
            <a:r>
              <a:rPr u="sng">
                <a:solidFill>
                  <a:srgbClr val="065A82"/>
                </a:solidFill>
                <a:hlinkClick r:id="rId4"/>
              </a:rPr>
              <a:t>Vestergaard и соавт., British Journal of Dermatology 2008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 здесь одна, и она называется прямо: сместилась цена ошибки. Работа та же — посмотреть на образование и решить, показывать ли врачу, — а последствия разные для разных людей. Средняя точность по набору остаётся приличной, и отчёт о внедрении с одним числом покажет благополучие. Платит подгруппа, изображений которой в обучающем наборе было мало, и в среднюю её вклад тонет по построению: она меньшая часть набора.</a:t>
            </a:r>
          </a:p>
          <a:p>
            <a:r>
              <a:t/>
            </a:r>
          </a:p>
          <a:p>
            <a:r>
              <a:t>Исправление в этом разборе измерено, и это редкий случай — обычно про смещение говорят, не проверяя лечения. Дообучение на представительном наборе разрыв снимает и даже переворачивает. Три алгоритмических метода борьбы со смещением значимо его не уменьшили. Вывод отсюда неудобный для инженерного вкуса: чинит разрыв сбор и разметка — та часть работы, которую чаще всего отдают на сторону и считают черновой. Модель его не чинит.</a:t>
            </a:r>
          </a:p>
          <a:p>
            <a:r>
              <a:t/>
            </a:r>
          </a:p>
          <a:p>
            <a:r>
              <a:t>Пара, которой закрывается разбор. Дало: постоянную оценку кожного образования там, где дерматолога нет, — доступ, а не точность. Потребовало: набора, который повторяет состав тех, на ком система будет работать, и знания этого состава заранее. В сумме: средняя держится, цена ошибки переехала на подгруппу, и заметить это по средней нельзя.</a:t>
            </a:r>
          </a:p>
          <a:p>
            <a:r>
              <a:t/>
            </a:r>
          </a:p>
          <a:p>
            <a:r>
              <a:t>И строка, которая несёт весь разбор. Разрыв по тону кожи измерен у модели, а у классических методов не измерен вовсе: по тону кожи точность не разбивает ни метаанализ прямого сравнения, ни обзоры. Значит сказать «модель хуже человека на этой подгруппе» не с чем, и утверждать это было бы ровно тем, за что разбор и взят. Верное утверждение другое и проверяемое: у модели разрыв измерен и назван, у человека не измерен никем, и отсутствие замера — не свидетельство равенства.</a:t>
            </a:r>
          </a:p>
          <a:p>
            <a:r>
              <a:t/>
            </a:r>
          </a:p>
          <a:p>
            <a:r>
              <a:t>Отсюда рабочий вопрос к любому поставщику: на ком посчитана ваша средняя и какие подгруппы в этой средней растворились.</a:t>
            </a:r>
          </a:p>
          <a:p>
            <a:r>
              <a:t/>
            </a:r>
          </a:p>
          <a:p>
            <a:r>
              <a:t>**Источники.** </a:t>
            </a:r>
            <a:r>
              <a:rPr u="sng">
                <a:solidFill>
                  <a:srgbClr val="065A82"/>
                </a:solidFill>
                <a:hlinkClick r:id="rId3"/>
              </a:rPr>
              <a:t>Daneshjou и соавт., Science Advances 2022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Речь о программе повышенного внимания: больница выделяет ограниченное число мест для людей, за которыми нужно присматривать плотнее обычного. Цена обеих ошибок считается местами. Не попал тот, кому программа нужна, — болезнь развивается без присмотра, и узнают об этом на госпитализации. Попал тот, кому не нужна, — потрачено место и время координатора, то есть кто-то третий не попал.</a:t>
            </a:r>
          </a:p>
          <a:p>
            <a:r>
              <a:t/>
            </a:r>
          </a:p>
          <a:p>
            <a:r>
              <a:t>Оба классических режима посчитаны на одной выборке. При отборе решением лечащего врача доля рассматриваемой группы среди фактически отобранных — 19,2 из ста. При отборе одним баллом по прогнозу расходов — 17,2 из ста. Два числа близки, различаются только ярлыком режима, и потому подряд они не произносятся. Ограничение этого счёта надо назвать вслух: врач, отбиравший пациентов, уже видел балл — выше порога ему приходила подсказка. Значит посчитан отбор врачом, у которого балл под рукой; отбора, не видевшего балла, в публикации нет.</a:t>
            </a:r>
          </a:p>
          <a:p>
            <a:r>
              <a:t/>
            </a:r>
          </a:p>
          <a:p>
            <a:r>
              <a:t>Модель против этих режимов. Система считает каждому пациенту один балл, отбор идёт по порогу, а целевой переменной взяты будущие расходы на лечение. Результат: при равном балле у одной группы болезней оказалось на 26 процентов больше. То есть чтобы попасть в программу, им нужно было быть болезненнее при той же оценке риска. База: 49 618 пациентов одной академической больницы, 100 009 пациенто-лет, 2013–2015 годы.</a:t>
            </a:r>
          </a:p>
          <a:p>
            <a:r>
              <a:t/>
            </a:r>
          </a:p>
          <a:p>
            <a:r>
              <a:t>Механизм стоит разобрать медленно: выбор целевой переменной был инженерно разумным и поучителен именно поэтому. Расходы есть у всех пациентов, они числовые, не требуют разметки и действительно связаны с болезнью. Но расходы отражают обращаемость — сколько человек пользовался медициной, — а обращаемость у разных групп населения разная при одинаковом состоянии здоровья. Ошибка не в модели и не в данных по отдельности: никто не записал, что решение считает целью, и ею стало то, что было в данных.</a:t>
            </a:r>
          </a:p>
          <a:p>
            <a:r>
              <a:t/>
            </a:r>
          </a:p>
          <a:p>
            <a:r>
              <a:t>Чем это делают сегодня: счёт риска на данных плательщика и на карте, разделение населения по уровням внимания. Покупает такие системы администрация или плательщик, не врач.</a:t>
            </a:r>
          </a:p>
          <a:p>
            <a:r>
              <a:t/>
            </a:r>
          </a:p>
          <a:p>
            <a:r>
              <a:t>**Источники.** </a:t>
            </a:r>
            <a:r>
              <a:rPr u="sng">
                <a:solidFill>
                  <a:srgbClr val="065A82"/>
                </a:solidFill>
                <a:hlinkClick r:id="rId3"/>
              </a:rPr>
              <a:t>Obermeyer и соавт., Science 2019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Авторы посчитали, что было бы, если убрать разрыв в здоровье на границе отбора: доля этой группы пациентов среди отобранных поднялась бы с наблюдаемых 17,7 до 46,5 из ста. Произносить это надо условным наклонением, иначе упражнение выдаётся за внедрённое исправление. Устроен расчёт так: на границе более здорового пациента заменяют более больным, пока разрыв не исчезнет, и смотрят, какой состав получится. Внедрения за этим нет, переобучения тоже.</a:t>
            </a:r>
          </a:p>
          <a:p>
            <a:r>
              <a:t/>
            </a:r>
          </a:p>
          <a:p>
            <a:r>
              <a:t>Настоящее переобучение авторы тоже сделали, и оно слабее расчёта. Их предсказатель на числе активных хронических состояний даёт в группе высшего риска 26,7 из ста против 14,1 у их же предсказателя расходов, обученного на тех же данных. А наблюдаемая доля 17,7 принадлежит промышленному алгоритму, который авторы разбирают, — это третья модель, и вычитать одно из другого нельзя: такой разности в первоисточнике нет. Урок точнее: смена целевой переменной двигает состав отобранных и всё равно не доходит до 46,5.</a:t>
            </a:r>
          </a:p>
          <a:p>
            <a:r>
              <a:t/>
            </a:r>
          </a:p>
          <a:p>
            <a:r>
              <a:t>Что переехало. Сменился исполнитель: отбор делал лечащий врач, стал делать один балл. И сместилась цена ошибки — на группу, у которой при равном балле больше болезней. Пара, которой закрывается разбор: дало последовательный отбор там, где ручной непоследователен; потребовало совпадения расходов с болезнью, которого нет; в сумме для одной группы отбор стал хуже прежнего, а исправление до сих пор только посчитано.</a:t>
            </a:r>
          </a:p>
          <a:p>
            <a:r>
              <a:t/>
            </a:r>
          </a:p>
          <a:p>
            <a:r>
              <a:t>Про масштаб и его знаменатель — отдельно: два числа тут легко сложить неправильно. Модели этого класса применяются, по оценке отрасли, примерно к 200 миллионам человек в год. Это оценка охвата, а не выборка измерения: перекос измерен на 49 618 пациентах одной больницы, и выводы о его величине относятся к этому знаменателю.</a:t>
            </a:r>
          </a:p>
          <a:p>
            <a:r>
              <a:t/>
            </a:r>
          </a:p>
          <a:p>
            <a:r>
              <a:t>Рядом, другим жанром и слабее, стоит наблюдение: модели чтения рентгена при переносе на чужой набор теряют чувствительность по отдельным патологиям, сохраняя формально высокую специфичность. Источник — препринт, числа из него до пересверки не выносятся. Ценно другое: внутренняя проверка этого не видит, провал проявляется там, где его не проверяют.</a:t>
            </a:r>
          </a:p>
          <a:p>
            <a:r>
              <a:t/>
            </a:r>
          </a:p>
          <a:p>
            <a:r>
              <a:t>**Источники.** </a:t>
            </a:r>
            <a:r>
              <a:rPr u="sng">
                <a:solidFill>
                  <a:srgbClr val="065A82"/>
                </a:solidFill>
                <a:hlinkClick r:id="rId3"/>
              </a:rPr>
              <a:t>Obermeyer и соавт., Science 2019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a:t>
            </a:r>
          </a:p>
          <a:p>
            <a:r>
              <a:t/>
            </a:r>
          </a:p>
          <a:p>
            <a:r>
              <a:t>Что получается. Постоянство: система читает десятитысячный снимок так же, как первый, тогда как у человека к концу смены доля пропусков меняется. Поток: чтение нормы перестаёт занимать специалиста, и время перераспределяется на спорное. Воспроизводимость: один и тот же вход даёт один и тот же выход, а значит расхождение можно разобрать — у двух людей такой возможности нет, потому что ни один не повторит собственное чтение буквально.</a:t>
            </a:r>
          </a:p>
          <a:p>
            <a:r>
              <a:t/>
            </a:r>
          </a:p>
          <a:p>
            <a:r>
              <a:t>Что не получается. Три границы, и ни одна не про качество модели. Рабочую точку модель не назначает: за порогом стоит цена обеих ошибок, а её решает тот, кто подписывает. Переснять она не умеет, и качество входа остаётся на человеке без профильной подготовки. И третье, самое незаметное: чем измерен вход. Смещение измерительного прибора приходит до всякой модели, и модель его наследует, не создавая.</a:t>
            </a:r>
          </a:p>
          <a:p>
            <a:r>
              <a:t/>
            </a:r>
          </a:p>
          <a:p>
            <a:r>
              <a:t>Что стало с работой. На тайском развёртывании нагрузка выросла на том же месте: та же рука, та же камера, а работы больше — добиться годного снимка. Производной формой появился шаг, которого в классическом порядке не было, — повторный визит тем, чьё измерение не прошло. В отборе по прогнозу расходов сменился исполнитель: отбор делал лечащий врач, стал делать один балл; и сместилась цена ошибки на подгруппу, у которой при равном балле больше болезней.</a:t>
            </a:r>
          </a:p>
          <a:p>
            <a:r>
              <a:t/>
            </a:r>
          </a:p>
          <a:p>
            <a:r>
              <a:t>Что это держит. Рабочая точка, назначенная протоколом под цену обеих ошибок, и пересчёт доли верных тревог под свою группу. Контроль годности измерения — правило кабинета, а не свойство прибора. И честный прочерк: процедуры, которая проверяла бы, что система считает своей целью, нет. В разборе по прогнозу расходов исправление посчитали и не применили. Пустое место это лежит в самом порядке работы; одна больница тут ни при чём.</a:t>
            </a:r>
          </a:p>
          <a:p>
            <a:r>
              <a:t/>
            </a:r>
          </a:p>
          <a:p>
            <a:r>
              <a:t>Ни в одном из трёх разборов не провалилось само чтение.</a:t>
            </a:r>
          </a:p>
          <a:p>
            <a:r>
              <a:t/>
            </a:r>
          </a:p>
          <a:p>
            <a:r>
              <a:t>Ни в одном из трёх разборов не провалилось само чтение. Провалились развёртывание, состав обучающего набора и определение цели — три разных места, и ни одно из них не лечится лучшей моделью. Это главное, что стоит унести из раздела: вопрос «насколько точна ваша система» в каждом из трёх случаев имел хороший ответ, и ни в одном из трёх он не помог.</a:t>
            </a:r>
          </a:p>
          <a:p>
            <a:r>
              <a:t/>
            </a:r>
          </a:p>
          <a:p>
            <a:r>
              <a:t>Про каждую из четырёх шапок стоит сказать, какой разбор её держит, иначе свод читается как общие слова. Постоянство и поток названы на заземлении и подтверждены тайским развёртыванием: чтение там работало, результат приходил меньше чем за минуту. Границы — рабочая точка и пересъёмка — названы на заземлении и измерены в поле: 21 отклонённый снимок из ста это и есть цена того, что модель не умеет переснять. Смещение входа приходит из дерматологического разбора и из упоминания про прибор насыщения крови. Четыре изменения работы стоят поимённо: два из тайского случая, два из разбора по прогнозу расходов.</a:t>
            </a:r>
          </a:p>
          <a:p>
            <a:r>
              <a:t/>
            </a:r>
          </a:p>
          <a:p>
            <a:r>
              <a:t>И про прочерк в четвёртой шапке — он здесь не фигура речи. Рабочую точку держит протокол, годность держит инструкция кабинета, пересчёт доли верных тревог держит тот, кто применяет. А процедуры, которая проверяла бы, что система считает своей целью, нет ни одной: в разборе по прогнозу расходов исправление посчитали и не применили. Пустое место это лежит в самом порядке работы; одна больница тут ни при чём. Карта задачи и данных, которая идёт следом, добавляет к этому своё: раздел занял в ней одну новую клетку, а два разбора из трёх легли туда, где уже стоял прошлый раздел.</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Двенадцать показанных клеток — окно курсовой сетки из сорока двух: четыре строки задач на три вида данных, те же и в том же порядке, что стояли на незаполненной матрице в начале. К этой минуте в окне занято четыре клетки, и раздел добавил из них одну — прогноз на структурированных данных, отбор по предсказанным расходам.</a:t>
            </a:r>
          </a:p>
          <a:p>
            <a:r>
              <a:t/>
            </a:r>
          </a:p>
          <a:p>
            <a:r>
              <a:t>Как читать накопительную карту. Полужирным отмечено разобранное в этом разделе числами, в скобках — раздел, который занял клетку раньше. Слово «отбор» стоит теперь в трёх клетках, и это значит, что прошлый раздел уже привёл инструменты туда же: автономное чтение глазного дна, сортировка потока по риску, первая линия на словах. Клетки не обнуляются при переходе между разделами — к концу лекции по ним будет видно, сколько раз курс возвращался в одно и то же место.</a:t>
            </a:r>
          </a:p>
          <a:p>
            <a:r>
              <a:t/>
            </a:r>
          </a:p>
          <a:p>
            <a:r>
              <a:t>Первая строка чтения — про счёт. Четыре клетки из двенадцати, и новая за весь раздел одна. Это не бедность подбора: три разбора раздела взяты из трёх разных мест, где можно провалиться, и два из трёх попали в клетку, уже занятую отбором. Клетка, стало быть, про класс инструмента, а не про то, что с ним случится.</a:t>
            </a:r>
          </a:p>
          <a:p>
            <a:r>
              <a:t/>
            </a:r>
          </a:p>
          <a:p>
            <a:r>
              <a:t>Вторая строка чтения — про прочерки, и она важнее первой. Восемь клеток пусты, и за два раздела в них не зашёл никто. Классификации и распознавания на тексте в разборах нет; поиска с генерацией на изображении и на структурированных данных нет; прогноза на тексте и на изображении нет. Пустая клетка — такое же содержание, как занятая: она говорит, инструмент какого класса на этой стадии искать незачем, и экономит время, которое ушло бы на поиск. Поставщик, принёсший историю успеха на звуке или на видео, принёс историю не про эту стадию — этих видов данных в окне нет вовсе.</a:t>
            </a:r>
          </a:p>
          <a:p>
            <a:r>
              <a:t/>
            </a:r>
          </a:p>
          <a:p>
            <a:r>
              <a:t>Третья строка чтения — про клетку, занятую дважды, и это особенность именно этого раздела. Классификация на изображении держит оба первых разбора: автономное чтение глазного дна в стране развёртывания и оценку кожного образования. Класс инструмента у них один, а провалились разные вещи: в Таиланде место развёртывания — освещение в кабинете и медленная связь; в дерматологии состав обучающего набора — тёмных тонов кожи в нём мало. Отчёт, который сложил бы оба случая под именем клетки, не сказал бы ни о том, ни о другом. Отсюда прямое следствие для работы: клетка годится, чтобы выбрать, с чем сравнивать инструмент, и не годится, чтобы предсказать, где он сломается.</a:t>
            </a:r>
          </a:p>
          <a:p>
            <a:r>
              <a:t/>
            </a:r>
          </a:p>
          <a:p>
            <a:r>
              <a:t>И четвёртое занятое место стоит вне показанного окна — измерение и сигнал прибора. Оно занято работающей техникой, в которой обученной модели нет вовсе: смещение прибора насыщения крови приходит до всякой модели, а система, принимающая его показания на вход, наследует смещение молча. Пустой эту клетку назвать нельзя, занятой моделью тоже — поэтому она и стоит отдельной строкой под таблицей, а не внутри сетки.</a:t>
            </a:r>
          </a:p>
          <a:p>
            <a:r>
              <a:t/>
            </a:r>
          </a:p>
          <a:p>
            <a:r>
              <a:t>Строки под таблицей называют, чем это делают: режим один, реализаций много, и разницу в результате делает устройство процедуры вокруг прибора, а не имя на корпусе. Марок в клетках нет намеренно — клетка про класс задачи, а не про поставщика.</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переходит через ту же границу, что отделила второй раздел от первого, только с другой стороны: данные уже измерены и прочитаны системой, но заключение подписывает человек. Подсказка встаёт рядом со снимком, и вопрос раздела в том, что человек после этого смотрит — сам снимок, подсказку или уже привычку доверять экрану.</a:t>
            </a:r>
          </a:p>
          <a:p>
            <a:r>
              <a:t/>
            </a:r>
          </a:p>
          <a:p>
            <a:r>
              <a:t>Четыре разбора идут по возрастанию того, что именно измерено. Первый — замер взгляда радиолога: тот же читатель на тех же случаях, подсказка модели ложная, и падение измерено движением глаза. Сразу за ним стоит зеркало того же замера — другая работа, тот же сигнал, обратный знак; номера разбора у него нет: цены обеих ошибок и обоих классических режимов он не считает. Работа его другая — проверить, что падение не есть свойство самого сужения поиска. Второй — одна подсказка с двумя знаками: то же устройство эффекта, перенесённое с взгляда на решение; одна и та же подсказка в патологии поднимает шансы верного ответа вчетверо, когда модель права, и роняет вчетверо, когда неправа. Третий — измеренная тройка: три числа на одних и тех же задачах, модель одна, врач один, врач с моделью, и разрыв между вторым и третьим оказывается нулём. Четвёртый — контрольная линия: единственное в разделе испытание со случайным распределением и с измеренным исходом пациента, где пара вышла сильнее обеих сторон.</a:t>
            </a:r>
          </a:p>
          <a:p>
            <a:r>
              <a:t/>
            </a:r>
          </a:p>
          <a:p>
            <a:r>
              <a:t>Имена произносятся здесь затем, чтобы потом узнавать слайд по уже сказанному: каждый из четырёх выйдет на экран под этим заголовком, и зеркало тоже. После четвёртого разбора раздел закрывают три кадра: правило, собранное из ста шести опытов, вывод стадии и карта задачи и данных.</a:t>
            </a:r>
          </a:p>
          <a:p>
            <a:r>
              <a:t/>
            </a:r>
          </a:p>
          <a:p>
            <a:r>
              <a:t>Раздел держит одну линию, и её стоит назвать до разборов. Пара «человек плюс модель» не равна ни человеку, ни модели в отдельности, и какая сторона перевесит, заранее сказать нельзя — это измеряют. Обычно же измеряют что угодно, кроме этого: точность модели отдельно, удовлетворённость врача отдельно, а третью величину, ради которой пара и собиралась, не считает никто.</a:t>
            </a:r>
          </a:p>
          <a:p>
            <a:r>
              <a:t/>
            </a:r>
          </a:p>
          <a:p>
            <a:r>
              <a:t>Снимок рядом — настоящее рабочее место чтения: врач за двумя мониторами, исследование на одном, рабочий список на другом.</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подсказки. На слайде семь действий названы одной строкой, здесь — существенное о каждом.</a:t>
            </a:r>
          </a:p>
          <a:p>
            <a:r>
              <a:t/>
            </a:r>
          </a:p>
          <a:p>
            <a:r>
              <a:t>Собрать данные. Жалобы, осмотр, то, что уже измерено на предыдущей стадии. Это всё, что у врача есть на входе.</a:t>
            </a:r>
          </a:p>
          <a:p>
            <a:r>
              <a:t/>
            </a:r>
          </a:p>
          <a:p>
            <a:r>
              <a:t>Выписать список. Болезни, способные объяснить наблюдаемое: затяжной бронхит стоит первым как частая причина, туберкулёз — потому что картина классическая и пропустить его дорого, лимфома — те же два признака, прочитанные иначе, аутоиммунное поражение — реже, но ложится сюда же.</a:t>
            </a:r>
          </a:p>
          <a:p>
            <a:r>
              <a:t/>
            </a:r>
          </a:p>
          <a:p>
            <a:r>
              <a:t>Назначить различающую проверку. Снимок и анализ крови идут первыми не случайно: сначала то, что стоит мало и отсекает много. Клиническая версия перебора гипотез жёстче инженерной в одном — часть проверок сама опасна или дорога, поэтому порядок проверок становится отдельным решением, которое приходится обосновывать.</a:t>
            </a:r>
          </a:p>
          <a:p>
            <a:r>
              <a:t/>
            </a:r>
          </a:p>
          <a:p>
            <a:r>
              <a:t>Вычеркнуть опровергнутое. Бронхит снят снимком: изменений в верхней доле при бронхите не бывает. Аутоиммунное снято спокойными воспалительными показателями. Осталось два диагноза, которые по снимку не различаются, и решает их посев мокроты — три недели ожидания, часть цены, которую платит пациент.</a:t>
            </a:r>
          </a:p>
          <a:p>
            <a:r>
              <a:t/>
            </a:r>
          </a:p>
          <a:p>
            <a:r>
              <a:t>Прочесть вторым, независимо. Второе мнение — заключение по тому же случаю, сделанное тем, кто не видел первого; вся работа этого определения держится на второй половине.</a:t>
            </a:r>
          </a:p>
          <a:p>
            <a:r>
              <a:t/>
            </a:r>
          </a:p>
          <a:p>
            <a:r>
              <a:t>Разрешить расхождение. Третий читатель видит оба заключения и включается только там, где двое разошлись.</a:t>
            </a:r>
          </a:p>
          <a:p>
            <a:r>
              <a:t/>
            </a:r>
          </a:p>
          <a:p>
            <a:r>
              <a:t>Подписать заключение. Подпись — то место, где ответственность становится именной.</a:t>
            </a:r>
          </a:p>
          <a:p>
            <a:r>
              <a:t/>
            </a:r>
          </a:p>
          <a:p>
            <a:r>
              <a:t>Выбрать неверно из списка — ошибка, которую заметят: придёт результат проверки и не совпадёт с ожиданием. Не вписать в список то, что должно было там стоять, — ошибка без следа: проверки никто не назначит, случай уйдёт с другим диагнозом и вернётся через год.</a:t>
            </a:r>
          </a:p>
          <a:p>
            <a:r>
              <a:t/>
            </a:r>
          </a:p>
          <a:p>
            <a:r>
              <a:t>И то же поле с моделью, названное до разборов. Из семи действий обученная модель заняла три. Второе — подсказка правит состав списка, добавляя строку, которой у усталого врача не появилось бы, или убирая ту, которая должна была там стоять. Пятое — вторым независимым читателем становится она. Седьмое — подпись, и на четвёртой ступени участия она ставится не глядя. Один шаг добавляется — решить, верить ли подсказке, и операции этой у врача прежде не было вовсе. Три места, где она не работает, названы именами того, что ломается: независимость — подсказка видна до собственного вывода, и ошибка модели у всех читателей одна, то есть удваивается вместо усреднения; избирательность — не поверить именно там, где модель ошиблась, не смогла ни одна группа; объяснимость — упрощённое объяснение неверной рекомендации роняет результат ниже работы вообще без модели.</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Второе мнение — заключение по тому же случаю, сделанное тем, кто не видел первого. Вся работа этого определения держится на второй половине.</a:t>
            </a:r>
          </a:p>
          <a:p>
            <a:r>
              <a:t/>
            </a:r>
          </a:p>
          <a:p>
            <a:r>
              <a:t>Существует устройство потому, что одиночное чтение пропускает, и пропускает у любого читателя: внимание ограниченно, снимок большой, признак бывает мелким и стоит там, где его не ждали. Полезным второе мнение делает одно наблюдение: пропуски двух читателей не совпадают. Первый не заметил уплотнение, потому что отвлёкся на кальцинаты в центре; второй отвлёкся на другое. Если бы оба систематически не видели одно и то же, второй читатель не добавлял бы ничего, кроме стоимости. Выигрыш двойного чтения создаётся несовпадением ошибок и ничем больше — силу первого читателя он не удваивает.</a:t>
            </a:r>
          </a:p>
          <a:p>
            <a:r>
              <a:t/>
            </a:r>
          </a:p>
          <a:p>
            <a:r>
              <a:t>Независимость делается руками организации: отдельная очередь чтения, скрытое поле заключения, иногда отдельная смена или учреждение. На добросовестность читателя она не опирается. Проверяемый признак один — мог ли второй читатель физически увидеть первое заключение в момент чтения; ответ дают права доступа; регламент здесь не доказательство. Перегородка стоит денег, и её убирают первой, когда ищут, на чём сэкономить. Формальная независимость выглядит так же и работает иначе: доля расхождений падает, и руководство читает это как рост согласованности.</a:t>
            </a:r>
          </a:p>
          <a:p>
            <a:r>
              <a:t/>
            </a:r>
          </a:p>
          <a:p>
            <a:r>
              <a:t>Арбитраж — третий читатель, который видит оба заключения и включается там, где два первых не совпали. Объём его работы задан числом разногласий, то есть считается заранее и управляется порогом. Консилиум устроен иначе: несколько специалистов обсуждают случай, видя мнения друг друга, и независимость здесь утрачена сознательно — ценность в обмене доводами. Поэтому консилиумом поток в скрининге не читают.</a:t>
            </a:r>
          </a:p>
          <a:p>
            <a:r>
              <a:t/>
            </a:r>
          </a:p>
          <a:p>
            <a:r>
              <a:t>Подсказка модели ломает независимость с двух сторон. Она видна до того, как сложилось собственное мнение. И она одна и та же для всех читателей: пропуск обученной системы у всех один, поэтому её ошибка на двух читателях удваивается; усреднения, ради которого второго читателя и заводили, не происходит. Отсюда вывод, на котором держится раздел: «добавим второе мнение от модели» и «добавим второго врача» — разные изменения процесса, хотя на схеме выглядят одним блоком.</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Формула «человек в контуре» отвечает на вопрос, которого никто не задавал: она говорит, что человек присутствует, и ничего не говорит о том, что он делает. Четыре ступени разводят это по тому, что человек успевает увидеть. Читающий первым видит случай и собственный вывод делает до того, как узнает машинный: ступень дороже всех по времени и сохраняет независимость. Читающий вторым видит случай вместе с готовым выводом — независимость утрачена по построению, выигрыш в скорости есть. Читающий только спорное видит выборку, отобранную моделью, и то, что отобрано ошибочно, до него не доходит никогда. Подписывающий не глядя видит только текст заключения.</a:t>
            </a:r>
          </a:p>
          <a:p>
            <a:r>
              <a:t/>
            </a:r>
          </a:p>
          <a:p>
            <a:r>
              <a:t>У четвёртой ступени есть измеренная величина, и найдена она за пределами медицины: двадцать один программист, 1 096 обработанных подсказок ассистента кода, поведенческая телеметрия. Медиана времени над подсказкой до решения её принять — 1,99 секунды. В той же работе есть вторая медиана, и путать их нельзя: если досчитать проверку уже после принятия подсказки, выходит 6,48 секунды, то есть больше половины всей проверки приходится на время, когда решение уже принято. На вопрос «успевает ли человек прочитать прежде, чем подписал» отвечает первая величина. Существеннее другое: подсказка, принятая без предварительной проверки, позже требовала правки с вероятностью 0,53, проверенная до принятия — 0,18. Медицины в этой выборке нет, и перенос на врача держится на аналогии.</a:t>
            </a:r>
          </a:p>
          <a:p>
            <a:r>
              <a:t/>
            </a:r>
          </a:p>
          <a:p>
            <a:r>
              <a:t>Медицинское измерение рядом — про то, что обучение ступень не повышает. База сравнения здесь — работа с верными рекомендациями модели; работы вовсе без подсказки в испытании нет: те же 44 врача дают 84,9 из ста при верных рекомендациях модели и 73,3, когда часть рекомендаций намеренно неверна; неверные давались в трёх случаях из шести. Поправленная разница — 14,0 пункта при интервале от −18,9 до −9,1. Разряд свидетельства высокий, выборка маленькая, страна одна, и одно другого не отменяет. Человек, прошедший двадцатичасовой курс, остался на той ступени, на которой стоял: курс не делает его читателем, который умеет выборочно не поверить.</a:t>
            </a:r>
          </a:p>
          <a:p>
            <a:r>
              <a:t/>
            </a:r>
          </a:p>
          <a:p>
            <a:r>
              <a:t>**Источники.** </a:t>
            </a:r>
            <a:r>
              <a:rPr u="sng">
                <a:solidFill>
                  <a:srgbClr val="065A82"/>
                </a:solidFill>
                <a:hlinkClick r:id="rId3"/>
              </a:rPr>
              <a:t>Qazi и соавт., NEJM AI</a:t>
            </a:r>
            <a:r>
              <a:t> · </a:t>
            </a:r>
            <a:r>
              <a:rPr u="sng">
                <a:solidFill>
                  <a:srgbClr val="065A82"/>
                </a:solidFill>
                <a:hlinkClick r:id="rId4"/>
              </a:rPr>
              <a:t>Mozannar и соавт., Reading Between the Lines, CHI 2024</a:t>
            </a:r>
          </a:p>
          <a:p>
            <a:r>
              <a:t/>
            </a:r>
          </a:p>
          <a:p>
            <a:r>
              <a:t>И сразу оговорка, без которой лестница врёт. Ступень называет, что человек успевает увидеть, и больше ничего: ранжировать разборы по качеству она не умеет, и различать их тоже. Дальше в этом разделе встретятся два разбора на одной и той же ступени «смотрит первым» с противоположными результатами — в одном пара сработала хуже обеих сторон, в другом сильнее обеих. Различает их устройство процедуры: сохранена ли независимость двух мнений и кому назначен арбитраж при расхождении. Ступень у них одна.</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то самое, что было обещано залу, и отрабатывается оно буквально: профессиональные читатели национальной программы скрининга, их собственная ежедневная работа, прямое ухудшение результата.</a:t>
            </a:r>
          </a:p>
          <a:p>
            <a:r>
              <a:t/>
            </a:r>
          </a:p>
          <a:p>
            <a:r>
              <a:t>Устройство опыта. Десять радиологов читают один и тот же набор из шестидесяти случаев дважды: сначала без подсказок, через шесть недель — с подсказками. Подсказки подлинные: это вывод коммерчески доступной допущенной системы при пороге оценки области 10 из 100. Преднамеренным был подбор набора — в него нарочно положили случаи, где система ошибается в обе стороны: 26 верно-положительных подсказок, 14 ложноотрицательных, 14 ложноположительных, 6 верно-отрицательных; исходы подтверждены трёхлетним наблюдением или гистологией. Сравнивается один человек с собой, и это сильная сторона дизайна: межчитательский разброс, который в чтении маммограмм велик, из сравнения исключён целиком.</a:t>
            </a:r>
          </a:p>
          <a:p>
            <a:r>
              <a:t/>
            </a:r>
          </a:p>
          <a:p>
            <a:r>
              <a:t>База — медианная чувствительность того же читателя на тех же случаях без подсказки, 71 из ста. На случаях, где подсказка была ложноотрицательной, та же величина составила 39, и падение в 32 пункта значимо. Медиана по десяти читателям устойчивее средней к одному выпадающему читателю.</a:t>
            </a:r>
          </a:p>
          <a:p>
            <a:r>
              <a:t/>
            </a:r>
          </a:p>
          <a:p>
            <a:r>
              <a:t>Вторая половина того же измерения показывает перелом знака внутри одной работы: на случаях с ложноположительной подсказкой специфичность читателя выросла — с 21 до 39 из ста. Пару надо читать вместе: ложноотрицательная подсказка стоит читателю 32 пункта чувствительности, ложноположительная приносит ему 18 пунктов специфичности. Подсказка не «ухудшает чтение» и не «улучшает» его — она сдвигает порог читателя в ту сторону, которую сама называет, и цена сдвига зависит от того, в какую сторону подсказка ошиблась.</a:t>
            </a:r>
          </a:p>
          <a:p>
            <a:r>
              <a:t/>
            </a:r>
          </a:p>
          <a:p>
            <a:r>
              <a:t>Сила свидетельства названа вместе с числом: по механизму сильное, по выборке читателей среднее — их десять, и обобщение на всю профессию на этом не строится. Шесть недель между сессиями защищают от узнавания случая по памяти, но полностью такой интервал не защищает. Прямого повторения по величине падения нет.</a:t>
            </a:r>
          </a:p>
          <a:p>
            <a:r>
              <a:t/>
            </a:r>
          </a:p>
          <a:p>
            <a:r>
              <a:t>**Источники.** </a:t>
            </a:r>
            <a:r>
              <a:rPr u="sng">
                <a:solidFill>
                  <a:srgbClr val="065A82"/>
                </a:solidFill>
                <a:hlinkClick r:id="rId3"/>
              </a:rPr>
              <a:t>Taib и соавт., Radiology 2026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Величина падения сама по себе оставляет открытым вопрос «как именно». Ответ в той же работе получен измерением. На поражениях, которые модель пропустила, взгляд читателя задерживался реже: без подсказки — 0,47 фиксации в секунду, с подсказкой — 0,44. Два числа различаются в третьем знаке, поэтому называть их полезно порознь, каждое со своим ярлыком; база — чтение тех же случаев тем же читателем без подсказки.</a:t>
            </a:r>
          </a:p>
          <a:p>
            <a:r>
              <a:t/>
            </a:r>
          </a:p>
          <a:p>
            <a:r>
              <a:t>Что это значит. Ложная подсказка сузила зрительный поиск. Переубеждения словами не было: читателю никто не доказывал, что поражения нет. Его глаз просто реже останавливался на том месте, которое система не отметила. Это физическое изменение сканирующего поведения под влиянием машинного указания, измеренное в движении глаза.</a:t>
            </a:r>
          </a:p>
          <a:p>
            <a:r>
              <a:t/>
            </a:r>
          </a:p>
          <a:p>
            <a:r>
              <a:t>Почему механизм существеннее самой величины. Если подсказка меняет мнение, лечится это доводами: объяснением, показом уверенности модели, обучением. Если подсказка меняет то, что человек физически успевает увидеть, доводы бессильны, и призыв быть внимательнее перестаёт быть мерой. Лечится это процедурой: порядком предъявления, временем на самостоятельное чтение до показа подсказки, запретом выводить отметку одновременно со снимком. Отсюда три следствия. Порядок предъявления — управляемый параметр с измеренной ценой: интерфейс, показывающий отметку вместе со снимком, покупает скорость за 32 пункта медианной чувствительности на случаях, где подсказка молчала. Обучение бьёт не туда. И мера эффекта должна быть поведенческой: процесс поиска меняется раньше и надёжнее, чем доля находок.</a:t>
            </a:r>
          </a:p>
          <a:p>
            <a:r>
              <a:t/>
            </a:r>
          </a:p>
          <a:p>
            <a:r>
              <a:t>Про словарь форм. Нагрузка на том же месте упала — три проверки формы выполняются буквально: место то же, исполнитель тот же, объём ниже. Эталонные примеры этой формы предполагали, что падение объёма работы — выигрыш; здесь оно оказалось ценой. Значит, форма знака не несёт: знак задаёт правота подсказки. Второй формой сместилась цена ошибки — пропуск модели стал пропуском читателя, подписанным человеком. И отдельно: исполнитель остался тот же и стал хуже, то есть изменилось состояние руки, а состояния руки в словаре до сих пор не было. Чего этот разбор не говорит: что подсказки вредны.</a:t>
            </a:r>
          </a:p>
          <a:p>
            <a:r>
              <a:t/>
            </a:r>
          </a:p>
          <a:p>
            <a:r>
              <a:t>**Источники.** </a:t>
            </a:r>
            <a:r>
              <a:rPr u="sng">
                <a:solidFill>
                  <a:srgbClr val="065A82"/>
                </a:solidFill>
                <a:hlinkClick r:id="rId3"/>
              </a:rPr>
              <a:t>Taib и соавт., Radiology 2026</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Без этого измерения остался бы только провал — восторг наизнанку. Измерение то же, сигнал тот же, разница одна — там подсказка была намеренно ложной, здесь это обычная работа одобренной системы с оценкой подозрительности по шкале от 1 до 100.</a:t>
            </a:r>
          </a:p>
          <a:p>
            <a:r>
              <a:t/>
            </a:r>
          </a:p>
          <a:p>
            <a:r>
              <a:t>Номера разбора у этого кадра нет, и это не оплошность нумерации. Номер в разделе носит случай, проведённый по всей форме: цена обеих ошибок, оба классических режима в тех же единицах, модель против них, названная форма словаря. Здесь из четырёх шагов сделан один — модель против чтения без модели внутри того же опыта; цены обеих ошибок работа не назначает, второго классического режима в ней нет вовсе. Кадр служит проверкой: он отвечает на вопрос, не является ли само сужение поиска вредом. Ответ — нет, и поэтому стоит он сразу за падением и номера не носит.</a:t>
            </a:r>
          </a:p>
          <a:p>
            <a:r>
              <a:t/>
            </a:r>
          </a:p>
          <a:p>
            <a:r>
              <a:t>Двенадцать радиологов программы скрининга из десяти учреждений, стаж от 4 до 32 лет при медиане 12. Сто пятьдесят исследований: 75 с подтверждённым раком, 75 без. Каждое читается без системы и с системой — 3 600 прочтений, по 1 800 на режим; знаменатель доли внутри режима — 900: двенадцать читателей на семьдесят пять случаев.</a:t>
            </a:r>
          </a:p>
          <a:p>
            <a:r>
              <a:t/>
            </a:r>
          </a:p>
          <a:p>
            <a:r>
              <a:t>Каждая величина идёт со своей базой «без модели». Охват площади груди фиксациями взгляда упал с 11,1 до 9,5 из ста — то же сужение поиска. Время фиксации в области поражения выросло с 4,4 до 5,4 секунды: читатель осматривал меньшую площадь, но дольше задерживался в нужном месте, и авторы называют это более эффективным поиском. Площадь под кривой выросла с 0,93 при интервале 0,91–0,96 до 0,97 при интервале 0,95–0,98, p меньше 0,001.</a:t>
            </a:r>
          </a:p>
          <a:p>
            <a:r>
              <a:t/>
            </a:r>
          </a:p>
          <a:p>
            <a:r>
              <a:t>Дальше произносить надо точно. Выросла именно площадь под кривой — мера различения больного и здорового. Чувствительность выросла с 81,7 из ста (735 из 900) до 87,2 (785 из 900), но прибавка значимости не достигла: p равно 0,06. Два уровня значимости надо произносить парой — первый меньше одной тысячной, второй выше порога, и держится на этой паре весь вывод кадра. Специфичность не изменилась (89,0 против 91,1), время чтения тоже (29,4 против 30,8 секунды). Формулировка «модель сделала врачей лучше» этими данными не держится. Доказано другое: читатели стали лучше различать по шкале подозрительности, а что выйдет при конкретном пороге отзыва на дообследование, работа не измеряла.</a:t>
            </a:r>
          </a:p>
          <a:p>
            <a:r>
              <a:t/>
            </a:r>
          </a:p>
          <a:p>
            <a:r>
              <a:t>Оговорки — вслух. Набор обогащён раками до половины, тогда как в живой программе рак встречается у единиц на тысячу. И у работы раскрыты институциональные соглашения с производителями систем: результат это не отменяет — дизайн рецензирован, интервалы явные, знаменатели у каждой доли, — но назвать их нужно: единственное измерение раздела в пользу помощника оказалось работой с названными интересами.</a:t>
            </a:r>
          </a:p>
          <a:p>
            <a:r>
              <a:t/>
            </a:r>
          </a:p>
          <a:p>
            <a:r>
              <a:t>**Источники.** </a:t>
            </a:r>
            <a:r>
              <a:rPr u="sng">
                <a:solidFill>
                  <a:srgbClr val="065A82"/>
                </a:solidFill>
                <a:hlinkClick r:id="rId3"/>
              </a:rPr>
              <a:t>Gommers и соавт., Radiology 2025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предыдущих измерения показали, что подсказка меняет работу глаза. Это показывает то же на уровне решения.</a:t>
            </a:r>
          </a:p>
          <a:p>
            <a:r>
              <a:t/>
            </a:r>
          </a:p>
          <a:p>
            <a:r>
              <a:t>Устройство опыта, от которого зависит отметка ступени. Одиннадцать патологов разного опыта — трое субспециалистов по желудочно-кишечному тракту, трое специалистов других профилей, трое резидентов и двое, чей профиль не определён, — различают два вида опухоли печени по оцифрованным срезам. Набор — восемьдесят срезов; точность самой модели на независимом тестовом наборе ноль целых восемьсот сорок две тысячных. Один и тот же патолог читал тот же набор дважды в разных сессиях: половина случаев с подсказкой, половина без, с перевёрнутым распределением во второй сессии и отмывочным периодом не меньше двух недель. Сравнение идёт между сессиями: первый и второй взгляд на один случай тут не сравниваются.</a:t>
            </a:r>
          </a:p>
          <a:p>
            <a:r>
              <a:t/>
            </a:r>
          </a:p>
          <a:p>
            <a:r>
              <a:t>База — чтение среза без подсказки. Когда подсказка верна, шансы верного ответа вырастают примерно вчетверо; когда неверна — падают примерно во столько же. Работало это на всех уровнях опыта и на случаях любой сложности одинаково: субспециалист по профилю защищён не был, и это существеннее самой величины.</a:t>
            </a:r>
          </a:p>
          <a:p>
            <a:r>
              <a:t/>
            </a:r>
          </a:p>
          <a:p>
            <a:r>
              <a:t>Как читать «вчетверо», чтобы не ошибиться порядком. Шансы — отношение вероятности верного ответа к вероятности неверного. Если без подсказки патолог отвечал верно в восьми случаях из десяти, выросшие вчетверо шансы дают около девяноста четырёх из ста, а упавшие вчетверо уводят примерно к пятидесяти. Симметрия в шансах даёт асимметрию в долях, потому что у высокой точности есть куда падать и почти некуда расти.</a:t>
            </a:r>
          </a:p>
          <a:p>
            <a:r>
              <a:t/>
            </a:r>
          </a:p>
          <a:p>
            <a:r>
              <a:t>Второй классический режим — второе мнение субспециалиста — назван и не посчитан: на этом наборе его не измеряли, и подставлять число из другой работы было бы той самой склейкой выборок.</a:t>
            </a:r>
          </a:p>
          <a:p>
            <a:r>
              <a:t/>
            </a:r>
          </a:p>
          <a:p>
            <a:r>
              <a:t>**Источники.** </a:t>
            </a:r>
            <a:r>
              <a:rPr u="sng">
                <a:solidFill>
                  <a:srgbClr val="065A82"/>
                </a:solidFill>
                <a:hlinkClick r:id="rId3"/>
              </a:rPr>
              <a:t>Kiani и соавт., npj Digital Medicine 2020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Средняя прибавка и знакопеременность — одно наблюдение, прочитанное с двух сторон, и получены они на одной выборке. На группе в целом, без разделения случаев на те, где модель права, и те, где неправа, прибавка значимости не достигает. Это и есть цена разбора, и она организационная по природе, клиники в ней нет: отчёт о внедрении, в котором стоит одно число, показал бы отсутствие эффекта ровно там, где эффект был четырёхкратным в обе стороны. Решение по такому отчёту принимается одно — «работает примерно как раньше, оставим», — и принимается оно вслепую.</a:t>
            </a:r>
          </a:p>
          <a:p>
            <a:r>
              <a:t/>
            </a:r>
          </a:p>
          <a:p>
            <a:r>
              <a:t>Что переехало. Форма одна: сместилась цена ошибки. Шаги, объём работы и исполнители остались те же — патолог смотрит тот же срез то же время. Изменилось последствие: ошибка модели стала ошибкой врача, потому что подпись под заключением ставит он. Перенос измерен в обе стороны, и это редкость: обычно измеряют только убыток либо только прибавку.</a:t>
            </a:r>
          </a:p>
          <a:p>
            <a:r>
              <a:t/>
            </a:r>
          </a:p>
          <a:p>
            <a:r>
              <a:t>Пара, которой закрывается разбор, читается прямо с плашек. Дало — прибавку при верной подсказке. Потребовало — равной потери при неверной. В сумме — средняя та же, разброс вырос. Для процедуры это худший исход из возможных: средняя повода вмешаться не даёт; разброс при этом означает, что часть пациентов получила решение хуже прежнего.</a:t>
            </a:r>
          </a:p>
          <a:p>
            <a:r>
              <a:t/>
            </a:r>
          </a:p>
          <a:p>
            <a:r>
              <a:t>Рядом, другим жанром и слабее по разряду, стоит сводка систем поддержки врачебных решений: неверная подсказка повышает риск неверного решения на двадцать шесть процентов, обзор включил семьдесят четыре исследования из тринадцати тысяч восьмисот двадцати одного просмотренного. Подпись к обзору обязательна: в той совокупности много систем, работающих на правилах, а обученных моделей среди них часть. Поэтому число идёт упоминанием; доводом оно здесь не работает.</a:t>
            </a:r>
          </a:p>
          <a:p>
            <a:r>
              <a:t/>
            </a:r>
          </a:p>
          <a:p>
            <a:r>
              <a:t>**Источники.** </a:t>
            </a:r>
            <a:r>
              <a:rPr u="sng">
                <a:solidFill>
                  <a:srgbClr val="065A82"/>
                </a:solidFill>
                <a:hlinkClick r:id="rId3"/>
              </a:rPr>
              <a:t>Kiani и соавт., npj Digital Medicine 2020</a:t>
            </a:r>
            <a:r>
              <a:t> · </a:t>
            </a:r>
            <a:r>
              <a:rPr u="sng">
                <a:solidFill>
                  <a:srgbClr val="065A82"/>
                </a:solidFill>
                <a:hlinkClick r:id="rId4"/>
              </a:rPr>
              <a:t>Goddard, Roudsari, Wyatt, JAMIA 2012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После трёх измерений механизма остаётся незакрытый вопрос: допустим, пара хуже сильной модели — но человека-то одного она обходит? Все три числа зал видит здесь впервые, и несущее из трёх — 74: это база сравнения, врач с обычными справочниками.</a:t>
            </a:r>
          </a:p>
          <a:p>
            <a:r>
              <a:t/>
            </a:r>
          </a:p>
          <a:p>
            <a:r>
              <a:t>Пятьдесят практикующих врачей распределены по двум условиям: рассуждение по клиническому случаю с обычными справочными ресурсами и то же рассуждение с доступом к большой языковой модели. Оценивалось структурированное рассуждение — перечень гипотез, их обоснование, назначенные различающие проверки. Медианы с межквартильными размахами: модель одна — 92 из ста (от 82 до 97), врач один — 74 (от 63 до 84), врач с моделью — 76 (от 66 до 87). Разница между двумя человеческими условиями — два пункта, интервал от −4 до 8, и значимости она не достигает. Это измеренный ноль: данные есть, разницы нет, и интервал исключает выигрыш больше восьми пунктов, то есть эффект того размера, который от внедрения ожидают, был бы виден.</a:t>
            </a:r>
          </a:p>
          <a:p>
            <a:r>
              <a:t/>
            </a:r>
          </a:p>
          <a:p>
            <a:r>
              <a:t>Прогон «модель одна» равноправной случайной ветвью не был — это отдельный прогон модели по тем же задачам, и сравнение 76 против 92 читается наблюдательным дополнением к испытанию; результатом случайного распределения оно не является. Рядом ловушка подписи. Первоисточник проверяет на значимость единственный разрыв: модель выше человека без модели на 16 поправленных пунктов при интервале от 2 до 30. По медианам разница модели и пары тоже 16 пунктов, а модели и человека без модели — 18; две шестнадцатки совпали случайно, и для пары первоисточник не печатает ни интервала, ни уровня значимости.</a:t>
            </a:r>
          </a:p>
          <a:p>
            <a:r>
              <a:t/>
            </a:r>
          </a:p>
          <a:p>
            <a:r>
              <a:t>Виньетка — письменное описание случая, собранное по реальной истории. Она позволяет дать пятидесяти врачам одни и те же случаи, но осмотра на ней нет, вопроса задать нельзя, цены ожидания и ответственности за исход нет. Поэтому 76 против 74 относится к рассуждению по описанию случая и ни к чему больше. Причину нулевого результата испытание называет само: инструмент выдали, а процедуру работы с ним — нет.</a:t>
            </a:r>
          </a:p>
          <a:p>
            <a:r>
              <a:t/>
            </a:r>
          </a:p>
          <a:p>
            <a:r>
              <a:t>**Источники.** </a:t>
            </a:r>
            <a:r>
              <a:rPr u="sng">
                <a:solidFill>
                  <a:srgbClr val="065A82"/>
                </a:solidFill>
                <a:hlinkClick r:id="rId3"/>
              </a:rPr>
              <a:t>Goh и соавт., JAMA Network Open 2024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время надо говорить медленно и с ярлыками у обоих чисел. Медианное время на случай: без модели 565 секунд, с моделью 519. Без ярлыков меньшее число читается как выигрыш — и прочитано будет наоборот, потому что 519 это как раз группа с моделью, а разница между группами значимости не достигает. То есть времени тоже не сэкономили.</a:t>
            </a:r>
          </a:p>
          <a:p>
            <a:r>
              <a:t/>
            </a:r>
          </a:p>
          <a:p>
            <a:r>
              <a:t>Что переехало. Форма одна — сменился исполнитель, и три её проверки выполняются буквально. Место то же: рассуждение по случаю. Объём тот же, и здесь это измерено — 565 против 519 секунд при незначимой разнице, то есть работа не стала ни больше, ни меньше. Рука сменилась: рассуждение строит врач, читающий готовую подсказку, вместо врача, собирающего ответ из справочников. И отдельной строкой: ни одна форма из словаря не фиксирует здесь улучшения. Это итог разбора; пробелом изложения он не является.</a:t>
            </a:r>
          </a:p>
          <a:p>
            <a:r>
              <a:t/>
            </a:r>
          </a:p>
          <a:p>
            <a:r>
              <a:t>Пара читается так. Дало — ничего измеримого. Потребовало — доступ к инструменту для каждого врача и новый шаг внутри рассуждения: сформулировать запрос, прочитать ответ, решить, что с ним делать. В сумме — так же, как было, при том что инструмент сам по себе точнее обоих человеческих условий: по медианам на восемнадцать пунктов против человека без модели и на шестнадцать против пары.</a:t>
            </a:r>
          </a:p>
          <a:p>
            <a:r>
              <a:t/>
            </a:r>
          </a:p>
          <a:p>
            <a:r>
              <a:t>«Ничего измеримого» требует отдельного пояснения, потому что звучит как отсутствие данных. Это не отсутствие: это измеренный нулевой результат при рабочей выборке, и такие результаты публикуют реже положительных. Отсюда проверяемое правило: закупка сильного инструмента и улучшение результата — два разных события, и между ними лежит отдельная работа, у которой в этом испытании не было исполнителя. Как человек формулирует запрос, как он видит ответ и когда он имеет право не поверить — ничего из этого никому из пятидесяти врачей не задали. Ограничение называется вместе с выводом: оценивалось рассуждение на задачах, пациент в испытании не лечился, и ни одно число здесь не говорит о том, что с ним стало.</a:t>
            </a:r>
          </a:p>
          <a:p>
            <a:r>
              <a:t/>
            </a:r>
          </a:p>
          <a:p>
            <a:r>
              <a:t>**Источники.** </a:t>
            </a:r>
            <a:r>
              <a:rPr u="sng">
                <a:solidFill>
                  <a:srgbClr val="065A82"/>
                </a:solidFill>
                <a:hlinkClick r:id="rId3"/>
              </a:rPr>
              <a:t>Goh и соавт., JAMA Network Open 2024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Силу свидетельства надо назвать первым делом: рандомизированное исследование национальной программы скрининга, 105 934 женщины распределены случайно, четыре площадки, набор с апреля 2021 по декабрь 2022, исходы предрегистрированы. Девятнадцать человек исключены из анализа; вошли 53 043 в плечо с моделью и 52 872 в контроль. Дизайн одно-слепой, на не-меньшую эффективность. Это единственное измерение раздела, где измерен исход пациента; в остальных мерили точность чтения, взгляд или балл рассуждения.</a:t>
            </a:r>
          </a:p>
          <a:p>
            <a:r>
              <a:t/>
            </a:r>
          </a:p>
          <a:p>
            <a:r>
              <a:t>Что сравнивалось. Контрольное плечо работало классическим двойным чтением: два независимых радиолога, арбитраж третьего на расхождении, чувствительность 73,8 из ста при интервале от 68,9 до 78,3 — это база. Плечо с моделью: модель читает поток, один радиолог читает сам, расхождение между ними разбирает арбитр; чувствительность 80,5 при интервале от 76,4 до 84,2, и прибавка значима. Специфичность в двух плечах одинакова — 98,5 из ста здоровых. То есть заменён второй читатель, а независимость и арбитраж сохранены и переустроены под нового участника.</a:t>
            </a:r>
          </a:p>
          <a:p>
            <a:r>
              <a:t/>
            </a:r>
          </a:p>
          <a:p>
            <a:r>
              <a:t>Две половины счёта в одну базу сводить нельзя, хотя программа одна. Снижение объёма человеческого чтения на 44,3 процента принадлежит промежуточному анализу безопасности: выборка там 80 033, на четверть меньше, набор короче на четыре с половиной месяца. Чувствительность принадлежит итоговому анализу на 105 934. Поставить минус 44,3 процента под объявленной выборкой 105 934 значило бы склеить знаменатели — ровно то, что лекция учит ловить.</a:t>
            </a:r>
          </a:p>
          <a:p>
            <a:r>
              <a:t/>
            </a:r>
          </a:p>
          <a:p>
            <a:r>
              <a:t>Арбитраж и порог. Модель выставляет оценку подозрительности, радиолог — своё заключение, при расхождении случай уходит арбитру, который видит оба. Нагрузка арбитра задана долей расхождений, а та — порогом: сдвиг порога в сторону подозрительности растит и число расхождений, и число отзывов на дообследование. В классическом двойном чтении порог тоже был, но его назначала практика каждого читателя, где он не записан и не настраивается; переход к модели сделал его явным параметром. Второй классический режим — одиночное чтение без арбитража, которым работают программы без ресурса на второго читателя, — в испытании не воспроизводился: сравнивали против сильного.</a:t>
            </a:r>
          </a:p>
          <a:p>
            <a:r>
              <a:t/>
            </a:r>
          </a:p>
          <a:p>
            <a:r>
              <a:t>**Источники.** </a:t>
            </a:r>
            <a:r>
              <a:rPr u="sng">
                <a:solidFill>
                  <a:srgbClr val="065A82"/>
                </a:solidFill>
                <a:hlinkClick r:id="rId3"/>
              </a:rPr>
              <a:t>MASAI, итоговый анализ, The Lancet 2026</a:t>
            </a:r>
            <a:r>
              <a:t> · </a:t>
            </a:r>
            <a:r>
              <a:rPr u="sng">
                <a:solidFill>
                  <a:srgbClr val="065A82"/>
                </a:solidFill>
                <a:hlinkClick r:id="rId4"/>
              </a:rPr>
              <a:t>MASAI, анализ безопасности, Lancet Oncology 2023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 одна, две соседние сняты проверкой. «Шаг исчез совсем» неверно: второе чтение не исчезло, его делает модель. «Шаг появился» неверно тоньше: арбитраж выглядит новым, но разбор расхождения был и в классическом двойном чтении — изменился объём и то, с чьим заключением расходится человеческое.</a:t>
            </a:r>
          </a:p>
          <a:p>
            <a:r>
              <a:t/>
            </a:r>
          </a:p>
          <a:p>
            <a:r>
              <a:t>Про интервальные раки — болезнь, найденную между обследованиями, — надо сказать точно. В плече двойного чтения 1,76 на 1000 обследованных, с моделью 1,55: это 93 случая из 52 872 против 82 из 53 043. Отношение частот 0,88 при интервале от 0,65 до 1,18 — интервал пересекает единицу, значимости нет, и дизайном испытания была заявлена не-худшесть. Читать 1,55 против 1,76 как доказанное улучшение нельзя. Доказано другое, и оно сильное: чувствительность выше значимо, исход не ухудшился, состав пропущенного сдвинулся в менее опасную сторону — инвазивных на 16 процентов меньше (75 против 89), крупных, стадии T2 и выше, на 21 процент меньше (38 против 48), агрессивных подтипов на 27 процентов меньше (43 против 59).</a:t>
            </a:r>
          </a:p>
          <a:p>
            <a:r>
              <a:t/>
            </a:r>
          </a:p>
          <a:p>
            <a:r>
              <a:t>Обратный сюжет измерен в другой программе, у профессионалов. Там каждое исследование читают три независимых источника — два радиолога и система; положительная находка любого уходит на обсуждение консенсуса, куда попало 5 489 случаев из 54 991, и отозвано оттуда 1 348. Одиночную находку системы отзывали в 4,6 случая из ста (86 из 1 886), находку радиолога — в 14,2 (263 из 1 858), то есть втрое чаще. При этом находка системы подтверждалась раком в 22 процентах (19 из 86), радиолога — в 3,4 (9 из 263), то есть была точнее в шесть с лишним раз. Почти равные знаменатели важны: сравниваются сопоставимые потоки находок; большой группы против маленькой здесь нет.</a:t>
            </a:r>
          </a:p>
          <a:p>
            <a:r>
              <a:t/>
            </a:r>
          </a:p>
          <a:p>
            <a:r>
              <a:t>Сломалось здесь организационное доверие к источнику находки, и сломалось оно вместе с появлением нового шага процесса; модель и её точность тут исправны. Вывод не сглаживать: калибровка ломается в обе стороны, и «люди слишком доверяют машине» — половина измеренного.</a:t>
            </a:r>
          </a:p>
          <a:p>
            <a:r>
              <a:t/>
            </a:r>
          </a:p>
          <a:p>
            <a:r>
              <a:t>**Источники.** </a:t>
            </a:r>
            <a:r>
              <a:rPr u="sng">
                <a:solidFill>
                  <a:srgbClr val="065A82"/>
                </a:solidFill>
                <a:hlinkClick r:id="rId3"/>
              </a:rPr>
              <a:t>MASAI, итоговый анализ, The Lancet 2026</a:t>
            </a:r>
            <a:r>
              <a:t> · </a:t>
            </a:r>
            <a:r>
              <a:rPr u="sng">
                <a:solidFill>
                  <a:srgbClr val="065A82"/>
                </a:solidFill>
                <a:hlinkClick r:id="rId4"/>
              </a:rPr>
              <a:t>Dembrower и соавт., Radiology 2025, ScreenTrustCAD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ломается — измерено. Тридцать читателей, девять тысяч прочтений электрокардиограмм: сто кардиограмм, каждую каждый читатель проходил трижды — без расшифровки, с одной расшифровкой (половина неверных) и с несколькими вариантами диагноза. Девять тысяч — повторные измерения на тридцати читателях; независимыми наблюдениями они не являются, и ограничение это называют сами авторы. База падения — верная расшифровка; работы вовсе без подсказки в сравнении нет: те же читатели на тех же ста кардиограммах при правой подсказке и при ошибающейся. У стажёров кардиологии точность падает с 84,86 до 41,66 из ста; у стажёров других специальностей — с 86,38 до 27,43. Две группы различает специальность; стаж у них одинаковый — обе состоят из стажёров. Существеннее другое: связь между уверенностью читателя и его правотой ослабевает у обеих групп. Из падения точности можно выйти процедурой перепроверки; из сломанной калибровки нельзя, потому что человек не знает, какие случаи на перепроверку отправлять.</a:t>
            </a:r>
          </a:p>
          <a:p>
            <a:r>
              <a:t/>
            </a:r>
          </a:p>
          <a:p>
            <a:r>
              <a:t>Что не спасает. Сто сорок радиологов, пятнадцать задач по рентгенограмме грудной клетки: стаж, субспециализация и знакомство с инструментами не предсказывают, кому помощь модели поможет, а кому повредит; ходовое допущение, что выигрывают слабые читатели, опровергнуто. Предсказывает наличие ошибок модели. Числа у величины нет сознательно: её содержание и есть отсутствие связи.</a:t>
            </a:r>
          </a:p>
          <a:p>
            <a:r>
              <a:t/>
            </a:r>
          </a:p>
          <a:p>
            <a:r>
              <a:t>Где потолок. Сто девяносто девять участников краудплатформы, задача про состав питания — не клиническая и без ставок; точность подсказки имитирована на уровне 75 процентов, модели не обучали. Принудительные приёмы подачи — не показывать подсказку, пока не запросят; сначала своё решение, потом подсказка; задержка перед показом — снизили согласие с неверной подсказкой с 64 до 48 из ста. Посчитана пара на одной задаче набора; на общей метрике по всем задачам сдвиг значимости не достиг. Обе половины держатся вместе: шестнадцать пунктов — настоящее улучшение, и при нём почти половина согласий остаётся. Цена измерена тем же опытом: хуже оценивали именно те интерфейсы, которые сильнее снижали опору.</a:t>
            </a:r>
          </a:p>
          <a:p>
            <a:r>
              <a:t/>
            </a:r>
          </a:p>
          <a:p>
            <a:r>
              <a:t>Пробел назван потому, что числа нет в литературе: искали и не нашли.</a:t>
            </a:r>
          </a:p>
          <a:p>
            <a:r>
              <a:t/>
            </a:r>
          </a:p>
          <a:p>
            <a:r>
              <a:t>**Источники.** </a:t>
            </a:r>
            <a:r>
              <a:rPr u="sng">
                <a:solidFill>
                  <a:srgbClr val="065A82"/>
                </a:solidFill>
                <a:hlinkClick r:id="rId3"/>
              </a:rPr>
              <a:t>Bond и соавт., Journal of Electrocardiology 2018</a:t>
            </a:r>
            <a:r>
              <a:t> · </a:t>
            </a:r>
            <a:r>
              <a:rPr u="sng">
                <a:solidFill>
                  <a:srgbClr val="065A82"/>
                </a:solidFill>
                <a:hlinkClick r:id="rId4"/>
              </a:rPr>
              <a:t>Yu и соавт., Nature Medicine 2024</a:t>
            </a:r>
            <a:r>
              <a:t> · </a:t>
            </a:r>
            <a:r>
              <a:rPr u="sng">
                <a:solidFill>
                  <a:srgbClr val="065A82"/>
                </a:solidFill>
                <a:hlinkClick r:id="rId5"/>
              </a:rPr>
              <a:t>Buçinca и соавт., To Trust or to Think, CSCW 2021</a:t>
            </a:r>
            <a:r>
              <a:t> · </a:t>
            </a:r>
            <a:r>
              <a:rPr u="sng">
                <a:solidFill>
                  <a:srgbClr val="065A82"/>
                </a:solidFill>
                <a:hlinkClick r:id="rId6"/>
              </a:rPr>
              <a:t>Dietvorst и соавт., Algorithm Aversion, 2015</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Зал только что видел четыре разбора и четыре разных исхода: падение чувствительности на замере взгляда, оба знака сразу в патологии, измеренный нуль на тройке и выигрыш на контрольной линии. Отдельное испытание, как бы ярко в нём ни было измерено, остаётся отдельным случаем, и четыре отдельных случая правилом тоже не становятся. Чтобы говорить о правиле, нужен свод, и он есть: предрегистрированный обзор с мета-анализом, 74 работы из 5 126 просмотренных, 106 уникальных опытов, 370 размеров эффекта, публикации с января 2020 по июнь 2023. Критерий включения решает здесь всё: опыт брали только тогда, когда измерены все три величины — человек один, модель одна и пара. Без третьей величины сравнивать пару не с чем, и ровно поэтому большинство отчётов о внедрении на этот вопрос не отвечают.</a:t>
            </a:r>
          </a:p>
          <a:p>
            <a:r>
              <a:t/>
            </a:r>
          </a:p>
          <a:p>
            <a:r>
              <a:t>Размер эффекта — мера «насколько сдвинулось», выраженная в долях разброса самих данных. Она нужна там, где надо сложить сто шесть опытов с разными шкалами: один мерил долю верных ответов, другой балл эксперта, третий время. Читаются такие числа по двум признакам: знак и то, лежит ли интервал целиком по одну сторону от нуля. Интервал от −0,71 до −0,37 отрицателен целиком — значит при повторении опытов эффект останется отрицательным. Третий знак после запятой смысла не несёт: содержательно здесь «около половины разброса вниз» против «около половины разброса вверх».</a:t>
            </a:r>
          </a:p>
          <a:p>
            <a:r>
              <a:t/>
            </a:r>
          </a:p>
          <a:p>
            <a:r>
              <a:t>Оговорку надо произносить каждый раз вместе с числом. Общий результат −0,23 считается против лучшей из двух сторон; человек тут не база. Авторы отдельно пишут, что усиление человека в среднем есть, и у этого есть своё число: пара работает лучше человека одного с размером эффекта 0,64 при интервале от 0,53 до 0,74. Прочтение «пара человека и модели работает плохо» эти данные не поддерживают. Верная формулировка одна: пара обычно лучше человека и хуже сильнейшего из двух.</a:t>
            </a:r>
          </a:p>
          <a:p>
            <a:r>
              <a:t/>
            </a:r>
          </a:p>
          <a:p>
            <a:r>
              <a:t>Чего свод не говорит. Он не про исходы пациентов, разнородность внутри высокая, и медицинских работ там часть. Форма из словаря здесь не определяется: за сводом нет внедрённого процесса — ни места, ни объёма, ни исполнителя, — и подгонять под ближайшую форму нечем. Правило отсюда короткое: сначала измерь, кто сильнее по отдельности, потом решай, кто решает.</a:t>
            </a:r>
          </a:p>
          <a:p>
            <a:r>
              <a:t/>
            </a:r>
          </a:p>
          <a:p>
            <a:r>
              <a:t>**Источники.** </a:t>
            </a:r>
            <a:r>
              <a:rPr u="sng">
                <a:solidFill>
                  <a:srgbClr val="065A82"/>
                </a:solidFill>
                <a:hlinkClick r:id="rId3"/>
              </a:rPr>
              <a:t>Vaccaro, Almaatouq, Malone, Nature Human Behaviour 2024</a:t>
            </a:r>
            <a:r>
              <a:t> · </a:t>
            </a:r>
            <a:r>
              <a:rPr u="sng">
                <a:solidFill>
                  <a:srgbClr val="065A82"/>
                </a:solidFill>
                <a:hlinkClick r:id="rId4"/>
              </a:rPr>
              <a:t>та же работа, открытый препринт</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a:t>
            </a:r>
          </a:p>
          <a:p>
            <a:r>
              <a:t/>
            </a:r>
          </a:p>
          <a:p>
            <a:r>
              <a:t>Что получается. Второй взгляд на поток, который человеку не прочесть целиком: модель читает всё и не теряет чувствительность в пятницу вечером. Напоминание о редком диагнозе работает тем же механизмом, которым подсказка и вредит, — она дополняет состав списка, и строка, которой у усталого врача не появилось бы, появляется. И одно устройство процедуры, где пара измеренно сильнее обеих сторон: чувствительность восемьдесят с половиной против семидесяти трёх и восьми при одинаковой специфичности.</a:t>
            </a:r>
          </a:p>
          <a:p>
            <a:r>
              <a:t/>
            </a:r>
          </a:p>
          <a:p>
            <a:r>
              <a:t>Что не получается. Независимость теряется потому, что так устроен интерфейс; внимательность врача тут не причина. Избирательности не хватает процедуры: инструмента, позволяющего отличить верную подсказку от неверной, не получила ни одна группа, и ни одна с задачей не справилась. Объяснимость имеет измеренную цену: упрощённое объяснение неверной рекомендации роняет выбор ниже той линии, которую тот же врач даёт без модели вообще.</a:t>
            </a:r>
          </a:p>
          <a:p>
            <a:r>
              <a:t/>
            </a:r>
          </a:p>
          <a:p>
            <a:r>
              <a:t>Что стало с работой. Нагрузка на том же месте упала — у замера взгляда это было ценой, у обратного знака выигрышем; значит форма знака не несёт, знак задаёт правота подсказки. Сместилась цена ошибки: пропуск модели стал пропуском читателя, и подпись под ним ставит человек. Сменился исполнитель: вторым читателем стала модель, и падение объёма человеческого чтения — следствие этой смены; отдельным достижением оно не является.</a:t>
            </a:r>
          </a:p>
          <a:p>
            <a:r>
              <a:t/>
            </a:r>
          </a:p>
          <a:p>
            <a:r>
              <a:t>Что это держит. Порядок предъявления подсказки — управляемый параметр с измеренной ценой: интерфейс, показывающий отметку вместе со снимком, покупает скорость дорого. Арбитраж третьим читателем там, где человек и модель разошлись. И честный прочерк: ступень участия человека нигде не записана, и неназначенная под нагрузкой сползает к подписи не глядя.</a:t>
            </a:r>
          </a:p>
          <a:p>
            <a:r>
              <a:t/>
            </a:r>
          </a:p>
          <a:p>
            <a:r>
              <a:t>Связку надо произнести: в разборе, где результат упал, и в контрольной линии, где он вырос, работала одна и та же система одного производителя.</a:t>
            </a:r>
          </a:p>
          <a:p>
            <a:r>
              <a:t/>
            </a:r>
          </a:p>
          <a:p>
            <a:r>
              <a:t>Число под строкой об объяснимости стоит назвать, потому что оно против интуиции. В опыте на виньетках с выбором антидепрессанта неверная рекомендация, поданная с упрощённым объяснением, уронила долю верных выборов с 35,7 до 26,2 из ста — то есть ниже той, что получалась вообще без всякой модели. Объяснение не помогло отличить плохой совет от хорошего; оно помогло плохому совету пройти.</a:t>
            </a:r>
          </a:p>
          <a:p>
            <a:r>
              <a:t/>
            </a:r>
          </a:p>
          <a:p>
            <a:r>
              <a:t>Карта задачи и данных идёт следующим кадром, и строку про неё здесь произносить не надо — она там и стоит.</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Двенадцать показанных клеток — окно курсовой сетки из сорока двух; к этой минуте в нём занято четыре, и раздел не добавил ни одной. Это само по себе результат: разборов было четыре, и каждый встал туда, где уже стояли отбор или анализ.</a:t>
            </a:r>
          </a:p>
          <a:p>
            <a:r>
              <a:t/>
            </a:r>
          </a:p>
          <a:p>
            <a:r>
              <a:t>Как читать накопительную карту. Имя без скобок — разобранное в этом разделе числами, имя в скобках — раздел, занявший клетку раньше. Три разбора из четырёх легли на изображение, и это свойство стадии: подсказка живёт там, где человек читает картинку.</a:t>
            </a:r>
          </a:p>
          <a:p>
            <a:r>
              <a:t/>
            </a:r>
          </a:p>
          <a:p>
            <a:r>
              <a:t>Теперь то, ради чего карту стоит разглядывать клетками. В клетке распознавания на изображении стоят три разбора: замер взгляда, где подсказка уронила чувствительность читателя на тридцать два пункта; его зеркало, где при верной подсказке поиск сузился так же, а различение выросло; и контрольная линия, где пара вышла сильнее обеих сторон. Одна задача, один вид данных, один класс инструмента — и три разных знака. Отчёт, сложивший бы их под именем клетки, не сказал бы ни о том, ни о другом.</a:t>
            </a:r>
          </a:p>
          <a:p>
            <a:r>
              <a:t/>
            </a:r>
          </a:p>
          <a:p>
            <a:r>
              <a:t>Про две плашки надо произнести прямо, потому что соблазн их сложить велик, а складывать нельзя. Обе величины называются чувствительностью, обе выражены в долях из ста, и это единственное, что у них общее. Первая измерена на десяти читателях и шестидесяти случаях, в наборе, куда нарочно положили ошибки системы в обе стороны, и база сравнения там — тот же читатель без подсказки. Вторая измерена на ста пяти тысячах женщин со случайным распределением, и база там — двойное человеческое чтение с арбитражем. Вычесть одну из другой, получить «в среднем ничего» и успокоиться — это та самая склейка знаменателей, которую раздел учит ловить. Складывается у этих двух чисел ровно одно — клетка сетки; и ровно поэтому клетка оказывается слабым предсказателем результата.</a:t>
            </a:r>
          </a:p>
          <a:p>
            <a:r>
              <a:t/>
            </a:r>
          </a:p>
          <a:p>
            <a:r>
              <a:t>Классификация на изображении занята подсказкой по оцифрованному срезу. Входит этот режим туда, где уже есть сканер: оцифровка стекла идёт раньше модели и стоит дороже неё. Поиск с генерацией на тексте занят клиническим рассуждением и записью приёма под диктовку; первое входит снизу, самостоятельным употреблением врача, вторая принимается быстро, потому что оформляет уже принятое решение. Прогноз на структурированных данных остался светлым: его занял прошлый раздел, собственного разбора здесь нет.</a:t>
            </a:r>
          </a:p>
          <a:p>
            <a:r>
              <a:t/>
            </a:r>
          </a:p>
          <a:p>
            <a:r>
              <a:t>Восемь прочерков — то, ради чего карту и держат, и читаются они неподвижностью: число тут ни при чём. Третий раздел подряд они стоят на месте: классификации и распознавания на тексте в лекции нет, поиска с генерацией на изображении и на структурированных данных нет, прогноза на тексте и на изображении нет. Прочерк говорит ровно столько же, сколько занятая клетка: инструмент такого класса здесь искать незачем, и время на поиск карта экономит заранее.</a:t>
            </a:r>
          </a:p>
          <a:p>
            <a:r>
              <a:t/>
            </a:r>
          </a:p>
          <a:p>
            <a:r>
              <a:t>Что говорит пустая клетка, которой на рынке нет вовсе, — ансамбль моделей с голосованием. Это не пробел подборки: как направление исследований ансамбль существует, а купить и развернуть его в клинике нельзя, допущенного продукта такого устройства нет. Все работающие вторые мнения на рынке — узкие модели под одну задачу с конкретным допуском. Произносить это стоит прямо: ожидание «соберём несколько моделей, и они проголосуют» звучит разумно и ничем доступным не обеспечено.</a:t>
            </a:r>
          </a:p>
          <a:p>
            <a:r>
              <a:t/>
            </a:r>
          </a:p>
          <a:p>
            <a:r>
              <a:t>И одна клетка по-прежнему стоит вне окна — измерение и сигнал прибора, занятая прошлым разделом. Обученной модели в ней нет, и внутрь сетки её поэтому не вносят.</a:t>
            </a:r>
          </a:p>
          <a:p>
            <a:r>
              <a:t/>
            </a:r>
          </a:p>
          <a:p>
            <a:r>
              <a:t>Последнее, и это уже про курс. Третий раздел подряд лекция возвращается в одни и те же клетки: отбор привёл инструменты в распознавание и классификацию на изображении и в поиск с генерацией на тексте, анализ данных добавил прогноз на структурированных, диагноз не добавил ничего. Класс модели разделы не различает. Различают их цена промаха и процедура, выстроенная вокруг человека, — и это тот же вывод, который сетка дала в инженерной лекции.</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сих пор лекция разбирала разовое решение: прочитать снимок, поставить диагноз, назначить лечение. Наблюдение — работа другого устройства. Предмет тот же человек, но решение здесь повторяется каждые несколько часов, и ошибка накапливается: пропущенное ухудшение не остаётся пропущенным навсегда, оно просто замечено не вовремя.</a:t>
            </a:r>
          </a:p>
          <a:p>
            <a:r>
              <a:t/>
            </a:r>
          </a:p>
          <a:p>
            <a:r>
              <a:t>Классический вид этой работы держится тремя вещами: расписанием измерений, балльной шкалой, которая переводит несколько показателей в одно число, и порогом, на котором дежурная смена обязана вызвать старшего. Все три — документ, а не прибор: баллы назначила согласительная комиссия, порог опубликован, и любой может посмотреть, почему решение такое.</a:t>
            </a:r>
          </a:p>
          <a:p>
            <a:r>
              <a:t/>
            </a:r>
          </a:p>
          <a:p>
            <a:r>
              <a:t>Именно сюда и заходит модель: данные уже лежат в карте в машинном виде, снимать их отдельно не нужно. Вместо дежурной смены, которая раз в несколько часов складывает показатели в одно число, карта сама считает балл риска непрерывно и сама решает, когда прерывать работу тревогой.</a:t>
            </a:r>
          </a:p>
          <a:p>
            <a:r>
              <a:t/>
            </a:r>
          </a:p>
          <a:p>
            <a:r>
              <a:t>Разбор в разделе один, и назвать стоит сразу, что чем является. Два кадра до него разбором не считаются: первый — подача стадии, шесть действий дежурной смены без всякой модели; второй — классический режим, балльная шкала, которую модель застала на этом месте. Дальше идёт цена обеих ошибок, потом счёт обоих классических режимов в той же единице. И только после этого — «Пример 1: модель раннего предупреждения», модель сепсиса, встроенная в медицинскую карту; она держится на четырёх кадрах: что заявлено и что измерила независимая проверка; арифметика потока тревог против шкалы, которую модель заменила; вторая, независимая проверка; и что это дало, чего потребовало и что было дальше. Один случай, разобранный подробно, — не три случая, разобранных бегло. Слово «пример» в заголовках стоит только на этих четырёх кадрах.</a:t>
            </a:r>
          </a:p>
          <a:p>
            <a:r>
              <a:t/>
            </a:r>
          </a:p>
          <a:p>
            <a:r>
              <a:t>Без них разбор модели был бы сравнением с нулём, а не с работающим режимом, и эту ошибку курс ловит у других.</a:t>
            </a:r>
          </a:p>
          <a:p>
            <a:r>
              <a:t/>
            </a:r>
          </a:p>
          <a:p>
            <a:r>
              <a:t>Снимок рядом — сестринский пост с монитором показателей: место, где решение «звать врача сейчас или на следующем обходе» принималось и принимается до сих пор, с моделью или без неё.</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модели: без этого непонятно, во что инструмент вмешивается. На слайде шесть действий названы одной строкой, здесь — каждое.</a:t>
            </a:r>
          </a:p>
          <a:p>
            <a:r>
              <a:t/>
            </a:r>
          </a:p>
          <a:p>
            <a:r>
              <a:t>Снять величины. Сестра идёт по палатам и снимает четыре-пять величин: дыхание, пульс, давление, температуру, иногда насыщение крови кислородом. У постели это занимает две-три минуты, и делает это младший персонал.</a:t>
            </a:r>
          </a:p>
          <a:p>
            <a:r>
              <a:t/>
            </a:r>
          </a:p>
          <a:p>
            <a:r>
              <a:t>Записать в лист. Числа ложатся в бумажный бланк в ногах кровати или в экранную форму карты. Лист — единственное, что видит следующая смена, врач на обходе и комиссия при разборе осложнения.</a:t>
            </a:r>
          </a:p>
          <a:p>
            <a:r>
              <a:t/>
            </a:r>
          </a:p>
          <a:p>
            <a:r>
              <a:t>Перевести отклонения в баллы. Каждая величина получает баллы за отклонение от нормы по таблице: частота дыхания от двенадцати до двадцати — ноль, от двадцати одного до двадцати четырёх — два, двадцать пять и выше — три.</a:t>
            </a:r>
          </a:p>
          <a:p>
            <a:r>
              <a:t/>
            </a:r>
          </a:p>
          <a:p>
            <a:r>
              <a:t>Сравнить сумму с порогом. Баллы складываются в одно число, и число попадает в одну из полос — низкую, среднюю, высокую.</a:t>
            </a:r>
          </a:p>
          <a:p>
            <a:r>
              <a:t/>
            </a:r>
          </a:p>
          <a:p>
            <a:r>
              <a:t>Выполнить назначенное действие. Низкая полоса — продолжать наблюдение по расписанию; средняя — участить измерения и позвать дежурного врача; высокая — вызвать бригаду немедленно.</a:t>
            </a:r>
          </a:p>
          <a:p>
            <a:r>
              <a:t/>
            </a:r>
          </a:p>
          <a:p>
            <a:r>
              <a:t>Передать дорожку смене. Суждение «мне кажется, он сдал» передать нельзя: его не записать в лист и не предъявить утром. Число передаётся, и в этом вся ценность конструкции.</a:t>
            </a:r>
          </a:p>
          <a:p>
            <a:r>
              <a:t/>
            </a:r>
          </a:p>
          <a:p>
            <a:r>
              <a:t>Зачем измерять человека, который спит и выглядит стабильно. Ухудшение читается по направлению дорожки. Пульс сто четыре сам по себе не говорит почти ничего; пульс семьдесят восемь, потом девяносто два, потом сто четыре при падающем давлении говорит много — и говорит за несколько часов до того, как станет очевидно плохо. Поэтому измерения ставят по расписанию: восстановить дорожку задним числом нельзя.</a:t>
            </a:r>
          </a:p>
          <a:p>
            <a:r>
              <a:t/>
            </a:r>
          </a:p>
          <a:p>
            <a:r>
              <a:t>И свойство, которое встретится ещё не раз: веса в таблице назначены людьми и опубликованы. Модель на том же месте выдаёт тот же выход — балл и тревогу — и весов своих не предъявляет.</a:t>
            </a:r>
          </a:p>
          <a:p>
            <a:r>
              <a:t/>
            </a:r>
          </a:p>
          <a:p>
            <a:r>
              <a:t>И то же поле с моделью, названное до разборов. Из шести действий обученная модель заняла три: счёт балла — теперь непрерывный и по всей карте, а не раз в несколько часов по расписанию обхода; сравнение с порогом — работа смены прерывается тревогой; и назначенное действие, к которому приложен набор назначений в один щелчок. Измерение у постели, запись в лист и передача дорожки следующей смене остались людям целиком. Один шаг добавился, и он новый для профессии — разобрать тревогу и отклонить её. Три места, где модель не работает, тоже стоит назвать заранее: порог себе она не назначает, его назначает организация под своё население; опередить врача она не может там, где данные попадают в карту уже после его решения; и замолчать при сдвинувшейся картине населения она не умеет: поток изменился, порог остался прежним.</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Шкала раннего предупреждения — классический режим этой стадии, и с ним дальше придётся сравнивать обученную модель. Устройство её показано схемой из четырёх шагов, и каждый шаг можно показать пальцем: баллы за отклонение, сложение, сравнение с полосой, назначенное действие.</a:t>
            </a:r>
          </a:p>
          <a:p>
            <a:r>
              <a:t/>
            </a:r>
          </a:p>
          <a:p>
            <a:r>
              <a:t>Главное свойство для сегодняшнего разговора — веса в таблице назначены людьми и опубликованы. Их выписала согласительная комиссия профессионального общества, они напечатаны на карте, которая лежит в отделении. Отсюда следует вещь, которой у модели нет: ошибка шкалы разбирается как ошибка документа. Собирается комиссия, правит таблицу, выпускает новую редакцию, и всякий, кто с редакцией не согласен, знает, кому возражать и по какому пункту.</a:t>
            </a:r>
          </a:p>
          <a:p>
            <a:r>
              <a:t/>
            </a:r>
          </a:p>
          <a:p>
            <a:r>
              <a:t>Теперь слабости, и назвать их надо честно, иначе разбор дальше превратится в защиту старого.</a:t>
            </a:r>
          </a:p>
          <a:p>
            <a:r>
              <a:t/>
            </a:r>
          </a:p>
          <a:p>
            <a:r>
              <a:t>Шкала медленна. Она считает по тому, что уже произошло: баллы растут тогда, когда показатели уже отклонились. Человеку, у которого развивается сепсис, к этому моменту уже несколько часов плохо, и первые часы — именно те, в которые меняется исход.</a:t>
            </a:r>
          </a:p>
          <a:p>
            <a:r>
              <a:t/>
            </a:r>
          </a:p>
          <a:p>
            <a:r>
              <a:t>Шкала груба. Один и тот же порог стоит для восьмидесятилетнего после операции на брюшной полости и для тридцатилетнего с переломом. Она не знает ни диагноза, ни анализов, ни истории прошлых госпитализаций — только шесть величин, снятых сейчас.</a:t>
            </a:r>
          </a:p>
          <a:p>
            <a:r>
              <a:t/>
            </a:r>
          </a:p>
          <a:p>
            <a:r>
              <a:t>Обученная модель обещала закрыть ровно эти две слабости: смотреть на всё, что лежит в карте, и говорить раньше. Обещание осмысленное, и держать его в голове надо буквально. Дальше проверяется одно: закрыла ли модель эти две конкретные дыры. Вопрос «лучше ли модель вообще» на этом разборе не стоит — на него нечем ответить.</a:t>
            </a:r>
          </a:p>
          <a:p>
            <a:r>
              <a:t/>
            </a:r>
          </a:p>
          <a:p>
            <a:r>
              <a:t>Выходные данные действующей редакции карты здесь не названы — ни года, ни публикации. Редакции шкал обновляются, а устаревшую опознаёт только тот, кто работает со шкалой каждый день, и ставить непроверенную ссылку на экран хуже, чем не ставить никакой.</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называется до чисел: сначала нужны единицы, в которых эти числа потом придётся читать.</a:t>
            </a:r>
          </a:p>
          <a:p>
            <a:r>
              <a:t/>
            </a:r>
          </a:p>
          <a:p>
            <a:r>
              <a:t>Пропустить ухудшение. Между моментом, когда состояние начало портиться, и моментом, когда это заметили, проходят часы. При сепсисе за эти часы меняется исход: от капельницы с антибиотиком до реанимации и органной недостаточности. Нераспознанное ухудшение состояния — одна из ведущих причин внутрибольничной смерти, и считается она не в деньгах. Точное место в ряду причин здесь не называется: проверяемого числа для него нет, а подставить похожее из другого разбора нельзя — это та самая склейка выборок, которую разбирают дальше как ошибку.</a:t>
            </a:r>
          </a:p>
          <a:p>
            <a:r>
              <a:t/>
            </a:r>
          </a:p>
          <a:p>
            <a:r>
              <a:t>Поднять ложную тревогу. Эта ошибка стоит дешевле, и именно поэтому её цену почти никогда не называют. А состоит она из четырёх слагаемых: анализы, назначенные «чтобы исключить»; антибиотик широкого спектра «на всякий случай» и вклад этого назначения в устойчивость возбудителя; время сестры и врача, снятое с другого пациента в той же смене; и — через сотню повторений — привычка закрывать такие оповещения не читая.</a:t>
            </a:r>
          </a:p>
          <a:p>
            <a:r>
              <a:t/>
            </a:r>
          </a:p>
          <a:p>
            <a:r>
              <a:t>Обе ошибки платит один и тот же человек: дежурная смена. Это свойство шага, и держать его в голове стоит на весь раздел. На прежних шагах пути решения платили разные люди: лишнее обследование пациент оплачивал временем и деньгами, пропущенную находку — исходом. Здесь оба столбца сходятся в одной ночной смене, и выбор между ними делается по многу раз за ночь.</a:t>
            </a:r>
          </a:p>
          <a:p>
            <a:r>
              <a:t/>
            </a:r>
          </a:p>
          <a:p>
            <a:r>
              <a:t>Вопрос, который стоит задать себе до всяких чисел: какую долю автоматических оповещений вы в своём рабочем контуре закрываете не читая. Ответ на него и есть база, с которой дальше сравниваются измеренные доли подтверждения. Прямого медицинского опыта у инженера нет, а контур с автоматическими оповещениями есть почти у каждого — и ответ «почти все» звучит чаще, чем хотелось бы.</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шаг разбора — оба классических режима, посчитанные в той же цене, в которой потом считается модель. Этот шаг пропускают чаще всего: модель сравнивают с нулём или с ощущением, что раньше было плохо. Здесь числа есть, и единица у них одна — доля подтверждения: из ста поднятых тревог сколько оказались тревогами о том, что действительно происходило.</a:t>
            </a:r>
          </a:p>
          <a:p>
            <a:r>
              <a:t/>
            </a:r>
          </a:p>
          <a:p>
            <a:r>
              <a:t>Заменяемый режим — балльная шкала раннего предупреждения. Сравнение шкал на поиске сепсиса в общем отделении разбирает 45 776 пациентов общего профиля; сепсис в этой выборке у 3,3 из ста — 1 496 случаев. Чувствительность шкалы 0,758, специфичность 0,711, доля подтверждения — восемь тревог из ста. Прочитаем это медленно: инструмент, который стоит в стационарах десятилетиями и чьи веса опубликованы, подтверждается восемью случаями из ста поднятых тревог. Девяносто две тревоги из ста — работа, проделанная впустую, и она была частью цены ещё до всякого машинного обучения. Две другие шкалы того же разбора, на той же выборке, подтверждаются двенадцатью и восемнадцатью из ста.</a:t>
            </a:r>
          </a:p>
          <a:p>
            <a:r>
              <a:t/>
            </a:r>
          </a:p>
          <a:p>
            <a:r>
              <a:t>Режим-сосед — пороговая тревога прибора у постели. Из 12 671 размеченной вручную тревоги аритмии ложных 88,8 из ста; объём — от ста пятидесяти до четырёхсот тревог за смену на одного пациента, к вмешательству ведут от пяти до тринадцати из ста. Обученной модели в приборе нет вовсе: там порог, выставленный рукой. Поэтому прибор стоит соседом, а не заменяемым режимом — порог на мониторе и балльная шкала решают разные задачи, и доли их не складываются. Ценность этого числа в другом: поток ложных тревог существовал в палате до обученных моделей, и персонал научился его фильтровать задолго до них.</a:t>
            </a:r>
          </a:p>
          <a:p>
            <a:r>
              <a:t/>
            </a:r>
          </a:p>
          <a:p>
            <a:r>
              <a:t>И оговорка, без которой сравнение дальше не читается: шкалы измерены там, где сепсис встречается у 3,3 из ста, а модель — там, где у 6,6 из ста. Доля подтверждения прямо зависит от распространённости, поэтому сравнивается порядок величины.</a:t>
            </a:r>
          </a:p>
          <a:p>
            <a:r>
              <a:t/>
            </a:r>
          </a:p>
          <a:p>
            <a:r>
              <a:t>**Источники.** </a:t>
            </a:r>
            <a:r>
              <a:rPr u="sng">
                <a:solidFill>
                  <a:srgbClr val="065A82"/>
                </a:solidFill>
                <a:hlinkClick r:id="rId3"/>
              </a:rPr>
              <a:t>сравнение балльных шкал, JAMIA Open 2021</a:t>
            </a:r>
            <a:r>
              <a:t> · </a:t>
            </a:r>
            <a:r>
              <a:rPr u="sng">
                <a:solidFill>
                  <a:srgbClr val="065A82"/>
                </a:solidFill>
                <a:hlinkClick r:id="rId4"/>
              </a:rPr>
              <a:t>Drew и соавт., PLoS One 2014</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Постановка задачи в одну фразу: обученная модель непрерывно считает балл риска сепсиса по данным медицинской карты и, когда балл переходит порог, прерывает работу врача тревогой с готовым набором назначений — обследование и лечение в один щелчок.</a:t>
            </a:r>
          </a:p>
          <a:p>
            <a:r>
              <a:t/>
            </a:r>
          </a:p>
          <a:p>
            <a:r>
              <a:t>Что заявлял разработчик. По первой версии — от 0,76 до 0,83 на уровне госпитализации, так разработчик сообщал его сам; по второй — от 0,83 до 0,86 по трём своим площадкам, и это заявление напечатано внутри рецензируемой работы. Уже здесь полезный факт: заявленное качество закрытой модели бывает множественным и меняется от версии к версии. То, что верхняя граница первой заявки и нижняя граница второй совпали, — совпадение: одной полосы из них не складывается.</a:t>
            </a:r>
          </a:p>
          <a:p>
            <a:r>
              <a:t/>
            </a:r>
          </a:p>
          <a:p>
            <a:r>
              <a:t>Что измерила независимая внешняя проверка. Ретроспективная когорта одной университетской системы: 38 455 госпитализаций 27 697 пациентов, сепсис у 2 552 из них — это 6,6 из ста. Качество различения 0,63 против заявленных 0,76–0,83. При выбранном пороге чувствительность 33 из ста, специфичность 83 из ста, подтверждается 12 тревог из ста поднятых. Модель не выявила 1 709 случаев из 2 552 — две трети. А из пациентов, которых пропустил живой клиницист, поймала 7 из ста: почти не ловила именно те случаи, где была бы полезна сверх человека.</a:t>
            </a:r>
          </a:p>
          <a:p>
            <a:r>
              <a:t/>
            </a:r>
          </a:p>
          <a:p>
            <a:r>
              <a:t>Разницу между 0,63 и 0,76 легко прочитать как «чуть хуже заявленного» — мелочь в третьем знаке. На деле между этими величинами лежит разница в пригодности. 0,76 — инструмент, на который можно опереться при настройке порога; 0,63 — инструмент, у которого при любом пороге либо чувствительность, либо поток тревог оказывается неприемлемым. Отсюда вывод, переносимый на любую отрасль: качество модели есть свойство пары «модель и население».</a:t>
            </a:r>
          </a:p>
          <a:p>
            <a:r>
              <a:t/>
            </a:r>
          </a:p>
          <a:p>
            <a:r>
              <a:t>Класс модели стоит произнести вслух: штрафованная логистическая регрессия, простейшая из обучаемых конструкций, никакой глубокой сети. Это делает случай сильнее, а не слабее: цена заплачена за постановку задачи и за поток тревог, и сложность устройства тут ни при чём.</a:t>
            </a:r>
          </a:p>
          <a:p>
            <a:r>
              <a:t/>
            </a:r>
          </a:p>
          <a:p>
            <a:r>
              <a:t>**Источники.** </a:t>
            </a:r>
            <a:r>
              <a:rPr u="sng">
                <a:solidFill>
                  <a:srgbClr val="065A82"/>
                </a:solidFill>
                <a:hlinkClick r:id="rId3"/>
              </a:rPr>
              <a:t>Wong, Otles и соавт., JAMA Internal Medicine 2021</a:t>
            </a:r>
            <a:r>
              <a:t> · </a:t>
            </a:r>
            <a:r>
              <a:rPr u="sng">
                <a:solidFill>
                  <a:srgbClr val="065A82"/>
                </a:solidFill>
                <a:hlinkClick r:id="rId4"/>
              </a:rPr>
              <a:t>проспективная многоцентровая проверка, JAMA Network Open 2026</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Проверим измеренные числа арифметикой — проверка занимает две минуты.</a:t>
            </a:r>
          </a:p>
          <a:p>
            <a:r>
              <a:t/>
            </a:r>
          </a:p>
          <a:p>
            <a:r>
              <a:t>Возьмём тысячу госпитализаций в той системе, где модель измеряли. Сепсис там у 6,6 из ста, значит случаев 66, а остальных 934. Чувствительность 33 из ста даёт из этих 66 двадцать два пойманных. Специфичность 83 из ста означает, что из 934 человек без сепсиса модель ошибочно отметит 17 из ста — это 159 тревог. Складываем: 22 и 159 — около 181 тревоги на тысячу госпитализаций, то есть 18 из ста. Ровно столько и измерено: 6 971 тревога на 38 455 госпитализаций. Делим пойманных на все тревоги: 22 из 181 — это 12 из ста, та самая доля подтверждения. Обратная величина, 181 на 22, и есть восемь тревог на одно подтверждение.</a:t>
            </a:r>
          </a:p>
          <a:p>
            <a:r>
              <a:t/>
            </a:r>
          </a:p>
          <a:p>
            <a:r>
              <a:t>Переведём это на сотню госпитализаций. Тревога приходит на 18 из ста, подтверждаются около двух. Рядом надо держать третье число: сепсис в этой системе развивается у шести-семи пациентов из ста, и модель находит из них двоих — остальные остаются ненайденными. Два знаменателя разные, и путать их нельзя: 18 — доля госпитализаций, на которые пришла тревога, 12 — доля поднятых тревог, которые подтвердились.</a:t>
            </a:r>
          </a:p>
          <a:p>
            <a:r>
              <a:t/>
            </a:r>
          </a:p>
          <a:p>
            <a:r>
              <a:t>Про саму восьмёрку надо сказать одно, иначе покажется, что в счёте ошибка. В первой публикации на этом месте стояло пятнадцать; значение отозвано эрратой того же журнала, и здесь используется исправленное. Пресса до сих пор печатает пятнадцать и в поиске стоит выше эрраты.</a:t>
            </a:r>
          </a:p>
          <a:p>
            <a:r>
              <a:t/>
            </a:r>
          </a:p>
          <a:p>
            <a:r>
              <a:t>Та же модель в общем отделении, где сепсис у 3,3 из ста, даёт около 175 тревог на тысячу, подтверждение падает до 6 из ста, а на одно подтверждение приходится шестнадцать разборов. Доля подтверждения не переносится вместе с моделью: её пересчитывают под распространённость своего потока, арифметикой на четыре действия, до закупки. Поэтому шкалу с её восемью тревогами из ста, измеренную там, где сепсис вдвое реже, и модель с её двенадцатью сравнивают по порядку величины, а не по превосходству.</a:t>
            </a:r>
          </a:p>
          <a:p>
            <a:r>
              <a:t/>
            </a:r>
          </a:p>
          <a:p>
            <a:r>
              <a:t>**Источники.** </a:t>
            </a:r>
            <a:r>
              <a:rPr u="sng">
                <a:solidFill>
                  <a:srgbClr val="065A82"/>
                </a:solidFill>
                <a:hlinkClick r:id="rId3"/>
              </a:rPr>
              <a:t>Wong, Otles и соавт., JAMA Internal Medicine 2021</a:t>
            </a:r>
            <a:r>
              <a:t> · </a:t>
            </a:r>
            <a:r>
              <a:rPr u="sng">
                <a:solidFill>
                  <a:srgbClr val="065A82"/>
                </a:solidFill>
                <a:hlinkClick r:id="rId4"/>
              </a:rPr>
              <a:t>сравнение балльных шкал, JAMIA Open 2021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Один провал — это один провал; два независимых повторения — другой разряд свидетельства, и поэтому вторая проверка разбирается отдельно.</a:t>
            </a:r>
          </a:p>
          <a:p>
            <a:r>
              <a:t/>
            </a:r>
          </a:p>
          <a:p>
            <a:r>
              <a:t>Через три года другая группа авторов проверила ту же модель в приёмных отделениях двух округов: 145 885 обращений, данные 2023 года, окно предсказания шесть часов. Чувствительность 14,7 из ста, специфичность 95,3. Тревога срабатывала на 4,9 обращения из ста — 7 183 из 145 885; до «пяти из ста» здесь не округляют по тому же правилу, по которому отвергнут пересказ «каждая шестая госпитализация». Медианное опережение клинического решения — ноль минут, причём восемьдесят процентов случаев укладываются в полосу от шести часов сорока двух минут раньше врача до двенадцати часов позже: модель с равной вероятностью приходит задолго до человека и много позже него. Примерно в половине случаев врачи вели сепсис уже до прихода тревоги. Вывод авторов в их собственной формулировке: добавляет мало к тому, что врачи и так делают.</a:t>
            </a:r>
          </a:p>
          <a:p>
            <a:r>
              <a:t/>
            </a:r>
          </a:p>
          <a:p>
            <a:r>
              <a:t>Нулевое опережение — свойство другого рода, чем низкая точность, и механика его видна без всякой статистики. Модель считает по тому, что попало в карту, а в карту данные попадают после того, как врач их запросил. Если анализ заказан потому, что сепсис уже подозревают, его результат поднимет балл после возникшего подозрения. Опережение в такой схеме уходит в ноль по устройству, и никакая донастройка весов этого не меняет.</a:t>
            </a:r>
          </a:p>
          <a:p>
            <a:r>
              <a:t/>
            </a:r>
          </a:p>
          <a:p>
            <a:r>
              <a:t>Действующую версию проверили отдельно, проспективно и в нескольких центрах: 227 091 госпитализация в четырёх системах здравоохранения, сепсис у 3,3 из ста — 7 401 случай. Различение выросло до полосы от 0,82 до 0,92 в зависимости от учреждения. А доля подтверждения осталась низкой, от 0,13 до 0,26, то есть от четырёх до восьми тревог на одно подтверждение. Различение улучшилось, статья расхода уцелела — и разброс между четырьмя системами говорит то же, что и первая проверка: качество есть свойство пары «модель и население».</a:t>
            </a:r>
          </a:p>
          <a:p>
            <a:r>
              <a:t/>
            </a:r>
          </a:p>
          <a:p>
            <a:r>
              <a:t>**Источники.** </a:t>
            </a:r>
            <a:r>
              <a:rPr u="sng">
                <a:solidFill>
                  <a:srgbClr val="065A82"/>
                </a:solidFill>
                <a:hlinkClick r:id="rId3"/>
              </a:rPr>
              <a:t>Ostermayer и соавт., JAMIA Open 2024</a:t>
            </a:r>
            <a:r>
              <a:t> · </a:t>
            </a:r>
            <a:r>
              <a:rPr u="sng">
                <a:solidFill>
                  <a:srgbClr val="065A82"/>
                </a:solidFill>
                <a:hlinkClick r:id="rId4"/>
              </a:rPr>
              <a:t>проспективная многоцентровая проверка, JAMA Network Open 2026</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Четвёртый шаг разбора — назвать, что переехало.</a:t>
            </a:r>
          </a:p>
          <a:p>
            <a:r>
              <a:t/>
            </a:r>
          </a:p>
          <a:p>
            <a:r>
              <a:t>Дало. Раннее оповещение существует и работает без участия человека: круглосуточно, по всем пациентам сразу, по данным, которые уже лежат в карте в машинном виде. Это настоящий выигрыш, и специалист его возьмёт — ни одна балльная шкала не пересчитывается по всей больнице каждые пятнадцать минут.</a:t>
            </a:r>
          </a:p>
          <a:p>
            <a:r>
              <a:t/>
            </a:r>
          </a:p>
          <a:p>
            <a:r>
              <a:t>Потребовало. Разбор и отклонение тревоги стали отдельной статьёй рабочего времени, которой до внедрения не существовало; в отдельных больницах у этого шага появился штат. Плюс проверка доли подтверждения на своём населении до включения, правила тишины, порог под местную распространённость и наблюдение за тем, не поплыло ли распределение входов.</a:t>
            </a:r>
          </a:p>
          <a:p>
            <a:r>
              <a:t/>
            </a:r>
          </a:p>
          <a:p>
            <a:r>
              <a:t>В сумме. Внимание расходуется там же, где и раньше — у постели, в ту же дежурную смену, — и расходуется его больше.</a:t>
            </a:r>
          </a:p>
          <a:p>
            <a:r>
              <a:t/>
            </a:r>
          </a:p>
          <a:p>
            <a:r>
              <a:t>Форма «нагрузка выросла на том же месте» подходит здесь буквально: место то же, рука та же, вырос объём чтения и отклонения. Форма «шаг появился» — про разбор тревоги: у этой операции нет предшественника, потому что шкала считала порог сама и отклонять в ней было нечего. А формы «исполнитель тот же, но стал хуже» в этом разделе нет, и это проверено: качество работы дежурной смены до внедрения и после него никто не измерял, а выдумать такое измерение нельзя так же, как выдумать число.</a:t>
            </a:r>
          </a:p>
          <a:p>
            <a:r>
              <a:t/>
            </a:r>
          </a:p>
          <a:p>
            <a:r>
              <a:t>Та же постановка перенесена на детей, и разбор опубликован; числа из него не приводятся — полный текст закрыт, а краткое изложение для числа слабое основание.</a:t>
            </a:r>
          </a:p>
          <a:p>
            <a:r>
              <a:t/>
            </a:r>
          </a:p>
          <a:p>
            <a:r>
              <a:t>И последнее число, которое читается только с базой. Суточный поток тревог в двадцати четырёх больницах за время вирусной эпидемии вырос с 953 до 1 363 — на сорок три процента. Но загрузка за тот же период упала с 10 159 до 6 634 пациентов, и доля пациентов с тревогой выросла с 9 до 21 из ста, то есть больше чем вдвое. Распределение входов сдвинулось, порог остался на месте.</a:t>
            </a:r>
          </a:p>
          <a:p>
            <a:r>
              <a:t/>
            </a:r>
          </a:p>
          <a:p>
            <a:r>
              <a:t>**Источники.** </a:t>
            </a:r>
            <a:r>
              <a:rPr u="sng">
                <a:solidFill>
                  <a:srgbClr val="065A82"/>
                </a:solidFill>
                <a:hlinkClick r:id="rId3"/>
              </a:rPr>
              <a:t>Wong и соавт., JAMA Network Open 2021, объём тревог</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четырём вопросам, которые задаются на каждой. Числа стоят на разборе, откуда эти обобщения взяты.</a:t>
            </a:r>
          </a:p>
          <a:p>
            <a:r>
              <a:t/>
            </a:r>
          </a:p>
          <a:p>
            <a:r>
              <a:t>Что получается. Выигрыш один и настоящий: балл считается непрерывно и по всей больнице сразу, по данным, которые уже лежат в карте в машинном виде. Ни одна балльная шкала не пересчитывается каждые пятнадцать минут. К этому добавляются два измеренных факта: доля подтверждения модели — двенадцать из ста — лежит в той же полосе, что у заменённой шкалы с её восемью и у соседней с её восемнадцатью; различение действующей версии выросло до полосы от нуля целых восьмидесяти двух сотых до нуля целых девяноста двух сотых.</a:t>
            </a:r>
          </a:p>
          <a:p>
            <a:r>
              <a:t/>
            </a:r>
          </a:p>
          <a:p>
            <a:r>
              <a:t>Что не получается. Три границы, и ни одна не про качество обучения. Порог модель себе не назначает. Опередить решение врача она не может там, где данные попадают в карту после этого решения, — медианное опережение ноль минут. И замолчать при сдвинувшейся картине населения она не умеет.</a:t>
            </a:r>
          </a:p>
          <a:p>
            <a:r>
              <a:t/>
            </a:r>
          </a:p>
          <a:p>
            <a:r>
              <a:t>Что стало с работой. Две формы, названные по словарю. Нагрузка выросла на том же месте: та же смена у той же постели, рука та же, вырос объём чтения и отклонения. Появился шаг — разбор и отклонение тревоги, у которого в отдельных больницах есть штат. Третья клетка — честный прочерк: формы «исполнитель тот же, но стал хуже» в этом разделе нет, потому что качества работы дежурной смены до внедрения и после него никто не измерял. Выдумывать это измерение нельзя так же, как выдумывать число.</a:t>
            </a:r>
          </a:p>
          <a:p>
            <a:r>
              <a:t/>
            </a:r>
          </a:p>
          <a:p>
            <a:r>
              <a:t>Что это держит. Проверка доли подтверждения на своём потоке до включения; назначенный разбор потока, посчитанный рабочим временем; правила тишины и порог под местную распространённость. Три процедуры, и каждая кем-то назначена и подписана.</a:t>
            </a:r>
          </a:p>
          <a:p>
            <a:r>
              <a:t/>
            </a:r>
          </a:p>
          <a:p>
            <a:r>
              <a:t>Что уходит дальше: тревогу закрыли, запись об этом решении осталась, и читает её тот, кто пациента не видел вовсе.</a:t>
            </a:r>
          </a:p>
          <a:p>
            <a:r>
              <a:t/>
            </a:r>
          </a:p>
          <a:p>
            <a:r>
              <a:t>Карту задачи и данных держит отдельный кадр, и на нём видно главное: новой клетки раздел не добавил. Прогноз на структурированных данных занят с прошлого раздела — там это был отбор по предсказанным расходам, здесь модель раннего предупреждения, и класс модели у них один. Различает эти два разбора то, кому приходит выход: в одном случае администрации, в другом дежурной смене у постели.</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Двенадцать показанных клеток — окно курсовой сетки из сорока двух: четыре строки задач на три вида данных, те же и в том же порядке, что стояли на незаполненной матрице входа. К этой минуте в окне занято четыре клетки, и раздел не добавил ни одной.</a:t>
            </a:r>
          </a:p>
          <a:p>
            <a:r>
              <a:t/>
            </a:r>
          </a:p>
          <a:p>
            <a:r>
              <a:t>Своя клетка раздела — прогноз на структурированных данных. Вход — показатели и записи, которые уже лежат в карте; выход — балл риска и прерывающая тревога. Полужирной она набрана потому, что разобрана числами: заявленное качество против измеренного, доля подтверждения, опережение, поток тревог. Светлое слово «анализ» стоит в той же клетке: её занял прошлый раздел отбором по предсказанным расходам, и класс модели у двух разборов один. Различает их то, кому приходит выход — администрации или дежурной смене у постели.</a:t>
            </a:r>
          </a:p>
          <a:p>
            <a:r>
              <a:t/>
            </a:r>
          </a:p>
          <a:p>
            <a:r>
              <a:t>Что говорит занятая клетка. Это единственный раздел лекции, который целиком стоит не на изображении. На отборе, на анализе данных и на чтении исследований работали со снимком; здесь снимка нет вовсе. Именно поэтому модель сюда и зашла: снимать данные отдельно не нужно, они уже есть в машинном виде, и это же объясняет, почему внедрение обогнало независимые проверки.</a:t>
            </a:r>
          </a:p>
          <a:p>
            <a:r>
              <a:t/>
            </a:r>
          </a:p>
          <a:p>
            <a:r>
              <a:t>Что говорит светлое в трёх других клетках. Три клетки заняты прежними разделами, и ни в одну из них этот раздел ничего не добавил. Карта накопительная, поэтому видно то, чего не видно на отдельном разборе: курс четвёртый раздел подряд работает в одних и тех же четырёх клетках. Разделы различает цена промаха и процедура вокруг человека; класс задачи и вид данных у них общие.</a:t>
            </a:r>
          </a:p>
          <a:p>
            <a:r>
              <a:t/>
            </a:r>
          </a:p>
          <a:p>
            <a:r>
              <a:t>Что говорят пустые. Восемь клеток окна пусты, и пусты они не впервые — те же восемь стояли прочерками и на трёх прежних картах. Неподвижный прочерк и есть содержание: он говорит, что инструмент такого класса на этих местах искать незачем, и экономит время, которое ушло бы на поиск. Поставщик, принёсший историю успеха на звуке, на видео или на изображении, принёс историю не про эту стадию, и проверять его надо вопросом, в какую клетку он попадает; придирки к цифрам тут не помогут.</a:t>
            </a:r>
          </a:p>
          <a:p>
            <a:r>
              <a:t/>
            </a:r>
          </a:p>
          <a:p>
            <a:r>
              <a:t>Имена под таблицей — не метрики и не рекомендация. Они названы, чтобы режим можно было узнать в своей больнице: предиктивный модуль внутри самой карты, донастраиваемый на свою историю, и отдельный рынок рядом с ним — надзор за дрейфом распределения и пересчёт порога под своё население. Второй рынок существует ровно потому, что первый не умеет замолкать сам.</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Наблюдение искало ухудшение в цифрах; эта работа устроена иначе. Решение по ней принимает не прибор и не дежурная смена, а человек, который читает документ позже, иногда через месяцы, и не видел пациента лично. Качество записи для него — не стиль, а единственный канал, через который к нему попадает чужое решение.</a:t>
            </a:r>
          </a:p>
          <a:p>
            <a:r>
              <a:t/>
            </a:r>
          </a:p>
          <a:p>
            <a:r>
              <a:t>Классический вид этой работы — набор текста руками сразу после приёма либо диктовка живому писцу, с подписью в конце. Модель входит в неё с двух сторон. Первая — запись самого приёма: инструмент слушает разговор и отдаёт черновик заметки, врач вычитывает и подписывает. Вторая — запись исхода госпитализации целиком: модель собирает выписной документ по истории болезни, врач снова вычитывает и подписывает, и дальше по этому документу назначают лечение в другом месте.</a:t>
            </a:r>
          </a:p>
          <a:p>
            <a:r>
              <a:t/>
            </a:r>
          </a:p>
          <a:p>
            <a:r>
              <a:t>Оба разбора держатся одной и той же формой. Классический режим посчитан отдельно от заявленного эффекта модели; измеренный эффект — рандомизированным испытанием или слепым сравнением, а не самоотчётом тех, кто сам выбрал инструмент; и у каждого названа пара — что стало возможно и чего это потребовало.</a:t>
            </a:r>
          </a:p>
          <a:p>
            <a:r>
              <a:t/>
            </a:r>
          </a:p>
          <a:p>
            <a:r>
              <a:t>Разбор записи приёма показывает, как заявленная экономия времени и измеренный результат — две разные величины, посчитанные в разных единицах. Разбор выписного эпикриза идёт дальше: счёт ошибок у модели и у человека сопоставим, но устройство ошибки другое — не опечатка, а правдоподобно звучащая подробность, которой не было в истории. Прежний навык вычитки «как после коллеги» на этот документ не переносится.</a:t>
            </a:r>
          </a:p>
          <a:p>
            <a:r>
              <a:t/>
            </a:r>
          </a:p>
          <a:p>
            <a:r>
              <a:t>Раздел заканчивается документом, а документ в медицине почти всегда стоит под чьей-то подписью. Это и есть мост к следующему разделу: чем вообще удерживают цену ошибки, если решение уже принято и записано.</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инструменты. Приём на двенадцать минут: пациент рассказывает, врач спрашивает, смотрит, назначает — и параллельно держит в голове структуру будущей записи. После приёма, а то и к концу дня, эта структура набирается в карту.</a:t>
            </a:r>
          </a:p>
          <a:p>
            <a:r>
              <a:t/>
            </a:r>
          </a:p>
          <a:p>
            <a:r>
              <a:t>Запись делают не для архива, и это первое, что надо произнести. У неё есть читатели, и каждый по ней действует: участковый врач через месяц, следующий стационар при повторной госпитализации, другой специалист в том же учреждении, комиссия при разборе случая и сам пациент, который вправе получить копию.</a:t>
            </a:r>
          </a:p>
          <a:p>
            <a:r>
              <a:t/>
            </a:r>
          </a:p>
          <a:p>
            <a:r>
              <a:t>Отсюда свойство стадии, определяющее цену ошибки: решение по записи принимает тот, кто пациента не видел. Врач, читающий чужую запись, не может отличить «этого не было» от «этого не записали». Пропуск и отсутствие события выглядят для него одинаково.</a:t>
            </a:r>
          </a:p>
          <a:p>
            <a:r>
              <a:t/>
            </a:r>
          </a:p>
          <a:p>
            <a:r>
              <a:t>Цена обеих ошибок называется до всяких чисел. Записать меньше, чем было, — следующий читатель назначит заново, а при разборе случая действие, которое врач совершил, окажется недоказанным. Записать то, чего не было, — назначат по ложному основанию. Платит обе ошибки человек, который в этом приёме не участвовал.</a:t>
            </a:r>
          </a:p>
          <a:p>
            <a:r>
              <a:t/>
            </a:r>
          </a:p>
          <a:p>
            <a:r>
              <a:t>Классических режимов на этом месте работало два, и посчитан из них один. Первый — врач пишет сам, и он посчитан внутри самого испытания: у него есть контрольная группа, писавшая заметки как раньше. Второй — живой медицинский писец, человек на приёме, который пишет за врача. Это не экзотика: у режима есть рынок, стоимость приёма и собственная литература. Плечом испытания он не был, и приводить его стоимость из другой работы значило бы складывать разные выборки.</a:t>
            </a:r>
          </a:p>
          <a:p>
            <a:r>
              <a:t/>
            </a:r>
          </a:p>
          <a:p>
            <a:r>
              <a:t>И число, которое надо держать при всяком «стало быстрее»: в контрольной группе время в заметке само упало с четырёх минут двадцати двух секунд до четырёх минут четырёх. Восемнадцать секунд принадлежат ходу времени, а не инструменту.</a:t>
            </a:r>
          </a:p>
          <a:p>
            <a:r>
              <a:t/>
            </a:r>
          </a:p>
          <a:p>
            <a:r>
              <a:t>**Источники.** </a:t>
            </a:r>
            <a:r>
              <a:rPr u="sng">
                <a:solidFill>
                  <a:srgbClr val="065A82"/>
                </a:solidFill>
                <a:hlinkClick r:id="rId3"/>
              </a:rPr>
              <a:t>трёхрукое рандомизированное испытание, препринт medRxiv 2025</a:t>
            </a:r>
            <a:r>
              <a:t> · </a:t>
            </a:r>
            <a:r>
              <a:rPr u="sng">
                <a:solidFill>
                  <a:srgbClr val="065A82"/>
                </a:solidFill>
                <a:hlinkClick r:id="rId4"/>
              </a:rPr>
              <a:t>регистрация испытания NCT06792890</a:t>
            </a:r>
          </a:p>
          <a:p>
            <a:r>
              <a:t/>
            </a:r>
          </a:p>
          <a:p>
            <a:r>
              <a:t>И то же поле с моделью, названное до разборов. Из шести действий обученная модель заняла два: набор записи — черновик готов к концу приёма — и сборку выписного документа по карте целиком. Первое действие с человека снято: структуру будущей записи во время живого разговора держит теперь инструмент, и это единственное место лекции, где шаг у человека действительно убрали. Убрали не бесплатно — взамен появился новый, и он тяжелее, чем выглядит: вычитать чужой текст и найти в нём то, чего не было. Своё вычитывают иначе, глаз настроен на опечатку и пропуск; правдоподобная подробность, которой в карте нет, этому глазу не видна. Три места, где модель не работает: снять обязанность вычитки она не может — подпись остаётся человеческой, и при разборе случая разбирать будут её; сократить активное время правки не выходит — набор упал, правка осталась прежней; и отличить правдоподобное от записанного без привязки каждой строки к месту в карте-источнике она не умеет.</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Начнём с заявления. Крупная система здравоохранения сообщила об экономии 15 791 часа на 63 000 приёмов за десять недель работы инструмента автоматической записи приёма. Методика счёта не раскрыта.</a:t>
            </a:r>
          </a:p>
          <a:p>
            <a:r>
              <a:t/>
            </a:r>
          </a:p>
          <a:p>
            <a:r>
              <a:t>Поищем базу своими руками. 15 791 час на 63 000 приёмов — это около четверти часа на приём. Теперь вспомним, в чём измерено время заметки: в минутах и секундах, порядка четырёх минут. Пятнадцать минут экономии на приёме не укладываются в четыре минуты работы над заметкой — экономить больше, чем вся операция стоила, нельзя. Значит заявление посчитано в другой величине, скорее всего во времени, проведённом в карте вообще, и сопоставить его с измеренным результатом невозможно. Число без названной методики счёта не проверяется и не опровергается: оно не является утверждением о мире.</a:t>
            </a:r>
          </a:p>
          <a:p>
            <a:r>
              <a:t/>
            </a:r>
          </a:p>
          <a:p>
            <a:r>
              <a:t>Теперь измеренное. Испытание с настоящей рандомизацией и тремя равными группами разбирает 238 амбулаторных врачей четырнадцати специальностей: два коммерческих инструмента и обычная практика. У первого инструмента время в заметке снизилось на 9,5 процента относительно контрольной группы, у второго значимых изменений нет. По шкалам самочувствия подействовали оба — общий балл профессионального самочувствия вырос на 2,76 на шкале от десяти до пятидесяти — и между двумя инструментами по этим шкалам разницы нет.</a:t>
            </a:r>
          </a:p>
          <a:p>
            <a:r>
              <a:t/>
            </a:r>
          </a:p>
          <a:p>
            <a:r>
              <a:t>Важна и база самой контрольной группы: там время в заметке за период наблюдения само снизилось с четырёх минут двадцати двух секунд до четырёх минут четырёх секунд. Восемнадцать секунд без всякого инструмента — это практика и ход времени, и всякое «стало быстрее» считают против этой величины.</a:t>
            </a:r>
          </a:p>
          <a:p>
            <a:r>
              <a:t/>
            </a:r>
          </a:p>
          <a:p>
            <a:r>
              <a:t>В многоцентровом наблюдении приёмных отделений заметка завершалась раньше, пациенты чаще отмечали, что их слушали, нагрузка на внимание падала — а активное время правки заметки не изменилось. Сократился набор текста, правка осталась прежней.</a:t>
            </a:r>
          </a:p>
          <a:p>
            <a:r>
              <a:t/>
            </a:r>
          </a:p>
          <a:p>
            <a:r>
              <a:t>Отсюда вывод сильнее обоих чисел: один дизайн, одно население врачей, два продукта одного режима — и один результат значимый, другой нулевой. Измеренный эффект принадлежит реализации, а не классу инструмента.</a:t>
            </a:r>
          </a:p>
          <a:p>
            <a:r>
              <a:t/>
            </a:r>
          </a:p>
          <a:p>
            <a:r>
              <a:t>**Источники.** </a:t>
            </a:r>
            <a:r>
              <a:rPr u="sng">
                <a:solidFill>
                  <a:srgbClr val="065A82"/>
                </a:solidFill>
                <a:hlinkClick r:id="rId3"/>
              </a:rPr>
              <a:t>трёхрукое рандомизированное испытание, препринт medRxiv 2025</a:t>
            </a:r>
            <a:r>
              <a:t> · </a:t>
            </a:r>
            <a:r>
              <a:rPr u="sng">
                <a:solidFill>
                  <a:srgbClr val="065A82"/>
                </a:solidFill>
                <a:hlinkClick r:id="rId4"/>
              </a:rPr>
              <a:t>регистрация испытания NCT06792890</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Было: держать структуру документа в голове во время разговора и набирать текст после приёма. Стало: говорить свободно, а затем вычитывать чужой текст. Объём работы сопоставим, место сменилось — это форма «нагрузка переехала на другой шаг», и здесь она именно переезд, а не исчезновение.</a:t>
            </a:r>
          </a:p>
          <a:p>
            <a:r>
              <a:t/>
            </a:r>
          </a:p>
          <a:p>
            <a:r>
              <a:t>Пятую операцию делает не врач. В отчёте одной клиники постоянная служба контроля качества заметок прочитала свыше 3 600 отзывов врачей и собрала 1 252 анкеты — со своим постоянным штатом. Операции «выборочно прочитать машинные черновики и собрать отзывы» в прежнем процессе не было просто потому, что не было машинных черновиков. Это форма «шаг появился», и у неё есть измеримая стоимость: штат.</a:t>
            </a:r>
          </a:p>
          <a:p>
            <a:r>
              <a:t/>
            </a:r>
          </a:p>
          <a:p>
            <a:r>
              <a:t>Одно наблюдение выглядит противоречием и им не является: усталость ниже, а активное время правки то же. Сняли не время — сняли необходимость держать структуру документа в голове во время разговора с человеком. Это настоящий выигрыш, он измерен; он просто измерен в другой величине, чем та, в которой его продают.</a:t>
            </a:r>
          </a:p>
          <a:p>
            <a:r>
              <a:t/>
            </a:r>
          </a:p>
          <a:p>
            <a:r>
              <a:t>Величина эффекта к тому же зависит от того, когда измерять. Продольное сравнение до и после с контролем даёт снижение времени записи на 7 из ста в день внедрения и до 16 из ста к сто пятидесятому дню. Отсюда сразу две осторожности. Быстрый пробный запуск недооценивает: измерив эффект в первую неделю, можно не увидеть того, что появится к пятому месяцу, и отвергнуть работающий инструмент. И обратная: часть прироста к сто пятидесятому дню — привыкание человека, а разделить привыкание и свойство инструмента наблюдательным сравнением нельзя.</a:t>
            </a:r>
          </a:p>
          <a:p>
            <a:r>
              <a:t/>
            </a:r>
          </a:p>
          <a:p>
            <a:r>
              <a:t>У второго инструмента того же испытания изменений во времени не было вовсе, при том же дизайне и на том же населении врачей. Значит измеренный эффект принадлежит не режиму работы как таковому, а конкретной реализации, и фраза «мы внедрили автоматическую запись приёма» сведений о результате не содержит.</a:t>
            </a:r>
          </a:p>
          <a:p>
            <a:r>
              <a:t/>
            </a:r>
          </a:p>
          <a:p>
            <a:r>
              <a:t>**Источники.** </a:t>
            </a:r>
            <a:r>
              <a:rPr u="sng">
                <a:solidFill>
                  <a:srgbClr val="065A82"/>
                </a:solidFill>
                <a:hlinkClick r:id="rId3"/>
              </a:rPr>
              <a:t>трёхрукое рандомизированное испытание, препринт medRxiv 2025</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Выписной эпикриз завершает госпитализацию, и по нему действуют дальше: участковый врач, следующий стационар, иногда реабилитационное отделение. Работа та же, что и при записи приёма, а цена ошибки другая, потому что по эпикризу назначают.</a:t>
            </a:r>
          </a:p>
          <a:p>
            <a:r>
              <a:t/>
            </a:r>
          </a:p>
          <a:p>
            <a:r>
              <a:t>Второй шаг формы назовём до чисел. Классических режимов на этом месте работало два. Первый — лечащий врач пишет эпикриз сам; он посчитан ниже и служит базой всех сравнений. Второй — черновик, подготовленный ординатором или младшим врачом под подпись лечащего: та же работа, другая рука, и в учебных клиниках она чаще всего делается именно так. Этот режим назван и не посчитан: отдельным плечом его не выделяла ни одна из трёх работ, то есть сравнения «модель против ординатора» на этом материале нет. Называть его обязательно по той же причине, по которой считают первый: сравнение с дорогим вариантом завышает выигрыш по времени, сравнение с дешёвым — завышает выигрыш по качеству.</a:t>
            </a:r>
          </a:p>
          <a:p>
            <a:r>
              <a:t/>
            </a:r>
          </a:p>
          <a:p>
            <a:r>
              <a:t>Устройство замера назовём до чисел, иначе их не прочесть. Сто случайно отобранных госпитализаций продолжительностью от трёх до шести дней. Двадцать два лечащих врача-рецензента. Оценка дублированная — каждый документ смотрели двое. И слепая: рецензенты не знали, какой текст машинный, а какой человеческий. Это высокий разряд свидетельства для такой задачи, и именно поэтому числа отсюда стоит держать в голове.</a:t>
            </a:r>
          </a:p>
          <a:p>
            <a:r>
              <a:t/>
            </a:r>
          </a:p>
          <a:p>
            <a:r>
              <a:t>Что измерено. Общее качество сопоставимо: три целых шестьдесят семь у врачей против трёх целых семидесяти семи у модели по пятибалльной шкале. Машинные версии сжатее — четыре целых одна сотая против трёх целых семидесяти — и связнее. Но менее полны: три целых семьдесят две сотых против четырёх целых тринадцати. Уникальных ошибок на документ у модели больше: две целых девяносто одна сотая против одной целой восьмидесяти двух.</a:t>
            </a:r>
          </a:p>
          <a:p>
            <a:r>
              <a:t/>
            </a:r>
          </a:p>
          <a:p>
            <a:r>
              <a:t>Третье число — то, которое чаще всего пропускают. Потенциальный вред отдельной ошибки у человека и у модели не различается: одна целая тридцать четыре сотых против одной целой тридцати пяти по шкале от нуля до семи, обе оценки низкие. Ошибок с потенциалом необратимого вреда шесть у модели и пять у врачей. То есть ошибок стало больше, а каждая отдельная не стала страшнее.</a:t>
            </a:r>
          </a:p>
          <a:p>
            <a:r>
              <a:t/>
            </a:r>
          </a:p>
          <a:p>
            <a:r>
              <a:t>Форма словаря здесь седьмая: сместилась цена ошибки. Шаги те же, исполнители те же, подпись та же — изменилось то, чего стоит пропущенная в документе строка, потому что по этому документу назначают в другом месте и другие руки.</a:t>
            </a:r>
          </a:p>
          <a:p>
            <a:r>
              <a:t/>
            </a:r>
          </a:p>
          <a:p>
            <a:r>
              <a:t>**Источники.** </a:t>
            </a:r>
            <a:r>
              <a:rPr u="sng">
                <a:solidFill>
                  <a:srgbClr val="065A82"/>
                </a:solidFill>
                <a:hlinkClick r:id="rId3"/>
              </a:rPr>
              <a:t>слепое сравнение ста госпитализаций, JAMA Internal Medicine 2025</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Четвёртый шаг разбора — назвать, что переехало. Переехала здесь вычитка, и переехала она не в другое место, а в другой предмет.</a:t>
            </a:r>
          </a:p>
          <a:p>
            <a:r>
              <a:t/>
            </a:r>
          </a:p>
          <a:p>
            <a:r>
              <a:t>Прежний навык вычитки собран под человеческую ошибку. Глаз настроен на опечатку, на оборванную фразу, на пропущенный раздел — на то, что оставляет после себя уставший человек в конце смены. Машинная ошибка устроена иначе: это связное, уместное по стилю утверждение, которого в истории болезни не было. Искать его прежним навыком нельзя, и учить этому новому чтению пока никто не учит.</a:t>
            </a:r>
          </a:p>
          <a:p>
            <a:r>
              <a:t/>
            </a:r>
          </a:p>
          <a:p>
            <a:r>
              <a:t>Сколько этой вычитки на самом деле делается, измерено проспективно. На триста восемьдесят четыре выписки система выдала тысячу двести семьдесят четыре сводки; машинное содержание врачи использовали в двухстах девятнадцати случаях — пятьдесят семь из ста. На сотне сводок нашлись пропуски в двадцати пяти, неточности в двадцати, выдумки в двух. А из ста неотредактированных сводок восемьдесят восемь признаны не несущими потенциала вреда, одна — способной причинить умеренный вред, случаев тяжёлого вреда нет. Определения тут другие, чем в слепом сравнении, и складывать два набора в один список нельзя.</a:t>
            </a:r>
          </a:p>
          <a:p>
            <a:r>
              <a:t/>
            </a:r>
          </a:p>
          <a:p>
            <a:r>
              <a:t>По этому случаю в обзорах ходит тройка аккуратных чисел со ссылкой на «исследование ста эпикризов». Построчное чтение трёх доступных первоисточников её не даёт: ни одна работа не считает в тех определениях, в которых её пересказывают. Числа, которые удобно звучат, живут в пересказах дольше, чем в первоисточниках, и проверять их приходится не придиркой к величине, а чтением самой работы.</a:t>
            </a:r>
          </a:p>
          <a:p>
            <a:r>
              <a:t/>
            </a:r>
          </a:p>
          <a:p>
            <a:r>
              <a:t>Практический вывод для инженера звучит одинаково в любой отрасли. Когда в обзоре стоит число со ссылкой на работу, ссылка проверяется не на существование работы, а на то, считает ли работа ровно эту величину в ровно этих определениях. Здесь она не считает, и три числа держались только тем, что никто не открывал первоисточник. Пересказ — отдельный разряд свидетельства, и он ниже исследования даже тогда, когда числа у них совпадают.</a:t>
            </a:r>
          </a:p>
          <a:p>
            <a:r>
              <a:t/>
            </a:r>
          </a:p>
          <a:p>
            <a:r>
              <a:t>**Источники.** </a:t>
            </a:r>
            <a:r>
              <a:rPr u="sng">
                <a:solidFill>
                  <a:srgbClr val="065A82"/>
                </a:solidFill>
                <a:hlinkClick r:id="rId3"/>
              </a:rPr>
              <a:t>проспективный пилот, JAMA Network Open 2026</a:t>
            </a:r>
            <a:r>
              <a:t> · </a:t>
            </a:r>
            <a:r>
              <a:rPr u="sng">
                <a:solidFill>
                  <a:srgbClr val="065A82"/>
                </a:solidFill>
                <a:hlinkClick r:id="rId4"/>
              </a:rPr>
              <a:t>слепое сравнение ста госпитализаций, JAMA Internal Medicine 2025</a:t>
            </a:r>
            <a:r>
              <a:t> · </a:t>
            </a:r>
            <a:r>
              <a:rPr u="sng">
                <a:solidFill>
                  <a:srgbClr val="065A82"/>
                </a:solidFill>
                <a:hlinkClick r:id="rId5"/>
              </a:rPr>
              <a:t>сравнение «до и после» в реабилитационном отделении, Cureus 2026</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 Числа стоят на разборах, откуда эти обобщения взяты.</a:t>
            </a:r>
          </a:p>
          <a:p>
            <a:r>
              <a:t/>
            </a:r>
          </a:p>
          <a:p>
            <a:r>
              <a:t>Что получается. Выигрыш настоящий и берётся сразу: заметка готова к концу приёма, а не к концу дня, документ короче и связнее человеческого, а главное — снята необходимость держать структуру документа в голове, пока говоришь с человеком. Измеренная скорость при этом принадлежит не режиму, а реализации: девять с половиной процентов времени в заметке у одного инструмента и ноль у второго, при одном дизайне и на одном населении врачей.</a:t>
            </a:r>
          </a:p>
          <a:p>
            <a:r>
              <a:t/>
            </a:r>
          </a:p>
          <a:p>
            <a:r>
              <a:t>Что не получается. Подтвердить заявленную экономию нельзя: пятнадцать тысяч семьсот девяносто один час на шестьдесят три тысячи приёмов посчитаны без раскрытой методики, а это около четверти часа на приём при всей работе над заметкой в четыре минуты. Сократить активное время правки не удалось ни одному из двух инструментов. И написать полнее человека модель не умеет: три целых семьдесят две сотых против четырёх целых тринадцати по полноте, уникальных ошибок две целых девяносто одна против одной целой восьмидесяти двух.</a:t>
            </a:r>
          </a:p>
          <a:p>
            <a:r>
              <a:t/>
            </a:r>
          </a:p>
          <a:p>
            <a:r>
              <a:t>Что стало с работой. Три формы, названные по словарю. Нагрузка переехала на другой шаг — с набора текста на вычитку чужого. Шаг появился — выборочный контроль заметок, и у него постоянный штат: свыше трёх тысяч шестисот прочитанных отзывов и тысяча двести пятьдесят две анкеты в отчёте одной клиники. Сместилась цена ошибки: искать надо не опечатку, а правдоподобную подробность, которой не было.</a:t>
            </a:r>
          </a:p>
          <a:p>
            <a:r>
              <a:t/>
            </a:r>
          </a:p>
          <a:p>
            <a:r>
              <a:t>Что это держит. Вычитка и подпись врача; выборочный контроль с его объёмом. И честный прочерк: подготовки к вычитке другого рода не существует — прежний навык на машинную ошибку не переносится, а новому никто не учит.</a:t>
            </a:r>
          </a:p>
          <a:p>
            <a:r>
              <a:t/>
            </a:r>
          </a:p>
          <a:p>
            <a:r>
              <a:t>Строка про судьбу двух режимов в одной клетке, и она короткая. Сортировка обращения словами после разобранного краха стагнирует, а запись приёма под диктовку принимается быстро. Разницу делает одно: первый режим принимает решение, второй оформляет уже принятое. Карту стадии разберём следующим кадром.</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Двенадцать показанных клеток — окно курсовой сетки из сорока двух; к этой минуте в нём занято четыре. Раздел не добавил ни одной: обе его работы — запись приёма и выписной эпикриз — встали в клетку поиска с генерацией на тексте, которую до них заняли отбор и диагноз.</a:t>
            </a:r>
          </a:p>
          <a:p>
            <a:r>
              <a:t/>
            </a:r>
          </a:p>
          <a:p>
            <a:r>
              <a:t>Начнём с прочерков, потому что в этой карте они говорят громче занятых клеток. Их восемь, и с Раздела 2 ни один не закрылся. Отбор занял три клетки, анализ данных добавил четвёртую, и дальше сетка стоит: диагноз, наблюдение и эта стадия легли туда, где уже стояли прежние разделы. Пустая клетка не означает, что материал не искали. Она означает ровно то, что написано: инструмента такого класса на этой работе нет, и поставщик, который его приносит, принёс инструмент не для этой стадии. Это и есть практическая польза карты — она отвечает «нет» быстрее, чем любое обсуждение.</a:t>
            </a:r>
          </a:p>
          <a:p>
            <a:r>
              <a:t/>
            </a:r>
          </a:p>
          <a:p>
            <a:r>
              <a:t>Теперь занятая клетка. Почему она именно эта, хотя запись приёма начинается с голоса. Вход у режима звуковой, а клетка ставится по выходу: решение принимается по тексту, подписывают текст и вычитывают текст. Распознавание речи здесь — доставка, и оно работало задолго до нынешних моделей; ни одно из измеренных чисел раздела к нему не относится.</a:t>
            </a:r>
          </a:p>
          <a:p>
            <a:r>
              <a:t/>
            </a:r>
          </a:p>
          <a:p>
            <a:r>
              <a:t>Что говорит одна клетка, занятая четырьмя работами. Два разбора этого раздела отличаются тем, что документ запускает дальше: запись приёма читает следующий врач, выписной эпикриз запускает назначения в другом учреждении. Светлые «отбор» и «диагноз» в той же клетке добавляют третий и четвёртый случай — первая линия обращений на словах и клиническое рассуждение. Четыре работы, одна клетка, четыре разные цены ошибки. Ради этой мысли курс и держит сетку: клетка говорит, чем инструмент занят, и ничего не говорит о том, чего стоит его промах.</a:t>
            </a:r>
          </a:p>
          <a:p>
            <a:r>
              <a:t/>
            </a:r>
          </a:p>
          <a:p>
            <a:r>
              <a:t>Имена под таблицей — не метрики и не рекомендация. Они названы, чтобы режим можно было узнать в своей работе. Запись приёма в фоне с черновиком заметки принимается массово и принимается именно как черновик. Второй режим — сборка клинического документа внутри самой карты, и у него есть важная разновидность: сводка со ссылкой на место в карте-источнике. Различает их проверяемость. Привязка строки к месту в карте-источнике — единственное, что превращает вычитку из чтения на правдоподобие в сверку; качество текста тут ни при чём.</a:t>
            </a:r>
          </a:p>
          <a:p>
            <a:r>
              <a:t/>
            </a:r>
          </a:p>
          <a:p>
            <a:r>
              <a:t>Куда это направление идёт дальше: от заметки к черновику назначений и кодов, то есть к документу, который что-то запускает сам. Там та же клетка будет стоять под другой ценой ошибки — и карта об этом по-прежнему не скажет ничего.</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который открывает этот дивайдер, продолжает прямую линию от записи к подписи. Эпикриз из прошлого раздела — документ, у которого есть автор и подпись лечащего врача; то же самое верно для заключения по снимку, для плана лечения, для любого решения, в котором участвовала модель. Вопрос этого раздела простой и неудобный: что стоит за этой подписью, кроме самого акта подписания.</a:t>
            </a:r>
          </a:p>
          <a:p>
            <a:r>
              <a:t/>
            </a:r>
          </a:p>
          <a:p>
            <a:r>
              <a:t>Первый механизм — врачебная комиссия. Она не разбирает, пользовался ли врач алгоритмом; она разбирает, соответствовали ли его действия утверждённому порядку оказания помощи. Если соответствовали — ответственность не наступает, даже если исход оказался плохим. Модель в этой процедуре присутствует ровно в той мере, в какой её вывод попал в карту пациента и мог повлиять на решение.</a:t>
            </a:r>
          </a:p>
          <a:p>
            <a:r>
              <a:t/>
            </a:r>
          </a:p>
          <a:p>
            <a:r>
              <a:t>Второй механизм — норма, которая требует, чтобы человек оставался последним звеном: способным понять ограничения системы, не согласиться с её выводом и остановить её. Вторая половина второго разбора показывает, как редко эту способность проверяют до того, как изделие допустят к продаже: систематический обзор поданной регулятору документации по радиологическим изделиям с ИИ нашёл тестирование с реальным участием врача у восьми изделий из ста — подавляющее большинство допущено без такой проверки вовсе.</a:t>
            </a:r>
          </a:p>
          <a:p>
            <a:r>
              <a:t/>
            </a:r>
          </a:p>
          <a:p>
            <a:r>
              <a:t>Третий механизм — то, что происходит, когда модель продолжает обучаться уже после допуска. Обзор называет три инструмента регулятора: заранее утверждённый план будущих изменений модели, передачу данных о работе изделия регулятору и перенесённые сроки европейского регламента, разведённые по приложениям, а не по признаку «самостоятельное или встроенное». У обзоров нет формы разбора в словаре курса, и это не недостаток материала: они описывают надзорный механизм, а не измеренное изменение работы, и сказать об этом прямо — часть самого раздела.</a:t>
            </a:r>
          </a:p>
          <a:p>
            <a:r>
              <a:t/>
            </a:r>
          </a:p>
          <a:p>
            <a:r>
              <a:t>Раздел заканчивается тем же, с чего начинается: удерживает не сама по себе подпись, а то, что стоит за ней — время прочитать вывод, способность с ним не согласиться и процедура, в которой это несогласие что-то меняет.</a:t>
            </a:r>
          </a:p>
          <a:p>
            <a:r>
              <a:t/>
            </a:r>
          </a:p>
          <a:p>
            <a:r>
              <a:t>**Источники.** </a:t>
            </a:r>
            <a:r>
              <a:rPr u="sng">
                <a:solidFill>
                  <a:srgbClr val="065A82"/>
                </a:solidFill>
                <a:hlinkClick r:id="rId3"/>
              </a:rPr>
              <a:t>Регламент (ЕС) 2024/1689</a:t>
            </a:r>
            <a:r>
              <a:t> · </a:t>
            </a:r>
            <a:r>
              <a:rPr u="sng">
                <a:solidFill>
                  <a:srgbClr val="065A82"/>
                </a:solidFill>
                <a:hlinkClick r:id="rId4"/>
              </a:rPr>
              <a:t>обзор поданной регуляторам документации, JAMA Network Open 2025</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Подпись в медицине — юридический акт. Заключение существует как документ, под которым стоит имя конкретного человека; в электронном контуре это усиленная квалифицированная подпись, привязанная к одному физическому лицу. Отсюда то, на что опирается весь раздел: модель не может взять ответственность на себя, потому что право подписи ей не выдано. Ни в одной из рассмотренных стран алгоритм не является субъектом, способным подписать заключение, — поэтому все вопросы о модели в медицине оказываются вопросами о процедуре вокруг человека.</a:t>
            </a:r>
          </a:p>
          <a:p>
            <a:r>
              <a:t/>
            </a:r>
          </a:p>
          <a:p>
            <a:r>
              <a:t>Второе действие — информированное согласие. Пациент подтверждает, что ему объяснили вмешательство, риски, альтернативы и последствия отказа. Важная для нас деталь: объясняет человек, и объясняет он то, что сам понимает. Если часть решения пришла из модели, объём объяснения определяется тем, насколько врач понимает, как эта часть получена.</a:t>
            </a:r>
          </a:p>
          <a:p>
            <a:r>
              <a:t/>
            </a:r>
          </a:p>
          <a:p>
            <a:r>
              <a:t>Третье и четвёртое — независимое второе чтение и арбитраж при расхождении. Независимость предполагает, что два мнения друг друга не видели, и теряется она в тот момент, когда оба читателя видят одну и ту же машинную подсказку.</a:t>
            </a:r>
          </a:p>
          <a:p>
            <a:r>
              <a:t/>
            </a:r>
          </a:p>
          <a:p>
            <a:r>
              <a:t>Пятое, шестое и седьмое — разбор случая. Комиссия собирается по одному случаю, читает документы и отвечает на один вопрос, сформулированный дословно: соответствовали ли действия врача утверждённым порядкам, стандартам и клиническим рекомендациям. Соответствовали — ответственность не наступает, даже когда исход плохой. Не соответствовали — комиссия называет расхождение, и повторяющееся расхождение правит документ.</a:t>
            </a:r>
          </a:p>
          <a:p>
            <a:r>
              <a:t/>
            </a:r>
          </a:p>
          <a:p>
            <a:r>
              <a:t>Вопроса «пользовался ли он моделью» здесь нет вовсе. Вывод модели упоминается ровно в той мере, в какой он попал в карту и мог повлиять на действие.</a:t>
            </a:r>
          </a:p>
          <a:p>
            <a:r>
              <a:t/>
            </a:r>
          </a:p>
          <a:p>
            <a:r>
              <a:t>Общее у всех семи одно: каждое существует потому, что один человек ошибается, и процедура знает это заранее. Внимательнее людей она не делает.</a:t>
            </a:r>
          </a:p>
          <a:p>
            <a:r>
              <a:t/>
            </a:r>
          </a:p>
          <a:p>
            <a:r>
              <a:t>Нормативный акт, которым установлен этот порядок, со сцены не назван намеренно: процедура приведена описанием, без ссылки, и выдавать описание за цитату нормы нельзя.</a:t>
            </a:r>
          </a:p>
          <a:p>
            <a:r>
              <a:t/>
            </a:r>
          </a:p>
          <a:p>
            <a:r>
              <a:t>И то, чем эта стадия отличается от всех прежних. Семь действий остаются за людьми целиком — обученная модель не вошла ни в одно. Подписать ей нечем: права подписи у неё нет ни в одной из рассмотренных стран. Оценить её сама процедура не умеет: порядок помощи про модель молчит, пока его не перепишут, — а переписывают порядки медленно. Вместо входа в действия норма добавила к семи восьмое требование, и адресовано оно человеку: он обязан мочь возразить и остановить. Проверку именно этой способности при допуске и нашли у 56 изделий из 717. Отдельно стоит назвать, почему процедура против модели работает хуже, чем против человека: собрана она под человеческую ошибку — усталость, спешку, пробел в знании, то есть ошибку разную у разных людей и в разные дни. Машинная ошибка уверенная и одинаковая, и приходит она на все похожие случаи сразу.</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начинается с процедуры, в которую подсказка попадает. Шаг первый — разбор случая после исхода: произошло осложнение или смерть, собирается комиссия, читает документы, называет расхождение с утверждённым порядком. Шаг второй — изменение порядка по итогам: расхождение, которое повторяется, становится основанием поправить документ. Третий шаг, независимое второе мнение и арбитраж, разобран выше.</a:t>
            </a:r>
          </a:p>
          <a:p>
            <a:r>
              <a:t/>
            </a:r>
          </a:p>
          <a:p>
            <a:r>
              <a:t>Теперь сам замер. Опыт с перекрёстным планом: сорок клиницистов, по двести снимков каждый, восемь тысяч прочтений. Без модели верных заключений восемьдесят семь и два десятых из ста, с моделью девяносто шесть и четыре десятых. Девять пунктов — величина крупная, и отказываться от неё было бы нечестно.</a:t>
            </a:r>
          </a:p>
          <a:p>
            <a:r>
              <a:t/>
            </a:r>
          </a:p>
          <a:p>
            <a:r>
              <a:t>Но посчитаны эти девять пунктов против одного читателя. Второго человека в опыте не было, и сколько из девяти осталось бы при сравнении с парой людей, опыт не говорит. Это тот самый второй классический режим, который назван и не посчитан, и произносить это надо вслух всякий раз, когда предъявляют прирост против одиночки.</a:t>
            </a:r>
          </a:p>
          <a:p>
            <a:r>
              <a:t/>
            </a:r>
          </a:p>
          <a:p>
            <a:r>
              <a:t>Сорок пять и пять десятых из ста ошибок, оставшихся в раунде с подсказкой, связаны со склонностью доверять автомату: человек соглашается с машинным выводом там, где без него решил бы иначе и правильнее. Доля считается от остаточных ошибок, а не от всех прочтений, и путать эти знаменатели нельзя. Наблюдалась она на всех уровнях квалификации — стаж от этого не защищает.</a:t>
            </a:r>
          </a:p>
          <a:p>
            <a:r>
              <a:t/>
            </a:r>
          </a:p>
          <a:p>
            <a:r>
              <a:t>Главное, что отсюда уносят: выигрыш и вред идут из одного места. Это не два независимых эффекта, которые можно развести настройкой; человек, который доверяет подсказке, именно поэтому и читает лучше — и именно поэтому ошибается там, где подсказка неверна.</a:t>
            </a:r>
          </a:p>
          <a:p>
            <a:r>
              <a:t/>
            </a:r>
          </a:p>
          <a:p>
            <a:r>
              <a:t>**Источники.** </a:t>
            </a:r>
            <a:r>
              <a:rPr u="sng">
                <a:solidFill>
                  <a:srgbClr val="065A82"/>
                </a:solidFill>
                <a:hlinkClick r:id="rId3"/>
              </a:rPr>
              <a:t>Wang и соавт., JAMIA 2023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Против склонности доверять автомату напрашивается очевидное лекарство: прятать подсказку там, где она скорее введёт в заблуждение, и показывать там, где она надёжна. Авторы работы это и предложили, и приложили число — снижение остаточных ошибок на сорок один и семь десятых процента.</a:t>
            </a:r>
          </a:p>
          <a:p>
            <a:r>
              <a:t/>
            </a:r>
          </a:p>
          <a:p>
            <a:r>
              <a:t>Число это получено расчётом. Авторы взяли два уже собранных раунда — чтение без подсказки и чтение с подсказкой — и посчитали, что вышло бы, если бы в части случаев подсказку скрыли. Третьего раунда, где живые врачи работали бы по такому правилу, не было вовсе. Разница между «посчитано» и «измерено» здесь не придирка: в скрываемой зоне остаются и случаи, где модель права, и выигрыш от них тоже исчезнет вместе с подсказкой. Поэтому знак итогового эффекта неизвестен, и говорить «нашли решение» нельзя.</a:t>
            </a:r>
          </a:p>
          <a:p>
            <a:r>
              <a:t/>
            </a:r>
          </a:p>
          <a:p>
            <a:r>
              <a:t>Отсюда и ответ на четвёртый вопрос разбора — что переехало. Переехать здесь нечему, и формы словаря у этого приёма нет. Отказ этот такой же вердикт, как имя: приём существует расчётом, к живой работе его не прикладывали, и ни один человеческий шаг от него пока не двинулся. Соблазн достать из словаря «нагрузку на том же месте упала» велик — шаг тот же, исполнитель тот же, работы как будто меньше, — но опора этой формы в лекции стоит на двух клинических замерах, и этот случай в их число не входит. Форму присваивают измерению; расчёту её не присваивают.</a:t>
            </a:r>
          </a:p>
          <a:p>
            <a:r>
              <a:t/>
            </a:r>
          </a:p>
          <a:p>
            <a:r>
              <a:t>Рядом произносится раскрытый конфликт интересов: часть авторов работает в компании-производителе модели или имеет на неё патент. Это не отменяет замера и не делает числа ложными — это обстоятельство, которое читатель обязан знать, чтобы взвесить формулировки выводов.</a:t>
            </a:r>
          </a:p>
          <a:p>
            <a:r>
              <a:t/>
            </a:r>
          </a:p>
          <a:p>
            <a:r>
              <a:t>И упоминание для контраста, ради которого оно здесь и стоит. Алгоритмическое планирование смен медсестёр: время на составление графика упало с тридцати двух часов в месяц до шести. Выигрыш крупный, но обученной модели внутри планировщика нет вовсе — нормы отдыха, квалификации, заявки на отпуск и минимальный состав дежурства задают систему условий, которую решает оптимизатор. Формы словаря этот случай поэтому не получает — форма размечает изменение, вызванное обученной моделью, а здесь её нет, — и в счёт разборов он не идёт. Ценность его в другом: ошибка в графике исправляется до начала смены и никому не стоит здоровья, а значит и процедура удержания здесь не нужна. Там, где цена промаха мала, дорогая процедура не окупается — и это такой же вывод, как все остальные.</a:t>
            </a:r>
          </a:p>
          <a:p>
            <a:r>
              <a:t/>
            </a:r>
          </a:p>
          <a:p>
            <a:r>
              <a:t>**Источники.** </a:t>
            </a:r>
            <a:r>
              <a:rPr u="sng">
                <a:solidFill>
                  <a:srgbClr val="065A82"/>
                </a:solidFill>
                <a:hlinkClick r:id="rId3"/>
              </a:rPr>
              <a:t>Wang и соавт., JAMIA 2023</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Начинать надо с цены обеих ошибок. Модель пропустила находку, человек подтвердил её заключение не глядя — пропущенный диагноз, и подпись под ним человеческая. Модель отметила лишнее, человек подтвердил — лишнее вмешательство, и подпись опять человеческая. Обе ошибки оплачивает пациент исходом, а отвечает за них подписавший.</a:t>
            </a:r>
          </a:p>
          <a:p>
            <a:r>
              <a:t/>
            </a:r>
          </a:p>
          <a:p>
            <a:r>
              <a:t>Классических режимов здесь два. Первый — человек смотрит первым и единственным: один читатель, одно заключение, никакого арбитража; собственного числа у этого режима нет, и сказано это прямо. Второй — два независимых читателя плюс арбитраж при расхождении, и у него счёт есть: чувствительность двойного чтения 73,8 из ста против 80,5 при чтении одним человеком с моделью. Чувствительность — доля найденного среди больных, и с выявляемостью её путать нельзя: выявляемость в той же программе около шести находок на тысячу обследованных.</a:t>
            </a:r>
          </a:p>
          <a:p>
            <a:r>
              <a:t/>
            </a:r>
          </a:p>
          <a:p>
            <a:r>
              <a:t>Доля найденного говорит, сколько находят; минуты говорят, чего это стоит. По рабочим записям национальной программы — 441 276 первичных прочтений, то есть около 219 тысяч обследований, потому что каждое читают двое, 16 центров — одно чтение маммограммы занимает 48 секунд в среднем при медиане 25 секунд, а согласительный разбор расхождения двух читателей 2 минуты 12 секунд при медиане 1 минута 55 секунд. Отсюда кратность: по медианам разбор дороже чтения в 4,6 раза, по средним в 2,75. Называется она двумя счётами: по медианам и по средним выходит разное.</a:t>
            </a:r>
          </a:p>
          <a:p>
            <a:r>
              <a:t/>
            </a:r>
          </a:p>
          <a:p>
            <a:r>
              <a:t>Дальше — сколько таких разборов становится. Когда модель заняла место второго человека на пятидесяти тысячах обследований, первичных чтений стало вдвое меньше, а объём арбитража вырос на 53 процента: в одном центре на 142, в другом на 22. Протоколы арбитража там разные — в одном разбирают только расхождения по отзыву, в другом все отзывы, — значит, устройство нового шага само задаёт нагрузку. Поэтому среднее произносится вместе с разбросом: без него оно читается как отраслевая норма, которой нет. Вывод от величин не зависит: экономия на одном шаге не обязана компенсировать рост другого.</a:t>
            </a:r>
          </a:p>
          <a:p>
            <a:r>
              <a:t/>
            </a:r>
          </a:p>
          <a:p>
            <a:r>
              <a:t>**Источники.** </a:t>
            </a:r>
            <a:r>
              <a:rPr u="sng">
                <a:solidFill>
                  <a:srgbClr val="065A82"/>
                </a:solidFill>
                <a:hlinkClick r:id="rId3"/>
              </a:rPr>
              <a:t>Hovda, Holen, Hofvind, European Radiology 2026</a:t>
            </a:r>
            <a:r>
              <a:t> · </a:t>
            </a:r>
            <a:r>
              <a:rPr u="sng">
                <a:solidFill>
                  <a:srgbClr val="065A82"/>
                </a:solidFill>
                <a:hlinkClick r:id="rId4"/>
              </a:rPr>
              <a:t>Warren и соавт., Nature Cancer 2026</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Требование регулятора в обеих рассматриваемых странах формулируется одинаково по смыслу: человек остаётся финальным звеном. Изделие допускают к продаже в предположении, что клиницист истолкует машинный вывод и примет клиническое решение сам. Точнее всех это записано в статье 14 европейского регламента: система высокого риска проектируется так, чтобы человек, который за ней надзирает, мог понимать её возможности и ограничения, сохранять настороженность к склонности доверять автомату, правильно истолковать вывод, не согласиться с ним или отменить его и остановить систему. Норма описывает способность вмешаться; физического присутствия человека при каждом решении она не требует. Это прямая нормативная формулировка проблемы подписи не глядя: нажатие кнопки согласия требованию не удовлетворяет, если вмешаться подписавший не может.</a:t>
            </a:r>
          </a:p>
          <a:p>
            <a:r>
              <a:t/>
            </a:r>
          </a:p>
          <a:p>
            <a:r>
              <a:t>Теперь измерение. Систематический обзор документации, поданной регулятору по радиологическим изделиям с искусственным интеллектом, разбирает 717 изделий, у которых эта документация доступна. Тестирование с человеком в контуре нашли у 56 — восемь из ста; значит, у 661 изделия при допуске не проверяли ничего о том, как с выводом обращается человек. Рядом два числа из той же работы: проспективное клиническое испытание было у 33 изделий, какое-либо клиническое испытание — у 208.</a:t>
            </a:r>
          </a:p>
          <a:p>
            <a:r>
              <a:t/>
            </a:r>
          </a:p>
          <a:p>
            <a:r>
              <a:t>Второй знаменатель другой, и дата среза у него своя. Из 950 допущенных изделий 924 — девяносто семь из ста — прошли упрощённым путём, по подобию ранее допущенному, а такой путь проспективной проверки не предполагает. Радиология здесь крупная по объёму область: 723 изделия из 950.</a:t>
            </a:r>
          </a:p>
          <a:p>
            <a:r>
              <a:t/>
            </a:r>
          </a:p>
          <a:p>
            <a:r>
              <a:t>Сила свидетельства разная для факта и для вывода. Для самого факта она сильная: это обзор поданной документации, и число проверяемо. Для чтения «значит, надзор формален» — средняя: поведение людей здесь не измерялось, измерялось содержание дела о допуске. Повторного независимого замера нет, публикация одна, и это произносится вслух.</a:t>
            </a:r>
          </a:p>
          <a:p>
            <a:r>
              <a:t/>
            </a:r>
          </a:p>
          <a:p>
            <a:r>
              <a:t>В сумме: норма есть, а свидетельства её исполнения при допуске нет. Работа при этом не переехала, не выросла и не досталась другой руке — переехала цена промаха в ней.</a:t>
            </a:r>
          </a:p>
          <a:p>
            <a:r>
              <a:t/>
            </a:r>
          </a:p>
          <a:p>
            <a:r>
              <a:t>**Источники.** </a:t>
            </a:r>
            <a:r>
              <a:rPr u="sng">
                <a:solidFill>
                  <a:srgbClr val="065A82"/>
                </a:solidFill>
                <a:hlinkClick r:id="rId3"/>
              </a:rPr>
              <a:t>обзор поданной регуляторам документации, JAMA Network Open 2025</a:t>
            </a:r>
            <a:r>
              <a:t> · </a:t>
            </a:r>
            <a:r>
              <a:rPr u="sng">
                <a:solidFill>
                  <a:srgbClr val="065A82"/>
                </a:solidFill>
                <a:hlinkClick r:id="rId4"/>
              </a:rPr>
              <a:t>Регламент (ЕС) 2024/1689</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Рамка, сложившаяся в работах 2019 и 2020 годов, называет четырёх и у каждого разделяет две вещи: что он контролирует и за что отвечает.</a:t>
            </a:r>
          </a:p>
          <a:p>
            <a:r>
              <a:t/>
            </a:r>
          </a:p>
          <a:p>
            <a:r>
              <a:t>Разработчик контролирует обучающие данные, архитектуру и обновления модели — почти всё, что определяет качество вывода, — и отвечает за соответствие изделия заявленному назначению. Врач контролирует решение по одному человеку и отвечает за это решение целиком. Больница контролирует закупку, настройку, обучение персонала и порядок применения — отвечает за организацию работы. Регулятор контролирует допуск и надзор после допуска, отвечает за рамку.</a:t>
            </a:r>
          </a:p>
          <a:p>
            <a:r>
              <a:t/>
            </a:r>
          </a:p>
          <a:p>
            <a:r>
              <a:t>Читается таблица в одну строку: контроль и ответственность лежат у разных участников, и шов между ними проходит по подписи врача. Разработчик держит то, что определяет качество вывода, и не отвечает за решение о конкретном человеке. Врач отвечает за решение целиком и не контролирует ни обучающие данные, ни обновления. Измеренный разрыв — проверку способности вмешаться нашли у 56 изделий из 717 — и есть измерение этого шва: ответственность по шву передана, а проверка способности её нести по шву не передана.</a:t>
            </a:r>
          </a:p>
          <a:p>
            <a:r>
              <a:t/>
            </a:r>
          </a:p>
          <a:p>
            <a:r>
              <a:t>Рамка качественная, числовых данных в ней нет, и читать её как измерение нельзя: иначе таблица выглядит доказательством того, что она лишь описывает. Границу стоит назвать: она описывает четырёх участников клинического контура и ничего не говорит о том, кто платит за лечение.</a:t>
            </a:r>
          </a:p>
          <a:p>
            <a:r>
              <a:t/>
            </a:r>
          </a:p>
          <a:p>
            <a:r>
              <a:t>Формулировки по странам различаются, и общей теории из них не выводится. В Европе требуется способность понять ограничения, не согласиться, отменить и остановить, а присутствие при каждом решении не обязательно. В России подпись есть юридический акт, и при разборе оценивают соответствие действий врача утверждённым порядкам: ответственность не наступает при соответствии — независимо от того, следовал врач подсказке или возразил ей. В Китае рамка 2026 года по применению искусственного интеллекта в обращении лекарств формулирует совместное человеко-машинное рецензирование и отказ от перехода к автономным регуляторным решениям.</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Переобучение на новых данных, смена версии, донастройка на население конкретной больницы — всё это меняет поведение изделия уже на рынке. Регулятор отвечает тремя механизмами.</a:t>
            </a:r>
          </a:p>
          <a:p>
            <a:r>
              <a:t/>
            </a:r>
          </a:p>
          <a:p>
            <a:r>
              <a:t>Первый — заранее утверждённый план изменений. Производитель вместе с заявкой описывает, какие именно изменения модели допустимы после выхода на рынок, включая автоматическое дообучение, и протокол проверки каждого: данные, обучение, тестирование, маркировку, защиту от вторжения, систему качества. Если план утверждён, последующие изменения в его рамках новой заявки не требуют. Прямой ответ на вопрос, что делать с моделью, которая учится дальше, звучит так: разрешить изменение до того, как оно произошло, и перенести работу на проектирование. Конструкция осмысленная, и цена у неё есть: качество проверки целиком определяется качеством плана, написанного до того, как изменения случились.</a:t>
            </a:r>
          </a:p>
          <a:p>
            <a:r>
              <a:t/>
            </a:r>
          </a:p>
          <a:p>
            <a:r>
              <a:t>Второй — передача данных о работе изделия регулятору. В отечественном контуре порядок утверждён приказом, номер которого проверен, и на этом утверждения заканчиваются: дата вступления в силу, срок действия и область действия по тексту акта не установлены. Поэтому слов «обязательная передача» и утверждений, что поток данных уже идёт, здесь нет.</a:t>
            </a:r>
          </a:p>
          <a:p>
            <a:r>
              <a:t/>
            </a:r>
          </a:p>
          <a:p>
            <a:r>
              <a:t>Третий — сроки европейского регламента, и путаница здесь дорогая. Закон разводит обязательства по приложениям, а не по признаку «самостоятельное или встроенное». Приложение III — перечисленные сферы применения высокого риска, срок 2 декабря 2027 года. Приложение I — искусственный интеллект в составе изделий, которые регулирует отраслевое законодательство Союза; медицинские изделия названы там прямо, срок 2 августа 2028 года. Самостоятельное медицинское программное обеспечение регулируется как медицинское изделие — значит, попадает в Приложение I и живёт по августу 2028 года, а не по декабрю 2027. Отсрочка — политическое решение, и называется нейтрально.</a:t>
            </a:r>
          </a:p>
          <a:p>
            <a:r>
              <a:t/>
            </a:r>
          </a:p>
          <a:p>
            <a:r>
              <a:t>Теперь измеренное последствие этой рамки, и оно показывает, где она не успевает. Исследование реестра со срезом в ноябре 2024 года: из 950 допущенных изделий с искусственным интеллектом отзывались 60, на них пришлось 182 отзывных события, и 79 из этих 182 — 43,4 процента — случились в первые двенадцать месяцев после допуска, примерно вдвое чаще, чем в среднем по этому пути допуска. Изделия без заявленной клинической проверки отзывались чаще: в среднем 3,4 отзыва на изделие против 1,9 у проверенных ретроспективно. К концу исследования 108 отзывов из 182 оставались неразрешёнными. Знаменатели надо держать врозь: 950 — общий объём, из которого отобраны 60 отзывавшихся; 182 — число событий, пришедшихся на эти 60.</a:t>
            </a:r>
          </a:p>
          <a:p>
            <a:r>
              <a:t/>
            </a:r>
          </a:p>
          <a:p>
            <a:r>
              <a:t>Читается это так: ранний отзыв — проверка, которая не состоялась до допуска и состоялась после. Рамка переносит работу на проектирование, и то, чего в проектировании не предусмотрели, выясняется на рынке; доля 43,4 процента в первый год — измеренный объём такого выяснения. Отдельно — чего найти не удалось: ни одного именованного случая «допуск выдали — отозвали за диагностическую ошибку» в собранном материале нет. Это отсутствие данных, а не отсутствие события.</a:t>
            </a:r>
          </a:p>
          <a:p>
            <a:r>
              <a:t/>
            </a:r>
          </a:p>
          <a:p>
            <a:r>
              <a:t>Отечественный реестр считает ту же величину с другой стороны: зарегистрированных медицинских программ с искусственным интеллектом 48 в ноябре 2025 года, 57 в июне 2026, 59 в августе 2026, и темп регистраций вырос втрое — 13 за 2020 и 2021 годы, 9 за 2022 и 2023, 26 за 2024 и 2025. Доля от общего реестра не приводится: знаменатель «всего медицинских изделий» в источниках расходится, 28 тысяч против 48 тысяч, и достоверен только порядок величины — десятые доли процента. И пробел, который называется числом, чтобы не выглядеть умолчанием: независимой, то есть не организаторской, оценки влияния этих систем на работу врача найти не удалось, и установлено это двадцатью двумя попытками — восемнадцать поисковых формулировок и четыре обращения к профильным журналам и базе диссертаций.</a:t>
            </a:r>
          </a:p>
          <a:p>
            <a:r>
              <a:t/>
            </a:r>
          </a:p>
          <a:p>
            <a:r>
              <a:t>Цена обеих ошибок у надзорного механизма не измерена, классического режима в той же цене никто не посчитал. Обзор механизмов остаётся обзором.</a:t>
            </a:r>
          </a:p>
          <a:p>
            <a:r>
              <a:t/>
            </a:r>
          </a:p>
          <a:p>
            <a:r>
              <a:t>**Источники.** </a:t>
            </a:r>
            <a:r>
              <a:rPr u="sng">
                <a:solidFill>
                  <a:srgbClr val="065A82"/>
                </a:solidFill>
                <a:hlinkClick r:id="rId3"/>
              </a:rPr>
              <a:t>руководство регулятора США по плану утверждённых изменений, 2024</a:t>
            </a:r>
            <a:r>
              <a:t> · </a:t>
            </a:r>
            <a:r>
              <a:rPr u="sng">
                <a:solidFill>
                  <a:srgbClr val="065A82"/>
                </a:solidFill>
                <a:hlinkClick r:id="rId4"/>
              </a:rPr>
              <a:t>приказ Росздравнадзора от 21.07.2025 № 4472</a:t>
            </a:r>
            <a:r>
              <a:t> · </a:t>
            </a:r>
            <a:r>
              <a:rPr u="sng">
                <a:solidFill>
                  <a:srgbClr val="065A82"/>
                </a:solidFill>
                <a:hlinkClick r:id="rId5"/>
              </a:rPr>
              <a:t>Регламент (ЕС) 2024/1689</a:t>
            </a:r>
            <a:r>
              <a:t> · </a:t>
            </a:r>
            <a:r>
              <a:rPr u="sng">
                <a:solidFill>
                  <a:srgbClr val="065A82"/>
                </a:solidFill>
                <a:hlinkClick r:id="rId6"/>
              </a:rPr>
              <a:t>Lee и соавт., JAMA Health Forum 2025, отзывы изделий</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 и у каждой клетки своя база.</a:t>
            </a:r>
          </a:p>
          <a:p>
            <a:r>
              <a:t/>
            </a:r>
          </a:p>
          <a:p>
            <a:r>
              <a:t>Что получается. Подсказка поднимает долю верных заключений с восьмидесяти семи и двух десятых до девяноста шести и четырёх десятых из ста — но против одного читателя, не против пары. Замена второго человека сокращает первичные чтения вдвое, и счёт этому есть в минутах: сорок восемь секунд на чтение маммограммы против двух минут двенадцати секунд на разбор расхождения. И требование к надзору названо словами: понять ограничения, сохранять настороженность к доверию автомату, правильно истолковать вывод, не согласиться, остановить.</a:t>
            </a:r>
          </a:p>
          <a:p>
            <a:r>
              <a:t/>
            </a:r>
          </a:p>
          <a:p>
            <a:r>
              <a:t>Что не получается. Независимость второго чтения не удерживается, когда оба читателя видят одну и ту же подсказку. От разбора расхождений избавиться не вышло: при вдвое меньшем числе первичных чтений объём арбитража вырос на пятьдесят три процента, и разброс между двумя центрами — от двадцати двух до ста сорока двух — показывает, что устройство нового шага само задаёт нагрузку. А проверку способности подписавшего возразить нашли у пятидесяти шести изделий из семисот семнадцати.</a:t>
            </a:r>
          </a:p>
          <a:p>
            <a:r>
              <a:t/>
            </a:r>
          </a:p>
          <a:p>
            <a:r>
              <a:t>Что стало с работой. Сместилась цена ошибки: подпись осталась человеческой, а основание решения пришло извне. Нагрузка выросла на том же месте — на арбитраже, и каждый разбор дороже чтения. И третья клетка не форма, а свойство: сорок пять и пять десятых из ста оставшихся ошибок связаны со склонностью доверять автомату, на всех уровнях стажа.</a:t>
            </a:r>
          </a:p>
          <a:p>
            <a:r>
              <a:t/>
            </a:r>
          </a:p>
          <a:p>
            <a:r>
              <a:t>Что это держит. Подпись как юридический акт; двойное чтение с арбитражем там, где второго читателя не заменили; разбор случая и правка порядка по его итогам.</a:t>
            </a:r>
          </a:p>
          <a:p>
            <a:r>
              <a:t/>
            </a:r>
          </a:p>
          <a:p>
            <a:r>
              <a:t>Контраст с прошлой лекцией предъявляется прямо: там требований не было вовсе, здесь документ есть — и измеримо, насколько он исполняется.</a:t>
            </a:r>
          </a:p>
          <a:p>
            <a:r>
              <a:t/>
            </a:r>
          </a:p>
          <a:p>
            <a:r>
              <a:t>**Источники.** </a:t>
            </a:r>
            <a:r>
              <a:rPr u="sng">
                <a:solidFill>
                  <a:srgbClr val="065A82"/>
                </a:solidFill>
                <a:hlinkClick r:id="rId3"/>
              </a:rPr>
              <a:t>обзор поданной регуляторам документации, JAMA Network Open 2025</a:t>
            </a:r>
            <a:r>
              <a:t> · </a:t>
            </a:r>
            <a:r>
              <a:rPr u="sng">
                <a:solidFill>
                  <a:srgbClr val="065A82"/>
                </a:solidFill>
                <a:hlinkClick r:id="rId4"/>
              </a:rPr>
              <a:t>Hovda, Holen, Hofvind, European Radiology 2026</a:t>
            </a:r>
            <a:r>
              <a:t> · </a:t>
            </a:r>
            <a:r>
              <a:rPr u="sng">
                <a:solidFill>
                  <a:srgbClr val="065A82"/>
                </a:solidFill>
                <a:hlinkClick r:id="rId5"/>
              </a:rPr>
              <a:t>Wang и соавт., JAMIA 2023</a:t>
            </a:r>
            <a:r>
              <a:t> · </a:t>
            </a:r>
            <a:r>
              <a:rPr u="sng">
                <a:solidFill>
                  <a:srgbClr val="065A82"/>
                </a:solidFill>
                <a:hlinkClick r:id="rId6"/>
              </a:rPr>
              <a:t>Регламент (ЕС) 2024/1689</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Двенадцать показанных клеток — окно курсовой сетки из сорока двух; занято в нём четыре, и четвёртый раздел подряд не добавил ни одной. Подсказка по снимку, которой верят, стоит в клетке распознавания на изображении — ровно там, где уже стояли разборы об отборе и о чтении исследований.</a:t>
            </a:r>
          </a:p>
          <a:p>
            <a:r>
              <a:t/>
            </a:r>
          </a:p>
          <a:p>
            <a:r>
              <a:t>Дальше начинается то, ради чего эта карта и стоит в этом разделе. У прежних карт пустота означала одно: инструмента такого класса на стадии нет, искать его незачем. Здесь она означает другое и более сильное. Раздел занимался подписью, информированным согласием, независимым вторым чтением и арбитражем, разбором случая после исхода, допуском изделия и надзором после допуска — семью настоящими действиями, которые и держат в медицине цену ошибки. Ни одно из них не встало на сетку, и не потому, что до них не дошла очередь. Они на этой сетке не стоят нигде и стоять не могут: подпись не распознаёт, согласие не прогнозирует, арбитраж ничего не порождает. Сетка размечает инструменты по тому, что они производят, а процедура не производит ничего — она удерживает.</a:t>
            </a:r>
          </a:p>
          <a:p>
            <a:r>
              <a:t/>
            </a:r>
          </a:p>
          <a:p>
            <a:r>
              <a:t>Отсюда вывод, который стоит унести в любую отрасль: клетка говорит, чем инструмент занят, и ничего не говорит о том, чем его держат. Накопительная карта делает это очевидным. В клетке распознавания на изображении стоят теперь три захода — отбор, диагноз и этот раздел, — и под каждым своя процедура. Две системы в одной клетке могут удерживаться совершенно по-разному, и разницу между ними задаёт цена промаха и то, кто её платит; класс задачи и вид данных у них при этом общие.</a:t>
            </a:r>
          </a:p>
          <a:p>
            <a:r>
              <a:t/>
            </a:r>
          </a:p>
          <a:p>
            <a:r>
              <a:t>Строки под таблицей — не клетки, и путать их с клетками нельзя. Первая перечисляет, чем держат саму клетку распознавания на изображении: двойное чтение, арбитраж при расхождении, порог вмешательства, пересчёт прогностической ценности под местную распространённость. Вторая — чем держат допуск: заранее утверждённый план изменений модели, передача данных о работе изделия регулятору, отзыв с рынка. Имён изделий здесь нет сознательно: вход лекции обещал, что марок в клетках не будет, а режим узнаётся не по марке.</a:t>
            </a:r>
          </a:p>
          <a:p>
            <a:r>
              <a:t/>
            </a:r>
          </a:p>
          <a:p>
            <a:r>
              <a:t>И практический вопрос, который из карты следует прямо. Назовите клетку, в которую попадает ваш инструмент, а затем назовите процедуру, которая держит цену его промаха, — и проверьте, существует ли эта процедура вообще. Там, где клетка занята, а процедуры под ней нет, цена промаха никуда не делась: она просто не записана ни за кем. Именно это и показал раздел числом — проверку способности подписавшего возразить нашли у пятидесяти шести изделий из семисот семнадцати.</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стоит здесь затем, что меняет масштаб. Все предыдущие разделы разбирали решение о человеке: кого позвать, что увидеть на снимке, какой диагноз поставить, когда поднять тревогу. Здесь решение принимается о веществе, которое до человека может не дойти вовсе, и платит за ошибку не смена, а отрасль — годами и программами.</a:t>
            </a:r>
          </a:p>
          <a:p>
            <a:r>
              <a:t/>
            </a:r>
          </a:p>
          <a:p>
            <a:r>
              <a:t>Отраслевая база нужна раньше любого числа про модель: из программ, вошедших в первую фазу, лекарством становится меньше одной десятой, и отсев плотнее всего в середине пути — не в начале и не в конце, — при переходе из второй фазы в третью. Это счёт классического режима, с которым сравнивается всё остальное.</a:t>
            </a:r>
          </a:p>
          <a:p>
            <a:r>
              <a:t/>
            </a:r>
          </a:p>
          <a:p>
            <a:r>
              <a:t>Три разбора проверяют один и тот же вопрос на разном материале, и порядок у них по возрастанию масштаба. Первый — одна молекула, спроектированная моделью целиком: доклинический этап у неё занял меньше года против нескольких лет заявленной нормы, она вошла в клинику человека, а затем была снята на первой фазе. Второй — вся категория: десятки активов вошли в клинику, часть дошла до второй фазы, а одобрений регулятора за всё время существования категории ноль. Третий — компания, которая обещала доводить препараты до регистрации самостоятельно, нашла молекулу через граф биомедицинских связей и потеряла сотни рабочих мест, когда испытание не показало эффекта.</a:t>
            </a:r>
          </a:p>
          <a:p>
            <a:r>
              <a:t/>
            </a:r>
          </a:p>
          <a:p>
            <a:r>
              <a:t>Отдельно стоит эпизод про предсказание структуры белка: ожидание, что экспериментальная структурная биология сожмётся, числами депозитария не подтвердилось — оговорка против рекламы, держится на статистике, а не на мнении.</a:t>
            </a:r>
          </a:p>
          <a:p>
            <a:r>
              <a:t/>
            </a:r>
          </a:p>
          <a:p>
            <a:r>
              <a:t>Одну границу надо удержать до первого разбора: это работа на масштабе отрасли, и переносить выводы одного масштаба на другой запрещено так же, как в остальных разделах.</a:t>
            </a:r>
          </a:p>
          <a:p>
            <a:r>
              <a:t/>
            </a:r>
          </a:p>
          <a:p>
            <a:r>
              <a:t>**Источники.** </a:t>
            </a:r>
            <a:r>
              <a:rPr u="sng">
                <a:solidFill>
                  <a:srgbClr val="065A82"/>
                </a:solidFill>
                <a:hlinkClick r:id="rId3"/>
              </a:rPr>
              <a:t>BIO / QLS / Informa, Clinical Development Success Rates 2011–2020</a:t>
            </a:r>
            <a:r>
              <a:t> · </a:t>
            </a:r>
            <a:r>
              <a:rPr u="sng">
                <a:solidFill>
                  <a:srgbClr val="065A82"/>
                </a:solidFill>
                <a:hlinkClick r:id="rId4"/>
              </a:rPr>
              <a:t>Jayatunga и соавт., Drug Discovery Today 2024</a:t>
            </a:r>
            <a:r>
              <a:t> · </a:t>
            </a:r>
            <a:r>
              <a:rPr u="sng">
                <a:solidFill>
                  <a:srgbClr val="065A82"/>
                </a:solidFill>
                <a:hlinkClick r:id="rId5"/>
              </a:rPr>
              <a:t>Haque и соавт., J Clin Oncol 2026</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Фазы различаются не номером, а вопросом. Первая идёт обычно на здоровых добровольцах, и вопрос у неё один: переносит ли человек вещество и в какой дозе. Вторая идёт на пациентах, и вопрос другой: меняет ли вещество ход болезни и при какой дозе меняет. Пройти первую и провалиться на второй — обычный исход, а не странность: это разные вопросы к одному веществу, и ответ на первый ничего не обещает про второй.</a:t>
            </a:r>
          </a:p>
          <a:p>
            <a:r>
              <a:t/>
            </a:r>
          </a:p>
          <a:p>
            <a:r>
              <a:t>Доклиника на культурах клеток и животных стоит перед обеими по простой причине: до человека надо знать, в каком диапазоне доз вещество не отравляет, как выводится из организма и какие органы страдают первыми. Производство клинической партии — отдельная работа, а не приложение к химии: миллиграммы из лаборатории превращают в партию с подтверждённой чистотой и документированной технологией, и занимаются этим другие люди на другом оборудовании.</a:t>
            </a:r>
          </a:p>
          <a:p>
            <a:r>
              <a:t/>
            </a:r>
          </a:p>
          <a:p>
            <a:r>
              <a:t>У группы плацебо есть своя цена, и платят её пациенты: часть группы получает пустышку, и болезнь у них идёт своим ходом. Это принятая регуляторами цена метода — без группы сравнения нельзя отличить действие вещества от естественного течения болезни, и к происхождению молекулы эта цена отношения не имеет.</a:t>
            </a:r>
          </a:p>
          <a:p>
            <a:r>
              <a:t/>
            </a:r>
          </a:p>
          <a:p>
            <a:r>
              <a:t>Третий эпизод стоит разглядеть ближе, потому что на кадре он сжат до строки. Координатор клинического центра сидит с одним здоровым добровольцем и часами пишет наблюдения в карту: давление, самочувствие, время приёма дозы, каждое отклонение. Длину этой работы задают расписание центра и протокол исследования: столько визитов, сколько в протоколе, и ни одним меньше. Объём данных её не сокращает.</a:t>
            </a:r>
          </a:p>
          <a:p>
            <a:r>
              <a:t/>
            </a:r>
          </a:p>
          <a:p>
            <a:r>
              <a:t>Сроки на плашках — порядок величины, а не замер. Около двух лет между первым эпизодом и третьим и четыре-пять лет на весь путь от мишени до клинического кандидата взяты из согласующихся между собой обзоров, а не из построчно сверенной статистики; разброс между программами при этом большой. Удержать стоит не цифру, а то, что каждый шаг пути кто-то делает руками, и длину этого шага задают физиология и расписание центра, а не вычисления.</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модели: без этого непонятно, во что инструмент вмешивается. Схема называет не только шаги, но и тех, кто их делает, и исполнитель здесь важнее названия шага.</a:t>
            </a:r>
          </a:p>
          <a:p>
            <a:r>
              <a:t/>
            </a:r>
          </a:p>
          <a:p>
            <a:r>
              <a:t>Мишень выбирают биологи: решают, какой белок или процесс надо затронуть, чтобы болезнь пошла иначе. Молекулу под эту мишень подбирают химики — синтезируют серии близких веществ и смотрят, какое действует избирательнее. Доклиникой заняты токсикологи и специалисты по фармакокинетике, чаще всего в сторонних исследовательских организациях. Клинические фазы ведут исследователи в больницах и координаторы в центрах, и счёт участников растёт от десятков здоровых добровольцев до сотен и тысяч пациентов. Заявку собирают регуляторные специалисты: это месяцы работы и отдельная профессия.</a:t>
            </a:r>
          </a:p>
          <a:p>
            <a:r>
              <a:t/>
            </a:r>
          </a:p>
          <a:p>
            <a:r>
              <a:t>Людей и денег больше всего на поздних фазах, и причина арифметическая. Стоимость испытания растёт с числом пациентов, числом центров и длительностью наблюдения: первая фаза — десятки людей в одном-двух центрах за несколько месяцев, третья — сотни пациентов в десятках центров на год и больше. Поэтому ускорение в начале пути меняет общую длину разработки незначительно: оно происходит на самом коротком и самом дешёвом участке.</a:t>
            </a:r>
          </a:p>
          <a:p>
            <a:r>
              <a:t/>
            </a:r>
          </a:p>
          <a:p>
            <a:r>
              <a:t>Про две дроби. Пример той же формы без всякой фармацевтики: доля сдавших экзамен среди допущенных к нему и доля сдавших среди зачисленных на курс. Второе число всегда ниже первого при любом качестве преподавания — в его знаменателе сидят те, кто до экзамена просто не дошёл. Ни одно из двух чисел не врёт; врёт их сопоставление друг с другом. Дальше в разделе такие две дроби склеены в публичном пересказе, и знак вывода от склейки переворачивается. Отсюда правило: прежде чем сравнивать две доли, проверяют знаменатель, единицу счёта и дату среза.</a:t>
            </a:r>
          </a:p>
          <a:p>
            <a:r>
              <a:t/>
            </a:r>
          </a:p>
          <a:p>
            <a:r>
              <a:t>Что именно стоит за восемью названиями на кадре, раз сами названия сокращены до ярлыков. Выбрать мишень — решить, какой белок или процесс в организме затронуть. Подобрать молекулу — синтезировать серии близких веществ и смотреть, какое действует избирательнее. Проверить на культурах и животных — доза, переносимость, выведение из организма, патология органов. Произвести клиническую партию — превратить лабораторные миллиграммы в партию с подтверждённой чистотой и документированной технологией; это отдельная работа отдельных людей на другом оборудовании. Фаза I — переносит ли человек вещество и в какой дозе. Фаза II — меняет ли вещество ход болезни и при какой дозе меняет. Фаза III — подтверждение на сотнях пациентов в десятках центров. Собрать заявку — месяцы работы регуляторных специалистов.</a:t>
            </a:r>
          </a:p>
          <a:p>
            <a:r>
              <a:t/>
            </a:r>
          </a:p>
          <a:p>
            <a:r>
              <a:t>И то же поле с моделью, названное до разборов. Из восьми действий обученная модель заняла два, причём второе заметно реже первого: подбор молекулы — её проектируют расчётом вместо физического перебора библиотек — и выбор мишени, где гипотезы перебирают по графу биомедицинских связей. Один шаг она добавляет — сверить предсказание с опытом, и работа эта экспериментальная, то есть никуда от лаборатории не уходит. А четыре работы задачи для модели не содержат вовсе: переносимость у людей, набор пациентов, длительность наблюдения и производство клинической партии с подтверждённой чистотой. Это вывод, а не пробел подборки: в каждой из четырёх предмет работы — живой человек или физическое вещество, и ускорить их расчётом нечем.</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Без этого счёта ни одно «ускорили в несколько раз» не читается. Отчёт считает 12 728 переходов в 9 704 программах 1 779 компаний за десять лет — это счёт переходов, а не программ: у каждой фазы свой знаменатель, и доли разных фаз между собой не складываются.</a:t>
            </a:r>
          </a:p>
          <a:p>
            <a:r>
              <a:t/>
            </a:r>
          </a:p>
          <a:p>
            <a:r>
              <a:t>Из первой фазы во вторую проходит чуть больше половины программ, из второй в третью — меньше трети. Два поздних перехода, из третьей фазы в заявку и из заявки в одобрение, даются заметно легче; точные доли по ним здесь не произносятся, потому что построчно по таблице отчёта они не сверены. Итог пути от первой фазы до одобрения — 7,9 процента: из примерно тринадцати программ, вошедших в клинику, лекарством становится одна.</a:t>
            </a:r>
          </a:p>
          <a:p>
            <a:r>
              <a:t/>
            </a:r>
          </a:p>
          <a:p>
            <a:r>
              <a:t>Средняя по отрасли годится как база и не годится как предсказание. Переход второй фазы в гематологии — 48,1 процента, в урологии — 15,0: разброс втрое, и конкретную программу осмысленно сравнивать со своей терапевтической областью, а не с общей средней.</a:t>
            </a:r>
          </a:p>
          <a:p>
            <a:r>
              <a:t/>
            </a:r>
          </a:p>
          <a:p>
            <a:r>
              <a:t>Отдельно стоит сказать, как эту базу употребляют дальше. Каждое из трёх чисел — счёт того порядка работы, в котором обученной модели нет вовсе: решения принимал экспертный совет, молекулы синтезировали руками, фазы вели люди по протоколу. Поэтому всякое «модель ускорила разработку» сравнивается именно с этими числами, а не с нулём и не с ожиданиями из заголовков. И сравнивать надо своей фазой: улучшение на первой фазе и улучшение на второй — разные утверждения о разной работе, потому что фазы отвечают на разные вопросы к одному веществу.</a:t>
            </a:r>
          </a:p>
          <a:p>
            <a:r>
              <a:t/>
            </a:r>
          </a:p>
          <a:p>
            <a:r>
              <a:t>И последнее про сам знаменатель, потому что на нём держится всё сравнение. Отраслевая база посчитана на программах, доведённых до конца или остановленных, то есть на завершённых траекториях. Активы, которые ещё идут, в неё не попадают вовсе — и именно поэтому доля «перешли» и доля «завершили» дают разные числа на одних и тех же данных. Всякое сравнение модельной воронки с отраслевой базой обязано называть, какая из двух дробей взята: у воронки молекул модельного происхождения большинство активов живые, и считать по ним «завершили» значит делить на знаменатель, который ещё не сложился.</a:t>
            </a:r>
          </a:p>
          <a:p>
            <a:r>
              <a:t/>
            </a:r>
          </a:p>
          <a:p>
            <a:r>
              <a:t>**Источники.** </a:t>
            </a:r>
            <a:r>
              <a:rPr u="sng">
                <a:solidFill>
                  <a:srgbClr val="065A82"/>
                </a:solidFill>
                <a:hlinkClick r:id="rId3"/>
              </a:rPr>
              <a:t>BIO / QLS / Informa, Clinical Development Success Rates 2011–2020</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стадии начинается не с результата модели, а с цены ошибки: иначе «меньше года вместо четырёх с половиной» не с чем сравнивать. Цена здесь двусторонняя, и половины её несопоставимы по измеримости — это надо сказать до любой цифры.</a:t>
            </a:r>
          </a:p>
          <a:p>
            <a:r>
              <a:t/>
            </a:r>
          </a:p>
          <a:p>
            <a:r>
              <a:t>Довести негодную молекулу до первой фазы — цена измеримая: месяцы работы клинического центра, здоровые добровольцы, которым дают дозу вещества без всякой пользы для них самих, и деньги, не ушедшие в другую программу. Отбросить годную молекулу — цена, которой в числах нет вовсе: узнать, что отброшенное вещество сработало бы, невозможно, потому что эксперимента не было. Эту половину называют прямо и не заменяют оценкой.</a:t>
            </a:r>
          </a:p>
          <a:p>
            <a:r>
              <a:t/>
            </a:r>
          </a:p>
          <a:p>
            <a:r>
              <a:t>Классических режимов на этом месте два, и платят оба. Режим «вести в клинику всё, что синтезировали» платит первой фазой за каждую пустышку. Режим «вести только то, что прошло полный экспертный отбор» платит отброшенными молекулами, число которых никто не знает. Экспертный отбор — это совет из медицинских химиков, биологов и токсикологов: смотрят серию близких соединений и решают, какое брать в доклинику. Решение опирается на опыт и литературу, протоколом оно не описано, и повторяемость его никто не замерял.</a:t>
            </a:r>
          </a:p>
          <a:p>
            <a:r>
              <a:t/>
            </a:r>
          </a:p>
          <a:p>
            <a:r>
              <a:t>Подставить сюда правдоподобную цифру значило бы её выдумать, и этого разбор не делает: число повторяемости экспертного решения не опубликовано ни по одной программе.</a:t>
            </a:r>
          </a:p>
          <a:p>
            <a:r>
              <a:t/>
            </a:r>
          </a:p>
          <a:p>
            <a:r>
              <a:t>И вот честная слабость этого шага, которую стоит назвать вслух, а не прятать. Счёт у двух режимов один и тот же: первая фаза пропускает дальше 52,0 процента программ, вторая — 28,9, до одобрения доходит 7,9. Различие между режимами числом не предъявлено ни одним источником — отчёт считает всю отрасль целиком, не разделяя, как в ней принимали решение о входе в клинику. Поэтому второй режим здесь назван и не посчитан, и так это и произносится.</a:t>
            </a:r>
          </a:p>
          <a:p>
            <a:r>
              <a:t/>
            </a:r>
          </a:p>
          <a:p>
            <a:r>
              <a:t>**Источники.** </a:t>
            </a:r>
            <a:r>
              <a:rPr u="sng">
                <a:solidFill>
                  <a:srgbClr val="065A82"/>
                </a:solidFill>
                <a:hlinkClick r:id="rId3"/>
              </a:rPr>
              <a:t>BIO / QLS / Informa, Clinical Development Success Rates 2011–2020</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классического физического перебора числа проверяемы, потому что названы обе половины дроби. В знаменателе — библиотека от одного до трёх миллионов соединений, которые реально прогоняют через опыт; в числителе — попадания, один-два процента. Назван и метод, которым это получено. Такое число можно оспорить: проверить состав библиотеки, пересчитать попадания, не согласиться с определением попадания.</a:t>
            </a:r>
          </a:p>
          <a:p>
            <a:r>
              <a:t/>
            </a:r>
          </a:p>
          <a:p>
            <a:r>
              <a:t>Рядом живут заявленные доля попаданий и заявленная экономия перехода от попадания к готовому соединению. Оспорить их нельзя — и не потому, что они верны. У них нет имени проекта, нет даты, нет публикации. Неизвестно, какая библиотека стояла в знаменателе, что считалось попаданием, сколько проектов вошло в среднее и кто считал. Один из источников таких диапазонов — страница с откровенно рекламным слогом, и это не повод смеяться, а повод не брать число.</a:t>
            </a:r>
          </a:p>
          <a:p>
            <a:r>
              <a:t/>
            </a:r>
          </a:p>
          <a:p>
            <a:r>
              <a:t>Отсюда приём, который переносится на любую отрасль: у заявленного эффекта спрашивают две вещи — от чего он посчитан и кто считал. Если на первый вопрос ответа нет, эффект не измерен, какой бы правдоподобной ни была величина. Правдоподобие тут и есть ловушка: диапазон, похожий на правду, проходит без проверки легче, чем явно завышенный.</a:t>
            </a:r>
          </a:p>
          <a:p>
            <a:r>
              <a:t/>
            </a:r>
          </a:p>
          <a:p>
            <a:r>
              <a:t>Отдельно стоит сказать, чего этот разбор в словарь лекции не добавляет: формы он не даёт ни одной. Приписанный процент работу не переставляет — ни шага не появилось, ни исполнитель не сменился, ни нагрузка никуда не переехала. Разбор недостоверности числа и разбор изменения работы — два разных дела, и смешивать их нельзя.</a:t>
            </a:r>
          </a:p>
          <a:p>
            <a:r>
              <a:t/>
            </a:r>
          </a:p>
          <a:p>
            <a:r>
              <a:t>Вопрос залу стоит именно здесь, после разбора приписанного процента, и он один на весь раздел. Опыта в разработке лекарств у зала нет, а опыт «начало подешевело, а узкое место переехало» есть у каждого, кто работает в ИТ: прототип собрали за месяц, довести до рабочего состояния не вышло за год. Это заземление формы материалом слушателя, и ответ на него короткий — одна строка в чат про то, что именно оказалось узким местом. Дальше весь раздел разбирает то же самое на веществе: ранний шаг подешевел многократно, а длину пути задаёт шаг, которого ускорение не коснулось.</a:t>
            </a:r>
          </a:p>
          <a:p>
            <a:r>
              <a:t/>
            </a:r>
          </a:p>
          <a:p>
            <a:r>
              <a:t>И отсюда же различение, которое стоит держать отдельно. «Число слабое» и «числа нет» — разные положения. Слабое число произносят с оговоркой: называют источник, говорят, что сверка вторичная, и не строят на нём вывод. Отсутствующее число не произносят вовсе — ни с оговоркой, ни в обёртке «по некоторым оценкам». Подставить вместо него похожую величину из другого разбора — та же склейка несовместимых выборок, с которой начинается этот раздел.</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случая стоят здесь затем, что оба аккуратны: у каждого названа база сравнения, и ни один не обещает «придумали лекарство из ничего».</a:t>
            </a:r>
          </a:p>
          <a:p>
            <a:r>
              <a:t/>
            </a:r>
          </a:p>
          <a:p>
            <a:r>
              <a:t>Перебор гипотез по графу биомедицинских связей занял сорок восемь часов — против недель и месяцев систематического обзора литературы и экспертной гипотезы. Вторая половина случая не менее важна: найденный препарат уже был одобрен по другому показанию, то есть токсикология, дозирование и производство для него существовали. Это поиск среди уже безопасных веществ, и такой класс задачи дешевле прочих. А подтверждение гипотезы дали рандомизированные исследования и клиницисты по всему миру в течение года: авторы гипотезы этой работы не делали и не платили за неё. Отдельная часть выигрыша — новый патоген, по которому литературы почти нет.</a:t>
            </a:r>
          </a:p>
          <a:p>
            <a:r>
              <a:t/>
            </a:r>
          </a:p>
          <a:p>
            <a:r>
              <a:t>Второй случай — расчётная оценка связывания тринадцати тысяч соединений под уже известную мишень. Он сделан аккуратно: метод назван, сказано, что именно он считает — физику связывания, — и генеративной моделью он не является. База сравнения тут классический цикл «синтезируй и протестируй», где физически через опыт прогоняют от одного до трёх миллионов соединений.</a:t>
            </a:r>
          </a:p>
          <a:p>
            <a:r>
              <a:t/>
            </a:r>
          </a:p>
          <a:p>
            <a:r>
              <a:t>Форма словаря здесь четвёртая-а: объём на том же месте упал. Шаг тот же, исполнитель тот же, физических итераций меньше. А вот цена результата не упала: готовый актив покупатель забрал за четыре миллиарда долларов авансом плюс до двух миллиардов выплат по достижениям. Удешевление поиска молекулы саму молекулу не удешевило, и это различение переносится за пределы фармацевтики без изменений: дешевеет операция, а не то, что на ней получают.</a:t>
            </a:r>
          </a:p>
          <a:p>
            <a:r>
              <a:t/>
            </a:r>
          </a:p>
          <a:p>
            <a:r>
              <a:t>Почему эти два случая не стали «Примерами» раздела: у обоих нет второй половины формы разбора — ни цены обеих ошибок на своём материале, ни счёта классического режима в той же единице. Первый сравнивает часы с неделями по единице счёта, которую сам же объявляет нечестной. Поэтому они идут упоминаниями с названной базой, а не разборами.</a:t>
            </a:r>
          </a:p>
          <a:p>
            <a:r>
              <a:t/>
            </a:r>
          </a:p>
          <a:p>
            <a:r>
              <a:t>**Источники.** </a:t>
            </a:r>
            <a:r>
              <a:rPr u="sng">
                <a:solidFill>
                  <a:srgbClr val="065A82"/>
                </a:solidFill>
                <a:hlinkClick r:id="rId3"/>
              </a:rPr>
              <a:t>рецензируемый обзор перепрофилирования, 2022</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случай был флагманом всей категории: первая малая молекула, спроектированная моделью целиком и дошедшая до испытаний на человеке. Показание — навязчивое расстройство, в клинику молекула вошла в январе 2020 года, и о ней говорили как о доказательстве того, что разработка лекарства изменилась.</a:t>
            </a:r>
          </a:p>
          <a:p>
            <a:r>
              <a:t/>
            </a:r>
          </a:p>
          <a:p>
            <a:r>
              <a:t>Сравнение, на котором держится случай, требует оговорки, и она не формальная. И «меньше двенадцати месяцев», и «четыре с половиной года» — заявления самой компании: второе её собственная оценка средней нормы отрасли, а не независимая статистика по сопоставимому классу мишеней. Такой независимой статистики в собранном материале нет вообще. Что считалось началом и концом интервала — входила ли в двенадцать месяцев токсикология на животных и производство клинической партии или только расчёт, синтез и первичные тесты — публично не раскрыто. Обе половины сравнения исходят от одной заинтересованной стороны: число есть, базы под ним нет, и говорить его стоит именно так.</a:t>
            </a:r>
          </a:p>
          <a:p>
            <a:r>
              <a:t/>
            </a:r>
          </a:p>
          <a:p>
            <a:r>
              <a:t>Пробел в базе при этом сужен, и назвать его стоит точно. Единственная отраслевая величина, которой разбор располагает, — норма «мишень → клинический кандидат» в четыре-пять лет, и относится она к пути целиком, а не к доклинической оптимизации одной молекулы. Заявленные четыре с половиной года она ни подтверждает, ни опровергает.</a:t>
            </a:r>
          </a:p>
          <a:p>
            <a:r>
              <a:t/>
            </a:r>
          </a:p>
          <a:p>
            <a:r>
              <a:t>Почему случай всё равно взят первым. Он единственный в разделе, где работу модели видно на одном предмете целиком: одна мишень, одна молекула, один интервал. Дальше пойдут счёт по категории и счёт по компании, и там отдельное вещество уже не разглядеть.</a:t>
            </a:r>
          </a:p>
          <a:p>
            <a:r>
              <a:t/>
            </a:r>
          </a:p>
          <a:p>
            <a:r>
              <a:t>И одно замечание про разряд свидетельства, годное далеко за пределами фармацевтики. Когда обе половины сравнения — и результат, и база, с которой он сравнивается, — приходят от одной заинтересованной стороны, сравнения нет, какими бы правдоподобными ни выглядели оба числа. Проверять надо не величину, а происхождение знаменателя: кто его посчитал и на каком материале.</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Чем дело кончилось: в январе 2022 года молекула снята — «не удовлетворила критериям исследования» на первой фазе. Точная причина публично не детализирована, и это само по себе наблюдение о силе свидетельства: об успехе доклиники было известно подробно, о провале — из одной строки. Так устроена вся публичная отчётность категории, и читать её надо с этой поправкой.</a:t>
            </a:r>
          </a:p>
          <a:p>
            <a:r>
              <a:t/>
            </a:r>
          </a:p>
          <a:p>
            <a:r>
              <a:t>Форма словаря здесь первая: нагрузка переехала на другой шаг. Доклиника сжалась в месяцы, а переносимость у людей осталась той же длины и у того же исполнителя — и она же остановила проект. Переезд этот не метафора: объём работы никуда не исчез, он просто оказался весь на следующем шаге, которого ускорение не коснулось.</a:t>
            </a:r>
          </a:p>
          <a:p>
            <a:r>
              <a:t/>
            </a:r>
          </a:p>
          <a:p>
            <a:r>
              <a:t>Исход при этом ровно такой, какой предсказывает база отрасли. Первая фаза пропускает дальше 52,0 процента программ — то есть каждая вторая на этом шаге и останавливается. Ничего исключительного с этой молекулой не произошло: обычный отсев, попавший в заголовки только потому, что о начале пути говорили громко.</a:t>
            </a:r>
          </a:p>
          <a:p>
            <a:r>
              <a:t/>
            </a:r>
          </a:p>
          <a:p>
            <a:r>
              <a:t>Отсюда и главное, что стоит унести: ускорение одного шага не ускоряет и не гарантирует следующий. Инженеру это известно как закон узкого места, и в разработке лекарства он работает буквально — сжать можно самый короткий и самый дешёвый участок, а длину пути задают три фазы на людях.</a:t>
            </a:r>
          </a:p>
          <a:p>
            <a:r>
              <a:t/>
            </a:r>
          </a:p>
          <a:p>
            <a:r>
              <a:t>И одна оговорка, без которой разбор превращается в приговор: один снятый кандидат не измеряет метод. Он измеряет ровно то, что измерил — что ускорение доклиники не перенеслось дальше в этом конкретном случае. Счёт по всей категории устроен иначе: там сравниваются доли на десятках активов, а не судьба одного вещества. Разницу между этими двумя разрядами свидетельства стоит держать в голове весь раздел — одна молекула показывает механизм, доля по категории показывает величину, и подменять одно другим нельзя ни в ту, ни в другую сторону.</a:t>
            </a:r>
          </a:p>
          <a:p>
            <a:r>
              <a:t/>
            </a:r>
          </a:p>
          <a:p>
            <a:r>
              <a:t>**Источники.** </a:t>
            </a:r>
            <a:r>
              <a:rPr u="sng">
                <a:solidFill>
                  <a:srgbClr val="065A82"/>
                </a:solidFill>
                <a:hlinkClick r:id="rId3"/>
              </a:rPr>
              <a:t>BIO / QLS / Informa, Clinical Development Success Rates 2011–2020</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единственное сопоставимое сравнение раздела: переход против перехода, одна и та же дробь с обеих сторон. Остальные числа двух замеров категории с отраслевой базой несопоставимы, и ставить их рядом нельзя.</a:t>
            </a:r>
          </a:p>
          <a:p>
            <a:r>
              <a:t/>
            </a:r>
          </a:p>
          <a:p>
            <a:r>
              <a:t>У сравнения есть слабая сторона, и её называют до вывода, а не после. Отраслевая доля посчитана на 4 933 переходах второй фазы; доля молекул модельного происхождения — на единицах, завершивших вторую фазу к сроку среза, и ограниченность этой выборки объявляет сам первоисточник. Разница в весе свидетельства — три порядка. Вторая оговорка: первоисточник напрямую не открылся, числа взяты из трёх согласующихся пересказов, и сверка вторичная.</a:t>
            </a:r>
          </a:p>
          <a:p>
            <a:r>
              <a:t/>
            </a:r>
          </a:p>
          <a:p>
            <a:r>
              <a:t>Одно уточнение про знаменатель, чтобы рядом не встал чужой. В клинику с 2015 года вошло 75 молекул модельного происхождения — это вся совокупность категории, а не знаменатель второй фазы, и ставить 75 рядом с «около сорока процентов» нельзя.</a:t>
            </a:r>
          </a:p>
          <a:p>
            <a:r>
              <a:t/>
            </a:r>
          </a:p>
          <a:p>
            <a:r>
              <a:t>Направление вывода важнее самой цифры. По первой фазе авторы замера говорят о заметном превосходстве над историческими средними отрасли — восемьдесят-девяносто процентов против 52,0. По второй фазе те же авторы называют свой результат сопоставимым с отраслевой нормой. Лучшим они его не называют, и написать «похоже что лучше» значило бы поменять знак вывода при верном числе.</a:t>
            </a:r>
          </a:p>
          <a:p>
            <a:r>
              <a:t/>
            </a:r>
          </a:p>
          <a:p>
            <a:r>
              <a:t>Осторожное объяснение, которое из двух чисел складывается: лёгкая первая фаза при обычной второй похожа на то, что модель помогает выбирать более безопасные, уже известные типы мишеней — отсюда хорошая переносимость — и не снимает риск отсутствия эффекта у пациентов. Рецензируемая публикация по единственной молекуле категории, дошедшей до третьей фазы, говорит это прямо: препараты, открытые с моделью, столкнулись с тем же уровнем провалов во второй фазе, что и остальные.</a:t>
            </a:r>
          </a:p>
          <a:p>
            <a:r>
              <a:t/>
            </a:r>
          </a:p>
          <a:p>
            <a:r>
              <a:t>И одно слово о том, почему этот разбор второй, а не первый. Порядок именно такой, потому что доля по категории без механизма читается как приговор или как похвала, а с механизмом — как счёт.</a:t>
            </a:r>
          </a:p>
          <a:p>
            <a:r>
              <a:t/>
            </a:r>
          </a:p>
          <a:p>
            <a:r>
              <a:t>**Источники.** </a:t>
            </a:r>
            <a:r>
              <a:rPr u="sng">
                <a:solidFill>
                  <a:srgbClr val="065A82"/>
                </a:solidFill>
                <a:hlinkClick r:id="rId3"/>
              </a:rPr>
              <a:t>Jayatunga и соавт., Drug Discovery Today 2024</a:t>
            </a:r>
            <a:r>
              <a:t> · </a:t>
            </a:r>
            <a:r>
              <a:rPr u="sng">
                <a:solidFill>
                  <a:srgbClr val="065A82"/>
                </a:solidFill>
                <a:hlinkClick r:id="rId4"/>
              </a:rPr>
              <a:t>BIO / QLS / Informa, Clinical Development Success Rates 2011–2020</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Ноль одобрений — то твёрдое, что остаётся после всех оговорок двух замеров. При 75 активах по одному и 117 по другому, за десять лет существования категории полного одобрения регулятора не получил ни один препарат, найденный или спроектированный моделью. Факт подтверждён двумя независимыми агрегаторами. Он означает состояние категории на дату, а не приговор методу: появится первое одобрение — вывод придётся менять целиком, и это число проверяют перед каждым произнесением.</a:t>
            </a:r>
          </a:p>
          <a:p>
            <a:r>
              <a:t/>
            </a:r>
          </a:p>
          <a:p>
            <a:r>
              <a:t>Второй замер сам называет свои 117 активов верхней границей: заявления компаний о вкладе модели проверить нечем, и в набор попадает всё, где такой вклад заявлен. Разряд свидетельства тоже назван прямо — рецензируемый абстракт съезда, не полная статья: выше публикации в блоге и ниже статьи.</a:t>
            </a:r>
          </a:p>
          <a:p>
            <a:r>
              <a:t/>
            </a:r>
          </a:p>
          <a:p>
            <a:r>
              <a:t>В публичных обзорах встречается «больше двухсот молекул в клинике». Здесь такое число не произносится: оба реальных замера дают 75 и 117, и двухсот не даёт ни один. Откуда взялись двести — неизвестно, и этого достаточно, чтобы число не брать.</a:t>
            </a:r>
          </a:p>
          <a:p>
            <a:r>
              <a:t/>
            </a:r>
          </a:p>
          <a:p>
            <a:r>
              <a:t>Про единственную молекулу, дошедшую до третьей фазы, известно точное. Вторая фаза: 71 пациент, 22 центра, двенадцать недель. Ёмкость лёгких выросла на 98,4 миллилитра против падения на 20,3 миллилитра в группе плацебо, и второе число и есть база: без лечения функция лёгких продолжает падать. Выбыли 16 человек из 71. Медиана от основания компании до начала первой фазы по второму замеру — шесть с половиной лет: столько проходит до первого человека, а не до лекарства.</a:t>
            </a:r>
          </a:p>
          <a:p>
            <a:r>
              <a:t/>
            </a:r>
          </a:p>
          <a:p>
            <a:r>
              <a:t>Нагрузка переехала на другой шаг: ранний шаг подешевел многократно, а весь объём работы, денег и времени стоит в клинических фазах, которые не подешевели ни на сколько. Эта форма уже прозвучала на одной молекуле; здесь она же видна на всей категории, и видна именно нулём одобрений — при том, что входов в клинику десятки. Форма одна, масштабы два, и складывать их нельзя.</a:t>
            </a:r>
          </a:p>
          <a:p>
            <a:r>
              <a:t/>
            </a:r>
          </a:p>
          <a:p>
            <a:r>
              <a:t>**Источники.** </a:t>
            </a:r>
            <a:r>
              <a:rPr u="sng">
                <a:solidFill>
                  <a:srgbClr val="065A82"/>
                </a:solidFill>
                <a:hlinkClick r:id="rId3"/>
              </a:rPr>
              <a:t>Haque и соавт., J Clin Oncol 2026</a:t>
            </a:r>
            <a:r>
              <a:t> · </a:t>
            </a:r>
            <a:r>
              <a:rPr u="sng">
                <a:solidFill>
                  <a:srgbClr val="065A82"/>
                </a:solidFill>
                <a:hlinkClick r:id="rId4"/>
              </a:rPr>
              <a:t>Jayatunga и соавт., Drug Discovery Today 2024</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разбор отличается от двух предыдущих предметом замера: здесь измерен не препарат, а последствие для людей, которые его делали. Но начинается он всё равно с испытания, и испытание было устроено по правилам.</a:t>
            </a:r>
          </a:p>
          <a:p>
            <a:r>
              <a:t/>
            </a:r>
          </a:p>
          <a:p>
            <a:r>
              <a:t>Рандомизированное, двойное слепое, с группой плацебо: 91 пациент от восемнадцати до шестидесяти пяти лет, двадцать восемь дней нанесения препарата на кожу. Первичная точка — безопасность и переносимость — достигнута. Вторичные точки эффективности, индекс тяжести экземы и шкала зуда, не достигнуты: препарат оказался не лучше плацебо по заявленным мерам улучшения. Это и означает «механизм правдоподобен, эффекта у пациентов нет». Разница выяснилась только на людях: ни граф связей, ни доклиника её не показали — обе работают с молекулой и мишенью, а не с ходом болезни у пациента.</a:t>
            </a:r>
          </a:p>
          <a:p>
            <a:r>
              <a:t/>
            </a:r>
          </a:p>
          <a:p>
            <a:r>
              <a:t>По базе отрасли такой исход предсказуем. Переход второй фазы в третью — 28,9 процента, то есть провал на этом шаге норма воронки, а не неудача конкретной команды. Публичное обещание доводить препараты до регистрации самостоятельно было рассчитано на успех там, где отрасль даёт меньше трети, и противоречие предъявляется одним этим числом — без разговора о качестве модели, которая молекулу нашла. Это важная аккуратность разбора: претензия здесь не к модели и не к механизму, а к обещанию, построенному на игнорировании собственной воронки.</a:t>
            </a:r>
          </a:p>
          <a:p>
            <a:r>
              <a:t/>
            </a:r>
          </a:p>
          <a:p>
            <a:r>
              <a:t>Цена обеих ошибок здесь считается так же, как на всей стадии: фаза IIa целиком против терапии, которой не будет, — и вторая половина по-прежнему не измеряется. Классический режим на этом месте один и тот же отраслевой: вести программу через фазы и платить за отсев. Второго режима разбор не называет, и это стоит произнести вслух.</a:t>
            </a:r>
          </a:p>
          <a:p>
            <a:r>
              <a:t/>
            </a:r>
          </a:p>
          <a:p>
            <a:r>
              <a:t>Молекула, о которой речь, найдена через граф биомедицинских связей — тот самый приём, который выглядел дешёвым выигрышем. Здесь видна его вторая половина: дешевизна поиска не переносится на остальной путь, и подтверждать гипотезу всё равно идут к пациентам.</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было дальше: инвестировать в актив прекратили сразу, следом ушли 180 рабочих мест, годом позже — ещё около трети штата и зарубежный офис, затем смена руководителя и объявленный план ухода с биржи. Исходную модель бизнеса — «сами доводим препараты до регистрации» — заменили сервисной: продажа платформы и ранних данных партнёрам.</a:t>
            </a:r>
          </a:p>
          <a:p>
            <a:r>
              <a:t/>
            </a:r>
          </a:p>
          <a:p>
            <a:r>
              <a:t>Кто заплатил, стоит назвать поимённо, потому что обычно эту графу не заполняют вовсе. Заплатили сотрудники двумя волнами сокращений и публичные акционеры, для которых уход с биржи означает потерю ликвидности позиции. Статус этого ухода и текущая модель бизнеса со временем меняются, а вот порядок событий — обещание, провал середины воронки, отказ от обещания — уже не изменится.</a:t>
            </a:r>
          </a:p>
          <a:p>
            <a:r>
              <a:t/>
            </a:r>
          </a:p>
          <a:p>
            <a:r>
              <a:t>Форма словаря здесь шестая: изменился порядок работ. Называть её надо с оговоркой, и оговорка не формальная: порядок переставлен на масштабе модели бизнеса, а процесс одного препарата не менялся — доклиника, фазы и заявка остались в том же составе и той же длины. Это заимствование формы на другой масштаб, и говорится это прямо: словарь описывает работу, стратегии в нём нет. Назвать здесь форму без оговорки значило бы растянуть словарь на предмет, для которого он не сделан.</a:t>
            </a:r>
          </a:p>
          <a:p>
            <a:r>
              <a:t/>
            </a:r>
          </a:p>
          <a:p>
            <a:r>
              <a:t>Чего разбор не утверждает. Он не утверждает, что модель нашла плохую молекулу: механизм был правдоподобен, и испытание прошло по правилам. Он не утверждает и что подход не работает — провал второй фазы случается у двух программ из трёх независимо от того, как молекулу нашли. Он утверждает одно: обещание, построенное на игнорировании собственной воронки, оплачивают люди — и оплачивают не деньгами инвестора, а рабочими местами.</a:t>
            </a:r>
          </a:p>
          <a:p>
            <a:r>
              <a:t/>
            </a:r>
          </a:p>
          <a:p>
            <a:r>
              <a:t>И последнее, что стоит из этого разбора унести инженеру. Когда вы обещаете результат на шаге, через который ваша же статистика пропускает меньше трети попыток, вы обещаете не результат, а серию попыток — и считать надо, сколько их бюджет выдержит.</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Предсказание структуры белка стоит здесь как инструмент внутри работы; сам метод — тема отдельной лекции курса, и в этом разделе он появляется только там, где измерен объём экспериментальной работы.</a:t>
            </a:r>
          </a:p>
          <a:p>
            <a:r>
              <a:t/>
            </a:r>
          </a:p>
          <a:p>
            <a:r>
              <a:t>Ожидание было прямое: если структуру можно предсказать за минуты, экспериментальная структурная биология должна сжаться. Числа депозитария этого не подтверждают. Рентгеновская кристаллография держит плато около девяти-десяти тысяч депозитов в год, и держит его с 2015 года — то есть выход предсказания на этом плато не отразился никак. Криоэлектронная микроскопия выросла за пять лет примерно в два с половиной раза, продолжая траекторию, начатую до появления предсказания. База сравнения здесь — сама же кривая до события: когда рост или плато начались раньше, приписывать их новому инструменту нельзя. Сами ряды депозитов взяты из пересказа статистики архива, а не прочитаны по таблице, и сверка по архиву остаётся обязательной.</a:t>
            </a:r>
          </a:p>
          <a:p>
            <a:r>
              <a:t/>
            </a:r>
          </a:p>
          <a:p>
            <a:r>
              <a:t>Где предсказание задачу не решает. Оно выдаёт одну статичную укладку вместо набора состояний, в которых белок живёт. Прочность связывания вещества с белком оно не предсказывает — уверенная поза и прочное связывание суть разные вопросы. Для подвижных и многосоставных сборок точность падает, а уверенность модели при этом может остаться высокой. Документированную ошибку применения называет сама область: принять уверенную оценку за ответ о связывании и пропустить экспериментальную проверку.</a:t>
            </a:r>
          </a:p>
          <a:p>
            <a:r>
              <a:t/>
            </a:r>
          </a:p>
          <a:p>
            <a:r>
              <a:t>Появился и новый шаг — проверка предсказания против экспериментальных данных, и делает её тот же структурный биолог. Рядом стоит дизайн белков с нуля: автор метода сам говорит, что прочности связывания сконструированных антител для клинического кандидата не хватает — метод даёт отправную точку. Поэтому честная формулировка не «шаг исчез», а «нагрузка перераспределилась внутри того же шага».</a:t>
            </a:r>
          </a:p>
          <a:p>
            <a:r>
              <a:t/>
            </a:r>
          </a:p>
          <a:p>
            <a:r>
              <a:t>**Источники.** </a:t>
            </a:r>
            <a:r>
              <a:rPr u="sng">
                <a:solidFill>
                  <a:srgbClr val="065A82"/>
                </a:solidFill>
                <a:hlinkClick r:id="rId3"/>
              </a:rPr>
              <a:t>статистика открытого депозитария структур</a:t>
            </a:r>
            <a:r>
              <a:t> · </a:t>
            </a:r>
            <a:r>
              <a:rPr u="sng">
                <a:solidFill>
                  <a:srgbClr val="065A82"/>
                </a:solidFill>
                <a:hlinkClick r:id="rId4"/>
              </a:rPr>
              <a:t>обзор 2025, Expert Review of Proteomics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 что и остальные. Числа стоят на разборах, откуда эти обобщения взяты.</a:t>
            </a:r>
          </a:p>
          <a:p>
            <a:r>
              <a:t/>
            </a:r>
          </a:p>
          <a:p>
            <a:r>
              <a:t>Что получается. Выигрыш везде лежит в объёме работы на одном шаге: расчётный отбор соединений вместо миллионов физических итераций, доклиника в месяцы вместо лет, первая фаза чаще базы. Все три — про начало пути.</a:t>
            </a:r>
          </a:p>
          <a:p>
            <a:r>
              <a:t/>
            </a:r>
          </a:p>
          <a:p>
            <a:r>
              <a:t>Что не получается. Три границы. Вторая фаза не идёт лучше базы: около сорока процентов против 28,9 авторы замера называют сопоставимым, и лучшим не называют. Одобрения нет ни одного за десять лет категории. И четыре работы на людях — переносимость, набор пациентов, длительность наблюдения, производство партии — не сокращаются, потому что задачи для модели там нет.</a:t>
            </a:r>
          </a:p>
          <a:p>
            <a:r>
              <a:t/>
            </a:r>
          </a:p>
          <a:p>
            <a:r>
              <a:t>Что стало с работой. Три формы, названные по словарю. Нагрузка переехала на другой шаг — дважды: на одной молекуле доклиника сжалась, а остановила проект переносимость у людей; на отрасли ранний шаг подешевел, а весь объём остался в клинических фазах. Объём на том же месте упал — расчётный отбор под известную мишень: тот же шаг, тот же исполнитель, меньше физических итераций. Изменился порядок работ — на масштабе модели бизнеса, и это заимствование формы на другой масштаб, сказанное прямо.</a:t>
            </a:r>
          </a:p>
          <a:p>
            <a:r>
              <a:t/>
            </a:r>
          </a:p>
          <a:p>
            <a:r>
              <a:t>Что это держит. Доклиника и три фазы на людях, длину которых задают физиология и протокол. Воронка переходов как база сравнения. И честный прочерк: ожидаемая форма «шаг исчез» числами депозитария не подтверждается — экспериментальная структурная биология не сжалась.</a:t>
            </a:r>
          </a:p>
          <a:p>
            <a:r>
              <a:t/>
            </a:r>
          </a:p>
          <a:p>
            <a:r>
              <a:t>Чего раздел не утверждает: что подход не работает. Ноль одобрений — состояние категории на дату, при десятках активов в клинике и одной молекуле в третьей фазе; приговором методу оно не является, и у вывода есть срок годности.</a:t>
            </a:r>
          </a:p>
          <a:p>
            <a:r>
              <a:t/>
            </a:r>
          </a:p>
          <a:p>
            <a:r>
              <a:t>Что отсюда забирают за пределы фармацевтики — два навыка чтения чисел. Первый: прежде чем сравнивать две доли, проверить знаменатели, потому что «перешли» и «завершили» выглядят одинаково и значат разное. Второй: мерить пропускную способность, и мерить её у того шага, который вы не трогали.</a:t>
            </a:r>
          </a:p>
          <a:p>
            <a:r>
              <a:t/>
            </a:r>
          </a:p>
          <a:p>
            <a:r>
              <a:t>**Источники.** </a:t>
            </a:r>
            <a:r>
              <a:rPr u="sng">
                <a:solidFill>
                  <a:srgbClr val="065A82"/>
                </a:solidFill>
                <a:hlinkClick r:id="rId3"/>
              </a:rPr>
              <a:t>Haque и соавт., J Clin Oncol 2026</a:t>
            </a:r>
            <a:r>
              <a:t> · </a:t>
            </a:r>
            <a:r>
              <a:rPr u="sng">
                <a:solidFill>
                  <a:srgbClr val="065A82"/>
                </a:solidFill>
                <a:hlinkClick r:id="rId4"/>
              </a:rPr>
              <a:t>Jayatunga и соавт., Drug Discovery Today 2024</a:t>
            </a:r>
            <a:r>
              <a:t> · </a:t>
            </a:r>
            <a:r>
              <a:rPr u="sng">
                <a:solidFill>
                  <a:srgbClr val="065A82"/>
                </a:solidFill>
                <a:hlinkClick r:id="rId5"/>
              </a:rPr>
              <a:t>BIO / QLS / Informa, Clinical Development Success Rates 2011–2020</a:t>
            </a:r>
          </a:p>
          <a:p>
            <a:r>
              <a:t/>
            </a:r>
          </a:p>
          <a:p>
            <a:r>
              <a:t>Про адрес платежа — и это надо сказать прямо, потому что ось лекции здесь не работает. Лекция мерит удешевление четырьмя адресами: внимание человека, его навык, его подпись, его участие в арбитраже. В этом разделе не занят ни один из четырёх, и объяснение простое. Решение здесь принимают о веществе, которое до человека может не дойти вовсе; врача в контуре нет, и подешевевший шаг — подбор молекулы — делает химик расчётом вместо физического перебора. Его внимание не сужается подсказкой, его подпись ни под чем не стоит, арбитража расхождений у него нет. Платит за ошибку отрасль — программами и годами.</a:t>
            </a:r>
          </a:p>
          <a:p>
            <a:r>
              <a:t/>
            </a:r>
          </a:p>
          <a:p>
            <a:r>
              <a:t>Это содержание раздела, и пробелом подборки оно не является. Остальные семь разделов показывали один и тот же механизм: шаг подешевел, и счёт пришёл человеку, который работает рядом. Здесь счёт приходит в другое место — на шаг, которого ускорение не коснулось: три фазы на людях, набор пациентов, длительность наблюдения, производство клинической партии. Длину этих работ задают физиология и протокол, и расчётом они не сокращаются. Поэтому к такому удешевлению задают другой вопрос: измерена ли пропускная способность того шага, которого вы не трогали. Подводить раздел под адрес платежа силой значило бы назвать человека там, где его в контуре нет.</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Двенадцать показанных клеток — окно курсовой сетки из сорока двух. Разбор раздела встал в клетку прогноза на структурированных данных: перебор гипотез «мишень — болезнь — препарат» по графу биомедицинских связей. До него эту клетку занимали анализ данных и наблюдение за состоянием, и имена их стоят светлым в той же клетке.</a:t>
            </a:r>
          </a:p>
          <a:p>
            <a:r>
              <a:t/>
            </a:r>
          </a:p>
          <a:p>
            <a:r>
              <a:t>А вот несущая клетка раздела в окно не попадает, и произнести это надо отдельно, потому что соблазн здесь ровно один — дописать таблице пятую строку и сделать вид, что всё уложилось. Строки «генерация» в показанном окне нет, и отсутствие её содержательное. Вход свёл поиск и генерацию одной строкой, потому что в клинике они так и ходят вместе: найти в документах и написать по найденному. Генерация структуры к этой паре не сводится. Здесь ничего не ищут — здесь производят материал, которого раньше не было: молекулу под заданную мишень, белок, спроектированный с нуля. Клетку эту добавляет отрасль, и окно, собранное под клинику, её держать не может. Поэтому таблица осталась с осями входа, а клетка названа строкой под ней.</a:t>
            </a:r>
          </a:p>
          <a:p>
            <a:r>
              <a:t/>
            </a:r>
          </a:p>
          <a:p>
            <a:r>
              <a:t>Жирным в клетке отмечено разобранное этим разделом числами; светлым — разделы, занявшие клетку раньше. Читается эта таблица как карта раздела; описью наших разборов она не является: применение, распространённое на стадии, стоит в клетке и тогда, когда своего разбора у нас по нему нет.</a:t>
            </a:r>
          </a:p>
          <a:p>
            <a:r>
              <a:t/>
            </a:r>
          </a:p>
          <a:p>
            <a:r>
              <a:t>Что говорят пустые клетки — и это первое, ради чего карту стоит разглядывать. Текст и изображение на стадии разработки пустуют целиком, обе колонки. Распознавания и классификации нет ни одного: на этой стадии нечего узнавать на готовом материале, материал тут производят. Отсюда прямое практическое следствие для разговора с поставщиком. Инструменты, доказавшие себя на снимке, — зрелая, давно обкатанная часть промышленного ИИ, — к этой стадии не относятся, и опыт их внедрения сюда не переносится. Поставщик, принёсший вам историю успеха с рентгеновского снимка или с текста, принёс историю не про разработку лекарства, какой бы убедительной она ни была сама по себе. Светлые имена в трёх клетках и есть ответ на вопрос, кто там работал: клиника. Разработка в этих клетках не стояла ни разу.</a:t>
            </a:r>
          </a:p>
          <a:p>
            <a:r>
              <a:t/>
            </a:r>
          </a:p>
          <a:p>
            <a:r>
              <a:t>Расчётная оценка связывания клетки не занимает, и это различение приходится делать вслух. Это метод расчёта физики, обученной модели внутри него нет. Поставщики ставят два приёма рядом и называют одним словом, а проверяются они по-разному: у расчёта спрашивают, что именно он считает и с какой погрешностью, у обученной модели — на каком материале она обучена и что в этом материале похоже на вашу задачу. Спутать их значит задать инструменту не те вопросы.</a:t>
            </a:r>
          </a:p>
          <a:p>
            <a:r>
              <a:t/>
            </a:r>
          </a:p>
          <a:p>
            <a:r>
              <a:t>Чисел в этой раскладке нет ни одного — ни долей рынка, ни числа компаний, ни «лидеров». Имена изделий стоят буллитами под таблицей; в клетки они не поставлены. Решение это содержательное, и место тут экономить незачем: режим один, реализаций много, и разницу в результате делает устройство процедуры вокруг человека. Марка её не делает.</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стоит после лекарства и перед сборкой не по случайности порядка, а потому что отвечает на вопрос, который все предыдущие разделы оставили открытым. Раздел про лекарство закончился выводом: узкое место лежит не на шаге, который ускорили, а на шаге, которого никто не трогал. Эта же мысль здесь поворачивается на человека: есть ещё один шаг, которого никто не трогал, — сам человек, который решает. Отрасль измеряли всю лекцию: поток тревог, документ, воронку. Ни один из этих замеров не говорит, что происходит с тем, кто внутри этой работы остаётся решающим звеном.</a:t>
            </a:r>
          </a:p>
          <a:p>
            <a:r>
              <a:t/>
            </a:r>
          </a:p>
          <a:p>
            <a:r>
              <a:t>Раздел отличается от общего разговора о влиянии техники на людей тем, что в нём есть числа, снятые на реальной работе, а не домыслы о будущем или общие тревоги. Чисел мало, и именно поэтому они дорогие: единственное прямое измерение деквалификации на реальной, а не лабораторной работе случилось один раз, и повторения у него нет. Раздел называет это прямо, не прячет и не смягчает.</a:t>
            </a:r>
          </a:p>
          <a:p>
            <a:r>
              <a:t/>
            </a:r>
          </a:p>
          <a:p>
            <a:r>
              <a:t>Предметов в разделе два, и разбор по форме из четырёх шагов есть только у первого — второй предъявлен плоскостью и назван так прямо. Сначала — доля обнаружения, измеренная у тех же врачей до появления помощника и после периода работы с ним: единственное прямое свидетельство того, что навык расходуется, если инструмент исключить из работы. Затем — то, чего про доверие не измерено вовсе: раздел не стесняется сказать, где у него нет данных, а есть только предположение. Новые роли и шаги, появившиеся в процессе, когда часть решения стала доверяться модели, собраны в своде раздела вместе с остальным.</a:t>
            </a:r>
          </a:p>
          <a:p>
            <a:r>
              <a:t/>
            </a:r>
          </a:p>
          <a:p>
            <a:r>
              <a:t>Поэтому раздел закрывает не тему, а саму ось лекции, и закрывает её тем же приёмом, которым лекция читает чужие числа: называет, что измерено, а что нет.</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Инженер привык считать квалификацию выданной: диплом получен, допуск оформлен. В медицине она устроена иначе, и различение это несущее для всего раздела: врачебный навык — расходуемое.</a:t>
            </a:r>
          </a:p>
          <a:p>
            <a:r>
              <a:t/>
            </a:r>
          </a:p>
          <a:p>
            <a:r>
              <a:t>Держат его три опоры, работающие одновременно. Объём практики: профессиональные общества назначают минимальное число процедур в год, ниже которого специалист считается выпавшим из формы. Аккредитация: допуск выдаётся к одному виду деятельности, привязан к рабочему месту и к процедуре, его можно сузить, приостановить, не продлить. Повторная сертификация: квалификация подтверждается периодически, и между двумя подтверждениями состояние меняется в обе стороны.</a:t>
            </a:r>
          </a:p>
          <a:p>
            <a:r>
              <a:t/>
            </a:r>
          </a:p>
          <a:p>
            <a:r>
              <a:t>Три опоры отвечают на один вопрос — держится ли человек в форме, — и ни одна не спрашивает самого человека. Профессия считает за него, и для колоноскопии счёт устроен двумя показателями. Доля обнаружения — доля процедур, в которых врач нашёл хотя бы одно предраковое образование. Её нельзя получить старанием или аккуратностью в описании: образование, за которым надо заглянуть под складку, попадает в знаменатель независимо от того, заглянул врач или нет, а в числитель — только если заглянул. Поэтому она измеряет поведение. Время выведения прибора — величина дисциплинарная: осмотр делается при выведении эндоскопа, минимальное время назначено рекомендациями и засекается таймером.</a:t>
            </a:r>
          </a:p>
          <a:p>
            <a:r>
              <a:t/>
            </a:r>
          </a:p>
          <a:p>
            <a:r>
              <a:t>Врач вернулся после года без процедур, допуск не отзывали — отзывать его было не за что. Первая процедура прошла без осложнений, протокол написан, пациент отпущен домой. Прибор шёл медленнее, рука дольше искала угол, складку он прошёл мимо — и сам этого не знает. Обратной связи нет и не будет: образование, которое не увидели, остаётся в человеке до следующего обследования, а оно через годы. Плохой осмотр выглядит ровно как хороший осмотр, в котором ничего не нашли.</a:t>
            </a:r>
          </a:p>
          <a:p>
            <a:r>
              <a:t/>
            </a:r>
          </a:p>
          <a:p>
            <a:r>
              <a:t>**Источники.** </a:t>
            </a:r>
            <a:r>
              <a:rPr u="sng">
                <a:solidFill>
                  <a:srgbClr val="065A82"/>
                </a:solidFill>
                <a:hlinkClick r:id="rId3"/>
              </a:rPr>
              <a:t>показатели качества колоноскопии, Gastrointestinal Endoscopy 2015</a:t>
            </a:r>
          </a:p>
          <a:p>
            <a:r>
              <a:t/>
            </a:r>
          </a:p>
          <a:p>
            <a:r>
              <a:t>И то же поле с моделью, названное до разбора. Из восьми действий обученная модель заняла одно — осмотр при выведении, где на участке изображения в реальном времени появляется рамка. Один шаг добавился: решить, доверять ли этой рамке. Подготовка, введение прибора, складка, снятие найденного, гистология, протокол и счёт показателей остались людям и профессии. И три места, где модель не работает, названы именами того, чего нет: поддержать навык она не может — измерено прямо обратное; показать врачу, чего он не увидел бы без подсветки, внутри процедуры нечем; и измерить его же результат без помощника не умеет ни она, ни какая-либо процедура ни в одной юрисдикции. Направление же развития инструмента стоит отметить сразу: от обнаружения он движется к характеристике найденного и дальше к автоматическому счёту показателей самого врача — то есть становится ещё и измерителем того, кто им пользуется.</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начинается ценой обеих ошибок, и называется она прежде любой точности — до того, как прозвучит хоть одна цифра про модель. Для колоноскопии скрининга цена эта такая.</a:t>
            </a:r>
          </a:p>
          <a:p>
            <a:r>
              <a:t/>
            </a:r>
          </a:p>
          <a:p>
            <a:r>
              <a:t>Пропустить образование. Аденома остаётся в человеке до следующего обследования — так и возникает болезнь, найденная между двумя обследованиями, предмет, из-за которого доля обнаружения вообще существует как показатель. Цена пропуска считается в стадии, на которой болезнь найдут в следующий раз, и в числе вариантов лечения, оставшихся к тому моменту.</a:t>
            </a:r>
          </a:p>
          <a:p>
            <a:r>
              <a:t/>
            </a:r>
          </a:p>
          <a:p>
            <a:r>
              <a:t>Увидеть лишнее. Образование снимают, и снятие даёт кровотечение с известной частотой; материал уходит на гистологию; пациент получает повторный визит и повторную подготовку. Цена ложной тревоги считается в осложнениях, визитах и работе лаборатории.</a:t>
            </a:r>
          </a:p>
          <a:p>
            <a:r>
              <a:t/>
            </a:r>
          </a:p>
          <a:p>
            <a:r>
              <a:t>Две цены несимметричны, и несимметричность эту назначил орган здравоохранения, когда решал, кого и с какой периодичностью звать на обследование, — задолго до того, как кто-нибудь измерил точность какого-нибудь помощника. Это существенно: порог здесь не свойство модели и не выбор врача, он назначен решением о программе.</a:t>
            </a:r>
          </a:p>
          <a:p>
            <a:r>
              <a:t/>
            </a:r>
          </a:p>
          <a:p>
            <a:r>
              <a:t>И третье, из чего растёт весь раздел: обратная связь приходит через годы. Цена ошибки зависит от того, сколько прошло между ошибкой и её обнаружением, — а здесь между ними стоит интервал скрининговой программы. Поэтому плохой осмотр не чувствуется плохим: внутри процедуры нет ничего, что сообщило бы врачу о пропуске. В инженерной работе о промахе сообщает ближайшая сборка, проверка или обзор кода, в тот же день; здесь ближайший прибор — следующий визит того же пациента, через годы и к другому врачу. Отсюда и устройство трёх опор, которыми держат навык: они считают за человека именно потому, что сам он узнать не может.</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второй шаг формы разбора — тот, на пропуске которого разборы и теряются. Модель, сравнённая с пустым местом, выигрывает всегда, и выигрыш этот ничего не значит: там, куда приходит помощник, уже работали два порядка, и оба измерены в доле обнаружения.</a:t>
            </a:r>
          </a:p>
          <a:p>
            <a:r>
              <a:t/>
            </a:r>
          </a:p>
          <a:p>
            <a:r>
              <a:t>Режим первый — дисциплина времени осмотра. Время выведения прибора удлинили с шести минут до девяти. Рандомизированное испытание, 1 027 пациентов, 514 против 513, время засекали по таймеру: доля обнаружения выросла с 27,1 до 36,6 процента при уровне значимости 0,001. Отдельное наблюдение даёт и ручку к режиму: каждая дополнительная минута выведения прибавляет около шести процентов к шансам найти аденому, измерено в окне от шести до тринадцати минут.</a:t>
            </a:r>
          </a:p>
          <a:p>
            <a:r>
              <a:t/>
            </a:r>
          </a:p>
          <a:p>
            <a:r>
              <a:t>Режим второй — второй наблюдатель в кабинете: на тот же экран, кроме врача, смотрит медицинская сестра. Сводный разбор трёх рандомизированных испытаний на 1 676 пациентах: с 39,3 до 45,7 процента, относительный риск 1,16 при интервале от 1,04 до 1,30; второй сводный разбор, на одиннадцати испытаниях и 8 278 пациентах, даёт 1,15 от 1,05 до 1,26. Оговорка самих авторов обзора называется вместе с числом: все включённые испытания несут высокий риск систематической ошибки, а выигрыша по обнаружению полипов и по продвинутым находкам в том же обзоре нет вовсе. И оговорка своя: часть эффекта может быть эффектом наблюдения за наблюдающим, и отделить одно от другого эти испытания не могли.</a:t>
            </a:r>
          </a:p>
          <a:p>
            <a:r>
              <a:t/>
            </a:r>
          </a:p>
          <a:p>
            <a:r>
              <a:t>Базы у двух приростов разные, между собой они не сравниваются; каждый сравнивается с приростом от помощника в своей работе. Вывод, ради которого шаг стоит отдельно: оба классических режима дают прирост того же порядка, что помощник, или больше, и ни один из них не бесплатен — первый стоит трёх минут времени врача на каждой процедуре, второй присутствия второго человека. А расхода навыка у этих двух режимов не измерял никто, и произносить это надо именно так: измерения нет. Сказать «они навык не расходуют» значило бы утверждать больше, чем измерено.</a:t>
            </a:r>
          </a:p>
          <a:p>
            <a:r>
              <a:t/>
            </a:r>
          </a:p>
          <a:p>
            <a:r>
              <a:t>**Источники.** </a:t>
            </a:r>
            <a:r>
              <a:rPr u="sng">
                <a:solidFill>
                  <a:srgbClr val="065A82"/>
                </a:solidFill>
                <a:hlinkClick r:id="rId3"/>
              </a:rPr>
              <a:t>Zhao и соавт., Clinical Gastroenterology and Hepatology 2022</a:t>
            </a:r>
            <a:r>
              <a:t> · </a:t>
            </a:r>
            <a:r>
              <a:rPr u="sng">
                <a:solidFill>
                  <a:srgbClr val="065A82"/>
                </a:solidFill>
                <a:hlinkClick r:id="rId4"/>
              </a:rPr>
              <a:t>Xu и соавт., Gastroenterology Research and Practice 2016</a:t>
            </a:r>
            <a:r>
              <a:t> · </a:t>
            </a:r>
            <a:r>
              <a:rPr u="sng">
                <a:solidFill>
                  <a:srgbClr val="065A82"/>
                </a:solidFill>
                <a:hlinkClick r:id="rId5"/>
              </a:rPr>
              <a:t>Lei и соавт., International Journal of Colorectal Disease 2024</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Замысел разбора в том, где именно смотрели. В четырёх центрах внедрили помощника, подсвечивающего образование на видео в реальном времени, а затем посмотрели не на процедуры с ним, а на процедуры без него, выполненные теми же врачами: расход навыка виден только там, где инструмента нет.</a:t>
            </a:r>
          </a:p>
          <a:p>
            <a:r>
              <a:t/>
            </a:r>
          </a:p>
          <a:p>
            <a:r>
              <a:t>Состав. Девятнадцать эндоскопистов — шестнадцать гастроэнтерологов и три хирурга, у каждого больше двух тысяч выполненных колоноскопий, средний стаж 28 лет при разбросе от 8 до 39. Два окна по три месяца, помощник внедрён между ними. В основное сравнение вошли 1 443 процедуры без помощника: 795 в раннем окне и 648 в позднем. Медиана возраста пациентов 61 год, женщин 58,7 процента.</a:t>
            </a:r>
          </a:p>
          <a:p>
            <a:r>
              <a:t/>
            </a:r>
          </a:p>
          <a:p>
            <a:r>
              <a:t>Результат. Доля обнаружения в процедурах без помощника — 28,4 процента до внедрения, это 226 находок на 795 процедур, и 22,4 процента после, 145 находок на 648. Абсолютная разница минус 6,0 процентного пункта при доверительном интервале от минус 10,5 до минус 1,6 и уровне значимости 0,0089. В многофакторной модели работа врача рядом с помощником даёт отношение шансов 0,69 при интервале от 0,53 до 0,89. В той же модели возраст пациента от шестидесяти лет даёт 3,60 при интервале от 2,74 до 4,72 — то есть возраст пациента здесь заметно более сильный предсказатель выявляемости. Кратность между этими двумя величинами не произносится: деление отношения больше единицы на отношение меньше единицы ничего не сравнивает. Шесть пунктов лежат в том же диапазоне, где живут эффекты состава пациентов, и это задаёт масштаб находки, не отменяя её.</a:t>
            </a:r>
          </a:p>
          <a:p>
            <a:r>
              <a:t/>
            </a:r>
          </a:p>
          <a:p>
            <a:r>
              <a:t>Сила свидетельства названа на экране и не смягчается: ретроспективное наблюдательное, не рандомизированное; причинности оно не доказывает, и авторы этого не утверждают. Окна короткие, регион один, система помощника одна, повторения нет ни одного. «Падение на пятую часть» и «шесть пунктов» — одна величина в двух выражениях, и произносить надо одно, иначе два выражения сложатся как два свидетельства.</a:t>
            </a:r>
          </a:p>
          <a:p>
            <a:r>
              <a:t/>
            </a:r>
          </a:p>
          <a:p>
            <a:r>
              <a:t>**Источники.** </a:t>
            </a:r>
            <a:r>
              <a:rPr u="sng">
                <a:solidFill>
                  <a:srgbClr val="065A82"/>
                </a:solidFill>
                <a:hlinkClick r:id="rId3"/>
              </a:rPr>
              <a:t>Budzyń и соавт., Lancet Gastroenterology &amp; Hepatology 2025</a:t>
            </a:r>
            <a:r>
              <a:t> · </a:t>
            </a:r>
            <a:r>
              <a:rPr u="sng">
                <a:solidFill>
                  <a:srgbClr val="065A82"/>
                </a:solidFill>
                <a:hlinkClick r:id="rId4"/>
              </a:rPr>
              <a:t>опубликованное исправление к той же работе</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Пара «дало — потребовало» держится намеренно: она и есть содержание разбора.</a:t>
            </a:r>
          </a:p>
          <a:p>
            <a:r>
              <a:t/>
            </a:r>
          </a:p>
          <a:p>
            <a:r>
              <a:t>Дало: с включённым помощником врачи находят больше. Прирост доли обнаружения в рандомизированных испытаниях измерен и повторён многократно, и скрыть эту половину значило бы сделать то, за что разбирались поставщики, только в обратную сторону.</a:t>
            </a:r>
          </a:p>
          <a:p>
            <a:r>
              <a:t/>
            </a:r>
          </a:p>
          <a:p>
            <a:r>
              <a:t>Потребовало: умения искать самому. Расход виден за три месяца и у врачей со средним стажем 28 лет. Речь о натренированном навыке, который поддерживается объёмом выполнения, — старательность и внимательность здесь ни при чём, и падение шло ровно по центрам, а не у отдельных врачей.</a:t>
            </a:r>
          </a:p>
          <a:p>
            <a:r>
              <a:t/>
            </a:r>
          </a:p>
          <a:p>
            <a:r>
              <a:t>В сумме: помощник повышает результат, пока включён, и это состояние не бесплатно. Счёта в одной валюте — сколько прибавил включённый помощник против того, сколько убыло в выключенном состоянии, — не сделал никто, и выдавать его за измеренный нельзя.</a:t>
            </a:r>
          </a:p>
          <a:p>
            <a:r>
              <a:t/>
            </a:r>
          </a:p>
          <a:p>
            <a:r>
              <a:t>Форма восьмая словаря: исполнитель тот же, но стал хуже. Место работы, объём, порядок шагов и рука прежние; изменилось состояние самой руки. Соседние две формы выглядят подходящими, и обе проверку не проходят. Пятая требует, чтобы сменилась рука, а здесь сравнение построено внутри тех же девятнадцати врачей — пятая форма утверждала бы смену исполнителя, которую измерение прямо исключает. Четыре-а говорит про объём операции, а здесь объём процедур тот же, упала доля находок; назвать это падением объёма значит подменить единицу измерения. Направление названо вниз осознанно: измерен один знак, обратный случай получит свой номер и будет назван, когда найдётся измеренным.</a:t>
            </a:r>
          </a:p>
          <a:p>
            <a:r>
              <a:t/>
            </a:r>
          </a:p>
          <a:p>
            <a:r>
              <a:t>То же явление измерено рандомизированно, но в учёбе: около тысячи старшеклассников, математика, три группы. Практика со свободным доступом к модели дала плюс 48 процентов к контролю, с учительскими ограничителями плюс 127; экзамен без модели у свободной группы оказался на 17 процентов хуже контроля, у группы с ограничителями — примерно на уровне контроля. Практика с неограниченным помощником создаёт видимость обучения, и там же измерено средство. Повторением клинической находки это не является: другая работа, другие люди, другая задача.</a:t>
            </a:r>
          </a:p>
          <a:p>
            <a:r>
              <a:t/>
            </a:r>
          </a:p>
          <a:p>
            <a:r>
              <a:t>**Источники.** </a:t>
            </a:r>
            <a:r>
              <a:rPr u="sng">
                <a:solidFill>
                  <a:srgbClr val="065A82"/>
                </a:solidFill>
                <a:hlinkClick r:id="rId3"/>
              </a:rPr>
              <a:t>Budzyń и соавт., Lancet Gastroenterology &amp; Hepatology 2025</a:t>
            </a:r>
            <a:r>
              <a:t> · </a:t>
            </a:r>
            <a:r>
              <a:rPr u="sng">
                <a:solidFill>
                  <a:srgbClr val="065A82"/>
                </a:solidFill>
                <a:hlinkClick r:id="rId4"/>
              </a:rPr>
              <a:t>Bastani и соавт., PNAS 2025</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плоскость предъявляется пробелом, а пробел добыт поиском — он и есть результат, а не отсутствие работы.</a:t>
            </a:r>
          </a:p>
          <a:p>
            <a:r>
              <a:t/>
            </a:r>
          </a:p>
          <a:p>
            <a:r>
              <a:t>Пробел первый. Утверждение «одна грубая ошибка модели обрывает доверие к ней» как отдельная измеренная величина не опубликовано. То, что за него обычно выдают, измеряет выбор между моделью и человеком в задачах прогнозирования вне медицины, в лаборатории, в один сеанс, — и картину даёт мягче: доверие осыпается постепенно.</a:t>
            </a:r>
          </a:p>
          <a:p>
            <a:r>
              <a:t/>
            </a:r>
          </a:p>
          <a:p>
            <a:r>
              <a:t>Пробел второй, и он прямо про предмет раздела. Измерений того, как доверие врача к модели меняется за месяцы реальной работы, нет вовсе. Всё, что есть, снято в один сеанс, на подготовленных случаях. Однократный опыт измеряет реакцию; расход он измерить не может по своему устройству.</a:t>
            </a:r>
          </a:p>
          <a:p>
            <a:r>
              <a:t/>
            </a:r>
          </a:p>
          <a:p>
            <a:r>
              <a:t>Различать надо две вещи, и это различение уносится дальше любого числа: «измерения нет» и «измерено, что эффекта нет» — разные утверждения. Первое говорит о состоянии знания, второе о состоянии мира. Здесь первое.</a:t>
            </a:r>
          </a:p>
          <a:p>
            <a:r>
              <a:t/>
            </a:r>
          </a:p>
          <a:p>
            <a:r>
              <a:t>И одно свидетельство, которое в этой плоскости есть, — с точно названным разрядом. От 30 до 50 процентов опытных разработчиков сказали исследователям в опросе, что не сдают часть задач, потому что не хотят делать их без модели. Поведенческий факт рядом реален и сверен: задачи действительно не сдавали, и устройство замера пришлось перепроектировать. Но сколько именно их не сдавали, известно из самоотчёта участников, а не из телеметрии, — поэтому величина названа опросной. Предмет немедицинский, это разработка программ: свидетельство числится переносом и свидетельством медицинской плоскости не становится. Отсюда правило чтения, годное далеко за пределами этого случая: заявленное отношение к инструменту и готовность без него работать — разные величины, и смешивать разряд поведения с разрядом самоотчёта нельзя. О качестве работы это свидетельство не говорит ничего — только о готовности работу делать.</a:t>
            </a:r>
          </a:p>
          <a:p>
            <a:r>
              <a:t/>
            </a:r>
          </a:p>
          <a:p>
            <a:r>
              <a:t>И одно средство, которое измерено: если человеку дают хоть немного поправить прогноз модели, он не бросает её после ошибки. Это устройство интерфейса, а не режим инструмента, и найдено оно тоже вне медицины.</a:t>
            </a:r>
          </a:p>
          <a:p>
            <a:r>
              <a:t/>
            </a:r>
          </a:p>
          <a:p>
            <a:r>
              <a:t>**Источники.** </a:t>
            </a:r>
            <a:r>
              <a:rPr u="sng">
                <a:solidFill>
                  <a:srgbClr val="065A82"/>
                </a:solidFill>
                <a:hlinkClick r:id="rId3"/>
              </a:rPr>
              <a:t>METR, обновление замера, 24 февраля 2026</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тем же четырём вопросам и закончим своими пробелами.</a:t>
            </a:r>
          </a:p>
          <a:p>
            <a:r>
              <a:t/>
            </a:r>
          </a:p>
          <a:p>
            <a:r>
              <a:t>Что получается. С включённым помощником находят больше: прирост измерен в рандомизированных испытаниях и повторён многократно, и скрыть эту половину значило бы сделать то, за что разбирались поставщики, только в обратную сторону.</a:t>
            </a:r>
          </a:p>
          <a:p>
            <a:r>
              <a:t/>
            </a:r>
          </a:p>
          <a:p>
            <a:r>
              <a:t>Что не получается. Поддерживать навык — здесь измерено прямо обратное. Дать врачу обратную связь о пропуске — внутри процедуры её нет, и именно поэтому расход молчалив. Измерить доверие за месяцы реальной работы не смог никто: всё, что есть, снято в один сеанс.</a:t>
            </a:r>
          </a:p>
          <a:p>
            <a:r>
              <a:t/>
            </a:r>
          </a:p>
          <a:p>
            <a:r>
              <a:t>Что стало с работой. Две формы по словарю. Исполнитель тот же, но стал хуже: место, объём, порядок шагов и рука прежние, изменилось состояние руки. И шаг появился — дважды: посредник, переводящий вывод модели на язык, которому поверит врач, и целевой арбитраж расхождения.</a:t>
            </a:r>
          </a:p>
          <a:p>
            <a:r>
              <a:t/>
            </a:r>
          </a:p>
          <a:p>
            <a:r>
              <a:t>Что это держит. Доля обнаружения и время выведения — обе величины снимаются в обычной работе. И честный прочерк: процедуры, которая измеряла бы результат врача без помощника, нет ни в одной юрисдикции.</a:t>
            </a:r>
          </a:p>
          <a:p>
            <a:r>
              <a:t/>
            </a:r>
          </a:p>
          <a:p>
            <a:r>
              <a:t>Пробелы названы числом: двадцать две отдельные попытки поиска повторения — восемнадцать формулировок и четыре целевых обращения. Число это про поиск, о предмете оно не говорит ничего, и нужно оно затем, чтобы отличить «искали и не нашли» от «не искали»: внешне эти две вещи выглядят одинаково, а первая проверяема. Продольного измерения навыка у тех, кто учился сразу с помощником, не существует вовсе — про людей в этой аудитории данных нет ни у кого, ни о просевшем навыке, ни о сохранившемся.</a:t>
            </a:r>
          </a:p>
          <a:p>
            <a:r>
              <a:t/>
            </a:r>
          </a:p>
          <a:p>
            <a:r>
              <a:t>Практическое следствие одно, и оно переносится за пределы медицины: ставя помощника в контур, измерять надо и результат с ним, и результат без него, и не однажды. Показатель для такого замера у профессии есть, а процедуры нет — и требовать от одного наблюдательного исследования большего, чем оно весит, была бы та же ошибка, что требовать работы от заявленной точности без знаменателя.</a:t>
            </a:r>
          </a:p>
          <a:p>
            <a:r>
              <a:t/>
            </a:r>
          </a:p>
          <a:p>
            <a:r>
              <a:t>**Источники.** </a:t>
            </a:r>
            <a:r>
              <a:rPr u="sng">
                <a:solidFill>
                  <a:srgbClr val="065A82"/>
                </a:solidFill>
                <a:hlinkClick r:id="rId3"/>
              </a:rPr>
              <a:t>Budzyń и соавт., Lancet Gastroenterology &amp; Hepatology 2025</a:t>
            </a:r>
          </a:p>
          <a:p>
            <a:r>
              <a:t/>
            </a:r>
          </a:p>
          <a:p>
            <a:r>
              <a:t>Про поток решения — то, что изменилось в нём помимо находок. Появилась роль посредника: модель выдаёт вывод, а человек переводит его на язык, которому поверит врач, и роль эта новая для отделения. Рядом измеренная зависимость, которую надо произносить вместе с её слабостью: доверие к выводу выше у тех, кто работает с моделью руками, — точечные оценки есть, статистической значимости нет. Рутинная перепроверка каждого случая при этом ушла, а на её место встал целевой арбитраж расхождения, то есть структура защиты от ошибки сменилась целиком, а не сократилась.</a:t>
            </a:r>
          </a:p>
          <a:p>
            <a:r>
              <a:t/>
            </a:r>
          </a:p>
          <a:p>
            <a:r>
              <a:t>И строка про карту задачи и данных: клетка этого раздела в показанное окно не попадает — подсветка в реальном времени снята на потоке кадров во время процедуры, то есть на видео, а столбца видео в окне нет. Отдельно стоит назвать то, чему клетки не находится вовсе: психология участия — доверие, его калибровка, готовность работать без инструмента — в сетку «задача × вид данных» не ложится, потому что режима там нет. Предмет этой плоскости — то, чего про человека не измерено, и сеткой инструментов он не описывается.</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Двенадцать показанных клеток — окно курсовой сетки из сорока двух, оси и порядок строк те же, что стояли на незаполненной матрице входа. Светлым в занятых клетках стоят разделы, занявшие их раньше.</a:t>
            </a:r>
          </a:p>
          <a:p>
            <a:r>
              <a:t/>
            </a:r>
          </a:p>
          <a:p>
            <a:r>
              <a:t>Полужирного в сетке нет, и это надо произнести вслух, иначе кадр читается как недоделанный. Разбор этого раздела — падение доли обнаружения у тех же врачей после отключения помощника — снят на потоке кадров во время процедуры, то есть на видео. Столбца «видео» в окне нет: окно собрано под то, что лекция разбирает в клинике, где читают снимок, текст и карту. Дописать таблице четвёртый столбец было бы проще всего, и именно поэтому так делать нельзя: окно тогда перестанет быть тем окном, которое объявлено на входе, а зал не сможет сравнить итог с обещанием.</a:t>
            </a:r>
          </a:p>
          <a:p>
            <a:r>
              <a:t/>
            </a:r>
          </a:p>
          <a:p>
            <a:r>
              <a:t>Два раздела подряд не прибавили окну ни одной клетки, и оба по одной и той же причине — не потому, что про них мало известно, а потому, что предмет у них лежит вне клинической раскладки. Раздел о лекарстве добавил генерацию на структуре: там производят вещество. Этот раздел добавил распознавание на видео: здесь смотрят живой поток кадров, и готового снимка тут нет. Два разных ответа, одно следствие: окно, собранное под одну отрасль, не растягивается на соседние, и растягивать его молча — значит соврать о его границах.</a:t>
            </a:r>
          </a:p>
          <a:p>
            <a:r>
              <a:t/>
            </a:r>
          </a:p>
          <a:p>
            <a:r>
              <a:t>Рядом в той же строке светлым стоит распознавание на снимке в режиме второго читателя: клетку занимали разделы об отборе, о чтении исследований и об удержании. Разница между двумя режимами лежит в последствиях, и для этого раздела она существенная: у прибора, который подсвечивает находку, человек остаётся и продолжает решать; со второго места человека снимают. Расходуется навык в первом случае, где человек формально остался на месте.</a:t>
            </a:r>
          </a:p>
          <a:p>
            <a:r>
              <a:t/>
            </a:r>
          </a:p>
          <a:p>
            <a:r>
              <a:t>И пустота, которая лежит строкой ниже сетки, вне клеток. Доверие к выводу модели, его калибровка, готовность человека работать без инструмента — всё это клетки «задача × вид данных» не получает, потому что режима работы там нет. Сетка описывает инструменты; предмет этой плоскости — то, чего про человека не измерено, и сеткой он не описывается ни одной клеткой. Писать туда что-нибудь, чтобы строка не пустовала, нельзя: получится карта, на которой у всего есть место, а это неправда.</a:t>
            </a:r>
          </a:p>
          <a:p>
            <a:r>
              <a:t/>
            </a:r>
          </a:p>
          <a:p>
            <a:r>
              <a:t>Сводный счёт всей карты — сколько клеток занято, сколько пусто и чем каждую из них удерживают — здесь не читается. Он стоит в «Сборке», куда собираются все восемь разделов разом, и там у него есть то, чего здесь нет: полный набор процедур, с которыми занятые клетки можно сравнить между собой.</a:t>
            </a:r>
          </a:p>
          <a:p>
            <a:r>
              <a:t/>
            </a:r>
          </a:p>
          <a:p>
            <a:r>
              <a:t>И одно замечание про направление, которого в клетках не видно. Подсветка движется от обнаружения к характеристике найденного и дальше к автоматическому счёту показателей самого врача: инструмент становится ещё и измерителем того, кто им пользуется. Клетка остаётся той же, а предмет решения меняется — и это тот случай, когда карта обязана дополняться словами.</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раздел не добавляет ни одного нового случая и ни одного нового числа — кроме счёта того, сколько раз выигрыш оказался приписан не обученной модели. Остальное уже предъявлено, каждое со своей базой, и задача раздела — сложить предъявленное так, чтобы из суммы читалось то, чего не видно в отдельном случае.</a:t>
            </a:r>
          </a:p>
          <a:p>
            <a:r>
              <a:t/>
            </a:r>
          </a:p>
          <a:p>
            <a:r>
              <a:t>Складывается это по двум осям, и первая из них впервые предъявляется целиком одним кадром. Это словарь форм: девять способов, которыми работа меняет место, объём, руку, время, последствие и состояние руки. Словарь нужен затем, чтобы вместо образа «уехало вправо» на каждом случае стояла названная форма с числом: один образ врёт там, где работа не переехала, а удвоилась или исчезла. Две строки словаря стоят без числа, и это произносится вслух: за эту лекцию ни одного подтверждённого случая, где шаг исчез бы совсем, не встретилось, а у формы, мерящей порядок работ, единственное её число ушло вместе со снятым материалом.</a:t>
            </a:r>
          </a:p>
          <a:p>
            <a:r>
              <a:t/>
            </a:r>
          </a:p>
          <a:p>
            <a:r>
              <a:t>Вторая ось — что стало с человеком, который эту работу делает: поведение, психология, процесс и подпись. Первая говорит, куда переехала работа, вторая — что произошло с тем, кто её делает.</a:t>
            </a:r>
          </a:p>
          <a:p>
            <a:r>
              <a:t/>
            </a:r>
          </a:p>
          <a:p>
            <a:r>
              <a:t>Счёт приписок отвечает на вопрос, сколько раз результат принадлежал не модели, а порогу, протоколу, новой роли или объёму — и отдельной графой на то, сколько раз число выросло по дороге от первоисточника к пересказу. Сводная сетка показывает, что клетки «задача × модальность» узнаваемы по прошлой лекции, а процедуры, которыми в них удерживают цену ошибки, у каждой клетки свои — и одна строка в этой сетке остаётся пустой. Разряд замера назван там, где он применяется: под каждой ступенью участия, вместе с неудобным выводом о том, что исхода пациента нет ни у одного разбора ядра.</a:t>
            </a:r>
          </a:p>
          <a:p>
            <a:r>
              <a:t/>
            </a:r>
          </a:p>
          <a:p>
            <a:r>
              <a:t>Закрывается раздел поимённым ответом на вопрос, с которого началась лекция. Ответ не общий: четыре ступени, на каждой своё дело человека и измерение.</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Словарь на экране целиком, и это единственное место лекции, где он виден целиком. Пользовались мы им весь разговор: на каждом разборе вместо образа «нагрузка уехала вправо» стояла названная форма с числом. Образ врёт там, где работа не переехала, а удвоилась, исчезла или осталась на месте и просела в качестве, — и девять строк нужны ровно затем, чтобы эти случаи не слиплись в один.</a:t>
            </a:r>
          </a:p>
          <a:p>
            <a:r>
              <a:t/>
            </a:r>
          </a:p>
          <a:p>
            <a:r>
              <a:t>Делится словарь по вопросу. Первые пять мерят место и объём работы: где она теперь и сколько её. Вторые четыре мерят руку, время, последствие ошибки и состояние самой руки: кто делает работу, когда и чем платит за промах. Разделение это объявлено на оси в начале и здесь только подтверждается: форма отвечает, что сделалось с работой, адрес — на каком человеческом шаге это сделалось.</a:t>
            </a:r>
          </a:p>
          <a:p>
            <a:r>
              <a:t/>
            </a:r>
          </a:p>
          <a:p>
            <a:r>
              <a:t>Пройдём по несущим строкам. Нагрузка переехала на другой шаг — воронка молекул, спроектированных моделью, против базы отрасли: одобрений регулятора ноль. Шаг появился — разбор расхождения при замене второго читателя моделью, и это самая обеспеченная строка словаря: плюс 53 процента объёма арбитража при падении первичных чтений вдвое, а один разбор расхождения против одного чтения дольше в 4,6 раза по медианам и в 2,75 по средним, то есть 48 секунд против двух минут двенадцати. Среднее идёт с разбросом от плюс 22 до плюс 142 процентов: устройство нового шага само задаёт нагрузку. Исполнитель сменился — одного из двух читателей в программе скрининга заменила модель: объём человеческого чтения ниже на 44,3 процента при большем числе найденных раков, промежуточный анализ безопасности, 80 033 женщины. Обратная сторона той же формы — пара «врач плюс модель» слабее самой модели там, где сильнее модель. Исполнитель тот же, но стал хуже — падение доли обнаружения в процедурах без помощника у тех же девятнадцати врачей, с 28,4 до 22,4 процента, минус шесть процентных пунктов; второй подтверждающий случай — хирурги с подсказкой модели на септическом шоке, 0,712 против 0,820 без подсказки.</a:t>
            </a:r>
          </a:p>
          <a:p>
            <a:r>
              <a:t/>
            </a:r>
          </a:p>
          <a:p>
            <a:r>
              <a:t>Теперь про два прочерка, и замазывать их похожим случаем запрещено. Отмены шага без появления нового предмета за эту лекцию не встретилось ни разу: три кандидата проверены, и у каждого взамен появился новый шаг. Второй человеческий читатель ушёл с рабочего места, но его работу делает модель. Ручная работа структурного биолога не исчезла: объём экспериментальных депозитов вырос, и появилась проверка предсказания. Рутинная перепроверка каждого случая ушла, а на её место пришёл разбор расхождения, посчитанный в минутах. Утверждать из этого «модель не убирает шаги» нельзя: такое утверждение шире любого замера лекции. У формы, мерящей порядок работ, счёта нет по другой причине: порядок в разборах переставлялся, но посчитан как порядок он не был, и единственное её число ушло вместе со снятым материалом.</a:t>
            </a:r>
          </a:p>
          <a:p>
            <a:r>
              <a:t/>
            </a:r>
          </a:p>
          <a:p>
            <a:r>
              <a:t>И различение, на котором держится восьмая форма, потому что без него её спутают с соседними. В пятой форме сменилась рука; здесь сравнение построено внутри тех же девятнадцати врачей, и смену исполнителя измерение прямо исключает. В форме четыре-а упал объём операции; здесь объём тот же, упала доля находок, то есть единицы измерения разные. Быстрая проверка — вопрос о знаменателе: у формы четыре-а его нет вовсе, там абсолютный объём; у восьмой он есть и не менялся. Пятая и восьмая стоят на одном разборе, и это не противоречие: у колоноскопии с помощником два состояния контура — пока помощник включён, часть поиска делает модель, а когда выключен, та же рука находит меньше, чем находила до его появления.</a:t>
            </a:r>
          </a:p>
          <a:p>
            <a:r>
              <a:t/>
            </a:r>
          </a:p>
          <a:p>
            <a:r>
              <a:t>Вопрос залу стоит задать и дождаться ответа: номер формы из собственной работы называется за несколько секунд, а названный номер потом держит весь остаток разговора.</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Линия лекции: копаешь — а это не модель. Порог на приборе, оптимизатор расписания, оптика, протокол или новая роль в процессе. Линия эта про принадлежность выигрыша и вины, а не про их наличие: разборы, где выигрыш принадлежит именно модели, в этой лекции тоже есть. Счёт ведётся по реестру номинаций и пересчитывается на день сборки: пятнадцать живых строк, двенадцать из них подтверждены, три стоят условно — их адрес лежит за другим разделом. На экран идут девять, по три строки из каждой графы: пятнадцать строк на сводном кадре были бы библиографией, и остальные живут в реестре раздела.</a:t>
            </a:r>
          </a:p>
          <a:p>
            <a:r>
              <a:t/>
            </a:r>
          </a:p>
          <a:p>
            <a:r>
              <a:t>Граф три, и проверка у каждой своя.</a:t>
            </a:r>
          </a:p>
          <a:p>
            <a:r>
              <a:t/>
            </a:r>
          </a:p>
          <a:p>
            <a:r>
              <a:t>Первая: модели нет вовсе. Сортировка обращений оказалась деревом «если-то»; прибор, измеряющий насыщение крови кислородом, смещён до модели, и система наследует смещение, не создавая его; тревога кардиомонитора — порог на приборе. Проверка здесь — убери модель: механизм продолжит работать, потому что модели в нём и не было. Цена при этом измерена в каждом случае: 88,8 процента ложных из 12 671 размеченной тревоги; расхождение у пациентов с тёмной кожей на 11,7 процента измерений против 3,6 у остальных; оценка 4,2 миллиарда и продажа активов за 500 тысяч фунтов.</a:t>
            </a:r>
          </a:p>
          <a:p>
            <a:r>
              <a:t/>
            </a:r>
          </a:p>
          <a:p>
            <a:r>
              <a:t>Вторая: модель есть, но результат принадлежит не ей — классу модели, методу, новой роли в процессе, объёму потока или пресс-сообщению. Снижение смертности принадлежит новой роли, а не качеству прогноза; «искусственный интеллект изобрёл лекарство» — расчёту физики связывания под известную мишень; «миллионы обработанных исследований» — объёму, без знаменателя и без доли ошибок. Проверка — спроси, от чего посчитан эффект.</a:t>
            </a:r>
          </a:p>
          <a:p>
            <a:r>
              <a:t/>
            </a:r>
          </a:p>
          <a:p>
            <a:r>
              <a:t>Третья: числа выросли при пересказе, и здесь ошибку делает не заявитель, а пересказчик, потому что первоисточник часто аккуратен. Экспонат — рецензируемый обзор, перепутавший шесть из семи своих первоисточников: наблюдательное исследование названо рандомизированным, 1 443 процедуры стали «более 23 000», восемь ординаторов — тридцатью двумя. Ошибка живёт выше блога, там, где читатель обычно уже не проверяет. Проверка — открой первоисточник и сверь выборку, дизайн и журнал. Для курса эта графа весит столько же, сколько две первые: пересказ встречается чаще, чем первоисточник.</a:t>
            </a:r>
          </a:p>
          <a:p>
            <a:r>
              <a:t/>
            </a:r>
          </a:p>
          <a:p>
            <a:r>
              <a:t>Четвёртая проверка на кадре не напечатана, и произносится она вслух. Общая, прикладывается к любому из трёх случаев: посмотреть, на каком уровне вообще сделан замер, и не утверждать больше, чем этот уровень позволяет. Точность, посчитанная на корпусе, говорит о корпусе — утверждать по ней вред или пользу пациенту нельзя. Замер качества работы говорит о работе — утверждать по нему исход нельзя. А на заявлении поставщика нельзя утверждать ничего, и это не фигура речи: оба разобранных заявления — «три секунды на описание исследования» и «экономия двойного чтения» — при обращении к первоисточнику оказались не тем, чем назывались.</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Карта собрана один раз и целиком, как обещал вход. Двенадцать показанных клеток — окно курсовой сетки из сорока двух: четыре строки задач на три вида данных, те же и в том же порядке, что стояли на незаполненной матрице в начале. Поиск и генерация сведены в окне одной строкой, планирования в нём нет, и четырёх видов данных — звука, видео, кода и смешанных комбинаций — тоже. Окно взято ровно под то, что лекция разбирает в клинике, и считать по нему проще: двенадцать клеток пересчитываются глазами за несколько секунд, сорок две — нет.</a:t>
            </a:r>
          </a:p>
          <a:p>
            <a:r>
              <a:t/>
            </a:r>
          </a:p>
          <a:p>
            <a:r>
              <a:t>Главное читается прямо с таблицы, и это не занятые клетки. Заняты четыре. **Восемь пусты, и за восемь разделов в них не зашёл никто** — ни одна стадия медицины, ни один из восемнадцати разборов. Классификации и распознавания на тексте в лекции нет вовсе; поиска с генерацией на изображении и на структурированных данных нет; прогноза на тексте и на изображении нет. Эти восемь прочерков — такое же содержание, как четыре имени: они говорят, инструмент какого класса на этих местах искать незачем, и экономят время, которое ушло бы на поиск.</a:t>
            </a:r>
          </a:p>
          <a:p>
            <a:r>
              <a:t/>
            </a:r>
          </a:p>
          <a:p>
            <a:r>
              <a:t>Имена разделов внутри занятых клеток и есть ответ на вопрос, зачем курс держит сетку. Инструменты восьми разных стадий медицины уложились в четыре клетки. Классификация на изображении занята трижды — отбором, анализом данных и диагнозом. Распознавание на изображении трижды — отбором, диагнозом и удержанием. Поиск с генерацией на тексте трижды. Прогноз на структурированных данных трижды. Класс модели разделы не различает; различают их цена промаха и процедура вокруг человека.</a:t>
            </a:r>
          </a:p>
          <a:p>
            <a:r>
              <a:t/>
            </a:r>
          </a:p>
          <a:p>
            <a:r>
              <a:t>Три места встали вне окна, и назвать их надо словами, потому что в сетке их нет. Генерация структуры — молекула под заданную мишень в разработке лекарства. Распознавание на видео — подсветка в реальном времени у тех, кто решает. И измерение с сигналом прибора, где обученной модели нет вовсе: смещение прибора насыщения крови приходит до всякой модели, а система, принимающая его показания на вход, наследует смещение молча. Пустым это место назвать нельзя, занятым моделью тоже.</a:t>
            </a:r>
          </a:p>
          <a:p>
            <a:r>
              <a:t/>
            </a:r>
          </a:p>
          <a:p>
            <a:r>
              <a:t>Третий слой карты — чем в каждой клетке удерживают цену ошибки, и здесь сетка перестаёт быть узнаваемой. Процедуры у четырёх клеток разные, и ни одна не совпадает с другой: на изображении держат двойное чтение, арбитраж и пересчёт доли верных тревог под местную распространённость; на прогнозе — разбор ложных тревог, посчитанный как рабочее время, и заранее утверждённый план изменений модели; на тексте — вычитка и подпись врача, разбор случая и границы заявленного назначения; на структуре — доклиника, три фазы на людях и воронка переходов. Отсюда правило, которое читается по порядку этих строк: чем позже в процедуре стоит проверка, тем дольше живёт ошибка. На изображении её поймают внутри смены, на тексте — при подписи, на прогнозе — при следующем срезе переданных регулятору данных, на структуре — во второй фазе испытаний, то есть через годы.</a:t>
            </a:r>
          </a:p>
          <a:p>
            <a:r>
              <a:t/>
            </a:r>
          </a:p>
          <a:p>
            <a:r>
              <a:t>И пятая строка, которой в сетке нет и которую убирать нельзя. Результат исполнителя без инструмента — тот же врач, та же процедура, помощник выключен, находок меньше — не держится ничем. Писать туда «переаттестация» нельзя: такой процедуры нет ни в одной юрисдикции. Убрать строку тоже нельзя: карта из четырёх занятых клеток читалась бы как «на всё есть процедура», и это была бы неправда.</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таблица отвечает на другой вопрос, чем словарь форм. Словарь говорит, куда переехала работа; таблица — что стало с тем, кто её делает, и чем именно каждая строка держится.</a:t>
            </a:r>
          </a:p>
          <a:p>
            <a:r>
              <a:t/>
            </a:r>
          </a:p>
          <a:p>
            <a:r>
              <a:t>И здесь возвращается четвёрка, с которой лекция началась: внимание, навык, подпись, арбитраж. Там это было обещанием, здесь под каждым словом стоит измерение с названным разрядом. Внимание и навык собраны в строке поведения: сужение зрительного поиска и смена верного решения на неверное — это внимание, падение техники после привыкания — навык. Арбитраж приходит строкой процесса: роль второго проверяющего переходит к модели, и разбор расхождения, который за этим появляется, делает человек. Подпись стоит своей строкой и своим именем. Строка психологии в четвёрку адресов не входит. Она мерит доверие и согласие — отдельную плоскость, которой в четырёх словах нет, и поэтому у неё своё имя.</a:t>
            </a:r>
          </a:p>
          <a:p>
            <a:r>
              <a:t/>
            </a:r>
          </a:p>
          <a:p>
            <a:r>
              <a:t>Поведение. Зрительный поиск сужается при неверной подсказке — лабораторное чтение с замером взгляда, воспроизведённое по направлению, причём в другой специальности прочтение вышло обратным. Верное решение меняется на неверное под влиянием совета — систематический обзор. Техника падает в работе без помощника после привыкания — наблюдательное исследование, с 28,4 до 22,4 процента, повторения нет. Доля отклоняемых тревог предельно высока — обзор отклонений.</a:t>
            </a:r>
          </a:p>
          <a:p>
            <a:r>
              <a:t/>
            </a:r>
          </a:p>
          <a:p>
            <a:r>
              <a:t>Психология. Объяснение повышает согласие и не повышает качество решения — полевой опыт. Запись приёма пишется быстрее, а вычитка остаётся — рандомизированное исследование вместе с замером рабочего времени.</a:t>
            </a:r>
          </a:p>
          <a:p>
            <a:r>
              <a:t/>
            </a:r>
          </a:p>
          <a:p>
            <a:r>
              <a:t>Процесс. Роль второго проверяющего переходит от человека к модели — рандомизированное испытание программы скрининга.</a:t>
            </a:r>
          </a:p>
          <a:p>
            <a:r>
              <a:t/>
            </a:r>
          </a:p>
          <a:p>
            <a:r>
              <a:t>Подпись. Норма требует человека финальным звеном, и это редко проверено — обзор поданной регуляторам документации, 56 изделий из 717. Стандарт надзора сформулирован как способность вмешаться, а не как присутствие, — нормативный текст, и формулировка эта не требует, чтобы человек смотрел каждое решение.</a:t>
            </a:r>
          </a:p>
          <a:p>
            <a:r>
              <a:t/>
            </a:r>
          </a:p>
          <a:p>
            <a:r>
              <a:t>Последняя строка обязательна, и без неё таблица врёт в одну сторону: читалась бы как перечень одних потерь. Разная структура ошибок человека и модели даёт выигрыш пары — сводный замер на 106 опытах, где знак эффекта пары переворачивается в зависимости от того, какая сторона сильнее на задаче, и оба интервала лежат целиком по одну сторону нуля. У этой строки есть направление и нет величины: долей взаимного перекрытия ошибок нет — такие измерения существуют, но их числа сверку по первоисточнику не прошли, и подставить их значило бы сделать то, за что лекция разбирает поставщиков. Сам этот свод собран из независимых повторений, то есть вопрос о воспроизведении в этой строке закрыт её устройством, а не оставлен без ответа.</a:t>
            </a:r>
          </a:p>
          <a:p>
            <a:r>
              <a:t/>
            </a:r>
          </a:p>
          <a:p>
            <a:r>
              <a:t>И последняя строка ведомости, которая называет отсутствие измерения. Ни один разбор ядра лекции не доходит до исхода пациента. Измерено поведение — куда смотрит глаз, что человек подписывает, сколько находок он делает без помощника; измерено качество работы — доля обнаружения, объём арбитража. Что из этого случилось с больным, не проверил никто: что стало с человеком, которого смотрел врач, разучившийся смотреть сам, — вопрос, на который в собранном материале нет ответа. Это не упрёк исследователям: такой замер стоит лет и требует исходов, которых в лабораторном устройстве опыта нет вовсе. Но называть разряд своего замера вслух — включая свой собственный — лекция требует от себя так же, как от поставщиков.</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лекции звучал так: модель посмотрела первой — что теперь делает человек и кто это измерял. Ответ не общий, а поимённый, и ступеней четыре.</a:t>
            </a:r>
          </a:p>
          <a:p>
            <a:r>
              <a:t/>
            </a:r>
          </a:p>
          <a:p>
            <a:r>
              <a:t>Смотрит первым: читает сам, модель даёт второе мнение, при расхождении идёт арбитраж. Измерено рандомизированным испытанием программы скрининга — разряд свидетельства здесь сильный.</a:t>
            </a:r>
          </a:p>
          <a:p>
            <a:r>
              <a:t/>
            </a:r>
          </a:p>
          <a:p>
            <a:r>
              <a:t>Смотрит вторым: читает после модели. Внимание сужается, верное решение иногда меняется на неверное. Измерено лабораторным чтением с замером взгляда и систематическим обзором.</a:t>
            </a:r>
          </a:p>
          <a:p>
            <a:r>
              <a:t/>
            </a:r>
          </a:p>
          <a:p>
            <a:r>
              <a:t>Смотрит только спорное: разбирает то, что модель отметила, остальной поток проходит мимо. Измерено обзором отклонений тревог и внешними проверками модели раннего предупреждения.</a:t>
            </a:r>
          </a:p>
          <a:p>
            <a:r>
              <a:t/>
            </a:r>
          </a:p>
          <a:p>
            <a:r>
              <a:t>Подписывает не глядя: подпись есть, чтения нет. Измерено счётом секунд — медиана времени над подсказкой до её принятия около двух секунд, и принятое без предварительной проверки правится потом в 53 процентах случаев против 18. Замер этот сделан вне медицины, на программистах с ассистентом кода, и перенос назван переносом. Отдельным свидетельством, другого предмета и другого знаменателя, рядом стоит перепись допущенных изделий: способность человека вмешаться проверена у 56 из 717.</a:t>
            </a:r>
          </a:p>
          <a:p>
            <a:r>
              <a:t/>
            </a:r>
          </a:p>
          <a:p>
            <a:r>
              <a:t>Отсюда и ответ одной фразой: «человек в контуре» — не ответ, а вопрос. Четыре ступени — четыре разных устройства работы, и измерены они на четырёх разных разрядах свидетельства: первая на исходе пациента, вторая на точности корпуса, третья на качестве работы, четвёртая счётом секунд вне медицины. Разряд падает ровно по мере того, как участие человека становится формальнее, и это само по себе наблюдение: про самую распространённую ступень известно меньше всего. Поэтому фраза «у нас человек в контуре» сама по себе не говорит ничего, пока не названа ступень.</a:t>
            </a:r>
          </a:p>
          <a:p>
            <a:r>
              <a:t/>
            </a:r>
          </a:p>
          <a:p>
            <a:r>
              <a:t>Четвёртая ступень — не чья-то вина и не упрёк врачу: она следствие устройства процедуры и переделывается процедурой, а не внимательностью. Если у подтверждения нет времени в расписании, подпись стоит, а чтения нет.</a:t>
            </a:r>
          </a:p>
          <a:p>
            <a:r>
              <a:t/>
            </a:r>
          </a:p>
          <a:p>
            <a:r>
              <a:t>Четыре ступени описывают процедуру, а не автономию. Новой лестницы автономии здесь не вводится: лестницы в курсе уже есть, и сводная таблица их стоит в финальной лекции.</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Закрытие устроено как сверка, а не как объявление. Фраза, которой открылась лекция, — что участие человека в медицинском решении обязательно не потому, что человек точнее, — перестаёт быть заявлением и становится ведомостью: у каждой из трёх её опор есть разбор, который её оплатил, и число, которым он это сделал. Это и есть разница между тезисом и утверждением: тезис произносят, утверждение предъявляют со счётом.</a:t>
            </a:r>
          </a:p>
          <a:p>
            <a:r>
              <a:t/>
            </a:r>
          </a:p>
          <a:p>
            <a:r>
              <a:t>Та закончилась мыслью о необратимости, и зал её слышал. Лекция эту мысль подтвердила и внесла в неё поправку, которую стоит знать: отзыв существует, он посчитан, и значительная часть отзывов приходится на первый год работы изделия. А вот решения, принятые по этому изделию за тот год, не отзываются вместе с ним. Необратимы не изделия — необратимы решения, принятые по ним до отзыва. Формулировка «в медицине всё необратимо» шире замера; разрыв между обратимостью изделия и необратимостью решения измерен, и это сильнее исходной фразы.</a:t>
            </a:r>
          </a:p>
          <a:p>
            <a:r>
              <a:t/>
            </a:r>
          </a:p>
          <a:p>
            <a:r>
              <a:t>Там же отвечается вопрос, зачем медицина шла в курсе после машиностроения: та же работа с той же парой вопросов — что стоит ошибиться в обе стороны и кто за это отвечает, — только граница допустимого проведена в другом месте, и проведена она процедурой, а не чувством.</a:t>
            </a:r>
          </a:p>
          <a:p>
            <a:r>
              <a:t/>
            </a:r>
          </a:p>
          <a:p>
            <a:r>
              <a:t>Три кадра раздела устроены по-разному, и порядок у них не случайный. Первый — ведомость: фраза, объявленная на входе обязательством, возвращается с разбором и числом под каждой из трёх опор, и у одной опоры число названо отсутствующим. Второй закрывает лекцию разрывом между двумя вещами, которые привычно считают одной: изделие с рынка снимают, решения по нему остаются; его заголовок и есть эта строка, а под ней стоит доля отзывов, пришедшихся на первый год работы изделия, и снимок страницы регулятора. Третий отдаёт в руки три проверки — те самые, которые инженер приложит к собственному рабочему контуру независимо от отрасли, — и задаёт вопрос, с которого начинается разговор.</a:t>
            </a:r>
          </a:p>
          <a:p>
            <a:r>
              <a:t/>
            </a:r>
          </a:p>
          <a:p>
            <a:r>
              <a:t>Новых утверждений раздел не вводит ни одного, и это свойство, а не упущение. Всё, что здесь произносится, уже предъявлено со своей базой и своим разрядом свидетельства; закрытие складывает предъявленное и проверяет, оплачено ли обещание входа. Четвёртой опоры здесь появиться не может: их три, они заявлены в начале, и четвёртая означала бы, что обещание было неполным.</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Закрытие устроено как сверка, а не как объявление. Фраза прозвучала на входе обязательством лекции; здесь она возвращается заработанной, и доказывать её заново не нужно — нужно предъявить ведомость по каждой опоре.</a:t>
            </a:r>
          </a:p>
          <a:p>
            <a:r>
              <a:t/>
            </a:r>
          </a:p>
          <a:p>
            <a:r>
              <a:t>Право подписи выдано человеку. При разборе случая комиссия оценивает действия человека, и вопроса о модели в этой процедуре нет. И измерено, как редко проверяют, способен ли человек этим правом воспользоваться: способность вмешаться проверена у 56 радиологических изделий из 717, срез июнь 2024 года.</a:t>
            </a:r>
          </a:p>
          <a:p>
            <a:r>
              <a:t/>
            </a:r>
          </a:p>
          <a:p>
            <a:r>
              <a:t>Ошибается иначе. У этой опоры величины нет, и сказать это надо той же строкой, которой всю лекцию требовалась база у чужих чисел: доли взаимного перекрытия ошибок человека и модели не измерены. Такие измерения существуют, но их числа сверку по первоисточнику не прошли, и подставить их здесь значило бы сделать в ведомости ровно то, за что лекция разбирает поставщиков. Держится опора механизмом и структурой: на 106 опытах пара работает хуже самой модели там, где сильнее модель, и лучше обеих сторон там, где сильнее человек. Рядом измеренная асимметрия отклонений: более точные находки модели отклоняли чаще, чем менее точные свои. Вместе это подтверждает направление — ошибки человека и модели лежат на разных случаях — и не подтверждает величину. Опоре этого достаточно: она утверждает, что ошибки расходятся, а на скольких случаях — не измерено.</a:t>
            </a:r>
          </a:p>
          <a:p>
            <a:r>
              <a:t/>
            </a:r>
          </a:p>
          <a:p>
            <a:r>
              <a:t>Отменить нельзя. Изделие отзывают, и это посчитано: из 950 допущенных изделий с моделью отзывались 60, на них 182 отзывных события, и 43,4 процента отзывов приходятся на первый год; срез ноябрь 2024. Решения, принятые по изделию за этот год, вместе с ним не отзываются. Два знаменателя рядом — 717 и 950 — приходят из двух разных работ при разных срезах, поэтому у каждого числа стоит своя дата.</a:t>
            </a:r>
          </a:p>
          <a:p>
            <a:r>
              <a:t/>
            </a:r>
          </a:p>
          <a:p>
            <a:r>
              <a:t>Ведомость не добавляет ни одной опоры и ни одной проверки: их три и три, они заявлены на входе, и четвёртая опора в закрытии означала бы, что обещание было неполным.</a:t>
            </a:r>
          </a:p>
          <a:p>
            <a:r>
              <a:t/>
            </a:r>
          </a:p>
          <a:p>
            <a:r>
              <a:t>**Источники.** </a:t>
            </a:r>
            <a:r>
              <a:rPr u="sng">
                <a:solidFill>
                  <a:srgbClr val="065A82"/>
                </a:solidFill>
                <a:hlinkClick r:id="rId3"/>
              </a:rPr>
              <a:t>Lee и соавт., JAMA Health Forum 2025, отзывы изделий</a:t>
            </a:r>
            <a:r>
              <a:t> · </a:t>
            </a:r>
            <a:r>
              <a:rPr u="sng">
                <a:solidFill>
                  <a:srgbClr val="065A82"/>
                </a:solidFill>
                <a:hlinkClick r:id="rId4"/>
              </a:rPr>
              <a:t>обзор поданной регуляторам документации, JAMA Network Open 2025</a:t>
            </a:r>
            <a:r>
              <a:t> · </a:t>
            </a:r>
            <a:r>
              <a:rPr u="sng">
                <a:solidFill>
                  <a:srgbClr val="065A82"/>
                </a:solidFill>
                <a:hlinkClick r:id="rId5"/>
              </a:rPr>
              <a:t>Регламент (ЕС) 2024/1689</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Прошлая лекция закончилась фразой, произнесённой залу: партию можно отозвать, решение о человеке отозвать нельзя. Эта лекция тезис отработала измеренным материалом — тезис подтверждается, и к нему есть поправка, которая делает его сильнее.</a:t>
            </a:r>
          </a:p>
          <a:p>
            <a:r>
              <a:t/>
            </a:r>
          </a:p>
          <a:p>
            <a:r>
              <a:t>Первая половина подтверждается буквально и даже шире, чем произносилась: отзывается не только партия деталей, но и изделие с обученной моделью внутри. Из 950 допущенных изделий отзывались 60, на них 182 отзывных события, и 79 из них — 43,4 процента — пришлись на первые двенадцать месяцев после допуска, примерно вдвое чаще обычного для этого пути допуска; срез ноябрь 2024 года. Изделия без заявленной клинической проверки отзывались чаще: 3,4 отзыва на изделие против 1,9 у проверенных ретроспективно. А 108 отзывов из 182 к концу исследования оставались неразрешёнными.</a:t>
            </a:r>
          </a:p>
          <a:p>
            <a:r>
              <a:t/>
            </a:r>
          </a:p>
          <a:p>
            <a:r>
              <a:t>Вторая половина подтверждается двумя разборами лекции. Решения, принятые по изделию до его отзыва: отзывом изделия они не отзываются. Техника, упавшая в процедурах без помощника, — те процедуры уже проведены, и переделать их нельзя.</a:t>
            </a:r>
          </a:p>
          <a:p>
            <a:r>
              <a:t/>
            </a:r>
          </a:p>
          <a:p>
            <a:r>
              <a:t>Поправка, которую стоит произнести: отзыв существует, работает и посчитан. Изделие отзывается — необратимы решения, принятые по нему до отзыва. Сорок три процента отзывов приходятся на первый год работы изделия, и решения этого года остаются. Формулировка «в медицине всё необратимо» шире замера, и проверить её нечем. Формулировка «между обратимостью изделия и необратимостью решения есть разрыв, и он измерен» проверяема, и её можно приложить к своему рабочему контуру: спросить, что в нём отзывается, а что остаётся после отзыва.</a:t>
            </a:r>
          </a:p>
          <a:p>
            <a:r>
              <a:t/>
            </a:r>
          </a:p>
          <a:p>
            <a:r>
              <a:t>И честная оговорка про охват: оба оставшихся разбора лежат внутри медицинского контура, где решение принимал тот, кто за него отвечает. Третий, в котором необратимость касалась решения о лечении конкретного человека, принятого не врачом, снят решением владельца курса вместе с изъятой темой, и усиливать опору взамен нечем. Дальше курс идёт в отрасль, где ошибку почти всегда можно отменить, и спор там о принадлежности результата, а не о цене ошибки: смена вопроса и есть переход.</a:t>
            </a:r>
          </a:p>
          <a:p>
            <a:r>
              <a:t/>
            </a:r>
          </a:p>
          <a:p>
            <a:r>
              <a:t>**Источники.** </a:t>
            </a:r>
            <a:r>
              <a:rPr u="sng">
                <a:solidFill>
                  <a:srgbClr val="065A82"/>
                </a:solidFill>
                <a:hlinkClick r:id="rId3"/>
              </a:rPr>
              <a:t>Lee и соавт., JAMA Health Forum 2025, отзывы изделий</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строки на кадре — это и есть то, что лекция оставляет в руках. Каждая проверяема на конкретной системе, и каждая уже была применена сегодня на разборе, а здесь только названа своим именем.</a:t>
            </a:r>
          </a:p>
          <a:p>
            <a:r>
              <a:t/>
            </a:r>
          </a:p>
          <a:p>
            <a:r>
              <a:t>Первая проверка отделяет проверку от её видимости. Если единственное, по чему человек сверяет вывод модели, — это объяснение самой модели, то проверки нет: объяснение покупает согласие и не покупает качество, и это измерено. Упрощённое объяснение неверной рекомендации уронило точность выбора ниже той, которую тот же человек даёт без всякой модели. Независимый источник истины — это другой прибор, другой анализ, другой человек или сам предмет; самообъяснение в этот список не входит.</a:t>
            </a:r>
          </a:p>
          <a:p>
            <a:r>
              <a:t/>
            </a:r>
          </a:p>
          <a:p>
            <a:r>
              <a:t>Вторая проверка превращает слово «контроль» в величину. У любого контура, где человек подтверждает решение модели, есть две считаемые доли: как часто он возражает и как часто возражает правильно. Если ни одна из них не измерена, утверждение «человек проверяет» ничем не отличается от утверждения «человек подписывает». В разборах лекции это различие было видно дважды. Там, где подсказка приходила раньше собственного вывода, человек возражал реже и хуже. Там, где процедуру перестроили и человек смотрел только расхождения, возражение стало отдельной работой — и её объём оказалось возможно посчитать.</a:t>
            </a:r>
          </a:p>
          <a:p>
            <a:r>
              <a:t/>
            </a:r>
          </a:p>
          <a:p>
            <a:r>
              <a:t>Третья проверка — про физику, не про старательность. У проверки есть длительность, и она сравнивается с объёмом, который надо прочитать, чтобы проверка состоялась. Измеренная медиана проверки подсказки — около двух секунд; за это время подсказку прочесть нельзя, и принятое без предварительной проверки правится потом в 53 процентах случаев против 18. Замер сделан вне медицины, на программистах с ассистентом кода, и перенос назван переносом. Отсюда вывод, который переносится на любую отрасль: требование «человек подтверждает» выполнимо только тогда, когда у подтверждения есть время в расписании. Если его нет, подпись стоит, а чтения нет, и переделывается это процедурой, не внимательностью.</a:t>
            </a:r>
          </a:p>
          <a:p>
            <a:r>
              <a:t/>
            </a:r>
          </a:p>
          <a:p>
            <a:r>
              <a:t>Отдельным свидетельством, другого предмета и другого знаменателя, рядом с третьей проверкой стоит перепись допущенных изделий: способность человека вмешаться проверена у 56 из 717, срез июнь 2024 года. Та же мысль с другой стороны — норма требует возможности вмешаться и не требует, чтобы вмешательство кто-нибудь посчитал.</a:t>
            </a:r>
          </a:p>
          <a:p>
            <a:r>
              <a:t/>
            </a:r>
          </a:p>
          <a:p>
            <a:r>
              <a:t>Вопрос задан про собственный рабочий контур слушателя и не про медицину: медицинского опыта он не требует, а автоматический элемент, решающий что-то за человека, есть сегодня почти в каждом рабочем контуре. Ответ ждём вслух; если зал молчит, называется первая проверка и задаётся прямой вопрос — у кого в контуре независимый источник истины есть, а у кого единственным источником служит экран.</a:t>
            </a:r>
          </a:p>
          <a:p>
            <a:r>
              <a:t/>
            </a:r>
          </a:p>
          <a:p>
            <a:r>
              <a:t>На снимке двое читают серию с рабочей станции. Кадр ничего не доказывает и ни одного числа лекции не подтверждает: он стоит здесь затем, чтобы вопрос задавался не пустой рамке, а сцене, в которой человек смотрит на вывод машины.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hyperlink" Target="https://commons.wikimedia.org/wiki/File:Clinical_Trial_Volunteer_Signs_Informed_Consent_Form_%2845116548901%29.jpg"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gov.uk/guidance/breast-screening-programme-overview"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1470-2045%2823%2900298-X" TargetMode="External"/><Relationship Id="rId3" Type="http://schemas.openxmlformats.org/officeDocument/2006/relationships/hyperlink" Target="https://doi.org/10.1016/S0140-6736%2825%2902464-X"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1470-2045%2823%2900298-X" TargetMode="External"/><Relationship Id="rId3" Type="http://schemas.openxmlformats.org/officeDocument/2006/relationships/hyperlink" Target="https://doi.org/10.1016/S0140-6736%2825%2902464-X" TargetMode="External"/><Relationship Id="rId4" Type="http://schemas.openxmlformats.org/officeDocument/2006/relationships/hyperlink" Target="https://doi.org/10.1038/s41591-024-03408-6"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hyperlink" Target="https://doi.org/10.1038/s41467-023-44676-z"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ccessdata.fda.gov/cdrh_docs/pdf18/DEN180001.pdf"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2256-021-00307-0"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711.05225"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5/3313831.3376718"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hyperlink" Target="https://doi.org/10.1145/3313831.3376718" TargetMode="External"/><Relationship Id="rId4" Type="http://schemas.openxmlformats.org/officeDocument/2006/relationships/hyperlink" Target="https://pmc.ncbi.nlm.nih.gov/articles/PMC10832120/" TargetMode="Externa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adv.abq6147" TargetMode="External"/><Relationship Id="rId3" Type="http://schemas.openxmlformats.org/officeDocument/2006/relationships/hyperlink" Target="https://doi.org/10.1111/j.1365-2133.2008.08713.x"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adv.abq6147"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ence.aax2342" TargetMode="Externa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ence.aax2342"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56/AIoa2501001" TargetMode="External"/><Relationship Id="rId3" Type="http://schemas.openxmlformats.org/officeDocument/2006/relationships/hyperlink" Target="https://arxiv.org/abs/2210.14306" TargetMode="Externa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8/radiol.252590"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8/radiol.252590"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8/radiol.243688" TargetMode="Externa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746-020-0232-8"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746-020-0232-8" TargetMode="External"/><Relationship Id="rId3" Type="http://schemas.openxmlformats.org/officeDocument/2006/relationships/hyperlink" Target="https://doi.org/10.1136/amiajnl-2011-000089" TargetMode="Externa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4.40969"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4.40969"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0140-6736%2825%2902464-X" TargetMode="External"/><Relationship Id="rId3" Type="http://schemas.openxmlformats.org/officeDocument/2006/relationships/hyperlink" Target="https://doi.org/10.1016/S1470-2045%2823%2900298-X" TargetMode="Externa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0140-6736%2825%2902464-X" TargetMode="External"/><Relationship Id="rId3" Type="http://schemas.openxmlformats.org/officeDocument/2006/relationships/hyperlink" Target="https://doi.org/10.1148/radiol.242566" TargetMode="Externa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jelectrocard.2018.08.007" TargetMode="External"/><Relationship Id="rId3" Type="http://schemas.openxmlformats.org/officeDocument/2006/relationships/hyperlink" Target="https://doi.org/10.1038/s41591-024-02850-w" TargetMode="External"/><Relationship Id="rId4" Type="http://schemas.openxmlformats.org/officeDocument/2006/relationships/hyperlink" Target="https://arxiv.org/abs/2102.09692" TargetMode="External"/><Relationship Id="rId5" Type="http://schemas.openxmlformats.org/officeDocument/2006/relationships/hyperlink" Target="https://doi.org/10.1037/xge0000033" TargetMode="Externa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562-024-02024-1" TargetMode="External"/><Relationship Id="rId3" Type="http://schemas.openxmlformats.org/officeDocument/2006/relationships/hyperlink" Target="https://arxiv.org/abs/2405.06087" TargetMode="Externa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93/jamiaopen/ooab062" TargetMode="External"/><Relationship Id="rId3" Type="http://schemas.openxmlformats.org/officeDocument/2006/relationships/hyperlink" Target="https://doi.org/10.1371/journal.pone.0110274" TargetMode="Externa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1.2626" TargetMode="External"/><Relationship Id="rId3" Type="http://schemas.openxmlformats.org/officeDocument/2006/relationships/hyperlink" Target="https://doi.org/10.1001/jamanetworkopen.2026.0181" TargetMode="Externa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1.2626" TargetMode="External"/><Relationship Id="rId3" Type="http://schemas.openxmlformats.org/officeDocument/2006/relationships/hyperlink" Target="https://doi.org/10.1093/jamiaopen/ooab062" TargetMode="Externa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doi.org/10.1093/jamiaopen/ooae133" TargetMode="External"/><Relationship Id="rId4" Type="http://schemas.openxmlformats.org/officeDocument/2006/relationships/hyperlink" Target="https://doi.org/10.1001/jamanetworkopen.2026.0181" TargetMode="Externa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1.35286" TargetMode="Externa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hyperlink" Target="https://clinicaltrials.gov/study/NCT06792890" TargetMode="Externa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hyperlink" Target="https://clinicaltrials.gov/study/NCT06792890" TargetMode="Externa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5.0821" TargetMode="Externa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6.16556" TargetMode="External"/><Relationship Id="rId3" Type="http://schemas.openxmlformats.org/officeDocument/2006/relationships/hyperlink" Target="https://doi.org/10.1001/jamainternmed.2025.0821" TargetMode="External"/><Relationship Id="rId4" Type="http://schemas.openxmlformats.org/officeDocument/2006/relationships/hyperlink" Target="https://doi.org/10.7759/cureus.109247" TargetMode="Externa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ur-lex.europa.eu/eli/reg/2024/1689/oj" TargetMode="External"/><Relationship Id="rId3" Type="http://schemas.openxmlformats.org/officeDocument/2006/relationships/hyperlink" Target="https://doi.org/10.1001/jamanetworkopen.2025.42338" TargetMode="Externa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93/jamia/ocad118" TargetMode="Externa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93/jamia/ocad118" TargetMode="Externa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7/s00330-025-12273-x" TargetMode="External"/><Relationship Id="rId3" Type="http://schemas.openxmlformats.org/officeDocument/2006/relationships/hyperlink" Target="https://doi.org/10.1038/s43018-026-01128-z" TargetMode="Externa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5.42338" TargetMode="External"/><Relationship Id="rId3" Type="http://schemas.openxmlformats.org/officeDocument/2006/relationships/hyperlink" Target="https://eur-lex.europa.eu/eli/reg/2024/1689/oj" TargetMode="Externa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da.gov/regulatory-information/search-fda-guidance-documents/marketing-submission-recommendations-predetermined-change-control-plan-artificial-intelligence" TargetMode="External"/><Relationship Id="rId3" Type="http://schemas.openxmlformats.org/officeDocument/2006/relationships/hyperlink" Target="http://publication.pravo.gov.ru/document/0001202510140015" TargetMode="External"/><Relationship Id="rId4" Type="http://schemas.openxmlformats.org/officeDocument/2006/relationships/hyperlink" Target="https://eur-lex.europa.eu/eli/reg/2024/1689/oj" TargetMode="External"/><Relationship Id="rId5" Type="http://schemas.openxmlformats.org/officeDocument/2006/relationships/hyperlink" Target="https://doi.org/10.1001/jamahealthforum.2025.3172" TargetMode="External"/><Relationship Id="rId6"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5.42338" TargetMode="External"/><Relationship Id="rId3" Type="http://schemas.openxmlformats.org/officeDocument/2006/relationships/hyperlink" Target="https://doi.org/10.1007/s00330-025-12273-x" TargetMode="External"/><Relationship Id="rId4" Type="http://schemas.openxmlformats.org/officeDocument/2006/relationships/hyperlink" Target="https://doi.org/10.1093/jamia/ocad118" TargetMode="External"/><Relationship Id="rId5" Type="http://schemas.openxmlformats.org/officeDocument/2006/relationships/hyperlink" Target="https://eur-lex.europa.eu/eli/reg/2024/1689/oj" TargetMode="External"/><Relationship Id="rId6"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hyperlink" Target="https://go.bio.org/rs/490-EHZ-999/images/ClinicalDevelopmentSuccessRates2011_2020.pdf" TargetMode="External"/><Relationship Id="rId4" Type="http://schemas.openxmlformats.org/officeDocument/2006/relationships/hyperlink" Target="https://doi.org/10.1016/j.drudis.2024.104009" TargetMode="External"/><Relationship Id="rId5" Type="http://schemas.openxmlformats.org/officeDocument/2006/relationships/hyperlink" Target="https://doi.org/10.1200/JCO.2026.44.16_suppl.11072" TargetMode="Externa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o.bio.org/rs/490-EHZ-999/images/ClinicalDevelopmentSuccessRates2011_2020.pdf" TargetMode="Externa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o.bio.org/rs/490-EHZ-999/images/ClinicalDevelopmentSuccessRates2011_2020.pdf" TargetMode="Externa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mc.ncbi.nlm.nih.gov/articles/PMC9231077/" TargetMode="Externa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o.bio.org/rs/490-EHZ-999/images/ClinicalDevelopmentSuccessRates2011_2020.pdf" TargetMode="Externa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drudis.2024.104009" TargetMode="External"/><Relationship Id="rId3" Type="http://schemas.openxmlformats.org/officeDocument/2006/relationships/hyperlink" Target="https://go.bio.org/rs/490-EHZ-999/images/ClinicalDevelopmentSuccessRates2011_2020.pdf" TargetMode="Externa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200/JCO.2026.44.16_suppl.11072" TargetMode="External"/><Relationship Id="rId3" Type="http://schemas.openxmlformats.org/officeDocument/2006/relationships/hyperlink" Target="https://doi.org/10.1016/j.drudis.2024.104009" TargetMode="Externa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ww.rcsb.org/stats" TargetMode="External"/><Relationship Id="rId4" Type="http://schemas.openxmlformats.org/officeDocument/2006/relationships/hyperlink" Target="https://doi.org/10.1080/14789450.2025.2456046" TargetMode="External"/><Relationship Id="rId5"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200/JCO.2026.44.16_suppl.11072" TargetMode="External"/><Relationship Id="rId3" Type="http://schemas.openxmlformats.org/officeDocument/2006/relationships/hyperlink" Target="https://doi.org/10.1016/j.drudis.2024.104009" TargetMode="External"/><Relationship Id="rId4" Type="http://schemas.openxmlformats.org/officeDocument/2006/relationships/hyperlink" Target="https://go.bio.org/rs/490-EHZ-999/images/ClinicalDevelopmentSuccessRates2011_2020.pdf" TargetMode="External"/><Relationship Id="rId5"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gie.2014.07.058" TargetMode="Externa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hyperlink" Target="https://pmc.ncbi.nlm.nih.gov/articles/PMC12852673/" TargetMode="Externa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cgh.2020.11.019" TargetMode="External"/><Relationship Id="rId3" Type="http://schemas.openxmlformats.org/officeDocument/2006/relationships/hyperlink" Target="https://doi.org/10.1155/2016/7631981" TargetMode="External"/><Relationship Id="rId4" Type="http://schemas.openxmlformats.org/officeDocument/2006/relationships/hyperlink" Target="https://doi.org/10.1007/s00384-023-04585-5" TargetMode="Externa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hyperlink" Target="https://doi.org/10.1016/S2468-1253%2825%2900294-8" TargetMode="Externa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hyperlink" Target="https://doi.org/10.1073/pnas.2422633122" TargetMode="External"/><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etr.org/blog/2026-02-24-uplift-update/" TargetMode="Externa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healthforum.2025.3172" TargetMode="External"/><Relationship Id="rId3" Type="http://schemas.openxmlformats.org/officeDocument/2006/relationships/hyperlink" Target="https://doi.org/10.1001/jamanetworkopen.2025.42338" TargetMode="External"/><Relationship Id="rId4" Type="http://schemas.openxmlformats.org/officeDocument/2006/relationships/hyperlink" Target="https://eur-lex.europa.eu/eli/reg/2024/1689/oj" TargetMode="External"/><Relationship Id="rId5"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doi.org/10.1001/jamahealthforum.2025.3172" TargetMode="External"/><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0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474159" y="91440"/>
            <a:ext cx="7214616" cy="4840224"/>
          </a:xfrm>
          <a:prstGeom prst="roundRect">
            <a:avLst>
              <a:gd name="adj" fmla="val 6297"/>
            </a:avLst>
          </a:prstGeom>
          <a:solidFill>
            <a:srgbClr val="F4F7FA"/>
          </a:solidFill>
          <a:ln w="19050">
            <a:solidFill>
              <a:srgbClr val="1C7293"/>
            </a:solidFill>
          </a:ln>
          <a:effectLst/>
        </p:spPr>
        <p:txBody>
          <a:bodyPr rtlCol="0" anchor="ctr"/>
          <a:lstStyle/>
          <a:p>
            <a:pPr algn="ctr"/>
          </a:p>
        </p:txBody>
      </p:sp>
      <p:pic>
        <p:nvPicPr>
          <p:cNvPr id="4" name="Picture 3" descr="s01-hero-chtenie-mammogrammy.jpg"/>
          <p:cNvPicPr>
            <a:picLocks noChangeAspect="1"/>
          </p:cNvPicPr>
          <p:nvPr/>
        </p:nvPicPr>
        <p:blipFill>
          <a:blip r:embed="rId2"/>
          <a:stretch>
            <a:fillRect/>
          </a:stretch>
        </p:blipFill>
        <p:spPr>
          <a:xfrm>
            <a:off x="4519879" y="137160"/>
            <a:ext cx="7123176" cy="4748784"/>
          </a:xfrm>
          <a:prstGeom prst="rect">
            <a:avLst/>
          </a:prstGeom>
        </p:spPr>
      </p:pic>
      <p:sp>
        <p:nvSpPr>
          <p:cNvPr id="5" name="TextBox 4"/>
          <p:cNvSpPr txBox="1"/>
          <p:nvPr/>
        </p:nvSpPr>
        <p:spPr>
          <a:xfrm>
            <a:off x="502920" y="1005840"/>
            <a:ext cx="3660343" cy="5230368"/>
          </a:xfrm>
          <a:prstGeom prst="rect">
            <a:avLst/>
          </a:prstGeom>
          <a:noFill/>
        </p:spPr>
        <p:txBody>
          <a:bodyPr wrap="square" lIns="0" rIns="0" tIns="0" bIns="0" anchor="t">
            <a:spAutoFit/>
          </a:bodyPr>
          <a:lstStyle/>
          <a:p>
            <a:pPr algn="l">
              <a:lnSpc>
                <a:spcPct val="122000"/>
              </a:lnSpc>
            </a:pPr>
            <a:r>
              <a:rPr sz="3400" b="0" i="0">
                <a:solidFill>
                  <a:srgbClr val="21295C"/>
                </a:solidFill>
                <a:latin typeface="Arial"/>
              </a:rPr>
              <a:t>AI в медицине и фармацевтике</a:t>
            </a:r>
          </a:p>
          <a:p>
            <a:pPr algn="l">
              <a:lnSpc>
                <a:spcPct val="122000"/>
              </a:lnSpc>
              <a:spcBef>
                <a:spcPts val="1200"/>
              </a:spcBef>
            </a:pPr>
            <a:r>
              <a:rPr sz="3400" b="0" i="0">
                <a:solidFill>
                  <a:srgbClr val="21295C"/>
                </a:solidFill>
                <a:latin typeface="Arial"/>
              </a:rPr>
              <a:t>Лекция 7</a:t>
            </a:r>
          </a:p>
          <a:p>
            <a:pPr algn="l">
              <a:lnSpc>
                <a:spcPct val="122000"/>
              </a:lnSpc>
              <a:spcBef>
                <a:spcPts val="1200"/>
              </a:spcBef>
            </a:pPr>
            <a:r>
              <a:rPr sz="1700" b="0" i="0">
                <a:solidFill>
                  <a:srgbClr val="21295C"/>
                </a:solidFill>
                <a:latin typeface="Arial"/>
              </a:rPr>
              <a:t>Цену ошибки в медицине удерживает процедура вокруг человека: двойное чтение, второе мнение, консилиум, информированное согласие.</a:t>
            </a:r>
          </a:p>
          <a:p>
            <a:pPr algn="l">
              <a:lnSpc>
                <a:spcPct val="122000"/>
              </a:lnSpc>
              <a:spcBef>
                <a:spcPts val="1200"/>
              </a:spcBef>
            </a:pPr>
            <a:r>
              <a:rPr sz="1700" b="0" i="0">
                <a:solidFill>
                  <a:srgbClr val="21295C"/>
                </a:solidFill>
                <a:latin typeface="Arial"/>
              </a:rPr>
              <a:t>Лекция идёт по пути одного случая: что модель делает с процедурой и с человеком в ней.</a:t>
            </a:r>
          </a:p>
        </p:txBody>
      </p:sp>
      <p:sp>
        <p:nvSpPr>
          <p:cNvPr id="6" name="Rectangle 5"/>
          <p:cNvSpPr/>
          <p:nvPr/>
        </p:nvSpPr>
        <p:spPr>
          <a:xfrm>
            <a:off x="502920" y="621792"/>
            <a:ext cx="1463040" cy="64008"/>
          </a:xfrm>
          <a:prstGeom prst="rect">
            <a:avLst/>
          </a:prstGeom>
          <a:solidFill>
            <a:srgbClr val="F0AB00"/>
          </a:solidFill>
          <a:ln>
            <a:noFill/>
          </a:ln>
          <a:effectLst/>
        </p:spPr>
        <p:txBody>
          <a:bodyPr rtlCol="0" anchor="ctr"/>
          <a:lstStyle/>
          <a:p>
            <a:pPr algn="ctr"/>
          </a:p>
        </p:txBody>
      </p:sp>
      <p:sp>
        <p:nvSpPr>
          <p:cNvPr id="7" name="TextBox 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Фото: Bill Branson, Национальный институт рака США (NCI), общественное достояние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Путь одного случая</a:t>
            </a:r>
          </a:p>
        </p:txBody>
      </p:sp>
      <p:sp>
        <p:nvSpPr>
          <p:cNvPr id="4" name="TextBox 3"/>
          <p:cNvSpPr txBox="1"/>
          <p:nvPr/>
        </p:nvSpPr>
        <p:spPr>
          <a:xfrm>
            <a:off x="502920" y="13716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Пока решают</a:t>
            </a:r>
          </a:p>
        </p:txBody>
      </p:sp>
      <p:sp>
        <p:nvSpPr>
          <p:cNvPr id="5" name="Rounded Rectangle 4"/>
          <p:cNvSpPr/>
          <p:nvPr/>
        </p:nvSpPr>
        <p:spPr>
          <a:xfrm>
            <a:off x="1920240" y="1335024"/>
            <a:ext cx="315864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9405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1. Отбор</a:t>
            </a:r>
          </a:p>
        </p:txBody>
      </p:sp>
      <p:sp>
        <p:nvSpPr>
          <p:cNvPr id="7" name="Rounded Rectangle 6"/>
          <p:cNvSpPr/>
          <p:nvPr/>
        </p:nvSpPr>
        <p:spPr>
          <a:xfrm>
            <a:off x="5225186" y="1335024"/>
            <a:ext cx="315864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5307482" y="1380744"/>
            <a:ext cx="299405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 Анализ данных</a:t>
            </a:r>
          </a:p>
        </p:txBody>
      </p:sp>
      <p:sp>
        <p:nvSpPr>
          <p:cNvPr id="9" name="Rounded Rectangle 8"/>
          <p:cNvSpPr/>
          <p:nvPr/>
        </p:nvSpPr>
        <p:spPr>
          <a:xfrm>
            <a:off x="8530132" y="1335024"/>
            <a:ext cx="315864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8612428" y="1380744"/>
            <a:ext cx="299405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3. Диагноз</a:t>
            </a:r>
          </a:p>
        </p:txBody>
      </p:sp>
      <p:sp>
        <p:nvSpPr>
          <p:cNvPr id="11" name="TextBox 10"/>
          <p:cNvSpPr txBox="1"/>
          <p:nvPr/>
        </p:nvSpPr>
        <p:spPr>
          <a:xfrm>
            <a:off x="502920" y="199329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После решения</a:t>
            </a:r>
          </a:p>
        </p:txBody>
      </p:sp>
      <p:sp>
        <p:nvSpPr>
          <p:cNvPr id="12" name="Rounded Rectangle 11"/>
          <p:cNvSpPr/>
          <p:nvPr/>
        </p:nvSpPr>
        <p:spPr>
          <a:xfrm>
            <a:off x="1920240" y="1956720"/>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2002536" y="2002440"/>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4. Наблюдение</a:t>
            </a:r>
          </a:p>
        </p:txBody>
      </p:sp>
      <p:sp>
        <p:nvSpPr>
          <p:cNvPr id="14" name="Rounded Rectangle 13"/>
          <p:cNvSpPr/>
          <p:nvPr/>
        </p:nvSpPr>
        <p:spPr>
          <a:xfrm>
            <a:off x="6877659" y="1956720"/>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6959955" y="2002440"/>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5. Ведение записи</a:t>
            </a:r>
          </a:p>
        </p:txBody>
      </p:sp>
      <p:sp>
        <p:nvSpPr>
          <p:cNvPr id="16" name="TextBox 15"/>
          <p:cNvSpPr txBox="1"/>
          <p:nvPr/>
        </p:nvSpPr>
        <p:spPr>
          <a:xfrm>
            <a:off x="502920" y="261499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Поперёк пути</a:t>
            </a:r>
          </a:p>
        </p:txBody>
      </p:sp>
      <p:sp>
        <p:nvSpPr>
          <p:cNvPr id="17" name="Rounded Rectangle 16"/>
          <p:cNvSpPr/>
          <p:nvPr/>
        </p:nvSpPr>
        <p:spPr>
          <a:xfrm>
            <a:off x="1920240" y="2578417"/>
            <a:ext cx="315864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624137"/>
            <a:ext cx="299405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6. Чем удерживают</a:t>
            </a:r>
          </a:p>
        </p:txBody>
      </p:sp>
      <p:sp>
        <p:nvSpPr>
          <p:cNvPr id="19" name="Rounded Rectangle 18"/>
          <p:cNvSpPr/>
          <p:nvPr/>
        </p:nvSpPr>
        <p:spPr>
          <a:xfrm>
            <a:off x="5225186" y="2578417"/>
            <a:ext cx="315864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5307482" y="2624137"/>
            <a:ext cx="299405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7. Разработка лекарства</a:t>
            </a:r>
          </a:p>
        </p:txBody>
      </p:sp>
      <p:sp>
        <p:nvSpPr>
          <p:cNvPr id="21" name="Rounded Rectangle 20"/>
          <p:cNvSpPr/>
          <p:nvPr/>
        </p:nvSpPr>
        <p:spPr>
          <a:xfrm>
            <a:off x="8530132" y="2578417"/>
            <a:ext cx="315864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8612428" y="2624137"/>
            <a:ext cx="299405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8. Что стало с теми, кто решает</a:t>
            </a:r>
          </a:p>
        </p:txBody>
      </p:sp>
      <p:sp>
        <p:nvSpPr>
          <p:cNvPr id="23" name="Rounded Rectangle 22"/>
          <p:cNvSpPr/>
          <p:nvPr/>
        </p:nvSpPr>
        <p:spPr>
          <a:xfrm>
            <a:off x="374904" y="3145250"/>
            <a:ext cx="11441887" cy="3035896"/>
          </a:xfrm>
          <a:prstGeom prst="roundRect">
            <a:avLst>
              <a:gd name="adj" fmla="val 10039"/>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236690"/>
            <a:ext cx="5373471" cy="299951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Партию можно отозвать. Решение о человеке — нельзя.</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Порядок первых пяти не переставляется:</a:t>
            </a:r>
          </a:p>
          <a:p>
            <a:pPr algn="l">
              <a:lnSpc>
                <a:spcPct val="126000"/>
              </a:lnSpc>
              <a:spcBef>
                <a:spcPts val="700"/>
              </a:spcBef>
            </a:pPr>
            <a:r>
              <a:rPr sz="1500" b="0" i="0">
                <a:solidFill>
                  <a:srgbClr val="21295C"/>
                </a:solidFill>
                <a:latin typeface="Arial"/>
              </a:rPr>
              <a:t/>
            </a:r>
            <a:r>
              <a:rPr sz="1500" b="0" i="0">
                <a:solidFill>
                  <a:srgbClr val="21295C"/>
                </a:solidFill>
                <a:latin typeface="Arial"/>
              </a:rPr>
              <a:t>• смотреть можно только того, кто попал в поле зрения;</a:t>
            </a:r>
          </a:p>
          <a:p>
            <a:pPr algn="l">
              <a:lnSpc>
                <a:spcPct val="126000"/>
              </a:lnSpc>
              <a:spcBef>
                <a:spcPts val="700"/>
              </a:spcBef>
            </a:pPr>
            <a:r>
              <a:rPr sz="1500" b="0" i="0">
                <a:solidFill>
                  <a:srgbClr val="21295C"/>
                </a:solidFill>
                <a:latin typeface="Arial"/>
              </a:rPr>
              <a:t/>
            </a:r>
            <a:r>
              <a:rPr sz="1500" b="0" i="0">
                <a:solidFill>
                  <a:srgbClr val="21295C"/>
                </a:solidFill>
                <a:latin typeface="Arial"/>
              </a:rPr>
              <a:t>• решать — только по тому, что измерено;</a:t>
            </a:r>
          </a:p>
          <a:p>
            <a:pPr algn="l">
              <a:lnSpc>
                <a:spcPct val="126000"/>
              </a:lnSpc>
              <a:spcBef>
                <a:spcPts val="700"/>
              </a:spcBef>
            </a:pPr>
            <a:r>
              <a:rPr sz="1500" b="0" i="0">
                <a:solidFill>
                  <a:srgbClr val="21295C"/>
                </a:solidFill>
                <a:latin typeface="Arial"/>
              </a:rPr>
              <a:t/>
            </a:r>
            <a:r>
              <a:rPr sz="1500" b="0" i="0">
                <a:solidFill>
                  <a:srgbClr val="21295C"/>
                </a:solidFill>
                <a:latin typeface="Arial"/>
              </a:rPr>
              <a:t>• наблюдать — только после того, как решение принято;</a:t>
            </a:r>
          </a:p>
          <a:p>
            <a:pPr algn="l">
              <a:lnSpc>
                <a:spcPct val="126000"/>
              </a:lnSpc>
              <a:spcBef>
                <a:spcPts val="700"/>
              </a:spcBef>
            </a:pPr>
            <a:r>
              <a:rPr sz="1500" b="0" i="0">
                <a:solidFill>
                  <a:srgbClr val="21295C"/>
                </a:solidFill>
                <a:latin typeface="Arial"/>
              </a:rPr>
              <a:t/>
            </a:r>
            <a:r>
              <a:rPr sz="1500" b="0" i="0">
                <a:solidFill>
                  <a:srgbClr val="21295C"/>
                </a:solidFill>
                <a:latin typeface="Arial"/>
              </a:rPr>
              <a:t>• читать запись — только после того, как её сделали.</a:t>
            </a:r>
          </a:p>
        </p:txBody>
      </p:sp>
      <p:sp>
        <p:nvSpPr>
          <p:cNvPr id="25" name="TextBox 24"/>
          <p:cNvSpPr txBox="1"/>
          <p:nvPr/>
        </p:nvSpPr>
        <p:spPr>
          <a:xfrm>
            <a:off x="6278727" y="3236690"/>
            <a:ext cx="5373471" cy="299951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Форма разбора одна:</a:t>
            </a:r>
            <a:r>
              <a:rPr sz="1500" b="0" i="0">
                <a:solidFill>
                  <a:srgbClr val="21295C"/>
                </a:solidFill>
                <a:latin typeface="Arial"/>
              </a:rPr>
              <a:t> цена обеих ошибок · два классических режима · модель против них · что переехало.</a:t>
            </a:r>
          </a:p>
          <a:p>
            <a:pPr algn="l">
              <a:lnSpc>
                <a:spcPct val="126000"/>
              </a:lnSpc>
              <a:spcBef>
                <a:spcPts val="700"/>
              </a:spcBef>
            </a:pPr>
            <a:r>
              <a:rPr sz="1500" b="0" i="0">
                <a:solidFill>
                  <a:srgbClr val="21295C"/>
                </a:solidFill>
                <a:latin typeface="Arial"/>
              </a:rPr>
              <a:t/>
            </a:r>
            <a:r>
              <a:rPr sz="1500" b="1" i="0">
                <a:solidFill>
                  <a:srgbClr val="21295C"/>
                </a:solidFill>
                <a:latin typeface="Arial"/>
              </a:rPr>
              <a:t>Три последних идут поперёк пути:</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чем удерживают</a:t>
            </a:r>
            <a:r>
              <a:rPr sz="1500" b="0" i="0">
                <a:solidFill>
                  <a:srgbClr val="21295C"/>
                </a:solidFill>
                <a:latin typeface="Arial"/>
              </a:rPr>
              <a:t> — процедура вокруг всех пяти;</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разработка лекарства</a:t>
            </a:r>
            <a:r>
              <a:rPr sz="1500" b="0" i="0">
                <a:solidFill>
                  <a:srgbClr val="21295C"/>
                </a:solidFill>
                <a:latin typeface="Arial"/>
              </a:rPr>
              <a:t> — откуда берётся то, что назначают;</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что стало с теми, кто решает</a:t>
            </a:r>
            <a:r>
              <a:rPr sz="1500" b="0" i="0">
                <a:solidFill>
                  <a:srgbClr val="21295C"/>
                </a:solidFill>
                <a:latin typeface="Arial"/>
              </a:rPr>
              <a:t> — замер по человеку.</a:t>
            </a:r>
          </a:p>
          <a:p>
            <a:pPr algn="l">
              <a:lnSpc>
                <a:spcPct val="126000"/>
              </a:lnSpc>
              <a:spcBef>
                <a:spcPts val="700"/>
              </a:spcBef>
            </a:pPr>
            <a:r>
              <a:rPr sz="1200" b="0" i="0">
                <a:solidFill>
                  <a:srgbClr val="21295C"/>
                </a:solidFill>
                <a:latin typeface="Arial"/>
              </a:rPr>
              <a:t/>
            </a:r>
            <a:r>
              <a:rPr sz="1200" b="0" i="1">
                <a:solidFill>
                  <a:srgbClr val="1C7293"/>
                </a:solidFill>
                <a:latin typeface="Arial"/>
              </a:rPr>
              <a:t>Кто получал результат обследования раньше, чем его прочитал врач?</a:t>
            </a:r>
          </a:p>
        </p:txBody>
      </p:sp>
      <p:sp>
        <p:nvSpPr>
          <p:cNvPr id="26" name="Rectangle 25"/>
          <p:cNvSpPr/>
          <p:nvPr/>
        </p:nvSpPr>
        <p:spPr>
          <a:xfrm>
            <a:off x="6091275" y="3236690"/>
            <a:ext cx="9144" cy="2761576"/>
          </a:xfrm>
          <a:prstGeom prst="rect">
            <a:avLst/>
          </a:prstGeom>
          <a:solidFill>
            <a:srgbClr val="D9E2EC"/>
          </a:solidFill>
          <a:ln>
            <a:noFill/>
          </a:ln>
          <a:effectLst/>
        </p:spPr>
        <p:txBody>
          <a:bodyPr rtlCol="0" anchor="ctr"/>
          <a:lstStyle/>
          <a:p>
            <a:pPr algn="ctr"/>
          </a:p>
        </p:txBody>
      </p:sp>
      <p:sp>
        <p:nvSpPr>
          <p:cNvPr id="27" name="Rectangle 26"/>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Кто смотрит первым — и почему подписывает человек</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Ступени</a:t>
            </a:r>
          </a:p>
        </p:txBody>
      </p:sp>
      <p:sp>
        <p:nvSpPr>
          <p:cNvPr id="5" name="Rounded Rectangle 4"/>
          <p:cNvSpPr/>
          <p:nvPr/>
        </p:nvSpPr>
        <p:spPr>
          <a:xfrm>
            <a:off x="1920240"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Смотрит первым</a:t>
            </a:r>
          </a:p>
        </p:txBody>
      </p:sp>
      <p:sp>
        <p:nvSpPr>
          <p:cNvPr id="7" name="Right Arrow 6"/>
          <p:cNvSpPr/>
          <p:nvPr/>
        </p:nvSpPr>
        <p:spPr>
          <a:xfrm>
            <a:off x="4202353" y="162296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Смотрит вторым</a:t>
            </a:r>
          </a:p>
        </p:txBody>
      </p:sp>
      <p:sp>
        <p:nvSpPr>
          <p:cNvPr id="10" name="Right Arrow 9"/>
          <p:cNvSpPr/>
          <p:nvPr/>
        </p:nvSpPr>
        <p:spPr>
          <a:xfrm>
            <a:off x="6713067" y="162296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Смотрит только спорное</a:t>
            </a:r>
          </a:p>
        </p:txBody>
      </p:sp>
      <p:sp>
        <p:nvSpPr>
          <p:cNvPr id="13" name="Right Arrow 12"/>
          <p:cNvSpPr/>
          <p:nvPr/>
        </p:nvSpPr>
        <p:spPr>
          <a:xfrm>
            <a:off x="9223781" y="1622964"/>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Подписывает не глядя</a:t>
            </a:r>
          </a:p>
        </p:txBody>
      </p:sp>
      <p:sp>
        <p:nvSpPr>
          <p:cNvPr id="16" name="TextBox 15"/>
          <p:cNvSpPr txBox="1"/>
          <p:nvPr/>
        </p:nvSpPr>
        <p:spPr>
          <a:xfrm>
            <a:off x="502920" y="208464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Слева направо участие человека убывает; требование регулятора исполнено на всех четырёх</a:t>
            </a:r>
          </a:p>
        </p:txBody>
      </p:sp>
      <p:sp>
        <p:nvSpPr>
          <p:cNvPr id="17" name="Rounded Rectangle 16"/>
          <p:cNvSpPr/>
          <p:nvPr/>
        </p:nvSpPr>
        <p:spPr>
          <a:xfrm>
            <a:off x="374904" y="2387325"/>
            <a:ext cx="11441887" cy="3808692"/>
          </a:xfrm>
          <a:prstGeom prst="roundRect">
            <a:avLst>
              <a:gd name="adj" fmla="val 8002"/>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478765"/>
            <a:ext cx="5373471" cy="375744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«Человек в контуре» — четыре разных устройства работы.</a:t>
            </a:r>
            <a:r>
              <a:rPr sz="1500" b="0" i="0">
                <a:solidFill>
                  <a:srgbClr val="21295C"/>
                </a:solidFill>
                <a:latin typeface="Arial"/>
              </a:rPr>
              <a:t> Между первым и четвёртым разница больше, чем между парой моделей. Человек обязателен не потому, что он точнее: измерено, что часто он не точнее. Обязателен потому, что:</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право подписи выдано ему</a:t>
            </a:r>
            <a:r>
              <a:rPr sz="1500" b="0" i="0">
                <a:solidFill>
                  <a:srgbClr val="21295C"/>
                </a:solidFill>
                <a:latin typeface="Arial"/>
              </a:rPr>
              <a:t> — при разборе случая оценивают действия человека;</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ошибается он иначе, чем модель</a:t>
            </a:r>
            <a:r>
              <a:rPr sz="1500" b="0" i="0">
                <a:solidFill>
                  <a:srgbClr val="21295C"/>
                </a:solidFill>
                <a:latin typeface="Arial"/>
              </a:rPr>
              <a:t> — выигрыш даёт несовпадение ошибок;</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отменить принятое решение нельзя</a:t>
            </a:r>
            <a:r>
              <a:rPr sz="1500" b="0" i="0">
                <a:solidFill>
                  <a:srgbClr val="21295C"/>
                </a:solidFill>
                <a:latin typeface="Arial"/>
              </a:rPr>
              <a:t> — изделие отзывают, решения по нему остаются.</a:t>
            </a:r>
          </a:p>
        </p:txBody>
      </p:sp>
      <p:sp>
        <p:nvSpPr>
          <p:cNvPr id="19" name="TextBox 18"/>
          <p:cNvSpPr txBox="1"/>
          <p:nvPr/>
        </p:nvSpPr>
        <p:spPr>
          <a:xfrm>
            <a:off x="6278727" y="2478765"/>
            <a:ext cx="5373471" cy="375744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Три проверки для любого рабочего контура:</a:t>
            </a:r>
          </a:p>
          <a:p>
            <a:pPr algn="l">
              <a:lnSpc>
                <a:spcPct val="126000"/>
              </a:lnSpc>
              <a:spcBef>
                <a:spcPts val="700"/>
              </a:spcBef>
            </a:pPr>
            <a:r>
              <a:rPr sz="1500" b="0" i="0">
                <a:solidFill>
                  <a:srgbClr val="21295C"/>
                </a:solidFill>
                <a:latin typeface="Arial"/>
              </a:rPr>
              <a:t/>
            </a:r>
            <a:r>
              <a:rPr sz="1500" b="0" i="0">
                <a:solidFill>
                  <a:srgbClr val="21295C"/>
                </a:solidFill>
                <a:latin typeface="Arial"/>
              </a:rPr>
              <a:t>• есть ли независимый источник истины, кроме объяснения самой модели?</a:t>
            </a:r>
          </a:p>
          <a:p>
            <a:pPr algn="l">
              <a:lnSpc>
                <a:spcPct val="126000"/>
              </a:lnSpc>
              <a:spcBef>
                <a:spcPts val="700"/>
              </a:spcBef>
            </a:pPr>
            <a:r>
              <a:rPr sz="1500" b="0" i="0">
                <a:solidFill>
                  <a:srgbClr val="21295C"/>
                </a:solidFill>
                <a:latin typeface="Arial"/>
              </a:rPr>
              <a:t/>
            </a:r>
            <a:r>
              <a:rPr sz="1500" b="0" i="0">
                <a:solidFill>
                  <a:srgbClr val="21295C"/>
                </a:solidFill>
                <a:latin typeface="Arial"/>
              </a:rPr>
              <a:t>• измерено ли, что человек возражает — и что возражает верно?</a:t>
            </a:r>
          </a:p>
          <a:p>
            <a:pPr algn="l">
              <a:lnSpc>
                <a:spcPct val="126000"/>
              </a:lnSpc>
              <a:spcBef>
                <a:spcPts val="700"/>
              </a:spcBef>
            </a:pPr>
            <a:r>
              <a:rPr sz="1500" b="0" i="0">
                <a:solidFill>
                  <a:srgbClr val="21295C"/>
                </a:solidFill>
                <a:latin typeface="Arial"/>
              </a:rPr>
              <a:t/>
            </a:r>
            <a:r>
              <a:rPr sz="1500" b="0" i="0">
                <a:solidFill>
                  <a:srgbClr val="21295C"/>
                </a:solidFill>
                <a:latin typeface="Arial"/>
              </a:rPr>
              <a:t>• успевает ли он физически: секунды на решение против объёма, который надо прочитать?</a:t>
            </a:r>
          </a:p>
          <a:p>
            <a:pPr algn="l">
              <a:lnSpc>
                <a:spcPct val="126000"/>
              </a:lnSpc>
              <a:spcBef>
                <a:spcPts val="700"/>
              </a:spcBef>
            </a:pPr>
            <a:r>
              <a:rPr sz="1500" b="0" i="0">
                <a:solidFill>
                  <a:srgbClr val="21295C"/>
                </a:solidFill>
                <a:latin typeface="Arial"/>
              </a:rPr>
              <a:t/>
            </a:r>
            <a:r>
              <a:rPr sz="1500" b="1" i="0">
                <a:solidFill>
                  <a:srgbClr val="21295C"/>
                </a:solidFill>
                <a:latin typeface="Arial"/>
              </a:rPr>
              <a:t>Контур, не прошедший эти проверки, и есть четвёртая ступень: подпись стоит, участия нет.</a:t>
            </a:r>
          </a:p>
        </p:txBody>
      </p:sp>
      <p:sp>
        <p:nvSpPr>
          <p:cNvPr id="20" name="Rectangle 19"/>
          <p:cNvSpPr/>
          <p:nvPr/>
        </p:nvSpPr>
        <p:spPr>
          <a:xfrm>
            <a:off x="6091275" y="2478765"/>
            <a:ext cx="9144" cy="3534372"/>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Задача и данные</a:t>
            </a:r>
          </a:p>
        </p:txBody>
      </p:sp>
      <p:sp>
        <p:nvSpPr>
          <p:cNvPr id="4" name="Rounded Rectangle 3"/>
          <p:cNvSpPr/>
          <p:nvPr/>
        </p:nvSpPr>
        <p:spPr>
          <a:xfrm>
            <a:off x="502920" y="1335024"/>
            <a:ext cx="363108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5" name="TextBox 4"/>
          <p:cNvSpPr txBox="1"/>
          <p:nvPr/>
        </p:nvSpPr>
        <p:spPr>
          <a:xfrm>
            <a:off x="585216" y="1380744"/>
            <a:ext cx="346649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Классификация — метка из списка</a:t>
            </a:r>
          </a:p>
        </p:txBody>
      </p:sp>
      <p:sp>
        <p:nvSpPr>
          <p:cNvPr id="6" name="Rounded Rectangle 5"/>
          <p:cNvSpPr/>
          <p:nvPr/>
        </p:nvSpPr>
        <p:spPr>
          <a:xfrm>
            <a:off x="4280306" y="1335024"/>
            <a:ext cx="363108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7" name="TextBox 6"/>
          <p:cNvSpPr txBox="1"/>
          <p:nvPr/>
        </p:nvSpPr>
        <p:spPr>
          <a:xfrm>
            <a:off x="4362602" y="1380744"/>
            <a:ext cx="346649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Распознавание — находка и место</a:t>
            </a:r>
          </a:p>
        </p:txBody>
      </p:sp>
      <p:sp>
        <p:nvSpPr>
          <p:cNvPr id="8" name="Rounded Rectangle 7"/>
          <p:cNvSpPr/>
          <p:nvPr/>
        </p:nvSpPr>
        <p:spPr>
          <a:xfrm>
            <a:off x="8057692" y="1335024"/>
            <a:ext cx="363108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8139988" y="1380744"/>
            <a:ext cx="346649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Поиск — найти нужное в документах</a:t>
            </a:r>
          </a:p>
        </p:txBody>
      </p:sp>
      <p:sp>
        <p:nvSpPr>
          <p:cNvPr id="10" name="Rounded Rectangle 9"/>
          <p:cNvSpPr/>
          <p:nvPr/>
        </p:nvSpPr>
        <p:spPr>
          <a:xfrm>
            <a:off x="502920" y="1956720"/>
            <a:ext cx="363108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1" name="TextBox 10"/>
          <p:cNvSpPr txBox="1"/>
          <p:nvPr/>
        </p:nvSpPr>
        <p:spPr>
          <a:xfrm>
            <a:off x="585216" y="2002440"/>
            <a:ext cx="346649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Генерация — написать по найденному</a:t>
            </a:r>
          </a:p>
        </p:txBody>
      </p:sp>
      <p:sp>
        <p:nvSpPr>
          <p:cNvPr id="12" name="Rounded Rectangle 11"/>
          <p:cNvSpPr/>
          <p:nvPr/>
        </p:nvSpPr>
        <p:spPr>
          <a:xfrm>
            <a:off x="4280306" y="1956720"/>
            <a:ext cx="363108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4362602" y="2002440"/>
            <a:ext cx="346649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Прогноз — число</a:t>
            </a:r>
          </a:p>
        </p:txBody>
      </p:sp>
      <p:sp>
        <p:nvSpPr>
          <p:cNvPr id="14" name="Rounded Rectangle 13"/>
          <p:cNvSpPr/>
          <p:nvPr/>
        </p:nvSpPr>
        <p:spPr>
          <a:xfrm>
            <a:off x="8057692" y="1956720"/>
            <a:ext cx="363108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8139988" y="2002440"/>
            <a:ext cx="346649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Планирование — последовательность</a:t>
            </a:r>
          </a:p>
        </p:txBody>
      </p:sp>
      <p:sp>
        <p:nvSpPr>
          <p:cNvPr id="16" name="TextBox 15"/>
          <p:cNvSpPr txBox="1"/>
          <p:nvPr/>
        </p:nvSpPr>
        <p:spPr>
          <a:xfrm>
            <a:off x="502920" y="246868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Шесть типов задачи — по тому, что система выдаёт на выходе</a:t>
            </a:r>
          </a:p>
        </p:txBody>
      </p:sp>
      <p:sp>
        <p:nvSpPr>
          <p:cNvPr id="17" name="Rounded Rectangle 16"/>
          <p:cNvSpPr/>
          <p:nvPr/>
        </p:nvSpPr>
        <p:spPr>
          <a:xfrm>
            <a:off x="374904" y="2771373"/>
            <a:ext cx="11441887" cy="3318742"/>
          </a:xfrm>
          <a:prstGeom prst="roundRect">
            <a:avLst>
              <a:gd name="adj" fmla="val 9184"/>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862813"/>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Про каждый инструмент спрашиваем две вещи: какую задачу он решает и с какими данными работает.</a:t>
            </a:r>
            <a:r>
              <a:rPr sz="1300" b="0" i="0">
                <a:solidFill>
                  <a:srgbClr val="21295C"/>
                </a:solidFill>
                <a:latin typeface="Arial"/>
              </a:rPr>
              <a:t> Шесть типов на семь видов данных — сорок две клетки; на экране окно из двенадцати.</a:t>
            </a:r>
          </a:p>
        </p:txBody>
      </p:sp>
      <p:sp>
        <p:nvSpPr>
          <p:cNvPr id="19" name="Rectangle 18"/>
          <p:cNvSpPr/>
          <p:nvPr/>
        </p:nvSpPr>
        <p:spPr>
          <a:xfrm>
            <a:off x="539496" y="3535339"/>
            <a:ext cx="3161928" cy="392496"/>
          </a:xfrm>
          <a:prstGeom prst="rect">
            <a:avLst/>
          </a:prstGeom>
          <a:solidFill>
            <a:srgbClr val="065A82"/>
          </a:solidFill>
          <a:ln>
            <a:noFill/>
          </a:ln>
          <a:effectLst/>
        </p:spPr>
        <p:txBody>
          <a:bodyPr rtlCol="0" anchor="ctr"/>
          <a:lstStyle/>
          <a:p>
            <a:pPr algn="ctr"/>
          </a:p>
        </p:txBody>
      </p:sp>
      <p:sp>
        <p:nvSpPr>
          <p:cNvPr id="20" name="TextBox 19"/>
          <p:cNvSpPr txBox="1"/>
          <p:nvPr/>
        </p:nvSpPr>
        <p:spPr>
          <a:xfrm>
            <a:off x="685800" y="3535339"/>
            <a:ext cx="2869320"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
            </a:r>
          </a:p>
        </p:txBody>
      </p:sp>
      <p:sp>
        <p:nvSpPr>
          <p:cNvPr id="21" name="Rectangle 20"/>
          <p:cNvSpPr/>
          <p:nvPr/>
        </p:nvSpPr>
        <p:spPr>
          <a:xfrm>
            <a:off x="3701424" y="3535339"/>
            <a:ext cx="1321749" cy="392496"/>
          </a:xfrm>
          <a:prstGeom prst="rect">
            <a:avLst/>
          </a:prstGeom>
          <a:solidFill>
            <a:srgbClr val="065A82"/>
          </a:solidFill>
          <a:ln>
            <a:noFill/>
          </a:ln>
          <a:effectLst/>
        </p:spPr>
        <p:txBody>
          <a:bodyPr rtlCol="0" anchor="ctr"/>
          <a:lstStyle/>
          <a:p>
            <a:pPr algn="ctr"/>
          </a:p>
        </p:txBody>
      </p:sp>
      <p:sp>
        <p:nvSpPr>
          <p:cNvPr id="22" name="TextBox 21"/>
          <p:cNvSpPr txBox="1"/>
          <p:nvPr/>
        </p:nvSpPr>
        <p:spPr>
          <a:xfrm>
            <a:off x="3847728" y="3535339"/>
            <a:ext cx="1029141"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текст</a:t>
            </a:r>
          </a:p>
        </p:txBody>
      </p:sp>
      <p:sp>
        <p:nvSpPr>
          <p:cNvPr id="23" name="Rectangle 22"/>
          <p:cNvSpPr/>
          <p:nvPr/>
        </p:nvSpPr>
        <p:spPr>
          <a:xfrm>
            <a:off x="5023174" y="3535339"/>
            <a:ext cx="2337638" cy="392496"/>
          </a:xfrm>
          <a:prstGeom prst="rect">
            <a:avLst/>
          </a:prstGeom>
          <a:solidFill>
            <a:srgbClr val="065A82"/>
          </a:solidFill>
          <a:ln>
            <a:noFill/>
          </a:ln>
          <a:effectLst/>
        </p:spPr>
        <p:txBody>
          <a:bodyPr rtlCol="0" anchor="ctr"/>
          <a:lstStyle/>
          <a:p>
            <a:pPr algn="ctr"/>
          </a:p>
        </p:txBody>
      </p:sp>
      <p:sp>
        <p:nvSpPr>
          <p:cNvPr id="24" name="TextBox 23"/>
          <p:cNvSpPr txBox="1"/>
          <p:nvPr/>
        </p:nvSpPr>
        <p:spPr>
          <a:xfrm>
            <a:off x="5169478" y="3535339"/>
            <a:ext cx="2045030"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изображение</a:t>
            </a:r>
          </a:p>
        </p:txBody>
      </p:sp>
      <p:sp>
        <p:nvSpPr>
          <p:cNvPr id="25" name="Rectangle 24"/>
          <p:cNvSpPr/>
          <p:nvPr/>
        </p:nvSpPr>
        <p:spPr>
          <a:xfrm>
            <a:off x="7360812" y="3535339"/>
            <a:ext cx="4291386" cy="392496"/>
          </a:xfrm>
          <a:prstGeom prst="rect">
            <a:avLst/>
          </a:prstGeom>
          <a:solidFill>
            <a:srgbClr val="065A82"/>
          </a:solidFill>
          <a:ln>
            <a:noFill/>
          </a:ln>
          <a:effectLst/>
        </p:spPr>
        <p:txBody>
          <a:bodyPr rtlCol="0" anchor="ctr"/>
          <a:lstStyle/>
          <a:p>
            <a:pPr algn="ctr"/>
          </a:p>
        </p:txBody>
      </p:sp>
      <p:sp>
        <p:nvSpPr>
          <p:cNvPr id="26" name="TextBox 25"/>
          <p:cNvSpPr txBox="1"/>
          <p:nvPr/>
        </p:nvSpPr>
        <p:spPr>
          <a:xfrm>
            <a:off x="7507116" y="3535339"/>
            <a:ext cx="3998778"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структурированные данные</a:t>
            </a:r>
          </a:p>
        </p:txBody>
      </p:sp>
      <p:sp>
        <p:nvSpPr>
          <p:cNvPr id="27" name="Rectangle 26"/>
          <p:cNvSpPr/>
          <p:nvPr/>
        </p:nvSpPr>
        <p:spPr>
          <a:xfrm>
            <a:off x="539496" y="3927835"/>
            <a:ext cx="3161928" cy="392496"/>
          </a:xfrm>
          <a:prstGeom prst="rect">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685800" y="3927835"/>
            <a:ext cx="286932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классификация</a:t>
            </a:r>
          </a:p>
        </p:txBody>
      </p:sp>
      <p:sp>
        <p:nvSpPr>
          <p:cNvPr id="29" name="Rectangle 28"/>
          <p:cNvSpPr/>
          <p:nvPr/>
        </p:nvSpPr>
        <p:spPr>
          <a:xfrm>
            <a:off x="3701424" y="3927835"/>
            <a:ext cx="1321749" cy="392496"/>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3847728" y="3927835"/>
            <a:ext cx="102914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31" name="Rectangle 30"/>
          <p:cNvSpPr/>
          <p:nvPr/>
        </p:nvSpPr>
        <p:spPr>
          <a:xfrm>
            <a:off x="5023174" y="3927835"/>
            <a:ext cx="2337638" cy="392496"/>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5169478" y="3927835"/>
            <a:ext cx="204503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33" name="Rectangle 32"/>
          <p:cNvSpPr/>
          <p:nvPr/>
        </p:nvSpPr>
        <p:spPr>
          <a:xfrm>
            <a:off x="7360812" y="3927835"/>
            <a:ext cx="4291386" cy="392496"/>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7507116" y="3927835"/>
            <a:ext cx="3998778"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35" name="Rectangle 34"/>
          <p:cNvSpPr/>
          <p:nvPr/>
        </p:nvSpPr>
        <p:spPr>
          <a:xfrm>
            <a:off x="539496" y="4320331"/>
            <a:ext cx="3161928" cy="392496"/>
          </a:xfrm>
          <a:prstGeom prst="rect">
            <a:avLst/>
          </a:prstGeom>
          <a:solidFill>
            <a:srgbClr val="F4F7FA"/>
          </a:solidFill>
          <a:ln w="12700">
            <a:solidFill>
              <a:srgbClr val="D9E2EC"/>
            </a:solidFill>
          </a:ln>
          <a:effectLst/>
        </p:spPr>
        <p:txBody>
          <a:bodyPr rtlCol="0" anchor="ctr"/>
          <a:lstStyle/>
          <a:p>
            <a:pPr algn="ctr"/>
          </a:p>
        </p:txBody>
      </p:sp>
      <p:sp>
        <p:nvSpPr>
          <p:cNvPr id="36" name="TextBox 35"/>
          <p:cNvSpPr txBox="1"/>
          <p:nvPr/>
        </p:nvSpPr>
        <p:spPr>
          <a:xfrm>
            <a:off x="685800" y="4320331"/>
            <a:ext cx="286932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распознавание</a:t>
            </a:r>
          </a:p>
        </p:txBody>
      </p:sp>
      <p:sp>
        <p:nvSpPr>
          <p:cNvPr id="37" name="Rectangle 36"/>
          <p:cNvSpPr/>
          <p:nvPr/>
        </p:nvSpPr>
        <p:spPr>
          <a:xfrm>
            <a:off x="3701424" y="4320331"/>
            <a:ext cx="1321749" cy="392496"/>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3847728" y="4320331"/>
            <a:ext cx="102914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39" name="Rectangle 38"/>
          <p:cNvSpPr/>
          <p:nvPr/>
        </p:nvSpPr>
        <p:spPr>
          <a:xfrm>
            <a:off x="5023174" y="4320331"/>
            <a:ext cx="2337638" cy="392496"/>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5169478" y="4320331"/>
            <a:ext cx="204503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41" name="Rectangle 40"/>
          <p:cNvSpPr/>
          <p:nvPr/>
        </p:nvSpPr>
        <p:spPr>
          <a:xfrm>
            <a:off x="7360812" y="4320331"/>
            <a:ext cx="4291386" cy="392496"/>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7507116" y="4320331"/>
            <a:ext cx="3998778"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43" name="Rectangle 42"/>
          <p:cNvSpPr/>
          <p:nvPr/>
        </p:nvSpPr>
        <p:spPr>
          <a:xfrm>
            <a:off x="539496" y="4712827"/>
            <a:ext cx="3161928" cy="392496"/>
          </a:xfrm>
          <a:prstGeom prst="rect">
            <a:avLst/>
          </a:prstGeom>
          <a:solidFill>
            <a:srgbClr val="FFFFFF"/>
          </a:solidFill>
          <a:ln w="12700">
            <a:solidFill>
              <a:srgbClr val="D9E2EC"/>
            </a:solidFill>
          </a:ln>
          <a:effectLst/>
        </p:spPr>
        <p:txBody>
          <a:bodyPr rtlCol="0" anchor="ctr"/>
          <a:lstStyle/>
          <a:p>
            <a:pPr algn="ctr"/>
          </a:p>
        </p:txBody>
      </p:sp>
      <p:sp>
        <p:nvSpPr>
          <p:cNvPr id="44" name="TextBox 43"/>
          <p:cNvSpPr txBox="1"/>
          <p:nvPr/>
        </p:nvSpPr>
        <p:spPr>
          <a:xfrm>
            <a:off x="685800" y="4712827"/>
            <a:ext cx="286932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поиск с генерацией</a:t>
            </a:r>
          </a:p>
        </p:txBody>
      </p:sp>
      <p:sp>
        <p:nvSpPr>
          <p:cNvPr id="45" name="Rectangle 44"/>
          <p:cNvSpPr/>
          <p:nvPr/>
        </p:nvSpPr>
        <p:spPr>
          <a:xfrm>
            <a:off x="3701424" y="4712827"/>
            <a:ext cx="1321749" cy="392496"/>
          </a:xfrm>
          <a:prstGeom prst="rect">
            <a:avLst/>
          </a:prstGeom>
          <a:solidFill>
            <a:srgbClr val="FFFFFF"/>
          </a:solidFill>
          <a:ln w="12700">
            <a:solidFill>
              <a:srgbClr val="D9E2EC"/>
            </a:solidFill>
          </a:ln>
          <a:effectLst/>
        </p:spPr>
        <p:txBody>
          <a:bodyPr rtlCol="0" anchor="ctr"/>
          <a:lstStyle/>
          <a:p>
            <a:pPr algn="ctr"/>
          </a:p>
        </p:txBody>
      </p:sp>
      <p:sp>
        <p:nvSpPr>
          <p:cNvPr id="46" name="TextBox 45"/>
          <p:cNvSpPr txBox="1"/>
          <p:nvPr/>
        </p:nvSpPr>
        <p:spPr>
          <a:xfrm>
            <a:off x="3847728" y="4712827"/>
            <a:ext cx="102914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47" name="Rectangle 46"/>
          <p:cNvSpPr/>
          <p:nvPr/>
        </p:nvSpPr>
        <p:spPr>
          <a:xfrm>
            <a:off x="5023174" y="4712827"/>
            <a:ext cx="2337638" cy="392496"/>
          </a:xfrm>
          <a:prstGeom prst="rect">
            <a:avLst/>
          </a:prstGeom>
          <a:solidFill>
            <a:srgbClr val="FFFFFF"/>
          </a:solidFill>
          <a:ln w="12700">
            <a:solidFill>
              <a:srgbClr val="D9E2EC"/>
            </a:solidFill>
          </a:ln>
          <a:effectLst/>
        </p:spPr>
        <p:txBody>
          <a:bodyPr rtlCol="0" anchor="ctr"/>
          <a:lstStyle/>
          <a:p>
            <a:pPr algn="ctr"/>
          </a:p>
        </p:txBody>
      </p:sp>
      <p:sp>
        <p:nvSpPr>
          <p:cNvPr id="48" name="TextBox 47"/>
          <p:cNvSpPr txBox="1"/>
          <p:nvPr/>
        </p:nvSpPr>
        <p:spPr>
          <a:xfrm>
            <a:off x="5169478" y="4712827"/>
            <a:ext cx="204503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49" name="Rectangle 48"/>
          <p:cNvSpPr/>
          <p:nvPr/>
        </p:nvSpPr>
        <p:spPr>
          <a:xfrm>
            <a:off x="7360812" y="4712827"/>
            <a:ext cx="4291386" cy="392496"/>
          </a:xfrm>
          <a:prstGeom prst="rect">
            <a:avLst/>
          </a:prstGeom>
          <a:solidFill>
            <a:srgbClr val="FFFFFF"/>
          </a:solidFill>
          <a:ln w="12700">
            <a:solidFill>
              <a:srgbClr val="D9E2EC"/>
            </a:solidFill>
          </a:ln>
          <a:effectLst/>
        </p:spPr>
        <p:txBody>
          <a:bodyPr rtlCol="0" anchor="ctr"/>
          <a:lstStyle/>
          <a:p>
            <a:pPr algn="ctr"/>
          </a:p>
        </p:txBody>
      </p:sp>
      <p:sp>
        <p:nvSpPr>
          <p:cNvPr id="50" name="TextBox 49"/>
          <p:cNvSpPr txBox="1"/>
          <p:nvPr/>
        </p:nvSpPr>
        <p:spPr>
          <a:xfrm>
            <a:off x="7507116" y="4712827"/>
            <a:ext cx="3998778"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51" name="Rectangle 50"/>
          <p:cNvSpPr/>
          <p:nvPr/>
        </p:nvSpPr>
        <p:spPr>
          <a:xfrm>
            <a:off x="539496" y="5105324"/>
            <a:ext cx="3161928" cy="392496"/>
          </a:xfrm>
          <a:prstGeom prst="rect">
            <a:avLst/>
          </a:prstGeom>
          <a:solidFill>
            <a:srgbClr val="F4F7FA"/>
          </a:solidFill>
          <a:ln w="12700">
            <a:solidFill>
              <a:srgbClr val="D9E2EC"/>
            </a:solidFill>
          </a:ln>
          <a:effectLst/>
        </p:spPr>
        <p:txBody>
          <a:bodyPr rtlCol="0" anchor="ctr"/>
          <a:lstStyle/>
          <a:p>
            <a:pPr algn="ctr"/>
          </a:p>
        </p:txBody>
      </p:sp>
      <p:sp>
        <p:nvSpPr>
          <p:cNvPr id="52" name="TextBox 51"/>
          <p:cNvSpPr txBox="1"/>
          <p:nvPr/>
        </p:nvSpPr>
        <p:spPr>
          <a:xfrm>
            <a:off x="685800" y="5105324"/>
            <a:ext cx="286932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прогноз</a:t>
            </a:r>
          </a:p>
        </p:txBody>
      </p:sp>
      <p:sp>
        <p:nvSpPr>
          <p:cNvPr id="53" name="Rectangle 52"/>
          <p:cNvSpPr/>
          <p:nvPr/>
        </p:nvSpPr>
        <p:spPr>
          <a:xfrm>
            <a:off x="3701424" y="5105324"/>
            <a:ext cx="1321749" cy="392496"/>
          </a:xfrm>
          <a:prstGeom prst="rect">
            <a:avLst/>
          </a:prstGeom>
          <a:solidFill>
            <a:srgbClr val="F4F7FA"/>
          </a:solidFill>
          <a:ln w="12700">
            <a:solidFill>
              <a:srgbClr val="D9E2EC"/>
            </a:solidFill>
          </a:ln>
          <a:effectLst/>
        </p:spPr>
        <p:txBody>
          <a:bodyPr rtlCol="0" anchor="ctr"/>
          <a:lstStyle/>
          <a:p>
            <a:pPr algn="ctr"/>
          </a:p>
        </p:txBody>
      </p:sp>
      <p:sp>
        <p:nvSpPr>
          <p:cNvPr id="54" name="TextBox 53"/>
          <p:cNvSpPr txBox="1"/>
          <p:nvPr/>
        </p:nvSpPr>
        <p:spPr>
          <a:xfrm>
            <a:off x="3847728" y="5105324"/>
            <a:ext cx="102914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55" name="Rectangle 54"/>
          <p:cNvSpPr/>
          <p:nvPr/>
        </p:nvSpPr>
        <p:spPr>
          <a:xfrm>
            <a:off x="5023174" y="5105324"/>
            <a:ext cx="2337638" cy="392496"/>
          </a:xfrm>
          <a:prstGeom prst="rect">
            <a:avLst/>
          </a:prstGeom>
          <a:solidFill>
            <a:srgbClr val="F4F7FA"/>
          </a:solidFill>
          <a:ln w="12700">
            <a:solidFill>
              <a:srgbClr val="D9E2EC"/>
            </a:solidFill>
          </a:ln>
          <a:effectLst/>
        </p:spPr>
        <p:txBody>
          <a:bodyPr rtlCol="0" anchor="ctr"/>
          <a:lstStyle/>
          <a:p>
            <a:pPr algn="ctr"/>
          </a:p>
        </p:txBody>
      </p:sp>
      <p:sp>
        <p:nvSpPr>
          <p:cNvPr id="56" name="TextBox 55"/>
          <p:cNvSpPr txBox="1"/>
          <p:nvPr/>
        </p:nvSpPr>
        <p:spPr>
          <a:xfrm>
            <a:off x="5169478" y="5105324"/>
            <a:ext cx="2045030"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57" name="Rectangle 56"/>
          <p:cNvSpPr/>
          <p:nvPr/>
        </p:nvSpPr>
        <p:spPr>
          <a:xfrm>
            <a:off x="7360812" y="5105324"/>
            <a:ext cx="4291386" cy="392496"/>
          </a:xfrm>
          <a:prstGeom prst="rect">
            <a:avLst/>
          </a:prstGeom>
          <a:solidFill>
            <a:srgbClr val="F4F7FA"/>
          </a:solidFill>
          <a:ln w="12700">
            <a:solidFill>
              <a:srgbClr val="D9E2EC"/>
            </a:solidFill>
          </a:ln>
          <a:effectLst/>
        </p:spPr>
        <p:txBody>
          <a:bodyPr rtlCol="0" anchor="ctr"/>
          <a:lstStyle/>
          <a:p>
            <a:pPr algn="ctr"/>
          </a:p>
        </p:txBody>
      </p:sp>
      <p:sp>
        <p:nvSpPr>
          <p:cNvPr id="58" name="TextBox 57"/>
          <p:cNvSpPr txBox="1"/>
          <p:nvPr/>
        </p:nvSpPr>
        <p:spPr>
          <a:xfrm>
            <a:off x="7507116" y="5105324"/>
            <a:ext cx="3998778"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
            </a:r>
          </a:p>
        </p:txBody>
      </p:sp>
      <p:sp>
        <p:nvSpPr>
          <p:cNvPr id="59" name="TextBox 58"/>
          <p:cNvSpPr txBox="1"/>
          <p:nvPr/>
        </p:nvSpPr>
        <p:spPr>
          <a:xfrm>
            <a:off x="539496" y="5644124"/>
            <a:ext cx="11112703"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Клетки заполняются в конце каждого раздела. К концу видно, какие остались пустыми: куда за восемь разделов не зашёл никто.</a:t>
            </a:r>
          </a:p>
        </p:txBody>
      </p:sp>
      <p:sp>
        <p:nvSpPr>
          <p:cNvPr id="60" name="Rectangle 5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Удешевили чтение данных. Платят вниманием, навыком, подписью и арбитражем</a:t>
            </a:r>
          </a:p>
        </p:txBody>
      </p:sp>
      <p:sp>
        <p:nvSpPr>
          <p:cNvPr id="4" name="Rounded Rectangle 3"/>
          <p:cNvSpPr/>
          <p:nvPr/>
        </p:nvSpPr>
        <p:spPr>
          <a:xfrm>
            <a:off x="502920" y="1335024"/>
            <a:ext cx="1612315" cy="1735356"/>
          </a:xfrm>
          <a:prstGeom prst="roundRect">
            <a:avLst>
              <a:gd name="adj" fmla="val 189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33799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ВНИМАНИЕ</a:t>
            </a:r>
          </a:p>
        </p:txBody>
      </p:sp>
      <p:sp>
        <p:nvSpPr>
          <p:cNvPr id="6" name="TextBox 5"/>
          <p:cNvSpPr txBox="1"/>
          <p:nvPr/>
        </p:nvSpPr>
        <p:spPr>
          <a:xfrm>
            <a:off x="640080" y="1725375"/>
            <a:ext cx="1337995"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смотрит после модели</a:t>
            </a:r>
          </a:p>
        </p:txBody>
      </p:sp>
      <p:sp>
        <p:nvSpPr>
          <p:cNvPr id="7" name="Rounded Rectangle 6"/>
          <p:cNvSpPr/>
          <p:nvPr/>
        </p:nvSpPr>
        <p:spPr>
          <a:xfrm>
            <a:off x="2279827" y="1335024"/>
            <a:ext cx="1612315" cy="1735356"/>
          </a:xfrm>
          <a:prstGeom prst="roundRect">
            <a:avLst>
              <a:gd name="adj" fmla="val 18904"/>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2416987" y="1472184"/>
            <a:ext cx="133799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НАВЫК</a:t>
            </a:r>
          </a:p>
        </p:txBody>
      </p:sp>
      <p:sp>
        <p:nvSpPr>
          <p:cNvPr id="9" name="TextBox 8"/>
          <p:cNvSpPr txBox="1"/>
          <p:nvPr/>
        </p:nvSpPr>
        <p:spPr>
          <a:xfrm>
            <a:off x="2416987" y="1725375"/>
            <a:ext cx="1337995" cy="1080533"/>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перестаёт делать сам</a:t>
            </a:r>
          </a:p>
        </p:txBody>
      </p:sp>
      <p:sp>
        <p:nvSpPr>
          <p:cNvPr id="10" name="Rounded Rectangle 9"/>
          <p:cNvSpPr/>
          <p:nvPr/>
        </p:nvSpPr>
        <p:spPr>
          <a:xfrm>
            <a:off x="4056735" y="1335024"/>
            <a:ext cx="1612315" cy="1735356"/>
          </a:xfrm>
          <a:prstGeom prst="roundRect">
            <a:avLst>
              <a:gd name="adj" fmla="val 18904"/>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4193895" y="1472184"/>
            <a:ext cx="133799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ПОДПИСЬ</a:t>
            </a:r>
          </a:p>
        </p:txBody>
      </p:sp>
      <p:sp>
        <p:nvSpPr>
          <p:cNvPr id="12" name="TextBox 11"/>
          <p:cNvSpPr txBox="1"/>
          <p:nvPr/>
        </p:nvSpPr>
        <p:spPr>
          <a:xfrm>
            <a:off x="4193895" y="1725375"/>
            <a:ext cx="133799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ставят не читая</a:t>
            </a:r>
          </a:p>
        </p:txBody>
      </p:sp>
      <p:sp>
        <p:nvSpPr>
          <p:cNvPr id="13" name="Rounded Rectangle 12"/>
          <p:cNvSpPr/>
          <p:nvPr/>
        </p:nvSpPr>
        <p:spPr>
          <a:xfrm>
            <a:off x="5833643" y="1335024"/>
            <a:ext cx="1612315" cy="1735356"/>
          </a:xfrm>
          <a:prstGeom prst="roundRect">
            <a:avLst>
              <a:gd name="adj" fmla="val 18904"/>
            </a:avLst>
          </a:prstGeom>
          <a:solidFill>
            <a:srgbClr val="FFFFFF"/>
          </a:solidFill>
          <a:ln w="25400">
            <a:solidFill>
              <a:srgbClr val="F0AB00"/>
            </a:solidFill>
          </a:ln>
          <a:effectLst/>
        </p:spPr>
        <p:txBody>
          <a:bodyPr rtlCol="0" anchor="ctr"/>
          <a:lstStyle/>
          <a:p>
            <a:pPr algn="ctr"/>
          </a:p>
        </p:txBody>
      </p:sp>
      <p:sp>
        <p:nvSpPr>
          <p:cNvPr id="14" name="TextBox 13"/>
          <p:cNvSpPr txBox="1"/>
          <p:nvPr/>
        </p:nvSpPr>
        <p:spPr>
          <a:xfrm>
            <a:off x="5970803" y="1472184"/>
            <a:ext cx="133799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АРБИТРАЖ</a:t>
            </a:r>
          </a:p>
        </p:txBody>
      </p:sp>
      <p:sp>
        <p:nvSpPr>
          <p:cNvPr id="15" name="TextBox 14"/>
          <p:cNvSpPr txBox="1"/>
          <p:nvPr/>
        </p:nvSpPr>
        <p:spPr>
          <a:xfrm>
            <a:off x="5970803" y="1725375"/>
            <a:ext cx="1337995" cy="1156920"/>
          </a:xfrm>
          <a:prstGeom prst="rect">
            <a:avLst/>
          </a:prstGeom>
          <a:noFill/>
        </p:spPr>
        <p:txBody>
          <a:bodyPr wrap="square" lIns="0" rIns="0" tIns="0" bIns="0" anchor="t">
            <a:spAutoFit/>
          </a:bodyPr>
          <a:lstStyle/>
          <a:p>
            <a:pPr algn="l">
              <a:lnSpc>
                <a:spcPct val="108000"/>
              </a:lnSpc>
            </a:pPr>
            <a:r>
              <a:rPr sz="2200" b="1" i="0">
                <a:solidFill>
                  <a:srgbClr val="F0AB00"/>
                </a:solidFill>
                <a:latin typeface="Arial"/>
              </a:rPr>
              <a:t>дороже прежнего чтения</a:t>
            </a:r>
          </a:p>
        </p:txBody>
      </p:sp>
      <p:sp>
        <p:nvSpPr>
          <p:cNvPr id="16" name="Rounded Rectangle 15"/>
          <p:cNvSpPr/>
          <p:nvPr/>
        </p:nvSpPr>
        <p:spPr>
          <a:xfrm>
            <a:off x="374904" y="3161820"/>
            <a:ext cx="11441887" cy="3074387"/>
          </a:xfrm>
          <a:prstGeom prst="roundRect">
            <a:avLst>
              <a:gd name="adj" fmla="val 9914"/>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53260"/>
            <a:ext cx="11112703" cy="298294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Удешевление уже предъявлено: модель читает рентген в браузере за три секунды, без допуска и без денег, и сама подписана «не для диагностики».</a:t>
            </a:r>
          </a:p>
          <a:p>
            <a:pPr algn="l">
              <a:lnSpc>
                <a:spcPct val="126000"/>
              </a:lnSpc>
              <a:spcBef>
                <a:spcPts val="700"/>
              </a:spcBef>
            </a:pPr>
            <a:r>
              <a:rPr sz="1500" b="0" i="0">
                <a:solidFill>
                  <a:srgbClr val="21295C"/>
                </a:solidFill>
                <a:latin typeface="Arial"/>
              </a:rPr>
              <a:t/>
            </a:r>
            <a:r>
              <a:rPr sz="1500" b="1" i="0">
                <a:solidFill>
                  <a:srgbClr val="21295C"/>
                </a:solidFill>
                <a:latin typeface="Arial"/>
              </a:rPr>
              <a:t>Этот переезд вы узнаете без перевода — он ваш собственный.</a:t>
            </a:r>
            <a:r>
              <a:rPr sz="1500" b="0" i="0">
                <a:solidFill>
                  <a:srgbClr val="21295C"/>
                </a:solidFill>
                <a:latin typeface="Arial"/>
              </a:rPr>
              <a:t> Младшие разработчики пишут с моделью и пишут больше; проверять не успевают старшие.</a:t>
            </a:r>
          </a:p>
          <a:p>
            <a:pPr algn="l">
              <a:lnSpc>
                <a:spcPct val="126000"/>
              </a:lnSpc>
              <a:spcBef>
                <a:spcPts val="700"/>
              </a:spcBef>
            </a:pPr>
            <a:r>
              <a:rPr sz="1500" b="0" i="0">
                <a:solidFill>
                  <a:srgbClr val="21295C"/>
                </a:solidFill>
                <a:latin typeface="Arial"/>
              </a:rPr>
              <a:t/>
            </a:r>
            <a:r>
              <a:rPr sz="1500" b="0" i="0">
                <a:solidFill>
                  <a:srgbClr val="21295C"/>
                </a:solidFill>
                <a:latin typeface="Arial"/>
              </a:rPr>
              <a:t>Замера под этим нет ни одного: он иллюстрация оси, разбором не идёт.</a:t>
            </a:r>
          </a:p>
          <a:p>
            <a:pPr algn="l">
              <a:lnSpc>
                <a:spcPct val="126000"/>
              </a:lnSpc>
              <a:spcBef>
                <a:spcPts val="700"/>
              </a:spcBef>
            </a:pPr>
            <a:r>
              <a:rPr sz="1500" b="0" i="0">
                <a:solidFill>
                  <a:srgbClr val="21295C"/>
                </a:solidFill>
                <a:latin typeface="Arial"/>
              </a:rPr>
              <a:t/>
            </a:r>
            <a:r>
              <a:rPr sz="1500" b="0" i="0">
                <a:solidFill>
                  <a:srgbClr val="21295C"/>
                </a:solidFill>
                <a:latin typeface="Arial"/>
              </a:rPr>
              <a:t>Подешевел шаг — платят на другом. Своё здесь — </a:t>
            </a:r>
            <a:r>
              <a:rPr sz="1500" b="1" i="0">
                <a:solidFill>
                  <a:srgbClr val="21295C"/>
                </a:solidFill>
                <a:latin typeface="Arial"/>
              </a:rPr>
              <a:t>адрес: платят тем шагом, которым работает человек.</a:t>
            </a:r>
          </a:p>
          <a:p>
            <a:pPr algn="l">
              <a:lnSpc>
                <a:spcPct val="126000"/>
              </a:lnSpc>
              <a:spcBef>
                <a:spcPts val="700"/>
              </a:spcBef>
            </a:pPr>
            <a:r>
              <a:rPr sz="1500" b="0" i="0">
                <a:solidFill>
                  <a:srgbClr val="21295C"/>
                </a:solidFill>
                <a:latin typeface="Arial"/>
              </a:rPr>
              <a:t/>
            </a:r>
            <a:r>
              <a:rPr sz="1500" b="1" i="0">
                <a:solidFill>
                  <a:srgbClr val="21295C"/>
                </a:solidFill>
                <a:latin typeface="Arial"/>
              </a:rPr>
              <a:t>Путь, ступень, адрес — этим читается каждый разбор лекции.</a:t>
            </a:r>
          </a:p>
          <a:p>
            <a:pPr algn="l">
              <a:lnSpc>
                <a:spcPct val="126000"/>
              </a:lnSpc>
              <a:spcBef>
                <a:spcPts val="700"/>
              </a:spcBef>
            </a:pPr>
            <a:r>
              <a:rPr sz="1500" b="0" i="0">
                <a:solidFill>
                  <a:srgbClr val="21295C"/>
                </a:solidFill>
                <a:latin typeface="Arial"/>
              </a:rPr>
              <a:t/>
            </a:r>
            <a:r>
              <a:rPr sz="1500" b="1" i="0">
                <a:solidFill>
                  <a:srgbClr val="21295C"/>
                </a:solidFill>
                <a:latin typeface="Arial"/>
              </a:rPr>
              <a:t>Модель посмотрела первой. Что теперь делает человек — и кто это измерял?</a:t>
            </a:r>
          </a:p>
        </p:txBody>
      </p:sp>
      <p:sp>
        <p:nvSpPr>
          <p:cNvPr id="18" name="Rounded Rectangle 17"/>
          <p:cNvSpPr/>
          <p:nvPr/>
        </p:nvSpPr>
        <p:spPr>
          <a:xfrm>
            <a:off x="7756855" y="1335024"/>
            <a:ext cx="3931920" cy="1823085"/>
          </a:xfrm>
          <a:prstGeom prst="roundRect">
            <a:avLst>
              <a:gd name="adj" fmla="val 16718"/>
            </a:avLst>
          </a:prstGeom>
          <a:solidFill>
            <a:srgbClr val="F4F7FA"/>
          </a:solidFill>
          <a:ln w="19050">
            <a:solidFill>
              <a:srgbClr val="1C7293"/>
            </a:solidFill>
          </a:ln>
          <a:effectLst/>
        </p:spPr>
        <p:txBody>
          <a:bodyPr rtlCol="0" anchor="ctr"/>
          <a:lstStyle/>
          <a:p>
            <a:pPr algn="ctr"/>
          </a:p>
        </p:txBody>
      </p:sp>
      <p:pic>
        <p:nvPicPr>
          <p:cNvPr id="19" name="Picture 18" descr="s05-podpis-pod-soglasiem.jpg"/>
          <p:cNvPicPr>
            <a:picLocks noChangeAspect="1"/>
          </p:cNvPicPr>
          <p:nvPr/>
        </p:nvPicPr>
        <p:blipFill>
          <a:blip r:embed="rId2"/>
          <a:stretch>
            <a:fillRect/>
          </a:stretch>
        </p:blipFill>
        <p:spPr>
          <a:xfrm>
            <a:off x="7894015" y="1472184"/>
            <a:ext cx="3657600" cy="1548765"/>
          </a:xfrm>
          <a:prstGeom prst="rect">
            <a:avLst/>
          </a:prstGeom>
        </p:spPr>
      </p:pic>
      <p:sp>
        <p:nvSpPr>
          <p:cNvPr id="20" name="Rectangle 19"/>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Фото: NIAID, Викисклад, CC BY 2.0 — подпись добровольца под информированным согласием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1185855"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1. Отбор — кого вообще смотреть</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Прежде чем кого-то лечить, кто-то решает, кого вообще посмотреть.</a:t>
            </a:r>
          </a:p>
        </p:txBody>
      </p:sp>
      <p:sp>
        <p:nvSpPr>
          <p:cNvPr id="7" name="TextBox 6"/>
          <p:cNvSpPr txBox="1"/>
          <p:nvPr/>
        </p:nvSpPr>
        <p:spPr>
          <a:xfrm>
            <a:off x="704088" y="2311240"/>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Разборы по порядку: </a:t>
            </a:r>
            <a:r>
              <a:rPr sz="1550" b="1" i="0">
                <a:solidFill>
                  <a:srgbClr val="21295C"/>
                </a:solidFill>
                <a:latin typeface="Arial"/>
              </a:rPr>
              <a:t>Пример 1: чат-бот первой линии</a:t>
            </a:r>
            <a:r>
              <a:rPr sz="1550" b="0" i="0">
                <a:solidFill>
                  <a:srgbClr val="21295C"/>
                </a:solidFill>
                <a:latin typeface="Arial"/>
              </a:rPr>
              <a:t> · </a:t>
            </a:r>
            <a:r>
              <a:rPr sz="1550" b="1" i="0">
                <a:solidFill>
                  <a:srgbClr val="21295C"/>
                </a:solidFill>
                <a:latin typeface="Arial"/>
              </a:rPr>
              <a:t>Пример 2: глазное дно без офтальмолога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Что делают участники на стадии отбора — до всякой обученной модели</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7555410" cy="3108959"/>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Женщине пятьдесят четыре года, она ничего не чувствует и ни на что не жаловалась. Письмо пришло потому, что программа зовёт всех женщин этого возраста.</a:t>
            </a:r>
          </a:p>
          <a:p>
            <a:pPr algn="l">
              <a:lnSpc>
                <a:spcPct val="126000"/>
              </a:lnSpc>
              <a:spcBef>
                <a:spcPts val="700"/>
              </a:spcBef>
            </a:pPr>
            <a:r>
              <a:rPr sz="1250" b="0" i="0">
                <a:solidFill>
                  <a:srgbClr val="21295C"/>
                </a:solidFill>
                <a:latin typeface="Arial"/>
              </a:rPr>
              <a:t/>
            </a:r>
            <a:r>
              <a:rPr sz="1250" b="0" i="0">
                <a:solidFill>
                  <a:srgbClr val="21295C"/>
                </a:solidFill>
                <a:latin typeface="Arial"/>
              </a:rPr>
              <a:t>• Снимок делает лаборант</a:t>
            </a:r>
          </a:p>
          <a:p>
            <a:pPr algn="l">
              <a:lnSpc>
                <a:spcPct val="126000"/>
              </a:lnSpc>
              <a:spcBef>
                <a:spcPts val="700"/>
              </a:spcBef>
            </a:pPr>
            <a:r>
              <a:rPr sz="1250" b="0" i="0">
                <a:solidFill>
                  <a:srgbClr val="21295C"/>
                </a:solidFill>
                <a:latin typeface="Arial"/>
              </a:rPr>
              <a:t/>
            </a:r>
            <a:r>
              <a:rPr sz="1250" b="0" i="0">
                <a:solidFill>
                  <a:srgbClr val="21295C"/>
                </a:solidFill>
                <a:latin typeface="Arial"/>
              </a:rPr>
              <a:t>• Читают двое рентгенологов: её они не видели и между собой о ней не говорят</a:t>
            </a:r>
          </a:p>
          <a:p>
            <a:pPr algn="l">
              <a:lnSpc>
                <a:spcPct val="126000"/>
              </a:lnSpc>
              <a:spcBef>
                <a:spcPts val="700"/>
              </a:spcBef>
            </a:pPr>
            <a:r>
              <a:rPr sz="1250" b="0" i="0">
                <a:solidFill>
                  <a:srgbClr val="21295C"/>
                </a:solidFill>
                <a:latin typeface="Arial"/>
              </a:rPr>
              <a:t/>
            </a:r>
            <a:r>
              <a:rPr sz="1250" b="0" i="0">
                <a:solidFill>
                  <a:srgbClr val="21295C"/>
                </a:solidFill>
                <a:latin typeface="Arial"/>
              </a:rPr>
              <a:t>• Разошлись — снимок уходит третьему</a:t>
            </a:r>
          </a:p>
          <a:p>
            <a:pPr algn="l">
              <a:lnSpc>
                <a:spcPct val="126000"/>
              </a:lnSpc>
              <a:spcBef>
                <a:spcPts val="700"/>
              </a:spcBef>
            </a:pPr>
            <a:r>
              <a:rPr sz="1250" b="0" i="0">
                <a:solidFill>
                  <a:srgbClr val="21295C"/>
                </a:solidFill>
                <a:latin typeface="Arial"/>
              </a:rPr>
              <a:t/>
            </a:r>
            <a:r>
              <a:rPr sz="1250" b="0" i="0">
                <a:solidFill>
                  <a:srgbClr val="21295C"/>
                </a:solidFill>
                <a:latin typeface="Arial"/>
              </a:rPr>
              <a:t>• Через несколько недель приходит письмо «норма» либо звонок на дообследование</a:t>
            </a:r>
          </a:p>
          <a:p>
            <a:pPr algn="l">
              <a:lnSpc>
                <a:spcPct val="126000"/>
              </a:lnSpc>
              <a:spcBef>
                <a:spcPts val="700"/>
              </a:spcBef>
            </a:pPr>
            <a:r>
              <a:rPr sz="1250" b="0" i="0">
                <a:solidFill>
                  <a:srgbClr val="21295C"/>
                </a:solidFill>
                <a:latin typeface="Arial"/>
              </a:rPr>
              <a:t/>
            </a:r>
            <a:r>
              <a:rPr sz="1250" b="1" i="0">
                <a:solidFill>
                  <a:srgbClr val="21295C"/>
                </a:solidFill>
                <a:latin typeface="Arial"/>
              </a:rPr>
              <a:t>Семь действий стадии.</a:t>
            </a:r>
            <a:r>
              <a:rPr sz="1250" b="0" i="0">
                <a:solidFill>
                  <a:srgbClr val="21295C"/>
                </a:solidFill>
                <a:latin typeface="Arial"/>
              </a:rPr>
              <a:t> 1. Назначить порог · 2. Позвать по списку · 3. Снять исследование · 4. Прочесть двоим независимо · 5. Разрешить расхождение третьим · 6. Сообщить исход · 7. Отсортировать пришедших без приглашения.</a:t>
            </a:r>
          </a:p>
          <a:p>
            <a:pPr algn="l">
              <a:lnSpc>
                <a:spcPct val="126000"/>
              </a:lnSpc>
              <a:spcBef>
                <a:spcPts val="700"/>
              </a:spcBef>
            </a:pPr>
            <a:r>
              <a:rPr sz="1250" b="0" i="0">
                <a:solidFill>
                  <a:srgbClr val="21295C"/>
                </a:solidFill>
                <a:latin typeface="Arial"/>
              </a:rPr>
              <a:t/>
            </a:r>
            <a:r>
              <a:rPr sz="1250" b="1" i="0">
                <a:solidFill>
                  <a:srgbClr val="21295C"/>
                </a:solidFill>
                <a:latin typeface="Arial"/>
              </a:rPr>
              <a:t>Без обученной модели каждое из семи делает человек по записанному правилу.</a:t>
            </a:r>
          </a:p>
        </p:txBody>
      </p:sp>
      <p:sp>
        <p:nvSpPr>
          <p:cNvPr id="6" name="TextBox 5"/>
          <p:cNvSpPr txBox="1"/>
          <p:nvPr/>
        </p:nvSpPr>
        <p:spPr>
          <a:xfrm>
            <a:off x="539496" y="4535423"/>
            <a:ext cx="11112703" cy="1700784"/>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С обученной моделью — три шага из семи:</a:t>
            </a:r>
            <a:r>
              <a:rPr sz="1250" b="0" i="0">
                <a:solidFill>
                  <a:srgbClr val="21295C"/>
                </a:solidFill>
                <a:latin typeface="Arial"/>
              </a:rPr>
              <a:t> прочесть · сообщить исход · отсортировать поток. Порог, приглашение, съёмка и арбитраж остались людям. </a:t>
            </a:r>
            <a:r>
              <a:rPr sz="1250" b="1" i="0">
                <a:solidFill>
                  <a:srgbClr val="21295C"/>
                </a:solidFill>
                <a:latin typeface="Arial"/>
              </a:rPr>
              <a:t>Новый шаг — добыть годный снимок.</a:t>
            </a:r>
          </a:p>
          <a:p>
            <a:pPr algn="l">
              <a:lnSpc>
                <a:spcPct val="126000"/>
              </a:lnSpc>
              <a:spcBef>
                <a:spcPts val="700"/>
              </a:spcBef>
            </a:pPr>
            <a:r>
              <a:rPr sz="1250" b="0" i="0">
                <a:solidFill>
                  <a:srgbClr val="21295C"/>
                </a:solidFill>
                <a:latin typeface="Arial"/>
              </a:rPr>
              <a:t/>
            </a:r>
            <a:r>
              <a:rPr sz="1250" b="1" i="0">
                <a:solidFill>
                  <a:srgbClr val="21295C"/>
                </a:solidFill>
                <a:latin typeface="Arial"/>
              </a:rPr>
              <a:t>Три порядка работы.</a:t>
            </a:r>
            <a:r>
              <a:rPr sz="1250" b="0" i="0">
                <a:solidFill>
                  <a:srgbClr val="21295C"/>
                </a:solidFill>
                <a:latin typeface="Arial"/>
              </a:rPr>
              <a:t> Скрининг — зовут тех, у кого жалоб нет, по признаку группы · обращение по симптому — человек пришёл сам, и ведёт его жалоба · сортировка потока — кого из обратившихся смотреть первым.</a:t>
            </a:r>
          </a:p>
          <a:p>
            <a:pPr algn="l">
              <a:lnSpc>
                <a:spcPct val="126000"/>
              </a:lnSpc>
              <a:spcBef>
                <a:spcPts val="700"/>
              </a:spcBef>
            </a:pPr>
            <a:r>
              <a:rPr sz="1250" b="0" i="0">
                <a:solidFill>
                  <a:srgbClr val="21295C"/>
                </a:solidFill>
                <a:latin typeface="Arial"/>
              </a:rPr>
              <a:t/>
            </a:r>
            <a:r>
              <a:rPr sz="1250" b="1" i="0">
                <a:solidFill>
                  <a:srgbClr val="21295C"/>
                </a:solidFill>
                <a:latin typeface="Arial"/>
              </a:rPr>
              <a:t>У кого в рабочем контуре стоит автоматический фильтр, который решает, что до вас вообще дойдёт, — и кто разбирает то, что он отфильтровал?</a:t>
            </a:r>
          </a:p>
        </p:txBody>
      </p:sp>
      <p:sp>
        <p:nvSpPr>
          <p:cNvPr id="7" name="Rounded Rectangle 6"/>
          <p:cNvSpPr/>
          <p:nvPr/>
        </p:nvSpPr>
        <p:spPr>
          <a:xfrm>
            <a:off x="8442378" y="1335024"/>
            <a:ext cx="3246397" cy="3108960"/>
          </a:xfrm>
          <a:prstGeom prst="roundRect">
            <a:avLst>
              <a:gd name="adj" fmla="val 9803"/>
            </a:avLst>
          </a:prstGeom>
          <a:solidFill>
            <a:srgbClr val="F4F7FA"/>
          </a:solidFill>
          <a:ln w="19050">
            <a:solidFill>
              <a:srgbClr val="1C7293"/>
            </a:solidFill>
          </a:ln>
          <a:effectLst/>
        </p:spPr>
        <p:txBody>
          <a:bodyPr rtlCol="0" anchor="ctr"/>
          <a:lstStyle/>
          <a:p>
            <a:pPr algn="ctr"/>
          </a:p>
        </p:txBody>
      </p:sp>
      <p:pic>
        <p:nvPicPr>
          <p:cNvPr id="8" name="Picture 7" descr="s12-stranitsa-programmy-kogo-zovut.png"/>
          <p:cNvPicPr>
            <a:picLocks noChangeAspect="1"/>
          </p:cNvPicPr>
          <p:nvPr/>
        </p:nvPicPr>
        <p:blipFill>
          <a:blip r:embed="rId2"/>
          <a:stretch>
            <a:fillRect/>
          </a:stretch>
        </p:blipFill>
        <p:spPr>
          <a:xfrm>
            <a:off x="8579538" y="1472184"/>
            <a:ext cx="2972077" cy="2834640"/>
          </a:xfrm>
          <a:prstGeom prst="rect">
            <a:avLst/>
          </a:prstGeom>
        </p:spPr>
      </p:pic>
      <p:sp>
        <p:nvSpPr>
          <p:cNvPr id="9" name="Rectangle 8"/>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10" name="TextBox 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Снимок страницы: программа скрининга молочной железы NHS England, раздел «кого зовут», GOV.UK, снято 13 октября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Без модели, режим первый: звать по возрасту и интервалу</a:t>
            </a:r>
          </a:p>
        </p:txBody>
      </p:sp>
      <p:sp>
        <p:nvSpPr>
          <p:cNvPr id="4" name="Rounded Rectangle 3"/>
          <p:cNvSpPr/>
          <p:nvPr/>
        </p:nvSpPr>
        <p:spPr>
          <a:xfrm>
            <a:off x="502920" y="1335024"/>
            <a:ext cx="5510631"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ПРОПУСК</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рак, найденный между приглашениями</a:t>
            </a:r>
          </a:p>
        </p:txBody>
      </p:sp>
      <p:sp>
        <p:nvSpPr>
          <p:cNvPr id="7" name="TextBox 6"/>
          <p:cNvSpPr txBox="1"/>
          <p:nvPr/>
        </p:nvSpPr>
        <p:spPr>
          <a:xfrm>
            <a:off x="640080"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счёт этой цены стоит в контрольной линии раздела о чтении снимка и здесь не произносится</a:t>
            </a:r>
          </a:p>
        </p:txBody>
      </p:sp>
      <p:sp>
        <p:nvSpPr>
          <p:cNvPr id="8" name="Rounded Rectangle 7"/>
          <p:cNvSpPr/>
          <p:nvPr/>
        </p:nvSpPr>
        <p:spPr>
          <a:xfrm>
            <a:off x="6178143" y="1335024"/>
            <a:ext cx="5510631"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ЛОЖНЫЙ ВЫЗОВ</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2,0 из ста обследованных</a:t>
            </a:r>
          </a:p>
        </p:txBody>
      </p:sp>
      <p:sp>
        <p:nvSpPr>
          <p:cNvPr id="11" name="TextBox 10"/>
          <p:cNvSpPr txBox="1"/>
          <p:nvPr/>
        </p:nvSpPr>
        <p:spPr>
          <a:xfrm>
            <a:off x="6315303"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контрольное плечо шведской программы: 52 872 женщины, двойное чтение без модели, наблюдение два года</a:t>
            </a:r>
          </a:p>
        </p:txBody>
      </p:sp>
      <p:sp>
        <p:nvSpPr>
          <p:cNvPr id="12" name="Rounded Rectangle 11"/>
          <p:cNvSpPr/>
          <p:nvPr/>
        </p:nvSpPr>
        <p:spPr>
          <a:xfrm>
            <a:off x="374904" y="3193884"/>
            <a:ext cx="11441887" cy="2531547"/>
          </a:xfrm>
          <a:prstGeom prst="roundRect">
            <a:avLst>
              <a:gd name="adj" fmla="val 12040"/>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285324"/>
            <a:ext cx="5373471" cy="295088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Режим: </a:t>
            </a:r>
            <a:r>
              <a:rPr sz="1500" b="1" i="0">
                <a:solidFill>
                  <a:srgbClr val="21295C"/>
                </a:solidFill>
                <a:latin typeface="Arial"/>
              </a:rPr>
              <a:t>звать всех по возрасту и интервалу</a:t>
            </a:r>
            <a:r>
              <a:rPr sz="1500" b="0" i="0">
                <a:solidFill>
                  <a:srgbClr val="21295C"/>
                </a:solidFill>
                <a:latin typeface="Arial"/>
              </a:rPr>
              <a:t> — шведская программа, контрольная группа.</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Порог — это документ.</a:t>
            </a:r>
            <a:r>
              <a:rPr sz="1500" b="0" i="0">
                <a:solidFill>
                  <a:srgbClr val="21295C"/>
                </a:solidFill>
                <a:latin typeface="Arial"/>
              </a:rPr>
              <a:t> Возраст и интервал назначены раньше, чем кто-либо измерил точность прибора.</a:t>
            </a:r>
          </a:p>
        </p:txBody>
      </p:sp>
      <p:sp>
        <p:nvSpPr>
          <p:cNvPr id="14" name="TextBox 13"/>
          <p:cNvSpPr txBox="1"/>
          <p:nvPr/>
        </p:nvSpPr>
        <p:spPr>
          <a:xfrm>
            <a:off x="6278727" y="3285324"/>
            <a:ext cx="5373471" cy="295088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За ложным вызовом стоят повторный снимок, иногда биопсия и недели, которые человек живёт с открытым вопросом</a:t>
            </a:r>
          </a:p>
          <a:p>
            <a:pPr algn="l">
              <a:lnSpc>
                <a:spcPct val="126000"/>
              </a:lnSpc>
              <a:spcBef>
                <a:spcPts val="700"/>
              </a:spcBef>
            </a:pPr>
            <a:r>
              <a:rPr sz="1500" b="0" i="0">
                <a:solidFill>
                  <a:srgbClr val="21295C"/>
                </a:solidFill>
                <a:latin typeface="Arial"/>
              </a:rPr>
              <a:t/>
            </a:r>
            <a:r>
              <a:rPr sz="1500" b="0" i="0">
                <a:solidFill>
                  <a:srgbClr val="21295C"/>
                </a:solidFill>
                <a:latin typeface="Arial"/>
              </a:rPr>
              <a:t>• Счёт цены пропуска предъявляется в контрольной линии: там у него есть и вторая половина, и оговорка о значимости</a:t>
            </a:r>
          </a:p>
          <a:p>
            <a:pPr algn="l">
              <a:lnSpc>
                <a:spcPct val="126000"/>
              </a:lnSpc>
              <a:spcBef>
                <a:spcPts val="700"/>
              </a:spcBef>
            </a:pPr>
            <a:r>
              <a:rPr sz="1500" b="0" i="0">
                <a:solidFill>
                  <a:srgbClr val="21295C"/>
                </a:solidFill>
                <a:latin typeface="Arial"/>
              </a:rPr>
              <a:t/>
            </a:r>
            <a:r>
              <a:rPr sz="1500" b="0" i="0">
                <a:solidFill>
                  <a:srgbClr val="21295C"/>
                </a:solidFill>
                <a:latin typeface="Arial"/>
              </a:rPr>
              <a:t>• Порог назначает тот, кто решил, что хуже — пропустить или позвать лишнего</a:t>
            </a:r>
          </a:p>
        </p:txBody>
      </p:sp>
      <p:sp>
        <p:nvSpPr>
          <p:cNvPr id="15" name="Rectangle 14"/>
          <p:cNvSpPr/>
          <p:nvPr/>
        </p:nvSpPr>
        <p:spPr>
          <a:xfrm>
            <a:off x="6091275" y="3285324"/>
            <a:ext cx="9144" cy="2257227"/>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Рандомизированное исследование шведской программы скрининга, контрольная группа — промежуточные данные 2023</a:t>
            </a:r>
            <a:r>
              <a:rPr sz="1200" b="0" i="1">
                <a:solidFill>
                  <a:srgbClr val="1C7293"/>
                </a:solidFill>
                <a:latin typeface="Arial"/>
              </a:rPr>
              <a:t> · </a:t>
            </a:r>
            <a:r>
              <a:rPr sz="1200" b="0" i="1" u="sng">
                <a:solidFill>
                  <a:srgbClr val="065A82"/>
                </a:solidFill>
                <a:latin typeface="Arial"/>
                <a:hlinkClick r:id="rId3"/>
              </a:rPr>
              <a:t>итоговые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Без модели, режим второй: ждать жалобу</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БЕЗ ПРИГЛАШЕНИЯ</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57 из ста найденных</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91 случай из 159 — стадия II и выше</a:t>
            </a:r>
          </a:p>
        </p:txBody>
      </p:sp>
      <p:sp>
        <p:nvSpPr>
          <p:cNvPr id="8" name="Rounded Rectangle 7"/>
          <p:cNvSpPr/>
          <p:nvPr/>
        </p:nvSpPr>
        <p:spPr>
          <a:xfrm>
            <a:off x="6178143"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 ПРИГЛАШЕНИЕМ</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39 из ста найденных</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62 случая из 160 — та же единица, другая группа того же испытания</a:t>
            </a:r>
          </a:p>
        </p:txBody>
      </p:sp>
      <p:sp>
        <p:nvSpPr>
          <p:cNvPr id="12" name="Rounded Rectangle 11"/>
          <p:cNvSpPr/>
          <p:nvPr/>
        </p:nvSpPr>
        <p:spPr>
          <a:xfrm>
            <a:off x="374904" y="2592217"/>
            <a:ext cx="11441887" cy="2650372"/>
          </a:xfrm>
          <a:prstGeom prst="roundRect">
            <a:avLst>
              <a:gd name="adj" fmla="val 11500"/>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683657"/>
            <a:ext cx="5373471" cy="355255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Режим: </a:t>
            </a:r>
            <a:r>
              <a:rPr sz="1500" b="1" i="0">
                <a:solidFill>
                  <a:srgbClr val="21295C"/>
                </a:solidFill>
                <a:latin typeface="Arial"/>
              </a:rPr>
              <a:t>ждать жалобу</a:t>
            </a:r>
            <a:r>
              <a:rPr sz="1500" b="0" i="0">
                <a:solidFill>
                  <a:srgbClr val="21295C"/>
                </a:solidFill>
                <a:latin typeface="Arial"/>
              </a:rPr>
              <a:t> — человек приходит сам, когда почувствовал.</a:t>
            </a:r>
          </a:p>
          <a:p>
            <a:pPr algn="l">
              <a:lnSpc>
                <a:spcPct val="126000"/>
              </a:lnSpc>
              <a:spcBef>
                <a:spcPts val="700"/>
              </a:spcBef>
            </a:pPr>
            <a:r>
              <a:rPr sz="1500" b="0" i="0">
                <a:solidFill>
                  <a:srgbClr val="21295C"/>
                </a:solidFill>
                <a:latin typeface="Arial"/>
              </a:rPr>
              <a:t/>
            </a:r>
            <a:r>
              <a:rPr sz="1500" b="1" i="0">
                <a:solidFill>
                  <a:srgbClr val="21295C"/>
                </a:solidFill>
                <a:latin typeface="Arial"/>
              </a:rPr>
              <a:t>Находка приходит позже и стадией крупнее — и это измерено.</a:t>
            </a:r>
          </a:p>
          <a:p>
            <a:pPr algn="l">
              <a:lnSpc>
                <a:spcPct val="126000"/>
              </a:lnSpc>
              <a:spcBef>
                <a:spcPts val="700"/>
              </a:spcBef>
            </a:pPr>
            <a:r>
              <a:rPr sz="1500" b="0" i="0">
                <a:solidFill>
                  <a:srgbClr val="21295C"/>
                </a:solidFill>
                <a:latin typeface="Arial"/>
              </a:rPr>
              <a:t/>
            </a:r>
            <a:r>
              <a:rPr sz="1500" b="0" i="0">
                <a:solidFill>
                  <a:srgbClr val="21295C"/>
                </a:solidFill>
                <a:latin typeface="Arial"/>
              </a:rPr>
              <a:t>• База: Мальмёское рандомизированное испытание, распределявшее приглашение случайно; набор шёл с середины семидесятых по середину восьмидесятых</a:t>
            </a:r>
          </a:p>
        </p:txBody>
      </p:sp>
      <p:sp>
        <p:nvSpPr>
          <p:cNvPr id="14" name="TextBox 13"/>
          <p:cNvSpPr txBox="1"/>
          <p:nvPr/>
        </p:nvSpPr>
        <p:spPr>
          <a:xfrm>
            <a:off x="6278727" y="2683657"/>
            <a:ext cx="5373471" cy="355255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Доля поздних стадий среди найденных не зависит от того, сколько нашли, — только от того, когда нашли</a:t>
            </a:r>
          </a:p>
          <a:p>
            <a:pPr algn="l">
              <a:lnSpc>
                <a:spcPct val="126000"/>
              </a:lnSpc>
              <a:spcBef>
                <a:spcPts val="700"/>
              </a:spcBef>
            </a:pPr>
            <a:r>
              <a:rPr sz="1200" b="0" i="0">
                <a:solidFill>
                  <a:srgbClr val="21295C"/>
                </a:solidFill>
                <a:latin typeface="Arial"/>
              </a:rPr>
              <a:t/>
            </a:r>
            <a:r>
              <a:rPr sz="1200" b="0" i="1">
                <a:solidFill>
                  <a:srgbClr val="1C7293"/>
                </a:solidFill>
                <a:latin typeface="Arial"/>
              </a:rPr>
              <a:t>Измерение того режима в единственный момент, когда его измеряли случайным распределением — пока скрининг вводили; сегодня его так не измерить.</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Поставщик сравнивает систему «с тем, как было раньше» — спрашивайте, какое именно «раньше» он посчитал и в каких единицах.</a:t>
            </a:r>
          </a:p>
        </p:txBody>
      </p:sp>
      <p:sp>
        <p:nvSpPr>
          <p:cNvPr id="15" name="Rectangle 14"/>
          <p:cNvSpPr/>
          <p:nvPr/>
        </p:nvSpPr>
        <p:spPr>
          <a:xfrm>
            <a:off x="6091275" y="2683657"/>
            <a:ext cx="9144" cy="2376052"/>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Мальмёское рандомизированное испытание маммографического скрининга (набор 1976–1986)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С моделью, то же поле: сортировка потока по предсказанному риску</a:t>
            </a:r>
          </a:p>
        </p:txBody>
      </p:sp>
      <p:sp>
        <p:nvSpPr>
          <p:cNvPr id="4" name="Rounded Rectangle 3"/>
          <p:cNvSpPr/>
          <p:nvPr/>
        </p:nvSpPr>
        <p:spPr>
          <a:xfrm>
            <a:off x="502920"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ЧЕЛОВЕЧЕСКОГО ЧТЕНИЯ МЕНЬШЕ</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на 44,3 процента</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промежуточный анализ, 80 033 женщины</a:t>
            </a:r>
          </a:p>
        </p:txBody>
      </p:sp>
      <p:sp>
        <p:nvSpPr>
          <p:cNvPr id="8" name="Rounded Rectangle 7"/>
          <p:cNvSpPr/>
          <p:nvPr/>
        </p:nvSpPr>
        <p:spPr>
          <a:xfrm>
            <a:off x="4286402"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ЧУВСТВИТЕЛЬНОСТЬ</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80,5 против 73,8 из ста</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итоговый анализ той же программы, 105 934 женщины</a:t>
            </a:r>
          </a:p>
        </p:txBody>
      </p:sp>
      <p:sp>
        <p:nvSpPr>
          <p:cNvPr id="12" name="Rounded Rectangle 11"/>
          <p:cNvSpPr/>
          <p:nvPr/>
        </p:nvSpPr>
        <p:spPr>
          <a:xfrm>
            <a:off x="8069884" y="1335024"/>
            <a:ext cx="3618890"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ГЕРМАНСКАЯ ПРОГРАММА — ВЫЯВЛЕНИЕ НА 1000</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6,7 с моделью · 5,7 без неё</a:t>
            </a:r>
          </a:p>
        </p:txBody>
      </p:sp>
      <p:sp>
        <p:nvSpPr>
          <p:cNvPr id="15" name="TextBox 14"/>
          <p:cNvSpPr txBox="1"/>
          <p:nvPr/>
        </p:nvSpPr>
        <p:spPr>
          <a:xfrm>
            <a:off x="8207044"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463 094 женщины, 260 739 с моделью; внедрение наблюдательное</a:t>
            </a:r>
          </a:p>
        </p:txBody>
      </p:sp>
      <p:sp>
        <p:nvSpPr>
          <p:cNvPr id="16" name="Rounded Rectangle 15"/>
          <p:cNvSpPr/>
          <p:nvPr/>
        </p:nvSpPr>
        <p:spPr>
          <a:xfrm>
            <a:off x="374904" y="3401355"/>
            <a:ext cx="11441887" cy="2834852"/>
          </a:xfrm>
          <a:prstGeom prst="roundRect">
            <a:avLst>
              <a:gd name="adj" fmla="val 10751"/>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492795"/>
            <a:ext cx="5373471" cy="2743412"/>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Испытание со случайным распределением: одно плечо читает по-прежнему, во втором модель сортирует поток по риску.</a:t>
            </a:r>
          </a:p>
          <a:p>
            <a:pPr algn="l">
              <a:lnSpc>
                <a:spcPct val="126000"/>
              </a:lnSpc>
              <a:spcBef>
                <a:spcPts val="700"/>
              </a:spcBef>
            </a:pPr>
            <a:r>
              <a:rPr sz="1350" b="0" i="0">
                <a:solidFill>
                  <a:srgbClr val="21295C"/>
                </a:solidFill>
                <a:latin typeface="Arial"/>
              </a:rPr>
              <a:t/>
            </a:r>
            <a:r>
              <a:rPr sz="1350" b="1" i="0">
                <a:solidFill>
                  <a:srgbClr val="21295C"/>
                </a:solidFill>
                <a:latin typeface="Arial"/>
              </a:rPr>
              <a:t>Два числа взяты с разных выборок и в один список не складываются:</a:t>
            </a:r>
            <a:r>
              <a:rPr sz="1350" b="0" i="0">
                <a:solidFill>
                  <a:srgbClr val="21295C"/>
                </a:solidFill>
                <a:latin typeface="Arial"/>
              </a:rPr>
              <a:t> объём чтения — промежуточный анализ, чувствительность — итоговый.</a:t>
            </a:r>
          </a:p>
          <a:p>
            <a:pPr algn="l">
              <a:lnSpc>
                <a:spcPct val="126000"/>
              </a:lnSpc>
              <a:spcBef>
                <a:spcPts val="700"/>
              </a:spcBef>
            </a:pPr>
            <a:r>
              <a:rPr sz="1350" b="0" i="0">
                <a:solidFill>
                  <a:srgbClr val="21295C"/>
                </a:solidFill>
                <a:latin typeface="Arial"/>
              </a:rPr>
              <a:t/>
            </a:r>
            <a:r>
              <a:rPr sz="1350" b="1" i="0">
                <a:solidFill>
                  <a:srgbClr val="21295C"/>
                </a:solidFill>
                <a:latin typeface="Arial"/>
              </a:rPr>
              <a:t>Второго независимого человека большинство обследованных больше не получает.</a:t>
            </a:r>
            <a:r>
              <a:rPr sz="1350" b="0" i="0">
                <a:solidFill>
                  <a:srgbClr val="21295C"/>
                </a:solidFill>
                <a:latin typeface="Arial"/>
              </a:rPr>
              <a:t> Цена здесь — свойство устройства процедуры. К точности прибора она не относится.</a:t>
            </a:r>
          </a:p>
        </p:txBody>
      </p:sp>
      <p:sp>
        <p:nvSpPr>
          <p:cNvPr id="18" name="TextBox 17"/>
          <p:cNvSpPr txBox="1"/>
          <p:nvPr/>
        </p:nvSpPr>
        <p:spPr>
          <a:xfrm>
            <a:off x="6278727" y="3492795"/>
            <a:ext cx="5373471" cy="2743412"/>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Охват публикуют, устройство работы — нет.</a:t>
            </a:r>
          </a:p>
          <a:p>
            <a:pPr algn="l">
              <a:lnSpc>
                <a:spcPct val="126000"/>
              </a:lnSpc>
              <a:spcBef>
                <a:spcPts val="700"/>
              </a:spcBef>
            </a:pPr>
            <a:r>
              <a:rPr sz="1350" b="0" i="0">
                <a:solidFill>
                  <a:srgbClr val="21295C"/>
                </a:solidFill>
                <a:latin typeface="Arial"/>
              </a:rPr>
              <a:t/>
            </a:r>
            <a:r>
              <a:rPr sz="1350" b="0" i="0">
                <a:solidFill>
                  <a:srgbClr val="21295C"/>
                </a:solidFill>
                <a:latin typeface="Arial"/>
              </a:rPr>
              <a:t>• Германская программа: как работа распределилась между моделью и вторым читателем, не опубликовано</a:t>
            </a:r>
          </a:p>
          <a:p>
            <a:pPr algn="l">
              <a:lnSpc>
                <a:spcPct val="126000"/>
              </a:lnSpc>
              <a:spcBef>
                <a:spcPts val="700"/>
              </a:spcBef>
            </a:pPr>
            <a:r>
              <a:rPr sz="1350" b="0" i="0">
                <a:solidFill>
                  <a:srgbClr val="21295C"/>
                </a:solidFill>
                <a:latin typeface="Arial"/>
              </a:rPr>
              <a:t/>
            </a:r>
            <a:r>
              <a:rPr sz="1350" b="0" i="0">
                <a:solidFill>
                  <a:srgbClr val="21295C"/>
                </a:solidFill>
                <a:latin typeface="Arial"/>
              </a:rPr>
              <a:t>• Отечественная платформа лучевой диагностики — свыше </a:t>
            </a:r>
            <a:r>
              <a:rPr sz="1350" b="1" i="0">
                <a:solidFill>
                  <a:srgbClr val="21295C"/>
                </a:solidFill>
                <a:latin typeface="Arial"/>
              </a:rPr>
              <a:t>16 млн</a:t>
            </a:r>
            <a:r>
              <a:rPr sz="1350" b="0" i="0">
                <a:solidFill>
                  <a:srgbClr val="21295C"/>
                </a:solidFill>
                <a:latin typeface="Arial"/>
              </a:rPr>
              <a:t> исследований в </a:t>
            </a:r>
            <a:r>
              <a:rPr sz="1350" b="1" i="0">
                <a:solidFill>
                  <a:srgbClr val="21295C"/>
                </a:solidFill>
                <a:latin typeface="Arial"/>
              </a:rPr>
              <a:t>75 регионах</a:t>
            </a:r>
            <a:r>
              <a:rPr sz="1350" b="0" i="0">
                <a:solidFill>
                  <a:srgbClr val="21295C"/>
                </a:solidFill>
                <a:latin typeface="Arial"/>
              </a:rPr>
              <a:t>; методика подсчёта не раскрыта</a:t>
            </a:r>
          </a:p>
          <a:p>
            <a:pPr algn="l">
              <a:lnSpc>
                <a:spcPct val="126000"/>
              </a:lnSpc>
              <a:spcBef>
                <a:spcPts val="700"/>
              </a:spcBef>
            </a:pPr>
            <a:r>
              <a:rPr sz="1350" b="0" i="0">
                <a:solidFill>
                  <a:srgbClr val="21295C"/>
                </a:solidFill>
                <a:latin typeface="Arial"/>
              </a:rPr>
              <a:t/>
            </a:r>
            <a:r>
              <a:rPr sz="1350" b="0" i="0">
                <a:solidFill>
                  <a:srgbClr val="21295C"/>
                </a:solidFill>
                <a:latin typeface="Arial"/>
              </a:rPr>
              <a:t>• Сколько исследований в стране за год — не опубликовано: доля охвата не считается</a:t>
            </a:r>
          </a:p>
          <a:p>
            <a:pPr algn="l">
              <a:lnSpc>
                <a:spcPct val="126000"/>
              </a:lnSpc>
              <a:spcBef>
                <a:spcPts val="700"/>
              </a:spcBef>
            </a:pPr>
            <a:r>
              <a:rPr sz="1100" b="0" i="0">
                <a:solidFill>
                  <a:srgbClr val="21295C"/>
                </a:solidFill>
                <a:latin typeface="Arial"/>
              </a:rPr>
              <a:t/>
            </a:r>
            <a:r>
              <a:rPr sz="1100" b="0" i="1">
                <a:solidFill>
                  <a:srgbClr val="1C7293"/>
                </a:solidFill>
                <a:latin typeface="Arial"/>
              </a:rPr>
              <a:t>В Швеции второго читателя заменили, в Германии сохранили: одна фраза «внедрили модель в скрининг» означает две разные процедуры.</a:t>
            </a:r>
          </a:p>
        </p:txBody>
      </p:sp>
      <p:sp>
        <p:nvSpPr>
          <p:cNvPr id="19" name="Rectangle 18"/>
          <p:cNvSpPr/>
          <p:nvPr/>
        </p:nvSpPr>
        <p:spPr>
          <a:xfrm>
            <a:off x="6091275" y="3492795"/>
            <a:ext cx="9144" cy="2662774"/>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Шведская программа скрининга: промежуточный анализ безопасности</a:t>
            </a:r>
            <a:r>
              <a:rPr sz="1200" b="0" i="1">
                <a:solidFill>
                  <a:srgbClr val="1C7293"/>
                </a:solidFill>
                <a:latin typeface="Arial"/>
              </a:rPr>
              <a:t> · </a:t>
            </a:r>
            <a:r>
              <a:rPr sz="1200" b="0" i="1" u="sng">
                <a:solidFill>
                  <a:srgbClr val="065A82"/>
                </a:solidFill>
                <a:latin typeface="Arial"/>
                <a:hlinkClick r:id="rId3"/>
              </a:rPr>
              <a:t>итоговый анализ</a:t>
            </a:r>
            <a:r>
              <a:rPr sz="1200" b="0" i="1">
                <a:solidFill>
                  <a:srgbClr val="1C7293"/>
                </a:solidFill>
                <a:latin typeface="Arial"/>
              </a:rPr>
              <a:t> · </a:t>
            </a:r>
            <a:r>
              <a:rPr sz="1200" b="0" i="1" u="sng">
                <a:solidFill>
                  <a:srgbClr val="065A82"/>
                </a:solidFill>
                <a:latin typeface="Arial"/>
                <a:hlinkClick r:id="rId4"/>
              </a:rPr>
              <a:t>Eisemann N. и соавторы, PRAIM, Nature Medicine 2025;31(3):917–924</a:t>
            </a:r>
            <a:r>
              <a:rPr sz="1200" b="0" i="1">
                <a:solidFill>
                  <a:srgbClr val="1C7293"/>
                </a:solidFill>
                <a:latin typeface="Arial"/>
              </a:rPr>
              <a:t> · </a:t>
            </a:r>
            <a:r>
              <a:rPr sz="1200" b="0" i="1">
                <a:solidFill>
                  <a:srgbClr val="1C7293"/>
                </a:solidFill>
                <a:latin typeface="Arial"/>
              </a:rPr>
              <a:t>материалы отечественной платформы лучевой диагностики, срез 28 июля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чат-бот первой линии</a:t>
            </a:r>
          </a:p>
        </p:txBody>
      </p:sp>
      <p:sp>
        <p:nvSpPr>
          <p:cNvPr id="4" name="Rounded Rectangle 3"/>
          <p:cNvSpPr/>
          <p:nvPr/>
        </p:nvSpPr>
        <p:spPr>
          <a:xfrm>
            <a:off x="502920" y="1335024"/>
            <a:ext cx="5510631"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ЭКЗАМЕНАЦИОННЫХ ВОПРОСАХ</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81 у приложения · 72 у врачей</a:t>
            </a:r>
          </a:p>
        </p:txBody>
      </p:sp>
      <p:sp>
        <p:nvSpPr>
          <p:cNvPr id="7" name="TextBox 6"/>
          <p:cNvSpPr txBox="1"/>
          <p:nvPr/>
        </p:nvSpPr>
        <p:spPr>
          <a:xfrm>
            <a:off x="640080"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вопросы для начинающих врачей; коллегия назвала заявления сомнительными</a:t>
            </a:r>
          </a:p>
        </p:txBody>
      </p:sp>
      <p:sp>
        <p:nvSpPr>
          <p:cNvPr id="8" name="Rounded Rectangle 7"/>
          <p:cNvSpPr/>
          <p:nvPr/>
        </p:nvSpPr>
        <p:spPr>
          <a:xfrm>
            <a:off x="6178143" y="1335024"/>
            <a:ext cx="5510631"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НЕЗАВИСИМЫЙ ТЕСТ ГОДОМ РАНЬШЕ</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из трёх приложений — наименее точное</a:t>
            </a:r>
          </a:p>
        </p:txBody>
      </p:sp>
      <p:sp>
        <p:nvSpPr>
          <p:cNvPr id="11" name="Rounded Rectangle 10"/>
          <p:cNvSpPr/>
          <p:nvPr/>
        </p:nvSpPr>
        <p:spPr>
          <a:xfrm>
            <a:off x="374904" y="2803461"/>
            <a:ext cx="11441887" cy="3432746"/>
          </a:xfrm>
          <a:prstGeom prst="roundRect">
            <a:avLst>
              <a:gd name="adj" fmla="val 8879"/>
            </a:avLst>
          </a:prstGeom>
          <a:solidFill>
            <a:srgbClr val="F4F7FA"/>
          </a:solidFill>
          <a:ln w="19050">
            <a:solidFill>
              <a:srgbClr val="1C7293"/>
            </a:solidFill>
          </a:ln>
          <a:effectLst/>
        </p:spPr>
        <p:txBody>
          <a:bodyPr rtlCol="0" anchor="ctr"/>
          <a:lstStyle/>
          <a:p>
            <a:pPr algn="ctr"/>
          </a:p>
        </p:txBody>
      </p:sp>
      <p:sp>
        <p:nvSpPr>
          <p:cNvPr id="12" name="TextBox 11"/>
          <p:cNvSpPr txBox="1"/>
          <p:nvPr/>
        </p:nvSpPr>
        <p:spPr>
          <a:xfrm>
            <a:off x="539496" y="2894901"/>
            <a:ext cx="5373471" cy="334130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Цена обеих ошибок в сортировке обращений:</a:t>
            </a:r>
          </a:p>
          <a:p>
            <a:pPr algn="l">
              <a:lnSpc>
                <a:spcPct val="126000"/>
              </a:lnSpc>
              <a:spcBef>
                <a:spcPts val="700"/>
              </a:spcBef>
            </a:pPr>
            <a:r>
              <a:rPr sz="1500" b="0" i="0">
                <a:solidFill>
                  <a:srgbClr val="21295C"/>
                </a:solidFill>
                <a:latin typeface="Arial"/>
              </a:rPr>
              <a:t/>
            </a:r>
            <a:r>
              <a:rPr sz="1500" b="0" i="0">
                <a:solidFill>
                  <a:srgbClr val="21295C"/>
                </a:solidFill>
                <a:latin typeface="Arial"/>
              </a:rPr>
              <a:t>• пропустить того, кому нужно сейчас</a:t>
            </a:r>
          </a:p>
          <a:p>
            <a:pPr algn="l">
              <a:lnSpc>
                <a:spcPct val="126000"/>
              </a:lnSpc>
              <a:spcBef>
                <a:spcPts val="700"/>
              </a:spcBef>
            </a:pPr>
            <a:r>
              <a:rPr sz="1500" b="0" i="0">
                <a:solidFill>
                  <a:srgbClr val="21295C"/>
                </a:solidFill>
                <a:latin typeface="Arial"/>
              </a:rPr>
              <a:t/>
            </a:r>
            <a:r>
              <a:rPr sz="1500" b="0" i="0">
                <a:solidFill>
                  <a:srgbClr val="21295C"/>
                </a:solidFill>
                <a:latin typeface="Arial"/>
              </a:rPr>
              <a:t>• занять приём тем, кому не нужно</a:t>
            </a:r>
          </a:p>
          <a:p>
            <a:pPr algn="l">
              <a:lnSpc>
                <a:spcPct val="126000"/>
              </a:lnSpc>
              <a:spcBef>
                <a:spcPts val="700"/>
              </a:spcBef>
            </a:pPr>
            <a:r>
              <a:rPr sz="1500" b="0" i="0">
                <a:solidFill>
                  <a:srgbClr val="21295C"/>
                </a:solidFill>
                <a:latin typeface="Arial"/>
              </a:rPr>
              <a:t/>
            </a:r>
            <a:r>
              <a:rPr sz="1500" b="0" i="0">
                <a:solidFill>
                  <a:srgbClr val="21295C"/>
                </a:solidFill>
                <a:latin typeface="Arial"/>
              </a:rPr>
              <a:t>• и цена самого канала</a:t>
            </a:r>
          </a:p>
          <a:p>
            <a:pPr algn="l">
              <a:lnSpc>
                <a:spcPct val="126000"/>
              </a:lnSpc>
              <a:spcBef>
                <a:spcPts val="700"/>
              </a:spcBef>
            </a:pPr>
            <a:r>
              <a:rPr sz="1500" b="0" i="0">
                <a:solidFill>
                  <a:srgbClr val="21295C"/>
                </a:solidFill>
                <a:latin typeface="Arial"/>
              </a:rPr>
              <a:t/>
            </a:r>
            <a:r>
              <a:rPr sz="1500" b="1" i="0">
                <a:solidFill>
                  <a:srgbClr val="21295C"/>
                </a:solidFill>
                <a:latin typeface="Arial"/>
              </a:rPr>
              <a:t>Вместо модели предъявили экзаменационный балл, а он основанием не служит:</a:t>
            </a:r>
            <a:r>
              <a:rPr sz="1500" b="0" i="0">
                <a:solidFill>
                  <a:srgbClr val="21295C"/>
                </a:solidFill>
                <a:latin typeface="Arial"/>
              </a:rPr>
              <a:t> вопрос экзамена приходит сформулированным, живое обращение — нет.</a:t>
            </a:r>
          </a:p>
        </p:txBody>
      </p:sp>
      <p:sp>
        <p:nvSpPr>
          <p:cNvPr id="13" name="TextBox 12"/>
          <p:cNvSpPr txBox="1"/>
          <p:nvPr/>
        </p:nvSpPr>
        <p:spPr>
          <a:xfrm>
            <a:off x="6278727" y="2894901"/>
            <a:ext cx="5373471" cy="334130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Уберите модель — и сервис продолжит работать.</a:t>
            </a:r>
            <a:r>
              <a:rPr sz="1500" b="0" i="0">
                <a:solidFill>
                  <a:srgbClr val="21295C"/>
                </a:solidFill>
                <a:latin typeface="Arial"/>
              </a:rPr>
              <a:t> Внутри, по заявлению бывшего руководителя регуляторных вопросов компании, стояло дерево решений если-то, собранное в таблице.</a:t>
            </a:r>
          </a:p>
          <a:p>
            <a:pPr algn="l">
              <a:lnSpc>
                <a:spcPct val="126000"/>
              </a:lnSpc>
              <a:spcBef>
                <a:spcPts val="700"/>
              </a:spcBef>
            </a:pPr>
            <a:r>
              <a:rPr sz="1200" b="0" i="0">
                <a:solidFill>
                  <a:srgbClr val="21295C"/>
                </a:solidFill>
                <a:latin typeface="Arial"/>
              </a:rPr>
              <a:t/>
            </a:r>
            <a:r>
              <a:rPr sz="1200" b="0" i="1">
                <a:solidFill>
                  <a:srgbClr val="1C7293"/>
                </a:solidFill>
                <a:latin typeface="Arial"/>
              </a:rPr>
              <a:t>Слова участника; аудита не было.</a:t>
            </a:r>
          </a:p>
          <a:p>
            <a:pPr algn="l">
              <a:lnSpc>
                <a:spcPct val="126000"/>
              </a:lnSpc>
              <a:spcBef>
                <a:spcPts val="700"/>
              </a:spcBef>
            </a:pPr>
            <a:r>
              <a:rPr sz="1500" b="0" i="0">
                <a:solidFill>
                  <a:srgbClr val="21295C"/>
                </a:solidFill>
                <a:latin typeface="Arial"/>
              </a:rPr>
              <a:t/>
            </a:r>
            <a:r>
              <a:rPr sz="1500" b="0" i="0">
                <a:solidFill>
                  <a:srgbClr val="21295C"/>
                </a:solidFill>
                <a:latin typeface="Arial"/>
              </a:rPr>
              <a:t>Чем это делают сегодня — </a:t>
            </a:r>
            <a:r>
              <a:rPr sz="1500" b="0" i="1">
                <a:solidFill>
                  <a:srgbClr val="21295C"/>
                </a:solidFill>
                <a:latin typeface="Arial"/>
              </a:rPr>
              <a:t>поиск с генерацией на тексте</a:t>
            </a:r>
            <a:r>
              <a:rPr sz="1500" b="0" i="0">
                <a:solidFill>
                  <a:srgbClr val="21295C"/>
                </a:solidFill>
                <a:latin typeface="Arial"/>
              </a:rPr>
              <a:t>: запись приёма под диктовку принимается, сортировка обращения после этого случая — нет.</a:t>
            </a:r>
          </a:p>
          <a:p>
            <a:pPr algn="l">
              <a:lnSpc>
                <a:spcPct val="126000"/>
              </a:lnSpc>
              <a:spcBef>
                <a:spcPts val="700"/>
              </a:spcBef>
            </a:pPr>
            <a:r>
              <a:rPr sz="1500" b="0" i="0">
                <a:solidFill>
                  <a:srgbClr val="21295C"/>
                </a:solidFill>
                <a:latin typeface="Arial"/>
              </a:rPr>
              <a:t/>
            </a:r>
            <a:r>
              <a:rPr sz="1500" b="0" i="0">
                <a:solidFill>
                  <a:srgbClr val="21295C"/>
                </a:solidFill>
                <a:latin typeface="Arial"/>
              </a:rPr>
              <a:t>Редкое от частого в открытом потоке этот режим не отличает.</a:t>
            </a:r>
          </a:p>
        </p:txBody>
      </p:sp>
      <p:sp>
        <p:nvSpPr>
          <p:cNvPr id="14" name="Rectangle 13"/>
          <p:cNvSpPr/>
          <p:nvPr/>
        </p:nvSpPr>
        <p:spPr>
          <a:xfrm>
            <a:off x="6091275" y="2894901"/>
            <a:ext cx="9144" cy="3177899"/>
          </a:xfrm>
          <a:prstGeom prst="rect">
            <a:avLst/>
          </a:prstGeom>
          <a:solidFill>
            <a:srgbClr val="D9E2EC"/>
          </a:solidFill>
          <a:ln>
            <a:noFill/>
          </a:ln>
          <a:effectLst/>
        </p:spPr>
        <p:txBody>
          <a:bodyPr rtlCol="0" anchor="ctr"/>
          <a:lstStyle/>
          <a:p>
            <a:pPr algn="ctr"/>
          </a:p>
        </p:txBody>
      </p:sp>
      <p:sp>
        <p:nvSpPr>
          <p:cNvPr id="15" name="Rectangle 1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Независимый сравнительный тест, 2017</a:t>
            </a:r>
            <a:r>
              <a:rPr sz="1200" b="0" i="1">
                <a:solidFill>
                  <a:srgbClr val="1C7293"/>
                </a:solidFill>
                <a:latin typeface="Arial"/>
              </a:rPr>
              <a:t> · </a:t>
            </a:r>
            <a:r>
              <a:rPr sz="1200" b="0" i="1">
                <a:solidFill>
                  <a:srgbClr val="1C7293"/>
                </a:solidFill>
                <a:latin typeface="Arial"/>
              </a:rPr>
              <a:t>публичное заявление коллегии врачей общей практики, 2018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та же сумма на выросшее число обращений</a:t>
            </a:r>
          </a:p>
        </p:txBody>
      </p:sp>
      <p:sp>
        <p:nvSpPr>
          <p:cNvPr id="4" name="Rounded Rectangle 3"/>
          <p:cNvSpPr/>
          <p:nvPr/>
        </p:nvSpPr>
        <p:spPr>
          <a:xfrm>
            <a:off x="502920"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ПЛАТЯТ ПРАКТИКЕ</a:t>
            </a:r>
          </a:p>
        </p:txBody>
      </p:sp>
      <p:sp>
        <p:nvSpPr>
          <p:cNvPr id="6" name="TextBox 5"/>
          <p:cNvSpPr txBox="1"/>
          <p:nvPr/>
        </p:nvSpPr>
        <p:spPr>
          <a:xfrm>
            <a:off x="640080" y="1725375"/>
            <a:ext cx="2398699" cy="732547"/>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около 155 фунтов за человека в год</a:t>
            </a:r>
          </a:p>
        </p:txBody>
      </p:sp>
      <p:sp>
        <p:nvSpPr>
          <p:cNvPr id="7" name="TextBox 6"/>
          <p:cNvSpPr txBox="1"/>
          <p:nvPr/>
        </p:nvSpPr>
        <p:spPr>
          <a:xfrm>
            <a:off x="640080" y="2457923"/>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2018/19; от числа обращений не зависит</a:t>
            </a:r>
          </a:p>
        </p:txBody>
      </p:sp>
      <p:sp>
        <p:nvSpPr>
          <p:cNvPr id="8" name="Rounded Rectangle 7"/>
          <p:cNvSpPr/>
          <p:nvPr/>
        </p:nvSpPr>
        <p:spPr>
          <a:xfrm>
            <a:off x="3340531"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ОБРАЩАЮТСЯ КЛАССИЧЕСКИ</a:t>
            </a:r>
          </a:p>
        </p:txBody>
      </p:sp>
      <p:sp>
        <p:nvSpPr>
          <p:cNvPr id="10" name="TextBox 9"/>
          <p:cNvSpPr txBox="1"/>
          <p:nvPr/>
        </p:nvSpPr>
        <p:spPr>
          <a:xfrm>
            <a:off x="3477691"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4,0 раза в год у 25–44 лет</a:t>
            </a:r>
          </a:p>
        </p:txBody>
      </p:sp>
      <p:sp>
        <p:nvSpPr>
          <p:cNvPr id="11" name="TextBox 10"/>
          <p:cNvSpPr txBox="1"/>
          <p:nvPr/>
        </p:nvSpPr>
        <p:spPr>
          <a:xfrm>
            <a:off x="3477691" y="2542797"/>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 3,26 у 15–24 лет; работа 2016 года</a:t>
            </a:r>
          </a:p>
        </p:txBody>
      </p:sp>
      <p:sp>
        <p:nvSpPr>
          <p:cNvPr id="12" name="Rounded Rectangle 11"/>
          <p:cNvSpPr/>
          <p:nvPr/>
        </p:nvSpPr>
        <p:spPr>
          <a:xfrm>
            <a:off x="6178143"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ОБРАЩАЮТСЯ В СЕРВИСЕ</a:t>
            </a:r>
          </a:p>
        </p:txBody>
      </p:sp>
      <p:sp>
        <p:nvSpPr>
          <p:cNvPr id="14" name="TextBox 13"/>
          <p:cNvSpPr txBox="1"/>
          <p:nvPr/>
        </p:nvSpPr>
        <p:spPr>
          <a:xfrm>
            <a:off x="6315303"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4,3 раза в год</a:t>
            </a:r>
          </a:p>
        </p:txBody>
      </p:sp>
      <p:sp>
        <p:nvSpPr>
          <p:cNvPr id="15" name="TextBox 14"/>
          <p:cNvSpPr txBox="1"/>
          <p:nvPr/>
        </p:nvSpPr>
        <p:spPr>
          <a:xfrm>
            <a:off x="6315303"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оценка по двенадцати месяцам, с экстраполяцией</a:t>
            </a:r>
          </a:p>
        </p:txBody>
      </p:sp>
      <p:sp>
        <p:nvSpPr>
          <p:cNvPr id="16" name="Rounded Rectangle 15"/>
          <p:cNvSpPr/>
          <p:nvPr/>
        </p:nvSpPr>
        <p:spPr>
          <a:xfrm>
            <a:off x="9015755" y="1335024"/>
            <a:ext cx="2673019"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ИТОГ</a:t>
            </a:r>
          </a:p>
        </p:txBody>
      </p:sp>
      <p:sp>
        <p:nvSpPr>
          <p:cNvPr id="18" name="TextBox 17"/>
          <p:cNvSpPr txBox="1"/>
          <p:nvPr/>
        </p:nvSpPr>
        <p:spPr>
          <a:xfrm>
            <a:off x="9152915" y="1725375"/>
            <a:ext cx="2398699" cy="460949"/>
          </a:xfrm>
          <a:prstGeom prst="rect">
            <a:avLst/>
          </a:prstGeom>
          <a:noFill/>
        </p:spPr>
        <p:txBody>
          <a:bodyPr wrap="square" lIns="0" rIns="0" tIns="0" bIns="0" anchor="t">
            <a:spAutoFit/>
          </a:bodyPr>
          <a:lstStyle/>
          <a:p>
            <a:pPr algn="l">
              <a:lnSpc>
                <a:spcPct val="108000"/>
              </a:lnSpc>
            </a:pPr>
            <a:r>
              <a:rPr sz="1250" b="1" i="0">
                <a:solidFill>
                  <a:srgbClr val="F0AB00"/>
                </a:solidFill>
                <a:latin typeface="Arial"/>
              </a:rPr>
              <a:t>оценка 4,2 млрд долларов → активы за 500 тысяч фунтов</a:t>
            </a:r>
          </a:p>
        </p:txBody>
      </p:sp>
      <p:sp>
        <p:nvSpPr>
          <p:cNvPr id="19" name="TextBox 18"/>
          <p:cNvSpPr txBox="1"/>
          <p:nvPr/>
        </p:nvSpPr>
        <p:spPr>
          <a:xfrm>
            <a:off x="9152915" y="218632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две валюты рядом: доллары и фунты</a:t>
            </a:r>
          </a:p>
        </p:txBody>
      </p:sp>
      <p:sp>
        <p:nvSpPr>
          <p:cNvPr id="20" name="Rounded Rectangle 19"/>
          <p:cNvSpPr/>
          <p:nvPr/>
        </p:nvSpPr>
        <p:spPr>
          <a:xfrm>
            <a:off x="374904" y="3193884"/>
            <a:ext cx="11441887" cy="2828609"/>
          </a:xfrm>
          <a:prstGeom prst="roundRect">
            <a:avLst>
              <a:gd name="adj" fmla="val 10775"/>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285324"/>
            <a:ext cx="5373471"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Сумма за человека в год фиксирована, число обращений выросло.</a:t>
            </a:r>
            <a:r>
              <a:rPr sz="1500" b="0" i="0">
                <a:solidFill>
                  <a:srgbClr val="21295C"/>
                </a:solidFill>
                <a:latin typeface="Arial"/>
              </a:rPr>
              <a:t> Делим одно на другое — на каждое обращение приходится меньше.</a:t>
            </a:r>
          </a:p>
          <a:p>
            <a:pPr algn="l">
              <a:lnSpc>
                <a:spcPct val="126000"/>
              </a:lnSpc>
              <a:spcBef>
                <a:spcPts val="700"/>
              </a:spcBef>
            </a:pPr>
            <a:r>
              <a:rPr sz="1500" b="0" i="0">
                <a:solidFill>
                  <a:srgbClr val="21295C"/>
                </a:solidFill>
                <a:latin typeface="Arial"/>
              </a:rPr>
              <a:t/>
            </a:r>
            <a:r>
              <a:rPr sz="1500" b="0" i="0">
                <a:solidFill>
                  <a:srgbClr val="21295C"/>
                </a:solidFill>
                <a:latin typeface="Arial"/>
              </a:rPr>
              <a:t>• Возрасты взяты не средние по стране: сервис почти целиком состоял из молодых</a:t>
            </a:r>
          </a:p>
          <a:p>
            <a:pPr algn="l">
              <a:lnSpc>
                <a:spcPct val="126000"/>
              </a:lnSpc>
              <a:spcBef>
                <a:spcPts val="700"/>
              </a:spcBef>
            </a:pPr>
            <a:r>
              <a:rPr sz="1500" b="0" i="0">
                <a:solidFill>
                  <a:srgbClr val="21295C"/>
                </a:solidFill>
                <a:latin typeface="Arial"/>
              </a:rPr>
              <a:t/>
            </a:r>
            <a:r>
              <a:rPr sz="1500" b="0" i="0">
                <a:solidFill>
                  <a:srgbClr val="21295C"/>
                </a:solidFill>
                <a:latin typeface="Arial"/>
              </a:rPr>
              <a:t>• Двигатель переезда — доступность канала: вход стал мгновенным и бесплатным, и обращений стало больше</a:t>
            </a:r>
          </a:p>
        </p:txBody>
      </p:sp>
      <p:sp>
        <p:nvSpPr>
          <p:cNvPr id="22" name="TextBox 21"/>
          <p:cNvSpPr txBox="1"/>
          <p:nvPr/>
        </p:nvSpPr>
        <p:spPr>
          <a:xfrm>
            <a:off x="6278727" y="3285324"/>
            <a:ext cx="5373471"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Нагрузка переехала на другой шаг</a:t>
            </a:r>
            <a:r>
              <a:rPr sz="1500" b="0" i="0">
                <a:solidFill>
                  <a:srgbClr val="21295C"/>
                </a:solidFill>
                <a:latin typeface="Arial"/>
              </a:rPr>
              <a:t> — с сортировки на приём, и платить за это стало некому.</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сортировку круглосуточно и мгновенно · </a:t>
            </a:r>
            <a:r>
              <a:rPr sz="1500" b="1" i="0">
                <a:solidFill>
                  <a:srgbClr val="21295C"/>
                </a:solidFill>
                <a:latin typeface="Arial"/>
              </a:rPr>
              <a:t>потребовало</a:t>
            </a:r>
            <a:r>
              <a:rPr sz="1500" b="0" i="0">
                <a:solidFill>
                  <a:srgbClr val="21295C"/>
                </a:solidFill>
                <a:latin typeface="Arial"/>
              </a:rPr>
              <a:t> экономики в минус на каждом пациенте и дало случай нераспознанных симптомов · </a:t>
            </a:r>
            <a:r>
              <a:rPr sz="1500" b="1" i="0">
                <a:solidFill>
                  <a:srgbClr val="21295C"/>
                </a:solidFill>
                <a:latin typeface="Arial"/>
              </a:rPr>
              <a:t>в сумме хуже</a:t>
            </a:r>
            <a:r>
              <a:rPr sz="1500" b="0" i="0">
                <a:solidFill>
                  <a:srgbClr val="21295C"/>
                </a:solidFill>
                <a:latin typeface="Arial"/>
              </a:rPr>
              <a:t>: банкротство в августе 2023 года, активы проданы за малую долю оценки</a:t>
            </a:r>
          </a:p>
          <a:p>
            <a:pPr algn="l">
              <a:lnSpc>
                <a:spcPct val="126000"/>
              </a:lnSpc>
              <a:spcBef>
                <a:spcPts val="700"/>
              </a:spcBef>
            </a:pPr>
            <a:r>
              <a:rPr sz="1500" b="0" i="0">
                <a:solidFill>
                  <a:srgbClr val="21295C"/>
                </a:solidFill>
                <a:latin typeface="Arial"/>
              </a:rPr>
              <a:t/>
            </a:r>
            <a:r>
              <a:rPr sz="1500" b="0" i="0">
                <a:solidFill>
                  <a:srgbClr val="21295C"/>
                </a:solidFill>
                <a:latin typeface="Arial"/>
              </a:rPr>
              <a:t>Удешевление входа перестраивает экономику системы раньше, чем кто-нибудь успевает проверить качество.</a:t>
            </a:r>
          </a:p>
        </p:txBody>
      </p:sp>
      <p:sp>
        <p:nvSpPr>
          <p:cNvPr id="23" name="Rectangle 22"/>
          <p:cNvSpPr/>
          <p:nvPr/>
        </p:nvSpPr>
        <p:spPr>
          <a:xfrm>
            <a:off x="6091275" y="3285324"/>
            <a:ext cx="9144" cy="2554289"/>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Итоговый независимый отчёт об оценке сервиса, 2019</a:t>
            </a:r>
            <a:r>
              <a:rPr sz="1200" b="0" i="1">
                <a:solidFill>
                  <a:srgbClr val="1C7293"/>
                </a:solidFill>
                <a:latin typeface="Arial"/>
              </a:rPr>
              <a:t> · </a:t>
            </a:r>
            <a:r>
              <a:rPr sz="1200" b="0" i="1">
                <a:solidFill>
                  <a:srgbClr val="1C7293"/>
                </a:solidFill>
                <a:latin typeface="Arial"/>
              </a:rPr>
              <a:t>статистика выплат национальной службы, 2018/19</a:t>
            </a:r>
            <a:r>
              <a:rPr sz="1200" b="0" i="1">
                <a:solidFill>
                  <a:srgbClr val="1C7293"/>
                </a:solidFill>
                <a:latin typeface="Arial"/>
              </a:rPr>
              <a:t> · </a:t>
            </a:r>
            <a:r>
              <a:rPr sz="1200" b="0" i="1">
                <a:solidFill>
                  <a:srgbClr val="1C7293"/>
                </a:solidFill>
                <a:latin typeface="Arial"/>
              </a:rPr>
              <a:t>материалы о банкротстве, 2023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глазное дно без офтальмолога</a:t>
            </a:r>
          </a:p>
        </p:txBody>
      </p:sp>
      <p:sp>
        <p:nvSpPr>
          <p:cNvPr id="4" name="Rounded Rectangle 3"/>
          <p:cNvSpPr/>
          <p:nvPr/>
        </p:nvSpPr>
        <p:spPr>
          <a:xfrm>
            <a:off x="502920" y="1335024"/>
            <a:ext cx="3800703"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52638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ЯВКА: ДОХОДЯТ ДО СПЕЦИАЛИСТА</a:t>
            </a:r>
          </a:p>
        </p:txBody>
      </p:sp>
      <p:sp>
        <p:nvSpPr>
          <p:cNvPr id="6" name="TextBox 5"/>
          <p:cNvSpPr txBox="1"/>
          <p:nvPr/>
        </p:nvSpPr>
        <p:spPr>
          <a:xfrm>
            <a:off x="640080" y="1725375"/>
            <a:ext cx="352638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22 из ста направленных</a:t>
            </a:r>
          </a:p>
        </p:txBody>
      </p:sp>
      <p:sp>
        <p:nvSpPr>
          <p:cNvPr id="7" name="TextBox 6"/>
          <p:cNvSpPr txBox="1"/>
          <p:nvPr/>
        </p:nvSpPr>
        <p:spPr>
          <a:xfrm>
            <a:off x="640080" y="2152374"/>
            <a:ext cx="352638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рандомизированное испытание: подростки 8–21 года, 81 против 83</a:t>
            </a:r>
          </a:p>
        </p:txBody>
      </p:sp>
      <p:sp>
        <p:nvSpPr>
          <p:cNvPr id="8" name="Rounded Rectangle 7"/>
          <p:cNvSpPr/>
          <p:nvPr/>
        </p:nvSpPr>
        <p:spPr>
          <a:xfrm>
            <a:off x="4468215" y="1335024"/>
            <a:ext cx="3800703"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605375" y="1472184"/>
            <a:ext cx="352638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ЯВКА: ДОХОДЯТ ДО ТЕСТА НА МЕСТЕ</a:t>
            </a:r>
          </a:p>
        </p:txBody>
      </p:sp>
      <p:sp>
        <p:nvSpPr>
          <p:cNvPr id="10" name="TextBox 9"/>
          <p:cNvSpPr txBox="1"/>
          <p:nvPr/>
        </p:nvSpPr>
        <p:spPr>
          <a:xfrm>
            <a:off x="4605375" y="1725375"/>
            <a:ext cx="3526383"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100 из ста</a:t>
            </a:r>
          </a:p>
        </p:txBody>
      </p:sp>
      <p:sp>
        <p:nvSpPr>
          <p:cNvPr id="11" name="TextBox 10"/>
          <p:cNvSpPr txBox="1"/>
          <p:nvPr/>
        </p:nvSpPr>
        <p:spPr>
          <a:xfrm>
            <a:off x="4605375" y="2152374"/>
            <a:ext cx="352638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выборка того же испытания</a:t>
            </a:r>
          </a:p>
        </p:txBody>
      </p:sp>
      <p:sp>
        <p:nvSpPr>
          <p:cNvPr id="12" name="TextBox 11"/>
          <p:cNvSpPr txBox="1"/>
          <p:nvPr/>
        </p:nvSpPr>
        <p:spPr>
          <a:xfrm>
            <a:off x="502920" y="2931477"/>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3" name="Rounded Rectangle 12"/>
          <p:cNvSpPr/>
          <p:nvPr/>
        </p:nvSpPr>
        <p:spPr>
          <a:xfrm>
            <a:off x="1920240" y="2894901"/>
            <a:ext cx="1933346"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2940621"/>
            <a:ext cx="1768754"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Направление к офтальмологу</a:t>
            </a:r>
          </a:p>
        </p:txBody>
      </p:sp>
      <p:sp>
        <p:nvSpPr>
          <p:cNvPr id="15" name="Right Arrow 14"/>
          <p:cNvSpPr/>
          <p:nvPr/>
        </p:nvSpPr>
        <p:spPr>
          <a:xfrm>
            <a:off x="3899306" y="3182842"/>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4127906" y="2894901"/>
            <a:ext cx="1933346"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4210202" y="2940621"/>
            <a:ext cx="1768754"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Ожидание визита</a:t>
            </a:r>
          </a:p>
        </p:txBody>
      </p:sp>
      <p:sp>
        <p:nvSpPr>
          <p:cNvPr id="18" name="Right Arrow 17"/>
          <p:cNvSpPr/>
          <p:nvPr/>
        </p:nvSpPr>
        <p:spPr>
          <a:xfrm>
            <a:off x="6106972" y="3182842"/>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6335572" y="2894901"/>
            <a:ext cx="1933346"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6417868" y="2940621"/>
            <a:ext cx="1768754"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Чтение специалистом</a:t>
            </a:r>
          </a:p>
        </p:txBody>
      </p:sp>
      <p:sp>
        <p:nvSpPr>
          <p:cNvPr id="21" name="TextBox 20"/>
          <p:cNvSpPr txBox="1"/>
          <p:nvPr/>
        </p:nvSpPr>
        <p:spPr>
          <a:xfrm>
            <a:off x="502920" y="3790823"/>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2" name="Rounded Rectangle 21"/>
          <p:cNvSpPr/>
          <p:nvPr/>
        </p:nvSpPr>
        <p:spPr>
          <a:xfrm>
            <a:off x="1920240" y="3754247"/>
            <a:ext cx="1933346"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3799967"/>
            <a:ext cx="1768754"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у медсестры</a:t>
            </a:r>
          </a:p>
        </p:txBody>
      </p:sp>
      <p:sp>
        <p:nvSpPr>
          <p:cNvPr id="24" name="Right Arrow 23"/>
          <p:cNvSpPr/>
          <p:nvPr/>
        </p:nvSpPr>
        <p:spPr>
          <a:xfrm>
            <a:off x="3899306" y="4042188"/>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4127906" y="3754247"/>
            <a:ext cx="1933346"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4210202" y="3799967"/>
            <a:ext cx="1768754"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Автономное чтение</a:t>
            </a:r>
          </a:p>
        </p:txBody>
      </p:sp>
      <p:sp>
        <p:nvSpPr>
          <p:cNvPr id="27" name="Right Arrow 26"/>
          <p:cNvSpPr/>
          <p:nvPr/>
        </p:nvSpPr>
        <p:spPr>
          <a:xfrm>
            <a:off x="6106972" y="4042188"/>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6335572" y="3754247"/>
            <a:ext cx="1933346"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6417868" y="3799967"/>
            <a:ext cx="1768754"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на месте</a:t>
            </a:r>
          </a:p>
        </p:txBody>
      </p:sp>
      <p:sp>
        <p:nvSpPr>
          <p:cNvPr id="30" name="TextBox 29"/>
          <p:cNvSpPr txBox="1"/>
          <p:nvPr/>
        </p:nvSpPr>
        <p:spPr>
          <a:xfrm>
            <a:off x="502920" y="4503865"/>
            <a:ext cx="77659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Путь от снимка до решения</a:t>
            </a:r>
          </a:p>
        </p:txBody>
      </p:sp>
      <p:sp>
        <p:nvSpPr>
          <p:cNvPr id="31" name="Rounded Rectangle 30"/>
          <p:cNvSpPr/>
          <p:nvPr/>
        </p:nvSpPr>
        <p:spPr>
          <a:xfrm>
            <a:off x="374904" y="4806548"/>
            <a:ext cx="11441887" cy="1429659"/>
          </a:xfrm>
          <a:prstGeom prst="roundRect">
            <a:avLst>
              <a:gd name="adj" fmla="val 21319"/>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539496" y="4897988"/>
            <a:ext cx="11112703" cy="1338219"/>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Выигрыш здесь измерен явкой.</a:t>
            </a:r>
          </a:p>
          <a:p>
            <a:pPr algn="l">
              <a:lnSpc>
                <a:spcPct val="126000"/>
              </a:lnSpc>
              <a:spcBef>
                <a:spcPts val="700"/>
              </a:spcBef>
            </a:pPr>
            <a:r>
              <a:rPr sz="1350" b="0" i="0">
                <a:solidFill>
                  <a:srgbClr val="21295C"/>
                </a:solidFill>
                <a:latin typeface="Arial"/>
              </a:rPr>
              <a:t/>
            </a:r>
            <a:r>
              <a:rPr sz="1350" b="1" i="0">
                <a:solidFill>
                  <a:srgbClr val="21295C"/>
                </a:solidFill>
                <a:latin typeface="Arial"/>
              </a:rPr>
              <a:t>Классический режим</a:t>
            </a:r>
            <a:r>
              <a:rPr sz="1350" b="0" i="0">
                <a:solidFill>
                  <a:srgbClr val="21295C"/>
                </a:solidFill>
                <a:latin typeface="Arial"/>
              </a:rPr>
              <a:t> — раз в год человек с диабетом идёт к специалисту отдельным визитом.</a:t>
            </a:r>
          </a:p>
          <a:p>
            <a:pPr algn="l">
              <a:lnSpc>
                <a:spcPct val="126000"/>
              </a:lnSpc>
              <a:spcBef>
                <a:spcPts val="700"/>
              </a:spcBef>
            </a:pPr>
            <a:r>
              <a:rPr sz="1350" b="0" i="0">
                <a:solidFill>
                  <a:srgbClr val="21295C"/>
                </a:solidFill>
                <a:latin typeface="Arial"/>
              </a:rPr>
              <a:t/>
            </a:r>
            <a:r>
              <a:rPr sz="1350" b="1" i="0">
                <a:solidFill>
                  <a:srgbClr val="21295C"/>
                </a:solidFill>
                <a:latin typeface="Arial"/>
              </a:rPr>
              <a:t>Модель</a:t>
            </a:r>
            <a:r>
              <a:rPr sz="1350" b="0" i="0">
                <a:solidFill>
                  <a:srgbClr val="21295C"/>
                </a:solidFill>
                <a:latin typeface="Arial"/>
              </a:rPr>
              <a:t> — снимок делает медсестра, решение «направить или нет» выносится на месте меньше минуты.</a:t>
            </a:r>
          </a:p>
          <a:p>
            <a:pPr algn="l">
              <a:lnSpc>
                <a:spcPct val="126000"/>
              </a:lnSpc>
              <a:spcBef>
                <a:spcPts val="700"/>
              </a:spcBef>
            </a:pPr>
            <a:r>
              <a:rPr sz="1350" b="0" i="0">
                <a:solidFill>
                  <a:srgbClr val="21295C"/>
                </a:solidFill>
                <a:latin typeface="Arial"/>
              </a:rPr>
              <a:t/>
            </a:r>
            <a:r>
              <a:rPr sz="1350" b="0" i="0">
                <a:solidFill>
                  <a:srgbClr val="21295C"/>
                </a:solidFill>
                <a:latin typeface="Arial"/>
              </a:rPr>
              <a:t>• Второй шаг: из 25 с отклонением до офтальмолога дошли 16 — </a:t>
            </a:r>
            <a:r>
              <a:rPr sz="1350" b="1" i="0">
                <a:solidFill>
                  <a:srgbClr val="21295C"/>
                </a:solidFill>
                <a:latin typeface="Arial"/>
              </a:rPr>
              <a:t>64 из ста против 22 в контроле</a:t>
            </a:r>
          </a:p>
        </p:txBody>
      </p:sp>
      <p:sp>
        <p:nvSpPr>
          <p:cNvPr id="33" name="Rounded Rectangle 32"/>
          <p:cNvSpPr/>
          <p:nvPr/>
        </p:nvSpPr>
        <p:spPr>
          <a:xfrm>
            <a:off x="8579815" y="1335024"/>
            <a:ext cx="3108960" cy="2159650"/>
          </a:xfrm>
          <a:prstGeom prst="roundRect">
            <a:avLst>
              <a:gd name="adj" fmla="val 14113"/>
            </a:avLst>
          </a:prstGeom>
          <a:solidFill>
            <a:srgbClr val="F4F7FA"/>
          </a:solidFill>
          <a:ln w="19050">
            <a:solidFill>
              <a:srgbClr val="1C7293"/>
            </a:solidFill>
          </a:ln>
          <a:effectLst/>
        </p:spPr>
        <p:txBody>
          <a:bodyPr rtlCol="0" anchor="ctr"/>
          <a:lstStyle/>
          <a:p>
            <a:pPr algn="ctr"/>
          </a:p>
        </p:txBody>
      </p:sp>
      <p:pic>
        <p:nvPicPr>
          <p:cNvPr id="34" name="Picture 33" descr="s18-fundus-kamera-v-kabinete.jpg"/>
          <p:cNvPicPr>
            <a:picLocks noChangeAspect="1"/>
          </p:cNvPicPr>
          <p:nvPr/>
        </p:nvPicPr>
        <p:blipFill>
          <a:blip r:embed="rId2"/>
          <a:stretch>
            <a:fillRect/>
          </a:stretch>
        </p:blipFill>
        <p:spPr>
          <a:xfrm>
            <a:off x="8716975" y="1472184"/>
            <a:ext cx="2834639" cy="1885330"/>
          </a:xfrm>
          <a:prstGeom prst="rect">
            <a:avLst/>
          </a:prstGeom>
        </p:spPr>
      </p:pic>
      <p:sp>
        <p:nvSpPr>
          <p:cNvPr id="35" name="Rectangle 3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6" name="TextBox 3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Wolf и соавторы, Nature Communications, 2024;15:421 — рандомизированное испытание явки на скрининг глазного дна, подростки 8–21 года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цена: решение перешло к устройству, появился шаг</a:t>
            </a:r>
          </a:p>
        </p:txBody>
      </p:sp>
      <p:sp>
        <p:nvSpPr>
          <p:cNvPr id="4" name="Rounded Rectangle 3"/>
          <p:cNvSpPr/>
          <p:nvPr/>
        </p:nvSpPr>
        <p:spPr>
          <a:xfrm>
            <a:off x="502920" y="1335024"/>
            <a:ext cx="3618890"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Доступ на месте, без визита к специалисту</a:t>
            </a:r>
          </a:p>
        </p:txBody>
      </p:sp>
      <p:sp>
        <p:nvSpPr>
          <p:cNvPr id="7" name="Rounded Rectangle 6"/>
          <p:cNvSpPr/>
          <p:nvPr/>
        </p:nvSpPr>
        <p:spPr>
          <a:xfrm>
            <a:off x="4286402" y="1335024"/>
            <a:ext cx="3618890"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9" name="TextBox 8"/>
          <p:cNvSpPr txBox="1"/>
          <p:nvPr/>
        </p:nvSpPr>
        <p:spPr>
          <a:xfrm>
            <a:off x="4423562" y="1725375"/>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Годный снимок — новый шаг, которого не было</a:t>
            </a:r>
          </a:p>
        </p:txBody>
      </p:sp>
      <p:sp>
        <p:nvSpPr>
          <p:cNvPr id="10" name="Rounded Rectangle 9"/>
          <p:cNvSpPr/>
          <p:nvPr/>
        </p:nvSpPr>
        <p:spPr>
          <a:xfrm>
            <a:off x="8069884" y="1335024"/>
            <a:ext cx="3618890" cy="1735356"/>
          </a:xfrm>
          <a:prstGeom prst="roundRect">
            <a:avLst>
              <a:gd name="adj" fmla="val 17564"/>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2" name="TextBox 11"/>
          <p:cNvSpPr txBox="1"/>
          <p:nvPr/>
        </p:nvSpPr>
        <p:spPr>
          <a:xfrm>
            <a:off x="8207044" y="1725375"/>
            <a:ext cx="3344570" cy="1207845"/>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Выигрыш в доступе ценой нового отказного потока</a:t>
            </a:r>
          </a:p>
        </p:txBody>
      </p:sp>
      <p:sp>
        <p:nvSpPr>
          <p:cNvPr id="13" name="Rounded Rectangle 12"/>
          <p:cNvSpPr/>
          <p:nvPr/>
        </p:nvSpPr>
        <p:spPr>
          <a:xfrm>
            <a:off x="374904" y="3161820"/>
            <a:ext cx="11441887" cy="2234486"/>
          </a:xfrm>
          <a:prstGeom prst="roundRect">
            <a:avLst>
              <a:gd name="adj" fmla="val 13640"/>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539496" y="3253260"/>
            <a:ext cx="5373471" cy="298294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Сменился исполнитель: решение целиком перешло к допущенному регулятором устройству. Появился шаг — обеспечить годность снимка.</a:t>
            </a:r>
          </a:p>
          <a:p>
            <a:pPr algn="l">
              <a:lnSpc>
                <a:spcPct val="126000"/>
              </a:lnSpc>
              <a:spcBef>
                <a:spcPts val="700"/>
              </a:spcBef>
            </a:pPr>
            <a:r>
              <a:rPr sz="1500" b="0" i="0">
                <a:solidFill>
                  <a:srgbClr val="21295C"/>
                </a:solidFill>
                <a:latin typeface="Arial"/>
              </a:rPr>
              <a:t/>
            </a:r>
            <a:r>
              <a:rPr sz="1500" b="1" i="0">
                <a:solidFill>
                  <a:srgbClr val="21295C"/>
                </a:solidFill>
                <a:latin typeface="Arial"/>
              </a:rPr>
              <a:t>Отдельно, другой прибор и взрослые пациенты:</a:t>
            </a:r>
          </a:p>
          <a:p>
            <a:pPr algn="l">
              <a:lnSpc>
                <a:spcPct val="126000"/>
              </a:lnSpc>
              <a:spcBef>
                <a:spcPts val="700"/>
              </a:spcBef>
            </a:pPr>
            <a:r>
              <a:rPr sz="1500" b="0" i="0">
                <a:solidFill>
                  <a:srgbClr val="21295C"/>
                </a:solidFill>
                <a:latin typeface="Arial"/>
              </a:rPr>
              <a:t/>
            </a:r>
            <a:r>
              <a:rPr sz="1500" b="0" i="0">
                <a:solidFill>
                  <a:srgbClr val="21295C"/>
                </a:solidFill>
                <a:latin typeface="Arial"/>
              </a:rPr>
              <a:t>• негодны по качеству </a:t>
            </a:r>
            <a:r>
              <a:rPr sz="1500" b="1" i="0">
                <a:solidFill>
                  <a:srgbClr val="21295C"/>
                </a:solidFill>
                <a:latin typeface="Arial"/>
              </a:rPr>
              <a:t>5 снимков из ста</a:t>
            </a:r>
            <a:r>
              <a:rPr sz="1500" b="0" i="0">
                <a:solidFill>
                  <a:srgbClr val="21295C"/>
                </a:solidFill>
                <a:latin typeface="Arial"/>
              </a:rPr>
              <a:t> — на </a:t>
            </a:r>
            <a:r>
              <a:rPr sz="1500" b="1" i="0">
                <a:solidFill>
                  <a:srgbClr val="21295C"/>
                </a:solidFill>
                <a:latin typeface="Arial"/>
              </a:rPr>
              <a:t>101 710 визитов</a:t>
            </a:r>
            <a:r>
              <a:rPr sz="1500" b="0" i="0">
                <a:solidFill>
                  <a:srgbClr val="21295C"/>
                </a:solidFill>
                <a:latin typeface="Arial"/>
              </a:rPr>
              <a:t> в 404 клиниках</a:t>
            </a:r>
          </a:p>
        </p:txBody>
      </p:sp>
      <p:sp>
        <p:nvSpPr>
          <p:cNvPr id="15" name="TextBox 14"/>
          <p:cNvSpPr txBox="1"/>
          <p:nvPr/>
        </p:nvSpPr>
        <p:spPr>
          <a:xfrm>
            <a:off x="6278727" y="3253260"/>
            <a:ext cx="5373471" cy="298294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a:t>
            </a:r>
            <a:r>
              <a:rPr sz="1500" b="1" i="0">
                <a:solidFill>
                  <a:srgbClr val="21295C"/>
                </a:solidFill>
                <a:latin typeface="Arial"/>
              </a:rPr>
              <a:t>75,7 процента</a:t>
            </a:r>
            <a:r>
              <a:rPr sz="1500" b="0" i="0">
                <a:solidFill>
                  <a:srgbClr val="21295C"/>
                </a:solidFill>
                <a:latin typeface="Arial"/>
              </a:rPr>
              <a:t> потока специалист не видит вовсе</a:t>
            </a:r>
          </a:p>
          <a:p>
            <a:pPr algn="l">
              <a:lnSpc>
                <a:spcPct val="126000"/>
              </a:lnSpc>
              <a:spcBef>
                <a:spcPts val="700"/>
              </a:spcBef>
            </a:pPr>
            <a:r>
              <a:rPr sz="1500" b="0" i="0">
                <a:solidFill>
                  <a:srgbClr val="21295C"/>
                </a:solidFill>
                <a:latin typeface="Arial"/>
              </a:rPr>
              <a:t/>
            </a:r>
            <a:r>
              <a:rPr sz="1500" b="0" i="0">
                <a:solidFill>
                  <a:srgbClr val="21295C"/>
                </a:solidFill>
                <a:latin typeface="Arial"/>
              </a:rPr>
              <a:t>• с явкой 22 против 100 эти числа в одну бухгалтерию не складываются: другая программа, другой прибор, другая возрастная группа</a:t>
            </a:r>
          </a:p>
        </p:txBody>
      </p:sp>
      <p:sp>
        <p:nvSpPr>
          <p:cNvPr id="16" name="Rectangle 15"/>
          <p:cNvSpPr/>
          <p:nvPr/>
        </p:nvSpPr>
        <p:spPr>
          <a:xfrm>
            <a:off x="6091275" y="3253260"/>
            <a:ext cx="9144" cy="1960166"/>
          </a:xfrm>
          <a:prstGeom prst="rect">
            <a:avLst/>
          </a:prstGeom>
          <a:solidFill>
            <a:srgbClr val="D9E2EC"/>
          </a:solidFill>
          <a:ln>
            <a:noFill/>
          </a:ln>
          <a:effectLst/>
        </p:spPr>
        <p:txBody>
          <a:bodyPr rtlCol="0" anchor="ctr"/>
          <a:lstStyle/>
          <a:p>
            <a:pPr algn="ctr"/>
          </a:p>
        </p:txBody>
      </p:sp>
      <p:sp>
        <p:nvSpPr>
          <p:cNvPr id="17" name="Rectangle 1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Решение регулятора США о допуске первой автономной диагностической системы, 2018</a:t>
            </a:r>
            <a:r>
              <a:rPr sz="1200" b="0" i="1">
                <a:solidFill>
                  <a:srgbClr val="1C7293"/>
                </a:solidFill>
                <a:latin typeface="Arial"/>
              </a:rPr>
              <a:t> · </a:t>
            </a:r>
            <a:r>
              <a:rPr sz="1200" b="0" i="1">
                <a:solidFill>
                  <a:srgbClr val="1C7293"/>
                </a:solidFill>
                <a:latin typeface="Arial"/>
              </a:rPr>
              <a:t>ретроспективное исследование потока автономного чтения глазного дна: 101 710 визитов, 404 клиники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Отбор: выигрыш здесь измерен доступом — точности модель не прибавила</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5373471" cy="490118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Что получается:</a:t>
            </a:r>
          </a:p>
          <a:p>
            <a:pPr algn="l">
              <a:lnSpc>
                <a:spcPct val="126000"/>
              </a:lnSpc>
              <a:spcBef>
                <a:spcPts val="700"/>
              </a:spcBef>
            </a:pPr>
            <a:r>
              <a:rPr sz="1300" b="0" i="0">
                <a:solidFill>
                  <a:srgbClr val="21295C"/>
                </a:solidFill>
                <a:latin typeface="Arial"/>
              </a:rPr>
              <a:t/>
            </a:r>
            <a:r>
              <a:rPr sz="1300" b="0" i="0">
                <a:solidFill>
                  <a:srgbClr val="21295C"/>
                </a:solidFill>
                <a:latin typeface="Arial"/>
              </a:rPr>
              <a:t>• объём человеческого чтения снимается там, где процедура уже плотная</a:t>
            </a:r>
          </a:p>
          <a:p>
            <a:pPr algn="l">
              <a:lnSpc>
                <a:spcPct val="126000"/>
              </a:lnSpc>
              <a:spcBef>
                <a:spcPts val="700"/>
              </a:spcBef>
            </a:pPr>
            <a:r>
              <a:rPr sz="1300" b="0" i="0">
                <a:solidFill>
                  <a:srgbClr val="21295C"/>
                </a:solidFill>
                <a:latin typeface="Arial"/>
              </a:rPr>
              <a:t/>
            </a:r>
            <a:r>
              <a:rPr sz="1300" b="0" i="0">
                <a:solidFill>
                  <a:srgbClr val="21295C"/>
                </a:solidFill>
                <a:latin typeface="Arial"/>
              </a:rPr>
              <a:t>• решение выносится на месте, и обследование получают те, кто иначе не придёт</a:t>
            </a:r>
          </a:p>
          <a:p>
            <a:pPr algn="l">
              <a:lnSpc>
                <a:spcPct val="126000"/>
              </a:lnSpc>
              <a:spcBef>
                <a:spcPts val="700"/>
              </a:spcBef>
            </a:pPr>
            <a:r>
              <a:rPr sz="1300" b="0" i="0">
                <a:solidFill>
                  <a:srgbClr val="21295C"/>
                </a:solidFill>
                <a:latin typeface="Arial"/>
              </a:rPr>
              <a:t/>
            </a:r>
            <a:r>
              <a:rPr sz="1300" b="1" i="0">
                <a:solidFill>
                  <a:srgbClr val="21295C"/>
                </a:solidFill>
                <a:latin typeface="Arial"/>
              </a:rPr>
              <a:t>Выигрыш измерен доступом: точности модель здесь не прибавила.</a:t>
            </a:r>
          </a:p>
          <a:p>
            <a:pPr algn="l">
              <a:lnSpc>
                <a:spcPct val="126000"/>
              </a:lnSpc>
              <a:spcBef>
                <a:spcPts val="700"/>
              </a:spcBef>
            </a:pPr>
            <a:r>
              <a:rPr sz="1300" b="0" i="0">
                <a:solidFill>
                  <a:srgbClr val="21295C"/>
                </a:solidFill>
                <a:latin typeface="Arial"/>
              </a:rPr>
              <a:t/>
            </a:r>
            <a:r>
              <a:rPr sz="1300" b="1" i="0">
                <a:solidFill>
                  <a:srgbClr val="21295C"/>
                </a:solidFill>
                <a:latin typeface="Arial"/>
              </a:rPr>
              <a:t>Что не получается:</a:t>
            </a:r>
          </a:p>
          <a:p>
            <a:pPr algn="l">
              <a:lnSpc>
                <a:spcPct val="126000"/>
              </a:lnSpc>
              <a:spcBef>
                <a:spcPts val="700"/>
              </a:spcBef>
            </a:pPr>
            <a:r>
              <a:rPr sz="1300" b="0" i="0">
                <a:solidFill>
                  <a:srgbClr val="21295C"/>
                </a:solidFill>
                <a:latin typeface="Arial"/>
              </a:rPr>
              <a:t/>
            </a:r>
            <a:r>
              <a:rPr sz="1300" b="0" i="0">
                <a:solidFill>
                  <a:srgbClr val="21295C"/>
                </a:solidFill>
                <a:latin typeface="Arial"/>
              </a:rPr>
              <a:t>• назначить порог — кого звать и с какого возраста: за этим стоит подпись</a:t>
            </a:r>
          </a:p>
          <a:p>
            <a:pPr algn="l">
              <a:lnSpc>
                <a:spcPct val="126000"/>
              </a:lnSpc>
              <a:spcBef>
                <a:spcPts val="700"/>
              </a:spcBef>
            </a:pPr>
            <a:r>
              <a:rPr sz="1300" b="0" i="0">
                <a:solidFill>
                  <a:srgbClr val="21295C"/>
                </a:solidFill>
                <a:latin typeface="Arial"/>
              </a:rPr>
              <a:t/>
            </a:r>
            <a:r>
              <a:rPr sz="1300" b="0" i="0">
                <a:solidFill>
                  <a:srgbClr val="21295C"/>
                </a:solidFill>
                <a:latin typeface="Arial"/>
              </a:rPr>
              <a:t>• работать в открытом потоке обращений: выигрыша не дал ни один разбор</a:t>
            </a:r>
          </a:p>
          <a:p>
            <a:pPr algn="l">
              <a:lnSpc>
                <a:spcPct val="126000"/>
              </a:lnSpc>
              <a:spcBef>
                <a:spcPts val="700"/>
              </a:spcBef>
            </a:pPr>
            <a:r>
              <a:rPr sz="1300" b="0" i="0">
                <a:solidFill>
                  <a:srgbClr val="21295C"/>
                </a:solidFill>
                <a:latin typeface="Arial"/>
              </a:rPr>
              <a:t/>
            </a:r>
            <a:r>
              <a:rPr sz="1300" b="0" i="0">
                <a:solidFill>
                  <a:srgbClr val="21295C"/>
                </a:solidFill>
                <a:latin typeface="Arial"/>
              </a:rPr>
              <a:t>• отвечать за годность снимка: добывает её человек без профильной подготовки</a:t>
            </a:r>
          </a:p>
        </p:txBody>
      </p:sp>
      <p:sp>
        <p:nvSpPr>
          <p:cNvPr id="6" name="TextBox 5"/>
          <p:cNvSpPr txBox="1"/>
          <p:nvPr/>
        </p:nvSpPr>
        <p:spPr>
          <a:xfrm>
            <a:off x="6278727" y="1335024"/>
            <a:ext cx="5373471" cy="490118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Что стало с работой:</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нагрузка переехала на другой шаг</a:t>
            </a:r>
            <a:r>
              <a:rPr sz="1300" b="0" i="0">
                <a:solidFill>
                  <a:srgbClr val="21295C"/>
                </a:solidFill>
                <a:latin typeface="Arial"/>
              </a:rPr>
              <a:t> — с сортировки на приём, и платить за неё стало некому</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сменился исполнитель</a:t>
            </a:r>
            <a:r>
              <a:rPr sz="1300" b="0" i="0">
                <a:solidFill>
                  <a:srgbClr val="21295C"/>
                </a:solidFill>
                <a:latin typeface="Arial"/>
              </a:rPr>
              <a:t>, и производной формой </a:t>
            </a:r>
            <a:r>
              <a:rPr sz="1300" b="1" i="0">
                <a:solidFill>
                  <a:srgbClr val="21295C"/>
                </a:solidFill>
                <a:latin typeface="Arial"/>
              </a:rPr>
              <a:t>появился шаг</a:t>
            </a:r>
            <a:r>
              <a:rPr sz="1300" b="0" i="0">
                <a:solidFill>
                  <a:srgbClr val="21295C"/>
                </a:solidFill>
                <a:latin typeface="Arial"/>
              </a:rPr>
              <a:t> — добыть годный снимок</a:t>
            </a:r>
          </a:p>
          <a:p>
            <a:pPr algn="l">
              <a:lnSpc>
                <a:spcPct val="126000"/>
              </a:lnSpc>
              <a:spcBef>
                <a:spcPts val="700"/>
              </a:spcBef>
            </a:pPr>
            <a:r>
              <a:rPr sz="1300" b="0" i="0">
                <a:solidFill>
                  <a:srgbClr val="21295C"/>
                </a:solidFill>
                <a:latin typeface="Arial"/>
              </a:rPr>
              <a:t/>
            </a:r>
            <a:r>
              <a:rPr sz="1300" b="0" i="0">
                <a:solidFill>
                  <a:srgbClr val="21295C"/>
                </a:solidFill>
                <a:latin typeface="Arial"/>
              </a:rPr>
              <a:t>• второго независимого человека большинство обследованных больше не получает</a:t>
            </a:r>
          </a:p>
          <a:p>
            <a:pPr algn="l">
              <a:lnSpc>
                <a:spcPct val="126000"/>
              </a:lnSpc>
              <a:spcBef>
                <a:spcPts val="700"/>
              </a:spcBef>
            </a:pPr>
            <a:r>
              <a:rPr sz="1300" b="0" i="0">
                <a:solidFill>
                  <a:srgbClr val="21295C"/>
                </a:solidFill>
                <a:latin typeface="Arial"/>
              </a:rPr>
              <a:t/>
            </a:r>
            <a:r>
              <a:rPr sz="1300" b="1" i="0">
                <a:solidFill>
                  <a:srgbClr val="21295C"/>
                </a:solidFill>
                <a:latin typeface="Arial"/>
              </a:rPr>
              <a:t>Что это держит:</a:t>
            </a:r>
          </a:p>
          <a:p>
            <a:pPr algn="l">
              <a:lnSpc>
                <a:spcPct val="126000"/>
              </a:lnSpc>
              <a:spcBef>
                <a:spcPts val="700"/>
              </a:spcBef>
            </a:pPr>
            <a:r>
              <a:rPr sz="1300" b="0" i="0">
                <a:solidFill>
                  <a:srgbClr val="21295C"/>
                </a:solidFill>
                <a:latin typeface="Arial"/>
              </a:rPr>
              <a:t/>
            </a:r>
            <a:r>
              <a:rPr sz="1300" b="0" i="0">
                <a:solidFill>
                  <a:srgbClr val="21295C"/>
                </a:solidFill>
                <a:latin typeface="Arial"/>
              </a:rPr>
              <a:t>• порог вмешательства, записанный документом задолго до всякой точности</a:t>
            </a:r>
          </a:p>
          <a:p>
            <a:pPr algn="l">
              <a:lnSpc>
                <a:spcPct val="126000"/>
              </a:lnSpc>
              <a:spcBef>
                <a:spcPts val="700"/>
              </a:spcBef>
            </a:pPr>
            <a:r>
              <a:rPr sz="1300" b="0" i="0">
                <a:solidFill>
                  <a:srgbClr val="21295C"/>
                </a:solidFill>
                <a:latin typeface="Arial"/>
              </a:rPr>
              <a:t/>
            </a:r>
            <a:r>
              <a:rPr sz="1300" b="0" i="0">
                <a:solidFill>
                  <a:srgbClr val="21295C"/>
                </a:solidFill>
                <a:latin typeface="Arial"/>
              </a:rPr>
              <a:t>• двойное чтение и арбитраж — там, где второго читателя не заменили</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прочерк: процедуры, которая проверяла бы отсеянное фильтром, нет</a:t>
            </a:r>
          </a:p>
          <a:p>
            <a:pPr algn="l">
              <a:lnSpc>
                <a:spcPct val="126000"/>
              </a:lnSpc>
              <a:spcBef>
                <a:spcPts val="700"/>
              </a:spcBef>
            </a:pPr>
            <a:r>
              <a:rPr sz="1300" b="0" i="0">
                <a:solidFill>
                  <a:srgbClr val="21295C"/>
                </a:solidFill>
                <a:latin typeface="Arial"/>
              </a:rPr>
              <a:t/>
            </a:r>
            <a:r>
              <a:rPr sz="1300" b="1" i="0">
                <a:solidFill>
                  <a:srgbClr val="21295C"/>
                </a:solidFill>
                <a:latin typeface="Arial"/>
              </a:rPr>
              <a:t>Дальше поток приходит смещённым: что модель назвала нормой, человек не увидит.</a:t>
            </a:r>
          </a:p>
        </p:txBody>
      </p:sp>
      <p:sp>
        <p:nvSpPr>
          <p:cNvPr id="7" name="Rectangle 6"/>
          <p:cNvSpPr/>
          <p:nvPr/>
        </p:nvSpPr>
        <p:spPr>
          <a:xfrm>
            <a:off x="6091275" y="1335024"/>
            <a:ext cx="9144" cy="4830447"/>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7862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раздела: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242017" cy="428960"/>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949409"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
            </a:r>
          </a:p>
        </p:txBody>
      </p:sp>
      <p:sp>
        <p:nvSpPr>
          <p:cNvPr id="7" name="Rectangle 6"/>
          <p:cNvSpPr/>
          <p:nvPr/>
        </p:nvSpPr>
        <p:spPr>
          <a:xfrm>
            <a:off x="2781513" y="1335024"/>
            <a:ext cx="2466890" cy="428960"/>
          </a:xfrm>
          <a:prstGeom prst="rect">
            <a:avLst/>
          </a:prstGeom>
          <a:solidFill>
            <a:srgbClr val="065A82"/>
          </a:solidFill>
          <a:ln>
            <a:noFill/>
          </a:ln>
          <a:effectLst/>
        </p:spPr>
        <p:txBody>
          <a:bodyPr rtlCol="0" anchor="ctr"/>
          <a:lstStyle/>
          <a:p>
            <a:pPr algn="ctr"/>
          </a:p>
        </p:txBody>
      </p:sp>
      <p:sp>
        <p:nvSpPr>
          <p:cNvPr id="8" name="TextBox 7"/>
          <p:cNvSpPr txBox="1"/>
          <p:nvPr/>
        </p:nvSpPr>
        <p:spPr>
          <a:xfrm>
            <a:off x="2927817" y="1335024"/>
            <a:ext cx="2174282"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текст</a:t>
            </a:r>
          </a:p>
        </p:txBody>
      </p:sp>
      <p:sp>
        <p:nvSpPr>
          <p:cNvPr id="9" name="Rectangle 8"/>
          <p:cNvSpPr/>
          <p:nvPr/>
        </p:nvSpPr>
        <p:spPr>
          <a:xfrm>
            <a:off x="5248403" y="1335024"/>
            <a:ext cx="3337358" cy="428960"/>
          </a:xfrm>
          <a:prstGeom prst="rect">
            <a:avLst/>
          </a:prstGeom>
          <a:solidFill>
            <a:srgbClr val="065A82"/>
          </a:solidFill>
          <a:ln>
            <a:noFill/>
          </a:ln>
          <a:effectLst/>
        </p:spPr>
        <p:txBody>
          <a:bodyPr rtlCol="0" anchor="ctr"/>
          <a:lstStyle/>
          <a:p>
            <a:pPr algn="ctr"/>
          </a:p>
        </p:txBody>
      </p:sp>
      <p:sp>
        <p:nvSpPr>
          <p:cNvPr id="10" name="TextBox 9"/>
          <p:cNvSpPr txBox="1"/>
          <p:nvPr/>
        </p:nvSpPr>
        <p:spPr>
          <a:xfrm>
            <a:off x="5394707" y="1335024"/>
            <a:ext cx="3044750"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изображение</a:t>
            </a:r>
          </a:p>
        </p:txBody>
      </p:sp>
      <p:sp>
        <p:nvSpPr>
          <p:cNvPr id="11" name="Rectangle 10"/>
          <p:cNvSpPr/>
          <p:nvPr/>
        </p:nvSpPr>
        <p:spPr>
          <a:xfrm>
            <a:off x="8585761" y="1335024"/>
            <a:ext cx="3066437" cy="428960"/>
          </a:xfrm>
          <a:prstGeom prst="rect">
            <a:avLst/>
          </a:prstGeom>
          <a:solidFill>
            <a:srgbClr val="065A82"/>
          </a:solidFill>
          <a:ln>
            <a:noFill/>
          </a:ln>
          <a:effectLst/>
        </p:spPr>
        <p:txBody>
          <a:bodyPr rtlCol="0" anchor="ctr"/>
          <a:lstStyle/>
          <a:p>
            <a:pPr algn="ctr"/>
          </a:p>
        </p:txBody>
      </p:sp>
      <p:sp>
        <p:nvSpPr>
          <p:cNvPr id="12" name="TextBox 11"/>
          <p:cNvSpPr txBox="1"/>
          <p:nvPr/>
        </p:nvSpPr>
        <p:spPr>
          <a:xfrm>
            <a:off x="8732065" y="1335024"/>
            <a:ext cx="2773829" cy="428960"/>
          </a:xfrm>
          <a:prstGeom prst="rect">
            <a:avLst/>
          </a:prstGeom>
          <a:noFill/>
        </p:spPr>
        <p:txBody>
          <a:bodyPr wrap="square" lIns="0" rIns="0" tIns="0" bIns="0" anchor="ctr">
            <a:spAutoFit/>
          </a:bodyPr>
          <a:lstStyle/>
          <a:p>
            <a:pPr algn="l">
              <a:lnSpc>
                <a:spcPct val="116000"/>
              </a:lnSpc>
            </a:pPr>
            <a:r>
              <a:rPr sz="1450" b="1" i="0">
                <a:solidFill>
                  <a:srgbClr val="FFFFFF"/>
                </a:solidFill>
                <a:latin typeface="Arial"/>
              </a:rPr>
              <a:t>структурированные данные</a:t>
            </a:r>
          </a:p>
        </p:txBody>
      </p:sp>
      <p:sp>
        <p:nvSpPr>
          <p:cNvPr id="13" name="Rectangle 12"/>
          <p:cNvSpPr/>
          <p:nvPr/>
        </p:nvSpPr>
        <p:spPr>
          <a:xfrm>
            <a:off x="539496" y="1763984"/>
            <a:ext cx="2242017" cy="428960"/>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63984"/>
            <a:ext cx="194940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классификация</a:t>
            </a:r>
          </a:p>
        </p:txBody>
      </p:sp>
      <p:sp>
        <p:nvSpPr>
          <p:cNvPr id="15" name="Rectangle 14"/>
          <p:cNvSpPr/>
          <p:nvPr/>
        </p:nvSpPr>
        <p:spPr>
          <a:xfrm>
            <a:off x="2781513" y="1763984"/>
            <a:ext cx="2466890" cy="428960"/>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2927817" y="1763984"/>
            <a:ext cx="2174282"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17" name="Rectangle 16"/>
          <p:cNvSpPr/>
          <p:nvPr/>
        </p:nvSpPr>
        <p:spPr>
          <a:xfrm>
            <a:off x="5248403" y="1763984"/>
            <a:ext cx="3337358" cy="428960"/>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5394707" y="1763984"/>
            <a:ext cx="3044750" cy="428960"/>
          </a:xfrm>
          <a:prstGeom prst="rect">
            <a:avLst/>
          </a:prstGeom>
          <a:noFill/>
        </p:spPr>
        <p:txBody>
          <a:bodyPr wrap="square" lIns="0" rIns="0" tIns="0" bIns="0" anchor="ctr">
            <a:spAutoFit/>
          </a:bodyPr>
          <a:lstStyle/>
          <a:p>
            <a:pPr algn="l">
              <a:lnSpc>
                <a:spcPct val="116000"/>
              </a:lnSpc>
            </a:pPr>
            <a:r>
              <a:rPr sz="1450" b="1" i="0">
                <a:solidFill>
                  <a:srgbClr val="21295C"/>
                </a:solidFill>
                <a:latin typeface="Arial"/>
              </a:rPr>
              <a:t>глазное дно без офтальмолога</a:t>
            </a:r>
          </a:p>
        </p:txBody>
      </p:sp>
      <p:sp>
        <p:nvSpPr>
          <p:cNvPr id="19" name="Rectangle 18"/>
          <p:cNvSpPr/>
          <p:nvPr/>
        </p:nvSpPr>
        <p:spPr>
          <a:xfrm>
            <a:off x="8585761" y="1763984"/>
            <a:ext cx="3066437" cy="428960"/>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8732065" y="1763984"/>
            <a:ext cx="277382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21" name="Rectangle 20"/>
          <p:cNvSpPr/>
          <p:nvPr/>
        </p:nvSpPr>
        <p:spPr>
          <a:xfrm>
            <a:off x="539496" y="2192945"/>
            <a:ext cx="2242017" cy="428960"/>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92945"/>
            <a:ext cx="194940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распознавание</a:t>
            </a:r>
          </a:p>
        </p:txBody>
      </p:sp>
      <p:sp>
        <p:nvSpPr>
          <p:cNvPr id="23" name="Rectangle 22"/>
          <p:cNvSpPr/>
          <p:nvPr/>
        </p:nvSpPr>
        <p:spPr>
          <a:xfrm>
            <a:off x="2781513" y="2192945"/>
            <a:ext cx="2466890" cy="428960"/>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2927817" y="2192945"/>
            <a:ext cx="2174282"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25" name="Rectangle 24"/>
          <p:cNvSpPr/>
          <p:nvPr/>
        </p:nvSpPr>
        <p:spPr>
          <a:xfrm>
            <a:off x="5248403" y="2192945"/>
            <a:ext cx="3337358" cy="428960"/>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5394707" y="2192945"/>
            <a:ext cx="3044750" cy="428960"/>
          </a:xfrm>
          <a:prstGeom prst="rect">
            <a:avLst/>
          </a:prstGeom>
          <a:noFill/>
        </p:spPr>
        <p:txBody>
          <a:bodyPr wrap="square" lIns="0" rIns="0" tIns="0" bIns="0" anchor="ctr">
            <a:spAutoFit/>
          </a:bodyPr>
          <a:lstStyle/>
          <a:p>
            <a:pPr algn="l">
              <a:lnSpc>
                <a:spcPct val="116000"/>
              </a:lnSpc>
            </a:pPr>
            <a:r>
              <a:rPr sz="1450" b="1" i="0">
                <a:solidFill>
                  <a:srgbClr val="21295C"/>
                </a:solidFill>
                <a:latin typeface="Arial"/>
              </a:rPr>
              <a:t>сортировка потока по риску</a:t>
            </a:r>
          </a:p>
        </p:txBody>
      </p:sp>
      <p:sp>
        <p:nvSpPr>
          <p:cNvPr id="27" name="Rectangle 26"/>
          <p:cNvSpPr/>
          <p:nvPr/>
        </p:nvSpPr>
        <p:spPr>
          <a:xfrm>
            <a:off x="8585761" y="2192945"/>
            <a:ext cx="3066437" cy="428960"/>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8732065" y="2192945"/>
            <a:ext cx="277382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29" name="Rectangle 28"/>
          <p:cNvSpPr/>
          <p:nvPr/>
        </p:nvSpPr>
        <p:spPr>
          <a:xfrm>
            <a:off x="539496" y="2621906"/>
            <a:ext cx="2242017" cy="428960"/>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621906"/>
            <a:ext cx="194940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поиск с генерацией</a:t>
            </a:r>
          </a:p>
        </p:txBody>
      </p:sp>
      <p:sp>
        <p:nvSpPr>
          <p:cNvPr id="31" name="Rectangle 30"/>
          <p:cNvSpPr/>
          <p:nvPr/>
        </p:nvSpPr>
        <p:spPr>
          <a:xfrm>
            <a:off x="2781513" y="2621906"/>
            <a:ext cx="2466890" cy="428960"/>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927817" y="2621906"/>
            <a:ext cx="2174282" cy="428960"/>
          </a:xfrm>
          <a:prstGeom prst="rect">
            <a:avLst/>
          </a:prstGeom>
          <a:noFill/>
        </p:spPr>
        <p:txBody>
          <a:bodyPr wrap="square" lIns="0" rIns="0" tIns="0" bIns="0" anchor="ctr">
            <a:spAutoFit/>
          </a:bodyPr>
          <a:lstStyle/>
          <a:p>
            <a:pPr algn="l">
              <a:lnSpc>
                <a:spcPct val="116000"/>
              </a:lnSpc>
            </a:pPr>
            <a:r>
              <a:rPr sz="1450" b="1" i="0">
                <a:solidFill>
                  <a:srgbClr val="21295C"/>
                </a:solidFill>
                <a:latin typeface="Arial"/>
              </a:rPr>
              <a:t>чат-бот первой линии</a:t>
            </a:r>
          </a:p>
        </p:txBody>
      </p:sp>
      <p:sp>
        <p:nvSpPr>
          <p:cNvPr id="33" name="Rectangle 32"/>
          <p:cNvSpPr/>
          <p:nvPr/>
        </p:nvSpPr>
        <p:spPr>
          <a:xfrm>
            <a:off x="5248403" y="2621906"/>
            <a:ext cx="3337358" cy="428960"/>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5394707" y="2621906"/>
            <a:ext cx="3044750"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35" name="Rectangle 34"/>
          <p:cNvSpPr/>
          <p:nvPr/>
        </p:nvSpPr>
        <p:spPr>
          <a:xfrm>
            <a:off x="8585761" y="2621906"/>
            <a:ext cx="3066437" cy="428960"/>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8732065" y="2621906"/>
            <a:ext cx="277382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37" name="Rectangle 36"/>
          <p:cNvSpPr/>
          <p:nvPr/>
        </p:nvSpPr>
        <p:spPr>
          <a:xfrm>
            <a:off x="539496" y="3050866"/>
            <a:ext cx="2242017" cy="428960"/>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3050866"/>
            <a:ext cx="194940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прогноз</a:t>
            </a:r>
          </a:p>
        </p:txBody>
      </p:sp>
      <p:sp>
        <p:nvSpPr>
          <p:cNvPr id="39" name="Rectangle 38"/>
          <p:cNvSpPr/>
          <p:nvPr/>
        </p:nvSpPr>
        <p:spPr>
          <a:xfrm>
            <a:off x="2781513" y="3050866"/>
            <a:ext cx="2466890" cy="428960"/>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927817" y="3050866"/>
            <a:ext cx="2174282"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41" name="Rectangle 40"/>
          <p:cNvSpPr/>
          <p:nvPr/>
        </p:nvSpPr>
        <p:spPr>
          <a:xfrm>
            <a:off x="5248403" y="3050866"/>
            <a:ext cx="3337358" cy="428960"/>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5394707" y="3050866"/>
            <a:ext cx="3044750"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43" name="Rectangle 42"/>
          <p:cNvSpPr/>
          <p:nvPr/>
        </p:nvSpPr>
        <p:spPr>
          <a:xfrm>
            <a:off x="8585761" y="3050866"/>
            <a:ext cx="3066437" cy="428960"/>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8732065" y="3050866"/>
            <a:ext cx="2773829" cy="428960"/>
          </a:xfrm>
          <a:prstGeom prst="rect">
            <a:avLst/>
          </a:prstGeom>
          <a:noFill/>
        </p:spPr>
        <p:txBody>
          <a:bodyPr wrap="square" lIns="0" rIns="0" tIns="0" bIns="0" anchor="ctr">
            <a:spAutoFit/>
          </a:bodyPr>
          <a:lstStyle/>
          <a:p>
            <a:pPr algn="l">
              <a:lnSpc>
                <a:spcPct val="116000"/>
              </a:lnSpc>
            </a:pPr>
            <a:r>
              <a:rPr sz="1450" b="0" i="0">
                <a:solidFill>
                  <a:srgbClr val="21295C"/>
                </a:solidFill>
                <a:latin typeface="Arial"/>
              </a:rPr>
              <a:t>—</a:t>
            </a:r>
          </a:p>
        </p:txBody>
      </p:sp>
      <p:sp>
        <p:nvSpPr>
          <p:cNvPr id="45" name="TextBox 44"/>
          <p:cNvSpPr txBox="1"/>
          <p:nvPr/>
        </p:nvSpPr>
        <p:spPr>
          <a:xfrm>
            <a:off x="539496" y="3626131"/>
            <a:ext cx="11112703" cy="604181"/>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Полужирное — разбор этого раздела, в скобках — кто занял клетку раньше, прочерк — пусто.</a:t>
            </a:r>
            <a:r>
              <a:rPr sz="1500" b="0" i="0">
                <a:solidFill>
                  <a:srgbClr val="21295C"/>
                </a:solidFill>
                <a:latin typeface="Arial"/>
              </a:rPr>
              <a:t> Раздел первый, скобок ещё нет. Занято 3 клетки из 12 показанных — окно курсовой сетки из 42.</a:t>
            </a:r>
          </a:p>
        </p:txBody>
      </p:sp>
      <p:sp>
        <p:nvSpPr>
          <p:cNvPr id="46" name="TextBox 45"/>
          <p:cNvSpPr txBox="1"/>
          <p:nvPr/>
        </p:nvSpPr>
        <p:spPr>
          <a:xfrm>
            <a:off x="539496" y="4376616"/>
            <a:ext cx="11112703" cy="604181"/>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Прогноза в разделе нет ни одного:</a:t>
            </a:r>
            <a:r>
              <a:rPr sz="1500" b="0" i="0">
                <a:solidFill>
                  <a:srgbClr val="21295C"/>
                </a:solidFill>
                <a:latin typeface="Arial"/>
              </a:rPr>
              <a:t> кого звать и с каким интервалом — назначено документом; предсказывать здесь нечего.</a:t>
            </a:r>
          </a:p>
        </p:txBody>
      </p:sp>
      <p:sp>
        <p:nvSpPr>
          <p:cNvPr id="47" name="TextBox 46"/>
          <p:cNvSpPr txBox="1"/>
          <p:nvPr/>
        </p:nvSpPr>
        <p:spPr>
          <a:xfrm>
            <a:off x="539496" y="5127102"/>
            <a:ext cx="11112703" cy="302090"/>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Девять прочерков, и читать надо их:</a:t>
            </a:r>
            <a:r>
              <a:rPr sz="1500" b="0" i="0">
                <a:solidFill>
                  <a:srgbClr val="21295C"/>
                </a:solidFill>
                <a:latin typeface="Arial"/>
              </a:rPr>
              <a:t> инструмент такого класса в этом разделе искать незачем.</a:t>
            </a:r>
          </a:p>
        </p:txBody>
      </p:sp>
      <p:sp>
        <p:nvSpPr>
          <p:cNvPr id="48" name="TextBox 47"/>
          <p:cNvSpPr txBox="1"/>
          <p:nvPr/>
        </p:nvSpPr>
        <p:spPr>
          <a:xfrm>
            <a:off x="539496" y="5575497"/>
            <a:ext cx="11112703" cy="604181"/>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Ни одна занятая клетка не про лечение:</a:t>
            </a:r>
            <a:r>
              <a:rPr sz="1500" b="0" i="0">
                <a:solidFill>
                  <a:srgbClr val="21295C"/>
                </a:solidFill>
                <a:latin typeface="Arial"/>
              </a:rPr>
              <a:t> модель решает, кого посмотрят; что с человеком делать, решают дальше.</a:t>
            </a:r>
          </a:p>
        </p:txBody>
      </p:sp>
      <p:sp>
        <p:nvSpPr>
          <p:cNvPr id="49" name="Rectangle 4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50" name="TextBox 4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Сетка «тип задачи × данные» — Лекция 1, раздел 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543800" y="914400"/>
            <a:ext cx="4144975" cy="4340523"/>
          </a:xfrm>
          <a:prstGeom prst="roundRect">
            <a:avLst>
              <a:gd name="adj" fmla="val 7353"/>
            </a:avLst>
          </a:prstGeom>
          <a:solidFill>
            <a:srgbClr val="F4F7FA"/>
          </a:solidFill>
          <a:ln w="19050">
            <a:solidFill>
              <a:srgbClr val="1C7293"/>
            </a:solidFill>
          </a:ln>
          <a:effectLst/>
        </p:spPr>
        <p:txBody>
          <a:bodyPr rtlCol="0" anchor="ctr"/>
          <a:lstStyle/>
          <a:p>
            <a:pPr algn="ctr"/>
          </a:p>
        </p:txBody>
      </p:sp>
      <p:pic>
        <p:nvPicPr>
          <p:cNvPr id="5" name="Picture 4" descr="s22-rentgenkabinet-pacient-u-pribora.jpg"/>
          <p:cNvPicPr>
            <a:picLocks noChangeAspect="1"/>
          </p:cNvPicPr>
          <p:nvPr/>
        </p:nvPicPr>
        <p:blipFill>
          <a:blip r:embed="rId2"/>
          <a:stretch>
            <a:fillRect/>
          </a:stretch>
        </p:blipFill>
        <p:spPr>
          <a:xfrm>
            <a:off x="7680960" y="1051560"/>
            <a:ext cx="3870655" cy="4066203"/>
          </a:xfrm>
          <a:prstGeom prst="rect">
            <a:avLst/>
          </a:prstGeom>
        </p:spPr>
      </p:pic>
      <p:sp>
        <p:nvSpPr>
          <p:cNvPr id="6" name="TextBox 5"/>
          <p:cNvSpPr txBox="1"/>
          <p:nvPr/>
        </p:nvSpPr>
        <p:spPr>
          <a:xfrm>
            <a:off x="704088" y="960120"/>
            <a:ext cx="667512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2. Анализ данных — и группа, на которой он посчитан</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Здесь заключение по измеренному выносит сама система — без человека.</a:t>
            </a:r>
          </a:p>
        </p:txBody>
      </p:sp>
      <p:sp>
        <p:nvSpPr>
          <p:cNvPr id="9" name="TextBox 8"/>
          <p:cNvSpPr txBox="1"/>
          <p:nvPr/>
        </p:nvSpPr>
        <p:spPr>
          <a:xfrm>
            <a:off x="704088" y="3045563"/>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У каждой доли есть группа, на которой она посчитана: на других людях та же доля означает другое.</a:t>
            </a:r>
          </a:p>
        </p:txBody>
      </p:sp>
      <p:sp>
        <p:nvSpPr>
          <p:cNvPr id="10" name="TextBox 9"/>
          <p:cNvSpPr txBox="1"/>
          <p:nvPr/>
        </p:nvSpPr>
        <p:spPr>
          <a:xfrm>
            <a:off x="704088" y="3814336"/>
            <a:ext cx="647395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3 разбора · 1 классический режим отдельным кадром · 2 упоминания с числом</a:t>
            </a:r>
          </a:p>
        </p:txBody>
      </p:sp>
      <p:sp>
        <p:nvSpPr>
          <p:cNvPr id="11" name="TextBox 10"/>
          <p:cNvSpPr txBox="1"/>
          <p:nvPr/>
        </p:nvSpPr>
        <p:spPr>
          <a:xfrm>
            <a:off x="704088" y="4583110"/>
            <a:ext cx="6473952" cy="94284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Разборы по порядку: </a:t>
            </a:r>
            <a:r>
              <a:rPr sz="1550" b="1" i="0">
                <a:solidFill>
                  <a:srgbClr val="21295C"/>
                </a:solidFill>
                <a:latin typeface="Arial"/>
              </a:rPr>
              <a:t>Пример 1: Таиланд — точность приехала, а снимки не прошли</a:t>
            </a:r>
            <a:r>
              <a:rPr sz="1550" b="0" i="0">
                <a:solidFill>
                  <a:srgbClr val="21295C"/>
                </a:solidFill>
                <a:latin typeface="Arial"/>
              </a:rPr>
              <a:t> · </a:t>
            </a:r>
            <a:r>
              <a:rPr sz="1550" b="1" i="0">
                <a:solidFill>
                  <a:srgbClr val="21295C"/>
                </a:solidFill>
                <a:latin typeface="Arial"/>
              </a:rPr>
              <a:t>Пример 2: кожа и состав набора</a:t>
            </a:r>
            <a:r>
              <a:rPr sz="1550" b="0" i="0">
                <a:solidFill>
                  <a:srgbClr val="21295C"/>
                </a:solidFill>
                <a:latin typeface="Arial"/>
              </a:rPr>
              <a:t> · </a:t>
            </a:r>
            <a:r>
              <a:rPr sz="1550" b="1" i="0">
                <a:solidFill>
                  <a:srgbClr val="21295C"/>
                </a:solidFill>
                <a:latin typeface="Arial"/>
              </a:rPr>
              <a:t>Пример 3: расходы вместо болезни</a:t>
            </a:r>
          </a:p>
        </p:txBody>
      </p:sp>
      <p:sp>
        <p:nvSpPr>
          <p:cNvPr id="12" name="TextBox 11"/>
          <p:cNvSpPr txBox="1"/>
          <p:nvPr/>
        </p:nvSpPr>
        <p:spPr>
          <a:xfrm>
            <a:off x="704088" y="5653974"/>
            <a:ext cx="6675120"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Рабочее место, где снимают данные</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Что делают участники на стадии анализа данных — до всякой обученной модели</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ДОЛИ СЧИТАЛИ</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все 62 отобранные работы</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2 212 просмотренных публикаций</a:t>
            </a:r>
          </a:p>
        </p:txBody>
      </p:sp>
      <p:sp>
        <p:nvSpPr>
          <p:cNvPr id="8" name="Rounded Rectangle 7"/>
          <p:cNvSpPr/>
          <p:nvPr/>
        </p:nvSpPr>
        <p:spPr>
          <a:xfrm>
            <a:off x="6178143"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ГРУППУ, НА КОТОРОЙ ОНИ ПОСЧИТАНЫ</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почти никто</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 одна не пригодна для клинического применения</a:t>
            </a:r>
          </a:p>
        </p:txBody>
      </p:sp>
      <p:sp>
        <p:nvSpPr>
          <p:cNvPr id="12" name="Rounded Rectangle 11"/>
          <p:cNvSpPr/>
          <p:nvPr/>
        </p:nvSpPr>
        <p:spPr>
          <a:xfrm>
            <a:off x="374904" y="2592217"/>
            <a:ext cx="11441887" cy="3643990"/>
          </a:xfrm>
          <a:prstGeom prst="roundRect">
            <a:avLst>
              <a:gd name="adj" fmla="val 8364"/>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683657"/>
            <a:ext cx="5373471" cy="3552550"/>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У прибора стоит человек — лаборант, техник, медсестра.</a:t>
            </a:r>
          </a:p>
          <a:p>
            <a:pPr algn="l">
              <a:lnSpc>
                <a:spcPct val="126000"/>
              </a:lnSpc>
              <a:spcBef>
                <a:spcPts val="700"/>
              </a:spcBef>
            </a:pPr>
            <a:r>
              <a:rPr sz="1300" b="0" i="0">
                <a:solidFill>
                  <a:srgbClr val="21295C"/>
                </a:solidFill>
                <a:latin typeface="Arial"/>
              </a:rPr>
              <a:t/>
            </a:r>
            <a:r>
              <a:rPr sz="1300" b="0" i="0">
                <a:solidFill>
                  <a:srgbClr val="21295C"/>
                </a:solidFill>
                <a:latin typeface="Arial"/>
              </a:rPr>
              <a:t>Порог, за которым говорят «болен», записан в протоколе кабинета до прибора.</a:t>
            </a:r>
          </a:p>
          <a:p>
            <a:pPr algn="l">
              <a:lnSpc>
                <a:spcPct val="126000"/>
              </a:lnSpc>
              <a:spcBef>
                <a:spcPts val="700"/>
              </a:spcBef>
            </a:pPr>
            <a:r>
              <a:rPr sz="1300" b="0" i="0">
                <a:solidFill>
                  <a:srgbClr val="21295C"/>
                </a:solidFill>
                <a:latin typeface="Arial"/>
              </a:rPr>
              <a:t/>
            </a:r>
            <a:r>
              <a:rPr sz="1300" b="1" i="0">
                <a:solidFill>
                  <a:srgbClr val="21295C"/>
                </a:solidFill>
                <a:latin typeface="Arial"/>
              </a:rPr>
              <a:t>Шесть действий стадии</a:t>
            </a:r>
          </a:p>
          <a:p>
            <a:pPr algn="l">
              <a:lnSpc>
                <a:spcPct val="126000"/>
              </a:lnSpc>
              <a:spcBef>
                <a:spcPts val="700"/>
              </a:spcBef>
            </a:pPr>
            <a:r>
              <a:rPr sz="1300" b="0" i="0">
                <a:solidFill>
                  <a:srgbClr val="21295C"/>
                </a:solidFill>
                <a:latin typeface="Arial"/>
              </a:rPr>
              <a:t/>
            </a:r>
            <a:r>
              <a:rPr sz="1300" b="0" i="0">
                <a:solidFill>
                  <a:srgbClr val="21295C"/>
                </a:solidFill>
                <a:latin typeface="Arial"/>
              </a:rPr>
              <a:t>• назначить рабочую точку</a:t>
            </a:r>
          </a:p>
          <a:p>
            <a:pPr algn="l">
              <a:lnSpc>
                <a:spcPct val="126000"/>
              </a:lnSpc>
              <a:spcBef>
                <a:spcPts val="700"/>
              </a:spcBef>
            </a:pPr>
            <a:r>
              <a:rPr sz="1300" b="0" i="0">
                <a:solidFill>
                  <a:srgbClr val="21295C"/>
                </a:solidFill>
                <a:latin typeface="Arial"/>
              </a:rPr>
              <a:t/>
            </a:r>
            <a:r>
              <a:rPr sz="1300" b="0" i="0">
                <a:solidFill>
                  <a:srgbClr val="21295C"/>
                </a:solidFill>
                <a:latin typeface="Arial"/>
              </a:rPr>
              <a:t>• снять измерение</a:t>
            </a:r>
          </a:p>
          <a:p>
            <a:pPr algn="l">
              <a:lnSpc>
                <a:spcPct val="126000"/>
              </a:lnSpc>
              <a:spcBef>
                <a:spcPts val="700"/>
              </a:spcBef>
            </a:pPr>
            <a:r>
              <a:rPr sz="1300" b="0" i="0">
                <a:solidFill>
                  <a:srgbClr val="21295C"/>
                </a:solidFill>
                <a:latin typeface="Arial"/>
              </a:rPr>
              <a:t/>
            </a:r>
            <a:r>
              <a:rPr sz="1300" b="0" i="0">
                <a:solidFill>
                  <a:srgbClr val="21295C"/>
                </a:solidFill>
                <a:latin typeface="Arial"/>
              </a:rPr>
              <a:t>• решить, годно ли оно</a:t>
            </a:r>
          </a:p>
          <a:p>
            <a:pPr algn="l">
              <a:lnSpc>
                <a:spcPct val="126000"/>
              </a:lnSpc>
              <a:spcBef>
                <a:spcPts val="700"/>
              </a:spcBef>
            </a:pPr>
            <a:r>
              <a:rPr sz="1300" b="0" i="0">
                <a:solidFill>
                  <a:srgbClr val="21295C"/>
                </a:solidFill>
                <a:latin typeface="Arial"/>
              </a:rPr>
              <a:t/>
            </a:r>
            <a:r>
              <a:rPr sz="1300" b="0" i="0">
                <a:solidFill>
                  <a:srgbClr val="21295C"/>
                </a:solidFill>
                <a:latin typeface="Arial"/>
              </a:rPr>
              <a:t>• прочесть и назвать две доли</a:t>
            </a:r>
          </a:p>
          <a:p>
            <a:pPr algn="l">
              <a:lnSpc>
                <a:spcPct val="126000"/>
              </a:lnSpc>
              <a:spcBef>
                <a:spcPts val="700"/>
              </a:spcBef>
            </a:pPr>
            <a:r>
              <a:rPr sz="1300" b="0" i="0">
                <a:solidFill>
                  <a:srgbClr val="21295C"/>
                </a:solidFill>
                <a:latin typeface="Arial"/>
              </a:rPr>
              <a:t/>
            </a:r>
            <a:r>
              <a:rPr sz="1300" b="0" i="0">
                <a:solidFill>
                  <a:srgbClr val="21295C"/>
                </a:solidFill>
                <a:latin typeface="Arial"/>
              </a:rPr>
              <a:t>• пересчитать их под свою распространённость</a:t>
            </a:r>
          </a:p>
          <a:p>
            <a:pPr algn="l">
              <a:lnSpc>
                <a:spcPct val="126000"/>
              </a:lnSpc>
              <a:spcBef>
                <a:spcPts val="700"/>
              </a:spcBef>
            </a:pPr>
            <a:r>
              <a:rPr sz="1300" b="0" i="0">
                <a:solidFill>
                  <a:srgbClr val="21295C"/>
                </a:solidFill>
                <a:latin typeface="Arial"/>
              </a:rPr>
              <a:t/>
            </a:r>
            <a:r>
              <a:rPr sz="1300" b="0" i="0">
                <a:solidFill>
                  <a:srgbClr val="21295C"/>
                </a:solidFill>
                <a:latin typeface="Arial"/>
              </a:rPr>
              <a:t>• сообщить результат тому, кто решает</a:t>
            </a:r>
          </a:p>
        </p:txBody>
      </p:sp>
      <p:sp>
        <p:nvSpPr>
          <p:cNvPr id="14" name="TextBox 13"/>
          <p:cNvSpPr txBox="1"/>
          <p:nvPr/>
        </p:nvSpPr>
        <p:spPr>
          <a:xfrm>
            <a:off x="6278727" y="2683657"/>
            <a:ext cx="5373471" cy="3552550"/>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Без обученной модели каждое из шести делает человек по записанному правилу.</a:t>
            </a:r>
          </a:p>
          <a:p>
            <a:pPr algn="l">
              <a:lnSpc>
                <a:spcPct val="126000"/>
              </a:lnSpc>
              <a:spcBef>
                <a:spcPts val="700"/>
              </a:spcBef>
            </a:pPr>
            <a:r>
              <a:rPr sz="1300" b="0" i="0">
                <a:solidFill>
                  <a:srgbClr val="21295C"/>
                </a:solidFill>
                <a:latin typeface="Arial"/>
              </a:rPr>
              <a:t/>
            </a:r>
            <a:r>
              <a:rPr sz="1300" b="1" i="0">
                <a:solidFill>
                  <a:srgbClr val="21295C"/>
                </a:solidFill>
                <a:latin typeface="Arial"/>
              </a:rPr>
              <a:t>С обученной моделью — два шага из шести:</a:t>
            </a:r>
            <a:r>
              <a:rPr sz="1300" b="0" i="0">
                <a:solidFill>
                  <a:srgbClr val="21295C"/>
                </a:solidFill>
                <a:latin typeface="Arial"/>
              </a:rPr>
              <a:t> прочесть измерение, где вместо величины выдаётся один балл, и сообщить результат.</a:t>
            </a:r>
          </a:p>
          <a:p>
            <a:pPr algn="l">
              <a:lnSpc>
                <a:spcPct val="126000"/>
              </a:lnSpc>
              <a:spcBef>
                <a:spcPts val="700"/>
              </a:spcBef>
            </a:pPr>
            <a:r>
              <a:rPr sz="1300" b="0" i="0">
                <a:solidFill>
                  <a:srgbClr val="21295C"/>
                </a:solidFill>
                <a:latin typeface="Arial"/>
              </a:rPr>
              <a:t/>
            </a:r>
            <a:r>
              <a:rPr sz="1300" b="1" i="0">
                <a:solidFill>
                  <a:srgbClr val="21295C"/>
                </a:solidFill>
                <a:latin typeface="Arial"/>
              </a:rPr>
              <a:t>Рабочая точка, съёмка, годность и пересчёт остались людям.</a:t>
            </a:r>
            <a:r>
              <a:rPr sz="1300" b="0" i="0">
                <a:solidFill>
                  <a:srgbClr val="21295C"/>
                </a:solidFill>
                <a:latin typeface="Arial"/>
              </a:rPr>
              <a:t> Новый шаг — повторный визит тем, чьё измерение не прошло.</a:t>
            </a:r>
          </a:p>
          <a:p>
            <a:pPr algn="l">
              <a:lnSpc>
                <a:spcPct val="126000"/>
              </a:lnSpc>
              <a:spcBef>
                <a:spcPts val="700"/>
              </a:spcBef>
            </a:pPr>
            <a:r>
              <a:rPr sz="1300" b="0" i="0">
                <a:solidFill>
                  <a:srgbClr val="21295C"/>
                </a:solidFill>
                <a:latin typeface="Arial"/>
              </a:rPr>
              <a:t/>
            </a:r>
            <a:r>
              <a:rPr sz="1300" b="1" i="0">
                <a:solidFill>
                  <a:srgbClr val="21295C"/>
                </a:solidFill>
                <a:latin typeface="Arial"/>
              </a:rPr>
              <a:t>Чувствительность</a:t>
            </a:r>
            <a:r>
              <a:rPr sz="1300" b="0" i="0">
                <a:solidFill>
                  <a:srgbClr val="21295C"/>
                </a:solidFill>
                <a:latin typeface="Arial"/>
              </a:rPr>
              <a:t> и </a:t>
            </a:r>
            <a:r>
              <a:rPr sz="1300" b="1" i="0">
                <a:solidFill>
                  <a:srgbClr val="21295C"/>
                </a:solidFill>
                <a:latin typeface="Arial"/>
              </a:rPr>
              <a:t>специфичность</a:t>
            </a:r>
            <a:r>
              <a:rPr sz="1300" b="0" i="0">
                <a:solidFill>
                  <a:srgbClr val="21295C"/>
                </a:solidFill>
                <a:latin typeface="Arial"/>
              </a:rPr>
              <a:t> — полнота по больным и по здоровым; всегда парой и всегда для одной рабочей точки.</a:t>
            </a:r>
          </a:p>
          <a:p>
            <a:pPr algn="l">
              <a:lnSpc>
                <a:spcPct val="126000"/>
              </a:lnSpc>
              <a:spcBef>
                <a:spcPts val="700"/>
              </a:spcBef>
            </a:pPr>
            <a:r>
              <a:rPr sz="1300" b="0" i="0">
                <a:solidFill>
                  <a:srgbClr val="21295C"/>
                </a:solidFill>
                <a:latin typeface="Arial"/>
              </a:rPr>
              <a:t/>
            </a:r>
            <a:r>
              <a:rPr sz="1300" b="1" i="0">
                <a:solidFill>
                  <a:srgbClr val="21295C"/>
                </a:solidFill>
                <a:latin typeface="Arial"/>
              </a:rPr>
              <a:t>Доля верных тревог</a:t>
            </a:r>
            <a:r>
              <a:rPr sz="1300" b="0" i="0">
                <a:solidFill>
                  <a:srgbClr val="21295C"/>
                </a:solidFill>
                <a:latin typeface="Arial"/>
              </a:rPr>
              <a:t> — третья, и считает её тот, кто применяет. Врач на приёме видит на столе именно её.</a:t>
            </a:r>
          </a:p>
          <a:p>
            <a:pPr algn="l">
              <a:lnSpc>
                <a:spcPct val="126000"/>
              </a:lnSpc>
              <a:spcBef>
                <a:spcPts val="700"/>
              </a:spcBef>
            </a:pPr>
            <a:r>
              <a:rPr sz="1300" b="0" i="0">
                <a:solidFill>
                  <a:srgbClr val="21295C"/>
                </a:solidFill>
                <a:latin typeface="Arial"/>
              </a:rPr>
              <a:t/>
            </a:r>
            <a:r>
              <a:rPr sz="1300" b="1" i="0">
                <a:solidFill>
                  <a:srgbClr val="21295C"/>
                </a:solidFill>
                <a:latin typeface="Arial"/>
              </a:rPr>
              <a:t>Вам называют «точность 94 процента». На какой группе она посчитана — и кто у вас задаёт этот вопрос вслух?</a:t>
            </a:r>
          </a:p>
        </p:txBody>
      </p:sp>
      <p:sp>
        <p:nvSpPr>
          <p:cNvPr id="15" name="Rectangle 14"/>
          <p:cNvSpPr/>
          <p:nvPr/>
        </p:nvSpPr>
        <p:spPr>
          <a:xfrm>
            <a:off x="6091275" y="2683657"/>
            <a:ext cx="9144" cy="3533935"/>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Систематический обзор работ машинного обучения на снимках при ковидной пневмонии: Roberts и соавторы, Nature Machine Intelligence, 2021;3:199–217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Одна система, две группы: 8 верных тревог из ста против 79</a:t>
            </a:r>
          </a:p>
        </p:txBody>
      </p:sp>
      <p:sp>
        <p:nvSpPr>
          <p:cNvPr id="4" name="Rounded Rectangle 3"/>
          <p:cNvSpPr/>
          <p:nvPr/>
        </p:nvSpPr>
        <p:spPr>
          <a:xfrm>
            <a:off x="502920" y="1335024"/>
            <a:ext cx="2673019"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ЛОВИТ БОЛЬНЫХ</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94 из ста больных</a:t>
            </a:r>
          </a:p>
        </p:txBody>
      </p:sp>
      <p:sp>
        <p:nvSpPr>
          <p:cNvPr id="7" name="TextBox 6"/>
          <p:cNvSpPr txBox="1"/>
          <p:nvPr/>
        </p:nvSpPr>
        <p:spPr>
          <a:xfrm>
            <a:off x="640080" y="2542797"/>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опубликованная рабочая точка, взятая иллюстрацией методики</a:t>
            </a:r>
          </a:p>
        </p:txBody>
      </p:sp>
      <p:sp>
        <p:nvSpPr>
          <p:cNvPr id="8" name="Rounded Rectangle 7"/>
          <p:cNvSpPr/>
          <p:nvPr/>
        </p:nvSpPr>
        <p:spPr>
          <a:xfrm>
            <a:off x="3340531" y="1335024"/>
            <a:ext cx="2673019"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НАПРАСНО ПУГАЕТ ЗДОРОВЫХ</a:t>
            </a:r>
          </a:p>
        </p:txBody>
      </p:sp>
      <p:sp>
        <p:nvSpPr>
          <p:cNvPr id="10" name="TextBox 9"/>
          <p:cNvSpPr txBox="1"/>
          <p:nvPr/>
        </p:nvSpPr>
        <p:spPr>
          <a:xfrm>
            <a:off x="3477691"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11 из ста здоровых</a:t>
            </a:r>
          </a:p>
        </p:txBody>
      </p:sp>
      <p:sp>
        <p:nvSpPr>
          <p:cNvPr id="11" name="TextBox 10"/>
          <p:cNvSpPr txBox="1"/>
          <p:nvPr/>
        </p:nvSpPr>
        <p:spPr>
          <a:xfrm>
            <a:off x="3477691"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точка; обе доли меняются только вместе</a:t>
            </a:r>
          </a:p>
        </p:txBody>
      </p:sp>
      <p:sp>
        <p:nvSpPr>
          <p:cNvPr id="12" name="Rounded Rectangle 11"/>
          <p:cNvSpPr/>
          <p:nvPr/>
        </p:nvSpPr>
        <p:spPr>
          <a:xfrm>
            <a:off x="6178143" y="1335024"/>
            <a:ext cx="2673019"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ВЕРНАЯ ТРЕВОГА — ПОГОЛОВНЫЙ ПОТОК</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 из ста тревог</a:t>
            </a:r>
          </a:p>
        </p:txBody>
      </p:sp>
      <p:sp>
        <p:nvSpPr>
          <p:cNvPr id="15" name="TextBox 14"/>
          <p:cNvSpPr txBox="1"/>
          <p:nvPr/>
        </p:nvSpPr>
        <p:spPr>
          <a:xfrm>
            <a:off x="6315303" y="2359845"/>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10 000 подряд больных 100: 94 верные тревоги и 1 089 ложных — 1 183 поднятые</a:t>
            </a:r>
          </a:p>
        </p:txBody>
      </p:sp>
      <p:sp>
        <p:nvSpPr>
          <p:cNvPr id="16" name="Rounded Rectangle 15"/>
          <p:cNvSpPr/>
          <p:nvPr/>
        </p:nvSpPr>
        <p:spPr>
          <a:xfrm>
            <a:off x="9015755" y="1335024"/>
            <a:ext cx="2673019"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ВЕРНАЯ ТРЕВОГА — ПРОФИЛЬНОЕ ОТДЕЛЕНИЕ</a:t>
            </a:r>
          </a:p>
        </p:txBody>
      </p:sp>
      <p:sp>
        <p:nvSpPr>
          <p:cNvPr id="18" name="TextBox 17"/>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79 из ста тревог</a:t>
            </a:r>
          </a:p>
        </p:txBody>
      </p:sp>
      <p:sp>
        <p:nvSpPr>
          <p:cNvPr id="19" name="TextBox 18"/>
          <p:cNvSpPr txBox="1"/>
          <p:nvPr/>
        </p:nvSpPr>
        <p:spPr>
          <a:xfrm>
            <a:off x="9152915" y="2359845"/>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тех же 10 000 больных 3 000: 2 820 верных и 770 ложных — 3 590 поднятых</a:t>
            </a:r>
          </a:p>
        </p:txBody>
      </p:sp>
      <p:sp>
        <p:nvSpPr>
          <p:cNvPr id="20" name="Rounded Rectangle 19"/>
          <p:cNvSpPr/>
          <p:nvPr/>
        </p:nvSpPr>
        <p:spPr>
          <a:xfrm>
            <a:off x="374904" y="3405128"/>
            <a:ext cx="11441887" cy="2831079"/>
          </a:xfrm>
          <a:prstGeom prst="roundRect">
            <a:avLst>
              <a:gd name="adj" fmla="val 10766"/>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496568"/>
            <a:ext cx="5373471" cy="2739639"/>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Внутри системы не изменилась ни одна строка. Долю больных назначил тот, кто решил, кого звать.</a:t>
            </a:r>
          </a:p>
          <a:p>
            <a:pPr algn="l">
              <a:lnSpc>
                <a:spcPct val="126000"/>
              </a:lnSpc>
              <a:spcBef>
                <a:spcPts val="700"/>
              </a:spcBef>
            </a:pPr>
            <a:r>
              <a:rPr sz="1500" b="0" i="0">
                <a:solidFill>
                  <a:srgbClr val="21295C"/>
                </a:solidFill>
                <a:latin typeface="Arial"/>
              </a:rPr>
              <a:t/>
            </a:r>
            <a:r>
              <a:rPr sz="1500" b="0" i="0">
                <a:solidFill>
                  <a:srgbClr val="21295C"/>
                </a:solidFill>
                <a:latin typeface="Arial"/>
              </a:rPr>
              <a:t>Это счёт методики на опубликованной рабочей точке — не разбор изделия.</a:t>
            </a:r>
          </a:p>
          <a:p>
            <a:pPr algn="l">
              <a:lnSpc>
                <a:spcPct val="126000"/>
              </a:lnSpc>
              <a:spcBef>
                <a:spcPts val="700"/>
              </a:spcBef>
            </a:pPr>
            <a:r>
              <a:rPr sz="1500" b="0" i="0">
                <a:solidFill>
                  <a:srgbClr val="21295C"/>
                </a:solidFill>
                <a:latin typeface="Arial"/>
              </a:rPr>
              <a:t/>
            </a:r>
            <a:r>
              <a:rPr sz="1500" b="1" i="0">
                <a:solidFill>
                  <a:srgbClr val="21295C"/>
                </a:solidFill>
                <a:latin typeface="Arial"/>
              </a:rPr>
              <a:t>Три способа поднять долю верных тревог, и ни один не состоит в улучшении модели</a:t>
            </a:r>
          </a:p>
          <a:p>
            <a:pPr algn="l">
              <a:lnSpc>
                <a:spcPct val="126000"/>
              </a:lnSpc>
              <a:spcBef>
                <a:spcPts val="700"/>
              </a:spcBef>
            </a:pPr>
            <a:r>
              <a:rPr sz="1500" b="0" i="0">
                <a:solidFill>
                  <a:srgbClr val="21295C"/>
                </a:solidFill>
                <a:latin typeface="Arial"/>
              </a:rPr>
              <a:t/>
            </a:r>
            <a:r>
              <a:rPr sz="1500" b="0" i="0">
                <a:solidFill>
                  <a:srgbClr val="21295C"/>
                </a:solidFill>
                <a:latin typeface="Arial"/>
              </a:rPr>
              <a:t>• сдвинуть порог: ложных тревог меньше, пропущенных больных больше</a:t>
            </a:r>
          </a:p>
        </p:txBody>
      </p:sp>
      <p:sp>
        <p:nvSpPr>
          <p:cNvPr id="22" name="TextBox 21"/>
          <p:cNvSpPr txBox="1"/>
          <p:nvPr/>
        </p:nvSpPr>
        <p:spPr>
          <a:xfrm>
            <a:off x="6278727" y="3496568"/>
            <a:ext cx="5373471" cy="2739639"/>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сменить группу: обследовать тех, у кого болезнь встречается чаще</a:t>
            </a:r>
          </a:p>
          <a:p>
            <a:pPr algn="l">
              <a:lnSpc>
                <a:spcPct val="126000"/>
              </a:lnSpc>
              <a:spcBef>
                <a:spcPts val="700"/>
              </a:spcBef>
            </a:pPr>
            <a:r>
              <a:rPr sz="1500" b="0" i="0">
                <a:solidFill>
                  <a:srgbClr val="21295C"/>
                </a:solidFill>
                <a:latin typeface="Arial"/>
              </a:rPr>
              <a:t/>
            </a:r>
            <a:r>
              <a:rPr sz="1500" b="0" i="0">
                <a:solidFill>
                  <a:srgbClr val="21295C"/>
                </a:solidFill>
                <a:latin typeface="Arial"/>
              </a:rPr>
              <a:t>• поставить вторым подтверждающий тест и объявлять «болен» по двум</a:t>
            </a:r>
          </a:p>
          <a:p>
            <a:pPr algn="l">
              <a:lnSpc>
                <a:spcPct val="126000"/>
              </a:lnSpc>
              <a:spcBef>
                <a:spcPts val="700"/>
              </a:spcBef>
            </a:pPr>
            <a:r>
              <a:rPr sz="1500" b="0" i="0">
                <a:solidFill>
                  <a:srgbClr val="21295C"/>
                </a:solidFill>
                <a:latin typeface="Arial"/>
              </a:rPr>
              <a:t/>
            </a:r>
            <a:r>
              <a:rPr sz="1500" b="1" i="0">
                <a:solidFill>
                  <a:srgbClr val="21295C"/>
                </a:solidFill>
                <a:latin typeface="Arial"/>
              </a:rPr>
              <a:t>Заявленная точность без названной группы и распространённости болезни на слайд не идёт.</a:t>
            </a:r>
          </a:p>
        </p:txBody>
      </p:sp>
      <p:sp>
        <p:nvSpPr>
          <p:cNvPr id="23" name="Rectangle 22"/>
          <p:cNvSpPr/>
          <p:nvPr/>
        </p:nvSpPr>
        <p:spPr>
          <a:xfrm>
            <a:off x="6091275" y="3496568"/>
            <a:ext cx="9144" cy="2643189"/>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Рабочая точка 94 и 11 — опубликованный замер модели чтения снимков грудной клетки: Rajpurkar и соавторы, CheXNet, 2017, взята иллюстрацией методики; доля верных тревог посчитана при распространённости один из ста и тридцать из ста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Классический режим: годность снимка решает человек</a:t>
            </a:r>
          </a:p>
        </p:txBody>
      </p:sp>
      <p:sp>
        <p:nvSpPr>
          <p:cNvPr id="4" name="TextBox 3"/>
          <p:cNvSpPr txBox="1"/>
          <p:nvPr/>
        </p:nvSpPr>
        <p:spPr>
          <a:xfrm>
            <a:off x="502920" y="13716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5" name="Rounded Rectangle 4"/>
          <p:cNvSpPr/>
          <p:nvPr/>
        </p:nvSpPr>
        <p:spPr>
          <a:xfrm>
            <a:off x="1920240"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Снять пациента</a:t>
            </a:r>
          </a:p>
        </p:txBody>
      </p:sp>
      <p:sp>
        <p:nvSpPr>
          <p:cNvPr id="7" name="Right Arrow 6"/>
          <p:cNvSpPr/>
          <p:nvPr/>
        </p:nvSpPr>
        <p:spPr>
          <a:xfrm>
            <a:off x="5039258" y="1504140"/>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Посмотреть на экран</a:t>
            </a:r>
          </a:p>
        </p:txBody>
      </p:sp>
      <p:sp>
        <p:nvSpPr>
          <p:cNvPr id="10" name="Right Arrow 9"/>
          <p:cNvSpPr/>
          <p:nvPr/>
        </p:nvSpPr>
        <p:spPr>
          <a:xfrm>
            <a:off x="8386876" y="1504140"/>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Решить: годится или переснять</a:t>
            </a:r>
          </a:p>
        </p:txBody>
      </p:sp>
      <p:sp>
        <p:nvSpPr>
          <p:cNvPr id="13" name="TextBox 12"/>
          <p:cNvSpPr txBox="1"/>
          <p:nvPr/>
        </p:nvSpPr>
        <p:spPr>
          <a:xfrm>
            <a:off x="502920" y="1846992"/>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Решение техника о годности снимка</a:t>
            </a:r>
          </a:p>
        </p:txBody>
      </p:sp>
      <p:sp>
        <p:nvSpPr>
          <p:cNvPr id="14" name="Rounded Rectangle 13"/>
          <p:cNvSpPr/>
          <p:nvPr/>
        </p:nvSpPr>
        <p:spPr>
          <a:xfrm>
            <a:off x="374904" y="2149676"/>
            <a:ext cx="11441887" cy="2917509"/>
          </a:xfrm>
          <a:prstGeom prst="roundRect">
            <a:avLst>
              <a:gd name="adj" fmla="val 10447"/>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2241116"/>
            <a:ext cx="5373471" cy="3995091"/>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Из трёх классических режимов чтения раздел берёт один — </a:t>
            </a:r>
            <a:r>
              <a:rPr sz="1500" b="1" i="0">
                <a:solidFill>
                  <a:srgbClr val="21295C"/>
                </a:solidFill>
                <a:latin typeface="Arial"/>
              </a:rPr>
              <a:t>контроль годности измерения</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0" i="0">
                <a:solidFill>
                  <a:srgbClr val="21295C"/>
                </a:solidFill>
                <a:latin typeface="Arial"/>
              </a:rPr>
              <a:t>Двойное чтение и арбитраж придут позже, вместе с человеком, который читает рядом с моделью.</a:t>
            </a:r>
          </a:p>
          <a:p>
            <a:pPr algn="l">
              <a:lnSpc>
                <a:spcPct val="126000"/>
              </a:lnSpc>
              <a:spcBef>
                <a:spcPts val="700"/>
              </a:spcBef>
            </a:pPr>
            <a:r>
              <a:rPr sz="1500" b="0" i="0">
                <a:solidFill>
                  <a:srgbClr val="21295C"/>
                </a:solidFill>
                <a:latin typeface="Arial"/>
              </a:rPr>
              <a:t/>
            </a:r>
            <a:r>
              <a:rPr sz="1500" b="0" i="0">
                <a:solidFill>
                  <a:srgbClr val="21295C"/>
                </a:solidFill>
                <a:latin typeface="Arial"/>
              </a:rPr>
              <a:t>Техник флюорографии районной поликлиники ставит пациента, снимает, смотрит на экран и решает — годится снимок или нужно переснять.</a:t>
            </a:r>
          </a:p>
        </p:txBody>
      </p:sp>
      <p:sp>
        <p:nvSpPr>
          <p:cNvPr id="16" name="TextBox 15"/>
          <p:cNvSpPr txBox="1"/>
          <p:nvPr/>
        </p:nvSpPr>
        <p:spPr>
          <a:xfrm>
            <a:off x="6278727" y="2241116"/>
            <a:ext cx="5373471" cy="399509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 какому правилу он решает.</a:t>
            </a:r>
            <a:r>
              <a:rPr sz="1500" b="0" i="0">
                <a:solidFill>
                  <a:srgbClr val="21295C"/>
                </a:solidFill>
                <a:latin typeface="Arial"/>
              </a:rPr>
              <a:t> Инструкция кабинета и видимое качество кадра. В приборе этого правила нет.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бывает, если негодный снимок уйдёт на чтение.</a:t>
            </a:r>
            <a:r>
              <a:rPr sz="1500" b="0" i="0">
                <a:solidFill>
                  <a:srgbClr val="21295C"/>
                </a:solidFill>
                <a:latin typeface="Arial"/>
              </a:rPr>
              <a:t> Диагноз ставят по тому, что видно, не по тому, что было на самом деле.</a:t>
            </a:r>
          </a:p>
          <a:p>
            <a:pPr algn="l">
              <a:lnSpc>
                <a:spcPct val="126000"/>
              </a:lnSpc>
              <a:spcBef>
                <a:spcPts val="700"/>
              </a:spcBef>
            </a:pPr>
            <a:r>
              <a:rPr sz="1500" b="0" i="0">
                <a:solidFill>
                  <a:srgbClr val="21295C"/>
                </a:solidFill>
                <a:latin typeface="Arial"/>
              </a:rPr>
              <a:t/>
            </a:r>
            <a:r>
              <a:rPr sz="1500" b="1" i="0">
                <a:solidFill>
                  <a:srgbClr val="21295C"/>
                </a:solidFill>
                <a:latin typeface="Arial"/>
              </a:rPr>
              <a:t>Кто это заметит, если не он.</a:t>
            </a:r>
            <a:r>
              <a:rPr sz="1500" b="0" i="0">
                <a:solidFill>
                  <a:srgbClr val="21295C"/>
                </a:solidFill>
                <a:latin typeface="Arial"/>
              </a:rPr>
              <a:t> Чаще всего — никто, пока не понадобится пересмотр.</a:t>
            </a:r>
          </a:p>
          <a:p>
            <a:pPr algn="l">
              <a:lnSpc>
                <a:spcPct val="126000"/>
              </a:lnSpc>
              <a:spcBef>
                <a:spcPts val="700"/>
              </a:spcBef>
            </a:pPr>
            <a:r>
              <a:rPr sz="1500" b="0" i="0">
                <a:solidFill>
                  <a:srgbClr val="21295C"/>
                </a:solidFill>
                <a:latin typeface="Arial"/>
              </a:rPr>
              <a:t/>
            </a:r>
            <a:r>
              <a:rPr sz="1500" b="0" i="0">
                <a:solidFill>
                  <a:srgbClr val="21295C"/>
                </a:solidFill>
                <a:latin typeface="Arial"/>
              </a:rPr>
              <a:t>Пригодность измерения решает не прибор.</a:t>
            </a:r>
          </a:p>
        </p:txBody>
      </p:sp>
      <p:sp>
        <p:nvSpPr>
          <p:cNvPr id="17" name="Rectangle 16"/>
          <p:cNvSpPr/>
          <p:nvPr/>
        </p:nvSpPr>
        <p:spPr>
          <a:xfrm>
            <a:off x="6091275" y="2241116"/>
            <a:ext cx="9144" cy="2643189"/>
          </a:xfrm>
          <a:prstGeom prst="rect">
            <a:avLst/>
          </a:prstGeom>
          <a:solidFill>
            <a:srgbClr val="D9E2EC"/>
          </a:solidFill>
          <a:ln>
            <a:noFill/>
          </a:ln>
          <a:effectLst/>
        </p:spPr>
        <p:txBody>
          <a:bodyPr rtlCol="0" anchor="ctr"/>
          <a:lstStyle/>
          <a:p>
            <a:pPr algn="ct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Таиланд — точность приехала, а снимки не прошли</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СНИМОК ОТКЛОНЁН ПО КАЧЕСТВУ</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21 из ста снимков</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393 снимка из 1 838 в одиннадцати клиниках за первые полгода развёртывания; причины — освещение в кабинете и медленная связь</a:t>
            </a:r>
          </a:p>
        </p:txBody>
      </p:sp>
      <p:sp>
        <p:nvSpPr>
          <p:cNvPr id="8" name="Rounded Rectangle 7"/>
          <p:cNvSpPr/>
          <p:nvPr/>
        </p:nvSpPr>
        <p:spPr>
          <a:xfrm>
            <a:off x="374904" y="2592217"/>
            <a:ext cx="11441887" cy="3214570"/>
          </a:xfrm>
          <a:prstGeom prst="roundRect">
            <a:avLst>
              <a:gd name="adj" fmla="val 9481"/>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539496" y="2683657"/>
            <a:ext cx="5373471" cy="355255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Цена обеих ошибок — в исходах и в визитах, не в деньгах</a:t>
            </a:r>
          </a:p>
          <a:p>
            <a:pPr algn="l">
              <a:lnSpc>
                <a:spcPct val="126000"/>
              </a:lnSpc>
              <a:spcBef>
                <a:spcPts val="700"/>
              </a:spcBef>
            </a:pPr>
            <a:r>
              <a:rPr sz="1500" b="0" i="0">
                <a:solidFill>
                  <a:srgbClr val="21295C"/>
                </a:solidFill>
                <a:latin typeface="Arial"/>
              </a:rPr>
              <a:t/>
            </a:r>
            <a:r>
              <a:rPr sz="1500" b="0" i="0">
                <a:solidFill>
                  <a:srgbClr val="21295C"/>
                </a:solidFill>
                <a:latin typeface="Arial"/>
              </a:rPr>
              <a:t>• пропуск: поражение глазного дна бессимптомно до поздних стадий, потеря зрения необратима</a:t>
            </a:r>
          </a:p>
          <a:p>
            <a:pPr algn="l">
              <a:lnSpc>
                <a:spcPct val="126000"/>
              </a:lnSpc>
              <a:spcBef>
                <a:spcPts val="700"/>
              </a:spcBef>
            </a:pPr>
            <a:r>
              <a:rPr sz="1500" b="0" i="0">
                <a:solidFill>
                  <a:srgbClr val="21295C"/>
                </a:solidFill>
                <a:latin typeface="Arial"/>
              </a:rPr>
              <a:t/>
            </a:r>
            <a:r>
              <a:rPr sz="1500" b="0" i="0">
                <a:solidFill>
                  <a:srgbClr val="21295C"/>
                </a:solidFill>
                <a:latin typeface="Arial"/>
              </a:rPr>
              <a:t>• ложная тревога: направление к офтальмологу, которого в районе может не быть вовсе</a:t>
            </a:r>
          </a:p>
          <a:p>
            <a:pPr algn="l">
              <a:lnSpc>
                <a:spcPct val="126000"/>
              </a:lnSpc>
              <a:spcBef>
                <a:spcPts val="700"/>
              </a:spcBef>
            </a:pPr>
            <a:r>
              <a:rPr sz="1500" b="0" i="0">
                <a:solidFill>
                  <a:srgbClr val="21295C"/>
                </a:solidFill>
                <a:latin typeface="Arial"/>
              </a:rPr>
              <a:t/>
            </a:r>
            <a:r>
              <a:rPr sz="1500" b="1" i="0">
                <a:solidFill>
                  <a:srgbClr val="21295C"/>
                </a:solidFill>
                <a:latin typeface="Arial"/>
              </a:rPr>
              <a:t>Классический режим</a:t>
            </a:r>
            <a:r>
              <a:rPr sz="1500" b="0" i="0">
                <a:solidFill>
                  <a:srgbClr val="21295C"/>
                </a:solidFill>
                <a:latin typeface="Arial"/>
              </a:rPr>
              <a:t> — словами, без числа: раз в год человек с диабетом идёт к офтальмологу, тот сам снимает и сам читает.</a:t>
            </a:r>
          </a:p>
        </p:txBody>
      </p:sp>
      <p:sp>
        <p:nvSpPr>
          <p:cNvPr id="10" name="TextBox 9"/>
          <p:cNvSpPr txBox="1"/>
          <p:nvPr/>
        </p:nvSpPr>
        <p:spPr>
          <a:xfrm>
            <a:off x="6278727" y="2683657"/>
            <a:ext cx="5373471" cy="355255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против него</a:t>
            </a:r>
            <a:r>
              <a:rPr sz="1500" b="0" i="0">
                <a:solidFill>
                  <a:srgbClr val="21295C"/>
                </a:solidFill>
                <a:latin typeface="Arial"/>
              </a:rPr>
              <a:t> — автономное чтение двух снимков глазного дна на месте, без офтальмолога, результат меньше чем за минуту.</a:t>
            </a:r>
          </a:p>
          <a:p>
            <a:pPr algn="l">
              <a:lnSpc>
                <a:spcPct val="126000"/>
              </a:lnSpc>
              <a:spcBef>
                <a:spcPts val="700"/>
              </a:spcBef>
            </a:pPr>
            <a:r>
              <a:rPr sz="1500" b="0" i="0">
                <a:solidFill>
                  <a:srgbClr val="21295C"/>
                </a:solidFill>
                <a:latin typeface="Arial"/>
              </a:rPr>
              <a:t/>
            </a:r>
            <a:r>
              <a:rPr sz="1500" b="0" i="0">
                <a:solidFill>
                  <a:srgbClr val="21295C"/>
                </a:solidFill>
                <a:latin typeface="Arial"/>
              </a:rPr>
              <a:t>В поле по качеству отклонён </a:t>
            </a:r>
            <a:r>
              <a:rPr sz="1500" b="1" i="0">
                <a:solidFill>
                  <a:srgbClr val="21295C"/>
                </a:solidFill>
                <a:latin typeface="Arial"/>
              </a:rPr>
              <a:t>21 снимок из ста</a:t>
            </a:r>
            <a:r>
              <a:rPr sz="1500" b="0" i="0">
                <a:solidFill>
                  <a:srgbClr val="21295C"/>
                </a:solidFill>
                <a:latin typeface="Arial"/>
              </a:rPr>
              <a:t>: 393 из 1 838 за первые полгода в одиннадцати клиниках.</a:t>
            </a:r>
          </a:p>
          <a:p>
            <a:pPr algn="l">
              <a:lnSpc>
                <a:spcPct val="126000"/>
              </a:lnSpc>
              <a:spcBef>
                <a:spcPts val="700"/>
              </a:spcBef>
            </a:pPr>
            <a:r>
              <a:rPr sz="1500" b="0" i="0">
                <a:solidFill>
                  <a:srgbClr val="21295C"/>
                </a:solidFill>
                <a:latin typeface="Arial"/>
              </a:rPr>
              <a:t/>
            </a:r>
            <a:r>
              <a:rPr sz="1500" b="0" i="0">
                <a:solidFill>
                  <a:srgbClr val="21295C"/>
                </a:solidFill>
                <a:latin typeface="Arial"/>
              </a:rPr>
              <a:t>Причины названы, и обе они про место съёмки: освещение в кабинете и медленная связь.</a:t>
            </a:r>
          </a:p>
          <a:p>
            <a:pPr algn="l">
              <a:lnSpc>
                <a:spcPct val="126000"/>
              </a:lnSpc>
              <a:spcBef>
                <a:spcPts val="700"/>
              </a:spcBef>
            </a:pPr>
            <a:r>
              <a:rPr sz="1200" b="0" i="0">
                <a:solidFill>
                  <a:srgbClr val="21295C"/>
                </a:solidFill>
                <a:latin typeface="Arial"/>
              </a:rPr>
              <a:t/>
            </a:r>
            <a:r>
              <a:rPr sz="1200" b="0" i="1">
                <a:solidFill>
                  <a:srgbClr val="1C7293"/>
                </a:solidFill>
                <a:latin typeface="Arial"/>
              </a:rPr>
              <a:t>Это доля негодных снимков. Явку мерил другой разбор и на другой выборке.</a:t>
            </a:r>
          </a:p>
        </p:txBody>
      </p:sp>
      <p:sp>
        <p:nvSpPr>
          <p:cNvPr id="11" name="Rectangle 10"/>
          <p:cNvSpPr/>
          <p:nvPr/>
        </p:nvSpPr>
        <p:spPr>
          <a:xfrm>
            <a:off x="6091275" y="2683657"/>
            <a:ext cx="9144" cy="2940250"/>
          </a:xfrm>
          <a:prstGeom prst="rect">
            <a:avLst/>
          </a:prstGeom>
          <a:solidFill>
            <a:srgbClr val="D9E2EC"/>
          </a:solidFill>
          <a:ln>
            <a:noFill/>
          </a:ln>
          <a:effectLst/>
        </p:spPr>
        <p:txBody>
          <a:bodyPr rtlCol="0" anchor="ctr"/>
          <a:lstStyle/>
          <a:p>
            <a:pPr algn="ct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3" name="TextBox 1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Полевая оценка развёртывания автономного чтения глазного дна в одиннадцати клиниках Таиланда: Beede и соавторы, CHI 2020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1, цена: тот же техник и новая работа — добиться годного снимка</a:t>
            </a:r>
          </a:p>
        </p:txBody>
      </p:sp>
      <p:sp>
        <p:nvSpPr>
          <p:cNvPr id="4" name="Rounded Rectangle 3"/>
          <p:cNvSpPr/>
          <p:nvPr/>
        </p:nvSpPr>
        <p:spPr>
          <a:xfrm>
            <a:off x="502920" y="1335024"/>
            <a:ext cx="2204618" cy="1557120"/>
          </a:xfrm>
          <a:prstGeom prst="roundRect">
            <a:avLst>
              <a:gd name="adj" fmla="val 1957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9302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6" name="TextBox 5"/>
          <p:cNvSpPr txBox="1"/>
          <p:nvPr/>
        </p:nvSpPr>
        <p:spPr>
          <a:xfrm>
            <a:off x="640080" y="1725375"/>
            <a:ext cx="1930298"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Результат в кабинете первичного звена</a:t>
            </a:r>
          </a:p>
        </p:txBody>
      </p:sp>
      <p:sp>
        <p:nvSpPr>
          <p:cNvPr id="7" name="Rounded Rectangle 6"/>
          <p:cNvSpPr/>
          <p:nvPr/>
        </p:nvSpPr>
        <p:spPr>
          <a:xfrm>
            <a:off x="2872130" y="1335024"/>
            <a:ext cx="2204618" cy="1557120"/>
          </a:xfrm>
          <a:prstGeom prst="roundRect">
            <a:avLst>
              <a:gd name="adj" fmla="val 19574"/>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009290" y="1472184"/>
            <a:ext cx="19302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9" name="TextBox 8"/>
          <p:cNvSpPr txBox="1"/>
          <p:nvPr/>
        </p:nvSpPr>
        <p:spPr>
          <a:xfrm>
            <a:off x="3009290" y="1725375"/>
            <a:ext cx="1930298" cy="902297"/>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Годный снимок в непроверенных условиях</a:t>
            </a:r>
          </a:p>
        </p:txBody>
      </p:sp>
      <p:sp>
        <p:nvSpPr>
          <p:cNvPr id="10" name="Rounded Rectangle 9"/>
          <p:cNvSpPr/>
          <p:nvPr/>
        </p:nvSpPr>
        <p:spPr>
          <a:xfrm>
            <a:off x="5241340" y="1335024"/>
            <a:ext cx="2204618" cy="1557120"/>
          </a:xfrm>
          <a:prstGeom prst="roundRect">
            <a:avLst>
              <a:gd name="adj" fmla="val 19574"/>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5378500" y="1472184"/>
            <a:ext cx="19302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2" name="TextBox 11"/>
          <p:cNvSpPr txBox="1"/>
          <p:nvPr/>
        </p:nvSpPr>
        <p:spPr>
          <a:xfrm>
            <a:off x="5378500" y="1725375"/>
            <a:ext cx="1930298" cy="1029608"/>
          </a:xfrm>
          <a:prstGeom prst="rect">
            <a:avLst/>
          </a:prstGeom>
          <a:noFill/>
        </p:spPr>
        <p:txBody>
          <a:bodyPr wrap="square" lIns="0" rIns="0" tIns="0" bIns="0" anchor="t">
            <a:spAutoFit/>
          </a:bodyPr>
          <a:lstStyle/>
          <a:p>
            <a:pPr algn="l">
              <a:lnSpc>
                <a:spcPct val="108000"/>
              </a:lnSpc>
            </a:pPr>
            <a:r>
              <a:rPr sz="1950" b="1" i="0">
                <a:solidFill>
                  <a:srgbClr val="F0AB00"/>
                </a:solidFill>
                <a:latin typeface="Arial"/>
              </a:rPr>
              <a:t>На старте хуже лабораторного замера</a:t>
            </a:r>
          </a:p>
        </p:txBody>
      </p:sp>
      <p:sp>
        <p:nvSpPr>
          <p:cNvPr id="13" name="Rounded Rectangle 12"/>
          <p:cNvSpPr/>
          <p:nvPr/>
        </p:nvSpPr>
        <p:spPr>
          <a:xfrm>
            <a:off x="374904" y="2983584"/>
            <a:ext cx="11441887" cy="1640364"/>
          </a:xfrm>
          <a:prstGeom prst="roundRect">
            <a:avLst>
              <a:gd name="adj" fmla="val 18581"/>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539496" y="3075024"/>
            <a:ext cx="11112703" cy="316118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Нагрузка выросла на том же месте: у техника появилась работа добиться годного снимка.</a:t>
            </a:r>
          </a:p>
          <a:p>
            <a:pPr algn="l">
              <a:lnSpc>
                <a:spcPct val="126000"/>
              </a:lnSpc>
              <a:spcBef>
                <a:spcPts val="700"/>
              </a:spcBef>
            </a:pPr>
            <a:r>
              <a:rPr sz="1500" b="0" i="0">
                <a:solidFill>
                  <a:srgbClr val="21295C"/>
                </a:solidFill>
                <a:latin typeface="Arial"/>
              </a:rPr>
              <a:t/>
            </a:r>
            <a:r>
              <a:rPr sz="1500" b="0" i="0">
                <a:solidFill>
                  <a:srgbClr val="21295C"/>
                </a:solidFill>
                <a:latin typeface="Arial"/>
              </a:rPr>
              <a:t>Появился шаг — повторный визит тем, чей снимок не прошёл: это 21 человек из каждых ста обследованных.</a:t>
            </a:r>
          </a:p>
          <a:p>
            <a:pPr algn="l">
              <a:lnSpc>
                <a:spcPct val="126000"/>
              </a:lnSpc>
              <a:spcBef>
                <a:spcPts val="700"/>
              </a:spcBef>
            </a:pPr>
            <a:r>
              <a:rPr sz="1500" b="0" i="0">
                <a:solidFill>
                  <a:srgbClr val="21295C"/>
                </a:solidFill>
                <a:latin typeface="Arial"/>
              </a:rPr>
              <a:t/>
            </a:r>
            <a:r>
              <a:rPr sz="1500" b="0" i="0">
                <a:solidFill>
                  <a:srgbClr val="21295C"/>
                </a:solidFill>
                <a:latin typeface="Arial"/>
              </a:rPr>
              <a:t>Причины отклонения обе про место съёмки: освещение в кабинете и медленная связь. Ни одна на лабораторном наборе не видна.</a:t>
            </a:r>
          </a:p>
        </p:txBody>
      </p:sp>
      <p:sp>
        <p:nvSpPr>
          <p:cNvPr id="15" name="Rounded Rectangle 14"/>
          <p:cNvSpPr/>
          <p:nvPr/>
        </p:nvSpPr>
        <p:spPr>
          <a:xfrm>
            <a:off x="7756855" y="1335024"/>
            <a:ext cx="3931920" cy="1242025"/>
          </a:xfrm>
          <a:prstGeom prst="roundRect">
            <a:avLst>
              <a:gd name="adj" fmla="val 24540"/>
            </a:avLst>
          </a:prstGeom>
          <a:solidFill>
            <a:srgbClr val="F4F7FA"/>
          </a:solidFill>
          <a:ln w="19050">
            <a:solidFill>
              <a:srgbClr val="1C7293"/>
            </a:solidFill>
          </a:ln>
          <a:effectLst/>
        </p:spPr>
        <p:txBody>
          <a:bodyPr rtlCol="0" anchor="ctr"/>
          <a:lstStyle/>
          <a:p>
            <a:pPr algn="ctr"/>
          </a:p>
        </p:txBody>
      </p:sp>
      <p:pic>
        <p:nvPicPr>
          <p:cNvPr id="16" name="Picture 15" descr="s29-negodnye-snimki-glaznogo-dna.jpg"/>
          <p:cNvPicPr>
            <a:picLocks noChangeAspect="1"/>
          </p:cNvPicPr>
          <p:nvPr/>
        </p:nvPicPr>
        <p:blipFill>
          <a:blip r:embed="rId2"/>
          <a:stretch>
            <a:fillRect/>
          </a:stretch>
        </p:blipFill>
        <p:spPr>
          <a:xfrm>
            <a:off x="7894015" y="1472184"/>
            <a:ext cx="3657600" cy="967705"/>
          </a:xfrm>
          <a:prstGeom prst="rect">
            <a:avLst/>
          </a:prstGeom>
        </p:spPr>
      </p:pic>
      <p:sp>
        <p:nvSpPr>
          <p:cNvPr id="17" name="Rectangle 16"/>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То же полевое наблюдение развёртывания, одиннадцать клиник, первые полгода: Beede и соавторы, CHI 2020</a:t>
            </a:r>
            <a:r>
              <a:rPr sz="1200" b="0" i="1">
                <a:solidFill>
                  <a:srgbClr val="1C7293"/>
                </a:solidFill>
                <a:latin typeface="Arial"/>
              </a:rPr>
              <a:t> · </a:t>
            </a:r>
            <a:r>
              <a:rPr sz="1200" b="0" i="1" u="sng">
                <a:solidFill>
                  <a:srgbClr val="065A82"/>
                </a:solidFill>
                <a:latin typeface="Arial"/>
                <a:hlinkClick r:id="rId4"/>
              </a:rPr>
              <a:t>Иллюстрация: Skevas и соавт., BMC Ophthalmology 2024, рис. 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кожа и состав набора</a:t>
            </a:r>
          </a:p>
        </p:txBody>
      </p:sp>
      <p:sp>
        <p:nvSpPr>
          <p:cNvPr id="4" name="Rounded Rectangle 3"/>
          <p:cNvSpPr/>
          <p:nvPr/>
        </p:nvSpPr>
        <p:spPr>
          <a:xfrm>
            <a:off x="502920" y="1335024"/>
            <a:ext cx="2673019"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ОСМОТР НЕВООРУЖЁННЫМ ГЛАЗОМ</a:t>
            </a:r>
          </a:p>
        </p:txBody>
      </p:sp>
      <p:sp>
        <p:nvSpPr>
          <p:cNvPr id="6" name="TextBox 5"/>
          <p:cNvSpPr txBox="1"/>
          <p:nvPr/>
        </p:nvSpPr>
        <p:spPr>
          <a:xfrm>
            <a:off x="640080"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86 из ста больных</a:t>
            </a:r>
          </a:p>
        </p:txBody>
      </p:sp>
      <p:sp>
        <p:nvSpPr>
          <p:cNvPr id="7" name="TextBox 6"/>
          <p:cNvSpPr txBox="1"/>
          <p:nvPr/>
        </p:nvSpPr>
        <p:spPr>
          <a:xfrm>
            <a:off x="640080"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специфичность 77; оба режима из одного метаанализа</a:t>
            </a:r>
          </a:p>
        </p:txBody>
      </p:sp>
      <p:sp>
        <p:nvSpPr>
          <p:cNvPr id="8" name="Rounded Rectangle 7"/>
          <p:cNvSpPr/>
          <p:nvPr/>
        </p:nvSpPr>
        <p:spPr>
          <a:xfrm>
            <a:off x="3340531" y="1335024"/>
            <a:ext cx="2673019"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ДЕРМОСКОПИЯ У СПЕЦИАЛИСТА</a:t>
            </a:r>
          </a:p>
        </p:txBody>
      </p:sp>
      <p:sp>
        <p:nvSpPr>
          <p:cNvPr id="10" name="TextBox 9"/>
          <p:cNvSpPr txBox="1"/>
          <p:nvPr/>
        </p:nvSpPr>
        <p:spPr>
          <a:xfrm>
            <a:off x="3477691"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91 из ста больных</a:t>
            </a:r>
          </a:p>
        </p:txBody>
      </p:sp>
      <p:sp>
        <p:nvSpPr>
          <p:cNvPr id="11" name="TextBox 10"/>
          <p:cNvSpPr txBox="1"/>
          <p:nvPr/>
        </p:nvSpPr>
        <p:spPr>
          <a:xfrm>
            <a:off x="3477691" y="2750268"/>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специфичность 74</a:t>
            </a:r>
          </a:p>
        </p:txBody>
      </p:sp>
      <p:sp>
        <p:nvSpPr>
          <p:cNvPr id="12" name="Rounded Rectangle 11"/>
          <p:cNvSpPr/>
          <p:nvPr/>
        </p:nvSpPr>
        <p:spPr>
          <a:xfrm>
            <a:off x="6178143" y="1335024"/>
            <a:ext cx="2673019"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ПО ТОНУ КОЖИ У МОДЕЛИ</a:t>
            </a:r>
          </a:p>
        </p:txBody>
      </p:sp>
      <p:sp>
        <p:nvSpPr>
          <p:cNvPr id="14" name="TextBox 13"/>
          <p:cNvSpPr txBox="1"/>
          <p:nvPr/>
        </p:nvSpPr>
        <p:spPr>
          <a:xfrm>
            <a:off x="6315303" y="1932846"/>
            <a:ext cx="2398699" cy="630698"/>
          </a:xfrm>
          <a:prstGeom prst="rect">
            <a:avLst/>
          </a:prstGeom>
          <a:noFill/>
        </p:spPr>
        <p:txBody>
          <a:bodyPr wrap="square" lIns="0" rIns="0" tIns="0" bIns="0" anchor="t">
            <a:spAutoFit/>
          </a:bodyPr>
          <a:lstStyle/>
          <a:p>
            <a:pPr algn="l">
              <a:lnSpc>
                <a:spcPct val="108000"/>
              </a:lnSpc>
            </a:pPr>
            <a:r>
              <a:rPr sz="1750" b="1" i="0">
                <a:solidFill>
                  <a:srgbClr val="F0AB00"/>
                </a:solidFill>
                <a:latin typeface="Arial"/>
              </a:rPr>
              <a:t>9–15 пунктов площади под кривой</a:t>
            </a:r>
          </a:p>
        </p:txBody>
      </p:sp>
      <p:sp>
        <p:nvSpPr>
          <p:cNvPr id="15" name="TextBox 14"/>
          <p:cNvSpPr txBox="1"/>
          <p:nvPr/>
        </p:nvSpPr>
        <p:spPr>
          <a:xfrm>
            <a:off x="6315303" y="256354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тёмные тона против светлых, у трёх моделей</a:t>
            </a:r>
          </a:p>
        </p:txBody>
      </p:sp>
      <p:sp>
        <p:nvSpPr>
          <p:cNvPr id="16" name="Rounded Rectangle 15"/>
          <p:cNvSpPr/>
          <p:nvPr/>
        </p:nvSpPr>
        <p:spPr>
          <a:xfrm>
            <a:off x="9015755" y="1335024"/>
            <a:ext cx="2673019"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ЗАМЕРА</a:t>
            </a:r>
          </a:p>
        </p:txBody>
      </p:sp>
      <p:sp>
        <p:nvSpPr>
          <p:cNvPr id="18" name="TextBox 17"/>
          <p:cNvSpPr txBox="1"/>
          <p:nvPr/>
        </p:nvSpPr>
        <p:spPr>
          <a:xfrm>
            <a:off x="9152915"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656 изображений</a:t>
            </a:r>
          </a:p>
        </p:txBody>
      </p:sp>
      <p:sp>
        <p:nvSpPr>
          <p:cNvPr id="19" name="TextBox 18"/>
          <p:cNvSpPr txBox="1"/>
          <p:nvPr/>
        </p:nvSpPr>
        <p:spPr>
          <a:xfrm>
            <a:off x="9152915" y="2542797"/>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207 самых тёмных тонов · 241 средних · 208 светлых; все с биопсией</a:t>
            </a:r>
          </a:p>
        </p:txBody>
      </p:sp>
      <p:sp>
        <p:nvSpPr>
          <p:cNvPr id="20" name="Rounded Rectangle 19"/>
          <p:cNvSpPr/>
          <p:nvPr/>
        </p:nvSpPr>
        <p:spPr>
          <a:xfrm>
            <a:off x="374904" y="3405128"/>
            <a:ext cx="11441887" cy="2828609"/>
          </a:xfrm>
          <a:prstGeom prst="roundRect">
            <a:avLst>
              <a:gd name="adj" fmla="val 10775"/>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496568"/>
            <a:ext cx="5373471" cy="273963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Цена обеих ошибок.</a:t>
            </a:r>
            <a:r>
              <a:rPr sz="1500" b="0" i="0">
                <a:solidFill>
                  <a:srgbClr val="21295C"/>
                </a:solidFill>
                <a:latin typeface="Arial"/>
              </a:rPr>
              <a:t> Пропуск — лечение на поздней стадии вместо ранней. Лишняя тревога — биопсия, рубец, месяцы ожидания.</a:t>
            </a:r>
          </a:p>
          <a:p>
            <a:pPr algn="l">
              <a:lnSpc>
                <a:spcPct val="126000"/>
              </a:lnSpc>
              <a:spcBef>
                <a:spcPts val="700"/>
              </a:spcBef>
            </a:pPr>
            <a:r>
              <a:rPr sz="1500" b="0" i="0">
                <a:solidFill>
                  <a:srgbClr val="21295C"/>
                </a:solidFill>
                <a:latin typeface="Arial"/>
              </a:rPr>
              <a:t/>
            </a:r>
            <a:r>
              <a:rPr sz="1500" b="1" i="0">
                <a:solidFill>
                  <a:srgbClr val="21295C"/>
                </a:solidFill>
                <a:latin typeface="Arial"/>
              </a:rPr>
              <a:t>Оба классических режима посчитаны одной методологией</a:t>
            </a:r>
            <a:r>
              <a:rPr sz="1500" b="0" i="0">
                <a:solidFill>
                  <a:srgbClr val="21295C"/>
                </a:solidFill>
                <a:latin typeface="Arial"/>
              </a:rPr>
              <a:t> — одним метаанализом прямого сравнения.</a:t>
            </a:r>
          </a:p>
          <a:p>
            <a:pPr algn="l">
              <a:lnSpc>
                <a:spcPct val="126000"/>
              </a:lnSpc>
              <a:spcBef>
                <a:spcPts val="700"/>
              </a:spcBef>
            </a:pPr>
            <a:r>
              <a:rPr sz="1500" b="0" i="0">
                <a:solidFill>
                  <a:srgbClr val="21295C"/>
                </a:solidFill>
                <a:latin typeface="Arial"/>
              </a:rPr>
              <a:t/>
            </a:r>
            <a:r>
              <a:rPr sz="1500" b="1" i="0">
                <a:solidFill>
                  <a:srgbClr val="21295C"/>
                </a:solidFill>
                <a:latin typeface="Arial"/>
              </a:rPr>
              <a:t>Модель против них.</a:t>
            </a:r>
            <a:r>
              <a:rPr sz="1500" b="0" i="0">
                <a:solidFill>
                  <a:srgbClr val="21295C"/>
                </a:solidFill>
                <a:latin typeface="Arial"/>
              </a:rPr>
              <a:t> На биопсийно подтверждённых изображениях три модели дают площадь под кривой на тёмных тонах ниже, чем на светлых.</a:t>
            </a:r>
          </a:p>
        </p:txBody>
      </p:sp>
      <p:sp>
        <p:nvSpPr>
          <p:cNvPr id="22" name="TextBox 21"/>
          <p:cNvSpPr txBox="1"/>
          <p:nvPr/>
        </p:nvSpPr>
        <p:spPr>
          <a:xfrm>
            <a:off x="6278727" y="3496568"/>
            <a:ext cx="5373471" cy="273963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Знаменатель назван: это не «несколько примеров».</a:t>
            </a:r>
          </a:p>
          <a:p>
            <a:pPr algn="l">
              <a:lnSpc>
                <a:spcPct val="126000"/>
              </a:lnSpc>
              <a:spcBef>
                <a:spcPts val="700"/>
              </a:spcBef>
            </a:pPr>
            <a:r>
              <a:rPr sz="1500" b="0" i="0">
                <a:solidFill>
                  <a:srgbClr val="21295C"/>
                </a:solidFill>
                <a:latin typeface="Arial"/>
              </a:rPr>
              <a:t/>
            </a:r>
            <a:r>
              <a:rPr sz="1500" b="1" i="0">
                <a:solidFill>
                  <a:srgbClr val="21295C"/>
                </a:solidFill>
                <a:latin typeface="Arial"/>
              </a:rPr>
              <a:t>Одну ходовую цифру разбор произносить отказывается:</a:t>
            </a:r>
            <a:r>
              <a:rPr sz="1500" b="0" i="0">
                <a:solidFill>
                  <a:srgbClr val="21295C"/>
                </a:solidFill>
                <a:latin typeface="Arial"/>
              </a:rPr>
              <a:t> «на тёмной коже чувствительность падает на 20–30 процентов» в публикации не найдена.</a:t>
            </a:r>
          </a:p>
          <a:p>
            <a:pPr algn="l">
              <a:lnSpc>
                <a:spcPct val="126000"/>
              </a:lnSpc>
              <a:spcBef>
                <a:spcPts val="700"/>
              </a:spcBef>
            </a:pPr>
            <a:r>
              <a:rPr sz="1200" b="0" i="0">
                <a:solidFill>
                  <a:srgbClr val="21295C"/>
                </a:solidFill>
                <a:latin typeface="Arial"/>
              </a:rPr>
              <a:t/>
            </a:r>
            <a:r>
              <a:rPr sz="1200" b="0" i="1">
                <a:solidFill>
                  <a:srgbClr val="1C7293"/>
                </a:solidFill>
                <a:latin typeface="Arial"/>
              </a:rPr>
              <a:t>Ближайшее измеренное, у одной из трёх моделей: 69 больных из ста на светлых тонах против 23 на тёмных.</a:t>
            </a:r>
          </a:p>
        </p:txBody>
      </p:sp>
      <p:sp>
        <p:nvSpPr>
          <p:cNvPr id="23" name="Rectangle 22"/>
          <p:cNvSpPr/>
          <p:nvPr/>
        </p:nvSpPr>
        <p:spPr>
          <a:xfrm>
            <a:off x="6091275" y="3496568"/>
            <a:ext cx="9144" cy="2554289"/>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Набор DDI, 656 биопсийно подтверждённых изображений — Daneshjou и соавторы, Science Advances, 2022;8(31):eabq6147</a:t>
            </a:r>
            <a:r>
              <a:rPr sz="1200" b="0" i="1">
                <a:solidFill>
                  <a:srgbClr val="1C7293"/>
                </a:solidFill>
                <a:latin typeface="Arial"/>
              </a:rPr>
              <a:t> · </a:t>
            </a:r>
            <a:r>
              <a:rPr sz="1200" b="0" i="1" u="sng">
                <a:solidFill>
                  <a:srgbClr val="065A82"/>
                </a:solidFill>
                <a:latin typeface="Arial"/>
                <a:hlinkClick r:id="rId3"/>
              </a:rPr>
              <a:t>осмотр и дермоскопия — Vestergaard и соавторы, British Journal of Dermatology, 2008;159(3):669–676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цена: разрыв лечит состав данных</a:t>
            </a:r>
          </a:p>
        </p:txBody>
      </p:sp>
      <p:sp>
        <p:nvSpPr>
          <p:cNvPr id="4" name="Rounded Rectangle 3"/>
          <p:cNvSpPr/>
          <p:nvPr/>
        </p:nvSpPr>
        <p:spPr>
          <a:xfrm>
            <a:off x="502920" y="1335024"/>
            <a:ext cx="3618890"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ДООБУЧЕНИЕ НА ПРЕДСТАВИТЕЛЬНОМ НАБОРЕ</a:t>
            </a:r>
          </a:p>
        </p:txBody>
      </p:sp>
      <p:sp>
        <p:nvSpPr>
          <p:cNvPr id="6" name="TextBox 5"/>
          <p:cNvSpPr txBox="1"/>
          <p:nvPr/>
        </p:nvSpPr>
        <p:spPr>
          <a:xfrm>
            <a:off x="640080" y="193284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разрыв снимает и переворачивает</a:t>
            </a:r>
          </a:p>
        </p:txBody>
      </p:sp>
      <p:sp>
        <p:nvSpPr>
          <p:cNvPr id="7" name="TextBox 6"/>
          <p:cNvSpPr txBox="1"/>
          <p:nvPr/>
        </p:nvSpPr>
        <p:spPr>
          <a:xfrm>
            <a:off x="640080" y="2750268"/>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измеренное исправление; лечит его сбор и разметка — та работа, которая в руках инженера</a:t>
            </a:r>
          </a:p>
        </p:txBody>
      </p:sp>
      <p:sp>
        <p:nvSpPr>
          <p:cNvPr id="8" name="Rounded Rectangle 7"/>
          <p:cNvSpPr/>
          <p:nvPr/>
        </p:nvSpPr>
        <p:spPr>
          <a:xfrm>
            <a:off x="4286402" y="1335024"/>
            <a:ext cx="3618890"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ТРИ АЛГОРИТМИЧЕСКИХ МЕТОДА ПРОТИВ СМЕЩЕНИЯ</a:t>
            </a:r>
          </a:p>
        </p:txBody>
      </p:sp>
      <p:sp>
        <p:nvSpPr>
          <p:cNvPr id="10" name="TextBox 9"/>
          <p:cNvSpPr txBox="1"/>
          <p:nvPr/>
        </p:nvSpPr>
        <p:spPr>
          <a:xfrm>
            <a:off x="4423562"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значимо не уменьшили разрыв</a:t>
            </a:r>
          </a:p>
        </p:txBody>
      </p:sp>
      <p:sp>
        <p:nvSpPr>
          <p:cNvPr id="11" name="Rounded Rectangle 10"/>
          <p:cNvSpPr/>
          <p:nvPr/>
        </p:nvSpPr>
        <p:spPr>
          <a:xfrm>
            <a:off x="8069884" y="1335024"/>
            <a:ext cx="3618890"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ПО ТОНУ КОЖИ У КЛАССИЧЕСКИХ МЕТОДОВ</a:t>
            </a:r>
          </a:p>
        </p:txBody>
      </p:sp>
      <p:sp>
        <p:nvSpPr>
          <p:cNvPr id="13" name="TextBox 12"/>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измерен вовсе</a:t>
            </a:r>
          </a:p>
        </p:txBody>
      </p:sp>
      <p:sp>
        <p:nvSpPr>
          <p:cNvPr id="14" name="TextBox 13"/>
          <p:cNvSpPr txBox="1"/>
          <p:nvPr/>
        </p:nvSpPr>
        <p:spPr>
          <a:xfrm>
            <a:off x="8207044" y="2359845"/>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тону кожи точность не разбивает ни метаанализ, ни обзоры — сказать «модель хуже человека на этой подгруппе» не с чем</a:t>
            </a:r>
          </a:p>
        </p:txBody>
      </p:sp>
      <p:sp>
        <p:nvSpPr>
          <p:cNvPr id="15" name="Rounded Rectangle 14"/>
          <p:cNvSpPr/>
          <p:nvPr/>
        </p:nvSpPr>
        <p:spPr>
          <a:xfrm>
            <a:off x="374904" y="3612599"/>
            <a:ext cx="11441887" cy="2620447"/>
          </a:xfrm>
          <a:prstGeom prst="roundRect">
            <a:avLst>
              <a:gd name="adj" fmla="val 11631"/>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3704039"/>
            <a:ext cx="11112703" cy="253216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переехало.</a:t>
            </a:r>
            <a:r>
              <a:rPr sz="1500" b="0" i="0">
                <a:solidFill>
                  <a:srgbClr val="21295C"/>
                </a:solidFill>
                <a:latin typeface="Arial"/>
              </a:rPr>
              <a:t> Сместилась цена ошибки: средняя точность по набору осталась приличной, а платит за разрыв подгруппа, которой в обучающем наборе было мало.</a:t>
            </a:r>
          </a:p>
          <a:p>
            <a:pPr algn="l">
              <a:lnSpc>
                <a:spcPct val="126000"/>
              </a:lnSpc>
              <a:spcBef>
                <a:spcPts val="700"/>
              </a:spcBef>
            </a:pPr>
            <a:r>
              <a:rPr sz="1500" b="0" i="0">
                <a:solidFill>
                  <a:srgbClr val="21295C"/>
                </a:solidFill>
                <a:latin typeface="Arial"/>
              </a:rPr>
              <a:t/>
            </a:r>
            <a:r>
              <a:rPr sz="1500" b="1" i="0">
                <a:solidFill>
                  <a:srgbClr val="21295C"/>
                </a:solidFill>
                <a:latin typeface="Arial"/>
              </a:rPr>
              <a:t>Исправление измерено, и лечит его не алгоритм.</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постоянную оценку образования там, где дерматолога нет · </a:t>
            </a:r>
            <a:r>
              <a:rPr sz="1500" b="1" i="0">
                <a:solidFill>
                  <a:srgbClr val="21295C"/>
                </a:solidFill>
                <a:latin typeface="Arial"/>
              </a:rPr>
              <a:t>потребовало</a:t>
            </a:r>
            <a:r>
              <a:rPr sz="1500" b="0" i="0">
                <a:solidFill>
                  <a:srgbClr val="21295C"/>
                </a:solidFill>
                <a:latin typeface="Arial"/>
              </a:rPr>
              <a:t> набора, повторяющего состав тех, на ком система будет работать · </a:t>
            </a:r>
            <a:r>
              <a:rPr sz="1500" b="1" i="0">
                <a:solidFill>
                  <a:srgbClr val="21295C"/>
                </a:solidFill>
                <a:latin typeface="Arial"/>
              </a:rPr>
              <a:t>в сумме</a:t>
            </a:r>
            <a:r>
              <a:rPr sz="1500" b="0" i="0">
                <a:solidFill>
                  <a:srgbClr val="21295C"/>
                </a:solidFill>
                <a:latin typeface="Arial"/>
              </a:rPr>
              <a:t> средняя держится, а цена ошибки переехала на подгруппу</a:t>
            </a:r>
          </a:p>
          <a:p>
            <a:pPr algn="l">
              <a:lnSpc>
                <a:spcPct val="126000"/>
              </a:lnSpc>
              <a:spcBef>
                <a:spcPts val="700"/>
              </a:spcBef>
            </a:pPr>
            <a:r>
              <a:rPr sz="1500" b="0" i="0">
                <a:solidFill>
                  <a:srgbClr val="21295C"/>
                </a:solidFill>
                <a:latin typeface="Arial"/>
              </a:rPr>
              <a:t/>
            </a:r>
            <a:r>
              <a:rPr sz="1500" b="0" i="0">
                <a:solidFill>
                  <a:srgbClr val="21295C"/>
                </a:solidFill>
                <a:latin typeface="Arial"/>
              </a:rPr>
              <a:t>Строка, которая несёт разбор: разрыв </a:t>
            </a:r>
            <a:r>
              <a:rPr sz="1500" b="1" i="0">
                <a:solidFill>
                  <a:srgbClr val="21295C"/>
                </a:solidFill>
                <a:latin typeface="Arial"/>
              </a:rPr>
              <a:t>измерен у модели</a:t>
            </a:r>
            <a:r>
              <a:rPr sz="1500" b="0" i="0">
                <a:solidFill>
                  <a:srgbClr val="21295C"/>
                </a:solidFill>
                <a:latin typeface="Arial"/>
              </a:rPr>
              <a:t> и у классических методов </a:t>
            </a:r>
            <a:r>
              <a:rPr sz="1500" b="1" i="0">
                <a:solidFill>
                  <a:srgbClr val="21295C"/>
                </a:solidFill>
                <a:latin typeface="Arial"/>
              </a:rPr>
              <a:t>не измерен вовсе</a:t>
            </a:r>
            <a:r>
              <a:rPr sz="1500" b="0" i="0">
                <a:solidFill>
                  <a:srgbClr val="21295C"/>
                </a:solidFill>
                <a:latin typeface="Arial"/>
              </a:rPr>
              <a:t>. Отсутствие замера равенства не доказывает.</a:t>
            </a:r>
          </a:p>
        </p:txBody>
      </p:sp>
      <p:sp>
        <p:nvSpPr>
          <p:cNvPr id="17" name="Rectangle 1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Та же работа — Daneshjou и соавторы, Science Advances, 2022;8(31):eabq6147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расходы вместо болезни</a:t>
            </a:r>
          </a:p>
        </p:txBody>
      </p:sp>
      <p:sp>
        <p:nvSpPr>
          <p:cNvPr id="4" name="Rounded Rectangle 3"/>
          <p:cNvSpPr/>
          <p:nvPr/>
        </p:nvSpPr>
        <p:spPr>
          <a:xfrm>
            <a:off x="502920" y="1335024"/>
            <a:ext cx="2673019"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ОТБОР РЕШЕНИЕМ ВРАЧА</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19,2 из ста отобранных</a:t>
            </a:r>
          </a:p>
        </p:txBody>
      </p:sp>
      <p:sp>
        <p:nvSpPr>
          <p:cNvPr id="7" name="TextBox 6"/>
          <p:cNvSpPr txBox="1"/>
          <p:nvPr/>
        </p:nvSpPr>
        <p:spPr>
          <a:xfrm>
            <a:off x="640080" y="2542797"/>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доля рассматриваемой группы среди отобранных</a:t>
            </a:r>
          </a:p>
        </p:txBody>
      </p:sp>
      <p:sp>
        <p:nvSpPr>
          <p:cNvPr id="8" name="Rounded Rectangle 7"/>
          <p:cNvSpPr/>
          <p:nvPr/>
        </p:nvSpPr>
        <p:spPr>
          <a:xfrm>
            <a:off x="3340531" y="1335024"/>
            <a:ext cx="2673019"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ОТБОР БАЛЛОМ ПО ПРОГНОЗУ РАСХОДОВ</a:t>
            </a:r>
          </a:p>
        </p:txBody>
      </p:sp>
      <p:sp>
        <p:nvSpPr>
          <p:cNvPr id="10" name="TextBox 9"/>
          <p:cNvSpPr txBox="1"/>
          <p:nvPr/>
        </p:nvSpPr>
        <p:spPr>
          <a:xfrm>
            <a:off x="3477691"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17,2 из ста отобранных</a:t>
            </a:r>
          </a:p>
        </p:txBody>
      </p:sp>
      <p:sp>
        <p:nvSpPr>
          <p:cNvPr id="11" name="TextBox 10"/>
          <p:cNvSpPr txBox="1"/>
          <p:nvPr/>
        </p:nvSpPr>
        <p:spPr>
          <a:xfrm>
            <a:off x="3477691"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числа различает только ярлык режима</a:t>
            </a:r>
          </a:p>
        </p:txBody>
      </p:sp>
      <p:sp>
        <p:nvSpPr>
          <p:cNvPr id="12" name="Rounded Rectangle 11"/>
          <p:cNvSpPr/>
          <p:nvPr/>
        </p:nvSpPr>
        <p:spPr>
          <a:xfrm>
            <a:off x="6178143" y="1335024"/>
            <a:ext cx="2673019"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ПРИ РАВНОМ БАЛЛЕ БОЛЕЗНЕЙ БОЛЬШЕ НА</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26 процентов</a:t>
            </a:r>
          </a:p>
        </p:txBody>
      </p:sp>
      <p:sp>
        <p:nvSpPr>
          <p:cNvPr id="15" name="TextBox 14"/>
          <p:cNvSpPr txBox="1"/>
          <p:nvPr/>
        </p:nvSpPr>
        <p:spPr>
          <a:xfrm>
            <a:off x="6315303"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целевой переменной взяты будущие расходы</a:t>
            </a:r>
          </a:p>
        </p:txBody>
      </p:sp>
      <p:sp>
        <p:nvSpPr>
          <p:cNvPr id="16" name="Rounded Rectangle 15"/>
          <p:cNvSpPr/>
          <p:nvPr/>
        </p:nvSpPr>
        <p:spPr>
          <a:xfrm>
            <a:off x="9015755" y="1335024"/>
            <a:ext cx="2673019"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ЗАМЕРА</a:t>
            </a:r>
          </a:p>
        </p:txBody>
      </p:sp>
      <p:sp>
        <p:nvSpPr>
          <p:cNvPr id="18" name="TextBox 17"/>
          <p:cNvSpPr txBox="1"/>
          <p:nvPr/>
        </p:nvSpPr>
        <p:spPr>
          <a:xfrm>
            <a:off x="9152915"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49 618 пациентов</a:t>
            </a:r>
          </a:p>
        </p:txBody>
      </p:sp>
      <p:sp>
        <p:nvSpPr>
          <p:cNvPr id="19" name="TextBox 18"/>
          <p:cNvSpPr txBox="1"/>
          <p:nvPr/>
        </p:nvSpPr>
        <p:spPr>
          <a:xfrm>
            <a:off x="9152915" y="2542797"/>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одна академическая больница, 100 009 пациенто-лет, 2013–2015 годы</a:t>
            </a:r>
          </a:p>
        </p:txBody>
      </p:sp>
      <p:sp>
        <p:nvSpPr>
          <p:cNvPr id="20" name="Rounded Rectangle 19"/>
          <p:cNvSpPr/>
          <p:nvPr/>
        </p:nvSpPr>
        <p:spPr>
          <a:xfrm>
            <a:off x="374904" y="3405128"/>
            <a:ext cx="11441887" cy="2831079"/>
          </a:xfrm>
          <a:prstGeom prst="roundRect">
            <a:avLst>
              <a:gd name="adj" fmla="val 10766"/>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496568"/>
            <a:ext cx="5373471" cy="273963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Цена обеих ошибок.</a:t>
            </a:r>
            <a:r>
              <a:rPr sz="1500" b="0" i="0">
                <a:solidFill>
                  <a:srgbClr val="21295C"/>
                </a:solidFill>
                <a:latin typeface="Arial"/>
              </a:rPr>
              <a:t> Не попал тот, кому программа нужна: болезнь развивается без присмотра.</a:t>
            </a:r>
          </a:p>
          <a:p>
            <a:pPr algn="l">
              <a:lnSpc>
                <a:spcPct val="126000"/>
              </a:lnSpc>
              <a:spcBef>
                <a:spcPts val="700"/>
              </a:spcBef>
            </a:pPr>
            <a:r>
              <a:rPr sz="1500" b="0" i="0">
                <a:solidFill>
                  <a:srgbClr val="21295C"/>
                </a:solidFill>
                <a:latin typeface="Arial"/>
              </a:rPr>
              <a:t/>
            </a:r>
            <a:r>
              <a:rPr sz="1500" b="0" i="0">
                <a:solidFill>
                  <a:srgbClr val="21295C"/>
                </a:solidFill>
                <a:latin typeface="Arial"/>
              </a:rPr>
              <a:t>Попал тот, кому она не нужна: занято место и время координатора.</a:t>
            </a:r>
          </a:p>
          <a:p>
            <a:pPr algn="l">
              <a:lnSpc>
                <a:spcPct val="126000"/>
              </a:lnSpc>
              <a:spcBef>
                <a:spcPts val="700"/>
              </a:spcBef>
            </a:pPr>
            <a:r>
              <a:rPr sz="1500" b="0" i="0">
                <a:solidFill>
                  <a:srgbClr val="21295C"/>
                </a:solidFill>
                <a:latin typeface="Arial"/>
              </a:rPr>
              <a:t/>
            </a:r>
            <a:r>
              <a:rPr sz="1500" b="1" i="0">
                <a:solidFill>
                  <a:srgbClr val="21295C"/>
                </a:solidFill>
                <a:latin typeface="Arial"/>
              </a:rPr>
              <a:t>Оба классических режима посчитаны на одной выборке.</a:t>
            </a:r>
          </a:p>
          <a:p>
            <a:pPr algn="l">
              <a:lnSpc>
                <a:spcPct val="126000"/>
              </a:lnSpc>
              <a:spcBef>
                <a:spcPts val="700"/>
              </a:spcBef>
            </a:pPr>
            <a:r>
              <a:rPr sz="1500" b="0" i="0">
                <a:solidFill>
                  <a:srgbClr val="21295C"/>
                </a:solidFill>
                <a:latin typeface="Arial"/>
              </a:rPr>
              <a:t/>
            </a:r>
            <a:r>
              <a:rPr sz="1500" b="1" i="0">
                <a:solidFill>
                  <a:srgbClr val="21295C"/>
                </a:solidFill>
                <a:latin typeface="Arial"/>
              </a:rPr>
              <a:t>Модель против них.</a:t>
            </a:r>
            <a:r>
              <a:rPr sz="1500" b="0" i="0">
                <a:solidFill>
                  <a:srgbClr val="21295C"/>
                </a:solidFill>
                <a:latin typeface="Arial"/>
              </a:rPr>
              <a:t> Один балл на каждого, отбор по порогу; целью взяты будущие расходы на лечение.</a:t>
            </a:r>
          </a:p>
        </p:txBody>
      </p:sp>
      <p:sp>
        <p:nvSpPr>
          <p:cNvPr id="22" name="TextBox 21"/>
          <p:cNvSpPr txBox="1"/>
          <p:nvPr/>
        </p:nvSpPr>
        <p:spPr>
          <a:xfrm>
            <a:off x="6278727" y="3496568"/>
            <a:ext cx="5373471" cy="2739639"/>
          </a:xfrm>
          <a:prstGeom prst="rect">
            <a:avLst/>
          </a:prstGeom>
          <a:noFill/>
        </p:spPr>
        <p:txBody>
          <a:bodyPr wrap="square" lIns="0" rIns="0" tIns="0" bIns="0" anchor="t">
            <a:spAutoFit/>
          </a:bodyPr>
          <a:lstStyle/>
          <a:p>
            <a:pPr algn="l">
              <a:lnSpc>
                <a:spcPct val="126000"/>
              </a:lnSpc>
            </a:pPr>
            <a:r>
              <a:rPr sz="1200" b="0" i="1">
                <a:solidFill>
                  <a:srgbClr val="1C7293"/>
                </a:solidFill>
                <a:latin typeface="Arial"/>
              </a:rPr>
              <a:t>Ограничение второго режима: врач, отбиравший пациентов, уже видел балл. Отбора до модели в публикации нет.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Чем это делают сегодня</a:t>
            </a:r>
            <a:r>
              <a:rPr sz="1500" b="0" i="0">
                <a:solidFill>
                  <a:srgbClr val="21295C"/>
                </a:solidFill>
                <a:latin typeface="Arial"/>
              </a:rPr>
              <a:t> — счёт риска на данных плательщика и на медицинской карте, </a:t>
            </a:r>
            <a:r>
              <a:rPr sz="1500" b="0" i="1">
                <a:solidFill>
                  <a:srgbClr val="21295C"/>
                </a:solidFill>
                <a:latin typeface="Arial"/>
              </a:rPr>
              <a:t>прогноз на структурированных данных</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0" i="0">
                <a:solidFill>
                  <a:srgbClr val="21295C"/>
                </a:solidFill>
                <a:latin typeface="Arial"/>
              </a:rPr>
              <a:t>• покупает это администрация или плательщик, не врач</a:t>
            </a:r>
          </a:p>
          <a:p>
            <a:pPr algn="l">
              <a:lnSpc>
                <a:spcPct val="126000"/>
              </a:lnSpc>
              <a:spcBef>
                <a:spcPts val="700"/>
              </a:spcBef>
            </a:pPr>
            <a:r>
              <a:rPr sz="1500" b="0" i="0">
                <a:solidFill>
                  <a:srgbClr val="21295C"/>
                </a:solidFill>
                <a:latin typeface="Arial"/>
              </a:rPr>
              <a:t/>
            </a:r>
            <a:r>
              <a:rPr sz="1500" b="0" i="0">
                <a:solidFill>
                  <a:srgbClr val="21295C"/>
                </a:solidFill>
                <a:latin typeface="Arial"/>
              </a:rPr>
              <a:t>• «дорого лечится» от «болен» такой счёт не отличает</a:t>
            </a:r>
          </a:p>
        </p:txBody>
      </p:sp>
      <p:sp>
        <p:nvSpPr>
          <p:cNvPr id="23" name="Rectangle 22"/>
          <p:cNvSpPr/>
          <p:nvPr/>
        </p:nvSpPr>
        <p:spPr>
          <a:xfrm>
            <a:off x="6091275" y="3496568"/>
            <a:ext cx="9144" cy="2643189"/>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Разбор промышленного алгоритма отбора в программу повышенного внимания: Obermeyer и соавторы, Science, 2019;366(6464):447–453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цена: исправление посчитали и не применили</a:t>
            </a:r>
          </a:p>
        </p:txBody>
      </p:sp>
      <p:sp>
        <p:nvSpPr>
          <p:cNvPr id="4" name="Rounded Rectangle 3"/>
          <p:cNvSpPr/>
          <p:nvPr/>
        </p:nvSpPr>
        <p:spPr>
          <a:xfrm>
            <a:off x="502920" y="1335024"/>
            <a:ext cx="2673019" cy="2601077"/>
          </a:xfrm>
          <a:prstGeom prst="roundRect">
            <a:avLst>
              <a:gd name="adj" fmla="val 1171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ГРУППЫ СРЕДИ ОТОБРАННЫХ: НАБЛЮДАЕМАЯ → ПРИ УБРАННОМ РАЗРЫВЕ</a:t>
            </a:r>
          </a:p>
        </p:txBody>
      </p:sp>
      <p:sp>
        <p:nvSpPr>
          <p:cNvPr id="6" name="TextBox 5"/>
          <p:cNvSpPr txBox="1"/>
          <p:nvPr/>
        </p:nvSpPr>
        <p:spPr>
          <a:xfrm>
            <a:off x="640080" y="2347789"/>
            <a:ext cx="2398699"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17,7 → 46,5 из ста</a:t>
            </a:r>
          </a:p>
        </p:txBody>
      </p:sp>
      <p:sp>
        <p:nvSpPr>
          <p:cNvPr id="7" name="TextBox 6"/>
          <p:cNvSpPr txBox="1"/>
          <p:nvPr/>
        </p:nvSpPr>
        <p:spPr>
          <a:xfrm>
            <a:off x="640080" y="3165211"/>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вторая половина — расчёт авторов на тех же данных, внедрения не было</a:t>
            </a:r>
          </a:p>
        </p:txBody>
      </p:sp>
      <p:sp>
        <p:nvSpPr>
          <p:cNvPr id="8" name="Rounded Rectangle 7"/>
          <p:cNvSpPr/>
          <p:nvPr/>
        </p:nvSpPr>
        <p:spPr>
          <a:xfrm>
            <a:off x="3340531" y="1335024"/>
            <a:ext cx="2673019" cy="2601077"/>
          </a:xfrm>
          <a:prstGeom prst="roundRect">
            <a:avLst>
              <a:gd name="adj" fmla="val 11718"/>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10" name="TextBox 9"/>
          <p:cNvSpPr txBox="1"/>
          <p:nvPr/>
        </p:nvSpPr>
        <p:spPr>
          <a:xfrm>
            <a:off x="3477691" y="1725375"/>
            <a:ext cx="2398699"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последовательный отбор там, где ручной непоследователен</a:t>
            </a:r>
          </a:p>
        </p:txBody>
      </p:sp>
      <p:sp>
        <p:nvSpPr>
          <p:cNvPr id="11" name="Rounded Rectangle 10"/>
          <p:cNvSpPr/>
          <p:nvPr/>
        </p:nvSpPr>
        <p:spPr>
          <a:xfrm>
            <a:off x="6178143" y="1335024"/>
            <a:ext cx="2673019" cy="2601077"/>
          </a:xfrm>
          <a:prstGeom prst="roundRect">
            <a:avLst>
              <a:gd name="adj" fmla="val 11718"/>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13" name="TextBox 12"/>
          <p:cNvSpPr txBox="1"/>
          <p:nvPr/>
        </p:nvSpPr>
        <p:spPr>
          <a:xfrm>
            <a:off x="6315303" y="1725375"/>
            <a:ext cx="2398699"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совпадения расходов с болезнью, которого нет</a:t>
            </a:r>
          </a:p>
        </p:txBody>
      </p:sp>
      <p:sp>
        <p:nvSpPr>
          <p:cNvPr id="14" name="Rounded Rectangle 13"/>
          <p:cNvSpPr/>
          <p:nvPr/>
        </p:nvSpPr>
        <p:spPr>
          <a:xfrm>
            <a:off x="9015755" y="1335024"/>
            <a:ext cx="2673019" cy="2601077"/>
          </a:xfrm>
          <a:prstGeom prst="roundRect">
            <a:avLst>
              <a:gd name="adj" fmla="val 11718"/>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6" name="TextBox 15"/>
          <p:cNvSpPr txBox="1"/>
          <p:nvPr/>
        </p:nvSpPr>
        <p:spPr>
          <a:xfrm>
            <a:off x="9152915" y="1725375"/>
            <a:ext cx="2398699"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для одной группы хуже прежнего отбора, и исправление только посчитано</a:t>
            </a:r>
          </a:p>
        </p:txBody>
      </p:sp>
      <p:sp>
        <p:nvSpPr>
          <p:cNvPr id="17" name="Rounded Rectangle 16"/>
          <p:cNvSpPr/>
          <p:nvPr/>
        </p:nvSpPr>
        <p:spPr>
          <a:xfrm>
            <a:off x="374904" y="4027541"/>
            <a:ext cx="11441887" cy="1878013"/>
          </a:xfrm>
          <a:prstGeom prst="roundRect">
            <a:avLst>
              <a:gd name="adj" fmla="val 16229"/>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4118981"/>
            <a:ext cx="5373471" cy="211722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Исправление посчитано и не применено.</a:t>
            </a:r>
            <a:r>
              <a:rPr sz="1500" b="0" i="0">
                <a:solidFill>
                  <a:srgbClr val="21295C"/>
                </a:solidFill>
                <a:latin typeface="Arial"/>
              </a:rPr>
              <a:t> Разрыв убран расчётом, не внедрением.</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переехало.</a:t>
            </a:r>
            <a:r>
              <a:rPr sz="1500" b="0" i="0">
                <a:solidFill>
                  <a:srgbClr val="21295C"/>
                </a:solidFill>
                <a:latin typeface="Arial"/>
              </a:rPr>
              <a:t> Сменился исполнитель — отбор делал врач, стал делать балл. Цена ошибки переехала на группу, где при равном балле болезней больше.</a:t>
            </a:r>
          </a:p>
        </p:txBody>
      </p:sp>
      <p:sp>
        <p:nvSpPr>
          <p:cNvPr id="19" name="TextBox 18"/>
          <p:cNvSpPr txBox="1"/>
          <p:nvPr/>
        </p:nvSpPr>
        <p:spPr>
          <a:xfrm>
            <a:off x="6278727" y="4118981"/>
            <a:ext cx="5373471" cy="211722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Масштаб и знаменатель — порознь.</a:t>
            </a:r>
            <a:r>
              <a:rPr sz="1500" b="0" i="0">
                <a:solidFill>
                  <a:srgbClr val="21295C"/>
                </a:solidFill>
                <a:latin typeface="Arial"/>
              </a:rPr>
              <a:t> К моделям этого класса отнесены около </a:t>
            </a:r>
            <a:r>
              <a:rPr sz="1500" b="1" i="0">
                <a:solidFill>
                  <a:srgbClr val="21295C"/>
                </a:solidFill>
                <a:latin typeface="Arial"/>
              </a:rPr>
              <a:t>200 миллионов</a:t>
            </a:r>
            <a:r>
              <a:rPr sz="1500" b="0" i="0">
                <a:solidFill>
                  <a:srgbClr val="21295C"/>
                </a:solidFill>
                <a:latin typeface="Arial"/>
              </a:rPr>
              <a:t> человек в год.</a:t>
            </a:r>
          </a:p>
          <a:p>
            <a:pPr algn="l">
              <a:lnSpc>
                <a:spcPct val="126000"/>
              </a:lnSpc>
              <a:spcBef>
                <a:spcPts val="700"/>
              </a:spcBef>
            </a:pPr>
            <a:r>
              <a:rPr sz="1200" b="0" i="0">
                <a:solidFill>
                  <a:srgbClr val="21295C"/>
                </a:solidFill>
                <a:latin typeface="Arial"/>
              </a:rPr>
              <a:t/>
            </a:r>
            <a:r>
              <a:rPr sz="1200" b="0" i="1">
                <a:solidFill>
                  <a:srgbClr val="1C7293"/>
                </a:solidFill>
                <a:latin typeface="Arial"/>
              </a:rPr>
              <a:t>Это оценка охвата; перекос измерен на 49 618 пациентах.</a:t>
            </a:r>
          </a:p>
          <a:p>
            <a:pPr algn="l">
              <a:lnSpc>
                <a:spcPct val="126000"/>
              </a:lnSpc>
              <a:spcBef>
                <a:spcPts val="700"/>
              </a:spcBef>
            </a:pPr>
            <a:r>
              <a:rPr sz="1500" b="0" i="0">
                <a:solidFill>
                  <a:srgbClr val="21295C"/>
                </a:solidFill>
                <a:latin typeface="Arial"/>
              </a:rPr>
              <a:t/>
            </a:r>
            <a:r>
              <a:rPr sz="1500" b="1" i="0">
                <a:solidFill>
                  <a:srgbClr val="21295C"/>
                </a:solidFill>
                <a:latin typeface="Arial"/>
              </a:rPr>
              <a:t>Внутренняя проверка этого не видит: провал лежит там, где его не проверяют.</a:t>
            </a:r>
          </a:p>
        </p:txBody>
      </p:sp>
      <p:sp>
        <p:nvSpPr>
          <p:cNvPr id="20" name="Rectangle 19"/>
          <p:cNvSpPr/>
          <p:nvPr/>
        </p:nvSpPr>
        <p:spPr>
          <a:xfrm>
            <a:off x="6091275" y="4118981"/>
            <a:ext cx="9144" cy="1603693"/>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Та же публикация: Obermeyer и соавторы, Science, 2019;366(6464):447–453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Анализ данных: ни в одном разборе не провалилось само чтение</a:t>
            </a:r>
          </a:p>
        </p:txBody>
      </p:sp>
      <p:sp>
        <p:nvSpPr>
          <p:cNvPr id="4" name="Rounded Rectangle 3"/>
          <p:cNvSpPr/>
          <p:nvPr/>
        </p:nvSpPr>
        <p:spPr>
          <a:xfrm>
            <a:off x="374904" y="1243584"/>
            <a:ext cx="11441887" cy="4936214"/>
          </a:xfrm>
          <a:prstGeom prst="roundRect">
            <a:avLst>
              <a:gd name="adj" fmla="val 6174"/>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5373471" cy="490118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Что получается</a:t>
            </a:r>
          </a:p>
          <a:p>
            <a:pPr algn="l">
              <a:lnSpc>
                <a:spcPct val="126000"/>
              </a:lnSpc>
              <a:spcBef>
                <a:spcPts val="700"/>
              </a:spcBef>
            </a:pPr>
            <a:r>
              <a:rPr sz="1300" b="0" i="0">
                <a:solidFill>
                  <a:srgbClr val="21295C"/>
                </a:solidFill>
                <a:latin typeface="Arial"/>
              </a:rPr>
              <a:t/>
            </a:r>
            <a:r>
              <a:rPr sz="1300" b="0" i="0">
                <a:solidFill>
                  <a:srgbClr val="21295C"/>
                </a:solidFill>
                <a:latin typeface="Arial"/>
              </a:rPr>
              <a:t>• Постоянство: десятитысячный снимок читается так же, как первый</a:t>
            </a:r>
          </a:p>
          <a:p>
            <a:pPr algn="l">
              <a:lnSpc>
                <a:spcPct val="126000"/>
              </a:lnSpc>
              <a:spcBef>
                <a:spcPts val="700"/>
              </a:spcBef>
            </a:pPr>
            <a:r>
              <a:rPr sz="1300" b="0" i="0">
                <a:solidFill>
                  <a:srgbClr val="21295C"/>
                </a:solidFill>
                <a:latin typeface="Arial"/>
              </a:rPr>
              <a:t/>
            </a:r>
            <a:r>
              <a:rPr sz="1300" b="0" i="0">
                <a:solidFill>
                  <a:srgbClr val="21295C"/>
                </a:solidFill>
                <a:latin typeface="Arial"/>
              </a:rPr>
              <a:t>• Поток: чтение нормы перестаёт занимать специалиста</a:t>
            </a:r>
          </a:p>
          <a:p>
            <a:pPr algn="l">
              <a:lnSpc>
                <a:spcPct val="126000"/>
              </a:lnSpc>
              <a:spcBef>
                <a:spcPts val="700"/>
              </a:spcBef>
            </a:pPr>
            <a:r>
              <a:rPr sz="1300" b="0" i="0">
                <a:solidFill>
                  <a:srgbClr val="21295C"/>
                </a:solidFill>
                <a:latin typeface="Arial"/>
              </a:rPr>
              <a:t/>
            </a:r>
            <a:r>
              <a:rPr sz="1300" b="0" i="0">
                <a:solidFill>
                  <a:srgbClr val="21295C"/>
                </a:solidFill>
                <a:latin typeface="Arial"/>
              </a:rPr>
              <a:t>• Воспроизводимость: один вход даёт один выход, и расхождение можно разобрать</a:t>
            </a:r>
          </a:p>
          <a:p>
            <a:pPr algn="l">
              <a:lnSpc>
                <a:spcPct val="126000"/>
              </a:lnSpc>
              <a:spcBef>
                <a:spcPts val="700"/>
              </a:spcBef>
            </a:pPr>
            <a:r>
              <a:rPr sz="1300" b="0" i="0">
                <a:solidFill>
                  <a:srgbClr val="21295C"/>
                </a:solidFill>
                <a:latin typeface="Arial"/>
              </a:rPr>
              <a:t/>
            </a:r>
            <a:r>
              <a:rPr sz="1300" b="1" i="0">
                <a:solidFill>
                  <a:srgbClr val="21295C"/>
                </a:solidFill>
                <a:latin typeface="Arial"/>
              </a:rPr>
              <a:t>Что не получается</a:t>
            </a:r>
          </a:p>
          <a:p>
            <a:pPr algn="l">
              <a:lnSpc>
                <a:spcPct val="126000"/>
              </a:lnSpc>
              <a:spcBef>
                <a:spcPts val="700"/>
              </a:spcBef>
            </a:pPr>
            <a:r>
              <a:rPr sz="1300" b="0" i="0">
                <a:solidFill>
                  <a:srgbClr val="21295C"/>
                </a:solidFill>
                <a:latin typeface="Arial"/>
              </a:rPr>
              <a:t/>
            </a:r>
            <a:r>
              <a:rPr sz="1300" b="0" i="0">
                <a:solidFill>
                  <a:srgbClr val="21295C"/>
                </a:solidFill>
                <a:latin typeface="Arial"/>
              </a:rPr>
              <a:t>• Назначить рабочую точку: за порогом стоит цена обеих ошибок</a:t>
            </a:r>
          </a:p>
          <a:p>
            <a:pPr algn="l">
              <a:lnSpc>
                <a:spcPct val="126000"/>
              </a:lnSpc>
              <a:spcBef>
                <a:spcPts val="700"/>
              </a:spcBef>
            </a:pPr>
            <a:r>
              <a:rPr sz="1300" b="0" i="0">
                <a:solidFill>
                  <a:srgbClr val="21295C"/>
                </a:solidFill>
                <a:latin typeface="Arial"/>
              </a:rPr>
              <a:t/>
            </a:r>
            <a:r>
              <a:rPr sz="1300" b="0" i="0">
                <a:solidFill>
                  <a:srgbClr val="21295C"/>
                </a:solidFill>
                <a:latin typeface="Arial"/>
              </a:rPr>
              <a:t>• Переснять: качество входа остаётся человеку без профильной подготовки</a:t>
            </a:r>
          </a:p>
          <a:p>
            <a:pPr algn="l">
              <a:lnSpc>
                <a:spcPct val="126000"/>
              </a:lnSpc>
              <a:spcBef>
                <a:spcPts val="700"/>
              </a:spcBef>
            </a:pPr>
            <a:r>
              <a:rPr sz="1300" b="0" i="0">
                <a:solidFill>
                  <a:srgbClr val="21295C"/>
                </a:solidFill>
                <a:latin typeface="Arial"/>
              </a:rPr>
              <a:t/>
            </a:r>
            <a:r>
              <a:rPr sz="1300" b="0" i="0">
                <a:solidFill>
                  <a:srgbClr val="21295C"/>
                </a:solidFill>
                <a:latin typeface="Arial"/>
              </a:rPr>
              <a:t>• Увидеть, чем измерен вход: смещение прибора модель наследует молча — </a:t>
            </a:r>
            <a:r>
              <a:rPr sz="1300" b="1" i="0">
                <a:solidFill>
                  <a:srgbClr val="21295C"/>
                </a:solidFill>
                <a:latin typeface="Arial"/>
              </a:rPr>
              <a:t>11,7 против 3,6 процента измерений</a:t>
            </a:r>
            <a:r>
              <a:rPr sz="1300" b="0" i="0">
                <a:solidFill>
                  <a:srgbClr val="21295C"/>
                </a:solidFill>
                <a:latin typeface="Arial"/>
              </a:rPr>
              <a:t> у пациентов с тёмной и светлой кожей</a:t>
            </a:r>
          </a:p>
          <a:p>
            <a:pPr algn="l">
              <a:lnSpc>
                <a:spcPct val="126000"/>
              </a:lnSpc>
              <a:spcBef>
                <a:spcPts val="700"/>
              </a:spcBef>
            </a:pPr>
            <a:r>
              <a:rPr sz="1300" b="0" i="0">
                <a:solidFill>
                  <a:srgbClr val="21295C"/>
                </a:solidFill>
                <a:latin typeface="Arial"/>
              </a:rPr>
              <a:t/>
            </a:r>
            <a:r>
              <a:rPr sz="1300" b="1" i="0">
                <a:solidFill>
                  <a:srgbClr val="21295C"/>
                </a:solidFill>
                <a:latin typeface="Arial"/>
              </a:rPr>
              <a:t>Что стало с работой</a:t>
            </a:r>
          </a:p>
          <a:p>
            <a:pPr algn="l">
              <a:lnSpc>
                <a:spcPct val="126000"/>
              </a:lnSpc>
              <a:spcBef>
                <a:spcPts val="700"/>
              </a:spcBef>
            </a:pPr>
            <a:r>
              <a:rPr sz="1300" b="0" i="0">
                <a:solidFill>
                  <a:srgbClr val="21295C"/>
                </a:solidFill>
                <a:latin typeface="Arial"/>
              </a:rPr>
              <a:t/>
            </a:r>
            <a:r>
              <a:rPr sz="1300" b="0" i="0">
                <a:solidFill>
                  <a:srgbClr val="21295C"/>
                </a:solidFill>
                <a:latin typeface="Arial"/>
              </a:rPr>
              <a:t>• Нагрузка выросла на том же месте: у техника появилась работа добиться годного снимка</a:t>
            </a:r>
          </a:p>
        </p:txBody>
      </p:sp>
      <p:sp>
        <p:nvSpPr>
          <p:cNvPr id="6" name="TextBox 5"/>
          <p:cNvSpPr txBox="1"/>
          <p:nvPr/>
        </p:nvSpPr>
        <p:spPr>
          <a:xfrm>
            <a:off x="6278727" y="1335024"/>
            <a:ext cx="5373471" cy="4901184"/>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 Появился шаг: повторный визит тем, чьё измерение не прошло</a:t>
            </a:r>
          </a:p>
          <a:p>
            <a:pPr algn="l">
              <a:lnSpc>
                <a:spcPct val="126000"/>
              </a:lnSpc>
              <a:spcBef>
                <a:spcPts val="700"/>
              </a:spcBef>
            </a:pPr>
            <a:r>
              <a:rPr sz="1300" b="0" i="0">
                <a:solidFill>
                  <a:srgbClr val="21295C"/>
                </a:solidFill>
                <a:latin typeface="Arial"/>
              </a:rPr>
              <a:t/>
            </a:r>
            <a:r>
              <a:rPr sz="1300" b="0" i="0">
                <a:solidFill>
                  <a:srgbClr val="21295C"/>
                </a:solidFill>
                <a:latin typeface="Arial"/>
              </a:rPr>
              <a:t>• Сменился исполнитель: отбор делал врач, стал делать один балл</a:t>
            </a:r>
          </a:p>
          <a:p>
            <a:pPr algn="l">
              <a:lnSpc>
                <a:spcPct val="126000"/>
              </a:lnSpc>
              <a:spcBef>
                <a:spcPts val="700"/>
              </a:spcBef>
            </a:pPr>
            <a:r>
              <a:rPr sz="1300" b="0" i="0">
                <a:solidFill>
                  <a:srgbClr val="21295C"/>
                </a:solidFill>
                <a:latin typeface="Arial"/>
              </a:rPr>
              <a:t/>
            </a:r>
            <a:r>
              <a:rPr sz="1300" b="0" i="0">
                <a:solidFill>
                  <a:srgbClr val="21295C"/>
                </a:solidFill>
                <a:latin typeface="Arial"/>
              </a:rPr>
              <a:t>• Сместилась цена ошибки на подгруппу, которой в обучающем наборе было мало</a:t>
            </a:r>
          </a:p>
          <a:p>
            <a:pPr algn="l">
              <a:lnSpc>
                <a:spcPct val="126000"/>
              </a:lnSpc>
              <a:spcBef>
                <a:spcPts val="700"/>
              </a:spcBef>
            </a:pPr>
            <a:r>
              <a:rPr sz="1300" b="0" i="0">
                <a:solidFill>
                  <a:srgbClr val="21295C"/>
                </a:solidFill>
                <a:latin typeface="Arial"/>
              </a:rPr>
              <a:t/>
            </a:r>
            <a:r>
              <a:rPr sz="1300" b="1" i="0">
                <a:solidFill>
                  <a:srgbClr val="21295C"/>
                </a:solidFill>
                <a:latin typeface="Arial"/>
              </a:rPr>
              <a:t>Что это держит</a:t>
            </a:r>
          </a:p>
          <a:p>
            <a:pPr algn="l">
              <a:lnSpc>
                <a:spcPct val="126000"/>
              </a:lnSpc>
              <a:spcBef>
                <a:spcPts val="700"/>
              </a:spcBef>
            </a:pPr>
            <a:r>
              <a:rPr sz="1300" b="0" i="0">
                <a:solidFill>
                  <a:srgbClr val="21295C"/>
                </a:solidFill>
                <a:latin typeface="Arial"/>
              </a:rPr>
              <a:t/>
            </a:r>
            <a:r>
              <a:rPr sz="1300" b="0" i="0">
                <a:solidFill>
                  <a:srgbClr val="21295C"/>
                </a:solidFill>
                <a:latin typeface="Arial"/>
              </a:rPr>
              <a:t>• Рабочая точка под цену обеих ошибок и пересчёт доли верных тревог под свою группу</a:t>
            </a:r>
          </a:p>
          <a:p>
            <a:pPr algn="l">
              <a:lnSpc>
                <a:spcPct val="126000"/>
              </a:lnSpc>
              <a:spcBef>
                <a:spcPts val="700"/>
              </a:spcBef>
            </a:pPr>
            <a:r>
              <a:rPr sz="1300" b="0" i="0">
                <a:solidFill>
                  <a:srgbClr val="21295C"/>
                </a:solidFill>
                <a:latin typeface="Arial"/>
              </a:rPr>
              <a:t/>
            </a:r>
            <a:r>
              <a:rPr sz="1300" b="0" i="0">
                <a:solidFill>
                  <a:srgbClr val="21295C"/>
                </a:solidFill>
                <a:latin typeface="Arial"/>
              </a:rPr>
              <a:t>• Контроль годности измерения: правило кабинета, и прибор его не заменяет</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Прочерк: процедуры, которая проверяла бы, что система считает своей целью, нет</a:t>
            </a:r>
          </a:p>
          <a:p>
            <a:pPr algn="l">
              <a:lnSpc>
                <a:spcPct val="126000"/>
              </a:lnSpc>
              <a:spcBef>
                <a:spcPts val="700"/>
              </a:spcBef>
            </a:pPr>
            <a:r>
              <a:rPr sz="1300" b="0" i="0">
                <a:solidFill>
                  <a:srgbClr val="21295C"/>
                </a:solidFill>
                <a:latin typeface="Arial"/>
              </a:rPr>
              <a:t/>
            </a:r>
            <a:r>
              <a:rPr sz="1300" b="1" i="0">
                <a:solidFill>
                  <a:srgbClr val="21295C"/>
                </a:solidFill>
                <a:latin typeface="Arial"/>
              </a:rPr>
              <a:t>Ни в одном из трёх разборов не провалилось само чтение: провалились развёртывание, состав набора и определение цели.</a:t>
            </a:r>
          </a:p>
        </p:txBody>
      </p:sp>
      <p:sp>
        <p:nvSpPr>
          <p:cNvPr id="7" name="Rectangle 6"/>
          <p:cNvSpPr/>
          <p:nvPr/>
        </p:nvSpPr>
        <p:spPr>
          <a:xfrm>
            <a:off x="6091275" y="1335024"/>
            <a:ext cx="9144" cy="4661894"/>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8541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раздела: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359596" cy="374263"/>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2066988"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
            </a:r>
          </a:p>
        </p:txBody>
      </p:sp>
      <p:sp>
        <p:nvSpPr>
          <p:cNvPr id="7" name="Rectangle 6"/>
          <p:cNvSpPr/>
          <p:nvPr/>
        </p:nvSpPr>
        <p:spPr>
          <a:xfrm>
            <a:off x="2899092" y="1335024"/>
            <a:ext cx="1200523" cy="374263"/>
          </a:xfrm>
          <a:prstGeom prst="rect">
            <a:avLst/>
          </a:prstGeom>
          <a:solidFill>
            <a:srgbClr val="065A82"/>
          </a:solidFill>
          <a:ln>
            <a:noFill/>
          </a:ln>
          <a:effectLst/>
        </p:spPr>
        <p:txBody>
          <a:bodyPr rtlCol="0" anchor="ctr"/>
          <a:lstStyle/>
          <a:p>
            <a:pPr algn="ctr"/>
          </a:p>
        </p:txBody>
      </p:sp>
      <p:sp>
        <p:nvSpPr>
          <p:cNvPr id="8" name="TextBox 7"/>
          <p:cNvSpPr txBox="1"/>
          <p:nvPr/>
        </p:nvSpPr>
        <p:spPr>
          <a:xfrm>
            <a:off x="3045396" y="1335024"/>
            <a:ext cx="907915"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текст</a:t>
            </a:r>
          </a:p>
        </p:txBody>
      </p:sp>
      <p:sp>
        <p:nvSpPr>
          <p:cNvPr id="9" name="Rectangle 8"/>
          <p:cNvSpPr/>
          <p:nvPr/>
        </p:nvSpPr>
        <p:spPr>
          <a:xfrm>
            <a:off x="4099615" y="1335024"/>
            <a:ext cx="4365042" cy="374263"/>
          </a:xfrm>
          <a:prstGeom prst="rect">
            <a:avLst/>
          </a:prstGeom>
          <a:solidFill>
            <a:srgbClr val="065A82"/>
          </a:solidFill>
          <a:ln>
            <a:noFill/>
          </a:ln>
          <a:effectLst/>
        </p:spPr>
        <p:txBody>
          <a:bodyPr rtlCol="0" anchor="ctr"/>
          <a:lstStyle/>
          <a:p>
            <a:pPr algn="ctr"/>
          </a:p>
        </p:txBody>
      </p:sp>
      <p:sp>
        <p:nvSpPr>
          <p:cNvPr id="10" name="TextBox 9"/>
          <p:cNvSpPr txBox="1"/>
          <p:nvPr/>
        </p:nvSpPr>
        <p:spPr>
          <a:xfrm>
            <a:off x="4245919" y="1335024"/>
            <a:ext cx="4072434"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изображение</a:t>
            </a:r>
          </a:p>
        </p:txBody>
      </p:sp>
      <p:sp>
        <p:nvSpPr>
          <p:cNvPr id="11" name="Rectangle 10"/>
          <p:cNvSpPr/>
          <p:nvPr/>
        </p:nvSpPr>
        <p:spPr>
          <a:xfrm>
            <a:off x="8464658" y="1335024"/>
            <a:ext cx="3187540" cy="374263"/>
          </a:xfrm>
          <a:prstGeom prst="rect">
            <a:avLst/>
          </a:prstGeom>
          <a:solidFill>
            <a:srgbClr val="065A82"/>
          </a:solidFill>
          <a:ln>
            <a:noFill/>
          </a:ln>
          <a:effectLst/>
        </p:spPr>
        <p:txBody>
          <a:bodyPr rtlCol="0" anchor="ctr"/>
          <a:lstStyle/>
          <a:p>
            <a:pPr algn="ctr"/>
          </a:p>
        </p:txBody>
      </p:sp>
      <p:sp>
        <p:nvSpPr>
          <p:cNvPr id="12" name="TextBox 11"/>
          <p:cNvSpPr txBox="1"/>
          <p:nvPr/>
        </p:nvSpPr>
        <p:spPr>
          <a:xfrm>
            <a:off x="8610962" y="1335024"/>
            <a:ext cx="2894932"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структурированные данные</a:t>
            </a:r>
          </a:p>
        </p:txBody>
      </p:sp>
      <p:sp>
        <p:nvSpPr>
          <p:cNvPr id="13" name="Rectangle 12"/>
          <p:cNvSpPr/>
          <p:nvPr/>
        </p:nvSpPr>
        <p:spPr>
          <a:xfrm>
            <a:off x="539496" y="1709287"/>
            <a:ext cx="2359596" cy="374263"/>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09287"/>
            <a:ext cx="2066988"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классификация</a:t>
            </a:r>
          </a:p>
        </p:txBody>
      </p:sp>
      <p:sp>
        <p:nvSpPr>
          <p:cNvPr id="15" name="Rectangle 14"/>
          <p:cNvSpPr/>
          <p:nvPr/>
        </p:nvSpPr>
        <p:spPr>
          <a:xfrm>
            <a:off x="2899092" y="1709287"/>
            <a:ext cx="1200523" cy="374263"/>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3045396" y="1709287"/>
            <a:ext cx="907915"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17" name="Rectangle 16"/>
          <p:cNvSpPr/>
          <p:nvPr/>
        </p:nvSpPr>
        <p:spPr>
          <a:xfrm>
            <a:off x="4099615" y="1709287"/>
            <a:ext cx="4365042" cy="374263"/>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4245919" y="1709287"/>
            <a:ext cx="4072434" cy="374263"/>
          </a:xfrm>
          <a:prstGeom prst="rect">
            <a:avLst/>
          </a:prstGeom>
          <a:noFill/>
        </p:spPr>
        <p:txBody>
          <a:bodyPr wrap="square" lIns="0" rIns="0" tIns="0" bIns="0" anchor="ctr">
            <a:spAutoFit/>
          </a:bodyPr>
          <a:lstStyle/>
          <a:p>
            <a:pPr algn="l">
              <a:lnSpc>
                <a:spcPct val="116000"/>
              </a:lnSpc>
            </a:pPr>
            <a:r>
              <a:rPr sz="1150" b="1" i="0">
                <a:solidFill>
                  <a:srgbClr val="21295C"/>
                </a:solidFill>
                <a:latin typeface="Arial"/>
              </a:rPr>
              <a:t>Таиланд</a:t>
            </a:r>
            <a:r>
              <a:rPr sz="1150" b="0" i="0">
                <a:solidFill>
                  <a:srgbClr val="21295C"/>
                </a:solidFill>
                <a:latin typeface="Arial"/>
              </a:rPr>
              <a:t> · </a:t>
            </a:r>
            <a:r>
              <a:rPr sz="1150" b="1" i="0">
                <a:solidFill>
                  <a:srgbClr val="21295C"/>
                </a:solidFill>
                <a:latin typeface="Arial"/>
              </a:rPr>
              <a:t>кожа и состав набора</a:t>
            </a:r>
            <a:r>
              <a:rPr sz="1150" b="0" i="0">
                <a:solidFill>
                  <a:srgbClr val="21295C"/>
                </a:solidFill>
                <a:latin typeface="Arial"/>
              </a:rPr>
              <a:t> · (отбор)</a:t>
            </a:r>
          </a:p>
        </p:txBody>
      </p:sp>
      <p:sp>
        <p:nvSpPr>
          <p:cNvPr id="19" name="Rectangle 18"/>
          <p:cNvSpPr/>
          <p:nvPr/>
        </p:nvSpPr>
        <p:spPr>
          <a:xfrm>
            <a:off x="8464658" y="1709287"/>
            <a:ext cx="3187540" cy="374263"/>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8610962" y="1709287"/>
            <a:ext cx="2894932"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1" name="Rectangle 20"/>
          <p:cNvSpPr/>
          <p:nvPr/>
        </p:nvSpPr>
        <p:spPr>
          <a:xfrm>
            <a:off x="539496" y="2083551"/>
            <a:ext cx="2359596" cy="374263"/>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083551"/>
            <a:ext cx="2066988"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распознавание</a:t>
            </a:r>
          </a:p>
        </p:txBody>
      </p:sp>
      <p:sp>
        <p:nvSpPr>
          <p:cNvPr id="23" name="Rectangle 22"/>
          <p:cNvSpPr/>
          <p:nvPr/>
        </p:nvSpPr>
        <p:spPr>
          <a:xfrm>
            <a:off x="2899092" y="2083551"/>
            <a:ext cx="1200523" cy="374263"/>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3045396" y="2083551"/>
            <a:ext cx="907915"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5" name="Rectangle 24"/>
          <p:cNvSpPr/>
          <p:nvPr/>
        </p:nvSpPr>
        <p:spPr>
          <a:xfrm>
            <a:off x="4099615" y="2083551"/>
            <a:ext cx="4365042" cy="374263"/>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4245919" y="2083551"/>
            <a:ext cx="407243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(отбор)</a:t>
            </a:r>
          </a:p>
        </p:txBody>
      </p:sp>
      <p:sp>
        <p:nvSpPr>
          <p:cNvPr id="27" name="Rectangle 26"/>
          <p:cNvSpPr/>
          <p:nvPr/>
        </p:nvSpPr>
        <p:spPr>
          <a:xfrm>
            <a:off x="8464658" y="2083551"/>
            <a:ext cx="3187540" cy="374263"/>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8610962" y="2083551"/>
            <a:ext cx="2894932"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9" name="Rectangle 28"/>
          <p:cNvSpPr/>
          <p:nvPr/>
        </p:nvSpPr>
        <p:spPr>
          <a:xfrm>
            <a:off x="539496" y="2457815"/>
            <a:ext cx="2359596" cy="374263"/>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457815"/>
            <a:ext cx="2066988"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поиск с генерацией</a:t>
            </a:r>
          </a:p>
        </p:txBody>
      </p:sp>
      <p:sp>
        <p:nvSpPr>
          <p:cNvPr id="31" name="Rectangle 30"/>
          <p:cNvSpPr/>
          <p:nvPr/>
        </p:nvSpPr>
        <p:spPr>
          <a:xfrm>
            <a:off x="2899092" y="2457815"/>
            <a:ext cx="1200523" cy="374263"/>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3045396" y="2457815"/>
            <a:ext cx="907915"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(отбор)</a:t>
            </a:r>
          </a:p>
        </p:txBody>
      </p:sp>
      <p:sp>
        <p:nvSpPr>
          <p:cNvPr id="33" name="Rectangle 32"/>
          <p:cNvSpPr/>
          <p:nvPr/>
        </p:nvSpPr>
        <p:spPr>
          <a:xfrm>
            <a:off x="4099615" y="2457815"/>
            <a:ext cx="4365042" cy="374263"/>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4245919" y="2457815"/>
            <a:ext cx="407243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35" name="Rectangle 34"/>
          <p:cNvSpPr/>
          <p:nvPr/>
        </p:nvSpPr>
        <p:spPr>
          <a:xfrm>
            <a:off x="8464658" y="2457815"/>
            <a:ext cx="3187540" cy="374263"/>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8610962" y="2457815"/>
            <a:ext cx="2894932"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37" name="Rectangle 36"/>
          <p:cNvSpPr/>
          <p:nvPr/>
        </p:nvSpPr>
        <p:spPr>
          <a:xfrm>
            <a:off x="539496" y="2832078"/>
            <a:ext cx="2359596" cy="374263"/>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832078"/>
            <a:ext cx="2066988"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прогноз</a:t>
            </a:r>
          </a:p>
        </p:txBody>
      </p:sp>
      <p:sp>
        <p:nvSpPr>
          <p:cNvPr id="39" name="Rectangle 38"/>
          <p:cNvSpPr/>
          <p:nvPr/>
        </p:nvSpPr>
        <p:spPr>
          <a:xfrm>
            <a:off x="2899092" y="2832078"/>
            <a:ext cx="1200523" cy="374263"/>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3045396" y="2832078"/>
            <a:ext cx="907915"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41" name="Rectangle 40"/>
          <p:cNvSpPr/>
          <p:nvPr/>
        </p:nvSpPr>
        <p:spPr>
          <a:xfrm>
            <a:off x="4099615" y="2832078"/>
            <a:ext cx="4365042" cy="374263"/>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4245919" y="2832078"/>
            <a:ext cx="407243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43" name="Rectangle 42"/>
          <p:cNvSpPr/>
          <p:nvPr/>
        </p:nvSpPr>
        <p:spPr>
          <a:xfrm>
            <a:off x="8464658" y="2832078"/>
            <a:ext cx="3187540" cy="374263"/>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8610962" y="2832078"/>
            <a:ext cx="2894932" cy="374263"/>
          </a:xfrm>
          <a:prstGeom prst="rect">
            <a:avLst/>
          </a:prstGeom>
          <a:noFill/>
        </p:spPr>
        <p:txBody>
          <a:bodyPr wrap="square" lIns="0" rIns="0" tIns="0" bIns="0" anchor="ctr">
            <a:spAutoFit/>
          </a:bodyPr>
          <a:lstStyle/>
          <a:p>
            <a:pPr algn="l">
              <a:lnSpc>
                <a:spcPct val="116000"/>
              </a:lnSpc>
            </a:pPr>
            <a:r>
              <a:rPr sz="1150" b="1" i="0">
                <a:solidFill>
                  <a:srgbClr val="21295C"/>
                </a:solidFill>
                <a:latin typeface="Arial"/>
              </a:rPr>
              <a:t>расходы вместо болезни</a:t>
            </a:r>
          </a:p>
        </p:txBody>
      </p:sp>
      <p:sp>
        <p:nvSpPr>
          <p:cNvPr id="45" name="TextBox 44"/>
          <p:cNvSpPr txBox="1"/>
          <p:nvPr/>
        </p:nvSpPr>
        <p:spPr>
          <a:xfrm>
            <a:off x="539496" y="3352646"/>
            <a:ext cx="11112703"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Полужирное — этот раздел, в скобках — кто занял клетку раньше, прочерк — пусто.</a:t>
            </a:r>
            <a:r>
              <a:rPr sz="1200" b="0" i="0">
                <a:solidFill>
                  <a:srgbClr val="21295C"/>
                </a:solidFill>
                <a:latin typeface="Arial"/>
              </a:rPr>
              <a:t> Занято 4 клетки из 12, новая одна: прогноз.</a:t>
            </a:r>
          </a:p>
        </p:txBody>
      </p:sp>
      <p:sp>
        <p:nvSpPr>
          <p:cNvPr id="46" name="TextBox 45"/>
          <p:cNvSpPr txBox="1"/>
          <p:nvPr/>
        </p:nvSpPr>
        <p:spPr>
          <a:xfrm>
            <a:off x="539496" y="3742572"/>
            <a:ext cx="11112703"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Восемь прочерков за два раздела не двинулись, и читать надо их:</a:t>
            </a:r>
            <a:r>
              <a:rPr sz="1200" b="0" i="0">
                <a:solidFill>
                  <a:srgbClr val="21295C"/>
                </a:solidFill>
                <a:latin typeface="Arial"/>
              </a:rPr>
              <a:t> инструмент такого класса здесь искать незачем.</a:t>
            </a:r>
          </a:p>
        </p:txBody>
      </p:sp>
      <p:sp>
        <p:nvSpPr>
          <p:cNvPr id="47" name="TextBox 46"/>
          <p:cNvSpPr txBox="1"/>
          <p:nvPr/>
        </p:nvSpPr>
        <p:spPr>
          <a:xfrm>
            <a:off x="539496" y="4132497"/>
            <a:ext cx="11112703"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Одна клетка занята дважды, и провалилось разное:</a:t>
            </a:r>
            <a:r>
              <a:rPr sz="1200" b="0" i="0">
                <a:solidFill>
                  <a:srgbClr val="21295C"/>
                </a:solidFill>
                <a:latin typeface="Arial"/>
              </a:rPr>
              <a:t> в Таиланде — место развёртывания, в дерматологии — состав набора. Отчёт под именем клетки не сказал бы ни о том, ни о другом.</a:t>
            </a:r>
          </a:p>
        </p:txBody>
      </p:sp>
      <p:sp>
        <p:nvSpPr>
          <p:cNvPr id="48" name="TextBox 47"/>
          <p:cNvSpPr txBox="1"/>
          <p:nvPr/>
        </p:nvSpPr>
        <p:spPr>
          <a:xfrm>
            <a:off x="539496" y="4766044"/>
            <a:ext cx="11112703"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Вне окна — одно занятое место:</a:t>
            </a:r>
            <a:r>
              <a:rPr sz="1200" b="0" i="0">
                <a:solidFill>
                  <a:srgbClr val="21295C"/>
                </a:solidFill>
                <a:latin typeface="Arial"/>
              </a:rPr>
              <a:t> </a:t>
            </a:r>
            <a:r>
              <a:rPr sz="1200" b="0" i="1">
                <a:solidFill>
                  <a:srgbClr val="1C7293"/>
                </a:solidFill>
                <a:latin typeface="Arial"/>
              </a:rPr>
              <a:t>измерение · сигнал прибора</a:t>
            </a:r>
            <a:r>
              <a:rPr sz="1200" b="0" i="0">
                <a:solidFill>
                  <a:srgbClr val="21295C"/>
                </a:solidFill>
                <a:latin typeface="Arial"/>
              </a:rPr>
              <a:t>, где обученной модели нет вовсе.</a:t>
            </a:r>
          </a:p>
        </p:txBody>
      </p:sp>
      <p:sp>
        <p:nvSpPr>
          <p:cNvPr id="49" name="Rounded Rectangle 48"/>
          <p:cNvSpPr/>
          <p:nvPr/>
        </p:nvSpPr>
        <p:spPr>
          <a:xfrm>
            <a:off x="630936" y="5239790"/>
            <a:ext cx="100584" cy="100584"/>
          </a:xfrm>
          <a:prstGeom prst="roundRect">
            <a:avLst>
              <a:gd name="adj" fmla="val 50000"/>
            </a:avLst>
          </a:prstGeom>
          <a:solidFill>
            <a:srgbClr val="028090"/>
          </a:solidFill>
          <a:ln>
            <a:noFill/>
          </a:ln>
          <a:effectLst/>
        </p:spPr>
        <p:txBody>
          <a:bodyPr rtlCol="0" anchor="ctr"/>
          <a:lstStyle/>
          <a:p>
            <a:pPr algn="ctr"/>
          </a:p>
        </p:txBody>
      </p:sp>
      <p:sp>
        <p:nvSpPr>
          <p:cNvPr id="50" name="TextBox 49"/>
          <p:cNvSpPr txBox="1"/>
          <p:nvPr/>
        </p:nvSpPr>
        <p:spPr>
          <a:xfrm>
            <a:off x="923544" y="5155970"/>
            <a:ext cx="10728655"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автономное чтение без врача</a:t>
            </a:r>
            <a:r>
              <a:rPr sz="1200" b="0" i="0">
                <a:solidFill>
                  <a:srgbClr val="21295C"/>
                </a:solidFill>
                <a:latin typeface="Arial"/>
              </a:rPr>
              <a:t> — LumineticsCore · EyeArt · AEYE-DS</a:t>
            </a:r>
          </a:p>
        </p:txBody>
      </p:sp>
      <p:sp>
        <p:nvSpPr>
          <p:cNvPr id="51" name="Rounded Rectangle 50"/>
          <p:cNvSpPr/>
          <p:nvPr/>
        </p:nvSpPr>
        <p:spPr>
          <a:xfrm>
            <a:off x="630936" y="5629715"/>
            <a:ext cx="100584" cy="100584"/>
          </a:xfrm>
          <a:prstGeom prst="roundRect">
            <a:avLst>
              <a:gd name="adj" fmla="val 50000"/>
            </a:avLst>
          </a:prstGeom>
          <a:solidFill>
            <a:srgbClr val="028090"/>
          </a:solidFill>
          <a:ln>
            <a:noFill/>
          </a:ln>
          <a:effectLst/>
        </p:spPr>
        <p:txBody>
          <a:bodyPr rtlCol="0" anchor="ctr"/>
          <a:lstStyle/>
          <a:p>
            <a:pPr algn="ctr"/>
          </a:p>
        </p:txBody>
      </p:sp>
      <p:sp>
        <p:nvSpPr>
          <p:cNvPr id="52" name="TextBox 51"/>
          <p:cNvSpPr txBox="1"/>
          <p:nvPr/>
        </p:nvSpPr>
        <p:spPr>
          <a:xfrm>
            <a:off x="923544" y="5545895"/>
            <a:ext cx="10728655"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оценка кожного образования</a:t>
            </a:r>
            <a:r>
              <a:rPr sz="1200" b="0" i="0">
                <a:solidFill>
                  <a:srgbClr val="21295C"/>
                </a:solidFill>
                <a:latin typeface="Arial"/>
              </a:rPr>
              <a:t> — SkinVision · DermaSensor</a:t>
            </a:r>
          </a:p>
        </p:txBody>
      </p:sp>
      <p:sp>
        <p:nvSpPr>
          <p:cNvPr id="53" name="Rounded Rectangle 52"/>
          <p:cNvSpPr/>
          <p:nvPr/>
        </p:nvSpPr>
        <p:spPr>
          <a:xfrm>
            <a:off x="630936" y="6019641"/>
            <a:ext cx="100584" cy="100584"/>
          </a:xfrm>
          <a:prstGeom prst="roundRect">
            <a:avLst>
              <a:gd name="adj" fmla="val 50000"/>
            </a:avLst>
          </a:prstGeom>
          <a:solidFill>
            <a:srgbClr val="028090"/>
          </a:solidFill>
          <a:ln>
            <a:noFill/>
          </a:ln>
          <a:effectLst/>
        </p:spPr>
        <p:txBody>
          <a:bodyPr rtlCol="0" anchor="ctr"/>
          <a:lstStyle/>
          <a:p>
            <a:pPr algn="ctr"/>
          </a:p>
        </p:txBody>
      </p:sp>
      <p:sp>
        <p:nvSpPr>
          <p:cNvPr id="54" name="TextBox 53"/>
          <p:cNvSpPr txBox="1"/>
          <p:nvPr/>
        </p:nvSpPr>
        <p:spPr>
          <a:xfrm>
            <a:off x="923544" y="5935821"/>
            <a:ext cx="10728655"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счёт риска внутри карты</a:t>
            </a:r>
            <a:r>
              <a:rPr sz="1200" b="0" i="0">
                <a:solidFill>
                  <a:srgbClr val="21295C"/>
                </a:solidFill>
                <a:latin typeface="Arial"/>
              </a:rPr>
              <a:t> — покупает плательщик или администрация, не врач</a:t>
            </a:r>
          </a:p>
        </p:txBody>
      </p:sp>
      <p:sp>
        <p:nvSpPr>
          <p:cNvPr id="55" name="Rectangle 5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56" name="TextBox 5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Сетка «тип задачи × данные» — Лекция 1. Полужирным — разборы этого раздела со сверенными числами; в скобках — раздел, занявший клетку раньше</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543800" y="914400"/>
            <a:ext cx="4144975" cy="3010389"/>
          </a:xfrm>
          <a:prstGeom prst="roundRect">
            <a:avLst>
              <a:gd name="adj" fmla="val 10124"/>
            </a:avLst>
          </a:prstGeom>
          <a:solidFill>
            <a:srgbClr val="F4F7FA"/>
          </a:solidFill>
          <a:ln w="19050">
            <a:solidFill>
              <a:srgbClr val="1C7293"/>
            </a:solidFill>
          </a:ln>
          <a:effectLst/>
        </p:spPr>
        <p:txBody>
          <a:bodyPr rtlCol="0" anchor="ctr"/>
          <a:lstStyle/>
          <a:p>
            <a:pPr algn="ctr"/>
          </a:p>
        </p:txBody>
      </p:sp>
      <p:pic>
        <p:nvPicPr>
          <p:cNvPr id="5" name="Picture 4" descr="s35-vrach-chitaet-s-ekrana.jpg"/>
          <p:cNvPicPr>
            <a:picLocks noChangeAspect="1"/>
          </p:cNvPicPr>
          <p:nvPr/>
        </p:nvPicPr>
        <p:blipFill>
          <a:blip r:embed="rId2"/>
          <a:stretch>
            <a:fillRect/>
          </a:stretch>
        </p:blipFill>
        <p:spPr>
          <a:xfrm>
            <a:off x="7680960" y="1051560"/>
            <a:ext cx="3870655" cy="2736069"/>
          </a:xfrm>
          <a:prstGeom prst="rect">
            <a:avLst/>
          </a:prstGeom>
        </p:spPr>
      </p:pic>
      <p:sp>
        <p:nvSpPr>
          <p:cNvPr id="6" name="TextBox 5"/>
          <p:cNvSpPr txBox="1"/>
          <p:nvPr/>
        </p:nvSpPr>
        <p:spPr>
          <a:xfrm>
            <a:off x="704088" y="960120"/>
            <a:ext cx="667512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3. Постановка диагноза — человек читает рядом с моделью</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Заключение по данным выносит человек. Читает он теперь не только снимок, но и подсказку модели рядом с ним.</a:t>
            </a:r>
          </a:p>
        </p:txBody>
      </p:sp>
      <p:sp>
        <p:nvSpPr>
          <p:cNvPr id="9" name="TextBox 8"/>
          <p:cNvSpPr txBox="1"/>
          <p:nvPr/>
        </p:nvSpPr>
        <p:spPr>
          <a:xfrm>
            <a:off x="704088" y="3045563"/>
            <a:ext cx="6473952"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Разборы по порядку:</a:t>
            </a:r>
          </a:p>
        </p:txBody>
      </p:sp>
      <p:sp>
        <p:nvSpPr>
          <p:cNvPr id="10" name="TextBox 9"/>
          <p:cNvSpPr txBox="1"/>
          <p:nvPr/>
        </p:nvSpPr>
        <p:spPr>
          <a:xfrm>
            <a:off x="704088" y="3512246"/>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 </a:t>
            </a:r>
            <a:r>
              <a:rPr sz="1550" b="1" i="0">
                <a:solidFill>
                  <a:srgbClr val="21295C"/>
                </a:solidFill>
                <a:latin typeface="Arial"/>
              </a:rPr>
              <a:t>Пример 1: замер взгляда радиолога</a:t>
            </a:r>
            <a:r>
              <a:rPr sz="1550" b="0" i="0">
                <a:solidFill>
                  <a:srgbClr val="21295C"/>
                </a:solidFill>
                <a:latin typeface="Arial"/>
              </a:rPr>
              <a:t> — и рядом </a:t>
            </a:r>
            <a:r>
              <a:rPr sz="1550" b="1" i="0">
                <a:solidFill>
                  <a:srgbClr val="21295C"/>
                </a:solidFill>
                <a:latin typeface="Arial"/>
              </a:rPr>
              <a:t>зеркало того же замера</a:t>
            </a:r>
          </a:p>
        </p:txBody>
      </p:sp>
      <p:sp>
        <p:nvSpPr>
          <p:cNvPr id="11" name="TextBox 10"/>
          <p:cNvSpPr txBox="1"/>
          <p:nvPr/>
        </p:nvSpPr>
        <p:spPr>
          <a:xfrm>
            <a:off x="704088" y="4281019"/>
            <a:ext cx="6473952"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 </a:t>
            </a:r>
            <a:r>
              <a:rPr sz="1550" b="1" i="0">
                <a:solidFill>
                  <a:srgbClr val="21295C"/>
                </a:solidFill>
                <a:latin typeface="Arial"/>
              </a:rPr>
              <a:t>Пример 2: одна подсказка с двумя знаками</a:t>
            </a:r>
          </a:p>
        </p:txBody>
      </p:sp>
      <p:sp>
        <p:nvSpPr>
          <p:cNvPr id="12" name="TextBox 11"/>
          <p:cNvSpPr txBox="1"/>
          <p:nvPr/>
        </p:nvSpPr>
        <p:spPr>
          <a:xfrm>
            <a:off x="704088" y="4747702"/>
            <a:ext cx="6473952"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 </a:t>
            </a:r>
            <a:r>
              <a:rPr sz="1550" b="1" i="0">
                <a:solidFill>
                  <a:srgbClr val="21295C"/>
                </a:solidFill>
                <a:latin typeface="Arial"/>
              </a:rPr>
              <a:t>Пример 3: измеренная тройка</a:t>
            </a:r>
          </a:p>
        </p:txBody>
      </p:sp>
      <p:sp>
        <p:nvSpPr>
          <p:cNvPr id="13" name="TextBox 12"/>
          <p:cNvSpPr txBox="1"/>
          <p:nvPr/>
        </p:nvSpPr>
        <p:spPr>
          <a:xfrm>
            <a:off x="704088" y="5214385"/>
            <a:ext cx="6473952"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 </a:t>
            </a:r>
            <a:r>
              <a:rPr sz="1550" b="1" i="0">
                <a:solidFill>
                  <a:srgbClr val="21295C"/>
                </a:solidFill>
                <a:latin typeface="Arial"/>
              </a:rPr>
              <a:t>Пример 4: контрольная линия</a:t>
            </a:r>
          </a:p>
        </p:txBody>
      </p:sp>
      <p:sp>
        <p:nvSpPr>
          <p:cNvPr id="14" name="TextBox 13"/>
          <p:cNvSpPr txBox="1"/>
          <p:nvPr/>
        </p:nvSpPr>
        <p:spPr>
          <a:xfrm>
            <a:off x="704088" y="5681067"/>
            <a:ext cx="6675120"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Врач читает исследование с экрана и наговаривает заключение</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Что делают участники на стадии постановки диагноза — до всякой обученной модели</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Ход работы</a:t>
            </a:r>
          </a:p>
        </p:txBody>
      </p:sp>
      <p:sp>
        <p:nvSpPr>
          <p:cNvPr id="5" name="Rounded Rectangle 4"/>
          <p:cNvSpPr/>
          <p:nvPr/>
        </p:nvSpPr>
        <p:spPr>
          <a:xfrm>
            <a:off x="1920240"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собрать данные</a:t>
            </a:r>
          </a:p>
        </p:txBody>
      </p:sp>
      <p:sp>
        <p:nvSpPr>
          <p:cNvPr id="7" name="Right Arrow 6"/>
          <p:cNvSpPr/>
          <p:nvPr/>
        </p:nvSpPr>
        <p:spPr>
          <a:xfrm>
            <a:off x="4202353" y="162296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выписать объясняющие болезни</a:t>
            </a:r>
          </a:p>
        </p:txBody>
      </p:sp>
      <p:sp>
        <p:nvSpPr>
          <p:cNvPr id="10" name="Right Arrow 9"/>
          <p:cNvSpPr/>
          <p:nvPr/>
        </p:nvSpPr>
        <p:spPr>
          <a:xfrm>
            <a:off x="6713067" y="162296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назначить различающее</a:t>
            </a:r>
          </a:p>
        </p:txBody>
      </p:sp>
      <p:sp>
        <p:nvSpPr>
          <p:cNvPr id="13" name="Right Arrow 12"/>
          <p:cNvSpPr/>
          <p:nvPr/>
        </p:nvSpPr>
        <p:spPr>
          <a:xfrm>
            <a:off x="9223781" y="1622964"/>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вычеркнуть опровергнутое</a:t>
            </a:r>
          </a:p>
        </p:txBody>
      </p:sp>
      <p:sp>
        <p:nvSpPr>
          <p:cNvPr id="16" name="TextBox 15"/>
          <p:cNvSpPr txBox="1"/>
          <p:nvPr/>
        </p:nvSpPr>
        <p:spPr>
          <a:xfrm>
            <a:off x="502920" y="208464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Как список сужается</a:t>
            </a:r>
          </a:p>
        </p:txBody>
      </p:sp>
      <p:sp>
        <p:nvSpPr>
          <p:cNvPr id="17" name="Rounded Rectangle 16"/>
          <p:cNvSpPr/>
          <p:nvPr/>
        </p:nvSpPr>
        <p:spPr>
          <a:xfrm>
            <a:off x="374904" y="2387325"/>
            <a:ext cx="11441887" cy="3848882"/>
          </a:xfrm>
          <a:prstGeom prst="roundRect">
            <a:avLst>
              <a:gd name="adj" fmla="val 7919"/>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478765"/>
            <a:ext cx="5373471" cy="3757442"/>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Семь действий стадии.</a:t>
            </a:r>
            <a:r>
              <a:rPr sz="1400" b="0" i="0">
                <a:solidFill>
                  <a:srgbClr val="21295C"/>
                </a:solidFill>
                <a:latin typeface="Arial"/>
              </a:rPr>
              <a:t> 1. Собрать данные · 2. Выписать объясняющие болезни · 3. Назначить различающую проверку · 4. Вычеркнуть опровергнутое · 5. Прочесть вторым независимо · 6. Разрешить расхождение третьим · 7. Подписать заключение.</a:t>
            </a:r>
          </a:p>
          <a:p>
            <a:pPr algn="l">
              <a:lnSpc>
                <a:spcPct val="126000"/>
              </a:lnSpc>
              <a:spcBef>
                <a:spcPts val="700"/>
              </a:spcBef>
            </a:pPr>
            <a:r>
              <a:rPr sz="1400" b="0" i="0">
                <a:solidFill>
                  <a:srgbClr val="21295C"/>
                </a:solidFill>
                <a:latin typeface="Arial"/>
              </a:rPr>
              <a:t/>
            </a:r>
            <a:r>
              <a:rPr sz="1400" b="0" i="0">
                <a:solidFill>
                  <a:srgbClr val="21295C"/>
                </a:solidFill>
                <a:latin typeface="Arial"/>
              </a:rPr>
              <a:t>Один приём, женщина тридцати четырёх лет:</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на входе</a:t>
            </a:r>
            <a:r>
              <a:rPr sz="1400" b="0" i="0">
                <a:solidFill>
                  <a:srgbClr val="21295C"/>
                </a:solidFill>
                <a:latin typeface="Arial"/>
              </a:rPr>
              <a:t> — кашель три недели · вечерняя температура · минус четыре килограмма</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в списке</a:t>
            </a:r>
            <a:r>
              <a:rPr sz="1400" b="0" i="0">
                <a:solidFill>
                  <a:srgbClr val="21295C"/>
                </a:solidFill>
                <a:latin typeface="Arial"/>
              </a:rPr>
              <a:t> — затяжной бронхит · туберкулёз · лимфома · аутоиммунное поражение</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различают дешёвым и отсекающим</a:t>
            </a:r>
            <a:r>
              <a:rPr sz="1400" b="0" i="0">
                <a:solidFill>
                  <a:srgbClr val="21295C"/>
                </a:solidFill>
                <a:latin typeface="Arial"/>
              </a:rPr>
              <a:t> — снимок и анализ крови</a:t>
            </a:r>
          </a:p>
        </p:txBody>
      </p:sp>
      <p:sp>
        <p:nvSpPr>
          <p:cNvPr id="19" name="TextBox 18"/>
          <p:cNvSpPr txBox="1"/>
          <p:nvPr/>
        </p:nvSpPr>
        <p:spPr>
          <a:xfrm>
            <a:off x="6278727" y="2478765"/>
            <a:ext cx="5373471" cy="3757442"/>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a:t>
            </a:r>
            <a:r>
              <a:rPr sz="1400" b="1" i="0">
                <a:solidFill>
                  <a:srgbClr val="21295C"/>
                </a:solidFill>
                <a:latin typeface="Arial"/>
              </a:rPr>
              <a:t>через два дня</a:t>
            </a:r>
            <a:r>
              <a:rPr sz="1400" b="0" i="0">
                <a:solidFill>
                  <a:srgbClr val="21295C"/>
                </a:solidFill>
                <a:latin typeface="Arial"/>
              </a:rPr>
              <a:t> — два вычеркнуты, осталось два, которые по снимку не различаются</a:t>
            </a:r>
          </a:p>
          <a:p>
            <a:pPr algn="l">
              <a:lnSpc>
                <a:spcPct val="126000"/>
              </a:lnSpc>
              <a:spcBef>
                <a:spcPts val="700"/>
              </a:spcBef>
            </a:pPr>
            <a:r>
              <a:rPr sz="1400" b="0" i="0">
                <a:solidFill>
                  <a:srgbClr val="21295C"/>
                </a:solidFill>
                <a:latin typeface="Arial"/>
              </a:rPr>
              <a:t/>
            </a:r>
            <a:r>
              <a:rPr sz="1400" b="1" i="0">
                <a:solidFill>
                  <a:srgbClr val="21295C"/>
                </a:solidFill>
                <a:latin typeface="Arial"/>
              </a:rPr>
              <a:t>Без обученной модели каждое из семи делает человек по записанному правилу.</a:t>
            </a:r>
            <a:r>
              <a:rPr sz="1400" b="0" i="0">
                <a:solidFill>
                  <a:srgbClr val="21295C"/>
                </a:solidFill>
                <a:latin typeface="Arial"/>
              </a:rPr>
              <a:t> Решение не принимается, пока список не сузился.</a:t>
            </a:r>
          </a:p>
          <a:p>
            <a:pPr algn="l">
              <a:lnSpc>
                <a:spcPct val="126000"/>
              </a:lnSpc>
              <a:spcBef>
                <a:spcPts val="700"/>
              </a:spcBef>
            </a:pPr>
            <a:r>
              <a:rPr sz="1400" b="0" i="0">
                <a:solidFill>
                  <a:srgbClr val="21295C"/>
                </a:solidFill>
                <a:latin typeface="Arial"/>
              </a:rPr>
              <a:t/>
            </a:r>
            <a:r>
              <a:rPr sz="1400" b="1" i="0">
                <a:solidFill>
                  <a:srgbClr val="21295C"/>
                </a:solidFill>
                <a:latin typeface="Arial"/>
              </a:rPr>
              <a:t>Обученная модель заняла три действия из семи:</a:t>
            </a:r>
            <a:r>
              <a:rPr sz="1400" b="0" i="0">
                <a:solidFill>
                  <a:srgbClr val="21295C"/>
                </a:solidFill>
                <a:latin typeface="Arial"/>
              </a:rPr>
              <a:t> состав списка (2) · второе чтение (5) · подпись (7). </a:t>
            </a:r>
            <a:r>
              <a:rPr sz="1400" b="1" i="0">
                <a:solidFill>
                  <a:srgbClr val="21295C"/>
                </a:solidFill>
                <a:latin typeface="Arial"/>
              </a:rPr>
              <a:t>Добавилось одно, которого у врача не было: решить, верить ли подсказке.</a:t>
            </a:r>
          </a:p>
          <a:p>
            <a:pPr algn="l">
              <a:lnSpc>
                <a:spcPct val="126000"/>
              </a:lnSpc>
              <a:spcBef>
                <a:spcPts val="700"/>
              </a:spcBef>
            </a:pPr>
            <a:r>
              <a:rPr sz="1400" b="0" i="0">
                <a:solidFill>
                  <a:srgbClr val="21295C"/>
                </a:solidFill>
                <a:latin typeface="Arial"/>
              </a:rPr>
              <a:t/>
            </a:r>
            <a:r>
              <a:rPr sz="1400" b="0" i="0">
                <a:solidFill>
                  <a:srgbClr val="21295C"/>
                </a:solidFill>
                <a:latin typeface="Arial"/>
              </a:rPr>
              <a:t>Ошибка здесь — </a:t>
            </a:r>
            <a:r>
              <a:rPr sz="1400" b="1" i="0">
                <a:solidFill>
                  <a:srgbClr val="21295C"/>
                </a:solidFill>
                <a:latin typeface="Arial"/>
              </a:rPr>
              <a:t>не вписать в список то, что должно было там быть</a:t>
            </a:r>
            <a:r>
              <a:rPr sz="1400" b="0" i="0">
                <a:solidFill>
                  <a:srgbClr val="21295C"/>
                </a:solidFill>
                <a:latin typeface="Arial"/>
              </a:rPr>
              <a:t>: проверки, которая бы это нашла, никто не назначит.</a:t>
            </a:r>
          </a:p>
          <a:p>
            <a:pPr algn="l">
              <a:lnSpc>
                <a:spcPct val="126000"/>
              </a:lnSpc>
              <a:spcBef>
                <a:spcPts val="700"/>
              </a:spcBef>
            </a:pPr>
            <a:r>
              <a:rPr sz="1400" b="0" i="0">
                <a:solidFill>
                  <a:srgbClr val="21295C"/>
                </a:solidFill>
                <a:latin typeface="Arial"/>
              </a:rPr>
              <a:t/>
            </a:r>
            <a:r>
              <a:rPr sz="1400" b="1" i="0">
                <a:solidFill>
                  <a:srgbClr val="21295C"/>
                </a:solidFill>
                <a:latin typeface="Arial"/>
              </a:rPr>
              <a:t>Какую свою гипотезу вы не записали — и как узнали, что её не хватало?</a:t>
            </a:r>
          </a:p>
        </p:txBody>
      </p:sp>
      <p:sp>
        <p:nvSpPr>
          <p:cNvPr id="20" name="Rectangle 19"/>
          <p:cNvSpPr/>
          <p:nvPr/>
        </p:nvSpPr>
        <p:spPr>
          <a:xfrm>
            <a:off x="6091275" y="2478765"/>
            <a:ext cx="9144" cy="3682684"/>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7522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устроено второе мнение — и на чём оно держится</a:t>
            </a:r>
          </a:p>
        </p:txBody>
      </p:sp>
      <p:sp>
        <p:nvSpPr>
          <p:cNvPr id="4" name="Rounded Rectangle 3"/>
          <p:cNvSpPr/>
          <p:nvPr/>
        </p:nvSpPr>
        <p:spPr>
          <a:xfrm>
            <a:off x="502920" y="1335024"/>
            <a:ext cx="2673019" cy="1433580"/>
          </a:xfrm>
          <a:prstGeom prst="roundRect">
            <a:avLst>
              <a:gd name="adj" fmla="val 2126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ЭТО</a:t>
            </a:r>
          </a:p>
        </p:txBody>
      </p:sp>
      <p:sp>
        <p:nvSpPr>
          <p:cNvPr id="6" name="TextBox 5"/>
          <p:cNvSpPr txBox="1"/>
          <p:nvPr/>
        </p:nvSpPr>
        <p:spPr>
          <a:xfrm>
            <a:off x="640080" y="1725375"/>
            <a:ext cx="2398699" cy="698597"/>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второе заключение по тому же случаю, сделанное тем, кто не видел первого</a:t>
            </a:r>
          </a:p>
        </p:txBody>
      </p:sp>
      <p:sp>
        <p:nvSpPr>
          <p:cNvPr id="7" name="Rounded Rectangle 6"/>
          <p:cNvSpPr/>
          <p:nvPr/>
        </p:nvSpPr>
        <p:spPr>
          <a:xfrm>
            <a:off x="3340531" y="1335024"/>
            <a:ext cx="2673019" cy="1433580"/>
          </a:xfrm>
          <a:prstGeom prst="roundRect">
            <a:avLst>
              <a:gd name="adj" fmla="val 21261"/>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ЗАЧЕМ</a:t>
            </a:r>
          </a:p>
        </p:txBody>
      </p:sp>
      <p:sp>
        <p:nvSpPr>
          <p:cNvPr id="9" name="TextBox 8"/>
          <p:cNvSpPr txBox="1"/>
          <p:nvPr/>
        </p:nvSpPr>
        <p:spPr>
          <a:xfrm>
            <a:off x="3477691" y="1725375"/>
            <a:ext cx="2398699" cy="673135"/>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одиночное чтение пропускает, и пропуски двух читателей не совпадают</a:t>
            </a:r>
          </a:p>
        </p:txBody>
      </p:sp>
      <p:sp>
        <p:nvSpPr>
          <p:cNvPr id="10" name="Rounded Rectangle 9"/>
          <p:cNvSpPr/>
          <p:nvPr/>
        </p:nvSpPr>
        <p:spPr>
          <a:xfrm>
            <a:off x="6178143" y="1335024"/>
            <a:ext cx="2673019" cy="1433580"/>
          </a:xfrm>
          <a:prstGeom prst="roundRect">
            <a:avLst>
              <a:gd name="adj" fmla="val 21261"/>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ПРЕДПОЛАГАЕТ</a:t>
            </a:r>
          </a:p>
        </p:txBody>
      </p:sp>
      <p:sp>
        <p:nvSpPr>
          <p:cNvPr id="12" name="TextBox 11"/>
          <p:cNvSpPr txBox="1"/>
          <p:nvPr/>
        </p:nvSpPr>
        <p:spPr>
          <a:xfrm>
            <a:off x="6315303" y="1725375"/>
            <a:ext cx="2398699"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независимость: доступа к первому заключению второго читателя лишают, и за этим следит организация работы</a:t>
            </a:r>
          </a:p>
        </p:txBody>
      </p:sp>
      <p:sp>
        <p:nvSpPr>
          <p:cNvPr id="13" name="Rounded Rectangle 12"/>
          <p:cNvSpPr/>
          <p:nvPr/>
        </p:nvSpPr>
        <p:spPr>
          <a:xfrm>
            <a:off x="9015755" y="1335024"/>
            <a:ext cx="2673019" cy="1433580"/>
          </a:xfrm>
          <a:prstGeom prst="roundRect">
            <a:avLst>
              <a:gd name="adj" fmla="val 21261"/>
            </a:avLst>
          </a:prstGeom>
          <a:solidFill>
            <a:srgbClr val="FFFFFF"/>
          </a:solidFill>
          <a:ln w="25400">
            <a:solidFill>
              <a:srgbClr val="F0AB00"/>
            </a:solidFill>
          </a:ln>
          <a:effectLst/>
        </p:spPr>
        <p:txBody>
          <a:bodyPr rtlCol="0" anchor="ctr"/>
          <a:lstStyle/>
          <a:p>
            <a:pPr algn="ctr"/>
          </a:p>
        </p:txBody>
      </p:sp>
      <p:sp>
        <p:nvSpPr>
          <p:cNvPr id="14" name="TextBox 13"/>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КАК РАЗБИРАЮТ РАЗНОГЛАСИЕ</a:t>
            </a:r>
          </a:p>
        </p:txBody>
      </p:sp>
      <p:sp>
        <p:nvSpPr>
          <p:cNvPr id="15" name="TextBox 14"/>
          <p:cNvSpPr txBox="1"/>
          <p:nvPr/>
        </p:nvSpPr>
        <p:spPr>
          <a:xfrm>
            <a:off x="9152915" y="1932846"/>
            <a:ext cx="2398699" cy="698597"/>
          </a:xfrm>
          <a:prstGeom prst="rect">
            <a:avLst/>
          </a:prstGeom>
          <a:noFill/>
        </p:spPr>
        <p:txBody>
          <a:bodyPr wrap="square" lIns="0" rIns="0" tIns="0" bIns="0" anchor="t">
            <a:spAutoFit/>
          </a:bodyPr>
          <a:lstStyle/>
          <a:p>
            <a:pPr algn="l">
              <a:lnSpc>
                <a:spcPct val="108000"/>
              </a:lnSpc>
            </a:pPr>
            <a:r>
              <a:rPr sz="1300" b="1" i="0">
                <a:solidFill>
                  <a:srgbClr val="F0AB00"/>
                </a:solidFill>
                <a:latin typeface="Arial"/>
              </a:rPr>
              <a:t>арбитраж третьим читателем — только там, где два первых не совпали</a:t>
            </a:r>
          </a:p>
        </p:txBody>
      </p:sp>
      <p:sp>
        <p:nvSpPr>
          <p:cNvPr id="16" name="TextBox 15"/>
          <p:cNvSpPr txBox="1"/>
          <p:nvPr/>
        </p:nvSpPr>
        <p:spPr>
          <a:xfrm>
            <a:off x="502920" y="298806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Два чтения</a:t>
            </a:r>
          </a:p>
        </p:txBody>
      </p:sp>
      <p:sp>
        <p:nvSpPr>
          <p:cNvPr id="17" name="Rounded Rectangle 16"/>
          <p:cNvSpPr/>
          <p:nvPr/>
        </p:nvSpPr>
        <p:spPr>
          <a:xfrm>
            <a:off x="1920240" y="295148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99720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первое чтение</a:t>
            </a:r>
          </a:p>
        </p:txBody>
      </p:sp>
      <p:sp>
        <p:nvSpPr>
          <p:cNvPr id="19" name="Right Arrow 18"/>
          <p:cNvSpPr/>
          <p:nvPr/>
        </p:nvSpPr>
        <p:spPr>
          <a:xfrm>
            <a:off x="5039258" y="3120600"/>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295148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299720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перегородка</a:t>
            </a:r>
          </a:p>
        </p:txBody>
      </p:sp>
      <p:sp>
        <p:nvSpPr>
          <p:cNvPr id="22" name="Right Arrow 21"/>
          <p:cNvSpPr/>
          <p:nvPr/>
        </p:nvSpPr>
        <p:spPr>
          <a:xfrm>
            <a:off x="8386876" y="3120600"/>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295148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299720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второе чтение</a:t>
            </a:r>
          </a:p>
        </p:txBody>
      </p:sp>
      <p:sp>
        <p:nvSpPr>
          <p:cNvPr id="25" name="TextBox 24"/>
          <p:cNvSpPr txBox="1"/>
          <p:nvPr/>
        </p:nvSpPr>
        <p:spPr>
          <a:xfrm>
            <a:off x="502920" y="360975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Если не совпали</a:t>
            </a:r>
          </a:p>
        </p:txBody>
      </p:sp>
      <p:sp>
        <p:nvSpPr>
          <p:cNvPr id="26" name="Rounded Rectangle 25"/>
          <p:cNvSpPr/>
          <p:nvPr/>
        </p:nvSpPr>
        <p:spPr>
          <a:xfrm>
            <a:off x="1920240" y="35731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6189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расхождение</a:t>
            </a:r>
          </a:p>
        </p:txBody>
      </p:sp>
      <p:sp>
        <p:nvSpPr>
          <p:cNvPr id="28" name="Right Arrow 27"/>
          <p:cNvSpPr/>
          <p:nvPr/>
        </p:nvSpPr>
        <p:spPr>
          <a:xfrm>
            <a:off x="5039258" y="3742297"/>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5731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5350154" y="36189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третий читатель</a:t>
            </a:r>
          </a:p>
        </p:txBody>
      </p:sp>
      <p:sp>
        <p:nvSpPr>
          <p:cNvPr id="31" name="Right Arrow 30"/>
          <p:cNvSpPr/>
          <p:nvPr/>
        </p:nvSpPr>
        <p:spPr>
          <a:xfrm>
            <a:off x="8386876" y="3742297"/>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5731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6189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a:t>
            </a:r>
          </a:p>
        </p:txBody>
      </p:sp>
      <p:sp>
        <p:nvSpPr>
          <p:cNvPr id="34" name="TextBox 33"/>
          <p:cNvSpPr txBox="1"/>
          <p:nvPr/>
        </p:nvSpPr>
        <p:spPr>
          <a:xfrm>
            <a:off x="502920" y="408515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Устройство второго мнения</a:t>
            </a:r>
          </a:p>
        </p:txBody>
      </p:sp>
      <p:sp>
        <p:nvSpPr>
          <p:cNvPr id="35" name="Rounded Rectangle 34"/>
          <p:cNvSpPr/>
          <p:nvPr/>
        </p:nvSpPr>
        <p:spPr>
          <a:xfrm>
            <a:off x="374904" y="4387833"/>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4479273"/>
            <a:ext cx="5373471" cy="1756934"/>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Когда второе мнение даёт модель — а первое чтение она же и подсказала — </a:t>
            </a:r>
            <a:r>
              <a:rPr sz="1500" b="1" i="0">
                <a:solidFill>
                  <a:srgbClr val="21295C"/>
                </a:solidFill>
                <a:latin typeface="Arial"/>
              </a:rPr>
              <a:t>два мнения перестают быть независимыми</a:t>
            </a:r>
            <a:r>
              <a:rPr sz="1500" b="0" i="0">
                <a:solidFill>
                  <a:srgbClr val="21295C"/>
                </a:solidFill>
                <a:latin typeface="Arial"/>
              </a:rPr>
              <a:t>, и сложение работает иначе.</a:t>
            </a:r>
          </a:p>
        </p:txBody>
      </p:sp>
      <p:sp>
        <p:nvSpPr>
          <p:cNvPr id="37" name="TextBox 36"/>
          <p:cNvSpPr txBox="1"/>
          <p:nvPr/>
        </p:nvSpPr>
        <p:spPr>
          <a:xfrm>
            <a:off x="6278727" y="4479273"/>
            <a:ext cx="5373471" cy="1756934"/>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Рядом тем же устройством держится консилиум.</a:t>
            </a:r>
          </a:p>
          <a:p>
            <a:pPr algn="l">
              <a:lnSpc>
                <a:spcPct val="126000"/>
              </a:lnSpc>
              <a:spcBef>
                <a:spcPts val="700"/>
              </a:spcBef>
            </a:pPr>
            <a:r>
              <a:rPr sz="1500" b="0" i="0">
                <a:solidFill>
                  <a:srgbClr val="21295C"/>
                </a:solidFill>
                <a:latin typeface="Arial"/>
              </a:rPr>
              <a:t/>
            </a:r>
            <a:r>
              <a:rPr sz="1500" b="1" i="0">
                <a:solidFill>
                  <a:srgbClr val="21295C"/>
                </a:solidFill>
                <a:latin typeface="Arial"/>
              </a:rPr>
              <a:t>Кто из вас просил у модели второе мнение по решению, которое уже принял сам? И что вы сделали, когда она не согласилась?</a:t>
            </a:r>
          </a:p>
        </p:txBody>
      </p:sp>
      <p:sp>
        <p:nvSpPr>
          <p:cNvPr id="38" name="Rectangle 37"/>
          <p:cNvSpPr/>
          <p:nvPr/>
        </p:nvSpPr>
        <p:spPr>
          <a:xfrm>
            <a:off x="6091275" y="4479273"/>
            <a:ext cx="9144" cy="1277144"/>
          </a:xfrm>
          <a:prstGeom prst="rect">
            <a:avLst/>
          </a:prstGeom>
          <a:solidFill>
            <a:srgbClr val="D9E2EC"/>
          </a:solidFill>
          <a:ln>
            <a:noFill/>
          </a:ln>
          <a:effectLst/>
        </p:spPr>
        <p:txBody>
          <a:bodyPr rtlCol="0" anchor="ctr"/>
          <a:lstStyle/>
          <a:p>
            <a:pPr algn="ct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ступени участия: что именно делает человек</a:t>
            </a:r>
          </a:p>
        </p:txBody>
      </p:sp>
      <p:sp>
        <p:nvSpPr>
          <p:cNvPr id="4" name="Rounded Rectangle 3"/>
          <p:cNvSpPr/>
          <p:nvPr/>
        </p:nvSpPr>
        <p:spPr>
          <a:xfrm>
            <a:off x="502920" y="1335024"/>
            <a:ext cx="2673019" cy="1633507"/>
          </a:xfrm>
          <a:prstGeom prst="roundRect">
            <a:avLst>
              <a:gd name="adj" fmla="val 1865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СМОТРИТ ПЕРВЫМ</a:t>
            </a:r>
          </a:p>
        </p:txBody>
      </p:sp>
      <p:sp>
        <p:nvSpPr>
          <p:cNvPr id="6" name="TextBox 5"/>
          <p:cNvSpPr txBox="1"/>
          <p:nvPr/>
        </p:nvSpPr>
        <p:spPr>
          <a:xfrm>
            <a:off x="640080"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видит случай</a:t>
            </a:r>
          </a:p>
        </p:txBody>
      </p:sp>
      <p:sp>
        <p:nvSpPr>
          <p:cNvPr id="7" name="Rounded Rectangle 6"/>
          <p:cNvSpPr/>
          <p:nvPr/>
        </p:nvSpPr>
        <p:spPr>
          <a:xfrm>
            <a:off x="3340531" y="1335024"/>
            <a:ext cx="2673019" cy="1633507"/>
          </a:xfrm>
          <a:prstGeom prst="roundRect">
            <a:avLst>
              <a:gd name="adj" fmla="val 18659"/>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СМОТРИТ ВТОРЫМ</a:t>
            </a:r>
          </a:p>
        </p:txBody>
      </p:sp>
      <p:sp>
        <p:nvSpPr>
          <p:cNvPr id="9" name="TextBox 8"/>
          <p:cNvSpPr txBox="1"/>
          <p:nvPr/>
        </p:nvSpPr>
        <p:spPr>
          <a:xfrm>
            <a:off x="3477691"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видит случай и готовый вывод</a:t>
            </a:r>
          </a:p>
        </p:txBody>
      </p:sp>
      <p:sp>
        <p:nvSpPr>
          <p:cNvPr id="10" name="Rounded Rectangle 9"/>
          <p:cNvSpPr/>
          <p:nvPr/>
        </p:nvSpPr>
        <p:spPr>
          <a:xfrm>
            <a:off x="6178143" y="1335024"/>
            <a:ext cx="2673019" cy="1633507"/>
          </a:xfrm>
          <a:prstGeom prst="roundRect">
            <a:avLst>
              <a:gd name="adj" fmla="val 18659"/>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СМОТРИТ ТОЛЬКО СПОРНОЕ</a:t>
            </a:r>
          </a:p>
        </p:txBody>
      </p:sp>
      <p:sp>
        <p:nvSpPr>
          <p:cNvPr id="12" name="TextBox 11"/>
          <p:cNvSpPr txBox="1"/>
          <p:nvPr/>
        </p:nvSpPr>
        <p:spPr>
          <a:xfrm>
            <a:off x="6315303" y="1725375"/>
            <a:ext cx="2398699" cy="1105996"/>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видит выборку, которую отобрала модель</a:t>
            </a:r>
          </a:p>
        </p:txBody>
      </p:sp>
      <p:sp>
        <p:nvSpPr>
          <p:cNvPr id="13" name="Rounded Rectangle 12"/>
          <p:cNvSpPr/>
          <p:nvPr/>
        </p:nvSpPr>
        <p:spPr>
          <a:xfrm>
            <a:off x="9015755" y="1335024"/>
            <a:ext cx="2673019" cy="1633507"/>
          </a:xfrm>
          <a:prstGeom prst="roundRect">
            <a:avLst>
              <a:gd name="adj" fmla="val 18659"/>
            </a:avLst>
          </a:prstGeom>
          <a:solidFill>
            <a:srgbClr val="FFFFFF"/>
          </a:solidFill>
          <a:ln w="25400">
            <a:solidFill>
              <a:srgbClr val="F0AB00"/>
            </a:solidFill>
          </a:ln>
          <a:effectLst/>
        </p:spPr>
        <p:txBody>
          <a:bodyPr rtlCol="0" anchor="ctr"/>
          <a:lstStyle/>
          <a:p>
            <a:pPr algn="ctr"/>
          </a:p>
        </p:txBody>
      </p:sp>
      <p:sp>
        <p:nvSpPr>
          <p:cNvPr id="14" name="TextBox 13"/>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ПОДПИСЫВАЕТ НЕ ГЛЯДЯ</a:t>
            </a:r>
          </a:p>
        </p:txBody>
      </p:sp>
      <p:sp>
        <p:nvSpPr>
          <p:cNvPr id="15" name="TextBox 14"/>
          <p:cNvSpPr txBox="1"/>
          <p:nvPr/>
        </p:nvSpPr>
        <p:spPr>
          <a:xfrm>
            <a:off x="9152915" y="1725375"/>
            <a:ext cx="2398699" cy="460949"/>
          </a:xfrm>
          <a:prstGeom prst="rect">
            <a:avLst/>
          </a:prstGeom>
          <a:noFill/>
        </p:spPr>
        <p:txBody>
          <a:bodyPr wrap="square" lIns="0" rIns="0" tIns="0" bIns="0" anchor="t">
            <a:spAutoFit/>
          </a:bodyPr>
          <a:lstStyle/>
          <a:p>
            <a:pPr algn="l">
              <a:lnSpc>
                <a:spcPct val="108000"/>
              </a:lnSpc>
            </a:pPr>
            <a:r>
              <a:rPr sz="1250" b="1" i="0">
                <a:solidFill>
                  <a:srgbClr val="F0AB00"/>
                </a:solidFill>
                <a:latin typeface="Arial"/>
              </a:rPr>
              <a:t>видит только текст; медиана проверки — 1,99 секунды</a:t>
            </a:r>
          </a:p>
        </p:txBody>
      </p:sp>
      <p:sp>
        <p:nvSpPr>
          <p:cNvPr id="16" name="TextBox 15"/>
          <p:cNvSpPr txBox="1"/>
          <p:nvPr/>
        </p:nvSpPr>
        <p:spPr>
          <a:xfrm>
            <a:off x="9152915" y="2186324"/>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это время ДО решения принять; вторая медиана работы — 6,48 секунды</a:t>
            </a:r>
          </a:p>
        </p:txBody>
      </p:sp>
      <p:sp>
        <p:nvSpPr>
          <p:cNvPr id="17" name="Rounded Rectangle 16"/>
          <p:cNvSpPr/>
          <p:nvPr/>
        </p:nvSpPr>
        <p:spPr>
          <a:xfrm>
            <a:off x="374904" y="3059971"/>
            <a:ext cx="11441887" cy="3176236"/>
          </a:xfrm>
          <a:prstGeom prst="roundRect">
            <a:avLst>
              <a:gd name="adj" fmla="val 9596"/>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151411"/>
            <a:ext cx="5373471" cy="308479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Четвёртая ступень — формально то же требование, фактически его отсутствие.</a:t>
            </a:r>
          </a:p>
          <a:p>
            <a:pPr algn="l">
              <a:lnSpc>
                <a:spcPct val="126000"/>
              </a:lnSpc>
              <a:spcBef>
                <a:spcPts val="700"/>
              </a:spcBef>
            </a:pPr>
            <a:r>
              <a:rPr sz="1500" b="0" i="0">
                <a:solidFill>
                  <a:srgbClr val="21295C"/>
                </a:solidFill>
                <a:latin typeface="Arial"/>
              </a:rPr>
              <a:t/>
            </a:r>
            <a:r>
              <a:rPr sz="1500" b="0" i="0">
                <a:solidFill>
                  <a:srgbClr val="21295C"/>
                </a:solidFill>
                <a:latin typeface="Arial"/>
              </a:rPr>
              <a:t>Принятое без предварительной проверки правят потом в </a:t>
            </a:r>
            <a:r>
              <a:rPr sz="1500" b="1" i="0">
                <a:solidFill>
                  <a:srgbClr val="21295C"/>
                </a:solidFill>
                <a:latin typeface="Arial"/>
              </a:rPr>
              <a:t>53 случаях из ста против 18</a:t>
            </a:r>
            <a:r>
              <a:rPr sz="1500" b="0" i="0">
                <a:solidFill>
                  <a:srgbClr val="21295C"/>
                </a:solidFill>
                <a:latin typeface="Arial"/>
              </a:rPr>
              <a:t>. Медиана измерена </a:t>
            </a:r>
            <a:r>
              <a:rPr sz="1500" b="1" i="0">
                <a:solidFill>
                  <a:srgbClr val="21295C"/>
                </a:solidFill>
                <a:latin typeface="Arial"/>
              </a:rPr>
              <a:t>на разработчиках в лаборатории, не в клинике</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0" i="0">
                <a:solidFill>
                  <a:srgbClr val="21295C"/>
                </a:solidFill>
                <a:latin typeface="Arial"/>
              </a:rPr>
              <a:t>Рядом, другим жанром, — у врачей, </a:t>
            </a:r>
            <a:r>
              <a:rPr sz="1500" b="1" i="0">
                <a:solidFill>
                  <a:srgbClr val="21295C"/>
                </a:solidFill>
                <a:latin typeface="Arial"/>
              </a:rPr>
              <a:t>которых специально обучали работе с ИИ</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0" i="0">
                <a:solidFill>
                  <a:srgbClr val="21295C"/>
                </a:solidFill>
                <a:latin typeface="Arial"/>
              </a:rPr>
              <a:t>• при верных рекомендациях точность рассуждения — </a:t>
            </a:r>
            <a:r>
              <a:rPr sz="1500" b="1" i="0">
                <a:solidFill>
                  <a:srgbClr val="21295C"/>
                </a:solidFill>
                <a:latin typeface="Arial"/>
              </a:rPr>
              <a:t>84,9 из ста</a:t>
            </a:r>
          </a:p>
        </p:txBody>
      </p:sp>
      <p:sp>
        <p:nvSpPr>
          <p:cNvPr id="19" name="TextBox 18"/>
          <p:cNvSpPr txBox="1"/>
          <p:nvPr/>
        </p:nvSpPr>
        <p:spPr>
          <a:xfrm>
            <a:off x="6278727" y="3151411"/>
            <a:ext cx="5373471" cy="308479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когда часть рекомендаций намеренно неверна — </a:t>
            </a:r>
            <a:r>
              <a:rPr sz="1500" b="1" i="0">
                <a:solidFill>
                  <a:srgbClr val="21295C"/>
                </a:solidFill>
                <a:latin typeface="Arial"/>
              </a:rPr>
              <a:t>73,3 из ста</a:t>
            </a:r>
            <a:r>
              <a:rPr sz="1500" b="0" i="0">
                <a:solidFill>
                  <a:srgbClr val="21295C"/>
                </a:solidFill>
                <a:latin typeface="Arial"/>
              </a:rPr>
              <a:t>; поправленная разница 14,0 пункта</a:t>
            </a:r>
          </a:p>
          <a:p>
            <a:pPr algn="l">
              <a:lnSpc>
                <a:spcPct val="126000"/>
              </a:lnSpc>
              <a:spcBef>
                <a:spcPts val="700"/>
              </a:spcBef>
            </a:pPr>
            <a:r>
              <a:rPr sz="1200" b="0" i="0">
                <a:solidFill>
                  <a:srgbClr val="21295C"/>
                </a:solidFill>
                <a:latin typeface="Arial"/>
              </a:rPr>
              <a:t/>
            </a:r>
            <a:r>
              <a:rPr sz="1200" b="0" i="1">
                <a:solidFill>
                  <a:srgbClr val="1C7293"/>
                </a:solidFill>
                <a:latin typeface="Arial"/>
              </a:rPr>
              <a:t>Рандомизированное испытание: 44 врача, 264 случая, двадцатичасовой курс за спиной у каждого.</a:t>
            </a:r>
          </a:p>
          <a:p>
            <a:pPr algn="l">
              <a:lnSpc>
                <a:spcPct val="126000"/>
              </a:lnSpc>
              <a:spcBef>
                <a:spcPts val="700"/>
              </a:spcBef>
            </a:pPr>
            <a:r>
              <a:rPr sz="1500" b="0" i="0">
                <a:solidFill>
                  <a:srgbClr val="21295C"/>
                </a:solidFill>
                <a:latin typeface="Arial"/>
              </a:rPr>
              <a:t/>
            </a:r>
            <a:r>
              <a:rPr sz="1500" b="0" i="0">
                <a:solidFill>
                  <a:srgbClr val="21295C"/>
                </a:solidFill>
                <a:latin typeface="Arial"/>
              </a:rPr>
              <a:t>Обучение работе с инструментом </a:t>
            </a:r>
            <a:r>
              <a:rPr sz="1500" b="1" i="0">
                <a:solidFill>
                  <a:srgbClr val="21295C"/>
                </a:solidFill>
                <a:latin typeface="Arial"/>
              </a:rPr>
              <a:t>не передвигает человека на ступень выше</a:t>
            </a:r>
            <a:r>
              <a:rPr sz="1500" b="0" i="0">
                <a:solidFill>
                  <a:srgbClr val="21295C"/>
                </a:solidFill>
                <a:latin typeface="Arial"/>
              </a:rPr>
              <a:t> — замерено ровно на тех, кого обучали.</a:t>
            </a:r>
          </a:p>
          <a:p>
            <a:pPr algn="l">
              <a:lnSpc>
                <a:spcPct val="126000"/>
              </a:lnSpc>
              <a:spcBef>
                <a:spcPts val="700"/>
              </a:spcBef>
            </a:pPr>
            <a:r>
              <a:rPr sz="1200" b="0" i="0">
                <a:solidFill>
                  <a:srgbClr val="21295C"/>
                </a:solidFill>
                <a:latin typeface="Arial"/>
              </a:rPr>
              <a:t/>
            </a:r>
            <a:r>
              <a:rPr sz="1200" b="0" i="1">
                <a:solidFill>
                  <a:srgbClr val="1C7293"/>
                </a:solidFill>
                <a:latin typeface="Arial"/>
              </a:rPr>
              <a:t>Ступени не ранжированы по качеству: на каждой есть и выигрыш, и своя слепота.</a:t>
            </a:r>
          </a:p>
        </p:txBody>
      </p:sp>
      <p:sp>
        <p:nvSpPr>
          <p:cNvPr id="20" name="Rectangle 19"/>
          <p:cNvSpPr/>
          <p:nvPr/>
        </p:nvSpPr>
        <p:spPr>
          <a:xfrm>
            <a:off x="6091275" y="3151411"/>
            <a:ext cx="9144" cy="2940250"/>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Qazi S. и соавт., NEJM AI, DOI 10.1056/AIoa2501001 — рандомизированное испытание, 44 врача, 264 случая</a:t>
            </a:r>
            <a:r>
              <a:rPr sz="1200" b="0" i="1">
                <a:solidFill>
                  <a:srgbClr val="1C7293"/>
                </a:solidFill>
                <a:latin typeface="Arial"/>
              </a:rPr>
              <a:t> · </a:t>
            </a:r>
            <a:r>
              <a:rPr sz="1200" b="0" i="1" u="sng">
                <a:solidFill>
                  <a:srgbClr val="065A82"/>
                </a:solidFill>
                <a:latin typeface="Arial"/>
                <a:hlinkClick r:id="rId3"/>
              </a:rPr>
              <a:t>Mozannar H. и соавт., Reading Between the Lines, CHI 2024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замер взгляда радиолога</a:t>
            </a:r>
          </a:p>
        </p:txBody>
      </p:sp>
      <p:sp>
        <p:nvSpPr>
          <p:cNvPr id="4" name="Rounded Rectangle 3"/>
          <p:cNvSpPr/>
          <p:nvPr/>
        </p:nvSpPr>
        <p:spPr>
          <a:xfrm>
            <a:off x="502920" y="1335024"/>
            <a:ext cx="5510631" cy="1373225"/>
          </a:xfrm>
          <a:prstGeom prst="roundRect">
            <a:avLst>
              <a:gd name="adj" fmla="val 2219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ЧУВСТВИТЕЛЬНОСТЬ ЧИТАТЕЛЯ: БЕЗ ПОДСКАЗКИ → ПРИ ЛОЖНООТРИЦАТЕЛЬНОЙ</a:t>
            </a:r>
          </a:p>
        </p:txBody>
      </p:sp>
      <p:sp>
        <p:nvSpPr>
          <p:cNvPr id="6" name="TextBox 5"/>
          <p:cNvSpPr txBox="1"/>
          <p:nvPr/>
        </p:nvSpPr>
        <p:spPr>
          <a:xfrm>
            <a:off x="640080" y="1932846"/>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71 → 39 из ста</a:t>
            </a:r>
          </a:p>
        </p:txBody>
      </p:sp>
      <p:sp>
        <p:nvSpPr>
          <p:cNvPr id="7" name="TextBox 6"/>
          <p:cNvSpPr txBox="1"/>
          <p:nvPr/>
        </p:nvSpPr>
        <p:spPr>
          <a:xfrm>
            <a:off x="640080" y="2359845"/>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медиана по десяти читателям; падение 32 пункта, значимое</a:t>
            </a:r>
          </a:p>
        </p:txBody>
      </p:sp>
      <p:sp>
        <p:nvSpPr>
          <p:cNvPr id="8" name="Rounded Rectangle 7"/>
          <p:cNvSpPr/>
          <p:nvPr/>
        </p:nvSpPr>
        <p:spPr>
          <a:xfrm>
            <a:off x="6178143" y="1335024"/>
            <a:ext cx="5510631" cy="1373225"/>
          </a:xfrm>
          <a:prstGeom prst="roundRect">
            <a:avLst>
              <a:gd name="adj" fmla="val 2219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СТУПЕНЬ</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смотрит вторым — подсказка выведена вместе со случаем</a:t>
            </a:r>
          </a:p>
        </p:txBody>
      </p:sp>
      <p:sp>
        <p:nvSpPr>
          <p:cNvPr id="11" name="Rounded Rectangle 10"/>
          <p:cNvSpPr/>
          <p:nvPr/>
        </p:nvSpPr>
        <p:spPr>
          <a:xfrm>
            <a:off x="374904" y="2799689"/>
            <a:ext cx="11441887" cy="3436518"/>
          </a:xfrm>
          <a:prstGeom prst="roundRect">
            <a:avLst>
              <a:gd name="adj" fmla="val 8869"/>
            </a:avLst>
          </a:prstGeom>
          <a:solidFill>
            <a:srgbClr val="F4F7FA"/>
          </a:solidFill>
          <a:ln w="19050">
            <a:solidFill>
              <a:srgbClr val="1C7293"/>
            </a:solidFill>
          </a:ln>
          <a:effectLst/>
        </p:spPr>
        <p:txBody>
          <a:bodyPr rtlCol="0" anchor="ctr"/>
          <a:lstStyle/>
          <a:p>
            <a:pPr algn="ctr"/>
          </a:p>
        </p:txBody>
      </p:sp>
      <p:sp>
        <p:nvSpPr>
          <p:cNvPr id="12" name="TextBox 11"/>
          <p:cNvSpPr txBox="1"/>
          <p:nvPr/>
        </p:nvSpPr>
        <p:spPr>
          <a:xfrm>
            <a:off x="539496" y="2891129"/>
            <a:ext cx="5373471" cy="3345078"/>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Что происходит, когда подсказка неверна, и с какой величиной.</a:t>
            </a:r>
          </a:p>
          <a:p>
            <a:pPr algn="l">
              <a:lnSpc>
                <a:spcPct val="126000"/>
              </a:lnSpc>
              <a:spcBef>
                <a:spcPts val="700"/>
              </a:spcBef>
            </a:pPr>
            <a:r>
              <a:rPr sz="1500" b="0" i="0">
                <a:solidFill>
                  <a:srgbClr val="21295C"/>
                </a:solidFill>
                <a:latin typeface="Arial"/>
              </a:rPr>
              <a:t/>
            </a:r>
            <a:r>
              <a:rPr sz="1500" b="1" i="0">
                <a:solidFill>
                  <a:srgbClr val="21295C"/>
                </a:solidFill>
                <a:latin typeface="Arial"/>
              </a:rPr>
              <a:t>Цена обеих ошибок, до всякой точности.</a:t>
            </a:r>
            <a:r>
              <a:rPr sz="1500" b="0" i="0">
                <a:solidFill>
                  <a:srgbClr val="21295C"/>
                </a:solidFill>
                <a:latin typeface="Arial"/>
              </a:rPr>
              <a:t> Пропущенный рак — лечение позже и хуже. Ложный вызов — повторные исследования, биопсия, месяцы тревоги.</a:t>
            </a:r>
          </a:p>
          <a:p>
            <a:pPr algn="l">
              <a:lnSpc>
                <a:spcPct val="126000"/>
              </a:lnSpc>
              <a:spcBef>
                <a:spcPts val="700"/>
              </a:spcBef>
            </a:pPr>
            <a:r>
              <a:rPr sz="1500" b="0" i="0">
                <a:solidFill>
                  <a:srgbClr val="21295C"/>
                </a:solidFill>
                <a:latin typeface="Arial"/>
              </a:rPr>
              <a:t/>
            </a:r>
            <a:r>
              <a:rPr sz="1500" b="1" i="0">
                <a:solidFill>
                  <a:srgbClr val="21295C"/>
                </a:solidFill>
                <a:latin typeface="Arial"/>
              </a:rPr>
              <a:t>Оба классических режима.</a:t>
            </a:r>
            <a:r>
              <a:rPr sz="1500" b="0" i="0">
                <a:solidFill>
                  <a:srgbClr val="21295C"/>
                </a:solidFill>
                <a:latin typeface="Arial"/>
              </a:rPr>
              <a:t> Чтение той же маммограммы без подсказки — база. Второе человеческое чтение — режим, которым программа и держится.</a:t>
            </a:r>
          </a:p>
          <a:p>
            <a:pPr algn="l">
              <a:lnSpc>
                <a:spcPct val="126000"/>
              </a:lnSpc>
              <a:spcBef>
                <a:spcPts val="700"/>
              </a:spcBef>
            </a:pPr>
            <a:r>
              <a:rPr sz="1500" b="0" i="0">
                <a:solidFill>
                  <a:srgbClr val="21295C"/>
                </a:solidFill>
                <a:latin typeface="Arial"/>
              </a:rPr>
              <a:t/>
            </a:r>
            <a:r>
              <a:rPr sz="1500" b="1" i="0">
                <a:solidFill>
                  <a:srgbClr val="21295C"/>
                </a:solidFill>
                <a:latin typeface="Arial"/>
              </a:rPr>
              <a:t>Модель против них.</a:t>
            </a:r>
            <a:r>
              <a:rPr sz="1500" b="0" i="0">
                <a:solidFill>
                  <a:srgbClr val="21295C"/>
                </a:solidFill>
                <a:latin typeface="Arial"/>
              </a:rPr>
              <a:t> Те же случаи и читатели, разница только в наличии подсказки.</a:t>
            </a:r>
          </a:p>
        </p:txBody>
      </p:sp>
      <p:sp>
        <p:nvSpPr>
          <p:cNvPr id="13" name="TextBox 12"/>
          <p:cNvSpPr txBox="1"/>
          <p:nvPr/>
        </p:nvSpPr>
        <p:spPr>
          <a:xfrm>
            <a:off x="6278727" y="2891129"/>
            <a:ext cx="5373471" cy="3345078"/>
          </a:xfrm>
          <a:prstGeom prst="rect">
            <a:avLst/>
          </a:prstGeom>
          <a:noFill/>
        </p:spPr>
        <p:txBody>
          <a:bodyPr wrap="square" lIns="0" rIns="0" tIns="0" bIns="0" anchor="t">
            <a:spAutoFit/>
          </a:bodyPr>
          <a:lstStyle/>
          <a:p>
            <a:pPr algn="l">
              <a:lnSpc>
                <a:spcPct val="126000"/>
              </a:lnSpc>
            </a:pPr>
            <a:r>
              <a:rPr sz="1200" b="0" i="1">
                <a:solidFill>
                  <a:srgbClr val="1C7293"/>
                </a:solidFill>
                <a:latin typeface="Arial"/>
              </a:rPr>
              <a:t>Десять читателей национальной программы, 60 случаев, каждый прочитан дважды; набор наполнен ошибками в обе стороны. Сильное по механизму, среднее по выборке.</a:t>
            </a:r>
          </a:p>
          <a:p>
            <a:pPr algn="l">
              <a:lnSpc>
                <a:spcPct val="126000"/>
              </a:lnSpc>
              <a:spcBef>
                <a:spcPts val="700"/>
              </a:spcBef>
            </a:pPr>
            <a:r>
              <a:rPr sz="1500" b="0" i="0">
                <a:solidFill>
                  <a:srgbClr val="21295C"/>
                </a:solidFill>
                <a:latin typeface="Arial"/>
              </a:rPr>
              <a:t/>
            </a:r>
            <a:r>
              <a:rPr sz="1500" b="0" i="0">
                <a:solidFill>
                  <a:srgbClr val="21295C"/>
                </a:solidFill>
                <a:latin typeface="Arial"/>
              </a:rPr>
              <a:t>Чем это делают сегодня — </a:t>
            </a:r>
            <a:r>
              <a:rPr sz="1500" b="0" i="1">
                <a:solidFill>
                  <a:srgbClr val="21295C"/>
                </a:solidFill>
                <a:latin typeface="Arial"/>
              </a:rPr>
              <a:t>распознавание на изображении</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0" i="0">
                <a:solidFill>
                  <a:srgbClr val="21295C"/>
                </a:solidFill>
                <a:latin typeface="Arial"/>
              </a:rPr>
              <a:t>• чтение маммограммы моделью вторым читателем либо сортировка потока</a:t>
            </a:r>
          </a:p>
          <a:p>
            <a:pPr algn="l">
              <a:lnSpc>
                <a:spcPct val="126000"/>
              </a:lnSpc>
              <a:spcBef>
                <a:spcPts val="700"/>
              </a:spcBef>
            </a:pPr>
            <a:r>
              <a:rPr sz="1500" b="0" i="0">
                <a:solidFill>
                  <a:srgbClr val="21295C"/>
                </a:solidFill>
                <a:latin typeface="Arial"/>
              </a:rPr>
              <a:t/>
            </a:r>
            <a:r>
              <a:rPr sz="1500" b="0" i="0">
                <a:solidFill>
                  <a:srgbClr val="21295C"/>
                </a:solidFill>
                <a:latin typeface="Arial"/>
              </a:rPr>
              <a:t>• решает это организатор программы скрининга; больнице это не передано</a:t>
            </a:r>
          </a:p>
          <a:p>
            <a:pPr algn="l">
              <a:lnSpc>
                <a:spcPct val="126000"/>
              </a:lnSpc>
              <a:spcBef>
                <a:spcPts val="700"/>
              </a:spcBef>
            </a:pPr>
            <a:r>
              <a:rPr sz="1500" b="0" i="0">
                <a:solidFill>
                  <a:srgbClr val="21295C"/>
                </a:solidFill>
                <a:latin typeface="Arial"/>
              </a:rPr>
              <a:t/>
            </a:r>
            <a:r>
              <a:rPr sz="1500" b="0" i="0">
                <a:solidFill>
                  <a:srgbClr val="21295C"/>
                </a:solidFill>
                <a:latin typeface="Arial"/>
              </a:rPr>
              <a:t>• не умеет удержать читателя от сужения поиска</a:t>
            </a:r>
          </a:p>
        </p:txBody>
      </p:sp>
      <p:sp>
        <p:nvSpPr>
          <p:cNvPr id="14" name="Rectangle 13"/>
          <p:cNvSpPr/>
          <p:nvPr/>
        </p:nvSpPr>
        <p:spPr>
          <a:xfrm>
            <a:off x="6091275" y="2891129"/>
            <a:ext cx="9144" cy="3237311"/>
          </a:xfrm>
          <a:prstGeom prst="rect">
            <a:avLst/>
          </a:prstGeom>
          <a:solidFill>
            <a:srgbClr val="D9E2EC"/>
          </a:solidFill>
          <a:ln>
            <a:noFill/>
          </a:ln>
          <a:effectLst/>
        </p:spPr>
        <p:txBody>
          <a:bodyPr rtlCol="0" anchor="ctr"/>
          <a:lstStyle/>
          <a:p>
            <a:pPr algn="ctr"/>
          </a:p>
        </p:txBody>
      </p:sp>
      <p:sp>
        <p:nvSpPr>
          <p:cNvPr id="15" name="Rectangle 1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Taib A., Partridge G., Phillips P., Chen Y. и соавт., Automation Bias in Action: Eye Tracking of Humans Reading Screening Mammograms with and without AI Prompts, Radiology 2026;320(1):e252590, DOI 10.1148/radiol.252590, PMID 42446361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взгляд ушёл с пропущенного — и это измерено</a:t>
            </a:r>
          </a:p>
        </p:txBody>
      </p:sp>
      <p:sp>
        <p:nvSpPr>
          <p:cNvPr id="4" name="Rounded Rectangle 3"/>
          <p:cNvSpPr/>
          <p:nvPr/>
        </p:nvSpPr>
        <p:spPr>
          <a:xfrm>
            <a:off x="502920" y="1335024"/>
            <a:ext cx="2673019" cy="2638799"/>
          </a:xfrm>
          <a:prstGeom prst="roundRect">
            <a:avLst>
              <a:gd name="adj" fmla="val 1155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ЗАДЕРЖКА ВЗГЛЯДА НА ПРОПУЩЕННЫХ МОДЕЛЬЮ ПОРАЖЕНИЯХ: БЕЗ ПОДСКАЗКИ → С ПОДСКАЗКОЙ</a:t>
            </a:r>
          </a:p>
        </p:txBody>
      </p:sp>
      <p:sp>
        <p:nvSpPr>
          <p:cNvPr id="6" name="TextBox 5"/>
          <p:cNvSpPr txBox="1"/>
          <p:nvPr/>
        </p:nvSpPr>
        <p:spPr>
          <a:xfrm>
            <a:off x="640080" y="2555260"/>
            <a:ext cx="2398699" cy="647673"/>
          </a:xfrm>
          <a:prstGeom prst="rect">
            <a:avLst/>
          </a:prstGeom>
          <a:noFill/>
        </p:spPr>
        <p:txBody>
          <a:bodyPr wrap="square" lIns="0" rIns="0" tIns="0" bIns="0" anchor="t">
            <a:spAutoFit/>
          </a:bodyPr>
          <a:lstStyle/>
          <a:p>
            <a:pPr algn="l">
              <a:lnSpc>
                <a:spcPct val="108000"/>
              </a:lnSpc>
            </a:pPr>
            <a:r>
              <a:rPr sz="1800" b="1" i="0">
                <a:solidFill>
                  <a:srgbClr val="F0AB00"/>
                </a:solidFill>
                <a:latin typeface="Arial"/>
              </a:rPr>
              <a:t>0,47 → 0,44 фиксации в секунду</a:t>
            </a:r>
          </a:p>
        </p:txBody>
      </p:sp>
      <p:sp>
        <p:nvSpPr>
          <p:cNvPr id="7" name="TextBox 6"/>
          <p:cNvSpPr txBox="1"/>
          <p:nvPr/>
        </p:nvSpPr>
        <p:spPr>
          <a:xfrm>
            <a:off x="640080" y="3202933"/>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числа различаются в третьем знаке, поэтому названы по ярлыкам</a:t>
            </a:r>
          </a:p>
        </p:txBody>
      </p:sp>
      <p:sp>
        <p:nvSpPr>
          <p:cNvPr id="8" name="Rounded Rectangle 7"/>
          <p:cNvSpPr/>
          <p:nvPr/>
        </p:nvSpPr>
        <p:spPr>
          <a:xfrm>
            <a:off x="3340531" y="1335024"/>
            <a:ext cx="2673019" cy="2638799"/>
          </a:xfrm>
          <a:prstGeom prst="roundRect">
            <a:avLst>
              <a:gd name="adj" fmla="val 1155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10" name="TextBox 9"/>
          <p:cNvSpPr txBox="1"/>
          <p:nvPr/>
        </p:nvSpPr>
        <p:spPr>
          <a:xfrm>
            <a:off x="3477691"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указание, куда смотреть</a:t>
            </a:r>
          </a:p>
        </p:txBody>
      </p:sp>
      <p:sp>
        <p:nvSpPr>
          <p:cNvPr id="11" name="Rounded Rectangle 10"/>
          <p:cNvSpPr/>
          <p:nvPr/>
        </p:nvSpPr>
        <p:spPr>
          <a:xfrm>
            <a:off x="6178143" y="1335024"/>
            <a:ext cx="2673019" cy="2638799"/>
          </a:xfrm>
          <a:prstGeom prst="roundRect">
            <a:avLst>
              <a:gd name="adj" fmla="val 11550"/>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13" name="TextBox 12"/>
          <p:cNvSpPr txBox="1"/>
          <p:nvPr/>
        </p:nvSpPr>
        <p:spPr>
          <a:xfrm>
            <a:off x="6315303"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чтобы указание было верным</a:t>
            </a:r>
          </a:p>
        </p:txBody>
      </p:sp>
      <p:sp>
        <p:nvSpPr>
          <p:cNvPr id="14" name="Rounded Rectangle 13"/>
          <p:cNvSpPr/>
          <p:nvPr/>
        </p:nvSpPr>
        <p:spPr>
          <a:xfrm>
            <a:off x="9015755" y="1335024"/>
            <a:ext cx="2673019" cy="2638799"/>
          </a:xfrm>
          <a:prstGeom prst="roundRect">
            <a:avLst>
              <a:gd name="adj" fmla="val 11550"/>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6" name="TextBox 15"/>
          <p:cNvSpPr txBox="1"/>
          <p:nvPr/>
        </p:nvSpPr>
        <p:spPr>
          <a:xfrm>
            <a:off x="9152915" y="1725375"/>
            <a:ext cx="2398699"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у профессиональных читателей программы результат стал хуже</a:t>
            </a:r>
          </a:p>
        </p:txBody>
      </p:sp>
      <p:sp>
        <p:nvSpPr>
          <p:cNvPr id="17" name="Rounded Rectangle 16"/>
          <p:cNvSpPr/>
          <p:nvPr/>
        </p:nvSpPr>
        <p:spPr>
          <a:xfrm>
            <a:off x="374904" y="4065263"/>
            <a:ext cx="11441887" cy="1966913"/>
          </a:xfrm>
          <a:prstGeom prst="roundRect">
            <a:avLst>
              <a:gd name="adj" fmla="val 15496"/>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4156703"/>
            <a:ext cx="11112703" cy="2079504"/>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Механизм измерен: на поражениях, пропущенных моделью, взгляд читателя задерживался реже.</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переехало.</a:t>
            </a:r>
            <a:r>
              <a:rPr sz="1500" b="0" i="0">
                <a:solidFill>
                  <a:srgbClr val="21295C"/>
                </a:solidFill>
                <a:latin typeface="Arial"/>
              </a:rPr>
              <a:t> Нагрузка на том же месте упала — и здесь это цена: тот же читатель на том же месте стал осматривать снимок меньше. Второй формой — сместилась цена ошибки: пропуск модели стал пропуском читателя.</a:t>
            </a:r>
          </a:p>
          <a:p>
            <a:pPr algn="l">
              <a:lnSpc>
                <a:spcPct val="126000"/>
              </a:lnSpc>
              <a:spcBef>
                <a:spcPts val="700"/>
              </a:spcBef>
            </a:pPr>
            <a:r>
              <a:rPr sz="1500" b="0" i="0">
                <a:solidFill>
                  <a:srgbClr val="21295C"/>
                </a:solidFill>
                <a:latin typeface="Arial"/>
              </a:rPr>
              <a:t/>
            </a:r>
            <a:r>
              <a:rPr sz="1500" b="0" i="0">
                <a:solidFill>
                  <a:srgbClr val="21295C"/>
                </a:solidFill>
                <a:latin typeface="Arial"/>
              </a:rPr>
              <a:t>«Быть внимательнее» здесь не мера: подсказка меняет то, что человек физически успевает увидеть.</a:t>
            </a:r>
          </a:p>
          <a:p>
            <a:pPr algn="l">
              <a:lnSpc>
                <a:spcPct val="126000"/>
              </a:lnSpc>
              <a:spcBef>
                <a:spcPts val="700"/>
              </a:spcBef>
            </a:pPr>
            <a:r>
              <a:rPr sz="1200" b="0" i="0">
                <a:solidFill>
                  <a:srgbClr val="21295C"/>
                </a:solidFill>
                <a:latin typeface="Arial"/>
              </a:rPr>
              <a:t/>
            </a:r>
            <a:r>
              <a:rPr sz="1200" b="0" i="1">
                <a:solidFill>
                  <a:srgbClr val="1C7293"/>
                </a:solidFill>
                <a:latin typeface="Arial"/>
              </a:rPr>
              <a:t>Исполнитель остался тот же и стал хуже — ни одна из прежних форм словаря этого не описывает.</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Та же публикация — Taib A., Partridge G., Phillips P., Chen Y. и соавт., Radiology 2026;320(1):e252590, DOI 10.1148/radiol.252590, PMID 42446361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Зеркало того же замера: подсказка верна, поиск сузился, результат вырос</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ОХВАТ СНИМКА ВЗГЛЯДОМ: БЕЗ МОДЕЛИ → С МОДЕЛЬЮ</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11,1 → 9,5 из ста</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поиск сузился — и здесь это выигрыш</a:t>
            </a:r>
          </a:p>
        </p:txBody>
      </p:sp>
      <p:sp>
        <p:nvSpPr>
          <p:cNvPr id="8" name="Rounded Rectangle 7"/>
          <p:cNvSpPr/>
          <p:nvPr/>
        </p:nvSpPr>
        <p:spPr>
          <a:xfrm>
            <a:off x="6178143"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ПЛОЩАДЬ ПОД КРИВОЙ: БЕЗ МОДЕЛИ → С МОДЕЛЬЮ</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0,93 → 0,97</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чувствительность 81,7 → 87,2 из ста, но незначимо</a:t>
            </a:r>
          </a:p>
        </p:txBody>
      </p:sp>
      <p:sp>
        <p:nvSpPr>
          <p:cNvPr id="12" name="Rounded Rectangle 11"/>
          <p:cNvSpPr/>
          <p:nvPr/>
        </p:nvSpPr>
        <p:spPr>
          <a:xfrm>
            <a:off x="502920" y="2683657"/>
            <a:ext cx="5437479" cy="2120402"/>
          </a:xfrm>
          <a:prstGeom prst="roundRect">
            <a:avLst>
              <a:gd name="adj" fmla="val 14374"/>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667512" y="2839105"/>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доказано</a:t>
            </a:r>
          </a:p>
        </p:txBody>
      </p:sp>
      <p:sp>
        <p:nvSpPr>
          <p:cNvPr id="14" name="TextBox 13"/>
          <p:cNvSpPr txBox="1"/>
          <p:nvPr/>
        </p:nvSpPr>
        <p:spPr>
          <a:xfrm>
            <a:off x="667512" y="3195284"/>
            <a:ext cx="5108295" cy="1453327"/>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различение больного и здорового выросло, и прибавка значима</a:t>
            </a:r>
          </a:p>
          <a:p>
            <a:pPr algn="l">
              <a:lnSpc>
                <a:spcPct val="126000"/>
              </a:lnSpc>
            </a:pPr>
            <a:r>
              <a:rPr sz="1450" b="0" i="0">
                <a:solidFill>
                  <a:srgbClr val="21295C"/>
                </a:solidFill>
                <a:latin typeface="Arial"/>
              </a:rPr>
              <a:t>• в нужном месте взгляд задержался дольше: 4,4 → 5,4 секунды</a:t>
            </a:r>
          </a:p>
        </p:txBody>
      </p:sp>
      <p:sp>
        <p:nvSpPr>
          <p:cNvPr id="15" name="Rounded Rectangle 14"/>
          <p:cNvSpPr/>
          <p:nvPr/>
        </p:nvSpPr>
        <p:spPr>
          <a:xfrm>
            <a:off x="6251295" y="2683657"/>
            <a:ext cx="5437479" cy="2120402"/>
          </a:xfrm>
          <a:prstGeom prst="roundRect">
            <a:avLst>
              <a:gd name="adj" fmla="val 14374"/>
            </a:avLst>
          </a:prstGeom>
          <a:solidFill>
            <a:srgbClr val="FFFFFF"/>
          </a:solidFill>
          <a:ln w="19050">
            <a:solidFill>
              <a:srgbClr val="028090"/>
            </a:solidFill>
          </a:ln>
          <a:effectLst/>
        </p:spPr>
        <p:txBody>
          <a:bodyPr rtlCol="0" anchor="ctr"/>
          <a:lstStyle/>
          <a:p>
            <a:pPr algn="ctr"/>
          </a:p>
        </p:txBody>
      </p:sp>
      <p:sp>
        <p:nvSpPr>
          <p:cNvPr id="16" name="TextBox 15"/>
          <p:cNvSpPr txBox="1"/>
          <p:nvPr/>
        </p:nvSpPr>
        <p:spPr>
          <a:xfrm>
            <a:off x="6415887" y="2839105"/>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не доказано</a:t>
            </a:r>
          </a:p>
        </p:txBody>
      </p:sp>
      <p:sp>
        <p:nvSpPr>
          <p:cNvPr id="17" name="TextBox 16"/>
          <p:cNvSpPr txBox="1"/>
          <p:nvPr/>
        </p:nvSpPr>
        <p:spPr>
          <a:xfrm>
            <a:off x="6415887" y="3195284"/>
            <a:ext cx="5108295" cy="1453327"/>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прибавка чувствительности значимости не достигла</a:t>
            </a:r>
          </a:p>
          <a:p>
            <a:pPr algn="l">
              <a:lnSpc>
                <a:spcPct val="126000"/>
              </a:lnSpc>
            </a:pPr>
            <a:r>
              <a:rPr sz="1450" b="0" i="0">
                <a:solidFill>
                  <a:srgbClr val="21295C"/>
                </a:solidFill>
                <a:latin typeface="Arial"/>
              </a:rPr>
              <a:t>• специфичность и время чтения не изменились</a:t>
            </a:r>
          </a:p>
          <a:p>
            <a:pPr algn="l">
              <a:lnSpc>
                <a:spcPct val="126000"/>
              </a:lnSpc>
            </a:pPr>
            <a:r>
              <a:rPr sz="1450" b="0" i="0">
                <a:solidFill>
                  <a:srgbClr val="21295C"/>
                </a:solidFill>
                <a:latin typeface="Arial"/>
              </a:rPr>
              <a:t>• «модель сделала врачей лучше» этими данными не держится</a:t>
            </a:r>
          </a:p>
        </p:txBody>
      </p:sp>
      <p:sp>
        <p:nvSpPr>
          <p:cNvPr id="18" name="Rounded Rectangle 17"/>
          <p:cNvSpPr/>
          <p:nvPr/>
        </p:nvSpPr>
        <p:spPr>
          <a:xfrm>
            <a:off x="374904" y="4895500"/>
            <a:ext cx="11441887" cy="1340707"/>
          </a:xfrm>
          <a:prstGeom prst="roundRect">
            <a:avLst>
              <a:gd name="adj" fmla="val 22734"/>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4986940"/>
            <a:ext cx="11112703" cy="1249267"/>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То же измерение, другая работа — и обратный знак. Там подсказка была намеренно ложной, здесь это обычная работа одобренной системы.</a:t>
            </a:r>
          </a:p>
          <a:p>
            <a:pPr algn="l">
              <a:lnSpc>
                <a:spcPct val="126000"/>
              </a:lnSpc>
              <a:spcBef>
                <a:spcPts val="700"/>
              </a:spcBef>
            </a:pPr>
            <a:r>
              <a:rPr sz="1300" b="0" i="0">
                <a:solidFill>
                  <a:srgbClr val="21295C"/>
                </a:solidFill>
                <a:latin typeface="Arial"/>
              </a:rPr>
              <a:t/>
            </a:r>
            <a:r>
              <a:rPr sz="1300" b="1" i="0">
                <a:solidFill>
                  <a:srgbClr val="21295C"/>
                </a:solidFill>
                <a:latin typeface="Arial"/>
              </a:rPr>
              <a:t>Сужение поиска само по себе ни польза, ни вред.</a:t>
            </a:r>
            <a:r>
              <a:rPr sz="1300" b="0" i="0">
                <a:solidFill>
                  <a:srgbClr val="21295C"/>
                </a:solidFill>
                <a:latin typeface="Arial"/>
              </a:rPr>
              <a:t> Знак задаёт правота подсказки, и по сигналу различить нельзя.</a:t>
            </a:r>
          </a:p>
          <a:p>
            <a:pPr algn="l">
              <a:lnSpc>
                <a:spcPct val="126000"/>
              </a:lnSpc>
              <a:spcBef>
                <a:spcPts val="700"/>
              </a:spcBef>
            </a:pPr>
            <a:r>
              <a:rPr sz="1300" b="0" i="0">
                <a:solidFill>
                  <a:srgbClr val="21295C"/>
                </a:solidFill>
                <a:latin typeface="Arial"/>
              </a:rPr>
              <a:t/>
            </a:r>
            <a:r>
              <a:rPr sz="1300" b="1" i="0">
                <a:solidFill>
                  <a:srgbClr val="21295C"/>
                </a:solidFill>
                <a:latin typeface="Arial"/>
              </a:rPr>
              <a:t>Оговорки.</a:t>
            </a:r>
            <a:r>
              <a:rPr sz="1300" b="0" i="0">
                <a:solidFill>
                  <a:srgbClr val="21295C"/>
                </a:solidFill>
                <a:latin typeface="Arial"/>
              </a:rPr>
              <a:t> Двенадцать радиологов, 3 600 прочтений. Чтение лабораторное: раков в наборе половина. Институциональные интересы с производителями авторы назвали сами.</a:t>
            </a:r>
          </a:p>
        </p:txBody>
      </p:sp>
      <p:sp>
        <p:nvSpPr>
          <p:cNvPr id="20" name="Rectangle 19"/>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Gommers J., Verboom E., Duvivier K., Sechopoulos I. и соавт., Radiology 2025;316(1):e243688, DOI 10.1148/radiol.243688, PMID 40626877 — ретроспективное мультиридерное чтение с замером взгляда, институциональные интересы раскрыты авторами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одна подсказка с двумя знаками</a:t>
            </a:r>
          </a:p>
        </p:txBody>
      </p:sp>
      <p:sp>
        <p:nvSpPr>
          <p:cNvPr id="4" name="Rounded Rectangle 3"/>
          <p:cNvSpPr/>
          <p:nvPr/>
        </p:nvSpPr>
        <p:spPr>
          <a:xfrm>
            <a:off x="502920" y="1335024"/>
            <a:ext cx="2673019" cy="2365315"/>
          </a:xfrm>
          <a:prstGeom prst="roundRect">
            <a:avLst>
              <a:gd name="adj" fmla="val 128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ПРАВА: ШАНСЫ ВЕРНОГО ОТВЕТА</a:t>
            </a:r>
          </a:p>
        </p:txBody>
      </p:sp>
      <p:sp>
        <p:nvSpPr>
          <p:cNvPr id="6" name="TextBox 5"/>
          <p:cNvSpPr txBox="1"/>
          <p:nvPr/>
        </p:nvSpPr>
        <p:spPr>
          <a:xfrm>
            <a:off x="640080" y="1932846"/>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растут примерно вчетверо</a:t>
            </a:r>
          </a:p>
        </p:txBody>
      </p:sp>
      <p:sp>
        <p:nvSpPr>
          <p:cNvPr id="7" name="TextBox 6"/>
          <p:cNvSpPr txBox="1"/>
          <p:nvPr/>
        </p:nvSpPr>
        <p:spPr>
          <a:xfrm>
            <a:off x="640080" y="3140692"/>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база — чтение того же среза без подсказки</a:t>
            </a:r>
          </a:p>
        </p:txBody>
      </p:sp>
      <p:sp>
        <p:nvSpPr>
          <p:cNvPr id="8" name="Rounded Rectangle 7"/>
          <p:cNvSpPr/>
          <p:nvPr/>
        </p:nvSpPr>
        <p:spPr>
          <a:xfrm>
            <a:off x="3340531" y="1335024"/>
            <a:ext cx="2673019" cy="2365315"/>
          </a:xfrm>
          <a:prstGeom prst="roundRect">
            <a:avLst>
              <a:gd name="adj" fmla="val 128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НЕПРАВА: ШАНСЫ ВЕРНОГО ОТВЕТА</a:t>
            </a:r>
          </a:p>
        </p:txBody>
      </p:sp>
      <p:sp>
        <p:nvSpPr>
          <p:cNvPr id="10" name="TextBox 9"/>
          <p:cNvSpPr txBox="1"/>
          <p:nvPr/>
        </p:nvSpPr>
        <p:spPr>
          <a:xfrm>
            <a:off x="3477691" y="1932846"/>
            <a:ext cx="2398699" cy="1207845"/>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падают примерно вчетверо</a:t>
            </a:r>
          </a:p>
        </p:txBody>
      </p:sp>
      <p:sp>
        <p:nvSpPr>
          <p:cNvPr id="11" name="TextBox 10"/>
          <p:cNvSpPr txBox="1"/>
          <p:nvPr/>
        </p:nvSpPr>
        <p:spPr>
          <a:xfrm>
            <a:off x="3477691" y="3140692"/>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всех уровнях опыта и на случаях любой сложности</a:t>
            </a:r>
          </a:p>
        </p:txBody>
      </p:sp>
      <p:sp>
        <p:nvSpPr>
          <p:cNvPr id="12" name="Rounded Rectangle 11"/>
          <p:cNvSpPr/>
          <p:nvPr/>
        </p:nvSpPr>
        <p:spPr>
          <a:xfrm>
            <a:off x="6178143" y="1335024"/>
            <a:ext cx="2673019" cy="2365315"/>
          </a:xfrm>
          <a:prstGeom prst="roundRect">
            <a:avLst>
              <a:gd name="adj" fmla="val 1288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ТЕ ЖЕ ШАНСЫ В ДОЛЯХ: МОДЕЛЬ ПРАВА → НЕПРАВА</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94 → 50 из ста</a:t>
            </a:r>
          </a:p>
        </p:txBody>
      </p:sp>
      <p:sp>
        <p:nvSpPr>
          <p:cNvPr id="15" name="TextBox 14"/>
          <p:cNvSpPr txBox="1"/>
          <p:nvPr/>
        </p:nvSpPr>
        <p:spPr>
          <a:xfrm>
            <a:off x="6315303"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восьми верных ответах из десяти без подсказки</a:t>
            </a:r>
          </a:p>
        </p:txBody>
      </p:sp>
      <p:sp>
        <p:nvSpPr>
          <p:cNvPr id="16" name="Rounded Rectangle 15"/>
          <p:cNvSpPr/>
          <p:nvPr/>
        </p:nvSpPr>
        <p:spPr>
          <a:xfrm>
            <a:off x="9015755" y="1335024"/>
            <a:ext cx="2673019" cy="2365315"/>
          </a:xfrm>
          <a:prstGeom prst="roundRect">
            <a:avLst>
              <a:gd name="adj" fmla="val 1288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ТОЧНОСТЬ САМОЙ МОДЕЛИ НА НЕЗАВИСИМОМ НАБОРЕ</a:t>
            </a:r>
          </a:p>
        </p:txBody>
      </p:sp>
      <p:sp>
        <p:nvSpPr>
          <p:cNvPr id="18" name="TextBox 17"/>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0,842</a:t>
            </a:r>
          </a:p>
        </p:txBody>
      </p:sp>
      <p:sp>
        <p:nvSpPr>
          <p:cNvPr id="19" name="TextBox 18"/>
          <p:cNvSpPr txBox="1"/>
          <p:nvPr/>
        </p:nvSpPr>
        <p:spPr>
          <a:xfrm>
            <a:off x="9152915"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одиннадцать патологов, 80 срезов, два чтения</a:t>
            </a:r>
          </a:p>
        </p:txBody>
      </p:sp>
      <p:sp>
        <p:nvSpPr>
          <p:cNvPr id="20" name="Rounded Rectangle 19"/>
          <p:cNvSpPr/>
          <p:nvPr/>
        </p:nvSpPr>
        <p:spPr>
          <a:xfrm>
            <a:off x="374904" y="3791779"/>
            <a:ext cx="11441887" cy="2444428"/>
          </a:xfrm>
          <a:prstGeom prst="roundRect">
            <a:avLst>
              <a:gd name="adj" fmla="val 12469"/>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883219"/>
            <a:ext cx="5373471" cy="2352988"/>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Подсказка по оцифрованному срезу в патологии. То же устройство — теперь на решении.</a:t>
            </a:r>
          </a:p>
          <a:p>
            <a:pPr algn="l">
              <a:lnSpc>
                <a:spcPct val="126000"/>
              </a:lnSpc>
              <a:spcBef>
                <a:spcPts val="700"/>
              </a:spcBef>
            </a:pPr>
            <a:r>
              <a:rPr sz="1500" b="0" i="0">
                <a:solidFill>
                  <a:srgbClr val="21295C"/>
                </a:solidFill>
                <a:latin typeface="Arial"/>
              </a:rPr>
              <a:t/>
            </a:r>
            <a:r>
              <a:rPr sz="1500" b="1" i="0">
                <a:solidFill>
                  <a:srgbClr val="21295C"/>
                </a:solidFill>
                <a:latin typeface="Arial"/>
              </a:rPr>
              <a:t>Цена обеих ошибок.</a:t>
            </a:r>
            <a:r>
              <a:rPr sz="1500" b="0" i="0">
                <a:solidFill>
                  <a:srgbClr val="21295C"/>
                </a:solidFill>
                <a:latin typeface="Arial"/>
              </a:rPr>
              <a:t> Спутать два вида опухоли печени — другое лечение и другой прогноз. Лишняя перепроверка — время специалиста и отложенное решение.</a:t>
            </a:r>
          </a:p>
          <a:p>
            <a:pPr algn="l">
              <a:lnSpc>
                <a:spcPct val="126000"/>
              </a:lnSpc>
              <a:spcBef>
                <a:spcPts val="700"/>
              </a:spcBef>
            </a:pPr>
            <a:r>
              <a:rPr sz="1500" b="0" i="0">
                <a:solidFill>
                  <a:srgbClr val="21295C"/>
                </a:solidFill>
                <a:latin typeface="Arial"/>
              </a:rPr>
              <a:t/>
            </a:r>
            <a:r>
              <a:rPr sz="1500" b="1" i="0">
                <a:solidFill>
                  <a:srgbClr val="21295C"/>
                </a:solidFill>
                <a:latin typeface="Arial"/>
              </a:rPr>
              <a:t>Оба классических режима:</a:t>
            </a:r>
            <a:r>
              <a:rPr sz="1500" b="0" i="0">
                <a:solidFill>
                  <a:srgbClr val="21295C"/>
                </a:solidFill>
                <a:latin typeface="Arial"/>
              </a:rPr>
              <a:t> чтение среза одним патологом; второе мнение субспециалиста.</a:t>
            </a:r>
          </a:p>
        </p:txBody>
      </p:sp>
      <p:sp>
        <p:nvSpPr>
          <p:cNvPr id="22" name="TextBox 21"/>
          <p:cNvSpPr txBox="1"/>
          <p:nvPr/>
        </p:nvSpPr>
        <p:spPr>
          <a:xfrm>
            <a:off x="6278727" y="3883219"/>
            <a:ext cx="5373471" cy="235298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против них.</a:t>
            </a:r>
            <a:r>
              <a:rPr sz="1500" b="0" i="0">
                <a:solidFill>
                  <a:srgbClr val="21295C"/>
                </a:solidFill>
                <a:latin typeface="Arial"/>
              </a:rPr>
              <a:t> Знак эффекта задаёт её правота на этом конкретном случае.</a:t>
            </a:r>
          </a:p>
          <a:p>
            <a:pPr algn="l">
              <a:lnSpc>
                <a:spcPct val="126000"/>
              </a:lnSpc>
              <a:spcBef>
                <a:spcPts val="700"/>
              </a:spcBef>
            </a:pPr>
            <a:r>
              <a:rPr sz="1500" b="0" i="0">
                <a:solidFill>
                  <a:srgbClr val="21295C"/>
                </a:solidFill>
                <a:latin typeface="Arial"/>
              </a:rPr>
              <a:t/>
            </a:r>
            <a:r>
              <a:rPr sz="1500" b="0" i="0">
                <a:solidFill>
                  <a:srgbClr val="21295C"/>
                </a:solidFill>
                <a:latin typeface="Arial"/>
              </a:rPr>
              <a:t>Симметрия в шансах даёт асимметрию в долях: высокой точности есть куда падать и почти некуда расти.</a:t>
            </a:r>
          </a:p>
          <a:p>
            <a:pPr algn="l">
              <a:lnSpc>
                <a:spcPct val="126000"/>
              </a:lnSpc>
              <a:spcBef>
                <a:spcPts val="700"/>
              </a:spcBef>
            </a:pPr>
            <a:r>
              <a:rPr sz="1200" b="0" i="0">
                <a:solidFill>
                  <a:srgbClr val="21295C"/>
                </a:solidFill>
                <a:latin typeface="Arial"/>
              </a:rPr>
              <a:t/>
            </a:r>
            <a:r>
              <a:rPr sz="1200" b="0" i="1">
                <a:solidFill>
                  <a:srgbClr val="1C7293"/>
                </a:solidFill>
                <a:latin typeface="Arial"/>
              </a:rPr>
              <a:t>Ступень: смотрит вторым — подсказка выведена одновременно со срезом.</a:t>
            </a:r>
          </a:p>
        </p:txBody>
      </p:sp>
      <p:sp>
        <p:nvSpPr>
          <p:cNvPr id="23" name="Rectangle 22"/>
          <p:cNvSpPr/>
          <p:nvPr/>
        </p:nvSpPr>
        <p:spPr>
          <a:xfrm>
            <a:off x="6091275" y="3883219"/>
            <a:ext cx="9144" cy="2257227"/>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Kiani A. и соавт., Impact of a deep learning assistant on the histopathologic classification of liver cancer, npj Digital Medicine 2020, PMC7044422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Пример 2, цена: средняя складывает две противоположные вещи</a:t>
            </a:r>
          </a:p>
        </p:txBody>
      </p:sp>
      <p:sp>
        <p:nvSpPr>
          <p:cNvPr id="4" name="Rounded Rectangle 3"/>
          <p:cNvSpPr/>
          <p:nvPr/>
        </p:nvSpPr>
        <p:spPr>
          <a:xfrm>
            <a:off x="502920" y="1335024"/>
            <a:ext cx="3618890" cy="1344933"/>
          </a:xfrm>
          <a:prstGeom prst="roundRect">
            <a:avLst>
              <a:gd name="adj" fmla="val 2266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прибавку при верной подсказке</a:t>
            </a:r>
          </a:p>
        </p:txBody>
      </p:sp>
      <p:sp>
        <p:nvSpPr>
          <p:cNvPr id="7" name="Rounded Rectangle 6"/>
          <p:cNvSpPr/>
          <p:nvPr/>
        </p:nvSpPr>
        <p:spPr>
          <a:xfrm>
            <a:off x="4286402" y="1335024"/>
            <a:ext cx="3618890" cy="1344933"/>
          </a:xfrm>
          <a:prstGeom prst="roundRect">
            <a:avLst>
              <a:gd name="adj" fmla="val 22662"/>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9" name="TextBox 8"/>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равной потери при неверной</a:t>
            </a:r>
          </a:p>
        </p:txBody>
      </p:sp>
      <p:sp>
        <p:nvSpPr>
          <p:cNvPr id="10" name="Rounded Rectangle 9"/>
          <p:cNvSpPr/>
          <p:nvPr/>
        </p:nvSpPr>
        <p:spPr>
          <a:xfrm>
            <a:off x="8069884" y="1335024"/>
            <a:ext cx="3618890" cy="1344933"/>
          </a:xfrm>
          <a:prstGeom prst="roundRect">
            <a:avLst>
              <a:gd name="adj" fmla="val 22662"/>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2" name="TextBox 11"/>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средняя та же, разброс вырос</a:t>
            </a:r>
          </a:p>
        </p:txBody>
      </p:sp>
      <p:sp>
        <p:nvSpPr>
          <p:cNvPr id="13" name="Rounded Rectangle 12"/>
          <p:cNvSpPr/>
          <p:nvPr/>
        </p:nvSpPr>
        <p:spPr>
          <a:xfrm>
            <a:off x="374904" y="2771397"/>
            <a:ext cx="11441887" cy="2620447"/>
          </a:xfrm>
          <a:prstGeom prst="roundRect">
            <a:avLst>
              <a:gd name="adj" fmla="val 11631"/>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539496" y="2862837"/>
            <a:ext cx="5373471" cy="337337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На группе в целом, без разделения на правоту модели, прибавка незначима.</a:t>
            </a:r>
          </a:p>
          <a:p>
            <a:pPr algn="l">
              <a:lnSpc>
                <a:spcPct val="126000"/>
              </a:lnSpc>
              <a:spcBef>
                <a:spcPts val="700"/>
              </a:spcBef>
            </a:pPr>
            <a:r>
              <a:rPr sz="1500" b="0" i="0">
                <a:solidFill>
                  <a:srgbClr val="21295C"/>
                </a:solidFill>
                <a:latin typeface="Arial"/>
              </a:rPr>
              <a:t/>
            </a:r>
            <a:r>
              <a:rPr sz="1500" b="0" i="0">
                <a:solidFill>
                  <a:srgbClr val="21295C"/>
                </a:solidFill>
                <a:latin typeface="Arial"/>
              </a:rPr>
              <a:t>Отчёт о внедрении с одним числом показал бы «эффекта нет» там, где эффект велик в обе стороны.</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переехало.</a:t>
            </a:r>
            <a:r>
              <a:rPr sz="1500" b="0" i="0">
                <a:solidFill>
                  <a:srgbClr val="21295C"/>
                </a:solidFill>
                <a:latin typeface="Arial"/>
              </a:rPr>
              <a:t> Сместилась цена ошибки: ошибка модели стала ошибкой врача — и подпись под заключением ставит он.</a:t>
            </a:r>
          </a:p>
        </p:txBody>
      </p:sp>
      <p:sp>
        <p:nvSpPr>
          <p:cNvPr id="15" name="TextBox 14"/>
          <p:cNvSpPr txBox="1"/>
          <p:nvPr/>
        </p:nvSpPr>
        <p:spPr>
          <a:xfrm>
            <a:off x="6278727" y="2862837"/>
            <a:ext cx="5373471" cy="337337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Рядом, другим жанром, — сводка систем поддержки врачебных решений:</a:t>
            </a:r>
          </a:p>
          <a:p>
            <a:pPr algn="l">
              <a:lnSpc>
                <a:spcPct val="126000"/>
              </a:lnSpc>
              <a:spcBef>
                <a:spcPts val="700"/>
              </a:spcBef>
            </a:pPr>
            <a:r>
              <a:rPr sz="1500" b="0" i="0">
                <a:solidFill>
                  <a:srgbClr val="21295C"/>
                </a:solidFill>
                <a:latin typeface="Arial"/>
              </a:rPr>
              <a:t/>
            </a:r>
            <a:r>
              <a:rPr sz="1500" b="0" i="0">
                <a:solidFill>
                  <a:srgbClr val="21295C"/>
                </a:solidFill>
                <a:latin typeface="Arial"/>
              </a:rPr>
              <a:t>• неверная подсказка повышает риск неверного решения на </a:t>
            </a:r>
            <a:r>
              <a:rPr sz="1500" b="1" i="0">
                <a:solidFill>
                  <a:srgbClr val="21295C"/>
                </a:solidFill>
                <a:latin typeface="Arial"/>
              </a:rPr>
              <a:t>26 процентов</a:t>
            </a:r>
          </a:p>
          <a:p>
            <a:pPr algn="l">
              <a:lnSpc>
                <a:spcPct val="126000"/>
              </a:lnSpc>
              <a:spcBef>
                <a:spcPts val="700"/>
              </a:spcBef>
            </a:pPr>
            <a:r>
              <a:rPr sz="1500" b="0" i="0">
                <a:solidFill>
                  <a:srgbClr val="21295C"/>
                </a:solidFill>
                <a:latin typeface="Arial"/>
              </a:rPr>
              <a:t/>
            </a:r>
            <a:r>
              <a:rPr sz="1500" b="0" i="0">
                <a:solidFill>
                  <a:srgbClr val="21295C"/>
                </a:solidFill>
                <a:latin typeface="Arial"/>
              </a:rPr>
              <a:t>• обзор включил 74 исследования из 13 821 просмотренного</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0" i="1">
                <a:solidFill>
                  <a:srgbClr val="21295C"/>
                </a:solidFill>
                <a:latin typeface="Arial"/>
              </a:rPr>
              <a:t>в той совокупности много систем на правилах, и обученной моделью они не являются</a:t>
            </a:r>
          </a:p>
        </p:txBody>
      </p:sp>
      <p:sp>
        <p:nvSpPr>
          <p:cNvPr id="16" name="Rectangle 15"/>
          <p:cNvSpPr/>
          <p:nvPr/>
        </p:nvSpPr>
        <p:spPr>
          <a:xfrm>
            <a:off x="6091275" y="2862837"/>
            <a:ext cx="9144" cy="2346127"/>
          </a:xfrm>
          <a:prstGeom prst="rect">
            <a:avLst/>
          </a:prstGeom>
          <a:solidFill>
            <a:srgbClr val="D9E2EC"/>
          </a:solidFill>
          <a:ln>
            <a:noFill/>
          </a:ln>
          <a:effectLst/>
        </p:spPr>
        <p:txBody>
          <a:bodyPr rtlCol="0" anchor="ctr"/>
          <a:lstStyle/>
          <a:p>
            <a:pPr algn="ctr"/>
          </a:p>
        </p:txBody>
      </p:sp>
      <p:sp>
        <p:nvSpPr>
          <p:cNvPr id="17" name="Rectangle 16"/>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Та же публикация — Kiani A. и соавт., npj Digital Medicine 2020, PMC7044422</a:t>
            </a:r>
            <a:r>
              <a:rPr sz="1200" b="0" i="1">
                <a:solidFill>
                  <a:srgbClr val="1C7293"/>
                </a:solidFill>
                <a:latin typeface="Arial"/>
              </a:rPr>
              <a:t> · </a:t>
            </a:r>
            <a:r>
              <a:rPr sz="1200" b="0" i="1" u="sng">
                <a:solidFill>
                  <a:srgbClr val="065A82"/>
                </a:solidFill>
                <a:latin typeface="Arial"/>
                <a:hlinkClick r:id="rId3"/>
              </a:rPr>
              <a:t>Goddard K., Roudsari A., Wyatt J., Automation bias: a systematic review of frequency, effect mediators, and mitigators, JAMIA 2012;19(1):121–127, обзор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измеренная тройка</a:t>
            </a:r>
          </a:p>
        </p:txBody>
      </p:sp>
      <p:sp>
        <p:nvSpPr>
          <p:cNvPr id="4" name="Rounded Rectangle 3"/>
          <p:cNvSpPr/>
          <p:nvPr/>
        </p:nvSpPr>
        <p:spPr>
          <a:xfrm>
            <a:off x="502920"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ОДНА</a:t>
            </a:r>
          </a:p>
        </p:txBody>
      </p:sp>
      <p:sp>
        <p:nvSpPr>
          <p:cNvPr id="6" name="TextBox 5"/>
          <p:cNvSpPr txBox="1"/>
          <p:nvPr/>
        </p:nvSpPr>
        <p:spPr>
          <a:xfrm>
            <a:off x="640080"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92 из ста</a:t>
            </a:r>
          </a:p>
        </p:txBody>
      </p:sp>
      <p:sp>
        <p:nvSpPr>
          <p:cNvPr id="7" name="TextBox 6"/>
          <p:cNvSpPr txBox="1"/>
          <p:nvPr/>
        </p:nvSpPr>
        <p:spPr>
          <a:xfrm>
            <a:off x="640080" y="2152374"/>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отдельный прогон; равноправной случайной ветвью он не был</a:t>
            </a:r>
          </a:p>
        </p:txBody>
      </p:sp>
      <p:sp>
        <p:nvSpPr>
          <p:cNvPr id="8" name="Rounded Rectangle 7"/>
          <p:cNvSpPr/>
          <p:nvPr/>
        </p:nvSpPr>
        <p:spPr>
          <a:xfrm>
            <a:off x="3340531"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ВРАЧ ОДИН, СО СПРАВОЧНИКАМИ</a:t>
            </a:r>
          </a:p>
        </p:txBody>
      </p:sp>
      <p:sp>
        <p:nvSpPr>
          <p:cNvPr id="10" name="TextBox 9"/>
          <p:cNvSpPr txBox="1"/>
          <p:nvPr/>
        </p:nvSpPr>
        <p:spPr>
          <a:xfrm>
            <a:off x="3477691"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74 из ста</a:t>
            </a:r>
          </a:p>
        </p:txBody>
      </p:sp>
      <p:sp>
        <p:nvSpPr>
          <p:cNvPr id="11" name="TextBox 10"/>
          <p:cNvSpPr txBox="1"/>
          <p:nvPr/>
        </p:nvSpPr>
        <p:spPr>
          <a:xfrm>
            <a:off x="3477691"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привычные источники — это база сравнения</a:t>
            </a:r>
          </a:p>
        </p:txBody>
      </p:sp>
      <p:sp>
        <p:nvSpPr>
          <p:cNvPr id="12" name="Rounded Rectangle 11"/>
          <p:cNvSpPr/>
          <p:nvPr/>
        </p:nvSpPr>
        <p:spPr>
          <a:xfrm>
            <a:off x="6178143" y="1335024"/>
            <a:ext cx="2673019"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ВРАЧ ПОВЕРХ МОДЕЛИ</a:t>
            </a:r>
          </a:p>
        </p:txBody>
      </p:sp>
      <p:sp>
        <p:nvSpPr>
          <p:cNvPr id="14" name="TextBox 13"/>
          <p:cNvSpPr txBox="1"/>
          <p:nvPr/>
        </p:nvSpPr>
        <p:spPr>
          <a:xfrm>
            <a:off x="6315303" y="1725375"/>
            <a:ext cx="2398699"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76 из ста</a:t>
            </a:r>
          </a:p>
        </p:txBody>
      </p:sp>
      <p:sp>
        <p:nvSpPr>
          <p:cNvPr id="15" name="TextBox 14"/>
          <p:cNvSpPr txBox="1"/>
          <p:nvPr/>
        </p:nvSpPr>
        <p:spPr>
          <a:xfrm>
            <a:off x="6315303"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разница два пункта, незначима: интервал от −4 до 8</a:t>
            </a:r>
          </a:p>
        </p:txBody>
      </p:sp>
      <p:sp>
        <p:nvSpPr>
          <p:cNvPr id="16" name="Rounded Rectangle 15"/>
          <p:cNvSpPr/>
          <p:nvPr/>
        </p:nvSpPr>
        <p:spPr>
          <a:xfrm>
            <a:off x="9015755"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СТУПЕНЬ</a:t>
            </a:r>
          </a:p>
        </p:txBody>
      </p:sp>
      <p:sp>
        <p:nvSpPr>
          <p:cNvPr id="18" name="TextBox 17"/>
          <p:cNvSpPr txBox="1"/>
          <p:nvPr/>
        </p:nvSpPr>
        <p:spPr>
          <a:xfrm>
            <a:off x="9152915"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смотрит первым</a:t>
            </a:r>
          </a:p>
        </p:txBody>
      </p:sp>
      <p:sp>
        <p:nvSpPr>
          <p:cNvPr id="19" name="TextBox 18"/>
          <p:cNvSpPr txBox="1"/>
          <p:nvPr/>
        </p:nvSpPr>
        <p:spPr>
          <a:xfrm>
            <a:off x="9152915" y="2542797"/>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модель под рукой справочником; рассуждение врач начинает сам</a:t>
            </a:r>
          </a:p>
        </p:txBody>
      </p:sp>
      <p:sp>
        <p:nvSpPr>
          <p:cNvPr id="20" name="Rounded Rectangle 19"/>
          <p:cNvSpPr/>
          <p:nvPr/>
        </p:nvSpPr>
        <p:spPr>
          <a:xfrm>
            <a:off x="374904" y="3193884"/>
            <a:ext cx="11441887" cy="3042323"/>
          </a:xfrm>
          <a:prstGeom prst="roundRect">
            <a:avLst>
              <a:gd name="adj" fmla="val 10018"/>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285324"/>
            <a:ext cx="5373471" cy="295088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А может, пара всё-таки лучше человека без модели? Три числа на одних задачах отвечают на это.</a:t>
            </a:r>
          </a:p>
          <a:p>
            <a:pPr algn="l">
              <a:lnSpc>
                <a:spcPct val="126000"/>
              </a:lnSpc>
              <a:spcBef>
                <a:spcPts val="700"/>
              </a:spcBef>
            </a:pPr>
            <a:r>
              <a:rPr sz="1500" b="0" i="0">
                <a:solidFill>
                  <a:srgbClr val="21295C"/>
                </a:solidFill>
                <a:latin typeface="Arial"/>
              </a:rPr>
              <a:t/>
            </a:r>
            <a:r>
              <a:rPr sz="1500" b="1" i="0">
                <a:solidFill>
                  <a:srgbClr val="21295C"/>
                </a:solidFill>
                <a:latin typeface="Arial"/>
              </a:rPr>
              <a:t>Цена обеих ошибок.</a:t>
            </a:r>
            <a:r>
              <a:rPr sz="1500" b="0" i="0">
                <a:solidFill>
                  <a:srgbClr val="21295C"/>
                </a:solidFill>
                <a:latin typeface="Arial"/>
              </a:rPr>
              <a:t> Неверный диагноз — лечение чужой болезни и потерянное время. Избыточная проверка — свой риск и отложенное решение.</a:t>
            </a:r>
          </a:p>
          <a:p>
            <a:pPr algn="l">
              <a:lnSpc>
                <a:spcPct val="126000"/>
              </a:lnSpc>
              <a:spcBef>
                <a:spcPts val="700"/>
              </a:spcBef>
            </a:pPr>
            <a:r>
              <a:rPr sz="1500" b="0" i="0">
                <a:solidFill>
                  <a:srgbClr val="21295C"/>
                </a:solidFill>
                <a:latin typeface="Arial"/>
              </a:rPr>
              <a:t/>
            </a:r>
            <a:r>
              <a:rPr sz="1500" b="1" i="0">
                <a:solidFill>
                  <a:srgbClr val="21295C"/>
                </a:solidFill>
                <a:latin typeface="Arial"/>
              </a:rPr>
              <a:t>Классический режим</a:t>
            </a:r>
            <a:r>
              <a:rPr sz="1500" b="0" i="0">
                <a:solidFill>
                  <a:srgbClr val="21295C"/>
                </a:solidFill>
                <a:latin typeface="Arial"/>
              </a:rPr>
              <a:t> — врач с обычными справочниками: это база сравнения.</a:t>
            </a:r>
          </a:p>
          <a:p>
            <a:pPr algn="l">
              <a:lnSpc>
                <a:spcPct val="126000"/>
              </a:lnSpc>
              <a:spcBef>
                <a:spcPts val="700"/>
              </a:spcBef>
            </a:pPr>
            <a:r>
              <a:rPr sz="1500" b="0" i="0">
                <a:solidFill>
                  <a:srgbClr val="21295C"/>
                </a:solidFill>
                <a:latin typeface="Arial"/>
              </a:rPr>
              <a:t/>
            </a:r>
            <a:r>
              <a:rPr sz="1500" b="0" i="0">
                <a:solidFill>
                  <a:srgbClr val="21295C"/>
                </a:solidFill>
                <a:latin typeface="Arial"/>
              </a:rPr>
              <a:t>Разница между врачом одним и врачом с моделью — два пункта, и она </a:t>
            </a:r>
            <a:r>
              <a:rPr sz="1500" b="1" i="0">
                <a:solidFill>
                  <a:srgbClr val="21295C"/>
                </a:solidFill>
                <a:latin typeface="Arial"/>
              </a:rPr>
              <a:t>незначима</a:t>
            </a:r>
            <a:r>
              <a:rPr sz="1500" b="0" i="0">
                <a:solidFill>
                  <a:srgbClr val="21295C"/>
                </a:solidFill>
                <a:latin typeface="Arial"/>
              </a:rPr>
              <a:t>: данные есть, разницы нет.</a:t>
            </a:r>
          </a:p>
        </p:txBody>
      </p:sp>
      <p:sp>
        <p:nvSpPr>
          <p:cNvPr id="22" name="TextBox 21"/>
          <p:cNvSpPr txBox="1"/>
          <p:nvPr/>
        </p:nvSpPr>
        <p:spPr>
          <a:xfrm>
            <a:off x="6278727" y="3285324"/>
            <a:ext cx="5373471" cy="295088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Прогон «модель одна» равноправной случайной ветвью не был — он идёт </a:t>
            </a:r>
            <a:r>
              <a:rPr sz="1500" b="1" i="0">
                <a:solidFill>
                  <a:srgbClr val="21295C"/>
                </a:solidFill>
                <a:latin typeface="Arial"/>
              </a:rPr>
              <a:t>наблюдательным дополнением</a:t>
            </a:r>
            <a:r>
              <a:rPr sz="1500" b="0" i="0">
                <a:solidFill>
                  <a:srgbClr val="21295C"/>
                </a:solidFill>
                <a:latin typeface="Arial"/>
              </a:rPr>
              <a:t>.</a:t>
            </a:r>
          </a:p>
          <a:p>
            <a:pPr algn="l">
              <a:lnSpc>
                <a:spcPct val="126000"/>
              </a:lnSpc>
              <a:spcBef>
                <a:spcPts val="700"/>
              </a:spcBef>
            </a:pPr>
            <a:r>
              <a:rPr sz="1200" b="0" i="0">
                <a:solidFill>
                  <a:srgbClr val="21295C"/>
                </a:solidFill>
                <a:latin typeface="Arial"/>
              </a:rPr>
              <a:t/>
            </a:r>
            <a:r>
              <a:rPr sz="1200" b="0" i="1">
                <a:solidFill>
                  <a:srgbClr val="1C7293"/>
                </a:solidFill>
                <a:latin typeface="Arial"/>
              </a:rPr>
              <a:t>Пятьдесят врачей, медиана пять случаев на врача. Виньетки по реальным случаям: исходов пациентов никто не проверял.</a:t>
            </a:r>
          </a:p>
          <a:p>
            <a:pPr algn="l">
              <a:lnSpc>
                <a:spcPct val="126000"/>
              </a:lnSpc>
              <a:spcBef>
                <a:spcPts val="700"/>
              </a:spcBef>
            </a:pPr>
            <a:r>
              <a:rPr sz="1500" b="0" i="0">
                <a:solidFill>
                  <a:srgbClr val="21295C"/>
                </a:solidFill>
                <a:latin typeface="Arial"/>
              </a:rPr>
              <a:t/>
            </a:r>
            <a:r>
              <a:rPr sz="1500" b="0" i="0">
                <a:solidFill>
                  <a:srgbClr val="21295C"/>
                </a:solidFill>
                <a:latin typeface="Arial"/>
              </a:rPr>
              <a:t>Чем это делают сегодня — </a:t>
            </a:r>
            <a:r>
              <a:rPr sz="1500" b="0" i="1">
                <a:solidFill>
                  <a:srgbClr val="21295C"/>
                </a:solidFill>
                <a:latin typeface="Arial"/>
              </a:rPr>
              <a:t>генерация на тексте</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0" i="0">
                <a:solidFill>
                  <a:srgbClr val="21295C"/>
                </a:solidFill>
                <a:latin typeface="Arial"/>
              </a:rPr>
              <a:t>• клиническое рассуждение и вопрос-ответ со ссылками на литературу</a:t>
            </a:r>
          </a:p>
          <a:p>
            <a:pPr algn="l">
              <a:lnSpc>
                <a:spcPct val="126000"/>
              </a:lnSpc>
              <a:spcBef>
                <a:spcPts val="700"/>
              </a:spcBef>
            </a:pPr>
            <a:r>
              <a:rPr sz="1500" b="0" i="0">
                <a:solidFill>
                  <a:srgbClr val="21295C"/>
                </a:solidFill>
                <a:latin typeface="Arial"/>
              </a:rPr>
              <a:t/>
            </a:r>
            <a:r>
              <a:rPr sz="1500" b="0" i="0">
                <a:solidFill>
                  <a:srgbClr val="21295C"/>
                </a:solidFill>
                <a:latin typeface="Arial"/>
              </a:rPr>
              <a:t>• входит </a:t>
            </a:r>
            <a:r>
              <a:rPr sz="1500" b="1" i="0">
                <a:solidFill>
                  <a:srgbClr val="21295C"/>
                </a:solidFill>
                <a:latin typeface="Arial"/>
              </a:rPr>
              <a:t>снизу</a:t>
            </a:r>
            <a:r>
              <a:rPr sz="1500" b="0" i="0">
                <a:solidFill>
                  <a:srgbClr val="21295C"/>
                </a:solidFill>
                <a:latin typeface="Arial"/>
              </a:rPr>
              <a:t>, самостоятельным употреблением врача, минуя закупку</a:t>
            </a:r>
          </a:p>
        </p:txBody>
      </p:sp>
      <p:sp>
        <p:nvSpPr>
          <p:cNvPr id="23" name="Rectangle 22"/>
          <p:cNvSpPr/>
          <p:nvPr/>
        </p:nvSpPr>
        <p:spPr>
          <a:xfrm>
            <a:off x="6091275" y="3285324"/>
            <a:ext cx="9144" cy="2940250"/>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Goh E. и соавт., JAMA Network Open 2024;7(10):e2440969, 28 октября 2024 — рандомизированное исследование диагностического рассуждения, 50 практикующих врачей</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цена: времени меньше, выигрыша нет</a:t>
            </a:r>
          </a:p>
        </p:txBody>
      </p:sp>
      <p:sp>
        <p:nvSpPr>
          <p:cNvPr id="4" name="Rounded Rectangle 3"/>
          <p:cNvSpPr/>
          <p:nvPr/>
        </p:nvSpPr>
        <p:spPr>
          <a:xfrm>
            <a:off x="502920" y="1335024"/>
            <a:ext cx="2673019" cy="2393606"/>
          </a:xfrm>
          <a:prstGeom prst="roundRect">
            <a:avLst>
              <a:gd name="adj" fmla="val 12733"/>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МЕДИАННОЕ ВРЕМЯ НА СЛУЧАЙ: БЕЗ МОДЕЛИ → С МОДЕЛЬЮ</a:t>
            </a:r>
          </a:p>
        </p:txBody>
      </p:sp>
      <p:sp>
        <p:nvSpPr>
          <p:cNvPr id="6" name="TextBox 5"/>
          <p:cNvSpPr txBox="1"/>
          <p:nvPr/>
        </p:nvSpPr>
        <p:spPr>
          <a:xfrm>
            <a:off x="640080" y="2140317"/>
            <a:ext cx="2398699"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565 → 519 секунд</a:t>
            </a:r>
          </a:p>
        </p:txBody>
      </p:sp>
      <p:sp>
        <p:nvSpPr>
          <p:cNvPr id="7" name="TextBox 6"/>
          <p:cNvSpPr txBox="1"/>
          <p:nvPr/>
        </p:nvSpPr>
        <p:spPr>
          <a:xfrm>
            <a:off x="640080" y="2957740"/>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519 — это группа С моделью; разница значимости не достигает</a:t>
            </a:r>
          </a:p>
        </p:txBody>
      </p:sp>
      <p:sp>
        <p:nvSpPr>
          <p:cNvPr id="8" name="Rounded Rectangle 7"/>
          <p:cNvSpPr/>
          <p:nvPr/>
        </p:nvSpPr>
        <p:spPr>
          <a:xfrm>
            <a:off x="3340531" y="1335024"/>
            <a:ext cx="2673019" cy="2393606"/>
          </a:xfrm>
          <a:prstGeom prst="roundRect">
            <a:avLst>
              <a:gd name="adj" fmla="val 1273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10" name="TextBox 9"/>
          <p:cNvSpPr txBox="1"/>
          <p:nvPr/>
        </p:nvSpPr>
        <p:spPr>
          <a:xfrm>
            <a:off x="3477691"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ничего измеримого</a:t>
            </a:r>
          </a:p>
        </p:txBody>
      </p:sp>
      <p:sp>
        <p:nvSpPr>
          <p:cNvPr id="11" name="Rounded Rectangle 10"/>
          <p:cNvSpPr/>
          <p:nvPr/>
        </p:nvSpPr>
        <p:spPr>
          <a:xfrm>
            <a:off x="6178143" y="1335024"/>
            <a:ext cx="2673019" cy="2393606"/>
          </a:xfrm>
          <a:prstGeom prst="roundRect">
            <a:avLst>
              <a:gd name="adj" fmla="val 12733"/>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13" name="TextBox 12"/>
          <p:cNvSpPr txBox="1"/>
          <p:nvPr/>
        </p:nvSpPr>
        <p:spPr>
          <a:xfrm>
            <a:off x="6315303" y="1725375"/>
            <a:ext cx="2398699"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доступ к инструменту и новый шаг внутри рассуждения</a:t>
            </a:r>
          </a:p>
        </p:txBody>
      </p:sp>
      <p:sp>
        <p:nvSpPr>
          <p:cNvPr id="14" name="Rounded Rectangle 13"/>
          <p:cNvSpPr/>
          <p:nvPr/>
        </p:nvSpPr>
        <p:spPr>
          <a:xfrm>
            <a:off x="9015755" y="1335024"/>
            <a:ext cx="2673019" cy="2393606"/>
          </a:xfrm>
          <a:prstGeom prst="roundRect">
            <a:avLst>
              <a:gd name="adj" fmla="val 12733"/>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6" name="TextBox 15"/>
          <p:cNvSpPr txBox="1"/>
          <p:nvPr/>
        </p:nvSpPr>
        <p:spPr>
          <a:xfrm>
            <a:off x="9152915"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так же, как было</a:t>
            </a:r>
          </a:p>
        </p:txBody>
      </p:sp>
      <p:sp>
        <p:nvSpPr>
          <p:cNvPr id="17" name="Rounded Rectangle 16"/>
          <p:cNvSpPr/>
          <p:nvPr/>
        </p:nvSpPr>
        <p:spPr>
          <a:xfrm>
            <a:off x="374904" y="3820070"/>
            <a:ext cx="11441887" cy="2175074"/>
          </a:xfrm>
          <a:prstGeom prst="roundRect">
            <a:avLst>
              <a:gd name="adj" fmla="val 14013"/>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911510"/>
            <a:ext cx="5373471" cy="232469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Разница во времени </a:t>
            </a:r>
            <a:r>
              <a:rPr sz="1500" b="1" i="0">
                <a:solidFill>
                  <a:srgbClr val="21295C"/>
                </a:solidFill>
                <a:latin typeface="Arial"/>
              </a:rPr>
              <a:t>незначима</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переехало.</a:t>
            </a:r>
            <a:r>
              <a:rPr sz="1500" b="0" i="0">
                <a:solidFill>
                  <a:srgbClr val="21295C"/>
                </a:solidFill>
                <a:latin typeface="Arial"/>
              </a:rPr>
              <a:t> Сменился исполнитель: то же место, тот же измеренный объём, другая рука. Улучшения здесь не фиксирует ни одна форма словаря.</a:t>
            </a:r>
          </a:p>
        </p:txBody>
      </p:sp>
      <p:sp>
        <p:nvSpPr>
          <p:cNvPr id="19" name="TextBox 18"/>
          <p:cNvSpPr txBox="1"/>
          <p:nvPr/>
        </p:nvSpPr>
        <p:spPr>
          <a:xfrm>
            <a:off x="6278727" y="3911510"/>
            <a:ext cx="5373471" cy="232469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«Ничего измеримого» — измеренный нулевой результат при рабочей выборке.</a:t>
            </a:r>
          </a:p>
          <a:p>
            <a:pPr algn="l">
              <a:lnSpc>
                <a:spcPct val="126000"/>
              </a:lnSpc>
              <a:spcBef>
                <a:spcPts val="700"/>
              </a:spcBef>
            </a:pPr>
            <a:r>
              <a:rPr sz="1500" b="0" i="0">
                <a:solidFill>
                  <a:srgbClr val="21295C"/>
                </a:solidFill>
                <a:latin typeface="Arial"/>
              </a:rPr>
              <a:t/>
            </a:r>
            <a:r>
              <a:rPr sz="1500" b="0" i="0">
                <a:solidFill>
                  <a:srgbClr val="21295C"/>
                </a:solidFill>
                <a:latin typeface="Arial"/>
              </a:rPr>
              <a:t>Вопрос «помогает ли модель» на этом материале ответа не имеет. Имеет ответ вопрос «как именно подсказка входит в решение».</a:t>
            </a:r>
          </a:p>
          <a:p>
            <a:pPr algn="l">
              <a:lnSpc>
                <a:spcPct val="126000"/>
              </a:lnSpc>
              <a:spcBef>
                <a:spcPts val="700"/>
              </a:spcBef>
            </a:pPr>
            <a:r>
              <a:rPr sz="1200" b="0" i="0">
                <a:solidFill>
                  <a:srgbClr val="21295C"/>
                </a:solidFill>
                <a:latin typeface="Arial"/>
              </a:rPr>
              <a:t/>
            </a:r>
            <a:r>
              <a:rPr sz="1200" b="0" i="1">
                <a:solidFill>
                  <a:srgbClr val="1C7293"/>
                </a:solidFill>
                <a:latin typeface="Arial"/>
              </a:rPr>
              <a:t>Оценивалось рассуждение на задачах, не исходы пациентов.</a:t>
            </a:r>
          </a:p>
        </p:txBody>
      </p:sp>
      <p:sp>
        <p:nvSpPr>
          <p:cNvPr id="20" name="Rectangle 19"/>
          <p:cNvSpPr/>
          <p:nvPr/>
        </p:nvSpPr>
        <p:spPr>
          <a:xfrm>
            <a:off x="6091275" y="3911510"/>
            <a:ext cx="9144" cy="1900754"/>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Та же публикация — Goh E. и соавт., JAMA Network Open 2024;7(10):e2440969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4: контрольная линия</a:t>
            </a:r>
          </a:p>
        </p:txBody>
      </p:sp>
      <p:sp>
        <p:nvSpPr>
          <p:cNvPr id="4" name="Rounded Rectangle 3"/>
          <p:cNvSpPr/>
          <p:nvPr/>
        </p:nvSpPr>
        <p:spPr>
          <a:xfrm>
            <a:off x="502920" y="1335024"/>
            <a:ext cx="3618890"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ЧУВСТВИТЕЛЬНОСТЬ: ДВОЙНОЕ ЧТЕНИЕ → ЧЕЛОВЕК С МОДЕЛЬЮ</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73,8 → 80,5 из ста</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прибавка значима; специфичность в обоих плечах 98,5</a:t>
            </a:r>
          </a:p>
        </p:txBody>
      </p:sp>
      <p:sp>
        <p:nvSpPr>
          <p:cNvPr id="8" name="Rounded Rectangle 7"/>
          <p:cNvSpPr/>
          <p:nvPr/>
        </p:nvSpPr>
        <p:spPr>
          <a:xfrm>
            <a:off x="4286402"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ОБЪЁМ ЧЕЛОВЕЧЕСКОГО ЧТЕНИЯ</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ниже на 44,3 процента</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промежуточный анализ, 80 033 женщины</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ЧУВСТВИТЕЛЬНОСТИ</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итоговый анализ, 105 934 женщины</a:t>
            </a:r>
          </a:p>
        </p:txBody>
      </p:sp>
      <p:sp>
        <p:nvSpPr>
          <p:cNvPr id="15" name="TextBox 14"/>
          <p:cNvSpPr txBox="1"/>
          <p:nvPr/>
        </p:nvSpPr>
        <p:spPr>
          <a:xfrm>
            <a:off x="8207044"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 анализа одного испытания; в одну базу не складываются</a:t>
            </a:r>
          </a:p>
        </p:txBody>
      </p:sp>
      <p:sp>
        <p:nvSpPr>
          <p:cNvPr id="16" name="Rounded Rectangle 15"/>
          <p:cNvSpPr/>
          <p:nvPr/>
        </p:nvSpPr>
        <p:spPr>
          <a:xfrm>
            <a:off x="374904" y="3193884"/>
            <a:ext cx="11441887" cy="3042323"/>
          </a:xfrm>
          <a:prstGeom prst="roundRect">
            <a:avLst>
              <a:gd name="adj" fmla="val 1001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85324"/>
            <a:ext cx="11112703"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Цена обеих ошибок</a:t>
            </a:r>
            <a:r>
              <a:rPr sz="1500" b="0" i="0">
                <a:solidFill>
                  <a:srgbClr val="21295C"/>
                </a:solidFill>
                <a:latin typeface="Arial"/>
              </a:rPr>
              <a:t> та же, что в разделе про отбор: пропуск — рак, найденный позже; ложный вызов — повторные исследования и месяцы тревоги.</a:t>
            </a:r>
          </a:p>
          <a:p>
            <a:pPr algn="l">
              <a:lnSpc>
                <a:spcPct val="126000"/>
              </a:lnSpc>
              <a:spcBef>
                <a:spcPts val="700"/>
              </a:spcBef>
            </a:pPr>
            <a:r>
              <a:rPr sz="1500" b="0" i="0">
                <a:solidFill>
                  <a:srgbClr val="21295C"/>
                </a:solidFill>
                <a:latin typeface="Arial"/>
              </a:rPr>
              <a:t/>
            </a:r>
            <a:r>
              <a:rPr sz="1500" b="1" i="0">
                <a:solidFill>
                  <a:srgbClr val="21295C"/>
                </a:solidFill>
                <a:latin typeface="Arial"/>
              </a:rPr>
              <a:t>Оба классических режима.</a:t>
            </a:r>
            <a:r>
              <a:rPr sz="1500" b="0" i="0">
                <a:solidFill>
                  <a:srgbClr val="21295C"/>
                </a:solidFill>
                <a:latin typeface="Arial"/>
              </a:rPr>
              <a:t> База сравнения — двойное чтение двумя людьми с арбитражем третьего на разногласиях.</a:t>
            </a:r>
          </a:p>
          <a:p>
            <a:pPr algn="l">
              <a:lnSpc>
                <a:spcPct val="126000"/>
              </a:lnSpc>
              <a:spcBef>
                <a:spcPts val="700"/>
              </a:spcBef>
            </a:pPr>
            <a:r>
              <a:rPr sz="1500" b="0" i="0">
                <a:solidFill>
                  <a:srgbClr val="21295C"/>
                </a:solidFill>
                <a:latin typeface="Arial"/>
              </a:rPr>
              <a:t/>
            </a:r>
            <a:r>
              <a:rPr sz="1500" b="1" i="0">
                <a:solidFill>
                  <a:srgbClr val="21295C"/>
                </a:solidFill>
                <a:latin typeface="Arial"/>
              </a:rPr>
              <a:t>Модель против них.</a:t>
            </a:r>
            <a:r>
              <a:rPr sz="1500" b="0" i="0">
                <a:solidFill>
                  <a:srgbClr val="21295C"/>
                </a:solidFill>
                <a:latin typeface="Arial"/>
              </a:rPr>
              <a:t> Модель читает первой, человек читает сам, разногласие разбирает третий. Прибавка чувствительности </a:t>
            </a:r>
            <a:r>
              <a:rPr sz="1500" b="1" i="0">
                <a:solidFill>
                  <a:srgbClr val="21295C"/>
                </a:solidFill>
                <a:latin typeface="Arial"/>
              </a:rPr>
              <a:t>значима</a:t>
            </a:r>
            <a:r>
              <a:rPr sz="1500" b="0" i="0">
                <a:solidFill>
                  <a:srgbClr val="21295C"/>
                </a:solidFill>
                <a:latin typeface="Arial"/>
              </a:rPr>
              <a:t>: независимость здесь </a:t>
            </a:r>
            <a:r>
              <a:rPr sz="1500" b="1" i="0">
                <a:solidFill>
                  <a:srgbClr val="21295C"/>
                </a:solidFill>
                <a:latin typeface="Arial"/>
              </a:rPr>
              <a:t>перестроена</a:t>
            </a:r>
            <a:r>
              <a:rPr sz="1500" b="0" i="0">
                <a:solidFill>
                  <a:srgbClr val="21295C"/>
                </a:solidFill>
                <a:latin typeface="Arial"/>
              </a:rPr>
              <a:t>, и выиграло устройство процедуры.</a:t>
            </a:r>
          </a:p>
          <a:p>
            <a:pPr algn="l">
              <a:lnSpc>
                <a:spcPct val="126000"/>
              </a:lnSpc>
              <a:spcBef>
                <a:spcPts val="700"/>
              </a:spcBef>
            </a:pPr>
            <a:r>
              <a:rPr sz="1200" b="0" i="0">
                <a:solidFill>
                  <a:srgbClr val="21295C"/>
                </a:solidFill>
                <a:latin typeface="Arial"/>
              </a:rPr>
              <a:t/>
            </a:r>
            <a:r>
              <a:rPr sz="1200" b="0" i="1">
                <a:solidFill>
                  <a:srgbClr val="1C7293"/>
                </a:solidFill>
                <a:latin typeface="Arial"/>
              </a:rPr>
              <a:t>Ступень читающего врача — «смотрит первым»: каждое исследование он видит сам и выдаёт собственное заключение. Чужого ему не показывают. Арбитр смотрит только спорное, и назначено это устройством программы.</a:t>
            </a:r>
          </a:p>
          <a:p>
            <a:pPr algn="l">
              <a:lnSpc>
                <a:spcPct val="126000"/>
              </a:lnSpc>
              <a:spcBef>
                <a:spcPts val="700"/>
              </a:spcBef>
            </a:pPr>
            <a:r>
              <a:rPr sz="1500" b="0" i="0">
                <a:solidFill>
                  <a:srgbClr val="21295C"/>
                </a:solidFill>
                <a:latin typeface="Arial"/>
              </a:rPr>
              <a:t/>
            </a:r>
            <a:r>
              <a:rPr sz="1500" b="1" i="0">
                <a:solidFill>
                  <a:srgbClr val="21295C"/>
                </a:solidFill>
                <a:latin typeface="Arial"/>
              </a:rPr>
              <a:t>Инструмент тот же, что в разборе выше.</a:t>
            </a:r>
            <a:r>
              <a:rPr sz="1500" b="0" i="0">
                <a:solidFill>
                  <a:srgbClr val="21295C"/>
                </a:solidFill>
                <a:latin typeface="Arial"/>
              </a:rPr>
              <a:t> Держат его контроль порога и арбитраж; вне скрининга бессимптомных он работать не умеет.</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Итоговый анализ MASAI — Gommers J., … Lång K., The Lancet 2026, 105 934 распределённых</a:t>
            </a:r>
            <a:r>
              <a:rPr sz="1200" b="0" i="1">
                <a:solidFill>
                  <a:srgbClr val="1C7293"/>
                </a:solidFill>
                <a:latin typeface="Arial"/>
              </a:rPr>
              <a:t> · </a:t>
            </a:r>
            <a:r>
              <a:rPr sz="1200" b="0" i="1" u="sng">
                <a:solidFill>
                  <a:srgbClr val="065A82"/>
                </a:solidFill>
                <a:latin typeface="Arial"/>
                <a:hlinkClick r:id="rId3"/>
              </a:rPr>
              <a:t>промежуточный анализ безопасности — Lång K. и соавт., Lancet Oncology 2023, 80 033 распределённых</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4, цена: что переехало и чем за это платят</a:t>
            </a:r>
          </a:p>
        </p:txBody>
      </p:sp>
      <p:sp>
        <p:nvSpPr>
          <p:cNvPr id="4" name="Rounded Rectangle 3"/>
          <p:cNvSpPr/>
          <p:nvPr/>
        </p:nvSpPr>
        <p:spPr>
          <a:xfrm>
            <a:off x="502920" y="1335024"/>
            <a:ext cx="2673019" cy="2012613"/>
          </a:xfrm>
          <a:prstGeom prst="roundRect">
            <a:avLst>
              <a:gd name="adj" fmla="val 15144"/>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ИНТЕРВАЛЬНЫЕ РАКИ НА 1000: ДВОЙНОЕ ЧТЕНИЕ → С МОДЕЛЬЮ</a:t>
            </a:r>
          </a:p>
        </p:txBody>
      </p:sp>
      <p:sp>
        <p:nvSpPr>
          <p:cNvPr id="6" name="TextBox 5"/>
          <p:cNvSpPr txBox="1"/>
          <p:nvPr/>
        </p:nvSpPr>
        <p:spPr>
          <a:xfrm>
            <a:off x="640080" y="2140317"/>
            <a:ext cx="2398699" cy="647673"/>
          </a:xfrm>
          <a:prstGeom prst="rect">
            <a:avLst/>
          </a:prstGeom>
          <a:noFill/>
        </p:spPr>
        <p:txBody>
          <a:bodyPr wrap="square" lIns="0" rIns="0" tIns="0" bIns="0" anchor="t">
            <a:spAutoFit/>
          </a:bodyPr>
          <a:lstStyle/>
          <a:p>
            <a:pPr algn="l">
              <a:lnSpc>
                <a:spcPct val="108000"/>
              </a:lnSpc>
            </a:pPr>
            <a:r>
              <a:rPr sz="1200" b="1" i="0">
                <a:solidFill>
                  <a:srgbClr val="F0AB00"/>
                </a:solidFill>
                <a:latin typeface="Arial"/>
              </a:rPr>
              <a:t>1,76 → 1,55 — показана не-худшесть, улучшение не доказано</a:t>
            </a:r>
          </a:p>
        </p:txBody>
      </p:sp>
      <p:sp>
        <p:nvSpPr>
          <p:cNvPr id="7" name="TextBox 6"/>
          <p:cNvSpPr txBox="1"/>
          <p:nvPr/>
        </p:nvSpPr>
        <p:spPr>
          <a:xfrm>
            <a:off x="640080" y="278799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отношение частот 0,88, интервал от 0,65 до 1,18</a:t>
            </a:r>
          </a:p>
        </p:txBody>
      </p:sp>
      <p:sp>
        <p:nvSpPr>
          <p:cNvPr id="8" name="Rounded Rectangle 7"/>
          <p:cNvSpPr/>
          <p:nvPr/>
        </p:nvSpPr>
        <p:spPr>
          <a:xfrm>
            <a:off x="3340531" y="1335024"/>
            <a:ext cx="2673019" cy="2012613"/>
          </a:xfrm>
          <a:prstGeom prst="roundRect">
            <a:avLst>
              <a:gd name="adj" fmla="val 1514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10" name="TextBox 9"/>
          <p:cNvSpPr txBox="1"/>
          <p:nvPr/>
        </p:nvSpPr>
        <p:spPr>
          <a:xfrm>
            <a:off x="3477691" y="1725375"/>
            <a:ext cx="2398699" cy="749522"/>
          </a:xfrm>
          <a:prstGeom prst="rect">
            <a:avLst/>
          </a:prstGeom>
          <a:noFill/>
        </p:spPr>
        <p:txBody>
          <a:bodyPr wrap="square" lIns="0" rIns="0" tIns="0" bIns="0" anchor="t">
            <a:spAutoFit/>
          </a:bodyPr>
          <a:lstStyle/>
          <a:p>
            <a:pPr algn="l">
              <a:lnSpc>
                <a:spcPct val="108000"/>
              </a:lnSpc>
            </a:pPr>
            <a:r>
              <a:rPr sz="1400" b="1" i="0">
                <a:solidFill>
                  <a:srgbClr val="21295C"/>
                </a:solidFill>
                <a:latin typeface="Arial"/>
              </a:rPr>
              <a:t>больше найденных раков и меньше пропущенных между обследованиями</a:t>
            </a:r>
          </a:p>
        </p:txBody>
      </p:sp>
      <p:sp>
        <p:nvSpPr>
          <p:cNvPr id="11" name="Rounded Rectangle 10"/>
          <p:cNvSpPr/>
          <p:nvPr/>
        </p:nvSpPr>
        <p:spPr>
          <a:xfrm>
            <a:off x="6178143" y="1335024"/>
            <a:ext cx="2673019" cy="2012613"/>
          </a:xfrm>
          <a:prstGeom prst="roundRect">
            <a:avLst>
              <a:gd name="adj" fmla="val 15144"/>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13" name="TextBox 12"/>
          <p:cNvSpPr txBox="1"/>
          <p:nvPr/>
        </p:nvSpPr>
        <p:spPr>
          <a:xfrm>
            <a:off x="6315303" y="1725375"/>
            <a:ext cx="2398699" cy="673135"/>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арбитраж как измеримую новую работу и постоянный контроль порога</a:t>
            </a:r>
          </a:p>
        </p:txBody>
      </p:sp>
      <p:sp>
        <p:nvSpPr>
          <p:cNvPr id="14" name="Rounded Rectangle 13"/>
          <p:cNvSpPr/>
          <p:nvPr/>
        </p:nvSpPr>
        <p:spPr>
          <a:xfrm>
            <a:off x="9015755" y="1335024"/>
            <a:ext cx="2673019" cy="2012613"/>
          </a:xfrm>
          <a:prstGeom prst="roundRect">
            <a:avLst>
              <a:gd name="adj" fmla="val 15144"/>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6" name="TextBox 15"/>
          <p:cNvSpPr txBox="1"/>
          <p:nvPr/>
        </p:nvSpPr>
        <p:spPr>
          <a:xfrm>
            <a:off x="9152915" y="1725375"/>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лучше и по качеству, и по нагрузке</a:t>
            </a:r>
          </a:p>
        </p:txBody>
      </p:sp>
      <p:sp>
        <p:nvSpPr>
          <p:cNvPr id="17" name="Rounded Rectangle 16"/>
          <p:cNvSpPr/>
          <p:nvPr/>
        </p:nvSpPr>
        <p:spPr>
          <a:xfrm>
            <a:off x="374904" y="3439077"/>
            <a:ext cx="11441887" cy="2797130"/>
          </a:xfrm>
          <a:prstGeom prst="roundRect">
            <a:avLst>
              <a:gd name="adj" fmla="val 10896"/>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530517"/>
            <a:ext cx="5373471" cy="270569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переехало.</a:t>
            </a:r>
            <a:r>
              <a:rPr sz="1500" b="0" i="0">
                <a:solidFill>
                  <a:srgbClr val="21295C"/>
                </a:solidFill>
                <a:latin typeface="Arial"/>
              </a:rPr>
              <a:t> Сменился исполнитель: вторым читателем стала модель, и объём человеческого чтения упал как следствие этой смены.</a:t>
            </a:r>
          </a:p>
          <a:p>
            <a:pPr algn="l">
              <a:lnSpc>
                <a:spcPct val="126000"/>
              </a:lnSpc>
              <a:spcBef>
                <a:spcPts val="700"/>
              </a:spcBef>
            </a:pPr>
            <a:r>
              <a:rPr sz="1500" b="0" i="0">
                <a:solidFill>
                  <a:srgbClr val="21295C"/>
                </a:solidFill>
                <a:latin typeface="Arial"/>
              </a:rPr>
              <a:t/>
            </a:r>
            <a:r>
              <a:rPr sz="1500" b="0" i="0">
                <a:solidFill>
                  <a:srgbClr val="21295C"/>
                </a:solidFill>
                <a:latin typeface="Arial"/>
              </a:rPr>
              <a:t>Доля ложноположительных и специфичность в двух плечах одинаковы: повторных вызовов не стало ни больше, ни меньше.</a:t>
            </a:r>
          </a:p>
          <a:p>
            <a:pPr algn="l">
              <a:lnSpc>
                <a:spcPct val="126000"/>
              </a:lnSpc>
              <a:spcBef>
                <a:spcPts val="700"/>
              </a:spcBef>
            </a:pPr>
            <a:r>
              <a:rPr sz="1500" b="0" i="0">
                <a:solidFill>
                  <a:srgbClr val="21295C"/>
                </a:solidFill>
                <a:latin typeface="Arial"/>
              </a:rPr>
              <a:t/>
            </a:r>
            <a:r>
              <a:rPr sz="1500" b="0" i="0">
                <a:solidFill>
                  <a:srgbClr val="21295C"/>
                </a:solidFill>
                <a:latin typeface="Arial"/>
              </a:rPr>
              <a:t>Рядом, другим жанром, и это разворачивает весь раздел: в другой программе измерили, </a:t>
            </a:r>
            <a:r>
              <a:rPr sz="1500" b="1" i="0">
                <a:solidFill>
                  <a:srgbClr val="21295C"/>
                </a:solidFill>
                <a:latin typeface="Arial"/>
              </a:rPr>
              <a:t>чьим находкам верят</a:t>
            </a:r>
            <a:r>
              <a:rPr sz="1500" b="0" i="0">
                <a:solidFill>
                  <a:srgbClr val="21295C"/>
                </a:solidFill>
                <a:latin typeface="Arial"/>
              </a:rPr>
              <a:t>.</a:t>
            </a:r>
          </a:p>
        </p:txBody>
      </p:sp>
      <p:sp>
        <p:nvSpPr>
          <p:cNvPr id="19" name="TextBox 18"/>
          <p:cNvSpPr txBox="1"/>
          <p:nvPr/>
        </p:nvSpPr>
        <p:spPr>
          <a:xfrm>
            <a:off x="6278727" y="3530517"/>
            <a:ext cx="5373471" cy="270569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из ста находок </a:t>
            </a:r>
            <a:r>
              <a:rPr sz="1500" b="1" i="0">
                <a:solidFill>
                  <a:srgbClr val="21295C"/>
                </a:solidFill>
                <a:latin typeface="Arial"/>
              </a:rPr>
              <a:t>только модели</a:t>
            </a:r>
            <a:r>
              <a:rPr sz="1500" b="0" i="0">
                <a:solidFill>
                  <a:srgbClr val="21295C"/>
                </a:solidFill>
                <a:latin typeface="Arial"/>
              </a:rPr>
              <a:t> подтверждается раком </a:t>
            </a:r>
            <a:r>
              <a:rPr sz="1500" b="1" i="0">
                <a:solidFill>
                  <a:srgbClr val="21295C"/>
                </a:solidFill>
                <a:latin typeface="Arial"/>
              </a:rPr>
              <a:t>22</a:t>
            </a:r>
            <a:r>
              <a:rPr sz="1500" b="0" i="0">
                <a:solidFill>
                  <a:srgbClr val="21295C"/>
                </a:solidFill>
                <a:latin typeface="Arial"/>
              </a:rPr>
              <a:t>; из ста находок </a:t>
            </a:r>
            <a:r>
              <a:rPr sz="1500" b="1" i="0">
                <a:solidFill>
                  <a:srgbClr val="21295C"/>
                </a:solidFill>
                <a:latin typeface="Arial"/>
              </a:rPr>
              <a:t>только радиолога</a:t>
            </a:r>
            <a:r>
              <a:rPr sz="1500" b="0" i="0">
                <a:solidFill>
                  <a:srgbClr val="21295C"/>
                </a:solidFill>
                <a:latin typeface="Arial"/>
              </a:rPr>
              <a:t> — </a:t>
            </a:r>
            <a:r>
              <a:rPr sz="1500" b="1" i="0">
                <a:solidFill>
                  <a:srgbClr val="21295C"/>
                </a:solidFill>
                <a:latin typeface="Arial"/>
              </a:rPr>
              <a:t>3,4</a:t>
            </a:r>
          </a:p>
          <a:p>
            <a:pPr algn="l">
              <a:lnSpc>
                <a:spcPct val="126000"/>
              </a:lnSpc>
              <a:spcBef>
                <a:spcPts val="700"/>
              </a:spcBef>
            </a:pPr>
            <a:r>
              <a:rPr sz="1500" b="0" i="0">
                <a:solidFill>
                  <a:srgbClr val="21295C"/>
                </a:solidFill>
                <a:latin typeface="Arial"/>
              </a:rPr>
              <a:t/>
            </a:r>
            <a:r>
              <a:rPr sz="1500" b="0" i="0">
                <a:solidFill>
                  <a:srgbClr val="21295C"/>
                </a:solidFill>
                <a:latin typeface="Arial"/>
              </a:rPr>
              <a:t>• отзывают же чаще вторую: находку радиолога — в 14,2 случая из ста, находку модели — в 4,6</a:t>
            </a:r>
          </a:p>
          <a:p>
            <a:pPr algn="l">
              <a:lnSpc>
                <a:spcPct val="126000"/>
              </a:lnSpc>
              <a:spcBef>
                <a:spcPts val="700"/>
              </a:spcBef>
            </a:pPr>
            <a:r>
              <a:rPr sz="1500" b="0" i="0">
                <a:solidFill>
                  <a:srgbClr val="21295C"/>
                </a:solidFill>
                <a:latin typeface="Arial"/>
              </a:rPr>
              <a:t/>
            </a:r>
            <a:r>
              <a:rPr sz="1500" b="0" i="0">
                <a:solidFill>
                  <a:srgbClr val="21295C"/>
                </a:solidFill>
                <a:latin typeface="Arial"/>
              </a:rPr>
              <a:t>То есть доверия к модели здесь </a:t>
            </a:r>
            <a:r>
              <a:rPr sz="1500" b="1" i="0">
                <a:solidFill>
                  <a:srgbClr val="21295C"/>
                </a:solidFill>
                <a:latin typeface="Arial"/>
              </a:rPr>
              <a:t>слишком мало</a:t>
            </a:r>
            <a:r>
              <a:rPr sz="1500" b="0" i="0">
                <a:solidFill>
                  <a:srgbClr val="21295C"/>
                </a:solidFill>
                <a:latin typeface="Arial"/>
              </a:rPr>
              <a:t>.</a:t>
            </a:r>
          </a:p>
          <a:p>
            <a:pPr algn="l">
              <a:lnSpc>
                <a:spcPct val="126000"/>
              </a:lnSpc>
              <a:spcBef>
                <a:spcPts val="700"/>
              </a:spcBef>
            </a:pPr>
            <a:r>
              <a:rPr sz="1200" b="0" i="0">
                <a:solidFill>
                  <a:srgbClr val="21295C"/>
                </a:solidFill>
                <a:latin typeface="Arial"/>
              </a:rPr>
              <a:t/>
            </a:r>
            <a:r>
              <a:rPr sz="1200" b="0" i="1">
                <a:solidFill>
                  <a:srgbClr val="1C7293"/>
                </a:solidFill>
                <a:latin typeface="Arial"/>
              </a:rPr>
              <a:t>54 991 женщина, три независимых источника на каждое исследование. Знаменатели почти равны: 1 858 находок радиолога против 1 886 находок системы.</a:t>
            </a:r>
          </a:p>
        </p:txBody>
      </p:sp>
      <p:sp>
        <p:nvSpPr>
          <p:cNvPr id="20" name="Rectangle 19"/>
          <p:cNvSpPr/>
          <p:nvPr/>
        </p:nvSpPr>
        <p:spPr>
          <a:xfrm>
            <a:off x="6091275" y="3530517"/>
            <a:ext cx="9144" cy="2554289"/>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Итоговый анализ той же программы — Gommers J., … Lång K., The Lancet 2026</a:t>
            </a:r>
            <a:r>
              <a:rPr sz="1200" b="0" i="1">
                <a:solidFill>
                  <a:srgbClr val="1C7293"/>
                </a:solidFill>
                <a:latin typeface="Arial"/>
              </a:rPr>
              <a:t> · </a:t>
            </a:r>
            <a:r>
              <a:rPr sz="1200" b="0" i="1" u="sng">
                <a:solidFill>
                  <a:srgbClr val="065A82"/>
                </a:solidFill>
                <a:latin typeface="Arial"/>
                <a:hlinkClick r:id="rId3"/>
              </a:rPr>
              <a:t>Dembrower K. E. и соавт., Radiology 2025, проспективное исследование ScreenTrustCAD, 54 991 женщина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Доверие и стаж: что ломается, что не спасает и где потолок</a:t>
            </a:r>
          </a:p>
        </p:txBody>
      </p:sp>
      <p:sp>
        <p:nvSpPr>
          <p:cNvPr id="4" name="Rounded Rectangle 3"/>
          <p:cNvSpPr/>
          <p:nvPr/>
        </p:nvSpPr>
        <p:spPr>
          <a:xfrm>
            <a:off x="502920"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НЕВЕРНАЯ РАСШИФРОВКА РОНЯЕТ ТОЧНОСТЬ</a:t>
            </a:r>
          </a:p>
        </p:txBody>
      </p:sp>
      <p:sp>
        <p:nvSpPr>
          <p:cNvPr id="6" name="TextBox 5"/>
          <p:cNvSpPr txBox="1"/>
          <p:nvPr/>
        </p:nvSpPr>
        <p:spPr>
          <a:xfrm>
            <a:off x="640080"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на 43 пункта · на 59 пунктов</a:t>
            </a:r>
          </a:p>
        </p:txBody>
      </p:sp>
      <p:sp>
        <p:nvSpPr>
          <p:cNvPr id="7" name="TextBox 6"/>
          <p:cNvSpPr txBox="1"/>
          <p:nvPr/>
        </p:nvSpPr>
        <p:spPr>
          <a:xfrm>
            <a:off x="640080"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две группы стажёров; различает специальность</a:t>
            </a:r>
          </a:p>
        </p:txBody>
      </p:sp>
      <p:sp>
        <p:nvSpPr>
          <p:cNvPr id="8" name="Rounded Rectangle 7"/>
          <p:cNvSpPr/>
          <p:nvPr/>
        </p:nvSpPr>
        <p:spPr>
          <a:xfrm>
            <a:off x="3340531"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СТАЖ И ЗНАКОМСТВО С ИНСТРУМЕНТОМ</a:t>
            </a:r>
          </a:p>
        </p:txBody>
      </p:sp>
      <p:sp>
        <p:nvSpPr>
          <p:cNvPr id="10" name="TextBox 9"/>
          <p:cNvSpPr txBox="1"/>
          <p:nvPr/>
        </p:nvSpPr>
        <p:spPr>
          <a:xfrm>
            <a:off x="3477691" y="1932846"/>
            <a:ext cx="2398699"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выигрыша не предсказывают — предсказывает правота модели</a:t>
            </a:r>
          </a:p>
        </p:txBody>
      </p:sp>
      <p:sp>
        <p:nvSpPr>
          <p:cNvPr id="11" name="Rounded Rectangle 10"/>
          <p:cNvSpPr/>
          <p:nvPr/>
        </p:nvSpPr>
        <p:spPr>
          <a:xfrm>
            <a:off x="6178143"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СОГЛАСИЕ С НЕВЕРНОЙ ПОДСКАЗКОЙ: ОБЪЯСНЕНИЕ → ПРИЁМЫ ПОДАЧИ</a:t>
            </a:r>
          </a:p>
        </p:txBody>
      </p:sp>
      <p:sp>
        <p:nvSpPr>
          <p:cNvPr id="13" name="TextBox 12"/>
          <p:cNvSpPr txBox="1"/>
          <p:nvPr/>
        </p:nvSpPr>
        <p:spPr>
          <a:xfrm>
            <a:off x="6315303" y="2140317"/>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64 → 48 из ста</a:t>
            </a:r>
          </a:p>
        </p:txBody>
      </p:sp>
      <p:sp>
        <p:nvSpPr>
          <p:cNvPr id="14" name="TextBox 13"/>
          <p:cNvSpPr txBox="1"/>
          <p:nvPr/>
        </p:nvSpPr>
        <p:spPr>
          <a:xfrm>
            <a:off x="6315303" y="2567316"/>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минус 16 пунктов, на одной задаче</a:t>
            </a:r>
          </a:p>
        </p:txBody>
      </p:sp>
      <p:sp>
        <p:nvSpPr>
          <p:cNvPr id="15" name="Rounded Rectangle 14"/>
          <p:cNvSpPr/>
          <p:nvPr/>
        </p:nvSpPr>
        <p:spPr>
          <a:xfrm>
            <a:off x="9015755" y="1335024"/>
            <a:ext cx="2673019"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16" name="TextBox 15"/>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ОСТАЁТСЯ ПРИ САМОЙ СИЛЬНОЙ ИЗ МЕР</a:t>
            </a:r>
          </a:p>
        </p:txBody>
      </p:sp>
      <p:sp>
        <p:nvSpPr>
          <p:cNvPr id="17" name="TextBox 16"/>
          <p:cNvSpPr txBox="1"/>
          <p:nvPr/>
        </p:nvSpPr>
        <p:spPr>
          <a:xfrm>
            <a:off x="9152915" y="1932846"/>
            <a:ext cx="2398699"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48 согласий из ста</a:t>
            </a:r>
          </a:p>
        </p:txBody>
      </p:sp>
      <p:sp>
        <p:nvSpPr>
          <p:cNvPr id="18" name="Rounded Rectangle 17"/>
          <p:cNvSpPr/>
          <p:nvPr/>
        </p:nvSpPr>
        <p:spPr>
          <a:xfrm>
            <a:off x="374904" y="3401355"/>
            <a:ext cx="11441887" cy="2834852"/>
          </a:xfrm>
          <a:prstGeom prst="roundRect">
            <a:avLst>
              <a:gd name="adj" fmla="val 10751"/>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3492795"/>
            <a:ext cx="5373471" cy="2743412"/>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Что ломается.</a:t>
            </a:r>
            <a:r>
              <a:rPr sz="1350" b="0" i="0">
                <a:solidFill>
                  <a:srgbClr val="21295C"/>
                </a:solidFill>
                <a:latin typeface="Arial"/>
              </a:rPr>
              <a:t> База падения — </a:t>
            </a:r>
            <a:r>
              <a:rPr sz="1350" b="1" i="0">
                <a:solidFill>
                  <a:srgbClr val="21295C"/>
                </a:solidFill>
                <a:latin typeface="Arial"/>
              </a:rPr>
              <a:t>верная</a:t>
            </a:r>
            <a:r>
              <a:rPr sz="1350" b="0" i="0">
                <a:solidFill>
                  <a:srgbClr val="21295C"/>
                </a:solidFill>
                <a:latin typeface="Arial"/>
              </a:rPr>
              <a:t> расшифровка. Существеннее величины другое: у обеих групп слабеет связь уверенности с правотой.</a:t>
            </a:r>
          </a:p>
          <a:p>
            <a:pPr algn="l">
              <a:lnSpc>
                <a:spcPct val="126000"/>
              </a:lnSpc>
              <a:spcBef>
                <a:spcPts val="700"/>
              </a:spcBef>
            </a:pPr>
            <a:r>
              <a:rPr sz="1350" b="0" i="0">
                <a:solidFill>
                  <a:srgbClr val="21295C"/>
                </a:solidFill>
                <a:latin typeface="Arial"/>
              </a:rPr>
              <a:t/>
            </a:r>
            <a:r>
              <a:rPr sz="1350" b="1" i="0">
                <a:solidFill>
                  <a:srgbClr val="21295C"/>
                </a:solidFill>
                <a:latin typeface="Arial"/>
              </a:rPr>
              <a:t>Где потолок.</a:t>
            </a:r>
            <a:r>
              <a:rPr sz="1350" b="0" i="0">
                <a:solidFill>
                  <a:srgbClr val="21295C"/>
                </a:solidFill>
                <a:latin typeface="Arial"/>
              </a:rPr>
              <a:t> Переустройство подачи снижает согласие значимо — и при нём почти половина согласий остаётся. </a:t>
            </a:r>
            <a:r>
              <a:rPr sz="1350" b="0" i="1">
                <a:solidFill>
                  <a:srgbClr val="21295C"/>
                </a:solidFill>
                <a:latin typeface="Arial"/>
              </a:rPr>
              <a:t>Лабораторный опыт, 199 участников, задача не клиническая.</a:t>
            </a:r>
          </a:p>
          <a:p>
            <a:pPr algn="l">
              <a:lnSpc>
                <a:spcPct val="126000"/>
              </a:lnSpc>
              <a:spcBef>
                <a:spcPts val="700"/>
              </a:spcBef>
            </a:pPr>
            <a:r>
              <a:rPr sz="1350" b="0" i="0">
                <a:solidFill>
                  <a:srgbClr val="21295C"/>
                </a:solidFill>
                <a:latin typeface="Arial"/>
              </a:rPr>
              <a:t/>
            </a:r>
            <a:r>
              <a:rPr sz="1350" b="1" i="0">
                <a:solidFill>
                  <a:srgbClr val="21295C"/>
                </a:solidFill>
                <a:latin typeface="Arial"/>
              </a:rPr>
              <a:t>Не измерено, и это названо пробелом.</a:t>
            </a:r>
            <a:r>
              <a:rPr sz="1350" b="0" i="0">
                <a:solidFill>
                  <a:srgbClr val="21295C"/>
                </a:solidFill>
                <a:latin typeface="Arial"/>
              </a:rPr>
              <a:t> «Одна ошибка обрывает доверие» как величина не опубликована. Измерено другое: увидев промах алгоритма, человек реже выбирает его дальше.</a:t>
            </a:r>
          </a:p>
        </p:txBody>
      </p:sp>
      <p:sp>
        <p:nvSpPr>
          <p:cNvPr id="20" name="TextBox 19"/>
          <p:cNvSpPr txBox="1"/>
          <p:nvPr/>
        </p:nvSpPr>
        <p:spPr>
          <a:xfrm>
            <a:off x="6278727" y="3492795"/>
            <a:ext cx="5373471" cy="2743412"/>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Доверие откалибровано </a:t>
            </a:r>
            <a:r>
              <a:rPr sz="1350" b="1" i="0">
                <a:solidFill>
                  <a:srgbClr val="21295C"/>
                </a:solidFill>
                <a:latin typeface="Arial"/>
              </a:rPr>
              <a:t>не по тому признаку</a:t>
            </a:r>
            <a:r>
              <a:rPr sz="1350" b="0" i="0">
                <a:solidFill>
                  <a:srgbClr val="21295C"/>
                </a:solidFill>
                <a:latin typeface="Arial"/>
              </a:rPr>
              <a:t>: по подписи, по уверенности, по единичному промаху. Правота в этот счёт не входит.</a:t>
            </a:r>
          </a:p>
          <a:p>
            <a:pPr algn="l">
              <a:lnSpc>
                <a:spcPct val="126000"/>
              </a:lnSpc>
              <a:spcBef>
                <a:spcPts val="700"/>
              </a:spcBef>
            </a:pPr>
            <a:r>
              <a:rPr sz="1350" b="0" i="0">
                <a:solidFill>
                  <a:srgbClr val="21295C"/>
                </a:solidFill>
                <a:latin typeface="Arial"/>
              </a:rPr>
              <a:t/>
            </a:r>
            <a:r>
              <a:rPr sz="1350" b="0" i="0">
                <a:solidFill>
                  <a:srgbClr val="21295C"/>
                </a:solidFill>
                <a:latin typeface="Arial"/>
              </a:rPr>
              <a:t>Выводят подсказку в рабочее место через платформу-посредник:</a:t>
            </a:r>
          </a:p>
          <a:p>
            <a:pPr algn="l">
              <a:lnSpc>
                <a:spcPct val="126000"/>
              </a:lnSpc>
              <a:spcBef>
                <a:spcPts val="700"/>
              </a:spcBef>
            </a:pPr>
            <a:r>
              <a:rPr sz="1350" b="0" i="0">
                <a:solidFill>
                  <a:srgbClr val="21295C"/>
                </a:solidFill>
                <a:latin typeface="Arial"/>
              </a:rPr>
              <a:t/>
            </a:r>
            <a:r>
              <a:rPr sz="1350" b="0" i="0">
                <a:solidFill>
                  <a:srgbClr val="21295C"/>
                </a:solidFill>
                <a:latin typeface="Arial"/>
              </a:rPr>
              <a:t>• модули подключают по подписке: «какой алгоритм смотрит снимок» решается после закупки</a:t>
            </a:r>
          </a:p>
          <a:p>
            <a:pPr algn="l">
              <a:lnSpc>
                <a:spcPct val="126000"/>
              </a:lnSpc>
              <a:spcBef>
                <a:spcPts val="700"/>
              </a:spcBef>
            </a:pPr>
            <a:r>
              <a:rPr sz="1350" b="0" i="0">
                <a:solidFill>
                  <a:srgbClr val="21295C"/>
                </a:solidFill>
                <a:latin typeface="Arial"/>
              </a:rPr>
              <a:t/>
            </a:r>
            <a:r>
              <a:rPr sz="1350" b="0" i="0">
                <a:solidFill>
                  <a:srgbClr val="21295C"/>
                </a:solidFill>
                <a:latin typeface="Arial"/>
              </a:rPr>
              <a:t>• точности платформа не добавляет — добавляет подпись «смотрела программа»</a:t>
            </a:r>
          </a:p>
        </p:txBody>
      </p:sp>
      <p:sp>
        <p:nvSpPr>
          <p:cNvPr id="21" name="Rectangle 20"/>
          <p:cNvSpPr/>
          <p:nvPr/>
        </p:nvSpPr>
        <p:spPr>
          <a:xfrm>
            <a:off x="6091275" y="3492795"/>
            <a:ext cx="9144" cy="2583995"/>
          </a:xfrm>
          <a:prstGeom prst="rect">
            <a:avLst/>
          </a:prstGeom>
          <a:solidFill>
            <a:srgbClr val="D9E2EC"/>
          </a:solidFill>
          <a:ln>
            <a:noFill/>
          </a:ln>
          <a:effectLst/>
        </p:spPr>
        <p:txBody>
          <a:bodyPr rtlCol="0" anchor="ctr"/>
          <a:lstStyle/>
          <a:p>
            <a:pPr algn="ctr"/>
          </a:p>
        </p:txBody>
      </p:sp>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Bond R. R. и соавт., Journal of Electrocardiology 2018</a:t>
            </a:r>
            <a:r>
              <a:rPr sz="1200" b="0" i="1">
                <a:solidFill>
                  <a:srgbClr val="1C7293"/>
                </a:solidFill>
                <a:latin typeface="Arial"/>
              </a:rPr>
              <a:t> · </a:t>
            </a:r>
            <a:r>
              <a:rPr sz="1200" b="0" i="1" u="sng">
                <a:solidFill>
                  <a:srgbClr val="065A82"/>
                </a:solidFill>
                <a:latin typeface="Arial"/>
                <a:hlinkClick r:id="rId3"/>
              </a:rPr>
              <a:t>Yu F. и соавт., Nature Medicine 2024</a:t>
            </a:r>
            <a:r>
              <a:rPr sz="1200" b="0" i="1">
                <a:solidFill>
                  <a:srgbClr val="1C7293"/>
                </a:solidFill>
                <a:latin typeface="Arial"/>
              </a:rPr>
              <a:t> · </a:t>
            </a:r>
            <a:r>
              <a:rPr sz="1200" b="0" i="1" u="sng">
                <a:solidFill>
                  <a:srgbClr val="065A82"/>
                </a:solidFill>
                <a:latin typeface="Arial"/>
                <a:hlinkClick r:id="rId4"/>
              </a:rPr>
              <a:t>Buçinca Z. и соавт., To Trust or to Think, CSCW 2021</a:t>
            </a:r>
            <a:r>
              <a:rPr sz="1200" b="0" i="1">
                <a:solidFill>
                  <a:srgbClr val="1C7293"/>
                </a:solidFill>
                <a:latin typeface="Arial"/>
              </a:rPr>
              <a:t> · </a:t>
            </a:r>
            <a:r>
              <a:rPr sz="1200" b="0" i="1" u="sng">
                <a:solidFill>
                  <a:srgbClr val="065A82"/>
                </a:solidFill>
                <a:latin typeface="Arial"/>
                <a:hlinkClick r:id="rId5"/>
              </a:rPr>
              <a:t>Dietvorst B. и соавт., Algorithm Aversion, Journal of Experimental Psychology: General 2015, названный пробел</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Правило, собранное из ста шести опытов</a:t>
            </a:r>
          </a:p>
        </p:txBody>
      </p:sp>
      <p:sp>
        <p:nvSpPr>
          <p:cNvPr id="4" name="Rounded Rectangle 3"/>
          <p:cNvSpPr/>
          <p:nvPr/>
        </p:nvSpPr>
        <p:spPr>
          <a:xfrm>
            <a:off x="502920"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СИЛЬНЕЕ ЧЕЛОВЕКА: ПАРА ХУЖЕ МОДЕЛИ</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−0,54</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размер эффекта в долях разброса; интервал от −0,71 до −0,37</a:t>
            </a:r>
          </a:p>
        </p:txBody>
      </p:sp>
      <p:sp>
        <p:nvSpPr>
          <p:cNvPr id="8" name="Rounded Rectangle 7"/>
          <p:cNvSpPr/>
          <p:nvPr/>
        </p:nvSpPr>
        <p:spPr>
          <a:xfrm>
            <a:off x="4286402" y="1335024"/>
            <a:ext cx="3618890"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ЧЕЛОВЕК СИЛЬНЕЕ МОДЕЛИ: ПАРА ЛУЧШЕ ОБЕИХ СТОРОН</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+0,46</a:t>
            </a:r>
          </a:p>
        </p:txBody>
      </p:sp>
      <p:sp>
        <p:nvSpPr>
          <p:cNvPr id="11" name="TextBox 10"/>
          <p:cNvSpPr txBox="1"/>
          <p:nvPr/>
        </p:nvSpPr>
        <p:spPr>
          <a:xfrm>
            <a:off x="4423562"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интервал от 0,28 до 0,66 — целиком выше нуля</a:t>
            </a:r>
          </a:p>
        </p:txBody>
      </p:sp>
      <p:sp>
        <p:nvSpPr>
          <p:cNvPr id="12" name="Rounded Rectangle 11"/>
          <p:cNvSpPr/>
          <p:nvPr/>
        </p:nvSpPr>
        <p:spPr>
          <a:xfrm>
            <a:off x="8069884"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a:t>
            </a:r>
          </a:p>
        </p:txBody>
      </p:sp>
      <p:sp>
        <p:nvSpPr>
          <p:cNvPr id="14" name="TextBox 13"/>
          <p:cNvSpPr txBox="1"/>
          <p:nvPr/>
        </p:nvSpPr>
        <p:spPr>
          <a:xfrm>
            <a:off x="8207044" y="1725375"/>
            <a:ext cx="3344570"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74 работы · 106 опытов · 370 размеров эффекта</a:t>
            </a:r>
          </a:p>
        </p:txBody>
      </p:sp>
      <p:sp>
        <p:nvSpPr>
          <p:cNvPr id="15" name="TextBox 14"/>
          <p:cNvSpPr txBox="1"/>
          <p:nvPr/>
        </p:nvSpPr>
        <p:spPr>
          <a:xfrm>
            <a:off x="8207044" y="24748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5 126 просмотренных работ</a:t>
            </a:r>
          </a:p>
        </p:txBody>
      </p:sp>
      <p:sp>
        <p:nvSpPr>
          <p:cNvPr id="16" name="Rounded Rectangle 15"/>
          <p:cNvSpPr/>
          <p:nvPr/>
        </p:nvSpPr>
        <p:spPr>
          <a:xfrm>
            <a:off x="374904" y="3010932"/>
            <a:ext cx="11441887" cy="2739709"/>
          </a:xfrm>
          <a:prstGeom prst="roundRect">
            <a:avLst>
              <a:gd name="adj" fmla="val 1112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02372"/>
            <a:ext cx="5373471" cy="3133835"/>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Четыре разбора дали четыре разных исхода: падение · оба знака сразу · нуль · выигрыш. По отдельному испытанию правило не строится — вот оно, собранное из ста шести: предрегистрированный мета-анализ.</a:t>
            </a:r>
          </a:p>
          <a:p>
            <a:pPr algn="l">
              <a:lnSpc>
                <a:spcPct val="126000"/>
              </a:lnSpc>
              <a:spcBef>
                <a:spcPts val="700"/>
              </a:spcBef>
            </a:pPr>
            <a:r>
              <a:rPr sz="1500" b="0" i="0">
                <a:solidFill>
                  <a:srgbClr val="21295C"/>
                </a:solidFill>
                <a:latin typeface="Arial"/>
              </a:rPr>
              <a:t/>
            </a:r>
            <a:r>
              <a:rPr sz="1500" b="1" i="0">
                <a:solidFill>
                  <a:srgbClr val="21295C"/>
                </a:solidFill>
                <a:latin typeface="Arial"/>
              </a:rPr>
              <a:t>Оговорка, без которой число врёт:</a:t>
            </a:r>
            <a:r>
              <a:rPr sz="1500" b="0" i="0">
                <a:solidFill>
                  <a:srgbClr val="21295C"/>
                </a:solidFill>
                <a:latin typeface="Arial"/>
              </a:rPr>
              <a:t> общий результат считается против </a:t>
            </a:r>
            <a:r>
              <a:rPr sz="1500" b="1" i="0">
                <a:solidFill>
                  <a:srgbClr val="21295C"/>
                </a:solidFill>
                <a:latin typeface="Arial"/>
              </a:rPr>
              <a:t>лучшей</a:t>
            </a:r>
            <a:r>
              <a:rPr sz="1500" b="0" i="0">
                <a:solidFill>
                  <a:srgbClr val="21295C"/>
                </a:solidFill>
                <a:latin typeface="Arial"/>
              </a:rPr>
              <a:t> из двух сторон. </a:t>
            </a:r>
            <a:r>
              <a:rPr sz="1500" b="1" i="0">
                <a:solidFill>
                  <a:srgbClr val="21295C"/>
                </a:solidFill>
                <a:latin typeface="Arial"/>
              </a:rPr>
              <a:t>Человека одного пара всё-таки обходит</a:t>
            </a:r>
            <a:r>
              <a:rPr sz="1500" b="0" i="0">
                <a:solidFill>
                  <a:srgbClr val="21295C"/>
                </a:solidFill>
                <a:latin typeface="Arial"/>
              </a:rPr>
              <a:t> — размер эффекта 0,64 при интервале от 0,53 до 0,74.</a:t>
            </a:r>
          </a:p>
        </p:txBody>
      </p:sp>
      <p:sp>
        <p:nvSpPr>
          <p:cNvPr id="18" name="TextBox 17"/>
          <p:cNvSpPr txBox="1"/>
          <p:nvPr/>
        </p:nvSpPr>
        <p:spPr>
          <a:xfrm>
            <a:off x="6278727" y="3102372"/>
            <a:ext cx="5373471" cy="3133835"/>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Теперь «помогает ли ИИ» читается как вопрос о том, кто в этой паре сильнее на этой задаче.</a:t>
            </a:r>
          </a:p>
          <a:p>
            <a:pPr algn="l">
              <a:lnSpc>
                <a:spcPct val="126000"/>
              </a:lnSpc>
              <a:spcBef>
                <a:spcPts val="700"/>
              </a:spcBef>
            </a:pPr>
            <a:r>
              <a:rPr sz="1200" b="0" i="0">
                <a:solidFill>
                  <a:srgbClr val="21295C"/>
                </a:solidFill>
                <a:latin typeface="Arial"/>
              </a:rPr>
              <a:t/>
            </a:r>
            <a:r>
              <a:rPr sz="1200" b="0" i="1">
                <a:solidFill>
                  <a:srgbClr val="1C7293"/>
                </a:solidFill>
                <a:latin typeface="Arial"/>
              </a:rPr>
              <a:t>Свод замеров: внедрённого процесса за ним нет, исходов пациентов он не касается, опыты в нём разной природы. Правило не привязано к модальности.</a:t>
            </a:r>
          </a:p>
        </p:txBody>
      </p:sp>
      <p:sp>
        <p:nvSpPr>
          <p:cNvPr id="19" name="Rectangle 18"/>
          <p:cNvSpPr/>
          <p:nvPr/>
        </p:nvSpPr>
        <p:spPr>
          <a:xfrm>
            <a:off x="6091275" y="3102372"/>
            <a:ext cx="9144" cy="2465389"/>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Vaccaro M., Almaatouq A., Malone T., When combinations of humans and AI are useful: a systematic review and meta-analysis, Nature Human Behaviour 2024;8:2293–2303, DOI 10.1038/s41562-024-02024-1</a:t>
            </a:r>
            <a:r>
              <a:rPr sz="1200" b="0" i="1">
                <a:solidFill>
                  <a:srgbClr val="1C7293"/>
                </a:solidFill>
                <a:latin typeface="Arial"/>
              </a:rPr>
              <a:t> · </a:t>
            </a:r>
            <a:r>
              <a:rPr sz="1200" b="0" i="1" u="sng">
                <a:solidFill>
                  <a:srgbClr val="065A82"/>
                </a:solidFill>
                <a:latin typeface="Arial"/>
                <a:hlinkClick r:id="rId3"/>
              </a:rPr>
              <a:t>открытый препринт той же версии, arXiv:2405.06087v2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Диагноз: один инструмент уронил результат и поднял его — разошлось устройство процедуры</a:t>
            </a:r>
          </a:p>
        </p:txBody>
      </p:sp>
      <p:sp>
        <p:nvSpPr>
          <p:cNvPr id="4" name="Rounded Rectangle 3"/>
          <p:cNvSpPr/>
          <p:nvPr/>
        </p:nvSpPr>
        <p:spPr>
          <a:xfrm>
            <a:off x="374904" y="1243584"/>
            <a:ext cx="11441887" cy="4610975"/>
          </a:xfrm>
          <a:prstGeom prst="roundRect">
            <a:avLst>
              <a:gd name="adj" fmla="val 661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5373471"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получается.</a:t>
            </a:r>
            <a:r>
              <a:rPr sz="1500" b="0" i="0">
                <a:solidFill>
                  <a:srgbClr val="21295C"/>
                </a:solidFill>
                <a:latin typeface="Arial"/>
              </a:rPr>
              <a:t> Второй взгляд на поток, который человеку не прочесть целиком. Напоминание о редком диагнозе, которого в списке не появилось бы. В одном устройстве процедуры пара сильнее обеих сторон: 80,5 против 73,8 из ста.</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не получается.</a:t>
            </a:r>
            <a:r>
              <a:rPr sz="1500" b="0" i="0">
                <a:solidFill>
                  <a:srgbClr val="21295C"/>
                </a:solidFill>
                <a:latin typeface="Arial"/>
              </a:rPr>
              <a:t> Независимость: подсказка видна до собственного вывода. Избирательность: не поверить именно там, где модель ошиблась, не смог никто. Объяснимость: упрощённое объяснение неверной рекомендации роняет выбор препарата с </a:t>
            </a:r>
            <a:r>
              <a:rPr sz="1500" b="1" i="0">
                <a:solidFill>
                  <a:srgbClr val="21295C"/>
                </a:solidFill>
                <a:latin typeface="Arial"/>
              </a:rPr>
              <a:t>35,7 до 26,2 из ста</a:t>
            </a:r>
            <a:r>
              <a:rPr sz="1500" b="0" i="0">
                <a:solidFill>
                  <a:srgbClr val="21295C"/>
                </a:solidFill>
                <a:latin typeface="Arial"/>
              </a:rPr>
              <a:t> — ниже работы вообще без модели.</a:t>
            </a:r>
          </a:p>
        </p:txBody>
      </p:sp>
      <p:sp>
        <p:nvSpPr>
          <p:cNvPr id="6" name="TextBox 5"/>
          <p:cNvSpPr txBox="1"/>
          <p:nvPr/>
        </p:nvSpPr>
        <p:spPr>
          <a:xfrm>
            <a:off x="6278727" y="1335024"/>
            <a:ext cx="5373471"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стало с работой.</a:t>
            </a:r>
            <a:r>
              <a:rPr sz="1500" b="0" i="0">
                <a:solidFill>
                  <a:srgbClr val="21295C"/>
                </a:solidFill>
                <a:latin typeface="Arial"/>
              </a:rPr>
              <a:t> </a:t>
            </a:r>
            <a:r>
              <a:rPr sz="1500" b="1" i="0">
                <a:solidFill>
                  <a:srgbClr val="21295C"/>
                </a:solidFill>
                <a:latin typeface="Arial"/>
              </a:rPr>
              <a:t>Нагрузка на том же месте упала</a:t>
            </a:r>
            <a:r>
              <a:rPr sz="1500" b="0" i="0">
                <a:solidFill>
                  <a:srgbClr val="21295C"/>
                </a:solidFill>
                <a:latin typeface="Arial"/>
              </a:rPr>
              <a:t> — знак этой формы задаёт правота подсказки. </a:t>
            </a:r>
            <a:r>
              <a:rPr sz="1500" b="1" i="0">
                <a:solidFill>
                  <a:srgbClr val="21295C"/>
                </a:solidFill>
                <a:latin typeface="Arial"/>
              </a:rPr>
              <a:t>Сместилась цена ошибки</a:t>
            </a:r>
            <a:r>
              <a:rPr sz="1500" b="0" i="0">
                <a:solidFill>
                  <a:srgbClr val="21295C"/>
                </a:solidFill>
                <a:latin typeface="Arial"/>
              </a:rPr>
              <a:t> — пропуск модели стал пропуском читателя, подписанным человеком. </a:t>
            </a:r>
            <a:r>
              <a:rPr sz="1500" b="1" i="0">
                <a:solidFill>
                  <a:srgbClr val="21295C"/>
                </a:solidFill>
                <a:latin typeface="Arial"/>
              </a:rPr>
              <a:t>Сменился исполнитель</a:t>
            </a:r>
            <a:r>
              <a:rPr sz="1500" b="0" i="0">
                <a:solidFill>
                  <a:srgbClr val="21295C"/>
                </a:solidFill>
                <a:latin typeface="Arial"/>
              </a:rPr>
              <a:t> — вторым читателем стала модель, и объём человеческого чтения упал следом.</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это держит.</a:t>
            </a:r>
            <a:r>
              <a:rPr sz="1500" b="0" i="0">
                <a:solidFill>
                  <a:srgbClr val="21295C"/>
                </a:solidFill>
                <a:latin typeface="Arial"/>
              </a:rPr>
              <a:t> Порядок предъявления подсказки: параметр с измеренной ценой. Арбитраж третьим читателем — только там, где человек и модель разошлись. </a:t>
            </a:r>
            <a:r>
              <a:rPr sz="1500" b="1" i="0">
                <a:solidFill>
                  <a:srgbClr val="21295C"/>
                </a:solidFill>
                <a:latin typeface="Arial"/>
              </a:rPr>
              <a:t>Прочерк: ступень участия человека нигде не записана, и неназначенная сползает к подписи не глядя</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Один и тот же инструмент уронил результат в одном разборе и поднял в контрольной линии: разошлось устройство процедуры.</a:t>
            </a:r>
          </a:p>
        </p:txBody>
      </p:sp>
      <p:sp>
        <p:nvSpPr>
          <p:cNvPr id="7" name="Rectangle 6"/>
          <p:cNvSpPr/>
          <p:nvPr/>
        </p:nvSpPr>
        <p:spPr>
          <a:xfrm>
            <a:off x="6091275" y="1335024"/>
            <a:ext cx="9144" cy="4336655"/>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726829"/>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раздела: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1854328" cy="374263"/>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561720"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
            </a:r>
          </a:p>
        </p:txBody>
      </p:sp>
      <p:sp>
        <p:nvSpPr>
          <p:cNvPr id="7" name="Rectangle 6"/>
          <p:cNvSpPr/>
          <p:nvPr/>
        </p:nvSpPr>
        <p:spPr>
          <a:xfrm>
            <a:off x="2393824" y="1335024"/>
            <a:ext cx="2408090" cy="374263"/>
          </a:xfrm>
          <a:prstGeom prst="rect">
            <a:avLst/>
          </a:prstGeom>
          <a:solidFill>
            <a:srgbClr val="065A82"/>
          </a:solidFill>
          <a:ln>
            <a:noFill/>
          </a:ln>
          <a:effectLst/>
        </p:spPr>
        <p:txBody>
          <a:bodyPr rtlCol="0" anchor="ctr"/>
          <a:lstStyle/>
          <a:p>
            <a:pPr algn="ctr"/>
          </a:p>
        </p:txBody>
      </p:sp>
      <p:sp>
        <p:nvSpPr>
          <p:cNvPr id="8" name="TextBox 7"/>
          <p:cNvSpPr txBox="1"/>
          <p:nvPr/>
        </p:nvSpPr>
        <p:spPr>
          <a:xfrm>
            <a:off x="2540128" y="1335024"/>
            <a:ext cx="2115482"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текст</a:t>
            </a:r>
          </a:p>
        </p:txBody>
      </p:sp>
      <p:sp>
        <p:nvSpPr>
          <p:cNvPr id="9" name="Rectangle 8"/>
          <p:cNvSpPr/>
          <p:nvPr/>
        </p:nvSpPr>
        <p:spPr>
          <a:xfrm>
            <a:off x="4801914" y="1335024"/>
            <a:ext cx="4345302" cy="374263"/>
          </a:xfrm>
          <a:prstGeom prst="rect">
            <a:avLst/>
          </a:prstGeom>
          <a:solidFill>
            <a:srgbClr val="065A82"/>
          </a:solidFill>
          <a:ln>
            <a:noFill/>
          </a:ln>
          <a:effectLst/>
        </p:spPr>
        <p:txBody>
          <a:bodyPr rtlCol="0" anchor="ctr"/>
          <a:lstStyle/>
          <a:p>
            <a:pPr algn="ctr"/>
          </a:p>
        </p:txBody>
      </p:sp>
      <p:sp>
        <p:nvSpPr>
          <p:cNvPr id="10" name="TextBox 9"/>
          <p:cNvSpPr txBox="1"/>
          <p:nvPr/>
        </p:nvSpPr>
        <p:spPr>
          <a:xfrm>
            <a:off x="4948218" y="1335024"/>
            <a:ext cx="4052694"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изображение</a:t>
            </a:r>
          </a:p>
        </p:txBody>
      </p:sp>
      <p:sp>
        <p:nvSpPr>
          <p:cNvPr id="11" name="Rectangle 10"/>
          <p:cNvSpPr/>
          <p:nvPr/>
        </p:nvSpPr>
        <p:spPr>
          <a:xfrm>
            <a:off x="9147216" y="1335024"/>
            <a:ext cx="2504982" cy="374263"/>
          </a:xfrm>
          <a:prstGeom prst="rect">
            <a:avLst/>
          </a:prstGeom>
          <a:solidFill>
            <a:srgbClr val="065A82"/>
          </a:solidFill>
          <a:ln>
            <a:noFill/>
          </a:ln>
          <a:effectLst/>
        </p:spPr>
        <p:txBody>
          <a:bodyPr rtlCol="0" anchor="ctr"/>
          <a:lstStyle/>
          <a:p>
            <a:pPr algn="ctr"/>
          </a:p>
        </p:txBody>
      </p:sp>
      <p:sp>
        <p:nvSpPr>
          <p:cNvPr id="12" name="TextBox 11"/>
          <p:cNvSpPr txBox="1"/>
          <p:nvPr/>
        </p:nvSpPr>
        <p:spPr>
          <a:xfrm>
            <a:off x="9293520" y="1335024"/>
            <a:ext cx="2212374"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структурированные данные</a:t>
            </a:r>
          </a:p>
        </p:txBody>
      </p:sp>
      <p:sp>
        <p:nvSpPr>
          <p:cNvPr id="13" name="Rectangle 12"/>
          <p:cNvSpPr/>
          <p:nvPr/>
        </p:nvSpPr>
        <p:spPr>
          <a:xfrm>
            <a:off x="539496" y="1709287"/>
            <a:ext cx="1854328" cy="374263"/>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09287"/>
            <a:ext cx="1561720"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классификация</a:t>
            </a:r>
          </a:p>
        </p:txBody>
      </p:sp>
      <p:sp>
        <p:nvSpPr>
          <p:cNvPr id="15" name="Rectangle 14"/>
          <p:cNvSpPr/>
          <p:nvPr/>
        </p:nvSpPr>
        <p:spPr>
          <a:xfrm>
            <a:off x="2393824" y="1709287"/>
            <a:ext cx="2408090" cy="374263"/>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2540128" y="1709287"/>
            <a:ext cx="2115482"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17" name="Rectangle 16"/>
          <p:cNvSpPr/>
          <p:nvPr/>
        </p:nvSpPr>
        <p:spPr>
          <a:xfrm>
            <a:off x="4801914" y="1709287"/>
            <a:ext cx="4345302" cy="374263"/>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4948218" y="1709287"/>
            <a:ext cx="405269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подсказка по срезу (отбор · анализ)</a:t>
            </a:r>
          </a:p>
        </p:txBody>
      </p:sp>
      <p:sp>
        <p:nvSpPr>
          <p:cNvPr id="19" name="Rectangle 18"/>
          <p:cNvSpPr/>
          <p:nvPr/>
        </p:nvSpPr>
        <p:spPr>
          <a:xfrm>
            <a:off x="9147216" y="1709287"/>
            <a:ext cx="2504982" cy="374263"/>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9293520" y="1709287"/>
            <a:ext cx="221237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1" name="Rectangle 20"/>
          <p:cNvSpPr/>
          <p:nvPr/>
        </p:nvSpPr>
        <p:spPr>
          <a:xfrm>
            <a:off x="539496" y="2083551"/>
            <a:ext cx="1854328" cy="374263"/>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083551"/>
            <a:ext cx="1561720"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распознавание</a:t>
            </a:r>
          </a:p>
        </p:txBody>
      </p:sp>
      <p:sp>
        <p:nvSpPr>
          <p:cNvPr id="23" name="Rectangle 22"/>
          <p:cNvSpPr/>
          <p:nvPr/>
        </p:nvSpPr>
        <p:spPr>
          <a:xfrm>
            <a:off x="2393824" y="2083551"/>
            <a:ext cx="2408090" cy="374263"/>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2540128" y="2083551"/>
            <a:ext cx="2115482"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5" name="Rectangle 24"/>
          <p:cNvSpPr/>
          <p:nvPr/>
        </p:nvSpPr>
        <p:spPr>
          <a:xfrm>
            <a:off x="4801914" y="2083551"/>
            <a:ext cx="4345302" cy="374263"/>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4948218" y="2083551"/>
            <a:ext cx="405269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замер взгляда · зеркало · контрольная линия (отбор)</a:t>
            </a:r>
          </a:p>
        </p:txBody>
      </p:sp>
      <p:sp>
        <p:nvSpPr>
          <p:cNvPr id="27" name="Rectangle 26"/>
          <p:cNvSpPr/>
          <p:nvPr/>
        </p:nvSpPr>
        <p:spPr>
          <a:xfrm>
            <a:off x="9147216" y="2083551"/>
            <a:ext cx="2504982" cy="374263"/>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9293520" y="2083551"/>
            <a:ext cx="221237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9" name="Rectangle 28"/>
          <p:cNvSpPr/>
          <p:nvPr/>
        </p:nvSpPr>
        <p:spPr>
          <a:xfrm>
            <a:off x="539496" y="2457815"/>
            <a:ext cx="1854328" cy="374263"/>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457815"/>
            <a:ext cx="1561720"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поиск с генерацией</a:t>
            </a:r>
          </a:p>
        </p:txBody>
      </p:sp>
      <p:sp>
        <p:nvSpPr>
          <p:cNvPr id="31" name="Rectangle 30"/>
          <p:cNvSpPr/>
          <p:nvPr/>
        </p:nvSpPr>
        <p:spPr>
          <a:xfrm>
            <a:off x="2393824" y="2457815"/>
            <a:ext cx="2408090" cy="374263"/>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540128" y="2457815"/>
            <a:ext cx="2115482"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измеренная тройка (отбор)</a:t>
            </a:r>
          </a:p>
        </p:txBody>
      </p:sp>
      <p:sp>
        <p:nvSpPr>
          <p:cNvPr id="33" name="Rectangle 32"/>
          <p:cNvSpPr/>
          <p:nvPr/>
        </p:nvSpPr>
        <p:spPr>
          <a:xfrm>
            <a:off x="4801914" y="2457815"/>
            <a:ext cx="4345302" cy="374263"/>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4948218" y="2457815"/>
            <a:ext cx="405269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35" name="Rectangle 34"/>
          <p:cNvSpPr/>
          <p:nvPr/>
        </p:nvSpPr>
        <p:spPr>
          <a:xfrm>
            <a:off x="9147216" y="2457815"/>
            <a:ext cx="2504982" cy="374263"/>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9293520" y="2457815"/>
            <a:ext cx="221237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37" name="Rectangle 36"/>
          <p:cNvSpPr/>
          <p:nvPr/>
        </p:nvSpPr>
        <p:spPr>
          <a:xfrm>
            <a:off x="539496" y="2832078"/>
            <a:ext cx="1854328" cy="374263"/>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832078"/>
            <a:ext cx="1561720"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прогноз</a:t>
            </a:r>
          </a:p>
        </p:txBody>
      </p:sp>
      <p:sp>
        <p:nvSpPr>
          <p:cNvPr id="39" name="Rectangle 38"/>
          <p:cNvSpPr/>
          <p:nvPr/>
        </p:nvSpPr>
        <p:spPr>
          <a:xfrm>
            <a:off x="2393824" y="2832078"/>
            <a:ext cx="2408090" cy="374263"/>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540128" y="2832078"/>
            <a:ext cx="2115482"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41" name="Rectangle 40"/>
          <p:cNvSpPr/>
          <p:nvPr/>
        </p:nvSpPr>
        <p:spPr>
          <a:xfrm>
            <a:off x="4801914" y="2832078"/>
            <a:ext cx="4345302" cy="374263"/>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4948218" y="2832078"/>
            <a:ext cx="405269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43" name="Rectangle 42"/>
          <p:cNvSpPr/>
          <p:nvPr/>
        </p:nvSpPr>
        <p:spPr>
          <a:xfrm>
            <a:off x="9147216" y="2832078"/>
            <a:ext cx="2504982" cy="374263"/>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9293520" y="2832078"/>
            <a:ext cx="2212374"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(анализ)</a:t>
            </a:r>
          </a:p>
        </p:txBody>
      </p:sp>
      <p:sp>
        <p:nvSpPr>
          <p:cNvPr id="45" name="TextBox 44"/>
          <p:cNvSpPr txBox="1"/>
          <p:nvPr/>
        </p:nvSpPr>
        <p:spPr>
          <a:xfrm>
            <a:off x="539496" y="3352646"/>
            <a:ext cx="11112703"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Полужирное — разбор этого раздела, светлое в скобках — раздел, занявший клетку раньше, прочерк — пусто.</a:t>
            </a:r>
            <a:r>
              <a:rPr sz="1200" b="0" i="0">
                <a:solidFill>
                  <a:srgbClr val="21295C"/>
                </a:solidFill>
                <a:latin typeface="Arial"/>
              </a:rPr>
              <a:t> Новых клеток раздел не добавил.</a:t>
            </a:r>
          </a:p>
        </p:txBody>
      </p:sp>
      <p:sp>
        <p:nvSpPr>
          <p:cNvPr id="46" name="TextBox 45"/>
          <p:cNvSpPr txBox="1"/>
          <p:nvPr/>
        </p:nvSpPr>
        <p:spPr>
          <a:xfrm>
            <a:off x="539496" y="3986193"/>
            <a:ext cx="11112703"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Одна клетка, один класс инструмента — три знака, и в одно число они не сводятся:</a:t>
            </a:r>
          </a:p>
        </p:txBody>
      </p:sp>
      <p:sp>
        <p:nvSpPr>
          <p:cNvPr id="47" name="Rounded Rectangle 46"/>
          <p:cNvSpPr/>
          <p:nvPr/>
        </p:nvSpPr>
        <p:spPr>
          <a:xfrm>
            <a:off x="630936" y="4459939"/>
            <a:ext cx="100584" cy="100584"/>
          </a:xfrm>
          <a:prstGeom prst="roundRect">
            <a:avLst>
              <a:gd name="adj" fmla="val 50000"/>
            </a:avLst>
          </a:prstGeom>
          <a:solidFill>
            <a:srgbClr val="028090"/>
          </a:solidFill>
          <a:ln>
            <a:noFill/>
          </a:ln>
          <a:effectLst/>
        </p:spPr>
        <p:txBody>
          <a:bodyPr rtlCol="0" anchor="ctr"/>
          <a:lstStyle/>
          <a:p>
            <a:pPr algn="ctr"/>
          </a:p>
        </p:txBody>
      </p:sp>
      <p:sp>
        <p:nvSpPr>
          <p:cNvPr id="48" name="TextBox 47"/>
          <p:cNvSpPr txBox="1"/>
          <p:nvPr/>
        </p:nvSpPr>
        <p:spPr>
          <a:xfrm>
            <a:off x="923544" y="4376119"/>
            <a:ext cx="10728655"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замер взгляда</a:t>
            </a:r>
            <a:r>
              <a:rPr sz="1200" b="0" i="0">
                <a:solidFill>
                  <a:srgbClr val="21295C"/>
                </a:solidFill>
                <a:latin typeface="Arial"/>
              </a:rPr>
              <a:t> — чувствительность читателя упала</a:t>
            </a:r>
          </a:p>
        </p:txBody>
      </p:sp>
      <p:sp>
        <p:nvSpPr>
          <p:cNvPr id="49" name="Rounded Rectangle 48"/>
          <p:cNvSpPr/>
          <p:nvPr/>
        </p:nvSpPr>
        <p:spPr>
          <a:xfrm>
            <a:off x="630936" y="4849864"/>
            <a:ext cx="100584" cy="100584"/>
          </a:xfrm>
          <a:prstGeom prst="roundRect">
            <a:avLst>
              <a:gd name="adj" fmla="val 50000"/>
            </a:avLst>
          </a:prstGeom>
          <a:solidFill>
            <a:srgbClr val="028090"/>
          </a:solidFill>
          <a:ln>
            <a:noFill/>
          </a:ln>
          <a:effectLst/>
        </p:spPr>
        <p:txBody>
          <a:bodyPr rtlCol="0" anchor="ctr"/>
          <a:lstStyle/>
          <a:p>
            <a:pPr algn="ctr"/>
          </a:p>
        </p:txBody>
      </p:sp>
      <p:sp>
        <p:nvSpPr>
          <p:cNvPr id="50" name="TextBox 49"/>
          <p:cNvSpPr txBox="1"/>
          <p:nvPr/>
        </p:nvSpPr>
        <p:spPr>
          <a:xfrm>
            <a:off x="923544" y="4766044"/>
            <a:ext cx="10728655"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зеркало</a:t>
            </a:r>
            <a:r>
              <a:rPr sz="1200" b="0" i="0">
                <a:solidFill>
                  <a:srgbClr val="21295C"/>
                </a:solidFill>
                <a:latin typeface="Arial"/>
              </a:rPr>
              <a:t> — поиск сузился так же, различение выросло</a:t>
            </a:r>
          </a:p>
        </p:txBody>
      </p:sp>
      <p:sp>
        <p:nvSpPr>
          <p:cNvPr id="51" name="Rounded Rectangle 50"/>
          <p:cNvSpPr/>
          <p:nvPr/>
        </p:nvSpPr>
        <p:spPr>
          <a:xfrm>
            <a:off x="630936" y="5239790"/>
            <a:ext cx="100584" cy="100584"/>
          </a:xfrm>
          <a:prstGeom prst="roundRect">
            <a:avLst>
              <a:gd name="adj" fmla="val 50000"/>
            </a:avLst>
          </a:prstGeom>
          <a:solidFill>
            <a:srgbClr val="028090"/>
          </a:solidFill>
          <a:ln>
            <a:noFill/>
          </a:ln>
          <a:effectLst/>
        </p:spPr>
        <p:txBody>
          <a:bodyPr rtlCol="0" anchor="ctr"/>
          <a:lstStyle/>
          <a:p>
            <a:pPr algn="ctr"/>
          </a:p>
        </p:txBody>
      </p:sp>
      <p:sp>
        <p:nvSpPr>
          <p:cNvPr id="52" name="TextBox 51"/>
          <p:cNvSpPr txBox="1"/>
          <p:nvPr/>
        </p:nvSpPr>
        <p:spPr>
          <a:xfrm>
            <a:off x="923544" y="5155970"/>
            <a:ext cx="10728655"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контрольная линия</a:t>
            </a:r>
            <a:r>
              <a:rPr sz="1200" b="0" i="0">
                <a:solidFill>
                  <a:srgbClr val="21295C"/>
                </a:solidFill>
                <a:latin typeface="Arial"/>
              </a:rPr>
              <a:t> — пара вышла сильнее обеих сторон</a:t>
            </a:r>
          </a:p>
        </p:txBody>
      </p:sp>
      <p:sp>
        <p:nvSpPr>
          <p:cNvPr id="53" name="TextBox 52"/>
          <p:cNvSpPr txBox="1"/>
          <p:nvPr/>
        </p:nvSpPr>
        <p:spPr>
          <a:xfrm>
            <a:off x="539496" y="5545895"/>
            <a:ext cx="11112703"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Восемь прочерков из двенадцати стоят неподвижно третий раздел подряд.</a:t>
            </a:r>
            <a:r>
              <a:rPr sz="1200" b="0" i="0">
                <a:solidFill>
                  <a:srgbClr val="21295C"/>
                </a:solidFill>
                <a:latin typeface="Arial"/>
              </a:rPr>
              <a:t> Вне окна — </a:t>
            </a:r>
            <a:r>
              <a:rPr sz="1200" b="0" i="1">
                <a:solidFill>
                  <a:srgbClr val="1C7293"/>
                </a:solidFill>
                <a:latin typeface="Arial"/>
              </a:rPr>
              <a:t>измерение · сигнал прибора</a:t>
            </a:r>
            <a:r>
              <a:rPr sz="1200" b="0" i="0">
                <a:solidFill>
                  <a:srgbClr val="21295C"/>
                </a:solidFill>
                <a:latin typeface="Arial"/>
              </a:rPr>
              <a:t> (анализ).</a:t>
            </a:r>
          </a:p>
        </p:txBody>
      </p:sp>
      <p:sp>
        <p:nvSpPr>
          <p:cNvPr id="54" name="Rounded Rectangle 53"/>
          <p:cNvSpPr/>
          <p:nvPr/>
        </p:nvSpPr>
        <p:spPr>
          <a:xfrm>
            <a:off x="630936" y="6019641"/>
            <a:ext cx="100584" cy="100584"/>
          </a:xfrm>
          <a:prstGeom prst="roundRect">
            <a:avLst>
              <a:gd name="adj" fmla="val 50000"/>
            </a:avLst>
          </a:prstGeom>
          <a:solidFill>
            <a:srgbClr val="028090"/>
          </a:solidFill>
          <a:ln>
            <a:noFill/>
          </a:ln>
          <a:effectLst/>
        </p:spPr>
        <p:txBody>
          <a:bodyPr rtlCol="0" anchor="ctr"/>
          <a:lstStyle/>
          <a:p>
            <a:pPr algn="ctr"/>
          </a:p>
        </p:txBody>
      </p:sp>
      <p:sp>
        <p:nvSpPr>
          <p:cNvPr id="55" name="TextBox 54"/>
          <p:cNvSpPr txBox="1"/>
          <p:nvPr/>
        </p:nvSpPr>
        <p:spPr>
          <a:xfrm>
            <a:off x="923544" y="5935821"/>
            <a:ext cx="10728655" cy="233876"/>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изделия занятых клеток — Transpara · Lunit INSIGHT MMG · Annalise · Aidoc · Paige · Abridge · Nabla · Dragon Copilot</a:t>
            </a:r>
          </a:p>
        </p:txBody>
      </p:sp>
      <p:sp>
        <p:nvSpPr>
          <p:cNvPr id="56" name="Rectangle 5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543800" y="914400"/>
            <a:ext cx="4144975" cy="3177311"/>
          </a:xfrm>
          <a:prstGeom prst="roundRect">
            <a:avLst>
              <a:gd name="adj" fmla="val 9593"/>
            </a:avLst>
          </a:prstGeom>
          <a:solidFill>
            <a:srgbClr val="F4F7FA"/>
          </a:solidFill>
          <a:ln w="19050">
            <a:solidFill>
              <a:srgbClr val="1C7293"/>
            </a:solidFill>
          </a:ln>
          <a:effectLst/>
        </p:spPr>
        <p:txBody>
          <a:bodyPr rtlCol="0" anchor="ctr"/>
          <a:lstStyle/>
          <a:p>
            <a:pPr algn="ctr"/>
          </a:p>
        </p:txBody>
      </p:sp>
      <p:pic>
        <p:nvPicPr>
          <p:cNvPr id="5" name="Picture 4" descr="s52-sestrinskiy-post.jpg"/>
          <p:cNvPicPr>
            <a:picLocks noChangeAspect="1"/>
          </p:cNvPicPr>
          <p:nvPr/>
        </p:nvPicPr>
        <p:blipFill>
          <a:blip r:embed="rId2"/>
          <a:stretch>
            <a:fillRect/>
          </a:stretch>
        </p:blipFill>
        <p:spPr>
          <a:xfrm>
            <a:off x="7680960" y="1051560"/>
            <a:ext cx="3870655" cy="2902991"/>
          </a:xfrm>
          <a:prstGeom prst="rect">
            <a:avLst/>
          </a:prstGeom>
        </p:spPr>
      </p:pic>
      <p:sp>
        <p:nvSpPr>
          <p:cNvPr id="6" name="TextBox 5"/>
          <p:cNvSpPr txBox="1"/>
          <p:nvPr/>
        </p:nvSpPr>
        <p:spPr>
          <a:xfrm>
            <a:off x="704088" y="960120"/>
            <a:ext cx="667512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4. Наблюдение за состоянием</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Решение принято, лечение назначено. Дальше состояние меняется — иногда за несколько часов.</a:t>
            </a:r>
          </a:p>
        </p:txBody>
      </p:sp>
      <p:sp>
        <p:nvSpPr>
          <p:cNvPr id="9" name="TextBox 8"/>
          <p:cNvSpPr txBox="1"/>
          <p:nvPr/>
        </p:nvSpPr>
        <p:spPr>
          <a:xfrm>
            <a:off x="704088" y="2613331"/>
            <a:ext cx="6473952"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Кто-то должен заметить перемену раньше, чем она станет очевидной.</a:t>
            </a:r>
          </a:p>
        </p:txBody>
      </p:sp>
      <p:sp>
        <p:nvSpPr>
          <p:cNvPr id="10" name="TextBox 9"/>
          <p:cNvSpPr txBox="1"/>
          <p:nvPr/>
        </p:nvSpPr>
        <p:spPr>
          <a:xfrm>
            <a:off x="704088" y="3080014"/>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 раздела один — </a:t>
            </a:r>
            <a:r>
              <a:rPr sz="1550" b="1" i="0">
                <a:solidFill>
                  <a:srgbClr val="21295C"/>
                </a:solidFill>
                <a:latin typeface="Arial"/>
              </a:rPr>
              <a:t>Пример 1: модель раннего предупреждения</a:t>
            </a:r>
            <a:r>
              <a:rPr sz="1550" b="0" i="0">
                <a:solidFill>
                  <a:srgbClr val="21295C"/>
                </a:solidFill>
                <a:latin typeface="Arial"/>
              </a:rPr>
              <a:t>.</a:t>
            </a:r>
          </a:p>
        </p:txBody>
      </p:sp>
      <p:sp>
        <p:nvSpPr>
          <p:cNvPr id="11" name="TextBox 10"/>
          <p:cNvSpPr txBox="1"/>
          <p:nvPr/>
        </p:nvSpPr>
        <p:spPr>
          <a:xfrm>
            <a:off x="704088" y="3848787"/>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 считает балл риска непрерывно, по тем же показателям, что снимает дежурная смена</a:t>
            </a:r>
          </a:p>
        </p:txBody>
      </p:sp>
      <p:sp>
        <p:nvSpPr>
          <p:cNvPr id="12" name="TextBox 11"/>
          <p:cNvSpPr txBox="1"/>
          <p:nvPr/>
        </p:nvSpPr>
        <p:spPr>
          <a:xfrm>
            <a:off x="704088" y="4617561"/>
            <a:ext cx="6473952"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 прерывает работу тревогой, когда балл переходит порог</a:t>
            </a:r>
          </a:p>
        </p:txBody>
      </p:sp>
      <p:sp>
        <p:nvSpPr>
          <p:cNvPr id="13" name="TextBox 12"/>
          <p:cNvSpPr txBox="1"/>
          <p:nvPr/>
        </p:nvSpPr>
        <p:spPr>
          <a:xfrm>
            <a:off x="704088" y="5084244"/>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До него — подача стадии и классический режим, который модель застала на этом месте.</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Что делают участники на стадии наблюдения — до всякой обученной модели</a:t>
            </a:r>
          </a:p>
        </p:txBody>
      </p:sp>
      <p:sp>
        <p:nvSpPr>
          <p:cNvPr id="4" name="TextBox 3"/>
          <p:cNvSpPr txBox="1"/>
          <p:nvPr/>
        </p:nvSpPr>
        <p:spPr>
          <a:xfrm>
            <a:off x="502920" y="13716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Обход по расписанию</a:t>
            </a:r>
          </a:p>
        </p:txBody>
      </p:sp>
      <p:sp>
        <p:nvSpPr>
          <p:cNvPr id="5" name="Rounded Rectangle 4"/>
          <p:cNvSpPr/>
          <p:nvPr/>
        </p:nvSpPr>
        <p:spPr>
          <a:xfrm>
            <a:off x="1920240"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измерение величин</a:t>
            </a:r>
          </a:p>
        </p:txBody>
      </p:sp>
      <p:sp>
        <p:nvSpPr>
          <p:cNvPr id="7" name="Right Arrow 6"/>
          <p:cNvSpPr/>
          <p:nvPr/>
        </p:nvSpPr>
        <p:spPr>
          <a:xfrm>
            <a:off x="5039258" y="1504140"/>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сравнение с нормой</a:t>
            </a:r>
          </a:p>
        </p:txBody>
      </p:sp>
      <p:sp>
        <p:nvSpPr>
          <p:cNvPr id="10" name="Right Arrow 9"/>
          <p:cNvSpPr/>
          <p:nvPr/>
        </p:nvSpPr>
        <p:spPr>
          <a:xfrm>
            <a:off x="8386876" y="1504140"/>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запись в лист наблюдения</a:t>
            </a:r>
          </a:p>
        </p:txBody>
      </p:sp>
      <p:sp>
        <p:nvSpPr>
          <p:cNvPr id="13" name="TextBox 12"/>
          <p:cNvSpPr txBox="1"/>
          <p:nvPr/>
        </p:nvSpPr>
        <p:spPr>
          <a:xfrm>
            <a:off x="502920" y="1846992"/>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Как собирается запись между обходами</a:t>
            </a:r>
          </a:p>
        </p:txBody>
      </p:sp>
      <p:sp>
        <p:nvSpPr>
          <p:cNvPr id="14" name="Rounded Rectangle 13"/>
          <p:cNvSpPr/>
          <p:nvPr/>
        </p:nvSpPr>
        <p:spPr>
          <a:xfrm>
            <a:off x="374904" y="2149676"/>
            <a:ext cx="11441887" cy="3957004"/>
          </a:xfrm>
          <a:prstGeom prst="roundRect">
            <a:avLst>
              <a:gd name="adj" fmla="val 7702"/>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2241116"/>
            <a:ext cx="5373471" cy="3995091"/>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Половина третьего ночи, отделение на тридцать коек: две сестры и дежурный врач на несколько отделений.</a:t>
            </a:r>
          </a:p>
          <a:p>
            <a:pPr algn="l">
              <a:lnSpc>
                <a:spcPct val="126000"/>
              </a:lnSpc>
              <a:spcBef>
                <a:spcPts val="700"/>
              </a:spcBef>
            </a:pPr>
            <a:r>
              <a:rPr sz="1400" b="0" i="0">
                <a:solidFill>
                  <a:srgbClr val="21295C"/>
                </a:solidFill>
                <a:latin typeface="Arial"/>
              </a:rPr>
              <a:t/>
            </a:r>
            <a:r>
              <a:rPr sz="1400" b="0" i="0">
                <a:solidFill>
                  <a:srgbClr val="21295C"/>
                </a:solidFill>
                <a:latin typeface="Arial"/>
              </a:rPr>
              <a:t>Сестра идёт по палатам с тележкой: дыхание, пульс, давление, температура — пара минут у постели.</a:t>
            </a:r>
          </a:p>
          <a:p>
            <a:pPr algn="l">
              <a:lnSpc>
                <a:spcPct val="126000"/>
              </a:lnSpc>
              <a:spcBef>
                <a:spcPts val="700"/>
              </a:spcBef>
            </a:pPr>
            <a:r>
              <a:rPr sz="1400" b="0" i="0">
                <a:solidFill>
                  <a:srgbClr val="21295C"/>
                </a:solidFill>
                <a:latin typeface="Arial"/>
              </a:rPr>
              <a:t/>
            </a:r>
            <a:r>
              <a:rPr sz="1400" b="0" i="0">
                <a:solidFill>
                  <a:srgbClr val="21295C"/>
                </a:solidFill>
                <a:latin typeface="Arial"/>
              </a:rPr>
              <a:t>Числа ложатся в бумажный бланк в ногах кровати; обход повторяется через несколько часов.</a:t>
            </a:r>
          </a:p>
          <a:p>
            <a:pPr algn="l">
              <a:lnSpc>
                <a:spcPct val="126000"/>
              </a:lnSpc>
              <a:spcBef>
                <a:spcPts val="700"/>
              </a:spcBef>
            </a:pPr>
            <a:r>
              <a:rPr sz="1400" b="0" i="0">
                <a:solidFill>
                  <a:srgbClr val="21295C"/>
                </a:solidFill>
                <a:latin typeface="Arial"/>
              </a:rPr>
              <a:t/>
            </a:r>
            <a:r>
              <a:rPr sz="1400" b="0" i="0">
                <a:solidFill>
                  <a:srgbClr val="21295C"/>
                </a:solidFill>
                <a:latin typeface="Arial"/>
              </a:rPr>
              <a:t>К утру дорожка измерений готова — и читает её тот, кто пациента ночью не видел.</a:t>
            </a:r>
          </a:p>
          <a:p>
            <a:pPr algn="l">
              <a:lnSpc>
                <a:spcPct val="126000"/>
              </a:lnSpc>
              <a:spcBef>
                <a:spcPts val="700"/>
              </a:spcBef>
            </a:pPr>
            <a:r>
              <a:rPr sz="1400" b="0" i="0">
                <a:solidFill>
                  <a:srgbClr val="21295C"/>
                </a:solidFill>
                <a:latin typeface="Arial"/>
              </a:rPr>
              <a:t/>
            </a:r>
            <a:r>
              <a:rPr sz="1400" b="1" i="0">
                <a:solidFill>
                  <a:srgbClr val="21295C"/>
                </a:solidFill>
                <a:latin typeface="Arial"/>
              </a:rPr>
              <a:t>Шесть действий стадии.</a:t>
            </a:r>
            <a:r>
              <a:rPr sz="1400" b="0" i="0">
                <a:solidFill>
                  <a:srgbClr val="21295C"/>
                </a:solidFill>
                <a:latin typeface="Arial"/>
              </a:rPr>
              <a:t> 1. Снять величины по расписанию · 2. Записать измерение в лист · 3. Перевести отклонения в баллы · 4. Сравнить сумму с порогом · 5. Выполнить назначенное действие · 6. Передать дорожку смене.</a:t>
            </a:r>
          </a:p>
        </p:txBody>
      </p:sp>
      <p:sp>
        <p:nvSpPr>
          <p:cNvPr id="16" name="TextBox 15"/>
          <p:cNvSpPr txBox="1"/>
          <p:nvPr/>
        </p:nvSpPr>
        <p:spPr>
          <a:xfrm>
            <a:off x="6278727" y="2241116"/>
            <a:ext cx="5373471" cy="3995091"/>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Без обученной модели каждое из шести делает человек по таблице</a:t>
            </a:r>
            <a:r>
              <a:rPr sz="1400" b="0" i="0">
                <a:solidFill>
                  <a:srgbClr val="21295C"/>
                </a:solidFill>
                <a:latin typeface="Arial"/>
              </a:rPr>
              <a:t>, веса в которой назначила комиссия и напечатала на карте.</a:t>
            </a:r>
          </a:p>
          <a:p>
            <a:pPr algn="l">
              <a:lnSpc>
                <a:spcPct val="126000"/>
              </a:lnSpc>
              <a:spcBef>
                <a:spcPts val="700"/>
              </a:spcBef>
            </a:pPr>
            <a:r>
              <a:rPr sz="1400" b="0" i="0">
                <a:solidFill>
                  <a:srgbClr val="21295C"/>
                </a:solidFill>
                <a:latin typeface="Arial"/>
              </a:rPr>
              <a:t/>
            </a:r>
            <a:r>
              <a:rPr sz="1400" b="1" i="0">
                <a:solidFill>
                  <a:srgbClr val="21295C"/>
                </a:solidFill>
                <a:latin typeface="Arial"/>
              </a:rPr>
              <a:t>С обученной моделью — три действия из шести:</a:t>
            </a:r>
            <a:r>
              <a:rPr sz="1400" b="0" i="0">
                <a:solidFill>
                  <a:srgbClr val="21295C"/>
                </a:solidFill>
                <a:latin typeface="Arial"/>
              </a:rPr>
              <a:t> счёт балла (3) · сравнение с порогом (4) · назначенное действие (5). Измерение, запись и передача дорожки остались людям.</a:t>
            </a:r>
          </a:p>
          <a:p>
            <a:pPr algn="l">
              <a:lnSpc>
                <a:spcPct val="126000"/>
              </a:lnSpc>
              <a:spcBef>
                <a:spcPts val="700"/>
              </a:spcBef>
            </a:pPr>
            <a:r>
              <a:rPr sz="1400" b="0" i="0">
                <a:solidFill>
                  <a:srgbClr val="21295C"/>
                </a:solidFill>
                <a:latin typeface="Arial"/>
              </a:rPr>
              <a:t/>
            </a:r>
            <a:r>
              <a:rPr sz="1400" b="1" i="0">
                <a:solidFill>
                  <a:srgbClr val="21295C"/>
                </a:solidFill>
                <a:latin typeface="Arial"/>
              </a:rPr>
              <a:t>Новый шаг — разобрать тревогу и отклонить её.</a:t>
            </a:r>
          </a:p>
          <a:p>
            <a:pPr algn="l">
              <a:lnSpc>
                <a:spcPct val="126000"/>
              </a:lnSpc>
              <a:spcBef>
                <a:spcPts val="700"/>
              </a:spcBef>
            </a:pPr>
            <a:r>
              <a:rPr sz="1400" b="0" i="0">
                <a:solidFill>
                  <a:srgbClr val="21295C"/>
                </a:solidFill>
                <a:latin typeface="Arial"/>
              </a:rPr>
              <a:t/>
            </a:r>
            <a:r>
              <a:rPr sz="1400" b="0" i="0">
                <a:solidFill>
                  <a:srgbClr val="21295C"/>
                </a:solidFill>
                <a:latin typeface="Arial"/>
              </a:rPr>
              <a:t>Ухудшение читается по направлению дорожки: 78 → 92 → 104 при падающем давлении говорит больше каждого числа отдельно.</a:t>
            </a:r>
          </a:p>
          <a:p>
            <a:pPr algn="l">
              <a:lnSpc>
                <a:spcPct val="126000"/>
              </a:lnSpc>
              <a:spcBef>
                <a:spcPts val="700"/>
              </a:spcBef>
            </a:pPr>
            <a:r>
              <a:rPr sz="1400" b="0" i="0">
                <a:solidFill>
                  <a:srgbClr val="21295C"/>
                </a:solidFill>
                <a:latin typeface="Arial"/>
              </a:rPr>
              <a:t/>
            </a:r>
            <a:r>
              <a:rPr sz="1400" b="0" i="0">
                <a:solidFill>
                  <a:srgbClr val="21295C"/>
                </a:solidFill>
                <a:latin typeface="Arial"/>
              </a:rPr>
              <a:t>Решение одно и повторяющееся: звать старшего сейчас или на следующем обходе. </a:t>
            </a:r>
            <a:r>
              <a:rPr sz="1400" b="1" i="0">
                <a:solidFill>
                  <a:srgbClr val="21295C"/>
                </a:solidFill>
                <a:latin typeface="Arial"/>
              </a:rPr>
              <a:t>Решает тот, кто видит только запись.</a:t>
            </a:r>
          </a:p>
        </p:txBody>
      </p:sp>
      <p:sp>
        <p:nvSpPr>
          <p:cNvPr id="17" name="Rectangle 16"/>
          <p:cNvSpPr/>
          <p:nvPr/>
        </p:nvSpPr>
        <p:spPr>
          <a:xfrm>
            <a:off x="6091275" y="2241116"/>
            <a:ext cx="9144" cy="3682684"/>
          </a:xfrm>
          <a:prstGeom prst="rect">
            <a:avLst/>
          </a:prstGeom>
          <a:solidFill>
            <a:srgbClr val="D9E2EC"/>
          </a:solidFill>
          <a:ln>
            <a:noFill/>
          </a:ln>
          <a:effectLst/>
        </p:spPr>
        <p:txBody>
          <a:bodyPr rtlCol="0" anchor="ctr"/>
          <a:lstStyle/>
          <a:p>
            <a:pPr algn="ctr"/>
          </a:p>
        </p:txBody>
      </p:sp>
      <p:sp>
        <p:nvSpPr>
          <p:cNvPr id="18" name="Rectangle 17"/>
          <p:cNvSpPr/>
          <p:nvPr/>
        </p:nvSpPr>
        <p:spPr>
          <a:xfrm>
            <a:off x="502920" y="7862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Без модели, классический режим: шкала, веса которой назначили люди</a:t>
            </a:r>
          </a:p>
        </p:txBody>
      </p:sp>
      <p:sp>
        <p:nvSpPr>
          <p:cNvPr id="4" name="Rounded Rectangle 3"/>
          <p:cNvSpPr/>
          <p:nvPr/>
        </p:nvSpPr>
        <p:spPr>
          <a:xfrm>
            <a:off x="502920" y="1335024"/>
            <a:ext cx="259072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5" name="TextBox 4"/>
          <p:cNvSpPr txBox="1"/>
          <p:nvPr/>
        </p:nvSpPr>
        <p:spPr>
          <a:xfrm>
            <a:off x="585216" y="1380744"/>
            <a:ext cx="242613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баллы по отклонению от нормы</a:t>
            </a:r>
          </a:p>
        </p:txBody>
      </p:sp>
      <p:sp>
        <p:nvSpPr>
          <p:cNvPr id="6" name="Right Arrow 5"/>
          <p:cNvSpPr/>
          <p:nvPr/>
        </p:nvSpPr>
        <p:spPr>
          <a:xfrm>
            <a:off x="3139363" y="1622964"/>
            <a:ext cx="182880" cy="137160"/>
          </a:xfrm>
          <a:prstGeom prst="rightArrow">
            <a:avLst/>
          </a:prstGeom>
          <a:solidFill>
            <a:srgbClr val="1C7293"/>
          </a:solidFill>
          <a:ln>
            <a:noFill/>
          </a:ln>
          <a:effectLst/>
        </p:spPr>
        <p:txBody>
          <a:bodyPr rtlCol="0" anchor="ctr"/>
          <a:lstStyle/>
          <a:p>
            <a:pPr algn="ctr"/>
          </a:p>
        </p:txBody>
      </p:sp>
      <p:sp>
        <p:nvSpPr>
          <p:cNvPr id="7" name="Rounded Rectangle 6"/>
          <p:cNvSpPr/>
          <p:nvPr/>
        </p:nvSpPr>
        <p:spPr>
          <a:xfrm>
            <a:off x="3367963" y="1335024"/>
            <a:ext cx="259072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3450259" y="1380744"/>
            <a:ext cx="242613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сумма баллов</a:t>
            </a:r>
          </a:p>
        </p:txBody>
      </p:sp>
      <p:sp>
        <p:nvSpPr>
          <p:cNvPr id="9" name="Right Arrow 8"/>
          <p:cNvSpPr/>
          <p:nvPr/>
        </p:nvSpPr>
        <p:spPr>
          <a:xfrm>
            <a:off x="6004407" y="1622964"/>
            <a:ext cx="182880" cy="137160"/>
          </a:xfrm>
          <a:prstGeom prst="rightArrow">
            <a:avLst/>
          </a:prstGeom>
          <a:solidFill>
            <a:srgbClr val="1C7293"/>
          </a:solidFill>
          <a:ln>
            <a:noFill/>
          </a:ln>
          <a:effectLst/>
        </p:spPr>
        <p:txBody>
          <a:bodyPr rtlCol="0" anchor="ctr"/>
          <a:lstStyle/>
          <a:p>
            <a:pPr algn="ctr"/>
          </a:p>
        </p:txBody>
      </p:sp>
      <p:sp>
        <p:nvSpPr>
          <p:cNvPr id="10" name="Rounded Rectangle 9"/>
          <p:cNvSpPr/>
          <p:nvPr/>
        </p:nvSpPr>
        <p:spPr>
          <a:xfrm>
            <a:off x="6233007" y="1335024"/>
            <a:ext cx="259072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1" name="TextBox 10"/>
          <p:cNvSpPr txBox="1"/>
          <p:nvPr/>
        </p:nvSpPr>
        <p:spPr>
          <a:xfrm>
            <a:off x="6315303" y="1380744"/>
            <a:ext cx="242613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сравнение с порогом</a:t>
            </a:r>
          </a:p>
        </p:txBody>
      </p:sp>
      <p:sp>
        <p:nvSpPr>
          <p:cNvPr id="12" name="Right Arrow 11"/>
          <p:cNvSpPr/>
          <p:nvPr/>
        </p:nvSpPr>
        <p:spPr>
          <a:xfrm>
            <a:off x="8869451" y="1622964"/>
            <a:ext cx="182880" cy="137160"/>
          </a:xfrm>
          <a:prstGeom prst="rightArrow">
            <a:avLst/>
          </a:prstGeom>
          <a:solidFill>
            <a:srgbClr val="1C7293"/>
          </a:solidFill>
          <a:ln>
            <a:noFill/>
          </a:ln>
          <a:effectLst/>
        </p:spPr>
        <p:txBody>
          <a:bodyPr rtlCol="0" anchor="ctr"/>
          <a:lstStyle/>
          <a:p>
            <a:pPr algn="ctr"/>
          </a:p>
        </p:txBody>
      </p:sp>
      <p:sp>
        <p:nvSpPr>
          <p:cNvPr id="13" name="Rounded Rectangle 12"/>
          <p:cNvSpPr/>
          <p:nvPr/>
        </p:nvSpPr>
        <p:spPr>
          <a:xfrm>
            <a:off x="9098051" y="1335024"/>
            <a:ext cx="259072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9180347" y="1380744"/>
            <a:ext cx="242613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назначенное действие</a:t>
            </a:r>
          </a:p>
        </p:txBody>
      </p:sp>
      <p:sp>
        <p:nvSpPr>
          <p:cNvPr id="15" name="TextBox 14"/>
          <p:cNvSpPr txBox="1"/>
          <p:nvPr/>
        </p:nvSpPr>
        <p:spPr>
          <a:xfrm>
            <a:off x="502920" y="208464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Устройство шкалы — без обученной модели</a:t>
            </a:r>
          </a:p>
        </p:txBody>
      </p:sp>
      <p:sp>
        <p:nvSpPr>
          <p:cNvPr id="16" name="Rounded Rectangle 15"/>
          <p:cNvSpPr/>
          <p:nvPr/>
        </p:nvSpPr>
        <p:spPr>
          <a:xfrm>
            <a:off x="502920" y="2478765"/>
            <a:ext cx="5437479" cy="2986504"/>
          </a:xfrm>
          <a:prstGeom prst="roundRect">
            <a:avLst>
              <a:gd name="adj" fmla="val 1020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2634213"/>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шкала даёт</a:t>
            </a:r>
          </a:p>
        </p:txBody>
      </p:sp>
      <p:sp>
        <p:nvSpPr>
          <p:cNvPr id="18" name="TextBox 17"/>
          <p:cNvSpPr txBox="1"/>
          <p:nvPr/>
        </p:nvSpPr>
        <p:spPr>
          <a:xfrm>
            <a:off x="667512" y="2990391"/>
            <a:ext cx="5108295" cy="2319430"/>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веса назначила согласительная комиссия и напечатала на карте</a:t>
            </a:r>
          </a:p>
          <a:p>
            <a:pPr algn="l">
              <a:lnSpc>
                <a:spcPct val="126000"/>
              </a:lnSpc>
            </a:pPr>
            <a:r>
              <a:rPr sz="1450" b="0" i="0">
                <a:solidFill>
                  <a:srgbClr val="21295C"/>
                </a:solidFill>
                <a:latin typeface="Arial"/>
              </a:rPr>
              <a:t>• видно, почему при частоте дыхания 25 выходит ровно три балла</a:t>
            </a:r>
          </a:p>
          <a:p>
            <a:pPr algn="l">
              <a:lnSpc>
                <a:spcPct val="126000"/>
              </a:lnSpc>
            </a:pPr>
            <a:r>
              <a:rPr sz="1450" b="0" i="0">
                <a:solidFill>
                  <a:srgbClr val="21295C"/>
                </a:solidFill>
                <a:latin typeface="Arial"/>
              </a:rPr>
              <a:t>• ошибку правят как ошибку документа: комиссия, новая редакция, адресат возражения</a:t>
            </a:r>
          </a:p>
        </p:txBody>
      </p:sp>
      <p:sp>
        <p:nvSpPr>
          <p:cNvPr id="19" name="Rounded Rectangle 18"/>
          <p:cNvSpPr/>
          <p:nvPr/>
        </p:nvSpPr>
        <p:spPr>
          <a:xfrm>
            <a:off x="6251295" y="2478765"/>
            <a:ext cx="5437479" cy="2986504"/>
          </a:xfrm>
          <a:prstGeom prst="roundRect">
            <a:avLst>
              <a:gd name="adj" fmla="val 10205"/>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6415887" y="2634213"/>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Чего не даёт — в это модель и целилась</a:t>
            </a:r>
          </a:p>
        </p:txBody>
      </p:sp>
      <p:sp>
        <p:nvSpPr>
          <p:cNvPr id="21" name="TextBox 20"/>
          <p:cNvSpPr txBox="1"/>
          <p:nvPr/>
        </p:nvSpPr>
        <p:spPr>
          <a:xfrm>
            <a:off x="6415887" y="2990391"/>
            <a:ext cx="5108295" cy="2319430"/>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медленна: баллы растут, когда показатели уже отклонились, а человеку с сепсисом к этой минуте плохо несколько часов</a:t>
            </a:r>
          </a:p>
          <a:p>
            <a:pPr algn="l">
              <a:lnSpc>
                <a:spcPct val="126000"/>
              </a:lnSpc>
            </a:pPr>
            <a:r>
              <a:rPr sz="1450" b="0" i="0">
                <a:solidFill>
                  <a:srgbClr val="21295C"/>
                </a:solidFill>
                <a:latin typeface="Arial"/>
              </a:rPr>
              <a:t>• груба: один порог на восьмидесятилетнего после операции на брюшной полости и на тридцатилетнего с переломом</a:t>
            </a:r>
          </a:p>
          <a:p>
            <a:pPr algn="l">
              <a:lnSpc>
                <a:spcPct val="126000"/>
              </a:lnSpc>
            </a:pPr>
            <a:r>
              <a:rPr sz="1450" b="0" i="0">
                <a:solidFill>
                  <a:srgbClr val="21295C"/>
                </a:solidFill>
                <a:latin typeface="Arial"/>
              </a:rPr>
              <a:t>• знает шесть величин, снятых сейчас: ни диагноза, ни анализов, ни прошлых госпитализаций</a:t>
            </a:r>
          </a:p>
        </p:txBody>
      </p:sp>
      <p:sp>
        <p:nvSpPr>
          <p:cNvPr id="22" name="Rounded Rectangle 21"/>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Шкала — классический режим этой стадии: дальше модель сравнивается именно с ней.</a:t>
            </a:r>
            <a:r>
              <a:rPr sz="1450" b="0" i="0">
                <a:solidFill>
                  <a:srgbClr val="21295C"/>
                </a:solidFill>
                <a:latin typeface="Arial"/>
              </a:rPr>
              <a:t> </a:t>
            </a:r>
            <a:r>
              <a:rPr sz="1450" b="0" i="1">
                <a:solidFill>
                  <a:srgbClr val="21295C"/>
                </a:solidFill>
                <a:latin typeface="Arial"/>
              </a:rPr>
              <a:t>Выходные данные действующей редакции карты не названы — ни года, ни публикации профессионального общества.</a:t>
            </a:r>
          </a:p>
        </p:txBody>
      </p:sp>
      <p:sp>
        <p:nvSpPr>
          <p:cNvPr id="24" name="Rectangle 23"/>
          <p:cNvSpPr/>
          <p:nvPr/>
        </p:nvSpPr>
        <p:spPr>
          <a:xfrm>
            <a:off x="502920" y="8201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Цена двух ошибок дежурной смены</a:t>
            </a:r>
          </a:p>
        </p:txBody>
      </p:sp>
      <p:sp>
        <p:nvSpPr>
          <p:cNvPr id="4" name="Rounded Rectangle 3"/>
          <p:cNvSpPr/>
          <p:nvPr/>
        </p:nvSpPr>
        <p:spPr>
          <a:xfrm>
            <a:off x="502920" y="1335024"/>
            <a:ext cx="3316071" cy="3108960"/>
          </a:xfrm>
          <a:prstGeom prst="roundRect">
            <a:avLst>
              <a:gd name="adj" fmla="val 9803"/>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2986887"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Пропустить ухудшение</a:t>
            </a:r>
          </a:p>
        </p:txBody>
      </p:sp>
      <p:sp>
        <p:nvSpPr>
          <p:cNvPr id="6" name="TextBox 5"/>
          <p:cNvSpPr txBox="1"/>
          <p:nvPr/>
        </p:nvSpPr>
        <p:spPr>
          <a:xfrm>
            <a:off x="667512" y="1846650"/>
            <a:ext cx="2986887" cy="2441885"/>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 часы задержки лечения: от капельницы с антибиотиком до реанимации</a:t>
            </a:r>
          </a:p>
          <a:p>
            <a:pPr algn="l">
              <a:lnSpc>
                <a:spcPct val="126000"/>
              </a:lnSpc>
            </a:pPr>
            <a:r>
              <a:rPr sz="1350" b="0" i="0">
                <a:solidFill>
                  <a:srgbClr val="21295C"/>
                </a:solidFill>
                <a:latin typeface="Arial"/>
              </a:rPr>
              <a:t>• нераспознанное ухудшение — одна из ведущих причин внутрибольничной смерти</a:t>
            </a:r>
          </a:p>
          <a:p>
            <a:pPr algn="l">
              <a:lnSpc>
                <a:spcPct val="126000"/>
              </a:lnSpc>
            </a:pPr>
            <a:r>
              <a:rPr sz="1350" b="0" i="0">
                <a:solidFill>
                  <a:srgbClr val="21295C"/>
                </a:solidFill>
                <a:latin typeface="Arial"/>
              </a:rPr>
              <a:t>• считается не в деньгах; точное место в ряду причин здесь не названо</a:t>
            </a:r>
          </a:p>
        </p:txBody>
      </p:sp>
      <p:sp>
        <p:nvSpPr>
          <p:cNvPr id="7" name="Rounded Rectangle 6"/>
          <p:cNvSpPr/>
          <p:nvPr/>
        </p:nvSpPr>
        <p:spPr>
          <a:xfrm>
            <a:off x="4129887" y="1335024"/>
            <a:ext cx="3316071" cy="3108960"/>
          </a:xfrm>
          <a:prstGeom prst="roundRect">
            <a:avLst>
              <a:gd name="adj" fmla="val 9803"/>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4294479" y="1490472"/>
            <a:ext cx="2986887"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Поднять ложную тревогу</a:t>
            </a:r>
          </a:p>
        </p:txBody>
      </p:sp>
      <p:sp>
        <p:nvSpPr>
          <p:cNvPr id="9" name="TextBox 8"/>
          <p:cNvSpPr txBox="1"/>
          <p:nvPr/>
        </p:nvSpPr>
        <p:spPr>
          <a:xfrm>
            <a:off x="4294479" y="1846650"/>
            <a:ext cx="2986887" cy="2441885"/>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 анализы, назначенные «чтобы исключить»</a:t>
            </a:r>
          </a:p>
          <a:p>
            <a:pPr algn="l">
              <a:lnSpc>
                <a:spcPct val="126000"/>
              </a:lnSpc>
            </a:pPr>
            <a:r>
              <a:rPr sz="1350" b="0" i="0">
                <a:solidFill>
                  <a:srgbClr val="21295C"/>
                </a:solidFill>
                <a:latin typeface="Arial"/>
              </a:rPr>
              <a:t>• антибиотик «на всякий случай» — и вклад в устойчивость возбудителя</a:t>
            </a:r>
          </a:p>
          <a:p>
            <a:pPr algn="l">
              <a:lnSpc>
                <a:spcPct val="126000"/>
              </a:lnSpc>
            </a:pPr>
            <a:r>
              <a:rPr sz="1350" b="0" i="0">
                <a:solidFill>
                  <a:srgbClr val="21295C"/>
                </a:solidFill>
                <a:latin typeface="Arial"/>
              </a:rPr>
              <a:t>• время сестры и врача, снятое с другого пациента той же смены</a:t>
            </a:r>
          </a:p>
          <a:p>
            <a:pPr algn="l">
              <a:lnSpc>
                <a:spcPct val="126000"/>
              </a:lnSpc>
            </a:pPr>
            <a:r>
              <a:rPr sz="1350" b="0" i="0">
                <a:solidFill>
                  <a:srgbClr val="21295C"/>
                </a:solidFill>
                <a:latin typeface="Arial"/>
              </a:rPr>
              <a:t>• через сотню повторений — привычка закрывать оповещение не читая</a:t>
            </a:r>
          </a:p>
        </p:txBody>
      </p:sp>
      <p:sp>
        <p:nvSpPr>
          <p:cNvPr id="10" name="Rounded Rectangle 9"/>
          <p:cNvSpPr/>
          <p:nvPr/>
        </p:nvSpPr>
        <p:spPr>
          <a:xfrm>
            <a:off x="374904" y="4535424"/>
            <a:ext cx="11441887" cy="1283891"/>
          </a:xfrm>
          <a:prstGeom prst="roundRect">
            <a:avLst>
              <a:gd name="adj" fmla="val 23740"/>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626864"/>
            <a:ext cx="11112703" cy="160934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Обе ошибки платит одна и та же дежурная смена, и выбор между ними делается по многу раз за ночь.</a:t>
            </a:r>
          </a:p>
          <a:p>
            <a:pPr algn="l">
              <a:lnSpc>
                <a:spcPct val="126000"/>
              </a:lnSpc>
              <a:spcBef>
                <a:spcPts val="700"/>
              </a:spcBef>
            </a:pPr>
            <a:r>
              <a:rPr sz="1200" b="0" i="0">
                <a:solidFill>
                  <a:srgbClr val="21295C"/>
                </a:solidFill>
                <a:latin typeface="Arial"/>
              </a:rPr>
              <a:t/>
            </a:r>
            <a:r>
              <a:rPr sz="1200" b="0" i="1">
                <a:solidFill>
                  <a:srgbClr val="1C7293"/>
                </a:solidFill>
                <a:latin typeface="Arial"/>
              </a:rPr>
              <a:t>Прикроватный монитор: активная тревога по пульсу в шапке экрана (съёмка на учебном манекене)</a:t>
            </a:r>
          </a:p>
          <a:p>
            <a:pPr algn="l">
              <a:lnSpc>
                <a:spcPct val="126000"/>
              </a:lnSpc>
              <a:spcBef>
                <a:spcPts val="700"/>
              </a:spcBef>
            </a:pPr>
            <a:r>
              <a:rPr sz="1500" b="0" i="0">
                <a:solidFill>
                  <a:srgbClr val="21295C"/>
                </a:solidFill>
                <a:latin typeface="Arial"/>
              </a:rPr>
              <a:t/>
            </a:r>
            <a:r>
              <a:rPr sz="1500" b="1" i="0">
                <a:solidFill>
                  <a:srgbClr val="21295C"/>
                </a:solidFill>
                <a:latin typeface="Arial"/>
              </a:rPr>
              <a:t>Какую долю входящих оповещений вы закрываете, не читая?</a:t>
            </a:r>
          </a:p>
        </p:txBody>
      </p:sp>
      <p:sp>
        <p:nvSpPr>
          <p:cNvPr id="12" name="Rounded Rectangle 11"/>
          <p:cNvSpPr/>
          <p:nvPr/>
        </p:nvSpPr>
        <p:spPr>
          <a:xfrm>
            <a:off x="7756855" y="1335024"/>
            <a:ext cx="3931920" cy="2712719"/>
          </a:xfrm>
          <a:prstGeom prst="roundRect">
            <a:avLst>
              <a:gd name="adj" fmla="val 11235"/>
            </a:avLst>
          </a:prstGeom>
          <a:solidFill>
            <a:srgbClr val="F4F7FA"/>
          </a:solidFill>
          <a:ln w="19050">
            <a:solidFill>
              <a:srgbClr val="1C7293"/>
            </a:solidFill>
          </a:ln>
          <a:effectLst/>
        </p:spPr>
        <p:txBody>
          <a:bodyPr rtlCol="0" anchor="ctr"/>
          <a:lstStyle/>
          <a:p>
            <a:pPr algn="ctr"/>
          </a:p>
        </p:txBody>
      </p:sp>
      <p:pic>
        <p:nvPicPr>
          <p:cNvPr id="13" name="Picture 12" descr="s55-monitor-u-posteli.jpg"/>
          <p:cNvPicPr>
            <a:picLocks noChangeAspect="1"/>
          </p:cNvPicPr>
          <p:nvPr/>
        </p:nvPicPr>
        <p:blipFill>
          <a:blip r:embed="rId2"/>
          <a:stretch>
            <a:fillRect/>
          </a:stretch>
        </p:blipFill>
        <p:spPr>
          <a:xfrm>
            <a:off x="7894015" y="1472184"/>
            <a:ext cx="3657600" cy="2438400"/>
          </a:xfrm>
          <a:prstGeom prst="rect">
            <a:avLst/>
          </a:prstGeom>
        </p:spPr>
      </p:pic>
      <p:sp>
        <p:nvSpPr>
          <p:cNvPr id="14" name="Rectangle 1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Оба классических режима, посчитанные в одной единице — до всякой модели</a:t>
            </a:r>
          </a:p>
        </p:txBody>
      </p:sp>
      <p:sp>
        <p:nvSpPr>
          <p:cNvPr id="4" name="Rounded Rectangle 3"/>
          <p:cNvSpPr/>
          <p:nvPr/>
        </p:nvSpPr>
        <p:spPr>
          <a:xfrm>
            <a:off x="502920"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ШКАЛА РАННЕГО ПРЕДУПРЕЖДЕНИЯ — ПОДТВЕРЖДАЕТСЯ</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 тревог из ста</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45 776 пациентов, сепсис у 3,3 из ста; чувствительность 0,758</a:t>
            </a:r>
          </a:p>
        </p:txBody>
      </p:sp>
      <p:sp>
        <p:nvSpPr>
          <p:cNvPr id="8" name="Rounded Rectangle 7"/>
          <p:cNvSpPr/>
          <p:nvPr/>
        </p:nvSpPr>
        <p:spPr>
          <a:xfrm>
            <a:off x="4286402"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ДВЕ ДРУГИЕ ШКАЛЫ ТОГО ЖЕ РАЗБОРА</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12 и 18 тревог из ста</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выборка, то же население</a:t>
            </a:r>
          </a:p>
        </p:txBody>
      </p:sp>
      <p:sp>
        <p:nvSpPr>
          <p:cNvPr id="12" name="Rounded Rectangle 11"/>
          <p:cNvSpPr/>
          <p:nvPr/>
        </p:nvSpPr>
        <p:spPr>
          <a:xfrm>
            <a:off x="8069884" y="1335024"/>
            <a:ext cx="3618890"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ТРЕВОГИ ПРИКРОВАТНОГО ПРИБОРА — ЛОЖНЫЕ</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88,8 из ста</a:t>
            </a:r>
          </a:p>
        </p:txBody>
      </p:sp>
      <p:sp>
        <p:nvSpPr>
          <p:cNvPr id="15" name="TextBox 14"/>
          <p:cNvSpPr txBox="1"/>
          <p:nvPr/>
        </p:nvSpPr>
        <p:spPr>
          <a:xfrm>
            <a:off x="8207044"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12 671 размеченная тревога; обученной модели в приборе нет</a:t>
            </a:r>
          </a:p>
        </p:txBody>
      </p:sp>
      <p:sp>
        <p:nvSpPr>
          <p:cNvPr id="16" name="Rounded Rectangle 15"/>
          <p:cNvSpPr/>
          <p:nvPr/>
        </p:nvSpPr>
        <p:spPr>
          <a:xfrm>
            <a:off x="374904" y="3010932"/>
            <a:ext cx="11441887" cy="2234486"/>
          </a:xfrm>
          <a:prstGeom prst="roundRect">
            <a:avLst>
              <a:gd name="adj" fmla="val 1364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02372"/>
            <a:ext cx="5373471" cy="313383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Ни один классический режим не был бесплатным.</a:t>
            </a:r>
          </a:p>
          <a:p>
            <a:pPr algn="l">
              <a:lnSpc>
                <a:spcPct val="126000"/>
              </a:lnSpc>
              <a:spcBef>
                <a:spcPts val="700"/>
              </a:spcBef>
            </a:pPr>
            <a:r>
              <a:rPr sz="1500" b="0" i="0">
                <a:solidFill>
                  <a:srgbClr val="21295C"/>
                </a:solidFill>
                <a:latin typeface="Arial"/>
              </a:rPr>
              <a:t/>
            </a:r>
            <a:r>
              <a:rPr sz="1500" b="0" i="0">
                <a:solidFill>
                  <a:srgbClr val="21295C"/>
                </a:solidFill>
                <a:latin typeface="Arial"/>
              </a:rPr>
              <a:t>У шкалы раннего предупреждения подтверждаются 8 тревог из ста. Остальные 92 сделаны впустую — до всякого машинного обучения.</a:t>
            </a:r>
          </a:p>
          <a:p>
            <a:pPr algn="l">
              <a:lnSpc>
                <a:spcPct val="126000"/>
              </a:lnSpc>
              <a:spcBef>
                <a:spcPts val="700"/>
              </a:spcBef>
            </a:pPr>
            <a:r>
              <a:rPr sz="1500" b="0" i="0">
                <a:solidFill>
                  <a:srgbClr val="21295C"/>
                </a:solidFill>
                <a:latin typeface="Arial"/>
              </a:rPr>
              <a:t/>
            </a:r>
            <a:r>
              <a:rPr sz="1500" b="0" i="0">
                <a:solidFill>
                  <a:srgbClr val="21295C"/>
                </a:solidFill>
                <a:latin typeface="Arial"/>
              </a:rPr>
              <a:t>Две другие шкалы того же разбора, на той же выборке: 12 и 18 из ста.</a:t>
            </a:r>
          </a:p>
        </p:txBody>
      </p:sp>
      <p:sp>
        <p:nvSpPr>
          <p:cNvPr id="18" name="TextBox 17"/>
          <p:cNvSpPr txBox="1"/>
          <p:nvPr/>
        </p:nvSpPr>
        <p:spPr>
          <a:xfrm>
            <a:off x="6278727" y="3102372"/>
            <a:ext cx="5373471" cy="3133835"/>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Прибор у постели решает другую задачу: порог там выставлен рукой, обученной модели нет вовсе. Доли прибора и шкалы не складываются.</a:t>
            </a:r>
          </a:p>
          <a:p>
            <a:pPr algn="l">
              <a:lnSpc>
                <a:spcPct val="126000"/>
              </a:lnSpc>
              <a:spcBef>
                <a:spcPts val="700"/>
              </a:spcBef>
            </a:pPr>
            <a:r>
              <a:rPr sz="1500" b="0" i="0">
                <a:solidFill>
                  <a:srgbClr val="21295C"/>
                </a:solidFill>
                <a:latin typeface="Arial"/>
              </a:rPr>
              <a:t/>
            </a:r>
            <a:r>
              <a:rPr sz="1500" b="0" i="0">
                <a:solidFill>
                  <a:srgbClr val="21295C"/>
                </a:solidFill>
                <a:latin typeface="Arial"/>
              </a:rPr>
              <a:t>Сравнивать модель надо с этими числами. Нуля в этом сравнении нет.</a:t>
            </a:r>
          </a:p>
        </p:txBody>
      </p:sp>
      <p:sp>
        <p:nvSpPr>
          <p:cNvPr id="19" name="Rectangle 18"/>
          <p:cNvSpPr/>
          <p:nvPr/>
        </p:nvSpPr>
        <p:spPr>
          <a:xfrm>
            <a:off x="6091275" y="3102372"/>
            <a:ext cx="9144" cy="1960166"/>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Сравнение балльных шкал на поиске сепсиса в общем отделении, JAMIA Open 2021, DOI 10.1093/jamiaopen/ooab062, PMID 34820600</a:t>
            </a:r>
            <a:r>
              <a:rPr sz="1200" b="0" i="1">
                <a:solidFill>
                  <a:srgbClr val="1C7293"/>
                </a:solidFill>
                <a:latin typeface="Arial"/>
              </a:rPr>
              <a:t> · </a:t>
            </a:r>
            <a:r>
              <a:rPr sz="1200" b="0" i="1" u="sng">
                <a:solidFill>
                  <a:srgbClr val="065A82"/>
                </a:solidFill>
                <a:latin typeface="Arial"/>
                <a:hlinkClick r:id="rId3"/>
              </a:rPr>
              <a:t>Drew B. J. и соавт., PLoS One 2014;9(10):e110274, DOI 10.1371/journal.pone.0110274, PMID 25338067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модель раннего предупреждения</a:t>
            </a:r>
          </a:p>
        </p:txBody>
      </p:sp>
      <p:sp>
        <p:nvSpPr>
          <p:cNvPr id="4" name="Rounded Rectangle 3"/>
          <p:cNvSpPr/>
          <p:nvPr/>
        </p:nvSpPr>
        <p:spPr>
          <a:xfrm>
            <a:off x="502920" y="1335024"/>
            <a:ext cx="3618890"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ЗАЯВЛЕНО РАЗРАБОТЧИКОМ</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0,76–0,83 · 0,83–0,86</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две версии, два заявления; полосы «0,76–0,86» не существует</a:t>
            </a:r>
          </a:p>
        </p:txBody>
      </p:sp>
      <p:sp>
        <p:nvSpPr>
          <p:cNvPr id="8" name="Rounded Rectangle 7"/>
          <p:cNvSpPr/>
          <p:nvPr/>
        </p:nvSpPr>
        <p:spPr>
          <a:xfrm>
            <a:off x="4286402" y="1335024"/>
            <a:ext cx="3618890"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ИЗМЕРЕНО НЕЗАВИСИМОЙ ПРОВЕРКОЙ</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0,63</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первая версия; 38 455 госпитализаций 27 697 пациентов одной университетской системы, сепсис у 6,6 из ста</a:t>
            </a:r>
          </a:p>
        </p:txBody>
      </p:sp>
      <p:sp>
        <p:nvSpPr>
          <p:cNvPr id="12" name="Rounded Rectangle 11"/>
          <p:cNvSpPr/>
          <p:nvPr/>
        </p:nvSpPr>
        <p:spPr>
          <a:xfrm>
            <a:off x="8069884" y="1335024"/>
            <a:ext cx="3618890" cy="1588240"/>
          </a:xfrm>
          <a:prstGeom prst="roundRect">
            <a:avLst>
              <a:gd name="adj" fmla="val 1919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ПОЙМАНО СЛУЧАЕВ СЕПСИСА</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33 из ста</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выявлено 1 709 из 2 552; из пропущенных клиницистом — 7 из ста</a:t>
            </a:r>
          </a:p>
        </p:txBody>
      </p:sp>
      <p:sp>
        <p:nvSpPr>
          <p:cNvPr id="16" name="Rounded Rectangle 15"/>
          <p:cNvSpPr/>
          <p:nvPr/>
        </p:nvSpPr>
        <p:spPr>
          <a:xfrm>
            <a:off x="374904" y="3014704"/>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06144"/>
            <a:ext cx="5373471" cy="295353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Модель непрерывно считает балл риска по карте и прерывает работу тревогой — с готовым набором назначений в один щелчок.</a:t>
            </a:r>
          </a:p>
          <a:p>
            <a:pPr algn="l">
              <a:lnSpc>
                <a:spcPct val="126000"/>
              </a:lnSpc>
              <a:spcBef>
                <a:spcPts val="700"/>
              </a:spcBef>
            </a:pPr>
            <a:r>
              <a:rPr sz="1500" b="0" i="0">
                <a:solidFill>
                  <a:srgbClr val="21295C"/>
                </a:solidFill>
                <a:latin typeface="Arial"/>
              </a:rPr>
              <a:t/>
            </a:r>
            <a:r>
              <a:rPr sz="1500" b="0" i="0">
                <a:solidFill>
                  <a:srgbClr val="21295C"/>
                </a:solidFill>
                <a:latin typeface="Arial"/>
              </a:rPr>
              <a:t>Разница между 0,76 и 0,63 — это разница в пригодности.</a:t>
            </a:r>
          </a:p>
        </p:txBody>
      </p:sp>
      <p:sp>
        <p:nvSpPr>
          <p:cNvPr id="18" name="TextBox 17"/>
          <p:cNvSpPr txBox="1"/>
          <p:nvPr/>
        </p:nvSpPr>
        <p:spPr>
          <a:xfrm>
            <a:off x="6278727" y="3106144"/>
            <a:ext cx="5373471" cy="295353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На 0,76 можно опереться при настройке порога; при 0,63 неприемлем либо поток тревог, либо чувствительность.</a:t>
            </a:r>
          </a:p>
          <a:p>
            <a:pPr algn="l">
              <a:lnSpc>
                <a:spcPct val="126000"/>
              </a:lnSpc>
              <a:spcBef>
                <a:spcPts val="700"/>
              </a:spcBef>
            </a:pPr>
            <a:r>
              <a:rPr sz="1500" b="0" i="0">
                <a:solidFill>
                  <a:srgbClr val="21295C"/>
                </a:solidFill>
                <a:latin typeface="Arial"/>
              </a:rPr>
              <a:t/>
            </a:r>
            <a:r>
              <a:rPr sz="1500" b="0" i="0">
                <a:solidFill>
                  <a:srgbClr val="21295C"/>
                </a:solidFill>
                <a:latin typeface="Arial"/>
              </a:rPr>
              <a:t>Класс модели — штрафованная логистическая регрессия: обученная статистика, глубокой сети здесь нет.</a:t>
            </a:r>
          </a:p>
        </p:txBody>
      </p:sp>
      <p:sp>
        <p:nvSpPr>
          <p:cNvPr id="19" name="Rectangle 18"/>
          <p:cNvSpPr/>
          <p:nvPr/>
        </p:nvSpPr>
        <p:spPr>
          <a:xfrm>
            <a:off x="6091275" y="3106144"/>
            <a:ext cx="9144" cy="1277144"/>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169405"/>
            <a:ext cx="11185855" cy="63373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Wong, Otles и соавт., JAMA Internal Medicine 2021, DOI 10.1001/jamainternmed.2021.2626</a:t>
            </a:r>
            <a:r>
              <a:rPr sz="1200" b="0" i="1">
                <a:solidFill>
                  <a:srgbClr val="1C7293"/>
                </a:solidFill>
                <a:latin typeface="Arial"/>
              </a:rPr>
              <a:t> · </a:t>
            </a:r>
            <a:r>
              <a:rPr sz="1200" b="0" i="1" u="sng">
                <a:solidFill>
                  <a:srgbClr val="065A82"/>
                </a:solidFill>
                <a:latin typeface="Arial"/>
                <a:hlinkClick r:id="rId3"/>
              </a:rPr>
              <a:t>заявления разработчика: качество по первой версии, сообщённое самим разработчиком и воспроизведённое в независимых проверках, и заявление по второй версии, напечатанное внутри рецензируемой работы 2026 года</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Пример 1, арифметика: сто госпитализаций, восемнадцать тревог, два подтверждённых случая</a:t>
            </a:r>
          </a:p>
        </p:txBody>
      </p:sp>
      <p:sp>
        <p:nvSpPr>
          <p:cNvPr id="4" name="Rounded Rectangle 3"/>
          <p:cNvSpPr/>
          <p:nvPr/>
        </p:nvSpPr>
        <p:spPr>
          <a:xfrm>
            <a:off x="502920"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ТРЕВОГА ПРИХОДИТ НА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18 из ста госпитализаций</a:t>
            </a:r>
          </a:p>
        </p:txBody>
      </p:sp>
      <p:sp>
        <p:nvSpPr>
          <p:cNvPr id="7" name="TextBox 6"/>
          <p:cNvSpPr txBox="1"/>
          <p:nvPr/>
        </p:nvSpPr>
        <p:spPr>
          <a:xfrm>
            <a:off x="640080"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6 971 тревога на 38 455 госпитализаций; пересказ «каждая шестая» занижает измеренное</a:t>
            </a:r>
          </a:p>
        </p:txBody>
      </p:sp>
      <p:sp>
        <p:nvSpPr>
          <p:cNvPr id="8" name="Rounded Rectangle 7"/>
          <p:cNvSpPr/>
          <p:nvPr/>
        </p:nvSpPr>
        <p:spPr>
          <a:xfrm>
            <a:off x="4286402"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ПОДТВЕРЖДАЕТСЯ ИЗ ПОДНЯТЫХ ТРЕВОГ</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12 из ста</a:t>
            </a:r>
          </a:p>
        </p:txBody>
      </p:sp>
      <p:sp>
        <p:nvSpPr>
          <p:cNvPr id="11" name="TextBox 10"/>
          <p:cNvSpPr txBox="1"/>
          <p:nvPr/>
        </p:nvSpPr>
        <p:spPr>
          <a:xfrm>
            <a:off x="4423562"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знаменатель другой — сами тревоги, а не госпитализации</a:t>
            </a:r>
          </a:p>
        </p:txBody>
      </p:sp>
      <p:sp>
        <p:nvSpPr>
          <p:cNvPr id="12" name="Rounded Rectangle 11"/>
          <p:cNvSpPr/>
          <p:nvPr/>
        </p:nvSpPr>
        <p:spPr>
          <a:xfrm>
            <a:off x="8069884" y="1335024"/>
            <a:ext cx="3618890"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ЧТОБЫ НАЙТИ ОДИН СЛУЧАЙ СЕПСИСА, РАЗОБРАТЬ</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восемь тревог</a:t>
            </a:r>
          </a:p>
        </p:txBody>
      </p:sp>
      <p:sp>
        <p:nvSpPr>
          <p:cNvPr id="15" name="TextBox 14"/>
          <p:cNvSpPr txBox="1"/>
          <p:nvPr/>
        </p:nvSpPr>
        <p:spPr>
          <a:xfrm>
            <a:off x="8207044" y="2359845"/>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прежние пятнадцать отозваны эрратой того же журнала; пресса печатает отозванное до сих пор</a:t>
            </a:r>
          </a:p>
        </p:txBody>
      </p:sp>
      <p:sp>
        <p:nvSpPr>
          <p:cNvPr id="16" name="TextBox 15"/>
          <p:cNvSpPr txBox="1"/>
          <p:nvPr/>
        </p:nvSpPr>
        <p:spPr>
          <a:xfrm>
            <a:off x="502920" y="353314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Поток тревоги</a:t>
            </a:r>
          </a:p>
        </p:txBody>
      </p:sp>
      <p:sp>
        <p:nvSpPr>
          <p:cNvPr id="17" name="Rounded Rectangle 16"/>
          <p:cNvSpPr/>
          <p:nvPr/>
        </p:nvSpPr>
        <p:spPr>
          <a:xfrm>
            <a:off x="1920240" y="349656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4228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1 000 госпитализаций</a:t>
            </a:r>
          </a:p>
        </p:txBody>
      </p:sp>
      <p:sp>
        <p:nvSpPr>
          <p:cNvPr id="19" name="Right Arrow 18"/>
          <p:cNvSpPr/>
          <p:nvPr/>
        </p:nvSpPr>
        <p:spPr>
          <a:xfrm>
            <a:off x="5039258" y="366568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49656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54228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около 181 тревоги</a:t>
            </a:r>
          </a:p>
        </p:txBody>
      </p:sp>
      <p:sp>
        <p:nvSpPr>
          <p:cNvPr id="22" name="Right Arrow 21"/>
          <p:cNvSpPr/>
          <p:nvPr/>
        </p:nvSpPr>
        <p:spPr>
          <a:xfrm>
            <a:off x="8386876" y="366568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49656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54228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22 подтверждённых случая</a:t>
            </a:r>
          </a:p>
        </p:txBody>
      </p:sp>
      <p:sp>
        <p:nvSpPr>
          <p:cNvPr id="25" name="TextBox 24"/>
          <p:cNvSpPr txBox="1"/>
          <p:nvPr/>
        </p:nvSpPr>
        <p:spPr>
          <a:xfrm>
            <a:off x="502920" y="400853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Путь одной тревоги</a:t>
            </a:r>
          </a:p>
        </p:txBody>
      </p:sp>
      <p:sp>
        <p:nvSpPr>
          <p:cNvPr id="26" name="Rounded Rectangle 25"/>
          <p:cNvSpPr/>
          <p:nvPr/>
        </p:nvSpPr>
        <p:spPr>
          <a:xfrm>
            <a:off x="374904" y="4311220"/>
            <a:ext cx="11441887" cy="1848525"/>
          </a:xfrm>
          <a:prstGeom prst="roundRect">
            <a:avLst>
              <a:gd name="adj" fmla="val 16488"/>
            </a:avLst>
          </a:prstGeom>
          <a:solidFill>
            <a:srgbClr val="F4F7FA"/>
          </a:solidFill>
          <a:ln w="19050">
            <a:solidFill>
              <a:srgbClr val="1C7293"/>
            </a:solidFill>
          </a:ln>
          <a:effectLst/>
        </p:spPr>
        <p:txBody>
          <a:bodyPr rtlCol="0" anchor="ctr"/>
          <a:lstStyle/>
          <a:p>
            <a:pPr algn="ctr"/>
          </a:p>
        </p:txBody>
      </p:sp>
      <p:sp>
        <p:nvSpPr>
          <p:cNvPr id="27" name="TextBox 26"/>
          <p:cNvSpPr txBox="1"/>
          <p:nvPr/>
        </p:nvSpPr>
        <p:spPr>
          <a:xfrm>
            <a:off x="539496" y="4402660"/>
            <a:ext cx="5373471" cy="183354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Знаменатели разные, и путать их нельзя: 18 — доля </a:t>
            </a:r>
            <a:r>
              <a:rPr sz="1500" b="1" i="0">
                <a:solidFill>
                  <a:srgbClr val="21295C"/>
                </a:solidFill>
                <a:latin typeface="Arial"/>
              </a:rPr>
              <a:t>госпитализаций</a:t>
            </a:r>
            <a:r>
              <a:rPr sz="1500" b="0" i="0">
                <a:solidFill>
                  <a:srgbClr val="21295C"/>
                </a:solidFill>
                <a:latin typeface="Arial"/>
              </a:rPr>
              <a:t>, 12 — доля </a:t>
            </a:r>
            <a:r>
              <a:rPr sz="1500" b="1" i="0">
                <a:solidFill>
                  <a:srgbClr val="21295C"/>
                </a:solidFill>
                <a:latin typeface="Arial"/>
              </a:rPr>
              <a:t>поднятых тревог</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0" i="0">
                <a:solidFill>
                  <a:srgbClr val="21295C"/>
                </a:solidFill>
                <a:latin typeface="Arial"/>
              </a:rPr>
              <a:t>Шкала, которую модель заменяла, подтверждалась 8 тревогами из ста; другая шкала того же разбора — 18. Модель из этой полосы не вышла.</a:t>
            </a:r>
          </a:p>
        </p:txBody>
      </p:sp>
      <p:sp>
        <p:nvSpPr>
          <p:cNvPr id="28" name="TextBox 27"/>
          <p:cNvSpPr txBox="1"/>
          <p:nvPr/>
        </p:nvSpPr>
        <p:spPr>
          <a:xfrm>
            <a:off x="6278727" y="4402660"/>
            <a:ext cx="5373471" cy="183354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Населения разные, и событие в них случается с разной частотой: сравнивается порядок величины. Превосходства это сравнение не устанавливает.</a:t>
            </a:r>
          </a:p>
        </p:txBody>
      </p:sp>
      <p:sp>
        <p:nvSpPr>
          <p:cNvPr id="29" name="Rectangle 28"/>
          <p:cNvSpPr/>
          <p:nvPr/>
        </p:nvSpPr>
        <p:spPr>
          <a:xfrm>
            <a:off x="6091275" y="4402660"/>
            <a:ext cx="9144" cy="1574205"/>
          </a:xfrm>
          <a:prstGeom prst="rect">
            <a:avLst/>
          </a:prstGeom>
          <a:solidFill>
            <a:srgbClr val="D9E2EC"/>
          </a:solidFill>
          <a:ln>
            <a:noFill/>
          </a:ln>
          <a:effectLst/>
        </p:spPr>
        <p:txBody>
          <a:bodyPr rtlCol="0" anchor="ctr"/>
          <a:lstStyle/>
          <a:p>
            <a:pPr algn="ctr"/>
          </a:p>
        </p:txBody>
      </p:sp>
      <p:sp>
        <p:nvSpPr>
          <p:cNvPr id="30" name="Rectangle 29"/>
          <p:cNvSpPr/>
          <p:nvPr/>
        </p:nvSpPr>
        <p:spPr>
          <a:xfrm>
            <a:off x="502920" y="726829"/>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Wong, Otles и соавт., JAMA Internal Medicine 2021, DOI 10.1001/jamainternmed.2021.2626, с эрратой того же журнала</a:t>
            </a:r>
            <a:r>
              <a:rPr sz="1200" b="0" i="1">
                <a:solidFill>
                  <a:srgbClr val="1C7293"/>
                </a:solidFill>
                <a:latin typeface="Arial"/>
              </a:rPr>
              <a:t> · </a:t>
            </a:r>
            <a:r>
              <a:rPr sz="1200" b="0" i="1" u="sng">
                <a:solidFill>
                  <a:srgbClr val="065A82"/>
                </a:solidFill>
                <a:latin typeface="Arial"/>
                <a:hlinkClick r:id="rId3"/>
              </a:rPr>
              <a:t>сравнение балльных шкал, JAMIA Open 2021, DOI 10.1093/jamiaopen/ooab062, PMID 34820600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вторая проверка: другие авторы, другие больницы</a:t>
            </a:r>
          </a:p>
        </p:txBody>
      </p:sp>
      <p:sp>
        <p:nvSpPr>
          <p:cNvPr id="4" name="Rounded Rectangle 3"/>
          <p:cNvSpPr/>
          <p:nvPr/>
        </p:nvSpPr>
        <p:spPr>
          <a:xfrm>
            <a:off x="502920" y="1335024"/>
            <a:ext cx="1726615" cy="2506772"/>
          </a:xfrm>
          <a:prstGeom prst="roundRect">
            <a:avLst>
              <a:gd name="adj" fmla="val 1765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5229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ПОЙМАНО СЛУЧАЕВ СЕПСИСА</a:t>
            </a:r>
          </a:p>
        </p:txBody>
      </p:sp>
      <p:sp>
        <p:nvSpPr>
          <p:cNvPr id="6" name="TextBox 5"/>
          <p:cNvSpPr txBox="1"/>
          <p:nvPr/>
        </p:nvSpPr>
        <p:spPr>
          <a:xfrm>
            <a:off x="640080" y="2140317"/>
            <a:ext cx="145229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14,7 из ста</a:t>
            </a:r>
          </a:p>
        </p:txBody>
      </p:sp>
      <p:sp>
        <p:nvSpPr>
          <p:cNvPr id="7" name="TextBox 6"/>
          <p:cNvSpPr txBox="1"/>
          <p:nvPr/>
        </p:nvSpPr>
        <p:spPr>
          <a:xfrm>
            <a:off x="640080" y="2957740"/>
            <a:ext cx="1452295"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специфичность 95,3; окно шесть часов</a:t>
            </a:r>
          </a:p>
        </p:txBody>
      </p:sp>
      <p:sp>
        <p:nvSpPr>
          <p:cNvPr id="8" name="Rounded Rectangle 7"/>
          <p:cNvSpPr/>
          <p:nvPr/>
        </p:nvSpPr>
        <p:spPr>
          <a:xfrm>
            <a:off x="2394127" y="1335024"/>
            <a:ext cx="1726615" cy="2506772"/>
          </a:xfrm>
          <a:prstGeom prst="roundRect">
            <a:avLst>
              <a:gd name="adj" fmla="val 1765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31287" y="1472184"/>
            <a:ext cx="145229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СРАБАТЫВАНИЕ — ДОЛЯ ОБРАЩЕНИЙ</a:t>
            </a:r>
          </a:p>
        </p:txBody>
      </p:sp>
      <p:sp>
        <p:nvSpPr>
          <p:cNvPr id="10" name="TextBox 9"/>
          <p:cNvSpPr txBox="1"/>
          <p:nvPr/>
        </p:nvSpPr>
        <p:spPr>
          <a:xfrm>
            <a:off x="2531287" y="2140317"/>
            <a:ext cx="1452295" cy="698597"/>
          </a:xfrm>
          <a:prstGeom prst="rect">
            <a:avLst/>
          </a:prstGeom>
          <a:noFill/>
        </p:spPr>
        <p:txBody>
          <a:bodyPr wrap="square" lIns="0" rIns="0" tIns="0" bIns="0" anchor="t">
            <a:spAutoFit/>
          </a:bodyPr>
          <a:lstStyle/>
          <a:p>
            <a:pPr algn="l">
              <a:lnSpc>
                <a:spcPct val="108000"/>
              </a:lnSpc>
            </a:pPr>
            <a:r>
              <a:rPr sz="1950" b="1" i="0">
                <a:solidFill>
                  <a:srgbClr val="21295C"/>
                </a:solidFill>
                <a:latin typeface="Arial"/>
              </a:rPr>
              <a:t>4,9 из ста обращений</a:t>
            </a:r>
          </a:p>
        </p:txBody>
      </p:sp>
      <p:sp>
        <p:nvSpPr>
          <p:cNvPr id="11" name="TextBox 10"/>
          <p:cNvSpPr txBox="1"/>
          <p:nvPr/>
        </p:nvSpPr>
        <p:spPr>
          <a:xfrm>
            <a:off x="2531287" y="2838915"/>
            <a:ext cx="145229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7 183 на 145 885 обращений</a:t>
            </a:r>
          </a:p>
        </p:txBody>
      </p:sp>
      <p:sp>
        <p:nvSpPr>
          <p:cNvPr id="12" name="Rounded Rectangle 11"/>
          <p:cNvSpPr/>
          <p:nvPr/>
        </p:nvSpPr>
        <p:spPr>
          <a:xfrm>
            <a:off x="4285335" y="1335024"/>
            <a:ext cx="1726615" cy="2506772"/>
          </a:xfrm>
          <a:prstGeom prst="roundRect">
            <a:avLst>
              <a:gd name="adj" fmla="val 1765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22495" y="1472184"/>
            <a:ext cx="145229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ОПЕРЕЖЕНИЕ КЛИНИЧЕСКОГО РЕШЕНИЯ</a:t>
            </a:r>
          </a:p>
        </p:txBody>
      </p:sp>
      <p:sp>
        <p:nvSpPr>
          <p:cNvPr id="14" name="TextBox 13"/>
          <p:cNvSpPr txBox="1"/>
          <p:nvPr/>
        </p:nvSpPr>
        <p:spPr>
          <a:xfrm>
            <a:off x="4422495" y="2140317"/>
            <a:ext cx="145229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ноль минут</a:t>
            </a:r>
          </a:p>
        </p:txBody>
      </p:sp>
      <p:sp>
        <p:nvSpPr>
          <p:cNvPr id="15" name="TextBox 14"/>
          <p:cNvSpPr txBox="1"/>
          <p:nvPr/>
        </p:nvSpPr>
        <p:spPr>
          <a:xfrm>
            <a:off x="4422495" y="2957740"/>
            <a:ext cx="145229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медианное</a:t>
            </a:r>
          </a:p>
        </p:txBody>
      </p:sp>
      <p:sp>
        <p:nvSpPr>
          <p:cNvPr id="16" name="Rounded Rectangle 15"/>
          <p:cNvSpPr/>
          <p:nvPr/>
        </p:nvSpPr>
        <p:spPr>
          <a:xfrm>
            <a:off x="6176543" y="1335024"/>
            <a:ext cx="1726615" cy="2506772"/>
          </a:xfrm>
          <a:prstGeom prst="roundRect">
            <a:avLst>
              <a:gd name="adj" fmla="val 17653"/>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313703" y="1472184"/>
            <a:ext cx="1452295"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ДЕЙСТВУЮЩАЯ ВЕРСИЯ — РАЗЛИЧЕНИЕ И ПОДТВЕРЖДЕНИЕ</a:t>
            </a:r>
          </a:p>
        </p:txBody>
      </p:sp>
      <p:sp>
        <p:nvSpPr>
          <p:cNvPr id="18" name="TextBox 17"/>
          <p:cNvSpPr txBox="1"/>
          <p:nvPr/>
        </p:nvSpPr>
        <p:spPr>
          <a:xfrm>
            <a:off x="6313703" y="2347789"/>
            <a:ext cx="1452295" cy="511873"/>
          </a:xfrm>
          <a:prstGeom prst="rect">
            <a:avLst/>
          </a:prstGeom>
          <a:noFill/>
        </p:spPr>
        <p:txBody>
          <a:bodyPr wrap="square" lIns="0" rIns="0" tIns="0" bIns="0" anchor="t">
            <a:spAutoFit/>
          </a:bodyPr>
          <a:lstStyle/>
          <a:p>
            <a:pPr algn="l">
              <a:lnSpc>
                <a:spcPct val="108000"/>
              </a:lnSpc>
            </a:pPr>
            <a:r>
              <a:rPr sz="1400" b="1" i="0">
                <a:solidFill>
                  <a:srgbClr val="F0AB00"/>
                </a:solidFill>
                <a:latin typeface="Arial"/>
              </a:rPr>
              <a:t>от 0,82 до 0,92 · от 0,13 до 0,26</a:t>
            </a:r>
          </a:p>
        </p:txBody>
      </p:sp>
      <p:sp>
        <p:nvSpPr>
          <p:cNvPr id="19" name="TextBox 18"/>
          <p:cNvSpPr txBox="1"/>
          <p:nvPr/>
        </p:nvSpPr>
        <p:spPr>
          <a:xfrm>
            <a:off x="6313703" y="2859662"/>
            <a:ext cx="145229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227 091 госпитализация; 4–8 тревог на подтверждение</a:t>
            </a:r>
          </a:p>
        </p:txBody>
      </p:sp>
      <p:sp>
        <p:nvSpPr>
          <p:cNvPr id="20" name="Rounded Rectangle 19"/>
          <p:cNvSpPr/>
          <p:nvPr/>
        </p:nvSpPr>
        <p:spPr>
          <a:xfrm>
            <a:off x="374904" y="3933236"/>
            <a:ext cx="11441887" cy="1640364"/>
          </a:xfrm>
          <a:prstGeom prst="roundRect">
            <a:avLst>
              <a:gd name="adj" fmla="val 18581"/>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024676"/>
            <a:ext cx="11112703" cy="2211531"/>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145 885 обращений двух приёмных отделений, данные 2023 года, окно предсказания шесть часов.</a:t>
            </a:r>
          </a:p>
          <a:p>
            <a:pPr algn="l">
              <a:lnSpc>
                <a:spcPct val="126000"/>
              </a:lnSpc>
              <a:spcBef>
                <a:spcPts val="700"/>
              </a:spcBef>
            </a:pPr>
            <a:r>
              <a:rPr sz="1500" b="0" i="0">
                <a:solidFill>
                  <a:srgbClr val="21295C"/>
                </a:solidFill>
                <a:latin typeface="Arial"/>
              </a:rPr>
              <a:t/>
            </a:r>
            <a:r>
              <a:rPr sz="1500" b="0" i="0">
                <a:solidFill>
                  <a:srgbClr val="21295C"/>
                </a:solidFill>
                <a:latin typeface="Arial"/>
              </a:rPr>
              <a:t>Вывод авторов дословно: «добавляет мало к тому, что врачи и так делают».</a:t>
            </a:r>
          </a:p>
          <a:p>
            <a:pPr algn="l">
              <a:lnSpc>
                <a:spcPct val="126000"/>
              </a:lnSpc>
              <a:spcBef>
                <a:spcPts val="700"/>
              </a:spcBef>
            </a:pPr>
            <a:r>
              <a:rPr sz="1500" b="0" i="0">
                <a:solidFill>
                  <a:srgbClr val="21295C"/>
                </a:solidFill>
                <a:latin typeface="Arial"/>
              </a:rPr>
              <a:t/>
            </a:r>
            <a:r>
              <a:rPr sz="1500" b="0" i="0">
                <a:solidFill>
                  <a:srgbClr val="21295C"/>
                </a:solidFill>
                <a:latin typeface="Arial"/>
              </a:rPr>
              <a:t>Действующую версию проверили проспективно, в четырёх системах: различение выросло, доля подтверждения осталась низкой.</a:t>
            </a:r>
          </a:p>
        </p:txBody>
      </p:sp>
      <p:sp>
        <p:nvSpPr>
          <p:cNvPr id="22" name="Rounded Rectangle 21"/>
          <p:cNvSpPr/>
          <p:nvPr/>
        </p:nvSpPr>
        <p:spPr>
          <a:xfrm>
            <a:off x="8214055" y="1335024"/>
            <a:ext cx="3474720" cy="2625231"/>
          </a:xfrm>
          <a:prstGeom prst="roundRect">
            <a:avLst>
              <a:gd name="adj" fmla="val 11610"/>
            </a:avLst>
          </a:prstGeom>
          <a:solidFill>
            <a:srgbClr val="F4F7FA"/>
          </a:solidFill>
          <a:ln w="19050">
            <a:solidFill>
              <a:srgbClr val="1C7293"/>
            </a:solidFill>
          </a:ln>
          <a:effectLst/>
        </p:spPr>
        <p:txBody>
          <a:bodyPr rtlCol="0" anchor="ctr"/>
          <a:lstStyle/>
          <a:p>
            <a:pPr algn="ctr"/>
          </a:p>
        </p:txBody>
      </p:sp>
      <p:pic>
        <p:nvPicPr>
          <p:cNvPr id="23" name="Picture 22" descr="s59-stranitsa-publikatsii-2024.png"/>
          <p:cNvPicPr>
            <a:picLocks noChangeAspect="1"/>
          </p:cNvPicPr>
          <p:nvPr/>
        </p:nvPicPr>
        <p:blipFill>
          <a:blip r:embed="rId2"/>
          <a:stretch>
            <a:fillRect/>
          </a:stretch>
        </p:blipFill>
        <p:spPr>
          <a:xfrm>
            <a:off x="8351215" y="1472184"/>
            <a:ext cx="3200400" cy="2350911"/>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Ostermayer D. G., Braunheim B., Mehta A. M., Ward J., Andrabi S., Sirajuddin A. M., JAMIA Open 2024;7(4):ooae133, DOI 10.1093/jamiaopen/ooae133, PMID 39545248</a:t>
            </a:r>
            <a:r>
              <a:rPr sz="1200" b="0" i="1">
                <a:solidFill>
                  <a:srgbClr val="1C7293"/>
                </a:solidFill>
                <a:latin typeface="Arial"/>
              </a:rPr>
              <a:t> · </a:t>
            </a:r>
            <a:r>
              <a:rPr sz="1200" b="0" i="1" u="sng">
                <a:solidFill>
                  <a:srgbClr val="065A82"/>
                </a:solidFill>
                <a:latin typeface="Arial"/>
                <a:hlinkClick r:id="rId4"/>
              </a:rPr>
              <a:t>проспективная многоцентровая проверка действующей версии, JAMA Network Open 2026, DOI 10.1001/jamanetworkopen.2026.0181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внимание расходуется там же, только больше</a:t>
            </a:r>
          </a:p>
        </p:txBody>
      </p:sp>
      <p:sp>
        <p:nvSpPr>
          <p:cNvPr id="4" name="Rounded Rectangle 3"/>
          <p:cNvSpPr/>
          <p:nvPr/>
        </p:nvSpPr>
        <p:spPr>
          <a:xfrm>
            <a:off x="502920" y="1335024"/>
            <a:ext cx="3618890"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6" name="TextBox 5"/>
          <p:cNvSpPr txBox="1"/>
          <p:nvPr/>
        </p:nvSpPr>
        <p:spPr>
          <a:xfrm>
            <a:off x="640080" y="1725375"/>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раннее оповещение работает без участия человека</a:t>
            </a:r>
          </a:p>
        </p:txBody>
      </p:sp>
      <p:sp>
        <p:nvSpPr>
          <p:cNvPr id="7" name="Rounded Rectangle 6"/>
          <p:cNvSpPr/>
          <p:nvPr/>
        </p:nvSpPr>
        <p:spPr>
          <a:xfrm>
            <a:off x="4286402" y="1335024"/>
            <a:ext cx="3618890"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9" name="TextBox 8"/>
          <p:cNvSpPr txBox="1"/>
          <p:nvPr/>
        </p:nvSpPr>
        <p:spPr>
          <a:xfrm>
            <a:off x="4423562" y="1725375"/>
            <a:ext cx="3344570" cy="902297"/>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разбор и отклонение тревоги — отдельная статья рабочего времени, со штатом</a:t>
            </a:r>
          </a:p>
        </p:txBody>
      </p:sp>
      <p:sp>
        <p:nvSpPr>
          <p:cNvPr id="10" name="Rounded Rectangle 9"/>
          <p:cNvSpPr/>
          <p:nvPr/>
        </p:nvSpPr>
        <p:spPr>
          <a:xfrm>
            <a:off x="8069884" y="1335024"/>
            <a:ext cx="3618890" cy="1735356"/>
          </a:xfrm>
          <a:prstGeom prst="roundRect">
            <a:avLst>
              <a:gd name="adj" fmla="val 17564"/>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2" name="TextBox 11"/>
          <p:cNvSpPr txBox="1"/>
          <p:nvPr/>
        </p:nvSpPr>
        <p:spPr>
          <a:xfrm>
            <a:off x="8207044" y="1725375"/>
            <a:ext cx="3344570" cy="1156920"/>
          </a:xfrm>
          <a:prstGeom prst="rect">
            <a:avLst/>
          </a:prstGeom>
          <a:noFill/>
        </p:spPr>
        <p:txBody>
          <a:bodyPr wrap="square" lIns="0" rIns="0" tIns="0" bIns="0" anchor="t">
            <a:spAutoFit/>
          </a:bodyPr>
          <a:lstStyle/>
          <a:p>
            <a:pPr algn="l">
              <a:lnSpc>
                <a:spcPct val="108000"/>
              </a:lnSpc>
            </a:pPr>
            <a:r>
              <a:rPr sz="2200" b="1" i="0">
                <a:solidFill>
                  <a:srgbClr val="F0AB00"/>
                </a:solidFill>
                <a:latin typeface="Arial"/>
              </a:rPr>
              <a:t>внимание расходуется там же, где раньше, только больше</a:t>
            </a:r>
          </a:p>
        </p:txBody>
      </p:sp>
      <p:sp>
        <p:nvSpPr>
          <p:cNvPr id="13" name="TextBox 12"/>
          <p:cNvSpPr txBox="1"/>
          <p:nvPr/>
        </p:nvSpPr>
        <p:spPr>
          <a:xfrm>
            <a:off x="502920" y="328983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До</a:t>
            </a:r>
          </a:p>
        </p:txBody>
      </p:sp>
      <p:sp>
        <p:nvSpPr>
          <p:cNvPr id="14" name="Rounded Rectangle 13"/>
          <p:cNvSpPr/>
          <p:nvPr/>
        </p:nvSpPr>
        <p:spPr>
          <a:xfrm>
            <a:off x="1920240" y="325326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329898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обход по расписанию</a:t>
            </a:r>
          </a:p>
        </p:txBody>
      </p:sp>
      <p:sp>
        <p:nvSpPr>
          <p:cNvPr id="16" name="Right Arrow 15"/>
          <p:cNvSpPr/>
          <p:nvPr/>
        </p:nvSpPr>
        <p:spPr>
          <a:xfrm>
            <a:off x="5039258" y="3422377"/>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5267858" y="325326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5350154" y="329898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балл по таблице</a:t>
            </a:r>
          </a:p>
        </p:txBody>
      </p:sp>
      <p:sp>
        <p:nvSpPr>
          <p:cNvPr id="19" name="Right Arrow 18"/>
          <p:cNvSpPr/>
          <p:nvPr/>
        </p:nvSpPr>
        <p:spPr>
          <a:xfrm>
            <a:off x="8386876" y="342237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615476" y="325326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8697772" y="329898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звать врача или нет</a:t>
            </a:r>
          </a:p>
        </p:txBody>
      </p:sp>
      <p:sp>
        <p:nvSpPr>
          <p:cNvPr id="22" name="TextBox 21"/>
          <p:cNvSpPr txBox="1"/>
          <p:nvPr/>
        </p:nvSpPr>
        <p:spPr>
          <a:xfrm>
            <a:off x="502920" y="391153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После</a:t>
            </a:r>
          </a:p>
        </p:txBody>
      </p:sp>
      <p:sp>
        <p:nvSpPr>
          <p:cNvPr id="23" name="Rounded Rectangle 22"/>
          <p:cNvSpPr/>
          <p:nvPr/>
        </p:nvSpPr>
        <p:spPr>
          <a:xfrm>
            <a:off x="1920240" y="38749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2002536" y="39206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считает непрерывно</a:t>
            </a:r>
          </a:p>
        </p:txBody>
      </p:sp>
      <p:sp>
        <p:nvSpPr>
          <p:cNvPr id="25" name="Right Arrow 24"/>
          <p:cNvSpPr/>
          <p:nvPr/>
        </p:nvSpPr>
        <p:spPr>
          <a:xfrm>
            <a:off x="5039258" y="4044074"/>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5267858" y="3874957"/>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7" name="TextBox 26"/>
          <p:cNvSpPr txBox="1"/>
          <p:nvPr/>
        </p:nvSpPr>
        <p:spPr>
          <a:xfrm>
            <a:off x="5350154" y="3920677"/>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тревога модели</a:t>
            </a:r>
          </a:p>
        </p:txBody>
      </p:sp>
      <p:sp>
        <p:nvSpPr>
          <p:cNvPr id="28" name="Right Arrow 27"/>
          <p:cNvSpPr/>
          <p:nvPr/>
        </p:nvSpPr>
        <p:spPr>
          <a:xfrm>
            <a:off x="8386876" y="4044074"/>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8615476" y="38749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8697772" y="39206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разбор и отклонение</a:t>
            </a:r>
          </a:p>
        </p:txBody>
      </p:sp>
      <p:sp>
        <p:nvSpPr>
          <p:cNvPr id="31" name="TextBox 30"/>
          <p:cNvSpPr txBox="1"/>
          <p:nvPr/>
        </p:nvSpPr>
        <p:spPr>
          <a:xfrm>
            <a:off x="502920" y="438692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Оповещение появилось без человека; разбор и отклонение тревоги стал новым шагом той же смены</a:t>
            </a:r>
          </a:p>
        </p:txBody>
      </p:sp>
      <p:sp>
        <p:nvSpPr>
          <p:cNvPr id="32" name="Rounded Rectangle 31"/>
          <p:cNvSpPr/>
          <p:nvPr/>
        </p:nvSpPr>
        <p:spPr>
          <a:xfrm>
            <a:off x="374904" y="4689610"/>
            <a:ext cx="11441887" cy="1546597"/>
          </a:xfrm>
          <a:prstGeom prst="roundRect">
            <a:avLst>
              <a:gd name="adj" fmla="val 19707"/>
            </a:avLst>
          </a:prstGeom>
          <a:solidFill>
            <a:srgbClr val="F4F7FA"/>
          </a:solidFill>
          <a:ln w="19050">
            <a:solidFill>
              <a:srgbClr val="1C7293"/>
            </a:solidFill>
          </a:ln>
          <a:effectLst/>
        </p:spPr>
        <p:txBody>
          <a:bodyPr rtlCol="0" anchor="ctr"/>
          <a:lstStyle/>
          <a:p>
            <a:pPr algn="ctr"/>
          </a:p>
        </p:txBody>
      </p:sp>
      <p:sp>
        <p:nvSpPr>
          <p:cNvPr id="33" name="TextBox 32"/>
          <p:cNvSpPr txBox="1"/>
          <p:nvPr/>
        </p:nvSpPr>
        <p:spPr>
          <a:xfrm>
            <a:off x="539496" y="4781050"/>
            <a:ext cx="5373471" cy="1455157"/>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Форма «нагрузка выросла на том же месте» — та же смена у той же постели; форма «шаг появился» — разбор потока тревог как статья рабочего времени.</a:t>
            </a:r>
          </a:p>
          <a:p>
            <a:pPr algn="l">
              <a:lnSpc>
                <a:spcPct val="126000"/>
              </a:lnSpc>
              <a:spcBef>
                <a:spcPts val="700"/>
              </a:spcBef>
            </a:pPr>
            <a:r>
              <a:rPr sz="1250" b="0" i="0">
                <a:solidFill>
                  <a:srgbClr val="21295C"/>
                </a:solidFill>
                <a:latin typeface="Arial"/>
              </a:rPr>
              <a:t/>
            </a:r>
            <a:r>
              <a:rPr sz="1250" b="0" i="0">
                <a:solidFill>
                  <a:srgbClr val="21295C"/>
                </a:solidFill>
                <a:latin typeface="Arial"/>
              </a:rPr>
              <a:t>Та же постановка перенесена на детей; чисел из того разбора не приводим — полный текст закрыт.</a:t>
            </a:r>
          </a:p>
        </p:txBody>
      </p:sp>
      <p:sp>
        <p:nvSpPr>
          <p:cNvPr id="34" name="TextBox 33"/>
          <p:cNvSpPr txBox="1"/>
          <p:nvPr/>
        </p:nvSpPr>
        <p:spPr>
          <a:xfrm>
            <a:off x="6278727" y="4781050"/>
            <a:ext cx="5373471" cy="1455157"/>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поток тревог в 24 больницах за вирусную эпидемию: </a:t>
            </a:r>
            <a:r>
              <a:rPr sz="1250" b="1" i="0">
                <a:solidFill>
                  <a:srgbClr val="21295C"/>
                </a:solidFill>
                <a:latin typeface="Arial"/>
              </a:rPr>
              <a:t>953 → 1 363 в сутки</a:t>
            </a:r>
          </a:p>
          <a:p>
            <a:pPr algn="l">
              <a:lnSpc>
                <a:spcPct val="126000"/>
              </a:lnSpc>
              <a:spcBef>
                <a:spcPts val="700"/>
              </a:spcBef>
            </a:pPr>
            <a:r>
              <a:rPr sz="1250" b="0" i="0">
                <a:solidFill>
                  <a:srgbClr val="21295C"/>
                </a:solidFill>
                <a:latin typeface="Arial"/>
              </a:rPr>
              <a:t/>
            </a:r>
            <a:r>
              <a:rPr sz="1250" b="0" i="0">
                <a:solidFill>
                  <a:srgbClr val="21295C"/>
                </a:solidFill>
                <a:latin typeface="Arial"/>
              </a:rPr>
              <a:t>• загрузка за тот же период: </a:t>
            </a:r>
            <a:r>
              <a:rPr sz="1250" b="1" i="0">
                <a:solidFill>
                  <a:srgbClr val="21295C"/>
                </a:solidFill>
                <a:latin typeface="Arial"/>
              </a:rPr>
              <a:t>10 159 → 6 634 пациента</a:t>
            </a:r>
            <a:r>
              <a:rPr sz="1250" b="0" i="0">
                <a:solidFill>
                  <a:srgbClr val="21295C"/>
                </a:solidFill>
                <a:latin typeface="Arial"/>
              </a:rPr>
              <a:t>, доля с тревогой </a:t>
            </a:r>
            <a:r>
              <a:rPr sz="1250" b="1" i="0">
                <a:solidFill>
                  <a:srgbClr val="21295C"/>
                </a:solidFill>
                <a:latin typeface="Arial"/>
              </a:rPr>
              <a:t>9 → 21 из ста</a:t>
            </a:r>
          </a:p>
          <a:p>
            <a:pPr algn="l">
              <a:lnSpc>
                <a:spcPct val="126000"/>
              </a:lnSpc>
              <a:spcBef>
                <a:spcPts val="700"/>
              </a:spcBef>
            </a:pPr>
            <a:r>
              <a:rPr sz="1250" b="0" i="0">
                <a:solidFill>
                  <a:srgbClr val="21295C"/>
                </a:solidFill>
                <a:latin typeface="Arial"/>
              </a:rPr>
              <a:t/>
            </a:r>
            <a:r>
              <a:rPr sz="1250" b="1" i="0">
                <a:solidFill>
                  <a:srgbClr val="21295C"/>
                </a:solidFill>
                <a:latin typeface="Arial"/>
              </a:rPr>
              <a:t>Распределение входов сдвинулось, порог остался на месте.</a:t>
            </a:r>
          </a:p>
        </p:txBody>
      </p:sp>
      <p:sp>
        <p:nvSpPr>
          <p:cNvPr id="35" name="Rectangle 34"/>
          <p:cNvSpPr/>
          <p:nvPr/>
        </p:nvSpPr>
        <p:spPr>
          <a:xfrm>
            <a:off x="6091275" y="4781050"/>
            <a:ext cx="9144" cy="1415554"/>
          </a:xfrm>
          <a:prstGeom prst="rect">
            <a:avLst/>
          </a:prstGeom>
          <a:solidFill>
            <a:srgbClr val="D9E2EC"/>
          </a:solidFill>
          <a:ln>
            <a:noFill/>
          </a:ln>
          <a:effectLst/>
        </p:spPr>
        <p:txBody>
          <a:bodyPr rtlCol="0" anchor="ctr"/>
          <a:lstStyle/>
          <a:p>
            <a:pPr algn="ct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Wong A., Cao J., Lyons P. G. и соавт., JAMA Network Open 2021;4(11), DOI 10.1001/jamanetworkopen.2021.35286, PMID 34797372</a:t>
            </a:r>
            <a:r>
              <a:rPr sz="1200" b="0" i="1">
                <a:solidFill>
                  <a:srgbClr val="1C7293"/>
                </a:solidFill>
                <a:latin typeface="Arial"/>
              </a:rPr>
              <a:t> · </a:t>
            </a:r>
            <a:r>
              <a:rPr sz="1200" b="0" i="1">
                <a:solidFill>
                  <a:srgbClr val="1C7293"/>
                </a:solidFill>
                <a:latin typeface="Arial"/>
              </a:rPr>
              <a:t>разбор той же постановки на детской популяции, публикация октября 2026 года, выходные данные не установлены</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Наблюдение: тревога без названной базы не предупреждает</a:t>
            </a:r>
          </a:p>
        </p:txBody>
      </p:sp>
      <p:sp>
        <p:nvSpPr>
          <p:cNvPr id="4" name="Rounded Rectangle 3"/>
          <p:cNvSpPr/>
          <p:nvPr/>
        </p:nvSpPr>
        <p:spPr>
          <a:xfrm>
            <a:off x="374904" y="1243584"/>
            <a:ext cx="11441887" cy="4313914"/>
          </a:xfrm>
          <a:prstGeom prst="roundRect">
            <a:avLst>
              <a:gd name="adj" fmla="val 706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5373471"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получается.</a:t>
            </a:r>
            <a:r>
              <a:rPr sz="1500" b="0" i="0">
                <a:solidFill>
                  <a:srgbClr val="21295C"/>
                </a:solidFill>
                <a:latin typeface="Arial"/>
              </a:rPr>
              <a:t> Считать балл непрерывно и по всей больнице сразу — по данным, которые уже лежат в карте. Догнать полосу подтверждения заменённой шкалы: 12 из ста против 8 и 18 у двух других. Различение действующей версии выросло до полосы от 0,82 до 0,92 по четырём системам.</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не получается.</a:t>
            </a:r>
            <a:r>
              <a:rPr sz="1500" b="0" i="0">
                <a:solidFill>
                  <a:srgbClr val="21295C"/>
                </a:solidFill>
                <a:latin typeface="Arial"/>
              </a:rPr>
              <a:t> Назначить себе порог: его назначает организация под своё население. Опередить врача там, где данные попадают в карту после его решения: медианное опережение ноль минут. Замолчать при сдвинувшейся картине населения: поток вырос с 953 до 1 363 в сутки при упавшей загрузке.</a:t>
            </a:r>
          </a:p>
        </p:txBody>
      </p:sp>
      <p:sp>
        <p:nvSpPr>
          <p:cNvPr id="6" name="TextBox 5"/>
          <p:cNvSpPr txBox="1"/>
          <p:nvPr/>
        </p:nvSpPr>
        <p:spPr>
          <a:xfrm>
            <a:off x="6278727" y="1335024"/>
            <a:ext cx="5373471"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стало с работой.</a:t>
            </a:r>
            <a:r>
              <a:rPr sz="1500" b="0" i="0">
                <a:solidFill>
                  <a:srgbClr val="21295C"/>
                </a:solidFill>
                <a:latin typeface="Arial"/>
              </a:rPr>
              <a:t> </a:t>
            </a:r>
            <a:r>
              <a:rPr sz="1500" b="1" i="0">
                <a:solidFill>
                  <a:srgbClr val="21295C"/>
                </a:solidFill>
                <a:latin typeface="Arial"/>
              </a:rPr>
              <a:t>Нагрузка выросла на том же месте</a:t>
            </a:r>
            <a:r>
              <a:rPr sz="1500" b="0" i="0">
                <a:solidFill>
                  <a:srgbClr val="21295C"/>
                </a:solidFill>
                <a:latin typeface="Arial"/>
              </a:rPr>
              <a:t> — та же смена у той же постели, вырос объём чтения и отклонения. </a:t>
            </a:r>
            <a:r>
              <a:rPr sz="1500" b="1" i="0">
                <a:solidFill>
                  <a:srgbClr val="21295C"/>
                </a:solidFill>
                <a:latin typeface="Arial"/>
              </a:rPr>
              <a:t>Появился шаг</a:t>
            </a:r>
            <a:r>
              <a:rPr sz="1500" b="0" i="0">
                <a:solidFill>
                  <a:srgbClr val="21295C"/>
                </a:solidFill>
                <a:latin typeface="Arial"/>
              </a:rPr>
              <a:t> — разбор и отклонение тревоги; в отдельных больницах у него штат. </a:t>
            </a:r>
            <a:r>
              <a:rPr sz="1500" b="1" i="0">
                <a:solidFill>
                  <a:srgbClr val="21295C"/>
                </a:solidFill>
                <a:latin typeface="Arial"/>
              </a:rPr>
              <a:t>Прочерк: что стало с самой сменой, не измерено — качество её работы до внедрения и после никто не снимал</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Что это держит.</a:t>
            </a:r>
            <a:r>
              <a:rPr sz="1500" b="0" i="0">
                <a:solidFill>
                  <a:srgbClr val="21295C"/>
                </a:solidFill>
                <a:latin typeface="Arial"/>
              </a:rPr>
              <a:t> Проверка доли подтверждения на своём потоке до включения. Назначенный разбор потока, посчитанный как рабочее время. Правила тишины и порог, пересчитанный под местную распространённость.</a:t>
            </a:r>
          </a:p>
          <a:p>
            <a:pPr algn="l">
              <a:lnSpc>
                <a:spcPct val="126000"/>
              </a:lnSpc>
              <a:spcBef>
                <a:spcPts val="700"/>
              </a:spcBef>
            </a:pPr>
            <a:r>
              <a:rPr sz="1500" b="0" i="0">
                <a:solidFill>
                  <a:srgbClr val="21295C"/>
                </a:solidFill>
                <a:latin typeface="Arial"/>
              </a:rPr>
              <a:t/>
            </a:r>
            <a:r>
              <a:rPr sz="1500" b="1" i="0">
                <a:solidFill>
                  <a:srgbClr val="21295C"/>
                </a:solidFill>
                <a:latin typeface="Arial"/>
              </a:rPr>
              <a:t>Тревога без названной базы не предупреждает: она сообщает о срабатывании порога и молчит о том, что произошло с пациентом.</a:t>
            </a:r>
          </a:p>
        </p:txBody>
      </p:sp>
      <p:sp>
        <p:nvSpPr>
          <p:cNvPr id="7" name="Rectangle 6"/>
          <p:cNvSpPr/>
          <p:nvPr/>
        </p:nvSpPr>
        <p:spPr>
          <a:xfrm>
            <a:off x="6091275" y="1335024"/>
            <a:ext cx="9144" cy="4039594"/>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раздела: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198075" cy="374263"/>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905467"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
            </a:r>
          </a:p>
        </p:txBody>
      </p:sp>
      <p:sp>
        <p:nvSpPr>
          <p:cNvPr id="7" name="Rectangle 6"/>
          <p:cNvSpPr/>
          <p:nvPr/>
        </p:nvSpPr>
        <p:spPr>
          <a:xfrm>
            <a:off x="2737571" y="1335024"/>
            <a:ext cx="1967277" cy="374263"/>
          </a:xfrm>
          <a:prstGeom prst="rect">
            <a:avLst/>
          </a:prstGeom>
          <a:solidFill>
            <a:srgbClr val="065A82"/>
          </a:solidFill>
          <a:ln>
            <a:noFill/>
          </a:ln>
          <a:effectLst/>
        </p:spPr>
        <p:txBody>
          <a:bodyPr rtlCol="0" anchor="ctr"/>
          <a:lstStyle/>
          <a:p>
            <a:pPr algn="ctr"/>
          </a:p>
        </p:txBody>
      </p:sp>
      <p:sp>
        <p:nvSpPr>
          <p:cNvPr id="8" name="TextBox 7"/>
          <p:cNvSpPr txBox="1"/>
          <p:nvPr/>
        </p:nvSpPr>
        <p:spPr>
          <a:xfrm>
            <a:off x="2883875" y="1335024"/>
            <a:ext cx="1674669"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текст</a:t>
            </a:r>
          </a:p>
        </p:txBody>
      </p:sp>
      <p:sp>
        <p:nvSpPr>
          <p:cNvPr id="9" name="Rectangle 8"/>
          <p:cNvSpPr/>
          <p:nvPr/>
        </p:nvSpPr>
        <p:spPr>
          <a:xfrm>
            <a:off x="4704849" y="1335024"/>
            <a:ext cx="2735458" cy="374263"/>
          </a:xfrm>
          <a:prstGeom prst="rect">
            <a:avLst/>
          </a:prstGeom>
          <a:solidFill>
            <a:srgbClr val="065A82"/>
          </a:solidFill>
          <a:ln>
            <a:noFill/>
          </a:ln>
          <a:effectLst/>
        </p:spPr>
        <p:txBody>
          <a:bodyPr rtlCol="0" anchor="ctr"/>
          <a:lstStyle/>
          <a:p>
            <a:pPr algn="ctr"/>
          </a:p>
        </p:txBody>
      </p:sp>
      <p:sp>
        <p:nvSpPr>
          <p:cNvPr id="10" name="TextBox 9"/>
          <p:cNvSpPr txBox="1"/>
          <p:nvPr/>
        </p:nvSpPr>
        <p:spPr>
          <a:xfrm>
            <a:off x="4851153" y="1335024"/>
            <a:ext cx="2442850"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изображение</a:t>
            </a:r>
          </a:p>
        </p:txBody>
      </p:sp>
      <p:sp>
        <p:nvSpPr>
          <p:cNvPr id="11" name="Rectangle 10"/>
          <p:cNvSpPr/>
          <p:nvPr/>
        </p:nvSpPr>
        <p:spPr>
          <a:xfrm>
            <a:off x="7440308" y="1335024"/>
            <a:ext cx="4211890" cy="374263"/>
          </a:xfrm>
          <a:prstGeom prst="rect">
            <a:avLst/>
          </a:prstGeom>
          <a:solidFill>
            <a:srgbClr val="065A82"/>
          </a:solidFill>
          <a:ln>
            <a:noFill/>
          </a:ln>
          <a:effectLst/>
        </p:spPr>
        <p:txBody>
          <a:bodyPr rtlCol="0" anchor="ctr"/>
          <a:lstStyle/>
          <a:p>
            <a:pPr algn="ctr"/>
          </a:p>
        </p:txBody>
      </p:sp>
      <p:sp>
        <p:nvSpPr>
          <p:cNvPr id="12" name="TextBox 11"/>
          <p:cNvSpPr txBox="1"/>
          <p:nvPr/>
        </p:nvSpPr>
        <p:spPr>
          <a:xfrm>
            <a:off x="7586612" y="1335024"/>
            <a:ext cx="3919282"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структурированные данные</a:t>
            </a:r>
          </a:p>
        </p:txBody>
      </p:sp>
      <p:sp>
        <p:nvSpPr>
          <p:cNvPr id="13" name="Rectangle 12"/>
          <p:cNvSpPr/>
          <p:nvPr/>
        </p:nvSpPr>
        <p:spPr>
          <a:xfrm>
            <a:off x="539496" y="1709287"/>
            <a:ext cx="2198075" cy="374263"/>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09287"/>
            <a:ext cx="1905467"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классификация</a:t>
            </a:r>
          </a:p>
        </p:txBody>
      </p:sp>
      <p:sp>
        <p:nvSpPr>
          <p:cNvPr id="15" name="Rectangle 14"/>
          <p:cNvSpPr/>
          <p:nvPr/>
        </p:nvSpPr>
        <p:spPr>
          <a:xfrm>
            <a:off x="2737571" y="1709287"/>
            <a:ext cx="1967277" cy="374263"/>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2883875" y="1709287"/>
            <a:ext cx="1674669"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17" name="Rectangle 16"/>
          <p:cNvSpPr/>
          <p:nvPr/>
        </p:nvSpPr>
        <p:spPr>
          <a:xfrm>
            <a:off x="4704849" y="1709287"/>
            <a:ext cx="2735458" cy="374263"/>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4851153" y="1709287"/>
            <a:ext cx="2442850"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(отбор · анализ · диагноз)</a:t>
            </a:r>
          </a:p>
        </p:txBody>
      </p:sp>
      <p:sp>
        <p:nvSpPr>
          <p:cNvPr id="19" name="Rectangle 18"/>
          <p:cNvSpPr/>
          <p:nvPr/>
        </p:nvSpPr>
        <p:spPr>
          <a:xfrm>
            <a:off x="7440308" y="1709287"/>
            <a:ext cx="4211890" cy="374263"/>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7586612" y="1709287"/>
            <a:ext cx="3919282"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1" name="Rectangle 20"/>
          <p:cNvSpPr/>
          <p:nvPr/>
        </p:nvSpPr>
        <p:spPr>
          <a:xfrm>
            <a:off x="539496" y="2083551"/>
            <a:ext cx="2198075" cy="374263"/>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083551"/>
            <a:ext cx="1905467"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распознавание</a:t>
            </a:r>
          </a:p>
        </p:txBody>
      </p:sp>
      <p:sp>
        <p:nvSpPr>
          <p:cNvPr id="23" name="Rectangle 22"/>
          <p:cNvSpPr/>
          <p:nvPr/>
        </p:nvSpPr>
        <p:spPr>
          <a:xfrm>
            <a:off x="2737571" y="2083551"/>
            <a:ext cx="1967277" cy="374263"/>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2883875" y="2083551"/>
            <a:ext cx="1674669"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5" name="Rectangle 24"/>
          <p:cNvSpPr/>
          <p:nvPr/>
        </p:nvSpPr>
        <p:spPr>
          <a:xfrm>
            <a:off x="4704849" y="2083551"/>
            <a:ext cx="2735458" cy="374263"/>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4851153" y="2083551"/>
            <a:ext cx="2442850"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(отбор · диагноз)</a:t>
            </a:r>
          </a:p>
        </p:txBody>
      </p:sp>
      <p:sp>
        <p:nvSpPr>
          <p:cNvPr id="27" name="Rectangle 26"/>
          <p:cNvSpPr/>
          <p:nvPr/>
        </p:nvSpPr>
        <p:spPr>
          <a:xfrm>
            <a:off x="7440308" y="2083551"/>
            <a:ext cx="4211890" cy="374263"/>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7586612" y="2083551"/>
            <a:ext cx="3919282"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9" name="Rectangle 28"/>
          <p:cNvSpPr/>
          <p:nvPr/>
        </p:nvSpPr>
        <p:spPr>
          <a:xfrm>
            <a:off x="539496" y="2457815"/>
            <a:ext cx="2198075" cy="374263"/>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457815"/>
            <a:ext cx="1905467"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поиск с генерацией</a:t>
            </a:r>
          </a:p>
        </p:txBody>
      </p:sp>
      <p:sp>
        <p:nvSpPr>
          <p:cNvPr id="31" name="Rectangle 30"/>
          <p:cNvSpPr/>
          <p:nvPr/>
        </p:nvSpPr>
        <p:spPr>
          <a:xfrm>
            <a:off x="2737571" y="2457815"/>
            <a:ext cx="1967277" cy="374263"/>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883875" y="2457815"/>
            <a:ext cx="1674669"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(отбор · диагноз)</a:t>
            </a:r>
          </a:p>
        </p:txBody>
      </p:sp>
      <p:sp>
        <p:nvSpPr>
          <p:cNvPr id="33" name="Rectangle 32"/>
          <p:cNvSpPr/>
          <p:nvPr/>
        </p:nvSpPr>
        <p:spPr>
          <a:xfrm>
            <a:off x="4704849" y="2457815"/>
            <a:ext cx="2735458" cy="374263"/>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4851153" y="2457815"/>
            <a:ext cx="2442850"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35" name="Rectangle 34"/>
          <p:cNvSpPr/>
          <p:nvPr/>
        </p:nvSpPr>
        <p:spPr>
          <a:xfrm>
            <a:off x="7440308" y="2457815"/>
            <a:ext cx="4211890" cy="374263"/>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7586612" y="2457815"/>
            <a:ext cx="3919282"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37" name="Rectangle 36"/>
          <p:cNvSpPr/>
          <p:nvPr/>
        </p:nvSpPr>
        <p:spPr>
          <a:xfrm>
            <a:off x="539496" y="2832078"/>
            <a:ext cx="2198075" cy="374263"/>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832078"/>
            <a:ext cx="1905467"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прогноз</a:t>
            </a:r>
          </a:p>
        </p:txBody>
      </p:sp>
      <p:sp>
        <p:nvSpPr>
          <p:cNvPr id="39" name="Rectangle 38"/>
          <p:cNvSpPr/>
          <p:nvPr/>
        </p:nvSpPr>
        <p:spPr>
          <a:xfrm>
            <a:off x="2737571" y="2832078"/>
            <a:ext cx="1967277" cy="374263"/>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883875" y="2832078"/>
            <a:ext cx="1674669"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41" name="Rectangle 40"/>
          <p:cNvSpPr/>
          <p:nvPr/>
        </p:nvSpPr>
        <p:spPr>
          <a:xfrm>
            <a:off x="4704849" y="2832078"/>
            <a:ext cx="2735458" cy="374263"/>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4851153" y="2832078"/>
            <a:ext cx="2442850"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43" name="Rectangle 42"/>
          <p:cNvSpPr/>
          <p:nvPr/>
        </p:nvSpPr>
        <p:spPr>
          <a:xfrm>
            <a:off x="7440308" y="2832078"/>
            <a:ext cx="4211890" cy="374263"/>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7586612" y="2832078"/>
            <a:ext cx="3919282" cy="374263"/>
          </a:xfrm>
          <a:prstGeom prst="rect">
            <a:avLst/>
          </a:prstGeom>
          <a:noFill/>
        </p:spPr>
        <p:txBody>
          <a:bodyPr wrap="square" lIns="0" rIns="0" tIns="0" bIns="0" anchor="ctr">
            <a:spAutoFit/>
          </a:bodyPr>
          <a:lstStyle/>
          <a:p>
            <a:pPr algn="l">
              <a:lnSpc>
                <a:spcPct val="116000"/>
              </a:lnSpc>
            </a:pPr>
            <a:r>
              <a:rPr sz="1150" b="1" i="0">
                <a:solidFill>
                  <a:srgbClr val="21295C"/>
                </a:solidFill>
                <a:latin typeface="Arial"/>
              </a:rPr>
              <a:t>модель раннего предупреждения</a:t>
            </a:r>
            <a:r>
              <a:rPr sz="1150" b="0" i="0">
                <a:solidFill>
                  <a:srgbClr val="21295C"/>
                </a:solidFill>
                <a:latin typeface="Arial"/>
              </a:rPr>
              <a:t> (анализ)</a:t>
            </a:r>
          </a:p>
        </p:txBody>
      </p:sp>
      <p:sp>
        <p:nvSpPr>
          <p:cNvPr id="45" name="TextBox 44"/>
          <p:cNvSpPr txBox="1"/>
          <p:nvPr/>
        </p:nvSpPr>
        <p:spPr>
          <a:xfrm>
            <a:off x="539496" y="3352646"/>
            <a:ext cx="11112703"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Полужирное — разбор раздела, в скобках — занявшие клетку раньше, прочерк — пусто. Занято 4 из 12 показанных клеток</a:t>
            </a:r>
            <a:r>
              <a:rPr sz="1200" b="0" i="0">
                <a:solidFill>
                  <a:srgbClr val="21295C"/>
                </a:solidFill>
                <a:latin typeface="Arial"/>
              </a:rPr>
              <a:t>, окно курсовой сетки из 42. Новой клетки раздел не добавил.</a:t>
            </a:r>
          </a:p>
        </p:txBody>
      </p:sp>
      <p:sp>
        <p:nvSpPr>
          <p:cNvPr id="46" name="TextBox 45"/>
          <p:cNvSpPr txBox="1"/>
          <p:nvPr/>
        </p:nvSpPr>
        <p:spPr>
          <a:xfrm>
            <a:off x="539496" y="3986193"/>
            <a:ext cx="11112703"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Те же восемь клеток пусты четвёртый раздел подряд:</a:t>
            </a:r>
            <a:r>
              <a:rPr sz="1200" b="0" i="0">
                <a:solidFill>
                  <a:srgbClr val="21295C"/>
                </a:solidFill>
                <a:latin typeface="Arial"/>
              </a:rPr>
              <a:t> прочерк говорит столько же, сколько имя — инструмент такого класса здесь искать незачем.</a:t>
            </a:r>
          </a:p>
        </p:txBody>
      </p:sp>
      <p:sp>
        <p:nvSpPr>
          <p:cNvPr id="47" name="TextBox 46"/>
          <p:cNvSpPr txBox="1"/>
          <p:nvPr/>
        </p:nvSpPr>
        <p:spPr>
          <a:xfrm>
            <a:off x="539496" y="4619740"/>
            <a:ext cx="11112703"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Единственный раздел лекции целиком не на изображении:</a:t>
            </a:r>
            <a:r>
              <a:rPr sz="1200" b="0" i="0">
                <a:solidFill>
                  <a:srgbClr val="21295C"/>
                </a:solidFill>
                <a:latin typeface="Arial"/>
              </a:rPr>
              <a:t> наблюдение считает по числам, уже попавшим в карту. Вне окна — </a:t>
            </a:r>
            <a:r>
              <a:rPr sz="1200" b="0" i="1">
                <a:solidFill>
                  <a:srgbClr val="1C7293"/>
                </a:solidFill>
                <a:latin typeface="Arial"/>
              </a:rPr>
              <a:t>измерение · сигнал прибора</a:t>
            </a:r>
            <a:r>
              <a:rPr sz="1200" b="0" i="0">
                <a:solidFill>
                  <a:srgbClr val="21295C"/>
                </a:solidFill>
                <a:latin typeface="Arial"/>
              </a:rPr>
              <a:t> (анализ).</a:t>
            </a:r>
          </a:p>
        </p:txBody>
      </p:sp>
      <p:sp>
        <p:nvSpPr>
          <p:cNvPr id="48" name="Rounded Rectangle 47"/>
          <p:cNvSpPr/>
          <p:nvPr/>
        </p:nvSpPr>
        <p:spPr>
          <a:xfrm>
            <a:off x="630936" y="5337107"/>
            <a:ext cx="100584" cy="100584"/>
          </a:xfrm>
          <a:prstGeom prst="roundRect">
            <a:avLst>
              <a:gd name="adj" fmla="val 50000"/>
            </a:avLst>
          </a:prstGeom>
          <a:solidFill>
            <a:srgbClr val="028090"/>
          </a:solidFill>
          <a:ln>
            <a:noFill/>
          </a:ln>
          <a:effectLst/>
        </p:spPr>
        <p:txBody>
          <a:bodyPr rtlCol="0" anchor="ctr"/>
          <a:lstStyle/>
          <a:p>
            <a:pPr algn="ctr"/>
          </a:p>
        </p:txBody>
      </p:sp>
      <p:sp>
        <p:nvSpPr>
          <p:cNvPr id="49" name="TextBox 48"/>
          <p:cNvSpPr txBox="1"/>
          <p:nvPr/>
        </p:nvSpPr>
        <p:spPr>
          <a:xfrm>
            <a:off x="923544" y="5253287"/>
            <a:ext cx="10728655"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счёт риска внутри карты</a:t>
            </a:r>
            <a:r>
              <a:rPr sz="1200" b="0" i="0">
                <a:solidFill>
                  <a:srgbClr val="21295C"/>
                </a:solidFill>
                <a:latin typeface="Arial"/>
              </a:rPr>
              <a:t> — модуль поставщика карты: действующая версия на решающих деревьях с градиентным бустингом, донастроенных на свою больницу; из зарегистрированных в России — Webiomed</a:t>
            </a:r>
          </a:p>
        </p:txBody>
      </p:sp>
      <p:sp>
        <p:nvSpPr>
          <p:cNvPr id="50" name="Rounded Rectangle 49"/>
          <p:cNvSpPr/>
          <p:nvPr/>
        </p:nvSpPr>
        <p:spPr>
          <a:xfrm>
            <a:off x="630936" y="5970655"/>
            <a:ext cx="100584" cy="100584"/>
          </a:xfrm>
          <a:prstGeom prst="roundRect">
            <a:avLst>
              <a:gd name="adj" fmla="val 50000"/>
            </a:avLst>
          </a:prstGeom>
          <a:solidFill>
            <a:srgbClr val="028090"/>
          </a:solidFill>
          <a:ln>
            <a:noFill/>
          </a:ln>
          <a:effectLst/>
        </p:spPr>
        <p:txBody>
          <a:bodyPr rtlCol="0" anchor="ctr"/>
          <a:lstStyle/>
          <a:p>
            <a:pPr algn="ctr"/>
          </a:p>
        </p:txBody>
      </p:sp>
      <p:sp>
        <p:nvSpPr>
          <p:cNvPr id="51" name="TextBox 50"/>
          <p:cNvSpPr txBox="1"/>
          <p:nvPr/>
        </p:nvSpPr>
        <p:spPr>
          <a:xfrm>
            <a:off x="923544" y="5886835"/>
            <a:ext cx="10728655"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надзор за дрейфом и пересчёт порога</a:t>
            </a:r>
            <a:r>
              <a:rPr sz="1200" b="0" i="0">
                <a:solidFill>
                  <a:srgbClr val="21295C"/>
                </a:solidFill>
                <a:latin typeface="Arial"/>
              </a:rPr>
              <a:t> под своё население — отдельный рынок рядом с моделью</a:t>
            </a:r>
          </a:p>
        </p:txBody>
      </p:sp>
      <p:sp>
        <p:nvSpPr>
          <p:cNvPr id="52" name="Rectangle 5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1185855"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5. Ведение записи</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Приём и госпитализация заканчиваются документом. Решение по нему принимает тот, кто пациента не видел.</a:t>
            </a:r>
          </a:p>
        </p:txBody>
      </p:sp>
      <p:sp>
        <p:nvSpPr>
          <p:cNvPr id="7" name="TextBox 6"/>
          <p:cNvSpPr txBox="1"/>
          <p:nvPr/>
        </p:nvSpPr>
        <p:spPr>
          <a:xfrm>
            <a:off x="704088" y="2311240"/>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 </a:t>
            </a:r>
            <a:r>
              <a:rPr sz="1550" b="1" i="0">
                <a:solidFill>
                  <a:srgbClr val="21295C"/>
                </a:solidFill>
                <a:latin typeface="Arial"/>
              </a:rPr>
              <a:t>запись приёма</a:t>
            </a:r>
            <a:r>
              <a:rPr sz="1550" b="0" i="0">
                <a:solidFill>
                  <a:srgbClr val="21295C"/>
                </a:solidFill>
                <a:latin typeface="Arial"/>
              </a:rPr>
              <a:t> — её читают сам пациент и следующий врач</a:t>
            </a:r>
          </a:p>
        </p:txBody>
      </p:sp>
      <p:sp>
        <p:nvSpPr>
          <p:cNvPr id="8" name="TextBox 7"/>
          <p:cNvSpPr txBox="1"/>
          <p:nvPr/>
        </p:nvSpPr>
        <p:spPr>
          <a:xfrm>
            <a:off x="704088" y="2777923"/>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 </a:t>
            </a:r>
            <a:r>
              <a:rPr sz="1550" b="1" i="0">
                <a:solidFill>
                  <a:srgbClr val="21295C"/>
                </a:solidFill>
                <a:latin typeface="Arial"/>
              </a:rPr>
              <a:t>выписной эпикриз</a:t>
            </a:r>
            <a:r>
              <a:rPr sz="1550" b="0" i="0">
                <a:solidFill>
                  <a:srgbClr val="21295C"/>
                </a:solidFill>
                <a:latin typeface="Arial"/>
              </a:rPr>
              <a:t> — его читают участковый врач, следующий стационар, страховщик</a:t>
            </a:r>
          </a:p>
        </p:txBody>
      </p:sp>
      <p:sp>
        <p:nvSpPr>
          <p:cNvPr id="9" name="TextBox 8"/>
          <p:cNvSpPr txBox="1"/>
          <p:nvPr/>
        </p:nvSpPr>
        <p:spPr>
          <a:xfrm>
            <a:off x="704088" y="3244606"/>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Разборы по порядку: </a:t>
            </a:r>
            <a:r>
              <a:rPr sz="1550" b="1" i="0">
                <a:solidFill>
                  <a:srgbClr val="21295C"/>
                </a:solidFill>
                <a:latin typeface="Arial"/>
              </a:rPr>
              <a:t>Пример 1: автоматическая запись приёма</a:t>
            </a:r>
            <a:r>
              <a:rPr sz="1550" b="0" i="0">
                <a:solidFill>
                  <a:srgbClr val="21295C"/>
                </a:solidFill>
                <a:latin typeface="Arial"/>
              </a:rPr>
              <a:t> · </a:t>
            </a:r>
            <a:r>
              <a:rPr sz="1550" b="1" i="0">
                <a:solidFill>
                  <a:srgbClr val="21295C"/>
                </a:solidFill>
                <a:latin typeface="Arial"/>
              </a:rPr>
              <a:t>Пример 2: выписной эпикриз</a:t>
            </a:r>
          </a:p>
        </p:txBody>
      </p:sp>
      <p:sp>
        <p:nvSpPr>
          <p:cNvPr id="10" name="TextBox 9"/>
          <p:cNvSpPr txBox="1"/>
          <p:nvPr/>
        </p:nvSpPr>
        <p:spPr>
          <a:xfrm>
            <a:off x="704088" y="3711289"/>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Пропуск в записи и отсутствие события выглядят для читателя одинаково.</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Что делают участники на стадии записи — до всякой обученной модели</a:t>
            </a:r>
          </a:p>
        </p:txBody>
      </p:sp>
      <p:sp>
        <p:nvSpPr>
          <p:cNvPr id="4" name="Rounded Rectangle 3"/>
          <p:cNvSpPr/>
          <p:nvPr/>
        </p:nvSpPr>
        <p:spPr>
          <a:xfrm>
            <a:off x="502920" y="1335024"/>
            <a:ext cx="5510631"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ВРАЧ ПИШЕТ САМ — РЕЖИМ ПОСЧИТАН</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 минуты 22 секунды → 4 минуты 04 секунды</a:t>
            </a:r>
          </a:p>
        </p:txBody>
      </p:sp>
      <p:sp>
        <p:nvSpPr>
          <p:cNvPr id="7" name="TextBox 6"/>
          <p:cNvSpPr txBox="1"/>
          <p:nvPr/>
        </p:nvSpPr>
        <p:spPr>
          <a:xfrm>
            <a:off x="640080"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контрольная группа испытания, без всякого инструмента</a:t>
            </a:r>
          </a:p>
        </p:txBody>
      </p:sp>
      <p:sp>
        <p:nvSpPr>
          <p:cNvPr id="8" name="Rounded Rectangle 7"/>
          <p:cNvSpPr/>
          <p:nvPr/>
        </p:nvSpPr>
        <p:spPr>
          <a:xfrm>
            <a:off x="6178143" y="1335024"/>
            <a:ext cx="5510631"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ЖИВОЙ ПИСЕЦ — НАЗВАН И НЕ ПОСЧИТАН</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плечом испытания он не был</a:t>
            </a:r>
          </a:p>
        </p:txBody>
      </p:sp>
      <p:sp>
        <p:nvSpPr>
          <p:cNvPr id="11" name="Rounded Rectangle 10"/>
          <p:cNvSpPr/>
          <p:nvPr/>
        </p:nvSpPr>
        <p:spPr>
          <a:xfrm>
            <a:off x="374904" y="2982641"/>
            <a:ext cx="11441887" cy="3253566"/>
          </a:xfrm>
          <a:prstGeom prst="roundRect">
            <a:avLst>
              <a:gd name="adj" fmla="val 9368"/>
            </a:avLst>
          </a:prstGeom>
          <a:solidFill>
            <a:srgbClr val="F4F7FA"/>
          </a:solidFill>
          <a:ln w="19050">
            <a:solidFill>
              <a:srgbClr val="1C7293"/>
            </a:solidFill>
          </a:ln>
          <a:effectLst/>
        </p:spPr>
        <p:txBody>
          <a:bodyPr rtlCol="0" anchor="ctr"/>
          <a:lstStyle/>
          <a:p>
            <a:pPr algn="ctr"/>
          </a:p>
        </p:txBody>
      </p:sp>
      <p:sp>
        <p:nvSpPr>
          <p:cNvPr id="12" name="TextBox 11"/>
          <p:cNvSpPr txBox="1"/>
          <p:nvPr/>
        </p:nvSpPr>
        <p:spPr>
          <a:xfrm>
            <a:off x="539496" y="3074081"/>
            <a:ext cx="5373471" cy="3162126"/>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Приём на двенадцать минут. Врач спрашивает, смотрит, назначает — и параллельно держит в голове структуру будущей записи. Что не успели, остаётся домашней работой с картой.</a:t>
            </a:r>
          </a:p>
          <a:p>
            <a:pPr algn="l">
              <a:lnSpc>
                <a:spcPct val="126000"/>
              </a:lnSpc>
              <a:spcBef>
                <a:spcPts val="700"/>
              </a:spcBef>
            </a:pPr>
            <a:r>
              <a:rPr sz="1200" b="0" i="0">
                <a:solidFill>
                  <a:srgbClr val="21295C"/>
                </a:solidFill>
                <a:latin typeface="Arial"/>
              </a:rPr>
              <a:t/>
            </a:r>
            <a:r>
              <a:rPr sz="1200" b="1" i="0">
                <a:solidFill>
                  <a:srgbClr val="21295C"/>
                </a:solidFill>
                <a:latin typeface="Arial"/>
              </a:rPr>
              <a:t>Шесть действий стадии.</a:t>
            </a:r>
            <a:r>
              <a:rPr sz="1200" b="0" i="0">
                <a:solidFill>
                  <a:srgbClr val="21295C"/>
                </a:solidFill>
                <a:latin typeface="Arial"/>
              </a:rPr>
              <a:t> 1. Держать структуру в голове · 2. Набрать запись · 3. Вычитать и подписать · 4. Собрать выписной документ · 5. Передать его читателю · 6. Предъявить при разборе случая.</a:t>
            </a:r>
          </a:p>
          <a:p>
            <a:pPr algn="l">
              <a:lnSpc>
                <a:spcPct val="126000"/>
              </a:lnSpc>
              <a:spcBef>
                <a:spcPts val="700"/>
              </a:spcBef>
            </a:pPr>
            <a:r>
              <a:rPr sz="1200" b="0" i="0">
                <a:solidFill>
                  <a:srgbClr val="21295C"/>
                </a:solidFill>
                <a:latin typeface="Arial"/>
              </a:rPr>
              <a:t/>
            </a:r>
            <a:r>
              <a:rPr sz="1200" b="1" i="0">
                <a:solidFill>
                  <a:srgbClr val="21295C"/>
                </a:solidFill>
                <a:latin typeface="Arial"/>
              </a:rPr>
              <a:t>Без обученной модели каждое из шести делает человек: пишет сам либо диктует живому писцу.</a:t>
            </a:r>
          </a:p>
          <a:p>
            <a:pPr algn="l">
              <a:lnSpc>
                <a:spcPct val="126000"/>
              </a:lnSpc>
              <a:spcBef>
                <a:spcPts val="700"/>
              </a:spcBef>
            </a:pPr>
            <a:r>
              <a:rPr sz="1200" b="0" i="0">
                <a:solidFill>
                  <a:srgbClr val="21295C"/>
                </a:solidFill>
                <a:latin typeface="Arial"/>
              </a:rPr>
              <a:t/>
            </a:r>
            <a:r>
              <a:rPr sz="1200" b="1" i="0">
                <a:solidFill>
                  <a:srgbClr val="21295C"/>
                </a:solidFill>
                <a:latin typeface="Arial"/>
              </a:rPr>
              <a:t>С обученной моделью — два действия из шести:</a:t>
            </a:r>
            <a:r>
              <a:rPr sz="1200" b="0" i="0">
                <a:solidFill>
                  <a:srgbClr val="21295C"/>
                </a:solidFill>
                <a:latin typeface="Arial"/>
              </a:rPr>
              <a:t> набор записи (2) · сборка выписного документа (4). Шаг у человека убрали: структуру во время разговора держит инструмент — за лекцию это единственное такое место. Взамен дали новый: вычитать чужой текст и найти то, чего не было.</a:t>
            </a:r>
          </a:p>
        </p:txBody>
      </p:sp>
      <p:sp>
        <p:nvSpPr>
          <p:cNvPr id="13" name="TextBox 12"/>
          <p:cNvSpPr txBox="1"/>
          <p:nvPr/>
        </p:nvSpPr>
        <p:spPr>
          <a:xfrm>
            <a:off x="6278727" y="3074081"/>
            <a:ext cx="5373471" cy="3162126"/>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Цена обеих ошибок, до всякой точности.</a:t>
            </a:r>
          </a:p>
          <a:p>
            <a:pPr algn="l">
              <a:lnSpc>
                <a:spcPct val="126000"/>
              </a:lnSpc>
              <a:spcBef>
                <a:spcPts val="700"/>
              </a:spcBef>
            </a:pPr>
            <a:r>
              <a:rPr sz="1200" b="0" i="0">
                <a:solidFill>
                  <a:srgbClr val="21295C"/>
                </a:solidFill>
                <a:latin typeface="Arial"/>
              </a:rPr>
              <a:t/>
            </a:r>
            <a:r>
              <a:rPr sz="1200" b="0" i="0">
                <a:solidFill>
                  <a:srgbClr val="21295C"/>
                </a:solidFill>
                <a:latin typeface="Arial"/>
              </a:rPr>
              <a:t>• </a:t>
            </a:r>
            <a:r>
              <a:rPr sz="1200" b="1" i="0">
                <a:solidFill>
                  <a:srgbClr val="21295C"/>
                </a:solidFill>
                <a:latin typeface="Arial"/>
              </a:rPr>
              <a:t>записать меньше, чем было</a:t>
            </a:r>
            <a:r>
              <a:rPr sz="1200" b="0" i="0">
                <a:solidFill>
                  <a:srgbClr val="21295C"/>
                </a:solidFill>
                <a:latin typeface="Arial"/>
              </a:rPr>
              <a:t> — читатель назначит заново уже проверенное</a:t>
            </a:r>
          </a:p>
          <a:p>
            <a:pPr algn="l">
              <a:lnSpc>
                <a:spcPct val="126000"/>
              </a:lnSpc>
              <a:spcBef>
                <a:spcPts val="700"/>
              </a:spcBef>
            </a:pPr>
            <a:r>
              <a:rPr sz="1200" b="0" i="0">
                <a:solidFill>
                  <a:srgbClr val="21295C"/>
                </a:solidFill>
                <a:latin typeface="Arial"/>
              </a:rPr>
              <a:t/>
            </a:r>
            <a:r>
              <a:rPr sz="1200" b="0" i="0">
                <a:solidFill>
                  <a:srgbClr val="21295C"/>
                </a:solidFill>
                <a:latin typeface="Arial"/>
              </a:rPr>
              <a:t>• </a:t>
            </a:r>
            <a:r>
              <a:rPr sz="1200" b="1" i="0">
                <a:solidFill>
                  <a:srgbClr val="21295C"/>
                </a:solidFill>
                <a:latin typeface="Arial"/>
              </a:rPr>
              <a:t>записать то, чего не было</a:t>
            </a:r>
            <a:r>
              <a:rPr sz="1200" b="0" i="0">
                <a:solidFill>
                  <a:srgbClr val="21295C"/>
                </a:solidFill>
                <a:latin typeface="Arial"/>
              </a:rPr>
              <a:t> — назначит по ложному основанию</a:t>
            </a:r>
          </a:p>
          <a:p>
            <a:pPr algn="l">
              <a:lnSpc>
                <a:spcPct val="126000"/>
              </a:lnSpc>
              <a:spcBef>
                <a:spcPts val="700"/>
              </a:spcBef>
            </a:pPr>
            <a:r>
              <a:rPr sz="1200" b="0" i="0">
                <a:solidFill>
                  <a:srgbClr val="21295C"/>
                </a:solidFill>
                <a:latin typeface="Arial"/>
              </a:rPr>
              <a:t/>
            </a:r>
            <a:r>
              <a:rPr sz="1200" b="1" i="0">
                <a:solidFill>
                  <a:srgbClr val="21295C"/>
                </a:solidFill>
                <a:latin typeface="Arial"/>
              </a:rPr>
              <a:t>Восемнадцать секунд улучшения без инструмента: всякое «стало быстрее» считают против этой величины.</a:t>
            </a:r>
          </a:p>
        </p:txBody>
      </p:sp>
      <p:sp>
        <p:nvSpPr>
          <p:cNvPr id="14" name="Rectangle 13"/>
          <p:cNvSpPr/>
          <p:nvPr/>
        </p:nvSpPr>
        <p:spPr>
          <a:xfrm>
            <a:off x="6091275" y="3074081"/>
            <a:ext cx="9144" cy="3118486"/>
          </a:xfrm>
          <a:prstGeom prst="rect">
            <a:avLst/>
          </a:prstGeom>
          <a:solidFill>
            <a:srgbClr val="D9E2EC"/>
          </a:solidFill>
          <a:ln>
            <a:noFill/>
          </a:ln>
          <a:effectLst/>
        </p:spPr>
        <p:txBody>
          <a:bodyPr rtlCol="0" anchor="ctr"/>
          <a:lstStyle/>
          <a:p>
            <a:pPr algn="ctr"/>
          </a:p>
        </p:txBody>
      </p:sp>
      <p:sp>
        <p:nvSpPr>
          <p:cNvPr id="15" name="Rectangle 14"/>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Трёхрукое рандомизированное испытание двух инструментов, препринт medRxiv 2025.07.10.25331333, рецензирования не проходил</a:t>
            </a:r>
            <a:r>
              <a:rPr sz="1200" b="0" i="1">
                <a:solidFill>
                  <a:srgbClr val="1C7293"/>
                </a:solidFill>
                <a:latin typeface="Arial"/>
              </a:rPr>
              <a:t> · </a:t>
            </a:r>
            <a:r>
              <a:rPr sz="1200" b="0" i="1" u="sng">
                <a:solidFill>
                  <a:srgbClr val="065A82"/>
                </a:solidFill>
                <a:latin typeface="Arial"/>
                <a:hlinkClick r:id="rId3"/>
              </a:rPr>
              <a:t>регистрация NCT06792890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автоматическая запись приёма</a:t>
            </a:r>
          </a:p>
        </p:txBody>
      </p:sp>
      <p:sp>
        <p:nvSpPr>
          <p:cNvPr id="4" name="Rounded Rectangle 3"/>
          <p:cNvSpPr/>
          <p:nvPr/>
        </p:nvSpPr>
        <p:spPr>
          <a:xfrm>
            <a:off x="502920"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ЗАЯВЛЕНО — БЕЗ РАСКРЫТОЙ МЕТОДИКИ СЧЁТА</a:t>
            </a:r>
          </a:p>
        </p:txBody>
      </p:sp>
      <p:sp>
        <p:nvSpPr>
          <p:cNvPr id="6" name="TextBox 5"/>
          <p:cNvSpPr txBox="1"/>
          <p:nvPr/>
        </p:nvSpPr>
        <p:spPr>
          <a:xfrm>
            <a:off x="640080" y="2140317"/>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15 791 час на 63 000 приёмов</a:t>
            </a:r>
          </a:p>
        </p:txBody>
      </p:sp>
      <p:sp>
        <p:nvSpPr>
          <p:cNvPr id="7" name="TextBox 6"/>
          <p:cNvSpPr txBox="1"/>
          <p:nvPr/>
        </p:nvSpPr>
        <p:spPr>
          <a:xfrm>
            <a:off x="640080" y="295774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десять недель — около четверти часа на приём</a:t>
            </a:r>
          </a:p>
        </p:txBody>
      </p:sp>
      <p:sp>
        <p:nvSpPr>
          <p:cNvPr id="8" name="Rounded Rectangle 7"/>
          <p:cNvSpPr/>
          <p:nvPr/>
        </p:nvSpPr>
        <p:spPr>
          <a:xfrm>
            <a:off x="3340531" y="1335024"/>
            <a:ext cx="2673019" cy="2182363"/>
          </a:xfrm>
          <a:prstGeom prst="roundRect">
            <a:avLst>
              <a:gd name="adj" fmla="val 1396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ИЗМЕРЕНО — ПЕРВЫЙ ИНСТРУМЕНТ</a:t>
            </a:r>
          </a:p>
        </p:txBody>
      </p:sp>
      <p:sp>
        <p:nvSpPr>
          <p:cNvPr id="10" name="TextBox 9"/>
          <p:cNvSpPr txBox="1"/>
          <p:nvPr/>
        </p:nvSpPr>
        <p:spPr>
          <a:xfrm>
            <a:off x="3477691" y="1932846"/>
            <a:ext cx="2398699" cy="613723"/>
          </a:xfrm>
          <a:prstGeom prst="rect">
            <a:avLst/>
          </a:prstGeom>
          <a:noFill/>
        </p:spPr>
        <p:txBody>
          <a:bodyPr wrap="square" lIns="0" rIns="0" tIns="0" bIns="0" anchor="t">
            <a:spAutoFit/>
          </a:bodyPr>
          <a:lstStyle/>
          <a:p>
            <a:pPr algn="l">
              <a:lnSpc>
                <a:spcPct val="108000"/>
              </a:lnSpc>
            </a:pPr>
            <a:r>
              <a:rPr sz="1700" b="1" i="0">
                <a:solidFill>
                  <a:srgbClr val="F0AB00"/>
                </a:solidFill>
                <a:latin typeface="Arial"/>
              </a:rPr>
              <a:t>время в заметке ниже на 9,5 процента</a:t>
            </a:r>
          </a:p>
        </p:txBody>
      </p:sp>
      <p:sp>
        <p:nvSpPr>
          <p:cNvPr id="11" name="TextBox 10"/>
          <p:cNvSpPr txBox="1"/>
          <p:nvPr/>
        </p:nvSpPr>
        <p:spPr>
          <a:xfrm>
            <a:off x="3477691" y="2546569"/>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относительно контрольной группы</a:t>
            </a:r>
          </a:p>
        </p:txBody>
      </p:sp>
      <p:sp>
        <p:nvSpPr>
          <p:cNvPr id="12" name="Rounded Rectangle 11"/>
          <p:cNvSpPr/>
          <p:nvPr/>
        </p:nvSpPr>
        <p:spPr>
          <a:xfrm>
            <a:off x="6178143"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ИЗМЕРЕНО — ИНСТРУМЕНТ 2</a:t>
            </a:r>
          </a:p>
        </p:txBody>
      </p:sp>
      <p:sp>
        <p:nvSpPr>
          <p:cNvPr id="14" name="TextBox 13"/>
          <p:cNvSpPr txBox="1"/>
          <p:nvPr/>
        </p:nvSpPr>
        <p:spPr>
          <a:xfrm>
            <a:off x="6315303"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значимого изменения нет</a:t>
            </a:r>
          </a:p>
        </p:txBody>
      </p:sp>
      <p:sp>
        <p:nvSpPr>
          <p:cNvPr id="15" name="Rounded Rectangle 14"/>
          <p:cNvSpPr/>
          <p:nvPr/>
        </p:nvSpPr>
        <p:spPr>
          <a:xfrm>
            <a:off x="9015755"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16" name="TextBox 15"/>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АКТИВНОЕ ВРЕМЯ ПРАВКИ</a:t>
            </a:r>
          </a:p>
        </p:txBody>
      </p:sp>
      <p:sp>
        <p:nvSpPr>
          <p:cNvPr id="17" name="TextBox 16"/>
          <p:cNvSpPr txBox="1"/>
          <p:nvPr/>
        </p:nvSpPr>
        <p:spPr>
          <a:xfrm>
            <a:off x="9152915"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изменилось</a:t>
            </a:r>
          </a:p>
        </p:txBody>
      </p:sp>
      <p:sp>
        <p:nvSpPr>
          <p:cNvPr id="18" name="Rounded Rectangle 17"/>
          <p:cNvSpPr/>
          <p:nvPr/>
        </p:nvSpPr>
        <p:spPr>
          <a:xfrm>
            <a:off x="374904" y="3608827"/>
            <a:ext cx="11441887" cy="2627380"/>
          </a:xfrm>
          <a:prstGeom prst="roundRect">
            <a:avLst>
              <a:gd name="adj" fmla="val 11600"/>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3700267"/>
            <a:ext cx="5373471" cy="2535940"/>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Инструмент слушает приём и отдаёт черновик заметки; врач вычитывает и подписывает.</a:t>
            </a:r>
          </a:p>
          <a:p>
            <a:pPr algn="l">
              <a:lnSpc>
                <a:spcPct val="126000"/>
              </a:lnSpc>
              <a:spcBef>
                <a:spcPts val="700"/>
              </a:spcBef>
            </a:pPr>
            <a:r>
              <a:rPr sz="1250" b="0" i="0">
                <a:solidFill>
                  <a:srgbClr val="21295C"/>
                </a:solidFill>
                <a:latin typeface="Arial"/>
              </a:rPr>
              <a:t/>
            </a:r>
            <a:r>
              <a:rPr sz="1250" b="1" i="0">
                <a:solidFill>
                  <a:srgbClr val="21295C"/>
                </a:solidFill>
                <a:latin typeface="Arial"/>
              </a:rPr>
              <a:t>Классический режим.</a:t>
            </a:r>
            <a:r>
              <a:rPr sz="1250" b="0" i="0">
                <a:solidFill>
                  <a:srgbClr val="21295C"/>
                </a:solidFill>
                <a:latin typeface="Arial"/>
              </a:rPr>
              <a:t> Врач пишет сам — посчитан контрольной группой. Живой писец — назван и не посчитан.</a:t>
            </a:r>
          </a:p>
          <a:p>
            <a:pPr algn="l">
              <a:lnSpc>
                <a:spcPct val="126000"/>
              </a:lnSpc>
              <a:spcBef>
                <a:spcPts val="700"/>
              </a:spcBef>
            </a:pPr>
            <a:r>
              <a:rPr sz="1250" b="0" i="0">
                <a:solidFill>
                  <a:srgbClr val="21295C"/>
                </a:solidFill>
                <a:latin typeface="Arial"/>
              </a:rPr>
              <a:t/>
            </a:r>
            <a:r>
              <a:rPr sz="1250" b="1" i="0">
                <a:solidFill>
                  <a:srgbClr val="21295C"/>
                </a:solidFill>
                <a:latin typeface="Arial"/>
              </a:rPr>
              <a:t>Заявление и замер считают разные величины:</a:t>
            </a:r>
            <a:r>
              <a:rPr sz="1250" b="0" i="0">
                <a:solidFill>
                  <a:srgbClr val="21295C"/>
                </a:solidFill>
                <a:latin typeface="Arial"/>
              </a:rPr>
              <a:t> время в карте вообще против времени в заметке. Четверть часа экономии не укладывается в четыре минуты работы над заметкой.</a:t>
            </a:r>
          </a:p>
        </p:txBody>
      </p:sp>
      <p:sp>
        <p:nvSpPr>
          <p:cNvPr id="20" name="TextBox 19"/>
          <p:cNvSpPr txBox="1"/>
          <p:nvPr/>
        </p:nvSpPr>
        <p:spPr>
          <a:xfrm>
            <a:off x="6278727" y="3700267"/>
            <a:ext cx="5373471" cy="2535940"/>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Число без названной методики счёта не проверяется и не опровергается: утверждением о мире оно не является.</a:t>
            </a:r>
          </a:p>
          <a:p>
            <a:pPr algn="l">
              <a:lnSpc>
                <a:spcPct val="126000"/>
              </a:lnSpc>
              <a:spcBef>
                <a:spcPts val="700"/>
              </a:spcBef>
            </a:pPr>
            <a:r>
              <a:rPr sz="1250" b="0" i="0">
                <a:solidFill>
                  <a:srgbClr val="21295C"/>
                </a:solidFill>
                <a:latin typeface="Arial"/>
              </a:rPr>
              <a:t/>
            </a:r>
            <a:r>
              <a:rPr sz="1250" b="1" i="0">
                <a:solidFill>
                  <a:srgbClr val="21295C"/>
                </a:solidFill>
                <a:latin typeface="Arial"/>
              </a:rPr>
              <a:t>Измерено рандомизированно:</a:t>
            </a:r>
            <a:r>
              <a:rPr sz="1250" b="0" i="0">
                <a:solidFill>
                  <a:srgbClr val="21295C"/>
                </a:solidFill>
                <a:latin typeface="Arial"/>
              </a:rPr>
              <a:t> три равные группы, 238 врачей четырнадцати специальностей.</a:t>
            </a:r>
          </a:p>
          <a:p>
            <a:pPr algn="l">
              <a:lnSpc>
                <a:spcPct val="126000"/>
              </a:lnSpc>
              <a:spcBef>
                <a:spcPts val="700"/>
              </a:spcBef>
            </a:pPr>
            <a:r>
              <a:rPr sz="1250" b="0" i="0">
                <a:solidFill>
                  <a:srgbClr val="21295C"/>
                </a:solidFill>
                <a:latin typeface="Arial"/>
              </a:rPr>
              <a:t/>
            </a:r>
            <a:r>
              <a:rPr sz="1250" b="1" i="0">
                <a:solidFill>
                  <a:srgbClr val="21295C"/>
                </a:solidFill>
                <a:latin typeface="Arial"/>
              </a:rPr>
              <a:t>Два продукта одного режима, один дизайн, одно население врачей — и один результат значимый, другой нулевой.</a:t>
            </a:r>
            <a:r>
              <a:rPr sz="1250" b="0" i="0">
                <a:solidFill>
                  <a:srgbClr val="21295C"/>
                </a:solidFill>
                <a:latin typeface="Arial"/>
              </a:rPr>
              <a:t> Измеренный эффект принадлежит реализации, а не классу инструмента.</a:t>
            </a:r>
          </a:p>
          <a:p>
            <a:pPr algn="l">
              <a:lnSpc>
                <a:spcPct val="126000"/>
              </a:lnSpc>
              <a:spcBef>
                <a:spcPts val="700"/>
              </a:spcBef>
            </a:pPr>
            <a:r>
              <a:rPr sz="1250" b="0" i="0">
                <a:solidFill>
                  <a:srgbClr val="21295C"/>
                </a:solidFill>
                <a:latin typeface="Arial"/>
              </a:rPr>
              <a:t/>
            </a:r>
            <a:r>
              <a:rPr sz="1250" b="1" i="0">
                <a:solidFill>
                  <a:srgbClr val="21295C"/>
                </a:solidFill>
                <a:latin typeface="Arial"/>
              </a:rPr>
              <a:t>Кто из вас прочитывает автоматический протокол встречи построчно перед тем, как разослать?</a:t>
            </a:r>
          </a:p>
        </p:txBody>
      </p:sp>
      <p:sp>
        <p:nvSpPr>
          <p:cNvPr id="21" name="Rectangle 20"/>
          <p:cNvSpPr/>
          <p:nvPr/>
        </p:nvSpPr>
        <p:spPr>
          <a:xfrm>
            <a:off x="6091275" y="3700267"/>
            <a:ext cx="9144" cy="2494658"/>
          </a:xfrm>
          <a:prstGeom prst="rect">
            <a:avLst/>
          </a:prstGeom>
          <a:solidFill>
            <a:srgbClr val="D9E2EC"/>
          </a:solidFill>
          <a:ln>
            <a:noFill/>
          </a:ln>
          <a:effectLst/>
        </p:spPr>
        <p:txBody>
          <a:bodyPr rtlCol="0" anchor="ctr"/>
          <a:lstStyle/>
          <a:p>
            <a:pPr algn="ctr"/>
          </a:p>
        </p:txBody>
      </p:sp>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Трёхрукое рандомизированное испытание двух инструментов, препринт medRxiv 2025.07.10.25331333, рецензирования не проходил</a:t>
            </a:r>
            <a:r>
              <a:rPr sz="1200" b="0" i="1">
                <a:solidFill>
                  <a:srgbClr val="1C7293"/>
                </a:solidFill>
                <a:latin typeface="Arial"/>
              </a:rPr>
              <a:t> · </a:t>
            </a:r>
            <a:r>
              <a:rPr sz="1200" b="0" i="1" u="sng">
                <a:solidFill>
                  <a:srgbClr val="065A82"/>
                </a:solidFill>
                <a:latin typeface="Arial"/>
                <a:hlinkClick r:id="rId3"/>
              </a:rPr>
              <a:t>регистрация NCT06792890</a:t>
            </a:r>
            <a:r>
              <a:rPr sz="1200" b="0" i="1">
                <a:solidFill>
                  <a:srgbClr val="1C7293"/>
                </a:solidFill>
                <a:latin typeface="Arial"/>
              </a:rPr>
              <a:t> · </a:t>
            </a:r>
            <a:r>
              <a:rPr sz="1200" b="0" i="1">
                <a:solidFill>
                  <a:srgbClr val="1C7293"/>
                </a:solidFill>
                <a:latin typeface="Arial"/>
              </a:rPr>
              <a:t>многоцентровое наблюдение сети приёмных отделений, выходные данные не установлены</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набор сократился, вычитка появилась</a:t>
            </a:r>
          </a:p>
        </p:txBody>
      </p:sp>
      <p:sp>
        <p:nvSpPr>
          <p:cNvPr id="4" name="Rounded Rectangle 3"/>
          <p:cNvSpPr/>
          <p:nvPr/>
        </p:nvSpPr>
        <p:spPr>
          <a:xfrm>
            <a:off x="502920" y="1335024"/>
            <a:ext cx="2673019" cy="1480733"/>
          </a:xfrm>
          <a:prstGeom prst="roundRect">
            <a:avLst>
              <a:gd name="adj" fmla="val 2058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6" name="TextBox 5"/>
          <p:cNvSpPr txBox="1"/>
          <p:nvPr/>
        </p:nvSpPr>
        <p:spPr>
          <a:xfrm>
            <a:off x="640080"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заметка раньше</a:t>
            </a:r>
          </a:p>
        </p:txBody>
      </p:sp>
      <p:sp>
        <p:nvSpPr>
          <p:cNvPr id="7" name="TextBox 6"/>
          <p:cNvSpPr txBox="1"/>
          <p:nvPr/>
        </p:nvSpPr>
        <p:spPr>
          <a:xfrm>
            <a:off x="640080" y="2152374"/>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усталость от работы ниже</a:t>
            </a:r>
          </a:p>
        </p:txBody>
      </p:sp>
      <p:sp>
        <p:nvSpPr>
          <p:cNvPr id="8" name="Rounded Rectangle 7"/>
          <p:cNvSpPr/>
          <p:nvPr/>
        </p:nvSpPr>
        <p:spPr>
          <a:xfrm>
            <a:off x="3340531" y="1335024"/>
            <a:ext cx="2673019" cy="1480733"/>
          </a:xfrm>
          <a:prstGeom prst="roundRect">
            <a:avLst>
              <a:gd name="adj" fmla="val 2058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10" name="TextBox 9"/>
          <p:cNvSpPr txBox="1"/>
          <p:nvPr/>
        </p:nvSpPr>
        <p:spPr>
          <a:xfrm>
            <a:off x="3477691" y="1725375"/>
            <a:ext cx="2398699" cy="953221"/>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вычитку каждого черновика и службу контроля со штатом</a:t>
            </a:r>
          </a:p>
        </p:txBody>
      </p:sp>
      <p:sp>
        <p:nvSpPr>
          <p:cNvPr id="11" name="Rounded Rectangle 10"/>
          <p:cNvSpPr/>
          <p:nvPr/>
        </p:nvSpPr>
        <p:spPr>
          <a:xfrm>
            <a:off x="6178143" y="1335024"/>
            <a:ext cx="2673019" cy="1480733"/>
          </a:xfrm>
          <a:prstGeom prst="roundRect">
            <a:avLst>
              <a:gd name="adj" fmla="val 20584"/>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ЗАВИСИТ ОТ ДНЯ ЗАМЕРА</a:t>
            </a:r>
          </a:p>
        </p:txBody>
      </p:sp>
      <p:sp>
        <p:nvSpPr>
          <p:cNvPr id="13" name="TextBox 12"/>
          <p:cNvSpPr txBox="1"/>
          <p:nvPr/>
        </p:nvSpPr>
        <p:spPr>
          <a:xfrm>
            <a:off x="6315303"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 → 16 из ста</a:t>
            </a:r>
          </a:p>
        </p:txBody>
      </p:sp>
      <p:sp>
        <p:nvSpPr>
          <p:cNvPr id="14" name="TextBox 13"/>
          <p:cNvSpPr txBox="1"/>
          <p:nvPr/>
        </p:nvSpPr>
        <p:spPr>
          <a:xfrm>
            <a:off x="6315303"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день внедрения → сто пятидесятый</a:t>
            </a:r>
          </a:p>
        </p:txBody>
      </p:sp>
      <p:sp>
        <p:nvSpPr>
          <p:cNvPr id="15" name="Rounded Rectangle 14"/>
          <p:cNvSpPr/>
          <p:nvPr/>
        </p:nvSpPr>
        <p:spPr>
          <a:xfrm>
            <a:off x="9015755" y="1335024"/>
            <a:ext cx="2673019" cy="1480733"/>
          </a:xfrm>
          <a:prstGeom prst="roundRect">
            <a:avLst>
              <a:gd name="adj" fmla="val 20584"/>
            </a:avLst>
          </a:prstGeom>
          <a:solidFill>
            <a:srgbClr val="FFFFFF"/>
          </a:solidFill>
          <a:ln w="25400">
            <a:solidFill>
              <a:srgbClr val="F0AB00"/>
            </a:solidFill>
          </a:ln>
          <a:effectLst/>
        </p:spPr>
        <p:txBody>
          <a:bodyPr rtlCol="0" anchor="ctr"/>
          <a:lstStyle/>
          <a:p>
            <a:pPr algn="ctr"/>
          </a:p>
        </p:txBody>
      </p:sp>
      <p:sp>
        <p:nvSpPr>
          <p:cNvPr id="16" name="TextBox 15"/>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7" name="TextBox 16"/>
          <p:cNvSpPr txBox="1"/>
          <p:nvPr/>
        </p:nvSpPr>
        <p:spPr>
          <a:xfrm>
            <a:off x="9152915" y="1725375"/>
            <a:ext cx="2398699" cy="953221"/>
          </a:xfrm>
          <a:prstGeom prst="rect">
            <a:avLst/>
          </a:prstGeom>
          <a:noFill/>
        </p:spPr>
        <p:txBody>
          <a:bodyPr wrap="square" lIns="0" rIns="0" tIns="0" bIns="0" anchor="t">
            <a:spAutoFit/>
          </a:bodyPr>
          <a:lstStyle/>
          <a:p>
            <a:pPr algn="l">
              <a:lnSpc>
                <a:spcPct val="108000"/>
              </a:lnSpc>
            </a:pPr>
            <a:r>
              <a:rPr sz="1800" b="1" i="0">
                <a:solidFill>
                  <a:srgbClr val="F0AB00"/>
                </a:solidFill>
                <a:latin typeface="Arial"/>
              </a:rPr>
              <a:t>набор сократился, вычитка появилась, правка та же</a:t>
            </a:r>
          </a:p>
        </p:txBody>
      </p:sp>
      <p:sp>
        <p:nvSpPr>
          <p:cNvPr id="18" name="TextBox 17"/>
          <p:cNvSpPr txBox="1"/>
          <p:nvPr/>
        </p:nvSpPr>
        <p:spPr>
          <a:xfrm>
            <a:off x="502920" y="303521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Было</a:t>
            </a:r>
          </a:p>
        </p:txBody>
      </p:sp>
      <p:sp>
        <p:nvSpPr>
          <p:cNvPr id="19" name="Rounded Rectangle 18"/>
          <p:cNvSpPr/>
          <p:nvPr/>
        </p:nvSpPr>
        <p:spPr>
          <a:xfrm>
            <a:off x="1920240" y="2998637"/>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2002536" y="3044357"/>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набор текста</a:t>
            </a:r>
          </a:p>
        </p:txBody>
      </p:sp>
      <p:sp>
        <p:nvSpPr>
          <p:cNvPr id="21" name="Right Arrow 20"/>
          <p:cNvSpPr/>
          <p:nvPr/>
        </p:nvSpPr>
        <p:spPr>
          <a:xfrm>
            <a:off x="6713067" y="3167753"/>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6941667" y="2998637"/>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7023963" y="3044357"/>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24" name="TextBox 23"/>
          <p:cNvSpPr txBox="1"/>
          <p:nvPr/>
        </p:nvSpPr>
        <p:spPr>
          <a:xfrm>
            <a:off x="502920" y="3656909"/>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Стало</a:t>
            </a:r>
          </a:p>
        </p:txBody>
      </p:sp>
      <p:sp>
        <p:nvSpPr>
          <p:cNvPr id="25" name="Rounded Rectangle 24"/>
          <p:cNvSpPr/>
          <p:nvPr/>
        </p:nvSpPr>
        <p:spPr>
          <a:xfrm>
            <a:off x="1920240" y="3620333"/>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3666053"/>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разговор</a:t>
            </a:r>
          </a:p>
        </p:txBody>
      </p:sp>
      <p:sp>
        <p:nvSpPr>
          <p:cNvPr id="27" name="Right Arrow 26"/>
          <p:cNvSpPr/>
          <p:nvPr/>
        </p:nvSpPr>
        <p:spPr>
          <a:xfrm>
            <a:off x="4202353" y="3789450"/>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4430953" y="3620333"/>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4513249" y="3666053"/>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черновик</a:t>
            </a:r>
          </a:p>
        </p:txBody>
      </p:sp>
      <p:sp>
        <p:nvSpPr>
          <p:cNvPr id="30" name="Right Arrow 29"/>
          <p:cNvSpPr/>
          <p:nvPr/>
        </p:nvSpPr>
        <p:spPr>
          <a:xfrm>
            <a:off x="6713067" y="3789450"/>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6941667" y="3620333"/>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7023963" y="3666053"/>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вычитка</a:t>
            </a:r>
          </a:p>
        </p:txBody>
      </p:sp>
      <p:sp>
        <p:nvSpPr>
          <p:cNvPr id="33" name="Right Arrow 32"/>
          <p:cNvSpPr/>
          <p:nvPr/>
        </p:nvSpPr>
        <p:spPr>
          <a:xfrm>
            <a:off x="9223781" y="3789450"/>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9452381" y="3620333"/>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5" name="TextBox 34"/>
          <p:cNvSpPr txBox="1"/>
          <p:nvPr/>
        </p:nvSpPr>
        <p:spPr>
          <a:xfrm>
            <a:off x="9534677" y="3666053"/>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36" name="TextBox 35"/>
          <p:cNvSpPr txBox="1"/>
          <p:nvPr/>
        </p:nvSpPr>
        <p:spPr>
          <a:xfrm>
            <a:off x="502920" y="427860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Поверх, другой рукой</a:t>
            </a:r>
          </a:p>
        </p:txBody>
      </p:sp>
      <p:sp>
        <p:nvSpPr>
          <p:cNvPr id="37" name="Rounded Rectangle 36"/>
          <p:cNvSpPr/>
          <p:nvPr/>
        </p:nvSpPr>
        <p:spPr>
          <a:xfrm>
            <a:off x="1920240" y="4242030"/>
            <a:ext cx="976853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8" name="TextBox 37"/>
          <p:cNvSpPr txBox="1"/>
          <p:nvPr/>
        </p:nvSpPr>
        <p:spPr>
          <a:xfrm>
            <a:off x="2002536" y="4287750"/>
            <a:ext cx="960394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выборочный контроль заметок</a:t>
            </a:r>
          </a:p>
        </p:txBody>
      </p:sp>
      <p:sp>
        <p:nvSpPr>
          <p:cNvPr id="39" name="TextBox 38"/>
          <p:cNvSpPr txBox="1"/>
          <p:nvPr/>
        </p:nvSpPr>
        <p:spPr>
          <a:xfrm>
            <a:off x="502920" y="475399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Две дорожки врача — и третья строка: операция, которую делает не он</a:t>
            </a:r>
          </a:p>
        </p:txBody>
      </p:sp>
      <p:sp>
        <p:nvSpPr>
          <p:cNvPr id="40" name="Rounded Rectangle 39"/>
          <p:cNvSpPr/>
          <p:nvPr/>
        </p:nvSpPr>
        <p:spPr>
          <a:xfrm>
            <a:off x="374904" y="5056683"/>
            <a:ext cx="11441887" cy="117952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1" name="TextBox 40"/>
          <p:cNvSpPr txBox="1"/>
          <p:nvPr/>
        </p:nvSpPr>
        <p:spPr>
          <a:xfrm>
            <a:off x="539496" y="5148123"/>
            <a:ext cx="11112703" cy="10880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Пятую операцию делает не врач:</a:t>
            </a:r>
            <a:r>
              <a:rPr sz="1500" b="0" i="0">
                <a:solidFill>
                  <a:srgbClr val="21295C"/>
                </a:solidFill>
                <a:latin typeface="Arial"/>
              </a:rPr>
              <a:t> выборочный контроль заметок — работа появившейся службы со своим штатом.</a:t>
            </a:r>
          </a:p>
          <a:p>
            <a:pPr algn="l">
              <a:lnSpc>
                <a:spcPct val="126000"/>
              </a:lnSpc>
              <a:spcBef>
                <a:spcPts val="700"/>
              </a:spcBef>
            </a:pPr>
            <a:r>
              <a:rPr sz="1500" b="0" i="0">
                <a:solidFill>
                  <a:srgbClr val="21295C"/>
                </a:solidFill>
                <a:latin typeface="Arial"/>
              </a:rPr>
              <a:t/>
            </a:r>
            <a:r>
              <a:rPr sz="1500" b="1" i="0">
                <a:solidFill>
                  <a:srgbClr val="21295C"/>
                </a:solidFill>
                <a:latin typeface="Arial"/>
              </a:rPr>
              <a:t>Усталость ниже, а активное время правки то же.</a:t>
            </a:r>
            <a:r>
              <a:rPr sz="1500" b="0" i="0">
                <a:solidFill>
                  <a:srgbClr val="21295C"/>
                </a:solidFill>
                <a:latin typeface="Arial"/>
              </a:rPr>
              <a:t> Сняли другое: необходимость держать структуру документа в голове при живом человеке.</a:t>
            </a:r>
          </a:p>
        </p:txBody>
      </p:sp>
      <p:sp>
        <p:nvSpPr>
          <p:cNvPr id="42" name="Rectangle 4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3" name="TextBox 4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Отчёт службы контроля качества заметок одной клиники</a:t>
            </a:r>
            <a:r>
              <a:rPr sz="1200" b="0" i="1">
                <a:solidFill>
                  <a:srgbClr val="1C7293"/>
                </a:solidFill>
                <a:latin typeface="Arial"/>
              </a:rPr>
              <a:t> · </a:t>
            </a:r>
            <a:r>
              <a:rPr sz="1200" b="0" i="1" u="sng">
                <a:solidFill>
                  <a:srgbClr val="065A82"/>
                </a:solidFill>
                <a:latin typeface="Arial"/>
                <a:hlinkClick r:id="rId2"/>
              </a:rPr>
              <a:t>трёхрукое рандомизированное испытание двух инструментов, препринт medRxiv 2025.07.10.25331333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выписной эпикриз</a:t>
            </a:r>
          </a:p>
        </p:txBody>
      </p:sp>
      <p:sp>
        <p:nvSpPr>
          <p:cNvPr id="4" name="Rounded Rectangle 3"/>
          <p:cNvSpPr/>
          <p:nvPr/>
        </p:nvSpPr>
        <p:spPr>
          <a:xfrm>
            <a:off x="502920"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ПОЛНОТА ДОКУМЕНТА: ЧЕЛОВЕК → МОДЕЛЬ</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4,13 → 3,72</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пятибалльная шкала; общее качество сопоставимо, 3,67 против 3,77</a:t>
            </a:r>
          </a:p>
        </p:txBody>
      </p:sp>
      <p:sp>
        <p:nvSpPr>
          <p:cNvPr id="8" name="Rounded Rectangle 7"/>
          <p:cNvSpPr/>
          <p:nvPr/>
        </p:nvSpPr>
        <p:spPr>
          <a:xfrm>
            <a:off x="4286402"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УНИКАЛЬНЫХ ОШИБОК НА ДОКУМЕНТ: ЧЕЛОВЕК → МОДЕЛЬ</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1,82 → 2,91</a:t>
            </a:r>
          </a:p>
        </p:txBody>
      </p:sp>
      <p:sp>
        <p:nvSpPr>
          <p:cNvPr id="11" name="TextBox 10"/>
          <p:cNvSpPr txBox="1"/>
          <p:nvPr/>
        </p:nvSpPr>
        <p:spPr>
          <a:xfrm>
            <a:off x="4423562"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сто госпитализаций длиной от трёх до шести дней</a:t>
            </a:r>
          </a:p>
        </p:txBody>
      </p:sp>
      <p:sp>
        <p:nvSpPr>
          <p:cNvPr id="12" name="Rounded Rectangle 11"/>
          <p:cNvSpPr/>
          <p:nvPr/>
        </p:nvSpPr>
        <p:spPr>
          <a:xfrm>
            <a:off x="8069884" y="1335024"/>
            <a:ext cx="3618890"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ПОТЕНЦИАЛ ВРЕДА ОДНОЙ ОШИБКИ: ЧЕЛОВЕК → МОДЕЛЬ</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1,34 → 1,35</a:t>
            </a:r>
          </a:p>
        </p:txBody>
      </p:sp>
      <p:sp>
        <p:nvSpPr>
          <p:cNvPr id="15" name="TextBox 14"/>
          <p:cNvSpPr txBox="1"/>
          <p:nvPr/>
        </p:nvSpPr>
        <p:spPr>
          <a:xfrm>
            <a:off x="8207044"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шкала от нуля до семи; обе оценки низкие и не различаются</a:t>
            </a:r>
          </a:p>
        </p:txBody>
      </p:sp>
      <p:sp>
        <p:nvSpPr>
          <p:cNvPr id="16" name="Rounded Rectangle 15"/>
          <p:cNvSpPr/>
          <p:nvPr/>
        </p:nvSpPr>
        <p:spPr>
          <a:xfrm>
            <a:off x="374904" y="3010932"/>
            <a:ext cx="11441887" cy="3225275"/>
          </a:xfrm>
          <a:prstGeom prst="roundRect">
            <a:avLst>
              <a:gd name="adj" fmla="val 945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02372"/>
            <a:ext cx="5373471" cy="3133835"/>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Модель собирает выписной документ; врач вычитывает и подписывает. Шаги и исполнители те же, а по эпикризу назначают в другом месте.</a:t>
            </a:r>
          </a:p>
          <a:p>
            <a:pPr algn="l">
              <a:lnSpc>
                <a:spcPct val="126000"/>
              </a:lnSpc>
              <a:spcBef>
                <a:spcPts val="700"/>
              </a:spcBef>
            </a:pPr>
            <a:r>
              <a:rPr sz="1450" b="0" i="0">
                <a:solidFill>
                  <a:srgbClr val="21295C"/>
                </a:solidFill>
                <a:latin typeface="Arial"/>
              </a:rPr>
              <a:t/>
            </a:r>
            <a:r>
              <a:rPr sz="1450" b="1" i="0">
                <a:solidFill>
                  <a:srgbClr val="21295C"/>
                </a:solidFill>
                <a:latin typeface="Arial"/>
              </a:rPr>
              <a:t>Оба классических режима, и посчитан из них один.</a:t>
            </a:r>
            <a:r>
              <a:rPr sz="1450" b="0" i="0">
                <a:solidFill>
                  <a:srgbClr val="21295C"/>
                </a:solidFill>
                <a:latin typeface="Arial"/>
              </a:rPr>
              <a:t> Врач пишет эпикриз сам — посчитан, и это база всех сравнений. Черновик ординатора под подпись лечащего — назван и не посчитан.</a:t>
            </a:r>
          </a:p>
          <a:p>
            <a:pPr algn="l">
              <a:lnSpc>
                <a:spcPct val="126000"/>
              </a:lnSpc>
              <a:spcBef>
                <a:spcPts val="700"/>
              </a:spcBef>
            </a:pPr>
            <a:r>
              <a:rPr sz="1450" b="0" i="0">
                <a:solidFill>
                  <a:srgbClr val="21295C"/>
                </a:solidFill>
                <a:latin typeface="Arial"/>
              </a:rPr>
              <a:t/>
            </a:r>
            <a:r>
              <a:rPr sz="1450" b="1" i="0">
                <a:solidFill>
                  <a:srgbClr val="21295C"/>
                </a:solidFill>
                <a:latin typeface="Arial"/>
              </a:rPr>
              <a:t>Как измерено.</a:t>
            </a:r>
            <a:r>
              <a:rPr sz="1450" b="0" i="0">
                <a:solidFill>
                  <a:srgbClr val="21295C"/>
                </a:solidFill>
                <a:latin typeface="Arial"/>
              </a:rPr>
              <a:t> Сто госпитализаций длиной от трёх до шести дней. 22 врача-рецензента. Каждый документ смотрели двое, и ни один не знал, где машинный текст.</a:t>
            </a:r>
          </a:p>
        </p:txBody>
      </p:sp>
      <p:sp>
        <p:nvSpPr>
          <p:cNvPr id="18" name="TextBox 17"/>
          <p:cNvSpPr txBox="1"/>
          <p:nvPr/>
        </p:nvSpPr>
        <p:spPr>
          <a:xfrm>
            <a:off x="6278727" y="3102372"/>
            <a:ext cx="5373471" cy="3133835"/>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a:t>
            </a:r>
            <a:r>
              <a:rPr sz="1450" b="1" i="0">
                <a:solidFill>
                  <a:srgbClr val="21295C"/>
                </a:solidFill>
                <a:latin typeface="Arial"/>
              </a:rPr>
              <a:t>общее качество сопоставимо</a:t>
            </a:r>
            <a:r>
              <a:rPr sz="1450" b="0" i="0">
                <a:solidFill>
                  <a:srgbClr val="21295C"/>
                </a:solidFill>
                <a:latin typeface="Arial"/>
              </a:rPr>
              <a:t> — 3,67 у врачей против 3,77 у модели</a:t>
            </a:r>
          </a:p>
          <a:p>
            <a:pPr algn="l">
              <a:lnSpc>
                <a:spcPct val="126000"/>
              </a:lnSpc>
              <a:spcBef>
                <a:spcPts val="700"/>
              </a:spcBef>
            </a:pPr>
            <a:r>
              <a:rPr sz="1450" b="0" i="0">
                <a:solidFill>
                  <a:srgbClr val="21295C"/>
                </a:solidFill>
                <a:latin typeface="Arial"/>
              </a:rPr>
              <a:t/>
            </a:r>
            <a:r>
              <a:rPr sz="1450" b="0" i="0">
                <a:solidFill>
                  <a:srgbClr val="21295C"/>
                </a:solidFill>
                <a:latin typeface="Arial"/>
              </a:rPr>
              <a:t>• </a:t>
            </a:r>
            <a:r>
              <a:rPr sz="1450" b="1" i="0">
                <a:solidFill>
                  <a:srgbClr val="21295C"/>
                </a:solidFill>
                <a:latin typeface="Arial"/>
              </a:rPr>
              <a:t>документ модели короче и связнее</a:t>
            </a:r>
            <a:r>
              <a:rPr sz="1450" b="0" i="0">
                <a:solidFill>
                  <a:srgbClr val="21295C"/>
                </a:solidFill>
                <a:latin typeface="Arial"/>
              </a:rPr>
              <a:t> — и при этом менее полон</a:t>
            </a:r>
          </a:p>
          <a:p>
            <a:pPr algn="l">
              <a:lnSpc>
                <a:spcPct val="126000"/>
              </a:lnSpc>
              <a:spcBef>
                <a:spcPts val="700"/>
              </a:spcBef>
            </a:pPr>
            <a:r>
              <a:rPr sz="1450" b="0" i="0">
                <a:solidFill>
                  <a:srgbClr val="21295C"/>
                </a:solidFill>
                <a:latin typeface="Arial"/>
              </a:rPr>
              <a:t/>
            </a:r>
            <a:r>
              <a:rPr sz="1450" b="0" i="0">
                <a:solidFill>
                  <a:srgbClr val="21295C"/>
                </a:solidFill>
                <a:latin typeface="Arial"/>
              </a:rPr>
              <a:t>• </a:t>
            </a:r>
            <a:r>
              <a:rPr sz="1450" b="1" i="0">
                <a:solidFill>
                  <a:srgbClr val="21295C"/>
                </a:solidFill>
                <a:latin typeface="Arial"/>
              </a:rPr>
              <a:t>ошибок больше, каждая не страшнее</a:t>
            </a:r>
            <a:r>
              <a:rPr sz="1450" b="0" i="0">
                <a:solidFill>
                  <a:srgbClr val="21295C"/>
                </a:solidFill>
                <a:latin typeface="Arial"/>
              </a:rPr>
              <a:t> — потенциал вреда одной 1,34 против 1,35</a:t>
            </a:r>
          </a:p>
          <a:p>
            <a:pPr algn="l">
              <a:lnSpc>
                <a:spcPct val="126000"/>
              </a:lnSpc>
              <a:spcBef>
                <a:spcPts val="700"/>
              </a:spcBef>
            </a:pPr>
            <a:r>
              <a:rPr sz="1450" b="0" i="0">
                <a:solidFill>
                  <a:srgbClr val="21295C"/>
                </a:solidFill>
                <a:latin typeface="Arial"/>
              </a:rPr>
              <a:t/>
            </a:r>
            <a:r>
              <a:rPr sz="1450" b="1" i="0">
                <a:solidFill>
                  <a:srgbClr val="21295C"/>
                </a:solidFill>
                <a:latin typeface="Arial"/>
              </a:rPr>
              <a:t>Сместилась цена ошибки:</a:t>
            </a:r>
            <a:r>
              <a:rPr sz="1450" b="0" i="0">
                <a:solidFill>
                  <a:srgbClr val="21295C"/>
                </a:solidFill>
                <a:latin typeface="Arial"/>
              </a:rPr>
              <a:t> пишет тот же человек, а стоит пропущенная строка другого.</a:t>
            </a:r>
          </a:p>
        </p:txBody>
      </p:sp>
      <p:sp>
        <p:nvSpPr>
          <p:cNvPr id="19" name="Rectangle 18"/>
          <p:cNvSpPr/>
          <p:nvPr/>
        </p:nvSpPr>
        <p:spPr>
          <a:xfrm>
            <a:off x="6091275" y="3102372"/>
            <a:ext cx="9144" cy="3049390"/>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Слепое сравнение ста госпитализаций, JAMA Internal Medicine 2025 — слепая дублированная оценка 22 лечащих врачей-рецензентов</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Пример 2, цена: вычитка другого рода — и тройка, которой нет в первоисточниках</a:t>
            </a:r>
          </a:p>
        </p:txBody>
      </p:sp>
      <p:sp>
        <p:nvSpPr>
          <p:cNvPr id="4" name="Rounded Rectangle 3"/>
          <p:cNvSpPr/>
          <p:nvPr/>
        </p:nvSpPr>
        <p:spPr>
          <a:xfrm>
            <a:off x="502920" y="1335024"/>
            <a:ext cx="2673019"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МАШИННОЕ СОДЕРЖАНИЕ ВРАЧИ ИСПОЛЬЗОВАЛИ</a:t>
            </a:r>
          </a:p>
        </p:txBody>
      </p:sp>
      <p:sp>
        <p:nvSpPr>
          <p:cNvPr id="6" name="TextBox 5"/>
          <p:cNvSpPr txBox="1"/>
          <p:nvPr/>
        </p:nvSpPr>
        <p:spPr>
          <a:xfrm>
            <a:off x="640080"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219 выписках из 384</a:t>
            </a:r>
          </a:p>
        </p:txBody>
      </p:sp>
      <p:sp>
        <p:nvSpPr>
          <p:cNvPr id="7" name="TextBox 6"/>
          <p:cNvSpPr txBox="1"/>
          <p:nvPr/>
        </p:nvSpPr>
        <p:spPr>
          <a:xfrm>
            <a:off x="640080"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57 из ста; система выдала 1 274 сводки</a:t>
            </a:r>
          </a:p>
        </p:txBody>
      </p:sp>
      <p:sp>
        <p:nvSpPr>
          <p:cNvPr id="8" name="Rounded Rectangle 7"/>
          <p:cNvSpPr/>
          <p:nvPr/>
        </p:nvSpPr>
        <p:spPr>
          <a:xfrm>
            <a:off x="3340531" y="1335024"/>
            <a:ext cx="2673019"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СОТНЕ СВОДОК ПРОСПЕКТИВНОГО ПИЛОТА</a:t>
            </a:r>
          </a:p>
        </p:txBody>
      </p:sp>
      <p:sp>
        <p:nvSpPr>
          <p:cNvPr id="10" name="TextBox 9"/>
          <p:cNvSpPr txBox="1"/>
          <p:nvPr/>
        </p:nvSpPr>
        <p:spPr>
          <a:xfrm>
            <a:off x="3477691" y="1932846"/>
            <a:ext cx="2398699"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25 пропусков · 20 неточностей · 2 выдумки</a:t>
            </a:r>
          </a:p>
        </p:txBody>
      </p:sp>
      <p:sp>
        <p:nvSpPr>
          <p:cNvPr id="11" name="TextBox 10"/>
          <p:cNvSpPr txBox="1"/>
          <p:nvPr/>
        </p:nvSpPr>
        <p:spPr>
          <a:xfrm>
            <a:off x="3477691" y="246169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определения здесь другие, чем в слепом сравнении</a:t>
            </a:r>
          </a:p>
        </p:txBody>
      </p:sp>
      <p:sp>
        <p:nvSpPr>
          <p:cNvPr id="12" name="Rounded Rectangle 11"/>
          <p:cNvSpPr/>
          <p:nvPr/>
        </p:nvSpPr>
        <p:spPr>
          <a:xfrm>
            <a:off x="6178143" y="1335024"/>
            <a:ext cx="2673019"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СТА НЕОТРЕДАКТИРОВАННЫХ СВОДОК</a:t>
            </a:r>
          </a:p>
        </p:txBody>
      </p:sp>
      <p:sp>
        <p:nvSpPr>
          <p:cNvPr id="14" name="TextBox 13"/>
          <p:cNvSpPr txBox="1"/>
          <p:nvPr/>
        </p:nvSpPr>
        <p:spPr>
          <a:xfrm>
            <a:off x="6315303" y="2140317"/>
            <a:ext cx="2398699" cy="511873"/>
          </a:xfrm>
          <a:prstGeom prst="rect">
            <a:avLst/>
          </a:prstGeom>
          <a:noFill/>
        </p:spPr>
        <p:txBody>
          <a:bodyPr wrap="square" lIns="0" rIns="0" tIns="0" bIns="0" anchor="t">
            <a:spAutoFit/>
          </a:bodyPr>
          <a:lstStyle/>
          <a:p>
            <a:pPr algn="l">
              <a:lnSpc>
                <a:spcPct val="108000"/>
              </a:lnSpc>
            </a:pPr>
            <a:r>
              <a:rPr sz="1400" b="1" i="0">
                <a:solidFill>
                  <a:srgbClr val="21295C"/>
                </a:solidFill>
                <a:latin typeface="Arial"/>
              </a:rPr>
              <a:t>88 без потенциала вреда · 1 умеренный · 0 тяжёлого</a:t>
            </a:r>
          </a:p>
        </p:txBody>
      </p:sp>
      <p:sp>
        <p:nvSpPr>
          <p:cNvPr id="15" name="Rounded Rectangle 14"/>
          <p:cNvSpPr/>
          <p:nvPr/>
        </p:nvSpPr>
        <p:spPr>
          <a:xfrm>
            <a:off x="9015755" y="1335024"/>
            <a:ext cx="2673019" cy="2157843"/>
          </a:xfrm>
          <a:prstGeom prst="roundRect">
            <a:avLst>
              <a:gd name="adj" fmla="val 14125"/>
            </a:avLst>
          </a:prstGeom>
          <a:solidFill>
            <a:srgbClr val="FFFFFF"/>
          </a:solidFill>
          <a:ln w="25400">
            <a:solidFill>
              <a:srgbClr val="F0AB00"/>
            </a:solidFill>
          </a:ln>
          <a:effectLst/>
        </p:spPr>
        <p:txBody>
          <a:bodyPr rtlCol="0" anchor="ctr"/>
          <a:lstStyle/>
          <a:p>
            <a:pPr algn="ctr"/>
          </a:p>
        </p:txBody>
      </p:sp>
      <p:sp>
        <p:nvSpPr>
          <p:cNvPr id="16" name="TextBox 15"/>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ТРОЙКА ИЗ ПЕРЕСКАЗОВ</a:t>
            </a:r>
          </a:p>
        </p:txBody>
      </p:sp>
      <p:sp>
        <p:nvSpPr>
          <p:cNvPr id="17" name="TextBox 16"/>
          <p:cNvSpPr txBox="1"/>
          <p:nvPr/>
        </p:nvSpPr>
        <p:spPr>
          <a:xfrm>
            <a:off x="9152915" y="1725375"/>
            <a:ext cx="2398699" cy="1207845"/>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не найдена ни в одной из трёх работ</a:t>
            </a:r>
          </a:p>
        </p:txBody>
      </p:sp>
      <p:sp>
        <p:nvSpPr>
          <p:cNvPr id="18" name="TextBox 17"/>
          <p:cNvSpPr txBox="1"/>
          <p:nvPr/>
        </p:nvSpPr>
        <p:spPr>
          <a:xfrm>
            <a:off x="9152915" y="293322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 одна не считает в тех определениях</a:t>
            </a:r>
          </a:p>
        </p:txBody>
      </p:sp>
      <p:sp>
        <p:nvSpPr>
          <p:cNvPr id="19" name="Rounded Rectangle 18"/>
          <p:cNvSpPr/>
          <p:nvPr/>
        </p:nvSpPr>
        <p:spPr>
          <a:xfrm>
            <a:off x="374904" y="3584307"/>
            <a:ext cx="11441887" cy="2026762"/>
          </a:xfrm>
          <a:prstGeom prst="roundRect">
            <a:avLst>
              <a:gd name="adj" fmla="val 15038"/>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539496" y="3675747"/>
            <a:ext cx="5373471" cy="256046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Вычитка не исчезла — она сменила предмет.</a:t>
            </a:r>
            <a:r>
              <a:rPr sz="1500" b="0" i="0">
                <a:solidFill>
                  <a:srgbClr val="21295C"/>
                </a:solidFill>
                <a:latin typeface="Arial"/>
              </a:rPr>
              <a:t> Прежний глаз настроен на опечатку, на то, что оставляет уставший человек. Искать теперь надо связное и уместное по стилю утверждение, которого в истории болезни не было. Этому чтению никто не учит.</a:t>
            </a:r>
          </a:p>
        </p:txBody>
      </p:sp>
      <p:sp>
        <p:nvSpPr>
          <p:cNvPr id="21" name="TextBox 20"/>
          <p:cNvSpPr txBox="1"/>
          <p:nvPr/>
        </p:nvSpPr>
        <p:spPr>
          <a:xfrm>
            <a:off x="6278727" y="3675747"/>
            <a:ext cx="5373471" cy="256046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А теперь то, что по этому случаю чаще всего пересказывают.</a:t>
            </a:r>
            <a:r>
              <a:rPr sz="1500" b="0" i="0">
                <a:solidFill>
                  <a:srgbClr val="21295C"/>
                </a:solidFill>
                <a:latin typeface="Arial"/>
              </a:rPr>
              <a:t> В обзорах ходит тройка аккуратных чисел со ссылкой на «исследование ста эпикризов». Построчное чтение трёх первоисточников её не даёт.</a:t>
            </a:r>
          </a:p>
          <a:p>
            <a:pPr algn="l">
              <a:lnSpc>
                <a:spcPct val="126000"/>
              </a:lnSpc>
              <a:spcBef>
                <a:spcPts val="700"/>
              </a:spcBef>
            </a:pPr>
            <a:r>
              <a:rPr sz="1200" b="0" i="0">
                <a:solidFill>
                  <a:srgbClr val="21295C"/>
                </a:solidFill>
                <a:latin typeface="Arial"/>
              </a:rPr>
              <a:t/>
            </a:r>
            <a:r>
              <a:rPr sz="1200" b="0" i="1">
                <a:solidFill>
                  <a:srgbClr val="1C7293"/>
                </a:solidFill>
                <a:latin typeface="Arial"/>
              </a:rPr>
              <a:t>Ссылку проверяют по одному вопросу: считает ли работа ровно эту величину в ровно этих определениях.</a:t>
            </a:r>
          </a:p>
        </p:txBody>
      </p:sp>
      <p:sp>
        <p:nvSpPr>
          <p:cNvPr id="22" name="Rectangle 21"/>
          <p:cNvSpPr/>
          <p:nvPr/>
        </p:nvSpPr>
        <p:spPr>
          <a:xfrm>
            <a:off x="6091275" y="3675747"/>
            <a:ext cx="9144" cy="1752442"/>
          </a:xfrm>
          <a:prstGeom prst="rect">
            <a:avLst/>
          </a:prstGeom>
          <a:solidFill>
            <a:srgbClr val="D9E2EC"/>
          </a:solidFill>
          <a:ln>
            <a:noFill/>
          </a:ln>
          <a:effectLst/>
        </p:spPr>
        <p:txBody>
          <a:bodyPr rtlCol="0" anchor="ctr"/>
          <a:lstStyle/>
          <a:p>
            <a:pPr algn="ctr"/>
          </a:p>
        </p:txBody>
      </p:sp>
      <p:sp>
        <p:nvSpPr>
          <p:cNvPr id="23" name="Rectangle 22"/>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4" name="TextBox 2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Проспективный пилот, JAMA Network Open 2026</a:t>
            </a:r>
            <a:r>
              <a:rPr sz="1200" b="0" i="1">
                <a:solidFill>
                  <a:srgbClr val="1C7293"/>
                </a:solidFill>
                <a:latin typeface="Arial"/>
              </a:rPr>
              <a:t> · </a:t>
            </a:r>
            <a:r>
              <a:rPr sz="1200" b="0" i="1" u="sng">
                <a:solidFill>
                  <a:srgbClr val="065A82"/>
                </a:solidFill>
                <a:latin typeface="Arial"/>
                <a:hlinkClick r:id="rId3"/>
              </a:rPr>
              <a:t>слепое сравнение ста госпитализаций, JAMA Internal Medicine 2025</a:t>
            </a:r>
            <a:r>
              <a:rPr sz="1200" b="0" i="1">
                <a:solidFill>
                  <a:srgbClr val="1C7293"/>
                </a:solidFill>
                <a:latin typeface="Arial"/>
              </a:rPr>
              <a:t> · </a:t>
            </a:r>
            <a:r>
              <a:rPr sz="1200" b="0" i="1" u="sng">
                <a:solidFill>
                  <a:srgbClr val="065A82"/>
                </a:solidFill>
                <a:latin typeface="Arial"/>
                <a:hlinkClick r:id="rId4"/>
              </a:rPr>
              <a:t>одноцентровое сравнение «до и после» в реабилитационном отделении, Cureus 2026, журнал с авторским взносом и минимальным рецензированием</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Ведение записи: набор сократился, вычитка появилась</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5373471" cy="4901184"/>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Что получается</a:t>
            </a:r>
          </a:p>
          <a:p>
            <a:pPr algn="l">
              <a:lnSpc>
                <a:spcPct val="126000"/>
              </a:lnSpc>
              <a:spcBef>
                <a:spcPts val="700"/>
              </a:spcBef>
            </a:pPr>
            <a:r>
              <a:rPr sz="1400" b="0" i="0">
                <a:solidFill>
                  <a:srgbClr val="21295C"/>
                </a:solidFill>
                <a:latin typeface="Arial"/>
              </a:rPr>
              <a:t/>
            </a:r>
            <a:r>
              <a:rPr sz="1400" b="0" i="0">
                <a:solidFill>
                  <a:srgbClr val="21295C"/>
                </a:solidFill>
                <a:latin typeface="Arial"/>
              </a:rPr>
              <a:t>• Заметка готова к концу приёма — прежде её дописывали к концу дня</a:t>
            </a:r>
          </a:p>
          <a:p>
            <a:pPr algn="l">
              <a:lnSpc>
                <a:spcPct val="126000"/>
              </a:lnSpc>
              <a:spcBef>
                <a:spcPts val="700"/>
              </a:spcBef>
            </a:pPr>
            <a:r>
              <a:rPr sz="1400" b="0" i="0">
                <a:solidFill>
                  <a:srgbClr val="21295C"/>
                </a:solidFill>
                <a:latin typeface="Arial"/>
              </a:rPr>
              <a:t/>
            </a:r>
            <a:r>
              <a:rPr sz="1400" b="0" i="0">
                <a:solidFill>
                  <a:srgbClr val="21295C"/>
                </a:solidFill>
                <a:latin typeface="Arial"/>
              </a:rPr>
              <a:t>• Документ короче и связнее человеческого</a:t>
            </a:r>
          </a:p>
          <a:p>
            <a:pPr algn="l">
              <a:lnSpc>
                <a:spcPct val="126000"/>
              </a:lnSpc>
              <a:spcBef>
                <a:spcPts val="700"/>
              </a:spcBef>
            </a:pPr>
            <a:r>
              <a:rPr sz="1400" b="0" i="0">
                <a:solidFill>
                  <a:srgbClr val="21295C"/>
                </a:solidFill>
                <a:latin typeface="Arial"/>
              </a:rPr>
              <a:t/>
            </a:r>
            <a:r>
              <a:rPr sz="1400" b="0" i="0">
                <a:solidFill>
                  <a:srgbClr val="21295C"/>
                </a:solidFill>
                <a:latin typeface="Arial"/>
              </a:rPr>
              <a:t>• Снята необходимость держать структуру документа в голове при живом человеке</a:t>
            </a:r>
          </a:p>
          <a:p>
            <a:pPr algn="l">
              <a:lnSpc>
                <a:spcPct val="126000"/>
              </a:lnSpc>
              <a:spcBef>
                <a:spcPts val="700"/>
              </a:spcBef>
            </a:pPr>
            <a:r>
              <a:rPr sz="1400" b="0" i="0">
                <a:solidFill>
                  <a:srgbClr val="21295C"/>
                </a:solidFill>
                <a:latin typeface="Arial"/>
              </a:rPr>
              <a:t/>
            </a:r>
            <a:r>
              <a:rPr sz="1400" b="0" i="0">
                <a:solidFill>
                  <a:srgbClr val="21295C"/>
                </a:solidFill>
                <a:latin typeface="Arial"/>
              </a:rPr>
              <a:t>• Писать быстрее — у одного из двух инструментов: 9,5 процента времени в заметке</a:t>
            </a:r>
          </a:p>
          <a:p>
            <a:pPr algn="l">
              <a:lnSpc>
                <a:spcPct val="126000"/>
              </a:lnSpc>
              <a:spcBef>
                <a:spcPts val="700"/>
              </a:spcBef>
            </a:pPr>
            <a:r>
              <a:rPr sz="1400" b="0" i="0">
                <a:solidFill>
                  <a:srgbClr val="21295C"/>
                </a:solidFill>
                <a:latin typeface="Arial"/>
              </a:rPr>
              <a:t/>
            </a:r>
            <a:r>
              <a:rPr sz="1400" b="1" i="0">
                <a:solidFill>
                  <a:srgbClr val="21295C"/>
                </a:solidFill>
                <a:latin typeface="Arial"/>
              </a:rPr>
              <a:t>Что не получается</a:t>
            </a:r>
          </a:p>
          <a:p>
            <a:pPr algn="l">
              <a:lnSpc>
                <a:spcPct val="126000"/>
              </a:lnSpc>
              <a:spcBef>
                <a:spcPts val="700"/>
              </a:spcBef>
            </a:pPr>
            <a:r>
              <a:rPr sz="1400" b="0" i="0">
                <a:solidFill>
                  <a:srgbClr val="21295C"/>
                </a:solidFill>
                <a:latin typeface="Arial"/>
              </a:rPr>
              <a:t/>
            </a:r>
            <a:r>
              <a:rPr sz="1400" b="0" i="0">
                <a:solidFill>
                  <a:srgbClr val="21295C"/>
                </a:solidFill>
                <a:latin typeface="Arial"/>
              </a:rPr>
              <a:t>• Подтвердить заявленную экономию: 15 791 час на 63 000 приёмов — без раскрытой методики</a:t>
            </a:r>
          </a:p>
          <a:p>
            <a:pPr algn="l">
              <a:lnSpc>
                <a:spcPct val="126000"/>
              </a:lnSpc>
              <a:spcBef>
                <a:spcPts val="700"/>
              </a:spcBef>
            </a:pPr>
            <a:r>
              <a:rPr sz="1400" b="0" i="0">
                <a:solidFill>
                  <a:srgbClr val="21295C"/>
                </a:solidFill>
                <a:latin typeface="Arial"/>
              </a:rPr>
              <a:t/>
            </a:r>
            <a:r>
              <a:rPr sz="1400" b="0" i="0">
                <a:solidFill>
                  <a:srgbClr val="21295C"/>
                </a:solidFill>
                <a:latin typeface="Arial"/>
              </a:rPr>
              <a:t>• Сократить активное время правки: не изменилось ни у одного из двух</a:t>
            </a:r>
          </a:p>
          <a:p>
            <a:pPr algn="l">
              <a:lnSpc>
                <a:spcPct val="126000"/>
              </a:lnSpc>
              <a:spcBef>
                <a:spcPts val="700"/>
              </a:spcBef>
            </a:pPr>
            <a:r>
              <a:rPr sz="1400" b="0" i="0">
                <a:solidFill>
                  <a:srgbClr val="21295C"/>
                </a:solidFill>
                <a:latin typeface="Arial"/>
              </a:rPr>
              <a:t/>
            </a:r>
            <a:r>
              <a:rPr sz="1400" b="0" i="0">
                <a:solidFill>
                  <a:srgbClr val="21295C"/>
                </a:solidFill>
                <a:latin typeface="Arial"/>
              </a:rPr>
              <a:t>• Написать полнее человека: полнота 3,72 против 4,13, ошибок 2,91 против 1,82</a:t>
            </a:r>
          </a:p>
        </p:txBody>
      </p:sp>
      <p:sp>
        <p:nvSpPr>
          <p:cNvPr id="6" name="TextBox 5"/>
          <p:cNvSpPr txBox="1"/>
          <p:nvPr/>
        </p:nvSpPr>
        <p:spPr>
          <a:xfrm>
            <a:off x="6278727" y="1335024"/>
            <a:ext cx="5373471" cy="4901184"/>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Что стало с работой</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Нагрузка переехала на другой шаг</a:t>
            </a:r>
            <a:r>
              <a:rPr sz="1400" b="0" i="0">
                <a:solidFill>
                  <a:srgbClr val="21295C"/>
                </a:solidFill>
                <a:latin typeface="Arial"/>
              </a:rPr>
              <a:t> — с набора текста на вычитку чужого</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Появился шаг</a:t>
            </a:r>
            <a:r>
              <a:rPr sz="1400" b="0" i="0">
                <a:solidFill>
                  <a:srgbClr val="21295C"/>
                </a:solidFill>
                <a:latin typeface="Arial"/>
              </a:rPr>
              <a:t> — выборочный контроль заметок, и у него постоянный штат</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Сместилась цена ошибки</a:t>
            </a:r>
            <a:r>
              <a:rPr sz="1400" b="0" i="0">
                <a:solidFill>
                  <a:srgbClr val="21295C"/>
                </a:solidFill>
                <a:latin typeface="Arial"/>
              </a:rPr>
              <a:t> — опечатка видна, правдоподобная подробность не видна никак</a:t>
            </a:r>
          </a:p>
          <a:p>
            <a:pPr algn="l">
              <a:lnSpc>
                <a:spcPct val="126000"/>
              </a:lnSpc>
              <a:spcBef>
                <a:spcPts val="700"/>
              </a:spcBef>
            </a:pPr>
            <a:r>
              <a:rPr sz="1400" b="0" i="0">
                <a:solidFill>
                  <a:srgbClr val="21295C"/>
                </a:solidFill>
                <a:latin typeface="Arial"/>
              </a:rPr>
              <a:t/>
            </a:r>
            <a:r>
              <a:rPr sz="1400" b="1" i="0">
                <a:solidFill>
                  <a:srgbClr val="21295C"/>
                </a:solidFill>
                <a:latin typeface="Arial"/>
              </a:rPr>
              <a:t>Что это держит</a:t>
            </a:r>
          </a:p>
          <a:p>
            <a:pPr algn="l">
              <a:lnSpc>
                <a:spcPct val="126000"/>
              </a:lnSpc>
              <a:spcBef>
                <a:spcPts val="700"/>
              </a:spcBef>
            </a:pPr>
            <a:r>
              <a:rPr sz="1400" b="0" i="0">
                <a:solidFill>
                  <a:srgbClr val="21295C"/>
                </a:solidFill>
                <a:latin typeface="Arial"/>
              </a:rPr>
              <a:t/>
            </a:r>
            <a:r>
              <a:rPr sz="1400" b="0" i="0">
                <a:solidFill>
                  <a:srgbClr val="21295C"/>
                </a:solidFill>
                <a:latin typeface="Arial"/>
              </a:rPr>
              <a:t>• Вычитка и подпись врача: подпись остаётся человеческой</a:t>
            </a:r>
          </a:p>
          <a:p>
            <a:pPr algn="l">
              <a:lnSpc>
                <a:spcPct val="126000"/>
              </a:lnSpc>
              <a:spcBef>
                <a:spcPts val="700"/>
              </a:spcBef>
            </a:pPr>
            <a:r>
              <a:rPr sz="1400" b="0" i="0">
                <a:solidFill>
                  <a:srgbClr val="21295C"/>
                </a:solidFill>
                <a:latin typeface="Arial"/>
              </a:rPr>
              <a:t/>
            </a:r>
            <a:r>
              <a:rPr sz="1400" b="0" i="0">
                <a:solidFill>
                  <a:srgbClr val="21295C"/>
                </a:solidFill>
                <a:latin typeface="Arial"/>
              </a:rPr>
              <a:t>• Выборочный контроль: 3 600 отзывов и 1 252 анкеты в отчёте одной клиники</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Прочерк: вычитке другого рода никто не учит</a:t>
            </a:r>
          </a:p>
          <a:p>
            <a:pPr algn="l">
              <a:lnSpc>
                <a:spcPct val="126000"/>
              </a:lnSpc>
              <a:spcBef>
                <a:spcPts val="700"/>
              </a:spcBef>
            </a:pPr>
            <a:r>
              <a:rPr sz="1400" b="0" i="0">
                <a:solidFill>
                  <a:srgbClr val="21295C"/>
                </a:solidFill>
                <a:latin typeface="Arial"/>
              </a:rPr>
              <a:t/>
            </a:r>
            <a:r>
              <a:rPr sz="1400" b="1" i="0">
                <a:solidFill>
                  <a:srgbClr val="21295C"/>
                </a:solidFill>
                <a:latin typeface="Arial"/>
              </a:rPr>
              <a:t>Дальше по этому документу назначают — и когда что-то произойдёт, разбирать будут подпись.</a:t>
            </a:r>
          </a:p>
        </p:txBody>
      </p:sp>
      <p:sp>
        <p:nvSpPr>
          <p:cNvPr id="7" name="Rectangle 6"/>
          <p:cNvSpPr/>
          <p:nvPr/>
        </p:nvSpPr>
        <p:spPr>
          <a:xfrm>
            <a:off x="6091275" y="1335024"/>
            <a:ext cx="9144" cy="4870055"/>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раздела: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021564" cy="374263"/>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728956"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
            </a:r>
          </a:p>
        </p:txBody>
      </p:sp>
      <p:sp>
        <p:nvSpPr>
          <p:cNvPr id="7" name="Rectangle 6"/>
          <p:cNvSpPr/>
          <p:nvPr/>
        </p:nvSpPr>
        <p:spPr>
          <a:xfrm>
            <a:off x="2561060" y="1335024"/>
            <a:ext cx="3844444" cy="374263"/>
          </a:xfrm>
          <a:prstGeom prst="rect">
            <a:avLst/>
          </a:prstGeom>
          <a:solidFill>
            <a:srgbClr val="065A82"/>
          </a:solidFill>
          <a:ln>
            <a:noFill/>
          </a:ln>
          <a:effectLst/>
        </p:spPr>
        <p:txBody>
          <a:bodyPr rtlCol="0" anchor="ctr"/>
          <a:lstStyle/>
          <a:p>
            <a:pPr algn="ctr"/>
          </a:p>
        </p:txBody>
      </p:sp>
      <p:sp>
        <p:nvSpPr>
          <p:cNvPr id="8" name="TextBox 7"/>
          <p:cNvSpPr txBox="1"/>
          <p:nvPr/>
        </p:nvSpPr>
        <p:spPr>
          <a:xfrm>
            <a:off x="2707364" y="1335024"/>
            <a:ext cx="3551836"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текст</a:t>
            </a:r>
          </a:p>
        </p:txBody>
      </p:sp>
      <p:sp>
        <p:nvSpPr>
          <p:cNvPr id="9" name="Rectangle 8"/>
          <p:cNvSpPr/>
          <p:nvPr/>
        </p:nvSpPr>
        <p:spPr>
          <a:xfrm>
            <a:off x="6405505" y="1335024"/>
            <a:ext cx="2515794" cy="374263"/>
          </a:xfrm>
          <a:prstGeom prst="rect">
            <a:avLst/>
          </a:prstGeom>
          <a:solidFill>
            <a:srgbClr val="065A82"/>
          </a:solidFill>
          <a:ln>
            <a:noFill/>
          </a:ln>
          <a:effectLst/>
        </p:spPr>
        <p:txBody>
          <a:bodyPr rtlCol="0" anchor="ctr"/>
          <a:lstStyle/>
          <a:p>
            <a:pPr algn="ctr"/>
          </a:p>
        </p:txBody>
      </p:sp>
      <p:sp>
        <p:nvSpPr>
          <p:cNvPr id="10" name="TextBox 9"/>
          <p:cNvSpPr txBox="1"/>
          <p:nvPr/>
        </p:nvSpPr>
        <p:spPr>
          <a:xfrm>
            <a:off x="6551809" y="1335024"/>
            <a:ext cx="2223186"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изображение</a:t>
            </a:r>
          </a:p>
        </p:txBody>
      </p:sp>
      <p:sp>
        <p:nvSpPr>
          <p:cNvPr id="11" name="Rectangle 10"/>
          <p:cNvSpPr/>
          <p:nvPr/>
        </p:nvSpPr>
        <p:spPr>
          <a:xfrm>
            <a:off x="8921299" y="1335024"/>
            <a:ext cx="2730899" cy="374263"/>
          </a:xfrm>
          <a:prstGeom prst="rect">
            <a:avLst/>
          </a:prstGeom>
          <a:solidFill>
            <a:srgbClr val="065A82"/>
          </a:solidFill>
          <a:ln>
            <a:noFill/>
          </a:ln>
          <a:effectLst/>
        </p:spPr>
        <p:txBody>
          <a:bodyPr rtlCol="0" anchor="ctr"/>
          <a:lstStyle/>
          <a:p>
            <a:pPr algn="ctr"/>
          </a:p>
        </p:txBody>
      </p:sp>
      <p:sp>
        <p:nvSpPr>
          <p:cNvPr id="12" name="TextBox 11"/>
          <p:cNvSpPr txBox="1"/>
          <p:nvPr/>
        </p:nvSpPr>
        <p:spPr>
          <a:xfrm>
            <a:off x="9067603" y="1335024"/>
            <a:ext cx="2438291"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структурированные данные</a:t>
            </a:r>
          </a:p>
        </p:txBody>
      </p:sp>
      <p:sp>
        <p:nvSpPr>
          <p:cNvPr id="13" name="Rectangle 12"/>
          <p:cNvSpPr/>
          <p:nvPr/>
        </p:nvSpPr>
        <p:spPr>
          <a:xfrm>
            <a:off x="539496" y="1709287"/>
            <a:ext cx="2021564" cy="374263"/>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09287"/>
            <a:ext cx="172895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классификация</a:t>
            </a:r>
          </a:p>
        </p:txBody>
      </p:sp>
      <p:sp>
        <p:nvSpPr>
          <p:cNvPr id="15" name="Rectangle 14"/>
          <p:cNvSpPr/>
          <p:nvPr/>
        </p:nvSpPr>
        <p:spPr>
          <a:xfrm>
            <a:off x="2561060" y="1709287"/>
            <a:ext cx="3844444" cy="374263"/>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2707364" y="1709287"/>
            <a:ext cx="355183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17" name="Rectangle 16"/>
          <p:cNvSpPr/>
          <p:nvPr/>
        </p:nvSpPr>
        <p:spPr>
          <a:xfrm>
            <a:off x="6405505" y="1709287"/>
            <a:ext cx="2515794" cy="374263"/>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6551809" y="1709287"/>
            <a:ext cx="222318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(отбор · анализ · диагноз)</a:t>
            </a:r>
          </a:p>
        </p:txBody>
      </p:sp>
      <p:sp>
        <p:nvSpPr>
          <p:cNvPr id="19" name="Rectangle 18"/>
          <p:cNvSpPr/>
          <p:nvPr/>
        </p:nvSpPr>
        <p:spPr>
          <a:xfrm>
            <a:off x="8921299" y="1709287"/>
            <a:ext cx="2730899" cy="374263"/>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9067603" y="1709287"/>
            <a:ext cx="2438291"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1" name="Rectangle 20"/>
          <p:cNvSpPr/>
          <p:nvPr/>
        </p:nvSpPr>
        <p:spPr>
          <a:xfrm>
            <a:off x="539496" y="2083551"/>
            <a:ext cx="2021564" cy="374263"/>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083551"/>
            <a:ext cx="172895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распознавание</a:t>
            </a:r>
          </a:p>
        </p:txBody>
      </p:sp>
      <p:sp>
        <p:nvSpPr>
          <p:cNvPr id="23" name="Rectangle 22"/>
          <p:cNvSpPr/>
          <p:nvPr/>
        </p:nvSpPr>
        <p:spPr>
          <a:xfrm>
            <a:off x="2561060" y="2083551"/>
            <a:ext cx="3844444" cy="374263"/>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2707364" y="2083551"/>
            <a:ext cx="355183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5" name="Rectangle 24"/>
          <p:cNvSpPr/>
          <p:nvPr/>
        </p:nvSpPr>
        <p:spPr>
          <a:xfrm>
            <a:off x="6405505" y="2083551"/>
            <a:ext cx="2515794" cy="374263"/>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6551809" y="2083551"/>
            <a:ext cx="222318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(отбор · диагноз)</a:t>
            </a:r>
          </a:p>
        </p:txBody>
      </p:sp>
      <p:sp>
        <p:nvSpPr>
          <p:cNvPr id="27" name="Rectangle 26"/>
          <p:cNvSpPr/>
          <p:nvPr/>
        </p:nvSpPr>
        <p:spPr>
          <a:xfrm>
            <a:off x="8921299" y="2083551"/>
            <a:ext cx="2730899" cy="374263"/>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9067603" y="2083551"/>
            <a:ext cx="2438291"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29" name="Rectangle 28"/>
          <p:cNvSpPr/>
          <p:nvPr/>
        </p:nvSpPr>
        <p:spPr>
          <a:xfrm>
            <a:off x="539496" y="2457815"/>
            <a:ext cx="2021564" cy="374263"/>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457815"/>
            <a:ext cx="172895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поиск с генерацией</a:t>
            </a:r>
          </a:p>
        </p:txBody>
      </p:sp>
      <p:sp>
        <p:nvSpPr>
          <p:cNvPr id="31" name="Rectangle 30"/>
          <p:cNvSpPr/>
          <p:nvPr/>
        </p:nvSpPr>
        <p:spPr>
          <a:xfrm>
            <a:off x="2561060" y="2457815"/>
            <a:ext cx="3844444" cy="374263"/>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707364" y="2457815"/>
            <a:ext cx="3551836" cy="374263"/>
          </a:xfrm>
          <a:prstGeom prst="rect">
            <a:avLst/>
          </a:prstGeom>
          <a:noFill/>
        </p:spPr>
        <p:txBody>
          <a:bodyPr wrap="square" lIns="0" rIns="0" tIns="0" bIns="0" anchor="ctr">
            <a:spAutoFit/>
          </a:bodyPr>
          <a:lstStyle/>
          <a:p>
            <a:pPr algn="l">
              <a:lnSpc>
                <a:spcPct val="116000"/>
              </a:lnSpc>
            </a:pPr>
            <a:r>
              <a:rPr sz="1150" b="1" i="0">
                <a:solidFill>
                  <a:srgbClr val="21295C"/>
                </a:solidFill>
                <a:latin typeface="Arial"/>
              </a:rPr>
              <a:t>запись приёма · эпикриз</a:t>
            </a:r>
            <a:r>
              <a:rPr sz="1150" b="0" i="0">
                <a:solidFill>
                  <a:srgbClr val="21295C"/>
                </a:solidFill>
                <a:latin typeface="Arial"/>
              </a:rPr>
              <a:t> (отбор · диагноз)</a:t>
            </a:r>
          </a:p>
        </p:txBody>
      </p:sp>
      <p:sp>
        <p:nvSpPr>
          <p:cNvPr id="33" name="Rectangle 32"/>
          <p:cNvSpPr/>
          <p:nvPr/>
        </p:nvSpPr>
        <p:spPr>
          <a:xfrm>
            <a:off x="6405505" y="2457815"/>
            <a:ext cx="2515794" cy="374263"/>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6551809" y="2457815"/>
            <a:ext cx="222318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35" name="Rectangle 34"/>
          <p:cNvSpPr/>
          <p:nvPr/>
        </p:nvSpPr>
        <p:spPr>
          <a:xfrm>
            <a:off x="8921299" y="2457815"/>
            <a:ext cx="2730899" cy="374263"/>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9067603" y="2457815"/>
            <a:ext cx="2438291"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37" name="Rectangle 36"/>
          <p:cNvSpPr/>
          <p:nvPr/>
        </p:nvSpPr>
        <p:spPr>
          <a:xfrm>
            <a:off x="539496" y="2832078"/>
            <a:ext cx="2021564" cy="374263"/>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832078"/>
            <a:ext cx="172895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прогноз</a:t>
            </a:r>
          </a:p>
        </p:txBody>
      </p:sp>
      <p:sp>
        <p:nvSpPr>
          <p:cNvPr id="39" name="Rectangle 38"/>
          <p:cNvSpPr/>
          <p:nvPr/>
        </p:nvSpPr>
        <p:spPr>
          <a:xfrm>
            <a:off x="2561060" y="2832078"/>
            <a:ext cx="3844444" cy="374263"/>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707364" y="2832078"/>
            <a:ext cx="355183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41" name="Rectangle 40"/>
          <p:cNvSpPr/>
          <p:nvPr/>
        </p:nvSpPr>
        <p:spPr>
          <a:xfrm>
            <a:off x="6405505" y="2832078"/>
            <a:ext cx="2515794" cy="374263"/>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6551809" y="2832078"/>
            <a:ext cx="2223186"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a:t>
            </a:r>
          </a:p>
        </p:txBody>
      </p:sp>
      <p:sp>
        <p:nvSpPr>
          <p:cNvPr id="43" name="Rectangle 42"/>
          <p:cNvSpPr/>
          <p:nvPr/>
        </p:nvSpPr>
        <p:spPr>
          <a:xfrm>
            <a:off x="8921299" y="2832078"/>
            <a:ext cx="2730899" cy="374263"/>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9067603" y="2832078"/>
            <a:ext cx="2438291" cy="374263"/>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(анализ · наблюдение)</a:t>
            </a:r>
          </a:p>
        </p:txBody>
      </p:sp>
      <p:sp>
        <p:nvSpPr>
          <p:cNvPr id="45" name="TextBox 44"/>
          <p:cNvSpPr txBox="1"/>
          <p:nvPr/>
        </p:nvSpPr>
        <p:spPr>
          <a:xfrm>
            <a:off x="539496" y="3352646"/>
            <a:ext cx="11112703"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Полужирное — разборы этого раздела; светлое в скобках — разделы, занявшие клетку раньше.</a:t>
            </a:r>
            <a:r>
              <a:rPr sz="1200" b="0" i="0">
                <a:solidFill>
                  <a:srgbClr val="21295C"/>
                </a:solidFill>
                <a:latin typeface="Arial"/>
              </a:rPr>
              <a:t> Занято 4 клетки из 12 показанных — окно курсовой сетки из 42.</a:t>
            </a:r>
          </a:p>
        </p:txBody>
      </p:sp>
      <p:sp>
        <p:nvSpPr>
          <p:cNvPr id="46" name="TextBox 45"/>
          <p:cNvSpPr txBox="1"/>
          <p:nvPr/>
        </p:nvSpPr>
        <p:spPr>
          <a:xfrm>
            <a:off x="539496" y="3986193"/>
            <a:ext cx="11112703"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Восемь прочерков, и они не двигались с Раздела 2.</a:t>
            </a:r>
            <a:r>
              <a:rPr sz="1200" b="0" i="0">
                <a:solidFill>
                  <a:srgbClr val="21295C"/>
                </a:solidFill>
                <a:latin typeface="Arial"/>
              </a:rPr>
              <a:t> Прочерк не пробел подборки: инструмента такого класса в этом разделе искать незачем.</a:t>
            </a:r>
          </a:p>
        </p:txBody>
      </p:sp>
      <p:sp>
        <p:nvSpPr>
          <p:cNvPr id="47" name="Rounded Rectangle 46"/>
          <p:cNvSpPr/>
          <p:nvPr/>
        </p:nvSpPr>
        <p:spPr>
          <a:xfrm>
            <a:off x="630936" y="4703560"/>
            <a:ext cx="100584" cy="100584"/>
          </a:xfrm>
          <a:prstGeom prst="roundRect">
            <a:avLst>
              <a:gd name="adj" fmla="val 50000"/>
            </a:avLst>
          </a:prstGeom>
          <a:solidFill>
            <a:srgbClr val="028090"/>
          </a:solidFill>
          <a:ln>
            <a:noFill/>
          </a:ln>
          <a:effectLst/>
        </p:spPr>
        <p:txBody>
          <a:bodyPr rtlCol="0" anchor="ctr"/>
          <a:lstStyle/>
          <a:p>
            <a:pPr algn="ctr"/>
          </a:p>
        </p:txBody>
      </p:sp>
      <p:sp>
        <p:nvSpPr>
          <p:cNvPr id="48" name="TextBox 47"/>
          <p:cNvSpPr txBox="1"/>
          <p:nvPr/>
        </p:nvSpPr>
        <p:spPr>
          <a:xfrm>
            <a:off x="923544" y="4619740"/>
            <a:ext cx="10728655" cy="243621"/>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запись приёма в фоне с черновиком заметки</a:t>
            </a:r>
            <a:r>
              <a:rPr sz="1200" b="0" i="0">
                <a:solidFill>
                  <a:srgbClr val="21295C"/>
                </a:solidFill>
                <a:latin typeface="Arial"/>
              </a:rPr>
              <a:t> — Abridge · Dragon Copilot (прежний Nuance DAX) · Nabla · Heidi</a:t>
            </a:r>
          </a:p>
        </p:txBody>
      </p:sp>
      <p:sp>
        <p:nvSpPr>
          <p:cNvPr id="49" name="Rounded Rectangle 48"/>
          <p:cNvSpPr/>
          <p:nvPr/>
        </p:nvSpPr>
        <p:spPr>
          <a:xfrm>
            <a:off x="630936" y="5093486"/>
            <a:ext cx="100584" cy="100584"/>
          </a:xfrm>
          <a:prstGeom prst="roundRect">
            <a:avLst>
              <a:gd name="adj" fmla="val 50000"/>
            </a:avLst>
          </a:prstGeom>
          <a:solidFill>
            <a:srgbClr val="028090"/>
          </a:solidFill>
          <a:ln>
            <a:noFill/>
          </a:ln>
          <a:effectLst/>
        </p:spPr>
        <p:txBody>
          <a:bodyPr rtlCol="0" anchor="ctr"/>
          <a:lstStyle/>
          <a:p>
            <a:pPr algn="ctr"/>
          </a:p>
        </p:txBody>
      </p:sp>
      <p:sp>
        <p:nvSpPr>
          <p:cNvPr id="50" name="TextBox 49"/>
          <p:cNvSpPr txBox="1"/>
          <p:nvPr/>
        </p:nvSpPr>
        <p:spPr>
          <a:xfrm>
            <a:off x="923544" y="5009666"/>
            <a:ext cx="10728655"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сборка клинического документа внутри карты</a:t>
            </a:r>
            <a:r>
              <a:rPr sz="1200" b="0" i="0">
                <a:solidFill>
                  <a:srgbClr val="21295C"/>
                </a:solidFill>
                <a:latin typeface="Arial"/>
              </a:rPr>
              <a:t> — сводка событий госпитализации; отдельно — сводка со ссылкой на место в карте-источнике</a:t>
            </a:r>
          </a:p>
        </p:txBody>
      </p:sp>
      <p:sp>
        <p:nvSpPr>
          <p:cNvPr id="51" name="TextBox 50"/>
          <p:cNvSpPr txBox="1"/>
          <p:nvPr/>
        </p:nvSpPr>
        <p:spPr>
          <a:xfrm>
            <a:off x="539496" y="5643213"/>
            <a:ext cx="11112703"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Четыре работы, одна клетка, четыре разные цены ошибки.</a:t>
            </a:r>
            <a:r>
              <a:rPr sz="1200" b="0" i="0">
                <a:solidFill>
                  <a:srgbClr val="21295C"/>
                </a:solidFill>
                <a:latin typeface="Arial"/>
              </a:rPr>
              <a:t> Вход у записи приёма звуковой, а клетка стоит по выходу: подписывают и вычитывают текст.</a:t>
            </a:r>
          </a:p>
        </p:txBody>
      </p:sp>
      <p:sp>
        <p:nvSpPr>
          <p:cNvPr id="52" name="Rectangle 5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1185855"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6. Чем удерживают</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Подпись, процедура, норматив.</a:t>
            </a:r>
          </a:p>
        </p:txBody>
      </p:sp>
      <p:sp>
        <p:nvSpPr>
          <p:cNvPr id="7" name="TextBox 6"/>
          <p:cNvSpPr txBox="1"/>
          <p:nvPr/>
        </p:nvSpPr>
        <p:spPr>
          <a:xfrm>
            <a:off x="704088" y="2311240"/>
            <a:ext cx="10984687"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Прошлый раздел кончился документом под подписью. Этот — про саму подпись: что она значит и кто проверяет, что подписавший способен возразить машине.</a:t>
            </a:r>
          </a:p>
        </p:txBody>
      </p:sp>
      <p:sp>
        <p:nvSpPr>
          <p:cNvPr id="8" name="TextBox 7"/>
          <p:cNvSpPr txBox="1"/>
          <p:nvPr/>
        </p:nvSpPr>
        <p:spPr>
          <a:xfrm>
            <a:off x="704088" y="3080014"/>
            <a:ext cx="10984687" cy="338666"/>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2 разбора · 1 обзор надзора после допуска</a:t>
            </a:r>
          </a:p>
        </p:txBody>
      </p:sp>
      <p:sp>
        <p:nvSpPr>
          <p:cNvPr id="9" name="TextBox 8"/>
          <p:cNvSpPr txBox="1"/>
          <p:nvPr/>
        </p:nvSpPr>
        <p:spPr>
          <a:xfrm>
            <a:off x="704088" y="3546697"/>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Разборы по порядку: </a:t>
            </a:r>
            <a:r>
              <a:rPr sz="1550" b="1" i="0">
                <a:solidFill>
                  <a:srgbClr val="21295C"/>
                </a:solidFill>
                <a:latin typeface="Arial"/>
              </a:rPr>
              <a:t>Пример 1: склонность доверять автомату</a:t>
            </a:r>
            <a:r>
              <a:rPr sz="1550" b="0" i="0">
                <a:solidFill>
                  <a:srgbClr val="21295C"/>
                </a:solidFill>
                <a:latin typeface="Arial"/>
              </a:rPr>
              <a:t> · </a:t>
            </a:r>
            <a:r>
              <a:rPr sz="1550" b="1" i="0">
                <a:solidFill>
                  <a:srgbClr val="21295C"/>
                </a:solidFill>
                <a:latin typeface="Arial"/>
              </a:rPr>
              <a:t>Пример 2: двойное чтение в минутах труда</a:t>
            </a:r>
          </a:p>
        </p:txBody>
      </p:sp>
      <p:sp>
        <p:nvSpPr>
          <p:cNvPr id="10" name="TextBox 9"/>
          <p:cNvSpPr txBox="1"/>
          <p:nvPr/>
        </p:nvSpPr>
        <p:spPr>
          <a:xfrm>
            <a:off x="704088" y="4013379"/>
            <a:ext cx="11185855" cy="430031"/>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Семь человек за столом комиссии решают один вопрос: соответствовали ли действия врача утверждённому порядку. Пользовался ли он моделью — вопроса такого в списке нет.</a:t>
            </a:r>
          </a:p>
        </p:txBody>
      </p:sp>
      <p:sp>
        <p:nvSpPr>
          <p:cNvPr id="11" name="TextBox 1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Регламент (ЕС) 2024/1689, статья 14</a:t>
            </a:r>
            <a:r>
              <a:rPr sz="1200" b="0" i="1">
                <a:solidFill>
                  <a:srgbClr val="1C7293"/>
                </a:solidFill>
                <a:latin typeface="Arial"/>
              </a:rPr>
              <a:t> · </a:t>
            </a:r>
            <a:r>
              <a:rPr sz="1200" b="0" i="1" u="sng">
                <a:solidFill>
                  <a:srgbClr val="065A82"/>
                </a:solidFill>
                <a:latin typeface="Arial"/>
                <a:hlinkClick r:id="rId3"/>
              </a:rPr>
              <a:t>систематический обзор поданной регуляторам документации по радиологическим устройствам с ИИ, JAMA Network Open 2025;8(11):e2542338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Что делают участники на стадии удержания — до всякой обученной модели</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За столом</a:t>
            </a:r>
          </a:p>
        </p:txBody>
      </p:sp>
      <p:sp>
        <p:nvSpPr>
          <p:cNvPr id="5" name="Rounded Rectangle 4"/>
          <p:cNvSpPr/>
          <p:nvPr/>
        </p:nvSpPr>
        <p:spPr>
          <a:xfrm>
            <a:off x="1920240" y="1335024"/>
            <a:ext cx="233240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16781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Заместитель главного врача — председатель</a:t>
            </a:r>
          </a:p>
        </p:txBody>
      </p:sp>
      <p:sp>
        <p:nvSpPr>
          <p:cNvPr id="7" name="Rounded Rectangle 6"/>
          <p:cNvSpPr/>
          <p:nvPr/>
        </p:nvSpPr>
        <p:spPr>
          <a:xfrm>
            <a:off x="4398949" y="1335024"/>
            <a:ext cx="233240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4481245" y="1380744"/>
            <a:ext cx="216781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Заведующий отделением</a:t>
            </a:r>
          </a:p>
        </p:txBody>
      </p:sp>
      <p:sp>
        <p:nvSpPr>
          <p:cNvPr id="9" name="Rounded Rectangle 8"/>
          <p:cNvSpPr/>
          <p:nvPr/>
        </p:nvSpPr>
        <p:spPr>
          <a:xfrm>
            <a:off x="6877659" y="1335024"/>
            <a:ext cx="233240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6959955" y="1380744"/>
            <a:ext cx="216781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Двое врачей той же специальности из другого отделения</a:t>
            </a:r>
          </a:p>
        </p:txBody>
      </p:sp>
      <p:sp>
        <p:nvSpPr>
          <p:cNvPr id="11" name="Rounded Rectangle 10"/>
          <p:cNvSpPr/>
          <p:nvPr/>
        </p:nvSpPr>
        <p:spPr>
          <a:xfrm>
            <a:off x="9356369" y="1335024"/>
            <a:ext cx="233240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9438665" y="1380744"/>
            <a:ext cx="216781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Эксперт по качеству помощи · секретарь</a:t>
            </a:r>
          </a:p>
        </p:txBody>
      </p:sp>
      <p:sp>
        <p:nvSpPr>
          <p:cNvPr id="13" name="TextBox 12"/>
          <p:cNvSpPr txBox="1"/>
          <p:nvPr/>
        </p:nvSpPr>
        <p:spPr>
          <a:xfrm>
            <a:off x="502920" y="2468594"/>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На столе</a:t>
            </a:r>
          </a:p>
        </p:txBody>
      </p:sp>
      <p:sp>
        <p:nvSpPr>
          <p:cNvPr id="14" name="Rounded Rectangle 13"/>
          <p:cNvSpPr/>
          <p:nvPr/>
        </p:nvSpPr>
        <p:spPr>
          <a:xfrm>
            <a:off x="1920240" y="2432018"/>
            <a:ext cx="233240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477738"/>
            <a:ext cx="216781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со всеми заключениями и подписями</a:t>
            </a:r>
          </a:p>
        </p:txBody>
      </p:sp>
      <p:sp>
        <p:nvSpPr>
          <p:cNvPr id="16" name="Rounded Rectangle 15"/>
          <p:cNvSpPr/>
          <p:nvPr/>
        </p:nvSpPr>
        <p:spPr>
          <a:xfrm>
            <a:off x="4398949" y="2432018"/>
            <a:ext cx="233240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4481245" y="2477738"/>
            <a:ext cx="216781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Протоколы исследований</a:t>
            </a:r>
          </a:p>
        </p:txBody>
      </p:sp>
      <p:sp>
        <p:nvSpPr>
          <p:cNvPr id="18" name="Rounded Rectangle 17"/>
          <p:cNvSpPr/>
          <p:nvPr/>
        </p:nvSpPr>
        <p:spPr>
          <a:xfrm>
            <a:off x="6877659" y="2432018"/>
            <a:ext cx="233240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9" name="TextBox 18"/>
          <p:cNvSpPr txBox="1"/>
          <p:nvPr/>
        </p:nvSpPr>
        <p:spPr>
          <a:xfrm>
            <a:off x="6959955" y="2477738"/>
            <a:ext cx="216781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Распечатка вывода модели и момент её показа</a:t>
            </a:r>
          </a:p>
        </p:txBody>
      </p:sp>
      <p:sp>
        <p:nvSpPr>
          <p:cNvPr id="20" name="Rounded Rectangle 19"/>
          <p:cNvSpPr/>
          <p:nvPr/>
        </p:nvSpPr>
        <p:spPr>
          <a:xfrm>
            <a:off x="9356369" y="2432018"/>
            <a:ext cx="233240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9438665" y="2477738"/>
            <a:ext cx="216781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Утверждённый порядок и клинические рекомендации</a:t>
            </a:r>
          </a:p>
        </p:txBody>
      </p:sp>
      <p:sp>
        <p:nvSpPr>
          <p:cNvPr id="22" name="TextBox 21"/>
          <p:cNvSpPr txBox="1"/>
          <p:nvPr/>
        </p:nvSpPr>
        <p:spPr>
          <a:xfrm>
            <a:off x="502920" y="3419285"/>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Кто сидит за столом и что на нём лежит</a:t>
            </a:r>
          </a:p>
        </p:txBody>
      </p:sp>
      <p:sp>
        <p:nvSpPr>
          <p:cNvPr id="23" name="Rounded Rectangle 22"/>
          <p:cNvSpPr/>
          <p:nvPr/>
        </p:nvSpPr>
        <p:spPr>
          <a:xfrm>
            <a:off x="374904" y="3721968"/>
            <a:ext cx="11441887" cy="2514239"/>
          </a:xfrm>
          <a:prstGeom prst="roundRect">
            <a:avLst>
              <a:gd name="adj" fmla="val 12122"/>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813408"/>
            <a:ext cx="5373471" cy="2422799"/>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Четверг, кабинет заместителя главного врача. Комиссия разбирает один случай: пациентку выписали через четыре дня, и через сутки она вернулась с осложнением. Двое из сидящих за столом с лечащим врачом вместе не работают. Под каждым заключением в карте стоит фамилия.</a:t>
            </a:r>
          </a:p>
          <a:p>
            <a:pPr algn="l">
              <a:lnSpc>
                <a:spcPct val="126000"/>
              </a:lnSpc>
              <a:spcBef>
                <a:spcPts val="700"/>
              </a:spcBef>
            </a:pPr>
            <a:r>
              <a:rPr sz="1300" b="0" i="0">
                <a:solidFill>
                  <a:srgbClr val="21295C"/>
                </a:solidFill>
                <a:latin typeface="Arial"/>
              </a:rPr>
              <a:t/>
            </a:r>
            <a:r>
              <a:rPr sz="1300" b="1" i="0">
                <a:solidFill>
                  <a:srgbClr val="21295C"/>
                </a:solidFill>
                <a:latin typeface="Arial"/>
              </a:rPr>
              <a:t>Семь действий стадии.</a:t>
            </a:r>
            <a:r>
              <a:rPr sz="1300" b="0" i="0">
                <a:solidFill>
                  <a:srgbClr val="21295C"/>
                </a:solidFill>
                <a:latin typeface="Arial"/>
              </a:rPr>
              <a:t> 1. Подписать заключение · 2. Взять согласие · 3. Прочесть вторым независимо · 4. Разрешить расхождение арбитражем · 5. Собрать комиссию · 6. Сверить с порядком · 7. Поправить порядок.</a:t>
            </a:r>
          </a:p>
        </p:txBody>
      </p:sp>
      <p:sp>
        <p:nvSpPr>
          <p:cNvPr id="25" name="TextBox 24"/>
          <p:cNvSpPr txBox="1"/>
          <p:nvPr/>
        </p:nvSpPr>
        <p:spPr>
          <a:xfrm>
            <a:off x="6278727" y="3813408"/>
            <a:ext cx="5373471" cy="2422799"/>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Каждое из семи записано: порядок помощи, регламент отделения, нормативный акт.</a:t>
            </a:r>
          </a:p>
          <a:p>
            <a:pPr algn="l">
              <a:lnSpc>
                <a:spcPct val="126000"/>
              </a:lnSpc>
              <a:spcBef>
                <a:spcPts val="700"/>
              </a:spcBef>
            </a:pPr>
            <a:r>
              <a:rPr sz="1300" b="0" i="0">
                <a:solidFill>
                  <a:srgbClr val="21295C"/>
                </a:solidFill>
                <a:latin typeface="Arial"/>
              </a:rPr>
              <a:t/>
            </a:r>
            <a:r>
              <a:rPr sz="1300" b="1" i="0">
                <a:solidFill>
                  <a:srgbClr val="21295C"/>
                </a:solidFill>
                <a:latin typeface="Arial"/>
              </a:rPr>
              <a:t>С обученной моделью — ни одного действия из семи.</a:t>
            </a:r>
            <a:r>
              <a:rPr sz="1300" b="0" i="0">
                <a:solidFill>
                  <a:srgbClr val="21295C"/>
                </a:solidFill>
                <a:latin typeface="Arial"/>
              </a:rPr>
              <a:t> Подписать ей нечем, а оценить её порядок не умеет, пока его не перепишут. Норма добавила восьмое требование, и адресовано оно человеку: мочь возразить и остановить.</a:t>
            </a:r>
          </a:p>
          <a:p>
            <a:pPr algn="l">
              <a:lnSpc>
                <a:spcPct val="126000"/>
              </a:lnSpc>
              <a:spcBef>
                <a:spcPts val="700"/>
              </a:spcBef>
            </a:pPr>
            <a:r>
              <a:rPr sz="1300" b="0" i="0">
                <a:solidFill>
                  <a:srgbClr val="21295C"/>
                </a:solidFill>
                <a:latin typeface="Arial"/>
              </a:rPr>
              <a:t/>
            </a:r>
            <a:r>
              <a:rPr sz="1300" b="1" i="0">
                <a:solidFill>
                  <a:srgbClr val="21295C"/>
                </a:solidFill>
                <a:latin typeface="Arial"/>
              </a:rPr>
              <a:t>Один вопрос:</a:t>
            </a:r>
            <a:r>
              <a:rPr sz="1300" b="0" i="0">
                <a:solidFill>
                  <a:srgbClr val="21295C"/>
                </a:solidFill>
                <a:latin typeface="Arial"/>
              </a:rPr>
              <a:t> соответствовали ли действия врача утверждённым порядкам, стандартам и рекомендациям.</a:t>
            </a:r>
          </a:p>
        </p:txBody>
      </p:sp>
      <p:sp>
        <p:nvSpPr>
          <p:cNvPr id="26" name="Rectangle 25"/>
          <p:cNvSpPr/>
          <p:nvPr/>
        </p:nvSpPr>
        <p:spPr>
          <a:xfrm>
            <a:off x="6091275" y="3813408"/>
            <a:ext cx="9144" cy="2405976"/>
          </a:xfrm>
          <a:prstGeom prst="rect">
            <a:avLst/>
          </a:prstGeom>
          <a:solidFill>
            <a:srgbClr val="D9E2EC"/>
          </a:solidFill>
          <a:ln>
            <a:noFill/>
          </a:ln>
          <a:effectLst/>
        </p:spPr>
        <p:txBody>
          <a:bodyPr rtlCol="0" anchor="ctr"/>
          <a:lstStyle/>
          <a:p>
            <a:pPr algn="ctr"/>
          </a:p>
        </p:txBody>
      </p:sp>
      <p:sp>
        <p:nvSpPr>
          <p:cNvPr id="27" name="Rectangle 26"/>
          <p:cNvSpPr/>
          <p:nvPr/>
        </p:nvSpPr>
        <p:spPr>
          <a:xfrm>
            <a:off x="502920" y="8201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склонность доверять автомату</a:t>
            </a:r>
          </a:p>
        </p:txBody>
      </p:sp>
      <p:sp>
        <p:nvSpPr>
          <p:cNvPr id="4" name="Rounded Rectangle 3"/>
          <p:cNvSpPr/>
          <p:nvPr/>
        </p:nvSpPr>
        <p:spPr>
          <a:xfrm>
            <a:off x="502920" y="1335024"/>
            <a:ext cx="3618890"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ТОЧНОСТЬ БЕЗ МОДЕЛИ → С МОДЕЛЬЮ</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87,2 → 96,4 из ста</a:t>
            </a:r>
          </a:p>
        </p:txBody>
      </p:sp>
      <p:sp>
        <p:nvSpPr>
          <p:cNvPr id="7" name="TextBox 6"/>
          <p:cNvSpPr txBox="1"/>
          <p:nvPr/>
        </p:nvSpPr>
        <p:spPr>
          <a:xfrm>
            <a:off x="640080"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40 клиницистов, восемь тысяч прочтений; девять пунктов — против ОДНОГО читателя</a:t>
            </a:r>
          </a:p>
        </p:txBody>
      </p:sp>
      <p:sp>
        <p:nvSpPr>
          <p:cNvPr id="8" name="Rounded Rectangle 7"/>
          <p:cNvSpPr/>
          <p:nvPr/>
        </p:nvSpPr>
        <p:spPr>
          <a:xfrm>
            <a:off x="4286402" y="1335024"/>
            <a:ext cx="3618890" cy="1588240"/>
          </a:xfrm>
          <a:prstGeom prst="roundRect">
            <a:avLst>
              <a:gd name="adj" fmla="val 19191"/>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ОСТАТОЧНЫЕ ОШИБКИ ОТ СКЛОННОСТИ ДОВЕРЯТЬ АВТОМАТУ</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45,5 из ста ошибок</a:t>
            </a:r>
          </a:p>
        </p:txBody>
      </p:sp>
      <p:sp>
        <p:nvSpPr>
          <p:cNvPr id="11" name="TextBox 10"/>
          <p:cNvSpPr txBox="1"/>
          <p:nvPr/>
        </p:nvSpPr>
        <p:spPr>
          <a:xfrm>
            <a:off x="4423562"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ошибок раунда с подсказкой, на всех уровнях квалификации</a:t>
            </a:r>
          </a:p>
        </p:txBody>
      </p:sp>
      <p:sp>
        <p:nvSpPr>
          <p:cNvPr id="12" name="Rounded Rectangle 11"/>
          <p:cNvSpPr/>
          <p:nvPr/>
        </p:nvSpPr>
        <p:spPr>
          <a:xfrm>
            <a:off x="8069884" y="1335024"/>
            <a:ext cx="3618890"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ВТОРОЕ МНЕНИЕ ВТОРОГО ЧЕЛОВЕКА</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опыте названо и не посчитано</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второго читателя в этом опыте не было</a:t>
            </a:r>
          </a:p>
        </p:txBody>
      </p:sp>
      <p:sp>
        <p:nvSpPr>
          <p:cNvPr id="16" name="TextBox 15"/>
          <p:cNvSpPr txBox="1"/>
          <p:nvPr/>
        </p:nvSpPr>
        <p:spPr>
          <a:xfrm>
            <a:off x="502920" y="314272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Процедура</a:t>
            </a:r>
          </a:p>
        </p:txBody>
      </p:sp>
      <p:sp>
        <p:nvSpPr>
          <p:cNvPr id="17" name="Rounded Rectangle 16"/>
          <p:cNvSpPr/>
          <p:nvPr/>
        </p:nvSpPr>
        <p:spPr>
          <a:xfrm>
            <a:off x="1920240" y="3106144"/>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51864"/>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Разбор случая после исхода</a:t>
            </a:r>
          </a:p>
        </p:txBody>
      </p:sp>
      <p:sp>
        <p:nvSpPr>
          <p:cNvPr id="19" name="Right Arrow 18"/>
          <p:cNvSpPr/>
          <p:nvPr/>
        </p:nvSpPr>
        <p:spPr>
          <a:xfrm>
            <a:off x="6713067" y="3275261"/>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6941667" y="3106144"/>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7023963" y="3151864"/>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Изменение порядка по итогам разбора</a:t>
            </a:r>
          </a:p>
        </p:txBody>
      </p:sp>
      <p:sp>
        <p:nvSpPr>
          <p:cNvPr id="22" name="TextBox 21"/>
          <p:cNvSpPr txBox="1"/>
          <p:nvPr/>
        </p:nvSpPr>
        <p:spPr>
          <a:xfrm>
            <a:off x="502920" y="361811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Процедура из двух шагов, которой медицина держит цену ошибки</a:t>
            </a:r>
          </a:p>
        </p:txBody>
      </p:sp>
      <p:sp>
        <p:nvSpPr>
          <p:cNvPr id="23" name="Rounded Rectangle 22"/>
          <p:cNvSpPr/>
          <p:nvPr/>
        </p:nvSpPr>
        <p:spPr>
          <a:xfrm>
            <a:off x="374904" y="3920797"/>
            <a:ext cx="11441887" cy="2315410"/>
          </a:xfrm>
          <a:prstGeom prst="roundRect">
            <a:avLst>
              <a:gd name="adj" fmla="val 13163"/>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4012237"/>
            <a:ext cx="5373471" cy="222397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Склонность доверять автомату.</a:t>
            </a:r>
            <a:r>
              <a:rPr sz="1500" b="0" i="0">
                <a:solidFill>
                  <a:srgbClr val="21295C"/>
                </a:solidFill>
                <a:latin typeface="Arial"/>
              </a:rPr>
              <a:t> С моделью точность выше на девять пунктов — и почти половина оставшихся ошибок связана именно с ней. Наблюдалась на всех уровнях квалификации: стаж не защищает.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Выигрыш и вред идут из одного места:</a:t>
            </a:r>
            <a:r>
              <a:rPr sz="1500" b="0" i="0">
                <a:solidFill>
                  <a:srgbClr val="21295C"/>
                </a:solidFill>
                <a:latin typeface="Arial"/>
              </a:rPr>
              <a:t> человек соглашается там, где без подсказки решил бы иначе и правильнее.</a:t>
            </a:r>
          </a:p>
        </p:txBody>
      </p:sp>
      <p:sp>
        <p:nvSpPr>
          <p:cNvPr id="25" name="TextBox 24"/>
          <p:cNvSpPr txBox="1"/>
          <p:nvPr/>
        </p:nvSpPr>
        <p:spPr>
          <a:xfrm>
            <a:off x="6278727" y="4012237"/>
            <a:ext cx="5373471" cy="222397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Доля считается от остаточных ошибок, а не от всех прочтений.</a:t>
            </a:r>
          </a:p>
          <a:p>
            <a:pPr algn="l">
              <a:lnSpc>
                <a:spcPct val="126000"/>
              </a:lnSpc>
              <a:spcBef>
                <a:spcPts val="700"/>
              </a:spcBef>
            </a:pPr>
            <a:r>
              <a:rPr sz="1500" b="0" i="0">
                <a:solidFill>
                  <a:srgbClr val="21295C"/>
                </a:solidFill>
                <a:latin typeface="Arial"/>
              </a:rPr>
              <a:t/>
            </a:r>
            <a:r>
              <a:rPr sz="1500" b="0" i="0">
                <a:solidFill>
                  <a:srgbClr val="21295C"/>
                </a:solidFill>
                <a:latin typeface="Arial"/>
              </a:rPr>
              <a:t>Независимое второе мнение и арбитраж — действия той же стадии: независимость теряется, когда оба читателя видят одну подсказку.</a:t>
            </a:r>
          </a:p>
        </p:txBody>
      </p:sp>
      <p:sp>
        <p:nvSpPr>
          <p:cNvPr id="26" name="Rectangle 25"/>
          <p:cNvSpPr/>
          <p:nvPr/>
        </p:nvSpPr>
        <p:spPr>
          <a:xfrm>
            <a:off x="6091275" y="4012237"/>
            <a:ext cx="9144" cy="2168327"/>
          </a:xfrm>
          <a:prstGeom prst="rect">
            <a:avLst/>
          </a:prstGeom>
          <a:solidFill>
            <a:srgbClr val="D9E2EC"/>
          </a:solidFill>
          <a:ln>
            <a:noFill/>
          </a:ln>
          <a:effectLst/>
        </p:spPr>
        <p:txBody>
          <a:bodyPr rtlCol="0" anchor="ctr"/>
          <a:lstStyle/>
          <a:p>
            <a:pPr algn="ctr"/>
          </a:p>
        </p:txBody>
      </p:sp>
      <p:sp>
        <p:nvSpPr>
          <p:cNvPr id="27" name="Rectangle 2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Wang D. Y., Ding J., Sun A. L. и соавт., JAMIA 2023;30(10):1684–1692, DOI 10.1093/jamia/ocad118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лекарство посчитано, но не измерено</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РАСЧЁТНОЕ СНИЖЕНИЕ — ОЦЕНЕНО РАСЧЁТОМ, НЕ ИЗМЕРЕНО</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41,7 процента</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ретроспективный расчёт по двум уже собранным раундам</a:t>
            </a:r>
          </a:p>
        </p:txBody>
      </p:sp>
      <p:sp>
        <p:nvSpPr>
          <p:cNvPr id="8" name="Rounded Rectangle 7"/>
          <p:cNvSpPr/>
          <p:nvPr/>
        </p:nvSpPr>
        <p:spPr>
          <a:xfrm>
            <a:off x="6178143"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ПЛАНИРОВАНИЕ СМЕН — ВРЕМЯ НА ГРАФИК</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32,0 → 6,0 часа в месяц</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минус 81,2 процента; обученной модели внутри нет</a:t>
            </a:r>
          </a:p>
        </p:txBody>
      </p:sp>
      <p:sp>
        <p:nvSpPr>
          <p:cNvPr id="12" name="Rounded Rectangle 11"/>
          <p:cNvSpPr/>
          <p:nvPr/>
        </p:nvSpPr>
        <p:spPr>
          <a:xfrm>
            <a:off x="374904" y="2592217"/>
            <a:ext cx="11441887" cy="3643990"/>
          </a:xfrm>
          <a:prstGeom prst="roundRect">
            <a:avLst>
              <a:gd name="adj" fmla="val 8364"/>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683657"/>
            <a:ext cx="5373471" cy="355255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Очевидное лекарство — скрывать подсказку там, где она чаще ошибается.</a:t>
            </a:r>
            <a:r>
              <a:rPr sz="1500" b="0" i="0">
                <a:solidFill>
                  <a:srgbClr val="21295C"/>
                </a:solidFill>
                <a:latin typeface="Arial"/>
              </a:rPr>
              <a:t> Снижение на 41,7 процента получено расчётом по двум уже собранным раундам. Третьего раунда с живыми врачами не было.</a:t>
            </a:r>
          </a:p>
          <a:p>
            <a:pPr algn="l">
              <a:lnSpc>
                <a:spcPct val="126000"/>
              </a:lnSpc>
              <a:spcBef>
                <a:spcPts val="700"/>
              </a:spcBef>
            </a:pPr>
            <a:r>
              <a:rPr sz="1500" b="0" i="0">
                <a:solidFill>
                  <a:srgbClr val="21295C"/>
                </a:solidFill>
                <a:latin typeface="Arial"/>
              </a:rPr>
              <a:t/>
            </a:r>
            <a:r>
              <a:rPr sz="1500" b="1" i="0">
                <a:solidFill>
                  <a:srgbClr val="21295C"/>
                </a:solidFill>
                <a:latin typeface="Arial"/>
              </a:rPr>
              <a:t>В скрываемой зоне остаются и случаи, где модель права, — поэтому знак итогового эффекта неизвестен.</a:t>
            </a:r>
          </a:p>
          <a:p>
            <a:pPr algn="l">
              <a:lnSpc>
                <a:spcPct val="126000"/>
              </a:lnSpc>
              <a:spcBef>
                <a:spcPts val="700"/>
              </a:spcBef>
            </a:pPr>
            <a:r>
              <a:rPr sz="1200" b="0" i="0">
                <a:solidFill>
                  <a:srgbClr val="21295C"/>
                </a:solidFill>
                <a:latin typeface="Arial"/>
              </a:rPr>
              <a:t/>
            </a:r>
            <a:r>
              <a:rPr sz="1200" b="0" i="1">
                <a:solidFill>
                  <a:srgbClr val="1C7293"/>
                </a:solidFill>
                <a:latin typeface="Arial"/>
              </a:rPr>
              <a:t>Формы словаря у приёма нет и назвать её нечем: к живой работе его не прикладывали. Форму присваивают измерению, расчёту её не присваивают.</a:t>
            </a:r>
          </a:p>
        </p:txBody>
      </p:sp>
      <p:sp>
        <p:nvSpPr>
          <p:cNvPr id="14" name="TextBox 13"/>
          <p:cNvSpPr txBox="1"/>
          <p:nvPr/>
        </p:nvSpPr>
        <p:spPr>
          <a:xfrm>
            <a:off x="6278727" y="2683657"/>
            <a:ext cx="5373471" cy="355255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Раскрытый конфликт интересов:</a:t>
            </a:r>
            <a:r>
              <a:rPr sz="1500" b="0" i="0">
                <a:solidFill>
                  <a:srgbClr val="21295C"/>
                </a:solidFill>
                <a:latin typeface="Arial"/>
              </a:rPr>
              <a:t> часть авторов работает в компании-производителе модели или имеет на неё патент.</a:t>
            </a:r>
          </a:p>
          <a:p>
            <a:pPr algn="l">
              <a:lnSpc>
                <a:spcPct val="126000"/>
              </a:lnSpc>
              <a:spcBef>
                <a:spcPts val="700"/>
              </a:spcBef>
            </a:pPr>
            <a:r>
              <a:rPr sz="1500" b="0" i="0">
                <a:solidFill>
                  <a:srgbClr val="21295C"/>
                </a:solidFill>
                <a:latin typeface="Arial"/>
              </a:rPr>
              <a:t/>
            </a:r>
            <a:r>
              <a:rPr sz="1500" b="0" i="1">
                <a:solidFill>
                  <a:srgbClr val="21295C"/>
                </a:solidFill>
                <a:latin typeface="Arial"/>
              </a:rPr>
              <a:t>Упоминание рядом, для контраста.</a:t>
            </a:r>
            <a:r>
              <a:rPr sz="1500" b="0" i="0">
                <a:solidFill>
                  <a:srgbClr val="21295C"/>
                </a:solidFill>
                <a:latin typeface="Arial"/>
              </a:rPr>
              <a:t> Алгоритмическое планирование смен медсестёр: обученной модели внутри нет — нормы отдыха, квалификации и минимальный состав дежурства задают систему условий, которую решает оптимизатор.</a:t>
            </a:r>
          </a:p>
          <a:p>
            <a:pPr algn="l">
              <a:lnSpc>
                <a:spcPct val="126000"/>
              </a:lnSpc>
              <a:spcBef>
                <a:spcPts val="700"/>
              </a:spcBef>
            </a:pPr>
            <a:r>
              <a:rPr sz="1500" b="0" i="0">
                <a:solidFill>
                  <a:srgbClr val="21295C"/>
                </a:solidFill>
                <a:latin typeface="Arial"/>
              </a:rPr>
              <a:t/>
            </a:r>
            <a:r>
              <a:rPr sz="1500" b="1" i="0">
                <a:solidFill>
                  <a:srgbClr val="21295C"/>
                </a:solidFill>
                <a:latin typeface="Arial"/>
              </a:rPr>
              <a:t>Ошибка в графике исправляется до начала смены и никому не стоит здоровья: там, где цена промаха мала, дорогая процедура не окупается.</a:t>
            </a:r>
          </a:p>
        </p:txBody>
      </p:sp>
      <p:sp>
        <p:nvSpPr>
          <p:cNvPr id="15" name="Rectangle 14"/>
          <p:cNvSpPr/>
          <p:nvPr/>
        </p:nvSpPr>
        <p:spPr>
          <a:xfrm>
            <a:off x="6091275" y="2683657"/>
            <a:ext cx="9144" cy="3445472"/>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Wang D. Y., Ding J., Sun A. L. и соавт., JAMIA 2023;30(10):1684–1692, DOI 10.1093/jamia/ocad118</a:t>
            </a:r>
            <a:r>
              <a:rPr sz="1200" b="0" i="1">
                <a:solidFill>
                  <a:srgbClr val="1C7293"/>
                </a:solidFill>
                <a:latin typeface="Arial"/>
              </a:rPr>
              <a:t> · </a:t>
            </a:r>
            <a:r>
              <a:rPr sz="1200" b="0" i="1">
                <a:solidFill>
                  <a:srgbClr val="1C7293"/>
                </a:solidFill>
                <a:latin typeface="Arial"/>
              </a:rPr>
              <a:t>разбор алгоритмического планирования смен медсестёр</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двойное чтение в минутах труда</a:t>
            </a:r>
          </a:p>
        </p:txBody>
      </p:sp>
      <p:sp>
        <p:nvSpPr>
          <p:cNvPr id="4" name="Rounded Rectangle 3"/>
          <p:cNvSpPr/>
          <p:nvPr/>
        </p:nvSpPr>
        <p:spPr>
          <a:xfrm>
            <a:off x="502920"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ДВОЙНОЕ ЧТЕНИЕ ДВУМЯ ЛЮДЬМИ → ОДИН ЧЕЛОВЕК С МОДЕЛЬЮ</a:t>
            </a:r>
          </a:p>
        </p:txBody>
      </p:sp>
      <p:sp>
        <p:nvSpPr>
          <p:cNvPr id="6" name="TextBox 5"/>
          <p:cNvSpPr txBox="1"/>
          <p:nvPr/>
        </p:nvSpPr>
        <p:spPr>
          <a:xfrm>
            <a:off x="640080" y="2140317"/>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73,8 → 80,5 из ста</a:t>
            </a:r>
          </a:p>
        </p:txBody>
      </p:sp>
      <p:sp>
        <p:nvSpPr>
          <p:cNvPr id="7" name="TextBox 6"/>
          <p:cNvSpPr txBox="1"/>
          <p:nvPr/>
        </p:nvSpPr>
        <p:spPr>
          <a:xfrm>
            <a:off x="640080" y="295774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чувствительность; та же программа</a:t>
            </a:r>
          </a:p>
        </p:txBody>
      </p:sp>
      <p:sp>
        <p:nvSpPr>
          <p:cNvPr id="8" name="Rounded Rectangle 7"/>
          <p:cNvSpPr/>
          <p:nvPr/>
        </p:nvSpPr>
        <p:spPr>
          <a:xfrm>
            <a:off x="3340531"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ОДНО ЧТЕНИЕ МАММОГРАММЫ</a:t>
            </a:r>
          </a:p>
        </p:txBody>
      </p:sp>
      <p:sp>
        <p:nvSpPr>
          <p:cNvPr id="10" name="TextBox 9"/>
          <p:cNvSpPr txBox="1"/>
          <p:nvPr/>
        </p:nvSpPr>
        <p:spPr>
          <a:xfrm>
            <a:off x="3477691"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48 секунд</a:t>
            </a:r>
          </a:p>
        </p:txBody>
      </p:sp>
      <p:sp>
        <p:nvSpPr>
          <p:cNvPr id="11" name="TextBox 10"/>
          <p:cNvSpPr txBox="1"/>
          <p:nvPr/>
        </p:nvSpPr>
        <p:spPr>
          <a:xfrm>
            <a:off x="3477691" y="2359845"/>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медиана 25 секунд</a:t>
            </a:r>
          </a:p>
        </p:txBody>
      </p:sp>
      <p:sp>
        <p:nvSpPr>
          <p:cNvPr id="12" name="Rounded Rectangle 11"/>
          <p:cNvSpPr/>
          <p:nvPr/>
        </p:nvSpPr>
        <p:spPr>
          <a:xfrm>
            <a:off x="6178143"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РАЗБОР РАСХОЖДЕНИЯ ПРОТИВ ОДНОГО ЧТЕНИЯ</a:t>
            </a:r>
          </a:p>
        </p:txBody>
      </p:sp>
      <p:sp>
        <p:nvSpPr>
          <p:cNvPr id="14" name="TextBox 13"/>
          <p:cNvSpPr txBox="1"/>
          <p:nvPr/>
        </p:nvSpPr>
        <p:spPr>
          <a:xfrm>
            <a:off x="6315303"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4,6 раза дольше</a:t>
            </a:r>
          </a:p>
        </p:txBody>
      </p:sp>
      <p:sp>
        <p:nvSpPr>
          <p:cNvPr id="15" name="TextBox 14"/>
          <p:cNvSpPr txBox="1"/>
          <p:nvPr/>
        </p:nvSpPr>
        <p:spPr>
          <a:xfrm>
            <a:off x="6315303" y="2750268"/>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медианам; по средним в 2,75</a:t>
            </a:r>
          </a:p>
        </p:txBody>
      </p:sp>
      <p:sp>
        <p:nvSpPr>
          <p:cNvPr id="16" name="Rounded Rectangle 15"/>
          <p:cNvSpPr/>
          <p:nvPr/>
        </p:nvSpPr>
        <p:spPr>
          <a:xfrm>
            <a:off x="9015755" y="1335024"/>
            <a:ext cx="2673019" cy="2182363"/>
          </a:xfrm>
          <a:prstGeom prst="roundRect">
            <a:avLst>
              <a:gd name="adj" fmla="val 13966"/>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ОБЪЁМ АРБИТРАЖА ПРИ ВДВОЕ МЕНЬШЕМ ЧИСЛЕ ЧТЕНИЙ</a:t>
            </a:r>
          </a:p>
        </p:txBody>
      </p:sp>
      <p:sp>
        <p:nvSpPr>
          <p:cNvPr id="18" name="TextBox 17"/>
          <p:cNvSpPr txBox="1"/>
          <p:nvPr/>
        </p:nvSpPr>
        <p:spPr>
          <a:xfrm>
            <a:off x="9152915" y="2140317"/>
            <a:ext cx="2398699"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+53 процента</a:t>
            </a:r>
          </a:p>
        </p:txBody>
      </p:sp>
      <p:sp>
        <p:nvSpPr>
          <p:cNvPr id="19" name="TextBox 18"/>
          <p:cNvSpPr txBox="1"/>
          <p:nvPr/>
        </p:nvSpPr>
        <p:spPr>
          <a:xfrm>
            <a:off x="9152915" y="2567316"/>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22 до 142 между двумя центрами</a:t>
            </a:r>
          </a:p>
        </p:txBody>
      </p:sp>
      <p:sp>
        <p:nvSpPr>
          <p:cNvPr id="20" name="Rounded Rectangle 19"/>
          <p:cNvSpPr/>
          <p:nvPr/>
        </p:nvSpPr>
        <p:spPr>
          <a:xfrm>
            <a:off x="374904" y="3608827"/>
            <a:ext cx="11441887" cy="2511743"/>
          </a:xfrm>
          <a:prstGeom prst="roundRect">
            <a:avLst>
              <a:gd name="adj" fmla="val 12134"/>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700267"/>
            <a:ext cx="5373471" cy="2535940"/>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Цена обеих ошибок у подписи.</a:t>
            </a:r>
            <a:r>
              <a:rPr sz="1300" b="0" i="0">
                <a:solidFill>
                  <a:srgbClr val="21295C"/>
                </a:solidFill>
                <a:latin typeface="Arial"/>
              </a:rPr>
              <a:t> И пропущенный диагноз, и лишнее вмешательство: подпись человеческая, а платит исходом пациент.</a:t>
            </a:r>
          </a:p>
          <a:p>
            <a:pPr algn="l">
              <a:lnSpc>
                <a:spcPct val="126000"/>
              </a:lnSpc>
              <a:spcBef>
                <a:spcPts val="700"/>
              </a:spcBef>
            </a:pPr>
            <a:r>
              <a:rPr sz="1300" b="0" i="0">
                <a:solidFill>
                  <a:srgbClr val="21295C"/>
                </a:solidFill>
                <a:latin typeface="Arial"/>
              </a:rPr>
              <a:t/>
            </a:r>
            <a:r>
              <a:rPr sz="1300" b="1" i="0">
                <a:solidFill>
                  <a:srgbClr val="21295C"/>
                </a:solidFill>
                <a:latin typeface="Arial"/>
              </a:rPr>
              <a:t>Классических режимов два, и счёт у них разный.</a:t>
            </a:r>
            <a:r>
              <a:rPr sz="1300" b="0" i="0">
                <a:solidFill>
                  <a:srgbClr val="21295C"/>
                </a:solidFill>
                <a:latin typeface="Arial"/>
              </a:rPr>
              <a:t> Один читатель без арбитража — назван и своего числа не имеет. Двое с арбитражем — посчитаны, и сразу в двух единицах.</a:t>
            </a:r>
          </a:p>
          <a:p>
            <a:pPr algn="l">
              <a:lnSpc>
                <a:spcPct val="126000"/>
              </a:lnSpc>
              <a:spcBef>
                <a:spcPts val="700"/>
              </a:spcBef>
            </a:pPr>
            <a:r>
              <a:rPr sz="1300" b="0" i="0">
                <a:solidFill>
                  <a:srgbClr val="21295C"/>
                </a:solidFill>
                <a:latin typeface="Arial"/>
              </a:rPr>
              <a:t/>
            </a:r>
            <a:r>
              <a:rPr sz="1300" b="1" i="0">
                <a:solidFill>
                  <a:srgbClr val="21295C"/>
                </a:solidFill>
                <a:latin typeface="Arial"/>
              </a:rPr>
              <a:t>Первая единица — чувствительность, доля найденного среди больных.</a:t>
            </a:r>
            <a:r>
              <a:rPr sz="1300" b="0" i="0">
                <a:solidFill>
                  <a:srgbClr val="21295C"/>
                </a:solidFill>
                <a:latin typeface="Arial"/>
              </a:rPr>
              <a:t> С выявляемостью её путать нельзя: в той же программе это около шести находок на тысячу обследованных.</a:t>
            </a:r>
          </a:p>
        </p:txBody>
      </p:sp>
      <p:sp>
        <p:nvSpPr>
          <p:cNvPr id="22" name="TextBox 21"/>
          <p:cNvSpPr txBox="1"/>
          <p:nvPr/>
        </p:nvSpPr>
        <p:spPr>
          <a:xfrm>
            <a:off x="6278727" y="3700267"/>
            <a:ext cx="5373471" cy="2535940"/>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Вторая единица — минуты труда, и без неё экономия на чтении не считается.</a:t>
            </a:r>
            <a:r>
              <a:rPr sz="1300" b="0" i="0">
                <a:solidFill>
                  <a:srgbClr val="21295C"/>
                </a:solidFill>
                <a:latin typeface="Arial"/>
              </a:rPr>
              <a:t> База: 441 276 первичных прочтений, то есть около 219 тысяч обследований, каждое читают двое; 16 центров.</a:t>
            </a:r>
          </a:p>
          <a:p>
            <a:pPr algn="l">
              <a:lnSpc>
                <a:spcPct val="126000"/>
              </a:lnSpc>
              <a:spcBef>
                <a:spcPts val="700"/>
              </a:spcBef>
            </a:pPr>
            <a:r>
              <a:rPr sz="1300" b="0" i="0">
                <a:solidFill>
                  <a:srgbClr val="21295C"/>
                </a:solidFill>
                <a:latin typeface="Arial"/>
              </a:rPr>
              <a:t/>
            </a:r>
            <a:r>
              <a:rPr sz="1300" b="1" i="0">
                <a:solidFill>
                  <a:srgbClr val="21295C"/>
                </a:solidFill>
                <a:latin typeface="Arial"/>
              </a:rPr>
              <a:t>Разброс произносится вместе со средним:</a:t>
            </a:r>
            <a:r>
              <a:rPr sz="1300" b="0" i="0">
                <a:solidFill>
                  <a:srgbClr val="21295C"/>
                </a:solidFill>
                <a:latin typeface="Arial"/>
              </a:rPr>
              <a:t> протоколы арбитража разные, и устройство нового шага само задаёт нагрузку.</a:t>
            </a:r>
          </a:p>
          <a:p>
            <a:pPr algn="l">
              <a:lnSpc>
                <a:spcPct val="126000"/>
              </a:lnSpc>
              <a:spcBef>
                <a:spcPts val="700"/>
              </a:spcBef>
            </a:pPr>
            <a:r>
              <a:rPr sz="1300" b="0" i="0">
                <a:solidFill>
                  <a:srgbClr val="21295C"/>
                </a:solidFill>
                <a:latin typeface="Arial"/>
              </a:rPr>
              <a:t/>
            </a:r>
            <a:r>
              <a:rPr sz="1300" b="1" i="0">
                <a:solidFill>
                  <a:srgbClr val="21295C"/>
                </a:solidFill>
                <a:latin typeface="Arial"/>
              </a:rPr>
              <a:t>Экономия на одном шаге не обязана компенсировать рост другого.</a:t>
            </a:r>
          </a:p>
        </p:txBody>
      </p:sp>
      <p:sp>
        <p:nvSpPr>
          <p:cNvPr id="23" name="Rectangle 22"/>
          <p:cNvSpPr/>
          <p:nvPr/>
        </p:nvSpPr>
        <p:spPr>
          <a:xfrm>
            <a:off x="6091275" y="3700267"/>
            <a:ext cx="9144" cy="2237423"/>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Hovda, Holen, Hofvind, European Radiology 2026, DOI 10.1007/s00330-025-12273-x</a:t>
            </a:r>
            <a:r>
              <a:rPr sz="1200" b="0" i="1">
                <a:solidFill>
                  <a:srgbClr val="1C7293"/>
                </a:solidFill>
                <a:latin typeface="Arial"/>
              </a:rPr>
              <a:t> · </a:t>
            </a:r>
            <a:r>
              <a:rPr sz="1200" b="0" i="1" u="sng">
                <a:solidFill>
                  <a:srgbClr val="065A82"/>
                </a:solidFill>
                <a:latin typeface="Arial"/>
                <a:hlinkClick r:id="rId3"/>
              </a:rPr>
              <a:t>Warren L. M. и соавт., Nature Cancer 2026, DOI 10.1038/s43018-026-01128-z</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цена: норма есть, а проверки нет</a:t>
            </a:r>
          </a:p>
        </p:txBody>
      </p:sp>
      <p:sp>
        <p:nvSpPr>
          <p:cNvPr id="4" name="Rounded Rectangle 3"/>
          <p:cNvSpPr/>
          <p:nvPr/>
        </p:nvSpPr>
        <p:spPr>
          <a:xfrm>
            <a:off x="502920" y="1335024"/>
            <a:ext cx="2673019"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ТЕСТИРОВАНИЕ С ЧЕЛОВЕКОМ В КОНТУРЕ</a:t>
            </a:r>
          </a:p>
        </p:txBody>
      </p:sp>
      <p:sp>
        <p:nvSpPr>
          <p:cNvPr id="6" name="TextBox 5"/>
          <p:cNvSpPr txBox="1"/>
          <p:nvPr/>
        </p:nvSpPr>
        <p:spPr>
          <a:xfrm>
            <a:off x="640080" y="1932846"/>
            <a:ext cx="2398699"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56 из 717</a:t>
            </a:r>
          </a:p>
        </p:txBody>
      </p:sp>
      <p:sp>
        <p:nvSpPr>
          <p:cNvPr id="7" name="TextBox 6"/>
          <p:cNvSpPr txBox="1"/>
          <p:nvPr/>
        </p:nvSpPr>
        <p:spPr>
          <a:xfrm>
            <a:off x="640080" y="2359845"/>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8 из ста; срез июнь 2024</a:t>
            </a:r>
          </a:p>
        </p:txBody>
      </p:sp>
      <p:sp>
        <p:nvSpPr>
          <p:cNvPr id="8" name="Rounded Rectangle 7"/>
          <p:cNvSpPr/>
          <p:nvPr/>
        </p:nvSpPr>
        <p:spPr>
          <a:xfrm>
            <a:off x="3340531" y="1335024"/>
            <a:ext cx="2673019"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ПРОСПЕКТИВНОЕ ИСПЫТАНИЕ</a:t>
            </a:r>
          </a:p>
        </p:txBody>
      </p:sp>
      <p:sp>
        <p:nvSpPr>
          <p:cNvPr id="10" name="TextBox 9"/>
          <p:cNvSpPr txBox="1"/>
          <p:nvPr/>
        </p:nvSpPr>
        <p:spPr>
          <a:xfrm>
            <a:off x="3477691"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33 из 717</a:t>
            </a:r>
          </a:p>
        </p:txBody>
      </p:sp>
      <p:sp>
        <p:nvSpPr>
          <p:cNvPr id="11" name="TextBox 10"/>
          <p:cNvSpPr txBox="1"/>
          <p:nvPr/>
        </p:nvSpPr>
        <p:spPr>
          <a:xfrm>
            <a:off x="3477691" y="2359845"/>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 из ста</a:t>
            </a:r>
          </a:p>
        </p:txBody>
      </p:sp>
      <p:sp>
        <p:nvSpPr>
          <p:cNvPr id="12" name="Rounded Rectangle 11"/>
          <p:cNvSpPr/>
          <p:nvPr/>
        </p:nvSpPr>
        <p:spPr>
          <a:xfrm>
            <a:off x="6178143" y="1335024"/>
            <a:ext cx="2673019"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КАКОЕ-ЛИБО КЛИНИЧЕСКОЕ ИСПЫТАНИЕ</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208 из 717</a:t>
            </a:r>
          </a:p>
        </p:txBody>
      </p:sp>
      <p:sp>
        <p:nvSpPr>
          <p:cNvPr id="15" name="TextBox 14"/>
          <p:cNvSpPr txBox="1"/>
          <p:nvPr/>
        </p:nvSpPr>
        <p:spPr>
          <a:xfrm>
            <a:off x="6315303" y="2359845"/>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29 из ста</a:t>
            </a:r>
          </a:p>
        </p:txBody>
      </p:sp>
      <p:sp>
        <p:nvSpPr>
          <p:cNvPr id="16" name="Rounded Rectangle 15"/>
          <p:cNvSpPr/>
          <p:nvPr/>
        </p:nvSpPr>
        <p:spPr>
          <a:xfrm>
            <a:off x="9015755" y="1335024"/>
            <a:ext cx="2673019"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ДОПУЩЕНЫ ПО ПОДОБИЮ</a:t>
            </a:r>
          </a:p>
        </p:txBody>
      </p:sp>
      <p:sp>
        <p:nvSpPr>
          <p:cNvPr id="18" name="TextBox 17"/>
          <p:cNvSpPr txBox="1"/>
          <p:nvPr/>
        </p:nvSpPr>
        <p:spPr>
          <a:xfrm>
            <a:off x="9152915"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924 из 950</a:t>
            </a:r>
          </a:p>
        </p:txBody>
      </p:sp>
      <p:sp>
        <p:nvSpPr>
          <p:cNvPr id="19" name="TextBox 18"/>
          <p:cNvSpPr txBox="1"/>
          <p:nvPr/>
        </p:nvSpPr>
        <p:spPr>
          <a:xfrm>
            <a:off x="9152915"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97 из ста; свой знаменатель и своя дата среза</a:t>
            </a:r>
          </a:p>
        </p:txBody>
      </p:sp>
      <p:sp>
        <p:nvSpPr>
          <p:cNvPr id="20" name="Rounded Rectangle 19"/>
          <p:cNvSpPr/>
          <p:nvPr/>
        </p:nvSpPr>
        <p:spPr>
          <a:xfrm>
            <a:off x="374904" y="2803461"/>
            <a:ext cx="11441887" cy="3125670"/>
          </a:xfrm>
          <a:prstGeom prst="roundRect">
            <a:avLst>
              <a:gd name="adj" fmla="val 9751"/>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2894901"/>
            <a:ext cx="5373471" cy="334130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Регулятор требует, чтобы человек оставался финальным звеном.</a:t>
            </a:r>
          </a:p>
          <a:p>
            <a:pPr algn="l">
              <a:lnSpc>
                <a:spcPct val="126000"/>
              </a:lnSpc>
              <a:spcBef>
                <a:spcPts val="700"/>
              </a:spcBef>
            </a:pPr>
            <a:r>
              <a:rPr sz="1200" b="0" i="0">
                <a:solidFill>
                  <a:srgbClr val="21295C"/>
                </a:solidFill>
                <a:latin typeface="Arial"/>
              </a:rPr>
              <a:t/>
            </a:r>
            <a:r>
              <a:rPr sz="1200" b="0" i="1">
                <a:solidFill>
                  <a:srgbClr val="1C7293"/>
                </a:solidFill>
                <a:latin typeface="Arial"/>
              </a:rPr>
              <a:t>Статья 14 (ЕС 2024/1689): понять ограничения, не поддаться доверию к автомату, правильно истолковать вывод, не согласиться, остановить.</a:t>
            </a:r>
          </a:p>
        </p:txBody>
      </p:sp>
      <p:sp>
        <p:nvSpPr>
          <p:cNvPr id="22" name="TextBox 21"/>
          <p:cNvSpPr txBox="1"/>
          <p:nvPr/>
        </p:nvSpPr>
        <p:spPr>
          <a:xfrm>
            <a:off x="6278727" y="2894901"/>
            <a:ext cx="5373471" cy="334130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Норма описывает способность вмешаться; присутствия человека при каждом решении она не требует.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Знаменатели держим врозь:</a:t>
            </a:r>
            <a:r>
              <a:rPr sz="1500" b="0" i="0">
                <a:solidFill>
                  <a:srgbClr val="21295C"/>
                </a:solidFill>
                <a:latin typeface="Arial"/>
              </a:rPr>
              <a:t> 717 — изделия с доступной документацией, 950 — все допущенные; лучевых среди них 723, то есть 76 из ста.</a:t>
            </a:r>
          </a:p>
          <a:p>
            <a:pPr algn="l">
              <a:lnSpc>
                <a:spcPct val="126000"/>
              </a:lnSpc>
              <a:spcBef>
                <a:spcPts val="700"/>
              </a:spcBef>
            </a:pPr>
            <a:r>
              <a:rPr sz="1500" b="0" i="0">
                <a:solidFill>
                  <a:srgbClr val="21295C"/>
                </a:solidFill>
                <a:latin typeface="Arial"/>
              </a:rPr>
              <a:t/>
            </a:r>
            <a:r>
              <a:rPr sz="1500" b="1" i="0">
                <a:solidFill>
                  <a:srgbClr val="21295C"/>
                </a:solidFill>
                <a:latin typeface="Arial"/>
              </a:rPr>
              <a:t>Где в вашем контуре нужна подпись под тем, что решил автомат, — и проверял ли кто-нибудь, что вы успеваете это прочитать?</a:t>
            </a:r>
          </a:p>
        </p:txBody>
      </p:sp>
      <p:sp>
        <p:nvSpPr>
          <p:cNvPr id="23" name="Rectangle 22"/>
          <p:cNvSpPr/>
          <p:nvPr/>
        </p:nvSpPr>
        <p:spPr>
          <a:xfrm>
            <a:off x="6091275" y="2894901"/>
            <a:ext cx="9144" cy="2851350"/>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Систематический обзор поданной регуляторам документации по радиологическим устройствам с ИИ, JAMA Network Open 2025;8(11):e2542338, срез июнь 2024</a:t>
            </a:r>
            <a:r>
              <a:rPr sz="1200" b="0" i="1">
                <a:solidFill>
                  <a:srgbClr val="1C7293"/>
                </a:solidFill>
                <a:latin typeface="Arial"/>
              </a:rPr>
              <a:t> · </a:t>
            </a:r>
            <a:r>
              <a:rPr sz="1200" b="0" i="1" u="sng">
                <a:solidFill>
                  <a:srgbClr val="065A82"/>
                </a:solidFill>
                <a:latin typeface="Arial"/>
                <a:hlinkClick r:id="rId3"/>
              </a:rPr>
              <a:t>Регламент (ЕС) 2024/1689, статья 14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Четыре участника: контроль у одного, ответственность у другого</a:t>
            </a:r>
          </a:p>
        </p:txBody>
      </p:sp>
      <p:sp>
        <p:nvSpPr>
          <p:cNvPr id="4" name="Rounded Rectangle 3"/>
          <p:cNvSpPr/>
          <p:nvPr/>
        </p:nvSpPr>
        <p:spPr>
          <a:xfrm>
            <a:off x="502920" y="1335024"/>
            <a:ext cx="268673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5" name="TextBox 4"/>
          <p:cNvSpPr txBox="1"/>
          <p:nvPr/>
        </p:nvSpPr>
        <p:spPr>
          <a:xfrm>
            <a:off x="585216" y="1380744"/>
            <a:ext cx="252214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Разработчик</a:t>
            </a:r>
          </a:p>
          <a:p>
            <a:pPr algn="ctr">
              <a:lnSpc>
                <a:spcPct val="112000"/>
              </a:lnSpc>
            </a:pPr>
            <a:r>
              <a:rPr sz="1200" b="0" i="0">
                <a:solidFill>
                  <a:srgbClr val="21295C"/>
                </a:solidFill>
                <a:latin typeface="Arial"/>
              </a:rPr>
              <a:t>контролирует данные, устройство и обновления модели · отвечает за соответствие заявленному назначению</a:t>
            </a:r>
          </a:p>
        </p:txBody>
      </p:sp>
      <p:sp>
        <p:nvSpPr>
          <p:cNvPr id="6" name="Rounded Rectangle 5"/>
          <p:cNvSpPr/>
          <p:nvPr/>
        </p:nvSpPr>
        <p:spPr>
          <a:xfrm>
            <a:off x="3335959" y="1335024"/>
            <a:ext cx="268673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7" name="TextBox 6"/>
          <p:cNvSpPr txBox="1"/>
          <p:nvPr/>
        </p:nvSpPr>
        <p:spPr>
          <a:xfrm>
            <a:off x="3418255" y="1380744"/>
            <a:ext cx="252214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Врач</a:t>
            </a:r>
          </a:p>
          <a:p>
            <a:pPr algn="ctr">
              <a:lnSpc>
                <a:spcPct val="112000"/>
              </a:lnSpc>
            </a:pPr>
            <a:r>
              <a:rPr sz="1200" b="0" i="0">
                <a:solidFill>
                  <a:srgbClr val="21295C"/>
                </a:solidFill>
                <a:latin typeface="Arial"/>
              </a:rPr>
              <a:t>контролирует решение по одному человеку · отвечает за это решение целиком</a:t>
            </a:r>
          </a:p>
        </p:txBody>
      </p:sp>
      <p:sp>
        <p:nvSpPr>
          <p:cNvPr id="8" name="Rounded Rectangle 7"/>
          <p:cNvSpPr/>
          <p:nvPr/>
        </p:nvSpPr>
        <p:spPr>
          <a:xfrm>
            <a:off x="6168999" y="1335024"/>
            <a:ext cx="268673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6251295" y="1380744"/>
            <a:ext cx="252214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Больница</a:t>
            </a:r>
          </a:p>
          <a:p>
            <a:pPr algn="ctr">
              <a:lnSpc>
                <a:spcPct val="112000"/>
              </a:lnSpc>
            </a:pPr>
            <a:r>
              <a:rPr sz="1200" b="0" i="0">
                <a:solidFill>
                  <a:srgbClr val="21295C"/>
                </a:solidFill>
                <a:latin typeface="Arial"/>
              </a:rPr>
              <a:t>контролирует закупку, обучение и порядок применения · отвечает за организацию работы</a:t>
            </a:r>
          </a:p>
        </p:txBody>
      </p:sp>
      <p:sp>
        <p:nvSpPr>
          <p:cNvPr id="10" name="Rounded Rectangle 9"/>
          <p:cNvSpPr/>
          <p:nvPr/>
        </p:nvSpPr>
        <p:spPr>
          <a:xfrm>
            <a:off x="9002039" y="1335024"/>
            <a:ext cx="268673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11" name="TextBox 10"/>
          <p:cNvSpPr txBox="1"/>
          <p:nvPr/>
        </p:nvSpPr>
        <p:spPr>
          <a:xfrm>
            <a:off x="9084335" y="1380744"/>
            <a:ext cx="252214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Регулятор</a:t>
            </a:r>
          </a:p>
          <a:p>
            <a:pPr algn="ctr">
              <a:lnSpc>
                <a:spcPct val="112000"/>
              </a:lnSpc>
            </a:pPr>
            <a:r>
              <a:rPr sz="1200" b="0" i="0">
                <a:solidFill>
                  <a:srgbClr val="21295C"/>
                </a:solidFill>
                <a:latin typeface="Arial"/>
              </a:rPr>
              <a:t>контролирует допуск и надзор после допуска · отвечает за рамку</a:t>
            </a:r>
          </a:p>
        </p:txBody>
      </p:sp>
      <p:sp>
        <p:nvSpPr>
          <p:cNvPr id="12" name="TextBox 11"/>
          <p:cNvSpPr txBox="1"/>
          <p:nvPr/>
        </p:nvSpPr>
        <p:spPr>
          <a:xfrm>
            <a:off x="502920" y="266556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Контроль и ответственность у разных участников, и шов между ними проходит по подписи врача</a:t>
            </a:r>
          </a:p>
        </p:txBody>
      </p:sp>
      <p:sp>
        <p:nvSpPr>
          <p:cNvPr id="13" name="Rounded Rectangle 12"/>
          <p:cNvSpPr/>
          <p:nvPr/>
        </p:nvSpPr>
        <p:spPr>
          <a:xfrm>
            <a:off x="374904" y="2968244"/>
            <a:ext cx="11441887" cy="2441774"/>
          </a:xfrm>
          <a:prstGeom prst="roundRect">
            <a:avLst>
              <a:gd name="adj" fmla="val 12482"/>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539496" y="3059684"/>
            <a:ext cx="11112703" cy="317652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Четыре участника. Под каждым — что он контролирует и за что отвечает.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Контроль и ответственность лежат у разных участников. Шов между ними проходит по подписи врача.</a:t>
            </a:r>
          </a:p>
          <a:p>
            <a:pPr algn="l">
              <a:lnSpc>
                <a:spcPct val="126000"/>
              </a:lnSpc>
              <a:spcBef>
                <a:spcPts val="700"/>
              </a:spcBef>
            </a:pPr>
            <a:r>
              <a:rPr sz="1500" b="0" i="0">
                <a:solidFill>
                  <a:srgbClr val="21295C"/>
                </a:solidFill>
                <a:latin typeface="Arial"/>
              </a:rPr>
              <a:t/>
            </a:r>
            <a:r>
              <a:rPr sz="1500" b="1" i="0">
                <a:solidFill>
                  <a:srgbClr val="21295C"/>
                </a:solidFill>
                <a:latin typeface="Arial"/>
              </a:rPr>
              <a:t>Разработчик держит то, что определяет качество вывода, и за решение о конкретном человеке не отвечает.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Врач отвечает за решение целиком и не контролирует ни обучающие данные, ни обновления.</a:t>
            </a:r>
          </a:p>
          <a:p>
            <a:pPr algn="l">
              <a:lnSpc>
                <a:spcPct val="126000"/>
              </a:lnSpc>
              <a:spcBef>
                <a:spcPts val="700"/>
              </a:spcBef>
            </a:pPr>
            <a:r>
              <a:rPr sz="1500" b="0" i="0">
                <a:solidFill>
                  <a:srgbClr val="21295C"/>
                </a:solidFill>
                <a:latin typeface="Arial"/>
              </a:rPr>
              <a:t/>
            </a:r>
            <a:r>
              <a:rPr sz="1500" b="1" i="0">
                <a:solidFill>
                  <a:srgbClr val="21295C"/>
                </a:solidFill>
                <a:latin typeface="Arial"/>
              </a:rPr>
              <a:t>Ответственность по шву передана, а проверка способности её нести — нет: 56 изделий из 717.</a:t>
            </a:r>
          </a:p>
          <a:p>
            <a:pPr algn="l">
              <a:lnSpc>
                <a:spcPct val="126000"/>
              </a:lnSpc>
              <a:spcBef>
                <a:spcPts val="700"/>
              </a:spcBef>
            </a:pPr>
            <a:r>
              <a:rPr sz="1200" b="0" i="0">
                <a:solidFill>
                  <a:srgbClr val="21295C"/>
                </a:solidFill>
                <a:latin typeface="Arial"/>
              </a:rPr>
              <a:t/>
            </a:r>
            <a:r>
              <a:rPr sz="1200" b="0" i="1">
                <a:solidFill>
                  <a:srgbClr val="1C7293"/>
                </a:solidFill>
                <a:latin typeface="Arial"/>
              </a:rPr>
              <a:t>Рамка качественная: она описывает участников клинического контура и чисел в себе не несёт.</a:t>
            </a:r>
          </a:p>
        </p:txBody>
      </p:sp>
      <p:sp>
        <p:nvSpPr>
          <p:cNvPr id="15" name="Rectangle 14"/>
          <p:cNvSpPr/>
          <p:nvPr/>
        </p:nvSpPr>
        <p:spPr>
          <a:xfrm>
            <a:off x="502920" y="8541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Модель меняется после допуска: 43,4 процента отзывов — в первый год</a:t>
            </a:r>
          </a:p>
        </p:txBody>
      </p:sp>
      <p:sp>
        <p:nvSpPr>
          <p:cNvPr id="4" name="Rounded Rectangle 3"/>
          <p:cNvSpPr/>
          <p:nvPr/>
        </p:nvSpPr>
        <p:spPr>
          <a:xfrm>
            <a:off x="502920"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ОТЗЫВАЛИСЬ ИЗ ДОПУЩЕННЫХ</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60 из 950</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срез ноябрь 2024</a:t>
            </a:r>
          </a:p>
        </p:txBody>
      </p:sp>
      <p:sp>
        <p:nvSpPr>
          <p:cNvPr id="8" name="Rounded Rectangle 7"/>
          <p:cNvSpPr/>
          <p:nvPr/>
        </p:nvSpPr>
        <p:spPr>
          <a:xfrm>
            <a:off x="4286402"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ОТЗЫВНЫХ СОБЫТИЙ НА ЭТИ 60</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182</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без заявленной проверки — 3,4 на изделие против 1,9</a:t>
            </a:r>
          </a:p>
        </p:txBody>
      </p:sp>
      <p:sp>
        <p:nvSpPr>
          <p:cNvPr id="12" name="Rounded Rectangle 11"/>
          <p:cNvSpPr/>
          <p:nvPr/>
        </p:nvSpPr>
        <p:spPr>
          <a:xfrm>
            <a:off x="8069884" y="1335024"/>
            <a:ext cx="3618890"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ПЕРВЫЙ ГОД ПОСЛЕ ДОПУСКА</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43,4 процента отзывов</a:t>
            </a:r>
          </a:p>
        </p:txBody>
      </p:sp>
      <p:sp>
        <p:nvSpPr>
          <p:cNvPr id="15" name="TextBox 14"/>
          <p:cNvSpPr txBox="1"/>
          <p:nvPr/>
        </p:nvSpPr>
        <p:spPr>
          <a:xfrm>
            <a:off x="8207044"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79 из 182; 108 остались неразрешёнными</a:t>
            </a:r>
          </a:p>
        </p:txBody>
      </p:sp>
      <p:sp>
        <p:nvSpPr>
          <p:cNvPr id="16" name="TextBox 15"/>
          <p:cNvSpPr txBox="1"/>
          <p:nvPr/>
        </p:nvSpPr>
        <p:spPr>
          <a:xfrm>
            <a:off x="502920" y="2931477"/>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Механизмы</a:t>
            </a:r>
          </a:p>
        </p:txBody>
      </p:sp>
      <p:sp>
        <p:nvSpPr>
          <p:cNvPr id="17" name="Rounded Rectangle 16"/>
          <p:cNvSpPr/>
          <p:nvPr/>
        </p:nvSpPr>
        <p:spPr>
          <a:xfrm>
            <a:off x="1920240" y="2894901"/>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940621"/>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План изменений модели, утверждённый заранее</a:t>
            </a:r>
          </a:p>
        </p:txBody>
      </p:sp>
      <p:sp>
        <p:nvSpPr>
          <p:cNvPr id="19" name="Right Arrow 18"/>
          <p:cNvSpPr/>
          <p:nvPr/>
        </p:nvSpPr>
        <p:spPr>
          <a:xfrm>
            <a:off x="5039258" y="3182842"/>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2894901"/>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2940621"/>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Передача данных о работе регулятору</a:t>
            </a:r>
          </a:p>
        </p:txBody>
      </p:sp>
      <p:sp>
        <p:nvSpPr>
          <p:cNvPr id="22" name="Right Arrow 21"/>
          <p:cNvSpPr/>
          <p:nvPr/>
        </p:nvSpPr>
        <p:spPr>
          <a:xfrm>
            <a:off x="8386876" y="3182842"/>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2894901"/>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2940621"/>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Перенесённые сроки: 2 декабря 2027 · 2 августа 2028</a:t>
            </a:r>
          </a:p>
        </p:txBody>
      </p:sp>
      <p:sp>
        <p:nvSpPr>
          <p:cNvPr id="25" name="TextBox 24"/>
          <p:cNvSpPr txBox="1"/>
          <p:nvPr/>
        </p:nvSpPr>
        <p:spPr>
          <a:xfrm>
            <a:off x="502920" y="364451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Три механизма надзора после допуска</a:t>
            </a:r>
          </a:p>
        </p:txBody>
      </p:sp>
      <p:sp>
        <p:nvSpPr>
          <p:cNvPr id="26" name="Rounded Rectangle 25"/>
          <p:cNvSpPr/>
          <p:nvPr/>
        </p:nvSpPr>
        <p:spPr>
          <a:xfrm>
            <a:off x="374904" y="3947202"/>
            <a:ext cx="11441887" cy="2289005"/>
          </a:xfrm>
          <a:prstGeom prst="roundRect">
            <a:avLst>
              <a:gd name="adj" fmla="val 13315"/>
            </a:avLst>
          </a:prstGeom>
          <a:solidFill>
            <a:srgbClr val="F4F7FA"/>
          </a:solidFill>
          <a:ln w="19050">
            <a:solidFill>
              <a:srgbClr val="1C7293"/>
            </a:solidFill>
          </a:ln>
          <a:effectLst/>
        </p:spPr>
        <p:txBody>
          <a:bodyPr rtlCol="0" anchor="ctr"/>
          <a:lstStyle/>
          <a:p>
            <a:pPr algn="ctr"/>
          </a:p>
        </p:txBody>
      </p:sp>
      <p:sp>
        <p:nvSpPr>
          <p:cNvPr id="27" name="TextBox 26"/>
          <p:cNvSpPr txBox="1"/>
          <p:nvPr/>
        </p:nvSpPr>
        <p:spPr>
          <a:xfrm>
            <a:off x="539496" y="4038642"/>
            <a:ext cx="11112703" cy="219756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У модели есть свойство, которого нет у скальпеля: она меняется после того, как её допустили.</a:t>
            </a:r>
          </a:p>
          <a:p>
            <a:pPr algn="l">
              <a:lnSpc>
                <a:spcPct val="126000"/>
              </a:lnSpc>
              <a:spcBef>
                <a:spcPts val="700"/>
              </a:spcBef>
            </a:pPr>
            <a:r>
              <a:rPr sz="1500" b="0" i="0">
                <a:solidFill>
                  <a:srgbClr val="21295C"/>
                </a:solidFill>
                <a:latin typeface="Arial"/>
              </a:rPr>
              <a:t/>
            </a:r>
            <a:r>
              <a:rPr sz="1500" b="1" i="0">
                <a:solidFill>
                  <a:srgbClr val="21295C"/>
                </a:solidFill>
                <a:latin typeface="Arial"/>
              </a:rPr>
              <a:t>Сроки разведены по приложениям, а не по признаку «самостоятельное или встроенное»:</a:t>
            </a:r>
            <a:r>
              <a:rPr sz="1500" b="0" i="0">
                <a:solidFill>
                  <a:srgbClr val="21295C"/>
                </a:solidFill>
                <a:latin typeface="Arial"/>
              </a:rPr>
              <a:t> самостоятельное медицинское программное обеспечение живёт по августу 2028 года.</a:t>
            </a:r>
          </a:p>
          <a:p>
            <a:pPr algn="l">
              <a:lnSpc>
                <a:spcPct val="126000"/>
              </a:lnSpc>
              <a:spcBef>
                <a:spcPts val="700"/>
              </a:spcBef>
            </a:pPr>
            <a:r>
              <a:rPr sz="1500" b="0" i="0">
                <a:solidFill>
                  <a:srgbClr val="21295C"/>
                </a:solidFill>
                <a:latin typeface="Arial"/>
              </a:rPr>
              <a:t/>
            </a:r>
            <a:r>
              <a:rPr sz="1500" b="1" i="0">
                <a:solidFill>
                  <a:srgbClr val="21295C"/>
                </a:solidFill>
                <a:latin typeface="Arial"/>
              </a:rPr>
              <a:t>Измеренное последствие рамки — ранний отзыв:</a:t>
            </a:r>
            <a:r>
              <a:rPr sz="1500" b="0" i="0">
                <a:solidFill>
                  <a:srgbClr val="21295C"/>
                </a:solidFill>
                <a:latin typeface="Arial"/>
              </a:rPr>
              <a:t> проверка, которая не состоялась до допуска, состоялась после.</a:t>
            </a:r>
          </a:p>
          <a:p>
            <a:pPr algn="l">
              <a:lnSpc>
                <a:spcPct val="126000"/>
              </a:lnSpc>
              <a:spcBef>
                <a:spcPts val="700"/>
              </a:spcBef>
            </a:pPr>
            <a:r>
              <a:rPr sz="1500" b="0" i="0">
                <a:solidFill>
                  <a:srgbClr val="21295C"/>
                </a:solidFill>
                <a:latin typeface="Arial"/>
              </a:rPr>
              <a:t/>
            </a:r>
            <a:r>
              <a:rPr sz="1500" b="1" i="0">
                <a:solidFill>
                  <a:srgbClr val="21295C"/>
                </a:solidFill>
                <a:latin typeface="Arial"/>
              </a:rPr>
              <a:t>Отечественный реестр:</a:t>
            </a:r>
            <a:r>
              <a:rPr sz="1500" b="0" i="0">
                <a:solidFill>
                  <a:srgbClr val="21295C"/>
                </a:solidFill>
                <a:latin typeface="Arial"/>
              </a:rPr>
              <a:t> 48 в ноябре 2025 → 57 в июне 2026 → 59 в августе 2026. Доля от общего реестра не приводится.</a:t>
            </a:r>
          </a:p>
          <a:p>
            <a:pPr algn="l">
              <a:lnSpc>
                <a:spcPct val="126000"/>
              </a:lnSpc>
              <a:spcBef>
                <a:spcPts val="700"/>
              </a:spcBef>
            </a:pPr>
            <a:r>
              <a:rPr sz="1200" b="0" i="0">
                <a:solidFill>
                  <a:srgbClr val="21295C"/>
                </a:solidFill>
                <a:latin typeface="Arial"/>
              </a:rPr>
              <a:t/>
            </a:r>
            <a:r>
              <a:rPr sz="1200" b="0" i="1">
                <a:solidFill>
                  <a:srgbClr val="1C7293"/>
                </a:solidFill>
                <a:latin typeface="Arial"/>
              </a:rPr>
              <a:t>Формы разбора здесь нет: это обзор надзорных механизмов.</a:t>
            </a:r>
          </a:p>
        </p:txBody>
      </p:sp>
      <p:sp>
        <p:nvSpPr>
          <p:cNvPr id="28" name="Rectangle 27"/>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9" name="TextBox 2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Руководство регулятора США по плану предварительно утверждённых изменений модели, декабрь 2024</a:t>
            </a:r>
            <a:r>
              <a:rPr sz="1200" b="0" i="1">
                <a:solidFill>
                  <a:srgbClr val="1C7293"/>
                </a:solidFill>
                <a:latin typeface="Arial"/>
              </a:rPr>
              <a:t> · </a:t>
            </a:r>
            <a:r>
              <a:rPr sz="1200" b="0" i="1" u="sng">
                <a:solidFill>
                  <a:srgbClr val="065A82"/>
                </a:solidFill>
                <a:latin typeface="Arial"/>
                <a:hlinkClick r:id="rId3"/>
              </a:rPr>
              <a:t>приказ Росздравнадзора от 21.07.2025 № 4472</a:t>
            </a:r>
            <a:r>
              <a:rPr sz="1200" b="0" i="1">
                <a:solidFill>
                  <a:srgbClr val="1C7293"/>
                </a:solidFill>
                <a:latin typeface="Arial"/>
              </a:rPr>
              <a:t> · </a:t>
            </a:r>
            <a:r>
              <a:rPr sz="1200" b="0" i="1" u="sng">
                <a:solidFill>
                  <a:srgbClr val="065A82"/>
                </a:solidFill>
                <a:latin typeface="Arial"/>
                <a:hlinkClick r:id="rId4"/>
              </a:rPr>
              <a:t>Регламент (ЕС) 2024/1689</a:t>
            </a:r>
            <a:r>
              <a:rPr sz="1200" b="0" i="1">
                <a:solidFill>
                  <a:srgbClr val="1C7293"/>
                </a:solidFill>
                <a:latin typeface="Arial"/>
              </a:rPr>
              <a:t> · </a:t>
            </a:r>
            <a:r>
              <a:rPr sz="1200" b="0" i="1" u="sng">
                <a:solidFill>
                  <a:srgbClr val="065A82"/>
                </a:solidFill>
                <a:latin typeface="Arial"/>
                <a:hlinkClick r:id="rId5"/>
              </a:rPr>
              <a:t>Lee B. и соавт., JAMA Health Forum 2025;6(8):e253172, срез ноябрь 2024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Чем удерживают: где за подписью ничего нет, цена ошибки переезжает на того, кто не подписывал</a:t>
            </a:r>
          </a:p>
        </p:txBody>
      </p:sp>
      <p:sp>
        <p:nvSpPr>
          <p:cNvPr id="4" name="Rounded Rectangle 3"/>
          <p:cNvSpPr/>
          <p:nvPr/>
        </p:nvSpPr>
        <p:spPr>
          <a:xfrm>
            <a:off x="374904" y="1243584"/>
            <a:ext cx="11441887" cy="4787684"/>
          </a:xfrm>
          <a:prstGeom prst="roundRect">
            <a:avLst>
              <a:gd name="adj" fmla="val 6366"/>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5373471" cy="4724653"/>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Что получается</a:t>
            </a:r>
          </a:p>
          <a:p>
            <a:pPr algn="l">
              <a:lnSpc>
                <a:spcPct val="126000"/>
              </a:lnSpc>
              <a:spcBef>
                <a:spcPts val="700"/>
              </a:spcBef>
            </a:pPr>
            <a:r>
              <a:rPr sz="1250" b="0" i="0">
                <a:solidFill>
                  <a:srgbClr val="21295C"/>
                </a:solidFill>
                <a:latin typeface="Arial"/>
              </a:rPr>
              <a:t/>
            </a:r>
            <a:r>
              <a:rPr sz="1250" b="0" i="0">
                <a:solidFill>
                  <a:srgbClr val="21295C"/>
                </a:solidFill>
                <a:latin typeface="Arial"/>
              </a:rPr>
              <a:t>• Поднять долю верных заключений: 87,2 → 96,4 из ста — против одного читателя</a:t>
            </a:r>
          </a:p>
          <a:p>
            <a:pPr algn="l">
              <a:lnSpc>
                <a:spcPct val="126000"/>
              </a:lnSpc>
              <a:spcBef>
                <a:spcPts val="700"/>
              </a:spcBef>
            </a:pPr>
            <a:r>
              <a:rPr sz="1250" b="0" i="0">
                <a:solidFill>
                  <a:srgbClr val="21295C"/>
                </a:solidFill>
                <a:latin typeface="Arial"/>
              </a:rPr>
              <a:t/>
            </a:r>
            <a:r>
              <a:rPr sz="1250" b="0" i="0">
                <a:solidFill>
                  <a:srgbClr val="21295C"/>
                </a:solidFill>
                <a:latin typeface="Arial"/>
              </a:rPr>
              <a:t>• Сократить первичные чтения вдвое: 48 секунд на чтение против 2 минут 12 секунд на арбитраж</a:t>
            </a:r>
          </a:p>
          <a:p>
            <a:pPr algn="l">
              <a:lnSpc>
                <a:spcPct val="126000"/>
              </a:lnSpc>
              <a:spcBef>
                <a:spcPts val="700"/>
              </a:spcBef>
            </a:pPr>
            <a:r>
              <a:rPr sz="1250" b="0" i="0">
                <a:solidFill>
                  <a:srgbClr val="21295C"/>
                </a:solidFill>
                <a:latin typeface="Arial"/>
              </a:rPr>
              <a:t/>
            </a:r>
            <a:r>
              <a:rPr sz="1250" b="0" i="0">
                <a:solidFill>
                  <a:srgbClr val="21295C"/>
                </a:solidFill>
                <a:latin typeface="Arial"/>
              </a:rPr>
              <a:t>• Назвать требование словами: понять ограничения, не согласиться, остановить</a:t>
            </a:r>
          </a:p>
          <a:p>
            <a:pPr algn="l">
              <a:lnSpc>
                <a:spcPct val="126000"/>
              </a:lnSpc>
              <a:spcBef>
                <a:spcPts val="700"/>
              </a:spcBef>
            </a:pPr>
            <a:r>
              <a:rPr sz="1250" b="0" i="0">
                <a:solidFill>
                  <a:srgbClr val="21295C"/>
                </a:solidFill>
                <a:latin typeface="Arial"/>
              </a:rPr>
              <a:t/>
            </a:r>
            <a:r>
              <a:rPr sz="1250" b="1" i="0">
                <a:solidFill>
                  <a:srgbClr val="21295C"/>
                </a:solidFill>
                <a:latin typeface="Arial"/>
              </a:rPr>
              <a:t>Что не получается</a:t>
            </a:r>
          </a:p>
          <a:p>
            <a:pPr algn="l">
              <a:lnSpc>
                <a:spcPct val="126000"/>
              </a:lnSpc>
              <a:spcBef>
                <a:spcPts val="700"/>
              </a:spcBef>
            </a:pPr>
            <a:r>
              <a:rPr sz="1250" b="0" i="0">
                <a:solidFill>
                  <a:srgbClr val="21295C"/>
                </a:solidFill>
                <a:latin typeface="Arial"/>
              </a:rPr>
              <a:t/>
            </a:r>
            <a:r>
              <a:rPr sz="1250" b="0" i="0">
                <a:solidFill>
                  <a:srgbClr val="21295C"/>
                </a:solidFill>
                <a:latin typeface="Arial"/>
              </a:rPr>
              <a:t>• Удержать независимость, когда оба читателя видят одну подсказку</a:t>
            </a:r>
          </a:p>
          <a:p>
            <a:pPr algn="l">
              <a:lnSpc>
                <a:spcPct val="126000"/>
              </a:lnSpc>
              <a:spcBef>
                <a:spcPts val="700"/>
              </a:spcBef>
            </a:pPr>
            <a:r>
              <a:rPr sz="1250" b="0" i="0">
                <a:solidFill>
                  <a:srgbClr val="21295C"/>
                </a:solidFill>
                <a:latin typeface="Arial"/>
              </a:rPr>
              <a:t/>
            </a:r>
            <a:r>
              <a:rPr sz="1250" b="0" i="0">
                <a:solidFill>
                  <a:srgbClr val="21295C"/>
                </a:solidFill>
                <a:latin typeface="Arial"/>
              </a:rPr>
              <a:t>• Избавиться от арбитража: его объём вырос на 53 процента, в двух центрах от 22 до 142</a:t>
            </a:r>
          </a:p>
          <a:p>
            <a:pPr algn="l">
              <a:lnSpc>
                <a:spcPct val="126000"/>
              </a:lnSpc>
              <a:spcBef>
                <a:spcPts val="700"/>
              </a:spcBef>
            </a:pPr>
            <a:r>
              <a:rPr sz="1250" b="0" i="0">
                <a:solidFill>
                  <a:srgbClr val="21295C"/>
                </a:solidFill>
                <a:latin typeface="Arial"/>
              </a:rPr>
              <a:t/>
            </a:r>
            <a:r>
              <a:rPr sz="1250" b="0" i="0">
                <a:solidFill>
                  <a:srgbClr val="21295C"/>
                </a:solidFill>
                <a:latin typeface="Arial"/>
              </a:rPr>
              <a:t>• Проверить, что подписавший способен возразить: 56 изделий из 717</a:t>
            </a:r>
          </a:p>
          <a:p>
            <a:pPr algn="l">
              <a:lnSpc>
                <a:spcPct val="126000"/>
              </a:lnSpc>
              <a:spcBef>
                <a:spcPts val="700"/>
              </a:spcBef>
            </a:pPr>
            <a:r>
              <a:rPr sz="1250" b="0" i="0">
                <a:solidFill>
                  <a:srgbClr val="21295C"/>
                </a:solidFill>
                <a:latin typeface="Arial"/>
              </a:rPr>
              <a:t/>
            </a:r>
            <a:r>
              <a:rPr sz="1250" b="1" i="0">
                <a:solidFill>
                  <a:srgbClr val="21295C"/>
                </a:solidFill>
                <a:latin typeface="Arial"/>
              </a:rPr>
              <a:t>Что стало с работой</a:t>
            </a:r>
          </a:p>
          <a:p>
            <a:pPr algn="l">
              <a:lnSpc>
                <a:spcPct val="126000"/>
              </a:lnSpc>
              <a:spcBef>
                <a:spcPts val="70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Сместилась цена ошибки</a:t>
            </a:r>
            <a:r>
              <a:rPr sz="1250" b="0" i="0">
                <a:solidFill>
                  <a:srgbClr val="21295C"/>
                </a:solidFill>
                <a:latin typeface="Arial"/>
              </a:rPr>
              <a:t> — подпись человеческая, основание решения пришло извне</a:t>
            </a:r>
          </a:p>
        </p:txBody>
      </p:sp>
      <p:sp>
        <p:nvSpPr>
          <p:cNvPr id="6" name="TextBox 5"/>
          <p:cNvSpPr txBox="1"/>
          <p:nvPr/>
        </p:nvSpPr>
        <p:spPr>
          <a:xfrm>
            <a:off x="6278727" y="1335024"/>
            <a:ext cx="5373471" cy="4724653"/>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a:t>
            </a:r>
            <a:r>
              <a:rPr sz="1250" b="1" i="0">
                <a:solidFill>
                  <a:srgbClr val="21295C"/>
                </a:solidFill>
                <a:latin typeface="Arial"/>
              </a:rPr>
              <a:t>Нагрузка выросла на том же месте</a:t>
            </a:r>
            <a:r>
              <a:rPr sz="1250" b="0" i="0">
                <a:solidFill>
                  <a:srgbClr val="21295C"/>
                </a:solidFill>
                <a:latin typeface="Arial"/>
              </a:rPr>
              <a:t> — арбитраж, и каждый разбор дороже чтения</a:t>
            </a:r>
          </a:p>
          <a:p>
            <a:pPr algn="l">
              <a:lnSpc>
                <a:spcPct val="126000"/>
              </a:lnSpc>
              <a:spcBef>
                <a:spcPts val="700"/>
              </a:spcBef>
            </a:pPr>
            <a:r>
              <a:rPr sz="1250" b="0" i="0">
                <a:solidFill>
                  <a:srgbClr val="21295C"/>
                </a:solidFill>
                <a:latin typeface="Arial"/>
              </a:rPr>
              <a:t/>
            </a:r>
            <a:r>
              <a:rPr sz="1250" b="0" i="0">
                <a:solidFill>
                  <a:srgbClr val="21295C"/>
                </a:solidFill>
                <a:latin typeface="Arial"/>
              </a:rPr>
              <a:t>• 45,5 из ста оставшихся ошибок идут от склонности доверять автомату</a:t>
            </a:r>
          </a:p>
          <a:p>
            <a:pPr algn="l">
              <a:lnSpc>
                <a:spcPct val="126000"/>
              </a:lnSpc>
              <a:spcBef>
                <a:spcPts val="700"/>
              </a:spcBef>
            </a:pPr>
            <a:r>
              <a:rPr sz="1250" b="0" i="0">
                <a:solidFill>
                  <a:srgbClr val="21295C"/>
                </a:solidFill>
                <a:latin typeface="Arial"/>
              </a:rPr>
              <a:t/>
            </a:r>
            <a:r>
              <a:rPr sz="1250" b="1" i="0">
                <a:solidFill>
                  <a:srgbClr val="21295C"/>
                </a:solidFill>
                <a:latin typeface="Arial"/>
              </a:rPr>
              <a:t>Что это держит</a:t>
            </a:r>
          </a:p>
          <a:p>
            <a:pPr algn="l">
              <a:lnSpc>
                <a:spcPct val="126000"/>
              </a:lnSpc>
              <a:spcBef>
                <a:spcPts val="700"/>
              </a:spcBef>
            </a:pPr>
            <a:r>
              <a:rPr sz="1250" b="0" i="0">
                <a:solidFill>
                  <a:srgbClr val="21295C"/>
                </a:solidFill>
                <a:latin typeface="Arial"/>
              </a:rPr>
              <a:t/>
            </a:r>
            <a:r>
              <a:rPr sz="1250" b="0" i="0">
                <a:solidFill>
                  <a:srgbClr val="21295C"/>
                </a:solidFill>
                <a:latin typeface="Arial"/>
              </a:rPr>
              <a:t>• Подпись: юридический акт физического лица, и права подписи у модели нет</a:t>
            </a:r>
          </a:p>
          <a:p>
            <a:pPr algn="l">
              <a:lnSpc>
                <a:spcPct val="126000"/>
              </a:lnSpc>
              <a:spcBef>
                <a:spcPts val="700"/>
              </a:spcBef>
            </a:pPr>
            <a:r>
              <a:rPr sz="1250" b="0" i="0">
                <a:solidFill>
                  <a:srgbClr val="21295C"/>
                </a:solidFill>
                <a:latin typeface="Arial"/>
              </a:rPr>
              <a:t/>
            </a:r>
            <a:r>
              <a:rPr sz="1250" b="0" i="0">
                <a:solidFill>
                  <a:srgbClr val="21295C"/>
                </a:solidFill>
                <a:latin typeface="Arial"/>
              </a:rPr>
              <a:t>• Двойное чтение и арбитраж там, где второго читателя не заменили</a:t>
            </a:r>
          </a:p>
          <a:p>
            <a:pPr algn="l">
              <a:lnSpc>
                <a:spcPct val="126000"/>
              </a:lnSpc>
              <a:spcBef>
                <a:spcPts val="700"/>
              </a:spcBef>
            </a:pPr>
            <a:r>
              <a:rPr sz="1250" b="0" i="0">
                <a:solidFill>
                  <a:srgbClr val="21295C"/>
                </a:solidFill>
                <a:latin typeface="Arial"/>
              </a:rPr>
              <a:t/>
            </a:r>
            <a:r>
              <a:rPr sz="1250" b="0" i="0">
                <a:solidFill>
                  <a:srgbClr val="21295C"/>
                </a:solidFill>
                <a:latin typeface="Arial"/>
              </a:rPr>
              <a:t>• Разбор случая после исхода и правка порядка по его итогам</a:t>
            </a:r>
          </a:p>
          <a:p>
            <a:pPr algn="l">
              <a:lnSpc>
                <a:spcPct val="126000"/>
              </a:lnSpc>
              <a:spcBef>
                <a:spcPts val="700"/>
              </a:spcBef>
            </a:pPr>
            <a:r>
              <a:rPr sz="1250" b="0" i="0">
                <a:solidFill>
                  <a:srgbClr val="21295C"/>
                </a:solidFill>
                <a:latin typeface="Arial"/>
              </a:rPr>
              <a:t/>
            </a:r>
            <a:r>
              <a:rPr sz="1250" b="1" i="0">
                <a:solidFill>
                  <a:srgbClr val="21295C"/>
                </a:solidFill>
                <a:latin typeface="Arial"/>
              </a:rPr>
              <a:t>В прошлой лекции требований к ИИ внутри промышленных изделий не было. Здесь они есть — с документами, сроками и измеримым исполнением.</a:t>
            </a:r>
          </a:p>
          <a:p>
            <a:pPr algn="l">
              <a:lnSpc>
                <a:spcPct val="126000"/>
              </a:lnSpc>
              <a:spcBef>
                <a:spcPts val="700"/>
              </a:spcBef>
            </a:pPr>
            <a:r>
              <a:rPr sz="1250" b="0" i="0">
                <a:solidFill>
                  <a:srgbClr val="21295C"/>
                </a:solidFill>
                <a:latin typeface="Arial"/>
              </a:rPr>
              <a:t/>
            </a:r>
            <a:r>
              <a:rPr sz="1250" b="1" i="0">
                <a:solidFill>
                  <a:srgbClr val="21295C"/>
                </a:solidFill>
                <a:latin typeface="Arial"/>
              </a:rPr>
              <a:t>Удерживает то, что стоит за подписью. Где за ней ничего нет, цена ошибки переезжает на того, кто не подписывал.</a:t>
            </a:r>
          </a:p>
        </p:txBody>
      </p:sp>
      <p:sp>
        <p:nvSpPr>
          <p:cNvPr id="7" name="Rectangle 6"/>
          <p:cNvSpPr/>
          <p:nvPr/>
        </p:nvSpPr>
        <p:spPr>
          <a:xfrm>
            <a:off x="6091275" y="1335024"/>
            <a:ext cx="9144" cy="4513364"/>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726829"/>
            <a:ext cx="960120" cy="50292"/>
          </a:xfrm>
          <a:prstGeom prst="rect">
            <a:avLst/>
          </a:prstGeom>
          <a:solidFill>
            <a:srgbClr val="F0AB00"/>
          </a:solidFill>
          <a:ln>
            <a:noFill/>
          </a:ln>
          <a:effectLst/>
        </p:spPr>
        <p:txBody>
          <a:bodyPr rtlCol="0" anchor="ctr"/>
          <a:lstStyle/>
          <a:p>
            <a:pPr algn="ctr"/>
          </a:p>
        </p:txBody>
      </p:sp>
      <p:sp>
        <p:nvSpPr>
          <p:cNvPr id="9" name="TextBox 8"/>
          <p:cNvSpPr txBox="1"/>
          <p:nvPr/>
        </p:nvSpPr>
        <p:spPr>
          <a:xfrm>
            <a:off x="502920" y="6169405"/>
            <a:ext cx="11185855" cy="63373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Обзор поданной регуляторам документации по радиологическим изделиям с ИИ, JAMA Network Open 2025;8(11):e2542338, срез июнь 2024</a:t>
            </a:r>
            <a:r>
              <a:rPr sz="1200" b="0" i="1">
                <a:solidFill>
                  <a:srgbClr val="1C7293"/>
                </a:solidFill>
                <a:latin typeface="Arial"/>
              </a:rPr>
              <a:t> · </a:t>
            </a:r>
            <a:r>
              <a:rPr sz="1200" b="0" i="1" u="sng">
                <a:solidFill>
                  <a:srgbClr val="065A82"/>
                </a:solidFill>
                <a:latin typeface="Arial"/>
                <a:hlinkClick r:id="rId3"/>
              </a:rPr>
              <a:t>Hovda, Holen, Hofvind, European Radiology 2026, DOI 10.1007/s00330-025-12273-x</a:t>
            </a:r>
            <a:r>
              <a:rPr sz="1200" b="0" i="1">
                <a:solidFill>
                  <a:srgbClr val="1C7293"/>
                </a:solidFill>
                <a:latin typeface="Arial"/>
              </a:rPr>
              <a:t> · </a:t>
            </a:r>
            <a:r>
              <a:rPr sz="1200" b="0" i="1" u="sng">
                <a:solidFill>
                  <a:srgbClr val="065A82"/>
                </a:solidFill>
                <a:latin typeface="Arial"/>
                <a:hlinkClick r:id="rId4"/>
              </a:rPr>
              <a:t>Wang D. Y. и соавт., JAMIA 2023;30(10):1684–1692</a:t>
            </a:r>
            <a:r>
              <a:rPr sz="1200" b="0" i="1">
                <a:solidFill>
                  <a:srgbClr val="1C7293"/>
                </a:solidFill>
                <a:latin typeface="Arial"/>
              </a:rPr>
              <a:t> · </a:t>
            </a:r>
            <a:r>
              <a:rPr sz="1200" b="0" i="1" u="sng">
                <a:solidFill>
                  <a:srgbClr val="065A82"/>
                </a:solidFill>
                <a:latin typeface="Arial"/>
                <a:hlinkClick r:id="rId5"/>
              </a:rPr>
              <a:t>Регламент (ЕС) 2024/1689, статья 14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раздела: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000782" cy="392496"/>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708174"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
            </a:r>
          </a:p>
        </p:txBody>
      </p:sp>
      <p:sp>
        <p:nvSpPr>
          <p:cNvPr id="7" name="Rectangle 6"/>
          <p:cNvSpPr/>
          <p:nvPr/>
        </p:nvSpPr>
        <p:spPr>
          <a:xfrm>
            <a:off x="2540278" y="1335024"/>
            <a:ext cx="2493237" cy="392496"/>
          </a:xfrm>
          <a:prstGeom prst="rect">
            <a:avLst/>
          </a:prstGeom>
          <a:solidFill>
            <a:srgbClr val="065A82"/>
          </a:solidFill>
          <a:ln>
            <a:noFill/>
          </a:ln>
          <a:effectLst/>
        </p:spPr>
        <p:txBody>
          <a:bodyPr rtlCol="0" anchor="ctr"/>
          <a:lstStyle/>
          <a:p>
            <a:pPr algn="ctr"/>
          </a:p>
        </p:txBody>
      </p:sp>
      <p:sp>
        <p:nvSpPr>
          <p:cNvPr id="8" name="TextBox 7"/>
          <p:cNvSpPr txBox="1"/>
          <p:nvPr/>
        </p:nvSpPr>
        <p:spPr>
          <a:xfrm>
            <a:off x="2686582" y="1335024"/>
            <a:ext cx="2200629"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текст</a:t>
            </a:r>
          </a:p>
        </p:txBody>
      </p:sp>
      <p:sp>
        <p:nvSpPr>
          <p:cNvPr id="9" name="Rectangle 8"/>
          <p:cNvSpPr/>
          <p:nvPr/>
        </p:nvSpPr>
        <p:spPr>
          <a:xfrm>
            <a:off x="5033516" y="1335024"/>
            <a:ext cx="3903209" cy="392496"/>
          </a:xfrm>
          <a:prstGeom prst="rect">
            <a:avLst/>
          </a:prstGeom>
          <a:solidFill>
            <a:srgbClr val="065A82"/>
          </a:solidFill>
          <a:ln>
            <a:noFill/>
          </a:ln>
          <a:effectLst/>
        </p:spPr>
        <p:txBody>
          <a:bodyPr rtlCol="0" anchor="ctr"/>
          <a:lstStyle/>
          <a:p>
            <a:pPr algn="ctr"/>
          </a:p>
        </p:txBody>
      </p:sp>
      <p:sp>
        <p:nvSpPr>
          <p:cNvPr id="10" name="TextBox 9"/>
          <p:cNvSpPr txBox="1"/>
          <p:nvPr/>
        </p:nvSpPr>
        <p:spPr>
          <a:xfrm>
            <a:off x="5179820" y="1335024"/>
            <a:ext cx="3610601"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изображение</a:t>
            </a:r>
          </a:p>
        </p:txBody>
      </p:sp>
      <p:sp>
        <p:nvSpPr>
          <p:cNvPr id="11" name="Rectangle 10"/>
          <p:cNvSpPr/>
          <p:nvPr/>
        </p:nvSpPr>
        <p:spPr>
          <a:xfrm>
            <a:off x="8936725" y="1335024"/>
            <a:ext cx="2715473" cy="392496"/>
          </a:xfrm>
          <a:prstGeom prst="rect">
            <a:avLst/>
          </a:prstGeom>
          <a:solidFill>
            <a:srgbClr val="065A82"/>
          </a:solidFill>
          <a:ln>
            <a:noFill/>
          </a:ln>
          <a:effectLst/>
        </p:spPr>
        <p:txBody>
          <a:bodyPr rtlCol="0" anchor="ctr"/>
          <a:lstStyle/>
          <a:p>
            <a:pPr algn="ctr"/>
          </a:p>
        </p:txBody>
      </p:sp>
      <p:sp>
        <p:nvSpPr>
          <p:cNvPr id="12" name="TextBox 11"/>
          <p:cNvSpPr txBox="1"/>
          <p:nvPr/>
        </p:nvSpPr>
        <p:spPr>
          <a:xfrm>
            <a:off x="9083029" y="1335024"/>
            <a:ext cx="2422865"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структурированные данные</a:t>
            </a:r>
          </a:p>
        </p:txBody>
      </p:sp>
      <p:sp>
        <p:nvSpPr>
          <p:cNvPr id="13" name="Rectangle 12"/>
          <p:cNvSpPr/>
          <p:nvPr/>
        </p:nvSpPr>
        <p:spPr>
          <a:xfrm>
            <a:off x="539496" y="1727520"/>
            <a:ext cx="2000782" cy="392496"/>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27520"/>
            <a:ext cx="1708174"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классификация</a:t>
            </a:r>
          </a:p>
        </p:txBody>
      </p:sp>
      <p:sp>
        <p:nvSpPr>
          <p:cNvPr id="15" name="Rectangle 14"/>
          <p:cNvSpPr/>
          <p:nvPr/>
        </p:nvSpPr>
        <p:spPr>
          <a:xfrm>
            <a:off x="2540278" y="1727520"/>
            <a:ext cx="2493237" cy="392496"/>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2686582" y="1727520"/>
            <a:ext cx="220062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17" name="Rectangle 16"/>
          <p:cNvSpPr/>
          <p:nvPr/>
        </p:nvSpPr>
        <p:spPr>
          <a:xfrm>
            <a:off x="5033516" y="1727520"/>
            <a:ext cx="3903209" cy="392496"/>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5179820" y="1727520"/>
            <a:ext cx="361060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(отбор · анализ · диагноз)</a:t>
            </a:r>
          </a:p>
        </p:txBody>
      </p:sp>
      <p:sp>
        <p:nvSpPr>
          <p:cNvPr id="19" name="Rectangle 18"/>
          <p:cNvSpPr/>
          <p:nvPr/>
        </p:nvSpPr>
        <p:spPr>
          <a:xfrm>
            <a:off x="8936725" y="1727520"/>
            <a:ext cx="2715473" cy="392496"/>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9083029" y="1727520"/>
            <a:ext cx="2422865"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1" name="Rectangle 20"/>
          <p:cNvSpPr/>
          <p:nvPr/>
        </p:nvSpPr>
        <p:spPr>
          <a:xfrm>
            <a:off x="539496" y="2120016"/>
            <a:ext cx="2000782" cy="392496"/>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20016"/>
            <a:ext cx="1708174"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распознавание</a:t>
            </a:r>
          </a:p>
        </p:txBody>
      </p:sp>
      <p:sp>
        <p:nvSpPr>
          <p:cNvPr id="23" name="Rectangle 22"/>
          <p:cNvSpPr/>
          <p:nvPr/>
        </p:nvSpPr>
        <p:spPr>
          <a:xfrm>
            <a:off x="2540278" y="2120016"/>
            <a:ext cx="2493237" cy="392496"/>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2686582" y="2120016"/>
            <a:ext cx="220062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5" name="Rectangle 24"/>
          <p:cNvSpPr/>
          <p:nvPr/>
        </p:nvSpPr>
        <p:spPr>
          <a:xfrm>
            <a:off x="5033516" y="2120016"/>
            <a:ext cx="3903209" cy="392496"/>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5179820" y="2120016"/>
            <a:ext cx="3610601" cy="392496"/>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подсказка, которой верят</a:t>
            </a:r>
            <a:r>
              <a:rPr sz="1250" b="0" i="0">
                <a:solidFill>
                  <a:srgbClr val="21295C"/>
                </a:solidFill>
                <a:latin typeface="Arial"/>
              </a:rPr>
              <a:t> (отбор · диагноз)</a:t>
            </a:r>
          </a:p>
        </p:txBody>
      </p:sp>
      <p:sp>
        <p:nvSpPr>
          <p:cNvPr id="27" name="Rectangle 26"/>
          <p:cNvSpPr/>
          <p:nvPr/>
        </p:nvSpPr>
        <p:spPr>
          <a:xfrm>
            <a:off x="8936725" y="2120016"/>
            <a:ext cx="2715473" cy="392496"/>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9083029" y="2120016"/>
            <a:ext cx="2422865"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9" name="Rectangle 28"/>
          <p:cNvSpPr/>
          <p:nvPr/>
        </p:nvSpPr>
        <p:spPr>
          <a:xfrm>
            <a:off x="539496" y="2512512"/>
            <a:ext cx="2000782" cy="392496"/>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512512"/>
            <a:ext cx="1708174"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поиск с генерацией</a:t>
            </a:r>
          </a:p>
        </p:txBody>
      </p:sp>
      <p:sp>
        <p:nvSpPr>
          <p:cNvPr id="31" name="Rectangle 30"/>
          <p:cNvSpPr/>
          <p:nvPr/>
        </p:nvSpPr>
        <p:spPr>
          <a:xfrm>
            <a:off x="2540278" y="2512512"/>
            <a:ext cx="2493237" cy="392496"/>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686582" y="2512512"/>
            <a:ext cx="220062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(отбор · диагноз · запись)</a:t>
            </a:r>
          </a:p>
        </p:txBody>
      </p:sp>
      <p:sp>
        <p:nvSpPr>
          <p:cNvPr id="33" name="Rectangle 32"/>
          <p:cNvSpPr/>
          <p:nvPr/>
        </p:nvSpPr>
        <p:spPr>
          <a:xfrm>
            <a:off x="5033516" y="2512512"/>
            <a:ext cx="3903209" cy="392496"/>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5179820" y="2512512"/>
            <a:ext cx="361060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35" name="Rectangle 34"/>
          <p:cNvSpPr/>
          <p:nvPr/>
        </p:nvSpPr>
        <p:spPr>
          <a:xfrm>
            <a:off x="8936725" y="2512512"/>
            <a:ext cx="2715473" cy="392496"/>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9083029" y="2512512"/>
            <a:ext cx="2422865"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37" name="Rectangle 36"/>
          <p:cNvSpPr/>
          <p:nvPr/>
        </p:nvSpPr>
        <p:spPr>
          <a:xfrm>
            <a:off x="539496" y="2905008"/>
            <a:ext cx="2000782" cy="392496"/>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905008"/>
            <a:ext cx="1708174"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прогноз</a:t>
            </a:r>
          </a:p>
        </p:txBody>
      </p:sp>
      <p:sp>
        <p:nvSpPr>
          <p:cNvPr id="39" name="Rectangle 38"/>
          <p:cNvSpPr/>
          <p:nvPr/>
        </p:nvSpPr>
        <p:spPr>
          <a:xfrm>
            <a:off x="2540278" y="2905008"/>
            <a:ext cx="2493237" cy="392496"/>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686582" y="2905008"/>
            <a:ext cx="220062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41" name="Rectangle 40"/>
          <p:cNvSpPr/>
          <p:nvPr/>
        </p:nvSpPr>
        <p:spPr>
          <a:xfrm>
            <a:off x="5033516" y="2905008"/>
            <a:ext cx="3903209" cy="392496"/>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5179820" y="2905008"/>
            <a:ext cx="361060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43" name="Rectangle 42"/>
          <p:cNvSpPr/>
          <p:nvPr/>
        </p:nvSpPr>
        <p:spPr>
          <a:xfrm>
            <a:off x="8936725" y="2905008"/>
            <a:ext cx="2715473" cy="392496"/>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9083029" y="2905008"/>
            <a:ext cx="2422865"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(анализ · наблюдение)</a:t>
            </a:r>
          </a:p>
        </p:txBody>
      </p:sp>
      <p:sp>
        <p:nvSpPr>
          <p:cNvPr id="45" name="TextBox 44"/>
          <p:cNvSpPr txBox="1"/>
          <p:nvPr/>
        </p:nvSpPr>
        <p:spPr>
          <a:xfrm>
            <a:off x="539496" y="3443808"/>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Полужирное — разбор этого раздела, светлое в скобках — прежние разделы.</a:t>
            </a:r>
            <a:r>
              <a:rPr sz="1300" b="0" i="0">
                <a:solidFill>
                  <a:srgbClr val="21295C"/>
                </a:solidFill>
                <a:latin typeface="Arial"/>
              </a:rPr>
              <a:t> Занято 4 клетки из 12 показанных, восемь прочерков стоят с Раздела 2: четвёртый раздел подряд не добавил сетке ничего.</a:t>
            </a:r>
          </a:p>
        </p:txBody>
      </p:sp>
      <p:sp>
        <p:nvSpPr>
          <p:cNvPr id="46" name="TextBox 45"/>
          <p:cNvSpPr txBox="1"/>
          <p:nvPr/>
        </p:nvSpPr>
        <p:spPr>
          <a:xfrm>
            <a:off x="539496" y="4116334"/>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И этот — особый случай: он не добавляет ни одной клетки не потому, что опоздал.</a:t>
            </a:r>
            <a:r>
              <a:rPr sz="1300" b="0" i="0">
                <a:solidFill>
                  <a:srgbClr val="21295C"/>
                </a:solidFill>
                <a:latin typeface="Arial"/>
              </a:rPr>
              <a:t> Подпись не распознаёт. Согласие не прогнозирует. Арбитраж ничего не порождает. Разбор случая, допуск изделия и надзор после допуска — тоже.</a:t>
            </a:r>
          </a:p>
        </p:txBody>
      </p:sp>
      <p:sp>
        <p:nvSpPr>
          <p:cNvPr id="47" name="Rounded Rectangle 46"/>
          <p:cNvSpPr/>
          <p:nvPr/>
        </p:nvSpPr>
        <p:spPr>
          <a:xfrm>
            <a:off x="630936" y="4879666"/>
            <a:ext cx="100584" cy="100584"/>
          </a:xfrm>
          <a:prstGeom prst="roundRect">
            <a:avLst>
              <a:gd name="adj" fmla="val 50000"/>
            </a:avLst>
          </a:prstGeom>
          <a:solidFill>
            <a:srgbClr val="028090"/>
          </a:solidFill>
          <a:ln>
            <a:noFill/>
          </a:ln>
          <a:effectLst/>
        </p:spPr>
        <p:txBody>
          <a:bodyPr rtlCol="0" anchor="ctr"/>
          <a:lstStyle/>
          <a:p>
            <a:pPr algn="ctr"/>
          </a:p>
        </p:txBody>
      </p:sp>
      <p:sp>
        <p:nvSpPr>
          <p:cNvPr id="48" name="TextBox 47"/>
          <p:cNvSpPr txBox="1"/>
          <p:nvPr/>
        </p:nvSpPr>
        <p:spPr>
          <a:xfrm>
            <a:off x="923544" y="4788861"/>
            <a:ext cx="10728655"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чем держат эту клетку</a:t>
            </a:r>
            <a:r>
              <a:rPr sz="1300" b="0" i="0">
                <a:solidFill>
                  <a:srgbClr val="21295C"/>
                </a:solidFill>
                <a:latin typeface="Arial"/>
              </a:rPr>
              <a:t> — двойное чтение · арбитраж при расхождении · порог вмешательства · пересчёт прогностической ценности под местную распространённость</a:t>
            </a:r>
          </a:p>
        </p:txBody>
      </p:sp>
      <p:sp>
        <p:nvSpPr>
          <p:cNvPr id="49" name="Rounded Rectangle 48"/>
          <p:cNvSpPr/>
          <p:nvPr/>
        </p:nvSpPr>
        <p:spPr>
          <a:xfrm>
            <a:off x="630936" y="5552192"/>
            <a:ext cx="100584" cy="100584"/>
          </a:xfrm>
          <a:prstGeom prst="roundRect">
            <a:avLst>
              <a:gd name="adj" fmla="val 50000"/>
            </a:avLst>
          </a:prstGeom>
          <a:solidFill>
            <a:srgbClr val="028090"/>
          </a:solidFill>
          <a:ln>
            <a:noFill/>
          </a:ln>
          <a:effectLst/>
        </p:spPr>
        <p:txBody>
          <a:bodyPr rtlCol="0" anchor="ctr"/>
          <a:lstStyle/>
          <a:p>
            <a:pPr algn="ctr"/>
          </a:p>
        </p:txBody>
      </p:sp>
      <p:sp>
        <p:nvSpPr>
          <p:cNvPr id="50" name="TextBox 49"/>
          <p:cNvSpPr txBox="1"/>
          <p:nvPr/>
        </p:nvSpPr>
        <p:spPr>
          <a:xfrm>
            <a:off x="923544" y="5461387"/>
            <a:ext cx="10728655"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чем держат сам допуск</a:t>
            </a:r>
            <a:r>
              <a:rPr sz="1300" b="0" i="0">
                <a:solidFill>
                  <a:srgbClr val="21295C"/>
                </a:solidFill>
                <a:latin typeface="Arial"/>
              </a:rPr>
              <a:t> — заранее утверждённый план изменений модели · передача данных регулятору · отзыв с рынка</a:t>
            </a:r>
          </a:p>
        </p:txBody>
      </p:sp>
      <p:sp>
        <p:nvSpPr>
          <p:cNvPr id="51" name="TextBox 50"/>
          <p:cNvSpPr txBox="1"/>
          <p:nvPr/>
        </p:nvSpPr>
        <p:spPr>
          <a:xfrm>
            <a:off x="539496" y="5870803"/>
            <a:ext cx="11112703"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Клетка говорит, чем инструмент занят, и ничего не говорит о том, чем его держат.</a:t>
            </a:r>
          </a:p>
        </p:txBody>
      </p:sp>
      <p:sp>
        <p:nvSpPr>
          <p:cNvPr id="52" name="Rectangle 5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543800" y="914400"/>
            <a:ext cx="4144975" cy="3177311"/>
          </a:xfrm>
          <a:prstGeom prst="roundRect">
            <a:avLst>
              <a:gd name="adj" fmla="val 9593"/>
            </a:avLst>
          </a:prstGeom>
          <a:solidFill>
            <a:srgbClr val="F4F7FA"/>
          </a:solidFill>
          <a:ln w="19050">
            <a:solidFill>
              <a:srgbClr val="1C7293"/>
            </a:solidFill>
          </a:ln>
          <a:effectLst/>
        </p:spPr>
        <p:txBody>
          <a:bodyPr rtlCol="0" anchor="ctr"/>
          <a:lstStyle/>
          <a:p>
            <a:pPr algn="ctr"/>
          </a:p>
        </p:txBody>
      </p:sp>
      <p:pic>
        <p:nvPicPr>
          <p:cNvPr id="5" name="Picture 4" descr="s74-khimik-u-vytyazhnogo-shkafa.jpg"/>
          <p:cNvPicPr>
            <a:picLocks noChangeAspect="1"/>
          </p:cNvPicPr>
          <p:nvPr/>
        </p:nvPicPr>
        <p:blipFill>
          <a:blip r:embed="rId2"/>
          <a:stretch>
            <a:fillRect/>
          </a:stretch>
        </p:blipFill>
        <p:spPr>
          <a:xfrm>
            <a:off x="7680960" y="1051560"/>
            <a:ext cx="3870655" cy="2902991"/>
          </a:xfrm>
          <a:prstGeom prst="rect">
            <a:avLst/>
          </a:prstGeom>
        </p:spPr>
      </p:pic>
      <p:sp>
        <p:nvSpPr>
          <p:cNvPr id="6" name="TextBox 5"/>
          <p:cNvSpPr txBox="1"/>
          <p:nvPr/>
        </p:nvSpPr>
        <p:spPr>
          <a:xfrm>
            <a:off x="704088" y="960120"/>
            <a:ext cx="667512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7. Разработка лекарства — удешевили начало, где узкое место</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Ранний шаг подешевел многократно. Шаг, на котором стоит основной объём работы, не подешевел ни на сколько.</a:t>
            </a:r>
          </a:p>
        </p:txBody>
      </p:sp>
      <p:sp>
        <p:nvSpPr>
          <p:cNvPr id="9" name="TextBox 8"/>
          <p:cNvSpPr txBox="1"/>
          <p:nvPr/>
        </p:nvSpPr>
        <p:spPr>
          <a:xfrm>
            <a:off x="704088" y="3045563"/>
            <a:ext cx="6473952" cy="124493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3 разбора · 3 упоминания · 1 опровергнутое ожидание.</a:t>
            </a:r>
            <a:r>
              <a:rPr sz="1550" b="0" i="0">
                <a:solidFill>
                  <a:srgbClr val="21295C"/>
                </a:solidFill>
                <a:latin typeface="Arial"/>
              </a:rPr>
              <a:t> Разборы по порядку: </a:t>
            </a:r>
            <a:r>
              <a:rPr sz="1550" b="1" i="0">
                <a:solidFill>
                  <a:srgbClr val="21295C"/>
                </a:solidFill>
                <a:latin typeface="Arial"/>
              </a:rPr>
              <a:t>Пример 1: молекула за год</a:t>
            </a:r>
            <a:r>
              <a:rPr sz="1550" b="0" i="0">
                <a:solidFill>
                  <a:srgbClr val="21295C"/>
                </a:solidFill>
                <a:latin typeface="Arial"/>
              </a:rPr>
              <a:t> · </a:t>
            </a:r>
            <a:r>
              <a:rPr sz="1550" b="1" i="0">
                <a:solidFill>
                  <a:srgbClr val="21295C"/>
                </a:solidFill>
                <a:latin typeface="Arial"/>
              </a:rPr>
              <a:t>Пример 2: воронка молекул модельного происхождения</a:t>
            </a:r>
            <a:r>
              <a:rPr sz="1550" b="0" i="0">
                <a:solidFill>
                  <a:srgbClr val="21295C"/>
                </a:solidFill>
                <a:latin typeface="Arial"/>
              </a:rPr>
              <a:t> · </a:t>
            </a:r>
            <a:r>
              <a:rPr sz="1550" b="1" i="0">
                <a:solidFill>
                  <a:srgbClr val="21295C"/>
                </a:solidFill>
                <a:latin typeface="Arial"/>
              </a:rPr>
              <a:t>Пример 3: компания, отказавшаяся от своего обещания</a:t>
            </a:r>
          </a:p>
        </p:txBody>
      </p:sp>
      <p:sp>
        <p:nvSpPr>
          <p:cNvPr id="10" name="TextBox 9"/>
          <p:cNvSpPr txBox="1"/>
          <p:nvPr/>
        </p:nvSpPr>
        <p:spPr>
          <a:xfrm>
            <a:off x="704088" y="4418518"/>
            <a:ext cx="647395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Здесь платит не человек:</a:t>
            </a:r>
            <a:r>
              <a:rPr sz="1550" b="0" i="0">
                <a:solidFill>
                  <a:srgbClr val="21295C"/>
                </a:solidFill>
                <a:latin typeface="Arial"/>
              </a:rPr>
              <a:t> решают о веществе, и узкое место стоит дальше.</a:t>
            </a:r>
          </a:p>
        </p:txBody>
      </p:sp>
      <p:sp>
        <p:nvSpPr>
          <p:cNvPr id="11" name="TextBox 10"/>
          <p:cNvSpPr txBox="1"/>
          <p:nvPr/>
        </p:nvSpPr>
        <p:spPr>
          <a:xfrm>
            <a:off x="704088" y="5187291"/>
            <a:ext cx="6675120" cy="430031"/>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Производство лекарственной формы на линии в этот раздел не входит — это отдельная лекция курса.</a:t>
            </a:r>
          </a:p>
        </p:txBody>
      </p:sp>
      <p:sp>
        <p:nvSpPr>
          <p:cNvPr id="12" name="TextBox 1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BIO / QLS / Informa, Clinical Development Success Rates and Contributing Factors 2011–2020</a:t>
            </a:r>
            <a:r>
              <a:rPr sz="1200" b="0" i="1">
                <a:solidFill>
                  <a:srgbClr val="1C7293"/>
                </a:solidFill>
                <a:latin typeface="Arial"/>
              </a:rPr>
              <a:t> · </a:t>
            </a:r>
            <a:r>
              <a:rPr sz="1200" b="0" i="1" u="sng">
                <a:solidFill>
                  <a:srgbClr val="065A82"/>
                </a:solidFill>
                <a:latin typeface="Arial"/>
                <a:hlinkClick r:id="rId4"/>
              </a:rPr>
              <a:t>Jayatunga и соавт., Drug Discovery Today, 2024</a:t>
            </a:r>
            <a:r>
              <a:rPr sz="1200" b="0" i="1">
                <a:solidFill>
                  <a:srgbClr val="1C7293"/>
                </a:solidFill>
                <a:latin typeface="Arial"/>
              </a:rPr>
              <a:t> · </a:t>
            </a:r>
            <a:r>
              <a:rPr sz="1200" b="0" i="1" u="sng">
                <a:solidFill>
                  <a:srgbClr val="065A82"/>
                </a:solidFill>
                <a:latin typeface="Arial"/>
                <a:hlinkClick r:id="rId5"/>
              </a:rPr>
              <a:t>Haque W. и соавт., J Clin Oncol 2026, DOI 10.1200/JCO.2026.44.16_suppl.11072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Три человека, три места, одно вещество</a:t>
            </a:r>
          </a:p>
        </p:txBody>
      </p:sp>
      <p:sp>
        <p:nvSpPr>
          <p:cNvPr id="4" name="Rounded Rectangle 3"/>
          <p:cNvSpPr/>
          <p:nvPr/>
        </p:nvSpPr>
        <p:spPr>
          <a:xfrm>
            <a:off x="502920" y="1335024"/>
            <a:ext cx="3389223"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1149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ОДИН ЦИКЛ «СПРОЕКТИРУЙ — СИНТЕЗИРУЙ — ПРОВЕРЬ»</a:t>
            </a:r>
          </a:p>
        </p:txBody>
      </p:sp>
      <p:sp>
        <p:nvSpPr>
          <p:cNvPr id="6" name="TextBox 5"/>
          <p:cNvSpPr txBox="1"/>
          <p:nvPr/>
        </p:nvSpPr>
        <p:spPr>
          <a:xfrm>
            <a:off x="640080" y="1932846"/>
            <a:ext cx="311490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 недель до месяцев</a:t>
            </a:r>
          </a:p>
        </p:txBody>
      </p:sp>
      <p:sp>
        <p:nvSpPr>
          <p:cNvPr id="7" name="TextBox 6"/>
          <p:cNvSpPr txBox="1"/>
          <p:nvPr/>
        </p:nvSpPr>
        <p:spPr>
          <a:xfrm>
            <a:off x="640080" y="2750268"/>
            <a:ext cx="31149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оценка порядка, замера нет; разброс между программами большой</a:t>
            </a:r>
          </a:p>
        </p:txBody>
      </p:sp>
      <p:sp>
        <p:nvSpPr>
          <p:cNvPr id="8" name="Rounded Rectangle 7"/>
          <p:cNvSpPr/>
          <p:nvPr/>
        </p:nvSpPr>
        <p:spPr>
          <a:xfrm>
            <a:off x="4056735" y="1335024"/>
            <a:ext cx="3389223"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193895" y="1472184"/>
            <a:ext cx="31149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ЦИКЛОВ ДО ГОДНОЙ МОЛЕКУЛЫ</a:t>
            </a:r>
          </a:p>
        </p:txBody>
      </p:sp>
      <p:sp>
        <p:nvSpPr>
          <p:cNvPr id="10" name="TextBox 9"/>
          <p:cNvSpPr txBox="1"/>
          <p:nvPr/>
        </p:nvSpPr>
        <p:spPr>
          <a:xfrm>
            <a:off x="4193895" y="1725375"/>
            <a:ext cx="3114903"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десятки и сотни</a:t>
            </a:r>
          </a:p>
        </p:txBody>
      </p:sp>
      <p:sp>
        <p:nvSpPr>
          <p:cNvPr id="11" name="TextBox 10"/>
          <p:cNvSpPr txBox="1"/>
          <p:nvPr/>
        </p:nvSpPr>
        <p:spPr>
          <a:xfrm>
            <a:off x="4193895" y="2152374"/>
            <a:ext cx="31149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отраслевая норма из согласующихся обзоров</a:t>
            </a:r>
          </a:p>
        </p:txBody>
      </p:sp>
      <p:sp>
        <p:nvSpPr>
          <p:cNvPr id="12" name="Rounded Rectangle 11"/>
          <p:cNvSpPr/>
          <p:nvPr/>
        </p:nvSpPr>
        <p:spPr>
          <a:xfrm>
            <a:off x="374904" y="3401355"/>
            <a:ext cx="7199071" cy="2441774"/>
          </a:xfrm>
          <a:prstGeom prst="roundRect">
            <a:avLst>
              <a:gd name="adj" fmla="val 12482"/>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492795"/>
            <a:ext cx="6869887" cy="274341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Один путь: от первой реакции до первого человека — около двух лет.</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химик-синтетик</a:t>
            </a:r>
            <a:r>
              <a:rPr sz="1500" b="0" i="0">
                <a:solidFill>
                  <a:srgbClr val="21295C"/>
                </a:solidFill>
                <a:latin typeface="Arial"/>
              </a:rPr>
              <a:t> ставит реакцию — миллиграммы вещества</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через полгода</a:t>
            </a:r>
            <a:r>
              <a:rPr sz="1500" b="0" i="0">
                <a:solidFill>
                  <a:srgbClr val="21295C"/>
                </a:solidFill>
                <a:latin typeface="Arial"/>
              </a:rPr>
              <a:t> порошок едет в виварий: доза, переносимость, органы</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ещё через год</a:t>
            </a:r>
            <a:r>
              <a:rPr sz="1500" b="0" i="0">
                <a:solidFill>
                  <a:srgbClr val="21295C"/>
                </a:solidFill>
                <a:latin typeface="Arial"/>
              </a:rPr>
              <a:t> координатор пишет наблюдения по добровольцу фазы I</a:t>
            </a:r>
          </a:p>
          <a:p>
            <a:pPr algn="l">
              <a:lnSpc>
                <a:spcPct val="126000"/>
              </a:lnSpc>
              <a:spcBef>
                <a:spcPts val="700"/>
              </a:spcBef>
            </a:pPr>
            <a:r>
              <a:rPr sz="1500" b="0" i="0">
                <a:solidFill>
                  <a:srgbClr val="21295C"/>
                </a:solidFill>
                <a:latin typeface="Arial"/>
              </a:rPr>
              <a:t/>
            </a:r>
            <a:r>
              <a:rPr sz="1500" b="0" i="0">
                <a:solidFill>
                  <a:srgbClr val="21295C"/>
                </a:solidFill>
                <a:latin typeface="Arial"/>
              </a:rPr>
              <a:t>• каждый шаг делают руками; длину шага задают физиология и расписание</a:t>
            </a:r>
          </a:p>
          <a:p>
            <a:pPr algn="l">
              <a:lnSpc>
                <a:spcPct val="126000"/>
              </a:lnSpc>
              <a:spcBef>
                <a:spcPts val="700"/>
              </a:spcBef>
            </a:pPr>
            <a:r>
              <a:rPr sz="1200" b="0" i="0">
                <a:solidFill>
                  <a:srgbClr val="21295C"/>
                </a:solidFill>
                <a:latin typeface="Arial"/>
              </a:rPr>
              <a:t/>
            </a:r>
            <a:r>
              <a:rPr sz="1200" b="0" i="1">
                <a:solidFill>
                  <a:srgbClr val="1C7293"/>
                </a:solidFill>
                <a:latin typeface="Arial"/>
              </a:rPr>
              <a:t>Вторая сцена: проверка клетки вивария</a:t>
            </a:r>
          </a:p>
        </p:txBody>
      </p:sp>
      <p:sp>
        <p:nvSpPr>
          <p:cNvPr id="14" name="Rounded Rectangle 13"/>
          <p:cNvSpPr/>
          <p:nvPr/>
        </p:nvSpPr>
        <p:spPr>
          <a:xfrm>
            <a:off x="7756855" y="1335024"/>
            <a:ext cx="3931920" cy="2712719"/>
          </a:xfrm>
          <a:prstGeom prst="roundRect">
            <a:avLst>
              <a:gd name="adj" fmla="val 11235"/>
            </a:avLst>
          </a:prstGeom>
          <a:solidFill>
            <a:srgbClr val="F4F7FA"/>
          </a:solidFill>
          <a:ln w="19050">
            <a:solidFill>
              <a:srgbClr val="1C7293"/>
            </a:solidFill>
          </a:ln>
          <a:effectLst/>
        </p:spPr>
        <p:txBody>
          <a:bodyPr rtlCol="0" anchor="ctr"/>
          <a:lstStyle/>
          <a:p>
            <a:pPr algn="ctr"/>
          </a:p>
        </p:txBody>
      </p:sp>
      <p:pic>
        <p:nvPicPr>
          <p:cNvPr id="15" name="Picture 14" descr="s75-kletki-vivariya-proverka.jpg"/>
          <p:cNvPicPr>
            <a:picLocks noChangeAspect="1"/>
          </p:cNvPicPr>
          <p:nvPr/>
        </p:nvPicPr>
        <p:blipFill>
          <a:blip r:embed="rId2"/>
          <a:stretch>
            <a:fillRect/>
          </a:stretch>
        </p:blipFill>
        <p:spPr>
          <a:xfrm>
            <a:off x="7894015" y="1472184"/>
            <a:ext cx="3657600" cy="2438400"/>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Отраслевая норма пути «мишень → клинический кандидат» — согласующиеся между собой отраслевые обзоры разработки; построчно сверенного первоисточника на эту длительность нет</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Что делают участники на стадии разработки — до всякой обученной модели</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Путь разработки</a:t>
            </a:r>
          </a:p>
        </p:txBody>
      </p:sp>
      <p:sp>
        <p:nvSpPr>
          <p:cNvPr id="5" name="Rounded Rectangle 4"/>
          <p:cNvSpPr/>
          <p:nvPr/>
        </p:nvSpPr>
        <p:spPr>
          <a:xfrm>
            <a:off x="1920240"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Мишень и молекула — биологи, химики</a:t>
            </a:r>
          </a:p>
        </p:txBody>
      </p:sp>
      <p:sp>
        <p:nvSpPr>
          <p:cNvPr id="7" name="Right Arrow 6"/>
          <p:cNvSpPr/>
          <p:nvPr/>
        </p:nvSpPr>
        <p:spPr>
          <a:xfrm>
            <a:off x="4202353" y="162296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Доклиника — культуры и животные</a:t>
            </a:r>
          </a:p>
        </p:txBody>
      </p:sp>
      <p:sp>
        <p:nvSpPr>
          <p:cNvPr id="10" name="Right Arrow 9"/>
          <p:cNvSpPr/>
          <p:nvPr/>
        </p:nvSpPr>
        <p:spPr>
          <a:xfrm>
            <a:off x="6713067" y="162296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Фазы I–III — клиницисты, пациенты</a:t>
            </a:r>
          </a:p>
        </p:txBody>
      </p:sp>
      <p:sp>
        <p:nvSpPr>
          <p:cNvPr id="13" name="Right Arrow 12"/>
          <p:cNvSpPr/>
          <p:nvPr/>
        </p:nvSpPr>
        <p:spPr>
          <a:xfrm>
            <a:off x="9223781" y="1622964"/>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Заявка — регуляторные специалисты</a:t>
            </a:r>
          </a:p>
        </p:txBody>
      </p:sp>
      <p:sp>
        <p:nvSpPr>
          <p:cNvPr id="16" name="TextBox 15"/>
          <p:cNvSpPr txBox="1"/>
          <p:nvPr/>
        </p:nvSpPr>
        <p:spPr>
          <a:xfrm>
            <a:off x="502920" y="208464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Восемь действий складываются в четыре шага пути</a:t>
            </a:r>
          </a:p>
        </p:txBody>
      </p:sp>
      <p:sp>
        <p:nvSpPr>
          <p:cNvPr id="17" name="Rounded Rectangle 16"/>
          <p:cNvSpPr/>
          <p:nvPr/>
        </p:nvSpPr>
        <p:spPr>
          <a:xfrm>
            <a:off x="374904" y="2387325"/>
            <a:ext cx="11441887" cy="3788669"/>
          </a:xfrm>
          <a:prstGeom prst="roundRect">
            <a:avLst>
              <a:gd name="adj" fmla="val 8045"/>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478765"/>
            <a:ext cx="5373471" cy="3757442"/>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Восемь действий стадии.</a:t>
            </a:r>
            <a:r>
              <a:rPr sz="1450" b="0" i="0">
                <a:solidFill>
                  <a:srgbClr val="21295C"/>
                </a:solidFill>
                <a:latin typeface="Arial"/>
              </a:rPr>
              <a:t> 1. Выбрать мишень · 2. Подобрать молекулу · 3. Проверить на культурах и животных · 4. Произвести клиническую партию · 5. Фаза I — переносимость и доза · 6. Фаза II — меняет ли вещество ход болезни · 7. Фаза III — подтверждение на сотнях пациентов · 8. Собрать заявку на регистрацию.</a:t>
            </a:r>
          </a:p>
          <a:p>
            <a:pPr algn="l">
              <a:lnSpc>
                <a:spcPct val="126000"/>
              </a:lnSpc>
              <a:spcBef>
                <a:spcPts val="700"/>
              </a:spcBef>
            </a:pPr>
            <a:r>
              <a:rPr sz="1450" b="0" i="0">
                <a:solidFill>
                  <a:srgbClr val="21295C"/>
                </a:solidFill>
                <a:latin typeface="Arial"/>
              </a:rPr>
              <a:t/>
            </a:r>
            <a:r>
              <a:rPr sz="1450" b="1" i="0">
                <a:solidFill>
                  <a:srgbClr val="21295C"/>
                </a:solidFill>
                <a:latin typeface="Arial"/>
              </a:rPr>
              <a:t>Без обученной модели каждое из восьми делает человек по записанному протоколу.</a:t>
            </a:r>
          </a:p>
          <a:p>
            <a:pPr algn="l">
              <a:lnSpc>
                <a:spcPct val="126000"/>
              </a:lnSpc>
              <a:spcBef>
                <a:spcPts val="700"/>
              </a:spcBef>
            </a:pPr>
            <a:r>
              <a:rPr sz="1450" b="0" i="0">
                <a:solidFill>
                  <a:srgbClr val="21295C"/>
                </a:solidFill>
                <a:latin typeface="Arial"/>
              </a:rPr>
              <a:t/>
            </a:r>
            <a:r>
              <a:rPr sz="1450" b="1" i="0">
                <a:solidFill>
                  <a:srgbClr val="21295C"/>
                </a:solidFill>
                <a:latin typeface="Arial"/>
              </a:rPr>
              <a:t>С обученной моделью — два шага из восьми:</a:t>
            </a:r>
          </a:p>
          <a:p>
            <a:pPr algn="l">
              <a:lnSpc>
                <a:spcPct val="126000"/>
              </a:lnSpc>
              <a:spcBef>
                <a:spcPts val="700"/>
              </a:spcBef>
            </a:pPr>
            <a:r>
              <a:rPr sz="1450" b="0" i="0">
                <a:solidFill>
                  <a:srgbClr val="21295C"/>
                </a:solidFill>
                <a:latin typeface="Arial"/>
              </a:rPr>
              <a:t/>
            </a:r>
            <a:r>
              <a:rPr sz="1450" b="0" i="0">
                <a:solidFill>
                  <a:srgbClr val="21295C"/>
                </a:solidFill>
                <a:latin typeface="Arial"/>
              </a:rPr>
              <a:t>• подбор молекулы (2) и реже выбор мишени (1)</a:t>
            </a:r>
          </a:p>
          <a:p>
            <a:pPr algn="l">
              <a:lnSpc>
                <a:spcPct val="126000"/>
              </a:lnSpc>
              <a:spcBef>
                <a:spcPts val="700"/>
              </a:spcBef>
            </a:pPr>
            <a:r>
              <a:rPr sz="1450" b="0" i="0">
                <a:solidFill>
                  <a:srgbClr val="21295C"/>
                </a:solidFill>
                <a:latin typeface="Arial"/>
              </a:rPr>
              <a:t/>
            </a:r>
            <a:r>
              <a:rPr sz="1450" b="0" i="0">
                <a:solidFill>
                  <a:srgbClr val="21295C"/>
                </a:solidFill>
                <a:latin typeface="Arial"/>
              </a:rPr>
              <a:t>• </a:t>
            </a:r>
            <a:r>
              <a:rPr sz="1450" b="1" i="0">
                <a:solidFill>
                  <a:srgbClr val="21295C"/>
                </a:solidFill>
                <a:latin typeface="Arial"/>
              </a:rPr>
              <a:t>новый шаг — сверить предсказание с опытом</a:t>
            </a:r>
          </a:p>
        </p:txBody>
      </p:sp>
      <p:sp>
        <p:nvSpPr>
          <p:cNvPr id="19" name="TextBox 18"/>
          <p:cNvSpPr txBox="1"/>
          <p:nvPr/>
        </p:nvSpPr>
        <p:spPr>
          <a:xfrm>
            <a:off x="6278727" y="2478765"/>
            <a:ext cx="5373471" cy="3757442"/>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людей и денег больше всего на поздних фазах: десятки добровольцев в одном центре против сотен пациентов в десятках центров</a:t>
            </a:r>
          </a:p>
          <a:p>
            <a:pPr algn="l">
              <a:lnSpc>
                <a:spcPct val="126000"/>
              </a:lnSpc>
              <a:spcBef>
                <a:spcPts val="700"/>
              </a:spcBef>
            </a:pPr>
            <a:r>
              <a:rPr sz="1450" b="0" i="0">
                <a:solidFill>
                  <a:srgbClr val="21295C"/>
                </a:solidFill>
                <a:latin typeface="Arial"/>
              </a:rPr>
              <a:t/>
            </a:r>
            <a:r>
              <a:rPr sz="1450" b="1" i="0">
                <a:solidFill>
                  <a:srgbClr val="21295C"/>
                </a:solidFill>
                <a:latin typeface="Arial"/>
              </a:rPr>
              <a:t>Четыре работы задачи для модели не содержат вовсе:</a:t>
            </a:r>
            <a:r>
              <a:rPr sz="1450" b="0" i="0">
                <a:solidFill>
                  <a:srgbClr val="21295C"/>
                </a:solidFill>
                <a:latin typeface="Arial"/>
              </a:rPr>
              <a:t> переносимость у людей · набор пациентов · длительность наблюдения · производство клинической партии.</a:t>
            </a:r>
          </a:p>
          <a:p>
            <a:pPr algn="l">
              <a:lnSpc>
                <a:spcPct val="126000"/>
              </a:lnSpc>
              <a:spcBef>
                <a:spcPts val="700"/>
              </a:spcBef>
            </a:pPr>
            <a:r>
              <a:rPr sz="1450" b="0" i="0">
                <a:solidFill>
                  <a:srgbClr val="21295C"/>
                </a:solidFill>
                <a:latin typeface="Arial"/>
              </a:rPr>
              <a:t/>
            </a:r>
            <a:r>
              <a:rPr sz="1450" b="1" i="0">
                <a:solidFill>
                  <a:srgbClr val="21295C"/>
                </a:solidFill>
                <a:latin typeface="Arial"/>
              </a:rPr>
              <a:t>Две дроби, и различать их придётся весь раздел:</a:t>
            </a:r>
          </a:p>
          <a:p>
            <a:pPr algn="l">
              <a:lnSpc>
                <a:spcPct val="126000"/>
              </a:lnSpc>
              <a:spcBef>
                <a:spcPts val="700"/>
              </a:spcBef>
            </a:pPr>
            <a:r>
              <a:rPr sz="1450" b="0" i="0">
                <a:solidFill>
                  <a:srgbClr val="21295C"/>
                </a:solidFill>
                <a:latin typeface="Arial"/>
              </a:rPr>
              <a:t/>
            </a:r>
            <a:r>
              <a:rPr sz="1450" b="0" i="0">
                <a:solidFill>
                  <a:srgbClr val="21295C"/>
                </a:solidFill>
                <a:latin typeface="Arial"/>
              </a:rPr>
              <a:t>• </a:t>
            </a:r>
            <a:r>
              <a:rPr sz="1450" b="1" i="0">
                <a:solidFill>
                  <a:srgbClr val="21295C"/>
                </a:solidFill>
                <a:latin typeface="Arial"/>
              </a:rPr>
              <a:t>«перешли»</a:t>
            </a:r>
            <a:r>
              <a:rPr sz="1450" b="0" i="0">
                <a:solidFill>
                  <a:srgbClr val="21295C"/>
                </a:solidFill>
                <a:latin typeface="Arial"/>
              </a:rPr>
              <a:t> — считают среди тех, кто фазу прошёл до конца</a:t>
            </a:r>
          </a:p>
          <a:p>
            <a:pPr algn="l">
              <a:lnSpc>
                <a:spcPct val="126000"/>
              </a:lnSpc>
              <a:spcBef>
                <a:spcPts val="700"/>
              </a:spcBef>
            </a:pPr>
            <a:r>
              <a:rPr sz="1450" b="0" i="0">
                <a:solidFill>
                  <a:srgbClr val="21295C"/>
                </a:solidFill>
                <a:latin typeface="Arial"/>
              </a:rPr>
              <a:t/>
            </a:r>
            <a:r>
              <a:rPr sz="1450" b="0" i="0">
                <a:solidFill>
                  <a:srgbClr val="21295C"/>
                </a:solidFill>
                <a:latin typeface="Arial"/>
              </a:rPr>
              <a:t>• </a:t>
            </a:r>
            <a:r>
              <a:rPr sz="1450" b="1" i="0">
                <a:solidFill>
                  <a:srgbClr val="21295C"/>
                </a:solidFill>
                <a:latin typeface="Arial"/>
              </a:rPr>
              <a:t>«завершили»</a:t>
            </a:r>
            <a:r>
              <a:rPr sz="1450" b="0" i="0">
                <a:solidFill>
                  <a:srgbClr val="21295C"/>
                </a:solidFill>
                <a:latin typeface="Arial"/>
              </a:rPr>
              <a:t> — считают среди всех, кто когда-либо вошёл в испытания: в знаменателе сидят активы, которые ещё идут</a:t>
            </a:r>
          </a:p>
        </p:txBody>
      </p:sp>
      <p:sp>
        <p:nvSpPr>
          <p:cNvPr id="20" name="Rectangle 19"/>
          <p:cNvSpPr/>
          <p:nvPr/>
        </p:nvSpPr>
        <p:spPr>
          <a:xfrm>
            <a:off x="6091275" y="2478765"/>
            <a:ext cx="9144" cy="3514349"/>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7862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База отрасли: из тринадцати программ лекарством становится одна</a:t>
            </a:r>
          </a:p>
        </p:txBody>
      </p:sp>
      <p:sp>
        <p:nvSpPr>
          <p:cNvPr id="4" name="Rounded Rectangle 3"/>
          <p:cNvSpPr/>
          <p:nvPr/>
        </p:nvSpPr>
        <p:spPr>
          <a:xfrm>
            <a:off x="502920" y="1335024"/>
            <a:ext cx="2673019" cy="1665571"/>
          </a:xfrm>
          <a:prstGeom prst="roundRect">
            <a:avLst>
              <a:gd name="adj" fmla="val 183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ФАЗА I → ФАЗА II</a:t>
            </a:r>
          </a:p>
        </p:txBody>
      </p:sp>
      <p:sp>
        <p:nvSpPr>
          <p:cNvPr id="6" name="TextBox 5"/>
          <p:cNvSpPr txBox="1"/>
          <p:nvPr/>
        </p:nvSpPr>
        <p:spPr>
          <a:xfrm>
            <a:off x="640080"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52,0 процента</a:t>
            </a:r>
          </a:p>
        </p:txBody>
      </p:sp>
      <p:sp>
        <p:nvSpPr>
          <p:cNvPr id="7" name="TextBox 6"/>
          <p:cNvSpPr txBox="1"/>
          <p:nvPr/>
        </p:nvSpPr>
        <p:spPr>
          <a:xfrm>
            <a:off x="640080" y="2152374"/>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4 414 переходов внутри отчёта</a:t>
            </a:r>
          </a:p>
        </p:txBody>
      </p:sp>
      <p:sp>
        <p:nvSpPr>
          <p:cNvPr id="8" name="Rounded Rectangle 7"/>
          <p:cNvSpPr/>
          <p:nvPr/>
        </p:nvSpPr>
        <p:spPr>
          <a:xfrm>
            <a:off x="3340531" y="1335024"/>
            <a:ext cx="2673019" cy="1665571"/>
          </a:xfrm>
          <a:prstGeom prst="roundRect">
            <a:avLst>
              <a:gd name="adj" fmla="val 183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ФАЗА II → ФАЗА III</a:t>
            </a:r>
          </a:p>
        </p:txBody>
      </p:sp>
      <p:sp>
        <p:nvSpPr>
          <p:cNvPr id="10" name="TextBox 9"/>
          <p:cNvSpPr txBox="1"/>
          <p:nvPr/>
        </p:nvSpPr>
        <p:spPr>
          <a:xfrm>
            <a:off x="3477691"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28,9 процента</a:t>
            </a:r>
          </a:p>
        </p:txBody>
      </p:sp>
      <p:sp>
        <p:nvSpPr>
          <p:cNvPr id="11" name="TextBox 10"/>
          <p:cNvSpPr txBox="1"/>
          <p:nvPr/>
        </p:nvSpPr>
        <p:spPr>
          <a:xfrm>
            <a:off x="3477691"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4 933 перехода; плотнее всего отсев в середине</a:t>
            </a:r>
          </a:p>
        </p:txBody>
      </p:sp>
      <p:sp>
        <p:nvSpPr>
          <p:cNvPr id="12" name="Rounded Rectangle 11"/>
          <p:cNvSpPr/>
          <p:nvPr/>
        </p:nvSpPr>
        <p:spPr>
          <a:xfrm>
            <a:off x="6178143" y="1335024"/>
            <a:ext cx="2673019" cy="1665571"/>
          </a:xfrm>
          <a:prstGeom prst="roundRect">
            <a:avLst>
              <a:gd name="adj" fmla="val 1830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 ФАЗЫ I ДО ОДОБРЕНИЯ</a:t>
            </a:r>
          </a:p>
        </p:txBody>
      </p:sp>
      <p:sp>
        <p:nvSpPr>
          <p:cNvPr id="14" name="TextBox 13"/>
          <p:cNvSpPr txBox="1"/>
          <p:nvPr/>
        </p:nvSpPr>
        <p:spPr>
          <a:xfrm>
            <a:off x="6315303"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7,9 процента</a:t>
            </a:r>
          </a:p>
        </p:txBody>
      </p:sp>
      <p:sp>
        <p:nvSpPr>
          <p:cNvPr id="15" name="TextBox 14"/>
          <p:cNvSpPr txBox="1"/>
          <p:nvPr/>
        </p:nvSpPr>
        <p:spPr>
          <a:xfrm>
            <a:off x="6315303" y="2152374"/>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примерно тринадцати программ лекарством становится одна</a:t>
            </a:r>
          </a:p>
        </p:txBody>
      </p:sp>
      <p:sp>
        <p:nvSpPr>
          <p:cNvPr id="16" name="Rounded Rectangle 15"/>
          <p:cNvSpPr/>
          <p:nvPr/>
        </p:nvSpPr>
        <p:spPr>
          <a:xfrm>
            <a:off x="9015755" y="1335024"/>
            <a:ext cx="2673019" cy="1665571"/>
          </a:xfrm>
          <a:prstGeom prst="roundRect">
            <a:avLst>
              <a:gd name="adj" fmla="val 1830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ЗНАМЕНАТЕЛЬ</a:t>
            </a:r>
          </a:p>
        </p:txBody>
      </p:sp>
      <p:sp>
        <p:nvSpPr>
          <p:cNvPr id="18" name="TextBox 17"/>
          <p:cNvSpPr txBox="1"/>
          <p:nvPr/>
        </p:nvSpPr>
        <p:spPr>
          <a:xfrm>
            <a:off x="9152915" y="1725375"/>
            <a:ext cx="2398699" cy="715572"/>
          </a:xfrm>
          <a:prstGeom prst="rect">
            <a:avLst/>
          </a:prstGeom>
          <a:noFill/>
        </p:spPr>
        <p:txBody>
          <a:bodyPr wrap="square" lIns="0" rIns="0" tIns="0" bIns="0" anchor="t">
            <a:spAutoFit/>
          </a:bodyPr>
          <a:lstStyle/>
          <a:p>
            <a:pPr algn="l">
              <a:lnSpc>
                <a:spcPct val="108000"/>
              </a:lnSpc>
            </a:pPr>
            <a:r>
              <a:rPr sz="2000" b="1" i="0">
                <a:solidFill>
                  <a:srgbClr val="F0AB00"/>
                </a:solidFill>
                <a:latin typeface="Arial"/>
              </a:rPr>
              <a:t>12 728 переходов из 9 704 программ</a:t>
            </a:r>
          </a:p>
        </p:txBody>
      </p:sp>
      <p:sp>
        <p:nvSpPr>
          <p:cNvPr id="19" name="TextBox 18"/>
          <p:cNvSpPr txBox="1"/>
          <p:nvPr/>
        </p:nvSpPr>
        <p:spPr>
          <a:xfrm>
            <a:off x="9152915" y="244094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1 779 компаний, 2011–2020; переходы, не программы</a:t>
            </a:r>
          </a:p>
        </p:txBody>
      </p:sp>
      <p:sp>
        <p:nvSpPr>
          <p:cNvPr id="20" name="Rounded Rectangle 19"/>
          <p:cNvSpPr/>
          <p:nvPr/>
        </p:nvSpPr>
        <p:spPr>
          <a:xfrm>
            <a:off x="374904" y="3092035"/>
            <a:ext cx="11441887" cy="1937425"/>
          </a:xfrm>
          <a:prstGeom prst="roundRect">
            <a:avLst>
              <a:gd name="adj" fmla="val 15732"/>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183475"/>
            <a:ext cx="5373471" cy="305273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Плотнее всего отсев в середине, не в начале и не в конце.</a:t>
            </a:r>
          </a:p>
          <a:p>
            <a:pPr algn="l">
              <a:lnSpc>
                <a:spcPct val="126000"/>
              </a:lnSpc>
              <a:spcBef>
                <a:spcPts val="700"/>
              </a:spcBef>
            </a:pPr>
            <a:r>
              <a:rPr sz="1500" b="0" i="0">
                <a:solidFill>
                  <a:srgbClr val="21295C"/>
                </a:solidFill>
                <a:latin typeface="Arial"/>
              </a:rPr>
              <a:t/>
            </a:r>
            <a:r>
              <a:rPr sz="1500" b="0" i="0">
                <a:solidFill>
                  <a:srgbClr val="21295C"/>
                </a:solidFill>
                <a:latin typeface="Arial"/>
              </a:rPr>
              <a:t>• разброс по областям огромен: переход второй фазы в гематологии </a:t>
            </a:r>
            <a:r>
              <a:rPr sz="1500" b="1" i="0">
                <a:solidFill>
                  <a:srgbClr val="21295C"/>
                </a:solidFill>
                <a:latin typeface="Arial"/>
              </a:rPr>
              <a:t>48,1 процента</a:t>
            </a:r>
            <a:r>
              <a:rPr sz="1500" b="0" i="0">
                <a:solidFill>
                  <a:srgbClr val="21295C"/>
                </a:solidFill>
                <a:latin typeface="Arial"/>
              </a:rPr>
              <a:t>, в урологии </a:t>
            </a:r>
            <a:r>
              <a:rPr sz="1500" b="1" i="0">
                <a:solidFill>
                  <a:srgbClr val="21295C"/>
                </a:solidFill>
                <a:latin typeface="Arial"/>
              </a:rPr>
              <a:t>15,0</a:t>
            </a:r>
          </a:p>
          <a:p>
            <a:pPr algn="l">
              <a:lnSpc>
                <a:spcPct val="126000"/>
              </a:lnSpc>
              <a:spcBef>
                <a:spcPts val="700"/>
              </a:spcBef>
            </a:pPr>
            <a:r>
              <a:rPr sz="1500" b="0" i="0">
                <a:solidFill>
                  <a:srgbClr val="21295C"/>
                </a:solidFill>
                <a:latin typeface="Arial"/>
              </a:rPr>
              <a:t/>
            </a:r>
            <a:r>
              <a:rPr sz="1500" b="0" i="0">
                <a:solidFill>
                  <a:srgbClr val="21295C"/>
                </a:solidFill>
                <a:latin typeface="Arial"/>
              </a:rPr>
              <a:t>• средняя по отрасли годится как база и не годится как предсказание для одной программы</a:t>
            </a:r>
          </a:p>
        </p:txBody>
      </p:sp>
      <p:sp>
        <p:nvSpPr>
          <p:cNvPr id="22" name="TextBox 21"/>
          <p:cNvSpPr txBox="1"/>
          <p:nvPr/>
        </p:nvSpPr>
        <p:spPr>
          <a:xfrm>
            <a:off x="6278727" y="3183475"/>
            <a:ext cx="5373471" cy="305273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доли разных фаз между собой не складываются: у каждой фазы свой знаменатель</a:t>
            </a:r>
          </a:p>
          <a:p>
            <a:pPr algn="l">
              <a:lnSpc>
                <a:spcPct val="126000"/>
              </a:lnSpc>
              <a:spcBef>
                <a:spcPts val="700"/>
              </a:spcBef>
            </a:pPr>
            <a:r>
              <a:rPr sz="1500" b="0" i="0">
                <a:solidFill>
                  <a:srgbClr val="21295C"/>
                </a:solidFill>
                <a:latin typeface="Arial"/>
              </a:rPr>
              <a:t/>
            </a:r>
            <a:r>
              <a:rPr sz="1500" b="1" i="0">
                <a:solidFill>
                  <a:srgbClr val="21295C"/>
                </a:solidFill>
                <a:latin typeface="Arial"/>
              </a:rPr>
              <a:t>Это и есть база, с которой сравнивают любое улучшение.</a:t>
            </a:r>
          </a:p>
        </p:txBody>
      </p:sp>
      <p:sp>
        <p:nvSpPr>
          <p:cNvPr id="23" name="Rectangle 22"/>
          <p:cNvSpPr/>
          <p:nvPr/>
        </p:nvSpPr>
        <p:spPr>
          <a:xfrm>
            <a:off x="6091275" y="3183475"/>
            <a:ext cx="9144" cy="1663105"/>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BIO / QLS / Informa, Clinical Development Success Rates and Contributing Factors 2011–2020, февраль 2021</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Без модели: цена обеих ошибок и два режима, посчитан из них один</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ДОВЕСТИ НЕГОДНУЮ МОЛЕКУЛУ ДО ФАЗЫ I</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месяцы работы центра</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здоровые добровольцы под дозой; цена измеримая</a:t>
            </a:r>
          </a:p>
        </p:txBody>
      </p:sp>
      <p:sp>
        <p:nvSpPr>
          <p:cNvPr id="8" name="Rounded Rectangle 7"/>
          <p:cNvSpPr/>
          <p:nvPr/>
        </p:nvSpPr>
        <p:spPr>
          <a:xfrm>
            <a:off x="6178143"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ОТБРОСИТЬ ГОДНУЮ МОЛЕКУЛУ</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терапии не будет</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цена не измеряется вовсе: эксперимента не было</a:t>
            </a:r>
          </a:p>
        </p:txBody>
      </p:sp>
      <p:sp>
        <p:nvSpPr>
          <p:cNvPr id="12" name="Rounded Rectangle 11"/>
          <p:cNvSpPr/>
          <p:nvPr/>
        </p:nvSpPr>
        <p:spPr>
          <a:xfrm>
            <a:off x="502920" y="2683657"/>
            <a:ext cx="5437479" cy="1862949"/>
          </a:xfrm>
          <a:prstGeom prst="roundRect">
            <a:avLst>
              <a:gd name="adj" fmla="val 16361"/>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667512" y="2839105"/>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Вести в клинику всё синтезированное</a:t>
            </a:r>
          </a:p>
        </p:txBody>
      </p:sp>
      <p:sp>
        <p:nvSpPr>
          <p:cNvPr id="14" name="TextBox 13"/>
          <p:cNvSpPr txBox="1"/>
          <p:nvPr/>
        </p:nvSpPr>
        <p:spPr>
          <a:xfrm>
            <a:off x="667512" y="3195284"/>
            <a:ext cx="5108295" cy="1195874"/>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платит первой фазой за каждую пустышку</a:t>
            </a:r>
          </a:p>
          <a:p>
            <a:pPr algn="l">
              <a:lnSpc>
                <a:spcPct val="126000"/>
              </a:lnSpc>
            </a:pPr>
            <a:r>
              <a:rPr sz="1450" b="0" i="0">
                <a:solidFill>
                  <a:srgbClr val="21295C"/>
                </a:solidFill>
                <a:latin typeface="Arial"/>
              </a:rPr>
              <a:t>• ошибку видно: молекула дошла до людей и отсеялась</a:t>
            </a:r>
          </a:p>
          <a:p>
            <a:pPr algn="l">
              <a:lnSpc>
                <a:spcPct val="126000"/>
              </a:lnSpc>
            </a:pPr>
            <a:r>
              <a:rPr sz="1450" b="0" i="0">
                <a:solidFill>
                  <a:srgbClr val="21295C"/>
                </a:solidFill>
                <a:latin typeface="Arial"/>
              </a:rPr>
              <a:t>• цена считается в месяцах работы центра</a:t>
            </a:r>
          </a:p>
        </p:txBody>
      </p:sp>
      <p:sp>
        <p:nvSpPr>
          <p:cNvPr id="15" name="Rounded Rectangle 14"/>
          <p:cNvSpPr/>
          <p:nvPr/>
        </p:nvSpPr>
        <p:spPr>
          <a:xfrm>
            <a:off x="6251295" y="2683657"/>
            <a:ext cx="5437479" cy="1862949"/>
          </a:xfrm>
          <a:prstGeom prst="roundRect">
            <a:avLst>
              <a:gd name="adj" fmla="val 16361"/>
            </a:avLst>
          </a:prstGeom>
          <a:solidFill>
            <a:srgbClr val="FFFFFF"/>
          </a:solidFill>
          <a:ln w="19050">
            <a:solidFill>
              <a:srgbClr val="028090"/>
            </a:solidFill>
          </a:ln>
          <a:effectLst/>
        </p:spPr>
        <p:txBody>
          <a:bodyPr rtlCol="0" anchor="ctr"/>
          <a:lstStyle/>
          <a:p>
            <a:pPr algn="ctr"/>
          </a:p>
        </p:txBody>
      </p:sp>
      <p:sp>
        <p:nvSpPr>
          <p:cNvPr id="16" name="TextBox 15"/>
          <p:cNvSpPr txBox="1"/>
          <p:nvPr/>
        </p:nvSpPr>
        <p:spPr>
          <a:xfrm>
            <a:off x="6415887" y="2839105"/>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Вести только прошедшее экспертный отбор</a:t>
            </a:r>
          </a:p>
        </p:txBody>
      </p:sp>
      <p:sp>
        <p:nvSpPr>
          <p:cNvPr id="17" name="TextBox 16"/>
          <p:cNvSpPr txBox="1"/>
          <p:nvPr/>
        </p:nvSpPr>
        <p:spPr>
          <a:xfrm>
            <a:off x="6415887" y="3195284"/>
            <a:ext cx="5108295" cy="1195874"/>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платит отброшенными молекулами</a:t>
            </a:r>
          </a:p>
          <a:p>
            <a:pPr algn="l">
              <a:lnSpc>
                <a:spcPct val="126000"/>
              </a:lnSpc>
            </a:pPr>
            <a:r>
              <a:rPr sz="1450" b="0" i="0">
                <a:solidFill>
                  <a:srgbClr val="21295C"/>
                </a:solidFill>
                <a:latin typeface="Arial"/>
              </a:rPr>
              <a:t>• сколько их — не знает никто</a:t>
            </a:r>
          </a:p>
          <a:p>
            <a:pPr algn="l">
              <a:lnSpc>
                <a:spcPct val="126000"/>
              </a:lnSpc>
            </a:pPr>
            <a:r>
              <a:rPr sz="1450" b="0" i="0">
                <a:solidFill>
                  <a:srgbClr val="21295C"/>
                </a:solidFill>
                <a:latin typeface="Arial"/>
              </a:rPr>
              <a:t>• ошибки не увидит никто: эксперимента не было</a:t>
            </a:r>
          </a:p>
        </p:txBody>
      </p:sp>
      <p:sp>
        <p:nvSpPr>
          <p:cNvPr id="18" name="Rounded Rectangle 17"/>
          <p:cNvSpPr/>
          <p:nvPr/>
        </p:nvSpPr>
        <p:spPr>
          <a:xfrm>
            <a:off x="374904" y="4638047"/>
            <a:ext cx="11441887" cy="1598160"/>
          </a:xfrm>
          <a:prstGeom prst="roundRect">
            <a:avLst>
              <a:gd name="adj" fmla="val 19071"/>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4729487"/>
            <a:ext cx="11112703" cy="1506720"/>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Счёт у двух режимов один и тот же — 52,0 · 28,9 · 7,9.</a:t>
            </a:r>
            <a:r>
              <a:rPr sz="1300" b="0" i="0">
                <a:solidFill>
                  <a:srgbClr val="21295C"/>
                </a:solidFill>
                <a:latin typeface="Arial"/>
              </a:rPr>
              <a:t> Различие между ними числом не предъявлено ни одним источником: отчёт считает отрасль целиком.</a:t>
            </a:r>
          </a:p>
          <a:p>
            <a:pPr algn="l">
              <a:lnSpc>
                <a:spcPct val="126000"/>
              </a:lnSpc>
              <a:spcBef>
                <a:spcPts val="700"/>
              </a:spcBef>
            </a:pPr>
            <a:r>
              <a:rPr sz="1300" b="0" i="0">
                <a:solidFill>
                  <a:srgbClr val="21295C"/>
                </a:solidFill>
                <a:latin typeface="Arial"/>
              </a:rPr>
              <a:t/>
            </a:r>
            <a:r>
              <a:rPr sz="1300" b="1" i="0">
                <a:solidFill>
                  <a:srgbClr val="21295C"/>
                </a:solidFill>
                <a:latin typeface="Arial"/>
              </a:rPr>
              <a:t>Экспертный отбор</a:t>
            </a:r>
            <a:r>
              <a:rPr sz="1300" b="0" i="0">
                <a:solidFill>
                  <a:srgbClr val="21295C"/>
                </a:solidFill>
                <a:latin typeface="Arial"/>
              </a:rPr>
              <a:t> — совет из химиков, биологов и токсикологов: опыт и литература, протоколом решение не описано, повторяемость никто не замерял.</a:t>
            </a:r>
          </a:p>
          <a:p>
            <a:pPr algn="l">
              <a:lnSpc>
                <a:spcPct val="126000"/>
              </a:lnSpc>
              <a:spcBef>
                <a:spcPts val="700"/>
              </a:spcBef>
            </a:pPr>
            <a:r>
              <a:rPr sz="1300" b="0" i="0">
                <a:solidFill>
                  <a:srgbClr val="21295C"/>
                </a:solidFill>
                <a:latin typeface="Arial"/>
              </a:rPr>
              <a:t/>
            </a:r>
            <a:r>
              <a:rPr sz="1300" b="1" i="0">
                <a:solidFill>
                  <a:srgbClr val="21295C"/>
                </a:solidFill>
                <a:latin typeface="Arial"/>
              </a:rPr>
              <a:t>Пока сравнения с этими числами нет, «модель ускорила разработку» говорит только про тот шаг, на котором её применили.</a:t>
            </a:r>
          </a:p>
        </p:txBody>
      </p:sp>
      <p:sp>
        <p:nvSpPr>
          <p:cNvPr id="20" name="Rectangle 19"/>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BIO / QLS / Informa, Clinical Development Success Rates and Contributing Factors 2011–2020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Доля попаданий: с методом и без</a:t>
            </a:r>
          </a:p>
        </p:txBody>
      </p:sp>
      <p:sp>
        <p:nvSpPr>
          <p:cNvPr id="4" name="Rounded Rectangle 3"/>
          <p:cNvSpPr/>
          <p:nvPr/>
        </p:nvSpPr>
        <p:spPr>
          <a:xfrm>
            <a:off x="502920" y="1335024"/>
            <a:ext cx="5510631"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ПЕРЕБОР — ПОПАДАНИЯ</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1–2 процента</a:t>
            </a:r>
          </a:p>
        </p:txBody>
      </p:sp>
      <p:sp>
        <p:nvSpPr>
          <p:cNvPr id="7" name="TextBox 6"/>
          <p:cNvSpPr txBox="1"/>
          <p:nvPr/>
        </p:nvSpPr>
        <p:spPr>
          <a:xfrm>
            <a:off x="640080"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метод назван, знаменатель назван — это и отличает его от соседних заявленных долей</a:t>
            </a:r>
          </a:p>
        </p:txBody>
      </p:sp>
      <p:sp>
        <p:nvSpPr>
          <p:cNvPr id="8" name="Rounded Rectangle 7"/>
          <p:cNvSpPr/>
          <p:nvPr/>
        </p:nvSpPr>
        <p:spPr>
          <a:xfrm>
            <a:off x="6178143" y="1335024"/>
            <a:ext cx="5510631"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БИБЛИОТЕКА СОЕДИНЕНИЙ</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 одного до трёх миллионов</a:t>
            </a:r>
          </a:p>
        </p:txBody>
      </p:sp>
      <p:sp>
        <p:nvSpPr>
          <p:cNvPr id="11" name="TextBox 10"/>
          <p:cNvSpPr txBox="1"/>
          <p:nvPr/>
        </p:nvSpPr>
        <p:spPr>
          <a:xfrm>
            <a:off x="6315303"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физический перебор: столько соединений реально прогоняют через опыт</a:t>
            </a:r>
          </a:p>
        </p:txBody>
      </p:sp>
      <p:sp>
        <p:nvSpPr>
          <p:cNvPr id="12" name="Rounded Rectangle 11"/>
          <p:cNvSpPr/>
          <p:nvPr/>
        </p:nvSpPr>
        <p:spPr>
          <a:xfrm>
            <a:off x="374904" y="2803461"/>
            <a:ext cx="11441887" cy="2442647"/>
          </a:xfrm>
          <a:prstGeom prst="roundRect">
            <a:avLst>
              <a:gd name="adj" fmla="val 1247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894901"/>
            <a:ext cx="5373471" cy="334130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Классический физический перебор: метод назван, знаменатель назван.</a:t>
            </a:r>
            <a:r>
              <a:rPr sz="1500" b="0" i="0">
                <a:solidFill>
                  <a:srgbClr val="21295C"/>
                </a:solidFill>
                <a:latin typeface="Arial"/>
              </a:rPr>
              <a:t> Такое число можно оспорить — проверить состав библиотеки, пересчитать попадания.</a:t>
            </a:r>
          </a:p>
          <a:p>
            <a:pPr algn="l">
              <a:lnSpc>
                <a:spcPct val="126000"/>
              </a:lnSpc>
              <a:spcBef>
                <a:spcPts val="700"/>
              </a:spcBef>
            </a:pPr>
            <a:r>
              <a:rPr sz="1500" b="0" i="0">
                <a:solidFill>
                  <a:srgbClr val="21295C"/>
                </a:solidFill>
                <a:latin typeface="Arial"/>
              </a:rPr>
              <a:t/>
            </a:r>
            <a:r>
              <a:rPr sz="1500" b="0" i="0">
                <a:solidFill>
                  <a:srgbClr val="21295C"/>
                </a:solidFill>
                <a:latin typeface="Arial"/>
              </a:rPr>
              <a:t>Рядом в обзорах и на страницах агрегаторов — заявленные доля попаданий и экономия перехода от попадания к готовому соединению: </a:t>
            </a:r>
            <a:r>
              <a:rPr sz="1500" b="1" i="0">
                <a:solidFill>
                  <a:srgbClr val="21295C"/>
                </a:solidFill>
                <a:latin typeface="Arial"/>
              </a:rPr>
              <a:t>ни имени проекта · ни даты · ни публикации</a:t>
            </a:r>
            <a:r>
              <a:rPr sz="1500" b="0" i="0">
                <a:solidFill>
                  <a:srgbClr val="21295C"/>
                </a:solidFill>
                <a:latin typeface="Arial"/>
              </a:rPr>
              <a:t>.</a:t>
            </a:r>
          </a:p>
        </p:txBody>
      </p:sp>
      <p:sp>
        <p:nvSpPr>
          <p:cNvPr id="14" name="TextBox 13"/>
          <p:cNvSpPr txBox="1"/>
          <p:nvPr/>
        </p:nvSpPr>
        <p:spPr>
          <a:xfrm>
            <a:off x="6278727" y="2894901"/>
            <a:ext cx="5373471" cy="334130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Число без метода и знаменателя не оспорить — и это не признак того, что оно верно.</a:t>
            </a:r>
          </a:p>
          <a:p>
            <a:pPr algn="l">
              <a:lnSpc>
                <a:spcPct val="126000"/>
              </a:lnSpc>
              <a:spcBef>
                <a:spcPts val="700"/>
              </a:spcBef>
            </a:pPr>
            <a:r>
              <a:rPr sz="1500" b="0" i="0">
                <a:solidFill>
                  <a:srgbClr val="21295C"/>
                </a:solidFill>
                <a:latin typeface="Arial"/>
              </a:rPr>
              <a:t/>
            </a:r>
            <a:r>
              <a:rPr sz="1500" b="1" i="0">
                <a:solidFill>
                  <a:srgbClr val="21295C"/>
                </a:solidFill>
                <a:latin typeface="Arial"/>
              </a:rPr>
              <a:t>У кого был прототип, который собрали за месяц, а довести до рабочего состояния не вышло за год? Назовите в чат, что именно оказалось узким местом — одной строкой.</a:t>
            </a:r>
          </a:p>
        </p:txBody>
      </p:sp>
      <p:sp>
        <p:nvSpPr>
          <p:cNvPr id="15" name="Rectangle 14"/>
          <p:cNvSpPr/>
          <p:nvPr/>
        </p:nvSpPr>
        <p:spPr>
          <a:xfrm>
            <a:off x="6091275" y="2894901"/>
            <a:ext cx="9144" cy="2168327"/>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физический перебор библиотек соединений — отраслевой обзор скрининга, technologynetworks.com. Заявленные доли попаданий и экономия перехода без имени проекта и без даты — страницы агрегаторов intuitionlabs.ai и aimagicx.com</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Модель против классического перебора: два случая, где упал объём</a:t>
            </a:r>
          </a:p>
        </p:txBody>
      </p:sp>
      <p:sp>
        <p:nvSpPr>
          <p:cNvPr id="4" name="Rounded Rectangle 3"/>
          <p:cNvSpPr/>
          <p:nvPr/>
        </p:nvSpPr>
        <p:spPr>
          <a:xfrm>
            <a:off x="502920"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ПЕРЕБОР ГИПОТЕЗ ПО ГРАФУ СВЯЗЕЙ</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48 часов на гипотезу</a:t>
            </a:r>
          </a:p>
        </p:txBody>
      </p:sp>
      <p:sp>
        <p:nvSpPr>
          <p:cNvPr id="7" name="TextBox 6"/>
          <p:cNvSpPr txBox="1"/>
          <p:nvPr/>
        </p:nvSpPr>
        <p:spPr>
          <a:xfrm>
            <a:off x="640080"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недель и месяцев обзора литературы; подтверждение дала другая рука</a:t>
            </a:r>
          </a:p>
        </p:txBody>
      </p:sp>
      <p:sp>
        <p:nvSpPr>
          <p:cNvPr id="8" name="Rounded Rectangle 7"/>
          <p:cNvSpPr/>
          <p:nvPr/>
        </p:nvSpPr>
        <p:spPr>
          <a:xfrm>
            <a:off x="4286402"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РАСЧЁТНАЯ ОЦЕНКА СВЯЗЫВАНИЯ</a:t>
            </a:r>
          </a:p>
        </p:txBody>
      </p:sp>
      <p:sp>
        <p:nvSpPr>
          <p:cNvPr id="10" name="TextBox 9"/>
          <p:cNvSpPr txBox="1"/>
          <p:nvPr/>
        </p:nvSpPr>
        <p:spPr>
          <a:xfrm>
            <a:off x="4423562" y="1725375"/>
            <a:ext cx="3344570" cy="783472"/>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13 000 соединений под известную мишень</a:t>
            </a:r>
          </a:p>
        </p:txBody>
      </p:sp>
      <p:sp>
        <p:nvSpPr>
          <p:cNvPr id="11" name="TextBox 10"/>
          <p:cNvSpPr txBox="1"/>
          <p:nvPr/>
        </p:nvSpPr>
        <p:spPr>
          <a:xfrm>
            <a:off x="4423562" y="250884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цикл прогоняет от одного до трёх миллионов</a:t>
            </a:r>
          </a:p>
        </p:txBody>
      </p:sp>
      <p:sp>
        <p:nvSpPr>
          <p:cNvPr id="12" name="Rounded Rectangle 11"/>
          <p:cNvSpPr/>
          <p:nvPr/>
        </p:nvSpPr>
        <p:spPr>
          <a:xfrm>
            <a:off x="8069884" y="1335024"/>
            <a:ext cx="3618890" cy="1763648"/>
          </a:xfrm>
          <a:prstGeom prst="roundRect">
            <a:avLst>
              <a:gd name="adj" fmla="val 1728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ГОТОВОГО АКТИВА ПРИ ЭТОМ НЕ УПАЛА</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 млрд долларов авансом</a:t>
            </a:r>
          </a:p>
        </p:txBody>
      </p:sp>
      <p:sp>
        <p:nvSpPr>
          <p:cNvPr id="15" name="TextBox 14"/>
          <p:cNvSpPr txBox="1"/>
          <p:nvPr/>
        </p:nvSpPr>
        <p:spPr>
          <a:xfrm>
            <a:off x="8207044" y="2750268"/>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плюс до 2 млрд выплат по достижениям</a:t>
            </a:r>
          </a:p>
        </p:txBody>
      </p:sp>
      <p:sp>
        <p:nvSpPr>
          <p:cNvPr id="16" name="Rounded Rectangle 15"/>
          <p:cNvSpPr/>
          <p:nvPr/>
        </p:nvSpPr>
        <p:spPr>
          <a:xfrm>
            <a:off x="374904" y="3190112"/>
            <a:ext cx="11441887" cy="2531547"/>
          </a:xfrm>
          <a:prstGeom prst="roundRect">
            <a:avLst>
              <a:gd name="adj" fmla="val 1204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81552"/>
            <a:ext cx="5373471" cy="2954655"/>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Оба случая — про один и тот же шаг: подбор молекулы и выбор мишени.</a:t>
            </a:r>
          </a:p>
          <a:p>
            <a:pPr algn="l">
              <a:lnSpc>
                <a:spcPct val="126000"/>
              </a:lnSpc>
              <a:spcBef>
                <a:spcPts val="700"/>
              </a:spcBef>
            </a:pPr>
            <a:r>
              <a:rPr sz="1500" b="0" i="0">
                <a:solidFill>
                  <a:srgbClr val="21295C"/>
                </a:solidFill>
                <a:latin typeface="Arial"/>
              </a:rPr>
              <a:t/>
            </a:r>
            <a:r>
              <a:rPr sz="1500" b="0" i="0">
                <a:solidFill>
                  <a:srgbClr val="21295C"/>
                </a:solidFill>
                <a:latin typeface="Arial"/>
              </a:rPr>
              <a:t>• найденный по графу препарат </a:t>
            </a:r>
            <a:r>
              <a:rPr sz="1500" b="1" i="0">
                <a:solidFill>
                  <a:srgbClr val="21295C"/>
                </a:solidFill>
                <a:latin typeface="Arial"/>
              </a:rPr>
              <a:t>уже был одобрен</a:t>
            </a:r>
            <a:r>
              <a:rPr sz="1500" b="0" i="0">
                <a:solidFill>
                  <a:srgbClr val="21295C"/>
                </a:solidFill>
                <a:latin typeface="Arial"/>
              </a:rPr>
              <a:t> по другому показанию: токсикология, дозирование и производство для него существовали</a:t>
            </a:r>
          </a:p>
        </p:txBody>
      </p:sp>
      <p:sp>
        <p:nvSpPr>
          <p:cNvPr id="18" name="TextBox 17"/>
          <p:cNvSpPr txBox="1"/>
          <p:nvPr/>
        </p:nvSpPr>
        <p:spPr>
          <a:xfrm>
            <a:off x="6278727" y="3281552"/>
            <a:ext cx="5373471" cy="2954655"/>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это поиск среди уже безопасных веществ, и такой класс задачи дешевле прочих</a:t>
            </a:r>
          </a:p>
          <a:p>
            <a:pPr algn="l">
              <a:lnSpc>
                <a:spcPct val="126000"/>
              </a:lnSpc>
              <a:spcBef>
                <a:spcPts val="700"/>
              </a:spcBef>
            </a:pPr>
            <a:r>
              <a:rPr sz="1500" b="0" i="0">
                <a:solidFill>
                  <a:srgbClr val="21295C"/>
                </a:solidFill>
                <a:latin typeface="Arial"/>
              </a:rPr>
              <a:t/>
            </a:r>
            <a:r>
              <a:rPr sz="1500" b="0" i="0">
                <a:solidFill>
                  <a:srgbClr val="21295C"/>
                </a:solidFill>
                <a:latin typeface="Arial"/>
              </a:rPr>
              <a:t>• для нового патогена, по которому литературы почти нет, классический путь не работает вовсе — и это важная часть выигрыша</a:t>
            </a:r>
          </a:p>
          <a:p>
            <a:pPr algn="l">
              <a:lnSpc>
                <a:spcPct val="126000"/>
              </a:lnSpc>
              <a:spcBef>
                <a:spcPts val="700"/>
              </a:spcBef>
            </a:pPr>
            <a:r>
              <a:rPr sz="1500" b="0" i="0">
                <a:solidFill>
                  <a:srgbClr val="21295C"/>
                </a:solidFill>
                <a:latin typeface="Arial"/>
              </a:rPr>
              <a:t/>
            </a:r>
            <a:r>
              <a:rPr sz="1500" b="1" i="0">
                <a:solidFill>
                  <a:srgbClr val="21295C"/>
                </a:solidFill>
                <a:latin typeface="Arial"/>
              </a:rPr>
              <a:t>Упал объём физических итераций. Цена результата осталась.</a:t>
            </a:r>
          </a:p>
        </p:txBody>
      </p:sp>
      <p:sp>
        <p:nvSpPr>
          <p:cNvPr id="19" name="Rectangle 18"/>
          <p:cNvSpPr/>
          <p:nvPr/>
        </p:nvSpPr>
        <p:spPr>
          <a:xfrm>
            <a:off x="6091275" y="3281552"/>
            <a:ext cx="9144" cy="2257227"/>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Граф биомедицинских связей: раскрытие разработчика, 2020, и рецензируемый обзор перепрофилирования, PMC9231077, 2022</a:t>
            </a:r>
            <a:r>
              <a:rPr sz="1200" b="0" i="1">
                <a:solidFill>
                  <a:srgbClr val="1C7293"/>
                </a:solidFill>
                <a:latin typeface="Arial"/>
              </a:rPr>
              <a:t> · </a:t>
            </a:r>
            <a:r>
              <a:rPr sz="1200" b="0" i="1">
                <a:solidFill>
                  <a:srgbClr val="1C7293"/>
                </a:solidFill>
                <a:latin typeface="Arial"/>
              </a:rPr>
              <a:t>расчётная оценка связывания и условия сделки по готовому активу: отраслевая журналистика 2025–2026 и публичные раскрытия покупателя</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молекула за год</a:t>
            </a:r>
          </a:p>
        </p:txBody>
      </p:sp>
      <p:sp>
        <p:nvSpPr>
          <p:cNvPr id="4" name="Rounded Rectangle 3"/>
          <p:cNvSpPr/>
          <p:nvPr/>
        </p:nvSpPr>
        <p:spPr>
          <a:xfrm>
            <a:off x="502920" y="1335024"/>
            <a:ext cx="5510631"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ДОКЛИНИКА</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меньше двенадцати месяцев</a:t>
            </a:r>
          </a:p>
        </p:txBody>
      </p:sp>
      <p:sp>
        <p:nvSpPr>
          <p:cNvPr id="7" name="TextBox 6"/>
          <p:cNvSpPr txBox="1"/>
          <p:nvPr/>
        </p:nvSpPr>
        <p:spPr>
          <a:xfrm>
            <a:off x="640080"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заявление самой компании; что считалось началом и концом интервала, публично не раскрыто</a:t>
            </a:r>
          </a:p>
        </p:txBody>
      </p:sp>
      <p:sp>
        <p:nvSpPr>
          <p:cNvPr id="8" name="Rounded Rectangle 7"/>
          <p:cNvSpPr/>
          <p:nvPr/>
        </p:nvSpPr>
        <p:spPr>
          <a:xfrm>
            <a:off x="6178143" y="1335024"/>
            <a:ext cx="5510631"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ОТРАСЛЕВАЯ НОРМА ДЛЯ ЭТОГО КЛАССА МИШЕНЕЙ</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четыре с половиной года</a:t>
            </a:r>
          </a:p>
        </p:txBody>
      </p:sp>
      <p:sp>
        <p:nvSpPr>
          <p:cNvPr id="11" name="TextBox 10"/>
          <p:cNvSpPr txBox="1"/>
          <p:nvPr/>
        </p:nvSpPr>
        <p:spPr>
          <a:xfrm>
            <a:off x="6315303"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тоже оценка самой компании: обе половины сравнения исходят от одной заинтересованной стороны, независимой статистики нет</a:t>
            </a:r>
          </a:p>
        </p:txBody>
      </p:sp>
      <p:sp>
        <p:nvSpPr>
          <p:cNvPr id="12" name="Rounded Rectangle 11"/>
          <p:cNvSpPr/>
          <p:nvPr/>
        </p:nvSpPr>
        <p:spPr>
          <a:xfrm>
            <a:off x="374904" y="2803461"/>
            <a:ext cx="11441887" cy="2234486"/>
          </a:xfrm>
          <a:prstGeom prst="roundRect">
            <a:avLst>
              <a:gd name="adj" fmla="val 13640"/>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894901"/>
            <a:ext cx="5373471" cy="334130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Показание — навязчивое расстройство. Молекула спроектирована моделью целиком и вошла в клинику человека в январе 2020 года.</a:t>
            </a:r>
          </a:p>
          <a:p>
            <a:pPr algn="l">
              <a:lnSpc>
                <a:spcPct val="126000"/>
              </a:lnSpc>
              <a:spcBef>
                <a:spcPts val="700"/>
              </a:spcBef>
            </a:pPr>
            <a:r>
              <a:rPr sz="1500" b="0" i="0">
                <a:solidFill>
                  <a:srgbClr val="21295C"/>
                </a:solidFill>
                <a:latin typeface="Arial"/>
              </a:rPr>
              <a:t/>
            </a:r>
            <a:r>
              <a:rPr sz="1500" b="0" i="0">
                <a:solidFill>
                  <a:srgbClr val="21295C"/>
                </a:solidFill>
                <a:latin typeface="Arial"/>
              </a:rPr>
              <a:t>Этот случай был флагманом всей категории: первая малая молекула, дошедшая до испытаний на человеке.</a:t>
            </a:r>
          </a:p>
        </p:txBody>
      </p:sp>
      <p:sp>
        <p:nvSpPr>
          <p:cNvPr id="14" name="TextBox 13"/>
          <p:cNvSpPr txBox="1"/>
          <p:nvPr/>
        </p:nvSpPr>
        <p:spPr>
          <a:xfrm>
            <a:off x="6278727" y="2894901"/>
            <a:ext cx="5373471" cy="334130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оба числа — доклиника и норма — </a:t>
            </a:r>
            <a:r>
              <a:rPr sz="1500" b="1" i="0">
                <a:solidFill>
                  <a:srgbClr val="21295C"/>
                </a:solidFill>
                <a:latin typeface="Arial"/>
              </a:rPr>
              <a:t>заявления самой компании</a:t>
            </a:r>
          </a:p>
          <a:p>
            <a:pPr algn="l">
              <a:lnSpc>
                <a:spcPct val="126000"/>
              </a:lnSpc>
              <a:spcBef>
                <a:spcPts val="700"/>
              </a:spcBef>
            </a:pPr>
            <a:r>
              <a:rPr sz="1500" b="0" i="0">
                <a:solidFill>
                  <a:srgbClr val="21295C"/>
                </a:solidFill>
                <a:latin typeface="Arial"/>
              </a:rPr>
              <a:t/>
            </a:r>
            <a:r>
              <a:rPr sz="1500" b="0" i="0">
                <a:solidFill>
                  <a:srgbClr val="21295C"/>
                </a:solidFill>
                <a:latin typeface="Arial"/>
              </a:rPr>
              <a:t>• что входило в двенадцать месяцев, публично не раскрыто</a:t>
            </a:r>
          </a:p>
          <a:p>
            <a:pPr algn="l">
              <a:lnSpc>
                <a:spcPct val="126000"/>
              </a:lnSpc>
              <a:spcBef>
                <a:spcPts val="700"/>
              </a:spcBef>
            </a:pPr>
            <a:r>
              <a:rPr sz="1500" b="0" i="0">
                <a:solidFill>
                  <a:srgbClr val="21295C"/>
                </a:solidFill>
                <a:latin typeface="Arial"/>
              </a:rPr>
              <a:t/>
            </a:r>
            <a:r>
              <a:rPr sz="1500" b="0" i="0">
                <a:solidFill>
                  <a:srgbClr val="21295C"/>
                </a:solidFill>
                <a:latin typeface="Arial"/>
              </a:rPr>
              <a:t>• единственная отраслевая величина, которой разбор располагает, — четыре-пять лет на путь целиком, и она заявленную норму ни подтверждает, ни опровергает</a:t>
            </a:r>
          </a:p>
        </p:txBody>
      </p:sp>
      <p:sp>
        <p:nvSpPr>
          <p:cNvPr id="15" name="Rectangle 14"/>
          <p:cNvSpPr/>
          <p:nvPr/>
        </p:nvSpPr>
        <p:spPr>
          <a:xfrm>
            <a:off x="6091275" y="2894901"/>
            <a:ext cx="9144" cy="1960166"/>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Отраслевой дайджест о первых спроектированных моделью кандидатах в клинике, CAS Insights, cas.org; независимые пересказы снятия молекулы на первой фазе, 2022. Первоисточник заявления о причине снятия не найден</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молекулу сняли на первой фазе</a:t>
            </a:r>
          </a:p>
        </p:txBody>
      </p:sp>
      <p:sp>
        <p:nvSpPr>
          <p:cNvPr id="4" name="Rounded Rectangle 3"/>
          <p:cNvSpPr/>
          <p:nvPr/>
        </p:nvSpPr>
        <p:spPr>
          <a:xfrm>
            <a:off x="502920" y="1335024"/>
            <a:ext cx="3618890"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ВОШЛА В КЛИНИКУ</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январь 2020</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первая малая молекула, спроектированная моделью целиком и дошедшая до человека</a:t>
            </a:r>
          </a:p>
        </p:txBody>
      </p:sp>
      <p:sp>
        <p:nvSpPr>
          <p:cNvPr id="8" name="Rounded Rectangle 7"/>
          <p:cNvSpPr/>
          <p:nvPr/>
        </p:nvSpPr>
        <p:spPr>
          <a:xfrm>
            <a:off x="4286402" y="1335024"/>
            <a:ext cx="3618890"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СНЯТА</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январь 2022</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удовлетворила критериям исследования на первой фазе; точная причина публично не детализирована</a:t>
            </a:r>
          </a:p>
        </p:txBody>
      </p:sp>
      <p:sp>
        <p:nvSpPr>
          <p:cNvPr id="12" name="Rounded Rectangle 11"/>
          <p:cNvSpPr/>
          <p:nvPr/>
        </p:nvSpPr>
        <p:spPr>
          <a:xfrm>
            <a:off x="8069884" y="1335024"/>
            <a:ext cx="3618890" cy="1588240"/>
          </a:xfrm>
          <a:prstGeom prst="roundRect">
            <a:avLst>
              <a:gd name="adj" fmla="val 1919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ОТРАСЛИ: ПЕРЕХОД ФАЗЫ I</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52,0 процента</a:t>
            </a:r>
          </a:p>
        </p:txBody>
      </p:sp>
      <p:sp>
        <p:nvSpPr>
          <p:cNvPr id="15" name="TextBox 14"/>
          <p:cNvSpPr txBox="1"/>
          <p:nvPr/>
        </p:nvSpPr>
        <p:spPr>
          <a:xfrm>
            <a:off x="8207044"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исход ровно такой, какой предсказывает база: обычный отсев, ничего исключительного не произошло</a:t>
            </a:r>
          </a:p>
        </p:txBody>
      </p:sp>
      <p:sp>
        <p:nvSpPr>
          <p:cNvPr id="16" name="Rounded Rectangle 15"/>
          <p:cNvSpPr/>
          <p:nvPr/>
        </p:nvSpPr>
        <p:spPr>
          <a:xfrm>
            <a:off x="374904" y="3014704"/>
            <a:ext cx="11441887" cy="2026762"/>
          </a:xfrm>
          <a:prstGeom prst="roundRect">
            <a:avLst>
              <a:gd name="adj" fmla="val 1503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06144"/>
            <a:ext cx="5373471" cy="313006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Нагрузка переехала на другой шаг.</a:t>
            </a:r>
            <a:r>
              <a:rPr sz="1500" b="0" i="0">
                <a:solidFill>
                  <a:srgbClr val="21295C"/>
                </a:solidFill>
                <a:latin typeface="Arial"/>
              </a:rPr>
              <a:t> Доклиника сжалась в месяцы — переносимость у людей осталась там же, той же длины и у того же исполнителя, и она же остановила проект.</a:t>
            </a:r>
          </a:p>
        </p:txBody>
      </p:sp>
      <p:sp>
        <p:nvSpPr>
          <p:cNvPr id="18" name="TextBox 17"/>
          <p:cNvSpPr txBox="1"/>
          <p:nvPr/>
        </p:nvSpPr>
        <p:spPr>
          <a:xfrm>
            <a:off x="6278727" y="3106144"/>
            <a:ext cx="5373471" cy="313006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дало</a:t>
            </a:r>
            <a:r>
              <a:rPr sz="1500" b="0" i="0">
                <a:solidFill>
                  <a:srgbClr val="21295C"/>
                </a:solidFill>
                <a:latin typeface="Arial"/>
              </a:rPr>
              <a:t> доклинический этап меньше года вместо нескольких лет · </a:t>
            </a:r>
            <a:r>
              <a:rPr sz="1500" b="1" i="0">
                <a:solidFill>
                  <a:srgbClr val="21295C"/>
                </a:solidFill>
                <a:latin typeface="Arial"/>
              </a:rPr>
              <a:t>потребовало</a:t>
            </a:r>
            <a:r>
              <a:rPr sz="1500" b="0" i="0">
                <a:solidFill>
                  <a:srgbClr val="21295C"/>
                </a:solidFill>
                <a:latin typeface="Arial"/>
              </a:rPr>
              <a:t> той же первой фазы, той же длины, у тех же людей · </a:t>
            </a:r>
            <a:r>
              <a:rPr sz="1500" b="1" i="0">
                <a:solidFill>
                  <a:srgbClr val="21295C"/>
                </a:solidFill>
                <a:latin typeface="Arial"/>
              </a:rPr>
              <a:t>в сумме</a:t>
            </a:r>
            <a:r>
              <a:rPr sz="1500" b="0" i="0">
                <a:solidFill>
                  <a:srgbClr val="21295C"/>
                </a:solidFill>
                <a:latin typeface="Arial"/>
              </a:rPr>
              <a:t> молекула снята, и отсев этот предсказан базой отрасли</a:t>
            </a:r>
          </a:p>
          <a:p>
            <a:pPr algn="l">
              <a:lnSpc>
                <a:spcPct val="126000"/>
              </a:lnSpc>
              <a:spcBef>
                <a:spcPts val="700"/>
              </a:spcBef>
            </a:pPr>
            <a:r>
              <a:rPr sz="1200" b="0" i="0">
                <a:solidFill>
                  <a:srgbClr val="21295C"/>
                </a:solidFill>
                <a:latin typeface="Arial"/>
              </a:rPr>
              <a:t/>
            </a:r>
            <a:r>
              <a:rPr sz="1200" b="0" i="1">
                <a:solidFill>
                  <a:srgbClr val="1C7293"/>
                </a:solidFill>
                <a:latin typeface="Arial"/>
              </a:rPr>
              <a:t>Об успехе доклиники было известно подробно, о провале — из одной строки.</a:t>
            </a:r>
          </a:p>
        </p:txBody>
      </p:sp>
      <p:sp>
        <p:nvSpPr>
          <p:cNvPr id="19" name="Rectangle 18"/>
          <p:cNvSpPr/>
          <p:nvPr/>
        </p:nvSpPr>
        <p:spPr>
          <a:xfrm>
            <a:off x="6091275" y="3106144"/>
            <a:ext cx="9144" cy="1752442"/>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Независимые пересказы снятия молекулы на первой фазе, 2022</a:t>
            </a:r>
            <a:r>
              <a:rPr sz="1200" b="0" i="1">
                <a:solidFill>
                  <a:srgbClr val="1C7293"/>
                </a:solidFill>
                <a:latin typeface="Arial"/>
              </a:rPr>
              <a:t> · </a:t>
            </a:r>
            <a:r>
              <a:rPr sz="1200" b="0" i="1" u="sng">
                <a:solidFill>
                  <a:srgbClr val="065A82"/>
                </a:solidFill>
                <a:latin typeface="Arial"/>
                <a:hlinkClick r:id="rId2"/>
              </a:rPr>
              <a:t>BIO / QLS / Informa, Clinical Development Success Rates and Contributing Factors 2011–2020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воронка молекул модельного происхождения</a:t>
            </a:r>
          </a:p>
        </p:txBody>
      </p:sp>
      <p:sp>
        <p:nvSpPr>
          <p:cNvPr id="4" name="Rounded Rectangle 3"/>
          <p:cNvSpPr/>
          <p:nvPr/>
        </p:nvSpPr>
        <p:spPr>
          <a:xfrm>
            <a:off x="502920"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ПЕРЕХОД ФАЗЫ II У МОЛЕКУЛ МОДЕЛЬНОГО ПРОИСХОЖДЕНИЯ</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около 40 процентов</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посчитано на единицах, завершивших фазу к сроку среза</a:t>
            </a:r>
          </a:p>
        </p:txBody>
      </p:sp>
      <p:sp>
        <p:nvSpPr>
          <p:cNvPr id="8" name="Rounded Rectangle 7"/>
          <p:cNvSpPr/>
          <p:nvPr/>
        </p:nvSpPr>
        <p:spPr>
          <a:xfrm>
            <a:off x="4286402"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 ОТРАСЛИ</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28,9 процента</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4 933 перехода; вес двух сторон различается на три порядка</a:t>
            </a:r>
          </a:p>
        </p:txBody>
      </p:sp>
      <p:sp>
        <p:nvSpPr>
          <p:cNvPr id="12" name="Rounded Rectangle 11"/>
          <p:cNvSpPr/>
          <p:nvPr/>
        </p:nvSpPr>
        <p:spPr>
          <a:xfrm>
            <a:off x="8069884" y="1335024"/>
            <a:ext cx="3618890"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ФАЗА I У ТЕХ ЖЕ МОЛЕКУЛ</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80–90 против 52,0</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авторы замера говорят о заметном превосходстве над средними отрасли</a:t>
            </a:r>
          </a:p>
        </p:txBody>
      </p:sp>
      <p:sp>
        <p:nvSpPr>
          <p:cNvPr id="16" name="Rounded Rectangle 15"/>
          <p:cNvSpPr/>
          <p:nvPr/>
        </p:nvSpPr>
        <p:spPr>
          <a:xfrm>
            <a:off x="374904" y="3010932"/>
            <a:ext cx="11441887" cy="2234486"/>
          </a:xfrm>
          <a:prstGeom prst="roundRect">
            <a:avLst>
              <a:gd name="adj" fmla="val 1364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02372"/>
            <a:ext cx="5373471" cy="3133835"/>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Это переход против перехода: одна и та же дробь с обеих сторон — единственное сопоставимое сравнение раздела.</a:t>
            </a:r>
          </a:p>
          <a:p>
            <a:pPr algn="l">
              <a:lnSpc>
                <a:spcPct val="126000"/>
              </a:lnSpc>
              <a:spcBef>
                <a:spcPts val="700"/>
              </a:spcBef>
            </a:pPr>
            <a:r>
              <a:rPr sz="1500" b="0" i="0">
                <a:solidFill>
                  <a:srgbClr val="21295C"/>
                </a:solidFill>
                <a:latin typeface="Arial"/>
              </a:rPr>
              <a:t/>
            </a:r>
            <a:r>
              <a:rPr sz="1500" b="0" i="0">
                <a:solidFill>
                  <a:srgbClr val="21295C"/>
                </a:solidFill>
                <a:latin typeface="Arial"/>
              </a:rPr>
              <a:t>• одно число опирается на тысячи наблюдений, другое на единицы: разница в весе — три порядка</a:t>
            </a:r>
          </a:p>
          <a:p>
            <a:pPr algn="l">
              <a:lnSpc>
                <a:spcPct val="126000"/>
              </a:lnSpc>
              <a:spcBef>
                <a:spcPts val="700"/>
              </a:spcBef>
            </a:pPr>
            <a:r>
              <a:rPr sz="1500" b="0" i="0">
                <a:solidFill>
                  <a:srgbClr val="21295C"/>
                </a:solidFill>
                <a:latin typeface="Arial"/>
              </a:rPr>
              <a:t/>
            </a:r>
            <a:r>
              <a:rPr sz="1500" b="0" i="0">
                <a:solidFill>
                  <a:srgbClr val="21295C"/>
                </a:solidFill>
                <a:latin typeface="Arial"/>
              </a:rPr>
              <a:t>• первоисточник напрямую не открылся, числа взяты из трёх согласующихся пересказов — сверка вторичная</a:t>
            </a:r>
          </a:p>
        </p:txBody>
      </p:sp>
      <p:sp>
        <p:nvSpPr>
          <p:cNvPr id="18" name="TextBox 17"/>
          <p:cNvSpPr txBox="1"/>
          <p:nvPr/>
        </p:nvSpPr>
        <p:spPr>
          <a:xfrm>
            <a:off x="6278727" y="3102372"/>
            <a:ext cx="5373471" cy="3133835"/>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a:t>
            </a:r>
            <a:r>
              <a:rPr sz="1500" b="1" i="0">
                <a:solidFill>
                  <a:srgbClr val="21295C"/>
                </a:solidFill>
                <a:latin typeface="Arial"/>
              </a:rPr>
              <a:t>75</a:t>
            </a:r>
            <a:r>
              <a:rPr sz="1500" b="0" i="0">
                <a:solidFill>
                  <a:srgbClr val="21295C"/>
                </a:solidFill>
                <a:latin typeface="Arial"/>
              </a:rPr>
              <a:t> молекул, вошедших в клинику с 2015 года, — это вся совокупность категории, а </a:t>
            </a:r>
            <a:r>
              <a:rPr sz="1500" b="1" i="0">
                <a:solidFill>
                  <a:srgbClr val="21295C"/>
                </a:solidFill>
                <a:latin typeface="Arial"/>
              </a:rPr>
              <a:t>не</a:t>
            </a:r>
            <a:r>
              <a:rPr sz="1500" b="0" i="0">
                <a:solidFill>
                  <a:srgbClr val="21295C"/>
                </a:solidFill>
                <a:latin typeface="Arial"/>
              </a:rPr>
              <a:t> знаменатель второй фазы</a:t>
            </a:r>
          </a:p>
          <a:p>
            <a:pPr algn="l">
              <a:lnSpc>
                <a:spcPct val="126000"/>
              </a:lnSpc>
              <a:spcBef>
                <a:spcPts val="700"/>
              </a:spcBef>
            </a:pPr>
            <a:r>
              <a:rPr sz="1500" b="0" i="0">
                <a:solidFill>
                  <a:srgbClr val="21295C"/>
                </a:solidFill>
                <a:latin typeface="Arial"/>
              </a:rPr>
              <a:t/>
            </a:r>
            <a:r>
              <a:rPr sz="1500" b="1" i="0">
                <a:solidFill>
                  <a:srgbClr val="21295C"/>
                </a:solidFill>
                <a:latin typeface="Arial"/>
              </a:rPr>
              <a:t>Не хуже базы.</a:t>
            </a:r>
            <a:r>
              <a:rPr sz="1500" b="0" i="0">
                <a:solidFill>
                  <a:srgbClr val="21295C"/>
                </a:solidFill>
                <a:latin typeface="Arial"/>
              </a:rPr>
              <a:t> Авторы замера называют результат сопоставимым с отраслевой нормой; лучшим они его не называют.</a:t>
            </a:r>
          </a:p>
        </p:txBody>
      </p:sp>
      <p:sp>
        <p:nvSpPr>
          <p:cNvPr id="19" name="Rectangle 18"/>
          <p:cNvSpPr/>
          <p:nvPr/>
        </p:nvSpPr>
        <p:spPr>
          <a:xfrm>
            <a:off x="6091275" y="3102372"/>
            <a:ext cx="9144" cy="1960166"/>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Jayatunga и соавт., Drug Discovery Today, 2024</a:t>
            </a:r>
            <a:r>
              <a:rPr sz="1200" b="0" i="1">
                <a:solidFill>
                  <a:srgbClr val="1C7293"/>
                </a:solidFill>
                <a:latin typeface="Arial"/>
              </a:rPr>
              <a:t> · </a:t>
            </a:r>
            <a:r>
              <a:rPr sz="1200" b="0" i="1" u="sng">
                <a:solidFill>
                  <a:srgbClr val="065A82"/>
                </a:solidFill>
                <a:latin typeface="Arial"/>
                <a:hlinkClick r:id="rId3"/>
              </a:rPr>
              <a:t>BIO / QLS / Informa, Clinical Development Success Rates 2011–2020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Пример 2, цена: одобрений — ноль, и нагрузка стоит там, где её и было больше всего</a:t>
            </a:r>
          </a:p>
        </p:txBody>
      </p:sp>
      <p:sp>
        <p:nvSpPr>
          <p:cNvPr id="4" name="Rounded Rectangle 3"/>
          <p:cNvSpPr/>
          <p:nvPr/>
        </p:nvSpPr>
        <p:spPr>
          <a:xfrm>
            <a:off x="502920"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ОДОБРЕНИЙ РЕГУЛЯТОРА</a:t>
            </a:r>
          </a:p>
        </p:txBody>
      </p:sp>
      <p:sp>
        <p:nvSpPr>
          <p:cNvPr id="6" name="TextBox 5"/>
          <p:cNvSpPr txBox="1"/>
          <p:nvPr/>
        </p:nvSpPr>
        <p:spPr>
          <a:xfrm>
            <a:off x="640080"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a:t>
            </a:r>
          </a:p>
        </p:txBody>
      </p:sp>
      <p:sp>
        <p:nvSpPr>
          <p:cNvPr id="7" name="Rounded Rectangle 6"/>
          <p:cNvSpPr/>
          <p:nvPr/>
        </p:nvSpPr>
        <p:spPr>
          <a:xfrm>
            <a:off x="3340531"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АКТИВОВ В КЛИНИКЕ — ПЕРВЫЙ ЗАМЕР</a:t>
            </a:r>
          </a:p>
        </p:txBody>
      </p:sp>
      <p:sp>
        <p:nvSpPr>
          <p:cNvPr id="9" name="TextBox 8"/>
          <p:cNvSpPr txBox="1"/>
          <p:nvPr/>
        </p:nvSpPr>
        <p:spPr>
          <a:xfrm>
            <a:off x="3477691"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75 молекул</a:t>
            </a:r>
          </a:p>
        </p:txBody>
      </p:sp>
      <p:sp>
        <p:nvSpPr>
          <p:cNvPr id="10" name="TextBox 9"/>
          <p:cNvSpPr txBox="1"/>
          <p:nvPr/>
        </p:nvSpPr>
        <p:spPr>
          <a:xfrm>
            <a:off x="3477691"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вошли в клинику с 2015 года, 67 в процессе</a:t>
            </a:r>
          </a:p>
        </p:txBody>
      </p:sp>
      <p:sp>
        <p:nvSpPr>
          <p:cNvPr id="11" name="Rounded Rectangle 10"/>
          <p:cNvSpPr/>
          <p:nvPr/>
        </p:nvSpPr>
        <p:spPr>
          <a:xfrm>
            <a:off x="6178143"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АКТИВОВ В КЛИНИКЕ — ВТОРОЙ ЗАМЕР</a:t>
            </a:r>
          </a:p>
        </p:txBody>
      </p:sp>
      <p:sp>
        <p:nvSpPr>
          <p:cNvPr id="13" name="TextBox 12"/>
          <p:cNvSpPr txBox="1"/>
          <p:nvPr/>
        </p:nvSpPr>
        <p:spPr>
          <a:xfrm>
            <a:off x="6315303"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117 активов от 63 компаний</a:t>
            </a:r>
          </a:p>
        </p:txBody>
      </p:sp>
      <p:sp>
        <p:nvSpPr>
          <p:cNvPr id="14" name="TextBox 13"/>
          <p:cNvSpPr txBox="1"/>
          <p:nvPr/>
        </p:nvSpPr>
        <p:spPr>
          <a:xfrm>
            <a:off x="6315303"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сам источник называет 117 верхней границей</a:t>
            </a:r>
          </a:p>
        </p:txBody>
      </p:sp>
      <p:sp>
        <p:nvSpPr>
          <p:cNvPr id="15" name="Rounded Rectangle 14"/>
          <p:cNvSpPr/>
          <p:nvPr/>
        </p:nvSpPr>
        <p:spPr>
          <a:xfrm>
            <a:off x="9015755" y="1335024"/>
            <a:ext cx="2673019"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16" name="TextBox 15"/>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ЗАВЕРШИЛИ ФАЗУ II — ДОЛЯ ЗАВЕРШИВШИХ, НЕ ПЕРЕХОД</a:t>
            </a:r>
          </a:p>
        </p:txBody>
      </p:sp>
      <p:sp>
        <p:nvSpPr>
          <p:cNvPr id="17" name="TextBox 16"/>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8 активов из 117</a:t>
            </a:r>
          </a:p>
        </p:txBody>
      </p:sp>
      <p:sp>
        <p:nvSpPr>
          <p:cNvPr id="18" name="TextBox 17"/>
          <p:cNvSpPr txBox="1"/>
          <p:nvPr/>
        </p:nvSpPr>
        <p:spPr>
          <a:xfrm>
            <a:off x="9152915" y="2359845"/>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6,8 процента, срез 1 декабря 2025; с 28,9 процента перехода не складывается</a:t>
            </a:r>
          </a:p>
        </p:txBody>
      </p:sp>
      <p:sp>
        <p:nvSpPr>
          <p:cNvPr id="19" name="Rounded Rectangle 18"/>
          <p:cNvSpPr/>
          <p:nvPr/>
        </p:nvSpPr>
        <p:spPr>
          <a:xfrm>
            <a:off x="374904" y="3401355"/>
            <a:ext cx="11441887" cy="2531547"/>
          </a:xfrm>
          <a:prstGeom prst="roundRect">
            <a:avLst>
              <a:gd name="adj" fmla="val 12040"/>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539496" y="3492795"/>
            <a:ext cx="5373471" cy="274341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Одобрений регулятора — </a:t>
            </a:r>
            <a:r>
              <a:rPr sz="1500" b="1" i="0">
                <a:solidFill>
                  <a:srgbClr val="21295C"/>
                </a:solidFill>
                <a:latin typeface="Arial"/>
              </a:rPr>
              <a:t>ноль</a:t>
            </a:r>
            <a:r>
              <a:rPr sz="1500" b="0" i="0">
                <a:solidFill>
                  <a:srgbClr val="21295C"/>
                </a:solidFill>
                <a:latin typeface="Arial"/>
              </a:rPr>
              <a:t>. За десять лет существования категории, при десятках активов в клинике по двум независимым замерам.</a:t>
            </a:r>
          </a:p>
          <a:p>
            <a:pPr algn="l">
              <a:lnSpc>
                <a:spcPct val="126000"/>
              </a:lnSpc>
              <a:spcBef>
                <a:spcPts val="700"/>
              </a:spcBef>
            </a:pPr>
            <a:r>
              <a:rPr sz="1500" b="0" i="0">
                <a:solidFill>
                  <a:srgbClr val="21295C"/>
                </a:solidFill>
                <a:latin typeface="Arial"/>
              </a:rPr>
              <a:t/>
            </a:r>
            <a:r>
              <a:rPr sz="1500" b="1" i="0">
                <a:solidFill>
                  <a:srgbClr val="21295C"/>
                </a:solidFill>
                <a:latin typeface="Arial"/>
              </a:rPr>
              <a:t>Нагрузка переехала на другой шаг — на масштабе всей отрасли.</a:t>
            </a:r>
            <a:r>
              <a:rPr sz="1500" b="0" i="0">
                <a:solidFill>
                  <a:srgbClr val="21295C"/>
                </a:solidFill>
                <a:latin typeface="Arial"/>
              </a:rPr>
              <a:t> Ранний шаг подешевел, и весь объём работы оказался в клинических фазах, которые не подешевели.</a:t>
            </a:r>
          </a:p>
        </p:txBody>
      </p:sp>
      <p:sp>
        <p:nvSpPr>
          <p:cNvPr id="21" name="TextBox 20"/>
          <p:cNvSpPr txBox="1"/>
          <p:nvPr/>
        </p:nvSpPr>
        <p:spPr>
          <a:xfrm>
            <a:off x="6278727" y="3492795"/>
            <a:ext cx="5373471" cy="274341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«больше двухсот молекул в клинике» в этом разделе не произносится: оба реальных замера дают </a:t>
            </a:r>
            <a:r>
              <a:rPr sz="1500" b="1" i="0">
                <a:solidFill>
                  <a:srgbClr val="21295C"/>
                </a:solidFill>
                <a:latin typeface="Arial"/>
              </a:rPr>
              <a:t>75</a:t>
            </a:r>
            <a:r>
              <a:rPr sz="1500" b="0" i="0">
                <a:solidFill>
                  <a:srgbClr val="21295C"/>
                </a:solidFill>
                <a:latin typeface="Arial"/>
              </a:rPr>
              <a:t> и </a:t>
            </a:r>
            <a:r>
              <a:rPr sz="1500" b="1" i="0">
                <a:solidFill>
                  <a:srgbClr val="21295C"/>
                </a:solidFill>
                <a:latin typeface="Arial"/>
              </a:rPr>
              <a:t>117</a:t>
            </a:r>
          </a:p>
          <a:p>
            <a:pPr algn="l">
              <a:lnSpc>
                <a:spcPct val="126000"/>
              </a:lnSpc>
              <a:spcBef>
                <a:spcPts val="700"/>
              </a:spcBef>
            </a:pPr>
            <a:r>
              <a:rPr sz="1500" b="0" i="0">
                <a:solidFill>
                  <a:srgbClr val="21295C"/>
                </a:solidFill>
                <a:latin typeface="Arial"/>
              </a:rPr>
              <a:t/>
            </a:r>
            <a:r>
              <a:rPr sz="1500" b="0" i="0">
                <a:solidFill>
                  <a:srgbClr val="21295C"/>
                </a:solidFill>
                <a:latin typeface="Arial"/>
              </a:rPr>
              <a:t>• разряд второго замера назван прямо: рецензируемый абстракт съезда, не полная статья</a:t>
            </a:r>
          </a:p>
          <a:p>
            <a:pPr algn="l">
              <a:lnSpc>
                <a:spcPct val="126000"/>
              </a:lnSpc>
              <a:spcBef>
                <a:spcPts val="700"/>
              </a:spcBef>
            </a:pPr>
            <a:r>
              <a:rPr sz="1500" b="0" i="0">
                <a:solidFill>
                  <a:srgbClr val="21295C"/>
                </a:solidFill>
                <a:latin typeface="Arial"/>
              </a:rPr>
              <a:t/>
            </a:r>
            <a:r>
              <a:rPr sz="1500" b="0" i="0">
                <a:solidFill>
                  <a:srgbClr val="21295C"/>
                </a:solidFill>
                <a:latin typeface="Arial"/>
              </a:rPr>
              <a:t>• одной строкой: одна молекула — третья фаза начата; медиана от основания компании до первого человека — </a:t>
            </a:r>
            <a:r>
              <a:rPr sz="1500" b="1" i="0">
                <a:solidFill>
                  <a:srgbClr val="21295C"/>
                </a:solidFill>
                <a:latin typeface="Arial"/>
              </a:rPr>
              <a:t>шесть с половиной лет</a:t>
            </a:r>
          </a:p>
        </p:txBody>
      </p:sp>
      <p:sp>
        <p:nvSpPr>
          <p:cNvPr id="22" name="Rectangle 21"/>
          <p:cNvSpPr/>
          <p:nvPr/>
        </p:nvSpPr>
        <p:spPr>
          <a:xfrm>
            <a:off x="6091275" y="3492795"/>
            <a:ext cx="9144" cy="2257227"/>
          </a:xfrm>
          <a:prstGeom prst="rect">
            <a:avLst/>
          </a:prstGeom>
          <a:solidFill>
            <a:srgbClr val="D9E2EC"/>
          </a:solidFill>
          <a:ln>
            <a:noFill/>
          </a:ln>
          <a:effectLst/>
        </p:spPr>
        <p:txBody>
          <a:bodyPr rtlCol="0" anchor="ctr"/>
          <a:lstStyle/>
          <a:p>
            <a:pPr algn="ctr"/>
          </a:p>
        </p:txBody>
      </p:sp>
      <p:sp>
        <p:nvSpPr>
          <p:cNvPr id="23" name="Rectangle 22"/>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24" name="TextBox 2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Haque W. и соавт., J Clin Oncol 2026, DOI 10.1200/JCO.2026.44.16_suppl.11072</a:t>
            </a:r>
            <a:r>
              <a:rPr sz="1200" b="0" i="1">
                <a:solidFill>
                  <a:srgbClr val="1C7293"/>
                </a:solidFill>
                <a:latin typeface="Arial"/>
              </a:rPr>
              <a:t> · </a:t>
            </a:r>
            <a:r>
              <a:rPr sz="1200" b="0" i="1" u="sng">
                <a:solidFill>
                  <a:srgbClr val="065A82"/>
                </a:solidFill>
                <a:latin typeface="Arial"/>
                <a:hlinkClick r:id="rId3"/>
              </a:rPr>
              <a:t>Jayatunga и соавт., Drug Discovery Today, 2024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компания, отказавшаяся от своего обещания</a:t>
            </a:r>
          </a:p>
        </p:txBody>
      </p:sp>
      <p:sp>
        <p:nvSpPr>
          <p:cNvPr id="4" name="Rounded Rectangle 3"/>
          <p:cNvSpPr/>
          <p:nvPr/>
        </p:nvSpPr>
        <p:spPr>
          <a:xfrm>
            <a:off x="502920" y="1335024"/>
            <a:ext cx="2673019" cy="2003183"/>
          </a:xfrm>
          <a:prstGeom prst="roundRect">
            <a:avLst>
              <a:gd name="adj" fmla="val 1521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ФАЗА IIA</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91 пациент, 28 дней нанесения</a:t>
            </a:r>
          </a:p>
        </p:txBody>
      </p:sp>
      <p:sp>
        <p:nvSpPr>
          <p:cNvPr id="7" name="TextBox 6"/>
          <p:cNvSpPr txBox="1"/>
          <p:nvPr/>
        </p:nvSpPr>
        <p:spPr>
          <a:xfrm>
            <a:off x="640080" y="2542797"/>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рандомизированное, двойное слепое, с плацебо; пациенты 18–65 лет</a:t>
            </a:r>
          </a:p>
        </p:txBody>
      </p:sp>
      <p:sp>
        <p:nvSpPr>
          <p:cNvPr id="8" name="Rounded Rectangle 7"/>
          <p:cNvSpPr/>
          <p:nvPr/>
        </p:nvSpPr>
        <p:spPr>
          <a:xfrm>
            <a:off x="3340531" y="1335024"/>
            <a:ext cx="2673019" cy="2003183"/>
          </a:xfrm>
          <a:prstGeom prst="roundRect">
            <a:avLst>
              <a:gd name="adj" fmla="val 1521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ПЕРВИЧНАЯ ТОЧКА — БЕЗОПАСНОСТЬ И ПЕРЕНОСИМОСТЬ</a:t>
            </a:r>
          </a:p>
        </p:txBody>
      </p:sp>
      <p:sp>
        <p:nvSpPr>
          <p:cNvPr id="10" name="TextBox 9"/>
          <p:cNvSpPr txBox="1"/>
          <p:nvPr/>
        </p:nvSpPr>
        <p:spPr>
          <a:xfrm>
            <a:off x="3477691" y="2140317"/>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достигнута</a:t>
            </a:r>
          </a:p>
        </p:txBody>
      </p:sp>
      <p:sp>
        <p:nvSpPr>
          <p:cNvPr id="11" name="Rounded Rectangle 10"/>
          <p:cNvSpPr/>
          <p:nvPr/>
        </p:nvSpPr>
        <p:spPr>
          <a:xfrm>
            <a:off x="6178143" y="1335024"/>
            <a:ext cx="2673019" cy="2003183"/>
          </a:xfrm>
          <a:prstGeom prst="roundRect">
            <a:avLst>
              <a:gd name="adj" fmla="val 15215"/>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ТОЧКИ ЭФФЕКТИВНОСТИ — ИНДЕКС ТЯЖЕСТИ ЭКЗЕМЫ И ШКАЛА ЗУДА</a:t>
            </a:r>
          </a:p>
        </p:txBody>
      </p:sp>
      <p:sp>
        <p:nvSpPr>
          <p:cNvPr id="13" name="TextBox 12"/>
          <p:cNvSpPr txBox="1"/>
          <p:nvPr/>
        </p:nvSpPr>
        <p:spPr>
          <a:xfrm>
            <a:off x="6315303" y="2140317"/>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достигнуты</a:t>
            </a:r>
          </a:p>
        </p:txBody>
      </p:sp>
      <p:sp>
        <p:nvSpPr>
          <p:cNvPr id="14" name="TextBox 13"/>
          <p:cNvSpPr txBox="1"/>
          <p:nvPr/>
        </p:nvSpPr>
        <p:spPr>
          <a:xfrm>
            <a:off x="6315303" y="2567316"/>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заявленным мерам улучшения плацебо не превзойдено</a:t>
            </a:r>
          </a:p>
        </p:txBody>
      </p:sp>
      <p:sp>
        <p:nvSpPr>
          <p:cNvPr id="15" name="Rounded Rectangle 14"/>
          <p:cNvSpPr/>
          <p:nvPr/>
        </p:nvSpPr>
        <p:spPr>
          <a:xfrm>
            <a:off x="9015755" y="1335024"/>
            <a:ext cx="2673019" cy="2003183"/>
          </a:xfrm>
          <a:prstGeom prst="roundRect">
            <a:avLst>
              <a:gd name="adj" fmla="val 15215"/>
            </a:avLst>
          </a:prstGeom>
          <a:solidFill>
            <a:srgbClr val="FFFFFF"/>
          </a:solidFill>
          <a:ln w="25400">
            <a:solidFill>
              <a:srgbClr val="F0AB00"/>
            </a:solidFill>
          </a:ln>
          <a:effectLst/>
        </p:spPr>
        <p:txBody>
          <a:bodyPr rtlCol="0" anchor="ctr"/>
          <a:lstStyle/>
          <a:p>
            <a:pPr algn="ctr"/>
          </a:p>
        </p:txBody>
      </p:sp>
      <p:sp>
        <p:nvSpPr>
          <p:cNvPr id="16" name="TextBox 15"/>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ОТРАСЛИ НА ТОМ ЖЕ ШАГЕ</a:t>
            </a:r>
          </a:p>
        </p:txBody>
      </p:sp>
      <p:sp>
        <p:nvSpPr>
          <p:cNvPr id="17" name="TextBox 16"/>
          <p:cNvSpPr txBox="1"/>
          <p:nvPr/>
        </p:nvSpPr>
        <p:spPr>
          <a:xfrm>
            <a:off x="9152915" y="1932846"/>
            <a:ext cx="2398699" cy="749522"/>
          </a:xfrm>
          <a:prstGeom prst="rect">
            <a:avLst/>
          </a:prstGeom>
          <a:noFill/>
        </p:spPr>
        <p:txBody>
          <a:bodyPr wrap="square" lIns="0" rIns="0" tIns="0" bIns="0" anchor="t">
            <a:spAutoFit/>
          </a:bodyPr>
          <a:lstStyle/>
          <a:p>
            <a:pPr algn="l">
              <a:lnSpc>
                <a:spcPct val="108000"/>
              </a:lnSpc>
            </a:pPr>
            <a:r>
              <a:rPr sz="2100" b="1" i="0">
                <a:solidFill>
                  <a:srgbClr val="F0AB00"/>
                </a:solidFill>
                <a:latin typeface="Arial"/>
              </a:rPr>
              <a:t>28,9 процента перехода фазы II</a:t>
            </a:r>
          </a:p>
        </p:txBody>
      </p:sp>
      <p:sp>
        <p:nvSpPr>
          <p:cNvPr id="18" name="TextBox 17"/>
          <p:cNvSpPr txBox="1"/>
          <p:nvPr/>
        </p:nvSpPr>
        <p:spPr>
          <a:xfrm>
            <a:off x="9152915" y="2682369"/>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провал здесь — норма воронки</a:t>
            </a:r>
          </a:p>
        </p:txBody>
      </p:sp>
      <p:sp>
        <p:nvSpPr>
          <p:cNvPr id="19" name="Rounded Rectangle 18"/>
          <p:cNvSpPr/>
          <p:nvPr/>
        </p:nvSpPr>
        <p:spPr>
          <a:xfrm>
            <a:off x="374904" y="3429647"/>
            <a:ext cx="11441887" cy="2145586"/>
          </a:xfrm>
          <a:prstGeom prst="roundRect">
            <a:avLst>
              <a:gd name="adj" fmla="val 14205"/>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539496" y="3521087"/>
            <a:ext cx="5373471" cy="271512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Компания публично обещала доводить препараты до регистрации самостоятельно. Молекулу она нашла через граф биомедицинских связей.</a:t>
            </a:r>
          </a:p>
          <a:p>
            <a:pPr algn="l">
              <a:lnSpc>
                <a:spcPct val="126000"/>
              </a:lnSpc>
              <a:spcBef>
                <a:spcPts val="700"/>
              </a:spcBef>
            </a:pPr>
            <a:r>
              <a:rPr sz="1500" b="0" i="0">
                <a:solidFill>
                  <a:srgbClr val="21295C"/>
                </a:solidFill>
                <a:latin typeface="Arial"/>
              </a:rPr>
              <a:t/>
            </a:r>
            <a:r>
              <a:rPr sz="1500" b="0" i="0">
                <a:solidFill>
                  <a:srgbClr val="21295C"/>
                </a:solidFill>
                <a:latin typeface="Arial"/>
              </a:rPr>
              <a:t>• испытание было устроено по правилам — и разница выяснилась </a:t>
            </a:r>
            <a:r>
              <a:rPr sz="1500" b="1" i="0">
                <a:solidFill>
                  <a:srgbClr val="21295C"/>
                </a:solidFill>
                <a:latin typeface="Arial"/>
              </a:rPr>
              <a:t>только на людях</a:t>
            </a:r>
            <a:r>
              <a:rPr sz="1500" b="0" i="0">
                <a:solidFill>
                  <a:srgbClr val="21295C"/>
                </a:solidFill>
                <a:latin typeface="Arial"/>
              </a:rPr>
              <a:t>: ни граф связей, ни доклиника её не показали и показать не могли</a:t>
            </a:r>
          </a:p>
        </p:txBody>
      </p:sp>
      <p:sp>
        <p:nvSpPr>
          <p:cNvPr id="21" name="TextBox 20"/>
          <p:cNvSpPr txBox="1"/>
          <p:nvPr/>
        </p:nvSpPr>
        <p:spPr>
          <a:xfrm>
            <a:off x="6278727" y="3521087"/>
            <a:ext cx="5373471" cy="271512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«механизм правдоподобен, эффекта у пациентов нет» — это и означают недостигнутые вторичные точки</a:t>
            </a:r>
          </a:p>
          <a:p>
            <a:pPr algn="l">
              <a:lnSpc>
                <a:spcPct val="126000"/>
              </a:lnSpc>
              <a:spcBef>
                <a:spcPts val="700"/>
              </a:spcBef>
            </a:pPr>
            <a:r>
              <a:rPr sz="1500" b="0" i="0">
                <a:solidFill>
                  <a:srgbClr val="21295C"/>
                </a:solidFill>
                <a:latin typeface="Arial"/>
              </a:rPr>
              <a:t/>
            </a:r>
            <a:r>
              <a:rPr sz="1500" b="0" i="0">
                <a:solidFill>
                  <a:srgbClr val="21295C"/>
                </a:solidFill>
                <a:latin typeface="Arial"/>
              </a:rPr>
              <a:t>• противоречие обещания предъявляется одним числом базы, без разговора о качестве модели, которая молекулу нашла</a:t>
            </a:r>
          </a:p>
        </p:txBody>
      </p:sp>
      <p:sp>
        <p:nvSpPr>
          <p:cNvPr id="22" name="Rectangle 21"/>
          <p:cNvSpPr/>
          <p:nvPr/>
        </p:nvSpPr>
        <p:spPr>
          <a:xfrm>
            <a:off x="6091275" y="3521087"/>
            <a:ext cx="9144" cy="1871266"/>
          </a:xfrm>
          <a:prstGeom prst="rect">
            <a:avLst/>
          </a:prstGeom>
          <a:solidFill>
            <a:srgbClr val="D9E2EC"/>
          </a:solidFill>
          <a:ln>
            <a:noFill/>
          </a:ln>
          <a:effectLst/>
        </p:spPr>
        <p:txBody>
          <a:bodyPr rtlCol="0" anchor="ctr"/>
          <a:lstStyle/>
          <a:p>
            <a:pPr algn="ctr"/>
          </a:p>
        </p:txBody>
      </p:sp>
      <p:sp>
        <p:nvSpPr>
          <p:cNvPr id="23" name="Rectangle 2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4" name="TextBox 2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Сообщение компании о результатах фазы IIa, апрель 2023; отраслевая журналистика 2023–2024 — fiercebiotech.com, biospace.com, biopharmadive.com, clinicaltrialsarena.com</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Пример 3, цена: минус 180 рабочих мест и отказ от собственной модели бизнеса</a:t>
            </a:r>
          </a:p>
        </p:txBody>
      </p:sp>
      <p:sp>
        <p:nvSpPr>
          <p:cNvPr id="4" name="Rounded Rectangle 3"/>
          <p:cNvSpPr/>
          <p:nvPr/>
        </p:nvSpPr>
        <p:spPr>
          <a:xfrm>
            <a:off x="502920" y="1335024"/>
            <a:ext cx="5510631"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ДВЕ ВОЛНЫ СОКРАЩЕНИЙ</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минус 180 мест, годом позже ещё минус 30 процентов штата</a:t>
            </a:r>
          </a:p>
        </p:txBody>
      </p:sp>
      <p:sp>
        <p:nvSpPr>
          <p:cNvPr id="7" name="TextBox 6"/>
          <p:cNvSpPr txBox="1"/>
          <p:nvPr/>
        </p:nvSpPr>
        <p:spPr>
          <a:xfrm>
            <a:off x="640080"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инвестировать в актив прекратили сразу; следом зарубежный офис, смена руководителя и объявленный план ухода с биржи</a:t>
            </a:r>
          </a:p>
        </p:txBody>
      </p:sp>
      <p:sp>
        <p:nvSpPr>
          <p:cNvPr id="8" name="Rounded Rectangle 7"/>
          <p:cNvSpPr/>
          <p:nvPr/>
        </p:nvSpPr>
        <p:spPr>
          <a:xfrm>
            <a:off x="6178143" y="1335024"/>
            <a:ext cx="5510631"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БИЗНЕСА</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сервисная вместо собственной разработки</a:t>
            </a:r>
          </a:p>
        </p:txBody>
      </p:sp>
      <p:sp>
        <p:nvSpPr>
          <p:cNvPr id="11" name="TextBox 10"/>
          <p:cNvSpPr txBox="1"/>
          <p:nvPr/>
        </p:nvSpPr>
        <p:spPr>
          <a:xfrm>
            <a:off x="6315303" y="2542797"/>
            <a:ext cx="523631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продажа платформы и ранних данных партнёрам; заплатили сотрудники двумя волнами сокращений и публичные акционеры, для которых уход с биржи означает потерю ликвидности позиции</a:t>
            </a:r>
          </a:p>
        </p:txBody>
      </p:sp>
      <p:sp>
        <p:nvSpPr>
          <p:cNvPr id="12" name="TextBox 11"/>
          <p:cNvSpPr txBox="1"/>
          <p:nvPr/>
        </p:nvSpPr>
        <p:spPr>
          <a:xfrm>
            <a:off x="502920" y="3533144"/>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Путь</a:t>
            </a:r>
          </a:p>
        </p:txBody>
      </p:sp>
      <p:sp>
        <p:nvSpPr>
          <p:cNvPr id="13" name="Rounded Rectangle 12"/>
          <p:cNvSpPr/>
          <p:nvPr/>
        </p:nvSpPr>
        <p:spPr>
          <a:xfrm>
            <a:off x="1920240" y="349656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54228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Обещание доводить препараты самостоятельно</a:t>
            </a:r>
          </a:p>
        </p:txBody>
      </p:sp>
      <p:sp>
        <p:nvSpPr>
          <p:cNvPr id="15" name="Right Arrow 14"/>
          <p:cNvSpPr/>
          <p:nvPr/>
        </p:nvSpPr>
        <p:spPr>
          <a:xfrm>
            <a:off x="4202353" y="3903333"/>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4430953" y="349656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4513249" y="354228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Фаза IIa: эффекта нет</a:t>
            </a:r>
          </a:p>
        </p:txBody>
      </p:sp>
      <p:sp>
        <p:nvSpPr>
          <p:cNvPr id="18" name="Right Arrow 17"/>
          <p:cNvSpPr/>
          <p:nvPr/>
        </p:nvSpPr>
        <p:spPr>
          <a:xfrm>
            <a:off x="6713067" y="3903333"/>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6941667" y="349656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7023963" y="354228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Минус 180 рабочих мест</a:t>
            </a:r>
          </a:p>
        </p:txBody>
      </p:sp>
      <p:sp>
        <p:nvSpPr>
          <p:cNvPr id="21" name="Right Arrow 20"/>
          <p:cNvSpPr/>
          <p:nvPr/>
        </p:nvSpPr>
        <p:spPr>
          <a:xfrm>
            <a:off x="9223781" y="3903333"/>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9452381" y="349656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9534677" y="354228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Отказ от модели бизнеса</a:t>
            </a:r>
          </a:p>
        </p:txBody>
      </p:sp>
      <p:sp>
        <p:nvSpPr>
          <p:cNvPr id="24" name="TextBox 23"/>
          <p:cNvSpPr txBox="1"/>
          <p:nvPr/>
        </p:nvSpPr>
        <p:spPr>
          <a:xfrm>
            <a:off x="502920" y="4483834"/>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Порядок событий, который уже не изменится</a:t>
            </a:r>
          </a:p>
        </p:txBody>
      </p:sp>
      <p:sp>
        <p:nvSpPr>
          <p:cNvPr id="25" name="Rounded Rectangle 24"/>
          <p:cNvSpPr/>
          <p:nvPr/>
        </p:nvSpPr>
        <p:spPr>
          <a:xfrm>
            <a:off x="374904" y="4786518"/>
            <a:ext cx="11441887" cy="1449689"/>
          </a:xfrm>
          <a:prstGeom prst="roundRect">
            <a:avLst>
              <a:gd name="adj" fmla="val 21025"/>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4877958"/>
            <a:ext cx="11112703" cy="135824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Изменился порядок работ</a:t>
            </a:r>
            <a:r>
              <a:rPr sz="1500" b="0" i="0">
                <a:solidFill>
                  <a:srgbClr val="21295C"/>
                </a:solidFill>
                <a:latin typeface="Arial"/>
              </a:rPr>
              <a:t> — но на масштабе модели бизнеса: процесс одного препарата здесь не менялся. Это заимствование формы на другой масштаб: словарь описывает работу, стратегии в нём нет.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собственную молекулу и собственную программу до второй фазы · </a:t>
            </a:r>
            <a:r>
              <a:rPr sz="1500" b="1" i="0">
                <a:solidFill>
                  <a:srgbClr val="21295C"/>
                </a:solidFill>
                <a:latin typeface="Arial"/>
              </a:rPr>
              <a:t>потребовало</a:t>
            </a:r>
            <a:r>
              <a:rPr sz="1500" b="0" i="0">
                <a:solidFill>
                  <a:srgbClr val="21295C"/>
                </a:solidFill>
                <a:latin typeface="Arial"/>
              </a:rPr>
              <a:t> успеха там, где отрасль даёт меньше трети · </a:t>
            </a:r>
            <a:r>
              <a:rPr sz="1500" b="1" i="0">
                <a:solidFill>
                  <a:srgbClr val="21295C"/>
                </a:solidFill>
                <a:latin typeface="Arial"/>
              </a:rPr>
              <a:t>в сумме</a:t>
            </a:r>
            <a:r>
              <a:rPr sz="1500" b="0" i="0">
                <a:solidFill>
                  <a:srgbClr val="21295C"/>
                </a:solidFill>
                <a:latin typeface="Arial"/>
              </a:rPr>
              <a:t> две волны сокращений и отказ от обещания</a:t>
            </a:r>
          </a:p>
        </p:txBody>
      </p:sp>
      <p:sp>
        <p:nvSpPr>
          <p:cNvPr id="27" name="Rectangle 26"/>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Отраслевая журналистика о сокращениях и смене модели бизнеса, 2023–2024 — fiercebiotech.com, biospace.com, biopharmadive.com, clinicaltrialsarena.com</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График депозитария: шаг не исчез</a:t>
            </a:r>
          </a:p>
        </p:txBody>
      </p:sp>
      <p:sp>
        <p:nvSpPr>
          <p:cNvPr id="4" name="Rounded Rectangle 3"/>
          <p:cNvSpPr/>
          <p:nvPr/>
        </p:nvSpPr>
        <p:spPr>
          <a:xfrm>
            <a:off x="502920" y="1335024"/>
            <a:ext cx="3389223" cy="2189907"/>
          </a:xfrm>
          <a:prstGeom prst="roundRect">
            <a:avLst>
              <a:gd name="adj" fmla="val 1391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1149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РЕНТГЕНОВСКАЯ КРИСТАЛЛОГРАФИЯ</a:t>
            </a:r>
          </a:p>
        </p:txBody>
      </p:sp>
      <p:sp>
        <p:nvSpPr>
          <p:cNvPr id="6" name="TextBox 5"/>
          <p:cNvSpPr txBox="1"/>
          <p:nvPr/>
        </p:nvSpPr>
        <p:spPr>
          <a:xfrm>
            <a:off x="640080" y="1725375"/>
            <a:ext cx="311490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плато 9–10 тысяч депозитов в год</a:t>
            </a:r>
          </a:p>
        </p:txBody>
      </p:sp>
      <p:sp>
        <p:nvSpPr>
          <p:cNvPr id="7" name="TextBox 6"/>
          <p:cNvSpPr txBox="1"/>
          <p:nvPr/>
        </p:nvSpPr>
        <p:spPr>
          <a:xfrm>
            <a:off x="640080" y="2542797"/>
            <a:ext cx="311490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 держит его с 2015 года — то есть выход предсказания структуры на этом плато не отразился никак</a:t>
            </a:r>
          </a:p>
        </p:txBody>
      </p:sp>
      <p:sp>
        <p:nvSpPr>
          <p:cNvPr id="8" name="Rounded Rectangle 7"/>
          <p:cNvSpPr/>
          <p:nvPr/>
        </p:nvSpPr>
        <p:spPr>
          <a:xfrm>
            <a:off x="4056735" y="1335024"/>
            <a:ext cx="3389223" cy="2189907"/>
          </a:xfrm>
          <a:prstGeom prst="roundRect">
            <a:avLst>
              <a:gd name="adj" fmla="val 1391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193895" y="1472184"/>
            <a:ext cx="31149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КРИОЭЛЕКТРОННАЯ МИКРОСКОПИЯ</a:t>
            </a:r>
          </a:p>
        </p:txBody>
      </p:sp>
      <p:sp>
        <p:nvSpPr>
          <p:cNvPr id="10" name="TextBox 9"/>
          <p:cNvSpPr txBox="1"/>
          <p:nvPr/>
        </p:nvSpPr>
        <p:spPr>
          <a:xfrm>
            <a:off x="4193895" y="1725375"/>
            <a:ext cx="3114903"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2 385 → 5 787 депозитов</a:t>
            </a:r>
          </a:p>
        </p:txBody>
      </p:sp>
      <p:sp>
        <p:nvSpPr>
          <p:cNvPr id="11" name="TextBox 10"/>
          <p:cNvSpPr txBox="1"/>
          <p:nvPr/>
        </p:nvSpPr>
        <p:spPr>
          <a:xfrm>
            <a:off x="4193895" y="2542797"/>
            <a:ext cx="3114903"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рост за пять лет примерно в два с половиной раза, продолжающий траекторию, начатую до появления предсказания</a:t>
            </a:r>
          </a:p>
        </p:txBody>
      </p:sp>
      <p:sp>
        <p:nvSpPr>
          <p:cNvPr id="12" name="Rounded Rectangle 11"/>
          <p:cNvSpPr/>
          <p:nvPr/>
        </p:nvSpPr>
        <p:spPr>
          <a:xfrm>
            <a:off x="374904" y="3616371"/>
            <a:ext cx="11441887" cy="2441774"/>
          </a:xfrm>
          <a:prstGeom prst="roundRect">
            <a:avLst>
              <a:gd name="adj" fmla="val 12482"/>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707811"/>
            <a:ext cx="11112703" cy="252839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Две линии по данным депозитария, 2020 → 2024. </a:t>
            </a:r>
            <a:r>
              <a:rPr sz="1500" b="1" i="0">
                <a:solidFill>
                  <a:srgbClr val="21295C"/>
                </a:solidFill>
                <a:latin typeface="Arial"/>
              </a:rPr>
              <a:t>Объём экспериментальных депозиций не упал.</a:t>
            </a:r>
          </a:p>
          <a:p>
            <a:pPr algn="l">
              <a:lnSpc>
                <a:spcPct val="126000"/>
              </a:lnSpc>
              <a:spcBef>
                <a:spcPts val="700"/>
              </a:spcBef>
            </a:pPr>
            <a:r>
              <a:rPr sz="1500" b="0" i="0">
                <a:solidFill>
                  <a:srgbClr val="21295C"/>
                </a:solidFill>
                <a:latin typeface="Arial"/>
              </a:rPr>
              <a:t/>
            </a:r>
            <a:r>
              <a:rPr sz="1500" b="1" i="0">
                <a:solidFill>
                  <a:srgbClr val="21295C"/>
                </a:solidFill>
                <a:latin typeface="Arial"/>
              </a:rPr>
              <a:t>Ожидаемая форма «шаг исчез» числами не подтверждается.</a:t>
            </a:r>
          </a:p>
          <a:p>
            <a:pPr algn="l">
              <a:lnSpc>
                <a:spcPct val="126000"/>
              </a:lnSpc>
              <a:spcBef>
                <a:spcPts val="700"/>
              </a:spcBef>
            </a:pPr>
            <a:r>
              <a:rPr sz="1500" b="0" i="0">
                <a:solidFill>
                  <a:srgbClr val="21295C"/>
                </a:solidFill>
                <a:latin typeface="Arial"/>
              </a:rPr>
              <a:t/>
            </a:r>
            <a:r>
              <a:rPr sz="1500" b="0" i="0">
                <a:solidFill>
                  <a:srgbClr val="21295C"/>
                </a:solidFill>
                <a:latin typeface="Arial"/>
              </a:rPr>
              <a:t>• база сравнения — сама кривая до события: плато и рост начались раньше</a:t>
            </a:r>
          </a:p>
          <a:p>
            <a:pPr algn="l">
              <a:lnSpc>
                <a:spcPct val="126000"/>
              </a:lnSpc>
              <a:spcBef>
                <a:spcPts val="700"/>
              </a:spcBef>
            </a:pPr>
            <a:r>
              <a:rPr sz="1500" b="0" i="0">
                <a:solidFill>
                  <a:srgbClr val="21295C"/>
                </a:solidFill>
                <a:latin typeface="Arial"/>
              </a:rPr>
              <a:t/>
            </a:r>
            <a:r>
              <a:rPr sz="1500" b="0" i="0">
                <a:solidFill>
                  <a:srgbClr val="21295C"/>
                </a:solidFill>
                <a:latin typeface="Arial"/>
              </a:rPr>
              <a:t>• предсказание даёт одну статичную укладку и не даёт прочности связывания</a:t>
            </a:r>
          </a:p>
          <a:p>
            <a:pPr algn="l">
              <a:lnSpc>
                <a:spcPct val="126000"/>
              </a:lnSpc>
              <a:spcBef>
                <a:spcPts val="700"/>
              </a:spcBef>
            </a:pPr>
            <a:r>
              <a:rPr sz="1500" b="0" i="0">
                <a:solidFill>
                  <a:srgbClr val="21295C"/>
                </a:solidFill>
                <a:latin typeface="Arial"/>
              </a:rPr>
              <a:t/>
            </a:r>
            <a:r>
              <a:rPr sz="1500" b="0" i="0">
                <a:solidFill>
                  <a:srgbClr val="21295C"/>
                </a:solidFill>
                <a:latin typeface="Arial"/>
              </a:rPr>
              <a:t>• появился новый шаг — сверить предсказание с опытом, и делает это тот же биолог</a:t>
            </a:r>
          </a:p>
          <a:p>
            <a:pPr algn="l">
              <a:lnSpc>
                <a:spcPct val="126000"/>
              </a:lnSpc>
              <a:spcBef>
                <a:spcPts val="700"/>
              </a:spcBef>
            </a:pPr>
            <a:r>
              <a:rPr sz="1200" b="0" i="0">
                <a:solidFill>
                  <a:srgbClr val="21295C"/>
                </a:solidFill>
                <a:latin typeface="Arial"/>
              </a:rPr>
              <a:t/>
            </a:r>
            <a:r>
              <a:rPr sz="1200" b="0" i="1">
                <a:solidFill>
                  <a:srgbClr val="1C7293"/>
                </a:solidFill>
                <a:latin typeface="Arial"/>
              </a:rPr>
              <a:t>Честная формулировка: нагрузка перераспределилась внутри того же шага.</a:t>
            </a:r>
          </a:p>
        </p:txBody>
      </p:sp>
      <p:sp>
        <p:nvSpPr>
          <p:cNvPr id="14" name="Rounded Rectangle 13"/>
          <p:cNvSpPr/>
          <p:nvPr/>
        </p:nvSpPr>
        <p:spPr>
          <a:xfrm>
            <a:off x="7756855" y="1335024"/>
            <a:ext cx="3931920" cy="1918681"/>
          </a:xfrm>
          <a:prstGeom prst="roundRect">
            <a:avLst>
              <a:gd name="adj" fmla="val 15885"/>
            </a:avLst>
          </a:prstGeom>
          <a:solidFill>
            <a:srgbClr val="F4F7FA"/>
          </a:solidFill>
          <a:ln w="19050">
            <a:solidFill>
              <a:srgbClr val="1C7293"/>
            </a:solidFill>
          </a:ln>
          <a:effectLst/>
        </p:spPr>
        <p:txBody>
          <a:bodyPr rtlCol="0" anchor="ctr"/>
          <a:lstStyle/>
          <a:p>
            <a:pPr algn="ctr"/>
          </a:p>
        </p:txBody>
      </p:sp>
      <p:pic>
        <p:nvPicPr>
          <p:cNvPr id="15" name="Picture 14" descr="s86-grafik-depozitariya-2020-2024.png"/>
          <p:cNvPicPr>
            <a:picLocks noChangeAspect="1"/>
          </p:cNvPicPr>
          <p:nvPr/>
        </p:nvPicPr>
        <p:blipFill>
          <a:blip r:embed="rId2"/>
          <a:stretch>
            <a:fillRect/>
          </a:stretch>
        </p:blipFill>
        <p:spPr>
          <a:xfrm>
            <a:off x="7894015" y="1472184"/>
            <a:ext cx="3657600" cy="1644361"/>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Статистика открытого депозитария структур, депозиты по методам 2020–2024, ряды получены через вторичный пересказ, сверка по таблице архива обязательна</a:t>
            </a:r>
            <a:r>
              <a:rPr sz="1200" b="0" i="1">
                <a:solidFill>
                  <a:srgbClr val="1C7293"/>
                </a:solidFill>
                <a:latin typeface="Arial"/>
              </a:rPr>
              <a:t> · </a:t>
            </a:r>
            <a:r>
              <a:rPr sz="1200" b="0" i="1" u="sng">
                <a:solidFill>
                  <a:srgbClr val="065A82"/>
                </a:solidFill>
                <a:latin typeface="Arial"/>
                <a:hlinkClick r:id="rId4"/>
              </a:rPr>
              <a:t>рецензируемый обзор 2025, DOI 10.1080/14789450.2025.2456046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Разработка лекарства: ранний шаг подешевел многократно, одобрений — ноль</a:t>
            </a:r>
          </a:p>
        </p:txBody>
      </p:sp>
      <p:sp>
        <p:nvSpPr>
          <p:cNvPr id="4" name="Rounded Rectangle 3"/>
          <p:cNvSpPr/>
          <p:nvPr/>
        </p:nvSpPr>
        <p:spPr>
          <a:xfrm>
            <a:off x="374904" y="1243584"/>
            <a:ext cx="11441887" cy="4936214"/>
          </a:xfrm>
          <a:prstGeom prst="roundRect">
            <a:avLst>
              <a:gd name="adj" fmla="val 6174"/>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5373471" cy="490118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Что получается</a:t>
            </a:r>
          </a:p>
          <a:p>
            <a:pPr algn="l">
              <a:lnSpc>
                <a:spcPct val="126000"/>
              </a:lnSpc>
              <a:spcBef>
                <a:spcPts val="700"/>
              </a:spcBef>
            </a:pPr>
            <a:r>
              <a:rPr sz="1300" b="0" i="0">
                <a:solidFill>
                  <a:srgbClr val="21295C"/>
                </a:solidFill>
                <a:latin typeface="Arial"/>
              </a:rPr>
              <a:t/>
            </a:r>
            <a:r>
              <a:rPr sz="1300" b="0" i="0">
                <a:solidFill>
                  <a:srgbClr val="21295C"/>
                </a:solidFill>
                <a:latin typeface="Arial"/>
              </a:rPr>
              <a:t>• срезать объём физического перебора: расчёт вместо миллионов опытных итераций</a:t>
            </a:r>
          </a:p>
          <a:p>
            <a:pPr algn="l">
              <a:lnSpc>
                <a:spcPct val="126000"/>
              </a:lnSpc>
              <a:spcBef>
                <a:spcPts val="700"/>
              </a:spcBef>
            </a:pPr>
            <a:r>
              <a:rPr sz="1300" b="0" i="0">
                <a:solidFill>
                  <a:srgbClr val="21295C"/>
                </a:solidFill>
                <a:latin typeface="Arial"/>
              </a:rPr>
              <a:t/>
            </a:r>
            <a:r>
              <a:rPr sz="1300" b="0" i="0">
                <a:solidFill>
                  <a:srgbClr val="21295C"/>
                </a:solidFill>
                <a:latin typeface="Arial"/>
              </a:rPr>
              <a:t>• сжать доклинику: заявлено меньше двенадцати месяцев вместо нескольких лет</a:t>
            </a:r>
          </a:p>
          <a:p>
            <a:pPr algn="l">
              <a:lnSpc>
                <a:spcPct val="126000"/>
              </a:lnSpc>
              <a:spcBef>
                <a:spcPts val="700"/>
              </a:spcBef>
            </a:pPr>
            <a:r>
              <a:rPr sz="1300" b="0" i="0">
                <a:solidFill>
                  <a:srgbClr val="21295C"/>
                </a:solidFill>
                <a:latin typeface="Arial"/>
              </a:rPr>
              <a:t/>
            </a:r>
            <a:r>
              <a:rPr sz="1300" b="0" i="0">
                <a:solidFill>
                  <a:srgbClr val="21295C"/>
                </a:solidFill>
                <a:latin typeface="Arial"/>
              </a:rPr>
              <a:t>• пройти первую фазу чаще базы: </a:t>
            </a:r>
            <a:r>
              <a:rPr sz="1300" b="1" i="0">
                <a:solidFill>
                  <a:srgbClr val="21295C"/>
                </a:solidFill>
                <a:latin typeface="Arial"/>
              </a:rPr>
              <a:t>80–90 из ста</a:t>
            </a:r>
            <a:r>
              <a:rPr sz="1300" b="0" i="0">
                <a:solidFill>
                  <a:srgbClr val="21295C"/>
                </a:solidFill>
                <a:latin typeface="Arial"/>
              </a:rPr>
              <a:t> против </a:t>
            </a:r>
            <a:r>
              <a:rPr sz="1300" b="1" i="0">
                <a:solidFill>
                  <a:srgbClr val="21295C"/>
                </a:solidFill>
                <a:latin typeface="Arial"/>
              </a:rPr>
              <a:t>52,0</a:t>
            </a:r>
          </a:p>
          <a:p>
            <a:pPr algn="l">
              <a:lnSpc>
                <a:spcPct val="126000"/>
              </a:lnSpc>
              <a:spcBef>
                <a:spcPts val="700"/>
              </a:spcBef>
            </a:pPr>
            <a:r>
              <a:rPr sz="1300" b="0" i="0">
                <a:solidFill>
                  <a:srgbClr val="21295C"/>
                </a:solidFill>
                <a:latin typeface="Arial"/>
              </a:rPr>
              <a:t/>
            </a:r>
            <a:r>
              <a:rPr sz="1300" b="1" i="0">
                <a:solidFill>
                  <a:srgbClr val="21295C"/>
                </a:solidFill>
                <a:latin typeface="Arial"/>
              </a:rPr>
              <a:t>Что не получается</a:t>
            </a:r>
          </a:p>
          <a:p>
            <a:pPr algn="l">
              <a:lnSpc>
                <a:spcPct val="126000"/>
              </a:lnSpc>
              <a:spcBef>
                <a:spcPts val="700"/>
              </a:spcBef>
            </a:pPr>
            <a:r>
              <a:rPr sz="1300" b="0" i="0">
                <a:solidFill>
                  <a:srgbClr val="21295C"/>
                </a:solidFill>
                <a:latin typeface="Arial"/>
              </a:rPr>
              <a:t/>
            </a:r>
            <a:r>
              <a:rPr sz="1300" b="0" i="0">
                <a:solidFill>
                  <a:srgbClr val="21295C"/>
                </a:solidFill>
                <a:latin typeface="Arial"/>
              </a:rPr>
              <a:t>• пройти вторую фазу лучше базы: около </a:t>
            </a:r>
            <a:r>
              <a:rPr sz="1300" b="1" i="0">
                <a:solidFill>
                  <a:srgbClr val="21295C"/>
                </a:solidFill>
                <a:latin typeface="Arial"/>
              </a:rPr>
              <a:t>40</a:t>
            </a:r>
            <a:r>
              <a:rPr sz="1300" b="0" i="0">
                <a:solidFill>
                  <a:srgbClr val="21295C"/>
                </a:solidFill>
                <a:latin typeface="Arial"/>
              </a:rPr>
              <a:t> против </a:t>
            </a:r>
            <a:r>
              <a:rPr sz="1300" b="1" i="0">
                <a:solidFill>
                  <a:srgbClr val="21295C"/>
                </a:solidFill>
                <a:latin typeface="Arial"/>
              </a:rPr>
              <a:t>28,9</a:t>
            </a:r>
            <a:r>
              <a:rPr sz="1300" b="0" i="0">
                <a:solidFill>
                  <a:srgbClr val="21295C"/>
                </a:solidFill>
                <a:latin typeface="Arial"/>
              </a:rPr>
              <a:t> — сопоставимо</a:t>
            </a:r>
          </a:p>
          <a:p>
            <a:pPr algn="l">
              <a:lnSpc>
                <a:spcPct val="126000"/>
              </a:lnSpc>
              <a:spcBef>
                <a:spcPts val="700"/>
              </a:spcBef>
            </a:pPr>
            <a:r>
              <a:rPr sz="1300" b="0" i="0">
                <a:solidFill>
                  <a:srgbClr val="21295C"/>
                </a:solidFill>
                <a:latin typeface="Arial"/>
              </a:rPr>
              <a:t/>
            </a:r>
            <a:r>
              <a:rPr sz="1300" b="0" i="0">
                <a:solidFill>
                  <a:srgbClr val="21295C"/>
                </a:solidFill>
                <a:latin typeface="Arial"/>
              </a:rPr>
              <a:t>• получить одобрение: за десять лет категории — </a:t>
            </a:r>
            <a:r>
              <a:rPr sz="1300" b="1" i="0">
                <a:solidFill>
                  <a:srgbClr val="21295C"/>
                </a:solidFill>
                <a:latin typeface="Arial"/>
              </a:rPr>
              <a:t>ноль</a:t>
            </a:r>
            <a:r>
              <a:rPr sz="1300" b="0" i="0">
                <a:solidFill>
                  <a:srgbClr val="21295C"/>
                </a:solidFill>
                <a:latin typeface="Arial"/>
              </a:rPr>
              <a:t> при 75 и 117 активах</a:t>
            </a:r>
          </a:p>
          <a:p>
            <a:pPr algn="l">
              <a:lnSpc>
                <a:spcPct val="126000"/>
              </a:lnSpc>
              <a:spcBef>
                <a:spcPts val="700"/>
              </a:spcBef>
            </a:pPr>
            <a:r>
              <a:rPr sz="1300" b="0" i="0">
                <a:solidFill>
                  <a:srgbClr val="21295C"/>
                </a:solidFill>
                <a:latin typeface="Arial"/>
              </a:rPr>
              <a:t/>
            </a:r>
            <a:r>
              <a:rPr sz="1300" b="0" i="0">
                <a:solidFill>
                  <a:srgbClr val="21295C"/>
                </a:solidFill>
                <a:latin typeface="Arial"/>
              </a:rPr>
              <a:t>• сократить четыре работы на людях: задачи для модели там нет ни одной</a:t>
            </a:r>
          </a:p>
          <a:p>
            <a:pPr algn="l">
              <a:lnSpc>
                <a:spcPct val="126000"/>
              </a:lnSpc>
              <a:spcBef>
                <a:spcPts val="700"/>
              </a:spcBef>
            </a:pPr>
            <a:r>
              <a:rPr sz="1300" b="0" i="0">
                <a:solidFill>
                  <a:srgbClr val="21295C"/>
                </a:solidFill>
                <a:latin typeface="Arial"/>
              </a:rPr>
              <a:t/>
            </a:r>
            <a:r>
              <a:rPr sz="1300" b="1" i="0">
                <a:solidFill>
                  <a:srgbClr val="21295C"/>
                </a:solidFill>
                <a:latin typeface="Arial"/>
              </a:rPr>
              <a:t>Что стало с работой</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нагрузка переехала на другой шаг</a:t>
            </a:r>
            <a:r>
              <a:rPr sz="1300" b="0" i="0">
                <a:solidFill>
                  <a:srgbClr val="21295C"/>
                </a:solidFill>
                <a:latin typeface="Arial"/>
              </a:rPr>
              <a:t> — и на молекуле, и на отрасли</a:t>
            </a:r>
          </a:p>
        </p:txBody>
      </p:sp>
      <p:sp>
        <p:nvSpPr>
          <p:cNvPr id="6" name="TextBox 5"/>
          <p:cNvSpPr txBox="1"/>
          <p:nvPr/>
        </p:nvSpPr>
        <p:spPr>
          <a:xfrm>
            <a:off x="6278727" y="1335024"/>
            <a:ext cx="5373471" cy="4901184"/>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 </a:t>
            </a:r>
            <a:r>
              <a:rPr sz="1300" b="1" i="0">
                <a:solidFill>
                  <a:srgbClr val="21295C"/>
                </a:solidFill>
                <a:latin typeface="Arial"/>
              </a:rPr>
              <a:t>объём на том же месте упал</a:t>
            </a:r>
            <a:r>
              <a:rPr sz="1300" b="0" i="0">
                <a:solidFill>
                  <a:srgbClr val="21295C"/>
                </a:solidFill>
                <a:latin typeface="Arial"/>
              </a:rPr>
              <a:t> — тот же шаг, тот же исполнитель, меньше итераций</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изменился порядок работ</a:t>
            </a:r>
            <a:r>
              <a:rPr sz="1300" b="0" i="0">
                <a:solidFill>
                  <a:srgbClr val="21295C"/>
                </a:solidFill>
                <a:latin typeface="Arial"/>
              </a:rPr>
              <a:t> — на масштабе модели бизнеса; препарата это не касается</a:t>
            </a:r>
          </a:p>
          <a:p>
            <a:pPr algn="l">
              <a:lnSpc>
                <a:spcPct val="126000"/>
              </a:lnSpc>
              <a:spcBef>
                <a:spcPts val="700"/>
              </a:spcBef>
            </a:pPr>
            <a:r>
              <a:rPr sz="1300" b="0" i="0">
                <a:solidFill>
                  <a:srgbClr val="21295C"/>
                </a:solidFill>
                <a:latin typeface="Arial"/>
              </a:rPr>
              <a:t/>
            </a:r>
            <a:r>
              <a:rPr sz="1300" b="1" i="0">
                <a:solidFill>
                  <a:srgbClr val="21295C"/>
                </a:solidFill>
                <a:latin typeface="Arial"/>
              </a:rPr>
              <a:t>Что это держит</a:t>
            </a:r>
          </a:p>
          <a:p>
            <a:pPr algn="l">
              <a:lnSpc>
                <a:spcPct val="126000"/>
              </a:lnSpc>
              <a:spcBef>
                <a:spcPts val="700"/>
              </a:spcBef>
            </a:pPr>
            <a:r>
              <a:rPr sz="1300" b="0" i="0">
                <a:solidFill>
                  <a:srgbClr val="21295C"/>
                </a:solidFill>
                <a:latin typeface="Arial"/>
              </a:rPr>
              <a:t/>
            </a:r>
            <a:r>
              <a:rPr sz="1300" b="0" i="0">
                <a:solidFill>
                  <a:srgbClr val="21295C"/>
                </a:solidFill>
                <a:latin typeface="Arial"/>
              </a:rPr>
              <a:t>• доклиника и три фазы на людях: их длину задают физиология и протокол</a:t>
            </a:r>
          </a:p>
          <a:p>
            <a:pPr algn="l">
              <a:lnSpc>
                <a:spcPct val="126000"/>
              </a:lnSpc>
              <a:spcBef>
                <a:spcPts val="700"/>
              </a:spcBef>
            </a:pPr>
            <a:r>
              <a:rPr sz="1300" b="0" i="0">
                <a:solidFill>
                  <a:srgbClr val="21295C"/>
                </a:solidFill>
                <a:latin typeface="Arial"/>
              </a:rPr>
              <a:t/>
            </a:r>
            <a:r>
              <a:rPr sz="1300" b="0" i="0">
                <a:solidFill>
                  <a:srgbClr val="21295C"/>
                </a:solidFill>
                <a:latin typeface="Arial"/>
              </a:rPr>
              <a:t>• воронка переходов </a:t>
            </a:r>
            <a:r>
              <a:rPr sz="1300" b="1" i="0">
                <a:solidFill>
                  <a:srgbClr val="21295C"/>
                </a:solidFill>
                <a:latin typeface="Arial"/>
              </a:rPr>
              <a:t>52,0 · 28,9 · 7,9</a:t>
            </a:r>
            <a:r>
              <a:rPr sz="1300" b="0" i="0">
                <a:solidFill>
                  <a:srgbClr val="21295C"/>
                </a:solidFill>
                <a:latin typeface="Arial"/>
              </a:rPr>
              <a:t> — база для сравнения</a:t>
            </a:r>
          </a:p>
          <a:p>
            <a:pPr algn="l">
              <a:lnSpc>
                <a:spcPct val="126000"/>
              </a:lnSpc>
              <a:spcBef>
                <a:spcPts val="700"/>
              </a:spcBef>
            </a:pPr>
            <a:r>
              <a:rPr sz="1300" b="0" i="0">
                <a:solidFill>
                  <a:srgbClr val="21295C"/>
                </a:solidFill>
                <a:latin typeface="Arial"/>
              </a:rPr>
              <a:t/>
            </a:r>
            <a:r>
              <a:rPr sz="1300" b="0" i="0">
                <a:solidFill>
                  <a:srgbClr val="21295C"/>
                </a:solidFill>
                <a:latin typeface="Arial"/>
              </a:rPr>
              <a:t>• </a:t>
            </a:r>
            <a:r>
              <a:rPr sz="1300" b="1" i="0">
                <a:solidFill>
                  <a:srgbClr val="21295C"/>
                </a:solidFill>
                <a:latin typeface="Arial"/>
              </a:rPr>
              <a:t>прочерк: форма «шаг исчез» числами депозитария не подтверждается</a:t>
            </a:r>
          </a:p>
          <a:p>
            <a:pPr algn="l">
              <a:lnSpc>
                <a:spcPct val="126000"/>
              </a:lnSpc>
              <a:spcBef>
                <a:spcPts val="700"/>
              </a:spcBef>
            </a:pPr>
            <a:r>
              <a:rPr sz="1300" b="0" i="0">
                <a:solidFill>
                  <a:srgbClr val="21295C"/>
                </a:solidFill>
                <a:latin typeface="Arial"/>
              </a:rPr>
              <a:t/>
            </a:r>
            <a:r>
              <a:rPr sz="1300" b="0" i="0">
                <a:solidFill>
                  <a:srgbClr val="21295C"/>
                </a:solidFill>
                <a:latin typeface="Arial"/>
              </a:rPr>
              <a:t>Ранний шаг подешевел многократно. Одобрений — </a:t>
            </a:r>
            <a:r>
              <a:rPr sz="1300" b="1" i="0">
                <a:solidFill>
                  <a:srgbClr val="21295C"/>
                </a:solidFill>
                <a:latin typeface="Arial"/>
              </a:rPr>
              <a:t>0</a:t>
            </a:r>
            <a:r>
              <a:rPr sz="1300" b="0" i="0">
                <a:solidFill>
                  <a:srgbClr val="21295C"/>
                </a:solidFill>
                <a:latin typeface="Arial"/>
              </a:rPr>
              <a:t>. Узкое место лежит дальше и не подешевело.</a:t>
            </a:r>
          </a:p>
          <a:p>
            <a:pPr algn="l">
              <a:lnSpc>
                <a:spcPct val="126000"/>
              </a:lnSpc>
              <a:spcBef>
                <a:spcPts val="700"/>
              </a:spcBef>
            </a:pPr>
            <a:r>
              <a:rPr sz="1300" b="0" i="0">
                <a:solidFill>
                  <a:srgbClr val="21295C"/>
                </a:solidFill>
                <a:latin typeface="Arial"/>
              </a:rPr>
              <a:t/>
            </a:r>
            <a:r>
              <a:rPr sz="1300" b="1" i="0">
                <a:solidFill>
                  <a:srgbClr val="21295C"/>
                </a:solidFill>
                <a:latin typeface="Arial"/>
              </a:rPr>
              <a:t>Адрес платежа здесь пуст: платит не человек</a:t>
            </a:r>
            <a:r>
              <a:rPr sz="1300" b="0" i="0">
                <a:solidFill>
                  <a:srgbClr val="21295C"/>
                </a:solidFill>
                <a:latin typeface="Arial"/>
              </a:rPr>
              <a:t> — решают о веществе. Мерить надо пропускную способность шага, которого вы не трогали.</a:t>
            </a:r>
          </a:p>
        </p:txBody>
      </p:sp>
      <p:sp>
        <p:nvSpPr>
          <p:cNvPr id="7" name="Rectangle 6"/>
          <p:cNvSpPr/>
          <p:nvPr/>
        </p:nvSpPr>
        <p:spPr>
          <a:xfrm>
            <a:off x="6091275" y="1335024"/>
            <a:ext cx="9144" cy="4661894"/>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9" name="TextBox 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Haque W. и соавт., J Clin Oncol 2026, DOI 10.1200/JCO.2026.44.16_suppl.11072</a:t>
            </a:r>
            <a:r>
              <a:rPr sz="1200" b="0" i="1">
                <a:solidFill>
                  <a:srgbClr val="1C7293"/>
                </a:solidFill>
                <a:latin typeface="Arial"/>
              </a:rPr>
              <a:t> · </a:t>
            </a:r>
            <a:r>
              <a:rPr sz="1200" b="0" i="1" u="sng">
                <a:solidFill>
                  <a:srgbClr val="065A82"/>
                </a:solidFill>
                <a:latin typeface="Arial"/>
                <a:hlinkClick r:id="rId3"/>
              </a:rPr>
              <a:t>Jayatunga и соавт., Drug Discovery Today, 2024</a:t>
            </a:r>
            <a:r>
              <a:rPr sz="1200" b="0" i="1">
                <a:solidFill>
                  <a:srgbClr val="1C7293"/>
                </a:solidFill>
                <a:latin typeface="Arial"/>
              </a:rPr>
              <a:t> · </a:t>
            </a:r>
            <a:r>
              <a:rPr sz="1200" b="0" i="1" u="sng">
                <a:solidFill>
                  <a:srgbClr val="065A82"/>
                </a:solidFill>
                <a:latin typeface="Arial"/>
                <a:hlinkClick r:id="rId4"/>
              </a:rPr>
              <a:t>BIO / QLS / Informa, Clinical Development Success Rates and Contributing Factors 2011–2020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раздела: какая задача и какие данные</a:t>
            </a:r>
          </a:p>
        </p:txBody>
      </p:sp>
      <p:sp>
        <p:nvSpPr>
          <p:cNvPr id="4" name="Rounded Rectangle 3"/>
          <p:cNvSpPr/>
          <p:nvPr/>
        </p:nvSpPr>
        <p:spPr>
          <a:xfrm>
            <a:off x="374904" y="1243584"/>
            <a:ext cx="11441887" cy="4442937"/>
          </a:xfrm>
          <a:prstGeom prst="roundRect">
            <a:avLst>
              <a:gd name="adj" fmla="val 6860"/>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1902299" cy="383379"/>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609691"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
            </a:r>
          </a:p>
        </p:txBody>
      </p:sp>
      <p:sp>
        <p:nvSpPr>
          <p:cNvPr id="7" name="Rectangle 6"/>
          <p:cNvSpPr/>
          <p:nvPr/>
        </p:nvSpPr>
        <p:spPr>
          <a:xfrm>
            <a:off x="2441795" y="1335024"/>
            <a:ext cx="2366506" cy="383379"/>
          </a:xfrm>
          <a:prstGeom prst="rect">
            <a:avLst/>
          </a:prstGeom>
          <a:solidFill>
            <a:srgbClr val="065A82"/>
          </a:solidFill>
          <a:ln>
            <a:noFill/>
          </a:ln>
          <a:effectLst/>
        </p:spPr>
        <p:txBody>
          <a:bodyPr rtlCol="0" anchor="ctr"/>
          <a:lstStyle/>
          <a:p>
            <a:pPr algn="ctr"/>
          </a:p>
        </p:txBody>
      </p:sp>
      <p:sp>
        <p:nvSpPr>
          <p:cNvPr id="8" name="TextBox 7"/>
          <p:cNvSpPr txBox="1"/>
          <p:nvPr/>
        </p:nvSpPr>
        <p:spPr>
          <a:xfrm>
            <a:off x="2588099" y="1335024"/>
            <a:ext cx="2073898"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текст</a:t>
            </a:r>
          </a:p>
        </p:txBody>
      </p:sp>
      <p:sp>
        <p:nvSpPr>
          <p:cNvPr id="9" name="Rectangle 8"/>
          <p:cNvSpPr/>
          <p:nvPr/>
        </p:nvSpPr>
        <p:spPr>
          <a:xfrm>
            <a:off x="4808301" y="1335024"/>
            <a:ext cx="2665972" cy="383379"/>
          </a:xfrm>
          <a:prstGeom prst="rect">
            <a:avLst/>
          </a:prstGeom>
          <a:solidFill>
            <a:srgbClr val="065A82"/>
          </a:solidFill>
          <a:ln>
            <a:noFill/>
          </a:ln>
          <a:effectLst/>
        </p:spPr>
        <p:txBody>
          <a:bodyPr rtlCol="0" anchor="ctr"/>
          <a:lstStyle/>
          <a:p>
            <a:pPr algn="ctr"/>
          </a:p>
        </p:txBody>
      </p:sp>
      <p:sp>
        <p:nvSpPr>
          <p:cNvPr id="10" name="TextBox 9"/>
          <p:cNvSpPr txBox="1"/>
          <p:nvPr/>
        </p:nvSpPr>
        <p:spPr>
          <a:xfrm>
            <a:off x="4954605" y="1335024"/>
            <a:ext cx="2373364"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изображение</a:t>
            </a:r>
          </a:p>
        </p:txBody>
      </p:sp>
      <p:sp>
        <p:nvSpPr>
          <p:cNvPr id="11" name="Rectangle 10"/>
          <p:cNvSpPr/>
          <p:nvPr/>
        </p:nvSpPr>
        <p:spPr>
          <a:xfrm>
            <a:off x="7474274" y="1335024"/>
            <a:ext cx="4177925" cy="383379"/>
          </a:xfrm>
          <a:prstGeom prst="rect">
            <a:avLst/>
          </a:prstGeom>
          <a:solidFill>
            <a:srgbClr val="065A82"/>
          </a:solidFill>
          <a:ln>
            <a:noFill/>
          </a:ln>
          <a:effectLst/>
        </p:spPr>
        <p:txBody>
          <a:bodyPr rtlCol="0" anchor="ctr"/>
          <a:lstStyle/>
          <a:p>
            <a:pPr algn="ctr"/>
          </a:p>
        </p:txBody>
      </p:sp>
      <p:sp>
        <p:nvSpPr>
          <p:cNvPr id="12" name="TextBox 11"/>
          <p:cNvSpPr txBox="1"/>
          <p:nvPr/>
        </p:nvSpPr>
        <p:spPr>
          <a:xfrm>
            <a:off x="7620578" y="1335024"/>
            <a:ext cx="3885317"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структурированные данные</a:t>
            </a:r>
          </a:p>
        </p:txBody>
      </p:sp>
      <p:sp>
        <p:nvSpPr>
          <p:cNvPr id="13" name="Rectangle 12"/>
          <p:cNvSpPr/>
          <p:nvPr/>
        </p:nvSpPr>
        <p:spPr>
          <a:xfrm>
            <a:off x="539496" y="1718403"/>
            <a:ext cx="1902299" cy="383379"/>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18403"/>
            <a:ext cx="1609691"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классификация</a:t>
            </a:r>
          </a:p>
        </p:txBody>
      </p:sp>
      <p:sp>
        <p:nvSpPr>
          <p:cNvPr id="15" name="Rectangle 14"/>
          <p:cNvSpPr/>
          <p:nvPr/>
        </p:nvSpPr>
        <p:spPr>
          <a:xfrm>
            <a:off x="2441795" y="1718403"/>
            <a:ext cx="2366506" cy="383379"/>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2588099" y="1718403"/>
            <a:ext cx="207389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a:t>
            </a:r>
          </a:p>
        </p:txBody>
      </p:sp>
      <p:sp>
        <p:nvSpPr>
          <p:cNvPr id="17" name="Rectangle 16"/>
          <p:cNvSpPr/>
          <p:nvPr/>
        </p:nvSpPr>
        <p:spPr>
          <a:xfrm>
            <a:off x="4808301" y="1718403"/>
            <a:ext cx="2665972" cy="383379"/>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4954605" y="1718403"/>
            <a:ext cx="237336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(отбор · анализ · диагноз)</a:t>
            </a:r>
          </a:p>
        </p:txBody>
      </p:sp>
      <p:sp>
        <p:nvSpPr>
          <p:cNvPr id="19" name="Rectangle 18"/>
          <p:cNvSpPr/>
          <p:nvPr/>
        </p:nvSpPr>
        <p:spPr>
          <a:xfrm>
            <a:off x="7474274" y="1718403"/>
            <a:ext cx="4177925" cy="383379"/>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7620578" y="1718403"/>
            <a:ext cx="3885317"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a:t>
            </a:r>
          </a:p>
        </p:txBody>
      </p:sp>
      <p:sp>
        <p:nvSpPr>
          <p:cNvPr id="21" name="Rectangle 20"/>
          <p:cNvSpPr/>
          <p:nvPr/>
        </p:nvSpPr>
        <p:spPr>
          <a:xfrm>
            <a:off x="539496" y="2101783"/>
            <a:ext cx="1902299" cy="383379"/>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01783"/>
            <a:ext cx="1609691"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распознавание</a:t>
            </a:r>
          </a:p>
        </p:txBody>
      </p:sp>
      <p:sp>
        <p:nvSpPr>
          <p:cNvPr id="23" name="Rectangle 22"/>
          <p:cNvSpPr/>
          <p:nvPr/>
        </p:nvSpPr>
        <p:spPr>
          <a:xfrm>
            <a:off x="2441795" y="2101783"/>
            <a:ext cx="2366506" cy="383379"/>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2588099" y="2101783"/>
            <a:ext cx="207389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a:t>
            </a:r>
          </a:p>
        </p:txBody>
      </p:sp>
      <p:sp>
        <p:nvSpPr>
          <p:cNvPr id="25" name="Rectangle 24"/>
          <p:cNvSpPr/>
          <p:nvPr/>
        </p:nvSpPr>
        <p:spPr>
          <a:xfrm>
            <a:off x="4808301" y="2101783"/>
            <a:ext cx="2665972" cy="383379"/>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4954605" y="2101783"/>
            <a:ext cx="237336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(отбор · диагноз · удержание)</a:t>
            </a:r>
          </a:p>
        </p:txBody>
      </p:sp>
      <p:sp>
        <p:nvSpPr>
          <p:cNvPr id="27" name="Rectangle 26"/>
          <p:cNvSpPr/>
          <p:nvPr/>
        </p:nvSpPr>
        <p:spPr>
          <a:xfrm>
            <a:off x="7474274" y="2101783"/>
            <a:ext cx="4177925" cy="383379"/>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7620578" y="2101783"/>
            <a:ext cx="3885317"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a:t>
            </a:r>
          </a:p>
        </p:txBody>
      </p:sp>
      <p:sp>
        <p:nvSpPr>
          <p:cNvPr id="29" name="Rectangle 28"/>
          <p:cNvSpPr/>
          <p:nvPr/>
        </p:nvSpPr>
        <p:spPr>
          <a:xfrm>
            <a:off x="539496" y="2485163"/>
            <a:ext cx="1902299" cy="383379"/>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485163"/>
            <a:ext cx="1609691"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поиск с генерацией</a:t>
            </a:r>
          </a:p>
        </p:txBody>
      </p:sp>
      <p:sp>
        <p:nvSpPr>
          <p:cNvPr id="31" name="Rectangle 30"/>
          <p:cNvSpPr/>
          <p:nvPr/>
        </p:nvSpPr>
        <p:spPr>
          <a:xfrm>
            <a:off x="2441795" y="2485163"/>
            <a:ext cx="2366506" cy="383379"/>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588099" y="2485163"/>
            <a:ext cx="207389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(отбор · диагноз · запись)</a:t>
            </a:r>
          </a:p>
        </p:txBody>
      </p:sp>
      <p:sp>
        <p:nvSpPr>
          <p:cNvPr id="33" name="Rectangle 32"/>
          <p:cNvSpPr/>
          <p:nvPr/>
        </p:nvSpPr>
        <p:spPr>
          <a:xfrm>
            <a:off x="4808301" y="2485163"/>
            <a:ext cx="2665972" cy="383379"/>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4954605" y="2485163"/>
            <a:ext cx="237336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a:t>
            </a:r>
          </a:p>
        </p:txBody>
      </p:sp>
      <p:sp>
        <p:nvSpPr>
          <p:cNvPr id="35" name="Rectangle 34"/>
          <p:cNvSpPr/>
          <p:nvPr/>
        </p:nvSpPr>
        <p:spPr>
          <a:xfrm>
            <a:off x="7474274" y="2485163"/>
            <a:ext cx="4177925" cy="383379"/>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7620578" y="2485163"/>
            <a:ext cx="3885317"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a:t>
            </a:r>
          </a:p>
        </p:txBody>
      </p:sp>
      <p:sp>
        <p:nvSpPr>
          <p:cNvPr id="37" name="Rectangle 36"/>
          <p:cNvSpPr/>
          <p:nvPr/>
        </p:nvSpPr>
        <p:spPr>
          <a:xfrm>
            <a:off x="539496" y="2868543"/>
            <a:ext cx="1902299" cy="383379"/>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868543"/>
            <a:ext cx="1609691"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прогноз</a:t>
            </a:r>
          </a:p>
        </p:txBody>
      </p:sp>
      <p:sp>
        <p:nvSpPr>
          <p:cNvPr id="39" name="Rectangle 38"/>
          <p:cNvSpPr/>
          <p:nvPr/>
        </p:nvSpPr>
        <p:spPr>
          <a:xfrm>
            <a:off x="2441795" y="2868543"/>
            <a:ext cx="2366506" cy="383379"/>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588099" y="2868543"/>
            <a:ext cx="207389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a:t>
            </a:r>
          </a:p>
        </p:txBody>
      </p:sp>
      <p:sp>
        <p:nvSpPr>
          <p:cNvPr id="41" name="Rectangle 40"/>
          <p:cNvSpPr/>
          <p:nvPr/>
        </p:nvSpPr>
        <p:spPr>
          <a:xfrm>
            <a:off x="4808301" y="2868543"/>
            <a:ext cx="2665972" cy="383379"/>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4954605" y="2868543"/>
            <a:ext cx="237336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a:t>
            </a:r>
          </a:p>
        </p:txBody>
      </p:sp>
      <p:sp>
        <p:nvSpPr>
          <p:cNvPr id="43" name="Rectangle 42"/>
          <p:cNvSpPr/>
          <p:nvPr/>
        </p:nvSpPr>
        <p:spPr>
          <a:xfrm>
            <a:off x="7474274" y="2868543"/>
            <a:ext cx="4177925" cy="383379"/>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7620578" y="2868543"/>
            <a:ext cx="3885317"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перебор гипотез по графу</a:t>
            </a:r>
            <a:r>
              <a:rPr sz="1200" b="0" i="0">
                <a:solidFill>
                  <a:srgbClr val="21295C"/>
                </a:solidFill>
                <a:latin typeface="Arial"/>
              </a:rPr>
              <a:t> (анализ · наблюдение)</a:t>
            </a:r>
          </a:p>
        </p:txBody>
      </p:sp>
      <p:sp>
        <p:nvSpPr>
          <p:cNvPr id="45" name="TextBox 44"/>
          <p:cNvSpPr txBox="1"/>
          <p:nvPr/>
        </p:nvSpPr>
        <p:spPr>
          <a:xfrm>
            <a:off x="539496" y="3398227"/>
            <a:ext cx="11112703" cy="253366"/>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Полужирная клетка — её занял этот раздел. В скобках — кто занимал её раньше. Прочерк — пусто.</a:t>
            </a:r>
          </a:p>
        </p:txBody>
      </p:sp>
      <p:sp>
        <p:nvSpPr>
          <p:cNvPr id="46" name="TextBox 45"/>
          <p:cNvSpPr txBox="1"/>
          <p:nvPr/>
        </p:nvSpPr>
        <p:spPr>
          <a:xfrm>
            <a:off x="539496" y="3797897"/>
            <a:ext cx="11112703" cy="506732"/>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Несущая клетка раздела в окно не попадает: это генерация на структуре</a:t>
            </a:r>
            <a:r>
              <a:rPr sz="1250" b="0" i="0">
                <a:solidFill>
                  <a:srgbClr val="21295C"/>
                </a:solidFill>
                <a:latin typeface="Arial"/>
              </a:rPr>
              <a:t> — молекула под мишень, дизайн белка. Строки «генерация» в окне нет вовсе: вход свёл поиск и генерацию одной строкой. Клетку добавляет отрасль.</a:t>
            </a:r>
          </a:p>
        </p:txBody>
      </p:sp>
      <p:sp>
        <p:nvSpPr>
          <p:cNvPr id="47" name="TextBox 46"/>
          <p:cNvSpPr txBox="1"/>
          <p:nvPr/>
        </p:nvSpPr>
        <p:spPr>
          <a:xfrm>
            <a:off x="539496" y="4450934"/>
            <a:ext cx="11112703" cy="253366"/>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Текст и изображение в этом разделе пусты целиком:</a:t>
            </a:r>
            <a:r>
              <a:rPr sz="1250" b="0" i="0">
                <a:solidFill>
                  <a:srgbClr val="21295C"/>
                </a:solidFill>
                <a:latin typeface="Arial"/>
              </a:rPr>
              <a:t> история успеха на снимке — история не про разработку лекарства.</a:t>
            </a:r>
          </a:p>
        </p:txBody>
      </p:sp>
      <p:sp>
        <p:nvSpPr>
          <p:cNvPr id="48" name="Rounded Rectangle 47"/>
          <p:cNvSpPr/>
          <p:nvPr/>
        </p:nvSpPr>
        <p:spPr>
          <a:xfrm>
            <a:off x="630936" y="4937917"/>
            <a:ext cx="100584" cy="100584"/>
          </a:xfrm>
          <a:prstGeom prst="roundRect">
            <a:avLst>
              <a:gd name="adj" fmla="val 50000"/>
            </a:avLst>
          </a:prstGeom>
          <a:solidFill>
            <a:srgbClr val="028090"/>
          </a:solidFill>
          <a:ln>
            <a:noFill/>
          </a:ln>
          <a:effectLst/>
        </p:spPr>
        <p:txBody>
          <a:bodyPr rtlCol="0" anchor="ctr"/>
          <a:lstStyle/>
          <a:p>
            <a:pPr algn="ctr"/>
          </a:p>
        </p:txBody>
      </p:sp>
      <p:sp>
        <p:nvSpPr>
          <p:cNvPr id="49" name="TextBox 48"/>
          <p:cNvSpPr txBox="1"/>
          <p:nvPr/>
        </p:nvSpPr>
        <p:spPr>
          <a:xfrm>
            <a:off x="923544" y="4850605"/>
            <a:ext cx="10728655" cy="253366"/>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генерация молекулы и белка</a:t>
            </a:r>
            <a:r>
              <a:rPr sz="1250" b="0" i="0">
                <a:solidFill>
                  <a:srgbClr val="21295C"/>
                </a:solidFill>
                <a:latin typeface="Arial"/>
              </a:rPr>
              <a:t> — Chemistry42 · REINVENT · RFdiffusion · AlphaFold 3</a:t>
            </a:r>
          </a:p>
        </p:txBody>
      </p:sp>
      <p:sp>
        <p:nvSpPr>
          <p:cNvPr id="50" name="Rounded Rectangle 49"/>
          <p:cNvSpPr/>
          <p:nvPr/>
        </p:nvSpPr>
        <p:spPr>
          <a:xfrm>
            <a:off x="630936" y="5337588"/>
            <a:ext cx="100584" cy="100584"/>
          </a:xfrm>
          <a:prstGeom prst="roundRect">
            <a:avLst>
              <a:gd name="adj" fmla="val 50000"/>
            </a:avLst>
          </a:prstGeom>
          <a:solidFill>
            <a:srgbClr val="028090"/>
          </a:solidFill>
          <a:ln>
            <a:noFill/>
          </a:ln>
          <a:effectLst/>
        </p:spPr>
        <p:txBody>
          <a:bodyPr rtlCol="0" anchor="ctr"/>
          <a:lstStyle/>
          <a:p>
            <a:pPr algn="ctr"/>
          </a:p>
        </p:txBody>
      </p:sp>
      <p:sp>
        <p:nvSpPr>
          <p:cNvPr id="51" name="TextBox 50"/>
          <p:cNvSpPr txBox="1"/>
          <p:nvPr/>
        </p:nvSpPr>
        <p:spPr>
          <a:xfrm>
            <a:off x="923544" y="5250275"/>
            <a:ext cx="10728655" cy="253366"/>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перебор гипотез «мишень — болезнь — препарат»</a:t>
            </a:r>
            <a:r>
              <a:rPr sz="1250" b="0" i="0">
                <a:solidFill>
                  <a:srgbClr val="21295C"/>
                </a:solidFill>
                <a:latin typeface="Arial"/>
              </a:rPr>
              <a:t> — модель на графе связей</a:t>
            </a:r>
          </a:p>
        </p:txBody>
      </p:sp>
      <p:sp>
        <p:nvSpPr>
          <p:cNvPr id="52" name="Rectangle 5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543800" y="914400"/>
            <a:ext cx="4144975" cy="3177311"/>
          </a:xfrm>
          <a:prstGeom prst="roundRect">
            <a:avLst>
              <a:gd name="adj" fmla="val 9593"/>
            </a:avLst>
          </a:prstGeom>
          <a:solidFill>
            <a:srgbClr val="F4F7FA"/>
          </a:solidFill>
          <a:ln w="19050">
            <a:solidFill>
              <a:srgbClr val="1C7293"/>
            </a:solidFill>
          </a:ln>
          <a:effectLst/>
        </p:spPr>
        <p:txBody>
          <a:bodyPr rtlCol="0" anchor="ctr"/>
          <a:lstStyle/>
          <a:p>
            <a:pPr algn="ctr"/>
          </a:p>
        </p:txBody>
      </p:sp>
      <p:pic>
        <p:nvPicPr>
          <p:cNvPr id="5" name="Picture 4" descr="s88-endoskopicheskiy-kabinet.jpg"/>
          <p:cNvPicPr>
            <a:picLocks noChangeAspect="1"/>
          </p:cNvPicPr>
          <p:nvPr/>
        </p:nvPicPr>
        <p:blipFill>
          <a:blip r:embed="rId2"/>
          <a:stretch>
            <a:fillRect/>
          </a:stretch>
        </p:blipFill>
        <p:spPr>
          <a:xfrm>
            <a:off x="7680960" y="1051560"/>
            <a:ext cx="3870655" cy="2902991"/>
          </a:xfrm>
          <a:prstGeom prst="rect">
            <a:avLst/>
          </a:prstGeom>
        </p:spPr>
      </p:pic>
      <p:sp>
        <p:nvSpPr>
          <p:cNvPr id="6" name="TextBox 5"/>
          <p:cNvSpPr txBox="1"/>
          <p:nvPr/>
        </p:nvSpPr>
        <p:spPr>
          <a:xfrm>
            <a:off x="704088" y="960120"/>
            <a:ext cx="667512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8. Что стало с теми, кто решает</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Лекция мерила работу. Что стало с человеком внутри неё — не сказал ни один замер.</a:t>
            </a:r>
          </a:p>
        </p:txBody>
      </p:sp>
      <p:sp>
        <p:nvSpPr>
          <p:cNvPr id="9" name="TextBox 8"/>
          <p:cNvSpPr txBox="1"/>
          <p:nvPr/>
        </p:nvSpPr>
        <p:spPr>
          <a:xfrm>
            <a:off x="704088" y="2613331"/>
            <a:ext cx="647395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1 разбор · 2 классических режима с числами · 1 плоскость без разбора</a:t>
            </a:r>
          </a:p>
        </p:txBody>
      </p:sp>
      <p:sp>
        <p:nvSpPr>
          <p:cNvPr id="10" name="TextBox 9"/>
          <p:cNvSpPr txBox="1"/>
          <p:nvPr/>
        </p:nvSpPr>
        <p:spPr>
          <a:xfrm>
            <a:off x="704088" y="3382105"/>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Разбор один, и он единственный, снятый на реальной работе: </a:t>
            </a:r>
            <a:r>
              <a:rPr sz="1550" b="1" i="0">
                <a:solidFill>
                  <a:srgbClr val="21295C"/>
                </a:solidFill>
                <a:latin typeface="Arial"/>
              </a:rPr>
              <a:t>Пример 1: доля обнаружения упала там, где помощника не было</a:t>
            </a:r>
          </a:p>
        </p:txBody>
      </p:sp>
      <p:sp>
        <p:nvSpPr>
          <p:cNvPr id="11" name="TextBox 10"/>
          <p:cNvSpPr txBox="1"/>
          <p:nvPr/>
        </p:nvSpPr>
        <p:spPr>
          <a:xfrm>
            <a:off x="704088" y="4150878"/>
            <a:ext cx="647395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Рядом — плоскость без собственного разбора: </a:t>
            </a:r>
            <a:r>
              <a:rPr sz="1550" b="1" i="0">
                <a:solidFill>
                  <a:srgbClr val="21295C"/>
                </a:solidFill>
                <a:latin typeface="Arial"/>
              </a:rPr>
              <a:t>чего про доверие не измерено</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Что делают участники на стадии осмотра — до всякой обученной модели</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5373471"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Врач вернулся после года без процедур</a:t>
            </a:r>
            <a:r>
              <a:rPr sz="1500" b="0" i="0">
                <a:solidFill>
                  <a:srgbClr val="21295C"/>
                </a:solidFill>
                <a:latin typeface="Arial"/>
              </a:rPr>
              <a:t> — административная должность, долгая болезнь, отпуск по уходу за ребёнком.</a:t>
            </a:r>
          </a:p>
          <a:p>
            <a:pPr algn="l">
              <a:lnSpc>
                <a:spcPct val="126000"/>
              </a:lnSpc>
              <a:spcBef>
                <a:spcPts val="700"/>
              </a:spcBef>
            </a:pPr>
            <a:r>
              <a:rPr sz="1500" b="0" i="0">
                <a:solidFill>
                  <a:srgbClr val="21295C"/>
                </a:solidFill>
                <a:latin typeface="Arial"/>
              </a:rPr>
              <a:t/>
            </a:r>
            <a:r>
              <a:rPr sz="1500" b="0" i="0">
                <a:solidFill>
                  <a:srgbClr val="21295C"/>
                </a:solidFill>
                <a:latin typeface="Arial"/>
              </a:rPr>
              <a:t>• диплом тот же, сертификат действующий, </a:t>
            </a:r>
            <a:r>
              <a:rPr sz="1500" b="1" i="0">
                <a:solidFill>
                  <a:srgbClr val="21295C"/>
                </a:solidFill>
                <a:latin typeface="Arial"/>
              </a:rPr>
              <a:t>допуск не отзывали</a:t>
            </a:r>
            <a:r>
              <a:rPr sz="1500" b="0" i="0">
                <a:solidFill>
                  <a:srgbClr val="21295C"/>
                </a:solidFill>
                <a:latin typeface="Arial"/>
              </a:rPr>
              <a:t>: отзывать его было не за что</a:t>
            </a:r>
          </a:p>
          <a:p>
            <a:pPr algn="l">
              <a:lnSpc>
                <a:spcPct val="126000"/>
              </a:lnSpc>
              <a:spcBef>
                <a:spcPts val="700"/>
              </a:spcBef>
            </a:pPr>
            <a:r>
              <a:rPr sz="1500" b="0" i="0">
                <a:solidFill>
                  <a:srgbClr val="21295C"/>
                </a:solidFill>
                <a:latin typeface="Arial"/>
              </a:rPr>
              <a:t/>
            </a:r>
            <a:r>
              <a:rPr sz="1500" b="0" i="0">
                <a:solidFill>
                  <a:srgbClr val="21295C"/>
                </a:solidFill>
                <a:latin typeface="Arial"/>
              </a:rPr>
              <a:t>• первая процедура идёт иначе: прибор продвигается медленнее, рука дольше ищет угол изгиба, складку врач проходит мимо</a:t>
            </a:r>
          </a:p>
          <a:p>
            <a:pPr algn="l">
              <a:lnSpc>
                <a:spcPct val="126000"/>
              </a:lnSpc>
              <a:spcBef>
                <a:spcPts val="700"/>
              </a:spcBef>
            </a:pPr>
            <a:r>
              <a:rPr sz="1500" b="0" i="0">
                <a:solidFill>
                  <a:srgbClr val="21295C"/>
                </a:solidFill>
                <a:latin typeface="Arial"/>
              </a:rPr>
              <a:t/>
            </a:r>
            <a:r>
              <a:rPr sz="1500" b="0" i="0">
                <a:solidFill>
                  <a:srgbClr val="21295C"/>
                </a:solidFill>
                <a:latin typeface="Arial"/>
              </a:rPr>
              <a:t>• осложнений нет, протокол написан, пациент отпущен домой — и сам он этого не знает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Восемь действий стадии.</a:t>
            </a:r>
            <a:r>
              <a:rPr sz="1500" b="0" i="0">
                <a:solidFill>
                  <a:srgbClr val="21295C"/>
                </a:solidFill>
                <a:latin typeface="Arial"/>
              </a:rPr>
              <a:t> 1. Подготовить пациента · 2. Ввести прибор до слепой кишки · 3. Осматривать при выведении · 4. Заглянуть за складку · 5. Снять найденное · 6. Отправить на гистологию · 7. Записать протокол · 8. Посчитать показатели врача.</a:t>
            </a:r>
          </a:p>
        </p:txBody>
      </p:sp>
      <p:sp>
        <p:nvSpPr>
          <p:cNvPr id="6" name="TextBox 5"/>
          <p:cNvSpPr txBox="1"/>
          <p:nvPr/>
        </p:nvSpPr>
        <p:spPr>
          <a:xfrm>
            <a:off x="6278727" y="1335024"/>
            <a:ext cx="5373471"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Семь действий делает человек; восьмое профессия делает за него.</a:t>
            </a:r>
            <a:r>
              <a:rPr sz="1500" b="0" i="0">
                <a:solidFill>
                  <a:srgbClr val="21295C"/>
                </a:solidFill>
                <a:latin typeface="Arial"/>
              </a:rPr>
              <a:t> Три опоры, и ни одна не спрашивает самого человека: </a:t>
            </a:r>
            <a:r>
              <a:rPr sz="1500" b="1" i="0">
                <a:solidFill>
                  <a:srgbClr val="21295C"/>
                </a:solidFill>
                <a:latin typeface="Arial"/>
              </a:rPr>
              <a:t>объём практики</a:t>
            </a:r>
            <a:r>
              <a:rPr sz="1500" b="0" i="0">
                <a:solidFill>
                  <a:srgbClr val="21295C"/>
                </a:solidFill>
                <a:latin typeface="Arial"/>
              </a:rPr>
              <a:t> · </a:t>
            </a:r>
            <a:r>
              <a:rPr sz="1500" b="1" i="0">
                <a:solidFill>
                  <a:srgbClr val="21295C"/>
                </a:solidFill>
                <a:latin typeface="Arial"/>
              </a:rPr>
              <a:t>аккредитация</a:t>
            </a:r>
            <a:r>
              <a:rPr sz="1500" b="0" i="0">
                <a:solidFill>
                  <a:srgbClr val="21295C"/>
                </a:solidFill>
                <a:latin typeface="Arial"/>
              </a:rPr>
              <a:t> · </a:t>
            </a:r>
            <a:r>
              <a:rPr sz="1500" b="1" i="0">
                <a:solidFill>
                  <a:srgbClr val="21295C"/>
                </a:solidFill>
                <a:latin typeface="Arial"/>
              </a:rPr>
              <a:t>повторная сертификация</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С обученной моделью — один шаг из восьми:</a:t>
            </a:r>
            <a:r>
              <a:rPr sz="1500" b="0" i="0">
                <a:solidFill>
                  <a:srgbClr val="21295C"/>
                </a:solidFill>
                <a:latin typeface="Arial"/>
              </a:rPr>
              <a:t> осмотр при выведении (3), рамка на участке в реальном времени. </a:t>
            </a:r>
            <a:r>
              <a:rPr sz="1500" b="1" i="0">
                <a:solidFill>
                  <a:srgbClr val="21295C"/>
                </a:solidFill>
                <a:latin typeface="Arial"/>
              </a:rPr>
              <a:t>Новый шаг — решить, доверять ли рамке.</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доля обнаружения</a:t>
            </a:r>
            <a:r>
              <a:rPr sz="1500" b="0" i="0">
                <a:solidFill>
                  <a:srgbClr val="21295C"/>
                </a:solidFill>
                <a:latin typeface="Arial"/>
              </a:rPr>
              <a:t> — доля процедур с находкой, её нельзя получить старанием</a:t>
            </a:r>
          </a:p>
          <a:p>
            <a:pPr algn="l">
              <a:lnSpc>
                <a:spcPct val="126000"/>
              </a:lnSpc>
              <a:spcBef>
                <a:spcPts val="7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время выведения прибора</a:t>
            </a:r>
            <a:r>
              <a:rPr sz="1500" b="0" i="0">
                <a:solidFill>
                  <a:srgbClr val="21295C"/>
                </a:solidFill>
                <a:latin typeface="Arial"/>
              </a:rPr>
              <a:t> — величина дисциплинарная, нижняя граница назначена рекомендациями</a:t>
            </a:r>
          </a:p>
          <a:p>
            <a:pPr algn="l">
              <a:lnSpc>
                <a:spcPct val="126000"/>
              </a:lnSpc>
              <a:spcBef>
                <a:spcPts val="700"/>
              </a:spcBef>
            </a:pPr>
            <a:r>
              <a:rPr sz="1500" b="0" i="0">
                <a:solidFill>
                  <a:srgbClr val="21295C"/>
                </a:solidFill>
                <a:latin typeface="Arial"/>
              </a:rPr>
              <a:t/>
            </a:r>
            <a:r>
              <a:rPr sz="1500" b="1" i="0">
                <a:solidFill>
                  <a:srgbClr val="21295C"/>
                </a:solidFill>
                <a:latin typeface="Arial"/>
              </a:rPr>
              <a:t>Навык здесь — расходуемое, и расходуется он молча.</a:t>
            </a:r>
          </a:p>
          <a:p>
            <a:pPr algn="l">
              <a:lnSpc>
                <a:spcPct val="126000"/>
              </a:lnSpc>
              <a:spcBef>
                <a:spcPts val="700"/>
              </a:spcBef>
            </a:pPr>
            <a:r>
              <a:rPr sz="1500" b="0" i="0">
                <a:solidFill>
                  <a:srgbClr val="21295C"/>
                </a:solidFill>
                <a:latin typeface="Arial"/>
              </a:rPr>
              <a:t/>
            </a:r>
            <a:r>
              <a:rPr sz="1500" b="1" i="0">
                <a:solidFill>
                  <a:srgbClr val="21295C"/>
                </a:solidFill>
                <a:latin typeface="Arial"/>
              </a:rPr>
              <a:t>У кого в работе есть внешняя числовая проверка собственной формы — и кто её считает?</a:t>
            </a:r>
          </a:p>
        </p:txBody>
      </p:sp>
      <p:sp>
        <p:nvSpPr>
          <p:cNvPr id="7" name="Rectangle 6"/>
          <p:cNvSpPr/>
          <p:nvPr/>
        </p:nvSpPr>
        <p:spPr>
          <a:xfrm>
            <a:off x="6091275" y="1335024"/>
            <a:ext cx="9144" cy="4900416"/>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9" name="TextBox 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Рекомендации профессионального общества: доля обнаружения аденом и время выведения прибора как показатели качества колоноскопии</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Цена обеих ошибок, названная до всякой точности</a:t>
            </a:r>
          </a:p>
        </p:txBody>
      </p:sp>
      <p:sp>
        <p:nvSpPr>
          <p:cNvPr id="4" name="Rounded Rectangle 3"/>
          <p:cNvSpPr/>
          <p:nvPr/>
        </p:nvSpPr>
        <p:spPr>
          <a:xfrm>
            <a:off x="502920" y="1335024"/>
            <a:ext cx="3389223"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1149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ПРОПУСТИТЬ ОБРАЗОВАНИЕ</a:t>
            </a:r>
          </a:p>
        </p:txBody>
      </p:sp>
      <p:sp>
        <p:nvSpPr>
          <p:cNvPr id="6" name="TextBox 5"/>
          <p:cNvSpPr txBox="1"/>
          <p:nvPr/>
        </p:nvSpPr>
        <p:spPr>
          <a:xfrm>
            <a:off x="640080" y="1725375"/>
            <a:ext cx="3114903"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остаётся в человеке до следующего обследования</a:t>
            </a:r>
          </a:p>
        </p:txBody>
      </p:sp>
      <p:sp>
        <p:nvSpPr>
          <p:cNvPr id="7" name="TextBox 6"/>
          <p:cNvSpPr txBox="1"/>
          <p:nvPr/>
        </p:nvSpPr>
        <p:spPr>
          <a:xfrm>
            <a:off x="640080" y="2933220"/>
            <a:ext cx="31149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так и возникает болезнь, найденная между обследованиями</a:t>
            </a:r>
          </a:p>
        </p:txBody>
      </p:sp>
      <p:sp>
        <p:nvSpPr>
          <p:cNvPr id="8" name="Rounded Rectangle 7"/>
          <p:cNvSpPr/>
          <p:nvPr/>
        </p:nvSpPr>
        <p:spPr>
          <a:xfrm>
            <a:off x="4056735" y="1335024"/>
            <a:ext cx="3389223" cy="2157843"/>
          </a:xfrm>
          <a:prstGeom prst="roundRect">
            <a:avLst>
              <a:gd name="adj" fmla="val 1412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193895" y="1472184"/>
            <a:ext cx="31149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УВИДЕТЬ ЛИШНЕЕ</a:t>
            </a:r>
          </a:p>
        </p:txBody>
      </p:sp>
      <p:sp>
        <p:nvSpPr>
          <p:cNvPr id="10" name="TextBox 9"/>
          <p:cNvSpPr txBox="1"/>
          <p:nvPr/>
        </p:nvSpPr>
        <p:spPr>
          <a:xfrm>
            <a:off x="4193895" y="1725375"/>
            <a:ext cx="3114903" cy="1105996"/>
          </a:xfrm>
          <a:prstGeom prst="rect">
            <a:avLst/>
          </a:prstGeom>
          <a:noFill/>
        </p:spPr>
        <p:txBody>
          <a:bodyPr wrap="square" lIns="0" rIns="0" tIns="0" bIns="0" anchor="t">
            <a:spAutoFit/>
          </a:bodyPr>
          <a:lstStyle/>
          <a:p>
            <a:pPr algn="l">
              <a:lnSpc>
                <a:spcPct val="108000"/>
              </a:lnSpc>
            </a:pPr>
            <a:r>
              <a:rPr sz="2100" b="1" i="0">
                <a:solidFill>
                  <a:srgbClr val="F0AB00"/>
                </a:solidFill>
                <a:latin typeface="Arial"/>
              </a:rPr>
              <a:t>снятие, кровотечение, гистология, повторный визит</a:t>
            </a:r>
          </a:p>
        </p:txBody>
      </p:sp>
      <p:sp>
        <p:nvSpPr>
          <p:cNvPr id="11" name="TextBox 10"/>
          <p:cNvSpPr txBox="1"/>
          <p:nvPr/>
        </p:nvSpPr>
        <p:spPr>
          <a:xfrm>
            <a:off x="4193895" y="2831371"/>
            <a:ext cx="31149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цена ложной тревоги считается в осложнениях и визитах</a:t>
            </a:r>
          </a:p>
        </p:txBody>
      </p:sp>
      <p:sp>
        <p:nvSpPr>
          <p:cNvPr id="12" name="Rounded Rectangle 11"/>
          <p:cNvSpPr/>
          <p:nvPr/>
        </p:nvSpPr>
        <p:spPr>
          <a:xfrm>
            <a:off x="374904" y="3584307"/>
            <a:ext cx="11441887" cy="2412286"/>
          </a:xfrm>
          <a:prstGeom prst="roundRect">
            <a:avLst>
              <a:gd name="adj" fmla="val 12635"/>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675747"/>
            <a:ext cx="11112703" cy="256046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Обратная связь приходит через годы — поэтому плохой осмотр не чувствуется плохим.</a:t>
            </a:r>
          </a:p>
          <a:p>
            <a:pPr algn="l">
              <a:lnSpc>
                <a:spcPct val="126000"/>
              </a:lnSpc>
              <a:spcBef>
                <a:spcPts val="700"/>
              </a:spcBef>
            </a:pPr>
            <a:r>
              <a:rPr sz="1500" b="0" i="0">
                <a:solidFill>
                  <a:srgbClr val="21295C"/>
                </a:solidFill>
                <a:latin typeface="Arial"/>
              </a:rPr>
              <a:t/>
            </a:r>
            <a:r>
              <a:rPr sz="1500" b="0" i="0">
                <a:solidFill>
                  <a:srgbClr val="21295C"/>
                </a:solidFill>
                <a:latin typeface="Arial"/>
              </a:rPr>
              <a:t>• несимметричность двух цен назначил орган здравоохранения, когда решал, кого и с какой периодичностью звать: порог здесь не свойство модели и не выбор врача</a:t>
            </a:r>
          </a:p>
          <a:p>
            <a:pPr algn="l">
              <a:lnSpc>
                <a:spcPct val="126000"/>
              </a:lnSpc>
              <a:spcBef>
                <a:spcPts val="700"/>
              </a:spcBef>
            </a:pPr>
            <a:r>
              <a:rPr sz="1500" b="0" i="0">
                <a:solidFill>
                  <a:srgbClr val="21295C"/>
                </a:solidFill>
                <a:latin typeface="Arial"/>
              </a:rPr>
              <a:t/>
            </a:r>
            <a:r>
              <a:rPr sz="1500" b="0" i="0">
                <a:solidFill>
                  <a:srgbClr val="21295C"/>
                </a:solidFill>
                <a:latin typeface="Arial"/>
              </a:rPr>
              <a:t>• в инженерной работе о промахе сообщает ближайшая сборка или проверка, в тот же день</a:t>
            </a:r>
          </a:p>
          <a:p>
            <a:pPr algn="l">
              <a:lnSpc>
                <a:spcPct val="126000"/>
              </a:lnSpc>
              <a:spcBef>
                <a:spcPts val="700"/>
              </a:spcBef>
            </a:pPr>
            <a:r>
              <a:rPr sz="1500" b="0" i="0">
                <a:solidFill>
                  <a:srgbClr val="21295C"/>
                </a:solidFill>
                <a:latin typeface="Arial"/>
              </a:rPr>
              <a:t/>
            </a:r>
            <a:r>
              <a:rPr sz="1500" b="0" i="0">
                <a:solidFill>
                  <a:srgbClr val="21295C"/>
                </a:solidFill>
                <a:latin typeface="Arial"/>
              </a:rPr>
              <a:t>• здесь ближайший прибор — следующий визит того же пациента, через годы и к другому врачу</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Поэтому три опоры и считают за человека: сам он узнать не может.</a:t>
            </a:r>
          </a:p>
        </p:txBody>
      </p:sp>
      <p:sp>
        <p:nvSpPr>
          <p:cNvPr id="14" name="Rounded Rectangle 13"/>
          <p:cNvSpPr/>
          <p:nvPr/>
        </p:nvSpPr>
        <p:spPr>
          <a:xfrm>
            <a:off x="7756855" y="1335024"/>
            <a:ext cx="3931920" cy="2325253"/>
          </a:xfrm>
          <a:prstGeom prst="roundRect">
            <a:avLst>
              <a:gd name="adj" fmla="val 13108"/>
            </a:avLst>
          </a:prstGeom>
          <a:solidFill>
            <a:srgbClr val="F4F7FA"/>
          </a:solidFill>
          <a:ln w="19050">
            <a:solidFill>
              <a:srgbClr val="1C7293"/>
            </a:solidFill>
          </a:ln>
          <a:effectLst/>
        </p:spPr>
        <p:txBody>
          <a:bodyPr rtlCol="0" anchor="ctr"/>
          <a:lstStyle/>
          <a:p>
            <a:pPr algn="ctr"/>
          </a:p>
        </p:txBody>
      </p:sp>
      <p:pic>
        <p:nvPicPr>
          <p:cNvPr id="15" name="Picture 14" descr="s90-ekran-protsedury-panel-b.jpg"/>
          <p:cNvPicPr>
            <a:picLocks noChangeAspect="1"/>
          </p:cNvPicPr>
          <p:nvPr/>
        </p:nvPicPr>
        <p:blipFill>
          <a:blip r:embed="rId2"/>
          <a:stretch>
            <a:fillRect/>
          </a:stretch>
        </p:blipFill>
        <p:spPr>
          <a:xfrm>
            <a:off x="7894015" y="1472184"/>
            <a:ext cx="3657600" cy="2050933"/>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Иллюстрация: Kader и соавт., npj Digital Medicine 2025, рис. 3, панель b</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Без модели: оба классических режима в одной единице</a:t>
            </a:r>
          </a:p>
        </p:txBody>
      </p:sp>
      <p:sp>
        <p:nvSpPr>
          <p:cNvPr id="4" name="Rounded Rectangle 3"/>
          <p:cNvSpPr/>
          <p:nvPr/>
        </p:nvSpPr>
        <p:spPr>
          <a:xfrm>
            <a:off x="502920" y="1335024"/>
            <a:ext cx="5510631"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ДИСЦИПЛИНА ОСМОТРА: БЫЛО → СТАЛО</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27,1 → 36,6 из ста процедур</a:t>
            </a:r>
          </a:p>
        </p:txBody>
      </p:sp>
      <p:sp>
        <p:nvSpPr>
          <p:cNvPr id="7" name="TextBox 6"/>
          <p:cNvSpPr txBox="1"/>
          <p:nvPr/>
        </p:nvSpPr>
        <p:spPr>
          <a:xfrm>
            <a:off x="640080"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рандомизированное испытание, 1 027 пациентов, время выведения прибора удлинили с шести минут до девяти, засекали по таймеру</a:t>
            </a:r>
          </a:p>
        </p:txBody>
      </p:sp>
      <p:sp>
        <p:nvSpPr>
          <p:cNvPr id="8" name="Rounded Rectangle 7"/>
          <p:cNvSpPr/>
          <p:nvPr/>
        </p:nvSpPr>
        <p:spPr>
          <a:xfrm>
            <a:off x="6178143" y="1335024"/>
            <a:ext cx="5510631" cy="1588240"/>
          </a:xfrm>
          <a:prstGeom prst="roundRect">
            <a:avLst>
              <a:gd name="adj" fmla="val 19191"/>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ВТОРОЙ НАБЛЮДАТЕЛЬ: БЫЛО → СТАЛО</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39,3 → 45,7 из ста процедур</a:t>
            </a:r>
          </a:p>
        </p:txBody>
      </p:sp>
      <p:sp>
        <p:nvSpPr>
          <p:cNvPr id="11" name="TextBox 10"/>
          <p:cNvSpPr txBox="1"/>
          <p:nvPr/>
        </p:nvSpPr>
        <p:spPr>
          <a:xfrm>
            <a:off x="6315303" y="2152374"/>
            <a:ext cx="523631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сводный разбор трёх рандомизированных испытаний, 1 676 пациентов; авторы обзора называют высокий риск систематической ошибки у всех включённых работ</a:t>
            </a:r>
          </a:p>
        </p:txBody>
      </p:sp>
      <p:sp>
        <p:nvSpPr>
          <p:cNvPr id="12" name="Rounded Rectangle 11"/>
          <p:cNvSpPr/>
          <p:nvPr/>
        </p:nvSpPr>
        <p:spPr>
          <a:xfrm>
            <a:off x="374904" y="3014704"/>
            <a:ext cx="11441887" cy="2561035"/>
          </a:xfrm>
          <a:prstGeom prst="roundRect">
            <a:avLst>
              <a:gd name="adj" fmla="val 11901"/>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106144"/>
            <a:ext cx="5373471" cy="295353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Дисциплина осмотра</a:t>
            </a:r>
            <a:r>
              <a:rPr sz="1500" b="0" i="0">
                <a:solidFill>
                  <a:srgbClr val="21295C"/>
                </a:solidFill>
                <a:latin typeface="Arial"/>
              </a:rPr>
              <a:t> — время выведения прибора удлинили с шести минут до девяти.</a:t>
            </a:r>
          </a:p>
          <a:p>
            <a:pPr algn="l">
              <a:lnSpc>
                <a:spcPct val="126000"/>
              </a:lnSpc>
              <a:spcBef>
                <a:spcPts val="700"/>
              </a:spcBef>
            </a:pPr>
            <a:r>
              <a:rPr sz="1500" b="0" i="0">
                <a:solidFill>
                  <a:srgbClr val="21295C"/>
                </a:solidFill>
                <a:latin typeface="Arial"/>
              </a:rPr>
              <a:t/>
            </a:r>
            <a:r>
              <a:rPr sz="1500" b="1" i="0">
                <a:solidFill>
                  <a:srgbClr val="21295C"/>
                </a:solidFill>
                <a:latin typeface="Arial"/>
              </a:rPr>
              <a:t>Второй наблюдатель в кабинете</a:t>
            </a:r>
            <a:r>
              <a:rPr sz="1500" b="0" i="0">
                <a:solidFill>
                  <a:srgbClr val="21295C"/>
                </a:solidFill>
                <a:latin typeface="Arial"/>
              </a:rPr>
              <a:t> — на тот же экран смотрит ещё один человек.</a:t>
            </a:r>
          </a:p>
          <a:p>
            <a:pPr algn="l">
              <a:lnSpc>
                <a:spcPct val="126000"/>
              </a:lnSpc>
              <a:spcBef>
                <a:spcPts val="700"/>
              </a:spcBef>
            </a:pPr>
            <a:r>
              <a:rPr sz="1500" b="0" i="0">
                <a:solidFill>
                  <a:srgbClr val="21295C"/>
                </a:solidFill>
                <a:latin typeface="Arial"/>
              </a:rPr>
              <a:t/>
            </a:r>
            <a:r>
              <a:rPr sz="1500" b="0" i="0">
                <a:solidFill>
                  <a:srgbClr val="21295C"/>
                </a:solidFill>
                <a:latin typeface="Arial"/>
              </a:rPr>
              <a:t>• первый режим стоит </a:t>
            </a:r>
            <a:r>
              <a:rPr sz="1500" b="1" i="0">
                <a:solidFill>
                  <a:srgbClr val="21295C"/>
                </a:solidFill>
                <a:latin typeface="Arial"/>
              </a:rPr>
              <a:t>трёх минут</a:t>
            </a:r>
            <a:r>
              <a:rPr sz="1500" b="0" i="0">
                <a:solidFill>
                  <a:srgbClr val="21295C"/>
                </a:solidFill>
                <a:latin typeface="Arial"/>
              </a:rPr>
              <a:t> времени врача на каждой процедуре, второй — присутствия второго человека</a:t>
            </a:r>
          </a:p>
        </p:txBody>
      </p:sp>
      <p:sp>
        <p:nvSpPr>
          <p:cNvPr id="14" name="TextBox 13"/>
          <p:cNvSpPr txBox="1"/>
          <p:nvPr/>
        </p:nvSpPr>
        <p:spPr>
          <a:xfrm>
            <a:off x="6278727" y="3106144"/>
            <a:ext cx="5373471" cy="2953532"/>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базы у двух приростов разные: </a:t>
            </a:r>
            <a:r>
              <a:rPr sz="1500" b="1" i="0">
                <a:solidFill>
                  <a:srgbClr val="21295C"/>
                </a:solidFill>
                <a:latin typeface="Arial"/>
              </a:rPr>
              <a:t>27,1</a:t>
            </a:r>
            <a:r>
              <a:rPr sz="1500" b="0" i="0">
                <a:solidFill>
                  <a:srgbClr val="21295C"/>
                </a:solidFill>
                <a:latin typeface="Arial"/>
              </a:rPr>
              <a:t> и </a:t>
            </a:r>
            <a:r>
              <a:rPr sz="1500" b="1" i="0">
                <a:solidFill>
                  <a:srgbClr val="21295C"/>
                </a:solidFill>
                <a:latin typeface="Arial"/>
              </a:rPr>
              <a:t>39,3</a:t>
            </a:r>
            <a:r>
              <a:rPr sz="1500" b="0" i="0">
                <a:solidFill>
                  <a:srgbClr val="21295C"/>
                </a:solidFill>
                <a:latin typeface="Arial"/>
              </a:rPr>
              <a:t> — разные исходные доли в разных центрах и популяциях</a:t>
            </a:r>
          </a:p>
          <a:p>
            <a:pPr algn="l">
              <a:lnSpc>
                <a:spcPct val="126000"/>
              </a:lnSpc>
              <a:spcBef>
                <a:spcPts val="700"/>
              </a:spcBef>
            </a:pPr>
            <a:r>
              <a:rPr sz="1500" b="0" i="0">
                <a:solidFill>
                  <a:srgbClr val="21295C"/>
                </a:solidFill>
                <a:latin typeface="Arial"/>
              </a:rPr>
              <a:t/>
            </a:r>
            <a:r>
              <a:rPr sz="1500" b="0" i="0">
                <a:solidFill>
                  <a:srgbClr val="21295C"/>
                </a:solidFill>
                <a:latin typeface="Arial"/>
              </a:rPr>
              <a:t>• два прироста между собой не сравниваются; каждый сравнивается с приростом от помощника в своей работе</a:t>
            </a:r>
          </a:p>
          <a:p>
            <a:pPr algn="l">
              <a:lnSpc>
                <a:spcPct val="126000"/>
              </a:lnSpc>
              <a:spcBef>
                <a:spcPts val="700"/>
              </a:spcBef>
            </a:pPr>
            <a:r>
              <a:rPr sz="1500" b="0" i="0">
                <a:solidFill>
                  <a:srgbClr val="21295C"/>
                </a:solidFill>
                <a:latin typeface="Arial"/>
              </a:rPr>
              <a:t/>
            </a:r>
            <a:r>
              <a:rPr sz="1500" b="1" i="0">
                <a:solidFill>
                  <a:srgbClr val="21295C"/>
                </a:solidFill>
                <a:latin typeface="Arial"/>
              </a:rPr>
              <a:t>Оба классических режима дают прирост того же порядка, что помощник, или больше.</a:t>
            </a:r>
          </a:p>
          <a:p>
            <a:pPr algn="l">
              <a:lnSpc>
                <a:spcPct val="126000"/>
              </a:lnSpc>
              <a:spcBef>
                <a:spcPts val="700"/>
              </a:spcBef>
            </a:pPr>
            <a:r>
              <a:rPr sz="1200" b="0" i="0">
                <a:solidFill>
                  <a:srgbClr val="21295C"/>
                </a:solidFill>
                <a:latin typeface="Arial"/>
              </a:rPr>
              <a:t/>
            </a:r>
            <a:r>
              <a:rPr sz="1200" b="0" i="1">
                <a:solidFill>
                  <a:srgbClr val="1C7293"/>
                </a:solidFill>
                <a:latin typeface="Arial"/>
              </a:rPr>
              <a:t>Расхода навыка у этих двух режимов не измерял никто.</a:t>
            </a:r>
          </a:p>
        </p:txBody>
      </p:sp>
      <p:sp>
        <p:nvSpPr>
          <p:cNvPr id="15" name="Rectangle 14"/>
          <p:cNvSpPr/>
          <p:nvPr/>
        </p:nvSpPr>
        <p:spPr>
          <a:xfrm>
            <a:off x="6091275" y="3106144"/>
            <a:ext cx="9144" cy="2286715"/>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169405"/>
            <a:ext cx="11185855" cy="63373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Zhao S., Yang X., … Bai Y., Clinical Gastroenterology and Hepatology 2022;20(2):e168–e181, DOI 10.1016/j.cgh.2020.11.019</a:t>
            </a:r>
            <a:r>
              <a:rPr sz="1200" b="0" i="1">
                <a:solidFill>
                  <a:srgbClr val="1C7293"/>
                </a:solidFill>
                <a:latin typeface="Arial"/>
              </a:rPr>
              <a:t> · </a:t>
            </a:r>
            <a:r>
              <a:rPr sz="1200" b="0" i="1" u="sng">
                <a:solidFill>
                  <a:srgbClr val="065A82"/>
                </a:solidFill>
                <a:latin typeface="Arial"/>
                <a:hlinkClick r:id="rId3"/>
              </a:rPr>
              <a:t>Xu L. и соавт., Gastroenterology Research and Practice 2016;2016:7631981, DOI 10.1155/2016/7631981</a:t>
            </a:r>
            <a:r>
              <a:rPr sz="1200" b="0" i="1">
                <a:solidFill>
                  <a:srgbClr val="1C7293"/>
                </a:solidFill>
                <a:latin typeface="Arial"/>
              </a:rPr>
              <a:t> · </a:t>
            </a:r>
            <a:r>
              <a:rPr sz="1200" b="0" i="1" u="sng">
                <a:solidFill>
                  <a:srgbClr val="065A82"/>
                </a:solidFill>
                <a:latin typeface="Arial"/>
                <a:hlinkClick r:id="rId4"/>
              </a:rPr>
              <a:t>Lei X. и соавт., International Journal of Colorectal Disease 2024;39(1):19, DOI 10.1007/s00384-023-04585-5</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доля обнаружения упала там, где помощника не было</a:t>
            </a:r>
          </a:p>
        </p:txBody>
      </p:sp>
      <p:sp>
        <p:nvSpPr>
          <p:cNvPr id="4" name="Rounded Rectangle 3"/>
          <p:cNvSpPr/>
          <p:nvPr/>
        </p:nvSpPr>
        <p:spPr>
          <a:xfrm>
            <a:off x="502920" y="1335024"/>
            <a:ext cx="5510631" cy="1373225"/>
          </a:xfrm>
          <a:prstGeom prst="roundRect">
            <a:avLst>
              <a:gd name="adj" fmla="val 2219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ОБНАРУЖЕНИЯ БЕЗ ПОМОЩНИКА: ДО ВНЕДРЕНИЯ → ПОСЛЕ</a:t>
            </a:r>
          </a:p>
        </p:txBody>
      </p:sp>
      <p:sp>
        <p:nvSpPr>
          <p:cNvPr id="6" name="TextBox 5"/>
          <p:cNvSpPr txBox="1"/>
          <p:nvPr/>
        </p:nvSpPr>
        <p:spPr>
          <a:xfrm>
            <a:off x="640080" y="193284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28,4 → 22,4 из ста процедур</a:t>
            </a:r>
          </a:p>
        </p:txBody>
      </p:sp>
      <p:sp>
        <p:nvSpPr>
          <p:cNvPr id="7" name="TextBox 6"/>
          <p:cNvSpPr txBox="1"/>
          <p:nvPr/>
        </p:nvSpPr>
        <p:spPr>
          <a:xfrm>
            <a:off x="640080" y="2359845"/>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226 находок на 795 процедур против 145 на 648</a:t>
            </a:r>
          </a:p>
        </p:txBody>
      </p:sp>
      <p:sp>
        <p:nvSpPr>
          <p:cNvPr id="8" name="Rounded Rectangle 7"/>
          <p:cNvSpPr/>
          <p:nvPr/>
        </p:nvSpPr>
        <p:spPr>
          <a:xfrm>
            <a:off x="6178143" y="1335024"/>
            <a:ext cx="5510631" cy="1373225"/>
          </a:xfrm>
          <a:prstGeom prst="roundRect">
            <a:avLst>
              <a:gd name="adj" fmla="val 2219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ПРИВЕЛО</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минус 6,0 процентного пункта</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девятнадцать врачей, средний стаж 28 лет</a:t>
            </a:r>
          </a:p>
        </p:txBody>
      </p:sp>
      <p:sp>
        <p:nvSpPr>
          <p:cNvPr id="12" name="Rounded Rectangle 11"/>
          <p:cNvSpPr/>
          <p:nvPr/>
        </p:nvSpPr>
        <p:spPr>
          <a:xfrm>
            <a:off x="374904" y="2799689"/>
            <a:ext cx="11441887" cy="3214570"/>
          </a:xfrm>
          <a:prstGeom prst="roundRect">
            <a:avLst>
              <a:gd name="adj" fmla="val 9481"/>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891129"/>
            <a:ext cx="5373471" cy="3345078"/>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В четырёх центрах внедрили помощника, подсвечивающего образование на видео в реальном времени. Затем посмотрели, что стало с процедурами </a:t>
            </a:r>
            <a:r>
              <a:rPr sz="1500" b="1" i="0">
                <a:solidFill>
                  <a:srgbClr val="21295C"/>
                </a:solidFill>
                <a:latin typeface="Arial"/>
              </a:rPr>
              <a:t>без</a:t>
            </a:r>
            <a:r>
              <a:rPr sz="1500" b="0" i="0">
                <a:solidFill>
                  <a:srgbClr val="21295C"/>
                </a:solidFill>
                <a:latin typeface="Arial"/>
              </a:rPr>
              <a:t> помощника, выполненными теми же врачами.</a:t>
            </a:r>
          </a:p>
          <a:p>
            <a:pPr algn="l">
              <a:lnSpc>
                <a:spcPct val="126000"/>
              </a:lnSpc>
              <a:spcBef>
                <a:spcPts val="700"/>
              </a:spcBef>
            </a:pPr>
            <a:r>
              <a:rPr sz="1500" b="0" i="0">
                <a:solidFill>
                  <a:srgbClr val="21295C"/>
                </a:solidFill>
                <a:latin typeface="Arial"/>
              </a:rPr>
              <a:t/>
            </a:r>
            <a:r>
              <a:rPr sz="1500" b="1" i="0">
                <a:solidFill>
                  <a:srgbClr val="21295C"/>
                </a:solidFill>
                <a:latin typeface="Arial"/>
              </a:rPr>
              <a:t>Сила свидетельства названа здесь, на экране:</a:t>
            </a:r>
            <a:r>
              <a:rPr sz="1500" b="0" i="0">
                <a:solidFill>
                  <a:srgbClr val="21295C"/>
                </a:solidFill>
                <a:latin typeface="Arial"/>
              </a:rPr>
              <a:t> ретроспективное наблюдательное, </a:t>
            </a:r>
            <a:r>
              <a:rPr sz="1500" b="1" i="0">
                <a:solidFill>
                  <a:srgbClr val="21295C"/>
                </a:solidFill>
                <a:latin typeface="Arial"/>
              </a:rPr>
              <a:t>не воспроизводилось</a:t>
            </a:r>
            <a:r>
              <a:rPr sz="1500" b="0" i="0">
                <a:solidFill>
                  <a:srgbClr val="21295C"/>
                </a:solidFill>
                <a:latin typeface="Arial"/>
              </a:rPr>
              <a:t>, причинности не доказывает.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Состав спора — тоже на экране:</a:t>
            </a:r>
          </a:p>
          <a:p>
            <a:pPr algn="l">
              <a:lnSpc>
                <a:spcPct val="126000"/>
              </a:lnSpc>
              <a:spcBef>
                <a:spcPts val="700"/>
              </a:spcBef>
            </a:pPr>
            <a:r>
              <a:rPr sz="1500" b="0" i="0">
                <a:solidFill>
                  <a:srgbClr val="21295C"/>
                </a:solidFill>
                <a:latin typeface="Arial"/>
              </a:rPr>
              <a:t/>
            </a:r>
            <a:r>
              <a:rPr sz="1500" b="0" i="0">
                <a:solidFill>
                  <a:srgbClr val="21295C"/>
                </a:solidFill>
                <a:latin typeface="Arial"/>
              </a:rPr>
              <a:t>• опубликованное исправление, три письма и ответ авторов</a:t>
            </a:r>
          </a:p>
        </p:txBody>
      </p:sp>
      <p:sp>
        <p:nvSpPr>
          <p:cNvPr id="14" name="TextBox 13"/>
          <p:cNvSpPr txBox="1"/>
          <p:nvPr/>
        </p:nvSpPr>
        <p:spPr>
          <a:xfrm>
            <a:off x="6278727" y="2891129"/>
            <a:ext cx="5373471" cy="3345078"/>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вторичные исходы </a:t>
            </a:r>
            <a:r>
              <a:rPr sz="1500" b="1" i="0">
                <a:solidFill>
                  <a:srgbClr val="21295C"/>
                </a:solidFill>
                <a:latin typeface="Arial"/>
              </a:rPr>
              <a:t>не просели</a:t>
            </a:r>
            <a:r>
              <a:rPr sz="1500" b="0" i="0">
                <a:solidFill>
                  <a:srgbClr val="21295C"/>
                </a:solidFill>
                <a:latin typeface="Arial"/>
              </a:rPr>
              <a:t>, время выведения прибора в работе </a:t>
            </a:r>
            <a:r>
              <a:rPr sz="1500" b="1" i="0">
                <a:solidFill>
                  <a:srgbClr val="21295C"/>
                </a:solidFill>
                <a:latin typeface="Arial"/>
              </a:rPr>
              <a:t>не измерено вовсе</a:t>
            </a:r>
          </a:p>
          <a:p>
            <a:pPr algn="l">
              <a:lnSpc>
                <a:spcPct val="126000"/>
              </a:lnSpc>
              <a:spcBef>
                <a:spcPts val="700"/>
              </a:spcBef>
            </a:pPr>
            <a:r>
              <a:rPr sz="1500" b="0" i="0">
                <a:solidFill>
                  <a:srgbClr val="21295C"/>
                </a:solidFill>
                <a:latin typeface="Arial"/>
              </a:rPr>
              <a:t/>
            </a:r>
            <a:r>
              <a:rPr sz="1500" b="0" i="0">
                <a:solidFill>
                  <a:srgbClr val="21295C"/>
                </a:solidFill>
                <a:latin typeface="Arial"/>
              </a:rPr>
              <a:t>• нагрузка на тех же врачей выросла с </a:t>
            </a:r>
            <a:r>
              <a:rPr sz="1500" b="1" i="0">
                <a:solidFill>
                  <a:srgbClr val="21295C"/>
                </a:solidFill>
                <a:latin typeface="Arial"/>
              </a:rPr>
              <a:t>795 до 1 382 процедур</a:t>
            </a:r>
            <a:r>
              <a:rPr sz="1500" b="0" i="0">
                <a:solidFill>
                  <a:srgbClr val="21295C"/>
                </a:solidFill>
                <a:latin typeface="Arial"/>
              </a:rPr>
              <a:t> за окно</a:t>
            </a:r>
          </a:p>
          <a:p>
            <a:pPr algn="l">
              <a:lnSpc>
                <a:spcPct val="126000"/>
              </a:lnSpc>
              <a:spcBef>
                <a:spcPts val="700"/>
              </a:spcBef>
            </a:pPr>
            <a:r>
              <a:rPr sz="1500" b="0" i="0">
                <a:solidFill>
                  <a:srgbClr val="21295C"/>
                </a:solidFill>
                <a:latin typeface="Arial"/>
              </a:rPr>
              <a:t/>
            </a:r>
            <a:r>
              <a:rPr sz="1500" b="0" i="0">
                <a:solidFill>
                  <a:srgbClr val="21295C"/>
                </a:solidFill>
                <a:latin typeface="Arial"/>
              </a:rPr>
              <a:t>• у числа 795 меняется знаменатель: в раннем окне помощника ещё не было, поэтому 795 значит одновременно «без помощника» и «всего»; в позднем окне это 648 и 1 382</a:t>
            </a:r>
          </a:p>
        </p:txBody>
      </p:sp>
      <p:sp>
        <p:nvSpPr>
          <p:cNvPr id="15" name="Rectangle 14"/>
          <p:cNvSpPr/>
          <p:nvPr/>
        </p:nvSpPr>
        <p:spPr>
          <a:xfrm>
            <a:off x="6091275" y="2891129"/>
            <a:ext cx="9144" cy="2940250"/>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Budzyń K., Romańczyk M., Kitala D. и соавт., The Lancet Gastroenterology &amp; Hepatology 2025;10(10):896–903, DOI 10.1016/S2468-1253(25)00133-5</a:t>
            </a:r>
            <a:r>
              <a:rPr sz="1200" b="0" i="1">
                <a:solidFill>
                  <a:srgbClr val="1C7293"/>
                </a:solidFill>
                <a:latin typeface="Arial"/>
              </a:rPr>
              <a:t> · </a:t>
            </a:r>
            <a:r>
              <a:rPr sz="1200" b="0" i="1" u="sng">
                <a:solidFill>
                  <a:srgbClr val="065A82"/>
                </a:solidFill>
                <a:latin typeface="Arial"/>
                <a:hlinkClick r:id="rId3"/>
              </a:rPr>
              <a:t>опубликованное исправление 2025;10(11):e12, три письма и ответ авторов 2025;10(12):1060–1062</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исполнитель тот же, но стал хуже</a:t>
            </a:r>
          </a:p>
        </p:txBody>
      </p:sp>
      <p:sp>
        <p:nvSpPr>
          <p:cNvPr id="4" name="Rounded Rectangle 3"/>
          <p:cNvSpPr/>
          <p:nvPr/>
        </p:nvSpPr>
        <p:spPr>
          <a:xfrm>
            <a:off x="502920"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РАСХОД ВИДЕН ЗА</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три месяца</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окно наблюдения после внедрения помощника</a:t>
            </a:r>
          </a:p>
        </p:txBody>
      </p:sp>
      <p:sp>
        <p:nvSpPr>
          <p:cNvPr id="8" name="Rounded Rectangle 7"/>
          <p:cNvSpPr/>
          <p:nvPr/>
        </p:nvSpPr>
        <p:spPr>
          <a:xfrm>
            <a:off x="4286402"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ПЕРЕНОС, ДРУГАЯ ОТРАСЛЬ: ПРАКТИКА С МОДЕЛЬЮ</a:t>
            </a:r>
          </a:p>
        </p:txBody>
      </p:sp>
      <p:sp>
        <p:nvSpPr>
          <p:cNvPr id="10" name="TextBox 9"/>
          <p:cNvSpPr txBox="1"/>
          <p:nvPr/>
        </p:nvSpPr>
        <p:spPr>
          <a:xfrm>
            <a:off x="4423562"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плюс 48 процентов к контролю</a:t>
            </a:r>
          </a:p>
        </p:txBody>
      </p:sp>
      <p:sp>
        <p:nvSpPr>
          <p:cNvPr id="11" name="TextBox 10"/>
          <p:cNvSpPr txBox="1"/>
          <p:nvPr/>
        </p:nvSpPr>
        <p:spPr>
          <a:xfrm>
            <a:off x="4423562"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школьники на задачах математики; полевое рандомизированное</a:t>
            </a:r>
          </a:p>
        </p:txBody>
      </p:sp>
      <p:sp>
        <p:nvSpPr>
          <p:cNvPr id="12" name="Rounded Rectangle 11"/>
          <p:cNvSpPr/>
          <p:nvPr/>
        </p:nvSpPr>
        <p:spPr>
          <a:xfrm>
            <a:off x="8069884" y="1335024"/>
            <a:ext cx="3618890"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ТОТ ЖЕ ПЕРЕНОС: ЭКЗАМЕН БЕЗ МОДЕЛИ</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на 17 процентов хуже контроля</a:t>
            </a:r>
          </a:p>
        </p:txBody>
      </p:sp>
      <p:sp>
        <p:nvSpPr>
          <p:cNvPr id="15" name="TextBox 14"/>
          <p:cNvSpPr txBox="1"/>
          <p:nvPr/>
        </p:nvSpPr>
        <p:spPr>
          <a:xfrm>
            <a:off x="8207044"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группы со свободным доступом; с ограничителями — на уровне контроля</a:t>
            </a:r>
          </a:p>
        </p:txBody>
      </p:sp>
      <p:sp>
        <p:nvSpPr>
          <p:cNvPr id="16" name="TextBox 15"/>
          <p:cNvSpPr txBox="1"/>
          <p:nvPr/>
        </p:nvSpPr>
        <p:spPr>
          <a:xfrm>
            <a:off x="502920" y="3529371"/>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Та же рука</a:t>
            </a:r>
          </a:p>
        </p:txBody>
      </p:sp>
      <p:sp>
        <p:nvSpPr>
          <p:cNvPr id="17" name="Rounded Rectangle 16"/>
          <p:cNvSpPr/>
          <p:nvPr/>
        </p:nvSpPr>
        <p:spPr>
          <a:xfrm>
            <a:off x="1920240" y="3492795"/>
            <a:ext cx="4811115"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8" name="TextBox 17"/>
          <p:cNvSpPr txBox="1"/>
          <p:nvPr/>
        </p:nvSpPr>
        <p:spPr>
          <a:xfrm>
            <a:off x="2002536" y="3538515"/>
            <a:ext cx="4646523"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 подсветкой — находят больше</a:t>
            </a:r>
          </a:p>
        </p:txBody>
      </p:sp>
      <p:sp>
        <p:nvSpPr>
          <p:cNvPr id="19" name="Rounded Rectangle 18"/>
          <p:cNvSpPr/>
          <p:nvPr/>
        </p:nvSpPr>
        <p:spPr>
          <a:xfrm>
            <a:off x="6877659" y="3492795"/>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6959955" y="3538515"/>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без подсветки — находят меньше, чем до внедрения</a:t>
            </a:r>
          </a:p>
        </p:txBody>
      </p:sp>
      <p:sp>
        <p:nvSpPr>
          <p:cNvPr id="21" name="TextBox 20"/>
          <p:cNvSpPr txBox="1"/>
          <p:nvPr/>
        </p:nvSpPr>
        <p:spPr>
          <a:xfrm>
            <a:off x="502920" y="4004764"/>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Место, объём, порядок шагов и рука прежние — изменилось состояние самой руки</a:t>
            </a:r>
          </a:p>
        </p:txBody>
      </p:sp>
      <p:sp>
        <p:nvSpPr>
          <p:cNvPr id="22" name="Rounded Rectangle 21"/>
          <p:cNvSpPr/>
          <p:nvPr/>
        </p:nvSpPr>
        <p:spPr>
          <a:xfrm>
            <a:off x="374904" y="4307448"/>
            <a:ext cx="11441887" cy="1928759"/>
          </a:xfrm>
          <a:prstGeom prst="roundRect">
            <a:avLst>
              <a:gd name="adj" fmla="val 15802"/>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4398888"/>
            <a:ext cx="11112703" cy="1837319"/>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Дало</a:t>
            </a:r>
            <a:r>
              <a:rPr sz="1200" b="0" i="0">
                <a:solidFill>
                  <a:srgbClr val="21295C"/>
                </a:solidFill>
                <a:latin typeface="Arial"/>
              </a:rPr>
              <a:t> — с помощником находят больше. </a:t>
            </a:r>
            <a:r>
              <a:rPr sz="1200" b="1" i="0">
                <a:solidFill>
                  <a:srgbClr val="21295C"/>
                </a:solidFill>
                <a:latin typeface="Arial"/>
              </a:rPr>
              <a:t>Потребовало</a:t>
            </a:r>
            <a:r>
              <a:rPr sz="1200" b="0" i="0">
                <a:solidFill>
                  <a:srgbClr val="21295C"/>
                </a:solidFill>
                <a:latin typeface="Arial"/>
              </a:rPr>
              <a:t> — умения искать самому. </a:t>
            </a:r>
            <a:r>
              <a:rPr sz="1200" b="1" i="0">
                <a:solidFill>
                  <a:srgbClr val="21295C"/>
                </a:solidFill>
                <a:latin typeface="Arial"/>
              </a:rPr>
              <a:t>В сумме</a:t>
            </a:r>
            <a:r>
              <a:rPr sz="1200" b="0" i="0">
                <a:solidFill>
                  <a:srgbClr val="21295C"/>
                </a:solidFill>
                <a:latin typeface="Arial"/>
              </a:rPr>
              <a:t> — помощник повышает результат, пока включён, и это состояние не бесплатно.</a:t>
            </a:r>
          </a:p>
          <a:p>
            <a:pPr algn="l">
              <a:lnSpc>
                <a:spcPct val="126000"/>
              </a:lnSpc>
              <a:spcBef>
                <a:spcPts val="700"/>
              </a:spcBef>
            </a:pPr>
            <a:r>
              <a:rPr sz="1200" b="0" i="0">
                <a:solidFill>
                  <a:srgbClr val="21295C"/>
                </a:solidFill>
                <a:latin typeface="Arial"/>
              </a:rPr>
              <a:t/>
            </a:r>
            <a:r>
              <a:rPr sz="1200" b="1" i="0">
                <a:solidFill>
                  <a:srgbClr val="21295C"/>
                </a:solidFill>
                <a:latin typeface="Arial"/>
              </a:rPr>
              <a:t>Исполнитель тот же, но стал хуже.</a:t>
            </a:r>
          </a:p>
          <a:p>
            <a:pPr algn="l">
              <a:lnSpc>
                <a:spcPct val="126000"/>
              </a:lnSpc>
              <a:spcBef>
                <a:spcPts val="700"/>
              </a:spcBef>
            </a:pPr>
            <a:r>
              <a:rPr sz="1200" b="0" i="0">
                <a:solidFill>
                  <a:srgbClr val="21295C"/>
                </a:solidFill>
                <a:latin typeface="Arial"/>
              </a:rPr>
              <a:t/>
            </a:r>
            <a:r>
              <a:rPr sz="1200" b="0" i="0">
                <a:solidFill>
                  <a:srgbClr val="21295C"/>
                </a:solidFill>
                <a:latin typeface="Arial"/>
              </a:rPr>
              <a:t>• тот же знак измерен рандомизированно, но в учёбе — </a:t>
            </a:r>
            <a:r>
              <a:rPr sz="1200" b="1" i="0">
                <a:solidFill>
                  <a:srgbClr val="21295C"/>
                </a:solidFill>
                <a:latin typeface="Arial"/>
              </a:rPr>
              <a:t>повторением клинической находки это не является</a:t>
            </a:r>
            <a:r>
              <a:rPr sz="1200" b="0" i="0">
                <a:solidFill>
                  <a:srgbClr val="21295C"/>
                </a:solidFill>
                <a:latin typeface="Arial"/>
              </a:rPr>
              <a:t>: другая работа, другие люди, другая задача</a:t>
            </a:r>
          </a:p>
          <a:p>
            <a:pPr algn="l">
              <a:lnSpc>
                <a:spcPct val="126000"/>
              </a:lnSpc>
              <a:spcBef>
                <a:spcPts val="700"/>
              </a:spcBef>
            </a:pPr>
            <a:r>
              <a:rPr sz="1200" b="0" i="0">
                <a:solidFill>
                  <a:srgbClr val="21295C"/>
                </a:solidFill>
                <a:latin typeface="Arial"/>
              </a:rPr>
              <a:t/>
            </a:r>
            <a:r>
              <a:rPr sz="1200" b="0" i="0">
                <a:solidFill>
                  <a:srgbClr val="21295C"/>
                </a:solidFill>
                <a:latin typeface="Arial"/>
              </a:rPr>
              <a:t>• у группы с учительскими ограничителями экзамен примерно на уровне контроля: средство тоже измерено</a:t>
            </a:r>
          </a:p>
          <a:p>
            <a:pPr algn="l">
              <a:lnSpc>
                <a:spcPct val="126000"/>
              </a:lnSpc>
              <a:spcBef>
                <a:spcPts val="700"/>
              </a:spcBef>
            </a:pPr>
            <a:r>
              <a:rPr sz="1200" b="0" i="0">
                <a:solidFill>
                  <a:srgbClr val="21295C"/>
                </a:solidFill>
                <a:latin typeface="Arial"/>
              </a:rPr>
              <a:t/>
            </a:r>
            <a:r>
              <a:rPr sz="1200" b="1" i="0">
                <a:solidFill>
                  <a:srgbClr val="21295C"/>
                </a:solidFill>
                <a:latin typeface="Arial"/>
              </a:rPr>
              <a:t>У кого за последние три месяца был рабочий день без помощника — как он прошёл?</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Budzyń K. и соавт., The Lancet Gastroenterology &amp; Hepatology 2025;10(10):896–903, DOI 10.1016/S2468-1253(25)00133-5</a:t>
            </a:r>
            <a:r>
              <a:rPr sz="1200" b="0" i="1">
                <a:solidFill>
                  <a:srgbClr val="1C7293"/>
                </a:solidFill>
                <a:latin typeface="Arial"/>
              </a:rPr>
              <a:t> · </a:t>
            </a:r>
            <a:r>
              <a:rPr sz="1200" b="0" i="1" u="sng">
                <a:solidFill>
                  <a:srgbClr val="065A82"/>
                </a:solidFill>
                <a:latin typeface="Arial"/>
                <a:hlinkClick r:id="rId3"/>
              </a:rPr>
              <a:t>Bastani H., Bastani O., Sungu A. и соавт., PNAS 2025, DOI 10.1073/pnas.2422633122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Чего про доверие не измерено</a:t>
            </a:r>
          </a:p>
        </p:txBody>
      </p:sp>
      <p:sp>
        <p:nvSpPr>
          <p:cNvPr id="4" name="Rounded Rectangle 3"/>
          <p:cNvSpPr/>
          <p:nvPr/>
        </p:nvSpPr>
        <p:spPr>
          <a:xfrm>
            <a:off x="502920" y="1335024"/>
            <a:ext cx="3618890"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ОДНА ОШИБКА ОБРЫВАЕТ ДОВЕРИЕ</a:t>
            </a:r>
          </a:p>
        </p:txBody>
      </p:sp>
      <p:sp>
        <p:nvSpPr>
          <p:cNvPr id="6" name="TextBox 5"/>
          <p:cNvSpPr txBox="1"/>
          <p:nvPr/>
        </p:nvSpPr>
        <p:spPr>
          <a:xfrm>
            <a:off x="640080" y="1725375"/>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опубликовано как отдельная измеренная величина</a:t>
            </a:r>
          </a:p>
        </p:txBody>
      </p:sp>
      <p:sp>
        <p:nvSpPr>
          <p:cNvPr id="7" name="Rounded Rectangle 6"/>
          <p:cNvSpPr/>
          <p:nvPr/>
        </p:nvSpPr>
        <p:spPr>
          <a:xfrm>
            <a:off x="4286402" y="1335024"/>
            <a:ext cx="3618890"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ДОВЕРИЕ ЗА МЕСЯЦЫ РЕАЛЬНОЙ РАБОТЫ</a:t>
            </a:r>
          </a:p>
        </p:txBody>
      </p:sp>
      <p:sp>
        <p:nvSpPr>
          <p:cNvPr id="9" name="TextBox 8"/>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измерено ни у кого</a:t>
            </a:r>
          </a:p>
        </p:txBody>
      </p:sp>
      <p:sp>
        <p:nvSpPr>
          <p:cNvPr id="10" name="Rounded Rectangle 9"/>
          <p:cNvSpPr/>
          <p:nvPr/>
        </p:nvSpPr>
        <p:spPr>
          <a:xfrm>
            <a:off x="8069884" y="1335024"/>
            <a:ext cx="3618890" cy="1735356"/>
          </a:xfrm>
          <a:prstGeom prst="roundRect">
            <a:avLst>
              <a:gd name="adj" fmla="val 17564"/>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ОТКАЗ РАБОТАТЬ БЕЗ ПОМОЩНИКА</a:t>
            </a:r>
          </a:p>
        </p:txBody>
      </p:sp>
      <p:sp>
        <p:nvSpPr>
          <p:cNvPr id="12" name="TextBox 11"/>
          <p:cNvSpPr txBox="1"/>
          <p:nvPr/>
        </p:nvSpPr>
        <p:spPr>
          <a:xfrm>
            <a:off x="8207044" y="1725375"/>
            <a:ext cx="3344570" cy="732547"/>
          </a:xfrm>
          <a:prstGeom prst="rect">
            <a:avLst/>
          </a:prstGeom>
          <a:noFill/>
        </p:spPr>
        <p:txBody>
          <a:bodyPr wrap="square" lIns="0" rIns="0" tIns="0" bIns="0" anchor="t">
            <a:spAutoFit/>
          </a:bodyPr>
          <a:lstStyle/>
          <a:p>
            <a:pPr algn="l">
              <a:lnSpc>
                <a:spcPct val="108000"/>
              </a:lnSpc>
            </a:pPr>
            <a:r>
              <a:rPr sz="2050" b="1" i="0">
                <a:solidFill>
                  <a:srgbClr val="F0AB00"/>
                </a:solidFill>
                <a:latin typeface="Arial"/>
              </a:rPr>
              <a:t>от 30 до 50 из ста опытных разработчиков</a:t>
            </a:r>
          </a:p>
        </p:txBody>
      </p:sp>
      <p:sp>
        <p:nvSpPr>
          <p:cNvPr id="13" name="TextBox 12"/>
          <p:cNvSpPr txBox="1"/>
          <p:nvPr/>
        </p:nvSpPr>
        <p:spPr>
          <a:xfrm>
            <a:off x="8207044" y="2457923"/>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величина ОПРОСНАЯ: сказали сами участники, телеметрии нет</a:t>
            </a:r>
          </a:p>
        </p:txBody>
      </p:sp>
      <p:sp>
        <p:nvSpPr>
          <p:cNvPr id="14" name="Rounded Rectangle 13"/>
          <p:cNvSpPr/>
          <p:nvPr/>
        </p:nvSpPr>
        <p:spPr>
          <a:xfrm>
            <a:off x="374904" y="3161820"/>
            <a:ext cx="11441887" cy="1937425"/>
          </a:xfrm>
          <a:prstGeom prst="roundRect">
            <a:avLst>
              <a:gd name="adj" fmla="val 15732"/>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3253260"/>
            <a:ext cx="5373471" cy="298294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От чего человек отказывается — видно. Что он думает о доверии — нет.</a:t>
            </a:r>
          </a:p>
          <a:p>
            <a:pPr algn="l">
              <a:lnSpc>
                <a:spcPct val="126000"/>
              </a:lnSpc>
              <a:spcBef>
                <a:spcPts val="700"/>
              </a:spcBef>
            </a:pPr>
            <a:r>
              <a:rPr sz="1500" b="0" i="0">
                <a:solidFill>
                  <a:srgbClr val="21295C"/>
                </a:solidFill>
                <a:latin typeface="Arial"/>
              </a:rPr>
              <a:t/>
            </a:r>
            <a:r>
              <a:rPr sz="1500" b="0" i="0">
                <a:solidFill>
                  <a:srgbClr val="21295C"/>
                </a:solidFill>
                <a:latin typeface="Arial"/>
              </a:rPr>
              <a:t>• «измерения нет» и «измерено, что эффекта нет» — разные утверждения; здесь первое</a:t>
            </a:r>
          </a:p>
          <a:p>
            <a:pPr algn="l">
              <a:lnSpc>
                <a:spcPct val="126000"/>
              </a:lnSpc>
              <a:spcBef>
                <a:spcPts val="700"/>
              </a:spcBef>
            </a:pPr>
            <a:r>
              <a:rPr sz="1500" b="0" i="0">
                <a:solidFill>
                  <a:srgbClr val="21295C"/>
                </a:solidFill>
                <a:latin typeface="Arial"/>
              </a:rPr>
              <a:t/>
            </a:r>
            <a:r>
              <a:rPr sz="1500" b="0" i="0">
                <a:solidFill>
                  <a:srgbClr val="21295C"/>
                </a:solidFill>
                <a:latin typeface="Arial"/>
              </a:rPr>
              <a:t>• всё, что есть про доверие врача, снято в один сеанс</a:t>
            </a:r>
          </a:p>
        </p:txBody>
      </p:sp>
      <p:sp>
        <p:nvSpPr>
          <p:cNvPr id="16" name="TextBox 15"/>
          <p:cNvSpPr txBox="1"/>
          <p:nvPr/>
        </p:nvSpPr>
        <p:spPr>
          <a:xfrm>
            <a:off x="6278727" y="3253260"/>
            <a:ext cx="5373471" cy="298294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Единственное управляемое средство: если человеку дают хоть немного поправить прогноз модели, он не бросает её после ошибки.</a:t>
            </a:r>
          </a:p>
          <a:p>
            <a:pPr algn="l">
              <a:lnSpc>
                <a:spcPct val="126000"/>
              </a:lnSpc>
              <a:spcBef>
                <a:spcPts val="700"/>
              </a:spcBef>
            </a:pPr>
            <a:r>
              <a:rPr sz="1200" b="0" i="0">
                <a:solidFill>
                  <a:srgbClr val="21295C"/>
                </a:solidFill>
                <a:latin typeface="Arial"/>
              </a:rPr>
              <a:t/>
            </a:r>
            <a:r>
              <a:rPr sz="1200" b="0" i="1">
                <a:solidFill>
                  <a:srgbClr val="1C7293"/>
                </a:solidFill>
                <a:latin typeface="Arial"/>
              </a:rPr>
              <a:t>Это устройство интерфейса; режим инструмента здесь ни при чём, и найдено оно вне медицины.</a:t>
            </a:r>
          </a:p>
        </p:txBody>
      </p:sp>
      <p:sp>
        <p:nvSpPr>
          <p:cNvPr id="17" name="Rectangle 16"/>
          <p:cNvSpPr/>
          <p:nvPr/>
        </p:nvSpPr>
        <p:spPr>
          <a:xfrm>
            <a:off x="6091275" y="3253260"/>
            <a:ext cx="9144" cy="1663105"/>
          </a:xfrm>
          <a:prstGeom prst="rect">
            <a:avLst/>
          </a:prstGeom>
          <a:solidFill>
            <a:srgbClr val="D9E2EC"/>
          </a:solidFill>
          <a:ln>
            <a:noFill/>
          </a:ln>
          <a:effectLst/>
        </p:spPr>
        <p:txBody>
          <a:bodyPr rtlCol="0" anchor="ctr"/>
          <a:lstStyle/>
          <a:p>
            <a:pPr algn="ct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METR, обновление замера производительности разработчиков, 24 февраля 2026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Те, кто решает: исполнитель тот же, но стал хуже — 28,4 против 22,4 из ста</a:t>
            </a:r>
          </a:p>
        </p:txBody>
      </p:sp>
      <p:sp>
        <p:nvSpPr>
          <p:cNvPr id="4" name="Rounded Rectangle 3"/>
          <p:cNvSpPr/>
          <p:nvPr/>
        </p:nvSpPr>
        <p:spPr>
          <a:xfrm>
            <a:off x="374904" y="1243584"/>
            <a:ext cx="11441887" cy="4965702"/>
          </a:xfrm>
          <a:prstGeom prst="roundRect">
            <a:avLst>
              <a:gd name="adj" fmla="val 6138"/>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5373471" cy="4901184"/>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Что получается</a:t>
            </a:r>
          </a:p>
          <a:p>
            <a:pPr algn="l">
              <a:lnSpc>
                <a:spcPct val="126000"/>
              </a:lnSpc>
              <a:spcBef>
                <a:spcPts val="700"/>
              </a:spcBef>
            </a:pPr>
            <a:r>
              <a:rPr sz="1200" b="0" i="0">
                <a:solidFill>
                  <a:srgbClr val="21295C"/>
                </a:solidFill>
                <a:latin typeface="Arial"/>
              </a:rPr>
              <a:t/>
            </a:r>
            <a:r>
              <a:rPr sz="1200" b="0" i="0">
                <a:solidFill>
                  <a:srgbClr val="21295C"/>
                </a:solidFill>
                <a:latin typeface="Arial"/>
              </a:rPr>
              <a:t>• с включённым помощником находят больше: прирост измерен и повторён многократно</a:t>
            </a:r>
          </a:p>
          <a:p>
            <a:pPr algn="l">
              <a:lnSpc>
                <a:spcPct val="126000"/>
              </a:lnSpc>
              <a:spcBef>
                <a:spcPts val="700"/>
              </a:spcBef>
            </a:pPr>
            <a:r>
              <a:rPr sz="1200" b="0" i="0">
                <a:solidFill>
                  <a:srgbClr val="21295C"/>
                </a:solidFill>
                <a:latin typeface="Arial"/>
              </a:rPr>
              <a:t/>
            </a:r>
            <a:r>
              <a:rPr sz="1200" b="0" i="0">
                <a:solidFill>
                  <a:srgbClr val="21295C"/>
                </a:solidFill>
                <a:latin typeface="Arial"/>
              </a:rPr>
              <a:t>• считать показатели самого врача: долю обнаружения и время выведения</a:t>
            </a:r>
          </a:p>
          <a:p>
            <a:pPr algn="l">
              <a:lnSpc>
                <a:spcPct val="126000"/>
              </a:lnSpc>
              <a:spcBef>
                <a:spcPts val="700"/>
              </a:spcBef>
            </a:pPr>
            <a:r>
              <a:rPr sz="1200" b="0" i="0">
                <a:solidFill>
                  <a:srgbClr val="21295C"/>
                </a:solidFill>
                <a:latin typeface="Arial"/>
              </a:rPr>
              <a:t/>
            </a:r>
            <a:r>
              <a:rPr sz="1200" b="0" i="0">
                <a:solidFill>
                  <a:srgbClr val="21295C"/>
                </a:solidFill>
                <a:latin typeface="Arial"/>
              </a:rPr>
              <a:t>• снять объём рутинной перепроверки: человеческого чтения ниже на </a:t>
            </a:r>
            <a:r>
              <a:rPr sz="1200" b="1" i="0">
                <a:solidFill>
                  <a:srgbClr val="21295C"/>
                </a:solidFill>
                <a:latin typeface="Arial"/>
              </a:rPr>
              <a:t>44,3 процента</a:t>
            </a:r>
          </a:p>
          <a:p>
            <a:pPr algn="l">
              <a:lnSpc>
                <a:spcPct val="126000"/>
              </a:lnSpc>
              <a:spcBef>
                <a:spcPts val="700"/>
              </a:spcBef>
            </a:pPr>
            <a:r>
              <a:rPr sz="1200" b="0" i="0">
                <a:solidFill>
                  <a:srgbClr val="21295C"/>
                </a:solidFill>
                <a:latin typeface="Arial"/>
              </a:rPr>
              <a:t/>
            </a:r>
            <a:r>
              <a:rPr sz="1200" b="1" i="0">
                <a:solidFill>
                  <a:srgbClr val="21295C"/>
                </a:solidFill>
                <a:latin typeface="Arial"/>
              </a:rPr>
              <a:t>Что не получается</a:t>
            </a:r>
          </a:p>
          <a:p>
            <a:pPr algn="l">
              <a:lnSpc>
                <a:spcPct val="126000"/>
              </a:lnSpc>
              <a:spcBef>
                <a:spcPts val="700"/>
              </a:spcBef>
            </a:pPr>
            <a:r>
              <a:rPr sz="1200" b="0" i="0">
                <a:solidFill>
                  <a:srgbClr val="21295C"/>
                </a:solidFill>
                <a:latin typeface="Arial"/>
              </a:rPr>
              <a:t/>
            </a:r>
            <a:r>
              <a:rPr sz="1200" b="0" i="0">
                <a:solidFill>
                  <a:srgbClr val="21295C"/>
                </a:solidFill>
                <a:latin typeface="Arial"/>
              </a:rPr>
              <a:t>• поддерживать навык: измерено обратное — </a:t>
            </a:r>
            <a:r>
              <a:rPr sz="1200" b="1" i="0">
                <a:solidFill>
                  <a:srgbClr val="21295C"/>
                </a:solidFill>
                <a:latin typeface="Arial"/>
              </a:rPr>
              <a:t>28,4 против 22,4 из ста</a:t>
            </a:r>
            <a:r>
              <a:rPr sz="1200" b="0" i="0">
                <a:solidFill>
                  <a:srgbClr val="21295C"/>
                </a:solidFill>
                <a:latin typeface="Arial"/>
              </a:rPr>
              <a:t> без помощника</a:t>
            </a:r>
          </a:p>
          <a:p>
            <a:pPr algn="l">
              <a:lnSpc>
                <a:spcPct val="126000"/>
              </a:lnSpc>
              <a:spcBef>
                <a:spcPts val="700"/>
              </a:spcBef>
            </a:pPr>
            <a:r>
              <a:rPr sz="1200" b="0" i="0">
                <a:solidFill>
                  <a:srgbClr val="21295C"/>
                </a:solidFill>
                <a:latin typeface="Arial"/>
              </a:rPr>
              <a:t/>
            </a:r>
            <a:r>
              <a:rPr sz="1200" b="0" i="0">
                <a:solidFill>
                  <a:srgbClr val="21295C"/>
                </a:solidFill>
                <a:latin typeface="Arial"/>
              </a:rPr>
              <a:t>• дать врачу обратную связь о пропуске: внутри процедуры её нет</a:t>
            </a:r>
          </a:p>
          <a:p>
            <a:pPr algn="l">
              <a:lnSpc>
                <a:spcPct val="126000"/>
              </a:lnSpc>
              <a:spcBef>
                <a:spcPts val="700"/>
              </a:spcBef>
            </a:pPr>
            <a:r>
              <a:rPr sz="1200" b="0" i="0">
                <a:solidFill>
                  <a:srgbClr val="21295C"/>
                </a:solidFill>
                <a:latin typeface="Arial"/>
              </a:rPr>
              <a:t/>
            </a:r>
            <a:r>
              <a:rPr sz="1200" b="0" i="0">
                <a:solidFill>
                  <a:srgbClr val="21295C"/>
                </a:solidFill>
                <a:latin typeface="Arial"/>
              </a:rPr>
              <a:t>• измерить доверие за месяцы работы: таких измерений нет ни у кого</a:t>
            </a:r>
          </a:p>
          <a:p>
            <a:pPr algn="l">
              <a:lnSpc>
                <a:spcPct val="126000"/>
              </a:lnSpc>
              <a:spcBef>
                <a:spcPts val="700"/>
              </a:spcBef>
            </a:pPr>
            <a:r>
              <a:rPr sz="1200" b="0" i="0">
                <a:solidFill>
                  <a:srgbClr val="21295C"/>
                </a:solidFill>
                <a:latin typeface="Arial"/>
              </a:rPr>
              <a:t/>
            </a:r>
            <a:r>
              <a:rPr sz="1200" b="1" i="0">
                <a:solidFill>
                  <a:srgbClr val="21295C"/>
                </a:solidFill>
                <a:latin typeface="Arial"/>
              </a:rPr>
              <a:t>Что стало с работой</a:t>
            </a:r>
          </a:p>
          <a:p>
            <a:pPr algn="l">
              <a:lnSpc>
                <a:spcPct val="126000"/>
              </a:lnSpc>
              <a:spcBef>
                <a:spcPts val="700"/>
              </a:spcBef>
            </a:pPr>
            <a:r>
              <a:rPr sz="1200" b="0" i="0">
                <a:solidFill>
                  <a:srgbClr val="21295C"/>
                </a:solidFill>
                <a:latin typeface="Arial"/>
              </a:rPr>
              <a:t/>
            </a:r>
            <a:r>
              <a:rPr sz="1200" b="0" i="0">
                <a:solidFill>
                  <a:srgbClr val="21295C"/>
                </a:solidFill>
                <a:latin typeface="Arial"/>
              </a:rPr>
              <a:t>• </a:t>
            </a:r>
            <a:r>
              <a:rPr sz="1200" b="1" i="0">
                <a:solidFill>
                  <a:srgbClr val="21295C"/>
                </a:solidFill>
                <a:latin typeface="Arial"/>
              </a:rPr>
              <a:t>исполнитель тот же, но стал хуже</a:t>
            </a:r>
            <a:r>
              <a:rPr sz="1200" b="0" i="0">
                <a:solidFill>
                  <a:srgbClr val="21295C"/>
                </a:solidFill>
                <a:latin typeface="Arial"/>
              </a:rPr>
              <a:t> — место, объём и рука прежние, изменилось состояние руки</a:t>
            </a:r>
          </a:p>
          <a:p>
            <a:pPr algn="l">
              <a:lnSpc>
                <a:spcPct val="126000"/>
              </a:lnSpc>
              <a:spcBef>
                <a:spcPts val="700"/>
              </a:spcBef>
            </a:pPr>
            <a:r>
              <a:rPr sz="1200" b="0" i="0">
                <a:solidFill>
                  <a:srgbClr val="21295C"/>
                </a:solidFill>
                <a:latin typeface="Arial"/>
              </a:rPr>
              <a:t/>
            </a:r>
            <a:r>
              <a:rPr sz="1200" b="0" i="0">
                <a:solidFill>
                  <a:srgbClr val="21295C"/>
                </a:solidFill>
                <a:latin typeface="Arial"/>
              </a:rPr>
              <a:t>• </a:t>
            </a:r>
            <a:r>
              <a:rPr sz="1200" b="1" i="0">
                <a:solidFill>
                  <a:srgbClr val="21295C"/>
                </a:solidFill>
                <a:latin typeface="Arial"/>
              </a:rPr>
              <a:t>появился шаг</a:t>
            </a:r>
            <a:r>
              <a:rPr sz="1200" b="0" i="0">
                <a:solidFill>
                  <a:srgbClr val="21295C"/>
                </a:solidFill>
                <a:latin typeface="Arial"/>
              </a:rPr>
              <a:t> — посредник, переводящий вывод модели на язык, которому поверит врач</a:t>
            </a:r>
          </a:p>
        </p:txBody>
      </p:sp>
      <p:sp>
        <p:nvSpPr>
          <p:cNvPr id="6" name="TextBox 5"/>
          <p:cNvSpPr txBox="1"/>
          <p:nvPr/>
        </p:nvSpPr>
        <p:spPr>
          <a:xfrm>
            <a:off x="6278727" y="1335024"/>
            <a:ext cx="5373471" cy="4901184"/>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a:t>
            </a:r>
            <a:r>
              <a:rPr sz="1200" b="1" i="0">
                <a:solidFill>
                  <a:srgbClr val="21295C"/>
                </a:solidFill>
                <a:latin typeface="Arial"/>
              </a:rPr>
              <a:t>и второй шаг</a:t>
            </a:r>
            <a:r>
              <a:rPr sz="1200" b="0" i="0">
                <a:solidFill>
                  <a:srgbClr val="21295C"/>
                </a:solidFill>
                <a:latin typeface="Arial"/>
              </a:rPr>
              <a:t> — целевой арбитраж расхождения вместо рутинной перепроверки каждого случая: структура защиты от ошибки сменилась целиком</a:t>
            </a:r>
          </a:p>
          <a:p>
            <a:pPr algn="l">
              <a:lnSpc>
                <a:spcPct val="126000"/>
              </a:lnSpc>
              <a:spcBef>
                <a:spcPts val="700"/>
              </a:spcBef>
            </a:pPr>
            <a:r>
              <a:rPr sz="1200" b="0" i="0">
                <a:solidFill>
                  <a:srgbClr val="21295C"/>
                </a:solidFill>
                <a:latin typeface="Arial"/>
              </a:rPr>
              <a:t/>
            </a:r>
            <a:r>
              <a:rPr sz="1200" b="0" i="0">
                <a:solidFill>
                  <a:srgbClr val="21295C"/>
                </a:solidFill>
                <a:latin typeface="Arial"/>
              </a:rPr>
              <a:t>• доверие выше у тех, кто работает с моделью руками: точечные оценки есть, </a:t>
            </a:r>
            <a:r>
              <a:rPr sz="1200" b="1" i="0">
                <a:solidFill>
                  <a:srgbClr val="21295C"/>
                </a:solidFill>
                <a:latin typeface="Arial"/>
              </a:rPr>
              <a:t>значимости нет</a:t>
            </a:r>
          </a:p>
          <a:p>
            <a:pPr algn="l">
              <a:lnSpc>
                <a:spcPct val="126000"/>
              </a:lnSpc>
              <a:spcBef>
                <a:spcPts val="700"/>
              </a:spcBef>
            </a:pPr>
            <a:r>
              <a:rPr sz="1200" b="0" i="0">
                <a:solidFill>
                  <a:srgbClr val="21295C"/>
                </a:solidFill>
                <a:latin typeface="Arial"/>
              </a:rPr>
              <a:t/>
            </a:r>
            <a:r>
              <a:rPr sz="1200" b="1" i="0">
                <a:solidFill>
                  <a:srgbClr val="21295C"/>
                </a:solidFill>
                <a:latin typeface="Arial"/>
              </a:rPr>
              <a:t>Что это держит</a:t>
            </a:r>
          </a:p>
          <a:p>
            <a:pPr algn="l">
              <a:lnSpc>
                <a:spcPct val="126000"/>
              </a:lnSpc>
              <a:spcBef>
                <a:spcPts val="700"/>
              </a:spcBef>
            </a:pPr>
            <a:r>
              <a:rPr sz="1200" b="0" i="0">
                <a:solidFill>
                  <a:srgbClr val="21295C"/>
                </a:solidFill>
                <a:latin typeface="Arial"/>
              </a:rPr>
              <a:t/>
            </a:r>
            <a:r>
              <a:rPr sz="1200" b="0" i="0">
                <a:solidFill>
                  <a:srgbClr val="21295C"/>
                </a:solidFill>
                <a:latin typeface="Arial"/>
              </a:rPr>
              <a:t>• доля обнаружения по каждому врачу отдельно, из обычной работы</a:t>
            </a:r>
          </a:p>
          <a:p>
            <a:pPr algn="l">
              <a:lnSpc>
                <a:spcPct val="126000"/>
              </a:lnSpc>
              <a:spcBef>
                <a:spcPts val="700"/>
              </a:spcBef>
            </a:pPr>
            <a:r>
              <a:rPr sz="1200" b="0" i="0">
                <a:solidFill>
                  <a:srgbClr val="21295C"/>
                </a:solidFill>
                <a:latin typeface="Arial"/>
              </a:rPr>
              <a:t/>
            </a:r>
            <a:r>
              <a:rPr sz="1200" b="0" i="0">
                <a:solidFill>
                  <a:srgbClr val="21295C"/>
                </a:solidFill>
                <a:latin typeface="Arial"/>
              </a:rPr>
              <a:t>• время выведения прибора с назначенной нижней границей, по таймеру</a:t>
            </a:r>
          </a:p>
          <a:p>
            <a:pPr algn="l">
              <a:lnSpc>
                <a:spcPct val="126000"/>
              </a:lnSpc>
              <a:spcBef>
                <a:spcPts val="700"/>
              </a:spcBef>
            </a:pPr>
            <a:r>
              <a:rPr sz="1200" b="0" i="0">
                <a:solidFill>
                  <a:srgbClr val="21295C"/>
                </a:solidFill>
                <a:latin typeface="Arial"/>
              </a:rPr>
              <a:t/>
            </a:r>
            <a:r>
              <a:rPr sz="1200" b="0" i="0">
                <a:solidFill>
                  <a:srgbClr val="21295C"/>
                </a:solidFill>
                <a:latin typeface="Arial"/>
              </a:rPr>
              <a:t>• </a:t>
            </a:r>
            <a:r>
              <a:rPr sz="1200" b="1" i="0">
                <a:solidFill>
                  <a:srgbClr val="21295C"/>
                </a:solidFill>
                <a:latin typeface="Arial"/>
              </a:rPr>
              <a:t>прочерк: врача без помощника не измеряет ни одна процедура ни в одной юрисдикции</a:t>
            </a:r>
          </a:p>
          <a:p>
            <a:pPr algn="l">
              <a:lnSpc>
                <a:spcPct val="126000"/>
              </a:lnSpc>
              <a:spcBef>
                <a:spcPts val="700"/>
              </a:spcBef>
            </a:pPr>
            <a:r>
              <a:rPr sz="1200" b="0" i="0">
                <a:solidFill>
                  <a:srgbClr val="21295C"/>
                </a:solidFill>
                <a:latin typeface="Arial"/>
              </a:rPr>
              <a:t/>
            </a:r>
            <a:r>
              <a:rPr sz="1200" b="1" i="0">
                <a:solidFill>
                  <a:srgbClr val="21295C"/>
                </a:solidFill>
                <a:latin typeface="Arial"/>
              </a:rPr>
              <a:t>Повторения на реальной работе нет, и пробел назван числом: 22 отдельные попытки поиска.</a:t>
            </a:r>
            <a:r>
              <a:rPr sz="1200" b="0" i="0">
                <a:solidFill>
                  <a:srgbClr val="21295C"/>
                </a:solidFill>
                <a:latin typeface="Arial"/>
              </a:rPr>
              <a:t> Продольного измерения для тех, кто учился сразу с помощником, не существует вовсе.</a:t>
            </a:r>
          </a:p>
          <a:p>
            <a:pPr algn="l">
              <a:lnSpc>
                <a:spcPct val="126000"/>
              </a:lnSpc>
              <a:spcBef>
                <a:spcPts val="700"/>
              </a:spcBef>
            </a:pPr>
            <a:r>
              <a:rPr sz="1200" b="0" i="0">
                <a:solidFill>
                  <a:srgbClr val="21295C"/>
                </a:solidFill>
                <a:latin typeface="Arial"/>
              </a:rPr>
              <a:t/>
            </a:r>
            <a:r>
              <a:rPr sz="1200" b="1" i="0">
                <a:solidFill>
                  <a:srgbClr val="21295C"/>
                </a:solidFill>
                <a:latin typeface="Arial"/>
              </a:rPr>
              <a:t>Дальше: девять форм, счёт приписок, накопительная карта и ответ на вопрос лекции.</a:t>
            </a:r>
          </a:p>
        </p:txBody>
      </p:sp>
      <p:sp>
        <p:nvSpPr>
          <p:cNvPr id="7" name="Rectangle 6"/>
          <p:cNvSpPr/>
          <p:nvPr/>
        </p:nvSpPr>
        <p:spPr>
          <a:xfrm>
            <a:off x="6091275" y="1335024"/>
            <a:ext cx="9144" cy="4691382"/>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9" name="TextBox 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Budzyń K. и соавт., The Lancet Gastroenterology &amp; Hepatology 2025;10(10):896–903, DOI 10.1016/S2468-1253(25)00133-5, с опубликованным исправлением и тремя письмами</a:t>
            </a:r>
            <a:r>
              <a:rPr sz="1200" b="0" i="1">
                <a:solidFill>
                  <a:srgbClr val="1C7293"/>
                </a:solidFill>
                <a:latin typeface="Arial"/>
              </a:rPr>
              <a:t> · </a:t>
            </a:r>
            <a:r>
              <a:rPr sz="1200" b="0" i="1">
                <a:solidFill>
                  <a:srgbClr val="1C7293"/>
                </a:solidFill>
                <a:latin typeface="Arial"/>
              </a:rPr>
              <a:t>пробелы раздела — итог целевого поиска: повторения на реальной работе нет, продольного измерения нет вовсе</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раздела: какая задача и какие данные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102900" cy="410728"/>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810292"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
            </a:r>
          </a:p>
        </p:txBody>
      </p:sp>
      <p:sp>
        <p:nvSpPr>
          <p:cNvPr id="7" name="Rectangle 6"/>
          <p:cNvSpPr/>
          <p:nvPr/>
        </p:nvSpPr>
        <p:spPr>
          <a:xfrm>
            <a:off x="2642396" y="1335024"/>
            <a:ext cx="2628556" cy="410728"/>
          </a:xfrm>
          <a:prstGeom prst="rect">
            <a:avLst/>
          </a:prstGeom>
          <a:solidFill>
            <a:srgbClr val="065A82"/>
          </a:solidFill>
          <a:ln>
            <a:noFill/>
          </a:ln>
          <a:effectLst/>
        </p:spPr>
        <p:txBody>
          <a:bodyPr rtlCol="0" anchor="ctr"/>
          <a:lstStyle/>
          <a:p>
            <a:pPr algn="ctr"/>
          </a:p>
        </p:txBody>
      </p:sp>
      <p:sp>
        <p:nvSpPr>
          <p:cNvPr id="8" name="TextBox 7"/>
          <p:cNvSpPr txBox="1"/>
          <p:nvPr/>
        </p:nvSpPr>
        <p:spPr>
          <a:xfrm>
            <a:off x="2788700" y="1335024"/>
            <a:ext cx="2335948"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текст</a:t>
            </a:r>
          </a:p>
        </p:txBody>
      </p:sp>
      <p:sp>
        <p:nvSpPr>
          <p:cNvPr id="9" name="Rectangle 8"/>
          <p:cNvSpPr/>
          <p:nvPr/>
        </p:nvSpPr>
        <p:spPr>
          <a:xfrm>
            <a:off x="5270953" y="1335024"/>
            <a:ext cx="2967663" cy="410728"/>
          </a:xfrm>
          <a:prstGeom prst="rect">
            <a:avLst/>
          </a:prstGeom>
          <a:solidFill>
            <a:srgbClr val="065A82"/>
          </a:solidFill>
          <a:ln>
            <a:noFill/>
          </a:ln>
          <a:effectLst/>
        </p:spPr>
        <p:txBody>
          <a:bodyPr rtlCol="0" anchor="ctr"/>
          <a:lstStyle/>
          <a:p>
            <a:pPr algn="ctr"/>
          </a:p>
        </p:txBody>
      </p:sp>
      <p:sp>
        <p:nvSpPr>
          <p:cNvPr id="10" name="TextBox 9"/>
          <p:cNvSpPr txBox="1"/>
          <p:nvPr/>
        </p:nvSpPr>
        <p:spPr>
          <a:xfrm>
            <a:off x="5417257" y="1335024"/>
            <a:ext cx="2675055"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изображение</a:t>
            </a:r>
          </a:p>
        </p:txBody>
      </p:sp>
      <p:sp>
        <p:nvSpPr>
          <p:cNvPr id="11" name="Rectangle 10"/>
          <p:cNvSpPr/>
          <p:nvPr/>
        </p:nvSpPr>
        <p:spPr>
          <a:xfrm>
            <a:off x="8238616" y="1335024"/>
            <a:ext cx="3413582" cy="410728"/>
          </a:xfrm>
          <a:prstGeom prst="rect">
            <a:avLst/>
          </a:prstGeom>
          <a:solidFill>
            <a:srgbClr val="065A82"/>
          </a:solidFill>
          <a:ln>
            <a:noFill/>
          </a:ln>
          <a:effectLst/>
        </p:spPr>
        <p:txBody>
          <a:bodyPr rtlCol="0" anchor="ctr"/>
          <a:lstStyle/>
          <a:p>
            <a:pPr algn="ctr"/>
          </a:p>
        </p:txBody>
      </p:sp>
      <p:sp>
        <p:nvSpPr>
          <p:cNvPr id="12" name="TextBox 11"/>
          <p:cNvSpPr txBox="1"/>
          <p:nvPr/>
        </p:nvSpPr>
        <p:spPr>
          <a:xfrm>
            <a:off x="8384920" y="1335024"/>
            <a:ext cx="3120974"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структурированные данные</a:t>
            </a:r>
          </a:p>
        </p:txBody>
      </p:sp>
      <p:sp>
        <p:nvSpPr>
          <p:cNvPr id="13" name="Rectangle 12"/>
          <p:cNvSpPr/>
          <p:nvPr/>
        </p:nvSpPr>
        <p:spPr>
          <a:xfrm>
            <a:off x="539496" y="1745752"/>
            <a:ext cx="2102900" cy="410728"/>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45752"/>
            <a:ext cx="181029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классификация</a:t>
            </a:r>
          </a:p>
        </p:txBody>
      </p:sp>
      <p:sp>
        <p:nvSpPr>
          <p:cNvPr id="15" name="Rectangle 14"/>
          <p:cNvSpPr/>
          <p:nvPr/>
        </p:nvSpPr>
        <p:spPr>
          <a:xfrm>
            <a:off x="2642396" y="1745752"/>
            <a:ext cx="2628556" cy="410728"/>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2788700" y="1745752"/>
            <a:ext cx="2335948"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17" name="Rectangle 16"/>
          <p:cNvSpPr/>
          <p:nvPr/>
        </p:nvSpPr>
        <p:spPr>
          <a:xfrm>
            <a:off x="5270953" y="1745752"/>
            <a:ext cx="2967663" cy="410728"/>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5417257" y="1745752"/>
            <a:ext cx="2675055"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(отбор · анализ · диагноз)</a:t>
            </a:r>
          </a:p>
        </p:txBody>
      </p:sp>
      <p:sp>
        <p:nvSpPr>
          <p:cNvPr id="19" name="Rectangle 18"/>
          <p:cNvSpPr/>
          <p:nvPr/>
        </p:nvSpPr>
        <p:spPr>
          <a:xfrm>
            <a:off x="8238616" y="1745752"/>
            <a:ext cx="3413582" cy="410728"/>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8384920" y="1745752"/>
            <a:ext cx="3120974"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21" name="Rectangle 20"/>
          <p:cNvSpPr/>
          <p:nvPr/>
        </p:nvSpPr>
        <p:spPr>
          <a:xfrm>
            <a:off x="539496" y="2156480"/>
            <a:ext cx="2102900" cy="410728"/>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56480"/>
            <a:ext cx="181029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распознавание</a:t>
            </a:r>
          </a:p>
        </p:txBody>
      </p:sp>
      <p:sp>
        <p:nvSpPr>
          <p:cNvPr id="23" name="Rectangle 22"/>
          <p:cNvSpPr/>
          <p:nvPr/>
        </p:nvSpPr>
        <p:spPr>
          <a:xfrm>
            <a:off x="2642396" y="2156480"/>
            <a:ext cx="2628556" cy="410728"/>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2788700" y="2156480"/>
            <a:ext cx="2335948"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25" name="Rectangle 24"/>
          <p:cNvSpPr/>
          <p:nvPr/>
        </p:nvSpPr>
        <p:spPr>
          <a:xfrm>
            <a:off x="5270953" y="2156480"/>
            <a:ext cx="2967663" cy="410728"/>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5417257" y="2156480"/>
            <a:ext cx="2675055"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(отбор · диагноз · удержание)</a:t>
            </a:r>
          </a:p>
        </p:txBody>
      </p:sp>
      <p:sp>
        <p:nvSpPr>
          <p:cNvPr id="27" name="Rectangle 26"/>
          <p:cNvSpPr/>
          <p:nvPr/>
        </p:nvSpPr>
        <p:spPr>
          <a:xfrm>
            <a:off x="8238616" y="2156480"/>
            <a:ext cx="3413582" cy="410728"/>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8384920" y="2156480"/>
            <a:ext cx="3120974"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29" name="Rectangle 28"/>
          <p:cNvSpPr/>
          <p:nvPr/>
        </p:nvSpPr>
        <p:spPr>
          <a:xfrm>
            <a:off x="539496" y="2567209"/>
            <a:ext cx="2102900" cy="410728"/>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567209"/>
            <a:ext cx="181029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поиск с генерацией</a:t>
            </a:r>
          </a:p>
        </p:txBody>
      </p:sp>
      <p:sp>
        <p:nvSpPr>
          <p:cNvPr id="31" name="Rectangle 30"/>
          <p:cNvSpPr/>
          <p:nvPr/>
        </p:nvSpPr>
        <p:spPr>
          <a:xfrm>
            <a:off x="2642396" y="2567209"/>
            <a:ext cx="2628556" cy="410728"/>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788700" y="2567209"/>
            <a:ext cx="2335948"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(отбор · диагноз · запись)</a:t>
            </a:r>
          </a:p>
        </p:txBody>
      </p:sp>
      <p:sp>
        <p:nvSpPr>
          <p:cNvPr id="33" name="Rectangle 32"/>
          <p:cNvSpPr/>
          <p:nvPr/>
        </p:nvSpPr>
        <p:spPr>
          <a:xfrm>
            <a:off x="5270953" y="2567209"/>
            <a:ext cx="2967663" cy="410728"/>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5417257" y="2567209"/>
            <a:ext cx="2675055"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35" name="Rectangle 34"/>
          <p:cNvSpPr/>
          <p:nvPr/>
        </p:nvSpPr>
        <p:spPr>
          <a:xfrm>
            <a:off x="8238616" y="2567209"/>
            <a:ext cx="3413582" cy="410728"/>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8384920" y="2567209"/>
            <a:ext cx="3120974"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37" name="Rectangle 36"/>
          <p:cNvSpPr/>
          <p:nvPr/>
        </p:nvSpPr>
        <p:spPr>
          <a:xfrm>
            <a:off x="539496" y="2977937"/>
            <a:ext cx="2102900" cy="410728"/>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977937"/>
            <a:ext cx="181029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прогноз</a:t>
            </a:r>
          </a:p>
        </p:txBody>
      </p:sp>
      <p:sp>
        <p:nvSpPr>
          <p:cNvPr id="39" name="Rectangle 38"/>
          <p:cNvSpPr/>
          <p:nvPr/>
        </p:nvSpPr>
        <p:spPr>
          <a:xfrm>
            <a:off x="2642396" y="2977937"/>
            <a:ext cx="2628556" cy="410728"/>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788700" y="2977937"/>
            <a:ext cx="2335948"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41" name="Rectangle 40"/>
          <p:cNvSpPr/>
          <p:nvPr/>
        </p:nvSpPr>
        <p:spPr>
          <a:xfrm>
            <a:off x="5270953" y="2977937"/>
            <a:ext cx="2967663" cy="410728"/>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5417257" y="2977937"/>
            <a:ext cx="2675055"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a:t>
            </a:r>
          </a:p>
        </p:txBody>
      </p:sp>
      <p:sp>
        <p:nvSpPr>
          <p:cNvPr id="43" name="Rectangle 42"/>
          <p:cNvSpPr/>
          <p:nvPr/>
        </p:nvSpPr>
        <p:spPr>
          <a:xfrm>
            <a:off x="8238616" y="2977937"/>
            <a:ext cx="3413582" cy="410728"/>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8384920" y="2977937"/>
            <a:ext cx="3120974"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(анализ · наблюдение · лекарство)</a:t>
            </a:r>
          </a:p>
        </p:txBody>
      </p:sp>
      <p:sp>
        <p:nvSpPr>
          <p:cNvPr id="45" name="TextBox 44"/>
          <p:cNvSpPr txBox="1"/>
          <p:nvPr/>
        </p:nvSpPr>
        <p:spPr>
          <a:xfrm>
            <a:off x="539496" y="3534969"/>
            <a:ext cx="11112703" cy="282601"/>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Полужирного в сетке нет, и это не упущение набора.</a:t>
            </a:r>
            <a:r>
              <a:rPr sz="1400" b="0" i="0">
                <a:solidFill>
                  <a:srgbClr val="21295C"/>
                </a:solidFill>
                <a:latin typeface="Arial"/>
              </a:rPr>
              <a:t> В скобках — кто занял клетку раньше; прочерк — пусто.</a:t>
            </a:r>
          </a:p>
        </p:txBody>
      </p:sp>
      <p:sp>
        <p:nvSpPr>
          <p:cNvPr id="46" name="TextBox 45"/>
          <p:cNvSpPr txBox="1"/>
          <p:nvPr/>
        </p:nvSpPr>
        <p:spPr>
          <a:xfrm>
            <a:off x="539496" y="3963874"/>
            <a:ext cx="11112703" cy="565202"/>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Клетка раздела лежит вне окна: это распознавание на видео</a:t>
            </a:r>
            <a:r>
              <a:rPr sz="1400" b="0" i="0">
                <a:solidFill>
                  <a:srgbClr val="21295C"/>
                </a:solidFill>
                <a:latin typeface="Arial"/>
              </a:rPr>
              <a:t> — подсветка на потоке кадров во время процедуры. Столбца «видео» в окне нет: оно собрано под клинику, где читают снимок и карту.</a:t>
            </a:r>
          </a:p>
        </p:txBody>
      </p:sp>
      <p:sp>
        <p:nvSpPr>
          <p:cNvPr id="47" name="TextBox 46"/>
          <p:cNvSpPr txBox="1"/>
          <p:nvPr/>
        </p:nvSpPr>
        <p:spPr>
          <a:xfrm>
            <a:off x="539496" y="4675380"/>
            <a:ext cx="11112703" cy="565202"/>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Два раздела подряд окну ничего не прибавили — оба стоят вне него.</a:t>
            </a:r>
            <a:r>
              <a:rPr sz="1400" b="0" i="0">
                <a:solidFill>
                  <a:srgbClr val="21295C"/>
                </a:solidFill>
                <a:latin typeface="Arial"/>
              </a:rPr>
              <a:t> А доверие клетки не получает вовсе: режима в нём нет, и описывать эту плоскость приходится словами.</a:t>
            </a:r>
          </a:p>
        </p:txBody>
      </p:sp>
      <p:sp>
        <p:nvSpPr>
          <p:cNvPr id="48" name="Rounded Rectangle 47"/>
          <p:cNvSpPr/>
          <p:nvPr/>
        </p:nvSpPr>
        <p:spPr>
          <a:xfrm>
            <a:off x="630936" y="5484676"/>
            <a:ext cx="100584" cy="100584"/>
          </a:xfrm>
          <a:prstGeom prst="roundRect">
            <a:avLst>
              <a:gd name="adj" fmla="val 50000"/>
            </a:avLst>
          </a:prstGeom>
          <a:solidFill>
            <a:srgbClr val="028090"/>
          </a:solidFill>
          <a:ln>
            <a:noFill/>
          </a:ln>
          <a:effectLst/>
        </p:spPr>
        <p:txBody>
          <a:bodyPr rtlCol="0" anchor="ctr"/>
          <a:lstStyle/>
          <a:p>
            <a:pPr algn="ctr"/>
          </a:p>
        </p:txBody>
      </p:sp>
      <p:sp>
        <p:nvSpPr>
          <p:cNvPr id="49" name="TextBox 48"/>
          <p:cNvSpPr txBox="1"/>
          <p:nvPr/>
        </p:nvSpPr>
        <p:spPr>
          <a:xfrm>
            <a:off x="923544" y="5386886"/>
            <a:ext cx="10728655" cy="282601"/>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подсветка на видео</a:t>
            </a:r>
            <a:r>
              <a:rPr sz="1400" b="0" i="0">
                <a:solidFill>
                  <a:srgbClr val="21295C"/>
                </a:solidFill>
                <a:latin typeface="Arial"/>
              </a:rPr>
              <a:t> — GI Genius · CAD EYE · ENDO-AID CADe</a:t>
            </a:r>
          </a:p>
        </p:txBody>
      </p:sp>
      <p:sp>
        <p:nvSpPr>
          <p:cNvPr id="50" name="Rounded Rectangle 49"/>
          <p:cNvSpPr/>
          <p:nvPr/>
        </p:nvSpPr>
        <p:spPr>
          <a:xfrm>
            <a:off x="630936" y="5913581"/>
            <a:ext cx="100584" cy="100584"/>
          </a:xfrm>
          <a:prstGeom prst="roundRect">
            <a:avLst>
              <a:gd name="adj" fmla="val 50000"/>
            </a:avLst>
          </a:prstGeom>
          <a:solidFill>
            <a:srgbClr val="028090"/>
          </a:solidFill>
          <a:ln>
            <a:noFill/>
          </a:ln>
          <a:effectLst/>
        </p:spPr>
        <p:txBody>
          <a:bodyPr rtlCol="0" anchor="ctr"/>
          <a:lstStyle/>
          <a:p>
            <a:pPr algn="ctr"/>
          </a:p>
        </p:txBody>
      </p:sp>
      <p:sp>
        <p:nvSpPr>
          <p:cNvPr id="51" name="TextBox 50"/>
          <p:cNvSpPr txBox="1"/>
          <p:nvPr/>
        </p:nvSpPr>
        <p:spPr>
          <a:xfrm>
            <a:off x="923544" y="5815791"/>
            <a:ext cx="10728655" cy="282601"/>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второй читатель на снимке</a:t>
            </a:r>
            <a:r>
              <a:rPr sz="1400" b="0" i="0">
                <a:solidFill>
                  <a:srgbClr val="21295C"/>
                </a:solidFill>
                <a:latin typeface="Arial"/>
              </a:rPr>
              <a:t> — Transpara · Lunit INSIGHT · iCAD ProFound</a:t>
            </a:r>
          </a:p>
        </p:txBody>
      </p:sp>
      <p:sp>
        <p:nvSpPr>
          <p:cNvPr id="52" name="Rectangle 5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1185855"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9. Сборка</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Лекция разбирала случаи по одному. Здесь они складываются в счёт: чем платили, сколько раз выигрыш приписали не тому, на каком уровне вообще измеряли результат.</a:t>
            </a:r>
          </a:p>
        </p:txBody>
      </p:sp>
      <p:sp>
        <p:nvSpPr>
          <p:cNvPr id="7" name="TextBox 6"/>
          <p:cNvSpPr txBox="1"/>
          <p:nvPr/>
        </p:nvSpPr>
        <p:spPr>
          <a:xfrm>
            <a:off x="704088" y="2613331"/>
            <a:ext cx="10984687" cy="94284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Своды по порядку: 1. Девять форм словаря целиком, со счётом под каждой · 2. Сколько раз выигрыш оказался приписан не тому · 3. Клетки узнаваемые, процедуры другие · 4. Чем заплатили и чем каждое держится · 5. Четыре разных ответа на один вопрос</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Девять форм целиком: чем лекция называла то, что происходит с работой</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653797" cy="410728"/>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361189"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
            </a:r>
          </a:p>
        </p:txBody>
      </p:sp>
      <p:sp>
        <p:nvSpPr>
          <p:cNvPr id="7" name="Rectangle 6"/>
          <p:cNvSpPr/>
          <p:nvPr/>
        </p:nvSpPr>
        <p:spPr>
          <a:xfrm>
            <a:off x="1193293" y="1335024"/>
            <a:ext cx="3716129" cy="410728"/>
          </a:xfrm>
          <a:prstGeom prst="rect">
            <a:avLst/>
          </a:prstGeom>
          <a:solidFill>
            <a:srgbClr val="065A82"/>
          </a:solidFill>
          <a:ln>
            <a:noFill/>
          </a:ln>
          <a:effectLst/>
        </p:spPr>
        <p:txBody>
          <a:bodyPr rtlCol="0" anchor="ctr"/>
          <a:lstStyle/>
          <a:p>
            <a:pPr algn="ctr"/>
          </a:p>
        </p:txBody>
      </p:sp>
      <p:sp>
        <p:nvSpPr>
          <p:cNvPr id="8" name="TextBox 7"/>
          <p:cNvSpPr txBox="1"/>
          <p:nvPr/>
        </p:nvSpPr>
        <p:spPr>
          <a:xfrm>
            <a:off x="1339597" y="1335024"/>
            <a:ext cx="3423521"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форма</a:t>
            </a:r>
          </a:p>
        </p:txBody>
      </p:sp>
      <p:sp>
        <p:nvSpPr>
          <p:cNvPr id="9" name="Rectangle 8"/>
          <p:cNvSpPr/>
          <p:nvPr/>
        </p:nvSpPr>
        <p:spPr>
          <a:xfrm>
            <a:off x="4909423" y="1335024"/>
            <a:ext cx="1896970" cy="410728"/>
          </a:xfrm>
          <a:prstGeom prst="rect">
            <a:avLst/>
          </a:prstGeom>
          <a:solidFill>
            <a:srgbClr val="065A82"/>
          </a:solidFill>
          <a:ln>
            <a:noFill/>
          </a:ln>
          <a:effectLst/>
        </p:spPr>
        <p:txBody>
          <a:bodyPr rtlCol="0" anchor="ctr"/>
          <a:lstStyle/>
          <a:p>
            <a:pPr algn="ctr"/>
          </a:p>
        </p:txBody>
      </p:sp>
      <p:sp>
        <p:nvSpPr>
          <p:cNvPr id="10" name="TextBox 9"/>
          <p:cNvSpPr txBox="1"/>
          <p:nvPr/>
        </p:nvSpPr>
        <p:spPr>
          <a:xfrm>
            <a:off x="5055727" y="1335024"/>
            <a:ext cx="1604362"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что мерит</a:t>
            </a:r>
          </a:p>
        </p:txBody>
      </p:sp>
      <p:sp>
        <p:nvSpPr>
          <p:cNvPr id="11" name="Rectangle 10"/>
          <p:cNvSpPr/>
          <p:nvPr/>
        </p:nvSpPr>
        <p:spPr>
          <a:xfrm>
            <a:off x="6806393" y="1335024"/>
            <a:ext cx="4845806" cy="410728"/>
          </a:xfrm>
          <a:prstGeom prst="rect">
            <a:avLst/>
          </a:prstGeom>
          <a:solidFill>
            <a:srgbClr val="065A82"/>
          </a:solidFill>
          <a:ln>
            <a:noFill/>
          </a:ln>
          <a:effectLst/>
        </p:spPr>
        <p:txBody>
          <a:bodyPr rtlCol="0" anchor="ctr"/>
          <a:lstStyle/>
          <a:p>
            <a:pPr algn="ctr"/>
          </a:p>
        </p:txBody>
      </p:sp>
      <p:sp>
        <p:nvSpPr>
          <p:cNvPr id="12" name="TextBox 11"/>
          <p:cNvSpPr txBox="1"/>
          <p:nvPr/>
        </p:nvSpPr>
        <p:spPr>
          <a:xfrm>
            <a:off x="6952697" y="1335024"/>
            <a:ext cx="4553198"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счёт за лекцию</a:t>
            </a:r>
          </a:p>
        </p:txBody>
      </p:sp>
      <p:sp>
        <p:nvSpPr>
          <p:cNvPr id="13" name="Rectangle 12"/>
          <p:cNvSpPr/>
          <p:nvPr/>
        </p:nvSpPr>
        <p:spPr>
          <a:xfrm>
            <a:off x="539496" y="1745752"/>
            <a:ext cx="653797" cy="410728"/>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45752"/>
            <a:ext cx="361189"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1</a:t>
            </a:r>
          </a:p>
        </p:txBody>
      </p:sp>
      <p:sp>
        <p:nvSpPr>
          <p:cNvPr id="15" name="Rectangle 14"/>
          <p:cNvSpPr/>
          <p:nvPr/>
        </p:nvSpPr>
        <p:spPr>
          <a:xfrm>
            <a:off x="1193293" y="1745752"/>
            <a:ext cx="3716129" cy="410728"/>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1339597" y="1745752"/>
            <a:ext cx="342352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Нагрузка переехала на другой шаг</a:t>
            </a:r>
          </a:p>
        </p:txBody>
      </p:sp>
      <p:sp>
        <p:nvSpPr>
          <p:cNvPr id="17" name="Rectangle 16"/>
          <p:cNvSpPr/>
          <p:nvPr/>
        </p:nvSpPr>
        <p:spPr>
          <a:xfrm>
            <a:off x="4909423" y="1745752"/>
            <a:ext cx="1896970" cy="410728"/>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5055727" y="1745752"/>
            <a:ext cx="160436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место</a:t>
            </a:r>
          </a:p>
        </p:txBody>
      </p:sp>
      <p:sp>
        <p:nvSpPr>
          <p:cNvPr id="19" name="Rectangle 18"/>
          <p:cNvSpPr/>
          <p:nvPr/>
        </p:nvSpPr>
        <p:spPr>
          <a:xfrm>
            <a:off x="6806393" y="1745752"/>
            <a:ext cx="4845806" cy="410728"/>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6952697" y="1745752"/>
            <a:ext cx="4553198"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одобрений регулятора </a:t>
            </a:r>
            <a:r>
              <a:rPr sz="1350" b="1" i="0">
                <a:solidFill>
                  <a:srgbClr val="21295C"/>
                </a:solidFill>
                <a:latin typeface="Arial"/>
              </a:rPr>
              <a:t>ноль</a:t>
            </a:r>
          </a:p>
        </p:txBody>
      </p:sp>
      <p:sp>
        <p:nvSpPr>
          <p:cNvPr id="21" name="Rectangle 20"/>
          <p:cNvSpPr/>
          <p:nvPr/>
        </p:nvSpPr>
        <p:spPr>
          <a:xfrm>
            <a:off x="539496" y="2156480"/>
            <a:ext cx="653797" cy="410728"/>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56480"/>
            <a:ext cx="361189"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2</a:t>
            </a:r>
          </a:p>
        </p:txBody>
      </p:sp>
      <p:sp>
        <p:nvSpPr>
          <p:cNvPr id="23" name="Rectangle 22"/>
          <p:cNvSpPr/>
          <p:nvPr/>
        </p:nvSpPr>
        <p:spPr>
          <a:xfrm>
            <a:off x="1193293" y="2156480"/>
            <a:ext cx="3716129" cy="410728"/>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1339597" y="2156480"/>
            <a:ext cx="342352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Шаг исчез совсем</a:t>
            </a:r>
          </a:p>
        </p:txBody>
      </p:sp>
      <p:sp>
        <p:nvSpPr>
          <p:cNvPr id="25" name="Rectangle 24"/>
          <p:cNvSpPr/>
          <p:nvPr/>
        </p:nvSpPr>
        <p:spPr>
          <a:xfrm>
            <a:off x="4909423" y="2156480"/>
            <a:ext cx="1896970" cy="410728"/>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5055727" y="2156480"/>
            <a:ext cx="160436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место</a:t>
            </a:r>
          </a:p>
        </p:txBody>
      </p:sp>
      <p:sp>
        <p:nvSpPr>
          <p:cNvPr id="27" name="Rectangle 26"/>
          <p:cNvSpPr/>
          <p:nvPr/>
        </p:nvSpPr>
        <p:spPr>
          <a:xfrm>
            <a:off x="6806393" y="2156480"/>
            <a:ext cx="4845806" cy="410728"/>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6952697" y="2156480"/>
            <a:ext cx="4553198"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случая не встретилось</a:t>
            </a:r>
          </a:p>
        </p:txBody>
      </p:sp>
      <p:sp>
        <p:nvSpPr>
          <p:cNvPr id="29" name="Rectangle 28"/>
          <p:cNvSpPr/>
          <p:nvPr/>
        </p:nvSpPr>
        <p:spPr>
          <a:xfrm>
            <a:off x="539496" y="2567209"/>
            <a:ext cx="653797" cy="410728"/>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567209"/>
            <a:ext cx="361189"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3</a:t>
            </a:r>
          </a:p>
        </p:txBody>
      </p:sp>
      <p:sp>
        <p:nvSpPr>
          <p:cNvPr id="31" name="Rectangle 30"/>
          <p:cNvSpPr/>
          <p:nvPr/>
        </p:nvSpPr>
        <p:spPr>
          <a:xfrm>
            <a:off x="1193293" y="2567209"/>
            <a:ext cx="3716129" cy="410728"/>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1339597" y="2567209"/>
            <a:ext cx="342352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Шаг появился</a:t>
            </a:r>
          </a:p>
        </p:txBody>
      </p:sp>
      <p:sp>
        <p:nvSpPr>
          <p:cNvPr id="33" name="Rectangle 32"/>
          <p:cNvSpPr/>
          <p:nvPr/>
        </p:nvSpPr>
        <p:spPr>
          <a:xfrm>
            <a:off x="4909423" y="2567209"/>
            <a:ext cx="1896970" cy="410728"/>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5055727" y="2567209"/>
            <a:ext cx="160436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место</a:t>
            </a:r>
          </a:p>
        </p:txBody>
      </p:sp>
      <p:sp>
        <p:nvSpPr>
          <p:cNvPr id="35" name="Rectangle 34"/>
          <p:cNvSpPr/>
          <p:nvPr/>
        </p:nvSpPr>
        <p:spPr>
          <a:xfrm>
            <a:off x="6806393" y="2567209"/>
            <a:ext cx="4845806" cy="410728"/>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6952697" y="2567209"/>
            <a:ext cx="4553198"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разбор расхождений </a:t>
            </a:r>
            <a:r>
              <a:rPr sz="1350" b="1" i="0">
                <a:solidFill>
                  <a:srgbClr val="21295C"/>
                </a:solidFill>
                <a:latin typeface="Arial"/>
              </a:rPr>
              <a:t>+53 %</a:t>
            </a:r>
          </a:p>
        </p:txBody>
      </p:sp>
      <p:sp>
        <p:nvSpPr>
          <p:cNvPr id="37" name="Rectangle 36"/>
          <p:cNvSpPr/>
          <p:nvPr/>
        </p:nvSpPr>
        <p:spPr>
          <a:xfrm>
            <a:off x="539496" y="2977937"/>
            <a:ext cx="653797" cy="410728"/>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977937"/>
            <a:ext cx="361189"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4</a:t>
            </a:r>
          </a:p>
        </p:txBody>
      </p:sp>
      <p:sp>
        <p:nvSpPr>
          <p:cNvPr id="39" name="Rectangle 38"/>
          <p:cNvSpPr/>
          <p:nvPr/>
        </p:nvSpPr>
        <p:spPr>
          <a:xfrm>
            <a:off x="1193293" y="2977937"/>
            <a:ext cx="3716129" cy="410728"/>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1339597" y="2977937"/>
            <a:ext cx="342352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Нагрузка выросла на том же месте</a:t>
            </a:r>
          </a:p>
        </p:txBody>
      </p:sp>
      <p:sp>
        <p:nvSpPr>
          <p:cNvPr id="41" name="Rectangle 40"/>
          <p:cNvSpPr/>
          <p:nvPr/>
        </p:nvSpPr>
        <p:spPr>
          <a:xfrm>
            <a:off x="4909423" y="2977937"/>
            <a:ext cx="1896970" cy="410728"/>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5055727" y="2977937"/>
            <a:ext cx="160436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объём</a:t>
            </a:r>
          </a:p>
        </p:txBody>
      </p:sp>
      <p:sp>
        <p:nvSpPr>
          <p:cNvPr id="43" name="Rectangle 42"/>
          <p:cNvSpPr/>
          <p:nvPr/>
        </p:nvSpPr>
        <p:spPr>
          <a:xfrm>
            <a:off x="6806393" y="2977937"/>
            <a:ext cx="4845806" cy="410728"/>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6952697" y="2977937"/>
            <a:ext cx="4553198"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тревога часто, подтверждается редко</a:t>
            </a:r>
          </a:p>
        </p:txBody>
      </p:sp>
      <p:sp>
        <p:nvSpPr>
          <p:cNvPr id="45" name="Rectangle 44"/>
          <p:cNvSpPr/>
          <p:nvPr/>
        </p:nvSpPr>
        <p:spPr>
          <a:xfrm>
            <a:off x="539496" y="3388665"/>
            <a:ext cx="653797" cy="410728"/>
          </a:xfrm>
          <a:prstGeom prst="rect">
            <a:avLst/>
          </a:prstGeom>
          <a:solidFill>
            <a:srgbClr val="FFFFFF"/>
          </a:solidFill>
          <a:ln w="12700">
            <a:solidFill>
              <a:srgbClr val="D9E2EC"/>
            </a:solidFill>
          </a:ln>
          <a:effectLst/>
        </p:spPr>
        <p:txBody>
          <a:bodyPr rtlCol="0" anchor="ctr"/>
          <a:lstStyle/>
          <a:p>
            <a:pPr algn="ctr"/>
          </a:p>
        </p:txBody>
      </p:sp>
      <p:sp>
        <p:nvSpPr>
          <p:cNvPr id="46" name="TextBox 45"/>
          <p:cNvSpPr txBox="1"/>
          <p:nvPr/>
        </p:nvSpPr>
        <p:spPr>
          <a:xfrm>
            <a:off x="685800" y="3388665"/>
            <a:ext cx="361189"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4а</a:t>
            </a:r>
          </a:p>
        </p:txBody>
      </p:sp>
      <p:sp>
        <p:nvSpPr>
          <p:cNvPr id="47" name="Rectangle 46"/>
          <p:cNvSpPr/>
          <p:nvPr/>
        </p:nvSpPr>
        <p:spPr>
          <a:xfrm>
            <a:off x="1193293" y="3388665"/>
            <a:ext cx="3716129" cy="410728"/>
          </a:xfrm>
          <a:prstGeom prst="rect">
            <a:avLst/>
          </a:prstGeom>
          <a:solidFill>
            <a:srgbClr val="FFFFFF"/>
          </a:solidFill>
          <a:ln w="12700">
            <a:solidFill>
              <a:srgbClr val="D9E2EC"/>
            </a:solidFill>
          </a:ln>
          <a:effectLst/>
        </p:spPr>
        <p:txBody>
          <a:bodyPr rtlCol="0" anchor="ctr"/>
          <a:lstStyle/>
          <a:p>
            <a:pPr algn="ctr"/>
          </a:p>
        </p:txBody>
      </p:sp>
      <p:sp>
        <p:nvSpPr>
          <p:cNvPr id="48" name="TextBox 47"/>
          <p:cNvSpPr txBox="1"/>
          <p:nvPr/>
        </p:nvSpPr>
        <p:spPr>
          <a:xfrm>
            <a:off x="1339597" y="3388665"/>
            <a:ext cx="342352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Нагрузка на том же месте упала</a:t>
            </a:r>
          </a:p>
        </p:txBody>
      </p:sp>
      <p:sp>
        <p:nvSpPr>
          <p:cNvPr id="49" name="Rectangle 48"/>
          <p:cNvSpPr/>
          <p:nvPr/>
        </p:nvSpPr>
        <p:spPr>
          <a:xfrm>
            <a:off x="4909423" y="3388665"/>
            <a:ext cx="1896970" cy="410728"/>
          </a:xfrm>
          <a:prstGeom prst="rect">
            <a:avLst/>
          </a:prstGeom>
          <a:solidFill>
            <a:srgbClr val="FFFFFF"/>
          </a:solidFill>
          <a:ln w="12700">
            <a:solidFill>
              <a:srgbClr val="D9E2EC"/>
            </a:solidFill>
          </a:ln>
          <a:effectLst/>
        </p:spPr>
        <p:txBody>
          <a:bodyPr rtlCol="0" anchor="ctr"/>
          <a:lstStyle/>
          <a:p>
            <a:pPr algn="ctr"/>
          </a:p>
        </p:txBody>
      </p:sp>
      <p:sp>
        <p:nvSpPr>
          <p:cNvPr id="50" name="TextBox 49"/>
          <p:cNvSpPr txBox="1"/>
          <p:nvPr/>
        </p:nvSpPr>
        <p:spPr>
          <a:xfrm>
            <a:off x="5055727" y="3388665"/>
            <a:ext cx="160436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объём</a:t>
            </a:r>
          </a:p>
        </p:txBody>
      </p:sp>
      <p:sp>
        <p:nvSpPr>
          <p:cNvPr id="51" name="Rectangle 50"/>
          <p:cNvSpPr/>
          <p:nvPr/>
        </p:nvSpPr>
        <p:spPr>
          <a:xfrm>
            <a:off x="6806393" y="3388665"/>
            <a:ext cx="4845806" cy="410728"/>
          </a:xfrm>
          <a:prstGeom prst="rect">
            <a:avLst/>
          </a:prstGeom>
          <a:solidFill>
            <a:srgbClr val="FFFFFF"/>
          </a:solidFill>
          <a:ln w="12700">
            <a:solidFill>
              <a:srgbClr val="D9E2EC"/>
            </a:solidFill>
          </a:ln>
          <a:effectLst/>
        </p:spPr>
        <p:txBody>
          <a:bodyPr rtlCol="0" anchor="ctr"/>
          <a:lstStyle/>
          <a:p>
            <a:pPr algn="ctr"/>
          </a:p>
        </p:txBody>
      </p:sp>
      <p:sp>
        <p:nvSpPr>
          <p:cNvPr id="52" name="TextBox 51"/>
          <p:cNvSpPr txBox="1"/>
          <p:nvPr/>
        </p:nvSpPr>
        <p:spPr>
          <a:xfrm>
            <a:off x="6952697" y="3388665"/>
            <a:ext cx="4553198"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две реализации, знаки противоположные</a:t>
            </a:r>
          </a:p>
        </p:txBody>
      </p:sp>
      <p:sp>
        <p:nvSpPr>
          <p:cNvPr id="53" name="Rectangle 52"/>
          <p:cNvSpPr/>
          <p:nvPr/>
        </p:nvSpPr>
        <p:spPr>
          <a:xfrm>
            <a:off x="539496" y="3799394"/>
            <a:ext cx="653797" cy="410728"/>
          </a:xfrm>
          <a:prstGeom prst="rect">
            <a:avLst/>
          </a:prstGeom>
          <a:solidFill>
            <a:srgbClr val="F4F7FA"/>
          </a:solidFill>
          <a:ln w="12700">
            <a:solidFill>
              <a:srgbClr val="D9E2EC"/>
            </a:solidFill>
          </a:ln>
          <a:effectLst/>
        </p:spPr>
        <p:txBody>
          <a:bodyPr rtlCol="0" anchor="ctr"/>
          <a:lstStyle/>
          <a:p>
            <a:pPr algn="ctr"/>
          </a:p>
        </p:txBody>
      </p:sp>
      <p:sp>
        <p:nvSpPr>
          <p:cNvPr id="54" name="TextBox 53"/>
          <p:cNvSpPr txBox="1"/>
          <p:nvPr/>
        </p:nvSpPr>
        <p:spPr>
          <a:xfrm>
            <a:off x="685800" y="3799394"/>
            <a:ext cx="361189"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5</a:t>
            </a:r>
          </a:p>
        </p:txBody>
      </p:sp>
      <p:sp>
        <p:nvSpPr>
          <p:cNvPr id="55" name="Rectangle 54"/>
          <p:cNvSpPr/>
          <p:nvPr/>
        </p:nvSpPr>
        <p:spPr>
          <a:xfrm>
            <a:off x="1193293" y="3799394"/>
            <a:ext cx="3716129" cy="410728"/>
          </a:xfrm>
          <a:prstGeom prst="rect">
            <a:avLst/>
          </a:prstGeom>
          <a:solidFill>
            <a:srgbClr val="F4F7FA"/>
          </a:solidFill>
          <a:ln w="12700">
            <a:solidFill>
              <a:srgbClr val="D9E2EC"/>
            </a:solidFill>
          </a:ln>
          <a:effectLst/>
        </p:spPr>
        <p:txBody>
          <a:bodyPr rtlCol="0" anchor="ctr"/>
          <a:lstStyle/>
          <a:p>
            <a:pPr algn="ctr"/>
          </a:p>
        </p:txBody>
      </p:sp>
      <p:sp>
        <p:nvSpPr>
          <p:cNvPr id="56" name="TextBox 55"/>
          <p:cNvSpPr txBox="1"/>
          <p:nvPr/>
        </p:nvSpPr>
        <p:spPr>
          <a:xfrm>
            <a:off x="1339597" y="3799394"/>
            <a:ext cx="342352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Исполнитель сменился</a:t>
            </a:r>
          </a:p>
        </p:txBody>
      </p:sp>
      <p:sp>
        <p:nvSpPr>
          <p:cNvPr id="57" name="Rectangle 56"/>
          <p:cNvSpPr/>
          <p:nvPr/>
        </p:nvSpPr>
        <p:spPr>
          <a:xfrm>
            <a:off x="4909423" y="3799394"/>
            <a:ext cx="1896970" cy="410728"/>
          </a:xfrm>
          <a:prstGeom prst="rect">
            <a:avLst/>
          </a:prstGeom>
          <a:solidFill>
            <a:srgbClr val="F4F7FA"/>
          </a:solidFill>
          <a:ln w="12700">
            <a:solidFill>
              <a:srgbClr val="D9E2EC"/>
            </a:solidFill>
          </a:ln>
          <a:effectLst/>
        </p:spPr>
        <p:txBody>
          <a:bodyPr rtlCol="0" anchor="ctr"/>
          <a:lstStyle/>
          <a:p>
            <a:pPr algn="ctr"/>
          </a:p>
        </p:txBody>
      </p:sp>
      <p:sp>
        <p:nvSpPr>
          <p:cNvPr id="58" name="TextBox 57"/>
          <p:cNvSpPr txBox="1"/>
          <p:nvPr/>
        </p:nvSpPr>
        <p:spPr>
          <a:xfrm>
            <a:off x="5055727" y="3799394"/>
            <a:ext cx="160436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рука</a:t>
            </a:r>
          </a:p>
        </p:txBody>
      </p:sp>
      <p:sp>
        <p:nvSpPr>
          <p:cNvPr id="59" name="Rectangle 58"/>
          <p:cNvSpPr/>
          <p:nvPr/>
        </p:nvSpPr>
        <p:spPr>
          <a:xfrm>
            <a:off x="6806393" y="3799394"/>
            <a:ext cx="4845806" cy="410728"/>
          </a:xfrm>
          <a:prstGeom prst="rect">
            <a:avLst/>
          </a:prstGeom>
          <a:solidFill>
            <a:srgbClr val="F4F7FA"/>
          </a:solidFill>
          <a:ln w="12700">
            <a:solidFill>
              <a:srgbClr val="D9E2EC"/>
            </a:solidFill>
          </a:ln>
          <a:effectLst/>
        </p:spPr>
        <p:txBody>
          <a:bodyPr rtlCol="0" anchor="ctr"/>
          <a:lstStyle/>
          <a:p>
            <a:pPr algn="ctr"/>
          </a:p>
        </p:txBody>
      </p:sp>
      <p:sp>
        <p:nvSpPr>
          <p:cNvPr id="60" name="TextBox 59"/>
          <p:cNvSpPr txBox="1"/>
          <p:nvPr/>
        </p:nvSpPr>
        <p:spPr>
          <a:xfrm>
            <a:off x="6952697" y="3799394"/>
            <a:ext cx="4553198"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чтение ниже </a:t>
            </a:r>
            <a:r>
              <a:rPr sz="1350" b="1" i="0">
                <a:solidFill>
                  <a:srgbClr val="21295C"/>
                </a:solidFill>
                <a:latin typeface="Arial"/>
              </a:rPr>
              <a:t>на 44,3 %</a:t>
            </a:r>
          </a:p>
        </p:txBody>
      </p:sp>
      <p:sp>
        <p:nvSpPr>
          <p:cNvPr id="61" name="Rectangle 60"/>
          <p:cNvSpPr/>
          <p:nvPr/>
        </p:nvSpPr>
        <p:spPr>
          <a:xfrm>
            <a:off x="539496" y="4210122"/>
            <a:ext cx="653797" cy="410728"/>
          </a:xfrm>
          <a:prstGeom prst="rect">
            <a:avLst/>
          </a:prstGeom>
          <a:solidFill>
            <a:srgbClr val="FFFFFF"/>
          </a:solidFill>
          <a:ln w="12700">
            <a:solidFill>
              <a:srgbClr val="D9E2EC"/>
            </a:solidFill>
          </a:ln>
          <a:effectLst/>
        </p:spPr>
        <p:txBody>
          <a:bodyPr rtlCol="0" anchor="ctr"/>
          <a:lstStyle/>
          <a:p>
            <a:pPr algn="ctr"/>
          </a:p>
        </p:txBody>
      </p:sp>
      <p:sp>
        <p:nvSpPr>
          <p:cNvPr id="62" name="TextBox 61"/>
          <p:cNvSpPr txBox="1"/>
          <p:nvPr/>
        </p:nvSpPr>
        <p:spPr>
          <a:xfrm>
            <a:off x="685800" y="4210122"/>
            <a:ext cx="361189"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6</a:t>
            </a:r>
          </a:p>
        </p:txBody>
      </p:sp>
      <p:sp>
        <p:nvSpPr>
          <p:cNvPr id="63" name="Rectangle 62"/>
          <p:cNvSpPr/>
          <p:nvPr/>
        </p:nvSpPr>
        <p:spPr>
          <a:xfrm>
            <a:off x="1193293" y="4210122"/>
            <a:ext cx="3716129" cy="410728"/>
          </a:xfrm>
          <a:prstGeom prst="rect">
            <a:avLst/>
          </a:prstGeom>
          <a:solidFill>
            <a:srgbClr val="FFFFFF"/>
          </a:solidFill>
          <a:ln w="12700">
            <a:solidFill>
              <a:srgbClr val="D9E2EC"/>
            </a:solidFill>
          </a:ln>
          <a:effectLst/>
        </p:spPr>
        <p:txBody>
          <a:bodyPr rtlCol="0" anchor="ctr"/>
          <a:lstStyle/>
          <a:p>
            <a:pPr algn="ctr"/>
          </a:p>
        </p:txBody>
      </p:sp>
      <p:sp>
        <p:nvSpPr>
          <p:cNvPr id="64" name="TextBox 63"/>
          <p:cNvSpPr txBox="1"/>
          <p:nvPr/>
        </p:nvSpPr>
        <p:spPr>
          <a:xfrm>
            <a:off x="1339597" y="4210122"/>
            <a:ext cx="342352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Изменился порядок работ</a:t>
            </a:r>
          </a:p>
        </p:txBody>
      </p:sp>
      <p:sp>
        <p:nvSpPr>
          <p:cNvPr id="65" name="Rectangle 64"/>
          <p:cNvSpPr/>
          <p:nvPr/>
        </p:nvSpPr>
        <p:spPr>
          <a:xfrm>
            <a:off x="4909423" y="4210122"/>
            <a:ext cx="1896970" cy="410728"/>
          </a:xfrm>
          <a:prstGeom prst="rect">
            <a:avLst/>
          </a:prstGeom>
          <a:solidFill>
            <a:srgbClr val="FFFFFF"/>
          </a:solidFill>
          <a:ln w="12700">
            <a:solidFill>
              <a:srgbClr val="D9E2EC"/>
            </a:solidFill>
          </a:ln>
          <a:effectLst/>
        </p:spPr>
        <p:txBody>
          <a:bodyPr rtlCol="0" anchor="ctr"/>
          <a:lstStyle/>
          <a:p>
            <a:pPr algn="ctr"/>
          </a:p>
        </p:txBody>
      </p:sp>
      <p:sp>
        <p:nvSpPr>
          <p:cNvPr id="66" name="TextBox 65"/>
          <p:cNvSpPr txBox="1"/>
          <p:nvPr/>
        </p:nvSpPr>
        <p:spPr>
          <a:xfrm>
            <a:off x="5055727" y="4210122"/>
            <a:ext cx="160436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порядок</a:t>
            </a:r>
          </a:p>
        </p:txBody>
      </p:sp>
      <p:sp>
        <p:nvSpPr>
          <p:cNvPr id="67" name="Rectangle 66"/>
          <p:cNvSpPr/>
          <p:nvPr/>
        </p:nvSpPr>
        <p:spPr>
          <a:xfrm>
            <a:off x="6806393" y="4210122"/>
            <a:ext cx="4845806" cy="410728"/>
          </a:xfrm>
          <a:prstGeom prst="rect">
            <a:avLst/>
          </a:prstGeom>
          <a:solidFill>
            <a:srgbClr val="FFFFFF"/>
          </a:solidFill>
          <a:ln w="12700">
            <a:solidFill>
              <a:srgbClr val="D9E2EC"/>
            </a:solidFill>
          </a:ln>
          <a:effectLst/>
        </p:spPr>
        <p:txBody>
          <a:bodyPr rtlCol="0" anchor="ctr"/>
          <a:lstStyle/>
          <a:p>
            <a:pPr algn="ctr"/>
          </a:p>
        </p:txBody>
      </p:sp>
      <p:sp>
        <p:nvSpPr>
          <p:cNvPr id="68" name="TextBox 67"/>
          <p:cNvSpPr txBox="1"/>
          <p:nvPr/>
        </p:nvSpPr>
        <p:spPr>
          <a:xfrm>
            <a:off x="6952697" y="4210122"/>
            <a:ext cx="4553198"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счёта нет</a:t>
            </a:r>
          </a:p>
        </p:txBody>
      </p:sp>
      <p:sp>
        <p:nvSpPr>
          <p:cNvPr id="69" name="Rectangle 68"/>
          <p:cNvSpPr/>
          <p:nvPr/>
        </p:nvSpPr>
        <p:spPr>
          <a:xfrm>
            <a:off x="539496" y="4620850"/>
            <a:ext cx="653797" cy="410728"/>
          </a:xfrm>
          <a:prstGeom prst="rect">
            <a:avLst/>
          </a:prstGeom>
          <a:solidFill>
            <a:srgbClr val="F4F7FA"/>
          </a:solidFill>
          <a:ln w="12700">
            <a:solidFill>
              <a:srgbClr val="D9E2EC"/>
            </a:solidFill>
          </a:ln>
          <a:effectLst/>
        </p:spPr>
        <p:txBody>
          <a:bodyPr rtlCol="0" anchor="ctr"/>
          <a:lstStyle/>
          <a:p>
            <a:pPr algn="ctr"/>
          </a:p>
        </p:txBody>
      </p:sp>
      <p:sp>
        <p:nvSpPr>
          <p:cNvPr id="70" name="TextBox 69"/>
          <p:cNvSpPr txBox="1"/>
          <p:nvPr/>
        </p:nvSpPr>
        <p:spPr>
          <a:xfrm>
            <a:off x="685800" y="4620850"/>
            <a:ext cx="361189"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7</a:t>
            </a:r>
          </a:p>
        </p:txBody>
      </p:sp>
      <p:sp>
        <p:nvSpPr>
          <p:cNvPr id="71" name="Rectangle 70"/>
          <p:cNvSpPr/>
          <p:nvPr/>
        </p:nvSpPr>
        <p:spPr>
          <a:xfrm>
            <a:off x="1193293" y="4620850"/>
            <a:ext cx="3716129" cy="410728"/>
          </a:xfrm>
          <a:prstGeom prst="rect">
            <a:avLst/>
          </a:prstGeom>
          <a:solidFill>
            <a:srgbClr val="F4F7FA"/>
          </a:solidFill>
          <a:ln w="12700">
            <a:solidFill>
              <a:srgbClr val="D9E2EC"/>
            </a:solidFill>
          </a:ln>
          <a:effectLst/>
        </p:spPr>
        <p:txBody>
          <a:bodyPr rtlCol="0" anchor="ctr"/>
          <a:lstStyle/>
          <a:p>
            <a:pPr algn="ctr"/>
          </a:p>
        </p:txBody>
      </p:sp>
      <p:sp>
        <p:nvSpPr>
          <p:cNvPr id="72" name="TextBox 71"/>
          <p:cNvSpPr txBox="1"/>
          <p:nvPr/>
        </p:nvSpPr>
        <p:spPr>
          <a:xfrm>
            <a:off x="1339597" y="4620850"/>
            <a:ext cx="342352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Сместилась цена ошибки</a:t>
            </a:r>
          </a:p>
        </p:txBody>
      </p:sp>
      <p:sp>
        <p:nvSpPr>
          <p:cNvPr id="73" name="Rectangle 72"/>
          <p:cNvSpPr/>
          <p:nvPr/>
        </p:nvSpPr>
        <p:spPr>
          <a:xfrm>
            <a:off x="4909423" y="4620850"/>
            <a:ext cx="1896970" cy="410728"/>
          </a:xfrm>
          <a:prstGeom prst="rect">
            <a:avLst/>
          </a:prstGeom>
          <a:solidFill>
            <a:srgbClr val="F4F7FA"/>
          </a:solidFill>
          <a:ln w="12700">
            <a:solidFill>
              <a:srgbClr val="D9E2EC"/>
            </a:solidFill>
          </a:ln>
          <a:effectLst/>
        </p:spPr>
        <p:txBody>
          <a:bodyPr rtlCol="0" anchor="ctr"/>
          <a:lstStyle/>
          <a:p>
            <a:pPr algn="ctr"/>
          </a:p>
        </p:txBody>
      </p:sp>
      <p:sp>
        <p:nvSpPr>
          <p:cNvPr id="74" name="TextBox 73"/>
          <p:cNvSpPr txBox="1"/>
          <p:nvPr/>
        </p:nvSpPr>
        <p:spPr>
          <a:xfrm>
            <a:off x="5055727" y="4620850"/>
            <a:ext cx="160436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цена ошибки</a:t>
            </a:r>
          </a:p>
        </p:txBody>
      </p:sp>
      <p:sp>
        <p:nvSpPr>
          <p:cNvPr id="75" name="Rectangle 74"/>
          <p:cNvSpPr/>
          <p:nvPr/>
        </p:nvSpPr>
        <p:spPr>
          <a:xfrm>
            <a:off x="6806393" y="4620850"/>
            <a:ext cx="4845806" cy="410728"/>
          </a:xfrm>
          <a:prstGeom prst="rect">
            <a:avLst/>
          </a:prstGeom>
          <a:solidFill>
            <a:srgbClr val="F4F7FA"/>
          </a:solidFill>
          <a:ln w="12700">
            <a:solidFill>
              <a:srgbClr val="D9E2EC"/>
            </a:solidFill>
          </a:ln>
          <a:effectLst/>
        </p:spPr>
        <p:txBody>
          <a:bodyPr rtlCol="0" anchor="ctr"/>
          <a:lstStyle/>
          <a:p>
            <a:pPr algn="ctr"/>
          </a:p>
        </p:txBody>
      </p:sp>
      <p:sp>
        <p:nvSpPr>
          <p:cNvPr id="76" name="TextBox 75"/>
          <p:cNvSpPr txBox="1"/>
          <p:nvPr/>
        </p:nvSpPr>
        <p:spPr>
          <a:xfrm>
            <a:off x="6952697" y="4620850"/>
            <a:ext cx="4553198"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вмешаться способны — проверено у </a:t>
            </a:r>
            <a:r>
              <a:rPr sz="1350" b="1" i="0">
                <a:solidFill>
                  <a:srgbClr val="21295C"/>
                </a:solidFill>
                <a:latin typeface="Arial"/>
              </a:rPr>
              <a:t>56 из 717</a:t>
            </a:r>
          </a:p>
        </p:txBody>
      </p:sp>
      <p:sp>
        <p:nvSpPr>
          <p:cNvPr id="77" name="Rectangle 76"/>
          <p:cNvSpPr/>
          <p:nvPr/>
        </p:nvSpPr>
        <p:spPr>
          <a:xfrm>
            <a:off x="539496" y="5031579"/>
            <a:ext cx="653797" cy="410728"/>
          </a:xfrm>
          <a:prstGeom prst="rect">
            <a:avLst/>
          </a:prstGeom>
          <a:solidFill>
            <a:srgbClr val="FFFFFF"/>
          </a:solidFill>
          <a:ln w="12700">
            <a:solidFill>
              <a:srgbClr val="D9E2EC"/>
            </a:solidFill>
          </a:ln>
          <a:effectLst/>
        </p:spPr>
        <p:txBody>
          <a:bodyPr rtlCol="0" anchor="ctr"/>
          <a:lstStyle/>
          <a:p>
            <a:pPr algn="ctr"/>
          </a:p>
        </p:txBody>
      </p:sp>
      <p:sp>
        <p:nvSpPr>
          <p:cNvPr id="78" name="TextBox 77"/>
          <p:cNvSpPr txBox="1"/>
          <p:nvPr/>
        </p:nvSpPr>
        <p:spPr>
          <a:xfrm>
            <a:off x="685800" y="5031579"/>
            <a:ext cx="361189"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8</a:t>
            </a:r>
          </a:p>
        </p:txBody>
      </p:sp>
      <p:sp>
        <p:nvSpPr>
          <p:cNvPr id="79" name="Rectangle 78"/>
          <p:cNvSpPr/>
          <p:nvPr/>
        </p:nvSpPr>
        <p:spPr>
          <a:xfrm>
            <a:off x="1193293" y="5031579"/>
            <a:ext cx="3716129" cy="410728"/>
          </a:xfrm>
          <a:prstGeom prst="rect">
            <a:avLst/>
          </a:prstGeom>
          <a:solidFill>
            <a:srgbClr val="FFFFFF"/>
          </a:solidFill>
          <a:ln w="12700">
            <a:solidFill>
              <a:srgbClr val="D9E2EC"/>
            </a:solidFill>
          </a:ln>
          <a:effectLst/>
        </p:spPr>
        <p:txBody>
          <a:bodyPr rtlCol="0" anchor="ctr"/>
          <a:lstStyle/>
          <a:p>
            <a:pPr algn="ctr"/>
          </a:p>
        </p:txBody>
      </p:sp>
      <p:sp>
        <p:nvSpPr>
          <p:cNvPr id="80" name="TextBox 79"/>
          <p:cNvSpPr txBox="1"/>
          <p:nvPr/>
        </p:nvSpPr>
        <p:spPr>
          <a:xfrm>
            <a:off x="1339597" y="5031579"/>
            <a:ext cx="3423521"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Исполнитель тот же, но стал хуже</a:t>
            </a:r>
          </a:p>
        </p:txBody>
      </p:sp>
      <p:sp>
        <p:nvSpPr>
          <p:cNvPr id="81" name="Rectangle 80"/>
          <p:cNvSpPr/>
          <p:nvPr/>
        </p:nvSpPr>
        <p:spPr>
          <a:xfrm>
            <a:off x="4909423" y="5031579"/>
            <a:ext cx="1896970" cy="410728"/>
          </a:xfrm>
          <a:prstGeom prst="rect">
            <a:avLst/>
          </a:prstGeom>
          <a:solidFill>
            <a:srgbClr val="FFFFFF"/>
          </a:solidFill>
          <a:ln w="12700">
            <a:solidFill>
              <a:srgbClr val="D9E2EC"/>
            </a:solidFill>
          </a:ln>
          <a:effectLst/>
        </p:spPr>
        <p:txBody>
          <a:bodyPr rtlCol="0" anchor="ctr"/>
          <a:lstStyle/>
          <a:p>
            <a:pPr algn="ctr"/>
          </a:p>
        </p:txBody>
      </p:sp>
      <p:sp>
        <p:nvSpPr>
          <p:cNvPr id="82" name="TextBox 81"/>
          <p:cNvSpPr txBox="1"/>
          <p:nvPr/>
        </p:nvSpPr>
        <p:spPr>
          <a:xfrm>
            <a:off x="5055727" y="5031579"/>
            <a:ext cx="160436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состояние руки</a:t>
            </a:r>
          </a:p>
        </p:txBody>
      </p:sp>
      <p:sp>
        <p:nvSpPr>
          <p:cNvPr id="83" name="Rectangle 82"/>
          <p:cNvSpPr/>
          <p:nvPr/>
        </p:nvSpPr>
        <p:spPr>
          <a:xfrm>
            <a:off x="6806393" y="5031579"/>
            <a:ext cx="4845806" cy="410728"/>
          </a:xfrm>
          <a:prstGeom prst="rect">
            <a:avLst/>
          </a:prstGeom>
          <a:solidFill>
            <a:srgbClr val="FFFFFF"/>
          </a:solidFill>
          <a:ln w="12700">
            <a:solidFill>
              <a:srgbClr val="D9E2EC"/>
            </a:solidFill>
          </a:ln>
          <a:effectLst/>
        </p:spPr>
        <p:txBody>
          <a:bodyPr rtlCol="0" anchor="ctr"/>
          <a:lstStyle/>
          <a:p>
            <a:pPr algn="ctr"/>
          </a:p>
        </p:txBody>
      </p:sp>
      <p:sp>
        <p:nvSpPr>
          <p:cNvPr id="84" name="TextBox 83"/>
          <p:cNvSpPr txBox="1"/>
          <p:nvPr/>
        </p:nvSpPr>
        <p:spPr>
          <a:xfrm>
            <a:off x="6952697" y="5031579"/>
            <a:ext cx="4553198" cy="410728"/>
          </a:xfrm>
          <a:prstGeom prst="rect">
            <a:avLst/>
          </a:prstGeom>
          <a:noFill/>
        </p:spPr>
        <p:txBody>
          <a:bodyPr wrap="square" lIns="0" rIns="0" tIns="0" bIns="0" anchor="ctr">
            <a:spAutoFit/>
          </a:bodyPr>
          <a:lstStyle/>
          <a:p>
            <a:pPr algn="l">
              <a:lnSpc>
                <a:spcPct val="116000"/>
              </a:lnSpc>
            </a:pPr>
            <a:r>
              <a:rPr sz="1350" b="1" i="0">
                <a:solidFill>
                  <a:srgbClr val="21295C"/>
                </a:solidFill>
                <a:latin typeface="Arial"/>
              </a:rPr>
              <a:t>28,4 → 22,4</a:t>
            </a:r>
            <a:r>
              <a:rPr sz="1350" b="0" i="0">
                <a:solidFill>
                  <a:srgbClr val="21295C"/>
                </a:solidFill>
                <a:latin typeface="Arial"/>
              </a:rPr>
              <a:t> из ста процедур</a:t>
            </a:r>
          </a:p>
        </p:txBody>
      </p:sp>
      <p:sp>
        <p:nvSpPr>
          <p:cNvPr id="85" name="TextBox 84"/>
          <p:cNvSpPr txBox="1"/>
          <p:nvPr/>
        </p:nvSpPr>
        <p:spPr>
          <a:xfrm>
            <a:off x="539496" y="5588611"/>
            <a:ext cx="11112703" cy="565202"/>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Семь форм из девяти со счётом; у двух счёта нет, и на их месте стоит прочерк. Какая из девяти встречалась у вас на работе — напишите в чат один номер.</a:t>
            </a:r>
          </a:p>
        </p:txBody>
      </p:sp>
      <p:sp>
        <p:nvSpPr>
          <p:cNvPr id="86" name="Rectangle 85"/>
          <p:cNvSpPr/>
          <p:nvPr/>
        </p:nvSpPr>
        <p:spPr>
          <a:xfrm>
            <a:off x="502920" y="8201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Выигрыш приписан не тому: двенадцать раз за лекцию</a:t>
            </a:r>
          </a:p>
        </p:txBody>
      </p:sp>
      <p:sp>
        <p:nvSpPr>
          <p:cNvPr id="4" name="Rounded Rectangle 3"/>
          <p:cNvSpPr/>
          <p:nvPr/>
        </p:nvSpPr>
        <p:spPr>
          <a:xfrm>
            <a:off x="502920"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ПОДТВЕРЖДЁННЫХ СЛУЧАЕВ ЗА ЛЕКЦИЮ</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двенадцать из пятнадцати</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строк реестра; три условны — их адрес лежит за другим разделом</a:t>
            </a:r>
          </a:p>
        </p:txBody>
      </p:sp>
      <p:sp>
        <p:nvSpPr>
          <p:cNvPr id="8" name="Rounded Rectangle 7"/>
          <p:cNvSpPr/>
          <p:nvPr/>
        </p:nvSpPr>
        <p:spPr>
          <a:xfrm>
            <a:off x="6178143"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ЭКРАНЕ</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девять из пятнадцати</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три строки из каждой графы; остальные живут в реестре раздела</a:t>
            </a:r>
          </a:p>
        </p:txBody>
      </p:sp>
      <p:sp>
        <p:nvSpPr>
          <p:cNvPr id="12" name="Rounded Rectangle 11"/>
          <p:cNvSpPr/>
          <p:nvPr/>
        </p:nvSpPr>
        <p:spPr>
          <a:xfrm>
            <a:off x="374904" y="2592217"/>
            <a:ext cx="11441887" cy="3630892"/>
          </a:xfrm>
          <a:prstGeom prst="roundRect">
            <a:avLst>
              <a:gd name="adj" fmla="val 8394"/>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683657"/>
            <a:ext cx="5373471" cy="355255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Копаешь — а там вообще нет модели.</a:t>
            </a:r>
            <a:r>
              <a:rPr sz="1500" b="0" i="0">
                <a:solidFill>
                  <a:srgbClr val="21295C"/>
                </a:solidFill>
                <a:latin typeface="Arial"/>
              </a:rPr>
              <a:t> Сортировка обращений оказалась деревом «если-то». Прибор, измеряющий насыщение крови кислородом, смещён ещё до модели. Тревога кардиомонитора — порог на приборе. </a:t>
            </a:r>
            <a:r>
              <a:rPr sz="1500" b="1" i="0">
                <a:solidFill>
                  <a:srgbClr val="21295C"/>
                </a:solidFill>
                <a:latin typeface="Arial"/>
              </a:rPr>
              <a:t>Убери модель</a:t>
            </a:r>
            <a:r>
              <a:rPr sz="1500" b="0" i="0">
                <a:solidFill>
                  <a:srgbClr val="21295C"/>
                </a:solidFill>
                <a:latin typeface="Arial"/>
              </a:rPr>
              <a:t> — механизм продолжит работать.</a:t>
            </a:r>
          </a:p>
          <a:p>
            <a:pPr algn="l">
              <a:lnSpc>
                <a:spcPct val="126000"/>
              </a:lnSpc>
              <a:spcBef>
                <a:spcPts val="700"/>
              </a:spcBef>
            </a:pPr>
            <a:r>
              <a:rPr sz="1500" b="0" i="0">
                <a:solidFill>
                  <a:srgbClr val="21295C"/>
                </a:solidFill>
                <a:latin typeface="Arial"/>
              </a:rPr>
              <a:t/>
            </a:r>
            <a:r>
              <a:rPr sz="1500" b="1" i="0">
                <a:solidFill>
                  <a:srgbClr val="21295C"/>
                </a:solidFill>
                <a:latin typeface="Arial"/>
              </a:rPr>
              <a:t>Копаешь — а выигрыш не там, где показывают.</a:t>
            </a:r>
            <a:r>
              <a:rPr sz="1500" b="0" i="0">
                <a:solidFill>
                  <a:srgbClr val="21295C"/>
                </a:solidFill>
                <a:latin typeface="Arial"/>
              </a:rPr>
              <a:t> Снижение смертности принадлежит новой роли; качеству прогноза оно не принадлежит. «ИИ изобрёл лекарство» — расчёту физики связывания под известную мишень. «Миллионы обработанных исследований» — объёму: знаменателя нет. </a:t>
            </a:r>
            <a:r>
              <a:rPr sz="1500" b="1" i="0">
                <a:solidFill>
                  <a:srgbClr val="21295C"/>
                </a:solidFill>
                <a:latin typeface="Arial"/>
              </a:rPr>
              <a:t>Спроси, от чего посчитан эффект.</a:t>
            </a:r>
          </a:p>
        </p:txBody>
      </p:sp>
      <p:sp>
        <p:nvSpPr>
          <p:cNvPr id="14" name="TextBox 13"/>
          <p:cNvSpPr txBox="1"/>
          <p:nvPr/>
        </p:nvSpPr>
        <p:spPr>
          <a:xfrm>
            <a:off x="6278727" y="2683657"/>
            <a:ext cx="5373471" cy="355255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Копаешь — а числа выросли при пересказе.</a:t>
            </a:r>
            <a:r>
              <a:rPr sz="1500" b="0" i="0">
                <a:solidFill>
                  <a:srgbClr val="21295C"/>
                </a:solidFill>
                <a:latin typeface="Arial"/>
              </a:rPr>
              <a:t> Рецензируемый обзор перепутал шесть первоисточников из семи своих. «Три секунды на описание исследования» оказались временем модели, поданным как время врача. «Экономия двойного чтения» взята из сценария, который авторы сами назвали вымышленным. </a:t>
            </a:r>
            <a:r>
              <a:rPr sz="1500" b="1" i="0">
                <a:solidFill>
                  <a:srgbClr val="21295C"/>
                </a:solidFill>
                <a:latin typeface="Arial"/>
              </a:rPr>
              <a:t>Открой первоисточник: выборка, дизайн, журнал.</a:t>
            </a:r>
          </a:p>
        </p:txBody>
      </p:sp>
      <p:sp>
        <p:nvSpPr>
          <p:cNvPr id="15" name="Rectangle 14"/>
          <p:cNvSpPr/>
          <p:nvPr/>
        </p:nvSpPr>
        <p:spPr>
          <a:xfrm>
            <a:off x="6091275" y="2683657"/>
            <a:ext cx="9144" cy="3356572"/>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Итог карты: четыре занятые клетки, восемь пустых — и ни одной общей процедуры</a:t>
            </a:r>
          </a:p>
        </p:txBody>
      </p:sp>
      <p:sp>
        <p:nvSpPr>
          <p:cNvPr id="4" name="Rounded Rectangle 3"/>
          <p:cNvSpPr/>
          <p:nvPr/>
        </p:nvSpPr>
        <p:spPr>
          <a:xfrm>
            <a:off x="374904" y="1243584"/>
            <a:ext cx="11441887" cy="4926906"/>
          </a:xfrm>
          <a:prstGeom prst="roundRect">
            <a:avLst>
              <a:gd name="adj" fmla="val 6186"/>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2178364" cy="392496"/>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885756"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
            </a:r>
          </a:p>
        </p:txBody>
      </p:sp>
      <p:sp>
        <p:nvSpPr>
          <p:cNvPr id="7" name="Rectangle 6"/>
          <p:cNvSpPr/>
          <p:nvPr/>
        </p:nvSpPr>
        <p:spPr>
          <a:xfrm>
            <a:off x="2717860" y="1335024"/>
            <a:ext cx="2595911" cy="392496"/>
          </a:xfrm>
          <a:prstGeom prst="rect">
            <a:avLst/>
          </a:prstGeom>
          <a:solidFill>
            <a:srgbClr val="065A82"/>
          </a:solidFill>
          <a:ln>
            <a:noFill/>
          </a:ln>
          <a:effectLst/>
        </p:spPr>
        <p:txBody>
          <a:bodyPr rtlCol="0" anchor="ctr"/>
          <a:lstStyle/>
          <a:p>
            <a:pPr algn="ctr"/>
          </a:p>
        </p:txBody>
      </p:sp>
      <p:sp>
        <p:nvSpPr>
          <p:cNvPr id="8" name="TextBox 7"/>
          <p:cNvSpPr txBox="1"/>
          <p:nvPr/>
        </p:nvSpPr>
        <p:spPr>
          <a:xfrm>
            <a:off x="2864164" y="1335024"/>
            <a:ext cx="2303303"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текст</a:t>
            </a:r>
          </a:p>
        </p:txBody>
      </p:sp>
      <p:sp>
        <p:nvSpPr>
          <p:cNvPr id="9" name="Rectangle 8"/>
          <p:cNvSpPr/>
          <p:nvPr/>
        </p:nvSpPr>
        <p:spPr>
          <a:xfrm>
            <a:off x="5313772" y="1335024"/>
            <a:ext cx="2941797" cy="392496"/>
          </a:xfrm>
          <a:prstGeom prst="rect">
            <a:avLst/>
          </a:prstGeom>
          <a:solidFill>
            <a:srgbClr val="065A82"/>
          </a:solidFill>
          <a:ln>
            <a:noFill/>
          </a:ln>
          <a:effectLst/>
        </p:spPr>
        <p:txBody>
          <a:bodyPr rtlCol="0" anchor="ctr"/>
          <a:lstStyle/>
          <a:p>
            <a:pPr algn="ctr"/>
          </a:p>
        </p:txBody>
      </p:sp>
      <p:sp>
        <p:nvSpPr>
          <p:cNvPr id="10" name="TextBox 9"/>
          <p:cNvSpPr txBox="1"/>
          <p:nvPr/>
        </p:nvSpPr>
        <p:spPr>
          <a:xfrm>
            <a:off x="5460076" y="1335024"/>
            <a:ext cx="2649189"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изображение</a:t>
            </a:r>
          </a:p>
        </p:txBody>
      </p:sp>
      <p:sp>
        <p:nvSpPr>
          <p:cNvPr id="11" name="Rectangle 10"/>
          <p:cNvSpPr/>
          <p:nvPr/>
        </p:nvSpPr>
        <p:spPr>
          <a:xfrm>
            <a:off x="8255569" y="1335024"/>
            <a:ext cx="3396629" cy="392496"/>
          </a:xfrm>
          <a:prstGeom prst="rect">
            <a:avLst/>
          </a:prstGeom>
          <a:solidFill>
            <a:srgbClr val="065A82"/>
          </a:solidFill>
          <a:ln>
            <a:noFill/>
          </a:ln>
          <a:effectLst/>
        </p:spPr>
        <p:txBody>
          <a:bodyPr rtlCol="0" anchor="ctr"/>
          <a:lstStyle/>
          <a:p>
            <a:pPr algn="ctr"/>
          </a:p>
        </p:txBody>
      </p:sp>
      <p:sp>
        <p:nvSpPr>
          <p:cNvPr id="12" name="TextBox 11"/>
          <p:cNvSpPr txBox="1"/>
          <p:nvPr/>
        </p:nvSpPr>
        <p:spPr>
          <a:xfrm>
            <a:off x="8401873" y="1335024"/>
            <a:ext cx="3104021"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структурированные данные</a:t>
            </a:r>
          </a:p>
        </p:txBody>
      </p:sp>
      <p:sp>
        <p:nvSpPr>
          <p:cNvPr id="13" name="Rectangle 12"/>
          <p:cNvSpPr/>
          <p:nvPr/>
        </p:nvSpPr>
        <p:spPr>
          <a:xfrm>
            <a:off x="539496" y="1727520"/>
            <a:ext cx="2178364" cy="392496"/>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685800" y="1727520"/>
            <a:ext cx="1885756"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классификация</a:t>
            </a:r>
          </a:p>
        </p:txBody>
      </p:sp>
      <p:sp>
        <p:nvSpPr>
          <p:cNvPr id="15" name="Rectangle 14"/>
          <p:cNvSpPr/>
          <p:nvPr/>
        </p:nvSpPr>
        <p:spPr>
          <a:xfrm>
            <a:off x="2717860" y="1727520"/>
            <a:ext cx="2595911" cy="392496"/>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2864164" y="1727520"/>
            <a:ext cx="2303303"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17" name="Rectangle 16"/>
          <p:cNvSpPr/>
          <p:nvPr/>
        </p:nvSpPr>
        <p:spPr>
          <a:xfrm>
            <a:off x="5313772" y="1727520"/>
            <a:ext cx="2941797" cy="392496"/>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5460076" y="1727520"/>
            <a:ext cx="264918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отбор · анализ · диагноз</a:t>
            </a:r>
          </a:p>
        </p:txBody>
      </p:sp>
      <p:sp>
        <p:nvSpPr>
          <p:cNvPr id="19" name="Rectangle 18"/>
          <p:cNvSpPr/>
          <p:nvPr/>
        </p:nvSpPr>
        <p:spPr>
          <a:xfrm>
            <a:off x="8255569" y="1727520"/>
            <a:ext cx="3396629" cy="392496"/>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8401873" y="1727520"/>
            <a:ext cx="310402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1" name="Rectangle 20"/>
          <p:cNvSpPr/>
          <p:nvPr/>
        </p:nvSpPr>
        <p:spPr>
          <a:xfrm>
            <a:off x="539496" y="2120016"/>
            <a:ext cx="2178364" cy="392496"/>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85800" y="2120016"/>
            <a:ext cx="1885756"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распознавание</a:t>
            </a:r>
          </a:p>
        </p:txBody>
      </p:sp>
      <p:sp>
        <p:nvSpPr>
          <p:cNvPr id="23" name="Rectangle 22"/>
          <p:cNvSpPr/>
          <p:nvPr/>
        </p:nvSpPr>
        <p:spPr>
          <a:xfrm>
            <a:off x="2717860" y="2120016"/>
            <a:ext cx="2595911" cy="392496"/>
          </a:xfrm>
          <a:prstGeom prst="rect">
            <a:avLst/>
          </a:prstGeom>
          <a:solidFill>
            <a:srgbClr val="F4F7FA"/>
          </a:solidFill>
          <a:ln w="12700">
            <a:solidFill>
              <a:srgbClr val="D9E2EC"/>
            </a:solidFill>
          </a:ln>
          <a:effectLst/>
        </p:spPr>
        <p:txBody>
          <a:bodyPr rtlCol="0" anchor="ctr"/>
          <a:lstStyle/>
          <a:p>
            <a:pPr algn="ctr"/>
          </a:p>
        </p:txBody>
      </p:sp>
      <p:sp>
        <p:nvSpPr>
          <p:cNvPr id="24" name="TextBox 23"/>
          <p:cNvSpPr txBox="1"/>
          <p:nvPr/>
        </p:nvSpPr>
        <p:spPr>
          <a:xfrm>
            <a:off x="2864164" y="2120016"/>
            <a:ext cx="2303303"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5" name="Rectangle 24"/>
          <p:cNvSpPr/>
          <p:nvPr/>
        </p:nvSpPr>
        <p:spPr>
          <a:xfrm>
            <a:off x="5313772" y="2120016"/>
            <a:ext cx="2941797" cy="392496"/>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5460076" y="2120016"/>
            <a:ext cx="264918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отбор · диагноз · удержание</a:t>
            </a:r>
          </a:p>
        </p:txBody>
      </p:sp>
      <p:sp>
        <p:nvSpPr>
          <p:cNvPr id="27" name="Rectangle 26"/>
          <p:cNvSpPr/>
          <p:nvPr/>
        </p:nvSpPr>
        <p:spPr>
          <a:xfrm>
            <a:off x="8255569" y="2120016"/>
            <a:ext cx="3396629" cy="392496"/>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8401873" y="2120016"/>
            <a:ext cx="310402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29" name="Rectangle 28"/>
          <p:cNvSpPr/>
          <p:nvPr/>
        </p:nvSpPr>
        <p:spPr>
          <a:xfrm>
            <a:off x="539496" y="2512512"/>
            <a:ext cx="2178364" cy="392496"/>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2512512"/>
            <a:ext cx="1885756"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поиск с генерацией</a:t>
            </a:r>
          </a:p>
        </p:txBody>
      </p:sp>
      <p:sp>
        <p:nvSpPr>
          <p:cNvPr id="31" name="Rectangle 30"/>
          <p:cNvSpPr/>
          <p:nvPr/>
        </p:nvSpPr>
        <p:spPr>
          <a:xfrm>
            <a:off x="2717860" y="2512512"/>
            <a:ext cx="2595911" cy="392496"/>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864164" y="2512512"/>
            <a:ext cx="2303303"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отбор · диагноз · запись</a:t>
            </a:r>
          </a:p>
        </p:txBody>
      </p:sp>
      <p:sp>
        <p:nvSpPr>
          <p:cNvPr id="33" name="Rectangle 32"/>
          <p:cNvSpPr/>
          <p:nvPr/>
        </p:nvSpPr>
        <p:spPr>
          <a:xfrm>
            <a:off x="5313772" y="2512512"/>
            <a:ext cx="2941797" cy="392496"/>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5460076" y="2512512"/>
            <a:ext cx="264918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35" name="Rectangle 34"/>
          <p:cNvSpPr/>
          <p:nvPr/>
        </p:nvSpPr>
        <p:spPr>
          <a:xfrm>
            <a:off x="8255569" y="2512512"/>
            <a:ext cx="3396629" cy="392496"/>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8401873" y="2512512"/>
            <a:ext cx="310402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37" name="Rectangle 36"/>
          <p:cNvSpPr/>
          <p:nvPr/>
        </p:nvSpPr>
        <p:spPr>
          <a:xfrm>
            <a:off x="539496" y="2905008"/>
            <a:ext cx="2178364" cy="392496"/>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2905008"/>
            <a:ext cx="1885756"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прогноз</a:t>
            </a:r>
          </a:p>
        </p:txBody>
      </p:sp>
      <p:sp>
        <p:nvSpPr>
          <p:cNvPr id="39" name="Rectangle 38"/>
          <p:cNvSpPr/>
          <p:nvPr/>
        </p:nvSpPr>
        <p:spPr>
          <a:xfrm>
            <a:off x="2717860" y="2905008"/>
            <a:ext cx="2595911" cy="392496"/>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864164" y="2905008"/>
            <a:ext cx="2303303"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41" name="Rectangle 40"/>
          <p:cNvSpPr/>
          <p:nvPr/>
        </p:nvSpPr>
        <p:spPr>
          <a:xfrm>
            <a:off x="5313772" y="2905008"/>
            <a:ext cx="2941797" cy="392496"/>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5460076" y="2905008"/>
            <a:ext cx="2649189"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a:t>
            </a:r>
          </a:p>
        </p:txBody>
      </p:sp>
      <p:sp>
        <p:nvSpPr>
          <p:cNvPr id="43" name="Rectangle 42"/>
          <p:cNvSpPr/>
          <p:nvPr/>
        </p:nvSpPr>
        <p:spPr>
          <a:xfrm>
            <a:off x="8255569" y="2905008"/>
            <a:ext cx="3396629" cy="392496"/>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8401873" y="2905008"/>
            <a:ext cx="3104021" cy="392496"/>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анализ · наблюдение · лекарство</a:t>
            </a:r>
          </a:p>
        </p:txBody>
      </p:sp>
      <p:sp>
        <p:nvSpPr>
          <p:cNvPr id="45" name="TextBox 44"/>
          <p:cNvSpPr txBox="1"/>
          <p:nvPr/>
        </p:nvSpPr>
        <p:spPr>
          <a:xfrm>
            <a:off x="539496" y="3443808"/>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Занято 4 клетки из 12 показанных — окно курсовой сетки из 42. В восемь клеток за восемь разделов не зашёл никто.</a:t>
            </a:r>
            <a:r>
              <a:rPr sz="1300" b="0" i="0">
                <a:solidFill>
                  <a:srgbClr val="21295C"/>
                </a:solidFill>
                <a:latin typeface="Arial"/>
              </a:rPr>
              <a:t> Вне окна ещё три места: генерация структуры · распознавание на видео · измерение и сигнал прибора, где обученной модели нет вовсе.</a:t>
            </a:r>
          </a:p>
        </p:txBody>
      </p:sp>
      <p:sp>
        <p:nvSpPr>
          <p:cNvPr id="46" name="TextBox 45"/>
          <p:cNvSpPr txBox="1"/>
          <p:nvPr/>
        </p:nvSpPr>
        <p:spPr>
          <a:xfrm>
            <a:off x="539496" y="4116334"/>
            <a:ext cx="11112703" cy="789333"/>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Клетки те же, что в инженерии. Процедуры — разные, и ни одна не совпадает с другой:</a:t>
            </a:r>
            <a:r>
              <a:rPr sz="1300" b="0" i="0">
                <a:solidFill>
                  <a:srgbClr val="21295C"/>
                </a:solidFill>
                <a:latin typeface="Arial"/>
              </a:rPr>
              <a:t> на изображении держат двойное чтение и арбитраж · на прогнозе — разбор ложных тревог как рабочее время · на тексте — вычитку и подпись · на структуре — фазы испытаний.</a:t>
            </a:r>
          </a:p>
        </p:txBody>
      </p:sp>
      <p:sp>
        <p:nvSpPr>
          <p:cNvPr id="47" name="TextBox 46"/>
          <p:cNvSpPr txBox="1"/>
          <p:nvPr/>
        </p:nvSpPr>
        <p:spPr>
          <a:xfrm>
            <a:off x="539496" y="5051972"/>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Чем позже в процедуре проверка, тем дольше живёт ошибка:</a:t>
            </a:r>
            <a:r>
              <a:rPr sz="1300" b="0" i="0">
                <a:solidFill>
                  <a:srgbClr val="21295C"/>
                </a:solidFill>
                <a:latin typeface="Arial"/>
              </a:rPr>
              <a:t> изображение — внутри смены, структура — во второй фазе испытаний, через годы.</a:t>
            </a:r>
          </a:p>
        </p:txBody>
      </p:sp>
      <p:sp>
        <p:nvSpPr>
          <p:cNvPr id="48" name="TextBox 47"/>
          <p:cNvSpPr txBox="1"/>
          <p:nvPr/>
        </p:nvSpPr>
        <p:spPr>
          <a:xfrm>
            <a:off x="539496" y="5724499"/>
            <a:ext cx="11112703" cy="263111"/>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Пятая строка, которой в сетке нет: результат исполнителя без инструмента не держится ничем</a:t>
            </a:r>
            <a:r>
              <a:rPr sz="1300" b="0" i="0">
                <a:solidFill>
                  <a:srgbClr val="21295C"/>
                </a:solidFill>
                <a:latin typeface="Arial"/>
              </a:rPr>
              <a:t> — такой процедуры нет ни у кого.</a:t>
            </a:r>
          </a:p>
        </p:txBody>
      </p:sp>
      <p:sp>
        <p:nvSpPr>
          <p:cNvPr id="49" name="Rectangle 48"/>
          <p:cNvSpPr/>
          <p:nvPr/>
        </p:nvSpPr>
        <p:spPr>
          <a:xfrm>
            <a:off x="502920" y="7522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Чем заплатили: внимание, навык, подпись и арбитраж — и чем каждое держится</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233876"/>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Четыре адреса платежа из начала возвращаются измерениями: внимание и навык — в поведении, арбитраж — в процессе, подпись — своей строкой.</a:t>
            </a:r>
          </a:p>
        </p:txBody>
      </p:sp>
      <p:sp>
        <p:nvSpPr>
          <p:cNvPr id="6" name="Rectangle 5"/>
          <p:cNvSpPr/>
          <p:nvPr/>
        </p:nvSpPr>
        <p:spPr>
          <a:xfrm>
            <a:off x="539496" y="1715204"/>
            <a:ext cx="1257390" cy="374263"/>
          </a:xfrm>
          <a:prstGeom prst="rect">
            <a:avLst/>
          </a:prstGeom>
          <a:solidFill>
            <a:srgbClr val="065A82"/>
          </a:solidFill>
          <a:ln>
            <a:noFill/>
          </a:ln>
          <a:effectLst/>
        </p:spPr>
        <p:txBody>
          <a:bodyPr rtlCol="0" anchor="ctr"/>
          <a:lstStyle/>
          <a:p>
            <a:pPr algn="ctr"/>
          </a:p>
        </p:txBody>
      </p:sp>
      <p:sp>
        <p:nvSpPr>
          <p:cNvPr id="7" name="TextBox 6"/>
          <p:cNvSpPr txBox="1"/>
          <p:nvPr/>
        </p:nvSpPr>
        <p:spPr>
          <a:xfrm>
            <a:off x="685800" y="1715204"/>
            <a:ext cx="964782"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строка</a:t>
            </a:r>
          </a:p>
        </p:txBody>
      </p:sp>
      <p:sp>
        <p:nvSpPr>
          <p:cNvPr id="8" name="Rectangle 7"/>
          <p:cNvSpPr/>
          <p:nvPr/>
        </p:nvSpPr>
        <p:spPr>
          <a:xfrm>
            <a:off x="1796886" y="1715204"/>
            <a:ext cx="6316227" cy="374263"/>
          </a:xfrm>
          <a:prstGeom prst="rect">
            <a:avLst/>
          </a:prstGeom>
          <a:solidFill>
            <a:srgbClr val="065A82"/>
          </a:solidFill>
          <a:ln>
            <a:noFill/>
          </a:ln>
          <a:effectLst/>
        </p:spPr>
        <p:txBody>
          <a:bodyPr rtlCol="0" anchor="ctr"/>
          <a:lstStyle/>
          <a:p>
            <a:pPr algn="ctr"/>
          </a:p>
        </p:txBody>
      </p:sp>
      <p:sp>
        <p:nvSpPr>
          <p:cNvPr id="9" name="TextBox 8"/>
          <p:cNvSpPr txBox="1"/>
          <p:nvPr/>
        </p:nvSpPr>
        <p:spPr>
          <a:xfrm>
            <a:off x="1943190" y="1715204"/>
            <a:ext cx="6023619"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что измерено</a:t>
            </a:r>
          </a:p>
        </p:txBody>
      </p:sp>
      <p:sp>
        <p:nvSpPr>
          <p:cNvPr id="10" name="Rectangle 9"/>
          <p:cNvSpPr/>
          <p:nvPr/>
        </p:nvSpPr>
        <p:spPr>
          <a:xfrm>
            <a:off x="8113114" y="1715204"/>
            <a:ext cx="3539085" cy="374263"/>
          </a:xfrm>
          <a:prstGeom prst="rect">
            <a:avLst/>
          </a:prstGeom>
          <a:solidFill>
            <a:srgbClr val="065A82"/>
          </a:solidFill>
          <a:ln>
            <a:noFill/>
          </a:ln>
          <a:effectLst/>
        </p:spPr>
        <p:txBody>
          <a:bodyPr rtlCol="0" anchor="ctr"/>
          <a:lstStyle/>
          <a:p>
            <a:pPr algn="ctr"/>
          </a:p>
        </p:txBody>
      </p:sp>
      <p:sp>
        <p:nvSpPr>
          <p:cNvPr id="11" name="TextBox 10"/>
          <p:cNvSpPr txBox="1"/>
          <p:nvPr/>
        </p:nvSpPr>
        <p:spPr>
          <a:xfrm>
            <a:off x="8259418" y="1715204"/>
            <a:ext cx="3246477" cy="374263"/>
          </a:xfrm>
          <a:prstGeom prst="rect">
            <a:avLst/>
          </a:prstGeom>
          <a:noFill/>
        </p:spPr>
        <p:txBody>
          <a:bodyPr wrap="square" lIns="0" rIns="0" tIns="0" bIns="0" anchor="ctr">
            <a:spAutoFit/>
          </a:bodyPr>
          <a:lstStyle/>
          <a:p>
            <a:pPr algn="l">
              <a:lnSpc>
                <a:spcPct val="116000"/>
              </a:lnSpc>
            </a:pPr>
            <a:r>
              <a:rPr sz="1150" b="1" i="0">
                <a:solidFill>
                  <a:srgbClr val="FFFFFF"/>
                </a:solidFill>
                <a:latin typeface="Arial"/>
              </a:rPr>
              <a:t>чем измерено</a:t>
            </a:r>
          </a:p>
        </p:txBody>
      </p:sp>
      <p:sp>
        <p:nvSpPr>
          <p:cNvPr id="12" name="Rectangle 11"/>
          <p:cNvSpPr/>
          <p:nvPr/>
        </p:nvSpPr>
        <p:spPr>
          <a:xfrm>
            <a:off x="539496" y="2089468"/>
            <a:ext cx="1257390" cy="793607"/>
          </a:xfrm>
          <a:prstGeom prst="rect">
            <a:avLst/>
          </a:prstGeom>
          <a:solidFill>
            <a:srgbClr val="FFFFFF"/>
          </a:solidFill>
          <a:ln w="12700">
            <a:solidFill>
              <a:srgbClr val="D9E2EC"/>
            </a:solidFill>
          </a:ln>
          <a:effectLst/>
        </p:spPr>
        <p:txBody>
          <a:bodyPr rtlCol="0" anchor="ctr"/>
          <a:lstStyle/>
          <a:p>
            <a:pPr algn="ctr"/>
          </a:p>
        </p:txBody>
      </p:sp>
      <p:sp>
        <p:nvSpPr>
          <p:cNvPr id="13" name="TextBox 12"/>
          <p:cNvSpPr txBox="1"/>
          <p:nvPr/>
        </p:nvSpPr>
        <p:spPr>
          <a:xfrm>
            <a:off x="685800" y="2089468"/>
            <a:ext cx="964782" cy="793607"/>
          </a:xfrm>
          <a:prstGeom prst="rect">
            <a:avLst/>
          </a:prstGeom>
          <a:noFill/>
        </p:spPr>
        <p:txBody>
          <a:bodyPr wrap="square" lIns="0" rIns="0" tIns="0" bIns="0" anchor="ctr">
            <a:spAutoFit/>
          </a:bodyPr>
          <a:lstStyle/>
          <a:p>
            <a:pPr algn="l">
              <a:lnSpc>
                <a:spcPct val="116000"/>
              </a:lnSpc>
            </a:pPr>
            <a:r>
              <a:rPr sz="1150" b="1" i="0">
                <a:solidFill>
                  <a:srgbClr val="21295C"/>
                </a:solidFill>
                <a:latin typeface="Arial"/>
              </a:rPr>
              <a:t>Поведение</a:t>
            </a:r>
          </a:p>
        </p:txBody>
      </p:sp>
      <p:sp>
        <p:nvSpPr>
          <p:cNvPr id="14" name="Rectangle 13"/>
          <p:cNvSpPr/>
          <p:nvPr/>
        </p:nvSpPr>
        <p:spPr>
          <a:xfrm>
            <a:off x="1796886" y="2089468"/>
            <a:ext cx="6316227" cy="793607"/>
          </a:xfrm>
          <a:prstGeom prst="rect">
            <a:avLst/>
          </a:prstGeom>
          <a:solidFill>
            <a:srgbClr val="FFFFFF"/>
          </a:solidFill>
          <a:ln w="12700">
            <a:solidFill>
              <a:srgbClr val="D9E2EC"/>
            </a:solidFill>
          </a:ln>
          <a:effectLst/>
        </p:spPr>
        <p:txBody>
          <a:bodyPr rtlCol="0" anchor="ctr"/>
          <a:lstStyle/>
          <a:p>
            <a:pPr algn="ctr"/>
          </a:p>
        </p:txBody>
      </p:sp>
      <p:sp>
        <p:nvSpPr>
          <p:cNvPr id="15" name="TextBox 14"/>
          <p:cNvSpPr txBox="1"/>
          <p:nvPr/>
        </p:nvSpPr>
        <p:spPr>
          <a:xfrm>
            <a:off x="1943190" y="2089468"/>
            <a:ext cx="6023619" cy="793607"/>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зрительный поиск сужается при неверной подсказке · верное решение меняется под влиянием совета · техника падает без помощника · тревоги отклоняют массово</a:t>
            </a:r>
          </a:p>
        </p:txBody>
      </p:sp>
      <p:sp>
        <p:nvSpPr>
          <p:cNvPr id="16" name="Rectangle 15"/>
          <p:cNvSpPr/>
          <p:nvPr/>
        </p:nvSpPr>
        <p:spPr>
          <a:xfrm>
            <a:off x="8113114" y="2089468"/>
            <a:ext cx="3539085" cy="793607"/>
          </a:xfrm>
          <a:prstGeom prst="rect">
            <a:avLst/>
          </a:prstGeom>
          <a:solidFill>
            <a:srgbClr val="FFFFFF"/>
          </a:solidFill>
          <a:ln w="12700">
            <a:solidFill>
              <a:srgbClr val="D9E2EC"/>
            </a:solidFill>
          </a:ln>
          <a:effectLst/>
        </p:spPr>
        <p:txBody>
          <a:bodyPr rtlCol="0" anchor="ctr"/>
          <a:lstStyle/>
          <a:p>
            <a:pPr algn="ctr"/>
          </a:p>
        </p:txBody>
      </p:sp>
      <p:sp>
        <p:nvSpPr>
          <p:cNvPr id="17" name="TextBox 16"/>
          <p:cNvSpPr txBox="1"/>
          <p:nvPr/>
        </p:nvSpPr>
        <p:spPr>
          <a:xfrm>
            <a:off x="8259418" y="2089468"/>
            <a:ext cx="3246477" cy="793607"/>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замер взгляда · систематический обзор · наблюдение, повторения нет · обзор отклонений</a:t>
            </a:r>
          </a:p>
        </p:txBody>
      </p:sp>
      <p:sp>
        <p:nvSpPr>
          <p:cNvPr id="18" name="Rectangle 17"/>
          <p:cNvSpPr/>
          <p:nvPr/>
        </p:nvSpPr>
        <p:spPr>
          <a:xfrm>
            <a:off x="539496" y="2883075"/>
            <a:ext cx="1257390" cy="793607"/>
          </a:xfrm>
          <a:prstGeom prst="rect">
            <a:avLst/>
          </a:prstGeom>
          <a:solidFill>
            <a:srgbClr val="F4F7FA"/>
          </a:solidFill>
          <a:ln w="12700">
            <a:solidFill>
              <a:srgbClr val="D9E2EC"/>
            </a:solidFill>
          </a:ln>
          <a:effectLst/>
        </p:spPr>
        <p:txBody>
          <a:bodyPr rtlCol="0" anchor="ctr"/>
          <a:lstStyle/>
          <a:p>
            <a:pPr algn="ctr"/>
          </a:p>
        </p:txBody>
      </p:sp>
      <p:sp>
        <p:nvSpPr>
          <p:cNvPr id="19" name="TextBox 18"/>
          <p:cNvSpPr txBox="1"/>
          <p:nvPr/>
        </p:nvSpPr>
        <p:spPr>
          <a:xfrm>
            <a:off x="685800" y="2883075"/>
            <a:ext cx="964782" cy="793607"/>
          </a:xfrm>
          <a:prstGeom prst="rect">
            <a:avLst/>
          </a:prstGeom>
          <a:noFill/>
        </p:spPr>
        <p:txBody>
          <a:bodyPr wrap="square" lIns="0" rIns="0" tIns="0" bIns="0" anchor="ctr">
            <a:spAutoFit/>
          </a:bodyPr>
          <a:lstStyle/>
          <a:p>
            <a:pPr algn="l">
              <a:lnSpc>
                <a:spcPct val="116000"/>
              </a:lnSpc>
            </a:pPr>
            <a:r>
              <a:rPr sz="1150" b="1" i="0">
                <a:solidFill>
                  <a:srgbClr val="21295C"/>
                </a:solidFill>
                <a:latin typeface="Arial"/>
              </a:rPr>
              <a:t>Психология</a:t>
            </a:r>
          </a:p>
        </p:txBody>
      </p:sp>
      <p:sp>
        <p:nvSpPr>
          <p:cNvPr id="20" name="Rectangle 19"/>
          <p:cNvSpPr/>
          <p:nvPr/>
        </p:nvSpPr>
        <p:spPr>
          <a:xfrm>
            <a:off x="1796886" y="2883075"/>
            <a:ext cx="6316227" cy="793607"/>
          </a:xfrm>
          <a:prstGeom prst="rect">
            <a:avLst/>
          </a:prstGeom>
          <a:solidFill>
            <a:srgbClr val="F4F7FA"/>
          </a:solidFill>
          <a:ln w="12700">
            <a:solidFill>
              <a:srgbClr val="D9E2EC"/>
            </a:solidFill>
          </a:ln>
          <a:effectLst/>
        </p:spPr>
        <p:txBody>
          <a:bodyPr rtlCol="0" anchor="ctr"/>
          <a:lstStyle/>
          <a:p>
            <a:pPr algn="ctr"/>
          </a:p>
        </p:txBody>
      </p:sp>
      <p:sp>
        <p:nvSpPr>
          <p:cNvPr id="21" name="TextBox 20"/>
          <p:cNvSpPr txBox="1"/>
          <p:nvPr/>
        </p:nvSpPr>
        <p:spPr>
          <a:xfrm>
            <a:off x="1943190" y="2883075"/>
            <a:ext cx="6023619" cy="793607"/>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объяснение повышает согласие; качество решения оно не повышает · запись пишется быстрее, вычитка остаётся</a:t>
            </a:r>
          </a:p>
        </p:txBody>
      </p:sp>
      <p:sp>
        <p:nvSpPr>
          <p:cNvPr id="22" name="Rectangle 21"/>
          <p:cNvSpPr/>
          <p:nvPr/>
        </p:nvSpPr>
        <p:spPr>
          <a:xfrm>
            <a:off x="8113114" y="2883075"/>
            <a:ext cx="3539085" cy="793607"/>
          </a:xfrm>
          <a:prstGeom prst="rect">
            <a:avLst/>
          </a:prstGeom>
          <a:solidFill>
            <a:srgbClr val="F4F7FA"/>
          </a:solidFill>
          <a:ln w="12700">
            <a:solidFill>
              <a:srgbClr val="D9E2EC"/>
            </a:solidFill>
          </a:ln>
          <a:effectLst/>
        </p:spPr>
        <p:txBody>
          <a:bodyPr rtlCol="0" anchor="ctr"/>
          <a:lstStyle/>
          <a:p>
            <a:pPr algn="ctr"/>
          </a:p>
        </p:txBody>
      </p:sp>
      <p:sp>
        <p:nvSpPr>
          <p:cNvPr id="23" name="TextBox 22"/>
          <p:cNvSpPr txBox="1"/>
          <p:nvPr/>
        </p:nvSpPr>
        <p:spPr>
          <a:xfrm>
            <a:off x="8259418" y="2883075"/>
            <a:ext cx="3246477" cy="793607"/>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полевой опыт · рандомизированное исследование с замером рабочего времени</a:t>
            </a:r>
          </a:p>
        </p:txBody>
      </p:sp>
      <p:sp>
        <p:nvSpPr>
          <p:cNvPr id="24" name="Rectangle 23"/>
          <p:cNvSpPr/>
          <p:nvPr/>
        </p:nvSpPr>
        <p:spPr>
          <a:xfrm>
            <a:off x="539496" y="3676682"/>
            <a:ext cx="1257390" cy="583935"/>
          </a:xfrm>
          <a:prstGeom prst="rect">
            <a:avLst/>
          </a:prstGeom>
          <a:solidFill>
            <a:srgbClr val="FFFFFF"/>
          </a:solidFill>
          <a:ln w="12700">
            <a:solidFill>
              <a:srgbClr val="D9E2EC"/>
            </a:solidFill>
          </a:ln>
          <a:effectLst/>
        </p:spPr>
        <p:txBody>
          <a:bodyPr rtlCol="0" anchor="ctr"/>
          <a:lstStyle/>
          <a:p>
            <a:pPr algn="ctr"/>
          </a:p>
        </p:txBody>
      </p:sp>
      <p:sp>
        <p:nvSpPr>
          <p:cNvPr id="25" name="TextBox 24"/>
          <p:cNvSpPr txBox="1"/>
          <p:nvPr/>
        </p:nvSpPr>
        <p:spPr>
          <a:xfrm>
            <a:off x="685800" y="3676682"/>
            <a:ext cx="964782" cy="583935"/>
          </a:xfrm>
          <a:prstGeom prst="rect">
            <a:avLst/>
          </a:prstGeom>
          <a:noFill/>
        </p:spPr>
        <p:txBody>
          <a:bodyPr wrap="square" lIns="0" rIns="0" tIns="0" bIns="0" anchor="ctr">
            <a:spAutoFit/>
          </a:bodyPr>
          <a:lstStyle/>
          <a:p>
            <a:pPr algn="l">
              <a:lnSpc>
                <a:spcPct val="116000"/>
              </a:lnSpc>
            </a:pPr>
            <a:r>
              <a:rPr sz="1150" b="1" i="0">
                <a:solidFill>
                  <a:srgbClr val="21295C"/>
                </a:solidFill>
                <a:latin typeface="Arial"/>
              </a:rPr>
              <a:t>Процесс</a:t>
            </a:r>
          </a:p>
        </p:txBody>
      </p:sp>
      <p:sp>
        <p:nvSpPr>
          <p:cNvPr id="26" name="Rectangle 25"/>
          <p:cNvSpPr/>
          <p:nvPr/>
        </p:nvSpPr>
        <p:spPr>
          <a:xfrm>
            <a:off x="1796886" y="3676682"/>
            <a:ext cx="6316227" cy="583935"/>
          </a:xfrm>
          <a:prstGeom prst="rect">
            <a:avLst/>
          </a:prstGeom>
          <a:solidFill>
            <a:srgbClr val="FFFFFF"/>
          </a:solidFill>
          <a:ln w="12700">
            <a:solidFill>
              <a:srgbClr val="D9E2EC"/>
            </a:solidFill>
          </a:ln>
          <a:effectLst/>
        </p:spPr>
        <p:txBody>
          <a:bodyPr rtlCol="0" anchor="ctr"/>
          <a:lstStyle/>
          <a:p>
            <a:pPr algn="ctr"/>
          </a:p>
        </p:txBody>
      </p:sp>
      <p:sp>
        <p:nvSpPr>
          <p:cNvPr id="27" name="TextBox 26"/>
          <p:cNvSpPr txBox="1"/>
          <p:nvPr/>
        </p:nvSpPr>
        <p:spPr>
          <a:xfrm>
            <a:off x="1943190" y="3676682"/>
            <a:ext cx="6023619" cy="583935"/>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роль второго проверяющего переходит от человека к модели</a:t>
            </a:r>
          </a:p>
        </p:txBody>
      </p:sp>
      <p:sp>
        <p:nvSpPr>
          <p:cNvPr id="28" name="Rectangle 27"/>
          <p:cNvSpPr/>
          <p:nvPr/>
        </p:nvSpPr>
        <p:spPr>
          <a:xfrm>
            <a:off x="8113114" y="3676682"/>
            <a:ext cx="3539085" cy="583935"/>
          </a:xfrm>
          <a:prstGeom prst="rect">
            <a:avLst/>
          </a:prstGeom>
          <a:solidFill>
            <a:srgbClr val="FFFFFF"/>
          </a:solidFill>
          <a:ln w="12700">
            <a:solidFill>
              <a:srgbClr val="D9E2EC"/>
            </a:solidFill>
          </a:ln>
          <a:effectLst/>
        </p:spPr>
        <p:txBody>
          <a:bodyPr rtlCol="0" anchor="ctr"/>
          <a:lstStyle/>
          <a:p>
            <a:pPr algn="ctr"/>
          </a:p>
        </p:txBody>
      </p:sp>
      <p:sp>
        <p:nvSpPr>
          <p:cNvPr id="29" name="TextBox 28"/>
          <p:cNvSpPr txBox="1"/>
          <p:nvPr/>
        </p:nvSpPr>
        <p:spPr>
          <a:xfrm>
            <a:off x="8259418" y="3676682"/>
            <a:ext cx="3246477" cy="583935"/>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рандомизированное исследование программы скрининга</a:t>
            </a:r>
          </a:p>
        </p:txBody>
      </p:sp>
      <p:sp>
        <p:nvSpPr>
          <p:cNvPr id="30" name="Rectangle 29"/>
          <p:cNvSpPr/>
          <p:nvPr/>
        </p:nvSpPr>
        <p:spPr>
          <a:xfrm>
            <a:off x="539496" y="4260618"/>
            <a:ext cx="1257390" cy="583935"/>
          </a:xfrm>
          <a:prstGeom prst="rect">
            <a:avLst/>
          </a:prstGeom>
          <a:solidFill>
            <a:srgbClr val="F4F7FA"/>
          </a:solidFill>
          <a:ln w="12700">
            <a:solidFill>
              <a:srgbClr val="D9E2EC"/>
            </a:solidFill>
          </a:ln>
          <a:effectLst/>
        </p:spPr>
        <p:txBody>
          <a:bodyPr rtlCol="0" anchor="ctr"/>
          <a:lstStyle/>
          <a:p>
            <a:pPr algn="ctr"/>
          </a:p>
        </p:txBody>
      </p:sp>
      <p:sp>
        <p:nvSpPr>
          <p:cNvPr id="31" name="TextBox 30"/>
          <p:cNvSpPr txBox="1"/>
          <p:nvPr/>
        </p:nvSpPr>
        <p:spPr>
          <a:xfrm>
            <a:off x="685800" y="4260618"/>
            <a:ext cx="964782" cy="583935"/>
          </a:xfrm>
          <a:prstGeom prst="rect">
            <a:avLst/>
          </a:prstGeom>
          <a:noFill/>
        </p:spPr>
        <p:txBody>
          <a:bodyPr wrap="square" lIns="0" rIns="0" tIns="0" bIns="0" anchor="ctr">
            <a:spAutoFit/>
          </a:bodyPr>
          <a:lstStyle/>
          <a:p>
            <a:pPr algn="l">
              <a:lnSpc>
                <a:spcPct val="116000"/>
              </a:lnSpc>
            </a:pPr>
            <a:r>
              <a:rPr sz="1150" b="1" i="0">
                <a:solidFill>
                  <a:srgbClr val="21295C"/>
                </a:solidFill>
                <a:latin typeface="Arial"/>
              </a:rPr>
              <a:t>Подпись</a:t>
            </a:r>
          </a:p>
        </p:txBody>
      </p:sp>
      <p:sp>
        <p:nvSpPr>
          <p:cNvPr id="32" name="Rectangle 31"/>
          <p:cNvSpPr/>
          <p:nvPr/>
        </p:nvSpPr>
        <p:spPr>
          <a:xfrm>
            <a:off x="1796886" y="4260618"/>
            <a:ext cx="6316227" cy="583935"/>
          </a:xfrm>
          <a:prstGeom prst="rect">
            <a:avLst/>
          </a:prstGeom>
          <a:solidFill>
            <a:srgbClr val="F4F7FA"/>
          </a:solidFill>
          <a:ln w="12700">
            <a:solidFill>
              <a:srgbClr val="D9E2EC"/>
            </a:solidFill>
          </a:ln>
          <a:effectLst/>
        </p:spPr>
        <p:txBody>
          <a:bodyPr rtlCol="0" anchor="ctr"/>
          <a:lstStyle/>
          <a:p>
            <a:pPr algn="ctr"/>
          </a:p>
        </p:txBody>
      </p:sp>
      <p:sp>
        <p:nvSpPr>
          <p:cNvPr id="33" name="TextBox 32"/>
          <p:cNvSpPr txBox="1"/>
          <p:nvPr/>
        </p:nvSpPr>
        <p:spPr>
          <a:xfrm>
            <a:off x="1943190" y="4260618"/>
            <a:ext cx="6023619" cy="583935"/>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норма требует человека финальным звеном — проверено у </a:t>
            </a:r>
            <a:r>
              <a:rPr sz="1150" b="1" i="0">
                <a:solidFill>
                  <a:srgbClr val="21295C"/>
                </a:solidFill>
                <a:latin typeface="Arial"/>
              </a:rPr>
              <a:t>56 из 717</a:t>
            </a:r>
            <a:r>
              <a:rPr sz="1150" b="0" i="0">
                <a:solidFill>
                  <a:srgbClr val="21295C"/>
                </a:solidFill>
                <a:latin typeface="Arial"/>
              </a:rPr>
              <a:t> · надзор говорит о способности вмешаться, о подписи не сказано</a:t>
            </a:r>
          </a:p>
        </p:txBody>
      </p:sp>
      <p:sp>
        <p:nvSpPr>
          <p:cNvPr id="34" name="Rectangle 33"/>
          <p:cNvSpPr/>
          <p:nvPr/>
        </p:nvSpPr>
        <p:spPr>
          <a:xfrm>
            <a:off x="8113114" y="4260618"/>
            <a:ext cx="3539085" cy="583935"/>
          </a:xfrm>
          <a:prstGeom prst="rect">
            <a:avLst/>
          </a:prstGeom>
          <a:solidFill>
            <a:srgbClr val="F4F7FA"/>
          </a:solidFill>
          <a:ln w="12700">
            <a:solidFill>
              <a:srgbClr val="D9E2EC"/>
            </a:solidFill>
          </a:ln>
          <a:effectLst/>
        </p:spPr>
        <p:txBody>
          <a:bodyPr rtlCol="0" anchor="ctr"/>
          <a:lstStyle/>
          <a:p>
            <a:pPr algn="ctr"/>
          </a:p>
        </p:txBody>
      </p:sp>
      <p:sp>
        <p:nvSpPr>
          <p:cNvPr id="35" name="TextBox 34"/>
          <p:cNvSpPr txBox="1"/>
          <p:nvPr/>
        </p:nvSpPr>
        <p:spPr>
          <a:xfrm>
            <a:off x="8259418" y="4260618"/>
            <a:ext cx="3246477" cy="583935"/>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обзор поданной регуляторам документации · нормативный текст</a:t>
            </a:r>
          </a:p>
        </p:txBody>
      </p:sp>
      <p:sp>
        <p:nvSpPr>
          <p:cNvPr id="36" name="Rectangle 35"/>
          <p:cNvSpPr/>
          <p:nvPr/>
        </p:nvSpPr>
        <p:spPr>
          <a:xfrm>
            <a:off x="539496" y="4844553"/>
            <a:ext cx="1257390" cy="583935"/>
          </a:xfrm>
          <a:prstGeom prst="rect">
            <a:avLst/>
          </a:prstGeom>
          <a:solidFill>
            <a:srgbClr val="FFFFFF"/>
          </a:solidFill>
          <a:ln w="12700">
            <a:solidFill>
              <a:srgbClr val="D9E2EC"/>
            </a:solidFill>
          </a:ln>
          <a:effectLst/>
        </p:spPr>
        <p:txBody>
          <a:bodyPr rtlCol="0" anchor="ctr"/>
          <a:lstStyle/>
          <a:p>
            <a:pPr algn="ctr"/>
          </a:p>
        </p:txBody>
      </p:sp>
      <p:sp>
        <p:nvSpPr>
          <p:cNvPr id="37" name="TextBox 36"/>
          <p:cNvSpPr txBox="1"/>
          <p:nvPr/>
        </p:nvSpPr>
        <p:spPr>
          <a:xfrm>
            <a:off x="685800" y="4844553"/>
            <a:ext cx="964782" cy="583935"/>
          </a:xfrm>
          <a:prstGeom prst="rect">
            <a:avLst/>
          </a:prstGeom>
          <a:noFill/>
        </p:spPr>
        <p:txBody>
          <a:bodyPr wrap="square" lIns="0" rIns="0" tIns="0" bIns="0" anchor="ctr">
            <a:spAutoFit/>
          </a:bodyPr>
          <a:lstStyle/>
          <a:p>
            <a:pPr algn="l">
              <a:lnSpc>
                <a:spcPct val="116000"/>
              </a:lnSpc>
            </a:pPr>
            <a:r>
              <a:rPr sz="1150" b="1" i="0">
                <a:solidFill>
                  <a:srgbClr val="21295C"/>
                </a:solidFill>
                <a:latin typeface="Arial"/>
              </a:rPr>
              <a:t>Контроль</a:t>
            </a:r>
          </a:p>
        </p:txBody>
      </p:sp>
      <p:sp>
        <p:nvSpPr>
          <p:cNvPr id="38" name="Rectangle 37"/>
          <p:cNvSpPr/>
          <p:nvPr/>
        </p:nvSpPr>
        <p:spPr>
          <a:xfrm>
            <a:off x="1796886" y="4844553"/>
            <a:ext cx="6316227" cy="583935"/>
          </a:xfrm>
          <a:prstGeom prst="rect">
            <a:avLst/>
          </a:prstGeom>
          <a:solidFill>
            <a:srgbClr val="FFFFFF"/>
          </a:solidFill>
          <a:ln w="12700">
            <a:solidFill>
              <a:srgbClr val="D9E2EC"/>
            </a:solidFill>
          </a:ln>
          <a:effectLst/>
        </p:spPr>
        <p:txBody>
          <a:bodyPr rtlCol="0" anchor="ctr"/>
          <a:lstStyle/>
          <a:p>
            <a:pPr algn="ctr"/>
          </a:p>
        </p:txBody>
      </p:sp>
      <p:sp>
        <p:nvSpPr>
          <p:cNvPr id="39" name="TextBox 38"/>
          <p:cNvSpPr txBox="1"/>
          <p:nvPr/>
        </p:nvSpPr>
        <p:spPr>
          <a:xfrm>
            <a:off x="1943190" y="4844553"/>
            <a:ext cx="6023619" cy="583935"/>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разная структура ошибок человека и модели даёт выигрыш пары</a:t>
            </a:r>
          </a:p>
        </p:txBody>
      </p:sp>
      <p:sp>
        <p:nvSpPr>
          <p:cNvPr id="40" name="Rectangle 39"/>
          <p:cNvSpPr/>
          <p:nvPr/>
        </p:nvSpPr>
        <p:spPr>
          <a:xfrm>
            <a:off x="8113114" y="4844553"/>
            <a:ext cx="3539085" cy="583935"/>
          </a:xfrm>
          <a:prstGeom prst="rect">
            <a:avLst/>
          </a:prstGeom>
          <a:solidFill>
            <a:srgbClr val="FFFFFF"/>
          </a:solidFill>
          <a:ln w="12700">
            <a:solidFill>
              <a:srgbClr val="D9E2EC"/>
            </a:solidFill>
          </a:ln>
          <a:effectLst/>
        </p:spPr>
        <p:txBody>
          <a:bodyPr rtlCol="0" anchor="ctr"/>
          <a:lstStyle/>
          <a:p>
            <a:pPr algn="ctr"/>
          </a:p>
        </p:txBody>
      </p:sp>
      <p:sp>
        <p:nvSpPr>
          <p:cNvPr id="41" name="TextBox 40"/>
          <p:cNvSpPr txBox="1"/>
          <p:nvPr/>
        </p:nvSpPr>
        <p:spPr>
          <a:xfrm>
            <a:off x="8259418" y="4844553"/>
            <a:ext cx="3246477" cy="583935"/>
          </a:xfrm>
          <a:prstGeom prst="rect">
            <a:avLst/>
          </a:prstGeom>
          <a:noFill/>
        </p:spPr>
        <p:txBody>
          <a:bodyPr wrap="square" lIns="0" rIns="0" tIns="0" bIns="0" anchor="ctr">
            <a:spAutoFit/>
          </a:bodyPr>
          <a:lstStyle/>
          <a:p>
            <a:pPr algn="l">
              <a:lnSpc>
                <a:spcPct val="116000"/>
              </a:lnSpc>
            </a:pPr>
            <a:r>
              <a:rPr sz="1150" b="0" i="0">
                <a:solidFill>
                  <a:srgbClr val="21295C"/>
                </a:solidFill>
                <a:latin typeface="Arial"/>
              </a:rPr>
              <a:t>крупное агрегационное исследование, повторения нет</a:t>
            </a:r>
          </a:p>
        </p:txBody>
      </p:sp>
      <p:sp>
        <p:nvSpPr>
          <p:cNvPr id="42" name="TextBox 41"/>
          <p:cNvSpPr txBox="1"/>
          <p:nvPr/>
        </p:nvSpPr>
        <p:spPr>
          <a:xfrm>
            <a:off x="539496" y="5574793"/>
            <a:ext cx="11112703" cy="487243"/>
          </a:xfrm>
          <a:prstGeom prst="rect">
            <a:avLst/>
          </a:prstGeom>
          <a:noFill/>
        </p:spPr>
        <p:txBody>
          <a:bodyPr wrap="square" lIns="0" rIns="0" tIns="0" bIns="0" anchor="t">
            <a:spAutoFit/>
          </a:bodyPr>
          <a:lstStyle/>
          <a:p>
            <a:pPr algn="l">
              <a:lnSpc>
                <a:spcPct val="124000"/>
              </a:lnSpc>
            </a:pPr>
            <a:r>
              <a:rPr sz="1250" b="1" i="0">
                <a:solidFill>
                  <a:srgbClr val="21295C"/>
                </a:solidFill>
                <a:latin typeface="Arial"/>
              </a:rPr>
              <a:t>И то, чего нет ни в одной строке: исхода пациента нет ни у одного разбора ядра.</a:t>
            </a:r>
            <a:r>
              <a:rPr sz="1200" b="0" i="0">
                <a:solidFill>
                  <a:srgbClr val="21295C"/>
                </a:solidFill>
                <a:latin typeface="Arial"/>
              </a:rPr>
              <a:t> Никто не проверил, что случилось с больным из-за того, что врач стал хуже смотреть.</a:t>
            </a:r>
          </a:p>
        </p:txBody>
      </p:sp>
      <p:sp>
        <p:nvSpPr>
          <p:cNvPr id="43" name="Rectangle 42"/>
          <p:cNvSpPr/>
          <p:nvPr/>
        </p:nvSpPr>
        <p:spPr>
          <a:xfrm>
            <a:off x="502920" y="7862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разных ответа на один вопрос</a:t>
            </a:r>
          </a:p>
        </p:txBody>
      </p:sp>
      <p:sp>
        <p:nvSpPr>
          <p:cNvPr id="4" name="Rounded Rectangle 3"/>
          <p:cNvSpPr/>
          <p:nvPr/>
        </p:nvSpPr>
        <p:spPr>
          <a:xfrm>
            <a:off x="502920" y="1335024"/>
            <a:ext cx="5510631"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РАЗРЯД ЗАМЕРА У ПЕРВОЙ СТУПЕНИ</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рандомизированное исследование</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программа скрининга, 80 033 женщины</a:t>
            </a:r>
          </a:p>
        </p:txBody>
      </p:sp>
      <p:sp>
        <p:nvSpPr>
          <p:cNvPr id="8" name="Rounded Rectangle 7"/>
          <p:cNvSpPr/>
          <p:nvPr/>
        </p:nvSpPr>
        <p:spPr>
          <a:xfrm>
            <a:off x="6178143" y="1335024"/>
            <a:ext cx="5510631"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РАЗРЯД ЗАМЕРА У ЧЕТВЁРТОЙ, САМОЙ ЧАСТОЙ</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счёт секунд — около двух</a:t>
            </a:r>
          </a:p>
        </p:txBody>
      </p:sp>
      <p:sp>
        <p:nvSpPr>
          <p:cNvPr id="11" name="TextBox 10"/>
          <p:cNvSpPr txBox="1"/>
          <p:nvPr/>
        </p:nvSpPr>
        <p:spPr>
          <a:xfrm>
            <a:off x="6315303"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медиана проверки подсказки; замер вне медицины — программисты с ассистентом кода</a:t>
            </a:r>
          </a:p>
        </p:txBody>
      </p:sp>
      <p:sp>
        <p:nvSpPr>
          <p:cNvPr id="12" name="Rounded Rectangle 11"/>
          <p:cNvSpPr/>
          <p:nvPr/>
        </p:nvSpPr>
        <p:spPr>
          <a:xfrm>
            <a:off x="374904" y="2803461"/>
            <a:ext cx="11441887" cy="3432746"/>
          </a:xfrm>
          <a:prstGeom prst="roundRect">
            <a:avLst>
              <a:gd name="adj" fmla="val 8879"/>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2894901"/>
            <a:ext cx="5373471" cy="3341306"/>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Модель посмотрела первой. Что теперь делает человек — и кто это измерял?</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Смотрит первым</a:t>
            </a:r>
            <a:r>
              <a:rPr sz="1400" b="0" i="0">
                <a:solidFill>
                  <a:srgbClr val="21295C"/>
                </a:solidFill>
                <a:latin typeface="Arial"/>
              </a:rPr>
              <a:t> — читает сам, модель даёт второе мнение; при расхождении идёт арбитраж. </a:t>
            </a:r>
            <a:r>
              <a:rPr sz="1400" b="0" i="1">
                <a:solidFill>
                  <a:srgbClr val="21295C"/>
                </a:solidFill>
                <a:latin typeface="Arial"/>
              </a:rPr>
              <a:t>Рандомизированное исследование программы скрининга.</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Смотрит вторым</a:t>
            </a:r>
            <a:r>
              <a:rPr sz="1400" b="0" i="0">
                <a:solidFill>
                  <a:srgbClr val="21295C"/>
                </a:solidFill>
                <a:latin typeface="Arial"/>
              </a:rPr>
              <a:t> — читает после модели: внимание сужается, верное решение иногда меняется на неверное. </a:t>
            </a:r>
            <a:r>
              <a:rPr sz="1400" b="0" i="1">
                <a:solidFill>
                  <a:srgbClr val="21295C"/>
                </a:solidFill>
                <a:latin typeface="Arial"/>
              </a:rPr>
              <a:t>Чтение с замером взгляда и систематический обзор.</a:t>
            </a:r>
          </a:p>
        </p:txBody>
      </p:sp>
      <p:sp>
        <p:nvSpPr>
          <p:cNvPr id="14" name="TextBox 13"/>
          <p:cNvSpPr txBox="1"/>
          <p:nvPr/>
        </p:nvSpPr>
        <p:spPr>
          <a:xfrm>
            <a:off x="6278727" y="2894901"/>
            <a:ext cx="5373471" cy="3341306"/>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a:t>
            </a:r>
            <a:r>
              <a:rPr sz="1400" b="1" i="0">
                <a:solidFill>
                  <a:srgbClr val="21295C"/>
                </a:solidFill>
                <a:latin typeface="Arial"/>
              </a:rPr>
              <a:t>Смотрит только спорное</a:t>
            </a:r>
            <a:r>
              <a:rPr sz="1400" b="0" i="0">
                <a:solidFill>
                  <a:srgbClr val="21295C"/>
                </a:solidFill>
                <a:latin typeface="Arial"/>
              </a:rPr>
              <a:t> — разбирает то, что модель отметила; остальное проходит мимо. </a:t>
            </a:r>
            <a:r>
              <a:rPr sz="1400" b="0" i="1">
                <a:solidFill>
                  <a:srgbClr val="21295C"/>
                </a:solidFill>
                <a:latin typeface="Arial"/>
              </a:rPr>
              <a:t>Обзор отклонений тревог и модель раннего предупреждения.</a:t>
            </a:r>
          </a:p>
          <a:p>
            <a:pPr algn="l">
              <a:lnSpc>
                <a:spcPct val="126000"/>
              </a:lnSpc>
              <a:spcBef>
                <a:spcPts val="7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Подписывает не глядя</a:t>
            </a:r>
            <a:r>
              <a:rPr sz="1400" b="0" i="0">
                <a:solidFill>
                  <a:srgbClr val="21295C"/>
                </a:solidFill>
                <a:latin typeface="Arial"/>
              </a:rPr>
              <a:t> — подпись есть, чтения нет. </a:t>
            </a:r>
            <a:r>
              <a:rPr sz="1400" b="0" i="1">
                <a:solidFill>
                  <a:srgbClr val="21295C"/>
                </a:solidFill>
                <a:latin typeface="Arial"/>
              </a:rPr>
              <a:t>Счёт секунд в лабораторном опыте и доля изделий, у которых способность вмешаться вообще проверяли.</a:t>
            </a:r>
          </a:p>
          <a:p>
            <a:pPr algn="l">
              <a:lnSpc>
                <a:spcPct val="126000"/>
              </a:lnSpc>
              <a:spcBef>
                <a:spcPts val="700"/>
              </a:spcBef>
            </a:pPr>
            <a:r>
              <a:rPr sz="1400" b="0" i="0">
                <a:solidFill>
                  <a:srgbClr val="21295C"/>
                </a:solidFill>
                <a:latin typeface="Arial"/>
              </a:rPr>
              <a:t/>
            </a:r>
            <a:r>
              <a:rPr sz="1400" b="0" i="0">
                <a:solidFill>
                  <a:srgbClr val="21295C"/>
                </a:solidFill>
                <a:latin typeface="Arial"/>
              </a:rPr>
              <a:t>«Человек в контуре» — формулировка вопроса. Разряд замера падает по мере того, как участие становится формальнее: про самую частую ступень известно меньше всего.</a:t>
            </a:r>
          </a:p>
          <a:p>
            <a:pPr algn="l">
              <a:lnSpc>
                <a:spcPct val="126000"/>
              </a:lnSpc>
              <a:spcBef>
                <a:spcPts val="700"/>
              </a:spcBef>
            </a:pPr>
            <a:r>
              <a:rPr sz="1400" b="0" i="0">
                <a:solidFill>
                  <a:srgbClr val="21295C"/>
                </a:solidFill>
                <a:latin typeface="Arial"/>
              </a:rPr>
              <a:t/>
            </a:r>
            <a:r>
              <a:rPr sz="1400" b="0" i="0">
                <a:solidFill>
                  <a:srgbClr val="21295C"/>
                </a:solidFill>
                <a:latin typeface="Arial"/>
              </a:rPr>
              <a:t>Четвёртая ступень — не чья-то вина: она следствие устройства процедуры и переделывается процедурой.</a:t>
            </a:r>
          </a:p>
        </p:txBody>
      </p:sp>
      <p:sp>
        <p:nvSpPr>
          <p:cNvPr id="15" name="Rectangle 14"/>
          <p:cNvSpPr/>
          <p:nvPr/>
        </p:nvSpPr>
        <p:spPr>
          <a:xfrm>
            <a:off x="6091275" y="2894901"/>
            <a:ext cx="9144" cy="3316527"/>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1185855"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10. Закрытие</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338666"/>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Обязательство было заявлено в начале. Здесь оно возвращается — заработанным, со счётом по каждой опоре.</a:t>
            </a:r>
          </a:p>
        </p:txBody>
      </p:sp>
      <p:sp>
        <p:nvSpPr>
          <p:cNvPr id="7" name="TextBox 6"/>
          <p:cNvSpPr txBox="1"/>
          <p:nvPr/>
        </p:nvSpPr>
        <p:spPr>
          <a:xfrm>
            <a:off x="704088" y="2311240"/>
            <a:ext cx="10984687"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1. Что было обещано в начале — и чем лекция это отработала · 2. Изделие отзовут, решения этого года останутся · 3. Три проверки, которые работают в любой отрасли, и вопрос залу</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Почему подписывает человек — и чем это подтверждено</a:t>
            </a:r>
          </a:p>
        </p:txBody>
      </p:sp>
      <p:sp>
        <p:nvSpPr>
          <p:cNvPr id="4" name="Rounded Rectangle 3"/>
          <p:cNvSpPr/>
          <p:nvPr/>
        </p:nvSpPr>
        <p:spPr>
          <a:xfrm>
            <a:off x="502920" y="1335024"/>
            <a:ext cx="3618890"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ПРАВО ПОДПИСИ ВЫДАНО ЧЕЛОВЕКУ</a:t>
            </a:r>
          </a:p>
        </p:txBody>
      </p:sp>
      <p:sp>
        <p:nvSpPr>
          <p:cNvPr id="6" name="TextBox 5"/>
          <p:cNvSpPr txBox="1"/>
          <p:nvPr/>
        </p:nvSpPr>
        <p:spPr>
          <a:xfrm>
            <a:off x="640080" y="1725375"/>
            <a:ext cx="3344570" cy="596748"/>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способность вмешаться проверена у 56 изделий из 717</a:t>
            </a:r>
          </a:p>
        </p:txBody>
      </p:sp>
      <p:sp>
        <p:nvSpPr>
          <p:cNvPr id="7" name="TextBox 6"/>
          <p:cNvSpPr txBox="1"/>
          <p:nvPr/>
        </p:nvSpPr>
        <p:spPr>
          <a:xfrm>
            <a:off x="640080" y="2322123"/>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радиологические изделия, срез июнь 2024 года</a:t>
            </a:r>
          </a:p>
        </p:txBody>
      </p:sp>
      <p:sp>
        <p:nvSpPr>
          <p:cNvPr id="8" name="Rounded Rectangle 7"/>
          <p:cNvSpPr/>
          <p:nvPr/>
        </p:nvSpPr>
        <p:spPr>
          <a:xfrm>
            <a:off x="4286402" y="1335024"/>
            <a:ext cx="3618890"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ОШИБАЕТСЯ ИНАЧЕ</a:t>
            </a:r>
          </a:p>
        </p:txBody>
      </p:sp>
      <p:sp>
        <p:nvSpPr>
          <p:cNvPr id="10" name="TextBox 9"/>
          <p:cNvSpPr txBox="1"/>
          <p:nvPr/>
        </p:nvSpPr>
        <p:spPr>
          <a:xfrm>
            <a:off x="4423562" y="1725375"/>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доли взаимного перекрытия ошибок не измерены</a:t>
            </a:r>
          </a:p>
        </p:txBody>
      </p:sp>
      <p:sp>
        <p:nvSpPr>
          <p:cNvPr id="11" name="TextBox 10"/>
          <p:cNvSpPr txBox="1"/>
          <p:nvPr/>
        </p:nvSpPr>
        <p:spPr>
          <a:xfrm>
            <a:off x="4423562" y="2933220"/>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механизм подтверждён, величина — нет</a:t>
            </a:r>
          </a:p>
        </p:txBody>
      </p:sp>
      <p:sp>
        <p:nvSpPr>
          <p:cNvPr id="12" name="Rounded Rectangle 11"/>
          <p:cNvSpPr/>
          <p:nvPr/>
        </p:nvSpPr>
        <p:spPr>
          <a:xfrm>
            <a:off x="8069884" y="1335024"/>
            <a:ext cx="3618890" cy="2157843"/>
          </a:xfrm>
          <a:prstGeom prst="roundRect">
            <a:avLst>
              <a:gd name="adj" fmla="val 1412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ОТМЕНИТЬ НЕЛЬЗЯ</a:t>
            </a:r>
          </a:p>
        </p:txBody>
      </p:sp>
      <p:sp>
        <p:nvSpPr>
          <p:cNvPr id="14" name="TextBox 13"/>
          <p:cNvSpPr txBox="1"/>
          <p:nvPr/>
        </p:nvSpPr>
        <p:spPr>
          <a:xfrm>
            <a:off x="8207044" y="1725375"/>
            <a:ext cx="3344570" cy="1207845"/>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проведённую процедуру не переделать</a:t>
            </a:r>
          </a:p>
        </p:txBody>
      </p:sp>
      <p:sp>
        <p:nvSpPr>
          <p:cNvPr id="15" name="TextBox 14"/>
          <p:cNvSpPr txBox="1"/>
          <p:nvPr/>
        </p:nvSpPr>
        <p:spPr>
          <a:xfrm>
            <a:off x="8207044" y="2933220"/>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принятые до отзыва решения вместе с изделием не отзываются</a:t>
            </a:r>
          </a:p>
        </p:txBody>
      </p:sp>
      <p:sp>
        <p:nvSpPr>
          <p:cNvPr id="16" name="Rounded Rectangle 15"/>
          <p:cNvSpPr/>
          <p:nvPr/>
        </p:nvSpPr>
        <p:spPr>
          <a:xfrm>
            <a:off x="374904" y="3584307"/>
            <a:ext cx="11441887" cy="2475369"/>
          </a:xfrm>
          <a:prstGeom prst="roundRect">
            <a:avLst>
              <a:gd name="adj" fmla="val 12313"/>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675747"/>
            <a:ext cx="11112703" cy="2383929"/>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Участие человека в медицинском решении обязательно не потому, что человек точнее. Измерено, что часто он не точнее. Обязательно — потому что право подписи выдано ему, ошибается он иначе, чем модель, и отменить принятое решение нельзя.</a:t>
            </a:r>
          </a:p>
          <a:p>
            <a:pPr algn="l">
              <a:lnSpc>
                <a:spcPct val="126000"/>
              </a:lnSpc>
              <a:spcBef>
                <a:spcPts val="700"/>
              </a:spcBef>
            </a:pPr>
            <a:r>
              <a:rPr sz="1250" b="0" i="0">
                <a:solidFill>
                  <a:srgbClr val="21295C"/>
                </a:solidFill>
                <a:latin typeface="Arial"/>
              </a:rPr>
              <a:t/>
            </a:r>
            <a:r>
              <a:rPr sz="1250" b="1" i="0">
                <a:solidFill>
                  <a:srgbClr val="21295C"/>
                </a:solidFill>
                <a:latin typeface="Arial"/>
              </a:rPr>
              <a:t>Право подписи.</a:t>
            </a:r>
            <a:r>
              <a:rPr sz="1250" b="0" i="0">
                <a:solidFill>
                  <a:srgbClr val="21295C"/>
                </a:solidFill>
                <a:latin typeface="Arial"/>
              </a:rPr>
              <a:t> При разборе случая комиссия оценивает действия человека; вопроса о модели в этой процедуре нет. А способен ли человек этим правом воспользоваться, проверяют редко.</a:t>
            </a:r>
          </a:p>
          <a:p>
            <a:pPr algn="l">
              <a:lnSpc>
                <a:spcPct val="126000"/>
              </a:lnSpc>
              <a:spcBef>
                <a:spcPts val="700"/>
              </a:spcBef>
            </a:pPr>
            <a:r>
              <a:rPr sz="1250" b="0" i="0">
                <a:solidFill>
                  <a:srgbClr val="21295C"/>
                </a:solidFill>
                <a:latin typeface="Arial"/>
              </a:rPr>
              <a:t/>
            </a:r>
            <a:r>
              <a:rPr sz="1250" b="1" i="0">
                <a:solidFill>
                  <a:srgbClr val="21295C"/>
                </a:solidFill>
                <a:latin typeface="Arial"/>
              </a:rPr>
              <a:t>Ошибается иначе.</a:t>
            </a:r>
            <a:r>
              <a:rPr sz="1250" b="0" i="0">
                <a:solidFill>
                  <a:srgbClr val="21295C"/>
                </a:solidFill>
                <a:latin typeface="Arial"/>
              </a:rPr>
              <a:t> Направление подтверждено: на 106 опытах знак выигрыша пары зависит от того, какая сторона сильнее на задаче. Величины у опоры нет, и сказано это той же строкой, которой лекция требовала базу у чужих чисел.</a:t>
            </a:r>
          </a:p>
          <a:p>
            <a:pPr algn="l">
              <a:lnSpc>
                <a:spcPct val="126000"/>
              </a:lnSpc>
              <a:spcBef>
                <a:spcPts val="700"/>
              </a:spcBef>
            </a:pPr>
            <a:r>
              <a:rPr sz="1250" b="0" i="0">
                <a:solidFill>
                  <a:srgbClr val="21295C"/>
                </a:solidFill>
                <a:latin typeface="Arial"/>
              </a:rPr>
              <a:t/>
            </a:r>
            <a:r>
              <a:rPr sz="1250" b="1" i="0">
                <a:solidFill>
                  <a:srgbClr val="21295C"/>
                </a:solidFill>
                <a:latin typeface="Arial"/>
              </a:rPr>
              <a:t>Отменить нельзя.</a:t>
            </a:r>
            <a:r>
              <a:rPr sz="1250" b="0" i="0">
                <a:solidFill>
                  <a:srgbClr val="21295C"/>
                </a:solidFill>
                <a:latin typeface="Arial"/>
              </a:rPr>
              <a:t> Операцию не отменить задним числом, год наблюдения не переиграть; процедуры, проведённые упавшей рукой, уже проведены.</a:t>
            </a:r>
          </a:p>
          <a:p>
            <a:pPr algn="l">
              <a:lnSpc>
                <a:spcPct val="126000"/>
              </a:lnSpc>
              <a:spcBef>
                <a:spcPts val="700"/>
              </a:spcBef>
            </a:pPr>
            <a:r>
              <a:rPr sz="1250" b="0" i="0">
                <a:solidFill>
                  <a:srgbClr val="21295C"/>
                </a:solidFill>
                <a:latin typeface="Arial"/>
              </a:rPr>
              <a:t/>
            </a:r>
            <a:r>
              <a:rPr sz="1250" b="1" i="0">
                <a:solidFill>
                  <a:srgbClr val="21295C"/>
                </a:solidFill>
                <a:latin typeface="Arial"/>
              </a:rPr>
              <a:t>Норма сформулирована как способность вмешаться.</a:t>
            </a:r>
            <a:r>
              <a:rPr sz="1250" b="0" i="0">
                <a:solidFill>
                  <a:srgbClr val="21295C"/>
                </a:solidFill>
                <a:latin typeface="Arial"/>
              </a:rPr>
              <a:t> Присутствие само по себе её не исполняет, и смотреть каждое решение она не требует.</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169405"/>
            <a:ext cx="11185855" cy="63373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Lee B., Kramer P., … Dai T., JAMA Health Forum 2025;6(8):e253172, DOI 10.1001/jamahealthforum.2025.3172, срез ноябрь 2024</a:t>
            </a:r>
            <a:r>
              <a:rPr sz="1200" b="0" i="1">
                <a:solidFill>
                  <a:srgbClr val="1C7293"/>
                </a:solidFill>
                <a:latin typeface="Arial"/>
              </a:rPr>
              <a:t> · </a:t>
            </a:r>
            <a:r>
              <a:rPr sz="1200" b="0" i="1" u="sng">
                <a:solidFill>
                  <a:srgbClr val="065A82"/>
                </a:solidFill>
                <a:latin typeface="Arial"/>
                <a:hlinkClick r:id="rId3"/>
              </a:rPr>
              <a:t>Систематический обзор поданной регуляторам документации по радиологическим устройствам с ИИ, JAMA Network Open 2025;8(11):e2542338, срез июнь 2024</a:t>
            </a:r>
            <a:r>
              <a:rPr sz="1200" b="0" i="1">
                <a:solidFill>
                  <a:srgbClr val="1C7293"/>
                </a:solidFill>
                <a:latin typeface="Arial"/>
              </a:rPr>
              <a:t> · </a:t>
            </a:r>
            <a:r>
              <a:rPr sz="1200" b="0" i="1" u="sng">
                <a:solidFill>
                  <a:srgbClr val="065A82"/>
                </a:solidFill>
                <a:latin typeface="Arial"/>
                <a:hlinkClick r:id="rId4"/>
              </a:rPr>
              <a:t>Регламент (ЕС) 2024/1689, статья 14</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666183" y="91440"/>
            <a:ext cx="7022592" cy="4933053"/>
          </a:xfrm>
          <a:prstGeom prst="roundRect">
            <a:avLst>
              <a:gd name="adj" fmla="val 6178"/>
            </a:avLst>
          </a:prstGeom>
          <a:solidFill>
            <a:srgbClr val="F4F7FA"/>
          </a:solidFill>
          <a:ln w="19050">
            <a:solidFill>
              <a:srgbClr val="1C7293"/>
            </a:solidFill>
          </a:ln>
          <a:effectLst/>
        </p:spPr>
        <p:txBody>
          <a:bodyPr rtlCol="0" anchor="ctr"/>
          <a:lstStyle/>
          <a:p>
            <a:pPr algn="ctr"/>
          </a:p>
        </p:txBody>
      </p:sp>
      <p:pic>
        <p:nvPicPr>
          <p:cNvPr id="4" name="Picture 3" descr="s105-hero-uvedomlenie-ob-otzyve-izdeliya-verkh.png"/>
          <p:cNvPicPr>
            <a:picLocks noChangeAspect="1"/>
          </p:cNvPicPr>
          <p:nvPr/>
        </p:nvPicPr>
        <p:blipFill>
          <a:blip r:embed="rId2"/>
          <a:stretch>
            <a:fillRect/>
          </a:stretch>
        </p:blipFill>
        <p:spPr>
          <a:xfrm>
            <a:off x="4711903" y="137160"/>
            <a:ext cx="6931152" cy="4841613"/>
          </a:xfrm>
          <a:prstGeom prst="rect">
            <a:avLst/>
          </a:prstGeom>
        </p:spPr>
      </p:pic>
      <p:sp>
        <p:nvSpPr>
          <p:cNvPr id="5" name="TextBox 4"/>
          <p:cNvSpPr txBox="1"/>
          <p:nvPr/>
        </p:nvSpPr>
        <p:spPr>
          <a:xfrm>
            <a:off x="502920" y="365760"/>
            <a:ext cx="3852367"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Изделие отзовут. Решения этого года останутся.</a:t>
            </a:r>
          </a:p>
        </p:txBody>
      </p:sp>
      <p:sp>
        <p:nvSpPr>
          <p:cNvPr id="6" name="Rounded Rectangle 5"/>
          <p:cNvSpPr/>
          <p:nvPr/>
        </p:nvSpPr>
        <p:spPr>
          <a:xfrm>
            <a:off x="502920" y="1370634"/>
            <a:ext cx="3852367"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7" name="TextBox 6"/>
          <p:cNvSpPr txBox="1"/>
          <p:nvPr/>
        </p:nvSpPr>
        <p:spPr>
          <a:xfrm>
            <a:off x="640080" y="1507794"/>
            <a:ext cx="357804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ОТЗЫВОВ В ПЕРВЫЕ ДВЕНАДЦАТЬ МЕСЯЦЕВ</a:t>
            </a:r>
          </a:p>
        </p:txBody>
      </p:sp>
      <p:sp>
        <p:nvSpPr>
          <p:cNvPr id="8" name="TextBox 7"/>
          <p:cNvSpPr txBox="1"/>
          <p:nvPr/>
        </p:nvSpPr>
        <p:spPr>
          <a:xfrm>
            <a:off x="640080" y="1968456"/>
            <a:ext cx="3578047" cy="426999"/>
          </a:xfrm>
          <a:prstGeom prst="rect">
            <a:avLst/>
          </a:prstGeom>
          <a:noFill/>
        </p:spPr>
        <p:txBody>
          <a:bodyPr wrap="square" lIns="0" rIns="0" tIns="0" bIns="0" anchor="t">
            <a:spAutoFit/>
          </a:bodyPr>
          <a:lstStyle/>
          <a:p>
            <a:pPr algn="l">
              <a:lnSpc>
                <a:spcPct val="108000"/>
              </a:lnSpc>
            </a:pPr>
            <a:r>
              <a:rPr sz="2300" b="1" i="0">
                <a:solidFill>
                  <a:srgbClr val="F0AB00"/>
                </a:solidFill>
                <a:latin typeface="Arial"/>
              </a:rPr>
              <a:t>43,4 процента</a:t>
            </a:r>
          </a:p>
        </p:txBody>
      </p:sp>
      <p:sp>
        <p:nvSpPr>
          <p:cNvPr id="9" name="TextBox 8"/>
          <p:cNvSpPr txBox="1"/>
          <p:nvPr/>
        </p:nvSpPr>
        <p:spPr>
          <a:xfrm>
            <a:off x="640080" y="2395456"/>
            <a:ext cx="3578047"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79 событий из 182 на 60 отозванных изделий из 950; ноябрь 2024</a:t>
            </a:r>
          </a:p>
        </p:txBody>
      </p:sp>
      <p:sp>
        <p:nvSpPr>
          <p:cNvPr id="10" name="Rounded Rectangle 9"/>
          <p:cNvSpPr/>
          <p:nvPr/>
        </p:nvSpPr>
        <p:spPr>
          <a:xfrm>
            <a:off x="502920" y="3137983"/>
            <a:ext cx="1770735" cy="1886510"/>
          </a:xfrm>
          <a:prstGeom prst="roundRect">
            <a:avLst>
              <a:gd name="adj" fmla="val 17213"/>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667512" y="3293431"/>
            <a:ext cx="1441551" cy="492901"/>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отозвать можно</a:t>
            </a:r>
          </a:p>
        </p:txBody>
      </p:sp>
      <p:sp>
        <p:nvSpPr>
          <p:cNvPr id="12" name="TextBox 11"/>
          <p:cNvSpPr txBox="1"/>
          <p:nvPr/>
        </p:nvSpPr>
        <p:spPr>
          <a:xfrm>
            <a:off x="667512" y="3896060"/>
            <a:ext cx="1441551" cy="972985"/>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Изделие</a:t>
            </a:r>
          </a:p>
          <a:p>
            <a:pPr algn="l">
              <a:lnSpc>
                <a:spcPct val="126000"/>
              </a:lnSpc>
            </a:pPr>
            <a:r>
              <a:rPr sz="1450" b="0" i="0">
                <a:solidFill>
                  <a:srgbClr val="21295C"/>
                </a:solidFill>
                <a:latin typeface="Arial"/>
              </a:rPr>
              <a:t>• Партию</a:t>
            </a:r>
          </a:p>
        </p:txBody>
      </p:sp>
      <p:sp>
        <p:nvSpPr>
          <p:cNvPr id="13" name="Rounded Rectangle 12"/>
          <p:cNvSpPr/>
          <p:nvPr/>
        </p:nvSpPr>
        <p:spPr>
          <a:xfrm>
            <a:off x="2584551" y="3137983"/>
            <a:ext cx="1770735" cy="1886510"/>
          </a:xfrm>
          <a:prstGeom prst="roundRect">
            <a:avLst>
              <a:gd name="adj" fmla="val 17213"/>
            </a:avLst>
          </a:prstGeom>
          <a:solidFill>
            <a:srgbClr val="FFFFFF"/>
          </a:solidFill>
          <a:ln w="19050">
            <a:solidFill>
              <a:srgbClr val="028090"/>
            </a:solidFill>
          </a:ln>
          <a:effectLst/>
        </p:spPr>
        <p:txBody>
          <a:bodyPr rtlCol="0" anchor="ctr"/>
          <a:lstStyle/>
          <a:p>
            <a:pPr algn="ctr"/>
          </a:p>
        </p:txBody>
      </p:sp>
      <p:sp>
        <p:nvSpPr>
          <p:cNvPr id="14" name="TextBox 13"/>
          <p:cNvSpPr txBox="1"/>
          <p:nvPr/>
        </p:nvSpPr>
        <p:spPr>
          <a:xfrm>
            <a:off x="2749143" y="3293431"/>
            <a:ext cx="1441551" cy="492901"/>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отменить нельзя</a:t>
            </a:r>
          </a:p>
        </p:txBody>
      </p:sp>
      <p:sp>
        <p:nvSpPr>
          <p:cNvPr id="15" name="TextBox 14"/>
          <p:cNvSpPr txBox="1"/>
          <p:nvPr/>
        </p:nvSpPr>
        <p:spPr>
          <a:xfrm>
            <a:off x="2749143" y="3896060"/>
            <a:ext cx="1441551" cy="972985"/>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Решение до отзыва</a:t>
            </a:r>
          </a:p>
          <a:p>
            <a:pPr algn="l">
              <a:lnSpc>
                <a:spcPct val="126000"/>
              </a:lnSpc>
            </a:pPr>
            <a:r>
              <a:rPr sz="1200" b="0" i="0">
                <a:solidFill>
                  <a:srgbClr val="21295C"/>
                </a:solidFill>
                <a:latin typeface="Arial"/>
              </a:rPr>
              <a:t>• Уже проведённую процедуру</a:t>
            </a:r>
          </a:p>
        </p:txBody>
      </p:sp>
      <p:sp>
        <p:nvSpPr>
          <p:cNvPr id="16" name="Rounded Rectangle 15"/>
          <p:cNvSpPr/>
          <p:nvPr/>
        </p:nvSpPr>
        <p:spPr>
          <a:xfrm>
            <a:off x="374904" y="4987917"/>
            <a:ext cx="11441887" cy="1248290"/>
          </a:xfrm>
          <a:prstGeom prst="roundRect">
            <a:avLst>
              <a:gd name="adj" fmla="val 24417"/>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5079357"/>
            <a:ext cx="11112703" cy="1156850"/>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«В медицине всё необратимо» — утверждение шире замера. Отзыв существует и посчитан; решения, принятые по устройству за год его работы, не отзываются вместе с ним.</a:t>
            </a:r>
          </a:p>
          <a:p>
            <a:pPr algn="l">
              <a:lnSpc>
                <a:spcPct val="126000"/>
              </a:lnSpc>
              <a:spcBef>
                <a:spcPts val="700"/>
              </a:spcBef>
            </a:pPr>
            <a:r>
              <a:rPr sz="1200" b="0" i="0">
                <a:solidFill>
                  <a:srgbClr val="21295C"/>
                </a:solidFill>
                <a:latin typeface="Arial"/>
              </a:rPr>
              <a:t/>
            </a:r>
            <a:r>
              <a:rPr sz="1200" b="0" i="0">
                <a:solidFill>
                  <a:srgbClr val="21295C"/>
                </a:solidFill>
                <a:latin typeface="Arial"/>
              </a:rPr>
              <a:t>Разрыв между этими двумя вещами измерен, и его стоит приложить к своему рабочему контуру: что в нём отзывается, а что остаётся после отзыва.</a:t>
            </a:r>
          </a:p>
          <a:p>
            <a:pPr algn="l">
              <a:lnSpc>
                <a:spcPct val="126000"/>
              </a:lnSpc>
              <a:spcBef>
                <a:spcPts val="700"/>
              </a:spcBef>
            </a:pPr>
            <a:r>
              <a:rPr sz="1200" b="0" i="0">
                <a:solidFill>
                  <a:srgbClr val="21295C"/>
                </a:solidFill>
                <a:latin typeface="Arial"/>
              </a:rPr>
              <a:t/>
            </a:r>
            <a:r>
              <a:rPr sz="1200" b="0" i="0">
                <a:solidFill>
                  <a:srgbClr val="21295C"/>
                </a:solidFill>
                <a:latin typeface="Arial"/>
              </a:rPr>
              <a:t>Дальше — отрасль, где ошибку почти всегда можно отменить, и спор там идёт о принадлежности результата. Цена ошибки в нём почти не звучит.</a:t>
            </a:r>
          </a:p>
        </p:txBody>
      </p:sp>
      <p:sp>
        <p:nvSpPr>
          <p:cNvPr id="18" name="Rectangle 17"/>
          <p:cNvSpPr/>
          <p:nvPr/>
        </p:nvSpPr>
        <p:spPr>
          <a:xfrm>
            <a:off x="502920" y="1210614"/>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Lee B., Kramer P., Sandri S., … Dai T., JAMA Health Forum 2025;6(8):e253172, DOI 10.1001/jamahealthforum.2025.3172, срез ноябрь 2024</a:t>
            </a:r>
            <a:r>
              <a:rPr sz="1200" b="0" i="1">
                <a:solidFill>
                  <a:srgbClr val="1C7293"/>
                </a:solidFill>
                <a:latin typeface="Arial"/>
              </a:rPr>
              <a:t> · </a:t>
            </a:r>
            <a:r>
              <a:rPr sz="1200" b="0" i="1">
                <a:solidFill>
                  <a:srgbClr val="1C7293"/>
                </a:solidFill>
                <a:latin typeface="Arial"/>
              </a:rPr>
              <a:t>Снимок страницы: база отзывов медицинских изделий FDA (CDRH), запись Z-2111-2021, съёмка 12 октября 2026 года</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Три проверки, которые работают в любой отрасли, — и вопрос</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6869887" cy="271271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Есть ли у человека независимый источник истины, кроме объяснения модели?</a:t>
            </a:r>
            <a:r>
              <a:rPr sz="1500" b="0" i="0">
                <a:solidFill>
                  <a:srgbClr val="21295C"/>
                </a:solidFill>
                <a:latin typeface="Arial"/>
              </a:rPr>
              <a:t> Другой прибор, другой анализ, другой человек или сам предмет. Проверка по самообъяснению — не проверка.</a:t>
            </a:r>
          </a:p>
          <a:p>
            <a:pPr algn="l">
              <a:lnSpc>
                <a:spcPct val="126000"/>
              </a:lnSpc>
              <a:spcBef>
                <a:spcPts val="700"/>
              </a:spcBef>
            </a:pPr>
            <a:r>
              <a:rPr sz="1500" b="0" i="0">
                <a:solidFill>
                  <a:srgbClr val="21295C"/>
                </a:solidFill>
                <a:latin typeface="Arial"/>
              </a:rPr>
              <a:t/>
            </a:r>
            <a:r>
              <a:rPr sz="1500" b="1" i="0">
                <a:solidFill>
                  <a:srgbClr val="21295C"/>
                </a:solidFill>
                <a:latin typeface="Arial"/>
              </a:rPr>
              <a:t>Измерено ли, что он возражает — и что возражает верно?</a:t>
            </a:r>
            <a:r>
              <a:rPr sz="1500" b="0" i="0">
                <a:solidFill>
                  <a:srgbClr val="21295C"/>
                </a:solidFill>
                <a:latin typeface="Arial"/>
              </a:rPr>
              <a:t> Две считаемые доли: как часто возражает и как часто правильно. Не измерена ни одна — «человек проверяет» ничем не отличается от «человек подписывает».</a:t>
            </a:r>
          </a:p>
        </p:txBody>
      </p:sp>
      <p:sp>
        <p:nvSpPr>
          <p:cNvPr id="6" name="TextBox 5"/>
          <p:cNvSpPr txBox="1"/>
          <p:nvPr/>
        </p:nvSpPr>
        <p:spPr>
          <a:xfrm>
            <a:off x="539496" y="4139183"/>
            <a:ext cx="11112703" cy="20970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Успевает ли он физически?</a:t>
            </a:r>
            <a:r>
              <a:rPr sz="1500" b="0" i="0">
                <a:solidFill>
                  <a:srgbClr val="21295C"/>
                </a:solidFill>
                <a:latin typeface="Arial"/>
              </a:rPr>
              <a:t> Секунды на решение против объёма, который надо прочитать. Измеренная медиана проверки подсказки — </a:t>
            </a:r>
            <a:r>
              <a:rPr sz="1500" b="1" i="0">
                <a:solidFill>
                  <a:srgbClr val="21295C"/>
                </a:solidFill>
                <a:latin typeface="Arial"/>
              </a:rPr>
              <a:t>около двух секунд</a:t>
            </a:r>
            <a:r>
              <a:rPr sz="1500" b="0" i="0">
                <a:solidFill>
                  <a:srgbClr val="21295C"/>
                </a:solidFill>
                <a:latin typeface="Arial"/>
              </a:rPr>
              <a:t>, и принятое без предварительной проверки правится потом в </a:t>
            </a:r>
            <a:r>
              <a:rPr sz="1500" b="1" i="0">
                <a:solidFill>
                  <a:srgbClr val="21295C"/>
                </a:solidFill>
                <a:latin typeface="Arial"/>
              </a:rPr>
              <a:t>53 % случаев против 18</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Если бы вы завтра ставили модель в свой рабочий контур — какую одну проверку вы бы сделали обязательной до включения?</a:t>
            </a:r>
          </a:p>
        </p:txBody>
      </p:sp>
      <p:sp>
        <p:nvSpPr>
          <p:cNvPr id="7" name="Rounded Rectangle 6"/>
          <p:cNvSpPr/>
          <p:nvPr/>
        </p:nvSpPr>
        <p:spPr>
          <a:xfrm>
            <a:off x="7756855" y="1335024"/>
            <a:ext cx="3931920" cy="2712719"/>
          </a:xfrm>
          <a:prstGeom prst="roundRect">
            <a:avLst>
              <a:gd name="adj" fmla="val 11235"/>
            </a:avLst>
          </a:prstGeom>
          <a:solidFill>
            <a:srgbClr val="F4F7FA"/>
          </a:solidFill>
          <a:ln w="19050">
            <a:solidFill>
              <a:srgbClr val="1C7293"/>
            </a:solidFill>
          </a:ln>
          <a:effectLst/>
        </p:spPr>
        <p:txBody>
          <a:bodyPr rtlCol="0" anchor="ctr"/>
          <a:lstStyle/>
          <a:p>
            <a:pPr algn="ctr"/>
          </a:p>
        </p:txBody>
      </p:sp>
      <p:pic>
        <p:nvPicPr>
          <p:cNvPr id="8" name="Picture 7" descr="s106-dvoe-chitayut-s-ekrana.jpg"/>
          <p:cNvPicPr>
            <a:picLocks noChangeAspect="1"/>
          </p:cNvPicPr>
          <p:nvPr/>
        </p:nvPicPr>
        <p:blipFill>
          <a:blip r:embed="rId2"/>
          <a:stretch>
            <a:fillRect/>
          </a:stretch>
        </p:blipFill>
        <p:spPr>
          <a:xfrm>
            <a:off x="7894015" y="1472184"/>
            <a:ext cx="3657600" cy="2438400"/>
          </a:xfrm>
          <a:prstGeom prst="rect">
            <a:avLst/>
          </a:prstGeom>
        </p:spPr>
      </p:pic>
      <p:sp>
        <p:nvSpPr>
          <p:cNvPr id="9" name="Rectangle 8"/>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