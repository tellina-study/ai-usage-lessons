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случайно распределены </a:t>
            </a:r>
            <a:r>
              <a:rPr sz="1500" b="1" i="0">
                <a:solidFill>
                  <a:srgbClr val="21295C"/>
                </a:solidFill>
                <a:latin typeface="Arial"/>
              </a:rPr>
              <a:t>два</a:t>
            </a:r>
            <a:r>
              <a:rPr sz="1500" b="0" i="0">
                <a:solidFill>
                  <a:srgbClr val="21295C"/>
                </a:solidFill>
                <a:latin typeface="Arial"/>
              </a:rPr>
              <a:t> состояния на одних и тех же случаях, прогон модели без человека — отдельный.</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число — человек без модели, второе случайное состояние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 посчитаны на одной выборке:</a:t>
            </a:r>
            <a:r>
              <a:rPr sz="132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320" b="0" i="0">
                <a:solidFill>
                  <a:srgbClr val="21295C"/>
                </a:solidFill>
                <a:latin typeface="Arial"/>
              </a:rPr>
              <a:t/>
            </a:r>
            <a:r>
              <a:rPr sz="1320" b="0" i="0">
                <a:solidFill>
                  <a:srgbClr val="21295C"/>
                </a:solidFill>
                <a:latin typeface="Arial"/>
              </a:rPr>
              <a:t>База: </a:t>
            </a:r>
            <a:r>
              <a:rPr sz="1320" b="1" i="0">
                <a:solidFill>
                  <a:srgbClr val="21295C"/>
                </a:solidFill>
                <a:latin typeface="Arial"/>
              </a:rPr>
              <a:t>49 618 пациентов</a:t>
            </a:r>
            <a:r>
              <a:rPr sz="132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060" b="0" i="0">
                <a:solidFill>
                  <a:srgbClr val="21295C"/>
                </a:solidFill>
                <a:latin typeface="Arial"/>
              </a:rPr>
              <a:t/>
            </a:r>
            <a:r>
              <a:rPr sz="106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прогноз на структурированных данных</a:t>
            </a:r>
            <a:r>
              <a:rPr sz="132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a:p>
            <a:pPr algn="l">
              <a:lnSpc>
                <a:spcPct val="126000"/>
              </a:lnSpc>
              <a:spcBef>
                <a:spcPts val="700"/>
              </a:spcBef>
            </a:pPr>
            <a:r>
              <a:rPr sz="1100" b="0" i="0">
                <a:solidFill>
                  <a:srgbClr val="21295C"/>
                </a:solidFill>
                <a:latin typeface="Arial"/>
              </a:rPr>
              <a:t/>
            </a:r>
            <a:r>
              <a:rPr sz="110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 </a:t>
            </a:r>
            <a:r>
              <a:rPr sz="1260" b="1" i="0">
                <a:solidFill>
                  <a:srgbClr val="21295C"/>
                </a:solidFill>
                <a:latin typeface="Arial"/>
              </a:rPr>
              <a:t>5. Исполнитель сменился</a:t>
            </a:r>
            <a:r>
              <a:rPr sz="126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6. Изменился порядок работ</a:t>
            </a:r>
            <a:r>
              <a:rPr sz="1260" b="0" i="0">
                <a:solidFill>
                  <a:srgbClr val="21295C"/>
                </a:solidFill>
                <a:latin typeface="Arial"/>
              </a:rPr>
              <a:t> — сортировка до приёма. </a:t>
            </a:r>
            <a:r>
              <a:rPr sz="126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7. Сместилась цена ошибки</a:t>
            </a:r>
            <a:r>
              <a:rPr sz="1260" b="0" i="0">
                <a:solidFill>
                  <a:srgbClr val="21295C"/>
                </a:solidFill>
                <a:latin typeface="Arial"/>
              </a:rPr>
              <a:t> — разрыв между нормой и проверкой.</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8. Исполнитель тот же, но стал хуже</a:t>
            </a:r>
            <a:r>
              <a:rPr sz="126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восьмая форма отличается от двух соседних: в пятой сменилась </a:t>
            </a:r>
            <a:r>
              <a:rPr sz="1260" b="1" i="0">
                <a:solidFill>
                  <a:srgbClr val="21295C"/>
                </a:solidFill>
                <a:latin typeface="Arial"/>
              </a:rPr>
              <a:t>рука</a:t>
            </a:r>
            <a:r>
              <a:rPr sz="1260" b="0" i="0">
                <a:solidFill>
                  <a:srgbClr val="21295C"/>
                </a:solidFill>
                <a:latin typeface="Arial"/>
              </a:rPr>
              <a:t> — здесь рука та же, и на этом стоит измерение. В форме 4а упал </a:t>
            </a:r>
            <a:r>
              <a:rPr sz="1260" b="1" i="0">
                <a:solidFill>
                  <a:srgbClr val="21295C"/>
                </a:solidFill>
                <a:latin typeface="Arial"/>
              </a:rPr>
              <a:t>объём</a:t>
            </a:r>
            <a:r>
              <a:rPr sz="1260" b="0" i="0">
                <a:solidFill>
                  <a:srgbClr val="21295C"/>
                </a:solidFill>
                <a:latin typeface="Arial"/>
              </a:rPr>
              <a:t> — здесь объём тот же, упала </a:t>
            </a:r>
            <a:r>
              <a:rPr sz="1260" b="1" i="0">
                <a:solidFill>
                  <a:srgbClr val="21295C"/>
                </a:solidFill>
                <a:latin typeface="Arial"/>
              </a:rPr>
              <a:t>доля находок</a:t>
            </a:r>
            <a:r>
              <a:rPr sz="1260" b="0" i="0">
                <a:solidFill>
                  <a:srgbClr val="21295C"/>
                </a:solidFill>
                <a:latin typeface="Arial"/>
              </a:rPr>
              <a:t>.</a:t>
            </a:r>
          </a:p>
          <a:p>
            <a:pPr algn="l">
              <a:lnSpc>
                <a:spcPct val="126000"/>
              </a:lnSpc>
              <a:spcBef>
                <a:spcPts val="700"/>
              </a:spcBef>
            </a:pPr>
            <a:r>
              <a:rPr sz="1010" b="0" i="0">
                <a:solidFill>
                  <a:srgbClr val="21295C"/>
                </a:solidFill>
                <a:latin typeface="Arial"/>
              </a:rPr>
              <a:t/>
            </a:r>
            <a:r>
              <a:rPr sz="101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60" b="0" i="0">
                <a:solidFill>
                  <a:srgbClr val="21295C"/>
                </a:solidFill>
                <a:latin typeface="Arial"/>
              </a:rPr>
              <a:t/>
            </a:r>
            <a:r>
              <a:rPr sz="126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Решение, принятое по изделию до отзыва</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9790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