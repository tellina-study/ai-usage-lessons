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 Id="rId3" Type="http://schemas.openxmlformats.org/officeDocument/2006/relationships/hyperlink" Target="https://doi.org/10.1038/s41467-023-44676-z" TargetMode="External"/><Relationship Id="rId4" Type="http://schemas.openxmlformats.org/officeDocument/2006/relationships/hyperlink" Target="https://www.accessdata.fda.gov/cdrh_docs/pdf18/DEN180001.pdf"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www.accessdata.fda.gov/cdrh_docs/pdf18/DEN180001.pdf"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s://doi.org/10.1038/s42256-021-00307-0"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doi.org/10.1126/science.aax2342"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doi.org/10.1148/radiol.252590" TargetMode="External"/><Relationship Id="rId4" Type="http://schemas.openxmlformats.org/officeDocument/2006/relationships/hyperlink" Target="https://doi.org/10.1148/radiol.243688"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 Id="rId5" Type="http://schemas.openxmlformats.org/officeDocument/2006/relationships/hyperlink" Target="https://doi.org/10.1148/radiol.242566"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 Id="rId5" Type="http://schemas.openxmlformats.org/officeDocument/2006/relationships/hyperlink" Target="https://doi.org/10.1093/jamiaopen/ooae133" TargetMode="External"/><Relationship Id="rId6" Type="http://schemas.openxmlformats.org/officeDocument/2006/relationships/hyperlink" Target="https://doi.org/10.1001/jamanetworkopen.2026.0181" TargetMode="External"/><Relationship Id="rId7" Type="http://schemas.openxmlformats.org/officeDocument/2006/relationships/hyperlink" Target="https://doi.org/10.1001/jamanetworkopen.2021.35286" TargetMode="Externa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1.35286"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001/jamainternmed.2017.1548"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001/jamanetworkopen.2022.33348" TargetMode="External"/><Relationship Id="rId4" Type="http://schemas.openxmlformats.org/officeDocument/2006/relationships/hyperlink" Target="https://doi.org/10.4338/ACI-2016-09-R-0150"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www.medrxiv.org/content/10.1101/2025.07.10.25331333"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001/jamainternmed.2025.0821"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www.gov.uk/government/publications/ambient-voice-technology-enabled-products/ambient-voice-technology-enabled-products" TargetMode="External"/><Relationship Id="rId4" Type="http://schemas.openxmlformats.org/officeDocument/2006/relationships/hyperlink" Target="https://sbermed.ai/our-algorithms/top-3"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 Id="rId3" Type="http://schemas.openxmlformats.org/officeDocument/2006/relationships/hyperlink" Target="https://doi.org/10.1016/j.gie.2014.07.058" TargetMode="Externa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 Id="rId3" Type="http://schemas.openxmlformats.org/officeDocument/2006/relationships/hyperlink" Target="https://doi.org/10.1016/j.gie.2014.07.058" TargetMode="Externa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 Id="rId5" Type="http://schemas.openxmlformats.org/officeDocument/2006/relationships/hyperlink" Target="https://doi.org/10.1073/pnas.2422633122" TargetMode="Externa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 Id="rId3" Type="http://schemas.openxmlformats.org/officeDocument/2006/relationships/hyperlink" Target="https://doi.org/10.1016/S2468-1253%2825%2900133-5" TargetMode="Externa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01/jamainternmed.2021.2626" TargetMode="External"/><Relationship Id="rId6" Type="http://schemas.openxmlformats.org/officeDocument/2006/relationships/hyperlink" Target="https://doi.org/10.1148/radiol.252590" TargetMode="External"/><Relationship Id="rId7" Type="http://schemas.openxmlformats.org/officeDocument/2006/relationships/hyperlink" Target="https://doi.org/10.1148/radiol.243688" TargetMode="External"/><Relationship Id="rId8" Type="http://schemas.openxmlformats.org/officeDocument/2006/relationships/hyperlink" Target="https://doi.org/10.1016/S1470-2045%2823%2900298-X" TargetMode="External"/><Relationship Id="rId9" Type="http://schemas.openxmlformats.org/officeDocument/2006/relationships/hyperlink" Target="https://doi.org/10.1001/jamanetworkopen.2025.42338" TargetMode="External"/><Relationship Id="rId10" Type="http://schemas.openxmlformats.org/officeDocument/2006/relationships/hyperlink" Target="https://doi.org/10.1016/S2468-1253%2825%2900133-5" TargetMode="External"/><Relationship Id="rId11" Type="http://schemas.openxmlformats.org/officeDocument/2006/relationships/hyperlink" Target="https://pubmed.ncbi.nlm.nih.gov/37314698/" TargetMode="Externa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01/jamahealthforum.2025.3172"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commons.wikimedia.org/wiki/File:Radiologist_interpreting_MRI.jpg" TargetMode="External"/><Relationship Id="rId4" Type="http://schemas.openxmlformats.org/officeDocument/2006/relationships/hyperlink" Target="https://creativecommons.org/licenses/by/4.0" TargetMode="Externa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обученная модель делает в медицине, стоит увидеть предмет целиком: какие стадии у цикла оказания помощи существуют, что на каждой делают и какое решение о человеке каждая принимает. Названия здесь взяты те, которыми стадии называются в отрасли. Это сделано нарочно: инженер, пришедший в медицинский проект, услышит в нём именно эти слова, и разговор начнётся с них.</a:t>
            </a:r>
          </a:p>
          <a:p>
            <a:r>
              <a:t/>
            </a:r>
          </a:p>
          <a:p>
            <a:r>
              <a:t>Первая полоса — пока решают. **Первичный скрининг и отбор на обследование** решает один вопрос: звать ли этого человека смотреть вообще. Скрининг — это обследование людей без жалоб, по формальному признаку, чаще всего по возрасту и интервалу с прошлого обследования. **Инструментальная и лабораторная диагностика** отвечает на другой вопрос: что про человека измерено и с какой точностью. **Постановка диагноза** собирает жалобы, осмотр и результаты исследований вместе и отвечает, какая болезнь объясняет наблюдаемое и какую проверку назначить следующей.</a:t>
            </a:r>
          </a:p>
          <a:p>
            <a:r>
              <a:t/>
            </a:r>
          </a:p>
          <a:p>
            <a:r>
              <a:t>Вторая полоса — решили и лечат. **Назначение терапии и подбор дозы** отвечает, чем лечить, сколько и кого можно не лечить; доза уточняется по измерениям, и подбор этот повторяют много раз, пока показатель не уляжется в целевые границы. **Хирургическое вмешательство и интраоперационный мониторинг** решает, оперировать ли, каким доступом и что делать на столе, когда картина оказалась не той, которую ожидали.</a:t>
            </a:r>
          </a:p>
          <a:p>
            <a:r>
              <a:t/>
            </a:r>
          </a:p>
          <a:p>
            <a:r>
              <a:t>Третья полоса — после решения. **Динамическое наблюдение и клинические тревоги** отвечает на повторяющийся вопрос: вмешиваться сейчас или на следующем обходе. Читается здесь направление дорожки измерений: пульс сам по себе говорит мало, пульс, растущий при падающем давлении, говорит много. **Ведение медицинской документации** отвечает на вопрос о следующем читателе: что должен узнать тот, кого при приёме не было и кто будет принимать решение по записи.</a:t>
            </a:r>
          </a:p>
          <a:p>
            <a:r>
              <a:t/>
            </a:r>
          </a:p>
          <a:p>
            <a:r>
              <a:t>Две стадии в этот ряд не ложатся, и выстраивать их в ряд было бы подменой. **Допуск, надзор и ответственность** — это процедура, которая стоит вокруг всех стадий сразу: подпись под заключением как юридический акт, информированное согласие, разбор случая после исхода, допуск изделия к применению и надзор за ним после допуска. Решение, которое принимает эта стадия, звучит так: кто отвечает за сделанное и что меняется в порядке работы, когда разбор нашёл расхождение. Отдельным шагом цикла её не поставить. **Профессиональная квалификация: поддержание и износ** — это замер по самому человеку: держится ли он в форме. Профессия не спрашивает об этом врача, она считает за него — объёмом практики, аккредитацией и повторной сертификацией. Шаг работы такого замера не показывает вовсе.</a:t>
            </a:r>
          </a:p>
          <a:p>
            <a:r>
              <a:t/>
            </a:r>
          </a:p>
          <a:p>
            <a:r>
              <a:t>И ещё одна стадия стоит до начала всего цикла. **Разработка лекарственных средств** отвечает на вопрос, откуда вообще берётся то, что на стадии назначения назначают: мишень в организме, молекула, которая на неё действует, доклиника на культурах клеток и животных, затем фазы испытаний на людях.</a:t>
            </a:r>
          </a:p>
          <a:p>
            <a:r>
              <a:t/>
            </a:r>
          </a:p>
          <a:p>
            <a:r>
              <a:t>Теперь о порядке, потому что он не декоративный и не удобство изложения. Порядок первых стадий держат три опоры, и каждую можно проверить.</a:t>
            </a:r>
          </a:p>
          <a:p>
            <a:r>
              <a:t/>
            </a:r>
          </a:p>
          <a:p>
            <a:r>
              <a:t>**Кого позвали.** Смотреть можно только того, кто попал в поле зрения. Человека, которого не позвали, не видит ни одна система, какой бы точной она ни была. Поэтому решение о том, кого звать, принимается раньше всех остальных и определяет, кто вообще станет предметом последующих решений.</a:t>
            </a:r>
          </a:p>
          <a:p>
            <a:r>
              <a:t/>
            </a:r>
          </a:p>
          <a:p>
            <a:r>
              <a:t>**На какой группе считали.** Группу, на которой посчитаны свойства измерения, собирает стадия отбора. Доли, которыми описывают любую систему «болен или нет», считаются на разных группах людей: одна — на тех, у кого болезнь есть, другая — на тех, у кого её нет. Доля верных тревог среди всех поднятых тревог зависит от того, насколько болезнь распространена в обследованной группе, и свойством прибора эта доля не является вовсе. Одна и та же система в поголовном обследовании и в профильном отделении положит врачу на стол совершенно разную картину.</a:t>
            </a:r>
          </a:p>
          <a:p>
            <a:r>
              <a:t/>
            </a:r>
          </a:p>
          <a:p>
            <a:r>
              <a:t>**Порог «болен».** Точку, за которой система объявляет «болен», выбирает протокол под цену исхода — под ту цену, которая назначена до всякой точности: что хуже, пропустить находку или позвать лишнего. Выбор этот сделан раньше разработчика, и разработчик его не отменяет.</a:t>
            </a:r>
          </a:p>
          <a:p>
            <a:r>
              <a:t/>
            </a:r>
          </a:p>
          <a:p>
            <a:r>
              <a:t>Дальше порядок держится тем же способом. Решать можно только по измеренному. Наблюдать имеет смысл только после того, как решение принято. Читать запись можно только после того, как её сделали. Перестановки, при которой это работает, нет ни одной.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работа ниже существовала до всякой автоматики и существует сейчас в том же виде. Модель входит в этот сложившийся порядок; своего она не строит, и потому разговор о ней начинается с устройства самого порядка.</a:t>
            </a:r>
          </a:p>
          <a:p>
            <a:r>
              <a:t/>
            </a:r>
          </a:p>
          <a:p>
            <a:r>
              <a:t>Сначала о том, откуда вообще берутся данные о человеке, потому что способов шесть и они дают разное. И получают их этими же шестью способами и там, где рядом работает модель: способ получить данные она не меняет — меняется то, кто и как по полученному решает. Приём у врача даёт жалобы, анамнез и осмотр — то, что человек рассказал, и то, что врач увидел руками.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Удалённое исследование устроено так, что снимают человека в одном месте, а читает изображение специалист в другом; это не экзотика, на этом держится лучевая диагностика в районах, где рентгенолога нет. Разбор уже имеющихся документов карты нового измерения не добавляет вовсе — он извлекает из того, что уже записано, и сам становится источником решений. Приглашения по реестру населения в этом перечне нет намеренно, и сказать об этом стоит вслух: данных о человеке в нём ещё никаких нет, его зовут по году рождения и полу — это не способ получить данные, а вход в воронку. Разбирается он на стадии отбора, где и есть его место. И последний способ, который за двадцать лет стал массовым: измерения, которые пациент снимает сам, — монитор глюкозы, домашний тонометр, дневник симптомов.</a:t>
            </a:r>
          </a:p>
          <a:p>
            <a:r>
              <a:t/>
            </a:r>
          </a:p>
          <a:p>
            <a:r>
              <a:t>Теперь о том, как на каждой стадии решают без всякой модели. Классические режимы надо называть по именам: сравнивать модель придётся именно с ними. Модель, сравнённая с пустым местом, выигрывает всегда, и выигрыш этот ничего не значит.</a:t>
            </a:r>
          </a:p>
          <a:p>
            <a:r>
              <a:t/>
            </a:r>
          </a:p>
          <a:p>
            <a:r>
              <a:t>На отборе работает двойное чтение. Снимок скринингового обследования читают двое, и слово «независимо» здесь несущее: второй читатель не видит заключения первого. Как только он его видит, два мнения перестают быть двумя — второй начинает отвечать на вопрос «согласен ли я», а это другая задача и другая доля ошибок. Выигрыш двойному чтению даёт несовпадение ошибок: пропуски двух людей приходятся на разные снимки. Расхождение двух независимых чтений надо чем-то разрешать, и для этого существует арбитраж — третий читатель, подключаемый только на расхождении и не писавший ни одного из двух заключений.</a:t>
            </a:r>
          </a:p>
          <a:p>
            <a:r>
              <a:t/>
            </a:r>
          </a:p>
          <a:p>
            <a:r>
              <a:t>На диагностике работает пара долей.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Эти две доли считаются на разных группах людей и всегда называются парой, потому что движутся вместе: сдвинь порог — одна вырастет, другая упадёт. Поэтому доли всегда приводят для одного порога, и порог этот выбирает протокол под цену исхода.</a:t>
            </a:r>
          </a:p>
          <a:p>
            <a:r>
              <a:t/>
            </a:r>
          </a:p>
          <a:p>
            <a:r>
              <a:t>На постановке диагноза работает дифференциальный диагноз, и он складывается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Порядок проверок здесь — отдельное решение: часть проверок сама опасна или дорога, поэтому первыми идут дешёвые, отсекающие много. Рядом стоят второе мнение — заключение по тому же случаю от того, кто первого заключения не видел, консилиум и клинические рекомендации.</a:t>
            </a:r>
          </a:p>
          <a:p>
            <a:r>
              <a:t/>
            </a:r>
          </a:p>
          <a:p>
            <a:r>
              <a:t>На наблюдении работает шкала раннего предупреждения. Устройство у неё из четырёх шагов: каждая измеренная величина получает баллы за отклонение от нормы, баллы складываются, сумма сравнивается с порогом, порог назначает действие. Эскалация — это и есть назначенное действие: участить измерения, позвать дежурного врача, вызвать реанимационную бригаду. Два свойства этой конструкции стоит назвать вслух. Баллы передаются между сменами, а суждение «мне кажется, он сдал» не передаётся. И веса в таблице назначены людьми и опубликованы: любой может посмотреть, почему при такой частоте дыхания получается именно столько баллов.</a:t>
            </a:r>
          </a:p>
          <a:p>
            <a:r>
              <a:t/>
            </a:r>
          </a:p>
          <a:p>
            <a:r>
              <a:t>На документации работает структура записи — жалобы, анамнез, осмотр, диагноз, план, — вычитка и подпись. Выписной эпикриз, документ, который получает следующий стационар, устроен так же и читается тем, кого при приёме не было.</a:t>
            </a:r>
          </a:p>
          <a:p>
            <a:r>
              <a:t/>
            </a:r>
          </a:p>
          <a:p>
            <a:r>
              <a:t>И поверх всего стоит надзор: разбор случая после исхода и изменение порядка работы по его итогам. Расхождение, которое повторяется, становится основанием поправить документ — порядок оказания помощи, регламент отделения, форму листа наблюдения, порог эскалации.</a:t>
            </a:r>
          </a:p>
          <a:p>
            <a:r>
              <a:t/>
            </a:r>
          </a:p>
          <a:p>
            <a:r>
              <a:t>Общее у всех этих режимов одно, и его стоит забрать с собой в любую отрасль. Каждый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 Разница между первой ступенью и четвёртой при этом больше, чем между двумя моделями, и это стоит произнести прямо: спор о том, чья модель точнее, идёт внутри одной ячейки, а переход с «смотрит первым» на «подписывает не глядя» меняет саму процедуру. Разберу четыре ступени по отдельности, потому что дальше каждый разбор лекции будет размечен одной из них. Смотрит первым: человек читает данные сам, модель подключается после него или не подключается вовсе, —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вовсе. Подписывает не глядя: формально требование выполнено, человек в контуре стоит и подпись его есть — фактически участия нет.</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Если отклонений нет вовсе или они никем не разбирались, участие человека не подтверждено — ни опровергнуто, именно не подтверждено, и разница тут та же, что между «проверили и чисто» и «не проверяли». Третья: у вопроса «успевает ли» бывает ответ «нет», и дальше он будет назван числом. Три проверки связаны с лестницей напрямую, и связь эта — последнее, что стоит сказать здесь. Контур, не прошедший их, и есть четвёртая ступень: подпись под решением стоит, а участия за ней нет. Ступень поэтому определяется не тем, что записано в регламенте, а тем, что человек успевает увидеть до того, как подписать.</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 против 48 секунд человеческого чтения в среднем и 25 по медиане. Единицы у этих двух величин разные: снимок грудной клетки и маммограмма читаются по-разному, поэтому сравнение годится только на разряд величины, и именно так оно на кадре и названо.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читали письменные описания реальных случаев — жалобы, анамнез, уже готовые результаты исследований, — по пять случаев на врача и строили рассуждение: гипотезы, обоснование, какие проверки назначить. Оценивали их слепо по шкале структурированного рассуждения, и рандомизированы были два человеческих состояния: врач как обычно — семьдесят четыре из ста, врач поверх модели — семьдесят шесть. Разница в два пункта статистически незначима: p равно нулю целых шестидесяти сотым, то есть такая разница свободно получается случайно, и прибавкой её называть нельзя. Прогон модели в одиночку — девяносто два — рандомизированной ветвью не был и стоит разрядом ниже. Отсюда короткая формула, которой читается вся лекция: куплено девяносто два, работает семьдесят шесть, и в отчётности этой разницы нет. Причину нулевого результата испытание называет само: подсказка приходила в готовом виде, и никто не учил врачей, как её спрашивать и когда ей не верить. Инструмент выдали, процедуру работы с ним —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в среднем при медиане 25 —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**Источники.** </a:t>
            </a:r>
            <a:r>
              <a:rPr u="sng">
                <a:solidFill>
                  <a:srgbClr val="065A82"/>
                </a:solidFill>
                <a:hlinkClick r:id="rId3"/>
              </a:rPr>
              <a:t>Goh E. и соавт., JAMA Network Open 2024;7(10):e2440969, 28 октября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измерений не будет.</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том, из чего считается доля. У четыре-а доли нет вовсе, там считается абсолютный объём работы. У восьмой доля есть, и считается она из того же: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эту пустую строку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a:p>
            <a:r>
              <a:t/>
            </a:r>
          </a:p>
          <a:p>
            <a:r>
              <a:t>И различение, которое с кадра снято, потому что оно уже прозвучало на оси и повторять его экраном незачем: форма говорит, что сделалось с работой, а адрес платежа — на каком человеческом шаге это сделалось. Девять имён отвечают на первый вопрос, четыре адреса — на второй, и смешивать их нельзя: работа переезжает так, что ни один человеческий шаг этого не чувствует, и человек платит там, где работа осталась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осью и словарём: удешевили чтение данных, а платят вниманием, навыком, подписью и арбитражем; девять форм переезда выданы до первого употребления, чтобы дальше к ним возвращаться одним словом. И кончился он вопросом, который теперь будет задаваться на каждой стадии: модель посмотрела первой — что теперь делает человек и кто это измерял. Здесь этот вопрос задаётся впервые, и задаётся он на самой первой стадии пути, потому что раньше неё нет ничего: смотреть можно только того, кого позвали. Женщина с письмом по возрасту, с которой началась лекция, стоит ровно здесь — её позвали, и дальше разбирается, кто и как решает, кого звать и кого смотреть внимательнее.</a:t>
            </a:r>
          </a:p>
          <a:p>
            <a:r>
              <a:t/>
            </a:r>
          </a:p>
          <a:p>
            <a:r>
              <a:t>Состав раздела: два разбора и один провал — чат-бот первой линии, единственный случай лекции, где проверка «уберите модель» ответила «сервис продолжит работать».</a:t>
            </a:r>
          </a:p>
          <a:p>
            <a:r>
              <a:t/>
            </a:r>
          </a:p>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показывают одну работу с двух сторон. Чат-бот первой линии встал на входе в поток обращений и решал, кого направить; разбирается он через то, что предъявили публично, и через то, что удешевлённый вход сделал с экономикой канала. Глазное дно без офтальмолога — случай, где выигрыш измерен не точностью чтения, а явкой: 22 из ста против ста из ста. Числа и базы — на самих кадрах.</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техник ставит человека к маммографу: та самая минута, в которую приглашение по возрасту превращается в процедуру. Женщина с письмом стоит сейчас именно здесь: решение о ней принято не ею и не врачом, а программой — по году рождения. Работа отбора выглядит так: не драматично, а буднично, и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описанием стадии, потому что иначе непонятно, во что инструмент вмешивается. Названа стадия тем именем, которым её называет отрасль: первичный скрининг и отбор на обследование. Инженер, пришедший в медицинский проект, услышит в нём именно эти слова, и разговор начнётся с них.</a:t>
            </a:r>
          </a:p>
          <a:p>
            <a:r>
              <a:t/>
            </a:r>
          </a:p>
          <a:p>
            <a:r>
              <a:t>Скрининг — обследование людей, у которых нет жалоб, по признаку принадлежности к группе: возраст, пол, профессия, предшествующий диагноз. Польза скрининга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остаётся чистой стоимостью плюс вред от ложных вызовов.</a:t>
            </a:r>
          </a:p>
          <a:p>
            <a:r>
              <a:t/>
            </a:r>
          </a:p>
          <a:p>
            <a:r>
              <a:t>Данные о человеке на этой стадии скудные, и это её главное свойство. Возраст. Пол. Интервал с прошлого обследования. Иногда анкета или одна жалоба, с которой человек пришёл сам. Ничего из того, что обычно называют медицинскими данными, здесь ещё нет: ни снимка, ни анализа, ни осмотра. Вопрос, который на этих данных решают, тоже один: звать ли этого человека смотреть вообще.</a:t>
            </a:r>
          </a:p>
          <a:p>
            <a:r>
              <a:t/>
            </a:r>
          </a:p>
          <a:p>
            <a:r>
              <a:t>Способов получить эти данные четыре, и дают они разное. Приглашение по реестру населения — случай, когда данных о человеке ещё нет и его зовут по формальному признаку: год рождения, пол, интервал. Обращение самого человека с жалобой устроено обратным ходом: он пришёл, потому что что-то почувствовал, и дальше его ведёт симптом; вероятность болезни у него на входе совсем другая, и в следующем разделе от этой вероятности будет зависеть смысл любого положительного результата. Направление от другого врача приносит вместе с человеком чужую гипотезу. Разбор уже имеющихся документов карты нового измерения не добавляет вовсе — он извлекает из того, что записано, и сам становится источником решения.</a:t>
            </a:r>
          </a:p>
          <a:p>
            <a:r>
              <a:t/>
            </a:r>
          </a:p>
          <a:p>
            <a:r>
              <a:t>Решение, которое принимает стадия, звучит коротко: попадёт человек в поле зрения или не попадёт. За решением следует либо обследование, либо ничего — до следующего интервала или до того дня, когда человек почувствует сам.</a:t>
            </a:r>
          </a:p>
          <a:p>
            <a:r>
              <a:t/>
            </a:r>
          </a:p>
          <a:p>
            <a:r>
              <a:t>Теперь о том, почему эта стадия стоит первой, потому что порядок здесь не удобство изложения. Опор три, и каждую можно проверить. Первая — кого позвали: смотреть можно только того, кто попал в поле зрения, и человека, которого не позвали, не видит ни одна система, какой бы точной она ни была. Вторая — на какой группе считали: группу, на которой посчитаны свойства любого измерения, собирает именно эта стадия, и доля верных тревог среди всех поднятых зависит от того, насколько болезнь распространена в собранной группе. Третья — где стоит порог «болен»: точку, за которой система объявляет «болен», назначает протокол под цену исхода, и цена эта назначена до всякой точности — тем, кто решил, что хуже, пропустить находку или позвать лишнего. Все три опоры лежат на этой стадии, и потому переставить её некуда.</a:t>
            </a:r>
          </a:p>
          <a:p>
            <a:r>
              <a:t/>
            </a:r>
          </a:p>
          <a:p>
            <a:r>
              <a:t>И последнее до разборов — как это решение принимают без всякой обученной модели. Называть эту работу надо по именам, потому что сравнивать модель придётся именно с ней: модель, сравнённая с пустым местом, выигрывает всегда, и выигрыш этот ничего не значит. Порядка работы здесь три. Первый — звать всех по возрасту и интервалу: работает программа, человек в решении не участвует. Второй — ждать жалобу: не делать ничего, пока человек не придёт сам. Третий — сортировать уже обратившийся поток по тяжести: кого смотреть сегодня, а кого через две недели; классический инструмент этой сортировки — пять категорий тяжести, которые присваивает медсестра по протоколу, и каждой категории назначено нормативное время до осмотра врачом. Классическими режимами отбора, посчитанными в одной цене, из этих трёх работают два — первые два; их числа, база и оговорки стоят в этом разделе отдельным кадром. Третий порядок считают иначе и в другой единице. Внутри скринингового чтения стоят ещё два режима, придуманных до всякой автоматики: двойное чтение, где снимок читают двое, не видя заключения друг друга, и арбитраж — третий читатель, подключаемый только на расхождении.</a:t>
            </a:r>
          </a:p>
          <a:p>
            <a:r>
              <a:t/>
            </a:r>
          </a:p>
          <a:p>
            <a:r>
              <a:t>Ошибка этого шага не видна там, где её обычно ищут: она случается раньше любого диагноза и любого замера точности.</a:t>
            </a:r>
          </a:p>
          <a:p>
            <a:r>
              <a:t/>
            </a:r>
          </a:p>
          <a:p>
            <a:r>
              <a:t>Профессия — четвёртый признак группы наряду с возрастом, полом и прежним диагнозом: по ней зовут на профосмотры, и это тот же скрининг без жалоб. За решением стадии следует либо обследование, либо ничего — до следующего интервала или до того дня, когда человек почувствует сам. Порог, назначенный документом, — это возраст, с которого зовут, интервал между приглашениями и критерий отзыва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из каких действий она сложена и кто каждое делает. Женщина с письмом, с которой началась лекция,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сказать надо точно, на каком шаге она включается в каждом из разборов этого раздела — иначе примеры и стадия живут двумя слоями. Третий ряд схемы называет это именами.</a:t>
            </a:r>
          </a:p>
          <a:p>
            <a:r>
              <a:t/>
            </a:r>
          </a:p>
          <a:p>
            <a:r>
              <a:t>Шаг «прочесть двоим» — шведская программа скрининга. Первое чтение остаётся человеческим, мимо радиолога не проходит ни одно исследование; модель ставит снимку оценку риска и по ней решает, нужно ли этому исследованию второе независимое чтение. Вторым читателем она не работает: для большинства потока шаг второго чтения просто снят.</a:t>
            </a:r>
          </a:p>
          <a:p>
            <a:r>
              <a:t/>
            </a:r>
          </a:p>
          <a:p>
            <a:r>
              <a:t>Шаг «сообщить исход» — съёмка глазного дна без офтальмолога. Там модель включается сразу после съёмки и берёт на себя и чтение, и исход: «направить или нет» выносится на месте, меньше чем за минуту, а шага арбитража в этом порядке нет вовсе.</a:t>
            </a:r>
          </a:p>
          <a:p>
            <a:r>
              <a:t/>
            </a:r>
          </a:p>
          <a:p>
            <a:r>
              <a:t>Шаг «отсортировать поток» — чат-бот первой линии. И здесь важная оговорка, которую схема сказать не может: чат-бот стоит на другом входе стадии. По списку туда никого не зовут — люди приходят сами, с жалобой, и место, которое занимает модель, прежде занимала телефонная линия сортировки с оператором по протоколу. Единого конвейера у стадии нет, и это не придирка: цена ошибки на безжалобном и жалобном входах разная, а устройство шага — то же.</a:t>
            </a:r>
          </a:p>
          <a:p>
            <a:r>
              <a:t/>
            </a:r>
          </a:p>
          <a:p>
            <a:r>
              <a:t>Чего модель не занимает.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За «нет» не следует ничего, и нигде не записано: события, которого не было, в карте нет. Эта строка с кадра снята по месту, но произносится обязательно — на ней держится вопрос, которым кадр кончается.</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a:p>
            <a:r>
              <a:t/>
            </a:r>
          </a:p>
          <a:p>
            <a:r>
              <a:t>Путь той женщины внутри этого устройства выглядит так: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 Ни на одном из этих шагов её не спрашивают.</a:t>
            </a:r>
          </a:p>
          <a:p>
            <a:r>
              <a:t/>
            </a:r>
          </a:p>
          <a:p>
            <a:r>
              <a:t>Женщина с письмом, с которой началась лекция, пришла — и дальше вокруг неё работает устройство, в котором она не участвует ни на одном шаге: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 один и семьдесят шесть сотых случая на тысячу обследованных за два года наблюдения. У этого числа есть вторая половина — столько же в плече с моделью, — и предъявляется она там, где разбирают чтение снимка, вместе с оговоркой о значимости: без неё улучшение читается сильнее, чем измерено.</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этих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Сколько в этом порядке работы находят: пять случаев с десятой на тысячу обследованных — это число посчитано на другой, меньшей выборке той же программы, восьмидесяти тысячах тридцати трёх распределённых женщинах, и подписано ею на кадре отдельно. Дальше, на кадре с моделью, обе эти величины пойдут в тех же единицах, и сравнивать их можно будет прямо.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лекция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Две оговорки, снятые с кадра, но обязательные к произнесению. Первая: два числа режимов взяты с разных программ и разных эпох — вместе они дают не сумму, а две стороны цены, назначенной до всякой модели. Вторая: доля поздних стадий среди найденных не зависит от того, сколько случаев нашли, — только от того, когда их нашли; поэтому она и годится для сравнения двух порядков работы, тогда как «сколько нашли» сравнивало бы заодно охват, мощность программы и численность групп.</a:t>
            </a:r>
          </a:p>
          <a:p>
            <a:r>
              <a:t/>
            </a:r>
          </a:p>
          <a:p>
            <a:r>
              <a:t>О чём спросить поставщика прямо на этом кадре: он сравнивает «с тем, как было раньше» — спрашивайте, какое именно «раньше» он посчитал.</a:t>
            </a:r>
          </a:p>
          <a:p>
            <a:r>
              <a:t/>
            </a:r>
          </a:p>
          <a:p>
            <a:r>
              <a:t>Единицы плашек названы полностью: ложный вызов — два человека из ста обследованных, повторно вызванные в контрольном плече шведской программы, где снимок читали двое людей без всякой модели и наблюдение шло два года. Поздние стадии — доля стадии II и выше среди найденных случаев в Мальмёском испытании, которое распределяло приглашение случайно.</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ставила снимку оценку риска по десятибалльной шкале и по ней рассортировала поток: при оценке от одного до девяти второе независимое чтение не выполняется вовсе, при десяти остаётся двойное. Первое чтение осталось человеческим: радиолог читает случай сам и выдаёт своё заключение, мимо него не проходит ни одно исследование, — а второго независимого заключения большинство обследованных уже не получает. Исходы написаны заранее. Вторым читателем модель при этом не работала, и назвать это надо точно: шаг второго чтения для большинства потока снят — отсюда и падение объёма на 44,3 процента, а не вдвое.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пара 74 и 81 из ста женщин с раком — итоговому. Доля не напуганных здоровых в обоих плечах одинакова, 98,5 из ста. И третья пара, которая на кадре не стоит: найдено 6,1 против 5,1 на тысячу обследованных в промежуточном анализе, p равно нулю целым пятидесяти двум тысячным, то есть значимости не достигла, — поэтому на экран её не вынесли, а произносится она с этой оговоркой.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 И стадия здесь по-прежнему своя: модель не ставит диагноз и не читает за человека, она решает, кого прочтут дважды, — то есть отбирает, как и вся эта стадия.</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Два числа кадра стоят на разных выборках, и складывать их в один список нельзя: объём человеческого чтения принадлежит промежуточному анализу безопасности, пара 74 и 81 из ста женщин с раком — итоговому. Поставленное под чужую выборку число становится другим утверждением. На чём обучена система, не публикует ни одна из трёх программ, и какая именно из названных стояла в шведской — из опубликованного не следует; подставлять имя по догадке нельзя.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иначе случай нельзя ни проверить, ни пересказать: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по публичному заявлению бывшего руководителя регуляторных вопросов компании, обучать было нечего, внутри стояло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Почему экзаменационная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Теперь вторая половина случая — цена, и классический режим здесь посчитан в деньгах.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 В сервисе обращений стало четыре и три десятых на человека в год.</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a:t>
            </a:r>
          </a:p>
          <a:p>
            <a:r>
              <a:t/>
            </a:r>
          </a:p>
          <a:p>
            <a:r>
              <a:t>Две последние плашки стоят раздельно нарочно, и сказать это стоит вслух: четыре с лишним миллиарда — оценка компании при слиянии, пятьсот тысяч фунтов — выручка от продажи активов при банкротстве. Это разные величины в разных валютах, а не одна величина в двух точках времени, и стрелки между ними нет именно поэтому.</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Оговорки к числам кадра, все три. Возрасты взяты не средние по стране — причина названа выше. Частота обращений в сервисе — оценка независимого отчёта по двенадцати месяцам данных, причём личные обращения посчитаны по единственному месяцу, который дали посчитать; это оценка с продолжением тренда, и отчёт сам это пишет. Две валюты в последней плашке стоят рядом не по небрежности: оценка компании считалась в долларах, выручка от активов — в фунтах, и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 Плохо ли сортировало дерево решений, данных тоже нет: измерена здесь перестройка экономики канала, а не качество сортировки.</a:t>
            </a:r>
          </a:p>
          <a:p>
            <a:r>
              <a:t/>
            </a:r>
          </a:p>
          <a:p>
            <a:r>
              <a:t>Случай всё равно взят, и провал условия — его содержание. Измерена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a:p>
            <a:r>
              <a:t/>
            </a:r>
          </a:p>
          <a:p>
            <a:r>
              <a:t>Редкое от частого в открытом потоке этот режим не отличает. Запись приёма под диктовку в нём принимается — её разбирает раздел о ведении документации; сортировка обращения после этого случая — нет.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на чём прибор обучен, производитель не публикует.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Второй классический режим называть неприятно, и распространён он шире первого: не обследовать вовсе. Явка у него ноль, и получена она определением, а не измерением. Так устроено наблюдение там, где офтальмолога в районе нет. На кадре он не стоит, но произносится обязательно — иначе выигрыш в явке читается только против визита к специалисту, а он получен и против ничего.</a:t>
            </a:r>
          </a:p>
          <a:p>
            <a:r>
              <a:t/>
            </a:r>
          </a:p>
          <a:p>
            <a:r>
              <a:t>Чувствительность прибора здесь не произносится намеренно: распространённости поражения в этих выборках в источниках нет, а точность без группы и распространённости не читается.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На чём прибор обучен, производитель не публикует — на кадре этой строки больше нет, но произносится она обязательно: разбор, в котором обучающие данные не названы, проверяется только по устройству процедуры.</a:t>
            </a:r>
          </a:p>
          <a:p>
            <a:r>
              <a:t/>
            </a:r>
          </a:p>
          <a:p>
            <a:r>
              <a:t>**Источники.** </a:t>
            </a:r>
            <a:r>
              <a:rPr u="sng">
                <a:solidFill>
                  <a:srgbClr val="065A82"/>
                </a:solidFill>
                <a:hlinkClick r:id="rId3"/>
              </a:rPr>
              <a:t>Wolf и соавт., Nature Communications 2024</a:t>
            </a:r>
          </a:p>
          <a:p>
            <a:r>
              <a:t/>
            </a:r>
          </a:p>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64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a:t>
            </a:r>
          </a:p>
          <a:p>
            <a:r>
              <a:t/>
            </a:r>
          </a:p>
          <a:p>
            <a:r>
              <a:t>Почему три числа отказного потока нельзя сложить с явкой в одну пару «дало — потребовало»: это две разные программы, два разных прибора и две разные возрастные группы. Сложить их означало бы ровно ту склейку выборок, которую эта лекция разбирает. Поэтому отказной поток стоит на кадре отдельным блоком с явной оговоркой, а не внутри счёта выигрыша.</a:t>
            </a:r>
          </a:p>
          <a:p>
            <a:r>
              <a:t/>
            </a:r>
          </a:p>
          <a:p>
            <a:r>
              <a:t>Про единицу отказного потока: пять снимков из ста негодны по качеству — это зрелый поток у прибора другого производителя и у взрослых пациентов, тогда как явка 22 против 100 измерена на подростках и другим прибором. Поэтому числа и стоят отдельным блоком с оговоркой. И про семьдесят пять процентов: именно столько потока специалист не видит вовсе — это и есть переезд решения, названный в единицах работы, а не в словах.</a:t>
            </a:r>
          </a:p>
          <a:p>
            <a:r>
              <a:t/>
            </a:r>
          </a:p>
          <a:p>
            <a:r>
              <a:t>**Источники.** </a:t>
            </a:r>
            <a:r>
              <a:rPr u="sng">
                <a:solidFill>
                  <a:srgbClr val="065A82"/>
                </a:solidFill>
                <a:hlinkClick r:id="rId4"/>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 Поэтому отказной поток и стоит отдельным кадром с явной оговоркой, а не внутри счёта выигрыша.</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 Семьдесят пять процентов — это и есть размер переезда, названный в единицах работы, а не в словах.</a:t>
            </a:r>
          </a:p>
          <a:p>
            <a:r>
              <a:t/>
            </a:r>
          </a:p>
          <a:p>
            <a:r>
              <a:t>Про единицу отказного потока стоит сказать отдельно, потому что её легко прочесть крупнее, чем она есть. Пять снимков из ста негодны по качеству — это зрелый поток, прибор другого производителя и взрослые пациенты, тогда как явка двадцать два против ста измерена на подростках и другим прибором. Числа верны оба; неверно было бы поставить их в один счёт.</a:t>
            </a:r>
          </a:p>
          <a:p>
            <a:r>
              <a:t/>
            </a:r>
          </a:p>
          <a:p>
            <a:r>
              <a:t>Чем этот случай отличается от шведского скрининга, где тоже «внедрили модель»: там модель делила поток, а заключение по каждому исследованию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шестьдесят четыре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 А числа этого кадра пришли вовсе не из испытания: это ретроспективный счёт по записям клиник, и равнять его с рандомизированной явкой нельзя.</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 И одна граница, которую легко расширить не по делу: охват публикуют, а устройство работы — нет. Это верно для отечественной платформы лучевой диагностики и только для неё; шведская и германская программы скрининга устройство работы публикуют обе. Обобщать это на класс внедрений нельзя — глава такое обобщение у себя сняла после сверки по первоисточнику.</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то, чего нет: процедуры, которая проверяла бы отсеянное фильтром.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 и обобщать это одной фразой нельзя, хотя соблазн велик. Там, где модель решает вместо человека, её «норма» ему действительно не достаётся: чат-бот отвечает «идти незачем» сам, а на съёмке глазного дна решение выносится на месте, без офтальмолога. А в обеих программах скрининга человек прочёл КАЖДОЕ исследование, и смещение там другое: он читает, видя оценку модели, а снято второе независимое чтение — то есть смещён не состав потока, а устройство чтения. Ошибку отбора в первом случае обнаруживает только следующий виток, другой человек в другой день; во втором её ищут на расхождении. Поэтому следующий раздел и начинается с того, что вообще значит «измерили».</a:t>
            </a:r>
          </a:p>
          <a:p>
            <a:r>
              <a:t/>
            </a:r>
          </a:p>
          <a:p>
            <a:r>
              <a:t>Третье следствие переезда — не форма словаря, а свойство процедуры: второго независимого человека большинство обследованных больше не получает. А ответ на вопрос «кто разбирает то, что фильтр отсеял» чаще всего «никто», и это не упущение одной организации, а пустое место в самом порядке работы.</a:t>
            </a:r>
          </a:p>
          <a:p>
            <a:r>
              <a:t/>
            </a:r>
          </a:p>
          <a:p>
            <a:r>
              <a:t>Что держит эту нагрузку, с кадра снято и произносится: порог вмешательства, записанный документом задолго до всякого прибора, и двойное чтение с арбитражем при расхождении — там, где второго читателя не заменили. В открытом потоке обращений выигрыша не дал ни один разбор, а единственная состоявшаяся попытка кончилась банкротством.</a:t>
            </a:r>
          </a:p>
          <a:p>
            <a:r>
              <a:t/>
            </a:r>
          </a:p>
          <a:p>
            <a:r>
              <a:t>Выигрыш этого раздела взят двумя способами, и второй сильнее: тест, до которого человек не дошёл, имеет нулевую чувствительность, какой бы она ни была в лаборатории. Поэтому явка здесь — не организационная мелочь, а то, чем измеряется польза модели на этой стадии.</a:t>
            </a:r>
          </a:p>
          <a:p>
            <a:r>
              <a:t/>
            </a:r>
          </a:p>
          <a:p>
            <a:r>
              <a:t>И счёт по сетке курса, который дальше будет расти от раздела к разделу: на этом шаге занято три ячейки из сорока двух, и ни одна не про лечение. Разницу между ними стоит заметить сразу: режим, который принимает решение, принимается туго, а режимы, которые оформляют уже принятое, расходятся быстро. Сортировка обращения словами после разобранного случая стоит на месте; автономное решение без врача допущено единицами и только там, где вопрос бинарный; а модель вторым читателем растёт шире всех — потому что не отменяет ни одной подписи.</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кадре оставлено имя раздела, счёт разборов и их перечень; остальное отсюда проговаривается. 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Границу с третьим разделом проводит подпись: там она остаётся за человеком, здесь её ставит машина. Ни модальность данных, ни сложность алгоритма эту границу не задают.</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с того, из чего сделана работа стадии: кто назначает порог, кто решает, годно ли измерение, и кто пересчитывает долю под свою распространённость. Внедрения идут после.</a:t>
            </a:r>
          </a:p>
          <a:p>
            <a:r>
              <a:t/>
            </a:r>
          </a:p>
          <a:p>
            <a:r>
              <a:t>Семь разборов берут разные места, где можно провалиться, не ошибившись в чтении, и назвать стоит каждый — зал услышит эти имена ещё по разу у каждого кадра.</a:t>
            </a:r>
          </a:p>
          <a:p>
            <a:r>
              <a:t/>
            </a:r>
          </a:p>
          <a:p>
            <a:r>
              <a:t>Два на стадии исследования.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«Отбор в программу повышенного внимания» — провал определения цели: целевой переменной взяты будущие расходы на лечение, а решение принималось о болезни, и из ста мест в программе почти двадцать девять уходило не тем, кому нужнее.</a:t>
            </a:r>
          </a:p>
          <a:p>
            <a:r>
              <a:t/>
            </a:r>
          </a:p>
          <a:p>
            <a:r>
              <a:t>Четыре на стадии диагноза, и они идут по возрастанию того, что измерено. «Замер взгляда» отвечает не «сколько», а «через что»: один и тот же читатель на одних и тех же маммограммах пропускает вдвое больше раков там, где подсказка молчала, и видно это в движении глаза — ложная подсказка сузила зрительный поиск. Рядом, на том же кадре, та же величина с обратным знаком: в другой программе, где разметку читатель запрашивает сам, пропущенных раков стало меньше, — и модель одна там обошла пару. «Патологи читают срезы» показывает оба знака сразу внутри одного опыта: при верной подсказке шансы верного ответа растут вчетверо, при неверной вчетверо падают, и на группе в целом прибавка незначима — отчёт с одним числом показал бы «эффекта нет». «Шведское испытание» — единственный разбор раздела, где пара выиграла: одно человеческое чтение поверх модели с арбитражем на расхождениях пропускает двадцать раков из ста против двадцати шести у двойного человеческого чтения, и человеческого чтения при этом вдвое меньше. «Хирурги оценивают риск» закрывает обещание прошлой лекции: на трёх исходах из четырёх пара точнее хирурга одного, а на септическом шоке — единственном, где у человека было своё преимущество, — она ушла ниже и человека, и модели.</a:t>
            </a:r>
          </a:p>
          <a:p>
            <a:r>
              <a:t/>
            </a:r>
          </a:p>
          <a:p>
            <a:r>
              <a:t>«Шведское испытание» и «хирурги оценивают риск» стоят рядом нарочно: инструмент один, а результаты противоположны, и расходится у них не модель, а устройство процедуры — сохранена ли независимость двух мнений и в каком порядке предъявлена подсказка.</a:t>
            </a:r>
          </a:p>
          <a:p>
            <a:r>
              <a:t/>
            </a:r>
          </a:p>
          <a:p>
            <a:r>
              <a:t>Седьмой разбор — «модель раннего предупреждения о сепсисе» — пришёл из снятой стадии наблюдения, и держится он на двух базах, которые нельзя путать: тревога приходит на 18 госпитализаций из ста, а подтверждается 12 из ста поднятых тревог. Чтобы найти один случай, смена разбирает восемь тревог. Классический режим тут не ноль, а балльная шкала, которую считали руками, и подтверждалась она 8 из ста против 12 у модели — из этой полосы модель не вышла. Независимая проверка сказала дословно: «добавляет мало к тому, что врачи и так делают». Разбор стоит последним потому, что он единственный в разделе, где решение принимается непрерывно, а не по одному случаю.</a:t>
            </a:r>
          </a:p>
          <a:p>
            <a:r>
              <a:t/>
            </a:r>
          </a:p>
          <a:p>
            <a:r>
              <a:t>Названия произносятся здесь затем, чтобы потом узнавать слайд по уже сказанному имени: каждый из шести выйдет на экран ровно под этим заголовком. Номер «Пример N» носят только эти шесть: у каждого названа цена обеих ошибок, посчитаны классические режимы и названо, что переехало в работе. Остальное в разделе называется своими именами и номера не получает. Отдельным кадром стоит классический режим контроля годности — работа техника, которая делается без всякой модели и которую первый разбор потом застаёт изменившейся. Два упоминания идут с числом и разборами не становятся: систематический обзор работ по снимкам при ковидной пневмонии на кадре заземления и смещение прибора насыщения крови на своде раздела.</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a:p>
            <a:r>
              <a:t/>
            </a:r>
          </a:p>
          <a:p>
            <a:r>
              <a:t>Про женщину с письмом — её линия идёт через всю лекцию, и в этом разделе она стоит в самом неудобном месте. Она пришла без жалоб, по возрасту, то есть ровно в поголовном потоке, где больных около одного на сотню. Значит все доли, которые ей кто-нибудь назовёт, посчитаны не на её группе, а доля верных тревог на её группе — худшая из возможных. Кадр со счётом двух групп к этому и ведёт, и там её имя произносится прямо.</a:t>
            </a:r>
          </a:p>
          <a:p>
            <a:r>
              <a:t/>
            </a:r>
          </a:p>
          <a:p>
            <a:r>
              <a:t>Порядок кадров раздела держится на одном правиле: сначала то, во что ИИ вмешивается, потом вмешательство. Поэтому стадия описывается дважды и по-разному — что это за стадия и какие на ней действия, — потом отдельным кадром идёт классический режим контроля годности, который делается без всякой модели, и только после этого семь разборов — сперва два про стадию исследования, потом четыре про точность и качество диагноза, и седьмой про непрерывное наблюдение.</a:t>
            </a:r>
          </a:p>
          <a:p>
            <a:r>
              <a:t/>
            </a:r>
          </a:p>
          <a:p>
            <a:r>
              <a:t>Чего в разделе нет и почему. Нет сравнения моделей между собой: это не обзор рынка. Нет лабораторных показателей точности в отрыве от группы — по тому же правилу раздела. И нет ни одного случая, где провалилось бы само чтение: такого среди разобранных не оказалось, и об этом свод раздела говорит прямо.</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инструментальной и лабораторной диагностикой, и этим именем её называет отрасль. Человек на ней уже в поле зрения: предыдущая стадия решила, что его смотрят. Теперь про него снимают величины — делают снимок, берут анализ, подключают прибор, записывают измерение в карту.</a:t>
            </a:r>
          </a:p>
          <a:p>
            <a:r>
              <a:t/>
            </a:r>
          </a:p>
          <a:p>
            <a:r>
              <a:t>Картина работы на экране одна, и она нарочно одна. Техник ставит человека к прибору, снимает, смотрит на экран и решает: читать это или переснимать. Рядом, в лаборатории, посев мокроты идёт три недели — и эти три недели платит человек, который ждёт. Два этих кадра и есть стадия: кто-то стоит у прибора, кто-то ждёт срока.</a:t>
            </a:r>
          </a:p>
          <a:p>
            <a:r>
              <a:t/>
            </a:r>
          </a:p>
          <a:p>
            <a:r>
              <a:t>Данные здесь другого рода, чем на отборе. Там были год рождения и интервал; здесь — изображение, сигнал прибора, показатель крови, мочи, ткани или посева. И вопросов на этих данных решают два, а не один. Первый — что измеренные величины означают. Второй, который в рекламных материалах не встречается никогда, — годятся ли эти величины к чтению вообще.</a:t>
            </a:r>
          </a:p>
          <a:p>
            <a:r>
              <a:t/>
            </a:r>
          </a:p>
          <a:p>
            <a:r>
              <a:t>Способов получить такие данные четыре, и назвать их надо все, потому что дальше разборы разойдутся по ним.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тот самый посев мокроты идёт три недели. Функциональная проба снимает величины под нагрузкой, то есть добавляет к измерению условие, в котором оно снято. Удалённое исследование устроено так, что человека снимают в одном месте, а читает изображение специалист в другом; это не экзотика — на этом держится лучевая диагностика в районах, где своего рентгенолога нет.</a:t>
            </a:r>
          </a:p>
          <a:p>
            <a:r>
              <a:t/>
            </a:r>
          </a:p>
          <a:p>
            <a:r>
              <a:t>Решение, которое принимает стадия, звучит так: что про человека измерено и с какой точностью. Дальше следует интерпретация — чтение измеренного и заключение по нему, и это работа следующей стадии.</a:t>
            </a:r>
          </a:p>
          <a:p>
            <a:r>
              <a:t/>
            </a:r>
          </a:p>
          <a:p>
            <a:r>
              <a:t>Теперь почему эта стадия стоит после отбора, а не до него. Любую систему, которая отвечает «болен или нет», описывают двумя долями, и считаются они на разных группах людей: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Обе доли посчитаны на группе, которую собрал отбор. Третья доля — какая часть поднятых тревог оказалась верной — зависит уже от того, насколько болезнь распространена в этой группе, и свойством прибора не является вовсе. Одна и та же система в поголовном обследовании и в профильном отделении положит врачу на стол совершенно разную картину. Это и есть причина порядка: пока не названа группа, ни одно число измерения не читается.</a:t>
            </a:r>
          </a:p>
          <a:p>
            <a:r>
              <a:t/>
            </a:r>
          </a:p>
          <a:p>
            <a:r>
              <a:t>Вторая половина той же причины — порог. Обе доли меняются только вместе: сдвиньте порог, за которым система объявляет «болен», и чувствительность вырастет, а специфичность упадёт. Поэтому доли всегда называются парой и всегда для одного порога. Выбирает порог протокол под цену исхода — ту цену обеих ошибок, которая назначена до всякой точности, — и выбор этот сделан раньше, чем разработчик к задаче подошёл. Общая точность ни одну из долей не заменяет: пусть болезнь есть у одного человека из тысячи, тогда система, которая всем говорит «здоров», даёт общую точность в девяносто девять и девять десятых процента и не находит ни одного больного. На редком событии общая точность измеряет распространённость, а не работу системы, и в клинических публикациях её не печатают.</a:t>
            </a:r>
          </a:p>
          <a:p>
            <a:r>
              <a:t/>
            </a:r>
          </a:p>
          <a:p>
            <a:r>
              <a:t>И как это решение принимают без всякой модели — три классических режима принятия решения стадии, по именам. Три режима ЧТЕНИЯ — двойное чтение, арбитраж и контроль годности — другая тройка, и она названа на отдельном кадре ниже; путать их нельзя. Первый — контроль годности измерения, та самая картина с экрана: техник смотрит и решает, читать или переснимать. Правило записано в инструкции кабинета — положение, захват объёма, артефакты, видимость того, что должно быть видно, — и в самом приборе этого правила нет вовсе. Если негодное измерение уйдёт на чтение, читать будут артефакт, и читающий об этом может не узнать, потому что человека он не видел. Второй режим — пара долей при одном пороге протокола. Третий — пересчёт доли верных тревог под свою распространённость, и делает его тот, кто применяет, а не тот, кто продал. Все три существуют без всякой автоматики, и модель приходит именно на их место. Первый из трёх разобран отдельным кадром ниже в разделе.</a:t>
            </a:r>
          </a:p>
          <a:p>
            <a:r>
              <a:t/>
            </a:r>
          </a:p>
          <a:p>
            <a:r>
              <a:t>Стадия названа, и теперь по шагам. Действий шесть, и на экране их перечня нет нарочно — перечень читается вслух, а на кадре стоит та картина, из которой всё это состоит: у прибора стоит человек.</a:t>
            </a:r>
          </a:p>
          <a:p>
            <a:r>
              <a:t/>
            </a:r>
          </a:p>
          <a:p>
            <a:r>
              <a:t>Назначить порог. Черта, за которой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 по тому самому правилу из инструкции кабинета, которого в приборе нет.</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одного порога.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долю верных тревог среди пришедших к нему тревог; чувствительности он не видит вовсе.</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Порог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 Упоминание это разбором не становится — цены обеих ошибок в числах у него нет, счёта против классического режима тоже.</a:t>
            </a:r>
          </a:p>
          <a:p>
            <a:r>
              <a:t/>
            </a:r>
          </a:p>
          <a:p>
            <a:r>
              <a:t>И вопрос залу, который стоит задать здесь, а не в конце. Вам называют «точность девяносто четыре процента». На какой группе она посчитана — и кто у вас на работе задаёт этот вопрос вслух? Зал в этой аудитории почти весь работает в ИТ, и у части слушателей такая система стоит на приёмке прямо сейчас; пусть скажут, что у них с ложными тревогами. Ответ на этот вопрос — следующий кадр, и он посчитан.</a:t>
            </a:r>
          </a:p>
          <a:p>
            <a:r>
              <a:t/>
            </a:r>
          </a:p>
          <a:p>
            <a:r>
              <a:t>Инженеру из зала стоит сказать отдельно, почему шесть, а не три и не десять. Шесть — это те действия, у каждого из которых есть свой исполнитель и своё место в расписании кабинета: порог назначает протокол, съёмку делает техник, годность решает он же на месте, чтение делает врач, пересчёт делает тот, кто применяет, сообщение идёт тому, кто принимает решение. Разбивать мельче смысла нет — исполнитель не меняется; крупнее — потеряется ровно то, что дальше переедет.</a:t>
            </a:r>
          </a:p>
          <a:p>
            <a:r>
              <a:t/>
            </a:r>
          </a:p>
          <a:p>
            <a:r>
              <a:t>И последнее, что стоит произнести до разборов. Два действия, которые заняла модель, — не самые трудные из шести. Трудные остались людям: назначить порог под цену ошибки и решить, годно ли измерение. Это общий сюжет всей лекции, и в этом разделе он виден отчётливее всего.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 Схема на кадре и есть эти три шага, и больше в классическом режиме ничего нет.</a:t>
            </a:r>
          </a:p>
          <a:p>
            <a:r>
              <a:t/>
            </a:r>
          </a:p>
          <a:p>
            <a:r>
              <a:t>Единица счёта у этой работы своя, и назвать её надо здесь, пока режим ещё классический: одно решение о годности на один снимок, принятое на месте и почти никогда не записанное. Записи не остаётся — значит и посчитать потом, сколько снимков переснимали, по документам нельзя. Именно поэтому в разборе, который идёт следом, доля негодных снимков оказалась неожиданной для всех: в классическом порядке её никто не мерил, потому что мерить было нечего.</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21 из каждых ста за первые полгода.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 и там же будут посчитаны.</a:t>
            </a:r>
          </a:p>
          <a:p>
            <a:r>
              <a:t/>
            </a:r>
          </a:p>
          <a:p>
            <a:r>
              <a:t>Стоит сказать, почему этот кадр вообще отдельный, а не строка в описании стадии. Из трёх классических режимов чтения — двойное чтение, арбитраж, контроль годности — раздел берёт один, и берёт его потому, что именно этот режим первый же разбор застанет изменившимся. Двойное чтение и арбитраж придут в следующем разделе, вместе с человеком, который читает рядом с моделью, и там же будут посчитаны в числах. Здесь они только названы.</a:t>
            </a:r>
          </a:p>
          <a:p>
            <a:r>
              <a:t/>
            </a:r>
          </a:p>
          <a:p>
            <a:r>
              <a:t>Вопрос залу, который здесь уместен: у кого на работе стоит автоматическая проверка входных данных — и что у вас с её ложными отказами? Зал в этой аудитории почти весь вайбкодит и многие работают в ИТ, так что история про «система отклонила годный вход, и переделывать пришлось человеку» у части слушателей своя. Пусть расскажут: это тот же самый режим, только не в поликлинике.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 Второй классический режим в этой задаче просто отсутствует: двойного чтения снимков глазного дна в первичном звене не бывает, читать их там некому вовсе, и это сказано здесь, а не замолчано.</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Вход — два снимка, выход — та же метка, что поставил бы специалист. Обучена она на лабораторном наборе из снимков, прошедших отбор по качеству, и вот здесь лежит весь разбор: в поле этот отбор делает человек, которому правила не назвали. Имени системы оценка не называет — назвать его нечем, и это отказ, а не пропуск.</a:t>
            </a:r>
          </a:p>
          <a:p>
            <a:r>
              <a:t/>
            </a:r>
          </a:p>
          <a:p>
            <a:r>
              <a:t>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Теперь то, что переехало в работе, и это ведущее изменение случая. Нагрузка выросла на том же месте.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 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r>
              <a:t> · иллюстрация — </a:t>
            </a:r>
            <a:r>
              <a:rPr u="sng">
                <a:solidFill>
                  <a:srgbClr val="065A82"/>
                </a:solidFill>
                <a:hlinkClick r:id="rId4"/>
              </a:rPr>
              <a:t>Skevas и соавт., BMC Ophthalmology 2024, рис. 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a:t>
            </a:r>
          </a:p>
          <a:p>
            <a:r>
              <a:t/>
            </a:r>
          </a:p>
          <a:p>
            <a:r>
              <a:t>Ограничение этого счёта надо назвать вслух, и оно существенное: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 вовсе. Сравнение поэтому идёт не между «человеком» и «моделью», а между двумя режимами, в одном из которых человек работает с подсказкой.</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названа целиком: 49 618 пациентов одной академической больницы, 100 009 пациенто-лет, 2013–2015 годы. Знаменатель относится к одной больнице, и выводы о величине перекоса относятся к нему, а не к отрасли.</a:t>
            </a:r>
          </a:p>
          <a:p>
            <a:r>
              <a:t/>
            </a:r>
          </a:p>
          <a:p>
            <a:r>
              <a:t>Устроено это так: на входе записи карты и данные о расходах, на выходе один балл на человека и отбор по порогу. Имени у промышленного алгоритма публикация не даёт — и это отказ назвать, а не пропуск: авторы разбирают систему, которую не вправе поименовать.</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 — и для покупателя «дорого лечится» и «болен» выглядят одним и тем же, потому что в его собственных данных они и есть одно и то же.</a:t>
            </a:r>
          </a:p>
          <a:p>
            <a:r>
              <a:t/>
            </a:r>
          </a:p>
          <a:p>
            <a:r>
              <a:t>Почему этот разбор стоит в разделе про измерение, а не в разделе про отбор, — вопрос законный, и ответ такой: решение здесь принимается по измеренному, и выносит его система, без человека. Что измеряли — расходы; о чём решали — болезнь. Расхождение между этими двумя и есть предмет кадра.</a:t>
            </a:r>
          </a:p>
          <a:p>
            <a:r>
              <a:t/>
            </a:r>
          </a:p>
          <a:p>
            <a:r>
              <a:t>И то, что стоит сказать инженеру прямо. Целевую переменную в этой задаче выбирали не из лени: расходы есть у каждого пациента, они числовые, не требуют разметки и действительно коррелируют с болезнью. Любой из сидящих в зале выбрал бы её же при тех же данных и том же сроке. Ошибка лежит не в выборе, а в том, что никто не записал, что система считает своей целью, — и потому никто не проверил, совпадает ли она с целью решения. Процедуры такой проверки в порядке работы нет, и об этом говорит свод раздела.</a:t>
            </a:r>
          </a:p>
          <a:p>
            <a:r>
              <a:t/>
            </a:r>
          </a:p>
          <a:p>
            <a:r>
              <a:t>**Источники.** </a:t>
            </a:r>
            <a:r>
              <a:rPr u="sng">
                <a:solidFill>
                  <a:srgbClr val="065A82"/>
                </a:solidFill>
                <a:hlinkClick r:id="rId3"/>
              </a:rPr>
              <a:t>Obermeyer и соавт., Science 2019</a:t>
            </a:r>
          </a:p>
          <a:p>
            <a:r>
              <a:t/>
            </a:r>
          </a:p>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 а не к двумстам миллионам. Числа эти стоят в разных единицах и складывать их нельзя — на кадре поэтому стоит только второе.</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и ради этого наблюдение и названо: внутренняя проверка этого не видит, провал проявляется там, где его не проверяют. Та же мысль закрывает и этот разбор: если бы кто-то проверял, что система считает своей целью, разрыв нашёлся бы до внедрения, а не после.</a:t>
            </a:r>
          </a:p>
          <a:p>
            <a:r>
              <a:t/>
            </a:r>
          </a:p>
          <a:p>
            <a:r>
              <a:t>Стоит отдельно сказать, зачем этот кадр существует после предыдущего. Предыдущий назвал перекос и его величину; этот отвечает на вопрос, который зал задаёт сам: ну и что, починили? Ответ честный и неприятный: посчитали, что было бы, если починить, и не починили. Разница между расчётом и внедрением здесь не придирка к формулировке — это разница между работой, которую можно предъявить, и работой, которую сделали.</a:t>
            </a:r>
          </a:p>
          <a:p>
            <a:r>
              <a:t/>
            </a:r>
          </a:p>
          <a:p>
            <a:r>
              <a:t>Что из этого следует для инженера, у которого на руках похожая система. Перекос нашли не внутренней проверкой, а сторонним разбором на данных больницы: внутренняя проверка показывала, что модель хорошо предсказывает расходы, — и она действительно их хорошо предсказывала. Провал лежал там, где его никто не проверял, потому что проверяли соответствие модели её собственной цели, а не соответствие этой цели цели решения. Это и есть единственная проверка, которой в порядке работы нет совсем, и ровно этим свод раздела и закрывается.</a:t>
            </a:r>
          </a:p>
          <a:p>
            <a:r>
              <a:t/>
            </a:r>
          </a:p>
          <a:p>
            <a:r>
              <a:t>И последнее, о пределах урока. Измерено это на одной академической больнице за три года, на 49 618 пациентах. Вывод о механизме — выбор целевой переменной двигает состав отобранных — переносится; конкретная величина перекоса не переносится никуда, и произносить её как отраслевую нельзя.</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на ней семь: собрать данные, выписать объясняющие болезни, назначить различающую проверку, вычеркнуть опровергнутое, прочесть вторым независимо, разрешить расхождение третьим, подписать заключение. На схеме стоят первые четыре — те, что сужают список; пятое, шестое и седьмое идут уже после него и разбираются на следующем кадре. Здесь — существенное о каждом из семи.</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a:p>
            <a:r>
              <a:t/>
            </a:r>
          </a:p>
          <a:p>
            <a:r>
              <a:t>Вопрос залу, пока список на экране. Какую свою гипотезу вы не записали — и как узнали, что её не хватало? Ответ ждём короткий, в одну фразу: чаще всего узнают так же, как в клинике, — по тому, что пришёл результат, которого никто не ждал, потому что проверки на незаписанное не назначают. Кто-то назовёт разбор аварии, кто-то — отладку, в которой причина оказалась вне списка рассматриваемых. Это тот же механизм, и он здесь нужен затем, чтобы второй ряд схемы читался не как улучшение, а как смена места ошибки: модель правит состав списка, то есть вмешивается ровно в то действие, промах на котором не оставляет следа.</a:t>
            </a:r>
          </a:p>
          <a:p>
            <a:r>
              <a:t/>
            </a:r>
          </a:p>
          <a:p>
            <a:r>
              <a:t>И последнее, ради чего стоит задержаться на втором ряду схемы. Из семи действий обученная модель заняла три — состав списка, второе чтение, подпись, — и четвёртое добавила сама: решить, верить ли подсказке. Этой операции у врача прежде не было вовсе, ей не учат, и на неё не отводят времени в нормативе приёма. Весь остаток раздела измеряет именно её: чем кончается попытка человека отличить верную подсказку от неверной. Три места, где она не работает, названы по имени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из тех, что мы разберём.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разряд свидетельства своим правилом, такое число со сцены не произносит: на этом месте честнее сказать, что измерения нет.</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a:p>
            <a:r>
              <a:t/>
            </a:r>
          </a:p>
          <a:p>
            <a:r>
              <a:t>И одна проверка, которую стоит назвать вслух, пока схема на экране. Перегородка на ней — не правило поведения, а устройство: проверяемый признак один — мог ли второй читатель физически увидеть первое заключение в момент чтения. Ответ дают права доступа, и регламент здесь не доказательство. Поэтому «добавим второе мнение от модели» и «добавим второго врача» — два разных изменения процесса, хотя на схеме рисуются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число на четвёртой ступени, которого теперь нет на кадре: медиана проверки там — 1,99 секунды, и это время ДО того, как решение принять; вторая медиана работы в том же замере — 6,48 секунды. Произносится это вместе со ступенью, а не вместо неё: на экране ступень показана формой, число живёт в речи.</a:t>
            </a:r>
          </a:p>
          <a:p>
            <a:r>
              <a:t/>
            </a:r>
          </a:p>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 по двадцать два в плече, по шесть клинических задач каждому, то есть 264 прочтения, а не 264 случая — дают 84,9 из ста при верных рекомендациях модели и 73,3, когда часть рекомендаций намеренно неверна; неверные давались в трёх задачах из шести. Поправленная разница — минус 14,0 пункта при интервале от −18,9 до −9,1: знак у точки тот же, что у интервала, и произносить его надо, иначе число читается как прибавка. Разряд свидетельства высокий — рецензируемое рандомизированное испытание, не препринт, — выборка маленькая, страна одна, и одно другого не отменяет. Интервал от −18,9 до −9,1 оставляем как есть и не правим: у двух опубликованных версий этой работы границы расходятся, обе центрированы на минус 14,0, и менять границы без чтения журнальной версии мы права не имеем.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допуске, надзоре и ответственности — там, где разбираются подпись, процедура и норматив; здесь оно названо затем, чтобы лестница не выглядела шкалой добросовестности.</a:t>
            </a:r>
          </a:p>
          <a:p>
            <a:r>
              <a:t/>
            </a:r>
          </a:p>
          <a:p>
            <a:r>
              <a:t>**Источники.** </a:t>
            </a:r>
            <a:r>
              <a:rPr u="sng">
                <a:solidFill>
                  <a:srgbClr val="065A82"/>
                </a:solidFill>
                <a:hlinkClick r:id="rId3"/>
              </a:rPr>
              <a:t>Qazi I. A., Ali A., Khawaja A. U. и соавт., Automation Bias in Large Language Model–Assisted Diagnostic Reasoning among Physicians Trained in AI Literacy — A Randomized Clinical Trial, NEJM AI 2026;3(5), 23.04.2026, DOI 10.1056/AIoa2501001</a:t>
            </a:r>
            <a:r>
              <a:t>; препринт medRxiv 10.1101/2025.08.23.25334280 · </a:t>
            </a:r>
            <a:r>
              <a:rPr u="sng">
                <a:solidFill>
                  <a:srgbClr val="065A82"/>
                </a:solidFill>
                <a:hlinkClick r:id="rId4"/>
              </a:rPr>
              <a:t>Mozannar и соавт., Reading Between the Lines, CHI 2024</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a:p>
            <a:r>
              <a:t/>
            </a:r>
          </a:p>
          <a:p>
            <a:r>
              <a:t>И два счёта, снятые с кадра, но произносимые здесь же. Первый — про то, что подсказка, принятая без предварительной проверки, позже требовала правки в 53 случаях из ста против 18 у проверенной до принятия; медиана 1,99 секунды измерена на двадцати одном разработчике, не в клинике, и перенос на врача держится на аналогии. Второй — про то, что четвёртая ступень не разгильдяйство, а дешёвый ход: согласившегося с машинной подсказкой при разборе случая после исхода оценивают как более разумного, чем отказавшегося. Значит, ступень держится не на лени — не согласиться и ошибиться дороже, чем подписать. Полный счёт предъявляется в разделе о допуске, надзоре и ответственности.</a:t>
            </a:r>
          </a:p>
          <a:p>
            <a:r>
              <a:t/>
            </a:r>
          </a:p>
          <a:p>
            <a:r>
              <a:t>И оговорка, без которой лестница врёт, — её тоже произносим, на кадре её нет. Ступени не ранжированы по качеству: на каждой есть и свой выигрыш, и своя слепота.</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четырёх замеров, которыми закрывается обещание прошлой лекции, и по механизму он самый наглядный: профессиональные читатели национальных программ скрининга, их собственная ежедневная работа, измерение прямо в движении глаза. Собраны все четыре будут в конце раздела. Кадр держит два опыта сразу, и держит их намеренно: величина у них одна, а знак противоположный, и разницу задаёт ровно один управляемый параметр.</a:t>
            </a:r>
          </a:p>
          <a:p>
            <a:r>
              <a:t/>
            </a:r>
          </a:p>
          <a:p>
            <a:r>
              <a:t>Устройство первого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имени изделия работа не называет.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то есть 29 пропущенных раков на сто имевшихся. На случаях, где подсказка была ложноотрицательной, та же величина составила 39 — шестьдесят один пропущенный из ста, — и падение в 32 пункта значимо. Знаменатель здесь назвать обязательно: это подгруппа в четырнадцать случаев, а не весь набор из шестидесяти. Медиана по десяти читателям устойчивее средней к одному выпадающему читателю. На кадре величина стоит в пропущенных раках, а не в чувствительности: доля верных заключений сама по себе залу ничего не говорит, а «шестьдесят один пропущенный из ста» говорит.</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то есть ложных вызовов стало 61 вместо 79, p равно 0,004. Пару надо читать вместе: ложноотрицательная подсказка стоит читателю 32 пункта на пропусках, ложноположительная приносит ему 18 пунктов на ложных вызовах.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«Быть внимательнее» здесь не мера, и это стоит сказать прямо, потому что именно так на такое падение и отвечают.</a:t>
            </a:r>
          </a:p>
          <a:p>
            <a:r>
              <a:t/>
            </a:r>
          </a:p>
          <a:p>
            <a:r>
              <a:t>Устройство второго опыта и почему он стоит на том же кадре. 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 Изделие работа называет: Transpara 2.1.0 производства ScreenPoint Medical, допущено FDA и CE. Чувствительность выросла с 81,7 из ста (735 из 900) до 87,2 (785 из 900) — то есть пропущенных стало 115 вместо 165, — но прибавка 5,6 пункта идёт с интервалом от минус 0,3 до плюс 11,4, и значимости она не достигла: p равно 0,06. Эти минус три десятых и есть весь ответ на вопрос, почему значение «почти значимо»: интервал разницы накрывает ноль на три десятых пункта.</a:t>
            </a:r>
          </a:p>
          <a:p>
            <a:r>
              <a:t/>
            </a:r>
          </a:p>
          <a:p>
            <a:r>
              <a:t>Площадь под кривой выросла с 0,93 до 0,97, и здесь разница с нулём не граничит: плюс 0,03 при интервале от 0,02 до 0,05, p меньше 0,001, и выросла она у всех двенадцати читателей. Два уровня значимости надо произносить парой — первый меньше одной тысячной, второй выше порога. Ловушка вычитания: 0,97 минус 0,93 даёт 0,04, а работа печатает плюс 0,03, потому что считала по точным значениям до округления; если зал вычтет сам, он получит не то число, и поэтому разницу надо называть вслух, а не оставлять арифметике.</a:t>
            </a:r>
          </a:p>
          <a:p>
            <a:r>
              <a:t/>
            </a:r>
          </a:p>
          <a:p>
            <a:r>
              <a:t>Главное из второго опыта, и оно стоит на оси. Модель одна дала 0,99 при интервале 0,97–1,00 — выше пары читателя с системой. Авторы говорят это прямо: AI alone outperformed the combined efforts of readers and AI. То есть второй опыт не исключение из правила раздела, а его четвёртое подтверждение: пара выше человека и ниже сильнейшей из сторон. Поэтому формулировка «модель сделала врачей лучше» этими данными держится — площадь выросла у всех двенадцати; не держится другое, «врачи с моделью сработали как модель»: 0,97 против 0,99.</a:t>
            </a:r>
          </a:p>
          <a:p>
            <a:r>
              <a:t/>
            </a:r>
          </a:p>
          <a:p>
            <a:r>
              <a:t>Фокусировка. Охват площади груди фиксациями взгляда упал с 11,1 до 9,5 из ста — то же сужение поиска, что и в первом опыте.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Время чтения не изменилось — 29,4 против 30,8 секунды. Специфичность тоже не изменилась: 89,0 против 91,1. Вывод из этой тройки: качество осмотра выделенной области выросло, а осмотр остального поля сжался — и сами авторы пишут, что сжатый охват может повышать риск пропустить раки, которых модель не нашла.</a:t>
            </a:r>
          </a:p>
          <a:p>
            <a:r>
              <a:t/>
            </a:r>
          </a:p>
          <a:p>
            <a:r>
              <a:t>Почему знаки разошлись — и это единственное содержательное объяснение, какое есть. У первой работы отметка выводится вместе со снимком, то есть до того, как у читателя сложилось собственное мнение. У второй показывается только категория риска, а разметку читатель запрашивает сам; авторы прямо называют это стратегией, сохраняющей собственный поиск радиолога. Порядок предъявления — управляемый параметр с измеренной ценой: интерфейс, показывающий отметку вместе со снимком, покупает скорость за 32 пункта на пропусках там, где подсказка молчала. Той же команде другой замер даёт за порядок предъявления 8,9 пункта.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при ложной подсказке оно оказалось ценой. Значит, форма знака не несёт: знак задаёт правота подсказки и порядок её предъявления.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Сила свидетельства названа вместе с числом. Первая работа — читатель против себя, по механизму сильная, по выборке читателей средняя: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 Вторая работа — тоже читатель против себя, но ветвь «без модели» в ней переиспользована из прежнего читательского исследования, и порядок сессий не рандомизирован: авторы называют это прагматическим ограничением, промежуток не меньше семи недель, память исключить нельзя. Один производитель снимков, одна система. Первичного исхода работа не объявляет вовсе — слова «primary» в ней нет, регистрации нет, цель двойная: и качество чтения, и поведение взгляда. Иерархию исходов задаём мы, и назвать это надо как наш выбор: площадь под кривой взята головной величиной потому, что она единственная имеет интервал разницы, не накрывающий ноль.</a:t>
            </a:r>
          </a:p>
          <a:p>
            <a:r>
              <a:t/>
            </a:r>
          </a:p>
          <a:p>
            <a:r>
              <a:t>Оговорки — вслух. Оба набора обогащены раками до половины, тогда как в живой программе рак встречается у единиц на тысячу. ScreenPoint Medical предоставил испытанную систему, у двух авторов второй работы институциональные соглашения и гранты с ним же, финансирование государственно-частное. Результат это не отменяет — дизайн рецензирован, интервалы явные, знаменатели у каждой доли, — но назвать интересы нужно, и рядом с ними обязательна вторая половина: ни одни данные этого опыта в обучении системы не использовались. Называть одну половину без другой нельзя, иначе оговорка превращается в намёк.</a:t>
            </a:r>
          </a:p>
          <a:p>
            <a:r>
              <a:t/>
            </a:r>
          </a:p>
          <a:p>
            <a:r>
              <a:t>Ступень участия в первом опыте — «смотрит вторым»: подсказку выводят на экран вместе со случаем, то есть до того, как у читателя сложилось собственное мнение. Это та ступень, на которой независимость утрачена по построению, и именно поэтому механизм падения виден так чисто. Во втором опыте ступень формально та же, а процедура другая, и этого хватило, чтобы знак перевернулся.</a:t>
            </a:r>
          </a:p>
          <a:p>
            <a:r>
              <a:t/>
            </a:r>
          </a:p>
          <a:p>
            <a:r>
              <a:t>**Источники.** </a:t>
            </a:r>
            <a:r>
              <a:rPr u="sng">
                <a:solidFill>
                  <a:srgbClr val="065A82"/>
                </a:solidFill>
                <a:hlinkClick r:id="rId3"/>
              </a:rPr>
              <a:t>Taib A., Partridge G., Phillips P., Chen Y. и соавт., Automation Bias in Action: Eye Tracking of Humans Reading Screening Mammograms with and without AI Prompts, Radiology 2026;320(1):e252590, DOI 10.1148/radiol.252590, PMID 42446361</a:t>
            </a:r>
            <a:r>
              <a:t>. Порог показа области — 10 из 100. Набор: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Шесть недель между сессиями чтения. Сильное по механизму, среднее по выборке читателей: их десять.</a:t>
            </a:r>
          </a:p>
          <a:p>
            <a:r>
              <a:t/>
            </a:r>
          </a:p>
          <a:p>
            <a:r>
              <a:t>**Источники.** </a:t>
            </a:r>
            <a:r>
              <a:rPr u="sng">
                <a:solidFill>
                  <a:srgbClr val="065A82"/>
                </a:solidFill>
                <a:hlinkClick r:id="rId4"/>
              </a:rPr>
              <a:t>Gommers J. J. J., Sechopoulos I., Broeders M. J. M. и соавт., Radiologists' Performance and Visual Search Patterns When Reading Screening Mammograms with Artificial Intelligence, Radiology 2025, DOI 10.1148/radiol.243688, PMID 40626877</a:t>
            </a:r>
            <a:r>
              <a:t>. Transpara 2.1.0, ScreenPoint Medical; допущено FDA и CE. Двенадцать читателей, 150 исследований, 3 600 прочтений, 900 на долю внутри режима. Площадь под кривой: читатель один 0,93 (0,91–0,96), читатель с системой 0,97 (0,95–0,98), модель одна 0,99 (0,97–1,00); разница пары с читателем +0,03 (0,02–0,05). Ветвь «без модели» переиспользована из прежнего исследования, порядок сессий не рандомизирован. Институциональные соглашения с производителем раскрыты; данные опыта в обучении системы не использовались.</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Уровни значимости произносятся с кадра снятыми, но произносятся. По группе в целом прибавка пары к патологу значимости не достигла: отношение шансов 1,281 при p равном 0,184 — именно это и даёт «эффекта нет» в отчёте с одним числом. А оба четырёхкратных сдвига значимы надёжно: отношение шансов 4,289 при верной подсказке (интервал от 2,360 до 7,794) и 0,253 при неверной, p меньше одной тысячной в обе стороны. Пара читается вместе: на группе эффекта нет, а в каждую сторону он вчетверо.</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Обучающего набора работа тоже не печатает. </a:t>
            </a:r>
            <a:r>
              <a:rPr u="sng">
                <a:solidFill>
                  <a:srgbClr val="065A82"/>
                </a:solidFill>
                <a:hlinkClick r:id="rId3"/>
              </a:rPr>
              <a:t>Kiani A. и соавт., Impact of a deep learning assistant on the histopathologic classification of liver cancer, npj Digital Medicine 2020, PMC7044422</a:t>
            </a:r>
            <a:r>
              <a:t>. Устройство опыта: одиннадцать патологов разного опыта — трое субспециалистов по желудочно-кишечному тракту, трое специалистов других профилей, трое резидентов и двое с неопределённым профилем; восемьдесят срезов, два чтения, перевёрнутое распределение подсказок во второй сессии, отмывочный период не меньше двух недель. Упоминание, снятое с кадра как слабейшее по разряду: </a:t>
            </a:r>
            <a:r>
              <a:rPr u="sng">
                <a:solidFill>
                  <a:srgbClr val="065A82"/>
                </a:solidFill>
                <a:hlinkClick r:id="rId4"/>
              </a:rPr>
              <a:t>Goddard K., Roudsari A., Wyatt J., Automation bias: a systematic review of frequency, effect mediators, and mitigators, JAMIA 2012;19(1):121–127</a:t>
            </a:r>
            <a:r>
              <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у плеча с моделью 80,5 при интервале от 76,4 до 84,2, и различие устойчиво, p равно 0,031. Уровень значимости с кадра снят, а произнести его стоит: это единственное из трёх чисел испытания, где различие доказано, — у интервальных раков показана не-худшесть, а объём чтения посчитан на другой выборке.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который теперь кто-то обязан держать.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здесь то же, что в разборе отбора, и названо оно так же точно и так же неполно: вход — снимок скрининга, выход — оценка риска, которая встаёт на место второго человеческого чтения. Имени система не получила ни в той публикации, ни в этой, и на чём она обучена, программа не раскрывает. Для разбора это важно дважды: во-первых, проверить чужое заявление по имени изделия здесь нельзя; во-вторых, выигрыш, который кадр показывает, всё равно принадлежит не прибору, а устройству процедуры вокруг него.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a:p>
            <a:r>
              <a:t/>
            </a:r>
          </a:p>
          <a:p>
            <a: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Тип задачи — распознавание на изображении. На чём система обучена, программа не публикует: проверить чужое заявление по имени изделия здесь нельзя, а выигрыш кадра всё равно принадлежит не прибору, а устройству процедуры вокруг него.</a:t>
            </a:r>
          </a:p>
          <a:p>
            <a:r>
              <a:t/>
            </a:r>
          </a:p>
          <a:p>
            <a:r>
              <a:t>Про две базы ещё раз, потому что это ровно тот приём, который лекция учит ловить. Анализов у испытания два, и они разной выборки: снижение объёма человеческого чтения на 44,3 процента принадлежит промежуточному анализу безопасности на 80 033 женщинах, а чувствительность — итоговому на 105 934. Поставить «минус 44,3 процента» под объявленной выборкой 105 934 значило бы склеить знаменатели. Программа одна, числа из неё — из двух разных мест.</a:t>
            </a:r>
          </a:p>
          <a:p>
            <a:r>
              <a:t/>
            </a:r>
          </a:p>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Сломалось здесь организационное доверие к источнику находки, и сломалось оно вместе с появлением нового шага процесса; модель и её точность тут исправны. Вывод не сглаживать: калибровка ломается в обе стороны, и «люди слишком доверяют машине» — половина измеренного.</a:t>
            </a:r>
          </a:p>
          <a:p>
            <a:r>
              <a:t/>
            </a:r>
          </a:p>
          <a:p>
            <a:r>
              <a:t>Ступень участия у читающего врача та же, что на предыдущем кадре,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а не его выбором.</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5"/>
              </a:rPr>
              <a:t>Dembrower и соавт., Radiology 2025, ScreenTrustCAD</a:t>
            </a:r>
          </a:p>
          <a:p>
            <a:r>
              <a:t/>
            </a:r>
          </a:p>
          <a:p>
            <a:r>
              <a:t>Знаменатели второго замера стоит назвать вслух целиком, потому что на нём держится разворот. Исследование проспективное, 54 991 женщина,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 отозвано оттуда 1 348. Одиночную находку системы отзывали в 4,6 случая из ста — это 86 из 1 886; находку радиолога — в 14,2, это 263 из 1 858. Подтверждалась же раком находка системы в 22 процентах (19 из 86), радиолога — в 3,4 (9 из 263). Почти равные знаменатели важны: сравниваются сопоставимые потоки находок, большой группы против маленькой здесь нет.</a:t>
            </a:r>
          </a:p>
          <a:p>
            <a:r>
              <a:t/>
            </a:r>
          </a:p>
          <a:p>
            <a:r>
              <a:t>И почему этот замер разворачивает весь раздел, а не дополняет его. Четыре предыдущих измерения показывали одно и то же устройство ошибки: человек верит подсказке больше, чем следует, и платит за это внимательностью, шансами верного ответа или напрасно потраченным доступом к инструменту. Здесь то же организационное доверие сломано в обратную сторону: источник, который подтверждался раком в шесть с лишним раз чаще, отзывали втрое реже. Значит, правило раздела не «люди слишком доверяют машине» — это половина измеренного. Правило в том, что доверие к источнику находки назначается устройством процедуры, а не точностью источника, и калибруется оно независимо от неё — в обе стороны. Вывод не сглаживать: модель и её точность в этом замере исправны, сломалось то, что вокруг неё построили.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 на 43,20 пункта; у стажёров других специальностей с 86,38 до 27,43 — на 58,95. Оба падения значимы, p меньше одной тысячной.</a:t>
            </a:r>
          </a:p>
          <a:p>
            <a:r>
              <a:t/>
            </a:r>
          </a:p>
          <a:p>
            <a:r>
              <a:t>Несущий вывод этой работы авторы высказывают сами, и высказывают дважды: менее экспертные читатели затронуты СИЛЬНЕЕ. Разница потерь — 15,75 пункта в пользу экспертной группы, и соглашается она с неверной расшифровкой реже: 30,77 против 42,31 из ста по медианам. То есть опыт защищает, и защищает измеримо, — просто не спасает: падают обе группы, и обе вдвое. Произносить это надо именно в таком порядке, потому что обратный порядок даёт обратный вывод, и ровно эту ошибку кадр нёс до правки: подпись «различает специальность» снимала экспертную ось, которую авторы называют несущей.</a:t>
            </a:r>
          </a:p>
          <a:p>
            <a:r>
              <a:t/>
            </a:r>
          </a:p>
          <a:p>
            <a:r>
              <a:t>Две оговорки к этой паре. Первая: стаж у групп НЕ одинаковый — 36 плюс-минус 11 месяцев против 28 плюс-минус 13. Несущая ось действительно специальность, но сказать «стаж у них одинаковый» значит сказать неправду, и прежняя редакция кадра говорила именно так. Вторая: столбца «без всякой расшифровки» по группам работа не печатает вовсе. База падения — верная расшифровка, не чтение без подсказки; достроить этот столбец нечем, и сравнения с чистым чтением у нас нет.</a:t>
            </a:r>
          </a:p>
          <a:p>
            <a:r>
              <a:t/>
            </a:r>
          </a:p>
          <a:p>
            <a:r>
              <a:t>Рядом с этим, не вместо этого: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 Ставить это выше групповой разницы, как делала прежняя редакция, нельзя: калибровка — вторая находка работы, а не её главная.</a:t>
            </a:r>
          </a:p>
          <a:p>
            <a:r>
              <a:t/>
            </a:r>
          </a:p>
          <a:p>
            <a:r>
              <a:t>Что не спасает — и это ДРУГАЯ ВЕЛИЧИНА, с кадра снятая именно поэтому.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 Но мерила эта работа, что предсказывает ПОЛЬЗУ от подсказки, а кардиограммы мерили ГЛУБИНУ ПРОВАЛА на ошибке — это два разных вопроса, и конфликта между источниками нет. Свернуть их в один вывод «стаж не помогает» и значило получить вывод, обратный тому, что печатают авторы кардиограмм; на кадре эта строка стояла прямо под их числами и переворачивала их. Поэтому она теперь здесь, названная своей величиной, а не там.</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a:p>
            <a:r>
              <a:t/>
            </a:r>
          </a:p>
          <a:p>
            <a:r>
              <a:t>Два счёта, снятые с кадра. Первый — названный пробел: «одна ошибка обрывает доверие» как величина не опубликована нигде; измерено только то, что человек, увидевший промах алгоритма, реже выбирает его дальше. И второй — про то, как подсказка попадает в рабочее место: её выводят через платформу-посредник, модули к которой подключают по подписке, так что «какой именно алгоритм смотрит снимок» решается уже после закупки. Точности платформа не добавляет — добавляет подпись «смотрела программа».</a:t>
            </a:r>
          </a:p>
          <a:p>
            <a:r>
              <a:t/>
            </a:r>
          </a:p>
          <a:p>
            <a:r>
              <a:t>**Источники к снятому.** </a:t>
            </a:r>
            <a:r>
              <a:rPr u="sng">
                <a:solidFill>
                  <a:srgbClr val="065A82"/>
                </a:solidFill>
                <a:hlinkClick r:id="rId3"/>
              </a:rPr>
              <a:t>Bond R. R. и соавт., Journal of Electrocardiology 2018</a:t>
            </a:r>
            <a:r>
              <a:t> · </a:t>
            </a:r>
            <a:r>
              <a:rPr u="sng">
                <a:solidFill>
                  <a:srgbClr val="065A82"/>
                </a:solidFill>
                <a:hlinkClick r:id="rId6"/>
              </a:rPr>
              <a:t>Dietvorst B. и соавт., Algorithm Aversion, Journal of Experimental Psychology: General 2015</a:t>
            </a:r>
          </a:p>
          <a:p>
            <a:r>
              <a:t/>
            </a:r>
          </a:p>
          <a:p>
            <a:r>
              <a:t>И общий смысл кадра, ради которого он стоит именно здесь, после трёх разборов подсказки. Во всех трёх человек либо верил подсказке больше, чем следовало, либо не получал от неё ничего, — и ни в одном случае дело не было в том, что он мало знает. Этот кадр называет, по какому признаку доверие на самом деле откалибровано: по тому, кто подписывает; по тому, насколько уверенно звучит ответ; по тому, видел ли человек промах своими глазами. Правота источника в этот счёт не входит вовсе. Но экспертность в него входит — и входит измеримо: она уменьшает и глубину провала, и частоту согласия с неверной подсказкой. Говорить «опыт не помогает» нельзя; верное утверждение — «опыта не хватает». Отсюда и потолок: переустроить подачу можно, и это даёт значимые шестнадцать пунктов, но почти половина согласий с неверной подсказкой остаётся при самой сильной из опробованных мер. Значит, «научим людей не доверять слепо» — не мера процесса, а пожелание; мерой становится только то, что меняет порядок предъявления и распределение ответственности.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три разбора и три разных исхода: падение чувствительности на замере взгляда, оба знака сразу в патологии и выигрыш на контрольной линии. Отдельное испытание, как бы ярко в нём ни было измерено, остаётся отдельным случаем, и три отдельных случая правилом тоже не становятся.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Головное число свода −0,23 при интервале от −0,39 до −0,07 считается против лучшей из двух сторон; человек тут не база. Именно от него минус 0,54 и читается как подмножество, а не как итог — и прежняя редакция кадра головного числа не несла вовсе, из-за чего подмножество выглядело результатом всей работы.</a:t>
            </a:r>
          </a:p>
          <a:p>
            <a:r>
              <a:t/>
            </a:r>
          </a:p>
          <a:p>
            <a:r>
              <a:t>Дальше — различение, на котором легко соскользнуть, и кадр на нём соскальзывал. У работы есть ДВЕ величины «пара против человека одного», и они посчитаны на разных основаниях. Первая — по всему своду: 0,64 при интервале от 0,53 до 0,74, статистика с девяноста восемью степенями свободы. Вторая — на том же подмножестве, где модель сильнее человека: 0,74 при интервале от 0,63 до 0,85, сто четыре степени свободы, то есть ровно те же опыты, на которых считали минус 0,54. Мысль кадра — «пара лучше человека и хуже сильнейшего» — произносится ВТОРОЙ парой, минус 0,54 и 0,74, потому что обе её половины стоят на одном подмножестве и на сравнимых степенях свободы. Поставить рядом с минус 0,54 число 0,64, как делала прежняя редакция, значит свести два разных вопроса на двух разных подмножествах в один вывод, и зал прочтёт их как две половины одного замера.</a:t>
            </a:r>
          </a:p>
          <a:p>
            <a:r>
              <a:t/>
            </a:r>
          </a:p>
          <a:p>
            <a:r>
              <a:t>Обратное подмножество называется тоже: там, где сильнее человек, пара лучше обеих сторон — 0,46 при интервале от 0,28 до 0,66.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a:p>
            <a:r>
              <a:t/>
            </a:r>
          </a:p>
          <a:p>
            <a:r>
              <a:t>Что из этого произносится, а на кадре снято. Первое: по отдельному испытанию правило не строится — вот оно, собранное из ста шести опытов предрегистрированным мета-анализом, и это другой разряд свидетельства, чем любой из четырёх разборов до него. Второе: после этого кадра вопрос «помогает ли ИИ» читается иначе — как вопрос о том, кто в этой паре сильнее на этой задаче, и он проверяем, в отличие от исходного. Третье: правило не привязано к модальности — оно собрано на опытах с текстом, изображениями и табличными данными сразу, и именно поэтому его можно унести с лекции и приложить к своей работе.</a:t>
            </a:r>
          </a:p>
          <a:p>
            <a:r>
              <a:t/>
            </a:r>
          </a:p>
          <a:p>
            <a:r>
              <a:t>И последнее, без чего кадр читается как приговор паре. Пара не наследует силу сильнейшей стороны — но человека одного она обходит, и обходит устойчиво: на том же подмножестве 0,74 при интервале от 0,63 до 0,85, по всему своду 0,64 при интервале от 0,53 до 0,74, оба целиком выше нуля. То есть вопрос не в том, брать ли модель в работу, а в том, против какой стороны считать выигрыш. Сравнение с человеком без модели даёт одну картину, сравнение с сильнейшей из сторон — другую, и подменять второе первым умеет почти любой отчёт о внедрении.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разряда,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разряд классического режима — чутьё хирурга без всякой шкалы, и устроен этот опыт так. Тридцать хирургов экстренной помощи развели жребием на две группы по пятнадцать: одни оценивают риск по письменному описанию случая, не видя машинной оценки, другие — после того, как познакомились с подсказкой модели. Случаев сто пятьдесят, исходы у всех ста пятидесяти прослежены вперёд тридцать дней. Сравнение редкое по устройству: обе человеческие группы и модель измерены на одних и тех же случаях, и разряд свидетельства высокий сразу по двум признакам — жребий между группами и проспективно зафиксированный исход. Называть устройство надо целиком: сказать «пятнадцать хирургов оценивали риск» буквально не ложно, но третье плечо — хирург с подсказкой — становится от этого невидимым, и владелец курса именно так его на кадре и не нашёл. Модель оказалась точнее человеческого чутья по четырём исходам из пяти: смертность 0,880 против 0,841, зависимость от аппарата 0,928 против 0,833, кровотечение с переливанием 0,832 против 0,735, пневмония 0,837 против 0,753. И по одному исходу модель оказалась хуже человека: септический шок, 0,816 против 0,820. Разница там крошечная, и важна она не величиной, а тем, что это единственное место задачи, где у человека было собственное преимущество.</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И последнее, что относится уже не к задаче, а к самой лекции. Обещание, данное в прошлый раз, звучало дословно так: будет разбор, где добавление человека в связку с машиной ухудшило результат, причём у профессиональных медиков. Обещание это закрывается, и закрывается оно не пересказом, а измерением — у практикующих хирургов, на прослеженных исходах, с жребием между группами. Всё, что названо на этом кадре, нужно затем, чтобы следующее число имело, с чем сравниваться.</a:t>
            </a:r>
          </a:p>
          <a:p>
            <a:r>
              <a:t/>
            </a:r>
          </a:p>
          <a:p>
            <a:r>
              <a:t>Исходы тридцатого дня прослежены вперёд, и это надо произнести точно: они служат эталоном, по которому считается точность оценок, а не последствием подсказки. Описания случаев составлены по уже случившимся поступлениям, оценки хирургов в лечение этих больных не входили, и ни одно решение участника опыта до больного не дошло.</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лекции.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a:p>
            <a:r>
              <a:t/>
            </a:r>
          </a:p>
          <a:p>
            <a:r>
              <a:t>Устройство изделия стоит произнести целиком, иначе разбор нельзя ни проверить, ни пересказать. Калькулятор называется POTTER. Внутри — решающие деревья, подобранные оптимизацией; это не нейросеть, и класс здесь важен, потому что от него зависит, сколько вопросов надо задать. Обучен он на 382 960 случаях экстренной хирургии из национальной базы контроля качества за 2007–2013 годы. На входе от четырёх до одиннадцати ответов о больном, на выходе — вероятности пяти исходов за тридцать дней. У него же измерено ограничение, о котором обычно молчат: при внешней проверке на 29 366 больных старше шестидесяти пяти лет точность по смертности падает до 0,80, а у тех, кому больше восьмидесяти пяти, — до 0,71. Модель работает хуже всего там, где решение «оперировать ли» труднее всего.</a:t>
            </a:r>
          </a:p>
          <a:p>
            <a:r>
              <a:t/>
            </a:r>
          </a:p>
          <a:p>
            <a:r>
              <a:t>И одно число из соседнего испытания, которое объясняет механизм лучше остальных. В продолжении того самого опыта, откуда взята тройка 92 · 74 · 76, — та же команда, семьдесят врачей, двести пятьдесят четыре случая — измерили не «помогает ли модель», а когда её показали. Подсказка, предъявленная до того, как человек составил собственное мнение, против подсказки, предъявленной после, стоит 8,9 пункта по решениям к действию. То есть дело не в том, что модель плохая: дело в порядке.</a:t>
            </a:r>
          </a:p>
          <a:p>
            <a:r>
              <a:t/>
            </a:r>
          </a:p>
          <a:p>
            <a:r>
              <a:t>Чего разбор не утверждает. Он не утверждает, что POTTER плохой калькулятор: по четырём исходам из пяти он точнее человеческого чутья и точнее трёх классических шкал. Он не утверждает и что подсказку надо убрать. Он утверждает ровно одно: подсказку нельзя показывать там, где у человека есть собственное преимущество, не измерив заранее, что с этим преимуществом станет. Риск оценивался по составленным описаниям случаев, не у койки, и повторения этого замера нет ни одного — обе оговорки произносятся вместе с числом.</a:t>
            </a:r>
          </a:p>
          <a:p>
            <a:r>
              <a:t>Ступень участия здесь — «смотрит вторым», и это ровно та разница с контрольной линией, из-за которой при одном и том же классе инструмента результаты разошлись в противоположные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разрядом ниже остального.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свод из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 и на том же самом подмножестве пара лучше человека одного на 0,74 при интервале от 0,63 до 0,85. Обе половины называются вместе, иначе строка таблицы читается приговором. Головное число всего свода — минус 0,23 при интервале от минус 0,39 до минус 0,07, и от него минус 0,54 читается как подмножество. Свод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по всему своду (на подмножестве «модель сильнее» это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 произнести её надо точно, потому что прежняя редакция кадра произносила её неверно. Говорить «исход пациента не измерен ни в одном из четырёх» нельзя: у хирургов первичный исход заявлен прямо — сто пятьдесят больных, тридцать дней проспективного наблюдения, — и кадр хирургов сам говорит, что осложнение считают на тридцатый день. Утверждение об отсутствии было нашим собственным, и проверено оно по заявленному первичному исходу каждой из четырёх работ так же, как мы проверяем чужие числа.</a:t>
            </a:r>
          </a:p>
          <a:p>
            <a:r>
              <a:t/>
            </a:r>
          </a:p>
          <a:p>
            <a:r>
              <a:t>Верная формулировка держится, а мысль остаётся той же: ни в одном из четырёх решение человека не дошло до больного. У хирургов описания случаев составлены по уже случившимся поступлениям, оценки участников в лечение не входили, исходы служат эталоном, по которому считают точность этих оценок. У врачей с языковой моделью больных в опыте нет вовсе — задания составленные. Свод не про исходы по своему предмету. Замер взгляда мерил точность, время чтения и поведение взгляда. То есть измерено, как человек смотрит и как он меняет верное решение на неверное, — и не измерено, что стало с больным из-за того, что человек стал хуже смотреть. Разница между «исход не измерен» и «решение не дошло до больного» не придирка: первое ложно и проверяемо ложно, второе верно и есть собственно вывод.</a:t>
            </a:r>
          </a:p>
          <a:p>
            <a:r>
              <a:t/>
            </a:r>
          </a:p>
          <a:p>
            <a:r>
              <a:t>Что тут произносится помимо таблицы. Разряд у четырёх замеров разный, и назвать его обязательно — иначе четыре числа читаются либо как четыре независимых подтверждения одного, либо как одно исследование, рассказанное четыре раза. Ни то, ни другое неверно. У хирургов ветвь с жребием соседствует с проспективным наблюдением, у тройки ветвь «модель одна» наблюдательная и равноправной случайной не была, свод предрегистрирован и медицинских работ в нём часть, а замер взгляда — перекрёстная подача, где читателя сравнивают с ним же. Выше своего разряда ни одно из этих чисел не утверждает ничего. И четыре глагола, которыми этот свод пересказывают вслух, обязаны лечь на четыре строки своей же таблицы, а не на четыре произвольных: у хирургов мерили оценку риска по площади под кривой, у врачей с языковой моделью — балл рассуждения по рубрике, свод мерил размеры эффекта, замер взгляда — пропущенные раки и ложные вызовы, а движение глаза было у него вторым, объясняющим измерением. Прежний пересказ подставлял «движение глаза» на место строки, где стоит доля находок, а у строки свода глагола не давал вовсе.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переехал сюда из отдельного раздела о динамическом наблюдении, который снят целиком. Стадия наблюдения как самостоятельная из лекции ушла, а случай остался: он про то же, про что весь этот раздел, — про решение, принятое по данным, и про то, чем за него платят.</a:t>
            </a:r>
          </a:p>
          <a:p>
            <a:r>
              <a:t/>
            </a:r>
          </a:p>
          <a:p>
            <a:r>
              <a:t>Начну с устройства, потому что без него дальше нечего обсуждать. Балльная шкала раннего предупреждения — это таблица, по которой каждая измеренная у постели величина получает баллы за отклонение от нормы: частота дыхания от двенадцати до двадцати даёт ноль, от двадцати одного до двадцати четырёх — два, двадцать пять и выше — три. Баллы складываются, сумма попадает в полосу, полоса назначает действие: продолжать наблюдение, участить измерения и позвать дежурного врача, вызвать реанимационную бригаду немедленно. Веса в этой таблице расставила согласительная комиссия профессионального общества и напечатала на карте, которая лежит в отделении. Отсюда свойство, которого у модели нет: ошибка шкалы разбирается как ошибка документа — собирается комиссия, правит таблицу, выпускает новую редакцию, и всякий, кто не согласен, знает, кому возражать и по какому пункту.</a:t>
            </a:r>
          </a:p>
          <a:p>
            <a:r>
              <a:t/>
            </a:r>
          </a:p>
          <a:p>
            <a:r>
              <a:t>Цену обеих ошибок называю до всяких чисел, и на кадре она стоит двумя столбцами. Пропустить ухудшение: между моментом, когда состояние начало портиться, и моментом, когда это заметили, проходят часы, и при сепсисе за эти часы меняется исход — от капельницы с антибиотиком до реанимации и органной недостаточности. Поднять ложную тревогу: анализы «чтобы исключить», антибиотик широкого спектра «на всякий случай» и его вклад в устойчивость возбудителя, время сестры и врача, снятое с другого пациента, и — через сотню повторений — привычка закрывать такие оповещения не читая. Последнее слагаемое самое дорогое и самое незаметное: оно накапливается и расплачивается в тот единственный раз, когда оповещение было настоящим. Обе ошибки платит один и тот же человек — дежурная смена, и этим стадия отличается от постановки диагноза, где лишнее обследование оплачивает пациент, а пропущенную находку — исходом.</a:t>
            </a:r>
          </a:p>
          <a:p>
            <a:r>
              <a:t/>
            </a:r>
          </a:p>
          <a:p>
            <a:r>
              <a:t>Вопрос залу, и задать его стоит вслух: какую долю автоматических оповещений вы в своём рабочем контуре закрываете не читая. Ответ на него и есть база, с которой дальше читаются измеренные доли подтверждения. Прямого медицинского опыта у инженера нет, а контур с автоматическими оповещениями есть почти у каждого — сборка упала, тест мигнул, монитор написал в чат. «Почти все» звучит чаще, чем хотелось бы, и звучит от людей, которые этот контур сами и настраивали.</a:t>
            </a:r>
          </a:p>
          <a:p>
            <a:r>
              <a:t/>
            </a:r>
          </a:p>
          <a:p>
            <a:r>
              <a:t>Теперь числа, и первым — то, с чем модель сравнивают. У шкалы подтверждаются восемь тревог из ста: остальные девяносто две подняты впустую, и это цена классического режима до всякого машинного обучения. Замер сделан на сорока пяти тысячах семистах семидесяти шести пациентах, сепсис у трёх и трёх десятых из ста, одна выборка на все три шкалы разом; у двух других шкал того же замера — двенадцать и восемнадцать. Рядом в литературе ходит число восемьдесят восемь и восемь десятых — доля ложных тревог прикроватного монитора, — и складывать его с нашими нельзя: там прибор у постели, порог выставлен рукой, обученной модели внутри нет вовсе. Это другая задача и другая база; говорю об этом здесь, чтобы на кадре не стояло двух долей, которые зал сложит.</a:t>
            </a:r>
          </a:p>
          <a:p>
            <a:r>
              <a:t/>
            </a:r>
          </a:p>
          <a:p>
            <a:r>
              <a:t>Что заявлял разработчик и что намерила независимая проверка. По первой версии модели заявлено различение от нуля целых семидесяти шести сотых до нуля целых восьмидесяти трёх; по второй — от нуля целых восьмидесяти трёх до нуля целых восьмидесяти шести, и это заявление поставщика, напечатанное внутри рецензируемой работы. Совпадение верхней границы первого заявления и нижней границы второго численное и ничего не значит: одной полосы из них не складывается. Независимая внешняя проверка на тридцати восьми тысячах четырёхстах пятидесяти пяти госпитализациях дала ноль целых шестьдесят три сотых. Шкалу различения произношу вслух: ноль целых пять десятых — это монетка, единица — без промаха. Разница между нулём целых семьюдесятью шестью и нулём целых шестьюдесятью тремя — это разница в пригодности: на первой можно опереться при настройке порога, на второй либо поток тревог непосилен, либо случаи проходят мимо.</a:t>
            </a:r>
          </a:p>
          <a:p>
            <a:r>
              <a:t/>
            </a:r>
          </a:p>
          <a:p>
            <a:r>
              <a:t>Два знаменателя на кадре разные, и путать их нельзя — это главное место, где такие разборы врут. Восемнадцать из ста — это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Отсюда арифметика, которую стоит произнести медленно: чтобы найти один случай сепсиса, дежурная смена разбирает восемь тревог. Прежняя редакция этого разбора называла пятнадцать — число отозвано эрратой того же журнала, и я называю это вслух, потому что лекция про то, как числа живут в пересказах дольше, чем в первоисточниках.</a:t>
            </a:r>
          </a:p>
          <a:p>
            <a:r>
              <a:t/>
            </a:r>
          </a:p>
          <a:p>
            <a:r>
              <a:t>И сравнение, ради которого всё это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превосходства это сравнение не устанавливает, и утверждать его нельзя. Но и обратное неверно: модель не провалилась — она встала примерно туда же, куда уже стояла шкала, стоившая несопоставимо дешевле.</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И форма «шаг появился» — про сам разбор тревоги: у шкалы отклонять было нечего, порог она считала сама.</a:t>
            </a:r>
          </a:p>
          <a:p>
            <a:r>
              <a:t/>
            </a:r>
          </a:p>
          <a:p>
            <a:r>
              <a:t>Последнее, и оно переносится за пределы медицины почти без правок. В двадцати четырёх больницах за время вирусной эпидемии суточный поток тревог вырос с девятисот пятидесяти трёх до тысячи трёхсот шестидесяти трёх, тогда как загрузка упала с десяти тысяч ста пятидесяти девяти до шести тысяч шестисот тридцати четырёх пациентов. Значит доля пациентов с тревогой выросла с девяти до двадцати одного из ста.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В момент, когда поток меняется сильнее всего, инструмент врёт больше всего —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сравнение балльных шкал, JAMIA Open 2021</a:t>
            </a:r>
            <a:r>
              <a:t> · </a:t>
            </a:r>
            <a:r>
              <a:rPr u="sng">
                <a:solidFill>
                  <a:srgbClr val="065A82"/>
                </a:solidFill>
                <a:hlinkClick r:id="rId5"/>
              </a:rPr>
              <a:t>Ostermayer и соавт., JAMIA Open 2024</a:t>
            </a:r>
            <a:r>
              <a:t> · </a:t>
            </a:r>
            <a:r>
              <a:rPr u="sng">
                <a:solidFill>
                  <a:srgbClr val="065A82"/>
                </a:solidFill>
                <a:hlinkClick r:id="rId6"/>
              </a:rPr>
              <a:t>проспективная проверка действующей версии, JAMA Network Open 2026</a:t>
            </a:r>
            <a:r>
              <a:t> · </a:t>
            </a:r>
            <a:r>
              <a:rPr u="sng">
                <a:solidFill>
                  <a:srgbClr val="065A82"/>
                </a:solidFill>
                <a:hlinkClick r:id="rId7"/>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вторая половина разбора: первый сказал, что это за изделие и с чем его сравнивают, этот считает, во что оно обошлось.</a:t>
            </a:r>
          </a:p>
          <a:p>
            <a:r>
              <a:t/>
            </a:r>
          </a:p>
          <a:p>
            <a:r>
              <a:t>Два знаменателя на кадре разные, и путать их нельзя — это главное место, где такие разборы врут. Восемнадцать из ста —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и если сложить эти два числа в одну мысль, получится неправда.</a:t>
            </a:r>
          </a:p>
          <a:p>
            <a:r>
              <a:t/>
            </a:r>
          </a:p>
          <a:p>
            <a:r>
              <a:t>Отсюда арифметика, которую стоит произнести медленно: чтобы найти один случай сепсиса, дежурная смена разбирает восемь тревог. На тысячу госпитализаций это примерно сто восемьдесят одна тревога и двадцать два подтверждённых случая. Прежняя редакция этого разбора называла пятнадцать тревог на случай — число отозвано эрратой того же журнала, и я называю это вслух, потому что лекция ровно про то, как числа живут в пересказах дольше, чем в первоисточниках.</a:t>
            </a:r>
          </a:p>
          <a:p>
            <a:r>
              <a:t/>
            </a:r>
          </a:p>
          <a:p>
            <a:r>
              <a:t>Сравнение, ради которого всё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утверждать превосходство нельзя. И обратное тоже неверно: модель не провалилась — она встала примерно туда же, где уже стояла шкала, стоившая несопоставимо дешевле. Вот это «примерно туда же» и есть результат разбора.</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 Разряд у этих проверок разный, и это надо называть: первая ретроспективная, вторая проспективная и многоцентровая.</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ни одна балльная шкала не пересчитывается по всей больнице каждые пятнадцать минут.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Форма «шаг появился» — про сам разбор тревоги: у шкалы отклонять было нечего, порог она считала сама. А формы «исполнитель тот же, но стал хуже» в этом разборе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И последнее число, которое читается только с базой; оно стоит на кадре парой, и пару надо произнести целиком. В двадцати четырёх больницах за время вирусной эпидемии суточный поток тревог вырос с девятисот пятидесяти трёх до тысячи трёхсот шестидесяти трёх — на сорок три процента. Само по себе это ничего не значит: больных больше, тревог больше. Но загрузка за тот же период упала с десяти тысяч ста пятидесяти девяти до шести тысяч шестисот тридцати четырёх пациентов, то есть на треть. Значит на каждого пациента тревог стало не на сорок три процента больше, а вдвое с лишним: доля пациентов с тревогой выросла с девяти до двадцати одного из ста.</a:t>
            </a:r>
          </a:p>
          <a:p>
            <a:r>
              <a:t/>
            </a:r>
          </a:p>
          <a:p>
            <a:r>
              <a:t>Вот что произошло: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Переносимое за пределы медицины почти без правок: в момент, когда поток меняется сильнее всего, инструмент врёт больше всего,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Ostermayer и соавт., JAMIA Open 2024</a:t>
            </a:r>
            <a:r>
              <a:t> · </a:t>
            </a:r>
            <a:r>
              <a:rPr u="sng">
                <a:solidFill>
                  <a:srgbClr val="065A82"/>
                </a:solidFill>
                <a:hlinkClick r:id="rId5"/>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то, что нигде не записано: ступень участия человека. Неназначенная, под нагрузкой она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Карта задачи и данных идёт следующим кадром, и строку про неё здесь произносить не надо — она там и стоит.</a:t>
            </a:r>
          </a:p>
          <a:p>
            <a:r>
              <a:t/>
            </a:r>
          </a:p>
          <a:p>
            <a:r>
              <a:t>И то, чем эта нагрузка держится, — произносим, на кадре этого нет. Держат её две вещи: порядок предъявления подсказки, у которого есть измеренная цена, и арбитраж третьим читателем — но только там, где человек и модель разошлись. Числа к четырём формам словаря не повторяем: каждое стояло на своём разборе, и повтор здесь сделал бы из вывода конспект раздела. Один и тот же инструмент уронил результат в одном разборе и поднял в контрольной линии — разошлось у них устройство процедуры, и это и есть вывод стадии.</a:t>
            </a:r>
          </a:p>
          <a:p>
            <a:r>
              <a:t/>
            </a:r>
          </a:p>
          <a:p>
            <a:r>
              <a:t>Как произносить четыре формы словаря, стоящие строкой. Нагрузка на том же месте упала — у замера взгляда, и знак этой формы задаёт правота подсказки: то же падение объёма осмотра в зеркальной работе оказалось выигрышем. Сместилась цена ошибки — пропуск модели стал пропуском читателя, подписанным человеком. Сменился исполнитель — вторым читателем стала модель, и объём человеческого чтения упал следом, как следствие смены, а не как самостоятельная цель. Исполнитель тот же, но стал хуже — у хирурга на септическом шоке при той же работе просело собственное преимущество; этой формы в словаре до раздела не было, её пришлось завести.</a:t>
            </a:r>
          </a:p>
          <a:p>
            <a:r>
              <a:t/>
            </a:r>
          </a:p>
          <a:p>
            <a:r>
              <a:t>И про полужирную строку. Ступень участия человека не записана нигде: ни в регламенте программы, ни в инструкции к изделию, ни в должностной инструкции читателя. Незаписанная ступень не остаётся нейтральной — она сползает вниз, к подписи не глядя, потому что это самый дешёвый способ закрыть требование «решение принимает человек». Счёт за это предъявляется в разделе о допуске, надзоре и ответственности, и предъявляется он не интерфейсу, а тому, кто ступень не назначил.</a:t>
            </a:r>
          </a:p>
          <a:p>
            <a:r>
              <a:t/>
            </a:r>
          </a:p>
          <a:p>
            <a:r>
              <a:t>Соберём стадию по тем же четырём вопросам. На кадре от каждого осталось по два пункта, остальное проговаривается здесь.</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И третье, которого на кадре нет: воспроизводимость — один и тот же вход даёт один и тот же выход, а значит расхождение можно разобрать.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Порог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и тоже снятое с кадра: чем измерен вход. Смещение измерительного прибора приходит до всякой модели, и модель его наследует, не создавая. Измеренный пример этого — прибор насыщения крови: у пациентов с тёмной кожей скрытая нехватка кислорода встречалась в 11,7 процента измерений против 3,6 у пациентов со светлой. Упоминание идёт с числом и разбором не становится.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это 21 человек из каждых ста. В отборе по прогнозу расходов сменился исполнитель: отбор делал лечащий врач, стал делать один балл. И сместилась цена ошибки — в дерматологическом разборе на подгруппу, у которой изображений в обучающем наборе было мало, в разборе по расходам на группу, у которой при равном балле больше болезней.</a:t>
            </a:r>
          </a:p>
          <a:p>
            <a:r>
              <a:t/>
            </a:r>
          </a:p>
          <a:p>
            <a:r>
              <a:t>Что это держит. Порог, назначенный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четвёртое, названное прямо: процедуры, которая проверяла бы, что система считает своей целью, нет ни одной. В разборе по прогнозу расходов исправление посчитали и не применили. Пустое место это лежит в самом порядке работы; одна больница тут ни при чём.</a:t>
            </a:r>
          </a:p>
          <a:p>
            <a:r>
              <a:t/>
            </a:r>
          </a:p>
          <a:p>
            <a:r>
              <a:t>Теперь то, ради чего раздел и собран, и произносится оно медленно. Ни в одном из двух разборов стадии исследования не провалилось само чтение. Провалились развёртывание и определение цели — два разных места, и ни одно из них не лечится лучшей моделью. Это то, что стоит унести целиком: вопрос «насколько точна ваша система» в каждом из двух случаев имел хороший ответ, и ни в одном из двух он не помог.</a:t>
            </a:r>
          </a:p>
          <a:p>
            <a:r>
              <a:t/>
            </a:r>
          </a:p>
          <a:p>
            <a:r>
              <a:t>Про каждую из четырёх шапок стоит сказать, какой разбор её держит, иначе свод читается как общие слова. Постоянство и поток названы на заземлении и подтверждены тайским развёртыванием: чтение там работало, результат приходил меньше чем за минуту. Границы — порог и пересъёмка — названы на заземлении и измерены в поле: 21 отклонённый снимок из ста это и есть цена того, что модель не умеет переснять. Смещение входа приходит из упоминания про прибор насыщения крови: своего разбора под ним больше нет — дерматологический снят решением владельца. Изменения работы стоят поимённо: два из тайского случая и одно из разбора по прогнозу расходов.</a:t>
            </a:r>
          </a:p>
          <a:p>
            <a:r>
              <a:t/>
            </a:r>
          </a:p>
          <a:p>
            <a:r>
              <a:t>И про полужирную строку в четвёртой шапке — она здесь не фигура речи. Порог держит протокол, годность держит инструкция кабинета, пересчёт доли верных тревог держит тот, кто применяет. А процедуры, которая проверяла бы, что система считает своей целью, нет ни одной. Вторая половина раздела как раз про то место, где подпись остаётся за человеком, — и там к этому пустому месту добавляется своё.</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Классических режимов этой работы четыре: врач набирает текст руками сразу после приёма; переносит прежнюю запись в новую, правя изменившееся; диктует живому писцу; либо правит черновик ординатора под свою подпись. Посчитаны из четырёх два, и в разных единицах — письмо врача в минутах на заметку, перенос в доле текста карты; у живого писца и у черновика ординатора числа в наших работах нет, и причина у каждого названа на месте.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a:p>
            <a:r>
              <a:t/>
            </a:r>
          </a:p>
          <a:p>
            <a:r>
              <a:t>Скажу сразу, чем этот раздел устроен иначе предыдущего. На наблюдении предмет был числовой: дорожка величин, балл, порог. Здесь предмет — текст, и проверить его нечем, кроме чтения. У балла есть порог, у записи порога нет: нельзя сказать «эта запись на семьдесят процентов полная» и принять решение по этому числу.</a:t>
            </a:r>
          </a:p>
          <a:p>
            <a:r>
              <a:t/>
            </a:r>
          </a:p>
          <a:p>
            <a:r>
              <a:t>Два читателя этого раздела разные, и цена ошибки у них разная. Запись приёма читают сам пациент и следующий врач — ошибка стоит повторного обследования или неверного продолжения лечения. Выписной эпикриз читают участковый врач, следующий стационар и страховщик — ошибка стоит назначения в другом учреждении, где спросить автора уже не у кого. Поэтому в разделе два разбора, а не один: один инструмент, две стадии, две разные цены.</a:t>
            </a:r>
          </a:p>
          <a:p>
            <a:r>
              <a:t/>
            </a:r>
          </a:p>
          <a:p>
            <a:r>
              <a:t>И одно свойство, которое надо держать в голове весь раздел, потому что оно объясняет обе цены. Пропуск в записи и отсутствие события выглядят для читателя одинаково. Если в документе не написано, что пациенту давали препарат, читатель не может отличить «не давали» от «дали и не записали». Никакая внимательность чтения этого не исправляет: различения просто нет в документе. Из этого следует вещь, неочевидная для инженера: полнота записи здесь важнее её краткости, и всякий инструмент, который делает документ короче, надо проверять именно на этом.</a:t>
            </a:r>
          </a:p>
          <a:p>
            <a:r>
              <a:t/>
            </a:r>
          </a:p>
          <a:p>
            <a:r>
              <a:t>Последнее про порядок двух разборов. Запись приёма идёт первой потому, что на ней есть настоящая рандомизация — самый сильный разряд свидетельства во всей лекции, и начинать стадию стоит с него. Выписной эпикриз идёт вторым потому, что он тяжелее: по нему назначают в другом учреждении, и устройство ошибки там другое — не опечатка, а правдоподобно звучащая подробность, которой в истории болезни не было. Прежний навык вычитки «как после коллеги» на такой документ не переносится, и это и будет главной находкой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оставила после себя дорожку измерений, тревоги и то, что по ним сделали. Дальше работает уже не дорожка, а документ — и ведение медицинской документации поэтому отдельная работа врача, с отдельной формой, своими сроками и своей ответственностью за содержание. Заполненная карта служит сразу тремя вещами: источником сведений для следующего врача, предметом экспертизы качества помощи и основным доказательством при разборе случая.</a:t>
            </a:r>
          </a:p>
          <a:p>
            <a:r>
              <a:t/>
            </a:r>
          </a:p>
          <a:p>
            <a:r>
              <a:t>Данные этой стадии — всё, что собрали стадии до неё, положенное в текст. Жалобы и анамнез с приёма, найденное при осмотре, числа исследований, сформулированный диагноз, назначение, дорожка повторных измерений. Своего измерения стадия не добавляет ни одного; она переводит собранное в форму, которую можно передать.</a:t>
            </a:r>
          </a:p>
          <a:p>
            <a:r>
              <a:t/>
            </a:r>
          </a:p>
          <a:p>
            <a:r>
              <a:t>Вопрос, который на этих данных решают, один, и он не про архив: что должен узнать следующий читатель, которого при приёме не было. Запись делают не для хранения и не для проверяющего — её делают для человека, который будет действовать по ней, не видев пациента.</a:t>
            </a:r>
          </a:p>
          <a:p>
            <a:r>
              <a:t/>
            </a:r>
          </a:p>
          <a:p>
            <a:r>
              <a:t>Теперь о способах, которыми запись получается, и здесь стоит задержаться, потому что устроено это обратно тому, как стадию обычно представляют. Перечня на кадре нет, назову его голосом. Способов пять, и в современной карте они работают вместе, в одном документе. Перечень этот — про то, откуда в заметке берутся знаки; кадром позже пойдёт другой, режимы письма, про то, кто кладёт текст в документ. Две разные оси. Набор руками во время приёма — врач печатает, пока говорит с пациентом. Набор после приёма — между пациентами или в конце дня, та самая домашняя работа с картой. Диктовка — речь, которую расшифровывают в текст, человеком или распознаванием речи. Автоподстановка — содержание, которое система сама втягивает в заметку из структурированных полей: список препаратов, результаты анализов, показатели мониторинга. И перенос предыдущей записи — прежняя заметка переходит в новую, целиком или блоками, с правкой изменившегося.</a:t>
            </a:r>
          </a:p>
          <a:p>
            <a:r>
              <a:t/>
            </a:r>
          </a:p>
          <a:p>
            <a:r>
              <a:t>Пропорцию между ними измерили построчно, и она на экране плашками. Электронная карта крупного медицинского центра считает происхождение каждого знака подписанной заметки: набран он руками, подставлен системой или перенесён. По двадцати трём с половиной тысячам заметок четырёхсот шестидесяти авторов вышло так: восемнадцать процентов знаков набрано руками, сорок шесть перенесено, тридцать шесть подставлено системой. У ординаторов доля ручного набора ещё ниже, а доля переноса выше — одиннадцать и восемь против пятидесяти одного и четырёх.</a:t>
            </a:r>
          </a:p>
          <a:p>
            <a:r>
              <a:t/>
            </a:r>
          </a:p>
          <a:p>
            <a:r>
              <a:t>Единица здесь — знаки, и держать её надо твёрдо: кадром позже встретится доля переноса в пятьдесят целых одна десятая процента, и это доля СЛОВ у другой работы с другой выборкой. Сорок шесть и пятьдесят один — не одно и то же число, измеренное дважды.</a:t>
            </a:r>
          </a:p>
          <a:p>
            <a:r>
              <a:t/>
            </a:r>
          </a:p>
          <a:p>
            <a:r>
              <a:t>Читать эту пропорцию надо прямо: руками врач пишет меньшую часть заметки. Четыре знака из пяти приходят из прежнего текста либо из полей карты. И отсюда первое, что надо знать про потолок любого инструмента, обещающего снять набор текста: он попадает в те самые восемнадцать процентов. Оговорку о разряде свидетельства стоит назвать здесь же — это одноцентровое поперечное измерение по журналу самой карты, то есть замер поведения, снятый машиной, и обобщаемость на другие учреждения и другие системы карт не проверена.</a:t>
            </a:r>
          </a:p>
          <a:p>
            <a:r>
              <a:t/>
            </a:r>
          </a:p>
          <a:p>
            <a:r>
              <a:t>Формы документа на этой стадии разные, и работа в них неодинаковая: запись приёма в карте, дневниковая запись в стационаре, выписной эпикриз — итоговый документ о госпитализации, по которому дальше работает следующий врач, — и направление к специалисту. Способ и форма — разные вещи: одну и ту же форму можно набрать руками, надиктовать или перенести.</a:t>
            </a:r>
          </a:p>
          <a:p>
            <a:r>
              <a:t/>
            </a:r>
          </a:p>
          <a:p>
            <a:r>
              <a:t>Дальше — перечень читателей, и он на кадре не для полноты. У записи их пять, и каждый по ней действует. Участковый врач через месяц: по записи он поймёт, что уже проверяли, что исключили и чем лечили. Следующий стационар при повторной госпитализации: выписной документ там основной источник сведений о прошлом разе. Другой специалист того же учреждения, которому пациента направили. Экспертная комиссия при разборе случая: она читает запись и решает, соответствовали ли действия врача утверждённым порядкам, и доказательством служит именно запись.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в записи и отсутствие события выглядят для него одинаково, и различить их ему нечем.</a:t>
            </a:r>
          </a:p>
          <a:p>
            <a:r>
              <a:t/>
            </a:r>
          </a:p>
          <a:p>
            <a:r>
              <a:t>Решение, которое стадия принимает, звучит просто и весит много: что попадёт в документ, по которому примут решение потом. Документ запускает действия — по записи назначают и отменяют, по эпикризу принимают в следующем учреждении, по направлению ставят в очередь, по содержанию карты экспертиза оценивает соответствие порядку.</a:t>
            </a:r>
          </a:p>
          <a:p>
            <a:r>
              <a:t/>
            </a:r>
          </a:p>
          <a:p>
            <a:r>
              <a:t>И почему стадия стоит здесь, после наблюдения. Ответ прямой: запись читают после того, как её сделали. Но важнее вторая половина — читает её другой человек, и вопрос у него свой. Наблюдение решало «вмешиваться сейчас или на обходе» по дорожке, которую вело само. Здесь решает тот, у кого дорожки нет, есть только текст, и качество этого текста для него не стиль, а единственный канал, по которому чужое решение к нему попадает.</a:t>
            </a:r>
          </a:p>
          <a:p>
            <a:r>
              <a:t/>
            </a:r>
          </a:p>
          <a:p>
            <a:r>
              <a:t>**Источник.** </a:t>
            </a:r>
            <a:r>
              <a:rPr u="sng">
                <a:solidFill>
                  <a:srgbClr val="065A82"/>
                </a:solidFill>
                <a:hlinkClick r:id="rId3"/>
              </a:rPr>
              <a:t>Wang, Khanna, Najafi, JAMA Internal Medicine 2017</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разбора требует предъявить классический режим прежде модели и посчитать его в той же цене. На этой стадии режимов четыре, посчитаны из них два и в разных единицах, а у двух названного числа нет вовсе — разобрать это надо по одному, иначе дальше мы сравним модель с пустым местом, а такое сравнение модель выигрывает всегда и не значит ничего.</a:t>
            </a:r>
          </a:p>
          <a:p>
            <a:r>
              <a:t/>
            </a:r>
          </a:p>
          <a:p>
            <a:r>
              <a:t>Сразу уточню, перечень чего это. Режимы — про то, кто кладёт текст в документ. Перечень кадром раньше, пять способов, — про другое: откуда в заметке берутся знаки. Две разные оси, и перенос прежней записи стоит в обеих законно.</a:t>
            </a:r>
          </a:p>
          <a:p>
            <a:r>
              <a:t/>
            </a:r>
          </a:p>
          <a:p>
            <a:r>
              <a:t>Первый режим — врач пишет сам. Он посчитан внутри самого рандомизированного испытания: у испытания есть контрольная группа, писавшая заметки как раньше, и время в заметке у неё — четыре минуты двадцать две секунды. Это база всех сравнений раздела по времени. У режима есть и собственный дрейф, и плашка несёт его парой: за период наблюдения время в контрольной группе само упало до четырёх минут четырёх секунд. Восемнадцать секунд — величина мелкая, смысл её большой: всякое «стало быстрее» надо считать против этого дрейфа, иначе восемнадцать секунд хода времени запишутся в заслугу инструменту. Разряд свидетельства у этого числа назову сразу — препринт, рецензирования не проходил.</a:t>
            </a:r>
          </a:p>
          <a:p>
            <a:r>
              <a:t/>
            </a:r>
          </a:p>
          <a:p>
            <a:r>
              <a:t>Второй режим — перенос предыдущей записи: прежняя заметка переходит в новую, целиком или блоками, с правкой изменившегося. Его долго держали за дурную привычку отдельных врачей; измерение показало, что это основной путь появления текста в карте.</a:t>
            </a:r>
          </a:p>
          <a:p>
            <a:r>
              <a:t/>
            </a:r>
          </a:p>
          <a:p>
            <a:r>
              <a:t>Сплошной разбор карт одной крупной системы здравоохранения за шесть лет — сто четыре миллиона заметок о почти двух миллионах пациентов — нашёл, что половина всего текста карты, пятьдесят целых одна десятая процента слов, дословно повторяет написанное об этом же пациенте раньше. Единицу здесь надо произнести отчётливо, потому что её легко услышать не так: это доля слов, а не доля записей. Не «половина заметок скопирована» — а «половина написанного уже было написано». Доля растёт по годам: тридцать три процента у заметок пятнадцатого года, пятьдесят четыре у заметок двадцатого. Больше половины дублированного текста автор переносит у самого себя, остальное — у другого автора.</a:t>
            </a:r>
          </a:p>
          <a:p>
            <a:r>
              <a:t/>
            </a:r>
          </a:p>
          <a:p>
            <a:r>
              <a:t>И одна строка, без которой зал услышит противоречие там, где его нет: пятьдесят целых одна десятая — доля СЛОВ карты у Стайнкампа на ста четырёх миллионах заметок, сорок шесть кадром раньше — доля ЗНАКОВ в заметке у Вана на одной карте. Разные единицы, разные выборки: числа не спорят и не складываются.</a:t>
            </a:r>
          </a:p>
          <a:p>
            <a:r>
              <a:t/>
            </a:r>
          </a:p>
          <a:p>
            <a:r>
              <a:t>Разряд свидетельства назовём вслух, как делаем со всяким числом лекции: рецензированное поперечное измерение сплошной выборки одной системы, счёт воспроизводим по описанию метода. Слабая сторона названа самими авторами: признаком служит дословное совпадение, то есть перенос с переписыванием счёт не видит вовсе, и доля скорее занижена.</a:t>
            </a:r>
          </a:p>
          <a:p>
            <a:r>
              <a:t/>
            </a:r>
          </a:p>
          <a:p>
            <a:r>
              <a:t>У этого режима измерена и цена ошибки. На диагностических ошибках первичного звена: из двухсот двенадцати тысяч приёмов за год в двух крупных городских центрах отобрали случаи, где за приёмом в течение двух недель последовала незапланированная помощь, и врачи-рецензенты нашли сто девяносто диагностических ошибок. Вклад ошибок переноса — два и шесть десятых процента всех найденных. Здесь нужна оговорка об атрибуции, и она обязательна: полный текст первичной работы открыть не удалось, числа прочитаны в систематическом обзоре, который её цитирует, и до сверки по первоисточнику атрибуция идёт через обзор явно.</a:t>
            </a:r>
          </a:p>
          <a:p>
            <a:r>
              <a:t/>
            </a:r>
          </a:p>
          <a:p>
            <a:r>
              <a:t>Механизм этой ошибки стоит показать одним случаем: доля говорит про частоту и ничего про устройство. У пациента на химиотерапии с перенесённой тромбоэмболией лёгочной артерии запись о назначении гепарина для профилактики попала в поступательную заметку. Сам гепарин назначен не был. При переводе в другое отделение эта запись переносилась пять дней подряд, и все, кто её читал, считали профилактику выполняемой. Вскоре после выписки у пациента развилась тромбоэмболия лёгочной артерии с повторной госпитализацией. Это отдельное сообщение о случае — низший разряд свидетельства: оно показывает механизм и ничего не говорит о частоте.</a:t>
            </a:r>
          </a:p>
          <a:p>
            <a:r>
              <a:t/>
            </a:r>
          </a:p>
          <a:p>
            <a:r>
              <a:t>Третий режим — живой медицинский писец: человек на приёме, в кабинете или удалённо по связи, пишущий запись за врача, пока тот говорит с пациентом. Это не экзотика: у режима есть рынок, стоимость приёма и собственная литература об экономии врачебного времени. Он назван и не посчитан, и причину пробела надо назвать здесь, чтобы разбор не сошёл за полный: плечом рандомизированного испытания этот режим не был, а взять его стоимость из другой работы значило бы складывать две разные выборки. Пробел принадлежит замеру, а не задаче.</a:t>
            </a:r>
          </a:p>
          <a:p>
            <a:r>
              <a:t/>
            </a:r>
          </a:p>
          <a:p>
            <a:r>
              <a:t>Четвёртый режим работает только на выписном документе: черновик пишет ординатор, подписывает лечащий врач. Он тоже назван и тоже без числа, и причина у него своя, названная: слепое сравнение ста госпитализаций, к которому раздел придёт вторым разбором, брало документ лечащего врача, а не ординатора. Значит про этот режим слепое сравнение не говорит ничего, и подставить сюда его числа нельзя.</a:t>
            </a:r>
          </a:p>
          <a:p>
            <a:r>
              <a:t/>
            </a:r>
          </a:p>
          <a:p>
            <a:r>
              <a:t>И последнее, что надо унести с этого кадра. Со вторым режимом модель сходится не по времени, а по вопросу, который для раздела окажется несущим: что делается с достоверностью записи, когда в документе стоит правдоподобный текст, которого в этом приёме никто не произносил.</a:t>
            </a:r>
          </a:p>
          <a:p>
            <a:r>
              <a:t/>
            </a:r>
          </a:p>
          <a:p>
            <a:r>
              <a:t>**Источники.** </a:t>
            </a:r>
            <a:r>
              <a:rPr u="sng">
                <a:solidFill>
                  <a:srgbClr val="065A82"/>
                </a:solidFill>
                <a:hlinkClick r:id="rId3"/>
              </a:rPr>
              <a:t>Steinkamp и соавт., JAMA Network Open 2022</a:t>
            </a:r>
            <a:r>
              <a:t> · </a:t>
            </a:r>
            <a:r>
              <a:rPr u="sng">
                <a:solidFill>
                  <a:srgbClr val="065A82"/>
                </a:solidFill>
                <a:hlinkClick r:id="rId4"/>
              </a:rPr>
              <a:t>Tsou и соавт., Applied Clinical Informatics 2017</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 что не успели — домашняя работа с картой вечером.</a:t>
            </a:r>
          </a:p>
          <a:p>
            <a:r>
              <a:t/>
            </a:r>
          </a:p>
          <a:p>
            <a:r>
              <a:t>Шесть действий стадии стоят на кадре перечнем, и по каждому добавлю, чем оно занято. Держать структуру в голове — во время живого разговора. Набрать запись — после приёма, а то и к концу дня. Вычитать и подписать. Собрать выписной документ по госпитализации целиком. Передать его читателю. Предъявить при разборе случая.</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 и никакая аккуратность чтения этого не исправляет — различения просто нет в документе.</a:t>
            </a:r>
          </a:p>
          <a:p>
            <a:r>
              <a:t/>
            </a:r>
          </a:p>
          <a:p>
            <a:r>
              <a:t>Цена обеих ошибок называется до всяких чисел. Записать меньше, чем было, — следующий читатель назначит заново уже проверенное,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Классические режимы письма я предъявил кадром раньше и здесь не пересчитываю. Коротко, одной связкой, чтобы счёт не плыл: режимов четыре; посчитаны два — письмо врача в минутах на заметку и перенос прежней записи в доле текста карты, пятьдесят целых одна десятая процента слов; живой писец и черновик ординатора под подпись лечащего названы, своих чисел не имеют, и причина у каждого названа там же. Единицы двух посчитанных в одну бухгалтерию не складываются: по времени модель сравнивается с письмом врача, с переносом она сходится по другому вопросу — что делается с достоверностью записи, когда правдоподобный текст в документе никто в этом приёме не произносил.</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и практике, а не инструменту.</a:t>
            </a:r>
          </a:p>
          <a:p>
            <a:r>
              <a:t/>
            </a:r>
          </a:p>
          <a:p>
            <a:r>
              <a:t>Теперь то же поле с моделью.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Три места, где модель не работает: снять обязанность вычитки она не может, подпись остаётся человеческой;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a:t>
            </a:r>
          </a:p>
          <a:p>
            <a:r>
              <a:t/>
            </a:r>
          </a:p>
          <a:p>
            <a:r>
              <a:t>**Источники.** </a:t>
            </a:r>
            <a:r>
              <a:rPr u="sng">
                <a:solidFill>
                  <a:srgbClr val="065A82"/>
                </a:solidFill>
                <a:hlinkClick r:id="rId3"/>
              </a:rPr>
              <a:t>трёхрукое рандомизированное испытание, препринт medRxiv 2025.07.10.25331333, рецензирования не проходил</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вслух.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a:t>
            </a:r>
          </a:p>
          <a:p>
            <a:r>
              <a:t/>
            </a:r>
          </a:p>
          <a:p>
            <a:r>
              <a:t>Отсюда формулировка, которую стоит унести из лекции целиком: число без названной методики счёта не проверяется и не опровергается — оно не является утверждением о мире. Это не придирка к величине. Пятнадцать тысяч часов могут быть правдой; беда в том, что и доказать, и опровергнуть их нечем, а в презентации поставщика они стоят рядом с измеренными числами тем же кеглем.</a:t>
            </a:r>
          </a:p>
          <a:p>
            <a:r>
              <a:t/>
            </a:r>
          </a:p>
          <a:p>
            <a:r>
              <a:t>Теперь измеренное, и разряд свидетельства назову прежде числа: это препринт, рецензирования он не проходил, регистрация испытания NCT06792890.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 а не против нуля.</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 Это и стоит на кадре золотой плашкой: из всех чисел разбора именно это самое неудобное для продажи и самое полезное для планирования.</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 и фраза «мы внедрили автоматическую запись приёма» сведений о результате не содержит.</a:t>
            </a:r>
          </a:p>
          <a:p>
            <a:r>
              <a:t/>
            </a:r>
          </a:p>
          <a:p>
            <a:r>
              <a:t>Про устройство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и я их называю, чтобы режим можно было узнать: Abridge, Dragon Copilot, Nabla, Heidi. Типом задачи это генерация на тексте.</a:t>
            </a:r>
          </a:p>
          <a:p>
            <a:r>
              <a:t/>
            </a:r>
          </a:p>
          <a:p>
            <a:r>
              <a:t>Вопрос залу — про их собственную работу: кто прочитывает автоматический протокол встречи построчно перед тем, как разослать. У многих в зале такой протокол уже пишется сам, и ответ «просматриваю по диагонали» и есть та самая вычитка, которой здесь меряют цену.</a:t>
            </a:r>
          </a:p>
          <a:p>
            <a:r>
              <a:t/>
            </a:r>
          </a:p>
          <a:p>
            <a:r>
              <a:t>**Источники.** </a:t>
            </a:r>
            <a:r>
              <a:rPr u="sng">
                <a:solidFill>
                  <a:srgbClr val="065A82"/>
                </a:solidFill>
                <a:hlinkClick r:id="rId3"/>
              </a:rPr>
              <a:t>трёхрукое рандомизированное испытание, препринт medRxiv 2025.07.10.25331333</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и на схеме она стоит отдельной третьей строкой именно поэтому.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 Инженеру тут стоит задержаться: эта стоимость не попадает ни в одно сравнение времени заметки, потому что её платит другое подразделение.</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 И это ровно тот случай, когда честный ответ «инструмент помог» и честный ответ «время не сэкономил» — оба верны одновременно.</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и они направлены в противоположные стороны.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 Значит у вопроса «сколько даёт инструмент» нет одного ответа без указания дня замера, и поставщик, называющий одно число, называет свой любимый день.</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a:t>
            </a:r>
          </a:p>
          <a:p>
            <a:r>
              <a:t/>
            </a:r>
          </a:p>
          <a:p>
            <a:r>
              <a:t>Прочитаю схему построчно, потому что в ней вся мысль кадра. Верхняя строка — как было: набрать текст, подписать. Два шага, оба делает врач. Средняя — как стало: поговорить, получить черновик, вычитать, подписать. Четыре шага, все четыре тоже делает врач. Уже отсюда видно, что операций стало больше, а не меньше, — хотя одна из них, набор, исчезла.</a:t>
            </a:r>
          </a:p>
          <a:p>
            <a:r>
              <a:t/>
            </a:r>
          </a:p>
          <a:p>
            <a:r>
              <a:t>Третья строка стоит отдельно, и она тут самая важная. Выборочный контроль заметок делает не врач. Это новое подразделение с новым штатом, и в сравнениях времени заметки его работа не учитывается вовсе — потому что считают время врача, а платит за контроль организация. Инженеру стоит унести это как правило: когда операция переезжает из одних рук в другие, экономия считается по первым рукам, а расход появляется у вторых, и в одном отчёте эти две величины почти никогда не встречаются.</a:t>
            </a:r>
          </a:p>
          <a:p>
            <a:r>
              <a:t/>
            </a:r>
          </a:p>
          <a:p>
            <a:r>
              <a:t>Пара «дало — потребовало — в сумме» читается по плашкам слева направо. Дало: заметка раньше, усталость ниже. Потребовало: вычитку каждого черновика и службу со штатом. В сумме: набор сократился, правка та же. Ни одна из трёх плашек не отменяет двух других, и честный ответ на вопрос «помог ли инструмент» состоит из всех трёх сразу.</a:t>
            </a:r>
          </a:p>
          <a:p>
            <a:r>
              <a:t/>
            </a:r>
          </a:p>
          <a:p>
            <a:r>
              <a:t>Две формы словаря названы здесь по именам. «Нагрузка переехала на другой шаг» — про набор и вычитку. «Шаг появился» — про выборочный контроль. Третьей формы, «исполнитель тот же, но стал хуже», в этом разборе нет, и выдумывать её я не буду: качество вычитки до внедрения и после никто не измерял.</a:t>
            </a:r>
          </a:p>
          <a:p>
            <a:r>
              <a:t/>
            </a:r>
          </a:p>
          <a:p>
            <a:r>
              <a:t>**Источники.** </a:t>
            </a:r>
            <a:r>
              <a:rPr u="sng">
                <a:solidFill>
                  <a:srgbClr val="065A82"/>
                </a:solidFill>
                <a:hlinkClick r:id="rId3"/>
              </a:rPr>
              <a:t>трёхрукое рандомизированное испытание, препринт medRxiv 2025.07.10.25331333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разбор раздела — тот же инструмент на другом документе, и документ этот тяжелее: по выписному эпикризу назначают лечение в другом месте.</a:t>
            </a:r>
          </a:p>
          <a:p>
            <a:r>
              <a:t/>
            </a:r>
          </a:p>
          <a:p>
            <a:r>
              <a:t>Классические режимы назову прежде измеренного. Из четырёх режимов стадии на этом документе работают два. Врач пишет эпикриз сам — этот режим посчитан, и он база всех сравнений работы. Черновик ординатора под подпись лечащего — назван и не посчитан: слепое сравнение брало документ лечащего врача, а не ординатора, и подставить сюда число из другой работы нельзя. Двух остальных режимов стадии здесь нет: живой писец пишет запись приёма, не эпикриз, а перенос прежней записи на итоговый документ госпитализации не переносится.</a:t>
            </a:r>
          </a:p>
          <a:p>
            <a:r>
              <a:t/>
            </a:r>
          </a:p>
          <a:p>
            <a:r>
              <a:t>Как измерено — это главное в разборе, и устройство замера стоит произнести медленно. Сто госпитализаций длиной от трёх до шести дней. Двадцать два лечащих врача-рецензента. Каждый документ смотрели двое независимо, и ни один из рецензентов не знал, где машинный текст, а где человеческий. Слепота здесь не формальность: самоотчёт врачей, которые сами выбрали инструмент, — другой разряд свидетельства, и на нём держится большая часть восторженных публикаций про эту стадию.</a:t>
            </a:r>
          </a:p>
          <a:p>
            <a:r>
              <a:t/>
            </a:r>
          </a:p>
          <a:p>
            <a:r>
              <a:t>Теперь числа. Общее качество сопоставимо: 3,67 у врачей против 3,77 у модели — у модели чуть выше. Документ модели короче и связнее. И при этом он менее полон: полнота 4,13 у человека против 3,72 у модели. Уникальных ошибок на документ 1,82 у человека против 2,91 у модели — ошибок у модели больше. А потенциал вреда одной ошибки 1,34 против 1,35 по шкале от нуля до семи: обе оценки низкие и между собой не различаются.</a:t>
            </a:r>
          </a:p>
          <a:p>
            <a:r>
              <a:t/>
            </a:r>
          </a:p>
          <a:p>
            <a:r>
              <a:t>Прочитать эту четвёрку чисел надо целиком, иначе выйдет любая из двух неправд. Сказать «модель пишет лучше» можно, опираясь на общее качество. Сказать «модель пишет опасно» можно, опираясь на счёт ошибок. Верно же третье: документ модели готов раньше, читается легче, содержит меньше нужного и больше лишнего, и ни одна отдельная его ошибка не страшнее человеческой.</a:t>
            </a:r>
          </a:p>
          <a:p>
            <a:r>
              <a:t/>
            </a:r>
          </a:p>
          <a:p>
            <a:r>
              <a:t>Как это устроено: вход — история болезни и дневниковые записи госпитализации, выход — черновик повествовательной части документа. Ни имени модели, ни состава обучающих данных работа не называет, и это я говорю вслух как ограничение публикации — а не умалчиваю, чтобы разбор выглядел полнее.</a:t>
            </a:r>
          </a:p>
          <a:p>
            <a:r>
              <a:t/>
            </a:r>
          </a:p>
          <a:p>
            <a:r>
              <a:t>И то, что переехало. Шаги и исполнители на кадре те же: собрали, вычитали, подписали. Сместилась цена ошибки. Пишет документ один человек, а стоит пропущенная строка другого — того, кто будет назначать по этому документу через месяц в другом учреждении. Это и есть форма словаря, названная здесь по имени, и она самая неприятная из всех: никто из участников не чувствует ухудшения, потому что ухудшение наступает не у него.</a:t>
            </a:r>
          </a:p>
          <a:p>
            <a:r>
              <a:t/>
            </a:r>
          </a:p>
          <a:p>
            <a:r>
              <a:t>Зачем нужна слепота замера, стоит сказать отдельно. Почти вся восторженная литература про эту стадию держится на самоотчётах врачей, которые сами выбрали инструмент и сами оценили результат. Такой отчёт измеряет удовлетворённость выбором, а не качество документа. Здесь устройство другое: документы обезличены, рецензент не знает, какой из них машинный, и каждый документ смотрят двое независимо. Это дороже и медленнее, и именно поэтому таких работ мало.</a:t>
            </a:r>
          </a:p>
          <a:p>
            <a:r>
              <a:t/>
            </a:r>
          </a:p>
          <a:p>
            <a:r>
              <a:t>Отдельно про то, чего работа не говорит, — и это надо произнести, а не обойти. Ни имени модели, ни состава её обучающих данных публикация не называет. Значит повторить замер на своём документе нельзя, и перенести результат на другой продукт того же режима тоже нельзя: мы видели на предыдущем разборе, что два продукта одного режима дали разный результат при одном дизайне испытания.</a:t>
            </a:r>
          </a:p>
          <a:p>
            <a:r>
              <a:t/>
            </a:r>
          </a:p>
          <a:p>
            <a:r>
              <a:t>И последнее, что уходит дальше по пути. Документ собран, вычитан и подписан. Подпись стоит человеческая, а основание решения пришло извне — из текста, который человек не писал. Что эта подпись значит и кто проверяет, что подписавший способен возразить машине, — следующий раздел целиком.</a:t>
            </a:r>
          </a:p>
          <a:p>
            <a:r>
              <a:t/>
            </a:r>
          </a:p>
          <a:p>
            <a:r>
              <a:t>**Источники.** </a:t>
            </a:r>
            <a:r>
              <a:rPr u="sng">
                <a:solidFill>
                  <a:srgbClr val="065A82"/>
                </a:solidFill>
                <a:hlinkClick r:id="rId3"/>
              </a:rPr>
              <a:t>слепое сравнение ста госпитализаций, JAMA Internal Medicine 2025, DOI 10.1001/jamainternmed.2025.0821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 — ни в ординатуре, ни на курсах повышения квалификации, ни инструкцией к самому инструменту.</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Единицу тут надо держать твёрдо, и плашка её называет: пятьдесят семь из ста — это доля ВЫПИСОК, а не доля выданных сводок. Сводок было втрое больше, чем выписок, и если взять их знаменателем, то же событие даст семнадцать из ста. Одно и то же наблюдение, два законных числа, разные знаменатели — и оба можно напечатать, не соврав.</a:t>
            </a:r>
          </a:p>
          <a:p>
            <a:r>
              <a:t/>
            </a:r>
          </a:p>
          <a:p>
            <a:r>
              <a:t>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Теперь про тройку, и это самая переносимая часть раздела. 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a:p>
            <a:r>
              <a:t/>
            </a:r>
          </a:p>
          <a:p>
            <a:r>
              <a:t>Практический вывод для инженера звучит одинаково в любой отрасли, и он стоит на кадре отдельной строкой.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 последнее, про третий источник. Одноцентровое сравнение «до и после» в реабилитационном отделении опубликовано в журнале с авторским взносом и минимальным рецензированием. Я его называю, а не прячу: разряд свидетельства у него низкий, и выводы на нём одном не строятся — но проверить тройку он помог ровно так же, как две сильные работы.</a:t>
            </a:r>
          </a:p>
          <a:p>
            <a:r>
              <a:t/>
            </a:r>
          </a:p>
          <a:p>
            <a:r>
              <a:t>Про конфликт интересов скажу вслух, хотя на кадре его теперь нет. Он раскрыт в самих публикациях: часть авторов работает в компании-производителе модели либо имеет на неё патент. Раскрытый конфликт не делает работу негодной — он делает её работой, которую читают внимательнее, и прежде всего смотрят, кто выбирал, что считать успехом. Нераскрытый конфликт хуже раскрытого именно этим: его нельзя учесть при чтении.</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одноцентровое сравнение, Cureus 2026 — журнал с авторским взносом и минимальным рецензированием</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который отвечает этот кадр, задан был прямо: где системы — в том числе наши, — которые прямо по ходу приёма, из речи, выдают не заметку, а рекомендацию или диагноз. Ответ короткий: за рубежом такой класс есть, в России его нет, и ни у кого в мире точность самого предложения независимо не измерена.</a:t>
            </a:r>
          </a:p>
          <a:p>
            <a:r>
              <a:t/>
            </a:r>
          </a:p>
          <a:p>
            <a:r>
              <a:t>Сначала про то, почему этот кадр стоит здесь и не притворяется частью стадии. Шесть действий стадии записи, которые мы считали двумя кадрами раньше, такую систему не содержат ни одним пунктом. Вход у неё на ведении записи: она слушает живой приём. А выход — на постановке диагноза, то есть в разделе, который лекция уже закрыла. Это шов между двумя стадиями, и называть его надо швом. Инструмент, который не ложится в разбивку по стадиям, — не исключение из правила и не недочёт разбивки: это обычное дело, когда средство идёт поперёк того, как работа была устроена до него, и единственная честная реакция — сказать, между чем и чем он встал.</a:t>
            </a:r>
          </a:p>
          <a:p>
            <a:r>
              <a:t/>
            </a:r>
          </a:p>
          <a:p>
            <a:r>
              <a:t>Теперь главное, ради чего кадр и стоит в лекции про подпись. Британский регулятор в июле две тысячи двадцать шестого года провёл границу медицинского изделия ровно по тому месту, вокруг которого построена вся эта лекция, — по подписи. Транскрипция разговора, пересказ, черновик письма, предложение кода под проверку врача — это документация, изделием продукт от этого не становится. А вот предложение диагноза или лечения — становится, и становится даже тогда, когда предложение идёт под обязательную проверку врача. Вчитайтесь в это второй раз: проверка врачом не делает категорию мягче. Регулятор говорит, что подписываемое врачом предложение диагноза — это изделие, которое надо регистрировать, со всем, что за регистрацией следует.</a:t>
            </a:r>
          </a:p>
          <a:p>
            <a:r>
              <a:t/>
            </a:r>
          </a:p>
          <a:p>
            <a:r>
              <a:t>Для инженера здесь переносимый урок, и он не про медицину. Граница ответственности прошла не по технологии — модель в обоих случаях одна и та же, — а по тому, что именно продукт кладёт человеку под подпись. Код под подпись и диагноз под подпись различает не устройство системы, а цена ошибки за ней. Это ровно то, что лекция повторяет весь вечер: класс модели ничего не решает, решает процедура вокруг человека.</a:t>
            </a:r>
          </a:p>
          <a:p>
            <a:r>
              <a:t/>
            </a:r>
          </a:p>
          <a:p>
            <a:r>
              <a:t>Про отдельную оговорку, которой нет ни в одном источнике, а произнести её надо. Единственная отечественная система, близкая к предмету вопроса, — московская ТОП-3, она предлагает три предварительных диагноза и зарегистрирована как медицинское изделие. Два обстоятельства. Первое: жалобы в неё врач набирает руками, голосового входа у неё нет, то есть к вопросу «по надиктовке» она отношения не имеет. Второе важнее. Её публичное число — сорок шесть процентов при одном предложенном диагнозе и шестьдесят восемь при выборе из трёх — это доля случаев, когда врач **согласился** с подсказкой. Согласие и точность — разные величины, и разница тут не академическая: если врач и модель ошибаются одинаково, согласие будет высоким, а оба будут неправы. Метрика этого не покажет вовсе. Проверенного эталона, против которого считалась бы точность, в публикациях нет; есть совпадение двух мнений, одно из которых эта же система и формировала.</a:t>
            </a:r>
          </a:p>
          <a:p>
            <a:r>
              <a:t/>
            </a:r>
          </a:p>
          <a:p>
            <a:r>
              <a:t>И счёт, который стоит плашками. Шестнадцать зарубежных систем проверено поимённо; четырнадцать из них заявляют, что выдают сверх заметки — коды, назначения, подсказки, предположительный диагноз. Разрешений регулятора именно на выдачу клинического предложения из речи нет ни у одной. Независимых рецензируемых замеров точности этого предложения — ноль; то, что выдают за замеры, меряет другое: у одной системы испытание считает биллинговые коды как следствие лучшей заметки, у двух других — время, потраченное на заметку, и это то самое испытание на двухстах тридцати восьми врачах, которое уже разобрано в этом разделе. Отечественных имён с голосовым входом проверено тринадцать, и систем класса «речь сразу в клиническое предложение» среди них нет ни одной: голос у нас даёт только текст, а диагноз предлагается по тексту карты, который врач набрал руками. Две линии существуют и не соединены.</a:t>
            </a:r>
          </a:p>
          <a:p>
            <a:r>
              <a:t/>
            </a:r>
          </a:p>
          <a:p>
            <a:r>
              <a:t>Что из этого следует практически. Если вам показывают систему, которая слушает приём и выдаёт предположение, первый вопрос не про точность, а про то, что она кладёт под подпись и зарегистрирована ли она для этого. Второй — чем измерена: согласием с врачом или точностью против проверенного диагноза. Разница между этими двумя вопросами и есть разница между документацией и медицинским изделием.</a:t>
            </a:r>
          </a:p>
          <a:p>
            <a:r>
              <a:t/>
            </a:r>
          </a:p>
          <a:p>
            <a:r>
              <a:t>**Источники.** </a:t>
            </a:r>
            <a:r>
              <a:rPr u="sng">
                <a:solidFill>
                  <a:srgbClr val="065A82"/>
                </a:solidFill>
                <a:hlinkClick r:id="rId3"/>
              </a:rPr>
              <a:t>Британская рамка по системам фоновой записи речи, 29 июля 2026, §5.1–5.2</a:t>
            </a:r>
            <a:r>
              <a:t> · </a:t>
            </a:r>
            <a:r>
              <a:rPr u="sng">
                <a:solidFill>
                  <a:srgbClr val="065A82"/>
                </a:solidFill>
                <a:hlinkClick r:id="rId4"/>
              </a:rPr>
              <a:t>ТОП-3, страница изготовителя</a:t>
            </a:r>
            <a:r>
              <a:t> — числа 46 % и 68 % опубликованы сообщением Правительства Москвы 14 июля 2021 года.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стадии я подаю одним числом, а не двумя колонками, и это сознательный сбой ритма: восемь однотипных сводов подряд зал начинает предсказывать, а это число предсказать нельзя.</a:t>
            </a:r>
          </a:p>
          <a:p>
            <a:r>
              <a:t/>
            </a:r>
          </a:p>
          <a:p>
            <a:r>
              <a:t>И счёт стадии, чтобы он сошёлся с тем, что я называл по ходу: классических режимов письма было четыре, посчитаны из них два и в разных единицах — письмо врача в минутах на заметку, перенос прежней записи в доле текста карты. Из шести действий стадии модель заняла два и одно убрала. Девять с половиной процентов — это про первый из четырёх режимов и ни про какой другой.</a:t>
            </a:r>
          </a:p>
          <a:p>
            <a:r>
              <a:t/>
            </a:r>
          </a:p>
          <a:p>
            <a:r>
              <a:t>Девять с половиной процентов — вся измеренная экономия стадии. Не «до тридцати процентов», как говорят на конференциях, не пятнадцать тысяч часов, как сообщила система здравоохранения: девять с половиной процентов времени в заметке, в рандомизированном испытании, у одного инструмента из двух. У второго, того же режима и того же дизайна испытания, экономии нет вовсе — и это первое, что надо сказать вслед за числом, иначе число прочтётся как свойство режима.</a:t>
            </a:r>
          </a:p>
          <a:p>
            <a:r>
              <a:t/>
            </a:r>
          </a:p>
          <a:p>
            <a:r>
              <a:t>Активное время правки не сдвинулось ни у одного из двух. Заметка готова к концу приёма, а не к концу дня, и структуру документа больше не надо держать в голове при живом человеке — это настоящий выигрыш, измеренный в другой величине, чем та, в которой его продают.</a:t>
            </a:r>
          </a:p>
          <a:p>
            <a:r>
              <a:t/>
            </a:r>
          </a:p>
          <a:p>
            <a:r>
              <a:t>Что стало с работой. Нагрузка переехала с набора текста на вычитку чужого — форма словаря называется и здесь подходит буквально. Появился шаг: выборочный контроль заметок, у которого есть собственный штат. И сместилась цена ошибки: опечатка видна, правдоподобная подробность не видна никак.</a:t>
            </a:r>
          </a:p>
          <a:p>
            <a:r>
              <a:t/>
            </a:r>
          </a:p>
          <a:p>
            <a:r>
              <a:t>Про заявленную экономию. Пятнадцать тысяч семьсот девяносто один час на шестьдесят три тысячи приёмов — без раскрытой методики счёта. Подтвердить нельзя, опровергнуть нельзя; четверть часа на приём не укладывается в четыре минуты работы над заметкой, значит считали другую величину. Такое число не ставят рядом с измеренными — оно другого разряда.</a:t>
            </a:r>
          </a:p>
          <a:p>
            <a:r>
              <a:t/>
            </a:r>
          </a:p>
          <a:p>
            <a:r>
              <a:t>Полнее человека документ не пишет, и это измерено слепым сравнением: полнота 3,72 против 4,13, уникальных ошибок 2,91 против 1,82. При этом потенциал вреда одной ошибки одинаков. Документ выходит быстрее, читается легче и содержит меньше нужного.</a:t>
            </a:r>
          </a:p>
          <a:p>
            <a:r>
              <a:t/>
            </a:r>
          </a:p>
          <a:p>
            <a:r>
              <a:t>Что это держит. Вычитка и подпись врача — больше ничего, и это важно: никакого технического механизма проверки здесь не появилось. А рядом — названное прямо: вычитке другого рода, той, где ищут связное утверждение без основания в карте, никто не учит. Процедура опирается на навык, которого нет в программе подготовки.</a:t>
            </a:r>
          </a:p>
          <a:p>
            <a:r>
              <a:t/>
            </a:r>
          </a:p>
          <a:p>
            <a:r>
              <a:t>Тип задачи назову здесь: это генерация на тексте — на входе речь приёма и поля карты, на выходе черновик записи. В этом разряде работает черновик под вычитку, и попадает он в те самые восемнадцать процентов знаков, которые врач набирает руками. Решение, что попадёт в документ, и проверка, что попавшее там действительно было, машине не передаются.</a:t>
            </a:r>
          </a:p>
          <a:p>
            <a:r>
              <a:t/>
            </a:r>
          </a:p>
          <a:p>
            <a:r>
              <a:t>Дальше по этому документу назначают — и когда что-то произойдёт, разбирать будут подпись. Это и есть мост в следующий раздел: он про саму подпись, про то, что она значит и кто проверяет, что подписавший способен возразить машине.</a:t>
            </a:r>
          </a:p>
          <a:p>
            <a:r>
              <a:t/>
            </a:r>
          </a:p>
          <a:p>
            <a:r>
              <a:t>И одно замечание про саму форму этого кадра, потому что оно переносимое. Все прочие своды лекции устроены четырьмя шапками: что получается, что не получается, что стало с работой, что это держит. Здесь вместо них одно число, набранное крупно. Сделано это не для разнообразия: когда одна и та же форма повторяется шесть раз, зал начинает предсказывать экран и перестаёт читать. Сбой ритма возвращает внимание ровно в той точке, где у раздела есть одно число, которое стоит запомнить вместо всего остального.</a:t>
            </a:r>
          </a:p>
          <a:p>
            <a:r>
              <a:t/>
            </a:r>
          </a:p>
          <a:p>
            <a:r>
              <a:t>Почему именно девять с половиной процентов, а не любое другое число раздела. Это единственная величина, полученная настоящей рандомизацией: три равные группы, случайное распределение, контроль. Все остальные числа раздела либо наблюдательные, либо заявленные, либо измеренные в другой величине. Когда в следующий раз услышите про эту стадию число в десятки процентов, первым вопросом будет не «откуда», а «был ли контроль».</a:t>
            </a:r>
          </a:p>
          <a:p>
            <a:r>
              <a:t/>
            </a:r>
          </a:p>
          <a:p>
            <a:r>
              <a:t>И чего в этом выводе сознательно нет. Нет вывода «инструмент не нужен»: он снял настоящую нагрузку, и это измерено по шкалам самочувствия. Нет и вывода «инструмент работает»: активное время правки не сдвинулось, документ стал менее полон. Раздел кончается тем, что обе эти вещи верны одновременно, и выбирать между ними придётся тому, кто подписывает.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 в разделе один, и разбор у него полный: доля обнаружения, измеренная у тех же врачей до появления помощника и после периода работы с ним, — единственное прямое свидетельство того, что навык расходуется, если инструмент исключить из работы. Плоскость «чего про доверие не измерено» и чертёж с пустыми осями стояли здесь отдельными кадрами и сняты владельцем; сказать, что доверие не измерено, всё равно стоит — но голосом, на своде раздела, а не кадром. Новые роли и шаги, появившиеся, когда часть решения стала доверяться модели, собраны в своде вместе с остальным.</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устроена иначе всех прежних, и различение надо поставить первым. Все предыдущие разделы мерили работу: поток тревог, документ, снимок, процедуру вокруг подписи. Здесь предмет замера — сам исполнитель, и вопрос к нему один: держится ли он в форме. Инженер привык считать квалификацию выданной: диплом получен, допуск оформлен, сертификат на руках. В медицине она устроена иначе, и это несущее для всего раздела: врачебный навык — расходуемое.</a:t>
            </a:r>
          </a:p>
          <a:p>
            <a:r>
              <a:t/>
            </a:r>
          </a:p>
          <a:p>
            <a:r>
              <a:t>Теперь о том, какие данные о человеке на этой стадии получают и чем. Способов шесть, и они дают разное.</a:t>
            </a:r>
          </a:p>
          <a:p>
            <a:r>
              <a:t/>
            </a:r>
          </a:p>
          <a:p>
            <a:r>
              <a:t>Счёт процедур за год берётся из журнала выполненных работ: навык ручной процедуры поддерживается её выполнением, и снаружи это проверяется одной величиной — сколько раз человек её выполнил. Минимальное число в год назначают профессиональные общества, и ниже него специалист считается выпавшим из формы.</a:t>
            </a:r>
          </a:p>
          <a:p>
            <a:r>
              <a:t/>
            </a:r>
          </a:p>
          <a:p>
            <a:r>
              <a:t>Доля обнаружения считается из обычных протоколов, без всякого отдельного испытания, — и это редкое свойство: профессия получает проверку состояния отдельного исполнителя прямо из его повседневной работы, не устраивая ему экзамена. Устроена доля хитро. Это доля процедур, в которых врач нашёл хотя бы одно предраковое образование, от всех его процедур скрининга, и получить её старанием, волей или аккуратностью в описании нельзя: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а не отчётность о нём.</a:t>
            </a:r>
          </a:p>
          <a:p>
            <a:r>
              <a:t/>
            </a:r>
          </a:p>
          <a:p>
            <a:r>
              <a:t>Время выведения прибора засекается таймером: осмотр делается при выведении эндоскопа, чем медленнее выводят, тем больше успевают увидеть, а нижнюю границу назначили рекомендации. Аккредитационная проверка идёт от организации, которая за эту деятельность отвечает: допуск привязан к рабочему месту и к процедуре. Экзамен и накопленная учёба собираются к повторной сертификации. И разбор случая приходит после исхода — он же меняет порядок работы, если расхождение повторяется.</a:t>
            </a:r>
          </a:p>
          <a:p>
            <a:r>
              <a:t/>
            </a:r>
          </a:p>
          <a:p>
            <a:r>
              <a:t>Какое решение стадия принимает. Допускать · сузить допуск до части процедур · приостановить · не продлить. За этим решением стоит всё, что было раньше: человек либо продолжает решать на прежних стадиях — звать на обследование, читать измерение, ставить диагноз, подписывать, — либо нет. И это единственная стадия вечера, у которой решение принимается не о пациенте.</a:t>
            </a:r>
          </a:p>
          <a:p>
            <a:r>
              <a:t/>
            </a:r>
          </a:p>
          <a:p>
            <a:r>
              <a:t>И почему стадия идёт поперёк цикла, а не шагом внутри него. Прошлый раздел кончился подписью, за которой может не стоять ничего: цена ошибки переезжает на того, кто её не подписывал. Здесь та же мысль поворачивается на человека целиком. Тот, кто подписывает, — единственный, кого за вечер не измерил ни один замер: работу мерили всю лекцию, а того, кто внутри этой работы остаётся решающим звеном, не мерил никто. Поставить это шагом в ряд с отбором, диагностикой и наблюдением нельзя: шаг работы такого замера не показывает вовсе, и выстроить девять стадий в один ряд значило бы сделать вид, что они однородны.</a:t>
            </a:r>
          </a:p>
          <a:p>
            <a:r>
              <a:t/>
            </a:r>
          </a:p>
          <a:p>
            <a:r>
              <a:t>Одна оговорка про порядок, которую стоит произнести здесь же. Стадия стоит в вечере последней из содержательных не потому, что она менее важна, а потому, что измерить износ человека можно только после того, как показано, чем он был занят и чем его удерживали. Поставь её раньше — и мерить будет нечего.</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Восемь действий стадии, с кадра они сняты в эту заметку и называются вслух по порядку: подготовить пациента · ввести прибор до слепой кишки · осматривать при выведении · заглянуть за складку · снять найденное · отправить на гистологию · записать протокол · посчитать показатели самого врача. Семь первых делает человек руками, восьмое профессия делает за него по опубликованным рекомендациям — и это единственное место стадии, где форму конкретного врача меряет кто-то, кроме него самого.</a:t>
            </a:r>
          </a:p>
          <a:p>
            <a:r>
              <a:t/>
            </a:r>
          </a:p>
          <a:p>
            <a:r>
              <a:t>Два показателя, которыми эта внешняя проверка устроена, стоит назвать отдельно, потому что устроены они по-разному. Доля обнаружения — доля процедур, в которых найдено хотя бы одно образование; величина эта снимается с потока и стараться её поднять напрямую нельзя: она либо есть в работе, либо её нет. Время выведения прибора — величина дисциплинарная: нижняя граница ей назначена рекомендациями, и соблюдение проверяется по таймеру. Первая меряет результат, вторая — поведение, и подменять одну другой нельзя, хотя на практике подменяют: время держать проще.</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это решение принимают без всякой модели. Три опоры, работающие одновременно, и ни одна не спрашивает самого человека.</a:t>
            </a:r>
          </a:p>
          <a:p>
            <a:r>
              <a:t/>
            </a:r>
          </a:p>
          <a:p>
            <a:r>
              <a:t>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выдаётся организацией, которая за эту деятельность отвечает, и привязан к рабочему месту и к процедуре — его можно сузить, приостановить, не продлить. Повторная сертификация: квалификация подтверждается периодически, и подтверждение предполагает и накопленную учёбу, и накопленную практику, потому что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обращается к нему самому. Профессия не спрашивает врача, в форме ли он: она считает за него, долей обнаружения и временем выведения прибора.</a:t>
            </a:r>
          </a:p>
          <a:p>
            <a:r>
              <a:t/>
            </a:r>
          </a:p>
          <a:p>
            <a:r>
              <a:t>Теперь картина, ради которой этот кадр стоит отдельно. Врач вернулся после года без процедур: административная должность, долгая болезнь, отпуск по уходу за ребёнком, перевод в другое отделение. Диплом тот же, сертификат действующий, допуск не отзывали — отзывать его было не за что. Первая процедура идёт иначе. Прибор продвигается медленнее. Рука дольше ищет угол, под которым проходится изгиб. Складку, за которую надо заглянуть, врач проходит мимо.</a:t>
            </a:r>
          </a:p>
          <a:p>
            <a:r>
              <a:t/>
            </a:r>
          </a:p>
          <a:p>
            <a:r>
              <a:t>И вот то, ради чего картина здесь стоит: он сам этого не знает.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Отсюда и устройство трёх опор: самочувствие специалиста — негодный прибор для измерения его формы.</a:t>
            </a:r>
          </a:p>
          <a:p>
            <a:r>
              <a:t/>
            </a:r>
          </a:p>
          <a:p>
            <a:r>
              <a:t>Залу картина знакома с другой стороны. Навык, которым год не пользовались, теряется — это знает каждый, кто возвращался к языку или к предметной области после перерыва. Различие в одном. В инженерной работе о потере навыка сообщает ближайшая сборка, тест или обзор кода, в тот же день; здесь ближайший прибор, которым о ней узнают, — следующий визит того же пациента, через годы и к другому врачу.</a:t>
            </a:r>
          </a:p>
          <a:p>
            <a:r>
              <a:t/>
            </a:r>
          </a:p>
          <a:p>
            <a:r>
              <a:t>Теперь о самом поле работы, чтобы видеть, во что вмешивается модель. Осмотр складывается из восьми действий. Подготовить пациента. Ввести прибор до слепой кишки. Осматривать при выведении. Заглянуть за складку. Снять найденное. Отправить на гистологию. Записать протокол. Посчитать показатели самого врача. Семь первых делает человек руками; восьмое делает за него профессия, по опубликованным рекомендациям, и сам он в этом счёте не участвует.</a:t>
            </a:r>
          </a:p>
          <a:p>
            <a:r>
              <a:t/>
            </a:r>
          </a:p>
          <a:p>
            <a:r>
              <a:t>Из этих восьми обученная модель заняла одно — осмотр при выведении, где на участке изображения в реальном времени появляется рамка. И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a:t>
            </a:r>
          </a:p>
          <a:p>
            <a:r>
              <a:t/>
            </a:r>
          </a:p>
          <a:p>
            <a:r>
              <a:t>И три места, где модель не работает, названы именами того, чего нет. Поддержать навык она не может — измерено прямо обратное, и это разбор следующего кадра. Показать врачу, чего он не увидел бы без подсветки, внутри процедуры нечем.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Вопрос раздела залу задаётся кадром раньше, на замере формы: у кого есть внешняя числовая проверка собственной формы и кто её считает — он сам, руководитель или заказчик. Второй вопрос за тот же раздел не задаётся: прежде на разборе стоял свой, про рабочий день без помощника, и кругом диеты он снят вместе со свёрткой пары. Два вопроса подряд зал читает как риторику и не отвечает ни на один.</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 —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a:p>
            <a:r>
              <a:t/>
            </a:r>
          </a:p>
          <a:p>
            <a:r>
              <a:t>Устройство обоих классических режимов, снятое с плашек в эту заметку. Дисциплина осмотра: рандомизированное испытание на 1 027 пациентах, и подняли там не старание, а время — нижнюю границу выведения прибора удлинили с шести минут до девяти, после чего доля находок пошла с 27,1 до 36,6 из ста. Второй наблюдатель: сводный разбор трёх рандомизированных испытаний, 1 676 пациентов, 39,3 против 45,7 — и авторы свода сами называют высокий риск систематической ошибки у всех включённых работ, то есть число это слабее первого по разряду свидетельства. Базы у двух режимов разные, 27,1 и 39,3, поэтому приросты между собой не сравниваются: сравнивается каждый со своей базой. Цена ложной тревоги считается в осложнениях и повторных визитах, цена пропуска — в болезни, найденной между обследованиями; обе назначены до всякой точности.</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Два окна по три месяца, помощник внедрён между ними. В основное сравнение вошли 1 443 процедуры без помощника: 795 в раннем окне и 648 в позднем. Это не ординаторы и не новички, и в этом половина силы наблюдения: просело у людей, которые два десятка лет свою форму держали.</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интервале от минус 10,5 до минус 1,6 и значимости 0,0089. В многофакторной модели работа рядом с помощником даёт отношение шансов 0,69 при интервале от 0,53 до 0,89; возраст пациента от шестидесяти лет даёт в той же модели 3,60 — то есть предсказывает выявляемость заметно сильнее.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Оговорка про знаменатель, снятая с кадра, — без неё число 795 читается не тем, чем является. В раннем окне помощника в центрах ещё не было, поэтому 795 означает одновременно «процедур без помощника» и «процедур всего» — две разные величины, совпавшие по обстоятельствам. В позднем окне они расходятся: без помощника 648, всего 1 382. Сравнение 226 на 795 против 145 на 648 сделано честно, по одной графе, а рост общей нагрузки идёт рядом третьим числом и сам объясняет часть падения не хуже, чем износ навыка. Авторы этого не разводят, и именно сюда бьют три письма в редакцию.</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Устройство помощника: вход — поток кадров во время процедуры, выход — рамка на подозрительном участке, выведенная в ту же секунду. Система в исследовании одна, и имени её публикация не называет; на чём обучены системы этого класса, производители не публикуют. Имена у режима есть и проверяемы: обнаружение образований в реальном времени делают GI Genius от Medtronic, CAD EYE от Fujifilm и ENDO-AID CADe от Olympus; в сводных сетевых сравнениях разница между системами мала, и это важнее имён.</a:t>
            </a:r>
          </a:p>
          <a:p>
            <a:r>
              <a:t/>
            </a:r>
          </a:p>
          <a:p>
            <a:r>
              <a:t>Теперь пара, ради которой прежде стоял отдельный кадр. Дало: с включённым помощником врачи находят больше, и прирост доли обнаружения в рандомизированных испытаниях измерен и повторён многократно. Потребовало: умения искать самому. Расход виден за три месяца и у врачей со средним стажем двадцать восемь лет; речь о натренированном навыке, который поддерживается объёмом выполнения, — старательность здесь ни при чём, и падение шло ровно по центрам, а не у отдельных врачей. 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То есть измерено не только падение, но и средство против него, и средство это — устройство доступа, а не количество практики. Повторением клинической находки это не является: другая работа, другие люди, другая задача. Совпадение знака — довод в пользу того, что механизм общий, и не довод в пользу того, что величина переносится.</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 2025;10(11):e12, и три письма с ответом авторов, 2025;10(12):1060–1062</a:t>
            </a:r>
            <a:r>
              <a:t> · </a:t>
            </a:r>
            <a:r>
              <a:rPr u="sng">
                <a:solidFill>
                  <a:srgbClr val="065A82"/>
                </a:solidFill>
                <a:hlinkClick r:id="rId5"/>
              </a:rPr>
              <a:t>Bastani и соавт., PNAS 2025</a:t>
            </a:r>
            <a:r>
              <a:t> · основная работа: 2025;10(10):896–903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честно названное пустое место: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Про карту задачи и данных здесь не говорим: она идёт следующим кадром, счётом, и там же названо то, чему ячейки не находится вовсе.</a:t>
            </a:r>
          </a:p>
          <a:p>
            <a:r>
              <a:t/>
            </a:r>
          </a:p>
          <a:p>
            <a:r>
              <a:t>Две строки свода сняты с кадра в эту заметку, и обе произносятся, потому что каждая несёт оговорку, которой на экране не видно. Первая: доверие к модели выше у тех, кто работает с ней руками, — точечные оценки в эту сторону есть, значимости нет ни у одной, и вывода из них делать нельзя. Вторая: продольного измерения для тех, кто учился сразу с помощником и другой работы не знал, не существует вовсе — то есть самый интересный для курса случай не измерен никем.</a:t>
            </a:r>
          </a:p>
          <a:p>
            <a:r>
              <a:t/>
            </a:r>
          </a:p>
          <a:p>
            <a:r>
              <a:t>Про смену структуры защиты от ошибки, свёрнутую на кадре в одну строку. Рутинная перепроверка каждого случая и целевой арбитраж расхождения — это не одно и то же дешевле, а разные устройства защиты: первая ловит ошибку равномерно и дёшево на единицу, второй ловит только там, где две стороны разошлись, и каждый разбор дороже чтения. Переход от первой ко второму меняет не объём работы, а то, какие ошибки вообще попадают в поле зрения проверки.</a:t>
            </a:r>
          </a:p>
          <a:p>
            <a:r>
              <a:t/>
            </a:r>
          </a:p>
          <a:p>
            <a:r>
              <a:t>Снятое со свода в эту заметку. Из «что получается» ушла третья строка: рутинная перепроверка снята, человеческого чтения ниже на 44,3 процента — число это стоит на своём разборе в разделе отбора и здесь было третьим повторением. Из «что это держит» ушёл хвост «из обычной работы»: оба показателя снимаются с потока процедур, а не с отдельного зачёта, и это надо сказать вслух, потому что в этом вся их сила. Произносится это целиком: врача без помощника не меряет ни одна процедура ни в одной юрисдикции — не «меряет плохо», а не меряет вовсе.</a:t>
            </a:r>
          </a:p>
          <a:p>
            <a:r>
              <a:t/>
            </a:r>
          </a:p>
          <a:p>
            <a:r>
              <a:t>И переход к «Сборке», снятый с кадра: дальше идут девять форм словаря целиком, счёт приписок, накопительная карта и поимённый ответ на вопрос, с которого вечер начался.</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этого раздела читается счётом, а не ячейками, и причина в самом разделе: ни одной ячейки он окну не прибавил.</a:t>
            </a:r>
          </a:p>
          <a:p>
            <a:r>
              <a:t/>
            </a:r>
          </a:p>
          <a:p>
            <a:r>
              <a:t>Двенадцать показанных ячеек — это четыре строки задач на три вида данных. За четыре раздела занято четыре ячейки, и те же четыре стояли уже два раздела назад. Восемь ячеек пусты с раздела об анализе данных, и читать надо именно их: пустая ячейка говорит, что инструмент такого класса на этих местах искать незачем, и экономит время, которое ушло бы на поиск.</a:t>
            </a:r>
          </a:p>
          <a:p>
            <a:r>
              <a:t/>
            </a:r>
          </a:p>
          <a:p>
            <a:r>
              <a:t>Почему этот раздел ничего не прибавил. Не потому, что про него мало известно, а потому, что его предмет лежит вне клинической раскладки. Разбор раздела — падение доли обнаружения у тех же врачей после отключения помощника — снят на потоке кадров во время процедуры, то есть на видео. Столбца «видео» в окне нет: окно собрано под то, что лекция разбирает в клинике, где читают снимок, текст и карту. Дописать таблице четвёртый столбец было бы проще всего, и именно поэтому так делать нельзя: окно, в которое дописывают столбец под каждый новый случай, перестаёт что-либо отсеивать — под такую сетку подойдёт любой случай.</a:t>
            </a:r>
          </a:p>
          <a:p>
            <a:r>
              <a:t/>
            </a:r>
          </a:p>
          <a:p>
            <a:r>
              <a:t>Следующий раздел, о разработке лекарства, встанет вне окна по своей причине: там производят вещество, и это генерация на структуре. Два разных ответа, одно следствие: окно, собранное под одну отрасль, на соседние не растягивается, и растягивать его молча значит соврать о его границах.</a:t>
            </a:r>
          </a:p>
          <a:p>
            <a:r>
              <a:t/>
            </a:r>
          </a:p>
          <a:p>
            <a:r>
              <a:t>Рядом с ячейкой этого раздела в сетке стоит распознавание на снимке в режиме второго читателя — ячейку занимали разделы об отборе, о чтении исследований и об удержании. Разница между двумя режимами лежит в последствиях, и для этого раздела она несущая: у прибора, который подсвечивает находку, человек остаётся на месте и продолжает решать; со второго места человека снимают вовсе. Навык расходуется в первом случае — там, где человек формально остался и работу продолжает делать он.</a:t>
            </a:r>
          </a:p>
          <a:p>
            <a:r>
              <a:t/>
            </a:r>
          </a:p>
          <a:p>
            <a:r>
              <a:t>И пустота, которая лежит вне ячеек. Доверие к выводу модели, его калибровка, готовность человека работать без инструмента — всё это ячейки «задача × вид данных» не получают, потому что режима работы там нет. Сетка описывает инструменты; предмет этой плоскости — то, чего про человека не измерено, и сеткой он не описывается ни одной ячейкой. Писать туда что-нибудь, чтобы строка не пустовала, нельзя: получится карта, на которой у всего есть место, а это неправда.</a:t>
            </a:r>
          </a:p>
          <a:p>
            <a:r>
              <a:t/>
            </a:r>
          </a:p>
          <a:p>
            <a:r>
              <a:t>Сводный счёт всей карты — сколько ячеек занято, сколько пусто и чем каждую из них удерживают — здесь не читается. Он стоит в сборке, куда собираются все разделы разом, и там у него есть то, чего здесь нет: полный набор процедур, с которыми занятые ячейки можно сравнить между собой.</a:t>
            </a:r>
          </a:p>
          <a:p>
            <a:r>
              <a:t/>
            </a:r>
          </a:p>
          <a:p>
            <a:r>
              <a:t>И одно замечание про направление, которого в ячейках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Ячейка остаётся той же, а предмет решения меняется — и это тот случай, когда карта обязана дополняться словами. Отсюда и правило чтения любой такой сетки: имя ячейки говорит, чем инструмент занят, и ничего не говорит ни о том, что он делает с рукой работающего, ни о том, чем его держат.</a:t>
            </a:r>
          </a:p>
          <a:p>
            <a:r>
              <a:t/>
            </a:r>
          </a:p>
          <a:p>
            <a:r>
              <a:t>Почему столбец «видео» в окно не дописывается, хотя ячейка раздела лежит именно там. Окно курсовой сетки собрано под клинику, где читают снимок, текст и карту показателей. Дописать в него столбец посреди вечера значит сделать сетку такой, под которую подойдёт любой случай. Честнее сказать: этот раздел лежит вне окна, и назвать, где именно.</a:t>
            </a:r>
          </a:p>
          <a:p>
            <a:r>
              <a:t/>
            </a:r>
          </a:p>
          <a:p>
            <a:r>
              <a:t>Про два режима и их последствия. Подсветка на видео и второй читатель на снимке — это один класс инструмента в двух режимах, и разница между ними не в точности, а в том, что остаётся человеку. У подсветки человек остаётся на месте и решает сам, с подсветкой или без; со второго читательского места его снимают совсем. Навык расходуется там, где он формально остался, — и в этом весь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стояла в начале вечера именами, а здесь возвращается со счётом под каждой строкой.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ячейки «задача × модальность» узнаваемы по прошлой лекции, а процедуры, которыми в них удерживают цену ошибки, у каждой ячейки свои — и одна строка в этой сетке остаётся пустой. Разряд свидетельства назван там, где он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a:p>
            <a:r>
              <a:t/>
            </a:r>
          </a:p>
          <a:p>
            <a:r>
              <a:t>Порядок четырёх сводов здесь несущий, и его стоит объявить вслух, потому что прошлый круг раздела шёл подряд пятью сводами и зал переставал смотреть с третьего. Первый отвечает, что сделалось с работой: девять форм словаря, именами они стояли в начале вечера, здесь под каждой стоит счёт. Второй отвечает, чей это результат: сколько раз выигрыш принадлежал не модели, а порогу, протоколу, новой роли или объёму — и отдельной графой, сколько раз число выросло по дороге от первоисточника к пересказу. Третий отвечает, где всё это лежит на сетке курса и чем в каждой ячейке удерживают цену ошибки. Четвёртый отвечает на вопрос, с которого лекция началась, и ответ там поимённый: четыре ступени, на каждой своё дело человека и свой разряд свидетельства.</a:t>
            </a:r>
          </a:p>
          <a:p>
            <a:r>
              <a:t/>
            </a:r>
          </a:p>
          <a:p>
            <a:r>
              <a:t>Таблица «что меняется в человеке и в подписи», стоявшая здесь пятым сводом, снята: она отвечала на вопрос четвёртого свода теми же числами. Что из неё произносится — в заметках к ответу на вопрос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Исполнитель тот же, но стал хуже — две опоры, и обе прозвучали. Первая по порядку разговора: хирурги с подсказкой модели на септическом шоке, 0,712 против 0,820 без подсказки. Вторая, единственная снятая на реальной работе: падение доли обнаружения в процедурах без помощника у тех же девятнадцати врачей, с 28,4 до 22,4 процента, минус шесть процентных пунктов.</a:t>
            </a:r>
          </a:p>
          <a:p>
            <a:r>
              <a:t/>
            </a:r>
          </a:p>
          <a:p>
            <a:r>
              <a:t>Теперь про две формы без счёта,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взамен появился шаг — решать, нужно ли этому исследованию второе чтение.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a:p>
            <a:r>
              <a:t/>
            </a:r>
          </a:p>
          <a:p>
            <a:r>
              <a:t>**Источники — по формам, которые несут счёт.** Форма 1, воронка молекул и ноль одобрений регулятора: </a:t>
            </a:r>
            <a:r>
              <a:rPr u="sng">
                <a:solidFill>
                  <a:srgbClr val="065A82"/>
                </a:solidFill>
                <a:hlinkClick r:id="rId3"/>
              </a:rPr>
              <a:t>BIO, QLS и Informa, Clinical Development Success Rates 2011–2020</a:t>
            </a:r>
            <a:r>
              <a:t>. Форма 3, объём арбитража плюс 53 процента и разбор расхождения в минутах труда: </a:t>
            </a:r>
            <a:r>
              <a:rPr u="sng">
                <a:solidFill>
                  <a:srgbClr val="065A82"/>
                </a:solidFill>
                <a:hlinkClick r:id="rId4"/>
              </a:rPr>
              <a:t>Hovda, Holen, Hofvind, European Radiology 2026</a:t>
            </a:r>
            <a:r>
              <a:t>. Форма 4, тревога часто и подтверждается редко: </a:t>
            </a:r>
            <a:r>
              <a:rPr u="sng">
                <a:solidFill>
                  <a:srgbClr val="065A82"/>
                </a:solidFill>
                <a:hlinkClick r:id="rId5"/>
              </a:rPr>
              <a:t>Wong, Otles и соавт., JAMA Internal Medicine 2021, с эрратой того же журнала</a:t>
            </a:r>
            <a:r>
              <a:t>. Форма 4а, две реализации с обратными знаками: </a:t>
            </a:r>
            <a:r>
              <a:rPr u="sng">
                <a:solidFill>
                  <a:srgbClr val="065A82"/>
                </a:solidFill>
                <a:hlinkClick r:id="rId6"/>
              </a:rPr>
              <a:t>Taib и соавт., Radiology 2026</a:t>
            </a:r>
            <a:r>
              <a:t> и </a:t>
            </a:r>
            <a:r>
              <a:rPr u="sng">
                <a:solidFill>
                  <a:srgbClr val="065A82"/>
                </a:solidFill>
                <a:hlinkClick r:id="rId7"/>
              </a:rPr>
              <a:t>Gommers и соавт., Radiology 2025</a:t>
            </a:r>
            <a:r>
              <a:t>. Форма 5, объём человеческого чтения ниже на 44,3 процента: </a:t>
            </a:r>
            <a:r>
              <a:rPr u="sng">
                <a:solidFill>
                  <a:srgbClr val="065A82"/>
                </a:solidFill>
                <a:hlinkClick r:id="rId8"/>
              </a:rPr>
              <a:t>анализ безопасности MASAI, Lancet Oncology 2023</a:t>
            </a:r>
            <a:r>
              <a:t>. Форма 7, вмешаться способны 56 радиологических изделий из 717, срез июнь 2024 года: </a:t>
            </a:r>
            <a:r>
              <a:rPr u="sng">
                <a:solidFill>
                  <a:srgbClr val="065A82"/>
                </a:solidFill>
                <a:hlinkClick r:id="rId9"/>
              </a:rPr>
              <a:t>обзор документации регуляторов, JAMA Network Open 2025;8(11):e2542338</a:t>
            </a:r>
            <a:r>
              <a:t>. Форма 8, обе опоры: </a:t>
            </a:r>
            <a:r>
              <a:rPr u="sng">
                <a:solidFill>
                  <a:srgbClr val="065A82"/>
                </a:solidFill>
                <a:hlinkClick r:id="rId10"/>
              </a:rPr>
              <a:t>Budzyń и соавт., Lancet Gastroenterology &amp; Hepatology 2025</a:t>
            </a:r>
            <a:r>
              <a:t> по колоноскопии и </a:t>
            </a:r>
            <a:r>
              <a:rPr u="sng">
                <a:solidFill>
                  <a:srgbClr val="065A82"/>
                </a:solidFill>
                <a:hlinkClick r:id="rId11"/>
              </a:rPr>
              <a:t>модель против чутья хирурга, Journal of Trauma 2023</a:t>
            </a:r>
            <a:r>
              <a:t> по септическому шоку. Формы 2 и 6 источника не имеют по существу: у первой случая не встретилось, у второй счёта нет, и сказано это на кадре прямо.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Двенадцать показанных ячеек — окно курсовой сетки из сорока двух: четыре строки задач на три вида данных.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ячеек пересчитываются глазами за несколько секунд, сорок две — нет.</a:t>
            </a:r>
          </a:p>
          <a:p>
            <a:r>
              <a:t/>
            </a:r>
          </a:p>
          <a:p>
            <a:r>
              <a:t>Главное читается прямо с таблицы, и это не занятые ячейки. Заняты четыре. **Восемь пусты, и за четыре раздела в них не зашёл никто** — ни одна стадия медицины, ни один разбор лекции.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пустых ячеек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ячеек и есть ответ на вопрос, зачем курс держит сетку. Инструменты четырёх разделов уложились в четыре ячейки. Классификация на изображении занята дважды — первичным скринингом и слитым разделом исследования и диагноза. Распознавание на изображении дважды — теми же двумя. Поиск с генерацией на тексте трижды, с документами. Прогноз на структурированных данных — одним разделом, исследованием и диагнозом, куда переехал разбор модели сепсиса. Класс модели разделы не различает; различают их цена промаха и процедура вокруг человека.</a:t>
            </a:r>
          </a:p>
          <a:p>
            <a:r>
              <a:t/>
            </a:r>
          </a:p>
          <a:p>
            <a:r>
              <a:t>Два места встали вне окна, и назвать их надо словами, потому что в сетке их нет.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ячейке удерживают цену ошибки, и здесь сетка перестаёт быть узнаваемой. Процедуры у четырёх ячеек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ячеек читалась бы как «на всё есть процедура», и это была бы неправда.</a:t>
            </a:r>
          </a:p>
          <a:p>
            <a:r>
              <a:t/>
            </a:r>
          </a:p>
          <a:p>
            <a:r>
              <a:t>Про ячейку «прогноз на структурированных данных». Населена она не потому, что прогноз в медицине удаётся лучше прочего, а потому, что структурированные данные там уже собраны кем-то до модели: выписанные назначения, показатели у койки, реестры испытаний. Модель приходит туда, где цифры уже лежат, и это наблюдение переносится за пределы медицины почти без правок.</a:t>
            </a:r>
          </a:p>
          <a:p>
            <a:r>
              <a:t/>
            </a:r>
          </a:p>
          <a:p>
            <a:r>
              <a:t>Про пустые ячейки говорить надо так же прямо, как про занятые: в восемь из двенадцати за четыре раздела не зашёл никто, и это не пробел нашего отбора. Там либо инструмента такого класса в клинике нет вовсе, либо он есть, но цену ошибки в нём никто не удерживает процедурой — а раз процедуры нет, то и разбирать нечего. Честная пустая ячейка здесь лучше выдуманной занятой.</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ведомость отвечает на другой вопрос, чем словарь форм двумя кадрами раньше. Словарь говорит, куда переехала работа. Ведомость говорит, что стало с тем, кто её делает, и чем именно каждая строка держится. И она — единственное место вечера, где четыре адреса оси названы вместе: на входе это было обещанием, здесь под каждым словом стоит измерение с названным разрядом.</a:t>
            </a:r>
          </a:p>
          <a:p>
            <a:r>
              <a:t/>
            </a:r>
          </a:p>
          <a:p>
            <a:r>
              <a:t>Внимание.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и это надо произносить вслух. Верное решение меняется на неверное под влиянием совета — систематический обзор. Обе величины про то, куда смотрит человек, а не про то, что он думает.</a:t>
            </a:r>
          </a:p>
          <a:p>
            <a:r>
              <a:t/>
            </a:r>
          </a:p>
          <a:p>
            <a:r>
              <a:t>Навык. Техника падает в работе без помощника после привыкания: с 28,4 до 22,4 процента доли обнаружения, у тех же девятнадцати врачей, наблюдательное исследование, повторения нет ни одного. Разряд называю прямо: причинности эта работа не доказывает, и авторы её не утверждают.</a:t>
            </a:r>
          </a:p>
          <a:p>
            <a:r>
              <a:t/>
            </a:r>
          </a:p>
          <a:p>
            <a:r>
              <a:t>Подпись. Норма требует человека финальным звеном, и проверено это редко — обзор поданной регуляторам документации, 56 изделий из 717. Стандарт надзора сформулирован как способность вмешаться, а не как присутствие; формулировка не требует, чтобы человек смотрел каждое решение. Третье измерение этой строки объясняет, почему первые два держатся так прочно: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 Разряд — рандомизированное предрегистрированное испытание на заданиях: оценивается разумность поведения, а не исход настоящего иска. Читать строку надо так: подпись дорога не потому, что её трудно поставить, а потому, что отказ от неё дороже.</a:t>
            </a:r>
          </a:p>
          <a:p>
            <a:r>
              <a:t/>
            </a:r>
          </a:p>
          <a:p>
            <a:r>
              <a:t>Арбитраж. Роль второго проверяющего переходит от человека к модели — рандомизированное испытание программы скрининга. Рядом вторая величина того же адреса: доля отклоняемых тревог предельно высока, и разбор этих отклонений — рабочее время живого человека, которого до инструмента в расписании не было. Это разбор модели сепсиса, переехавший в раздел исследования и диагноза вместе со снятым разделом наблюдения, — то есть один раздел платит здесь дважды.</a:t>
            </a:r>
          </a:p>
          <a:p>
            <a:r>
              <a:t/>
            </a:r>
          </a:p>
          <a:p>
            <a:r>
              <a:t>Плоскость, которой в четырёх адресах нет вовсе,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 Строка эта мерит отдельное, и своего адреса в четвёрке у неё нет; называю это прямо, чтобы ведомость не выглядела полной там, где она неполна.</a:t>
            </a:r>
          </a:p>
          <a:p>
            <a:r>
              <a:t/>
            </a:r>
          </a:p>
          <a:p>
            <a:r>
              <a:t>И последняя строка, без которой ведомость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переворачивается в зависимости от того, какая сторона сильнее на задаче, и оба интервала лежат целиком по одну сторону нуля. У строки есть направление и нет величины: долей взаимного перекрытия ошибок не измерено. Такие числа в обороте есть, но сверку по первоисточнику они не прошли, и подставить их значило бы сделать ровно то, за что лекция разбирает поставщиков. Вопрос о повторении у этой строки закрыт её собственным устройством: свод собран из независимых повторений.</a:t>
            </a:r>
          </a:p>
          <a:p>
            <a:r>
              <a:t/>
            </a:r>
          </a:p>
          <a:p>
            <a:r>
              <a:t>Чего в ведомости нет и почему это сказано на соседнем кадре, а не здесь: ни один разбор ядра не доходит до исхода пациента. Повторять это дважды подряд не надо — строка стоит в своде четырёх ступеней, и там она на месте.</a:t>
            </a:r>
          </a:p>
          <a:p>
            <a:r>
              <a:t/>
            </a:r>
          </a:p>
          <a:p>
            <a:r>
              <a:t>Значимости по ведомости произносятся здесь, на экране их нет: просмотренная площадь снимка сузилась с 11,1 до 9,5 процента при p равном 0,004, а падение медианной чувствительности с 71 до 39 из ста — 32 пункта — при p равном 0,002. Оба числа из лабораторного замера взгляда; у падения доли обнаружения в разделе о навыке своей значимости в работе не приведено, и выдавать её за измеренную нельзя.</a:t>
            </a:r>
          </a:p>
          <a:p>
            <a:r>
              <a:t/>
            </a:r>
          </a:p>
          <a:p>
            <a:r>
              <a:t>**Источники.** Адреса измерений — на разборах соответствующих разделов; тома, страницы и адреса работ стоят в подвалах тех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ступень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Проверить её можно одним вопросом к своему контуру: что происходит с тем, чего фильтр не показал, и кто это считает.</a:t>
            </a:r>
          </a:p>
          <a:p>
            <a:r>
              <a:t/>
            </a:r>
          </a:p>
          <a:p>
            <a:r>
              <a:t>Рядом с четвёртой ступенью стоит отдельное свидетельство другого предмета и другого знаменателя — перепись допущенных изделий: способность человека вмешаться проверена у 56 радиологических изделий из 717, срез июнь 2024 года. Четвёртая ступень, таким образом, не вырождение от небрежности, а дешёвый ход в заданном порядке разбора: не согласиться и ошибиться дороже, чем подписать.</a:t>
            </a:r>
          </a:p>
          <a:p>
            <a:r>
              <a:t/>
            </a:r>
          </a:p>
          <a:p>
            <a:r>
              <a:t>И одно следствие, которое стоит произнести прежде итоговой фразы.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a:t>
            </a:r>
          </a:p>
          <a:p>
            <a:r>
              <a:t/>
            </a:r>
          </a:p>
          <a:p>
            <a:r>
              <a:t>Четыре ступени описывают процедуру, а не автономию: новой лестницы здесь не вводится, сводная таблица лестниц стоит в финальной лекции.</a:t>
            </a:r>
          </a:p>
          <a:p>
            <a:r>
              <a:t/>
            </a:r>
          </a:p>
          <a:p>
            <a:r>
              <a:t>Про разряд свидетельства у четвёртой ступени, сжатый на плашке до «медиана; замер вне медицины». Медиана времени над подсказкой до её принятия — около двух секунд, и снята она на программистах с ассистентом кода, то есть вне медицины; перенос назван переносом и за клиническое измерение не выдаётся. Первая ступень, для сравнения, стоит на рандомизированном испытании программы скрининга с 80 033 женщинами. Разряд падает ровно по мере того, как участие формальнее.</a:t>
            </a:r>
          </a:p>
          <a:p>
            <a:r>
              <a:t/>
            </a:r>
          </a:p>
          <a:p>
            <a:r>
              <a:t>Этот кадр принял на себя работу снятой таблицы «что меняется в человеке и в подписи»: она отвечала на тот же вопрос пятью строками, которые здесь стоят четырьмя ступенями, и повторяла их теми же числами. Что из неё надо произнести, идёт ниже.</a:t>
            </a:r>
          </a:p>
          <a:p>
            <a:r>
              <a:t/>
            </a:r>
          </a:p>
          <a:p>
            <a:r>
              <a:t>Четвёрка адресов платежа, объявленная в начале вечера, возвращается здесь измерениями. Внимание и навык — это поведение: зрительный поиск сужается при неверной подсказке (замер взгляда, воспроизведено по направлению, в другой специальности прочтение обратное), верное решение меняется на неверное под влиянием совета (обзор), техника падает без помощника (28,4 → 22,4 процента, повторения нет), тревоги отклоняют массово. Арбитраж — это процесс: роль второго проверяющего переходит к модели, рандомизированное испытание скрининга. Подпись стоит своим именем: норма требует человека финальным звеном, проверено у 56 радиологических изделий из 717.</a:t>
            </a:r>
          </a:p>
          <a:p>
            <a:r>
              <a:t/>
            </a:r>
          </a:p>
          <a:p>
            <a:r>
              <a:t>Отдельная плоскость, которой в четырёх адресах нет,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a:t>
            </a:r>
          </a:p>
          <a:p>
            <a:r>
              <a:t/>
            </a:r>
          </a:p>
          <a:p>
            <a:r>
              <a:t>Строка, без которой весь счёт врёт в одну сторону: разная структура ошибок человека и модели даёт выигрыш пары. Сводный замер на 106 опытах, знак эффекта пары переворачивается в зависимости от того, какая сторона сильнее на задаче, оба интервала лежат целиком по одну сторону нуля. У строки есть направление и нет величины: долей взаимного перекрытия ошибок не измерено — такие числа существуют, но сверку по первоисточнику не прошли, и подставить их значило бы сделать ровно то, за что лекция разбирает поставщиков. Вопрос о повторении у этой строки закрыт её устройством: свод собран из независимых повторений.</a:t>
            </a:r>
          </a:p>
          <a:p>
            <a:r>
              <a:t/>
            </a:r>
          </a:p>
          <a:p>
            <a:r>
              <a:t>Про четвёртую ступень подробнее, потому что на кадре она сжата в одну строку. Медиана времени над подсказкой до принятия — около двух секунд, и принятое без предварительной проверки правится потом в 53 процентах случаев против 18; замер вне медицины, на программистах с ассистентом кода, и перенос назван переносом. Почему ступень самая частая, объясняет третье свидетельство: врача, принявшего подсказку в пользу стандартного лечения, при разборе случая оценивают как более разумного, чем отвергнувшего её, — так оценивают и присяжные, и двести сорок восемь немецких врачей, то есть та сторона, которую порядок и назначает разбирать; при нестандартной рекомендации разницы нет.</a:t>
            </a:r>
          </a:p>
          <a:p>
            <a:r>
              <a:t/>
            </a:r>
          </a:p>
          <a:p>
            <a:r>
              <a:t>Отсюда следствие, которое произносится прежде итоговой фразы. Если самая частая ступень — та, где подпись есть, а чтения нет, и если отказ от согласия обходится дороже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Четвёртая ступень не чья-то вина: она следствие устройства процедуры и переделывается процедурой. Если у подтверждения нет времени в расписании, подпись стоит, а чтения нет.</a:t>
            </a:r>
          </a:p>
          <a:p>
            <a:r>
              <a:t/>
            </a:r>
          </a:p>
          <a:p>
            <a:r>
              <a:t>Про последнюю строку кадра. Ни один разбор ядра не доходит до исхода пациента. Измерено поведение — куда смотрит глаз, что подписывает человек, сколько находок он делает без помощника. Что из этого случилось с больным, не проверил никто. Это не упрёк исследователям: такой замер стоит лет. Но разряд своего замера лекция требует называть вслух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вовсе.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 Спрашивают при этом именно с него, и это не то же самое, что «он важнее».</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a:p>
            <a:r>
              <a:t/>
            </a:r>
          </a:p>
          <a:p>
            <a:r>
              <a:t>Про срез по изделиям, сжатый на плашке. Пятьдесят шесть из семисот семнадцати — это радиологические изделия, допущенные к обращению, срез июнь 2024 года; проверена у них способность человека вмешаться, а не наличие человека рядом. И про вторую опору: механизм «ошибается иначе» подтверждён направлением на 106 опытах, а величины — доли взаимного перекрытия ошибок человека и модели — не измерено ни одной. Требовать базу у чужих чисел и не называть её у своей опоры нельзя, поэтому пробел назван той же строкой.</a:t>
            </a:r>
          </a:p>
          <a:p>
            <a:r>
              <a:t/>
            </a:r>
          </a:p>
          <a:p>
            <a:r>
              <a:t>Три основания, снятые с кадра до строки каждое, произносятся полностью.</a:t>
            </a:r>
          </a:p>
          <a:p>
            <a:r>
              <a:t/>
            </a:r>
          </a:p>
          <a:p>
            <a:r>
              <a:t>Ошибается иначе. Направление подтверждено на 106 опытах: знак выигрыша пары зависит от того, какая сторона сильнее на задаче, и оба интервала лежат целиком по одну сторону нуля. Величины у опоры нет — долей взаимного перекрытия ошибок человека и модели не измерено, — и сказать это надо той же строкой, которой лекция весь вечер требовала базу у чужих чисел. Требовать базу у поставщика и умалчивать её у своей опоры нельзя.</a:t>
            </a:r>
          </a:p>
          <a:p>
            <a:r>
              <a:t/>
            </a:r>
          </a:p>
          <a:p>
            <a:r>
              <a:t>Отменить нельзя. Операцию не отменить задним числом, год наблюдения не переиграть, процедуры, проведённые упавшей рукой, уже проведены. Это и отличает медицинское решение от того, что обсуждается в следующей лекции.</a:t>
            </a:r>
          </a:p>
          <a:p>
            <a:r>
              <a:t/>
            </a:r>
          </a:p>
          <a:p>
            <a:r>
              <a:t>И про саму норму: она сформулирована как способность вмешаться, а не как присутствие, и смотреть каждое решение она не требует. Присутствие человека рядом с контуром её не исполняет — именно поэтому «у нас человек в контуре» само по себе не говорит ничего, пока не названа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Счёт, который это подтверждал, стоял в разделе надзора и снят вместе с ним; здесь остаётся сама проверяемая половина — отзывают именно изделие с обученной моделью внутри, и запись о таком отзыве лежит на кадре.</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пусто, и это было объявлено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a:p>
            <a:r>
              <a:t/>
            </a:r>
          </a:p>
          <a:p>
            <a:r>
              <a:t>Числа этого замера на кадре больше нет: разбор надзора, который его считал и разводил его знаменатели, снят вместе со своим разделом. Если захочется произнести долю вслух — она была долей СОБЫТИЙ отзыва, а не долей изделий, и путать их нельзя; но предъявить её кадром сейчас нечем, и выдавать за показанное не надо.</a:t>
            </a:r>
          </a:p>
          <a:p>
            <a:r>
              <a:t/>
            </a:r>
          </a:p>
          <a:p>
            <a:r>
              <a:t>«В медицине всё необратимо» — утверждение шире любого замера, и проверять его надо так же, как чужие. Отзыв существует как процедура, и запись регулятора о нём стоит прямо на кадре: устройство из обращения вывести можно. Необратимо другое — решения, принятые по этому устройству за год его работы. Они вместе с ним не отзываются, их никто не пересматривает, и человека, которому по ним что-то сделали, об отзыве обычно не извещают.</a:t>
            </a:r>
          </a:p>
          <a:p>
            <a:r>
              <a:t/>
            </a:r>
          </a:p>
          <a:p>
            <a:r>
              <a:t>Поэтому вопрос к своему контуру ставится именно так: что в нём отзывается, а что остаётся. Отозвать можно изделие и партию; отменить нельзя решение, принятое до отзыва, и уже проведённую процедуру.</a:t>
            </a:r>
          </a:p>
          <a:p>
            <a:r>
              <a:t/>
            </a:r>
          </a:p>
          <a:p>
            <a:r>
              <a:t>И переход к следующей лекции. Дальше идёт отрасль, где ошибку почти всегда можно отменить: откатить версию, переписать код, вернуть данные из резервной копии. Спор там идёт о принадлежности результата — кто автор, чей труд, чьи права, — а цена ошибки в нём почти не звучит. Сопоставление это стоит произнести прямо: не «там проще», а «там другая несимметричность, и она делает другие вещи дорогими».</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радиологических изделий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a:p>
            <a:r>
              <a:t/>
            </a:r>
          </a:p>
          <a:p>
            <a:r>
              <a:t>Эти три проверки не про медицину, и произносить их надо именно так: любая из них прикладывается к контуру в банке, на производстве и в разработке программ — везде, где вывод модели читает человек и подписывается под результатом.</a:t>
            </a:r>
          </a:p>
          <a:p>
            <a:r>
              <a:t/>
            </a:r>
          </a:p>
          <a:p>
            <a:r>
              <a:t>Первая проверка — про независимый источник истины. Объяснение модели источником истины не является: оно порождено тем же механизмом, что и сам вывод, и согласуется с ним по построению. Независимым будет другой прибор, другой анализ, другой человек или сам предмет. Контур, в котором проверить вывод можно только объяснением к нему, замкнут сам на себя.</a:t>
            </a:r>
          </a:p>
          <a:p>
            <a:r>
              <a:t/>
            </a:r>
          </a:p>
          <a:p>
            <a:r>
              <a:t>Вторая — про две считаемые доли. Как часто человек возражает и как часто он возражает верно. Если не измерена ни одна, то «человек проверяет» не отличается от «человек подписывает» никаким наблюдаемым признаком, и спорить тут не о чем.</a:t>
            </a:r>
          </a:p>
          <a:p>
            <a:r>
              <a:t/>
            </a:r>
          </a:p>
          <a:p>
            <a:r>
              <a:t>Третья — про физику времени. Секунды на решение против объёма, который надо прочитать. Медиана проверки подсказки — около двух секунд, и принятое без предварительной проверки правится потом в 53 процентах случаев против 18. Если у подтверждения нет времени в расписании, подпись будет, а чтения не будет, и никакая инструкция этого не изменит.</a:t>
            </a:r>
          </a:p>
          <a:p>
            <a:r>
              <a:t/>
            </a:r>
          </a:p>
          <a:p>
            <a:r>
              <a:t>Вопрос залу задать и дождаться ответа: какую одну проверку вы бы сделали обязательной до включения модели в свой контур. Ответ называется за несколько секунд, и он почти всегда оказывается одной из этих трёх.</a:t>
            </a:r>
          </a:p>
          <a:p>
            <a:r>
              <a:t/>
            </a:r>
          </a:p>
          <a:p>
            <a:r>
              <a:t>**Иллюстрация.** Двое читают серию снимков с рабочей станции — </a:t>
            </a:r>
            <a:r>
              <a:rPr u="sng">
                <a:solidFill>
                  <a:srgbClr val="065A82"/>
                </a:solidFill>
                <a:hlinkClick r:id="rId3"/>
              </a:rPr>
              <a:t>Викисклад</a:t>
            </a:r>
            <a:r>
              <a:t>, The Medical Futurist, 2017, </a:t>
            </a:r>
            <a:r>
              <a:rPr u="sng">
                <a:solidFill>
                  <a:srgbClr val="065A82"/>
                </a:solidFill>
                <a:hlinkClick r:id="rId4"/>
              </a:rPr>
              <a:t>CC BY 4.0</a:t>
            </a:r>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doi.org/10.1001/jamanetworkopen.2024.40969"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38/s41591-024-03408-6"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467-023-44676-z" TargetMode="External"/><Relationship Id="rId3" Type="http://schemas.openxmlformats.org/officeDocument/2006/relationships/hyperlink" Target="https://www.accessdata.fda.gov/cdrh_docs/pdf18/DEN180001.pdf"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038/s42256-021-00307-0"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doi.org/10.1145/3313831.3376718"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hyperlink" Target="https://doi.org/10.1136/bmjqs-2013-002627"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hyperlink" Target="https://doi.org/10.1148/radiol.243688"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hyperlink" Target="https://doi.org/10.1148/radiol.242566" TargetMode="Externa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2457/" TargetMode="External"/><Relationship Id="rId3" Type="http://schemas.openxmlformats.org/officeDocument/2006/relationships/hyperlink" Target="https://arxiv.org/abs/2102.09692" TargetMode="External"/><Relationship Id="rId4" Type="http://schemas.openxmlformats.org/officeDocument/2006/relationships/hyperlink" Target="https://doi.org/10.1038/s41591-024-02850-w" TargetMode="Externa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hyperlink" Target="https://doi.org/10.1038/s41746-026-02545-1" TargetMode="Externa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6.0181" TargetMode="Externa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1.35286" TargetMode="Externa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17.1548"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2.33348" TargetMode="External"/><Relationship Id="rId3" Type="http://schemas.openxmlformats.org/officeDocument/2006/relationships/hyperlink" Target="https://doi.org/10.4338/ACI-2016-09-R-0150"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gov.uk/government/publications/ambient-voice-technology-enabled-products/ambient-voice-technology-enabled-products" TargetMode="External"/><Relationship Id="rId3" Type="http://schemas.openxmlformats.org/officeDocument/2006/relationships/hyperlink" Target="https://sbermed.ai/our-algorithms/top-3" TargetMode="Externa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doi.org/10.1016/j.gie.2014.07.058"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pmc.ncbi.nlm.nih.gov/articles/PMC12852673/" TargetMode="External"/><Relationship Id="rId4" Type="http://schemas.openxmlformats.org/officeDocument/2006/relationships/hyperlink" Target="https://doi.org/10.1016/j.cgh.2020.11.019" TargetMode="External"/><Relationship Id="rId5" Type="http://schemas.openxmlformats.org/officeDocument/2006/relationships/hyperlink" Target="https://doi.org/10.1007/s00384-023-04585-5" TargetMode="Externa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Решение о человеке: кто смотрит, кто подписывает, кто платит</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Сегодня чей-то снимок прочтут раньше, чем на него посмотрит человек.</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Цикл оказания помощи: девять стадий и решение каждой</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Первичный скрининг и отбор на обследование</a:t>
            </a:r>
          </a:p>
          <a:p>
            <a:pPr algn="ctr">
              <a:lnSpc>
                <a:spcPct val="112000"/>
              </a:lnSpc>
            </a:pPr>
            <a:r>
              <a:rPr sz="1350" b="0" i="0">
                <a:solidFill>
                  <a:srgbClr val="21295C"/>
                </a:solidFill>
                <a:latin typeface="Arial"/>
              </a:rPr>
              <a:t>звать ли смотреть</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Инструментальная и лабораторная диагностика</a:t>
            </a:r>
          </a:p>
          <a:p>
            <a:pPr algn="ctr">
              <a:lnSpc>
                <a:spcPct val="112000"/>
              </a:lnSpc>
            </a:pPr>
            <a:r>
              <a:rPr sz="1350" b="0" i="0">
                <a:solidFill>
                  <a:srgbClr val="21295C"/>
                </a:solidFill>
                <a:latin typeface="Arial"/>
              </a:rPr>
              <a:t>что измерено</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Постановка диагноза</a:t>
            </a:r>
          </a:p>
          <a:p>
            <a:pPr algn="ctr">
              <a:lnSpc>
                <a:spcPct val="112000"/>
              </a:lnSpc>
            </a:pPr>
            <a:r>
              <a:rPr sz="1350" b="0" i="0">
                <a:solidFill>
                  <a:srgbClr val="21295C"/>
                </a:solidFill>
                <a:latin typeface="Arial"/>
              </a:rPr>
              <a:t>чем объясняется найденное</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Решили и лечат</a:t>
            </a:r>
          </a:p>
        </p:txBody>
      </p:sp>
      <p:sp>
        <p:nvSpPr>
          <p:cNvPr id="14" name="Rounded Rectangle 13"/>
          <p:cNvSpPr/>
          <p:nvPr/>
        </p:nvSpPr>
        <p:spPr>
          <a:xfrm>
            <a:off x="1920240"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Назначение терапии и подбор дозы</a:t>
            </a:r>
          </a:p>
          <a:p>
            <a:pPr algn="ctr">
              <a:lnSpc>
                <a:spcPct val="112000"/>
              </a:lnSpc>
            </a:pPr>
            <a:r>
              <a:rPr sz="1350" b="0" i="0">
                <a:solidFill>
                  <a:srgbClr val="21295C"/>
                </a:solidFill>
                <a:latin typeface="Arial"/>
              </a:rPr>
              <a:t>чем лечить и сколько</a:t>
            </a:r>
          </a:p>
        </p:txBody>
      </p:sp>
      <p:sp>
        <p:nvSpPr>
          <p:cNvPr id="16" name="Rounded Rectangle 15"/>
          <p:cNvSpPr/>
          <p:nvPr/>
        </p:nvSpPr>
        <p:spPr>
          <a:xfrm>
            <a:off x="6877659"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6959955"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Хирургическое вмешательство и интраоперационный мониторинг</a:t>
            </a:r>
          </a:p>
          <a:p>
            <a:pPr algn="ctr">
              <a:lnSpc>
                <a:spcPct val="112000"/>
              </a:lnSpc>
            </a:pPr>
            <a:r>
              <a:rPr sz="1350" b="0" i="0">
                <a:solidFill>
                  <a:srgbClr val="21295C"/>
                </a:solidFill>
                <a:latin typeface="Arial"/>
              </a:rPr>
              <a:t>оперировать ли и как</a:t>
            </a:r>
          </a:p>
        </p:txBody>
      </p:sp>
      <p:sp>
        <p:nvSpPr>
          <p:cNvPr id="18" name="TextBox 17"/>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9" name="Rounded Rectangle 18"/>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Динамическое наблюдение и клинические тревоги</a:t>
            </a:r>
          </a:p>
          <a:p>
            <a:pPr algn="ctr">
              <a:lnSpc>
                <a:spcPct val="112000"/>
              </a:lnSpc>
            </a:pPr>
            <a:r>
              <a:rPr sz="1350" b="0" i="0">
                <a:solidFill>
                  <a:srgbClr val="21295C"/>
                </a:solidFill>
                <a:latin typeface="Arial"/>
              </a:rPr>
              <a:t>сейчас или на обходе</a:t>
            </a:r>
          </a:p>
        </p:txBody>
      </p:sp>
      <p:sp>
        <p:nvSpPr>
          <p:cNvPr id="21" name="Right Arrow 20"/>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Ведение медицинской документации</a:t>
            </a:r>
          </a:p>
          <a:p>
            <a:pPr algn="ctr">
              <a:lnSpc>
                <a:spcPct val="112000"/>
              </a:lnSpc>
            </a:pPr>
            <a:r>
              <a:rPr sz="1350" b="0" i="0">
                <a:solidFill>
                  <a:srgbClr val="21295C"/>
                </a:solidFill>
                <a:latin typeface="Arial"/>
              </a:rPr>
              <a:t>что узнает следующий</a:t>
            </a:r>
          </a:p>
        </p:txBody>
      </p:sp>
      <p:sp>
        <p:nvSpPr>
          <p:cNvPr id="24" name="Rounded Rectangle 23"/>
          <p:cNvSpPr/>
          <p:nvPr/>
        </p:nvSpPr>
        <p:spPr>
          <a:xfrm>
            <a:off x="374904" y="4571144"/>
            <a:ext cx="11441887" cy="1665063"/>
          </a:xfrm>
          <a:prstGeom prst="roundRect">
            <a:avLst>
              <a:gd name="adj" fmla="val 183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62584"/>
            <a:ext cx="5373471" cy="157362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Вокруг всех стадий сразу — ещё две:</a:t>
            </a:r>
            <a:r>
              <a:rPr sz="1250" b="0" i="0">
                <a:solidFill>
                  <a:srgbClr val="21295C"/>
                </a:solidFill>
                <a:latin typeface="Arial"/>
              </a:rPr>
              <a:t> допуск, надзор и ответственность — кто отвечает; профессиональная квалификация — держится ли человек в форме. </a:t>
            </a:r>
            <a:r>
              <a:rPr sz="1250" b="1" i="0">
                <a:solidFill>
                  <a:srgbClr val="21295C"/>
                </a:solidFill>
                <a:latin typeface="Arial"/>
              </a:rPr>
              <a:t>До начала цикла:</a:t>
            </a:r>
            <a:r>
              <a:rPr sz="1250" b="0" i="0">
                <a:solidFill>
                  <a:srgbClr val="21295C"/>
                </a:solidFill>
                <a:latin typeface="Arial"/>
              </a:rPr>
              <a:t> разработка лекарств.</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Порядок первых стадий держат три опоры:</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Кого позвали.</a:t>
            </a:r>
            <a:r>
              <a:rPr sz="1250" b="0" i="0">
                <a:solidFill>
                  <a:srgbClr val="21295C"/>
                </a:solidFill>
                <a:latin typeface="Arial"/>
              </a:rPr>
              <a:t> Смотреть можно только того, кого позвали.</a:t>
            </a:r>
          </a:p>
        </p:txBody>
      </p:sp>
      <p:sp>
        <p:nvSpPr>
          <p:cNvPr id="26" name="TextBox 25"/>
          <p:cNvSpPr txBox="1"/>
          <p:nvPr/>
        </p:nvSpPr>
        <p:spPr>
          <a:xfrm>
            <a:off x="6278727" y="4662584"/>
            <a:ext cx="5373471" cy="157362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 какой группе считали.</a:t>
            </a:r>
            <a:r>
              <a:rPr sz="1250" b="0" i="0">
                <a:solidFill>
                  <a:srgbClr val="21295C"/>
                </a:solidFill>
                <a:latin typeface="Arial"/>
              </a:rPr>
              <a:t> Доли считаются в группе, которую собрал отбор.</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Порог «болен».</a:t>
            </a:r>
            <a:r>
              <a:rPr sz="1250" b="0" i="0">
                <a:solidFill>
                  <a:srgbClr val="21295C"/>
                </a:solidFill>
                <a:latin typeface="Arial"/>
              </a:rPr>
              <a:t> Его назначает протокол под цену исхода, а не разработчик.</a:t>
            </a:r>
          </a:p>
        </p:txBody>
      </p:sp>
      <p:sp>
        <p:nvSpPr>
          <p:cNvPr id="27" name="Rectangle 26"/>
          <p:cNvSpPr/>
          <p:nvPr/>
        </p:nvSpPr>
        <p:spPr>
          <a:xfrm>
            <a:off x="6091275" y="4662584"/>
            <a:ext cx="9144" cy="1415554"/>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Откуда берутся данные о человеке и как по ним решают без модели</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у врача</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Инструментальное исследование</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Лабораторный анализ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ещё три</a:t>
            </a:r>
          </a:p>
        </p:txBody>
      </p:sp>
      <p:sp>
        <p:nvSpPr>
          <p:cNvPr id="12" name="Rounded Rectangle 11"/>
          <p:cNvSpPr/>
          <p:nvPr/>
        </p:nvSpPr>
        <p:spPr>
          <a:xfrm>
            <a:off x="1920240"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Удалённое чтение</a:t>
            </a:r>
          </a:p>
        </p:txBody>
      </p:sp>
      <p:sp>
        <p:nvSpPr>
          <p:cNvPr id="14" name="Rounded Rectangle 13"/>
          <p:cNvSpPr/>
          <p:nvPr/>
        </p:nvSpPr>
        <p:spPr>
          <a:xfrm>
            <a:off x="5225186"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5307482"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карты</a:t>
            </a:r>
          </a:p>
        </p:txBody>
      </p:sp>
      <p:sp>
        <p:nvSpPr>
          <p:cNvPr id="16" name="Rounded Rectangle 15"/>
          <p:cNvSpPr/>
          <p:nvPr/>
        </p:nvSpPr>
        <p:spPr>
          <a:xfrm>
            <a:off x="8530132"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8612428"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Измеряет сам пациент</a:t>
            </a:r>
          </a:p>
        </p:txBody>
      </p:sp>
      <p:sp>
        <p:nvSpPr>
          <p:cNvPr id="18" name="TextBox 17"/>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способов получить данные о человеке</a:t>
            </a:r>
          </a:p>
        </p:txBody>
      </p:sp>
      <p:sp>
        <p:nvSpPr>
          <p:cNvPr id="19" name="Rounded Rectangle 18"/>
          <p:cNvSpPr/>
          <p:nvPr/>
        </p:nvSpPr>
        <p:spPr>
          <a:xfrm>
            <a:off x="374904" y="2771373"/>
            <a:ext cx="11441887" cy="3464834"/>
          </a:xfrm>
          <a:prstGeom prst="roundRect">
            <a:avLst>
              <a:gd name="adj" fmla="val 8796"/>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Этими же шестью способами данные получают и с моделью.</a:t>
            </a:r>
            <a:r>
              <a:rPr sz="1500" b="0" i="0">
                <a:solidFill>
                  <a:srgbClr val="21295C"/>
                </a:solidFill>
                <a:latin typeface="Arial"/>
              </a:rPr>
              <a:t> Меняется не способ получить, а то, кто и как по полученному решает.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решают без модели — классические режимы по именам.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Отбор</a:t>
            </a:r>
            <a:r>
              <a:rPr sz="1500" b="0" i="0">
                <a:solidFill>
                  <a:srgbClr val="21295C"/>
                </a:solidFill>
                <a:latin typeface="Arial"/>
              </a:rPr>
              <a:t> — двойное чтение двумя независимыми, арбитраж третьим на расхождении.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Диагностика</a:t>
            </a:r>
            <a:r>
              <a:rPr sz="1500" b="0" i="0">
                <a:solidFill>
                  <a:srgbClr val="21295C"/>
                </a:solidFill>
                <a:latin typeface="Arial"/>
              </a:rPr>
              <a:t> — две доли сразу: из больных сколько нашли и из здоровых сколько не напугали. Обе — при пороге, который назначил протокол.</a:t>
            </a:r>
          </a:p>
        </p:txBody>
      </p:sp>
      <p:sp>
        <p:nvSpPr>
          <p:cNvPr id="21" name="TextBox 20"/>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Диагноз</a:t>
            </a:r>
            <a:r>
              <a:rPr sz="1500" b="0" i="0">
                <a:solidFill>
                  <a:srgbClr val="21295C"/>
                </a:solidFill>
                <a:latin typeface="Arial"/>
              </a:rPr>
              <a:t> — дифференциальный диагноз: выписать объясняющее, назначить различающую проверку. Второе мнение, консилиум.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Наблюдение</a:t>
            </a:r>
            <a:r>
              <a:rPr sz="1500" b="0" i="0">
                <a:solidFill>
                  <a:srgbClr val="21295C"/>
                </a:solidFill>
                <a:latin typeface="Arial"/>
              </a:rPr>
              <a:t> — шкала раннего предупреждения: баллы, сумма, порог эскалации.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Документация</a:t>
            </a:r>
            <a:r>
              <a:rPr sz="1500" b="0" i="0">
                <a:solidFill>
                  <a:srgbClr val="21295C"/>
                </a:solidFill>
                <a:latin typeface="Arial"/>
              </a:rPr>
              <a:t> — структура записи, вычитка, подпись, выписной эпикриз.</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Надзор</a:t>
            </a:r>
            <a:r>
              <a:rPr sz="1500" b="0" i="0">
                <a:solidFill>
                  <a:srgbClr val="21295C"/>
                </a:solidFill>
                <a:latin typeface="Arial"/>
              </a:rPr>
              <a:t> — разбор случая после исхода и изменение порядка работы.</a:t>
            </a:r>
          </a:p>
        </p:txBody>
      </p:sp>
      <p:sp>
        <p:nvSpPr>
          <p:cNvPr id="22" name="Rectangle 21"/>
          <p:cNvSpPr/>
          <p:nvPr/>
        </p:nvSpPr>
        <p:spPr>
          <a:xfrm>
            <a:off x="6091275" y="2862813"/>
            <a:ext cx="9144" cy="3237311"/>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p:txBody>
      </p:sp>
      <p:sp>
        <p:nvSpPr>
          <p:cNvPr id="7" name="Rounded Rectangle 6"/>
          <p:cNvSpPr/>
          <p:nvPr/>
        </p:nvSpPr>
        <p:spPr>
          <a:xfrm>
            <a:off x="3326815" y="1865376"/>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p:txBody>
      </p:sp>
      <p:sp>
        <p:nvSpPr>
          <p:cNvPr id="9" name="Rounded Rectangle 8"/>
          <p:cNvSpPr/>
          <p:nvPr/>
        </p:nvSpPr>
        <p:spPr>
          <a:xfrm>
            <a:off x="6150711" y="2066543"/>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p:txBody>
      </p:sp>
      <p:sp>
        <p:nvSpPr>
          <p:cNvPr id="11" name="Rounded Rectangle 10"/>
          <p:cNvSpPr/>
          <p:nvPr/>
        </p:nvSpPr>
        <p:spPr>
          <a:xfrm>
            <a:off x="8974607" y="2267712"/>
            <a:ext cx="2714167"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p:txBody>
      </p:sp>
      <p:sp>
        <p:nvSpPr>
          <p:cNvPr id="13" name="TextBox 12"/>
          <p:cNvSpPr txBox="1"/>
          <p:nvPr/>
        </p:nvSpPr>
        <p:spPr>
          <a:xfrm>
            <a:off x="502920" y="299923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требование регулятора исполнено на всех четырёх</a:t>
            </a:r>
          </a:p>
        </p:txBody>
      </p:sp>
      <p:sp>
        <p:nvSpPr>
          <p:cNvPr id="14" name="Rounded Rectangle 13"/>
          <p:cNvSpPr/>
          <p:nvPr/>
        </p:nvSpPr>
        <p:spPr>
          <a:xfrm>
            <a:off x="374904" y="3305687"/>
            <a:ext cx="11441887" cy="2930520"/>
          </a:xfrm>
          <a:prstGeom prst="roundRect">
            <a:avLst>
              <a:gd name="adj" fmla="val 104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397127"/>
            <a:ext cx="5373471" cy="283908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Требование регулятора: человек — последнее звено.</a:t>
            </a:r>
            <a:r>
              <a:rPr sz="1250" b="0" i="0">
                <a:solidFill>
                  <a:srgbClr val="21295C"/>
                </a:solidFill>
                <a:latin typeface="Arial"/>
              </a:rPr>
              <a:t> Изделие допускают к продаже в расчёте на то, что по машинному выводу решает клиницист. Европейская норма говорит точнее: человек обязан сохранять способность не согласиться и отменить. Присутствия при каждом решении она не требует.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Почему подписывает он, а не модель.</a:t>
            </a:r>
            <a:r>
              <a:rPr sz="1250" b="0" i="0">
                <a:solidFill>
                  <a:srgbClr val="21295C"/>
                </a:solidFill>
                <a:latin typeface="Arial"/>
              </a:rPr>
              <a:t> Точность среди причин не названа — измерено, что часто он не точнее:</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право подписи выдано ему</a:t>
            </a:r>
            <a:r>
              <a:rPr sz="1250" b="0" i="0">
                <a:solidFill>
                  <a:srgbClr val="21295C"/>
                </a:solidFill>
                <a:latin typeface="Arial"/>
              </a:rPr>
              <a:t> — при разборе случая оценивают действия человека;</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ошибается он иначе</a:t>
            </a:r>
            <a:r>
              <a:rPr sz="1250" b="0" i="0">
                <a:solidFill>
                  <a:srgbClr val="21295C"/>
                </a:solidFill>
                <a:latin typeface="Arial"/>
              </a:rPr>
              <a:t> — выигрыш паре даёт несовпадение ошибок;</a:t>
            </a:r>
          </a:p>
        </p:txBody>
      </p:sp>
      <p:sp>
        <p:nvSpPr>
          <p:cNvPr id="16" name="TextBox 15"/>
          <p:cNvSpPr txBox="1"/>
          <p:nvPr/>
        </p:nvSpPr>
        <p:spPr>
          <a:xfrm>
            <a:off x="6278727" y="3397127"/>
            <a:ext cx="5373471" cy="283908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отменить принятое решение нельзя</a:t>
            </a:r>
            <a:r>
              <a:rPr sz="1250" b="0" i="0">
                <a:solidFill>
                  <a:srgbClr val="21295C"/>
                </a:solidFill>
                <a:latin typeface="Arial"/>
              </a:rPr>
              <a:t> — изделие отзывают, решения по нему остаются.</a:t>
            </a:r>
          </a:p>
          <a:p>
            <a:pPr algn="l">
              <a:lnSpc>
                <a:spcPct val="126000"/>
              </a:lnSpc>
              <a:spcBef>
                <a:spcPts val="700"/>
              </a:spcBef>
            </a:pPr>
            <a:r>
              <a:rPr sz="1250" b="0" i="0">
                <a:solidFill>
                  <a:srgbClr val="21295C"/>
                </a:solidFill>
                <a:latin typeface="Arial"/>
              </a:rPr>
              <a:t/>
            </a:r>
            <a:r>
              <a:rPr sz="1250" b="1" i="0">
                <a:solidFill>
                  <a:srgbClr val="21295C"/>
                </a:solidFill>
                <a:latin typeface="Arial"/>
              </a:rPr>
              <a:t>Три проверки для любого рабочего контура:</a:t>
            </a:r>
          </a:p>
          <a:p>
            <a:pPr algn="l">
              <a:lnSpc>
                <a:spcPct val="126000"/>
              </a:lnSpc>
              <a:spcBef>
                <a:spcPts val="700"/>
              </a:spcBef>
            </a:pPr>
            <a:r>
              <a:rPr sz="1250" b="0" i="0">
                <a:solidFill>
                  <a:srgbClr val="21295C"/>
                </a:solidFill>
                <a:latin typeface="Arial"/>
              </a:rPr>
              <a:t/>
            </a:r>
            <a:r>
              <a:rPr sz="1250" b="0" i="0">
                <a:solidFill>
                  <a:srgbClr val="21295C"/>
                </a:solidFill>
                <a:latin typeface="Arial"/>
              </a:rPr>
              <a:t>• независимый источник истины, кроме объяснения самой модели?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измерено ли, что человек возражает — и возражает верно?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успевает ли физически: секунды на решение против объёма?</a:t>
            </a:r>
          </a:p>
          <a:p>
            <a:pPr algn="l">
              <a:lnSpc>
                <a:spcPct val="126000"/>
              </a:lnSpc>
              <a:spcBef>
                <a:spcPts val="700"/>
              </a:spcBef>
            </a:pPr>
            <a:r>
              <a:rPr sz="1250" b="0" i="0">
                <a:solidFill>
                  <a:srgbClr val="21295C"/>
                </a:solidFill>
                <a:latin typeface="Arial"/>
              </a:rPr>
              <a:t/>
            </a:r>
            <a:r>
              <a:rPr sz="1250" b="1" i="0">
                <a:solidFill>
                  <a:srgbClr val="21295C"/>
                </a:solidFill>
                <a:latin typeface="Arial"/>
              </a:rPr>
              <a:t>Не прошёл проверки — это четвёртая ступень: подпись стоит, участия нет.</a:t>
            </a:r>
          </a:p>
        </p:txBody>
      </p:sp>
      <p:sp>
        <p:nvSpPr>
          <p:cNvPr id="17" name="Rectangle 16"/>
          <p:cNvSpPr/>
          <p:nvPr/>
        </p:nvSpPr>
        <p:spPr>
          <a:xfrm>
            <a:off x="6091275" y="3397127"/>
            <a:ext cx="9144" cy="2742209"/>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работы системы человек–ИИ: 50 врачей читают описания случаев</a:t>
            </a:r>
          </a:p>
        </p:txBody>
      </p:sp>
      <p:sp>
        <p:nvSpPr>
          <p:cNvPr id="4" name="Rectangle 3"/>
          <p:cNvSpPr/>
          <p:nvPr/>
        </p:nvSpPr>
        <p:spPr>
          <a:xfrm>
            <a:off x="754380" y="2005998"/>
            <a:ext cx="6440119"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6828739"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5334640"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2612"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1772320"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40293"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Человек один</a:t>
            </a:r>
          </a:p>
        </p:txBody>
      </p:sp>
      <p:sp>
        <p:nvSpPr>
          <p:cNvPr id="13" name="Rectangle 12"/>
          <p:cNvSpPr/>
          <p:nvPr/>
        </p:nvSpPr>
        <p:spPr>
          <a:xfrm>
            <a:off x="2168133"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036106" y="2312322"/>
            <a:ext cx="2314346"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Человек поверх модели</a:t>
            </a:r>
          </a:p>
        </p:txBody>
      </p:sp>
      <p:sp>
        <p:nvSpPr>
          <p:cNvPr id="15" name="TextBox 14"/>
          <p:cNvSpPr txBox="1"/>
          <p:nvPr/>
        </p:nvSpPr>
        <p:spPr>
          <a:xfrm>
            <a:off x="502920" y="2836993"/>
            <a:ext cx="69430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медианный балл структурированного рассуждения, % от максимума</a:t>
            </a:r>
          </a:p>
        </p:txBody>
      </p:sp>
      <p:sp>
        <p:nvSpPr>
          <p:cNvPr id="16" name="TextBox 15"/>
          <p:cNvSpPr txBox="1"/>
          <p:nvPr/>
        </p:nvSpPr>
        <p:spPr>
          <a:xfrm>
            <a:off x="502920" y="3129601"/>
            <a:ext cx="69430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разница пары с одиноким человеком — 2 пункта, незначима</a:t>
            </a:r>
          </a:p>
        </p:txBody>
      </p:sp>
      <p:sp>
        <p:nvSpPr>
          <p:cNvPr id="17" name="Rounded Rectangle 16"/>
          <p:cNvSpPr/>
          <p:nvPr/>
        </p:nvSpPr>
        <p:spPr>
          <a:xfrm>
            <a:off x="374904" y="3436056"/>
            <a:ext cx="11441887" cy="2800151"/>
          </a:xfrm>
          <a:prstGeom prst="roundRect">
            <a:avLst>
              <a:gd name="adj" fmla="val 1088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Три секунды и ноль рублей против 48 секунд человеческого чтения.</a:t>
            </a:r>
            <a:r>
              <a:rPr sz="1450" b="0" i="0">
                <a:solidFill>
                  <a:srgbClr val="21295C"/>
                </a:solidFill>
                <a:latin typeface="Arial"/>
              </a:rPr>
              <a:t> </a:t>
            </a:r>
            <a:r>
              <a:rPr sz="1450" b="0" i="1">
                <a:solidFill>
                  <a:srgbClr val="21295C"/>
                </a:solidFill>
                <a:latin typeface="Arial"/>
              </a:rPr>
              <a:t>Единицы разные — сравнение на разряд.</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 мерили.</a:t>
            </a:r>
            <a:r>
              <a:rPr sz="1450" b="0" i="0">
                <a:solidFill>
                  <a:srgbClr val="21295C"/>
                </a:solidFill>
                <a:latin typeface="Arial"/>
              </a:rPr>
              <a:t> Пятьдесят практикующих врачей читали по пять описаний реальных случаев и строили рассуждение: гипотезы, обоснование, какие проверки назначить. Оценивали слепо по шкале структурированного рассуждения. Два человеческих состояния разведены жребием; «модель одна» в жребий не входила.</a:t>
            </a:r>
          </a:p>
          <a:p>
            <a:pPr algn="l">
              <a:lnSpc>
                <a:spcPct val="126000"/>
              </a:lnSpc>
              <a:spcBef>
                <a:spcPts val="700"/>
              </a:spcBef>
            </a:pPr>
            <a:r>
              <a:rPr sz="1450" b="0" i="0">
                <a:solidFill>
                  <a:srgbClr val="21295C"/>
                </a:solidFill>
                <a:latin typeface="Arial"/>
              </a:rPr>
              <a:t/>
            </a:r>
            <a:r>
              <a:rPr sz="1450" b="1" i="0">
                <a:solidFill>
                  <a:srgbClr val="21295C"/>
                </a:solidFill>
                <a:latin typeface="Arial"/>
              </a:rPr>
              <a:t>Удешевили чтение данных — платят шагом, который делает человек.</a:t>
            </a:r>
          </a:p>
          <a:p>
            <a:pPr algn="l">
              <a:lnSpc>
                <a:spcPct val="126000"/>
              </a:lnSpc>
              <a:spcBef>
                <a:spcPts val="700"/>
              </a:spcBef>
            </a:pPr>
            <a:r>
              <a:rPr sz="1450" b="0" i="0">
                <a:solidFill>
                  <a:srgbClr val="21295C"/>
                </a:solidFill>
                <a:latin typeface="Arial"/>
              </a:rPr>
              <a:t/>
            </a:r>
            <a:r>
              <a:rPr sz="1450" b="1" i="0">
                <a:solidFill>
                  <a:srgbClr val="21295C"/>
                </a:solidFill>
                <a:latin typeface="Arial"/>
              </a:rPr>
              <a:t>Чем платят:</a:t>
            </a:r>
            <a:r>
              <a:rPr sz="1450" b="0" i="0">
                <a:solidFill>
                  <a:srgbClr val="21295C"/>
                </a:solidFill>
                <a:latin typeface="Arial"/>
              </a:rPr>
              <a:t> внимание — смотрит после модели · навык — перестаёт делать сам · подпись — ставят не читая · </a:t>
            </a:r>
            <a:r>
              <a:rPr sz="1450" b="1" i="0">
                <a:solidFill>
                  <a:srgbClr val="21295C"/>
                </a:solidFill>
                <a:latin typeface="Arial"/>
              </a:rPr>
              <a:t>арбитраж — дороже прежнего чтения</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1" i="0">
                <a:solidFill>
                  <a:srgbClr val="21295C"/>
                </a:solidFill>
                <a:latin typeface="Arial"/>
              </a:rPr>
              <a:t>Модель посмотрела первой. Что теперь делает человек — и кто это измерял?</a:t>
            </a:r>
          </a:p>
        </p:txBody>
      </p:sp>
      <p:sp>
        <p:nvSpPr>
          <p:cNvPr id="19" name="Rounded Rectangle 18"/>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0" name="Picture 19"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1" name="Rectangle 20"/>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и соавт., JAMA Network Open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Девять форм переезда: чем каждая выглядит и где мы её встретим</a:t>
            </a:r>
          </a:p>
        </p:txBody>
      </p:sp>
      <p:sp>
        <p:nvSpPr>
          <p:cNvPr id="4" name="Rounded Rectangle 3"/>
          <p:cNvSpPr/>
          <p:nvPr/>
        </p:nvSpPr>
        <p:spPr>
          <a:xfrm>
            <a:off x="374904" y="1243584"/>
            <a:ext cx="11441887" cy="4491498"/>
          </a:xfrm>
          <a:prstGeom prst="roundRect">
            <a:avLst>
              <a:gd name="adj" fmla="val 678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83551"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9094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23047" y="1335024"/>
            <a:ext cx="3144933"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69351" y="1335024"/>
            <a:ext cx="2852325"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267981" y="1335024"/>
            <a:ext cx="3960739"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414285" y="1335024"/>
            <a:ext cx="366813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выглядит в примере</a:t>
            </a:r>
          </a:p>
        </p:txBody>
      </p:sp>
      <p:sp>
        <p:nvSpPr>
          <p:cNvPr id="11" name="Rectangle 10"/>
          <p:cNvSpPr/>
          <p:nvPr/>
        </p:nvSpPr>
        <p:spPr>
          <a:xfrm>
            <a:off x="8228720" y="1335024"/>
            <a:ext cx="3423478"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75024" y="1335024"/>
            <a:ext cx="313087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кейс и блок</a:t>
            </a:r>
          </a:p>
        </p:txBody>
      </p:sp>
      <p:sp>
        <p:nvSpPr>
          <p:cNvPr id="13" name="Rectangle 12"/>
          <p:cNvSpPr/>
          <p:nvPr/>
        </p:nvSpPr>
        <p:spPr>
          <a:xfrm>
            <a:off x="539496" y="1718403"/>
            <a:ext cx="583551"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23047" y="1718403"/>
            <a:ext cx="3144933"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69351" y="17184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267981" y="1718403"/>
            <a:ext cx="3960739"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414285" y="17184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сортировка ушла на приём — платить некому</a:t>
            </a:r>
          </a:p>
        </p:txBody>
      </p:sp>
      <p:sp>
        <p:nvSpPr>
          <p:cNvPr id="19" name="Rectangle 18"/>
          <p:cNvSpPr/>
          <p:nvPr/>
        </p:nvSpPr>
        <p:spPr>
          <a:xfrm>
            <a:off x="8228720" y="1718403"/>
            <a:ext cx="3423478"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75024" y="17184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чат-бот первой линии · </a:t>
            </a:r>
            <a:r>
              <a:rPr sz="1200" b="1" i="0">
                <a:solidFill>
                  <a:srgbClr val="21295C"/>
                </a:solidFill>
                <a:latin typeface="Arial"/>
              </a:rPr>
              <a:t>Отбор</a:t>
            </a:r>
          </a:p>
        </p:txBody>
      </p:sp>
      <p:sp>
        <p:nvSpPr>
          <p:cNvPr id="21" name="Rectangle 20"/>
          <p:cNvSpPr/>
          <p:nvPr/>
        </p:nvSpPr>
        <p:spPr>
          <a:xfrm>
            <a:off x="539496" y="2101783"/>
            <a:ext cx="583551"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23047" y="2101783"/>
            <a:ext cx="3144933"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69351" y="21017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267981" y="2101783"/>
            <a:ext cx="3960739"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414285" y="21017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кандидат проверен и отпал</a:t>
            </a:r>
          </a:p>
        </p:txBody>
      </p:sp>
      <p:sp>
        <p:nvSpPr>
          <p:cNvPr id="27" name="Rectangle 26"/>
          <p:cNvSpPr/>
          <p:nvPr/>
        </p:nvSpPr>
        <p:spPr>
          <a:xfrm>
            <a:off x="8228720" y="2101783"/>
            <a:ext cx="3423478"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75024" y="21017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прочерк · </a:t>
            </a:r>
            <a:r>
              <a:rPr sz="1200" b="1" i="0">
                <a:solidFill>
                  <a:srgbClr val="21295C"/>
                </a:solidFill>
                <a:latin typeface="Arial"/>
              </a:rPr>
              <a:t>Сборка</a:t>
            </a:r>
          </a:p>
        </p:txBody>
      </p:sp>
      <p:sp>
        <p:nvSpPr>
          <p:cNvPr id="29" name="Rectangle 28"/>
          <p:cNvSpPr/>
          <p:nvPr/>
        </p:nvSpPr>
        <p:spPr>
          <a:xfrm>
            <a:off x="539496" y="2485163"/>
            <a:ext cx="583551"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23047" y="2485163"/>
            <a:ext cx="3144933"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69351" y="24851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267981" y="2485163"/>
            <a:ext cx="3960739"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414285" y="24851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решение, кому нужно второе чтение</a:t>
            </a:r>
          </a:p>
        </p:txBody>
      </p:sp>
      <p:sp>
        <p:nvSpPr>
          <p:cNvPr id="35" name="Rectangle 34"/>
          <p:cNvSpPr/>
          <p:nvPr/>
        </p:nvSpPr>
        <p:spPr>
          <a:xfrm>
            <a:off x="8228720" y="2485163"/>
            <a:ext cx="3423478"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75024" y="24851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37" name="Rectangle 36"/>
          <p:cNvSpPr/>
          <p:nvPr/>
        </p:nvSpPr>
        <p:spPr>
          <a:xfrm>
            <a:off x="539496" y="2868543"/>
            <a:ext cx="583551"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23047" y="2868543"/>
            <a:ext cx="3144933"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69351" y="286854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267981" y="2868543"/>
            <a:ext cx="3960739"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414285" y="286854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3" name="Rectangle 42"/>
          <p:cNvSpPr/>
          <p:nvPr/>
        </p:nvSpPr>
        <p:spPr>
          <a:xfrm>
            <a:off x="8228720" y="2868543"/>
            <a:ext cx="3423478"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75024" y="286854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раннее предупреждение · </a:t>
            </a:r>
            <a:r>
              <a:rPr sz="1200" b="1" i="0">
                <a:solidFill>
                  <a:srgbClr val="21295C"/>
                </a:solidFill>
                <a:latin typeface="Arial"/>
              </a:rPr>
              <a:t>Наблюдение</a:t>
            </a:r>
          </a:p>
        </p:txBody>
      </p:sp>
      <p:sp>
        <p:nvSpPr>
          <p:cNvPr id="45" name="Rectangle 44"/>
          <p:cNvSpPr/>
          <p:nvPr/>
        </p:nvSpPr>
        <p:spPr>
          <a:xfrm>
            <a:off x="539496" y="3251923"/>
            <a:ext cx="583551"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23047" y="3251923"/>
            <a:ext cx="3144933"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69351" y="325192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267981" y="3251923"/>
            <a:ext cx="3960739"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414285" y="325192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тот же поток, работы меньше</a:t>
            </a:r>
          </a:p>
        </p:txBody>
      </p:sp>
      <p:sp>
        <p:nvSpPr>
          <p:cNvPr id="51" name="Rectangle 50"/>
          <p:cNvSpPr/>
          <p:nvPr/>
        </p:nvSpPr>
        <p:spPr>
          <a:xfrm>
            <a:off x="8228720" y="3251923"/>
            <a:ext cx="3423478"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8375024" y="325192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53" name="Rectangle 52"/>
          <p:cNvSpPr/>
          <p:nvPr/>
        </p:nvSpPr>
        <p:spPr>
          <a:xfrm>
            <a:off x="539496" y="3635303"/>
            <a:ext cx="583551"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23047" y="3635303"/>
            <a:ext cx="3144933"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69351" y="36353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267981" y="3635303"/>
            <a:ext cx="3960739"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414285" y="36353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«направить или нет» выдаёт устройство</a:t>
            </a:r>
          </a:p>
        </p:txBody>
      </p:sp>
      <p:sp>
        <p:nvSpPr>
          <p:cNvPr id="59" name="Rectangle 58"/>
          <p:cNvSpPr/>
          <p:nvPr/>
        </p:nvSpPr>
        <p:spPr>
          <a:xfrm>
            <a:off x="8228720" y="3635303"/>
            <a:ext cx="3423478"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8375024" y="36353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глазное дно · </a:t>
            </a:r>
            <a:r>
              <a:rPr sz="1200" b="1" i="0">
                <a:solidFill>
                  <a:srgbClr val="21295C"/>
                </a:solidFill>
                <a:latin typeface="Arial"/>
              </a:rPr>
              <a:t>Отбор</a:t>
            </a:r>
          </a:p>
        </p:txBody>
      </p:sp>
      <p:sp>
        <p:nvSpPr>
          <p:cNvPr id="61" name="Rectangle 60"/>
          <p:cNvSpPr/>
          <p:nvPr/>
        </p:nvSpPr>
        <p:spPr>
          <a:xfrm>
            <a:off x="539496" y="4018683"/>
            <a:ext cx="583551"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23047" y="4018683"/>
            <a:ext cx="3144933"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69351" y="40186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267981" y="4018683"/>
            <a:ext cx="3960739"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414285" y="40186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переставлен, но не посчитан</a:t>
            </a:r>
          </a:p>
        </p:txBody>
      </p:sp>
      <p:sp>
        <p:nvSpPr>
          <p:cNvPr id="67" name="Rectangle 66"/>
          <p:cNvSpPr/>
          <p:nvPr/>
        </p:nvSpPr>
        <p:spPr>
          <a:xfrm>
            <a:off x="8228720" y="4018683"/>
            <a:ext cx="3423478"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8375024" y="40186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отказ от обещания · </a:t>
            </a:r>
            <a:r>
              <a:rPr sz="1200" b="1" i="0">
                <a:solidFill>
                  <a:srgbClr val="21295C"/>
                </a:solidFill>
                <a:latin typeface="Arial"/>
              </a:rPr>
              <a:t>Лекарства</a:t>
            </a:r>
          </a:p>
        </p:txBody>
      </p:sp>
      <p:sp>
        <p:nvSpPr>
          <p:cNvPr id="69" name="Rectangle 68"/>
          <p:cNvSpPr/>
          <p:nvPr/>
        </p:nvSpPr>
        <p:spPr>
          <a:xfrm>
            <a:off x="539496" y="4402063"/>
            <a:ext cx="583551"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23047" y="4402063"/>
            <a:ext cx="3144933"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69351" y="44020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267981" y="4402063"/>
            <a:ext cx="3960739"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414285" y="44020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ошибка модели — ошибка подписавшего</a:t>
            </a:r>
          </a:p>
        </p:txBody>
      </p:sp>
      <p:sp>
        <p:nvSpPr>
          <p:cNvPr id="75" name="Rectangle 74"/>
          <p:cNvSpPr/>
          <p:nvPr/>
        </p:nvSpPr>
        <p:spPr>
          <a:xfrm>
            <a:off x="8228720" y="4402063"/>
            <a:ext cx="3423478"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8375024" y="44020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норма без проверки · </a:t>
            </a:r>
            <a:r>
              <a:rPr sz="1200" b="1" i="0">
                <a:solidFill>
                  <a:srgbClr val="21295C"/>
                </a:solidFill>
                <a:latin typeface="Arial"/>
              </a:rPr>
              <a:t>Надзор</a:t>
            </a:r>
          </a:p>
        </p:txBody>
      </p:sp>
      <p:sp>
        <p:nvSpPr>
          <p:cNvPr id="77" name="Rectangle 76"/>
          <p:cNvSpPr/>
          <p:nvPr/>
        </p:nvSpPr>
        <p:spPr>
          <a:xfrm>
            <a:off x="539496" y="4785442"/>
            <a:ext cx="583551"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23047" y="4785442"/>
            <a:ext cx="3144933"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69351" y="4785442"/>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267981" y="4785442"/>
            <a:ext cx="3960739"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414285" y="4785442"/>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без помощника находят меньше</a:t>
            </a:r>
          </a:p>
        </p:txBody>
      </p:sp>
      <p:sp>
        <p:nvSpPr>
          <p:cNvPr id="83" name="Rectangle 82"/>
          <p:cNvSpPr/>
          <p:nvPr/>
        </p:nvSpPr>
        <p:spPr>
          <a:xfrm>
            <a:off x="8228720" y="4785442"/>
            <a:ext cx="3423478"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8375024" y="4785442"/>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доля упала · </a:t>
            </a:r>
            <a:r>
              <a:rPr sz="1200" b="1" i="0">
                <a:solidFill>
                  <a:srgbClr val="21295C"/>
                </a:solidFill>
                <a:latin typeface="Arial"/>
              </a:rPr>
              <a:t>Квалификация</a:t>
            </a:r>
          </a:p>
        </p:txBody>
      </p:sp>
      <p:sp>
        <p:nvSpPr>
          <p:cNvPr id="85" name="Rectangle 84"/>
          <p:cNvSpPr/>
          <p:nvPr/>
        </p:nvSpPr>
        <p:spPr>
          <a:xfrm>
            <a:off x="539496" y="5168822"/>
            <a:ext cx="583551"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29094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23047" y="5168822"/>
            <a:ext cx="3144933"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69351" y="5168822"/>
            <a:ext cx="2852325"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267981" y="5168822"/>
            <a:ext cx="3960739"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414285" y="5168822"/>
            <a:ext cx="3668131"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измерений нет</a:t>
            </a:r>
          </a:p>
        </p:txBody>
      </p:sp>
      <p:sp>
        <p:nvSpPr>
          <p:cNvPr id="91" name="Rectangle 90"/>
          <p:cNvSpPr/>
          <p:nvPr/>
        </p:nvSpPr>
        <p:spPr>
          <a:xfrm>
            <a:off x="8228720" y="5168822"/>
            <a:ext cx="3423478"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8375024" y="5168822"/>
            <a:ext cx="3130870"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номер держим пустым</a:t>
            </a:r>
          </a:p>
        </p:txBody>
      </p:sp>
      <p:sp>
        <p:nvSpPr>
          <p:cNvPr id="93" name="Rectangle 9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965634"/>
          </a:xfrm>
          <a:prstGeom prst="roundRect">
            <a:avLst>
              <a:gd name="adj" fmla="val 10277"/>
            </a:avLst>
          </a:prstGeom>
          <a:solidFill>
            <a:srgbClr val="F4F7FA"/>
          </a:solidFill>
          <a:ln w="19050">
            <a:solidFill>
              <a:srgbClr val="1C7293"/>
            </a:solidFill>
          </a:ln>
          <a:effectLst/>
        </p:spPr>
        <p:txBody>
          <a:bodyPr rtlCol="0" anchor="ctr"/>
          <a:lstStyle/>
          <a:p>
            <a:pPr algn="ctr"/>
          </a:p>
        </p:txBody>
      </p:sp>
      <p:pic>
        <p:nvPicPr>
          <p:cNvPr id="5" name="Picture 4" descr="s26-tekhnik-stavit-cheloveka-k-priboru.jpg"/>
          <p:cNvPicPr>
            <a:picLocks noChangeAspect="1"/>
          </p:cNvPicPr>
          <p:nvPr/>
        </p:nvPicPr>
        <p:blipFill>
          <a:blip r:embed="rId2"/>
          <a:stretch>
            <a:fillRect/>
          </a:stretch>
        </p:blipFill>
        <p:spPr>
          <a:xfrm>
            <a:off x="7680960" y="1051560"/>
            <a:ext cx="3870655" cy="2691314"/>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1. Первичный скрининг и отбор на обследование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Кого вообще смотреть.</a:t>
            </a:r>
            <a:r>
              <a:rPr sz="1550" b="0" i="0">
                <a:solidFill>
                  <a:srgbClr val="21295C"/>
                </a:solidFill>
                <a:latin typeface="Arial"/>
              </a:rPr>
              <a:t> Скрининг — обследование людей без жалоб, по формальному признаку. Прежде чем кого-то лечить, кто-то решает, кого вообще посмотреть.</a:t>
            </a:r>
          </a:p>
        </p:txBody>
      </p:sp>
      <p:sp>
        <p:nvSpPr>
          <p:cNvPr id="9" name="TextBox 8"/>
          <p:cNvSpPr txBox="1"/>
          <p:nvPr/>
        </p:nvSpPr>
        <p:spPr>
          <a:xfrm>
            <a:off x="704088" y="3347654"/>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чат-бот первой линии вместо звонка в практику</a:t>
            </a:r>
            <a:r>
              <a:rPr sz="1550" b="0" i="0">
                <a:solidFill>
                  <a:srgbClr val="21295C"/>
                </a:solidFill>
                <a:latin typeface="Arial"/>
              </a:rPr>
              <a:t> · </a:t>
            </a:r>
            <a:r>
              <a:rPr sz="1550" b="1" i="0">
                <a:solidFill>
                  <a:srgbClr val="21295C"/>
                </a:solidFill>
                <a:latin typeface="Arial"/>
              </a:rPr>
              <a:t>Пример 2: глазное дно снимают на приёме, а не у офтальмолога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Первичный скрининг: что это за стадия</a:t>
            </a:r>
          </a:p>
        </p:txBody>
      </p:sp>
      <p:sp>
        <p:nvSpPr>
          <p:cNvPr id="4" name="Rounded Rectangle 3"/>
          <p:cNvSpPr/>
          <p:nvPr/>
        </p:nvSpPr>
        <p:spPr>
          <a:xfrm>
            <a:off x="594360" y="1362456"/>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5" name="TextBox 4"/>
          <p:cNvSpPr txBox="1"/>
          <p:nvPr/>
        </p:nvSpPr>
        <p:spPr>
          <a:xfrm>
            <a:off x="676656" y="1408176"/>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Реестр населения</a:t>
            </a:r>
          </a:p>
        </p:txBody>
      </p:sp>
      <p:sp>
        <p:nvSpPr>
          <p:cNvPr id="6" name="Rounded Rectangle 5"/>
          <p:cNvSpPr/>
          <p:nvPr/>
        </p:nvSpPr>
        <p:spPr>
          <a:xfrm>
            <a:off x="594360" y="1984248"/>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676656" y="2029967"/>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Жалоба</a:t>
            </a:r>
          </a:p>
        </p:txBody>
      </p:sp>
      <p:sp>
        <p:nvSpPr>
          <p:cNvPr id="8" name="Rounded Rectangle 7"/>
          <p:cNvSpPr/>
          <p:nvPr/>
        </p:nvSpPr>
        <p:spPr>
          <a:xfrm>
            <a:off x="594360" y="2606040"/>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76656" y="2651760"/>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Направление врача</a:t>
            </a:r>
          </a:p>
        </p:txBody>
      </p:sp>
      <p:sp>
        <p:nvSpPr>
          <p:cNvPr id="10" name="Rounded Rectangle 9"/>
          <p:cNvSpPr/>
          <p:nvPr/>
        </p:nvSpPr>
        <p:spPr>
          <a:xfrm>
            <a:off x="594360" y="3227832"/>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76656" y="3273551"/>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Разбор карты</a:t>
            </a:r>
          </a:p>
        </p:txBody>
      </p:sp>
      <p:sp>
        <p:nvSpPr>
          <p:cNvPr id="12" name="Rounded Rectangle 11"/>
          <p:cNvSpPr/>
          <p:nvPr/>
        </p:nvSpPr>
        <p:spPr>
          <a:xfrm>
            <a:off x="10362895" y="1335024"/>
            <a:ext cx="1325880" cy="237744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3" name="TextBox 12"/>
          <p:cNvSpPr txBox="1"/>
          <p:nvPr/>
        </p:nvSpPr>
        <p:spPr>
          <a:xfrm>
            <a:off x="10436047" y="1380744"/>
            <a:ext cx="1179576" cy="228600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Попал в скрининг</a:t>
            </a:r>
          </a:p>
        </p:txBody>
      </p:sp>
      <p:sp>
        <p:nvSpPr>
          <p:cNvPr id="14" name="Rectangle 13"/>
          <p:cNvSpPr/>
          <p:nvPr/>
        </p:nvSpPr>
        <p:spPr>
          <a:xfrm>
            <a:off x="10161727" y="1575054"/>
            <a:ext cx="201168" cy="32004"/>
          </a:xfrm>
          <a:prstGeom prst="rect">
            <a:avLst/>
          </a:prstGeom>
          <a:solidFill>
            <a:srgbClr val="1C7293"/>
          </a:solidFill>
          <a:ln>
            <a:noFill/>
          </a:ln>
          <a:effectLst/>
        </p:spPr>
        <p:txBody>
          <a:bodyPr rtlCol="0" anchor="ctr"/>
          <a:lstStyle/>
          <a:p>
            <a:pPr algn="ctr"/>
          </a:p>
        </p:txBody>
      </p:sp>
      <p:sp>
        <p:nvSpPr>
          <p:cNvPr id="15" name="Rectangle 14"/>
          <p:cNvSpPr/>
          <p:nvPr/>
        </p:nvSpPr>
        <p:spPr>
          <a:xfrm>
            <a:off x="10161727" y="2196846"/>
            <a:ext cx="201168" cy="32004"/>
          </a:xfrm>
          <a:prstGeom prst="rect">
            <a:avLst/>
          </a:prstGeom>
          <a:solidFill>
            <a:srgbClr val="1C7293"/>
          </a:solidFill>
          <a:ln>
            <a:noFill/>
          </a:ln>
          <a:effectLst/>
        </p:spPr>
        <p:txBody>
          <a:bodyPr rtlCol="0" anchor="ctr"/>
          <a:lstStyle/>
          <a:p>
            <a:pPr algn="ctr"/>
          </a:p>
        </p:txBody>
      </p:sp>
      <p:sp>
        <p:nvSpPr>
          <p:cNvPr id="16" name="Rectangle 15"/>
          <p:cNvSpPr/>
          <p:nvPr/>
        </p:nvSpPr>
        <p:spPr>
          <a:xfrm>
            <a:off x="10161727" y="2818638"/>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10161727" y="3440430"/>
            <a:ext cx="201168" cy="32004"/>
          </a:xfrm>
          <a:prstGeom prst="rect">
            <a:avLst/>
          </a:prstGeom>
          <a:solidFill>
            <a:srgbClr val="1C7293"/>
          </a:solidFill>
          <a:ln>
            <a:noFill/>
          </a:ln>
          <a:effectLst/>
        </p:spPr>
        <p:txBody>
          <a:bodyPr rtlCol="0" anchor="ctr"/>
          <a:lstStyle/>
          <a:p>
            <a:pPr algn="ctr"/>
          </a:p>
        </p:txBody>
      </p:sp>
      <p:sp>
        <p:nvSpPr>
          <p:cNvPr id="18" name="TextBox 17"/>
          <p:cNvSpPr txBox="1"/>
          <p:nvPr/>
        </p:nvSpPr>
        <p:spPr>
          <a:xfrm>
            <a:off x="502920" y="3785616"/>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входа, ни один не следует из другого</a:t>
            </a:r>
          </a:p>
        </p:txBody>
      </p:sp>
      <p:sp>
        <p:nvSpPr>
          <p:cNvPr id="19" name="Rounded Rectangle 18"/>
          <p:cNvSpPr/>
          <p:nvPr/>
        </p:nvSpPr>
        <p:spPr>
          <a:xfrm>
            <a:off x="374904" y="4092071"/>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4183511"/>
            <a:ext cx="5373471" cy="2052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Известно скудно: возраст · пол · интервал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Вопрос один: звать ли смотреть. Дальше — обследование либо ничего</a:t>
            </a:r>
          </a:p>
        </p:txBody>
      </p:sp>
      <p:sp>
        <p:nvSpPr>
          <p:cNvPr id="21" name="TextBox 20"/>
          <p:cNvSpPr txBox="1"/>
          <p:nvPr/>
        </p:nvSpPr>
        <p:spPr>
          <a:xfrm>
            <a:off x="6278727" y="4183511"/>
            <a:ext cx="5373471" cy="2052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Почему стадия первая.</a:t>
            </a:r>
            <a:r>
              <a:rPr sz="1500" b="0" i="0">
                <a:solidFill>
                  <a:srgbClr val="21295C"/>
                </a:solidFill>
                <a:latin typeface="Arial"/>
              </a:rPr>
              <a:t> Непозванного не видит никто; порог назначен документом раньше замера точности.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порядка три:</a:t>
            </a:r>
            <a:r>
              <a:rPr sz="1500" b="0" i="0">
                <a:solidFill>
                  <a:srgbClr val="21295C"/>
                </a:solidFill>
                <a:latin typeface="Arial"/>
              </a:rPr>
              <a:t> звать по возрасту · ждать жалобу · сортировать по тяжести. Классических режимов из них два.</a:t>
            </a:r>
          </a:p>
        </p:txBody>
      </p:sp>
      <p:sp>
        <p:nvSpPr>
          <p:cNvPr id="22" name="Rectangle 21"/>
          <p:cNvSpPr/>
          <p:nvPr/>
        </p:nvSpPr>
        <p:spPr>
          <a:xfrm>
            <a:off x="6091275" y="4183511"/>
            <a:ext cx="9144" cy="1574205"/>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 действий стадии скрининга — и три, на которых включается модель</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порог</a:t>
            </a:r>
          </a:p>
        </p:txBody>
      </p:sp>
      <p:sp>
        <p:nvSpPr>
          <p:cNvPr id="7" name="Right Arrow 6"/>
          <p:cNvSpPr/>
          <p:nvPr/>
        </p:nvSpPr>
        <p:spPr>
          <a:xfrm>
            <a:off x="3347389"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759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6582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Позвать по списку</a:t>
            </a:r>
          </a:p>
        </p:txBody>
      </p:sp>
      <p:sp>
        <p:nvSpPr>
          <p:cNvPr id="10" name="Right Arrow 9"/>
          <p:cNvSpPr/>
          <p:nvPr/>
        </p:nvSpPr>
        <p:spPr>
          <a:xfrm>
            <a:off x="5003139"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23173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1403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снимок</a:t>
            </a:r>
          </a:p>
        </p:txBody>
      </p:sp>
      <p:sp>
        <p:nvSpPr>
          <p:cNvPr id="13" name="Right Arrow 12"/>
          <p:cNvSpPr/>
          <p:nvPr/>
        </p:nvSpPr>
        <p:spPr>
          <a:xfrm>
            <a:off x="6658889"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8874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697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p:txBody>
      </p:sp>
      <p:sp>
        <p:nvSpPr>
          <p:cNvPr id="16" name="TextBox 15"/>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дальше</a:t>
            </a:r>
          </a:p>
        </p:txBody>
      </p:sp>
      <p:sp>
        <p:nvSpPr>
          <p:cNvPr id="17" name="Rounded Rectangle 16"/>
          <p:cNvSpPr/>
          <p:nvPr/>
        </p:nvSpPr>
        <p:spPr>
          <a:xfrm>
            <a:off x="1920240"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a:t>
            </a:r>
          </a:p>
        </p:txBody>
      </p:sp>
      <p:sp>
        <p:nvSpPr>
          <p:cNvPr id="19" name="Right Arrow 18"/>
          <p:cNvSpPr/>
          <p:nvPr/>
        </p:nvSpPr>
        <p:spPr>
          <a:xfrm>
            <a:off x="3899306"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127906"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210202"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22" name="Right Arrow 21"/>
          <p:cNvSpPr/>
          <p:nvPr/>
        </p:nvSpPr>
        <p:spPr>
          <a:xfrm>
            <a:off x="6106972"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335572"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417868"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p:txBody>
      </p:sp>
      <p:sp>
        <p:nvSpPr>
          <p:cNvPr id="25" name="TextBox 24"/>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включается модель</a:t>
            </a:r>
          </a:p>
        </p:txBody>
      </p:sp>
      <p:sp>
        <p:nvSpPr>
          <p:cNvPr id="26" name="Rounded Rectangle 25"/>
          <p:cNvSpPr/>
          <p:nvPr/>
        </p:nvSpPr>
        <p:spPr>
          <a:xfrm>
            <a:off x="1920240"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a:p>
            <a:pPr algn="ctr">
              <a:lnSpc>
                <a:spcPct val="112000"/>
              </a:lnSpc>
            </a:pPr>
            <a:r>
              <a:rPr sz="1350" b="0" i="0">
                <a:solidFill>
                  <a:srgbClr val="21295C"/>
                </a:solidFill>
                <a:latin typeface="Arial"/>
              </a:rPr>
              <a:t>шведская программа</a:t>
            </a:r>
          </a:p>
        </p:txBody>
      </p:sp>
      <p:sp>
        <p:nvSpPr>
          <p:cNvPr id="28" name="Rounded Rectangle 27"/>
          <p:cNvSpPr/>
          <p:nvPr/>
        </p:nvSpPr>
        <p:spPr>
          <a:xfrm>
            <a:off x="4085234"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167530"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a:p>
            <a:pPr algn="ctr">
              <a:lnSpc>
                <a:spcPct val="112000"/>
              </a:lnSpc>
            </a:pPr>
            <a:r>
              <a:rPr sz="1350" b="0" i="0">
                <a:solidFill>
                  <a:srgbClr val="21295C"/>
                </a:solidFill>
                <a:latin typeface="Arial"/>
              </a:rPr>
              <a:t>глазное дно без офтальмолога</a:t>
            </a:r>
          </a:p>
        </p:txBody>
      </p:sp>
      <p:sp>
        <p:nvSpPr>
          <p:cNvPr id="30" name="Rounded Rectangle 29"/>
          <p:cNvSpPr/>
          <p:nvPr/>
        </p:nvSpPr>
        <p:spPr>
          <a:xfrm>
            <a:off x="6250228"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332524"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a:p>
            <a:pPr algn="ctr">
              <a:lnSpc>
                <a:spcPct val="112000"/>
              </a:lnSpc>
            </a:pPr>
            <a:r>
              <a:rPr sz="1350" b="0" i="0">
                <a:solidFill>
                  <a:srgbClr val="21295C"/>
                </a:solidFill>
                <a:latin typeface="Arial"/>
              </a:rPr>
              <a:t>чат-бот первой линии</a:t>
            </a:r>
          </a:p>
        </p:txBody>
      </p:sp>
      <p:sp>
        <p:nvSpPr>
          <p:cNvPr id="32" name="TextBox 31"/>
          <p:cNvSpPr txBox="1"/>
          <p:nvPr/>
        </p:nvSpPr>
        <p:spPr>
          <a:xfrm>
            <a:off x="502920" y="4516280"/>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действий стадии — и три шага, на которых включается модель</a:t>
            </a:r>
          </a:p>
        </p:txBody>
      </p:sp>
      <p:sp>
        <p:nvSpPr>
          <p:cNvPr id="33" name="Rounded Rectangle 32"/>
          <p:cNvSpPr/>
          <p:nvPr/>
        </p:nvSpPr>
        <p:spPr>
          <a:xfrm>
            <a:off x="374904" y="4818963"/>
            <a:ext cx="11441887" cy="1417244"/>
          </a:xfrm>
          <a:prstGeom prst="roundRect">
            <a:avLst>
              <a:gd name="adj" fmla="val 21506"/>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910403"/>
            <a:ext cx="11112703" cy="132580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Письмо, с которого началась лекция, вышло отсюда: программа берёт список жителей, отбирает по возрасту и полу и рассылает приглашения. Человек не обращался — его позвали.</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Порог, приглашение, съёмка и арбитраж остались людям. Новый шаг — добыть годный снимок.</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кого в рабочем контуре стоит автоматический фильтр — и кто разбирает отфильтрованное?</a:t>
            </a:r>
          </a:p>
        </p:txBody>
      </p:sp>
      <p:sp>
        <p:nvSpPr>
          <p:cNvPr id="35" name="Rounded Rectangle 34"/>
          <p:cNvSpPr/>
          <p:nvPr/>
        </p:nvSpPr>
        <p:spPr>
          <a:xfrm>
            <a:off x="8579815" y="1335024"/>
            <a:ext cx="3108960" cy="2977878"/>
          </a:xfrm>
          <a:prstGeom prst="roundRect">
            <a:avLst>
              <a:gd name="adj" fmla="val 10235"/>
            </a:avLst>
          </a:prstGeom>
          <a:solidFill>
            <a:srgbClr val="F4F7FA"/>
          </a:solidFill>
          <a:ln w="19050">
            <a:solidFill>
              <a:srgbClr val="1C7293"/>
            </a:solidFill>
          </a:ln>
          <a:effectLst/>
        </p:spPr>
        <p:txBody>
          <a:bodyPr rtlCol="0" anchor="ctr"/>
          <a:lstStyle/>
          <a:p>
            <a:pPr algn="ctr"/>
          </a:p>
        </p:txBody>
      </p:sp>
      <p:pic>
        <p:nvPicPr>
          <p:cNvPr id="36" name="Picture 35" descr="s12-stranitsa-programmy-kogo-zovut.png"/>
          <p:cNvPicPr>
            <a:picLocks noChangeAspect="1"/>
          </p:cNvPicPr>
          <p:nvPr/>
        </p:nvPicPr>
        <p:blipFill>
          <a:blip r:embed="rId2"/>
          <a:stretch>
            <a:fillRect/>
          </a:stretch>
        </p:blipFill>
        <p:spPr>
          <a:xfrm>
            <a:off x="8716975" y="1472184"/>
            <a:ext cx="2834640" cy="2703558"/>
          </a:xfrm>
          <a:prstGeom prst="rect">
            <a:avLst/>
          </a:prstGeom>
        </p:spPr>
      </p:pic>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Программа скрининга NHS England, GOV.UK, снято 13 октября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Шведский скрининг без модели: зовут по возрасту — и что из этого выходит</a:t>
            </a:r>
          </a:p>
        </p:txBody>
      </p:sp>
      <p:sp>
        <p:nvSpPr>
          <p:cNvPr id="4" name="Rounded Rectangle 3"/>
          <p:cNvSpPr/>
          <p:nvPr/>
        </p:nvSpPr>
        <p:spPr>
          <a:xfrm>
            <a:off x="502920"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ЗОВУТ ПО ВОЗРАСТУ: НАШЛИ НА ОБСЛЕДОВАНИИ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случая на 1000</a:t>
            </a:r>
          </a:p>
        </p:txBody>
      </p:sp>
      <p:sp>
        <p:nvSpPr>
          <p:cNvPr id="7" name="TextBox 6"/>
          <p:cNvSpPr txBox="1"/>
          <p:nvPr/>
        </p:nvSpPr>
        <p:spPr>
          <a:xfrm>
            <a:off x="640080"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Швеция, 80 033 женщины: снимок читают двое людей, модели нет</a:t>
            </a:r>
          </a:p>
        </p:txBody>
      </p:sp>
      <p:sp>
        <p:nvSpPr>
          <p:cNvPr id="8" name="Rounded Rectangle 7"/>
          <p:cNvSpPr/>
          <p:nvPr/>
        </p:nvSpPr>
        <p:spPr>
          <a:xfrm>
            <a:off x="3340531"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ПРОПУСТИЛА ПРОГРАММА, НАШЁЛ СИМПТОМ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на 1000 за два года</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анализ, контрольное плечо: 52 872 женщины, наблюдение два года</a:t>
            </a:r>
          </a:p>
        </p:txBody>
      </p:sp>
      <p:sp>
        <p:nvSpPr>
          <p:cNvPr id="12" name="Rounded Rectangle 11"/>
          <p:cNvSpPr/>
          <p:nvPr/>
        </p:nvSpPr>
        <p:spPr>
          <a:xfrm>
            <a:off x="6178143"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ВЕРНУЛИ НА ВТОРОЙ СНИМОК</a:t>
            </a:r>
          </a:p>
        </p:txBody>
      </p:sp>
      <p:sp>
        <p:nvSpPr>
          <p:cNvPr id="14" name="TextBox 13"/>
          <p:cNvSpPr txBox="1"/>
          <p:nvPr/>
        </p:nvSpPr>
        <p:spPr>
          <a:xfrm>
            <a:off x="6315303"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2,0 из ста обследованных</a:t>
            </a:r>
          </a:p>
        </p:txBody>
      </p:sp>
      <p:sp>
        <p:nvSpPr>
          <p:cNvPr id="15" name="TextBox 14"/>
          <p:cNvSpPr txBox="1"/>
          <p:nvPr/>
        </p:nvSpPr>
        <p:spPr>
          <a:xfrm>
            <a:off x="6315303" y="2733293"/>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повторный снимок, иногда биопсия и недели с открытым вопросом</a:t>
            </a:r>
          </a:p>
        </p:txBody>
      </p:sp>
      <p:sp>
        <p:nvSpPr>
          <p:cNvPr id="16" name="Rounded Rectangle 15"/>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ЖДУТ ЖАЛОБУ → ЗОВУТ ПО СПИСКУ: ПОЗДНЯЯ СТАДИЯ У НАЙДЕННЫХ</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39 из ста</a:t>
            </a:r>
          </a:p>
        </p:txBody>
      </p:sp>
      <p:sp>
        <p:nvSpPr>
          <p:cNvPr id="19" name="TextBox 18"/>
          <p:cNvSpPr txBox="1"/>
          <p:nvPr/>
        </p:nvSpPr>
        <p:spPr>
          <a:xfrm>
            <a:off x="9152915"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 1976–1986: приглашение распределяли жребием; 91 из 159 случаев против 62 из 160</a:t>
            </a:r>
          </a:p>
        </p:txBody>
      </p:sp>
      <p:sp>
        <p:nvSpPr>
          <p:cNvPr id="20" name="Rounded Rectangle 19"/>
          <p:cNvSpPr/>
          <p:nvPr/>
        </p:nvSpPr>
        <p:spPr>
          <a:xfrm>
            <a:off x="374904" y="3640890"/>
            <a:ext cx="11441887" cy="2595317"/>
          </a:xfrm>
          <a:prstGeom prst="roundRect">
            <a:avLst>
              <a:gd name="adj" fmla="val 1174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32330"/>
            <a:ext cx="11112703" cy="250387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Зовут всех по возрасту и интервалу.</a:t>
            </a:r>
            <a:r>
              <a:rPr sz="1500" b="0" i="0">
                <a:solidFill>
                  <a:srgbClr val="21295C"/>
                </a:solidFill>
                <a:latin typeface="Arial"/>
              </a:rPr>
              <a:t> Шведская программа шлёт приглашение, снимок читают двое людей, расхождение разбирает третий. Никакой модели в этом порядке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Ждут жалобу — второй порядок, и он шире распространён.</a:t>
            </a:r>
            <a:r>
              <a:rPr sz="1500" b="0" i="0">
                <a:solidFill>
                  <a:srgbClr val="21295C"/>
                </a:solidFill>
                <a:latin typeface="Arial"/>
              </a:rPr>
              <a:t> Нулём он не работает: тот, кого не позвали, однажды придёт сам — позже и стадией крупнее. Измерили его один раз, когда скрининг только вводили.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Порог — это документ:</a:t>
            </a:r>
            <a:r>
              <a:rPr sz="1500" b="0" i="0">
                <a:solidFill>
                  <a:srgbClr val="21295C"/>
                </a:solidFill>
                <a:latin typeface="Arial"/>
              </a:rPr>
              <a:t> возраст приглашения и интервал назначены раньше, чем кто-нибудь измерил точность прибора.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Женщину с письмом позвал первый порядок: только возраст и интервал, ни одного её собственного признака.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Два числа взяты с разных программ и разных эпох: это две стороны цены, а не одна шкала</a:t>
            </a:r>
          </a:p>
        </p:txBody>
      </p:sp>
      <p:sp>
        <p:nvSpPr>
          <p:cNvPr id="22" name="Rectangle 2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контрольное плечо, 2023 и 2026</a:t>
            </a:r>
            <a:r>
              <a:rPr sz="1200" b="0" i="1">
                <a:solidFill>
                  <a:srgbClr val="1C7293"/>
                </a:solidFill>
                <a:latin typeface="Arial"/>
              </a:rPr>
              <a:t> · </a:t>
            </a:r>
            <a:r>
              <a:rPr sz="1200" b="0" i="1">
                <a:solidFill>
                  <a:srgbClr val="1C7293"/>
                </a:solidFill>
                <a:latin typeface="Arial"/>
              </a:rPr>
              <a:t>Мальмёское испытание, 1976–1986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Шведский скрининг с моделью: кому достаётся второе чтение</a:t>
            </a:r>
          </a:p>
        </p:txBody>
      </p:sp>
      <p:sp>
        <p:nvSpPr>
          <p:cNvPr id="4" name="Rounded Rectangle 3"/>
          <p:cNvSpPr/>
          <p:nvPr/>
        </p:nvSpPr>
        <p:spPr>
          <a:xfrm>
            <a:off x="502920" y="1335024"/>
            <a:ext cx="2673019" cy="2006955"/>
          </a:xfrm>
          <a:prstGeom prst="roundRect">
            <a:avLst>
              <a:gd name="adj" fmla="val 1518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ЖЕНЩИН, У КОТОРЫХ РАК БЫЛ: НАШЛИ НА ОБСЛЕДОВАНИИ</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74 → 81</a:t>
            </a:r>
          </a:p>
        </p:txBody>
      </p:sp>
      <p:sp>
        <p:nvSpPr>
          <p:cNvPr id="7" name="TextBox 6"/>
          <p:cNvSpPr txBox="1"/>
          <p:nvPr/>
        </p:nvSpPr>
        <p:spPr>
          <a:xfrm>
            <a:off x="640080"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105 934 женщины, жребием на два плеча; различие значимо, p = 0,031</a:t>
            </a:r>
          </a:p>
        </p:txBody>
      </p:sp>
      <p:sp>
        <p:nvSpPr>
          <p:cNvPr id="8" name="Rounded Rectangle 7"/>
          <p:cNvSpPr/>
          <p:nvPr/>
        </p:nvSpPr>
        <p:spPr>
          <a:xfrm>
            <a:off x="3340531"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НАШЛИ НА 1000 ОБСЛЕДОВАННЫХ</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 6,1</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80 033 женщины — другая, меньшая выборка той же программы; значимости не достигла, p = 0,052</a:t>
            </a:r>
          </a:p>
        </p:txBody>
      </p:sp>
      <p:sp>
        <p:nvSpPr>
          <p:cNvPr id="12" name="Rounded Rectangle 11"/>
          <p:cNvSpPr/>
          <p:nvPr/>
        </p:nvSpPr>
        <p:spPr>
          <a:xfrm>
            <a:off x="6178143"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ВЕРНУЛИ НА ВТОРОЙ СНИМОК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 2,2 из ста</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16" name="Rounded Rectangle 15"/>
          <p:cNvSpPr/>
          <p:nvPr/>
        </p:nvSpPr>
        <p:spPr>
          <a:xfrm>
            <a:off x="9015755"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ВТОРОГО ЧЕЛОВЕЧЕСКОГО ЧТЕНИЯ МЕНЬШЕ</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19" name="TextBox 18"/>
          <p:cNvSpPr txBox="1"/>
          <p:nvPr/>
        </p:nvSpPr>
        <p:spPr>
          <a:xfrm>
            <a:off x="9152915"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20" name="Rounded Rectangle 19"/>
          <p:cNvSpPr/>
          <p:nvPr/>
        </p:nvSpPr>
        <p:spPr>
          <a:xfrm>
            <a:off x="374904" y="3433419"/>
            <a:ext cx="11441887" cy="2802788"/>
          </a:xfrm>
          <a:prstGeom prst="roundRect">
            <a:avLst>
              <a:gd name="adj" fmla="val 1087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524859"/>
            <a:ext cx="5373471" cy="2711348"/>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Та же программа и то же приглашение, что на кадре перед этим. Изменилось одно: кому достаётся второе чтение.</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делали.</a:t>
            </a:r>
            <a:r>
              <a:rPr sz="1250" b="0" i="0">
                <a:solidFill>
                  <a:srgbClr val="21295C"/>
                </a:solidFill>
                <a:latin typeface="Arial"/>
              </a:rPr>
              <a:t> Женщин распределяли жребием. Одно плечо читают двое людей, арбитраж на расхождении. В другом радиолог читает первым и заключение выдаёт сам, а модель ставит снимку оценку риска от 1 до 10: при оценке 1–9 второго чтения нет вовсе, при 10 остаётся двойное.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Это механика отбора:</a:t>
            </a:r>
            <a:r>
              <a:rPr sz="1250" b="0" i="0">
                <a:solidFill>
                  <a:srgbClr val="21295C"/>
                </a:solidFill>
                <a:latin typeface="Arial"/>
              </a:rPr>
              <a:t> заключение выдаёт человек, модель отбирает, кого прочтут дважды.</a:t>
            </a:r>
          </a:p>
        </p:txBody>
      </p:sp>
      <p:sp>
        <p:nvSpPr>
          <p:cNvPr id="22" name="TextBox 21"/>
          <p:cNvSpPr txBox="1"/>
          <p:nvPr/>
        </p:nvSpPr>
        <p:spPr>
          <a:xfrm>
            <a:off x="6278727" y="3524859"/>
            <a:ext cx="5373471" cy="2711348"/>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Устроено:</a:t>
            </a:r>
            <a:r>
              <a:rPr sz="1250" b="0" i="0">
                <a:solidFill>
                  <a:srgbClr val="21295C"/>
                </a:solidFill>
                <a:latin typeface="Arial"/>
              </a:rPr>
              <a:t> вход — маммограмма, выход — оценка риска и место в очереди. </a:t>
            </a:r>
            <a:r>
              <a:rPr sz="1250" b="1" i="0">
                <a:solidFill>
                  <a:srgbClr val="21295C"/>
                </a:solidFill>
                <a:latin typeface="Arial"/>
              </a:rPr>
              <a:t>Имени система не получила</a:t>
            </a:r>
            <a:r>
              <a:rPr sz="1250" b="0" i="0">
                <a:solidFill>
                  <a:srgbClr val="21295C"/>
                </a:solidFill>
                <a:latin typeface="Arial"/>
              </a:rPr>
              <a:t>; режим занимают Transpara, Lunit INSIGHT MMG, iCAD ProFound. </a:t>
            </a:r>
            <a:r>
              <a:rPr sz="1250" b="0" i="1">
                <a:solidFill>
                  <a:srgbClr val="21295C"/>
                </a:solidFill>
                <a:latin typeface="Arial"/>
              </a:rPr>
              <a:t>Распознавание на изображении.</a:t>
            </a:r>
          </a:p>
          <a:p>
            <a:pPr algn="l">
              <a:lnSpc>
                <a:spcPct val="126000"/>
              </a:lnSpc>
              <a:spcBef>
                <a:spcPts val="700"/>
              </a:spcBef>
            </a:pPr>
            <a:r>
              <a:rPr sz="1250" b="0" i="0">
                <a:solidFill>
                  <a:srgbClr val="21295C"/>
                </a:solidFill>
                <a:latin typeface="Arial"/>
              </a:rPr>
              <a:t/>
            </a:r>
            <a:r>
              <a:rPr sz="1250" b="1" i="0">
                <a:solidFill>
                  <a:srgbClr val="21295C"/>
                </a:solidFill>
                <a:latin typeface="Arial"/>
              </a:rPr>
              <a:t>Второго независимого человека большинство обследованных больше не получает.</a:t>
            </a:r>
            <a:r>
              <a:rPr sz="1250" b="0" i="0">
                <a:solidFill>
                  <a:srgbClr val="21295C"/>
                </a:solidFill>
                <a:latin typeface="Arial"/>
              </a:rPr>
              <a:t> Цена — в устройстве процедуры, не в точности прибора.</a:t>
            </a:r>
          </a:p>
          <a:p>
            <a:pPr algn="l">
              <a:lnSpc>
                <a:spcPct val="126000"/>
              </a:lnSpc>
              <a:spcBef>
                <a:spcPts val="700"/>
              </a:spcBef>
            </a:pPr>
            <a:r>
              <a:rPr sz="1250" b="0" i="0">
                <a:solidFill>
                  <a:srgbClr val="21295C"/>
                </a:solidFill>
                <a:latin typeface="Arial"/>
              </a:rPr>
              <a:t/>
            </a:r>
            <a:r>
              <a:rPr sz="1250" b="1" i="0">
                <a:solidFill>
                  <a:srgbClr val="21295C"/>
                </a:solidFill>
                <a:latin typeface="Arial"/>
              </a:rPr>
              <a:t>Германия:</a:t>
            </a:r>
            <a:r>
              <a:rPr sz="1250" b="0" i="0">
                <a:solidFill>
                  <a:srgbClr val="21295C"/>
                </a:solidFill>
                <a:latin typeface="Arial"/>
              </a:rPr>
              <a:t> двойное чтение сохранили и модель добавили к нему — найдено 6,7 против 5,7 на 1000 у 463 094 женщин, но жребия там не было. Одна фраза «внедрили модель в скрининг» — две разные процедуры.</a:t>
            </a:r>
          </a:p>
        </p:txBody>
      </p:sp>
      <p:sp>
        <p:nvSpPr>
          <p:cNvPr id="23" name="Rectangle 22"/>
          <p:cNvSpPr/>
          <p:nvPr/>
        </p:nvSpPr>
        <p:spPr>
          <a:xfrm>
            <a:off x="6091275" y="3524859"/>
            <a:ext cx="9144" cy="265330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итоговый анализ</a:t>
            </a:r>
            <a:r>
              <a:rPr sz="1200" b="0" i="1">
                <a:solidFill>
                  <a:srgbClr val="1C7293"/>
                </a:solidFill>
                <a:latin typeface="Arial"/>
              </a:rPr>
              <a:t> · </a:t>
            </a:r>
            <a:r>
              <a:rPr sz="1200" b="0" i="1" u="sng">
                <a:solidFill>
                  <a:srgbClr val="065A82"/>
                </a:solidFill>
                <a:latin typeface="Arial"/>
                <a:hlinkClick r:id="rId3"/>
              </a:rPr>
              <a:t>PRAIM, Nature Medicine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 вместо звонка в практику</a:t>
            </a:r>
          </a:p>
        </p:txBody>
      </p:sp>
      <p:sp>
        <p:nvSpPr>
          <p:cNvPr id="4" name="Rounded Rectangle 3"/>
          <p:cNvSpPr/>
          <p:nvPr/>
        </p:nvSpPr>
        <p:spPr>
          <a:xfrm>
            <a:off x="502920"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ОБРАЩЕНИЙ НА ЧЕЛОВЕКА В ГОД: ДО СЕРВИСА → В СЕРВИСЕ</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 4,3</a:t>
            </a:r>
          </a:p>
        </p:txBody>
      </p:sp>
      <p:sp>
        <p:nvSpPr>
          <p:cNvPr id="7" name="TextBox 6"/>
          <p:cNvSpPr txBox="1"/>
          <p:nvPr/>
        </p:nvSpPr>
        <p:spPr>
          <a:xfrm>
            <a:off x="640080"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возраст 25–44; частоту обращений подсчитал независимый отчёт по 12 месяцам данных</a:t>
            </a:r>
          </a:p>
        </p:txBody>
      </p:sp>
      <p:sp>
        <p:nvSpPr>
          <p:cNvPr id="8" name="Rounded Rectangle 7"/>
          <p:cNvSpPr/>
          <p:nvPr/>
        </p:nvSpPr>
        <p:spPr>
          <a:xfrm>
            <a:off x="3340531"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 ЗА ЧЕЛОВЕКА В ГОД</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155 фунтов</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сумма от числа обращений не зависит</a:t>
            </a:r>
          </a:p>
        </p:txBody>
      </p:sp>
      <p:sp>
        <p:nvSpPr>
          <p:cNvPr id="12" name="Rounded Rectangle 11"/>
          <p:cNvSpPr/>
          <p:nvPr/>
        </p:nvSpPr>
        <p:spPr>
          <a:xfrm>
            <a:off x="6178143"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ДОПЛАТИЛ ЗАКАЗЧИК ЗА ОДИН ГОД</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10,5 млн фунтов</a:t>
            </a:r>
          </a:p>
        </p:txBody>
      </p:sp>
      <p:sp>
        <p:nvSpPr>
          <p:cNvPr id="15" name="TextBox 14"/>
          <p:cNvSpPr txBox="1"/>
          <p:nvPr/>
        </p:nvSpPr>
        <p:spPr>
          <a:xfrm>
            <a:off x="6315303"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список около 49 тысяч человек; весь подушевой платёж за него — около 7,6 млн</a:t>
            </a:r>
          </a:p>
        </p:txBody>
      </p:sp>
      <p:sp>
        <p:nvSpPr>
          <p:cNvPr id="16" name="Rounded Rectangle 15"/>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ОЦЕНКА ПРИ СЛИЯНИИ → АКТИВЫ ПРИ БАНКРОТСТВЕ</a:t>
            </a:r>
          </a:p>
        </p:txBody>
      </p:sp>
      <p:sp>
        <p:nvSpPr>
          <p:cNvPr id="18" name="TextBox 17"/>
          <p:cNvSpPr txBox="1"/>
          <p:nvPr/>
        </p:nvSpPr>
        <p:spPr>
          <a:xfrm>
            <a:off x="9152915" y="1932846"/>
            <a:ext cx="2398699"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4,2 млрд долларов → 500 тысяч фунтов</a:t>
            </a:r>
          </a:p>
        </p:txBody>
      </p:sp>
      <p:sp>
        <p:nvSpPr>
          <p:cNvPr id="19" name="TextBox 18"/>
          <p:cNvSpPr txBox="1"/>
          <p:nvPr/>
        </p:nvSpPr>
        <p:spPr>
          <a:xfrm>
            <a:off x="9152915" y="256354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разные величины в двух валютах, не одна в двух точках</a:t>
            </a:r>
          </a:p>
        </p:txBody>
      </p:sp>
      <p:sp>
        <p:nvSpPr>
          <p:cNvPr id="20" name="Rounded Rectangle 19"/>
          <p:cNvSpPr/>
          <p:nvPr/>
        </p:nvSpPr>
        <p:spPr>
          <a:xfrm>
            <a:off x="374904" y="3640890"/>
            <a:ext cx="11441887" cy="2511743"/>
          </a:xfrm>
          <a:prstGeom prst="roundRect">
            <a:avLst>
              <a:gd name="adj" fmla="val 1213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32330"/>
            <a:ext cx="5373471" cy="250387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за случай.</a:t>
            </a:r>
            <a:r>
              <a:rPr sz="1300" b="0" i="0">
                <a:solidFill>
                  <a:srgbClr val="21295C"/>
                </a:solidFill>
                <a:latin typeface="Arial"/>
              </a:rPr>
              <a:t> Сервис первой линии в Англии: человек описывает жалобу в приложении, а маршрут «куда вам сейчас» выдаёт модель.</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было до него.</a:t>
            </a:r>
            <a:r>
              <a:rPr sz="1300" b="0" i="0">
                <a:solidFill>
                  <a:srgbClr val="21295C"/>
                </a:solidFill>
                <a:latin typeface="Arial"/>
              </a:rPr>
              <a:t> С жалобой звонили в практику: кого принять сегодня, кого через две недели, решали там. Второй порядок — телефонная линия сортировки национальной службы, оператор по протоколу: </a:t>
            </a:r>
            <a:r>
              <a:rPr sz="1300" b="1" i="0">
                <a:solidFill>
                  <a:srgbClr val="21295C"/>
                </a:solidFill>
                <a:latin typeface="Arial"/>
              </a:rPr>
              <a:t>назван, счёта нет</a:t>
            </a:r>
            <a:r>
              <a:rPr sz="1300" b="0" i="0">
                <a:solidFill>
                  <a:srgbClr val="21295C"/>
                </a:solidFill>
                <a:latin typeface="Arial"/>
              </a:rPr>
              <a:t>.</a:t>
            </a:r>
          </a:p>
          <a:p>
            <a:pPr algn="l">
              <a:lnSpc>
                <a:spcPct val="126000"/>
              </a:lnSpc>
              <a:spcBef>
                <a:spcPts val="700"/>
              </a:spcBef>
            </a:pPr>
            <a:r>
              <a:rPr sz="1300" b="0" i="0">
                <a:solidFill>
                  <a:srgbClr val="21295C"/>
                </a:solidFill>
                <a:latin typeface="Arial"/>
              </a:rPr>
              <a:t/>
            </a:r>
            <a:r>
              <a:rPr sz="1300" b="1" i="0">
                <a:solidFill>
                  <a:srgbClr val="21295C"/>
                </a:solidFill>
                <a:latin typeface="Arial"/>
              </a:rPr>
              <a:t>Цена обеих ошибок:</a:t>
            </a:r>
            <a:r>
              <a:rPr sz="1300" b="0" i="0">
                <a:solidFill>
                  <a:srgbClr val="21295C"/>
                </a:solidFill>
                <a:latin typeface="Arial"/>
              </a:rPr>
              <a:t> пропустить того, кому нужно сейчас · занять приём ненужным · и цена самого канала.</a:t>
            </a:r>
          </a:p>
        </p:txBody>
      </p:sp>
      <p:sp>
        <p:nvSpPr>
          <p:cNvPr id="22" name="TextBox 21"/>
          <p:cNvSpPr txBox="1"/>
          <p:nvPr/>
        </p:nvSpPr>
        <p:spPr>
          <a:xfrm>
            <a:off x="6278727" y="3732330"/>
            <a:ext cx="5373471" cy="250387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Экзамен: 81 у приложения против 72 у врачей.</a:t>
            </a:r>
            <a:r>
              <a:rPr sz="1300" b="0" i="0">
                <a:solidFill>
                  <a:srgbClr val="21295C"/>
                </a:solidFill>
                <a:latin typeface="Arial"/>
              </a:rPr>
              <a:t> Этим обосновали выход в открытый поток. Качество сортировки не измерил никто.</a:t>
            </a:r>
          </a:p>
          <a:p>
            <a:pPr algn="l">
              <a:lnSpc>
                <a:spcPct val="126000"/>
              </a:lnSpc>
              <a:spcBef>
                <a:spcPts val="700"/>
              </a:spcBef>
            </a:pPr>
            <a:r>
              <a:rPr sz="1300" b="0" i="0">
                <a:solidFill>
                  <a:srgbClr val="21295C"/>
                </a:solidFill>
                <a:latin typeface="Arial"/>
              </a:rPr>
              <a:t/>
            </a:r>
            <a:r>
              <a:rPr sz="1300" b="1" i="0">
                <a:solidFill>
                  <a:srgbClr val="21295C"/>
                </a:solidFill>
                <a:latin typeface="Arial"/>
              </a:rPr>
              <a:t>Устроено.</a:t>
            </a:r>
            <a:r>
              <a:rPr sz="1300" b="0" i="0">
                <a:solidFill>
                  <a:srgbClr val="21295C"/>
                </a:solidFill>
                <a:latin typeface="Arial"/>
              </a:rPr>
              <a:t> </a:t>
            </a:r>
            <a:r>
              <a:rPr sz="1300" b="1" i="0">
                <a:solidFill>
                  <a:srgbClr val="21295C"/>
                </a:solidFill>
                <a:latin typeface="Arial"/>
              </a:rPr>
              <a:t>Babylon</a:t>
            </a:r>
            <a:r>
              <a:rPr sz="1300" b="0" i="0">
                <a:solidFill>
                  <a:srgbClr val="21295C"/>
                </a:solidFill>
                <a:latin typeface="Arial"/>
              </a:rPr>
              <a:t>, сервис </a:t>
            </a:r>
            <a:r>
              <a:rPr sz="1300" b="1" i="0">
                <a:solidFill>
                  <a:srgbClr val="21295C"/>
                </a:solidFill>
                <a:latin typeface="Arial"/>
              </a:rPr>
              <a:t>«GP at Hand»</a:t>
            </a:r>
            <a:r>
              <a:rPr sz="1300" b="0" i="0">
                <a:solidFill>
                  <a:srgbClr val="21295C"/>
                </a:solidFill>
                <a:latin typeface="Arial"/>
              </a:rPr>
              <a:t>: вход — жалоба текстом, выход — маршрут. </a:t>
            </a:r>
            <a:r>
              <a:rPr sz="1300" b="1" i="0">
                <a:solidFill>
                  <a:srgbClr val="21295C"/>
                </a:solidFill>
                <a:latin typeface="Arial"/>
              </a:rPr>
              <a:t>Обучать было нечему: внутри дерево «если — то»</a:t>
            </a:r>
            <a:r>
              <a:rPr sz="1300" b="0" i="0">
                <a:solidFill>
                  <a:srgbClr val="21295C"/>
                </a:solidFill>
                <a:latin typeface="Arial"/>
              </a:rPr>
              <a:t> — слова участника, не аудит. </a:t>
            </a:r>
            <a:r>
              <a:rPr sz="1300" b="0" i="1">
                <a:solidFill>
                  <a:srgbClr val="21295C"/>
                </a:solidFill>
                <a:latin typeface="Arial"/>
              </a:rPr>
              <a:t>Поиск с генерацией на тексте.</a:t>
            </a:r>
          </a:p>
          <a:p>
            <a:pPr algn="l">
              <a:lnSpc>
                <a:spcPct val="126000"/>
              </a:lnSpc>
              <a:spcBef>
                <a:spcPts val="700"/>
              </a:spcBef>
            </a:pPr>
            <a:r>
              <a:rPr sz="1300" b="0" i="0">
                <a:solidFill>
                  <a:srgbClr val="21295C"/>
                </a:solidFill>
                <a:latin typeface="Arial"/>
              </a:rPr>
              <a:t/>
            </a:r>
            <a:r>
              <a:rPr sz="1300" b="1" i="0">
                <a:solidFill>
                  <a:srgbClr val="21295C"/>
                </a:solidFill>
                <a:latin typeface="Arial"/>
              </a:rPr>
              <a:t>дало</a:t>
            </a:r>
            <a:r>
              <a:rPr sz="1300" b="0" i="0">
                <a:solidFill>
                  <a:srgbClr val="21295C"/>
                </a:solidFill>
                <a:latin typeface="Arial"/>
              </a:rPr>
              <a:t> круглосуточную сортировку · </a:t>
            </a:r>
            <a:r>
              <a:rPr sz="1300" b="1" i="0">
                <a:solidFill>
                  <a:srgbClr val="21295C"/>
                </a:solidFill>
                <a:latin typeface="Arial"/>
              </a:rPr>
              <a:t>потребовало</a:t>
            </a:r>
            <a:r>
              <a:rPr sz="1300" b="0" i="0">
                <a:solidFill>
                  <a:srgbClr val="21295C"/>
                </a:solidFill>
                <a:latin typeface="Arial"/>
              </a:rPr>
              <a:t> минуса на каждом пациенте · </a:t>
            </a:r>
            <a:r>
              <a:rPr sz="1300" b="1" i="0">
                <a:solidFill>
                  <a:srgbClr val="21295C"/>
                </a:solidFill>
                <a:latin typeface="Arial"/>
              </a:rPr>
              <a:t>в сумме хуже</a:t>
            </a:r>
            <a:r>
              <a:rPr sz="1300" b="0" i="0">
                <a:solidFill>
                  <a:srgbClr val="21295C"/>
                </a:solidFill>
                <a:latin typeface="Arial"/>
              </a:rPr>
              <a:t>: банкротство 2023. </a:t>
            </a:r>
            <a:r>
              <a:rPr sz="1300" b="1" i="0">
                <a:solidFill>
                  <a:srgbClr val="21295C"/>
                </a:solidFill>
                <a:latin typeface="Arial"/>
              </a:rPr>
              <a:t>Итог для отрасли:</a:t>
            </a:r>
            <a:r>
              <a:rPr sz="1300" b="0" i="0">
                <a:solidFill>
                  <a:srgbClr val="21295C"/>
                </a:solidFill>
                <a:latin typeface="Arial"/>
              </a:rPr>
              <a:t> сортировка обращения словами после этого случая стоит на месте</a:t>
            </a:r>
          </a:p>
        </p:txBody>
      </p:sp>
      <p:sp>
        <p:nvSpPr>
          <p:cNvPr id="23" name="Rectangle 22"/>
          <p:cNvSpPr/>
          <p:nvPr/>
        </p:nvSpPr>
        <p:spPr>
          <a:xfrm>
            <a:off x="6091275" y="3732330"/>
            <a:ext cx="9144" cy="2237423"/>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Тест 2017</a:t>
            </a:r>
            <a:r>
              <a:rPr sz="1200" b="0" i="1">
                <a:solidFill>
                  <a:srgbClr val="1C7293"/>
                </a:solidFill>
                <a:latin typeface="Arial"/>
              </a:rPr>
              <a:t> · </a:t>
            </a:r>
            <a:r>
              <a:rPr sz="1200" b="0" i="1">
                <a:solidFill>
                  <a:srgbClr val="1C7293"/>
                </a:solidFill>
                <a:latin typeface="Arial"/>
              </a:rPr>
              <a:t>коллегия врачей 2018</a:t>
            </a:r>
            <a:r>
              <a:rPr sz="1200" b="0" i="1">
                <a:solidFill>
                  <a:srgbClr val="1C7293"/>
                </a:solidFill>
                <a:latin typeface="Arial"/>
              </a:rPr>
              <a:t> · </a:t>
            </a:r>
            <a:r>
              <a:rPr sz="1200" b="0" i="1">
                <a:solidFill>
                  <a:srgbClr val="1C7293"/>
                </a:solidFill>
                <a:latin typeface="Arial"/>
              </a:rPr>
              <a:t>оценка сервиса 2019</a:t>
            </a:r>
            <a:r>
              <a:rPr sz="1200" b="0" i="1">
                <a:solidFill>
                  <a:srgbClr val="1C7293"/>
                </a:solidFill>
                <a:latin typeface="Arial"/>
              </a:rPr>
              <a:t> · </a:t>
            </a:r>
            <a:r>
              <a:rPr sz="1200" b="0" i="1">
                <a:solidFill>
                  <a:srgbClr val="1C7293"/>
                </a:solidFill>
                <a:latin typeface="Arial"/>
              </a:rPr>
              <a:t>банкротство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снимают на приёме, а не у офтальмолога</a:t>
            </a:r>
          </a:p>
        </p:txBody>
      </p:sp>
      <p:sp>
        <p:nvSpPr>
          <p:cNvPr id="4" name="Rounded Rectangle 3"/>
          <p:cNvSpPr/>
          <p:nvPr/>
        </p:nvSpPr>
        <p:spPr>
          <a:xfrm>
            <a:off x="502920"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ДОШЛИ ДО ТЕСТА: НАПРАВЛЕНИЕ К СПЕЦИАЛИСТУ → СЪЁМКА НА ПРИЁМЕ</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100 из ста</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81 человек против 83, приглашение распределяли жребием</a:t>
            </a:r>
          </a:p>
        </p:txBody>
      </p:sp>
      <p:sp>
        <p:nvSpPr>
          <p:cNvPr id="8" name="Rounded Rectangle 7"/>
          <p:cNvSpPr/>
          <p:nvPr/>
        </p:nvSpPr>
        <p:spPr>
          <a:xfrm>
            <a:off x="6178143"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ДОШЛИ ДО ОФТАЛЬМОЛОГА ПОСЛЕ ОТКЛОНЕНИЯ</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 64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25 человек с отклонением дошли 16 — второй шаг того же пути</a:t>
            </a:r>
          </a:p>
        </p:txBody>
      </p:sp>
      <p:sp>
        <p:nvSpPr>
          <p:cNvPr id="12" name="TextBox 11"/>
          <p:cNvSpPr txBox="1"/>
          <p:nvPr/>
        </p:nvSpPr>
        <p:spPr>
          <a:xfrm>
            <a:off x="502920" y="292770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a:t>
            </a:r>
          </a:p>
        </p:txBody>
      </p:sp>
      <p:sp>
        <p:nvSpPr>
          <p:cNvPr id="15" name="Right Arrow 14"/>
          <p:cNvSpPr/>
          <p:nvPr/>
        </p:nvSpPr>
        <p:spPr>
          <a:xfrm>
            <a:off x="5039258" y="3060245"/>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3060245"/>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54940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5039258" y="3681942"/>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8386876" y="3681942"/>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TextBox 29"/>
          <p:cNvSpPr txBox="1"/>
          <p:nvPr/>
        </p:nvSpPr>
        <p:spPr>
          <a:xfrm>
            <a:off x="502920" y="402479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Одним снимала медсестра на приёме, остальных отправляли к офтальмологу</a:t>
            </a:r>
          </a:p>
        </p:txBody>
      </p:sp>
      <p:sp>
        <p:nvSpPr>
          <p:cNvPr id="31" name="Rounded Rectangle 30"/>
          <p:cNvSpPr/>
          <p:nvPr/>
        </p:nvSpPr>
        <p:spPr>
          <a:xfrm>
            <a:off x="374904" y="4327478"/>
            <a:ext cx="11441887" cy="1908729"/>
          </a:xfrm>
          <a:prstGeom prst="roundRect">
            <a:avLst>
              <a:gd name="adj" fmla="val 15968"/>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418918"/>
            <a:ext cx="5373471" cy="1817289"/>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Что за случай.</a:t>
            </a:r>
            <a:r>
              <a:rPr sz="1450" b="0" i="0">
                <a:solidFill>
                  <a:srgbClr val="21295C"/>
                </a:solidFill>
                <a:latin typeface="Arial"/>
              </a:rPr>
              <a:t> Подростки 8–21 года с диабетом: раз в год надо смотреть глазное дно. </a:t>
            </a:r>
            <a:r>
              <a:rPr sz="1450" b="1" i="0">
                <a:solidFill>
                  <a:srgbClr val="21295C"/>
                </a:solidFill>
                <a:latin typeface="Arial"/>
              </a:rPr>
              <a:t>Выигрыш измерен явкой, а не точностью чтения, — поэтому это отбор.</a:t>
            </a:r>
          </a:p>
          <a:p>
            <a:pPr algn="l">
              <a:lnSpc>
                <a:spcPct val="126000"/>
              </a:lnSpc>
              <a:spcBef>
                <a:spcPts val="700"/>
              </a:spcBef>
            </a:pPr>
            <a:r>
              <a:rPr sz="1450" b="0" i="0">
                <a:solidFill>
                  <a:srgbClr val="21295C"/>
                </a:solidFill>
                <a:latin typeface="Arial"/>
              </a:rPr>
              <a:t/>
            </a:r>
            <a:r>
              <a:rPr sz="1450" b="1" i="0">
                <a:solidFill>
                  <a:srgbClr val="21295C"/>
                </a:solidFill>
                <a:latin typeface="Arial"/>
              </a:rPr>
              <a:t>Цена обеих ошибок:</a:t>
            </a:r>
            <a:r>
              <a:rPr sz="1450" b="0" i="0">
                <a:solidFill>
                  <a:srgbClr val="21295C"/>
                </a:solidFill>
                <a:latin typeface="Arial"/>
              </a:rPr>
              <a:t> пропустить — бессимптомно до потери зрения · позвать зря — визит к специалисту, которого в районе может не быть · и теряют на неявке.</a:t>
            </a:r>
          </a:p>
        </p:txBody>
      </p:sp>
      <p:sp>
        <p:nvSpPr>
          <p:cNvPr id="33" name="TextBox 32"/>
          <p:cNvSpPr txBox="1"/>
          <p:nvPr/>
        </p:nvSpPr>
        <p:spPr>
          <a:xfrm>
            <a:off x="6278727" y="4418918"/>
            <a:ext cx="5373471" cy="1817289"/>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Устроено:</a:t>
            </a:r>
            <a:r>
              <a:rPr sz="1450" b="0" i="0">
                <a:solidFill>
                  <a:srgbClr val="21295C"/>
                </a:solidFill>
                <a:latin typeface="Arial"/>
              </a:rPr>
              <a:t> вход — два снимка глазного дна, выход — метка «направить или нет» за минуту. </a:t>
            </a:r>
            <a:r>
              <a:rPr sz="1450" b="1" i="0">
                <a:solidFill>
                  <a:srgbClr val="21295C"/>
                </a:solidFill>
                <a:latin typeface="Arial"/>
              </a:rPr>
              <a:t>Прибор испытания не назван</a:t>
            </a:r>
            <a:r>
              <a:rPr sz="1450" b="0" i="0">
                <a:solidFill>
                  <a:srgbClr val="21295C"/>
                </a:solidFill>
                <a:latin typeface="Arial"/>
              </a:rPr>
              <a:t>; режим допущен первым в 2018-м — IDx-DR, ныне LumineticsCore. </a:t>
            </a:r>
            <a:r>
              <a:rPr sz="1450" b="0" i="1">
                <a:solidFill>
                  <a:srgbClr val="21295C"/>
                </a:solidFill>
                <a:latin typeface="Arial"/>
              </a:rPr>
              <a:t>Классификация на изображении.</a:t>
            </a:r>
          </a:p>
          <a:p>
            <a:pPr algn="l">
              <a:lnSpc>
                <a:spcPct val="126000"/>
              </a:lnSpc>
              <a:spcBef>
                <a:spcPts val="700"/>
              </a:spcBef>
            </a:pPr>
            <a:r>
              <a:rPr sz="1450" b="0" i="0">
                <a:solidFill>
                  <a:srgbClr val="21295C"/>
                </a:solidFill>
                <a:latin typeface="Arial"/>
              </a:rPr>
              <a:t/>
            </a:r>
            <a:r>
              <a:rPr sz="1450" b="1" i="0">
                <a:solidFill>
                  <a:srgbClr val="21295C"/>
                </a:solidFill>
                <a:latin typeface="Arial"/>
              </a:rPr>
              <a:t>Что это стоило — на кадре следом.</a:t>
            </a:r>
          </a:p>
        </p:txBody>
      </p:sp>
      <p:sp>
        <p:nvSpPr>
          <p:cNvPr id="34" name="Rectangle 33"/>
          <p:cNvSpPr/>
          <p:nvPr/>
        </p:nvSpPr>
        <p:spPr>
          <a:xfrm>
            <a:off x="6091275" y="4418918"/>
            <a:ext cx="9144" cy="1811854"/>
          </a:xfrm>
          <a:prstGeom prst="rect">
            <a:avLst/>
          </a:prstGeom>
          <a:solidFill>
            <a:srgbClr val="D9E2EC"/>
          </a:solidFill>
          <a:ln>
            <a:noFill/>
          </a:ln>
          <a:effectLst/>
        </p:spPr>
        <p:txBody>
          <a:bodyPr rtlCol="0" anchor="ctr"/>
          <a:lstStyle/>
          <a:p>
            <a:pPr algn="ctr"/>
          </a:p>
        </p:txBody>
      </p:sp>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Wolf и соавторы, Nature Communications 2024 — рандомизированное испытание явки</a:t>
            </a:r>
            <a:r>
              <a:rPr sz="1200" b="0" i="1">
                <a:solidFill>
                  <a:srgbClr val="1C7293"/>
                </a:solidFill>
                <a:latin typeface="Arial"/>
              </a:rPr>
              <a:t> · </a:t>
            </a:r>
            <a:r>
              <a:rPr sz="1200" b="0" i="1" u="sng">
                <a:solidFill>
                  <a:srgbClr val="065A82"/>
                </a:solidFill>
                <a:latin typeface="Arial"/>
                <a:hlinkClick r:id="rId3"/>
              </a:rPr>
              <a:t>Решение регулятора США DEN180001, 2018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отказной поток и новый шаг</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НЕГОДНЫ ПО КАЧЕСТВУ</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снимков из ста</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зрелый поток: 101 710 визитов в 404 клиниках, прибор другого производителя, взрослые</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ПОТОК, КОТОРОГО СПЕЦИАЛИСТ НЕ ВИДИТ ВОВСЕ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75,7 из ста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зрелый поток; прежде нормальное к нему приходило и он мог его проверить</a:t>
            </a:r>
          </a:p>
        </p:txBody>
      </p:sp>
      <p:sp>
        <p:nvSpPr>
          <p:cNvPr id="12" name="Rounded Rectangle 11"/>
          <p:cNvSpPr/>
          <p:nvPr/>
        </p:nvSpPr>
        <p:spPr>
          <a:xfrm>
            <a:off x="374904" y="2803461"/>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Съёмка на приёме дала явку. Теперь — чего это стоило и 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Сменился исполнитель.</a:t>
            </a:r>
            <a:r>
              <a:rPr sz="1500" b="0" i="0">
                <a:solidFill>
                  <a:srgbClr val="21295C"/>
                </a:solidFill>
                <a:latin typeface="Arial"/>
              </a:rPr>
              <a:t> Решение «направить или нет» перешло от офтальмолога к допущенному регулятором устройству целиком, и вместе с решением переехала ответственность за пропуск. Единственный случай лекции, где исполнитель сменился по документу.</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Появился шаг, которого не было:</a:t>
            </a:r>
            <a:r>
              <a:rPr sz="1500" b="0" i="0">
                <a:solidFill>
                  <a:srgbClr val="21295C"/>
                </a:solidFill>
                <a:latin typeface="Arial"/>
              </a:rPr>
              <a:t> добыть годный снимок. У офтальмолога такой операции не существовало — условия съёмки он поправлял сам, на месте.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числа — с другой программы и другого прибора,</a:t>
            </a:r>
            <a:r>
              <a:rPr sz="1500" b="0" i="0">
                <a:solidFill>
                  <a:srgbClr val="21295C"/>
                </a:solidFill>
                <a:latin typeface="Arial"/>
              </a:rPr>
              <a:t> на взрослых. С явкой 22 против ста в одну бухгалтерию они не складываются.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доступ на месте, без визита · </a:t>
            </a:r>
            <a:r>
              <a:rPr sz="1500" b="1" i="0">
                <a:solidFill>
                  <a:srgbClr val="21295C"/>
                </a:solidFill>
                <a:latin typeface="Arial"/>
              </a:rPr>
              <a:t>потребовало</a:t>
            </a:r>
            <a:r>
              <a:rPr sz="1500" b="0" i="0">
                <a:solidFill>
                  <a:srgbClr val="21295C"/>
                </a:solidFill>
                <a:latin typeface="Arial"/>
              </a:rPr>
              <a:t> новый шаг и поток, которого никто не смотрит · </a:t>
            </a:r>
            <a:r>
              <a:rPr sz="1500" b="1" i="0">
                <a:solidFill>
                  <a:srgbClr val="21295C"/>
                </a:solidFill>
                <a:latin typeface="Arial"/>
              </a:rPr>
              <a:t>в сумме</a:t>
            </a:r>
            <a:r>
              <a:rPr sz="1500" b="0" i="0">
                <a:solidFill>
                  <a:srgbClr val="21295C"/>
                </a:solidFill>
                <a:latin typeface="Arial"/>
              </a:rPr>
              <a:t>: доступ ценой отказного потока</a:t>
            </a:r>
          </a:p>
        </p:txBody>
      </p:sp>
      <p:sp>
        <p:nvSpPr>
          <p:cNvPr id="15" name="Rectangle 14"/>
          <p:cNvSpPr/>
          <p:nvPr/>
        </p:nvSpPr>
        <p:spPr>
          <a:xfrm>
            <a:off x="6091275" y="2894901"/>
            <a:ext cx="9144" cy="28513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Ретроспективный поток автономного чтения, прибор EyeArt — 101 710 визитов, 404 клиники</a:t>
            </a:r>
            <a:r>
              <a:rPr sz="1200" b="0" i="1">
                <a:solidFill>
                  <a:srgbClr val="1C7293"/>
                </a:solidFill>
                <a:latin typeface="Arial"/>
              </a:rPr>
              <a:t> · </a:t>
            </a:r>
            <a:r>
              <a:rPr sz="1200" b="0" i="1" u="sng">
                <a:solidFill>
                  <a:srgbClr val="065A82"/>
                </a:solidFill>
                <a:latin typeface="Arial"/>
                <a:hlinkClick r:id="rId2"/>
              </a:rPr>
              <a:t>решение регулятора США DEN180001, 2018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Вывод раздела: выигрыш в доступе, точности модель не прибавила</a:t>
            </a:r>
          </a:p>
        </p:txBody>
      </p:sp>
      <p:sp>
        <p:nvSpPr>
          <p:cNvPr id="4" name="Rounded Rectangle 3"/>
          <p:cNvSpPr/>
          <p:nvPr/>
        </p:nvSpPr>
        <p:spPr>
          <a:xfrm>
            <a:off x="374904" y="1243584"/>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дотянуться до тех, кто иначе не придёт — </a:t>
            </a:r>
            <a:r>
              <a:rPr sz="1500" b="1" i="0">
                <a:solidFill>
                  <a:srgbClr val="21295C"/>
                </a:solidFill>
                <a:latin typeface="Arial"/>
              </a:rPr>
              <a:t>22 → 100 из ста</a:t>
            </a:r>
            <a:r>
              <a:rPr sz="1500" b="0" i="0">
                <a:solidFill>
                  <a:srgbClr val="21295C"/>
                </a:solidFill>
                <a:latin typeface="Arial"/>
              </a:rPr>
              <a:t> · снять объём чтения там, где процедура плотная — </a:t>
            </a:r>
            <a:r>
              <a:rPr sz="1500" b="1" i="0">
                <a:solidFill>
                  <a:srgbClr val="21295C"/>
                </a:solidFill>
                <a:latin typeface="Arial"/>
              </a:rPr>
              <a:t>второго чтения на 44,3 процента меньше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назначить порог — за ним подпись · открытый поток — единственная состоявшаяся попытка кончилась банкротством · отвечать за годность снимка.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 работой:</a:t>
            </a:r>
            <a:r>
              <a:rPr sz="1500" b="0" i="0">
                <a:solidFill>
                  <a:srgbClr val="21295C"/>
                </a:solidFill>
                <a:latin typeface="Arial"/>
              </a:rPr>
              <a:t> нагрузка переехала с сортировки на приём, и платить за неё стало некому · сменился исполнитель, производной формой появился шаг — добыть годный снимок.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a:t>
            </a:r>
            <a:r>
              <a:rPr sz="1500" b="0" i="0">
                <a:solidFill>
                  <a:srgbClr val="21295C"/>
                </a:solidFill>
                <a:latin typeface="Arial"/>
              </a:rPr>
              <a:t> порог-документ и двойное чтение с арбитражем там, где второго читателя не сняли. </a:t>
            </a:r>
            <a:r>
              <a:rPr sz="1500" b="1" i="0">
                <a:solidFill>
                  <a:srgbClr val="21295C"/>
                </a:solidFill>
                <a:latin typeface="Arial"/>
              </a:rPr>
              <a:t>Отсеянное фильтром не проверяет ни одна процедура.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В скрининге человек прочёл каждое исследование. Где решала модель — её «норма» до него не дошла.</a:t>
            </a:r>
          </a:p>
        </p:txBody>
      </p:sp>
      <p:sp>
        <p:nvSpPr>
          <p:cNvPr id="7" name="Rectangle 6"/>
          <p:cNvSpPr/>
          <p:nvPr/>
        </p:nvSpPr>
        <p:spPr>
          <a:xfrm>
            <a:off x="6091275" y="1335024"/>
            <a:ext cx="9144" cy="2851350"/>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Исследование и постановка диагноза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 скрининге решали, кого посмотреть. Здесь человека измеряют прибором — и по измеренному ставят диагноз и подписывают его.</a:t>
            </a:r>
            <a:r>
              <a:rPr sz="1550" b="0" i="0">
                <a:solidFill>
                  <a:srgbClr val="21295C"/>
                </a:solidFill>
                <a:latin typeface="Arial"/>
              </a:rPr>
              <a:t> У каждой доли есть группа, на которой она посчитана.</a:t>
            </a:r>
          </a:p>
        </p:txBody>
      </p:sp>
      <p:sp>
        <p:nvSpPr>
          <p:cNvPr id="9" name="TextBox 8"/>
          <p:cNvSpPr txBox="1"/>
          <p:nvPr/>
        </p:nvSpPr>
        <p:spPr>
          <a:xfrm>
            <a:off x="704088" y="3347654"/>
            <a:ext cx="6473952" cy="1547029"/>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Семь разборов по порядку.</a:t>
            </a:r>
            <a:r>
              <a:rPr sz="1550" b="0" i="0">
                <a:solidFill>
                  <a:srgbClr val="21295C"/>
                </a:solidFill>
                <a:latin typeface="Arial"/>
              </a:rPr>
              <a:t> Стадия исследования: </a:t>
            </a:r>
            <a:r>
              <a:rPr sz="1550" b="1" i="0">
                <a:solidFill>
                  <a:srgbClr val="21295C"/>
                </a:solidFill>
                <a:latin typeface="Arial"/>
              </a:rPr>
              <a:t>Таиланд</a:t>
            </a:r>
            <a:r>
              <a:rPr sz="1550" b="0" i="0">
                <a:solidFill>
                  <a:srgbClr val="21295C"/>
                </a:solidFill>
                <a:latin typeface="Arial"/>
              </a:rPr>
              <a:t> · </a:t>
            </a:r>
            <a:r>
              <a:rPr sz="1550" b="1" i="0">
                <a:solidFill>
                  <a:srgbClr val="21295C"/>
                </a:solidFill>
                <a:latin typeface="Arial"/>
              </a:rPr>
              <a:t>отбор в программу повышенного внимания</a:t>
            </a:r>
            <a:r>
              <a:rPr sz="1550" b="0" i="0">
                <a:solidFill>
                  <a:srgbClr val="21295C"/>
                </a:solidFill>
                <a:latin typeface="Arial"/>
              </a:rPr>
              <a:t>. Стадия диагноза: </a:t>
            </a:r>
            <a:r>
              <a:rPr sz="1550" b="1" i="0">
                <a:solidFill>
                  <a:srgbClr val="21295C"/>
                </a:solidFill>
                <a:latin typeface="Arial"/>
              </a:rPr>
              <a:t>замер взгляда</a:t>
            </a:r>
            <a:r>
              <a:rPr sz="1550" b="0" i="0">
                <a:solidFill>
                  <a:srgbClr val="21295C"/>
                </a:solidFill>
                <a:latin typeface="Arial"/>
              </a:rPr>
              <a:t> · </a:t>
            </a:r>
            <a:r>
              <a:rPr sz="1550" b="1" i="0">
                <a:solidFill>
                  <a:srgbClr val="21295C"/>
                </a:solidFill>
                <a:latin typeface="Arial"/>
              </a:rPr>
              <a:t>патологи читают срезы</a:t>
            </a:r>
            <a:r>
              <a:rPr sz="1550" b="0" i="0">
                <a:solidFill>
                  <a:srgbClr val="21295C"/>
                </a:solidFill>
                <a:latin typeface="Arial"/>
              </a:rPr>
              <a:t> · </a:t>
            </a:r>
            <a:r>
              <a:rPr sz="1550" b="1" i="0">
                <a:solidFill>
                  <a:srgbClr val="21295C"/>
                </a:solidFill>
                <a:latin typeface="Arial"/>
              </a:rPr>
              <a:t>шведское испытание</a:t>
            </a:r>
            <a:r>
              <a:rPr sz="1550" b="0" i="0">
                <a:solidFill>
                  <a:srgbClr val="21295C"/>
                </a:solidFill>
                <a:latin typeface="Arial"/>
              </a:rPr>
              <a:t> · </a:t>
            </a:r>
            <a:r>
              <a:rPr sz="1550" b="1" i="0">
                <a:solidFill>
                  <a:srgbClr val="21295C"/>
                </a:solidFill>
                <a:latin typeface="Arial"/>
              </a:rPr>
              <a:t>хирурги оценивают риск</a:t>
            </a:r>
            <a:r>
              <a:rPr sz="1550" b="0" i="0">
                <a:solidFill>
                  <a:srgbClr val="21295C"/>
                </a:solidFill>
                <a:latin typeface="Arial"/>
              </a:rPr>
              <a:t>. Непрерывное наблюдение: </a:t>
            </a:r>
            <a:r>
              <a:rPr sz="1550" b="1" i="0">
                <a:solidFill>
                  <a:srgbClr val="21295C"/>
                </a:solidFill>
                <a:latin typeface="Arial"/>
              </a:rPr>
              <a:t>модель раннего предупреждения о сепсисе</a:t>
            </a:r>
            <a:r>
              <a:rPr sz="1550" b="0" i="0">
                <a:solidFill>
                  <a:srgbClr val="21295C"/>
                </a:solidFill>
                <a:latin typeface="Arial"/>
              </a:rP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Исследование: шесть действий стадии и два, которые заняла модель</a:t>
            </a:r>
          </a:p>
        </p:txBody>
      </p:sp>
      <p:sp>
        <p:nvSpPr>
          <p:cNvPr id="4" name="TextBox 3"/>
          <p:cNvSpPr txBox="1"/>
          <p:nvPr/>
        </p:nvSpPr>
        <p:spPr>
          <a:xfrm>
            <a:off x="502920" y="1371600"/>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Человек — четыре</a:t>
            </a:r>
          </a:p>
        </p:txBody>
      </p:sp>
      <p:sp>
        <p:nvSpPr>
          <p:cNvPr id="5" name="Rounded Rectangle 4"/>
          <p:cNvSpPr/>
          <p:nvPr/>
        </p:nvSpPr>
        <p:spPr>
          <a:xfrm>
            <a:off x="1920240"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назначить порог</a:t>
            </a:r>
          </a:p>
        </p:txBody>
      </p:sp>
      <p:sp>
        <p:nvSpPr>
          <p:cNvPr id="7" name="Right Arrow 6"/>
          <p:cNvSpPr/>
          <p:nvPr/>
        </p:nvSpPr>
        <p:spPr>
          <a:xfrm>
            <a:off x="3141649" y="1702181"/>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37024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45254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снять измерение</a:t>
            </a:r>
          </a:p>
        </p:txBody>
      </p:sp>
      <p:sp>
        <p:nvSpPr>
          <p:cNvPr id="10" name="Right Arrow 9"/>
          <p:cNvSpPr/>
          <p:nvPr/>
        </p:nvSpPr>
        <p:spPr>
          <a:xfrm>
            <a:off x="4591659" y="1702181"/>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482025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90255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решить, годно ли</a:t>
            </a:r>
          </a:p>
        </p:txBody>
      </p:sp>
      <p:sp>
        <p:nvSpPr>
          <p:cNvPr id="13" name="Right Arrow 12"/>
          <p:cNvSpPr/>
          <p:nvPr/>
        </p:nvSpPr>
        <p:spPr>
          <a:xfrm>
            <a:off x="6041669" y="1702181"/>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7026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5256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пересчитать под свою группу</a:t>
            </a:r>
          </a:p>
        </p:txBody>
      </p:sp>
      <p:sp>
        <p:nvSpPr>
          <p:cNvPr id="16" name="TextBox 15"/>
          <p:cNvSpPr txBox="1"/>
          <p:nvPr/>
        </p:nvSpPr>
        <p:spPr>
          <a:xfrm>
            <a:off x="502920" y="2389378"/>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 два</a:t>
            </a:r>
          </a:p>
        </p:txBody>
      </p:sp>
      <p:sp>
        <p:nvSpPr>
          <p:cNvPr id="17" name="Rounded Rectangle 16"/>
          <p:cNvSpPr/>
          <p:nvPr/>
        </p:nvSpPr>
        <p:spPr>
          <a:xfrm>
            <a:off x="1920240"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прочесть измерение</a:t>
            </a:r>
          </a:p>
        </p:txBody>
      </p:sp>
      <p:sp>
        <p:nvSpPr>
          <p:cNvPr id="19" name="Rounded Rectangle 18"/>
          <p:cNvSpPr/>
          <p:nvPr/>
        </p:nvSpPr>
        <p:spPr>
          <a:xfrm>
            <a:off x="4756251"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838547"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сообщить результат</a:t>
            </a:r>
          </a:p>
        </p:txBody>
      </p:sp>
      <p:sp>
        <p:nvSpPr>
          <p:cNvPr id="21" name="TextBox 20"/>
          <p:cNvSpPr txBox="1"/>
          <p:nvPr/>
        </p:nvSpPr>
        <p:spPr>
          <a:xfrm>
            <a:off x="502920" y="3260852"/>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действий стадии; модель заняла два</a:t>
            </a:r>
          </a:p>
        </p:txBody>
      </p:sp>
      <p:sp>
        <p:nvSpPr>
          <p:cNvPr id="22" name="Rounded Rectangle 21"/>
          <p:cNvSpPr/>
          <p:nvPr/>
        </p:nvSpPr>
        <p:spPr>
          <a:xfrm>
            <a:off x="374904" y="3563536"/>
            <a:ext cx="7199071" cy="2672671"/>
          </a:xfrm>
          <a:prstGeom prst="roundRect">
            <a:avLst>
              <a:gd name="adj" fmla="val 1140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654976"/>
            <a:ext cx="6869887" cy="258123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Про человека снимают величины</a:t>
            </a:r>
            <a:r>
              <a:rPr sz="1250" b="0" i="0">
                <a:solidFill>
                  <a:srgbClr val="21295C"/>
                </a:solidFill>
                <a:latin typeface="Arial"/>
              </a:rPr>
              <a:t> — прибором, в лаборатории, под нагрузкой; у прибора стоит лаборант, техник, медсестра. </a:t>
            </a:r>
            <a:r>
              <a:rPr sz="1250" b="1" i="0">
                <a:solidFill>
                  <a:srgbClr val="21295C"/>
                </a:solidFill>
                <a:latin typeface="Arial"/>
              </a:rPr>
              <a:t>Измеряет прибор, а модель выносит первичное заключение по измеренному</a:t>
            </a:r>
            <a:r>
              <a:rPr sz="1250" b="0" i="0">
                <a:solidFill>
                  <a:srgbClr val="21295C"/>
                </a:solidFill>
                <a:latin typeface="Arial"/>
              </a:rPr>
              <a:t> — от него зависит, что обследуют дальше.</a:t>
            </a:r>
          </a:p>
          <a:p>
            <a:pPr algn="l">
              <a:lnSpc>
                <a:spcPct val="126000"/>
              </a:lnSpc>
              <a:spcBef>
                <a:spcPts val="700"/>
              </a:spcBef>
            </a:pPr>
            <a:r>
              <a:rPr sz="1250" b="0" i="0">
                <a:solidFill>
                  <a:srgbClr val="21295C"/>
                </a:solidFill>
                <a:latin typeface="Arial"/>
              </a:rPr>
              <a:t/>
            </a:r>
            <a:r>
              <a:rPr sz="1250" b="1" i="0">
                <a:solidFill>
                  <a:srgbClr val="21295C"/>
                </a:solidFill>
                <a:latin typeface="Arial"/>
              </a:rPr>
              <a:t>Чего она не делает:</a:t>
            </a:r>
            <a:r>
              <a:rPr sz="1250" b="0" i="0">
                <a:solidFill>
                  <a:srgbClr val="21295C"/>
                </a:solidFill>
                <a:latin typeface="Arial"/>
              </a:rPr>
              <a:t> не назначает порог под цену ошибки, не умеет переснять, годность входа оставляет человеку без профильной подготовки. </a:t>
            </a:r>
            <a:r>
              <a:rPr sz="1250" b="1" i="0">
                <a:solidFill>
                  <a:srgbClr val="21295C"/>
                </a:solidFill>
                <a:latin typeface="Arial"/>
              </a:rPr>
              <a:t>Занятые два — не самые трудные из шести.</a:t>
            </a:r>
          </a:p>
          <a:p>
            <a:pPr algn="l">
              <a:lnSpc>
                <a:spcPct val="126000"/>
              </a:lnSpc>
              <a:spcBef>
                <a:spcPts val="700"/>
              </a:spcBef>
            </a:pPr>
            <a:r>
              <a:rPr sz="1250" b="0" i="0">
                <a:solidFill>
                  <a:srgbClr val="21295C"/>
                </a:solidFill>
                <a:latin typeface="Arial"/>
              </a:rPr>
              <a:t/>
            </a:r>
            <a:r>
              <a:rPr sz="1250" b="1" i="0">
                <a:solidFill>
                  <a:srgbClr val="21295C"/>
                </a:solidFill>
                <a:latin typeface="Arial"/>
              </a:rPr>
              <a:t>Обзор работ по снимкам при ковидной пневмонии:</a:t>
            </a:r>
            <a:r>
              <a:rPr sz="1250" b="0" i="0">
                <a:solidFill>
                  <a:srgbClr val="21295C"/>
                </a:solidFill>
                <a:latin typeface="Arial"/>
              </a:rPr>
              <a:t> из 2 212 отобрали 62 — </a:t>
            </a:r>
            <a:r>
              <a:rPr sz="1250" b="1" i="0">
                <a:solidFill>
                  <a:srgbClr val="21295C"/>
                </a:solidFill>
                <a:latin typeface="Arial"/>
              </a:rPr>
              <a:t>доли считали все, группу почти никто, ни одна не годна для клиники.</a:t>
            </a:r>
          </a:p>
          <a:p>
            <a:pPr algn="l">
              <a:lnSpc>
                <a:spcPct val="126000"/>
              </a:lnSpc>
              <a:spcBef>
                <a:spcPts val="700"/>
              </a:spcBef>
            </a:pPr>
            <a:r>
              <a:rPr sz="1250" b="0" i="0">
                <a:solidFill>
                  <a:srgbClr val="21295C"/>
                </a:solidFill>
                <a:latin typeface="Arial"/>
              </a:rPr>
              <a:t/>
            </a:r>
            <a:r>
              <a:rPr sz="1250" b="1" i="0">
                <a:solidFill>
                  <a:srgbClr val="21295C"/>
                </a:solidFill>
                <a:latin typeface="Arial"/>
              </a:rPr>
              <a:t>Вам называют «точность 94 процента». На какой группе она посчитана?</a:t>
            </a:r>
          </a:p>
        </p:txBody>
      </p:sp>
      <p:sp>
        <p:nvSpPr>
          <p:cNvPr id="24" name="Rounded Rectangle 23"/>
          <p:cNvSpPr/>
          <p:nvPr/>
        </p:nvSpPr>
        <p:spPr>
          <a:xfrm>
            <a:off x="7756855" y="1335024"/>
            <a:ext cx="3931920" cy="2819102"/>
          </a:xfrm>
          <a:prstGeom prst="roundRect">
            <a:avLst>
              <a:gd name="adj" fmla="val 10811"/>
            </a:avLst>
          </a:prstGeom>
          <a:solidFill>
            <a:srgbClr val="F4F7FA"/>
          </a:solidFill>
          <a:ln w="19050">
            <a:solidFill>
              <a:srgbClr val="1C7293"/>
            </a:solidFill>
          </a:ln>
          <a:effectLst/>
        </p:spPr>
        <p:txBody>
          <a:bodyPr rtlCol="0" anchor="ctr"/>
          <a:lstStyle/>
          <a:p>
            <a:pPr algn="ctr"/>
          </a:p>
        </p:txBody>
      </p:sp>
      <p:pic>
        <p:nvPicPr>
          <p:cNvPr id="25" name="Picture 24" descr="s23-laborant-za-pultom-reshaet-o-godnosti.jpg"/>
          <p:cNvPicPr>
            <a:picLocks noChangeAspect="1"/>
          </p:cNvPicPr>
          <p:nvPr/>
        </p:nvPicPr>
        <p:blipFill>
          <a:blip r:embed="rId2"/>
          <a:stretch>
            <a:fillRect/>
          </a:stretch>
        </p:blipFill>
        <p:spPr>
          <a:xfrm>
            <a:off x="7894015" y="1472184"/>
            <a:ext cx="3657600" cy="2544782"/>
          </a:xfrm>
          <a:prstGeom prst="rect">
            <a:avLst/>
          </a:prstGeom>
        </p:spPr>
      </p:pic>
      <p:sp>
        <p:nvSpPr>
          <p:cNvPr id="26" name="Rectangle 2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Roberts и соавт., Nature Machine Intelligence 2021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техник у аппарата</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7" name="Right Arrow 6"/>
          <p:cNvSpPr/>
          <p:nvPr/>
        </p:nvSpPr>
        <p:spPr>
          <a:xfrm>
            <a:off x="5039258"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годится или переснять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14" name="Rounded Rectangle 13"/>
          <p:cNvSpPr/>
          <p:nvPr/>
        </p:nvSpPr>
        <p:spPr>
          <a:xfrm>
            <a:off x="1920240"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16" name="Right Arrow 15"/>
          <p:cNvSpPr/>
          <p:nvPr/>
        </p:nvSpPr>
        <p:spPr>
          <a:xfrm>
            <a:off x="5039258" y="248231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система сама отклоняет негодный</a:t>
            </a:r>
          </a:p>
        </p:txBody>
      </p:sp>
      <p:sp>
        <p:nvSpPr>
          <p:cNvPr id="19" name="Right Arrow 18"/>
          <p:cNvSpPr/>
          <p:nvPr/>
        </p:nvSpPr>
        <p:spPr>
          <a:xfrm>
            <a:off x="8386876"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повторный визит</a:t>
            </a:r>
          </a:p>
        </p:txBody>
      </p:sp>
      <p:sp>
        <p:nvSpPr>
          <p:cNvPr id="22" name="TextBox 21"/>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о годности снимка: без модели и с моделью</a:t>
            </a:r>
          </a:p>
        </p:txBody>
      </p:sp>
      <p:sp>
        <p:nvSpPr>
          <p:cNvPr id="23" name="Rounded Rectangle 22"/>
          <p:cNvSpPr/>
          <p:nvPr/>
        </p:nvSpPr>
        <p:spPr>
          <a:xfrm>
            <a:off x="374904" y="3246671"/>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338111"/>
            <a:ext cx="11112703" cy="28980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Раздел берёт один классический режим — </a:t>
            </a:r>
            <a:r>
              <a:rPr sz="1500" b="1" i="0">
                <a:solidFill>
                  <a:srgbClr val="21295C"/>
                </a:solidFill>
                <a:latin typeface="Arial"/>
              </a:rPr>
              <a:t>контроль годности измерения.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решает техник:</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это кончается, если негодный снимок уйдёт на чтение:</a:t>
            </a:r>
            <a:r>
              <a:rPr sz="1500" b="0" i="0">
                <a:solidFill>
                  <a:srgbClr val="21295C"/>
                </a:solidFill>
                <a:latin typeface="Arial"/>
              </a:rPr>
              <a:t> заключение поставят по тому, что видно, — и дальше по цепочке идут неверный диагноз, повторное исследование, потерянные недели и лечение, начатое не вовремя. </a:t>
            </a:r>
            <a:r>
              <a:rPr sz="1500" b="1" i="0">
                <a:solidFill>
                  <a:srgbClr val="21295C"/>
                </a:solidFill>
                <a:latin typeface="Arial"/>
              </a:rPr>
              <a:t>Заметит это никто,</a:t>
            </a:r>
            <a:r>
              <a:rPr sz="1500" b="0" i="0">
                <a:solidFill>
                  <a:srgbClr val="21295C"/>
                </a:solidFill>
                <a:latin typeface="Arial"/>
              </a:rPr>
              <a:t> пока не понадобится пересмотр.</a:t>
            </a:r>
          </a:p>
          <a:p>
            <a:pPr algn="l">
              <a:lnSpc>
                <a:spcPct val="126000"/>
              </a:lnSpc>
              <a:spcBef>
                <a:spcPts val="700"/>
              </a:spcBef>
            </a:pPr>
            <a:r>
              <a:rPr sz="1500" b="0" i="0">
                <a:solidFill>
                  <a:srgbClr val="21295C"/>
                </a:solidFill>
                <a:latin typeface="Arial"/>
              </a:rPr>
              <a:t/>
            </a:r>
            <a:r>
              <a:rPr sz="1500" b="1" i="0">
                <a:solidFill>
                  <a:srgbClr val="21295C"/>
                </a:solidFill>
                <a:latin typeface="Arial"/>
              </a:rPr>
              <a:t>С моделью развилка не исчезает, а раздваивается:</a:t>
            </a:r>
            <a:r>
              <a:rPr sz="1500" b="0" i="0">
                <a:solidFill>
                  <a:srgbClr val="21295C"/>
                </a:solidFill>
                <a:latin typeface="Arial"/>
              </a:rPr>
              <a:t> негодный снимок она отклоняет сама — и тогда человеку достаётся повторный визит; не отклонит — читает то, что ей дали.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Таиланд — чтение глазного дна в кабинете первичного звена</a:t>
            </a:r>
          </a:p>
        </p:txBody>
      </p:sp>
      <p:sp>
        <p:nvSpPr>
          <p:cNvPr id="4" name="Rounded Rectangle 3"/>
          <p:cNvSpPr/>
          <p:nvPr/>
        </p:nvSpPr>
        <p:spPr>
          <a:xfrm>
            <a:off x="502920" y="1335024"/>
            <a:ext cx="3389223" cy="1870213"/>
          </a:xfrm>
          <a:prstGeom prst="roundRect">
            <a:avLst>
              <a:gd name="adj" fmla="val 162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114903" cy="1131458"/>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потеря зрения · визит к офтальмологу, которого нет</a:t>
            </a:r>
          </a:p>
        </p:txBody>
      </p:sp>
      <p:sp>
        <p:nvSpPr>
          <p:cNvPr id="7" name="TextBox 6"/>
          <p:cNvSpPr txBox="1"/>
          <p:nvPr/>
        </p:nvSpPr>
        <p:spPr>
          <a:xfrm>
            <a:off x="640080" y="2856833"/>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денежных оценок для этой страны нет</a:t>
            </a:r>
          </a:p>
        </p:txBody>
      </p:sp>
      <p:sp>
        <p:nvSpPr>
          <p:cNvPr id="8" name="Rounded Rectangle 7"/>
          <p:cNvSpPr/>
          <p:nvPr/>
        </p:nvSpPr>
        <p:spPr>
          <a:xfrm>
            <a:off x="4056735" y="1335024"/>
            <a:ext cx="3389223" cy="1870213"/>
          </a:xfrm>
          <a:prstGeom prst="roundRect">
            <a:avLst>
              <a:gd name="adj" fmla="val 16297"/>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 → ПОВТОРНЫЙ ВИЗИТ</a:t>
            </a:r>
          </a:p>
        </p:txBody>
      </p:sp>
      <p:sp>
        <p:nvSpPr>
          <p:cNvPr id="10" name="TextBox 9"/>
          <p:cNvSpPr txBox="1"/>
          <p:nvPr/>
        </p:nvSpPr>
        <p:spPr>
          <a:xfrm>
            <a:off x="4193895" y="1932846"/>
            <a:ext cx="311490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21 из ста</a:t>
            </a:r>
          </a:p>
        </p:txBody>
      </p:sp>
      <p:sp>
        <p:nvSpPr>
          <p:cNvPr id="11" name="TextBox 10"/>
          <p:cNvSpPr txBox="1"/>
          <p:nvPr/>
        </p:nvSpPr>
        <p:spPr>
          <a:xfrm>
            <a:off x="4193895" y="2359845"/>
            <a:ext cx="31149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из 1 838 за первые полгода; и технику досталась работа добиться годного снимка, которой у офтальмолога не было</a:t>
            </a:r>
          </a:p>
        </p:txBody>
      </p:sp>
      <p:sp>
        <p:nvSpPr>
          <p:cNvPr id="12" name="Rounded Rectangle 11"/>
          <p:cNvSpPr/>
          <p:nvPr/>
        </p:nvSpPr>
        <p:spPr>
          <a:xfrm>
            <a:off x="374904" y="3296677"/>
            <a:ext cx="11441887" cy="2939530"/>
          </a:xfrm>
          <a:prstGeom prst="roundRect">
            <a:avLst>
              <a:gd name="adj" fmla="val 10369"/>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388117"/>
            <a:ext cx="11112703" cy="28480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Чтение глазного дна в кабинете первичного звена.</a:t>
            </a:r>
            <a:r>
              <a:rPr sz="1400" b="0" i="0">
                <a:solidFill>
                  <a:srgbClr val="21295C"/>
                </a:solidFill>
                <a:latin typeface="Arial"/>
              </a:rPr>
              <a:t> Полгода смотрели работу одиннадцати клиник Таиланда: снимки делали медсёстры и техники, система читала их на месте меньше чем за минуту и негодные отклоняла сама — без офтальмолога.</a:t>
            </a:r>
          </a:p>
          <a:p>
            <a:pPr algn="l">
              <a:lnSpc>
                <a:spcPct val="126000"/>
              </a:lnSpc>
              <a:spcBef>
                <a:spcPts val="700"/>
              </a:spcBef>
            </a:pPr>
            <a:r>
              <a:rPr sz="1400" b="0" i="0">
                <a:solidFill>
                  <a:srgbClr val="21295C"/>
                </a:solidFill>
                <a:latin typeface="Arial"/>
              </a:rPr>
              <a:t/>
            </a:r>
            <a:r>
              <a:rPr sz="1400" b="1" i="0">
                <a:solidFill>
                  <a:srgbClr val="21295C"/>
                </a:solidFill>
                <a:latin typeface="Arial"/>
              </a:rPr>
              <a:t>Было: направить к специалисту</a:t>
            </a:r>
            <a:r>
              <a:rPr sz="1400" b="0" i="0">
                <a:solidFill>
                  <a:srgbClr val="21295C"/>
                </a:solidFill>
                <a:latin typeface="Arial"/>
              </a:rPr>
              <a:t> — до него доходят </a:t>
            </a:r>
            <a:r>
              <a:rPr sz="1400" b="1" i="0">
                <a:solidFill>
                  <a:srgbClr val="21295C"/>
                </a:solidFill>
                <a:latin typeface="Arial"/>
              </a:rPr>
              <a:t>22 из ста направленных</a:t>
            </a:r>
            <a:r>
              <a:rPr sz="1400" b="0" i="0">
                <a:solidFill>
                  <a:srgbClr val="21295C"/>
                </a:solidFill>
                <a:latin typeface="Arial"/>
              </a:rPr>
              <a:t>. </a:t>
            </a:r>
            <a:r>
              <a:rPr sz="1400" b="1" i="0">
                <a:solidFill>
                  <a:srgbClr val="21295C"/>
                </a:solidFill>
                <a:latin typeface="Arial"/>
              </a:rPr>
              <a:t>Стало:</a:t>
            </a:r>
            <a:r>
              <a:rPr sz="1400" b="0" i="0">
                <a:solidFill>
                  <a:srgbClr val="21295C"/>
                </a:solidFill>
                <a:latin typeface="Arial"/>
              </a:rPr>
              <a:t> результат получают все обследованные, но </a:t>
            </a:r>
            <a:r>
              <a:rPr sz="1400" b="1" i="0">
                <a:solidFill>
                  <a:srgbClr val="21295C"/>
                </a:solidFill>
                <a:latin typeface="Arial"/>
              </a:rPr>
              <a:t>21 из ста</a:t>
            </a:r>
            <a:r>
              <a:rPr sz="1400" b="0" i="0">
                <a:solidFill>
                  <a:srgbClr val="21295C"/>
                </a:solidFill>
                <a:latin typeface="Arial"/>
              </a:rPr>
              <a:t> уходит на повторный визит. </a:t>
            </a:r>
            <a:r>
              <a:rPr sz="1400" b="0" i="1">
                <a:solidFill>
                  <a:srgbClr val="21295C"/>
                </a:solidFill>
                <a:latin typeface="Arial"/>
              </a:rPr>
              <a:t>Явка измерена в другой стране: сопоставляются порядки, не выборки.</a:t>
            </a:r>
          </a:p>
          <a:p>
            <a:pPr algn="l">
              <a:lnSpc>
                <a:spcPct val="126000"/>
              </a:lnSpc>
              <a:spcBef>
                <a:spcPts val="70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два снимка глазного дна, выход — та же метка, что ставит офтальмолог. Обучено на снимках, прошедших отбор по качеству; в поле отбор делает человек без правила. Имени системы работа не называет. </a:t>
            </a:r>
            <a:r>
              <a:rPr sz="1400" b="1" i="0">
                <a:solidFill>
                  <a:srgbClr val="21295C"/>
                </a:solidFill>
                <a:latin typeface="Arial"/>
              </a:rPr>
              <a:t>Причины отказов обе про место съёмки:</a:t>
            </a:r>
            <a:r>
              <a:rPr sz="1400" b="0" i="0">
                <a:solidFill>
                  <a:srgbClr val="21295C"/>
                </a:solidFill>
                <a:latin typeface="Arial"/>
              </a:rPr>
              <a:t> освещение в кабинете и медленная связь.</a:t>
            </a:r>
          </a:p>
          <a:p>
            <a:pPr algn="l">
              <a:lnSpc>
                <a:spcPct val="126000"/>
              </a:lnSpc>
              <a:spcBef>
                <a:spcPts val="700"/>
              </a:spcBef>
            </a:pPr>
            <a:r>
              <a:rPr sz="1400" b="0" i="0">
                <a:solidFill>
                  <a:srgbClr val="21295C"/>
                </a:solidFill>
                <a:latin typeface="Arial"/>
              </a:rPr>
              <a:t/>
            </a:r>
            <a:r>
              <a:rPr sz="1400" b="1" i="0">
                <a:solidFill>
                  <a:srgbClr val="21295C"/>
                </a:solidFill>
                <a:latin typeface="Arial"/>
              </a:rPr>
              <a:t>Провалилось развёртывание, а чтение сработало:</a:t>
            </a:r>
            <a:r>
              <a:rPr sz="1400" b="0" i="0">
                <a:solidFill>
                  <a:srgbClr val="21295C"/>
                </a:solidFill>
                <a:latin typeface="Arial"/>
              </a:rPr>
              <a:t> модель приехала готовой, место под неё — нет. </a:t>
            </a:r>
            <a:r>
              <a:rPr sz="1400" b="0" i="1">
                <a:solidFill>
                  <a:srgbClr val="21295C"/>
                </a:solidFill>
                <a:latin typeface="Arial"/>
              </a:rPr>
              <a:t>Полевое наблюдение, измерено однажды.</a:t>
            </a:r>
          </a:p>
        </p:txBody>
      </p:sp>
      <p:sp>
        <p:nvSpPr>
          <p:cNvPr id="14" name="Rounded Rectangle 13"/>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5" name="Picture 14"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Beede и соавт., CHI 2020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2: отбор в программу повышенного внимания — балл вместо решения врача</a:t>
            </a:r>
          </a:p>
        </p:txBody>
      </p:sp>
      <p:sp>
        <p:nvSpPr>
          <p:cNvPr id="4" name="Rounded Rectangle 3"/>
          <p:cNvSpPr/>
          <p:nvPr/>
        </p:nvSpPr>
        <p:spPr>
          <a:xfrm>
            <a:off x="502920" y="1335024"/>
            <a:ext cx="2673019" cy="2636913"/>
          </a:xfrm>
          <a:prstGeom prst="roundRect">
            <a:avLst>
              <a:gd name="adj" fmla="val 1155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98699"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болезнь без присмотра · занятое место и время координатора</a:t>
            </a:r>
          </a:p>
        </p:txBody>
      </p:sp>
      <p:sp>
        <p:nvSpPr>
          <p:cNvPr id="7" name="TextBox 6"/>
          <p:cNvSpPr txBox="1"/>
          <p:nvPr/>
        </p:nvSpPr>
        <p:spPr>
          <a:xfrm>
            <a:off x="640080" y="255128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место занято — кто-то третий не попал</a:t>
            </a:r>
          </a:p>
        </p:txBody>
      </p:sp>
      <p:sp>
        <p:nvSpPr>
          <p:cNvPr id="8" name="Rounded Rectangle 7"/>
          <p:cNvSpPr/>
          <p:nvPr/>
        </p:nvSpPr>
        <p:spPr>
          <a:xfrm>
            <a:off x="3340531" y="1335024"/>
            <a:ext cx="2673019" cy="2636913"/>
          </a:xfrm>
          <a:prstGeom prst="roundRect">
            <a:avLst>
              <a:gd name="adj" fmla="val 115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ВРАЧОМ → ОДНИМ БАЛЛОМ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 17,2 из ста отобранных</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выборка; врач уже видел балл — отбора без балла в работе нет</a:t>
            </a:r>
          </a:p>
        </p:txBody>
      </p:sp>
      <p:sp>
        <p:nvSpPr>
          <p:cNvPr id="12" name="Rounded Rectangle 11"/>
          <p:cNvSpPr/>
          <p:nvPr/>
        </p:nvSpPr>
        <p:spPr>
          <a:xfrm>
            <a:off x="6178143" y="1335024"/>
            <a:ext cx="2673019" cy="2636913"/>
          </a:xfrm>
          <a:prstGeom prst="roundRect">
            <a:avLst>
              <a:gd name="adj" fmla="val 1155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процентов</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49 618 пациентов, 100 009 пациенто-лет, 2013–2015</a:t>
            </a:r>
          </a:p>
        </p:txBody>
      </p:sp>
      <p:sp>
        <p:nvSpPr>
          <p:cNvPr id="16" name="Rounded Rectangle 15"/>
          <p:cNvSpPr/>
          <p:nvPr/>
        </p:nvSpPr>
        <p:spPr>
          <a:xfrm>
            <a:off x="9015755" y="1335024"/>
            <a:ext cx="2673019" cy="2636913"/>
          </a:xfrm>
          <a:prstGeom prst="roundRect">
            <a:avLst>
              <a:gd name="adj" fmla="val 11558"/>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МЕСТ В ПРОГРАММЕ УХОДИЛО НЕ ТЕМ, КОМУ НУЖНЕЕ</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28,8</a:t>
            </a:r>
          </a:p>
        </p:txBody>
      </p:sp>
      <p:sp>
        <p:nvSpPr>
          <p:cNvPr id="19" name="TextBox 18"/>
          <p:cNvSpPr txBox="1"/>
          <p:nvPr/>
        </p:nvSpPr>
        <p:spPr>
          <a:xfrm>
            <a:off x="9152915" y="2567316"/>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17,7 из ста наблюдаемых против 46,5 при убранном разрыве в здоровье — расчёт авторов, внедрения за ним нет. Внутренняя проверка этого не видит</a:t>
            </a:r>
          </a:p>
        </p:txBody>
      </p:sp>
      <p:sp>
        <p:nvSpPr>
          <p:cNvPr id="20" name="Rounded Rectangle 19"/>
          <p:cNvSpPr/>
          <p:nvPr/>
        </p:nvSpPr>
        <p:spPr>
          <a:xfrm>
            <a:off x="374904" y="4063377"/>
            <a:ext cx="11441887" cy="2172830"/>
          </a:xfrm>
          <a:prstGeom prst="roundRect">
            <a:avLst>
              <a:gd name="adj" fmla="val 14027"/>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154817"/>
            <a:ext cx="5373471" cy="20813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Отбор в программу повышенного внимания.</a:t>
            </a:r>
            <a:r>
              <a:rPr sz="1400" b="0" i="0">
                <a:solidFill>
                  <a:srgbClr val="21295C"/>
                </a:solidFill>
                <a:latin typeface="Arial"/>
              </a:rPr>
              <a:t> Кого позвать на усиленное наблюдение, решал лечащий врач — стало решать одно число. </a:t>
            </a:r>
            <a:r>
              <a:rPr sz="1400" b="1" i="0">
                <a:solidFill>
                  <a:srgbClr val="21295C"/>
                </a:solidFill>
                <a:latin typeface="Arial"/>
              </a:rPr>
              <a:t>Обучено оно предсказывать будущие расходы на лечение</a:t>
            </a:r>
            <a:r>
              <a:rPr sz="1400" b="0" i="0">
                <a:solidFill>
                  <a:srgbClr val="21295C"/>
                </a:solidFill>
                <a:latin typeface="Arial"/>
              </a:rPr>
              <a:t> — а решение принималось о болезни. Расходы есть у всех и с болезнью связаны, но отражают обращаемость, а она при одинаковом здоровье у разных групп разная.</a:t>
            </a:r>
          </a:p>
        </p:txBody>
      </p:sp>
      <p:sp>
        <p:nvSpPr>
          <p:cNvPr id="22" name="TextBox 21"/>
          <p:cNvSpPr txBox="1"/>
          <p:nvPr/>
        </p:nvSpPr>
        <p:spPr>
          <a:xfrm>
            <a:off x="6278727" y="4154817"/>
            <a:ext cx="5373471" cy="20813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Устроено.</a:t>
            </a:r>
            <a:r>
              <a:rPr sz="1400" b="0" i="0">
                <a:solidFill>
                  <a:srgbClr val="21295C"/>
                </a:solidFill>
                <a:latin typeface="Arial"/>
              </a:rPr>
              <a:t> Вход — записи карты и данные о расходах, выход — балл и отбор по порогу. Имени промышленному алгоритму публикация не даёт. </a:t>
            </a:r>
            <a:r>
              <a:rPr sz="1400" b="0" i="1">
                <a:solidFill>
                  <a:srgbClr val="21295C"/>
                </a:solidFill>
                <a:latin typeface="Arial"/>
              </a:rPr>
              <a:t>Прогноз на структурированных данных.</a:t>
            </a:r>
          </a:p>
          <a:p>
            <a:pPr algn="l">
              <a:lnSpc>
                <a:spcPct val="126000"/>
              </a:lnSpc>
              <a:spcBef>
                <a:spcPts val="700"/>
              </a:spcBef>
            </a:pPr>
            <a:r>
              <a:rPr sz="1400" b="0" i="0">
                <a:solidFill>
                  <a:srgbClr val="21295C"/>
                </a:solidFill>
                <a:latin typeface="Arial"/>
              </a:rPr>
              <a:t/>
            </a:r>
            <a:r>
              <a:rPr sz="1400" b="1" i="0">
                <a:solidFill>
                  <a:srgbClr val="21295C"/>
                </a:solidFill>
                <a:latin typeface="Arial"/>
              </a:rPr>
              <a:t>Что переехало.</a:t>
            </a:r>
            <a:r>
              <a:rPr sz="1400" b="0" i="0">
                <a:solidFill>
                  <a:srgbClr val="21295C"/>
                </a:solidFill>
                <a:latin typeface="Arial"/>
              </a:rPr>
              <a:t> Отбор делал врач, стал делать балл; цена ошибки переехала на группу, где при равном балле болезней больше. </a:t>
            </a:r>
            <a:r>
              <a:rPr sz="1400" b="1" i="0">
                <a:solidFill>
                  <a:srgbClr val="21295C"/>
                </a:solidFill>
                <a:latin typeface="Arial"/>
              </a:rPr>
              <a:t>Эффекта на деньги и на здоровье работа не измеряла:</a:t>
            </a:r>
            <a:r>
              <a:rPr sz="1400" b="0" i="0">
                <a:solidFill>
                  <a:srgbClr val="21295C"/>
                </a:solidFill>
                <a:latin typeface="Arial"/>
              </a:rPr>
              <a:t> посчитан состав отобранных, а не исходы людей.</a:t>
            </a:r>
          </a:p>
        </p:txBody>
      </p:sp>
      <p:sp>
        <p:nvSpPr>
          <p:cNvPr id="23" name="Rectangle 22"/>
          <p:cNvSpPr/>
          <p:nvPr/>
        </p:nvSpPr>
        <p:spPr>
          <a:xfrm>
            <a:off x="6091275" y="4154817"/>
            <a:ext cx="9144" cy="202969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Постановка диагноза: семь действий стадии и три, на которых стоит модель</a:t>
            </a:r>
          </a:p>
        </p:txBody>
      </p:sp>
      <p:sp>
        <p:nvSpPr>
          <p:cNvPr id="4" name="Rounded Rectangle 3"/>
          <p:cNvSpPr/>
          <p:nvPr/>
        </p:nvSpPr>
        <p:spPr>
          <a:xfrm>
            <a:off x="502920" y="1335024"/>
            <a:ext cx="694303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ЧАСТОТА ДИАГНОСТИЧЕСКОЙ ОШИБКИ: АМБУЛАТОРНЫЙ ПРИЁМ ВЗРОСЛОГО</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5,08 приёма из ста</a:t>
            </a:r>
          </a:p>
        </p:txBody>
      </p:sp>
      <p:sp>
        <p:nvSpPr>
          <p:cNvPr id="7" name="TextBox 6"/>
          <p:cNvSpPr txBox="1"/>
          <p:nvPr/>
        </p:nvSpPr>
        <p:spPr>
          <a:xfrm>
            <a:off x="640080" y="2152374"/>
            <a:ext cx="666871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выявляли триггером — необычный возврат пациента, ненормальный результат без дообследования; поэтому сосчитана часть ошибок; саму долю перенесли на взрослое население США; авторы называют это занижением: частота может быть заметно выше пяти процентов</a:t>
            </a:r>
          </a:p>
        </p:txBody>
      </p:sp>
      <p:sp>
        <p:nvSpPr>
          <p:cNvPr id="8" name="TextBox 7"/>
          <p:cNvSpPr txBox="1"/>
          <p:nvPr/>
        </p:nvSpPr>
        <p:spPr>
          <a:xfrm>
            <a:off x="502920" y="3353964"/>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9" name="Rounded Rectangle 8"/>
          <p:cNvSpPr/>
          <p:nvPr/>
        </p:nvSpPr>
        <p:spPr>
          <a:xfrm>
            <a:off x="1920240"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собрать данные</a:t>
            </a:r>
          </a:p>
        </p:txBody>
      </p:sp>
      <p:sp>
        <p:nvSpPr>
          <p:cNvPr id="11" name="Right Arrow 10"/>
          <p:cNvSpPr/>
          <p:nvPr/>
        </p:nvSpPr>
        <p:spPr>
          <a:xfrm>
            <a:off x="3141649" y="358772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37024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45254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выписать болезни</a:t>
            </a:r>
          </a:p>
        </p:txBody>
      </p:sp>
      <p:sp>
        <p:nvSpPr>
          <p:cNvPr id="14" name="Right Arrow 13"/>
          <p:cNvSpPr/>
          <p:nvPr/>
        </p:nvSpPr>
        <p:spPr>
          <a:xfrm>
            <a:off x="4591659" y="3587725"/>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482025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490255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назначить проверку</a:t>
            </a:r>
          </a:p>
        </p:txBody>
      </p:sp>
      <p:sp>
        <p:nvSpPr>
          <p:cNvPr id="17" name="Right Arrow 16"/>
          <p:cNvSpPr/>
          <p:nvPr/>
        </p:nvSpPr>
        <p:spPr>
          <a:xfrm>
            <a:off x="6041669" y="3587725"/>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627026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35256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вычеркнуть лишнее</a:t>
            </a:r>
          </a:p>
        </p:txBody>
      </p:sp>
      <p:sp>
        <p:nvSpPr>
          <p:cNvPr id="20" name="TextBox 19"/>
          <p:cNvSpPr txBox="1"/>
          <p:nvPr/>
        </p:nvSpPr>
        <p:spPr>
          <a:xfrm>
            <a:off x="502920" y="4178102"/>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21" name="Rounded Rectangle 20"/>
          <p:cNvSpPr/>
          <p:nvPr/>
        </p:nvSpPr>
        <p:spPr>
          <a:xfrm>
            <a:off x="1920240"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состав списка</a:t>
            </a:r>
          </a:p>
        </p:txBody>
      </p:sp>
      <p:sp>
        <p:nvSpPr>
          <p:cNvPr id="23" name="Rounded Rectangle 22"/>
          <p:cNvSpPr/>
          <p:nvPr/>
        </p:nvSpPr>
        <p:spPr>
          <a:xfrm>
            <a:off x="3810914"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3893210"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второе чтение</a:t>
            </a:r>
          </a:p>
        </p:txBody>
      </p:sp>
      <p:sp>
        <p:nvSpPr>
          <p:cNvPr id="25" name="Rounded Rectangle 24"/>
          <p:cNvSpPr/>
          <p:nvPr/>
        </p:nvSpPr>
        <p:spPr>
          <a:xfrm>
            <a:off x="5701588"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783884"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подпись</a:t>
            </a:r>
          </a:p>
        </p:txBody>
      </p:sp>
      <p:sp>
        <p:nvSpPr>
          <p:cNvPr id="27" name="TextBox 26"/>
          <p:cNvSpPr txBox="1"/>
          <p:nvPr/>
        </p:nvSpPr>
        <p:spPr>
          <a:xfrm>
            <a:off x="502920" y="4855937"/>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сужается список: стадия сразу за исследованием</a:t>
            </a:r>
          </a:p>
        </p:txBody>
      </p:sp>
      <p:sp>
        <p:nvSpPr>
          <p:cNvPr id="28" name="Rounded Rectangle 27"/>
          <p:cNvSpPr/>
          <p:nvPr/>
        </p:nvSpPr>
        <p:spPr>
          <a:xfrm>
            <a:off x="374904" y="5158620"/>
            <a:ext cx="11441887" cy="107758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250060"/>
            <a:ext cx="11112703" cy="986147"/>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Один приём:</a:t>
            </a:r>
            <a:r>
              <a:rPr sz="1350" b="0" i="0">
                <a:solidFill>
                  <a:srgbClr val="21295C"/>
                </a:solidFill>
                <a:latin typeface="Arial"/>
              </a:rPr>
              <a:t> кашель три недели, вечерняя температура, минус четыре килограмма. Из четырёх болезней снимок и анализ крови вычеркнули две — остались две, неразличимые по снимку.</a:t>
            </a:r>
          </a:p>
          <a:p>
            <a:pPr algn="l">
              <a:lnSpc>
                <a:spcPct val="126000"/>
              </a:lnSpc>
              <a:spcBef>
                <a:spcPts val="700"/>
              </a:spcBef>
            </a:pPr>
            <a:r>
              <a:rPr sz="1350" b="0" i="0">
                <a:solidFill>
                  <a:srgbClr val="21295C"/>
                </a:solidFill>
                <a:latin typeface="Arial"/>
              </a:rPr>
              <a:t/>
            </a:r>
            <a:r>
              <a:rPr sz="1350" b="1" i="0">
                <a:solidFill>
                  <a:srgbClr val="21295C"/>
                </a:solidFill>
                <a:latin typeface="Arial"/>
              </a:rPr>
              <a:t>Модель стоит на трёх из семи действий:</a:t>
            </a:r>
            <a:r>
              <a:rPr sz="1350" b="0" i="0">
                <a:solidFill>
                  <a:srgbClr val="21295C"/>
                </a:solidFill>
                <a:latin typeface="Arial"/>
              </a:rPr>
              <a:t> состав списка, второе чтение, подпись. </a:t>
            </a:r>
            <a:r>
              <a:rPr sz="1350" b="1" i="0">
                <a:solidFill>
                  <a:srgbClr val="21295C"/>
                </a:solidFill>
                <a:latin typeface="Arial"/>
              </a:rPr>
              <a:t>И добавила одно — решить, верить ли подсказке.</a:t>
            </a:r>
          </a:p>
        </p:txBody>
      </p:sp>
      <p:sp>
        <p:nvSpPr>
          <p:cNvPr id="30" name="Rounded Rectangle 29"/>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31" name="Picture 30" descr="s35a-priem-vrach-slushaet-rasskaz.jpg"/>
          <p:cNvPicPr>
            <a:picLocks noChangeAspect="1"/>
          </p:cNvPicPr>
          <p:nvPr/>
        </p:nvPicPr>
        <p:blipFill>
          <a:blip r:embed="rId2"/>
          <a:stretch>
            <a:fillRect/>
          </a:stretch>
        </p:blipFill>
        <p:spPr>
          <a:xfrm>
            <a:off x="7894015" y="1472184"/>
            <a:ext cx="3657600" cy="2384298"/>
          </a:xfrm>
          <a:prstGeom prst="rect">
            <a:avLst/>
          </a:prstGeom>
        </p:spPr>
      </p:pic>
      <p:sp>
        <p:nvSpPr>
          <p:cNvPr id="32" name="Rectangle 3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Singh и соавт., BMJ Quality &amp; Safety 2014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Второе мнение: чем оно держится и когда перестаёт быть вторым</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Независимо</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не видит первого</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разошлись — решает третий</a:t>
            </a:r>
          </a:p>
        </p:txBody>
      </p:sp>
      <p:sp>
        <p:nvSpPr>
          <p:cNvPr id="13" name="TextBox 12"/>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Уже нет</a:t>
            </a:r>
          </a:p>
        </p:txBody>
      </p:sp>
      <p:sp>
        <p:nvSpPr>
          <p:cNvPr id="14" name="Rounded Rectangle 13"/>
          <p:cNvSpPr/>
          <p:nvPr/>
        </p:nvSpPr>
        <p:spPr>
          <a:xfrm>
            <a:off x="1920240"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подсказка на экране</a:t>
            </a:r>
          </a:p>
        </p:txBody>
      </p:sp>
      <p:sp>
        <p:nvSpPr>
          <p:cNvPr id="16" name="Right Arrow 15"/>
          <p:cNvSpPr/>
          <p:nvPr/>
        </p:nvSpPr>
        <p:spPr>
          <a:xfrm>
            <a:off x="5039258" y="212583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одно чтение поверх неё</a:t>
            </a:r>
          </a:p>
        </p:txBody>
      </p:sp>
      <p:sp>
        <p:nvSpPr>
          <p:cNvPr id="19" name="Right Arrow 18"/>
          <p:cNvSpPr/>
          <p:nvPr/>
        </p:nvSpPr>
        <p:spPr>
          <a:xfrm>
            <a:off x="8386876" y="212583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расходиться не с чем</a:t>
            </a:r>
          </a:p>
        </p:txBody>
      </p:sp>
      <p:sp>
        <p:nvSpPr>
          <p:cNvPr id="22" name="TextBox 21"/>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мнения: когда они независимы и когда уже нет</a:t>
            </a:r>
          </a:p>
        </p:txBody>
      </p:sp>
      <p:sp>
        <p:nvSpPr>
          <p:cNvPr id="23" name="Rounded Rectangle 22"/>
          <p:cNvSpPr/>
          <p:nvPr/>
        </p:nvSpPr>
        <p:spPr>
          <a:xfrm>
            <a:off x="374904" y="2771373"/>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Держится независимостью:</a:t>
            </a:r>
            <a:r>
              <a:rPr sz="1500" b="0" i="0">
                <a:solidFill>
                  <a:srgbClr val="21295C"/>
                </a:solidFill>
                <a:latin typeface="Arial"/>
              </a:rPr>
              <a:t> второму читателю закрывают доступ к первому заключению, а расхождение разбирает третий.</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Второе мнение от модели, подсказавшей первое, — уже не второе:</a:t>
            </a:r>
            <a:r>
              <a:rPr sz="1500" b="0" i="0">
                <a:solidFill>
                  <a:srgbClr val="21295C"/>
                </a:solidFill>
                <a:latin typeface="Arial"/>
              </a:rPr>
              <a:t> ошибка общая и удваивается вместо усреднения.</a:t>
            </a:r>
          </a:p>
        </p:txBody>
      </p:sp>
      <p:sp>
        <p:nvSpPr>
          <p:cNvPr id="25" name="TextBox 24"/>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Порядок предъявления измерен.</a:t>
            </a:r>
            <a:r>
              <a:rPr sz="1500" b="0" i="0">
                <a:solidFill>
                  <a:srgbClr val="21295C"/>
                </a:solidFill>
                <a:latin typeface="Arial"/>
              </a:rPr>
              <a:t> Подсказка до того, как человек составил своё мнение, против подсказки после — </a:t>
            </a:r>
            <a:r>
              <a:rPr sz="1500" b="1" i="0">
                <a:solidFill>
                  <a:srgbClr val="21295C"/>
                </a:solidFill>
                <a:latin typeface="Arial"/>
              </a:rPr>
              <a:t>8,9 пункта</a:t>
            </a:r>
            <a:r>
              <a:rPr sz="1500" b="0" i="0">
                <a:solidFill>
                  <a:srgbClr val="21295C"/>
                </a:solidFill>
                <a:latin typeface="Arial"/>
              </a:rPr>
              <a:t> по решениям к действию. </a:t>
            </a:r>
            <a:r>
              <a:rPr sz="1500" b="0" i="1">
                <a:solidFill>
                  <a:srgbClr val="21295C"/>
                </a:solidFill>
                <a:latin typeface="Arial"/>
              </a:rPr>
              <a:t>70 врачей, 254 случая.</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принял сам? Что сделали, когда она не согласилась?</a:t>
            </a:r>
          </a:p>
        </p:txBody>
      </p:sp>
      <p:sp>
        <p:nvSpPr>
          <p:cNvPr id="26" name="Rectangle 25"/>
          <p:cNvSpPr/>
          <p:nvPr/>
        </p:nvSpPr>
        <p:spPr>
          <a:xfrm>
            <a:off x="6091275" y="2862813"/>
            <a:ext cx="9144" cy="187126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и соавт., продолжение того же испытания</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a:p>
            <a:pPr algn="ctr">
              <a:lnSpc>
                <a:spcPct val="112000"/>
              </a:lnSpc>
            </a:pPr>
            <a:r>
              <a:rPr sz="1350" b="0" i="0">
                <a:solidFill>
                  <a:srgbClr val="21295C"/>
                </a:solidFill>
                <a:latin typeface="Arial"/>
              </a:rPr>
              <a:t>видит случай</a:t>
            </a:r>
          </a:p>
        </p:txBody>
      </p:sp>
      <p:sp>
        <p:nvSpPr>
          <p:cNvPr id="7" name="Rounded Rectangle 6"/>
          <p:cNvSpPr/>
          <p:nvPr/>
        </p:nvSpPr>
        <p:spPr>
          <a:xfrm>
            <a:off x="3326815" y="1865376"/>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a:p>
            <a:pPr algn="ctr">
              <a:lnSpc>
                <a:spcPct val="112000"/>
              </a:lnSpc>
            </a:pPr>
            <a:r>
              <a:rPr sz="1350" b="0" i="0">
                <a:solidFill>
                  <a:srgbClr val="21295C"/>
                </a:solidFill>
                <a:latin typeface="Arial"/>
              </a:rPr>
              <a:t>видит случай и готовый вывод</a:t>
            </a:r>
          </a:p>
        </p:txBody>
      </p:sp>
      <p:sp>
        <p:nvSpPr>
          <p:cNvPr id="9" name="Rounded Rectangle 8"/>
          <p:cNvSpPr/>
          <p:nvPr/>
        </p:nvSpPr>
        <p:spPr>
          <a:xfrm>
            <a:off x="6150711" y="2066543"/>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a:p>
            <a:pPr algn="ctr">
              <a:lnSpc>
                <a:spcPct val="112000"/>
              </a:lnSpc>
            </a:pPr>
            <a:r>
              <a:rPr sz="1350" b="0" i="0">
                <a:solidFill>
                  <a:srgbClr val="21295C"/>
                </a:solidFill>
                <a:latin typeface="Arial"/>
              </a:rPr>
              <a:t>видит выборку, которую отобрала модель</a:t>
            </a:r>
          </a:p>
        </p:txBody>
      </p:sp>
      <p:sp>
        <p:nvSpPr>
          <p:cNvPr id="11" name="Rounded Rectangle 10"/>
          <p:cNvSpPr/>
          <p:nvPr/>
        </p:nvSpPr>
        <p:spPr>
          <a:xfrm>
            <a:off x="8974607" y="2267712"/>
            <a:ext cx="2714167"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a:p>
            <a:pPr algn="ctr">
              <a:lnSpc>
                <a:spcPct val="112000"/>
              </a:lnSpc>
            </a:pPr>
            <a:r>
              <a:rPr sz="1350" b="0" i="0">
                <a:solidFill>
                  <a:srgbClr val="21295C"/>
                </a:solidFill>
                <a:latin typeface="Arial"/>
              </a:rPr>
              <a:t>видит только текст</a:t>
            </a:r>
          </a:p>
        </p:txBody>
      </p:sp>
      <p:sp>
        <p:nvSpPr>
          <p:cNvPr id="13" name="Rounded Rectangle 12"/>
          <p:cNvSpPr/>
          <p:nvPr/>
        </p:nvSpPr>
        <p:spPr>
          <a:xfrm>
            <a:off x="374904" y="3291554"/>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второй ступени стоят и выигрыш, и три провала.</a:t>
            </a:r>
            <a:r>
              <a:rPr sz="1500" b="0" i="0">
                <a:solidFill>
                  <a:srgbClr val="21295C"/>
                </a:solidFill>
                <a:latin typeface="Arial"/>
              </a:rPr>
              <a:t> Шведское испытание — там же, где замер взгляда, патологи и хирурги: ступень одна, исходы противоположные. Расходится у них </a:t>
            </a:r>
            <a:r>
              <a:rPr sz="1500" b="1" i="0">
                <a:solidFill>
                  <a:srgbClr val="21295C"/>
                </a:solidFill>
                <a:latin typeface="Arial"/>
              </a:rPr>
              <a:t>устройство процедуры</a:t>
            </a:r>
            <a:r>
              <a:rPr sz="1500" b="0" i="0">
                <a:solidFill>
                  <a:srgbClr val="21295C"/>
                </a:solidFill>
                <a:latin typeface="Arial"/>
              </a:rPr>
              <a:t> — сохранена ли независимость двух мнений и кто разбирает расхождение.</a:t>
            </a:r>
          </a:p>
        </p:txBody>
      </p:sp>
      <p:sp>
        <p:nvSpPr>
          <p:cNvPr id="15" name="TextBox 14"/>
          <p:cNvSpPr txBox="1"/>
          <p:nvPr/>
        </p:nvSpPr>
        <p:spPr>
          <a:xfrm>
            <a:off x="6278727"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Обучение на ступень выше не передвигает:</a:t>
            </a:r>
            <a:r>
              <a:rPr sz="1500" b="0" i="0">
                <a:solidFill>
                  <a:srgbClr val="21295C"/>
                </a:solidFill>
                <a:latin typeface="Arial"/>
              </a:rPr>
              <a:t> 44 обученных врача читали по шесть клинических задач — точность рассуждения </a:t>
            </a:r>
            <a:r>
              <a:rPr sz="1500" b="1" i="0">
                <a:solidFill>
                  <a:srgbClr val="21295C"/>
                </a:solidFill>
                <a:latin typeface="Arial"/>
              </a:rPr>
              <a:t>84,9 → 73,3 из ста</a:t>
            </a:r>
            <a:r>
              <a:rPr sz="1500" b="0" i="0">
                <a:solidFill>
                  <a:srgbClr val="21295C"/>
                </a:solidFill>
                <a:latin typeface="Arial"/>
              </a:rPr>
              <a:t>, когда часть рекомендаций неверна.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 третьей ступени:</a:t>
            </a:r>
            <a:r>
              <a:rPr sz="1500" b="0" i="0">
                <a:solidFill>
                  <a:srgbClr val="21295C"/>
                </a:solidFill>
                <a:latin typeface="Arial"/>
              </a:rPr>
              <a:t> человек не знает, что модель отсеяла. </a:t>
            </a:r>
            <a:r>
              <a:rPr sz="1500" b="1" i="0">
                <a:solidFill>
                  <a:srgbClr val="21295C"/>
                </a:solidFill>
                <a:latin typeface="Arial"/>
              </a:rPr>
              <a:t>Четвёртой</a:t>
            </a:r>
            <a:r>
              <a:rPr sz="1500" b="0" i="0">
                <a:solidFill>
                  <a:srgbClr val="21295C"/>
                </a:solidFill>
                <a:latin typeface="Arial"/>
              </a:rPr>
              <a:t> — формальное требование «человек проверил» выполняется за время, за которое подсказку прочесть нельзя.</a:t>
            </a:r>
          </a:p>
        </p:txBody>
      </p:sp>
      <p:sp>
        <p:nvSpPr>
          <p:cNvPr id="16" name="Rectangle 15"/>
          <p:cNvSpPr/>
          <p:nvPr/>
        </p:nvSpPr>
        <p:spPr>
          <a:xfrm>
            <a:off x="6091275" y="3382994"/>
            <a:ext cx="9144" cy="2465389"/>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I. A. и соавт., NEJM AI 2026</a:t>
            </a:r>
            <a:r>
              <a:rPr sz="1200" b="0" i="1">
                <a:solidFill>
                  <a:srgbClr val="1C7293"/>
                </a:solidFill>
                <a:latin typeface="Arial"/>
              </a:rPr>
              <a:t> · </a:t>
            </a:r>
            <a:r>
              <a:rPr sz="1200" b="0" i="1" u="sng">
                <a:solidFill>
                  <a:srgbClr val="065A82"/>
                </a:solidFill>
                <a:latin typeface="Arial"/>
                <a:hlinkClick r:id="rId3"/>
              </a:rPr>
              <a:t>Mozannar и соавт., CHI 2024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замер взгляда — при ложной и при верной подсказке</a:t>
            </a:r>
          </a:p>
        </p:txBody>
      </p:sp>
      <p:sp>
        <p:nvSpPr>
          <p:cNvPr id="4" name="Rounded Rectangle 3"/>
          <p:cNvSpPr/>
          <p:nvPr/>
        </p:nvSpPr>
        <p:spPr>
          <a:xfrm>
            <a:off x="502920"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ПРИ ЛОЖНОЙ ПОДСКАЗКЕ: БЕЗ → С</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29 → 61 из ста имевшихся</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 случаев, где подсказка молчала; значимо. Цена — лечение позже и хуже</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КОГДА РАЗМЕТКУ ЗАПРАШИВАЛИ САМИ: БЕЗ → С</a:t>
            </a:r>
          </a:p>
        </p:txBody>
      </p:sp>
      <p:sp>
        <p:nvSpPr>
          <p:cNvPr id="10" name="TextBox 9"/>
          <p:cNvSpPr txBox="1"/>
          <p:nvPr/>
        </p:nvSpPr>
        <p:spPr>
          <a:xfrm>
            <a:off x="6315303"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165 → 115 из 900 прочтений</a:t>
            </a:r>
          </a:p>
        </p:txBody>
      </p:sp>
      <p:sp>
        <p:nvSpPr>
          <p:cNvPr id="11" name="TextBox 10"/>
          <p:cNvSpPr txBox="1"/>
          <p:nvPr/>
        </p:nvSpPr>
        <p:spPr>
          <a:xfrm>
            <a:off x="6315303"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75 случаев с раком на режим; прибавка 5,6 пункта при интервале −0,3…+11,4 — значимости нет. Время чтения не изменилось</a:t>
            </a:r>
          </a:p>
        </p:txBody>
      </p:sp>
      <p:sp>
        <p:nvSpPr>
          <p:cNvPr id="12" name="Rounded Rectangle 11"/>
          <p:cNvSpPr/>
          <p:nvPr/>
        </p:nvSpPr>
        <p:spPr>
          <a:xfrm>
            <a:off x="374904" y="3010932"/>
            <a:ext cx="11441887" cy="3036770"/>
          </a:xfrm>
          <a:prstGeom prst="roundRect">
            <a:avLst>
              <a:gd name="adj" fmla="val 1003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 замера одной величины.</a:t>
            </a:r>
            <a:r>
              <a:rPr sz="1500" b="0" i="0">
                <a:solidFill>
                  <a:srgbClr val="21295C"/>
                </a:solidFill>
                <a:latin typeface="Arial"/>
              </a:rPr>
              <a:t> 10 радиологов прочли 60 маммограмм дважды — сами и с подсказкой, нарочно ошибавшейся в обе стороны. 12 радиологов другой программы — 150 исследований тоже дважды, с допущенной системой.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Разошлись опыты порядком предъявления:</a:t>
            </a:r>
            <a:r>
              <a:rPr sz="1500" b="0" i="0">
                <a:solidFill>
                  <a:srgbClr val="21295C"/>
                </a:solidFill>
                <a:latin typeface="Arial"/>
              </a:rPr>
              <a:t> там отметка выходит вместе со снимком, здесь разметку читатель запрашивает сам. </a:t>
            </a:r>
            <a:r>
              <a:rPr sz="1500" b="1" i="0">
                <a:solidFill>
                  <a:srgbClr val="21295C"/>
                </a:solidFill>
                <a:latin typeface="Arial"/>
              </a:rPr>
              <a:t>Та же величина, другая подсказка, другой порядок — обратный знак.</a:t>
            </a:r>
          </a:p>
        </p:txBody>
      </p:sp>
      <p:sp>
        <p:nvSpPr>
          <p:cNvPr id="14" name="TextBox 13"/>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маммограмма, выход — оценка подозрительности области. Изделие называет вторая работа: </a:t>
            </a:r>
            <a:r>
              <a:rPr sz="1500" b="1" i="0">
                <a:solidFill>
                  <a:srgbClr val="21295C"/>
                </a:solidFill>
                <a:latin typeface="Arial"/>
              </a:rPr>
              <a:t>Transpara 2.1.0, ScreenPoint Medical.</a:t>
            </a:r>
            <a:r>
              <a:rPr sz="1500" b="0" i="0">
                <a:solidFill>
                  <a:srgbClr val="21295C"/>
                </a:solidFill>
                <a:latin typeface="Arial"/>
              </a:rPr>
              <a:t> </a:t>
            </a:r>
            <a:r>
              <a:rPr sz="1500" b="1" i="0">
                <a:solidFill>
                  <a:srgbClr val="21295C"/>
                </a:solidFill>
                <a:latin typeface="Arial"/>
              </a:rPr>
              <a:t>Фокусировка:</a:t>
            </a:r>
            <a:r>
              <a:rPr sz="1500" b="0" i="0">
                <a:solidFill>
                  <a:srgbClr val="21295C"/>
                </a:solidFill>
                <a:latin typeface="Arial"/>
              </a:rPr>
              <a:t> осмотрено 11,1 → 9,5 из ста площади снимка, а в нужном месте дольше — 4,4 → 5,4 секунды.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при ложной подсказке это цена: пропуск модели стал пропуском читателя.</a:t>
            </a:r>
          </a:p>
        </p:txBody>
      </p:sp>
      <p:sp>
        <p:nvSpPr>
          <p:cNvPr id="15" name="Rectangle 14"/>
          <p:cNvSpPr/>
          <p:nvPr/>
        </p:nvSpPr>
        <p:spPr>
          <a:xfrm>
            <a:off x="6091275" y="3102372"/>
            <a:ext cx="9144" cy="27624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и соавт., Radiology 2026</a:t>
            </a:r>
            <a:r>
              <a:rPr sz="1200" b="0" i="1">
                <a:solidFill>
                  <a:srgbClr val="1C7293"/>
                </a:solidFill>
                <a:latin typeface="Arial"/>
              </a:rPr>
              <a:t> · </a:t>
            </a:r>
            <a:r>
              <a:rPr sz="1200" b="0" i="1" u="sng">
                <a:solidFill>
                  <a:srgbClr val="065A82"/>
                </a:solidFill>
                <a:latin typeface="Arial"/>
                <a:hlinkClick r:id="rId3"/>
              </a:rPr>
              <a:t>Gommers и соавт., Radiology 2025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патологи читают срезы — с подсказкой и без</a:t>
            </a:r>
          </a:p>
        </p:txBody>
      </p:sp>
      <p:sp>
        <p:nvSpPr>
          <p:cNvPr id="4" name="Rounded Rectangle 3"/>
          <p:cNvSpPr/>
          <p:nvPr/>
        </p:nvSpPr>
        <p:spPr>
          <a:xfrm>
            <a:off x="502920"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ВЕРНЫХ ЗАКЛЮЧЕНИЙ: МОДЕЛЬ ОДНА · ПАТОЛОГ САМ · ПАРА</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0,842 · 0,898 · 0,914</a:t>
            </a:r>
          </a:p>
        </p:txBody>
      </p:sp>
      <p:sp>
        <p:nvSpPr>
          <p:cNvPr id="7" name="TextBox 6"/>
          <p:cNvSpPr txBox="1"/>
          <p:nvPr/>
        </p:nvSpPr>
        <p:spPr>
          <a:xfrm>
            <a:off x="640080" y="2359845"/>
            <a:ext cx="334457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интервалы 0,875–0,916 у патолога и 0,893–0,930 у пары; прибавка пары к патологу на группе НЕ устойчива — отношение шансов 1,281. Точность модели — на своём независимом наборе</a:t>
            </a:r>
          </a:p>
        </p:txBody>
      </p:sp>
      <p:sp>
        <p:nvSpPr>
          <p:cNvPr id="8" name="Rounded Rectangle 7"/>
          <p:cNvSpPr/>
          <p:nvPr/>
        </p:nvSpPr>
        <p:spPr>
          <a:xfrm>
            <a:off x="4286402"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ПАРА В РАЗРЕЗЕ ПРАВОТЫ ПОДСКАЗКИ: ВЕРНАЯ → НЕВЕРНАЯ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≈0,94 → ≈0,50</a:t>
            </a:r>
          </a:p>
        </p:txBody>
      </p:sp>
      <p:sp>
        <p:nvSpPr>
          <p:cNvPr id="11" name="TextBox 10"/>
          <p:cNvSpPr txBox="1"/>
          <p:nvPr/>
        </p:nvSpPr>
        <p:spPr>
          <a:xfrm>
            <a:off x="4423562"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пересчёт из отношений шансов 4,289 и 0,253, устойчивых в обе стороны, от базы восемь верных из десяти: работа печатает шансы, доли иллюстративны</a:t>
            </a:r>
          </a:p>
        </p:txBody>
      </p:sp>
      <p:sp>
        <p:nvSpPr>
          <p:cNvPr id="12" name="Rounded Rectangle 11"/>
          <p:cNvSpPr/>
          <p:nvPr/>
        </p:nvSpPr>
        <p:spPr>
          <a:xfrm>
            <a:off x="8069884" y="1335024"/>
            <a:ext cx="3618890" cy="2218199"/>
          </a:xfrm>
          <a:prstGeom prst="roundRect">
            <a:avLst>
              <a:gd name="adj" fmla="val 1374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средняя та же, разброс вырос</a:t>
            </a:r>
          </a:p>
        </p:txBody>
      </p:sp>
      <p:sp>
        <p:nvSpPr>
          <p:cNvPr id="15" name="Rounded Rectangle 14"/>
          <p:cNvSpPr/>
          <p:nvPr/>
        </p:nvSpPr>
        <p:spPr>
          <a:xfrm>
            <a:off x="374904" y="3644663"/>
            <a:ext cx="11441887" cy="2591544"/>
          </a:xfrm>
          <a:prstGeom prst="roundRect">
            <a:avLst>
              <a:gd name="adj" fmla="val 11761"/>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736103"/>
            <a:ext cx="5373471" cy="25001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11 патологов разного опыта</a:t>
            </a:r>
            <a:r>
              <a:rPr sz="1500" b="0" i="0">
                <a:solidFill>
                  <a:srgbClr val="21295C"/>
                </a:solidFill>
                <a:latin typeface="Arial"/>
              </a:rPr>
              <a:t> различали два вида рака печени по 80 оцифрованным срезам: половину случаев с подсказкой модели, половину без. </a:t>
            </a:r>
            <a:r>
              <a:rPr sz="1500" b="1" i="0">
                <a:solidFill>
                  <a:srgbClr val="21295C"/>
                </a:solidFill>
                <a:latin typeface="Arial"/>
              </a:rPr>
              <a:t>Цена ошибки обоюдна:</a:t>
            </a:r>
            <a:r>
              <a:rPr sz="1500" b="0" i="0">
                <a:solidFill>
                  <a:srgbClr val="21295C"/>
                </a:solidFill>
                <a:latin typeface="Arial"/>
              </a:rPr>
              <a:t> спутать два вида опухоли — другое лечение; перепроверка — время специалиста.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один патолог на срезе; второе мнение субспециалиста названо, но на этом наборе не измерено. </a:t>
            </a:r>
            <a:r>
              <a:rPr sz="1500" b="1" i="0">
                <a:solidFill>
                  <a:srgbClr val="21295C"/>
                </a:solidFill>
                <a:latin typeface="Arial"/>
              </a:rPr>
              <a:t>Имени изделия работа не печатает.</a:t>
            </a:r>
          </a:p>
        </p:txBody>
      </p:sp>
      <p:sp>
        <p:nvSpPr>
          <p:cNvPr id="17" name="TextBox 16"/>
          <p:cNvSpPr txBox="1"/>
          <p:nvPr/>
        </p:nvSpPr>
        <p:spPr>
          <a:xfrm>
            <a:off x="6278727" y="3736103"/>
            <a:ext cx="5373471" cy="25001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патолог сильнее модели — и пара выше обеих сторон.</a:t>
            </a:r>
            <a:r>
              <a:rPr sz="1500" b="0" i="0">
                <a:solidFill>
                  <a:srgbClr val="21295C"/>
                </a:solidFill>
                <a:latin typeface="Arial"/>
              </a:rPr>
              <a:t> Это ровно то подмножество свода, где так и бывает.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Стоимость.</a:t>
            </a:r>
            <a:r>
              <a:rPr sz="1500" b="0" i="0">
                <a:solidFill>
                  <a:srgbClr val="21295C"/>
                </a:solidFill>
                <a:latin typeface="Arial"/>
              </a:rPr>
              <a:t> Ошибка модели стала ошибкой врача — подпись ставит он. И </a:t>
            </a:r>
            <a:r>
              <a:rPr sz="1500" b="1" i="0">
                <a:solidFill>
                  <a:srgbClr val="21295C"/>
                </a:solidFill>
                <a:latin typeface="Arial"/>
              </a:rPr>
              <a:t>«эффекта нет» в отчёте с одним числом:</a:t>
            </a:r>
            <a:r>
              <a:rPr sz="1500" b="0" i="0">
                <a:solidFill>
                  <a:srgbClr val="21295C"/>
                </a:solidFill>
                <a:latin typeface="Arial"/>
              </a:rPr>
              <a:t> на группе прибавка незначима, хотя в обе стороны эффект вчетверо.</a:t>
            </a:r>
          </a:p>
        </p:txBody>
      </p:sp>
      <p:sp>
        <p:nvSpPr>
          <p:cNvPr id="18" name="Rectangle 17"/>
          <p:cNvSpPr/>
          <p:nvPr/>
        </p:nvSpPr>
        <p:spPr>
          <a:xfrm>
            <a:off x="6091275" y="3736103"/>
            <a:ext cx="9144" cy="2465389"/>
          </a:xfrm>
          <a:prstGeom prst="rect">
            <a:avLst/>
          </a:prstGeom>
          <a:solidFill>
            <a:srgbClr val="D9E2EC"/>
          </a:solidFill>
          <a:ln>
            <a:noFill/>
          </a:ln>
          <a:effectLst/>
        </p:spPr>
        <p:txBody>
          <a:bodyPr rtlCol="0" anchor="ctr"/>
          <a:lstStyle/>
          <a:p>
            <a:pPr algn="ct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и соавт., npj Digital Medicine 2020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5: шведское испытание — одно человеческое чтение поверх модели вместо двух</a:t>
            </a:r>
          </a:p>
        </p:txBody>
      </p:sp>
      <p:sp>
        <p:nvSpPr>
          <p:cNvPr id="4" name="Rounded Rectangle 3"/>
          <p:cNvSpPr/>
          <p:nvPr/>
        </p:nvSpPr>
        <p:spPr>
          <a:xfrm>
            <a:off x="502920"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ДВОЙНОЕ ЧТЕНИЕ → ЧЕЛОВЕК С МОДЕЛЬЮ И АРБИТРОМ</a:t>
            </a:r>
          </a:p>
        </p:txBody>
      </p:sp>
      <p:sp>
        <p:nvSpPr>
          <p:cNvPr id="6" name="TextBox 5"/>
          <p:cNvSpPr txBox="1"/>
          <p:nvPr/>
        </p:nvSpPr>
        <p:spPr>
          <a:xfrm>
            <a:off x="640080" y="2347789"/>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 20 из ста имевшихся</a:t>
            </a:r>
          </a:p>
        </p:txBody>
      </p:sp>
      <p:sp>
        <p:nvSpPr>
          <p:cNvPr id="7" name="TextBox 6"/>
          <p:cNvSpPr txBox="1"/>
          <p:nvPr/>
        </p:nvSpPr>
        <p:spPr>
          <a:xfrm>
            <a:off x="640080" y="316521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105 934 женщины; различие устойчиво</a:t>
            </a:r>
          </a:p>
        </p:txBody>
      </p:sp>
      <p:sp>
        <p:nvSpPr>
          <p:cNvPr id="8" name="Rounded Rectangle 7"/>
          <p:cNvSpPr/>
          <p:nvPr/>
        </p:nvSpPr>
        <p:spPr>
          <a:xfrm>
            <a:off x="3340531"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ОБСЛЕДОВАННЫХ: ДВОЙНОЕ ЧТЕНИЕ → С МОДЕЛЬЮ</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 1,55</a:t>
            </a:r>
          </a:p>
        </p:txBody>
      </p:sp>
      <p:sp>
        <p:nvSpPr>
          <p:cNvPr id="11" name="TextBox 10"/>
          <p:cNvSpPr txBox="1"/>
          <p:nvPr/>
        </p:nvSpPr>
        <p:spPr>
          <a:xfrm>
            <a:off x="3477691" y="2567316"/>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93 из 52 872 против 82 из 53 043. Улучшение НЕ доказано: отношение 0,88 при интервале 0,65–1,18 — не-худшесть. И среди пропущенного меньше опасного: крупных 38 против 48, агрессивных 43 против 59</a:t>
            </a:r>
          </a:p>
        </p:txBody>
      </p:sp>
      <p:sp>
        <p:nvSpPr>
          <p:cNvPr id="12" name="Rounded Rectangle 11"/>
          <p:cNvSpPr/>
          <p:nvPr/>
        </p:nvSpPr>
        <p:spPr>
          <a:xfrm>
            <a:off x="6178143"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ниже на 44,3 процента</a:t>
            </a:r>
          </a:p>
        </p:txBody>
      </p:sp>
      <p:sp>
        <p:nvSpPr>
          <p:cNvPr id="15" name="TextBox 14"/>
          <p:cNvSpPr txBox="1"/>
          <p:nvPr/>
        </p:nvSpPr>
        <p:spPr>
          <a:xfrm>
            <a:off x="6315303"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обследованных: второго независимого человека большинство не получает</a:t>
            </a:r>
          </a:p>
        </p:txBody>
      </p:sp>
      <p:sp>
        <p:nvSpPr>
          <p:cNvPr id="16" name="Rounded Rectangle 15"/>
          <p:cNvSpPr/>
          <p:nvPr/>
        </p:nvSpPr>
        <p:spPr>
          <a:xfrm>
            <a:off x="9015755"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ДРУГАЯ ПРОГРАММА, ТРОЕ СМОТРЯТ СРАЗУ: ПОДТВЕРЖДАЕТСЯ РАКОМ НАХОДКА ТОЛЬКО МОДЕЛИ → ТОЛЬКО РАДИОЛОГА</a:t>
            </a:r>
          </a:p>
        </p:txBody>
      </p:sp>
      <p:sp>
        <p:nvSpPr>
          <p:cNvPr id="18" name="TextBox 17"/>
          <p:cNvSpPr txBox="1"/>
          <p:nvPr/>
        </p:nvSpPr>
        <p:spPr>
          <a:xfrm>
            <a:off x="9152915" y="2555260"/>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3,4 из ста</a:t>
            </a:r>
          </a:p>
        </p:txBody>
      </p:sp>
      <p:sp>
        <p:nvSpPr>
          <p:cNvPr id="19" name="TextBox 18"/>
          <p:cNvSpPr txBox="1"/>
          <p:nvPr/>
        </p:nvSpPr>
        <p:spPr>
          <a:xfrm>
            <a:off x="9152915" y="2982259"/>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1 886 находок против 1 858, основания почти равны. А отзывают чаще находку радиолога — 14,2 против 4,6: доверия к более точному источнику меньше</a:t>
            </a:r>
          </a:p>
        </p:txBody>
      </p:sp>
      <p:sp>
        <p:nvSpPr>
          <p:cNvPr id="20" name="Rounded Rectangle 19"/>
          <p:cNvSpPr/>
          <p:nvPr/>
        </p:nvSpPr>
        <p:spPr>
          <a:xfrm>
            <a:off x="374904" y="4478320"/>
            <a:ext cx="11441887" cy="1757887"/>
          </a:xfrm>
          <a:prstGeom prst="roundRect">
            <a:avLst>
              <a:gd name="adj" fmla="val 1733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569760"/>
            <a:ext cx="11112703" cy="166644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Одно человеческое чтение поверх модели вместо двух.</a:t>
            </a:r>
            <a:r>
              <a:rPr sz="1250" b="0" i="0">
                <a:solidFill>
                  <a:srgbClr val="21295C"/>
                </a:solidFill>
                <a:latin typeface="Arial"/>
              </a:rPr>
              <a:t> 105 934 женщины шведской программы распределены жребием: в одном плече снимок читают два радиолога независимо, в другом модель читает первой, радиолог — сам, а расхождение разбирает третий радиолог. </a:t>
            </a:r>
            <a:r>
              <a:rPr sz="1250" b="1" i="0">
                <a:solidFill>
                  <a:srgbClr val="21295C"/>
                </a:solidFill>
                <a:latin typeface="Arial"/>
              </a:rPr>
              <a:t>Арбитр — это он:</a:t>
            </a:r>
            <a:r>
              <a:rPr sz="1250" b="0" i="0">
                <a:solidFill>
                  <a:srgbClr val="21295C"/>
                </a:solidFill>
                <a:latin typeface="Arial"/>
              </a:rPr>
              <a:t> к нему уходит только расхождение, а не весь поток, и поэтому человеческого чтения стало меньше.</a:t>
            </a:r>
          </a:p>
          <a:p>
            <a:pPr algn="l">
              <a:lnSpc>
                <a:spcPct val="126000"/>
              </a:lnSpc>
              <a:spcBef>
                <a:spcPts val="700"/>
              </a:spcBef>
            </a:pPr>
            <a:r>
              <a:rPr sz="1250" b="0" i="0">
                <a:solidFill>
                  <a:srgbClr val="21295C"/>
                </a:solidFill>
                <a:latin typeface="Arial"/>
              </a:rPr>
              <a:t/>
            </a:r>
            <a:r>
              <a:rPr sz="1250" b="1" i="0">
                <a:solidFill>
                  <a:srgbClr val="21295C"/>
                </a:solidFill>
                <a:latin typeface="Arial"/>
              </a:rPr>
              <a:t>Точности порознь.</a:t>
            </a:r>
            <a:r>
              <a:rPr sz="1250" b="0" i="0">
                <a:solidFill>
                  <a:srgbClr val="21295C"/>
                </a:solidFill>
                <a:latin typeface="Arial"/>
              </a:rPr>
              <a:t> Человек один пропускает 26 раков из ста, человек с моделью и арбитром — 20. </a:t>
            </a:r>
            <a:r>
              <a:rPr sz="1250" b="1" i="0">
                <a:solidFill>
                  <a:srgbClr val="21295C"/>
                </a:solidFill>
                <a:latin typeface="Arial"/>
              </a:rPr>
              <a:t>Модель одну это испытание не измеряло,</a:t>
            </a:r>
            <a:r>
              <a:rPr sz="1250" b="0" i="0">
                <a:solidFill>
                  <a:srgbClr val="21295C"/>
                </a:solidFill>
                <a:latin typeface="Arial"/>
              </a:rPr>
              <a:t> и достроить ладонь «модель · человек · пара» нечем. Одиночного чтения без арбитража в нём тоже нет: сравнивали против сильного режима.</a:t>
            </a:r>
          </a:p>
          <a:p>
            <a:pPr algn="l">
              <a:lnSpc>
                <a:spcPct val="126000"/>
              </a:lnSpc>
              <a:spcBef>
                <a:spcPts val="700"/>
              </a:spcBef>
            </a:pPr>
            <a:r>
              <a:rPr sz="1250" b="0" i="0">
                <a:solidFill>
                  <a:srgbClr val="21295C"/>
                </a:solidFill>
                <a:latin typeface="Arial"/>
              </a:rPr>
              <a:t/>
            </a:r>
            <a:r>
              <a:rPr sz="1250" b="1" i="0">
                <a:solidFill>
                  <a:srgbClr val="21295C"/>
                </a:solidFill>
                <a:latin typeface="Arial"/>
              </a:rPr>
              <a:t>Арбитраж стал новой работой; повторных вызовов не стало ни больше, ни меньше.</a:t>
            </a:r>
          </a:p>
        </p:txBody>
      </p:sp>
      <p:sp>
        <p:nvSpPr>
          <p:cNvPr id="22" name="Rectangle 21"/>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анализ безопасности, Lancet Oncology 2023</a:t>
            </a:r>
            <a:r>
              <a:rPr sz="1200" b="0" i="1">
                <a:solidFill>
                  <a:srgbClr val="1C7293"/>
                </a:solidFill>
                <a:latin typeface="Arial"/>
              </a:rPr>
              <a:t> · </a:t>
            </a:r>
            <a:r>
              <a:rPr sz="1200" b="0" i="1" u="sng">
                <a:solidFill>
                  <a:srgbClr val="065A82"/>
                </a:solidFill>
                <a:latin typeface="Arial"/>
                <a:hlinkClick r:id="rId4"/>
              </a:rPr>
              <a:t>Dembrower и соавт., Radiology 2025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Кардиограмма с неверной машинной расшифровкой: кто теряет больше</a:t>
            </a:r>
          </a:p>
        </p:txBody>
      </p:sp>
      <p:sp>
        <p:nvSpPr>
          <p:cNvPr id="4" name="Rounded Rectangle 3"/>
          <p:cNvSpPr/>
          <p:nvPr/>
        </p:nvSpPr>
        <p:spPr>
          <a:xfrm>
            <a:off x="502920"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ПОТЕРЯ ТОЧНОСТИ НА НЕВЕРНОЙ РАСШИФРОВКЕ: КАРДИОЛОГИ → ДРУГИЕ СПЕЦИАЛЬНОСТИ</a:t>
            </a:r>
          </a:p>
        </p:txBody>
      </p:sp>
      <p:sp>
        <p:nvSpPr>
          <p:cNvPr id="6" name="TextBox 5"/>
          <p:cNvSpPr txBox="1"/>
          <p:nvPr/>
        </p:nvSpPr>
        <p:spPr>
          <a:xfrm>
            <a:off x="640080"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−43,20 → −58,95 пункта</a:t>
            </a:r>
          </a:p>
        </p:txBody>
      </p:sp>
      <p:sp>
        <p:nvSpPr>
          <p:cNvPr id="7" name="TextBox 6"/>
          <p:cNvSpPr txBox="1"/>
          <p:nvPr/>
        </p:nvSpPr>
        <p:spPr>
          <a:xfrm>
            <a:off x="640080" y="2567316"/>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различие устойчиво в обеих группах; менее экспертная теряет на 15,75 пункта больше — вывод авторов, высказанный дважды</a:t>
            </a:r>
          </a:p>
        </p:txBody>
      </p:sp>
      <p:sp>
        <p:nvSpPr>
          <p:cNvPr id="8" name="Rounded Rectangle 7"/>
          <p:cNvSpPr/>
          <p:nvPr/>
        </p:nvSpPr>
        <p:spPr>
          <a:xfrm>
            <a:off x="4286402"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СОГЛАШАЛИСЬ С НЕВЕРНОЙ РАСШИФРОВКОЙ</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30,77 против 42,31 из ста</a:t>
            </a:r>
          </a:p>
        </p:txBody>
      </p:sp>
      <p:sp>
        <p:nvSpPr>
          <p:cNvPr id="11" name="TextBox 10"/>
          <p:cNvSpPr txBox="1"/>
          <p:nvPr/>
        </p:nvSpPr>
        <p:spPr>
          <a:xfrm>
            <a:off x="4423562"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медианы по тем же двум группам, в том же порядке: менее экспертная соглашается чаще</a:t>
            </a:r>
          </a:p>
        </p:txBody>
      </p:sp>
      <p:sp>
        <p:nvSpPr>
          <p:cNvPr id="12" name="Rounded Rectangle 11"/>
          <p:cNvSpPr/>
          <p:nvPr/>
        </p:nvSpPr>
        <p:spPr>
          <a:xfrm>
            <a:off x="8069884"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ТРЕТЬЯ, ЛАБОРАТОРНАЯ: СОГЛАСИЕ С НЕВЕРНОЙ ПОДСКАЗКОЙ ПРИЁМАМИ ПОДАЧИ</a:t>
            </a:r>
          </a:p>
        </p:txBody>
      </p:sp>
      <p:sp>
        <p:nvSpPr>
          <p:cNvPr id="14" name="TextBox 13"/>
          <p:cNvSpPr txBox="1"/>
          <p:nvPr/>
        </p:nvSpPr>
        <p:spPr>
          <a:xfrm>
            <a:off x="8207044"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64 → 48 из ста</a:t>
            </a:r>
          </a:p>
        </p:txBody>
      </p:sp>
      <p:sp>
        <p:nvSpPr>
          <p:cNvPr id="15" name="TextBox 14"/>
          <p:cNvSpPr txBox="1"/>
          <p:nvPr/>
        </p:nvSpPr>
        <p:spPr>
          <a:xfrm>
            <a:off x="8207044" y="2567316"/>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199 платных участников оценивали состав питания, подсказку имитировали верной в 75 из ста. По экспертности разбивки нет — под матрицу выше эти числа не встают</a:t>
            </a:r>
          </a:p>
        </p:txBody>
      </p:sp>
      <p:sp>
        <p:nvSpPr>
          <p:cNvPr id="16" name="Rounded Rectangle 15"/>
          <p:cNvSpPr/>
          <p:nvPr/>
        </p:nvSpPr>
        <p:spPr>
          <a:xfrm>
            <a:off x="374904" y="3640890"/>
            <a:ext cx="11441887" cy="2595317"/>
          </a:xfrm>
          <a:prstGeom prst="roundRect">
            <a:avLst>
              <a:gd name="adj" fmla="val 1174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32330"/>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30 стажёров читали кардиограммы с машинной расшифровкой — верной и неверной.</a:t>
            </a:r>
            <a:r>
              <a:rPr sz="1250" b="0" i="0">
                <a:solidFill>
                  <a:srgbClr val="21295C"/>
                </a:solidFill>
                <a:latin typeface="Arial"/>
              </a:rPr>
              <a:t> 15 проходили ординатуру по кардиологии, 15 — по другим специальностям.</a:t>
            </a:r>
          </a:p>
        </p:txBody>
      </p:sp>
      <p:sp>
        <p:nvSpPr>
          <p:cNvPr id="18" name="Rectangle 17"/>
          <p:cNvSpPr/>
          <p:nvPr/>
        </p:nvSpPr>
        <p:spPr>
          <a:xfrm>
            <a:off x="539496" y="4385367"/>
            <a:ext cx="4999381" cy="383379"/>
          </a:xfrm>
          <a:prstGeom prst="rect">
            <a:avLst/>
          </a:prstGeom>
          <a:solidFill>
            <a:srgbClr val="065A82"/>
          </a:solidFill>
          <a:ln>
            <a:noFill/>
          </a:ln>
          <a:effectLst/>
        </p:spPr>
        <p:txBody>
          <a:bodyPr rtlCol="0" anchor="ctr"/>
          <a:lstStyle/>
          <a:p>
            <a:pPr algn="ctr"/>
          </a:p>
        </p:txBody>
      </p:sp>
      <p:sp>
        <p:nvSpPr>
          <p:cNvPr id="19" name="TextBox 18"/>
          <p:cNvSpPr txBox="1"/>
          <p:nvPr/>
        </p:nvSpPr>
        <p:spPr>
          <a:xfrm>
            <a:off x="685800" y="4385367"/>
            <a:ext cx="470677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точность заключения, из ста</a:t>
            </a:r>
          </a:p>
        </p:txBody>
      </p:sp>
      <p:sp>
        <p:nvSpPr>
          <p:cNvPr id="20" name="Rectangle 19"/>
          <p:cNvSpPr/>
          <p:nvPr/>
        </p:nvSpPr>
        <p:spPr>
          <a:xfrm>
            <a:off x="5538877" y="4385367"/>
            <a:ext cx="3951879" cy="383379"/>
          </a:xfrm>
          <a:prstGeom prst="rect">
            <a:avLst/>
          </a:prstGeom>
          <a:solidFill>
            <a:srgbClr val="065A82"/>
          </a:solidFill>
          <a:ln>
            <a:noFill/>
          </a:ln>
          <a:effectLst/>
        </p:spPr>
        <p:txBody>
          <a:bodyPr rtlCol="0" anchor="ctr"/>
          <a:lstStyle/>
          <a:p>
            <a:pPr algn="ctr"/>
          </a:p>
        </p:txBody>
      </p:sp>
      <p:sp>
        <p:nvSpPr>
          <p:cNvPr id="21" name="TextBox 20"/>
          <p:cNvSpPr txBox="1"/>
          <p:nvPr/>
        </p:nvSpPr>
        <p:spPr>
          <a:xfrm>
            <a:off x="5685181" y="4385367"/>
            <a:ext cx="365927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верная расшифровка</a:t>
            </a:r>
          </a:p>
        </p:txBody>
      </p:sp>
      <p:sp>
        <p:nvSpPr>
          <p:cNvPr id="22" name="Rectangle 21"/>
          <p:cNvSpPr/>
          <p:nvPr/>
        </p:nvSpPr>
        <p:spPr>
          <a:xfrm>
            <a:off x="9490756" y="4385367"/>
            <a:ext cx="2161442" cy="383379"/>
          </a:xfrm>
          <a:prstGeom prst="rect">
            <a:avLst/>
          </a:prstGeom>
          <a:solidFill>
            <a:srgbClr val="065A82"/>
          </a:solidFill>
          <a:ln>
            <a:noFill/>
          </a:ln>
          <a:effectLst/>
        </p:spPr>
        <p:txBody>
          <a:bodyPr rtlCol="0" anchor="ctr"/>
          <a:lstStyle/>
          <a:p>
            <a:pPr algn="ctr"/>
          </a:p>
        </p:txBody>
      </p:sp>
      <p:sp>
        <p:nvSpPr>
          <p:cNvPr id="23" name="TextBox 22"/>
          <p:cNvSpPr txBox="1"/>
          <p:nvPr/>
        </p:nvSpPr>
        <p:spPr>
          <a:xfrm>
            <a:off x="9637060" y="4385367"/>
            <a:ext cx="1868834"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неверная</a:t>
            </a:r>
          </a:p>
        </p:txBody>
      </p:sp>
      <p:sp>
        <p:nvSpPr>
          <p:cNvPr id="24" name="Rectangle 23"/>
          <p:cNvSpPr/>
          <p:nvPr/>
        </p:nvSpPr>
        <p:spPr>
          <a:xfrm>
            <a:off x="539496" y="4768747"/>
            <a:ext cx="4999381" cy="383379"/>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4768747"/>
            <a:ext cx="47067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стажёры кардиологии</a:t>
            </a:r>
          </a:p>
        </p:txBody>
      </p:sp>
      <p:sp>
        <p:nvSpPr>
          <p:cNvPr id="26" name="Rectangle 25"/>
          <p:cNvSpPr/>
          <p:nvPr/>
        </p:nvSpPr>
        <p:spPr>
          <a:xfrm>
            <a:off x="5538877" y="4768747"/>
            <a:ext cx="3951879" cy="383379"/>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5685181" y="4768747"/>
            <a:ext cx="365927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84,86</a:t>
            </a:r>
          </a:p>
        </p:txBody>
      </p:sp>
      <p:sp>
        <p:nvSpPr>
          <p:cNvPr id="28" name="Rectangle 27"/>
          <p:cNvSpPr/>
          <p:nvPr/>
        </p:nvSpPr>
        <p:spPr>
          <a:xfrm>
            <a:off x="9490756" y="4768747"/>
            <a:ext cx="2161442" cy="383379"/>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9637060" y="4768747"/>
            <a:ext cx="186883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41,66</a:t>
            </a:r>
          </a:p>
        </p:txBody>
      </p:sp>
      <p:sp>
        <p:nvSpPr>
          <p:cNvPr id="30" name="Rectangle 29"/>
          <p:cNvSpPr/>
          <p:nvPr/>
        </p:nvSpPr>
        <p:spPr>
          <a:xfrm>
            <a:off x="539496" y="5152127"/>
            <a:ext cx="4999381" cy="383379"/>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5152127"/>
            <a:ext cx="47067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другие специальности</a:t>
            </a:r>
          </a:p>
        </p:txBody>
      </p:sp>
      <p:sp>
        <p:nvSpPr>
          <p:cNvPr id="32" name="Rectangle 31"/>
          <p:cNvSpPr/>
          <p:nvPr/>
        </p:nvSpPr>
        <p:spPr>
          <a:xfrm>
            <a:off x="5538877" y="5152127"/>
            <a:ext cx="3951879" cy="383379"/>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5685181" y="5152127"/>
            <a:ext cx="365927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86,38</a:t>
            </a:r>
          </a:p>
        </p:txBody>
      </p:sp>
      <p:sp>
        <p:nvSpPr>
          <p:cNvPr id="34" name="Rectangle 33"/>
          <p:cNvSpPr/>
          <p:nvPr/>
        </p:nvSpPr>
        <p:spPr>
          <a:xfrm>
            <a:off x="9490756" y="5152127"/>
            <a:ext cx="2161442" cy="383379"/>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9637060" y="5152127"/>
            <a:ext cx="186883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27,43</a:t>
            </a:r>
          </a:p>
        </p:txBody>
      </p:sp>
      <p:sp>
        <p:nvSpPr>
          <p:cNvPr id="36" name="TextBox 35"/>
          <p:cNvSpPr txBox="1"/>
          <p:nvPr/>
        </p:nvSpPr>
        <p:spPr>
          <a:xfrm>
            <a:off x="539496" y="5681811"/>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Опыт защищает, но не спасает:</a:t>
            </a:r>
            <a:r>
              <a:rPr sz="1250" b="0" i="0">
                <a:solidFill>
                  <a:srgbClr val="21295C"/>
                </a:solidFill>
                <a:latin typeface="Arial"/>
              </a:rPr>
              <a:t> падают обе группы, и вдвое. </a:t>
            </a:r>
            <a:r>
              <a:rPr sz="1300" b="1" i="0">
                <a:solidFill>
                  <a:srgbClr val="21295C"/>
                </a:solidFill>
                <a:latin typeface="Arial"/>
              </a:rPr>
              <a:t>Столбца «без всякой расшифровки» по группам работа не печатает.</a:t>
            </a:r>
            <a:r>
              <a:rPr sz="1250" b="0" i="0">
                <a:solidFill>
                  <a:srgbClr val="21295C"/>
                </a:solidFill>
                <a:latin typeface="Arial"/>
              </a:rPr>
              <a:t> Стаж у групп разный: 36 ± 11 месяцев против 28 ± 13.</a:t>
            </a:r>
          </a:p>
        </p:txBody>
      </p:sp>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и соавт., Journal of Electrocardiology 2018</a:t>
            </a:r>
            <a:r>
              <a:rPr sz="1200" b="0" i="1">
                <a:solidFill>
                  <a:srgbClr val="1C7293"/>
                </a:solidFill>
                <a:latin typeface="Arial"/>
              </a:rPr>
              <a:t> · </a:t>
            </a:r>
            <a:r>
              <a:rPr sz="1200" b="0" i="1" u="sng">
                <a:solidFill>
                  <a:srgbClr val="065A82"/>
                </a:solidFill>
                <a:latin typeface="Arial"/>
                <a:hlinkClick r:id="rId3"/>
              </a:rPr>
              <a:t>Buçinca и соавт., CSCW 2021</a:t>
            </a:r>
            <a:r>
              <a:rPr sz="1200" b="0" i="1">
                <a:solidFill>
                  <a:srgbClr val="1C7293"/>
                </a:solidFill>
                <a:latin typeface="Arial"/>
              </a:rPr>
              <a:t> · </a:t>
            </a:r>
            <a:r>
              <a:rPr sz="1200" b="0" i="1" u="sng">
                <a:solidFill>
                  <a:srgbClr val="065A82"/>
                </a:solidFill>
                <a:latin typeface="Arial"/>
                <a:hlinkClick r:id="rId4"/>
              </a:rPr>
              <a:t>Yu и соавт., Nature Medicine 2024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Свод 106 опытов: где пара сильнее человека и где слабее модели</a:t>
            </a:r>
          </a:p>
        </p:txBody>
      </p:sp>
      <p:sp>
        <p:nvSpPr>
          <p:cNvPr id="4" name="Rectangle 3"/>
          <p:cNvSpPr/>
          <p:nvPr/>
        </p:nvSpPr>
        <p:spPr>
          <a:xfrm>
            <a:off x="754380" y="2213469"/>
            <a:ext cx="10682935" cy="50292"/>
          </a:xfrm>
          <a:prstGeom prst="rect">
            <a:avLst/>
          </a:prstGeom>
          <a:solidFill>
            <a:srgbClr val="1C7293"/>
          </a:solidFill>
          <a:ln>
            <a:noFill/>
          </a:ln>
          <a:effectLst/>
        </p:spPr>
        <p:txBody>
          <a:bodyPr rtlCol="0" anchor="ctr"/>
          <a:lstStyle/>
          <a:p>
            <a:pPr algn="ctr"/>
          </a:p>
        </p:txBody>
      </p:sp>
      <p:sp>
        <p:nvSpPr>
          <p:cNvPr id="5" name="Rectangle 4"/>
          <p:cNvSpPr/>
          <p:nvPr/>
        </p:nvSpPr>
        <p:spPr>
          <a:xfrm>
            <a:off x="6070701" y="1957437"/>
            <a:ext cx="50292" cy="562356"/>
          </a:xfrm>
          <a:prstGeom prst="rect">
            <a:avLst/>
          </a:prstGeom>
          <a:solidFill>
            <a:srgbClr val="556070"/>
          </a:solidFill>
          <a:ln>
            <a:noFill/>
          </a:ln>
          <a:effectLst/>
        </p:spPr>
        <p:txBody>
          <a:bodyPr rtlCol="0" anchor="ctr"/>
          <a:lstStyle/>
          <a:p>
            <a:pPr algn="ctr"/>
          </a:p>
        </p:txBody>
      </p:sp>
      <p:sp>
        <p:nvSpPr>
          <p:cNvPr id="6" name="TextBox 5"/>
          <p:cNvSpPr txBox="1"/>
          <p:nvPr/>
        </p:nvSpPr>
        <p:spPr>
          <a:xfrm>
            <a:off x="5775807" y="2487789"/>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7" name="TextBox 6"/>
          <p:cNvSpPr txBox="1"/>
          <p:nvPr/>
        </p:nvSpPr>
        <p:spPr>
          <a:xfrm>
            <a:off x="388620"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8" name="TextBox 7"/>
          <p:cNvSpPr txBox="1"/>
          <p:nvPr/>
        </p:nvSpPr>
        <p:spPr>
          <a:xfrm>
            <a:off x="11071555"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9" name="Rectangle 8"/>
          <p:cNvSpPr/>
          <p:nvPr/>
        </p:nvSpPr>
        <p:spPr>
          <a:xfrm>
            <a:off x="4288894" y="2204325"/>
            <a:ext cx="865301" cy="68580"/>
          </a:xfrm>
          <a:prstGeom prst="rect">
            <a:avLst/>
          </a:prstGeom>
          <a:solidFill>
            <a:srgbClr val="028090"/>
          </a:solidFill>
          <a:ln>
            <a:noFill/>
          </a:ln>
          <a:effectLst/>
        </p:spPr>
        <p:txBody>
          <a:bodyPr rtlCol="0" anchor="ctr"/>
          <a:lstStyle/>
          <a:p>
            <a:pPr algn="ctr"/>
          </a:p>
        </p:txBody>
      </p:sp>
      <p:sp>
        <p:nvSpPr>
          <p:cNvPr id="10" name="Rectangle 9"/>
          <p:cNvSpPr/>
          <p:nvPr/>
        </p:nvSpPr>
        <p:spPr>
          <a:xfrm>
            <a:off x="4696399" y="2048877"/>
            <a:ext cx="50292" cy="16459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3323313"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−0,54</a:t>
            </a:r>
          </a:p>
          <a:p>
            <a:pPr algn="ctr">
              <a:lnSpc>
                <a:spcPct val="110000"/>
              </a:lnSpc>
            </a:pPr>
            <a:r>
              <a:rPr sz="1200" b="0" i="0">
                <a:solidFill>
                  <a:srgbClr val="21295C"/>
                </a:solidFill>
                <a:latin typeface="Arial"/>
              </a:rPr>
              <a:t>Где модель сильнее: пара хуже модели</a:t>
            </a:r>
          </a:p>
        </p:txBody>
      </p:sp>
      <p:sp>
        <p:nvSpPr>
          <p:cNvPr id="12" name="Rectangle 11"/>
          <p:cNvSpPr/>
          <p:nvPr/>
        </p:nvSpPr>
        <p:spPr>
          <a:xfrm>
            <a:off x="5103296" y="2204325"/>
            <a:ext cx="814401" cy="68580"/>
          </a:xfrm>
          <a:prstGeom prst="rect">
            <a:avLst/>
          </a:prstGeom>
          <a:solidFill>
            <a:srgbClr val="028090"/>
          </a:solidFill>
          <a:ln>
            <a:noFill/>
          </a:ln>
          <a:effectLst/>
        </p:spPr>
        <p:txBody>
          <a:bodyPr rtlCol="0" anchor="ctr"/>
          <a:lstStyle/>
          <a:p>
            <a:pPr algn="ctr"/>
          </a:p>
        </p:txBody>
      </p:sp>
      <p:sp>
        <p:nvSpPr>
          <p:cNvPr id="13" name="Rectangle 12"/>
          <p:cNvSpPr/>
          <p:nvPr/>
        </p:nvSpPr>
        <p:spPr>
          <a:xfrm>
            <a:off x="5485350" y="2263761"/>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4112264"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−0,23</a:t>
            </a:r>
          </a:p>
          <a:p>
            <a:pPr algn="ctr">
              <a:lnSpc>
                <a:spcPct val="110000"/>
              </a:lnSpc>
            </a:pPr>
            <a:r>
              <a:rPr sz="1200" b="0" i="0">
                <a:solidFill>
                  <a:srgbClr val="21295C"/>
                </a:solidFill>
                <a:latin typeface="Arial"/>
              </a:rPr>
              <a:t>Головное число всего свода</a:t>
            </a:r>
          </a:p>
        </p:txBody>
      </p:sp>
      <p:sp>
        <p:nvSpPr>
          <p:cNvPr id="15" name="Rectangle 14"/>
          <p:cNvSpPr/>
          <p:nvPr/>
        </p:nvSpPr>
        <p:spPr>
          <a:xfrm>
            <a:off x="6808448" y="2204325"/>
            <a:ext cx="967101" cy="68580"/>
          </a:xfrm>
          <a:prstGeom prst="rect">
            <a:avLst/>
          </a:prstGeom>
          <a:solidFill>
            <a:srgbClr val="028090"/>
          </a:solidFill>
          <a:ln>
            <a:noFill/>
          </a:ln>
          <a:effectLst/>
        </p:spPr>
        <p:txBody>
          <a:bodyPr rtlCol="0" anchor="ctr"/>
          <a:lstStyle/>
          <a:p>
            <a:pPr algn="ctr"/>
          </a:p>
        </p:txBody>
      </p:sp>
      <p:sp>
        <p:nvSpPr>
          <p:cNvPr id="16" name="Rectangle 15"/>
          <p:cNvSpPr/>
          <p:nvPr/>
        </p:nvSpPr>
        <p:spPr>
          <a:xfrm>
            <a:off x="7241403" y="2048877"/>
            <a:ext cx="50292" cy="164592"/>
          </a:xfrm>
          <a:prstGeom prst="rect">
            <a:avLst/>
          </a:prstGeom>
          <a:solidFill>
            <a:srgbClr val="065A82"/>
          </a:solidFill>
          <a:ln>
            <a:noFill/>
          </a:ln>
          <a:effectLst/>
        </p:spPr>
        <p:txBody>
          <a:bodyPr rtlCol="0" anchor="ctr"/>
          <a:lstStyle/>
          <a:p>
            <a:pPr algn="ctr"/>
          </a:p>
        </p:txBody>
      </p:sp>
      <p:sp>
        <p:nvSpPr>
          <p:cNvPr id="17" name="TextBox 16"/>
          <p:cNvSpPr txBox="1"/>
          <p:nvPr/>
        </p:nvSpPr>
        <p:spPr>
          <a:xfrm>
            <a:off x="5868317"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+0,46</a:t>
            </a:r>
          </a:p>
          <a:p>
            <a:pPr algn="ctr">
              <a:lnSpc>
                <a:spcPct val="110000"/>
              </a:lnSpc>
            </a:pPr>
            <a:r>
              <a:rPr sz="1200" b="0" i="0">
                <a:solidFill>
                  <a:srgbClr val="21295C"/>
                </a:solidFill>
                <a:latin typeface="Arial"/>
              </a:rPr>
              <a:t>Где сильнее человек: пара лучше обеих сторон</a:t>
            </a:r>
          </a:p>
        </p:txBody>
      </p:sp>
      <p:sp>
        <p:nvSpPr>
          <p:cNvPr id="18" name="Rectangle 17"/>
          <p:cNvSpPr/>
          <p:nvPr/>
        </p:nvSpPr>
        <p:spPr>
          <a:xfrm>
            <a:off x="7699199" y="2204325"/>
            <a:ext cx="559900" cy="68580"/>
          </a:xfrm>
          <a:prstGeom prst="rect">
            <a:avLst/>
          </a:prstGeom>
          <a:solidFill>
            <a:srgbClr val="028090"/>
          </a:solidFill>
          <a:ln>
            <a:noFill/>
          </a:ln>
          <a:effectLst/>
        </p:spPr>
        <p:txBody>
          <a:bodyPr rtlCol="0" anchor="ctr"/>
          <a:lstStyle/>
          <a:p>
            <a:pPr algn="ctr"/>
          </a:p>
        </p:txBody>
      </p:sp>
      <p:sp>
        <p:nvSpPr>
          <p:cNvPr id="19" name="Rectangle 18"/>
          <p:cNvSpPr/>
          <p:nvPr/>
        </p:nvSpPr>
        <p:spPr>
          <a:xfrm>
            <a:off x="7954004" y="2263761"/>
            <a:ext cx="50292" cy="1645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6580918"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+0,74</a:t>
            </a:r>
          </a:p>
          <a:p>
            <a:pPr algn="ctr">
              <a:lnSpc>
                <a:spcPct val="110000"/>
              </a:lnSpc>
            </a:pPr>
            <a:r>
              <a:rPr sz="1200" b="0" i="0">
                <a:solidFill>
                  <a:srgbClr val="21295C"/>
                </a:solidFill>
                <a:latin typeface="Arial"/>
              </a:rPr>
              <a:t>Там же, где модель сильнее: пара лучше человека одного</a:t>
            </a:r>
          </a:p>
        </p:txBody>
      </p:sp>
      <p:sp>
        <p:nvSpPr>
          <p:cNvPr id="21" name="TextBox 20"/>
          <p:cNvSpPr txBox="1"/>
          <p:nvPr/>
        </p:nvSpPr>
        <p:spPr>
          <a:xfrm>
            <a:off x="502920" y="3251935"/>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размер эффекта в долях разброса · 74 работы · 106 опытов · 370 размеров эффекта из 5 126 просмотренных</a:t>
            </a:r>
          </a:p>
        </p:txBody>
      </p:sp>
      <p:sp>
        <p:nvSpPr>
          <p:cNvPr id="22" name="TextBox 21"/>
          <p:cNvSpPr txBox="1"/>
          <p:nvPr/>
        </p:nvSpPr>
        <p:spPr>
          <a:xfrm>
            <a:off x="502920" y="3544543"/>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ни один из четырёх интервалов нуля не накрывает</a:t>
            </a:r>
          </a:p>
        </p:txBody>
      </p:sp>
      <p:sp>
        <p:nvSpPr>
          <p:cNvPr id="23" name="Rounded Rectangle 22"/>
          <p:cNvSpPr/>
          <p:nvPr/>
        </p:nvSpPr>
        <p:spPr>
          <a:xfrm>
            <a:off x="374904" y="3850999"/>
            <a:ext cx="11441887" cy="2323823"/>
          </a:xfrm>
          <a:prstGeom prst="roundRect">
            <a:avLst>
              <a:gd name="adj" fmla="val 13116"/>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Предрегистрированный обзор с мета-анализом.</a:t>
            </a:r>
            <a:r>
              <a:rPr sz="1500" b="0" i="0">
                <a:solidFill>
                  <a:srgbClr val="21295C"/>
                </a:solidFill>
                <a:latin typeface="Arial"/>
              </a:rPr>
              <a:t> Брали только тот опыт, где измерены все три величины: человек один, модель одна и пара.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Головное число свода — минус 0,23:</a:t>
            </a:r>
            <a:r>
              <a:rPr sz="1500" b="0" i="0">
                <a:solidFill>
                  <a:srgbClr val="21295C"/>
                </a:solidFill>
                <a:latin typeface="Arial"/>
              </a:rPr>
              <a:t> в среднем пара хуже сильнейшей из сторон. От него оба подмножества читаются как подмножества, а не как итог.</a:t>
            </a:r>
          </a:p>
        </p:txBody>
      </p:sp>
      <p:sp>
        <p:nvSpPr>
          <p:cNvPr id="25" name="TextBox 24"/>
          <p:cNvSpPr txBox="1"/>
          <p:nvPr/>
        </p:nvSpPr>
        <p:spPr>
          <a:xfrm>
            <a:off x="6278727"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Там, где модель сильнее человека, две величины считаны на одном и том же подмножестве:</a:t>
            </a:r>
            <a:r>
              <a:rPr sz="1500" b="0" i="0">
                <a:solidFill>
                  <a:srgbClr val="21295C"/>
                </a:solidFill>
                <a:latin typeface="Arial"/>
              </a:rPr>
              <a:t> пара хуже модели на 0,54 и при этом лучше человека одного на 0,74. Обе разом — и есть правило: пара обходит слабейшую сторону и не догоняет сильнейшую.</a:t>
            </a:r>
          </a:p>
          <a:p>
            <a:pPr algn="l">
              <a:lnSpc>
                <a:spcPct val="126000"/>
              </a:lnSpc>
              <a:spcBef>
                <a:spcPts val="700"/>
              </a:spcBef>
            </a:pPr>
            <a:r>
              <a:rPr sz="1200" b="0" i="0">
                <a:solidFill>
                  <a:srgbClr val="21295C"/>
                </a:solidFill>
                <a:latin typeface="Arial"/>
              </a:rPr>
              <a:t/>
            </a:r>
            <a:r>
              <a:rPr sz="1200" b="0" i="1">
                <a:solidFill>
                  <a:srgbClr val="1C7293"/>
                </a:solidFill>
                <a:latin typeface="Arial"/>
              </a:rPr>
              <a:t>По всему своду пара обходит человека одного на 0,64 — но это другая база и другое подмножество, рядом с минус 0,54 оно не ставится.</a:t>
            </a:r>
          </a:p>
        </p:txBody>
      </p:sp>
      <p:sp>
        <p:nvSpPr>
          <p:cNvPr id="26" name="Rectangle 25"/>
          <p:cNvSpPr/>
          <p:nvPr/>
        </p:nvSpPr>
        <p:spPr>
          <a:xfrm>
            <a:off x="6091275" y="3942439"/>
            <a:ext cx="9144" cy="2049503"/>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Almaatouq, Malone, Nature Human Behaviour 2024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6: хирурги оценивают риск — сами и после знакомства с моделью</a:t>
            </a:r>
          </a:p>
        </p:txBody>
      </p:sp>
      <p:sp>
        <p:nvSpPr>
          <p:cNvPr id="4" name="Rounded Rectangle 3"/>
          <p:cNvSpPr/>
          <p:nvPr/>
        </p:nvSpPr>
        <p:spPr>
          <a:xfrm>
            <a:off x="502920" y="1335024"/>
            <a:ext cx="3618890" cy="2176704"/>
          </a:xfrm>
          <a:prstGeom prst="roundRect">
            <a:avLst>
              <a:gd name="adj" fmla="val 140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реанимации и без разговора с семьёй</a:t>
            </a:r>
          </a:p>
        </p:txBody>
      </p:sp>
      <p:sp>
        <p:nvSpPr>
          <p:cNvPr id="8" name="Rounded Rectangle 7"/>
          <p:cNvSpPr/>
          <p:nvPr/>
        </p:nvSpPr>
        <p:spPr>
          <a:xfrm>
            <a:off x="4286402" y="1335024"/>
            <a:ext cx="3618890" cy="2176704"/>
          </a:xfrm>
          <a:prstGeom prst="roundRect">
            <a:avLst>
              <a:gd name="adj" fmla="val 140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операцию отложат или отменят</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тридцатидневном счёте её не видно: не оперировали — сравнивать не с чем</a:t>
            </a:r>
          </a:p>
        </p:txBody>
      </p:sp>
      <p:sp>
        <p:nvSpPr>
          <p:cNvPr id="12" name="Rounded Rectangle 11"/>
          <p:cNvSpPr/>
          <p:nvPr/>
        </p:nvSpPr>
        <p:spPr>
          <a:xfrm>
            <a:off x="8069884" y="1335024"/>
            <a:ext cx="3618890" cy="2176704"/>
          </a:xfrm>
          <a:prstGeom prst="roundRect">
            <a:avLst>
              <a:gd name="adj" fmla="val 140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ХИРУРГ САМ → С POTTER</a:t>
            </a:r>
          </a:p>
        </p:txBody>
      </p:sp>
      <p:sp>
        <p:nvSpPr>
          <p:cNvPr id="14" name="TextBox 13"/>
          <p:cNvSpPr txBox="1"/>
          <p:nvPr/>
        </p:nvSpPr>
        <p:spPr>
          <a:xfrm>
            <a:off x="8207044" y="1932846"/>
            <a:ext cx="3344570" cy="596748"/>
          </a:xfrm>
          <a:prstGeom prst="rect">
            <a:avLst/>
          </a:prstGeom>
          <a:noFill/>
        </p:spPr>
        <p:txBody>
          <a:bodyPr wrap="square" lIns="0" rIns="0" tIns="0" bIns="0" anchor="t">
            <a:spAutoFit/>
          </a:bodyPr>
          <a:lstStyle/>
          <a:p>
            <a:pPr algn="l">
              <a:lnSpc>
                <a:spcPct val="108000"/>
              </a:lnSpc>
            </a:pPr>
            <a:r>
              <a:rPr sz="1650" b="1" i="0">
                <a:solidFill>
                  <a:srgbClr val="1C7293"/>
                </a:solidFill>
                <a:latin typeface="Arial"/>
              </a:rPr>
              <a:t>смертность 0,841 → 0,870 · септический шок 0,820 → 0,712</a:t>
            </a:r>
          </a:p>
        </p:txBody>
      </p:sp>
      <p:sp>
        <p:nvSpPr>
          <p:cNvPr id="15" name="TextBox 14"/>
          <p:cNvSpPr txBox="1"/>
          <p:nvPr/>
        </p:nvSpPr>
        <p:spPr>
          <a:xfrm>
            <a:off x="8207044" y="2529594"/>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там же кровотечение 0,735 → 0,811, пневмония 0,753 → 0,803: на трёх исходах из четырёх пара точнее хирурга одного. Шкала: 0,5 — монетка, 1,0 — без промаха</a:t>
            </a:r>
          </a:p>
        </p:txBody>
      </p:sp>
      <p:sp>
        <p:nvSpPr>
          <p:cNvPr id="16" name="Rounded Rectangle 15"/>
          <p:cNvSpPr/>
          <p:nvPr/>
        </p:nvSpPr>
        <p:spPr>
          <a:xfrm>
            <a:off x="374904" y="3603168"/>
            <a:ext cx="11441887" cy="2633039"/>
          </a:xfrm>
          <a:prstGeom prst="roundRect">
            <a:avLst>
              <a:gd name="adj" fmla="val 1157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694608"/>
            <a:ext cx="5373471" cy="25415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30 хирургов, жребием на две группы по 15:</a:t>
            </a:r>
            <a:r>
              <a:rPr sz="1500" b="0" i="0">
                <a:solidFill>
                  <a:srgbClr val="21295C"/>
                </a:solidFill>
                <a:latin typeface="Arial"/>
              </a:rPr>
              <a:t> одни оценивали риск по письменному описанию случая сами, другие — после знакомства с POTTER. 150 случаев, исходы прослежены вперёд 30 дней.</a:t>
            </a:r>
          </a:p>
          <a:p>
            <a:pPr algn="l">
              <a:lnSpc>
                <a:spcPct val="126000"/>
              </a:lnSpc>
              <a:spcBef>
                <a:spcPts val="700"/>
              </a:spcBef>
            </a:pPr>
            <a:r>
              <a:rPr sz="1500" b="0" i="0">
                <a:solidFill>
                  <a:srgbClr val="21295C"/>
                </a:solidFill>
                <a:latin typeface="Arial"/>
              </a:rPr>
              <a:t/>
            </a:r>
            <a:r>
              <a:rPr sz="1500" b="1" i="0">
                <a:solidFill>
                  <a:srgbClr val="21295C"/>
                </a:solidFill>
                <a:latin typeface="Arial"/>
              </a:rPr>
              <a:t>На септическом шоке пара ниже и хирурга, и модели:</a:t>
            </a:r>
            <a:r>
              <a:rPr sz="1500" b="0" i="0">
                <a:solidFill>
                  <a:srgbClr val="21295C"/>
                </a:solidFill>
                <a:latin typeface="Arial"/>
              </a:rPr>
              <a:t> та одна дала 0,816. </a:t>
            </a:r>
            <a:r>
              <a:rPr sz="1500" b="1" i="0">
                <a:solidFill>
                  <a:srgbClr val="21295C"/>
                </a:solidFill>
                <a:latin typeface="Arial"/>
              </a:rPr>
              <a:t>Второй классический режим — шкалы риска,</a:t>
            </a:r>
            <a:r>
              <a:rPr sz="1500" b="0" i="0">
                <a:solidFill>
                  <a:srgbClr val="21295C"/>
                </a:solidFill>
                <a:latin typeface="Arial"/>
              </a:rPr>
              <a:t> другая выборка: 0,874–0,898 против модели 0,916.</a:t>
            </a:r>
          </a:p>
        </p:txBody>
      </p:sp>
      <p:sp>
        <p:nvSpPr>
          <p:cNvPr id="18" name="TextBox 17"/>
          <p:cNvSpPr txBox="1"/>
          <p:nvPr/>
        </p:nvSpPr>
        <p:spPr>
          <a:xfrm>
            <a:off x="6278727" y="3694608"/>
            <a:ext cx="5373471" cy="25415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POTTER.</a:t>
            </a:r>
            <a:r>
              <a:rPr sz="1500" b="0" i="0">
                <a:solidFill>
                  <a:srgbClr val="21295C"/>
                </a:solidFill>
                <a:latin typeface="Arial"/>
              </a:rPr>
              <a:t> Вход — 4–11 ответов о больном, выход — вероятности пяти исходов за 30 дней. Обучен на 382 960 случаях; решающие деревья, не нейросеть.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Исполнитель тот же, но стал хуже: изменилось состояние руки. </a:t>
            </a:r>
            <a:r>
              <a:rPr sz="1500" b="1" i="0">
                <a:solidFill>
                  <a:srgbClr val="21295C"/>
                </a:solidFill>
                <a:latin typeface="Arial"/>
              </a:rPr>
              <a:t>Ступень — смотрит вторым.</a:t>
            </a:r>
            <a:r>
              <a:rPr sz="1500" b="0" i="0">
                <a:solidFill>
                  <a:srgbClr val="21295C"/>
                </a:solidFill>
                <a:latin typeface="Arial"/>
              </a:rPr>
              <a:t> А где перевес модели наибольший, пара не прибавила вовсе: </a:t>
            </a:r>
            <a:r>
              <a:rPr sz="1500" b="1" i="0">
                <a:solidFill>
                  <a:srgbClr val="21295C"/>
                </a:solidFill>
                <a:latin typeface="Arial"/>
              </a:rPr>
              <a:t>0,834 против 0,833.</a:t>
            </a:r>
          </a:p>
          <a:p>
            <a:pPr algn="l">
              <a:lnSpc>
                <a:spcPct val="126000"/>
              </a:lnSpc>
              <a:spcBef>
                <a:spcPts val="700"/>
              </a:spcBef>
            </a:pPr>
            <a:r>
              <a:rPr sz="1200" b="0" i="0">
                <a:solidFill>
                  <a:srgbClr val="21295C"/>
                </a:solidFill>
                <a:latin typeface="Arial"/>
              </a:rPr>
              <a:t/>
            </a:r>
            <a:r>
              <a:rPr sz="1200" b="0" i="1">
                <a:solidFill>
                  <a:srgbClr val="1C7293"/>
                </a:solidFill>
                <a:latin typeface="Arial"/>
              </a:rPr>
              <a:t>Больного никто из них не осматривал. Повторения замера нет.</a:t>
            </a:r>
          </a:p>
        </p:txBody>
      </p:sp>
      <p:sp>
        <p:nvSpPr>
          <p:cNvPr id="19" name="Rectangle 18"/>
          <p:cNvSpPr/>
          <p:nvPr/>
        </p:nvSpPr>
        <p:spPr>
          <a:xfrm>
            <a:off x="6091275" y="3694608"/>
            <a:ext cx="9144" cy="249487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Annals of Surgery 2018</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2023</a:t>
            </a:r>
            <a:r>
              <a:rPr sz="1200" b="0" i="1">
                <a:solidFill>
                  <a:srgbClr val="1C7293"/>
                </a:solidFill>
                <a:latin typeface="Arial"/>
              </a:rPr>
              <a:t> · </a:t>
            </a:r>
            <a:r>
              <a:rPr sz="1200" b="0" i="1" u="sng">
                <a:solidFill>
                  <a:srgbClr val="065A82"/>
                </a:solidFill>
                <a:latin typeface="Arial"/>
                <a:hlinkClick r:id="rId4"/>
              </a:rPr>
              <a:t>Эверетт и соавт., npj Digital Medicine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случая, четыре эффекта, один вывод</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871421"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578813"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случай</a:t>
            </a:r>
          </a:p>
        </p:txBody>
      </p:sp>
      <p:sp>
        <p:nvSpPr>
          <p:cNvPr id="7" name="Rectangle 6"/>
          <p:cNvSpPr/>
          <p:nvPr/>
        </p:nvSpPr>
        <p:spPr>
          <a:xfrm>
            <a:off x="3410917" y="1335024"/>
            <a:ext cx="5877927"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3557221" y="1335024"/>
            <a:ext cx="558531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эффект</a:t>
            </a:r>
          </a:p>
        </p:txBody>
      </p:sp>
      <p:sp>
        <p:nvSpPr>
          <p:cNvPr id="9" name="Rectangle 8"/>
          <p:cNvSpPr/>
          <p:nvPr/>
        </p:nvSpPr>
        <p:spPr>
          <a:xfrm>
            <a:off x="9288844" y="1335024"/>
            <a:ext cx="2363354"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9435148" y="1335024"/>
            <a:ext cx="207074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вывод</a:t>
            </a:r>
          </a:p>
        </p:txBody>
      </p:sp>
      <p:sp>
        <p:nvSpPr>
          <p:cNvPr id="11" name="Rectangle 10"/>
          <p:cNvSpPr/>
          <p:nvPr/>
        </p:nvSpPr>
        <p:spPr>
          <a:xfrm>
            <a:off x="539496" y="1736636"/>
            <a:ext cx="2871421" cy="875652"/>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36636"/>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Хирурги и POTTER.</a:t>
            </a:r>
            <a:r>
              <a:rPr sz="1300" b="0" i="0">
                <a:solidFill>
                  <a:srgbClr val="21295C"/>
                </a:solidFill>
                <a:latin typeface="Arial"/>
              </a:rPr>
              <a:t> Жребием на две группы, 30 хирургов, 150 случаев</a:t>
            </a:r>
          </a:p>
        </p:txBody>
      </p:sp>
      <p:sp>
        <p:nvSpPr>
          <p:cNvPr id="13" name="Rectangle 12"/>
          <p:cNvSpPr/>
          <p:nvPr/>
        </p:nvSpPr>
        <p:spPr>
          <a:xfrm>
            <a:off x="3410917" y="1736636"/>
            <a:ext cx="5877927" cy="87565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557221" y="1736636"/>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 трёх исходах из четырёх пара точнее хирурга; на септическом шоке </a:t>
            </a:r>
            <a:r>
              <a:rPr sz="1300" b="1" i="0">
                <a:solidFill>
                  <a:srgbClr val="21295C"/>
                </a:solidFill>
                <a:latin typeface="Arial"/>
              </a:rPr>
              <a:t>0,712</a:t>
            </a:r>
            <a:r>
              <a:rPr sz="1300" b="0" i="0">
                <a:solidFill>
                  <a:srgbClr val="21295C"/>
                </a:solidFill>
                <a:latin typeface="Arial"/>
              </a:rPr>
              <a:t> против 0,820 у хирурга и 0,816 у модели</a:t>
            </a:r>
          </a:p>
        </p:txBody>
      </p:sp>
      <p:sp>
        <p:nvSpPr>
          <p:cNvPr id="15" name="Rectangle 14"/>
          <p:cNvSpPr/>
          <p:nvPr/>
        </p:nvSpPr>
        <p:spPr>
          <a:xfrm>
            <a:off x="9288844" y="1736636"/>
            <a:ext cx="2363354" cy="87565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9435148" y="1736636"/>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проиграла там, где у человека было своё преимущество</a:t>
            </a:r>
          </a:p>
        </p:txBody>
      </p:sp>
      <p:sp>
        <p:nvSpPr>
          <p:cNvPr id="17" name="Rectangle 16"/>
          <p:cNvSpPr/>
          <p:nvPr/>
        </p:nvSpPr>
        <p:spPr>
          <a:xfrm>
            <a:off x="539496" y="2612288"/>
            <a:ext cx="2871421" cy="875652"/>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612288"/>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Врачи с языковой моделью.</a:t>
            </a:r>
            <a:r>
              <a:rPr sz="1300" b="0" i="0">
                <a:solidFill>
                  <a:srgbClr val="21295C"/>
                </a:solidFill>
                <a:latin typeface="Arial"/>
              </a:rPr>
              <a:t> Жребием, 50 врачей, описания случаев</a:t>
            </a:r>
          </a:p>
        </p:txBody>
      </p:sp>
      <p:sp>
        <p:nvSpPr>
          <p:cNvPr id="19" name="Rectangle 18"/>
          <p:cNvSpPr/>
          <p:nvPr/>
        </p:nvSpPr>
        <p:spPr>
          <a:xfrm>
            <a:off x="3410917" y="2612288"/>
            <a:ext cx="5877927" cy="875652"/>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557221" y="2612288"/>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балл рассуждения </a:t>
            </a:r>
            <a:r>
              <a:rPr sz="1300" b="1" i="0">
                <a:solidFill>
                  <a:srgbClr val="21295C"/>
                </a:solidFill>
                <a:latin typeface="Arial"/>
              </a:rPr>
              <a:t>76 против 74</a:t>
            </a:r>
            <a:r>
              <a:rPr sz="1300" b="0" i="0">
                <a:solidFill>
                  <a:srgbClr val="21295C"/>
                </a:solidFill>
                <a:latin typeface="Arial"/>
              </a:rPr>
              <a:t> со справочниками: разница 2 пункта, интервал −4…8</a:t>
            </a:r>
          </a:p>
        </p:txBody>
      </p:sp>
      <p:sp>
        <p:nvSpPr>
          <p:cNvPr id="21" name="Rectangle 20"/>
          <p:cNvSpPr/>
          <p:nvPr/>
        </p:nvSpPr>
        <p:spPr>
          <a:xfrm>
            <a:off x="9288844" y="2612288"/>
            <a:ext cx="2363354" cy="87565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9435148" y="2612288"/>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от справочника не отличима</a:t>
            </a:r>
          </a:p>
        </p:txBody>
      </p:sp>
      <p:sp>
        <p:nvSpPr>
          <p:cNvPr id="23" name="Rectangle 22"/>
          <p:cNvSpPr/>
          <p:nvPr/>
        </p:nvSpPr>
        <p:spPr>
          <a:xfrm>
            <a:off x="539496" y="3487941"/>
            <a:ext cx="2871421" cy="638632"/>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487941"/>
            <a:ext cx="2578813"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Свод чужих опытов.</a:t>
            </a:r>
            <a:r>
              <a:rPr sz="1300" b="0" i="0">
                <a:solidFill>
                  <a:srgbClr val="21295C"/>
                </a:solidFill>
                <a:latin typeface="Arial"/>
              </a:rPr>
              <a:t> 74 работы, 106 опытов</a:t>
            </a:r>
          </a:p>
        </p:txBody>
      </p:sp>
      <p:sp>
        <p:nvSpPr>
          <p:cNvPr id="25" name="Rectangle 24"/>
          <p:cNvSpPr/>
          <p:nvPr/>
        </p:nvSpPr>
        <p:spPr>
          <a:xfrm>
            <a:off x="3410917" y="3487941"/>
            <a:ext cx="5877927" cy="638632"/>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557221" y="3487941"/>
            <a:ext cx="5585319"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где модель сильнее — пара хуже модели на </a:t>
            </a:r>
            <a:r>
              <a:rPr sz="1300" b="1" i="0">
                <a:solidFill>
                  <a:srgbClr val="21295C"/>
                </a:solidFill>
                <a:latin typeface="Arial"/>
              </a:rPr>
              <a:t>0,54</a:t>
            </a:r>
            <a:r>
              <a:rPr sz="1300" b="0" i="0">
                <a:solidFill>
                  <a:srgbClr val="21295C"/>
                </a:solidFill>
                <a:latin typeface="Arial"/>
              </a:rPr>
              <a:t> и лучше человека на 0,74; по всему своду −0,23</a:t>
            </a:r>
          </a:p>
        </p:txBody>
      </p:sp>
      <p:sp>
        <p:nvSpPr>
          <p:cNvPr id="27" name="Rectangle 26"/>
          <p:cNvSpPr/>
          <p:nvPr/>
        </p:nvSpPr>
        <p:spPr>
          <a:xfrm>
            <a:off x="9288844" y="3487941"/>
            <a:ext cx="2363354" cy="638632"/>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9435148" y="3487941"/>
            <a:ext cx="20707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счёт идёт против сильнейшей из сторон</a:t>
            </a:r>
          </a:p>
        </p:txBody>
      </p:sp>
      <p:sp>
        <p:nvSpPr>
          <p:cNvPr id="29" name="Rectangle 28"/>
          <p:cNvSpPr/>
          <p:nvPr/>
        </p:nvSpPr>
        <p:spPr>
          <a:xfrm>
            <a:off x="539496" y="4126573"/>
            <a:ext cx="2871421" cy="875652"/>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126573"/>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Замер взгляда.</a:t>
            </a:r>
            <a:r>
              <a:rPr sz="1300" b="0" i="0">
                <a:solidFill>
                  <a:srgbClr val="21295C"/>
                </a:solidFill>
                <a:latin typeface="Arial"/>
              </a:rPr>
              <a:t> Читатель против себя, 10 читателей</a:t>
            </a:r>
          </a:p>
        </p:txBody>
      </p:sp>
      <p:sp>
        <p:nvSpPr>
          <p:cNvPr id="31" name="Rectangle 30"/>
          <p:cNvSpPr/>
          <p:nvPr/>
        </p:nvSpPr>
        <p:spPr>
          <a:xfrm>
            <a:off x="3410917" y="4126573"/>
            <a:ext cx="5877927" cy="875652"/>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557221" y="4126573"/>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где подсказка молчала (14 случаев) — пропущенных раков </a:t>
            </a:r>
            <a:r>
              <a:rPr sz="1300" b="1" i="0">
                <a:solidFill>
                  <a:srgbClr val="21295C"/>
                </a:solidFill>
                <a:latin typeface="Arial"/>
              </a:rPr>
              <a:t>29 → 61</a:t>
            </a:r>
            <a:r>
              <a:rPr sz="1300" b="0" i="0">
                <a:solidFill>
                  <a:srgbClr val="21295C"/>
                </a:solidFill>
                <a:latin typeface="Arial"/>
              </a:rPr>
              <a:t> из ста; где ошиблась в другую сторону (14 случаев) — ложных вызовов 79 → 61</a:t>
            </a:r>
          </a:p>
        </p:txBody>
      </p:sp>
      <p:sp>
        <p:nvSpPr>
          <p:cNvPr id="33" name="Rectangle 32"/>
          <p:cNvSpPr/>
          <p:nvPr/>
        </p:nvSpPr>
        <p:spPr>
          <a:xfrm>
            <a:off x="9288844" y="4126573"/>
            <a:ext cx="2363354" cy="875652"/>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9435148" y="4126573"/>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знак задаёт правота подсказки</a:t>
            </a:r>
          </a:p>
        </p:txBody>
      </p:sp>
      <p:sp>
        <p:nvSpPr>
          <p:cNvPr id="35" name="TextBox 34"/>
          <p:cNvSpPr txBox="1"/>
          <p:nvPr/>
        </p:nvSpPr>
        <p:spPr>
          <a:xfrm>
            <a:off x="539496" y="5148530"/>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Ни в одном из четырёх решение человека не дошло до больного.</a:t>
            </a:r>
            <a:r>
              <a:rPr sz="1350" b="0" i="0">
                <a:solidFill>
                  <a:srgbClr val="21295C"/>
                </a:solidFill>
                <a:latin typeface="Arial"/>
              </a:rPr>
              <a:t> Исходы, где они есть, служат эталоном для счёта точности, а не последствием подсказки.</a:t>
            </a:r>
          </a:p>
        </p:txBody>
      </p:sp>
      <p:sp>
        <p:nvSpPr>
          <p:cNvPr id="36" name="TextBox 35"/>
          <p:cNvSpPr txBox="1"/>
          <p:nvPr/>
        </p:nvSpPr>
        <p:spPr>
          <a:xfrm>
            <a:off x="539496" y="5840546"/>
            <a:ext cx="11112703" cy="263111"/>
          </a:xfrm>
          <a:prstGeom prst="rect">
            <a:avLst/>
          </a:prstGeom>
          <a:noFill/>
        </p:spPr>
        <p:txBody>
          <a:bodyPr wrap="square" lIns="0" rIns="0" tIns="0" bIns="0" anchor="t">
            <a:spAutoFit/>
          </a:bodyPr>
          <a:lstStyle/>
          <a:p>
            <a:pPr algn="l">
              <a:lnSpc>
                <a:spcPct val="124000"/>
              </a:lnSpc>
            </a:pPr>
            <a:r>
              <a:rPr sz="1350" b="0" i="1">
                <a:solidFill>
                  <a:srgbClr val="1C7293"/>
                </a:solidFill>
                <a:latin typeface="Arial"/>
              </a:rPr>
              <a:t>Модель одна дала 92 из ста в третьем случае — но это три прогона, а не ветвь жребия.</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2023</a:t>
            </a:r>
            <a:r>
              <a:rPr sz="1200" b="0" i="1">
                <a:solidFill>
                  <a:srgbClr val="1C7293"/>
                </a:solidFill>
                <a:latin typeface="Arial"/>
              </a:rPr>
              <a:t> · </a:t>
            </a:r>
            <a:r>
              <a:rPr sz="1200" b="0" i="1" u="sng">
                <a:solidFill>
                  <a:srgbClr val="065A82"/>
                </a:solidFill>
                <a:latin typeface="Arial"/>
                <a:hlinkClick r:id="rId3"/>
              </a:rPr>
              <a:t>врачи с языковой моделью: JAMA Network Open 2024</a:t>
            </a:r>
            <a:r>
              <a:rPr sz="1200" b="0" i="1">
                <a:solidFill>
                  <a:srgbClr val="1C7293"/>
                </a:solidFill>
                <a:latin typeface="Arial"/>
              </a:rPr>
              <a:t> · </a:t>
            </a:r>
            <a:r>
              <a:rPr sz="1200" b="0" i="1" u="sng">
                <a:solidFill>
                  <a:srgbClr val="065A82"/>
                </a:solidFill>
                <a:latin typeface="Arial"/>
                <a:hlinkClick r:id="rId4"/>
              </a:rPr>
              <a:t>свод: Nature Human Behaviour 2024</a:t>
            </a:r>
            <a:r>
              <a:rPr sz="1200" b="0" i="1">
                <a:solidFill>
                  <a:srgbClr val="1C7293"/>
                </a:solidFill>
                <a:latin typeface="Arial"/>
              </a:rPr>
              <a:t> · </a:t>
            </a:r>
            <a:r>
              <a:rPr sz="1200" b="0" i="1" u="sng">
                <a:solidFill>
                  <a:srgbClr val="065A82"/>
                </a:solidFill>
                <a:latin typeface="Arial"/>
                <a:hlinkClick r:id="rId5"/>
              </a:rPr>
              <a:t>взгляд: Radiology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7: модель раннего предупреждения о сепсисе</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ПРОПУСКА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часы до реанимации</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ведущая причина внутрибольничной смерти; не в деньгах</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ЛОЖНОЙ ТРЕВОГИ</a:t>
            </a:r>
          </a:p>
        </p:txBody>
      </p:sp>
      <p:sp>
        <p:nvSpPr>
          <p:cNvPr id="10" name="TextBox 9"/>
          <p:cNvSpPr txBox="1"/>
          <p:nvPr/>
        </p:nvSpPr>
        <p:spPr>
          <a:xfrm>
            <a:off x="3477691"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через сотню — закрывать не читая</a:t>
            </a:r>
          </a:p>
        </p:txBody>
      </p:sp>
      <p:sp>
        <p:nvSpPr>
          <p:cNvPr id="11" name="TextBox 10"/>
          <p:cNvSpPr txBox="1"/>
          <p:nvPr/>
        </p:nvSpPr>
        <p:spPr>
          <a:xfrm>
            <a:off x="3477691"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антибиотик «на всякий случай», время с другого пациента</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 ШКАЛА → МОДЕЛЬ</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 12 из ста</a:t>
            </a:r>
          </a:p>
        </p:txBody>
      </p:sp>
      <p:sp>
        <p:nvSpPr>
          <p:cNvPr id="15" name="TextBox 14"/>
          <p:cNvSpPr txBox="1"/>
          <p:nvPr/>
        </p:nvSpPr>
        <p:spPr>
          <a:xfrm>
            <a:off x="6315303"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45 776 пациентов, сепсис 3,3 из ста · модель: 38 455 госпитализаций, 6,6 из ста</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ИЗМЕРЕНО НЕЗАВИСИМОЙ ПРОВЕРКОЙ</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0,76–0,83 → 0,63</a:t>
            </a:r>
          </a:p>
        </p:txBody>
      </p:sp>
      <p:sp>
        <p:nvSpPr>
          <p:cNvPr id="19" name="TextBox 18"/>
          <p:cNvSpPr txBox="1"/>
          <p:nvPr/>
        </p:nvSpPr>
        <p:spPr>
          <a:xfrm>
            <a:off x="9152915"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различение: 0,5 монетка, 1,0 без промаха. Поймано 33 случая из ста — не выявлено 1 709 из 2 552</a:t>
            </a:r>
          </a:p>
        </p:txBody>
      </p:sp>
      <p:sp>
        <p:nvSpPr>
          <p:cNvPr id="20" name="Rounded Rectangle 19"/>
          <p:cNvSpPr/>
          <p:nvPr/>
        </p:nvSpPr>
        <p:spPr>
          <a:xfrm>
            <a:off x="374904" y="3584307"/>
            <a:ext cx="11441887" cy="2651900"/>
          </a:xfrm>
          <a:prstGeom prst="roundRect">
            <a:avLst>
              <a:gd name="adj" fmla="val 1149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 модель сепсиса Epic</a:t>
            </a:r>
            <a:r>
              <a:rPr sz="1500" b="0" i="0">
                <a:solidFill>
                  <a:srgbClr val="21295C"/>
                </a:solidFill>
                <a:latin typeface="Arial"/>
              </a:rPr>
              <a:t>, встроенная в медицинскую карту. Вход — показатели и записи, читаемые непрерывно; выход — балл риска и тревога с набором назначений в один щелчок. </a:t>
            </a:r>
            <a:r>
              <a:rPr sz="1500" b="0" i="1">
                <a:solidFill>
                  <a:srgbClr val="21295C"/>
                </a:solidFill>
                <a:latin typeface="Arial"/>
              </a:rPr>
              <a:t>Прогноз на структурированных данных: штрафованная логистическая регрессия, глубокой сети здесь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Обе ошибки платит одна дежурная смена,</a:t>
            </a:r>
            <a:r>
              <a:rPr sz="1500" b="0" i="0">
                <a:solidFill>
                  <a:srgbClr val="21295C"/>
                </a:solidFill>
                <a:latin typeface="Arial"/>
              </a:rPr>
              <a:t> и выбор между ними делается по многу раз за ночь.</a:t>
            </a:r>
          </a:p>
        </p:txBody>
      </p:sp>
      <p:sp>
        <p:nvSpPr>
          <p:cNvPr id="22" name="TextBox 21"/>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Шкала считалась руками:</a:t>
            </a:r>
            <a:r>
              <a:rPr sz="1500" b="0" i="0">
                <a:solidFill>
                  <a:srgbClr val="21295C"/>
                </a:solidFill>
                <a:latin typeface="Arial"/>
              </a:rPr>
              <a:t> баллы по таблице, сумма, порог, назначенное действие. Веса расставила согласительная комиссия и напечатала — ошибку шкалы правят новой редакцией.</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Сравнивать модель надо с этой шкалой, а не с нулём.</a:t>
            </a:r>
          </a:p>
          <a:p>
            <a:pPr algn="l">
              <a:lnSpc>
                <a:spcPct val="126000"/>
              </a:lnSpc>
              <a:spcBef>
                <a:spcPts val="700"/>
              </a:spcBef>
            </a:pPr>
            <a:r>
              <a:rPr sz="1200" b="0" i="0">
                <a:solidFill>
                  <a:srgbClr val="21295C"/>
                </a:solidFill>
                <a:latin typeface="Arial"/>
              </a:rPr>
              <a:t/>
            </a:r>
            <a:r>
              <a:rPr sz="1200" b="0" i="1">
                <a:solidFill>
                  <a:srgbClr val="1C7293"/>
                </a:solidFill>
                <a:latin typeface="Arial"/>
              </a:rPr>
              <a:t>Как проверяли: ретроспективно, 27 697 пациентов одной системы — балл сверяли с записанным исходом.</a:t>
            </a:r>
          </a:p>
        </p:txBody>
      </p:sp>
      <p:sp>
        <p:nvSpPr>
          <p:cNvPr id="23" name="Rectangle 22"/>
          <p:cNvSpPr/>
          <p:nvPr/>
        </p:nvSpPr>
        <p:spPr>
          <a:xfrm>
            <a:off x="6091275" y="3675747"/>
            <a:ext cx="9144" cy="24653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a:t>
            </a:r>
            <a:r>
              <a:rPr sz="1200" b="0" i="1">
                <a:solidFill>
                  <a:srgbClr val="1C7293"/>
                </a:solidFill>
                <a:latin typeface="Arial"/>
              </a:rPr>
              <a:t> · </a:t>
            </a:r>
            <a:r>
              <a:rPr sz="1200" b="0" i="1" u="sng">
                <a:solidFill>
                  <a:srgbClr val="065A82"/>
                </a:solidFill>
                <a:latin typeface="Arial"/>
                <a:hlinkClick r:id="rId4"/>
              </a:rPr>
              <a:t>Ostermayer и соавт., JAMIA Open 2024</a:t>
            </a:r>
            <a:r>
              <a:rPr sz="1200" b="0" i="1">
                <a:solidFill>
                  <a:srgbClr val="1C7293"/>
                </a:solidFill>
                <a:latin typeface="Arial"/>
              </a:rPr>
              <a:t> · </a:t>
            </a:r>
            <a:r>
              <a:rPr sz="1200" b="0" i="1" u="sng">
                <a:solidFill>
                  <a:srgbClr val="065A82"/>
                </a:solidFill>
                <a:latin typeface="Arial"/>
                <a:hlinkClick r:id="rId5"/>
              </a:rPr>
              <a:t>заявление по второй версии и проспективная проверка</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7, цена: восемнадцать тревог на сто госпитализаций</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РАЗОБРАТЬ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восемь тревог</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ВТОРАЯ ПРОВЕРКА, ДРУГИЕ АВТОРЫ И БОЛЬНИЦЫ</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опережение — ноль минут</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 145 885 обращений, 2023 год</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ПАЦИЕНТОВ С ТРЕВОГОЙ ЗА ЭПИДЕМИЮ</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 21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база — 24 больницы: поток 953 → 1 363 при загрузке 10 159 → 6 634</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Разбор тревоги — новый шаг той же смены</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Тревога приходит на 18 госпитализаций из ста; подтверждается 12 из ста поднятых тревог</a:t>
            </a:r>
            <a:r>
              <a:rPr sz="1300" b="0" i="0">
                <a:solidFill>
                  <a:srgbClr val="21295C"/>
                </a:solidFill>
                <a:latin typeface="Arial"/>
              </a:rPr>
              <a:t> — считано от разного, путать нельзя.</a:t>
            </a:r>
          </a:p>
          <a:p>
            <a:pPr algn="l">
              <a:lnSpc>
                <a:spcPct val="126000"/>
              </a:lnSpc>
              <a:spcBef>
                <a:spcPts val="700"/>
              </a:spcBef>
            </a:pPr>
            <a:r>
              <a:rPr sz="1300" b="0" i="0">
                <a:solidFill>
                  <a:srgbClr val="21295C"/>
                </a:solidFill>
                <a:latin typeface="Arial"/>
              </a:rPr>
              <a:t/>
            </a:r>
            <a:r>
              <a:rPr sz="1300" b="1" i="0">
                <a:solidFill>
                  <a:srgbClr val="21295C"/>
                </a:solidFill>
                <a:latin typeface="Arial"/>
              </a:rPr>
              <a:t>Шкала подтверждалась 8 из ста, модель — 12: из этой полосы она не вышла.</a:t>
            </a:r>
            <a:r>
              <a:rPr sz="1300" b="0" i="0">
                <a:solidFill>
                  <a:srgbClr val="21295C"/>
                </a:solidFill>
                <a:latin typeface="Arial"/>
              </a:rPr>
              <a:t> Населения разные — сравнивается порядок величины, превосходства оно не устанавливает.</a:t>
            </a:r>
          </a:p>
        </p:txBody>
      </p:sp>
      <p:sp>
        <p:nvSpPr>
          <p:cNvPr id="37" name="TextBox 36"/>
          <p:cNvSpPr txBox="1"/>
          <p:nvPr/>
        </p:nvSpPr>
        <p:spPr>
          <a:xfrm>
            <a:off x="6278727"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Вторая проверка дословно: «добавляет мало к тому, что врачи и так делают».</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переехало:</a:t>
            </a:r>
            <a:r>
              <a:rPr sz="1300" b="0" i="0">
                <a:solidFill>
                  <a:srgbClr val="21295C"/>
                </a:solidFill>
                <a:latin typeface="Arial"/>
              </a:rPr>
              <a:t> нагрузка выросла на том же месте, и </a:t>
            </a:r>
            <a:r>
              <a:rPr sz="1300" b="1" i="0">
                <a:solidFill>
                  <a:srgbClr val="21295C"/>
                </a:solidFill>
                <a:latin typeface="Arial"/>
              </a:rPr>
              <a:t>появился шаг</a:t>
            </a:r>
            <a:r>
              <a:rPr sz="1300" b="0" i="0">
                <a:solidFill>
                  <a:srgbClr val="21295C"/>
                </a:solidFill>
                <a:latin typeface="Arial"/>
              </a:rPr>
              <a:t> — у шкалы отклонять было нечего, порог она считала сама. </a:t>
            </a:r>
            <a:r>
              <a:rPr sz="1300" b="1" i="0">
                <a:solidFill>
                  <a:srgbClr val="21295C"/>
                </a:solidFill>
                <a:latin typeface="Arial"/>
              </a:rPr>
              <a:t>Распределение входов сдвинулось, порог остался.</a:t>
            </a:r>
          </a:p>
        </p:txBody>
      </p:sp>
      <p:sp>
        <p:nvSpPr>
          <p:cNvPr id="38" name="Rectangle 37"/>
          <p:cNvSpPr/>
          <p:nvPr/>
        </p:nvSpPr>
        <p:spPr>
          <a:xfrm>
            <a:off x="6091275" y="4809341"/>
            <a:ext cx="9144" cy="137616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Ostermayer и соавт., JAMIA Open 2024</a:t>
            </a:r>
            <a:r>
              <a:rPr sz="1200" b="0" i="1">
                <a:solidFill>
                  <a:srgbClr val="1C7293"/>
                </a:solidFill>
                <a:latin typeface="Arial"/>
              </a:rPr>
              <a:t> · </a:t>
            </a:r>
            <a:r>
              <a:rPr sz="1200" b="0" i="1" u="sng">
                <a:solidFill>
                  <a:srgbClr val="065A82"/>
                </a:solidFill>
                <a:latin typeface="Arial"/>
                <a:hlinkClick r:id="rId4"/>
              </a:rPr>
              <a:t>объём тревог за эпидемию</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раздела: три места, где провалилось не чтение</a:t>
            </a:r>
          </a:p>
        </p:txBody>
      </p:sp>
      <p:sp>
        <p:nvSpPr>
          <p:cNvPr id="4" name="Rounded Rectangle 3"/>
          <p:cNvSpPr/>
          <p:nvPr/>
        </p:nvSpPr>
        <p:spPr>
          <a:xfrm>
            <a:off x="502920" y="1335024"/>
            <a:ext cx="5437479" cy="2366072"/>
          </a:xfrm>
          <a:prstGeom prst="roundRect">
            <a:avLst>
              <a:gd name="adj" fmla="val 12882"/>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169899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второй взгляд на поток целиком</a:t>
            </a:r>
          </a:p>
          <a:p>
            <a:pPr algn="l">
              <a:lnSpc>
                <a:spcPct val="126000"/>
              </a:lnSpc>
            </a:pPr>
            <a:r>
              <a:rPr sz="1450" b="0" i="0">
                <a:solidFill>
                  <a:srgbClr val="21295C"/>
                </a:solidFill>
                <a:latin typeface="Arial"/>
              </a:rPr>
              <a:t>• постоянство: десятитысячный снимок как первый</a:t>
            </a:r>
          </a:p>
          <a:p>
            <a:pPr algn="l">
              <a:lnSpc>
                <a:spcPct val="126000"/>
              </a:lnSpc>
            </a:pPr>
            <a:r>
              <a:rPr sz="1450" b="0" i="0">
                <a:solidFill>
                  <a:srgbClr val="21295C"/>
                </a:solidFill>
                <a:latin typeface="Arial"/>
              </a:rPr>
              <a:t>• напоминание о редком диагнозе</a:t>
            </a:r>
          </a:p>
          <a:p>
            <a:pPr algn="l">
              <a:lnSpc>
                <a:spcPct val="126000"/>
              </a:lnSpc>
            </a:pPr>
            <a:r>
              <a:rPr sz="1450" b="0" i="0">
                <a:solidFill>
                  <a:srgbClr val="21295C"/>
                </a:solidFill>
                <a:latin typeface="Arial"/>
              </a:rPr>
              <a:t>• пара сильнее обеих — в одном устройстве процедуры</a:t>
            </a:r>
          </a:p>
        </p:txBody>
      </p:sp>
      <p:sp>
        <p:nvSpPr>
          <p:cNvPr id="7" name="Rounded Rectangle 6"/>
          <p:cNvSpPr/>
          <p:nvPr/>
        </p:nvSpPr>
        <p:spPr>
          <a:xfrm>
            <a:off x="6251295" y="1335024"/>
            <a:ext cx="5437479" cy="2366072"/>
          </a:xfrm>
          <a:prstGeom prst="roundRect">
            <a:avLst>
              <a:gd name="adj" fmla="val 12882"/>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169899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решить, годно ли измерение</a:t>
            </a:r>
          </a:p>
          <a:p>
            <a:pPr algn="l">
              <a:lnSpc>
                <a:spcPct val="126000"/>
              </a:lnSpc>
            </a:pPr>
            <a:r>
              <a:rPr sz="1450" b="0" i="0">
                <a:solidFill>
                  <a:srgbClr val="21295C"/>
                </a:solidFill>
                <a:latin typeface="Arial"/>
              </a:rPr>
              <a:t>• назначить порог под цену ошибки</a:t>
            </a:r>
          </a:p>
          <a:p>
            <a:pPr algn="l">
              <a:lnSpc>
                <a:spcPct val="126000"/>
              </a:lnSpc>
            </a:pPr>
            <a:r>
              <a:rPr sz="1450" b="0" i="0">
                <a:solidFill>
                  <a:srgbClr val="21295C"/>
                </a:solidFill>
                <a:latin typeface="Arial"/>
              </a:rPr>
              <a:t>• сохранить независимость двух мнений</a:t>
            </a:r>
          </a:p>
          <a:p>
            <a:pPr algn="l">
              <a:lnSpc>
                <a:spcPct val="126000"/>
              </a:lnSpc>
            </a:pPr>
            <a:r>
              <a:rPr sz="1450" b="0" i="0">
                <a:solidFill>
                  <a:srgbClr val="21295C"/>
                </a:solidFill>
                <a:latin typeface="Arial"/>
              </a:rPr>
              <a:t>• удержать преимущество там, где человек сильнее</a:t>
            </a:r>
          </a:p>
          <a:p>
            <a:pPr algn="l">
              <a:lnSpc>
                <a:spcPct val="126000"/>
              </a:lnSpc>
            </a:pPr>
            <a:r>
              <a:rPr sz="1450" b="0" i="0">
                <a:solidFill>
                  <a:srgbClr val="21295C"/>
                </a:solidFill>
                <a:latin typeface="Arial"/>
              </a:rPr>
              <a:t>• заметить, что вход сдвинулся</a:t>
            </a:r>
          </a:p>
        </p:txBody>
      </p:sp>
      <p:sp>
        <p:nvSpPr>
          <p:cNvPr id="10" name="Rounded Rectangle 9"/>
          <p:cNvSpPr/>
          <p:nvPr/>
        </p:nvSpPr>
        <p:spPr>
          <a:xfrm>
            <a:off x="374904" y="3792536"/>
            <a:ext cx="11441887" cy="2443671"/>
          </a:xfrm>
          <a:prstGeom prst="roundRect">
            <a:avLst>
              <a:gd name="adj" fmla="val 1247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3883976"/>
            <a:ext cx="11112703" cy="2352231"/>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Раздел закрыл две стадии и один случай сверх них.</a:t>
            </a:r>
            <a:r>
              <a:rPr sz="1300" b="0" i="0">
                <a:solidFill>
                  <a:srgbClr val="21295C"/>
                </a:solidFill>
                <a:latin typeface="Arial"/>
              </a:rPr>
              <a:t> На исследовании провалились развёртывание и определение цели: снимки не прошли по качеству, а целевой переменной взяли расходы вместо болезни. На постановке диагноза — устройство процедуры: инструмент тот же, а исходы противоположные. На непрерывном наблюдении сдвинулось распределение входов, а порог остался прежним.</a:t>
            </a:r>
          </a:p>
          <a:p>
            <a:pPr algn="l">
              <a:lnSpc>
                <a:spcPct val="126000"/>
              </a:lnSpc>
              <a:spcBef>
                <a:spcPts val="700"/>
              </a:spcBef>
            </a:pPr>
            <a:r>
              <a:rPr sz="1300" b="0" i="0">
                <a:solidFill>
                  <a:srgbClr val="21295C"/>
                </a:solidFill>
                <a:latin typeface="Arial"/>
              </a:rPr>
              <a:t/>
            </a:r>
            <a:r>
              <a:rPr sz="1300" b="1" i="0">
                <a:solidFill>
                  <a:srgbClr val="21295C"/>
                </a:solidFill>
                <a:latin typeface="Arial"/>
              </a:rPr>
              <a:t>Стало с работой:</a:t>
            </a:r>
            <a:r>
              <a:rPr sz="1300" b="0" i="0">
                <a:solidFill>
                  <a:srgbClr val="21295C"/>
                </a:solidFill>
                <a:latin typeface="Arial"/>
              </a:rPr>
              <a:t> нагрузка на том же месте упала · появился повторный визит · сменился исполнитель, отбор делал врач — стал балл · исполнитель тот же, но стал хуже.</a:t>
            </a:r>
          </a:p>
          <a:p>
            <a:pPr algn="l">
              <a:lnSpc>
                <a:spcPct val="126000"/>
              </a:lnSpc>
              <a:spcBef>
                <a:spcPts val="700"/>
              </a:spcBef>
            </a:pPr>
            <a:r>
              <a:rPr sz="1300" b="0" i="0">
                <a:solidFill>
                  <a:srgbClr val="21295C"/>
                </a:solidFill>
                <a:latin typeface="Arial"/>
              </a:rPr>
              <a:t/>
            </a:r>
            <a:r>
              <a:rPr sz="1300" b="1" i="0">
                <a:solidFill>
                  <a:srgbClr val="21295C"/>
                </a:solidFill>
                <a:latin typeface="Arial"/>
              </a:rPr>
              <a:t>Держат это</a:t>
            </a:r>
            <a:r>
              <a:rPr sz="1300" b="0" i="0">
                <a:solidFill>
                  <a:srgbClr val="21295C"/>
                </a:solidFill>
                <a:latin typeface="Arial"/>
              </a:rPr>
              <a:t> порог, назначенный под цену обеих ошибок, арбитраж на расхождениях и порядок предъявления подсказки. </a:t>
            </a:r>
            <a:r>
              <a:rPr sz="1300" b="1" i="0">
                <a:solidFill>
                  <a:srgbClr val="21295C"/>
                </a:solidFill>
                <a:latin typeface="Arial"/>
              </a:rPr>
              <a:t>Цель системы не проверяет никто.</a:t>
            </a:r>
          </a:p>
          <a:p>
            <a:pPr algn="l">
              <a:lnSpc>
                <a:spcPct val="126000"/>
              </a:lnSpc>
              <a:spcBef>
                <a:spcPts val="700"/>
              </a:spcBef>
            </a:pPr>
            <a:r>
              <a:rPr sz="1300" b="0" i="0">
                <a:solidFill>
                  <a:srgbClr val="21295C"/>
                </a:solidFill>
                <a:latin typeface="Arial"/>
              </a:rPr>
              <a:t/>
            </a:r>
            <a:r>
              <a:rPr sz="1300" b="1" i="0">
                <a:solidFill>
                  <a:srgbClr val="21295C"/>
                </a:solidFill>
                <a:latin typeface="Arial"/>
              </a:rPr>
              <a:t>Ступень участия нигде не записана. Неназначенная сползает к подписи не глядя.</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Ведение медицинской документации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Наблюдение искало ухудшение в цифрах. Здесь то же решение уезжает в текст,</a:t>
            </a:r>
            <a:r>
              <a:rPr sz="1550" b="0" i="0">
                <a:solidFill>
                  <a:srgbClr val="21295C"/>
                </a:solidFill>
                <a:latin typeface="Arial"/>
              </a:rPr>
              <a:t> и прочтёт его через месяц тот, кто пациента не видел.</a:t>
            </a:r>
          </a:p>
        </p:txBody>
      </p:sp>
      <p:sp>
        <p:nvSpPr>
          <p:cNvPr id="7" name="TextBox 6"/>
          <p:cNvSpPr txBox="1"/>
          <p:nvPr/>
        </p:nvSpPr>
        <p:spPr>
          <a:xfrm>
            <a:off x="704088" y="261333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p>
        </p:txBody>
      </p:sp>
      <p:sp>
        <p:nvSpPr>
          <p:cNvPr id="10" name="TextBox 9"/>
          <p:cNvSpPr txBox="1"/>
          <p:nvPr/>
        </p:nvSpPr>
        <p:spPr>
          <a:xfrm>
            <a:off x="704088" y="401337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Запись: данные, вопрос, решение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НАБРАНО РУКАМИ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знаков заметки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23 630 заметок, 460 авторов одного центра</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 ПОДСТАВЛЕНО СИСТЕМОЙ — В ДОЛЕ ЗНАКОВ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36 %</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у ординаторов перенос 51,4 %</a:t>
            </a:r>
          </a:p>
        </p:txBody>
      </p:sp>
      <p:sp>
        <p:nvSpPr>
          <p:cNvPr id="12" name="Rounded Rectangle 11"/>
          <p:cNvSpPr/>
          <p:nvPr/>
        </p:nvSpPr>
        <p:spPr>
          <a:xfrm>
            <a:off x="374904" y="2592217"/>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всё собранное раньше, положенное в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Руками врач пишет меньшую часть заметки.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Происхождение каждого знака в подписанной заметке карта подсчитывала сама;</a:t>
            </a:r>
            <a:r>
              <a:rPr sz="1500" b="0" i="0">
                <a:solidFill>
                  <a:srgbClr val="21295C"/>
                </a:solidFill>
                <a:latin typeface="Arial"/>
              </a:rPr>
              <a:t> единица — доля знаков.</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 что попадёт в документ, по которому назначат потом; читает его другой человек, со своим вопросом.</a:t>
            </a:r>
          </a:p>
        </p:txBody>
      </p:sp>
      <p:sp>
        <p:nvSpPr>
          <p:cNvPr id="15" name="Rectangle 14"/>
          <p:cNvSpPr/>
          <p:nvPr/>
        </p:nvSpPr>
        <p:spPr>
          <a:xfrm>
            <a:off x="6091275" y="2683657"/>
            <a:ext cx="9144" cy="16631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JAMA Internal Medicine 2017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четыре режима письма, посчитанные по-разному</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В МИНУТАХ НА ЗАМЕТКУ</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мин 22 с → 4 мин 04 с</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дрейф 18 секунд</a:t>
            </a:r>
          </a:p>
        </p:txBody>
      </p:sp>
      <p:sp>
        <p:nvSpPr>
          <p:cNvPr id="8" name="Rounded Rectangle 7"/>
          <p:cNvSpPr/>
          <p:nvPr/>
        </p:nvSpPr>
        <p:spPr>
          <a:xfrm>
            <a:off x="3340531"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ПРЕЖНЕЙ ЗАПИСИ — В ДОЛЕ ТЕКСТА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50,1 % слов карты</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104 млн заметок о почти 2 млн пациентов; 33,0 % в 2015 → 54,2 % в 2020</a:t>
            </a:r>
          </a:p>
        </p:txBody>
      </p:sp>
      <p:sp>
        <p:nvSpPr>
          <p:cNvPr id="12" name="Rounded Rectangle 11"/>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БЕЗ ЧИСЛА</a:t>
            </a:r>
          </a:p>
        </p:txBody>
      </p:sp>
      <p:sp>
        <p:nvSpPr>
          <p:cNvPr id="14" name="TextBox 13"/>
          <p:cNvSpPr txBox="1"/>
          <p:nvPr/>
        </p:nvSpPr>
        <p:spPr>
          <a:xfrm>
            <a:off x="6315303"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не был</a:t>
            </a:r>
          </a:p>
        </p:txBody>
      </p:sp>
      <p:sp>
        <p:nvSpPr>
          <p:cNvPr id="15" name="Rounded Rectangle 14"/>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ЧЕРНОВИК ОРДИНАТОРА — БЕЗ ЧИСЛА</a:t>
            </a:r>
          </a:p>
        </p:txBody>
      </p:sp>
      <p:sp>
        <p:nvSpPr>
          <p:cNvPr id="17" name="TextBox 16"/>
          <p:cNvSpPr txBox="1"/>
          <p:nvPr/>
        </p:nvSpPr>
        <p:spPr>
          <a:xfrm>
            <a:off x="9152915" y="1932846"/>
            <a:ext cx="2398699" cy="1182383"/>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сравнение брало документ лечащего</a:t>
            </a:r>
          </a:p>
        </p:txBody>
      </p:sp>
      <p:sp>
        <p:nvSpPr>
          <p:cNvPr id="18" name="Rounded Rectangle 17"/>
          <p:cNvSpPr/>
          <p:nvPr/>
        </p:nvSpPr>
        <p:spPr>
          <a:xfrm>
            <a:off x="374904" y="3612599"/>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Половина слов карты уже была написана об этом же пациенте раньше.</a:t>
            </a:r>
            <a:r>
              <a:rPr sz="1500" b="0" i="0">
                <a:solidFill>
                  <a:srgbClr val="21295C"/>
                </a:solidFill>
                <a:latin typeface="Arial"/>
              </a:rPr>
              <a:t> Слышится «половина записей скопирована»; измерено «половина написанного уже было написано».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Карты одной системы за шесть лет:</a:t>
            </a:r>
            <a:r>
              <a:rPr sz="1500" b="0" i="0">
                <a:solidFill>
                  <a:srgbClr val="21295C"/>
                </a:solidFill>
                <a:latin typeface="Arial"/>
              </a:rPr>
              <a:t> дословные повторы подсчитывали скользящим окном в десять слов; единица — доля слов.</a:t>
            </a:r>
          </a:p>
        </p:txBody>
      </p:sp>
      <p:sp>
        <p:nvSpPr>
          <p:cNvPr id="20" name="TextBox 19"/>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ошибки переноса:</a:t>
            </a:r>
            <a:r>
              <a:rPr sz="1500" b="0" i="0">
                <a:solidFill>
                  <a:srgbClr val="21295C"/>
                </a:solidFill>
                <a:latin typeface="Arial"/>
              </a:rPr>
              <a:t> 2,6 процента из 190 диагностических ошибок на 212 165 приёмов.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В одну бухгалтерию эти величины не складываются.</a:t>
            </a:r>
            <a:r>
              <a:rPr sz="1500" b="0" i="0">
                <a:solidFill>
                  <a:srgbClr val="21295C"/>
                </a:solidFill>
                <a:latin typeface="Arial"/>
              </a:rPr>
              <a:t> Пробелы оставил замер.</a:t>
            </a:r>
          </a:p>
        </p:txBody>
      </p:sp>
      <p:sp>
        <p:nvSpPr>
          <p:cNvPr id="21" name="Rectangle 20"/>
          <p:cNvSpPr/>
          <p:nvPr/>
        </p:nvSpPr>
        <p:spPr>
          <a:xfrm>
            <a:off x="6091275" y="3704039"/>
            <a:ext cx="9144" cy="2168327"/>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Steinkamp и соавт., JAMA Network Open 2022</a:t>
            </a:r>
            <a:r>
              <a:rPr sz="1200" b="0" i="1">
                <a:solidFill>
                  <a:srgbClr val="1C7293"/>
                </a:solidFill>
                <a:latin typeface="Arial"/>
              </a:rPr>
              <a:t> · </a:t>
            </a:r>
            <a:r>
              <a:rPr sz="1200" b="0" i="1" u="sng">
                <a:solidFill>
                  <a:srgbClr val="065A82"/>
                </a:solidFill>
                <a:latin typeface="Arial"/>
                <a:hlinkClick r:id="rId3"/>
              </a:rPr>
              <a:t>Tsou и соавт., Applied Clinical Informatics 2017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участники на стадии записи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два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и сборку документа; убрала — держать структуру в голове</a:t>
            </a:r>
          </a:p>
        </p:txBody>
      </p:sp>
      <p:sp>
        <p:nvSpPr>
          <p:cNvPr id="8" name="Rounded Rectangle 7"/>
          <p:cNvSpPr/>
          <p:nvPr/>
        </p:nvSpPr>
        <p:spPr>
          <a:xfrm>
            <a:off x="374904" y="2592217"/>
            <a:ext cx="11441887" cy="2917509"/>
          </a:xfrm>
          <a:prstGeom prst="roundRect">
            <a:avLst>
              <a:gd name="adj" fmla="val 10447"/>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Приём на двенадцать минут: врач назначает — и держит структуру записи в голове.</a:t>
            </a:r>
          </a:p>
          <a:p>
            <a:pPr algn="l">
              <a:lnSpc>
                <a:spcPct val="126000"/>
              </a:lnSpc>
              <a:spcBef>
                <a:spcPts val="700"/>
              </a:spcBef>
            </a:pPr>
            <a:r>
              <a:rPr sz="1500" b="0" i="0">
                <a:solidFill>
                  <a:srgbClr val="21295C"/>
                </a:solidFill>
                <a:latin typeface="Arial"/>
              </a:rPr>
              <a:t/>
            </a:r>
            <a:r>
              <a:rPr sz="1500" b="1" i="0">
                <a:solidFill>
                  <a:srgbClr val="21295C"/>
                </a:solidFill>
                <a:latin typeface="Arial"/>
              </a:rPr>
              <a:t>Шесть действий стадии:</a:t>
            </a:r>
            <a:r>
              <a:rPr sz="1500" b="0" i="0">
                <a:solidFill>
                  <a:srgbClr val="21295C"/>
                </a:solidFill>
                <a:latin typeface="Arial"/>
              </a:rPr>
              <a:t> держать структуру в голове при разговоре · набрать запись · вычитать и подписать · собрать выписной документ · передать его читателю · предъявить при разборе случая.</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Решает по записи тот, кто пациента не видел: пропуск и отсутствие события для него одинаковы.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меньше, чем было</a:t>
            </a:r>
            <a:r>
              <a:rPr sz="1500" b="0" i="0">
                <a:solidFill>
                  <a:srgbClr val="21295C"/>
                </a:solidFill>
                <a:latin typeface="Arial"/>
              </a:rPr>
              <a:t> — назначат заново проверенное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то, чего не было</a:t>
            </a:r>
            <a:r>
              <a:rPr sz="1500" b="0" i="0">
                <a:solidFill>
                  <a:srgbClr val="21295C"/>
                </a:solidFill>
                <a:latin typeface="Arial"/>
              </a:rPr>
              <a:t> — назначат по ложному основанию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Заключение о женщине с письмом читает другой человек, через два года.</a:t>
            </a:r>
          </a:p>
        </p:txBody>
      </p:sp>
      <p:sp>
        <p:nvSpPr>
          <p:cNvPr id="11" name="Rectangle 10"/>
          <p:cNvSpPr/>
          <p:nvPr/>
        </p:nvSpPr>
        <p:spPr>
          <a:xfrm>
            <a:off x="6091275" y="2683657"/>
            <a:ext cx="9144" cy="2643189"/>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МЕТОДИКА НЕ РАСКРЫТА</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часа на приём</a:t>
            </a:r>
          </a:p>
        </p:txBody>
      </p:sp>
      <p:sp>
        <p:nvSpPr>
          <p:cNvPr id="8" name="Rounded Rectangle 7"/>
          <p:cNvSpPr/>
          <p:nvPr/>
        </p:nvSpPr>
        <p:spPr>
          <a:xfrm>
            <a:off x="3340531"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время в заметке ниже на 9,5 %</a:t>
            </a:r>
          </a:p>
        </p:txBody>
      </p:sp>
      <p:sp>
        <p:nvSpPr>
          <p:cNvPr id="11" name="Rounded Rectangle 10"/>
          <p:cNvSpPr/>
          <p:nvPr/>
        </p:nvSpPr>
        <p:spPr>
          <a:xfrm>
            <a:off x="6178143"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ВТОРОЙ</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4" name="Rounded Rectangle 13"/>
          <p:cNvSpPr/>
          <p:nvPr/>
        </p:nvSpPr>
        <p:spPr>
          <a:xfrm>
            <a:off x="9015755" y="1335024"/>
            <a:ext cx="2673019"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 изменилось</a:t>
            </a:r>
          </a:p>
        </p:txBody>
      </p:sp>
      <p:sp>
        <p:nvSpPr>
          <p:cNvPr id="17" name="Rounded Rectangle 16"/>
          <p:cNvSpPr/>
          <p:nvPr/>
        </p:nvSpPr>
        <p:spPr>
          <a:xfrm>
            <a:off x="374904" y="3190112"/>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Заметку врач набирал между приёмами и в конце дня</a:t>
            </a:r>
            <a:r>
              <a:rPr sz="1500" b="0" i="0">
                <a:solidFill>
                  <a:srgbClr val="21295C"/>
                </a:solidFill>
                <a:latin typeface="Arial"/>
              </a:rPr>
              <a:t> — «домашняя работа с картой». Подписывал сам.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238 амбулаторных врачей четырнадцати специальностей вели приём в трёх равных группах: два инструмента и обычная практика.</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звук приёма, выход — черновик под вычитку. Режим занимают Abridge, Dragon Copilot, Nabla, Heidi; </a:t>
            </a:r>
            <a:r>
              <a:rPr sz="1500" b="1" i="0">
                <a:solidFill>
                  <a:srgbClr val="21295C"/>
                </a:solidFill>
                <a:latin typeface="Arial"/>
              </a:rPr>
              <a:t>имён своих инструментов препринт не печатает.</a:t>
            </a:r>
          </a:p>
        </p:txBody>
      </p:sp>
      <p:sp>
        <p:nvSpPr>
          <p:cNvPr id="19" name="TextBox 18"/>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Заявление и замер считают разные величины:</a:t>
            </a:r>
            <a:r>
              <a:rPr sz="1500" b="0" i="0">
                <a:solidFill>
                  <a:srgbClr val="21295C"/>
                </a:solidFill>
                <a:latin typeface="Arial"/>
              </a:rPr>
              <a:t> четверть часа не укладывается в четыре минуты над заметкой. </a:t>
            </a:r>
            <a:r>
              <a:rPr sz="1500" b="1" i="0">
                <a:solidFill>
                  <a:srgbClr val="21295C"/>
                </a:solidFill>
                <a:latin typeface="Arial"/>
              </a:rPr>
              <a:t>Число без названной методики счёта утверждением о мире не является.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Два продукта режима, один дизайн:</a:t>
            </a:r>
            <a:r>
              <a:rPr sz="1500" b="0" i="0">
                <a:solidFill>
                  <a:srgbClr val="21295C"/>
                </a:solidFill>
                <a:latin typeface="Arial"/>
              </a:rPr>
              <a:t> эффект принадлежит реализации, не классу инструмента.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прочитывает автоматический протокол встречи построчно, прежде чем разослать?</a:t>
            </a:r>
          </a:p>
        </p:txBody>
      </p:sp>
      <p:sp>
        <p:nvSpPr>
          <p:cNvPr id="20" name="Rectangle 19"/>
          <p:cNvSpPr/>
          <p:nvPr/>
        </p:nvSpPr>
        <p:spPr>
          <a:xfrm>
            <a:off x="6091275" y="3281552"/>
            <a:ext cx="9144" cy="255428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препринт medRxiv 2025, рецензирования не проходил</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 усталость ниже</a:t>
            </a:r>
          </a:p>
        </p:txBody>
      </p:sp>
      <p:sp>
        <p:nvSpPr>
          <p:cNvPr id="7" name="Rounded Rectangle 6"/>
          <p:cNvSpPr/>
          <p:nvPr/>
        </p:nvSpPr>
        <p:spPr>
          <a:xfrm>
            <a:off x="3340531"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вычитку каждого черновика и службу со штатом</a:t>
            </a:r>
          </a:p>
        </p:txBody>
      </p:sp>
      <p:sp>
        <p:nvSpPr>
          <p:cNvPr id="10" name="Rounded Rectangle 9"/>
          <p:cNvSpPr/>
          <p:nvPr/>
        </p:nvSpPr>
        <p:spPr>
          <a:xfrm>
            <a:off x="6178143"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2" name="TextBox 11"/>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3" name="TextBox 12"/>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наблюдательное; день внедрения → сто пятидесятый</a:t>
            </a:r>
          </a:p>
        </p:txBody>
      </p:sp>
      <p:sp>
        <p:nvSpPr>
          <p:cNvPr id="14" name="Rounded Rectangle 13"/>
          <p:cNvSpPr/>
          <p:nvPr/>
        </p:nvSpPr>
        <p:spPr>
          <a:xfrm>
            <a:off x="9015755" y="1335024"/>
            <a:ext cx="2673019"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набор сократился, правка та же</a:t>
            </a:r>
          </a:p>
        </p:txBody>
      </p:sp>
      <p:sp>
        <p:nvSpPr>
          <p:cNvPr id="17" name="TextBox 16"/>
          <p:cNvSpPr txBox="1"/>
          <p:nvPr/>
        </p:nvSpPr>
        <p:spPr>
          <a:xfrm>
            <a:off x="502920" y="3289836"/>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8" name="Rounded Rectangle 17"/>
          <p:cNvSpPr/>
          <p:nvPr/>
        </p:nvSpPr>
        <p:spPr>
          <a:xfrm>
            <a:off x="2011680" y="3253260"/>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набор текста</a:t>
            </a:r>
          </a:p>
        </p:txBody>
      </p:sp>
      <p:sp>
        <p:nvSpPr>
          <p:cNvPr id="21" name="Right Arrow 20"/>
          <p:cNvSpPr/>
          <p:nvPr/>
        </p:nvSpPr>
        <p:spPr>
          <a:xfrm>
            <a:off x="4248073" y="3440712"/>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24" name="TextBox 23"/>
          <p:cNvSpPr txBox="1"/>
          <p:nvPr/>
        </p:nvSpPr>
        <p:spPr>
          <a:xfrm>
            <a:off x="502920" y="3911628"/>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2011680" y="3875052"/>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разговор</a:t>
            </a:r>
          </a:p>
        </p:txBody>
      </p:sp>
      <p:sp>
        <p:nvSpPr>
          <p:cNvPr id="28" name="Right Arrow 27"/>
          <p:cNvSpPr/>
          <p:nvPr/>
        </p:nvSpPr>
        <p:spPr>
          <a:xfrm>
            <a:off x="4248073" y="406250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568113"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4650409"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a:t>
            </a:r>
          </a:p>
        </p:txBody>
      </p:sp>
      <p:sp>
        <p:nvSpPr>
          <p:cNvPr id="31" name="Right Arrow 30"/>
          <p:cNvSpPr/>
          <p:nvPr/>
        </p:nvSpPr>
        <p:spPr>
          <a:xfrm>
            <a:off x="6713067" y="406250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вычитка</a:t>
            </a:r>
          </a:p>
        </p:txBody>
      </p:sp>
      <p:sp>
        <p:nvSpPr>
          <p:cNvPr id="34" name="Right Arrow 33"/>
          <p:cNvSpPr/>
          <p:nvPr/>
        </p:nvSpPr>
        <p:spPr>
          <a:xfrm>
            <a:off x="9178061" y="406250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98101"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9580397"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37" name="TextBox 36"/>
          <p:cNvSpPr txBox="1"/>
          <p:nvPr/>
        </p:nvSpPr>
        <p:spPr>
          <a:xfrm>
            <a:off x="502920" y="453342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8" name="Rounded Rectangle 37"/>
          <p:cNvSpPr/>
          <p:nvPr/>
        </p:nvSpPr>
        <p:spPr>
          <a:xfrm>
            <a:off x="2011680" y="449684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9" name="Rounded Rectangle 38"/>
          <p:cNvSpPr/>
          <p:nvPr/>
        </p:nvSpPr>
        <p:spPr>
          <a:xfrm>
            <a:off x="2103120" y="4524276"/>
            <a:ext cx="2099233"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2185416" y="4569996"/>
            <a:ext cx="1934641"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выборочный контроль заметок</a:t>
            </a:r>
          </a:p>
        </p:txBody>
      </p:sp>
      <p:sp>
        <p:nvSpPr>
          <p:cNvPr id="41" name="TextBox 40"/>
          <p:cNvSpPr txBox="1"/>
          <p:nvPr/>
        </p:nvSpPr>
        <p:spPr>
          <a:xfrm>
            <a:off x="502920" y="523797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Две дорожки врача — и третья строка: операция, которую делает не он</a:t>
            </a:r>
          </a:p>
        </p:txBody>
      </p:sp>
      <p:sp>
        <p:nvSpPr>
          <p:cNvPr id="42" name="Rounded Rectangle 41"/>
          <p:cNvSpPr/>
          <p:nvPr/>
        </p:nvSpPr>
        <p:spPr>
          <a:xfrm>
            <a:off x="374904" y="5544430"/>
            <a:ext cx="11441887" cy="6917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3" name="TextBox 42"/>
          <p:cNvSpPr txBox="1"/>
          <p:nvPr/>
        </p:nvSpPr>
        <p:spPr>
          <a:xfrm>
            <a:off x="539496" y="5635870"/>
            <a:ext cx="11112703" cy="600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Структуру записи врач держал в голове при пациенте, набирал текст после приёма, подписывал своё.</a:t>
            </a:r>
            <a:r>
              <a:rPr sz="1250" b="0" i="0">
                <a:solidFill>
                  <a:srgbClr val="21295C"/>
                </a:solidFill>
                <a:latin typeface="Arial"/>
              </a:rPr>
              <a:t> Теперь вычитывает чужое.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Тот же замер:</a:t>
            </a:r>
            <a:r>
              <a:rPr sz="1250" b="0" i="0">
                <a:solidFill>
                  <a:srgbClr val="21295C"/>
                </a:solidFill>
                <a:latin typeface="Arial"/>
              </a:rPr>
              <a:t> 238 врачей вели приём в трёх равных группах, мерили время в заметке.</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ЧЕЛОВЕК → МОДЕЛЬ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 модель</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1,34 → 1,35</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семи; не различаются</a:t>
            </a:r>
          </a:p>
        </p:txBody>
      </p:sp>
      <p:sp>
        <p:nvSpPr>
          <p:cNvPr id="16" name="Rounded Rectangle 15"/>
          <p:cNvSpPr/>
          <p:nvPr/>
        </p:nvSpPr>
        <p:spPr>
          <a:xfrm>
            <a:off x="374904" y="2592217"/>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собирает выписной документ; врач вычитывает и подписывает. </a:t>
            </a:r>
            <a:r>
              <a:rPr sz="1500" b="1" i="0">
                <a:solidFill>
                  <a:srgbClr val="21295C"/>
                </a:solidFill>
                <a:latin typeface="Arial"/>
              </a:rPr>
              <a:t>Вход — история болезни и дневниковые записи, выход — черновик повествовательной части; ни имени модели, ни обучающих данных работа не называет.</a:t>
            </a:r>
            <a:r>
              <a:rPr sz="1500" b="0" i="0">
                <a:solidFill>
                  <a:srgbClr val="21295C"/>
                </a:solidFill>
                <a:latin typeface="Arial"/>
              </a:rPr>
              <a:t> </a:t>
            </a:r>
            <a:r>
              <a:rPr sz="1500" b="0" i="1">
                <a:solidFill>
                  <a:srgbClr val="21295C"/>
                </a:solidFill>
                <a:latin typeface="Arial"/>
              </a:rPr>
              <a:t>Генерация на тексте.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Сто госпитализаций, 22 врача-рецензента; каждый документ читали и оценивали двое независимо — ни один не знал, где машинный текст.</a:t>
            </a:r>
          </a:p>
        </p:txBody>
      </p:sp>
      <p:sp>
        <p:nvSpPr>
          <p:cNvPr id="18" name="TextBox 17"/>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общее качество сопоставимо</a:t>
            </a:r>
            <a:r>
              <a:rPr sz="1500" b="0" i="0">
                <a:solidFill>
                  <a:srgbClr val="21295C"/>
                </a:solidFill>
                <a:latin typeface="Arial"/>
              </a:rPr>
              <a:t> — 3,67 против 3,77</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короче и связнее — и при этом менее полон</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ошибок больше, каждая не страшнее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Сместилась цена ошибки:</a:t>
            </a:r>
            <a:r>
              <a:rPr sz="1500" b="0" i="0">
                <a:solidFill>
                  <a:srgbClr val="21295C"/>
                </a:solidFill>
                <a:latin typeface="Arial"/>
              </a:rPr>
              <a:t> пишет тот же человек, а стоит пропущенная строка другого.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Слепое сравнение.</a:t>
            </a:r>
          </a:p>
        </p:txBody>
      </p:sp>
      <p:sp>
        <p:nvSpPr>
          <p:cNvPr id="19" name="Rectangle 18"/>
          <p:cNvSpPr/>
          <p:nvPr/>
        </p:nvSpPr>
        <p:spPr>
          <a:xfrm>
            <a:off x="6091275" y="2683657"/>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вычитка другого рода</a:t>
            </a:r>
          </a:p>
        </p:txBody>
      </p:sp>
      <p:sp>
        <p:nvSpPr>
          <p:cNvPr id="4" name="Rounded Rectangle 3"/>
          <p:cNvSpPr/>
          <p:nvPr/>
        </p:nvSpPr>
        <p:spPr>
          <a:xfrm>
            <a:off x="502920"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 выписки; сводок было 1 274</a:t>
            </a:r>
          </a:p>
        </p:txBody>
      </p:sp>
      <p:sp>
        <p:nvSpPr>
          <p:cNvPr id="8" name="Rounded Rectangle 7"/>
          <p:cNvSpPr/>
          <p:nvPr/>
        </p:nvSpPr>
        <p:spPr>
          <a:xfrm>
            <a:off x="3340531"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a:t>
            </a:r>
          </a:p>
        </p:txBody>
      </p:sp>
      <p:sp>
        <p:nvSpPr>
          <p:cNvPr id="10" name="TextBox 9"/>
          <p:cNvSpPr txBox="1"/>
          <p:nvPr/>
        </p:nvSpPr>
        <p:spPr>
          <a:xfrm>
            <a:off x="3477691" y="1725375"/>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Rounded Rectangle 10"/>
          <p:cNvSpPr/>
          <p:nvPr/>
        </p:nvSpPr>
        <p:spPr>
          <a:xfrm>
            <a:off x="6178143"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НЕПРАВЛЕНЫХ СВОДОК</a:t>
            </a:r>
          </a:p>
        </p:txBody>
      </p:sp>
      <p:sp>
        <p:nvSpPr>
          <p:cNvPr id="13" name="TextBox 12"/>
          <p:cNvSpPr txBox="1"/>
          <p:nvPr/>
        </p:nvSpPr>
        <p:spPr>
          <a:xfrm>
            <a:off x="6315303"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88 без потенциала вреда</a:t>
            </a:r>
          </a:p>
        </p:txBody>
      </p:sp>
      <p:sp>
        <p:nvSpPr>
          <p:cNvPr id="14" name="TextBox 13"/>
          <p:cNvSpPr txBox="1"/>
          <p:nvPr/>
        </p:nvSpPr>
        <p:spPr>
          <a:xfrm>
            <a:off x="6315303" y="26484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умеренный · 0 тяжёлого</a:t>
            </a:r>
          </a:p>
        </p:txBody>
      </p:sp>
      <p:sp>
        <p:nvSpPr>
          <p:cNvPr id="15" name="Rounded Rectangle 14"/>
          <p:cNvSpPr/>
          <p:nvPr/>
        </p:nvSpPr>
        <p:spPr>
          <a:xfrm>
            <a:off x="9015755" y="1335024"/>
            <a:ext cx="2673019" cy="2150299"/>
          </a:xfrm>
          <a:prstGeom prst="roundRect">
            <a:avLst>
              <a:gd name="adj" fmla="val 1417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ЧИСЕЛ О ВРЕДЕ, КОТОРУЮ ЦИТИРУЮТ ОБЗОРЫ</a:t>
            </a:r>
          </a:p>
        </p:txBody>
      </p:sp>
      <p:sp>
        <p:nvSpPr>
          <p:cNvPr id="17" name="TextBox 16"/>
          <p:cNvSpPr txBox="1"/>
          <p:nvPr/>
        </p:nvSpPr>
        <p:spPr>
          <a:xfrm>
            <a:off x="9152915" y="2140317"/>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в одной из трёх работ не посчитана</a:t>
            </a:r>
          </a:p>
        </p:txBody>
      </p:sp>
      <p:sp>
        <p:nvSpPr>
          <p:cNvPr id="18" name="Rounded Rectangle 17"/>
          <p:cNvSpPr/>
          <p:nvPr/>
        </p:nvSpPr>
        <p:spPr>
          <a:xfrm>
            <a:off x="374904" y="3576763"/>
            <a:ext cx="11441887" cy="2659444"/>
          </a:xfrm>
          <a:prstGeom prst="roundRect">
            <a:avLst>
              <a:gd name="adj" fmla="val 1146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668203"/>
            <a:ext cx="5373471" cy="25680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Эпикриз при выписке писал и подписывал лечащий врач</a:t>
            </a:r>
            <a:r>
              <a:rPr sz="1500" b="0" i="0">
                <a:solidFill>
                  <a:srgbClr val="21295C"/>
                </a:solidFill>
                <a:latin typeface="Arial"/>
              </a:rPr>
              <a:t>; в учебных клиниках черновик готовил ординатор под его подпись — режим без числа.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Каждую ночь модель собирала черновик сводки</a:t>
            </a:r>
            <a:r>
              <a:rPr sz="1500" b="0" i="0">
                <a:solidFill>
                  <a:srgbClr val="21295C"/>
                </a:solidFill>
                <a:latin typeface="Arial"/>
              </a:rPr>
              <a:t>, врачи читали его по желанию — десять недель одного центра, отделение терапии.</a:t>
            </a:r>
          </a:p>
        </p:txBody>
      </p:sp>
      <p:sp>
        <p:nvSpPr>
          <p:cNvPr id="20" name="TextBox 19"/>
          <p:cNvSpPr txBox="1"/>
          <p:nvPr/>
        </p:nvSpPr>
        <p:spPr>
          <a:xfrm>
            <a:off x="6278727" y="3668203"/>
            <a:ext cx="5373471" cy="25680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Вычитка не исчезла — сменила предмет.</a:t>
            </a:r>
            <a:r>
              <a:rPr sz="1500" b="0" i="0">
                <a:solidFill>
                  <a:srgbClr val="21295C"/>
                </a:solidFill>
                <a:latin typeface="Arial"/>
              </a:rPr>
              <a:t> Прежний глаз настроен на опечатку. Искать надо связное, уместное по стилю утверждение, которого в истории болезни не было. </a:t>
            </a:r>
            <a:r>
              <a:rPr sz="1500" b="1" i="0">
                <a:solidFill>
                  <a:srgbClr val="21295C"/>
                </a:solidFill>
                <a:latin typeface="Arial"/>
              </a:rPr>
              <a:t>Этому чтению никто не учит.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Работа существует — это ничего не подтверждает. Ссылка проверяется по тому, считает ли она ровно эту величину.</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Проспективный пилот и слепое сравнение — две разные работы.</a:t>
            </a:r>
          </a:p>
        </p:txBody>
      </p:sp>
      <p:sp>
        <p:nvSpPr>
          <p:cNvPr id="21" name="Rectangle 20"/>
          <p:cNvSpPr/>
          <p:nvPr/>
        </p:nvSpPr>
        <p:spPr>
          <a:xfrm>
            <a:off x="6091275" y="3668203"/>
            <a:ext cx="9144" cy="249487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JAMA Internal Medicine 2025</a:t>
            </a:r>
            <a:r>
              <a:rPr sz="1200" b="0" i="1">
                <a:solidFill>
                  <a:srgbClr val="1C7293"/>
                </a:solidFill>
                <a:latin typeface="Arial"/>
              </a:rPr>
              <a:t> · </a:t>
            </a:r>
            <a:r>
              <a:rPr sz="1200" b="0" i="1" u="sng">
                <a:solidFill>
                  <a:srgbClr val="065A82"/>
                </a:solidFill>
                <a:latin typeface="Arial"/>
                <a:hlinkClick r:id="rId4"/>
              </a:rPr>
              <a:t>Cureus 2026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Надиктовка, которая предлагает диагноз: граница проведена по подписи</a:t>
            </a:r>
          </a:p>
        </p:txBody>
      </p:sp>
      <p:sp>
        <p:nvSpPr>
          <p:cNvPr id="4" name="Rounded Rectangle 3"/>
          <p:cNvSpPr/>
          <p:nvPr/>
        </p:nvSpPr>
        <p:spPr>
          <a:xfrm>
            <a:off x="502920" y="1335024"/>
            <a:ext cx="3618890" cy="2006955"/>
          </a:xfrm>
          <a:prstGeom prst="roundRect">
            <a:avLst>
              <a:gd name="adj" fmla="val 1518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ЗАРУБЕЖНЫХ СИСТЕМ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разрешений именно на предложение из речи — ноль, независимых рецензируемых замеров его точности — тоже ноль</a:t>
            </a:r>
          </a:p>
        </p:txBody>
      </p:sp>
      <p:sp>
        <p:nvSpPr>
          <p:cNvPr id="8" name="Rounded Rectangle 7"/>
          <p:cNvSpPr/>
          <p:nvPr/>
        </p:nvSpPr>
        <p:spPr>
          <a:xfrm>
            <a:off x="4286402" y="1335024"/>
            <a:ext cx="3618890"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ОТЕЧЕСТВЕННЫХ ИМЁН С ГОЛОСОВЫМ ВХОДОМ</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систем «речь → клиническое предложение» среди них нет ни одной</a:t>
            </a:r>
          </a:p>
        </p:txBody>
      </p:sp>
      <p:sp>
        <p:nvSpPr>
          <p:cNvPr id="12" name="Rounded Rectangle 11"/>
          <p:cNvSpPr/>
          <p:nvPr/>
        </p:nvSpPr>
        <p:spPr>
          <a:xfrm>
            <a:off x="8069884" y="1335024"/>
            <a:ext cx="3618890"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БЛИЖАЙШАЯ ОТЕЧЕСТВЕННАЯ — МОСКОВСКАЯ ТОП-3</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68 %</a:t>
            </a:r>
          </a:p>
        </p:txBody>
      </p:sp>
      <p:sp>
        <p:nvSpPr>
          <p:cNvPr id="15" name="TextBox 14"/>
          <p:cNvSpPr txBox="1"/>
          <p:nvPr/>
        </p:nvSpPr>
        <p:spPr>
          <a:xfrm>
            <a:off x="8207044"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СОГЛАСИЯ врача с подсказкой: при одном диагнозе и при выборе из трёх. Зарегистрирована медизделием, но жалобы врач набирает руками</a:t>
            </a:r>
          </a:p>
        </p:txBody>
      </p:sp>
      <p:sp>
        <p:nvSpPr>
          <p:cNvPr id="16" name="Rounded Rectangle 15"/>
          <p:cNvSpPr/>
          <p:nvPr/>
        </p:nvSpPr>
        <p:spPr>
          <a:xfrm>
            <a:off x="374904" y="3433419"/>
            <a:ext cx="11441887" cy="2802788"/>
          </a:xfrm>
          <a:prstGeom prst="roundRect">
            <a:avLst>
              <a:gd name="adj" fmla="val 1087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24859"/>
            <a:ext cx="11112703" cy="271134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не седьмое действие стадии.</a:t>
            </a:r>
            <a:r>
              <a:rPr sz="1500" b="0" i="0">
                <a:solidFill>
                  <a:srgbClr val="21295C"/>
                </a:solidFill>
                <a:latin typeface="Arial"/>
              </a:rPr>
              <a:t> Вход у такой системы здесь, на приёме, а выход — на постановке диагноза: она сшивает два раздела лекции и целиком не помещается ни в один.</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 проведена по подписи, и проведена дважды.</a:t>
            </a:r>
            <a:r>
              <a:rPr sz="1500" b="0" i="0">
                <a:solidFill>
                  <a:srgbClr val="21295C"/>
                </a:solidFill>
                <a:latin typeface="Arial"/>
              </a:rPr>
              <a:t> Предложить </a:t>
            </a:r>
            <a:r>
              <a:rPr sz="1500" b="1" i="0">
                <a:solidFill>
                  <a:srgbClr val="21295C"/>
                </a:solidFill>
                <a:latin typeface="Arial"/>
              </a:rPr>
              <a:t>код</a:t>
            </a:r>
            <a:r>
              <a:rPr sz="1500" b="0" i="0">
                <a:solidFill>
                  <a:srgbClr val="21295C"/>
                </a:solidFill>
                <a:latin typeface="Arial"/>
              </a:rPr>
              <a:t> под проверку врача — документация. Предложить </a:t>
            </a:r>
            <a:r>
              <a:rPr sz="1500" b="1" i="0">
                <a:solidFill>
                  <a:srgbClr val="21295C"/>
                </a:solidFill>
                <a:latin typeface="Arial"/>
              </a:rPr>
              <a:t>диагноз</a:t>
            </a:r>
            <a:r>
              <a:rPr sz="1500" b="0" i="0">
                <a:solidFill>
                  <a:srgbClr val="21295C"/>
                </a:solidFill>
                <a:latin typeface="Arial"/>
              </a:rPr>
              <a:t> под проверку врача — </a:t>
            </a:r>
            <a:r>
              <a:rPr sz="1500" b="1" i="0">
                <a:solidFill>
                  <a:srgbClr val="21295C"/>
                </a:solidFill>
                <a:latin typeface="Arial"/>
              </a:rPr>
              <a:t>уже медизделие</a:t>
            </a:r>
            <a:r>
              <a:rPr sz="1500" b="0" i="0">
                <a:solidFill>
                  <a:srgbClr val="21295C"/>
                </a:solidFill>
                <a:latin typeface="Arial"/>
              </a:rPr>
              <a:t>, даже когда проверка обязательна.</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делает сейчас:</a:t>
            </a:r>
            <a:r>
              <a:rPr sz="1500" b="0" i="0">
                <a:solidFill>
                  <a:srgbClr val="21295C"/>
                </a:solidFill>
                <a:latin typeface="Arial"/>
              </a:rPr>
              <a:t> Glass Health достраивает предположительный диагноз по ходу живой речи, Corti подсказывает прямо во время разговора. </a:t>
            </a:r>
            <a:r>
              <a:rPr sz="1500" b="0" i="1">
                <a:solidFill>
                  <a:srgbClr val="21295C"/>
                </a:solidFill>
                <a:latin typeface="Arial"/>
              </a:rPr>
              <a:t>Обе — по страницам изготовителей; замеров точности нет ни у одной.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46 % — это согласие врача с подсказкой, а не её точность.</a:t>
            </a:r>
            <a:r>
              <a:rPr sz="1500" b="0" i="0">
                <a:solidFill>
                  <a:srgbClr val="21295C"/>
                </a:solidFill>
                <a:latin typeface="Arial"/>
              </a:rPr>
              <a:t> Если врач и модель ошибаются одинаково, такая метрика этого не увидит. </a:t>
            </a:r>
            <a:r>
              <a:rPr sz="1500" b="1" i="0">
                <a:solidFill>
                  <a:srgbClr val="21295C"/>
                </a:solidFill>
                <a:latin typeface="Arial"/>
              </a:rPr>
              <a:t>Ни один источник этой оговорки не делает.</a:t>
            </a:r>
          </a:p>
        </p:txBody>
      </p:sp>
      <p:sp>
        <p:nvSpPr>
          <p:cNvPr id="18" name="Rectangle 1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Британская рамка по системам фоновой записи речи, 29.07.2026, §5.1-5.2</a:t>
            </a:r>
            <a:r>
              <a:rPr sz="1200" b="0" i="1">
                <a:solidFill>
                  <a:srgbClr val="1C7293"/>
                </a:solidFill>
                <a:latin typeface="Arial"/>
              </a:rPr>
              <a:t> · </a:t>
            </a:r>
            <a:r>
              <a:rPr sz="1200" b="0" i="1" u="sng">
                <a:solidFill>
                  <a:srgbClr val="065A82"/>
                </a:solidFill>
                <a:latin typeface="Arial"/>
                <a:hlinkClick r:id="rId3"/>
              </a:rPr>
              <a:t>ТОП-3: страница изготовителя — числа 46 % и 68 % — сообщение Правительства Москвы от 14.07.2021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566459"/>
          </a:xfrm>
          <a:prstGeom prst="rect">
            <a:avLst/>
          </a:prstGeom>
          <a:noFill/>
        </p:spPr>
        <p:txBody>
          <a:bodyPr wrap="square" lIns="0" rIns="0" tIns="0" bIns="0" anchor="t">
            <a:spAutoFit/>
          </a:bodyPr>
          <a:lstStyle/>
          <a:p>
            <a:pPr algn="l">
              <a:lnSpc>
                <a:spcPct val="106000"/>
              </a:lnSpc>
            </a:pPr>
            <a:r>
              <a:rPr sz="3400" b="1" i="0">
                <a:solidFill>
                  <a:srgbClr val="21295C"/>
                </a:solidFill>
                <a:latin typeface="Arial"/>
              </a:rPr>
              <a:t>9,5 % времени в заметке</a:t>
            </a:r>
          </a:p>
        </p:txBody>
      </p:sp>
      <p:sp>
        <p:nvSpPr>
          <p:cNvPr id="4" name="TextBox 3"/>
          <p:cNvSpPr txBox="1"/>
          <p:nvPr/>
        </p:nvSpPr>
        <p:spPr>
          <a:xfrm>
            <a:off x="502920" y="977939"/>
            <a:ext cx="11185855" cy="268769"/>
          </a:xfrm>
          <a:prstGeom prst="rect">
            <a:avLst/>
          </a:prstGeom>
          <a:noFill/>
        </p:spPr>
        <p:txBody>
          <a:bodyPr wrap="square" lIns="0" rIns="0" tIns="0" bIns="0" anchor="t">
            <a:spAutoFit/>
          </a:bodyPr>
          <a:lstStyle/>
          <a:p>
            <a:pPr algn="l">
              <a:lnSpc>
                <a:spcPct val="114000"/>
              </a:lnSpc>
            </a:pPr>
            <a:r>
              <a:rPr sz="1500" b="0" i="0">
                <a:solidFill>
                  <a:srgbClr val="065A82"/>
                </a:solidFill>
                <a:latin typeface="Arial"/>
              </a:rPr>
              <a:t>Ведение документации: вся измеренная экономия стадии</a:t>
            </a:r>
          </a:p>
        </p:txBody>
      </p:sp>
      <p:sp>
        <p:nvSpPr>
          <p:cNvPr id="5" name="Rounded Rectangle 4"/>
          <p:cNvSpPr/>
          <p:nvPr/>
        </p:nvSpPr>
        <p:spPr>
          <a:xfrm>
            <a:off x="374904" y="137929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6" name="TextBox 5"/>
          <p:cNvSpPr txBox="1"/>
          <p:nvPr/>
        </p:nvSpPr>
        <p:spPr>
          <a:xfrm>
            <a:off x="539496" y="1470737"/>
            <a:ext cx="5373471" cy="47654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у одного инструмента из двух:</a:t>
            </a:r>
            <a:r>
              <a:rPr sz="1500" b="0" i="0">
                <a:solidFill>
                  <a:srgbClr val="21295C"/>
                </a:solidFill>
                <a:latin typeface="Arial"/>
              </a:rPr>
              <a:t> у второго экономии нет. </a:t>
            </a:r>
            <a:r>
              <a:rPr sz="1500" b="1" i="0">
                <a:solidFill>
                  <a:srgbClr val="21295C"/>
                </a:solidFill>
                <a:latin typeface="Arial"/>
              </a:rPr>
              <a:t>Активное время правки не сдвинулось ни у одного.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переехала</a:t>
            </a:r>
            <a:r>
              <a:rPr sz="1500" b="0" i="0">
                <a:solidFill>
                  <a:srgbClr val="21295C"/>
                </a:solidFill>
                <a:latin typeface="Arial"/>
              </a:rPr>
              <a:t> с набора на вычитку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появился шаг</a:t>
            </a:r>
            <a:r>
              <a:rPr sz="1500" b="0" i="0">
                <a:solidFill>
                  <a:srgbClr val="21295C"/>
                </a:solidFill>
                <a:latin typeface="Arial"/>
              </a:rPr>
              <a:t> — выборочный контроль заметок со штатом</a:t>
            </a:r>
          </a:p>
        </p:txBody>
      </p:sp>
      <p:sp>
        <p:nvSpPr>
          <p:cNvPr id="7" name="TextBox 6"/>
          <p:cNvSpPr txBox="1"/>
          <p:nvPr/>
        </p:nvSpPr>
        <p:spPr>
          <a:xfrm>
            <a:off x="6278727" y="1470737"/>
            <a:ext cx="5373471" cy="47654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15 791 заявленный час</a:t>
            </a:r>
            <a:r>
              <a:rPr sz="1500" b="0" i="0">
                <a:solidFill>
                  <a:srgbClr val="21295C"/>
                </a:solidFill>
                <a:latin typeface="Arial"/>
              </a:rPr>
              <a:t> подтвердить нельзя: методики счёта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полнее не пишет</a:t>
            </a:r>
            <a:r>
              <a:rPr sz="1500" b="0" i="0">
                <a:solidFill>
                  <a:srgbClr val="21295C"/>
                </a:solidFill>
                <a:latin typeface="Arial"/>
              </a:rPr>
              <a:t> — 3,72 против 4,13, ошибок 2,91 против 1,82</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 вычитка и подпись. Вычитке другого рода не учат нигде.</a:t>
            </a:r>
          </a:p>
        </p:txBody>
      </p:sp>
      <p:sp>
        <p:nvSpPr>
          <p:cNvPr id="8" name="Rectangle 7"/>
          <p:cNvSpPr/>
          <p:nvPr/>
        </p:nvSpPr>
        <p:spPr>
          <a:xfrm>
            <a:off x="6091275" y="1470737"/>
            <a:ext cx="9144" cy="1960166"/>
          </a:xfrm>
          <a:prstGeom prst="rect">
            <a:avLst/>
          </a:prstGeom>
          <a:solidFill>
            <a:srgbClr val="D9E2EC"/>
          </a:solidFill>
          <a:ln>
            <a:noFill/>
          </a:ln>
          <a:effectLst/>
        </p:spPr>
        <p:txBody>
          <a:bodyPr rtlCol="0" anchor="ctr"/>
          <a:lstStyle/>
          <a:p>
            <a:pPr algn="ctr"/>
          </a:p>
        </p:txBody>
      </p:sp>
      <p:sp>
        <p:nvSpPr>
          <p:cNvPr id="9" name="Rectangle 8"/>
          <p:cNvSpPr/>
          <p:nvPr/>
        </p:nvSpPr>
        <p:spPr>
          <a:xfrm>
            <a:off x="502920" y="1310717"/>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4. Профессиональная квалификация: поддержание и износ</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Что стало с теми, кто решает.</a:t>
            </a:r>
            <a:r>
              <a:rPr sz="1550" b="0" i="0">
                <a:solidFill>
                  <a:srgbClr val="21295C"/>
                </a:solidFill>
                <a:latin typeface="Arial"/>
              </a:rPr>
              <a:t> Лекция мерила работу. Что стало с человеком внутри неё — не сказал ни один замер.</a:t>
            </a:r>
          </a:p>
        </p:txBody>
      </p:sp>
      <p:sp>
        <p:nvSpPr>
          <p:cNvPr id="9" name="TextBox 8"/>
          <p:cNvSpPr txBox="1"/>
          <p:nvPr/>
        </p:nvSpPr>
        <p:spPr>
          <a:xfrm>
            <a:off x="704088" y="3045563"/>
            <a:ext cx="647395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пример · 2 классических режима с числами</a:t>
            </a:r>
          </a:p>
        </p:txBody>
      </p:sp>
      <p:sp>
        <p:nvSpPr>
          <p:cNvPr id="10" name="TextBox 9"/>
          <p:cNvSpPr txBox="1"/>
          <p:nvPr/>
        </p:nvSpPr>
        <p:spPr>
          <a:xfrm>
            <a:off x="704088" y="351224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Случай один, и он единственный, снятый на реальной работе: </a:t>
            </a:r>
            <a:r>
              <a:rPr sz="1550" b="1" i="0">
                <a:solidFill>
                  <a:srgbClr val="21295C"/>
                </a:solidFill>
                <a:latin typeface="Arial"/>
              </a:rPr>
              <a:t>Пример 1: доля упала без помощника</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что замеряют и чем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8868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измеряют самого исполнителя: в форме ли он.</a:t>
            </a:r>
            <a:r>
              <a:rPr sz="1500" b="0" i="0">
                <a:solidFill>
                  <a:srgbClr val="21295C"/>
                </a:solidFill>
                <a:latin typeface="Arial"/>
              </a:rPr>
              <a:t> Навык расходуется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Две внешние числовые проверки устроены по-разному:</a:t>
            </a:r>
            <a:r>
              <a:rPr sz="1500" b="0" i="0">
                <a:solidFill>
                  <a:srgbClr val="21295C"/>
                </a:solidFill>
                <a:latin typeface="Arial"/>
              </a:rPr>
              <a:t> доля обнаружения снимается с потока, старанием её не поднять; время выведения — дисциплина по таймеру.</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a:t>
            </a:r>
            <a:r>
              <a:rPr sz="1500" b="0" i="0">
                <a:solidFill>
                  <a:srgbClr val="21295C"/>
                </a:solidFill>
                <a:latin typeface="Arial"/>
              </a:rPr>
              <a:t> допускать, сузить допуск, приостановить, не продлить — единственное за лекцию не о пациенте.</a:t>
            </a:r>
          </a:p>
        </p:txBody>
      </p:sp>
      <p:sp>
        <p:nvSpPr>
          <p:cNvPr id="6" name="TextBox 5"/>
          <p:cNvSpPr txBox="1"/>
          <p:nvPr/>
        </p:nvSpPr>
        <p:spPr>
          <a:xfrm>
            <a:off x="539496" y="4313355"/>
            <a:ext cx="11112703" cy="19228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ounded Rectangle 6"/>
          <p:cNvSpPr/>
          <p:nvPr/>
        </p:nvSpPr>
        <p:spPr>
          <a:xfrm>
            <a:off x="7756855" y="1335024"/>
            <a:ext cx="3931920" cy="2886891"/>
          </a:xfrm>
          <a:prstGeom prst="roundRect">
            <a:avLst>
              <a:gd name="adj" fmla="val 10558"/>
            </a:avLst>
          </a:prstGeom>
          <a:solidFill>
            <a:srgbClr val="F4F7FA"/>
          </a:solidFill>
          <a:ln w="19050">
            <a:solidFill>
              <a:srgbClr val="1C7293"/>
            </a:solidFill>
          </a:ln>
          <a:effectLst/>
        </p:spPr>
        <p:txBody>
          <a:bodyPr rtlCol="0" anchor="ctr"/>
          <a:lstStyle/>
          <a:p>
            <a:pPr algn="ctr"/>
          </a:p>
        </p:txBody>
      </p:sp>
      <p:pic>
        <p:nvPicPr>
          <p:cNvPr id="8" name="Picture 7" descr="s89-standart-pokazateley-kolonoskopii.png"/>
          <p:cNvPicPr>
            <a:picLocks noChangeAspect="1"/>
          </p:cNvPicPr>
          <p:nvPr/>
        </p:nvPicPr>
        <p:blipFill>
          <a:blip r:embed="rId2"/>
          <a:stretch>
            <a:fillRect/>
          </a:stretch>
        </p:blipFill>
        <p:spPr>
          <a:xfrm>
            <a:off x="7894015" y="1472184"/>
            <a:ext cx="3657600" cy="2612571"/>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Рекомендации профессионального общества, Gastrointestinal Endoscopy 2015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держат форму и куда встала модель</a:t>
            </a:r>
          </a:p>
        </p:txBody>
      </p:sp>
      <p:sp>
        <p:nvSpPr>
          <p:cNvPr id="4" name="Rounded Rectangle 3"/>
          <p:cNvSpPr/>
          <p:nvPr/>
        </p:nvSpPr>
        <p:spPr>
          <a:xfrm>
            <a:off x="374904" y="124358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опоры:</a:t>
            </a:r>
            <a:r>
              <a:rPr sz="1500" b="0" i="0">
                <a:solidFill>
                  <a:srgbClr val="21295C"/>
                </a:solidFill>
                <a:latin typeface="Arial"/>
              </a:rPr>
              <a:t> объём практики, аккредитация, повторная сертификация. </a:t>
            </a:r>
            <a:r>
              <a:rPr sz="1500" b="1" i="0">
                <a:solidFill>
                  <a:srgbClr val="21295C"/>
                </a:solidFill>
                <a:latin typeface="Arial"/>
              </a:rPr>
              <a:t>Ни одна не спрашивает человека.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Отзывать допуск было не за что. Первая процедура идёт иначе: прибор медленнее, рука дольше ищет угол, складку он проходит мимо. Осложнений нет, протокол написан, </a:t>
            </a:r>
            <a:r>
              <a:rPr sz="1500" b="1" i="0">
                <a:solidFill>
                  <a:srgbClr val="21295C"/>
                </a:solidFill>
                <a:latin typeface="Arial"/>
              </a:rPr>
              <a:t>и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заняла одно действие из восьми</a:t>
            </a:r>
            <a:r>
              <a:rPr sz="1500" b="0" i="0">
                <a:solidFill>
                  <a:srgbClr val="21295C"/>
                </a:solidFill>
                <a:latin typeface="Arial"/>
              </a:rPr>
              <a:t> — осмотр при выведении. </a:t>
            </a:r>
            <a:r>
              <a:rPr sz="1500" b="1" i="0">
                <a:solidFill>
                  <a:srgbClr val="21295C"/>
                </a:solidFill>
                <a:latin typeface="Arial"/>
              </a:rPr>
              <a:t>Добавилось одно: доверять ли рамке.</a:t>
            </a:r>
          </a:p>
        </p:txBody>
      </p:sp>
      <p:sp>
        <p:nvSpPr>
          <p:cNvPr id="7" name="Rectangle 6"/>
          <p:cNvSpPr/>
          <p:nvPr/>
        </p:nvSpPr>
        <p:spPr>
          <a:xfrm>
            <a:off x="6091275" y="1335024"/>
            <a:ext cx="9144" cy="21683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Gastrointestinal Endoscopy 2015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Цена обеих ошибок и оба классических режима — до всякой модели</a:t>
            </a:r>
          </a:p>
        </p:txBody>
      </p:sp>
      <p:sp>
        <p:nvSpPr>
          <p:cNvPr id="4" name="Rounded Rectangle 3"/>
          <p:cNvSpPr/>
          <p:nvPr/>
        </p:nvSpPr>
        <p:spPr>
          <a:xfrm>
            <a:off x="502920"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932846"/>
            <a:ext cx="1498015"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остаётся до следующего обследования</a:t>
            </a:r>
          </a:p>
        </p:txBody>
      </p:sp>
      <p:sp>
        <p:nvSpPr>
          <p:cNvPr id="7" name="Rounded Rectangle 6"/>
          <p:cNvSpPr/>
          <p:nvPr/>
        </p:nvSpPr>
        <p:spPr>
          <a:xfrm>
            <a:off x="2439847" y="1335024"/>
            <a:ext cx="1772335" cy="2252148"/>
          </a:xfrm>
          <a:prstGeom prst="roundRect">
            <a:avLst>
              <a:gd name="adj" fmla="val 17197"/>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2577007" y="1472184"/>
            <a:ext cx="149801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9" name="TextBox 8"/>
          <p:cNvSpPr txBox="1"/>
          <p:nvPr/>
        </p:nvSpPr>
        <p:spPr>
          <a:xfrm>
            <a:off x="2577007" y="1725375"/>
            <a:ext cx="1498015" cy="698597"/>
          </a:xfrm>
          <a:prstGeom prst="rect">
            <a:avLst/>
          </a:prstGeom>
          <a:noFill/>
        </p:spPr>
        <p:txBody>
          <a:bodyPr wrap="square" lIns="0" rIns="0" tIns="0" bIns="0" anchor="t">
            <a:spAutoFit/>
          </a:bodyPr>
          <a:lstStyle/>
          <a:p>
            <a:pPr algn="l">
              <a:lnSpc>
                <a:spcPct val="108000"/>
              </a:lnSpc>
            </a:pPr>
            <a:r>
              <a:rPr sz="1300" b="1" i="0">
                <a:solidFill>
                  <a:srgbClr val="1C7293"/>
                </a:solidFill>
                <a:latin typeface="Arial"/>
              </a:rPr>
              <a:t>снятие, кровотечение, повторный визит</a:t>
            </a:r>
          </a:p>
        </p:txBody>
      </p:sp>
      <p:sp>
        <p:nvSpPr>
          <p:cNvPr id="10" name="Rounded Rectangle 9"/>
          <p:cNvSpPr/>
          <p:nvPr/>
        </p:nvSpPr>
        <p:spPr>
          <a:xfrm>
            <a:off x="4376775"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513935"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a:t>
            </a:r>
          </a:p>
        </p:txBody>
      </p:sp>
      <p:sp>
        <p:nvSpPr>
          <p:cNvPr id="12" name="TextBox 11"/>
          <p:cNvSpPr txBox="1"/>
          <p:nvPr/>
        </p:nvSpPr>
        <p:spPr>
          <a:xfrm>
            <a:off x="4513935"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27,1 → 36,6 процедуры из ста</a:t>
            </a:r>
          </a:p>
        </p:txBody>
      </p:sp>
      <p:sp>
        <p:nvSpPr>
          <p:cNvPr id="13" name="TextBox 12"/>
          <p:cNvSpPr txBox="1"/>
          <p:nvPr/>
        </p:nvSpPr>
        <p:spPr>
          <a:xfrm>
            <a:off x="4513935" y="2393795"/>
            <a:ext cx="149801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процедур с находкой аденомы, не доля пациентов; 1 027 пациентов, рандомизированное</a:t>
            </a:r>
          </a:p>
        </p:txBody>
      </p:sp>
      <p:sp>
        <p:nvSpPr>
          <p:cNvPr id="14" name="Rounded Rectangle 13"/>
          <p:cNvSpPr/>
          <p:nvPr/>
        </p:nvSpPr>
        <p:spPr>
          <a:xfrm>
            <a:off x="6313703"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6450863"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a:t>
            </a:r>
          </a:p>
        </p:txBody>
      </p:sp>
      <p:sp>
        <p:nvSpPr>
          <p:cNvPr id="16" name="TextBox 15"/>
          <p:cNvSpPr txBox="1"/>
          <p:nvPr/>
        </p:nvSpPr>
        <p:spPr>
          <a:xfrm>
            <a:off x="6450863"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39,3 → 45,7 процедуры из ста</a:t>
            </a:r>
          </a:p>
        </p:txBody>
      </p:sp>
      <p:sp>
        <p:nvSpPr>
          <p:cNvPr id="17" name="TextBox 16"/>
          <p:cNvSpPr txBox="1"/>
          <p:nvPr/>
        </p:nvSpPr>
        <p:spPr>
          <a:xfrm>
            <a:off x="6450863" y="2393795"/>
            <a:ext cx="149801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1 676 пациентов, три испытания вместе</a:t>
            </a:r>
          </a:p>
        </p:txBody>
      </p:sp>
      <p:sp>
        <p:nvSpPr>
          <p:cNvPr id="18" name="Rounded Rectangle 17"/>
          <p:cNvSpPr/>
          <p:nvPr/>
        </p:nvSpPr>
        <p:spPr>
          <a:xfrm>
            <a:off x="374904" y="3678612"/>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70052"/>
            <a:ext cx="11112703" cy="24661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делали:</a:t>
            </a:r>
            <a:r>
              <a:rPr sz="1500" b="0" i="0">
                <a:solidFill>
                  <a:srgbClr val="21295C"/>
                </a:solidFill>
                <a:latin typeface="Arial"/>
              </a:rPr>
              <a:t> в одном режиме время выведения удлинили с шести минут до девяти и мерили по таймеру; в другом на тот же экран, кроме врача, наблюдала медсестра. </a:t>
            </a:r>
            <a:r>
              <a:rPr sz="1500" b="1" i="0">
                <a:solidFill>
                  <a:srgbClr val="21295C"/>
                </a:solidFill>
                <a:latin typeface="Arial"/>
              </a:rPr>
              <a:t>Оба дают прирост того же порядка, что помощник, или больше.</a:t>
            </a:r>
            <a:r>
              <a:rPr sz="1500" b="0" i="0">
                <a:solidFill>
                  <a:srgbClr val="21295C"/>
                </a:solidFill>
                <a:latin typeface="Arial"/>
              </a:rPr>
              <a:t> </a:t>
            </a:r>
            <a:r>
              <a:rPr sz="1500" b="0" i="1">
                <a:solidFill>
                  <a:srgbClr val="21295C"/>
                </a:solidFill>
                <a:latin typeface="Arial"/>
              </a:rPr>
              <a:t>Базы разные: 27,1 и 39,3 — приросты между собой не сравниваются.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после удлинения осмотра без находки остаются 63,4 процедуры из ста — почти две из трёх.</a:t>
            </a:r>
          </a:p>
        </p:txBody>
      </p:sp>
      <p:sp>
        <p:nvSpPr>
          <p:cNvPr id="20" name="Rounded Rectangle 19"/>
          <p:cNvSpPr/>
          <p:nvPr/>
        </p:nvSpPr>
        <p:spPr>
          <a:xfrm>
            <a:off x="8396935" y="1335024"/>
            <a:ext cx="3291840" cy="1966340"/>
          </a:xfrm>
          <a:prstGeom prst="roundRect">
            <a:avLst>
              <a:gd name="adj" fmla="val 15500"/>
            </a:avLst>
          </a:prstGeom>
          <a:solidFill>
            <a:srgbClr val="F4F7FA"/>
          </a:solidFill>
          <a:ln w="19050">
            <a:solidFill>
              <a:srgbClr val="1C7293"/>
            </a:solidFill>
          </a:ln>
          <a:effectLst/>
        </p:spPr>
        <p:txBody>
          <a:bodyPr rtlCol="0" anchor="ctr"/>
          <a:lstStyle/>
          <a:p>
            <a:pPr algn="ctr"/>
          </a:p>
        </p:txBody>
      </p:sp>
      <p:pic>
        <p:nvPicPr>
          <p:cNvPr id="21" name="Picture 20" descr="s90-ekran-protsedury-panel-b.jpg"/>
          <p:cNvPicPr>
            <a:picLocks noChangeAspect="1"/>
          </p:cNvPicPr>
          <p:nvPr/>
        </p:nvPicPr>
        <p:blipFill>
          <a:blip r:embed="rId2"/>
          <a:stretch>
            <a:fillRect/>
          </a:stretch>
        </p:blipFill>
        <p:spPr>
          <a:xfrm>
            <a:off x="8534095" y="1472184"/>
            <a:ext cx="3017520" cy="1692020"/>
          </a:xfrm>
          <a:prstGeom prst="rect">
            <a:avLst/>
          </a:prstGeom>
        </p:spPr>
      </p:pic>
      <p:sp>
        <p:nvSpPr>
          <p:cNvPr id="22" name="Rectangle 2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Kader и соавт., npj Digital Medicine 2025, CC BY 4.0, панель b</a:t>
            </a:r>
            <a:r>
              <a:rPr sz="1200" b="0" i="1">
                <a:solidFill>
                  <a:srgbClr val="1C7293"/>
                </a:solidFill>
                <a:latin typeface="Arial"/>
              </a:rPr>
              <a:t> · </a:t>
            </a:r>
            <a:r>
              <a:rPr sz="1200" b="0" i="1" u="sng">
                <a:solidFill>
                  <a:srgbClr val="065A82"/>
                </a:solidFill>
                <a:latin typeface="Arial"/>
                <a:hlinkClick r:id="rId4"/>
              </a:rPr>
              <a:t>Zhao и соавт., Clinical Gastroenterology and Hepatology 2022</a:t>
            </a:r>
            <a:r>
              <a:rPr sz="1200" b="0" i="1">
                <a:solidFill>
                  <a:srgbClr val="1C7293"/>
                </a:solidFill>
                <a:latin typeface="Arial"/>
              </a:rPr>
              <a:t> · </a:t>
            </a:r>
            <a:r>
              <a:rPr sz="1200" b="0" i="1" u="sng">
                <a:solidFill>
                  <a:srgbClr val="065A82"/>
                </a:solidFill>
                <a:latin typeface="Arial"/>
                <a:hlinkClick r:id="rId5"/>
              </a:rPr>
              <a:t>Lei и соавт., International Journal of Colorectal Disease 2024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упала без помощника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процедуры из ста</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находок на 795 процедур против 145 на 648</a:t>
            </a:r>
          </a:p>
        </p:txBody>
      </p:sp>
      <p:sp>
        <p:nvSpPr>
          <p:cNvPr id="8" name="Rounded Rectangle 7"/>
          <p:cNvSpPr/>
          <p:nvPr/>
        </p:nvSpPr>
        <p:spPr>
          <a:xfrm>
            <a:off x="4286402"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минус 6,0 процентного пункта</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 врачей, средний стаж 28 лет</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ИЗ УЧЁБЫ: ПРАКТИКА И ЭКЗАМЕН</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 → минус 17 % к контролю</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рандомизированное</a:t>
            </a:r>
          </a:p>
        </p:txBody>
      </p:sp>
      <p:sp>
        <p:nvSpPr>
          <p:cNvPr id="16" name="Rounded Rectangle 15"/>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Эндоскопист ведёт колоноскопию и ищет образования глазами на видео. В четырёх центрах ему дали помощника — тот подсвечивает находку рамкой. Потом сравнили процедуры тех же врачей </a:t>
            </a:r>
            <a:r>
              <a:rPr sz="1500" b="1" i="0">
                <a:solidFill>
                  <a:srgbClr val="21295C"/>
                </a:solidFill>
                <a:latin typeface="Arial"/>
              </a:rPr>
              <a:t>без</a:t>
            </a:r>
            <a:r>
              <a:rPr sz="1500" b="0" i="0">
                <a:solidFill>
                  <a:srgbClr val="21295C"/>
                </a:solidFill>
                <a:latin typeface="Arial"/>
              </a:rPr>
              <a:t> 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без находки были 71,6 процедуры из ста, стали 77,6 — больше трёх из четырёх.</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находят больше. </a:t>
            </a:r>
            <a:r>
              <a:rPr sz="1500" b="1" i="0">
                <a:solidFill>
                  <a:srgbClr val="21295C"/>
                </a:solidFill>
                <a:latin typeface="Arial"/>
              </a:rPr>
              <a:t>Потребовало:</a:t>
            </a:r>
            <a:r>
              <a:rPr sz="1500" b="0" i="0">
                <a:solidFill>
                  <a:srgbClr val="21295C"/>
                </a:solidFill>
                <a:latin typeface="Arial"/>
              </a:rPr>
              <a:t> умения искать самому. </a:t>
            </a:r>
            <a:r>
              <a:rPr sz="1500" b="1" i="0">
                <a:solidFill>
                  <a:srgbClr val="21295C"/>
                </a:solidFill>
                <a:latin typeface="Arial"/>
              </a:rPr>
              <a:t>Исполнитель тот же, но стал хуже:</a:t>
            </a:r>
            <a:r>
              <a:rPr sz="1500" b="0" i="0">
                <a:solidFill>
                  <a:srgbClr val="21295C"/>
                </a:solidFill>
                <a:latin typeface="Arial"/>
              </a:rPr>
              <a:t> место, объём и рука прежние.</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устроено:</a:t>
            </a:r>
            <a:r>
              <a:rPr sz="1500" b="0" i="0">
                <a:solidFill>
                  <a:srgbClr val="21295C"/>
                </a:solidFill>
                <a:latin typeface="Arial"/>
              </a:rPr>
              <a:t> вход поток кадров, выход рамка в ту же секунду. </a:t>
            </a:r>
            <a:r>
              <a:rPr sz="1500" b="1" i="0">
                <a:solidFill>
                  <a:srgbClr val="21295C"/>
                </a:solidFill>
                <a:latin typeface="Arial"/>
              </a:rPr>
              <a:t>Имени системы публикация не называет</a:t>
            </a:r>
            <a:r>
              <a:rPr sz="1500" b="0" i="0">
                <a:solidFill>
                  <a:srgbClr val="21295C"/>
                </a:solidFill>
                <a:latin typeface="Arial"/>
              </a:rPr>
              <a:t>, режим занимают GI Genius · CAD EYE · ENDO-AID CADe.</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a:t>
            </a:r>
            <a:r>
              <a:rPr sz="1500" b="0" i="0">
                <a:solidFill>
                  <a:srgbClr val="21295C"/>
                </a:solidFill>
                <a:latin typeface="Arial"/>
              </a:rPr>
              <a:t> ретроспективное наблюдательное, не воспроизводилось, причинности не доказывает. </a:t>
            </a:r>
            <a:r>
              <a:rPr sz="1500" b="1" i="0">
                <a:solidFill>
                  <a:srgbClr val="21295C"/>
                </a:solidFill>
                <a:latin typeface="Arial"/>
              </a:rPr>
              <a:t>Спор открыт:</a:t>
            </a:r>
            <a:r>
              <a:rPr sz="1500" b="0" i="0">
                <a:solidFill>
                  <a:srgbClr val="21295C"/>
                </a:solidFill>
                <a:latin typeface="Arial"/>
              </a:rPr>
              <a:t> исправление и три письма.</a:t>
            </a:r>
          </a:p>
        </p:txBody>
      </p:sp>
      <p:sp>
        <p:nvSpPr>
          <p:cNvPr id="19" name="Rectangle 18"/>
          <p:cNvSpPr/>
          <p:nvPr/>
        </p:nvSpPr>
        <p:spPr>
          <a:xfrm>
            <a:off x="6091275" y="3285324"/>
            <a:ext cx="9144" cy="285135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Bastani и соавт., PNAS 2025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исполнитель тот же, но стал хуже</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процедуры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врачи</a:t>
            </a:r>
          </a:p>
        </p:txBody>
      </p:sp>
      <p:sp>
        <p:nvSpPr>
          <p:cNvPr id="8" name="Rounded Rectangle 7"/>
          <p:cNvSpPr/>
          <p:nvPr/>
        </p:nvSpPr>
        <p:spPr>
          <a:xfrm>
            <a:off x="374904" y="259221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Другой стороной: ничего не находят в 77,6 процедуры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Получается:</a:t>
            </a:r>
            <a:r>
              <a:rPr sz="1500" b="0" i="0">
                <a:solidFill>
                  <a:srgbClr val="21295C"/>
                </a:solidFill>
                <a:latin typeface="Arial"/>
              </a:rPr>
              <a:t> находят больше, пока помощник включён.</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Не получается:</a:t>
            </a:r>
            <a:r>
              <a:rPr sz="1500" b="0" i="0">
                <a:solidFill>
                  <a:srgbClr val="21295C"/>
                </a:solidFill>
                <a:latin typeface="Arial"/>
              </a:rPr>
              <a:t> поддерживать навык (измерено обратное), дать знать о пропуске внутри процедуры, измерить доверие за месяцы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шаг:</a:t>
            </a:r>
            <a:r>
              <a:rPr sz="1500" b="0" i="0">
                <a:solidFill>
                  <a:srgbClr val="21295C"/>
                </a:solidFill>
                <a:latin typeface="Arial"/>
              </a:rPr>
              <a:t> целевой арбитраж. </a:t>
            </a:r>
            <a:r>
              <a:rPr sz="1500" b="1" i="0">
                <a:solidFill>
                  <a:srgbClr val="21295C"/>
                </a:solidFill>
                <a:latin typeface="Arial"/>
              </a:rPr>
              <a:t>Врача без помощника не измеряет ни одна процедура ни в одной юрисдикции.</a:t>
            </a:r>
          </a:p>
        </p:txBody>
      </p:sp>
      <p:sp>
        <p:nvSpPr>
          <p:cNvPr id="11" name="Rectangle 10"/>
          <p:cNvSpPr/>
          <p:nvPr/>
        </p:nvSpPr>
        <p:spPr>
          <a:xfrm>
            <a:off x="6091275" y="2683657"/>
            <a:ext cx="9144" cy="187126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Место раздела на карте курса: своего столбца нет</a:t>
            </a:r>
          </a:p>
        </p:txBody>
      </p:sp>
      <p:sp>
        <p:nvSpPr>
          <p:cNvPr id="4" name="Rounded Rectangle 3"/>
          <p:cNvSpPr/>
          <p:nvPr/>
        </p:nvSpPr>
        <p:spPr>
          <a:xfrm>
            <a:off x="502920"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ПОКАЗАНО ЯЧЕЕК КАРТЫ</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42</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по своей карте</a:t>
            </a:r>
          </a:p>
        </p:txBody>
      </p:sp>
      <p:sp>
        <p:nvSpPr>
          <p:cNvPr id="8" name="Rounded Rectangle 7"/>
          <p:cNvSpPr/>
          <p:nvPr/>
        </p:nvSpPr>
        <p:spPr>
          <a:xfrm>
            <a:off x="3340531"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ЗАНЯТО ЗА ЧЕТЫРЕ РАЗДЕЛА</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a:t>
            </a:r>
          </a:p>
        </p:txBody>
      </p:sp>
      <p:sp>
        <p:nvSpPr>
          <p:cNvPr id="11" name="Rounded Rectangle 10"/>
          <p:cNvSpPr/>
          <p:nvPr/>
        </p:nvSpPr>
        <p:spPr>
          <a:xfrm>
            <a:off x="6178143" y="1335024"/>
            <a:ext cx="267301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РАЗДЕЛ ПРИБАВИЛ</a:t>
            </a:r>
          </a:p>
        </p:txBody>
      </p:sp>
      <p:sp>
        <p:nvSpPr>
          <p:cNvPr id="13" name="TextBox 12"/>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одной</a:t>
            </a:r>
          </a:p>
        </p:txBody>
      </p:sp>
      <p:sp>
        <p:nvSpPr>
          <p:cNvPr id="14" name="TextBox 13"/>
          <p:cNvSpPr txBox="1"/>
          <p:nvPr/>
        </p:nvSpPr>
        <p:spPr>
          <a:xfrm>
            <a:off x="6315303"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второй подряд</a:t>
            </a:r>
          </a:p>
        </p:txBody>
      </p:sp>
      <p:sp>
        <p:nvSpPr>
          <p:cNvPr id="15" name="Rounded Rectangle 14"/>
          <p:cNvSpPr/>
          <p:nvPr/>
        </p:nvSpPr>
        <p:spPr>
          <a:xfrm>
            <a:off x="9015755"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ПУСТЫ С РАЗДЕЛА 2</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ячеек</a:t>
            </a:r>
          </a:p>
        </p:txBody>
      </p:sp>
      <p:sp>
        <p:nvSpPr>
          <p:cNvPr id="18" name="Rounded Rectangle 17"/>
          <p:cNvSpPr/>
          <p:nvPr/>
        </p:nvSpPr>
        <p:spPr>
          <a:xfrm>
            <a:off x="374904" y="2592217"/>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Этому разделу на карте курса места не нашлось, и сказать почему важнее, чем найти ячейку.</a:t>
            </a:r>
            <a:r>
              <a:rPr sz="1500" b="0" i="0">
                <a:solidFill>
                  <a:srgbClr val="21295C"/>
                </a:solidFill>
                <a:latin typeface="Arial"/>
              </a:rPr>
              <a:t> Карта спрашивает о каждом случае две вещи: что модель делает и с какими данными. Здесь она распознаёт — но не снимок, а </a:t>
            </a:r>
            <a:r>
              <a:rPr sz="1500" b="1" i="0">
                <a:solidFill>
                  <a:srgbClr val="21295C"/>
                </a:solidFill>
                <a:latin typeface="Arial"/>
              </a:rPr>
              <a:t>живой поток кадров во время процедуры</a:t>
            </a:r>
            <a:r>
              <a:rPr sz="1500" b="0" i="0">
                <a:solidFill>
                  <a:srgbClr val="21295C"/>
                </a:solidFill>
                <a:latin typeface="Arial"/>
              </a:rPr>
              <a:t>. Такого столбца среди двенадцати показанных нет: карта собрана под клинику, где читают снимок, запись и показатели.</a:t>
            </a:r>
          </a:p>
        </p:txBody>
      </p:sp>
      <p:sp>
        <p:nvSpPr>
          <p:cNvPr id="20" name="TextBox 1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 разница, которая важнее места на карте.</a:t>
            </a:r>
            <a:r>
              <a:rPr sz="1500" b="0" i="0">
                <a:solidFill>
                  <a:srgbClr val="21295C"/>
                </a:solidFill>
                <a:latin typeface="Arial"/>
              </a:rPr>
              <a:t> Помощник подсвечивает находку рамкой, пока врач ведёт процедуру: решение остаётся за врачом, он смотрит сам. Там, где модель садится вторым читателем снимка, человека с этого места снимают совсем.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 доверие карта не спрашивает вовсе</a:t>
            </a:r>
            <a:r>
              <a:rPr sz="1500" b="0" i="0">
                <a:solidFill>
                  <a:srgbClr val="21295C"/>
                </a:solidFill>
                <a:latin typeface="Arial"/>
              </a:rPr>
              <a:t> — такого вопроса в ней нет, и это её пробел, а не наш.</a:t>
            </a:r>
          </a:p>
        </p:txBody>
      </p:sp>
      <p:sp>
        <p:nvSpPr>
          <p:cNvPr id="21" name="Rectangle 20"/>
          <p:cNvSpPr/>
          <p:nvPr/>
        </p:nvSpPr>
        <p:spPr>
          <a:xfrm>
            <a:off x="6091275" y="2683657"/>
            <a:ext cx="9144" cy="2168327"/>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Итоги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каждый итог отвечает на свой вопрос.</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Девять форм целиком</a:t>
            </a:r>
            <a:r>
              <a:rPr sz="1550" b="0" i="0">
                <a:solidFill>
                  <a:srgbClr val="21295C"/>
                </a:solidFill>
                <a:latin typeface="Arial"/>
              </a:rPr>
              <a:t> — что сделалось с работой 2. </a:t>
            </a:r>
            <a:r>
              <a:rPr sz="1550" b="1" i="0">
                <a:solidFill>
                  <a:srgbClr val="21295C"/>
                </a:solidFill>
                <a:latin typeface="Arial"/>
              </a:rPr>
              <a:t>Итог карты</a:t>
            </a:r>
            <a:r>
              <a:rPr sz="1550" b="0" i="0">
                <a:solidFill>
                  <a:srgbClr val="21295C"/>
                </a:solidFill>
                <a:latin typeface="Arial"/>
              </a:rPr>
              <a:t> — где это на сетке курса и чем там держат цену ошибки 3. </a:t>
            </a:r>
            <a:r>
              <a:rPr sz="1550" b="1" i="0">
                <a:solidFill>
                  <a:srgbClr val="21295C"/>
                </a:solidFill>
                <a:latin typeface="Arial"/>
              </a:rPr>
              <a:t>Чем заплатили</a:t>
            </a:r>
            <a:r>
              <a:rPr sz="1550" b="0" i="0">
                <a:solidFill>
                  <a:srgbClr val="21295C"/>
                </a:solidFill>
                <a:latin typeface="Arial"/>
              </a:rPr>
              <a:t> — внимание, навык, подпись и арбитраж поимённо 4. </a:t>
            </a:r>
            <a:r>
              <a:rPr sz="1550" b="1" i="0">
                <a:solidFill>
                  <a:srgbClr val="21295C"/>
                </a:solidFill>
                <a:latin typeface="Arial"/>
              </a:rPr>
              <a:t>Четыре разных ответа на один вопрос</a:t>
            </a:r>
            <a:r>
              <a:rPr sz="1550" b="0" i="0">
                <a:solidFill>
                  <a:srgbClr val="21295C"/>
                </a:solidFill>
                <a:latin typeface="Arial"/>
              </a:rPr>
              <a:t> — что теперь делает человек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целиком: что сделалось с работой</a:t>
            </a:r>
          </a:p>
        </p:txBody>
      </p:sp>
      <p:sp>
        <p:nvSpPr>
          <p:cNvPr id="4" name="Rounded Rectangle 3"/>
          <p:cNvSpPr/>
          <p:nvPr/>
        </p:nvSpPr>
        <p:spPr>
          <a:xfrm>
            <a:off x="374904" y="1243584"/>
            <a:ext cx="11441887" cy="4891169"/>
          </a:xfrm>
          <a:prstGeom prst="roundRect">
            <a:avLst>
              <a:gd name="adj" fmla="val 623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98248"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0564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37744" y="1335024"/>
            <a:ext cx="3240715"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84048" y="1335024"/>
            <a:ext cx="2948107"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378459" y="1335024"/>
            <a:ext cx="1441425"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524763" y="1335024"/>
            <a:ext cx="1148817"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мерит</a:t>
            </a:r>
          </a:p>
        </p:txBody>
      </p:sp>
      <p:sp>
        <p:nvSpPr>
          <p:cNvPr id="11" name="Rectangle 10"/>
          <p:cNvSpPr/>
          <p:nvPr/>
        </p:nvSpPr>
        <p:spPr>
          <a:xfrm>
            <a:off x="5819884" y="1335024"/>
            <a:ext cx="5832314"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5966188" y="1335024"/>
            <a:ext cx="5539706"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счёт за лекцию</a:t>
            </a:r>
          </a:p>
        </p:txBody>
      </p:sp>
      <p:sp>
        <p:nvSpPr>
          <p:cNvPr id="13" name="Rectangle 12"/>
          <p:cNvSpPr/>
          <p:nvPr/>
        </p:nvSpPr>
        <p:spPr>
          <a:xfrm>
            <a:off x="539496" y="1718403"/>
            <a:ext cx="598248"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37744" y="1718403"/>
            <a:ext cx="3240715"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84048" y="171840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378459" y="1718403"/>
            <a:ext cx="1441425"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524763" y="171840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19" name="Rectangle 18"/>
          <p:cNvSpPr/>
          <p:nvPr/>
        </p:nvSpPr>
        <p:spPr>
          <a:xfrm>
            <a:off x="5819884" y="1718403"/>
            <a:ext cx="5832314"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5966188" y="1718403"/>
            <a:ext cx="5539706"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счёт был у разработки лекарства — раздел снят</a:t>
            </a:r>
          </a:p>
        </p:txBody>
      </p:sp>
      <p:sp>
        <p:nvSpPr>
          <p:cNvPr id="21" name="Rectangle 20"/>
          <p:cNvSpPr/>
          <p:nvPr/>
        </p:nvSpPr>
        <p:spPr>
          <a:xfrm>
            <a:off x="539496" y="2101783"/>
            <a:ext cx="598248"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37744" y="2101783"/>
            <a:ext cx="3240715"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84048" y="210178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378459" y="2101783"/>
            <a:ext cx="1441425"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524763" y="210178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27" name="Rectangle 26"/>
          <p:cNvSpPr/>
          <p:nvPr/>
        </p:nvSpPr>
        <p:spPr>
          <a:xfrm>
            <a:off x="5819884" y="2101783"/>
            <a:ext cx="5832314"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5966188" y="2101783"/>
            <a:ext cx="553970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случая не встретилось</a:t>
            </a:r>
          </a:p>
        </p:txBody>
      </p:sp>
      <p:sp>
        <p:nvSpPr>
          <p:cNvPr id="29" name="Rectangle 28"/>
          <p:cNvSpPr/>
          <p:nvPr/>
        </p:nvSpPr>
        <p:spPr>
          <a:xfrm>
            <a:off x="539496" y="2485163"/>
            <a:ext cx="598248"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37744" y="2485163"/>
            <a:ext cx="3240715"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84048" y="248516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378459" y="2485163"/>
            <a:ext cx="1441425"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524763" y="248516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35" name="Rectangle 34"/>
          <p:cNvSpPr/>
          <p:nvPr/>
        </p:nvSpPr>
        <p:spPr>
          <a:xfrm>
            <a:off x="5819884" y="2485163"/>
            <a:ext cx="5832314"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5966188" y="248516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разбор тревоги модели · </a:t>
            </a:r>
            <a:r>
              <a:rPr sz="1200" b="0" i="1">
                <a:solidFill>
                  <a:srgbClr val="21295C"/>
                </a:solidFill>
                <a:latin typeface="Arial"/>
              </a:rPr>
              <a:t>счёт объёма был у надзора — раздел снят</a:t>
            </a:r>
          </a:p>
        </p:txBody>
      </p:sp>
      <p:sp>
        <p:nvSpPr>
          <p:cNvPr id="37" name="Rectangle 36"/>
          <p:cNvSpPr/>
          <p:nvPr/>
        </p:nvSpPr>
        <p:spPr>
          <a:xfrm>
            <a:off x="539496" y="2868543"/>
            <a:ext cx="598248"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37744" y="2868543"/>
            <a:ext cx="3240715"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84048" y="286854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378459" y="2868543"/>
            <a:ext cx="1441425"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524763" y="286854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43" name="Rectangle 42"/>
          <p:cNvSpPr/>
          <p:nvPr/>
        </p:nvSpPr>
        <p:spPr>
          <a:xfrm>
            <a:off x="5819884" y="2868543"/>
            <a:ext cx="5832314"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5966188" y="286854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5" name="Rectangle 44"/>
          <p:cNvSpPr/>
          <p:nvPr/>
        </p:nvSpPr>
        <p:spPr>
          <a:xfrm>
            <a:off x="539496" y="3251923"/>
            <a:ext cx="598248"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37744" y="3251923"/>
            <a:ext cx="3240715"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84048" y="325192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378459" y="3251923"/>
            <a:ext cx="1441425"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524763" y="325192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51" name="Rectangle 50"/>
          <p:cNvSpPr/>
          <p:nvPr/>
        </p:nvSpPr>
        <p:spPr>
          <a:xfrm>
            <a:off x="5819884" y="3251923"/>
            <a:ext cx="5832314"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5966188" y="325192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чтение ниже </a:t>
            </a:r>
            <a:r>
              <a:rPr sz="1200" b="1" i="0">
                <a:solidFill>
                  <a:srgbClr val="21295C"/>
                </a:solidFill>
                <a:latin typeface="Arial"/>
              </a:rPr>
              <a:t>на 44,3 %</a:t>
            </a:r>
          </a:p>
        </p:txBody>
      </p:sp>
      <p:sp>
        <p:nvSpPr>
          <p:cNvPr id="53" name="Rectangle 52"/>
          <p:cNvSpPr/>
          <p:nvPr/>
        </p:nvSpPr>
        <p:spPr>
          <a:xfrm>
            <a:off x="539496" y="3635303"/>
            <a:ext cx="598248"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37744" y="3635303"/>
            <a:ext cx="3240715"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84048" y="363530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378459" y="3635303"/>
            <a:ext cx="1441425"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524763" y="363530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рука</a:t>
            </a:r>
          </a:p>
        </p:txBody>
      </p:sp>
      <p:sp>
        <p:nvSpPr>
          <p:cNvPr id="59" name="Rectangle 58"/>
          <p:cNvSpPr/>
          <p:nvPr/>
        </p:nvSpPr>
        <p:spPr>
          <a:xfrm>
            <a:off x="5819884" y="3635303"/>
            <a:ext cx="5832314"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5966188" y="363530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явка </a:t>
            </a:r>
            <a:r>
              <a:rPr sz="1200" b="1" i="0">
                <a:solidFill>
                  <a:srgbClr val="21295C"/>
                </a:solidFill>
                <a:latin typeface="Arial"/>
              </a:rPr>
              <a:t>22 → 100</a:t>
            </a:r>
            <a:r>
              <a:rPr sz="1200" b="0" i="0">
                <a:solidFill>
                  <a:srgbClr val="21295C"/>
                </a:solidFill>
                <a:latin typeface="Arial"/>
              </a:rPr>
              <a:t> из ста</a:t>
            </a:r>
          </a:p>
        </p:txBody>
      </p:sp>
      <p:sp>
        <p:nvSpPr>
          <p:cNvPr id="61" name="Rectangle 60"/>
          <p:cNvSpPr/>
          <p:nvPr/>
        </p:nvSpPr>
        <p:spPr>
          <a:xfrm>
            <a:off x="539496" y="4018683"/>
            <a:ext cx="598248"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37744" y="4018683"/>
            <a:ext cx="3240715"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84048" y="401868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378459" y="4018683"/>
            <a:ext cx="1441425"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524763" y="401868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порядок</a:t>
            </a:r>
          </a:p>
        </p:txBody>
      </p:sp>
      <p:sp>
        <p:nvSpPr>
          <p:cNvPr id="67" name="Rectangle 66"/>
          <p:cNvSpPr/>
          <p:nvPr/>
        </p:nvSpPr>
        <p:spPr>
          <a:xfrm>
            <a:off x="5819884" y="4018683"/>
            <a:ext cx="5832314"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5966188" y="4018683"/>
            <a:ext cx="553970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счёта нет</a:t>
            </a:r>
          </a:p>
        </p:txBody>
      </p:sp>
      <p:sp>
        <p:nvSpPr>
          <p:cNvPr id="69" name="Rectangle 68"/>
          <p:cNvSpPr/>
          <p:nvPr/>
        </p:nvSpPr>
        <p:spPr>
          <a:xfrm>
            <a:off x="539496" y="4402063"/>
            <a:ext cx="598248"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37744" y="4402063"/>
            <a:ext cx="3240715"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84048" y="440206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378459" y="4402063"/>
            <a:ext cx="1441425"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524763" y="440206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цена ошибки</a:t>
            </a:r>
          </a:p>
        </p:txBody>
      </p:sp>
      <p:sp>
        <p:nvSpPr>
          <p:cNvPr id="75" name="Rectangle 74"/>
          <p:cNvSpPr/>
          <p:nvPr/>
        </p:nvSpPr>
        <p:spPr>
          <a:xfrm>
            <a:off x="5819884" y="4402063"/>
            <a:ext cx="5832314"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5966188" y="4402063"/>
            <a:ext cx="5539706"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счёт был у надзора — раздел снят</a:t>
            </a:r>
          </a:p>
        </p:txBody>
      </p:sp>
      <p:sp>
        <p:nvSpPr>
          <p:cNvPr id="77" name="Rectangle 76"/>
          <p:cNvSpPr/>
          <p:nvPr/>
        </p:nvSpPr>
        <p:spPr>
          <a:xfrm>
            <a:off x="539496" y="4785442"/>
            <a:ext cx="598248"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37744" y="4785442"/>
            <a:ext cx="3240715"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84048" y="4785442"/>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378459" y="4785442"/>
            <a:ext cx="1441425"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524763" y="4785442"/>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рука</a:t>
            </a:r>
          </a:p>
        </p:txBody>
      </p:sp>
      <p:sp>
        <p:nvSpPr>
          <p:cNvPr id="83" name="Rectangle 82"/>
          <p:cNvSpPr/>
          <p:nvPr/>
        </p:nvSpPr>
        <p:spPr>
          <a:xfrm>
            <a:off x="5819884" y="4785442"/>
            <a:ext cx="5832314"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5966188" y="4785442"/>
            <a:ext cx="553970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28,4 → 22,4</a:t>
            </a:r>
            <a:r>
              <a:rPr sz="1200" b="0" i="0">
                <a:solidFill>
                  <a:srgbClr val="21295C"/>
                </a:solidFill>
                <a:latin typeface="Arial"/>
              </a:rPr>
              <a:t> из ста</a:t>
            </a:r>
          </a:p>
        </p:txBody>
      </p:sp>
      <p:sp>
        <p:nvSpPr>
          <p:cNvPr id="85" name="Rectangle 84"/>
          <p:cNvSpPr/>
          <p:nvPr/>
        </p:nvSpPr>
        <p:spPr>
          <a:xfrm>
            <a:off x="539496" y="5168822"/>
            <a:ext cx="598248"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30564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37744" y="5168822"/>
            <a:ext cx="3240715"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84048" y="5168822"/>
            <a:ext cx="2948107"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378459" y="5168822"/>
            <a:ext cx="1441425"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524763" y="5168822"/>
            <a:ext cx="1148817"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рука</a:t>
            </a:r>
          </a:p>
        </p:txBody>
      </p:sp>
      <p:sp>
        <p:nvSpPr>
          <p:cNvPr id="91" name="Rectangle 90"/>
          <p:cNvSpPr/>
          <p:nvPr/>
        </p:nvSpPr>
        <p:spPr>
          <a:xfrm>
            <a:off x="5819884" y="5168822"/>
            <a:ext cx="5832314"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5966188" y="5168822"/>
            <a:ext cx="5539706"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измерения нет</a:t>
            </a:r>
          </a:p>
        </p:txBody>
      </p:sp>
      <p:sp>
        <p:nvSpPr>
          <p:cNvPr id="93" name="TextBox 92"/>
          <p:cNvSpPr txBox="1"/>
          <p:nvPr/>
        </p:nvSpPr>
        <p:spPr>
          <a:xfrm>
            <a:off x="539496" y="5698506"/>
            <a:ext cx="11112703" cy="253366"/>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Четыре формы из девяти со счётом; у трёх счёт был и ушёл со снятыми разделами.</a:t>
            </a:r>
            <a:r>
              <a:rPr sz="1250" b="0" i="0">
                <a:solidFill>
                  <a:srgbClr val="21295C"/>
                </a:solidFill>
                <a:latin typeface="Arial"/>
              </a:rPr>
              <a:t> Какая из девяти встречалась у вас на работе?</a:t>
            </a:r>
          </a:p>
        </p:txBody>
      </p:sp>
      <p:sp>
        <p:nvSpPr>
          <p:cNvPr id="94" name="Rectangle 9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5" name="TextBox 9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разборам лекции — работы названы в заметках</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Итог карты: четыре ячейки заняты, восемь пусты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800624" cy="62040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508016"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340120" y="1335024"/>
            <a:ext cx="3906736" cy="620400"/>
          </a:xfrm>
          <a:prstGeom prst="rect">
            <a:avLst/>
          </a:prstGeom>
          <a:solidFill>
            <a:srgbClr val="065A82"/>
          </a:solidFill>
          <a:ln>
            <a:noFill/>
          </a:ln>
          <a:effectLst/>
        </p:spPr>
        <p:txBody>
          <a:bodyPr rtlCol="0" anchor="ctr"/>
          <a:lstStyle/>
          <a:p>
            <a:pPr algn="ctr"/>
          </a:p>
        </p:txBody>
      </p:sp>
      <p:sp>
        <p:nvSpPr>
          <p:cNvPr id="8" name="TextBox 7"/>
          <p:cNvSpPr txBox="1"/>
          <p:nvPr/>
        </p:nvSpPr>
        <p:spPr>
          <a:xfrm>
            <a:off x="2486424" y="1335024"/>
            <a:ext cx="3614128"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6246856" y="1335024"/>
            <a:ext cx="2961525" cy="620400"/>
          </a:xfrm>
          <a:prstGeom prst="rect">
            <a:avLst/>
          </a:prstGeom>
          <a:solidFill>
            <a:srgbClr val="065A82"/>
          </a:solidFill>
          <a:ln>
            <a:noFill/>
          </a:ln>
          <a:effectLst/>
        </p:spPr>
        <p:txBody>
          <a:bodyPr rtlCol="0" anchor="ctr"/>
          <a:lstStyle/>
          <a:p>
            <a:pPr algn="ctr"/>
          </a:p>
        </p:txBody>
      </p:sp>
      <p:sp>
        <p:nvSpPr>
          <p:cNvPr id="10" name="TextBox 9"/>
          <p:cNvSpPr txBox="1"/>
          <p:nvPr/>
        </p:nvSpPr>
        <p:spPr>
          <a:xfrm>
            <a:off x="6393160" y="1335024"/>
            <a:ext cx="2668917"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9208381" y="1335024"/>
            <a:ext cx="2443817" cy="62040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354685" y="1335024"/>
            <a:ext cx="2151209"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955424"/>
            <a:ext cx="1800624" cy="62040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9554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340120" y="1955424"/>
            <a:ext cx="3906736" cy="62040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486424" y="19554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6246856" y="1955424"/>
            <a:ext cx="2961525" cy="62040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393160" y="19554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a:t>
            </a:r>
          </a:p>
        </p:txBody>
      </p:sp>
      <p:sp>
        <p:nvSpPr>
          <p:cNvPr id="19" name="Rectangle 18"/>
          <p:cNvSpPr/>
          <p:nvPr/>
        </p:nvSpPr>
        <p:spPr>
          <a:xfrm>
            <a:off x="9208381" y="1955424"/>
            <a:ext cx="2443817" cy="62040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354685" y="19554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575824"/>
            <a:ext cx="1800624" cy="62040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5758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340120" y="2575824"/>
            <a:ext cx="3906736" cy="62040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486424" y="25758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6246856" y="2575824"/>
            <a:ext cx="2961525" cy="62040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393160" y="25758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a:t>
            </a:r>
          </a:p>
        </p:txBody>
      </p:sp>
      <p:sp>
        <p:nvSpPr>
          <p:cNvPr id="27" name="Rectangle 26"/>
          <p:cNvSpPr/>
          <p:nvPr/>
        </p:nvSpPr>
        <p:spPr>
          <a:xfrm>
            <a:off x="9208381" y="2575824"/>
            <a:ext cx="2443817" cy="62040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354685" y="25758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3196224"/>
            <a:ext cx="1800624" cy="62040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31962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340120" y="3196224"/>
            <a:ext cx="3906736" cy="62040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486424" y="31962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 · документы</a:t>
            </a:r>
          </a:p>
        </p:txBody>
      </p:sp>
      <p:sp>
        <p:nvSpPr>
          <p:cNvPr id="33" name="Rectangle 32"/>
          <p:cNvSpPr/>
          <p:nvPr/>
        </p:nvSpPr>
        <p:spPr>
          <a:xfrm>
            <a:off x="6246856" y="3196224"/>
            <a:ext cx="2961525" cy="62040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393160" y="31962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9208381" y="3196224"/>
            <a:ext cx="2443817" cy="62040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354685" y="31962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3816624"/>
            <a:ext cx="1800624"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816624"/>
            <a:ext cx="150801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340120" y="3816624"/>
            <a:ext cx="3906736"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486424" y="3816624"/>
            <a:ext cx="361412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6246856" y="3816624"/>
            <a:ext cx="2961525"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393160" y="3816624"/>
            <a:ext cx="2668917"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9208381" y="3816624"/>
            <a:ext cx="2443817"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354685" y="3816624"/>
            <a:ext cx="21512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исследование и диагноз</a:t>
            </a:r>
          </a:p>
        </p:txBody>
      </p:sp>
      <p:sp>
        <p:nvSpPr>
          <p:cNvPr id="45" name="TextBox 44"/>
          <p:cNvSpPr txBox="1"/>
          <p:nvPr/>
        </p:nvSpPr>
        <p:spPr>
          <a:xfrm>
            <a:off x="539496" y="435542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ячейки из 12; в восемь за четыре раздела не зашёл никто.</a:t>
            </a:r>
            <a:r>
              <a:rPr sz="1300" b="0" i="0">
                <a:solidFill>
                  <a:srgbClr val="21295C"/>
                </a:solidFill>
                <a:latin typeface="Arial"/>
              </a:rPr>
              <a:t> Вне окна ещё два места: распознавание на видео и сигнал прибора, где модели нет вовсе.</a:t>
            </a:r>
          </a:p>
        </p:txBody>
      </p:sp>
      <p:sp>
        <p:nvSpPr>
          <p:cNvPr id="46" name="TextBox 45"/>
          <p:cNvSpPr txBox="1"/>
          <p:nvPr/>
        </p:nvSpPr>
        <p:spPr>
          <a:xfrm>
            <a:off x="539496" y="5027950"/>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Ячейки те же, что в инженерии, а процедуры удержания разные, и ни одна не совпадает:</a:t>
            </a:r>
            <a:r>
              <a:rPr sz="1300" b="0" i="0">
                <a:solidFill>
                  <a:srgbClr val="21295C"/>
                </a:solidFill>
                <a:latin typeface="Arial"/>
              </a:rPr>
              <a:t> на изображении двойное чтение и арбитраж; на прогнозе разбор ложных тревог как рабочее время; на тексте вычитка и подпись.</a:t>
            </a:r>
          </a:p>
        </p:txBody>
      </p:sp>
      <p:sp>
        <p:nvSpPr>
          <p:cNvPr id="47" name="TextBox 46"/>
          <p:cNvSpPr txBox="1"/>
          <p:nvPr/>
        </p:nvSpPr>
        <p:spPr>
          <a:xfrm>
            <a:off x="539496" y="5700477"/>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позже проверка, тем дольше живёт ошибка:</a:t>
            </a:r>
            <a:r>
              <a:rPr sz="1300" b="0" i="0">
                <a:solidFill>
                  <a:srgbClr val="21295C"/>
                </a:solidFill>
                <a:latin typeface="Arial"/>
              </a:rPr>
              <a:t> на изображении её поймают внутри смены, на тексте — при подписи, на прогнозе — при следующем срезе данных регулятору. </a:t>
            </a:r>
            <a:r>
              <a:rPr sz="1350" b="1" i="0">
                <a:solidFill>
                  <a:srgbClr val="21295C"/>
                </a:solidFill>
                <a:latin typeface="Arial"/>
              </a:rPr>
              <a:t>А результат исполнителя без инструмента не держится ничем.</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заплатили: внимание, навык, подпись, арбитраж</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Четыре платежа из начала — поимённо. Под тремя стоит измерение, под четвёртым его в деке больше нет.</a:t>
            </a:r>
          </a:p>
        </p:txBody>
      </p:sp>
      <p:sp>
        <p:nvSpPr>
          <p:cNvPr id="6" name="Rectangle 5"/>
          <p:cNvSpPr/>
          <p:nvPr/>
        </p:nvSpPr>
        <p:spPr>
          <a:xfrm>
            <a:off x="539496" y="1744439"/>
            <a:ext cx="1195862" cy="392496"/>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44439"/>
            <a:ext cx="90325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платёж</a:t>
            </a:r>
          </a:p>
        </p:txBody>
      </p:sp>
      <p:sp>
        <p:nvSpPr>
          <p:cNvPr id="8" name="Rectangle 7"/>
          <p:cNvSpPr/>
          <p:nvPr/>
        </p:nvSpPr>
        <p:spPr>
          <a:xfrm>
            <a:off x="1735358" y="1744439"/>
            <a:ext cx="5184682" cy="392496"/>
          </a:xfrm>
          <a:prstGeom prst="rect">
            <a:avLst/>
          </a:prstGeom>
          <a:solidFill>
            <a:srgbClr val="065A82"/>
          </a:solidFill>
          <a:ln>
            <a:noFill/>
          </a:ln>
          <a:effectLst/>
        </p:spPr>
        <p:txBody>
          <a:bodyPr rtlCol="0" anchor="ctr"/>
          <a:lstStyle/>
          <a:p>
            <a:pPr algn="ctr"/>
          </a:p>
        </p:txBody>
      </p:sp>
      <p:sp>
        <p:nvSpPr>
          <p:cNvPr id="9" name="TextBox 8"/>
          <p:cNvSpPr txBox="1"/>
          <p:nvPr/>
        </p:nvSpPr>
        <p:spPr>
          <a:xfrm>
            <a:off x="1881662" y="1744439"/>
            <a:ext cx="489207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чем заплачено</a:t>
            </a:r>
          </a:p>
        </p:txBody>
      </p:sp>
      <p:sp>
        <p:nvSpPr>
          <p:cNvPr id="10" name="Rectangle 9"/>
          <p:cNvSpPr/>
          <p:nvPr/>
        </p:nvSpPr>
        <p:spPr>
          <a:xfrm>
            <a:off x="6920041" y="1744439"/>
            <a:ext cx="4732157" cy="392496"/>
          </a:xfrm>
          <a:prstGeom prst="rect">
            <a:avLst/>
          </a:prstGeom>
          <a:solidFill>
            <a:srgbClr val="065A82"/>
          </a:solidFill>
          <a:ln>
            <a:noFill/>
          </a:ln>
          <a:effectLst/>
        </p:spPr>
        <p:txBody>
          <a:bodyPr rtlCol="0" anchor="ctr"/>
          <a:lstStyle/>
          <a:p>
            <a:pPr algn="ctr"/>
          </a:p>
        </p:txBody>
      </p:sp>
      <p:sp>
        <p:nvSpPr>
          <p:cNvPr id="11" name="TextBox 10"/>
          <p:cNvSpPr txBox="1"/>
          <p:nvPr/>
        </p:nvSpPr>
        <p:spPr>
          <a:xfrm>
            <a:off x="7066345" y="1744439"/>
            <a:ext cx="443954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чем измерено</a:t>
            </a:r>
          </a:p>
        </p:txBody>
      </p:sp>
      <p:sp>
        <p:nvSpPr>
          <p:cNvPr id="12" name="Rectangle 11"/>
          <p:cNvSpPr/>
          <p:nvPr/>
        </p:nvSpPr>
        <p:spPr>
          <a:xfrm>
            <a:off x="539496" y="2136935"/>
            <a:ext cx="1195862" cy="620400"/>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136935"/>
            <a:ext cx="903254"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Внимание</a:t>
            </a:r>
          </a:p>
        </p:txBody>
      </p:sp>
      <p:sp>
        <p:nvSpPr>
          <p:cNvPr id="14" name="Rectangle 13"/>
          <p:cNvSpPr/>
          <p:nvPr/>
        </p:nvSpPr>
        <p:spPr>
          <a:xfrm>
            <a:off x="1735358" y="2136935"/>
            <a:ext cx="5184682" cy="620400"/>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881662" y="2136935"/>
            <a:ext cx="4892074"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смотрели 11,1 → 9,5 % площади снимка; цена сужения 32 пункта, 71 → 39</a:t>
            </a:r>
          </a:p>
        </p:txBody>
      </p:sp>
      <p:sp>
        <p:nvSpPr>
          <p:cNvPr id="16" name="Rectangle 15"/>
          <p:cNvSpPr/>
          <p:nvPr/>
        </p:nvSpPr>
        <p:spPr>
          <a:xfrm>
            <a:off x="6920041" y="2136935"/>
            <a:ext cx="4732157" cy="620400"/>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7066345" y="2136935"/>
            <a:ext cx="44395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лабораторный замер взгляда</a:t>
            </a:r>
          </a:p>
        </p:txBody>
      </p:sp>
      <p:sp>
        <p:nvSpPr>
          <p:cNvPr id="18" name="Rectangle 17"/>
          <p:cNvSpPr/>
          <p:nvPr/>
        </p:nvSpPr>
        <p:spPr>
          <a:xfrm>
            <a:off x="539496" y="2757335"/>
            <a:ext cx="1195862" cy="392496"/>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757335"/>
            <a:ext cx="903254"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Навык</a:t>
            </a:r>
          </a:p>
        </p:txBody>
      </p:sp>
      <p:sp>
        <p:nvSpPr>
          <p:cNvPr id="20" name="Rectangle 19"/>
          <p:cNvSpPr/>
          <p:nvPr/>
        </p:nvSpPr>
        <p:spPr>
          <a:xfrm>
            <a:off x="1735358" y="2757335"/>
            <a:ext cx="5184682" cy="392496"/>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881662" y="2757335"/>
            <a:ext cx="48920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28,4 → 22,4 из ста у тех же девятнадцати врачей</a:t>
            </a:r>
          </a:p>
        </p:txBody>
      </p:sp>
      <p:sp>
        <p:nvSpPr>
          <p:cNvPr id="22" name="Rectangle 21"/>
          <p:cNvSpPr/>
          <p:nvPr/>
        </p:nvSpPr>
        <p:spPr>
          <a:xfrm>
            <a:off x="6920041" y="2757335"/>
            <a:ext cx="4732157" cy="392496"/>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7066345" y="2757335"/>
            <a:ext cx="443954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наблюдательное, однажды и спорно</a:t>
            </a:r>
          </a:p>
        </p:txBody>
      </p:sp>
      <p:sp>
        <p:nvSpPr>
          <p:cNvPr id="24" name="Rectangle 23"/>
          <p:cNvSpPr/>
          <p:nvPr/>
        </p:nvSpPr>
        <p:spPr>
          <a:xfrm>
            <a:off x="539496" y="3149831"/>
            <a:ext cx="1195862" cy="620400"/>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149831"/>
            <a:ext cx="903254"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Подпись</a:t>
            </a:r>
          </a:p>
        </p:txBody>
      </p:sp>
      <p:sp>
        <p:nvSpPr>
          <p:cNvPr id="26" name="Rectangle 25"/>
          <p:cNvSpPr/>
          <p:nvPr/>
        </p:nvSpPr>
        <p:spPr>
          <a:xfrm>
            <a:off x="1735358" y="3149831"/>
            <a:ext cx="5184682" cy="620400"/>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881662" y="3149831"/>
            <a:ext cx="4892074"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девять машинных эпикризов из одиннадцати с ошибкой</a:t>
            </a:r>
          </a:p>
        </p:txBody>
      </p:sp>
      <p:sp>
        <p:nvSpPr>
          <p:cNvPr id="28" name="Rectangle 27"/>
          <p:cNvSpPr/>
          <p:nvPr/>
        </p:nvSpPr>
        <p:spPr>
          <a:xfrm>
            <a:off x="6920041" y="3149831"/>
            <a:ext cx="4732157" cy="620400"/>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7066345" y="3149831"/>
            <a:ext cx="44395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качество заметок. </a:t>
            </a:r>
            <a:r>
              <a:rPr sz="1250" b="0" i="1">
                <a:solidFill>
                  <a:srgbClr val="21295C"/>
                </a:solidFill>
                <a:latin typeface="Arial"/>
              </a:rPr>
              <a:t>Перепись изделий, 56 из 717, ушла со снятым разделом надзора</a:t>
            </a:r>
          </a:p>
        </p:txBody>
      </p:sp>
      <p:sp>
        <p:nvSpPr>
          <p:cNvPr id="30" name="Rectangle 29"/>
          <p:cNvSpPr/>
          <p:nvPr/>
        </p:nvSpPr>
        <p:spPr>
          <a:xfrm>
            <a:off x="539496" y="3770231"/>
            <a:ext cx="1195862" cy="620400"/>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3770231"/>
            <a:ext cx="903254"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Арбитраж</a:t>
            </a:r>
          </a:p>
        </p:txBody>
      </p:sp>
      <p:sp>
        <p:nvSpPr>
          <p:cNvPr id="32" name="Rectangle 31"/>
          <p:cNvSpPr/>
          <p:nvPr/>
        </p:nvSpPr>
        <p:spPr>
          <a:xfrm>
            <a:off x="1735358" y="3770231"/>
            <a:ext cx="5184682" cy="620400"/>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881662" y="3770231"/>
            <a:ext cx="4892074" cy="620400"/>
          </a:xfrm>
          <a:prstGeom prst="rect">
            <a:avLst/>
          </a:prstGeom>
          <a:noFill/>
        </p:spPr>
        <p:txBody>
          <a:bodyPr wrap="square" lIns="0" rIns="0" tIns="0" bIns="0" anchor="ctr">
            <a:spAutoFit/>
          </a:bodyPr>
          <a:lstStyle/>
          <a:p>
            <a:pPr algn="l">
              <a:lnSpc>
                <a:spcPct val="116000"/>
              </a:lnSpc>
            </a:pPr>
            <a:r>
              <a:rPr sz="1250" b="0" i="1">
                <a:solidFill>
                  <a:srgbClr val="21295C"/>
                </a:solidFill>
                <a:latin typeface="Arial"/>
              </a:rPr>
              <a:t>разбор снят вместе с надзором: минуты двойного чтения и рост объёма были его числами</a:t>
            </a:r>
          </a:p>
        </p:txBody>
      </p:sp>
      <p:sp>
        <p:nvSpPr>
          <p:cNvPr id="34" name="Rectangle 33"/>
          <p:cNvSpPr/>
          <p:nvPr/>
        </p:nvSpPr>
        <p:spPr>
          <a:xfrm>
            <a:off x="6920041" y="3770231"/>
            <a:ext cx="4732157" cy="620400"/>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7066345" y="3770231"/>
            <a:ext cx="44395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6" name="TextBox 35"/>
          <p:cNvSpPr txBox="1"/>
          <p:nvPr/>
        </p:nvSpPr>
        <p:spPr>
          <a:xfrm>
            <a:off x="539496" y="4536935"/>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Оплачены неровно:</a:t>
            </a:r>
            <a:r>
              <a:rPr sz="1300" b="0" i="0">
                <a:solidFill>
                  <a:srgbClr val="21295C"/>
                </a:solidFill>
                <a:latin typeface="Arial"/>
              </a:rPr>
              <a:t> у внимания крупная выборка, у навыка — одно спорное наблюдение, у подписи — доля документов, а не исход пациента. </a:t>
            </a:r>
            <a:r>
              <a:rPr sz="1350" b="1" i="0">
                <a:solidFill>
                  <a:srgbClr val="21295C"/>
                </a:solidFill>
                <a:latin typeface="Arial"/>
              </a:rPr>
              <a:t>У арбитража в деке не осталось ни одного измерения.</a:t>
            </a:r>
          </a:p>
        </p:txBody>
      </p:sp>
      <p:sp>
        <p:nvSpPr>
          <p:cNvPr id="37" name="TextBox 36"/>
          <p:cNvSpPr txBox="1"/>
          <p:nvPr/>
        </p:nvSpPr>
        <p:spPr>
          <a:xfrm>
            <a:off x="539496" y="5209462"/>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Кто платит:</a:t>
            </a:r>
            <a:r>
              <a:rPr sz="1300" b="0" i="0">
                <a:solidFill>
                  <a:srgbClr val="21295C"/>
                </a:solidFill>
                <a:latin typeface="Arial"/>
              </a:rPr>
              <a:t> исследование и диагноз — вниманием · квалификация — навыком · документы — подписью. </a:t>
            </a:r>
            <a:r>
              <a:rPr sz="1350" b="1" i="0">
                <a:solidFill>
                  <a:srgbClr val="21295C"/>
                </a:solidFill>
                <a:latin typeface="Arial"/>
              </a:rPr>
              <a:t>Скрининг из четырёх разделов не платит ничем:</a:t>
            </a:r>
            <a:r>
              <a:rPr sz="1300" b="0" i="0">
                <a:solidFill>
                  <a:srgbClr val="21295C"/>
                </a:solidFill>
                <a:latin typeface="Arial"/>
              </a:rPr>
              <a:t> человек прочёл там каждое исследование.</a:t>
            </a:r>
          </a:p>
        </p:txBody>
      </p:sp>
      <p:sp>
        <p:nvSpPr>
          <p:cNvPr id="38" name="TextBox 37"/>
          <p:cNvSpPr txBox="1"/>
          <p:nvPr/>
        </p:nvSpPr>
        <p:spPr>
          <a:xfrm>
            <a:off x="539496" y="5881988"/>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Арбитраж ось называет, а разбора под ним в деке больше нет</a:t>
            </a:r>
            <a:r>
              <a:rPr sz="1300" b="0" i="0">
                <a:solidFill>
                  <a:srgbClr val="21295C"/>
                </a:solidFill>
                <a:latin typeface="Arial"/>
              </a:rPr>
              <a:t> — и это пробел названный, а не забытый.</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① СМОТРИТ ПЕРВЫМ</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сам, модель — второе мнение</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расхождение идёт в арбитраж · рандомизированное испытание</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② СМОТРИТ ВТОРЫМ</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после модели</a:t>
            </a:r>
          </a:p>
        </p:txBody>
      </p:sp>
      <p:sp>
        <p:nvSpPr>
          <p:cNvPr id="11" name="TextBox 10"/>
          <p:cNvSpPr txBox="1"/>
          <p:nvPr/>
        </p:nvSpPr>
        <p:spPr>
          <a:xfrm>
            <a:off x="3477691"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внимание сужается, верное решение меняется на неверное · замер взгляда и обзор</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③ СМОТРИТ СПОРНОЕ</a:t>
            </a:r>
          </a:p>
        </p:txBody>
      </p:sp>
      <p:sp>
        <p:nvSpPr>
          <p:cNvPr id="14" name="TextBox 13"/>
          <p:cNvSpPr txBox="1"/>
          <p:nvPr/>
        </p:nvSpPr>
        <p:spPr>
          <a:xfrm>
            <a:off x="6315303" y="1725375"/>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разбирает отмеченное, остальное мимо</a:t>
            </a:r>
          </a:p>
        </p:txBody>
      </p:sp>
      <p:sp>
        <p:nvSpPr>
          <p:cNvPr id="15" name="TextBox 14"/>
          <p:cNvSpPr txBox="1"/>
          <p:nvPr/>
        </p:nvSpPr>
        <p:spPr>
          <a:xfrm>
            <a:off x="6315303" y="2882296"/>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обзор отклонений</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④ ПОДПИСЫВАЕТ НЕ ГЛЯДЯ</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счёт секунд — около двух</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замер вне медицины; разбор про цену отказа снят вместе со своим разделом</a:t>
            </a:r>
          </a:p>
        </p:txBody>
      </p:sp>
      <p:sp>
        <p:nvSpPr>
          <p:cNvPr id="20" name="Rounded Rectangle 19"/>
          <p:cNvSpPr/>
          <p:nvPr/>
        </p:nvSpPr>
        <p:spPr>
          <a:xfrm>
            <a:off x="374904" y="358430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1" i="0">
                <a:solidFill>
                  <a:srgbClr val="21295C"/>
                </a:solidFill>
                <a:latin typeface="Arial"/>
              </a:rPr>
              <a:t>Четыре ступени — и чем ниже по ним, тем слабее свидетельство.</a:t>
            </a:r>
            <a:r>
              <a:rPr sz="1500" b="0" i="0">
                <a:solidFill>
                  <a:srgbClr val="21295C"/>
                </a:solidFill>
                <a:latin typeface="Arial"/>
              </a:rPr>
              <a:t> Про четвёртую, она же самая частая, известно меньше всего: подпись есть, чтения нет.</a:t>
            </a:r>
          </a:p>
        </p:txBody>
      </p:sp>
      <p:sp>
        <p:nvSpPr>
          <p:cNvPr id="22" name="TextBox 21"/>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Исхода пациента нет ни у одного разбора лекции:</a:t>
            </a:r>
            <a:r>
              <a:rPr sz="1500" b="0" i="0">
                <a:solidFill>
                  <a:srgbClr val="21295C"/>
                </a:solidFill>
                <a:latin typeface="Arial"/>
              </a:rPr>
              <a:t> все четыре ступени измерены на том, что человек сделал с данными, а не на том, что стало с больным.</a:t>
            </a:r>
          </a:p>
        </p:txBody>
      </p:sp>
      <p:sp>
        <p:nvSpPr>
          <p:cNvPr id="23" name="Rectangle 22"/>
          <p:cNvSpPr/>
          <p:nvPr/>
        </p:nvSpPr>
        <p:spPr>
          <a:xfrm>
            <a:off x="6091275" y="3675747"/>
            <a:ext cx="9144" cy="1574205"/>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норма требует способности вмешаться</a:t>
            </a:r>
          </a:p>
        </p:txBody>
      </p:sp>
      <p:sp>
        <p:nvSpPr>
          <p:cNvPr id="7" name="TextBox 6"/>
          <p:cNvSpPr txBox="1"/>
          <p:nvPr/>
        </p:nvSpPr>
        <p:spPr>
          <a:xfrm>
            <a:off x="640080" y="2933220"/>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перепись изделий, проверявшая эту способность, ушла со снятым разделом надзора</a:t>
            </a:r>
          </a:p>
        </p:txBody>
      </p:sp>
      <p:sp>
        <p:nvSpPr>
          <p:cNvPr id="8" name="Rounded Rectangle 7"/>
          <p:cNvSpPr/>
          <p:nvPr/>
        </p:nvSpPr>
        <p:spPr>
          <a:xfrm>
            <a:off x="4286402" y="1335024"/>
            <a:ext cx="3618890"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перекрытие ошибок не измерено</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есть, величины нет</a:t>
            </a:r>
          </a:p>
        </p:txBody>
      </p:sp>
      <p:sp>
        <p:nvSpPr>
          <p:cNvPr id="12" name="Rounded Rectangle 11"/>
          <p:cNvSpPr/>
          <p:nvPr/>
        </p:nvSpPr>
        <p:spPr>
          <a:xfrm>
            <a:off x="8069884" y="1335024"/>
            <a:ext cx="3618890"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процедуру не переделать</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решения до отзыва не отзываются</a:t>
            </a:r>
          </a:p>
        </p:txBody>
      </p:sp>
      <p:sp>
        <p:nvSpPr>
          <p:cNvPr id="16" name="Rounded Rectangle 15"/>
          <p:cNvSpPr/>
          <p:nvPr/>
        </p:nvSpPr>
        <p:spPr>
          <a:xfrm>
            <a:off x="374904" y="3795551"/>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886991"/>
            <a:ext cx="5373471" cy="234921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Участие человека обязательно, и не потому, что он точнее</a:t>
            </a:r>
            <a:r>
              <a:rPr sz="1500" b="0" i="0">
                <a:solidFill>
                  <a:srgbClr val="21295C"/>
                </a:solidFill>
                <a:latin typeface="Arial"/>
              </a:rPr>
              <a:t> — измерено, что часто он не точнее. Три основания, и держатся они по-разному:</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разборе случая оценивают действия человека; вопроса о модели в этой процедуре нет — </a:t>
            </a:r>
            <a:r>
              <a:rPr sz="1500" b="0" i="1">
                <a:solidFill>
                  <a:srgbClr val="21295C"/>
                </a:solidFill>
                <a:latin typeface="Arial"/>
              </a:rPr>
              <a:t>разбор, показывавший это, снят вместе с разделом надзора</a:t>
            </a:r>
          </a:p>
        </p:txBody>
      </p:sp>
      <p:sp>
        <p:nvSpPr>
          <p:cNvPr id="18" name="TextBox 17"/>
          <p:cNvSpPr txBox="1"/>
          <p:nvPr/>
        </p:nvSpPr>
        <p:spPr>
          <a:xfrm>
            <a:off x="6278727" y="3886991"/>
            <a:ext cx="5373471" cy="234921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на 106 опытах знак выигрыша пары зависит от того, какая сторона сильнее; величины у опоры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операцию не отменить задним числом, год наблюдения не переиграть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Норма сформулирована как способность вмешаться — присутствие её не исполняет.</a:t>
            </a:r>
          </a:p>
        </p:txBody>
      </p:sp>
      <p:sp>
        <p:nvSpPr>
          <p:cNvPr id="19" name="Rectangle 18"/>
          <p:cNvSpPr/>
          <p:nvPr/>
        </p:nvSpPr>
        <p:spPr>
          <a:xfrm>
            <a:off x="6091275" y="3886991"/>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и соавт., JAMA Health Forum 2025</a:t>
            </a:r>
            <a:r>
              <a:rPr sz="1200" b="0" i="1">
                <a:solidFill>
                  <a:srgbClr val="1C7293"/>
                </a:solidFill>
                <a:latin typeface="Arial"/>
              </a:rPr>
              <a:t> · </a:t>
            </a:r>
            <a:r>
              <a:rPr sz="1200" b="0" i="1" u="sng">
                <a:solidFill>
                  <a:srgbClr val="065A82"/>
                </a:solidFill>
                <a:latin typeface="Arial"/>
                <a:hlinkClick r:id="rId3"/>
              </a:rPr>
              <a:t>JAMA Network Open 2025,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 отзовут. Решения этого года останутся.</a:t>
            </a:r>
          </a:p>
        </p:txBody>
      </p:sp>
      <p:sp>
        <p:nvSpPr>
          <p:cNvPr id="6" name="Rounded Rectangle 5"/>
          <p:cNvSpPr/>
          <p:nvPr/>
        </p:nvSpPr>
        <p:spPr>
          <a:xfrm>
            <a:off x="502920" y="1370634"/>
            <a:ext cx="1843887" cy="2580330"/>
          </a:xfrm>
          <a:prstGeom prst="roundRect">
            <a:avLst>
              <a:gd name="adj" fmla="val 16530"/>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50779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ОТЗЫВАЕТСЯ</a:t>
            </a:r>
          </a:p>
        </p:txBody>
      </p:sp>
      <p:sp>
        <p:nvSpPr>
          <p:cNvPr id="8" name="TextBox 7"/>
          <p:cNvSpPr txBox="1"/>
          <p:nvPr/>
        </p:nvSpPr>
        <p:spPr>
          <a:xfrm>
            <a:off x="640080" y="1760985"/>
            <a:ext cx="156956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a:t>
            </a:r>
          </a:p>
        </p:txBody>
      </p:sp>
      <p:sp>
        <p:nvSpPr>
          <p:cNvPr id="9" name="TextBox 8"/>
          <p:cNvSpPr txBox="1"/>
          <p:nvPr/>
        </p:nvSpPr>
        <p:spPr>
          <a:xfrm>
            <a:off x="640080" y="2187984"/>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процедура отзыва существует — рядом запись регулятора</a:t>
            </a:r>
          </a:p>
        </p:txBody>
      </p:sp>
      <p:sp>
        <p:nvSpPr>
          <p:cNvPr id="10" name="Rounded Rectangle 9"/>
          <p:cNvSpPr/>
          <p:nvPr/>
        </p:nvSpPr>
        <p:spPr>
          <a:xfrm>
            <a:off x="2511399" y="1370634"/>
            <a:ext cx="1843887" cy="2580330"/>
          </a:xfrm>
          <a:prstGeom prst="roundRect">
            <a:avLst>
              <a:gd name="adj" fmla="val 1653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2648559" y="150779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ОСТАЁТСЯ</a:t>
            </a:r>
          </a:p>
        </p:txBody>
      </p:sp>
      <p:sp>
        <p:nvSpPr>
          <p:cNvPr id="12" name="TextBox 11"/>
          <p:cNvSpPr txBox="1"/>
          <p:nvPr/>
        </p:nvSpPr>
        <p:spPr>
          <a:xfrm>
            <a:off x="2648559" y="1760985"/>
            <a:ext cx="156956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решения за год его работы</a:t>
            </a:r>
          </a:p>
        </p:txBody>
      </p:sp>
      <p:sp>
        <p:nvSpPr>
          <p:cNvPr id="13" name="TextBox 12"/>
          <p:cNvSpPr txBox="1"/>
          <p:nvPr/>
        </p:nvSpPr>
        <p:spPr>
          <a:xfrm>
            <a:off x="2648559" y="2968831"/>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процедуру не переделать, год наблюдения не переиграть</a:t>
            </a:r>
          </a:p>
        </p:txBody>
      </p:sp>
      <p:sp>
        <p:nvSpPr>
          <p:cNvPr id="14" name="Rounded Rectangle 13"/>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a:t>
            </a:r>
            <a:r>
              <a:rPr sz="1200" b="1" i="0">
                <a:solidFill>
                  <a:srgbClr val="21295C"/>
                </a:solidFill>
                <a:latin typeface="Arial"/>
              </a:rPr>
              <a:t>Изделия отзывают: рядом запись регулятора.</a:t>
            </a:r>
            <a:r>
              <a:rPr sz="1200" b="0" i="0">
                <a:solidFill>
                  <a:srgbClr val="21295C"/>
                </a:solidFill>
                <a:latin typeface="Arial"/>
              </a:rPr>
              <a:t> Решения, принятые по устройству за год его работы, вместе с ним не отзываются. </a:t>
            </a:r>
            <a:r>
              <a:rPr sz="1200" b="0" i="1">
                <a:solidFill>
                  <a:srgbClr val="21295C"/>
                </a:solidFill>
                <a:latin typeface="Arial"/>
              </a:rPr>
              <a:t>Как часто это случается, считал разбор, снятый с разделом надзора.</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 отрасль, где ошибку почти всегда можно отменить:</a:t>
            </a:r>
            <a:r>
              <a:rPr sz="1200" b="0" i="0">
                <a:solidFill>
                  <a:srgbClr val="21295C"/>
                </a:solidFill>
                <a:latin typeface="Arial"/>
              </a:rPr>
              <a:t> спор там о принадлежности результата, цена ошибки почти не звучит.</a:t>
            </a:r>
          </a:p>
        </p:txBody>
      </p:sp>
      <p:sp>
        <p:nvSpPr>
          <p:cNvPr id="16" name="Rectangle 15"/>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и соавт., JAMA Health Forum 2025, срез ноябрь 2024</a:t>
            </a:r>
            <a:r>
              <a:rPr sz="1200" b="0" i="1">
                <a:solidFill>
                  <a:srgbClr val="1C7293"/>
                </a:solidFill>
                <a:latin typeface="Arial"/>
              </a:rPr>
              <a:t> · </a:t>
            </a:r>
            <a:r>
              <a:rPr sz="1200" b="0" i="1">
                <a:solidFill>
                  <a:srgbClr val="1C7293"/>
                </a:solidFill>
                <a:latin typeface="Arial"/>
              </a:rPr>
              <a:t>База отзывов изделий FDA, запись Z-2111-2021, октябрь 2026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для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Не измерена ни одна — «человек проверяет»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чтения.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принятое без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контур — какую одну проверку сделали бы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