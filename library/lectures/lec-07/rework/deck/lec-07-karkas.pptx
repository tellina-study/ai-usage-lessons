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doi.org/10.2196/94450" TargetMode="External"/><Relationship Id="rId4" Type="http://schemas.openxmlformats.org/officeDocument/2006/relationships/hyperlink" Target="https://doi.org/10.1056/NEJMoa180471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38/s41467-023-44676-z"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www.accessdata.fda.gov/cdrh_docs/pdf18/DEN180001.pdf"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38/s42256-021-00307-0"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arxiv.org/abs/1711.05225"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45/3313831.3376718"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45/3313831.3376718"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adv.abq6147"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126/science.aax2342"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126/science.aax2342"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8/radiol.2525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48/radiol.252590"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48/radiol.243688"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38/s41746-020-0232-8"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01/jamanetworkopen.2024.40969"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01/jamanetworkopen.2024.40969"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networkopen.2021.35286"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93/jamia/ocad118"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93/jamia/ocad118"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gie.2014.07.058"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metr.org/blog/2026-02-24-uplift-update/"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doi.org/10.1016/S2468-1253%2825%2900133-5"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go.bio.org/rs/490-EHZ-999/images/ClinicalDevelopmentSuccessRates2011_2020.pdf"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01/jamahealthforum.2025.3172"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вверх по течению от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**Контингент.**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**Знаменатель.**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**Рабочая точка.** Порог, за которым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семь и они дают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Приглашение по регистру населения — случай, когда данных о человеке ещё нет и его зовут по формальному признаку: возраст, пол, интервал с прошлого обследования.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одной рабочей точки, и рабочую точку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 здесь две, и вторая такая же содержательная, как первая. Та, где модель стоит, — четыре клетки курсовой сетки, и названы они режимом работы. Торговых имён здесь нет намеренно: режим один, реализаций у него много, и разницу в результате делает устройство процедуры вокруг, не марка.</a:t>
            </a:r>
          </a:p>
          <a:p>
            <a:r>
              <a:t/>
            </a:r>
          </a:p>
          <a:p>
            <a:r>
              <a:t>Первая клетка — распознавание на изображении. Работа: скрининговое чтение снимков и чтение исследований. Режим двойной: модель встаёт вторым читателем вместо человека либо сортирует поток по предсказанному риску, после чего человек читает отобранное. Удерживают цену ошибки здесь двойное чтение, арбитраж при расхождении, порог вмешательства и пересчёт доли верных тревог под местную распространённость болезни.</a:t>
            </a:r>
          </a:p>
          <a:p>
            <a:r>
              <a:t/>
            </a:r>
          </a:p>
          <a:p>
            <a:r>
              <a:t>Вторая клетка — прогноз на структурированных данных. Работа: раннее предупреждение в стационаре и оценка риска перед вмешательством. Режим — предупреждение, встроенное в медицинскую информационную систему поставщиком; отдельной закупки оно не требует и расходится вместе с системой. Удерживают цену ошибки разбор ложных тревог как статья рабочего времени, заранее утверждённый план изменений модели и передача регулятору данных о работе изделия. Чего режим не умеет: назначить себе порог тревоги. Порог назначает организация, и цена ложной тревоги ложится на рабочее время.</a:t>
            </a:r>
          </a:p>
          <a:p>
            <a:r>
              <a:t/>
            </a:r>
          </a:p>
          <a:p>
            <a:r>
              <a:t>Третья клетка — поиск и генерация на тексте. Работа: запись приёма и выписной эпикриз. Принимается этот режим массово и быстрее всех остальных, и принимается он именно как черновик: текст пишется быстрее, обязательная вычитка остаётся. Удерживают цену ошибки вычитка и подпись врача, разбор случая и границы допуска по заявленному назначению.</a:t>
            </a:r>
          </a:p>
          <a:p>
            <a:r>
              <a:t/>
            </a:r>
          </a:p>
          <a:p>
            <a:r>
              <a:t>Четвёртая клетка — генерация структуры: молекула под выбранную мишень, дизайн белка. Удерживают цену ошибки доклиника и фазы испытаний на людях, то есть процедура, которой в клиническом контуре нет вовсе.</a:t>
            </a:r>
          </a:p>
          <a:p>
            <a:r>
              <a:t/>
            </a:r>
          </a:p>
          <a:p>
            <a:r>
              <a:t>Теперь вторая половина.</a:t>
            </a:r>
          </a:p>
          <a:p>
            <a:r>
              <a:t/>
            </a:r>
          </a:p>
          <a:p>
            <a:r>
              <a:t>Пятая клетка сетки пуста, и пуста она содержательно. Процедуры, которая измеряла бы результат исполнителя с выключенным инструментом, не существует ни в одной юрисдикции. Ни одна из четырёх процедур выше её не закрывает: двойное чтение считает находки при включённом контуре, разбор ложных тревог считает поток подсказок, вычитка проверяет машинный текст, воронка испытаний проверяет молекулу. Ни одна не измеряет, что стало с человеком, когда инструмент выключили. Записать в эту клетку переаттестацию нельзя — такой процедуры нет; убрать строку тоже нельзя, потому что таблица из четырёх занятых клеток читается как «на всё есть процедура», и это неправда. Одной фразой: четыре процедуры удерживают цену ошибки, пока модель включена; что происходит с человеком, когда её выключают, не измеряет никто.</a:t>
            </a:r>
          </a:p>
          <a:p>
            <a:r>
              <a:t/>
            </a:r>
          </a:p>
          <a:p>
            <a:r>
              <a:t>Вторая пустота — в оперативной помощи. Там измерены и точность на отобранных кадрах, и качество работы хирурга, и автономный шаг на животных — а пациенту обученная модель в операционной пока не показала ничего: испытания с клиническими исходами только проектируются.</a:t>
            </a:r>
          </a:p>
          <a:p>
            <a:r>
              <a:t/>
            </a:r>
          </a:p>
          <a:p>
            <a:r>
              <a:t>Третья пустота стоит в конце пути одного решения. Пришёл результат обследования, по нему назначено лечение, по назначению проведена операция, человек живёт дальше с её последствиями. Первые три шага разобраны; у четвёртого нет ни одного измерения: долгосрочный исход человека после решения, принятого с участием модели, не измерен ни в одной работе. Такого замера не нашлось ни по одной из четырёх занятых клеток.</a:t>
            </a:r>
          </a:p>
          <a:p>
            <a:r>
              <a:t/>
            </a:r>
          </a:p>
          <a:p>
            <a:r>
              <a:t>Четвёртое место — выигравшая процедура, внутри которой модели не нашлось. Составление графика смен медсестёр делалось руками и съедало дни старшей сестры. Алгоритмическое планирование сократило время на составление графика с тридцати двух часов в месяц до шести. Первый вопрос к этому случаю тот же, что ко всем: обученная модель ли это? Ответ отрицательный, и в этом содержание случая. Составление графика — задача комбинаторной оптимизации с ограничениями: нормы отдыха, квалификации, заявки на отпуск и минимальный состав дежурства задают систему условий, которую решает целочисленное программирование. Проверка «уберите модель» ответа не меняет: убирать нечего. Границу выигрыша надо назвать: он относится к организации труда, решение о человеке здесь не принимается, ошибка в графике исправляется до начала смены и никому не стоит здоровья.</a:t>
            </a:r>
          </a:p>
          <a:p>
            <a:r>
              <a:t/>
            </a:r>
          </a:p>
          <a:p>
            <a:r>
              <a:t>Пятое место. Задачу «кого можно не лечить» при раннем раке молочной железы в опубликованном виде решила статистическая формула по двадцати одному гену: активность генов в образце опухоли подставляется в выражение с фиксированными коэффициентами, на выходе — балл. Нейросети в ней нет. Измерено это проспективным рандомизированным испытанием, на высшей ступени замера — исход пациента. Оговорка обязательна: у женщин пятидесяти лет и младше с баллом в верхней части промежуточного диапазона выигрыш от химиотерапии всё-таки был, и один агрегированный балл не читается одинаково во всех подгруппах.</a:t>
            </a:r>
          </a:p>
          <a:p>
            <a:r>
              <a:t/>
            </a:r>
          </a:p>
          <a:p>
            <a:r>
              <a:t>Итог по типам задач. Первичное грубое распознавание и черновик текста работают. Точная постановка диагноза и ответственное решение о человеке — нет.</a:t>
            </a:r>
          </a:p>
          <a:p>
            <a:r>
              <a:t/>
            </a:r>
          </a:p>
          <a:p>
            <a:r>
              <a:t>**Источники.** </a:t>
            </a:r>
            <a:r>
              <a:rPr u="sng">
                <a:solidFill>
                  <a:srgbClr val="065A82"/>
                </a:solidFill>
                <a:hlinkClick r:id="rId3"/>
              </a:rPr>
              <a:t>Shia и соавт., JMIR Nursing 2026</a:t>
            </a:r>
            <a:r>
              <a:t> · </a:t>
            </a:r>
            <a:r>
              <a:rPr u="sng">
                <a:solidFill>
                  <a:srgbClr val="065A82"/>
                </a:solidFill>
                <a:hlinkClick r:id="rId4"/>
              </a:rPr>
              <a:t>Sparano и соавт., New England Journal of Medicine 2018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вечер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весь вечер: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Bertin, Frappier, 2019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и у перестановки нет варианта, при котором она работает.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Допуск, надзор и ответственность — это процедура: двойное чтение, арбитраж, подпись, норматив; она стоит вокруг всех пяти сразу, отдельным шагом её не поставить. Профессиональная квалификация, её поддержание и износ, — замер по самому человеку: что сделалось с его вниманием, навыком и готовностью возразить; шаг работы такого замера не показывает. Разработка лекарственных средств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Собирается сетка один раз — в сборке, где все восемь разделов стоят рядом и короткие имена разобранных случаев вписываются в клетки разом. Раздельных карт по стадиям вечер не показывает: карта, в которой от раздела к разделу меняется одна клетка, восемь раз повторяет то, что обзор уже сказал в одном месте.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лечения разобрано в главе и со сцены сегодня не идёт: разбора, у которого обе половины измерены в сопоставимых единицах, на нём не нашлось. Из оперативной помощи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разбирали одни и те же клинические случаи,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Goh и соавт., JAMA Network Open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 прочерк.</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этот прочерк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Это прочерк, и он называется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и допущение это стоит назвать вслух: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регистру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контингент: смотреть можно только того, кто попал в поле зрения, и человека, которого не позвали, не видит ни одна система, какой бы точной она ни была. Вторая — знаменатель: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рабочая точка: порог, за которым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вечер начался,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вечер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и три недели эти платит человек.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рабочая точка.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одной рабочей точки. Выбирает рабочую точку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Первый классический режим — контроль годности измерения. Техник ставит человека к прибору, снимает, смотрит на экран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одной рабочей точке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На слайде шесть действий стоят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Ни в одном из трёх разборов не провалилось само чтение.</a:t>
            </a:r>
          </a:p>
          <a:p>
            <a:r>
              <a:t/>
            </a:r>
          </a:p>
          <a:p>
            <a:r>
              <a:t>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главное, что стоит унести из раздела: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разбора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 Карта задачи и данных, которая идёт следом, добавляет к этому своё: раздел занял в ней одну новую клетку, а два разбора из трёх легли туда, где уже стоял прошлый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четырёх выйдет на экран под этим заголовком, и зеркало тоже. После четвёртого разбора раздел закрывают два кадра: правило, собранное из ста шести опытов, и вывод стадии. Сетка «задача × вид данных» в разделах не рисуется — она собирается один раз, в сборке, по всем разделам сразу.</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постановкой диагноза, и граница между ней и предыдущей проходит по подписи: пока измеряет и обрабатывает машина, это диагностика; как только заключение выносит человек, это постановка диагноза. Ни модальность данных, ни сложность алгоритма эту границу не задают.</a:t>
            </a:r>
          </a:p>
          <a:p>
            <a:r>
              <a:t/>
            </a:r>
          </a:p>
          <a:p>
            <a:r>
              <a:t>Данные здесь не новые, а собранные. Жалобы — то, что человек рассказал. Анамнез — то, что с ним было раньше. Осмотр — то, что врач увидел и прощупал руками. И результаты исследований, пришедшие с предыдущей стадии. Несущее слово — «вместе»: ни одна из четырёх частей по отдельности диагноза не даёт, и работа стадии состоит именно в том, чтобы сложить их в одну картину. Вопрос на этих данных один: какая болезнь объясняет наблюдаемое и какую проверку назначить следующей.</a:t>
            </a:r>
          </a:p>
          <a:p>
            <a:r>
              <a:t/>
            </a:r>
          </a:p>
          <a:p>
            <a:r>
              <a:t>Способов получить такие данные четыре. Приём у врача — основной: он даёт жалобы, анамнез и осмотр, то есть то, чего ни один прибор не снимает. Разбор уже имеющихся документов карты извлекает из написанного и нового измерения не добавляет. Консилиум — случай, когда один случай смотрят несколько специалистов сразу, и каждый приносит свою область. Телемедицинская консультация переносит ту же работу туда, где нужного специалиста нет.</a:t>
            </a:r>
          </a:p>
          <a:p>
            <a:r>
              <a:t/>
            </a:r>
          </a:p>
          <a:p>
            <a:r>
              <a:t>Решение, которое принимает стадия, — диагноз, который формулируют и подписывают. За ним следует назначение лечения, и здесь стоит произнести вслух цену отката: назначение отменяют, пока его не выполнили, а проведённую операцию и месяцы, потерянные на неверном лечении, не отменяет ничто.</a:t>
            </a:r>
          </a:p>
          <a:p>
            <a:r>
              <a:t/>
            </a:r>
          </a:p>
          <a:p>
            <a:r>
              <a:t>Теперь почему стадия стоит именно здесь, после измерений и до назначения. Она замыкает круг, начатый раньше: список болезней, способных объяснить наблюдаемое, составляют до исследования, а вычёркивают после него. Работа эта называется дифференциальным диагнозом и состоит из двух движений, повторяющихся по кругу: выписать болезни и назначить проверку, которая их между собой различит. Женщина тридцати четырёх лет приходит с кашлем, который держится три недели, вечерней температурой и потерей четырёх килограммов. Список на первом приёме: затяжной бронхит после инфекции — частая причина, потому стоит первым; туберкулёз — картина классическая, а пропустить его дорого; лимфома — те же два признака, прочитанные иначе; системное поражение лёгких — реже, но ложится сюда же. Назначены обзорный снимок и анализ крови с воспалительными показателями: сначала то, что стоит мало и отсекает много. Через два дня бронхит снят — на снимке изменения в верхней доле, которых при бронхите не бывает; системное снято спокойными показателями. Осталось два диагноза, которые по снимку не различаются, и решает их посев мокроты — три недели ожидания.</a:t>
            </a:r>
          </a:p>
          <a:p>
            <a:r>
              <a:t/>
            </a:r>
          </a:p>
          <a:p>
            <a:r>
              <a:t>В этом примере видно, чем клиническая версия перебора гипотез жёстче инженерной. Часть проверок сама опасна или дорога, поэтому порядок проверок становится отдельным решением, которое приходится обосновывать. И видна ошибка, у которой нет следа: выбрать неверно из списка — ошибка, которую заметят, потому что придёт результат проверки и не совпадёт с ожиданием; не вписать в список то, что должно было там стоять, никто не заметит, потому что проверки, которая бы это нашла, не назначит никто.</a:t>
            </a:r>
          </a:p>
          <a:p>
            <a:r>
              <a:t/>
            </a:r>
          </a:p>
          <a:p>
            <a:r>
              <a:t>И как решение принимают без обученной модели. Первый режим — тот самый дифференциальный диагноз в два движения. Второй — второе мнение: заключение по тому же случаю от того, кто первого заключения не видел, и вся работа этого определения держится на второй половине. Как только второй читатель видит вывод первого, два мнения перестают быть двумя: второй начинает отвечать на вопрос «согласен ли я», а это другая задача и другая доля ошибок. Третий — консилиум. Четвёртый — клинические рекомендации, то есть записанный и опубликованный порядок действий при названной картине. Все четыре придуманы до всякой автоматики и ради одного: чтобы ошибка одного человека не стала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На слайде семь действий стоят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и прочерк на этом месте честнее числа.</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вечера.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это прочерк, а не умолчание: он называется здесь, рядом с собственными числами, тем же приёмом, которым лекция требует базу у чужих.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Два кадра до него разбором не считаются: первый — подача стадии, шесть действий дежурной смены без всякой модели; второй — классический режим, балльная шкала, которую модель застала на этом месте. Дальше идёт цена обеих ошибок, потом счёт обоих классических режимов в той же единице. И только после этого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Изделие называется своим именем: это модель сепсиса, встроенная в медицинскую информационную систему Epic. Вход — показатели и записи, которые уже лежат в карте, читаемые непрерывно; выход — балл риска и прерывающая тревога с готовым набором назначений в один щелчок. Класс модели — штрафованная логистическая регрессия, то есть обученная статистика, а не глубокая сеть. Обучена она на данных пациентов — так пишет разработчик; объём обучающей выборки он построчно не подтверждает, и поэтому числа обучающей выборки на кадре нет.</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Карту задачи и данных держит отдельный кадр, и на нём видно главное: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 то, чего в заключении не написали, следующий читатель не восстановит, а то, что написали лишнего, он примет за найденное.</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Про устройство здесь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запись приёма в фоне делают Abridge, Dragon Copilot, Nabla, Heidi.</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Второй шаг формы назовём до чисел. Классических режимов на этом месте работало два. Первый — лечащий врач пишет эпикриз сам; он посчитан ниже и служит базой всех сравнений. Второй — черновик, подготовленный ординатором или младшим врачом под подпись лечащего: та же работа, другая рука, и в учебных клиниках она чаще всего делается именно так. Этот режим назван и не посчитан: отдельным плечом его не выделяла ни одна из трёх работ, то есть сравнения «модель против ординатора» на этом материале нет. Называть его обязательно по той же причине, по которой считают первый: сравнение с дорогим вариантом завышает выигрыш по времени, сравнение с дешёвым — завышает выигрыш по качеству.</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собирается одним числом, и число это маленькое — поэтому оно и стоит крупно.</a:t>
            </a:r>
          </a:p>
          <a:p>
            <a:r>
              <a:t/>
            </a:r>
          </a:p>
          <a:p>
            <a:r>
              <a:t>Девять с половиной процентов времени в заметке — вся экономия, которую на этой стадии удалось измерить. Устройство замера надо назвать целиком, иначе число прочтётся сильнее, чем оно есть. Испытание рандомизированное: двести тридцать восемь врачей четырнадцати специальностей, три равные группы, два разных продукта одного режима и контрольная группа без всякого инструмента. Один продукт дал девять с половиной процентов, второй — ноль. Дизайн один, население врачей одно, разница между результатами — сам продукт. Отсюда вывод, который переносится на любую закупку: измеренный эффект принадлежит реализации, а не классу инструмента, и фраза «мы внедрили автоматическую запись приёма» о величине эффекта не говорит ничего.</a:t>
            </a:r>
          </a:p>
          <a:p>
            <a:r>
              <a:t/>
            </a:r>
          </a:p>
          <a:p>
            <a:r>
              <a:t>Рядом стоит величина, без которой первая не читается: в контрольной группе, где не внедряли ничего, время в заметке за то же окно снизилось на восемнадцать секунд. Всякое «после внедрения стало быстрее» считают против этой величины, а не против нуля.</a:t>
            </a:r>
          </a:p>
          <a:p>
            <a:r>
              <a:t/>
            </a:r>
          </a:p>
          <a:p>
            <a:r>
              <a:t>Активное время правки не изменилось ни у одного из двух инструментов, и это то, что стадия сообщает прежде остального. Набор текста действительно сократился, и сократилось то, что мучило больше всего: держать структуру будущей записи в голове, пока перед тобой говорит живой человек. Но на место набора встала вычитка чужого текста, и она измерена отдельно. Это форма первая — нагрузка переехала на другой шаг. А рядом появилась работа, которой в процессе не было вовсе: выборочный контроль заметок, и у него постоянный штат — свыше трёх тысяч шестисот прочитанных отзывов и тысяча двести пятьдесят две анкеты в отчёте одной клиники. Это форма третья, шаг появился.</a:t>
            </a:r>
          </a:p>
          <a:p>
            <a:r>
              <a:t/>
            </a:r>
          </a:p>
          <a:p>
            <a:r>
              <a:t>Теперь про заявленную экономию, и её стоит отделить от измеренной жёстко. Пятнадцать тысяч семьсот девяносто один час на шестьдесят три тысячи приёмов — это около четверти часа на приём, при том что вся работа над заметкой занимает около четырёх минут. Методика счёта не раскрыта, и значит число не проверяется и не опровергается: утверждением о мире оно не является. Заявление и измерение здесь посчитаны в разных величинах — время в карте вообще против времени в заметке, — и складывать их нельзя.</a:t>
            </a:r>
          </a:p>
          <a:p>
            <a:r>
              <a:t/>
            </a:r>
          </a:p>
          <a:p>
            <a:r>
              <a:t>Полнота — третье утверждение стадии. Машинный документ короче и связнее человеческого и при этом менее полон: три целых семьдесят две сотых против четырёх целых тринадцати. Ошибок в нём больше — две целых девяносто одна против одной целой восьмидесяти двух, — а потенциал вреда отдельной ошибки тот же. Отсюда форма седьмая: цена ошибки сместилась. Прежний глаз настроен на опечатку и на пропущенную строку; искать теперь надо связное, уместное по стилю утверждение, которого в истории болезни не было. Это другое чтение, и прежний навык на него не переносится.</a:t>
            </a:r>
          </a:p>
          <a:p>
            <a:r>
              <a:t/>
            </a:r>
          </a:p>
          <a:p>
            <a:r>
              <a:t>Держат стадию две вещи: вычитка с подписью врача и тот же выборочный контроль. И один прочерк, который надо произнести вслух: вычитке другого рода никто не учит — ни в ординатуре, ни на рабочем месте, ни в документации инструмента.</a:t>
            </a:r>
          </a:p>
          <a:p>
            <a:r>
              <a:t/>
            </a:r>
          </a:p>
          <a:p>
            <a:r>
              <a:t>Направление развития режима делает плату больше, и это стоит сказать до следующего раздела: от диктовки под шаблон к записи приёма целиком, а дальше к черновику назначений и кодов — то есть к документу, который что-то запускает. Чем больше документ запускает, тем дороже в нём правдоподобная подробность, которой не было. Под каждым таким документом стоит подпись человека, и когда по документу что-то произойдёт, разбирать будут её.</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называется так: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 первая такая система, разрешённая в США по пути de novo в 2021 году, — CAD EYE от Fujifilm и ENDO-AID CADe от Olympus; в сводных сетевых сравнениях разница между системами мала, и это важнее имён.</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свой разбор есть у четырёх из них, и сказано это на самом кадре.</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первичным скринингом, инструментальной диагностикой и постановкой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Строку эту надо читать так: подпись дорога не потому, что её трудно поставить, а потому, что отказ от неё дороже.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 Ступень эта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 И третье свидетельство, которое объясняет, почему эта ступень самая частая: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стоит прочерк, и он объявлен был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196/94450" TargetMode="External"/><Relationship Id="rId3" Type="http://schemas.openxmlformats.org/officeDocument/2006/relationships/hyperlink" Target="https://doi.org/10.1056/NEJMoa1804710"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igital-transformation.hee.nhs.uk/binaries/content/assets/digital-transformation/dart-ed/understandingconfidenceinai-may22.pdf" TargetMode="External"/><Relationship Id="rId3" Type="http://schemas.openxmlformats.org/officeDocument/2006/relationships/hyperlink" Target="https://doi.org/10.1007/s10278-025-01485-8"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Лекция идёт по пути одного случая: что модель делает с процедурой и с человеком в ней.</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Цикл оказания медицинской помощи: стадии и решение каждой из них</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на обследование</a:t>
            </a:r>
          </a:p>
        </p:txBody>
      </p:sp>
      <p:sp>
        <p:nvSpPr>
          <p:cNvPr id="7" name="Rounded Rectangle 6"/>
          <p:cNvSpPr/>
          <p:nvPr/>
        </p:nvSpPr>
        <p:spPr>
          <a:xfrm>
            <a:off x="5225186" y="1335024"/>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 и чем</a:t>
            </a:r>
          </a:p>
        </p:txBody>
      </p:sp>
      <p:sp>
        <p:nvSpPr>
          <p:cNvPr id="9" name="Rounded Rectangle 8"/>
          <p:cNvSpPr/>
          <p:nvPr/>
        </p:nvSpPr>
        <p:spPr>
          <a:xfrm>
            <a:off x="8530132" y="1335024"/>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1" name="TextBox 10"/>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2" name="Rounded Rectangle 11"/>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в какой дозе</a:t>
            </a:r>
          </a:p>
        </p:txBody>
      </p:sp>
      <p:sp>
        <p:nvSpPr>
          <p:cNvPr id="14" name="Rounded Rectangle 13"/>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6" name="TextBox 15"/>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7" name="Rounded Rectangle 16"/>
          <p:cNvSpPr/>
          <p:nvPr/>
        </p:nvSpPr>
        <p:spPr>
          <a:xfrm>
            <a:off x="1920240" y="3529013"/>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74733"/>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вмешиваться сейчас или на обходе</a:t>
            </a:r>
          </a:p>
        </p:txBody>
      </p:sp>
      <p:sp>
        <p:nvSpPr>
          <p:cNvPr id="19" name="Rounded Rectangle 18"/>
          <p:cNvSpPr/>
          <p:nvPr/>
        </p:nvSpPr>
        <p:spPr>
          <a:xfrm>
            <a:off x="6877659" y="3529013"/>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74733"/>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 читатель</a:t>
            </a:r>
          </a:p>
        </p:txBody>
      </p:sp>
      <p:sp>
        <p:nvSpPr>
          <p:cNvPr id="21" name="Rounded Rectangle 20"/>
          <p:cNvSpPr/>
          <p:nvPr/>
        </p:nvSpPr>
        <p:spPr>
          <a:xfrm>
            <a:off x="374904" y="4571144"/>
            <a:ext cx="11441887" cy="1650484"/>
          </a:xfrm>
          <a:prstGeom prst="roundRect">
            <a:avLst>
              <a:gd name="adj" fmla="val 18467"/>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Поперёк всего цикла:</a:t>
            </a:r>
            <a:r>
              <a:rPr sz="1300" b="0" i="0">
                <a:solidFill>
                  <a:srgbClr val="21295C"/>
                </a:solidFill>
                <a:latin typeface="Arial"/>
              </a:rPr>
              <a:t> допуск, надзор и ответственность — процедура вокруг всех стадий; профессиональная квалификация: поддержание и износ — замер по самому человеку. </a:t>
            </a:r>
            <a:r>
              <a:rPr sz="1300" b="1" i="0">
                <a:solidFill>
                  <a:srgbClr val="21295C"/>
                </a:solidFill>
                <a:latin typeface="Arial"/>
              </a:rPr>
              <a:t>Вверх по течению:</a:t>
            </a:r>
            <a:r>
              <a:rPr sz="1300" b="0" i="0">
                <a:solidFill>
                  <a:srgbClr val="21295C"/>
                </a:solidFill>
                <a:latin typeface="Arial"/>
              </a:rPr>
              <a:t> разработка лекарственных средств.</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Контингент.</a:t>
            </a:r>
            <a:r>
              <a:rPr sz="1300" b="0" i="0">
                <a:solidFill>
                  <a:srgbClr val="21295C"/>
                </a:solidFill>
                <a:latin typeface="Arial"/>
              </a:rPr>
              <a:t> Смотреть можно только того, кто попал в поле зрения.</a:t>
            </a:r>
          </a:p>
        </p:txBody>
      </p:sp>
      <p:sp>
        <p:nvSpPr>
          <p:cNvPr id="23" name="TextBox 22"/>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a:t>
            </a:r>
            <a:r>
              <a:rPr sz="1300" b="1" i="0">
                <a:solidFill>
                  <a:srgbClr val="21295C"/>
                </a:solidFill>
                <a:latin typeface="Arial"/>
              </a:rPr>
              <a:t>Знаменатель.</a:t>
            </a:r>
            <a:r>
              <a:rPr sz="1300" b="0" i="0">
                <a:solidFill>
                  <a:srgbClr val="21295C"/>
                </a:solidFill>
                <a:latin typeface="Arial"/>
              </a:rPr>
              <a:t> Доли измерения считаются в группе, которую собрал отбор.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Рабочая точка.</a:t>
            </a:r>
            <a:r>
              <a:rPr sz="1300" b="0" i="0">
                <a:solidFill>
                  <a:srgbClr val="21295C"/>
                </a:solidFill>
                <a:latin typeface="Arial"/>
              </a:rPr>
              <a:t> Порог «болен» назначает протокол под цену исхода.</a:t>
            </a:r>
          </a:p>
        </p:txBody>
      </p:sp>
      <p:sp>
        <p:nvSpPr>
          <p:cNvPr id="24" name="Rectangle 23"/>
          <p:cNvSpPr/>
          <p:nvPr/>
        </p:nvSpPr>
        <p:spPr>
          <a:xfrm>
            <a:off x="6091275" y="4662584"/>
            <a:ext cx="9144" cy="1376164"/>
          </a:xfrm>
          <a:prstGeom prst="rect">
            <a:avLst/>
          </a:prstGeom>
          <a:solidFill>
            <a:srgbClr val="D9E2EC"/>
          </a:solidFill>
          <a:ln>
            <a:noFill/>
          </a:ln>
          <a:effectLst/>
        </p:spPr>
        <p:txBody>
          <a:bodyPr rtlCol="0" anchor="ctr"/>
          <a:lstStyle/>
          <a:p>
            <a:pPr algn="ctr"/>
          </a:p>
        </p:txBody>
      </p:sp>
      <p:sp>
        <p:nvSpPr>
          <p:cNvPr id="25" name="Rectangle 24"/>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получают данные о человеке и как решают без модели</a:t>
            </a:r>
          </a:p>
        </p:txBody>
      </p:sp>
      <p:sp>
        <p:nvSpPr>
          <p:cNvPr id="4" name="Rounded Rectangle 3"/>
          <p:cNvSpPr/>
          <p:nvPr/>
        </p:nvSpPr>
        <p:spPr>
          <a:xfrm>
            <a:off x="374904" y="1243584"/>
            <a:ext cx="11441887" cy="4699875"/>
          </a:xfrm>
          <a:prstGeom prst="roundRect">
            <a:avLst>
              <a:gd name="adj" fmla="val 648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получают данные о человеке:</a:t>
            </a:r>
            <a:r>
              <a:rPr sz="1500" b="0" i="0">
                <a:solidFill>
                  <a:srgbClr val="21295C"/>
                </a:solidFill>
                <a:latin typeface="Arial"/>
              </a:rPr>
              <a:t> приём у врача · инструментальное исследование — снимок, томограмма, эндоскопия · лабораторный анализ · удалённое исследование, когда снимают в одном месте, а читают в другом · разбор уже имеющихся документов карты · приглашение по регистру населения, когда программа зовёт сама · измерения, которые пациент снимает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Двойное чтение: двое читают снимок, не видя заключения друг друга. Арбитраж: третий читатель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Пара «чувствительность и специфичность» при одной рабочей точке, которую назначил протокол.</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Дифференциальный диагноз в два движения по кругу: выписать болезни, объясняющие наблюдаемое, и назначить проверку, которая их различит. Второе мнение, консилиум, клинические рекомендации.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Шкала раннего предупреждения: баллы за отклонение каждой величины, сумма, порог эскалации — вызова старшего.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Структура записи: жалобы, анамнез, осмотр, диагноз, план. Вычитка и подпись. Выписной эпикриз для следующего стационара.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Разбор случая после исхода и изменение порядка работы по его итогам.</a:t>
            </a:r>
          </a:p>
        </p:txBody>
      </p:sp>
      <p:sp>
        <p:nvSpPr>
          <p:cNvPr id="7" name="Rectangle 6"/>
          <p:cNvSpPr/>
          <p:nvPr/>
        </p:nvSpPr>
        <p:spPr>
          <a:xfrm>
            <a:off x="6091275" y="1335024"/>
            <a:ext cx="9144" cy="44255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обученная модель в цикле стоит сегодня и где её нет</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ВРЕМЯ НА ГРАФИК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внутри планировщика нет</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«КОГО МОЖНО НЕ ЛЕЧИТЬ» РЕШИЛА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формула по 21 гену</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нейросети в ней нет</a:t>
            </a:r>
          </a:p>
        </p:txBody>
      </p:sp>
      <p:sp>
        <p:nvSpPr>
          <p:cNvPr id="12" name="Rounded Rectangle 11"/>
          <p:cNvSpPr/>
          <p:nvPr/>
        </p:nvSpPr>
        <p:spPr>
          <a:xfrm>
            <a:off x="502920" y="2683657"/>
            <a:ext cx="5437479" cy="3039065"/>
          </a:xfrm>
          <a:prstGeom prst="roundRect">
            <a:avLst>
              <a:gd name="adj" fmla="val 1002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 четыре клетки сетки курса</a:t>
            </a:r>
          </a:p>
        </p:txBody>
      </p:sp>
      <p:sp>
        <p:nvSpPr>
          <p:cNvPr id="14" name="TextBox 13"/>
          <p:cNvSpPr txBox="1"/>
          <p:nvPr/>
        </p:nvSpPr>
        <p:spPr>
          <a:xfrm>
            <a:off x="667512" y="3195284"/>
            <a:ext cx="5108295" cy="237199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распознавание на изображении — скрининг и чтение исследований: модель вторым читателем либо сортировка потока по риску</a:t>
            </a:r>
          </a:p>
          <a:p>
            <a:pPr algn="l">
              <a:lnSpc>
                <a:spcPct val="126000"/>
              </a:lnSpc>
            </a:pPr>
            <a:r>
              <a:rPr sz="1300" b="0" i="0">
                <a:solidFill>
                  <a:srgbClr val="21295C"/>
                </a:solidFill>
                <a:latin typeface="Arial"/>
              </a:rPr>
              <a:t>• прогноз на структурированных данных — раннее предупреждение в стационаре, оценка риска перед вмешательством</a:t>
            </a:r>
          </a:p>
          <a:p>
            <a:pPr algn="l">
              <a:lnSpc>
                <a:spcPct val="126000"/>
              </a:lnSpc>
            </a:pPr>
            <a:r>
              <a:rPr sz="1300" b="0" i="0">
                <a:solidFill>
                  <a:srgbClr val="21295C"/>
                </a:solidFill>
                <a:latin typeface="Arial"/>
              </a:rPr>
              <a:t>• поиск и генерация на тексте — запись приёма и выписной эпикриз, принимается как черновик под вычитку</a:t>
            </a:r>
          </a:p>
          <a:p>
            <a:pPr algn="l">
              <a:lnSpc>
                <a:spcPct val="126000"/>
              </a:lnSpc>
            </a:pPr>
            <a:r>
              <a:rPr sz="1300" b="0" i="0">
                <a:solidFill>
                  <a:srgbClr val="21295C"/>
                </a:solidFill>
                <a:latin typeface="Arial"/>
              </a:rPr>
              <a:t>• генерация структуры — молекула под мишень, дизайн белка</a:t>
            </a:r>
          </a:p>
        </p:txBody>
      </p:sp>
      <p:sp>
        <p:nvSpPr>
          <p:cNvPr id="15" name="Rounded Rectangle 14"/>
          <p:cNvSpPr/>
          <p:nvPr/>
        </p:nvSpPr>
        <p:spPr>
          <a:xfrm>
            <a:off x="6251295" y="2683657"/>
            <a:ext cx="5437479" cy="3039065"/>
          </a:xfrm>
          <a:prstGeom prst="roundRect">
            <a:avLst>
              <a:gd name="adj" fmla="val 10029"/>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 пятая клетка и прочерки</a:t>
            </a:r>
          </a:p>
        </p:txBody>
      </p:sp>
      <p:sp>
        <p:nvSpPr>
          <p:cNvPr id="17" name="TextBox 16"/>
          <p:cNvSpPr txBox="1"/>
          <p:nvPr/>
        </p:nvSpPr>
        <p:spPr>
          <a:xfrm>
            <a:off x="6415887" y="3195284"/>
            <a:ext cx="5108295" cy="237199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результат исполнителя с выключенным инструментом: такой процедуры нет ни в одной юрисдикции</a:t>
            </a:r>
          </a:p>
          <a:p>
            <a:pPr algn="l">
              <a:lnSpc>
                <a:spcPct val="126000"/>
              </a:lnSpc>
            </a:pPr>
            <a:r>
              <a:rPr sz="1300" b="0" i="0">
                <a:solidFill>
                  <a:srgbClr val="21295C"/>
                </a:solidFill>
                <a:latin typeface="Arial"/>
              </a:rPr>
              <a:t>• пациенту в операционной обученная модель пока не показала ничего</a:t>
            </a:r>
          </a:p>
          <a:p>
            <a:pPr algn="l">
              <a:lnSpc>
                <a:spcPct val="126000"/>
              </a:lnSpc>
            </a:pPr>
            <a:r>
              <a:rPr sz="1300" b="0" i="0">
                <a:solidFill>
                  <a:srgbClr val="21295C"/>
                </a:solidFill>
                <a:latin typeface="Arial"/>
              </a:rPr>
              <a:t>• долгосрочный исход человека после решения с моделью не измерен ни разу</a:t>
            </a:r>
          </a:p>
          <a:p>
            <a:pPr algn="l">
              <a:lnSpc>
                <a:spcPct val="126000"/>
              </a:lnSpc>
            </a:pPr>
            <a:r>
              <a:rPr sz="1300" b="0" i="0">
                <a:solidFill>
                  <a:srgbClr val="21295C"/>
                </a:solidFill>
                <a:latin typeface="Arial"/>
              </a:rPr>
              <a:t>• планирование смен медсестёр выиграло, и модели внутри него не нашлось</a:t>
            </a:r>
          </a:p>
          <a:p>
            <a:pPr algn="l">
              <a:lnSpc>
                <a:spcPct val="126000"/>
              </a:lnSpc>
            </a:pPr>
            <a:r>
              <a:rPr sz="1300" b="0" i="0">
                <a:solidFill>
                  <a:srgbClr val="21295C"/>
                </a:solidFill>
                <a:latin typeface="Arial"/>
              </a:rPr>
              <a:t>• «кого можно не лечить» решила статистическая формула</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Первичное грубое распознавание и черновик текста работают. Точная постановка диагноза и ответственное решение о человеке — нет.</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Shia B. C. и соавт., JMIR Nursing 2026</a:t>
            </a:r>
            <a:r>
              <a:rPr sz="1200" b="0" i="1">
                <a:solidFill>
                  <a:srgbClr val="1C7293"/>
                </a:solidFill>
                <a:latin typeface="Arial"/>
              </a:rPr>
              <a:t> · </a:t>
            </a:r>
            <a:r>
              <a:rPr sz="1200" b="0" i="1" u="sng">
                <a:solidFill>
                  <a:srgbClr val="065A82"/>
                </a:solidFill>
                <a:latin typeface="Arial"/>
                <a:hlinkClick r:id="rId3"/>
              </a:rPr>
              <a:t>Sparano J. A. и соавт., New England Journal of Medicine 2018;379(2):111–121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 ИМЕННО ЕЁ</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назначен документом</a:t>
            </a:r>
          </a:p>
        </p:txBody>
      </p:sp>
      <p:sp>
        <p:nvSpPr>
          <p:cNvPr id="8" name="Rounded Rectangle 7"/>
          <p:cNvSpPr/>
          <p:nvPr/>
        </p:nvSpPr>
        <p:spPr>
          <a:xfrm>
            <a:off x="3340531"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 СЕГОДНЯ</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в браузере, без допуска и без денег</a:t>
            </a:r>
          </a:p>
        </p:txBody>
      </p:sp>
      <p:sp>
        <p:nvSpPr>
          <p:cNvPr id="12" name="Rounded Rectangle 11"/>
          <p:cNvSpPr/>
          <p:nvPr/>
        </p:nvSpPr>
        <p:spPr>
          <a:xfrm>
            <a:off x="6178143"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 РЕШЕНИЕМ О НЕЙ СТОИТ ПОДПИСЬ</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того, кто посмотрит вторым</a:t>
            </a:r>
          </a:p>
        </p:txBody>
      </p:sp>
      <p:sp>
        <p:nvSpPr>
          <p:cNvPr id="15" name="TextBox 14"/>
          <p:cNvSpPr txBox="1"/>
          <p:nvPr/>
        </p:nvSpPr>
        <p:spPr>
          <a:xfrm>
            <a:off x="6315303"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передана заранее и бесплатно</a:t>
            </a:r>
          </a:p>
        </p:txBody>
      </p:sp>
      <p:sp>
        <p:nvSpPr>
          <p:cNvPr id="16" name="Rounded Rectangle 15"/>
          <p:cNvSpPr/>
          <p:nvPr/>
        </p:nvSpPr>
        <p:spPr>
          <a:xfrm>
            <a:off x="9015755"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ЭТОЙ ПОДПИСИ ПРИ ДОПУСКЕ ПРОВЕРЯЛИ</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56 изделий из 717</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срез июнь 2024</a:t>
            </a:r>
          </a:p>
        </p:txBody>
      </p:sp>
      <p:sp>
        <p:nvSpPr>
          <p:cNvPr id="20" name="Rounded Rectangle 19"/>
          <p:cNvSpPr/>
          <p:nvPr/>
        </p:nvSpPr>
        <p:spPr>
          <a:xfrm>
            <a:off x="374904" y="3580535"/>
            <a:ext cx="11441887" cy="2590960"/>
          </a:xfrm>
          <a:prstGeom prst="roundRect">
            <a:avLst>
              <a:gd name="adj" fmla="val 1176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Женщине пятьдесят четыре года, она ничего не чувствует и ни на что не жаловалась.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200" b="0" i="0">
                <a:solidFill>
                  <a:srgbClr val="21295C"/>
                </a:solidFill>
                <a:latin typeface="Arial"/>
              </a:rPr>
              <a:t/>
            </a:r>
            <a:r>
              <a:rPr sz="1200" b="1" i="0">
                <a:solidFill>
                  <a:srgbClr val="21295C"/>
                </a:solidFill>
                <a:latin typeface="Arial"/>
              </a:rPr>
              <a:t>Решается про неё одно: есть на снимке находка или нет.</a:t>
            </a:r>
            <a:r>
              <a:rPr sz="1200" b="0" i="0">
                <a:solidFill>
                  <a:srgbClr val="21295C"/>
                </a:solidFill>
                <a:latin typeface="Arial"/>
              </a:rPr>
              <a:t> Пропустили — лечить будут позже и хуже. Позвали лишнего — биопсия и недели с открытым вопросом.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Смотрит её снимок первым уже не обязательно человек.</a:t>
            </a:r>
            <a:r>
              <a:rPr sz="1200" b="0" i="0">
                <a:solidFill>
                  <a:srgbClr val="21295C"/>
                </a:solidFill>
                <a:latin typeface="Arial"/>
              </a:rPr>
              <a:t> Страница в браузере, три секунды, профиль по восемнадцати патологиям — и строка </a:t>
            </a:r>
            <a:r>
              <a:rPr sz="1200" b="1" i="0">
                <a:solidFill>
                  <a:srgbClr val="21295C"/>
                </a:solidFill>
                <a:latin typeface="Arial"/>
              </a:rPr>
              <a:t>«не для диагностики»</a:t>
            </a:r>
            <a:r>
              <a:rPr sz="1200" b="0" i="0">
                <a:solidFill>
                  <a:srgbClr val="21295C"/>
                </a:solidFill>
                <a:latin typeface="Arial"/>
              </a:rPr>
              <a:t>.</a:t>
            </a:r>
          </a:p>
        </p:txBody>
      </p:sp>
      <p:sp>
        <p:nvSpPr>
          <p:cNvPr id="22" name="TextBox 21"/>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Эту строку принимают за признание незрелости.</a:t>
            </a:r>
            <a:r>
              <a:rPr sz="1200" b="0" i="0">
                <a:solidFill>
                  <a:srgbClr val="21295C"/>
                </a:solidFill>
                <a:latin typeface="Arial"/>
              </a:rPr>
              <a:t> О точности она не говорит ничего: она называет отвечающего — решение остаётся на том, кто посмотрит вторым.</a:t>
            </a:r>
          </a:p>
          <a:p>
            <a:pPr algn="l">
              <a:lnSpc>
                <a:spcPct val="126000"/>
              </a:lnSpc>
              <a:spcBef>
                <a:spcPts val="700"/>
              </a:spcBef>
            </a:pPr>
            <a:r>
              <a:rPr sz="1200" b="0" i="0">
                <a:solidFill>
                  <a:srgbClr val="21295C"/>
                </a:solidFill>
                <a:latin typeface="Arial"/>
              </a:rPr>
              <a:t/>
            </a:r>
            <a:r>
              <a:rPr sz="1200" b="1" i="0">
                <a:solidFill>
                  <a:srgbClr val="21295C"/>
                </a:solidFill>
                <a:latin typeface="Arial"/>
              </a:rPr>
              <a:t>Передача подписи бесплатна. Приём подписи проверяли у восьми изделий из ста.</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Получали ли вы результат обследования раньше, чем его прочитал врач?</a:t>
            </a:r>
          </a:p>
        </p:txBody>
      </p:sp>
      <p:sp>
        <p:nvSpPr>
          <p:cNvPr id="23" name="Rectangle 22"/>
          <p:cNvSpPr/>
          <p:nvPr/>
        </p:nvSpPr>
        <p:spPr>
          <a:xfrm>
            <a:off x="6091275" y="3671975"/>
            <a:ext cx="9144" cy="231664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J. P., Bertin P., Frappier V. Chester: A Web Delivered Locally Computed Chest X-Ray Disease Prediction System, 2019</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JAMA Network Open 2025;8(11):e2542338, срез июнь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Первичный скрининг</a:t>
            </a:r>
          </a:p>
          <a:p>
            <a:pPr algn="ctr">
              <a:lnSpc>
                <a:spcPct val="112000"/>
              </a:lnSpc>
            </a:pPr>
            <a:r>
              <a:rPr sz="1350" b="0" i="0">
                <a:solidFill>
                  <a:srgbClr val="21295C"/>
                </a:solidFill>
                <a:latin typeface="Arial"/>
              </a:rPr>
              <a:t>и отбор на обследование</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Инструментальная</a:t>
            </a:r>
          </a:p>
          <a:p>
            <a:pPr algn="ctr">
              <a:lnSpc>
                <a:spcPct val="112000"/>
              </a:lnSpc>
            </a:pPr>
            <a:r>
              <a:rPr sz="1350" b="0" i="0">
                <a:solidFill>
                  <a:srgbClr val="21295C"/>
                </a:solidFill>
                <a:latin typeface="Arial"/>
              </a:rPr>
              <a:t>и лабораторная диагностика</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Постановка диагноза</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Динамическое наблюдение</a:t>
            </a:r>
          </a:p>
          <a:p>
            <a:pPr algn="ctr">
              <a:lnSpc>
                <a:spcPct val="112000"/>
              </a:lnSpc>
            </a:pPr>
            <a:r>
              <a:rPr sz="1350" b="0" i="0">
                <a:solidFill>
                  <a:srgbClr val="21295C"/>
                </a:solidFill>
                <a:latin typeface="Arial"/>
              </a:rPr>
              <a:t>и клинические тревоги</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медицинской</a:t>
            </a:r>
          </a:p>
          <a:p>
            <a:pPr algn="ctr">
              <a:lnSpc>
                <a:spcPct val="112000"/>
              </a:lnSpc>
            </a:pPr>
            <a:r>
              <a:rPr sz="1350" b="0" i="0">
                <a:solidFill>
                  <a:srgbClr val="21295C"/>
                </a:solidFill>
                <a:latin typeface="Arial"/>
              </a:rPr>
              <a:t>документации</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3053715"/>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Допуск, надзор</a:t>
            </a:r>
          </a:p>
          <a:p>
            <a:pPr algn="ctr">
              <a:lnSpc>
                <a:spcPct val="112000"/>
              </a:lnSpc>
            </a:pPr>
            <a:r>
              <a:rPr sz="1350" b="0" i="0">
                <a:solidFill>
                  <a:srgbClr val="21295C"/>
                </a:solidFill>
                <a:latin typeface="Arial"/>
              </a:rPr>
              <a:t>и ответственность</a:t>
            </a:r>
          </a:p>
        </p:txBody>
      </p:sp>
      <p:sp>
        <p:nvSpPr>
          <p:cNvPr id="19" name="Rounded Rectangle 18"/>
          <p:cNvSpPr/>
          <p:nvPr/>
        </p:nvSpPr>
        <p:spPr>
          <a:xfrm>
            <a:off x="5225186" y="3053715"/>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3099435"/>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Профессиональная</a:t>
            </a:r>
          </a:p>
          <a:p>
            <a:pPr algn="ctr">
              <a:lnSpc>
                <a:spcPct val="112000"/>
              </a:lnSpc>
            </a:pPr>
            <a:r>
              <a:rPr sz="1350" b="0" i="0">
                <a:solidFill>
                  <a:srgbClr val="21295C"/>
                </a:solidFill>
                <a:latin typeface="Arial"/>
              </a:rPr>
              <a:t>квалификация</a:t>
            </a:r>
          </a:p>
        </p:txBody>
      </p:sp>
      <p:sp>
        <p:nvSpPr>
          <p:cNvPr id="21" name="Rounded Rectangle 20"/>
          <p:cNvSpPr/>
          <p:nvPr/>
        </p:nvSpPr>
        <p:spPr>
          <a:xfrm>
            <a:off x="8530132" y="3053715"/>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3099435"/>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a:t>
            </a:r>
          </a:p>
          <a:p>
            <a:pPr algn="ctr">
              <a:lnSpc>
                <a:spcPct val="112000"/>
              </a:lnSpc>
            </a:pPr>
            <a:r>
              <a:rPr sz="1350" b="0" i="0">
                <a:solidFill>
                  <a:srgbClr val="21295C"/>
                </a:solidFill>
                <a:latin typeface="Arial"/>
              </a:rPr>
              <a:t>лекарственных средств</a:t>
            </a:r>
          </a:p>
        </p:txBody>
      </p:sp>
      <p:sp>
        <p:nvSpPr>
          <p:cNvPr id="23" name="Rounded Rectangle 22"/>
          <p:cNvSpPr/>
          <p:nvPr/>
        </p:nvSpPr>
        <p:spPr>
          <a:xfrm>
            <a:off x="374904" y="3858197"/>
            <a:ext cx="11441887" cy="2323605"/>
          </a:xfrm>
          <a:prstGeom prst="roundRect">
            <a:avLst>
              <a:gd name="adj" fmla="val 13117"/>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9637"/>
            <a:ext cx="5373471" cy="228657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Партию можно отозвать. Решение о человеке — нельзя.</a:t>
            </a:r>
          </a:p>
          <a:p>
            <a:pPr algn="l">
              <a:lnSpc>
                <a:spcPct val="126000"/>
              </a:lnSpc>
              <a:spcBef>
                <a:spcPts val="700"/>
              </a:spcBef>
            </a:pPr>
            <a:r>
              <a:rPr sz="1350" b="0" i="0">
                <a:solidFill>
                  <a:srgbClr val="21295C"/>
                </a:solidFill>
                <a:latin typeface="Arial"/>
              </a:rPr>
              <a:t/>
            </a:r>
            <a:r>
              <a:rPr sz="1350" b="1" i="0">
                <a:solidFill>
                  <a:srgbClr val="21295C"/>
                </a:solidFill>
                <a:latin typeface="Arial"/>
              </a:rPr>
              <a:t>Порядок первых пяти не переставляется:</a:t>
            </a:r>
            <a:r>
              <a:rPr sz="1350" b="0" i="0">
                <a:solidFill>
                  <a:srgbClr val="21295C"/>
                </a:solidFill>
                <a:latin typeface="Arial"/>
              </a:rPr>
              <a:t> смотреть можно только того, кто попал в поле зрения; решать — только по измеренному; наблюдать — только после решения; читать запись — только после того, как её сделали.</a:t>
            </a:r>
          </a:p>
          <a:p>
            <a:pPr algn="l">
              <a:lnSpc>
                <a:spcPct val="126000"/>
              </a:lnSpc>
              <a:spcBef>
                <a:spcPts val="700"/>
              </a:spcBef>
            </a:pPr>
            <a:r>
              <a:rPr sz="1350" b="0" i="0">
                <a:solidFill>
                  <a:srgbClr val="21295C"/>
                </a:solidFill>
                <a:latin typeface="Arial"/>
              </a:rPr>
              <a:t/>
            </a:r>
            <a:r>
              <a:rPr sz="1350" b="1" i="0">
                <a:solidFill>
                  <a:srgbClr val="21295C"/>
                </a:solidFill>
                <a:latin typeface="Arial"/>
              </a:rPr>
              <a:t>Три последних идут поперёк пути:</a:t>
            </a:r>
            <a:r>
              <a:rPr sz="1350" b="0" i="0">
                <a:solidFill>
                  <a:srgbClr val="21295C"/>
                </a:solidFill>
                <a:latin typeface="Arial"/>
              </a:rPr>
              <a:t> процедура вокруг всех пяти · замер по самому человеку · откуда берётся то, что назначают.</a:t>
            </a:r>
          </a:p>
        </p:txBody>
      </p:sp>
      <p:sp>
        <p:nvSpPr>
          <p:cNvPr id="25" name="TextBox 24"/>
          <p:cNvSpPr txBox="1"/>
          <p:nvPr/>
        </p:nvSpPr>
        <p:spPr>
          <a:xfrm>
            <a:off x="6278727" y="3949637"/>
            <a:ext cx="5373471" cy="228657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Форма разбора одна:</a:t>
            </a:r>
            <a:r>
              <a:rPr sz="1350" b="0" i="0">
                <a:solidFill>
                  <a:srgbClr val="21295C"/>
                </a:solidFill>
                <a:latin typeface="Arial"/>
              </a:rPr>
              <a:t> цена обеих ошибок · два классических режима · модель против них · как это устроено · что переехало.</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Про каждый инструмент спрашиваем две вещи: какую задачу он решает и с какими данными работает.</a:t>
            </a:r>
            <a:r>
              <a:rPr sz="1350" b="0" i="0">
                <a:solidFill>
                  <a:srgbClr val="21295C"/>
                </a:solidFill>
                <a:latin typeface="Arial"/>
              </a:rPr>
              <a:t> Сетка из этих двух имён собирается один раз — в сборке, по всем разделам сразу; там же видно, в какие клетки за восемь разделов не зашёл никто.</a:t>
            </a:r>
          </a:p>
        </p:txBody>
      </p:sp>
      <p:sp>
        <p:nvSpPr>
          <p:cNvPr id="26" name="Rectangle 25"/>
          <p:cNvSpPr/>
          <p:nvPr/>
        </p:nvSpPr>
        <p:spPr>
          <a:xfrm>
            <a:off x="6091275" y="3949637"/>
            <a:ext cx="9144" cy="2049285"/>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участие человека убывает; требование регулятора исполнено на всех четырёх</a:t>
            </a:r>
          </a:p>
        </p:txBody>
      </p:sp>
      <p:sp>
        <p:nvSpPr>
          <p:cNvPr id="17" name="Rounded Rectangle 16"/>
          <p:cNvSpPr/>
          <p:nvPr/>
        </p:nvSpPr>
        <p:spPr>
          <a:xfrm>
            <a:off x="374904" y="2387325"/>
            <a:ext cx="11441887" cy="3808692"/>
          </a:xfrm>
          <a:prstGeom prst="roundRect">
            <a:avLst>
              <a:gd name="adj" fmla="val 800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«Человек в контуре» — четыре разных устройства работы.</a:t>
            </a:r>
            <a:r>
              <a:rPr sz="1500" b="0" i="0">
                <a:solidFill>
                  <a:srgbClr val="21295C"/>
                </a:solidFill>
                <a:latin typeface="Arial"/>
              </a:rPr>
              <a:t> Между первым и четвёртым разница больше, чем между парой моделей. Человек обязателен не потому, что он точнее: измерено, что часто он не точнее. Обязателен потому,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право подписи выдано ему</a:t>
            </a:r>
            <a:r>
              <a:rPr sz="1500" b="0" i="0">
                <a:solidFill>
                  <a:srgbClr val="21295C"/>
                </a:solidFill>
                <a:latin typeface="Arial"/>
              </a:rPr>
              <a:t> — при разборе случая оценивают действия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ошибается он иначе, чем модель</a:t>
            </a:r>
            <a:r>
              <a:rPr sz="1500" b="0" i="0">
                <a:solidFill>
                  <a:srgbClr val="21295C"/>
                </a:solidFill>
                <a:latin typeface="Arial"/>
              </a:rPr>
              <a:t> — выигрыш даёт несовпадение ошибок;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отменить принятое решение нельзя</a:t>
            </a:r>
            <a:r>
              <a:rPr sz="1500" b="0" i="0">
                <a:solidFill>
                  <a:srgbClr val="21295C"/>
                </a:solidFill>
                <a:latin typeface="Arial"/>
              </a:rPr>
              <a:t> — изделие отзывают, решения по нему остаются.</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для любого рабочего контура: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независимый источник истины, кроме объяснения самой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человек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Контур, не прошедший эти проверки, и есть четвёртая ступень: подпись стоит, участия нет.</a:t>
            </a:r>
          </a:p>
        </p:txBody>
      </p:sp>
      <p:sp>
        <p:nvSpPr>
          <p:cNvPr id="20" name="Rectangle 19"/>
          <p:cNvSpPr/>
          <p:nvPr/>
        </p:nvSpPr>
        <p:spPr>
          <a:xfrm>
            <a:off x="6091275" y="2478765"/>
            <a:ext cx="9144" cy="3534372"/>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прогон без человека</a:t>
            </a:r>
          </a:p>
        </p:txBody>
      </p:sp>
      <p:sp>
        <p:nvSpPr>
          <p:cNvPr id="8" name="Rounded Rectangle 7"/>
          <p:cNvSpPr/>
          <p:nvPr/>
        </p:nvSpPr>
        <p:spPr>
          <a:xfrm>
            <a:off x="2279827"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ОДИН</a:t>
            </a:r>
          </a:p>
        </p:txBody>
      </p:sp>
      <p:sp>
        <p:nvSpPr>
          <p:cNvPr id="10" name="TextBox 9"/>
          <p:cNvSpPr txBox="1"/>
          <p:nvPr/>
        </p:nvSpPr>
        <p:spPr>
          <a:xfrm>
            <a:off x="2416987"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2416987"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обычно, своя ветвь</a:t>
            </a:r>
          </a:p>
        </p:txBody>
      </p:sp>
      <p:sp>
        <p:nvSpPr>
          <p:cNvPr id="12" name="Rounded Rectangle 11"/>
          <p:cNvSpPr/>
          <p:nvPr/>
        </p:nvSpPr>
        <p:spPr>
          <a:xfrm>
            <a:off x="4056735" y="1335024"/>
            <a:ext cx="1612315" cy="1791939"/>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ПОВЕРХ МОДЕЛИ</a:t>
            </a:r>
          </a:p>
        </p:txBody>
      </p:sp>
      <p:sp>
        <p:nvSpPr>
          <p:cNvPr id="14" name="TextBox 13"/>
          <p:cNvSpPr txBox="1"/>
          <p:nvPr/>
        </p:nvSpPr>
        <p:spPr>
          <a:xfrm>
            <a:off x="4193895" y="2140317"/>
            <a:ext cx="133799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4193895" y="2567316"/>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2 пункта, p = 0,60</a:t>
            </a:r>
          </a:p>
        </p:txBody>
      </p:sp>
      <p:sp>
        <p:nvSpPr>
          <p:cNvPr id="16" name="Rounded Rectangle 15"/>
          <p:cNvSpPr/>
          <p:nvPr/>
        </p:nvSpPr>
        <p:spPr>
          <a:xfrm>
            <a:off x="5833643"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КТО И НА ЧЁМ МЕРИЛ</a:t>
            </a:r>
          </a:p>
        </p:txBody>
      </p:sp>
      <p:sp>
        <p:nvSpPr>
          <p:cNvPr id="18" name="TextBox 17"/>
          <p:cNvSpPr txBox="1"/>
          <p:nvPr/>
        </p:nvSpPr>
        <p:spPr>
          <a:xfrm>
            <a:off x="5970803" y="1932846"/>
            <a:ext cx="13379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50 врачей · виньетки</a:t>
            </a:r>
          </a:p>
        </p:txBody>
      </p:sp>
      <p:sp>
        <p:nvSpPr>
          <p:cNvPr id="19" name="TextBox 18"/>
          <p:cNvSpPr txBox="1"/>
          <p:nvPr/>
        </p:nvSpPr>
        <p:spPr>
          <a:xfrm>
            <a:off x="5970803" y="2631444"/>
            <a:ext cx="13379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Goh, 2024</a:t>
            </a:r>
          </a:p>
        </p:txBody>
      </p:sp>
      <p:sp>
        <p:nvSpPr>
          <p:cNvPr id="20" name="Rounded Rectangle 19"/>
          <p:cNvSpPr/>
          <p:nvPr/>
        </p:nvSpPr>
        <p:spPr>
          <a:xfrm>
            <a:off x="374904" y="3218403"/>
            <a:ext cx="11441887" cy="3017804"/>
          </a:xfrm>
          <a:prstGeom prst="roundRect">
            <a:avLst>
              <a:gd name="adj" fmla="val 101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09843"/>
            <a:ext cx="11112703" cy="292636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Удешевление предъявлено: три секунды, ноль рублей и строка «не для диагностики».</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Этот переезд вы узнаете без перевода — он ваш собственный.</a:t>
            </a:r>
            <a:r>
              <a:rPr sz="1300" b="0" i="0">
                <a:solidFill>
                  <a:srgbClr val="21295C"/>
                </a:solidFill>
                <a:latin typeface="Arial"/>
              </a:rPr>
              <a:t> Младшие разработчики пишут с моделью и пишут больше; проверять не успевают старшие.</a:t>
            </a:r>
          </a:p>
          <a:p>
            <a:pPr algn="l">
              <a:lnSpc>
                <a:spcPct val="126000"/>
              </a:lnSpc>
              <a:spcBef>
                <a:spcPts val="700"/>
              </a:spcBef>
            </a:pPr>
            <a:r>
              <a:rPr sz="1300" b="0" i="0">
                <a:solidFill>
                  <a:srgbClr val="21295C"/>
                </a:solidFill>
                <a:latin typeface="Arial"/>
              </a:rPr>
              <a:t/>
            </a:r>
            <a:r>
              <a:rPr sz="1300" b="0" i="0">
                <a:solidFill>
                  <a:srgbClr val="21295C"/>
                </a:solidFill>
                <a:latin typeface="Arial"/>
              </a:rPr>
              <a:t>Замера под этим нет ни одного: он иллюстрация оси, разбором не идёт.</a:t>
            </a:r>
          </a:p>
          <a:p>
            <a:pPr algn="l">
              <a:lnSpc>
                <a:spcPct val="126000"/>
              </a:lnSpc>
              <a:spcBef>
                <a:spcPts val="700"/>
              </a:spcBef>
            </a:pPr>
            <a:r>
              <a:rPr sz="1300" b="0" i="0">
                <a:solidFill>
                  <a:srgbClr val="21295C"/>
                </a:solidFill>
                <a:latin typeface="Arial"/>
              </a:rPr>
              <a:t/>
            </a:r>
            <a:r>
              <a:rPr sz="1300" b="0" i="0">
                <a:solidFill>
                  <a:srgbClr val="21295C"/>
                </a:solidFill>
                <a:latin typeface="Arial"/>
              </a:rPr>
              <a:t>Подешевел шаг — платят на другом. Своё здесь — </a:t>
            </a:r>
            <a:r>
              <a:rPr sz="1300" b="1" i="0">
                <a:solidFill>
                  <a:srgbClr val="21295C"/>
                </a:solidFill>
                <a:latin typeface="Arial"/>
              </a:rPr>
              <a:t>адрес: платят тем шагом, которым работает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Адреса платежа:</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Путь, ступень, адрес — этим читается каждый разбор лекции.</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22" name="Rounded Rectangle 21"/>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3" name="Picture 22"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4" name="Rectangle 2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E. и соавт., JAMA Network Open 2024;7(10):e2440969, 28 октября 2024</a:t>
            </a:r>
            <a:r>
              <a:rPr sz="1200" b="0" i="1">
                <a:solidFill>
                  <a:srgbClr val="1C7293"/>
                </a:solidFill>
                <a:latin typeface="Arial"/>
              </a:rPr>
              <a:t> · </a:t>
            </a:r>
            <a:r>
              <a:rPr sz="1200" b="0" i="1" u="sng">
                <a:solidFill>
                  <a:srgbClr val="065A82"/>
                </a:solidFill>
                <a:latin typeface="Arial"/>
                <a:hlinkClick r:id="rId4"/>
              </a:rPr>
              <a:t>Фото: NIAID, Викисклад, CC BY 2.0 — подпись добровольца под информированным согласием</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переезда: чем лекция будет называть то, что стало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843813"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55120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383309" y="1335024"/>
            <a:ext cx="4759479"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529613" y="1335024"/>
            <a:ext cx="446687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6142789" y="1335024"/>
            <a:ext cx="5509410"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289093" y="1335024"/>
            <a:ext cx="5216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узнаётся</a:t>
            </a:r>
          </a:p>
        </p:txBody>
      </p:sp>
      <p:sp>
        <p:nvSpPr>
          <p:cNvPr id="11" name="Rectangle 10"/>
          <p:cNvSpPr/>
          <p:nvPr/>
        </p:nvSpPr>
        <p:spPr>
          <a:xfrm>
            <a:off x="539496" y="1736636"/>
            <a:ext cx="843813" cy="40161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3" name="Rectangle 12"/>
          <p:cNvSpPr/>
          <p:nvPr/>
        </p:nvSpPr>
        <p:spPr>
          <a:xfrm>
            <a:off x="1383309" y="1736636"/>
            <a:ext cx="4759479"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529613" y="1736636"/>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5" name="Rectangle 14"/>
          <p:cNvSpPr/>
          <p:nvPr/>
        </p:nvSpPr>
        <p:spPr>
          <a:xfrm>
            <a:off x="6142789" y="1736636"/>
            <a:ext cx="5509410"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289093" y="1736636"/>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цела, место другое</a:t>
            </a:r>
          </a:p>
        </p:txBody>
      </p:sp>
      <p:sp>
        <p:nvSpPr>
          <p:cNvPr id="17" name="Rectangle 16"/>
          <p:cNvSpPr/>
          <p:nvPr/>
        </p:nvSpPr>
        <p:spPr>
          <a:xfrm>
            <a:off x="539496" y="2138248"/>
            <a:ext cx="843813" cy="40161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138248"/>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19" name="Rectangle 18"/>
          <p:cNvSpPr/>
          <p:nvPr/>
        </p:nvSpPr>
        <p:spPr>
          <a:xfrm>
            <a:off x="1383309" y="2138248"/>
            <a:ext cx="4759479" cy="40161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529613" y="2138248"/>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1" name="Rectangle 20"/>
          <p:cNvSpPr/>
          <p:nvPr/>
        </p:nvSpPr>
        <p:spPr>
          <a:xfrm>
            <a:off x="6142789" y="2138248"/>
            <a:ext cx="5509410"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289093" y="2138248"/>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работы нет ни у кого</a:t>
            </a:r>
          </a:p>
        </p:txBody>
      </p:sp>
      <p:sp>
        <p:nvSpPr>
          <p:cNvPr id="23" name="Rectangle 22"/>
          <p:cNvSpPr/>
          <p:nvPr/>
        </p:nvSpPr>
        <p:spPr>
          <a:xfrm>
            <a:off x="539496" y="2539860"/>
            <a:ext cx="843813" cy="40161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539860"/>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25" name="Rectangle 24"/>
          <p:cNvSpPr/>
          <p:nvPr/>
        </p:nvSpPr>
        <p:spPr>
          <a:xfrm>
            <a:off x="1383309" y="2539860"/>
            <a:ext cx="4759479" cy="40161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529613" y="2539860"/>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27" name="Rectangle 26"/>
          <p:cNvSpPr/>
          <p:nvPr/>
        </p:nvSpPr>
        <p:spPr>
          <a:xfrm>
            <a:off x="6142789" y="2539860"/>
            <a:ext cx="5509410" cy="40161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289093" y="2539860"/>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новая, раньше её не делали</a:t>
            </a:r>
          </a:p>
        </p:txBody>
      </p:sp>
      <p:sp>
        <p:nvSpPr>
          <p:cNvPr id="29" name="Rectangle 28"/>
          <p:cNvSpPr/>
          <p:nvPr/>
        </p:nvSpPr>
        <p:spPr>
          <a:xfrm>
            <a:off x="539496" y="2941472"/>
            <a:ext cx="843813" cy="40161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2941472"/>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1" name="Rectangle 30"/>
          <p:cNvSpPr/>
          <p:nvPr/>
        </p:nvSpPr>
        <p:spPr>
          <a:xfrm>
            <a:off x="1383309" y="2941472"/>
            <a:ext cx="4759479" cy="40161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529613" y="2941472"/>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33" name="Rectangle 32"/>
          <p:cNvSpPr/>
          <p:nvPr/>
        </p:nvSpPr>
        <p:spPr>
          <a:xfrm>
            <a:off x="6142789" y="2941472"/>
            <a:ext cx="5509410" cy="40161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6289093" y="2941472"/>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больше</a:t>
            </a:r>
          </a:p>
        </p:txBody>
      </p:sp>
      <p:sp>
        <p:nvSpPr>
          <p:cNvPr id="35" name="Rectangle 34"/>
          <p:cNvSpPr/>
          <p:nvPr/>
        </p:nvSpPr>
        <p:spPr>
          <a:xfrm>
            <a:off x="539496" y="3343085"/>
            <a:ext cx="843813"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343085"/>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37" name="Rectangle 36"/>
          <p:cNvSpPr/>
          <p:nvPr/>
        </p:nvSpPr>
        <p:spPr>
          <a:xfrm>
            <a:off x="1383309" y="3343085"/>
            <a:ext cx="4759479" cy="401612"/>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529613" y="3343085"/>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39" name="Rectangle 38"/>
          <p:cNvSpPr/>
          <p:nvPr/>
        </p:nvSpPr>
        <p:spPr>
          <a:xfrm>
            <a:off x="6142789" y="3343085"/>
            <a:ext cx="5509410" cy="401612"/>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289093" y="3343085"/>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меньше</a:t>
            </a:r>
          </a:p>
        </p:txBody>
      </p:sp>
      <p:sp>
        <p:nvSpPr>
          <p:cNvPr id="41" name="Rectangle 40"/>
          <p:cNvSpPr/>
          <p:nvPr/>
        </p:nvSpPr>
        <p:spPr>
          <a:xfrm>
            <a:off x="539496" y="3744697"/>
            <a:ext cx="843813"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744697"/>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43" name="Rectangle 42"/>
          <p:cNvSpPr/>
          <p:nvPr/>
        </p:nvSpPr>
        <p:spPr>
          <a:xfrm>
            <a:off x="1383309" y="3744697"/>
            <a:ext cx="4759479"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529613" y="3744697"/>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45" name="Rectangle 44"/>
          <p:cNvSpPr/>
          <p:nvPr/>
        </p:nvSpPr>
        <p:spPr>
          <a:xfrm>
            <a:off x="6142789" y="3744697"/>
            <a:ext cx="5509410" cy="401612"/>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289093" y="3744697"/>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та же, рука другая</a:t>
            </a:r>
          </a:p>
        </p:txBody>
      </p:sp>
      <p:sp>
        <p:nvSpPr>
          <p:cNvPr id="47" name="Rectangle 46"/>
          <p:cNvSpPr/>
          <p:nvPr/>
        </p:nvSpPr>
        <p:spPr>
          <a:xfrm>
            <a:off x="539496" y="4146309"/>
            <a:ext cx="843813"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146309"/>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49" name="Rectangle 48"/>
          <p:cNvSpPr/>
          <p:nvPr/>
        </p:nvSpPr>
        <p:spPr>
          <a:xfrm>
            <a:off x="1383309" y="4146309"/>
            <a:ext cx="4759479"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529613" y="4146309"/>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51" name="Rectangle 50"/>
          <p:cNvSpPr/>
          <p:nvPr/>
        </p:nvSpPr>
        <p:spPr>
          <a:xfrm>
            <a:off x="6142789" y="4146309"/>
            <a:ext cx="5509410"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289093" y="4146309"/>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состав тот же, порядок другой</a:t>
            </a:r>
          </a:p>
        </p:txBody>
      </p:sp>
      <p:sp>
        <p:nvSpPr>
          <p:cNvPr id="53" name="Rectangle 52"/>
          <p:cNvSpPr/>
          <p:nvPr/>
        </p:nvSpPr>
        <p:spPr>
          <a:xfrm>
            <a:off x="539496" y="4547921"/>
            <a:ext cx="843813"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547921"/>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55" name="Rectangle 54"/>
          <p:cNvSpPr/>
          <p:nvPr/>
        </p:nvSpPr>
        <p:spPr>
          <a:xfrm>
            <a:off x="1383309" y="4547921"/>
            <a:ext cx="4759479"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529613" y="4547921"/>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57" name="Rectangle 56"/>
          <p:cNvSpPr/>
          <p:nvPr/>
        </p:nvSpPr>
        <p:spPr>
          <a:xfrm>
            <a:off x="6142789" y="4547921"/>
            <a:ext cx="5509410"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6289093" y="4547921"/>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промах машины стал промахом человека</a:t>
            </a:r>
          </a:p>
        </p:txBody>
      </p:sp>
      <p:sp>
        <p:nvSpPr>
          <p:cNvPr id="59" name="Rectangle 58"/>
          <p:cNvSpPr/>
          <p:nvPr/>
        </p:nvSpPr>
        <p:spPr>
          <a:xfrm>
            <a:off x="539496" y="4949533"/>
            <a:ext cx="843813" cy="401612"/>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4949533"/>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61" name="Rectangle 60"/>
          <p:cNvSpPr/>
          <p:nvPr/>
        </p:nvSpPr>
        <p:spPr>
          <a:xfrm>
            <a:off x="1383309" y="4949533"/>
            <a:ext cx="4759479"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529613" y="4949533"/>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63" name="Rectangle 62"/>
          <p:cNvSpPr/>
          <p:nvPr/>
        </p:nvSpPr>
        <p:spPr>
          <a:xfrm>
            <a:off x="6142789" y="4949533"/>
            <a:ext cx="5509410"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6289093" y="4949533"/>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 та же, и она разучилась</a:t>
            </a:r>
          </a:p>
        </p:txBody>
      </p:sp>
      <p:sp>
        <p:nvSpPr>
          <p:cNvPr id="65" name="Rectangle 64"/>
          <p:cNvSpPr/>
          <p:nvPr/>
        </p:nvSpPr>
        <p:spPr>
          <a:xfrm>
            <a:off x="539496" y="5351146"/>
            <a:ext cx="843813" cy="401612"/>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351146"/>
            <a:ext cx="55120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67" name="Rectangle 66"/>
          <p:cNvSpPr/>
          <p:nvPr/>
        </p:nvSpPr>
        <p:spPr>
          <a:xfrm>
            <a:off x="1383309" y="5351146"/>
            <a:ext cx="4759479" cy="401612"/>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529613" y="5351146"/>
            <a:ext cx="4466871"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69" name="Rectangle 68"/>
          <p:cNvSpPr/>
          <p:nvPr/>
        </p:nvSpPr>
        <p:spPr>
          <a:xfrm>
            <a:off x="6142789" y="5351146"/>
            <a:ext cx="5509410"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289093" y="5351146"/>
            <a:ext cx="5216802"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номер пуст: измерения нет ни одного</a:t>
            </a:r>
          </a:p>
        </p:txBody>
      </p:sp>
      <p:sp>
        <p:nvSpPr>
          <p:cNvPr id="71" name="TextBox 70"/>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Форма отвечает, что сделалось с работой. Адрес платежа — на каком человеческом шаге.</a:t>
            </a:r>
          </a:p>
        </p:txBody>
      </p:sp>
      <p:sp>
        <p:nvSpPr>
          <p:cNvPr id="72" name="Rectangle 7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разрядов свидетельства: насколько устроен опыт, из которого взято число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95986"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0337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7" name="Rectangle 6"/>
          <p:cNvSpPr/>
          <p:nvPr/>
        </p:nvSpPr>
        <p:spPr>
          <a:xfrm>
            <a:off x="3235482" y="1335024"/>
            <a:ext cx="37776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381786" y="1335024"/>
            <a:ext cx="34850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как добыто число</a:t>
            </a:r>
          </a:p>
        </p:txBody>
      </p:sp>
      <p:sp>
        <p:nvSpPr>
          <p:cNvPr id="9" name="Rectangle 8"/>
          <p:cNvSpPr/>
          <p:nvPr/>
        </p:nvSpPr>
        <p:spPr>
          <a:xfrm>
            <a:off x="7013115" y="1335024"/>
            <a:ext cx="463908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59419" y="1335024"/>
            <a:ext cx="434647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 нему можно утверждать</a:t>
            </a:r>
          </a:p>
        </p:txBody>
      </p:sp>
      <p:sp>
        <p:nvSpPr>
          <p:cNvPr id="11" name="Rectangle 10"/>
          <p:cNvSpPr/>
          <p:nvPr/>
        </p:nvSpPr>
        <p:spPr>
          <a:xfrm>
            <a:off x="539496" y="1763984"/>
            <a:ext cx="2695986"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рандомизированное испытание</a:t>
            </a:r>
          </a:p>
        </p:txBody>
      </p:sp>
      <p:sp>
        <p:nvSpPr>
          <p:cNvPr id="13" name="Rectangle 12"/>
          <p:cNvSpPr/>
          <p:nvPr/>
        </p:nvSpPr>
        <p:spPr>
          <a:xfrm>
            <a:off x="3235482" y="1763984"/>
            <a:ext cx="37776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381786" y="176398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участников развели по группам жребием</a:t>
            </a:r>
          </a:p>
        </p:txBody>
      </p:sp>
      <p:sp>
        <p:nvSpPr>
          <p:cNvPr id="15" name="Rectangle 14"/>
          <p:cNvSpPr/>
          <p:nvPr/>
        </p:nvSpPr>
        <p:spPr>
          <a:xfrm>
            <a:off x="7013115" y="1763984"/>
            <a:ext cx="4639083"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59419" y="176398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разницу между группами можно отнести к вмешательству</a:t>
            </a:r>
          </a:p>
        </p:txBody>
      </p:sp>
      <p:sp>
        <p:nvSpPr>
          <p:cNvPr id="17" name="Rectangle 16"/>
          <p:cNvSpPr/>
          <p:nvPr/>
        </p:nvSpPr>
        <p:spPr>
          <a:xfrm>
            <a:off x="539496" y="2457314"/>
            <a:ext cx="2695986"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проспективное наблюдение</a:t>
            </a:r>
          </a:p>
        </p:txBody>
      </p:sp>
      <p:sp>
        <p:nvSpPr>
          <p:cNvPr id="19" name="Rectangle 18"/>
          <p:cNvSpPr/>
          <p:nvPr/>
        </p:nvSpPr>
        <p:spPr>
          <a:xfrm>
            <a:off x="3235482" y="2457314"/>
            <a:ext cx="37776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381786" y="245731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следили вперёд и дождались исхода</a:t>
            </a:r>
          </a:p>
        </p:txBody>
      </p:sp>
      <p:sp>
        <p:nvSpPr>
          <p:cNvPr id="21" name="Rectangle 20"/>
          <p:cNvSpPr/>
          <p:nvPr/>
        </p:nvSpPr>
        <p:spPr>
          <a:xfrm>
            <a:off x="7013115" y="2457314"/>
            <a:ext cx="4639083"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59419" y="245731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что произошло — да; из-за чего — с оговоркой</a:t>
            </a:r>
          </a:p>
        </p:txBody>
      </p:sp>
      <p:sp>
        <p:nvSpPr>
          <p:cNvPr id="23" name="Rectangle 22"/>
          <p:cNvSpPr/>
          <p:nvPr/>
        </p:nvSpPr>
        <p:spPr>
          <a:xfrm>
            <a:off x="539496" y="3150643"/>
            <a:ext cx="2695986"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ретроспективный срез</a:t>
            </a:r>
          </a:p>
        </p:txBody>
      </p:sp>
      <p:sp>
        <p:nvSpPr>
          <p:cNvPr id="25" name="Rectangle 24"/>
          <p:cNvSpPr/>
          <p:nvPr/>
        </p:nvSpPr>
        <p:spPr>
          <a:xfrm>
            <a:off x="3235482" y="3150643"/>
            <a:ext cx="37776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381786" y="315064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посмотрели назад по уже собранным записям</a:t>
            </a:r>
          </a:p>
        </p:txBody>
      </p:sp>
      <p:sp>
        <p:nvSpPr>
          <p:cNvPr id="27" name="Rectangle 26"/>
          <p:cNvSpPr/>
          <p:nvPr/>
        </p:nvSpPr>
        <p:spPr>
          <a:xfrm>
            <a:off x="7013115" y="3150643"/>
            <a:ext cx="4639083"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59419" y="315064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связь — да; направление связи — нет</a:t>
            </a:r>
          </a:p>
        </p:txBody>
      </p:sp>
      <p:sp>
        <p:nvSpPr>
          <p:cNvPr id="29" name="Rectangle 28"/>
          <p:cNvSpPr/>
          <p:nvPr/>
        </p:nvSpPr>
        <p:spPr>
          <a:xfrm>
            <a:off x="539496" y="3843972"/>
            <a:ext cx="2695986" cy="428960"/>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240337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пересказ в обзоре</a:t>
            </a:r>
          </a:p>
        </p:txBody>
      </p:sp>
      <p:sp>
        <p:nvSpPr>
          <p:cNvPr id="31" name="Rectangle 30"/>
          <p:cNvSpPr/>
          <p:nvPr/>
        </p:nvSpPr>
        <p:spPr>
          <a:xfrm>
            <a:off x="3235482" y="3843972"/>
            <a:ext cx="3777633" cy="428960"/>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381786" y="3843972"/>
            <a:ext cx="348502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число дошло через чужой текст</a:t>
            </a:r>
          </a:p>
        </p:txBody>
      </p:sp>
      <p:sp>
        <p:nvSpPr>
          <p:cNvPr id="33" name="Rectangle 32"/>
          <p:cNvSpPr/>
          <p:nvPr/>
        </p:nvSpPr>
        <p:spPr>
          <a:xfrm>
            <a:off x="7013115" y="3843972"/>
            <a:ext cx="4639083" cy="428960"/>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59419" y="3843972"/>
            <a:ext cx="434647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ничего, пока не открыт первоисточник</a:t>
            </a:r>
          </a:p>
        </p:txBody>
      </p:sp>
      <p:sp>
        <p:nvSpPr>
          <p:cNvPr id="35" name="Rectangle 34"/>
          <p:cNvSpPr/>
          <p:nvPr/>
        </p:nvSpPr>
        <p:spPr>
          <a:xfrm>
            <a:off x="539496" y="4272933"/>
            <a:ext cx="2695986" cy="69332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27293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самоотчёт</a:t>
            </a:r>
          </a:p>
        </p:txBody>
      </p:sp>
      <p:sp>
        <p:nvSpPr>
          <p:cNvPr id="37" name="Rectangle 36"/>
          <p:cNvSpPr/>
          <p:nvPr/>
        </p:nvSpPr>
        <p:spPr>
          <a:xfrm>
            <a:off x="3235482" y="4272933"/>
            <a:ext cx="3777633" cy="693329"/>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381786" y="427293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человек сам сказал, сколько и как он работает</a:t>
            </a:r>
          </a:p>
        </p:txBody>
      </p:sp>
      <p:sp>
        <p:nvSpPr>
          <p:cNvPr id="39" name="Rectangle 38"/>
          <p:cNvSpPr/>
          <p:nvPr/>
        </p:nvSpPr>
        <p:spPr>
          <a:xfrm>
            <a:off x="7013115" y="4272933"/>
            <a:ext cx="4639083" cy="693329"/>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59419" y="427293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то, что он думает о своей работе</a:t>
            </a:r>
          </a:p>
        </p:txBody>
      </p:sp>
      <p:sp>
        <p:nvSpPr>
          <p:cNvPr id="41" name="TextBox 40"/>
          <p:cNvSpPr txBox="1"/>
          <p:nvPr/>
        </p:nvSpPr>
        <p:spPr>
          <a:xfrm>
            <a:off x="539496" y="511256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Разряд называется вместе с числом. Выше своего разряда число не утверждает ничего — к своим числам лекция применяет это правило тоже.</a:t>
            </a:r>
          </a:p>
        </p:txBody>
      </p:sp>
      <p:sp>
        <p:nvSpPr>
          <p:cNvPr id="42" name="TextBox 41"/>
          <p:cNvSpPr txBox="1"/>
          <p:nvPr/>
        </p:nvSpPr>
        <p:spPr>
          <a:xfrm>
            <a:off x="539496" y="5863052"/>
            <a:ext cx="11112703" cy="292345"/>
          </a:xfrm>
          <a:prstGeom prst="rect">
            <a:avLst/>
          </a:prstGeom>
          <a:noFill/>
        </p:spPr>
        <p:txBody>
          <a:bodyPr wrap="square" lIns="0" rIns="0" tIns="0" bIns="0" anchor="t">
            <a:spAutoFit/>
          </a:bodyPr>
          <a:lstStyle/>
          <a:p>
            <a:pPr algn="l">
              <a:lnSpc>
                <a:spcPct val="124000"/>
              </a:lnSpc>
            </a:pPr>
            <a:r>
              <a:rPr sz="1500" b="0" i="1">
                <a:solidFill>
                  <a:srgbClr val="1C7293"/>
                </a:solidFill>
                <a:latin typeface="Arial"/>
              </a:rPr>
              <a:t>Это про устройство опыта; ступень участия — другая разметка.</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Первичный скрининг и отбор на обследование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Первичный скрининг и отбор на обследование: что это за стадия</a:t>
            </a:r>
          </a:p>
        </p:txBody>
      </p:sp>
      <p:sp>
        <p:nvSpPr>
          <p:cNvPr id="4" name="Rounded Rectangle 3"/>
          <p:cNvSpPr/>
          <p:nvPr/>
        </p:nvSpPr>
        <p:spPr>
          <a:xfrm>
            <a:off x="374904" y="1243584"/>
            <a:ext cx="11441887" cy="4877675"/>
          </a:xfrm>
          <a:prstGeom prst="roundRect">
            <a:avLst>
              <a:gd name="adj" fmla="val 624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первичный скрининг и отбор на обследование.</a:t>
            </a:r>
            <a:r>
              <a:rPr sz="1500" b="0" i="0">
                <a:solidFill>
                  <a:srgbClr val="21295C"/>
                </a:solidFill>
                <a:latin typeface="Arial"/>
              </a:rPr>
              <a:t> Скрининг — обследование людей </a:t>
            </a:r>
            <a:r>
              <a:rPr sz="1500" b="1" i="0">
                <a:solidFill>
                  <a:srgbClr val="21295C"/>
                </a:solidFill>
                <a:latin typeface="Arial"/>
              </a:rPr>
              <a:t>без жалоб</a:t>
            </a:r>
            <a:r>
              <a:rPr sz="1500" b="0" i="0">
                <a:solidFill>
                  <a:srgbClr val="21295C"/>
                </a:solidFill>
                <a:latin typeface="Arial"/>
              </a:rPr>
              <a:t>, по признаку принадлежности к группе: возраст, пол, профессия, прежний диагноз.</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Какие данные о человеке получают:</a:t>
            </a:r>
            <a:r>
              <a:rPr sz="1500" b="0" i="0">
                <a:solidFill>
                  <a:srgbClr val="21295C"/>
                </a:solidFill>
                <a:latin typeface="Arial"/>
              </a:rPr>
              <a:t> возраст · пол · интервал с прошлого обследования · иногда анкета или одна жалоба. </a:t>
            </a:r>
            <a:r>
              <a:rPr sz="1500" b="1" i="0">
                <a:solidFill>
                  <a:srgbClr val="21295C"/>
                </a:solidFill>
                <a:latin typeface="Arial"/>
              </a:rPr>
              <a:t>Вопрос на них решают один: звать ли этого человека смотреть вообще.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эти данные получают.</a:t>
            </a:r>
            <a:r>
              <a:rPr sz="1500" b="0" i="0">
                <a:solidFill>
                  <a:srgbClr val="21295C"/>
                </a:solidFill>
                <a:latin typeface="Arial"/>
              </a:rPr>
              <a:t> Приглашение по регистру населения, когда программа зовёт сама · обращение самого человека с жалобой · направление от другого врача · разбор уже имеющихся документов карты.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Какое решение стадия принимает:</a:t>
            </a:r>
            <a:r>
              <a:rPr sz="1500" b="0" i="0">
                <a:solidFill>
                  <a:srgbClr val="21295C"/>
                </a:solidFill>
                <a:latin typeface="Arial"/>
              </a:rPr>
              <a:t> попадёт человек в поле зрения медицины или не попадёт. Что за ним следует: обследование либо ничего — до следующего интервала или до жалобы.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эта стадия стоит первой.</a:t>
            </a:r>
            <a:r>
              <a:rPr sz="1500" b="0" i="0">
                <a:solidFill>
                  <a:srgbClr val="21295C"/>
                </a:solidFill>
                <a:latin typeface="Arial"/>
              </a:rPr>
              <a:t> Человека, которого не позвали, не видит ни одна система, какой бы точной она ни была. И порог — возраст, интервал, критерий отзыва на дообследование — назначен документом органа здравоохранения задолго до того, как кто-нибудь измерил точность любого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это решение принимают без обученной модели.</a:t>
            </a:r>
            <a:r>
              <a:rPr sz="1500" b="0" i="0">
                <a:solidFill>
                  <a:srgbClr val="21295C"/>
                </a:solidFill>
                <a:latin typeface="Arial"/>
              </a:rPr>
              <a:t> Порядка работы три: звать всех по возрасту и интервалу · ждать жалобу · сортировать уже обратившийся поток по тяжести. </a:t>
            </a:r>
            <a:r>
              <a:rPr sz="1500" b="1" i="0">
                <a:solidFill>
                  <a:srgbClr val="21295C"/>
                </a:solidFill>
                <a:latin typeface="Arial"/>
              </a:rPr>
              <a:t>Классических режимов отбора из них два — первые два, и оба посчитаны</a:t>
            </a:r>
            <a:r>
              <a:rPr sz="1500" b="0" i="0">
                <a:solidFill>
                  <a:srgbClr val="21295C"/>
                </a:solidFill>
                <a:latin typeface="Arial"/>
              </a:rPr>
              <a:t> в этом разделе. Внутри скринингового чтения — двойное чтение и арбитраж при расхождении.</a:t>
            </a:r>
          </a:p>
        </p:txBody>
      </p:sp>
      <p:sp>
        <p:nvSpPr>
          <p:cNvPr id="6" name="Rectangle 5"/>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первичного скрининга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Письмо дошло, и женщина пришла. Дальше вокруг неё работает устройство, которого она не видит.</a:t>
            </a:r>
          </a:p>
          <a:p>
            <a:pPr algn="l">
              <a:lnSpc>
                <a:spcPct val="126000"/>
              </a:lnSpc>
              <a:spcBef>
                <a:spcPts val="700"/>
              </a:spcBef>
            </a:pPr>
            <a:r>
              <a:rPr sz="1450" b="0" i="0">
                <a:solidFill>
                  <a:srgbClr val="21295C"/>
                </a:solidFill>
                <a:latin typeface="Arial"/>
              </a:rPr>
              <a:t/>
            </a:r>
            <a:r>
              <a:rPr sz="1450" b="0" i="0">
                <a:solidFill>
                  <a:srgbClr val="21295C"/>
                </a:solidFill>
                <a:latin typeface="Arial"/>
              </a:rPr>
              <a:t>• Снимок делает лаборант</a:t>
            </a:r>
          </a:p>
          <a:p>
            <a:pPr algn="l">
              <a:lnSpc>
                <a:spcPct val="126000"/>
              </a:lnSpc>
              <a:spcBef>
                <a:spcPts val="700"/>
              </a:spcBef>
            </a:pPr>
            <a:r>
              <a:rPr sz="1450" b="0" i="0">
                <a:solidFill>
                  <a:srgbClr val="21295C"/>
                </a:solidFill>
                <a:latin typeface="Arial"/>
              </a:rPr>
              <a:t/>
            </a:r>
            <a:r>
              <a:rPr sz="1450" b="0" i="0">
                <a:solidFill>
                  <a:srgbClr val="21295C"/>
                </a:solidFill>
                <a:latin typeface="Arial"/>
              </a:rPr>
              <a:t>• Читают двое рентгенологов: её они не видели и между собой о ней не говорят</a:t>
            </a:r>
          </a:p>
          <a:p>
            <a:pPr algn="l">
              <a:lnSpc>
                <a:spcPct val="126000"/>
              </a:lnSpc>
              <a:spcBef>
                <a:spcPts val="700"/>
              </a:spcBef>
            </a:pPr>
            <a:r>
              <a:rPr sz="1450" b="0" i="0">
                <a:solidFill>
                  <a:srgbClr val="21295C"/>
                </a:solidFill>
                <a:latin typeface="Arial"/>
              </a:rPr>
              <a:t/>
            </a:r>
            <a:r>
              <a:rPr sz="1450" b="0" i="0">
                <a:solidFill>
                  <a:srgbClr val="21295C"/>
                </a:solidFill>
                <a:latin typeface="Arial"/>
              </a:rPr>
              <a:t>• Разошлись — снимок уходит третьему</a:t>
            </a:r>
          </a:p>
          <a:p>
            <a:pPr algn="l">
              <a:lnSpc>
                <a:spcPct val="126000"/>
              </a:lnSpc>
              <a:spcBef>
                <a:spcPts val="700"/>
              </a:spcBef>
            </a:pPr>
            <a:r>
              <a:rPr sz="1450" b="0" i="0">
                <a:solidFill>
                  <a:srgbClr val="21295C"/>
                </a:solidFill>
                <a:latin typeface="Arial"/>
              </a:rPr>
              <a:t/>
            </a:r>
            <a:r>
              <a:rPr sz="1450" b="0" i="0">
                <a:solidFill>
                  <a:srgbClr val="21295C"/>
                </a:solidFill>
                <a:latin typeface="Arial"/>
              </a:rPr>
              <a:t>• Через несколько недель приходит письмо «норма» либо звонок на дообследование</a:t>
            </a:r>
          </a:p>
          <a:p>
            <a:pPr algn="l">
              <a:lnSpc>
                <a:spcPct val="126000"/>
              </a:lnSpc>
              <a:spcBef>
                <a:spcPts val="700"/>
              </a:spcBef>
            </a:pPr>
            <a:r>
              <a:rPr sz="1450" b="0" i="0">
                <a:solidFill>
                  <a:srgbClr val="21295C"/>
                </a:solidFill>
                <a:latin typeface="Arial"/>
              </a:rPr>
              <a:t/>
            </a:r>
            <a:r>
              <a:rPr sz="1450" b="1" i="0">
                <a:solidFill>
                  <a:srgbClr val="21295C"/>
                </a:solidFill>
                <a:latin typeface="Arial"/>
              </a:rPr>
              <a:t>Семь действий стадии.</a:t>
            </a:r>
            <a:r>
              <a:rPr sz="145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450" b="0" i="0">
                <a:solidFill>
                  <a:srgbClr val="21295C"/>
                </a:solidFill>
                <a:latin typeface="Arial"/>
              </a:rPr>
              <a:t/>
            </a:r>
            <a:r>
              <a:rPr sz="1450" b="1" i="0">
                <a:solidFill>
                  <a:srgbClr val="21295C"/>
                </a:solidFill>
                <a:latin typeface="Arial"/>
              </a:rPr>
              <a:t>С обученной моделью — три шага из семи:</a:t>
            </a:r>
            <a:r>
              <a:rPr sz="1450" b="0" i="0">
                <a:solidFill>
                  <a:srgbClr val="21295C"/>
                </a:solidFill>
                <a:latin typeface="Arial"/>
              </a:rPr>
              <a:t> прочесть · сообщить исход · отсортировать поток. Порог, приглашение, съёмка и арбитраж остались людям. </a:t>
            </a:r>
            <a:r>
              <a:rPr sz="1450" b="1" i="0">
                <a:solidFill>
                  <a:srgbClr val="21295C"/>
                </a:solidFill>
                <a:latin typeface="Arial"/>
              </a:rPr>
              <a:t>Новый шаг — добыть годный снимок.</a:t>
            </a:r>
          </a:p>
          <a:p>
            <a:pPr algn="l">
              <a:lnSpc>
                <a:spcPct val="126000"/>
              </a:lnSpc>
              <a:spcBef>
                <a:spcPts val="700"/>
              </a:spcBef>
            </a:pPr>
            <a:r>
              <a:rPr sz="1450" b="0" i="0">
                <a:solidFill>
                  <a:srgbClr val="21295C"/>
                </a:solidFill>
                <a:latin typeface="Arial"/>
              </a:rPr>
              <a:t/>
            </a:r>
            <a:r>
              <a:rPr sz="145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два классических режима — звать по возрасту и ждать жалобу</a:t>
            </a:r>
          </a:p>
        </p:txBody>
      </p:sp>
      <p:sp>
        <p:nvSpPr>
          <p:cNvPr id="4" name="Rounded Rectangle 3"/>
          <p:cNvSpPr/>
          <p:nvPr/>
        </p:nvSpPr>
        <p:spPr>
          <a:xfrm>
            <a:off x="502920"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9332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постановке диагноза и здесь не произносится</a:t>
            </a:r>
          </a:p>
        </p:txBody>
      </p:sp>
      <p:sp>
        <p:nvSpPr>
          <p:cNvPr id="8" name="Rounded Rectangle 7"/>
          <p:cNvSpPr/>
          <p:nvPr/>
        </p:nvSpPr>
        <p:spPr>
          <a:xfrm>
            <a:off x="3340531" y="1335024"/>
            <a:ext cx="2673019"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3477691" y="1725375"/>
            <a:ext cx="2398699" cy="800447"/>
          </a:xfrm>
          <a:prstGeom prst="rect">
            <a:avLst/>
          </a:prstGeom>
          <a:noFill/>
        </p:spPr>
        <p:txBody>
          <a:bodyPr wrap="square" lIns="0" rIns="0" tIns="0" bIns="0" anchor="t">
            <a:spAutoFit/>
          </a:bodyPr>
          <a:lstStyle/>
          <a:p>
            <a:pPr algn="l">
              <a:lnSpc>
                <a:spcPct val="108000"/>
              </a:lnSpc>
            </a:pPr>
            <a:r>
              <a:rPr sz="2250" b="1" i="0">
                <a:solidFill>
                  <a:srgbClr val="F0AB00"/>
                </a:solidFill>
                <a:latin typeface="Arial"/>
              </a:rPr>
              <a:t>2,0 из ста обследованных</a:t>
            </a:r>
          </a:p>
        </p:txBody>
      </p:sp>
      <p:sp>
        <p:nvSpPr>
          <p:cNvPr id="11" name="TextBox 10"/>
          <p:cNvSpPr txBox="1"/>
          <p:nvPr/>
        </p:nvSpPr>
        <p:spPr>
          <a:xfrm>
            <a:off x="3477691" y="2525822"/>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6178143"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ЖДАТЬ ЖАЛОБУ: БЕЗ ПРИГЛАШЕНИЯ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15" name="TextBox 14"/>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16" name="Rounded Rectangle 15"/>
          <p:cNvSpPr/>
          <p:nvPr/>
        </p:nvSpPr>
        <p:spPr>
          <a:xfrm>
            <a:off x="9015755"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ЖДАТЬ ЖАЛОБУ: С ПРИГЛАШЕНИЕМ</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 из ста найденных</a:t>
            </a:r>
          </a:p>
        </p:txBody>
      </p:sp>
      <p:sp>
        <p:nvSpPr>
          <p:cNvPr id="19" name="TextBox 18"/>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из 160 — та же единица, другая группа того же испытания</a:t>
            </a:r>
          </a:p>
        </p:txBody>
      </p:sp>
      <p:sp>
        <p:nvSpPr>
          <p:cNvPr id="20" name="Rounded Rectangle 19"/>
          <p:cNvSpPr/>
          <p:nvPr/>
        </p:nvSpPr>
        <p:spPr>
          <a:xfrm>
            <a:off x="374904" y="4006794"/>
            <a:ext cx="11441887" cy="2229413"/>
          </a:xfrm>
          <a:prstGeom prst="roundRect">
            <a:avLst>
              <a:gd name="adj" fmla="val 1367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98234"/>
            <a:ext cx="5373471" cy="213797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Режим первый: звать всех по возрасту и интервалу</a:t>
            </a:r>
            <a:r>
              <a:rPr sz="1350" b="0" i="0">
                <a:solidFill>
                  <a:srgbClr val="21295C"/>
                </a:solidFill>
                <a:latin typeface="Arial"/>
              </a:rPr>
              <a:t> — шведская программа, контрольная группа. </a:t>
            </a:r>
            <a:r>
              <a:rPr sz="1350" b="1" i="0">
                <a:solidFill>
                  <a:srgbClr val="21295C"/>
                </a:solidFill>
                <a:latin typeface="Arial"/>
              </a:rPr>
              <a:t>Порог — это документ:</a:t>
            </a:r>
            <a:r>
              <a:rPr sz="1350" b="0" i="0">
                <a:solidFill>
                  <a:srgbClr val="21295C"/>
                </a:solidFill>
                <a:latin typeface="Arial"/>
              </a:rPr>
              <a:t> возраст и интервал назначены раньше, чем кто-либо измерил точность прибора.</a:t>
            </a:r>
          </a:p>
          <a:p>
            <a:pPr algn="l">
              <a:lnSpc>
                <a:spcPct val="126000"/>
              </a:lnSpc>
              <a:spcBef>
                <a:spcPts val="700"/>
              </a:spcBef>
            </a:pPr>
            <a:r>
              <a:rPr sz="1350" b="0" i="0">
                <a:solidFill>
                  <a:srgbClr val="21295C"/>
                </a:solidFill>
                <a:latin typeface="Arial"/>
              </a:rPr>
              <a:t/>
            </a:r>
            <a:r>
              <a:rPr sz="1350" b="1" i="0">
                <a:solidFill>
                  <a:srgbClr val="21295C"/>
                </a:solidFill>
                <a:latin typeface="Arial"/>
              </a:rPr>
              <a:t>Режим второй: ждать жалобу</a:t>
            </a:r>
            <a:r>
              <a:rPr sz="1350" b="0" i="0">
                <a:solidFill>
                  <a:srgbClr val="21295C"/>
                </a:solidFill>
                <a:latin typeface="Arial"/>
              </a:rPr>
              <a:t> — человек приходит сам, когда почувствовал. Находка приходит позже и стадией крупнее: Мальмёское испытание распределяло приглашение случайно.</a:t>
            </a:r>
          </a:p>
        </p:txBody>
      </p:sp>
      <p:sp>
        <p:nvSpPr>
          <p:cNvPr id="22" name="TextBox 21"/>
          <p:cNvSpPr txBox="1"/>
          <p:nvPr/>
        </p:nvSpPr>
        <p:spPr>
          <a:xfrm>
            <a:off x="6278727" y="4098234"/>
            <a:ext cx="5373471" cy="2137973"/>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Доля поздних стадий среди найденных зависит не от того, сколько нашли, а от того, когда нашли. Два числа режимов взяты с разных программ и эпох: вместе они дают не сумму, а две стороны цены.</a:t>
            </a:r>
          </a:p>
          <a:p>
            <a:pPr algn="l">
              <a:lnSpc>
                <a:spcPct val="126000"/>
              </a:lnSpc>
              <a:spcBef>
                <a:spcPts val="700"/>
              </a:spcBef>
            </a:pPr>
            <a:r>
              <a:rPr sz="1350" b="0" i="0">
                <a:solidFill>
                  <a:srgbClr val="21295C"/>
                </a:solidFill>
                <a:latin typeface="Arial"/>
              </a:rPr>
              <a:t/>
            </a:r>
            <a:r>
              <a:rPr sz="1350" b="1" i="0">
                <a:solidFill>
                  <a:srgbClr val="21295C"/>
                </a:solidFill>
                <a:latin typeface="Arial"/>
              </a:rPr>
              <a:t>Женщина с письмом попала сюда так: ни одного её собственного признака — только возраст и интервал.</a:t>
            </a:r>
          </a:p>
          <a:p>
            <a:pPr algn="l">
              <a:lnSpc>
                <a:spcPct val="126000"/>
              </a:lnSpc>
              <a:spcBef>
                <a:spcPts val="700"/>
              </a:spcBef>
            </a:pPr>
            <a:r>
              <a:rPr sz="1350" b="0" i="0">
                <a:solidFill>
                  <a:srgbClr val="21295C"/>
                </a:solidFill>
                <a:latin typeface="Arial"/>
              </a:rPr>
              <a:t/>
            </a:r>
            <a:r>
              <a:rPr sz="1350" b="1" i="0">
                <a:solidFill>
                  <a:srgbClr val="21295C"/>
                </a:solidFill>
                <a:latin typeface="Arial"/>
              </a:rPr>
              <a:t>Поставщик сравнивает «с тем, как было раньше» — спрашивайте, какое именно «раньше» он посчитал.</a:t>
            </a:r>
          </a:p>
        </p:txBody>
      </p:sp>
      <p:sp>
        <p:nvSpPr>
          <p:cNvPr id="23" name="Rectangle 22"/>
          <p:cNvSpPr/>
          <p:nvPr/>
        </p:nvSpPr>
        <p:spPr>
          <a:xfrm>
            <a:off x="6091275" y="4098234"/>
            <a:ext cx="9144" cy="204928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r>
              <a:rPr sz="1200" b="0" i="1">
                <a:solidFill>
                  <a:srgbClr val="1C7293"/>
                </a:solidFill>
                <a:latin typeface="Arial"/>
              </a:rPr>
              <a:t> · </a:t>
            </a: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 моделью, то же поле: сортировка потока по предсказанному риску</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200" b="0" i="0">
                <a:solidFill>
                  <a:srgbClr val="21295C"/>
                </a:solidFill>
                <a:latin typeface="Arial"/>
              </a:rPr>
              <a:t/>
            </a:r>
            <a:r>
              <a:rPr sz="1200" b="1" i="0">
                <a:solidFill>
                  <a:srgbClr val="21295C"/>
                </a:solidFill>
                <a:latin typeface="Arial"/>
              </a:rPr>
              <a:t>Устроено:</a:t>
            </a:r>
            <a:r>
              <a:rPr sz="1200" b="0" i="0">
                <a:solidFill>
                  <a:srgbClr val="21295C"/>
                </a:solidFill>
                <a:latin typeface="Arial"/>
              </a:rPr>
              <a:t> вход — цифровая маммограмма, выход — оценка риска и место в очереди чтения; на чём обучена, программы не публикуют. </a:t>
            </a:r>
            <a:r>
              <a:rPr sz="1200" b="1" i="0">
                <a:solidFill>
                  <a:srgbClr val="21295C"/>
                </a:solidFill>
                <a:latin typeface="Arial"/>
              </a:rPr>
              <a:t>Имени системы не называет ни одна публикация программы</a:t>
            </a:r>
            <a:r>
              <a:rPr sz="1200" b="0" i="0">
                <a:solidFill>
                  <a:srgbClr val="21295C"/>
                </a:solidFill>
                <a:latin typeface="Arial"/>
              </a:rPr>
              <a:t>; режим занимают Transpara, Lunit INSIGHT MMG, iCAD ProFound. </a:t>
            </a:r>
            <a:r>
              <a:rPr sz="1200" b="0" i="1">
                <a:solidFill>
                  <a:srgbClr val="21295C"/>
                </a:solidFill>
                <a:latin typeface="Arial"/>
              </a:rPr>
              <a:t>Распознавание на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Два числа с разных выборок и в один список не складываются:</a:t>
            </a:r>
            <a:r>
              <a:rPr sz="1200" b="0" i="0">
                <a:solidFill>
                  <a:srgbClr val="21295C"/>
                </a:solidFill>
                <a:latin typeface="Arial"/>
              </a:rPr>
              <a:t> объём чтения — промежуточный анализ, чувствительность — итоговый.</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Второго независимого человека большинство обследованных больше не получает</a:t>
            </a:r>
            <a:r>
              <a:rPr sz="1200" b="0" i="0">
                <a:solidFill>
                  <a:srgbClr val="21295C"/>
                </a:solidFill>
                <a:latin typeface="Arial"/>
              </a:rPr>
              <a:t> — цена здесь в устройстве процедуры, не в точности прибора.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r>
              <a:rPr sz="1200" b="0" i="0">
                <a:solidFill>
                  <a:srgbClr val="21295C"/>
                </a:solidFill>
                <a:latin typeface="Arial"/>
              </a:rPr>
              <a:t> как работа распределилась между моделью и вторым читателем, германская программа не опубликовала; отечественная платформа лучевой диагностики сообщает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без методики подсчёта, а годового числа исследований в стране нет — доля охвата не считается.</a:t>
            </a:r>
          </a:p>
          <a:p>
            <a:pPr algn="l">
              <a:lnSpc>
                <a:spcPct val="126000"/>
              </a:lnSpc>
              <a:spcBef>
                <a:spcPts val="700"/>
              </a:spcBef>
            </a:pPr>
            <a:r>
              <a:rPr sz="950" b="0" i="0">
                <a:solidFill>
                  <a:srgbClr val="21295C"/>
                </a:solidFill>
                <a:latin typeface="Arial"/>
              </a:rPr>
              <a:t/>
            </a:r>
            <a:r>
              <a:rPr sz="95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9291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в сортировке обращений:</a:t>
            </a:r>
            <a:r>
              <a:rPr sz="1500" b="0" i="0">
                <a:solidFill>
                  <a:srgbClr val="21295C"/>
                </a:solidFill>
                <a:latin typeface="Arial"/>
              </a:rPr>
              <a:t> пропустить того, кому нужно сейчас · занять приём тем, кому не нужно · и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Изделие — приложение </a:t>
            </a:r>
            <a:r>
              <a:rPr sz="1500" b="1" i="0">
                <a:solidFill>
                  <a:srgbClr val="21295C"/>
                </a:solidFill>
                <a:latin typeface="Arial"/>
              </a:rPr>
              <a:t>Babylon</a:t>
            </a:r>
            <a:r>
              <a:rPr sz="1500" b="0" i="0">
                <a:solidFill>
                  <a:srgbClr val="21295C"/>
                </a:solidFill>
                <a:latin typeface="Arial"/>
              </a:rPr>
              <a:t>, сервис первой линии </a:t>
            </a:r>
            <a:r>
              <a:rPr sz="1500" b="1" i="0">
                <a:solidFill>
                  <a:srgbClr val="21295C"/>
                </a:solidFill>
                <a:latin typeface="Arial"/>
              </a:rPr>
              <a:t>«GP at Hand»</a:t>
            </a:r>
            <a:r>
              <a:rPr sz="1500" b="0" i="0">
                <a:solidFill>
                  <a:srgbClr val="21295C"/>
                </a:solidFill>
                <a:latin typeface="Arial"/>
              </a:rPr>
              <a:t>. Вход — жалоба свободным текстом, выход — маршрут «куда вам сейчас». </a:t>
            </a:r>
            <a:r>
              <a:rPr sz="1500" b="1" i="0">
                <a:solidFill>
                  <a:srgbClr val="21295C"/>
                </a:solidFill>
                <a:latin typeface="Arial"/>
              </a:rPr>
              <a:t>На чём обучено — неизвестно: по словам бывшего руководителя регуляторных вопросов компании, внутри стояло дерево решений «если — то».</a:t>
            </a:r>
            <a:r>
              <a:rPr sz="1500" b="0" i="0">
                <a:solidFill>
                  <a:srgbClr val="21295C"/>
                </a:solidFill>
                <a:latin typeface="Arial"/>
              </a:rPr>
              <a:t> </a:t>
            </a:r>
            <a:r>
              <a:rPr sz="1500" b="0" i="1">
                <a:solidFill>
                  <a:srgbClr val="21295C"/>
                </a:solidFill>
                <a:latin typeface="Arial"/>
              </a:rPr>
              <a:t>Заявлен поиск с генерацией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Уберите модель — и сервис продолжит работать.</a:t>
            </a:r>
            <a:r>
              <a:rPr sz="1500" b="0" i="0">
                <a:solidFill>
                  <a:srgbClr val="21295C"/>
                </a:solidFill>
                <a:latin typeface="Arial"/>
              </a:rPr>
              <a:t> </a:t>
            </a:r>
            <a:r>
              <a:rPr sz="1500" b="0" i="1">
                <a:solidFill>
                  <a:srgbClr val="21295C"/>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 запись приёма под диктовку в нём принимается, сортировка обращения после этого случая — нет.</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Сумма за человека в год фиксирована, число обращений выросло.</a:t>
            </a:r>
            <a:r>
              <a:rPr sz="1500" b="0" i="0">
                <a:solidFill>
                  <a:srgbClr val="21295C"/>
                </a:solidFill>
                <a:latin typeface="Arial"/>
              </a:rPr>
              <a:t> Делим одно на другое — на каждое обращение приходится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Возрасты взяты не средние по стране: сервис почти целиком состоял из молодых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Двигатель переезда — доступность канала: вход стал мгновенным и бесплатным, и обращений стало больше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Выигрыш здесь измерен явкой. </a:t>
            </a:r>
            <a:r>
              <a:rPr sz="1300" b="1" i="0">
                <a:solidFill>
                  <a:srgbClr val="21295C"/>
                </a:solidFill>
                <a:latin typeface="Arial"/>
              </a:rPr>
              <a:t>Классический режим</a:t>
            </a:r>
            <a:r>
              <a:rPr sz="1300" b="0" i="0">
                <a:solidFill>
                  <a:srgbClr val="21295C"/>
                </a:solidFill>
                <a:latin typeface="Arial"/>
              </a:rPr>
              <a:t> — раз в год отдельный визит к специалисту.</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вход — два снимка глазного дна от медсестры, выход — метка «направить или нет» на месте за минуту; на чём обучен — не публикуют. </a:t>
            </a:r>
            <a:r>
              <a:rPr sz="1300" b="1" i="0">
                <a:solidFill>
                  <a:srgbClr val="21295C"/>
                </a:solidFill>
                <a:latin typeface="Arial"/>
              </a:rPr>
              <a:t>Прибор испытания не назван</a:t>
            </a:r>
            <a:r>
              <a:rPr sz="1300" b="0" i="0">
                <a:solidFill>
                  <a:srgbClr val="21295C"/>
                </a:solidFill>
                <a:latin typeface="Arial"/>
              </a:rPr>
              <a:t>; режим допущен первым в 2018-м — IDx-DR, ныне LumineticsCore. </a:t>
            </a:r>
            <a:r>
              <a:rPr sz="1300" b="0" i="1">
                <a:solidFill>
                  <a:srgbClr val="21295C"/>
                </a:solidFill>
                <a:latin typeface="Arial"/>
              </a:rPr>
              <a:t>Классификация на изображении.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Второй шаг: из 25 с отклонением до офтальмолога дошли 16 — </a:t>
            </a:r>
            <a:r>
              <a:rPr sz="130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Первичный скрининг: выигрыш здесь измерен доступом — точности модель не прибавила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объём человеческого чтения снимается там, где процедура уже плотная</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решение выносится на месте, и обследование получают те, кто иначе не придёт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измерен доступом: точности модель здесь не прибавила.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порог — кого звать и с какого возраста: за этим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работать в открытом потоке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с сортировки на приём, и платить за неё стало некому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сменился исполнитель</a:t>
            </a:r>
            <a:r>
              <a:rPr sz="1300" b="0" i="0">
                <a:solidFill>
                  <a:srgbClr val="21295C"/>
                </a:solidFill>
                <a:latin typeface="Arial"/>
              </a:rPr>
              <a:t>, и производной формой </a:t>
            </a:r>
            <a:r>
              <a:rPr sz="1300" b="1" i="0">
                <a:solidFill>
                  <a:srgbClr val="21295C"/>
                </a:solidFill>
                <a:latin typeface="Arial"/>
              </a:rPr>
              <a:t>появился шаг</a:t>
            </a:r>
            <a:r>
              <a:rPr sz="1300" b="0" i="0">
                <a:solidFill>
                  <a:srgbClr val="21295C"/>
                </a:solidFill>
                <a:latin typeface="Arial"/>
              </a:rPr>
              <a:t>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вмешательства, записанный документом задолго до всякой точности</a:t>
            </a:r>
          </a:p>
          <a:p>
            <a:pPr algn="l">
              <a:lnSpc>
                <a:spcPct val="126000"/>
              </a:lnSpc>
              <a:spcBef>
                <a:spcPts val="700"/>
              </a:spcBef>
            </a:pPr>
            <a:r>
              <a:rPr sz="1300" b="0" i="0">
                <a:solidFill>
                  <a:srgbClr val="21295C"/>
                </a:solidFill>
                <a:latin typeface="Arial"/>
              </a:rPr>
              <a:t/>
            </a:r>
            <a:r>
              <a:rPr sz="1300" b="0" i="0">
                <a:solidFill>
                  <a:srgbClr val="21295C"/>
                </a:solidFill>
                <a:latin typeface="Arial"/>
              </a:rPr>
              <a:t>• двойное чтение и арбитраж — там, где второго читателя не заменили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отсеянное фильтром,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83044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про человека измерено и чем.</a:t>
            </a:r>
            <a:r>
              <a:rPr sz="1550" b="0" i="0">
                <a:solidFill>
                  <a:srgbClr val="21295C"/>
                </a:solidFill>
                <a:latin typeface="Arial"/>
              </a:rPr>
              <a:t> Здесь заключение по измеренному выносит сама система — без человека, и у каждой доли есть группа, на которой она посчитана: на других людях та же доля означает другое.</a:t>
            </a:r>
          </a:p>
        </p:txBody>
      </p:sp>
      <p:sp>
        <p:nvSpPr>
          <p:cNvPr id="9" name="TextBox 8"/>
          <p:cNvSpPr txBox="1"/>
          <p:nvPr/>
        </p:nvSpPr>
        <p:spPr>
          <a:xfrm>
            <a:off x="704088" y="364974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0" name="TextBox 9"/>
          <p:cNvSpPr txBox="1"/>
          <p:nvPr/>
        </p:nvSpPr>
        <p:spPr>
          <a:xfrm>
            <a:off x="704088" y="4418518"/>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5489382"/>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Инструментальная и лабораторная диагностика: что это за стадия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инструментальная и лабораторная диагностика.</a:t>
            </a:r>
            <a:r>
              <a:rPr sz="1450" b="0" i="0">
                <a:solidFill>
                  <a:srgbClr val="21295C"/>
                </a:solidFill>
                <a:latin typeface="Arial"/>
              </a:rPr>
              <a:t> Человек уже в поле зрения; теперь про него </a:t>
            </a:r>
            <a:r>
              <a:rPr sz="1450" b="1" i="0">
                <a:solidFill>
                  <a:srgbClr val="21295C"/>
                </a:solidFill>
                <a:latin typeface="Arial"/>
              </a:rPr>
              <a:t>снимают величины</a:t>
            </a:r>
            <a:r>
              <a:rPr sz="1450" b="0" i="0">
                <a:solidFill>
                  <a:srgbClr val="21295C"/>
                </a:solidFill>
                <a:latin typeface="Arial"/>
              </a:rPr>
              <a:t> — прибором, в лаборатории, под нагрузкой.</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Какие данные о человеке получают:</a:t>
            </a:r>
            <a:r>
              <a:rPr sz="1450" b="0" i="0">
                <a:solidFill>
                  <a:srgbClr val="21295C"/>
                </a:solidFill>
                <a:latin typeface="Arial"/>
              </a:rPr>
              <a:t> изображение · сигнал прибора · показатель анализа крови, мочи, ткани, посева. </a:t>
            </a:r>
            <a:r>
              <a:rPr sz="1450" b="1" i="0">
                <a:solidFill>
                  <a:srgbClr val="21295C"/>
                </a:solidFill>
                <a:latin typeface="Arial"/>
              </a:rPr>
              <a:t>Вопросов на них решают два: что эти величины означают и годятся ли они к чтению вообще.</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эти данные получают.</a:t>
            </a:r>
            <a:r>
              <a:rPr sz="1450" b="0" i="0">
                <a:solidFill>
                  <a:srgbClr val="21295C"/>
                </a:solidFill>
                <a:latin typeface="Arial"/>
              </a:rPr>
              <a:t> Инструментальное исследование — снимок, томограмма, эндоскопия · лабораторный анализ, и у части из них свой срок, который никуда не денется · функциональная проба под нагрузкой · удалённое исследование, когда снимают в одном месте, а читают в другом.</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Какое решение стадия принимает:</a:t>
            </a:r>
            <a:r>
              <a:rPr sz="1450" b="0" i="0">
                <a:solidFill>
                  <a:srgbClr val="21295C"/>
                </a:solidFill>
                <a:latin typeface="Arial"/>
              </a:rPr>
              <a:t> что про человека измерено и с какой точностью. Что за ним следует: интерпретация — чтение измеренного и заключение по нему.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Почему эта стадия стоит после отбора.</a:t>
            </a:r>
            <a:r>
              <a:rPr sz="1450" b="0" i="0">
                <a:solidFill>
                  <a:srgbClr val="21295C"/>
                </a:solidFill>
                <a:latin typeface="Arial"/>
              </a:rPr>
              <a:t> Обе доли, которыми описывают любое измерение, посчитаны </a:t>
            </a:r>
            <a:r>
              <a:rPr sz="1450" b="1" i="0">
                <a:solidFill>
                  <a:srgbClr val="21295C"/>
                </a:solidFill>
                <a:latin typeface="Arial"/>
              </a:rPr>
              <a:t>на группе, которую собрала предыдущая стадия</a:t>
            </a:r>
            <a:r>
              <a:rPr sz="1450" b="0" i="0">
                <a:solidFill>
                  <a:srgbClr val="21295C"/>
                </a:solidFill>
                <a:latin typeface="Arial"/>
              </a:rPr>
              <a:t>: доля верных тревог зависит от распространённости болезни в этой группе и свойством прибора не является вовсе. А рабочую точку — порог, за которым говорят «болен» — выбирает протокол под цену исхода, и выбор этот сделан раньше разработчика.</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это решение принимают без обученной модели — классические режимы по именам:</a:t>
            </a:r>
            <a:r>
              <a:rPr sz="1450" b="0" i="0">
                <a:solidFill>
                  <a:srgbClr val="21295C"/>
                </a:solidFill>
                <a:latin typeface="Arial"/>
              </a:rPr>
              <a:t> контроль годности измерения, который делает человек у прибора · пара «чувствительность и специфичность» при одной рабочей точке протокола · пересчёт доли верных тревог под свою распространённость.</a:t>
            </a:r>
          </a:p>
        </p:txBody>
      </p:sp>
      <p:sp>
        <p:nvSpPr>
          <p:cNvPr id="7" name="Rectangle 6"/>
          <p:cNvSpPr/>
          <p:nvPr/>
        </p:nvSpPr>
        <p:spPr>
          <a:xfrm>
            <a:off x="6091275" y="1335024"/>
            <a:ext cx="9144" cy="486124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Что делают участники на стадии инструментальной диагностики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измерение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решить, годно ли оно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прочесть и назвать две доли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пересчитать их под свою распространённость</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сообщить результат тому, кто решает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где вместо величины выдаётся один балл, и сообщить результат.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Рабочая точка, съёмка, годность и пересчёт остались людям.</a:t>
            </a:r>
            <a:r>
              <a:rPr sz="1300" b="0" i="0">
                <a:solidFill>
                  <a:srgbClr val="21295C"/>
                </a:solidFill>
                <a:latin typeface="Arial"/>
              </a:rPr>
              <a:t> 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всегда парой и всегда для одной рабочей точки.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верных тревог</a:t>
            </a:r>
            <a:r>
              <a:rPr sz="1300" b="0" i="0">
                <a:solidFill>
                  <a:srgbClr val="21295C"/>
                </a:solidFill>
                <a:latin typeface="Arial"/>
              </a:rPr>
              <a:t> — третья, и считает её тот, кто применяет. Врач на приёме видит на столе именно её.</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5" name="Rectangle 14"/>
          <p:cNvSpPr/>
          <p:nvPr/>
        </p:nvSpPr>
        <p:spPr>
          <a:xfrm>
            <a:off x="6091275" y="2683657"/>
            <a:ext cx="9144" cy="353393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счёт методики на опубликованной рабочей точке — не разбор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способа поднять долю верных тревог,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ложных тревог меньше, пропущенных больных больше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сменить группу: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 в поголовном потоке: на её группе у той же системы верных тревог 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трёх классических режимов чтения раздел берёт один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Двойное чтение и арбитраж придут позже, вместе с человеком, который читает рядом с моделью.</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264318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3303906"/>
          </a:xfrm>
          <a:prstGeom prst="roundRect">
            <a:avLst>
              <a:gd name="adj" fmla="val 922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 в исходах и визитах, не в деньгах:</a:t>
            </a:r>
            <a:r>
              <a:rPr sz="1500" b="0" i="0">
                <a:solidFill>
                  <a:srgbClr val="21295C"/>
                </a:solidFill>
                <a:latin typeface="Arial"/>
              </a:rPr>
              <a:t> пропуск — необратимая потеря зрения; ложная тревога — направление к офтальмологу, которого в районе может не быть.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к офтальмологу, тот сам снимает и сам читает.</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 — и здесь это и есть разбор.</a:t>
            </a:r>
            <a:r>
              <a:rPr sz="1500" b="0" i="0">
                <a:solidFill>
                  <a:srgbClr val="21295C"/>
                </a:solidFill>
                <a:latin typeface="Arial"/>
              </a:rPr>
              <a:t> Вход — два снимка глазного дна в кабинете, выход — та же метка. </a:t>
            </a:r>
            <a:r>
              <a:rPr sz="1500" b="1" i="0">
                <a:solidFill>
                  <a:srgbClr val="21295C"/>
                </a:solidFill>
                <a:latin typeface="Arial"/>
              </a:rPr>
              <a:t>Обучено на лабораторном наборе из снимков, прошедших отбор по качеству</a:t>
            </a:r>
            <a:r>
              <a:rPr sz="1500" b="0" i="0">
                <a:solidFill>
                  <a:srgbClr val="21295C"/>
                </a:solidFill>
                <a:latin typeface="Arial"/>
              </a:rPr>
              <a:t> — а в поле отбор делает человек, которому правила не назвали. Имени системы оценка не называет.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 поле отклонён </a:t>
            </a:r>
            <a:r>
              <a:rPr sz="1500" b="1" i="0">
                <a:solidFill>
                  <a:srgbClr val="21295C"/>
                </a:solidFill>
                <a:latin typeface="Arial"/>
              </a:rPr>
              <a:t>21 снимок из ста</a:t>
            </a:r>
            <a:r>
              <a:rPr sz="1500" b="0" i="0">
                <a:solidFill>
                  <a:srgbClr val="21295C"/>
                </a:solidFill>
                <a:latin typeface="Arial"/>
              </a:rPr>
              <a:t>; причины обе про место съёмки — освещение и медленная связь.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доля негодных снимков. Явку мерил другой разбор и на другой выборке.</a:t>
            </a:r>
          </a:p>
        </p:txBody>
      </p:sp>
      <p:sp>
        <p:nvSpPr>
          <p:cNvPr id="11" name="Rectangle 10"/>
          <p:cNvSpPr/>
          <p:nvPr/>
        </p:nvSpPr>
        <p:spPr>
          <a:xfrm>
            <a:off x="6091275" y="2683657"/>
            <a:ext cx="9144" cy="302958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Появился шаг — повторный визит тем, чей снимок не прошёл: это 21 человек из каждых ста обследованных.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отклонения обе про место съёмки: освещение в кабинете и медленная связь. Ни одна на лабораторном наборе не видна.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6315303" y="1932846"/>
            <a:ext cx="2398699" cy="630698"/>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9–15 пунктов площади под кривой</a:t>
            </a:r>
          </a:p>
        </p:txBody>
      </p:sp>
      <p:sp>
        <p:nvSpPr>
          <p:cNvPr id="15" name="TextBox 14"/>
          <p:cNvSpPr txBox="1"/>
          <p:nvPr/>
        </p:nvSpPr>
        <p:spPr>
          <a:xfrm>
            <a:off x="6315303"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656 изображений</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207 самых тёмных тонов · 241 средних · 208 светлых; все с биопсией</a:t>
            </a:r>
          </a:p>
        </p:txBody>
      </p:sp>
      <p:sp>
        <p:nvSpPr>
          <p:cNvPr id="20" name="Rounded Rectangle 19"/>
          <p:cNvSpPr/>
          <p:nvPr/>
        </p:nvSpPr>
        <p:spPr>
          <a:xfrm>
            <a:off x="374904" y="3405128"/>
            <a:ext cx="11441887" cy="2680296"/>
          </a:xfrm>
          <a:prstGeom prst="roundRect">
            <a:avLst>
              <a:gd name="adj" fmla="val 1137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a:t>
            </a:r>
            <a:r>
              <a:rPr sz="1300" b="0" i="0">
                <a:solidFill>
                  <a:srgbClr val="21295C"/>
                </a:solidFill>
                <a:latin typeface="Arial"/>
              </a:rPr>
              <a:t> Пропуск — лечение на поздней стадии вместо ранней. Лишняя тревога — биопсия, рубец, месяцы ожидания.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Оба классических режима посчитаны одной методологией</a:t>
            </a:r>
            <a:r>
              <a:rPr sz="1300" b="0" i="0">
                <a:solidFill>
                  <a:srgbClr val="21295C"/>
                </a:solidFill>
                <a:latin typeface="Arial"/>
              </a:rPr>
              <a:t> — одним метаанализом прямого сравнения.</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против них.</a:t>
            </a:r>
            <a:r>
              <a:rPr sz="1300" b="0" i="0">
                <a:solidFill>
                  <a:srgbClr val="21295C"/>
                </a:solidFill>
                <a:latin typeface="Arial"/>
              </a:rPr>
              <a:t> На биопсийно подтверждённых изображениях три модели дают площадь под кривой на тёмных тонах ниже, чем на светлых. </a:t>
            </a:r>
            <a:r>
              <a:rPr sz="1300" b="1" i="0">
                <a:solidFill>
                  <a:srgbClr val="21295C"/>
                </a:solidFill>
                <a:latin typeface="Arial"/>
              </a:rPr>
              <a:t>Знаменатель назван.</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Устроено:</a:t>
            </a:r>
            <a:r>
              <a:rPr sz="1300" b="0" i="0">
                <a:solidFill>
                  <a:srgbClr val="21295C"/>
                </a:solidFill>
                <a:latin typeface="Arial"/>
              </a:rPr>
              <a:t> вход — снимок кожного образования, выход — оценка «показать врачу или нет». </a:t>
            </a:r>
            <a:r>
              <a:rPr sz="1300" b="1" i="0">
                <a:solidFill>
                  <a:srgbClr val="21295C"/>
                </a:solidFill>
                <a:latin typeface="Arial"/>
              </a:rPr>
              <a:t>Обучающие наборы у трёх моделей свои, и тёмных тонов в них мало — в этом весь разбор.</a:t>
            </a:r>
            <a:r>
              <a:rPr sz="1300" b="0" i="0">
                <a:solidFill>
                  <a:srgbClr val="21295C"/>
                </a:solidFill>
                <a:latin typeface="Arial"/>
              </a:rPr>
              <a:t> Имён публикация не даёт; назван проверочный набор — DDI. </a:t>
            </a:r>
            <a:r>
              <a:rPr sz="1300" b="0" i="1">
                <a:solidFill>
                  <a:srgbClr val="21295C"/>
                </a:solidFill>
                <a:latin typeface="Arial"/>
              </a:rPr>
              <a:t>Классификация на изображении.</a:t>
            </a:r>
          </a:p>
          <a:p>
            <a:pPr algn="l">
              <a:lnSpc>
                <a:spcPct val="126000"/>
              </a:lnSpc>
              <a:spcBef>
                <a:spcPts val="700"/>
              </a:spcBef>
            </a:pPr>
            <a:r>
              <a:rPr sz="1300" b="0" i="0">
                <a:solidFill>
                  <a:srgbClr val="21295C"/>
                </a:solidFill>
                <a:latin typeface="Arial"/>
              </a:rPr>
              <a:t/>
            </a:r>
            <a:r>
              <a:rPr sz="1300" b="1" i="0">
                <a:solidFill>
                  <a:srgbClr val="21295C"/>
                </a:solidFill>
                <a:latin typeface="Arial"/>
              </a:rPr>
              <a:t>Ходовую цифру разбор произносить отказывается:</a:t>
            </a:r>
            <a:r>
              <a:rPr sz="1300" b="0" i="0">
                <a:solidFill>
                  <a:srgbClr val="21295C"/>
                </a:solidFill>
                <a:latin typeface="Arial"/>
              </a:rPr>
              <a:t> «на тёмной коже чувствительность падает на 20–30 процентов» в публикации не найдена. </a:t>
            </a:r>
            <a:r>
              <a:rPr sz="1300" b="0" i="1">
                <a:solidFill>
                  <a:srgbClr val="21295C"/>
                </a:solidFill>
                <a:latin typeface="Arial"/>
              </a:rPr>
              <a:t>Ближайшее измеренное, у одной из трёх моделей: 69 больных из ста на светлых тонах против 23 на тёмных.</a:t>
            </a:r>
          </a:p>
        </p:txBody>
      </p:sp>
      <p:sp>
        <p:nvSpPr>
          <p:cNvPr id="23" name="Rectangle 22"/>
          <p:cNvSpPr/>
          <p:nvPr/>
        </p:nvSpPr>
        <p:spPr>
          <a:xfrm>
            <a:off x="6091275" y="3496568"/>
            <a:ext cx="9144" cy="240597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Отсутствие замера равенства не доказывает.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49 618 пациентов</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академическая больница, 100 009 пациенто-лет, 2013–2015 годы</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 попал тот, кому программа нужна: болезнь развивается без присмотра. Попал тот, кому она не нужна: занято место и время координатора.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на одной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записи карты и данные о расходах, выход — один балл на человека и отбор по порогу. </a:t>
            </a:r>
            <a:r>
              <a:rPr sz="1500" b="1" i="0">
                <a:solidFill>
                  <a:srgbClr val="21295C"/>
                </a:solidFill>
                <a:latin typeface="Arial"/>
              </a:rPr>
              <a:t>Обучено предсказывать будущие расходы на лечение</a:t>
            </a:r>
            <a:r>
              <a:rPr sz="1500" b="0" i="0">
                <a:solidFill>
                  <a:srgbClr val="21295C"/>
                </a:solidFill>
                <a:latin typeface="Arial"/>
              </a:rPr>
              <a:t> — а решение принималось о болезни. Имени у промышленного алгоритма публикация не даёт. </a:t>
            </a:r>
            <a:r>
              <a:rPr sz="1500" b="0" i="1">
                <a:solidFill>
                  <a:srgbClr val="21295C"/>
                </a:solidFill>
                <a:latin typeface="Arial"/>
              </a:rPr>
              <a:t>Прогноз на структурированных данных.</a:t>
            </a:r>
          </a:p>
          <a:p>
            <a:pPr algn="l">
              <a:lnSpc>
                <a:spcPct val="126000"/>
              </a:lnSpc>
              <a:spcBef>
                <a:spcPts val="700"/>
              </a:spcBef>
            </a:pPr>
            <a:r>
              <a:rPr sz="1200" b="0" i="0">
                <a:solidFill>
                  <a:srgbClr val="21295C"/>
                </a:solidFill>
                <a:latin typeface="Arial"/>
              </a:rPr>
              <a:t/>
            </a:r>
            <a:r>
              <a:rPr sz="12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Покупает такой счёт администрация или плательщик, не врач, и «дорого лечится» от «болен» он не отличает.</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1878013"/>
          </a:xfrm>
          <a:prstGeom prst="roundRect">
            <a:avLst>
              <a:gd name="adj" fmla="val 162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Масштаб и знаменатель — порознь.</a:t>
            </a: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60369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Инструментальная диагностика: ни в одном разборе не провалилось само чтение</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Постоянство: десятитысячный снимок читается так же, как первый</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Поток: чтение нормы перестаёт занимать специалиста</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Воспроизводимость: один вход даёт один выход, и расхождение можно разобрать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 за порогом стоит цена обеих ошибок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качество входа остаётся человеку без профильной подготовки</a:t>
            </a:r>
          </a:p>
          <a:p>
            <a:pPr algn="l">
              <a:lnSpc>
                <a:spcPct val="126000"/>
              </a:lnSpc>
              <a:spcBef>
                <a:spcPts val="700"/>
              </a:spcBef>
            </a:pPr>
            <a:r>
              <a:rPr sz="1300" b="0" i="0">
                <a:solidFill>
                  <a:srgbClr val="21295C"/>
                </a:solidFill>
                <a:latin typeface="Arial"/>
              </a:rPr>
              <a:t/>
            </a:r>
            <a:r>
              <a:rPr sz="1300" b="0" i="0">
                <a:solidFill>
                  <a:srgbClr val="21295C"/>
                </a:solidFill>
                <a:latin typeface="Arial"/>
              </a:rPr>
              <a:t>• Увидеть, чем измерен вход: смещение прибора модель наследует молча —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Нагрузка выросла на том же месте: у техника появилась работа добиться годного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Появился шаг: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Сменился исполнитель: отбор делал врач, стал делать один балл</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Сместилась цена ошибки на подгруппу, которой в обучающем наборе было мало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Рабочая точка под цену обеих ошибок и пересчёт доли верных тревог под свою группу</a:t>
            </a:r>
          </a:p>
          <a:p>
            <a:pPr algn="l">
              <a:lnSpc>
                <a:spcPct val="126000"/>
              </a:lnSpc>
              <a:spcBef>
                <a:spcPts val="700"/>
              </a:spcBef>
            </a:pPr>
            <a:r>
              <a:rPr sz="1300" b="0" i="0">
                <a:solidFill>
                  <a:srgbClr val="21295C"/>
                </a:solidFill>
                <a:latin typeface="Arial"/>
              </a:rPr>
              <a:t/>
            </a:r>
            <a:r>
              <a:rPr sz="1300" b="0" i="0">
                <a:solidFill>
                  <a:srgbClr val="21295C"/>
                </a:solidFill>
                <a:latin typeface="Arial"/>
              </a:rPr>
              <a:t>• Контроль годности измерения: правило кабинета, и прибор его не заменяет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что система считает своей целью,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Человек читает рядом с моделью.</a:t>
            </a:r>
            <a:r>
              <a:rPr sz="1550" b="0" i="0">
                <a:solidFill>
                  <a:srgbClr val="21295C"/>
                </a:solidFill>
                <a:latin typeface="Arial"/>
              </a:rPr>
              <a:t> Заключение выносит человек. Читает он теперь не только снимок, но и подсказку модели рядом. Разборы по порядку:</a:t>
            </a:r>
          </a:p>
        </p:txBody>
      </p:sp>
      <p:sp>
        <p:nvSpPr>
          <p:cNvPr id="9" name="TextBox 8"/>
          <p:cNvSpPr txBox="1"/>
          <p:nvPr/>
        </p:nvSpPr>
        <p:spPr>
          <a:xfrm>
            <a:off x="704088" y="291542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38210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848787"/>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315470"/>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78215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248836"/>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Постановка диагноза: что это за стадия</a:t>
            </a:r>
          </a:p>
        </p:txBody>
      </p:sp>
      <p:sp>
        <p:nvSpPr>
          <p:cNvPr id="4" name="Rounded Rectangle 3"/>
          <p:cNvSpPr/>
          <p:nvPr/>
        </p:nvSpPr>
        <p:spPr>
          <a:xfrm>
            <a:off x="374904" y="1243584"/>
            <a:ext cx="11441887" cy="4908036"/>
          </a:xfrm>
          <a:prstGeom prst="roundRect">
            <a:avLst>
              <a:gd name="adj" fmla="val 621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постановка диагноза.</a:t>
            </a:r>
            <a:r>
              <a:rPr sz="1500" b="0" i="0">
                <a:solidFill>
                  <a:srgbClr val="21295C"/>
                </a:solidFill>
                <a:latin typeface="Arial"/>
              </a:rPr>
              <a:t> Измерения сделаны. Здесь их </a:t>
            </a:r>
            <a:r>
              <a:rPr sz="1500" b="1" i="0">
                <a:solidFill>
                  <a:srgbClr val="21295C"/>
                </a:solidFill>
                <a:latin typeface="Arial"/>
              </a:rPr>
              <a:t>собирают вместе</a:t>
            </a:r>
            <a:r>
              <a:rPr sz="1500" b="0" i="0">
                <a:solidFill>
                  <a:srgbClr val="21295C"/>
                </a:solidFill>
                <a:latin typeface="Arial"/>
              </a:rPr>
              <a:t> и выносят заключение, под которым стоит подпись человека.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Какие данные о человеке получают:</a:t>
            </a:r>
            <a:r>
              <a:rPr sz="1500" b="0" i="0">
                <a:solidFill>
                  <a:srgbClr val="21295C"/>
                </a:solidFill>
                <a:latin typeface="Arial"/>
              </a:rPr>
              <a:t> жалобы · анамнез · осмотр руками · результаты исследований с предыдущей стадии — </a:t>
            </a:r>
            <a:r>
              <a:rPr sz="1500" b="1" i="0">
                <a:solidFill>
                  <a:srgbClr val="21295C"/>
                </a:solidFill>
                <a:latin typeface="Arial"/>
              </a:rPr>
              <a:t>вместе, а не по отдельности</a:t>
            </a:r>
            <a:r>
              <a:rPr sz="1500" b="0" i="0">
                <a:solidFill>
                  <a:srgbClr val="21295C"/>
                </a:solidFill>
                <a:latin typeface="Arial"/>
              </a:rPr>
              <a:t>. </a:t>
            </a:r>
            <a:r>
              <a:rPr sz="1500" b="1" i="0">
                <a:solidFill>
                  <a:srgbClr val="21295C"/>
                </a:solidFill>
                <a:latin typeface="Arial"/>
              </a:rPr>
              <a:t>Вопрос на них решают один: какая болезнь объясняет наблюдаемое и какую проверку назначить следующей.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эти данные получают.</a:t>
            </a:r>
            <a:r>
              <a:rPr sz="1500" b="0" i="0">
                <a:solidFill>
                  <a:srgbClr val="21295C"/>
                </a:solidFill>
                <a:latin typeface="Arial"/>
              </a:rPr>
              <a:t> Приём у врача — то, что человек рассказал, и то, что врач увидел руками · разбор уже имеющихся документов карты · консилиум, когда случай смотрят несколько специалистов сразу · телемедицинская консультация.</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Какое решение стадия принимает:</a:t>
            </a:r>
            <a:r>
              <a:rPr sz="1500" b="0" i="0">
                <a:solidFill>
                  <a:srgbClr val="21295C"/>
                </a:solidFill>
                <a:latin typeface="Arial"/>
              </a:rPr>
              <a:t> диагноз, который формулируют и подписывают. Что за ним следует: назначение лечения — и то, что назначено, отменяют только до того, как его выполнили.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эта стадия стоит здесь.</a:t>
            </a:r>
            <a:r>
              <a:rPr sz="1500" b="0" i="0">
                <a:solidFill>
                  <a:srgbClr val="21295C"/>
                </a:solidFill>
                <a:latin typeface="Arial"/>
              </a:rPr>
              <a:t> Она замыкает круг «гипотеза — проверка»: список болезней составляют </a:t>
            </a:r>
            <a:r>
              <a:rPr sz="1500" b="1" i="0">
                <a:solidFill>
                  <a:srgbClr val="21295C"/>
                </a:solidFill>
                <a:latin typeface="Arial"/>
              </a:rPr>
              <a:t>до</a:t>
            </a:r>
            <a:r>
              <a:rPr sz="1500" b="0" i="0">
                <a:solidFill>
                  <a:srgbClr val="21295C"/>
                </a:solidFill>
                <a:latin typeface="Arial"/>
              </a:rPr>
              <a:t> исследования, а вычёркивают </a:t>
            </a:r>
            <a:r>
              <a:rPr sz="1500" b="1" i="0">
                <a:solidFill>
                  <a:srgbClr val="21295C"/>
                </a:solidFill>
                <a:latin typeface="Arial"/>
              </a:rPr>
              <a:t>после</a:t>
            </a:r>
            <a:r>
              <a:rPr sz="1500" b="0" i="0">
                <a:solidFill>
                  <a:srgbClr val="21295C"/>
                </a:solidFill>
                <a:latin typeface="Arial"/>
              </a:rPr>
              <a:t> него. Часть проверок сама опасна или дорога, поэтому порядок проверок — отдельное решение, которое приходится обосновывать.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это решение принимают без обученной модели — классические режимы по именам:</a:t>
            </a:r>
            <a:r>
              <a:rPr sz="1500" b="0" i="0">
                <a:solidFill>
                  <a:srgbClr val="21295C"/>
                </a:solidFill>
                <a:latin typeface="Arial"/>
              </a:rPr>
              <a:t> дифференциальный диагноз в два движения по кругу — выписать объясняющие болезни и назначить различающую проверку · второе мнение от того, кто первого заключения не видел · консилиум · клинические рекомендации.</a:t>
            </a:r>
          </a:p>
        </p:txBody>
      </p:sp>
      <p:sp>
        <p:nvSpPr>
          <p:cNvPr id="7" name="Rectangle 6"/>
          <p:cNvSpPr/>
          <p:nvPr/>
        </p:nvSpPr>
        <p:spPr>
          <a:xfrm>
            <a:off x="6091275" y="1335024"/>
            <a:ext cx="9144" cy="46337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Один приём, женщина тридцати четырёх лет: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 входе</a:t>
            </a:r>
            <a:r>
              <a:rPr sz="1400" b="0" i="0">
                <a:solidFill>
                  <a:srgbClr val="21295C"/>
                </a:solidFill>
                <a:latin typeface="Arial"/>
              </a:rPr>
              <a:t> — кашель три недели · вечерняя температура · минус четыре килограмма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 списке</a:t>
            </a:r>
            <a:r>
              <a:rPr sz="1400" b="0" i="0">
                <a:solidFill>
                  <a:srgbClr val="21295C"/>
                </a:solidFill>
                <a:latin typeface="Arial"/>
              </a:rPr>
              <a:t> — затяжной бронхит · туберкулёз · лимфома · аутоиммунное поражение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различают дешёвым и отсекающим</a:t>
            </a:r>
            <a:r>
              <a:rPr sz="1400" b="0" i="0">
                <a:solidFill>
                  <a:srgbClr val="21295C"/>
                </a:solidFill>
                <a:latin typeface="Arial"/>
              </a:rPr>
              <a:t> — снимок и анализ крови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через два дня</a:t>
            </a:r>
            <a:r>
              <a:rPr sz="1400" b="0" i="0">
                <a:solidFill>
                  <a:srgbClr val="21295C"/>
                </a:solidFill>
                <a:latin typeface="Arial"/>
              </a:rPr>
              <a:t> — два вычеркнуты, осталось два,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Обученная модель заняла три действия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Добавилось одно, которого у врача не было: решить,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не записали — и как узнали, что её не хватало?</a:t>
            </a:r>
          </a:p>
        </p:txBody>
      </p:sp>
      <p:sp>
        <p:nvSpPr>
          <p:cNvPr id="20" name="Rectangle 19"/>
          <p:cNvSpPr/>
          <p:nvPr/>
        </p:nvSpPr>
        <p:spPr>
          <a:xfrm>
            <a:off x="6091275" y="2478765"/>
            <a:ext cx="9144" cy="36826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 — и на чём оно держится</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848374"/>
          </a:xfrm>
          <a:prstGeom prst="roundRect">
            <a:avLst>
              <a:gd name="adj" fmla="val 1649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Когда второе мнение даёт модель — а первое чтение она же и подсказала — </a:t>
            </a:r>
            <a:r>
              <a:rPr sz="1300" b="1" i="0">
                <a:solidFill>
                  <a:srgbClr val="21295C"/>
                </a:solidFill>
                <a:latin typeface="Arial"/>
              </a:rPr>
              <a:t>два мнения перестают быть независимыми</a:t>
            </a:r>
            <a:r>
              <a:rPr sz="13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Женщина с письмом: её снимок достанется читателю, у которого подсказка уже на экране — а перегородка ставилась ровно против этого.</a:t>
            </a:r>
          </a:p>
          <a:p>
            <a:pPr algn="l">
              <a:lnSpc>
                <a:spcPct val="126000"/>
              </a:lnSpc>
              <a:spcBef>
                <a:spcPts val="700"/>
              </a:spcBef>
            </a:pPr>
            <a:r>
              <a:rPr sz="1300" b="0" i="0">
                <a:solidFill>
                  <a:srgbClr val="21295C"/>
                </a:solidFill>
                <a:latin typeface="Arial"/>
              </a:rPr>
              <a:t/>
            </a:r>
            <a:r>
              <a:rPr sz="1300" b="0" i="0">
                <a:solidFill>
                  <a:srgbClr val="21295C"/>
                </a:solidFill>
                <a:latin typeface="Arial"/>
              </a:rPr>
              <a:t>Рядом тем же устройством держится консилиум.</a:t>
            </a:r>
          </a:p>
          <a:p>
            <a:pPr algn="l">
              <a:lnSpc>
                <a:spcPct val="126000"/>
              </a:lnSpc>
              <a:spcBef>
                <a:spcPts val="700"/>
              </a:spcBef>
            </a:pPr>
            <a:r>
              <a:rPr sz="1300" b="0" i="0">
                <a:solidFill>
                  <a:srgbClr val="21295C"/>
                </a:solidFill>
                <a:latin typeface="Arial"/>
              </a:rPr>
              <a:t/>
            </a:r>
            <a:r>
              <a:rPr sz="13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722517"/>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a:t>
            </a:r>
            <a:r>
              <a:rPr sz="1500" b="1" i="0">
                <a:solidFill>
                  <a:srgbClr val="21295C"/>
                </a:solidFill>
                <a:latin typeface="Arial"/>
              </a:rPr>
              <a:t>53 случаях из ста против 18</a:t>
            </a:r>
            <a:r>
              <a:rPr sz="1500" b="0" i="0">
                <a:solidFill>
                  <a:srgbClr val="21295C"/>
                </a:solidFill>
                <a:latin typeface="Arial"/>
              </a:rPr>
              <a:t>; медиана измерена </a:t>
            </a:r>
            <a:r>
              <a:rPr sz="1500" b="1" i="0">
                <a:solidFill>
                  <a:srgbClr val="21295C"/>
                </a:solidFill>
                <a:latin typeface="Arial"/>
              </a:rPr>
              <a:t>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И ход этот не разгильдяйство, а дешёвый:</a:t>
            </a:r>
            <a:r>
              <a:rPr sz="1500" b="0" i="0">
                <a:solidFill>
                  <a:srgbClr val="21295C"/>
                </a:solidFill>
                <a:latin typeface="Arial"/>
              </a:rPr>
              <a:t> согласившегося с подсказкой при разборе случая оценивают как более разумного, чем отказавшегося. Счёт предъявляется в разделе о допуске, надзоре и ответственности.</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при верных рекомендациях точность рассуждения </a:t>
            </a:r>
            <a:r>
              <a:rPr sz="1500" b="1" i="0">
                <a:solidFill>
                  <a:srgbClr val="21295C"/>
                </a:solidFill>
                <a:latin typeface="Arial"/>
              </a:rPr>
              <a:t>84,9 из ста</a:t>
            </a:r>
            <a:r>
              <a:rPr sz="1500" b="0" i="0">
                <a:solidFill>
                  <a:srgbClr val="21295C"/>
                </a:solidFill>
                <a:latin typeface="Arial"/>
              </a:rPr>
              <a:t>, при намеренно неверных — </a:t>
            </a:r>
            <a:r>
              <a:rPr sz="1500" b="1" i="0">
                <a:solidFill>
                  <a:srgbClr val="21295C"/>
                </a:solidFill>
                <a:latin typeface="Arial"/>
              </a:rPr>
              <a:t>73,3</a:t>
            </a:r>
            <a:r>
              <a:rPr sz="1500" b="0" i="0">
                <a:solidFill>
                  <a:srgbClr val="21295C"/>
                </a:solidFill>
                <a:latin typeface="Arial"/>
              </a:rPr>
              <a:t>; поправленная разница 14,0 пункта.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44 врача, 264 случая. Ступени не ранжированы по качеству: на каждой есть и выигрыш, и своя слепота.</a:t>
            </a:r>
          </a:p>
        </p:txBody>
      </p:sp>
      <p:sp>
        <p:nvSpPr>
          <p:cNvPr id="20" name="Rectangle 19"/>
          <p:cNvSpPr/>
          <p:nvPr/>
        </p:nvSpPr>
        <p:spPr>
          <a:xfrm>
            <a:off x="6091275" y="3151411"/>
            <a:ext cx="9144" cy="27624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цифровая маммограмма, выход — отметка области с оценкой подозрительности; порог показа — 10 из 100. </a:t>
            </a:r>
            <a:r>
              <a:rPr sz="1500" b="1" i="0">
                <a:solidFill>
                  <a:srgbClr val="21295C"/>
                </a:solidFill>
                <a:latin typeface="Arial"/>
              </a:rPr>
              <a:t>Подсказки подлинные: это вывод коммерчески доступной допущенной системы, и ни имени её, ни обучающих данных работа не называет.</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чтение вторым читателем либо сортировка потока; удержать читателя от сужения поиска режим не умеет.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p:txBody>
      </p:sp>
      <p:sp>
        <p:nvSpPr>
          <p:cNvPr id="14" name="Rectangle 13"/>
          <p:cNvSpPr/>
          <p:nvPr/>
        </p:nvSpPr>
        <p:spPr>
          <a:xfrm>
            <a:off x="6091275" y="2891129"/>
            <a:ext cx="9144" cy="3178335"/>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Зеркало того же замера: подсказка верна, поиск сузился,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МОДЕЛИ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МОДЕЛИ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ста, но незначимо</a:t>
            </a:r>
          </a:p>
        </p:txBody>
      </p:sp>
      <p:sp>
        <p:nvSpPr>
          <p:cNvPr id="12" name="Rounded Rectangle 11"/>
          <p:cNvSpPr/>
          <p:nvPr/>
        </p:nvSpPr>
        <p:spPr>
          <a:xfrm>
            <a:off x="502920" y="2683657"/>
            <a:ext cx="5437479" cy="2120402"/>
          </a:xfrm>
          <a:prstGeom prst="roundRect">
            <a:avLst>
              <a:gd name="adj" fmla="val 1437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доказано</a:t>
            </a:r>
          </a:p>
        </p:txBody>
      </p:sp>
      <p:sp>
        <p:nvSpPr>
          <p:cNvPr id="14" name="TextBox 13"/>
          <p:cNvSpPr txBox="1"/>
          <p:nvPr/>
        </p:nvSpPr>
        <p:spPr>
          <a:xfrm>
            <a:off x="667512"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различение больного и здорового выросло, и прибавка значима</a:t>
            </a:r>
          </a:p>
          <a:p>
            <a:pPr algn="l">
              <a:lnSpc>
                <a:spcPct val="126000"/>
              </a:lnSpc>
            </a:pPr>
            <a:r>
              <a:rPr sz="1450" b="0" i="0">
                <a:solidFill>
                  <a:srgbClr val="21295C"/>
                </a:solidFill>
                <a:latin typeface="Arial"/>
              </a:rPr>
              <a:t>• в нужном месте взгляд задержался дольше: 4,4 → 5,4 секунды</a:t>
            </a:r>
          </a:p>
        </p:txBody>
      </p:sp>
      <p:sp>
        <p:nvSpPr>
          <p:cNvPr id="15" name="Rounded Rectangle 14"/>
          <p:cNvSpPr/>
          <p:nvPr/>
        </p:nvSpPr>
        <p:spPr>
          <a:xfrm>
            <a:off x="6251295" y="2683657"/>
            <a:ext cx="5437479" cy="2120402"/>
          </a:xfrm>
          <a:prstGeom prst="roundRect">
            <a:avLst>
              <a:gd name="adj" fmla="val 1437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доказано</a:t>
            </a:r>
          </a:p>
        </p:txBody>
      </p:sp>
      <p:sp>
        <p:nvSpPr>
          <p:cNvPr id="17" name="TextBox 16"/>
          <p:cNvSpPr txBox="1"/>
          <p:nvPr/>
        </p:nvSpPr>
        <p:spPr>
          <a:xfrm>
            <a:off x="6415887"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прибавка чувствительности значимости не достигла</a:t>
            </a:r>
          </a:p>
          <a:p>
            <a:pPr algn="l">
              <a:lnSpc>
                <a:spcPct val="126000"/>
              </a:lnSpc>
            </a:pPr>
            <a:r>
              <a:rPr sz="1450" b="0" i="0">
                <a:solidFill>
                  <a:srgbClr val="21295C"/>
                </a:solidFill>
                <a:latin typeface="Arial"/>
              </a:rPr>
              <a:t>• специфичность и время чтения не изменились</a:t>
            </a:r>
          </a:p>
          <a:p>
            <a:pPr algn="l">
              <a:lnSpc>
                <a:spcPct val="126000"/>
              </a:lnSpc>
            </a:pPr>
            <a:r>
              <a:rPr sz="1450" b="0" i="0">
                <a:solidFill>
                  <a:srgbClr val="21295C"/>
                </a:solidFill>
                <a:latin typeface="Arial"/>
              </a:rPr>
              <a:t>• «модель сделала врачей лучше» этими данными не держится</a:t>
            </a:r>
          </a:p>
        </p:txBody>
      </p:sp>
      <p:sp>
        <p:nvSpPr>
          <p:cNvPr id="18" name="Rounded Rectangle 17"/>
          <p:cNvSpPr/>
          <p:nvPr/>
        </p:nvSpPr>
        <p:spPr>
          <a:xfrm>
            <a:off x="374904" y="4895500"/>
            <a:ext cx="11441887" cy="1340707"/>
          </a:xfrm>
          <a:prstGeom prst="roundRect">
            <a:avLst>
              <a:gd name="adj" fmla="val 22734"/>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300" b="0" i="0">
                <a:solidFill>
                  <a:srgbClr val="21295C"/>
                </a:solidFill>
                <a:latin typeface="Arial"/>
              </a:rPr>
              <a:t/>
            </a:r>
            <a:r>
              <a:rPr sz="1300" b="1" i="0">
                <a:solidFill>
                  <a:srgbClr val="21295C"/>
                </a:solidFill>
                <a:latin typeface="Arial"/>
              </a:rPr>
              <a:t>Сужение поиска само по себе ни польза, ни вред.</a:t>
            </a:r>
            <a:r>
              <a:rPr sz="1300" b="0" i="0">
                <a:solidFill>
                  <a:srgbClr val="21295C"/>
                </a:solidFill>
                <a:latin typeface="Arial"/>
              </a:rPr>
              <a:t> Знак задаёт правота подсказки, и по сигналу различить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Оговорки.</a:t>
            </a:r>
            <a:r>
              <a:rPr sz="1300" b="0" i="0">
                <a:solidFill>
                  <a:srgbClr val="21295C"/>
                </a:solidFill>
                <a:latin typeface="Arial"/>
              </a:rPr>
              <a:t> Двенадцать радиологов, 3 600 прочтений. Чтение лабораторное: раков в наборе половина. Институциональные интересы с производителями авторы назвали сами.</a:t>
            </a: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 ЖЕ ШАНСЫ В ДОЛЯХ: МОДЕЛЬ ПРАВА → НЕПРАВА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50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восьми верных ответах из десяти без подсказки</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срезов, два чтения</a:t>
            </a:r>
          </a:p>
        </p:txBody>
      </p:sp>
      <p:sp>
        <p:nvSpPr>
          <p:cNvPr id="20" name="Rounded Rectangle 19"/>
          <p:cNvSpPr/>
          <p:nvPr/>
        </p:nvSpPr>
        <p:spPr>
          <a:xfrm>
            <a:off x="374904" y="379177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Спутать два вида опухоли печени — другое лечение и прогноз. Лишняя перепроверка — время специалиста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среза одним патологом; второе мнение субспециалиста.</a:t>
            </a:r>
          </a:p>
        </p:txBody>
      </p:sp>
      <p:sp>
        <p:nvSpPr>
          <p:cNvPr id="22" name="TextBox 21"/>
          <p:cNvSpPr txBox="1"/>
          <p:nvPr/>
        </p:nvSpPr>
        <p:spPr>
          <a:xfrm>
            <a:off x="6278727"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a:t>
            </a:r>
            <a:r>
              <a:rPr sz="1500" b="1" i="0">
                <a:solidFill>
                  <a:srgbClr val="21295C"/>
                </a:solidFill>
                <a:latin typeface="Arial"/>
              </a:rPr>
              <a:t>Ассистент исследовательский: ни имени, ни обучающего набора работа не печатает.</a:t>
            </a:r>
            <a:r>
              <a:rPr sz="1500" b="0" i="0">
                <a:solidFill>
                  <a:srgbClr val="21295C"/>
                </a:solidFill>
                <a:latin typeface="Arial"/>
              </a:rPr>
              <a:t>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Симметрия в шансах даёт асимметрию в долях. </a:t>
            </a:r>
            <a:r>
              <a:rPr sz="1500" b="0" i="1">
                <a:solidFill>
                  <a:srgbClr val="21295C"/>
                </a:solidFill>
                <a:latin typeface="Arial"/>
              </a:rPr>
              <a:t>Ступень: смотрит вторым — подсказка выведена одновременно со срезом.</a:t>
            </a:r>
          </a:p>
        </p:txBody>
      </p:sp>
      <p:sp>
        <p:nvSpPr>
          <p:cNvPr id="23" name="Rectangle 22"/>
          <p:cNvSpPr/>
          <p:nvPr/>
        </p:nvSpPr>
        <p:spPr>
          <a:xfrm>
            <a:off x="6091275" y="3883219"/>
            <a:ext cx="9144" cy="21683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6178143"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первым</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под рукой справочником; рассуждение врач начинает сам</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А может, пара всё-таки лучше человека без модели? Три числа на одних задачах отвечают на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 потерянное время. Избыточная проверка — свой риск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врач с обычными справочниками: это база. Разница между врачом одним и врачом с моделью — два пункта, и она </a:t>
            </a:r>
            <a:r>
              <a:rPr sz="1500" b="1" i="0">
                <a:solidFill>
                  <a:srgbClr val="21295C"/>
                </a:solidFill>
                <a:latin typeface="Arial"/>
              </a:rPr>
              <a:t>незначима</a:t>
            </a:r>
            <a:r>
              <a:rPr sz="1500" b="0" i="0">
                <a:solidFill>
                  <a:srgbClr val="21295C"/>
                </a:solidFill>
                <a:latin typeface="Arial"/>
              </a:rPr>
              <a:t>.</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письменное описание случая, выход — разбор словами: гипотезы, обоснование, различающие проверки. </a:t>
            </a:r>
            <a:r>
              <a:rPr sz="1500" b="1" i="0">
                <a:solidFill>
                  <a:srgbClr val="21295C"/>
                </a:solidFill>
                <a:latin typeface="Arial"/>
              </a:rPr>
              <a:t>Какая это модель и на чём обучена — публикация не называет: сказано «большая языковая модель».</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входит </a:t>
            </a:r>
            <a:r>
              <a:rPr sz="1500" b="1" i="0">
                <a:solidFill>
                  <a:srgbClr val="21295C"/>
                </a:solidFill>
                <a:latin typeface="Arial"/>
              </a:rPr>
              <a:t>снизу</a:t>
            </a:r>
            <a:r>
              <a:rPr sz="1500" b="0" i="0">
                <a:solidFill>
                  <a:srgbClr val="21295C"/>
                </a:solidFill>
                <a:latin typeface="Arial"/>
              </a:rPr>
              <a:t>, самостоятельным употреблением врача, минуя закупку.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Прогон «модель одна» равноправной ветвью не был. Пятьдесят врачей, виньетки по реальным случаям: исходов пациентов никто не проверял.</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анализа одного испытания; в одну базу не складываются</a:t>
            </a:r>
          </a:p>
        </p:txBody>
      </p:sp>
      <p:sp>
        <p:nvSpPr>
          <p:cNvPr id="16" name="Rounded Rectangle 15"/>
          <p:cNvSpPr/>
          <p:nvPr/>
        </p:nvSpPr>
        <p:spPr>
          <a:xfrm>
            <a:off x="374904" y="3193884"/>
            <a:ext cx="11441887" cy="2947433"/>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Цена обеих ошибок</a:t>
            </a:r>
            <a:r>
              <a:rPr sz="1400" b="0" i="0">
                <a:solidFill>
                  <a:srgbClr val="21295C"/>
                </a:solidFill>
                <a:latin typeface="Arial"/>
              </a:rPr>
              <a:t> та же, что в разделе о первичном скрининге: пропуск — рак, найденный позже; ложный вызов — повторные исследования и месяцы тревоги.</a:t>
            </a:r>
          </a:p>
          <a:p>
            <a:pPr algn="l">
              <a:lnSpc>
                <a:spcPct val="126000"/>
              </a:lnSpc>
              <a:spcBef>
                <a:spcPts val="700"/>
              </a:spcBef>
            </a:pPr>
            <a:r>
              <a:rPr sz="1400" b="0" i="0">
                <a:solidFill>
                  <a:srgbClr val="21295C"/>
                </a:solidFill>
                <a:latin typeface="Arial"/>
              </a:rPr>
              <a:t/>
            </a:r>
            <a:r>
              <a:rPr sz="1400" b="1" i="0">
                <a:solidFill>
                  <a:srgbClr val="21295C"/>
                </a:solidFill>
                <a:latin typeface="Arial"/>
              </a:rPr>
              <a:t>Оба классических режима.</a:t>
            </a:r>
            <a:r>
              <a:rPr sz="1400" b="0" i="0">
                <a:solidFill>
                  <a:srgbClr val="21295C"/>
                </a:solidFill>
                <a:latin typeface="Arial"/>
              </a:rPr>
              <a:t> База сравнения — двойное чтение двумя людьми с арбитражем третьего на разногласиях.</a:t>
            </a:r>
          </a:p>
          <a:p>
            <a:pPr algn="l">
              <a:lnSpc>
                <a:spcPct val="126000"/>
              </a:lnSpc>
              <a:spcBef>
                <a:spcPts val="700"/>
              </a:spcBef>
            </a:pPr>
            <a:r>
              <a:rPr sz="1400" b="0" i="0">
                <a:solidFill>
                  <a:srgbClr val="21295C"/>
                </a:solidFill>
                <a:latin typeface="Arial"/>
              </a:rPr>
              <a:t/>
            </a:r>
            <a:r>
              <a:rPr sz="1400" b="1" i="0">
                <a:solidFill>
                  <a:srgbClr val="21295C"/>
                </a:solidFill>
                <a:latin typeface="Arial"/>
              </a:rPr>
              <a:t>Модель против них.</a:t>
            </a:r>
            <a:r>
              <a:rPr sz="1400" b="0" i="0">
                <a:solidFill>
                  <a:srgbClr val="21295C"/>
                </a:solidFill>
                <a:latin typeface="Arial"/>
              </a:rPr>
              <a:t> Модель читает первой, человек читает сам, разногласие разбирает третий. Прибавка чувствительности </a:t>
            </a:r>
            <a:r>
              <a:rPr sz="1400" b="1" i="0">
                <a:solidFill>
                  <a:srgbClr val="21295C"/>
                </a:solidFill>
                <a:latin typeface="Arial"/>
              </a:rPr>
              <a:t>значима</a:t>
            </a:r>
            <a:r>
              <a:rPr sz="1400" b="0" i="0">
                <a:solidFill>
                  <a:srgbClr val="21295C"/>
                </a:solidFill>
                <a:latin typeface="Arial"/>
              </a:rPr>
              <a:t>: независимость здесь </a:t>
            </a:r>
            <a:r>
              <a:rPr sz="1400" b="1" i="0">
                <a:solidFill>
                  <a:srgbClr val="21295C"/>
                </a:solidFill>
                <a:latin typeface="Arial"/>
              </a:rPr>
              <a:t>перестроена</a:t>
            </a:r>
            <a:r>
              <a:rPr sz="1400" b="0" i="0">
                <a:solidFill>
                  <a:srgbClr val="21295C"/>
                </a:solidFill>
                <a:latin typeface="Arial"/>
              </a:rPr>
              <a:t>, и выиграло устройство процедуры.</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Инструмент тот же, что в разборе выше, и устройство то же:</a:t>
            </a:r>
            <a:r>
              <a:rPr sz="1400" b="0" i="0">
                <a:solidFill>
                  <a:srgbClr val="21295C"/>
                </a:solidFill>
                <a:latin typeface="Arial"/>
              </a:rPr>
              <a:t> вход — снимок скрининга, выход — оценка риска вместо второго человеческого чтения. </a:t>
            </a:r>
            <a:r>
              <a:rPr sz="1400" b="1" i="0">
                <a:solidFill>
                  <a:srgbClr val="21295C"/>
                </a:solidFill>
                <a:latin typeface="Arial"/>
              </a:rPr>
              <a:t>Имени система не получила ни там, ни здесь</a:t>
            </a:r>
            <a:r>
              <a:rPr sz="1400" b="0" i="0">
                <a:solidFill>
                  <a:srgbClr val="21295C"/>
                </a:solidFill>
                <a:latin typeface="Arial"/>
              </a:rPr>
              <a:t>, и на чём обучена — не публикуется. </a:t>
            </a:r>
            <a:r>
              <a:rPr sz="1400" b="0" i="1">
                <a:solidFill>
                  <a:srgbClr val="21295C"/>
                </a:solidFill>
                <a:latin typeface="Arial"/>
              </a:rPr>
              <a:t>Распознавание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a:t>
            </a:r>
          </a:p>
        </p:txBody>
      </p:sp>
      <p:sp>
        <p:nvSpPr>
          <p:cNvPr id="19" name="Rectangle 18"/>
          <p:cNvSpPr/>
          <p:nvPr/>
        </p:nvSpPr>
        <p:spPr>
          <a:xfrm>
            <a:off x="6091275" y="3285324"/>
            <a:ext cx="9144" cy="2673113"/>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у обеих групп слабеет связь уверенности с правотой.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промах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по единичному промаху.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Выводят подсказку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5839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разбора дали четыре разных исхода: падение · оба знака сразу · нуль · выигрыш. По отдельному испытанию правило не строится — вот оно, собранное из ста шести: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Теперь «помогает ли ИИ» читается как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места в реанимации и без разговора с семьёй; осложнение считают на тридцатый день</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операцию отложат или не сделают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этой половины в тридцатидневном счёте не видно вовсе: человека не оперировали, и сравнивать не с чем</a:t>
            </a:r>
          </a:p>
        </p:txBody>
      </p:sp>
      <p:sp>
        <p:nvSpPr>
          <p:cNvPr id="12" name="Rounded Rectangle 11"/>
          <p:cNvSpPr/>
          <p:nvPr/>
        </p:nvSpPr>
        <p:spPr>
          <a:xfrm>
            <a:off x="502920" y="2894901"/>
            <a:ext cx="5437479" cy="2166611"/>
          </a:xfrm>
          <a:prstGeom prst="roundRect">
            <a:avLst>
              <a:gd name="adj" fmla="val 1406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05034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шкалы риска — на одной выборке с моделью</a:t>
            </a:r>
          </a:p>
        </p:txBody>
      </p:sp>
      <p:sp>
        <p:nvSpPr>
          <p:cNvPr id="14" name="TextBox 13"/>
          <p:cNvSpPr txBox="1"/>
          <p:nvPr/>
        </p:nvSpPr>
        <p:spPr>
          <a:xfrm>
            <a:off x="667512"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физического состояния — 0,8743</a:t>
            </a:r>
          </a:p>
          <a:p>
            <a:pPr algn="l">
              <a:lnSpc>
                <a:spcPct val="126000"/>
              </a:lnSpc>
            </a:pPr>
            <a:r>
              <a:rPr sz="1450" b="0" i="0">
                <a:solidFill>
                  <a:srgbClr val="21295C"/>
                </a:solidFill>
                <a:latin typeface="Arial"/>
              </a:rPr>
              <a:t>• экстренной хирургии — 0,8910</a:t>
            </a:r>
          </a:p>
          <a:p>
            <a:pPr algn="l">
              <a:lnSpc>
                <a:spcPct val="126000"/>
              </a:lnSpc>
            </a:pPr>
            <a:r>
              <a:rPr sz="1450" b="0" i="0">
                <a:solidFill>
                  <a:srgbClr val="21295C"/>
                </a:solidFill>
                <a:latin typeface="Arial"/>
              </a:rPr>
              <a:t>• онлайн-калькулятор — 0,8975</a:t>
            </a:r>
          </a:p>
          <a:p>
            <a:pPr algn="l">
              <a:lnSpc>
                <a:spcPct val="126000"/>
              </a:lnSpc>
            </a:pPr>
            <a:r>
              <a:rPr sz="1450" b="0" i="0">
                <a:solidFill>
                  <a:srgbClr val="21295C"/>
                </a:solidFill>
                <a:latin typeface="Arial"/>
              </a:rPr>
              <a:t>• модель там же — 0,9162</a:t>
            </a:r>
          </a:p>
        </p:txBody>
      </p:sp>
      <p:sp>
        <p:nvSpPr>
          <p:cNvPr id="15" name="Rounded Rectangle 14"/>
          <p:cNvSpPr/>
          <p:nvPr/>
        </p:nvSpPr>
        <p:spPr>
          <a:xfrm>
            <a:off x="6251295" y="2894901"/>
            <a:ext cx="5437479" cy="2166611"/>
          </a:xfrm>
          <a:prstGeom prst="roundRect">
            <a:avLst>
              <a:gd name="adj" fmla="val 1406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05034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Чутьё хирурга — на других 150 случаях</a:t>
            </a:r>
          </a:p>
        </p:txBody>
      </p:sp>
      <p:sp>
        <p:nvSpPr>
          <p:cNvPr id="17" name="TextBox 16"/>
          <p:cNvSpPr txBox="1"/>
          <p:nvPr/>
        </p:nvSpPr>
        <p:spPr>
          <a:xfrm>
            <a:off x="6415887"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судят по описанию случая, 15 врачей</a:t>
            </a:r>
          </a:p>
          <a:p>
            <a:pPr algn="l">
              <a:lnSpc>
                <a:spcPct val="126000"/>
              </a:lnSpc>
            </a:pPr>
            <a:r>
              <a:rPr sz="1450" b="0" i="0">
                <a:solidFill>
                  <a:srgbClr val="21295C"/>
                </a:solidFill>
                <a:latin typeface="Arial"/>
              </a:rPr>
              <a:t>• смертность 0,841 — модель точнее</a:t>
            </a:r>
          </a:p>
          <a:p>
            <a:pPr algn="l">
              <a:lnSpc>
                <a:spcPct val="126000"/>
              </a:lnSpc>
            </a:pPr>
            <a:r>
              <a:rPr sz="1450" b="0" i="0">
                <a:solidFill>
                  <a:srgbClr val="21295C"/>
                </a:solidFill>
                <a:latin typeface="Arial"/>
              </a:rPr>
              <a:t>• септический шок 0,820 — точнее хирург</a:t>
            </a:r>
          </a:p>
        </p:txBody>
      </p:sp>
      <p:sp>
        <p:nvSpPr>
          <p:cNvPr id="18" name="Rounded Rectangle 17"/>
          <p:cNvSpPr/>
          <p:nvPr/>
        </p:nvSpPr>
        <p:spPr>
          <a:xfrm>
            <a:off x="374904" y="5152953"/>
            <a:ext cx="11441887" cy="108325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244393"/>
            <a:ext cx="11112703" cy="99181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Обещано было дважды: разбор, где добавление человека к машине ухудшило результат — у профессиональных медиков. Это он.</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Классический режим</a:t>
            </a:r>
            <a:r>
              <a:rPr sz="1300" b="0" i="0">
                <a:solidFill>
                  <a:srgbClr val="21295C"/>
                </a:solidFill>
                <a:latin typeface="Arial"/>
              </a:rPr>
              <a:t> — чем задачу решают без обученной модели: шкала, справочник, процедура, второй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c-статистика</a:t>
            </a:r>
            <a:r>
              <a:rPr sz="1300" b="0" i="0">
                <a:solidFill>
                  <a:srgbClr val="21295C"/>
                </a:solidFill>
                <a:latin typeface="Arial"/>
              </a:rPr>
              <a:t> — насколько уверенно шкала отличает того, с кем беда случится, от того, с кем нет: 0,5 — монетка, 1,0 — без промаха.</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калькулятор POTTER, Annals of Surgery 2018, PMID 30124479</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and Acute Care Surgery 2023, PMID 37314698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0,816</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150 случаев</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ОДИН</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a:t>
            </a:r>
          </a:p>
        </p:txBody>
      </p:sp>
      <p:sp>
        <p:nvSpPr>
          <p:cNvPr id="11" name="TextBox 10"/>
          <p:cNvSpPr txBox="1"/>
          <p:nvPr/>
        </p:nvSpPr>
        <p:spPr>
          <a:xfrm>
            <a:off x="3477691"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точнее модели</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С ПОДСКАЗКОЙ</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0,712</a:t>
            </a:r>
          </a:p>
        </p:txBody>
      </p:sp>
      <p:sp>
        <p:nvSpPr>
          <p:cNvPr id="15" name="TextBox 14"/>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ниже обеих сторон</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 СРАВНЕНИЯ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пара хуже обеих сторон</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 хирургов по группам жребием, 30 дней наблюдения</a:t>
            </a:r>
          </a:p>
        </p:txBody>
      </p:sp>
      <p:sp>
        <p:nvSpPr>
          <p:cNvPr id="20" name="Rounded Rectangle 19"/>
          <p:cNvSpPr/>
          <p:nvPr/>
        </p:nvSpPr>
        <p:spPr>
          <a:xfrm>
            <a:off x="374904" y="3193884"/>
            <a:ext cx="11441887" cy="2412723"/>
          </a:xfrm>
          <a:prstGeom prst="roundRect">
            <a:avLst>
              <a:gd name="adj" fmla="val 1263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калькулятор риска перед операцией.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ничего — </a:t>
            </a:r>
            <a:r>
              <a:rPr sz="1500" b="1" i="0">
                <a:solidFill>
                  <a:srgbClr val="21295C"/>
                </a:solidFill>
                <a:latin typeface="Arial"/>
              </a:rPr>
              <a:t>0,834 против 0,833</a:t>
            </a:r>
            <a:r>
              <a:rPr sz="1500" b="0" i="0">
                <a:solidFill>
                  <a:srgbClr val="21295C"/>
                </a:solidFill>
                <a:latin typeface="Arial"/>
              </a:rPr>
              <a:t>.</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Форма восьмая: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Команда, измерившая тройку 92 · 74 · 76, на 70 врачах измерила и </a:t>
            </a:r>
            <a:r>
              <a:rPr sz="1500" b="1" i="0">
                <a:solidFill>
                  <a:srgbClr val="21295C"/>
                </a:solidFill>
                <a:latin typeface="Arial"/>
              </a:rPr>
              <a:t>порядок предъявления: он стоит 8,9 пункта</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Риск оценивался по описаниям случаев, не у койки. Повторения замера нет.</a:t>
            </a:r>
          </a:p>
        </p:txBody>
      </p:sp>
      <p:sp>
        <p:nvSpPr>
          <p:cNvPr id="23" name="Rectangle 22"/>
          <p:cNvSpPr/>
          <p:nvPr/>
        </p:nvSpPr>
        <p:spPr>
          <a:xfrm>
            <a:off x="6091275" y="3285324"/>
            <a:ext cx="9144" cy="213840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Эверетт и соавт., порядок предъявления подсказки, npj Digital Medicine 2026;9:409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977569"/>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5487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622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замер</a:t>
            </a:r>
          </a:p>
        </p:txBody>
      </p:sp>
      <p:sp>
        <p:nvSpPr>
          <p:cNvPr id="7" name="Rectangle 6"/>
          <p:cNvSpPr/>
          <p:nvPr/>
        </p:nvSpPr>
        <p:spPr>
          <a:xfrm>
            <a:off x="3894373" y="1335024"/>
            <a:ext cx="42213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4040677" y="1335024"/>
            <a:ext cx="39287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 свидетельства</a:t>
            </a:r>
          </a:p>
        </p:txBody>
      </p:sp>
      <p:sp>
        <p:nvSpPr>
          <p:cNvPr id="9" name="Rectangle 8"/>
          <p:cNvSpPr/>
          <p:nvPr/>
        </p:nvSpPr>
        <p:spPr>
          <a:xfrm>
            <a:off x="8115707" y="1335024"/>
            <a:ext cx="353649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8262011" y="1335024"/>
            <a:ext cx="324388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на ком и на чём</a:t>
            </a:r>
          </a:p>
        </p:txBody>
      </p:sp>
      <p:sp>
        <p:nvSpPr>
          <p:cNvPr id="11" name="Rectangle 10"/>
          <p:cNvSpPr/>
          <p:nvPr/>
        </p:nvSpPr>
        <p:spPr>
          <a:xfrm>
            <a:off x="539496" y="1763984"/>
            <a:ext cx="3354877"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0,712</a:t>
            </a:r>
            <a:r>
              <a:rPr sz="1450" b="0" i="0">
                <a:solidFill>
                  <a:srgbClr val="21295C"/>
                </a:solidFill>
                <a:latin typeface="Arial"/>
              </a:rPr>
              <a:t> против 0,816 и 0,820 — пара ниже обеих сторон</a:t>
            </a:r>
          </a:p>
        </p:txBody>
      </p:sp>
      <p:sp>
        <p:nvSpPr>
          <p:cNvPr id="13" name="Rectangle 12"/>
          <p:cNvSpPr/>
          <p:nvPr/>
        </p:nvSpPr>
        <p:spPr>
          <a:xfrm>
            <a:off x="3894373" y="1763984"/>
            <a:ext cx="42213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4040677" y="176398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a:t>
            </a:r>
            <a:r>
              <a:rPr sz="1450" b="1" i="0">
                <a:solidFill>
                  <a:srgbClr val="21295C"/>
                </a:solidFill>
                <a:latin typeface="Arial"/>
              </a:rPr>
              <a:t>и</a:t>
            </a:r>
            <a:r>
              <a:rPr sz="1450" b="0" i="0">
                <a:solidFill>
                  <a:srgbClr val="21295C"/>
                </a:solidFill>
                <a:latin typeface="Arial"/>
              </a:rPr>
              <a:t> проспективное наблюдение</a:t>
            </a:r>
          </a:p>
        </p:txBody>
      </p:sp>
      <p:sp>
        <p:nvSpPr>
          <p:cNvPr id="15" name="Rectangle 14"/>
          <p:cNvSpPr/>
          <p:nvPr/>
        </p:nvSpPr>
        <p:spPr>
          <a:xfrm>
            <a:off x="8115707" y="1763984"/>
            <a:ext cx="3536491"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262011" y="176398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30 хирургов по группам жребием, 150 случаев, тридцать дней</a:t>
            </a:r>
          </a:p>
        </p:txBody>
      </p:sp>
      <p:sp>
        <p:nvSpPr>
          <p:cNvPr id="17" name="Rectangle 16"/>
          <p:cNvSpPr/>
          <p:nvPr/>
        </p:nvSpPr>
        <p:spPr>
          <a:xfrm>
            <a:off x="539496" y="2457314"/>
            <a:ext cx="3354877"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92 · 74 · 76</a:t>
            </a:r>
            <a:r>
              <a:rPr sz="1450" b="0" i="0">
                <a:solidFill>
                  <a:srgbClr val="21295C"/>
                </a:solidFill>
                <a:latin typeface="Arial"/>
              </a:rPr>
              <a:t> — врач с моделью не отличим от врача без неё</a:t>
            </a:r>
          </a:p>
        </p:txBody>
      </p:sp>
      <p:sp>
        <p:nvSpPr>
          <p:cNvPr id="19" name="Rectangle 18"/>
          <p:cNvSpPr/>
          <p:nvPr/>
        </p:nvSpPr>
        <p:spPr>
          <a:xfrm>
            <a:off x="3894373" y="2457314"/>
            <a:ext cx="42213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4040677" y="245731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ветвь «модель одна» — наблюдательная</a:t>
            </a:r>
          </a:p>
        </p:txBody>
      </p:sp>
      <p:sp>
        <p:nvSpPr>
          <p:cNvPr id="21" name="Rectangle 20"/>
          <p:cNvSpPr/>
          <p:nvPr/>
        </p:nvSpPr>
        <p:spPr>
          <a:xfrm>
            <a:off x="8115707" y="2457314"/>
            <a:ext cx="3536491"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262011" y="245731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50 врачей, составленные описания случаев, исходов нет</a:t>
            </a:r>
          </a:p>
        </p:txBody>
      </p:sp>
      <p:sp>
        <p:nvSpPr>
          <p:cNvPr id="23" name="Rectangle 22"/>
          <p:cNvSpPr/>
          <p:nvPr/>
        </p:nvSpPr>
        <p:spPr>
          <a:xfrm>
            <a:off x="539496" y="3150643"/>
            <a:ext cx="3354877"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−0,54</a:t>
            </a:r>
            <a:r>
              <a:rPr sz="1450" b="0" i="0">
                <a:solidFill>
                  <a:srgbClr val="21295C"/>
                </a:solidFill>
                <a:latin typeface="Arial"/>
              </a:rPr>
              <a:t> — где модель сильнее, пара хуже модели</a:t>
            </a:r>
          </a:p>
        </p:txBody>
      </p:sp>
      <p:sp>
        <p:nvSpPr>
          <p:cNvPr id="25" name="Rectangle 24"/>
          <p:cNvSpPr/>
          <p:nvPr/>
        </p:nvSpPr>
        <p:spPr>
          <a:xfrm>
            <a:off x="3894373" y="3150643"/>
            <a:ext cx="42213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4040677" y="3150643"/>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свод с мета-анализом, предрегистрированный</a:t>
            </a:r>
          </a:p>
        </p:txBody>
      </p:sp>
      <p:sp>
        <p:nvSpPr>
          <p:cNvPr id="27" name="Rectangle 26"/>
          <p:cNvSpPr/>
          <p:nvPr/>
        </p:nvSpPr>
        <p:spPr>
          <a:xfrm>
            <a:off x="8115707" y="3150643"/>
            <a:ext cx="3536491"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262011" y="3150643"/>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74 работы, 106 опытов; медицинских среди них часть</a:t>
            </a:r>
          </a:p>
        </p:txBody>
      </p:sp>
      <p:sp>
        <p:nvSpPr>
          <p:cNvPr id="29" name="Rectangle 28"/>
          <p:cNvSpPr/>
          <p:nvPr/>
        </p:nvSpPr>
        <p:spPr>
          <a:xfrm>
            <a:off x="539496" y="3843972"/>
            <a:ext cx="3354877" cy="69332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71 → 39</a:t>
            </a:r>
            <a:r>
              <a:rPr sz="1450" b="0" i="0">
                <a:solidFill>
                  <a:srgbClr val="21295C"/>
                </a:solidFill>
                <a:latin typeface="Arial"/>
              </a:rPr>
              <a:t> — тот же читатель при ложной подсказке</a:t>
            </a:r>
          </a:p>
        </p:txBody>
      </p:sp>
      <p:sp>
        <p:nvSpPr>
          <p:cNvPr id="31" name="Rectangle 30"/>
          <p:cNvSpPr/>
          <p:nvPr/>
        </p:nvSpPr>
        <p:spPr>
          <a:xfrm>
            <a:off x="3894373" y="3843972"/>
            <a:ext cx="4221333" cy="69332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4040677" y="3843972"/>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опыт с перекрёстной подачей: читатель против себя</a:t>
            </a:r>
          </a:p>
        </p:txBody>
      </p:sp>
      <p:sp>
        <p:nvSpPr>
          <p:cNvPr id="33" name="Rectangle 32"/>
          <p:cNvSpPr/>
          <p:nvPr/>
        </p:nvSpPr>
        <p:spPr>
          <a:xfrm>
            <a:off x="8115707" y="3843972"/>
            <a:ext cx="3536491" cy="69332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262011" y="3843972"/>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10 читателей национальной программы, 60 случаев</a:t>
            </a:r>
          </a:p>
        </p:txBody>
      </p:sp>
      <p:sp>
        <p:nvSpPr>
          <p:cNvPr id="35" name="TextBox 34"/>
          <p:cNvSpPr txBox="1"/>
          <p:nvPr/>
        </p:nvSpPr>
        <p:spPr>
          <a:xfrm>
            <a:off x="539496" y="468360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Один вывод на четыре замера: пара человека и модели не наследует силу сильнейшей стороны.</a:t>
            </a:r>
            <a:r>
              <a:rPr sz="1500" b="0" i="0">
                <a:solidFill>
                  <a:srgbClr val="21295C"/>
                </a:solidFill>
                <a:latin typeface="Arial"/>
              </a:rPr>
              <a:t> Человека одного она обычно обходит — размер эффекта 0,64. Сильнейшую сторону — нет.</a:t>
            </a:r>
          </a:p>
        </p:txBody>
      </p:sp>
      <p:sp>
        <p:nvSpPr>
          <p:cNvPr id="36" name="TextBox 35"/>
          <p:cNvSpPr txBox="1"/>
          <p:nvPr/>
        </p:nvSpPr>
        <p:spPr>
          <a:xfrm>
            <a:off x="539496" y="543409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Исход пациента не измерен ни в одном из четырёх. Выше своего разряда ни одно из этих чисел не утверждает ничего.</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тройка: Го и соавт., JAMA Network Open 2024</a:t>
            </a:r>
            <a:r>
              <a:rPr sz="1200" b="0" i="1">
                <a:solidFill>
                  <a:srgbClr val="1C7293"/>
                </a:solidFill>
                <a:latin typeface="Arial"/>
              </a:rPr>
              <a:t> · </a:t>
            </a:r>
            <a:r>
              <a:rPr sz="1200" b="0" i="1" u="sng">
                <a:solidFill>
                  <a:srgbClr val="065A82"/>
                </a:solidFill>
                <a:latin typeface="Arial"/>
                <a:hlinkClick r:id="rId4"/>
              </a:rPr>
              <a:t>свод: Ваккаро и соавт., Nature Human Behaviour 2024</a:t>
            </a:r>
            <a:r>
              <a:rPr sz="1200" b="0" i="1">
                <a:solidFill>
                  <a:srgbClr val="1C7293"/>
                </a:solidFill>
                <a:latin typeface="Arial"/>
              </a:rPr>
              <a:t> · </a:t>
            </a:r>
            <a:r>
              <a:rPr sz="1200" b="0" i="1" u="sng">
                <a:solidFill>
                  <a:srgbClr val="065A82"/>
                </a:solidFill>
                <a:latin typeface="Arial"/>
                <a:hlinkClick r:id="rId5"/>
              </a:rPr>
              <a:t>взгляд: Тайб и соавт., Radiology 2026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Постановка диагноза: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Удержать собственное преимущество: там, где человек был точнее машины, подсказка увела его </a:t>
            </a:r>
            <a:r>
              <a:rPr sz="1500" b="1" i="0">
                <a:solidFill>
                  <a:srgbClr val="21295C"/>
                </a:solidFill>
                <a:latin typeface="Arial"/>
              </a:rPr>
              <a:t>ниже его же уровня</a:t>
            </a:r>
            <a:r>
              <a:rPr sz="1500" b="0" i="0">
                <a:solidFill>
                  <a:srgbClr val="21295C"/>
                </a:solidFill>
                <a:latin typeface="Arial"/>
              </a:rPr>
              <a:t> — 0,712 против 0,820.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 </a:t>
            </a:r>
            <a:r>
              <a:rPr sz="1500" b="1" i="0">
                <a:solidFill>
                  <a:srgbClr val="21295C"/>
                </a:solidFill>
                <a:latin typeface="Arial"/>
              </a:rPr>
              <a:t>Исполнитель тот же, но стал хуже</a:t>
            </a:r>
            <a:r>
              <a:rPr sz="1500" b="0" i="0">
                <a:solidFill>
                  <a:srgbClr val="21295C"/>
                </a:solidFill>
                <a:latin typeface="Arial"/>
              </a:rPr>
              <a:t> — у хирурга при той же работе просело собственное преимущество.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6" name="Rectangle 5"/>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Динамическое наблюдение и клинические тревоги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заметит ухудшение.</a:t>
            </a:r>
            <a:r>
              <a:rPr sz="1550" b="0" i="0">
                <a:solidFill>
                  <a:srgbClr val="21295C"/>
                </a:solidFill>
                <a:latin typeface="Arial"/>
              </a:rPr>
              <a:t> Решение принято, лечение назначено. Дальше состояние меняется — иногда за несколько часов, и кто-то должен заметить перемену раньше, чем она станет очевидной.</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0" name="TextBox 9"/>
          <p:cNvSpPr txBox="1"/>
          <p:nvPr/>
        </p:nvSpPr>
        <p:spPr>
          <a:xfrm>
            <a:off x="704088" y="411642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считает балл риска непрерывно, по тем же показателям, что снимает дежурная смена</a:t>
            </a:r>
          </a:p>
        </p:txBody>
      </p:sp>
      <p:sp>
        <p:nvSpPr>
          <p:cNvPr id="11" name="TextBox 10"/>
          <p:cNvSpPr txBox="1"/>
          <p:nvPr/>
        </p:nvSpPr>
        <p:spPr>
          <a:xfrm>
            <a:off x="704088" y="488520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прерывает работу тревогой, когда балл переходит порог</a:t>
            </a:r>
          </a:p>
        </p:txBody>
      </p:sp>
      <p:sp>
        <p:nvSpPr>
          <p:cNvPr id="12" name="TextBox 11"/>
          <p:cNvSpPr txBox="1"/>
          <p:nvPr/>
        </p:nvSpPr>
        <p:spPr>
          <a:xfrm>
            <a:off x="704088" y="535188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подача стадии и классический режим, который модель застала на этом месте.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4086531"/>
          </a:xfrm>
          <a:prstGeom prst="roundRect">
            <a:avLst>
              <a:gd name="adj" fmla="val 745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Сестра идёт по палатам с тележкой: дыхание, пульс, давление, температура — пара минут у постели.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Числа ложатся в бумажный бланк в ногах кровати; обход повторяется через несколько часов.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К утру дорожка измерений готова — и читает её тот, кто пациента ночью не видел.</a:t>
            </a:r>
          </a:p>
          <a:p>
            <a:pPr algn="l">
              <a:lnSpc>
                <a:spcPct val="126000"/>
              </a:lnSpc>
              <a:spcBef>
                <a:spcPts val="700"/>
              </a:spcBef>
            </a:pPr>
            <a:r>
              <a:rPr sz="1350" b="0" i="0">
                <a:solidFill>
                  <a:srgbClr val="21295C"/>
                </a:solidFill>
                <a:latin typeface="Arial"/>
              </a:rPr>
              <a:t/>
            </a:r>
            <a:r>
              <a:rPr sz="1350" b="1" i="0">
                <a:solidFill>
                  <a:srgbClr val="21295C"/>
                </a:solidFill>
                <a:latin typeface="Arial"/>
              </a:rPr>
              <a:t>Шесть действий стадии.</a:t>
            </a:r>
            <a:r>
              <a:rPr sz="1350" b="0" i="0">
                <a:solidFill>
                  <a:srgbClr val="21295C"/>
                </a:solidFill>
                <a:latin typeface="Arial"/>
              </a:rPr>
              <a:t> 1. Снять величины по расписанию · 2. Записать измерение в лист · 3. Перевести отклонения в баллы · 4. Сравнить сумму с порогом · 5. Выполнить назначенное действие · 6. Передать дорожку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Без обученной модели каждое из шести делает человек по таблице</a:t>
            </a:r>
            <a:r>
              <a:rPr sz="135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350" b="0" i="0">
                <a:solidFill>
                  <a:srgbClr val="21295C"/>
                </a:solidFill>
                <a:latin typeface="Arial"/>
              </a:rPr>
              <a:t/>
            </a:r>
            <a:r>
              <a:rPr sz="1350" b="1" i="0">
                <a:solidFill>
                  <a:srgbClr val="21295C"/>
                </a:solidFill>
                <a:latin typeface="Arial"/>
              </a:rPr>
              <a:t>С обученной моделью — три действия из шести:</a:t>
            </a:r>
            <a:r>
              <a:rPr sz="1350" b="0" i="0">
                <a:solidFill>
                  <a:srgbClr val="21295C"/>
                </a:solidFill>
                <a:latin typeface="Arial"/>
              </a:rPr>
              <a:t> счёт балла (3) · сравнение с порогом (4) · назначенное действие (5). Измерение, запись и передача дорожки остались людям.</a:t>
            </a:r>
          </a:p>
          <a:p>
            <a:pPr algn="l">
              <a:lnSpc>
                <a:spcPct val="126000"/>
              </a:lnSpc>
              <a:spcBef>
                <a:spcPts val="700"/>
              </a:spcBef>
            </a:pPr>
            <a:r>
              <a:rPr sz="1350" b="0" i="0">
                <a:solidFill>
                  <a:srgbClr val="21295C"/>
                </a:solidFill>
                <a:latin typeface="Arial"/>
              </a:rPr>
              <a:t/>
            </a:r>
            <a:r>
              <a:rPr sz="1350" b="1" i="0">
                <a:solidFill>
                  <a:srgbClr val="21295C"/>
                </a:solidFill>
                <a:latin typeface="Arial"/>
              </a:rPr>
              <a:t>Новый шаг — разобрать тревогу и отклонить её.</a:t>
            </a:r>
          </a:p>
          <a:p>
            <a:pPr algn="l">
              <a:lnSpc>
                <a:spcPct val="126000"/>
              </a:lnSpc>
              <a:spcBef>
                <a:spcPts val="700"/>
              </a:spcBef>
            </a:pPr>
            <a:r>
              <a:rPr sz="1350" b="0" i="0">
                <a:solidFill>
                  <a:srgbClr val="21295C"/>
                </a:solidFill>
                <a:latin typeface="Arial"/>
              </a:rPr>
              <a:t/>
            </a:r>
            <a:r>
              <a:rPr sz="1350" b="0" i="0">
                <a:solidFill>
                  <a:srgbClr val="21295C"/>
                </a:solidFill>
                <a:latin typeface="Arial"/>
              </a:rPr>
              <a:t>Ухудшение читается по направлению дорожки: 78 → 92 → 104 при падающем давлении говорит больше каждого числа отдельно.</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одно и повторяющееся: звать старшего сейчас или на следующем обходе. </a:t>
            </a:r>
            <a:r>
              <a:rPr sz="1350" b="1" i="0">
                <a:solidFill>
                  <a:srgbClr val="21295C"/>
                </a:solidFill>
                <a:latin typeface="Arial"/>
              </a:rPr>
              <a:t>Решает тот, кто видит только запись.</a:t>
            </a:r>
          </a:p>
          <a:p>
            <a:pPr algn="l">
              <a:lnSpc>
                <a:spcPct val="126000"/>
              </a:lnSpc>
              <a:spcBef>
                <a:spcPts val="700"/>
              </a:spcBef>
            </a:pPr>
            <a:r>
              <a:rPr sz="1350" b="0" i="0">
                <a:solidFill>
                  <a:srgbClr val="21295C"/>
                </a:solidFill>
                <a:latin typeface="Arial"/>
              </a:rPr>
              <a:t/>
            </a:r>
            <a:r>
              <a:rPr sz="1350" b="1" i="0">
                <a:solidFill>
                  <a:srgbClr val="21295C"/>
                </a:solidFill>
                <a:latin typeface="Arial"/>
              </a:rPr>
              <a:t>Женщины с письмом в этой палате нет: после письма «норма» за ней не наблюдает никто.</a:t>
            </a:r>
          </a:p>
        </p:txBody>
      </p:sp>
      <p:sp>
        <p:nvSpPr>
          <p:cNvPr id="17" name="Rectangle 16"/>
          <p:cNvSpPr/>
          <p:nvPr/>
        </p:nvSpPr>
        <p:spPr>
          <a:xfrm>
            <a:off x="6091275" y="2241116"/>
            <a:ext cx="9144" cy="392011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502920" y="2478765"/>
            <a:ext cx="5437479"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согласительная комиссия и напечатала на карте</a:t>
            </a:r>
          </a:p>
          <a:p>
            <a:pPr algn="l">
              <a:lnSpc>
                <a:spcPct val="126000"/>
              </a:lnSpc>
            </a:pPr>
            <a:r>
              <a:rPr sz="1450" b="0" i="0">
                <a:solidFill>
                  <a:srgbClr val="21295C"/>
                </a:solidFill>
                <a:latin typeface="Arial"/>
              </a:rPr>
              <a:t>• видно, почему при частоте дыхания 25 выходит ровно три балла</a:t>
            </a:r>
          </a:p>
          <a:p>
            <a:pPr algn="l">
              <a:lnSpc>
                <a:spcPct val="126000"/>
              </a:lnSpc>
            </a:pPr>
            <a:r>
              <a:rPr sz="1450" b="0" i="0">
                <a:solidFill>
                  <a:srgbClr val="21295C"/>
                </a:solidFill>
                <a:latin typeface="Arial"/>
              </a:rPr>
              <a:t>• ошибку правят как ошибку документа: комиссия, новая редакция, адресат возражения</a:t>
            </a:r>
          </a:p>
        </p:txBody>
      </p:sp>
      <p:sp>
        <p:nvSpPr>
          <p:cNvPr id="19" name="Rounded Rectangle 18"/>
          <p:cNvSpPr/>
          <p:nvPr/>
        </p:nvSpPr>
        <p:spPr>
          <a:xfrm>
            <a:off x="6251295" y="2478765"/>
            <a:ext cx="5437479"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263421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и целилась</a:t>
            </a:r>
          </a:p>
        </p:txBody>
      </p:sp>
      <p:sp>
        <p:nvSpPr>
          <p:cNvPr id="21" name="TextBox 20"/>
          <p:cNvSpPr txBox="1"/>
          <p:nvPr/>
        </p:nvSpPr>
        <p:spPr>
          <a:xfrm>
            <a:off x="6415887"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когда показатели уже отклонились, а человеку с сепсисом к этой минуте плохо несколько часов</a:t>
            </a:r>
          </a:p>
          <a:p>
            <a:pPr algn="l">
              <a:lnSpc>
                <a:spcPct val="126000"/>
              </a:lnSpc>
            </a:pPr>
            <a:r>
              <a:rPr sz="1450" b="0" i="0">
                <a:solidFill>
                  <a:srgbClr val="21295C"/>
                </a:solidFill>
                <a:latin typeface="Arial"/>
              </a:rPr>
              <a:t>• груба: один порог на восьмидесятилетнего после операции на брюшной полости и на тридцатилетнего с переломом</a:t>
            </a:r>
          </a:p>
          <a:p>
            <a:pPr algn="l">
              <a:lnSpc>
                <a:spcPct val="126000"/>
              </a:lnSpc>
            </a:pPr>
            <a:r>
              <a:rPr sz="1450" b="0" i="0">
                <a:solidFill>
                  <a:srgbClr val="21295C"/>
                </a:solidFill>
                <a:latin typeface="Arial"/>
              </a:rPr>
              <a:t>• знает шесть величин, снятых сейчас: ни диагноза, ни анализов, ни прошлых госпитализаций</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Шкала — классический режим этой стадии: дальше модель сравнивается именно с ней.</a:t>
            </a:r>
            <a:r>
              <a:rPr sz="1450" b="0" i="0">
                <a:solidFill>
                  <a:srgbClr val="21295C"/>
                </a:solidFill>
                <a:latin typeface="Arial"/>
              </a:rPr>
              <a:t> </a:t>
            </a:r>
            <a:r>
              <a:rPr sz="1450" b="0" i="1">
                <a:solidFill>
                  <a:srgbClr val="21295C"/>
                </a:solidFill>
                <a:latin typeface="Arial"/>
              </a:rPr>
              <a:t>Выходные данные действующей редакции карты не названы — ни года, ни публикации профессионального общества.</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часы задержки лечения: от капельницы с антибиотиком до реанимации</a:t>
            </a:r>
          </a:p>
          <a:p>
            <a:pPr algn="l">
              <a:lnSpc>
                <a:spcPct val="126000"/>
              </a:lnSpc>
            </a:pPr>
            <a:r>
              <a:rPr sz="1350" b="0" i="0">
                <a:solidFill>
                  <a:srgbClr val="21295C"/>
                </a:solidFill>
                <a:latin typeface="Arial"/>
              </a:rPr>
              <a:t>• нераспознанное ухудшение — одна из ведущих причин внутрибольничной смерти</a:t>
            </a:r>
          </a:p>
          <a:p>
            <a:pPr algn="l">
              <a:lnSpc>
                <a:spcPct val="126000"/>
              </a:lnSpc>
            </a:pPr>
            <a:r>
              <a:rPr sz="1350" b="0" i="0">
                <a:solidFill>
                  <a:srgbClr val="21295C"/>
                </a:solidFill>
                <a:latin typeface="Arial"/>
              </a:rPr>
              <a:t>• считается не в деньгах; точное место в ряду причин здесь не названо</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анализы, назначенные «чтобы исключить»</a:t>
            </a:r>
          </a:p>
          <a:p>
            <a:pPr algn="l">
              <a:lnSpc>
                <a:spcPct val="126000"/>
              </a:lnSpc>
            </a:pPr>
            <a:r>
              <a:rPr sz="1350" b="0" i="0">
                <a:solidFill>
                  <a:srgbClr val="21295C"/>
                </a:solidFill>
                <a:latin typeface="Arial"/>
              </a:rPr>
              <a:t>• антибиотик «на всякий случай» — и вклад в устойчивость возбудителя</a:t>
            </a:r>
          </a:p>
          <a:p>
            <a:pPr algn="l">
              <a:lnSpc>
                <a:spcPct val="126000"/>
              </a:lnSpc>
            </a:pPr>
            <a:r>
              <a:rPr sz="1350" b="0" i="0">
                <a:solidFill>
                  <a:srgbClr val="21295C"/>
                </a:solidFill>
                <a:latin typeface="Arial"/>
              </a:rPr>
              <a:t>• время сестры и врача, снятое с другого пациента той же смены</a:t>
            </a:r>
          </a:p>
          <a:p>
            <a:pPr algn="l">
              <a:lnSpc>
                <a:spcPct val="126000"/>
              </a:lnSpc>
            </a:pPr>
            <a:r>
              <a:rPr sz="1350" b="0" i="0">
                <a:solidFill>
                  <a:srgbClr val="21295C"/>
                </a:solidFill>
                <a:latin typeface="Arial"/>
              </a:rPr>
              <a:t>• через сотню повторений — привычка закрывать оповещение не читая</a:t>
            </a:r>
          </a:p>
        </p:txBody>
      </p:sp>
      <p:sp>
        <p:nvSpPr>
          <p:cNvPr id="10" name="Rounded Rectangle 9"/>
          <p:cNvSpPr/>
          <p:nvPr/>
        </p:nvSpPr>
        <p:spPr>
          <a:xfrm>
            <a:off x="374904" y="4535424"/>
            <a:ext cx="11441887" cy="1283891"/>
          </a:xfrm>
          <a:prstGeom prst="roundRect">
            <a:avLst>
              <a:gd name="adj" fmla="val 2374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и та же дежурная смена, и выбор между ними делается по многу раз за ночь.</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Оба классических режима, посчитанные в одной единице — до всякой модели</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У шкалы раннего предупреждения подтверждаются 8 тревог из ста. Остальные 92 сделаны впустую — до всякого машинного обучения.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другие шкалы того же разбора, на той же выборке: 12 и 18 из ста.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Прибор у постели решает другую задачу: порог там выставлен рукой, обученной модели нет вовсе. Доли прибора и шкалы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Сравнивать модель надо с этими числами. Нуля в этом сравнении нет.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27 697 пациентов одной университетской системы, сепсис у 6,6 из ста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301470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информационную систему. Вход — показатели и записи карты, читаемые непрерывно; выход — балл риска и тревога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0,76 и 0,63 — это разница в пригодности.</a:t>
            </a:r>
          </a:p>
        </p:txBody>
      </p:sp>
      <p:sp>
        <p:nvSpPr>
          <p:cNvPr id="18" name="TextBox 17"/>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 0,76 можно опереться при настройке порога; при 0,63 неприемлем либо поток тревог, либо чувствительность.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 </a:t>
            </a:r>
            <a:r>
              <a:rPr sz="1500" b="1" i="0">
                <a:solidFill>
                  <a:srgbClr val="21295C"/>
                </a:solidFill>
                <a:latin typeface="Arial"/>
              </a:rPr>
              <a:t>Обучена на данных пациентов — так пишет разработчик; объёма выборки он не подтверждает.</a:t>
            </a:r>
            <a:r>
              <a:rPr sz="1500" b="0" i="0">
                <a:solidFill>
                  <a:srgbClr val="21295C"/>
                </a:solidFill>
                <a:latin typeface="Arial"/>
              </a:rPr>
              <a:t> </a:t>
            </a:r>
            <a:r>
              <a:rPr sz="1500" b="0" i="1">
                <a:solidFill>
                  <a:srgbClr val="21295C"/>
                </a:solidFill>
                <a:latin typeface="Arial"/>
              </a:rPr>
              <a:t>Прогноз на структурированных данных.</a:t>
            </a:r>
          </a:p>
        </p:txBody>
      </p:sp>
      <p:sp>
        <p:nvSpPr>
          <p:cNvPr id="19" name="Rectangle 18"/>
          <p:cNvSpPr/>
          <p:nvPr/>
        </p:nvSpPr>
        <p:spPr>
          <a:xfrm>
            <a:off x="6091275" y="310614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Пример 1, арифметика: сто госпитализаций, восемнадцать тревог, два подтверждённых случая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занижает измеренное</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 а не госпитализации</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 пресса печатает отозванное до сих пор</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7" name="Rounded Rectangle 16"/>
          <p:cNvSpPr/>
          <p:nvPr/>
        </p:nvSpPr>
        <p:spPr>
          <a:xfrm>
            <a:off x="1920240"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40085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4311220"/>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Знаменатели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Шкала, которую модель заменяла, подтверждалась 8 тревогами из ста; другая шкала того же разбора — 18. Модель из этой полосы не вышла.</a:t>
            </a:r>
          </a:p>
        </p:txBody>
      </p:sp>
      <p:sp>
        <p:nvSpPr>
          <p:cNvPr id="28" name="TextBox 27"/>
          <p:cNvSpPr txBox="1"/>
          <p:nvPr/>
        </p:nvSpPr>
        <p:spPr>
          <a:xfrm>
            <a:off x="6278727"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9" name="Rectangle 28"/>
          <p:cNvSpPr/>
          <p:nvPr/>
        </p:nvSpPr>
        <p:spPr>
          <a:xfrm>
            <a:off x="6091275" y="4402660"/>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другие больницы</a:t>
            </a:r>
          </a:p>
        </p:txBody>
      </p:sp>
      <p:sp>
        <p:nvSpPr>
          <p:cNvPr id="4" name="Rounded Rectangle 3"/>
          <p:cNvSpPr/>
          <p:nvPr/>
        </p:nvSpPr>
        <p:spPr>
          <a:xfrm>
            <a:off x="502920"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a:t>
            </a:r>
          </a:p>
        </p:txBody>
      </p:sp>
      <p:sp>
        <p:nvSpPr>
          <p:cNvPr id="8" name="Rounded Rectangle 7"/>
          <p:cNvSpPr/>
          <p:nvPr/>
        </p:nvSpPr>
        <p:spPr>
          <a:xfrm>
            <a:off x="2394127"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506772"/>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4–8 тревог на подтверждение</a:t>
            </a:r>
          </a:p>
        </p:txBody>
      </p:sp>
      <p:sp>
        <p:nvSpPr>
          <p:cNvPr id="20" name="Rounded Rectangle 19"/>
          <p:cNvSpPr/>
          <p:nvPr/>
        </p:nvSpPr>
        <p:spPr>
          <a:xfrm>
            <a:off x="374904" y="3933236"/>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24676"/>
            <a:ext cx="11112703" cy="22115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данные 2023 года, окно предсказания шесть часов.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проверили проспективно, в четырёх системах: различение выросло, доля подтверждения осталась низкой.</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Форма «нагрузка выросла на том же месте» — та же смена у той же постели; форма «шаг появился» — разбор потока тревог как статья рабочего времени.</a:t>
            </a:r>
          </a:p>
          <a:p>
            <a:pPr algn="l">
              <a:lnSpc>
                <a:spcPct val="126000"/>
              </a:lnSpc>
              <a:spcBef>
                <a:spcPts val="700"/>
              </a:spcBef>
            </a:pPr>
            <a:r>
              <a:rPr sz="1250" b="0" i="0">
                <a:solidFill>
                  <a:srgbClr val="21295C"/>
                </a:solidFill>
                <a:latin typeface="Arial"/>
              </a:rPr>
              <a:t/>
            </a:r>
            <a:r>
              <a:rPr sz="1250" b="0" i="0">
                <a:solidFill>
                  <a:srgbClr val="21295C"/>
                </a:solidFill>
                <a:latin typeface="Arial"/>
              </a:rPr>
              <a:t>Та же постановка перенесена на детей; чисел из того разбора не приводим — полный текст закрыт.</a:t>
            </a:r>
          </a:p>
        </p:txBody>
      </p:sp>
      <p:sp>
        <p:nvSpPr>
          <p:cNvPr id="34" name="TextBox 33"/>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поток тревог в 24 больницах за вирусную эпидемию: </a:t>
            </a:r>
            <a:r>
              <a:rPr sz="1250" b="1" i="0">
                <a:solidFill>
                  <a:srgbClr val="21295C"/>
                </a:solidFill>
                <a:latin typeface="Arial"/>
              </a:rPr>
              <a:t>953 → 1 363 в сутки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загрузка за тот же период: </a:t>
            </a:r>
            <a:r>
              <a:rPr sz="1250" b="1" i="0">
                <a:solidFill>
                  <a:srgbClr val="21295C"/>
                </a:solidFill>
                <a:latin typeface="Arial"/>
              </a:rPr>
              <a:t>10 159 → 6 634 пациента</a:t>
            </a:r>
            <a:r>
              <a:rPr sz="1250" b="0" i="0">
                <a:solidFill>
                  <a:srgbClr val="21295C"/>
                </a:solidFill>
                <a:latin typeface="Arial"/>
              </a:rPr>
              <a:t>, доля с тревогой </a:t>
            </a:r>
            <a:r>
              <a:rPr sz="1250" b="1" i="0">
                <a:solidFill>
                  <a:srgbClr val="21295C"/>
                </a:solidFill>
                <a:latin typeface="Arial"/>
              </a:rPr>
              <a:t>9 → 21 из 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Распределение входов сдвинулось, порог остался на месте.</a:t>
            </a:r>
          </a:p>
        </p:txBody>
      </p:sp>
      <p:sp>
        <p:nvSpPr>
          <p:cNvPr id="35" name="Rectangle 34"/>
          <p:cNvSpPr/>
          <p:nvPr/>
        </p:nvSpPr>
        <p:spPr>
          <a:xfrm>
            <a:off x="6091275" y="4781050"/>
            <a:ext cx="9144" cy="1415554"/>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Динамическое наблюдение: тревога без названной базы не предупреждает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прочтёт запись потом.</a:t>
            </a:r>
            <a:r>
              <a:rPr sz="1550" b="0" i="0">
                <a:solidFill>
                  <a:srgbClr val="21295C"/>
                </a:solidFill>
                <a:latin typeface="Arial"/>
              </a:rPr>
              <a:t> Приём и госпитализация заканчиваются документом. Решение по нему принимает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Врач спрашивает, смотрит, назначает — и параллельно держит в голове структуру будущей записи. Что не успели, остаётся домашней работой с картой.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 3. Вычитать и подписать · 4. Собрать выписной документ · 5. Передать его читателю · 6. Предъявить при разборе случая.</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Шаг у человека убрали: структуру во время разговора держит инструмент — за лекцию это единственное такое место. Взамен дали новый: вычитать чужой текст и найти то, чего не было.</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до всякой точности.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меньше, чем было</a:t>
            </a:r>
            <a:r>
              <a:rPr sz="1200" b="0" i="0">
                <a:solidFill>
                  <a:srgbClr val="21295C"/>
                </a:solidFill>
                <a:latin typeface="Arial"/>
              </a:rPr>
              <a:t> — читатель назначит заново уже проверенное</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то, чего не было</a:t>
            </a:r>
            <a:r>
              <a:rPr sz="1200" b="0" i="0">
                <a:solidFill>
                  <a:srgbClr val="21295C"/>
                </a:solidFill>
                <a:latin typeface="Arial"/>
              </a:rPr>
              <a:t> — назначит по ложному основанию</a:t>
            </a:r>
          </a:p>
          <a:p>
            <a:pPr algn="l">
              <a:lnSpc>
                <a:spcPct val="126000"/>
              </a:lnSpc>
              <a:spcBef>
                <a:spcPts val="700"/>
              </a:spcBef>
            </a:pPr>
            <a:r>
              <a:rPr sz="1200" b="0" i="0">
                <a:solidFill>
                  <a:srgbClr val="21295C"/>
                </a:solidFill>
                <a:latin typeface="Arial"/>
              </a:rPr>
              <a:t/>
            </a:r>
            <a:r>
              <a:rPr sz="1200" b="1" i="0">
                <a:solidFill>
                  <a:srgbClr val="21295C"/>
                </a:solidFill>
                <a:latin typeface="Arial"/>
              </a:rPr>
              <a:t>Запись о женщине с письмом — заключение по снимку и строка исхода: читает их другой человек со своим вопросом.</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50" b="0" i="0">
                <a:solidFill>
                  <a:srgbClr val="21295C"/>
                </a:solidFill>
                <a:latin typeface="Arial"/>
              </a:rPr>
              <a:t/>
            </a:r>
            <a:r>
              <a:rPr sz="1250" b="1" i="0">
                <a:solidFill>
                  <a:srgbClr val="21295C"/>
                </a:solidFill>
                <a:latin typeface="Arial"/>
              </a:rPr>
              <a:t>Устроено.</a:t>
            </a:r>
            <a:r>
              <a:rPr sz="1250" b="0" i="0">
                <a:solidFill>
                  <a:srgbClr val="21295C"/>
                </a:solidFill>
                <a:latin typeface="Arial"/>
              </a:rPr>
              <a:t> Вход — звук приёма, выход — черновик под вычитку. </a:t>
            </a:r>
            <a:r>
              <a:rPr sz="1250" b="1" i="0">
                <a:solidFill>
                  <a:srgbClr val="21295C"/>
                </a:solidFill>
                <a:latin typeface="Arial"/>
              </a:rPr>
              <a:t>На чём обучены оба инструмента, препринт не раскрывает, и имён их не печатает тоже:</a:t>
            </a:r>
            <a:r>
              <a:rPr sz="1250" b="0" i="0">
                <a:solidFill>
                  <a:srgbClr val="21295C"/>
                </a:solidFill>
                <a:latin typeface="Arial"/>
              </a:rPr>
              <a:t> в испытании они «первый» и «второй». Режим занимают Abridge, Dragon Copilot, Nabla, Heidi. </a:t>
            </a:r>
            <a:r>
              <a:rPr sz="1250" b="0" i="1">
                <a:solidFill>
                  <a:srgbClr val="21295C"/>
                </a:solidFill>
                <a:latin typeface="Arial"/>
              </a:rPr>
              <a:t>Генерация на тексте.</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Классический режим.</a:t>
            </a:r>
            <a:r>
              <a:rPr sz="1250" b="0" i="0">
                <a:solidFill>
                  <a:srgbClr val="21295C"/>
                </a:solidFill>
                <a:latin typeface="Arial"/>
              </a:rPr>
              <a:t> Врач пишет сам — посчитан контрольной группой. Живой писец — назван и не посчитан.</a:t>
            </a:r>
          </a:p>
        </p:txBody>
      </p:sp>
      <p:sp>
        <p:nvSpPr>
          <p:cNvPr id="20" name="TextBox 19"/>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Заявление и замер считают разные величины:</a:t>
            </a:r>
            <a:r>
              <a:rPr sz="1250" b="0" i="0">
                <a:solidFill>
                  <a:srgbClr val="21295C"/>
                </a:solidFill>
                <a:latin typeface="Arial"/>
              </a:rPr>
              <a:t> время в карте вообще против времени в заметке. Четверть часа экономии не укладывается в четыре минуты работы над заметкой. </a:t>
            </a:r>
            <a:r>
              <a:rPr sz="125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Два продукта одного режима, один дизайн, одно население врачей — и один результат значимый, другой нулевой.</a:t>
            </a:r>
            <a:r>
              <a:rPr sz="1250" b="0" i="0">
                <a:solidFill>
                  <a:srgbClr val="21295C"/>
                </a:solidFill>
                <a:latin typeface="Arial"/>
              </a:rPr>
              <a:t> Измеренный эффект принадлежит реализации, а не классу инструмента.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1" name="Rectangle 20"/>
          <p:cNvSpPr/>
          <p:nvPr/>
        </p:nvSpPr>
        <p:spPr>
          <a:xfrm>
            <a:off x="6091275" y="3700267"/>
            <a:ext cx="9144" cy="2405758"/>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усталость от работы ниже</a:t>
            </a:r>
          </a:p>
        </p:txBody>
      </p:sp>
      <p:sp>
        <p:nvSpPr>
          <p:cNvPr id="8" name="Rounded Rectangle 7"/>
          <p:cNvSpPr/>
          <p:nvPr/>
        </p:nvSpPr>
        <p:spPr>
          <a:xfrm>
            <a:off x="3340531"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вычитку каждого черновика и службу контроля со штатом</a:t>
            </a:r>
          </a:p>
        </p:txBody>
      </p:sp>
      <p:sp>
        <p:nvSpPr>
          <p:cNvPr id="11" name="Rounded Rectangle 10"/>
          <p:cNvSpPr/>
          <p:nvPr/>
        </p:nvSpPr>
        <p:spPr>
          <a:xfrm>
            <a:off x="6178143"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4" name="TextBox 13"/>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день внедрения → сто пятидесятый</a:t>
            </a:r>
          </a:p>
        </p:txBody>
      </p:sp>
      <p:sp>
        <p:nvSpPr>
          <p:cNvPr id="15" name="Rounded Rectangle 14"/>
          <p:cNvSpPr/>
          <p:nvPr/>
        </p:nvSpPr>
        <p:spPr>
          <a:xfrm>
            <a:off x="9015755" y="1335024"/>
            <a:ext cx="2673019" cy="1480733"/>
          </a:xfrm>
          <a:prstGeom prst="roundRect">
            <a:avLst>
              <a:gd name="adj" fmla="val 2058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953221"/>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набор сократился, вычитка появилась, правка та же</a:t>
            </a:r>
          </a:p>
        </p:txBody>
      </p:sp>
      <p:sp>
        <p:nvSpPr>
          <p:cNvPr id="18" name="TextBox 17"/>
          <p:cNvSpPr txBox="1"/>
          <p:nvPr/>
        </p:nvSpPr>
        <p:spPr>
          <a:xfrm>
            <a:off x="502920" y="303521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9" name="Rounded Rectangle 18"/>
          <p:cNvSpPr/>
          <p:nvPr/>
        </p:nvSpPr>
        <p:spPr>
          <a:xfrm>
            <a:off x="1920240"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21" name="Right Arrow 20"/>
          <p:cNvSpPr/>
          <p:nvPr/>
        </p:nvSpPr>
        <p:spPr>
          <a:xfrm>
            <a:off x="6713067" y="316775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36569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1920240"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7" name="Right Arrow 26"/>
          <p:cNvSpPr/>
          <p:nvPr/>
        </p:nvSpPr>
        <p:spPr>
          <a:xfrm>
            <a:off x="4202353" y="378945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30" name="Right Arrow 29"/>
          <p:cNvSpPr/>
          <p:nvPr/>
        </p:nvSpPr>
        <p:spPr>
          <a:xfrm>
            <a:off x="6713067" y="378945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33" name="Right Arrow 32"/>
          <p:cNvSpPr/>
          <p:nvPr/>
        </p:nvSpPr>
        <p:spPr>
          <a:xfrm>
            <a:off x="9223781" y="378945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2786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7" name="Rounded Rectangle 36"/>
          <p:cNvSpPr/>
          <p:nvPr/>
        </p:nvSpPr>
        <p:spPr>
          <a:xfrm>
            <a:off x="1920240" y="4242030"/>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2002536" y="4287750"/>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9" name="TextBox 38"/>
          <p:cNvSpPr txBox="1"/>
          <p:nvPr/>
        </p:nvSpPr>
        <p:spPr>
          <a:xfrm>
            <a:off x="502920" y="47539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40" name="Rounded Rectangle 39"/>
          <p:cNvSpPr/>
          <p:nvPr/>
        </p:nvSpPr>
        <p:spPr>
          <a:xfrm>
            <a:off x="374904" y="5056683"/>
            <a:ext cx="11441887" cy="11795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148123"/>
            <a:ext cx="11112703" cy="10880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Пятую операцию делает не врач:</a:t>
            </a:r>
            <a:r>
              <a:rPr sz="150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Усталость ниже, а активное время правки то же.</a:t>
            </a:r>
            <a:r>
              <a:rPr sz="1500" b="0" i="0">
                <a:solidFill>
                  <a:srgbClr val="21295C"/>
                </a:solidFill>
                <a:latin typeface="Arial"/>
              </a:rPr>
              <a:t> Сняли другое: необходимость держать структуру документа в голове при живом человеке.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Модель собирает выписной документ; врач вычитывает и подписывает. Шаги и исполнители те же, а по эпикризу назначают в другом месте. </a:t>
            </a:r>
            <a:r>
              <a:rPr sz="1350" b="1" i="0">
                <a:solidFill>
                  <a:srgbClr val="21295C"/>
                </a:solidFill>
                <a:latin typeface="Arial"/>
              </a:rPr>
              <a:t>Вход — история болезни и дневниковые записи госпитализации, выход — черновик повествовательной части; ни имени модели, ни обучающих данных работа не называет.</a:t>
            </a:r>
            <a:r>
              <a:rPr sz="1350" b="0" i="0">
                <a:solidFill>
                  <a:srgbClr val="21295C"/>
                </a:solidFill>
                <a:latin typeface="Arial"/>
              </a:rPr>
              <a:t> </a:t>
            </a:r>
            <a:r>
              <a:rPr sz="1350" b="0" i="1">
                <a:solidFill>
                  <a:srgbClr val="21295C"/>
                </a:solidFill>
                <a:latin typeface="Arial"/>
              </a:rPr>
              <a:t>Генерация на тексте.</a:t>
            </a:r>
          </a:p>
          <a:p>
            <a:pPr algn="l">
              <a:lnSpc>
                <a:spcPct val="126000"/>
              </a:lnSpc>
              <a:spcBef>
                <a:spcPts val="700"/>
              </a:spcBef>
            </a:pPr>
            <a:r>
              <a:rPr sz="1350" b="0" i="0">
                <a:solidFill>
                  <a:srgbClr val="21295C"/>
                </a:solidFill>
                <a:latin typeface="Arial"/>
              </a:rPr>
              <a:t/>
            </a:r>
            <a:r>
              <a:rPr sz="1350" b="1" i="0">
                <a:solidFill>
                  <a:srgbClr val="21295C"/>
                </a:solidFill>
                <a:latin typeface="Arial"/>
              </a:rPr>
              <a:t>Оба классических режима, и посчитан из них один.</a:t>
            </a:r>
            <a:r>
              <a:rPr sz="1350" b="0" i="0">
                <a:solidFill>
                  <a:srgbClr val="21295C"/>
                </a:solidFill>
                <a:latin typeface="Arial"/>
              </a:rPr>
              <a:t> Врач пишет эпикриз сам — посчитан, и это база всех сравнений. Черновик ординатора под подпись лечащего — назван и не посчитан.</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 измерено.</a:t>
            </a:r>
            <a:r>
              <a:rPr sz="1350" b="0" i="0">
                <a:solidFill>
                  <a:srgbClr val="21295C"/>
                </a:solidFill>
                <a:latin typeface="Arial"/>
              </a:rPr>
              <a:t> Сто госпитализаций длиной от трёх до шести дней. 22 врача-рецензента. Каждый документ смотрели двое, и ни один не знал, где машинный текст.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общее качество сопоставимо</a:t>
            </a:r>
            <a:r>
              <a:rPr sz="1350" b="0" i="0">
                <a:solidFill>
                  <a:srgbClr val="21295C"/>
                </a:solidFill>
                <a:latin typeface="Arial"/>
              </a:rPr>
              <a:t> — 3,67 у врачей против 3,77 у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документ модели короче и связнее</a:t>
            </a:r>
            <a:r>
              <a:rPr sz="1350" b="0" i="0">
                <a:solidFill>
                  <a:srgbClr val="21295C"/>
                </a:solidFill>
                <a:latin typeface="Arial"/>
              </a:rPr>
              <a:t> — и при этом менее полон</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ошибок больше, каждая не страшнее</a:t>
            </a:r>
            <a:r>
              <a:rPr sz="1350" b="0" i="0">
                <a:solidFill>
                  <a:srgbClr val="21295C"/>
                </a:solidFill>
                <a:latin typeface="Arial"/>
              </a:rPr>
              <a:t> — потенциал вреда одной 1,34 против 1,35</a:t>
            </a:r>
          </a:p>
          <a:p>
            <a:pPr algn="l">
              <a:lnSpc>
                <a:spcPct val="126000"/>
              </a:lnSpc>
              <a:spcBef>
                <a:spcPts val="700"/>
              </a:spcBef>
            </a:pPr>
            <a:r>
              <a:rPr sz="1350" b="0" i="0">
                <a:solidFill>
                  <a:srgbClr val="21295C"/>
                </a:solidFill>
                <a:latin typeface="Arial"/>
              </a:rPr>
              <a:t/>
            </a:r>
            <a:r>
              <a:rPr sz="1350" b="1" i="0">
                <a:solidFill>
                  <a:srgbClr val="21295C"/>
                </a:solidFill>
                <a:latin typeface="Arial"/>
              </a:rPr>
              <a:t>Сместилась цена ошибки:</a:t>
            </a:r>
            <a:r>
              <a:rPr sz="1350" b="0" i="0">
                <a:solidFill>
                  <a:srgbClr val="21295C"/>
                </a:solidFill>
                <a:latin typeface="Arial"/>
              </a:rPr>
              <a:t> пишет тот же человек, а стоит пропущенная строка другого.</a:t>
            </a:r>
          </a:p>
        </p:txBody>
      </p:sp>
      <p:sp>
        <p:nvSpPr>
          <p:cNvPr id="19" name="Rectangle 18"/>
          <p:cNvSpPr/>
          <p:nvPr/>
        </p:nvSpPr>
        <p:spPr>
          <a:xfrm>
            <a:off x="6091275" y="3102372"/>
            <a:ext cx="9144" cy="30291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она сменила предмет.</a:t>
            </a:r>
            <a:r>
              <a:rPr sz="1500" b="0" i="0">
                <a:solidFill>
                  <a:srgbClr val="21295C"/>
                </a:solidFill>
                <a:latin typeface="Arial"/>
              </a:rPr>
              <a:t> Прежний глаз настроен на опечатку, на то, что оставляет уставший человек. Искать теперь надо связное и уместное по стилю утверждение, которого в истории болезни не было. Этому чтению никто не учит.</a:t>
            </a:r>
          </a:p>
        </p:txBody>
      </p:sp>
      <p:sp>
        <p:nvSpPr>
          <p:cNvPr id="21" name="TextBox 20"/>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 теперь то, что по этому случаю чаще всего пересказывают.</a:t>
            </a:r>
            <a:r>
              <a:rPr sz="1500" b="0" i="0">
                <a:solidFill>
                  <a:srgbClr val="21295C"/>
                </a:solidFill>
                <a:latin typeface="Arial"/>
              </a:rPr>
              <a:t> В обзорах ходит тройка аккуратных чисел со ссылкой на «исследование ста эпикризов». Построчное чтение трёх первоисточников её не даёт.</a:t>
            </a:r>
          </a:p>
          <a:p>
            <a:pPr algn="l">
              <a:lnSpc>
                <a:spcPct val="126000"/>
              </a:lnSpc>
              <a:spcBef>
                <a:spcPts val="700"/>
              </a:spcBef>
            </a:pPr>
            <a:r>
              <a:rPr sz="1200" b="0" i="0">
                <a:solidFill>
                  <a:srgbClr val="21295C"/>
                </a:solidFill>
                <a:latin typeface="Arial"/>
              </a:rPr>
              <a:t/>
            </a:r>
            <a:r>
              <a:rPr sz="1200" b="0" i="1">
                <a:solidFill>
                  <a:srgbClr val="1C7293"/>
                </a:solidFill>
                <a:latin typeface="Arial"/>
              </a:rPr>
              <a:t>Ссылку проверяют по одному вопросу: считает ли работа ровно эту величину в ровно этих определениях.</a:t>
            </a:r>
          </a:p>
        </p:txBody>
      </p:sp>
      <p:sp>
        <p:nvSpPr>
          <p:cNvPr id="22" name="Rectangle 21"/>
          <p:cNvSpPr/>
          <p:nvPr/>
        </p:nvSpPr>
        <p:spPr>
          <a:xfrm>
            <a:off x="6091275" y="3675747"/>
            <a:ext cx="9144" cy="17524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столько времени в заметке сняли — и это вся измеренная экономия стадии</a:t>
            </a:r>
          </a:p>
        </p:txBody>
      </p:sp>
      <p:sp>
        <p:nvSpPr>
          <p:cNvPr id="5" name="Rounded Rectangle 4"/>
          <p:cNvSpPr/>
          <p:nvPr/>
        </p:nvSpPr>
        <p:spPr>
          <a:xfrm>
            <a:off x="374904" y="1379297"/>
            <a:ext cx="11441887" cy="3511631"/>
          </a:xfrm>
          <a:prstGeom prst="roundRect">
            <a:avLst>
              <a:gd name="adj" fmla="val 8679"/>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Девять с половиной процентов — это у одного инструмента из двух.</a:t>
            </a:r>
            <a:r>
              <a:rPr sz="1500" b="0" i="0">
                <a:solidFill>
                  <a:srgbClr val="21295C"/>
                </a:solidFill>
                <a:latin typeface="Arial"/>
              </a:rPr>
              <a:t> У второго, того же режима и того же дизайна испытания, экономии нет вовсе: измеренный эффект принадлежит реализации, а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Активное время правки не сдвинулось ни у одного из двух.</a:t>
            </a:r>
            <a:r>
              <a:rPr sz="1500" b="0" i="0">
                <a:solidFill>
                  <a:srgbClr val="21295C"/>
                </a:solidFill>
                <a:latin typeface="Arial"/>
              </a:rPr>
              <a:t> Заметка готова к концу приёма, а не к концу дня, и структуру документа больше не надо держать в голове при живом человеке — </a:t>
            </a:r>
            <a:r>
              <a:rPr sz="1500" b="1" i="0">
                <a:solidFill>
                  <a:srgbClr val="21295C"/>
                </a:solidFill>
                <a:latin typeface="Arial"/>
              </a:rPr>
              <a:t>нагрузка переехала с набора текста на вычитку чужого</a:t>
            </a:r>
            <a:r>
              <a:rPr sz="1500" b="0" i="0">
                <a:solidFill>
                  <a:srgbClr val="21295C"/>
                </a:solidFill>
                <a:latin typeface="Arial"/>
              </a:rPr>
              <a:t>, и </a:t>
            </a:r>
            <a:r>
              <a:rPr sz="1500" b="1" i="0">
                <a:solidFill>
                  <a:srgbClr val="21295C"/>
                </a:solidFill>
                <a:latin typeface="Arial"/>
              </a:rPr>
              <a:t>появился шаг</a:t>
            </a:r>
            <a:r>
              <a:rPr sz="1500" b="0" i="0">
                <a:solidFill>
                  <a:srgbClr val="21295C"/>
                </a:solidFill>
                <a:latin typeface="Arial"/>
              </a:rPr>
              <a:t>: выборочный контроль заметок со своим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Заявленную экономию подтвердить нельзя:</a:t>
            </a:r>
            <a:r>
              <a:rPr sz="1500" b="0" i="0">
                <a:solidFill>
                  <a:srgbClr val="21295C"/>
                </a:solidFill>
                <a:latin typeface="Arial"/>
              </a:rPr>
              <a:t> 15 791 час на 63 000 приёмов — без раскрытой методики счёта.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Полнее человека документ не пишет:</a:t>
            </a:r>
            <a:r>
              <a:rPr sz="1500" b="0" i="0">
                <a:solidFill>
                  <a:srgbClr val="21295C"/>
                </a:solidFill>
                <a:latin typeface="Arial"/>
              </a:rPr>
              <a:t> полнота 3,72 против 4,13, ошибок 2,91 против 1,82. </a:t>
            </a:r>
            <a:r>
              <a:rPr sz="1500" b="1" i="0">
                <a:solidFill>
                  <a:srgbClr val="21295C"/>
                </a:solidFill>
                <a:latin typeface="Arial"/>
              </a:rPr>
              <a:t>Сместилась цена ошибки</a:t>
            </a:r>
            <a:r>
              <a:rPr sz="15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врача. Прочерк: вычитке другого рода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 этому документу назначают — и когда что-то произойдёт, разбирать будут подпись.</a:t>
            </a:r>
          </a:p>
        </p:txBody>
      </p:sp>
      <p:sp>
        <p:nvSpPr>
          <p:cNvPr id="8" name="Rectangle 7"/>
          <p:cNvSpPr/>
          <p:nvPr/>
        </p:nvSpPr>
        <p:spPr>
          <a:xfrm>
            <a:off x="6091275" y="1470737"/>
            <a:ext cx="9144" cy="3237311"/>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документом под подписью. Этот — про саму подпись: что она значит и кто проверяет, что подписавший способен возразить машине.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 · 1 определение подходящего человека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с конца: норма есть, а проверки нет</a:t>
            </a:r>
          </a:p>
        </p:txBody>
      </p:sp>
      <p:sp>
        <p:nvSpPr>
          <p:cNvPr id="10" name="TextBox 9"/>
          <p:cNvSpPr txBox="1"/>
          <p:nvPr/>
        </p:nvSpPr>
        <p:spPr>
          <a:xfrm>
            <a:off x="704088" y="4013379"/>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ounded Rectangle 6"/>
          <p:cNvSpPr/>
          <p:nvPr/>
        </p:nvSpPr>
        <p:spPr>
          <a:xfrm>
            <a:off x="439894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9" name="Rounded Rectangle 8"/>
          <p:cNvSpPr/>
          <p:nvPr/>
        </p:nvSpPr>
        <p:spPr>
          <a:xfrm>
            <a:off x="687765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1" name="Rounded Rectangle 10"/>
          <p:cNvSpPr/>
          <p:nvPr/>
        </p:nvSpPr>
        <p:spPr>
          <a:xfrm>
            <a:off x="935636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4" name="Rounded Rectangle 13"/>
          <p:cNvSpPr/>
          <p:nvPr/>
        </p:nvSpPr>
        <p:spPr>
          <a:xfrm>
            <a:off x="1920240"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6" name="Rounded Rectangle 15"/>
          <p:cNvSpPr/>
          <p:nvPr/>
        </p:nvSpPr>
        <p:spPr>
          <a:xfrm>
            <a:off x="439894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18" name="Rounded Rectangle 17"/>
          <p:cNvSpPr/>
          <p:nvPr/>
        </p:nvSpPr>
        <p:spPr>
          <a:xfrm>
            <a:off x="687765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0" name="Rounded Rectangle 19"/>
          <p:cNvSpPr/>
          <p:nvPr/>
        </p:nvSpPr>
        <p:spPr>
          <a:xfrm>
            <a:off x="935636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2" name="TextBox 21"/>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3" name="Rounded Rectangle 22"/>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Четверг, кабинет заместителя главного врача. Комиссия разбирает один случай: пациентку выписали через четыре дня, и через сутки она вернулась с осложнением. Двое из сидящих за столом с лечащим врачом вместе не работают. Под каждым заключением в карте стоит фамилия.</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25" name="TextBox 24"/>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ни одного действия из семи.</a:t>
            </a:r>
            <a:r>
              <a:rPr sz="1300" b="0" i="0">
                <a:solidFill>
                  <a:srgbClr val="21295C"/>
                </a:solidFill>
                <a:latin typeface="Arial"/>
              </a:rPr>
              <a:t> Подписать ей нечем, а оценить её порядок не умеет, пока его не перепишут. Норма добавила восьмое требование, и адресовано оно человеку: мочь возразить и остановить.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Один вопрос:</a:t>
            </a:r>
            <a:r>
              <a:rPr sz="1300" b="0" i="0">
                <a:solidFill>
                  <a:srgbClr val="21295C"/>
                </a:solidFill>
                <a:latin typeface="Arial"/>
              </a:rPr>
              <a:t> соответствовали ли действия врача утверждённым порядкам, стандартам и рекомендациям.</a:t>
            </a:r>
          </a:p>
        </p:txBody>
      </p:sp>
      <p:sp>
        <p:nvSpPr>
          <p:cNvPr id="26" name="Rectangle 25"/>
          <p:cNvSpPr/>
          <p:nvPr/>
        </p:nvSpPr>
        <p:spPr>
          <a:xfrm>
            <a:off x="6091275" y="3813408"/>
            <a:ext cx="9144" cy="24059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315410"/>
          </a:xfrm>
          <a:prstGeom prst="roundRect">
            <a:avLst>
              <a:gd name="adj" fmla="val 13163"/>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11112703" cy="222397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Склонность доверять автомату.</a:t>
            </a:r>
            <a:r>
              <a:rPr sz="1300" b="0" i="0">
                <a:solidFill>
                  <a:srgbClr val="21295C"/>
                </a:solidFill>
                <a:latin typeface="Arial"/>
              </a:rPr>
              <a:t> С моделью точность выше на девять пунктов — и почти половина оставшихся ошибок связана именно с ней. Наблюдалась на всех уровнях квалификации: стаж не защищает.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 вред идут из одного места:</a:t>
            </a:r>
            <a:r>
              <a:rPr sz="13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считается от остаточных ошибок, а не от всех прочтений.</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это устроено.</a:t>
            </a:r>
            <a:r>
              <a:rPr sz="1300" b="0" i="0">
                <a:solidFill>
                  <a:srgbClr val="21295C"/>
                </a:solidFill>
                <a:latin typeface="Arial"/>
              </a:rPr>
              <a:t> Вход — серия магнитно-резонансных снимков коленного сустава, выход — заключение о разрыве передней крестообразной связки. </a:t>
            </a:r>
            <a:r>
              <a:rPr sz="1300" b="1" i="0">
                <a:solidFill>
                  <a:srgbClr val="21295C"/>
                </a:solidFill>
                <a:latin typeface="Arial"/>
              </a:rPr>
              <a:t>Ассистент лабораторный: ни имени, ни обучающего набора работа не печатает.</a:t>
            </a:r>
            <a:r>
              <a:rPr sz="1300" b="0" i="0">
                <a:solidFill>
                  <a:srgbClr val="21295C"/>
                </a:solidFill>
                <a:latin typeface="Arial"/>
              </a:rPr>
              <a:t> </a:t>
            </a:r>
            <a:r>
              <a:rPr sz="1300" b="0" i="1">
                <a:solidFill>
                  <a:srgbClr val="21295C"/>
                </a:solidFill>
                <a:latin typeface="Arial"/>
              </a:rPr>
              <a:t>Классификация на изображении.</a:t>
            </a:r>
          </a:p>
          <a:p>
            <a:pPr algn="l">
              <a:lnSpc>
                <a:spcPct val="126000"/>
              </a:lnSpc>
              <a:spcBef>
                <a:spcPts val="700"/>
              </a:spcBef>
            </a:pPr>
            <a:r>
              <a:rPr sz="1300" b="0" i="0">
                <a:solidFill>
                  <a:srgbClr val="21295C"/>
                </a:solidFill>
                <a:latin typeface="Arial"/>
              </a:rPr>
              <a:t/>
            </a:r>
            <a:r>
              <a:rPr sz="13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скрываемой зоне остаются и случаи, где модель права, — поэтому знак итогового эффекта неизвестен.</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у приёма нет и назвать её нечем: к живой работе его не прикладывали. Форму присваивают измерению, расчёту её не присваивают.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для контраста.</a:t>
            </a:r>
            <a:r>
              <a:rPr sz="1500" b="0" i="0">
                <a:solidFill>
                  <a:srgbClr val="21295C"/>
                </a:solidFill>
                <a:latin typeface="Arial"/>
              </a:rPr>
              <a:t> Алгоритмическое планирование смен медсестёр: обученной модели внутри нет — нормы отдыха, квалификации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там, где цена промаха мала, дорогая процедура не окупается.</a:t>
            </a:r>
          </a:p>
        </p:txBody>
      </p:sp>
      <p:sp>
        <p:nvSpPr>
          <p:cNvPr id="15" name="Rectangle 14"/>
          <p:cNvSpPr/>
          <p:nvPr/>
        </p:nvSpPr>
        <p:spPr>
          <a:xfrm>
            <a:off x="6091275" y="2683657"/>
            <a:ext cx="9144" cy="34454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 717</a:t>
            </a:r>
          </a:p>
        </p:txBody>
      </p:sp>
      <p:sp>
        <p:nvSpPr>
          <p:cNvPr id="7" name="TextBox 6"/>
          <p:cNvSpPr txBox="1"/>
          <p:nvPr/>
        </p:nvSpPr>
        <p:spPr>
          <a:xfrm>
            <a:off x="640080"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срез июнь 2024</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ПРОСПЕКТИВНОЕ ИСПЫТАНИЕ</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717</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 из ста</a:t>
            </a:r>
          </a:p>
        </p:txBody>
      </p:sp>
      <p:sp>
        <p:nvSpPr>
          <p:cNvPr id="12" name="Rounded Rectangle 11"/>
          <p:cNvSpPr/>
          <p:nvPr/>
        </p:nvSpPr>
        <p:spPr>
          <a:xfrm>
            <a:off x="6178143"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КАКОЕ-ЛИБО КЛИНИЧЕСКОЕ ИСПЫТАНИЕ</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208 из 717</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 из ста</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своя дата среза</a:t>
            </a:r>
          </a:p>
        </p:txBody>
      </p:sp>
      <p:sp>
        <p:nvSpPr>
          <p:cNvPr id="20" name="Rounded Rectangle 19"/>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Этот разбор идёт с конца: сначала то, чем он кончился, а счёт, из которого это сложилось, — следом.</a:t>
            </a:r>
          </a:p>
          <a:p>
            <a:pPr algn="l">
              <a:lnSpc>
                <a:spcPct val="126000"/>
              </a:lnSpc>
              <a:spcBef>
                <a:spcPts val="700"/>
              </a:spcBef>
            </a:pPr>
            <a:r>
              <a:rPr sz="1400" b="0" i="0">
                <a:solidFill>
                  <a:srgbClr val="21295C"/>
                </a:solidFill>
                <a:latin typeface="Arial"/>
              </a:rPr>
              <a:t/>
            </a:r>
            <a:r>
              <a:rPr sz="1400" b="0" i="0">
                <a:solidFill>
                  <a:srgbClr val="21295C"/>
                </a:solidFill>
                <a:latin typeface="Arial"/>
              </a:rPr>
              <a:t>Регулятор требует, чтобы человек оставался финальным звеном. </a:t>
            </a:r>
            <a:r>
              <a:rPr sz="1400" b="0" i="1">
                <a:solidFill>
                  <a:srgbClr val="21295C"/>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400" b="0" i="0">
                <a:solidFill>
                  <a:srgbClr val="21295C"/>
                </a:solidFill>
                <a:latin typeface="Arial"/>
              </a:rPr>
              <a:t/>
            </a:r>
            <a:r>
              <a:rPr sz="1400" b="1" i="0">
                <a:solidFill>
                  <a:srgbClr val="21295C"/>
                </a:solidFill>
                <a:latin typeface="Arial"/>
              </a:rPr>
              <a:t>Норма описывает способность вмешаться; присутствия человека при каждом решении она не требует.</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Предмет здесь другой:</a:t>
            </a:r>
            <a:r>
              <a:rPr sz="1400" b="0" i="0">
                <a:solidFill>
                  <a:srgbClr val="21295C"/>
                </a:solidFill>
                <a:latin typeface="Arial"/>
              </a:rPr>
              <a:t> разбирается не изделие, а поданная регуляторам документация. Вход проверки — заявленное назначение и клинические данные изделия, выход — допуск. </a:t>
            </a:r>
            <a:r>
              <a:rPr sz="1400" b="1" i="0">
                <a:solidFill>
                  <a:srgbClr val="21295C"/>
                </a:solidFill>
                <a:latin typeface="Arial"/>
              </a:rPr>
              <a:t>Имён свод не печатает ни у одного из 717:</a:t>
            </a:r>
            <a:r>
              <a:rPr sz="1400" b="0" i="0">
                <a:solidFill>
                  <a:srgbClr val="21295C"/>
                </a:solidFill>
                <a:latin typeface="Arial"/>
              </a:rPr>
              <a:t> он считает процедуры, а не марки.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Знаменатели держим врозь:</a:t>
            </a:r>
            <a:r>
              <a:rPr sz="1400" b="0" i="0">
                <a:solidFill>
                  <a:srgbClr val="21295C"/>
                </a:solidFill>
                <a:latin typeface="Arial"/>
              </a:rPr>
              <a:t> 717 — изделия с доступной документацией, 950 — все допущенные; лучевых среди них 723, то есть 76 из ста.</a:t>
            </a:r>
          </a:p>
          <a:p>
            <a:pPr algn="l">
              <a:lnSpc>
                <a:spcPct val="126000"/>
              </a:lnSpc>
              <a:spcBef>
                <a:spcPts val="700"/>
              </a:spcBef>
            </a:pPr>
            <a:r>
              <a:rPr sz="1400" b="0" i="0">
                <a:solidFill>
                  <a:srgbClr val="21295C"/>
                </a:solidFill>
                <a:latin typeface="Arial"/>
              </a:rPr>
              <a:t/>
            </a:r>
            <a:r>
              <a:rPr sz="14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как к этому пришли: двойное чтение в минутах труда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4,6 раза дольше</a:t>
            </a:r>
          </a:p>
        </p:txBody>
      </p:sp>
      <p:sp>
        <p:nvSpPr>
          <p:cNvPr id="15" name="TextBox 14"/>
          <p:cNvSpPr txBox="1"/>
          <p:nvPr/>
        </p:nvSpPr>
        <p:spPr>
          <a:xfrm>
            <a:off x="6315303"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медианам; по средним в 2,75</a:t>
            </a:r>
          </a:p>
        </p:txBody>
      </p:sp>
      <p:sp>
        <p:nvSpPr>
          <p:cNvPr id="16" name="Rounded Rectangle 15"/>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+53 процента</a:t>
            </a:r>
          </a:p>
        </p:txBody>
      </p:sp>
      <p:sp>
        <p:nvSpPr>
          <p:cNvPr id="19" name="TextBox 18"/>
          <p:cNvSpPr txBox="1"/>
          <p:nvPr/>
        </p:nvSpPr>
        <p:spPr>
          <a:xfrm>
            <a:off x="9152915"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20" name="Rounded Rectangle 19"/>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Теперь счёт, из которого эта подпись сложилась.</a:t>
            </a:r>
          </a:p>
          <a:p>
            <a:pPr algn="l">
              <a:lnSpc>
                <a:spcPct val="126000"/>
              </a:lnSpc>
              <a:spcBef>
                <a:spcPts val="700"/>
              </a:spcBef>
            </a:pPr>
            <a:r>
              <a:rPr sz="1250" b="0" i="0">
                <a:solidFill>
                  <a:srgbClr val="21295C"/>
                </a:solidFill>
                <a:latin typeface="Arial"/>
              </a:rPr>
              <a:t/>
            </a:r>
            <a:r>
              <a:rPr sz="1250" b="1" i="0">
                <a:solidFill>
                  <a:srgbClr val="21295C"/>
                </a:solidFill>
                <a:latin typeface="Arial"/>
              </a:rPr>
              <a:t>Цена обеих ошибок у подписи.</a:t>
            </a:r>
            <a:r>
              <a:rPr sz="1250" b="0" i="0">
                <a:solidFill>
                  <a:srgbClr val="21295C"/>
                </a:solidFill>
                <a:latin typeface="Arial"/>
              </a:rPr>
              <a:t> И пропущенный диагноз, и лишнее вмешательство: подпись человеческая, а платит исходом пациент.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Классических режимов два, и счёт у них разный.</a:t>
            </a:r>
            <a:r>
              <a:rPr sz="1250" b="0" i="0">
                <a:solidFill>
                  <a:srgbClr val="21295C"/>
                </a:solidFill>
                <a:latin typeface="Arial"/>
              </a:rPr>
              <a:t> Один читатель без арбитража — назван и своего числа не имеет. Двое с арбитражем — посчитаны, и сразу в двух единицах.</a:t>
            </a:r>
          </a:p>
        </p:txBody>
      </p:sp>
      <p:sp>
        <p:nvSpPr>
          <p:cNvPr id="22" name="TextBox 21"/>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Первая единица — чувствительность, доля найденного среди больных.</a:t>
            </a:r>
            <a:r>
              <a:rPr sz="1250" b="0" i="0">
                <a:solidFill>
                  <a:srgbClr val="21295C"/>
                </a:solidFill>
                <a:latin typeface="Arial"/>
              </a:rPr>
              <a:t> С выявляемостью её путать нельзя: в той же программе это около шести находок на тысячу обследованных.</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Вторая единица — минуты труда, и без неё экономия на чтении не считается.</a:t>
            </a:r>
            <a:r>
              <a:rPr sz="1250" b="0" i="0">
                <a:solidFill>
                  <a:srgbClr val="21295C"/>
                </a:solidFill>
                <a:latin typeface="Arial"/>
              </a:rPr>
              <a:t> База: 441 276 первичных прочтений, то есть около 219 тысяч обследований, каждое читают двое; 16 центров.</a:t>
            </a:r>
          </a:p>
          <a:p>
            <a:pPr algn="l">
              <a:lnSpc>
                <a:spcPct val="126000"/>
              </a:lnSpc>
              <a:spcBef>
                <a:spcPts val="700"/>
              </a:spcBef>
            </a:pPr>
            <a:r>
              <a:rPr sz="1250" b="0" i="0">
                <a:solidFill>
                  <a:srgbClr val="21295C"/>
                </a:solidFill>
                <a:latin typeface="Arial"/>
              </a:rPr>
              <a:t/>
            </a:r>
            <a:r>
              <a:rPr sz="1250" b="1" i="0">
                <a:solidFill>
                  <a:srgbClr val="21295C"/>
                </a:solidFill>
                <a:latin typeface="Arial"/>
              </a:rPr>
              <a:t>Разброс произносится вместе со средним:</a:t>
            </a:r>
            <a:r>
              <a:rPr sz="1250" b="0" i="0">
                <a:solidFill>
                  <a:srgbClr val="21295C"/>
                </a:solidFill>
                <a:latin typeface="Arial"/>
              </a:rPr>
              <a:t> протоколы арбитража разные, и устройство нового шага само задаёт нагрузку.</a:t>
            </a:r>
          </a:p>
          <a:p>
            <a:pPr algn="l">
              <a:lnSpc>
                <a:spcPct val="126000"/>
              </a:lnSpc>
              <a:spcBef>
                <a:spcPts val="700"/>
              </a:spcBef>
            </a:pPr>
            <a:r>
              <a:rPr sz="1250" b="0" i="0">
                <a:solidFill>
                  <a:srgbClr val="21295C"/>
                </a:solidFill>
                <a:latin typeface="Arial"/>
              </a:rPr>
              <a:t/>
            </a:r>
            <a:r>
              <a:rPr sz="1250" b="1" i="0">
                <a:solidFill>
                  <a:srgbClr val="21295C"/>
                </a:solidFill>
                <a:latin typeface="Arial"/>
              </a:rPr>
              <a:t>Экономия на одном шаге не обязана компенсировать рост другого.</a:t>
            </a:r>
          </a:p>
        </p:txBody>
      </p:sp>
      <p:sp>
        <p:nvSpPr>
          <p:cNvPr id="23" name="Rectangle 22"/>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3267963"/>
          </a:xfrm>
          <a:prstGeom prst="roundRect">
            <a:avLst>
              <a:gd name="adj" fmla="val 9326"/>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5373471"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 </a:t>
            </a:r>
            <a:r>
              <a:rPr sz="1500" b="1" i="0">
                <a:solidFill>
                  <a:srgbClr val="21295C"/>
                </a:solidFill>
                <a:latin typeface="Arial"/>
              </a:rPr>
              <a:t>Шов между контролем и ответственностью проходит по подписи врача.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во что обходится несогласие.</a:t>
            </a:r>
            <a:r>
              <a:rPr sz="1500" b="0" i="0">
                <a:solidFill>
                  <a:srgbClr val="21295C"/>
                </a:solidFill>
                <a:latin typeface="Arial"/>
              </a:rPr>
              <a:t> Врача, принявшего подсказку в пользу стандартного лечения, оценивают как более разумного, чем отвергнувшего её. Так оценивают и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то есть та сторона, которую порядок и назначает разбирать случай. При нестандартной рекомендации разницы нет.</a:t>
            </a:r>
          </a:p>
        </p:txBody>
      </p:sp>
      <p:sp>
        <p:nvSpPr>
          <p:cNvPr id="15" name="TextBox 14"/>
          <p:cNvSpPr txBox="1"/>
          <p:nvPr/>
        </p:nvSpPr>
        <p:spPr>
          <a:xfrm>
            <a:off x="6278727" y="3059684"/>
            <a:ext cx="5373471" cy="317652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и четвёртая ступень:</a:t>
            </a:r>
            <a:r>
              <a:rPr sz="1500" b="0" i="0">
                <a:solidFill>
                  <a:srgbClr val="21295C"/>
                </a:solidFill>
                <a:latin typeface="Arial"/>
              </a:rPr>
              <a:t> «подписывает не глядя» — не разгильдяйство, а дешёвый ход в заданном порядке разбора. Не согласиться и ошибиться дороже, чем подписать.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а проверка способности её нести — нет: 56 изделий из 717.</a:t>
            </a:r>
          </a:p>
          <a:p>
            <a:pPr algn="l">
              <a:lnSpc>
                <a:spcPct val="126000"/>
              </a:lnSpc>
              <a:spcBef>
                <a:spcPts val="700"/>
              </a:spcBef>
            </a:pPr>
            <a:r>
              <a:rPr sz="1500" b="0" i="0">
                <a:solidFill>
                  <a:srgbClr val="21295C"/>
                </a:solidFill>
                <a:latin typeface="Arial"/>
              </a:rPr>
              <a:t/>
            </a:r>
            <a:r>
              <a:rPr sz="1500" b="1" i="0">
                <a:solidFill>
                  <a:srgbClr val="21295C"/>
                </a:solidFill>
                <a:latin typeface="Arial"/>
              </a:rPr>
              <a:t>Соберут комиссию по случаю женщины с письмом — оценивать будут действия человека: вопроса о модели в списке нет.</a:t>
            </a:r>
          </a:p>
        </p:txBody>
      </p:sp>
      <p:sp>
        <p:nvSpPr>
          <p:cNvPr id="16" name="Rectangle 15"/>
          <p:cNvSpPr/>
          <p:nvPr/>
        </p:nvSpPr>
        <p:spPr>
          <a:xfrm>
            <a:off x="6091275" y="3059684"/>
            <a:ext cx="9144" cy="3059511"/>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соавторы, How Following Medical AI Advice Can Mitigate Malpractice Liability, Journal of Nuclear Medicine 2026;67(9):1474–1480 — рандомизированное испытание: 248 немецких врачей и взрослые двух стран</a:t>
            </a:r>
            <a:r>
              <a:rPr sz="1200" b="0" i="1">
                <a:solidFill>
                  <a:srgbClr val="1C7293"/>
                </a:solidFill>
                <a:latin typeface="Arial"/>
              </a:rPr>
              <a:t> · </a:t>
            </a:r>
            <a:r>
              <a:rPr sz="1200" b="0" i="1" u="sng">
                <a:solidFill>
                  <a:srgbClr val="065A82"/>
                </a:solidFill>
                <a:latin typeface="Arial"/>
                <a:hlinkClick r:id="rId3"/>
              </a:rPr>
              <a:t>предшественник, Tobia и соавторы, там же 2021;62(1):17–21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ОПРЕДЕЛЕНИЕ</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тот, кто сделает это сам, без модели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с квалификацией и подготовкой, достаточными для той же услуги без помощи модели</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 подтверждения</a:t>
            </a:r>
          </a:p>
        </p:txBody>
      </p:sp>
      <p:sp>
        <p:nvSpPr>
          <p:cNvPr id="12" name="Rounded Rectangle 11"/>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Дословно, пункт 1(g): </a:t>
            </a:r>
            <a:r>
              <a:rPr sz="1500" b="1" i="0">
                <a:solidFill>
                  <a:srgbClr val="21295C"/>
                </a:solidFill>
                <a:latin typeface="Arial"/>
              </a:rPr>
              <a:t>«A qualified human is defined as a licensed physician with the necessary qualifications and training to independently provide the same medical service without the aid of AI»</a:t>
            </a:r>
            <a:r>
              <a:rPr sz="1500" b="0" i="0">
                <a:solidFill>
                  <a:srgbClr val="21295C"/>
                </a:solidFill>
                <a:latin typeface="Arial"/>
              </a:rPr>
              <a:t> — подходящий человек есть лицензированный врач, способный оказать ту же медицинскую услугу самостоятельно, без помощи модели.</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Прочтите это рядом с разбором доли обнаружения.</a:t>
            </a:r>
            <a:r>
              <a:rPr sz="1500" b="0" i="0">
                <a:solidFill>
                  <a:srgbClr val="21295C"/>
                </a:solidFill>
                <a:latin typeface="Arial"/>
              </a:rPr>
              <a:t> Как только врач перестаёт уметь без подсказки, точка человеческого вмешательства перестаёт быть точкой вмешательства — и схема, построенная на подписи, перестаёт выполнять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здесь не оговорка про этику, а условие законности.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И ни одного числа:</a:t>
            </a:r>
            <a:r>
              <a:rPr sz="1500" b="0" i="0">
                <a:solidFill>
                  <a:srgbClr val="21295C"/>
                </a:solidFill>
                <a:latin typeface="Arial"/>
              </a:rPr>
              <a:t> порог не назван, срок не назван, способ проверить, что врач ещё умеет сам, не назван.</a:t>
            </a:r>
          </a:p>
        </p:txBody>
      </p:sp>
      <p:sp>
        <p:nvSpPr>
          <p:cNvPr id="15" name="Rectangle 14"/>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60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на изделие против 1,9</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108 остались неразрешёнными</a:t>
            </a:r>
          </a:p>
        </p:txBody>
      </p:sp>
      <p:sp>
        <p:nvSpPr>
          <p:cNvPr id="16" name="TextBox 15"/>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9" name="Right Arrow 18"/>
          <p:cNvSpPr/>
          <p:nvPr/>
        </p:nvSpPr>
        <p:spPr>
          <a:xfrm>
            <a:off x="5039258" y="318284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22" name="Right Arrow 21"/>
          <p:cNvSpPr/>
          <p:nvPr/>
        </p:nvSpPr>
        <p:spPr>
          <a:xfrm>
            <a:off x="8386876" y="318284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25" name="TextBox 24"/>
          <p:cNvSpPr txBox="1"/>
          <p:nvPr/>
        </p:nvSpPr>
        <p:spPr>
          <a:xfrm>
            <a:off x="502920" y="36445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3947202"/>
            <a:ext cx="11441887" cy="2289005"/>
          </a:xfrm>
          <a:prstGeom prst="roundRect">
            <a:avLst>
              <a:gd name="adj" fmla="val 1331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038642"/>
            <a:ext cx="11112703" cy="21975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Сроки разведены по приложениям, а не по признаку «самостоятельное или встроенное»:</a:t>
            </a:r>
            <a:r>
              <a:rPr sz="15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рамки — ранний отзыв:</a:t>
            </a:r>
            <a:r>
              <a:rPr sz="1500" b="0" i="0">
                <a:solidFill>
                  <a:srgbClr val="21295C"/>
                </a:solidFill>
                <a:latin typeface="Arial"/>
              </a:rPr>
              <a:t> проверка, которая не состоялась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48 в ноябре 2025 → 57 в июне 2026 → 59 в августе 2026. Доля от общего реестра не приводится.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Допуск и надзор: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87684"/>
          </a:xfrm>
          <a:prstGeom prst="roundRect">
            <a:avLst>
              <a:gd name="adj" fmla="val 63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Поднять долю верных заключений: 87,2 → 96,4 из ста — против одного читателя</a:t>
            </a:r>
          </a:p>
          <a:p>
            <a:pPr algn="l">
              <a:lnSpc>
                <a:spcPct val="126000"/>
              </a:lnSpc>
              <a:spcBef>
                <a:spcPts val="700"/>
              </a:spcBef>
            </a:pPr>
            <a:r>
              <a:rPr sz="1250" b="0" i="0">
                <a:solidFill>
                  <a:srgbClr val="21295C"/>
                </a:solidFill>
                <a:latin typeface="Arial"/>
              </a:rPr>
              <a:t/>
            </a:r>
            <a:r>
              <a:rPr sz="1250" b="0" i="0">
                <a:solidFill>
                  <a:srgbClr val="21295C"/>
                </a:solidFill>
                <a:latin typeface="Arial"/>
              </a:rPr>
              <a:t>• Сократить первичные чтения вдвое: 48 секунд на чтение против 2 минут 12 секунд на арбитраж</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Назвать требование словами: понять ограничения, не согласиться, остановить</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не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Удержать независимость, когда оба читателя видят одну подсказку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Избавиться от арбитража: его объём вырос на 53 процента, в двух центрах от 22 до 142</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Проверить, что подписавший способен возразить: 56 изделий из 717</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стало с работой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Сместилась цена ошибки</a:t>
            </a:r>
            <a:r>
              <a:rPr sz="1250" b="0" i="0">
                <a:solidFill>
                  <a:srgbClr val="21295C"/>
                </a:solidFill>
                <a:latin typeface="Arial"/>
              </a:rPr>
              <a:t> — подпись человеческая, основание решения пришло извне</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Нагрузка выросла на том же месте</a:t>
            </a:r>
            <a:r>
              <a:rPr sz="1250" b="0" i="0">
                <a:solidFill>
                  <a:srgbClr val="21295C"/>
                </a:solidFill>
                <a:latin typeface="Arial"/>
              </a:rPr>
              <a:t> — арбитраж, и каждый разбор дороже чтения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45,5 из ста оставшихся ошибок идут от склонности доверять автомату</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это держит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Подпись: юридический акт физического лица, и права подписи у модели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Двойное чтение и арбитраж там, где второго читателя не заменили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Разбор случая после исхода и правка порядка по его итогам</a:t>
            </a:r>
          </a:p>
          <a:p>
            <a:pPr algn="l">
              <a:lnSpc>
                <a:spcPct val="126000"/>
              </a:lnSpc>
              <a:spcBef>
                <a:spcPts val="700"/>
              </a:spcBef>
            </a:pPr>
            <a:r>
              <a:rPr sz="1250" b="0" i="0">
                <a:solidFill>
                  <a:srgbClr val="21295C"/>
                </a:solidFill>
                <a:latin typeface="Arial"/>
              </a:rPr>
              <a:t/>
            </a:r>
            <a:r>
              <a:rPr sz="1250" b="1" i="0">
                <a:solidFill>
                  <a:srgbClr val="21295C"/>
                </a:solidFill>
                <a:latin typeface="Arial"/>
              </a:rPr>
              <a:t>В прошлой лекции требований к ИИ внутри промышленных изделий не было. Здесь они есть — с документами, сроками и измеримым исполнением.</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51336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упала там, где помощника не было</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долгая болезнь, отпуск по уходу за ребёнком.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первая процедура идёт иначе: прибор продвигается медленнее, рука дольше ищет угол изгиба, складку врач проходит мимо</a:t>
            </a:r>
          </a:p>
          <a:p>
            <a:pPr algn="l">
              <a:lnSpc>
                <a:spcPct val="126000"/>
              </a:lnSpc>
              <a:spcBef>
                <a:spcPts val="700"/>
              </a:spcBef>
            </a:pPr>
            <a:r>
              <a:rPr sz="1500" b="0" i="0">
                <a:solidFill>
                  <a:srgbClr val="21295C"/>
                </a:solidFill>
                <a:latin typeface="Arial"/>
              </a:rPr>
              <a:t/>
            </a:r>
            <a:r>
              <a:rPr sz="1500" b="0" i="0">
                <a:solidFill>
                  <a:srgbClr val="21295C"/>
                </a:solidFill>
                <a:latin typeface="Arial"/>
              </a:rPr>
              <a:t>• осложнений нет,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r>
              <a:rPr sz="1500" b="0" i="0">
                <a:solidFill>
                  <a:srgbClr val="21295C"/>
                </a:solidFill>
                <a:latin typeface="Arial"/>
              </a:rPr>
              <a:t> 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95195" cy="3651636"/>
          </a:xfrm>
          <a:prstGeom prst="roundRect">
            <a:avLst>
              <a:gd name="adj" fmla="val 1697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2087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52087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784218"/>
            <a:ext cx="152087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2462707" y="1335024"/>
            <a:ext cx="1795195" cy="3651636"/>
          </a:xfrm>
          <a:prstGeom prst="roundRect">
            <a:avLst>
              <a:gd name="adj" fmla="val 1697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99867" y="1472184"/>
            <a:ext cx="15208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2599867" y="1725375"/>
            <a:ext cx="1520875" cy="851372"/>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снятие, кровотечение, гистология, повторный визит</a:t>
            </a:r>
          </a:p>
        </p:txBody>
      </p:sp>
      <p:sp>
        <p:nvSpPr>
          <p:cNvPr id="11" name="TextBox 10"/>
          <p:cNvSpPr txBox="1"/>
          <p:nvPr/>
        </p:nvSpPr>
        <p:spPr>
          <a:xfrm>
            <a:off x="2599867" y="2576747"/>
            <a:ext cx="152087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4422495" y="1335024"/>
            <a:ext cx="1795195" cy="3651636"/>
          </a:xfrm>
          <a:prstGeom prst="roundRect">
            <a:avLst>
              <a:gd name="adj" fmla="val 1697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559655" y="1472184"/>
            <a:ext cx="152087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14" name="TextBox 13"/>
          <p:cNvSpPr txBox="1"/>
          <p:nvPr/>
        </p:nvSpPr>
        <p:spPr>
          <a:xfrm>
            <a:off x="4559655" y="2140317"/>
            <a:ext cx="1520875"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27,1 → 36,6 из ста процедур</a:t>
            </a:r>
          </a:p>
        </p:txBody>
      </p:sp>
      <p:sp>
        <p:nvSpPr>
          <p:cNvPr id="15" name="TextBox 14"/>
          <p:cNvSpPr txBox="1"/>
          <p:nvPr/>
        </p:nvSpPr>
        <p:spPr>
          <a:xfrm>
            <a:off x="4559655" y="2737066"/>
            <a:ext cx="152087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a:t>
            </a:r>
          </a:p>
        </p:txBody>
      </p:sp>
      <p:sp>
        <p:nvSpPr>
          <p:cNvPr id="16" name="Rounded Rectangle 15"/>
          <p:cNvSpPr/>
          <p:nvPr/>
        </p:nvSpPr>
        <p:spPr>
          <a:xfrm>
            <a:off x="6382283" y="1335024"/>
            <a:ext cx="1795195" cy="3651636"/>
          </a:xfrm>
          <a:prstGeom prst="roundRect">
            <a:avLst>
              <a:gd name="adj" fmla="val 1697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519443" y="1472184"/>
            <a:ext cx="152087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8" name="TextBox 17"/>
          <p:cNvSpPr txBox="1"/>
          <p:nvPr/>
        </p:nvSpPr>
        <p:spPr>
          <a:xfrm>
            <a:off x="6519443" y="2140317"/>
            <a:ext cx="1520875"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39,3 → 45,7 из ста процедур</a:t>
            </a:r>
          </a:p>
        </p:txBody>
      </p:sp>
      <p:sp>
        <p:nvSpPr>
          <p:cNvPr id="19" name="TextBox 18"/>
          <p:cNvSpPr txBox="1"/>
          <p:nvPr/>
        </p:nvSpPr>
        <p:spPr>
          <a:xfrm>
            <a:off x="6519443" y="2737066"/>
            <a:ext cx="1520875"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называют высокий риск систематической ошибки у всех включённых работ</a:t>
            </a:r>
          </a:p>
        </p:txBody>
      </p:sp>
      <p:sp>
        <p:nvSpPr>
          <p:cNvPr id="20" name="Rounded Rectangle 19"/>
          <p:cNvSpPr/>
          <p:nvPr/>
        </p:nvSpPr>
        <p:spPr>
          <a:xfrm>
            <a:off x="374904" y="5078100"/>
            <a:ext cx="11441887" cy="115810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69540"/>
            <a:ext cx="11112703" cy="106666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в доле обнаружения, и 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p:txBody>
      </p:sp>
      <p:sp>
        <p:nvSpPr>
          <p:cNvPr id="22" name="Rounded Rectangle 21"/>
          <p:cNvSpPr/>
          <p:nvPr/>
        </p:nvSpPr>
        <p:spPr>
          <a:xfrm>
            <a:off x="8488375" y="1335024"/>
            <a:ext cx="3200400" cy="1915067"/>
          </a:xfrm>
          <a:prstGeom prst="roundRect">
            <a:avLst>
              <a:gd name="adj" fmla="val 15915"/>
            </a:avLst>
          </a:prstGeom>
          <a:solidFill>
            <a:srgbClr val="F4F7FA"/>
          </a:solidFill>
          <a:ln w="19050">
            <a:solidFill>
              <a:srgbClr val="1C7293"/>
            </a:solidFill>
          </a:ln>
          <a:effectLst/>
        </p:spPr>
        <p:txBody>
          <a:bodyPr rtlCol="0" anchor="ctr"/>
          <a:lstStyle/>
          <a:p>
            <a:pPr algn="ctr"/>
          </a:p>
        </p:txBody>
      </p:sp>
      <p:pic>
        <p:nvPicPr>
          <p:cNvPr id="23" name="Picture 22" descr="s90-ekran-protsedury-panel-b.jpg"/>
          <p:cNvPicPr>
            <a:picLocks noChangeAspect="1"/>
          </p:cNvPicPr>
          <p:nvPr/>
        </p:nvPicPr>
        <p:blipFill>
          <a:blip r:embed="rId2"/>
          <a:stretch>
            <a:fillRect/>
          </a:stretch>
        </p:blipFill>
        <p:spPr>
          <a:xfrm>
            <a:off x="8625535" y="1472184"/>
            <a:ext cx="2926080" cy="1640747"/>
          </a:xfrm>
          <a:prstGeom prst="rect">
            <a:avLst/>
          </a:prstGeom>
        </p:spPr>
      </p:pic>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r>
              <a:rPr sz="1200" b="0" i="1">
                <a:solidFill>
                  <a:srgbClr val="1C7293"/>
                </a:solidFill>
                <a:latin typeface="Arial"/>
              </a:rPr>
              <a:t> · </a:t>
            </a:r>
            <a:r>
              <a:rPr sz="1200" b="0" i="1" u="sng">
                <a:solidFill>
                  <a:srgbClr val="065A82"/>
                </a:solidFill>
                <a:latin typeface="Arial"/>
                <a:hlinkClick r:id="rId4"/>
              </a:rPr>
              <a:t>дисциплина осмотра: 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второй наблюдатель: Lei и соавт., International Journal of Colorectal Disease 2024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175180"/>
          </a:xfrm>
          <a:prstGeom prst="roundRect">
            <a:avLst>
              <a:gd name="adj" fmla="val 959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250" b="1" i="0">
                <a:solidFill>
                  <a:srgbClr val="21295C"/>
                </a:solidFill>
                <a:latin typeface="Arial"/>
              </a:rPr>
              <a:t>без</a:t>
            </a:r>
            <a:r>
              <a:rPr sz="1250" b="0" i="0">
                <a:solidFill>
                  <a:srgbClr val="21295C"/>
                </a:solidFill>
                <a:latin typeface="Arial"/>
              </a:rPr>
              <a:t> помощника, выполненными теми же врачами.</a:t>
            </a:r>
          </a:p>
          <a:p>
            <a:pPr algn="l">
              <a:lnSpc>
                <a:spcPct val="126000"/>
              </a:lnSpc>
              <a:spcBef>
                <a:spcPts val="700"/>
              </a:spcBef>
            </a:pPr>
            <a:r>
              <a:rPr sz="1250" b="0" i="0">
                <a:solidFill>
                  <a:srgbClr val="21295C"/>
                </a:solidFill>
                <a:latin typeface="Arial"/>
              </a:rPr>
              <a:t/>
            </a:r>
            <a:r>
              <a:rPr sz="1250" b="1" i="0">
                <a:solidFill>
                  <a:srgbClr val="21295C"/>
                </a:solidFill>
                <a:latin typeface="Arial"/>
              </a:rPr>
              <a:t>Как это устроено.</a:t>
            </a:r>
            <a:r>
              <a:rPr sz="1250" b="0" i="0">
                <a:solidFill>
                  <a:srgbClr val="21295C"/>
                </a:solidFill>
                <a:latin typeface="Arial"/>
              </a:rPr>
              <a:t> Вход — поток кадров во время процедуры, выход — рамка на подозрительном участке в ту же секунду. </a:t>
            </a:r>
            <a:r>
              <a:rPr sz="1250" b="1" i="0">
                <a:solidFill>
                  <a:srgbClr val="21295C"/>
                </a:solidFill>
                <a:latin typeface="Arial"/>
              </a:rPr>
              <a:t>Система в работе одна, и имени её публикация не называет</a:t>
            </a:r>
            <a:r>
              <a:rPr sz="1250" b="0" i="0">
                <a:solidFill>
                  <a:srgbClr val="21295C"/>
                </a:solidFill>
                <a:latin typeface="Arial"/>
              </a:rPr>
              <a:t>; режим занимают GI Genius (Medtronic), CAD EYE (Fujifilm), ENDO-AID CADe (Olympus), и на чём они обучены, производители не публикуют. </a:t>
            </a:r>
            <a:r>
              <a:rPr sz="1250" b="0" i="1">
                <a:solidFill>
                  <a:srgbClr val="21295C"/>
                </a:solidFill>
                <a:latin typeface="Arial"/>
              </a:rPr>
              <a:t>Распознавание на видео, в реальном времени.</a:t>
            </a:r>
          </a:p>
          <a:p>
            <a:pPr algn="l">
              <a:lnSpc>
                <a:spcPct val="126000"/>
              </a:lnSpc>
              <a:spcBef>
                <a:spcPts val="700"/>
              </a:spcBef>
            </a:pPr>
            <a:r>
              <a:rPr sz="1250" b="0" i="0">
                <a:solidFill>
                  <a:srgbClr val="21295C"/>
                </a:solidFill>
                <a:latin typeface="Arial"/>
              </a:rPr>
              <a:t/>
            </a:r>
            <a:r>
              <a:rPr sz="1250" b="1" i="0">
                <a:solidFill>
                  <a:srgbClr val="21295C"/>
                </a:solidFill>
                <a:latin typeface="Arial"/>
              </a:rPr>
              <a:t>Сила свидетельства названа здесь, на экране:</a:t>
            </a:r>
            <a:r>
              <a:rPr sz="1250" b="0" i="0">
                <a:solidFill>
                  <a:srgbClr val="21295C"/>
                </a:solidFill>
                <a:latin typeface="Arial"/>
              </a:rPr>
              <a:t> ретроспективное наблюдательное, </a:t>
            </a:r>
            <a:r>
              <a:rPr sz="1250" b="1" i="0">
                <a:solidFill>
                  <a:srgbClr val="21295C"/>
                </a:solidFill>
                <a:latin typeface="Arial"/>
              </a:rPr>
              <a:t>не воспроизводилось</a:t>
            </a:r>
            <a:r>
              <a:rPr sz="1250" b="0" i="0">
                <a:solidFill>
                  <a:srgbClr val="21295C"/>
                </a:solidFill>
                <a:latin typeface="Arial"/>
              </a:rPr>
              <a:t>, причинности не доказывает.</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Состав спора — тоже на экране:</a:t>
            </a:r>
          </a:p>
          <a:p>
            <a:pPr algn="l">
              <a:lnSpc>
                <a:spcPct val="126000"/>
              </a:lnSpc>
              <a:spcBef>
                <a:spcPts val="700"/>
              </a:spcBef>
            </a:pPr>
            <a:r>
              <a:rPr sz="1250" b="0" i="0">
                <a:solidFill>
                  <a:srgbClr val="21295C"/>
                </a:solidFill>
                <a:latin typeface="Arial"/>
              </a:rPr>
              <a:t/>
            </a:r>
            <a:r>
              <a:rPr sz="1250" b="0" i="0">
                <a:solidFill>
                  <a:srgbClr val="21295C"/>
                </a:solidFill>
                <a:latin typeface="Arial"/>
              </a:rPr>
              <a:t>• опубликованное исправление, три письма и ответ авторов</a:t>
            </a:r>
          </a:p>
          <a:p>
            <a:pPr algn="l">
              <a:lnSpc>
                <a:spcPct val="126000"/>
              </a:lnSpc>
              <a:spcBef>
                <a:spcPts val="700"/>
              </a:spcBef>
            </a:pPr>
            <a:r>
              <a:rPr sz="1250" b="0" i="0">
                <a:solidFill>
                  <a:srgbClr val="21295C"/>
                </a:solidFill>
                <a:latin typeface="Arial"/>
              </a:rPr>
              <a:t/>
            </a:r>
            <a:r>
              <a:rPr sz="1250" b="0" i="0">
                <a:solidFill>
                  <a:srgbClr val="21295C"/>
                </a:solidFill>
                <a:latin typeface="Arial"/>
              </a:rPr>
              <a:t>• вторичные исходы </a:t>
            </a:r>
            <a:r>
              <a:rPr sz="1250" b="1" i="0">
                <a:solidFill>
                  <a:srgbClr val="21295C"/>
                </a:solidFill>
                <a:latin typeface="Arial"/>
              </a:rPr>
              <a:t>не просели</a:t>
            </a:r>
            <a:r>
              <a:rPr sz="1250" b="0" i="0">
                <a:solidFill>
                  <a:srgbClr val="21295C"/>
                </a:solidFill>
                <a:latin typeface="Arial"/>
              </a:rPr>
              <a:t>, время выведения прибора в работе </a:t>
            </a:r>
            <a:r>
              <a:rPr sz="1250" b="1" i="0">
                <a:solidFill>
                  <a:srgbClr val="21295C"/>
                </a:solidFill>
                <a:latin typeface="Arial"/>
              </a:rPr>
              <a:t>не измерено вовсе</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нагрузка на тех же врачей выросла с </a:t>
            </a:r>
            <a:r>
              <a:rPr sz="1250" b="1" i="0">
                <a:solidFill>
                  <a:srgbClr val="21295C"/>
                </a:solidFill>
                <a:latin typeface="Arial"/>
              </a:rPr>
              <a:t>795 до 1 382 процедур</a:t>
            </a:r>
            <a:r>
              <a:rPr sz="1250" b="0" i="0">
                <a:solidFill>
                  <a:srgbClr val="21295C"/>
                </a:solidFill>
                <a:latin typeface="Arial"/>
              </a:rPr>
              <a:t> за окно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0086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Rounded Rectangle 13"/>
          <p:cNvSpPr/>
          <p:nvPr/>
        </p:nvSpPr>
        <p:spPr>
          <a:xfrm>
            <a:off x="374904" y="3161820"/>
            <a:ext cx="11441887" cy="2709784"/>
          </a:xfrm>
          <a:prstGeom prst="roundRect">
            <a:avLst>
              <a:gd name="adj" fmla="val 1124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всё, что есть про доверие врача, снято в один сеанс</a:t>
            </a:r>
          </a:p>
        </p:txBody>
      </p:sp>
      <p:sp>
        <p:nvSpPr>
          <p:cNvPr id="16" name="TextBox 15"/>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Того, кто читает снимок женщины с письмом, без помощника не измерял никто: падение доли обнаружения снято на эндоскопии.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17" name="Rectangle 16"/>
          <p:cNvSpPr/>
          <p:nvPr/>
        </p:nvSpPr>
        <p:spPr>
          <a:xfrm>
            <a:off x="6091275" y="3253260"/>
            <a:ext cx="9144" cy="243546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Единственный чертёж темы — с пустыми осями</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ЕДИНСТВЕННЫЙ ЧЕРТЁЖ ТЕМЫ ВО ВСЁМ КОРПУСЕ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оси подписаны, поле пустое</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уверенность пользователя против уместной уверенности, обе в процентах; точек под осями нет</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«ЯКОРЕНИЕ», «САМОУСПОКОЕНИЕ» В СИЛЛАБУСЕ ЧЕТЫРЁХ ВРАЧЕБНЫХ ОБЩЕСТВ</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11" name="TextBox 10"/>
          <p:cNvSpPr txBox="1"/>
          <p:nvPr/>
        </p:nvSpPr>
        <p:spPr>
          <a:xfrm>
            <a:off x="4423562" y="256731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по полному тексту: 6 196 слов</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КРУПНЕЙШАЯ ВРАЧЕБНАЯ ПРОГРАММА ПО ИИ: МИНУТ НА ЭТУ ТЕМУ</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из 60 часов</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 программы</a:t>
            </a:r>
          </a:p>
        </p:txBody>
      </p:sp>
      <p:sp>
        <p:nvSpPr>
          <p:cNvPr id="16" name="Rounded Rectangle 15"/>
          <p:cNvSpPr/>
          <p:nvPr/>
        </p:nvSpPr>
        <p:spPr>
          <a:xfrm>
            <a:off x="374904" y="3612599"/>
            <a:ext cx="11441887"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Отчёт государственного органа образования — единственный документ корпуса, доведший тему до чертежа. На графике подписаны обе оси: уверенность пользователя и уместная уверенность. </a:t>
            </a:r>
            <a:r>
              <a:rPr sz="1300" b="1" i="0">
                <a:solidFill>
                  <a:srgbClr val="21295C"/>
                </a:solidFill>
                <a:latin typeface="Arial"/>
              </a:rPr>
              <a:t>Поле под осями пустое.</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не небрежность, а честность:</a:t>
            </a:r>
            <a:r>
              <a:rPr sz="1300" b="0" i="0">
                <a:solidFill>
                  <a:srgbClr val="21295C"/>
                </a:solidFill>
                <a:latin typeface="Arial"/>
              </a:rPr>
              <a:t> оси назвать было чем, данные под них — нечем.</a:t>
            </a:r>
          </a:p>
          <a:p>
            <a:pPr algn="l">
              <a:lnSpc>
                <a:spcPct val="126000"/>
              </a:lnSpc>
              <a:spcBef>
                <a:spcPts val="700"/>
              </a:spcBef>
            </a:pPr>
            <a:r>
              <a:rPr sz="1300" b="0" i="0">
                <a:solidFill>
                  <a:srgbClr val="21295C"/>
                </a:solidFill>
                <a:latin typeface="Arial"/>
              </a:rPr>
              <a:t/>
            </a:r>
            <a:r>
              <a:rPr sz="1300" b="1" i="0">
                <a:solidFill>
                  <a:srgbClr val="21295C"/>
                </a:solidFill>
                <a:latin typeface="Arial"/>
              </a:rPr>
              <a:t>Тот же корпус описывает механизм подробно и без величин:</a:t>
            </a:r>
            <a:r>
              <a:rPr sz="1300" b="0" i="0">
                <a:solidFill>
                  <a:srgbClr val="21295C"/>
                </a:solidFill>
                <a:latin typeface="Arial"/>
              </a:rPr>
              <a:t> резидент недополучает самостоятельных прочтений · деградация умений · самоуспокоение. Ни срока, ни доли, ни замера.</a:t>
            </a:r>
          </a:p>
        </p:txBody>
      </p:sp>
      <p:sp>
        <p:nvSpPr>
          <p:cNvPr id="18" name="TextBox 17"/>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Работ в указателе — больше тысячи; в программы обучения из них не пришло ни одной величины.</a:t>
            </a:r>
            <a:r>
              <a:rPr sz="1300" b="0" i="0">
                <a:solidFill>
                  <a:srgbClr val="21295C"/>
                </a:solidFill>
                <a:latin typeface="Arial"/>
              </a:rPr>
              <a:t> Разрыв не в знании, а в переносе.</a:t>
            </a:r>
          </a:p>
          <a:p>
            <a:pPr algn="l">
              <a:lnSpc>
                <a:spcPct val="126000"/>
              </a:lnSpc>
              <a:spcBef>
                <a:spcPts val="700"/>
              </a:spcBef>
            </a:pPr>
            <a:r>
              <a:rPr sz="1300" b="0" i="0">
                <a:solidFill>
                  <a:srgbClr val="21295C"/>
                </a:solidFill>
                <a:latin typeface="Arial"/>
              </a:rPr>
              <a:t/>
            </a:r>
            <a:r>
              <a:rPr sz="1300" b="1" i="0">
                <a:solidFill>
                  <a:srgbClr val="21295C"/>
                </a:solidFill>
                <a:latin typeface="Arial"/>
              </a:rPr>
              <a:t>Отсюда и наш собственный порог:</a:t>
            </a:r>
            <a:r>
              <a:rPr sz="1300" b="0" i="0">
                <a:solidFill>
                  <a:srgbClr val="21295C"/>
                </a:solidFill>
                <a:latin typeface="Arial"/>
              </a:rPr>
              <a:t> взятое наблюдательно и один раз мы называем наблюдательным и однократным — и всё равно ставим на кадр, потому что иначе на этом месте остаются пустые оси.</a:t>
            </a:r>
          </a:p>
        </p:txBody>
      </p:sp>
      <p:sp>
        <p:nvSpPr>
          <p:cNvPr id="19" name="Rectangle 18"/>
          <p:cNvSpPr/>
          <p:nvPr/>
        </p:nvSpPr>
        <p:spPr>
          <a:xfrm>
            <a:off x="6091275" y="3704039"/>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Health Education England и NHS AI Lab, Understanding healthcare workers' confidence in AI, май 2022, 90 страниц</a:t>
            </a:r>
            <a:r>
              <a:rPr sz="1200" b="0" i="1">
                <a:solidFill>
                  <a:srgbClr val="1C7293"/>
                </a:solidFill>
                <a:latin typeface="Arial"/>
              </a:rPr>
              <a:t> · </a:t>
            </a:r>
            <a:r>
              <a:rPr sz="1200" b="0" i="1" u="sng">
                <a:solidFill>
                  <a:srgbClr val="065A82"/>
                </a:solidFill>
                <a:latin typeface="Arial"/>
                <a:hlinkClick r:id="rId3"/>
              </a:rPr>
              <a:t>AAPM, ACR, RSNA, SIIM, Teaching AI for Radiology Applications, 2025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Профессиональная квалификация: исполнитель тот же, но стал хуже — 28,4 против 22,4 из ста</a:t>
            </a:r>
          </a:p>
        </p:txBody>
      </p:sp>
      <p:sp>
        <p:nvSpPr>
          <p:cNvPr id="4" name="Rounded Rectangle 3"/>
          <p:cNvSpPr/>
          <p:nvPr/>
        </p:nvSpPr>
        <p:spPr>
          <a:xfrm>
            <a:off x="374904" y="1243584"/>
            <a:ext cx="11441887" cy="4965702"/>
          </a:xfrm>
          <a:prstGeom prst="roundRect">
            <a:avLst>
              <a:gd name="adj" fmla="val 613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 включённым помощником находят больше: прирост измерен и повторён многократно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считать показатели самого врача: долю обнаружения и время выведения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снять объём рутинной перепроверки: человеческого чтения ниже на </a:t>
            </a:r>
            <a:r>
              <a:rPr sz="1200" b="1" i="0">
                <a:solidFill>
                  <a:srgbClr val="21295C"/>
                </a:solidFill>
                <a:latin typeface="Arial"/>
              </a:rPr>
              <a:t>44,3 процента</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поддерживать навык: измерено обратное — </a:t>
            </a:r>
            <a:r>
              <a:rPr sz="1200" b="1" i="0">
                <a:solidFill>
                  <a:srgbClr val="21295C"/>
                </a:solidFill>
                <a:latin typeface="Arial"/>
              </a:rPr>
              <a:t>28,4 против 22,4 из ста</a:t>
            </a:r>
            <a:r>
              <a:rPr sz="1200" b="0" i="0">
                <a:solidFill>
                  <a:srgbClr val="21295C"/>
                </a:solidFill>
                <a:latin typeface="Arial"/>
              </a:rPr>
              <a:t> без помощника</a:t>
            </a:r>
          </a:p>
          <a:p>
            <a:pPr algn="l">
              <a:lnSpc>
                <a:spcPct val="126000"/>
              </a:lnSpc>
              <a:spcBef>
                <a:spcPts val="700"/>
              </a:spcBef>
            </a:pPr>
            <a:r>
              <a:rPr sz="1200" b="0" i="0">
                <a:solidFill>
                  <a:srgbClr val="21295C"/>
                </a:solidFill>
                <a:latin typeface="Arial"/>
              </a:rPr>
              <a:t/>
            </a:r>
            <a:r>
              <a:rPr sz="1200" b="0" i="0">
                <a:solidFill>
                  <a:srgbClr val="21295C"/>
                </a:solidFill>
                <a:latin typeface="Arial"/>
              </a:rPr>
              <a:t>• дать врачу обратную связь о пропуске: внутри процедуры её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измерить доверие за месяцы работы: таких измерений нет ни у кого</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исполнитель тот же, но стал хуже</a:t>
            </a:r>
            <a:r>
              <a:rPr sz="1200" b="0" i="0">
                <a:solidFill>
                  <a:srgbClr val="21295C"/>
                </a:solidFill>
                <a:latin typeface="Arial"/>
              </a:rPr>
              <a:t> — место, объём и рука прежние, изменилось состояние руки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появился шаг</a:t>
            </a:r>
            <a:r>
              <a:rPr sz="1200" b="0" i="0">
                <a:solidFill>
                  <a:srgbClr val="21295C"/>
                </a:solidFill>
                <a:latin typeface="Arial"/>
              </a:rPr>
              <a:t> — посредник, переводящий вывод модели на язык, которому поверит врач</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 второй шаг</a:t>
            </a:r>
            <a:r>
              <a:rPr sz="1200" b="0" i="0">
                <a:solidFill>
                  <a:srgbClr val="21295C"/>
                </a:solidFill>
                <a:latin typeface="Arial"/>
              </a:rPr>
              <a:t> — целевой арбитраж расхождения вместо рутинной перепроверки каждого случая: структура защиты от ошибки сменилась целиком</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доверие выше у тех, кто работает с моделью руками: точечные оценки есть, </a:t>
            </a:r>
            <a:r>
              <a:rPr sz="1200" b="1" i="0">
                <a:solidFill>
                  <a:srgbClr val="21295C"/>
                </a:solidFill>
                <a:latin typeface="Arial"/>
              </a:rPr>
              <a:t>значимости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доля обнаружения по каждому врачу отдельно, из обычной работы</a:t>
            </a:r>
          </a:p>
          <a:p>
            <a:pPr algn="l">
              <a:lnSpc>
                <a:spcPct val="126000"/>
              </a:lnSpc>
              <a:spcBef>
                <a:spcPts val="700"/>
              </a:spcBef>
            </a:pPr>
            <a:r>
              <a:rPr sz="1200" b="0" i="0">
                <a:solidFill>
                  <a:srgbClr val="21295C"/>
                </a:solidFill>
                <a:latin typeface="Arial"/>
              </a:rPr>
              <a:t/>
            </a:r>
            <a:r>
              <a:rPr sz="1200" b="0" i="0">
                <a:solidFill>
                  <a:srgbClr val="21295C"/>
                </a:solidFill>
                <a:latin typeface="Arial"/>
              </a:rPr>
              <a:t>• время выведения прибора с назначенной нижней границей, по таймеру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врача без помощника не измеряет ни одна процедура ни в одной юрисдикции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Повторения на реальной работе нет, и пробел назван числом: 22 отдельные попытки поиска.</a:t>
            </a:r>
            <a:r>
              <a:rPr sz="12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смена масштаба: тот же вопрос на разработке лекарства, где решают о веществе и платит не человек.</a:t>
            </a:r>
          </a:p>
        </p:txBody>
      </p:sp>
      <p:sp>
        <p:nvSpPr>
          <p:cNvPr id="7" name="Rectangle 6"/>
          <p:cNvSpPr/>
          <p:nvPr/>
        </p:nvSpPr>
        <p:spPr>
          <a:xfrm>
            <a:off x="6091275" y="1335024"/>
            <a:ext cx="9144" cy="4691382"/>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шаг, на котором стоит основной объём работы, не подешевел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упоминания с числом и базой.</a:t>
            </a:r>
            <a:r>
              <a:rPr sz="1550" b="0" i="0">
                <a:solidFill>
                  <a:srgbClr val="21295C"/>
                </a:solidFill>
                <a:latin typeface="Arial"/>
              </a:rPr>
              <a:t> Разбор один: </a:t>
            </a:r>
            <a:r>
              <a:rPr sz="1550" b="1" i="0">
                <a:solidFill>
                  <a:srgbClr val="21295C"/>
                </a:solidFill>
                <a:latin typeface="Arial"/>
              </a:rPr>
              <a:t>Пример 1: компания, отказавшаяся от своего обещания</a:t>
            </a:r>
            <a:r>
              <a:rPr sz="1550" b="0" i="0">
                <a:solidFill>
                  <a:srgbClr val="21295C"/>
                </a:solidFill>
                <a:latin typeface="Arial"/>
              </a:rPr>
              <a:t>; упоминания стоят в своде раздела.</a:t>
            </a:r>
          </a:p>
        </p:txBody>
      </p:sp>
      <p:sp>
        <p:nvSpPr>
          <p:cNvPr id="10" name="TextBox 9"/>
          <p:cNvSpPr txBox="1"/>
          <p:nvPr/>
        </p:nvSpPr>
        <p:spPr>
          <a:xfrm>
            <a:off x="704088" y="42451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 и узкое место стоит дальше.</a:t>
            </a:r>
          </a:p>
        </p:txBody>
      </p:sp>
      <p:sp>
        <p:nvSpPr>
          <p:cNvPr id="11" name="TextBox 10"/>
          <p:cNvSpPr txBox="1"/>
          <p:nvPr/>
        </p:nvSpPr>
        <p:spPr>
          <a:xfrm>
            <a:off x="704088" y="5013927"/>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«перешли» и «завершили» — </a:t>
            </a:r>
            <a:r>
              <a:rPr sz="1500" b="1" i="0">
                <a:solidFill>
                  <a:srgbClr val="21295C"/>
                </a:solidFill>
                <a:latin typeface="Arial"/>
              </a:rPr>
              <a:t>две разные дроби</a:t>
            </a:r>
            <a:r>
              <a:rPr sz="1500" b="0" i="0">
                <a:solidFill>
                  <a:srgbClr val="21295C"/>
                </a:solidFill>
                <a:latin typeface="Arial"/>
              </a:rPr>
              <a:t>: база считана на завершённых траекториях, живые активы в неё не попадают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502920" y="2683657"/>
            <a:ext cx="5437479" cy="1862949"/>
          </a:xfrm>
          <a:prstGeom prst="roundRect">
            <a:avLst>
              <a:gd name="adj" fmla="val 1636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Вести в клинику всё синтезированное</a:t>
            </a:r>
          </a:p>
        </p:txBody>
      </p:sp>
      <p:sp>
        <p:nvSpPr>
          <p:cNvPr id="14" name="TextBox 13"/>
          <p:cNvSpPr txBox="1"/>
          <p:nvPr/>
        </p:nvSpPr>
        <p:spPr>
          <a:xfrm>
            <a:off x="667512"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первой фазой за каждую пустышку</a:t>
            </a:r>
          </a:p>
          <a:p>
            <a:pPr algn="l">
              <a:lnSpc>
                <a:spcPct val="126000"/>
              </a:lnSpc>
            </a:pPr>
            <a:r>
              <a:rPr sz="1450" b="0" i="0">
                <a:solidFill>
                  <a:srgbClr val="21295C"/>
                </a:solidFill>
                <a:latin typeface="Arial"/>
              </a:rPr>
              <a:t>• ошибку видно: молекула дошла до людей и отсеялась</a:t>
            </a:r>
          </a:p>
          <a:p>
            <a:pPr algn="l">
              <a:lnSpc>
                <a:spcPct val="126000"/>
              </a:lnSpc>
            </a:pPr>
            <a:r>
              <a:rPr sz="1450" b="0" i="0">
                <a:solidFill>
                  <a:srgbClr val="21295C"/>
                </a:solidFill>
                <a:latin typeface="Arial"/>
              </a:rPr>
              <a:t>• цена считается в месяцах работы центра</a:t>
            </a:r>
          </a:p>
        </p:txBody>
      </p:sp>
      <p:sp>
        <p:nvSpPr>
          <p:cNvPr id="15" name="Rounded Rectangle 14"/>
          <p:cNvSpPr/>
          <p:nvPr/>
        </p:nvSpPr>
        <p:spPr>
          <a:xfrm>
            <a:off x="6251295" y="2683657"/>
            <a:ext cx="5437479" cy="1862949"/>
          </a:xfrm>
          <a:prstGeom prst="roundRect">
            <a:avLst>
              <a:gd name="adj" fmla="val 16361"/>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Вести только прошедшее экспертный отбор</a:t>
            </a:r>
          </a:p>
        </p:txBody>
      </p:sp>
      <p:sp>
        <p:nvSpPr>
          <p:cNvPr id="17" name="TextBox 16"/>
          <p:cNvSpPr txBox="1"/>
          <p:nvPr/>
        </p:nvSpPr>
        <p:spPr>
          <a:xfrm>
            <a:off x="6415887"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отброшенными молекулами</a:t>
            </a:r>
          </a:p>
          <a:p>
            <a:pPr algn="l">
              <a:lnSpc>
                <a:spcPct val="126000"/>
              </a:lnSpc>
            </a:pPr>
            <a:r>
              <a:rPr sz="1450" b="0" i="0">
                <a:solidFill>
                  <a:srgbClr val="21295C"/>
                </a:solidFill>
                <a:latin typeface="Arial"/>
              </a:rPr>
              <a:t>• сколько их — не знает никто</a:t>
            </a:r>
          </a:p>
          <a:p>
            <a:pPr algn="l">
              <a:lnSpc>
                <a:spcPct val="126000"/>
              </a:lnSpc>
            </a:pPr>
            <a:r>
              <a:rPr sz="1450" b="0" i="0">
                <a:solidFill>
                  <a:srgbClr val="21295C"/>
                </a:solidFill>
                <a:latin typeface="Arial"/>
              </a:rPr>
              <a:t>• ошибки не увидит никто: эксперимента не было</a:t>
            </a:r>
          </a:p>
        </p:txBody>
      </p:sp>
      <p:sp>
        <p:nvSpPr>
          <p:cNvPr id="18" name="Rounded Rectangle 17"/>
          <p:cNvSpPr/>
          <p:nvPr/>
        </p:nvSpPr>
        <p:spPr>
          <a:xfrm>
            <a:off x="374904" y="4638047"/>
            <a:ext cx="11441887" cy="1598160"/>
          </a:xfrm>
          <a:prstGeom prst="roundRect">
            <a:avLst>
              <a:gd name="adj" fmla="val 1907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729487"/>
            <a:ext cx="11112703" cy="150672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Счёт у двух режимов один и тот же — 52,0 · 28,9 · 7,9.</a:t>
            </a:r>
            <a:r>
              <a:rPr sz="1300" b="0" i="0">
                <a:solidFill>
                  <a:srgbClr val="21295C"/>
                </a:solidFill>
                <a:latin typeface="Arial"/>
              </a:rPr>
              <a:t> Различие между ними числом не предъявлено ни одним источником: отчёт считает отрасль целиком.</a:t>
            </a:r>
          </a:p>
          <a:p>
            <a:pPr algn="l">
              <a:lnSpc>
                <a:spcPct val="126000"/>
              </a:lnSpc>
              <a:spcBef>
                <a:spcPts val="700"/>
              </a:spcBef>
            </a:pPr>
            <a:r>
              <a:rPr sz="1300" b="0" i="0">
                <a:solidFill>
                  <a:srgbClr val="21295C"/>
                </a:solidFill>
                <a:latin typeface="Arial"/>
              </a:rPr>
              <a:t/>
            </a:r>
            <a:r>
              <a:rPr sz="1300" b="1" i="0">
                <a:solidFill>
                  <a:srgbClr val="21295C"/>
                </a:solidFill>
                <a:latin typeface="Arial"/>
              </a:rPr>
              <a:t>Экспертный отбор</a:t>
            </a:r>
            <a:r>
              <a:rPr sz="1300" b="0" i="0">
                <a:solidFill>
                  <a:srgbClr val="21295C"/>
                </a:solidFill>
                <a:latin typeface="Arial"/>
              </a:rPr>
              <a:t> — совет из химиков, биологов и токсикологов: опыт и литература, протоколом решение не описано, повторяемость никто не замерял.</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компания, отказавшаяся от своего обещания, и минус 180 рабочих мест</a:t>
            </a:r>
          </a:p>
        </p:txBody>
      </p:sp>
      <p:sp>
        <p:nvSpPr>
          <p:cNvPr id="4" name="Rounded Rectangle 3"/>
          <p:cNvSpPr/>
          <p:nvPr/>
        </p:nvSpPr>
        <p:spPr>
          <a:xfrm>
            <a:off x="502920" y="1335024"/>
            <a:ext cx="2673019" cy="1906992"/>
          </a:xfrm>
          <a:prstGeom prst="roundRect">
            <a:avLst>
              <a:gd name="adj" fmla="val 159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18–65 лет</a:t>
            </a:r>
          </a:p>
        </p:txBody>
      </p:sp>
      <p:sp>
        <p:nvSpPr>
          <p:cNvPr id="8" name="Rounded Rectangle 7"/>
          <p:cNvSpPr/>
          <p:nvPr/>
        </p:nvSpPr>
        <p:spPr>
          <a:xfrm>
            <a:off x="3340531" y="1335024"/>
            <a:ext cx="2673019" cy="1906992"/>
          </a:xfrm>
          <a:prstGeom prst="roundRect">
            <a:avLst>
              <a:gd name="adj" fmla="val 159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ТЯЖЕСТЬ ЭКЗЕМЫ И ЗУД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1" name="TextBox 10"/>
          <p:cNvSpPr txBox="1"/>
          <p:nvPr/>
        </p:nvSpPr>
        <p:spPr>
          <a:xfrm>
            <a:off x="3477691"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 первичная точка — безопасность — достигнута</a:t>
            </a:r>
          </a:p>
        </p:txBody>
      </p:sp>
      <p:sp>
        <p:nvSpPr>
          <p:cNvPr id="12" name="Rounded Rectangle 11"/>
          <p:cNvSpPr/>
          <p:nvPr/>
        </p:nvSpPr>
        <p:spPr>
          <a:xfrm>
            <a:off x="6178143" y="1335024"/>
            <a:ext cx="2673019" cy="1906992"/>
          </a:xfrm>
          <a:prstGeom prst="roundRect">
            <a:avLst>
              <a:gd name="adj" fmla="val 1598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4" name="TextBox 13"/>
          <p:cNvSpPr txBox="1"/>
          <p:nvPr/>
        </p:nvSpPr>
        <p:spPr>
          <a:xfrm>
            <a:off x="6315303"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5" name="TextBox 14"/>
          <p:cNvSpPr txBox="1"/>
          <p:nvPr/>
        </p:nvSpPr>
        <p:spPr>
          <a:xfrm>
            <a:off x="6315303" y="26823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 не неудача команды</a:t>
            </a:r>
          </a:p>
        </p:txBody>
      </p:sp>
      <p:sp>
        <p:nvSpPr>
          <p:cNvPr id="16" name="Rounded Rectangle 15"/>
          <p:cNvSpPr/>
          <p:nvPr/>
        </p:nvSpPr>
        <p:spPr>
          <a:xfrm>
            <a:off x="9015755" y="1335024"/>
            <a:ext cx="2673019" cy="1906992"/>
          </a:xfrm>
          <a:prstGeom prst="roundRect">
            <a:avLst>
              <a:gd name="adj" fmla="val 1598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9152915" y="1725375"/>
            <a:ext cx="2398699" cy="443974"/>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минус 180 мест, годом позже ещё минус 30 процентов штата</a:t>
            </a:r>
          </a:p>
        </p:txBody>
      </p:sp>
      <p:sp>
        <p:nvSpPr>
          <p:cNvPr id="19" name="TextBox 18"/>
          <p:cNvSpPr txBox="1"/>
          <p:nvPr/>
        </p:nvSpPr>
        <p:spPr>
          <a:xfrm>
            <a:off x="9152915" y="216934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следом офис за рубежом, смена руководителя и сервисная модель</a:t>
            </a:r>
          </a:p>
        </p:txBody>
      </p:sp>
      <p:sp>
        <p:nvSpPr>
          <p:cNvPr id="20" name="TextBox 19"/>
          <p:cNvSpPr txBox="1"/>
          <p:nvPr/>
        </p:nvSpPr>
        <p:spPr>
          <a:xfrm>
            <a:off x="502920" y="3461472"/>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21" name="Rounded Rectangle 20"/>
          <p:cNvSpPr/>
          <p:nvPr/>
        </p:nvSpPr>
        <p:spPr>
          <a:xfrm>
            <a:off x="1920240"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23" name="Right Arrow 22"/>
          <p:cNvSpPr/>
          <p:nvPr/>
        </p:nvSpPr>
        <p:spPr>
          <a:xfrm>
            <a:off x="4202353" y="383166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26" name="Right Arrow 25"/>
          <p:cNvSpPr/>
          <p:nvPr/>
        </p:nvSpPr>
        <p:spPr>
          <a:xfrm>
            <a:off x="6713067" y="383166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9" name="Right Arrow 28"/>
          <p:cNvSpPr/>
          <p:nvPr/>
        </p:nvSpPr>
        <p:spPr>
          <a:xfrm>
            <a:off x="9223781" y="3831661"/>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32" name="TextBox 31"/>
          <p:cNvSpPr txBox="1"/>
          <p:nvPr/>
        </p:nvSpPr>
        <p:spPr>
          <a:xfrm>
            <a:off x="502920" y="441216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33" name="Rounded Rectangle 32"/>
          <p:cNvSpPr/>
          <p:nvPr/>
        </p:nvSpPr>
        <p:spPr>
          <a:xfrm>
            <a:off x="374904" y="4714846"/>
            <a:ext cx="11441887" cy="1344831"/>
          </a:xfrm>
          <a:prstGeom prst="roundRect">
            <a:avLst>
              <a:gd name="adj" fmla="val 22664"/>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806286"/>
            <a:ext cx="11112703" cy="125339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a:t>
            </a:r>
            <a:r>
              <a:rPr sz="1250" b="0" i="1">
                <a:solidFill>
                  <a:srgbClr val="21295C"/>
                </a:solidFill>
                <a:latin typeface="Arial"/>
              </a:rPr>
              <a:t>прогноз на структурированных данных</a:t>
            </a:r>
            <a:r>
              <a:rPr sz="1250" b="0" i="0">
                <a:solidFill>
                  <a:srgbClr val="21295C"/>
                </a:solidFill>
                <a:latin typeface="Arial"/>
              </a:rPr>
              <a:t>): вход — связи «мишень — болезнь — препарат», выход — молекула под мишень. </a:t>
            </a:r>
            <a:r>
              <a:rPr sz="1250" b="1" i="0">
                <a:solidFill>
                  <a:srgbClr val="21295C"/>
                </a:solidFill>
                <a:latin typeface="Arial"/>
              </a:rPr>
              <a:t>Ни компании, ни молекулы, ни данных обучения источники не называют.</a:t>
            </a:r>
            <a:r>
              <a:rPr sz="1250" b="0" i="0">
                <a:solidFill>
                  <a:srgbClr val="21295C"/>
                </a:solidFill>
                <a:latin typeface="Arial"/>
              </a:rPr>
              <a:t> Испытание прошло по правилам: разница выяснилась </a:t>
            </a:r>
            <a:r>
              <a:rPr sz="1250" b="1" i="0">
                <a:solidFill>
                  <a:srgbClr val="21295C"/>
                </a:solidFill>
                <a:latin typeface="Arial"/>
              </a:rPr>
              <a:t>только на людях</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Переехал порядок работ — на масштабе модели бизнеса. дало</a:t>
            </a:r>
            <a:r>
              <a:rPr sz="1250" b="0" i="0">
                <a:solidFill>
                  <a:srgbClr val="21295C"/>
                </a:solidFill>
                <a:latin typeface="Arial"/>
              </a:rPr>
              <a:t> программу до второй фазы · </a:t>
            </a:r>
            <a:r>
              <a:rPr sz="1250" b="1" i="0">
                <a:solidFill>
                  <a:srgbClr val="21295C"/>
                </a:solidFill>
                <a:latin typeface="Arial"/>
              </a:rPr>
              <a:t>потребовало</a:t>
            </a:r>
            <a:r>
              <a:rPr sz="1250" b="0" i="0">
                <a:solidFill>
                  <a:srgbClr val="21295C"/>
                </a:solidFill>
                <a:latin typeface="Arial"/>
              </a:rPr>
              <a:t> успеха там, где отрасль даёт меньше трети · </a:t>
            </a:r>
            <a:r>
              <a:rPr sz="1250" b="1" i="0">
                <a:solidFill>
                  <a:srgbClr val="21295C"/>
                </a:solidFill>
                <a:latin typeface="Arial"/>
              </a:rPr>
              <a:t>в сумме</a:t>
            </a:r>
            <a:r>
              <a:rPr sz="1250" b="0" i="0">
                <a:solidFill>
                  <a:srgbClr val="21295C"/>
                </a:solidFill>
                <a:latin typeface="Arial"/>
              </a:rPr>
              <a:t> две волны сокращений</a:t>
            </a:r>
          </a:p>
        </p:txBody>
      </p:sp>
      <p:sp>
        <p:nvSpPr>
          <p:cNvPr id="35" name="Rectangle 34"/>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Разработка лекарственных средств: ранний шаг подешевел многократно, одобрений — ноль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срезать объём физического перебора: расчёт вместо миллионов опытных итераций</a:t>
            </a:r>
          </a:p>
          <a:p>
            <a:pPr algn="l">
              <a:lnSpc>
                <a:spcPct val="126000"/>
              </a:lnSpc>
              <a:spcBef>
                <a:spcPts val="700"/>
              </a:spcBef>
            </a:pPr>
            <a:r>
              <a:rPr sz="1200" b="0" i="0">
                <a:solidFill>
                  <a:srgbClr val="21295C"/>
                </a:solidFill>
                <a:latin typeface="Arial"/>
              </a:rPr>
              <a:t/>
            </a:r>
            <a:r>
              <a:rPr sz="1200" b="0" i="0">
                <a:solidFill>
                  <a:srgbClr val="21295C"/>
                </a:solidFill>
                <a:latin typeface="Arial"/>
              </a:rPr>
              <a:t>• сжать доклинику: заявлено меньше двенадцати месяцев вместо нескольких лет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первую фазу чаще базы: </a:t>
            </a:r>
            <a:r>
              <a:rPr sz="1200" b="1" i="0">
                <a:solidFill>
                  <a:srgbClr val="21295C"/>
                </a:solidFill>
                <a:latin typeface="Arial"/>
              </a:rPr>
              <a:t>80–90 из ста</a:t>
            </a:r>
            <a:r>
              <a:rPr sz="1200" b="0" i="0">
                <a:solidFill>
                  <a:srgbClr val="21295C"/>
                </a:solidFill>
                <a:latin typeface="Arial"/>
              </a:rPr>
              <a:t> против </a:t>
            </a:r>
            <a:r>
              <a:rPr sz="1200" b="1" i="0">
                <a:solidFill>
                  <a:srgbClr val="21295C"/>
                </a:solidFill>
                <a:latin typeface="Arial"/>
              </a:rPr>
              <a:t>52,0</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вторую фазу лучше базы: около </a:t>
            </a:r>
            <a:r>
              <a:rPr sz="1200" b="1" i="0">
                <a:solidFill>
                  <a:srgbClr val="21295C"/>
                </a:solidFill>
                <a:latin typeface="Arial"/>
              </a:rPr>
              <a:t>40</a:t>
            </a:r>
            <a:r>
              <a:rPr sz="1200" b="0" i="0">
                <a:solidFill>
                  <a:srgbClr val="21295C"/>
                </a:solidFill>
                <a:latin typeface="Arial"/>
              </a:rPr>
              <a:t> против </a:t>
            </a:r>
            <a:r>
              <a:rPr sz="1200" b="1" i="0">
                <a:solidFill>
                  <a:srgbClr val="21295C"/>
                </a:solidFill>
                <a:latin typeface="Arial"/>
              </a:rPr>
              <a:t>28,9</a:t>
            </a:r>
            <a:r>
              <a:rPr sz="1200" b="0" i="0">
                <a:solidFill>
                  <a:srgbClr val="21295C"/>
                </a:solidFill>
                <a:latin typeface="Arial"/>
              </a:rPr>
              <a:t> — сопоставимо</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получить одобрение: за десять лет категории — </a:t>
            </a:r>
            <a:r>
              <a:rPr sz="1200" b="1" i="0">
                <a:solidFill>
                  <a:srgbClr val="21295C"/>
                </a:solidFill>
                <a:latin typeface="Arial"/>
              </a:rPr>
              <a:t>ноль</a:t>
            </a:r>
            <a:r>
              <a:rPr sz="1200" b="0" i="0">
                <a:solidFill>
                  <a:srgbClr val="21295C"/>
                </a:solidFill>
                <a:latin typeface="Arial"/>
              </a:rPr>
              <a:t> при 75 и 117 активах</a:t>
            </a:r>
          </a:p>
          <a:p>
            <a:pPr algn="l">
              <a:lnSpc>
                <a:spcPct val="126000"/>
              </a:lnSpc>
              <a:spcBef>
                <a:spcPts val="700"/>
              </a:spcBef>
            </a:pPr>
            <a:r>
              <a:rPr sz="1200" b="0" i="0">
                <a:solidFill>
                  <a:srgbClr val="21295C"/>
                </a:solidFill>
                <a:latin typeface="Arial"/>
              </a:rPr>
              <a:t/>
            </a:r>
            <a:r>
              <a:rPr sz="1200" b="0" i="0">
                <a:solidFill>
                  <a:srgbClr val="21295C"/>
                </a:solidFill>
                <a:latin typeface="Arial"/>
              </a:rPr>
              <a:t>• сократить четыре работы на людях: задачи для модели там нет ни одной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нагрузка переехала на другой шаг</a:t>
            </a:r>
            <a:r>
              <a:rPr sz="1200" b="0" i="0">
                <a:solidFill>
                  <a:srgbClr val="21295C"/>
                </a:solidFill>
                <a:latin typeface="Arial"/>
              </a:rPr>
              <a:t> — и на молекуле, и на отрасли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объём на том же месте упал</a:t>
            </a:r>
            <a:r>
              <a:rPr sz="1200" b="0" i="0">
                <a:solidFill>
                  <a:srgbClr val="21295C"/>
                </a:solidFill>
                <a:latin typeface="Arial"/>
              </a:rPr>
              <a:t> — тот же шаг, тот же исполнитель, меньше итераций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изменился порядок работ</a:t>
            </a:r>
            <a:r>
              <a:rPr sz="1200" b="0" i="0">
                <a:solidFill>
                  <a:srgbClr val="21295C"/>
                </a:solidFill>
                <a:latin typeface="Arial"/>
              </a:rPr>
              <a:t> — на масштабе модели бизнеса; препарата это не касается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доклиника и три фазы на людях: их длину задают физиология и протокол</a:t>
            </a:r>
          </a:p>
          <a:p>
            <a:pPr algn="l">
              <a:lnSpc>
                <a:spcPct val="126000"/>
              </a:lnSpc>
              <a:spcBef>
                <a:spcPts val="700"/>
              </a:spcBef>
            </a:pPr>
            <a:r>
              <a:rPr sz="1200" b="0" i="0">
                <a:solidFill>
                  <a:srgbClr val="21295C"/>
                </a:solidFill>
                <a:latin typeface="Arial"/>
              </a:rPr>
              <a:t/>
            </a:r>
            <a:r>
              <a:rPr sz="1200" b="0" i="0">
                <a:solidFill>
                  <a:srgbClr val="21295C"/>
                </a:solidFill>
                <a:latin typeface="Arial"/>
              </a:rPr>
              <a:t>• воронка переходов </a:t>
            </a:r>
            <a:r>
              <a:rPr sz="1200" b="1" i="0">
                <a:solidFill>
                  <a:srgbClr val="21295C"/>
                </a:solidFill>
                <a:latin typeface="Arial"/>
              </a:rPr>
              <a:t>52,0 · 28,9 · 7,9</a:t>
            </a:r>
            <a:r>
              <a:rPr sz="1200" b="0" i="0">
                <a:solidFill>
                  <a:srgbClr val="21295C"/>
                </a:solidFill>
                <a:latin typeface="Arial"/>
              </a:rPr>
              <a:t> — база для сравнения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«шаг исчез» не подтверждается</a:t>
            </a:r>
            <a:r>
              <a:rPr sz="1200" b="0" i="0">
                <a:solidFill>
                  <a:srgbClr val="21295C"/>
                </a:solidFill>
                <a:latin typeface="Arial"/>
              </a:rPr>
              <a:t> — депозиты держат плато </a:t>
            </a:r>
            <a:r>
              <a:rPr sz="1200" b="1" i="0">
                <a:solidFill>
                  <a:srgbClr val="21295C"/>
                </a:solidFill>
                <a:latin typeface="Arial"/>
              </a:rPr>
              <a:t>9–10 тысяч в год</a:t>
            </a:r>
            <a:r>
              <a:rPr sz="1200" b="0" i="0">
                <a:solidFill>
                  <a:srgbClr val="21295C"/>
                </a:solidFill>
                <a:latin typeface="Arial"/>
              </a:rPr>
              <a:t> с 2015 года</a:t>
            </a:r>
          </a:p>
          <a:p>
            <a:pPr algn="l">
              <a:lnSpc>
                <a:spcPct val="126000"/>
              </a:lnSpc>
              <a:spcBef>
                <a:spcPts val="700"/>
              </a:spcBef>
            </a:pPr>
            <a:r>
              <a:rPr sz="1200" b="0" i="0">
                <a:solidFill>
                  <a:srgbClr val="21295C"/>
                </a:solidFill>
                <a:latin typeface="Arial"/>
              </a:rPr>
              <a:t/>
            </a:r>
            <a:r>
              <a:rPr sz="1200" b="1" i="0">
                <a:solidFill>
                  <a:srgbClr val="21295C"/>
                </a:solidFill>
                <a:latin typeface="Arial"/>
              </a:rPr>
              <a:t>Ещё два случая — упоминанием, числом и базой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молекула за год:</a:t>
            </a:r>
            <a:r>
              <a:rPr sz="1200" b="0" i="0">
                <a:solidFill>
                  <a:srgbClr val="21295C"/>
                </a:solidFill>
                <a:latin typeface="Arial"/>
              </a:rPr>
              <a:t> доклиника меньше </a:t>
            </a:r>
            <a:r>
              <a:rPr sz="1200" b="1" i="0">
                <a:solidFill>
                  <a:srgbClr val="21295C"/>
                </a:solidFill>
                <a:latin typeface="Arial"/>
              </a:rPr>
              <a:t>12 месяцев</a:t>
            </a:r>
            <a:r>
              <a:rPr sz="1200" b="0" i="0">
                <a:solidFill>
                  <a:srgbClr val="21295C"/>
                </a:solidFill>
                <a:latin typeface="Arial"/>
              </a:rPr>
              <a:t> против </a:t>
            </a:r>
            <a:r>
              <a:rPr sz="1200" b="1" i="0">
                <a:solidFill>
                  <a:srgbClr val="21295C"/>
                </a:solidFill>
                <a:latin typeface="Arial"/>
              </a:rPr>
              <a:t>4,5 года</a:t>
            </a:r>
            <a:r>
              <a:rPr sz="1200" b="0" i="0">
                <a:solidFill>
                  <a:srgbClr val="21295C"/>
                </a:solidFill>
                <a:latin typeface="Arial"/>
              </a:rPr>
              <a:t>, но оба числа заявила сама компания; снята на первой фазе, база перехода — </a:t>
            </a:r>
            <a:r>
              <a:rPr sz="1200" b="1" i="0">
                <a:solidFill>
                  <a:srgbClr val="21295C"/>
                </a:solidFill>
                <a:latin typeface="Arial"/>
              </a:rPr>
              <a:t>52,0 из 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воронка категории:</a:t>
            </a:r>
            <a:r>
              <a:rPr sz="1200" b="0" i="0">
                <a:solidFill>
                  <a:srgbClr val="21295C"/>
                </a:solidFill>
                <a:latin typeface="Arial"/>
              </a:rPr>
              <a:t> переход второй фазы </a:t>
            </a:r>
            <a:r>
              <a:rPr sz="1200" b="1" i="0">
                <a:solidFill>
                  <a:srgbClr val="21295C"/>
                </a:solidFill>
                <a:latin typeface="Arial"/>
              </a:rPr>
              <a:t>около 40</a:t>
            </a:r>
            <a:r>
              <a:rPr sz="1200" b="0" i="0">
                <a:solidFill>
                  <a:srgbClr val="21295C"/>
                </a:solidFill>
                <a:latin typeface="Arial"/>
              </a:rPr>
              <a:t> против базы </a:t>
            </a:r>
            <a:r>
              <a:rPr sz="1200" b="1" i="0">
                <a:solidFill>
                  <a:srgbClr val="21295C"/>
                </a:solidFill>
                <a:latin typeface="Arial"/>
              </a:rPr>
              <a:t>28,9</a:t>
            </a:r>
            <a:r>
              <a:rPr sz="1200" b="0" i="0">
                <a:solidFill>
                  <a:srgbClr val="21295C"/>
                </a:solidFill>
                <a:latin typeface="Arial"/>
              </a:rPr>
              <a:t>; одобрений — </a:t>
            </a:r>
            <a:r>
              <a:rPr sz="1200" b="1" i="0">
                <a:solidFill>
                  <a:srgbClr val="21295C"/>
                </a:solidFill>
                <a:latin typeface="Arial"/>
              </a:rPr>
              <a:t>0</a:t>
            </a:r>
            <a:r>
              <a:rPr sz="1200" b="0" i="0">
                <a:solidFill>
                  <a:srgbClr val="21295C"/>
                </a:solidFill>
                <a:latin typeface="Arial"/>
              </a:rPr>
              <a:t> при 75 и 117 активах в клинике</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Ранний шаг подешевел многократно. Одобрений — </a:t>
            </a:r>
            <a:r>
              <a:rPr sz="1200" b="1" i="0">
                <a:solidFill>
                  <a:srgbClr val="21295C"/>
                </a:solidFill>
                <a:latin typeface="Arial"/>
              </a:rPr>
              <a:t>0</a:t>
            </a:r>
            <a:r>
              <a:rPr sz="1200" b="0" i="0">
                <a:solidFill>
                  <a:srgbClr val="21295C"/>
                </a:solidFill>
                <a:latin typeface="Arial"/>
              </a:rPr>
              <a:t>. Узкое место лежит дальше и не подешевело.</a:t>
            </a:r>
          </a:p>
          <a:p>
            <a:pPr algn="l">
              <a:lnSpc>
                <a:spcPct val="126000"/>
              </a:lnSpc>
              <a:spcBef>
                <a:spcPts val="700"/>
              </a:spcBef>
            </a:pPr>
            <a:r>
              <a:rPr sz="1200" b="0" i="0">
                <a:solidFill>
                  <a:srgbClr val="21295C"/>
                </a:solidFill>
                <a:latin typeface="Arial"/>
              </a:rPr>
              <a:t/>
            </a:r>
            <a:r>
              <a:rPr sz="1200" b="1" i="0">
                <a:solidFill>
                  <a:srgbClr val="21295C"/>
                </a:solidFill>
                <a:latin typeface="Arial"/>
              </a:rPr>
              <a:t>Адрес платежа здесь пуст: платит не человек</a:t>
            </a:r>
            <a:r>
              <a:rPr sz="1200" b="0" i="0">
                <a:solidFill>
                  <a:srgbClr val="21295C"/>
                </a:solidFill>
                <a:latin typeface="Arial"/>
              </a:rPr>
              <a:t> — решают о веществе. Мерить надо пропускную способность шага, которого вы не трогали.</a:t>
            </a:r>
          </a:p>
        </p:txBody>
      </p:sp>
      <p:sp>
        <p:nvSpPr>
          <p:cNvPr id="7" name="Rectangle 6"/>
          <p:cNvSpPr/>
          <p:nvPr/>
        </p:nvSpPr>
        <p:spPr>
          <a:xfrm>
            <a:off x="6091275" y="1335024"/>
            <a:ext cx="9144" cy="4840131"/>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Девять форм словаря целиком, со счётом под каждой · 2. Сколько раз выигрыш оказался приписан не тому · 3. Клетки узнаваемые, процедуры другие · 4. Чем заплатили и чем каждое держится · 5. Четыре разных ответа на один вопрос</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целиком: чем лекция называла то, что происходит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9107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9846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230567" y="1335024"/>
            <a:ext cx="374354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376871" y="1335024"/>
            <a:ext cx="345093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974111" y="1335024"/>
            <a:ext cx="1902397"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20415" y="1335024"/>
            <a:ext cx="160978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что мерит</a:t>
            </a:r>
          </a:p>
        </p:txBody>
      </p:sp>
      <p:sp>
        <p:nvSpPr>
          <p:cNvPr id="11" name="Rectangle 10"/>
          <p:cNvSpPr/>
          <p:nvPr/>
        </p:nvSpPr>
        <p:spPr>
          <a:xfrm>
            <a:off x="6876508" y="1335024"/>
            <a:ext cx="4775690"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022812" y="1335024"/>
            <a:ext cx="4483082"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69107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230567" y="1718403"/>
            <a:ext cx="374354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76871" y="17184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974111" y="1718403"/>
            <a:ext cx="1902397"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20415" y="17184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6876508" y="1718403"/>
            <a:ext cx="4775690"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022812" y="17184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одобрений регулятора </a:t>
            </a:r>
            <a:r>
              <a:rPr sz="1200" b="1" i="0">
                <a:solidFill>
                  <a:srgbClr val="21295C"/>
                </a:solidFill>
                <a:latin typeface="Arial"/>
              </a:rPr>
              <a:t>ноль</a:t>
            </a:r>
          </a:p>
        </p:txBody>
      </p:sp>
      <p:sp>
        <p:nvSpPr>
          <p:cNvPr id="21" name="Rectangle 20"/>
          <p:cNvSpPr/>
          <p:nvPr/>
        </p:nvSpPr>
        <p:spPr>
          <a:xfrm>
            <a:off x="539496" y="2101783"/>
            <a:ext cx="69107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230567" y="2101783"/>
            <a:ext cx="374354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76871" y="21017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974111" y="2101783"/>
            <a:ext cx="1902397"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20415" y="21017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6876508" y="2101783"/>
            <a:ext cx="4775690"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022812" y="21017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69107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230567" y="2485163"/>
            <a:ext cx="374354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76871" y="24851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974111" y="2485163"/>
            <a:ext cx="1902397"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20415" y="24851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6876508" y="2485163"/>
            <a:ext cx="4775690"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022812" y="24851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расхождений </a:t>
            </a:r>
            <a:r>
              <a:rPr sz="1200" b="1" i="0">
                <a:solidFill>
                  <a:srgbClr val="21295C"/>
                </a:solidFill>
                <a:latin typeface="Arial"/>
              </a:rPr>
              <a:t>+53 %</a:t>
            </a:r>
          </a:p>
        </p:txBody>
      </p:sp>
      <p:sp>
        <p:nvSpPr>
          <p:cNvPr id="37" name="Rectangle 36"/>
          <p:cNvSpPr/>
          <p:nvPr/>
        </p:nvSpPr>
        <p:spPr>
          <a:xfrm>
            <a:off x="539496" y="2868543"/>
            <a:ext cx="69107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230567" y="2868543"/>
            <a:ext cx="374354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76871" y="286854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974111" y="2868543"/>
            <a:ext cx="1902397"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20415" y="286854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6876508" y="2868543"/>
            <a:ext cx="4775690"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022812" y="286854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69107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230567" y="3251923"/>
            <a:ext cx="374354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76871" y="325192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974111" y="3251923"/>
            <a:ext cx="1902397"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20415" y="325192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6876508" y="3251923"/>
            <a:ext cx="4775690"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7022812" y="325192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две реализации, знаки противоположные</a:t>
            </a:r>
          </a:p>
        </p:txBody>
      </p:sp>
      <p:sp>
        <p:nvSpPr>
          <p:cNvPr id="53" name="Rectangle 52"/>
          <p:cNvSpPr/>
          <p:nvPr/>
        </p:nvSpPr>
        <p:spPr>
          <a:xfrm>
            <a:off x="539496" y="3635303"/>
            <a:ext cx="69107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230567" y="3635303"/>
            <a:ext cx="374354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76871" y="36353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сменился</a:t>
            </a:r>
          </a:p>
        </p:txBody>
      </p:sp>
      <p:sp>
        <p:nvSpPr>
          <p:cNvPr id="57" name="Rectangle 56"/>
          <p:cNvSpPr/>
          <p:nvPr/>
        </p:nvSpPr>
        <p:spPr>
          <a:xfrm>
            <a:off x="4974111" y="3635303"/>
            <a:ext cx="1902397"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20415" y="36353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6876508" y="3635303"/>
            <a:ext cx="4775690"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7022812" y="36353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61" name="Rectangle 60"/>
          <p:cNvSpPr/>
          <p:nvPr/>
        </p:nvSpPr>
        <p:spPr>
          <a:xfrm>
            <a:off x="539496" y="4018683"/>
            <a:ext cx="69107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230567" y="4018683"/>
            <a:ext cx="374354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76871" y="40186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974111" y="4018683"/>
            <a:ext cx="1902397"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20415" y="40186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6876508" y="4018683"/>
            <a:ext cx="4775690"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7022812" y="40186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69107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230567" y="4402063"/>
            <a:ext cx="374354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76871" y="44020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974111" y="4402063"/>
            <a:ext cx="1902397"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20415" y="44020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6876508" y="4402063"/>
            <a:ext cx="4775690"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7022812" y="44020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вмешаться способны — проверено у </a:t>
            </a:r>
            <a:r>
              <a:rPr sz="1200" b="1" i="0">
                <a:solidFill>
                  <a:srgbClr val="21295C"/>
                </a:solidFill>
                <a:latin typeface="Arial"/>
              </a:rPr>
              <a:t>56 из 717</a:t>
            </a:r>
          </a:p>
        </p:txBody>
      </p:sp>
      <p:sp>
        <p:nvSpPr>
          <p:cNvPr id="77" name="Rectangle 76"/>
          <p:cNvSpPr/>
          <p:nvPr/>
        </p:nvSpPr>
        <p:spPr>
          <a:xfrm>
            <a:off x="539496" y="4785442"/>
            <a:ext cx="69107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230567" y="4785442"/>
            <a:ext cx="374354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76871" y="4785442"/>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974111" y="4785442"/>
            <a:ext cx="1902397"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20415" y="4785442"/>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состояние руки</a:t>
            </a:r>
          </a:p>
        </p:txBody>
      </p:sp>
      <p:sp>
        <p:nvSpPr>
          <p:cNvPr id="83" name="Rectangle 82"/>
          <p:cNvSpPr/>
          <p:nvPr/>
        </p:nvSpPr>
        <p:spPr>
          <a:xfrm>
            <a:off x="6876508" y="4785442"/>
            <a:ext cx="4775690"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7022812" y="4785442"/>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 процедур</a:t>
            </a:r>
          </a:p>
        </p:txBody>
      </p:sp>
      <p:sp>
        <p:nvSpPr>
          <p:cNvPr id="85" name="Rectangle 84"/>
          <p:cNvSpPr/>
          <p:nvPr/>
        </p:nvSpPr>
        <p:spPr>
          <a:xfrm>
            <a:off x="539496" y="5168822"/>
            <a:ext cx="69107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9846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230567" y="5168822"/>
            <a:ext cx="374354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76871" y="5168822"/>
            <a:ext cx="345093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974111" y="5168822"/>
            <a:ext cx="1902397"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20415" y="5168822"/>
            <a:ext cx="1609789"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состояние руки</a:t>
            </a:r>
          </a:p>
        </p:txBody>
      </p:sp>
      <p:sp>
        <p:nvSpPr>
          <p:cNvPr id="91" name="Rectangle 90"/>
          <p:cNvSpPr/>
          <p:nvPr/>
        </p:nvSpPr>
        <p:spPr>
          <a:xfrm>
            <a:off x="6876508" y="5168822"/>
            <a:ext cx="4775690"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7022812" y="5168822"/>
            <a:ext cx="4483082"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 ни одного</a:t>
            </a:r>
          </a:p>
        </p:txBody>
      </p:sp>
      <p:sp>
        <p:nvSpPr>
          <p:cNvPr id="93" name="TextBox 92"/>
          <p:cNvSpPr txBox="1"/>
          <p:nvPr/>
        </p:nvSpPr>
        <p:spPr>
          <a:xfrm>
            <a:off x="539496" y="5698506"/>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Семь форм из девяти со счётом; у двух счёта нет, и на их месте прочерк. Десятая строка — пустой номер: обратного случая не измерено. Какая из девяти встречалась у вас на работе?</a:t>
            </a:r>
          </a:p>
        </p:txBody>
      </p:sp>
      <p:sp>
        <p:nvSpPr>
          <p:cNvPr id="94" name="Rectangle 9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НА СВОИХ КАДРАХ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из пятнадцати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строк реестра: свой кадр либо названное число внутри разбора</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 И НА СЦЕНУ НЕ ВЫШЛО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потеряли свой кадр при сокращении, три стоят условно — их адрес за другим разделом</a:t>
            </a:r>
          </a:p>
        </p:txBody>
      </p:sp>
      <p:sp>
        <p:nvSpPr>
          <p:cNvPr id="12" name="Rounded Rectangle 11"/>
          <p:cNvSpPr/>
          <p:nvPr/>
        </p:nvSpPr>
        <p:spPr>
          <a:xfrm>
            <a:off x="374904" y="2803461"/>
            <a:ext cx="11441887" cy="3313590"/>
          </a:xfrm>
          <a:prstGeom prst="roundRect">
            <a:avLst>
              <a:gd name="adj" fmla="val 91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Правило счёта: номинация подтверждена, если её разбор был на экране. Из девяти строк ниже свой разбор есть у четырёх.</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там вообще нет модели.</a:t>
            </a:r>
            <a:r>
              <a:rPr sz="1400" b="0" i="0">
                <a:solidFill>
                  <a:srgbClr val="21295C"/>
                </a:solidFill>
                <a:latin typeface="Arial"/>
              </a:rPr>
              <a:t> Сортировка обращений оказалась деревом «если-то». Прибор, измеряющий насыщение крови кислородом, смещён ещё до модели. Тревога кардиомонитора — порог на приборе. </a:t>
            </a:r>
            <a:r>
              <a:rPr sz="1400" b="1" i="0">
                <a:solidFill>
                  <a:srgbClr val="21295C"/>
                </a:solidFill>
                <a:latin typeface="Arial"/>
              </a:rPr>
              <a:t>Убери модель</a:t>
            </a:r>
            <a:r>
              <a:rPr sz="1400" b="0" i="0">
                <a:solidFill>
                  <a:srgbClr val="21295C"/>
                </a:solidFill>
                <a:latin typeface="Arial"/>
              </a:rPr>
              <a:t> — механизм продолжит работать.</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выигрыш не там, где показывают.</a:t>
            </a:r>
            <a:r>
              <a:rPr sz="1400" b="0" i="0">
                <a:solidFill>
                  <a:srgbClr val="21295C"/>
                </a:solidFill>
                <a:latin typeface="Arial"/>
              </a:rPr>
              <a:t> Снижение смертности принадлежит новой роли; качеству прогноза оно не принадлежит. «ИИ изобрёл лекарство» — расчёту физики связывания под известную мишень. «Миллионы обработанных исследований» — объёму: знаменателя нет. </a:t>
            </a:r>
            <a:r>
              <a:rPr sz="1400" b="1" i="0">
                <a:solidFill>
                  <a:srgbClr val="21295C"/>
                </a:solidFill>
                <a:latin typeface="Arial"/>
              </a:rPr>
              <a:t>Спроси, от чего посчитан эффект.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числа выросли при пересказе.</a:t>
            </a:r>
            <a:r>
              <a:rPr sz="1400" b="0" i="0">
                <a:solidFill>
                  <a:srgbClr val="21295C"/>
                </a:solidFill>
                <a:latin typeface="Arial"/>
              </a:rPr>
              <a:t> Рецензируемый обзор перепутал шесть первоисточников из семи своих. «Три секунды на описание исследования» оказались временем модели, поданным как время врача. «Экономия двойного чтения» взята из сценария, который авторы сами назвали вымышленным. </a:t>
            </a:r>
            <a:r>
              <a:rPr sz="1400" b="1" i="0">
                <a:solidFill>
                  <a:srgbClr val="21295C"/>
                </a:solidFill>
                <a:latin typeface="Arial"/>
              </a:rPr>
              <a:t>Открой первоисточник: выборка, дизайн, журнал.</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803366"/>
          </a:xfrm>
          <a:prstGeom prst="roundRect">
            <a:avLst>
              <a:gd name="adj" fmla="val 634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15269"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2266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2454765" y="1335024"/>
            <a:ext cx="2855047"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2601069" y="1335024"/>
            <a:ext cx="256243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текст</a:t>
            </a:r>
          </a:p>
        </p:txBody>
      </p:sp>
      <p:sp>
        <p:nvSpPr>
          <p:cNvPr id="9" name="Rectangle 8"/>
          <p:cNvSpPr/>
          <p:nvPr/>
        </p:nvSpPr>
        <p:spPr>
          <a:xfrm>
            <a:off x="5309813" y="1335024"/>
            <a:ext cx="2949494"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56117" y="1335024"/>
            <a:ext cx="265688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изображение</a:t>
            </a:r>
          </a:p>
        </p:txBody>
      </p:sp>
      <p:sp>
        <p:nvSpPr>
          <p:cNvPr id="11" name="Rectangle 10"/>
          <p:cNvSpPr/>
          <p:nvPr/>
        </p:nvSpPr>
        <p:spPr>
          <a:xfrm>
            <a:off x="8259307" y="1335024"/>
            <a:ext cx="3392891"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5611" y="1335024"/>
            <a:ext cx="310028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структурированные данные</a:t>
            </a:r>
          </a:p>
        </p:txBody>
      </p:sp>
      <p:sp>
        <p:nvSpPr>
          <p:cNvPr id="13" name="Rectangle 12"/>
          <p:cNvSpPr/>
          <p:nvPr/>
        </p:nvSpPr>
        <p:spPr>
          <a:xfrm>
            <a:off x="539496" y="1718403"/>
            <a:ext cx="1915269"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162266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классификация</a:t>
            </a:r>
          </a:p>
        </p:txBody>
      </p:sp>
      <p:sp>
        <p:nvSpPr>
          <p:cNvPr id="15" name="Rectangle 14"/>
          <p:cNvSpPr/>
          <p:nvPr/>
        </p:nvSpPr>
        <p:spPr>
          <a:xfrm>
            <a:off x="2454765" y="1718403"/>
            <a:ext cx="2855047"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01069" y="1718403"/>
            <a:ext cx="256243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17" name="Rectangle 16"/>
          <p:cNvSpPr/>
          <p:nvPr/>
        </p:nvSpPr>
        <p:spPr>
          <a:xfrm>
            <a:off x="5309813" y="1718403"/>
            <a:ext cx="2949494"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56117" y="1718403"/>
            <a:ext cx="265688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скрининг · диагностика · диагноз</a:t>
            </a:r>
          </a:p>
        </p:txBody>
      </p:sp>
      <p:sp>
        <p:nvSpPr>
          <p:cNvPr id="19" name="Rectangle 18"/>
          <p:cNvSpPr/>
          <p:nvPr/>
        </p:nvSpPr>
        <p:spPr>
          <a:xfrm>
            <a:off x="8259307" y="1718403"/>
            <a:ext cx="3392891"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5611" y="1718403"/>
            <a:ext cx="310028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1" name="Rectangle 20"/>
          <p:cNvSpPr/>
          <p:nvPr/>
        </p:nvSpPr>
        <p:spPr>
          <a:xfrm>
            <a:off x="539496" y="2101783"/>
            <a:ext cx="1915269"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162266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распознавание</a:t>
            </a:r>
          </a:p>
        </p:txBody>
      </p:sp>
      <p:sp>
        <p:nvSpPr>
          <p:cNvPr id="23" name="Rectangle 22"/>
          <p:cNvSpPr/>
          <p:nvPr/>
        </p:nvSpPr>
        <p:spPr>
          <a:xfrm>
            <a:off x="2454765" y="2101783"/>
            <a:ext cx="2855047"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01069" y="2101783"/>
            <a:ext cx="256243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5" name="Rectangle 24"/>
          <p:cNvSpPr/>
          <p:nvPr/>
        </p:nvSpPr>
        <p:spPr>
          <a:xfrm>
            <a:off x="5309813" y="2101783"/>
            <a:ext cx="2949494"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56117" y="2101783"/>
            <a:ext cx="265688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скрининг · диагноз · надзор</a:t>
            </a:r>
          </a:p>
        </p:txBody>
      </p:sp>
      <p:sp>
        <p:nvSpPr>
          <p:cNvPr id="27" name="Rectangle 26"/>
          <p:cNvSpPr/>
          <p:nvPr/>
        </p:nvSpPr>
        <p:spPr>
          <a:xfrm>
            <a:off x="8259307" y="2101783"/>
            <a:ext cx="3392891"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5611" y="2101783"/>
            <a:ext cx="310028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9" name="Rectangle 28"/>
          <p:cNvSpPr/>
          <p:nvPr/>
        </p:nvSpPr>
        <p:spPr>
          <a:xfrm>
            <a:off x="539496" y="2485163"/>
            <a:ext cx="1915269"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162266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 генерацией</a:t>
            </a:r>
          </a:p>
        </p:txBody>
      </p:sp>
      <p:sp>
        <p:nvSpPr>
          <p:cNvPr id="31" name="Rectangle 30"/>
          <p:cNvSpPr/>
          <p:nvPr/>
        </p:nvSpPr>
        <p:spPr>
          <a:xfrm>
            <a:off x="2454765" y="2485163"/>
            <a:ext cx="2855047"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01069" y="2485163"/>
            <a:ext cx="256243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скрининг · диагноз · документы</a:t>
            </a:r>
          </a:p>
        </p:txBody>
      </p:sp>
      <p:sp>
        <p:nvSpPr>
          <p:cNvPr id="33" name="Rectangle 32"/>
          <p:cNvSpPr/>
          <p:nvPr/>
        </p:nvSpPr>
        <p:spPr>
          <a:xfrm>
            <a:off x="5309813" y="2485163"/>
            <a:ext cx="2949494"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56117" y="2485163"/>
            <a:ext cx="265688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5" name="Rectangle 34"/>
          <p:cNvSpPr/>
          <p:nvPr/>
        </p:nvSpPr>
        <p:spPr>
          <a:xfrm>
            <a:off x="8259307" y="2485163"/>
            <a:ext cx="3392891"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5611" y="2485163"/>
            <a:ext cx="310028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7" name="Rectangle 36"/>
          <p:cNvSpPr/>
          <p:nvPr/>
        </p:nvSpPr>
        <p:spPr>
          <a:xfrm>
            <a:off x="539496" y="2868543"/>
            <a:ext cx="1915269"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162266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прогноз</a:t>
            </a:r>
          </a:p>
        </p:txBody>
      </p:sp>
      <p:sp>
        <p:nvSpPr>
          <p:cNvPr id="39" name="Rectangle 38"/>
          <p:cNvSpPr/>
          <p:nvPr/>
        </p:nvSpPr>
        <p:spPr>
          <a:xfrm>
            <a:off x="2454765" y="2868543"/>
            <a:ext cx="2855047"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01069" y="2868543"/>
            <a:ext cx="256243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1" name="Rectangle 40"/>
          <p:cNvSpPr/>
          <p:nvPr/>
        </p:nvSpPr>
        <p:spPr>
          <a:xfrm>
            <a:off x="5309813" y="2868543"/>
            <a:ext cx="2949494"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56117" y="2868543"/>
            <a:ext cx="265688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3" name="Rectangle 42"/>
          <p:cNvSpPr/>
          <p:nvPr/>
        </p:nvSpPr>
        <p:spPr>
          <a:xfrm>
            <a:off x="8259307" y="2868543"/>
            <a:ext cx="3392891"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5611" y="2868543"/>
            <a:ext cx="310028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диагностика · наблюдение · лекарство</a:t>
            </a:r>
          </a:p>
        </p:txBody>
      </p:sp>
      <p:sp>
        <p:nvSpPr>
          <p:cNvPr id="45" name="TextBox 44"/>
          <p:cNvSpPr txBox="1"/>
          <p:nvPr/>
        </p:nvSpPr>
        <p:spPr>
          <a:xfrm>
            <a:off x="539496" y="339822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25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051264"/>
            <a:ext cx="11112703" cy="760099"/>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Клетки те же, что в инженерии. Процедуры — разные, и ни одна не совпадает с другой:</a:t>
            </a:r>
            <a:r>
              <a:rPr sz="125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495766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Чем позже в процедуре проверка, тем дольше живёт ошибка:</a:t>
            </a:r>
            <a:r>
              <a:rPr sz="1250" b="0" i="0">
                <a:solidFill>
                  <a:srgbClr val="21295C"/>
                </a:solidFill>
                <a:latin typeface="Arial"/>
              </a:rPr>
              <a:t> изображение — внутри смены, структура — во второй фазе испытаний, через годы.</a:t>
            </a:r>
          </a:p>
        </p:txBody>
      </p:sp>
      <p:sp>
        <p:nvSpPr>
          <p:cNvPr id="48" name="TextBox 47"/>
          <p:cNvSpPr txBox="1"/>
          <p:nvPr/>
        </p:nvSpPr>
        <p:spPr>
          <a:xfrm>
            <a:off x="539496" y="5610704"/>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Пятая строка, которой в сетке нет: результат исполнителя без инструмента не держится ничем</a:t>
            </a:r>
            <a:r>
              <a:rPr sz="1250" b="0" i="0">
                <a:solidFill>
                  <a:srgbClr val="21295C"/>
                </a:solidFill>
                <a:latin typeface="Arial"/>
              </a:rPr>
              <a:t> — такой процедуры нет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87243"/>
          </a:xfrm>
          <a:prstGeom prst="rect">
            <a:avLst/>
          </a:prstGeom>
          <a:noFill/>
        </p:spPr>
        <p:txBody>
          <a:bodyPr wrap="square" lIns="0" rIns="0" tIns="0" bIns="0" anchor="t">
            <a:spAutoFit/>
          </a:bodyPr>
          <a:lstStyle/>
          <a:p>
            <a:pPr algn="l">
              <a:lnSpc>
                <a:spcPct val="124000"/>
              </a:lnSpc>
            </a:pPr>
            <a:r>
              <a:rPr sz="1250" b="0" i="0">
                <a:solidFill>
                  <a:srgbClr val="21295C"/>
                </a:solidFill>
                <a:latin typeface="Arial"/>
              </a:rPr>
              <a:t>Четыре адреса платежа из начала возвращаются измерениями: внимание и навык — в поведении, арбитраж — в процессе, подпись — своей строкой.</a:t>
            </a:r>
          </a:p>
        </p:txBody>
      </p:sp>
      <p:sp>
        <p:nvSpPr>
          <p:cNvPr id="6" name="Rectangle 5"/>
          <p:cNvSpPr/>
          <p:nvPr/>
        </p:nvSpPr>
        <p:spPr>
          <a:xfrm>
            <a:off x="539496" y="1968571"/>
            <a:ext cx="1294566" cy="383379"/>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968571"/>
            <a:ext cx="100195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строка</a:t>
            </a:r>
          </a:p>
        </p:txBody>
      </p:sp>
      <p:sp>
        <p:nvSpPr>
          <p:cNvPr id="8" name="Rectangle 7"/>
          <p:cNvSpPr/>
          <p:nvPr/>
        </p:nvSpPr>
        <p:spPr>
          <a:xfrm>
            <a:off x="1834062" y="1968571"/>
            <a:ext cx="6184296" cy="383379"/>
          </a:xfrm>
          <a:prstGeom prst="rect">
            <a:avLst/>
          </a:prstGeom>
          <a:solidFill>
            <a:srgbClr val="065A82"/>
          </a:solidFill>
          <a:ln>
            <a:noFill/>
          </a:ln>
          <a:effectLst/>
        </p:spPr>
        <p:txBody>
          <a:bodyPr rtlCol="0" anchor="ctr"/>
          <a:lstStyle/>
          <a:p>
            <a:pPr algn="ctr"/>
          </a:p>
        </p:txBody>
      </p:sp>
      <p:sp>
        <p:nvSpPr>
          <p:cNvPr id="9" name="TextBox 8"/>
          <p:cNvSpPr txBox="1"/>
          <p:nvPr/>
        </p:nvSpPr>
        <p:spPr>
          <a:xfrm>
            <a:off x="1980366" y="1968571"/>
            <a:ext cx="589168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что измерено</a:t>
            </a:r>
          </a:p>
        </p:txBody>
      </p:sp>
      <p:sp>
        <p:nvSpPr>
          <p:cNvPr id="10" name="Rectangle 9"/>
          <p:cNvSpPr/>
          <p:nvPr/>
        </p:nvSpPr>
        <p:spPr>
          <a:xfrm>
            <a:off x="8018358" y="1968571"/>
            <a:ext cx="3633840" cy="383379"/>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164662" y="1968571"/>
            <a:ext cx="3341232"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измерено</a:t>
            </a:r>
          </a:p>
        </p:txBody>
      </p:sp>
      <p:sp>
        <p:nvSpPr>
          <p:cNvPr id="12" name="Rectangle 11"/>
          <p:cNvSpPr/>
          <p:nvPr/>
        </p:nvSpPr>
        <p:spPr>
          <a:xfrm>
            <a:off x="539496" y="2351950"/>
            <a:ext cx="1294566" cy="602167"/>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351950"/>
            <a:ext cx="100195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Поведение</a:t>
            </a:r>
          </a:p>
        </p:txBody>
      </p:sp>
      <p:sp>
        <p:nvSpPr>
          <p:cNvPr id="14" name="Rectangle 13"/>
          <p:cNvSpPr/>
          <p:nvPr/>
        </p:nvSpPr>
        <p:spPr>
          <a:xfrm>
            <a:off x="1834062" y="2351950"/>
            <a:ext cx="6184296" cy="602167"/>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80366" y="2351950"/>
            <a:ext cx="58916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сужается при неверной подсказке · решение меняется под влиянием совета · техника падает без помощника · тревоги отклоняют массово</a:t>
            </a:r>
          </a:p>
        </p:txBody>
      </p:sp>
      <p:sp>
        <p:nvSpPr>
          <p:cNvPr id="16" name="Rectangle 15"/>
          <p:cNvSpPr/>
          <p:nvPr/>
        </p:nvSpPr>
        <p:spPr>
          <a:xfrm>
            <a:off x="8018358" y="2351950"/>
            <a:ext cx="3633840" cy="602167"/>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164662" y="2351950"/>
            <a:ext cx="3341232"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замер взгляда · обзор · наблюдение без повторения · обзор отклонений</a:t>
            </a:r>
          </a:p>
        </p:txBody>
      </p:sp>
      <p:sp>
        <p:nvSpPr>
          <p:cNvPr id="18" name="Rectangle 17"/>
          <p:cNvSpPr/>
          <p:nvPr/>
        </p:nvSpPr>
        <p:spPr>
          <a:xfrm>
            <a:off x="539496" y="2954118"/>
            <a:ext cx="1294566" cy="602167"/>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954118"/>
            <a:ext cx="100195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Психология</a:t>
            </a:r>
          </a:p>
        </p:txBody>
      </p:sp>
      <p:sp>
        <p:nvSpPr>
          <p:cNvPr id="20" name="Rectangle 19"/>
          <p:cNvSpPr/>
          <p:nvPr/>
        </p:nvSpPr>
        <p:spPr>
          <a:xfrm>
            <a:off x="1834062" y="2954118"/>
            <a:ext cx="6184296" cy="602167"/>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80366" y="2954118"/>
            <a:ext cx="58916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объяснение повышает согласие, качество решения — нет · запись пишется быстрее, вычитка остаётся</a:t>
            </a:r>
          </a:p>
        </p:txBody>
      </p:sp>
      <p:sp>
        <p:nvSpPr>
          <p:cNvPr id="22" name="Rectangle 21"/>
          <p:cNvSpPr/>
          <p:nvPr/>
        </p:nvSpPr>
        <p:spPr>
          <a:xfrm>
            <a:off x="8018358" y="2954118"/>
            <a:ext cx="3633840" cy="602167"/>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164662" y="2954118"/>
            <a:ext cx="3341232"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полевой опыт · замер рабочего времени</a:t>
            </a:r>
          </a:p>
        </p:txBody>
      </p:sp>
      <p:sp>
        <p:nvSpPr>
          <p:cNvPr id="24" name="Rectangle 23"/>
          <p:cNvSpPr/>
          <p:nvPr/>
        </p:nvSpPr>
        <p:spPr>
          <a:xfrm>
            <a:off x="539496" y="3556286"/>
            <a:ext cx="1294566"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556286"/>
            <a:ext cx="1001958"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Процесс</a:t>
            </a:r>
          </a:p>
        </p:txBody>
      </p:sp>
      <p:sp>
        <p:nvSpPr>
          <p:cNvPr id="26" name="Rectangle 25"/>
          <p:cNvSpPr/>
          <p:nvPr/>
        </p:nvSpPr>
        <p:spPr>
          <a:xfrm>
            <a:off x="1834062" y="3556286"/>
            <a:ext cx="6184296"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80366" y="3556286"/>
            <a:ext cx="58916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роль второго проверяющего переходит от человека к модели</a:t>
            </a:r>
          </a:p>
        </p:txBody>
      </p:sp>
      <p:sp>
        <p:nvSpPr>
          <p:cNvPr id="28" name="Rectangle 27"/>
          <p:cNvSpPr/>
          <p:nvPr/>
        </p:nvSpPr>
        <p:spPr>
          <a:xfrm>
            <a:off x="8018358" y="3556286"/>
            <a:ext cx="3633840"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164662" y="3556286"/>
            <a:ext cx="334123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испытание программы скрининга</a:t>
            </a:r>
          </a:p>
        </p:txBody>
      </p:sp>
      <p:sp>
        <p:nvSpPr>
          <p:cNvPr id="30" name="Rectangle 29"/>
          <p:cNvSpPr/>
          <p:nvPr/>
        </p:nvSpPr>
        <p:spPr>
          <a:xfrm>
            <a:off x="539496" y="3939666"/>
            <a:ext cx="1294566" cy="1039743"/>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939666"/>
            <a:ext cx="1001958" cy="1039743"/>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Подпись</a:t>
            </a:r>
          </a:p>
        </p:txBody>
      </p:sp>
      <p:sp>
        <p:nvSpPr>
          <p:cNvPr id="32" name="Rectangle 31"/>
          <p:cNvSpPr/>
          <p:nvPr/>
        </p:nvSpPr>
        <p:spPr>
          <a:xfrm>
            <a:off x="1834062" y="3939666"/>
            <a:ext cx="6184296" cy="1039743"/>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80366" y="3939666"/>
            <a:ext cx="5891688" cy="1039743"/>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требует человека финальным звеном — проверено у </a:t>
            </a:r>
            <a:r>
              <a:rPr sz="1200" b="1" i="0">
                <a:solidFill>
                  <a:srgbClr val="21295C"/>
                </a:solidFill>
                <a:latin typeface="Arial"/>
              </a:rPr>
              <a:t>56 из 717</a:t>
            </a:r>
            <a:r>
              <a:rPr sz="1200" b="0" i="0">
                <a:solidFill>
                  <a:srgbClr val="21295C"/>
                </a:solidFill>
                <a:latin typeface="Arial"/>
              </a:rPr>
              <a:t> · надзор говорит о способности вмешаться, о подписи не сказано · </a:t>
            </a:r>
            <a:r>
              <a:rPr sz="1200" b="1" i="0">
                <a:solidFill>
                  <a:srgbClr val="21295C"/>
                </a:solidFill>
                <a:latin typeface="Arial"/>
              </a:rPr>
              <a:t>несогласие с подсказкой при разборе случая оценивают ниже согласия</a:t>
            </a:r>
          </a:p>
        </p:txBody>
      </p:sp>
      <p:sp>
        <p:nvSpPr>
          <p:cNvPr id="34" name="Rectangle 33"/>
          <p:cNvSpPr/>
          <p:nvPr/>
        </p:nvSpPr>
        <p:spPr>
          <a:xfrm>
            <a:off x="8018358" y="3939666"/>
            <a:ext cx="3633840" cy="1039743"/>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164662" y="3939666"/>
            <a:ext cx="3341232" cy="1039743"/>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обзор поданной регуляторам документации · нормативный текст · рандомизированное испытание, 248 немецких врачей</a:t>
            </a:r>
          </a:p>
        </p:txBody>
      </p:sp>
      <p:sp>
        <p:nvSpPr>
          <p:cNvPr id="36" name="Rectangle 35"/>
          <p:cNvSpPr/>
          <p:nvPr/>
        </p:nvSpPr>
        <p:spPr>
          <a:xfrm>
            <a:off x="539496" y="4979409"/>
            <a:ext cx="1294566" cy="602167"/>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979409"/>
            <a:ext cx="100195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Контроль</a:t>
            </a:r>
          </a:p>
        </p:txBody>
      </p:sp>
      <p:sp>
        <p:nvSpPr>
          <p:cNvPr id="38" name="Rectangle 37"/>
          <p:cNvSpPr/>
          <p:nvPr/>
        </p:nvSpPr>
        <p:spPr>
          <a:xfrm>
            <a:off x="1834062" y="4979409"/>
            <a:ext cx="6184296" cy="602167"/>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1980366" y="4979409"/>
            <a:ext cx="58916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разная структура ошибок человека и модели даёт выигрыш пары</a:t>
            </a:r>
          </a:p>
        </p:txBody>
      </p:sp>
      <p:sp>
        <p:nvSpPr>
          <p:cNvPr id="40" name="Rectangle 39"/>
          <p:cNvSpPr/>
          <p:nvPr/>
        </p:nvSpPr>
        <p:spPr>
          <a:xfrm>
            <a:off x="8018358" y="4979409"/>
            <a:ext cx="3633840" cy="602167"/>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164662" y="4979409"/>
            <a:ext cx="3341232"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крупное агрегационное исследование, повторения нет</a:t>
            </a:r>
          </a:p>
        </p:txBody>
      </p:sp>
      <p:sp>
        <p:nvSpPr>
          <p:cNvPr id="42" name="TextBox 41"/>
          <p:cNvSpPr txBox="1"/>
          <p:nvPr/>
        </p:nvSpPr>
        <p:spPr>
          <a:xfrm>
            <a:off x="539496" y="572788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И то, чего нет ни в одной строке: исхода пациента нет ни у одного разбора ядра.</a:t>
            </a:r>
            <a:r>
              <a:rPr sz="1250" b="0" i="0">
                <a:solidFill>
                  <a:srgbClr val="21295C"/>
                </a:solidFill>
                <a:latin typeface="Arial"/>
              </a:rPr>
              <a:t> Никто не проверил, что случилось с больным из-за того, что врач стал хуже смотреть.</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ПЕРВОЙ СТУПЕНИ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рандомизированное исследование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программа скрининга, 80 033 женщины</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ЧЕТВЁРТОЙ, САМОЙ ЧАСТОЙ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счёт секунд — около двух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 — программисты с ассистентом кода</a:t>
            </a:r>
          </a:p>
        </p:txBody>
      </p:sp>
      <p:sp>
        <p:nvSpPr>
          <p:cNvPr id="12" name="Rounded Rectangle 11"/>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первым</a:t>
            </a:r>
            <a:r>
              <a:rPr sz="1400" b="0" i="0">
                <a:solidFill>
                  <a:srgbClr val="21295C"/>
                </a:solidFill>
                <a:latin typeface="Arial"/>
              </a:rPr>
              <a:t> — читает сам, модель даёт второе мнение; при расхождении идёт арбитраж. </a:t>
            </a:r>
            <a:r>
              <a:rPr sz="1400" b="0" i="1">
                <a:solidFill>
                  <a:srgbClr val="21295C"/>
                </a:solidFill>
                <a:latin typeface="Arial"/>
              </a:rPr>
              <a:t>Рандомизированное исследование программы скрининга.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вторым</a:t>
            </a:r>
            <a:r>
              <a:rPr sz="1400" b="0" i="0">
                <a:solidFill>
                  <a:srgbClr val="21295C"/>
                </a:solidFill>
                <a:latin typeface="Arial"/>
              </a:rPr>
              <a:t> — читает после модели: внимание сужается, верное решение иногда меняется на неверное. </a:t>
            </a:r>
            <a:r>
              <a:rPr sz="1400" b="0" i="1">
                <a:solidFill>
                  <a:srgbClr val="21295C"/>
                </a:solidFill>
                <a:latin typeface="Arial"/>
              </a:rPr>
              <a:t>Чтение с замером взгляда и систематический обзор.</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только спорное</a:t>
            </a:r>
            <a:r>
              <a:rPr sz="1400" b="0" i="0">
                <a:solidFill>
                  <a:srgbClr val="21295C"/>
                </a:solidFill>
                <a:latin typeface="Arial"/>
              </a:rPr>
              <a:t> — разбирает то, что модель отметила; остальное проходит мимо. </a:t>
            </a:r>
            <a:r>
              <a:rPr sz="1400" b="0" i="1">
                <a:solidFill>
                  <a:srgbClr val="21295C"/>
                </a:solidFill>
                <a:latin typeface="Arial"/>
              </a:rPr>
              <a:t>Обзор отклонений тревог и модель раннего предупреждения.</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Подписывает не глядя</a:t>
            </a:r>
            <a:r>
              <a:rPr sz="1400" b="0" i="0">
                <a:solidFill>
                  <a:srgbClr val="21295C"/>
                </a:solidFill>
                <a:latin typeface="Arial"/>
              </a:rPr>
              <a:t> — подпись есть, чтения нет, и </a:t>
            </a:r>
            <a:r>
              <a:rPr sz="1400" b="1" i="0">
                <a:solidFill>
                  <a:srgbClr val="21295C"/>
                </a:solidFill>
                <a:latin typeface="Arial"/>
              </a:rPr>
              <a:t>ход этот дешёвый: согласие с подсказкой при разборе случая оценивают выше отказа.</a:t>
            </a:r>
            <a:r>
              <a:rPr sz="1400" b="0" i="0">
                <a:solidFill>
                  <a:srgbClr val="21295C"/>
                </a:solidFill>
                <a:latin typeface="Arial"/>
              </a:rPr>
              <a:t> </a:t>
            </a:r>
            <a:r>
              <a:rPr sz="1400" b="0" i="1">
                <a:solidFill>
                  <a:srgbClr val="21295C"/>
                </a:solidFill>
                <a:latin typeface="Arial"/>
              </a:rPr>
              <a:t>Счёт секунд в лабораторном опыте, доля изделий с проверенной способностью вмешаться и испытание на 248 немецких врачах.</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«Человек в контуре» — формулировка вопроса. Разряд свидетельства падает по мере того, как участие формальнее: про самую частую ступень известно меньше всего.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Четвёртая ступень — не чья-то вина: она следствие устройства процедуры и переделывается процедурой.</a:t>
            </a:r>
          </a:p>
        </p:txBody>
      </p:sp>
      <p:sp>
        <p:nvSpPr>
          <p:cNvPr id="15" name="Rectangle 14"/>
          <p:cNvSpPr/>
          <p:nvPr/>
        </p:nvSpPr>
        <p:spPr>
          <a:xfrm>
            <a:off x="6091275" y="2894901"/>
            <a:ext cx="9144" cy="33165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Цена несогласия при разборе случая: Tacconelli и соавторы, Journal of Nuclear Medicine 2026;67(9):1474–1480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 и чем лекция это отработала · 2. Изделие отзовут, решения этого года останутся · 3. Три проверки, которые работают в любой отрасли, и вопрос залу</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проведённую процедуру не переделать</a:t>
            </a:r>
          </a:p>
        </p:txBody>
      </p:sp>
      <p:sp>
        <p:nvSpPr>
          <p:cNvPr id="15" name="TextBox 14"/>
          <p:cNvSpPr txBox="1"/>
          <p:nvPr/>
        </p:nvSpPr>
        <p:spPr>
          <a:xfrm>
            <a:off x="8207044"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принятые до отзыва решения вместе с изделием не отзываются</a:t>
            </a:r>
          </a:p>
        </p:txBody>
      </p:sp>
      <p:sp>
        <p:nvSpPr>
          <p:cNvPr id="16" name="Rounded Rectangle 15"/>
          <p:cNvSpPr/>
          <p:nvPr/>
        </p:nvSpPr>
        <p:spPr>
          <a:xfrm>
            <a:off x="374904" y="3584307"/>
            <a:ext cx="11441887" cy="2475369"/>
          </a:xfrm>
          <a:prstGeom prst="roundRect">
            <a:avLst>
              <a:gd name="adj" fmla="val 123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11112703" cy="238392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Право подписи.</a:t>
            </a:r>
            <a:r>
              <a:rPr sz="1250" b="0" i="0">
                <a:solidFill>
                  <a:srgbClr val="21295C"/>
                </a:solidFill>
                <a:latin typeface="Arial"/>
              </a:rPr>
              <a:t> При разборе случая комиссия оценивает действия человека; вопроса о модели в этой процедуре нет. А способен ли человек этим правом воспользоваться,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Ошибается иначе.</a:t>
            </a:r>
            <a:r>
              <a:rPr sz="1250" b="0" i="0">
                <a:solidFill>
                  <a:srgbClr val="21295C"/>
                </a:solidFill>
                <a:latin typeface="Arial"/>
              </a:rPr>
              <a:t> Направление подтверждено: на 106 опытах знак выигрыша пары зависит от того, какая сторона сильнее на задаче. Величины у опоры нет, и сказано это той же строкой, которой лекция требовала базу у чужих чисел.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 процедуры, проведённые упавшей рукой, уже проведены.</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a:t>
            </a:r>
            <a:r>
              <a:rPr sz="1250" b="0" i="0">
                <a:solidFill>
                  <a:srgbClr val="21295C"/>
                </a:solidFill>
                <a:latin typeface="Arial"/>
              </a:rPr>
              <a:t>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50779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6845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95456"/>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37983"/>
            <a:ext cx="1770735" cy="188651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93431"/>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96060"/>
            <a:ext cx="1441551" cy="9729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37983"/>
            <a:ext cx="1770735" cy="188651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93431"/>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96060"/>
            <a:ext cx="1441551" cy="9729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Решение до отзыва</a:t>
            </a:r>
          </a:p>
          <a:p>
            <a:pPr algn="l">
              <a:lnSpc>
                <a:spcPct val="126000"/>
              </a:lnSpc>
            </a:pPr>
            <a:r>
              <a:rPr sz="12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которые работают в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у человека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как часто возражает и как часто правильно. Не измерена ни одна — «человек проверяет» ничем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который надо прочитать. Измеренная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и принятое без предварительной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