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вечера.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случайно распределены </a:t>
            </a:r>
            <a:r>
              <a:rPr sz="1500" b="1" i="0">
                <a:solidFill>
                  <a:srgbClr val="21295C"/>
                </a:solidFill>
                <a:latin typeface="Arial"/>
              </a:rPr>
              <a:t>два</a:t>
            </a:r>
            <a:r>
              <a:rPr sz="1500" b="0" i="0">
                <a:solidFill>
                  <a:srgbClr val="21295C"/>
                </a:solidFill>
                <a:latin typeface="Arial"/>
              </a:rPr>
              <a:t> состояния на одних и тех же случаях, прогон модели без человека — отдельный.</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число — человек без модели, второе случайное состояние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Распознавание на изображении</a:t>
            </a:r>
            <a:r>
              <a:rPr sz="138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380" b="0" i="0">
                <a:solidFill>
                  <a:srgbClr val="21295C"/>
                </a:solidFill>
                <a:latin typeface="Arial"/>
              </a:rPr>
              <a:t/>
            </a:r>
            <a:r>
              <a:rPr sz="1380" b="1" i="0">
                <a:solidFill>
                  <a:srgbClr val="21295C"/>
                </a:solidFill>
                <a:latin typeface="Arial"/>
              </a:rPr>
              <a:t>Классификация на изображении</a:t>
            </a:r>
            <a:r>
              <a:rPr sz="138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380" b="0" i="0">
                <a:solidFill>
                  <a:srgbClr val="21295C"/>
                </a:solidFill>
                <a:latin typeface="Arial"/>
              </a:rPr>
              <a:t/>
            </a:r>
            <a:r>
              <a:rPr sz="1380" b="1" i="0">
                <a:solidFill>
                  <a:srgbClr val="21295C"/>
                </a:solidFill>
                <a:latin typeface="Arial"/>
              </a:rPr>
              <a:t>Прогноз на структурированных данных</a:t>
            </a:r>
            <a:r>
              <a:rPr sz="138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380" b="0" i="0">
                <a:solidFill>
                  <a:srgbClr val="21295C"/>
                </a:solidFill>
                <a:latin typeface="Arial"/>
              </a:rPr>
              <a:t/>
            </a:r>
            <a:r>
              <a:rPr sz="1380" b="1" i="0">
                <a:solidFill>
                  <a:srgbClr val="21295C"/>
                </a:solidFill>
                <a:latin typeface="Arial"/>
              </a:rPr>
              <a:t>Поиск с генерацией на тексте</a:t>
            </a:r>
            <a:r>
              <a:rPr sz="138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380" b="0" i="0">
                <a:solidFill>
                  <a:srgbClr val="21295C"/>
                </a:solidFill>
                <a:latin typeface="Arial"/>
              </a:rPr>
              <a:t/>
            </a:r>
            <a:r>
              <a:rPr sz="138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380" b="0" i="0">
                <a:solidFill>
                  <a:srgbClr val="21295C"/>
                </a:solidFill>
                <a:latin typeface="Arial"/>
              </a:rPr>
              <a:t/>
            </a:r>
            <a:r>
              <a:rPr sz="138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Сортировка потока по предсказанному риску снимает </a:t>
            </a:r>
            <a:r>
              <a:rPr sz="1110" b="1" i="0">
                <a:solidFill>
                  <a:srgbClr val="21295C"/>
                </a:solidFill>
                <a:latin typeface="Arial"/>
              </a:rPr>
              <a:t>44,3 процента</a:t>
            </a:r>
            <a:r>
              <a:rPr sz="1110" b="0" i="0">
                <a:solidFill>
                  <a:srgbClr val="21295C"/>
                </a:solidFill>
                <a:latin typeface="Arial"/>
              </a:rPr>
              <a:t> человеческого чтения при чувствительности </a:t>
            </a:r>
            <a:r>
              <a:rPr sz="1110" b="1" i="0">
                <a:solidFill>
                  <a:srgbClr val="21295C"/>
                </a:solidFill>
                <a:latin typeface="Arial"/>
              </a:rPr>
              <a:t>80,5 из ста</a:t>
            </a:r>
            <a:r>
              <a:rPr sz="1110" b="0" i="0">
                <a:solidFill>
                  <a:srgbClr val="21295C"/>
                </a:solidFill>
                <a:latin typeface="Arial"/>
              </a:rPr>
              <a:t> против </a:t>
            </a:r>
            <a:r>
              <a:rPr sz="1110" b="1" i="0">
                <a:solidFill>
                  <a:srgbClr val="21295C"/>
                </a:solidFill>
                <a:latin typeface="Arial"/>
              </a:rPr>
              <a:t>73,8 из ста</a:t>
            </a:r>
            <a:r>
              <a:rPr sz="1110" b="0" i="0">
                <a:solidFill>
                  <a:srgbClr val="21295C"/>
                </a:solidFill>
                <a:latin typeface="Arial"/>
              </a:rPr>
              <a:t> у двойного чтения без модели. </a:t>
            </a:r>
            <a:r>
              <a:rPr sz="1110" b="1" i="0">
                <a:solidFill>
                  <a:srgbClr val="21295C"/>
                </a:solidFill>
                <a:latin typeface="Arial"/>
              </a:rPr>
              <a:t>Базы разные: объём чтения — промежуточный анализ на 80 033 женщинах, чувствительность — итоговый на 105 934.</a:t>
            </a:r>
            <a:r>
              <a:rPr sz="111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110" b="0" i="0">
                <a:solidFill>
                  <a:srgbClr val="21295C"/>
                </a:solidFill>
                <a:latin typeface="Arial"/>
              </a:rPr>
              <a:t/>
            </a:r>
            <a:r>
              <a:rPr sz="1110" b="1" i="0">
                <a:solidFill>
                  <a:srgbClr val="21295C"/>
                </a:solidFill>
                <a:latin typeface="Arial"/>
              </a:rPr>
              <a:t>Охват публикуют, устройство работы — нет.</a:t>
            </a:r>
          </a:p>
          <a:p>
            <a:pPr algn="l">
              <a:lnSpc>
                <a:spcPct val="126000"/>
              </a:lnSpc>
              <a:spcBef>
                <a:spcPts val="700"/>
              </a:spcBef>
            </a:pPr>
            <a:r>
              <a:rPr sz="1110" b="0" i="0">
                <a:solidFill>
                  <a:srgbClr val="21295C"/>
                </a:solidFill>
                <a:latin typeface="Arial"/>
              </a:rPr>
              <a:t/>
            </a:r>
            <a:r>
              <a:rPr sz="111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Отечественная платформа лучевой диагностики: свыше </a:t>
            </a:r>
            <a:r>
              <a:rPr sz="1110" b="1" i="0">
                <a:solidFill>
                  <a:srgbClr val="21295C"/>
                </a:solidFill>
                <a:latin typeface="Arial"/>
              </a:rPr>
              <a:t>16 млн</a:t>
            </a:r>
            <a:r>
              <a:rPr sz="1110" b="0" i="0">
                <a:solidFill>
                  <a:srgbClr val="21295C"/>
                </a:solidFill>
                <a:latin typeface="Arial"/>
              </a:rPr>
              <a:t> исследований в </a:t>
            </a:r>
            <a:r>
              <a:rPr sz="1110" b="1" i="0">
                <a:solidFill>
                  <a:srgbClr val="21295C"/>
                </a:solidFill>
                <a:latin typeface="Arial"/>
              </a:rPr>
              <a:t>75 регионах</a:t>
            </a:r>
            <a:r>
              <a:rPr sz="111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260" b="0" i="0">
                <a:solidFill>
                  <a:srgbClr val="21295C"/>
                </a:solidFill>
                <a:latin typeface="Arial"/>
              </a:rPr>
              <a:t/>
            </a:r>
            <a:r>
              <a:rPr sz="1260" b="0" i="0">
                <a:solidFill>
                  <a:srgbClr val="21295C"/>
                </a:solidFill>
                <a:latin typeface="Arial"/>
              </a:rPr>
              <a:t>Что предъявили вместо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На экзаменационных вопросах для начинающих врачей, июнь 2018 года: </a:t>
            </a:r>
            <a:r>
              <a:rPr sz="1260" b="1" i="0">
                <a:solidFill>
                  <a:srgbClr val="21295C"/>
                </a:solidFill>
                <a:latin typeface="Arial"/>
              </a:rPr>
              <a:t>81</a:t>
            </a:r>
            <a:r>
              <a:rPr sz="1260" b="0" i="0">
                <a:solidFill>
                  <a:srgbClr val="21295C"/>
                </a:solidFill>
                <a:latin typeface="Arial"/>
              </a:rPr>
              <a:t> у приложения против </a:t>
            </a:r>
            <a:r>
              <a:rPr sz="1260" b="1" i="0">
                <a:solidFill>
                  <a:srgbClr val="21295C"/>
                </a:solidFill>
                <a:latin typeface="Arial"/>
              </a:rPr>
              <a:t>72</a:t>
            </a:r>
            <a:r>
              <a:rPr sz="1260" b="0" i="0">
                <a:solidFill>
                  <a:srgbClr val="21295C"/>
                </a:solidFill>
                <a:latin typeface="Arial"/>
              </a:rPr>
              <a:t> — среднего результата живых врачей на тех же вопросах.</a:t>
            </a:r>
          </a:p>
          <a:p>
            <a:pPr algn="l">
              <a:lnSpc>
                <a:spcPct val="126000"/>
              </a:lnSpc>
              <a:spcBef>
                <a:spcPts val="700"/>
              </a:spcBef>
            </a:pPr>
            <a:r>
              <a:rPr sz="1260" b="0" i="0">
                <a:solidFill>
                  <a:srgbClr val="21295C"/>
                </a:solidFill>
                <a:latin typeface="Arial"/>
              </a:rPr>
              <a:t/>
            </a:r>
            <a:r>
              <a:rPr sz="126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260" b="0" i="0">
                <a:solidFill>
                  <a:srgbClr val="21295C"/>
                </a:solidFill>
                <a:latin typeface="Arial"/>
              </a:rPr>
              <a:t/>
            </a:r>
            <a:r>
              <a:rPr sz="1260" b="1" i="0">
                <a:solidFill>
                  <a:srgbClr val="21295C"/>
                </a:solidFill>
                <a:latin typeface="Arial"/>
              </a:rPr>
              <a:t>Уберите модель — и сервис продолжит работать.</a:t>
            </a:r>
            <a:r>
              <a:rPr sz="126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260" b="0" i="1">
                <a:solidFill>
                  <a:srgbClr val="21295C"/>
                </a:solidFill>
                <a:latin typeface="Arial"/>
              </a:rPr>
              <a:t>(по заявлению бывшего сотрудника, не аудит)</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это делают сегодня: </a:t>
            </a:r>
            <a:r>
              <a:rPr sz="1260" b="0" i="1">
                <a:solidFill>
                  <a:srgbClr val="21295C"/>
                </a:solidFill>
                <a:latin typeface="Arial"/>
              </a:rPr>
              <a:t>поиск с генерацией на тексте</a:t>
            </a:r>
            <a:r>
              <a:rPr sz="126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010" b="0" i="0">
                <a:solidFill>
                  <a:srgbClr val="21295C"/>
                </a:solidFill>
                <a:latin typeface="Arial"/>
              </a:rPr>
              <a:t/>
            </a:r>
            <a:r>
              <a:rPr sz="101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Практика получает </a:t>
            </a:r>
            <a:r>
              <a:rPr sz="1290" b="1" i="0">
                <a:solidFill>
                  <a:srgbClr val="21295C"/>
                </a:solidFill>
                <a:latin typeface="Arial"/>
              </a:rPr>
              <a:t>около 155 фунтов</a:t>
            </a:r>
            <a:r>
              <a:rPr sz="129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Классически обращаются </a:t>
            </a:r>
            <a:r>
              <a:rPr sz="1290" b="1" i="0">
                <a:solidFill>
                  <a:srgbClr val="21295C"/>
                </a:solidFill>
                <a:latin typeface="Arial"/>
              </a:rPr>
              <a:t>4,0 раза</a:t>
            </a:r>
            <a:r>
              <a:rPr sz="1290" b="0" i="0">
                <a:solidFill>
                  <a:srgbClr val="21295C"/>
                </a:solidFill>
                <a:latin typeface="Arial"/>
              </a:rPr>
              <a:t> в год у 25–44-летних и </a:t>
            </a:r>
            <a:r>
              <a:rPr sz="1290" b="1" i="0">
                <a:solidFill>
                  <a:srgbClr val="21295C"/>
                </a:solidFill>
                <a:latin typeface="Arial"/>
              </a:rPr>
              <a:t>3,26 раза</a:t>
            </a:r>
            <a:r>
              <a:rPr sz="129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90" b="0" i="0">
                <a:solidFill>
                  <a:srgbClr val="21295C"/>
                </a:solidFill>
                <a:latin typeface="Arial"/>
              </a:rPr>
              <a:t/>
            </a:r>
            <a:r>
              <a:rPr sz="1290" b="0" i="0">
                <a:solidFill>
                  <a:srgbClr val="21295C"/>
                </a:solidFill>
                <a:latin typeface="Arial"/>
              </a:rPr>
              <a:t>В сервисе обращений стало </a:t>
            </a:r>
            <a:r>
              <a:rPr sz="1290" b="1" i="0">
                <a:solidFill>
                  <a:srgbClr val="21295C"/>
                </a:solidFill>
                <a:latin typeface="Arial"/>
              </a:rPr>
              <a:t>4,3</a:t>
            </a:r>
            <a:r>
              <a:rPr sz="1290" b="0" i="0">
                <a:solidFill>
                  <a:srgbClr val="21295C"/>
                </a:solidFill>
                <a:latin typeface="Arial"/>
              </a:rPr>
              <a:t> на человека в год при той же подушевой сумме.</a:t>
            </a:r>
          </a:p>
          <a:p>
            <a:pPr algn="l">
              <a:lnSpc>
                <a:spcPct val="126000"/>
              </a:lnSpc>
              <a:spcBef>
                <a:spcPts val="700"/>
              </a:spcBef>
            </a:pPr>
            <a:r>
              <a:rPr sz="1290" b="0" i="0">
                <a:solidFill>
                  <a:srgbClr val="21295C"/>
                </a:solidFill>
                <a:latin typeface="Arial"/>
              </a:rPr>
              <a:t/>
            </a:r>
            <a:r>
              <a:rPr sz="1290" b="1" i="0">
                <a:solidFill>
                  <a:srgbClr val="21295C"/>
                </a:solidFill>
                <a:latin typeface="Arial"/>
              </a:rPr>
              <a:t>Нагрузка переехала на другой шаг</a:t>
            </a:r>
            <a:r>
              <a:rPr sz="1290" b="0" i="0">
                <a:solidFill>
                  <a:srgbClr val="21295C"/>
                </a:solidFill>
                <a:latin typeface="Arial"/>
              </a:rPr>
              <a:t> — с сортировки на приём, и платить за это стало некому.</a:t>
            </a:r>
          </a:p>
          <a:p>
            <a:pPr algn="l">
              <a:lnSpc>
                <a:spcPct val="126000"/>
              </a:lnSpc>
              <a:spcBef>
                <a:spcPts val="700"/>
              </a:spcBef>
            </a:pPr>
            <a:r>
              <a:rPr sz="1290" b="0" i="0">
                <a:solidFill>
                  <a:srgbClr val="21295C"/>
                </a:solidFill>
                <a:latin typeface="Arial"/>
              </a:rPr>
              <a:t/>
            </a:r>
            <a:r>
              <a:rPr sz="1290" b="1" i="0">
                <a:solidFill>
                  <a:srgbClr val="21295C"/>
                </a:solidFill>
                <a:latin typeface="Arial"/>
              </a:rPr>
              <a:t>дало</a:t>
            </a:r>
            <a:r>
              <a:rPr sz="1290" b="0" i="0">
                <a:solidFill>
                  <a:srgbClr val="21295C"/>
                </a:solidFill>
                <a:latin typeface="Arial"/>
              </a:rPr>
              <a:t> — сортировка круглосуточно и мгновенно, порог обращения ниже · </a:t>
            </a:r>
            <a:r>
              <a:rPr sz="1290" b="1" i="0">
                <a:solidFill>
                  <a:srgbClr val="21295C"/>
                </a:solidFill>
                <a:latin typeface="Arial"/>
              </a:rPr>
              <a:t>потребовало</a:t>
            </a:r>
            <a:r>
              <a:rPr sz="1290" b="0" i="0">
                <a:solidFill>
                  <a:srgbClr val="21295C"/>
                </a:solidFill>
                <a:latin typeface="Arial"/>
              </a:rPr>
              <a:t> — экономика на каждом пациенте в минус, задокументированный случай нераспознанных симптомов · </a:t>
            </a:r>
            <a:r>
              <a:rPr sz="1290" b="1" i="0">
                <a:solidFill>
                  <a:srgbClr val="21295C"/>
                </a:solidFill>
                <a:latin typeface="Arial"/>
              </a:rPr>
              <a:t>в сумме хуже</a:t>
            </a:r>
            <a:r>
              <a:rPr sz="1290" b="0" i="0">
                <a:solidFill>
                  <a:srgbClr val="21295C"/>
                </a:solidFill>
                <a:latin typeface="Arial"/>
              </a:rPr>
              <a:t> — оценка на выходе </a:t>
            </a:r>
            <a:r>
              <a:rPr sz="1290" b="1" i="0">
                <a:solidFill>
                  <a:srgbClr val="21295C"/>
                </a:solidFill>
                <a:latin typeface="Arial"/>
              </a:rPr>
              <a:t>4,2 млрд долларов</a:t>
            </a:r>
            <a:r>
              <a:rPr sz="1290" b="0" i="0">
                <a:solidFill>
                  <a:srgbClr val="21295C"/>
                </a:solidFill>
                <a:latin typeface="Arial"/>
              </a:rPr>
              <a:t>, банкротство в августе 2023 года, активы проданы за </a:t>
            </a:r>
            <a:r>
              <a:rPr sz="1290" b="1" i="0">
                <a:solidFill>
                  <a:srgbClr val="21295C"/>
                </a:solidFill>
                <a:latin typeface="Arial"/>
              </a:rPr>
              <a:t>500 тысяч фунтов</a:t>
            </a:r>
            <a:r>
              <a:rPr sz="1290" b="0" i="0">
                <a:solidFill>
                  <a:srgbClr val="21295C"/>
                </a:solidFill>
                <a:latin typeface="Arial"/>
              </a:rPr>
              <a:t>.</a:t>
            </a:r>
          </a:p>
          <a:p>
            <a:pPr algn="l">
              <a:lnSpc>
                <a:spcPct val="126000"/>
              </a:lnSpc>
              <a:spcBef>
                <a:spcPts val="700"/>
              </a:spcBef>
            </a:pPr>
            <a:r>
              <a:rPr sz="1290" b="0" i="0">
                <a:solidFill>
                  <a:srgbClr val="21295C"/>
                </a:solidFill>
                <a:latin typeface="Arial"/>
              </a:rPr>
              <a:t/>
            </a:r>
            <a:r>
              <a:rPr sz="129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8305495" y="1335024"/>
            <a:ext cx="3383280" cy="2342102"/>
          </a:xfrm>
          <a:prstGeom prst="roundRect">
            <a:avLst>
              <a:gd name="adj" fmla="val 13013"/>
            </a:avLst>
          </a:prstGeom>
          <a:solidFill>
            <a:srgbClr val="F4F7FA"/>
          </a:solidFill>
          <a:ln w="19050">
            <a:solidFill>
              <a:srgbClr val="1C7293"/>
            </a:solidFill>
          </a:ln>
          <a:effectLst/>
        </p:spPr>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8442655" y="1472184"/>
            <a:ext cx="3108960" cy="2067782"/>
          </a:xfrm>
          <a:prstGeom prst="rect">
            <a:avLst/>
          </a:prstGeom>
        </p:spPr>
      </p:pic>
      <p:sp>
        <p:nvSpPr>
          <p:cNvPr id="6" name="Rounded Rectangle 5"/>
          <p:cNvSpPr/>
          <p:nvPr/>
        </p:nvSpPr>
        <p:spPr>
          <a:xfrm>
            <a:off x="502920" y="1335024"/>
            <a:ext cx="3663543"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3892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508219"/>
            <a:ext cx="338922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331055" y="1335024"/>
            <a:ext cx="3663543"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68215"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468215" y="1690796"/>
            <a:ext cx="338922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468215" y="2117795"/>
            <a:ext cx="338922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23451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15" name="Rounded Rectangle 14"/>
          <p:cNvSpPr/>
          <p:nvPr/>
        </p:nvSpPr>
        <p:spPr>
          <a:xfrm>
            <a:off x="1920240"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807866" y="3450668"/>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036466"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118762"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5924092" y="3450668"/>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6152692"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234988"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023442"/>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 моделью</a:t>
            </a:r>
          </a:p>
        </p:txBody>
      </p:sp>
      <p:sp>
        <p:nvSpPr>
          <p:cNvPr id="24" name="Rounded Rectangle 23"/>
          <p:cNvSpPr/>
          <p:nvPr/>
        </p:nvSpPr>
        <p:spPr>
          <a:xfrm>
            <a:off x="1920240"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2002536"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807866" y="423960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036466"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118762"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5924092" y="423960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152692"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34988"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666069"/>
            <a:ext cx="749167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4942347"/>
            <a:ext cx="11441887" cy="1293860"/>
          </a:xfrm>
          <a:prstGeom prst="roundRect">
            <a:avLst>
              <a:gd name="adj" fmla="val 23557"/>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033787"/>
            <a:ext cx="11112703" cy="1202420"/>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Выигрыш здесь измерен явкой, а не точностью.</a:t>
            </a:r>
          </a:p>
          <a:p>
            <a:pPr algn="l">
              <a:lnSpc>
                <a:spcPct val="126000"/>
              </a:lnSpc>
              <a:spcBef>
                <a:spcPts val="700"/>
              </a:spcBef>
            </a:pPr>
            <a:r>
              <a:rPr sz="1080" b="0" i="0">
                <a:solidFill>
                  <a:srgbClr val="21295C"/>
                </a:solidFill>
                <a:latin typeface="Arial"/>
              </a:rPr>
              <a:t/>
            </a:r>
            <a:r>
              <a:rPr sz="1080" b="1" i="0">
                <a:solidFill>
                  <a:srgbClr val="21295C"/>
                </a:solidFill>
                <a:latin typeface="Arial"/>
              </a:rPr>
              <a:t>Классический режим.</a:t>
            </a:r>
            <a:r>
              <a:rPr sz="1080" b="0" i="0">
                <a:solidFill>
                  <a:srgbClr val="21295C"/>
                </a:solidFill>
                <a:latin typeface="Arial"/>
              </a:rPr>
              <a:t> Раз в год человек с диабетом идёт к специалисту-офтальмологу; до теста реально доходят </a:t>
            </a:r>
            <a:r>
              <a:rPr sz="1080" b="1" i="0">
                <a:solidFill>
                  <a:srgbClr val="21295C"/>
                </a:solidFill>
                <a:latin typeface="Arial"/>
              </a:rPr>
              <a:t>22 из ста</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a:t>
            </a:r>
            <a:r>
              <a:rPr sz="108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080" b="1" i="0">
                <a:solidFill>
                  <a:srgbClr val="21295C"/>
                </a:solidFill>
                <a:latin typeface="Arial"/>
              </a:rPr>
              <a:t>100 из ста</a:t>
            </a:r>
            <a:r>
              <a:rPr sz="108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080" b="1" i="0">
                <a:solidFill>
                  <a:srgbClr val="21295C"/>
                </a:solidFill>
                <a:latin typeface="Arial"/>
              </a:rPr>
              <a:t>64 из ста против 22 в контроле</a:t>
            </a:r>
            <a:r>
              <a:rPr sz="1080" b="0" i="0">
                <a:solidFill>
                  <a:srgbClr val="21295C"/>
                </a:solidFill>
                <a:latin typeface="Arial"/>
              </a:rPr>
              <a:t>.</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9" name="TextBox 8"/>
          <p:cNvSpPr txBox="1"/>
          <p:nvPr/>
        </p:nvSpPr>
        <p:spPr>
          <a:xfrm>
            <a:off x="704088" y="364974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10" name="TextBox 9"/>
          <p:cNvSpPr txBox="1"/>
          <p:nvPr/>
        </p:nvSpPr>
        <p:spPr>
          <a:xfrm>
            <a:off x="704088" y="411642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числа нет — рабочая точка не названа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читаются только парой и только для одной рабочей точки; порознь ни одна не говорит ничего</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числа нет — группа не названа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считали все отобранные работы, группу, на которой они посчитаны, — почти никто</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4" name="Rectangle 13"/>
          <p:cNvSpPr/>
          <p:nvPr/>
        </p:nvSpPr>
        <p:spPr>
          <a:xfrm>
            <a:off x="502920" y="879603"/>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440" b="1" i="0">
                <a:solidFill>
                  <a:srgbClr val="21295C"/>
                </a:solidFill>
                <a:latin typeface="Arial"/>
              </a:rPr>
              <a:t>9–15 пунктов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База: </a:t>
            </a:r>
            <a:r>
              <a:rPr sz="1440" b="1" i="0">
                <a:solidFill>
                  <a:srgbClr val="21295C"/>
                </a:solidFill>
                <a:latin typeface="Arial"/>
              </a:rPr>
              <a:t>656 изображений</a:t>
            </a:r>
            <a:r>
              <a:rPr sz="1440" b="0" i="0">
                <a:solidFill>
                  <a:srgbClr val="21295C"/>
                </a:solidFill>
                <a:latin typeface="Arial"/>
              </a:rPr>
              <a:t>, все с подтверждённой биопсией, из них </a:t>
            </a:r>
            <a:r>
              <a:rPr sz="1440" b="1" i="0">
                <a:solidFill>
                  <a:srgbClr val="21295C"/>
                </a:solidFill>
                <a:latin typeface="Arial"/>
              </a:rPr>
              <a:t>207 с тёмными тонами кожи</a:t>
            </a:r>
            <a:r>
              <a:rPr sz="144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440" b="0" i="0">
                <a:solidFill>
                  <a:srgbClr val="21295C"/>
                </a:solidFill>
                <a:latin typeface="Arial"/>
              </a:rPr>
              <a:t/>
            </a:r>
            <a:r>
              <a:rPr sz="144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440" b="0" i="0">
                <a:solidFill>
                  <a:srgbClr val="21295C"/>
                </a:solidFill>
                <a:latin typeface="Arial"/>
              </a:rPr>
              <a:t/>
            </a:r>
            <a:r>
              <a:rPr sz="1440" b="0" i="0">
                <a:solidFill>
                  <a:srgbClr val="21295C"/>
                </a:solidFill>
                <a:latin typeface="Arial"/>
              </a:rPr>
              <a:t>Разрыв по тону кожи измерен </a:t>
            </a:r>
            <a:r>
              <a:rPr sz="1440" b="1" i="0">
                <a:solidFill>
                  <a:srgbClr val="21295C"/>
                </a:solidFill>
                <a:latin typeface="Arial"/>
              </a:rPr>
              <a:t>у модели</a:t>
            </a:r>
            <a:r>
              <a:rPr sz="1440" b="0" i="0">
                <a:solidFill>
                  <a:srgbClr val="21295C"/>
                </a:solidFill>
                <a:latin typeface="Arial"/>
              </a:rPr>
              <a:t> и у классических методов </a:t>
            </a:r>
            <a:r>
              <a:rPr sz="1440" b="1" i="0">
                <a:solidFill>
                  <a:srgbClr val="21295C"/>
                </a:solidFill>
                <a:latin typeface="Arial"/>
              </a:rPr>
              <a:t>не измерен вовсе</a:t>
            </a:r>
            <a:r>
              <a:rPr sz="144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Цена обеих ошибок.</a:t>
            </a:r>
            <a:r>
              <a:rPr sz="123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 посчитаны на одной выборке:</a:t>
            </a:r>
            <a:r>
              <a:rPr sz="123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230" b="0" i="0">
                <a:solidFill>
                  <a:srgbClr val="21295C"/>
                </a:solidFill>
                <a:latin typeface="Arial"/>
              </a:rPr>
              <a:t/>
            </a:r>
            <a:r>
              <a:rPr sz="1230" b="0" i="0">
                <a:solidFill>
                  <a:srgbClr val="21295C"/>
                </a:solidFill>
                <a:latin typeface="Arial"/>
              </a:rPr>
              <a:t>База: </a:t>
            </a:r>
            <a:r>
              <a:rPr sz="1230" b="1" i="0">
                <a:solidFill>
                  <a:srgbClr val="21295C"/>
                </a:solidFill>
                <a:latin typeface="Arial"/>
              </a:rPr>
              <a:t>49 618 пациентов</a:t>
            </a:r>
            <a:r>
              <a:rPr sz="123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980" b="0" i="0">
                <a:solidFill>
                  <a:srgbClr val="21295C"/>
                </a:solidFill>
                <a:latin typeface="Arial"/>
              </a:rPr>
              <a:t/>
            </a:r>
            <a:r>
              <a:rPr sz="98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прогноз на структурированных данных</a:t>
            </a:r>
            <a:r>
              <a:rPr sz="123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Исправление посчитано и не применено.</a:t>
            </a:r>
            <a:r>
              <a:rPr sz="1200" b="0" i="0">
                <a:solidFill>
                  <a:srgbClr val="21295C"/>
                </a:solidFill>
                <a:latin typeface="Arial"/>
              </a:rPr>
              <a:t> Разрыв убран расчётом, не внедрением.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переехало.</a:t>
            </a:r>
            <a:r>
              <a:rPr sz="120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200" b="0" i="0">
                <a:solidFill>
                  <a:srgbClr val="21295C"/>
                </a:solidFill>
                <a:latin typeface="Arial"/>
              </a:rPr>
              <a:t/>
            </a:r>
            <a:r>
              <a:rPr sz="1200" b="0" i="0">
                <a:solidFill>
                  <a:srgbClr val="21295C"/>
                </a:solidFill>
                <a:latin typeface="Arial"/>
              </a:rPr>
              <a:t>Модели этого класса применяются примерно к </a:t>
            </a:r>
            <a:r>
              <a:rPr sz="1200" b="1" i="0">
                <a:solidFill>
                  <a:srgbClr val="21295C"/>
                </a:solidFill>
                <a:latin typeface="Arial"/>
              </a:rPr>
              <a:t>200 миллионам</a:t>
            </a:r>
            <a:r>
              <a:rPr sz="1200" b="0" i="0">
                <a:solidFill>
                  <a:srgbClr val="21295C"/>
                </a:solidFill>
                <a:latin typeface="Arial"/>
              </a:rPr>
              <a:t> человек в год — </a:t>
            </a:r>
            <a:r>
              <a:rPr sz="120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200" b="0" i="1">
                <a:solidFill>
                  <a:srgbClr val="21295C"/>
                </a:solidFill>
                <a:latin typeface="Arial"/>
              </a:rPr>
              <a:t>препринт</a:t>
            </a:r>
            <a:r>
              <a:rPr sz="1200" b="0" i="0">
                <a:solidFill>
                  <a:srgbClr val="21295C"/>
                </a:solidFill>
                <a:latin typeface="Arial"/>
              </a:rPr>
              <a:t>. 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62985"/>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6648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82368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099967"/>
            <a:ext cx="11441887" cy="2136240"/>
          </a:xfrm>
          <a:prstGeom prst="roundRect">
            <a:avLst>
              <a:gd name="adj" fmla="val 14268"/>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191407"/>
            <a:ext cx="11112703" cy="204480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350" b="0" i="0">
                <a:solidFill>
                  <a:srgbClr val="21295C"/>
                </a:solidFill>
                <a:latin typeface="Arial"/>
              </a:rPr>
              <a:t/>
            </a:r>
            <a:r>
              <a:rPr sz="135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080" b="0" i="0">
                <a:solidFill>
                  <a:srgbClr val="21295C"/>
                </a:solidFill>
                <a:latin typeface="Arial"/>
              </a:rPr>
              <a:t/>
            </a:r>
            <a:r>
              <a:rPr sz="108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230" b="0" i="0">
                <a:solidFill>
                  <a:srgbClr val="21295C"/>
                </a:solidFill>
                <a:latin typeface="Arial"/>
              </a:rPr>
              <a:t/>
            </a:r>
            <a:r>
              <a:rPr sz="1230" b="1" i="0">
                <a:solidFill>
                  <a:srgbClr val="21295C"/>
                </a:solidFill>
                <a:latin typeface="Arial"/>
              </a:rPr>
              <a:t>Цена обеих ошибок, до всякой точности.</a:t>
            </a:r>
            <a:r>
              <a:rPr sz="123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a:t>
            </a:r>
            <a:r>
              <a:rPr sz="123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980" b="0" i="0">
                <a:solidFill>
                  <a:srgbClr val="21295C"/>
                </a:solidFill>
                <a:latin typeface="Arial"/>
              </a:rPr>
              <a:t/>
            </a:r>
            <a:r>
              <a:rPr sz="98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распознавание на изображении</a:t>
            </a:r>
            <a:r>
              <a:rPr sz="123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30" b="0" i="0">
                <a:solidFill>
                  <a:srgbClr val="21295C"/>
                </a:solidFill>
                <a:latin typeface="Arial"/>
              </a:rPr>
              <a:t/>
            </a:r>
            <a:r>
              <a:rPr sz="1230" b="1" i="0">
                <a:solidFill>
                  <a:srgbClr val="21295C"/>
                </a:solidFill>
                <a:latin typeface="Arial"/>
              </a:rPr>
              <a:t>Цена обеих ошибок.</a:t>
            </a:r>
            <a:r>
              <a:rPr sz="123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a:t>
            </a:r>
            <a:r>
              <a:rPr sz="123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30" b="1" i="0">
                <a:solidFill>
                  <a:srgbClr val="21295C"/>
                </a:solidFill>
                <a:latin typeface="Arial"/>
              </a:rPr>
              <a:t>А на группе в целом, без разделения на правоту модели, прибавка незначима</a:t>
            </a:r>
            <a:r>
              <a:rPr sz="123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30" b="0" i="0">
                <a:solidFill>
                  <a:srgbClr val="21295C"/>
                </a:solidFill>
                <a:latin typeface="Arial"/>
              </a:rPr>
              <a:t/>
            </a:r>
            <a:r>
              <a:rPr sz="1230" b="1" i="0">
                <a:solidFill>
                  <a:srgbClr val="21295C"/>
                </a:solidFill>
                <a:latin typeface="Arial"/>
              </a:rPr>
              <a:t>Что переехало.</a:t>
            </a:r>
            <a:r>
              <a:rPr sz="123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30" b="0" i="0">
                <a:solidFill>
                  <a:srgbClr val="21295C"/>
                </a:solidFill>
                <a:latin typeface="Arial"/>
              </a:rPr>
              <a:t/>
            </a:r>
            <a:r>
              <a:rPr sz="123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30" b="1" i="0">
                <a:solidFill>
                  <a:srgbClr val="21295C"/>
                </a:solidFill>
                <a:latin typeface="Arial"/>
              </a:rPr>
              <a:t>26 процентов</a:t>
            </a:r>
            <a:r>
              <a:rPr sz="1230" b="0" i="0">
                <a:solidFill>
                  <a:srgbClr val="21295C"/>
                </a:solidFill>
                <a:latin typeface="Arial"/>
              </a:rPr>
              <a:t>; обзор включил 74 исследования из 13 821 просмотренного. </a:t>
            </a:r>
            <a:r>
              <a:rPr sz="123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980" b="0" i="0">
                <a:solidFill>
                  <a:srgbClr val="21295C"/>
                </a:solidFill>
                <a:latin typeface="Arial"/>
              </a:rPr>
              <a:t/>
            </a:r>
            <a:r>
              <a:rPr sz="98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Классический режим</a:t>
            </a:r>
            <a:r>
              <a:rPr sz="1290" b="0" i="0">
                <a:solidFill>
                  <a:srgbClr val="21295C"/>
                </a:solidFill>
                <a:latin typeface="Arial"/>
              </a:rPr>
              <a:t> — врач с обычными справочниками, и это база сравнения.</a:t>
            </a:r>
          </a:p>
          <a:p>
            <a:pPr algn="l">
              <a:lnSpc>
                <a:spcPct val="126000"/>
              </a:lnSpc>
              <a:spcBef>
                <a:spcPts val="700"/>
              </a:spcBef>
            </a:pPr>
            <a:r>
              <a:rPr sz="1290" b="0" i="0">
                <a:solidFill>
                  <a:srgbClr val="21295C"/>
                </a:solidFill>
                <a:latin typeface="Arial"/>
              </a:rPr>
              <a:t/>
            </a:r>
            <a:r>
              <a:rPr sz="1290" b="0" i="0">
                <a:solidFill>
                  <a:srgbClr val="21295C"/>
                </a:solidFill>
                <a:latin typeface="Arial"/>
              </a:rPr>
              <a:t>Разница между врачом одним и врачом с моделью — два пункта, и она </a:t>
            </a:r>
            <a:r>
              <a:rPr sz="1290" b="1" i="0">
                <a:solidFill>
                  <a:srgbClr val="21295C"/>
                </a:solidFill>
                <a:latin typeface="Arial"/>
              </a:rPr>
              <a:t>незначима</a:t>
            </a:r>
            <a:r>
              <a:rPr sz="1290" b="0" i="0">
                <a:solidFill>
                  <a:srgbClr val="21295C"/>
                </a:solidFill>
                <a:latin typeface="Arial"/>
              </a:rPr>
              <a:t>. Это ноль, измеренный, а не отсутствие данных.</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Прогон «модель одна» не был равноправной случайной ветвью — он идёт </a:t>
            </a:r>
            <a:r>
              <a:rPr sz="1290" b="1" i="0">
                <a:solidFill>
                  <a:srgbClr val="21295C"/>
                </a:solidFill>
                <a:latin typeface="Arial"/>
              </a:rPr>
              <a:t>наблюдательным дополнением</a:t>
            </a:r>
            <a:r>
              <a:rPr sz="1290" b="0" i="0">
                <a:solidFill>
                  <a:srgbClr val="21295C"/>
                </a:solidFill>
                <a:latin typeface="Arial"/>
              </a:rPr>
              <a:t>, не результатом распределения.</a:t>
            </a:r>
          </a:p>
          <a:p>
            <a:pPr algn="l">
              <a:lnSpc>
                <a:spcPct val="126000"/>
              </a:lnSpc>
              <a:spcBef>
                <a:spcPts val="700"/>
              </a:spcBef>
            </a:pPr>
            <a:r>
              <a:rPr sz="1030" b="0" i="0">
                <a:solidFill>
                  <a:srgbClr val="21295C"/>
                </a:solidFill>
                <a:latin typeface="Arial"/>
              </a:rPr>
              <a:t/>
            </a:r>
            <a:r>
              <a:rPr sz="103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290" b="0" i="0">
                <a:solidFill>
                  <a:srgbClr val="21295C"/>
                </a:solidFill>
                <a:latin typeface="Arial"/>
              </a:rPr>
              <a:t/>
            </a:r>
            <a:r>
              <a:rPr sz="1290" b="0" i="0">
                <a:solidFill>
                  <a:srgbClr val="21295C"/>
                </a:solidFill>
                <a:latin typeface="Arial"/>
              </a:rPr>
              <a:t>Чем это делают сегодня: </a:t>
            </a:r>
            <a:r>
              <a:rPr sz="1290" b="0" i="1">
                <a:solidFill>
                  <a:srgbClr val="21295C"/>
                </a:solidFill>
                <a:latin typeface="Arial"/>
              </a:rPr>
              <a:t>генерация на тексте</a:t>
            </a:r>
            <a:r>
              <a:rPr sz="1290" b="0" i="0">
                <a:solidFill>
                  <a:srgbClr val="21295C"/>
                </a:solidFill>
                <a:latin typeface="Arial"/>
              </a:rPr>
              <a:t> — клиническое рассуждение и вопрос-ответ со ссылками на литературу. Входит в работу </a:t>
            </a:r>
            <a:r>
              <a:rPr sz="1290" b="1" i="0">
                <a:solidFill>
                  <a:srgbClr val="21295C"/>
                </a:solidFill>
                <a:latin typeface="Arial"/>
              </a:rPr>
              <a:t>снизу</a:t>
            </a:r>
            <a:r>
              <a:rPr sz="129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Разница во времени </a:t>
            </a:r>
            <a:r>
              <a:rPr sz="1440" b="1" i="0">
                <a:solidFill>
                  <a:srgbClr val="21295C"/>
                </a:solidFill>
                <a:latin typeface="Arial"/>
              </a:rPr>
              <a:t>незначима</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1" i="0">
                <a:solidFill>
                  <a:srgbClr val="21295C"/>
                </a:solidFill>
                <a:latin typeface="Arial"/>
              </a:rPr>
              <a:t>Что переехало.</a:t>
            </a:r>
            <a:r>
              <a:rPr sz="144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40" b="0" i="0">
                <a:solidFill>
                  <a:srgbClr val="21295C"/>
                </a:solidFill>
                <a:latin typeface="Arial"/>
              </a:rPr>
              <a:t/>
            </a:r>
            <a:r>
              <a:rPr sz="144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a:t>
            </a:r>
            <a:r>
              <a:rPr sz="120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200" b="0" i="0">
                <a:solidFill>
                  <a:srgbClr val="21295C"/>
                </a:solidFill>
                <a:latin typeface="Arial"/>
              </a:rPr>
              <a:t/>
            </a:r>
            <a:r>
              <a:rPr sz="1200" b="1" i="0">
                <a:solidFill>
                  <a:srgbClr val="21295C"/>
                </a:solidFill>
                <a:latin typeface="Arial"/>
              </a:rPr>
              <a:t>Оба классических режима.</a:t>
            </a:r>
            <a:r>
              <a:rPr sz="120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против них.</a:t>
            </a:r>
            <a:r>
              <a:rPr sz="1200" b="0" i="0">
                <a:solidFill>
                  <a:srgbClr val="21295C"/>
                </a:solidFill>
                <a:latin typeface="Arial"/>
              </a:rPr>
              <a:t> Один человек плюс модель, арбитраж на разногласиях. Прибавка чувствительности </a:t>
            </a:r>
            <a:r>
              <a:rPr sz="1200" b="1" i="0">
                <a:solidFill>
                  <a:srgbClr val="21295C"/>
                </a:solidFill>
                <a:latin typeface="Arial"/>
              </a:rPr>
              <a:t>значима</a:t>
            </a:r>
            <a:r>
              <a:rPr sz="1200" b="0" i="0">
                <a:solidFill>
                  <a:srgbClr val="21295C"/>
                </a:solidFill>
                <a:latin typeface="Arial"/>
              </a:rPr>
              <a:t>.</a:t>
            </a:r>
          </a:p>
          <a:p>
            <a:pPr algn="l">
              <a:lnSpc>
                <a:spcPct val="126000"/>
              </a:lnSpc>
              <a:spcBef>
                <a:spcPts val="700"/>
              </a:spcBef>
            </a:pPr>
            <a:r>
              <a:rPr sz="960" b="0" i="0">
                <a:solidFill>
                  <a:srgbClr val="21295C"/>
                </a:solidFill>
                <a:latin typeface="Arial"/>
              </a:rPr>
              <a:t/>
            </a:r>
            <a:r>
              <a:rPr sz="9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200" b="0" i="0">
                <a:solidFill>
                  <a:srgbClr val="21295C"/>
                </a:solidFill>
                <a:latin typeface="Arial"/>
              </a:rPr>
              <a:t/>
            </a:r>
            <a:r>
              <a:rPr sz="1200" b="0" i="0">
                <a:solidFill>
                  <a:srgbClr val="21295C"/>
                </a:solidFill>
                <a:latin typeface="Arial"/>
              </a:rPr>
              <a:t>Независимость здесь не нарушена, а </a:t>
            </a:r>
            <a:r>
              <a:rPr sz="1200" b="1" i="0">
                <a:solidFill>
                  <a:srgbClr val="21295C"/>
                </a:solidFill>
                <a:latin typeface="Arial"/>
              </a:rPr>
              <a:t>перестроена</a:t>
            </a:r>
            <a:r>
              <a:rPr sz="120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60" b="0" i="0">
                <a:solidFill>
                  <a:srgbClr val="21295C"/>
                </a:solidFill>
                <a:latin typeface="Arial"/>
              </a:rPr>
              <a:t/>
            </a:r>
            <a:r>
              <a:rPr sz="9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Чем это делают сегодня: </a:t>
            </a:r>
            <a:r>
              <a:rPr sz="1200" b="0" i="1">
                <a:solidFill>
                  <a:srgbClr val="21295C"/>
                </a:solidFill>
                <a:latin typeface="Arial"/>
              </a:rPr>
              <a:t>распознавание на изображении</a:t>
            </a:r>
            <a:r>
              <a:rPr sz="1200" b="0" i="0">
                <a:solidFill>
                  <a:srgbClr val="21295C"/>
                </a:solidFill>
                <a:latin typeface="Arial"/>
              </a:rPr>
              <a:t>, та же клетка и </a:t>
            </a:r>
            <a:r>
              <a:rPr sz="1200" b="1" i="0">
                <a:solidFill>
                  <a:srgbClr val="21295C"/>
                </a:solidFill>
                <a:latin typeface="Arial"/>
              </a:rPr>
              <a:t>тот же инструмент</a:t>
            </a:r>
            <a:r>
              <a:rPr sz="120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переехало.</a:t>
            </a:r>
            <a:r>
              <a:rPr sz="111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и это разворачивает весь раздел: в другой программе измерили, </a:t>
            </a:r>
            <a:r>
              <a:rPr sz="1110" b="1" i="0">
                <a:solidFill>
                  <a:srgbClr val="21295C"/>
                </a:solidFill>
                <a:latin typeface="Arial"/>
              </a:rPr>
              <a:t>чьим находкам верят</a:t>
            </a:r>
            <a:r>
              <a:rPr sz="1110" b="0" i="0">
                <a:solidFill>
                  <a:srgbClr val="21295C"/>
                </a:solidFill>
                <a:latin typeface="Arial"/>
              </a:rPr>
              <a:t>. Из ста находок, сделанных </a:t>
            </a:r>
            <a:r>
              <a:rPr sz="1110" b="1" i="0">
                <a:solidFill>
                  <a:srgbClr val="21295C"/>
                </a:solidFill>
                <a:latin typeface="Arial"/>
              </a:rPr>
              <a:t>только моделью</a:t>
            </a:r>
            <a:r>
              <a:rPr sz="1110" b="0" i="0">
                <a:solidFill>
                  <a:srgbClr val="21295C"/>
                </a:solidFill>
                <a:latin typeface="Arial"/>
              </a:rPr>
              <a:t>, подтверждается раком </a:t>
            </a:r>
            <a:r>
              <a:rPr sz="1110" b="1" i="0">
                <a:solidFill>
                  <a:srgbClr val="21295C"/>
                </a:solidFill>
                <a:latin typeface="Arial"/>
              </a:rPr>
              <a:t>22</a:t>
            </a:r>
            <a:r>
              <a:rPr sz="1110" b="0" i="0">
                <a:solidFill>
                  <a:srgbClr val="21295C"/>
                </a:solidFill>
                <a:latin typeface="Arial"/>
              </a:rPr>
              <a:t>; из ста находок, сделанных </a:t>
            </a:r>
            <a:r>
              <a:rPr sz="1110" b="1" i="0">
                <a:solidFill>
                  <a:srgbClr val="21295C"/>
                </a:solidFill>
                <a:latin typeface="Arial"/>
              </a:rPr>
              <a:t>только радиологом</a:t>
            </a:r>
            <a:r>
              <a:rPr sz="1110" b="0" i="0">
                <a:solidFill>
                  <a:srgbClr val="21295C"/>
                </a:solidFill>
                <a:latin typeface="Arial"/>
              </a:rPr>
              <a:t> — </a:t>
            </a:r>
            <a:r>
              <a:rPr sz="1110" b="1" i="0">
                <a:solidFill>
                  <a:srgbClr val="21295C"/>
                </a:solidFill>
                <a:latin typeface="Arial"/>
              </a:rPr>
              <a:t>3,4</a:t>
            </a:r>
            <a:r>
              <a:rPr sz="111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есть здесь доверия к модели </a:t>
            </a:r>
            <a:r>
              <a:rPr sz="1110" b="1" i="0">
                <a:solidFill>
                  <a:srgbClr val="21295C"/>
                </a:solidFill>
                <a:latin typeface="Arial"/>
              </a:rPr>
              <a:t>слишком мало</a:t>
            </a:r>
            <a:r>
              <a:rPr sz="1110" b="0" i="0">
                <a:solidFill>
                  <a:srgbClr val="21295C"/>
                </a:solidFill>
                <a:latin typeface="Arial"/>
              </a:rPr>
              <a:t>, а не слишком много.</a:t>
            </a:r>
          </a:p>
          <a:p>
            <a:pPr algn="l">
              <a:lnSpc>
                <a:spcPct val="126000"/>
              </a:lnSpc>
              <a:spcBef>
                <a:spcPts val="700"/>
              </a:spcBef>
            </a:pPr>
            <a:r>
              <a:rPr sz="890" b="0" i="0">
                <a:solidFill>
                  <a:srgbClr val="21295C"/>
                </a:solidFill>
                <a:latin typeface="Arial"/>
              </a:rPr>
              <a:t/>
            </a:r>
            <a:r>
              <a:rPr sz="89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Что ломается.</a:t>
            </a:r>
            <a:r>
              <a:rPr sz="1080" b="0" i="0">
                <a:solidFill>
                  <a:srgbClr val="21295C"/>
                </a:solidFill>
                <a:latin typeface="Arial"/>
              </a:rPr>
              <a:t> База падения — </a:t>
            </a:r>
            <a:r>
              <a:rPr sz="1080" b="1" i="0">
                <a:solidFill>
                  <a:srgbClr val="21295C"/>
                </a:solidFill>
                <a:latin typeface="Arial"/>
              </a:rPr>
              <a:t>верная</a:t>
            </a:r>
            <a:r>
              <a:rPr sz="108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080" b="0" i="0">
                <a:solidFill>
                  <a:srgbClr val="21295C"/>
                </a:solidFill>
                <a:latin typeface="Arial"/>
              </a:rPr>
              <a:t/>
            </a:r>
            <a:r>
              <a:rPr sz="1080" b="1" i="0">
                <a:solidFill>
                  <a:srgbClr val="21295C"/>
                </a:solidFill>
                <a:latin typeface="Arial"/>
              </a:rPr>
              <a:t>Где потолок.</a:t>
            </a:r>
            <a:r>
              <a:rPr sz="108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08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080" b="0" i="0">
                <a:solidFill>
                  <a:srgbClr val="21295C"/>
                </a:solidFill>
                <a:latin typeface="Arial"/>
              </a:rPr>
              <a:t/>
            </a:r>
            <a:r>
              <a:rPr sz="1080" b="1" i="0">
                <a:solidFill>
                  <a:srgbClr val="21295C"/>
                </a:solidFill>
                <a:latin typeface="Arial"/>
              </a:rPr>
              <a:t>Не измерено, и это названо пробелом.</a:t>
            </a:r>
            <a:r>
              <a:rPr sz="108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080" b="0" i="0">
                <a:solidFill>
                  <a:srgbClr val="21295C"/>
                </a:solidFill>
                <a:latin typeface="Arial"/>
              </a:rPr>
              <a:t/>
            </a:r>
            <a:r>
              <a:rPr sz="1080" b="0" i="0">
                <a:solidFill>
                  <a:srgbClr val="21295C"/>
                </a:solidFill>
                <a:latin typeface="Arial"/>
              </a:rPr>
              <a:t>Доверие откалибровано </a:t>
            </a:r>
            <a:r>
              <a:rPr sz="1080" b="1" i="0">
                <a:solidFill>
                  <a:srgbClr val="21295C"/>
                </a:solidFill>
                <a:latin typeface="Arial"/>
              </a:rPr>
              <a:t>не по тому признаку</a:t>
            </a:r>
            <a:r>
              <a:rPr sz="108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Пропустить ухудшение.</a:t>
            </a:r>
            <a:r>
              <a:rPr sz="132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20" b="0" i="0">
                <a:solidFill>
                  <a:srgbClr val="21295C"/>
                </a:solidFill>
                <a:latin typeface="Arial"/>
              </a:rPr>
              <a:t/>
            </a:r>
            <a:r>
              <a:rPr sz="1320" b="1" i="0">
                <a:solidFill>
                  <a:srgbClr val="21295C"/>
                </a:solidFill>
                <a:latin typeface="Arial"/>
              </a:rPr>
              <a:t>Поднять ложную тревогу.</a:t>
            </a:r>
            <a:r>
              <a:rPr sz="132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20" b="0" i="0">
                <a:solidFill>
                  <a:srgbClr val="21295C"/>
                </a:solidFill>
                <a:latin typeface="Arial"/>
              </a:rPr>
              <a:t/>
            </a:r>
            <a:r>
              <a:rPr sz="1320" b="0" i="0">
                <a:solidFill>
                  <a:srgbClr val="21295C"/>
                </a:solidFill>
                <a:latin typeface="Arial"/>
              </a:rPr>
              <a:t>Обе ошибки платит одна и та же дежурная смена.</a:t>
            </a:r>
          </a:p>
          <a:p>
            <a:pPr algn="l">
              <a:lnSpc>
                <a:spcPct val="126000"/>
              </a:lnSpc>
              <a:spcBef>
                <a:spcPts val="700"/>
              </a:spcBef>
            </a:pPr>
            <a:r>
              <a:rPr sz="1320" b="0" i="0">
                <a:solidFill>
                  <a:srgbClr val="21295C"/>
                </a:solidFill>
                <a:latin typeface="Arial"/>
              </a:rPr>
              <a:t/>
            </a:r>
            <a:r>
              <a:rPr sz="132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419383"/>
          </a:xfrm>
          <a:prstGeom prst="roundRect">
            <a:avLst>
              <a:gd name="adj" fmla="val 125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по первой · 0,83–0,86 по второй</a:t>
            </a:r>
          </a:p>
        </p:txBody>
      </p:sp>
      <p:sp>
        <p:nvSpPr>
          <p:cNvPr id="7" name="TextBox 6"/>
          <p:cNvSpPr txBox="1"/>
          <p:nvPr/>
        </p:nvSpPr>
        <p:spPr>
          <a:xfrm>
            <a:off x="640080" y="2508219"/>
            <a:ext cx="3344570"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419383"/>
          </a:xfrm>
          <a:prstGeom prst="roundRect">
            <a:avLst>
              <a:gd name="adj" fmla="val 125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419383"/>
          </a:xfrm>
          <a:prstGeom prst="roundRect">
            <a:avLst>
              <a:gd name="adj" fmla="val 125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845847"/>
            <a:ext cx="11441887" cy="2390360"/>
          </a:xfrm>
          <a:prstGeom prst="roundRect">
            <a:avLst>
              <a:gd name="adj" fmla="val 12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37287"/>
            <a:ext cx="11112703" cy="2298920"/>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440" b="0" i="0">
                <a:solidFill>
                  <a:srgbClr val="21295C"/>
                </a:solidFill>
                <a:latin typeface="Arial"/>
              </a:rPr>
              <a:t/>
            </a:r>
            <a:r>
              <a:rPr sz="1440" b="1" i="0">
                <a:solidFill>
                  <a:srgbClr val="21295C"/>
                </a:solidFill>
                <a:latin typeface="Arial"/>
              </a:rPr>
              <a:t>Заявлено разработчиком:</a:t>
            </a:r>
            <a:r>
              <a:rPr sz="1440" b="0" i="0">
                <a:solidFill>
                  <a:srgbClr val="21295C"/>
                </a:solidFill>
                <a:latin typeface="Arial"/>
              </a:rPr>
              <a:t> 0,76–0,83 по первой версии, 0,83–0,86 по второй. </a:t>
            </a:r>
            <a:r>
              <a:rPr sz="1440" b="1" i="0">
                <a:solidFill>
                  <a:srgbClr val="21295C"/>
                </a:solidFill>
                <a:latin typeface="Arial"/>
              </a:rPr>
              <a:t>Измерено независимой проверкой первой версии:</a:t>
            </a:r>
            <a:r>
              <a:rPr sz="1440" b="0" i="0">
                <a:solidFill>
                  <a:srgbClr val="21295C"/>
                </a:solidFill>
                <a:latin typeface="Arial"/>
              </a:rPr>
              <a:t> 0,63. </a:t>
            </a:r>
            <a:r>
              <a:rPr sz="1440" b="1" i="0">
                <a:solidFill>
                  <a:srgbClr val="21295C"/>
                </a:solidFill>
                <a:latin typeface="Arial"/>
              </a:rPr>
              <a:t>Поймано</a:t>
            </a:r>
            <a:r>
              <a:rPr sz="1440" b="0" i="0">
                <a:solidFill>
                  <a:srgbClr val="21295C"/>
                </a:solidFill>
                <a:latin typeface="Arial"/>
              </a:rPr>
              <a:t> 33 случая сепсиса из ста — не выявлено 1 709 из 2 552.</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150" b="0" i="0">
                <a:solidFill>
                  <a:srgbClr val="21295C"/>
                </a:solidFill>
                <a:latin typeface="Arial"/>
              </a:rPr>
              <a:t/>
            </a:r>
            <a:r>
              <a:rPr sz="115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3012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577566"/>
            <a:ext cx="11441887" cy="2658641"/>
          </a:xfrm>
          <a:prstGeom prst="roundRect">
            <a:avLst>
              <a:gd name="adj" fmla="val 1146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69006"/>
            <a:ext cx="11112703" cy="256720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Вторая проверка, другие авторы, другие больницы: 145 885 обращений двух приёмных отделений. Поймано </a:t>
            </a:r>
            <a:r>
              <a:rPr sz="1470" b="1" i="0">
                <a:solidFill>
                  <a:srgbClr val="21295C"/>
                </a:solidFill>
                <a:latin typeface="Arial"/>
              </a:rPr>
              <a:t>14,7 случая сепсиса из ста</a:t>
            </a:r>
            <a:r>
              <a:rPr sz="1470" b="0" i="0">
                <a:solidFill>
                  <a:srgbClr val="21295C"/>
                </a:solidFill>
                <a:latin typeface="Arial"/>
              </a:rPr>
              <a:t>. Срабатывание — </a:t>
            </a:r>
            <a:r>
              <a:rPr sz="1470" b="1" i="0">
                <a:solidFill>
                  <a:srgbClr val="21295C"/>
                </a:solidFill>
                <a:latin typeface="Arial"/>
              </a:rPr>
              <a:t>4,9 обращения из ста</a:t>
            </a:r>
            <a:r>
              <a:rPr sz="1470" b="0" i="0">
                <a:solidFill>
                  <a:srgbClr val="21295C"/>
                </a:solidFill>
                <a:latin typeface="Arial"/>
              </a:rPr>
              <a:t>. Медианное опережение клинического решения — </a:t>
            </a:r>
            <a:r>
              <a:rPr sz="1470" b="1" i="0">
                <a:solidFill>
                  <a:srgbClr val="21295C"/>
                </a:solidFill>
                <a:latin typeface="Arial"/>
              </a:rPr>
              <a:t>ноль минут</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70" b="0" i="0">
                <a:solidFill>
                  <a:srgbClr val="21295C"/>
                </a:solidFill>
                <a:latin typeface="Arial"/>
              </a:rPr>
              <a:t/>
            </a:r>
            <a:r>
              <a:rPr sz="1470" b="0" i="0">
                <a:solidFill>
                  <a:srgbClr val="21295C"/>
                </a:solidFill>
                <a:latin typeface="Arial"/>
              </a:rPr>
              <a:t>Действующую версию модели проверили отдельно, многоцентрово и проспективно: различение </a:t>
            </a:r>
            <a:r>
              <a:rPr sz="1470" b="1" i="0">
                <a:solidFill>
                  <a:srgbClr val="21295C"/>
                </a:solidFill>
                <a:latin typeface="Arial"/>
              </a:rPr>
              <a:t>от 0,82 до 0,92</a:t>
            </a:r>
            <a:r>
              <a:rPr sz="1470" b="0" i="0">
                <a:solidFill>
                  <a:srgbClr val="21295C"/>
                </a:solidFill>
                <a:latin typeface="Arial"/>
              </a:rPr>
              <a:t>, прогностическая ценность </a:t>
            </a:r>
            <a:r>
              <a:rPr sz="1470" b="1" i="0">
                <a:solidFill>
                  <a:srgbClr val="21295C"/>
                </a:solidFill>
                <a:latin typeface="Arial"/>
              </a:rPr>
              <a:t>от 0,13 до 0,26</a:t>
            </a:r>
            <a:r>
              <a:rPr sz="147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592276"/>
          </a:xfrm>
          <a:prstGeom prst="roundRect">
            <a:avLst>
              <a:gd name="adj" fmla="val 11758"/>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4018740"/>
            <a:ext cx="11441887" cy="2217467"/>
          </a:xfrm>
          <a:prstGeom prst="roundRect">
            <a:avLst>
              <a:gd name="adj" fmla="val 137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110180"/>
            <a:ext cx="11112703" cy="2126027"/>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170" b="0" i="0">
                <a:solidFill>
                  <a:srgbClr val="21295C"/>
                </a:solidFill>
                <a:latin typeface="Arial"/>
              </a:rPr>
              <a:t/>
            </a:r>
            <a:r>
              <a:rPr sz="1170" b="1" i="0">
                <a:solidFill>
                  <a:srgbClr val="21295C"/>
                </a:solidFill>
                <a:latin typeface="Arial"/>
              </a:rPr>
              <a:t>Заявлено:</a:t>
            </a:r>
            <a:r>
              <a:rPr sz="1170" b="0" i="0">
                <a:solidFill>
                  <a:srgbClr val="21295C"/>
                </a:solidFill>
                <a:latin typeface="Arial"/>
              </a:rPr>
              <a:t> экономия </a:t>
            </a:r>
            <a:r>
              <a:rPr sz="1170" b="1" i="0">
                <a:solidFill>
                  <a:srgbClr val="21295C"/>
                </a:solidFill>
                <a:latin typeface="Arial"/>
              </a:rPr>
              <a:t>15 791 часа на 63 000 приёмов</a:t>
            </a:r>
            <a:r>
              <a:rPr sz="1170" b="0" i="0">
                <a:solidFill>
                  <a:srgbClr val="21295C"/>
                </a:solidFill>
                <a:latin typeface="Arial"/>
              </a:rPr>
              <a:t> за десять недель — методика счёта не раскрыта. </a:t>
            </a:r>
            <a:r>
              <a:rPr sz="1170" b="1" i="0">
                <a:solidFill>
                  <a:srgbClr val="21295C"/>
                </a:solidFill>
                <a:latin typeface="Arial"/>
              </a:rPr>
              <a:t>Измерено рандомизированным испытанием (238 врачей четырнадцати специальностей):</a:t>
            </a:r>
            <a:r>
              <a:rPr sz="1170" b="0" i="0">
                <a:solidFill>
                  <a:srgbClr val="21295C"/>
                </a:solidFill>
                <a:latin typeface="Arial"/>
              </a:rPr>
              <a:t> у одного из двух инструментов время в заметке упало на </a:t>
            </a:r>
            <a:r>
              <a:rPr sz="1170" b="1" i="0">
                <a:solidFill>
                  <a:srgbClr val="21295C"/>
                </a:solidFill>
                <a:latin typeface="Arial"/>
              </a:rPr>
              <a:t>9,5 процента</a:t>
            </a:r>
            <a:r>
              <a:rPr sz="1170" b="0" i="0">
                <a:solidFill>
                  <a:srgbClr val="21295C"/>
                </a:solidFill>
                <a:latin typeface="Arial"/>
              </a:rPr>
              <a:t> относительно контрольной группы, у второго значимого изменения нет; </a:t>
            </a:r>
            <a:r>
              <a:rPr sz="1170" b="1" i="0">
                <a:solidFill>
                  <a:srgbClr val="21295C"/>
                </a:solidFill>
                <a:latin typeface="Arial"/>
              </a:rPr>
              <a:t>активное время правки заметки не изменилось.</a:t>
            </a:r>
          </a:p>
          <a:p>
            <a:pPr algn="l">
              <a:lnSpc>
                <a:spcPct val="126000"/>
              </a:lnSpc>
              <a:spcBef>
                <a:spcPts val="700"/>
              </a:spcBef>
            </a:pPr>
            <a:r>
              <a:rPr sz="1170" b="0" i="0">
                <a:solidFill>
                  <a:srgbClr val="21295C"/>
                </a:solidFill>
                <a:latin typeface="Arial"/>
              </a:rPr>
              <a:t/>
            </a:r>
            <a:r>
              <a:rPr sz="117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940" b="0" i="0">
                <a:solidFill>
                  <a:srgbClr val="21295C"/>
                </a:solidFill>
                <a:latin typeface="Arial"/>
              </a:rPr>
              <a:t/>
            </a:r>
            <a:r>
              <a:rPr sz="94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170" b="0" i="0">
                <a:solidFill>
                  <a:srgbClr val="21295C"/>
                </a:solidFill>
                <a:latin typeface="Arial"/>
              </a:rPr>
              <a:t/>
            </a:r>
            <a:r>
              <a:rPr sz="117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6226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47141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491946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195744"/>
            <a:ext cx="11441887" cy="104046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287184"/>
            <a:ext cx="11112703" cy="9490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834062"/>
          </a:xfrm>
          <a:prstGeom prst="roundRect">
            <a:avLst>
              <a:gd name="adj" fmla="val 166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834062"/>
          </a:xfrm>
          <a:prstGeom prst="roundRect">
            <a:avLst>
              <a:gd name="adj" fmla="val 166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834062"/>
          </a:xfrm>
          <a:prstGeom prst="roundRect">
            <a:avLst>
              <a:gd name="adj" fmla="val 1661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834062"/>
          </a:xfrm>
          <a:prstGeom prst="roundRect">
            <a:avLst>
              <a:gd name="adj" fmla="val 1661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260526"/>
            <a:ext cx="11441887" cy="2975681"/>
          </a:xfrm>
          <a:prstGeom prst="roundRect">
            <a:avLst>
              <a:gd name="adj" fmla="val 10243"/>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351966"/>
            <a:ext cx="11112703" cy="2884241"/>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Дало</a:t>
            </a:r>
            <a:r>
              <a:rPr sz="1140" b="0" i="0">
                <a:solidFill>
                  <a:srgbClr val="21295C"/>
                </a:solidFill>
                <a:latin typeface="Arial"/>
              </a:rPr>
              <a:t> — документ готов раньше, короче и связнее. </a:t>
            </a:r>
            <a:r>
              <a:rPr sz="1140" b="1" i="0">
                <a:solidFill>
                  <a:srgbClr val="21295C"/>
                </a:solidFill>
                <a:latin typeface="Arial"/>
              </a:rPr>
              <a:t>Потребовало</a:t>
            </a:r>
            <a:r>
              <a:rPr sz="1140" b="0" i="0">
                <a:solidFill>
                  <a:srgbClr val="21295C"/>
                </a:solidFill>
                <a:latin typeface="Arial"/>
              </a:rPr>
              <a:t> — полноты и вычитки другого рода. </a:t>
            </a:r>
            <a:r>
              <a:rPr sz="1140" b="1" i="0">
                <a:solidFill>
                  <a:srgbClr val="21295C"/>
                </a:solidFill>
                <a:latin typeface="Arial"/>
              </a:rPr>
              <a:t>В сумме</a:t>
            </a:r>
            <a:r>
              <a:rPr sz="1140" b="0" i="0">
                <a:solidFill>
                  <a:srgbClr val="21295C"/>
                </a:solidFill>
                <a:latin typeface="Arial"/>
              </a:rPr>
              <a:t> — ошибок больше, документ менее полон.</a:t>
            </a:r>
          </a:p>
          <a:p>
            <a:pPr algn="l">
              <a:lnSpc>
                <a:spcPct val="126000"/>
              </a:lnSpc>
              <a:spcBef>
                <a:spcPts val="700"/>
              </a:spcBef>
            </a:pPr>
            <a:r>
              <a:rPr sz="1140" b="0" i="0">
                <a:solidFill>
                  <a:srgbClr val="21295C"/>
                </a:solidFill>
                <a:latin typeface="Arial"/>
              </a:rPr>
              <a:t/>
            </a:r>
            <a:r>
              <a:rPr sz="1140" b="1" i="0">
                <a:solidFill>
                  <a:srgbClr val="21295C"/>
                </a:solidFill>
                <a:latin typeface="Arial"/>
              </a:rPr>
              <a:t>А теперь то, что по этому случаю чаще всего и пересказывают.</a:t>
            </a:r>
            <a:r>
              <a:rPr sz="114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Построчное чтение трёх доступных первоисточников этой тройки не даёт.</a:t>
            </a:r>
            <a:r>
              <a:rPr sz="114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140" b="0" i="0">
                <a:solidFill>
                  <a:srgbClr val="21295C"/>
                </a:solidFill>
                <a:latin typeface="Arial"/>
              </a:rPr>
              <a:t/>
            </a:r>
            <a:r>
              <a:rPr sz="1140" b="1" i="0">
                <a:solidFill>
                  <a:srgbClr val="21295C"/>
                </a:solidFill>
                <a:latin typeface="Arial"/>
              </a:rPr>
              <a:t>Разряд свидетельства у пересказа ниже, чем у исследования, даже когда числа совпадают.</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62972"/>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На столе</a:t>
            </a:r>
          </a:p>
        </p:txBody>
      </p:sp>
      <p:sp>
        <p:nvSpPr>
          <p:cNvPr id="17" name="Rounded Rectangle 16"/>
          <p:cNvSpPr/>
          <p:nvPr/>
        </p:nvSpPr>
        <p:spPr>
          <a:xfrm>
            <a:off x="1920240"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68035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68035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680351"/>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20804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84319"/>
            <a:ext cx="11441887" cy="2751888"/>
          </a:xfrm>
          <a:prstGeom prst="roundRect">
            <a:avLst>
              <a:gd name="adj" fmla="val 11076"/>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575759"/>
            <a:ext cx="11112703" cy="2660448"/>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260" b="0" i="0">
                <a:solidFill>
                  <a:srgbClr val="21295C"/>
                </a:solidFill>
                <a:latin typeface="Arial"/>
              </a:rPr>
              <a:t/>
            </a:r>
            <a:r>
              <a:rPr sz="1260" b="1" i="0">
                <a:solidFill>
                  <a:srgbClr val="21295C"/>
                </a:solidFill>
                <a:latin typeface="Arial"/>
              </a:rPr>
              <a:t>Кто сидит за столом.</a:t>
            </a:r>
            <a:r>
              <a:rPr sz="126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260" b="0" i="0">
                <a:solidFill>
                  <a:srgbClr val="21295C"/>
                </a:solidFill>
                <a:latin typeface="Arial"/>
              </a:rPr>
              <a:t/>
            </a:r>
            <a:r>
              <a:rPr sz="1260" b="1" i="0">
                <a:solidFill>
                  <a:srgbClr val="21295C"/>
                </a:solidFill>
                <a:latin typeface="Arial"/>
              </a:rPr>
              <a:t>Что лежит на столе.</a:t>
            </a:r>
            <a:r>
              <a:rPr sz="126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Какой вопрос решают.</a:t>
            </a:r>
            <a:r>
              <a:rPr sz="126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260" b="0" i="0">
                <a:solidFill>
                  <a:srgbClr val="21295C"/>
                </a:solidFill>
                <a:latin typeface="Arial"/>
              </a:rPr>
              <a:t/>
            </a:r>
            <a:r>
              <a:rPr sz="1260" b="0" i="0">
                <a:solidFill>
                  <a:srgbClr val="21295C"/>
                </a:solidFill>
                <a:latin typeface="Arial"/>
              </a:rPr>
              <a:t>Вопроса «пользовался ли он моделью» в этом списке нет.</a:t>
            </a:r>
          </a:p>
          <a:p>
            <a:pPr algn="l">
              <a:lnSpc>
                <a:spcPct val="126000"/>
              </a:lnSpc>
              <a:spcBef>
                <a:spcPts val="700"/>
              </a:spcBef>
            </a:pPr>
            <a:r>
              <a:rPr sz="1010" b="0" i="0">
                <a:solidFill>
                  <a:srgbClr val="21295C"/>
                </a:solidFill>
                <a:latin typeface="Arial"/>
              </a:rPr>
              <a:t/>
            </a:r>
            <a:r>
              <a:rPr sz="101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13764"/>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22908"/>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222908"/>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67096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47242"/>
            <a:ext cx="11441887" cy="2288965"/>
          </a:xfrm>
          <a:prstGeom prst="roundRect">
            <a:avLst>
              <a:gd name="adj" fmla="val 133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38682"/>
            <a:ext cx="11112703" cy="2197525"/>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90" b="0" i="0">
                <a:solidFill>
                  <a:srgbClr val="21295C"/>
                </a:solidFill>
                <a:latin typeface="Arial"/>
              </a:rPr>
              <a:t/>
            </a:r>
            <a:r>
              <a:rPr sz="1290" b="0" i="1">
                <a:solidFill>
                  <a:srgbClr val="21295C"/>
                </a:solidFill>
                <a:latin typeface="Arial"/>
              </a:rPr>
              <a:t>Упоминание.</a:t>
            </a:r>
            <a:r>
              <a:rPr sz="1290" b="0" i="0">
                <a:solidFill>
                  <a:srgbClr val="21295C"/>
                </a:solidFill>
                <a:latin typeface="Arial"/>
              </a:rPr>
              <a:t> Алгоритмическое планирование смен медсестёр: время на составление графика сократилось на </a:t>
            </a:r>
            <a:r>
              <a:rPr sz="1290" b="1" i="0">
                <a:solidFill>
                  <a:srgbClr val="21295C"/>
                </a:solidFill>
                <a:latin typeface="Arial"/>
              </a:rPr>
              <a:t>81,2 процента</a:t>
            </a:r>
            <a:r>
              <a:rPr sz="129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90" b="0" i="0">
                <a:solidFill>
                  <a:srgbClr val="21295C"/>
                </a:solidFill>
                <a:latin typeface="Arial"/>
              </a:rPr>
              <a:t/>
            </a:r>
            <a:r>
              <a:rPr sz="1290" b="1" i="0">
                <a:solidFill>
                  <a:srgbClr val="21295C"/>
                </a:solidFill>
                <a:latin typeface="Arial"/>
              </a:rPr>
              <a:t>Склонность доверять автомату.</a:t>
            </a:r>
            <a:r>
              <a:rPr sz="129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Предложенное лекарство — скрывать подсказку там, где она чаще ошибается — </a:t>
            </a:r>
            <a:r>
              <a:rPr sz="1290" b="1" i="0">
                <a:solidFill>
                  <a:srgbClr val="21295C"/>
                </a:solidFill>
                <a:latin typeface="Arial"/>
              </a:rPr>
              <a:t>оценено расчётом, а не измерено</a:t>
            </a:r>
            <a:r>
              <a:rPr sz="1290" b="0" i="0">
                <a:solidFill>
                  <a:srgbClr val="21295C"/>
                </a:solidFill>
                <a:latin typeface="Arial"/>
              </a:rPr>
              <a:t>.</a:t>
            </a:r>
          </a:p>
          <a:p>
            <a:pPr algn="l">
              <a:lnSpc>
                <a:spcPct val="126000"/>
              </a:lnSpc>
              <a:spcBef>
                <a:spcPts val="700"/>
              </a:spcBef>
            </a:pPr>
            <a:r>
              <a:rPr sz="1290" b="0" i="0">
                <a:solidFill>
                  <a:srgbClr val="21295C"/>
                </a:solidFill>
                <a:latin typeface="Arial"/>
              </a:rPr>
              <a:t/>
            </a:r>
            <a:r>
              <a:rPr sz="129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Разработчик</a:t>
            </a:r>
          </a:p>
          <a:p>
            <a:pPr algn="ctr">
              <a:lnSpc>
                <a:spcPct val="112000"/>
              </a:lnSpc>
            </a:pPr>
            <a:r>
              <a:rPr sz="11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Врач</a:t>
            </a:r>
          </a:p>
          <a:p>
            <a:pPr algn="ctr">
              <a:lnSpc>
                <a:spcPct val="112000"/>
              </a:lnSpc>
            </a:pPr>
            <a:r>
              <a:rPr sz="11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Больница</a:t>
            </a:r>
          </a:p>
          <a:p>
            <a:pPr algn="ctr">
              <a:lnSpc>
                <a:spcPct val="112000"/>
              </a:lnSpc>
            </a:pPr>
            <a:r>
              <a:rPr sz="11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Регулятор</a:t>
            </a:r>
          </a:p>
          <a:p>
            <a:pPr algn="ctr">
              <a:lnSpc>
                <a:spcPct val="112000"/>
              </a:lnSpc>
            </a:pPr>
            <a:r>
              <a:rPr sz="11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57754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853821"/>
            <a:ext cx="11441887" cy="3382386"/>
          </a:xfrm>
          <a:prstGeom prst="roundRect">
            <a:avLst>
              <a:gd name="adj" fmla="val 901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45261"/>
            <a:ext cx="11112703" cy="32909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21666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492947"/>
            <a:ext cx="11441887" cy="3743260"/>
          </a:xfrm>
          <a:prstGeom prst="roundRect">
            <a:avLst>
              <a:gd name="adj" fmla="val 814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584387"/>
            <a:ext cx="11112703" cy="36518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34511"/>
            <a:ext cx="1307592" cy="97435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3243655"/>
            <a:ext cx="2071801" cy="95607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513249" y="3243655"/>
            <a:ext cx="2071801" cy="95607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7023963" y="3243655"/>
            <a:ext cx="2071801" cy="95607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9534677" y="3243655"/>
            <a:ext cx="2071801" cy="95607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28202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558299"/>
            <a:ext cx="11441887" cy="1677908"/>
          </a:xfrm>
          <a:prstGeom prst="roundRect">
            <a:avLst>
              <a:gd name="adj" fmla="val 1816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49739"/>
            <a:ext cx="11112703" cy="15864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Обещание рассчитано на успех там, где отраслевая база даёт </a:t>
            </a:r>
            <a:r>
              <a:rPr sz="1500" b="1" i="0">
                <a:solidFill>
                  <a:srgbClr val="21295C"/>
                </a:solidFill>
                <a:latin typeface="Arial"/>
              </a:rPr>
              <a:t>28,9 процента</a:t>
            </a:r>
            <a:r>
              <a:rPr sz="1500" b="0" i="0">
                <a:solidFill>
                  <a:srgbClr val="21295C"/>
                </a:solidFill>
                <a:latin typeface="Arial"/>
              </a:rPr>
              <a:t> перехода — провал на этом шаге норма воронки.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Путь компании.</a:t>
            </a:r>
            <a:r>
              <a:rPr sz="1500" b="0" i="0">
                <a:solidFill>
                  <a:srgbClr val="21295C"/>
                </a:solidFill>
                <a:latin typeface="Arial"/>
              </a:rPr>
              <a:t> Обещание доводить препараты до регистрации самостоятельно → фаза IIa: </a:t>
            </a:r>
            <a:r>
              <a:rPr sz="1500" b="1" i="0">
                <a:solidFill>
                  <a:srgbClr val="21295C"/>
                </a:solidFill>
                <a:latin typeface="Arial"/>
              </a:rPr>
              <a:t>91 пациент</a:t>
            </a:r>
            <a:r>
              <a:rPr sz="1500" b="0" i="0">
                <a:solidFill>
                  <a:srgbClr val="21295C"/>
                </a:solidFill>
                <a:latin typeface="Arial"/>
              </a:rPr>
              <a:t> 18–65 лет, </a:t>
            </a:r>
            <a:r>
              <a:rPr sz="1500" b="1" i="0">
                <a:solidFill>
                  <a:srgbClr val="21295C"/>
                </a:solidFill>
                <a:latin typeface="Arial"/>
              </a:rPr>
              <a:t>28 дней</a:t>
            </a:r>
            <a:r>
              <a:rPr sz="1500" b="0" i="0">
                <a:solidFill>
                  <a:srgbClr val="21295C"/>
                </a:solidFill>
                <a:latin typeface="Arial"/>
              </a:rPr>
              <a:t> нанесения, первичная точка по безопасности достигнута, точки эффективности — нет → </a:t>
            </a:r>
            <a:r>
              <a:rPr sz="1500" b="1" i="0">
                <a:solidFill>
                  <a:srgbClr val="21295C"/>
                </a:solidFill>
                <a:latin typeface="Arial"/>
              </a:rPr>
              <a:t>минус 180 рабочих мест</a:t>
            </a:r>
            <a:r>
              <a:rPr sz="150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9" name="TextBox 8"/>
          <p:cNvSpPr txBox="1"/>
          <p:nvPr/>
        </p:nvSpPr>
        <p:spPr>
          <a:xfrm>
            <a:off x="704088" y="321751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Дало</a:t>
            </a:r>
            <a:r>
              <a:rPr sz="1110" b="0" i="0">
                <a:solidFill>
                  <a:srgbClr val="21295C"/>
                </a:solidFill>
                <a:latin typeface="Arial"/>
              </a:rPr>
              <a:t> — с помощником находят больше.</a:t>
            </a:r>
          </a:p>
          <a:p>
            <a:pPr algn="l">
              <a:lnSpc>
                <a:spcPct val="126000"/>
              </a:lnSpc>
              <a:spcBef>
                <a:spcPts val="700"/>
              </a:spcBef>
            </a:pPr>
            <a:r>
              <a:rPr sz="1110" b="0" i="0">
                <a:solidFill>
                  <a:srgbClr val="21295C"/>
                </a:solidFill>
                <a:latin typeface="Arial"/>
              </a:rPr>
              <a:t/>
            </a:r>
            <a:r>
              <a:rPr sz="1110" b="1" i="0">
                <a:solidFill>
                  <a:srgbClr val="21295C"/>
                </a:solidFill>
                <a:latin typeface="Arial"/>
              </a:rPr>
              <a:t>Потребовало</a:t>
            </a:r>
            <a:r>
              <a:rPr sz="1110" b="0" i="0">
                <a:solidFill>
                  <a:srgbClr val="21295C"/>
                </a:solidFill>
                <a:latin typeface="Arial"/>
              </a:rPr>
              <a:t> — умения искать самому.</a:t>
            </a:r>
          </a:p>
          <a:p>
            <a:pPr algn="l">
              <a:lnSpc>
                <a:spcPct val="126000"/>
              </a:lnSpc>
              <a:spcBef>
                <a:spcPts val="700"/>
              </a:spcBef>
            </a:pPr>
            <a:r>
              <a:rPr sz="1110" b="0" i="0">
                <a:solidFill>
                  <a:srgbClr val="21295C"/>
                </a:solidFill>
                <a:latin typeface="Arial"/>
              </a:rPr>
              <a:t/>
            </a:r>
            <a:r>
              <a:rPr sz="1110" b="1" i="0">
                <a:solidFill>
                  <a:srgbClr val="21295C"/>
                </a:solidFill>
                <a:latin typeface="Arial"/>
              </a:rPr>
              <a:t>В сумме</a:t>
            </a:r>
            <a:r>
              <a:rPr sz="111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10" b="0" i="0">
                <a:solidFill>
                  <a:srgbClr val="21295C"/>
                </a:solidFill>
                <a:latin typeface="Arial"/>
              </a:rPr>
              <a:t/>
            </a:r>
            <a:r>
              <a:rPr sz="1110" b="1" i="0">
                <a:solidFill>
                  <a:srgbClr val="21295C"/>
                </a:solidFill>
                <a:latin typeface="Arial"/>
              </a:rPr>
              <a:t>Форма 8 словаря: Исполнитель тот же, но стал хуже.</a:t>
            </a:r>
            <a:r>
              <a:rPr sz="1110" b="0" i="0">
                <a:solidFill>
                  <a:srgbClr val="21295C"/>
                </a:solidFill>
                <a:latin typeface="Arial"/>
              </a:rPr>
              <a:t> Место, объём, порядок шагов и рука прежние — изменилось состояние самой руки.</a:t>
            </a:r>
          </a:p>
          <a:p>
            <a:pPr algn="l">
              <a:lnSpc>
                <a:spcPct val="126000"/>
              </a:lnSpc>
              <a:spcBef>
                <a:spcPts val="700"/>
              </a:spcBef>
            </a:pPr>
            <a:r>
              <a:rPr sz="890" b="0" i="0">
                <a:solidFill>
                  <a:srgbClr val="21295C"/>
                </a:solidFill>
                <a:latin typeface="Arial"/>
              </a:rPr>
              <a:t/>
            </a:r>
            <a:r>
              <a:rPr sz="89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10" b="1" i="0">
                <a:solidFill>
                  <a:srgbClr val="21295C"/>
                </a:solidFill>
                <a:latin typeface="Arial"/>
              </a:rPr>
              <a:t>Повторением клинической находки это не является:</a:t>
            </a:r>
            <a:r>
              <a:rPr sz="111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10" b="0" i="0">
                <a:solidFill>
                  <a:srgbClr val="21295C"/>
                </a:solidFill>
                <a:latin typeface="Arial"/>
              </a:rPr>
              <a:t/>
            </a:r>
            <a:r>
              <a:rPr sz="111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39860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0210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011250"/>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a:t>
            </a:r>
          </a:p>
        </p:txBody>
      </p:sp>
      <p:sp>
        <p:nvSpPr>
          <p:cNvPr id="31" name="Right Arrow 30"/>
          <p:cNvSpPr/>
          <p:nvPr/>
        </p:nvSpPr>
        <p:spPr>
          <a:xfrm>
            <a:off x="8386876" y="412555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45930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735584"/>
            <a:ext cx="11441887" cy="1500623"/>
          </a:xfrm>
          <a:prstGeom prst="roundRect">
            <a:avLst>
              <a:gd name="adj" fmla="val 20311"/>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27024"/>
            <a:ext cx="11112703" cy="14091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1. Нагрузка переехала на другой шаг</a:t>
            </a:r>
            <a:r>
              <a:rPr sz="1290" b="0" i="0">
                <a:solidFill>
                  <a:srgbClr val="21295C"/>
                </a:solidFill>
                <a:latin typeface="Arial"/>
              </a:rPr>
              <a:t> — воронка молекул ИИ-происхождения против базы отрасли: одобрений регулятора </a:t>
            </a:r>
            <a:r>
              <a:rPr sz="1290" b="1" i="0">
                <a:solidFill>
                  <a:srgbClr val="21295C"/>
                </a:solidFill>
                <a:latin typeface="Arial"/>
              </a:rPr>
              <a:t>ноль</a:t>
            </a:r>
            <a:r>
              <a:rPr sz="1290" b="0" i="0">
                <a:solidFill>
                  <a:srgbClr val="21295C"/>
                </a:solidFill>
                <a:latin typeface="Arial"/>
              </a:rPr>
              <a:t>.</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2. Шаг исчез совсем</a:t>
            </a:r>
            <a:r>
              <a:rPr sz="1290" b="0" i="0">
                <a:solidFill>
                  <a:srgbClr val="21295C"/>
                </a:solidFill>
                <a:latin typeface="Arial"/>
              </a:rPr>
              <a:t> — </a:t>
            </a:r>
            <a:r>
              <a:rPr sz="1290" b="0" i="1">
                <a:solidFill>
                  <a:srgbClr val="21295C"/>
                </a:solidFill>
                <a:latin typeface="Arial"/>
              </a:rPr>
              <a:t>ни одного подтверждённого случая за вечер.</a:t>
            </a:r>
            <a:r>
              <a:rPr sz="129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3. Шаг появился</a:t>
            </a:r>
            <a:r>
              <a:rPr sz="129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4. Нагрузка выросла на том же месте</a:t>
            </a:r>
            <a:r>
              <a:rPr sz="129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4а. Нагрузка на том же месте упала</a:t>
            </a:r>
            <a:r>
              <a:rPr sz="129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30" b="0" i="0">
                <a:solidFill>
                  <a:srgbClr val="21295C"/>
                </a:solidFill>
                <a:latin typeface="Arial"/>
              </a:rPr>
              <a:t/>
            </a:r>
            <a:r>
              <a:rPr sz="103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30" b="0" i="0">
                <a:solidFill>
                  <a:srgbClr val="21295C"/>
                </a:solidFill>
                <a:latin typeface="Arial"/>
              </a:rPr>
              <a:t/>
            </a:r>
            <a:r>
              <a:rPr sz="103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 </a:t>
            </a:r>
            <a:r>
              <a:rPr sz="1230" b="1" i="0">
                <a:solidFill>
                  <a:srgbClr val="21295C"/>
                </a:solidFill>
                <a:latin typeface="Arial"/>
              </a:rPr>
              <a:t>5. Исполнитель сменился</a:t>
            </a:r>
            <a:r>
              <a:rPr sz="123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6. Изменился порядок работ</a:t>
            </a:r>
            <a:r>
              <a:rPr sz="1230" b="0" i="0">
                <a:solidFill>
                  <a:srgbClr val="21295C"/>
                </a:solidFill>
                <a:latin typeface="Arial"/>
              </a:rPr>
              <a:t> — сортировка до приёма. </a:t>
            </a:r>
            <a:r>
              <a:rPr sz="123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7. Сместилась цена ошибки</a:t>
            </a:r>
            <a:r>
              <a:rPr sz="1230" b="0" i="0">
                <a:solidFill>
                  <a:srgbClr val="21295C"/>
                </a:solidFill>
                <a:latin typeface="Arial"/>
              </a:rPr>
              <a:t> — разрыв между нормой и проверкой.</a:t>
            </a:r>
          </a:p>
          <a:p>
            <a:pPr algn="l">
              <a:lnSpc>
                <a:spcPct val="126000"/>
              </a:lnSpc>
              <a:spcBef>
                <a:spcPts val="700"/>
              </a:spcBef>
            </a:pPr>
            <a:r>
              <a:rPr sz="1230" b="0" i="0">
                <a:solidFill>
                  <a:srgbClr val="21295C"/>
                </a:solidFill>
                <a:latin typeface="Arial"/>
              </a:rPr>
              <a:t/>
            </a:r>
            <a:r>
              <a:rPr sz="1230" b="0" i="0">
                <a:solidFill>
                  <a:srgbClr val="21295C"/>
                </a:solidFill>
                <a:latin typeface="Arial"/>
              </a:rPr>
              <a:t>• </a:t>
            </a:r>
            <a:r>
              <a:rPr sz="1230" b="1" i="0">
                <a:solidFill>
                  <a:srgbClr val="21295C"/>
                </a:solidFill>
                <a:latin typeface="Arial"/>
              </a:rPr>
              <a:t>8. Исполнитель тот же, но стал хуже</a:t>
            </a:r>
            <a:r>
              <a:rPr sz="123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восьмая форма отличается от двух соседних: в пятой сменилась </a:t>
            </a:r>
            <a:r>
              <a:rPr sz="1230" b="1" i="0">
                <a:solidFill>
                  <a:srgbClr val="21295C"/>
                </a:solidFill>
                <a:latin typeface="Arial"/>
              </a:rPr>
              <a:t>рука</a:t>
            </a:r>
            <a:r>
              <a:rPr sz="1230" b="0" i="0">
                <a:solidFill>
                  <a:srgbClr val="21295C"/>
                </a:solidFill>
                <a:latin typeface="Arial"/>
              </a:rPr>
              <a:t> — здесь рука та же, и на этом стоит измерение. В форме 4а упал </a:t>
            </a:r>
            <a:r>
              <a:rPr sz="1230" b="1" i="0">
                <a:solidFill>
                  <a:srgbClr val="21295C"/>
                </a:solidFill>
                <a:latin typeface="Arial"/>
              </a:rPr>
              <a:t>объём</a:t>
            </a:r>
            <a:r>
              <a:rPr sz="1230" b="0" i="0">
                <a:solidFill>
                  <a:srgbClr val="21295C"/>
                </a:solidFill>
                <a:latin typeface="Arial"/>
              </a:rPr>
              <a:t> — здесь объём тот же, упала </a:t>
            </a:r>
            <a:r>
              <a:rPr sz="1230" b="1" i="0">
                <a:solidFill>
                  <a:srgbClr val="21295C"/>
                </a:solidFill>
                <a:latin typeface="Arial"/>
              </a:rPr>
              <a:t>доля находок</a:t>
            </a:r>
            <a:r>
              <a:rPr sz="1230" b="0" i="0">
                <a:solidFill>
                  <a:srgbClr val="21295C"/>
                </a:solidFill>
                <a:latin typeface="Arial"/>
              </a:rPr>
              <a:t>.</a:t>
            </a:r>
          </a:p>
          <a:p>
            <a:pPr algn="l">
              <a:lnSpc>
                <a:spcPct val="126000"/>
              </a:lnSpc>
              <a:spcBef>
                <a:spcPts val="700"/>
              </a:spcBef>
            </a:pPr>
            <a:r>
              <a:rPr sz="980" b="0" i="0">
                <a:solidFill>
                  <a:srgbClr val="21295C"/>
                </a:solidFill>
                <a:latin typeface="Arial"/>
              </a:rPr>
              <a:t/>
            </a:r>
            <a:r>
              <a:rPr sz="98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30" b="0" i="0">
                <a:solidFill>
                  <a:srgbClr val="21295C"/>
                </a:solidFill>
                <a:latin typeface="Arial"/>
              </a:rPr>
              <a:t/>
            </a:r>
            <a:r>
              <a:rPr sz="123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Копаешь — а там вообще нет модели.</a:t>
            </a:r>
            <a:r>
              <a:rPr sz="129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выигрыш не там, где показывают.</a:t>
            </a:r>
            <a:r>
              <a:rPr sz="129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числа выросли при пересказе.</a:t>
            </a:r>
            <a:r>
              <a:rPr sz="129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Приёмы, по одному на графу: </a:t>
            </a:r>
            <a:r>
              <a:rPr sz="1290" b="1" i="0">
                <a:solidFill>
                  <a:srgbClr val="21295C"/>
                </a:solidFill>
                <a:latin typeface="Arial"/>
              </a:rPr>
              <a:t>убери модель</a:t>
            </a:r>
            <a:r>
              <a:rPr sz="1290" b="0" i="0">
                <a:solidFill>
                  <a:srgbClr val="21295C"/>
                </a:solidFill>
                <a:latin typeface="Arial"/>
              </a:rPr>
              <a:t> · </a:t>
            </a:r>
            <a:r>
              <a:rPr sz="1290" b="1" i="0">
                <a:solidFill>
                  <a:srgbClr val="21295C"/>
                </a:solidFill>
                <a:latin typeface="Arial"/>
              </a:rPr>
              <a:t>спроси, от чего посчитан эффект</a:t>
            </a:r>
            <a:r>
              <a:rPr sz="1290" b="0" i="0">
                <a:solidFill>
                  <a:srgbClr val="21295C"/>
                </a:solidFill>
                <a:latin typeface="Arial"/>
              </a:rPr>
              <a:t> · </a:t>
            </a:r>
            <a:r>
              <a:rPr sz="1290" b="1" i="0">
                <a:solidFill>
                  <a:srgbClr val="21295C"/>
                </a:solidFill>
                <a:latin typeface="Arial"/>
              </a:rPr>
              <a:t>открой первоисточник и сверь выборку, дизайн и журнал</a:t>
            </a:r>
            <a:r>
              <a:rPr sz="1290" b="0" i="0">
                <a:solidFill>
                  <a:srgbClr val="21295C"/>
                </a:solidFill>
                <a:latin typeface="Arial"/>
              </a:rPr>
              <a:t>.</a:t>
            </a:r>
          </a:p>
          <a:p>
            <a:pPr algn="l">
              <a:lnSpc>
                <a:spcPct val="126000"/>
              </a:lnSpc>
              <a:spcBef>
                <a:spcPts val="700"/>
              </a:spcBef>
            </a:pPr>
            <a:r>
              <a:rPr sz="1030" b="0" i="0">
                <a:solidFill>
                  <a:srgbClr val="21295C"/>
                </a:solidFill>
                <a:latin typeface="Arial"/>
              </a:rPr>
              <a:t/>
            </a:r>
            <a:r>
              <a:rPr sz="103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 </a:t>
            </a:r>
            <a:r>
              <a:rPr sz="1470" b="1" i="0">
                <a:solidFill>
                  <a:srgbClr val="21295C"/>
                </a:solidFill>
                <a:latin typeface="Arial"/>
              </a:rPr>
              <a:t>Распознавание на изображении</a:t>
            </a:r>
            <a:r>
              <a:rPr sz="1470" b="0" i="0">
                <a:solidFill>
                  <a:srgbClr val="21295C"/>
                </a:solidFill>
                <a:latin typeface="Arial"/>
              </a:rPr>
              <a:t> — скрининг и чтение исследований. </a:t>
            </a:r>
            <a:r>
              <a:rPr sz="1470" b="0" i="1">
                <a:solidFill>
                  <a:srgbClr val="21295C"/>
                </a:solidFill>
                <a:latin typeface="Arial"/>
              </a:rPr>
              <a:t>Держат:</a:t>
            </a:r>
            <a:r>
              <a:rPr sz="147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Прогноз на структурированных данных</a:t>
            </a:r>
            <a:r>
              <a:rPr sz="1470" b="0" i="0">
                <a:solidFill>
                  <a:srgbClr val="21295C"/>
                </a:solidFill>
                <a:latin typeface="Arial"/>
              </a:rPr>
              <a:t> — раннее предупреждение, воронка активов. </a:t>
            </a:r>
            <a:r>
              <a:rPr sz="1470" b="0" i="1">
                <a:solidFill>
                  <a:srgbClr val="21295C"/>
                </a:solidFill>
                <a:latin typeface="Arial"/>
              </a:rPr>
              <a:t>Держат:</a:t>
            </a:r>
            <a:r>
              <a:rPr sz="147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Поиск и генерация на тексте</a:t>
            </a:r>
            <a:r>
              <a:rPr sz="1470" b="0" i="0">
                <a:solidFill>
                  <a:srgbClr val="21295C"/>
                </a:solidFill>
                <a:latin typeface="Arial"/>
              </a:rPr>
              <a:t> — запись приёма, выписка, дифференциальный диагноз. </a:t>
            </a:r>
            <a:r>
              <a:rPr sz="1470" b="0" i="1">
                <a:solidFill>
                  <a:srgbClr val="21295C"/>
                </a:solidFill>
                <a:latin typeface="Arial"/>
              </a:rPr>
              <a:t>Держат:</a:t>
            </a:r>
            <a:r>
              <a:rPr sz="147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Генерация структуры</a:t>
            </a:r>
            <a:r>
              <a:rPr sz="1470" b="0" i="0">
                <a:solidFill>
                  <a:srgbClr val="21295C"/>
                </a:solidFill>
                <a:latin typeface="Arial"/>
              </a:rPr>
              <a:t> — молекула под заданную мишень, дизайн белка. </a:t>
            </a:r>
            <a:r>
              <a:rPr sz="1470" b="0" i="1">
                <a:solidFill>
                  <a:srgbClr val="21295C"/>
                </a:solidFill>
                <a:latin typeface="Arial"/>
              </a:rPr>
              <a:t>Держат:</a:t>
            </a:r>
            <a:r>
              <a:rPr sz="147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Результат исполнителя без инструмента</a:t>
            </a:r>
            <a:r>
              <a:rPr sz="1470" b="0" i="0">
                <a:solidFill>
                  <a:srgbClr val="21295C"/>
                </a:solidFill>
                <a:latin typeface="Arial"/>
              </a:rPr>
              <a:t> — тот же врач, та же процедура, без помощника: находок меньше. </a:t>
            </a:r>
            <a:r>
              <a:rPr sz="1470" b="0" i="1">
                <a:solidFill>
                  <a:srgbClr val="21295C"/>
                </a:solidFill>
                <a:latin typeface="Arial"/>
              </a:rPr>
              <a:t>Держат:</a:t>
            </a:r>
            <a:r>
              <a:rPr sz="1470" b="0" i="0">
                <a:solidFill>
                  <a:srgbClr val="21295C"/>
                </a:solidFill>
                <a:latin typeface="Arial"/>
              </a:rPr>
              <a:t> </a:t>
            </a:r>
            <a:r>
              <a:rPr sz="147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Три сгустка те же, добавилась одна клетка, держат их четыре разные процедуры — </a:t>
            </a:r>
            <a:r>
              <a:rPr sz="1470" b="1" i="0">
                <a:solidFill>
                  <a:srgbClr val="21295C"/>
                </a:solidFill>
                <a:latin typeface="Arial"/>
              </a:rPr>
              <a:t>а пятую не держит ничто</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7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70" b="0" i="0">
                <a:solidFill>
                  <a:srgbClr val="21295C"/>
                </a:solidFill>
                <a:latin typeface="Arial"/>
              </a:rPr>
              <a:t/>
            </a:r>
            <a:r>
              <a:rPr sz="1170" b="0" i="0">
                <a:solidFill>
                  <a:srgbClr val="21295C"/>
                </a:solidFill>
                <a:latin typeface="Arial"/>
              </a:rPr>
              <a:t>У опоры «ошибается иначе» величины нет: </a:t>
            </a:r>
            <a:r>
              <a:rPr sz="1170" b="1" i="0">
                <a:solidFill>
                  <a:srgbClr val="21295C"/>
                </a:solidFill>
                <a:latin typeface="Arial"/>
              </a:rPr>
              <a:t>доли взаимного перекрытия ошибок не измерены</a:t>
            </a:r>
            <a:r>
              <a:rPr sz="117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Есть ли у человека независимый источник истины, кроме объяснения модели?</a:t>
            </a:r>
            <a:r>
              <a:rPr sz="1170" b="0" i="0">
                <a:solidFill>
                  <a:srgbClr val="21295C"/>
                </a:solidFill>
                <a:latin typeface="Arial"/>
              </a:rPr>
              <a:t> Проверка по самообъяснению — не проверка.</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Измерено ли, что он возражает?</a:t>
            </a:r>
            <a:r>
              <a:rPr sz="1170" b="0" i="0">
                <a:solidFill>
                  <a:srgbClr val="21295C"/>
                </a:solidFill>
                <a:latin typeface="Arial"/>
              </a:rPr>
              <a:t> Доля отклонений и доля </a:t>
            </a:r>
            <a:r>
              <a:rPr sz="1170" b="1" i="0">
                <a:solidFill>
                  <a:srgbClr val="21295C"/>
                </a:solidFill>
                <a:latin typeface="Arial"/>
              </a:rPr>
              <a:t>правильных</a:t>
            </a:r>
            <a:r>
              <a:rPr sz="117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Успевает ли он физически?</a:t>
            </a:r>
            <a:r>
              <a:rPr sz="117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940" b="0" i="0">
                <a:solidFill>
                  <a:srgbClr val="21295C"/>
                </a:solidFill>
                <a:latin typeface="Arial"/>
              </a:rPr>
              <a:t/>
            </a:r>
            <a:r>
              <a:rPr sz="94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659284"/>
          </a:xfrm>
          <a:prstGeom prst="roundRect">
            <a:avLst>
              <a:gd name="adj" fmla="val 18369"/>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3177188"/>
            <a:ext cx="1770735" cy="1847305"/>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332636"/>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935265"/>
            <a:ext cx="1441551" cy="93378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77188"/>
            <a:ext cx="1770735" cy="1847305"/>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332636"/>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935265"/>
            <a:ext cx="1441551" cy="933780"/>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Решение, принятое по изделию до отзыва</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