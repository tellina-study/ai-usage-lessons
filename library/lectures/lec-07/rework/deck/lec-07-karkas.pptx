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26/science.aax2342"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01/jamainternmed.2017.154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www.medrxiv.org/content/10.1101/2025.07.10.25331333"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internmed.2025.0821"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93/jamia/ocad118"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2967/jnumed.126.272292" TargetMode="External"/><Relationship Id="rId4" Type="http://schemas.openxmlformats.org/officeDocument/2006/relationships/hyperlink" Target="https://doi.org/10.2967/jnumed.120.256032"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web.archive.org/web/2026/https://www.ama-assn.org/system/files/ama-ai-principles.pdf"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16/j.gie.2014.07.058"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16/j.gie.2014.07.058"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metr.org/blog/2026-02-24-uplift-update/"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doi.org/10.1016/S2468-1253%2825%2900133-5"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go.bio.org/rs/490-EHZ-999/images/ClinicalDevelopmentSuccessRates2011_2020.pdf"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go.bio.org/rs/490-EHZ-999/images/ClinicalDevelopmentSuccessRates2011_2020.pdf"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01/jamahealthforum.2025.3172"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Шесть разборов берут разные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шесть разборов — сперва три про стадию исследования, потом три про точность и качество диагноза.</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рабочая точка.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одной рабочей точки. Выбирает рабочую точку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одной рабочей точке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национальной программы скрининга, их собственная ежедневная работа, прямое ухудшение результата. Собраны все четыре будут в конце раздела.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a:p>
            <a:r>
              <a:t/>
            </a:r>
          </a:p>
          <a:p>
            <a:r>
              <a:t>«Быть внимательнее» здесь не мера — это стоит сказать прямо, потому что именно так на такое падение и отвечают: подсказка меняет не мнение читателя, а то, что он физически успевает увидеть. Доводами и обучением это не лечится, лечится порядком предъявления.</a:t>
            </a:r>
          </a:p>
          <a:p>
            <a:r>
              <a:t/>
            </a:r>
          </a:p>
          <a:p>
            <a:r>
              <a:t>Ступень участия здесь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устройство самого изделия, названная форма словаря. Здесь из пяти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идущее в пользу помощника, оказалось работой с названными интересами.</a:t>
            </a:r>
          </a:p>
          <a:p>
            <a:r>
              <a:t/>
            </a:r>
          </a:p>
          <a:p>
            <a:r>
              <a:t>**Источники.** </a:t>
            </a:r>
            <a:r>
              <a:rPr u="sng">
                <a:solidFill>
                  <a:srgbClr val="065A82"/>
                </a:solidFill>
                <a:hlinkClick r:id="rId4"/>
              </a:rPr>
              <a:t>Gommers и соавт., Radiology 2025</a:t>
            </a:r>
          </a:p>
          <a:p>
            <a:r>
              <a:t/>
            </a:r>
          </a:p>
          <a:p>
            <a:r>
              <a:t>Разница с предыдущим кадром одна: там подсказка была ложной намеренно, здесь это обычная работа одобренной системы с оценкой подозрительности по шкале от 1 до 100. Оговорки — вслух, с кадра они сняты. Двенадцать радиологов программы скрининга из десяти учреждений, стаж от 4 до 32 лет при медиане 12; сто пятьдесят исследований, 3 600 прочтений. Чтение лабораторное: раков в наборе половина, тогда как в живой программе рак встречается у единиц на тысячу. И институциональные соглашения с производителями систем авторы раскрыли сами — результат это не отменяет, но назвать нужно: единственное измерение раздела, идущее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Три счёта, снятые с кадра. Первый, на кардиограммах: неверная машинная расшифровка роняет точность стажёров на 43 пункта в одной группе и на 59 в другой — база падения тут верная расшифровка, а различает группы специальность. Существеннее самой величины другое: у обеих групп слабеет связь уверенности с правотой, то есть ломается не точность, а калибровка. Второй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Третий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и стаж её туда не добавляет.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размер эффекта 0,64 при интервале от 0,53 до 0,74,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Пятнадцать хирургов экстренной помощи оценивали риск по описанию случая, не зная машинной оценки.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 две подробности, снятые с кадра. Обещан этот разбор был у профессиональных медиков — слово «медики» тут несущее: это не студенты и не участники лабораторного опыта, а практикующие хирурги на своей собственной работе. Место в реанимации заказывают заранее, и недооценка риска отнимает именно его. А осложнение в тридцатидневном счёте считают на тридцатый день после операции: отсюда и слепота счёта к переоценке риска — человека, которого решили не оперировать, в этом счёте нет вовсе.</a:t>
            </a:r>
          </a:p>
          <a:p>
            <a:r>
              <a:t/>
            </a:r>
          </a:p>
          <a:p>
            <a:r>
              <a:t>Опыт устроен так. Пятнадцать хирургов экстренной помощи оценивают риск по описанию случая, не видя машинной оценки. Вторая группа из пятнадцати делает те же оценки после того, как познакомилась с подсказкой модели. Между группами хирургов развели жребием, случаев сто пятьдесят, и исходы у всех ста пятидесяти прослежены вперёд тридцать дней. Это редкое по устройству сравнение: обе человеческие группы и модель измерены на одних и тех же случаях, и разряд свидетельства здесь высокий сразу по двум признакам — жребий между группами и проспективно зафиксированный исход.</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Ни один из четырёх замеров не поднялся на ступень исхода пациента. Измерено, как человек смотрит, как он меняет верное решение на неверное, как соглашается с подсказкой, — и не измерено, что случилось с больным из-за того, что человек стал хуже смотреть. Такого замера не нашлось ни одного, и промолчать об этом нельзя: сказано это здесь, рядом с собственными числами, тем же приёмом, которым лекция требует базу у чужих.</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ни в одном из четырёх не измерен исход пациента: мерили точность чтения, движение глаза, балл рассуждения и оценку риска — но не то, что стало с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 С этой картины раздел и начинается.</a:t>
            </a:r>
          </a:p>
          <a:p>
            <a:r>
              <a:t/>
            </a:r>
          </a:p>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Второй разбор идёт с конца: сначала то, чем он кончился, — как редко эту способность проверяют до того, как изделие допустят к продаже, — а счёт в минутах труда, из которого эта подпись сложилась, стоит следом. Обзор поданной документации показывает: тестирование с реальным участием врача нашлось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Про состав раздела стоит сказать вслух, потому что он устроен не так, как предыдущие. Разборов здесь два, а кадров под ними три: Пример 1 держится на одном кадре целиком — выигрыш и его цена рядом, — а Пример 2 разложен на два, и разложен нарочно. Он подан с конца: сначала то, чем он кончился, то есть доля изделий, у которых способность человека возразить при допуске никто не проверял, и только потом счёт в минутах труда, из которого эта подпись сложилась. Порядок этот выбран потому, что прочитанный обычным образом разбор кончался бы нормой и числом, а начинался бы минутами — и слушатель успевал бы решить, что речь про экономию, прежде чем услышал бы, про что она на самом деле.</a:t>
            </a:r>
          </a:p>
          <a:p>
            <a:r>
              <a:t/>
            </a:r>
          </a:p>
          <a:p>
            <a:r>
              <a:t>Кроме двух разборов в разделе два кадра, которые разборами не являются и не выдают себя за них: обзор надзорных механизмов после допуска и определение подходящего человека из нормативного документа. У обзора нет формы разбора в словаре курса, и это произносится прямо.</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 статья 14</a:t>
            </a:r>
            <a:r>
              <a:t> · </a:t>
            </a:r>
            <a:r>
              <a:rPr u="sng">
                <a:solidFill>
                  <a:srgbClr val="065A82"/>
                </a:solidFill>
                <a:hlinkClick r:id="rId4"/>
              </a:rPr>
              <a:t>обзор поданной регуляторам документации, JAMA Network Open 2025;8(11):e2542338</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предыдущие разделы оставили после себя документы и людей, которые эти документы подписывают. Тревогу разобрали — расписался дежурный врач. Эпикриз вычитали — расписался лечащий. Этот раздел про то, что стоит за такой подписью, и про то, проверял ли кто-нибудь, что подписывающий способен возразить.</a:t>
            </a:r>
          </a:p>
          <a:p>
            <a:r>
              <a:t/>
            </a:r>
          </a:p>
          <a:p>
            <a:r>
              <a:t>Первое, что отличает эту стадию от всех предыдущих: она не работает с измерениями человека. Данные её — документы. Заключение с подписью. Информированное согласие. Материалы разбора случая. Документация, по которой изделие допускали к применению. Ни одного нового факта о пациенте здесь не добывают; работают с тем, что уже записано.</a:t>
            </a:r>
          </a:p>
          <a:p>
            <a:r>
              <a:t/>
            </a:r>
          </a:p>
          <a:p>
            <a:r>
              <a:t>Вопрос на этих данных тоже один, и он не про болезнь: кто отвечает за принятое и выдержит ли порядок работы проверку исходом. Заметьте, насколько он другого разряда, чем вопросы предыдущих стадий. Там спрашивали «звать ли на обследование», «что измерено», «чем объясняется найденное», «вмешиваться сейчас». Здесь спрашивают о самой конструкции, внутри которой все те вопросы решались.</a:t>
            </a:r>
          </a:p>
          <a:p>
            <a:r>
              <a:t/>
            </a:r>
          </a:p>
          <a:p>
            <a:r>
              <a:t>Как эти сведения получают — пять источников, и ни одного нового факта о пациенте среди них. Стадия ничего не измеряет, она извлекает. Из карты со всеми заключениями и подписями. Из протоколов исследований. Из журнала системы, где видно, что именно показала модель и в какой момент она это показала — момент здесь важен не меньше содержания, потому что подсказка, пришедшая после решения врача, и подсказка, пришедшая до него, значат разное. Из утверждённого порядка оказания помощи и клинических рекомендаций — документов, с которыми сверяют. И отдельным источником — из документации, поданной регулятору, когда изделие допускали к применению.</a:t>
            </a:r>
          </a:p>
          <a:p>
            <a:r>
              <a:t/>
            </a:r>
          </a:p>
          <a:p>
            <a:r>
              <a:t>Решение, которое стадия принимает, двойное, и вторая его половина интереснее первой. Первая: кто отвечает за принятое. Вторая: что меняется в порядке работы, когда разбор нашёл расхождение. Расхождение, которое повторяется, становится основанием поправить документ — порядок оказания помощи, внутренний регламент отделения, форму листа наблюдения, порог эскалации. Процедура переводит разбор с личности на документ, и в этом её главное инженерное свойство.</a:t>
            </a:r>
          </a:p>
          <a:p>
            <a:r>
              <a:t/>
            </a:r>
          </a:p>
          <a:p>
            <a:r>
              <a:t>И теперь то, из-за чего эта стадия вообще стоит отдельным разделом, а не шагом в ряду. В ряд она не становится. Отбор идёт до исследования, исследование до диагноза, наблюдение после решения — у них есть порядок, и его можно проверить. У этой стадии порядка нет, потому что она идёт поперёк всех остальных сразу. Подпись ставят на каждой стадии. Согласие берут до вмешательства. Разбор приходит после исхода — любого, на любой стадии. Допуск изделия лежит вообще над всем циклом, до того, как изделие впервые включили. Поставить это шагом между наблюдением и чем-нибудь ещё значило бы соврать о том, как оно работает.</a:t>
            </a:r>
          </a:p>
          <a:p>
            <a:r>
              <a:t/>
            </a:r>
          </a:p>
          <a:p>
            <a:r>
              <a:t>Отсюда и свойство, которое стоит забрать с собой в любую отрасль, не только в медицину. Каждый из этих механизмов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И следствие для всякого внедрения модели, которым этот раздел дальше и занят. Модель входит в процесс, у которого механизм удержания цены ошибки уже есть, и рассчитан он на человеческую ошибку определённого вида: усталость, спешку, пробел в знании, невнимательность. Машинная ошибка устроена иначе — она уверенная, связная и повторяющаяся на всех похожих случаях. Механизм, рассчитанный на один вид ошибки, не обязан поймать другой, и проверять это надо измерением, а не рассуждением.</a:t>
            </a:r>
          </a:p>
          <a:p>
            <a:r>
              <a:t/>
            </a:r>
          </a:p>
          <a:p>
            <a:r>
              <a:t>И ещё один вопрос раздел задаст самой процедуре, а не модели, — тот, который обычно не задают вовсе. Разбор случая сверяет действие врача с утверждённым порядком. Но сам этот разбор — одинаково ли он смотрит на врача, который с подсказкой согласился, и на врача, который ей возразил? Вопрос звучит умозрительным, пока его не измерили. Его измерили.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Кто в этой комнате и что перед ними. За столом заместитель главного врача — председатель, заведующий отделением, двое врачей той же специальности из другого отделения, эксперт по качеству помощи и секретарь. На столе карта со всеми заключениями и подписями, протоколы исследований, распечатка вывода модели с указанием момента, когда она его показала, утверждённый порядок оказания помощи и клинические рекомендации. Момент показа здесь значит не меньше содержания: подсказка, пришедшая до решения врача, и подсказка, пришедшая после, — разные обстоятельства дела.</a:t>
            </a:r>
          </a:p>
          <a:p>
            <a:r>
              <a:t/>
            </a:r>
          </a:p>
          <a:p>
            <a:r>
              <a:t>Действий у стадии семь, и каждое записано в документе — в порядке оказания помощи, в регламенте отделения, в нормативном акте. Первое: подписать заключение. Второе: взять информированное согласие. Третье: прочесть вторым читателем независимо. Четвёртое: разрешить расхождение арбитражем. Пятое: собрать комиссию. Шестое: сверить действия с утверждённым порядком. Седьмое: поправить порядок по итогам разбора. Перечень этот со сцены не читается подряд — он нужен, чтобы ответить на вопрос, в какое из семи действий входит модель; ответ — ни в одно.</a:t>
            </a:r>
          </a:p>
          <a:p>
            <a:r>
              <a:t/>
            </a:r>
          </a:p>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 717 радиологических изделий, допущенных к обращению (срез июнь 2024).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и процедура эта из двух шагов.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механизм, независимое второе мнение с арбитражем, разобран кадром раньше, и здесь важно одно его свойство: независимость теряется в тот момент, когда оба читателя видят одну и ту же машинную подсказку.</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Про само изделие сказать почти нечего, и это тоже факт о работе: ни имени, ни обучающего набора она не печатает. Вход — серия магнитно-резонансных снимков коленного сустава, выход — заключение о разрыве передней крестообразной связки; ассистент лабораторный, не выведенный на рынок продукт.</a:t>
            </a:r>
          </a:p>
          <a:p>
            <a:r>
              <a:t/>
            </a:r>
          </a:p>
          <a:p>
            <a:r>
              <a:t>Теперь цена. 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это и предложили, и приложили число — снижение остаточных ошибок на сорок один и семь десятых процента. Число получено расчётом: взяли два уже собранных раунда, чтение без подсказки и чтение с подсказкой,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исчезнет вместе с подсказкой. Поэтому знак итогового эффекта неизвестен, и говорить «нашли решение» нельзя.</a:t>
            </a:r>
          </a:p>
          <a:p>
            <a:r>
              <a:t/>
            </a:r>
          </a:p>
          <a:p>
            <a:r>
              <a:t>Отсюда ответ на пятый вопрос разбора — что переехало. Переехать здесь нечему, и формы словаря у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на восемьдесят один и два десятых процента.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дорогая процедура удержания здесь не нужна. Там, где цена промаха мала, она не окупается — и это такой же вывод, как все остальные.</a:t>
            </a:r>
          </a:p>
          <a:p>
            <a:r>
              <a:t/>
            </a:r>
          </a:p>
          <a:p>
            <a:r>
              <a:t>**Источники.** </a:t>
            </a:r>
            <a:r>
              <a:rPr u="sng">
                <a:solidFill>
                  <a:srgbClr val="065A82"/>
                </a:solidFill>
                <a:hlinkClick r:id="rId3"/>
              </a:rPr>
              <a:t>Wang D. Y., Ding J., Sun A. L. и соавт., JAMIA 2023;30(10):1684–1692, DOI 10.1093/jamia/ocad118</a:t>
            </a:r>
            <a:r>
              <a:t> · разбор алгоритмического планирования смен медсестёр</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 Два знаменателя стоит держать врозь и произносить каждый со своим: 56 считаются от 717, 924 — от 950, и смешать их значило бы получить третье число, которого не измерял никто.</a:t>
            </a:r>
          </a:p>
          <a:p>
            <a:r>
              <a:t/>
            </a:r>
          </a:p>
          <a:p>
            <a:r>
              <a:t>Сила свидетельства разная для факта и для вывода. Для самого факта она сильная: это обзор поданной документации, и число пересчитывается по первоисточнику.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Что переехало в этом разборе — названо одной формой, и форма эта седьмая. Работа не переехала на другой шаг, не выросла в объёме и не досталась другой руке: переехала цена промаха в ней. Подпись осталась человеческой, основание решения пришло извне, а проверка способности возразить этому основанию при допуске не делалась у девяноста двух изделий из ста. Пара «дало — потребовало» читается здесь так: дало — требование сформулировано словами, которых раньше не было, и сформулировано проверяемо; потребовало — свидетельства исполнения, которого при допуске нет, и значит исполнение остаётся на организации, купившей изделие.</a:t>
            </a:r>
          </a:p>
          <a:p>
            <a:r>
              <a:t/>
            </a:r>
          </a:p>
          <a:p>
            <a:r>
              <a:t>Почему этот разбор подан с конца. Конец у него и есть результат: восемь изделий из ста. Счёт, из которого эта подпись сложилась, стоит следом — цена обеих ошибок, два классических режима и минуты труда, которых стоит двойное чтение. Прочитанный в обычном порядке, разбор кончался бы нормой и числом, а начинался бы минутами; прочитанный с конца, он сначала называет цену, а потом показывает, из чего она собрана.</a:t>
            </a:r>
          </a:p>
          <a:p>
            <a:r>
              <a:t/>
            </a:r>
          </a:p>
          <a:p>
            <a:r>
              <a:t>Вопрос залу стоит задать и подождать ответа: подпись под машинным решением есть в очень многих рабочих контурах — от согласования заявки до приёмки сборки, — а проверка того, что подписывающий физически успевает прочитать то, что подписывает, не делается почти ни в одном из них. Ответ «никто не проверял» здесь обычный, и он по существу.</a:t>
            </a:r>
          </a:p>
          <a:p>
            <a:r>
              <a:t/>
            </a:r>
          </a:p>
          <a:p>
            <a:r>
              <a:t>**Источники.** </a:t>
            </a:r>
            <a:r>
              <a:rPr u="sng">
                <a:solidFill>
                  <a:srgbClr val="065A82"/>
                </a:solidFill>
                <a:hlinkClick r:id="rId3"/>
              </a:rPr>
              <a:t>обзор поданной регуляторам документации, JAMA Network Open 2025;8(11):e2542338, срез июнь 2024</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и в прочтении с конца она приходит второй — но от места в рассказе не меняется.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 Со сцены это проговаривается обязательно: две величины считаются от разных знаменателей, и подмена одной другой превращает прирост в несопоставимое число. Две эти величины считаются от разных знаменателей, и названы они врозь нарочно.</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потому что по медианам и по средним выходит разное, и выбор одного из двух был бы выбором удобного.</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и это управляемый параметр, а не свойство модели. Поэтому среднее произносится вместе с разбросом: без него оно читается как отраслевая норма, которой нет.</a:t>
            </a:r>
          </a:p>
          <a:p>
            <a:r>
              <a:t/>
            </a:r>
          </a:p>
          <a:p>
            <a:r>
              <a:t>Теперь то, ради чего эти минуты посчитаны. Чтение подешевело: человеческих первичных чтений стало вдвое меньше, и каждое из них стоило 48 секунд. Разбор расхождения не подешевел — он остался человеческой операцией прежней цены, и объём его вырос. Вывод от величин при этом не зависит: экономия на одном шаге не обязана компенсировать рост другого, и счёт в одной валюте для этой пары никто не делал. Утверждать «в сумме выгодно» или «в сумме дороже» на этих числах нельзя; что можно — назвать оба движения и их направления.</a:t>
            </a:r>
          </a:p>
          <a:p>
            <a:r>
              <a:t/>
            </a:r>
          </a:p>
          <a:p>
            <a:r>
              <a:t>И последнее, что связывает этот счёт с тем, чем разбор кончился. Подпись, которую норма требует держать человеку, держится не на присутствии, а на минутах: на том, что подписывающий успевает прочитать и разобрать. Минуты здесь посчитаны, и они растут; проверка способности возразить при допуске не делалась у девяноста двух изделий из ста. Два этих факта стоят рядом и читаются вместе: минуты растут у того, чья способность возразить не проверялась. Вот это и есть вся цена подписи, посчитанная в единицах, которые можно сложить и предъявить.</a:t>
            </a:r>
          </a:p>
          <a:p>
            <a:r>
              <a:t/>
            </a:r>
          </a:p>
          <a:p>
            <a:r>
              <a:t>**Источники.** </a:t>
            </a:r>
            <a:r>
              <a:rPr u="sng">
                <a:solidFill>
                  <a:srgbClr val="065A82"/>
                </a:solidFill>
                <a:hlinkClick r:id="rId3"/>
              </a:rPr>
              <a:t>Hovda, Holen, Hofvind, European Radiology 2026, DOI 10.1007/s00330-025-12273-x</a:t>
            </a:r>
            <a:r>
              <a:t> · </a:t>
            </a:r>
            <a:r>
              <a:rPr u="sng">
                <a:solidFill>
                  <a:srgbClr val="065A82"/>
                </a:solidFill>
                <a:hlinkClick r:id="rId4"/>
              </a:rPr>
              <a:t>Warren L. M. и соавт., Nature Cancer 2026, DOI 10.1038/s43018-026-01128-z</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 717 радиологических изделий, допущенных к обращению (срез июнь 2024),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a:p>
            <a:r>
              <a:t/>
            </a:r>
          </a:p>
          <a:p>
            <a:r>
              <a:t>Теперь то, что делает этот шов дорогим не в теории, а в измерении. Разбор случая после исхода — процедура, которой медицина и держит цену ошибки: собирается комиссия, сверяет действия человека с утверждёнными порядками и решает, разумно ли он поступил. Вопрос, который до сих пор никто не задавал этой процедуре вслух: а как она сама относится к тому, согласился человек с подсказкой или возразил ей.</a:t>
            </a:r>
          </a:p>
          <a:p>
            <a:r>
              <a:t/>
            </a:r>
          </a:p>
          <a:p>
            <a:r>
              <a:t>Ответ измерен, и измерен предрегистрированным испытанием со случайным распределением. Участникам давали один и тот же случай, менялось одно: принял врач машинную подсказку или отверг её. Врача, который принял подсказку в пользу стандартного лечения, оценивают как более разумного, чем того, кто её отверг. Так оценивают взрослые жители двух стран — и, отдельной выборкой, двести сорок восемь немецких врачей, то есть ровно та сторона, которую порядок разбора и назначает разбирать случай коллеги. Величина эффекта небольшая и значимая; предшествующее испытание 2021 года на двух тысячах взрослых дало то же направление.</a:t>
            </a:r>
          </a:p>
          <a:p>
            <a:r>
              <a:t/>
            </a:r>
          </a:p>
          <a:p>
            <a:r>
              <a:t>У этого измерения есть вторая половина, и без неё его нельзя произносить. Защитный эффект согласия появляется только тогда, когда подсказка советует стандартное лечение. При нестандартной рекомендации разницы между принявшим и отвергнувшим нет, и это проверено на равнозначность, а не выведено из отсутствия значимости. То есть выгодно не «соглашаться с машиной» вообще, а соглашаться с машиной там, где она советует то, что и так принято. Оговорка разряда тоже обязательна: оценивается разумность поведения в задании, а не исход настоящего иска.</a:t>
            </a:r>
          </a:p>
          <a:p>
            <a:r>
              <a:t/>
            </a:r>
          </a:p>
          <a:p>
            <a:r>
              <a:t>Зачем это сказано здесь, а не в перечне адресов платежа. Адреса — внимание, навык, подпись, арбитраж — называют, чем платят. Это измерение называет не адрес, а причину, по которой платят именно подписью. Поставить его пятым в тот же ряд значило бы смешать два разряда в одном перечне.</a:t>
            </a:r>
          </a:p>
          <a:p>
            <a:r>
              <a:t/>
            </a:r>
          </a:p>
          <a:p>
            <a:r>
              <a:t>И что из него следует для четвёртой ступени участия. До этого места «подписывает не глядя» читалось как упрёк — человек поленился. С этим числом ступень читается иначе: подписать дешевле, чем не согласиться и ошибиться. Поведение рациональное, и поменять его призывом нельзя — меняется оно только там, где меняют сам порядок разбора. Формальное требование участия человека, не подкреплённое изменённым порядком разбора, отменяет себя само: оно требует способности возразить и одновременно делает возражение самым дорогим из доступных ходов.</a:t>
            </a:r>
          </a:p>
          <a:p>
            <a:r>
              <a:t/>
            </a:r>
          </a:p>
          <a:p>
            <a:r>
              <a:t>Приложим шов к женщине с письмом. Если по её случаю через год соберут комиссию, перед комиссией будет один вопрос: соответствовали ли действия человека утверждённым порядкам. Вопроса о модели в этом списке нет — ни о том, какой версией читали её снимок, ни о том, что показала подсказка, ни о том, кто её обучал. Разработчик к этому разбору не вызывается и ответственности за решение о ней не несёт, хотя именно он держит данные, порог и обновления.</a:t>
            </a:r>
          </a:p>
          <a:p>
            <a:r>
              <a:t/>
            </a:r>
          </a:p>
          <a:p>
            <a:r>
              <a:t>**Источники.** </a:t>
            </a:r>
            <a:r>
              <a:rPr u="sng">
                <a:solidFill>
                  <a:srgbClr val="065A82"/>
                </a:solidFill>
                <a:hlinkClick r:id="rId3"/>
              </a:rPr>
              <a:t>Tacconelli и соавт., How Following Medical AI Advice Can Mitigate Malpractice Liability, Journal of Nuclear Medicine 2026;67(9):1474–1480</a:t>
            </a:r>
            <a:r>
              <a:t> — предрегистрированное испытание со случайным распределением: 248 немецких врачей и взрослые двух стран · </a:t>
            </a:r>
            <a:r>
              <a:rPr u="sng">
                <a:solidFill>
                  <a:srgbClr val="065A82"/>
                </a:solidFill>
                <a:hlinkClick r:id="rId4"/>
              </a:rPr>
              <a:t>предшественник, Tobia и соавт., там же 2021;62(1):17–21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формулировку, которая сильнее любого предостережения, и про то, чего в ней нет.</a:t>
            </a:r>
          </a:p>
          <a:p>
            <a:r>
              <a:t/>
            </a:r>
          </a:p>
          <a:p>
            <a:r>
              <a:t>Политика принята Палатой делегатов американской врачебной ассоциации двенадцатого ноября две тысячи двадцать четвёртого года; документ на двадцать две страницы, и пункт один-ж в нём — то, ради чего документ здесь. Он говорит две вещи подряд. Первая: клинические решения, на которые повлияла модель, обязаны иметь назначенные точки квалифицированного человеческого вмешательства. Это обычная формула, её пишут все. Вторая — та, ради которой кадр и стоит: квалифицированный человек определяется как лицензированный врач, обладающий квалификацией и подготовкой, достаточными, чтобы оказать ту же медицинскую услугу самостоятельно, без помощи модели.</a:t>
            </a:r>
          </a:p>
          <a:p>
            <a:r>
              <a:t/>
            </a:r>
          </a:p>
          <a:p>
            <a:r>
              <a:t>Разберём, что это определение делает. Весь вечер мы разбирали износ навыка как расход: врач работает с помощником, и его собственный результат без помощника падает. Это неприятно, но звучит как вопрос профессиональной гигиены. Здесь то же сказано как условие пригодности человека к той роли, которую норма ему назначила. Человек в контуре нужен не для присутствия, а чтобы вмешаться; вмешаться может только тот, кто умеет сделать работу сам; значит врач, разучившийся работать без подсказки, формально перестаёт быть тем человеком, которого требует норма. Схема при этом выглядит исправной: подпись стоит, точка вмешательства назначена, документы в порядке.</a:t>
            </a:r>
          </a:p>
          <a:p>
            <a:r>
              <a:t/>
            </a:r>
          </a:p>
          <a:p>
            <a:r>
              <a:t>Сопоставьте это с разбором доли обнаружения. Девятнадцать эндоскопистов со средним стажем двадцать восемь лет, четыре центра, процедуры без помощника: двадцать восемь целых четыре десятых из ста до внедрения и двадцать две целых четыре десятых после. Разряд свидетельства там низкий, повторения нет, и мы это произносим вслух каждый раз. Но прочитанное рядом с определением квалифицированного человека это измерение меняет жанр: оно перестаёт быть наблюдением о привычках врача и становится замером того, выполняется ли норма.</a:t>
            </a:r>
          </a:p>
          <a:p>
            <a:r>
              <a:t/>
            </a:r>
          </a:p>
          <a:p>
            <a:r>
              <a:t>Та же политика в том же документе требует от разработчика раскрывать происхождение, объём и временные границы обучающих данных, точность разметки, данные внешней проверки с учётом сдвига и деградации модели и наблюдение после выпуска. То есть в части изделия документ подробен до перечня. А в части человека он ограничивается определением.</a:t>
            </a:r>
          </a:p>
          <a:p>
            <a:r>
              <a:t/>
            </a:r>
          </a:p>
          <a:p>
            <a:r>
              <a:t>И теперь то, чего в нём нет, — и это надо произнести ровно так же твёрдо, как саму формулу. Порога нет: не сказано, какая доля самостоятельных прочтений считается достаточной. Срока нет: не сказано, как часто способность работать без подсказки надо подтверждать. Процедуры нет: не сказано, кто и чем эту способность проверяет. Документ, который делает навык условием законности, не даёт ни одного способа узнать, выполнено ли условие.</a:t>
            </a:r>
          </a:p>
          <a:p>
            <a:r>
              <a:t/>
            </a:r>
          </a:p>
          <a:p>
            <a:r>
              <a:t>Сравните с тем, как устроена проверка изделия. У изделия есть заявленное назначение, клинические данные, досье, надзор после допуска и отзыв с рынка. У человека, от которого зависит законность всей схемы, нет ни заявленного назначения, ни досье, ни надзора. Мы уже видели этот перекос числом: способность вмешаться проверяли у пятидесяти шести изделий из семисот семнадцати. Здесь он виден с другой стороны: даже там, где требование к человеку сформулировано точнее всего, измерять его никто не поручил.</a:t>
            </a:r>
          </a:p>
          <a:p>
            <a:r>
              <a:t/>
            </a:r>
          </a:p>
          <a:p>
            <a:r>
              <a:t>Что из этого берёт инженер, который строит контур. Определение годится как рабочий критерий, и применять его можно сразу, не дожидаясь, пока кто-нибудь назначит порог. Если в вашем контуре человеку отведена точка вмешательства, спросите, умеет ли этот человек сделать ту же работу без модели, и чем это подтверждено. Если ответа нет, точка вмешательства в вашем контуре уже стоит формально. И второй вопрос, следующий из той же формулы: что в контуре устроено так, чтобы умение сохранялось. Доля случаев, которые проходят разбор вручную, и собственное мнение, записанное до показа подсказки, — два названных способа, и оба упоминаются в государственных документах по этой теме без единого числа.</a:t>
            </a:r>
          </a:p>
          <a:p>
            <a:r>
              <a:t/>
            </a:r>
          </a:p>
          <a:p>
            <a:r>
              <a:t>**Источники.** </a:t>
            </a:r>
            <a:r>
              <a:rPr u="sng">
                <a:solidFill>
                  <a:srgbClr val="065A82"/>
                </a:solidFill>
                <a:hlinkClick r:id="rId3"/>
              </a:rPr>
              <a:t>Политика Американской медицинской ассоциации о разработке, развёртывании и применении дополненного интеллекта в медицине, принята Палатой делегатов 12 ноября 2024 года, пункт 1(g)</a:t>
            </a:r>
            <a:r>
              <a:t>. Дословная формулировка пункта: «A qualified human is defined as a licensed physician with the necessary qualifications and training to independently provide the same medical service without the aid of AI».</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предварительно утверждённых изменений модели, декабрь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B. и соавт., JAMA Health Forum 2025;6(8):e253172, срез ноябрь 2024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ячейки своя база. Каждый пункт свода здесь — ссылка на разобранный кадр, а не новое утверждение: если число в своде вызывает вопрос, ответ стоит искать на кадре, откуда оно пришло, вместе с его знаменателем и разрядом свидетельства.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ячейка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физического лица — права подписи у модели нет ни в одной из рассмотренных стран, и это не формальность, а основание, на котором стоит вся конструкция раздела. Двойное чтение с арбитражем там, где второго читателя не заменили: механизм рабочий, и ломает его именно замена, а не сам инструмент. Разбор случая после исхода и правка порядка по его итогам — единственный из трёх механизмов, который меняет не поведение одного человека, а документ, по которому работают все.</a:t>
            </a:r>
          </a:p>
          <a:p>
            <a:r>
              <a:t/>
            </a:r>
          </a:p>
          <a:p>
            <a:r>
              <a:t>И то, чего свод не говорит, хотя читается, будто говорит. Ни одно из этих чисел не складывается с другим: прирост доли верных заключений посчитан против одного читателя, минуты труда — в национальной программе двойного чтения, доля изделий без проверки — по поданной документации. Три разные работы, три разных знаменателя. Свод ставит их рядом, чтобы показать направление, и не даёт права на арифметику между ними.</a:t>
            </a:r>
          </a:p>
          <a:p>
            <a:r>
              <a:t/>
            </a:r>
          </a:p>
          <a:p>
            <a:r>
              <a:t>Контраст с прошлой лекцией предъявляется прямо: там требований к искусственному интеллекту внутри промышленных изделий не было вовсе, здесь документ есть — с документами, сроками и измеримым исполнением.</a:t>
            </a:r>
          </a:p>
          <a:p>
            <a:r>
              <a:t/>
            </a:r>
          </a:p>
          <a:p>
            <a:r>
              <a:t>И то, чем раздел кончается, произносится вслух, потому что следующий раздел начинается именно с этого. Удерживает не сама подпись, а то, что стоит за ней: время прочитать вывод, способность с ним не согласиться и процедура, в которой это несогласие что-то меняет. Где за подписью ничего из этого нет, цена ошибки переезжает на того, кто не подписывал. Своего места в сетке задач у стадии нет и быть не может: подписывать модели нечем. Мерят здесь другое — ловит ли процедура, рассчитанная на ошибку человека, ошибку машинную.</a:t>
            </a:r>
          </a:p>
          <a:p>
            <a:r>
              <a:t/>
            </a:r>
          </a:p>
          <a:p>
            <a:r>
              <a:t>**Источники.** </a:t>
            </a:r>
            <a:r>
              <a:rPr u="sng">
                <a:solidFill>
                  <a:srgbClr val="065A82"/>
                </a:solidFill>
                <a:hlinkClick r:id="rId3"/>
              </a:rPr>
              <a:t>обзор поданной регуляторам документации по радиологическим изделиям, JAMA Network Open 2025;8(11):e2542338, срез июнь 2024</a:t>
            </a:r>
            <a:r>
              <a:t> · </a:t>
            </a:r>
            <a:r>
              <a:rPr u="sng">
                <a:solidFill>
                  <a:srgbClr val="065A82"/>
                </a:solidFill>
                <a:hlinkClick r:id="rId4"/>
              </a:rPr>
              <a:t>Hovda, Holen, Hofvind, European Radiology 2026, DOI 10.1007/s00330-025-12273-x</a:t>
            </a:r>
            <a:r>
              <a:t> · </a:t>
            </a:r>
            <a:r>
              <a:rPr u="sng">
                <a:solidFill>
                  <a:srgbClr val="065A82"/>
                </a:solidFill>
                <a:hlinkClick r:id="rId5"/>
              </a:rPr>
              <a:t>Wang D. Y. и соавт., JAMIA 2023;30(10):1684–1692</a:t>
            </a:r>
            <a:r>
              <a:t> · </a:t>
            </a:r>
            <a:r>
              <a:rPr u="sng">
                <a:solidFill>
                  <a:srgbClr val="065A82"/>
                </a:solidFill>
                <a:hlinkClick r:id="rId6"/>
              </a:rPr>
              <a:t>Регламент (ЕС) 2024/1689, статья 14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полной форме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 последнее про женщину с письмом, потому что это прямо её случай. Падение доли обнаружения измерено на эндоскопии: там у врача есть собственный числовой показатель, который считают из обычной работы. У того, кто читает её снимок, такого показателя нет, и отключить помощника, чтобы посмотреть, что стало с его рукой, не пробовал никто. Это и означает «измерения нет»: не «измерено, что ничего не портится», а «не смотрели».</a:t>
            </a:r>
          </a:p>
          <a:p>
            <a:r>
              <a:t/>
            </a:r>
          </a:p>
          <a:p>
            <a:r>
              <a:t>**Источники.** </a:t>
            </a:r>
            <a:r>
              <a:rPr u="sng">
                <a:solidFill>
                  <a:srgbClr val="065A82"/>
                </a:solidFill>
                <a:hlinkClick r:id="rId3"/>
              </a:rPr>
              <a:t>METR, обновление замера, 24 февраля 2026</a:t>
            </a:r>
          </a:p>
          <a:p>
            <a:r>
              <a:t/>
            </a:r>
          </a:p>
          <a:p>
            <a:r>
              <a:t>Оговорка про режим инструмента, снятая с кадра: средство с поправкой прогноза найдено не на подсветке и не на втором чтении, а на совсем другом классе инструмента, поэтому переносить его к нам надо как устройство интерфейса, а не как свойство режима. Режим говорит, где инструмент стоит в работе; возможность поправить вывод — это про то, как он с человеком разговаривает, и прикладывается она к любому режиму.</a:t>
            </a:r>
          </a:p>
          <a:p>
            <a:r>
              <a:t/>
            </a:r>
          </a:p>
          <a:p>
            <a:r>
              <a:t>Про разряд числа «от тридцати до пятидесяти из ста опытных разработчиков отказываются работать без помощника»: это величина опросная — так сказали сами участники, телеметрии за их словами нет. Опрос меряет то, что человек о себе думает, а не то, что он делает; для нашей линии он годится как указание на размер явления и не годится как измерение.</a:t>
            </a:r>
          </a:p>
          <a:p>
            <a:r>
              <a:t/>
            </a:r>
          </a:p>
          <a:p>
            <a:r>
              <a:t>Различение «измерения нет» и «измерено, что эффекта нет» — несущее для всего вечера, и здесь оно применяется к себе. Первое означает, что никто не смотрел; второе — что смотрели и не нашли. Утверждать по первому, что эффекта нет, значит делать ровно ту ошибку, за которую лекция разбирает чужие заявления. Про доверие врача к модели за месяцы реальной работы у нас первое: таких измерений нет ни у кого, и это не фигура речи, а результат сплошного поиска.</a:t>
            </a:r>
          </a:p>
          <a:p>
            <a:r>
              <a:t/>
            </a:r>
          </a:p>
          <a:p>
            <a:r>
              <a:t>Про женщину с письмом. Весь разбор износа навыка снят на эндоскопии — на процедуре, где рука работает в реальном времени. Того, кто читает её снимок, без помощника не измерял никто, и переносить на него эндоскопическое падение нельзя: другая работа, другой темп, другая обратная связь. Пробел этот называется вслух именно потому, что соблазн перенести велик.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рядом две вещи: чего нет у мировых программ обучения и почему мы всё-таки произносим слабое измерение вместо того, чтобы молчать.</a:t>
            </a:r>
          </a:p>
          <a:p>
            <a:r>
              <a:t/>
            </a:r>
          </a:p>
          <a:p>
            <a:r>
              <a:t>Начнём с чертежа. Отчёт государственного органа образования Англии вместе с лабораторией ИИ национальной службы здравоохранения, май двадцать второго года, девяносто страниц. Это не курс, а основание для курса, и по содержанию он сильнее всего, что есть в собранном корпусе: именно там лежит единственная таксономия искажений на стороне врача, и устроена она парами в обе стороны — склонность принять подсказку без критики и склонность отвергнуть её без рассмотрения, согласие потому, что совпало с интуицией, и отказ потому, что не совпал. Ни одна из двух с лишним десятков прочитанных программ этой парности не передаёт: везде, где тема есть, она подана односторонне, как «не доверяй слишком».</a:t>
            </a:r>
          </a:p>
          <a:p>
            <a:r>
              <a:t/>
            </a:r>
          </a:p>
          <a:p>
            <a:r>
              <a:t>И в этом самом документе тема доведена до графика. На осях — уверенность пользователя и уместная уверенность, обе в процентах. Поля под осями нет. То есть автор знал, что именно надо измерить, назвал величины, нарисовал рамку — и остановился там, где должны были встать точки.</a:t>
            </a:r>
          </a:p>
          <a:p>
            <a:r>
              <a:t/>
            </a:r>
          </a:p>
          <a:p>
            <a:r>
              <a:t>Теперь счёт по остальному корпусу, и он сделан сплошным проходом по полным текстам, а не впечатлением. Силлабус четырёх врачебных обществ двадцать пятого года — программа по четырём ролям, шесть тысяч сто девяносто шесть слов. Слова «износ навыка», «якорение», «самоуспокоение», «чрезмерное доверие» — ноль вхождений каждое. Слово «нагрузка» — тоже ноль. Крупнейшая врачебная программа по ИИ, пятьдесят четыре с половиной кредита непрерывного образования, шестьдесят часов: на эту тему в ней одно видео на пять минут, то есть ноль целых пятнадцать сотых процента программы. Обзор рынка обучающих программ двадцать первого года: ноль вхождений. Белая книга европейского общества радиологов описывает механизм подробно и не приводит ни одного числа.</a:t>
            </a:r>
          </a:p>
          <a:p>
            <a:r>
              <a:t/>
            </a:r>
          </a:p>
          <a:p>
            <a:r>
              <a:t>А теперь другая сторона того же разрыва. Поиск в медицинском указателе по этой теме — искажение внимания и самоуспокоение у врачей, с ограничением на опыты и испытания — даёт больше тысячи совпадений. Оговорка обязательна и стоит на самом кадре: читался указатель, то есть названия, журналы, годы и опознаватели; полные тексты в рамках этой разведки не читались, и в доказательство по содержанию это не берётся. Но для утверждения, которое кадр делает, этого достаточно: работы существуют, и их много. Разрыв не между «измерено» и «не измерено», а между измеренным и тем, что доходит до программы обучения.</a:t>
            </a:r>
          </a:p>
          <a:p>
            <a:r>
              <a:t/>
            </a:r>
          </a:p>
          <a:p>
            <a:r>
              <a:t>Зачем это студенту, который не собирается ни в медицину, ни в преподавание. Затем, что такой разрыв узнаётся по признаку, а не по отрасли. Если тема объявлена во всех документах, описана механизмом и ни в одном не имеет величины, значит её никто не мерил или никто не захотел переносить измерение в требование. Любая ваша будущая предметная область устроена так же: частое утверждение в документах и измеренное утверждение — разные вещи.</a:t>
            </a:r>
          </a:p>
          <a:p>
            <a:r>
              <a:t/>
            </a:r>
          </a:p>
          <a:p>
            <a:r>
              <a:t>И про нас самих, потому что честнее сказать это здесь, чем в закрытии. Наше собственное единственное измерение износа навыка на реальной работе — ретроспективное, наблюдательное, снятое один раз в одной стране и оспоренное в печати тремя письмами. Мы произносим эти оговорки каждый раз, когда называем числа двадцать восемь целых четыре десятых и двадцать две целых четыре десятых. Можно было бы вовсе его не брать — и тогда на этом месте у нас стояли бы те же пустые оси, что у самого подробного документа корпуса. Слабое измерение, названное слабым, стоит дороже сильного вывода без измерения; выбор между ними — и есть предмет этого вечера.</a:t>
            </a:r>
          </a:p>
          <a:p>
            <a:r>
              <a:t/>
            </a:r>
          </a:p>
          <a:p>
            <a:r>
              <a:t>Что именно подписано на осях единственного чертежа темы: уверенность пользователя против уместной уверенности, обе в процентах. То есть автор дошёл до того, чтобы назвать обе величины и привести их к одной шкале, — и остановился, потому что точек под ними нет ни одной. Счёт по силлабусам сделан сплошной: полный текст четырёх врачебных обществ, 6 196 слов, ноль вхождений трёх терминов.</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ячеек окна — это четыре строки задач на три вида данных. За пять разделов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a:p>
            <a:r>
              <a:t/>
            </a:r>
          </a:p>
          <a:p>
            <a:r>
              <a:t>Отдельно оговорить границу раздела, снятую с кадра: производство лекарственной формы на линии сюда не входит — это отдельная лекция курса. Здесь речь только о том, как вещество находят и доводят до испытаний, а не о том, как его потом делают тоннами.</a:t>
            </a:r>
          </a:p>
          <a:p>
            <a:r>
              <a:t/>
            </a:r>
          </a:p>
          <a:p>
            <a:r>
              <a:t>**Источники.** </a:t>
            </a:r>
            <a:r>
              <a:rPr u="sng">
                <a:solidFill>
                  <a:srgbClr val="065A82"/>
                </a:solidFill>
                <a:hlinkClick r:id="rId3"/>
              </a:rPr>
              <a:t>BIO, QLS и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стоит не внутри цикла помощи человеку, а выше него по течению: здесь появляется то, что на стадии назначения потом назначают. Поэтому и предмет замера здесь другой — не человек, а вещество, и решение принимается не о пациенте.</a:t>
            </a:r>
          </a:p>
          <a:p>
            <a:r>
              <a:t/>
            </a:r>
          </a:p>
          <a:p>
            <a:r>
              <a:t>Какие данные получают и чем. Связи «мишень — болезнь — препарат» берут из литературы и баз; строение молекулы — из синтеза и расчёта; поведение вещества — из опытов на культурах клеток и животных; и только потом идут наблюдения у людей, сначала у здоровых добровольцев, затем у пациентов. Способов семь, и они дают разное по цене и по сроку: расчёт на машине стоит часов, опыт на животных — месяцев, наблюдение у пациентов — лет.</a:t>
            </a:r>
          </a:p>
          <a:p>
            <a:r>
              <a:t/>
            </a:r>
          </a:p>
          <a:p>
            <a:r>
              <a:t>Путь складывается из шагов, и у каждого свой исполнитель. Мишень — что в организме надо затронуть, чтобы болезнь пошла иначе; выбирают биологи. Молекула — вещество, которое на эту мишень действует; подбирают химики. Доклиника — проверка на культурах клеток и животных: работает ли, не убивает ли, как выводится. Фаза I — впервые на человеке, обычно на здоровых добровольцах, и вопрос один: переносимость. Фаза II — на пациентах, вопрос другой: работает ли вообще и в какой дозе. Фаза III — на больших выборках, подтверждение эффекта и редких нежелательных явлений. Затем заявка и регистрация.</a:t>
            </a:r>
          </a:p>
          <a:p>
            <a:r>
              <a:t/>
            </a:r>
          </a:p>
          <a:p>
            <a:r>
              <a:t>Чтобы «фаза II» перестала быть словом, стоит посмотреть на работу руками. Химик-синтетик ставит реакцию и получает миллиграммы вещества. Тот же порошок через полгода едет в виварий на токсикологию: доза, переносимость, патология органов у животных. Ещё через год координатор исследования сидит с одним здоровым добровольцем и часами пишет наблюдения в карту первой фазы. Три человека, три места, одно вещество, и между первым эпизодом и третьим проходит около двух лет.</a:t>
            </a:r>
          </a:p>
          <a:p>
            <a:r>
              <a:t/>
            </a:r>
          </a:p>
          <a:p>
            <a:r>
              <a:t>Отсюда и ответ, почему стадия стоит именно здесь, а не шагом внутри цикла. Шаг, на который приходится вычисление, один, и он в начале, у химика и биолога. Весь остальной путь делают руками люди, и его длина от вычислений не зависит вовсе. Классический путь «мишень → клинический кандидат» занимает четыре-пять лет по отраслевой норме, медиана «основание компании → начало первой фазы» — шесть с половиной лет, а между решением и подтверждением здесь лежит порядка десяти лет и больше, считая наблюдение после выхода на рынок. Такой задержки обратной связи нет ни на одной клинической стадии вечера.</a:t>
            </a:r>
          </a:p>
          <a:p>
            <a:r>
              <a:t/>
            </a:r>
          </a:p>
          <a:p>
            <a:r>
              <a:t>Теперь база, без которой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 Из первой фазы во вторую проходит чуть больше половины программ, из второй в третью — меньше трети. Итог пути от первой фазы до одобрения — 7,9 процента: из примерно тринадцати программ, вошедших в клинику, лекарством становится одна. Плотнее всего отсев в середине, не в начале и не в конце.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a:t>
            </a:r>
          </a:p>
          <a:p>
            <a:r>
              <a:t/>
            </a:r>
          </a:p>
          <a:p>
            <a:r>
              <a:t>**Источники.** </a:t>
            </a:r>
            <a:r>
              <a:rPr u="sng">
                <a:solidFill>
                  <a:srgbClr val="065A82"/>
                </a:solidFill>
                <a:hlinkClick r:id="rId3"/>
              </a:rPr>
              <a:t>BIO / QLS / Informa, Clinical Development Success Rates 2011–2020</a:t>
            </a:r>
          </a:p>
          <a:p>
            <a:r>
              <a:t/>
            </a:r>
          </a:p>
          <a:p>
            <a:r>
              <a:t>Про знаменатель, сжатый на плашке до «1 779 компаний, 2011–2020»: считаны там переходы, а не программы, и это разные единицы — 12 728 переходов пришли из 9 704 программ.</a:t>
            </a:r>
          </a:p>
          <a:p>
            <a:r>
              <a:t/>
            </a:r>
          </a:p>
          <a:p>
            <a:r>
              <a:t>Разброс по областям произносится обязательно, иначе средняя читается как предсказание: и 48,1 процента в гематологии, и 15,0 в урологии лежат внутри той же базы, из которой получилась средняя 28,9.</a:t>
            </a:r>
          </a:p>
          <a:p>
            <a:r>
              <a:t/>
            </a:r>
          </a:p>
          <a:p>
            <a:r>
              <a:t>Число 7,9 процента от фазы I до одобрения получено отдельным счётом по тому же корпусу, а не перемножением трёх долей: доли разных фаз посчитаны на разных знаменателях и не перемножаются.</a:t>
            </a:r>
          </a:p>
          <a:p>
            <a:r>
              <a:t/>
            </a:r>
          </a:p>
          <a:p>
            <a:r>
              <a:t>И главное, ради чего кадр стоит: это база. Всё, что в разделе скажут про ускорение и удешевление, сравнивается с этими тремя числами, и названы они раньше любого сравнения.</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А вот у третьего классического порядка — физического перебора на шаге поиска молекулы — числа есть, и они проверяемы: библиотеку в один-три миллиона соединений прогоняют через опыт, попаданий выходит один-два процента. Метод назван, знаменатель назван, и именно с этой парой чисел надо сверять заявленные доли попаданий у модельного отбора. Разница между «число слабое» и «числа нет» здесь видна в одном разделе дважды: у экспертного отбора повторяемость не измерена вовсе, у физического перебора измерена и опубликована.</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a:p>
            <a:r>
              <a:t/>
            </a:r>
          </a:p>
          <a:p>
            <a:r>
              <a:t>Почему цена отброшенной годной молекулы не измеряется вовсе, а не «измеряется плохо». Чтобы её измерить, надо было бы довести отброшенное до людей и посмотреть, что вышло, — то есть провести ровно тот эксперимент, от которого отбор и отказался. Цена эта поэтому не маленькая и не большая, она неизвестная, и никакой отбор её себе не предъявляет. Цена противоположной ошибки измерима прямо: месяцы работы центра и здоровые добровольцы под дозой.</a:t>
            </a:r>
          </a:p>
          <a:p>
            <a:r>
              <a:t/>
            </a:r>
          </a:p>
          <a:p>
            <a:r>
              <a:t>Две строки столбцов, снятые с кадра. У первого режима цена считается в месяцах работы центра — она измерима, и это её главное свойство. У второго ошибки не увидит никто, потому что эксперимента не было: отброшенная молекула до людей не дошла, и проверить решение нечем. Именно эта несимметричность, а не разница в качестве отбора, делает два режима несравнимыми по цене ошибки.</a:t>
            </a:r>
          </a:p>
          <a:p>
            <a:r>
              <a:t/>
            </a:r>
          </a:p>
          <a:p>
            <a:r>
              <a:t>Почему у двух классических режимов счёт один и тот же. Отчёт, из которого взяты 52,0 · 28,9 · 7,9, считает отрасль целиком и разделения на «вели в клинику всё синтезированное» и «вели только прошедшее экспертный отбор» не проводит. Поэтому назвать, какой из режимов даёт какую долю, нечем ни одним источником — и графа второго шага здесь закрывается честно: второй режим назван без своего числа, и сказано это на месте, а не замазано средней по отрасли.</a:t>
            </a:r>
          </a:p>
          <a:p>
            <a:r>
              <a:t/>
            </a:r>
          </a:p>
          <a:p>
            <a:r>
              <a:t>Про экспертный отбор как режим. Это совет из химиков, биологов и токсикологов, решающий по опыту и литературе. Протоколом решение не описано, повторяемость никто не замерял — то есть у режима нет ни документированной процедуры, ни меры согласия между экспертами. Сравнивать с ним модель строго нельзя; можно только сказать, что он существует и что отрасль работает им.</a:t>
            </a:r>
          </a:p>
          <a:p>
            <a:r>
              <a:t/>
            </a:r>
          </a:p>
          <a:p>
            <a:r>
              <a:t>Отсюда вывод кадра, и произносить его надо медленно: пока сравнения с этими числами нет, фраза «модель ускорила разработку» говорит исключительно про тот шаг, на котором модель применили, и ничего — про срок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a:p>
            <a:r>
              <a:t/>
            </a:r>
          </a:p>
          <a:p>
            <a:r>
              <a:t>Детали испытания, снятые с плашек. Фаза IIa: 91 пациент от 18 до 65 лет, 28 дней нанесения, рандомизированное двойное слепое с плацебо. Первичная точка — безопасность — достигнута; не достигнуты точки эффективности, тяжесть экземы и зуд: плацебо не превзойдено ни по одной. Расплата шла волнами: минус 180 мест сразу, годом позже ещё минус тридцать процентов штата, следом офис за рубежом, смена руководителя и переход на сервисную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честно названное пустое место: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пять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a:p>
            <a:r>
              <a:t/>
            </a:r>
          </a:p>
          <a:p>
            <a:r>
              <a:t>Почему эти два идут упоминанием, а не разбором: оба числа заявлены самими компаниями и внешней проверки не имеют. По правилу отбора такое на отдельный разбор не идёт, но из лекции не выбрасывается — упоминание с числом и названной базой есть ровно тот разряд, который им положен.</a:t>
            </a:r>
          </a:p>
          <a:p>
            <a:r>
              <a:t/>
            </a:r>
          </a:p>
          <a:p>
            <a:r>
              <a:t>Снятое со свода, и всё это произносится. Доклиника сжата — заявлено меньше двенадцати месяцев вместо нескольких лет, и оба конца сравнения назвала сама компания. Три формы на кадре стоят одной строкой, а разводятся так: нагрузка переехала на другой шаг — и на молекуле, и на отрасли; объём на том же месте упал — шаг тот же, исполнитель тот же, итераций меньше; порядок работ изменился на масштабе модели бизнеса, препарата это не касается. Воронка 52,0 · 28,9 · 7,9 — та база, без которой ни одно сравнение кадра не читается, и назвать её надо прежде первого «чаще базы».</a:t>
            </a:r>
          </a:p>
          <a:p>
            <a:r>
              <a:t/>
            </a:r>
          </a:p>
          <a:p>
            <a:r>
              <a:t>Два упоминания, снятые со свода на кадре, произносятся здесь, каждое с числом и базой. Молекула за год: доклиника заявлена короче двенадцати месяцев против четырёх с половиной лет обычного срока — оба конца этого сравнения назвала сама компания, снята молекула на первой фазе, база перехода там 52,0 из ста. Воронка категории: переход второй фазы около сорока против базы 28,9, то есть сопоставимо, а одобрений за десять лет ноль при 75 и 117 активах в клинике. Ни одно из двух на отдельный разбор не идёт: внешней проверки у чисел нет.</a:t>
            </a:r>
          </a:p>
          <a:p>
            <a:r>
              <a:t/>
            </a:r>
          </a:p>
          <a:p>
            <a:r>
              <a:t>Вопрос залу раздела стоит на этом кадре, и задаётся он после того, как ось раздела закрыта числами: у кого на работе есть шаг, который подешевел в разы, и стало ли от этого быстрее всё остальное. Короткий ответ, которым разговор замыкается, если зал молчит: здесь — не стало, и именно это считано. Ранний шаг разработки подешевел многократно, а узкое место стоит дальше по пути и не подешевело ни на сколько; поэтому мерить надо тот шаг, которого вы не трогали, а не тот, который удешевили. Прежде эта мысль стояла на кадре утверждением — вопросом она делает ту же работу и отдаёт её залу, у которого такой шаг почти наверняка есть: сборка, прогон тестов, генерация кода.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и на кадре они названы девятью из пятнадцати.</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a:p>
            <a:r>
              <a:t/>
            </a:r>
          </a:p>
          <a:p>
            <a:r>
              <a:t>Про семь строк реестра, оставшихся за кадром: четыре лишились своего кадра при сокращении деки и живут теперь только в главе, три стоят условно — их адрес лежит за другим разделом, и подтвердить их этим вечером нечем. В счёт подтверждённых они не идут ни одна.</a:t>
            </a:r>
          </a:p>
          <a:p>
            <a:r>
              <a:t/>
            </a:r>
          </a:p>
          <a:p>
            <a:r>
              <a:t>Цены по первой графе, снятые с кадра: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 Перепутанные обзором первоисточники тоже называются числом: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и для курса третья графа весит столько же, сколько две первые: пересказ встречается чаще, чем первоисточник.</a:t>
            </a:r>
          </a:p>
          <a:p>
            <a:r>
              <a:t/>
            </a:r>
          </a:p>
          <a:p>
            <a:r>
              <a:t>Про четвёртое число, снятое с кадра кругом диеты. Прежде рядом со «восемь из пятнадцати» стояло «свой разбор есть у четырёх из девяти» — и зал читал два знаменателя как один счёт. Оно считает КАДРЫ, а не номинации, и по этой деке два счёта разошлись: сплошной проход (`deck/SCHET-RAZBOROV.md`) даёт разборов 17, а кадров под ними 32, после свёртки шести пар. Всякий счёт, выведенный умножением разборов на два, разойдётся. Если вопрос придёт именно сюда, отвечать надо так: номинаций пятнадцать, подтверждённых восемь, на экране девять, своим кадром из них шли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шесть разделов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шести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трижды — скринингом, диагнозом и надзором. Поиск с генерацией на тексте трижды. Прогноз на структурированных данных дважды.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в которой стоят два раздела — исследование с диагнозом и лекарство. Это самая населённая ячейка вечера, и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шесть разделов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38/s42256-021-00307-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145/3313831.3376718"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36/bmjqs-2013-002627"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91-024-02850-w" TargetMode="External"/><Relationship Id="rId3" Type="http://schemas.openxmlformats.org/officeDocument/2006/relationships/hyperlink" Target="https://arxiv.org/abs/2102.09692"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doi.org/10.2967/jnumed.120.256032" TargetMode="Externa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eb.archive.org/web/2026/https://www.ama-assn.org/system/files/ama-ai-principles.pdf" TargetMode="Externa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doi.org/10.1016/j.gie.2014.07.058"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digital-transformation.hee.nhs.uk/binaries/content/assets/digital-transformation/dart-ed/understandingconfidenceinai-may22.pdf" TargetMode="External"/><Relationship Id="rId4" Type="http://schemas.openxmlformats.org/officeDocument/2006/relationships/hyperlink" Target="https://doi.org/10.1007/s10278-025-01485-8" TargetMode="External"/><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7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значимо, p = 0,031</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 p = 0,052</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Rounded Rectangle 19"/>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24859"/>
            <a:ext cx="5373471" cy="27113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Та же программа и то же приглашение, что на кадре перед этим. Изменилось одно: кому достаётся второе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делали.</a:t>
            </a:r>
            <a:r>
              <a:rPr sz="1250" b="0" i="0">
                <a:solidFill>
                  <a:srgbClr val="21295C"/>
                </a:solidFill>
                <a:latin typeface="Arial"/>
              </a:rPr>
              <a:t> Женщин распределяли жребием. Одно плечо читают двое людей, арбитраж на расхождении. В другом радиолог читает первым и заключение выдаёт сам, а модель ставит снимку оценку риска от 1 до 10: при оценке 1–9 второго чтения нет вовсе, при 10 остаётся двойное.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 механика отбора:</a:t>
            </a:r>
            <a:r>
              <a:rPr sz="1250" b="0" i="0">
                <a:solidFill>
                  <a:srgbClr val="21295C"/>
                </a:solidFill>
                <a:latin typeface="Arial"/>
              </a:rPr>
              <a:t> заключение выдаёт человек, модель отбирает, кого прочтут дважды.</a:t>
            </a:r>
          </a:p>
        </p:txBody>
      </p:sp>
      <p:sp>
        <p:nvSpPr>
          <p:cNvPr id="22" name="TextBox 21"/>
          <p:cNvSpPr txBox="1"/>
          <p:nvPr/>
        </p:nvSpPr>
        <p:spPr>
          <a:xfrm>
            <a:off x="6278727" y="3524859"/>
            <a:ext cx="5373471" cy="271134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вход — маммограмма, выход — оценка риска и место в очереди. </a:t>
            </a:r>
            <a:r>
              <a:rPr sz="1250" b="1" i="0">
                <a:solidFill>
                  <a:srgbClr val="21295C"/>
                </a:solidFill>
                <a:latin typeface="Arial"/>
              </a:rPr>
              <a:t>Имени система не получила</a:t>
            </a:r>
            <a:r>
              <a:rPr sz="1250" b="0" i="0">
                <a:solidFill>
                  <a:srgbClr val="21295C"/>
                </a:solidFill>
                <a:latin typeface="Arial"/>
              </a:rPr>
              <a:t>; режим занимают Transpara, Lunit INSIGHT MMG, iCAD ProFound. </a:t>
            </a:r>
            <a:r>
              <a:rPr sz="1250" b="0" i="1">
                <a:solidFill>
                  <a:srgbClr val="21295C"/>
                </a:solidFill>
                <a:latin typeface="Arial"/>
              </a:rPr>
              <a:t>Распознавание на изображении.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Второго независимого человека большинство обследованных больше не получает.</a:t>
            </a:r>
            <a:r>
              <a:rPr sz="1250" b="0" i="0">
                <a:solidFill>
                  <a:srgbClr val="21295C"/>
                </a:solidFill>
                <a:latin typeface="Arial"/>
              </a:rPr>
              <a:t> Цена — в устройстве процедуры, не в точности прибора.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Германия:</a:t>
            </a:r>
            <a:r>
              <a:rPr sz="1250" b="0" i="0">
                <a:solidFill>
                  <a:srgbClr val="21295C"/>
                </a:solidFill>
                <a:latin typeface="Arial"/>
              </a:rPr>
              <a:t> двойное чтение сохранили и модель добавили к нему — найдено 6,7 против 5,7 на 1000 у 463 094 женщин, но жребия там не было. Одна фраза «внедрили модель в скрининг» — две разные процедуры.</a:t>
            </a:r>
          </a:p>
        </p:txBody>
      </p:sp>
      <p:sp>
        <p:nvSpPr>
          <p:cNvPr id="23" name="Rectangle 22"/>
          <p:cNvSpPr/>
          <p:nvPr/>
        </p:nvSpPr>
        <p:spPr>
          <a:xfrm>
            <a:off x="6091275" y="3524859"/>
            <a:ext cx="9144" cy="26533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Rounded Rectangle 19"/>
          <p:cNvSpPr/>
          <p:nvPr/>
        </p:nvSpPr>
        <p:spPr>
          <a:xfrm>
            <a:off x="374904" y="3640890"/>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за случай.</a:t>
            </a:r>
            <a:r>
              <a:rPr sz="1300" b="0" i="0">
                <a:solidFill>
                  <a:srgbClr val="21295C"/>
                </a:solidFill>
                <a:latin typeface="Arial"/>
              </a:rPr>
              <a:t> Сервис первой линии в Англии: человек описывает жалобу в приложении, а маршрут «куда вам сейчас» выдаёт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было до него.</a:t>
            </a:r>
            <a:r>
              <a:rPr sz="1300" b="0" i="0">
                <a:solidFill>
                  <a:srgbClr val="21295C"/>
                </a:solidFill>
                <a:latin typeface="Arial"/>
              </a:rPr>
              <a:t> С жалобой звонили в практику: кого принять сегодня, кого через две недели, решали там. Второй порядок — телефонная линия сортировки национальной службы, оператор по протоколу: </a:t>
            </a:r>
            <a:r>
              <a:rPr sz="1300" b="1" i="0">
                <a:solidFill>
                  <a:srgbClr val="21295C"/>
                </a:solidFill>
                <a:latin typeface="Arial"/>
              </a:rPr>
              <a:t>назван, счёта нет</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обеих ошибок:</a:t>
            </a:r>
            <a:r>
              <a:rPr sz="1300" b="0" i="0">
                <a:solidFill>
                  <a:srgbClr val="21295C"/>
                </a:solidFill>
                <a:latin typeface="Arial"/>
              </a:rPr>
              <a:t> пропустить того, кому нужно сейчас · занять приём ненужным · и цена самого канала.</a:t>
            </a:r>
          </a:p>
        </p:txBody>
      </p:sp>
      <p:sp>
        <p:nvSpPr>
          <p:cNvPr id="22" name="TextBox 21"/>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Экзамен: 81 у приложения против 72 у врачей.</a:t>
            </a:r>
            <a:r>
              <a:rPr sz="1300" b="0" i="0">
                <a:solidFill>
                  <a:srgbClr val="21295C"/>
                </a:solidFill>
                <a:latin typeface="Arial"/>
              </a:rPr>
              <a:t> Этим обосновали выход в открытый поток. Качество сортировки не измерил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a:t>
            </a:r>
            <a:r>
              <a:rPr sz="1300" b="1" i="0">
                <a:solidFill>
                  <a:srgbClr val="21295C"/>
                </a:solidFill>
                <a:latin typeface="Arial"/>
              </a:rPr>
              <a:t>Babylon</a:t>
            </a:r>
            <a:r>
              <a:rPr sz="1300" b="0" i="0">
                <a:solidFill>
                  <a:srgbClr val="21295C"/>
                </a:solidFill>
                <a:latin typeface="Arial"/>
              </a:rPr>
              <a:t>, сервис </a:t>
            </a:r>
            <a:r>
              <a:rPr sz="1300" b="1" i="0">
                <a:solidFill>
                  <a:srgbClr val="21295C"/>
                </a:solidFill>
                <a:latin typeface="Arial"/>
              </a:rPr>
              <a:t>«GP at Hand»</a:t>
            </a:r>
            <a:r>
              <a:rPr sz="1300" b="0" i="0">
                <a:solidFill>
                  <a:srgbClr val="21295C"/>
                </a:solidFill>
                <a:latin typeface="Arial"/>
              </a:rPr>
              <a:t>: вход — жалоба текстом, выход — маршрут. </a:t>
            </a:r>
            <a:r>
              <a:rPr sz="1300" b="1" i="0">
                <a:solidFill>
                  <a:srgbClr val="21295C"/>
                </a:solidFill>
                <a:latin typeface="Arial"/>
              </a:rPr>
              <a:t>Обучать было нечему: внутри дерево «если — то»</a:t>
            </a:r>
            <a:r>
              <a:rPr sz="1300" b="0" i="0">
                <a:solidFill>
                  <a:srgbClr val="21295C"/>
                </a:solidFill>
                <a:latin typeface="Arial"/>
              </a:rPr>
              <a:t> — слова участника, не аудит. </a:t>
            </a:r>
            <a:r>
              <a:rPr sz="1300" b="0" i="1">
                <a:solidFill>
                  <a:srgbClr val="21295C"/>
                </a:solidFill>
                <a:latin typeface="Arial"/>
              </a:rPr>
              <a:t>Поиск с генерацией на тексте.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круглосуточную сортировку · </a:t>
            </a:r>
            <a:r>
              <a:rPr sz="1300" b="1" i="0">
                <a:solidFill>
                  <a:srgbClr val="21295C"/>
                </a:solidFill>
                <a:latin typeface="Arial"/>
              </a:rPr>
              <a:t>потребовало</a:t>
            </a:r>
            <a:r>
              <a:rPr sz="1300" b="0" i="0">
                <a:solidFill>
                  <a:srgbClr val="21295C"/>
                </a:solidFill>
                <a:latin typeface="Arial"/>
              </a:rPr>
              <a:t> минуса на каждом пациенте · </a:t>
            </a:r>
            <a:r>
              <a:rPr sz="1300" b="1" i="0">
                <a:solidFill>
                  <a:srgbClr val="21295C"/>
                </a:solidFill>
                <a:latin typeface="Arial"/>
              </a:rPr>
              <a:t>в сумме хуже</a:t>
            </a:r>
            <a:r>
              <a:rPr sz="1300" b="0" i="0">
                <a:solidFill>
                  <a:srgbClr val="21295C"/>
                </a:solidFill>
                <a:latin typeface="Arial"/>
              </a:rPr>
              <a:t>: банкротство 2023. </a:t>
            </a:r>
            <a:r>
              <a:rPr sz="1300" b="1" i="0">
                <a:solidFill>
                  <a:srgbClr val="21295C"/>
                </a:solidFill>
                <a:latin typeface="Arial"/>
              </a:rPr>
              <a:t>Итог для отрасли:</a:t>
            </a:r>
            <a:r>
              <a:rPr sz="1300" b="0" i="0">
                <a:solidFill>
                  <a:srgbClr val="21295C"/>
                </a:solidFill>
                <a:latin typeface="Arial"/>
              </a:rPr>
              <a:t> сортировка обращения словами после этого случая стоит на месте</a:t>
            </a:r>
          </a:p>
        </p:txBody>
      </p:sp>
      <p:sp>
        <p:nvSpPr>
          <p:cNvPr id="23" name="Rectangle 22"/>
          <p:cNvSpPr/>
          <p:nvPr/>
        </p:nvSpPr>
        <p:spPr>
          <a:xfrm>
            <a:off x="6091275" y="3732330"/>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снимают на приёме, а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за случай.</a:t>
            </a:r>
            <a:r>
              <a:rPr sz="1450" b="0" i="0">
                <a:solidFill>
                  <a:srgbClr val="21295C"/>
                </a:solidFill>
                <a:latin typeface="Arial"/>
              </a:rPr>
              <a:t> Подростки 8–21 года с диабетом: раз в год надо смотреть глазное дно. </a:t>
            </a:r>
            <a:r>
              <a:rPr sz="145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Устроено:</a:t>
            </a:r>
            <a:r>
              <a:rPr sz="1450" b="0" i="0">
                <a:solidFill>
                  <a:srgbClr val="21295C"/>
                </a:solidFill>
                <a:latin typeface="Arial"/>
              </a:rPr>
              <a:t> вход — два снимка глазного дна,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это стоило — на кадре следом.</a:t>
            </a:r>
          </a:p>
        </p:txBody>
      </p:sp>
      <p:sp>
        <p:nvSpPr>
          <p:cNvPr id="34" name="Rectangle 33"/>
          <p:cNvSpPr/>
          <p:nvPr/>
        </p:nvSpPr>
        <p:spPr>
          <a:xfrm>
            <a:off x="6091275" y="4418918"/>
            <a:ext cx="9144" cy="1811854"/>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15" name="Rectangle 14"/>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 измерен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Стадия исследования, по порядку:</a:t>
            </a:r>
            <a:r>
              <a:rPr sz="1550" b="0" i="0">
                <a:solidFill>
                  <a:srgbClr val="21295C"/>
                </a:solidFill>
                <a:latin typeface="Arial"/>
              </a:rPr>
              <a:t>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расходы вместо болезни</a:t>
            </a:r>
          </a:p>
        </p:txBody>
      </p:sp>
      <p:sp>
        <p:nvSpPr>
          <p:cNvPr id="10" name="TextBox 9"/>
          <p:cNvSpPr txBox="1"/>
          <p:nvPr/>
        </p:nvSpPr>
        <p:spPr>
          <a:xfrm>
            <a:off x="704088" y="4418518"/>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Стадия диагноза:</a:t>
            </a:r>
            <a:r>
              <a:rPr sz="1550" b="0" i="0">
                <a:solidFill>
                  <a:srgbClr val="21295C"/>
                </a:solidFill>
                <a:latin typeface="Arial"/>
              </a:rPr>
              <a:t> </a:t>
            </a:r>
            <a:r>
              <a:rPr sz="1550" b="1" i="0">
                <a:solidFill>
                  <a:srgbClr val="21295C"/>
                </a:solidFill>
                <a:latin typeface="Arial"/>
              </a:rPr>
              <a:t>Пример 3: замер взгляда радиолога</a:t>
            </a:r>
            <a:r>
              <a:rPr sz="1550" b="0" i="0">
                <a:solidFill>
                  <a:srgbClr val="21295C"/>
                </a:solidFill>
                <a:latin typeface="Arial"/>
              </a:rPr>
              <a:t> · </a:t>
            </a:r>
            <a:r>
              <a:rPr sz="1550" b="1" i="0">
                <a:solidFill>
                  <a:srgbClr val="21295C"/>
                </a:solidFill>
                <a:latin typeface="Arial"/>
              </a:rPr>
              <a:t>Пример 4: одна подсказка с двумя знаками</a:t>
            </a:r>
            <a:r>
              <a:rPr sz="1550" b="0" i="0">
                <a:solidFill>
                  <a:srgbClr val="21295C"/>
                </a:solidFill>
                <a:latin typeface="Arial"/>
              </a:rPr>
              <a:t> · </a:t>
            </a:r>
            <a:r>
              <a:rPr sz="1550" b="1" i="0">
                <a:solidFill>
                  <a:srgbClr val="21295C"/>
                </a:solidFill>
                <a:latin typeface="Arial"/>
              </a:rPr>
              <a:t>Пример 5: контрольная линия</a:t>
            </a:r>
            <a:r>
              <a:rPr sz="1550" b="0" i="0">
                <a:solidFill>
                  <a:srgbClr val="21295C"/>
                </a:solidFill>
                <a:latin typeface="Arial"/>
              </a:rPr>
              <a:t> · </a:t>
            </a:r>
            <a:r>
              <a:rPr sz="1550" b="1" i="0">
                <a:solidFill>
                  <a:srgbClr val="21295C"/>
                </a:solidFill>
                <a:latin typeface="Arial"/>
              </a:rPr>
              <a:t>Пример 6: хирурги на септическом шоке</a:t>
            </a:r>
          </a:p>
        </p:txBody>
      </p:sp>
      <p:sp>
        <p:nvSpPr>
          <p:cNvPr id="11" name="TextBox 10"/>
          <p:cNvSpPr txBox="1"/>
          <p:nvPr/>
        </p:nvSpPr>
        <p:spPr>
          <a:xfrm>
            <a:off x="704088" y="5489382"/>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Инструментальная и лабораторная диагностика: что это за стадия</a:t>
            </a:r>
          </a:p>
        </p:txBody>
      </p:sp>
      <p:sp>
        <p:nvSpPr>
          <p:cNvPr id="4" name="Rounded Rectangle 3"/>
          <p:cNvSpPr/>
          <p:nvPr/>
        </p:nvSpPr>
        <p:spPr>
          <a:xfrm>
            <a:off x="502920" y="1335024"/>
            <a:ext cx="3389223"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работы</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работ</a:t>
            </a:r>
          </a:p>
        </p:txBody>
      </p:sp>
      <p:sp>
        <p:nvSpPr>
          <p:cNvPr id="8" name="Rounded Rectangle 7"/>
          <p:cNvSpPr/>
          <p:nvPr/>
        </p:nvSpPr>
        <p:spPr>
          <a:xfrm>
            <a:off x="4056735" y="1335024"/>
            <a:ext cx="3389223"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 ПОЧТИ НИКТО</a:t>
            </a:r>
          </a:p>
        </p:txBody>
      </p:sp>
      <p:sp>
        <p:nvSpPr>
          <p:cNvPr id="10" name="TextBox 9"/>
          <p:cNvSpPr txBox="1"/>
          <p:nvPr/>
        </p:nvSpPr>
        <p:spPr>
          <a:xfrm>
            <a:off x="4193895" y="1725375"/>
            <a:ext cx="31149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одна не годна для клиники</a:t>
            </a:r>
          </a:p>
        </p:txBody>
      </p:sp>
      <p:sp>
        <p:nvSpPr>
          <p:cNvPr id="11" name="Rounded Rectangle 10"/>
          <p:cNvSpPr/>
          <p:nvPr/>
        </p:nvSpPr>
        <p:spPr>
          <a:xfrm>
            <a:off x="374904" y="2771397"/>
            <a:ext cx="7199071" cy="3464810"/>
          </a:xfrm>
          <a:prstGeom prst="roundRect">
            <a:avLst>
              <a:gd name="adj" fmla="val 879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62837"/>
            <a:ext cx="6869887" cy="337337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Про человека снимают величины</a:t>
            </a:r>
            <a:r>
              <a:rPr sz="1350" b="0" i="0">
                <a:solidFill>
                  <a:srgbClr val="21295C"/>
                </a:solidFill>
                <a:latin typeface="Arial"/>
              </a:rPr>
              <a:t> — прибором, в лаборатории, под нагрузкой.</a:t>
            </a:r>
          </a:p>
          <a:p>
            <a:pPr algn="l">
              <a:lnSpc>
                <a:spcPct val="126000"/>
              </a:lnSpc>
              <a:spcBef>
                <a:spcPts val="700"/>
              </a:spcBef>
            </a:pPr>
            <a:r>
              <a:rPr sz="1350" b="0" i="0">
                <a:solidFill>
                  <a:srgbClr val="21295C"/>
                </a:solidFill>
                <a:latin typeface="Arial"/>
              </a:rPr>
              <a:t/>
            </a:r>
            <a:r>
              <a:rPr sz="1350" b="0" i="0">
                <a:solidFill>
                  <a:srgbClr val="21295C"/>
                </a:solidFill>
                <a:latin typeface="Arial"/>
              </a:rPr>
              <a:t>Техник ставит человека к прибору, снимает, смотрит на экран и решает: читать или переснимать. Посев мокроты идёт три недели, и три недели эти платит человек.</a:t>
            </a:r>
          </a:p>
          <a:p>
            <a:pPr algn="l">
              <a:lnSpc>
                <a:spcPct val="126000"/>
              </a:lnSpc>
              <a:spcBef>
                <a:spcPts val="700"/>
              </a:spcBef>
            </a:pPr>
            <a:r>
              <a:rPr sz="1350" b="0" i="0">
                <a:solidFill>
                  <a:srgbClr val="21295C"/>
                </a:solidFill>
                <a:latin typeface="Arial"/>
              </a:rPr>
              <a:t/>
            </a:r>
            <a:r>
              <a:rPr sz="1350" b="1" i="0">
                <a:solidFill>
                  <a:srgbClr val="21295C"/>
                </a:solidFill>
                <a:latin typeface="Arial"/>
              </a:rPr>
              <a:t>Решение стадии:</a:t>
            </a:r>
            <a:r>
              <a:rPr sz="1350" b="0" i="0">
                <a:solidFill>
                  <a:srgbClr val="21295C"/>
                </a:solidFill>
                <a:latin typeface="Arial"/>
              </a:rPr>
              <a:t> что измерено и с какой точностью.</a:t>
            </a:r>
          </a:p>
          <a:p>
            <a:pPr algn="l">
              <a:lnSpc>
                <a:spcPct val="126000"/>
              </a:lnSpc>
              <a:spcBef>
                <a:spcPts val="700"/>
              </a:spcBef>
            </a:pPr>
            <a:r>
              <a:rPr sz="1350" b="0" i="0">
                <a:solidFill>
                  <a:srgbClr val="21295C"/>
                </a:solidFill>
                <a:latin typeface="Arial"/>
              </a:rPr>
              <a:t/>
            </a:r>
            <a:r>
              <a:rPr sz="1350" b="1" i="0">
                <a:solidFill>
                  <a:srgbClr val="21295C"/>
                </a:solidFill>
                <a:latin typeface="Arial"/>
              </a:rPr>
              <a:t>Почему после отбора:</a:t>
            </a:r>
            <a:r>
              <a:rPr sz="1350" b="0" i="0">
                <a:solidFill>
                  <a:srgbClr val="21295C"/>
                </a:solidFill>
                <a:latin typeface="Arial"/>
              </a:rPr>
              <a:t> обе доли измерения посчитаны на группе, которую собрал отбор.</a:t>
            </a:r>
          </a:p>
          <a:p>
            <a:pPr algn="l">
              <a:lnSpc>
                <a:spcPct val="126000"/>
              </a:lnSpc>
              <a:spcBef>
                <a:spcPts val="700"/>
              </a:spcBef>
            </a:pPr>
            <a:r>
              <a:rPr sz="1350" b="0" i="0">
                <a:solidFill>
                  <a:srgbClr val="21295C"/>
                </a:solidFill>
                <a:latin typeface="Arial"/>
              </a:rPr>
              <a:t/>
            </a:r>
            <a:r>
              <a:rPr sz="1350" b="0" i="0">
                <a:solidFill>
                  <a:srgbClr val="21295C"/>
                </a:solidFill>
                <a:latin typeface="Arial"/>
              </a:rPr>
              <a:t>У прибора стоит человек: лаборант, техник, медсестра.</a:t>
            </a:r>
          </a:p>
          <a:p>
            <a:pPr algn="l">
              <a:lnSpc>
                <a:spcPct val="126000"/>
              </a:lnSpc>
              <a:spcBef>
                <a:spcPts val="700"/>
              </a:spcBef>
            </a:pPr>
            <a:r>
              <a:rPr sz="1350" b="0" i="0">
                <a:solidFill>
                  <a:srgbClr val="21295C"/>
                </a:solidFill>
                <a:latin typeface="Arial"/>
              </a:rPr>
              <a:t/>
            </a:r>
            <a:r>
              <a:rPr sz="1350" b="1" i="0">
                <a:solidFill>
                  <a:srgbClr val="21295C"/>
                </a:solidFill>
                <a:latin typeface="Arial"/>
              </a:rPr>
              <a:t>Без модели все шесть действий делает человек по записанному правилу. С моделью — два из шести:</a:t>
            </a:r>
            <a:r>
              <a:rPr sz="1350" b="0" i="0">
                <a:solidFill>
                  <a:srgbClr val="21295C"/>
                </a:solidFill>
                <a:latin typeface="Arial"/>
              </a:rPr>
              <a:t> прочесть измерение и сообщить результат.</a:t>
            </a:r>
          </a:p>
          <a:p>
            <a:pPr algn="l">
              <a:lnSpc>
                <a:spcPct val="126000"/>
              </a:lnSpc>
              <a:spcBef>
                <a:spcPts val="700"/>
              </a:spcBef>
            </a:pPr>
            <a:r>
              <a:rPr sz="1350" b="0" i="0">
                <a:solidFill>
                  <a:srgbClr val="21295C"/>
                </a:solidFill>
                <a:latin typeface="Arial"/>
              </a:rPr>
              <a:t/>
            </a:r>
            <a:r>
              <a:rPr sz="1350" b="1" i="0">
                <a:solidFill>
                  <a:srgbClr val="21295C"/>
                </a:solidFill>
                <a:latin typeface="Arial"/>
              </a:rPr>
              <a:t>Вам называют «точность 94 процента». На какой группе она посчитана?</a:t>
            </a:r>
          </a:p>
        </p:txBody>
      </p:sp>
      <p:sp>
        <p:nvSpPr>
          <p:cNvPr id="13" name="Rounded Rectangle 12"/>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14" name="Picture 13"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15" name="Rectangle 14"/>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негодный уйдёт на чтение:</a:t>
            </a:r>
            <a:r>
              <a:rPr sz="1500" b="0" i="0">
                <a:solidFill>
                  <a:srgbClr val="21295C"/>
                </a:solidFill>
                <a:latin typeface="Arial"/>
              </a:rPr>
              <a:t> диагноз поставят по тому, что видно.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заметит, если не он:</a:t>
            </a:r>
            <a:r>
              <a:rPr sz="1500" b="0" i="0">
                <a:solidFill>
                  <a:srgbClr val="21295C"/>
                </a:solidFill>
                <a:latin typeface="Arial"/>
              </a:rPr>
              <a:t> никто, пока не понадобится пересмотр.</a:t>
            </a:r>
          </a:p>
        </p:txBody>
      </p:sp>
      <p:sp>
        <p:nvSpPr>
          <p:cNvPr id="17" name="Rectangle 16"/>
          <p:cNvSpPr/>
          <p:nvPr/>
        </p:nvSpPr>
        <p:spPr>
          <a:xfrm>
            <a:off x="6091275" y="2241116"/>
            <a:ext cx="9144" cy="127714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930298" cy="724060"/>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потеря зрения · визит к офтальмологу, которого нет</a:t>
            </a:r>
          </a:p>
        </p:txBody>
      </p:sp>
      <p:sp>
        <p:nvSpPr>
          <p:cNvPr id="7" name="Rounded Rectangle 6"/>
          <p:cNvSpPr/>
          <p:nvPr/>
        </p:nvSpPr>
        <p:spPr>
          <a:xfrm>
            <a:off x="2872130" y="1335024"/>
            <a:ext cx="2204618"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00929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9" name="TextBox 8"/>
          <p:cNvSpPr txBox="1"/>
          <p:nvPr/>
        </p:nvSpPr>
        <p:spPr>
          <a:xfrm>
            <a:off x="3009290" y="1932846"/>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0" name="TextBox 9"/>
          <p:cNvSpPr txBox="1"/>
          <p:nvPr/>
        </p:nvSpPr>
        <p:spPr>
          <a:xfrm>
            <a:off x="3009290" y="2359845"/>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снимков за первые полгода</a:t>
            </a:r>
          </a:p>
        </p:txBody>
      </p:sp>
      <p:sp>
        <p:nvSpPr>
          <p:cNvPr id="11" name="Rounded Rectangle 10"/>
          <p:cNvSpPr/>
          <p:nvPr/>
        </p:nvSpPr>
        <p:spPr>
          <a:xfrm>
            <a:off x="524134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3" name="TextBox 12"/>
          <p:cNvSpPr txBox="1"/>
          <p:nvPr/>
        </p:nvSpPr>
        <p:spPr>
          <a:xfrm>
            <a:off x="5378500" y="1725375"/>
            <a:ext cx="1930298"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результат в кабинете первичного звена → годный снимок в непроверенных условиях</a:t>
            </a:r>
          </a:p>
        </p:txBody>
      </p:sp>
      <p:sp>
        <p:nvSpPr>
          <p:cNvPr id="14" name="TextBox 13"/>
          <p:cNvSpPr txBox="1"/>
          <p:nvPr/>
        </p:nvSpPr>
        <p:spPr>
          <a:xfrm>
            <a:off x="5378500" y="2780446"/>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на старте хуже лабораторного замера</a:t>
            </a:r>
          </a:p>
        </p:txBody>
      </p:sp>
      <p:sp>
        <p:nvSpPr>
          <p:cNvPr id="15" name="Rounded Rectangle 14"/>
          <p:cNvSpPr/>
          <p:nvPr/>
        </p:nvSpPr>
        <p:spPr>
          <a:xfrm>
            <a:off x="374904" y="3431533"/>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22973"/>
            <a:ext cx="11112703" cy="27132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Классический режим,</a:t>
            </a:r>
            <a:r>
              <a:rPr sz="1500" b="0" i="0">
                <a:solidFill>
                  <a:srgbClr val="21295C"/>
                </a:solidFill>
                <a:latin typeface="Arial"/>
              </a:rPr>
              <a:t> без числа: человек с диабетом раз в год идёт к офтальмологу — тот снимает и читает.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наблюдали.</a:t>
            </a:r>
            <a:r>
              <a:rPr sz="1500" b="0" i="0">
                <a:solidFill>
                  <a:srgbClr val="21295C"/>
                </a:solidFill>
                <a:latin typeface="Arial"/>
              </a:rPr>
              <a:t> Полгода смотрели работу одиннадцати клиник: снимки делали медсёстры и техники, система читала на месте и негодные отклоняла сама.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два снимка глазного дна, выход — та же метка. Обучено на снимках, прошедших отбор по качеству; в поле его делает человек без правила. Имени системы нет.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У техника появилась работа добиться годного снимка; появился шаг — повторный визит каждому из 21 из ста. </a:t>
            </a:r>
            <a:r>
              <a:rPr sz="1500" b="0" i="1">
                <a:solidFill>
                  <a:srgbClr val="21295C"/>
                </a:solidFill>
                <a:latin typeface="Arial"/>
              </a:rPr>
              <a:t>Полевое наблюдение; причины обе про место съёмки.</a:t>
            </a:r>
          </a:p>
        </p:txBody>
      </p:sp>
      <p:sp>
        <p:nvSpPr>
          <p:cNvPr id="17" name="Rounded Rectangle 16"/>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8" name="Picture 17"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расходы вместо болезни</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Rounded Rectangle 6"/>
          <p:cNvSpPr/>
          <p:nvPr/>
        </p:nvSpPr>
        <p:spPr>
          <a:xfrm>
            <a:off x="3340531"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БАЛЛОМ</a:t>
            </a:r>
          </a:p>
        </p:txBody>
      </p:sp>
      <p:sp>
        <p:nvSpPr>
          <p:cNvPr id="9" name="TextBox 8"/>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0" name="TextBox 9"/>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a:t>
            </a:r>
          </a:p>
        </p:txBody>
      </p:sp>
      <p:sp>
        <p:nvSpPr>
          <p:cNvPr id="11" name="Rounded Rectangle 10"/>
          <p:cNvSpPr/>
          <p:nvPr/>
        </p:nvSpPr>
        <p:spPr>
          <a:xfrm>
            <a:off x="6178143"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3" name="TextBox 12"/>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4" name="TextBox 13"/>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5" name="Rounded Rectangle 14"/>
          <p:cNvSpPr/>
          <p:nvPr/>
        </p:nvSpPr>
        <p:spPr>
          <a:xfrm>
            <a:off x="9015755"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НАБЛЮДАЕМАЯ → ПРИ УБРАННОМ РАЗРЫВЕ</a:t>
            </a:r>
          </a:p>
        </p:txBody>
      </p:sp>
      <p:sp>
        <p:nvSpPr>
          <p:cNvPr id="17" name="TextBox 16"/>
          <p:cNvSpPr txBox="1"/>
          <p:nvPr/>
        </p:nvSpPr>
        <p:spPr>
          <a:xfrm>
            <a:off x="9152915" y="2140317"/>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17,7 → 46,5 из ста</a:t>
            </a:r>
          </a:p>
        </p:txBody>
      </p:sp>
      <p:sp>
        <p:nvSpPr>
          <p:cNvPr id="18" name="TextBox 17"/>
          <p:cNvSpPr txBox="1"/>
          <p:nvPr/>
        </p:nvSpPr>
        <p:spPr>
          <a:xfrm>
            <a:off x="9152915"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внедрения не было</a:t>
            </a:r>
          </a:p>
        </p:txBody>
      </p:sp>
      <p:sp>
        <p:nvSpPr>
          <p:cNvPr id="19" name="Rounded Rectangle 18"/>
          <p:cNvSpPr/>
          <p:nvPr/>
        </p:nvSpPr>
        <p:spPr>
          <a:xfrm>
            <a:off x="502920" y="3681979"/>
            <a:ext cx="11185855"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20" name="TextBox 19"/>
          <p:cNvSpPr txBox="1"/>
          <p:nvPr/>
        </p:nvSpPr>
        <p:spPr>
          <a:xfrm>
            <a:off x="640080" y="381913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21" name="TextBox 20"/>
          <p:cNvSpPr txBox="1"/>
          <p:nvPr/>
        </p:nvSpPr>
        <p:spPr>
          <a:xfrm>
            <a:off x="640080" y="4072330"/>
            <a:ext cx="1091153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последовательный отбор вместо ручного → совпадения расходов с болезнью, которого нет</a:t>
            </a:r>
          </a:p>
        </p:txBody>
      </p:sp>
      <p:sp>
        <p:nvSpPr>
          <p:cNvPr id="22" name="TextBox 21"/>
          <p:cNvSpPr txBox="1"/>
          <p:nvPr/>
        </p:nvSpPr>
        <p:spPr>
          <a:xfrm>
            <a:off x="640080" y="4889752"/>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для одной группы хуже прежнего отбора</a:t>
            </a:r>
          </a:p>
        </p:txBody>
      </p:sp>
      <p:sp>
        <p:nvSpPr>
          <p:cNvPr id="23" name="Rounded Rectangle 22"/>
          <p:cNvSpPr/>
          <p:nvPr/>
        </p:nvSpPr>
        <p:spPr>
          <a:xfrm>
            <a:off x="374904" y="5329596"/>
            <a:ext cx="11441887" cy="90661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421036"/>
            <a:ext cx="11112703" cy="815171"/>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Как мерили.</a:t>
            </a:r>
            <a:r>
              <a:rPr sz="850" b="0" i="0">
                <a:solidFill>
                  <a:srgbClr val="21295C"/>
                </a:solidFill>
                <a:latin typeface="Arial"/>
              </a:rPr>
              <a:t> Задним числом по данным одной больницы авторы сравнивали балл с числом активных хронических состояний у человека.</a:t>
            </a:r>
          </a:p>
          <a:p>
            <a:pPr algn="l">
              <a:lnSpc>
                <a:spcPct val="126000"/>
              </a:lnSpc>
              <a:spcBef>
                <a:spcPts val="700"/>
              </a:spcBef>
            </a:pPr>
            <a:r>
              <a:rPr sz="850" b="0" i="0">
                <a:solidFill>
                  <a:srgbClr val="21295C"/>
                </a:solidFill>
                <a:latin typeface="Arial"/>
              </a:rPr>
              <a:t/>
            </a:r>
            <a:r>
              <a:rPr sz="850" b="1" i="0">
                <a:solidFill>
                  <a:srgbClr val="21295C"/>
                </a:solidFill>
                <a:latin typeface="Arial"/>
              </a:rPr>
              <a:t>Устроено.</a:t>
            </a:r>
            <a:r>
              <a:rPr sz="850" b="0" i="0">
                <a:solidFill>
                  <a:srgbClr val="21295C"/>
                </a:solidFill>
                <a:latin typeface="Arial"/>
              </a:rPr>
              <a:t> Вход — записи карты и данные о расходах, выход — один балл на человека и отбор по порогу. </a:t>
            </a:r>
            <a:r>
              <a:rPr sz="850" b="1" i="0">
                <a:solidFill>
                  <a:srgbClr val="21295C"/>
                </a:solidFill>
                <a:latin typeface="Arial"/>
              </a:rPr>
              <a:t>Обучено предсказывать будущие расходы на лечение</a:t>
            </a:r>
            <a:r>
              <a:rPr sz="850" b="0" i="0">
                <a:solidFill>
                  <a:srgbClr val="21295C"/>
                </a:solidFill>
                <a:latin typeface="Arial"/>
              </a:rPr>
              <a:t> — а решение принималось о болезни. Имени у промышленного алгоритма публикация не даёт. </a:t>
            </a:r>
            <a:r>
              <a:rPr sz="850" b="0" i="1">
                <a:solidFill>
                  <a:srgbClr val="21295C"/>
                </a:solidFill>
                <a:latin typeface="Arial"/>
              </a:rPr>
              <a:t>Прогноз на структурированных данных.</a:t>
            </a:r>
          </a:p>
          <a:p>
            <a:pPr algn="l">
              <a:lnSpc>
                <a:spcPct val="126000"/>
              </a:lnSpc>
              <a:spcBef>
                <a:spcPts val="700"/>
              </a:spcBef>
            </a:pPr>
            <a:r>
              <a:rPr sz="850" b="0" i="0">
                <a:solidFill>
                  <a:srgbClr val="21295C"/>
                </a:solidFill>
                <a:latin typeface="Arial"/>
              </a:rPr>
              <a:t/>
            </a:r>
            <a:r>
              <a:rPr sz="850" b="0" i="0">
                <a:solidFill>
                  <a:srgbClr val="21295C"/>
                </a:solidFill>
                <a:latin typeface="Arial"/>
              </a:rPr>
              <a:t>Покупает такой счёт администрация или плательщик, не врач, и «дорого лечится» от «болен» он не отличает.</a:t>
            </a:r>
          </a:p>
          <a:p>
            <a:pPr algn="l">
              <a:lnSpc>
                <a:spcPct val="126000"/>
              </a:lnSpc>
              <a:spcBef>
                <a:spcPts val="700"/>
              </a:spcBef>
            </a:pPr>
            <a:r>
              <a:rPr sz="850" b="0" i="0">
                <a:solidFill>
                  <a:srgbClr val="21295C"/>
                </a:solidFill>
                <a:latin typeface="Arial"/>
              </a:rPr>
              <a:t/>
            </a:r>
            <a:r>
              <a:rPr sz="850" b="1" i="0">
                <a:solidFill>
                  <a:srgbClr val="21295C"/>
                </a:solidFill>
                <a:latin typeface="Arial"/>
              </a:rPr>
              <a:t>Что переехало.</a:t>
            </a:r>
            <a:r>
              <a:rPr sz="85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a:p>
            <a:pPr algn="l">
              <a:lnSpc>
                <a:spcPct val="126000"/>
              </a:lnSpc>
              <a:spcBef>
                <a:spcPts val="700"/>
              </a:spcBef>
            </a:pPr>
            <a:r>
              <a:rPr sz="850" b="0" i="0">
                <a:solidFill>
                  <a:srgbClr val="21295C"/>
                </a:solidFill>
                <a:latin typeface="Arial"/>
              </a:rPr>
              <a:t/>
            </a:r>
            <a:r>
              <a:rPr sz="850" b="1" i="0">
                <a:solidFill>
                  <a:srgbClr val="21295C"/>
                </a:solidFill>
                <a:latin typeface="Arial"/>
              </a:rPr>
              <a:t>Внутренняя проверка этого не видит: провал лежит там, где его не проверяют.</a:t>
            </a:r>
          </a:p>
          <a:p>
            <a:pPr algn="l">
              <a:lnSpc>
                <a:spcPct val="126000"/>
              </a:lnSpc>
              <a:spcBef>
                <a:spcPts val="700"/>
              </a:spcBef>
            </a:pPr>
            <a:r>
              <a:rPr sz="850" b="0" i="0">
                <a:solidFill>
                  <a:srgbClr val="21295C"/>
                </a:solidFill>
                <a:latin typeface="Arial"/>
              </a:rPr>
              <a:t/>
            </a:r>
            <a:r>
              <a:rPr sz="850" b="0" i="1">
                <a:solidFill>
                  <a:srgbClr val="1C7293"/>
                </a:solidFill>
                <a:latin typeface="Arial"/>
              </a:rPr>
              <a:t>Расчёт авторов на тех же данных — не измерение.</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приём: как сужается список</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знаменатель перенесён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Один приём: кашель три недели, вечерняя температура, минус четыре килограмма. В списке четыре болезни; снимок и анализ крови вычеркнули две — осталось две, которые по снимку не различаются.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Добавилось одно действие, которого у врача не было: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5" name="Rounded Rectangle 4"/>
          <p:cNvSpPr/>
          <p:nvPr/>
        </p:nvSpPr>
        <p:spPr>
          <a:xfrm>
            <a:off x="1920240"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6713067"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10" name="TextBox 9"/>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Разошлись</a:t>
            </a:r>
          </a:p>
        </p:txBody>
      </p:sp>
      <p:sp>
        <p:nvSpPr>
          <p:cNvPr id="11" name="Rounded Rectangle 10"/>
          <p:cNvSpPr/>
          <p:nvPr/>
        </p:nvSpPr>
        <p:spPr>
          <a:xfrm>
            <a:off x="1920240"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13" name="Right Arrow 12"/>
          <p:cNvSpPr/>
          <p:nvPr/>
        </p:nvSpPr>
        <p:spPr>
          <a:xfrm>
            <a:off x="6713067" y="212583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941667"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7023963"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16" name="TextBox 15"/>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Перегородка: второй не видит первого заключения</a:t>
            </a:r>
          </a:p>
        </p:txBody>
      </p:sp>
      <p:sp>
        <p:nvSpPr>
          <p:cNvPr id="17" name="Rounded Rectangle 16"/>
          <p:cNvSpPr/>
          <p:nvPr/>
        </p:nvSpPr>
        <p:spPr>
          <a:xfrm>
            <a:off x="374904" y="2771373"/>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a:t>
            </a:r>
          </a:p>
          <a:p>
            <a:pPr algn="l">
              <a:lnSpc>
                <a:spcPct val="126000"/>
              </a:lnSpc>
              <a:spcBef>
                <a:spcPts val="700"/>
              </a:spcBef>
            </a:pPr>
            <a:r>
              <a:rPr sz="1500" b="0" i="0">
                <a:solidFill>
                  <a:srgbClr val="21295C"/>
                </a:solidFill>
                <a:latin typeface="Arial"/>
              </a:rPr>
              <a:t/>
            </a:r>
            <a:r>
              <a:rPr sz="1500" b="0" i="0">
                <a:solidFill>
                  <a:srgbClr val="21295C"/>
                </a:solidFill>
                <a:latin typeface="Arial"/>
              </a:rPr>
              <a:t>Второе мнение от модели, подсказавшей первое, — </a:t>
            </a:r>
            <a:r>
              <a:rPr sz="1500" b="1" i="0">
                <a:solidFill>
                  <a:srgbClr val="21295C"/>
                </a:solidFill>
                <a:latin typeface="Arial"/>
              </a:rPr>
              <a:t>уже не второе:</a:t>
            </a:r>
            <a:r>
              <a:rPr sz="1500" b="0" i="0">
                <a:solidFill>
                  <a:srgbClr val="21295C"/>
                </a:solidFill>
                <a:latin typeface="Arial"/>
              </a:rPr>
              <a:t> ошибка общая и удваивается вместо усреднения.</a:t>
            </a:r>
          </a:p>
        </p:txBody>
      </p:sp>
      <p:sp>
        <p:nvSpPr>
          <p:cNvPr id="19" name="TextBox 18"/>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Снимок женщины с письмом прочтёт тот, у кого подсказка на экране.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0" name="Rectangle 19"/>
          <p:cNvSpPr/>
          <p:nvPr/>
        </p:nvSpPr>
        <p:spPr>
          <a:xfrm>
            <a:off x="6091275" y="2862813"/>
            <a:ext cx="9144" cy="1574205"/>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11112703"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не передвигает на ступень выше:</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радиолога</a:t>
            </a:r>
          </a:p>
        </p:txBody>
      </p:sp>
      <p:sp>
        <p:nvSpPr>
          <p:cNvPr id="4" name="Rounded Rectangle 3"/>
          <p:cNvSpPr/>
          <p:nvPr/>
        </p:nvSpPr>
        <p:spPr>
          <a:xfrm>
            <a:off x="502920"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71 → 39 из ста</a:t>
            </a:r>
          </a:p>
        </p:txBody>
      </p:sp>
      <p:sp>
        <p:nvSpPr>
          <p:cNvPr id="7" name="TextBox 6"/>
          <p:cNvSpPr txBox="1"/>
          <p:nvPr/>
        </p:nvSpPr>
        <p:spPr>
          <a:xfrm>
            <a:off x="640080"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десяти читателей; подгруппа — 14 случаев, где подсказка молчала; −32 пункта, значимо</a:t>
            </a:r>
          </a:p>
        </p:txBody>
      </p:sp>
      <p:sp>
        <p:nvSpPr>
          <p:cNvPr id="8" name="Rounded Rectangle 7"/>
          <p:cNvSpPr/>
          <p:nvPr/>
        </p:nvSpPr>
        <p:spPr>
          <a:xfrm>
            <a:off x="3340531"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ВЗГЛЯД НА ПРОПУЩЕННОМ МОДЕЛЬЮ</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0,47 → 0,44 фиксации в секунду</a:t>
            </a:r>
          </a:p>
        </p:txBody>
      </p:sp>
      <p:sp>
        <p:nvSpPr>
          <p:cNvPr id="11" name="TextBox 10"/>
          <p:cNvSpPr txBox="1"/>
          <p:nvPr/>
        </p:nvSpPr>
        <p:spPr>
          <a:xfrm>
            <a:off x="3477691" y="25805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подсказки → с подсказкой</a:t>
            </a:r>
          </a:p>
        </p:txBody>
      </p:sp>
      <p:sp>
        <p:nvSpPr>
          <p:cNvPr id="12" name="Rounded Rectangle 11"/>
          <p:cNvSpPr/>
          <p:nvPr/>
        </p:nvSpPr>
        <p:spPr>
          <a:xfrm>
            <a:off x="6178143"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5" name="Rounded Rectangle 14"/>
          <p:cNvSpPr/>
          <p:nvPr/>
        </p:nvSpPr>
        <p:spPr>
          <a:xfrm>
            <a:off x="9015755"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8" name="TextBox 17"/>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читатели стали читать хуже</a:t>
            </a:r>
          </a:p>
        </p:txBody>
      </p:sp>
      <p:sp>
        <p:nvSpPr>
          <p:cNvPr id="19" name="Rounded Rectangle 18"/>
          <p:cNvSpPr/>
          <p:nvPr/>
        </p:nvSpPr>
        <p:spPr>
          <a:xfrm>
            <a:off x="502920" y="3299100"/>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20" name="TextBox 19"/>
          <p:cNvSpPr txBox="1"/>
          <p:nvPr/>
        </p:nvSpPr>
        <p:spPr>
          <a:xfrm>
            <a:off x="640080" y="3436260"/>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 С МОДЕЛЬЮ</a:t>
            </a:r>
          </a:p>
        </p:txBody>
      </p:sp>
      <p:sp>
        <p:nvSpPr>
          <p:cNvPr id="21" name="TextBox 20"/>
          <p:cNvSpPr txBox="1"/>
          <p:nvPr/>
        </p:nvSpPr>
        <p:spPr>
          <a:xfrm>
            <a:off x="640080" y="368945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22" name="TextBox 21"/>
          <p:cNvSpPr txBox="1"/>
          <p:nvPr/>
        </p:nvSpPr>
        <p:spPr>
          <a:xfrm>
            <a:off x="640080" y="411645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здесь это выигрыш</a:t>
            </a:r>
          </a:p>
        </p:txBody>
      </p:sp>
      <p:sp>
        <p:nvSpPr>
          <p:cNvPr id="23" name="Rounded Rectangle 22"/>
          <p:cNvSpPr/>
          <p:nvPr/>
        </p:nvSpPr>
        <p:spPr>
          <a:xfrm>
            <a:off x="6178143" y="3299100"/>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24" name="TextBox 23"/>
          <p:cNvSpPr txBox="1"/>
          <p:nvPr/>
        </p:nvSpPr>
        <p:spPr>
          <a:xfrm>
            <a:off x="6315303" y="3436260"/>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 С МОДЕЛЬЮ</a:t>
            </a:r>
          </a:p>
        </p:txBody>
      </p:sp>
      <p:sp>
        <p:nvSpPr>
          <p:cNvPr id="25" name="TextBox 24"/>
          <p:cNvSpPr txBox="1"/>
          <p:nvPr/>
        </p:nvSpPr>
        <p:spPr>
          <a:xfrm>
            <a:off x="6315303" y="368945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0,93 → 0,97</a:t>
            </a:r>
          </a:p>
        </p:txBody>
      </p:sp>
      <p:sp>
        <p:nvSpPr>
          <p:cNvPr id="26" name="TextBox 25"/>
          <p:cNvSpPr txBox="1"/>
          <p:nvPr/>
        </p:nvSpPr>
        <p:spPr>
          <a:xfrm>
            <a:off x="6315303" y="411645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900 прочтений на режим, но незначимо</a:t>
            </a:r>
          </a:p>
        </p:txBody>
      </p:sp>
      <p:sp>
        <p:nvSpPr>
          <p:cNvPr id="27" name="Rounded Rectangle 26"/>
          <p:cNvSpPr/>
          <p:nvPr/>
        </p:nvSpPr>
        <p:spPr>
          <a:xfrm>
            <a:off x="374904" y="4767537"/>
            <a:ext cx="11441887" cy="1468670"/>
          </a:xfrm>
          <a:prstGeom prst="roundRect">
            <a:avLst>
              <a:gd name="adj" fmla="val 2075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858977"/>
            <a:ext cx="11112703" cy="1377230"/>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Цена обеих ошибок.</a:t>
            </a:r>
            <a:r>
              <a:rPr sz="850" b="0" i="0">
                <a:solidFill>
                  <a:srgbClr val="21295C"/>
                </a:solidFill>
                <a:latin typeface="Arial"/>
              </a:rPr>
              <a:t> Пропущенный рак — лечение позже и хуже. Ложный вызов — биопсия, месяцы тревоги.</a:t>
            </a:r>
          </a:p>
          <a:p>
            <a:pPr algn="l">
              <a:lnSpc>
                <a:spcPct val="126000"/>
              </a:lnSpc>
              <a:spcBef>
                <a:spcPts val="700"/>
              </a:spcBef>
            </a:pPr>
            <a:r>
              <a:rPr sz="850" b="0" i="0">
                <a:solidFill>
                  <a:srgbClr val="21295C"/>
                </a:solidFill>
                <a:latin typeface="Arial"/>
              </a:rPr>
              <a:t/>
            </a:r>
            <a:r>
              <a:rPr sz="850" b="1" i="0">
                <a:solidFill>
                  <a:srgbClr val="21295C"/>
                </a:solidFill>
                <a:latin typeface="Arial"/>
              </a:rPr>
              <a:t>Как читали.</a:t>
            </a:r>
            <a:r>
              <a:rPr sz="850" b="0" i="0">
                <a:solidFill>
                  <a:srgbClr val="21295C"/>
                </a:solidFill>
                <a:latin typeface="Arial"/>
              </a:rPr>
              <a:t> Десять радиологов программы скрининга прошли набор из шестидесяти маммограмм сами — это база. Через шесть недель прочли те же случаи заново, с подсказкой на экране. Набор подобрали так, чтобы система ошибалась в обе стороны.</a:t>
            </a:r>
          </a:p>
          <a:p>
            <a:pPr algn="l">
              <a:lnSpc>
                <a:spcPct val="126000"/>
              </a:lnSpc>
              <a:spcBef>
                <a:spcPts val="700"/>
              </a:spcBef>
            </a:pPr>
            <a:r>
              <a:rPr sz="850" b="0" i="0">
                <a:solidFill>
                  <a:srgbClr val="21295C"/>
                </a:solidFill>
                <a:latin typeface="Arial"/>
              </a:rPr>
              <a:t/>
            </a:r>
            <a:r>
              <a:rPr sz="850" b="1" i="0">
                <a:solidFill>
                  <a:srgbClr val="21295C"/>
                </a:solidFill>
                <a:latin typeface="Arial"/>
              </a:rPr>
              <a:t>Семьдесят один из ста — это</a:t>
            </a:r>
            <a:r>
              <a:rPr sz="850" b="0" i="0">
                <a:solidFill>
                  <a:srgbClr val="21295C"/>
                </a:solidFill>
                <a:latin typeface="Arial"/>
              </a:rPr>
              <a:t> двадцать девять пропущенных раков на сто имевшихся, и это человек без всякой подсказки.</a:t>
            </a:r>
          </a:p>
          <a:p>
            <a:pPr algn="l">
              <a:lnSpc>
                <a:spcPct val="126000"/>
              </a:lnSpc>
              <a:spcBef>
                <a:spcPts val="700"/>
              </a:spcBef>
            </a:pPr>
            <a:r>
              <a:rPr sz="850" b="0" i="0">
                <a:solidFill>
                  <a:srgbClr val="21295C"/>
                </a:solidFill>
                <a:latin typeface="Arial"/>
              </a:rPr>
              <a:t/>
            </a:r>
            <a:r>
              <a:rPr sz="850" b="1" i="0">
                <a:solidFill>
                  <a:srgbClr val="21295C"/>
                </a:solidFill>
                <a:latin typeface="Arial"/>
              </a:rPr>
              <a:t>Второй классический режим</a:t>
            </a:r>
            <a:r>
              <a:rPr sz="850" b="0" i="0">
                <a:solidFill>
                  <a:srgbClr val="21295C"/>
                </a:solidFill>
                <a:latin typeface="Arial"/>
              </a:rPr>
              <a:t> — второе человеческое чтение, чем держится программа.</a:t>
            </a:r>
          </a:p>
          <a:p>
            <a:pPr algn="l">
              <a:lnSpc>
                <a:spcPct val="126000"/>
              </a:lnSpc>
              <a:spcBef>
                <a:spcPts val="700"/>
              </a:spcBef>
            </a:pPr>
            <a:r>
              <a:rPr sz="850" b="0" i="0">
                <a:solidFill>
                  <a:srgbClr val="21295C"/>
                </a:solidFill>
                <a:latin typeface="Arial"/>
              </a:rPr>
              <a:t/>
            </a:r>
            <a:r>
              <a:rPr sz="850" b="1" i="0">
                <a:solidFill>
                  <a:srgbClr val="21295C"/>
                </a:solidFill>
                <a:latin typeface="Arial"/>
              </a:rPr>
              <a:t>Устроено.</a:t>
            </a:r>
            <a:r>
              <a:rPr sz="850" b="0" i="0">
                <a:solidFill>
                  <a:srgbClr val="21295C"/>
                </a:solidFill>
                <a:latin typeface="Arial"/>
              </a:rPr>
              <a:t> Вход — цифровая маммограмма, выход — отметка области с оценкой подозрительности. </a:t>
            </a:r>
            <a:r>
              <a:rPr sz="850" b="1" i="0">
                <a:solidFill>
                  <a:srgbClr val="21295C"/>
                </a:solidFill>
                <a:latin typeface="Arial"/>
              </a:rPr>
              <a:t>Имени изделия и обучающих данных работа не называет:</a:t>
            </a:r>
            <a:r>
              <a:rPr sz="850" b="0" i="0">
                <a:solidFill>
                  <a:srgbClr val="21295C"/>
                </a:solidFill>
                <a:latin typeface="Arial"/>
              </a:rPr>
              <a:t> допущенная коммерческая система.</a:t>
            </a:r>
          </a:p>
          <a:p>
            <a:pPr algn="l">
              <a:lnSpc>
                <a:spcPct val="126000"/>
              </a:lnSpc>
              <a:spcBef>
                <a:spcPts val="700"/>
              </a:spcBef>
            </a:pPr>
            <a:r>
              <a:rPr sz="850" b="0" i="0">
                <a:solidFill>
                  <a:srgbClr val="21295C"/>
                </a:solidFill>
                <a:latin typeface="Arial"/>
              </a:rPr>
              <a:t/>
            </a:r>
            <a:r>
              <a:rPr sz="850" b="1" i="0">
                <a:solidFill>
                  <a:srgbClr val="21295C"/>
                </a:solidFill>
                <a:latin typeface="Arial"/>
              </a:rPr>
              <a:t>Что переехало.</a:t>
            </a:r>
            <a:r>
              <a:rPr sz="850" b="0" i="0">
                <a:solidFill>
                  <a:srgbClr val="21295C"/>
                </a:solidFill>
                <a:latin typeface="Arial"/>
              </a:rPr>
              <a:t> Нагрузка на том же месте упала — и это цена: пропуск модели стал пропуском читателя.</a:t>
            </a:r>
          </a:p>
          <a:p>
            <a:pPr algn="l">
              <a:lnSpc>
                <a:spcPct val="126000"/>
              </a:lnSpc>
              <a:spcBef>
                <a:spcPts val="700"/>
              </a:spcBef>
            </a:pPr>
            <a:r>
              <a:rPr sz="850" b="0" i="0">
                <a:solidFill>
                  <a:srgbClr val="21295C"/>
                </a:solidFill>
                <a:latin typeface="Arial"/>
              </a:rPr>
              <a:t/>
            </a:r>
            <a:r>
              <a:rPr sz="850" b="1" i="0">
                <a:solidFill>
                  <a:srgbClr val="21295C"/>
                </a:solidFill>
                <a:latin typeface="Arial"/>
              </a:rPr>
              <a:t>Как читали.</a:t>
            </a:r>
            <a:r>
              <a:rPr sz="850" b="0" i="0">
                <a:solidFill>
                  <a:srgbClr val="21295C"/>
                </a:solidFill>
                <a:latin typeface="Arial"/>
              </a:rPr>
              <a:t> Двенадцать радиологов программы скрининга прошли сто пятьдесят исследований — 75 с подтверждённым раком, 75 без — каждое дважды: сами и с допущенной системой, которая ставит оценку подозрительности от 1 до 100.</a:t>
            </a:r>
          </a:p>
          <a:p>
            <a:pPr algn="l">
              <a:lnSpc>
                <a:spcPct val="126000"/>
              </a:lnSpc>
              <a:spcBef>
                <a:spcPts val="700"/>
              </a:spcBef>
            </a:pPr>
            <a:r>
              <a:rPr sz="850" b="0" i="0">
                <a:solidFill>
                  <a:srgbClr val="21295C"/>
                </a:solidFill>
                <a:latin typeface="Arial"/>
              </a:rPr>
              <a:t/>
            </a:r>
            <a:r>
              <a:rPr sz="850" b="1" i="0">
                <a:solidFill>
                  <a:srgbClr val="21295C"/>
                </a:solidFill>
                <a:latin typeface="Arial"/>
              </a:rPr>
              <a:t>Сужение поиска само по себе ни польза, ни вред.</a:t>
            </a:r>
            <a:r>
              <a:rPr sz="850" b="0" i="0">
                <a:solidFill>
                  <a:srgbClr val="21295C"/>
                </a:solidFill>
                <a:latin typeface="Arial"/>
              </a:rPr>
              <a:t> Знак задаёт правота подсказки: по сигналу не различить.</a:t>
            </a:r>
          </a:p>
          <a:p>
            <a:pPr algn="l">
              <a:lnSpc>
                <a:spcPct val="126000"/>
              </a:lnSpc>
              <a:spcBef>
                <a:spcPts val="700"/>
              </a:spcBef>
            </a:pPr>
            <a:r>
              <a:rPr sz="850" b="0" i="0">
                <a:solidFill>
                  <a:srgbClr val="21295C"/>
                </a:solidFill>
                <a:latin typeface="Arial"/>
              </a:rPr>
              <a:t/>
            </a:r>
            <a:r>
              <a:rPr sz="850" b="1" i="0">
                <a:solidFill>
                  <a:srgbClr val="21295C"/>
                </a:solidFill>
                <a:latin typeface="Arial"/>
              </a:rPr>
              <a:t>Различение больного и здорового выросло значимо.</a:t>
            </a:r>
            <a:r>
              <a:rPr sz="850" b="0" i="0">
                <a:solidFill>
                  <a:srgbClr val="21295C"/>
                </a:solidFill>
                <a:latin typeface="Arial"/>
              </a:rPr>
              <a:t> «Модель сделала врачей лучше» этим не держится.</a:t>
            </a:r>
          </a:p>
          <a:p>
            <a:pPr algn="l">
              <a:lnSpc>
                <a:spcPct val="126000"/>
              </a:lnSpc>
              <a:spcBef>
                <a:spcPts val="700"/>
              </a:spcBef>
            </a:pPr>
            <a:r>
              <a:rPr sz="850" b="0" i="0">
                <a:solidFill>
                  <a:srgbClr val="21295C"/>
                </a:solidFill>
                <a:latin typeface="Arial"/>
              </a:rPr>
              <a:t/>
            </a:r>
            <a:r>
              <a:rPr sz="850" b="0" i="1">
                <a:solidFill>
                  <a:srgbClr val="1C7293"/>
                </a:solidFill>
                <a:latin typeface="Arial"/>
              </a:rPr>
              <a:t>Лабораторный опыт: раков в наборе половина, в живой программе их единицы на тысячу.</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одна подсказка с двумя знаками</a:t>
            </a:r>
          </a:p>
        </p:txBody>
      </p:sp>
      <p:sp>
        <p:nvSpPr>
          <p:cNvPr id="4" name="Rounded Rectangle 3"/>
          <p:cNvSpPr/>
          <p:nvPr/>
        </p:nvSpPr>
        <p:spPr>
          <a:xfrm>
            <a:off x="502920"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ШАНСЫ ВЕРНОГО ОТВЕТА: МОДЕЛЬ ПРАВА → НЕПРАВА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вчетверо вверх → вчетверо вниз</a:t>
            </a:r>
          </a:p>
        </p:txBody>
      </p:sp>
      <p:sp>
        <p:nvSpPr>
          <p:cNvPr id="7" name="TextBox 6"/>
          <p:cNvSpPr txBox="1"/>
          <p:nvPr/>
        </p:nvSpPr>
        <p:spPr>
          <a:xfrm>
            <a:off x="640080" y="3140692"/>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срез без подсказки</a:t>
            </a:r>
          </a:p>
        </p:txBody>
      </p:sp>
      <p:sp>
        <p:nvSpPr>
          <p:cNvPr id="8" name="Rounded Rectangle 7"/>
          <p:cNvSpPr/>
          <p:nvPr/>
        </p:nvSpPr>
        <p:spPr>
          <a:xfrm>
            <a:off x="3340531"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ДОЛЯХ: МОДЕЛЬ ПРАВА → НЕПРАВА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50 из ста</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опыт не защищает</a:t>
            </a:r>
          </a:p>
        </p:txBody>
      </p:sp>
      <p:sp>
        <p:nvSpPr>
          <p:cNvPr id="12" name="Rounded Rectangle 11"/>
          <p:cNvSpPr/>
          <p:nvPr/>
        </p:nvSpPr>
        <p:spPr>
          <a:xfrm>
            <a:off x="6178143"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4" name="TextBox 13"/>
          <p:cNvSpPr txBox="1"/>
          <p:nvPr/>
        </p:nvSpPr>
        <p:spPr>
          <a:xfrm>
            <a:off x="6315303"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прибавку при верной → равную потерю при неверной</a:t>
            </a:r>
          </a:p>
        </p:txBody>
      </p:sp>
      <p:sp>
        <p:nvSpPr>
          <p:cNvPr id="15" name="Rounded Rectangle 14"/>
          <p:cNvSpPr/>
          <p:nvPr/>
        </p:nvSpPr>
        <p:spPr>
          <a:xfrm>
            <a:off x="9015755"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средняя та же, разброс вырос</a:t>
            </a:r>
          </a:p>
        </p:txBody>
      </p:sp>
      <p:sp>
        <p:nvSpPr>
          <p:cNvPr id="18" name="Rounded Rectangle 17"/>
          <p:cNvSpPr/>
          <p:nvPr/>
        </p:nvSpPr>
        <p:spPr>
          <a:xfrm>
            <a:off x="374904" y="3580535"/>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a:t>
            </a:r>
            <a:r>
              <a:rPr sz="1500" b="0" i="0">
                <a:solidFill>
                  <a:srgbClr val="21295C"/>
                </a:solidFill>
                <a:latin typeface="Arial"/>
              </a:rPr>
              <a:t> читали 80 срезов дважды: половина случаев с подсказкой, половина без.</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один патолог на срезе; второе мнение субспециалиста названо, не измерено.</a:t>
            </a:r>
          </a:p>
        </p:txBody>
      </p:sp>
      <p:sp>
        <p:nvSpPr>
          <p:cNvPr id="20" name="TextBox 19"/>
          <p:cNvSpPr txBox="1"/>
          <p:nvPr/>
        </p:nvSpPr>
        <p:spPr>
          <a:xfrm>
            <a:off x="6278727"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оцифрованный срез, выход — один из двух диагнозов; точность модели на независимом наборе </a:t>
            </a:r>
            <a:r>
              <a:rPr sz="1500" b="1" i="0">
                <a:solidFill>
                  <a:srgbClr val="21295C"/>
                </a:solidFill>
                <a:latin typeface="Arial"/>
              </a:rPr>
              <a:t>0,842</a:t>
            </a:r>
            <a:r>
              <a:rPr sz="1500" b="0" i="0">
                <a:solidFill>
                  <a:srgbClr val="21295C"/>
                </a:solidFill>
                <a:latin typeface="Arial"/>
              </a:rPr>
              <a:t>. </a:t>
            </a:r>
            <a:r>
              <a:rPr sz="1500" b="1" i="0">
                <a:solidFill>
                  <a:srgbClr val="21295C"/>
                </a:solidFill>
                <a:latin typeface="Arial"/>
              </a:rPr>
              <a:t>Имени изделия работа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Ошибка модели стала ошибкой врача — подпись ставит он.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a:t>
            </a:r>
          </a:p>
        </p:txBody>
      </p:sp>
      <p:sp>
        <p:nvSpPr>
          <p:cNvPr id="21" name="Rectangle 20"/>
          <p:cNvSpPr/>
          <p:nvPr/>
        </p:nvSpPr>
        <p:spPr>
          <a:xfrm>
            <a:off x="6091275" y="3671975"/>
            <a:ext cx="9144" cy="19601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контрольная линия</a:t>
            </a:r>
          </a:p>
        </p:txBody>
      </p:sp>
      <p:sp>
        <p:nvSpPr>
          <p:cNvPr id="4" name="Rounded Rectangle 3"/>
          <p:cNvSpPr/>
          <p:nvPr/>
        </p:nvSpPr>
        <p:spPr>
          <a:xfrm>
            <a:off x="502920" y="1335024"/>
            <a:ext cx="2673019" cy="281609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7" name="TextBox 6"/>
          <p:cNvSpPr txBox="1"/>
          <p:nvPr/>
        </p:nvSpPr>
        <p:spPr>
          <a:xfrm>
            <a:off x="640080" y="2957740"/>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специфичность 98,5 в обоих плечах; двадцать шесть раков из ста двойное чтение не находит</a:t>
            </a:r>
          </a:p>
        </p:txBody>
      </p:sp>
      <p:sp>
        <p:nvSpPr>
          <p:cNvPr id="8" name="Rounded Rectangle 7"/>
          <p:cNvSpPr/>
          <p:nvPr/>
        </p:nvSpPr>
        <p:spPr>
          <a:xfrm>
            <a:off x="3340531" y="1335024"/>
            <a:ext cx="2673019" cy="281609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6178143" y="1335024"/>
            <a:ext cx="2673019" cy="281609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6315303" y="1725375"/>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итоговый анализ, 105 934 женщины</a:t>
            </a:r>
          </a:p>
        </p:txBody>
      </p:sp>
      <p:sp>
        <p:nvSpPr>
          <p:cNvPr id="15" name="TextBox 14"/>
          <p:cNvSpPr txBox="1"/>
          <p:nvPr/>
        </p:nvSpPr>
        <p:spPr>
          <a:xfrm>
            <a:off x="6315303" y="2457923"/>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одну базу не складываются</a:t>
            </a:r>
          </a:p>
        </p:txBody>
      </p:sp>
      <p:sp>
        <p:nvSpPr>
          <p:cNvPr id="16" name="Rounded Rectangle 15"/>
          <p:cNvSpPr/>
          <p:nvPr/>
        </p:nvSpPr>
        <p:spPr>
          <a:xfrm>
            <a:off x="9015755" y="1335024"/>
            <a:ext cx="2673019" cy="281609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не-худшесть показана, улучшение не доказано: отношение 0,88, интервал 0,65–1,18</a:t>
            </a:r>
          </a:p>
        </p:txBody>
      </p:sp>
      <p:sp>
        <p:nvSpPr>
          <p:cNvPr id="20" name="Rounded Rectangle 19"/>
          <p:cNvSpPr/>
          <p:nvPr/>
        </p:nvSpPr>
        <p:spPr>
          <a:xfrm>
            <a:off x="502920" y="4315709"/>
            <a:ext cx="3618890" cy="1768363"/>
          </a:xfrm>
          <a:prstGeom prst="roundRect">
            <a:avLst>
              <a:gd name="adj" fmla="val 1723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640080" y="4452869"/>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РАКОМ: НАХОДКА ТОЛЬКО МОДЕЛИ → ТОЛЬКО РАДИОЛОГА</a:t>
            </a:r>
          </a:p>
        </p:txBody>
      </p:sp>
      <p:sp>
        <p:nvSpPr>
          <p:cNvPr id="22" name="TextBox 21"/>
          <p:cNvSpPr txBox="1"/>
          <p:nvPr/>
        </p:nvSpPr>
        <p:spPr>
          <a:xfrm>
            <a:off x="640080" y="4913532"/>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23" name="TextBox 22"/>
          <p:cNvSpPr txBox="1"/>
          <p:nvPr/>
        </p:nvSpPr>
        <p:spPr>
          <a:xfrm>
            <a:off x="640080" y="5340531"/>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знаменатели почти равны: 1 886 против 1 858 находок</a:t>
            </a:r>
          </a:p>
        </p:txBody>
      </p:sp>
      <p:sp>
        <p:nvSpPr>
          <p:cNvPr id="24" name="Rounded Rectangle 23"/>
          <p:cNvSpPr/>
          <p:nvPr/>
        </p:nvSpPr>
        <p:spPr>
          <a:xfrm>
            <a:off x="4286402" y="4315709"/>
            <a:ext cx="3618890" cy="1768363"/>
          </a:xfrm>
          <a:prstGeom prst="roundRect">
            <a:avLst>
              <a:gd name="adj" fmla="val 17236"/>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4423562" y="4452869"/>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ОТЗЫВАЮТ: НАХОДКА ТОЛЬКО МОДЕЛИ → ТОЛЬКО РАДИОЛОГА</a:t>
            </a:r>
          </a:p>
        </p:txBody>
      </p:sp>
      <p:sp>
        <p:nvSpPr>
          <p:cNvPr id="26" name="TextBox 25"/>
          <p:cNvSpPr txBox="1"/>
          <p:nvPr/>
        </p:nvSpPr>
        <p:spPr>
          <a:xfrm>
            <a:off x="4423562" y="4913532"/>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14,2</a:t>
            </a:r>
          </a:p>
        </p:txBody>
      </p:sp>
      <p:sp>
        <p:nvSpPr>
          <p:cNvPr id="27" name="Rounded Rectangle 26"/>
          <p:cNvSpPr/>
          <p:nvPr/>
        </p:nvSpPr>
        <p:spPr>
          <a:xfrm>
            <a:off x="8069884" y="4315709"/>
            <a:ext cx="3618890" cy="1768363"/>
          </a:xfrm>
          <a:prstGeom prst="roundRect">
            <a:avLst>
              <a:gd name="adj" fmla="val 17236"/>
            </a:avLst>
          </a:prstGeom>
          <a:solidFill>
            <a:srgbClr val="F4F7FA"/>
          </a:solidFill>
          <a:ln w="15240">
            <a:solidFill>
              <a:srgbClr val="1C7293"/>
            </a:solidFill>
          </a:ln>
          <a:effectLst/>
        </p:spPr>
        <p:txBody>
          <a:bodyPr rtlCol="0" anchor="ctr"/>
          <a:lstStyle/>
          <a:p>
            <a:pPr algn="ctr"/>
          </a:p>
        </p:txBody>
      </p:sp>
      <p:sp>
        <p:nvSpPr>
          <p:cNvPr id="28" name="TextBox 27"/>
          <p:cNvSpPr txBox="1"/>
          <p:nvPr/>
        </p:nvSpPr>
        <p:spPr>
          <a:xfrm>
            <a:off x="8207044" y="4452869"/>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29" name="TextBox 28"/>
          <p:cNvSpPr txBox="1"/>
          <p:nvPr/>
        </p:nvSpPr>
        <p:spPr>
          <a:xfrm>
            <a:off x="8207044" y="4706060"/>
            <a:ext cx="3344570"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больше найденных раков → арбитраж как новую работу и контроль порога</a:t>
            </a:r>
          </a:p>
        </p:txBody>
      </p:sp>
      <p:sp>
        <p:nvSpPr>
          <p:cNvPr id="30" name="TextBox 29"/>
          <p:cNvSpPr txBox="1"/>
          <p:nvPr/>
        </p:nvSpPr>
        <p:spPr>
          <a:xfrm>
            <a:off x="8207044" y="5735669"/>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лучше и по качеству, и по нагрузке</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откалибровано не по правоте</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выигрыша не предсказывают — предсказывает правота модели</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140 радиологов, 15 задач по рентгенограмме</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значимо — и почти половина согласий остаётся</a:t>
            </a:r>
          </a:p>
        </p:txBody>
      </p:sp>
      <p:sp>
        <p:nvSpPr>
          <p:cNvPr id="12" name="Rounded Rectangle 11"/>
          <p:cNvSpPr/>
          <p:nvPr/>
        </p:nvSpPr>
        <p:spPr>
          <a:xfrm>
            <a:off x="374904" y="2982641"/>
            <a:ext cx="11441887" cy="1492052"/>
          </a:xfrm>
          <a:prstGeom prst="roundRect">
            <a:avLst>
              <a:gd name="adj" fmla="val 2042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Доверие откалибровано не по тому признаку:</a:t>
            </a:r>
            <a:r>
              <a:rPr sz="1500" b="0" i="0">
                <a:solidFill>
                  <a:srgbClr val="21295C"/>
                </a:solidFill>
                <a:latin typeface="Arial"/>
              </a:rPr>
              <a:t> по подписи, по уверенности, по единичному промаху. </a:t>
            </a:r>
            <a:r>
              <a:rPr sz="1500" b="1" i="0">
                <a:solidFill>
                  <a:srgbClr val="21295C"/>
                </a:solidFill>
                <a:latin typeface="Arial"/>
              </a:rPr>
              <a:t>Правота в этот счёт не входит.</a:t>
            </a:r>
          </a:p>
        </p:txBody>
      </p:sp>
      <p:sp>
        <p:nvSpPr>
          <p:cNvPr id="14" name="TextBox 13"/>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Согласие мерили на 199 платных участниках:</a:t>
            </a:r>
            <a:r>
              <a:rPr sz="1500" b="0" i="0">
                <a:solidFill>
                  <a:srgbClr val="21295C"/>
                </a:solidFill>
                <a:latin typeface="Arial"/>
              </a:rPr>
              <a:t> оценивали состав питания; подсказку имитировали — верна в 75 из ста.</a:t>
            </a:r>
          </a:p>
          <a:p>
            <a:pPr algn="l">
              <a:lnSpc>
                <a:spcPct val="126000"/>
              </a:lnSpc>
              <a:spcBef>
                <a:spcPts val="700"/>
              </a:spcBef>
            </a:pPr>
            <a:r>
              <a:rPr sz="1200" b="0" i="0">
                <a:solidFill>
                  <a:srgbClr val="21295C"/>
                </a:solidFill>
                <a:latin typeface="Arial"/>
              </a:rPr>
              <a:t/>
            </a:r>
            <a:r>
              <a:rPr sz="1200" b="0" i="1">
                <a:solidFill>
                  <a:srgbClr val="1C7293"/>
                </a:solidFill>
                <a:latin typeface="Arial"/>
              </a:rPr>
              <a:t>Опыт лабораторный, не клинический.</a:t>
            </a:r>
          </a:p>
        </p:txBody>
      </p:sp>
      <p:sp>
        <p:nvSpPr>
          <p:cNvPr id="15" name="Rectangle 14"/>
          <p:cNvSpPr/>
          <p:nvPr/>
        </p:nvSpPr>
        <p:spPr>
          <a:xfrm>
            <a:off x="6091275" y="3074081"/>
            <a:ext cx="9144" cy="121773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Yu и соавт., Nature Medicine 2024</a:t>
            </a:r>
            <a:r>
              <a:rPr sz="1200" b="0" i="1">
                <a:solidFill>
                  <a:srgbClr val="1C7293"/>
                </a:solidFill>
                <a:latin typeface="Arial"/>
              </a:rPr>
              <a:t> · </a:t>
            </a:r>
            <a:r>
              <a:rPr sz="1200" b="0" i="1" u="sng">
                <a:solidFill>
                  <a:srgbClr val="065A82"/>
                </a:solidFill>
                <a:latin typeface="Arial"/>
                <a:hlinkClick r:id="rId3"/>
              </a:rPr>
              <a:t>Buçinca и соавт., CSCW 2021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749966"/>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280318"/>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8" name="TextBox 7"/>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9" name="Rectangle 8"/>
          <p:cNvSpPr/>
          <p:nvPr/>
        </p:nvSpPr>
        <p:spPr>
          <a:xfrm>
            <a:off x="2481942" y="1996854"/>
            <a:ext cx="1730602"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3322097" y="1841406"/>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50779"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Модель сильнее человека: пара хуже модели</a:t>
            </a:r>
          </a:p>
        </p:txBody>
      </p:sp>
      <p:sp>
        <p:nvSpPr>
          <p:cNvPr id="12" name="Rectangle 11"/>
          <p:cNvSpPr/>
          <p:nvPr/>
        </p:nvSpPr>
        <p:spPr>
          <a:xfrm>
            <a:off x="7521049" y="1996854"/>
            <a:ext cx="1934202"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8412105"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640787"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Человек сильнее модели: пара лучше обеих сторон</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интервал нуля не пересекает</a:t>
            </a:r>
          </a:p>
        </p:txBody>
      </p:sp>
      <p:sp>
        <p:nvSpPr>
          <p:cNvPr id="17" name="Rounded Rectangle 16"/>
          <p:cNvSpPr/>
          <p:nvPr/>
        </p:nvSpPr>
        <p:spPr>
          <a:xfrm>
            <a:off x="374904" y="3436056"/>
            <a:ext cx="11441887" cy="89793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идёт против лучшей из двух сторон. Человека одного пара обходит:</a:t>
            </a:r>
            <a:r>
              <a:rPr sz="1500" b="0" i="0">
                <a:solidFill>
                  <a:srgbClr val="21295C"/>
                </a:solidFill>
                <a:latin typeface="Arial"/>
              </a:rPr>
              <a:t> 0,64 (интервал 0,53–0,74).</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Предрегистрированный обзор с мета-анализом.</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6: хирурги на септическом шоке</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ectangle 11"/>
          <p:cNvSpPr/>
          <p:nvPr/>
        </p:nvSpPr>
        <p:spPr>
          <a:xfrm>
            <a:off x="754380" y="3565875"/>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0,7</a:t>
            </a:r>
          </a:p>
        </p:txBody>
      </p:sp>
      <p:sp>
        <p:nvSpPr>
          <p:cNvPr id="14" name="TextBox 13"/>
          <p:cNvSpPr txBox="1"/>
          <p:nvPr/>
        </p:nvSpPr>
        <p:spPr>
          <a:xfrm>
            <a:off x="11071555"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0,9</a:t>
            </a:r>
          </a:p>
        </p:txBody>
      </p:sp>
      <p:sp>
        <p:nvSpPr>
          <p:cNvPr id="15" name="Rectangle 14"/>
          <p:cNvSpPr/>
          <p:nvPr/>
        </p:nvSpPr>
        <p:spPr>
          <a:xfrm>
            <a:off x="836676" y="3485408"/>
            <a:ext cx="37033" cy="211226"/>
          </a:xfrm>
          <a:prstGeom prst="rect">
            <a:avLst/>
          </a:prstGeom>
          <a:solidFill>
            <a:srgbClr val="FFFFFF"/>
          </a:solidFill>
          <a:ln>
            <a:noFill/>
          </a:ln>
          <a:effectLst/>
        </p:spPr>
        <p:txBody>
          <a:bodyPr rtlCol="0" anchor="ctr"/>
          <a:lstStyle/>
          <a:p>
            <a:pPr algn="ctr"/>
          </a:p>
        </p:txBody>
      </p:sp>
      <p:sp>
        <p:nvSpPr>
          <p:cNvPr id="16" name="Rectangle 15"/>
          <p:cNvSpPr/>
          <p:nvPr/>
        </p:nvSpPr>
        <p:spPr>
          <a:xfrm>
            <a:off x="910742" y="3485408"/>
            <a:ext cx="37033" cy="211226"/>
          </a:xfrm>
          <a:prstGeom prst="rect">
            <a:avLst/>
          </a:prstGeom>
          <a:solidFill>
            <a:srgbClr val="FFFFFF"/>
          </a:solidFill>
          <a:ln>
            <a:noFill/>
          </a:ln>
          <a:effectLst/>
        </p:spPr>
        <p:txBody>
          <a:bodyPr rtlCol="0" anchor="ctr"/>
          <a:lstStyle/>
          <a:p>
            <a:pPr algn="ctr"/>
          </a:p>
        </p:txBody>
      </p:sp>
      <p:sp>
        <p:nvSpPr>
          <p:cNvPr id="17" name="Rectangle 16"/>
          <p:cNvSpPr/>
          <p:nvPr/>
        </p:nvSpPr>
        <p:spPr>
          <a:xfrm>
            <a:off x="9430106" y="3616167"/>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590943" y="3872199"/>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0,816</a:t>
            </a:r>
          </a:p>
          <a:p>
            <a:pPr algn="ctr">
              <a:lnSpc>
                <a:spcPct val="110000"/>
              </a:lnSpc>
            </a:pPr>
            <a:r>
              <a:rPr sz="1200" b="0" i="0">
                <a:solidFill>
                  <a:srgbClr val="21295C"/>
                </a:solidFill>
                <a:latin typeface="Arial"/>
              </a:rPr>
              <a:t>Модель одна</a:t>
            </a:r>
          </a:p>
        </p:txBody>
      </p:sp>
      <p:sp>
        <p:nvSpPr>
          <p:cNvPr id="19" name="Rectangle 18"/>
          <p:cNvSpPr/>
          <p:nvPr/>
        </p:nvSpPr>
        <p:spPr>
          <a:xfrm>
            <a:off x="9633706" y="3401283"/>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7794543" y="2894901"/>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0,820</a:t>
            </a:r>
          </a:p>
          <a:p>
            <a:pPr algn="ctr">
              <a:lnSpc>
                <a:spcPct val="110000"/>
              </a:lnSpc>
            </a:pPr>
            <a:r>
              <a:rPr sz="1200" b="0" i="0">
                <a:solidFill>
                  <a:srgbClr val="21295C"/>
                </a:solidFill>
                <a:latin typeface="Arial"/>
              </a:rPr>
              <a:t>Хирург один</a:t>
            </a:r>
          </a:p>
        </p:txBody>
      </p:sp>
      <p:sp>
        <p:nvSpPr>
          <p:cNvPr id="21" name="Rectangle 20"/>
          <p:cNvSpPr/>
          <p:nvPr/>
        </p:nvSpPr>
        <p:spPr>
          <a:xfrm>
            <a:off x="4136498" y="3401283"/>
            <a:ext cx="50292" cy="1645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2297335" y="2894901"/>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0,712</a:t>
            </a:r>
          </a:p>
          <a:p>
            <a:pPr algn="ctr">
              <a:lnSpc>
                <a:spcPct val="110000"/>
              </a:lnSpc>
            </a:pPr>
            <a:r>
              <a:rPr sz="1200" b="0" i="0">
                <a:solidFill>
                  <a:srgbClr val="21295C"/>
                </a:solidFill>
                <a:latin typeface="Arial"/>
              </a:rPr>
              <a:t>Хирург с подсказкой</a:t>
            </a:r>
          </a:p>
        </p:txBody>
      </p:sp>
      <p:sp>
        <p:nvSpPr>
          <p:cNvPr id="23" name="TextBox 22"/>
          <p:cNvSpPr txBox="1"/>
          <p:nvPr/>
        </p:nvSpPr>
        <p:spPr>
          <a:xfrm>
            <a:off x="502920" y="439687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площадь под кривой · 150 случаев, 30 хирургов по группам жребием, 30 дней наблюдения</a:t>
            </a:r>
          </a:p>
        </p:txBody>
      </p:sp>
      <p:sp>
        <p:nvSpPr>
          <p:cNvPr id="24" name="Rounded Rectangle 23"/>
          <p:cNvSpPr/>
          <p:nvPr/>
        </p:nvSpPr>
        <p:spPr>
          <a:xfrm>
            <a:off x="374904" y="4707766"/>
            <a:ext cx="11441887" cy="1528441"/>
          </a:xfrm>
          <a:prstGeom prst="roundRect">
            <a:avLst>
              <a:gd name="adj" fmla="val 19941"/>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799206"/>
            <a:ext cx="11112703" cy="1437001"/>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Обещано дважды: пример, где добавление человека к машине ухудшило результат. Это он.</a:t>
            </a:r>
          </a:p>
          <a:p>
            <a:pPr algn="l">
              <a:lnSpc>
                <a:spcPct val="126000"/>
              </a:lnSpc>
              <a:spcBef>
                <a:spcPts val="700"/>
              </a:spcBef>
            </a:pPr>
            <a:r>
              <a:rPr sz="850" b="0" i="0">
                <a:solidFill>
                  <a:srgbClr val="21295C"/>
                </a:solidFill>
                <a:latin typeface="Arial"/>
              </a:rPr>
              <a:t/>
            </a:r>
            <a:r>
              <a:rPr sz="850" b="1" i="0">
                <a:solidFill>
                  <a:srgbClr val="21295C"/>
                </a:solidFill>
                <a:latin typeface="Arial"/>
              </a:rPr>
              <a:t>Классический режим</a:t>
            </a:r>
            <a:r>
              <a:rPr sz="850" b="0" i="0">
                <a:solidFill>
                  <a:srgbClr val="21295C"/>
                </a:solidFill>
                <a:latin typeface="Arial"/>
              </a:rPr>
              <a:t> — чем решают без обученной модели: шкала, справочник, процедура, второй человек</a:t>
            </a:r>
          </a:p>
          <a:p>
            <a:pPr algn="l">
              <a:lnSpc>
                <a:spcPct val="126000"/>
              </a:lnSpc>
              <a:spcBef>
                <a:spcPts val="700"/>
              </a:spcBef>
            </a:pPr>
            <a:r>
              <a:rPr sz="850" b="0" i="0">
                <a:solidFill>
                  <a:srgbClr val="21295C"/>
                </a:solidFill>
                <a:latin typeface="Arial"/>
              </a:rPr>
              <a:t/>
            </a:r>
            <a:r>
              <a:rPr sz="850" b="1" i="0">
                <a:solidFill>
                  <a:srgbClr val="21295C"/>
                </a:solidFill>
                <a:latin typeface="Arial"/>
              </a:rPr>
              <a:t>Одна выборка — три шкалы и модель.</a:t>
            </a:r>
            <a:r>
              <a:rPr sz="850" b="0" i="0">
                <a:solidFill>
                  <a:srgbClr val="21295C"/>
                </a:solidFill>
                <a:latin typeface="Arial"/>
              </a:rPr>
              <a:t> Физического состояния 0,8743 · экстренной хирургии 0,8910 · калькулятор 0,8975 · модель 0,9162.</a:t>
            </a:r>
          </a:p>
          <a:p>
            <a:pPr algn="l">
              <a:lnSpc>
                <a:spcPct val="126000"/>
              </a:lnSpc>
              <a:spcBef>
                <a:spcPts val="700"/>
              </a:spcBef>
            </a:pPr>
            <a:r>
              <a:rPr sz="850" b="0" i="0">
                <a:solidFill>
                  <a:srgbClr val="21295C"/>
                </a:solidFill>
                <a:latin typeface="Arial"/>
              </a:rPr>
              <a:t/>
            </a:r>
            <a:r>
              <a:rPr sz="850" b="1" i="0">
                <a:solidFill>
                  <a:srgbClr val="21295C"/>
                </a:solidFill>
                <a:latin typeface="Arial"/>
              </a:rPr>
              <a:t>Другие 150 случаев — чутьё хирурга.</a:t>
            </a:r>
            <a:r>
              <a:rPr sz="850" b="0" i="0">
                <a:solidFill>
                  <a:srgbClr val="21295C"/>
                </a:solidFill>
                <a:latin typeface="Arial"/>
              </a:rPr>
              <a:t> </a:t>
            </a:r>
            <a:r>
              <a:rPr sz="850" b="1" i="0">
                <a:solidFill>
                  <a:srgbClr val="21295C"/>
                </a:solidFill>
                <a:latin typeface="Arial"/>
              </a:rPr>
              <a:t>30 хирургов, жребием на две группы по 15:</a:t>
            </a:r>
            <a:r>
              <a:rPr sz="850" b="0" i="0">
                <a:solidFill>
                  <a:srgbClr val="21295C"/>
                </a:solidFill>
                <a:latin typeface="Arial"/>
              </a:rPr>
              <a:t> одни без подсказки, другие после знакомства с POTTER. Смертность 0,841 — точнее модель, септический шок 0,820 — точнее человек.</a:t>
            </a:r>
          </a:p>
          <a:p>
            <a:pPr algn="l">
              <a:lnSpc>
                <a:spcPct val="126000"/>
              </a:lnSpc>
              <a:spcBef>
                <a:spcPts val="700"/>
              </a:spcBef>
            </a:pPr>
            <a:r>
              <a:rPr sz="850" b="0" i="0">
                <a:solidFill>
                  <a:srgbClr val="21295C"/>
                </a:solidFill>
                <a:latin typeface="Arial"/>
              </a:rPr>
              <a:t/>
            </a:r>
            <a:r>
              <a:rPr sz="850" b="0" i="1">
                <a:solidFill>
                  <a:srgbClr val="1C7293"/>
                </a:solidFill>
                <a:latin typeface="Arial"/>
              </a:rPr>
              <a:t>Выборки разные — рядом не ставятся.</a:t>
            </a:r>
          </a:p>
          <a:p>
            <a:pPr algn="l">
              <a:lnSpc>
                <a:spcPct val="126000"/>
              </a:lnSpc>
              <a:spcBef>
                <a:spcPts val="700"/>
              </a:spcBef>
            </a:pPr>
            <a:r>
              <a:rPr sz="850" b="0" i="0">
                <a:solidFill>
                  <a:srgbClr val="21295C"/>
                </a:solidFill>
                <a:latin typeface="Arial"/>
              </a:rPr>
              <a:t/>
            </a:r>
            <a:r>
              <a:rPr sz="850" b="1" i="0">
                <a:solidFill>
                  <a:srgbClr val="21295C"/>
                </a:solidFill>
                <a:latin typeface="Arial"/>
              </a:rPr>
              <a:t>c-статистика:</a:t>
            </a:r>
            <a:r>
              <a:rPr sz="850" b="0" i="0">
                <a:solidFill>
                  <a:srgbClr val="21295C"/>
                </a:solidFill>
                <a:latin typeface="Arial"/>
              </a:rPr>
              <a:t> 0,5 — монетка, 1,0 — без промаха</a:t>
            </a:r>
          </a:p>
          <a:p>
            <a:pPr algn="l">
              <a:lnSpc>
                <a:spcPct val="126000"/>
              </a:lnSpc>
              <a:spcBef>
                <a:spcPts val="700"/>
              </a:spcBef>
            </a:pPr>
            <a:r>
              <a:rPr sz="850" b="0" i="0">
                <a:solidFill>
                  <a:srgbClr val="21295C"/>
                </a:solidFill>
                <a:latin typeface="Arial"/>
              </a:rPr>
              <a:t/>
            </a:r>
            <a:r>
              <a:rPr sz="850" b="1" i="0">
                <a:solidFill>
                  <a:srgbClr val="21295C"/>
                </a:solidFill>
                <a:latin typeface="Arial"/>
              </a:rPr>
              <a:t>Риск оценивали по письменному описанию случая, без осмотра больного.</a:t>
            </a:r>
          </a:p>
          <a:p>
            <a:pPr algn="l">
              <a:lnSpc>
                <a:spcPct val="126000"/>
              </a:lnSpc>
              <a:spcBef>
                <a:spcPts val="700"/>
              </a:spcBef>
            </a:pPr>
            <a:r>
              <a:rPr sz="850" b="0" i="0">
                <a:solidFill>
                  <a:srgbClr val="21295C"/>
                </a:solidFill>
                <a:latin typeface="Arial"/>
              </a:rPr>
              <a:t/>
            </a:r>
            <a:r>
              <a:rPr sz="850" b="1" i="0">
                <a:solidFill>
                  <a:srgbClr val="21295C"/>
                </a:solidFill>
                <a:latin typeface="Arial"/>
              </a:rPr>
              <a:t>Изделие: POTTER.</a:t>
            </a:r>
            <a:r>
              <a:rPr sz="850" b="0" i="0">
                <a:solidFill>
                  <a:srgbClr val="21295C"/>
                </a:solidFill>
                <a:latin typeface="Arial"/>
              </a:rPr>
              <a:t> </a:t>
            </a:r>
            <a:r>
              <a:rPr sz="850" b="1" i="0">
                <a:solidFill>
                  <a:srgbClr val="21295C"/>
                </a:solidFill>
                <a:latin typeface="Arial"/>
              </a:rPr>
              <a:t>Вход:</a:t>
            </a:r>
            <a:r>
              <a:rPr sz="850" b="0" i="0">
                <a:solidFill>
                  <a:srgbClr val="21295C"/>
                </a:solidFill>
                <a:latin typeface="Arial"/>
              </a:rPr>
              <a:t> 4–11 ответов о больном, </a:t>
            </a:r>
            <a:r>
              <a:rPr sz="850" b="1" i="0">
                <a:solidFill>
                  <a:srgbClr val="21295C"/>
                </a:solidFill>
                <a:latin typeface="Arial"/>
              </a:rPr>
              <a:t>выход:</a:t>
            </a:r>
            <a:r>
              <a:rPr sz="850" b="0" i="0">
                <a:solidFill>
                  <a:srgbClr val="21295C"/>
                </a:solidFill>
                <a:latin typeface="Arial"/>
              </a:rPr>
              <a:t> вероятности пяти исходов за 30 дней. </a:t>
            </a:r>
            <a:r>
              <a:rPr sz="850" b="1" i="0">
                <a:solidFill>
                  <a:srgbClr val="21295C"/>
                </a:solidFill>
                <a:latin typeface="Arial"/>
              </a:rPr>
              <a:t>Обучен</a:t>
            </a:r>
            <a:r>
              <a:rPr sz="850" b="0" i="0">
                <a:solidFill>
                  <a:srgbClr val="21295C"/>
                </a:solidFill>
                <a:latin typeface="Arial"/>
              </a:rPr>
              <a:t> на 382 960 случаях экстренной хирургии. Решающие деревья, не нейросеть.</a:t>
            </a:r>
          </a:p>
          <a:p>
            <a:pPr algn="l">
              <a:lnSpc>
                <a:spcPct val="126000"/>
              </a:lnSpc>
              <a:spcBef>
                <a:spcPts val="700"/>
              </a:spcBef>
            </a:pPr>
            <a:r>
              <a:rPr sz="850" b="0" i="0">
                <a:solidFill>
                  <a:srgbClr val="21295C"/>
                </a:solidFill>
                <a:latin typeface="Arial"/>
              </a:rPr>
              <a:t/>
            </a:r>
            <a:r>
              <a:rPr sz="850" b="1" i="0">
                <a:solidFill>
                  <a:srgbClr val="21295C"/>
                </a:solidFill>
                <a:latin typeface="Arial"/>
              </a:rPr>
              <a:t>Контрпример там же:</a:t>
            </a:r>
            <a:r>
              <a:rPr sz="850" b="0" i="0">
                <a:solidFill>
                  <a:srgbClr val="21295C"/>
                </a:solidFill>
                <a:latin typeface="Arial"/>
              </a:rPr>
              <a:t> где перевес модели наибольший, пара не прибавила — </a:t>
            </a:r>
            <a:r>
              <a:rPr sz="850" b="1" i="0">
                <a:solidFill>
                  <a:srgbClr val="21295C"/>
                </a:solidFill>
                <a:latin typeface="Arial"/>
              </a:rPr>
              <a:t>0,834 против 0,833</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Что переехало.</a:t>
            </a:r>
            <a:r>
              <a:rPr sz="850" b="0" i="0">
                <a:solidFill>
                  <a:srgbClr val="21295C"/>
                </a:solidFill>
                <a:latin typeface="Arial"/>
              </a:rPr>
              <a:t> Исполнитель тот же, но стал хуже: место, объём и рука прежние, изменилось состояние руки. </a:t>
            </a:r>
            <a:r>
              <a:rPr sz="850" b="1" i="0">
                <a:solidFill>
                  <a:srgbClr val="21295C"/>
                </a:solidFill>
                <a:latin typeface="Arial"/>
              </a:rPr>
              <a:t>Ступень — смотрит вторым.</a:t>
            </a:r>
          </a:p>
          <a:p>
            <a:pPr algn="l">
              <a:lnSpc>
                <a:spcPct val="126000"/>
              </a:lnSpc>
              <a:spcBef>
                <a:spcPts val="700"/>
              </a:spcBef>
            </a:pPr>
            <a:r>
              <a:rPr sz="850" b="0" i="0">
                <a:solidFill>
                  <a:srgbClr val="21295C"/>
                </a:solidFill>
                <a:latin typeface="Arial"/>
              </a:rPr>
              <a:t/>
            </a:r>
            <a:r>
              <a:rPr sz="850" b="1" i="0">
                <a:solidFill>
                  <a:srgbClr val="21295C"/>
                </a:solidFill>
                <a:latin typeface="Arial"/>
              </a:rPr>
              <a:t>Порядок предъявления стоит 8,9 пункта</a:t>
            </a:r>
            <a:r>
              <a:rPr sz="850" b="0" i="0">
                <a:solidFill>
                  <a:srgbClr val="21295C"/>
                </a:solidFill>
                <a:latin typeface="Arial"/>
              </a:rPr>
              <a:t> — та же команда, 70 врачей.</a:t>
            </a:r>
          </a:p>
          <a:p>
            <a:pPr algn="l">
              <a:lnSpc>
                <a:spcPct val="126000"/>
              </a:lnSpc>
              <a:spcBef>
                <a:spcPts val="700"/>
              </a:spcBef>
            </a:pPr>
            <a:r>
              <a:rPr sz="850" b="0" i="0">
                <a:solidFill>
                  <a:srgbClr val="21295C"/>
                </a:solidFill>
                <a:latin typeface="Arial"/>
              </a:rPr>
              <a:t/>
            </a:r>
            <a:r>
              <a:rPr sz="850" b="0" i="1">
                <a:solidFill>
                  <a:srgbClr val="1C7293"/>
                </a:solidFill>
                <a:latin typeface="Arial"/>
              </a:rPr>
              <a:t>Повторения замера нет.</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замера, один вывод</a:t>
            </a:r>
          </a:p>
        </p:txBody>
      </p:sp>
      <p:sp>
        <p:nvSpPr>
          <p:cNvPr id="4" name="Rounded Rectangle 3"/>
          <p:cNvSpPr/>
          <p:nvPr/>
        </p:nvSpPr>
        <p:spPr>
          <a:xfrm>
            <a:off x="374904" y="1243584"/>
            <a:ext cx="11441887" cy="4779528"/>
          </a:xfrm>
          <a:prstGeom prst="roundRect">
            <a:avLst>
              <a:gd name="adj" fmla="val 637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981071"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568846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замер</a:t>
            </a:r>
          </a:p>
        </p:txBody>
      </p:sp>
      <p:sp>
        <p:nvSpPr>
          <p:cNvPr id="7" name="Rectangle 6"/>
          <p:cNvSpPr/>
          <p:nvPr/>
        </p:nvSpPr>
        <p:spPr>
          <a:xfrm>
            <a:off x="6520567" y="1335024"/>
            <a:ext cx="2424673"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6666871" y="1335024"/>
            <a:ext cx="2132065"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9" name="Rectangle 8"/>
          <p:cNvSpPr/>
          <p:nvPr/>
        </p:nvSpPr>
        <p:spPr>
          <a:xfrm>
            <a:off x="8945240" y="1335024"/>
            <a:ext cx="2706958"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9091544" y="1335024"/>
            <a:ext cx="2414350"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на ком</a:t>
            </a:r>
          </a:p>
        </p:txBody>
      </p:sp>
      <p:sp>
        <p:nvSpPr>
          <p:cNvPr id="11" name="Rectangle 10"/>
          <p:cNvSpPr/>
          <p:nvPr/>
        </p:nvSpPr>
        <p:spPr>
          <a:xfrm>
            <a:off x="539496" y="1800449"/>
            <a:ext cx="5981071"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5688463"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0,712</a:t>
            </a:r>
            <a:r>
              <a:rPr sz="1650" b="0" i="0">
                <a:solidFill>
                  <a:srgbClr val="21295C"/>
                </a:solidFill>
                <a:latin typeface="Arial"/>
              </a:rPr>
              <a:t> против 0,816 и 0,820 — пара ниже обеих; площадь под кривой</a:t>
            </a:r>
          </a:p>
        </p:txBody>
      </p:sp>
      <p:sp>
        <p:nvSpPr>
          <p:cNvPr id="13" name="Rectangle 12"/>
          <p:cNvSpPr/>
          <p:nvPr/>
        </p:nvSpPr>
        <p:spPr>
          <a:xfrm>
            <a:off x="6520567" y="1800449"/>
            <a:ext cx="2424673"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666871" y="1800449"/>
            <a:ext cx="2132065"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 и наблюдение</a:t>
            </a:r>
          </a:p>
        </p:txBody>
      </p:sp>
      <p:sp>
        <p:nvSpPr>
          <p:cNvPr id="15" name="Rectangle 14"/>
          <p:cNvSpPr/>
          <p:nvPr/>
        </p:nvSpPr>
        <p:spPr>
          <a:xfrm>
            <a:off x="8945240" y="1800449"/>
            <a:ext cx="2706958"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091544" y="1800449"/>
            <a:ext cx="241435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30 хирургов, 150 случаев</a:t>
            </a:r>
          </a:p>
        </p:txBody>
      </p:sp>
      <p:sp>
        <p:nvSpPr>
          <p:cNvPr id="17" name="Rectangle 16"/>
          <p:cNvSpPr/>
          <p:nvPr/>
        </p:nvSpPr>
        <p:spPr>
          <a:xfrm>
            <a:off x="539496" y="2566707"/>
            <a:ext cx="5981071"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5688463"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92 · 74 · 76</a:t>
            </a:r>
            <a:r>
              <a:rPr sz="1650" b="0" i="0">
                <a:solidFill>
                  <a:srgbClr val="21295C"/>
                </a:solidFill>
                <a:latin typeface="Arial"/>
              </a:rPr>
              <a:t> — врач с моделью не отличим; балл рассуждения</a:t>
            </a:r>
          </a:p>
        </p:txBody>
      </p:sp>
      <p:sp>
        <p:nvSpPr>
          <p:cNvPr id="19" name="Rectangle 18"/>
          <p:cNvSpPr/>
          <p:nvPr/>
        </p:nvSpPr>
        <p:spPr>
          <a:xfrm>
            <a:off x="6520567" y="2566707"/>
            <a:ext cx="2424673"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6666871" y="2566707"/>
            <a:ext cx="2132065"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a:t>
            </a:r>
          </a:p>
        </p:txBody>
      </p:sp>
      <p:sp>
        <p:nvSpPr>
          <p:cNvPr id="21" name="Rectangle 20"/>
          <p:cNvSpPr/>
          <p:nvPr/>
        </p:nvSpPr>
        <p:spPr>
          <a:xfrm>
            <a:off x="8945240" y="2566707"/>
            <a:ext cx="2706958"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091544" y="2566707"/>
            <a:ext cx="241435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50 врачей, описания случаев</a:t>
            </a:r>
          </a:p>
        </p:txBody>
      </p:sp>
      <p:sp>
        <p:nvSpPr>
          <p:cNvPr id="23" name="Rectangle 22"/>
          <p:cNvSpPr/>
          <p:nvPr/>
        </p:nvSpPr>
        <p:spPr>
          <a:xfrm>
            <a:off x="539496" y="3332966"/>
            <a:ext cx="5981071"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5688463"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−0,54</a:t>
            </a:r>
            <a:r>
              <a:rPr sz="1650" b="0" i="0">
                <a:solidFill>
                  <a:srgbClr val="21295C"/>
                </a:solidFill>
                <a:latin typeface="Arial"/>
              </a:rPr>
              <a:t> — где модель сильнее, пара хуже модели; размер эффекта</a:t>
            </a:r>
          </a:p>
        </p:txBody>
      </p:sp>
      <p:sp>
        <p:nvSpPr>
          <p:cNvPr id="25" name="Rectangle 24"/>
          <p:cNvSpPr/>
          <p:nvPr/>
        </p:nvSpPr>
        <p:spPr>
          <a:xfrm>
            <a:off x="6520567" y="3332966"/>
            <a:ext cx="2424673"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6666871" y="3332966"/>
            <a:ext cx="2132065"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мета-анализ</a:t>
            </a:r>
          </a:p>
        </p:txBody>
      </p:sp>
      <p:sp>
        <p:nvSpPr>
          <p:cNvPr id="27" name="Rectangle 26"/>
          <p:cNvSpPr/>
          <p:nvPr/>
        </p:nvSpPr>
        <p:spPr>
          <a:xfrm>
            <a:off x="8945240" y="3332966"/>
            <a:ext cx="2706958"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091544" y="3332966"/>
            <a:ext cx="241435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74 работы, 106 опытов</a:t>
            </a:r>
          </a:p>
        </p:txBody>
      </p:sp>
      <p:sp>
        <p:nvSpPr>
          <p:cNvPr id="29" name="Rectangle 28"/>
          <p:cNvSpPr/>
          <p:nvPr/>
        </p:nvSpPr>
        <p:spPr>
          <a:xfrm>
            <a:off x="539496" y="4099225"/>
            <a:ext cx="5981071" cy="766258"/>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5688463"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71 → 39</a:t>
            </a:r>
            <a:r>
              <a:rPr sz="1650" b="0" i="0">
                <a:solidFill>
                  <a:srgbClr val="21295C"/>
                </a:solidFill>
                <a:latin typeface="Arial"/>
              </a:rPr>
              <a:t> — тот же читатель при ложной подсказке; чувствительность</a:t>
            </a:r>
          </a:p>
        </p:txBody>
      </p:sp>
      <p:sp>
        <p:nvSpPr>
          <p:cNvPr id="31" name="Rectangle 30"/>
          <p:cNvSpPr/>
          <p:nvPr/>
        </p:nvSpPr>
        <p:spPr>
          <a:xfrm>
            <a:off x="6520567" y="4099225"/>
            <a:ext cx="2424673" cy="766258"/>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6666871" y="4099225"/>
            <a:ext cx="2132065"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читатель против себя</a:t>
            </a:r>
          </a:p>
        </p:txBody>
      </p:sp>
      <p:sp>
        <p:nvSpPr>
          <p:cNvPr id="33" name="Rectangle 32"/>
          <p:cNvSpPr/>
          <p:nvPr/>
        </p:nvSpPr>
        <p:spPr>
          <a:xfrm>
            <a:off x="8945240" y="4099225"/>
            <a:ext cx="2706958" cy="766258"/>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091544" y="4099225"/>
            <a:ext cx="241435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10 читателей, 60 случаев</a:t>
            </a:r>
          </a:p>
        </p:txBody>
      </p:sp>
      <p:sp>
        <p:nvSpPr>
          <p:cNvPr id="35" name="TextBox 34"/>
          <p:cNvSpPr txBox="1"/>
          <p:nvPr/>
        </p:nvSpPr>
        <p:spPr>
          <a:xfrm>
            <a:off x="539496" y="5011787"/>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Пара не наследует силу сильнейшей стороны.</a:t>
            </a:r>
            <a:r>
              <a:rPr sz="1700" b="0" i="0">
                <a:solidFill>
                  <a:srgbClr val="21295C"/>
                </a:solidFill>
                <a:latin typeface="Arial"/>
              </a:rPr>
              <a:t> Человека одного обходит — 0,64.</a:t>
            </a:r>
          </a:p>
        </p:txBody>
      </p:sp>
      <p:sp>
        <p:nvSpPr>
          <p:cNvPr id="36" name="TextBox 35"/>
          <p:cNvSpPr txBox="1"/>
          <p:nvPr/>
        </p:nvSpPr>
        <p:spPr>
          <a:xfrm>
            <a:off x="539496" y="5499162"/>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Исход пациента не измерен ни в одном из четырёх.</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тройка: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разошлось устройство процедуры</a:t>
            </a:r>
          </a:p>
        </p:txBody>
      </p:sp>
      <p:sp>
        <p:nvSpPr>
          <p:cNvPr id="4" name="Rounded Rectangle 3"/>
          <p:cNvSpPr/>
          <p:nvPr/>
        </p:nvSpPr>
        <p:spPr>
          <a:xfrm>
            <a:off x="502920" y="1335024"/>
            <a:ext cx="5437479" cy="2404069"/>
          </a:xfrm>
          <a:prstGeom prst="roundRect">
            <a:avLst>
              <a:gd name="adj" fmla="val 126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73699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a:t>
            </a:r>
          </a:p>
        </p:txBody>
      </p:sp>
      <p:sp>
        <p:nvSpPr>
          <p:cNvPr id="7" name="Rounded Rectangle 6"/>
          <p:cNvSpPr/>
          <p:nvPr/>
        </p:nvSpPr>
        <p:spPr>
          <a:xfrm>
            <a:off x="6251295" y="1335024"/>
            <a:ext cx="5437479" cy="2404069"/>
          </a:xfrm>
          <a:prstGeom prst="roundRect">
            <a:avLst>
              <a:gd name="adj" fmla="val 12678"/>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73699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a:t>
            </a:r>
          </a:p>
          <a:p>
            <a:pPr algn="l">
              <a:lnSpc>
                <a:spcPct val="126000"/>
              </a:lnSpc>
            </a:pPr>
            <a:r>
              <a:rPr sz="1450" b="0" i="0">
                <a:solidFill>
                  <a:srgbClr val="21295C"/>
                </a:solidFill>
                <a:latin typeface="Arial"/>
              </a:rPr>
              <a:t>• подсказать избирательно</a:t>
            </a:r>
          </a:p>
          <a:p>
            <a:pPr algn="l">
              <a:lnSpc>
                <a:spcPct val="126000"/>
              </a:lnSpc>
            </a:pPr>
            <a:r>
              <a:rPr sz="1450" b="0" i="0">
                <a:solidFill>
                  <a:srgbClr val="21295C"/>
                </a:solidFill>
                <a:latin typeface="Arial"/>
              </a:rPr>
              <a:t>• объяснить без вреда</a:t>
            </a:r>
          </a:p>
          <a:p>
            <a:pPr algn="l">
              <a:lnSpc>
                <a:spcPct val="126000"/>
              </a:lnSpc>
            </a:pPr>
            <a:r>
              <a:rPr sz="1450" b="0" i="0">
                <a:solidFill>
                  <a:srgbClr val="21295C"/>
                </a:solidFill>
                <a:latin typeface="Arial"/>
              </a:rPr>
              <a:t>• удержать своё преимущество</a:t>
            </a:r>
          </a:p>
        </p:txBody>
      </p:sp>
      <p:sp>
        <p:nvSpPr>
          <p:cNvPr id="10" name="Rounded Rectangle 9"/>
          <p:cNvSpPr/>
          <p:nvPr/>
        </p:nvSpPr>
        <p:spPr>
          <a:xfrm>
            <a:off x="374904" y="3830533"/>
            <a:ext cx="11441887" cy="2405674"/>
          </a:xfrm>
          <a:prstGeom prst="roundRect">
            <a:avLst>
              <a:gd name="adj" fmla="val 1267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921973"/>
            <a:ext cx="11112703" cy="231423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Стало с работой:</a:t>
            </a:r>
            <a:r>
              <a:rPr sz="1250" b="0" i="0">
                <a:solidFill>
                  <a:srgbClr val="21295C"/>
                </a:solidFill>
                <a:latin typeface="Arial"/>
              </a:rPr>
              <a:t> нагрузка упала · цена ошибки сместилась · сменился исполнитель · исполнитель тот же, но стал хуже.</a:t>
            </a:r>
          </a:p>
          <a:p>
            <a:pPr algn="l">
              <a:lnSpc>
                <a:spcPct val="126000"/>
              </a:lnSpc>
              <a:spcBef>
                <a:spcPts val="700"/>
              </a:spcBef>
            </a:pPr>
            <a:r>
              <a:rPr sz="1250" b="0" i="0">
                <a:solidFill>
                  <a:srgbClr val="21295C"/>
                </a:solidFill>
                <a:latin typeface="Arial"/>
              </a:rPr>
              <a:t/>
            </a:r>
            <a:r>
              <a:rPr sz="1250" b="1" i="0">
                <a:solidFill>
                  <a:srgbClr val="21295C"/>
                </a:solidFill>
                <a:latin typeface="Arial"/>
              </a:rPr>
              <a:t>Ступень участия нигде не записана. Неназначенная сползает к подписи не глядя.</a:t>
            </a:r>
          </a:p>
          <a:p>
            <a:pPr algn="l">
              <a:lnSpc>
                <a:spcPct val="126000"/>
              </a:lnSpc>
              <a:spcBef>
                <a:spcPts val="700"/>
              </a:spcBef>
            </a:pPr>
            <a:r>
              <a:rPr sz="1250" b="0" i="0">
                <a:solidFill>
                  <a:srgbClr val="21295C"/>
                </a:solidFill>
                <a:latin typeface="Arial"/>
              </a:rPr>
              <a:t/>
            </a:r>
            <a:r>
              <a:rPr sz="1250" b="1" i="0">
                <a:solidFill>
                  <a:srgbClr val="21295C"/>
                </a:solidFill>
                <a:latin typeface="Arial"/>
              </a:rPr>
              <a:t>Получается</a:t>
            </a:r>
            <a:r>
              <a:rPr sz="1250" b="0" i="0">
                <a:solidFill>
                  <a:srgbClr val="21295C"/>
                </a:solidFill>
                <a:latin typeface="Arial"/>
              </a:rPr>
              <a:t> - постоянство: десятитысячный снимок как первый - поток: норма не занимает специалиста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получается</a:t>
            </a:r>
            <a:r>
              <a:rPr sz="1250" b="0" i="0">
                <a:solidFill>
                  <a:srgbClr val="21295C"/>
                </a:solidFill>
                <a:latin typeface="Arial"/>
              </a:rPr>
              <a:t> - рабочая точка: за порогом цена ошибок - переснять: годность осталась человеку</a:t>
            </a:r>
          </a:p>
          <a:p>
            <a:pPr algn="l">
              <a:lnSpc>
                <a:spcPct val="126000"/>
              </a:lnSpc>
              <a:spcBef>
                <a:spcPts val="700"/>
              </a:spcBef>
            </a:pPr>
            <a:r>
              <a:rPr sz="1250" b="0" i="0">
                <a:solidFill>
                  <a:srgbClr val="21295C"/>
                </a:solidFill>
                <a:latin typeface="Arial"/>
              </a:rPr>
              <a:t/>
            </a:r>
            <a:r>
              <a:rPr sz="1250" b="1" i="0">
                <a:solidFill>
                  <a:srgbClr val="21295C"/>
                </a:solidFill>
                <a:latin typeface="Arial"/>
              </a:rPr>
              <a:t>Стало с работой</a:t>
            </a:r>
            <a:r>
              <a:rPr sz="1250" b="0" i="0">
                <a:solidFill>
                  <a:srgbClr val="21295C"/>
                </a:solidFill>
                <a:latin typeface="Arial"/>
              </a:rPr>
              <a:t> - нагрузка на том же месте, повторный визит - исполнитель: отбор делал врач, стал балл</a:t>
            </a:r>
          </a:p>
          <a:p>
            <a:pPr algn="l">
              <a:lnSpc>
                <a:spcPct val="126000"/>
              </a:lnSpc>
              <a:spcBef>
                <a:spcPts val="700"/>
              </a:spcBef>
            </a:pPr>
            <a:r>
              <a:rPr sz="1250" b="0" i="0">
                <a:solidFill>
                  <a:srgbClr val="21295C"/>
                </a:solidFill>
                <a:latin typeface="Arial"/>
              </a:rPr>
              <a:t/>
            </a:r>
            <a:r>
              <a:rPr sz="1250" b="1" i="0">
                <a:solidFill>
                  <a:srgbClr val="21295C"/>
                </a:solidFill>
                <a:latin typeface="Arial"/>
              </a:rPr>
              <a:t>Держит</a:t>
            </a:r>
            <a:r>
              <a:rPr sz="1250" b="0" i="0">
                <a:solidFill>
                  <a:srgbClr val="21295C"/>
                </a:solidFill>
                <a:latin typeface="Arial"/>
              </a:rPr>
              <a:t> - рабочая точка под цену, пересчёт под группу - </a:t>
            </a:r>
            <a:r>
              <a:rPr sz="1250" b="1" i="0">
                <a:solidFill>
                  <a:srgbClr val="21295C"/>
                </a:solidFill>
                <a:latin typeface="Arial"/>
              </a:rPr>
              <a:t>цель системы не проверяет никто</a:t>
            </a:r>
          </a:p>
          <a:p>
            <a:pPr algn="l">
              <a:lnSpc>
                <a:spcPct val="126000"/>
              </a:lnSpc>
              <a:spcBef>
                <a:spcPts val="700"/>
              </a:spcBef>
            </a:pPr>
            <a:r>
              <a:rPr sz="1250" b="0" i="0">
                <a:solidFill>
                  <a:srgbClr val="21295C"/>
                </a:solidFill>
                <a:latin typeface="Arial"/>
              </a:rPr>
              <a:t/>
            </a:r>
            <a:r>
              <a:rPr sz="1250" b="1" i="0">
                <a:solidFill>
                  <a:srgbClr val="21295C"/>
                </a:solidFill>
                <a:latin typeface="Arial"/>
              </a:rPr>
              <a:t>Провалились развёртывание, состав набора и цель.</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Допуск, надзор и ответственность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Подпись, процедура, норматив — чем удерживают цену ошибки.</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подписью. Этот — про то, что она значит.</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примера · 1 обзор надзора после допуска · 1 определение подходящего человека</a:t>
            </a:r>
          </a:p>
        </p:txBody>
      </p:sp>
      <p:sp>
        <p:nvSpPr>
          <p:cNvPr id="9" name="TextBox 8"/>
          <p:cNvSpPr txBox="1"/>
          <p:nvPr/>
        </p:nvSpPr>
        <p:spPr>
          <a:xfrm>
            <a:off x="704088" y="3244606"/>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склонность доверять автомату и её цена</a:t>
            </a:r>
            <a:r>
              <a:rPr sz="1550" b="0" i="0">
                <a:solidFill>
                  <a:srgbClr val="21295C"/>
                </a:solidFill>
                <a:latin typeface="Arial"/>
              </a:rPr>
              <a:t> · </a:t>
            </a:r>
            <a:r>
              <a:rPr sz="1550" b="1" i="0">
                <a:solidFill>
                  <a:srgbClr val="21295C"/>
                </a:solidFill>
                <a:latin typeface="Arial"/>
              </a:rPr>
              <a:t>Пример 2</a:t>
            </a:r>
            <a:r>
              <a:rPr sz="1550" b="0" i="0">
                <a:solidFill>
                  <a:srgbClr val="21295C"/>
                </a:solidFill>
                <a:latin typeface="Arial"/>
              </a:rPr>
              <a:t> в двух частях — </a:t>
            </a:r>
            <a:r>
              <a:rPr sz="1550" b="1" i="0">
                <a:solidFill>
                  <a:srgbClr val="21295C"/>
                </a:solidFill>
                <a:latin typeface="Arial"/>
              </a:rPr>
              <a:t>с конца: норма есть, а проверки нет</a:t>
            </a:r>
            <a:r>
              <a:rPr sz="1550" b="0" i="0">
                <a:solidFill>
                  <a:srgbClr val="21295C"/>
                </a:solidFill>
                <a:latin typeface="Arial"/>
              </a:rPr>
              <a:t>, затем </a:t>
            </a:r>
            <a:r>
              <a:rPr sz="1550" b="1" i="0">
                <a:solidFill>
                  <a:srgbClr val="21295C"/>
                </a:solidFill>
                <a:latin typeface="Arial"/>
              </a:rPr>
              <a:t>двойное чтение в минутах труда</a:t>
            </a: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 надзор: данные, вопрос,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348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не измеряет человека — она читает записанное:</a:t>
            </a:r>
            <a:r>
              <a:rPr sz="1500" b="0" i="0">
                <a:solidFill>
                  <a:srgbClr val="21295C"/>
                </a:solidFill>
                <a:latin typeface="Arial"/>
              </a:rPr>
              <a:t> заключение с подписью · согласие · материалы разбора · документацию допуска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кто отвечает за принятое и выдержит ли порядок проверку исходом.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 двойное:</a:t>
            </a:r>
            <a:r>
              <a:rPr sz="1500" b="0" i="0">
                <a:solidFill>
                  <a:srgbClr val="21295C"/>
                </a:solidFill>
                <a:latin typeface="Arial"/>
              </a:rPr>
              <a:t> кто отвечает — и что меняется в порядке после расхождения.</a:t>
            </a:r>
          </a:p>
        </p:txBody>
      </p:sp>
      <p:sp>
        <p:nvSpPr>
          <p:cNvPr id="6" name="TextBox 5"/>
          <p:cNvSpPr txBox="1"/>
          <p:nvPr/>
        </p:nvSpPr>
        <p:spPr>
          <a:xfrm>
            <a:off x="539496" y="4139946"/>
            <a:ext cx="11112703" cy="2096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входит в каждую другую:</a:t>
            </a:r>
            <a:r>
              <a:rPr sz="1500" b="0" i="0">
                <a:solidFill>
                  <a:srgbClr val="21295C"/>
                </a:solidFill>
                <a:latin typeface="Arial"/>
              </a:rPr>
              <a:t> подпись — на каждой, согласие — до вмешательства, разбор — после исхода, допуск — над всем циклом.</a:t>
            </a:r>
          </a:p>
        </p:txBody>
      </p:sp>
      <p:sp>
        <p:nvSpPr>
          <p:cNvPr id="7" name="Rounded Rectangle 6"/>
          <p:cNvSpPr/>
          <p:nvPr/>
        </p:nvSpPr>
        <p:spPr>
          <a:xfrm>
            <a:off x="7756855" y="1335024"/>
            <a:ext cx="3931920" cy="2713482"/>
          </a:xfrm>
          <a:prstGeom prst="roundRect">
            <a:avLst>
              <a:gd name="adj" fmla="val 11232"/>
            </a:avLst>
          </a:prstGeom>
          <a:solidFill>
            <a:srgbClr val="F4F7FA"/>
          </a:solidFill>
          <a:ln w="19050">
            <a:solidFill>
              <a:srgbClr val="1C7293"/>
            </a:solidFill>
          </a:ln>
          <a:effectLst/>
        </p:spPr>
        <p:txBody>
          <a:bodyPr rtlCol="0" anchor="ctr"/>
          <a:lstStyle/>
          <a:p>
            <a:pPr algn="ctr"/>
          </a:p>
        </p:txBody>
      </p:sp>
      <p:pic>
        <p:nvPicPr>
          <p:cNvPr id="8" name="Picture 7" descr="s65a-zapisannoe-kotoroe-chitaet-stadiya.jpg"/>
          <p:cNvPicPr>
            <a:picLocks noChangeAspect="1"/>
          </p:cNvPicPr>
          <p:nvPr/>
        </p:nvPicPr>
        <p:blipFill>
          <a:blip r:embed="rId2"/>
          <a:stretch>
            <a:fillRect/>
          </a:stretch>
        </p:blipFill>
        <p:spPr>
          <a:xfrm>
            <a:off x="7894015" y="1472184"/>
            <a:ext cx="3657600" cy="2439162"/>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один случай</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 людей</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Подписать заключение</a:t>
            </a:r>
          </a:p>
        </p:txBody>
      </p:sp>
      <p:sp>
        <p:nvSpPr>
          <p:cNvPr id="8" name="Rounded Rectangle 7"/>
          <p:cNvSpPr/>
          <p:nvPr/>
        </p:nvSpPr>
        <p:spPr>
          <a:xfrm>
            <a:off x="4499533"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Взять согласие</a:t>
            </a:r>
          </a:p>
        </p:txBody>
      </p:sp>
      <p:sp>
        <p:nvSpPr>
          <p:cNvPr id="10" name="Rounded Rectangle 9"/>
          <p:cNvSpPr/>
          <p:nvPr/>
        </p:nvSpPr>
        <p:spPr>
          <a:xfrm>
            <a:off x="6895947"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Прочесть вторым независимо</a:t>
            </a:r>
          </a:p>
        </p:txBody>
      </p:sp>
      <p:sp>
        <p:nvSpPr>
          <p:cNvPr id="12" name="Rounded Rectangle 11"/>
          <p:cNvSpPr/>
          <p:nvPr/>
        </p:nvSpPr>
        <p:spPr>
          <a:xfrm>
            <a:off x="9292361"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Разрешить расхождение арбитражем</a:t>
            </a:r>
          </a:p>
        </p:txBody>
      </p:sp>
      <p:sp>
        <p:nvSpPr>
          <p:cNvPr id="14" name="TextBox 13"/>
          <p:cNvSpPr txBox="1"/>
          <p:nvPr/>
        </p:nvSpPr>
        <p:spPr>
          <a:xfrm>
            <a:off x="502920" y="2382711"/>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Ими же</a:t>
            </a:r>
          </a:p>
        </p:txBody>
      </p:sp>
      <p:sp>
        <p:nvSpPr>
          <p:cNvPr id="15" name="Rounded Rectangle 14"/>
          <p:cNvSpPr/>
          <p:nvPr/>
        </p:nvSpPr>
        <p:spPr>
          <a:xfrm>
            <a:off x="2011680" y="2346135"/>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Собрать комиссию</a:t>
            </a:r>
          </a:p>
        </p:txBody>
      </p:sp>
      <p:sp>
        <p:nvSpPr>
          <p:cNvPr id="18" name="Rounded Rectangle 17"/>
          <p:cNvSpPr/>
          <p:nvPr/>
        </p:nvSpPr>
        <p:spPr>
          <a:xfrm>
            <a:off x="4499533"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Сверить с порядком</a:t>
            </a:r>
          </a:p>
        </p:txBody>
      </p:sp>
      <p:sp>
        <p:nvSpPr>
          <p:cNvPr id="20" name="Rounded Rectangle 19"/>
          <p:cNvSpPr/>
          <p:nvPr/>
        </p:nvSpPr>
        <p:spPr>
          <a:xfrm>
            <a:off x="6895947"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Поправить порядок</a:t>
            </a:r>
          </a:p>
        </p:txBody>
      </p:sp>
      <p:sp>
        <p:nvSpPr>
          <p:cNvPr id="22" name="TextBox 21"/>
          <p:cNvSpPr txBox="1"/>
          <p:nvPr/>
        </p:nvSpPr>
        <p:spPr>
          <a:xfrm>
            <a:off x="502920" y="3004503"/>
            <a:ext cx="1307592" cy="10814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3" name="Rounded Rectangle 22"/>
          <p:cNvSpPr/>
          <p:nvPr/>
        </p:nvSpPr>
        <p:spPr>
          <a:xfrm>
            <a:off x="2103120"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4" name="Rounded Rectangle 23"/>
          <p:cNvSpPr/>
          <p:nvPr/>
        </p:nvSpPr>
        <p:spPr>
          <a:xfrm>
            <a:off x="4499533"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5" name="Rounded Rectangle 24"/>
          <p:cNvSpPr/>
          <p:nvPr/>
        </p:nvSpPr>
        <p:spPr>
          <a:xfrm>
            <a:off x="6895947"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9292361"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103120" y="3887599"/>
            <a:ext cx="9494215" cy="207471"/>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одного действия из семи</a:t>
            </a:r>
          </a:p>
        </p:txBody>
      </p:sp>
      <p:sp>
        <p:nvSpPr>
          <p:cNvPr id="28" name="Rounded Rectangle 27"/>
          <p:cNvSpPr/>
          <p:nvPr/>
        </p:nvSpPr>
        <p:spPr>
          <a:xfrm>
            <a:off x="374904" y="4213942"/>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305382"/>
            <a:ext cx="5373471" cy="19308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Четверг, кабинет заместителя главного врача. Комиссию собрали по одному случаю: пациентку выписали через четыре дня, через сутки она вернулась с осложнением. За столом шестеро, двое с лечащим врачом вместе не работают.</a:t>
            </a:r>
          </a:p>
        </p:txBody>
      </p:sp>
      <p:sp>
        <p:nvSpPr>
          <p:cNvPr id="30" name="TextBox 29"/>
          <p:cNvSpPr txBox="1"/>
          <p:nvPr/>
        </p:nvSpPr>
        <p:spPr>
          <a:xfrm>
            <a:off x="6278727" y="4305382"/>
            <a:ext cx="5373471" cy="19308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Один вопрос:</a:t>
            </a:r>
            <a:r>
              <a:rPr sz="1500" b="0" i="0">
                <a:solidFill>
                  <a:srgbClr val="21295C"/>
                </a:solidFill>
                <a:latin typeface="Arial"/>
              </a:rPr>
              <a:t> соответствовали ли действия врача утверждённым порядкам. Вопроса «пользовался ли он моделью» в списке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Подписать ей нечем.</a:t>
            </a:r>
            <a:r>
              <a:rPr sz="1500" b="0" i="0">
                <a:solidFill>
                  <a:srgbClr val="21295C"/>
                </a:solidFill>
                <a:latin typeface="Arial"/>
              </a:rPr>
              <a:t> Норма добавила человеку восьмое — мочь возразить и остановить.</a:t>
            </a:r>
          </a:p>
        </p:txBody>
      </p:sp>
      <p:sp>
        <p:nvSpPr>
          <p:cNvPr id="31" name="Rectangle 30"/>
          <p:cNvSpPr/>
          <p:nvPr/>
        </p:nvSpPr>
        <p:spPr>
          <a:xfrm>
            <a:off x="6091275" y="4305382"/>
            <a:ext cx="9144" cy="1574205"/>
          </a:xfrm>
          <a:prstGeom prst="rect">
            <a:avLst/>
          </a:prstGeom>
          <a:solidFill>
            <a:srgbClr val="D9E2EC"/>
          </a:solidFill>
          <a:ln>
            <a:noFill/>
          </a:ln>
          <a:effectLst/>
        </p:spPr>
        <p:txBody>
          <a:bodyPr rtlCol="0" anchor="ctr"/>
          <a:lstStyle/>
          <a:p>
            <a:pPr algn="ct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 и её цена</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верного заключения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верных заключений из всех прочтений; 40 клиницистов, 8000 прочтений; против одного читателя</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ДОВЕРИЯ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не от всех прочтений; стаж не защищает</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ЛЕКАРСТВО — СКРЫВАТЬ ПОДСКАЗКУ</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−41,7 процента, расчётом</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по двум собранным раундам; раунда с живыми врачами не было</a:t>
            </a:r>
          </a:p>
        </p:txBody>
      </p:sp>
      <p:sp>
        <p:nvSpPr>
          <p:cNvPr id="16" name="Rounded Rectangle 15"/>
          <p:cNvSpPr/>
          <p:nvPr/>
        </p:nvSpPr>
        <p:spPr>
          <a:xfrm>
            <a:off x="374904" y="340512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Сорок клиницистов читали МР-снимки колена на разрыв передней крестообразной связки — каждый снимок дважды: сам и с подсказкой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девять пунктов точности. </a:t>
            </a:r>
            <a:r>
              <a:rPr sz="1500" b="1" i="0">
                <a:solidFill>
                  <a:srgbClr val="21295C"/>
                </a:solidFill>
                <a:latin typeface="Arial"/>
              </a:rPr>
              <a:t>Потребовало:</a:t>
            </a:r>
            <a:r>
              <a:rPr sz="1500" b="0" i="0">
                <a:solidFill>
                  <a:srgbClr val="21295C"/>
                </a:solidFill>
                <a:latin typeface="Arial"/>
              </a:rPr>
              <a:t> почти половина оставшихся ошибок идёт от той же склонности — выигрыш и вред из одного места.</a:t>
            </a:r>
          </a:p>
        </p:txBody>
      </p:sp>
      <p:sp>
        <p:nvSpPr>
          <p:cNvPr id="18" name="TextBox 17"/>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на этом месте:</a:t>
            </a:r>
            <a:r>
              <a:rPr sz="1500" b="0" i="0">
                <a:solidFill>
                  <a:srgbClr val="21295C"/>
                </a:solidFill>
                <a:latin typeface="Arial"/>
              </a:rPr>
              <a:t> то же заключение, выданное до решения врача.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Формы словаря у лекарства нет — её присваивают измерению, не расчёту.</a:t>
            </a:r>
          </a:p>
          <a:p>
            <a:pPr algn="l">
              <a:lnSpc>
                <a:spcPct val="126000"/>
              </a:lnSpc>
              <a:spcBef>
                <a:spcPts val="700"/>
              </a:spcBef>
            </a:pPr>
            <a:r>
              <a:rPr sz="1500" b="0" i="0">
                <a:solidFill>
                  <a:srgbClr val="21295C"/>
                </a:solidFill>
                <a:latin typeface="Arial"/>
              </a:rPr>
              <a:t/>
            </a:r>
            <a:r>
              <a:rPr sz="1500" b="0" i="1">
                <a:solidFill>
                  <a:srgbClr val="21295C"/>
                </a:solidFill>
                <a:latin typeface="Arial"/>
              </a:rPr>
              <a:t>Для контраста:</a:t>
            </a:r>
            <a:r>
              <a:rPr sz="1500" b="0" i="0">
                <a:solidFill>
                  <a:srgbClr val="21295C"/>
                </a:solidFill>
                <a:latin typeface="Arial"/>
              </a:rPr>
              <a:t> график смен медсестёр 32,0 → 6,0 часа, обученной модели внутри нет: где цена промаха мала, дорогая процедура не окупается.</a:t>
            </a:r>
          </a:p>
        </p:txBody>
      </p:sp>
      <p:sp>
        <p:nvSpPr>
          <p:cNvPr id="19" name="Rectangle 18"/>
          <p:cNvSpPr/>
          <p:nvPr/>
        </p:nvSpPr>
        <p:spPr>
          <a:xfrm>
            <a:off x="6091275" y="3496568"/>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JAMIA 2023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с конца: норма есть, а проверки нет</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56 из 717</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радиологических изделий, июнь 2024; проспективное — 33, любое клиническое — 208, все от 717</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своя база и срез</a:t>
            </a:r>
          </a:p>
        </p:txBody>
      </p:sp>
      <p:sp>
        <p:nvSpPr>
          <p:cNvPr id="12" name="Rounded Rectangle 11"/>
          <p:cNvSpPr/>
          <p:nvPr/>
        </p:nvSpPr>
        <p:spPr>
          <a:xfrm>
            <a:off x="374904" y="2803461"/>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Производитель подаёт регулятору документацию, тот по ней допускает изделие в работу. Обзор прочёл её по 717 радиологическим изделиям: было ли испытание с человеком в контуре.</a:t>
            </a:r>
          </a:p>
          <a:p>
            <a:pPr algn="l">
              <a:lnSpc>
                <a:spcPct val="126000"/>
              </a:lnSpc>
              <a:spcBef>
                <a:spcPts val="700"/>
              </a:spcBef>
            </a:pPr>
            <a:r>
              <a:rPr sz="1500" b="0" i="0">
                <a:solidFill>
                  <a:srgbClr val="21295C"/>
                </a:solidFill>
                <a:latin typeface="Arial"/>
              </a:rPr>
              <a:t/>
            </a:r>
            <a:r>
              <a:rPr sz="1500" b="1" i="0">
                <a:solidFill>
                  <a:srgbClr val="21295C"/>
                </a:solidFill>
                <a:latin typeface="Arial"/>
              </a:rPr>
              <a:t>С конца: сначала чем кончился, счёт — следом.</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Регулятор требует: человек остаётся финальным звеном. </a:t>
            </a:r>
            <a:r>
              <a:rPr sz="1500" b="0" i="1">
                <a:solidFill>
                  <a:srgbClr val="21295C"/>
                </a:solidFill>
                <a:latin typeface="Arial"/>
              </a:rPr>
              <a:t>Статья 14 (ЕС 2024/1689): понять ограничения, не поддаться доверию автомату, истолковать вывод, не согласиться, остановить.</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требует способности вмешаться. Присутствие этого не даёт.</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у 661 изделия из 717 такой проверки при допуске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Предмет счёта — процедуры допуска: имён перепись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15" name="Rectangle 14"/>
          <p:cNvSpPr/>
          <p:nvPr/>
        </p:nvSpPr>
        <p:spPr>
          <a:xfrm>
            <a:off x="6091275" y="2894901"/>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документации регуляторов, JAMA Network Open 2025</a:t>
            </a:r>
            <a:r>
              <a:rPr sz="1200" b="0" i="1">
                <a:solidFill>
                  <a:srgbClr val="1C7293"/>
                </a:solidFill>
                <a:latin typeface="Arial"/>
              </a:rPr>
              <a:t> · </a:t>
            </a:r>
            <a:r>
              <a:rPr sz="1200" b="0" i="1" u="sng">
                <a:solidFill>
                  <a:srgbClr val="065A82"/>
                </a:solidFill>
                <a:latin typeface="Arial"/>
                <a:hlinkClick r:id="rId3"/>
              </a:rPr>
              <a:t>Регламент (ЕС) 2024/1689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ДВОЕ ЛЮДЕЙ → ОДИН С МОДЕЛЬЮ</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 раков</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 доля найденного среди больных, не среди обследованных; та же программа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МАММОГРАММЫ → РАЗБОР РАСХОЖДЕНИЯ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 2 мин 12 с</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4,6 раза дольше по медианам, в 2,75 по средним; база — 441 276 прочтений, 16 центров</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16" name="Rounded Rectangle 15"/>
          <p:cNvSpPr/>
          <p:nvPr/>
        </p:nvSpPr>
        <p:spPr>
          <a:xfrm>
            <a:off x="374904" y="340512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Каждую маммограмму читали двое независимо, расхождение разбирал третий. Потом место второго читателя заняла модель.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у подписи.</a:t>
            </a:r>
            <a:r>
              <a:rPr sz="1500" b="0" i="0">
                <a:solidFill>
                  <a:srgbClr val="21295C"/>
                </a:solidFill>
                <a:latin typeface="Arial"/>
              </a:rPr>
              <a:t> И пропущенный диагноз, и лишнее вмешательство: подпись человеческая, платит исходом пациент.</a:t>
            </a:r>
          </a:p>
        </p:txBody>
      </p:sp>
      <p:sp>
        <p:nvSpPr>
          <p:cNvPr id="18" name="TextBox 17"/>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Классических режимов два.</a:t>
            </a:r>
            <a:r>
              <a:rPr sz="1500" b="0" i="0">
                <a:solidFill>
                  <a:srgbClr val="21295C"/>
                </a:solidFill>
                <a:latin typeface="Arial"/>
              </a:rPr>
              <a:t> Один читатель без арбитража — назван, своего числа не имеет. Двое с арбитражем — посчитаны, сразу в двух единицах.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двойное чтение не находит 26,2 рака из ста, с моделью — 19,5.</a:t>
            </a:r>
          </a:p>
          <a:p>
            <a:pPr algn="l">
              <a:lnSpc>
                <a:spcPct val="126000"/>
              </a:lnSpc>
              <a:spcBef>
                <a:spcPts val="700"/>
              </a:spcBef>
            </a:pPr>
            <a:r>
              <a:rPr sz="1500" b="0" i="0">
                <a:solidFill>
                  <a:srgbClr val="21295C"/>
                </a:solidFill>
                <a:latin typeface="Arial"/>
              </a:rPr>
              <a:t/>
            </a:r>
            <a:r>
              <a:rPr sz="1500" b="1" i="0">
                <a:solidFill>
                  <a:srgbClr val="21295C"/>
                </a:solidFill>
                <a:latin typeface="Arial"/>
              </a:rPr>
              <a:t>Экономия на одном шаге не обязана компенсировать рост другого.</a:t>
            </a:r>
          </a:p>
        </p:txBody>
      </p:sp>
      <p:sp>
        <p:nvSpPr>
          <p:cNvPr id="19" name="Rectangle 18"/>
          <p:cNvSpPr/>
          <p:nvPr/>
        </p:nvSpPr>
        <p:spPr>
          <a:xfrm>
            <a:off x="6091275" y="3496568"/>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a:t>
            </a:r>
            <a:r>
              <a:rPr sz="1200" b="0" i="1">
                <a:solidFill>
                  <a:srgbClr val="1C7293"/>
                </a:solidFill>
                <a:latin typeface="Arial"/>
              </a:rPr>
              <a:t> · </a:t>
            </a:r>
            <a:r>
              <a:rPr sz="1200" b="0" i="1" u="sng">
                <a:solidFill>
                  <a:srgbClr val="065A82"/>
                </a:solidFill>
                <a:latin typeface="Arial"/>
                <a:hlinkClick r:id="rId3"/>
              </a:rPr>
              <a:t>Warren и соавт., Nature Cancer 2026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Разработчик</a:t>
            </a:r>
          </a:p>
          <a:p>
            <a:pPr algn="ctr">
              <a:lnSpc>
                <a:spcPct val="112000"/>
              </a:lnSpc>
            </a:pPr>
            <a:r>
              <a:rPr sz="1350" b="0" i="0">
                <a:solidFill>
                  <a:srgbClr val="21295C"/>
                </a:solidFill>
                <a:latin typeface="Arial"/>
              </a:rPr>
              <a:t>данные, устройство, обновления → соответствие назначению</a:t>
            </a:r>
          </a:p>
        </p:txBody>
      </p:sp>
      <p:sp>
        <p:nvSpPr>
          <p:cNvPr id="6" name="Rounded Rectangle 5"/>
          <p:cNvSpPr/>
          <p:nvPr/>
        </p:nvSpPr>
        <p:spPr>
          <a:xfrm>
            <a:off x="333595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a:p>
            <a:pPr algn="ctr">
              <a:lnSpc>
                <a:spcPct val="112000"/>
              </a:lnSpc>
            </a:pPr>
            <a:r>
              <a:rPr sz="1350" b="0" i="0">
                <a:solidFill>
                  <a:srgbClr val="21295C"/>
                </a:solidFill>
                <a:latin typeface="Arial"/>
              </a:rPr>
              <a:t>решение по одному человеку → это решение целиком</a:t>
            </a:r>
          </a:p>
        </p:txBody>
      </p:sp>
      <p:sp>
        <p:nvSpPr>
          <p:cNvPr id="8" name="Rounded Rectangle 7"/>
          <p:cNvSpPr/>
          <p:nvPr/>
        </p:nvSpPr>
        <p:spPr>
          <a:xfrm>
            <a:off x="616899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Больница</a:t>
            </a:r>
          </a:p>
          <a:p>
            <a:pPr algn="ctr">
              <a:lnSpc>
                <a:spcPct val="112000"/>
              </a:lnSpc>
            </a:pPr>
            <a:r>
              <a:rPr sz="1350" b="0" i="0">
                <a:solidFill>
                  <a:srgbClr val="21295C"/>
                </a:solidFill>
                <a:latin typeface="Arial"/>
              </a:rPr>
              <a:t>закупка, обучение, порядок → организация работы</a:t>
            </a:r>
          </a:p>
        </p:txBody>
      </p:sp>
      <p:sp>
        <p:nvSpPr>
          <p:cNvPr id="10" name="Rounded Rectangle 9"/>
          <p:cNvSpPr/>
          <p:nvPr/>
        </p:nvSpPr>
        <p:spPr>
          <a:xfrm>
            <a:off x="900203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Регулятор</a:t>
            </a:r>
          </a:p>
          <a:p>
            <a:pPr algn="ctr">
              <a:lnSpc>
                <a:spcPct val="112000"/>
              </a:lnSpc>
            </a:pPr>
            <a:r>
              <a:rPr sz="1350" b="0" i="0">
                <a:solidFill>
                  <a:srgbClr val="21295C"/>
                </a:solidFill>
                <a:latin typeface="Arial"/>
              </a:rPr>
              <a:t>допуск и надзор → рамка</a:t>
            </a:r>
          </a:p>
        </p:txBody>
      </p:sp>
      <p:sp>
        <p:nvSpPr>
          <p:cNvPr id="12" name="TextBox 11"/>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Контролирует → отвечает. Шов проходит по подписи врача</a:t>
            </a:r>
          </a:p>
        </p:txBody>
      </p:sp>
      <p:sp>
        <p:nvSpPr>
          <p:cNvPr id="13" name="Rounded Rectangle 12"/>
          <p:cNvSpPr/>
          <p:nvPr/>
        </p:nvSpPr>
        <p:spPr>
          <a:xfrm>
            <a:off x="374904" y="2862623"/>
            <a:ext cx="11441887" cy="2353747"/>
          </a:xfrm>
          <a:prstGeom prst="roundRect">
            <a:avLst>
              <a:gd name="adj" fmla="val 12949"/>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Измерено, во что обходится несогласие.</a:t>
            </a:r>
            <a:r>
              <a:rPr sz="1500" b="0" i="0">
                <a:solidFill>
                  <a:srgbClr val="21295C"/>
                </a:solidFill>
                <a:latin typeface="Arial"/>
              </a:rPr>
              <a:t> Один и тот же случай раздавали случайным распределением, меняя одно — принял врач подсказку или отверг; участники оценивали по шкале, насколько он поступил разумно. Принявшего оценивают выше: так судят присяжные и — отдельной выборкой — </a:t>
            </a:r>
            <a:r>
              <a:rPr sz="1500" b="1" i="0">
                <a:solidFill>
                  <a:srgbClr val="21295C"/>
                </a:solidFill>
                <a:latin typeface="Arial"/>
              </a:rPr>
              <a:t>248 немецких врачей</a:t>
            </a:r>
            <a:r>
              <a:rPr sz="1500" b="0" i="0">
                <a:solidFill>
                  <a:srgbClr val="21295C"/>
                </a:solidFill>
                <a:latin typeface="Arial"/>
              </a:rPr>
              <a:t>. При нестандартной рекомендации разницы нет.</a:t>
            </a:r>
          </a:p>
        </p:txBody>
      </p:sp>
      <p:sp>
        <p:nvSpPr>
          <p:cNvPr id="15" name="TextBox 14"/>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Отсюда четвёртая ступень:</a:t>
            </a:r>
            <a:r>
              <a:rPr sz="1500" b="0" i="0">
                <a:solidFill>
                  <a:srgbClr val="21295C"/>
                </a:solidFill>
                <a:latin typeface="Arial"/>
              </a:rPr>
              <a:t> подписать не глядя — дешёвый ход в заданном порядке.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проверка способности её нести — нет: 56 из 717 радиологических изделий, июнь 2024.</a:t>
            </a:r>
          </a:p>
        </p:txBody>
      </p:sp>
      <p:sp>
        <p:nvSpPr>
          <p:cNvPr id="16" name="Rectangle 15"/>
          <p:cNvSpPr/>
          <p:nvPr/>
        </p:nvSpPr>
        <p:spPr>
          <a:xfrm>
            <a:off x="6091275" y="2954063"/>
            <a:ext cx="9144" cy="20794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r>
              <a:rPr sz="1200" b="0" i="1">
                <a:solidFill>
                  <a:srgbClr val="1C7293"/>
                </a:solidFill>
                <a:latin typeface="Arial"/>
              </a:rPr>
              <a:t> · </a:t>
            </a:r>
            <a:r>
              <a:rPr sz="1200" b="0" i="1" u="sng">
                <a:solidFill>
                  <a:srgbClr val="065A82"/>
                </a:solidFill>
                <a:latin typeface="Arial"/>
                <a:hlinkClick r:id="rId3"/>
              </a:rPr>
              <a:t>Tobia и соавт., там же 2021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Кого норматив считает подходящим человеком</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ПОДХОДЯЩИЙ ЧЕЛОВЕК — ДОСЛОВНО, ПУНКТ 1(G)</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тот, кто сделает это сам, без модели</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лицензированный врач, пункт 1(g)</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ПОРОГ, СРОК И СПОСОБ ПРОВЕРКИ</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документе не названы</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ни периодичности, ни процедуры</a:t>
            </a:r>
          </a:p>
        </p:txBody>
      </p:sp>
      <p:sp>
        <p:nvSpPr>
          <p:cNvPr id="12" name="Rounded Rectangle 11"/>
          <p:cNvSpPr/>
          <p:nvPr/>
        </p:nvSpPr>
        <p:spPr>
          <a:xfrm>
            <a:off x="374904" y="298264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только врач перестаёт уметь без подсказки, точка вмешательства перестаёт ею быть — и схема на подписи не выполняет норму.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Износ навыка — условие законности.</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Политика Американской медицинской ассоциации, пункт 1(g), 2024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43,4 процента отзывов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 у 60 изделий, отозванных из 950 допущенных; 108 не разрешены; срез ноябрь 2024</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15" name="TextBox 14"/>
          <p:cNvSpPr txBox="1"/>
          <p:nvPr/>
        </p:nvSpPr>
        <p:spPr>
          <a:xfrm>
            <a:off x="502920" y="343327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действуют одновременно, один из другого не следует</a:t>
            </a:r>
          </a:p>
        </p:txBody>
      </p:sp>
      <p:sp>
        <p:nvSpPr>
          <p:cNvPr id="16" name="Rounded Rectangle 15"/>
          <p:cNvSpPr/>
          <p:nvPr/>
        </p:nvSpPr>
        <p:spPr>
          <a:xfrm>
            <a:off x="374904" y="3735959"/>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Измеренное последствие — ранний отзыв: проверка, не состоявшаяся до допуска, состоялась после.</a:t>
            </a:r>
            <a:r>
              <a:rPr sz="1500" b="0" i="0">
                <a:solidFill>
                  <a:srgbClr val="21295C"/>
                </a:solidFill>
                <a:latin typeface="Arial"/>
              </a:rPr>
              <a:t> Отзыв — изъятие изделия или его редакции из работы.</a:t>
            </a:r>
          </a:p>
        </p:txBody>
      </p:sp>
      <p:sp>
        <p:nvSpPr>
          <p:cNvPr id="18" name="TextBox 17"/>
          <p:cNvSpPr txBox="1"/>
          <p:nvPr/>
        </p:nvSpPr>
        <p:spPr>
          <a:xfrm>
            <a:off x="6278727"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считано:</a:t>
            </a:r>
            <a:r>
              <a:rPr sz="1500" b="0" i="0">
                <a:solidFill>
                  <a:srgbClr val="21295C"/>
                </a:solidFill>
                <a:latin typeface="Arial"/>
              </a:rPr>
              <a:t> обзор прочёл реестр и подсчитал долю отзывов первого года.</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здесь нет: это обзор надзорных механизмов.</a:t>
            </a:r>
          </a:p>
        </p:txBody>
      </p:sp>
      <p:sp>
        <p:nvSpPr>
          <p:cNvPr id="19" name="Rectangle 18"/>
          <p:cNvSpPr/>
          <p:nvPr/>
        </p:nvSpPr>
        <p:spPr>
          <a:xfrm>
            <a:off x="6091275" y="3827399"/>
            <a:ext cx="9144" cy="15742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2024</a:t>
            </a:r>
            <a:r>
              <a:rPr sz="1200" b="0" i="1">
                <a:solidFill>
                  <a:srgbClr val="1C7293"/>
                </a:solidFill>
                <a:latin typeface="Arial"/>
              </a:rPr>
              <a:t> · </a:t>
            </a:r>
            <a:r>
              <a:rPr sz="1200" b="0" i="1" u="sng">
                <a:solidFill>
                  <a:srgbClr val="065A82"/>
                </a:solidFill>
                <a:latin typeface="Arial"/>
                <a:hlinkClick r:id="rId3"/>
              </a:rPr>
              <a:t>приказ Росздравнадзора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и соавт., JAMA Health Forum 2025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 надзор: за подписью может не быть ничего</a:t>
            </a:r>
          </a:p>
        </p:txBody>
      </p:sp>
      <p:sp>
        <p:nvSpPr>
          <p:cNvPr id="4" name="Rounded Rectangle 3"/>
          <p:cNvSpPr/>
          <p:nvPr/>
        </p:nvSpPr>
        <p:spPr>
          <a:xfrm>
            <a:off x="374904" y="1243584"/>
            <a:ext cx="11441887" cy="3570170"/>
          </a:xfrm>
          <a:prstGeom prst="roundRect">
            <a:avLst>
              <a:gd name="adj" fmla="val 853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87,2 → 96,4 из ста — против одного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Первичных чтений вдвое меньше: 48 с против 2 мин 12 с</a:t>
            </a:r>
          </a:p>
          <a:p>
            <a:pPr algn="l">
              <a:lnSpc>
                <a:spcPct val="126000"/>
              </a:lnSpc>
              <a:spcBef>
                <a:spcPts val="700"/>
              </a:spcBef>
            </a:pPr>
            <a:r>
              <a:rPr sz="1500" b="0" i="0">
                <a:solidFill>
                  <a:srgbClr val="21295C"/>
                </a:solidFill>
                <a:latin typeface="Arial"/>
              </a:rPr>
              <a:t/>
            </a:r>
            <a:r>
              <a:rPr sz="1500" b="0" i="0">
                <a:solidFill>
                  <a:srgbClr val="21295C"/>
                </a:solidFill>
                <a:latin typeface="Arial"/>
              </a:rPr>
              <a:t>• Требование названо: понять, возразить,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Удержать независимость при одной подсказке на двоих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Избавиться от арбитража: +53 %, от 22 до 142</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Проверить способность возразить: 56 из 717 радиологических изделий, июнь 2024</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Сместилась цена ошибки: подпись человеческая, основание извне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выросла там же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45,5 из ста оставшихся ошибок — доверие автомату</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Права подписи у модели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Двойное чтение, где второго не заменили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Разбор случая и правка порядка</a:t>
            </a:r>
          </a:p>
        </p:txBody>
      </p:sp>
      <p:sp>
        <p:nvSpPr>
          <p:cNvPr id="7" name="Rectangle 6"/>
          <p:cNvSpPr/>
          <p:nvPr/>
        </p:nvSpPr>
        <p:spPr>
          <a:xfrm>
            <a:off x="6091275" y="1335024"/>
            <a:ext cx="9144" cy="32958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JAMA Network Open 2025</a:t>
            </a:r>
            <a:r>
              <a:rPr sz="1200" b="0" i="1">
                <a:solidFill>
                  <a:srgbClr val="1C7293"/>
                </a:solidFill>
                <a:latin typeface="Arial"/>
              </a:rPr>
              <a:t> · </a:t>
            </a:r>
            <a:r>
              <a:rPr sz="1200" b="0" i="1" u="sng">
                <a:solidFill>
                  <a:srgbClr val="065A82"/>
                </a:solidFill>
                <a:latin typeface="Arial"/>
                <a:hlinkClick r:id="rId3"/>
              </a:rPr>
              <a:t>European Radiology 2026</a:t>
            </a:r>
            <a:r>
              <a:rPr sz="1200" b="0" i="1">
                <a:solidFill>
                  <a:srgbClr val="1C7293"/>
                </a:solidFill>
                <a:latin typeface="Arial"/>
              </a:rPr>
              <a:t> · </a:t>
            </a:r>
            <a:r>
              <a:rPr sz="1200" b="0" i="1" u="sng">
                <a:solidFill>
                  <a:srgbClr val="065A82"/>
                </a:solidFill>
                <a:latin typeface="Arial"/>
                <a:hlinkClick r:id="rId4"/>
              </a:rPr>
              <a:t>JAMIA 2023</a:t>
            </a:r>
            <a:r>
              <a:rPr sz="1200" b="0" i="1">
                <a:solidFill>
                  <a:srgbClr val="1C7293"/>
                </a:solidFill>
                <a:latin typeface="Arial"/>
              </a:rPr>
              <a:t> · </a:t>
            </a:r>
            <a:r>
              <a:rPr sz="1200" b="0" i="1" u="sng">
                <a:solidFill>
                  <a:srgbClr val="065A82"/>
                </a:solidFill>
                <a:latin typeface="Arial"/>
                <a:hlinkClick r:id="rId5"/>
              </a:rPr>
              <a:t>Регламент (ЕС) 2024/1689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5.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 · 1 плоскость без примера</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
        <p:nvSpPr>
          <p:cNvPr id="11" name="TextBox 10"/>
          <p:cNvSpPr txBox="1"/>
          <p:nvPr/>
        </p:nvSpPr>
        <p:spPr>
          <a:xfrm>
            <a:off x="704088" y="4583110"/>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примера: </a:t>
            </a:r>
            <a:r>
              <a:rPr sz="1550" b="1" i="0">
                <a:solidFill>
                  <a:srgbClr val="21295C"/>
                </a:solidFill>
                <a:latin typeface="Arial"/>
              </a:rPr>
              <a:t>чего про доверие не измерено</a:t>
            </a:r>
            <a:r>
              <a:rPr sz="1550" b="0" i="0">
                <a:solidFill>
                  <a:srgbClr val="21295C"/>
                </a:solidFill>
                <a:latin typeface="Arial"/>
              </a:rPr>
              <a:t> и </a:t>
            </a:r>
            <a:r>
              <a:rPr sz="1550" b="1" i="0">
                <a:solidFill>
                  <a:srgbClr val="21295C"/>
                </a:solidFill>
                <a:latin typeface="Arial"/>
              </a:rPr>
              <a:t>единственный чертёж темы — с пустыми осями</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ОБРЫВ ДОВЕРИЯ ПОСЛЕ ОШИБКИ И ЗА МЕСЯЦЫ РАБОТЫ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7" name="Rounded Rectangle 6"/>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30–50 из ста разработчиков</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телеметрии нет</a:t>
            </a:r>
          </a:p>
        </p:txBody>
      </p:sp>
      <p:sp>
        <p:nvSpPr>
          <p:cNvPr id="11" name="Rounded Rectangle 10"/>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рандомизированный замер, 47 новых участников; отдельно опрашивали опытных разработчиков — 30–50 из ста сказали, что не сдают задачи без помощника, и </a:t>
            </a:r>
            <a:r>
              <a:rPr sz="1500" b="1" i="0">
                <a:solidFill>
                  <a:srgbClr val="21295C"/>
                </a:solidFill>
                <a:latin typeface="Arial"/>
              </a:rPr>
              <a:t>сколько человек ответило, источник не называет.</a:t>
            </a:r>
          </a:p>
        </p:txBody>
      </p:sp>
      <p:sp>
        <p:nvSpPr>
          <p:cNvPr id="13" name="TextBox 12"/>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видно. Что он думает о доверии,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Средство одно:</a:t>
            </a:r>
            <a:r>
              <a:rPr sz="1500" b="0" i="0">
                <a:solidFill>
                  <a:srgbClr val="21295C"/>
                </a:solidFill>
                <a:latin typeface="Arial"/>
              </a:rPr>
              <a:t> дают немного поправить прогноз — и после ошибки модель не бросают. </a:t>
            </a:r>
            <a:r>
              <a:rPr sz="1500" b="0" i="1">
                <a:solidFill>
                  <a:srgbClr val="21295C"/>
                </a:solidFill>
                <a:latin typeface="Arial"/>
              </a:rPr>
              <a:t>Найдено вне медицины.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Того, кто читает снимок женщины с письмом, без помощника не измерял никто.</a:t>
            </a:r>
          </a:p>
        </p:txBody>
      </p:sp>
      <p:sp>
        <p:nvSpPr>
          <p:cNvPr id="14" name="Rectangle 13"/>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замер производительности разработчиков, 2026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Отчёт государственного органа образования: оси подписаны, величин нет</a:t>
            </a:r>
          </a:p>
        </p:txBody>
      </p:sp>
      <p:sp>
        <p:nvSpPr>
          <p:cNvPr id="4" name="Rounded Rectangle 3"/>
          <p:cNvSpPr/>
          <p:nvPr/>
        </p:nvSpPr>
        <p:spPr>
          <a:xfrm>
            <a:off x="502920" y="1335024"/>
            <a:ext cx="360399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ИЗНОС НАВЫКА В СИЛЛАБУСАХ</a:t>
            </a:r>
          </a:p>
        </p:txBody>
      </p:sp>
      <p:sp>
        <p:nvSpPr>
          <p:cNvPr id="6" name="TextBox 5"/>
          <p:cNvSpPr txBox="1"/>
          <p:nvPr/>
        </p:nvSpPr>
        <p:spPr>
          <a:xfrm>
            <a:off x="640080" y="1725375"/>
            <a:ext cx="332967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 вхождений</a:t>
            </a:r>
          </a:p>
        </p:txBody>
      </p:sp>
      <p:sp>
        <p:nvSpPr>
          <p:cNvPr id="7" name="TextBox 6"/>
          <p:cNvSpPr txBox="1"/>
          <p:nvPr/>
        </p:nvSpPr>
        <p:spPr>
          <a:xfrm>
            <a:off x="640080"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сплошной счёт, 6 196 слов</a:t>
            </a:r>
          </a:p>
        </p:txBody>
      </p:sp>
      <p:sp>
        <p:nvSpPr>
          <p:cNvPr id="8" name="Rounded Rectangle 7"/>
          <p:cNvSpPr/>
          <p:nvPr/>
        </p:nvSpPr>
        <p:spPr>
          <a:xfrm>
            <a:off x="4271505" y="1335024"/>
            <a:ext cx="360399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08665"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ПРОГРАММА ПО ИИ: НА ЭТУ ТЕМУ</a:t>
            </a:r>
          </a:p>
        </p:txBody>
      </p:sp>
      <p:sp>
        <p:nvSpPr>
          <p:cNvPr id="10" name="TextBox 9"/>
          <p:cNvSpPr txBox="1"/>
          <p:nvPr/>
        </p:nvSpPr>
        <p:spPr>
          <a:xfrm>
            <a:off x="4408665" y="1725375"/>
            <a:ext cx="332967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 из 60 часов</a:t>
            </a:r>
          </a:p>
        </p:txBody>
      </p:sp>
      <p:sp>
        <p:nvSpPr>
          <p:cNvPr id="11" name="TextBox 10"/>
          <p:cNvSpPr txBox="1"/>
          <p:nvPr/>
        </p:nvSpPr>
        <p:spPr>
          <a:xfrm>
            <a:off x="4408665"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видео, 0,15 процента</a:t>
            </a:r>
          </a:p>
        </p:txBody>
      </p:sp>
      <p:sp>
        <p:nvSpPr>
          <p:cNvPr id="12" name="Rounded Rectangle 11"/>
          <p:cNvSpPr/>
          <p:nvPr/>
        </p:nvSpPr>
        <p:spPr>
          <a:xfrm>
            <a:off x="374904" y="2592217"/>
            <a:ext cx="7628611"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7299427"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Отчёт государственного органа образования:</a:t>
            </a:r>
            <a:r>
              <a:rPr sz="1500" b="0" i="0">
                <a:solidFill>
                  <a:srgbClr val="21295C"/>
                </a:solidFill>
                <a:latin typeface="Arial"/>
              </a:rPr>
              <a:t> оси подписаны, поле под ними пустое. Назвать оси было чем, данные под них нечем.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Механизм описан подробно и без величин:</a:t>
            </a:r>
            <a:r>
              <a:rPr sz="1500" b="0" i="0">
                <a:solidFill>
                  <a:srgbClr val="21295C"/>
                </a:solidFill>
                <a:latin typeface="Arial"/>
              </a:rPr>
              <a:t> недополученные прочтения, деградация умений, самоуспокоение.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считано:</a:t>
            </a:r>
            <a:r>
              <a:rPr sz="1500" b="0" i="0">
                <a:solidFill>
                  <a:srgbClr val="21295C"/>
                </a:solidFill>
                <a:latin typeface="Arial"/>
              </a:rPr>
              <a:t> подсчитаны вхождения термина в учебных программах — 6 196 слов, доля вхождений ноль; в 60 часах программы по ИИ теме отдано 5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 в указателе больше тысячи, в обучение не пришло ни одной величины.</a:t>
            </a:r>
          </a:p>
        </p:txBody>
      </p:sp>
      <p:sp>
        <p:nvSpPr>
          <p:cNvPr id="14" name="Rounded Rectangle 13"/>
          <p:cNvSpPr/>
          <p:nvPr/>
        </p:nvSpPr>
        <p:spPr>
          <a:xfrm>
            <a:off x="8186395" y="1335024"/>
            <a:ext cx="35023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15" name="Picture 14" descr="s73ha-pustye-osi-otchet-HEE-2022.png"/>
          <p:cNvPicPr>
            <a:picLocks noChangeAspect="1"/>
          </p:cNvPicPr>
          <p:nvPr/>
        </p:nvPicPr>
        <p:blipFill>
          <a:blip r:embed="rId2"/>
          <a:stretch>
            <a:fillRect/>
          </a:stretch>
        </p:blipFill>
        <p:spPr>
          <a:xfrm>
            <a:off x="8323555" y="1472184"/>
            <a:ext cx="3228059" cy="2834640"/>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Health Education England и NHS AI Lab, 2022</a:t>
            </a:r>
            <a:r>
              <a:rPr sz="1200" b="0" i="1">
                <a:solidFill>
                  <a:srgbClr val="1C7293"/>
                </a:solidFill>
                <a:latin typeface="Arial"/>
              </a:rPr>
              <a:t> · </a:t>
            </a:r>
            <a:r>
              <a:rPr sz="1200" b="0" i="1" u="sng">
                <a:solidFill>
                  <a:srgbClr val="065A82"/>
                </a:solidFill>
                <a:latin typeface="Arial"/>
                <a:hlinkClick r:id="rId4"/>
              </a:rPr>
              <a:t>AAPM, ACR, RSNA, SIIM, 2025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в сетке: вне окна</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ЯЧЕЕК В ОКНЕ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ПЯТЬ РАЗДЕЛОВ</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третий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Ячейка раздела лежит вне окна: это распознавание на видео</a:t>
            </a:r>
            <a:r>
              <a:rPr sz="1500" b="0" i="0">
                <a:solidFill>
                  <a:srgbClr val="21295C"/>
                </a:solidFill>
                <a:latin typeface="Arial"/>
              </a:rPr>
              <a:t> — подсветка на живом потоке кадров. Столбца «видео» в окне нет: окно собрано под клинику, где читают снимок, текст и карту.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Доверие ячейки не получает вовсе:</a:t>
            </a:r>
            <a:r>
              <a:rPr sz="1500" b="0" i="0">
                <a:solidFill>
                  <a:srgbClr val="21295C"/>
                </a:solidFill>
                <a:latin typeface="Arial"/>
              </a:rPr>
              <a:t> режима работы в нём нет.</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подсветка на видео</a:t>
            </a:r>
            <a:r>
              <a:rPr sz="1500" b="0" i="0">
                <a:solidFill>
                  <a:srgbClr val="21295C"/>
                </a:solidFill>
                <a:latin typeface="Arial"/>
              </a:rPr>
              <a:t> — GI Genius · CAD EYE · ENDO-AID CADe</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второй читатель на снимке</a:t>
            </a:r>
            <a:r>
              <a:rPr sz="1500" b="0" i="0">
                <a:solidFill>
                  <a:srgbClr val="21295C"/>
                </a:solidFill>
                <a:latin typeface="Arial"/>
              </a:rPr>
              <a:t> — Transpara · Lunit INSIGHT · iCAD ProFound</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в последствиях: у подсветки человек остаётся и решает, со второго места его снимают.</a:t>
            </a:r>
          </a:p>
        </p:txBody>
      </p:sp>
      <p:sp>
        <p:nvSpPr>
          <p:cNvPr id="21" name="Rectangle 2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475454"/>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6. Разработка лекарственных средств</a:t>
            </a:r>
          </a:p>
        </p:txBody>
      </p:sp>
      <p:sp>
        <p:nvSpPr>
          <p:cNvPr id="7" name="Rectangle 6"/>
          <p:cNvSpPr/>
          <p:nvPr/>
        </p:nvSpPr>
        <p:spPr>
          <a:xfrm>
            <a:off x="704088" y="1527014"/>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01334"/>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Удешевили начало — где узкое место.</a:t>
            </a:r>
            <a:r>
              <a:rPr sz="1550" b="0" i="0">
                <a:solidFill>
                  <a:srgbClr val="21295C"/>
                </a:solidFill>
                <a:latin typeface="Arial"/>
              </a:rPr>
              <a:t> Прошлый раздел кончился человеком, который стал хуже. Здесь меняется масштаб: ранний шаг разработки подешевел многократно, а узкое место дальше по пути — ни на сколько.</a:t>
            </a:r>
          </a:p>
        </p:txBody>
      </p:sp>
      <p:sp>
        <p:nvSpPr>
          <p:cNvPr id="9" name="TextBox 8"/>
          <p:cNvSpPr txBox="1"/>
          <p:nvPr/>
        </p:nvSpPr>
        <p:spPr>
          <a:xfrm>
            <a:off x="704088" y="31742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подробно · 2 коротко, с числом и базой.</a:t>
            </a:r>
            <a:r>
              <a:rPr sz="1550" b="0" i="0">
                <a:solidFill>
                  <a:srgbClr val="21295C"/>
                </a:solidFill>
                <a:latin typeface="Arial"/>
              </a:rPr>
              <a:t> Подробно — </a:t>
            </a:r>
            <a:r>
              <a:rPr sz="1550" b="1" i="0">
                <a:solidFill>
                  <a:srgbClr val="21295C"/>
                </a:solidFill>
                <a:latin typeface="Arial"/>
              </a:rPr>
              <a:t>Пример 1: отказ от своего обещания и минус 180 мест</a:t>
            </a:r>
            <a:r>
              <a:rPr sz="1550" b="0" i="0">
                <a:solidFill>
                  <a:srgbClr val="21295C"/>
                </a:solidFill>
                <a:latin typeface="Arial"/>
              </a:rPr>
              <a:t>; два коротких — в итоге раздела.</a:t>
            </a:r>
          </a:p>
        </p:txBody>
      </p:sp>
      <p:sp>
        <p:nvSpPr>
          <p:cNvPr id="10" name="TextBox 9"/>
          <p:cNvSpPr txBox="1"/>
          <p:nvPr/>
        </p:nvSpPr>
        <p:spPr>
          <a:xfrm>
            <a:off x="704088" y="424515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что делают и какая у стадии база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СЧЁТА</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12 728 переходов, 9 704 программы</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подсчитаны доли переходов: 1 779 компаний, 2011–2020</a:t>
            </a:r>
          </a:p>
        </p:txBody>
      </p:sp>
      <p:sp>
        <p:nvSpPr>
          <p:cNvPr id="8" name="Rounded Rectangle 7"/>
          <p:cNvSpPr/>
          <p:nvPr/>
        </p:nvSpPr>
        <p:spPr>
          <a:xfrm>
            <a:off x="502920" y="2683657"/>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94360" y="2729377"/>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фаза II</a:t>
            </a:r>
          </a:p>
          <a:p>
            <a:pPr algn="ctr">
              <a:lnSpc>
                <a:spcPct val="112000"/>
              </a:lnSpc>
            </a:pPr>
            <a:r>
              <a:rPr sz="1350" b="0" i="0">
                <a:solidFill>
                  <a:srgbClr val="21295C"/>
                </a:solidFill>
                <a:latin typeface="Arial"/>
              </a:rPr>
              <a:t>52,0 % · из 4 414</a:t>
            </a:r>
          </a:p>
        </p:txBody>
      </p:sp>
      <p:sp>
        <p:nvSpPr>
          <p:cNvPr id="10" name="Rounded Rectangle 9"/>
          <p:cNvSpPr/>
          <p:nvPr/>
        </p:nvSpPr>
        <p:spPr>
          <a:xfrm>
            <a:off x="2853842" y="2884825"/>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2945282" y="2930545"/>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II → фаза III</a:t>
            </a:r>
          </a:p>
          <a:p>
            <a:pPr algn="ctr">
              <a:lnSpc>
                <a:spcPct val="112000"/>
              </a:lnSpc>
            </a:pPr>
            <a:r>
              <a:rPr sz="1350" b="0" i="0">
                <a:solidFill>
                  <a:srgbClr val="21295C"/>
                </a:solidFill>
                <a:latin typeface="Arial"/>
              </a:rPr>
              <a:t>28,9 % · из 4 933</a:t>
            </a:r>
          </a:p>
        </p:txBody>
      </p:sp>
      <p:sp>
        <p:nvSpPr>
          <p:cNvPr id="12" name="Rounded Rectangle 11"/>
          <p:cNvSpPr/>
          <p:nvPr/>
        </p:nvSpPr>
        <p:spPr>
          <a:xfrm>
            <a:off x="5204764" y="3085993"/>
            <a:ext cx="2241194"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296204" y="3131713"/>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одобрение</a:t>
            </a:r>
          </a:p>
          <a:p>
            <a:pPr algn="ctr">
              <a:lnSpc>
                <a:spcPct val="112000"/>
              </a:lnSpc>
            </a:pPr>
            <a:r>
              <a:rPr sz="1350" b="0" i="0">
                <a:solidFill>
                  <a:srgbClr val="21295C"/>
                </a:solidFill>
                <a:latin typeface="Arial"/>
              </a:rPr>
              <a:t>7,9 % · одна из тринадцати</a:t>
            </a:r>
          </a:p>
        </p:txBody>
      </p:sp>
      <p:sp>
        <p:nvSpPr>
          <p:cNvPr id="14" name="Rounded Rectangle 13"/>
          <p:cNvSpPr/>
          <p:nvPr/>
        </p:nvSpPr>
        <p:spPr>
          <a:xfrm>
            <a:off x="374904" y="4109836"/>
            <a:ext cx="11441887" cy="2126371"/>
          </a:xfrm>
          <a:prstGeom prst="roundRect">
            <a:avLst>
              <a:gd name="adj" fmla="val 14334"/>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201276"/>
            <a:ext cx="11112703" cy="203493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Стадия стоит раньше всех остальных: здесь появляется то, что потом назначают.</a:t>
            </a:r>
            <a:r>
              <a:rPr sz="1450" b="0" i="0">
                <a:solidFill>
                  <a:srgbClr val="21295C"/>
                </a:solidFill>
                <a:latin typeface="Arial"/>
              </a:rPr>
              <a:t> Данные о веществе.</a:t>
            </a:r>
          </a:p>
          <a:p>
            <a:pPr algn="l">
              <a:lnSpc>
                <a:spcPct val="126000"/>
              </a:lnSpc>
              <a:spcBef>
                <a:spcPts val="700"/>
              </a:spcBef>
            </a:pPr>
            <a:r>
              <a:rPr sz="1450" b="0" i="0">
                <a:solidFill>
                  <a:srgbClr val="21295C"/>
                </a:solidFill>
                <a:latin typeface="Arial"/>
              </a:rPr>
              <a:t/>
            </a:r>
            <a:r>
              <a:rPr sz="1450" b="0" i="0">
                <a:solidFill>
                  <a:srgbClr val="21295C"/>
                </a:solidFill>
                <a:latin typeface="Arial"/>
              </a:rPr>
              <a:t>Химик ставит реакцию, получает миллиграммы. Через полгода порошок едет в виварий. Через год координатор пишет наблюдения по одному добровольцу. </a:t>
            </a:r>
            <a:r>
              <a:rPr sz="1450" b="1" i="0">
                <a:solidFill>
                  <a:srgbClr val="21295C"/>
                </a:solidFill>
                <a:latin typeface="Arial"/>
              </a:rPr>
              <a:t>Три человека, три места, одно вещество, два года.</a:t>
            </a:r>
          </a:p>
          <a:p>
            <a:pPr algn="l">
              <a:lnSpc>
                <a:spcPct val="126000"/>
              </a:lnSpc>
              <a:spcBef>
                <a:spcPts val="700"/>
              </a:spcBef>
            </a:pPr>
            <a:r>
              <a:rPr sz="1450" b="0" i="0">
                <a:solidFill>
                  <a:srgbClr val="21295C"/>
                </a:solidFill>
                <a:latin typeface="Arial"/>
              </a:rPr>
              <a:t/>
            </a:r>
            <a:r>
              <a:rPr sz="1450" b="1" i="0">
                <a:solidFill>
                  <a:srgbClr val="21295C"/>
                </a:solidFill>
                <a:latin typeface="Arial"/>
              </a:rPr>
              <a:t>Решение на каждом шаге:</a:t>
            </a:r>
            <a:r>
              <a:rPr sz="1450" b="0" i="0">
                <a:solidFill>
                  <a:srgbClr val="21295C"/>
                </a:solidFill>
                <a:latin typeface="Arial"/>
              </a:rPr>
              <a:t> вести или закрыть. </a:t>
            </a:r>
            <a:r>
              <a:rPr sz="1450" b="1" i="0">
                <a:solidFill>
                  <a:srgbClr val="21295C"/>
                </a:solidFill>
                <a:latin typeface="Arial"/>
              </a:rPr>
              <a:t>Считающий шаг один и он в начале;</a:t>
            </a:r>
            <a:r>
              <a:rPr sz="1450" b="0" i="0">
                <a:solidFill>
                  <a:srgbClr val="21295C"/>
                </a:solidFill>
                <a:latin typeface="Arial"/>
              </a:rPr>
              <a:t> остальной путь делают руками, и дешевле он не стал.</a:t>
            </a:r>
          </a:p>
          <a:p>
            <a:pPr algn="l">
              <a:lnSpc>
                <a:spcPct val="126000"/>
              </a:lnSpc>
              <a:spcBef>
                <a:spcPts val="700"/>
              </a:spcBef>
            </a:pPr>
            <a:r>
              <a:rPr sz="1450" b="0" i="0">
                <a:solidFill>
                  <a:srgbClr val="21295C"/>
                </a:solidFill>
                <a:latin typeface="Arial"/>
              </a:rPr>
              <a:t/>
            </a:r>
            <a:r>
              <a:rPr sz="1450" b="1" i="0">
                <a:solidFill>
                  <a:srgbClr val="21295C"/>
                </a:solidFill>
                <a:latin typeface="Arial"/>
              </a:rPr>
              <a:t>«Перешли» и «завершили» — две разные дроби:</a:t>
            </a:r>
            <a:r>
              <a:rPr sz="1450" b="0" i="0">
                <a:solidFill>
                  <a:srgbClr val="21295C"/>
                </a:solidFill>
                <a:latin typeface="Arial"/>
              </a:rPr>
              <a:t> живые активы в базу не попадают.</a:t>
            </a:r>
          </a:p>
        </p:txBody>
      </p:sp>
      <p:sp>
        <p:nvSpPr>
          <p:cNvPr id="16" name="Rounded Rectangle 15"/>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7" name="Picture 16"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цена обеих ошибок и два режима</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эксперимента не было</a:t>
            </a:r>
          </a:p>
        </p:txBody>
      </p:sp>
      <p:sp>
        <p:nvSpPr>
          <p:cNvPr id="12" name="Rounded Rectangle 11"/>
          <p:cNvSpPr/>
          <p:nvPr/>
        </p:nvSpPr>
        <p:spPr>
          <a:xfrm>
            <a:off x="374904" y="2592217"/>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у обоих режимов один и тот же:</a:t>
            </a:r>
            <a:r>
              <a:rPr sz="1500" b="0" i="0">
                <a:solidFill>
                  <a:srgbClr val="21295C"/>
                </a:solidFill>
                <a:latin typeface="Arial"/>
              </a:rPr>
              <a:t> различия между ними числом не предъявил ни один источник.</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Вести всё синтезированное</a:t>
            </a:r>
            <a:r>
              <a:rPr sz="1500" b="0" i="0">
                <a:solidFill>
                  <a:srgbClr val="21295C"/>
                </a:solidFill>
                <a:latin typeface="Arial"/>
              </a:rPr>
              <a:t> — платит первой фазой за пустышку, и ошибку видно. </a:t>
            </a:r>
            <a:r>
              <a:rPr sz="1500" b="1" i="0">
                <a:solidFill>
                  <a:srgbClr val="21295C"/>
                </a:solidFill>
                <a:latin typeface="Arial"/>
              </a:rPr>
              <a:t>Вести только прошедшее экспертный отбор</a:t>
            </a:r>
            <a:r>
              <a:rPr sz="1500" b="0" i="0">
                <a:solidFill>
                  <a:srgbClr val="21295C"/>
                </a:solidFill>
                <a:latin typeface="Arial"/>
              </a:rPr>
              <a:t> — платит отброшенными молекулами, и сколько их, не знает никто.</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Экспертный отбор</a:t>
            </a:r>
            <a:r>
              <a:rPr sz="1500" b="0" i="0">
                <a:solidFill>
                  <a:srgbClr val="21295C"/>
                </a:solidFill>
                <a:latin typeface="Arial"/>
              </a:rPr>
              <a:t> — совет химиков, биологов и токсикологов: опыт и литература, протокола нет, повторяемость не замерял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шаге поиска молекулы числа есть и проверяемы:</a:t>
            </a:r>
            <a:r>
              <a:rPr sz="1500" b="0" i="0">
                <a:solidFill>
                  <a:srgbClr val="21295C"/>
                </a:solidFill>
                <a:latin typeface="Arial"/>
              </a:rPr>
              <a:t> перебор библиотеки 1–3 млн соединений, попадания 1–2 процента.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этой базой нет, «модель ускорила разработку» говорит только про тот шаг, где её применили.</a:t>
            </a:r>
          </a:p>
        </p:txBody>
      </p:sp>
      <p:sp>
        <p:nvSpPr>
          <p:cNvPr id="15" name="Rectangle 14"/>
          <p:cNvSpPr/>
          <p:nvPr/>
        </p:nvSpPr>
        <p:spPr>
          <a:xfrm>
            <a:off x="6091275" y="2683657"/>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QLS и Informa, Clinical Development Success Rates 2011–2020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отказ от своего обещания и минус 180 мест</a:t>
            </a:r>
          </a:p>
        </p:txBody>
      </p:sp>
      <p:sp>
        <p:nvSpPr>
          <p:cNvPr id="4" name="Rounded Rectangle 3"/>
          <p:cNvSpPr/>
          <p:nvPr/>
        </p:nvSpPr>
        <p:spPr>
          <a:xfrm>
            <a:off x="502920" y="1335024"/>
            <a:ext cx="1818055" cy="2295529"/>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1543735"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91 пациент, 28 дней</a:t>
            </a:r>
          </a:p>
        </p:txBody>
      </p:sp>
      <p:sp>
        <p:nvSpPr>
          <p:cNvPr id="7" name="TextBox 6"/>
          <p:cNvSpPr txBox="1"/>
          <p:nvPr/>
        </p:nvSpPr>
        <p:spPr>
          <a:xfrm>
            <a:off x="640080" y="2457923"/>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a:t>
            </a:r>
          </a:p>
        </p:txBody>
      </p:sp>
      <p:sp>
        <p:nvSpPr>
          <p:cNvPr id="8" name="Rounded Rectangle 7"/>
          <p:cNvSpPr/>
          <p:nvPr/>
        </p:nvSpPr>
        <p:spPr>
          <a:xfrm>
            <a:off x="2485567" y="1335024"/>
            <a:ext cx="1818055" cy="2295529"/>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22727" y="1472184"/>
            <a:ext cx="154373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a:t>
            </a:r>
          </a:p>
        </p:txBody>
      </p:sp>
      <p:sp>
        <p:nvSpPr>
          <p:cNvPr id="10" name="TextBox 9"/>
          <p:cNvSpPr txBox="1"/>
          <p:nvPr/>
        </p:nvSpPr>
        <p:spPr>
          <a:xfrm>
            <a:off x="2622727" y="1932846"/>
            <a:ext cx="1543735"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не достигнуты</a:t>
            </a:r>
          </a:p>
        </p:txBody>
      </p:sp>
      <p:sp>
        <p:nvSpPr>
          <p:cNvPr id="11" name="TextBox 10"/>
          <p:cNvSpPr txBox="1"/>
          <p:nvPr/>
        </p:nvSpPr>
        <p:spPr>
          <a:xfrm>
            <a:off x="2622727" y="2648419"/>
            <a:ext cx="154373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мерили по шкале тяжести экземы и зуда; плацебо не превзойдено</a:t>
            </a:r>
          </a:p>
        </p:txBody>
      </p:sp>
      <p:sp>
        <p:nvSpPr>
          <p:cNvPr id="12" name="Rounded Rectangle 11"/>
          <p:cNvSpPr/>
          <p:nvPr/>
        </p:nvSpPr>
        <p:spPr>
          <a:xfrm>
            <a:off x="4468215" y="1335024"/>
            <a:ext cx="1818055" cy="2295529"/>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05375"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a:t>
            </a:r>
          </a:p>
        </p:txBody>
      </p:sp>
      <p:sp>
        <p:nvSpPr>
          <p:cNvPr id="14" name="TextBox 13"/>
          <p:cNvSpPr txBox="1"/>
          <p:nvPr/>
        </p:nvSpPr>
        <p:spPr>
          <a:xfrm>
            <a:off x="4605375" y="1725375"/>
            <a:ext cx="1543735"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28,9 % перехода фазы II</a:t>
            </a:r>
          </a:p>
        </p:txBody>
      </p:sp>
      <p:sp>
        <p:nvSpPr>
          <p:cNvPr id="15" name="TextBox 14"/>
          <p:cNvSpPr txBox="1"/>
          <p:nvPr/>
        </p:nvSpPr>
        <p:spPr>
          <a:xfrm>
            <a:off x="4605375" y="2254223"/>
            <a:ext cx="15437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норма воронки</a:t>
            </a:r>
          </a:p>
        </p:txBody>
      </p:sp>
      <p:sp>
        <p:nvSpPr>
          <p:cNvPr id="16" name="Rounded Rectangle 15"/>
          <p:cNvSpPr/>
          <p:nvPr/>
        </p:nvSpPr>
        <p:spPr>
          <a:xfrm>
            <a:off x="6450863" y="1335024"/>
            <a:ext cx="1818055" cy="2295529"/>
          </a:xfrm>
          <a:prstGeom prst="roundRect">
            <a:avLst>
              <a:gd name="adj" fmla="val 167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588023"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6588023" y="1725375"/>
            <a:ext cx="154373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минус 180 мест, затем минус 30 % штата</a:t>
            </a:r>
          </a:p>
        </p:txBody>
      </p:sp>
      <p:sp>
        <p:nvSpPr>
          <p:cNvPr id="19" name="Rounded Rectangle 18"/>
          <p:cNvSpPr/>
          <p:nvPr/>
        </p:nvSpPr>
        <p:spPr>
          <a:xfrm>
            <a:off x="374904" y="3721993"/>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813433"/>
            <a:ext cx="11112703" cy="242277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Искали молекулу под мишень по графу связей «мишень — болезнь — препарат» и довели её до испытания на людях: мазали кожу пациентам с экземой, вслепую и против плацебо.</a:t>
            </a:r>
          </a:p>
          <a:p>
            <a:pPr algn="l">
              <a:lnSpc>
                <a:spcPct val="126000"/>
              </a:lnSpc>
              <a:spcBef>
                <a:spcPts val="700"/>
              </a:spcBef>
            </a:pPr>
            <a:r>
              <a:rPr sz="1500" b="0" i="0">
                <a:solidFill>
                  <a:srgbClr val="21295C"/>
                </a:solidFill>
                <a:latin typeface="Arial"/>
              </a:rPr>
              <a:t/>
            </a:r>
            <a:r>
              <a:rPr sz="1500" b="0" i="1">
                <a:solidFill>
                  <a:srgbClr val="21295C"/>
                </a:solidFill>
                <a:latin typeface="Arial"/>
              </a:rPr>
              <a:t>Прогноз на структурированных данных.</a:t>
            </a:r>
            <a:r>
              <a:rPr sz="1500" b="0" i="0">
                <a:solidFill>
                  <a:srgbClr val="21295C"/>
                </a:solidFill>
                <a:latin typeface="Arial"/>
              </a:rPr>
              <a:t> </a:t>
            </a:r>
            <a:r>
              <a:rPr sz="1500" b="1" i="0">
                <a:solidFill>
                  <a:srgbClr val="21295C"/>
                </a:solidFill>
                <a:latin typeface="Arial"/>
              </a:rPr>
              <a:t>Ни компании, ни молекулы, ни данных обучения источники не называют.</a:t>
            </a:r>
            <a:r>
              <a:rPr sz="1500" b="0" i="0">
                <a:solidFill>
                  <a:srgbClr val="21295C"/>
                </a:solidFill>
                <a:latin typeface="Arial"/>
              </a:rPr>
              <a:t> Разница выяснилась только на людях.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Переехал порядок работ, и на масштабе модели бизнеса. Дало</a:t>
            </a:r>
            <a:r>
              <a:rPr sz="1500" b="0" i="0">
                <a:solidFill>
                  <a:srgbClr val="21295C"/>
                </a:solidFill>
                <a:latin typeface="Arial"/>
              </a:rPr>
              <a:t>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a:t>
            </a:r>
          </a:p>
        </p:txBody>
      </p:sp>
      <p:sp>
        <p:nvSpPr>
          <p:cNvPr id="21" name="Rounded Rectangle 20"/>
          <p:cNvSpPr/>
          <p:nvPr/>
        </p:nvSpPr>
        <p:spPr>
          <a:xfrm>
            <a:off x="8579815" y="1335024"/>
            <a:ext cx="3108960" cy="2336631"/>
          </a:xfrm>
          <a:prstGeom prst="roundRect">
            <a:avLst>
              <a:gd name="adj" fmla="val 13044"/>
            </a:avLst>
          </a:prstGeom>
          <a:solidFill>
            <a:srgbClr val="F4F7FA"/>
          </a:solidFill>
          <a:ln w="19050">
            <a:solidFill>
              <a:srgbClr val="1C7293"/>
            </a:solidFill>
          </a:ln>
          <a:effectLst/>
        </p:spPr>
        <p:txBody>
          <a:bodyPr rtlCol="0" anchor="ctr"/>
          <a:lstStyle/>
          <a:p>
            <a:pPr algn="ctr"/>
          </a:p>
        </p:txBody>
      </p:sp>
      <p:pic>
        <p:nvPicPr>
          <p:cNvPr id="22" name="Picture 21" descr="s75-dobrovolec-i-koordinator.jpg"/>
          <p:cNvPicPr>
            <a:picLocks noChangeAspect="1"/>
          </p:cNvPicPr>
          <p:nvPr/>
        </p:nvPicPr>
        <p:blipFill>
          <a:blip r:embed="rId2"/>
          <a:stretch>
            <a:fillRect/>
          </a:stretch>
        </p:blipFill>
        <p:spPr>
          <a:xfrm>
            <a:off x="8716975" y="1472184"/>
            <a:ext cx="2834639" cy="2062311"/>
          </a:xfrm>
          <a:prstGeom prst="rect">
            <a:avLst/>
          </a:prstGeom>
        </p:spPr>
      </p:pic>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фазе IIa, 2023</a:t>
            </a:r>
            <a:r>
              <a:rPr sz="1200" b="0" i="1">
                <a:solidFill>
                  <a:srgbClr val="1C7293"/>
                </a:solidFill>
                <a:latin typeface="Arial"/>
              </a:rPr>
              <a:t> · </a:t>
            </a:r>
            <a:r>
              <a:rPr sz="1200" b="0" i="1">
                <a:solidFill>
                  <a:srgbClr val="1C7293"/>
                </a:solidFill>
                <a:latin typeface="Arial"/>
              </a:rPr>
              <a:t>отраслевая журналистика, 2023–2024</a:t>
            </a:r>
            <a:r>
              <a:rPr sz="1200" b="0" i="1">
                <a:solidFill>
                  <a:srgbClr val="1C7293"/>
                </a:solidFill>
                <a:latin typeface="Arial"/>
              </a:rPr>
              <a:t> · </a:t>
            </a: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начало подешевело, одобрений ноль</a:t>
            </a:r>
          </a:p>
        </p:txBody>
      </p:sp>
      <p:sp>
        <p:nvSpPr>
          <p:cNvPr id="4" name="Rounded Rectangle 3"/>
          <p:cNvSpPr/>
          <p:nvPr/>
        </p:nvSpPr>
        <p:spPr>
          <a:xfrm>
            <a:off x="374904" y="12435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срезать физический перебор расчётом; первая фаза чаще базы — </a:t>
            </a:r>
            <a:r>
              <a:rPr sz="1500" b="1" i="0">
                <a:solidFill>
                  <a:srgbClr val="21295C"/>
                </a:solidFill>
                <a:latin typeface="Arial"/>
              </a:rPr>
              <a:t>80–90 из ста</a:t>
            </a:r>
            <a:r>
              <a:rPr sz="1500" b="0" i="0">
                <a:solidFill>
                  <a:srgbClr val="21295C"/>
                </a:solidFill>
                <a:latin typeface="Arial"/>
              </a:rPr>
              <a:t> против </a:t>
            </a:r>
            <a:r>
              <a:rPr sz="1500" b="1" i="0">
                <a:solidFill>
                  <a:srgbClr val="21295C"/>
                </a:solidFill>
                <a:latin typeface="Arial"/>
              </a:rPr>
              <a:t>52,0</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вторая фаза — около </a:t>
            </a:r>
            <a:r>
              <a:rPr sz="1500" b="1" i="0">
                <a:solidFill>
                  <a:srgbClr val="21295C"/>
                </a:solidFill>
                <a:latin typeface="Arial"/>
              </a:rPr>
              <a:t>40</a:t>
            </a:r>
            <a:r>
              <a:rPr sz="1500" b="0" i="0">
                <a:solidFill>
                  <a:srgbClr val="21295C"/>
                </a:solidFill>
                <a:latin typeface="Arial"/>
              </a:rPr>
              <a:t> против базы </a:t>
            </a:r>
            <a:r>
              <a:rPr sz="1500" b="1" i="0">
                <a:solidFill>
                  <a:srgbClr val="21295C"/>
                </a:solidFill>
                <a:latin typeface="Arial"/>
              </a:rPr>
              <a:t>28,9</a:t>
            </a:r>
            <a:r>
              <a:rPr sz="1500" b="0" i="0">
                <a:solidFill>
                  <a:srgbClr val="21295C"/>
                </a:solidFill>
                <a:latin typeface="Arial"/>
              </a:rPr>
              <a:t>; одобрений за десять лет категории </a:t>
            </a:r>
            <a:r>
              <a:rPr sz="1500" b="1" i="0">
                <a:solidFill>
                  <a:srgbClr val="21295C"/>
                </a:solidFill>
                <a:latin typeface="Arial"/>
              </a:rPr>
              <a:t>0</a:t>
            </a:r>
            <a:r>
              <a:rPr sz="1500" b="0" i="0">
                <a:solidFill>
                  <a:srgbClr val="21295C"/>
                </a:solidFill>
                <a:latin typeface="Arial"/>
              </a:rPr>
              <a:t> при 75 и 117 активах; четыре работы на людях — задачи для модели там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переехала, объём на том же месте упал, порядок работ изменился у бизнеса.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физиология и протокол: доклиника и три фазы. </a:t>
            </a:r>
            <a:r>
              <a:rPr sz="1500" b="1" i="0">
                <a:solidFill>
                  <a:srgbClr val="21295C"/>
                </a:solidFill>
                <a:latin typeface="Arial"/>
              </a:rPr>
              <a:t>«Шаг исчез» не подтверждается</a:t>
            </a:r>
            <a:r>
              <a:rPr sz="1500" b="0" i="0">
                <a:solidFill>
                  <a:srgbClr val="21295C"/>
                </a:solidFill>
                <a:latin typeface="Arial"/>
              </a:rPr>
              <a:t> — депозиты держат </a:t>
            </a:r>
            <a:r>
              <a:rPr sz="1500" b="1" i="0">
                <a:solidFill>
                  <a:srgbClr val="21295C"/>
                </a:solidFill>
                <a:latin typeface="Arial"/>
              </a:rPr>
              <a:t>9–10 тысяч в год</a:t>
            </a:r>
            <a:r>
              <a:rPr sz="1500" b="0" i="0">
                <a:solidFill>
                  <a:srgbClr val="21295C"/>
                </a:solidFill>
                <a:latin typeface="Arial"/>
              </a:rPr>
              <a:t> с 2015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на работе есть шаг, который подешевел в разы, — и стало ли от этого быстрее всё остальное?</a:t>
            </a:r>
          </a:p>
        </p:txBody>
      </p:sp>
      <p:sp>
        <p:nvSpPr>
          <p:cNvPr id="7" name="Rectangle 6"/>
          <p:cNvSpPr/>
          <p:nvPr/>
        </p:nvSpPr>
        <p:spPr>
          <a:xfrm>
            <a:off x="6091275" y="1335024"/>
            <a:ext cx="9144" cy="22572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и соавт., J Clin Oncol 2026</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QLS и Informa, Clinical Development Success Rates 2011–2020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Выигрыш приписан не тому</a:t>
            </a:r>
            <a:r>
              <a:rPr sz="1550" b="0" i="0">
                <a:solidFill>
                  <a:srgbClr val="21295C"/>
                </a:solidFill>
                <a:latin typeface="Arial"/>
              </a:rPr>
              <a:t> — чей это результат 3.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4.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5.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6424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716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203738" y="1335024"/>
            <a:ext cx="3766078"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350042" y="1335024"/>
            <a:ext cx="347347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4969816" y="1335024"/>
            <a:ext cx="1653997"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6120" y="1335024"/>
            <a:ext cx="136138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мерит</a:t>
            </a:r>
          </a:p>
        </p:txBody>
      </p:sp>
      <p:sp>
        <p:nvSpPr>
          <p:cNvPr id="11" name="Rectangle 10"/>
          <p:cNvSpPr/>
          <p:nvPr/>
        </p:nvSpPr>
        <p:spPr>
          <a:xfrm>
            <a:off x="6623814" y="1335024"/>
            <a:ext cx="502838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770118" y="1335024"/>
            <a:ext cx="473577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счёт за лекцию</a:t>
            </a:r>
          </a:p>
        </p:txBody>
      </p:sp>
      <p:sp>
        <p:nvSpPr>
          <p:cNvPr id="13" name="Rectangle 12"/>
          <p:cNvSpPr/>
          <p:nvPr/>
        </p:nvSpPr>
        <p:spPr>
          <a:xfrm>
            <a:off x="539496" y="1736636"/>
            <a:ext cx="66424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5" name="Rectangle 14"/>
          <p:cNvSpPr/>
          <p:nvPr/>
        </p:nvSpPr>
        <p:spPr>
          <a:xfrm>
            <a:off x="1203738" y="1736636"/>
            <a:ext cx="3766078"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50042" y="1736636"/>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7" name="Rectangle 16"/>
          <p:cNvSpPr/>
          <p:nvPr/>
        </p:nvSpPr>
        <p:spPr>
          <a:xfrm>
            <a:off x="4969816" y="1736636"/>
            <a:ext cx="1653997"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6120" y="1736636"/>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19" name="Rectangle 18"/>
          <p:cNvSpPr/>
          <p:nvPr/>
        </p:nvSpPr>
        <p:spPr>
          <a:xfrm>
            <a:off x="6623814" y="1736636"/>
            <a:ext cx="502838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770118" y="1736636"/>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одобрений регулятора </a:t>
            </a:r>
            <a:r>
              <a:rPr sz="1300" b="1" i="0">
                <a:solidFill>
                  <a:srgbClr val="21295C"/>
                </a:solidFill>
                <a:latin typeface="Arial"/>
              </a:rPr>
              <a:t>ноль</a:t>
            </a:r>
          </a:p>
        </p:txBody>
      </p:sp>
      <p:sp>
        <p:nvSpPr>
          <p:cNvPr id="21" name="Rectangle 20"/>
          <p:cNvSpPr/>
          <p:nvPr/>
        </p:nvSpPr>
        <p:spPr>
          <a:xfrm>
            <a:off x="539496" y="2138248"/>
            <a:ext cx="66424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23" name="Rectangle 22"/>
          <p:cNvSpPr/>
          <p:nvPr/>
        </p:nvSpPr>
        <p:spPr>
          <a:xfrm>
            <a:off x="1203738" y="2138248"/>
            <a:ext cx="3766078"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50042" y="2138248"/>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5" name="Rectangle 24"/>
          <p:cNvSpPr/>
          <p:nvPr/>
        </p:nvSpPr>
        <p:spPr>
          <a:xfrm>
            <a:off x="4969816" y="2138248"/>
            <a:ext cx="1653997"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6120" y="2138248"/>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27" name="Rectangle 26"/>
          <p:cNvSpPr/>
          <p:nvPr/>
        </p:nvSpPr>
        <p:spPr>
          <a:xfrm>
            <a:off x="6623814" y="2138248"/>
            <a:ext cx="502838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770118" y="2138248"/>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случая не встретилось</a:t>
            </a:r>
          </a:p>
        </p:txBody>
      </p:sp>
      <p:sp>
        <p:nvSpPr>
          <p:cNvPr id="29" name="Rectangle 28"/>
          <p:cNvSpPr/>
          <p:nvPr/>
        </p:nvSpPr>
        <p:spPr>
          <a:xfrm>
            <a:off x="539496" y="2539860"/>
            <a:ext cx="66424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31" name="Rectangle 30"/>
          <p:cNvSpPr/>
          <p:nvPr/>
        </p:nvSpPr>
        <p:spPr>
          <a:xfrm>
            <a:off x="1203738" y="2539860"/>
            <a:ext cx="3766078"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50042" y="2539860"/>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33" name="Rectangle 32"/>
          <p:cNvSpPr/>
          <p:nvPr/>
        </p:nvSpPr>
        <p:spPr>
          <a:xfrm>
            <a:off x="4969816" y="2539860"/>
            <a:ext cx="1653997"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6120" y="2539860"/>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35" name="Rectangle 34"/>
          <p:cNvSpPr/>
          <p:nvPr/>
        </p:nvSpPr>
        <p:spPr>
          <a:xfrm>
            <a:off x="6623814" y="2539860"/>
            <a:ext cx="502838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770118" y="2539860"/>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разбор расхождений </a:t>
            </a:r>
            <a:r>
              <a:rPr sz="1300" b="1" i="0">
                <a:solidFill>
                  <a:srgbClr val="21295C"/>
                </a:solidFill>
                <a:latin typeface="Arial"/>
              </a:rPr>
              <a:t>+53 %</a:t>
            </a:r>
          </a:p>
        </p:txBody>
      </p:sp>
      <p:sp>
        <p:nvSpPr>
          <p:cNvPr id="37" name="Rectangle 36"/>
          <p:cNvSpPr/>
          <p:nvPr/>
        </p:nvSpPr>
        <p:spPr>
          <a:xfrm>
            <a:off x="539496" y="2941472"/>
            <a:ext cx="66424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9" name="Rectangle 38"/>
          <p:cNvSpPr/>
          <p:nvPr/>
        </p:nvSpPr>
        <p:spPr>
          <a:xfrm>
            <a:off x="1203738" y="2941472"/>
            <a:ext cx="3766078"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50042" y="2941472"/>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41" name="Rectangle 40"/>
          <p:cNvSpPr/>
          <p:nvPr/>
        </p:nvSpPr>
        <p:spPr>
          <a:xfrm>
            <a:off x="4969816" y="2941472"/>
            <a:ext cx="1653997"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6120" y="2941472"/>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43" name="Rectangle 42"/>
          <p:cNvSpPr/>
          <p:nvPr/>
        </p:nvSpPr>
        <p:spPr>
          <a:xfrm>
            <a:off x="6623814" y="2941472"/>
            <a:ext cx="502838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770118" y="2941472"/>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тревога часто, подтверждается редко</a:t>
            </a:r>
          </a:p>
        </p:txBody>
      </p:sp>
      <p:sp>
        <p:nvSpPr>
          <p:cNvPr id="45" name="Rectangle 44"/>
          <p:cNvSpPr/>
          <p:nvPr/>
        </p:nvSpPr>
        <p:spPr>
          <a:xfrm>
            <a:off x="539496" y="3343085"/>
            <a:ext cx="664242" cy="40161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43085"/>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47" name="Rectangle 46"/>
          <p:cNvSpPr/>
          <p:nvPr/>
        </p:nvSpPr>
        <p:spPr>
          <a:xfrm>
            <a:off x="1203738" y="3343085"/>
            <a:ext cx="3766078"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50042" y="3343085"/>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49" name="Rectangle 48"/>
          <p:cNvSpPr/>
          <p:nvPr/>
        </p:nvSpPr>
        <p:spPr>
          <a:xfrm>
            <a:off x="4969816" y="3343085"/>
            <a:ext cx="1653997"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16120" y="3343085"/>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51" name="Rectangle 50"/>
          <p:cNvSpPr/>
          <p:nvPr/>
        </p:nvSpPr>
        <p:spPr>
          <a:xfrm>
            <a:off x="6623814" y="3343085"/>
            <a:ext cx="5028384"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770118" y="3343085"/>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чтение ниже </a:t>
            </a:r>
            <a:r>
              <a:rPr sz="1300" b="1" i="0">
                <a:solidFill>
                  <a:srgbClr val="21295C"/>
                </a:solidFill>
                <a:latin typeface="Arial"/>
              </a:rPr>
              <a:t>на 44,3 %</a:t>
            </a:r>
          </a:p>
        </p:txBody>
      </p:sp>
      <p:sp>
        <p:nvSpPr>
          <p:cNvPr id="53" name="Rectangle 52"/>
          <p:cNvSpPr/>
          <p:nvPr/>
        </p:nvSpPr>
        <p:spPr>
          <a:xfrm>
            <a:off x="539496" y="3744697"/>
            <a:ext cx="664242"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44697"/>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55" name="Rectangle 54"/>
          <p:cNvSpPr/>
          <p:nvPr/>
        </p:nvSpPr>
        <p:spPr>
          <a:xfrm>
            <a:off x="1203738" y="3744697"/>
            <a:ext cx="3766078"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50042" y="3744697"/>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57" name="Rectangle 56"/>
          <p:cNvSpPr/>
          <p:nvPr/>
        </p:nvSpPr>
        <p:spPr>
          <a:xfrm>
            <a:off x="4969816" y="3744697"/>
            <a:ext cx="1653997"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16120" y="3744697"/>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59" name="Rectangle 58"/>
          <p:cNvSpPr/>
          <p:nvPr/>
        </p:nvSpPr>
        <p:spPr>
          <a:xfrm>
            <a:off x="6623814" y="3744697"/>
            <a:ext cx="5028384" cy="401612"/>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770118" y="3744697"/>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явка </a:t>
            </a:r>
            <a:r>
              <a:rPr sz="1300" b="1" i="0">
                <a:solidFill>
                  <a:srgbClr val="21295C"/>
                </a:solidFill>
                <a:latin typeface="Arial"/>
              </a:rPr>
              <a:t>22 → 100</a:t>
            </a:r>
            <a:r>
              <a:rPr sz="1300" b="0" i="0">
                <a:solidFill>
                  <a:srgbClr val="21295C"/>
                </a:solidFill>
                <a:latin typeface="Arial"/>
              </a:rPr>
              <a:t> из ста</a:t>
            </a:r>
          </a:p>
        </p:txBody>
      </p:sp>
      <p:sp>
        <p:nvSpPr>
          <p:cNvPr id="61" name="Rectangle 60"/>
          <p:cNvSpPr/>
          <p:nvPr/>
        </p:nvSpPr>
        <p:spPr>
          <a:xfrm>
            <a:off x="539496" y="4146309"/>
            <a:ext cx="664242"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146309"/>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63" name="Rectangle 62"/>
          <p:cNvSpPr/>
          <p:nvPr/>
        </p:nvSpPr>
        <p:spPr>
          <a:xfrm>
            <a:off x="1203738" y="4146309"/>
            <a:ext cx="3766078"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50042" y="4146309"/>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65" name="Rectangle 64"/>
          <p:cNvSpPr/>
          <p:nvPr/>
        </p:nvSpPr>
        <p:spPr>
          <a:xfrm>
            <a:off x="4969816" y="4146309"/>
            <a:ext cx="1653997" cy="401612"/>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16120" y="4146309"/>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порядок</a:t>
            </a:r>
          </a:p>
        </p:txBody>
      </p:sp>
      <p:sp>
        <p:nvSpPr>
          <p:cNvPr id="67" name="Rectangle 66"/>
          <p:cNvSpPr/>
          <p:nvPr/>
        </p:nvSpPr>
        <p:spPr>
          <a:xfrm>
            <a:off x="6623814" y="4146309"/>
            <a:ext cx="5028384" cy="401612"/>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770118" y="4146309"/>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счёта нет</a:t>
            </a:r>
          </a:p>
        </p:txBody>
      </p:sp>
      <p:sp>
        <p:nvSpPr>
          <p:cNvPr id="69" name="Rectangle 68"/>
          <p:cNvSpPr/>
          <p:nvPr/>
        </p:nvSpPr>
        <p:spPr>
          <a:xfrm>
            <a:off x="539496" y="4547921"/>
            <a:ext cx="664242"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547921"/>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71" name="Rectangle 70"/>
          <p:cNvSpPr/>
          <p:nvPr/>
        </p:nvSpPr>
        <p:spPr>
          <a:xfrm>
            <a:off x="1203738" y="4547921"/>
            <a:ext cx="3766078" cy="401612"/>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50042" y="4547921"/>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73" name="Rectangle 72"/>
          <p:cNvSpPr/>
          <p:nvPr/>
        </p:nvSpPr>
        <p:spPr>
          <a:xfrm>
            <a:off x="4969816" y="4547921"/>
            <a:ext cx="1653997" cy="401612"/>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16120" y="4547921"/>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цена ошибки</a:t>
            </a:r>
          </a:p>
        </p:txBody>
      </p:sp>
      <p:sp>
        <p:nvSpPr>
          <p:cNvPr id="75" name="Rectangle 74"/>
          <p:cNvSpPr/>
          <p:nvPr/>
        </p:nvSpPr>
        <p:spPr>
          <a:xfrm>
            <a:off x="6623814" y="4547921"/>
            <a:ext cx="5028384" cy="401612"/>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770118" y="4547921"/>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вмешаться способны </a:t>
            </a:r>
            <a:r>
              <a:rPr sz="1300" b="1" i="0">
                <a:solidFill>
                  <a:srgbClr val="21295C"/>
                </a:solidFill>
                <a:latin typeface="Arial"/>
              </a:rPr>
              <a:t>56 из 717</a:t>
            </a:r>
            <a:r>
              <a:rPr sz="1300" b="0" i="0">
                <a:solidFill>
                  <a:srgbClr val="21295C"/>
                </a:solidFill>
                <a:latin typeface="Arial"/>
              </a:rPr>
              <a:t> радиологических</a:t>
            </a:r>
          </a:p>
        </p:txBody>
      </p:sp>
      <p:sp>
        <p:nvSpPr>
          <p:cNvPr id="77" name="Rectangle 76"/>
          <p:cNvSpPr/>
          <p:nvPr/>
        </p:nvSpPr>
        <p:spPr>
          <a:xfrm>
            <a:off x="539496" y="4949533"/>
            <a:ext cx="664242" cy="401612"/>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949533"/>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79" name="Rectangle 78"/>
          <p:cNvSpPr/>
          <p:nvPr/>
        </p:nvSpPr>
        <p:spPr>
          <a:xfrm>
            <a:off x="1203738" y="4949533"/>
            <a:ext cx="3766078" cy="401612"/>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50042" y="4949533"/>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81" name="Rectangle 80"/>
          <p:cNvSpPr/>
          <p:nvPr/>
        </p:nvSpPr>
        <p:spPr>
          <a:xfrm>
            <a:off x="4969816" y="4949533"/>
            <a:ext cx="1653997" cy="401612"/>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16120" y="4949533"/>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83" name="Rectangle 82"/>
          <p:cNvSpPr/>
          <p:nvPr/>
        </p:nvSpPr>
        <p:spPr>
          <a:xfrm>
            <a:off x="6623814" y="4949533"/>
            <a:ext cx="5028384" cy="401612"/>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770118" y="4949533"/>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28,4 → 22,4</a:t>
            </a:r>
            <a:r>
              <a:rPr sz="1300" b="0" i="0">
                <a:solidFill>
                  <a:srgbClr val="21295C"/>
                </a:solidFill>
                <a:latin typeface="Arial"/>
              </a:rPr>
              <a:t> из ста</a:t>
            </a:r>
          </a:p>
        </p:txBody>
      </p:sp>
      <p:sp>
        <p:nvSpPr>
          <p:cNvPr id="85" name="Rectangle 84"/>
          <p:cNvSpPr/>
          <p:nvPr/>
        </p:nvSpPr>
        <p:spPr>
          <a:xfrm>
            <a:off x="539496" y="5351146"/>
            <a:ext cx="664242" cy="401612"/>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351146"/>
            <a:ext cx="37163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87" name="Rectangle 86"/>
          <p:cNvSpPr/>
          <p:nvPr/>
        </p:nvSpPr>
        <p:spPr>
          <a:xfrm>
            <a:off x="1203738" y="5351146"/>
            <a:ext cx="3766078" cy="401612"/>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50042" y="5351146"/>
            <a:ext cx="3473470"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89" name="Rectangle 88"/>
          <p:cNvSpPr/>
          <p:nvPr/>
        </p:nvSpPr>
        <p:spPr>
          <a:xfrm>
            <a:off x="4969816" y="5351146"/>
            <a:ext cx="1653997" cy="401612"/>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16120" y="5351146"/>
            <a:ext cx="1361389"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рука</a:t>
            </a:r>
          </a:p>
        </p:txBody>
      </p:sp>
      <p:sp>
        <p:nvSpPr>
          <p:cNvPr id="91" name="Rectangle 90"/>
          <p:cNvSpPr/>
          <p:nvPr/>
        </p:nvSpPr>
        <p:spPr>
          <a:xfrm>
            <a:off x="6623814" y="5351146"/>
            <a:ext cx="5028384" cy="401612"/>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770118" y="5351146"/>
            <a:ext cx="4735776"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измерения нет</a:t>
            </a:r>
          </a:p>
        </p:txBody>
      </p:sp>
      <p:sp>
        <p:nvSpPr>
          <p:cNvPr id="93" name="TextBox 92"/>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Семь форм из девяти со счётом.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ПОДТВЕРЖДЕНО ПРИМЕРОМ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из 15 номинаций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 показан залу</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не показаны, три условно</a:t>
            </a:r>
          </a:p>
        </p:txBody>
      </p:sp>
      <p:sp>
        <p:nvSpPr>
          <p:cNvPr id="12" name="Rounded Rectangle 11"/>
          <p:cNvSpPr/>
          <p:nvPr/>
        </p:nvSpPr>
        <p:spPr>
          <a:xfrm>
            <a:off x="374904" y="2592217"/>
            <a:ext cx="11441887" cy="3333831"/>
          </a:xfrm>
          <a:prstGeom prst="roundRect">
            <a:avLst>
              <a:gd name="adj" fmla="val 914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Ниже — девять из этих пятнадцати, названные вслух.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модели нет.</a:t>
            </a:r>
            <a:r>
              <a:rPr sz="1500" b="0" i="0">
                <a:solidFill>
                  <a:srgbClr val="21295C"/>
                </a:solidFill>
                <a:latin typeface="Arial"/>
              </a:rPr>
              <a:t> Сортировка обращений оказалась деревом «если-то»; прибор, измеряющий насыщение крови кислородом, смещён до модели; тревога кардиомонитора — порог на приборе. </a:t>
            </a:r>
            <a:r>
              <a:rPr sz="1500" b="1" i="0">
                <a:solidFill>
                  <a:srgbClr val="21295C"/>
                </a:solidFill>
                <a:latin typeface="Arial"/>
              </a:rPr>
              <a:t>Убери модель, механизм продолжит работать.</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выигрыш не там.</a:t>
            </a:r>
            <a:r>
              <a:rPr sz="1500" b="0" i="0">
                <a:solidFill>
                  <a:srgbClr val="21295C"/>
                </a:solidFill>
                <a:latin typeface="Arial"/>
              </a:rPr>
              <a:t> Снижение смертности принадлежит новой роли, не качеству прогноза; «ИИ изобрёл лекарство» — расчёту физики связывания; «миллионы исследований» — объёму, а от чего посчитано, не сказано. </a:t>
            </a:r>
            <a:r>
              <a:rPr sz="1500" b="1" i="0">
                <a:solidFill>
                  <a:srgbClr val="21295C"/>
                </a:solidFill>
                <a:latin typeface="Arial"/>
              </a:rPr>
              <a:t>Спроси, от чего посчитан эффект.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числа выросли при пересказе.</a:t>
            </a:r>
            <a:r>
              <a:rPr sz="1500" b="0" i="0">
                <a:solidFill>
                  <a:srgbClr val="21295C"/>
                </a:solidFill>
                <a:latin typeface="Arial"/>
              </a:rPr>
              <a:t> Обзор перепутал шесть первоисточников из семи; «три секунды на описание» — время модели, не врача; «экономия двойного чтения» взята из вымышленного сценария. </a:t>
            </a:r>
            <a:r>
              <a:rPr sz="1500" b="1" i="0">
                <a:solidFill>
                  <a:srgbClr val="21295C"/>
                </a:solidFill>
                <a:latin typeface="Arial"/>
              </a:rPr>
              <a:t>Открой первоисточник.</a:t>
            </a:r>
          </a:p>
        </p:txBody>
      </p:sp>
      <p:sp>
        <p:nvSpPr>
          <p:cNvPr id="15" name="Rectangle 14"/>
          <p:cNvSpPr/>
          <p:nvPr/>
        </p:nvSpPr>
        <p:spPr>
          <a:xfrm>
            <a:off x="6091275" y="2683657"/>
            <a:ext cx="9144" cy="305951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38092"/>
          </a:xfrm>
          <a:prstGeom prst="roundRect">
            <a:avLst>
              <a:gd name="adj" fmla="val 6172"/>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639097"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34648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178593" y="1335024"/>
            <a:ext cx="3504257"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324897" y="1335024"/>
            <a:ext cx="321164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682851" y="1335024"/>
            <a:ext cx="3236004"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29155" y="1335024"/>
            <a:ext cx="294339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18856" y="1335024"/>
            <a:ext cx="2733342"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65160" y="1335024"/>
            <a:ext cx="244073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639097"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3464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178593" y="1727520"/>
            <a:ext cx="3504257"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324897" y="1727520"/>
            <a:ext cx="321164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682851" y="1727520"/>
            <a:ext cx="3236004"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29155" y="1727520"/>
            <a:ext cx="294339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8918856" y="1727520"/>
            <a:ext cx="2733342"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65160" y="1727520"/>
            <a:ext cx="244073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1639097"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34648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178593" y="2120016"/>
            <a:ext cx="3504257"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324897" y="2120016"/>
            <a:ext cx="32116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682851" y="2120016"/>
            <a:ext cx="3236004"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29155" y="2120016"/>
            <a:ext cx="294339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надзор</a:t>
            </a:r>
          </a:p>
        </p:txBody>
      </p:sp>
      <p:sp>
        <p:nvSpPr>
          <p:cNvPr id="27" name="Rectangle 26"/>
          <p:cNvSpPr/>
          <p:nvPr/>
        </p:nvSpPr>
        <p:spPr>
          <a:xfrm>
            <a:off x="8918856" y="2120016"/>
            <a:ext cx="2733342"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65160" y="2120016"/>
            <a:ext cx="244073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740416"/>
            <a:ext cx="1639097"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40416"/>
            <a:ext cx="134648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178593" y="2740416"/>
            <a:ext cx="3504257"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324897" y="2740416"/>
            <a:ext cx="32116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5682851" y="2740416"/>
            <a:ext cx="3236004"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29155" y="2740416"/>
            <a:ext cx="294339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18856" y="2740416"/>
            <a:ext cx="2733342"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65160" y="2740416"/>
            <a:ext cx="244073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360816"/>
            <a:ext cx="1639097" cy="62040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360816"/>
            <a:ext cx="134648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178593" y="3360816"/>
            <a:ext cx="3504257" cy="62040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324897" y="3360816"/>
            <a:ext cx="32116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682851" y="3360816"/>
            <a:ext cx="3236004" cy="62040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829155" y="3360816"/>
            <a:ext cx="294339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18856" y="3360816"/>
            <a:ext cx="2733342" cy="62040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65160" y="3360816"/>
            <a:ext cx="244073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 · лекарство</a:t>
            </a:r>
          </a:p>
        </p:txBody>
      </p:sp>
      <p:sp>
        <p:nvSpPr>
          <p:cNvPr id="45" name="TextBox 44"/>
          <p:cNvSpPr txBox="1"/>
          <p:nvPr/>
        </p:nvSpPr>
        <p:spPr>
          <a:xfrm>
            <a:off x="539496" y="412752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шесть разделов не зашёл никто.</a:t>
            </a:r>
            <a:r>
              <a:rPr sz="1300" b="0" i="0">
                <a:solidFill>
                  <a:srgbClr val="21295C"/>
                </a:solidFill>
                <a:latin typeface="Arial"/>
              </a:rPr>
              <a:t> Вне окна ещё три места: генерация структуры, распознавание на видео, сигнал прибора, где модели нет вовсе.</a:t>
            </a:r>
          </a:p>
        </p:txBody>
      </p:sp>
      <p:sp>
        <p:nvSpPr>
          <p:cNvPr id="46" name="TextBox 45"/>
          <p:cNvSpPr txBox="1"/>
          <p:nvPr/>
        </p:nvSpPr>
        <p:spPr>
          <a:xfrm>
            <a:off x="539496" y="4800046"/>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 на структуре фазы испытаний.</a:t>
            </a:r>
          </a:p>
        </p:txBody>
      </p:sp>
      <p:sp>
        <p:nvSpPr>
          <p:cNvPr id="47" name="TextBox 46"/>
          <p:cNvSpPr txBox="1"/>
          <p:nvPr/>
        </p:nvSpPr>
        <p:spPr>
          <a:xfrm>
            <a:off x="539496" y="547257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изображение — внутри смены, структура — во второй фазе, через годы.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78774"/>
          </a:xfrm>
          <a:prstGeom prst="roundRect">
            <a:avLst>
              <a:gd name="adj" fmla="val 612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Четыре платежа из начала — поимённо, с измерением под каждым.</a:t>
            </a:r>
          </a:p>
        </p:txBody>
      </p:sp>
      <p:sp>
        <p:nvSpPr>
          <p:cNvPr id="6" name="Rectangle 5"/>
          <p:cNvSpPr/>
          <p:nvPr/>
        </p:nvSpPr>
        <p:spPr>
          <a:xfrm>
            <a:off x="539496" y="1754184"/>
            <a:ext cx="1227603" cy="401612"/>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54184"/>
            <a:ext cx="93499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платёж</a:t>
            </a:r>
          </a:p>
        </p:txBody>
      </p:sp>
      <p:sp>
        <p:nvSpPr>
          <p:cNvPr id="8" name="Rectangle 7"/>
          <p:cNvSpPr/>
          <p:nvPr/>
        </p:nvSpPr>
        <p:spPr>
          <a:xfrm>
            <a:off x="1767099" y="1754184"/>
            <a:ext cx="6389189" cy="401612"/>
          </a:xfrm>
          <a:prstGeom prst="rect">
            <a:avLst/>
          </a:prstGeom>
          <a:solidFill>
            <a:srgbClr val="065A82"/>
          </a:solidFill>
          <a:ln>
            <a:noFill/>
          </a:ln>
          <a:effectLst/>
        </p:spPr>
        <p:txBody>
          <a:bodyPr rtlCol="0" anchor="ctr"/>
          <a:lstStyle/>
          <a:p>
            <a:pPr algn="ctr"/>
          </a:p>
        </p:txBody>
      </p:sp>
      <p:sp>
        <p:nvSpPr>
          <p:cNvPr id="9" name="TextBox 8"/>
          <p:cNvSpPr txBox="1"/>
          <p:nvPr/>
        </p:nvSpPr>
        <p:spPr>
          <a:xfrm>
            <a:off x="1913403" y="1754184"/>
            <a:ext cx="609658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заплачено</a:t>
            </a:r>
          </a:p>
        </p:txBody>
      </p:sp>
      <p:sp>
        <p:nvSpPr>
          <p:cNvPr id="10" name="Rectangle 9"/>
          <p:cNvSpPr/>
          <p:nvPr/>
        </p:nvSpPr>
        <p:spPr>
          <a:xfrm>
            <a:off x="8156288" y="1754184"/>
            <a:ext cx="3495910" cy="40161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302592" y="1754184"/>
            <a:ext cx="32033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измерено</a:t>
            </a:r>
          </a:p>
        </p:txBody>
      </p:sp>
      <p:sp>
        <p:nvSpPr>
          <p:cNvPr id="12" name="Rectangle 11"/>
          <p:cNvSpPr/>
          <p:nvPr/>
        </p:nvSpPr>
        <p:spPr>
          <a:xfrm>
            <a:off x="539496" y="2155796"/>
            <a:ext cx="1227603" cy="638632"/>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55796"/>
            <a:ext cx="934995"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Внимание</a:t>
            </a:r>
          </a:p>
        </p:txBody>
      </p:sp>
      <p:sp>
        <p:nvSpPr>
          <p:cNvPr id="14" name="Rectangle 13"/>
          <p:cNvSpPr/>
          <p:nvPr/>
        </p:nvSpPr>
        <p:spPr>
          <a:xfrm>
            <a:off x="1767099" y="2155796"/>
            <a:ext cx="6389189" cy="638632"/>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13403" y="2155796"/>
            <a:ext cx="6096581"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8156288" y="2155796"/>
            <a:ext cx="3495910" cy="638632"/>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302592" y="2155796"/>
            <a:ext cx="3203302"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лабораторный замер взгляда</a:t>
            </a:r>
          </a:p>
        </p:txBody>
      </p:sp>
      <p:sp>
        <p:nvSpPr>
          <p:cNvPr id="18" name="Rectangle 17"/>
          <p:cNvSpPr/>
          <p:nvPr/>
        </p:nvSpPr>
        <p:spPr>
          <a:xfrm>
            <a:off x="539496" y="2794428"/>
            <a:ext cx="1227603" cy="401612"/>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94428"/>
            <a:ext cx="93499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Навык</a:t>
            </a:r>
          </a:p>
        </p:txBody>
      </p:sp>
      <p:sp>
        <p:nvSpPr>
          <p:cNvPr id="20" name="Rectangle 19"/>
          <p:cNvSpPr/>
          <p:nvPr/>
        </p:nvSpPr>
        <p:spPr>
          <a:xfrm>
            <a:off x="1767099" y="2794428"/>
            <a:ext cx="6389189" cy="401612"/>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13403" y="2794428"/>
            <a:ext cx="609658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28,4 → 22,4 из ста у тех же девятнадцати врачей</a:t>
            </a:r>
          </a:p>
        </p:txBody>
      </p:sp>
      <p:sp>
        <p:nvSpPr>
          <p:cNvPr id="22" name="Rectangle 21"/>
          <p:cNvSpPr/>
          <p:nvPr/>
        </p:nvSpPr>
        <p:spPr>
          <a:xfrm>
            <a:off x="8156288" y="2794428"/>
            <a:ext cx="3495910" cy="401612"/>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302592" y="2794428"/>
            <a:ext cx="32033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наблюдательное, однажды и спорно</a:t>
            </a:r>
          </a:p>
        </p:txBody>
      </p:sp>
      <p:sp>
        <p:nvSpPr>
          <p:cNvPr id="24" name="Rectangle 23"/>
          <p:cNvSpPr/>
          <p:nvPr/>
        </p:nvSpPr>
        <p:spPr>
          <a:xfrm>
            <a:off x="539496" y="3196040"/>
            <a:ext cx="1227603" cy="401612"/>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96040"/>
            <a:ext cx="93499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Подпись</a:t>
            </a:r>
          </a:p>
        </p:txBody>
      </p:sp>
      <p:sp>
        <p:nvSpPr>
          <p:cNvPr id="26" name="Rectangle 25"/>
          <p:cNvSpPr/>
          <p:nvPr/>
        </p:nvSpPr>
        <p:spPr>
          <a:xfrm>
            <a:off x="1767099" y="3196040"/>
            <a:ext cx="6389189" cy="401612"/>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13403" y="3196040"/>
            <a:ext cx="609658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56 из 717; девять машинных эпикризов из одиннадцати с ошибкой</a:t>
            </a:r>
          </a:p>
        </p:txBody>
      </p:sp>
      <p:sp>
        <p:nvSpPr>
          <p:cNvPr id="28" name="Rectangle 27"/>
          <p:cNvSpPr/>
          <p:nvPr/>
        </p:nvSpPr>
        <p:spPr>
          <a:xfrm>
            <a:off x="8156288" y="3196040"/>
            <a:ext cx="3495910" cy="401612"/>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302592" y="3196040"/>
            <a:ext cx="32033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перепись изделий; качество заметок</a:t>
            </a:r>
          </a:p>
        </p:txBody>
      </p:sp>
      <p:sp>
        <p:nvSpPr>
          <p:cNvPr id="30" name="Rectangle 29"/>
          <p:cNvSpPr/>
          <p:nvPr/>
        </p:nvSpPr>
        <p:spPr>
          <a:xfrm>
            <a:off x="539496" y="3597653"/>
            <a:ext cx="1227603" cy="63863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597653"/>
            <a:ext cx="934995"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Арбитраж</a:t>
            </a:r>
          </a:p>
        </p:txBody>
      </p:sp>
      <p:sp>
        <p:nvSpPr>
          <p:cNvPr id="32" name="Rectangle 31"/>
          <p:cNvSpPr/>
          <p:nvPr/>
        </p:nvSpPr>
        <p:spPr>
          <a:xfrm>
            <a:off x="1767099" y="3597653"/>
            <a:ext cx="6389189" cy="638632"/>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13403" y="3597653"/>
            <a:ext cx="6096581"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2 мин 12 с против 48 с; объём +53 % (разброс 22–142)</a:t>
            </a:r>
          </a:p>
        </p:txBody>
      </p:sp>
      <p:sp>
        <p:nvSpPr>
          <p:cNvPr id="34" name="Rectangle 33"/>
          <p:cNvSpPr/>
          <p:nvPr/>
        </p:nvSpPr>
        <p:spPr>
          <a:xfrm>
            <a:off x="8156288" y="3597653"/>
            <a:ext cx="3495910" cy="638632"/>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302592" y="3597653"/>
            <a:ext cx="3203302"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записи рабочего времени программы</a:t>
            </a:r>
          </a:p>
        </p:txBody>
      </p:sp>
      <p:sp>
        <p:nvSpPr>
          <p:cNvPr id="36" name="TextBox 35"/>
          <p:cNvSpPr txBox="1"/>
          <p:nvPr/>
        </p:nvSpPr>
        <p:spPr>
          <a:xfrm>
            <a:off x="539496" y="4382589"/>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Оплачены неровно:</a:t>
            </a:r>
            <a:r>
              <a:rPr sz="1350" b="0" i="0">
                <a:solidFill>
                  <a:srgbClr val="21295C"/>
                </a:solidFill>
                <a:latin typeface="Arial"/>
              </a:rPr>
              <a:t> внимание и арбитраж — крупные выборки; подпись — доля процедур, не исход.</a:t>
            </a:r>
          </a:p>
        </p:txBody>
      </p:sp>
      <p:sp>
        <p:nvSpPr>
          <p:cNvPr id="37" name="TextBox 36"/>
          <p:cNvSpPr txBox="1"/>
          <p:nvPr/>
        </p:nvSpPr>
        <p:spPr>
          <a:xfrm>
            <a:off x="539496" y="4801749"/>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Кто платит:</a:t>
            </a:r>
            <a:r>
              <a:rPr sz="1350" b="0" i="0">
                <a:solidFill>
                  <a:srgbClr val="21295C"/>
                </a:solidFill>
                <a:latin typeface="Arial"/>
              </a:rPr>
              <a:t> исследование и диагноз — вниманием и арбитражем · надзор — подписью и арбитражем · документы — подписью · квалификация — навыком.</a:t>
            </a:r>
          </a:p>
        </p:txBody>
      </p:sp>
      <p:sp>
        <p:nvSpPr>
          <p:cNvPr id="38" name="TextBox 37"/>
          <p:cNvSpPr txBox="1"/>
          <p:nvPr/>
        </p:nvSpPr>
        <p:spPr>
          <a:xfrm>
            <a:off x="539496" y="5493766"/>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Скрининг и разработка лекарства из шести не платят ничем:</a:t>
            </a:r>
            <a:r>
              <a:rPr sz="1350" b="0" i="0">
                <a:solidFill>
                  <a:srgbClr val="21295C"/>
                </a:solidFill>
                <a:latin typeface="Arial"/>
              </a:rPr>
              <a:t> в скрининге человек прочёл каждое исследование, в разработке рядом с моделью никто не работает.</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ЧЕТВЁРТАЯ СТУПЕНЬ, ОНА ЖЕ ЧАСТАЯ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вне медицины</a:t>
            </a:r>
          </a:p>
        </p:txBody>
      </p:sp>
      <p:sp>
        <p:nvSpPr>
          <p:cNvPr id="8" name="Rounded Rectangle 7"/>
          <p:cNvSpPr/>
          <p:nvPr/>
        </p:nvSpPr>
        <p:spPr>
          <a:xfrm>
            <a:off x="374904" y="2592217"/>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расхождение идёт в арбитраж. </a:t>
            </a:r>
            <a:r>
              <a:rPr sz="1500" b="0" i="1">
                <a:solidFill>
                  <a:srgbClr val="21295C"/>
                </a:solidFill>
                <a:latin typeface="Arial"/>
              </a:rPr>
              <a:t>Рандомизированное испытание.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меняется на неверное. </a:t>
            </a:r>
            <a:r>
              <a:rPr sz="1500" b="0" i="1">
                <a:solidFill>
                  <a:srgbClr val="21295C"/>
                </a:solidFill>
                <a:latin typeface="Arial"/>
              </a:rPr>
              <a:t>Замер взгляда и обзор.</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отмеченное, остальное проходит мимо. </a:t>
            </a:r>
            <a:r>
              <a:rPr sz="1500" b="0" i="1">
                <a:solidFill>
                  <a:srgbClr val="21295C"/>
                </a:solidFill>
                <a:latin typeface="Arial"/>
              </a:rPr>
              <a:t>Обзор отклонений.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и ход дешёвый: </a:t>
            </a:r>
            <a:r>
              <a:rPr sz="1500" b="1" i="0">
                <a:solidFill>
                  <a:srgbClr val="21295C"/>
                </a:solidFill>
                <a:latin typeface="Arial"/>
              </a:rPr>
              <a:t>согласие с подсказкой при разборе случая оценивают выше отказа.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формальнее участие, тем слабее свидетельство:</a:t>
            </a:r>
            <a:r>
              <a:rPr sz="1500" b="0" i="0">
                <a:solidFill>
                  <a:srgbClr val="21295C"/>
                </a:solidFill>
                <a:latin typeface="Arial"/>
              </a:rPr>
              <a:t> про четвёртую ступень, она же частая, известно меньше всего. </a:t>
            </a:r>
            <a:r>
              <a:rPr sz="1500" b="1" i="0">
                <a:solidFill>
                  <a:srgbClr val="21295C"/>
                </a:solidFill>
                <a:latin typeface="Arial"/>
              </a:rPr>
              <a:t>Исхода пациента нет ни у одного примера ядра.</a:t>
            </a:r>
          </a:p>
        </p:txBody>
      </p:sp>
      <p:sp>
        <p:nvSpPr>
          <p:cNvPr id="11" name="Rectangle 10"/>
          <p:cNvSpPr/>
          <p:nvPr/>
        </p:nvSpPr>
        <p:spPr>
          <a:xfrm>
            <a:off x="6091275" y="2683657"/>
            <a:ext cx="9144" cy="25542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a:t>
            </a:r>
            <a:r>
              <a:rPr sz="1550" b="1" i="0">
                <a:solidFill>
                  <a:srgbClr val="21295C"/>
                </a:solidFill>
                <a:latin typeface="Arial"/>
              </a:rPr>
              <a:t>Почему подписывает человек — и чем это подтверждено</a:t>
            </a:r>
            <a:r>
              <a:rPr sz="1550" b="0" i="0">
                <a:solidFill>
                  <a:srgbClr val="21295C"/>
                </a:solidFill>
                <a:latin typeface="Arial"/>
              </a:rPr>
              <a:t> · 2. </a:t>
            </a:r>
            <a:r>
              <a:rPr sz="1550" b="1" i="0">
                <a:solidFill>
                  <a:srgbClr val="21295C"/>
                </a:solidFill>
                <a:latin typeface="Arial"/>
              </a:rPr>
              <a:t>Изделие отзовут. Решения этого года останутся</a:t>
            </a:r>
            <a:r>
              <a:rPr sz="1550" b="0" i="0">
                <a:solidFill>
                  <a:srgbClr val="21295C"/>
                </a:solidFill>
                <a:latin typeface="Arial"/>
              </a:rPr>
              <a:t> · 3. </a:t>
            </a:r>
            <a:r>
              <a:rPr sz="1550" b="1" i="0">
                <a:solidFill>
                  <a:srgbClr val="21295C"/>
                </a:solidFill>
                <a:latin typeface="Arial"/>
              </a:rPr>
              <a:t>Три проверки для любой отрасли — и вопрос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вмешаться способны 56 изделий из 717</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июнь 2024</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298264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комиссия оценивает действия человека; вопроса о модели в этой процедуре нет</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07408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отзывается, а что остаётся</a:t>
            </a:r>
          </a:p>
        </p:txBody>
      </p:sp>
      <p:sp>
        <p:nvSpPr>
          <p:cNvPr id="6" name="Rounded Rectangle 5"/>
          <p:cNvSpPr/>
          <p:nvPr/>
        </p:nvSpPr>
        <p:spPr>
          <a:xfrm>
            <a:off x="502920" y="1335024"/>
            <a:ext cx="3852367" cy="3439166"/>
          </a:xfrm>
          <a:prstGeom prst="roundRect">
            <a:avLst>
              <a:gd name="adj" fmla="val 8862"/>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777240" y="1609344"/>
            <a:ext cx="3303727" cy="1298581"/>
          </a:xfrm>
          <a:prstGeom prst="rect">
            <a:avLst/>
          </a:prstGeom>
          <a:noFill/>
        </p:spPr>
        <p:txBody>
          <a:bodyPr wrap="square" lIns="0" rIns="0" tIns="0" bIns="0" anchor="t">
            <a:spAutoFit/>
          </a:bodyPr>
          <a:lstStyle/>
          <a:p>
            <a:pPr algn="ctr">
              <a:lnSpc>
                <a:spcPct val="102000"/>
              </a:lnSpc>
            </a:pPr>
            <a:r>
              <a:rPr sz="8100" b="1" i="0">
                <a:solidFill>
                  <a:srgbClr val="21295C"/>
                </a:solidFill>
                <a:latin typeface="Arial"/>
              </a:rPr>
              <a:t>43,4 %</a:t>
            </a:r>
          </a:p>
        </p:txBody>
      </p:sp>
      <p:sp>
        <p:nvSpPr>
          <p:cNvPr id="8" name="Rectangle 7"/>
          <p:cNvSpPr/>
          <p:nvPr/>
        </p:nvSpPr>
        <p:spPr>
          <a:xfrm>
            <a:off x="1697583" y="3127381"/>
            <a:ext cx="1463040" cy="68580"/>
          </a:xfrm>
          <a:prstGeom prst="rect">
            <a:avLst/>
          </a:prstGeom>
          <a:solidFill>
            <a:srgbClr val="F0AB00"/>
          </a:solidFill>
          <a:ln>
            <a:noFill/>
          </a:ln>
          <a:effectLst/>
        </p:spPr>
        <p:txBody>
          <a:bodyPr rtlCol="0" anchor="ctr"/>
          <a:lstStyle/>
          <a:p>
            <a:pPr algn="ctr"/>
          </a:p>
        </p:txBody>
      </p:sp>
      <p:sp>
        <p:nvSpPr>
          <p:cNvPr id="9" name="TextBox 8"/>
          <p:cNvSpPr txBox="1"/>
          <p:nvPr/>
        </p:nvSpPr>
        <p:spPr>
          <a:xfrm>
            <a:off x="777240" y="3305689"/>
            <a:ext cx="3303727" cy="583434"/>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отзывных событий — в первые 12 месяцев после допуска</a:t>
            </a:r>
          </a:p>
        </p:txBody>
      </p:sp>
      <p:sp>
        <p:nvSpPr>
          <p:cNvPr id="10" name="TextBox 9"/>
          <p:cNvSpPr txBox="1"/>
          <p:nvPr/>
        </p:nvSpPr>
        <p:spPr>
          <a:xfrm>
            <a:off x="777240" y="3980563"/>
            <a:ext cx="3303727" cy="519306"/>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79 событий из 182 — у 60 изделий, отозванных из 950 допущенных</a:t>
            </a:r>
          </a:p>
        </p:txBody>
      </p:sp>
      <p:sp>
        <p:nvSpPr>
          <p:cNvPr id="11" name="Rounded Rectangle 10"/>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3" name="Rectangle 1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