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 причём у одного из них регистрация была приостановлена надзором, поскольку заявленные характеристики при проверке не подтвердились.</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«не менее 0,76» в информационном листе поставщика;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0,76–0,86.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 Измерен пока один знак; обратный случай получит свой номер, а не расширит это определение задним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таблица правил, оптика, протокол или новая роль в процессе. Линия эта про принадлежность выигрыша и вины, а не про их наличие: в том же вечере есть разборы, где выигрыш принадлежит именно модели, и они названы по именам. Счёт ведётся по реестру номинаций на день сборки: он читался десять, потом двенадцать, потом снова десять,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около шестидесяти процентов отзывов к концу исследования оставались неразрешёнными.</a:t>
            </a:r>
          </a:p>
          <a:p>
            <a:r>
              <a:t/>
            </a:r>
          </a:p>
          <a:p>
            <a:r>
              <a:t>Вторая половина подтверждается двумя разборами вечера. В исследовании подбора дозы два смертельных исхода — программу остановили, исходы остались.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принятого не врачом, снят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554480"/>
            <a:ext cx="11185855" cy="3840480"/>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
            </a:r>
            <a:r>
              <a:rPr sz="3400" b="0" i="0">
                <a:solidFill>
                  <a:srgbClr val="21295C"/>
                </a:solidFill>
                <a:latin typeface="Arial"/>
              </a:rPr>
              <a:t>Лекция 7</a:t>
            </a:r>
          </a:p>
          <a:p>
            <a:pPr algn="l">
              <a:lnSpc>
                <a:spcPct val="122000"/>
              </a:lnSpc>
              <a:spcBef>
                <a:spcPts val="1200"/>
              </a:spcBef>
            </a:pPr>
            <a:r>
              <a:rPr sz="3400" b="0" i="0">
                <a:solidFill>
                  <a:srgbClr val="21295C"/>
                </a:solidFill>
                <a:latin typeface="Arial"/>
              </a:rPr>
              <a:t/>
            </a: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
            </a: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4" name="Rectangle 3"/>
          <p:cNvSpPr/>
          <p:nvPr/>
        </p:nvSpPr>
        <p:spPr>
          <a:xfrm>
            <a:off x="502920" y="117043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три состояния на одних и тех же случаях.</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состояние — человек без модели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Распознавание на изображении</a:t>
            </a:r>
            <a:r>
              <a:rPr sz="144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440" b="0" i="0">
                <a:solidFill>
                  <a:srgbClr val="21295C"/>
                </a:solidFill>
                <a:latin typeface="Arial"/>
              </a:rPr>
              <a:t/>
            </a:r>
            <a:r>
              <a:rPr sz="1440" b="1" i="0">
                <a:solidFill>
                  <a:srgbClr val="21295C"/>
                </a:solidFill>
                <a:latin typeface="Arial"/>
              </a:rPr>
              <a:t>Классификация на изображении</a:t>
            </a:r>
            <a:r>
              <a:rPr sz="144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440" b="0" i="0">
                <a:solidFill>
                  <a:srgbClr val="21295C"/>
                </a:solidFill>
                <a:latin typeface="Arial"/>
              </a:rPr>
              <a:t/>
            </a:r>
            <a:r>
              <a:rPr sz="1440" b="1" i="0">
                <a:solidFill>
                  <a:srgbClr val="21295C"/>
                </a:solidFill>
                <a:latin typeface="Arial"/>
              </a:rPr>
              <a:t>Прогноз на структурированных данных</a:t>
            </a:r>
            <a:r>
              <a:rPr sz="144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Поиск с генерацией на тексте</a:t>
            </a:r>
            <a:r>
              <a:rPr sz="144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Сортировка потока по предсказанному риску снимает </a:t>
            </a:r>
            <a:r>
              <a:rPr sz="1200" b="1" i="0">
                <a:solidFill>
                  <a:srgbClr val="21295C"/>
                </a:solidFill>
                <a:latin typeface="Arial"/>
              </a:rPr>
              <a:t>44,3 процента</a:t>
            </a:r>
            <a:r>
              <a:rPr sz="1200" b="0" i="0">
                <a:solidFill>
                  <a:srgbClr val="21295C"/>
                </a:solidFill>
                <a:latin typeface="Arial"/>
              </a:rPr>
              <a:t> человеческого чтения при чувствительности </a:t>
            </a:r>
            <a:r>
              <a:rPr sz="1200" b="1" i="0">
                <a:solidFill>
                  <a:srgbClr val="21295C"/>
                </a:solidFill>
                <a:latin typeface="Arial"/>
              </a:rPr>
              <a:t>80,5 из ста</a:t>
            </a:r>
            <a:r>
              <a:rPr sz="1200" b="0" i="0">
                <a:solidFill>
                  <a:srgbClr val="21295C"/>
                </a:solidFill>
                <a:latin typeface="Arial"/>
              </a:rPr>
              <a:t> против </a:t>
            </a:r>
            <a:r>
              <a:rPr sz="1200" b="1" i="0">
                <a:solidFill>
                  <a:srgbClr val="21295C"/>
                </a:solidFill>
                <a:latin typeface="Arial"/>
              </a:rPr>
              <a:t>73,8 из ста</a:t>
            </a:r>
            <a:r>
              <a:rPr sz="1200" b="0" i="0">
                <a:solidFill>
                  <a:srgbClr val="21295C"/>
                </a:solidFill>
                <a:latin typeface="Arial"/>
              </a:rPr>
              <a:t> у двойного чтения без модели. </a:t>
            </a:r>
            <a:r>
              <a:rPr sz="1200" b="1" i="0">
                <a:solidFill>
                  <a:srgbClr val="21295C"/>
                </a:solidFill>
                <a:latin typeface="Arial"/>
              </a:rPr>
              <a:t>Базы разные: объём чтения — промежуточный анализ на 80 033 женщинах, чувствительность — итоговый на 105 934.</a:t>
            </a:r>
            <a:r>
              <a:rPr sz="12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Охват публикуют, устройство работы —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Отечественная платформа лучевой диагностики: свыше </a:t>
            </a:r>
            <a:r>
              <a:rPr sz="1200" b="1" i="0">
                <a:solidFill>
                  <a:srgbClr val="21295C"/>
                </a:solidFill>
                <a:latin typeface="Arial"/>
              </a:rPr>
              <a:t>16 млн</a:t>
            </a:r>
            <a:r>
              <a:rPr sz="1200" b="0" i="0">
                <a:solidFill>
                  <a:srgbClr val="21295C"/>
                </a:solidFill>
                <a:latin typeface="Arial"/>
              </a:rPr>
              <a:t> исследований в </a:t>
            </a:r>
            <a:r>
              <a:rPr sz="1200" b="1" i="0">
                <a:solidFill>
                  <a:srgbClr val="21295C"/>
                </a:solidFill>
                <a:latin typeface="Arial"/>
              </a:rPr>
              <a:t>75 регионах</a:t>
            </a:r>
            <a:r>
              <a:rPr sz="120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470" b="0" i="0">
                <a:solidFill>
                  <a:srgbClr val="21295C"/>
                </a:solidFill>
                <a:latin typeface="Arial"/>
              </a:rPr>
              <a:t/>
            </a:r>
            <a:r>
              <a:rPr sz="1470" b="0" i="0">
                <a:solidFill>
                  <a:srgbClr val="21295C"/>
                </a:solidFill>
                <a:latin typeface="Arial"/>
              </a:rPr>
              <a:t>Что предъявили вместо модели:</a:t>
            </a:r>
          </a:p>
          <a:p>
            <a:pPr algn="l">
              <a:lnSpc>
                <a:spcPct val="126000"/>
              </a:lnSpc>
              <a:spcBef>
                <a:spcPts val="700"/>
              </a:spcBef>
            </a:pPr>
            <a:r>
              <a:rPr sz="1470" b="0" i="0">
                <a:solidFill>
                  <a:srgbClr val="21295C"/>
                </a:solidFill>
                <a:latin typeface="Arial"/>
              </a:rPr>
              <a:t/>
            </a:r>
            <a:r>
              <a:rPr sz="1470" b="0" i="0">
                <a:solidFill>
                  <a:srgbClr val="21295C"/>
                </a:solidFill>
                <a:latin typeface="Arial"/>
              </a:rPr>
              <a:t>• На экзаменационных вопросах для начинающих врачей, июнь 2018 года: </a:t>
            </a:r>
            <a:r>
              <a:rPr sz="1470" b="1" i="0">
                <a:solidFill>
                  <a:srgbClr val="21295C"/>
                </a:solidFill>
                <a:latin typeface="Arial"/>
              </a:rPr>
              <a:t>81</a:t>
            </a:r>
            <a:r>
              <a:rPr sz="1470" b="0" i="0">
                <a:solidFill>
                  <a:srgbClr val="21295C"/>
                </a:solidFill>
                <a:latin typeface="Arial"/>
              </a:rPr>
              <a:t> у приложения против </a:t>
            </a:r>
            <a:r>
              <a:rPr sz="1470" b="1" i="0">
                <a:solidFill>
                  <a:srgbClr val="21295C"/>
                </a:solidFill>
                <a:latin typeface="Arial"/>
              </a:rPr>
              <a:t>72</a:t>
            </a:r>
            <a:r>
              <a:rPr sz="1470" b="0" i="0">
                <a:solidFill>
                  <a:srgbClr val="21295C"/>
                </a:solidFill>
                <a:latin typeface="Arial"/>
              </a:rPr>
              <a:t> — среднего результата живых врачей на тех же вопросах.</a:t>
            </a:r>
          </a:p>
          <a:p>
            <a:pPr algn="l">
              <a:lnSpc>
                <a:spcPct val="126000"/>
              </a:lnSpc>
              <a:spcBef>
                <a:spcPts val="700"/>
              </a:spcBef>
            </a:pPr>
            <a:r>
              <a:rPr sz="1470" b="0" i="0">
                <a:solidFill>
                  <a:srgbClr val="21295C"/>
                </a:solidFill>
                <a:latin typeface="Arial"/>
              </a:rPr>
              <a:t/>
            </a:r>
            <a:r>
              <a:rPr sz="147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470" b="0" i="0">
                <a:solidFill>
                  <a:srgbClr val="21295C"/>
                </a:solidFill>
                <a:latin typeface="Arial"/>
              </a:rPr>
              <a:t/>
            </a:r>
            <a:r>
              <a:rPr sz="1470" b="1" i="0">
                <a:solidFill>
                  <a:srgbClr val="21295C"/>
                </a:solidFill>
                <a:latin typeface="Arial"/>
              </a:rPr>
              <a:t>Уберите модель — и сервис продолжит работать.</a:t>
            </a:r>
            <a:r>
              <a:rPr sz="147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470" b="0" i="1">
                <a:solidFill>
                  <a:srgbClr val="21295C"/>
                </a:solidFill>
                <a:latin typeface="Arial"/>
              </a:rPr>
              <a:t>(по заявлению бывшего сотрудника, не аудит)</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это делают сегодня: </a:t>
            </a:r>
            <a:r>
              <a:rPr sz="1470" b="0" i="1">
                <a:solidFill>
                  <a:srgbClr val="21295C"/>
                </a:solidFill>
                <a:latin typeface="Arial"/>
              </a:rPr>
              <a:t>поиск с генерацией на тексте</a:t>
            </a:r>
            <a:r>
              <a:rPr sz="147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180" b="0" i="0">
                <a:solidFill>
                  <a:srgbClr val="21295C"/>
                </a:solidFill>
                <a:latin typeface="Arial"/>
              </a:rPr>
              <a:t/>
            </a:r>
            <a:r>
              <a:rPr sz="118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Практика получает </a:t>
            </a:r>
            <a:r>
              <a:rPr sz="1440" b="1" i="0">
                <a:solidFill>
                  <a:srgbClr val="21295C"/>
                </a:solidFill>
                <a:latin typeface="Arial"/>
              </a:rPr>
              <a:t>около 155 фунтов</a:t>
            </a:r>
            <a:r>
              <a:rPr sz="144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440" b="0" i="0">
                <a:solidFill>
                  <a:srgbClr val="21295C"/>
                </a:solidFill>
                <a:latin typeface="Arial"/>
              </a:rPr>
              <a:t/>
            </a:r>
            <a:r>
              <a:rPr sz="1440" b="0" i="0">
                <a:solidFill>
                  <a:srgbClr val="21295C"/>
                </a:solidFill>
                <a:latin typeface="Arial"/>
              </a:rPr>
              <a:t>Классически обращаются </a:t>
            </a:r>
            <a:r>
              <a:rPr sz="1440" b="1" i="0">
                <a:solidFill>
                  <a:srgbClr val="21295C"/>
                </a:solidFill>
                <a:latin typeface="Arial"/>
              </a:rPr>
              <a:t>4,0 раза</a:t>
            </a:r>
            <a:r>
              <a:rPr sz="1440" b="0" i="0">
                <a:solidFill>
                  <a:srgbClr val="21295C"/>
                </a:solidFill>
                <a:latin typeface="Arial"/>
              </a:rPr>
              <a:t> в год у 25–44-летних и </a:t>
            </a:r>
            <a:r>
              <a:rPr sz="1440" b="1" i="0">
                <a:solidFill>
                  <a:srgbClr val="21295C"/>
                </a:solidFill>
                <a:latin typeface="Arial"/>
              </a:rPr>
              <a:t>3,26 раза</a:t>
            </a:r>
            <a:r>
              <a:rPr sz="144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440" b="0" i="0">
                <a:solidFill>
                  <a:srgbClr val="21295C"/>
                </a:solidFill>
                <a:latin typeface="Arial"/>
              </a:rPr>
              <a:t/>
            </a:r>
            <a:r>
              <a:rPr sz="1440" b="0" i="0">
                <a:solidFill>
                  <a:srgbClr val="21295C"/>
                </a:solidFill>
                <a:latin typeface="Arial"/>
              </a:rPr>
              <a:t>В сервисе обращений стало </a:t>
            </a:r>
            <a:r>
              <a:rPr sz="1440" b="1" i="0">
                <a:solidFill>
                  <a:srgbClr val="21295C"/>
                </a:solidFill>
                <a:latin typeface="Arial"/>
              </a:rPr>
              <a:t>4,3</a:t>
            </a:r>
            <a:r>
              <a:rPr sz="1440" b="0" i="0">
                <a:solidFill>
                  <a:srgbClr val="21295C"/>
                </a:solidFill>
                <a:latin typeface="Arial"/>
              </a:rPr>
              <a:t> на человека в год при той же подушевой сумме.</a:t>
            </a:r>
          </a:p>
          <a:p>
            <a:pPr algn="l">
              <a:lnSpc>
                <a:spcPct val="126000"/>
              </a:lnSpc>
              <a:spcBef>
                <a:spcPts val="700"/>
              </a:spcBef>
            </a:pPr>
            <a:r>
              <a:rPr sz="1440" b="0" i="0">
                <a:solidFill>
                  <a:srgbClr val="21295C"/>
                </a:solidFill>
                <a:latin typeface="Arial"/>
              </a:rPr>
              <a:t/>
            </a:r>
            <a:r>
              <a:rPr sz="1440" b="1" i="0">
                <a:solidFill>
                  <a:srgbClr val="21295C"/>
                </a:solidFill>
                <a:latin typeface="Arial"/>
              </a:rPr>
              <a:t>Нагрузка переехала на другой шаг</a:t>
            </a:r>
            <a:r>
              <a:rPr sz="1440" b="0" i="0">
                <a:solidFill>
                  <a:srgbClr val="21295C"/>
                </a:solidFill>
                <a:latin typeface="Arial"/>
              </a:rPr>
              <a:t> — с сортировки на приём, и платить за это стало некому.</a:t>
            </a:r>
          </a:p>
          <a:p>
            <a:pPr algn="l">
              <a:lnSpc>
                <a:spcPct val="126000"/>
              </a:lnSpc>
              <a:spcBef>
                <a:spcPts val="700"/>
              </a:spcBef>
            </a:pPr>
            <a:r>
              <a:rPr sz="1440" b="0" i="0">
                <a:solidFill>
                  <a:srgbClr val="21295C"/>
                </a:solidFill>
                <a:latin typeface="Arial"/>
              </a:rPr>
              <a:t/>
            </a:r>
            <a:r>
              <a:rPr sz="1440" b="1" i="0">
                <a:solidFill>
                  <a:srgbClr val="21295C"/>
                </a:solidFill>
                <a:latin typeface="Arial"/>
              </a:rPr>
              <a:t>дало</a:t>
            </a:r>
            <a:r>
              <a:rPr sz="1440" b="0" i="0">
                <a:solidFill>
                  <a:srgbClr val="21295C"/>
                </a:solidFill>
                <a:latin typeface="Arial"/>
              </a:rPr>
              <a:t> — сортировка круглосуточно и мгновенно, порог обращения ниже · </a:t>
            </a:r>
            <a:r>
              <a:rPr sz="1440" b="1" i="0">
                <a:solidFill>
                  <a:srgbClr val="21295C"/>
                </a:solidFill>
                <a:latin typeface="Arial"/>
              </a:rPr>
              <a:t>потребовало</a:t>
            </a:r>
            <a:r>
              <a:rPr sz="1440" b="0" i="0">
                <a:solidFill>
                  <a:srgbClr val="21295C"/>
                </a:solidFill>
                <a:latin typeface="Arial"/>
              </a:rPr>
              <a:t> — экономика на каждом пациенте в минус, задокументированный случай нераспознанных симптомов · </a:t>
            </a:r>
            <a:r>
              <a:rPr sz="1440" b="1" i="0">
                <a:solidFill>
                  <a:srgbClr val="21295C"/>
                </a:solidFill>
                <a:latin typeface="Arial"/>
              </a:rPr>
              <a:t>в сумме хуже</a:t>
            </a:r>
            <a:r>
              <a:rPr sz="1440" b="0" i="0">
                <a:solidFill>
                  <a:srgbClr val="21295C"/>
                </a:solidFill>
                <a:latin typeface="Arial"/>
              </a:rPr>
              <a:t> — оценка на выходе </a:t>
            </a:r>
            <a:r>
              <a:rPr sz="1440" b="1" i="0">
                <a:solidFill>
                  <a:srgbClr val="21295C"/>
                </a:solidFill>
                <a:latin typeface="Arial"/>
              </a:rPr>
              <a:t>4,2 млрд долларов</a:t>
            </a:r>
            <a:r>
              <a:rPr sz="1440" b="0" i="0">
                <a:solidFill>
                  <a:srgbClr val="21295C"/>
                </a:solidFill>
                <a:latin typeface="Arial"/>
              </a:rPr>
              <a:t>, банкротство в августе 2023 года, активы проданы за </a:t>
            </a:r>
            <a:r>
              <a:rPr sz="1440" b="1" i="0">
                <a:solidFill>
                  <a:srgbClr val="21295C"/>
                </a:solidFill>
                <a:latin typeface="Arial"/>
              </a:rPr>
              <a:t>500 тысяч фунтов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2" name="TextBox 11"/>
          <p:cNvSpPr txBox="1"/>
          <p:nvPr/>
        </p:nvSpPr>
        <p:spPr>
          <a:xfrm>
            <a:off x="502920" y="304721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3" name="Rounded Rectangle 12"/>
          <p:cNvSpPr/>
          <p:nvPr/>
        </p:nvSpPr>
        <p:spPr>
          <a:xfrm>
            <a:off x="1920240"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5" name="Right Arrow 14"/>
          <p:cNvSpPr/>
          <p:nvPr/>
        </p:nvSpPr>
        <p:spPr>
          <a:xfrm>
            <a:off x="5039258"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18" name="Right Arrow 17"/>
          <p:cNvSpPr/>
          <p:nvPr/>
        </p:nvSpPr>
        <p:spPr>
          <a:xfrm>
            <a:off x="8386876" y="315237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99235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307464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1" name="TextBox 20"/>
          <p:cNvSpPr txBox="1"/>
          <p:nvPr/>
        </p:nvSpPr>
        <p:spPr>
          <a:xfrm>
            <a:off x="502920" y="365071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2" name="Rounded Rectangle 21"/>
          <p:cNvSpPr/>
          <p:nvPr/>
        </p:nvSpPr>
        <p:spPr>
          <a:xfrm>
            <a:off x="1920240"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02536"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4" name="Right Arrow 23"/>
          <p:cNvSpPr/>
          <p:nvPr/>
        </p:nvSpPr>
        <p:spPr>
          <a:xfrm>
            <a:off x="5039258"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67858"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50154"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7" name="Right Arrow 26"/>
          <p:cNvSpPr/>
          <p:nvPr/>
        </p:nvSpPr>
        <p:spPr>
          <a:xfrm>
            <a:off x="8386876" y="375587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15476" y="359585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97772" y="367815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0" name="TextBox 29"/>
          <p:cNvSpPr txBox="1"/>
          <p:nvPr/>
        </p:nvSpPr>
        <p:spPr>
          <a:xfrm>
            <a:off x="502920" y="419935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1" name="Rounded Rectangle 30"/>
          <p:cNvSpPr/>
          <p:nvPr/>
        </p:nvSpPr>
        <p:spPr>
          <a:xfrm>
            <a:off x="374904" y="4512212"/>
            <a:ext cx="11441887" cy="1723995"/>
          </a:xfrm>
          <a:prstGeom prst="roundRect">
            <a:avLst>
              <a:gd name="adj" fmla="val 176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9496" y="4603652"/>
            <a:ext cx="11112703" cy="1632555"/>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Выигрыш здесь измерен явкой, а не точностью.</a:t>
            </a:r>
          </a:p>
          <a:p>
            <a:pPr algn="l">
              <a:lnSpc>
                <a:spcPct val="126000"/>
              </a:lnSpc>
              <a:spcBef>
                <a:spcPts val="700"/>
              </a:spcBef>
            </a:pPr>
            <a:r>
              <a:rPr sz="1410" b="0" i="0">
                <a:solidFill>
                  <a:srgbClr val="21295C"/>
                </a:solidFill>
                <a:latin typeface="Arial"/>
              </a:rPr>
              <a:t/>
            </a:r>
            <a:r>
              <a:rPr sz="1410" b="1" i="0">
                <a:solidFill>
                  <a:srgbClr val="21295C"/>
                </a:solidFill>
                <a:latin typeface="Arial"/>
              </a:rPr>
              <a:t>Классический режим.</a:t>
            </a:r>
            <a:r>
              <a:rPr sz="1410" b="0" i="0">
                <a:solidFill>
                  <a:srgbClr val="21295C"/>
                </a:solidFill>
                <a:latin typeface="Arial"/>
              </a:rPr>
              <a:t> Раз в год человек с диабетом идёт к специалисту-офтальмологу; до теста реально доходят </a:t>
            </a:r>
            <a:r>
              <a:rPr sz="1410" b="1" i="0">
                <a:solidFill>
                  <a:srgbClr val="21295C"/>
                </a:solidFill>
                <a:latin typeface="Arial"/>
              </a:rPr>
              <a:t>22 из ста</a:t>
            </a:r>
            <a:r>
              <a:rPr sz="1410" b="0" i="0">
                <a:solidFill>
                  <a:srgbClr val="21295C"/>
                </a:solidFill>
                <a:latin typeface="Arial"/>
              </a:rPr>
              <a:t>.</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a:t>
            </a:r>
            <a:r>
              <a:rPr sz="141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410" b="1" i="0">
                <a:solidFill>
                  <a:srgbClr val="21295C"/>
                </a:solidFill>
                <a:latin typeface="Arial"/>
              </a:rPr>
              <a:t>100 из ста</a:t>
            </a:r>
            <a:r>
              <a:rPr sz="141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410" b="1" i="0">
                <a:solidFill>
                  <a:srgbClr val="21295C"/>
                </a:solidFill>
                <a:latin typeface="Arial"/>
              </a:rPr>
              <a:t>64 из ста против 22 в контроле</a:t>
            </a:r>
            <a:r>
              <a:rPr sz="1410" b="0" i="0">
                <a:solidFill>
                  <a:srgbClr val="21295C"/>
                </a:solidFill>
                <a:latin typeface="Arial"/>
              </a:rPr>
              <a:t>.</a:t>
            </a:r>
          </a:p>
        </p:txBody>
      </p:sp>
      <p:sp>
        <p:nvSpPr>
          <p:cNvPr id="33" name="Rectangle 3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2. Анализ данных — и группа, на которой он посчитан</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9" name="TextBox 8"/>
          <p:cNvSpPr txBox="1"/>
          <p:nvPr/>
        </p:nvSpPr>
        <p:spPr>
          <a:xfrm>
            <a:off x="704088" y="384878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число для доли «назвала больными»}}</a:t>
            </a:r>
          </a:p>
        </p:txBody>
      </p:sp>
      <p:sp>
        <p:nvSpPr>
          <p:cNvPr id="7" name="Rounded Rectangle 6"/>
          <p:cNvSpPr/>
          <p:nvPr/>
        </p:nvSpPr>
        <p:spPr>
          <a:xfrm>
            <a:off x="6178143" y="1335024"/>
            <a:ext cx="5510631"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{{нет в главе: число для доли «не стала пугать»}}</a:t>
            </a:r>
          </a:p>
        </p:txBody>
      </p:sp>
      <p:sp>
        <p:nvSpPr>
          <p:cNvPr id="10" name="Rounded Rectangle 9"/>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2" name="Rectangle 11"/>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5510631"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a:t>
            </a:r>
          </a:p>
        </p:txBody>
      </p:sp>
      <p:sp>
        <p:nvSpPr>
          <p:cNvPr id="6" name="TextBox 5"/>
          <p:cNvSpPr txBox="1"/>
          <p:nvPr/>
        </p:nvSpPr>
        <p:spPr>
          <a:xfrm>
            <a:off x="640080" y="1690796"/>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{{нет в главе: свой счёт классического режима для этого разбора}}</a:t>
            </a:r>
          </a:p>
        </p:txBody>
      </p:sp>
      <p:sp>
        <p:nvSpPr>
          <p:cNvPr id="7" name="Rounded Rectangle 6"/>
          <p:cNvSpPr/>
          <p:nvPr/>
        </p:nvSpPr>
        <p:spPr>
          <a:xfrm>
            <a:off x="6178143" y="1335024"/>
            <a:ext cx="5510631"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9" name="TextBox 8"/>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10" name="TextBox 9"/>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11" name="Rounded Rectangle 10"/>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500" b="1" i="0">
                <a:solidFill>
                  <a:srgbClr val="21295C"/>
                </a:solidFill>
                <a:latin typeface="Arial"/>
              </a:rPr>
              <a:t>9–15 пунктов</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База: </a:t>
            </a:r>
            <a:r>
              <a:rPr sz="1500" b="1" i="0">
                <a:solidFill>
                  <a:srgbClr val="21295C"/>
                </a:solidFill>
                <a:latin typeface="Arial"/>
              </a:rPr>
              <a:t>656 изображений</a:t>
            </a:r>
            <a:r>
              <a:rPr sz="1500" b="0" i="0">
                <a:solidFill>
                  <a:srgbClr val="21295C"/>
                </a:solidFill>
                <a:latin typeface="Arial"/>
              </a:rPr>
              <a:t>, все с подтверждённой биопсией, из них </a:t>
            </a:r>
            <a:r>
              <a:rPr sz="1500" b="1" i="0">
                <a:solidFill>
                  <a:srgbClr val="21295C"/>
                </a:solidFill>
                <a:latin typeface="Arial"/>
              </a:rPr>
              <a:t>207 с тёмными тонами кожи</a:t>
            </a:r>
            <a:r>
              <a:rPr sz="150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по тону кожи измерен </a:t>
            </a:r>
            <a:r>
              <a:rPr sz="1500" b="1" i="0">
                <a:solidFill>
                  <a:srgbClr val="21295C"/>
                </a:solidFill>
                <a:latin typeface="Arial"/>
              </a:rPr>
              <a:t>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Цена обеих ошибок.</a:t>
            </a:r>
            <a:r>
              <a:rPr sz="141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410" b="0" i="0">
                <a:solidFill>
                  <a:srgbClr val="21295C"/>
                </a:solidFill>
                <a:latin typeface="Arial"/>
              </a:rPr>
              <a:t/>
            </a:r>
            <a:r>
              <a:rPr sz="1410" b="1" i="0">
                <a:solidFill>
                  <a:srgbClr val="21295C"/>
                </a:solidFill>
                <a:latin typeface="Arial"/>
              </a:rPr>
              <a:t>Оба классических режима посчитаны на одной выборке:</a:t>
            </a:r>
            <a:r>
              <a:rPr sz="141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410" b="0" i="0">
                <a:solidFill>
                  <a:srgbClr val="21295C"/>
                </a:solidFill>
                <a:latin typeface="Arial"/>
              </a:rPr>
              <a:t/>
            </a:r>
            <a:r>
              <a:rPr sz="1410" b="1" i="0">
                <a:solidFill>
                  <a:srgbClr val="21295C"/>
                </a:solidFill>
                <a:latin typeface="Arial"/>
              </a:rPr>
              <a:t>Модель против них.</a:t>
            </a:r>
            <a:r>
              <a:rPr sz="141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410" b="0" i="0">
                <a:solidFill>
                  <a:srgbClr val="21295C"/>
                </a:solidFill>
                <a:latin typeface="Arial"/>
              </a:rPr>
              <a:t/>
            </a:r>
            <a:r>
              <a:rPr sz="1410" b="0" i="0">
                <a:solidFill>
                  <a:srgbClr val="21295C"/>
                </a:solidFill>
                <a:latin typeface="Arial"/>
              </a:rPr>
              <a:t>База: </a:t>
            </a:r>
            <a:r>
              <a:rPr sz="1410" b="1" i="0">
                <a:solidFill>
                  <a:srgbClr val="21295C"/>
                </a:solidFill>
                <a:latin typeface="Arial"/>
              </a:rPr>
              <a:t>49 618 пациентов</a:t>
            </a:r>
            <a:r>
              <a:rPr sz="141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1130" b="0" i="0">
                <a:solidFill>
                  <a:srgbClr val="21295C"/>
                </a:solidFill>
                <a:latin typeface="Arial"/>
              </a:rPr>
              <a:t/>
            </a:r>
            <a:r>
              <a:rPr sz="113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410" b="0" i="0">
                <a:solidFill>
                  <a:srgbClr val="21295C"/>
                </a:solidFill>
                <a:latin typeface="Arial"/>
              </a:rPr>
              <a:t/>
            </a:r>
            <a:r>
              <a:rPr sz="1410" b="0" i="0">
                <a:solidFill>
                  <a:srgbClr val="21295C"/>
                </a:solidFill>
                <a:latin typeface="Arial"/>
              </a:rPr>
              <a:t>Чем это делают сегодня: </a:t>
            </a:r>
            <a:r>
              <a:rPr sz="1410" b="0" i="1">
                <a:solidFill>
                  <a:srgbClr val="21295C"/>
                </a:solidFill>
                <a:latin typeface="Arial"/>
              </a:rPr>
              <a:t>прогноз на структурированных данных</a:t>
            </a:r>
            <a:r>
              <a:rPr sz="141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Исправление посчитано и не применено.</a:t>
            </a:r>
            <a:r>
              <a:rPr sz="1110" b="0" i="0">
                <a:solidFill>
                  <a:srgbClr val="21295C"/>
                </a:solidFill>
                <a:latin typeface="Arial"/>
              </a:rPr>
              <a:t> Если убрать разрыв в здоровье на границе отбора, доля этой группы среди отобранных поднялась бы — расчёт авторов на тех же данных, не результат внедрения.</a:t>
            </a:r>
          </a:p>
          <a:p>
            <a:pPr algn="l">
              <a:lnSpc>
                <a:spcPct val="126000"/>
              </a:lnSpc>
              <a:spcBef>
                <a:spcPts val="700"/>
              </a:spcBef>
            </a:pPr>
            <a:r>
              <a:rPr sz="1110" b="0" i="0">
                <a:solidFill>
                  <a:srgbClr val="21295C"/>
                </a:solidFill>
                <a:latin typeface="Arial"/>
              </a:rPr>
              <a:t/>
            </a:r>
            <a:r>
              <a:rPr sz="1110" b="1" i="0">
                <a:solidFill>
                  <a:srgbClr val="21295C"/>
                </a:solidFill>
                <a:latin typeface="Arial"/>
              </a:rPr>
              <a:t>Что переехало.</a:t>
            </a:r>
            <a:r>
              <a:rPr sz="1110" b="0" i="0">
                <a:solidFill>
                  <a:srgbClr val="21295C"/>
                </a:solidFill>
                <a:latin typeface="Arial"/>
              </a:rPr>
              <a:t> Сменился исполнитель: отбор делал врач, стал делать балл. И сместилась цена ошибки — на группу, у которой при равном балле больше болезней.</a:t>
            </a:r>
          </a:p>
          <a:p>
            <a:pPr algn="l">
              <a:lnSpc>
                <a:spcPct val="126000"/>
              </a:lnSpc>
              <a:spcBef>
                <a:spcPts val="700"/>
              </a:spcBef>
            </a:pPr>
            <a:r>
              <a:rPr sz="1110" b="0" i="0">
                <a:solidFill>
                  <a:srgbClr val="21295C"/>
                </a:solidFill>
                <a:latin typeface="Arial"/>
              </a:rPr>
              <a:t/>
            </a:r>
            <a:r>
              <a:rPr sz="1110" b="0" i="0">
                <a:solidFill>
                  <a:srgbClr val="21295C"/>
                </a:solidFill>
                <a:latin typeface="Arial"/>
              </a:rPr>
              <a:t>Модели этого класса применяются примерно к </a:t>
            </a:r>
            <a:r>
              <a:rPr sz="1110" b="1" i="0">
                <a:solidFill>
                  <a:srgbClr val="21295C"/>
                </a:solidFill>
                <a:latin typeface="Arial"/>
              </a:rPr>
              <a:t>200 миллионам</a:t>
            </a:r>
            <a:r>
              <a:rPr sz="1110" b="0" i="0">
                <a:solidFill>
                  <a:srgbClr val="21295C"/>
                </a:solidFill>
                <a:latin typeface="Arial"/>
              </a:rPr>
              <a:t> человек в год — </a:t>
            </a:r>
            <a:r>
              <a:rPr sz="111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10" b="0" i="0">
                <a:solidFill>
                  <a:srgbClr val="21295C"/>
                </a:solidFill>
                <a:latin typeface="Arial"/>
              </a:rPr>
              <a:t>.</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10" b="0" i="1">
                <a:solidFill>
                  <a:srgbClr val="21295C"/>
                </a:solidFill>
                <a:latin typeface="Arial"/>
              </a:rPr>
              <a:t>препринт</a:t>
            </a:r>
            <a:r>
              <a:rPr sz="1110" b="0" i="0">
                <a:solidFill>
                  <a:srgbClr val="21295C"/>
                </a:solidFill>
                <a:latin typeface="Arial"/>
              </a:rPr>
              <a:t>. Внутренняя проверка этого не видит: провал проявляется там, где его меньше всего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500" b="0" i="0">
                <a:solidFill>
                  <a:srgbClr val="21295C"/>
                </a:solidFill>
                <a:latin typeface="Arial"/>
              </a:rPr>
              <a:t/>
            </a:r>
            <a:r>
              <a:rPr sz="1500" b="0" i="0">
                <a:solidFill>
                  <a:srgbClr val="21295C"/>
                </a:solidFill>
                <a:latin typeface="Arial"/>
              </a:rPr>
              <a:t>Медиана проверки подсказки измерена </a:t>
            </a:r>
            <a:r>
              <a:rPr sz="1500" b="1" i="0">
                <a:solidFill>
                  <a:srgbClr val="21295C"/>
                </a:solidFill>
                <a:latin typeface="Arial"/>
              </a:rPr>
              <a:t>в лабораторном опыте на разработчиках,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 точность рассуждения при верных рекомендациях — </a:t>
            </a:r>
            <a:r>
              <a:rPr sz="1500" b="1" i="0">
                <a:solidFill>
                  <a:srgbClr val="21295C"/>
                </a:solidFill>
                <a:latin typeface="Arial"/>
              </a:rPr>
              <a:t>84,9 из ста</a:t>
            </a:r>
            <a:r>
              <a:rPr sz="1500" b="0" i="0">
                <a:solidFill>
                  <a:srgbClr val="21295C"/>
                </a:solidFill>
                <a:latin typeface="Arial"/>
              </a:rPr>
              <a:t>, а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440" b="0" i="0">
                <a:solidFill>
                  <a:srgbClr val="21295C"/>
                </a:solidFill>
                <a:latin typeface="Arial"/>
              </a:rPr>
              <a:t/>
            </a:r>
            <a:r>
              <a:rPr sz="1440" b="1" i="0">
                <a:solidFill>
                  <a:srgbClr val="21295C"/>
                </a:solidFill>
                <a:latin typeface="Arial"/>
              </a:rPr>
              <a:t>Цена обеих ошибок, до всякой точности.</a:t>
            </a:r>
            <a:r>
              <a:rPr sz="144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440" b="0" i="0">
                <a:solidFill>
                  <a:srgbClr val="21295C"/>
                </a:solidFill>
                <a:latin typeface="Arial"/>
              </a:rPr>
              <a:t/>
            </a:r>
            <a:r>
              <a:rPr sz="1440" b="1" i="0">
                <a:solidFill>
                  <a:srgbClr val="21295C"/>
                </a:solidFill>
                <a:latin typeface="Arial"/>
              </a:rPr>
              <a:t>Оба классических режима.</a:t>
            </a:r>
            <a:r>
              <a:rPr sz="144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440" b="0" i="0">
                <a:solidFill>
                  <a:srgbClr val="21295C"/>
                </a:solidFill>
                <a:latin typeface="Arial"/>
              </a:rPr>
              <a:t/>
            </a:r>
            <a:r>
              <a:rPr sz="1440" b="1" i="0">
                <a:solidFill>
                  <a:srgbClr val="21295C"/>
                </a:solidFill>
                <a:latin typeface="Arial"/>
              </a:rPr>
              <a:t>Модель против них.</a:t>
            </a:r>
            <a:r>
              <a:rPr sz="144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1150" b="0" i="0">
                <a:solidFill>
                  <a:srgbClr val="21295C"/>
                </a:solidFill>
                <a:latin typeface="Arial"/>
              </a:rPr>
              <a:t/>
            </a:r>
            <a:r>
              <a:rPr sz="115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440" b="0" i="0">
                <a:solidFill>
                  <a:srgbClr val="21295C"/>
                </a:solidFill>
                <a:latin typeface="Arial"/>
              </a:rPr>
              <a:t/>
            </a:r>
            <a:r>
              <a:rPr sz="1440" b="0" i="0">
                <a:solidFill>
                  <a:srgbClr val="21295C"/>
                </a:solidFill>
                <a:latin typeface="Arial"/>
              </a:rPr>
              <a:t>Чем это делают сегодня: </a:t>
            </a:r>
            <a:r>
              <a:rPr sz="1440" b="0" i="1">
                <a:solidFill>
                  <a:srgbClr val="21295C"/>
                </a:solidFill>
                <a:latin typeface="Arial"/>
              </a:rPr>
              <a:t>распознавание на изображении</a:t>
            </a:r>
            <a:r>
              <a:rPr sz="144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90" b="0" i="0">
                <a:solidFill>
                  <a:srgbClr val="21295C"/>
                </a:solidFill>
                <a:latin typeface="Arial"/>
              </a:rPr>
              <a:t/>
            </a:r>
            <a:r>
              <a:rPr sz="1290" b="1" i="0">
                <a:solidFill>
                  <a:srgbClr val="21295C"/>
                </a:solidFill>
                <a:latin typeface="Arial"/>
              </a:rPr>
              <a:t>Цена обеих ошибок.</a:t>
            </a:r>
            <a:r>
              <a:rPr sz="129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90" b="0" i="0">
                <a:solidFill>
                  <a:srgbClr val="21295C"/>
                </a:solidFill>
                <a:latin typeface="Arial"/>
              </a:rPr>
              <a:t/>
            </a:r>
            <a:r>
              <a:rPr sz="1290" b="1" i="0">
                <a:solidFill>
                  <a:srgbClr val="21295C"/>
                </a:solidFill>
                <a:latin typeface="Arial"/>
              </a:rPr>
              <a:t>Оба классических режима:</a:t>
            </a:r>
            <a:r>
              <a:rPr sz="129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90" b="0" i="0">
                <a:solidFill>
                  <a:srgbClr val="21295C"/>
                </a:solidFill>
                <a:latin typeface="Arial"/>
              </a:rPr>
              <a:t/>
            </a:r>
            <a:r>
              <a:rPr sz="1290" b="1" i="0">
                <a:solidFill>
                  <a:srgbClr val="21295C"/>
                </a:solidFill>
                <a:latin typeface="Arial"/>
              </a:rPr>
              <a:t>Модель против них.</a:t>
            </a:r>
            <a:r>
              <a:rPr sz="129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90" b="1" i="0">
                <a:solidFill>
                  <a:srgbClr val="21295C"/>
                </a:solidFill>
                <a:latin typeface="Arial"/>
              </a:rPr>
              <a:t>А на группе в целом, без разделения на правоту модели, прибавка незначима</a:t>
            </a:r>
            <a:r>
              <a:rPr sz="129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переехало.</a:t>
            </a:r>
            <a:r>
              <a:rPr sz="129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90" b="0" i="0">
                <a:solidFill>
                  <a:srgbClr val="21295C"/>
                </a:solidFill>
                <a:latin typeface="Arial"/>
              </a:rPr>
              <a:t/>
            </a:r>
            <a:r>
              <a:rPr sz="129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90" b="1" i="0">
                <a:solidFill>
                  <a:srgbClr val="21295C"/>
                </a:solidFill>
                <a:latin typeface="Arial"/>
              </a:rPr>
              <a:t>26 процентов</a:t>
            </a:r>
            <a:r>
              <a:rPr sz="1290" b="0" i="0">
                <a:solidFill>
                  <a:srgbClr val="21295C"/>
                </a:solidFill>
                <a:latin typeface="Arial"/>
              </a:rPr>
              <a:t>; обзор включил 74 исследования из 13 821 просмотренного. </a:t>
            </a:r>
            <a:r>
              <a:rPr sz="129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1030" b="0" i="0">
                <a:solidFill>
                  <a:srgbClr val="21295C"/>
                </a:solidFill>
                <a:latin typeface="Arial"/>
              </a:rPr>
              <a:t/>
            </a:r>
            <a:r>
              <a:rPr sz="103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32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320" b="0" i="0">
                <a:solidFill>
                  <a:srgbClr val="21295C"/>
                </a:solidFill>
                <a:latin typeface="Arial"/>
              </a:rPr>
              <a:t/>
            </a:r>
            <a:r>
              <a:rPr sz="1320" b="1" i="0">
                <a:solidFill>
                  <a:srgbClr val="21295C"/>
                </a:solidFill>
                <a:latin typeface="Arial"/>
              </a:rPr>
              <a:t>Цена обеих ошибок.</a:t>
            </a:r>
            <a:r>
              <a:rPr sz="132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Классический режим</a:t>
            </a:r>
            <a:r>
              <a:rPr sz="1320" b="0" i="0">
                <a:solidFill>
                  <a:srgbClr val="21295C"/>
                </a:solidFill>
                <a:latin typeface="Arial"/>
              </a:rPr>
              <a:t> — врач с обычными справочниками, и это база сравнения.</a:t>
            </a:r>
          </a:p>
          <a:p>
            <a:pPr algn="l">
              <a:lnSpc>
                <a:spcPct val="126000"/>
              </a:lnSpc>
              <a:spcBef>
                <a:spcPts val="700"/>
              </a:spcBef>
            </a:pPr>
            <a:r>
              <a:rPr sz="1320" b="0" i="0">
                <a:solidFill>
                  <a:srgbClr val="21295C"/>
                </a:solidFill>
                <a:latin typeface="Arial"/>
              </a:rPr>
              <a:t/>
            </a:r>
            <a:r>
              <a:rPr sz="1320" b="0" i="0">
                <a:solidFill>
                  <a:srgbClr val="21295C"/>
                </a:solidFill>
                <a:latin typeface="Arial"/>
              </a:rPr>
              <a:t>Разница между врачом одним и врачом с моделью — два пункта, и она </a:t>
            </a:r>
            <a:r>
              <a:rPr sz="1320" b="1" i="0">
                <a:solidFill>
                  <a:srgbClr val="21295C"/>
                </a:solidFill>
                <a:latin typeface="Arial"/>
              </a:rPr>
              <a:t>незначима</a:t>
            </a:r>
            <a:r>
              <a:rPr sz="1320" b="0" i="0">
                <a:solidFill>
                  <a:srgbClr val="21295C"/>
                </a:solidFill>
                <a:latin typeface="Arial"/>
              </a:rPr>
              <a:t>. Это ноль, измеренный, а не отсутствие данных.</a:t>
            </a:r>
          </a:p>
          <a:p>
            <a:pPr algn="l">
              <a:lnSpc>
                <a:spcPct val="126000"/>
              </a:lnSpc>
              <a:spcBef>
                <a:spcPts val="700"/>
              </a:spcBef>
            </a:pPr>
            <a:r>
              <a:rPr sz="1320" b="0" i="0">
                <a:solidFill>
                  <a:srgbClr val="21295C"/>
                </a:solidFill>
                <a:latin typeface="Arial"/>
              </a:rPr>
              <a:t/>
            </a:r>
            <a:r>
              <a:rPr sz="1320" b="0" i="0">
                <a:solidFill>
                  <a:srgbClr val="21295C"/>
                </a:solidFill>
                <a:latin typeface="Arial"/>
              </a:rPr>
              <a:t>Прогон «модель одна» не был равноправной случайной ветвью — он идёт </a:t>
            </a:r>
            <a:r>
              <a:rPr sz="1320" b="1" i="0">
                <a:solidFill>
                  <a:srgbClr val="21295C"/>
                </a:solidFill>
                <a:latin typeface="Arial"/>
              </a:rPr>
              <a:t>наблюдательным дополнением</a:t>
            </a:r>
            <a:r>
              <a:rPr sz="1320" b="0" i="0">
                <a:solidFill>
                  <a:srgbClr val="21295C"/>
                </a:solidFill>
                <a:latin typeface="Arial"/>
              </a:rPr>
              <a:t>, не результатом распределения.</a:t>
            </a:r>
          </a:p>
          <a:p>
            <a:pPr algn="l">
              <a:lnSpc>
                <a:spcPct val="126000"/>
              </a:lnSpc>
              <a:spcBef>
                <a:spcPts val="700"/>
              </a:spcBef>
            </a:pPr>
            <a:r>
              <a:rPr sz="1060" b="0" i="0">
                <a:solidFill>
                  <a:srgbClr val="21295C"/>
                </a:solidFill>
                <a:latin typeface="Arial"/>
              </a:rPr>
              <a:t/>
            </a:r>
            <a:r>
              <a:rPr sz="106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генерация на тексте</a:t>
            </a:r>
            <a:r>
              <a:rPr sz="1320" b="0" i="0">
                <a:solidFill>
                  <a:srgbClr val="21295C"/>
                </a:solidFill>
                <a:latin typeface="Arial"/>
              </a:rPr>
              <a:t> — клиническое рассуждение и вопрос-ответ со ссылками на литературу. Входит в работу </a:t>
            </a:r>
            <a:r>
              <a:rPr sz="1320" b="1" i="0">
                <a:solidFill>
                  <a:srgbClr val="21295C"/>
                </a:solidFill>
                <a:latin typeface="Arial"/>
              </a:rPr>
              <a:t>снизу</a:t>
            </a:r>
            <a:r>
              <a:rPr sz="132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Цена обеих ошибок</a:t>
            </a:r>
            <a:r>
              <a:rPr sz="132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Оба классических режима.</a:t>
            </a:r>
            <a:r>
              <a:rPr sz="132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320" b="0" i="0">
                <a:solidFill>
                  <a:srgbClr val="21295C"/>
                </a:solidFill>
                <a:latin typeface="Arial"/>
              </a:rPr>
              <a:t/>
            </a:r>
            <a:r>
              <a:rPr sz="1320" b="1" i="0">
                <a:solidFill>
                  <a:srgbClr val="21295C"/>
                </a:solidFill>
                <a:latin typeface="Arial"/>
              </a:rPr>
              <a:t>Модель против них.</a:t>
            </a:r>
            <a:r>
              <a:rPr sz="1320" b="0" i="0">
                <a:solidFill>
                  <a:srgbClr val="21295C"/>
                </a:solidFill>
                <a:latin typeface="Arial"/>
              </a:rPr>
              <a:t> Один человек плюс модель, арбитраж на разногласиях. Прибавка чувствительности </a:t>
            </a:r>
            <a:r>
              <a:rPr sz="1320" b="1" i="0">
                <a:solidFill>
                  <a:srgbClr val="21295C"/>
                </a:solidFill>
                <a:latin typeface="Arial"/>
              </a:rPr>
              <a:t>значима</a:t>
            </a:r>
            <a:r>
              <a:rPr sz="1320" b="0" i="0">
                <a:solidFill>
                  <a:srgbClr val="21295C"/>
                </a:solidFill>
                <a:latin typeface="Arial"/>
              </a:rPr>
              <a:t>.</a:t>
            </a:r>
          </a:p>
          <a:p>
            <a:pPr algn="l">
              <a:lnSpc>
                <a:spcPct val="126000"/>
              </a:lnSpc>
              <a:spcBef>
                <a:spcPts val="700"/>
              </a:spcBef>
            </a:pPr>
            <a:r>
              <a:rPr sz="1060" b="0" i="0">
                <a:solidFill>
                  <a:srgbClr val="21295C"/>
                </a:solidFill>
                <a:latin typeface="Arial"/>
              </a:rPr>
              <a:t/>
            </a:r>
            <a:r>
              <a:rPr sz="10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320" b="0" i="0">
                <a:solidFill>
                  <a:srgbClr val="21295C"/>
                </a:solidFill>
                <a:latin typeface="Arial"/>
              </a:rPr>
              <a:t/>
            </a:r>
            <a:r>
              <a:rPr sz="1320" b="0" i="0">
                <a:solidFill>
                  <a:srgbClr val="21295C"/>
                </a:solidFill>
                <a:latin typeface="Arial"/>
              </a:rPr>
              <a:t>Независимость здесь не нарушена, а </a:t>
            </a:r>
            <a:r>
              <a:rPr sz="1320" b="1" i="0">
                <a:solidFill>
                  <a:srgbClr val="21295C"/>
                </a:solidFill>
                <a:latin typeface="Arial"/>
              </a:rPr>
              <a:t>перестроена</a:t>
            </a:r>
            <a:r>
              <a:rPr sz="132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1060" b="0" i="0">
                <a:solidFill>
                  <a:srgbClr val="21295C"/>
                </a:solidFill>
                <a:latin typeface="Arial"/>
              </a:rPr>
              <a:t/>
            </a:r>
            <a:r>
              <a:rPr sz="10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320" b="0" i="0">
                <a:solidFill>
                  <a:srgbClr val="21295C"/>
                </a:solidFill>
                <a:latin typeface="Arial"/>
              </a:rPr>
              <a:t/>
            </a:r>
            <a:r>
              <a:rPr sz="1320" b="0" i="0">
                <a:solidFill>
                  <a:srgbClr val="21295C"/>
                </a:solidFill>
                <a:latin typeface="Arial"/>
              </a:rPr>
              <a:t>Чем это делают сегодня: </a:t>
            </a:r>
            <a:r>
              <a:rPr sz="1320" b="0" i="1">
                <a:solidFill>
                  <a:srgbClr val="21295C"/>
                </a:solidFill>
                <a:latin typeface="Arial"/>
              </a:rPr>
              <a:t>распознавание на изображении</a:t>
            </a:r>
            <a:r>
              <a:rPr sz="1320" b="0" i="0">
                <a:solidFill>
                  <a:srgbClr val="21295C"/>
                </a:solidFill>
                <a:latin typeface="Arial"/>
              </a:rPr>
              <a:t>, та же клетка и </a:t>
            </a:r>
            <a:r>
              <a:rPr sz="1320" b="1" i="0">
                <a:solidFill>
                  <a:srgbClr val="21295C"/>
                </a:solidFill>
                <a:latin typeface="Arial"/>
              </a:rPr>
              <a:t>тот же инструмент</a:t>
            </a:r>
            <a:r>
              <a:rPr sz="132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496713"/>
          </a:xfrm>
          <a:prstGeom prst="roundRect">
            <a:avLst>
              <a:gd name="adj" fmla="val 1220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496713"/>
          </a:xfrm>
          <a:prstGeom prst="roundRect">
            <a:avLst>
              <a:gd name="adj" fmla="val 1220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923177"/>
            <a:ext cx="11441887" cy="2313030"/>
          </a:xfrm>
          <a:prstGeom prst="roundRect">
            <a:avLst>
              <a:gd name="adj" fmla="val 1317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014617"/>
            <a:ext cx="11112703" cy="2221590"/>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Что переехало.</a:t>
            </a:r>
            <a:r>
              <a:rPr sz="114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 Больше форм здесь не называется.</a:t>
            </a:r>
          </a:p>
          <a:p>
            <a:pPr algn="l">
              <a:lnSpc>
                <a:spcPct val="126000"/>
              </a:lnSpc>
              <a:spcBef>
                <a:spcPts val="700"/>
              </a:spcBef>
            </a:pPr>
            <a:r>
              <a:rPr sz="1140" b="0" i="0">
                <a:solidFill>
                  <a:srgbClr val="21295C"/>
                </a:solidFill>
                <a:latin typeface="Arial"/>
              </a:rPr>
              <a:t/>
            </a:r>
            <a:r>
              <a:rPr sz="114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и это разворачивает весь раздел: в другой программе измерили, </a:t>
            </a:r>
            <a:r>
              <a:rPr sz="1140" b="1" i="0">
                <a:solidFill>
                  <a:srgbClr val="21295C"/>
                </a:solidFill>
                <a:latin typeface="Arial"/>
              </a:rPr>
              <a:t>чьим находкам верят</a:t>
            </a:r>
            <a:r>
              <a:rPr sz="1140" b="0" i="0">
                <a:solidFill>
                  <a:srgbClr val="21295C"/>
                </a:solidFill>
                <a:latin typeface="Arial"/>
              </a:rPr>
              <a:t>. Из ста находок, сделанных </a:t>
            </a:r>
            <a:r>
              <a:rPr sz="1140" b="1" i="0">
                <a:solidFill>
                  <a:srgbClr val="21295C"/>
                </a:solidFill>
                <a:latin typeface="Arial"/>
              </a:rPr>
              <a:t>только моделью</a:t>
            </a:r>
            <a:r>
              <a:rPr sz="1140" b="0" i="0">
                <a:solidFill>
                  <a:srgbClr val="21295C"/>
                </a:solidFill>
                <a:latin typeface="Arial"/>
              </a:rPr>
              <a:t>, подтверждается раком </a:t>
            </a:r>
            <a:r>
              <a:rPr sz="1140" b="1" i="0">
                <a:solidFill>
                  <a:srgbClr val="21295C"/>
                </a:solidFill>
                <a:latin typeface="Arial"/>
              </a:rPr>
              <a:t>22</a:t>
            </a:r>
            <a:r>
              <a:rPr sz="1140" b="0" i="0">
                <a:solidFill>
                  <a:srgbClr val="21295C"/>
                </a:solidFill>
                <a:latin typeface="Arial"/>
              </a:rPr>
              <a:t>; из ста находок, сделанных </a:t>
            </a:r>
            <a:r>
              <a:rPr sz="1140" b="1" i="0">
                <a:solidFill>
                  <a:srgbClr val="21295C"/>
                </a:solidFill>
                <a:latin typeface="Arial"/>
              </a:rPr>
              <a:t>только радиологом</a:t>
            </a:r>
            <a:r>
              <a:rPr sz="1140" b="0" i="0">
                <a:solidFill>
                  <a:srgbClr val="21295C"/>
                </a:solidFill>
                <a:latin typeface="Arial"/>
              </a:rPr>
              <a:t> — </a:t>
            </a:r>
            <a:r>
              <a:rPr sz="1140" b="1" i="0">
                <a:solidFill>
                  <a:srgbClr val="21295C"/>
                </a:solidFill>
                <a:latin typeface="Arial"/>
              </a:rPr>
              <a:t>3,4</a:t>
            </a:r>
            <a:r>
              <a:rPr sz="114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есть здесь доверия к модели </a:t>
            </a:r>
            <a:r>
              <a:rPr sz="1140" b="1" i="0">
                <a:solidFill>
                  <a:srgbClr val="21295C"/>
                </a:solidFill>
                <a:latin typeface="Arial"/>
              </a:rPr>
              <a:t>слишком мало</a:t>
            </a:r>
            <a:r>
              <a:rPr sz="1140" b="0" i="0">
                <a:solidFill>
                  <a:srgbClr val="21295C"/>
                </a:solidFill>
                <a:latin typeface="Arial"/>
              </a:rPr>
              <a:t>, а не слишком много.</a:t>
            </a:r>
          </a:p>
          <a:p>
            <a:pPr algn="l">
              <a:lnSpc>
                <a:spcPct val="126000"/>
              </a:lnSpc>
              <a:spcBef>
                <a:spcPts val="700"/>
              </a:spcBef>
            </a:pPr>
            <a:r>
              <a:rPr sz="910" b="0" i="0">
                <a:solidFill>
                  <a:srgbClr val="21295C"/>
                </a:solidFill>
                <a:latin typeface="Arial"/>
              </a:rPr>
              <a:t/>
            </a:r>
            <a:r>
              <a:rPr sz="91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177962"/>
          </a:xfrm>
          <a:prstGeom prst="roundRect">
            <a:avLst>
              <a:gd name="adj" fmla="val 1399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177962"/>
          </a:xfrm>
          <a:prstGeom prst="roundRect">
            <a:avLst>
              <a:gd name="adj" fmla="val 1399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04426"/>
            <a:ext cx="11441887" cy="2631781"/>
          </a:xfrm>
          <a:prstGeom prst="roundRect">
            <a:avLst>
              <a:gd name="adj" fmla="val 115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695866"/>
            <a:ext cx="11112703" cy="2540341"/>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ломается.</a:t>
            </a:r>
            <a:r>
              <a:rPr sz="1110" b="0" i="0">
                <a:solidFill>
                  <a:srgbClr val="21295C"/>
                </a:solidFill>
                <a:latin typeface="Arial"/>
              </a:rPr>
              <a:t> База падения — </a:t>
            </a:r>
            <a:r>
              <a:rPr sz="1110" b="1" i="0">
                <a:solidFill>
                  <a:srgbClr val="21295C"/>
                </a:solidFill>
                <a:latin typeface="Arial"/>
              </a:rPr>
              <a:t>верная</a:t>
            </a:r>
            <a:r>
              <a:rPr sz="111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110" b="0" i="0">
                <a:solidFill>
                  <a:srgbClr val="21295C"/>
                </a:solidFill>
                <a:latin typeface="Arial"/>
              </a:rPr>
              <a:t/>
            </a:r>
            <a:r>
              <a:rPr sz="1110" b="1" i="0">
                <a:solidFill>
                  <a:srgbClr val="21295C"/>
                </a:solidFill>
                <a:latin typeface="Arial"/>
              </a:rPr>
              <a:t>Где потолок.</a:t>
            </a:r>
            <a:r>
              <a:rPr sz="111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11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110" b="0" i="0">
                <a:solidFill>
                  <a:srgbClr val="21295C"/>
                </a:solidFill>
                <a:latin typeface="Arial"/>
              </a:rPr>
              <a:t/>
            </a:r>
            <a:r>
              <a:rPr sz="1110" b="1" i="0">
                <a:solidFill>
                  <a:srgbClr val="21295C"/>
                </a:solidFill>
                <a:latin typeface="Arial"/>
              </a:rPr>
              <a:t>Не измерено, и это названо пробелом.</a:t>
            </a:r>
            <a:r>
              <a:rPr sz="111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Доверие откалибровано </a:t>
            </a:r>
            <a:r>
              <a:rPr sz="1110" b="1" i="0">
                <a:solidFill>
                  <a:srgbClr val="21295C"/>
                </a:solidFill>
                <a:latin typeface="Arial"/>
              </a:rPr>
              <a:t>не по тому признаку</a:t>
            </a:r>
            <a:r>
              <a:rPr sz="111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110" b="0" i="0">
                <a:solidFill>
                  <a:srgbClr val="21295C"/>
                </a:solidFill>
                <a:latin typeface="Arial"/>
              </a:rPr>
              <a:t/>
            </a:r>
            <a:r>
              <a:rPr sz="111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официальная публикация действующей редакции шкалы раннего предупреждения, профессиональное общество, год редакции}}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Пропустить ухудшение.</a:t>
            </a:r>
            <a:r>
              <a:rPr sz="150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Поднять ложную тревогу.</a:t>
            </a:r>
            <a:r>
              <a:rPr sz="150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ошибки платит одна и та же дежурная смена.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менее 0,76 · 0,83–0,86</a:t>
            </a:r>
          </a:p>
        </p:txBody>
      </p:sp>
      <p:sp>
        <p:nvSpPr>
          <p:cNvPr id="7" name="TextBox 6"/>
          <p:cNvSpPr txBox="1"/>
          <p:nvPr/>
        </p:nvSpPr>
        <p:spPr>
          <a:xfrm>
            <a:off x="640080" y="2508219"/>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информационный лист по первой версии, второе — заявление по второй версии по трём своим площадкам; это не одно число, и оно менялось от версии к версии</a:t>
            </a:r>
          </a:p>
        </p:txBody>
      </p:sp>
      <p:sp>
        <p:nvSpPr>
          <p:cNvPr id="8" name="Rounded Rectangle 7"/>
          <p:cNvSpPr/>
          <p:nvPr/>
        </p:nvSpPr>
        <p:spPr>
          <a:xfrm>
            <a:off x="4286402" y="1335024"/>
            <a:ext cx="3618890" cy="2049707"/>
          </a:xfrm>
          <a:prstGeom prst="roundRect">
            <a:avLst>
              <a:gd name="adj" fmla="val 1487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049707"/>
          </a:xfrm>
          <a:prstGeom prst="roundRect">
            <a:avLst>
              <a:gd name="adj" fmla="val 1487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476171"/>
            <a:ext cx="11441887" cy="2760036"/>
          </a:xfrm>
          <a:prstGeom prst="roundRect">
            <a:avLst>
              <a:gd name="adj" fmla="val 110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67611"/>
            <a:ext cx="11112703" cy="26685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Заявлено разработчиком:</a:t>
            </a:r>
            <a:r>
              <a:rPr sz="1500" b="0" i="0">
                <a:solidFill>
                  <a:srgbClr val="21295C"/>
                </a:solidFill>
                <a:latin typeface="Arial"/>
              </a:rPr>
              <a:t> не менее 0,76 по первой версии, 0,83–0,86 по второй. </a:t>
            </a:r>
            <a:r>
              <a:rPr sz="1500" b="1" i="0">
                <a:solidFill>
                  <a:srgbClr val="21295C"/>
                </a:solidFill>
                <a:latin typeface="Arial"/>
              </a:rPr>
              <a:t>Измерено независимой проверкой первой версии:</a:t>
            </a:r>
            <a:r>
              <a:rPr sz="1500" b="0" i="0">
                <a:solidFill>
                  <a:srgbClr val="21295C"/>
                </a:solidFill>
                <a:latin typeface="Arial"/>
              </a:rPr>
              <a:t> 0,63. </a:t>
            </a:r>
            <a:r>
              <a:rPr sz="1500" b="1" i="0">
                <a:solidFill>
                  <a:srgbClr val="21295C"/>
                </a:solidFill>
                <a:latin typeface="Arial"/>
              </a:rPr>
              <a:t>Поймано</a:t>
            </a:r>
            <a:r>
              <a:rPr sz="1500" b="0" i="0">
                <a:solidFill>
                  <a:srgbClr val="21295C"/>
                </a:solidFill>
                <a:latin typeface="Arial"/>
              </a:rPr>
              <a:t> 33 случая сепсиса из ста — не выявлено 1 709 из 2 552.</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информационный лист по первой версии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Заявлено:</a:t>
            </a:r>
            <a:r>
              <a:rPr sz="1350" b="0" i="0">
                <a:solidFill>
                  <a:srgbClr val="21295C"/>
                </a:solidFill>
                <a:latin typeface="Arial"/>
              </a:rPr>
              <a:t> экономия </a:t>
            </a:r>
            <a:r>
              <a:rPr sz="1350" b="1" i="0">
                <a:solidFill>
                  <a:srgbClr val="21295C"/>
                </a:solidFill>
                <a:latin typeface="Arial"/>
              </a:rPr>
              <a:t>15 791 часа на 63 000 приёмов</a:t>
            </a:r>
            <a:r>
              <a:rPr sz="1350" b="0" i="0">
                <a:solidFill>
                  <a:srgbClr val="21295C"/>
                </a:solidFill>
                <a:latin typeface="Arial"/>
              </a:rPr>
              <a:t> за десять недель — методика счёта не раскрыта. </a:t>
            </a:r>
            <a:r>
              <a:rPr sz="1350" b="1" i="0">
                <a:solidFill>
                  <a:srgbClr val="21295C"/>
                </a:solidFill>
                <a:latin typeface="Arial"/>
              </a:rPr>
              <a:t>Измерено рандомизированным испытанием (238 врачей четырнадцати специальностей):</a:t>
            </a:r>
            <a:r>
              <a:rPr sz="1350" b="0" i="0">
                <a:solidFill>
                  <a:srgbClr val="21295C"/>
                </a:solidFill>
                <a:latin typeface="Arial"/>
              </a:rPr>
              <a:t> у одного из двух инструментов время в заметке упало на </a:t>
            </a:r>
            <a:r>
              <a:rPr sz="1350" b="1" i="0">
                <a:solidFill>
                  <a:srgbClr val="21295C"/>
                </a:solidFill>
                <a:latin typeface="Arial"/>
              </a:rPr>
              <a:t>9,5 процента</a:t>
            </a:r>
            <a:r>
              <a:rPr sz="1350" b="0" i="0">
                <a:solidFill>
                  <a:srgbClr val="21295C"/>
                </a:solidFill>
                <a:latin typeface="Arial"/>
              </a:rPr>
              <a:t> относительно контрольной группы, у второго значимого изменения нет; </a:t>
            </a:r>
            <a:r>
              <a:rPr sz="1350" b="1" i="0">
                <a:solidFill>
                  <a:srgbClr val="21295C"/>
                </a:solidFill>
                <a:latin typeface="Arial"/>
              </a:rPr>
              <a:t>активное время правки заметки не изменилось.</a:t>
            </a:r>
          </a:p>
          <a:p>
            <a:pPr algn="l">
              <a:lnSpc>
                <a:spcPct val="126000"/>
              </a:lnSpc>
              <a:spcBef>
                <a:spcPts val="700"/>
              </a:spcBef>
            </a:pPr>
            <a:r>
              <a:rPr sz="1350" b="0" i="0">
                <a:solidFill>
                  <a:srgbClr val="21295C"/>
                </a:solidFill>
                <a:latin typeface="Arial"/>
              </a:rPr>
              <a:t/>
            </a:r>
            <a:r>
              <a:rPr sz="135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80" b="0" i="0">
                <a:solidFill>
                  <a:srgbClr val="21295C"/>
                </a:solidFill>
                <a:latin typeface="Arial"/>
              </a:rPr>
              <a:t/>
            </a:r>
            <a:r>
              <a:rPr sz="108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350" b="0" i="0">
                <a:solidFill>
                  <a:srgbClr val="21295C"/>
                </a:solidFill>
                <a:latin typeface="Arial"/>
              </a:rPr>
              <a:t/>
            </a:r>
            <a:r>
              <a:rPr sz="1350" b="0" i="0">
                <a:solidFill>
                  <a:srgbClr val="21295C"/>
                </a:solidFill>
                <a:latin typeface="Arial"/>
              </a:rPr>
              <a:t>Нагрузка переехала с набора на вычитку, и рядом появился шаг, которого не было.</a:t>
            </a:r>
          </a:p>
          <a:p>
            <a:pPr algn="l">
              <a:lnSpc>
                <a:spcPct val="126000"/>
              </a:lnSpc>
              <a:spcBef>
                <a:spcPts val="700"/>
              </a:spcBef>
            </a:pPr>
            <a:r>
              <a:rPr sz="1350" b="0" i="0">
                <a:solidFill>
                  <a:srgbClr val="21295C"/>
                </a:solidFill>
                <a:latin typeface="Arial"/>
              </a:rPr>
              <a:t/>
            </a:r>
            <a:r>
              <a:rPr sz="135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Дало</a:t>
            </a:r>
            <a:r>
              <a:rPr sz="1200" b="0" i="0">
                <a:solidFill>
                  <a:srgbClr val="21295C"/>
                </a:solidFill>
                <a:latin typeface="Arial"/>
              </a:rPr>
              <a:t> — документ готов раньше, короче и связнее. </a:t>
            </a:r>
            <a:r>
              <a:rPr sz="1200" b="1" i="0">
                <a:solidFill>
                  <a:srgbClr val="21295C"/>
                </a:solidFill>
                <a:latin typeface="Arial"/>
              </a:rPr>
              <a:t>Потребовало</a:t>
            </a:r>
            <a:r>
              <a:rPr sz="1200" b="0" i="0">
                <a:solidFill>
                  <a:srgbClr val="21295C"/>
                </a:solidFill>
                <a:latin typeface="Arial"/>
              </a:rPr>
              <a:t> — полноты и вычитки другого рода. </a:t>
            </a:r>
            <a:r>
              <a:rPr sz="1200" b="1" i="0">
                <a:solidFill>
                  <a:srgbClr val="21295C"/>
                </a:solidFill>
                <a:latin typeface="Arial"/>
              </a:rPr>
              <a:t>В сумме</a:t>
            </a:r>
            <a:r>
              <a:rPr sz="1200" b="0" i="0">
                <a:solidFill>
                  <a:srgbClr val="21295C"/>
                </a:solidFill>
                <a:latin typeface="Arial"/>
              </a:rPr>
              <a:t> — потенциал вреда одной ошибки тот же, ошибок больше, документ менее полон.</a:t>
            </a:r>
          </a:p>
          <a:p>
            <a:pPr algn="l">
              <a:lnSpc>
                <a:spcPct val="126000"/>
              </a:lnSpc>
              <a:spcBef>
                <a:spcPts val="700"/>
              </a:spcBef>
            </a:pPr>
            <a:r>
              <a:rPr sz="1200" b="0" i="0">
                <a:solidFill>
                  <a:srgbClr val="21295C"/>
                </a:solidFill>
                <a:latin typeface="Arial"/>
              </a:rPr>
              <a:t/>
            </a:r>
            <a:r>
              <a:rPr sz="1200" b="1" i="0">
                <a:solidFill>
                  <a:srgbClr val="21295C"/>
                </a:solidFill>
                <a:latin typeface="Arial"/>
              </a:rPr>
              <a:t>А теперь то, что по этому случаю чаще всего и пересказывают.</a:t>
            </a:r>
            <a:r>
              <a:rPr sz="120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200" b="0" i="0">
                <a:solidFill>
                  <a:srgbClr val="21295C"/>
                </a:solidFill>
                <a:latin typeface="Arial"/>
              </a:rPr>
              <a:t/>
            </a:r>
            <a:r>
              <a:rPr sz="1200" b="1" i="0">
                <a:solidFill>
                  <a:srgbClr val="21295C"/>
                </a:solidFill>
                <a:latin typeface="Arial"/>
              </a:rPr>
              <a:t>Построчное чтение трёх доступных первоисточников этой тройки не даёт.</a:t>
            </a:r>
            <a:r>
              <a:rPr sz="120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Числа, которые удобно звучат, живут в пересказах дольше, чем в первоисточниках. </a:t>
            </a:r>
            <a:r>
              <a:rPr sz="1200" b="1" i="0">
                <a:solidFill>
                  <a:srgbClr val="21295C"/>
                </a:solidFill>
                <a:latin typeface="Arial"/>
              </a:rPr>
              <a:t>Разряд свидетельства у пересказа ниже, чем у исследования, даже когда числа совпадают</a:t>
            </a:r>
            <a:r>
              <a:rPr sz="120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960" b="0" i="0">
                <a:solidFill>
                  <a:srgbClr val="21295C"/>
                </a:solidFill>
                <a:latin typeface="Arial"/>
              </a:rPr>
              <a:t/>
            </a:r>
            <a:r>
              <a:rPr sz="96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38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380" b="0" i="0">
                <a:solidFill>
                  <a:srgbClr val="21295C"/>
                </a:solidFill>
                <a:latin typeface="Arial"/>
              </a:rPr>
              <a:t/>
            </a:r>
            <a:r>
              <a:rPr sz="1380" b="1" i="0">
                <a:solidFill>
                  <a:srgbClr val="21295C"/>
                </a:solidFill>
                <a:latin typeface="Arial"/>
              </a:rPr>
              <a:t>Кто сидит за столом.</a:t>
            </a:r>
            <a:r>
              <a:rPr sz="138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380" b="0" i="0">
                <a:solidFill>
                  <a:srgbClr val="21295C"/>
                </a:solidFill>
                <a:latin typeface="Arial"/>
              </a:rPr>
              <a:t/>
            </a:r>
            <a:r>
              <a:rPr sz="1380" b="1" i="0">
                <a:solidFill>
                  <a:srgbClr val="21295C"/>
                </a:solidFill>
                <a:latin typeface="Arial"/>
              </a:rPr>
              <a:t>Что лежит на столе.</a:t>
            </a:r>
            <a:r>
              <a:rPr sz="138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380" b="0" i="0">
                <a:solidFill>
                  <a:srgbClr val="21295C"/>
                </a:solidFill>
                <a:latin typeface="Arial"/>
              </a:rPr>
              <a:t/>
            </a:r>
            <a:r>
              <a:rPr sz="1380" b="1" i="0">
                <a:solidFill>
                  <a:srgbClr val="21295C"/>
                </a:solidFill>
                <a:latin typeface="Arial"/>
              </a:rPr>
              <a:t>Какой вопрос решают.</a:t>
            </a:r>
            <a:r>
              <a:rPr sz="138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380" b="0" i="0">
                <a:solidFill>
                  <a:srgbClr val="21295C"/>
                </a:solidFill>
                <a:latin typeface="Arial"/>
              </a:rPr>
              <a:t/>
            </a:r>
            <a:r>
              <a:rPr sz="1380" b="0" i="0">
                <a:solidFill>
                  <a:srgbClr val="21295C"/>
                </a:solidFill>
                <a:latin typeface="Arial"/>
              </a:rPr>
              <a:t>Вопроса «пользовался ли он моделью» в этом списке нет.</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порядок разбора врачебной ошибки — нормативного акта глава не называет, процедура описана без ссылки}}</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 Третьего раунда, где это проверили бы на живых врачах, не было.</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 у подписи.</a:t>
            </a:r>
            <a:r>
              <a:rPr sz="135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350" b="0" i="0">
                <a:solidFill>
                  <a:srgbClr val="21295C"/>
                </a:solidFill>
                <a:latin typeface="Arial"/>
              </a:rPr>
              <a:t/>
            </a:r>
            <a:r>
              <a:rPr sz="1350" b="1" i="0">
                <a:solidFill>
                  <a:srgbClr val="21295C"/>
                </a:solidFill>
                <a:latin typeface="Arial"/>
              </a:rPr>
              <a:t>Счёт классического режима в двух единицах.</a:t>
            </a:r>
            <a:r>
              <a:rPr sz="1350" b="0" i="0">
                <a:solidFill>
                  <a:srgbClr val="21295C"/>
                </a:solidFill>
                <a:latin typeface="Arial"/>
              </a:rPr>
              <a:t> Первая — </a:t>
            </a:r>
            <a:r>
              <a:rPr sz="1350" b="1" i="0">
                <a:solidFill>
                  <a:srgbClr val="21295C"/>
                </a:solidFill>
                <a:latin typeface="Arial"/>
              </a:rPr>
              <a:t>чувствительность</a:t>
            </a:r>
            <a:r>
              <a:rPr sz="135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Вторая единица — минуты труда</a:t>
            </a:r>
            <a:r>
              <a:rPr sz="135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 сокращении первичных чтений вдвое объём арбитража вырос на </a:t>
            </a:r>
            <a:r>
              <a:rPr sz="1350" b="1" i="0">
                <a:solidFill>
                  <a:srgbClr val="21295C"/>
                </a:solidFill>
                <a:latin typeface="Arial"/>
              </a:rPr>
              <a:t>53 процента</a:t>
            </a:r>
            <a:r>
              <a:rPr sz="135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{{источник: рамка четырёх участников — глава называет только «работы 2019 и 2020 годов», авторов и издание не называет}}</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Заранее утверждённый план изменений.</a:t>
            </a:r>
            <a:r>
              <a:rPr sz="150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Передача данных о работе регулятору.</a:t>
            </a:r>
            <a:r>
              <a:rPr sz="150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Перенесённые сроки — по приложениям, не по признаку «самостоятельное или встроенное».</a:t>
            </a:r>
            <a:r>
              <a:rPr sz="150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440" b="1" i="0">
                <a:solidFill>
                  <a:srgbClr val="21295C"/>
                </a:solidFill>
                <a:latin typeface="Arial"/>
              </a:rPr>
              <a:t>Цена обеих ошибок.</a:t>
            </a:r>
            <a:r>
              <a:rPr sz="1440" b="0" i="0">
                <a:solidFill>
                  <a:srgbClr val="21295C"/>
                </a:solidFill>
                <a:latin typeface="Arial"/>
              </a:rPr>
              <a:t> Обещание рассчитано на успех там, где отраслевая база даёт </a:t>
            </a:r>
            <a:r>
              <a:rPr sz="1440" b="1" i="0">
                <a:solidFill>
                  <a:srgbClr val="21295C"/>
                </a:solidFill>
                <a:latin typeface="Arial"/>
              </a:rPr>
              <a:t>28,9 процента</a:t>
            </a:r>
            <a:r>
              <a:rPr sz="1440" b="0" i="0">
                <a:solidFill>
                  <a:srgbClr val="21295C"/>
                </a:solidFill>
                <a:latin typeface="Arial"/>
              </a:rPr>
              <a:t> перехода — провал на этом шаге норма воронки.</a:t>
            </a:r>
          </a:p>
          <a:p>
            <a:pPr algn="l">
              <a:lnSpc>
                <a:spcPct val="126000"/>
              </a:lnSpc>
              <a:spcBef>
                <a:spcPts val="700"/>
              </a:spcBef>
            </a:pPr>
            <a:r>
              <a:rPr sz="1440" b="0" i="0">
                <a:solidFill>
                  <a:srgbClr val="21295C"/>
                </a:solidFill>
                <a:latin typeface="Arial"/>
              </a:rPr>
              <a:t/>
            </a:r>
            <a:r>
              <a:rPr sz="1440" b="1" i="0">
                <a:solidFill>
                  <a:srgbClr val="21295C"/>
                </a:solidFill>
                <a:latin typeface="Arial"/>
              </a:rPr>
              <a:t>Путь компании.</a:t>
            </a:r>
            <a:r>
              <a:rPr sz="1440" b="0" i="0">
                <a:solidFill>
                  <a:srgbClr val="21295C"/>
                </a:solidFill>
                <a:latin typeface="Arial"/>
              </a:rPr>
              <a:t> Обещание доводить препараты до регистрации самостоятельно → фаза IIa: </a:t>
            </a:r>
            <a:r>
              <a:rPr sz="1440" b="1" i="0">
                <a:solidFill>
                  <a:srgbClr val="21295C"/>
                </a:solidFill>
                <a:latin typeface="Arial"/>
              </a:rPr>
              <a:t>91 пациент</a:t>
            </a:r>
            <a:r>
              <a:rPr sz="1440" b="0" i="0">
                <a:solidFill>
                  <a:srgbClr val="21295C"/>
                </a:solidFill>
                <a:latin typeface="Arial"/>
              </a:rPr>
              <a:t> 18–65 лет, </a:t>
            </a:r>
            <a:r>
              <a:rPr sz="1440" b="1" i="0">
                <a:solidFill>
                  <a:srgbClr val="21295C"/>
                </a:solidFill>
                <a:latin typeface="Arial"/>
              </a:rPr>
              <a:t>28 дней</a:t>
            </a:r>
            <a:r>
              <a:rPr sz="1440" b="0" i="0">
                <a:solidFill>
                  <a:srgbClr val="21295C"/>
                </a:solidFill>
                <a:latin typeface="Arial"/>
              </a:rPr>
              <a:t> нанесения, первичная точка по безопасности достигнута, точки эффективности — нет → </a:t>
            </a:r>
            <a:r>
              <a:rPr sz="1440" b="1" i="0">
                <a:solidFill>
                  <a:srgbClr val="21295C"/>
                </a:solidFill>
                <a:latin typeface="Arial"/>
              </a:rPr>
              <a:t>минус 180 рабочих мест</a:t>
            </a:r>
            <a:r>
              <a:rPr sz="144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Дало</a:t>
            </a:r>
            <a:r>
              <a:rPr sz="1140" b="0" i="0">
                <a:solidFill>
                  <a:srgbClr val="21295C"/>
                </a:solidFill>
                <a:latin typeface="Arial"/>
              </a:rPr>
              <a:t> — с помощником находят больше.</a:t>
            </a:r>
          </a:p>
          <a:p>
            <a:pPr algn="l">
              <a:lnSpc>
                <a:spcPct val="126000"/>
              </a:lnSpc>
              <a:spcBef>
                <a:spcPts val="700"/>
              </a:spcBef>
            </a:pPr>
            <a:r>
              <a:rPr sz="1140" b="0" i="0">
                <a:solidFill>
                  <a:srgbClr val="21295C"/>
                </a:solidFill>
                <a:latin typeface="Arial"/>
              </a:rPr>
              <a:t/>
            </a:r>
            <a:r>
              <a:rPr sz="1140" b="1" i="0">
                <a:solidFill>
                  <a:srgbClr val="21295C"/>
                </a:solidFill>
                <a:latin typeface="Arial"/>
              </a:rPr>
              <a:t>Потребовало</a:t>
            </a:r>
            <a:r>
              <a:rPr sz="1140" b="0" i="0">
                <a:solidFill>
                  <a:srgbClr val="21295C"/>
                </a:solidFill>
                <a:latin typeface="Arial"/>
              </a:rPr>
              <a:t> — умения искать самому.</a:t>
            </a:r>
          </a:p>
          <a:p>
            <a:pPr algn="l">
              <a:lnSpc>
                <a:spcPct val="126000"/>
              </a:lnSpc>
              <a:spcBef>
                <a:spcPts val="700"/>
              </a:spcBef>
            </a:pPr>
            <a:r>
              <a:rPr sz="1140" b="0" i="0">
                <a:solidFill>
                  <a:srgbClr val="21295C"/>
                </a:solidFill>
                <a:latin typeface="Arial"/>
              </a:rPr>
              <a:t/>
            </a:r>
            <a:r>
              <a:rPr sz="1140" b="1" i="0">
                <a:solidFill>
                  <a:srgbClr val="21295C"/>
                </a:solidFill>
                <a:latin typeface="Arial"/>
              </a:rPr>
              <a:t>В сумме</a:t>
            </a:r>
            <a:r>
              <a:rPr sz="114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40" b="0" i="0">
                <a:solidFill>
                  <a:srgbClr val="21295C"/>
                </a:solidFill>
                <a:latin typeface="Arial"/>
              </a:rPr>
              <a:t/>
            </a:r>
            <a:r>
              <a:rPr sz="1140" b="1" i="0">
                <a:solidFill>
                  <a:srgbClr val="21295C"/>
                </a:solidFill>
                <a:latin typeface="Arial"/>
              </a:rPr>
              <a:t>Форма 8 словаря: Исполнитель тот же, но стал хуже.</a:t>
            </a:r>
            <a:r>
              <a:rPr sz="1140" b="0" i="0">
                <a:solidFill>
                  <a:srgbClr val="21295C"/>
                </a:solidFill>
                <a:latin typeface="Arial"/>
              </a:rPr>
              <a:t> Место, объём, порядок шагов и рука прежние — изменилось состояние самой руки. Не форма 5: там сменилась рука, здесь рука та же, и именно на этом стоит измерение. Не форма 4а: там упал объём операции, здесь объём тот же, упала доля находок.</a:t>
            </a:r>
          </a:p>
          <a:p>
            <a:pPr algn="l">
              <a:lnSpc>
                <a:spcPct val="126000"/>
              </a:lnSpc>
              <a:spcBef>
                <a:spcPts val="700"/>
              </a:spcBef>
            </a:pPr>
            <a:r>
              <a:rPr sz="910" b="0" i="0">
                <a:solidFill>
                  <a:srgbClr val="21295C"/>
                </a:solidFill>
                <a:latin typeface="Arial"/>
              </a:rPr>
              <a:t/>
            </a:r>
            <a:r>
              <a:rPr sz="91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40" b="0" i="0">
                <a:solidFill>
                  <a:srgbClr val="21295C"/>
                </a:solidFill>
                <a:latin typeface="Arial"/>
              </a:rPr>
              <a:t/>
            </a:r>
            <a:r>
              <a:rPr sz="114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40" b="1" i="0">
                <a:solidFill>
                  <a:srgbClr val="21295C"/>
                </a:solidFill>
                <a:latin typeface="Arial"/>
              </a:rPr>
              <a:t>Повторением клинической находки это не является:</a:t>
            </a:r>
            <a:r>
              <a:rPr sz="114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40" b="0" i="0">
                <a:solidFill>
                  <a:srgbClr val="21295C"/>
                </a:solidFill>
                <a:latin typeface="Arial"/>
              </a:rPr>
              <a:t/>
            </a:r>
            <a:r>
              <a:rPr sz="114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Появилась роль посредника</a:t>
            </a:r>
            <a:r>
              <a:rPr sz="150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целевой арбитраж</a:t>
            </a:r>
            <a:r>
              <a:rPr sz="1500" b="0" i="0">
                <a:solidFill>
                  <a:srgbClr val="21295C"/>
                </a:solidFill>
                <a:latin typeface="Arial"/>
              </a:rPr>
              <a:t>, а рутинная перепроверка каждого случая ушла.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Третья строка — измеренная зависимость: точечные оценки есть, </a:t>
            </a:r>
            <a:r>
              <a:rPr sz="1500" b="1" i="0">
                <a:solidFill>
                  <a:srgbClr val="21295C"/>
                </a:solidFill>
                <a:latin typeface="Arial"/>
              </a:rPr>
              <a:t>значимости нет</a:t>
            </a:r>
            <a:r>
              <a:rPr sz="150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1. Нагрузка переехала на другой шаг</a:t>
            </a:r>
            <a:r>
              <a:rPr sz="1350" b="0" i="0">
                <a:solidFill>
                  <a:srgbClr val="21295C"/>
                </a:solidFill>
                <a:latin typeface="Arial"/>
              </a:rPr>
              <a:t> — воронка молекул ИИ-происхождения против базы отрасли: одобрений регулятора </a:t>
            </a:r>
            <a:r>
              <a:rPr sz="1350" b="1" i="0">
                <a:solidFill>
                  <a:srgbClr val="21295C"/>
                </a:solidFill>
                <a:latin typeface="Arial"/>
              </a:rPr>
              <a:t>ноль</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2. Шаг исчез совсем</a:t>
            </a:r>
            <a:r>
              <a:rPr sz="1350" b="0" i="0">
                <a:solidFill>
                  <a:srgbClr val="21295C"/>
                </a:solidFill>
                <a:latin typeface="Arial"/>
              </a:rPr>
              <a:t> — </a:t>
            </a:r>
            <a:r>
              <a:rPr sz="1350" b="0" i="1">
                <a:solidFill>
                  <a:srgbClr val="21295C"/>
                </a:solidFill>
                <a:latin typeface="Arial"/>
              </a:rPr>
              <a:t>ни одного подтверждённого случая за вечер.</a:t>
            </a:r>
            <a:r>
              <a:rPr sz="135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3. Шаг появился</a:t>
            </a:r>
            <a:r>
              <a:rPr sz="135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 Нагрузка выросла на том же месте</a:t>
            </a:r>
            <a:r>
              <a:rPr sz="135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4а. Нагрузка на том же месте упала</a:t>
            </a:r>
            <a:r>
              <a:rPr sz="135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80" b="0" i="0">
                <a:solidFill>
                  <a:srgbClr val="21295C"/>
                </a:solidFill>
                <a:latin typeface="Arial"/>
              </a:rPr>
              <a:t/>
            </a:r>
            <a:r>
              <a:rPr sz="108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80" b="0" i="0">
                <a:solidFill>
                  <a:srgbClr val="21295C"/>
                </a:solidFill>
                <a:latin typeface="Arial"/>
              </a:rPr>
              <a:t/>
            </a:r>
            <a:r>
              <a:rPr sz="108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5. Исполнитель сменился</a:t>
            </a:r>
            <a:r>
              <a:rPr sz="135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6. Изменился порядок работ</a:t>
            </a:r>
            <a:r>
              <a:rPr sz="1350" b="0" i="0">
                <a:solidFill>
                  <a:srgbClr val="21295C"/>
                </a:solidFill>
                <a:latin typeface="Arial"/>
              </a:rPr>
              <a:t> — сортировка до приёма. </a:t>
            </a:r>
            <a:r>
              <a:rPr sz="135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7. Сместилась цена ошибки</a:t>
            </a:r>
            <a:r>
              <a:rPr sz="1350" b="0" i="0">
                <a:solidFill>
                  <a:srgbClr val="21295C"/>
                </a:solidFill>
                <a:latin typeface="Arial"/>
              </a:rPr>
              <a:t> — разрыв между нормой и проверкой.</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8. Исполнитель тот же, но стал хуже</a:t>
            </a:r>
            <a:r>
              <a:rPr sz="135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350" b="0" i="0">
                <a:solidFill>
                  <a:srgbClr val="21295C"/>
                </a:solidFill>
                <a:latin typeface="Arial"/>
              </a:rPr>
              <a:t/>
            </a:r>
            <a:r>
              <a:rPr sz="1350" b="0" i="0">
                <a:solidFill>
                  <a:srgbClr val="21295C"/>
                </a:solidFill>
                <a:latin typeface="Arial"/>
              </a:rPr>
              <a:t>Чем восьмая форма отличается от двух соседних: в пятой сменилась </a:t>
            </a:r>
            <a:r>
              <a:rPr sz="1350" b="1" i="0">
                <a:solidFill>
                  <a:srgbClr val="21295C"/>
                </a:solidFill>
                <a:latin typeface="Arial"/>
              </a:rPr>
              <a:t>рука</a:t>
            </a:r>
            <a:r>
              <a:rPr sz="1350" b="0" i="0">
                <a:solidFill>
                  <a:srgbClr val="21295C"/>
                </a:solidFill>
                <a:latin typeface="Arial"/>
              </a:rPr>
              <a:t> — здесь рука та же, и на этом стоит измерение. В форме 4а упал </a:t>
            </a:r>
            <a:r>
              <a:rPr sz="1350" b="1" i="0">
                <a:solidFill>
                  <a:srgbClr val="21295C"/>
                </a:solidFill>
                <a:latin typeface="Arial"/>
              </a:rPr>
              <a:t>объём</a:t>
            </a:r>
            <a:r>
              <a:rPr sz="1350" b="0" i="0">
                <a:solidFill>
                  <a:srgbClr val="21295C"/>
                </a:solidFill>
                <a:latin typeface="Arial"/>
              </a:rPr>
              <a:t> — здесь объём тот же, упала </a:t>
            </a:r>
            <a:r>
              <a:rPr sz="1350" b="1" i="0">
                <a:solidFill>
                  <a:srgbClr val="21295C"/>
                </a:solidFill>
                <a:latin typeface="Arial"/>
              </a:rPr>
              <a:t>доля находок</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десять строк реестра из тринадцати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Копаешь — а там вообще нет модели.</a:t>
            </a:r>
            <a:r>
              <a:rPr sz="135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выигрыш не там, где показывают.</a:t>
            </a:r>
            <a:r>
              <a:rPr sz="135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Копаешь — а числа выросли при пересказе.</a:t>
            </a:r>
            <a:r>
              <a:rPr sz="135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350" b="0" i="0">
                <a:solidFill>
                  <a:srgbClr val="21295C"/>
                </a:solidFill>
                <a:latin typeface="Arial"/>
              </a:rPr>
              <a:t/>
            </a:r>
            <a:r>
              <a:rPr sz="1350" b="0" i="0">
                <a:solidFill>
                  <a:srgbClr val="21295C"/>
                </a:solidFill>
                <a:latin typeface="Arial"/>
              </a:rPr>
              <a:t>Приёмы, по одному на графу: </a:t>
            </a:r>
            <a:r>
              <a:rPr sz="1350" b="1" i="0">
                <a:solidFill>
                  <a:srgbClr val="21295C"/>
                </a:solidFill>
                <a:latin typeface="Arial"/>
              </a:rPr>
              <a:t>убери модель</a:t>
            </a:r>
            <a:r>
              <a:rPr sz="1350" b="0" i="0">
                <a:solidFill>
                  <a:srgbClr val="21295C"/>
                </a:solidFill>
                <a:latin typeface="Arial"/>
              </a:rPr>
              <a:t> · </a:t>
            </a:r>
            <a:r>
              <a:rPr sz="1350" b="1" i="0">
                <a:solidFill>
                  <a:srgbClr val="21295C"/>
                </a:solidFill>
                <a:latin typeface="Arial"/>
              </a:rPr>
              <a:t>спроси, от чего посчитан эффект</a:t>
            </a:r>
            <a:r>
              <a:rPr sz="1350" b="0" i="0">
                <a:solidFill>
                  <a:srgbClr val="21295C"/>
                </a:solidFill>
                <a:latin typeface="Arial"/>
              </a:rPr>
              <a:t> · </a:t>
            </a:r>
            <a:r>
              <a:rPr sz="1350" b="1" i="0">
                <a:solidFill>
                  <a:srgbClr val="21295C"/>
                </a:solidFill>
                <a:latin typeface="Arial"/>
              </a:rPr>
              <a:t>открой первоисточник и сверь выборку, дизайн и журнал</a:t>
            </a:r>
            <a:r>
              <a:rPr sz="1350" b="0" i="0">
                <a:solidFill>
                  <a:srgbClr val="21295C"/>
                </a:solidFill>
                <a:latin typeface="Arial"/>
              </a:rPr>
              <a:t>.</a:t>
            </a:r>
          </a:p>
          <a:p>
            <a:pPr algn="l">
              <a:lnSpc>
                <a:spcPct val="126000"/>
              </a:lnSpc>
              <a:spcBef>
                <a:spcPts val="700"/>
              </a:spcBef>
            </a:pPr>
            <a:r>
              <a:rPr sz="1080" b="0" i="0">
                <a:solidFill>
                  <a:srgbClr val="21295C"/>
                </a:solidFill>
                <a:latin typeface="Arial"/>
              </a:rPr>
              <a:t/>
            </a:r>
            <a:r>
              <a:rPr sz="108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Распознавание на изображении</a:t>
            </a:r>
            <a:r>
              <a:rPr sz="1500" b="0" i="0">
                <a:solidFill>
                  <a:srgbClr val="21295C"/>
                </a:solidFill>
                <a:latin typeface="Arial"/>
              </a:rPr>
              <a:t> — скрининг и чтение исследований. </a:t>
            </a:r>
            <a:r>
              <a:rPr sz="1500" b="0" i="1">
                <a:solidFill>
                  <a:srgbClr val="21295C"/>
                </a:solidFill>
                <a:latin typeface="Arial"/>
              </a:rPr>
              <a:t>Держат:</a:t>
            </a:r>
            <a:r>
              <a:rPr sz="150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Прогноз на структурированных данных</a:t>
            </a:r>
            <a:r>
              <a:rPr sz="1500" b="0" i="0">
                <a:solidFill>
                  <a:srgbClr val="21295C"/>
                </a:solidFill>
                <a:latin typeface="Arial"/>
              </a:rPr>
              <a:t> — раннее предупреждение, воронка активов. </a:t>
            </a:r>
            <a:r>
              <a:rPr sz="1500" b="0" i="1">
                <a:solidFill>
                  <a:srgbClr val="21295C"/>
                </a:solidFill>
                <a:latin typeface="Arial"/>
              </a:rPr>
              <a:t>Держат:</a:t>
            </a:r>
            <a:r>
              <a:rPr sz="150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Поиск и генерация на тексте</a:t>
            </a:r>
            <a:r>
              <a:rPr sz="1500" b="0" i="0">
                <a:solidFill>
                  <a:srgbClr val="21295C"/>
                </a:solidFill>
                <a:latin typeface="Arial"/>
              </a:rPr>
              <a:t> — запись приёма, выписка, дифференциальный диагноз. </a:t>
            </a:r>
            <a:r>
              <a:rPr sz="1500" b="0" i="1">
                <a:solidFill>
                  <a:srgbClr val="21295C"/>
                </a:solidFill>
                <a:latin typeface="Arial"/>
              </a:rPr>
              <a:t>Держат:</a:t>
            </a:r>
            <a:r>
              <a:rPr sz="150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Генерация структуры</a:t>
            </a:r>
            <a:r>
              <a:rPr sz="1500" b="0" i="0">
                <a:solidFill>
                  <a:srgbClr val="21295C"/>
                </a:solidFill>
                <a:latin typeface="Arial"/>
              </a:rPr>
              <a:t> — молекула под заданную мишень, дизайн белка. </a:t>
            </a:r>
            <a:r>
              <a:rPr sz="1500" b="0" i="1">
                <a:solidFill>
                  <a:srgbClr val="21295C"/>
                </a:solidFill>
                <a:latin typeface="Arial"/>
              </a:rPr>
              <a:t>Держат:</a:t>
            </a:r>
            <a:r>
              <a:rPr sz="150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Результат исполнителя без инструмента</a:t>
            </a:r>
            <a:r>
              <a:rPr sz="1500" b="0" i="0">
                <a:solidFill>
                  <a:srgbClr val="21295C"/>
                </a:solidFill>
                <a:latin typeface="Arial"/>
              </a:rPr>
              <a:t> — тот же врач, та же процедура, без помощника: находок меньше. </a:t>
            </a:r>
            <a:r>
              <a:rPr sz="1500" b="0" i="1">
                <a:solidFill>
                  <a:srgbClr val="21295C"/>
                </a:solidFill>
                <a:latin typeface="Arial"/>
              </a:rPr>
              <a:t>Держат:</a:t>
            </a:r>
            <a:r>
              <a:rPr sz="1500" b="0" i="0">
                <a:solidFill>
                  <a:srgbClr val="21295C"/>
                </a:solidFill>
                <a:latin typeface="Arial"/>
              </a:rPr>
              <a:t> </a:t>
            </a:r>
            <a:r>
              <a:rPr sz="150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сгустка те же, добавилась одна клетка, держат их четыре разные процедуры — </a:t>
            </a:r>
            <a:r>
              <a:rPr sz="1500" b="1" i="0">
                <a:solidFill>
                  <a:srgbClr val="21295C"/>
                </a:solidFill>
                <a:latin typeface="Arial"/>
              </a:rPr>
              <a:t>а пятую не держит ничто</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и сказано это той же строкой, которой вечер требовал базу у чужих чисел: </a:t>
            </a:r>
            <a:r>
              <a:rPr sz="1110" b="1" i="0">
                <a:solidFill>
                  <a:srgbClr val="21295C"/>
                </a:solidFill>
                <a:latin typeface="Arial"/>
              </a:rPr>
              <a:t>доли взаимного перекрытия ошибок не измерены</a:t>
            </a:r>
            <a:r>
              <a:rPr sz="1110" b="0" i="0">
                <a:solidFill>
                  <a:srgbClr val="21295C"/>
                </a:solidFill>
                <a:latin typeface="Arial"/>
              </a:rPr>
              <a:t> — измерения есть, их числа сверку по первоисточнику не прошли. Держится опора механизмом: какая сторона сильнее, такой у пары и знак.</a:t>
            </a:r>
          </a:p>
          <a:p>
            <a:pPr algn="l">
              <a:lnSpc>
                <a:spcPct val="126000"/>
              </a:lnSpc>
              <a:spcBef>
                <a:spcPts val="700"/>
              </a:spcBef>
            </a:pPr>
            <a:r>
              <a:rPr sz="1110" b="0" i="0">
                <a:solidFill>
                  <a:srgbClr val="21295C"/>
                </a:solidFill>
                <a:latin typeface="Arial"/>
              </a:rPr>
              <a:t/>
            </a:r>
            <a:r>
              <a:rPr sz="1110" b="0" i="0">
                <a:solidFill>
                  <a:srgbClr val="21295C"/>
                </a:solidFill>
                <a:latin typeface="Arial"/>
              </a:rPr>
              <a:t>Три проверки, которые инженер может приложить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Если он проверяет вывод по самообъяснению модели — это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формулировка не требует, чтобы человек смотрел каждое решение.</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Устройство отозвали за год. Решения этого года остались</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8" name="Rounded Rectangle 7"/>
          <p:cNvSpPr/>
          <p:nvPr/>
        </p:nvSpPr>
        <p:spPr>
          <a:xfrm>
            <a:off x="502920" y="2622673"/>
            <a:ext cx="5437479" cy="2181386"/>
          </a:xfrm>
          <a:prstGeom prst="roundRect">
            <a:avLst>
              <a:gd name="adj" fmla="val 1397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0" name="TextBox 9"/>
          <p:cNvSpPr txBox="1"/>
          <p:nvPr/>
        </p:nvSpPr>
        <p:spPr>
          <a:xfrm>
            <a:off x="667512"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Допуск</a:t>
            </a:r>
          </a:p>
          <a:p>
            <a:pPr algn="l">
              <a:lnSpc>
                <a:spcPct val="126000"/>
              </a:lnSpc>
            </a:pPr>
            <a:r>
              <a:rPr sz="1450" b="0" i="0">
                <a:solidFill>
                  <a:srgbClr val="21295C"/>
                </a:solidFill>
                <a:latin typeface="Arial"/>
              </a:rPr>
              <a:t>• Партию</a:t>
            </a:r>
          </a:p>
        </p:txBody>
      </p:sp>
      <p:sp>
        <p:nvSpPr>
          <p:cNvPr id="11" name="Rounded Rectangle 10"/>
          <p:cNvSpPr/>
          <p:nvPr/>
        </p:nvSpPr>
        <p:spPr>
          <a:xfrm>
            <a:off x="6251295" y="2622673"/>
            <a:ext cx="5437479" cy="2181386"/>
          </a:xfrm>
          <a:prstGeom prst="roundRect">
            <a:avLst>
              <a:gd name="adj" fmla="val 13972"/>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3" name="TextBox 12"/>
          <p:cNvSpPr txBox="1"/>
          <p:nvPr/>
        </p:nvSpPr>
        <p:spPr>
          <a:xfrm>
            <a:off x="6415887" y="3134300"/>
            <a:ext cx="5108295" cy="1514311"/>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Исход исследования подбора дозы</a:t>
            </a:r>
          </a:p>
          <a:p>
            <a:pPr algn="l">
              <a:lnSpc>
                <a:spcPct val="126000"/>
              </a:lnSpc>
            </a:pPr>
            <a:r>
              <a:rPr sz="1450" b="0" i="0">
                <a:solidFill>
                  <a:srgbClr val="21295C"/>
                </a:solidFill>
                <a:latin typeface="Arial"/>
              </a:rPr>
              <a:t>• Уже проведённую процедуру</a:t>
            </a:r>
          </a:p>
        </p:txBody>
      </p:sp>
      <p:sp>
        <p:nvSpPr>
          <p:cNvPr id="14" name="Rounded Rectangle 13"/>
          <p:cNvSpPr/>
          <p:nvPr/>
        </p:nvSpPr>
        <p:spPr>
          <a:xfrm>
            <a:off x="374904" y="4895500"/>
            <a:ext cx="11441887" cy="1340707"/>
          </a:xfrm>
          <a:prstGeom prst="roundRect">
            <a:avLst>
              <a:gd name="adj" fmla="val 22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41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410" b="0" i="0">
                <a:solidFill>
                  <a:srgbClr val="21295C"/>
                </a:solidFill>
                <a:latin typeface="Arial"/>
              </a:rPr>
              <a:t/>
            </a:r>
            <a:r>
              <a:rPr sz="141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410" b="0" i="0">
                <a:solidFill>
                  <a:srgbClr val="21295C"/>
                </a:solidFill>
                <a:latin typeface="Arial"/>
              </a:rPr>
              <a:t/>
            </a:r>
            <a:r>
              <a:rPr sz="141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