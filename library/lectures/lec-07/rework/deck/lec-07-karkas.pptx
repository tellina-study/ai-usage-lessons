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 Id="rId3" Type="http://schemas.openxmlformats.org/officeDocument/2006/relationships/hyperlink" Target="https://www.england.nhs.uk/rightcare/wp-content/uploads/sites/2/2024/11/DID-Annual-Statistical-Release-2023-24.pdf" TargetMode="External"/><Relationship Id="rId4" Type="http://schemas.openxmlformats.org/officeDocument/2006/relationships/hyperlink" Target="https://www.gov.uk/government/news/ai-to-speed-up-cancer-diagnosis-for-millions-of-nhs-patients" TargetMode="External"/><Relationship Id="rId5" Type="http://schemas.openxmlformats.org/officeDocument/2006/relationships/hyperlink" Target="https://doi.org/10.17816/DD641703" TargetMode="Externa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 Id="rId3" Type="http://schemas.openxmlformats.org/officeDocument/2006/relationships/hyperlink" Target="https://www.fda.gov/medical-devices/software-medical-device-samd/artificial-intelligence-and-machine-learning-aiml-enabled-medical-devices" TargetMode="External"/><Relationship Id="rId4" Type="http://schemas.openxmlformats.org/officeDocument/2006/relationships/hyperlink" Target="https://rg.ru/documents/2014/04/23/minzdrav-dok.html" TargetMode="External"/><Relationship Id="rId5" Type="http://schemas.openxmlformats.org/officeDocument/2006/relationships/hyperlink" Target="https://polimertest.ru/gallery/gallery-Prikaz_ot_30_08_21_N_885n_.pdf" TargetMode="External"/><Relationship Id="rId6" Type="http://schemas.openxmlformats.org/officeDocument/2006/relationships/hyperlink" Target="https://pravo.ppt.ru/kodeks/nk/st-333.32.2" TargetMode="External"/><Relationship Id="rId7" Type="http://schemas.openxmlformats.org/officeDocument/2006/relationships/hyperlink" Target="https://www.fda.gov/media/158308/download" TargetMode="External"/><Relationship Id="rId8" Type="http://schemas.openxmlformats.org/officeDocument/2006/relationships/hyperlink" Target="https://www.etnews.com/20260410000195" TargetMode="External"/><Relationship Id="rId9" Type="http://schemas.openxmlformats.org/officeDocument/2006/relationships/hyperlink" Target="https://www.dataeconomy.co.kr/news/articleView.html?idxno=42899" TargetMode="External"/><Relationship Id="rId10" Type="http://schemas.openxmlformats.org/officeDocument/2006/relationships/hyperlink" Target="https://medinform.jmir.org/2026/1/e85538" TargetMode="External"/><Relationship Id="rId11" Type="http://schemas.openxmlformats.org/officeDocument/2006/relationships/hyperlink" Target="https://webiomed.ru/novosti/sistema-webiomed-stala-pervoi-rossiiskoi-razrabotkoi-v-oblasti-iskusstvennogo-intellekta/"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www.ama-assn.org/press-center/ama-press-releases/ama-ai-usage-among-doctors-doubles-confidence-technology-grows" TargetMode="External"/><Relationship Id="rId4" Type="http://schemas.openxmlformats.org/officeDocument/2006/relationships/hyperlink" Target="https://www.doximity.com/reports/state-of-ai-medicine-report/2026" TargetMode="External"/><Relationship Id="rId5" Type="http://schemas.openxmlformats.org/officeDocument/2006/relationships/hyperlink" Target="https://www.ncbi.nlm.nih.gov/pmc/articles/PMC11458846/" TargetMode="External"/><Relationship Id="rId6" Type="http://schemas.openxmlformats.org/officeDocument/2006/relationships/hyperlink" Target="https://www.auntminnieeurope.com/imaging-informatics/artificial-intelligence/article/15828872/rcr-census-ai-underused-for-admin-tasks-that-cut-workload" TargetMode="External"/><Relationship Id="rId7" Type="http://schemas.openxmlformats.org/officeDocument/2006/relationships/hyperlink" Target="https://www.vshouz.ru/news/analitika/wcs-20706/" TargetMode="External"/><Relationship Id="rId8" Type="http://schemas.openxmlformats.org/officeDocument/2006/relationships/hyperlink" Target="https://www.medtechdive.com/news/aidoc-raises-150m-to-advance-clinical-ai-foundation-model/819042/" TargetMode="External"/><Relationship Id="rId9" Type="http://schemas.openxmlformats.org/officeDocument/2006/relationships/hyperlink" Target="https://www.businesswire.com/news/home/20260728323403/en/A-Decade-of-Increasing-Access-to-Life-Saving-Treatments-Viz.ai-Celebrates-10-Years-2000-Hospitals-and-230-Million-Patients" TargetMode="External"/><Relationship Id="rId10" Type="http://schemas.openxmlformats.org/officeDocument/2006/relationships/hyperlink" Target="https://readmymri.com/blog/how-many-medical-imaging-scans-are-done-per-year" TargetMode="External"/><Relationship Id="rId11" Type="http://schemas.openxmlformats.org/officeDocument/2006/relationships/hyperlink" Target="https://www.kff.org/medicare/medicare-advantage-2025-spotlight-a-first-look-at-plan-offerings/" TargetMode="External"/><Relationship Id="rId12" Type="http://schemas.openxmlformats.org/officeDocument/2006/relationships/hyperlink" Target="https://radiologybusiness.com/topics/artificial-intelligence/radiology-dominates-fda-cleared-ai-reimbursement-lags-far-behind" TargetMode="External"/><Relationship Id="rId13" Type="http://schemas.openxmlformats.org/officeDocument/2006/relationships/hyperlink" Target="https://www.dataeconomy.co.kr/news/articleView.html?idxno=42899"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 Id="rId3" Type="http://schemas.openxmlformats.org/officeDocument/2006/relationships/hyperlink" Target="https://github.com/tellina-study/AI-usage-lessons/blob/main/library/lectures/lec-07/rework/research/15-rabota-vladeltsa-iskazheniya.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hyperlink" Target="https://github.com/tellina-study/AI-usage-lessons/blob/main/library/lectures/lec-07/rework/research/16-doverie-patsienta-k-modeli.md"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 Id="rId3" Type="http://schemas.openxmlformats.org/officeDocument/2006/relationships/hyperlink" Target="https://pressroom.cancer.org/2025-lung-cancer-data" TargetMode="External"/><Relationship Id="rId4" Type="http://schemas.openxmlformats.org/officeDocument/2006/relationships/hyperlink" Target="https://digital.nhs.uk/data-and-information/publications/statistical/cervical-screening-annual/england-2023-24" TargetMode="External"/><Relationship Id="rId5" Type="http://schemas.openxmlformats.org/officeDocument/2006/relationships/hyperlink" Target="https://www.rivm.nl/sites/default/files/2026-01/monitor-2024-cervical-cancer-screening.pdf" TargetMode="External"/><Relationship Id="rId6" Type="http://schemas.openxmlformats.org/officeDocument/2006/relationships/hyperlink" Target="https://www.rivm.nl/sites/default/files/2026-01/monitor-2024-colorectal-cancer-screening.pdf" TargetMode="External"/><Relationship Id="rId7" Type="http://schemas.openxmlformats.org/officeDocument/2006/relationships/hyperlink" Target="https://www.aihw.gov.au/reports/cancer-screening/ncsp-monitoring-report-2025/contents/summary" TargetMode="External"/><Relationship Id="rId8" Type="http://schemas.openxmlformats.org/officeDocument/2006/relationships/hyperlink" Target="https://www.uspreventiveservicestaskforce.org/uspstf/recommendation/prostate-cancer-screening" TargetMode="External"/><Relationship Id="rId9" Type="http://schemas.openxmlformats.org/officeDocument/2006/relationships/hyperlink" Target="https://cancercentrum.se/download/18.7ef8e06c1966b5e0eb8c615/1745839347877/swedish-opt-guidelines-2025.pdf" TargetMode="External"/><Relationship Id="rId10" Type="http://schemas.openxmlformats.org/officeDocument/2006/relationships/hyperlink" Target="https://www.cybernet.co.jp/documents/pdf/news/press/2024/240216E.pdf" TargetMode="External"/><Relationship Id="rId11" Type="http://schemas.openxmlformats.org/officeDocument/2006/relationships/hyperlink" Target="https://eurohealthobservatory.who.int/monitors/pace/case-studies/pace/pace-croatia-2025/croatia-implements-nationwide-lung-cancer-screening-programme-to-address-high-burden-of-disease" TargetMode="External"/><Relationship Id="rId12" Type="http://schemas.openxmlformats.org/officeDocument/2006/relationships/hyperlink" Target="https://www.thelancet.com/journals/lanwpc/article/PIIS2666-6065(26" TargetMode="Externa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niercheck.nl/wp-content/uploads/2019/06/Wilson-Jungner-1968.pdf" TargetMode="External"/><Relationship Id="rId4" Type="http://schemas.openxmlformats.org/officeDocument/2006/relationships/hyperlink" Target="https://www.milbank.org/wp-content/uploads/mq/volume-56/issue-04/56-4-The-Emergence-of-the-Concept-of-Screening-for-Disease.pdf" TargetMode="External"/><Relationship Id="rId5" Type="http://schemas.openxmlformats.org/officeDocument/2006/relationships/hyperlink" Target="https://journals.plos.org/plosmedicine/article?id=10.1371%2Fjournal.pmed.1004448" TargetMode="External"/><Relationship Id="rId6" Type="http://schemas.openxmlformats.org/officeDocument/2006/relationships/hyperlink" Target="https://www.medrxiv.org/content/10.1101/2024.07.25.24310967v1.full" TargetMode="External"/><Relationship Id="rId7" Type="http://schemas.openxmlformats.org/officeDocument/2006/relationships/hyperlink" Target="https://bcmj.org/blog/origins-pap-test"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 Id="rId3" Type="http://schemas.openxmlformats.org/officeDocument/2006/relationships/hyperlink" Target="https://doi.org/10.1038/s43018-026-01128-z"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148/radiol.242566" TargetMode="External"/><Relationship Id="rId6" Type="http://schemas.openxmlformats.org/officeDocument/2006/relationships/hyperlink" Target="https://doi.org/10.1038/s41591-024-03408-6" TargetMode="Externa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arxiv.org/pdf/1606.02041"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www.accessdata.fda.gov/cdrh_docs/pdf18/DEN180001.pdf"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pmc.ncbi.nlm.nih.gov/articles/PMC12864748/" TargetMode="External"/><Relationship Id="rId4" Type="http://schemas.openxmlformats.org/officeDocument/2006/relationships/hyperlink" Target="https://www.accessdata.fda.gov/cdrh_docs/pdf21/K213037.pdf"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3390/diagnostics15070822"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3390/diagnostics15070822"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38/s42256-021-00307-0"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arxiv.org/abs/1711.05225"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 Id="rId3" Type="http://schemas.openxmlformats.org/officeDocument/2006/relationships/hyperlink" Target="https://doi.org/10.1056/NEJMc2029240"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7816/DD641703"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7816/DD641703"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3390/jcm14165700"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126/sciadv.abq6147"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126/science.aax2342"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j.acra.2024.03.013" TargetMode="External"/><Relationship Id="rId4" Type="http://schemas.openxmlformats.org/officeDocument/2006/relationships/hyperlink" Target="https://doi.org/10.1016/j.jacr.2024.10.021"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www.ijcai.org/proceedings/2025/1098.pdf"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 Id="rId3" Type="http://schemas.openxmlformats.org/officeDocument/2006/relationships/hyperlink" Target="https://www.ijcai.org/proceedings/2025/1098.pdf" TargetMode="Externa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doi.org/10.1001/jamainternmed.2017.1548"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 Id="rId3" Type="http://schemas.openxmlformats.org/officeDocument/2006/relationships/hyperlink" Target="https://www.medrxiv.org/content/10.1101/2025.07.10.25331333" TargetMode="Externa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01/jamainternmed.2025.0821"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doi.org/10.17816/DD321420" TargetMode="External"/><Relationship Id="rId4" Type="http://schemas.openxmlformats.org/officeDocument/2006/relationships/hyperlink" Target="https://www.mos.ru/news/item/118060073/"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doi.org/10.17816/DD321420" TargetMode="External"/><Relationship Id="rId4" Type="http://schemas.openxmlformats.org/officeDocument/2006/relationships/hyperlink" Target="https://niioz.ru/moskovskaya-meditsina/zhurnal-moskovskaya-meditsina/luchshie-praktiki/funktsiya-raspoznavaniya-rechi-dlya-opisaniya-issledovaniy-v-endoskopicheskikh-tsentrakh/"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 Id="rId3" Type="http://schemas.openxmlformats.org/officeDocument/2006/relationships/hyperlink" Target="https://doi.org/10.1016/j.gie.2014.07.058" TargetMode="Externa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 Id="rId3" Type="http://schemas.openxmlformats.org/officeDocument/2006/relationships/hyperlink" Target="https://doi.org/10.1016/j.gie.2014.07.058" TargetMode="Externa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33878/2073-7556-2025-24-3-12-21"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1016/S2468-1253%2825%2900133-5"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 Id="rId3" Type="http://schemas.openxmlformats.org/officeDocument/2006/relationships/hyperlink" Target="https://www.medrxiv.org/content/10.1101/2025.07.10.25331333" TargetMode="External"/><Relationship Id="rId4" Type="http://schemas.openxmlformats.org/officeDocument/2006/relationships/hyperlink" Target="https://doi.org/10.1038/s43018-026-01128-z" TargetMode="External"/><Relationship Id="rId5" Type="http://schemas.openxmlformats.org/officeDocument/2006/relationships/hyperlink" Target="https://doi.org/10.1007/s00330-025-12273-x" TargetMode="External"/><Relationship Id="rId6" Type="http://schemas.openxmlformats.org/officeDocument/2006/relationships/hyperlink" Target="https://doi.org/10.1001/jamainternmed.2021.2626" TargetMode="External"/><Relationship Id="rId7" Type="http://schemas.openxmlformats.org/officeDocument/2006/relationships/hyperlink" Target="https://doi.org/10.1148/radiol.252590" TargetMode="External"/><Relationship Id="rId8" Type="http://schemas.openxmlformats.org/officeDocument/2006/relationships/hyperlink" Target="https://doi.org/10.1148/radiol.243688" TargetMode="External"/><Relationship Id="rId9" Type="http://schemas.openxmlformats.org/officeDocument/2006/relationships/hyperlink" Target="https://doi.org/10.1038/s41467-023-44676-z" TargetMode="External"/><Relationship Id="rId10" Type="http://schemas.openxmlformats.org/officeDocument/2006/relationships/hyperlink" Target="https://doi.org/10.1016/S1470-2045%2823%2900298-X" TargetMode="External"/><Relationship Id="rId11" Type="http://schemas.openxmlformats.org/officeDocument/2006/relationships/hyperlink" Target="https://doi.org/10.1126/sciadv.abq6147" TargetMode="External"/><Relationship Id="rId12" Type="http://schemas.openxmlformats.org/officeDocument/2006/relationships/hyperlink" Target="https://doi.org/10.1126/science.aax2342" TargetMode="External"/><Relationship Id="rId13" Type="http://schemas.openxmlformats.org/officeDocument/2006/relationships/hyperlink" Target="https://doi.org/10.1016/S2468-1253%2825%2900133-5" TargetMode="External"/><Relationship Id="rId14" Type="http://schemas.openxmlformats.org/officeDocument/2006/relationships/hyperlink" Target="https://pubmed.ncbi.nlm.nih.gov/37314698/" TargetMode="External"/><Relationship Id="rId15" Type="http://schemas.openxmlformats.org/officeDocument/2006/relationships/hyperlink" Target="https://doi.org/10.33878/2073-7556-2025-24-3-12-21" TargetMode="Externa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 Id="rId3" Type="http://schemas.openxmlformats.org/officeDocument/2006/relationships/hyperlink" Target="https://doi.org/10.1001/jamahealthforum.2025.3172" TargetMode="Externa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первое число вечера, и стоит оно здесь не чтобы впечатлить, а чтобы снять вопрос «а это вообще уже происходит». Происходит. В Англии за год, закончившийся в марте 2024 года, выполнено 8 194 405 рентгенограмм грудной клетки — по всем направлениям, не только по онкологическим подозрениям. Обученная модель прочитала из этого потока около 2,8 миллиона снимков. Иначе говоря, примерно каждый третий снимок грудной клетки в стране открывает сначала не человек.</a:t>
            </a:r>
          </a:p>
          <a:p>
            <a:r>
              <a:t/>
            </a:r>
          </a:p>
          <a:p>
            <a:r>
              <a:t>Числитель и знаменатель приходят из разных рук, и это стоит знать прежде, чем произносить долю. 8,19 миллиона — официальная статистика службы здравоохранения, годовой отчёт по диагностической визуализации, таблица с опубликованной методикой счёта. 2,8 миллиона называет разработчик инструмента. Государство своего числителя не даёт вовсе: оно говорит о другом — инструмент работает примерно в половине трастов Англии, и четыре миллиона человек получили быстрее либо диагноз, либо снятие подозрения.</a:t>
            </a:r>
          </a:p>
          <a:p>
            <a:r>
              <a:t/>
            </a:r>
          </a:p>
          <a:p>
            <a:r>
              <a:t>И у самого знаменателя есть вторая официальная версия. Правительственное сообщение о том же самом развёртывании называет «свыше семи миллионов рентгенограмм грудной клетки в год». Расхождение между двумя государственными числами — больше миллиона снимков, и доля от этого ходит между тридцатью четырьмя и сорока из ста. На кадре стоит та пара, у которой знаменатель опубликован таблицей; вторую я называю вслух, потому что зал имеет право знать, что официальных знаменателей два. Подробнее эти две базы разобраны в разговоре об инструментальной диагностике — там же про то, почему доля трастов и доля снимков совпадать не обязаны: траст может быть подключён и присылать малую часть своего потока.</a:t>
            </a:r>
          </a:p>
          <a:p>
            <a:r>
              <a:t/>
            </a:r>
          </a:p>
          <a:p>
            <a:r>
              <a:t>Дальше весь вечер идёт об одном: что в этой картине делает человек. Снимок прочитан, и прочитан не им. Вопрос не в том, точна ли модель — на него в каждом разборе будет своё число со своей базой. Вопрос в том, что происходит с процедурой, которая до сих пор удерживала цену ошибки: с двойным чтением снимка двумя независимыми, со вторым мнением коллеги, с арбитражем на расхождении, с подписью под заключением, с разбором случая после исхода. Ни одно из этих устройств не придумано ради машинного чтения и не придумано против него; все они существуют потому, что один человек ошибается, и процедура знает это заранее.</a:t>
            </a:r>
          </a:p>
          <a:p>
            <a:r>
              <a:t/>
            </a:r>
          </a:p>
          <a:p>
            <a:r>
              <a:t>Одно предупреждение, которое лучше произнести здесь, чем оправдываться к концу. Большое число само по себе не говорит ни о пользе, ни о вреде. Два с лишним миллиона прочитанных снимков — это не «модель спасла два миллиона человек» и не «два миллиона человек остались без врача». Это объём, и только объём. Что именно изменилось у врача, у пациента и у отделения, объём не сообщает — он сообщает, что отвечать на этот вопрос пора.</a:t>
            </a:r>
          </a:p>
          <a:p>
            <a:r>
              <a:t/>
            </a:r>
          </a:p>
          <a:p>
            <a:r>
              <a:t>Россия в той же картине, и её числа стоит назвать рядом. Московские сервисы лучевой диагностики накопленным итогом разобрали больше восемнадцати миллионов исследований, около 1,4 миллиона в месяц, и примерно восемьдесят процентов из них приходят из регионов. Доли от всероссийского потока здесь нет ни у кого: числа снимков в год по стране не публикует никто, а оценка «около четверти» ходит по сообщениям должностных лиц без знаменателя. Оценка от несуществующего знаменателя не оценка, поэтому первой на кадре стоит Англия: у неё в наличии обе половины дроби.</a:t>
            </a:r>
          </a:p>
          <a:p>
            <a:r>
              <a:t/>
            </a:r>
          </a:p>
          <a:p>
            <a:r>
              <a:t>Если зал спросит про Соединённые Штаты — числа этого вида там не публикуют совсем. Публикуют две другие величины: сколько изделий с обученной моделью допущено за всю историю и какая доля врачей говорит, что моделью пользуется. Обе к доле прочитанного потока отношения не имеют, и складывать их с английской долей нельзя.</a:t>
            </a:r>
          </a:p>
          <a:p>
            <a:r>
              <a:t/>
            </a:r>
          </a:p>
          <a:p>
            <a:r>
              <a:t>Что унести с этого кадра: отрасль уже живёт так. Вопрос вечера — не «придёт ли модель», а что теперь делает человек и кто это измерял.</a:t>
            </a:r>
          </a:p>
          <a:p>
            <a:r>
              <a:t/>
            </a:r>
          </a:p>
          <a:p>
            <a:r>
              <a:t>**Источники.** </a:t>
            </a:r>
            <a:r>
              <a:rPr u="sng">
                <a:solidFill>
                  <a:srgbClr val="065A82"/>
                </a:solidFill>
                <a:hlinkClick r:id="rId3"/>
              </a:rPr>
              <a:t>NHS England, Diagnostic Imaging Dataset Annual Statistical Release 2023/24, таблица 6</a:t>
            </a:r>
            <a:r>
              <a:t> · </a:t>
            </a:r>
            <a:r>
              <a:rPr u="sng">
                <a:solidFill>
                  <a:srgbClr val="065A82"/>
                </a:solidFill>
                <a:hlinkClick r:id="rId4"/>
              </a:rPr>
              <a:t>сообщение правительства Великобритании, 10.06.2026</a:t>
            </a:r>
            <a:r>
              <a:t> · </a:t>
            </a:r>
            <a:r>
              <a:rPr u="sng">
                <a:solidFill>
                  <a:srgbClr val="065A82"/>
                </a:solidFill>
                <a:hlinkClick r:id="rId5"/>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Допуск изделия — вопрос, который инженер в медицинском проекте слышит раньше вопроса о точности модели. Пока изделие не допущено, применить его к человеку нельзя при любой точности; после допуска точность до следующего изменения изделия никто не пересматривает.</a:t>
            </a:r>
          </a:p>
          <a:p>
            <a:r>
              <a:t/>
            </a:r>
          </a:p>
          <a:p>
            <a:r>
              <a:t>Начнём с американской стороны, потому что через неё прошло больше изделий с машинным обучением, чем через любую другую. Изделия разделены там на три класса по риску для человека; класс присвоен типу изделия и он же определяет обязательный порядок допуска — путь выбран задолго до того, как разработчик написал первую строку. Короткой дорогой производитель не доказывает безопасность и эффективность с нуля: он доказывает, что его изделие существенно похоже на уже легально продающееся. Сравнивают назначение и технические характеристики, иногда стендовые данные, изредка минимальные клинические; проспективных испытаний этот путь почти никогда не требует, и долгосрочного исхода у человека тоже. Полный цикл требует собственных клинических данных и полного досье производства, у значимых заявок — ещё и публичного заседания внешней панели.</a:t>
            </a:r>
          </a:p>
          <a:p>
            <a:r>
              <a:t/>
            </a:r>
          </a:p>
          <a:p>
            <a:r>
              <a:t>Российский порядок устроен иначе на обоих концах. Классов четыре, и назначаются они по длительности применения и инвазивности, а не по назначению: два изделия одного назначения могут получить разные классы. Токсикологические исследования обязательны при всех классах, включая первый. Клинические испытания бывают в двух формах, и это место стоит прочесть по тексту приказа: испытания с участием человека нужны, когда изделие нового вида, когда применены новые сложные или уникальные методы и когда анализ клинических данных эффективность и безопасность не подтвердил. Дальше дословно: «В остальных случаях клинические испытания медицинских изделий проводятся в форме анализа и оценки клинических данных». Ворота здесь — новизна изделия или метода; класса риска в самом пункте нет вовсе, и наличия зарегистрированного аналога тоже. И последняя ступень, которой у короткого американского пути нет совсем: государственная экспертиза качества, эффективности и безопасности, по заданию надзорной службы, а не по заявлению производителя. Основание регистрации сформулировано через союз «и»: результаты испытаний и экспертиза.</a:t>
            </a:r>
          </a:p>
          <a:p>
            <a:r>
              <a:t/>
            </a:r>
          </a:p>
          <a:p>
            <a:r>
              <a:t>Цена вопроса в деньгах. За рассмотрение по короткому пути в США заявитель платит 26 067 долларов, за полный цикл — 579 272. Российская пошлина за экспертизу привязана к классу: от 72 до 184 тысяч рублей плюс 11 тысяч за выдачу удостоверения. Сумма на кадре, от 0,6 до 3 миллионов, — не пошлина, а полная стоимость регистрации «под ключ»: оценка регистраторов-посредников, в которую пошлина входит лишь частью, остальное — лаборатория, токсикологи и подготовка досье.</a:t>
            </a:r>
          </a:p>
          <a:p>
            <a:r>
              <a:t/>
            </a:r>
          </a:p>
          <a:p>
            <a:r>
              <a:t>Теперь счёт изделий, и числа сняты с таблицы регулятора прямым чтением страницы, а не из отраслевой сводки: сводки по этому предмету расходятся между собой на сотни изделий. В списке на 17 октября 2026 года — 1 614 изделий с обученной моделью, и все доли дальше считаны от этого числа. Короткой дорогой прошли 1 553 — 96,2%. Новый класс без предшественника получили 40. Полный цикл с собственными клиническими испытаниями прошли 21 изделие — 1,3%, при том что по всем медизделиям за историю системы доля полного цикла около 1,87%: у изделий с моделью она даже ниже средней. Практический смысл этой дроби такой: типовая модель попадает в клинику, доказав похожесть на уже допущенное изделие, а исход у пациентов при этом никто не измерял. Структура по специальностям объясняет, что такое «ИИ в медицине» на самом деле: радиология — 1 230 изделий, 76,2%; кардиология — 154; неврология — 73; у остальных от 9 до 30 каждая. Психиатрии в списке нет ни одного изделия за всю историю.</a:t>
            </a:r>
          </a:p>
          <a:p>
            <a:r>
              <a:t/>
            </a:r>
          </a:p>
          <a:p>
            <a:r>
              <a:t>И про динамику, где легко перепутать два счёта. Весь массив растёт быстро: 6 изделий в 2014 году, 335 в 2025-м, то есть каждое десятое новое медизделие в США в 2025 году — с обученной моделью, против двух на тысячу в 2015-м. Но если убрать короткий путь и оставить только изделия, допущенные без ссылки на предшественник, линия другая: 7 накопленным счётом к 2010 году и 56 к концу 2025-го. Плюс 49 за шестнадцать лет, в среднем 3,1 в год, и по годам эта линия не растёт: 7 · 2 · 7 · 10 · 6. Рядом противофакт, без которого рост массива читается неверно: весь поток новых решений о допуске медизделий в США за десять лет вырос в 1,07 раза, то есть остался на месте — около 3 063 решений в 2015 году и 3 265 в 2025-м. Изделия с моделью не замещали собой что-то другое, они прибавлялись сверху.</a:t>
            </a:r>
          </a:p>
          <a:p>
            <a:r>
              <a:t/>
            </a:r>
          </a:p>
          <a:p>
            <a:r>
              <a:t>Если спросят про сравнение стран — оно существует, и я назову его голосом, потому что честно поставить его на кадр нельзя: каждая страна считает «по-настоящему новое изделие» по собственному признаку. Корея — 88 из 549 по добровольному инновационному статусу, 1,70 на миллион жителей; по другому корейскому признаку, прошло ли изделие возмещение по страховке, остаётся 49 из 549 и показатель падает до 0,95. Китай — 118 из 154, 0,08 на миллион. Япония — около 14 из 51, и это пересчёт общей доли, а не прямой счёт. США — 61 из 1 614, то есть 0,18. Россия: разбивки «сколько прошли испытания с участием человека» надзорная служба не публикует, поэтому в числителе стоят все 57 зарегистрированных изделий и выходит 0,39 — строка считана по всему реестру, а не по новизне, и сравнима с остальными только условно. Достоверно известно про первые два российских изделия 2020 года: аналогов в реестре у них не было, и оба прошли полноценные клинические испытания с участием пациентов.</a:t>
            </a:r>
          </a:p>
          <a:p>
            <a:r>
              <a:t/>
            </a:r>
          </a:p>
          <a:p>
            <a:r>
              <a:t>**Источники.** </a:t>
            </a:r>
            <a:r>
              <a:rPr u="sng">
                <a:solidFill>
                  <a:srgbClr val="065A82"/>
                </a:solidFill>
                <a:hlinkClick r:id="rId3"/>
              </a:rPr>
              <a:t>FDA, AI/ML-Enabled Medical Devices</a:t>
            </a:r>
            <a:r>
              <a:t> · </a:t>
            </a:r>
            <a:r>
              <a:rPr u="sng">
                <a:solidFill>
                  <a:srgbClr val="065A82"/>
                </a:solidFill>
                <a:hlinkClick r:id="rId4"/>
              </a:rPr>
              <a:t>приказ Минздрава № 2н, публикация «Российской газеты»</a:t>
            </a:r>
            <a:r>
              <a:t> · </a:t>
            </a:r>
            <a:r>
              <a:rPr u="sng">
                <a:solidFill>
                  <a:srgbClr val="065A82"/>
                </a:solidFill>
                <a:hlinkClick r:id="rId5"/>
              </a:rPr>
              <a:t>приказ № 885н, документ Минюста</a:t>
            </a:r>
            <a:r>
              <a:t> · </a:t>
            </a:r>
            <a:r>
              <a:rPr u="sng">
                <a:solidFill>
                  <a:srgbClr val="065A82"/>
                </a:solidFill>
                <a:hlinkClick r:id="rId6"/>
              </a:rPr>
              <a:t>НК РФ ст. 333.32.2</a:t>
            </a:r>
            <a:r>
              <a:t> · </a:t>
            </a:r>
            <a:r>
              <a:rPr u="sng">
                <a:solidFill>
                  <a:srgbClr val="065A82"/>
                </a:solidFill>
                <a:hlinkClick r:id="rId7"/>
              </a:rPr>
              <a:t>FDA, MDUFA Performance Goals</a:t>
            </a:r>
            <a:r>
              <a:t> · </a:t>
            </a:r>
            <a:r>
              <a:rPr u="sng">
                <a:solidFill>
                  <a:srgbClr val="065A82"/>
                </a:solidFill>
                <a:hlinkClick r:id="rId8"/>
              </a:rPr>
              <a:t>Корея, счёт 549</a:t>
            </a:r>
            <a:r>
              <a:t> · </a:t>
            </a:r>
            <a:r>
              <a:rPr u="sng">
                <a:solidFill>
                  <a:srgbClr val="065A82"/>
                </a:solidFill>
                <a:hlinkClick r:id="rId9"/>
              </a:rPr>
              <a:t>Корея, возмещение 49 из 549</a:t>
            </a:r>
            <a:r>
              <a:t> · </a:t>
            </a:r>
            <a:r>
              <a:rPr u="sng">
                <a:solidFill>
                  <a:srgbClr val="065A82"/>
                </a:solidFill>
                <a:hlinkClick r:id="rId10"/>
              </a:rPr>
              <a:t>Китай, пути клинической оценки</a:t>
            </a:r>
            <a:r>
              <a:t> · </a:t>
            </a:r>
            <a:r>
              <a:rPr u="sng">
                <a:solidFill>
                  <a:srgbClr val="065A82"/>
                </a:solidFill>
                <a:hlinkClick r:id="rId11"/>
              </a:rPr>
              <a:t>Webiomed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этого места речь шла о том, сколько изделий допущено. Допуск — ещё не применение, и счётчики тут разные: допущено, установлено, используется, обработано случаев за год. Каждое число дальше подписано, какой это счётчик, потому что их постоянно складывают между собой, и получается величина, которой никто не измерял.</a:t>
            </a:r>
          </a:p>
          <a:p>
            <a:r>
              <a:t/>
            </a:r>
          </a:p>
          <a:p>
            <a:r>
              <a:t>Сколько врачей пользуется. По США есть ряд, снятый одной методикой: 38 процентов в опросе 2023 года, 66 процентов в опросе ноября 2024-го. Знаменатель — практикующие врачи США, и он сам не сходится к одному числу: перепись лицензий даёт 1 082 тысячи, ассоциация медицинских колледжей — 1 032 тысячи, независимая оценка 2025 года — около 1,11 миллиона. Берём 1,1 миллиона как рабочее среднее; расхождение в восемь процентов порядок величины не меняет. В абсолюте это рост примерно с 410 до 720 тысяч врачей за год. Рядом стоит второй, более строгий счёт — опрос профессиональной сети Doximity, зима 2025–2026: 63 процента по той же базе. Разрыв между счётами не ошибка: один считает любое профессиональное обращение к ИИ, включая разовое, другой — регулярную работу в клиническом процессе. Оба числа честные.</a:t>
            </a:r>
          </a:p>
          <a:p>
            <a:r>
              <a:t/>
            </a:r>
          </a:p>
          <a:p>
            <a:r>
              <a:t>По Европе прямого общеврачебного опроса нет, есть два косвенных замера. Европейское общество радиологии, опрос 2024 года: 47,9 процента респондентов применяют ИИ в практике, и здесь важен знаменатель — ответили 572 человека из 28 тысяч приглашённых, то есть это самоотбор, а не случайная выборка. Британская перепись рентгенологических отделений 2025 года: ИИ хотя бы в одном применении есть в 75 процентах отделений, но счётчик здесь отделение, а не врач. Там же любопытный разворот: снижение нагрузки от ИИ-черновика отчёта отмечают 24 процента отделений, рост нагрузки — 37 процентов, и ещё 56 процентов изменений не видят.</a:t>
            </a:r>
          </a:p>
          <a:p>
            <a:r>
              <a:t/>
            </a:r>
          </a:p>
          <a:p>
            <a:r>
              <a:t>По России единого ежегодного опроса одной методикой нет вовсе, и это свойство самих данных. Есть разовые: больше половины врачей хотя бы раз работали с нейросетями, регулярно применяют 15–25 процентов. Знаменатель — 771,7 тысячи врачей в 2025 году, причём ряд по годам не монотонный; Минздрав отдельно называет 614 тысяч врачей в государственных организациях, то есть более узкую корзину. На диапазоне доли это 115–190 тысяч человек, и это оценка по доле, не прямой замер абсолюта.</a:t>
            </a:r>
          </a:p>
          <a:p>
            <a:r>
              <a:t/>
            </a:r>
          </a:p>
          <a:p>
            <a:r>
              <a:t>Сколько случаев проходит через модель. Эти развёртывания — разные категории работы, и это важно сказать до чисел. Aidoc — 60 миллионов случаев диагностического триажа в год, Qure.ai — 7 миллионов обследований на туберкулёз за один финансовый год, Annalise в британской системе — 2,8 миллиона рентгенограмм в год на сорока с лишним трастах, московская платформа — 16 миллионов исследований по отчёту 2026 года (более ранний отчёт того же года — 9–10 миллионов, методика не раскрыта ни там, ни там). Эти четыре — одна категория, диагностическая визуализация, и только их можно честно сложить: 60 плюс 7 плюс 2,8 плюс 16 — 85,8, то есть 79–86 миллионов исследований в год с учётом вилки московской платформы. Дальше — две категории другого типа работы, и в эту сумму они не входят: цифровой помощник врача от СберМедИИ — 30 миллионов сводок о состоянии, это документация, не диагноз; решения об оплате в Medicare Advantage — 53 миллиона, это административное решение. Сложить все шесть в одно число значило бы то, от чего предупреждает глава скрининга этой лекции: одна и та же фраза «проходит через модель» здесь означает разные процедуры без общей единицы. Viz.ai в диагностическую сумму не включён по другой причине: он стоит в тех же американских больницах, что и Aidoc, и сложение задвоило бы часть одних и тех же снимков. Собственное число Viz.ai назову отдельно: две тысячи больниц и 230 миллионов человек в зоне покрытия — это охват территории обслуживания, не случаи за год.</a:t>
            </a:r>
          </a:p>
          <a:p>
            <a:r>
              <a:t/>
            </a:r>
          </a:p>
          <a:p>
            <a:r>
              <a:t>Доля от общего потока. Мировой объём диагностической визуализации — 3,6–4,2 миллиарда процедур в год: рентген больше 2,5 миллиарда, ультразвук больше 500 миллионов, компьютерная томография около 375 миллионов, магнитно-резонансная — 100–150 миллионов. Против него диагностическая подсумма — 79–86 миллионов — это 1,9–2,4 процента мирового потока. Это пол счёта: в нём нет Китая, где больше 1 200 больниц высшего уровня применяют ИИ-диагностику, но объём потока через них не раскрыт; нет большей части автоматической записи приёмов — в этой категории около шестидесяти компаний и ни одного отраслевого итога; нет Кореи и Японии.</a:t>
            </a:r>
          </a:p>
          <a:p>
            <a:r>
              <a:t/>
            </a:r>
          </a:p>
          <a:p>
            <a:r>
              <a:t>И категория, которая затрагивает больше людей разом, чем любая диагностическая платформа: административная. 53 миллиона решений о предварительной авторизации оплаты за 2024 год при 34,1 миллиона застрахованных в Medicare Advantage — это 1,55 решения на человека в год. Не все они прошли алгоритмическую проверку в равной мере, но порядок величины понятен: ИИ в медицине не сводится к диагнозу.</a:t>
            </a:r>
          </a:p>
          <a:p>
            <a:r>
              <a:t/>
            </a:r>
          </a:p>
          <a:p>
            <a:r>
              <a:t>Последние два числа — про разрыв между допуском и оплатой, и он везде измеряется порядком величины, а не процентами. США: 1 614 одобренных алгоритмов, код оплаты хоть какой-то есть у 26, постоянный с гарантированной оплатой — у трёх. Корея: 549 допущенных, возмещение получили 49, то есть 500 изделий допущены и остались вне страховки. Германия: постоянно или предварительно оплачиваются 56–59 цифровых приложений, но знаменателя поданных заявок в открытых источниках нет. Франция: три устройства телемониторинга получили возмещение, и все мобильные приложения отклонены — для целого класса это ноль. Германскую и французскую строки я называю без доли намеренно: знаменателя у них не опубликовано, и доля от неизвестного знаменателя ничего не измеряет.</a:t>
            </a:r>
          </a:p>
          <a:p>
            <a:r>
              <a:t/>
            </a:r>
          </a:p>
          <a:p>
            <a:r>
              <a:t>**Источники.** </a:t>
            </a:r>
            <a:r>
              <a:rPr u="sng">
                <a:solidFill>
                  <a:srgbClr val="065A82"/>
                </a:solidFill>
                <a:hlinkClick r:id="rId3"/>
              </a:rPr>
              <a:t>AMA, использование ИИ врачами США</a:t>
            </a:r>
            <a:r>
              <a:t> · </a:t>
            </a:r>
            <a:r>
              <a:rPr u="sng">
                <a:solidFill>
                  <a:srgbClr val="065A82"/>
                </a:solidFill>
                <a:hlinkClick r:id="rId4"/>
              </a:rPr>
              <a:t>Doximity, State of AI in Medicine 2026</a:t>
            </a:r>
            <a:r>
              <a:t> · </a:t>
            </a:r>
            <a:r>
              <a:rPr u="sng">
                <a:solidFill>
                  <a:srgbClr val="065A82"/>
                </a:solidFill>
                <a:hlinkClick r:id="rId5"/>
              </a:rPr>
              <a:t>Европейское общество радиологии, опрос 2024</a:t>
            </a:r>
            <a:r>
              <a:t> · </a:t>
            </a:r>
            <a:r>
              <a:rPr u="sng">
                <a:solidFill>
                  <a:srgbClr val="065A82"/>
                </a:solidFill>
                <a:hlinkClick r:id="rId6"/>
              </a:rPr>
              <a:t>Британская перепись отделений, 2025</a:t>
            </a:r>
            <a:r>
              <a:t> · </a:t>
            </a:r>
            <a:r>
              <a:rPr u="sng">
                <a:solidFill>
                  <a:srgbClr val="065A82"/>
                </a:solidFill>
                <a:hlinkClick r:id="rId7"/>
              </a:rPr>
              <a:t>Россия, обзор опросов врачей</a:t>
            </a:r>
            <a:r>
              <a:t> · </a:t>
            </a:r>
            <a:r>
              <a:rPr u="sng">
                <a:solidFill>
                  <a:srgbClr val="065A82"/>
                </a:solidFill>
                <a:hlinkClick r:id="rId8"/>
              </a:rPr>
              <a:t>Aidoc, 60 миллионов случаев в год</a:t>
            </a:r>
            <a:r>
              <a:t> · </a:t>
            </a:r>
            <a:r>
              <a:rPr u="sng">
                <a:solidFill>
                  <a:srgbClr val="065A82"/>
                </a:solidFill>
                <a:hlinkClick r:id="rId9"/>
              </a:rPr>
              <a:t>Viz.ai, две тысячи больниц и 230 миллионов человек</a:t>
            </a:r>
            <a:r>
              <a:t> · </a:t>
            </a:r>
            <a:r>
              <a:rPr u="sng">
                <a:solidFill>
                  <a:srgbClr val="065A82"/>
                </a:solidFill>
                <a:hlinkClick r:id="rId10"/>
              </a:rPr>
              <a:t>Мировой поток визуализации</a:t>
            </a:r>
            <a:r>
              <a:t> · </a:t>
            </a:r>
            <a:r>
              <a:rPr u="sng">
                <a:solidFill>
                  <a:srgbClr val="065A82"/>
                </a:solidFill>
                <a:hlinkClick r:id="rId11"/>
              </a:rPr>
              <a:t>Medicare Advantage, застрахованные</a:t>
            </a:r>
            <a:r>
              <a:t> · </a:t>
            </a:r>
            <a:r>
              <a:rPr u="sng">
                <a:solidFill>
                  <a:srgbClr val="065A82"/>
                </a:solidFill>
                <a:hlinkClick r:id="rId12"/>
              </a:rPr>
              <a:t>Оплата изделий с ИИ в США</a:t>
            </a:r>
            <a:r>
              <a:t> · </a:t>
            </a:r>
            <a:r>
              <a:rPr u="sng">
                <a:solidFill>
                  <a:srgbClr val="065A82"/>
                </a:solidFill>
                <a:hlinkClick r:id="rId13"/>
              </a:rPr>
              <a:t>Корея, возмещение 49 из 549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стоит сказать, глядя на два снимка: модель встаёт не рядом с приёмом, а внутри него — между врачом и решением, — и пациент об этом знает или не знает, и от этого его поведение тоже меняется. Поэтому сторон две, и мерили их разными способами: у врача — поведение на задаче, у пациента — согласие с решением. Складывать эти два замера между собой нельзя.</a:t>
            </a:r>
          </a:p>
          <a:p>
            <a:r>
              <a:t/>
            </a:r>
          </a:p>
          <a:p>
            <a:r>
              <a:t>Этот кадр выдаёт словарь, которым дальше размечен весь вечер. Имён шесть, чисел под ними сейчас нет намеренно: каждое число будет предъявлено там, где механизм встречается впервые, со своей выборкой и своей базой, а в сводах разделов отсчитано — какие из шести раздел встретил. Назвать имена заранее нужно затем, чтобы к моменту встречи механизм был узнан, а не объяснён с нуля посреди разбора.</a:t>
            </a:r>
          </a:p>
          <a:p>
            <a:r>
              <a:t/>
            </a:r>
          </a:p>
          <a:p>
            <a:r>
              <a:t>Рамка этих механизмов не наша. Три из них предложены работой об искажениях при взаимодействии человека и модели, проверены в трёх разных областях на двух с лишним тысячах человек совокупно, и медицинские замеры всей лекции ложатся на два из трёх как частный случай. Произносить это стоит прямо: медицина здесь не особая, и возражение «у врачей так, потому что медицина» снимается не одним медицинским замером, а тем, что те же механизмы измерены вне медицины.</a:t>
            </a:r>
          </a:p>
          <a:p>
            <a:r>
              <a:t/>
            </a:r>
          </a:p>
          <a:p>
            <a:r>
              <a:t>Головная из трёх — усиление предубеждения, и она единственная с контрольной ветвью. Люди размечали выражения лиц, их ответы отдали свёрточной сети, та усилила исходное смещение, и рядом с ней работала новая группа людей: доля смещённых ответов у неё выросла с 49,9 до 56,3 из ста. В контрольной ветви вместо модели были другие люди — там доля не изменилась: 50,6 против 51,5, различия нет. Усиливает не согласие с чужим мнением вообще, усиливает именно модель. И усиление растёт по ходу работы: в первом блоке 50,7 из ста, в последнем 61,4. Вторая — якорение: 775 менеджеров оценивали работу сотрудников после подсказки, и оценки стягивались к ней. Величину та работа не печатает, и подставлять похожее число из другого опыта нельзя. Зато она называет приём, который якорение снимает: потребовать рассмотреть противоположное. Это не то же, что предупредить: предупреждение — сообщение, которое принимают к сведению и продолжают делать как делали, а рассмотрение противоположного — действие, которое обязаны выполнить. Третья — наследование: 666 участников проходили тест критического мышления без доступа к модели, и связь частоты пользования с результатом оказалась отрицательной и значимой.</a:t>
            </a:r>
          </a:p>
          <a:p>
            <a:r>
              <a:t/>
            </a:r>
          </a:p>
          <a:p>
            <a:r>
              <a:t>Почему этого не видно изнутри — вопрос, который зал задаёт сам. В той же первой работе участников спросили, насколько на них повлиял каждый алгоритм, и смещающий они назвали менее влиятельным, чем точный, то есть ровно наоборот. А без всякой модели человек своё смещение правит сам: по ходу опыта доля смещённых ответов падала с 56,7 до 51,9. Способность к самокоррекции у него есть; рядом с моделью она не работает. И честная половина того же замера: точный алгоритм точность участников поднимал. Кадр не говорит, что модель вредна, — он говорит, куда смотреть.</a:t>
            </a:r>
          </a:p>
          <a:p>
            <a:r>
              <a:t/>
            </a:r>
          </a:p>
          <a:p>
            <a:r>
              <a:t>Теперь вторая сторона, пациент, и эти замеры я назову голосом, потому что отдельного разбора у них в этот вечер не будет. У врача меряли поведение на задаче: читает, заключает, находит или пропускает. У пациента меряют согласие — чем он отвечает на сам факт, что в его случае участвовала модель. И первое: согласие это не одно число. Раскрытие — 1 762 взрослых, представительных для населения Соединённых Штатов: когда пациенту говорят, что врач пользуется моделью, доверие к врачу падает с 0,63 до 0,30 по приведённой шкале, и прямой отказ врача от модели приносит ему 13 пунктов сверх того, что он имеет, когда об этом не сказано вовсе. Одиночество — 518 женщин, пришедших на снимок молочной железы: модель единственным читателем согласились принять 23 человека, вторым читателем — 368 из тех же 518, разница в шестнадцать раз. Пациент против не модели, а её одиночества. Асимметрия — 359 участниц, оба вопроса: тревогу подняла модель, пусть посмотрит врач — 319 да; вызвал врач, пусть посмотрит модель — 184. Перепроверка просится вверх и почти не просится вниз. Цена — 248 взрослых с диабетом первого типа: снятие доплаты в пятьдесят долларов подняло выбор осмотра моделью с 43 до 81 из ста, и при этом перепроверку у специалиста выбравшие хотели сильнее прежнего. Цена согласие покупает, доверия не покупает. Безымянность — 45 человек с онкологическим диагнозом оценивали перемешанные и неподписанные ответы: сочувствие в машинном они оценили в 4,11 из пяти, во врачебном — в 2,01. Складывать эти пять между собой нельзя: выборки и вопросы разные.</a:t>
            </a:r>
          </a:p>
          <a:p>
            <a:r>
              <a:t/>
            </a:r>
          </a:p>
          <a:p>
            <a:r>
              <a:t>И общая граница всего блока, которую лучше назвать на входе, чем оправдываться на выходе: ни один из этих замеров не доходит до исхода пациента. Меряли работу врача и меряли согласие пациента; что стало со здоровьем человека, не мерил никто из тех, на кого мы ссылаемся. Отдельно: влияние на врача измеряли почти всегда в лаборатории, где доля нарочно испорченных подсказок выше, чем в жизни, а влияние на пациента — опросом про воображаемую ситуацию. Направление оба способа показывают верно, величину завышают.</a:t>
            </a:r>
          </a:p>
          <a:p>
            <a:r>
              <a:t/>
            </a:r>
          </a:p>
          <a:p>
            <a:r>
              <a:t>**У кого в работе рядом встал инструмент, который меняет не результат, а то, как вы к нему приходите?**</a:t>
            </a:r>
          </a:p>
          <a:p>
            <a:r>
              <a:t/>
            </a:r>
          </a:p>
          <a:p>
            <a:r>
              <a:t>**Источники.** Полная запись — </a:t>
            </a:r>
            <a:r>
              <a:rPr u="sng">
                <a:solidFill>
                  <a:srgbClr val="065A82"/>
                </a:solidFill>
                <a:hlinkClick r:id="rId3"/>
              </a:rPr>
              <a:t>разбор работы об искажениях при взаимодействии человек — модель</a:t>
            </a:r>
            <a:r>
              <a:t> (рамка трёх механизмов и все 18 источников) · </a:t>
            </a:r>
            <a:r>
              <a:rPr u="sng">
                <a:solidFill>
                  <a:srgbClr val="065A82"/>
                </a:solidFill>
                <a:hlinkClick r:id="rId4"/>
              </a:rPr>
              <a:t>свод медицинских замеров</a:t>
            </a:r>
            <a:r>
              <a:t> · </a:t>
            </a:r>
            <a:r>
              <a:rPr u="sng">
                <a:solidFill>
                  <a:srgbClr val="065A82"/>
                </a:solidFill>
                <a:hlinkClick r:id="rId5"/>
              </a:rPr>
              <a:t>свод доверия пациента к модели</a:t>
            </a:r>
            <a:r>
              <a:t> — там же названы две пары, которые намеренно не собраны, и перечислено то, чего не нашлось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Коротко о том, откуда вообще берутся данные о человеке, потому что способов шесть и дают они разное.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человека снимают в одном месте, а изображение читает специалист в другом; на этом держится лучевая диагностика там, где своего рентгенолога нет. Разбор уже имеющихся документов карты нового измерения не добавляет вовсе — он извлекает из записанного и сам становится источником решений. И шестой способ, за двадцать лет ставший массовым: измерения, которые пациент снимает сам, — монитор глюкозы, домашний тонометр, дневник симптомов. Этими же шестью способами данные получают и там, где рядом работает модель: способ получить она не меняет, меняется то, кто и как по полученному решает.</a:t>
            </a:r>
          </a:p>
          <a:p>
            <a:r>
              <a:t/>
            </a:r>
          </a:p>
          <a:p>
            <a:r>
              <a:t>Теперь классические режимы, и называть их надо по именам: сравнивать модель придётся именно с ними, а модель, сравнённая с пустым местом, выигрывает всегда, и выигрыш этот ничего не значит.</a:t>
            </a:r>
          </a:p>
          <a:p>
            <a:r>
              <a:t/>
            </a:r>
          </a:p>
          <a:p>
            <a:r>
              <a:t>На отборе работает двойное чтение. Снимок читают двое, и слово «независимо» здесь несущее: второй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разрешает арбитраж — третий читатель, подключаемый только на расхождении и не писавший ни одного из двух заключений. На диагностике работает пара долей: из всех, у кого болезнь есть, какую долю система назвала больными, и из всех, у кого её нет, какую долю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их приводят для одного порога, и порог выбирает протокол под цену исхода. На постановке диагноза работает дифференциальный диагноз: выписать болезни, способные объяснить наблюдаемое, и назначить проверку, которая их между собой различит; порядок проверок — отдельное решение, потому что часть из них сама опасна или дорога. Рядом стоят второе мнение, консилиум и клинические рекомендации. На наблюдении работает шкала раннего предупреждения: каждая измеренная величина получает баллы за отклонение от нормы, баллы складываются, сумма сравнивается с порогом, порог назначает действие. Два её свойства стоит назвать вслух: баллы передаются между сменами, а суждение «мне кажется, он сдал» не передаётся; и веса в таблице назначены людьми и опубликованы. На документации работает структура записи — жалобы, анамнез, осмотр, диагноз, план, — вычитка и подпись. И поверх всего стоит надзор: разбор случая после исхода и изменение порядка работы по его итогам.</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a:p>
            <a:r>
              <a:t/>
            </a:r>
          </a:p>
          <a:p>
            <a:r>
              <a:t>Лестница на кадре — признак, по которому разложены все разборы вечера: кто смотрит первым. Смотрит первым — человек читает данные сам, модель подключается после него или не подключается вовсе; это и есть классический режим, с которым модель сравнивают. Смотрит вторым — первый проход сделан моделью, человек читает её результат и подтверждает либо отклоняет. Смотрит только спорное — человек подключается там, где модель и второй источник не сошлись; остального потока он не видит. Подписывает не глядя — формально требование выполнено, подпись стоит, фактически участия нет. Шкала не ранжирует ступени по качеству: на каждой есть и выигрыш, и своя слепота. Но разница между первой ступенью и четвёртой больше, чем между двумя моделями: спор о том, чья модель точнее, идёт внутри одной ячейки, а переход со «смотрит первым» на «подписывает не глядя» меняет саму процедуру.</a:t>
            </a:r>
          </a:p>
          <a:p>
            <a:r>
              <a:t/>
            </a:r>
          </a:p>
          <a:p>
            <a:r>
              <a:t>Почему подписывает человек, а не модель — три причины, и точности среди них нет: измерено, что часто он не точнее, и опора, стоящая на его точности, рассыпалась бы на первом же разборе. Право подписи выдано ему: ни в одной из рассмотренных стран модель права подписи не имеет, а при разборе случая оценивают действия человека. Ошибается он иначе: выигрыш паре даёт несовпадение ошибок, а не превосходство одной из сторон. Отменить принятое решение нельзя: изделие отзывают, и отзывают по-настоящему, а решения, принятые по нему до отзыва, остаются.</a:t>
            </a:r>
          </a:p>
          <a:p>
            <a:r>
              <a:t/>
            </a:r>
          </a:p>
          <a:p>
            <a:r>
              <a:t>И три проверки, которые годятся не только в медицине; к ним вечер вернётся в конце. Первая: если вывод проверяют по самообъяснению модели — это не проверка, объяснение построено той же системой и согласовано с выводом по устройству. Вторая: нужны две доли сразу — доля отклонённых подсказок и доля верных отклонений; без второй первая не подтверждает ничего, отклонять можно всё подряд. Третья: успевает ли человек физически — секунды на решение против объёма потока; у этого вопроса бывает ответ «нет», и дальше он будет назван числом. Контур, не прошедший эти три, и есть четвёртая ступень: подпись стоит, участия за ней нет.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ниже по силе свидетельства.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четыре разбора одной работы с четырёх разных сторон, и один из них — провал: чат-бот первой линии, единственный случай лекции, где проверка «уберите модель» ответила «сервис продолжит работать». Каждый из трёх занимает больше одного кадра: у первого отдельно считается цена арбитража, у второго — устройство, у третьего и то и другое.</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Четыре разбора показывают одну работу с четырёх сторон. Шведская программа встала внутри уже действующего канала по списку приглашений и решала не «направить или нет», а «кому достанется второе человеческое чтение»; разбирается она через то, что измерило рандомизированное испытание, и через то, что оно не измеряло вовсе — устройство самого арбитража и асимметрию доверия находке, отдельным следующим кадром.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на приёме — случай, где выигрыш измерен не точностью чтения, а явкой: 22 из ста против ста из ста. Числа и базы — на самих кадрах.</a:t>
            </a:r>
          </a:p>
          <a:p>
            <a:r>
              <a:t/>
            </a:r>
          </a:p>
          <a:p>
            <a:r>
              <a:t>Общее между тремя разборами — не тема и не отрасль, а то, что все три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программы, которые до этого места в лекции не звучали: лёгкое, шейка матки, колоректальный рак и простата. У каждой свой ответ на вопрос, кого вообще позовут, и свой ответ на вопрос, участвует ли в отборе обученная модель. Диаграмма разложена по странам, а не по программам, нарочно: вопрос, с которым инженер приходит в такой проект, звучит «как устроено здесь», а не «где в мире выше процент».</a:t>
            </a:r>
          </a:p>
          <a:p>
            <a:r>
              <a:t/>
            </a:r>
          </a:p>
          <a:p>
            <a:r>
              <a:t>Доли считаются от разных оснований — приглашённых, явившихся или всей целевой группы по регистру, — и знаменатель стоит подписью у конца каждого столбца, рядом с числом. Сложить их в один рейтинг нельзя, и диаграмма этого не предлагает: внутри страны столбцы стоят в одном и том же порядке программ, поэтому глаз сравнивает страну со страной по одной и той же полосе.</a:t>
            </a:r>
          </a:p>
          <a:p>
            <a:r>
              <a:t/>
            </a:r>
          </a:p>
          <a:p>
            <a:r>
              <a:t>Скрининг лёгкого — ежегодный низкодозный КТ людям из группы риска по курению. В США соответствуют критериям 12,8 миллиона человек, а проходят скрининг 18,7 процента из них — рост с 4,5 процента в 2022 году, почти вчетверо за два года, при всё ещё низком абсолютном охвате. В Нидерландах национальной программы нет вовсе — и это при том, что именно нидерландско-бельгийское испытание NELSON больше десяти лет назад доказало снижение смертности от такого скрининга. Доказанная эффективность метода и построенная программа — две разные вещи, и разрыв между ними здесь превышает десятилетие. Зато в Польше и Хорватии модель встроена прямо в архитектуру национальной программы с самого начала, а не надстроена поверх неё поставщиком: Хорватия с 2020 года — первая страна Евросоюза с полностью интегрированным скринингом лёгкого. Знаменателя целевой группы источники для обеих стран не называют, поэтому на диаграмме охвата их нет: факт внедрения модели есть, числа охвата, которое можно с чем-нибудь сравнить, нет.</a:t>
            </a:r>
          </a:p>
          <a:p>
            <a:r>
              <a:t/>
            </a:r>
          </a:p>
          <a:p>
            <a:r>
              <a:t>Шейка матки даёт зеркальную картину. Охват здесь отлажен десятилетиями и везде выше: Швеция 83–85 процентов, Великобритания 68,8 из 16,5 миллиона, Австралия 74,2 и снижается, Нидерланды 54,4. Модель при этом нигде не встроена в саму программу — только в отдельные коммерческие лабораторные системы (Hologic в США, Techcyte в Австрии) и в необязательную рекомендацию профессиональной ассоциации в Великобритании.</a:t>
            </a:r>
          </a:p>
          <a:p>
            <a:r>
              <a:t/>
            </a:r>
          </a:p>
          <a:p>
            <a:r>
              <a:t>Колоректальный рак — сильнейший случай участия модели в этом блоке. Нидерланды держат один из самых высоких охватов в мире, 67,1 процента, полтора миллиона человек на домашнем тесте кала; заметно выше охвата той же страны на шейке матки в тот же год — явка зависит от типа теста, домашний против визита, а не только от общей культуры скрининга. США держат 63,5–67,4 процента по двум замерам 2023 года. Япония даёт устойчивый разрыв между мужчинами и женщинами: 49,1 против 42,8 процента; на диаграмме это один столбец, а подпись у его конца называет обе исходные цифры, не среднее. А с февраля 2024 года Япония платит отдельную страховую надбавку именно за программный ИИ-компонент колоноскопии — EndoBRAIN-EYE, первый в мире случай, когда оплачивают не прибор вообще, а именно его модельную часть. Условие сужает круг: надбавка положена только эндоскописту со стажем не менее пяти лет. К началу 2025 года систему развернули 43 процента университетских и 28 процентов региональных больниц; абсолютного числа таких больниц источники не дают, и это я называю пробелом, а не достраиваю оценкой.</a:t>
            </a:r>
          </a:p>
          <a:p>
            <a:r>
              <a:t/>
            </a:r>
          </a:p>
          <a:p>
            <a:r>
              <a:t>Две страны на диаграмму не попали, и это стоит назвать вслух, а не умолчать: Корея на скрининге лёгкого держит 51,2–58,6 процента по двум замерам 2023 года, Австралия на шейке матки — 74,2 и снижается. Обе несут по одному столбцу, и обе программы на диаграмме уже показаны другими странами; полоса кадра держит пять групп так, чтобы подписи оставались читаемыми, а не семь. Отдельно — корейский колоректальный охват отсутствует по другой причине, и она содержательная: доступная цифра 74,4 процента считает охват шестью видами скрининга совместно, а не колоректальным отдельно. Поставить её в колоректальный столбец значило бы подставить чужой знаменатель — ровно та склейка, которую разбирает весь этот раздел.</a:t>
            </a:r>
          </a:p>
          <a:p>
            <a:r>
              <a:t/>
            </a:r>
          </a:p>
          <a:p>
            <a:r>
              <a:t>Простата — случай, где вопрос про модель не стоит первым. Действующая рекомендация профильной рабочей группы США с 2018 года: решение о ПСА-тесте для мужчин 55–69 лет индивидуальное, после разговора с врачом; вне этого коридора, включая 70 лет и старше, популяционный скрининг не рекомендован вовсе. Это не пробел измерения, а согласованная позиция регуляторов: рак простаты у многих мужчин растёт настолько медленно, что при жизни никогда не проявился бы, а цена гипердиагностики — операция или лучевая терапия с недержанием и нарушением эрекции — для таких случаев перевешивает пользу находки. Подтверждённое исключение одно, и оно на диаграмме стоит: Швеция с 2020 года организует приглашение по регистру для мужчин 50–74 лет в шестнадцати регионах из двадцати одного, 256 тысяч приглашённых, участие 43 процента. Программа при этом организована вокруг ПСА-теста, а не вокруг модели; узкий пилот чтения МРТ моделью внутри неё отдельным числом не измерен.</a:t>
            </a:r>
          </a:p>
          <a:p>
            <a:r>
              <a:t/>
            </a:r>
          </a:p>
          <a:p>
            <a:r>
              <a:t>И последнее, самое важное на этом кадре. Эффект самого ИИ-компонента на исход пациента — находку болезни раньше, смертность — источники не измеряют ни в одной из этих стран. Измерено участие, охват целевой группы или факт оплаты, то есть то, что произошло с организацией, а не то, что это меняет для человека. Отсюда прямой вопрос поставщику: если он говорит «внедрено», спрашивайте, во что именно — в архитектуру программы или поверх неё отдельным слоем, — платит ли кто-нибудь за это отдельно, и есть ли вообще измерение эффекта, или дело ограничилось регуляторным допуском.</a:t>
            </a:r>
          </a:p>
          <a:p>
            <a:r>
              <a:t/>
            </a:r>
          </a:p>
          <a:p>
            <a:r>
              <a:t>**Источники.** </a:t>
            </a:r>
            <a:r>
              <a:rPr u="sng">
                <a:solidFill>
                  <a:srgbClr val="065A82"/>
                </a:solidFill>
                <a:hlinkClick r:id="rId3"/>
              </a:rPr>
              <a:t>Американское онкологическое общество — охват скрининга лёгкого в США, 2025</a:t>
            </a:r>
            <a:r>
              <a:t> · </a:t>
            </a:r>
            <a:r>
              <a:rPr u="sng">
                <a:solidFill>
                  <a:srgbClr val="065A82"/>
                </a:solidFill>
                <a:hlinkClick r:id="rId4"/>
              </a:rPr>
              <a:t>Национальная служба здравоохранения Англии — скрининг шейки матки, 2023–24</a:t>
            </a:r>
            <a:r>
              <a:t> · </a:t>
            </a:r>
            <a:r>
              <a:rPr u="sng">
                <a:solidFill>
                  <a:srgbClr val="065A82"/>
                </a:solidFill>
                <a:hlinkClick r:id="rId5"/>
              </a:rPr>
              <a:t>Институт здравоохранения Нидерландов — мониторинг скрининга шейки матки, 2024</a:t>
            </a:r>
            <a:r>
              <a:t> · </a:t>
            </a:r>
            <a:r>
              <a:rPr u="sng">
                <a:solidFill>
                  <a:srgbClr val="065A82"/>
                </a:solidFill>
                <a:hlinkClick r:id="rId6"/>
              </a:rPr>
              <a:t>Институт здравоохранения Нидерландов — мониторинг колоректального скрининга, 2024</a:t>
            </a:r>
            <a:r>
              <a:t> · </a:t>
            </a:r>
            <a:r>
              <a:rPr u="sng">
                <a:solidFill>
                  <a:srgbClr val="065A82"/>
                </a:solidFill>
                <a:hlinkClick r:id="rId7"/>
              </a:rPr>
              <a:t>Австралийский институт здоровья — отчёт о программах скрининга, 2025</a:t>
            </a:r>
            <a:r>
              <a:t> · </a:t>
            </a:r>
            <a:r>
              <a:rPr u="sng">
                <a:solidFill>
                  <a:srgbClr val="065A82"/>
                </a:solidFill>
                <a:hlinkClick r:id="rId8"/>
              </a:rPr>
              <a:t>Рабочая группа профилактических служб США — скрининг рака простаты</a:t>
            </a:r>
            <a:r>
              <a:t> · </a:t>
            </a:r>
            <a:r>
              <a:rPr u="sng">
                <a:solidFill>
                  <a:srgbClr val="065A82"/>
                </a:solidFill>
                <a:hlinkClick r:id="rId9"/>
              </a:rPr>
              <a:t>Шведская организованная программа тестирования на рак простаты, руководство 2025</a:t>
            </a:r>
            <a:r>
              <a:t> · </a:t>
            </a:r>
            <a:r>
              <a:rPr u="sng">
                <a:solidFill>
                  <a:srgbClr val="065A82"/>
                </a:solidFill>
                <a:hlinkClick r:id="rId10"/>
              </a:rPr>
              <a:t>Cybernet — страховая надбавка за EndoBRAIN-EYE, февраль 2024</a:t>
            </a:r>
            <a:r>
              <a:t> · </a:t>
            </a:r>
            <a:r>
              <a:rPr u="sng">
                <a:solidFill>
                  <a:srgbClr val="065A82"/>
                </a:solidFill>
                <a:hlinkClick r:id="rId11"/>
              </a:rPr>
              <a:t>Европейская обсерватория ВОЗ — национальный скрининг лёгкого в Хорватии, 2025</a:t>
            </a:r>
            <a:r>
              <a:t> · </a:t>
            </a:r>
            <a:r>
              <a:rPr u="sng">
                <a:solidFill>
                  <a:srgbClr val="065A82"/>
                </a:solidFill>
                <a:hlinkClick r:id="rId12"/>
              </a:rPr>
              <a:t>Lancet Western Pacific — скрининг лёгкого в Польше</a:t>
            </a:r>
            <a:r>
              <a:t>00066-0/fulltext)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всякого разговора о модели — откуда вообще взялась сама идея осматривать здорового человека, у которого нет жалоб. Ответ лежит не в медицине изображений и не в статистике, а в истории организации самой медицины, и он старше любого компьютера.</a:t>
            </a:r>
          </a:p>
          <a:p>
            <a:r>
              <a:t/>
            </a:r>
          </a:p>
          <a:p>
            <a:r>
              <a:t>В 1920-е годы в США на одного врача приходилось около 800 человек населения. Историк медицины Стэнли Райзер в разборе происхождения скрининга приводит прямой расчёт современников: чтобы осмотреть всё население страны поголовно, каждому врачу пришлось бы тратить на это около двух с половиной часов в день — сверх всей остальной практики. Осмотреть каждого было физически невозможно, и вопрос «кого смотреть, если жалоб нет» долгое время не вставал вовсе: медицина лечила обратившегося, а не искала больного среди здоровых.</a:t>
            </a:r>
          </a:p>
          <a:p>
            <a:r>
              <a:t/>
            </a:r>
          </a:p>
          <a:p>
            <a:r>
              <a:t>Первый массовый случай, который показал, что скрытая болезнь есть у огромной доли людей, выглядящих здоровыми, — призывная медкомиссия Первой мировой войны. Из примерно 2,7 миллиона американцев, призванных на военную службу, у 47 процентов нашли физические дефекты — от плоскостопия до болезней сердца, ни разу не диагностированные раньше, потому что их никто специально не искал. Это был первый опыт национального масштаба: осмотр по формальному признаку (возраст, годность к службе) нашёл болезнь там, где никто её не предполагал.</a:t>
            </a:r>
          </a:p>
          <a:p>
            <a:r>
              <a:t/>
            </a:r>
          </a:p>
          <a:p>
            <a:r>
              <a:t>Из этого в 1920-е годы родилось общественное движение за регулярный осмотр здорового человека. В 1914 году открылся Институт продления жизни (Life Extension Institute) — за первое десятилетие он провёл больше 250 тысяч осмотров. В 1917 году больше 10 процентов из трёхсот крупнейших корпораций США уже спонсировали регулярные медосмотры своих сотрудников. В 1922 году Американская медицинская ассоциация (AMA) формально одобрила ежегодный осмотр как практику, а в 1923 году Национальный совет здравоохранения запустил кампанию «пройди осмотр в день своего рождения» с целью провести 10 миллионов осмотров. Вторая мировая война повторила тот же урок на ещё большем масштабе: с 1940 по 1946 год призывная медкомиссия осмотрела около 20 миллионов американцев, и около трети получили отвод по медицинским показаниям.</a:t>
            </a:r>
          </a:p>
          <a:p>
            <a:r>
              <a:t/>
            </a:r>
          </a:p>
          <a:p>
            <a:r>
              <a:t>Параллельно шёл второй процесс — не осмотр отдельного человека, а организованный скрининг целой популяции одним методом. Самый измеренный пример — кампания против туберкулёза в Глазго весной 1957 года. За пять недель, с 11 марта по 12 апреля, тридцать семь передвижных рентгеновских установок, прикомандированных со всей Великобритании, обследовали 714 915 человек — это 76 процентов всего взрослого населения города. Нашли 2369 случаев туберкулёза — около 60 процентов всех случаев, зарегистрированных в городе в тот год. Темп снижения заболеваемости туберкулёзом в городе после кампании ускорился больше чем вдвое — с 2,3 процента в год до неё до 5,4 процента в год после. Рентген грудной клетки как инструмент существовал и раньше; новым было то, что его направили не на обратившегося больного, а на всё население города сразу, по формальному признаку «живёт в Глазго».</a:t>
            </a:r>
          </a:p>
          <a:p>
            <a:r>
              <a:t/>
            </a:r>
          </a:p>
          <a:p>
            <a:r>
              <a:t>Третий классический пример — мазок на цитологию, предложенный Георгиосом Папаниколау ещё в 1928 году и клинически описанный в начале 1940-х годов вместе с Гербертом Траутом. Путь от лабораторного метода до организованной программы занял больше двадцати лет: Британская Колумбия в Канаде одной из первых превратила отдельный тест в постоянную систему приглашений, и это тоже скрининг целой популяции по формальному признаку — на этот раз по полу и возрасту, а не по месту жительства. [VFY-day-of: точные годы и цифры охвата канадской программы и эффект на смертность по провинции расходятся у разных вторичных источников — перед устным использованием сверить по первоисточнику Popadiuk/bcmj.org отдельно.]</a:t>
            </a:r>
          </a:p>
          <a:p>
            <a:r>
              <a:t/>
            </a:r>
          </a:p>
          <a:p>
            <a:r>
              <a:t>К 1968 году накопленного опыта хватило, чтобы Всемирная организация здравоохранения формализовала сам вопрос: когда скрининг вообще оправдан как практика. Джеймс Уилсон и Гуннар Юнгнер сформулировали десять критериев, действующих до сих пор без единой модели внутри: у болезни должна быть распознаваемая скрытая или ранняя стадия, должно существовать признанное лечение и мощности его провести, тест должен быть приемлем для населения, а сам скрининг — не разовой кампанией, а постоянным процессом. Ни один из этих десяти критериев не говорит о точности алгоритма — все десять были написаны за много десятилетий до первой обученной модели, и это сам по себе урок: вопрос «оправдан ли скрининг» не сводится к вопросу «насколько точна модель внутри него», и первый вопрос был поставлен и формализован задолго до второго.</a:t>
            </a:r>
          </a:p>
          <a:p>
            <a:r>
              <a:t/>
            </a:r>
          </a:p>
          <a:p>
            <a:r>
              <a:t>Так закрывается общая картина происхождения скрининга как класса практики. Дальше раздел возвращается к одной конкретной его стадии — отбору на обследование — и к тому же самому вопросу в более узкой форме: кого именно и по какому формальному признаку позовут смотреть.</a:t>
            </a:r>
          </a:p>
          <a:p>
            <a:r>
              <a:t/>
            </a:r>
          </a:p>
          <a:p>
            <a:r>
              <a:t>**Источники.** </a:t>
            </a:r>
            <a:r>
              <a:rPr u="sng">
                <a:solidFill>
                  <a:srgbClr val="065A82"/>
                </a:solidFill>
                <a:hlinkClick r:id="rId3"/>
              </a:rPr>
              <a:t>Wilson, Jungner — Principles and practice of screening for disease, WHO 1968</a:t>
            </a:r>
            <a:r>
              <a:t> · </a:t>
            </a:r>
            <a:r>
              <a:rPr u="sng">
                <a:solidFill>
                  <a:srgbClr val="065A82"/>
                </a:solidFill>
                <a:hlinkClick r:id="rId4"/>
              </a:rPr>
              <a:t>Reiser — The Emergence of the Concept of Screening for Disease, Milbank Memorial Fund Quarterly 1978</a:t>
            </a:r>
            <a:r>
              <a:t> · </a:t>
            </a:r>
            <a:r>
              <a:rPr u="sng">
                <a:solidFill>
                  <a:srgbClr val="065A82"/>
                </a:solidFill>
                <a:hlinkClick r:id="rId5"/>
              </a:rPr>
              <a:t>Глазго 1957, массовая кампания против туберкулёза, PLOS Medicine 2024</a:t>
            </a:r>
            <a:r>
              <a:t> · </a:t>
            </a:r>
            <a:r>
              <a:rPr u="sng">
                <a:solidFill>
                  <a:srgbClr val="065A82"/>
                </a:solidFill>
                <a:hlinkClick r:id="rId6"/>
              </a:rPr>
              <a:t>препринт того же исследования, medRxiv</a:t>
            </a:r>
            <a:r>
              <a:t> · </a:t>
            </a:r>
            <a:r>
              <a:rPr u="sng">
                <a:solidFill>
                  <a:srgbClr val="065A82"/>
                </a:solidFill>
                <a:hlinkClick r:id="rId7"/>
              </a:rPr>
              <a:t>история мазка Папаниколау в Британской Колумбии, bcmj.org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сильнее этого в лекции не будет ничего,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доверия ей меньше, чем шведской: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Уровни значимости с кадра сняты, и назвать их надо здесь, иначе они потеряются вовсе. Пара 74 и 81 из ста: чувствительность 80,5 процента при интервале от 76,4 до 84,2 против 73,8 при интервале от 68,9 до 78,3, уровень значимости 0,031 — различие устойчиво. Пара 5,1 и 6,1 на тысячу: отношение частот 1,2 при интервале от 1,0 до 1,5, уровень 0,052 — значимости не достигла, и нижняя граница интервала упирается в единицу. Разница между этими двумя парами и есть то, ради чего они стоят рядом.</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Входной кадр показывал его числами ровно этой британской работы — 3 449 арбитражей без модели против 5 283 с ней на тех же 50 000 женщин.</a:t>
            </a:r>
          </a:p>
          <a:p>
            <a:r>
              <a:t/>
            </a:r>
          </a:p>
          <a:p>
            <a:r>
              <a:t>Шведское испытание, с которого начался этот разбор, измерило, что стало с объёмом и точностью чтения. Это испытание не измерило, что происходит с самим шагом арбитража, который модель не снимает, а меняет по составу, — это сделало отдельное британское исследование, не шведское, и путать два испытания нельзя.</a:t>
            </a:r>
          </a:p>
          <a:p>
            <a:r>
              <a:t/>
            </a:r>
          </a:p>
          <a:p>
            <a:r>
              <a:t>Два центра Национальной службы здравоохранения Англии, 50 000 женщин, модель вторым читателем. Без модели на арбитраж уходило 3,9 процента чтений в одном центре и 11,3 процента в другом; с моделью вторым читателем — 9,4 процента и 13,8 процента: рост на 142 процента в первом центре и на 22 процента во втором. Разброс между центрами — не шум измерения, а разница протокола: первый центр разбирает на арбитраже только случаи расхождения по отзыву, второй — все случаи отзыва вообще, и этот выбор протокола определяет итоговую нагрузку не меньше, чем сама модель. Отдельное норвежское измерение на 441 276 случаях посчитало это в секундах: одно первичное чтение маммограммы занимает в среднем 48 секунд (медиана 25), а разбор одного расхождения на арбитраже — 2 минуты 12 секунд (медиана 1 минута 55 секунд). Один арбитраж по времени равен примерно пяти первичным чтениям. Это прямой ответ на вопрос «что делает человек после модели»: не просматривает подсказку мимоходом, а выполняет операцию, которая по времени стоит как пять обычных.</a:t>
            </a:r>
          </a:p>
          <a:p>
            <a:r>
              <a:t/>
            </a:r>
          </a:p>
          <a:p>
            <a:r>
              <a:t>У этого нового шага — измеренная асимметрия доверия, и она разворачивает привычный сюжет. Отдельное шведское рандомизированное предрегистрированное испытание на 54 991 женщине (исследование ScreenTrustCAD) ставило находку любого из трёх независимых чтений — двух радиологов и модели — в один и тот же шаг консенсусного обсуждения и мерило, что происходит с находкой каждого источника. Находка одного радиолога в одиночку уходила в консенсус-разбор в 14,2 процента случаев (263 из 1858) при точности подтверждения 3,4 процента (9 из 263); находка модели в одиночку уходила в разбор лишь в 4,6 процента случаев (86 из 1886) — но её точность подтверждения была 22 процента (19 из 86), то есть более чем в шесть раз выше. Люди систематически перепроверяют находку коллеги чаще, чем находку модели, при том что находка модели оказывается точнее в разы. Это первое прямое измерение именно такой, недостаточной, стороны доверия — весь остальной материал курса о доверии говорит про чрезмерное доверие человека к модели; здесь измерено обратное, у профессионалов, на выборке почти в 55 тысяч женщин. И это не те 80,5 против 73,8 процента, которыми измерена находка рака, — там речь о доле найденного рака среди имевшегося на выборке 105 934 женщин, здесь — о доле находок, уходящих в повторный разбор, на другой выборке 54 991 женщина. Два числа легко спутать именно потому, что оба про «модель и доверие», и разводить их нужно явно.</a:t>
            </a:r>
          </a:p>
          <a:p>
            <a:r>
              <a:t/>
            </a:r>
          </a:p>
          <a:p>
            <a:r>
              <a:t>Германская программа стоит для контраста. Выявление выросло — 6,7 против 5,7 на 1000 у 463 094 обследованных женщин, — но устройство работы здесь другое, и названо оно в первой фразе резюме публикации: сравнивали двойное чтение с поддержкой модели против обычного двойного чтения. Сказать это числом, а не общей фразой: модель заменила ноль процентов человеческих чтений — оба радиолога продолжали читать все случаи без исключения. Авторы той же публикации отдельно пересчитали другой, невнедрённый сценарий: если бы случаи, которые модель отнесла к норме, человек вообще не читал, нагрузка упала бы на 56,7 процента. Эта цифра — не наблюдение, а гипотетический пересчёт на тех же данных, и сами авторы называют его именно так. Конфликт интересов здесь называется прямо, не эвфемизмом: исследование профинансировано производителем системы (Vara), и часть соавторов — его сотрудники. Разрыв между 0 процентов замены (что произошло) и 56,7 процента (что посчитали бы при другом устройстве работы) на одной и той же базе данных — это одновременно инженерная деталь и разбор завышенного заявления, выданного за измерение.</a:t>
            </a:r>
          </a:p>
          <a:p>
            <a:r>
              <a:t/>
            </a:r>
          </a:p>
          <a:p>
            <a:r>
              <a:t>И последнее — честно названный пробел, а не домысленный. Ни для шведской модели (Transpara, разработчик ScreenPoint Medical), ни для германской (Vara) источники не раскрывают ни объём и состав обучающей выборки, ни частоту переобучения после внедрения, ни протокол мониторинга дрейфа на реальном потоке. В обоих случаях это коммерческая модель закрытого вендора, и степень раскрытия здесь ниже, чем у случая глазного дна дальше в этом разделе, где хотя бы порядок величины обучающей выборки и один конкретный регуляторный документ об обновлении нашлись. Разница между «пробел, названный прямо» и «пробел, о который никто не спросил» — та же, которую этот курс уже требует не терять.</a:t>
            </a:r>
          </a:p>
          <a:p>
            <a:r>
              <a:t/>
            </a:r>
          </a:p>
          <a:p>
            <a:r>
              <a:t>**Источники.** </a:t>
            </a:r>
            <a:r>
              <a:rPr u="sng">
                <a:solidFill>
                  <a:srgbClr val="065A82"/>
                </a:solidFill>
                <a:hlinkClick r:id="rId3"/>
              </a:rPr>
              <a:t>Warren и соавт., «Impact of using artificial intelligence as a second reader in breast screening including arbitration», Nature Cancer 2026</a:t>
            </a:r>
            <a:r>
              <a:t> · </a:t>
            </a:r>
            <a:r>
              <a:rPr u="sng">
                <a:solidFill>
                  <a:srgbClr val="065A82"/>
                </a:solidFill>
                <a:hlinkClick r:id="rId4"/>
              </a:rPr>
              <a:t>Hovda, Holen, Hofvind, European Radiology 2026</a:t>
            </a:r>
            <a:r>
              <a:t> · </a:t>
            </a:r>
            <a:r>
              <a:rPr u="sng">
                <a:solidFill>
                  <a:srgbClr val="065A82"/>
                </a:solidFill>
                <a:hlinkClick r:id="rId5"/>
              </a:rPr>
              <a:t>Dembrower, Crippa, Eklund, Strand, «ScreenTrustCAD», Radiology 2025</a:t>
            </a:r>
            <a:r>
              <a:t> · </a:t>
            </a:r>
            <a:r>
              <a:rPr u="sng">
                <a:solidFill>
                  <a:srgbClr val="065A82"/>
                </a:solidFill>
                <a:hlinkClick r:id="rId6"/>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пропустить того, кому помощь нужна сейчас, — цена в исходе; занять приём тем, кому он не нужен, — цена во времени врача и в чьём-то отложенном визите.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О внутреннем устройстве говорили двое, и это разные люди с разным правом голоса — свести их в одно «он же» значит ошибиться в том самом, чему учит этот раздел. Хью Харви работал в компании в 2016–2017 годах главой регуляторных вопросов по клиническому ИИ: по его публичному заявлению, обучать было нечего, внутри стояло дерево решений «если — то» в обычной таблице. Дэвид Уоткинс — врач общей практики, в компании никогда не работавший: он с февраля 2017 года документировал пропуски и писал о них регулятору, доведя претензии до «критического» уровня к 2018-му. Первое — слова человека изнутри про устройство; второе — письма человека снаружи про поведение системы. Ни то, ни другое не проверка, и выдать любое за установленный факт значило бы сделать то, за что случай и разбирают. Порознь они разбираются дальше, вместе с тем, что опубликовала сама компания.</a:t>
            </a:r>
          </a:p>
          <a:p>
            <a:r>
              <a:t/>
            </a:r>
          </a:p>
          <a:p>
            <a:r>
              <a:t>Слова участника — не последнее, что нашлось об устройстве бота: у самой компании есть собственная техническая публикация, и верить ей можно иначе — её я разбираю отдельно, чтобы два разных свидетельства не слиплись в один факт. Масштаб пилота для контекста: с национальной службой здравоохранения он начался в январе 2017 года и был доступен примерно 1,2 миллиона жителей северного Лондона; один случай в чате занимал около двух минут.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и было проигнорировано: за год до демонстрации независимое сопоставление трёх приложений на тех же задачах поставило это приложение на последнее место — типовые болезни оно распознавало хуже всех.</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Последняя плашка несёт две разные величины в разных валютах, а не одну в двух точках времени, и стрелки между ними нет именно поэтому: оценка компании считалась в долларах при слиянии, выручка от продажи активов — в фунтах при банкротстве,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который создал сам сервис, — отчёт честно говорит, что не знает. Плохо ли сортировало само дерево решений, данных тоже нет: здесь измерена перестройка экономики канала, а не качество сортировки.</a:t>
            </a:r>
          </a:p>
          <a:p>
            <a:r>
              <a:t/>
            </a:r>
          </a:p>
          <a:p>
            <a:r>
              <a:t>Случай всё равно взят: это провал условия, и цена заявления о модели там, где модели не было, — его содержание. Урок — проверяемый критерий: демонстрационная метрика не служит основанием для допуска в открытый поток, и спрашивать надо, на каком материале она получена.</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 том, как бот устроен внутри, говорили трое, и первое, что надо сделать, — развести их. Хью Харви работал в компании главой регуляторных вопросов по клиническому ИИ в 2016–2017 годах; его публичное заявление — что внутри «ИИ-алгоритма» стояло дерево решений «если — то» в обычной таблице — это слова человека изнутри о внутреннем устройстве. Дэвид Уоткинс в компании не работал никогда: врач общей практики, он с февраля 2017 года документировал пропуски распознавания и направлял их регулятору, доведя претензии до «критического» уровня к 2018 году — это свидетельство со стороны и о поведении системы, а не о её внутренностях. Свести их в одно «он же» — ошибка атрибуции, и она дважды стояла в черновиках этой самой главы; раздел, который учит спрашивать, откуда взялось утверждение, обязан быть точен в том, кто его сделал. Третье свидетельство — собственная техническая публикация компании 2016 года, и верить ей можно иначе: не независимая проверка, но и не пересказ одного человека. У самой компании есть собственная техническая публикация 2016 года, и верить ей можно иначе: это не независимая проверка, но и не пересказ одного бывшего сотрудника, а то, что компания сама опубликовала о своей архитектуре. Путать эти два свидетельства нельзя: дерево решений «если — то» — слова участника; то, что описано ниже, — опубликованная архитектура.</a:t>
            </a:r>
          </a:p>
          <a:p>
            <a:r>
              <a:t/>
            </a:r>
          </a:p>
          <a:p>
            <a:r>
              <a:t>Публикация описывает систему как вероятностную графовую модель первичной медицинской помощи: направленный ациклический граф, в котором заболевания и симптомы связаны априорными вероятностями и условными зависимостями. Структуру графа — какие узлы с какими связаны — строят и проверяют врачи-эксперты, а не инженеры-одиночки. Это уже не дерево решений «если — то» в таблице, о котором говорил участник; это вероятностная модель с собственной структурой.</a:t>
            </a:r>
          </a:p>
          <a:p>
            <a:r>
              <a:t/>
            </a:r>
          </a:p>
          <a:p>
            <a:r>
              <a:t>Но поверх вероятностной части стоит отдельный механизм, и его нельзя путать с самим графом. Для определённого списка «красных флагов» — заданных сочетаний симптомов — триаж-решение не выводится вероятностным рассуждением вовсе, а принудительно задаётся правилом: такое сочетание ведёт прямо к «вызвать скорую» независимо от того, что в этот момент показывает вероятностная часть. И отдельно от обеих частей публикация называет нейросеть, но её роль там одна: она ускоряет вычисление по вероятностной модели, а не заменяет его и не принимает решение сама. Из трёх компонентов — граф, жёсткие правила, нейросеть — обученная модель, принимающая решение, не стоит ни в одном.</a:t>
            </a:r>
          </a:p>
          <a:p>
            <a:r>
              <a:t/>
            </a:r>
          </a:p>
          <a:p>
            <a:r>
              <a:t>Отсюда прямой вывод, и он стоит утверждением, а не оговоркой о нехватке материала: системного дизайна обученной модели, принимающей решение, — того, что требует от инженерного случая любой другой разбор этой лекции, — здесь не было вовсе. Это не пробел поиска: это и есть честный ответ на вопрос «как устроена инженерия» для этого случая.</a:t>
            </a:r>
          </a:p>
          <a:p>
            <a:r>
              <a:t/>
            </a:r>
          </a:p>
          <a:p>
            <a:r>
              <a:t>На выходе система выдавала не бинарное «да/нет», а один из шести взаимоисключающих вариантов: вызов скорой, обращение в неотложную помощь, срочный визит к врачу, визит без срочности, обращение в аптеку, самопомощь. Шесть исходов, а не два, — и это тоже часть устройства, не деталь оформления: чем больше различимых исходов на выходе, тем больше точек, в которых правило или граф может ошибиться по-разному.</a:t>
            </a:r>
          </a:p>
          <a:p>
            <a:r>
              <a:t/>
            </a:r>
          </a:p>
          <a:p>
            <a:r>
              <a:t>Контур обратной связи — кто и как часто переписывает правила графа, что происходит конкретно после зафиксированной ошибки — не описан как процесс ни в одном найденном источнике, включая саму эту публикацию компании. Там стоит только общая фраза про «итеративное экспертное ревью»: без частоты, без привязки к конкретным зафиксированным случаям, без ответа на вопрос, обновили ли правило именно после пропущенного инфаркта, о котором шла речь на предыдущем кадре, и если да — как быстро. Разница между «пробел, названный прямо» и «пробел, о который никто не спросил» — та же, которую этот курс уже требует не терять: пустое место, которое не назвали, читатель не отличит от пустого места, которое не искали.</a:t>
            </a:r>
          </a:p>
          <a:p>
            <a:r>
              <a:t/>
            </a:r>
          </a:p>
          <a:p>
            <a:r>
              <a:t>Доверия к разным звеньям этого разбора разное количество, и это стоит сказать явно, раз источники у них тоже разные. Подушевая сумма и частота обращений, которыми посчитана цена, — официальная статистика и независимый отчёт об оценке: им верить можно. Экзаменационное сравнение и независимый тест годом раньше взяты из пересказов, первичные публикации не открыты. Заявление про дерево решений — слова участника, и это самое слабое из перечисленного. Архитектура графа и правил — собственная техническая публикация компании: весомее слов одного участника, но слабее независимой проверки, потому что компания описывает свою же систему. Факты банкротства и суммы сделки, которыми разбор заканчивается, — открытые документы и деловая пресса.</a:t>
            </a:r>
          </a:p>
          <a:p>
            <a:r>
              <a:t/>
            </a:r>
          </a:p>
          <a:p>
            <a:r>
              <a:t>**Источники.** </a:t>
            </a:r>
            <a:r>
              <a:rPr u="sng">
                <a:solidFill>
                  <a:srgbClr val="065A82"/>
                </a:solidFill>
                <a:hlinkClick r:id="rId3"/>
              </a:rPr>
              <a:t>Middleton и соавт., «Sorting out symptoms», arXiv:1606.02041, 2016</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обучена система на порядка 25 000 полных обследований (University of Iowa и проект EyeCheck) — первоисточник этого числа полным текстом не вскрылся, и точнее, чем «порядка», оно здесь не утверждается.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Порядка 25 000 — осторожная оценка, не точное число: первоисточник не вскрылся полным текстом, и выдавать её за более точную в пересказе нельзя. На кадре этой строки нет, но произносится она обязательно: разбор, в котором обучающая выборка названа лишь порядком величины, обязан сказать это прямо, а не округлить до определённости, которой не было.</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Скажу целиком, насколько этому можно верить, чтобы выигрыш не прозвучал крупнее, чем он измерен: распределение по группам случайное — сильнее этого свидетельства не бывает, — но выборка мала,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девять десятых процента снимков негодны по качеству — девятьсот десять из ста одной тысячи семисот десяти визитов, прошедших валидацию,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Сила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Отказной поток EyeArt измерен на другом материале — другой прибор и другая программа, названные на прошлом кадре с явной оговоркой о несводимости. Дальше — что известно про обучение самого устройства IDx-DR/LumineticsCore, как его обновляют после допуска, и что показало отдельное измерение на новой выборке.</a:t>
            </a:r>
          </a:p>
          <a:p>
            <a:r>
              <a:t/>
            </a:r>
          </a:p>
          <a:p>
            <a:r>
              <a:t>Германское исследование в третичном диабетическом стационаре (Карлсбург, 2020–2021, 875 пациентов, средний возраст 52 года, диапазон от 8 до 92 лет) проверило тот же прибор, IDx-DR, что дал пивотальные 87,2 и 90,7 процента чувствительности и специфичности на выборке регистрации. На этой германской выборке 26,1 процента снимков система сама отметила непригодными для анализа — против 96,1 процента пригодных на пивоте. Это не доказательство дрейфа во времени: германская выборка — стационарные, более пожилые и более тяжёлые диабетики, с большей вероятностью катаракты и суженного зрачка, а не целевое первичное звено США, под которое устройство получило допуск в 2018 году. Верно читать это как измерение чувствительности результата к составу обследуемых, не как ухудшение прибора с годами.</a:t>
            </a:r>
          </a:p>
          <a:p>
            <a:r>
              <a:t/>
            </a:r>
          </a:p>
          <a:p>
            <a:r>
              <a:t>Чувствительность на этой же германской выборке оказалась разной по тяжести поражения, а не единым числом: 94,4 процента при тяжёлой форме диабетической ретинопатии — близко к пивотальным цифрам — и только 60,9 процента при умеренной форме. Точное совпадение с заключением офтальмолога по градации тяжести — всего 54,2 процента случаев. Разброс настолько широк, что одного числа чувствительности для этого прибора попросту не существует: оно привязано к тому, кого именно обследуют.</a:t>
            </a:r>
          </a:p>
          <a:p>
            <a:r>
              <a:t/>
            </a:r>
          </a:p>
          <a:p>
            <a:r>
              <a:t>В том же исследовании нашёлся отдельный и сильный эффект — обучение оператора камере, не изменение алгоритма: доля непригодных снимков у одного и того же исследователя упала с 46,9 процента в первый день работы с камерой до 0 процентов на четвёртый день практики. Решение модели здесь не менялось вовсе — менялась рука человека, который держит камеру.</a:t>
            </a:r>
          </a:p>
          <a:p>
            <a:r>
              <a:t/>
            </a:r>
          </a:p>
          <a:p>
            <a:r>
              <a:t>Допуск 2018 года не фиксирует устройство навечно. При регистрации согласован протокол контроля изменений: технические правки, способные повлиять на частоту ложных срабатываний, требуют нового уведомления регулятора до внедрения, а не тихого обновления. Конкретный пример отработки этого механизма — заявка 510(k) номер K213037, обновившая классификатор качества изображения с версии 2.1.1 до 2.3.0. Полный текст заявки не вскрылся читаемым текстом при прямом обращении к документу, но сам факт подачи и номер документа подтверждены на сайте регулятора — это ровно второе из трёх состояний пробела: искали добросовестно, нашли документ, но не его содержание.</a:t>
            </a:r>
          </a:p>
          <a:p>
            <a:r>
              <a:t/>
            </a:r>
          </a:p>
          <a:p>
            <a:r>
              <a:t>У прибора другого производителя, EyeArt — того самого, что дал отказной поток и семьдесят пять с лишним процентов потока на прошлом кадре, — архитектура устроена иначе, судя по патентным документам: две свёрточные сети на общих слоях, одна сегментирует структуры сетчатки, вторая оценивает качество самого снимка. Отказ по качеству здесь не отдельный фильтр перед диагностикой, а встроен в тот же механизм, что ставит находку. Деталей обучающей выборки для сертифицированной версии прибора источники не раскрывают — есть только смежный валидационный массив другого происхождения, и равнять его с обучающим набором нельзя.</a:t>
            </a:r>
          </a:p>
          <a:p>
            <a:r>
              <a:t/>
            </a:r>
          </a:p>
          <a:p>
            <a:r>
              <a:t>Пять вопросов инженерной глубины для этого случая закрываются неравномерно, и это стоит сказать прямо: вход-выход и порог закрыты полностью (два кадра назад), обучение — лишь порядком величины, обновление — фактом механизма без содержания самой правки, а дрейф — вовсе не этим же прибором на той же популяции, а чужой выборкой того же устройства. Разница между «закрыто» и «закрыто частично» здесь не повод снимать разбор — она и есть честный ответ на вопрос, который большинство материалов о медицинском ИИ не задают вовсе.</a:t>
            </a:r>
          </a:p>
          <a:p>
            <a:r>
              <a:t/>
            </a:r>
          </a:p>
          <a:p>
            <a:r>
              <a:t>**Источники.** </a:t>
            </a:r>
            <a:r>
              <a:rPr u="sng">
                <a:solidFill>
                  <a:srgbClr val="065A82"/>
                </a:solidFill>
                <a:hlinkClick r:id="rId3"/>
              </a:rPr>
              <a:t>Scientific Reports / PMC12864748, «Real-world performance of the AI diagnostic system IDx-DR in the diagnosis of diabetic retinopathy and its main confounders», 2026</a:t>
            </a:r>
            <a:r>
              <a:t> · </a:t>
            </a:r>
            <a:r>
              <a:rPr u="sng">
                <a:solidFill>
                  <a:srgbClr val="065A82"/>
                </a:solidFill>
                <a:hlinkClick r:id="rId4"/>
              </a:rPr>
              <a:t>FDA 510(k) K213037, accessdata.fda.gov</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 первый российский в разделе, и взят он не ради географии. Он единственный в деке, где видно, как модель допускают к массовому потоку и что с ней делают после допуска; три предыдущих разбора этой работы не делают, а у шведского порядка на предыдущем кадре про обучение и дрейф не сказано вообще ничего — источники молчат.</a:t>
            </a:r>
          </a:p>
          <a:p>
            <a:r>
              <a:t/>
            </a:r>
          </a:p>
          <a:p>
            <a:r>
              <a:t>Начну с того, что за случай. Москва, маммографический скрининг, часть городского опыта по компьютерному зрению в лучевой диагностике, который идёт с двухтысячного двадцатого года. За время этого опыта пятьдесят две разные модели обработали почти четырнадцать миллионов исследований — это рамка, в которой стоит наш случай, а сам случай один: модель «Цельс Маммография» на маммографическом потоке города.</a:t>
            </a:r>
          </a:p>
          <a:p>
            <a:r>
              <a:t/>
            </a:r>
          </a:p>
          <a:p>
            <a:r>
              <a:t>Теперь самое важное про механику, и именно здесь этот пример расходится со шведским. В шведской программе модель отбирает — ставит снимку оценку риска и по ней решает, выполнять ли второе человеческое чтение; заключение по каждому снимку всё равно выдаёт человек. Здесь устроено иначе: модель читает снимок первой, врач читает вторым, и замысел городского опыта назван прямо — заменить второго радиолога зарегистрированным медицинским изделием. Это один слот, и два разных способа его занять. Одна стадия, разные механики, поэтому это два разбора, а не один.</a:t>
            </a:r>
          </a:p>
          <a:p>
            <a:r>
              <a:t/>
            </a:r>
          </a:p>
          <a:p>
            <a:r>
              <a:t>Про устройство — то, чего зал до сих пор ни на одном кадре этого раздела не получил. Вход — стандартная маммограмма в четырёх снимках: две проекции на каждую грудь. Выход — не категория и не слово, а число от нуля до единицы на каждую грудь: вероятность признаков рака. Внутри — свёрточная сеть обнаружения Faster R-CNN с остовом ResNet-50; обучена она на трёх тысячах шестистах сорока одном снимке. Задержитесь на этой паре чисел: обучающая выборка — три с половиной тысячи снимков, проверочный поток — пятьсот девяносто три тысячи двести шестьдесят одно исследование. Отношение почти один к ста шестидесяти. Это не упрёк разработчику, это свойство задачи: разметить снимок с подтверждённым гистологией исходом дорого, и столько, сколько проходит через город за год, разметить нельзя.</a:t>
            </a:r>
          </a:p>
          <a:p>
            <a:r>
              <a:t/>
            </a:r>
          </a:p>
          <a:p>
            <a:r>
              <a:t>Цену обеих ошибок назову в тех же единицах, в которых её уже посчитал шведский порядок, потому что складывать разные единицы здесь нельзя. Пропустить рак — это интервальный рак: он придёт сам, позже и стадией крупнее, и у шведов это одна целая семьдесят шесть сотых случая на тысячу обследованных. Поднять ложную тревогу — это вызов женщины на второй снимок, у шведов две из ста. А теперь цена, которую меряет именно наш случай, и она другого рода: на входе в проверку у модели чувствительность ноль целых шестьдесят две сотых. Переведу: из ста признаков рака на наборе, где их искали, модель не нашла тридцать восемь. И с этой чувствительностью у неё уже было регистрационное удостоверение Росздравнадзора и европейский знак соответствия — оба получены в двадцать первом году, до того, как городская проверка началась. Вот это и есть главный урок кадра: регистрация изделия и работоспособность изделия — два разных факта, и первый не влечёт второго.</a:t>
            </a:r>
          </a:p>
          <a:p>
            <a:r>
              <a:t/>
            </a:r>
          </a:p>
          <a:p>
            <a:r>
              <a:t>Два классических режима, с которыми надо сравнивать, у нас уже посчитаны: двойное чтение двумя врачами с третьим на расхождении — тот самый порядок, который модель здесь и замещает, — и одно чтение одним врачом, которое шире распространено и которое нулём не работает. А теперь то, что я обязан сказать честно и чего многие пересказы этой работы не говорят: сравнения «модель вместо второго врача против двух врачей» по исходам в ней нет. Авторы не собирали ни выявляемость, ни долю вызовов, ни интервальные раки — и называют это собственным ограничением, в тексте, своими словами. Значит у этого случая нет измеренного выигрыша по исходам, и приписывать его модели мы не станем. Что в нём измерено — на следующем кадре; измерено там много, но измерено другое.</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ради чего этот разбор здесь стоит: что с моделью делали после регистрации и до того, как город начал платить за её работу из страховых денег. Весь круг занял два года и девять месяцев.</a:t>
            </a:r>
          </a:p>
          <a:p>
            <a:r>
              <a:t/>
            </a:r>
          </a:p>
          <a:p>
            <a:r>
              <a:t>Первая проверка — функциональная, и она останавливает модель на двух пунктах, ни один из которых не про точность. Первое: в выходном документе и в дополнительной серии снимков не было пометки «только для исследовательских целей». Второе, и его стоит запомнить: находку модель подсвечивала цветом — а маммографические мониторы монохромные, и на них цветную подсветку не различить. Модель могла быть сколь угодно точной; её ответ физически не читался на том оборудовании, которое стоит в кабинете. Это и есть инженерная работа, которой не заменишь ни одной метрикой: пока кто-то не сел за реальный монитор, этого не видно.</a:t>
            </a:r>
          </a:p>
          <a:p>
            <a:r>
              <a:t/>
            </a:r>
          </a:p>
          <a:p>
            <a:r>
              <a:t>Вторая проверка — калибровочная, на сотне исследований с подтверждённой разметкой, и здесь модель не прошла по площади под кривой: напомню шкалу, ноль пять десятых — монетка, единица — без промаха. Порог был назначен ноль восемьдесят одна сотая, и взят он не с потолка: это нижняя граница доверительного интервала, который на той же задаче даёт сам радиолог. То есть требование сформулировано так: будь не хуже худшего правдоподобного человека. Модель дала ноль семьдесят три сотых и была отправлена обратно.</a:t>
            </a:r>
          </a:p>
          <a:p>
            <a:r>
              <a:t/>
            </a:r>
          </a:p>
          <a:p>
            <a:r>
              <a:t>Что разработчик переписал за следующий месяц — список стоит произнести, потому что он отвечает на вопрос «а что вообще делают, когда модель не прошла». Расширили обучающий набор. Доработали предобработку снимка. Добавили отдельный канал с подбором окна яркости и выравниванием гистограммы. Завели голову, которая оценивает качество входного изображения. Сменили остов сети с ResNet-50 на ResNeSt. Заменили грубое приведение области к размеру на точное. Поменяли функцию активации. После этого площадь под кривой стала ноль восемьдесят одна — ровно порог, не выше, — и модель пустили в поток. Дальше было ещё два пересмотра: на девятом месяце добавили класс фиброзно-кистозных изменений и разметку по международной шкале описания молочной железы, причём добавили по прямой просьбе радиологов; на пятнадцатом — ещё два класса находок, оценку качества снимка и деление на квадранты, а сеть перевели на другую архитектуру. К четвёртой версии площадь под кривой дошла до ноль девяносто четырёх сотых, а перед допуском к оплате была пятая калибровка, и на ней показатель оказался чуть ниже пика. Пересматривают не только вверх.</a:t>
            </a:r>
          </a:p>
          <a:p>
            <a:r>
              <a:t/>
            </a:r>
          </a:p>
          <a:p>
            <a:r>
              <a:t>Технические отказы — отдельная история и, пожалуй, самая полезная для инженера. Они упали с девяти процентов до одного, и это настоящее улучшение устойчивости. Но посмотрите на состав: большая часть отказов — это не разобранный целиком снимок, когда модель обработала один, два или три кадра из четырёх, и причины названы прямо — неверная настройка маммографа, параметры исследования, выставленные техником, и сбои самого городского архива. То есть значительная доля того, что в отчёте числится дефектом модели, дефектом модели не является. Без этого разбора цифра «отказы упали в девять раз» читалась бы как заслуга сети.</a:t>
            </a:r>
          </a:p>
          <a:p>
            <a:r>
              <a:t/>
            </a:r>
          </a:p>
          <a:p>
            <a:r>
              <a:t>И два нюанса, которые меняют надёжность всего, что я назвал; оба стоят на кадре. Первый: точность считана на ста исследованиях калибровочного набора — не на пятистах девяноста трёх тысячах. Поток такого размера мерил отказы, согласие врача и экспертную оценку, а не точность; авторы называют это ограничением сами. Второй: в проспективной части эталоном служило заключение врача — того самого, которого модель замещает. Такой мерой модель не может оказаться лучше человека даже теоретически, а общий промах обоих не виден вовсе. Добавлю третий, помельче: клинический обзор вёл один врач-эксперт за раз, и на пятнадцатом месяце он сменился — то есть сам измерительный прибор посреди замера поменялся, и авторы это оговаривают.</a:t>
            </a:r>
          </a:p>
          <a:p>
            <a:r>
              <a:t/>
            </a:r>
          </a:p>
          <a:p>
            <a:r>
              <a:t>Что переехало. Решение «годен ли выход модели» переехало от разработчика к городскому тестировщику: требования к выходу опубликованы, калибровка обязательна, отчёт уходит разработчику каждый месяц. А у врача появился шаг, которого не было: тридцать три радиолога за время наблюдения нажали кнопку «не согласен» тысячу семьсот сорок пять раз из восьми тысяч четырёхсот шести ответов — каждый пятый раз. Это «Несогласие», пятый из шести механизмов, которые мы назвали на входе: расхождение с моделью разбирают отдельным шагом, и шаг этот оплачивается рабочим временем. В январе двадцать третьего года город ввёл отдельную оплачиваемую услугу — описание и интерпретация маммографии с применением модели. Два года девять месяцев от начала проверки до тарифа.</a:t>
            </a:r>
          </a:p>
          <a:p>
            <a:r>
              <a:t/>
            </a:r>
          </a:p>
          <a:p>
            <a:r>
              <a:t>**Источники.** </a:t>
            </a:r>
            <a:r>
              <a:rPr u="sng">
                <a:solidFill>
                  <a:srgbClr val="065A82"/>
                </a:solidFill>
                <a:hlinkClick r:id="rId3"/>
              </a:rPr>
              <a:t>Васильев, Румянцев, Владзимирский и соавт., Diagnostics 2025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Так бывает, но по стране это не делится: отечественная платформа лучевой диагностики публикует охват без устройства, и ровно на ней же, на московском маммографическом разборе, устройство раскрыто полнее, чем в любом другом случае этого раздела, — архитектура, объём обучающей выборки, происхождение порога, состав отказов. Шведская и германская программы скрининга устройство публикуют обе, а про обучение и дрейф не говорят ни одна. Значит делится это не по стране, а по тому, кто именно отчитывается: платформа отчитывается охватом, проверка изделия — устройством.</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И один механизм из тех шести, что названы на входе, этот раздел встретил по-настоящему: «Несогласие». На московском маммографическом потоке тридцать три радиолога нажали «не согласен» тысячу семьсот сорок пять раз из восьми тысяч четырёхсот шести ответов — каждый пятый раз, — и разбор каждого такого расхождения оплачивается рабочим временем, которого до модели на этом шаге не тратили.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только что назвал две свои формы — нагрузка переехала на другой шаг и сменился исполнитель. Вот перечень, из которого они взяты. 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стадии, одна её несущая мысль с числами и перечень пяти разборов; остальное отсюда проговаривается. Стадия стоит второй по месту в работе. В первом разделе решали, кого вообще позвать смотреть; здесь человек уже в поле зрения, и про него снимают данные — делают снимок, берут анализ, подключают прибор, нагружают по протоколу и смотрят, как меняется измеряемое. В отрасли эта стадия так и называется: инструментальная и лабораторная диагностика. Термин раскладывается на две половины по тому, откуда взялось измерение. Инструментальная — то, что сняли прибором с самого человека. Лабораторная — то, что измерили в пробе, взятой у человека и унесённой в лабораторию. Дело у обеих половин одно: превратить состояние человека в величину, которую можно записать, передать и прочесть в другом месте и в другое время.</a:t>
            </a:r>
          </a:p>
          <a:p>
            <a:r>
              <a:t/>
            </a:r>
          </a:p>
          <a:p>
            <a:r>
              <a:t>Границу с третьим разделом стоит провести сразу, потому что без неё оба раздела сливаются, как они и были слиты в прежней редакции этой деки. Здесь стадия производит величины. Вывод о болезни по этим величинам сделают в следующем разделе, и сделает его другой человек. Поэтому всё, что будет на этих кадрах, — про то, годится ли измерение и что оно означает, а не про то, какой диагноз из него следует.</a:t>
            </a:r>
          </a:p>
          <a:p>
            <a:r>
              <a:t/>
            </a:r>
          </a:p>
          <a:p>
            <a:r>
              <a:t>Теперь мысль, которую трудно удержать при чтении рекламных материалов, и ради неё этот раздел в лекции стоит.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Числа на кадре это и показывают: одна система с одной рабочей точкой даёт восемь верных тревог из ста в поголовном потоке и семьдесят девять из ста в профильном отделении. Внутри системы при этом не меняется ни одна строка — меняется только доля больных в группе, а назначил её тот, кто решил, кого звать на обследование. Полный счёт в людях разберём через кадр.</a:t>
            </a:r>
          </a:p>
          <a:p>
            <a:r>
              <a:t/>
            </a:r>
          </a:p>
          <a:p>
            <a:r>
              <a:t>Отсюда и порядок раздела: сначала то, во что ИИ вмешивается, потом вмешательство. Сперва из чего сделана работа стадии — какие на ней действия, кто назначает порог, кто решает, годно ли измерение. Потом отдельным кадром классический режим, который делается без всякой модели: контроль годности снимка. Потом обзор по странам — какой объём снимков и анализов внутри обычного потока направлений проходит через обученную модель. И только после этого пять разборов, и первые два из них отечественные.</a:t>
            </a:r>
          </a:p>
          <a:p>
            <a:r>
              <a:t/>
            </a:r>
          </a:p>
          <a:p>
            <a:r>
              <a:t>Назвать их стоит здесь, чтобы потом узнавать слайд по уже сказанному имени. Каждый из пяти выйдет на экран ровно под этим заголовком.</a:t>
            </a:r>
          </a:p>
          <a:p>
            <a:r>
              <a:t/>
            </a:r>
          </a:p>
          <a:p>
            <a:r>
              <a:t>Москва, профилактические снимки — единственный разбор лекции, где автономное применение модели не провалилось и где его цену посчитали числом. Чувствительность выставили на единицу, специфичность объявили незначимой, и больше половины профилактического потока перестал читать человек: 315 491 снимок из 575 549. Цена — 290 клинически значимых пропусков и то, что в обычной работе их никто бы не нашёл.</a:t>
            </a:r>
          </a:p>
          <a:p>
            <a:r>
              <a:t/>
            </a:r>
          </a:p>
          <a:p>
            <a:r>
              <a:t>Москва, кровоизлияние в череп — тот же город, тот же круг зарегистрированных изделий, обратный ответ. На 3 409 томограммах головы модель одна подняла 293 ложные тревоги против четырёх у врача. Это единственный разбор раздела, где провалилось само чтение, а не место, набор или цель.</a:t>
            </a:r>
          </a:p>
          <a:p>
            <a:r>
              <a:t/>
            </a:r>
          </a:p>
          <a:p>
            <a:r>
              <a:t>Остальные три берут своё место, где можно провалиться, не ошибившись в чтении.</a:t>
            </a:r>
          </a:p>
          <a:p>
            <a:r>
              <a:t/>
            </a:r>
          </a:p>
          <a:p>
            <a:r>
              <a:t>Таиланд — провал развёртывания. Автономное чтение снимков глазного дна в одиннадцати клиниках отклоняет по качеству двадцать один снимок из ста, и обе причины про место съёмки, а не про модель: освещение в кабинете и медленная связь.</a:t>
            </a:r>
          </a:p>
          <a:p>
            <a:r>
              <a:t/>
            </a:r>
          </a:p>
          <a:p>
            <a:r>
              <a:t>Кожа и состав набора — провал состава обучающих данных. Три модели теряют от девяти до пятнадцати пунктов площади под кривой на тёмных тонах кожи, которых в обучающих наборах было мало. Это единственный разбор лекции, где предметом стал сам обучающий набор, а не алгоритм, развёртывание или цель. И единственный, где исправление измерено: дообучение на представительном наборе разрыв снимает, а три алгоритмических метода против смещения его не сняли.</a:t>
            </a:r>
          </a:p>
          <a:p>
            <a:r>
              <a:t/>
            </a:r>
          </a:p>
          <a:p>
            <a:r>
              <a:t>Отбор в программу повышенного внимания — провал определения цели. Целевой переменной взяли будущие расходы на лечение, а решение принималось о болезни, и расходы отражают обращаемость, которая у разных групп при одинаковом здоровье разная.</a:t>
            </a:r>
          </a:p>
          <a:p>
            <a:r>
              <a:t/>
            </a:r>
          </a:p>
          <a:p>
            <a:r>
              <a:t>Два упоминания идут с числом и разборами не становятся: систематический обзор работ по снимкам при ковидной пневмонии — из двух тысяч двухсот двенадцати работ отобрали шестьдесят две, и ни одна не годна для клиники, — и смещение прибора насыщения крови кислородом, в котором обученной модели нет вовсе.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вывод раздела говорит об этом прямо.</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Точность измерения описывают двумя долями, и считают их на разных группах: чувствительность берёт только больных, специфичность только здоровых. Обе называются парой и всегда для одного порога, а порог выбирает протокол под цену исхода — и выбран он раньше, чем разработчик приступил к работе. Врачу же на приёме достаётся третья доля, верных тревог среди всех поднятых, и зависит она от того, сколько больных в обследованной группе. Группу собрала предыдущая стадия. Поэтому порядок принудительный: знаменатель приходит из отбора, и до него у измерения нет смысла, который можно прочесть. Во что это обходится, следующий кадр считает в людях.</a:t>
            </a:r>
          </a:p>
          <a:p>
            <a:r>
              <a:t/>
            </a:r>
          </a:p>
          <a:p>
            <a:r>
              <a:t>И как это решение принимают без всякой модели — классическими режимами, по именам. Контроль годности исследования: человек смотрит на полученное измерение и решает, можно ли его читать или надо переснять, а правило, по которому он решает, написано в инструкции кабинета, не в приборе. Чтение измерения специалистом при названной рабочей точке: порог объявления «болен» задан протоколом, и читающий работает на этом пороге, своего не назначая. Первому из них отдан следующий кадр целиком — и отдан потому, что именно на нём, а не на чтении, провалился третий из пяти разборов этого раздела, тайский.</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сделает его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то есть у 3 000.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У доли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от распространённости — доли больных в обследованной группе. Распространённость свойством прибора не служит.</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первая настроена на то, чтобы не пропустить, её выход не диагноз, а приглашение на дообследование, и доля верных тревог на ней низкая по устройству. Программа, в которой первая ступень объявляет диагноз, теряет вторую ступень целиком.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 Правильная пара вопросов к любому заявлению о точности звучит так: какие две доли и на какой группе; и какова распространённость там, где вы собираетесь это применять.</a:t>
            </a:r>
          </a:p>
          <a:p>
            <a:r>
              <a:t/>
            </a:r>
          </a:p>
          <a:p>
            <a:r>
              <a:t>Одно уточнение словоупотребления, которое это правило делает заметным. «Выявляется шесть случаев на тысячу обследованных» и «распространённость шесть на тысячу» — разные утверждения. Первое говорит о результате работы программы на обследованной группе, второе — о свойстве населения. Подмена первого вторым встречается в пересказах постоянно и ломает весь счёт, потому что в знаменатель подставляется величина, которую никто не измерял.</a:t>
            </a:r>
          </a:p>
          <a:p>
            <a:r>
              <a:t/>
            </a:r>
          </a:p>
          <a:p>
            <a:r>
              <a:t>Теперь о женщине с письмом, потому что эта арифметика про неё. Она пришла без жалоб, по возрасту, и стоит в том самом поголовном потоке, где больных около одного на сотню. Значит доля верных тревог на её группе — левая, восемь из ста, а не правая. Если ей позвонят и пригласят на дообследование, восемь шансов из ста, что находка подтвердится, и девяносто два — что это ложная тревога, и каждый из этих девяноста двух человек проживёт свои недели с открытым вопросом. Ни одна строка внутри системы при этом не меняется.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эта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из них этот раздел разбирает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этот раздел разбирает один, и именно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где внедрения провалились, стоит назвать обе половины честно — и начать с той, которую легко принять за реверанс. Она не реверанс.</a:t>
            </a:r>
          </a:p>
          <a:p>
            <a:r>
              <a:t/>
            </a:r>
          </a:p>
          <a:p>
            <a:r>
              <a:t>Постоянство. Система читает десятитысячный снимок так же, как первый, и не устаёт. У человека к концу смены доля пропусков меняется, и это измерено в литературе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и вот это свойство недооценивают сильнее двух первых — оно делает возможным разбор расхождений. У двух людей такой возможности нет: переспросить вчерашнего себя нельзя.</a:t>
            </a:r>
          </a:p>
          <a:p>
            <a:r>
              <a:t/>
            </a:r>
          </a:p>
          <a:p>
            <a:r>
              <a:t>Теперь вторая половина, и в ней три вещи, причём ни одна не про качество модели.</a:t>
            </a:r>
          </a:p>
          <a:p>
            <a:r>
              <a:t/>
            </a:r>
          </a:p>
          <a:p>
            <a:r>
              <a:t>Качество входа: система не умеет переснять. Решение «годится или переснять» принимает человек у прибора, и в приборе этого правила нет — об этом был предыдущий кадр.</a:t>
            </a:r>
          </a:p>
          <a:p>
            <a:r>
              <a:t/>
            </a:r>
          </a:p>
          <a:p>
            <a:r>
              <a:t>Перенос: доли, посчитанные в одной больнице, не переезжают в другую вместе с прибором, потому что переезжает прибор, а группа остаётся на месте. Это тот же счёт, что мы вели двумя кадрами раньше, только с другой стороны.</a:t>
            </a:r>
          </a:p>
          <a:p>
            <a:r>
              <a:t/>
            </a:r>
          </a:p>
          <a:p>
            <a:r>
              <a:t>И третье — чем измерен сам вход. Здесь стоит задержаться, потому что это единственный случай раздела, где смещение доказано до всякой модели, и он самый неудобный для разговоров о «предвзятом алгоритме».</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против 3,6 у светлокожих. Знаменатели называю, потому что без них число не читается: 88 расхождений из 749 измерений против 99 из 2 778. Это одна названная когорта одной работы; многоцентровая когорта той же статьи даёт другие числа, и рядом с этими они не произносятся — два набора из одной работы читаются как одна выборка и склеиваются.</a:t>
            </a:r>
          </a:p>
          <a:p>
            <a:r>
              <a:t/>
            </a:r>
          </a:p>
          <a:p>
            <a:r>
              <a:t>Смещение одностороннее, и направление здесь важнее величины. Прибор показывает выше, чем даёт анализ, значит опасное снижение насыщения он пропускает чаще — ошибка идёт в сторону «всё в порядке». Регулятор выпустил предупреждение в феврале 2021 года, а в январе 2025-го — проект руководства с требованием испытаний на разных тонах кожи. То есть это не предположение исследователей, а признанная проблема измерения, закреплённая документом.</a:t>
            </a:r>
          </a:p>
          <a:p>
            <a:r>
              <a:t/>
            </a:r>
          </a:p>
          <a:p>
            <a:r>
              <a:t>И вот то, ради чего прибор стоит на этом кадре. Обученной модели в нём нет. Это оптика и арифметика по поглощению света, придуманные задолго до всякого машинного обучения. Система, которая берёт насыщение крови на вход — а его берут системы раннего предупреждения, с одной такой мы встретимся в следующем разделе, — смещение наследует. Не создаёт, не усиливает по своей вине, а просто получает уже смещённое число и работает с ним как с измерением.</a:t>
            </a:r>
          </a:p>
          <a:p>
            <a:r>
              <a:t/>
            </a:r>
          </a:p>
          <a:p>
            <a:r>
              <a:t>Отсюда вывод, который раздел несёт дальше и который легко упустить, споря о справедливости алгоритмов: проверять надо не только модель, но и то, чем измерен её вход. Вопрос «на каких данных обучали» задают часто. Вопрос «чем получена каждая величина в этих данных» — почти никогда, и он дешевле: на него отвечает документация прибора, а не исследование.</a:t>
            </a:r>
          </a:p>
          <a:p>
            <a:r>
              <a:t/>
            </a:r>
          </a:p>
          <a:p>
            <a:r>
              <a:t>Сила свидетельства: проспективное сравнение с прямым анализом крови, направление подтверждено независимо и закреплено документом регулятора — сила свидетельства высокая.</a:t>
            </a:r>
          </a:p>
          <a:p>
            <a:r>
              <a:t/>
            </a:r>
          </a:p>
          <a:p>
            <a:r>
              <a:t>И у кадра есть вопрос в зал, он короткий. У кого в рабочем контуре на входе стоит величина, снятая прибором, а не введённая человеком? Если такая величина есть — кто проверял сам прибор?</a:t>
            </a:r>
          </a:p>
          <a:p>
            <a:r>
              <a:t/>
            </a:r>
          </a:p>
          <a:p>
            <a:r>
              <a:t>**Источники.** </a:t>
            </a:r>
            <a:r>
              <a:rPr u="sng">
                <a:solidFill>
                  <a:srgbClr val="065A82"/>
                </a:solidFill>
                <a:hlinkClick r:id="rId3"/>
              </a:rPr>
              <a:t>Sjoding и соавт., New England Journal of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этого кадра задан так, чтобы на него можно было ответить числом одного вида, и основание выбрано не для удобства. Из каждых ста снимков грудной клетки, которые в стране делают, сколько прочитала обученная модель. Любое другое сопоставление стран по этому вопросу оказывается склейкой выборок — ровно той ошибкой, которую весь раздел учит ловить, и было бы странно совершить её на кадре, который к разборам ведёт.</a:t>
            </a:r>
          </a:p>
          <a:p>
            <a:r>
              <a:t/>
            </a:r>
          </a:p>
          <a:p>
            <a:r>
              <a:t>Москва, профилактический поток: пятьдесят пять из ста. Точнее — 54,8 процента: модель получила 575 549 профилактических снимков грудной клетки за пять месяцев 2024 года и 315 491 из них отнесла к норме, после чего их не читал ни один человек. Это доля на названной выборке, с опубликованной методикой и названной рабочей точкой. Разбор самого случая идёт следующим кадром, и число оттуда же.</a:t>
            </a:r>
          </a:p>
          <a:p>
            <a:r>
              <a:t/>
            </a:r>
          </a:p>
          <a:p>
            <a:r>
              <a:t>Англия, рентген грудной клетки: тридцать четыре из ста. И здесь стоит остановиться, потому что доля зависит от знаменателя сильнее, чем кажется на слух. Числитель — 2,8 миллиона снимков в год — это слова разработчика инструмента, не государства. Знаменатель взят не у него, а из официальной статистики службы здравоохранения: за год к марту 2024 года в Англии выполнено 8 194 405 рентгенограмм грудной клетки по всем направлениям. Деление даёт 34 из ста.</a:t>
            </a:r>
          </a:p>
          <a:p>
            <a:r>
              <a:t/>
            </a:r>
          </a:p>
          <a:p>
            <a:r>
              <a:t>Но правительственное сообщение о том же самом развёртывании в той же публикации называет собственный знаменатель — свыше семи миллионов рентгенограмм грудной клетки в год. С ним тот же числитель даёт сорок из ста. Два официальных знаменателя на один вопрос, расхождение больше миллиона снимков, разброс доли в шесть пунктов. Это названо здесь вслух, а не выбрано молча одно из двух: кадр, который учит читать знаменатель, не вправе свой собственный спрятать.</a:t>
            </a:r>
          </a:p>
          <a:p>
            <a:r>
              <a:t/>
            </a:r>
          </a:p>
          <a:p>
            <a:r>
              <a:t>Стоит отдельно назвать, кто какое число произносит, потому что это разные разряды свидетельства. Числитель 2,8 миллиона — заинтересованная сторона. Правительство числителя не даёт вовсе: оно называет долю трастов — инструмент работает в половине трастов Англии — и число людей, четыре миллиона, получивших быстрее диагноз или снятие подозрения. Доля трастов и доля снимков совпадать не обязаны: траст может быть подключён и присылать малую часть своего потока.</a:t>
            </a:r>
          </a:p>
          <a:p>
            <a:r>
              <a:t/>
            </a:r>
          </a:p>
          <a:p>
            <a:r>
              <a:t>Теперь США, и тут на кадре стоит не число, а пробел, названный словами. Доли снимков, прочитанных моделью, США не публикует. Публикуется другое: кумулятивно 1 430 авторизаций изделий с обученной моделью на конец 2025 года, 76,5 процента из них в радиологии. Это доля изделий в реестре допусков за тридцать лет, а не доля потока за год.</a:t>
            </a:r>
          </a:p>
          <a:p>
            <a:r>
              <a:t/>
            </a:r>
          </a:p>
          <a:p>
            <a:r>
              <a:t>Есть и второе американское число, и соблазн поставить его рядом силён именно потому, что оно похоже: по опросу профессионального объединения радиологов тридцать четыре процента опрошенных врачей применяют модель в практике. Рядом с английскими тридцатью четырьмя из ста снимков оно стоять не может — там доля снимков, здесь доля врачей. Врач, применяющий модель, может пропускать через неё один снимок из двадцати. Поставить эти два числа на одну ось значило бы совершить подмену знаменателя прямо на кадре, и совпадение первых двух цифр сделало бы её незаметной.</a:t>
            </a:r>
          </a:p>
          <a:p>
            <a:r>
              <a:t/>
            </a:r>
          </a:p>
          <a:p>
            <a:r>
              <a:t>И что остаётся по России целиком, помимо московской выборки. Московские сервисы расшифровывают 1,4 миллиона исследований в месяц, около восьмидесяти процентов из них приходит из регионов; накопленным итогом свыше восемнадцати миллионов исследований, 75 регионов, около двух с половиной тысяч медицинских организаций. Мэрия оценивает этот поток как четверть всех снимков, которые выполняются в России. Знаменателя к этой оценке не публикует никто — ни числа снимков в год по стране, ни правила, по которому в него что-то включают. Поэтому на ось она не поставлена: там стоит только то, у чего знаменатель назван числом.</a:t>
            </a:r>
          </a:p>
          <a:p>
            <a:r>
              <a:t/>
            </a:r>
          </a:p>
          <a:p>
            <a:r>
              <a:t>Три разряда свидетельства на одном кадре, и читать их как один ряд нельзя. Московская доля — рецензируемое проспективное исследование с опубликованной выборкой. Английская — числитель от заинтересованной стороны, знаменатель из государственной статистики, и само государство даёт второй. Оценка «четверти» — заявление должностного лица без знаменателя.</a:t>
            </a:r>
          </a:p>
          <a:p>
            <a:r>
              <a:t/>
            </a:r>
          </a:p>
          <a:p>
            <a:r>
              <a:t>Дальше идут разборы, и первые два из них отечественные: один про то, как на этом самом московском потоке модель отправили работать без человека, второй — про задачу в том же городе, где её работать без человека не пустили.</a:t>
            </a:r>
          </a:p>
          <a:p>
            <a:r>
              <a:t/>
            </a:r>
          </a:p>
          <a:p>
            <a:r>
              <a:t>**Источники.** </a:t>
            </a:r>
            <a:r>
              <a:rPr u="sng">
                <a:solidFill>
                  <a:srgbClr val="065A82"/>
                </a:solidFill>
                <a:hlinkClick r:id="rId3"/>
              </a:rPr>
              <a:t>Васильев и соавт., *Digital Diagnostics* 2025;6(1):5–22</a:t>
            </a:r>
            <a:r>
              <a:t> · </a:t>
            </a:r>
            <a:r>
              <a:rPr u="sng">
                <a:solidFill>
                  <a:srgbClr val="065A82"/>
                </a:solidFill>
                <a:hlinkClick r:id="rId4"/>
              </a:rPr>
              <a:t>NHS England, Diagnostic Imaging Dataset 2023/24, таблица 6</a:t>
            </a:r>
            <a:r>
              <a:t> · </a:t>
            </a:r>
            <a:r>
              <a:rPr u="sng">
                <a:solidFill>
                  <a:srgbClr val="065A82"/>
                </a:solidFill>
                <a:hlinkClick r:id="rId5"/>
              </a:rPr>
              <a:t>сообщение правительства Великобритании, 10.06.2026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цены обеих ошибок, потому что из неё выведено всё инженерное решение этого случая. Профилактический снимок грудной клетки делают человеку без жалоб. Пропущенный инфильтрат на таком снимке — это туберкулёз или опухоль, которые заметят на следующем круге, через год, и цена пропуска меряется стадией, на которой болезнь застанут. Лишняя тревога на профилактическом снимке дешевле несопоставимо: человека позовут на уточняющее исследование. Асимметрия здесь предельная, и ровно она назначила рабочую точку.</a:t>
            </a:r>
          </a:p>
          <a:p>
            <a:r>
              <a:t/>
            </a:r>
          </a:p>
          <a:p>
            <a:r>
              <a:t>Классические режимы, посчитанные в той же единице. Первый: рентгенолог читает каждый профилактический снимок. Доля клинически значимых пропусков у человека на рентгенограмме грудной клетки — три-четыре процента, и число это взято у того же центра, который вёл исследование, на выборке 8 815 снимков и 403 специалистах. Второй режим — двойное чтение, два рентгенолога на один профилактический снимок. В массовом потоке он не применяется, и не из-за методики: читающих не хватает на одно чтение. Деньги у первого режима тоже названы, и названы тарифом обязательного медицинского страхования: чтение одной профилактической флюорограммы человеком — 132 рубля 98 копеек.</a:t>
            </a:r>
          </a:p>
          <a:p>
            <a:r>
              <a:t/>
            </a:r>
          </a:p>
          <a:p>
            <a:r>
              <a:t>Теперь модель против этих режимов, и устройство здесь важнее результата. Рабочую точку выставили так: чувствительность 1,0 при доверительном интервале от единицы до единицы, специфичность признана незначимой. Это инженерное решение, а не свойство модели. При такой настройке система обязана поднять тревогу на всём, что хоть отчасти похоже на отклонение, и платит за это тем, что в «не норму» уходит почти половина потока.</a:t>
            </a:r>
          </a:p>
          <a:p>
            <a:r>
              <a:t/>
            </a:r>
          </a:p>
          <a:p>
            <a:r>
              <a:t>Дальше поток делится надвое. Снимки, отнесённые к «не норме», уходят рентгенологу референс-центра — их 260 058, сорок пять из ста. Снимки, отнесённые к норме, не читает никто: заключение модели уходит прямо в электронную карту. Их 315 491, пятьдесят пять из ста, и это весь выигрыш случая целиком.</a:t>
            </a:r>
          </a:p>
          <a:p>
            <a:r>
              <a:t/>
            </a:r>
          </a:p>
          <a:p>
            <a:r>
              <a:t>Проверили его так, как в обычной работе не проверяют и проверять не будут. Все 315 491 «нормы» перечитали рентгенологи федеральной академии — организации, не участвовавшей в развёртывании. Они подняли 942 подозрения. Торакальный рентгенолог подтвердил 411 из них, а остальные 531 оказались ложными тревогами самого проверяющего врача — и это число стоит задержать в голове: проверяющий человек ошибался здесь чаще, чем проверяемая машина. Из 411 подтверждённых 290 клинически значимые, 121 нет.</a:t>
            </a:r>
          </a:p>
          <a:p>
            <a:r>
              <a:t/>
            </a:r>
          </a:p>
          <a:p>
            <a:r>
              <a:t>Итог в одной строке: 290 клинически значимых пропусков на 575 549 снимков, то есть пять на десять тысяч, при доверительном интервале от четырёх до шести на десять тысяч. Сортировка верна в 99,95 процента случаев.</a:t>
            </a:r>
          </a:p>
          <a:p>
            <a:r>
              <a:t/>
            </a:r>
          </a:p>
          <a:p>
            <a:r>
              <a:t>Сравнивать эти пять на десять тысяч с человеческими тремя-четырьмя процентами прямо нельзя, и сказать это надо вслух, потому что сравнение само просится и выглядит разгромным. Человеческая доля посчитана на всём потоке, где есть и трудные снимки. Доля модели — только на том подмножестве, которое она сама отобрала как лёгкое. Одного знаменателя у этих двух чисел нет, и разница в шестьдесят раз из них не следует.</a:t>
            </a:r>
          </a:p>
          <a:p>
            <a:r>
              <a:t/>
            </a:r>
          </a:p>
          <a:p>
            <a:r>
              <a:t>Что именно пропущено, стоит назвать поимённо. Инфильтрат или консолидация — 188 случаев из 290. Участок затемнения — 78. Расширенное средостение — девять, выпот в полости — пять, нарушение целости костной пластины — три, ателектаз — три, диссеминация — два, полость — два. Две первые позиции дают девяносто два процента всех клинически значимых пропусков, и это ровно те находки, ради которых профилактический снимок и делают.</a:t>
            </a:r>
          </a:p>
          <a:p>
            <a:r>
              <a:t/>
            </a:r>
          </a:p>
          <a:p>
            <a:r>
              <a:t>Цену этого выигрыша — деньги, нормативную правку и исчезнувший слой проверки — разбирает следующий кадр.</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переехало, — исчез слой, который ловил ошибку. В обычной работе ни один из 290 пропусков не нашёл бы никто. Их нашли только потому, что протокол исследования требовал перечитать людьми все 315 491 «нормы». Когда исследование кончится, этого слоя не будет, а доля пропусков останется прежней. Иначе говоря: число, которым мы только что хвалили модель, получено средствами, которых в её штатной работе нет.</a:t>
            </a:r>
          </a:p>
          <a:p>
            <a:r>
              <a:t/>
            </a:r>
          </a:p>
          <a:p>
            <a:r>
              <a:t>Второе: чтение стало дороже штучно. Тариф на чтение флюорограммы, отнесённой к «не норме», — 155 рублей 62 копейки против 132 рублей 98 копеек за прежнее сплошное чтение. Рентгенограмма — 157 рублей 56 копеек. Подорожал каждый снимок, который человек всё-таки читает. Автономное заключение модели при этом стоит 6 рублей 90 копеек за флюорограмму и 8 рублей 80 копеек за рентгенограмму — в двадцать с лишним раз дешевле человеческого чтения.</a:t>
            </a:r>
          </a:p>
          <a:p>
            <a:r>
              <a:t/>
            </a:r>
          </a:p>
          <a:p>
            <a:r>
              <a:t>Поэтому арифметика экономии выглядит именно так, как выглядит. За пять месяцев расходы по тарифам составили 43 миллиона 89 тысяч рублей против 76 миллионов 537 тысяч по модели расходов прежнего режима — минус сорок три и семь десятых процента, экономия 33 миллиона 448 тысяч. И берётся она не из того, что читать стало дешевле: читать стало дороже. Берётся она из того, что больше половины потока не читает никто.</a:t>
            </a:r>
          </a:p>
          <a:p>
            <a:r>
              <a:t/>
            </a:r>
          </a:p>
          <a:p>
            <a:r>
              <a:t>Третье: прежде работы потребовалась правка нормативной базы. В тарифное соглашение программы обязательного медицинского страхования на 2024 год внесли четыре новые услуги. Без этой правки модель работать не могла вовсе — платить за её заключение было нечем. Это стоит заметить инженеру: техническая готовность системы и возможность её включить здесь оказались разными вещами, и вторая решалась не в технической плоскости.</a:t>
            </a:r>
          </a:p>
          <a:p>
            <a:r>
              <a:t/>
            </a:r>
          </a:p>
          <a:p>
            <a:r>
              <a:t>Четвёртое: нагрузка пропусков легла неравномерно. Половина потока — люди от восемнадцати до сорока четырёх лет, 155 898 человек из 315 491, и доля пропусков у них наибольшая: двенадцать на десять тысяч против семи в старших группах. У мужчин отношение шансов клинически значимого расхождения 1,32 при интервале от 1,04 до 1,66. Средняя доля по потоку — пять на десять тысяч — ни одной из этих групп не описывает.</a:t>
            </a:r>
          </a:p>
          <a:p>
            <a:r>
              <a:t/>
            </a:r>
          </a:p>
          <a:p>
            <a:r>
              <a:t>Пара, которой закрывается разбор. Дало: 33 миллиона 448 тысяч рублей за пять месяцев и половину потока, снятую с рентгенолога. Потребовало: 290 пропущенных клинически значимых находок, из которых в обычном режиме работы не будет найдена ни одна.</a:t>
            </a:r>
          </a:p>
          <a:p>
            <a:r>
              <a:t/>
            </a:r>
          </a:p>
          <a:p>
            <a:r>
              <a:t>И урок целиком, потому что это первый случай раздела, где автономное применение модели не провалилось. Устроено оно честно: задача узкая — сортировка на «норму» и «не норму», а не диагноз; рабочая точка выставлена под асимметрию цены; выигрыш посчитан против названного классического режима в его собственных рублях; цена названа числом и адресом. И он же показывает, на чём это держится: доля пропусков известна ровно потому, что её мерили, а в штатной работе мерить её нечем.</a:t>
            </a:r>
          </a:p>
          <a:p>
            <a:r>
              <a:t/>
            </a:r>
          </a:p>
          <a:p>
            <a:r>
              <a:t>**Источники.** </a:t>
            </a:r>
            <a:r>
              <a:rPr u="sng">
                <a:solidFill>
                  <a:srgbClr val="065A82"/>
                </a:solidFill>
                <a:hlinkClick r:id="rId3"/>
              </a:rPr>
              <a:t>Васильев и соавт., *Digital Diagnostics* 2025;6(1):5–22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здесь другого порядка, чем на профилактическом потоке, и из этого всё остальное. Кровоизлияние в полость черепа — состояние, при котором счёт идёт на минуты: от того, насколько быстро его увидят на томограмме, зависит, доживёт человек до вмешательства или нет. Пропуск здесь не отложенная на год стадия, а смерть или необратимое поражение. Но и ложная тревога здесь не бесплатная: это развёрнутая экстренная бригада и место в операционной, занятое напрасно. Главное же — времени на то, чтобы спокойно проверить тревогу, в этом пути нет.</a:t>
            </a:r>
          </a:p>
          <a:p>
            <a:r>
              <a:t/>
            </a:r>
          </a:p>
          <a:p>
            <a:r>
              <a:t>Классический режим: рентгенолог читает томограмму головы сам. В этом исследовании он и взят за точку сравнения — но взят в особом виде, и вид надо назвать прежде чисел. Врачу был доступен результат модели как вспомогательный. Отдельного измерения «врач без подсказки» в работе нет. Значит, что именно дала подсказка, это исследование не измеряет; оно измеряет другое — модель одну против врача с подсказкой.</a:t>
            </a:r>
          </a:p>
          <a:p>
            <a:r>
              <a:t/>
            </a:r>
          </a:p>
          <a:p>
            <a:r>
              <a:t>Выборка: 3 409 томограмм головы, из них 1 101 с кровоизлиянием, тридцать два из ста. Шестьдесят семь медицинских организаций Москвы, набор с апреля 2022 по декабрь 2024 года. Сравнивались три зарегистрированных сервиса с заключением врача.</a:t>
            </a:r>
          </a:p>
          <a:p>
            <a:r>
              <a:t/>
            </a:r>
          </a:p>
          <a:p>
            <a:r>
              <a:t>Врач с подсказкой превзошёл модель по всем показателям, и по долям разница выглядит умеренной. Из ста больных находит девяносто девять против девяноста шести. Из ста здоровых не пугает девяносто девять и восемь десятых против восьмидесяти семи и четырёх. Вторая пара и есть вся история, но в долях она не читается — читается она в случаях. На одной и той же выборке модель подняла 293 ложные тревоги, врач — четыре. В семьдесят три раза больше.</a:t>
            </a:r>
          </a:p>
          <a:p>
            <a:r>
              <a:t/>
            </a:r>
          </a:p>
          <a:p>
            <a:r>
              <a:t>Главное наблюдение разбора, и ради него он здесь стоит: пропуски не совпали ни в одном случае. Все сорок пять кровоизлияний, пропущенных моделью, нашёл врач. Все двенадцать, пропущенных врачом, нашла модель. Согласие двух методов — восемьдесят девять и шесть десятых процента.</a:t>
            </a:r>
          </a:p>
          <a:p>
            <a:r>
              <a:t/>
            </a:r>
          </a:p>
          <a:p>
            <a:r>
              <a:t>Что из этого переехало. Автономный режим здесь не рассматривается вовсе: 293 ложные тревоги на 3 409 исследований означают, что каждая двенадцатая томограмма пошла бы в экстренный путь напрасно, а в экстренном пути напрасный вызов стоит дороже, чем очередь. Взаимодополняемость пропусков переводит модель из первого читателя во второго — её ценность не в том, что она читает лучше, а в том, что она ошибается в других местах. И за это приходит работа разбирать 293 ложные тревоги, причём делает её тот же врач, которому модель помогает.</a:t>
            </a:r>
          </a:p>
          <a:p>
            <a:r>
              <a:t/>
            </a:r>
          </a:p>
          <a:p>
            <a:r>
              <a:t>Пара, которой закрывается разбор. Дало: двенадцать кровоизлияний, которые врач пропустил, а модель увидела. Потребовало: двести восемьдесят девять лишних разборов на те же 3 409 исследований.</a:t>
            </a:r>
          </a:p>
          <a:p>
            <a:r>
              <a:t/>
            </a:r>
          </a:p>
          <a:p>
            <a:r>
              <a:t>И урок, ради которого эти два отечественных разбора стоят рядом. Задача та же — чтение снимка обученной моделью. Город тот же, круг изделий тот же, надзор тот же. Вывод обратный: там модель отправили работать без человека и измерили, во что это обошлось; здесь авторы прямо пишут, что место модели — второй читатель, а не первый. Отличает эти два случая не качество моделей, а цена ложной тревоги и наличие времени. На профилактическом потоке ложная тревога стоит одного уточняющего исследования, и время есть. В экстренном пути она стоит развёрнутой бригады, и времени нет. Из одного и того же свойства модели — поднимать тревогу щедро — в одной задаче получается разрешение работать без человека, в другой запрет на него.</a:t>
            </a:r>
          </a:p>
          <a:p>
            <a:r>
              <a:t/>
            </a:r>
          </a:p>
          <a:p>
            <a:r>
              <a:t>И последнее, что этот разбор добавляет разделу: это единственный из пяти, где провалилось само чтение. Не место, не состав обучающего набора, не определение цели — чтение.</a:t>
            </a:r>
          </a:p>
          <a:p>
            <a:r>
              <a:t/>
            </a:r>
          </a:p>
          <a:p>
            <a:r>
              <a:t>**Источники.** </a:t>
            </a:r>
            <a:r>
              <a:rPr u="sng">
                <a:solidFill>
                  <a:srgbClr val="065A82"/>
                </a:solidFill>
                <a:hlinkClick r:id="rId3"/>
              </a:rPr>
              <a:t>Хоружая и соавт., *Journal of Clinical Medicine* 2025;14(16):5700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Пятый вопрос чек-листа инженерной глубины — обучение, обновление, дрейф — для этой конкретной инсталляции закрывается честным отказом, и это полноправный ответ, не оговорка о нехватке материала. Об объёме и составе обучающей выборки, о частоте переобучения после развёртывания в Таиланде и о протоколе мониторинга дрейфа источник молчит вовсе. Причина не в том, что поиск оборвался: Beede и соавторы пишут наблюдательное исследование внедрения — оно описывает место и его проблемы, а не инженерию модели, и требовать от него того, чего такой жанр публикации не даёт, значит путать пробел поиска с природой источника.</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Устроено это так: на входе снимок кожного образования, на выходе оценка «показать врачу или нет». Обучающие наборы у трёх моделей свои, и тёмных тонов в них мало — в этом весь разбор, и это единственный случай в лекции, где предметом стал состав обучающих данных, а не алгоритм, развёртывание или выбор цели. Имён самих моделей публикация не даёт; названа проверочная выборка — DDI, и по ней работу можно найти.</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её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 — и именно поэтому применяется.</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 Если кто-нибудь в зале переведёт его в проценты, он получит число, которого никто не мерил.</a:t>
            </a:r>
          </a:p>
          <a:p>
            <a:r>
              <a:t/>
            </a:r>
          </a:p>
          <a:p>
            <a:r>
              <a:t>И про силу свидетельства, прежде чем идти к цене. Это проверка на отобранном корпусе с биопсийным подтверждением, а не полевое наблюдение внедрения: про то, как эти модели ведут себя в настоящем кабинете, работа не говорит ничего. Знаменатель назван, состав назван, единица названа — и этим её ценность исчерпывается. Переносить вывод на конкретное изделие нельзя: моделей три, и ни одна не поименована.</a:t>
            </a:r>
          </a:p>
          <a:p>
            <a:r>
              <a:t/>
            </a:r>
          </a:p>
          <a:p>
            <a:r>
              <a:t>По-человечески случай устроен так. Идти ли с этим образованием к врачу — вопрос, который человек задаёт себе сам, и до всякой модели решали его тремя способами: посмотреть глазом, посмотреть через дермоскоп у специалиста и сфотографировать телефоном, отдав снимок модели. Получилось вот что: модель работает, и работает неодинаково для разных людей — причём разница лежит не в алгоритме, а в том, из чьих снимков её учили. Это классификация изображений, и в этом месте курса она уже знакома; новое здесь не устройство модели, а то, что предметом разбора стал её обучающий набор.</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Место то же и исполнитель тот же, а то, во что обходится ошибка, распределилось иначе — по разным людям по-разному.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Что из этого стоит унести инженеру. Состав обучающего набора — не черновая работа и не то, что отдают стажёру: здесь он оказался единственным, что лечит измеренный разрыв, причём три метода, созданных именно для борьбы со смещением, его не вылечили. Это неудобный вывод, и он проверяемый — проверка лежит в той же работе, рядом с самим разрывом.</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Это стоит задержать на секунду, потому что обратное слышится чаще. Из того, что у классического осмотра разрыв по тону кожи не измерен, не следует, что у него разрыва нет: следует только, что никто не смотрел. Разница между «измерено и равно нулю» и «не измерено» — это и есть разница между свидетельством и его отсутствием, и путать их в обе стороны одинаково неправильно.</a:t>
            </a:r>
          </a:p>
          <a:p>
            <a:r>
              <a:t/>
            </a:r>
          </a:p>
          <a:p>
            <a:r>
              <a:t>Отсюда рабочий вопрос к любому поставщику: на ком посчитана ваша средняя и какие подгруппы в этой средней растворились. Вопрос этот стоит задавать до покупки, а не после внедрения, потому что после внедрения средняя будет единственным числом в отчёте — и будет выглядеть хорошо.</a:t>
            </a:r>
          </a:p>
          <a:p>
            <a:r>
              <a:t/>
            </a:r>
          </a:p>
          <a:p>
            <a:r>
              <a:t>И про то, как эта цена выглядит в отчёте. Если бы такую систему внедрили и измерили одним числом — средней точностью по всем снимкам, — отчёт показал бы ровное благополучие, и показал бы его честно: средняя действительно держится. Увидеть сместившуюся цену можно только разбив замер по подгруппам, то есть зная заранее, по каким именно подгруппам разбивать. В этой работе разбивали по тону кожи; какая подгруппа окажется существенной в следующей задаче, из самой модели не следует никак, и назвать её должен тот, кто знает предмет.</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вывод раздела.</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Польза настоящая, измеримая, и специалист её возьмёт: постоянство чтения и разгрузка потока. Система читает десятитысячный снимок как первый, а у разбора расхождений появляется воспроизводимая сторона — переспросить машину можно, вчерашнего себя нельзя.</a:t>
            </a:r>
          </a:p>
          <a:p>
            <a:r>
              <a:t/>
            </a:r>
          </a:p>
          <a:p>
            <a:r>
              <a:t>Граница одна, и она та же, с которой раздел начинался. Доли посчитаны на группе, и вместе с группой меняется смысл выхода. Один и тот же сигнал «болен» означает в поголовном потоке и в профильном отделении разные вещи, и разница между ними почти десятикратная — восемь из ста против семидесяти девяти.</a:t>
            </a:r>
          </a:p>
          <a:p>
            <a:r>
              <a:t/>
            </a:r>
          </a:p>
          <a:p>
            <a:r>
              <a:t>Риск сформулируем так, чтобы он запоминался. Вход измеряет прибор. Набор собирает человек. Цель задаёт переменная. Ошибиться можно в трёх местах, не ошибившись в модели, — и три разбора раздела ровно такие: в чтении глазного дна провалилось развёртывание, в оценке кожи состав обучающего набора, в отборе в программу определение цели. Ни в одном из этих трёх не провалилось само чтение, и подтвердилось другое — что место под модель, данные для неё и её цель никто не измерял до внедрения.</a:t>
            </a:r>
          </a:p>
          <a:p>
            <a:r>
              <a:t/>
            </a:r>
          </a:p>
          <a:p>
            <a:r>
              <a:t>А два отечественных разбора добавляют то, чего в первых трёх нет. В задаче о кровоизлиянии в череп модель одна дала 293 ложные тревоги против четырёх у врача на тех же 3 409 томограммах и пропустила сорок пять кровоизлияний: здесь провалилось именно чтение. И рядом — тот же город, тот же круг изделий, профилактический поток, где та же самая щедрость на тревоги оказалась выигрышем: больше половины снимков перестал читать человек, и это сэкономило 33 миллиона рублей за пять месяцев. Из одного и того же свойства модели в одной задаче вышло разрешение работать без человека, в другой — запрет на него. Различает их цена ложной тревоги и наличие времени: на профилактическом потоке напрасная тревога стоит одного уточняющего исследования, в экстренном пути — развёрнутой бригады, и проверять её некогда. Это и есть то, что инженеру стоит унести с раздела вместо вопроса «хороша ли модель».</a:t>
            </a:r>
          </a:p>
          <a:p>
            <a:r>
              <a:t/>
            </a:r>
          </a:p>
          <a:p>
            <a:r>
              <a:t>Что стало с работой. Нагрузка выросла на том же месте: у техника первичного звена появилась работа добиться годного снимка, которой у офтальмолога не было, потому что тот компенсировал условия съёмки сам. Появился шаг: повторный визит для тех, чей снимок не прошёл. Сменился исполнитель: отбор в программу делал лечащий врач, стал делать один балл. И сместилась цена ошибки — дважды, с разными механизмами: в разборе про кожу её сдвинул состав обучающих данных, в разборе про отбор — выбор целевой переменной.</a:t>
            </a:r>
          </a:p>
          <a:p>
            <a:r>
              <a:t/>
            </a:r>
          </a:p>
          <a:p>
            <a:r>
              <a:t>Чем эту нагрузку держат. Рабочая точка, назначенная под цену обеих ошибок протоколом, а не разработчиком. Контроль годности измерения — процедура, написанная в инструкции кабинета. И пересчёт доли под свою распространённость перед тем, как чужое число применять у себя. Прочерк здесь один, и он набран полужирным не для красоты: цель системы не проверяет никто. Ни одна из трёх процедур не спрашивает, что именно алгоритм считает своей целью, — а в третьем разборе именно это и подвело.</a:t>
            </a:r>
          </a:p>
          <a:p>
            <a:r>
              <a:t/>
            </a:r>
          </a:p>
          <a:p>
            <a:r>
              <a:t>И одно обнадёживающее наблюдение, которое стоит произнести, потому что раздел иначе читается безнадёжно. Единственное исправление, измеренное в этом разделе, пришло из состава данных: дообучение на представительном наборе разрыв по тону кожи сняло и даже перевернуло, а три названных алгоритмических метода борьбы со смещением его значимо не уменьшили. Это та часть работы, которая действительно находится в руках инженера, — не выбор метода, а сбор и разметка.</a:t>
            </a:r>
          </a:p>
          <a:p>
            <a:r>
              <a:t/>
            </a:r>
          </a:p>
          <a:p>
            <a:r>
              <a:t>Теперь про клетки сетки курса, занятые этой стадией, — их четыре, и четвёртая самая интересная. Классификация на изображении: автономное чтение глазного дна и оценка кожного образования, причём оба класса устройств минуют специалиста и оба дают только сортировку «показать врачу или нет». Распознавание на изображении: детекция и сортировка потока на рентгене и томографии — это то, чем заняты платформы из обзора по странам. Прогноз на структурированных данных: счёт риска внутри медицинской карты, и покупает его администрация или плательщик, то есть решение о том, кого взять под присмотр, принимается там, где считают деньги. А четвёртая клетка — измерение и сигнал прибора — занята без всякой обученной модели: смещение прибора насыщения крови приходит до неё. Сетка целиком соберётся в итогах, по всем разделам сразу.</a:t>
            </a:r>
          </a:p>
          <a:p>
            <a:r>
              <a:t/>
            </a:r>
          </a:p>
          <a:p>
            <a:r>
              <a:t>Дальше по циклу всё, что раздел прочитал, попадает к человеку, который примет решение и подпишется под ним. Что происходит с этим человеком — предмет следующего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то, что от раздела стоит унести, если не уносить больше ничего. Он короткий намеренно: пять вопросов, и каждый уже оплачен разобранным случаем, так что ни один не повиснет общим советом.</a:t>
            </a:r>
          </a:p>
          <a:p>
            <a:r>
              <a:t/>
            </a:r>
          </a:p>
          <a:p>
            <a:r>
              <a:t>Формулировка такая. Прежде чем спрашивать про точность, спросите: на какой группе посчитаны доли; чем измерен вход; из чего собран обучающий набор; что система считает своей целью; и во что обходится её ложная тревога.</a:t>
            </a:r>
          </a:p>
          <a:p>
            <a:r>
              <a:t/>
            </a:r>
          </a:p>
          <a:p>
            <a:r>
              <a:t>Первый вопрос — про группу, и он прошит через весь раздел. Мы начали с того, что одна и та же система даёт восемь верных тревог из ста и семьдесят девять из ста, и разницу назначает не прибор, а тот, кто решил, кого обследовать. Но у этого вопроса есть и вторая, менее очевидная половина, и её сорвал Таиланд. Лабораторный набор, на котором измеряли точность чтения, собран из снимков, уже прошедших отбор по качеству. В поле отбор тоже есть — его делает человек, которому никто не сказал, по какому правилу он отбирает. То есть группа, на которой посчитаны доли, и группа, на которой система работает, различались не диагнозами, а качеством входа, и этого никто не измерил до внедрения.</a:t>
            </a:r>
          </a:p>
          <a:p>
            <a:r>
              <a:t/>
            </a:r>
          </a:p>
          <a:p>
            <a:r>
              <a:t>Второй — чем измерен вход. Это самый дешёвый из четырёх вопросов и самый редко задаваемый. «На каких данных обучали» спрашивают часто; «чем получена каждая величина в этих данных» — почти никогда, хотя отвечает на это документация прибора, а не исследование. Пульсоксиметр здесь стоит как доказательство, что смещение бывает до всякого обучения: расхождение с прямым анализом крови 11,7 процента измерений у пациентов с тёмной кожей против 3,6 у светлокожих, восемьдесят восемь из семисот сорока девяти против девяноста девяти из двух тысяч семисот семидесяти восьми, смещение одностороннее, и регулятор это признал документом.</a:t>
            </a:r>
          </a:p>
          <a:p>
            <a:r>
              <a:t/>
            </a:r>
          </a:p>
          <a:p>
            <a:r>
              <a:t>Третий — из чего собран обучающий набор. Разбор про кожу: три модели теряют от девяти до пятнадцати пунктов площади под кривой на тёмных тонах, которых в наборах было мало. И здесь же единственная хорошая новость раздела: это чинится сбором и разметкой, а не выбором метода. Дообучение на представительном наборе разрыв сняло; три алгоритмических метода против смещения не сняли.</a:t>
            </a:r>
          </a:p>
          <a:p>
            <a:r>
              <a:t/>
            </a:r>
          </a:p>
          <a:p>
            <a:r>
              <a:t>Четвёртый — что система считает своей целью. Отбор в программу повышенного внимания: целевой переменной взяли будущие расходы на лечение, потому что они есть у всех, они числовые, они не требуют разметки и они связаны с болезнью. А отражают они обращаемость, которая при одинаковом здоровье у разных групп разная. Никто не записал, что именно решение считает своей целью, и целью стало то, что было в данных.</a:t>
            </a:r>
          </a:p>
          <a:p>
            <a:r>
              <a:t/>
            </a:r>
          </a:p>
          <a:p>
            <a:r>
              <a:t>Теперь про счёт, потому что он у этого кадра честный, а не круглый. Вопросов четыре, а внедрений в разделе три — и соблазн сказать «каждый вопрос сорвал по внедрению» надо погасить. Три вопроса сорвали по внедрению: группа — Таиланд, набор — кожу, цель — отбор в программу. Четвёртый, про вход, не сорвал ни одного, потому что у пульсоксиметра обученной модели нет вовсе: там нечему было внедряться. И именно это делает его в четвёрке самым полезным — он единственный проверяет то, что лежит до модели и переживёт любую её замену.</a:t>
            </a:r>
          </a:p>
          <a:p>
            <a:r>
              <a:t/>
            </a:r>
          </a:p>
          <a:p>
            <a:r>
              <a:t>Если спросят, почему вопрос о точности поставлен пятым и нужен ли он вообще. Нужен, но он производный: ответ на него читается только после первых двух. Заявленная точность без названной группы и названной распространённости не читается — это правило раздел выдаёт всей лекции, и оно же объясняет, почему порядок вопросов такой, а не обратный.</a:t>
            </a:r>
          </a:p>
          <a:p>
            <a:r>
              <a:t/>
            </a:r>
          </a:p>
          <a:p>
            <a:r>
              <a:t>Пятый — во что обходится ложная тревога и есть ли время её проверить. Этот вопрос в разделе появился последним и оказался тем, который решает вопрос об автономии. Два московских случая стоят рядом не для равновесия: город один, надзор один, круг зарегистрированных изделий один. На профилактическом потоке модель настроили поднимать тревогу щедро — и отправили работать без человека, потому что напрасная тревога стоит там одного уточняющего исследования, а время есть. На экстренных томограммах головы та же щедрость дала 293 ложные тревоги против четырёх у врача, и авторы прямо пишут: место модели — второй читатель, не первый. Напрасная тревога стоит там развёрнутой бригады, и проверять её некогда. Качество моделей эти два случая не различает.</a:t>
            </a:r>
          </a:p>
          <a:p>
            <a:r>
              <a:t/>
            </a:r>
          </a:p>
          <a:p>
            <a:r>
              <a:t>И вопрос в зал на этом кадре такой. Возьмите классификатор из своей практики, работающий на редком событии. Можете ли вы назвать его рабочую точку, группу, на которой она посчитана, и частоту события там, где он применяется? Если хотя бы одно из трёх неизвестно — напишите в чат, какое именно; интересно, какой из трёх пропадает чаще.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 В отрасли стадия называется постановкой диагноза, и решает она один вопрос: чем объясняется найденное. Решение её — назвать болезнь и подписаться под этим именем.</a:t>
            </a:r>
          </a:p>
          <a:p>
            <a:r>
              <a:t/>
            </a:r>
          </a:p>
          <a:p>
            <a:r>
              <a:t>Без обученной модели стадию держат три режима, и все три стоят отдельными кадрами дальше. Чтение одним специалистом с подписью. Двойное независимое чтение, где двое смотрят порознь и не знают мнения друг друга. И арбитраж — третий, который разбирает расхождение. Независимость здесь не вежливость, а условие: как только у двоих появляется общий источник подсказки, второе мнение перестаёт быть вторым, и измеренные доли расхождения это показывают.</a:t>
            </a:r>
          </a:p>
          <a:p>
            <a:r>
              <a:t/>
            </a:r>
          </a:p>
          <a:p>
            <a:r>
              <a:t>Шесть разборов идут по возрастанию того, что именно измерено, и назвать их стоит здесь, чтобы потом узнавать слайд по уже сказанному имени.</a:t>
            </a:r>
          </a:p>
          <a:p>
            <a:r>
              <a:t/>
            </a:r>
          </a:p>
          <a:p>
            <a:r>
              <a:t>Первый — замер взгляда. Тот же читатель на тех же маммограммах, и там, где подсказка молчала, он пропускает вдвое больше раков; видно это в движении глаза — ложная подсказка сузила зрительный поиск. На том же кадре стоит та же величина с обратным знаком: в другой программе, где разметку читатель запрашивает сам, пропущенных раков стало меньше. Обе половины на одном кадре нарочно: без второй первый разбор читается как провал, а не как измерение механизма, и знак эффекта задаёт не подсказка сама по себе, а её правота.</a:t>
            </a:r>
          </a:p>
          <a:p>
            <a:r>
              <a:t/>
            </a:r>
          </a:p>
          <a:p>
            <a:r>
              <a:t>Второй — патологи читают срезы. То же устройство эффекта, перенесённое со взгляда на решение: одна и та же подсказка поднимает шансы верного ответа вчетверо, когда модель права, и роняет вчетверо, когда неправа, а на группе в целом прибавка незначима. Отчёт с одним числом показал бы здесь «эффекта нет» — и это самое полезное, что раздел может сказать про усреднение.</a:t>
            </a:r>
          </a:p>
          <a:p>
            <a:r>
              <a:t/>
            </a:r>
          </a:p>
          <a:p>
            <a:r>
              <a:t>Третий — шведское испытание. Единственное в разделе испытание со случайным распределением и предрегистрированными исходами, и единственный разбор, где пара вышла сильнее обеих сторон: одно человеческое чтение поверх модели с арбитражем на расхождениях против двойного человеческого чтения, причём человеческого чтения вдвое меньше.</a:t>
            </a:r>
          </a:p>
          <a:p>
            <a:r>
              <a:t/>
            </a:r>
          </a:p>
          <a:p>
            <a:r>
              <a:t>Четвёртый — хирурги оценивают риск. Тот разбор, который был обещан в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Третий и четвёртый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Пятый — модель раннего предупреждения о сепсисе, и он единственный в разделе, где решение принимается непрерывно, а не по одному случаю. Пришёл он из стадии непрерывного наблюдения, которая в этой лекции самостоятельным разделом не идёт, поэтому на дивайдере он назван по своей работе, а не по месту в цикле. Держится разбор на двух базах, которые нельзя путать: тревога приходит на восемнадцать госпитализаций из ста, а подтверждается двенадцать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восемь из ста против двенадцати у модели — из этой полосы модель не вышла.</a:t>
            </a:r>
          </a:p>
          <a:p>
            <a:r>
              <a:t/>
            </a:r>
          </a:p>
          <a:p>
            <a:r>
              <a:t>Между разборами стоят два кадра без номера, и номера у них нет по делу, а не по забывчивости. Кардиограмма с неверной машинной расшифровкой отвечает на вопрос, по какому признаку откалибровано доверие, и цены обеих ошибок не назначает. Обзор ста шести опытов собирает правило из чужих измерений: где пара сильнее человека и где слабее модели. Ни тот, ни другой по форме подробного разбора не проходит, и выдавать их за разборы значило бы задваивать счёт.</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Сетка «задача × вид данных» в разделах не рисуется — она собирается один раз, в сборке, по всем разделам сразу.</a:t>
            </a:r>
          </a:p>
          <a:p>
            <a:r>
              <a:t/>
            </a:r>
          </a:p>
          <a:p>
            <a:r>
              <a:t>Снимок рядом — настоящее рабочее место чтения: врач за двумя мониторами, на обоих срезы компьютерной томографии, диктофон в руке.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силу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Сила свидетельства высокая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Второе из шести, предъявленных на входе вечера, и называется оно сужением. Входной кадр показывал его той же парой долей, которая стоит сейчас на плашках, — 61 пропуск против 29 из ста у тех же десяти читателей.</a:t>
            </a:r>
          </a:p>
          <a:p>
            <a:r>
              <a:t/>
            </a:r>
          </a:p>
          <a:p>
            <a:r>
              <a:t>Это один из четырёх замеров, которыми закрывается обещание прошлой лекции, и по механизму он самый наглядный: здесь видно не только, насколько изменился результат, но и через что он изменился.</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нарочно ошибавшимися в обе стороны. Набор обогащён раками до половины, и это надо держать в уме: в живой программе рак встречается у единиц на тысячу.</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четырнадцати случаях, где подсказка молчала, пропущенных стало 61 из ста — вдвое больше, и различие устойчиво. Цена этого числа не абстрактна: пропущенный рак означает лечение позже и хуже.</a:t>
            </a:r>
          </a:p>
          <a:p>
            <a:r>
              <a:t/>
            </a:r>
          </a:p>
          <a:p>
            <a:r>
              <a:t>Вторая половина того же измерения показывает перелом знака внутри одной работы: на четырнадцати случаях с ложноположительной подсказкой специфичность читателя выросла — с 21 до 39 из ста. То есть ошибка подсказки не просто вредна; знак эффекта задаёт то, в какую сторону она ошиблась.</a:t>
            </a:r>
          </a:p>
          <a:p>
            <a:r>
              <a:t/>
            </a:r>
          </a:p>
          <a:p>
            <a:r>
              <a:t>Как именно это произошло — измерено, а не предположено. На поражениях, которые модель пропустила, взгляд читателя задерживался заметно реже. Ложная подсказка сузила зрительный поиск. Переубеждения словами не было: читателю никто не доказывал, что поражения нет, — его глаз просто реже останавливался там, где отметки не стояло. Это и есть самое неудобное в разборе: эффект лежит ниже уровня, на котором человек может себя проконтролировать усилием воли.</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тоже дважды, но с допущенной системой — Transpara 2.1.0 производства ScreenPoint Medical. Здесь результат противоположный: пропущенных раков стало меньше, 115 из 900 прочтений против 165. Прибавка 5,6 пункта при интервале от минус 0,3 до плюс 11,4 — значимости нет, и об этом надо сказать прямо; время чтения при этом не изменилось.</a:t>
            </a:r>
          </a:p>
          <a:p>
            <a:r>
              <a:t/>
            </a:r>
          </a:p>
          <a:p>
            <a:r>
              <a:t>Площадь под кривой выросла с 0,93 до 0,97: плюс 0,03 при интервале от 0,02 до 0,05, и выросла она у всех двенадцати читателей без исключения.</a:t>
            </a:r>
          </a:p>
          <a:p>
            <a:r>
              <a:t/>
            </a:r>
          </a:p>
          <a:p>
            <a:r>
              <a:t>Отдельно — число, которое стоит на оси лекции. Модель одна дала 0,99 при интервале от 0,97 до 1,00, то есть выше пары «читатель с системой». Авторы говорят это прямо, и прятать такое мы не станем: в этом опыте человек рядом с моделью не улучшил её, а ухудшил.</a:t>
            </a:r>
          </a:p>
          <a:p>
            <a:r>
              <a:t/>
            </a:r>
          </a:p>
          <a:p>
            <a:r>
              <a:t>Фокусировка измерена и здесь: охват площади снимка фиксациями взгляда упал с 11,1 до 9,5 из ста, а время фиксации в области поражения выросло с 4,4 до 5,4 секунды. То же сужение поиска, что и в первом опыте, — но с другим исходом.</a:t>
            </a:r>
          </a:p>
          <a:p>
            <a:r>
              <a:t/>
            </a:r>
          </a:p>
          <a:p>
            <a:r>
              <a:t>Почему знаки разошлись,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разметку читатель запрашивает сам, уже посмотрев. Порядок предъявления — не оформление, а управляемый параметр с измеренной ценой.</a:t>
            </a:r>
          </a:p>
          <a:p>
            <a:r>
              <a:t/>
            </a:r>
          </a:p>
          <a:p>
            <a:r>
              <a:t>Про словарь форм. Нагрузка на том же месте упала: место то же, исполнитель тот же, объём работы ниже. Но знак этой формы задаёт правота подсказки — при ложной подсказке та же форма оказывается ценой, а не выигрышем, потому что пропуск модели становится пропуском читателя.</a:t>
            </a:r>
          </a:p>
          <a:p>
            <a:r>
              <a:t/>
            </a:r>
          </a:p>
          <a:p>
            <a:r>
              <a:t>Сила свидетельства названа вместе с числами. Первая работа — читатель против себя, по механизму сильная, по выборке читателей средняя: их десять, и обобщение на всю профессию отсюда не делается. Вторая — двенадцать читателей из десяти учреждений, то есть шире по местам, но тоже не популяционная. Оба набора обогащены раками; ScreenPoint Medical предоставил испытанную систему, и это названо в самой публикации.</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Во втором он смотрит первым и запрашивает подсказку сам. Это разные ступени, и именно они, а не модель, разводят результаты.</a:t>
            </a:r>
          </a:p>
          <a:p>
            <a:r>
              <a:t/>
            </a:r>
          </a:p>
          <a:p>
            <a:r>
              <a:t>Вопрос в зал, короткий. У кого в работе подсказка инструмента приходит до вашего собственного решения — а не после? Если приходит до, замечали ли вы за собой, что перестали смотреть туда, где она молчит?</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2024</a:t>
            </a:r>
            <a:r>
              <a:t> · </a:t>
            </a:r>
            <a:r>
              <a:rPr u="sng">
                <a:solidFill>
                  <a:srgbClr val="065A82"/>
                </a:solidFill>
                <a:hlinkClick r:id="rId4"/>
              </a:rPr>
              <a:t>Gommers J. J. J., Sechopoulos I., Broeders M. J. M. и соавт., Radiologists' Performance and Visual Search Patterns When Reading Screening Mammograms with Artificial Intelligence Support, 2025</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Уровни значимости произносятся с кадра снятыми, но произносятся. По группе в целом прибавка пары к патологу значимости не достигла: отношение шансов 1,281 при p равном 0,184 — именно это и даёт «эффекта нет» в отчёте с одним числом. А оба четырёхкратных сдвига значимы надёжно: отношение шансов 4,289 при верной подсказке (интервал от 2,360 до 7,794) и 0,253 при неверной, p меньше одной тысячной в обе стороны. Пара читается вместе: на группе эффекта нет, а в каждую сторону он вчетверо.</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силе свидетельства,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силе свидетельства: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Пятое из шести, предъявленных на входе вечера, и называется оно несогласием — второй раз за вечер, в другой стране и в другом испытании, а шаг тот же: расхождение разбирают отдельно.</a:t>
            </a:r>
          </a:p>
          <a:p>
            <a:r>
              <a:t/>
            </a:r>
          </a:p>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у плеча с моделью 80,5 при интервале от 76,4 до 84,2, и различие устойчиво, p равно 0,031. Уровень значимости с кадра снят, а произнести его стоит: это единственное из трёх чисел испытания, где различие доказано, — у интервальных раков показана не-худшесть, а объём чтения посчитан на другой выборке.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названо так же точно и так же неполно, как в прошлом разборе: вход — маммограмма, выход — оценка подозрительности, по которой ставится порог. На чём система обучена и как часто обновляется после развёртывания, публикация не раскрывает — и это не пробел поиска, а природа отчёта об испытании.</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Первое из шести, предъявленных на входе вечера, и называется оно якорением: заключение сдвигается к подсказке, даже заведомо неверной. Входной кадр показывал его на снимках грудной клетки — 23,6 против 92,8 из ста у 220 читателей; здесь тот же механизм снят на кардиограмме.</a:t>
            </a:r>
          </a:p>
          <a:p>
            <a:r>
              <a:t/>
            </a:r>
          </a:p>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специальность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Различает их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третьего столбца здесь нет,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обзор,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часть опытов, а не как итог — и прежняя редакция кадра головного числа не несла вовсе, из-за чего часть опытов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обзору: 0,64 при интервале от 0,53 до 0,74, статистика с девяноста восемью степенями свободы. Вторая — на том же части опытов,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части опытов и на сравнимых степенях свободы. Поставить рядом с минус 0,54 число 0,64, как делала прежняя редакция, значит свести два разных вопроса на двух разных частях опытов в один вывод, и зал прочтёт их как две половины одного замера.</a:t>
            </a:r>
          </a:p>
          <a:p>
            <a:r>
              <a:t/>
            </a:r>
          </a:p>
          <a:p>
            <a:r>
              <a:t>Обратное часть опытов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обзор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препринт той же работы, открытый доступ</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другая сила свидетельства, чем у любого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части опытов 0,74 при интервале от 0,63 до 0,85, по всему обзору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вида,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вид классического режима — чутьё хирурга без всякой шкалы, и устроен этот опыт так. Тридцать хирургов экстренной помощи распределены жребием на две группы по пятнадцать: одни оценивают риск по письменному описанию случая сами, другие — после знакомства с калькулятором POTTER. Сто пятьдесят случаев, исходы прослежены вперёд на тридцать дней. Больного при этом не осматривал никто из них: работали по описанию, и это ограничение надо называть вслух, а не прятать. Сам калькулятор — дерево решений, не нейросеть, обучен на 382 960 случаях; на входе от четырёх до одиннадцати ответов о больном, на выходе вероятности пяти исходов за тридцать дней. Повторения этого замера нет.</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ниже по силе свидетельства, чем остальные.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обзор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части опытов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часть опытов. Обзор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обзору (на части опытов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Обзор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плашками. Пропустить ухудшение: сепсис — ведущая причина внутрибольничной смерти, и счёт тут идёт на часы до реанимации, а не на деньги. Поднять ложную тревогу: антибиотик «на всякий случай», время, снятое с другого пациента, и — через сотню таких тревог — привычка закрывать оповещение не читая. Обе ошибки платит одна и та же дежурная смена, и выбор между ними делается по многу раз за ночь.</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заявлена площадь под кривой от 0,76 до 0,83. Внешняя проверка на 38 455 госпитализациях намерила 0,63 — это различение чуть лучше монетки. Поймано моделью 33 случая сепсиса из ста: не выявлено 1 709 из 2 552. Разработчик после этого выпустил новую версию, и важно здесь не то, что первая оказалась хуже заявленного, а то, что узнали об этом извне: внутренней проверки, которая показала бы то же самое, не было.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Четвёртое из шести, предъявленных на входе вечера, и называется оно потоком тревог: модель шлёт их подряд, и врач отклоняет почти все, включая те, что отклонять нельзя. Насколько почти все — измерено, и не на этой системе, а на целом их классе: систематический обзор 2024 года по тревогам о лекарственных взаимодействиях даёт среднюю долю отклонения 90 из ста при доверительном интервале от 85 до 95, с разбросом по отдельным работам от 55 до 98; в одном десятицентровом исследовании из 16 011 тревог отклонено 95,7 из ста. И самое неприятное число этого ряда: среди отклонений тревог максимальной тяжести уместными постфактум признаны 0,5 из ста. Читать это надо осторожно и в обе стороны: система откалибрована так, что большинство тревог избыточны, и высокая доля отклонения — отчасти разумное приспособление, а не только усталость; оба объяснения живут в литературе рядом.</a:t>
            </a:r>
          </a:p>
          <a:p>
            <a:r>
              <a:t/>
            </a:r>
          </a:p>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Сила свидетельства у этих проверок разная,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Шестой разбор раздела и первый российский в нём. Все пять предыдущих мерили подсказку на одном исследовании: снимок, срез, кардиограмма, балл риска. Здесь модель читает медкарту целиком — и ставит не предварительный диагноз, а заключительный.</a:t>
            </a:r>
          </a:p>
          <a:p>
            <a:r>
              <a:t/>
            </a:r>
          </a:p>
          <a:p>
            <a:r>
              <a:t>Что за случай. Москва, приём терапевта или врача общей практики в городской поликлинике. Система называется AIDA; она встроена в городскую систему поддержки врачебных решений и работает поверх той же электронной медкарты, в которой врач и так сидит. Важное уточнение, чтобы не путать два изделия: раньше в Москве работал сервис, предлагавший три наиболее вероятных предварительных диагноза по жалобам, записанным при обращении. AIDA — следующая работа той же линии, и предмет у неё другой: не предварительный диагноз по жалобе, а заключительный диагноз по всей истории. Для нашей стадии это и есть нужный случай: раздел про то, как по собранным величинам выносят заключение.</a:t>
            </a:r>
          </a:p>
          <a:p>
            <a:r>
              <a:t/>
            </a:r>
          </a:p>
          <a:p>
            <a:r>
              <a:t>Устройство. Вход — не одно поле, а вся карта в текстовом виде: жалобы, анамнез, данные осмотра, результаты лаборатории, протоколы и заключения инструментальных исследований, история ранее выставленных кодов. Выход — один код международной классификации болезней плюс оценка собственной неуверенности. Внутри — языковая модель Longformer, то есть преобразователь с разреженным вниманием, который держит последовательность до восьми тысяч ста девяноста двух токенов; сначала её обучили предсказывать замаскированные слова на неструктурированных врачебных записях, потом донастроили предсказывать код. Обучающий набор — полтора миллиона обезличенных карт городской системы, из них миллион триста пятьдесят тысяч на обучение и сто тридцать три тысячи на проверку. Метками служили диагнозы, подтверждённые лабораторией или инструментально и помеченные в карте как заключительные.</a:t>
            </a:r>
          </a:p>
          <a:p>
            <a:r>
              <a:t/>
            </a:r>
          </a:p>
          <a:p>
            <a:r>
              <a:t>Две инженерные подробности оттуда же, обе поучительные. Первая: когда в текст подавали полные результаты лаборатории, точность ПАДАЛА — длинная выдача анализов вытесняла из окна старую историю, и модель теряла долгие тренды. Поэтому анализы подают только отклонившиеся от нормы. Вторая: добавление временных промежутков между приёмами, которое кажется очевидно полезным, измеримого улучшения не дало вовсе; рост и вес — тоже. Перебор признаков здесь мерили, а не угадывали, и самыми весомыми оказались жалобы и анамнез, а не лаборатория.</a:t>
            </a:r>
          </a:p>
          <a:p>
            <a:r>
              <a:t/>
            </a:r>
          </a:p>
          <a:p>
            <a:r>
              <a:t>Набор кодов — отдельная история про то, как задача сужается под практику. Сначала взяли двести пятьдесят шесть самых частых диагнозов. Расширили до пятисот семидесяти одного, и этот набор покрывал девяносто пять обращений из ста, кроме акушерства, онкологии и профосмотров. Потом СОКРАТИЛИ до трёхсот шестидесяти трёх, выбросив коды, которые терапевт не ставит, которых нет в клинических руководствах или которые не годятся как заключительные. То есть набор правили не ради метрики, а под то, что на этом месте вообще бывает заключительным диагнозом.</a:t>
            </a:r>
          </a:p>
          <a:p>
            <a:r>
              <a:t/>
            </a:r>
          </a:p>
          <a:p>
            <a:r>
              <a:t>Теперь классический режим, с которым сравнивают. Он здесь один и он измерен: врач решает сам. На наборе размеченных случаев врач даёт девяносто одну целую семь десятых верных из ста. Второго режима — второго мнения коллеги — на приёме в поликлинике просто нет: в разборе второго мнения мы уже говорили, чем оно держится, а на пятнадцатиминутном приёме держать его нечем. Это не пробел замера, это свойство стадии, и я называю его прямо.</a:t>
            </a:r>
          </a:p>
          <a:p>
            <a:r>
              <a:t/>
            </a:r>
          </a:p>
          <a:p>
            <a:r>
              <a:t>И главное число кадра, из-за которого разбор того стоит. Модель даёт восемьдесят семь целых семь десятых против девяносто одной целой семи десятых у врача. Модель ХУЖЕ врача на четыре пункта — и внедрена. Авторы не прячут это и не оправдывают: они пишут, что модель работает как средство проверки и страховки, чтобы ни одна существенная подробность карты не осталась незамеченной. Это важно разделить: аргумент «модель точнее человека» здесь не прозвучал ни разу, а три миллиона рекомендаций за первый год всё равно сделаны. Основание внедрения другое — не точность, а полнота просмотра.</a:t>
            </a:r>
          </a:p>
          <a:p>
            <a:r>
              <a:t/>
            </a:r>
          </a:p>
          <a:p>
            <a:r>
              <a:t>И последнее на этом кадре: модель умеет молчать. Она выдаёт код с оценкой неуверенности — сначала это был просто максимум выходного распределения, потом поставили отдельную модель оценки неуверенности, — и если неуверенность выше порога, ответа нет вовсе, а на экране появляется сообщение, что данных карты недостаточно; отдельно есть предупреждение «особо сложный случай». Отсюда разрыв в числах, который иначе выглядит потерей: пять миллионов запросов за первый год и три миллиона рекомендаций. Два миллиона раз модель отказалась отвечать. Авторы пишут, что именно этот отказ и поднимает доверие врачей к инструменту, — то есть умение молчать здесь часть изделия, а не его недоработка.</a:t>
            </a:r>
          </a:p>
          <a:p>
            <a:r>
              <a:t/>
            </a:r>
          </a:p>
          <a:p>
            <a:r>
              <a:t>**Источники.** </a:t>
            </a:r>
            <a:r>
              <a:rPr u="sng">
                <a:solidFill>
                  <a:srgbClr val="065A82"/>
                </a:solidFill>
                <a:hlinkClick r:id="rId3"/>
              </a:rPr>
              <a:t>Умеренков, Нестеров, Шапошников и соавт., IJCAI-25, с. 9880–9886</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про то место, которое в разборах подсказки почти всегда пропускают, а оно и есть единственное, где подсказка вообще на что-то влияет.</a:t>
            </a:r>
          </a:p>
          <a:p>
            <a:r>
              <a:t/>
            </a:r>
          </a:p>
          <a:p>
            <a:r>
              <a:t>Набор, на котором всё посчитано: три тысячи пятьсот обезличенных случаев, выгруженных из той же городской системы, но ПОСЛЕ того, как обучающий набор был закрыт, — чтобы обучающие случаи не протекли в проверочные. Каждый случай независимо смотрели трое опытных врачей, видя всю историю; эталоном считался диагноз, на котором сошлись хотя бы двое.</a:t>
            </a:r>
          </a:p>
          <a:p>
            <a:r>
              <a:t/>
            </a:r>
          </a:p>
          <a:p>
            <a:r>
              <a:t>И вот первая вещь, которую стоит произнести медленно, потому что она про саму меру, а не про модель. Все трое сошлись в шестидесяти семи с половиной случаях из ста. Двое из трёх — в двадцати семи с половиной. А в пяти случаях из ста — это сто шестьдесят восемь случаев из трёх тысяч пятисот — трое опытных врачей, глядя на полную историю одного человека, не сошлись ВОВСЕ: три разных диагноза на один случай. Запомните это, когда в следующий раз услышите про точность диагностической модели: та линия, относительно которой её меряют, сама дрожит. Там, где эталон собирается голосованием двух из трёх, «точность» означает «совпадение с большинством», а не «правильность».</a:t>
            </a:r>
          </a:p>
          <a:p>
            <a:r>
              <a:t/>
            </a:r>
          </a:p>
          <a:p>
            <a:r>
              <a:t>Теперь главное число вечера для этого раздела, и я разложу его на три подмножества одного набора. Первое: случаи, где врач и модель дали одно и то же, — две тысячи шестьсот тридцать пять, то есть три четверти набора. Там верны оба практически всегда: девяносто девять из ста. Решать там нечего, подсказка там не нужна, и именно эти случаи дают основную часть красивой общей цифры. Второе: случаи, где врач и модель РАСОШЛИСЬ, — шестьсот девяносто семь, почти ровно пятая часть. И вот здесь: врач прав в шестидесяти четырёх случаях из ста, модель — в сорока пяти. Произнесу вывод прямо, он того стоит: в той пятой части случаев, где подсказка только и могла бы что-то изменить, не надёжен НИ ОДИН из двоих. Врач прав меньше чем в двух третях, модель — меньше чем в половине. Правило «слушай врача» там даёт треть ошибок, правило «слушай модель» — больше половины.</a:t>
            </a:r>
          </a:p>
          <a:p>
            <a:r>
              <a:t/>
            </a:r>
          </a:p>
          <a:p>
            <a:r>
              <a:t>Третье подмножество добивает картину. Возьмите те девятьсот шестьдесят пять случаев, где трое экспертов сошлись не полностью, то есть объективно трудные. Там обваливаются оба сразу: врач с девяноста семи до семидесяти восьми, модель с девяноста четырёх до семидесяти двух. Падают они вместе и примерно на одинаковую величину. Значит модель не трудна там, где трудно ей, — она трудна там, где трудно человеку, и ошибки у них коррелированы. Для пары это худший возможный расклад: страховка, которая отказывает одновременно со страхуемым, страховкой не является.</a:t>
            </a:r>
          </a:p>
          <a:p>
            <a:r>
              <a:t/>
            </a:r>
          </a:p>
          <a:p>
            <a:r>
              <a:t>И нюанс про сами проценты, который стоит на кадре. Восемьдесят семь целых семь десятых и девяносто одна целая семь десятых получены счётом, в котором синонимичный код классификации зачтён как верный — то есть та же болезнь, записанная другим кодом, считается попаданием. Строгим счётом, код в код: врач девяносто ровно, модель восемьдесят шесть целых одна десятая. Разница небольшая, но направление важно: заголовочная цифра — всегда более щедрая из двух, и спрашивать, какая именно считалась, надо до того, как её повторять.</a:t>
            </a:r>
          </a:p>
          <a:p>
            <a:r>
              <a:t/>
            </a:r>
          </a:p>
          <a:p>
            <a:r>
              <a:t>Что переехало. Три вещи, и ни одна не про точность. Первое: подсказка приходит ДО решения врача и стоит выше него на экране — не рядом, не по запросу, а наверху. Мы называли это механизмом на входе, и имя у него есть: якорение. Заключение сдвигается к подсказке, даже когда подсказка неверна, и порядок предъявления — управляемый параметр, который здесь выставлен в самую рискованную позицию. Второе: у врача появился шаг, которого не было в его работе, — решить, верить ли предложенному коду; в пятой части случаев этот шаг действительно совершается, и мы только что видели, чем он кончается. Третье, и это из опросов самих авторов: больше всего инструмент пригодился молодым специалистам — они с ним увереннее. Разрыв по стажу мы уже встречали на кардиограмме с неверной машинной расшифровкой; здесь он проступает с другой стороны, и честно сказать, что опросы эти качественные, числа у них нет.</a:t>
            </a:r>
          </a:p>
          <a:p>
            <a:r>
              <a:t/>
            </a:r>
          </a:p>
          <a:p>
            <a:r>
              <a:t>**Источники.** </a:t>
            </a:r>
            <a:r>
              <a:rPr u="sng">
                <a:solidFill>
                  <a:srgbClr val="065A82"/>
                </a:solidFill>
                <a:hlinkClick r:id="rId3"/>
              </a:rPr>
              <a:t>Умеренков, Нестеров, Шапошников и соавт., IJCAI-25, табл. 5, с. 9882</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шапкам кадра. На кадре от каждой осталось по три пункта, остальное проговаривается здесь.</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И механизм входа, который этот раздел встретил сильнее всех остальных: «Якорение». Московский шестой разбор ставит подсказку модели НАВЕРХ рабочего экрана до того, как врач решил, — то есть выставляет порядок предъявления в самую рискованную позицию, какая на этой стадии возможна. Там же измерено, чем это кончается в единственном месте, где подсказка на что-то влияет: в той пятой части случаев, где врач и модель расходятся, прав ни один — врач в шестидесяти четырёх случаях из ста, модель в сорока пяти.</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самое сильное свидетельство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Пять способов стоят на кадре перечнем; пройду по каждому. В современной карте они работают вместе, в одном документе. Перечень этот — про то, откуда в заметке берутся знаки; режимы письма, которые пойдут дальше, —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дальше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Про силу этого свидетельства стоит сказать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читатели, и их я называю голосом: на кадре им места нет.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Дивайдер назвал две формы документа, и дальше весь раздел ходит между ними. Разложу обе по шагам прежде, чем говорить про инструменты: без этого непонятно, во что именно потом вмешивается модель.</a:t>
            </a:r>
          </a:p>
          <a:p>
            <a:r>
              <a:t/>
            </a:r>
          </a:p>
          <a:p>
            <a:r>
              <a:t>Запись приёма делают так. Пока пациент рассказывает, врач держит в голове структуру будущего текста: что из сказанного пойдёт в жалобы, что в анамнез, что в найденное при осмотре. Это первое действие, и оно идёт параллельно живому разговору — в этом вся его тяжесть. Второе действие — набрать запись; чаще после приёма, между пациентами или к концу дня, а что не успели, уезжает домой. Третье — вычитать и подписать. Подпись здесь не формальность: с этой минуты текст становится тем, по чему будут действовать другие, и тем, что предъявят при разборе случая.</a:t>
            </a:r>
          </a:p>
          <a:p>
            <a:r>
              <a:t/>
            </a:r>
          </a:p>
          <a:p>
            <a:r>
              <a:t>Выписной эпикриз устроен иначе, и разницу стоит произнести отчётливо. Слушать там нечего: пациент давно в палате, а источник — дневниковые записи за всю госпитализацию, результаты исследований, лист назначений. Первое действие — собрать из этого итог: что было, что делали, чем кончилось, с чем выписан и что делать дальше. Второе — передать документ читателю, которого в госпитализации не было вовсе. Третье — предъявить при разборе случая, если он будет.</a:t>
            </a:r>
          </a:p>
          <a:p>
            <a:r>
              <a:t/>
            </a:r>
          </a:p>
          <a:p>
            <a:r>
              <a:t>Шесть действий, по три на форму. Запомните это деление: дальше в разделе окажется, что модель встала не в произвольные места, а в одно и то же место обеих цепочек — в то, где текст набирают или собирают. Держать структуру в голове, вычитывать и подписывать остаётся человеку в обоих случаях, и предъявлять при разборе — тоже ему.</a:t>
            </a:r>
          </a:p>
          <a:p>
            <a:r>
              <a:t/>
            </a:r>
          </a:p>
          <a:p>
            <a:r>
              <a:t>И одно, что надо сказать здесь же, иначе дальше это прозвучит придиркой. У этих двух форм разные читатели и разная цена ошибки. Запись приёма читают сам пациент и следующий врач той же поликлиники — ошибка стоит повторного обследования или неверного продолжения лечения, и спросить автора ещё можно. Выписной эпикриз читают в другом учреждении, где автора нет: по нему назначают лечение, и спросить некого. Поэтому в разделе два разбора, а не один, и второй тяжелее первого.</a:t>
            </a:r>
          </a:p>
          <a:p>
            <a:r>
              <a:t/>
            </a:r>
          </a:p>
          <a:p>
            <a:r>
              <a:t>Теперь то, что в схеме не нарисовано, а произнести надо. Эти шесть действий не равны по тяжести, и тяжелее всех первое. Держать структуру будущего текста в голове во время живого разговора — работа, которую никто не видит и которую не засчитывают во время приёма. Пациент рассказывает, врач слушает и одновременно раскладывает услышанное по будущим полям: это в жалобы, это в анамнез, это в объективный статус. Если не разложить сейчас, вечером придётся вспоминать, а вспоминают хуже, чем слышат.</a:t>
            </a:r>
          </a:p>
          <a:p>
            <a:r>
              <a:t/>
            </a:r>
          </a:p>
          <a:p>
            <a:r>
              <a:t>Второе, что стоит сказать про запись приёма: набирают её чаще не при пациенте, и у этого есть цена. Между набором и разговором проходит время — иногда весь приёмный день, — и всё, что в этот промежуток забылось, в документ уже не попадёт. Отсюда, кстати, и берётся соблазн перенести прошлую запись целиком: перенос не требует помнить.</a:t>
            </a:r>
          </a:p>
          <a:p>
            <a:r>
              <a:t/>
            </a:r>
          </a:p>
          <a:p>
            <a:r>
              <a:t>Про выписной эпикриз добавлю ещё одно. Он собирается не из разговора, а из того, что уже написано: дневники, назначения, результаты исследований, протоколы вмешательств. То есть это работа с чужим текстом ещё до всякой модели — врач читает написанное за всю госпитализацию, в том числе написанное коллегами, и сводит в один документ. Запомните это: когда дальше мы скажем, что модель собирает эпикриз по карте, она делает ровно ту работу, которая и раньше была работой с текстом, а не с пациентом.</a:t>
            </a:r>
          </a:p>
          <a:p>
            <a:r>
              <a:t/>
            </a:r>
          </a:p>
          <a:p>
            <a:r>
              <a:t>И последнее, служебное, но важное для счёта. Шестое действие — предъявить при разборе случая — случается не всегда, и именно поэтому о нём забывают, когда оценивают, сколько стоит запись. А цена её оказывается видна только там: документ, в котором действие не записано, при разборе означает, что действия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кто и чем теперь пишет запись, стоит сказать, зачем её вообще пишут. Вопрос кажется наивным, и ответ на него обычно дают неверный: «для отчётности», «для проверяющего», «чтобы было». Если бы дело было в этом, раздел не стоил бы и пяти минут.</a:t>
            </a:r>
          </a:p>
          <a:p>
            <a:r>
              <a:t/>
            </a:r>
          </a:p>
          <a:p>
            <a:r>
              <a:t>На экране — страница журнала случаев лазарета Филадельфийского работного дома, тысяча восемьсот девятнадцатый год. Джон Бартоломью, двадцать семь лет, диабет. Дальше рукой врача: страдает около восемнадцати месяцев, причины не знает, до болезни был крепок и полон, выделяет три-четыре кварты воды в день, почти вылечился в августе у деревенского врача строгой мясной диетой и железистыми пилюлями, после переохлаждения и усталости болезнь вернулась. Пульс несколько возбуждён, слабость в пояснице, спит хорошо, сильно потерял в теле. Назначено. Следующая запись — на другой день: подействовало, чувствует облегчение, моча густо окрашена, количество не уменьшилось, пульс как вчера.</a:t>
            </a:r>
          </a:p>
          <a:p>
            <a:r>
              <a:t/>
            </a:r>
          </a:p>
          <a:p>
            <a:r>
              <a:t>Посмотрите, что здесь есть. Имя и возраст. Диагноз. Давность. Что было раньше и чем лечили. Что нашли при осмотре. Что назначили. И отдельной датой — что из этого вышло. Это ровно те поля, которые сегодня стоят в унифицированной форме и которые мы с вами только что разложили по шагам. Двести лет, другая страна, другая медицина, перо вместо клавиатуры — устройство записи то же.</a:t>
            </a:r>
          </a:p>
          <a:p>
            <a:r>
              <a:t/>
            </a:r>
          </a:p>
          <a:p>
            <a:r>
              <a:t>Почему оно то же? Потому что задача у записи одна и она не менялась. Решение о человеке принимает один, а действовать по нему будет другой — через неделю, через год, в другом месте. Врач уйдёт в отпуск, сменит работу, забудет этот приём среди тысячи других. Пациент придёт снова, и перед ним будет сидеть человек, который его не видел. Единственное, что переходит между этими двумя людьми, — текст. Не память, не впечатление, не разговор. Текст.</a:t>
            </a:r>
          </a:p>
          <a:p>
            <a:r>
              <a:t/>
            </a:r>
          </a:p>
          <a:p>
            <a:r>
              <a:t>Отсюда и всё остальное в разделе. Если запись — единственный канал, то её полнота важнее её краткости, и всякий инструмент, который делает документ короче, надо проверять именно на этом. Если по записи действуют, то ошибка в ней стоит не замечания, а действия. И если текст пишет теперь не тот, кто говорил с пациентом, — это и есть то изменение, ради которого раздел существует.</a:t>
            </a:r>
          </a:p>
          <a:p>
            <a:r>
              <a:t/>
            </a:r>
          </a:p>
          <a:p>
            <a:r>
              <a:t>Одно уточнение, чтобы не было впечатления, будто ничего не изменилось. Изменилось: в тысяча восемьсот девятнадцатом состав записи держался привычкой врача и школой, в которой он учился. Сегодня унифицированные формы и порядок их ведения заданы приказом Министерства здравоохранения, и это уже не вопрос вкуса пишущего. Дальше в разделе мы увидим, что из этого следует для инструмента: модели есть куда класть текст, но места, куда его класть, назначены не ею.</a:t>
            </a:r>
          </a:p>
          <a:p>
            <a:r>
              <a:t/>
            </a:r>
          </a:p>
          <a:p>
            <a:r>
              <a:t>Скажу ещё, чего на этой странице нет, — это не менее любопытно. Нет единиц измерения, кроме кварт воды в день. Нет шкал, нет баллов, нет порога. Решение, которое принял этот врач, записано словами, и проверить его можно только прочитав. Эта особенность стадии останется с нами до конца раздела: у балла есть порог, у записи порога нет. Нельзя сказать «эта запись полна на семьдесят процентов» и принять по такому числу решение. Из этого прямо следует, почему оценить машинный документ так трудно: мерить нечем, кроме чтения человеком, — и дальше мы увидим, что все замеры раздела упираются именно в это.</a:t>
            </a:r>
          </a:p>
          <a:p>
            <a:r>
              <a:t/>
            </a:r>
          </a:p>
          <a:p>
            <a:r>
              <a:t>И одно замечание для тех, кто работает в ИТ и привык к другому порядку. Запись здесь — не журнал событий и не лог. Лог пишут для того, кто будет разбирать сбой, и пишут его машинно, полно и без разбора. Медицинская запись пишется человеком и для человека, который будет действовать, и потому содержит не всё, а отобранное — то, что пишущий счёл существенным. Отбор и есть содержание работы. Инструмент, который снимает с человека набор текста, отбор с него не снимает.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Единицы двух посчитанных режимов в одну бухгалтерию не складываются, и это я говорю голосом, а не ставлю на кадр: по времени модель сравнивается с письмом врача, с переносом она сходится по другому вопросу. 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Пять способов, которые я называл,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Про силу этого числа скажу сразу: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это доля слов, а не доля записей. Доля растёт по годам: тридцать три процента у заметок пятнадцатого года, пятьдесят четыре у заметок двадцатого.</a:t>
            </a:r>
          </a:p>
          <a:p>
            <a:r>
              <a:t/>
            </a:r>
          </a:p>
          <a:p>
            <a:r>
              <a:t>И одна строка, без которой зал услышит противоречие там, где его нет: пятьдесят целых одна десятая — доля СЛОВ карты, сорок шесть — доля ЗНАКОВ в заметке. Разные единицы, разные выборки: числа не спорят и не складываются.</a:t>
            </a:r>
          </a:p>
          <a:p>
            <a:r>
              <a:t/>
            </a:r>
          </a:p>
          <a:p>
            <a:r>
              <a:t>Про силу числа скажу вслух, как делаем со всяким числом лекции: рецензированное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об одном случае, самое слабое свидетельство из возможных: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уже предъявил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делает с записью модель, надо ответить на вопрос, который в этом разделе легко пропустить: а одинаково ли вообще устроена эта работа в разных странах? Канон курса велит не решать это на глаз, а проводить проверку: меняется ли от страны к стране порядок самой работы — или меняется только то, чей продукт её исполняет. Я проверку провёл, и она дала «обзор нужен». Скажу сразу, почему, потому что это не очевидно: сам канон предполагал обратное — что ведение документации подчиняется больничным правилам уровня организации, а не национальным, и странового разреза не заслуживает.</a:t>
            </a:r>
          </a:p>
          <a:p>
            <a:r>
              <a:t/>
            </a:r>
          </a:p>
          <a:p>
            <a:r>
              <a:t>Вот что переворачивает это предположение. Три врача, которые занимались внедрением одной и той же системы электронной карты в больницах США и за их пределами, заметили разницу в отношении: за границей коллеги ждали от цифровой карты улучшений, в США закатывали глаза. Они взяли данные самого поставщика и посчитали длину заметок. Американская заметка оказалась вчетверо длиннее: больше шести тысяч знаков против примерно тысячи двухсот у специалистов вне США.</a:t>
            </a:r>
          </a:p>
          <a:p>
            <a:r>
              <a:t/>
            </a:r>
          </a:p>
          <a:p>
            <a:r>
              <a:t>Обратите внимание на то, что здесь проконтролировано. Поставщик карты один и тот же. Интерфейс тот же, поля те же, инструменты вставки те же. Различие не может быть различием продукта — продукт один. Авторы называют причину прямо: документация вне США короче, потому что в неё кладут только клинически существенное; американская заметка раздута тем, что служит ещё и платёжным и контрольным документом. То есть различается не работа врача, а то, кто читает текст и за что по нему платят. Для нашего раздела это попадание в самую ось: он весь про то, кто прочтёт запись потом.</a:t>
            </a:r>
          </a:p>
          <a:p>
            <a:r>
              <a:t/>
            </a:r>
          </a:p>
          <a:p>
            <a:r>
              <a:t>Про силу этого свидетельства скажу честно, как со всяким числом лекции. Это редакционная статья, а не исследование с методом: числа предоставлены поставщиком, выборка и способ счёта в статье не раскрыты. Направление она показывает, величину — заявляет.</a:t>
            </a:r>
          </a:p>
          <a:p>
            <a:r>
              <a:t/>
            </a:r>
          </a:p>
          <a:p>
            <a:r>
              <a:t>Теперь второе число, и его надо отделить от первого. В двадцать первом году в США поправили правила оплаты приёма ровно с этой целью — снять с врача документирование, нужное только для счёта. Через три года посмотрели, что вышло: один миллиард семьсот миллионов заметок ста шестидесяти шести тысяч амбулаторных врачей. Средняя длина не упала, а выросла на восемь целых одну десятую процента — с четырёх тысяч шестисот двадцати восьми знаков до пяти тысяч двух. При этом время на одну заметку упало на одиннадцать целых одну десятую — с пяти минут двадцати четырёх секунд до четырёх минут сорока восьми секунд. Пишут быстрее, а не короче. И отдельная находка оттуда же, прямо по нашему разделу: длину снизили те учреждения, которые снизили употребление подстановки и копирования.</a:t>
            </a:r>
          </a:p>
          <a:p>
            <a:r>
              <a:t/>
            </a:r>
          </a:p>
          <a:p>
            <a:r>
              <a:t>Единицу и выборку здесь надо держать врозь от первого числа: шесть тысяч знаков — это сравнение стран на одной выборке специалистов, а четыре тысячи шестьсот двадцать восемь — средняя по всем амбулаторным заметкам другой выборки за другие годы. Эти два ряда в один столбик не складываются, и поэтому диаграммы на кадре нет.</a:t>
            </a:r>
          </a:p>
          <a:p>
            <a:r>
              <a:t/>
            </a:r>
          </a:p>
          <a:p>
            <a:r>
              <a:t>И Россия. Состав записи у нас не оставлен на усмотрение учреждения: унифицированные формы и порядок их ведения утверждены приказом Министерства здравоохранения. Читатель, который проверяет запись, — экспертиза качества медицинской помощи; она смотрит, соответствовали ли действия порядкам, а не выставляет по объёму текста счёт. Это другой механизм давления на длину, чем американский. Сопоставимого замера длины заметки по России я не нашёл: ни публикации со счётом знаков, ни ведомственной статистики — и пишу это прямо, чтобы следующий, кто откроет вопрос, знал, что он уже был задан и чем кончился, а не подставлял сюда похожее число из американской работы.</a:t>
            </a:r>
          </a:p>
          <a:p>
            <a:r>
              <a:t/>
            </a:r>
          </a:p>
          <a:p>
            <a:r>
              <a:t>**Вопрос залу.** У кого на работе есть документ, который вы пишете не для коллеги, а для проверяющего, — насколько он длиннее того, что нужно по делу? Напишите в чат одной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силу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Только что мы смотрели зарубежный замер: рандомизация, контрольная группа, минус девять с половиной процентов времени в заметке. Теперь та же задача у нас, и смотреть на неё надо парой с предыдущим разбором — это один и тот же инструмент, но другое развёртывание и доказательство другой силы.</a:t>
            </a:r>
          </a:p>
          <a:p>
            <a:r>
              <a:t/>
            </a:r>
          </a:p>
          <a:p>
            <a:r>
              <a:t>Что сделано. Московский голосовой помощник работает в фоне во время приёма: расшифровывает разговор врача и пациента и сам вносит в протокол жалобы, анамнез, диагнозы, рекомендации — то, что прозвучало вслух. В конце консультации врач видит готовый документ, проверяет, правит при необходимости и подписывает. Обучен на обезличенных данных реальных приёмов, чтобы распознавать медицинскую терминологию; данные и расшифровки идут по защищённым каналам городской медицинской системы.</a:t>
            </a:r>
          </a:p>
          <a:p>
            <a:r>
              <a:t/>
            </a:r>
          </a:p>
          <a:p>
            <a:r>
              <a:t>Про масштаб. Начали с неврологов, и там сервис уже у всех взрослых городских поликлиник. С сентября двадцать шестого — у всех участковых врачей, больше трёх тысяч специалистов. Участковый приём для этой задачи заметно тяжелее неврологического, и город это называет сам: люди приходят с самыми разными жалобами, нередко с несколькими болезнями и длинной историей, и сервис должен не просто распознать речь, а разложить услышанное по разделам протокола. Доработка шла летом, с замечаниями самих врачей.</a:t>
            </a:r>
          </a:p>
          <a:p>
            <a:r>
              <a:t/>
            </a:r>
          </a:p>
          <a:p>
            <a:r>
              <a:t>Теперь к числам, и здесь надо быть аккуратным, потому что соблазн прочитать их как замер велик. Качество подготовленных протоколов эксперты оценили в четыре целых восемь десятых балла из пяти — и в первой публикации сказано важное: столько же, сколько если бы протокол заполнял человек. Это единственное число раздела, где отечественный результат прямо сопоставлен с человеческим режимом, и его стоит запомнить рядом с зарубежным разбором выписного эпикриза, где слепое сравнение дало по полноте не «столько же», а хуже: три целых семьдесят две сотых против четырёх целых тринадцати сотых. Два результата расходятся, и расходятся они не страной, а способом замера: там двадцать два рецензента читали документы вслепую, не зная, где машинный текст, здесь — экспертная оценка без объявленного ослепления и без опубликованного протокола.</a:t>
            </a:r>
          </a:p>
          <a:p>
            <a:r>
              <a:t/>
            </a:r>
          </a:p>
          <a:p>
            <a:r>
              <a:t>Дальше — два числа, у которых нет базы, и я называю это прямо. Первое: время сосредоточенного внимания врача к пациенту выросло более чем вдвое. Вдвое от чего — не сказано: исходной величины в минутах в публикациях нет. Второе: на заполнение протоколов у врачей уходит от трети до половины времени приёма. Это оценка руководителя направления компании-поставщика, а не замер с секундомером, и она описывает «до», а не результат. Сравните с отечественным разбором, который будет дальше: там хронометраж семи поликлиник дал десять минут пятнадцать секунд клавиатурой против восьми минут двух секунд распознаванием речи — обе величины в одной единице. Вот как выглядит число с базой, и вот как выглядит число без неё.</a:t>
            </a:r>
          </a:p>
          <a:p>
            <a:r>
              <a:t/>
            </a:r>
          </a:p>
          <a:p>
            <a:r>
              <a:t>Что я искал и не нашёл. Публикации с минутным замером по этому московскому сервису — ни в рецензируемых журналах, ни в ведомственных отчётах; источники по нему на сегодня это сообщения городского департамента здравоохранения. Пишу это как факт раздела: пробел принадлежит замеру, а не внедрению, и подставлять сюда минуты из зарубежного испытания нельзя — там другой язык, другой протокол приёма и другой инструмент.</a:t>
            </a:r>
          </a:p>
          <a:p>
            <a:r>
              <a:t/>
            </a:r>
          </a:p>
          <a:p>
            <a:r>
              <a:t>И вывод, ради которого кадр стоит рядом с предыдущим. Масштаб внедрения и сила доказательства — разные вещи, и растут они врозь. Зарубежное испытание охватило двести тридцать восемь врачей и дало настоящую рандомизацию; московское развёртывание охватило больше трёх тысяч и дало экспертную оценку. Инженеру, который будет выбирать такой инструмент, придётся решать, что для него весит больше: что им уже пользуется весь город — или что эффект от него кем-то измерен против контрольной группы.</a:t>
            </a:r>
          </a:p>
          <a:p>
            <a:r>
              <a:t/>
            </a:r>
          </a:p>
          <a:p>
            <a:r>
              <a:t>**Вопрос залу.** У кого на работе расшифровка разговора уже пишет за вас документ — вы его перечитываете целиком или просматриваете? Напишите в чат одним словом.</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свидетельство совсем другой силы,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Назову по имени то, что здесь происходит с человеком: это когнитивное искажение. Шестое из шести, предъявленных на входе вечера, и называется оно поправкой — единственное из шести, работающее в нашу пользу: здесь врач правит заключение модели, когда находит в нём ошибку. Величина у поправки есть, и снята она в другой области, на кардиограммах: из 159 630 реальных записей одной американской клиники за 2011–2023 годы врач правил машинное заключение в 31,3 случаях из ста. То есть почти в каждом третьем — и это самый прямой из имеющихся ответов на вопрос, работает ли человек в контуре по-настоящему. Рядом, у той же группы работ, стоит обратная сторона: подсказку, принятую без проверки, потом правят в 53 случаях из ста против 18, если её проверили сразу. Поправка существует; она просто происходит позже, чем нужно.</a:t>
            </a:r>
          </a:p>
          <a:p>
            <a:r>
              <a:t/>
            </a:r>
          </a:p>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свидетельство слабее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свидетельство слабое,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 отечественный, и взят он сюда по двум причинам. Первая: это единственный случай во всём разделе, где классический режим и режим с моделью посчитаны в одной и той же единице, на одних и тех же врачах, на одной и той же работе. Вторая: он показывает то, чего не показывает ни один другой разбор вечера, — как одна и та же технология сорок лет не работала, а потом начала.</a:t>
            </a:r>
          </a:p>
          <a:p>
            <a:r>
              <a:t/>
            </a:r>
          </a:p>
          <a:p>
            <a:r>
              <a:t>Начну с провала, а не с выигрыша, и это сознательный разворот формы. В тысяча девятьсот восемьдесят первом году сравнили клавиатурный и голосовой ввод на шестидесяти протоколах лучевых исследований. Объём протокола от способа заполнения не зависел — значит и сложность описываемых исследований была схожей. А длительность заполнения голосом превышала клавиатурную в четыре раза, и протоколы, заполненные голосом, содержали в среднем двенадцать ошибок распознавания, тогда как набранные на клавиатуре не содержали ни одной. Системы того времени не подавляли внешний шум, и врачебная речь распознавалась плохо. Запомните эту пару чисел: вчетверо дольше и двенадцать ошибок на документ. Та же задача, та же отрасль, тот же тип инструмента — и ответ противоположный нынешнему.</a:t>
            </a:r>
          </a:p>
          <a:p>
            <a:r>
              <a:t/>
            </a:r>
          </a:p>
          <a:p>
            <a:r>
              <a:t>Теперь нынешний замер. Первое исследование эффективности распознавания речи в отделениях лучевой диагностики провели в двадцатом году на базе семи городских поликлиник Департамента здравоохранения Москвы, на системе голосового ввода Voice2Med группы компаний ЦРТ — тогда ещё версии с точностью распознавания девяносто три процента. Сравнивали скорость заполнения документации клавиатурой и распознаванием речи; врачи-рентгенологи заполняли протоколы компьютерных и магнитно-резонансных томографических исследований. Хронометраж дал следующее: среднее время описания одного исследования клавиатурой — десять минут пятнадцать секунд, распознаванием речи — восемь минут две секунды.</a:t>
            </a:r>
          </a:p>
          <a:p>
            <a:r>
              <a:t/>
            </a:r>
          </a:p>
          <a:p>
            <a:r>
              <a:t>Вычтем сами, вслух: две минуты тринадцать секунд, то есть двадцать один и шесть десятых процента от базы. Держите в голове, что база здесь названа, и назвать её было можно — в отличие от половины чисел, которые нам показывают про эту стадию. Департамент здравоохранения Москвы к январю двадцать третьего года сообщил о более чем двухстах десяти тысячах заполненных голосом протоколов лучевых исследований и о сокращении времени подготовки «более чем на двадцать процентов». Обратите внимание на редкую вещь: ведомственная цифра и независимый хронометраж сошлись. Это не всегда так — в этом же разделе мы видели заявление в пятнадцать тысяч часов, которое не сходится ни с чем.</a:t>
            </a:r>
          </a:p>
          <a:p>
            <a:r>
              <a:t/>
            </a:r>
          </a:p>
          <a:p>
            <a:r>
              <a:t>Про устройство. Вход — речь врача через гарнитуру во время или сразу после исследования. Выход — текст, который автоматически переносится в открытый протокол медицинской информационной системы; врач его правит и подписывает. На чём обучено: словарь медицинских терминов построен на двух с половиной миллионах протоколов рентгенологических исследований, и точность распознавания медицинской терминологии на русском языке выросла с девяноста трёх процентов до девяноста восьми. Тип задачи — распознавание, модальность — звук. Это другая клетка сетки курса, чем два предыдущих разбора: там была генерация на тексте, здесь распознавание на звуке. Модель не решает, что попадёт в документ, и ничего не предлагает — она переводит речь в знаки.</a:t>
            </a:r>
          </a:p>
          <a:p>
            <a:r>
              <a:t/>
            </a:r>
          </a:p>
          <a:p>
            <a:r>
              <a:t>Теперь про классический режим, которого у нас в разделе не хватало, и отечественный материал его закрывает. Живой писец — третий режим письма — в нашем разборе назван и не посчитан. В отечественном здравоохранении его ближайший родственник, диктофонные центры, внедрять пробовали, однако научных исследований их эффективности в открытом доступе нет, а самих центров в современной отечественной системе не осталось. Авторы обзора делают из этого осторожный вывод: применение оказалось нецелесообразным. Это честный отказ от внедрения, и он ценнее ещё одного случая успеха: режим существовал, его попробовали и оставили, и замера нам после этого никто не оставил.</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статистика Департамента здравоохранения Москвы, 7 января 2023</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и пятый шаги разбора: что переехало и чем за выигрыш заплатили. Начну с того, что принято считать мелочью, а для инженера это и есть содержание.</a:t>
            </a:r>
          </a:p>
          <a:p>
            <a:r>
              <a:t/>
            </a:r>
          </a:p>
          <a:p>
            <a:r>
              <a:t>Окончания слов. Это не придирка к качеству продукта, а свойство русского языка, названное разработчиками как отдельная задача: системе приходится выбирать падеж и число там, где английская речь этого выбора не требует. Для документа это важнее, чем кажется: «образование в правом лёгком» и «образования в правых лёгких» различаются ровно окончаниями, и ошибка здесь не выглядит ошибкой — она выглядит текстом.</a:t>
            </a:r>
          </a:p>
          <a:p>
            <a:r>
              <a:t/>
            </a:r>
          </a:p>
          <a:p>
            <a:r>
              <a:t>Чужая речь. Врачи отмечали ситуации, когда система распознавала не их. В кабинете лучевой диагностики говорят трое: врач, пациент и персонал. Инструмент, который кладёт в документ произнесённое не автором, создаёт ровно тот дефект, которым занят весь раздел, — правдоподобный текст, которого в этом исследовании никто не имел в виду.</a:t>
            </a:r>
          </a:p>
          <a:p>
            <a:r>
              <a:t/>
            </a:r>
          </a:p>
          <a:p>
            <a:r>
              <a:t>Шум и микрофон. На качество распознавания негативно влияют работа диагностического оборудования и разговор медицинского персонала с пациентом или с коллегами, а также некачественные устройства записи звука. Запомните это как правило переноса: у инструмента, который слушает, часть результата лежит не в модели, а в железе за три тысячи рублей и в акустике помещения. Ни то, ни другое в публикации про модель обычно не описано.</a:t>
            </a:r>
          </a:p>
          <a:p>
            <a:r>
              <a:t/>
            </a:r>
          </a:p>
          <a:p>
            <a:r>
              <a:t>Возраст и приверженность. Молодые специалисты открыты к технологии больше, и охотнее других её берут врачи тридцати-сорока лет. Это тоже цена: инструмент, эффект которого зависит от того, кто им пользуется, нельзя внедрить распоряжением и получить средний результат публикации.</a:t>
            </a:r>
          </a:p>
          <a:p>
            <a:r>
              <a:t/>
            </a:r>
          </a:p>
          <a:p>
            <a:r>
              <a:t>Теперь про число, которое легко принять за замер. Опрос врачей-рентгенологов двадцать второго года показал, что шестьдесят два и восемь десятых процента респондентов отмечают повышение эффективности своей работы при использовании распознавания речи. Произнесу это медленно: шестьдесят два процента — это доля тех, кто так считает. Не доля сэкономленного времени и не доля протоколов, заполненных быстрее. Согласие с инструментом и выигрыш от инструмента — две разные величины, и первая всегда выше второй, потому что в неё входит облегчение, которое человек чувствует, даже когда секундомер его не видит. Замер времени у нас есть отдельно, тот самый хронометраж, и он даёт двадцать один процент, а не шестьдесят два.</a:t>
            </a:r>
          </a:p>
          <a:p>
            <a:r>
              <a:t/>
            </a:r>
          </a:p>
          <a:p>
            <a:r>
              <a:t>И второе отечественное внедрение, ради которого стоит задержаться на одну минуту. В двадцать втором году в двух московских эндоскопических центрах — Боткинской больницы и больницы Буянова, где делают от ста восьмидесяти до двухсот с лишним исследований в день каждый, — внедрили ту же технологию для описания эндоскопических исследований. Провели хронометраж среднего времени заполнения протоколов до и после внедрения и получили снижение в среднем на двадцать семь процентов, при качестве распознавания свыше девяноста семи процентов и полном удовлетворении врачей.</a:t>
            </a:r>
          </a:p>
          <a:p>
            <a:r>
              <a:t/>
            </a:r>
          </a:p>
          <a:p>
            <a:r>
              <a:t>А теперь то, чего в этой публикации нет, и это ровно наш курс. Сколько минут занимало заполнение протокола ДО внедрения — не опубликовано. Названа только доля. Двадцать семь процентов от десяти минут и двадцать семь процентов от двух минут — это разные вещи для планирования, и выбрать между ними по этой публикации нельзя. Сравните с предыдущим кадром: там названы и десять минут пятнадцать секунд, и восемь минут две секунды, и долю можно посчитать самому. Здесь посчитать нечего. Это не повод отбросить внедрение — оно настоящее, на настоящем потоке; это повод знать, что доля без своей базы не переносится на вашу больницу.</a:t>
            </a:r>
          </a:p>
          <a:p>
            <a:r>
              <a:t/>
            </a:r>
          </a:p>
          <a:p>
            <a:r>
              <a:t>Вопрос залу я задаю здесь и про их собственную работу: у кого диктовка уже пишет протокол совещания или письмо — что у вас с чужой речью в записи. Ответ «в стенограмму попадает сосед по столу» и есть тот самый дефект, который в карте пациента становится назначением.</a:t>
            </a:r>
          </a:p>
          <a:p>
            <a:r>
              <a:t/>
            </a:r>
          </a:p>
          <a:p>
            <a:r>
              <a:t>**Источники.** </a:t>
            </a:r>
            <a:r>
              <a:rPr u="sng">
                <a:solidFill>
                  <a:srgbClr val="065A82"/>
                </a:solidFill>
                <a:hlinkClick r:id="rId3"/>
              </a:rPr>
              <a:t>Кудрявцев Н.Д., Бардасова К.А., Хоружая А.Н. Технология распознавания речи в лучевой диагностике // Digital Diagnostics. 2023;4(2):185–195</a:t>
            </a:r>
            <a:r>
              <a:t> · </a:t>
            </a:r>
            <a:r>
              <a:rPr u="sng">
                <a:solidFill>
                  <a:srgbClr val="065A82"/>
                </a:solidFill>
                <a:hlinkClick r:id="rId4"/>
              </a:rPr>
              <a:t>НИИОЗММ ДЗМ, «Московская медицина»: функция распознавания речи в эндоскопических центрах, 2022</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где такая система вообще стоит. Шесть действий стадии записи, которые мы разбирали, такую систему не содержат ни одним пунктом. Вход у неё здесь, на ведении записи: она слушает живой приём. А выход — на постановке диагноза, то есть там, где лекция уже побывала. Эта система стоит между двумя стадиями сразу. Инструмент, который не ложится в порядок стадий, — обычное дело: средство появляется позже, чем сложилась работа,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с которого раздел начинался.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разделы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Разборов в разделе три: запись приёма, выписной эпикриз и отечественный голосовой ввод протокола. Девять с половиной процентов — это про первый из четырёх режимов и ни про какой другой, и считаны они против контрольной группы, а не против нуля.</a:t>
            </a:r>
          </a:p>
          <a:p>
            <a:r>
              <a:t/>
            </a:r>
          </a:p>
          <a:p>
            <a:r>
              <a:t>Девять с половиной процентов — вся измеренная экономия стадии у зарубежного инструмента автоматической записи приёма.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другой природы.</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Типов задачи на стадии два, и их стоит различить: генерация на тексте — на входе речь приёма и поля карты, на выходе черновик записи; и распознавание на звуке — отечественный голосовой ввод, где на выходе текст того, что врач произнёс, и ничего сверх него. Черновик под вычитку работает именно здесь,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прямое измерение деквалификации на реальной клинической работе случилось один раз, и повторения у него нет. Третий разбор снят на разработчиках, не в клинике, и он рандомизированный — сильнее по устройству, но перенести его величину на врачей нельзя. Раздел называет оба эти ограничения прямо, не прячет и не смягчает.</a:t>
            </a:r>
          </a:p>
          <a:p>
            <a:r>
              <a:t/>
            </a:r>
          </a:p>
          <a:p>
            <a:r>
              <a:t>Разборов в разделе три, и каждый делает работу, которой не делают два других. Доля обнаружения, измеренная у тех же врачей до появления помощника и после периода работы с ним, — единственное прямое свидетельство износа на реальной клинической работе. Российское испытание ArtInCol меряет ту же величину на той же процедуре сильнее по разряду свидетельства, но периода наблюдения после снятия помощника у него нет. А рандомизированный опыт на разработчиках меряет ровно вторую половину пары — и меряет её жребием, то есть тем способом, которого нет у польской работы; клинической она при этом не является, и путать эти два разряда нельзя.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стадия эта и стоит последней из содержательных: она доводит до конца ту самую мысль, с которой вечер начался, и доводит тем же приёмом, которым лекция читает чужие числа, — называя,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четыре, и все четыре работают на обычном потоке, без отдельного испытания.</a:t>
            </a:r>
          </a:p>
          <a:p>
            <a:r>
              <a:t/>
            </a:r>
          </a:p>
          <a:p>
            <a:r>
              <a:t>Аудит решений по выполненной работе — это доля обнаружения, и о ней отдельно ниже. Счёт объёма практики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Четвёртый способ — периодическое подтверждение: оно собирает и накопленную учёбу, и накопленную практику, потому что между двумя подтверждениями состояние специалиста меняется в обе стороны. А разбор случая в эти четыре не входит: он приходит уже ПОСЛЕ исхода, то есть проверяет состоявшуюся ошибку, а молчаливый расход навыка до него не доходит. Пятого способа — испытания с выключенным помощником — нет ни в одной юрисдикции.</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замер этой стадии снимают с человека целиком, по всем стадиям сразу; шагом внутри цикла он не ставится.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как это устроено в России, потому что залу это ближе любых зарубежных рекомендаций.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набрать сто сорок четыре часа повышения квалификации — одним курсом или несколькими, либо не менее семидесяти двух часов повышения квалификации плюс неформальное образование, учтённое на портале непрерывного медицинского образования, — и сдать портфолио: отчёт о профессиональной деятельности за эти пять лет со сведениями об образовании и стаже.</a:t>
            </a:r>
          </a:p>
          <a:p>
            <a:r>
              <a:t/>
            </a:r>
          </a:p>
          <a:p>
            <a:r>
              <a:t>И вот что из этого следует, и формулировать надо точно. Сказать «результат работы в России не смотрят» было бы сильнее, чем верно: отчёт о профессиональной деятельности портфолио как раз требует, и он содержит результаты работы по выполняемой трудовой функции. Верно другое: отчёт этот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То есть внешней числовой проверки собственной формы — той самой, вокруг которой построен весь раздел, — у российского эндоскописта в обязательном порядке нет.</a:t>
            </a:r>
          </a:p>
          <a:p>
            <a:r>
              <a:t/>
            </a:r>
          </a:p>
          <a:p>
            <a:r>
              <a:t>Прежняя редакция кадра говорила «результат работы — нет»: утверждение сильнее, чем держит источник, — тот самый класс ошибки, который мы разбираем у поставщиков. Доля обнаружения у нас считается там, где её считают по собственному решению центра, а не потому, что её спрашивает аккредитация. Поэтому вопрос про внешнюю числовую проверку формы имеет здесь неприятный ответ: у большинства никакой внешней числовой проверки формы нет, и узнать о падении им неоткуда — ровно как врачу из картины выше.</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залу в этой стадии задаётся один: у кого есть внешняя числовая проверка собственной формы и кто её считает — он сам, руководитель или заказчик. Второго вопроса в этой стадии нет намеренно: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Про единицу, в которой считает весь раздел, и это надо произнести один раз здесь. Величина, которой профессия меряет эндоскописта, называется долей обнаружения аденом: это доля процедур скрининга, в которых врач нашёл хотя бы одно предраковое образование, от всех его процедур скрининга. На кадрах раздела она переведена в число процедур из тысячи — так её можно складывать и сравнивать вслух, не путая с долей пациентов. Двести семьдесят одна процедура из тысячи с находкой означает: в остальных семистах двадцати девяти не нашли ничего, и часть этих «ничего» — не отсутствие аденомы, а непойманная аденома. Устроена доля хитро, и в этом её сила: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а не отчётность о нём, и поднять её старанием в описании нельзя.</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процедур с находкой стало триста шестьдесят шесть из тысячи против двухсот семидесяти одной, то есть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трёхсот девяноста трёх процедур из тысячи до четырёхсот пятидесяти семи, то есть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Оговорка о базах, снятая с кадра в эту заметку, и произносить её надо. Исходные доли у двух режимов разные — двести семьдесят одна процедура из тысячи у первого и триста девяносто три у второго, разные популяции и разные центры, — поэтому два прироста между собой не сравниваются. Каждый сравнивается с приростом от помощника в своей работе, а не друг с другом; складывать плюс девяносто пять и плюс шестьдесят четыре в «плюс сто пятьдесят девять» нельзя ни в каком виде.</a:t>
            </a:r>
          </a:p>
          <a:p>
            <a:r>
              <a:t/>
            </a:r>
          </a:p>
          <a:p>
            <a:r>
              <a:t>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между классикой раздела и первым разбором с моделью, и стоит он здесь не для широты взгляда. Прошлый кадр показал два порядка работы, которые повышают долю процедур с находкой без всякой модели: удлинить выведение прибора и посадить рядом второго наблюдателя. Естественный следующий вопрос — а кто вообще эту долю считает и что бывает человеку, у которого она низкая. Ответ на него различается по странам настолько сильно, что из одной юрисдикции другую не угадать, и это тот редкий случай, когда по странам расходится сам порядок работы. Продукт, который его исполняет, здесь ни при чём.</a:t>
            </a:r>
          </a:p>
          <a:p>
            <a:r>
              <a:t/>
            </a:r>
          </a:p>
          <a:p>
            <a:r>
              <a:t>Начнём с того, где величина входит в допуск буквально. В Великобритании рекомендации профессионального общества по обучению и аттестации в колоноскопии назначают пороги по выполненной работе, усреднённые за три месяца: достижение слепой кишки без посторонней помощи выше девяноста из ста процедур, осмотр на развороте в прямой кишке выше девяноста, извлечение найденного выше девяноста, недовольных процедурой меньше десяти из ста — и доля процедур с находкой пятнадцать из ста и выше как минимальный стандарт обучающегося. Рядом стоит объём: минимум двести восемьдесят колоноскопий до аттестации, или двести, если есть аттестация по сигмоидоскопии, и не меньше пятнадцати процедур за последние три месяца. После аттестации рекомендация — не менее ста колоноскопий в год, желательный уровень сто пятьдесят. И самое существенное: без аттестации человека не допускают работать в скрининговой программе. То есть результат его работы, посчитанный за него по его же протоколам, прямо решает, пустят его к этой работе или нет.</a:t>
            </a:r>
          </a:p>
          <a:p>
            <a:r>
              <a:t/>
            </a:r>
          </a:p>
          <a:p>
            <a:r>
              <a:t>Теперь США, и здесь находка, которую стоит произнести медленно. Тот же показатель у них есть и назначен: целевой уровень доли обнаружения аденом — тридцать пять из ста, и в своём документе профессия помечает его как показатель исхода, а не процесса, то есть как самый сильный разряд. Собирается он отраслевым реестром, в котором накоплено свыше десяти миллионов колоноскопий. Казалось бы, основание для допуска готово. И в том же документе написано дословно, что включённые показатели и целевые уровни не отражают ни стандарта оказания помощи, ни требований к допуску, ни стандартов обучения, и применять любой из показателей этого документа таким образом — неверное его использование. Профессия сама запретила делать свой же измеренный показатель условием допуска. Держится допуск другим: сто очков непрерывного образования за пять лет плюс экзамен знаний. А отнятие права выполнять процедуру тот же документ называет крайней мерой, а не обычным исходом замера.</a:t>
            </a:r>
          </a:p>
          <a:p>
            <a:r>
              <a:t/>
            </a:r>
          </a:p>
          <a:p>
            <a:r>
              <a:t>Почему это важно для всей лекции целиком. У нас весь вечер идёт разговор о том, что измеренное число сильнее мнения. Здесь мы видим обратный случай, и он не глупость: профессия, у которой есть десять миллионов измеренных процедур, отказывается превращать это число в административное решение — потому что показатель считался для улучшения работы; наказывать им не собирались, и у него есть известные искажения, которые при переводе в допуск начнут управлять поведением. Это ровно тот тип суждения, которому курс и учит: число годно под то решение, для которого его собрали.</a:t>
            </a:r>
          </a:p>
          <a:p>
            <a:r>
              <a:t/>
            </a:r>
          </a:p>
          <a:p>
            <a:r>
              <a:t>И Россия. Периодическая аккредитация специалиста проходится раз в пять лет, порядок назначен приказом Минздрава от двадцать восьмого октября двадцать второго года под номером семьсот девять «н». Требуется сто сорок четыре часа повышения квалификации суммарно — одним курсом, несколькими, либо не менее семидесяти двух часов курсов плюс учёт на портале непрерывного медицинского образования. Второй раздел портфолио — отчёт о профессиональной деятельности, и он содержит результаты работы по выполняемой трудовой функции. Произносить это надо точно, потому что здесь сама собой просится лёгкая и неверная формулировка «результат работы не смотрят». Верная звучит иначе: отчёт о работе специалист составляет сам. Числового порога по результату — такого, который считали бы за него и по которому допуск бы не продлили, — в требованиях нет: ни доли находок, ни времени выведения прибора. Доля обнаружения у нас считается там, где её считает по собственному решению сам центр; аккредитация её не спрашивает.</a:t>
            </a:r>
          </a:p>
          <a:p>
            <a:r>
              <a:t/>
            </a:r>
          </a:p>
          <a:p>
            <a:r>
              <a:t>И последняя строка кадра, ради которой он частью и заведён. Мы искали целенаправленно юрисдикцию, где измеренный результат врача после периода работы с подсветкой входил бы в продление допуска. Искали по рекомендациям обществ Великобритании и США, по положению об аккредитации в России и по сводному обзору деквалификации. Не нашли ни в одной из трёх. Это не пробел нашего поиска, который кто-то закроет вечером: показатель для такого замера у профессии есть, а процедуры нет нигде. Так что когда через два кадра мы увидим измеренное падение доли у тех же врачей, держите в голове: узнать об этом падении в обычной работе врачу неоткуда, и ни один порядок допуска в этих трёх странах его не поймает.</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Сила свидетельства и состав спора, снятые с кадра в эту заметку, и произносятся они целиком. Исследование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Вокруг работы опубликованы исправление, три письма в редакцию и ответ авторов — спор открыт, и это надо сказать залу прямо, а не прятать за словом «измерено». Возражений по существу три: вторичные исходы не просели (среднее число аденом на процедуру 0,54 против 0,43, продвинутых 0,062 против 0,063, оба незначимо); время выведения прибора в работе не измеряли вовсе, то есть у находки отсутствует поведенческое звено, которое сделало бы её проверяемой; и нагрузка за тот же период почти удвоилась — с семисот девяноста пяти процедур до тысячи трёхсот восьмидесяти двух.</a:t>
            </a:r>
          </a:p>
          <a:p>
            <a:r>
              <a:t/>
            </a:r>
          </a:p>
          <a:p>
            <a:r>
              <a:t/>
            </a:r>
          </a:p>
          <a:p>
            <a:r>
              <a:t>Назову по имени то, что здесь происходит с человеком: это когнитивное искажение. Третье из шести, предъявленных на входе вечера, и называется оно износом навыка. Входной кадр показывал его той же парой долей, которая стоит сейчас на плашках. Якорения — первого из шести — здесь нет вовсе: смотрят процедуры БЕЗ помощника, где подсказки нет и якориться не на чем. Якорение работает, пока модель рядом; износ виден, когда её убрали.</a:t>
            </a:r>
          </a:p>
          <a:p>
            <a:r>
              <a:t/>
            </a:r>
          </a:p>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без которой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в позднем окне они расходятся — без помощника 648, всего 1 382. Сравнение 226 на 795 против 145 на 648 сделано честно, по одной графе, а рост общей нагрузки объясняет часть падения не хуже, чем износ навыка. Именно сюда и бьют три письма в редакцию.</a:t>
            </a:r>
          </a:p>
          <a:p>
            <a:r>
              <a:t/>
            </a:r>
          </a:p>
          <a:p>
            <a:r>
              <a:t>Устройство помощника: вход — поток кадров во время процедуры, выход — рамка на подозрительном участке в ту же секунду. Имени своей системы публикация не называет, и на чём обучены системы этого класса, производители не публикуют. Имена у режима есть и проверяемы: GI Genius от Medtronic, CAD EYE от Fujifilm, ENDO-AID CADe от Olympus; разница между ними в сводных сравнениях мала, и это важнее имён. Российская система этого же класса разобрана следом, и у неё обучающий архив назван.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здесь по двум причинам, и первую надо назвать прямо. Весь предыдущий кадр держится на одной польской работе — наблюдательной, оспоренной и не воспроизведённой. Рядом с ней существует российское испытание той же величины на той же процедуре, и устроено оно сильнее: это многоцентровое рандомизированное исследование. Его результат не отменяет польскую находку и не повторяет её — они меряют разные вещи, и это второе, что надо сказать залу.</a:t>
            </a:r>
          </a:p>
          <a:p>
            <a:r>
              <a:t/>
            </a:r>
          </a:p>
          <a:p>
            <a:r>
              <a:t>Состав. Август–декабрь две тысячи двадцать четвёртого года, четыре медицинских учреждения: Национальный медицинский исследовательский центр колопроктологии имени Рыжих, Боткинская больница, Российский национальный исследовательский медицинский университет имени Пирогова в Москве и Республиканский клинический онкологический диспансер в Уфе. Тысяча сто двадцать восемь пациентов, распределённых жребием: пятьсот сорок семь на колоноскопию без помощника и пятьсот восемьдесят один с ним.</a:t>
            </a:r>
          </a:p>
          <a:p>
            <a:r>
              <a:t/>
            </a:r>
          </a:p>
          <a:p>
            <a:r>
              <a:t>Результат в той же единице, которой считает весь раздел. Процедур с находкой стало четыреста семьдесят две из тысячи против четырёхсот тринадцати — то есть доля обнаружения аденом сорок семь целых две десятых процента против сорока одного и трёх, величина эффекта пять целых девять десятых процента при значимости ноль целых сорок восемь тысячных. Среднее число найденных аденом на процедуру — ноль целых девяносто семь сотых против ноль целых семьдесят девять, и это различие надёжнее основного: значимость ноль целых одна сотая.</a:t>
            </a:r>
          </a:p>
          <a:p>
            <a:r>
              <a:t/>
            </a:r>
          </a:p>
          <a:p>
            <a:r>
              <a:t>Теперь то, чего у польского разбора не было вовсе, и ради чего этот кадр особенно нужен инженерной аудитории: устройство названо целиком. Система вендор-нейтральная, с регистрационным удостоверением Росздравнадзора, подключается к стандартному эндоскопическому оборудованию. На входе — видеопоток во время процедуры, он идёт в компактный промышленный компьютер рядом со стойкой. На выходе — рамка детекции на мониторе, в реальном времени, на участках, где вероятность образования высока. Обучена на архивах самого центра колопроктологии, размеченных эндоскопистами его отдела эндоскопической диагностики и хирургии. Прототип до доработок давал точность восемьдесят три целых две десятых процента и чувствительность семьдесят семь целых две десятых на тестовой выборке.</a:t>
            </a:r>
          </a:p>
          <a:p>
            <a:r>
              <a:t/>
            </a:r>
          </a:p>
          <a:p>
            <a:r>
              <a:t>И цена внимания, названная числом, — то, чего в большинстве публикаций вообще не ищут. Среднее число ложных срабатываний составило одно целое двадцать три сотых на каждое исследование. Замерено это на тридцати пяти случайно отобранных колоноскопиях, и срабатыванием считали появление рамки не короче трёх секунд. Больше одного раза за процедуру врач переводит внимание на место, где ничего нет. Это и есть ответ на вопрос, который зал задаёт про свою работу: внедрённая модель в контуре приёмки всегда имеет такую величину, и если поставщик её не называет — её не замеряли.</a:t>
            </a:r>
          </a:p>
          <a:p>
            <a:r>
              <a:t/>
            </a:r>
          </a:p>
          <a:p>
            <a:r>
              <a:t>Ограничения называются по самой статье, а не придумываются. Ослепления в исследовании не было: эндоскописты знали, что работают с помощником и что их результаты сравнивают, и авторы прямо называют это возможным источником предвзятости. Из окончательного расчёта исключены один центр и пять эндоскопистов разных учреждений за нарушение протокола — завышение критериев включения и, как следствие, аномально высокие доли обнаружения. Оборудование было экспертного класса, персонал подготовленный, и авторы отдельно замечают, что в регионах с ограниченными ресурсами внедрение столкнётся с недостатком технической поддержки и обученного персонала.</a:t>
            </a:r>
          </a:p>
          <a:p>
            <a:r>
              <a:t/>
            </a:r>
          </a:p>
          <a:p>
            <a:r>
              <a:t>И для оси этого раздела — пробел, названный там, где он есть. У испытания нет периода наблюдения: авторы говорят это сами, отдельной строкой в ограничениях. То есть российская работа измерила ровно половину пары — что помощник даёт, пока включён, — и не измерила вторую: что становится с теми же врачами, когда его выключают. Польская работа мерила именно вторую половину и была слабее по силе доказательства. Ни одного клинического исследования, которое замерило бы обе половины на одной выборке, нет ни в России, ни где-либо ещё; на работе разработчиков такой замер появился, и он идёт следом, но клиническим он не является. Вот это и есть честный ответ на вопрос «а что у нас»: прирост замерен лучше, чем у них, а расход не замерен вовсе.</a:t>
            </a:r>
          </a:p>
          <a:p>
            <a:r>
              <a:t/>
            </a:r>
          </a:p>
          <a:p>
            <a:r>
              <a:t>И строка кадра про страну — её надо произнести обеими половинами, иначе выйдет либо похвальба, либо попрёк. Первая: развёрнутый в России радиологический ИИ-проект крупнейший в мире по заявленным числам. Вторая: замер того, что это внедрение сделало с навыком врачей, мы искали — по публикациям программ внедрения, профильным журналам и отчётам об эксплуатации — и не нашли ни одного. Масштаб внедрения и масштаб измерения последствий — две разные вещи, и первое о втором не говорит ничего.</a:t>
            </a:r>
          </a:p>
          <a:p>
            <a:r>
              <a:t/>
            </a:r>
          </a:p>
          <a:p>
            <a:r>
              <a:t>И одно замечание про время выведения прибора, потому что оно закрывает второе возражение к польской работе. Здесь эту величину замерили: медиана девять минут против восьми, различие незначимо. То есть в российском испытании прирост не объясняется тем, что с помощником стали выводить прибор медленнее. У польской работы этого замера не было, и именно поэтому её находку нельзя проверить до конца.</a:t>
            </a:r>
          </a:p>
          <a:p>
            <a:r>
              <a:t/>
            </a:r>
          </a:p>
          <a:p>
            <a:r>
              <a:t>И последний шаг разбора — что переехало. Форм здесь две, и обе надо произнести.</a:t>
            </a:r>
          </a:p>
          <a:p>
            <a:r>
              <a:t/>
            </a:r>
          </a:p>
          <a:p>
            <a:r>
              <a:t>Сменился исполнитель: часть поиска на этом месте делает теперь допущенное устройство — удостоверение Росздравнадзора, на вход видеопоток, на выходе система сама отмечает участки. Это тот случай, который словарь отводит от польской работы и оставляет за включённым состоянием контура. Счёт у формы — четыреста тринадцать процедур с находкой из тысячи против четырёхсот семидесяти двух.</a:t>
            </a:r>
          </a:p>
          <a:p>
            <a:r>
              <a:t/>
            </a:r>
          </a:p>
          <a:p>
            <a:r>
              <a:t>И нагрузка выросла на том же месте: каждая подсказка стоит секунд внимания тому же врачу на том же рабочем месте, и секунды посчитаны — одна целая двадцать три сотых ложного срабатывания на исследование там, где без системы их ноль.</a:t>
            </a:r>
          </a:p>
          <a:p>
            <a:r>
              <a:t/>
            </a:r>
          </a:p>
          <a:p>
            <a:r>
              <a:t>Почему здесь не «шаг появился», хотя эта форма просится первой. Новый шаг имел бы свою цену во времени: там, где она в лекции посчитана, разбор расхождения стоил двух минут двенадцати секунд против сорока восьми секунд чтения. Здесь время осмотра замерено и не изменилось — медиана девять минут против восьми, значимости нет. Значит рамка попадает внутрь уже существующего шага, новой операции не создавая. Форму отвергли по замеру, и сказать это залу стоит прямо.</a:t>
            </a:r>
          </a:p>
          <a:p>
            <a:r>
              <a:t/>
            </a:r>
          </a:p>
          <a:p>
            <a:r>
              <a:t>**Источники.** </a:t>
            </a:r>
            <a:r>
              <a:rPr u="sng">
                <a:solidFill>
                  <a:srgbClr val="065A82"/>
                </a:solidFill>
                <a:hlinkClick r:id="rId3"/>
              </a:rPr>
              <a:t>Ачкасов, Шелыгин и соавт., Колопроктология 2025; 24(3):12–21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стоит третьим и закрывает дыру, которую два предыдущих оставили каждый по-своему. Польская работа измерила ровно то, что нам нужно, — результат тех же врачей без помощника, — но она наблюдательная: смотрели назад по архиву, и причинности авторы не утверждают. Российское испытание устроено сильнее по разряду свидетельства, оно рандомизированное, но периода наблюдения после снятия помощника у него нет вовсе, и авторы говорят это сами. То есть одна работа мерит нужное слабым способом, другая мерит сильным способом не то. Здесь вторая половина пары измерена жребием.</a:t>
            </a:r>
          </a:p>
          <a:p>
            <a:r>
              <a:t/>
            </a:r>
          </a:p>
          <a:p>
            <a:r>
              <a:t>И сразу различение, которое нельзя проглотить. Польская работа мерила ИЗНОС: те же девятнадцать врачей были в форме и стали хуже. Здесь мерится ФОРМИРОВАНИЕ: библиотеки не знал никто, и вопрос стоял так: сложился ли навык вообще. Восьмую форму словаря — «исполнитель тот же, но стал хуже» — присваивать нельзя: тот же исполнитель здесь ни с чем не сравнивается. Формы у такого случая в словаре нет, и назвать отказ честнее, чем подогнать.</a:t>
            </a:r>
          </a:p>
          <a:p>
            <a:r>
              <a:t/>
            </a:r>
          </a:p>
          <a:p>
            <a:r>
              <a:t>И второе, ради чего случай взят именно сюда. Он снят на той работе, которой занят зал. Про врачей всегда можно сказать: у них своя специфика, у нас не так. Про младших инженеров, пишущих на незнакомой библиотеке, так сказать нельзя — это ровно то, чем половина аудитории занималась на этой неделе.</a:t>
            </a:r>
          </a:p>
          <a:p>
            <a:r>
              <a:t/>
            </a:r>
          </a:p>
          <a:p>
            <a:r>
              <a:t>Устройство опыта. Пятьдесят два участника, преимущественно младшие инженеры; каждый пишет на этом языке не меньше года, с ИИ-помощью знаком, а вот с конкретной библиотекой асинхронного программирования не знаком — и это существенно, потому что мерится именно формирование нового навыка, а не работа с уже имеющимся. Задача: написать две возможности на этой библиотеке. Распределили жребием: половине дали ИИ-помощника, половине нет. Сразу после работы всех проверили без помощника, четырьмя типами заданий: найти ошибку в коде, прочесть чужой код, написать код, объяснить понятие.</a:t>
            </a:r>
          </a:p>
          <a:p>
            <a:r>
              <a:t/>
            </a:r>
          </a:p>
          <a:p>
            <a:r>
              <a:t>Результат. Группа, писавшая руками, дала шестьдесят семь верных из ста; группа с помощником — пятьдесят. Размер эффекта по Коэну ноль целых семьсот тридцать восемь при значимости ноль целых одна сотая. Это около двух оценок разницы — такую видно на экзамене. Разрыв шире на заданиях «найди ошибку» — и вот это стоит задержать: именно поиск ошибки в чужом коде та работа, которую помощник забирает первой и которую потом не на чем тренировать. Выигрыша по времени при этом нет: группа с помощником закончила примерно на две минуты раньше, различие незначимо. То есть заплатили пониманием и не купили скорость.</a:t>
            </a:r>
          </a:p>
          <a:p>
            <a:r>
              <a:t/>
            </a:r>
          </a:p>
          <a:p>
            <a:r>
              <a:t>Теперь рычаг, ради которого этот случай ценнее двух предыдущих. Авторы разобрали, как именно люди обращались с помощником, и опознали шесть способов. Три из них усвоение сохраняют. Те, кто спрашивал только про понятия, а ошибки разбирал сам, — семь человек, — держались на уровне выше шестидесяти пяти из ста. Те, кто просил код вместе с объяснением, — трое, — тоже. А те, кто отдавал задачу помощнику целиком, — четверо, — были быстрее всех и ниже сорока из ста. Числа тут маленькие, и подавать их как измеренную закономерность нельзя; подавать как направление — можно, потому что оно совпадает с тем, что мы уже видели на школьниках: там ограничители снимали эффект, здесь его снимает способ обращения. В обоих случаях лечится устройство доступа, а не количество практики.</a:t>
            </a:r>
          </a:p>
          <a:p>
            <a:r>
              <a:t/>
            </a:r>
          </a:p>
          <a:p>
            <a:r>
              <a:t>Ограничения называю по самим авторам. Выборка мала. Проверялось немедленное понимание сразу после работы, а не навык через месяцы — то есть долгого горизонта у этого замера нет, в отличие от польского, где между окнами прошло три месяца. Работа только с кодом. И сравнения с помощью живого человека — наставника, коллеги — нет вовсе, а это важное отсутствие: мы не знаем, даёт ли такой же эффект любая подсказка или именно подсказка модели.</a:t>
            </a:r>
          </a:p>
          <a:p>
            <a:r>
              <a:t/>
            </a:r>
          </a:p>
          <a:p>
            <a:r>
              <a:t>И последняя строка кадра, которая переворачивает весь раздел, если её произнести как следует. Та же потеря навыка случается без всякой обученной модели. В Великобритании цитология перешла на первичное тестирование на вирус папилломы человека — это лабораторный анализ, никакой модели там нет. Поток случаев на чтение упал на восемьдесят-восемьдесят пять из ста, лаборатории свели с сорока пяти центров до восьми, и сам обзор называет следствие прямо: учить стало не на чем. Вывод отсюда несущий, и он ровно против лёгкого прочтения всего раздела. Навык расходует переданный объём работы, а не обученная модель как таковая. Обвинять в деквалификации именно ИИ было бы ошибкой того же разряда, что приписывать модели выигрыш классического режима, — а этой ошибкой лекция занимается весь вечер у других. Значит и правильный вопрос звучит так: сколько работы мы у человека забрали и где он теперь её берёт.</a:t>
            </a:r>
          </a:p>
          <a:p>
            <a:r>
              <a:t/>
            </a:r>
          </a:p>
          <a:p>
            <a:r>
              <a:t>Разряд свидетельства у цитологического упоминания надо назвать: это сводный обзор деквалификации, а не первоисточник самой программы. Там же, в том же обзоре, лежат ещё два числа, которые стоит произнести голосом: в опытах с чтением через веб более тридцати из ста участников отказались от собственного верного заключения под неверной подсказкой модели в условиях нехватки времени; и в опыте с двадцатью семью рентгенологами неверные подсказки повышали долю ложных вызовов до плюс двенадцати процентных пунктов, в том числе у опытных. Оба числа взяты из обзора, а не из полных текстов самих опытов, — так их и надо называть. И у того же обзора есть своя ошибка, ровно нашего предмета: польскую работу он называет рандомизированным многоцентровым испытанием, тогда как она наблюдательная. Рецензируемый обзор перепутал разряд свидетельства. Лучшей иллюстрации того, зачем мы весь вечер смотрим на устройство замера, а не на слово «измерено», у нас сегодня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перед сводом, и стоит так потому, что без него свод говорил бы про весь класс инструмента то, что верно только для одной его половины. Оба клинических разбора раздела — и польский, и российский — сняты на одном режиме: подсветка на видео во время процедуры. Режимов у этого класса два, и они дают разные последствия для человека. Если это не развести сейчас, зал унесёт с лекции вывод «ИИ расходует навык», а верный вывод другой и сложнее.</a:t>
            </a:r>
          </a:p>
          <a:p>
            <a:r>
              <a:t/>
            </a:r>
          </a:p>
          <a:p>
            <a:r>
              <a:t>Первый режим — подсветка на видео. Врач ведёт процедуру сам, рамка появляется на участке изображения в реальном времени, и он решает, доверять ей или нет. Место работы остаётся за человеком целиком: он вводит прибор, выводит его, заглядывает за складку, снимает найденное. Инструмент не занял ни одного из этих действий, он добавил подсказку к одному из них. И вот ровно на этом месте расход навыка измерен: у тех же девятнадцати врачей в процедурах без помощника доля упала с двухсот восьмидесяти четырёх находок на тысячу процедур до двухсот двадцати четырёх, за три месяца. Это и есть разбор, который мы только что прошли.</a:t>
            </a:r>
          </a:p>
          <a:p>
            <a:r>
              <a:t/>
            </a:r>
          </a:p>
          <a:p>
            <a:r>
              <a:t>Второй режим — второй читатель. Снимок уже сделан, его читает человек, и программа требует, чтобы читали двое независимо. Модель встаёт на место второго читателя и выдаёт своё заключение. Здесь человека с места снимают совсем, и это не фигура речи: в шведской программе объём человеческого чтения оказался ниже на сорок четыре и три десятых процента — это промежуточный анализ безопасности, восемьдесят тысяч тридцать три обследованных. Больше сорока процентов работы, которую раньше делали люди, люди делать перестали.</a:t>
            </a:r>
          </a:p>
          <a:p>
            <a:r>
              <a:t/>
            </a:r>
          </a:p>
          <a:p>
            <a:r>
              <a:t>И теперь то, ради чего кадр стоит отдельно от свода. Расход навыка на втором месте не измерен — и измерен быть не может. Не потому, что никто не взялся, и не потому, что замер трудный: мерить там некого. Человека, который читал бы вторым и чей навык можно было бы сравнить «до» и «после», на этом месте больше нет. Это важно отличать от всех прочих пробелов, которые мы сегодня называли. Те пробелы — свойство нашего знания: процедуры нет, но её можно завести. Этот — свойство принятого решения: пока место занято моделью, замерять нечего, и никакая будущая работа этого не исправит.</a:t>
            </a:r>
          </a:p>
          <a:p>
            <a:r>
              <a:t/>
            </a:r>
          </a:p>
          <a:p>
            <a:r>
              <a:t>Отсюда и формулировка, которую стоит произнести дословно: навык расходуется там, где человек формально остался. Пока он на месте и работу продолжает делать он, объём его собственной практики тихо падает, и падение это можно поймать — польская работа его и поймала. Там, где его сняли, падать уже нечему, и беспокоиться об износе бессмысленно: беспокоиться надо о другом, о том, кто будет читать, если модель завтра отзовут, и откуда возьмутся люди, которых не на чем было учить. Этот вопрос мы уже видели сегодня в цитологии: поток упал, центры свели с сорока пяти до восьми, учить стало не на чем, и никакой модели в той истории не было вовсе.</a:t>
            </a:r>
          </a:p>
          <a:p>
            <a:r>
              <a:t/>
            </a:r>
          </a:p>
          <a:p>
            <a:r>
              <a:t>Отдельно про то, чего этот кадр не утверждает. Он не говорит, что второй режим лучше или безопаснее. Он говорит, что цена у двух режимов разная по природе, и измеряется она разными величинами: у первого — долей находок у того же человека, у второго — тем, сколько людей осталось в профессии и чему их учат. Сравнивать эти две цены одним числом нельзя, и попытка такого сравнения была бы ровно тем, за что мы весь вечер разбираем чужие работы.</a:t>
            </a:r>
          </a:p>
          <a:p>
            <a:r>
              <a:t/>
            </a:r>
          </a:p>
          <a:p>
            <a:r>
              <a:t>И последнее, перед сводом стадии. Дальше мы соберём стадию целиком — что получается, чего не получается, что из этого переносится на вашу собственную работу, — и различение двух режимов там уже не повторяется: оно сделано здесь, и свод на него опирается.</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перенос на зал, и это та часть стадии, которая касается слушателей прямо. То же явление измерено рандомизированно, но не в клинике, а в учёбе: полевое исследование примерно на тысяче старшеклассников, математика, три группы — контроль, свободный доступ к модели и модель с учительскими ограничителями, которая подсказывает вместо ответа. Во время практики свободный доступ дал плюс сорок восемь процентов к контролю, модель с ограничителями плюс сто двадцать семь. А на экзамене без доступа к модели группа свободного доступа оказалась на семнадцать процентов хуже контроля, группа с ограничителями — примерно на уровне контроля. Читается это так: практика с неограниченным помощником создаёт видимость обучения. И тут же измерено средство: ограничители эффект снимают, то есть лечится это устройством доступа, а не количеством практики.</a:t>
            </a:r>
          </a:p>
          <a:p>
            <a:r>
              <a:t/>
            </a:r>
          </a:p>
          <a:p>
            <a:r>
              <a:t>Рядом, в том же жанре переноса, рандомизированный опыт на двухстах шестнадцати членах шахматных клубов: свободный доступ к помощи дал плюс тридцать процентов прироста против плюс шестидесяти четырёх там, где момент подсказки выбирала система, и свободная группа сыграла на двадцать четыре процента меньше тренировочных партий. Цену платит право самому решать, когда попросить помощь. Это рабочий документ, не рецензированная публикация, и произносить это надо вместе с числом.</a:t>
            </a:r>
          </a:p>
          <a:p>
            <a:r>
              <a:t/>
            </a:r>
          </a:p>
          <a:p>
            <a:r>
              <a:t>И честный противовес, без которого ось превращается в проповедь: в рандомизированном эксперименте с шестьюдесятью девятью новичками, учившимися с помощником и сдававшими тест без него через неделю, деквалификация не подтвердилась. Сила средняя, подростки, задачи начального уровня, горизонт неделя. Назвать это опровержением клинической находки нельзя — как нельзя назвать и школьный опыт её повторением: другая работа, другие люди, другая задача. Совпадение знака в одну сторону и расхождение в другую означают ровно то, что означают: механизм похож, величина не переносится, и горизонт измерения решает исход.</a:t>
            </a:r>
          </a:p>
          <a:p>
            <a:r>
              <a:t/>
            </a:r>
          </a:p>
          <a:p>
            <a:r>
              <a:t>И то, чего нет совсем. Повторения клинической находки на реальной работе нет, и пробел этот назван числом: двадцать две отдельные попытки поиска — восемнадцать формулировок запроса и четыре целевых обращения к страницам; число про поиск, о предмете оно не говорит ничего. Продольного измерения навыка у тех, кто учился сразу с помощником и другой работы не знал,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 который у слушателя ещё впереди.</a:t>
            </a:r>
          </a:p>
          <a:p>
            <a:r>
              <a:t/>
            </a:r>
          </a:p>
          <a:p>
            <a:r>
              <a:t/>
            </a:r>
          </a:p>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И переход к сборке вечера: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ровно одно новое число — счёт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Порядок семи сводов здесь несущий, и его стоит объявить вслух. Семь сводов подряд — много, поэтому они идут семью разными формами: таблица, плашки, два столбца, сетка, строчные блоки, ведомость и ступени. Причина не в красоте: прошлый круг этого раздела шёл подряд пятью однотипными сводами, и зал переставал смотреть с третьего.</a:t>
            </a:r>
          </a:p>
          <a:p>
            <a:r>
              <a:t/>
            </a:r>
          </a:p>
          <a:p>
            <a:r>
              <a:t>Первый отвечает, что сделалось с работой: девять форм словаря, именами они стояли в начале вечера, здесь под каждой стоит счёт. Семь форм из девяти несут число, две стоят прочерком, и оба прочерка я называю прочерками.</a:t>
            </a:r>
          </a:p>
          <a:p>
            <a:r>
              <a:t/>
            </a:r>
          </a:p>
          <a:p>
            <a:r>
              <a:t>Второй отвечает, чей это результат, и он единственный несёт новое число. Из двадцати одного подробного разбора в тринадцати заявленный выигрыш или заявленная вина принадлежат не обученной модели: в двух её в механизме нет вовсе, в семи результат принадлежит порогу, составу данных, заданной цели, реализации или объёму, в четырёх число сменило предмет по дороге от первоисточника к пересказу. Там же отдельной строкой — семь российских разборов из тех же двадцати одного.</a:t>
            </a:r>
          </a:p>
          <a:p>
            <a:r>
              <a:t/>
            </a:r>
          </a:p>
          <a:p>
            <a:r>
              <a:t>Третий отвечает, что работает и что не работает, и режет материал поперёк разделов: не по стадиям, а по типам задач, потому что один тип проходит через несколько стадий, а в одном разделе типов несколько.</a:t>
            </a:r>
          </a:p>
          <a:p>
            <a:r>
              <a:t/>
            </a:r>
          </a:p>
          <a:p>
            <a:r>
              <a:t>Четвёртый отвечает, где всё это лежит на сетке курса и чем в каждой ячейке удерживают цену ошибки. Главное там — не занятые ячейки, а восемь пустых из двенадцати и один раздел, который в окне сетки не занимает ничего.</a:t>
            </a:r>
          </a:p>
          <a:p>
            <a:r>
              <a:t/>
            </a:r>
          </a:p>
          <a:p>
            <a:r>
              <a:t>Пятый возвращает нить, открытую во входе: шесть механизмов влияния модели на врача. Встретились за вечер все шесть, и у каждого названо последствие, — а механизмом из введения назван за весь вечер ровно один. Сторона пациента там же названа пробелом.</a:t>
            </a:r>
          </a:p>
          <a:p>
            <a:r>
              <a:t/>
            </a:r>
          </a:p>
          <a:p>
            <a:r>
              <a:t>Шестой отвечает, чем заплачено, и это единственное место вечера, где четыре адреса оси названы вместе, с измерением под каждым.</a:t>
            </a:r>
          </a:p>
          <a:p>
            <a:r>
              <a:t/>
            </a:r>
          </a:p>
          <a:p>
            <a:r>
              <a:t>Седьмой отвечает на вопрос, с которого лекция началась, и ответ там поимённый: четыре ступени участия, на каждой своё дело человека и своя сила свидетельства. Им же закрывается линия женщины с письмом.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запись приёма: время в заметке упало на девять с половиной процентов против контрольной группы, а активное время правки не изменилось ни у одного из двух инструментов. То есть набор стал короче, а вычитка осталась ровно та же — работа переехала с набора на чтение чужого текста, и это самый ясный случай первой формы в вечере.</a:t>
            </a:r>
          </a:p>
          <a:p>
            <a:r>
              <a:t/>
            </a:r>
          </a:p>
          <a:p>
            <a:r>
              <a:t>Шаг появился — разбор расхождения при замене второго читателя моделью, и это сильнейшая строка словаря. Два центра Национальной службы здравоохранения Англии, пятьдесят тысяч женщин: без модели на арбитраж уходило три целых девять десятых процента чтений в одном центре и одиннадцать целых три десятых в другом, с моделью — девять целых четыре десятых и тринадцать целых восемь десятых. Почти втрое в первом и на четверть во втором, и разброс этот — не шум, а разница протокола. Рядом норвежское измерение на четырёхстах сорока одной тысяче случаев: одно первичное чтение сорок восемь секунд, разбор расхождения две минуты двенадцать, то есть один арбитраж по времени равен примерно пяти чтениям.</a:t>
            </a:r>
          </a:p>
          <a:p>
            <a:r>
              <a:t/>
            </a:r>
          </a:p>
          <a:p>
            <a:r>
              <a:t>Исполнитель сменился — тут две опоры. Первая: съёмка глазного дна на приёме вместо визита к офтальмологу, явка выросла с двадцати двух из ста до ста. Вторая, отечественная: российский помощник на колоноскопии берёт на себя часть поиска, и процедур с находкой становится четыреста семьдесят две из тысячи против четырёхсот тринадцати. Тот же случай несёт вторую опору четвёртой формы: одна целая двадцать три сотых ложного срабатывания на исследование там, где их было ноль, — нагрузка выросла у того же врача на том же месте. Первая опора четвёртой формы — модель сепсиса: тревога приходит на восемнадцать госпитализаций из ста, подтверждается двенадцать из ста поднятых тревог, и считано это от разного.</a:t>
            </a:r>
          </a:p>
          <a:p>
            <a:r>
              <a:t/>
            </a:r>
          </a:p>
          <a:p>
            <a:r>
              <a:t>Нагрузка на том же месте упала — объём человеческого чтения в шведской программе ниже на сорок четыре с лишним процента при большем числе найденных раков, восемьдесят тысяч женщин. Обратная сторона той же формы — сужение зрительного поиска при ложной подсказке: объём работы упал, и это оказалось ценой, а не выигрышем.</a:t>
            </a:r>
          </a:p>
          <a:p>
            <a:r>
              <a:t/>
            </a:r>
          </a:p>
          <a:p>
            <a:r>
              <a:t>Сместилась цена ошибки — две опоры, и обе про подгруппу. На тёмной коже три модели различают больного и здорового хуже на девять-пятнадцать пунктов из ста, и лечит это состав набора, а не алгоритм. При равном балле отбора у чернокожих пациентов хронических болезней больше на двадцать шесть из ста — балл назвал одинаково здоровыми людей, здоровье которых различается. Средняя по выборке в обоих случаях осталась приличной; платит подгруппа.</a:t>
            </a:r>
          </a:p>
          <a:p>
            <a:r>
              <a:t/>
            </a:r>
          </a:p>
          <a:p>
            <a:r>
              <a:t>Исполнитель тот же, но стал хуже — две опоры, и обе прозвучали. Хирурги с подсказкой модели на септическом шоке: ноль целых семьсот двенадцать против ноль целых восемьсот двадцать без подсказки. И единственный замер износа на реальной клинической работе: у тех же девятнадцати врачей процедур с находкой стало двести двадцать четыре из тысячи против двухсот восьмидесяти четырёх, минус шестьдесят находок на тысячу.</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Рутинная перепроверка каждого случая ушла, а на её место пришёл разбор расхождения, посчитанный в минутах. Набор текста сократился, а вычитка чужого черновика появилась.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 например, кто читает первым, человек или модель, — но посчитан как порядок он не был ни в одном случае.</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время заметки: </a:t>
            </a:r>
            <a:r>
              <a:rPr u="sng">
                <a:solidFill>
                  <a:srgbClr val="065A82"/>
                </a:solidFill>
                <a:hlinkClick r:id="rId3"/>
              </a:rPr>
              <a:t>трёхрукое рандомизированное испытание, препринт medRxiv 2025</a:t>
            </a:r>
            <a:r>
              <a:t>. Форма 3, доля чтений на арбитраж и разбор расхождения в минутах труда: </a:t>
            </a:r>
            <a:r>
              <a:rPr u="sng">
                <a:solidFill>
                  <a:srgbClr val="065A82"/>
                </a:solidFill>
                <a:hlinkClick r:id="rId4"/>
              </a:rPr>
              <a:t>Уоррен и соавт., Nature Cancer 2026</a:t>
            </a:r>
            <a:r>
              <a:t> и </a:t>
            </a:r>
            <a:r>
              <a:rPr u="sng">
                <a:solidFill>
                  <a:srgbClr val="065A82"/>
                </a:solidFill>
                <a:hlinkClick r:id="rId5"/>
              </a:rPr>
              <a:t>Hovda, Holen, Hofvind, European Radiology 2026</a:t>
            </a:r>
            <a:r>
              <a:t>. Форма 4, тревога часто и подтверждается редко: </a:t>
            </a:r>
            <a:r>
              <a:rPr u="sng">
                <a:solidFill>
                  <a:srgbClr val="065A82"/>
                </a:solidFill>
                <a:hlinkClick r:id="rId6"/>
              </a:rPr>
              <a:t>Wong, Otles и соавт., JAMA Internal Medicine 2021, с эрратой того же журнала</a:t>
            </a:r>
            <a:r>
              <a:t>. Форма 4а, две реализации с обратными знаками: </a:t>
            </a:r>
            <a:r>
              <a:rPr u="sng">
                <a:solidFill>
                  <a:srgbClr val="065A82"/>
                </a:solidFill>
                <a:hlinkClick r:id="rId7"/>
              </a:rPr>
              <a:t>Taib и соавт., Radiology 2026</a:t>
            </a:r>
            <a:r>
              <a:t> и </a:t>
            </a:r>
            <a:r>
              <a:rPr u="sng">
                <a:solidFill>
                  <a:srgbClr val="065A82"/>
                </a:solidFill>
                <a:hlinkClick r:id="rId8"/>
              </a:rPr>
              <a:t>Gommers и соавт., Radiology 2025</a:t>
            </a:r>
            <a:r>
              <a:t>. Форма 5, явка и объём чтения: </a:t>
            </a:r>
            <a:r>
              <a:rPr u="sng">
                <a:solidFill>
                  <a:srgbClr val="065A82"/>
                </a:solidFill>
                <a:hlinkClick r:id="rId9"/>
              </a:rPr>
              <a:t>Wolf и соавт., Nature Communications 2024</a:t>
            </a:r>
            <a:r>
              <a:t> и </a:t>
            </a:r>
            <a:r>
              <a:rPr u="sng">
                <a:solidFill>
                  <a:srgbClr val="065A82"/>
                </a:solidFill>
                <a:hlinkClick r:id="rId10"/>
              </a:rPr>
              <a:t>анализ безопасности MASAI, Lancet Oncology 2023</a:t>
            </a:r>
            <a:r>
              <a:t>. Форма 7, обе опоры: </a:t>
            </a:r>
            <a:r>
              <a:rPr u="sng">
                <a:solidFill>
                  <a:srgbClr val="065A82"/>
                </a:solidFill>
                <a:hlinkClick r:id="rId11"/>
              </a:rPr>
              <a:t>Daneshjou и соавт., Science Advances 2022</a:t>
            </a:r>
            <a:r>
              <a:t> и </a:t>
            </a:r>
            <a:r>
              <a:rPr u="sng">
                <a:solidFill>
                  <a:srgbClr val="065A82"/>
                </a:solidFill>
                <a:hlinkClick r:id="rId12"/>
              </a:rPr>
              <a:t>Obermeyer и соавт., Science 2019</a:t>
            </a:r>
            <a:r>
              <a:t>. Форма 8, обе опоры: </a:t>
            </a:r>
            <a:r>
              <a:rPr u="sng">
                <a:solidFill>
                  <a:srgbClr val="065A82"/>
                </a:solidFill>
                <a:hlinkClick r:id="rId13"/>
              </a:rPr>
              <a:t>Budzyń и соавт., Lancet Gastroenterology &amp; Hepatology 2025</a:t>
            </a:r>
            <a:r>
              <a:t> и </a:t>
            </a:r>
            <a:r>
              <a:rPr u="sng">
                <a:solidFill>
                  <a:srgbClr val="065A82"/>
                </a:solidFill>
                <a:hlinkClick r:id="rId14"/>
              </a:rPr>
              <a:t>модель против чутья хирурга, Journal of Trauma 2023</a:t>
            </a:r>
            <a:r>
              <a:t>. Формы 4 и 5, вторая опора у обеих: </a:t>
            </a:r>
            <a:r>
              <a:rPr u="sng">
                <a:solidFill>
                  <a:srgbClr val="065A82"/>
                </a:solidFill>
                <a:hlinkClick r:id="rId15"/>
              </a:rPr>
              <a:t>Ачкасов, Шелыгин и соавт., Колопроктология 2025; 24(3):12–21</a:t>
            </a:r>
            <a:r>
              <a:t>.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новое число вечера, и оно про нас самих, а не про чужую работу. Все остальные числа лекции уже предъявлены, каждое со своей базой; здесь складывается то, чего не видно ни в одном отдельном случае: как часто, разбирая внедрение модели, мы доходили до механизма и обнаруживали, что выигрыш или вина принадлежат чему-то другому.</a:t>
            </a:r>
          </a:p>
          <a:p>
            <a:r>
              <a:t/>
            </a:r>
          </a:p>
          <a:p>
            <a:r>
              <a:t>Знаменатель назову прямо, потому что его можно проверить. Двадцать один — это подробные разборы, те, что дивайдер каждого раздела называет по именам: четыре в скрининге, пять в инструментальной диагностике, шесть в постановке диагноза, три в документации, три в квалификации. Кадр «Пример такой-то, цена» или «Пример такой-то, устройство» — часть своего разбора, а не отдельный случай, иначе знаменатель задвоился бы. Тринадцать — это те разборы, где на экране стояло, чему именно принадлежит результат. Проверяется это открытием кадра: находите строку про механизм и сверяете её с тем, что я сейчас говорю.</a:t>
            </a:r>
          </a:p>
          <a:p>
            <a:r>
              <a:t/>
            </a:r>
          </a:p>
          <a:p>
            <a:r>
              <a:t>Первая графа самая простая и самая неприятная. Модели в механизме нет вовсе, а разговор о ней идёт. Сортировка обращений первой линии: экзамен восемьдесят один против семидесяти двух у врачей, инвестиций больше миллиарда, оценка четыре с лишним миллиарда — а внутри, по словам человека, который отвечал там за регуляторные вопросы, дерево решений «если — то» в таблице. Проверка здесь одна и работает всегда: уберите обученную модель. Если механизм продолжает работать, значит он и работал без неё. Второй случай той же графы тоньше и ближе к залу: износ навыка. Мы привыкли считать, что навык расходует модель, — а в цитологии Великобритании поток на чтение упал на восемьдесят-восемьдесят пять из ста после перехода на другой лабораторный тест, и центров осталось восемь из сорока пяти. Навык расходует переданный объём работы. Модель — лишь один из способов его передать, и далеко не самый мощный.</a:t>
            </a:r>
          </a:p>
          <a:p>
            <a:r>
              <a:t/>
            </a:r>
          </a:p>
          <a:p>
            <a:r>
              <a:t>Вторая графа самая населённая, семь разборов из двадцати одного, и в ней модель есть. Результат при этом принадлежит не ей. Экономия в московской сортировке профилактических снимков пришла не из того, что чтение подешевело: один снимок у человека стал дороже, а экономия целиком из тех пятидесяти пяти снимков из ста, которых не читает никто. Разрыв в точности на тёмной коже принадлежит составу обучающего набора. Несправедливость отбора в программу повышенного внимания принадлежит заданной цели: модель обучали предсказывать расходы, а решение принимали о болезни. Знак эффекта подсказки радиологу принадлежит порядку её предъявления — та же величина, другой порядок, обратный знак. Эффект автоматической записи приёма принадлежит реализации, а не классу инструментов: из двух инструментов в одном испытании у второго изменений не было вовсе. И класс модели сепсиса — штрафованная логистическая регрессия, а не глубокая сеть, которую в ней предполагают.</a:t>
            </a:r>
          </a:p>
          <a:p>
            <a:r>
              <a:t/>
            </a:r>
          </a:p>
          <a:p>
            <a:r>
              <a:t>Третья графа — про тех, кто пересказывает, и для инженера она самая практичная. Здесь первоисточник часто аккуратен, а ошибка рождается по дороге. Пятьдесят шесть целых семь десятых процента сэкономленной нагрузки двойного чтения — это пересчёт по сценарию, который сами авторы назвали вымышленным, а в реально внедрённой практике модель не заменила ни одного человеческого чтения, то есть ноль. Шестьдесят два целых восемь десятых процента в отечественном голосовом вводе — доля врачей, которые так считают, а не измеренное время. «Эффекта нет» у патологов — результат отчёта с одним числом, когда на группе прибавка незначима, а в обе стороны эффект вчетверо. Масштаб внедрения, крупнейший в мире по заявленным числам, подан как доказательство качества, тогда как замера последствий нет.</a:t>
            </a:r>
          </a:p>
          <a:p>
            <a:r>
              <a:t/>
            </a:r>
          </a:p>
          <a:p>
            <a:r>
              <a:t>Про семь отечественных разборов скажу отдельно, потому что это та практика, в которую часть зала может завтра попасть руками. Москва дважды: полмиллиона профилактических снимков с автономной сортировкой и три с половиной тысячи томограмм головы, где автономию как раз не дали. Протокол приёма, который заполняет голосовой помощник, и голосовой ввод протокола лучевого исследования. И колоноскопический помощник, испытанный жребием на тысяче с лишним пациентов в Москве и Уфе. Два добавились последними: модель на месте второго читателя маммограмм в скрининге и модель, предлагающая заключительный диагноз по медкарте. По разделам они лежат неровно, и это я тоже называю: в двух разделах отечественных разборов по два, в трёх по одному, и без отечественного разбора не осталось ни одного раздела.</a:t>
            </a:r>
          </a:p>
          <a:p>
            <a:r>
              <a:t/>
            </a:r>
          </a:p>
          <a:p>
            <a:r>
              <a:t>И про три строки, которые до экрана не доехали. Называю их не из аккуратности, а потому что это и есть мера того, сколько линии потеряно при сокращении лекции. Сильнейшая — рецензируемый обзор по теме деквалификации, который перепутал шесть из семи своих собственных первоисточников: восемь ординаторов стали тридцатью двумя, тысяча четыреста сорок три колоноскопии стали «более двадцати трёх тысяч», наблюдательное исследование названо рандомизированным. Цена этой строки в разряде источника: это рецензируемый обзор, и он врёт о своих же источниках, то есть ошибка живёт выше блога — там, где читатель обычно уже не проверяет. Вторая — «время описания исследования сократилось с двадцати минут до трёх секунд»: три секунды на подготовку заключения врачом физически невозможны, это, по всей видимости, время работы модели, поданное как время работы врача. Третья — «модель раннего предупреждения снизила смертность», где эффект принадлежит новой роли в процессе, отдельной медсестре быстрого реагирования, а не качеству модели.</a:t>
            </a:r>
          </a:p>
          <a:p>
            <a:r>
              <a:t/>
            </a:r>
          </a:p>
          <a:p>
            <a:r>
              <a:t>Приём, который зал уносит, стоит произнести дважды — здесь и на последнем кадре. У любого заявленного эффекта спрашивайте, от чего он посчитан. У любого пересказанного — открывайте первоисточник. Это две разные проверки, и вторая дешевле, чем кажется: в трёх случаях из четырёх в третьей графе хватило открыть сам источник и сверить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выводов стадий вы уже слышали, каждый на своём месте. Этот кадр режет тот же материал поперёк: не по стадиям, а по типам задач, и смысл реза в том, что один тип задачи проходит через несколько стадий, а один раздел несёт несколько типов. Распознавание на изображении встречалось нам и в скрининге, и в инструментальной диагностике, и в постановке диагноза; прогноз на структурированных данных — в диагностике и при постановке диагноза. Если смотреть по стадиям, кажется, что у каждой стадии своя история. Если смотреть по типам, видно другое: граница между «работает» и «не работает» у одного типа задачи везде одна и та же, независимо от стадии.</a:t>
            </a:r>
          </a:p>
          <a:p>
            <a:r>
              <a:t/>
            </a:r>
          </a:p>
          <a:p>
            <a:r>
              <a:t>Распознавание на изображении работает фильтром потока. Решить, что отметить и кого прочесть дважды, оно умеет: шведская программа это измерила жребием на сотне с лишним тысяч женщин, московская сортировка — на полумиллионе снимков. Чего оно не даёт — основания снять чтение. Это главное, и оно читается в московском случае с арифметикой на экране: один снимок у человека стал дороже, а тридцать три миллиона экономии пришли целиком из тех пятидесяти пяти снимков из ста, которых не читает никто. Экономия приходит из непрочитанного, а не из точности.</a:t>
            </a:r>
          </a:p>
          <a:p>
            <a:r>
              <a:t/>
            </a:r>
          </a:p>
          <a:p>
            <a:r>
              <a:t>Классификация на изображении работает там, где снимок стандартизован и вопрос годности решён до модели. Съёмка глазного дна на приёме это показала: явка выросла с двадцати двух из ста до ста. Но ровно там же стоит и граница — в поле годность снимка решает человек без правила, и отказной поток никто не смотрит. А второй случай того же типа, кожные образования, показывает вторую границу: средняя по проверочному набору осталась приличной, а платит подгруппа, которой в обучающем наборе было мало.</a:t>
            </a:r>
          </a:p>
          <a:p>
            <a:r>
              <a:t/>
            </a:r>
          </a:p>
          <a:p>
            <a:r>
              <a:t>Распознавание на звуке — два отечественных разбора. Работает он набором текста вместо клавиатуры, и сорок лет до этого та же технология клавиатуре проигрывала: в восемьдесят первом году голосовой ввод шёл вчетверо дольше и давал двенадцать ошибок против нуля. Не работает — на окончаниях слов и на чужой речи в кабинете, когда в записи оказывается не только врач. И времени здесь никто не измерил: шестьдесят два с лишним процента — доля врачей, которые считают, что стало быстрее, а не измеренное время.</a:t>
            </a:r>
          </a:p>
          <a:p>
            <a:r>
              <a:t/>
            </a:r>
          </a:p>
          <a:p>
            <a:r>
              <a:t>Генерация на тексте работает черновиком к концу приёма, и один шаг она действительно убрала — структуру документа больше не надо держать в голове при живом человеке. Полнее человека она не пишет: в слепом сравнении ста госпитализаций машинный эпикриз вышел короче и связнее, но менее полным. И цена здесь смещается: пишет тот же, а платит читатель — тот, кто откроет документ через месяц, не видев пациента.</a:t>
            </a:r>
          </a:p>
          <a:p>
            <a:r>
              <a:t/>
            </a:r>
          </a:p>
          <a:p>
            <a:r>
              <a:t>Прогноз на структурированных данных работает сигналом рядом со шкалой, а не вместо неё. Это надо произносить именно так, потому что сравнение с нулём здесь даёт неверную картину: шкала подтверждалась восемью тревогами из ста, модель двенадцатью, и из этой полосы она не вышла. Решением прогноз не работает, и причина инженерная: цель задаёт переменная, на которой учили, а порог задаёт документ. Отбор в программу повышенного внимания — самый ясный случай: модель обучали предсказывать расходы, а решение принимали о болезни.</a:t>
            </a:r>
          </a:p>
          <a:p>
            <a:r>
              <a:t/>
            </a:r>
          </a:p>
          <a:p>
            <a:r>
              <a:t>Шестой тип в левом столбце не стоит вовсе, и это содержание, а не пробел. Измерение прибором — оптическое определение насыщения крови кислородом — обученной модели не содержит, а смещение содержит: у пациентов с тёмной кожей расхождение на одиннадцати с лишним процентах измерений против трёх с половиной у остальных, и это закреплено предупреждением регулятора. Система, берущая этот признак на вход, смещение наследует молча, не создавая его. Пустым это место назвать нельзя, занятым моделью тоже.</a:t>
            </a:r>
          </a:p>
          <a:p>
            <a:r>
              <a:t/>
            </a:r>
          </a:p>
          <a:p>
            <a:r>
              <a:t>И вывод, который стоит сказать вслух, потому что он переносится за пределы медицины почти без правок. Посмотрите на правый столбец целиком: ни одна его строка не про качество модели. Годность входа, состав обучающих данных, заданная цель, назначенный порог, кто читает документ потом — это всё инженерная работа вокруг модели, и именно она решает, сработает внедрение или нет. Качество модели в этом списке не упоминается ни разу.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пять разделов в них не зашёл никто — ни одна стадия медицины, ни один разбор лекции. Классификации и распознавания на тексте в лекции нет вовсе; поиска и генерации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пяти разделов уложились в четыре ячейки. Классификация на изображении занята дважды — скринингом, где снимают глазное дно, и инструментальной диагностикой, где оценивают кожное образование. Распознавание на изображении трижды: скрининг с маммограммой, диагностика с сортировкой потока на рентгене и томографии, постановка диагноза с замером взгляда над той же маммограммой. Поиск и генерация на тексте трижды: сортировка обращения до приёма, чтение описаний случаев языковой моделью и запись приёма с выписным эпикризом. Прогноз на структурированных данных дважды: отбор в программу повышенного внимания и модель раннего предупреждения о сепсисе. Класс модели разделы не различает; различают их цена промаха и процедура вокруг человека.</a:t>
            </a:r>
          </a:p>
          <a:p>
            <a:r>
              <a:t/>
            </a:r>
          </a:p>
          <a:p>
            <a:r>
              <a:t>Отдельно про раздел квалификации, потому что в окне его нет, и это надо сказать самому, не дожидаясь вопроса. Помощник, обводящий находку рамкой во время процедуры, работает на видео в реальном времени — а видео в двенадцать показанных ячеек не входит. Из этого не следует, что раздел выпадает из сетки курса: в полной сетке из сорока двух ячеек его место есть, оно просто за краем окна. Следует другое, и оно содержательно: единственный раздел вечера, который мерил не работу, а человека внутри неё, работает с тем видом данных, которого в нашем окне нет. Совпадение это или нет, я не знаю и утверждать не буду.</a:t>
            </a:r>
          </a:p>
          <a:p>
            <a:r>
              <a:t/>
            </a:r>
          </a:p>
          <a:p>
            <a:r>
              <a:t>Три места встали вне окна, и назвать их надо словами. Распознавание на видео — подсветка в реальном времени у тех, кто решает: польское испытание и отечественный ArtInCol. Распознавание речи — протокол приёма, который заполняет голосовой помощник, и голосовой ввод протокола лучевого исследования, два отечественных разбора.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распознавании изображения держат двойное чтение, арбитраж на расхождении и пересчёт доли верных тревог под местную распространённость. На классификации изображения держат годность входа, решённую до модели: система, которая сама отклоняет негодный снимок, и повторный визит через год для тех, у кого всё чисто.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Теперь под этой строкой стоит не одно наблюдение, а целый раздел: обзор допуска по трём странам показал, что ни в Великобритании, где результат работы входит в допуск числом, ни в США, где тот же показатель есть и допуском объявлен не быть, ни в России, где считают часы учёбы, — нигде нет процедуры, которая измеряла бы врача без помощника. Писать в эту строку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счета за лечение.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пять разделов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закрывает нить, которую мы открыли на входе, и закрывает её честно, а не победно. Шесть механизмов влияния модели на врача были предъявлены в начале вечера рамкой, которая не наша: она из работы об искажениях при взаимодействии человека с языковой моделью, и медицинские замеры всей лекции ложатся на неё как частный случай. Теперь я возвращаюсь к тем же шести и говорю, что с каждым стало за два часа разбора.</a:t>
            </a:r>
          </a:p>
          <a:p>
            <a:r>
              <a:t/>
            </a:r>
          </a:p>
          <a:p>
            <a:r>
              <a:t>Встретились все шесть — и это первое, что надо сказать, потому что рамка могла оказаться и пустой. Не оказалась: под каждым механизмом в лекции стоит измеренный случай, а у каждого случая названо последствие. Второе, что надо сказать, менее приятно и важнее. Механизмом из введения за весь вечер назван ровно один — износ навыка, и назван он на одном кадре в разделе квалификации, где прямо написано «третье из шести, предъявленных на входе». Остальные пять прошли вечер безымянными: материал был, термин не ехал с ним рядом. Это, строго говоря, не потерянная линия — это линия, которая шла неназванной, и для зала разница огромная: безымянный механизм не складывается в рамку, он остаётся отдельным неприятным случаем.</a:t>
            </a:r>
          </a:p>
          <a:p>
            <a:r>
              <a:t/>
            </a:r>
          </a:p>
          <a:p>
            <a:r>
              <a:t>Якорение. Мы видели его трижды, и ни разу я не произнёс слова. Патологи, читающие срезы с подсказкой. Стажёры с машинной расшифровкой кардиограммы: при верной расшифровке точность около восьмидесяти пяти из ста, при неверной — сорок два у кардиологов и двадцать семь у остальных специальностей. Хирурги, оценивающие риск после знакомства с моделью: на септическом шоке ноль семьсот двенадцать против ноль восемьсот двадцать без неё. Общее у трёх — заключение человека притягивается к подсказке, и падение при неверной подсказке больше, чем прибавка при верной. Последствие, которое уносят с собой: ошибка модели становится ошибкой подписи, потому что подпись ставит человек.</a:t>
            </a:r>
          </a:p>
          <a:p>
            <a:r>
              <a:t/>
            </a:r>
          </a:p>
          <a:p>
            <a:r>
              <a:t>Сужение. Один замер, лабораторный, в разделе постановки диагноза: охват площади снимка фиксациями взгляда падает с одиннадцати с лишним до девяти с половиной процентов. В людях это читается так: там, где подсказка молчала, пропущенных раков стало шестьдесят один из ста имевшихся против двадцати девяти. Знаменатель называю: подгруппа в четырнадцать случаев. И вторая половина того же замера, без которой строка врёт: там, где подсказка ошибалась в другую сторону, ложных вызовов стало меньше.</a:t>
            </a:r>
          </a:p>
          <a:p>
            <a:r>
              <a:t/>
            </a:r>
          </a:p>
          <a:p>
            <a:r>
              <a:t>Износ навыка — единственный названный, и при этом самый слабый по разряду. Наблюдательное исследование, у тех же девятнадцати врачей процедур с находкой стало двести двадцать четыре из тысячи против двухсот восьмидесяти четырёх, повторения нет ни одного, причинности авторы не утверждают. Последствие у него особое, и в этом его ценность для вечера: отката нет. Обзор допуска по трём странам показал, что процедуры, которая измеряла бы врача без помощника, нет ни в Великобритании, ни в США, ни в России. То есть механизм измерен, а инструмента против него не существует нигде.</a:t>
            </a:r>
          </a:p>
          <a:p>
            <a:r>
              <a:t/>
            </a:r>
          </a:p>
          <a:p>
            <a:r>
              <a:t>Поток тревог — самый частый из шести, трижды и в трёх разных разделах. Московская сортировка профилактических снимков: чувствительность выставлена в единицу, и в «не норму» уходит сорок пять снимков из ста. Модель сепсиса: тревога приходит на восемнадцать госпитализаций из ста. Отечественный помощник на колоноскопии: одна целая двадцать три сотых ложного срабатывания на исследование там, где их было ноль. Последствие одно и то же во всех трёх: разбор отклонений — это рабочее время живого человека, которого до инструмента в расписании не было.</a:t>
            </a:r>
          </a:p>
          <a:p>
            <a:r>
              <a:t/>
            </a:r>
          </a:p>
          <a:p>
            <a:r>
              <a:t>Несогласие. Раздел скрининга посчитал его точнее всех: без модели на арбитраж уходило три целых девять десятых процента чтений в одном центре и одиннадцать целых три десятых в другом, с моделью — девять целых четыре десятых и тринадцать целых восемь. И в секундах: одно чтение сорок восемь секунд, один разбор расхождения две минуты двенадцать. Последствие считается само: один арбитраж по времени равен примерно пяти обычным чтениям.</a:t>
            </a:r>
          </a:p>
          <a:p>
            <a:r>
              <a:t/>
            </a:r>
          </a:p>
          <a:p>
            <a:r>
              <a:t>Поправка — единственный механизм шестёрки с обратным знаком, и ради него шестёрка не читается как перечень одних потерь. Врач переписывает заключение модели, когда находит ошибку, и в разделе документации это измерено: девять машинных выписных эпикризов из одиннадцати несли хотя бы одну ошибку, и правит их человек. Последствие, однако, не бесплатное: вычитка не исчезла, а сменила предмет. Прежний глаз настроен на опечатку, а искать теперь надо связное утверждение, которого в истории болезни не было, — и этому чтению не учит никто.</a:t>
            </a:r>
          </a:p>
          <a:p>
            <a:r>
              <a:t/>
            </a:r>
          </a:p>
          <a:p>
            <a:r>
              <a:t>Про сторону пациента скажу прямо, потому что молчание здесь читалось бы как «там всё в порядке». На входе мы показали пять механизмов со стороны пациента: доверие падает, когда ему говорят, что врач пользуется моделью; модель как единственного читателя он почти не принимает, а как второе мнение — охотно; тревогу модели он просит проверить у врача чаще, чем наоборот; бесплатный осмотр моделью выбирает заметно чаще; без подписи автора ответ модели кажется ему сочувственнее ответа врача. Через пять разделов лекции из этих пяти повторился один — асимметрия доверия, и то в зеркальном виде: находку радиолога перепроверяют втрое чаще, чем находку модели, хотя подтверждается она вшестеро реже. Это измерено на радиологах, а не на пациентах. Остальные четыре механизма пациента в лекции после входа не встретились ни разу. Пробел называю пробелом: лекция мерила решение о человеке и почти не мерила того, о ком решают.</a:t>
            </a:r>
          </a:p>
          <a:p>
            <a:r>
              <a:t/>
            </a:r>
          </a:p>
          <a:p>
            <a:r>
              <a:t>И закрываю нить той же фразой, которой кадр во входе её открыл, потому что за вечер она не изменилась, а только набрала оснований. Предупредить не помогает: предупреждение — сообщение, которое человек принимает к сведению и продолжает делать как делал. Помогают действия — рассмотреть противоположное прежде, чем согласиться; арбитраж, у которого есть время в расписании; процедура, которая мерит исполнителя без инструмента. Из этих трёх в лекции измерено первое, второе посчитано в минутах, а третьего не существует ни в одной юрисдикции.</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тремя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 Порядок строк тот же, в котором адреса объявлены на входе, и это не случайность: обещание и отчёт по нему читаются в одном порядке.</a:t>
            </a:r>
          </a:p>
          <a:p>
            <a:r>
              <a:t/>
            </a:r>
          </a:p>
          <a:p>
            <a:r>
              <a:t>Внимание. Зрительный поиск сужается при неверной подсказке: охват площади снимка фиксациями взгляда падает с одиннадцати с лишним до девяти с половиной процентов, а в людях это читается так — там, где подсказка молчала, пропущенных раков стало шестьдесят один из ста имевшихся против двадцати девяти. Знаменатель называю вместе с числом: подгруппа в четырнадцать случаев, и значимость есть. Разряд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Рядом вторая величина того же адреса: верное решение меняется на неверное под влиянием совета — систематический обзор. Обе про то, куда смотрит человек, а не про то, что он думает.</a:t>
            </a:r>
          </a:p>
          <a:p>
            <a:r>
              <a:t/>
            </a:r>
          </a:p>
          <a:p>
            <a:r>
              <a:t>Навык. Техника падает в работе без помощника после привыкания: с двухсот восьмидесяти четырёх процедур с находкой на тысячу до двухсот двадцати четырёх — минус шестьдесят находок на тысячу,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 Это самая слабая строка ведомости и при этом единственный замер износа на реальной клинической работе — обе половины произносятся вместе.</a:t>
            </a:r>
          </a:p>
          <a:p>
            <a:r>
              <a:t/>
            </a:r>
          </a:p>
          <a:p>
            <a:r>
              <a:t>Подпись. Девять машинных выписных эпикризов из одиннадцати несли хотя бы одну ошибку, и из девятнадцати выдумок крупных десять; измерено слепым сравнением ста госпитализаций, каждый документ читали двое. Что в этой строке дорого — не трудность поставить подпись, а цена отказа от неё: врача, принявшего подсказку в пользу стандартного лечения, при разборе случая оценивают как более разумного, чем отвергнувшего её,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a:t>
            </a:r>
          </a:p>
          <a:p>
            <a:r>
              <a:t/>
            </a:r>
          </a:p>
          <a:p>
            <a:r>
              <a:t>Арбитраж, и здесь надо сказать, что изменилось с прошлого круга, потому что я сама объявляла по этому адресу прочерк. Тогда разбор арбитража жил в разделе надзора, раздел был изъят, и чужое число я подставлять отказалась: у шведского испытания арбитражная величина есть, но она меряет долю дошедших до арбитража случаев, а не цену арбитража, и подстановка была бы ровно тем, что эта лекция учит ловить. Теперь подставлять ничего не надо — своё измерение появилось в разделе скрининга. Два центра Национальной службы здравоохранения Англии, пятьдесят тысяч женщин: без модели на арбитраж уходило три целых девять десятых процента чтений в одном центре и одиннадцать целых три десятых в другом, с моделью вторым читателем — девять целых четыре десятых и тринадцать целых восемь десятых. То есть рост почти втрое в первом центре и на четверть во втором, и разброс этот не шум измерения, а разница протокола: первый центр разбирает только расхождения по отзыву, второй — все отзывы вообще. И отдельное норвежское измерение на четырёхстах сорока одной тысяче случаев посчитало это в секундах: одно первичное чтение занимает в среднем сорок восемь секунд, разбор одного расхождения — две минуты двенадцать. Один арбитраж по времени равен примерно пяти обычным чтениям. Это и есть прямой ответ на вопрос вечера: человек после модели не просматривает подсказку мимоходом, а выполняет операцию, которая стоит как пять его прежних.</a:t>
            </a:r>
          </a:p>
          <a:p>
            <a:r>
              <a:t/>
            </a:r>
          </a:p>
          <a:p>
            <a:r>
              <a:t>Про неровность оплаты. Читать ведомость надо по третьей графе, а не по второй: величина без разряда вводит в заблуждение сильнее, чем отсутствие величины. У арбитража два независимых испытания и самые крупные выборки вечера. У внимания — лабораторный замер на подгруппе в четырнадцать случаев. У навыка — одно наблюдательное исследование, которое никто не повторил. У подписи — доля документов с ошибкой, и что из этих ошибок случилось с больными, не проверил никто. Четыре строки одной таблицы, и доверие к ним разное в разы.</a:t>
            </a:r>
          </a:p>
          <a:p>
            <a:r>
              <a:t/>
            </a:r>
          </a:p>
          <a:p>
            <a:r>
              <a:t>Кто платит, и здесь вывод перевернулся против прошлого круга. Раньше в ведомости стояло, что скрининг не платит ничем: человек прочёл там каждое исследование. Теперь скрининг платит, и платит самым обеспеченным числом вечера — арбитражем. А не платит ничем из четырёх инструментальная диагностика, и это не пробел ведомости: её цена измерена и велика — двести девяносто пропущенных клинически значимых находок на полумиллионе снимков, — но лежит она в плоскости исхода, а не в плоскости человека, который решает. Четыре адреса оси мерят, что стало с решающим; пропущенная находка мерит, что стало с больным. Складывать их в одну графу нельзя.</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ста шести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a:t>
            </a:r>
          </a:p>
          <a:p>
            <a:r>
              <a:t/>
            </a:r>
          </a:p>
          <a:p>
            <a:r>
              <a:t>Значимости по ведомости произносятся здесь, на экране их нет: просмотренная площадь снимка сузилась при p равном 0,004, а падение в людях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женщину с письмом, которой закрывается этот кадр. Она появилась на входе в первый раздел — позвали её по одному признаку, году рождения, ни одного её собственного, — и дальше шла с нами весь вечер: арифметика точности на двух группах по десять тысяч человек считалась про неё, перегородка между двумя независимыми читателями держала именно её программу, заключение по её снимку и строка исхода, которая уйдёт ей письмом, — это документы четвёртого раздела. Здесь её линия закрывается тем, что собирает весь вечер в одну мысль: четыре ступени участия — это не четыре разных контура в четырёх разных больницах. Это четыре позиции, через которые проходит одно решение об одном человеке, пока оно идёт по стадиям. На скрининге над её случаем стоял человек, читающий первым. На постановке диагноза — человек, читающий после подсказки. На профилактическом снимке лёгких — человек, который увидел бы только отмеченное моделью, а пятьдесят пять снимков из ста не читает никто. На выписке — подпись под машинным черновиком. Ступень при этом не назначал никто: она получилась такой, какой получилась, из устройства каждой процедуры.</a:t>
            </a:r>
          </a:p>
          <a:p>
            <a:r>
              <a:t/>
            </a:r>
          </a:p>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В московской сортировке профилактических снимков это посчитано прямо: двести девяносто клинически значимых находок нашлись только потому, что в рамках исследования все «нормы» перечитали люди, а в штатной работе такого слоя не будет. Проверить свою третью ступень можно одним вопросом к контуру: что происходит с тем, чего фильтр не показал, и кто это считает.</a:t>
            </a:r>
          </a:p>
          <a:p>
            <a:r>
              <a:t/>
            </a:r>
          </a:p>
          <a:p>
            <a:r>
              <a:t>Про силу свидетельства у четвёртой ступени, сжатую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Принятое без предварительной проверки правится потом в пятидесяти трёх процентах случаев против восемнадцати. Первая ступень, для сравнения, стоит на рандомизированном испытании программы скрининга со ста пятью тысячами женщин. Разряд падает ровно по мере того, как участие формальнее.</a:t>
            </a:r>
          </a:p>
          <a:p>
            <a:r>
              <a:t/>
            </a:r>
          </a:p>
          <a:p>
            <a:r>
              <a:t>Отдельно — про то, чего в деке больше нет, и это надо сказать, а не обойти. Почему четвёртая ступень самая частая, объясняло третье свидетельство: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Этот разбор стоял в разделе надзора, раздел изъят из лекции, и ни на одном кадре деки его теперь нет. Произнести его стоит голосом, назвав прямо: это не измерение этой лекции, а материал, который из неё вышел.</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последнюю строку кадра. Ни один разбор лекции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 И ровно поэтому женщина с письмом уходит из вечера без исхода: мы знаем, кто стоял над её случаем на каждой стадии, и не знаем, чем для неё всё кончилось.</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tellina-study/AI-usage-lessons/blob/main/library/lectures/lec-07/rework/research/09a-dopusk-usa-puti-i-doli.md" TargetMode="External"/><Relationship Id="rId3" Type="http://schemas.openxmlformats.org/officeDocument/2006/relationships/hyperlink" Target="https://github.com/tellina-study/AI-usage-lessons/blob/main/library/lectures/lec-07/rework/research/09b-dopusk-rossiya.md" TargetMode="Externa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github.com/tellina-study/AI-usage-lessons/blob/main/library/lectures/lec-07/rework/research/14-vnedrenie-agregaty.md" TargetMode="External"/><Relationship Id="rId4" Type="http://schemas.openxmlformats.org/officeDocument/2006/relationships/hyperlink" Target="https://github.com/tellina-study/AI-usage-lessons/blob/main/library/lectures/lec-07/rework/research/10b-ii-ispolzovanie-i-effekt.md"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hyperlink" Target="https://github.com/tellina-study/AI-usage-lessons/blob/main/library/lectures/lec-07/rework/research/15-rabota-vladeltsa-iskazheniya.md" TargetMode="Externa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niercheck.nl/wp-content/uploads/2019/06/Wilson-Jungner-1968.pdf"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3018-026-01128-z"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mc.ncbi.nlm.nih.gov/articles/PMC12864748/"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diagnostics15070822"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hyperlink" Target="https://doi.org/10.1038/s42256-021-00307-0"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NEJMc202924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doi.org/10.17816/DD641703" TargetMode="External"/><Relationship Id="rId4" Type="http://schemas.openxmlformats.org/officeDocument/2006/relationships/hyperlink" Target="https://www.england.nhs.uk/rightcare/wp-content/uploads/sites/2/2024/11/DID-Annual-Statistical-Release-2023-24.pdf" TargetMode="External"/><Relationship Id="rId5" Type="http://schemas.openxmlformats.org/officeDocument/2006/relationships/hyperlink" Target="https://www.gov.uk/government/news/ai-to-speed-up-cancer-diagnosis-for-millions-of-nhs-patients"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641703"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90/jcm1416570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doi.org/10.1136/bmjqs-2013-002627"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jcai.org/proceedings/2025/1098.pdf"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hyperlink" Target="https://www.consultant.ru/document/cons_doc_LAW_429359/" TargetMode="Externa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7326/M18-0139" TargetMode="External"/><Relationship Id="rId3" Type="http://schemas.openxmlformats.org/officeDocument/2006/relationships/hyperlink" Target="https://www.epicresearch.org/articles/two-years-after-coding-changes-sought-to-decrease-documentation-notes-remain-bloated/" TargetMode="External"/><Relationship Id="rId4" Type="http://schemas.openxmlformats.org/officeDocument/2006/relationships/hyperlink" Target="https://www.consultant.ru/document/cons_doc_LAW_429359/" TargetMode="External"/><Relationship Id="rId5"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os.ru/news/item/175489073/" TargetMode="External"/><Relationship Id="rId3" Type="http://schemas.openxmlformats.org/officeDocument/2006/relationships/hyperlink" Target="https://www.mos.ru/news/item/171864073/"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7759/cureus.109247" TargetMode="Externa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www.mos.ru/news/item/118060073/" TargetMode="Externa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7816/DD321420" TargetMode="External"/><Relationship Id="rId3" Type="http://schemas.openxmlformats.org/officeDocument/2006/relationships/hyperlink" Target="https://niioz.ru/moskovskaya-meditsina/zhurnal-moskovskaya-meditsina/luchshie-praktiki/funktsiya-raspoznavaniya-rechi-dlya-opisaniya-issledovaniy-v-endoskopicheskikh-tsentrakh/"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doi.org/10.1016/j.gie.2014.07.058" TargetMode="Externa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007/s00384-023-04585-5" TargetMode="Externa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36/flgastro-2022-102260" TargetMode="Externa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33878/2073-7556-2025-24-3-12-21" TargetMode="Externa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1.20245" TargetMode="External"/><Relationship Id="rId3" Type="http://schemas.openxmlformats.org/officeDocument/2006/relationships/hyperlink" Target="https://doi.org/10.1016/j.esmorw.2026.100693" TargetMode="Externa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1295C"/>
          </a:solidFill>
          <a:ln>
            <a:noFill/>
          </a:ln>
          <a:effectLst/>
        </p:spPr>
        <p:txBody>
          <a:bodyPr rtlCol="0" anchor="ctr"/>
          <a:lstStyle/>
          <a:p>
            <a:pPr algn="ctr"/>
          </a:p>
        </p:txBody>
      </p:sp>
      <p:sp>
        <p:nvSpPr>
          <p:cNvPr id="3" name="TextBox 2"/>
          <p:cNvSpPr txBox="1"/>
          <p:nvPr/>
        </p:nvSpPr>
        <p:spPr>
          <a:xfrm>
            <a:off x="502920" y="365760"/>
            <a:ext cx="11185855" cy="484099"/>
          </a:xfrm>
          <a:prstGeom prst="rect">
            <a:avLst/>
          </a:prstGeom>
          <a:noFill/>
        </p:spPr>
        <p:txBody>
          <a:bodyPr wrap="square" lIns="0" rIns="0" tIns="0" bIns="0" anchor="t">
            <a:spAutoFit/>
          </a:bodyPr>
          <a:lstStyle/>
          <a:p>
            <a:pPr algn="l">
              <a:lnSpc>
                <a:spcPct val="110000"/>
              </a:lnSpc>
            </a:pPr>
            <a:r>
              <a:rPr sz="2800" b="1" i="0">
                <a:solidFill>
                  <a:srgbClr val="FFFFFF"/>
                </a:solidFill>
                <a:latin typeface="Arial"/>
              </a:rPr>
              <a:t>Чтение рентгенограмм грудной клетки в Англии</a:t>
            </a:r>
          </a:p>
        </p:txBody>
      </p:sp>
      <p:sp>
        <p:nvSpPr>
          <p:cNvPr id="4" name="Rounded Rectangle 3"/>
          <p:cNvSpPr/>
          <p:nvPr/>
        </p:nvSpPr>
        <p:spPr>
          <a:xfrm>
            <a:off x="502920" y="1754362"/>
            <a:ext cx="11185855" cy="3888237"/>
          </a:xfrm>
          <a:prstGeom prst="roundRect">
            <a:avLst>
              <a:gd name="adj" fmla="val 7839"/>
            </a:avLst>
          </a:prstGeom>
          <a:solidFill>
            <a:srgbClr val="21295C"/>
          </a:solidFill>
          <a:ln w="19050">
            <a:solidFill>
              <a:srgbClr val="21295C"/>
            </a:solidFill>
          </a:ln>
          <a:effectLst/>
        </p:spPr>
        <p:txBody>
          <a:bodyPr rtlCol="0" anchor="ctr"/>
          <a:lstStyle/>
          <a:p>
            <a:pPr algn="ctr"/>
          </a:p>
        </p:txBody>
      </p:sp>
      <p:sp>
        <p:nvSpPr>
          <p:cNvPr id="5" name="TextBox 4"/>
          <p:cNvSpPr txBox="1"/>
          <p:nvPr/>
        </p:nvSpPr>
        <p:spPr>
          <a:xfrm>
            <a:off x="905256" y="2156698"/>
            <a:ext cx="10381183" cy="1923824"/>
          </a:xfrm>
          <a:prstGeom prst="rect">
            <a:avLst/>
          </a:prstGeom>
          <a:noFill/>
        </p:spPr>
        <p:txBody>
          <a:bodyPr wrap="square" lIns="0" rIns="0" tIns="0" bIns="0" anchor="t">
            <a:spAutoFit/>
          </a:bodyPr>
          <a:lstStyle/>
          <a:p>
            <a:pPr algn="ctr">
              <a:lnSpc>
                <a:spcPct val="102000"/>
              </a:lnSpc>
            </a:pPr>
            <a:r>
              <a:rPr sz="12000" b="1" i="0">
                <a:solidFill>
                  <a:srgbClr val="F0AB00"/>
                </a:solidFill>
                <a:latin typeface="Arial"/>
              </a:rPr>
              <a:t>2,8 млн</a:t>
            </a:r>
          </a:p>
        </p:txBody>
      </p:sp>
      <p:sp>
        <p:nvSpPr>
          <p:cNvPr id="6" name="Rectangle 5"/>
          <p:cNvSpPr/>
          <p:nvPr/>
        </p:nvSpPr>
        <p:spPr>
          <a:xfrm>
            <a:off x="5090007" y="4299979"/>
            <a:ext cx="2011680" cy="77724"/>
          </a:xfrm>
          <a:prstGeom prst="rect">
            <a:avLst/>
          </a:prstGeom>
          <a:solidFill>
            <a:srgbClr val="FFFFFF"/>
          </a:solidFill>
          <a:ln>
            <a:noFill/>
          </a:ln>
          <a:effectLst/>
        </p:spPr>
        <p:txBody>
          <a:bodyPr rtlCol="0" anchor="ctr"/>
          <a:lstStyle/>
          <a:p>
            <a:pPr algn="ctr"/>
          </a:p>
        </p:txBody>
      </p:sp>
      <p:sp>
        <p:nvSpPr>
          <p:cNvPr id="7" name="TextBox 6"/>
          <p:cNvSpPr txBox="1"/>
          <p:nvPr/>
        </p:nvSpPr>
        <p:spPr>
          <a:xfrm>
            <a:off x="905256" y="4487431"/>
            <a:ext cx="10381183" cy="364646"/>
          </a:xfrm>
          <a:prstGeom prst="rect">
            <a:avLst/>
          </a:prstGeom>
          <a:noFill/>
        </p:spPr>
        <p:txBody>
          <a:bodyPr wrap="square" lIns="0" rIns="0" tIns="0" bIns="0" anchor="t">
            <a:spAutoFit/>
          </a:bodyPr>
          <a:lstStyle/>
          <a:p>
            <a:pPr algn="ctr">
              <a:lnSpc>
                <a:spcPct val="116000"/>
              </a:lnSpc>
            </a:pPr>
            <a:r>
              <a:rPr sz="2000" b="1" i="0">
                <a:solidFill>
                  <a:srgbClr val="FFFFFF"/>
                </a:solidFill>
                <a:latin typeface="Arial"/>
              </a:rPr>
              <a:t>рентгенограмм грудной клетки за год прочитала модель</a:t>
            </a:r>
          </a:p>
        </p:txBody>
      </p:sp>
      <p:sp>
        <p:nvSpPr>
          <p:cNvPr id="8" name="TextBox 7"/>
          <p:cNvSpPr txBox="1"/>
          <p:nvPr/>
        </p:nvSpPr>
        <p:spPr>
          <a:xfrm>
            <a:off x="905256" y="4943517"/>
            <a:ext cx="10381183" cy="296746"/>
          </a:xfrm>
          <a:prstGeom prst="rect">
            <a:avLst/>
          </a:prstGeom>
          <a:noFill/>
        </p:spPr>
        <p:txBody>
          <a:bodyPr wrap="square" lIns="0" rIns="0" tIns="0" bIns="0" anchor="t">
            <a:spAutoFit/>
          </a:bodyPr>
          <a:lstStyle/>
          <a:p>
            <a:pPr algn="ctr">
              <a:lnSpc>
                <a:spcPct val="118000"/>
              </a:lnSpc>
            </a:pPr>
            <a:r>
              <a:rPr sz="1600" b="0" i="0">
                <a:solidFill>
                  <a:srgbClr val="FFFFFF"/>
                </a:solidFill>
                <a:latin typeface="Arial"/>
              </a:rPr>
              <a:t>из 8,19 млн, выполненных в Англии за год к марту 2024 года</a:t>
            </a: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FFFFFF"/>
                </a:solidFill>
                <a:latin typeface="Arial"/>
              </a:rPr>
              <a:t>NHS England, Diagnostic Imaging Dataset Annual Statistical Release 2023/24, таблица 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Допуск изделия с обученной моделью: пути и счёт</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КОРОТКОЙ ДОРОГОЙ</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1 553 из 1 614</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похожести на уже допущенное изделие</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ПОЛНЫМ ЦИКЛОМ</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 из 1 614</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 собственными клиническими испытаниями</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В РОССИИ ЦЕЛИКОМ</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0,6–3 млн рублей</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1 → класс 3</a:t>
            </a:r>
          </a:p>
        </p:txBody>
      </p:sp>
      <p:sp>
        <p:nvSpPr>
          <p:cNvPr id="16" name="TextBox 15"/>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короткий</a:t>
            </a:r>
          </a:p>
        </p:txBody>
      </p:sp>
      <p:sp>
        <p:nvSpPr>
          <p:cNvPr id="17" name="Rounded Rectangle 16"/>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19" name="Right Arrow 18"/>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Похож на предшественник</a:t>
            </a:r>
          </a:p>
        </p:txBody>
      </p:sp>
      <p:sp>
        <p:nvSpPr>
          <p:cNvPr id="22" name="Right Arrow 21"/>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25" name="TextBox 24"/>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полный</a:t>
            </a:r>
          </a:p>
        </p:txBody>
      </p:sp>
      <p:sp>
        <p:nvSpPr>
          <p:cNvPr id="26" name="Rounded Rectangle 25"/>
          <p:cNvSpPr/>
          <p:nvPr/>
        </p:nvSpPr>
        <p:spPr>
          <a:xfrm>
            <a:off x="1920240"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Заявка</a:t>
            </a:r>
          </a:p>
        </p:txBody>
      </p:sp>
      <p:sp>
        <p:nvSpPr>
          <p:cNvPr id="28" name="Right Arrow 27"/>
          <p:cNvSpPr/>
          <p:nvPr/>
        </p:nvSpPr>
        <p:spPr>
          <a:xfrm>
            <a:off x="4202353" y="3474471"/>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4513249"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31" name="Right Arrow 30"/>
          <p:cNvSpPr/>
          <p:nvPr/>
        </p:nvSpPr>
        <p:spPr>
          <a:xfrm>
            <a:off x="6713067" y="347447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34" name="Right Arrow 33"/>
          <p:cNvSpPr/>
          <p:nvPr/>
        </p:nvSpPr>
        <p:spPr>
          <a:xfrm>
            <a:off x="9223781" y="347447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30535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335107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a:t>
            </a:r>
          </a:p>
        </p:txBody>
      </p:sp>
      <p:sp>
        <p:nvSpPr>
          <p:cNvPr id="37" name="TextBox 36"/>
          <p:cNvSpPr txBox="1"/>
          <p:nvPr/>
        </p:nvSpPr>
        <p:spPr>
          <a:xfrm>
            <a:off x="502920" y="396362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 все классы</a:t>
            </a:r>
          </a:p>
        </p:txBody>
      </p:sp>
      <p:sp>
        <p:nvSpPr>
          <p:cNvPr id="38" name="Rounded Rectangle 37"/>
          <p:cNvSpPr/>
          <p:nvPr/>
        </p:nvSpPr>
        <p:spPr>
          <a:xfrm>
            <a:off x="1920240"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2002536"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Испытания</a:t>
            </a:r>
          </a:p>
        </p:txBody>
      </p:sp>
      <p:sp>
        <p:nvSpPr>
          <p:cNvPr id="40" name="Right Arrow 39"/>
          <p:cNvSpPr/>
          <p:nvPr/>
        </p:nvSpPr>
        <p:spPr>
          <a:xfrm>
            <a:off x="4202353" y="4096168"/>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4430953"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2" name="TextBox 41"/>
          <p:cNvSpPr txBox="1"/>
          <p:nvPr/>
        </p:nvSpPr>
        <p:spPr>
          <a:xfrm>
            <a:off x="4513249"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Токсикология</a:t>
            </a:r>
          </a:p>
        </p:txBody>
      </p:sp>
      <p:sp>
        <p:nvSpPr>
          <p:cNvPr id="43" name="Right Arrow 42"/>
          <p:cNvSpPr/>
          <p:nvPr/>
        </p:nvSpPr>
        <p:spPr>
          <a:xfrm>
            <a:off x="6713067" y="4096168"/>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6941667"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5" name="TextBox 44"/>
          <p:cNvSpPr txBox="1"/>
          <p:nvPr/>
        </p:nvSpPr>
        <p:spPr>
          <a:xfrm>
            <a:off x="7023963"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Клинические данные</a:t>
            </a:r>
          </a:p>
        </p:txBody>
      </p:sp>
      <p:sp>
        <p:nvSpPr>
          <p:cNvPr id="46" name="Right Arrow 45"/>
          <p:cNvSpPr/>
          <p:nvPr/>
        </p:nvSpPr>
        <p:spPr>
          <a:xfrm>
            <a:off x="9223781" y="4096168"/>
            <a:ext cx="182880" cy="137160"/>
          </a:xfrm>
          <a:prstGeom prst="rightArrow">
            <a:avLst/>
          </a:prstGeom>
          <a:solidFill>
            <a:srgbClr val="1C7293"/>
          </a:solidFill>
          <a:ln>
            <a:noFill/>
          </a:ln>
          <a:effectLst/>
        </p:spPr>
        <p:txBody>
          <a:bodyPr rtlCol="0" anchor="ctr"/>
          <a:lstStyle/>
          <a:p>
            <a:pPr algn="ctr"/>
          </a:p>
        </p:txBody>
      </p:sp>
      <p:sp>
        <p:nvSpPr>
          <p:cNvPr id="47" name="Rounded Rectangle 46"/>
          <p:cNvSpPr/>
          <p:nvPr/>
        </p:nvSpPr>
        <p:spPr>
          <a:xfrm>
            <a:off x="9452381" y="392705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8" name="TextBox 47"/>
          <p:cNvSpPr txBox="1"/>
          <p:nvPr/>
        </p:nvSpPr>
        <p:spPr>
          <a:xfrm>
            <a:off x="9534677" y="397277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Экспертиза</a:t>
            </a:r>
          </a:p>
        </p:txBody>
      </p:sp>
      <p:sp>
        <p:nvSpPr>
          <p:cNvPr id="49" name="TextBox 48"/>
          <p:cNvSpPr txBox="1"/>
          <p:nvPr/>
        </p:nvSpPr>
        <p:spPr>
          <a:xfrm>
            <a:off x="502920" y="443902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американский порядок близок к российскому; короткого пути в России нет</a:t>
            </a:r>
          </a:p>
        </p:txBody>
      </p:sp>
      <p:sp>
        <p:nvSpPr>
          <p:cNvPr id="50" name="Rounded Rectangle 49"/>
          <p:cNvSpPr/>
          <p:nvPr/>
        </p:nvSpPr>
        <p:spPr>
          <a:xfrm>
            <a:off x="374904" y="4741704"/>
            <a:ext cx="11441887" cy="121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1" name="TextBox 50"/>
          <p:cNvSpPr txBox="1"/>
          <p:nvPr/>
        </p:nvSpPr>
        <p:spPr>
          <a:xfrm>
            <a:off x="539496" y="4833144"/>
            <a:ext cx="11112703" cy="1403063"/>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Без регистрационного удостоверения изделие нельзя ни применить на человеке, ни купить за бюджетные деньги.</a:t>
            </a:r>
          </a:p>
          <a:p>
            <a:pPr algn="l">
              <a:lnSpc>
                <a:spcPct val="118000"/>
              </a:lnSpc>
              <a:spcBef>
                <a:spcPts val="600"/>
              </a:spcBef>
            </a:pPr>
            <a:r>
              <a:rPr sz="1400" b="0" i="0">
                <a:solidFill>
                  <a:srgbClr val="21295C"/>
                </a:solidFill>
                <a:latin typeface="Arial"/>
              </a:rPr>
              <a:t/>
            </a:r>
            <a:r>
              <a:rPr sz="1400" b="1" i="0">
                <a:solidFill>
                  <a:srgbClr val="21295C"/>
                </a:solidFill>
                <a:latin typeface="Arial"/>
              </a:rPr>
              <a:t>По-настоящему новых изделий прибавляется 3,1 в год:</a:t>
            </a:r>
            <a:r>
              <a:rPr sz="1400" b="0" i="0">
                <a:solidFill>
                  <a:srgbClr val="21295C"/>
                </a:solidFill>
                <a:latin typeface="Arial"/>
              </a:rPr>
              <a:t> 56 к концу 2025 года против 7 к 2010-му. Остальной прирост идёт через похожесть на предшественник.</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3" name="TextBox 5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2"/>
              </a:rPr>
              <a:t>допуск в США, ступени и доли</a:t>
            </a:r>
            <a:r>
              <a:rPr sz="1200" b="0" i="1">
                <a:solidFill>
                  <a:srgbClr val="1C7293"/>
                </a:solidFill>
                <a:latin typeface="Arial"/>
              </a:rPr>
              <a:t> · </a:t>
            </a:r>
            <a:r>
              <a:rPr sz="1200" b="0" i="1" u="sng">
                <a:solidFill>
                  <a:srgbClr val="065A82"/>
                </a:solidFill>
                <a:latin typeface="Arial"/>
                <a:hlinkClick r:id="rId3"/>
              </a:rPr>
              <a:t>допуск в России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Применение модели: врачи и поток исследований</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0Xc-potok-za-god.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ВРАЧИ США</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38% → 66%</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1,1 млн практикующих, 2023 и 2024</a:t>
            </a:r>
          </a:p>
        </p:txBody>
      </p:sp>
      <p:sp>
        <p:nvSpPr>
          <p:cNvPr id="10" name="Rounded Rectangle 9"/>
          <p:cNvSpPr/>
          <p:nvPr/>
        </p:nvSpPr>
        <p:spPr>
          <a:xfrm>
            <a:off x="4286402" y="426110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ДОПУЩЕНО И ОПЛАЧИВАЕТСЯ</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из 1 614 · 49 из 549</a:t>
            </a:r>
          </a:p>
        </p:txBody>
      </p:sp>
      <p:sp>
        <p:nvSpPr>
          <p:cNvPr id="13" name="TextBox 12"/>
          <p:cNvSpPr txBox="1"/>
          <p:nvPr/>
        </p:nvSpPr>
        <p:spPr>
          <a:xfrm>
            <a:off x="4423562" y="507845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постоянные коды оплаты, США · возмещение, Корея</a:t>
            </a:r>
          </a:p>
        </p:txBody>
      </p:sp>
      <p:sp>
        <p:nvSpPr>
          <p:cNvPr id="14" name="Rounded Rectangle 13"/>
          <p:cNvSpPr/>
          <p:nvPr/>
        </p:nvSpPr>
        <p:spPr>
          <a:xfrm>
            <a:off x="8069884" y="426110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ЛЮДИ В ЗОНЕ ПОКРЫТИЯ</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230 млн</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Viz.ai, 2 000 больниц; охват, не случаи</a:t>
            </a:r>
          </a:p>
        </p:txBody>
      </p:sp>
      <p:sp>
        <p:nvSpPr>
          <p:cNvPr id="18" name="Rounded Rectangle 17"/>
          <p:cNvSpPr/>
          <p:nvPr/>
        </p:nvSpPr>
        <p:spPr>
          <a:xfrm>
            <a:off x="374904" y="5729541"/>
            <a:ext cx="11441887" cy="5066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820981"/>
            <a:ext cx="11112703" cy="41522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Врачи мира: 3 млн из 13–15 млн. Россия: 15–25% из 770 тысяч.</a:t>
            </a:r>
            <a:r>
              <a:rPr sz="1400" b="0" i="0">
                <a:solidFill>
                  <a:srgbClr val="21295C"/>
                </a:solidFill>
                <a:latin typeface="Arial"/>
              </a:rPr>
              <a:t> У кого в контуре стоит модель — и кто разбирает её отказы?</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Полная запись источников в репозитории курса</a:t>
            </a:r>
            <a:r>
              <a:rPr sz="1200" b="0" i="1">
                <a:solidFill>
                  <a:srgbClr val="1C7293"/>
                </a:solidFill>
                <a:latin typeface="Arial"/>
              </a:rPr>
              <a:t> · </a:t>
            </a:r>
            <a:r>
              <a:rPr sz="1200" b="0" i="1" u="sng">
                <a:solidFill>
                  <a:srgbClr val="065A82"/>
                </a:solidFill>
                <a:latin typeface="Arial"/>
                <a:hlinkClick r:id="rId3"/>
              </a:rPr>
              <a:t>агрегаты внедрения</a:t>
            </a:r>
            <a:r>
              <a:rPr sz="1200" b="0" i="1">
                <a:solidFill>
                  <a:srgbClr val="1C7293"/>
                </a:solidFill>
                <a:latin typeface="Arial"/>
              </a:rPr>
              <a:t> · </a:t>
            </a:r>
            <a:r>
              <a:rPr sz="1200" b="0" i="1" u="sng">
                <a:solidFill>
                  <a:srgbClr val="065A82"/>
                </a:solidFill>
                <a:latin typeface="Arial"/>
                <a:hlinkClick r:id="rId4"/>
              </a:rPr>
              <a:t>использование и эффект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искажений входа: имена</a:t>
            </a:r>
          </a:p>
        </p:txBody>
      </p:sp>
      <p:sp>
        <p:nvSpPr>
          <p:cNvPr id="4" name="Rounded Rectangle 3"/>
          <p:cNvSpPr/>
          <p:nvPr/>
        </p:nvSpPr>
        <p:spPr>
          <a:xfrm>
            <a:off x="1743747" y="1335024"/>
            <a:ext cx="3019832"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1908339" y="1499616"/>
            <a:ext cx="2690648" cy="1901952"/>
          </a:xfrm>
          <a:prstGeom prst="rect">
            <a:avLst/>
          </a:prstGeom>
        </p:spPr>
      </p:pic>
      <p:sp>
        <p:nvSpPr>
          <p:cNvPr id="6" name="TextBox 5"/>
          <p:cNvSpPr txBox="1"/>
          <p:nvPr/>
        </p:nvSpPr>
        <p:spPr>
          <a:xfrm>
            <a:off x="1908339" y="3419856"/>
            <a:ext cx="2690648"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Врач</a:t>
            </a:r>
          </a:p>
        </p:txBody>
      </p:sp>
      <p:sp>
        <p:nvSpPr>
          <p:cNvPr id="7" name="Rounded Rectangle 6"/>
          <p:cNvSpPr/>
          <p:nvPr/>
        </p:nvSpPr>
        <p:spPr>
          <a:xfrm>
            <a:off x="7427916" y="1335024"/>
            <a:ext cx="3020228" cy="2651760"/>
          </a:xfrm>
          <a:prstGeom prst="roundRect">
            <a:avLst>
              <a:gd name="adj" fmla="val 11494"/>
            </a:avLst>
          </a:prstGeom>
          <a:solidFill>
            <a:srgbClr val="FFFFFF"/>
          </a:solidFill>
          <a:ln w="19050">
            <a:solidFill>
              <a:srgbClr val="1C7293"/>
            </a:solidFill>
          </a:ln>
          <a:effectLst/>
        </p:spPr>
        <p:txBody>
          <a:bodyPr rtlCol="0" anchor="ctr"/>
          <a:lstStyle/>
          <a:p>
            <a:pPr algn="ctr"/>
          </a:p>
        </p:txBody>
      </p:sp>
      <p:pic>
        <p:nvPicPr>
          <p:cNvPr id="8" name="Picture 7" descr="dve-storony-pacient-landscape.jpg"/>
          <p:cNvPicPr>
            <a:picLocks noChangeAspect="1"/>
          </p:cNvPicPr>
          <p:nvPr/>
        </p:nvPicPr>
        <p:blipFill>
          <a:blip r:embed="rId3"/>
          <a:stretch>
            <a:fillRect/>
          </a:stretch>
        </p:blipFill>
        <p:spPr>
          <a:xfrm>
            <a:off x="7592508" y="1499616"/>
            <a:ext cx="2691044" cy="1901952"/>
          </a:xfrm>
          <a:prstGeom prst="rect">
            <a:avLst/>
          </a:prstGeom>
        </p:spPr>
      </p:pic>
      <p:sp>
        <p:nvSpPr>
          <p:cNvPr id="9" name="TextBox 8"/>
          <p:cNvSpPr txBox="1"/>
          <p:nvPr/>
        </p:nvSpPr>
        <p:spPr>
          <a:xfrm>
            <a:off x="7592508" y="3419856"/>
            <a:ext cx="2691044" cy="420623"/>
          </a:xfrm>
          <a:prstGeom prst="rect">
            <a:avLst/>
          </a:prstGeom>
          <a:noFill/>
        </p:spPr>
        <p:txBody>
          <a:bodyPr wrap="square" lIns="0" rIns="0" tIns="0" bIns="0" anchor="t">
            <a:spAutoFit/>
          </a:bodyPr>
          <a:lstStyle/>
          <a:p>
            <a:pPr algn="ctr">
              <a:lnSpc>
                <a:spcPct val="112000"/>
              </a:lnSpc>
            </a:pPr>
            <a:r>
              <a:rPr sz="1200" b="0" i="1">
                <a:solidFill>
                  <a:srgbClr val="1C7293"/>
                </a:solidFill>
                <a:latin typeface="Arial"/>
              </a:rPr>
              <a:t>Пациент</a:t>
            </a:r>
          </a:p>
        </p:txBody>
      </p:sp>
      <p:sp>
        <p:nvSpPr>
          <p:cNvPr id="10" name="Rounded Rectangle 9"/>
          <p:cNvSpPr/>
          <p:nvPr/>
        </p:nvSpPr>
        <p:spPr>
          <a:xfrm>
            <a:off x="374904" y="4078224"/>
            <a:ext cx="11441887" cy="2157984"/>
          </a:xfrm>
          <a:prstGeom prst="roundRect">
            <a:avLst>
              <a:gd name="adj" fmla="val 14124"/>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69664"/>
            <a:ext cx="11112703" cy="2066543"/>
          </a:xfrm>
          <a:prstGeom prst="rect">
            <a:avLst/>
          </a:prstGeom>
          <a:noFill/>
        </p:spPr>
        <p:txBody>
          <a:bodyPr wrap="square" lIns="0" rIns="0" tIns="0" bIns="0" anchor="t">
            <a:spAutoFit/>
          </a:bodyPr>
          <a:lstStyle/>
          <a:p>
            <a:pPr algn="l">
              <a:lnSpc>
                <a:spcPct val="118000"/>
              </a:lnSpc>
            </a:pPr>
            <a:r>
              <a:rPr sz="1400" b="0" i="0">
                <a:solidFill>
                  <a:srgbClr val="21295C"/>
                </a:solidFill>
                <a:latin typeface="Arial"/>
              </a:rPr>
              <a:t>• </a:t>
            </a:r>
            <a:r>
              <a:rPr sz="1400" b="1" i="0">
                <a:solidFill>
                  <a:srgbClr val="21295C"/>
                </a:solidFill>
                <a:latin typeface="Arial"/>
              </a:rPr>
              <a:t>Якорение.</a:t>
            </a:r>
            <a:r>
              <a:rPr sz="1400" b="0" i="0">
                <a:solidFill>
                  <a:srgbClr val="21295C"/>
                </a:solidFill>
                <a:latin typeface="Arial"/>
              </a:rPr>
              <a:t> Заключение сдвигается к подсказке модели, даже заведомо неверной.</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Сужение.</a:t>
            </a:r>
            <a:r>
              <a:rPr sz="1400" b="0" i="0">
                <a:solidFill>
                  <a:srgbClr val="21295C"/>
                </a:solidFill>
                <a:latin typeface="Arial"/>
              </a:rPr>
              <a:t> Где модель молчит, взгляд не задерживается.</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Износ навыка.</a:t>
            </a:r>
            <a:r>
              <a:rPr sz="1400" b="0" i="0">
                <a:solidFill>
                  <a:srgbClr val="21295C"/>
                </a:solidFill>
                <a:latin typeface="Arial"/>
              </a:rPr>
              <a:t> Привыкнув к модели, без неё находят меньше.</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Поток тревог.</a:t>
            </a:r>
            <a:r>
              <a:rPr sz="1400" b="0" i="0">
                <a:solidFill>
                  <a:srgbClr val="21295C"/>
                </a:solidFill>
                <a:latin typeface="Arial"/>
              </a:rPr>
              <a:t> Тревоги идут подряд, и отклонять их начинают подряд.</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Несогласие.</a:t>
            </a:r>
            <a:r>
              <a:rPr sz="1400" b="0" i="0">
                <a:solidFill>
                  <a:srgbClr val="21295C"/>
                </a:solidFill>
                <a:latin typeface="Arial"/>
              </a:rPr>
              <a:t> Расхождение с моделью разбирают отдельным шагом, и шаг этот новый.</a:t>
            </a:r>
          </a:p>
          <a:p>
            <a:pPr algn="l">
              <a:lnSpc>
                <a:spcPct val="118000"/>
              </a:lnSpc>
              <a:spcBef>
                <a:spcPts val="6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Поправка.</a:t>
            </a:r>
            <a:r>
              <a:rPr sz="1400" b="0" i="0">
                <a:solidFill>
                  <a:srgbClr val="21295C"/>
                </a:solidFill>
                <a:latin typeface="Arial"/>
              </a:rPr>
              <a:t> Единственный в нашу пользу: врач правит заключение модели, найдя ошибку.</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4"/>
              </a:rPr>
              <a:t>Полная запись источников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решают без модели и четыре ступени участия человека</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Требование регулятора: человек — последнее звено.</a:t>
            </a:r>
            <a:r>
              <a:rPr sz="1350" b="0" i="0">
                <a:solidFill>
                  <a:srgbClr val="21295C"/>
                </a:solidFill>
                <a:latin typeface="Arial"/>
              </a:rPr>
              <a:t> Европейская норма говорит точнее: он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350" b="0" i="0">
                <a:solidFill>
                  <a:srgbClr val="21295C"/>
                </a:solidFill>
                <a:latin typeface="Arial"/>
              </a:rPr>
              <a:t/>
            </a:r>
            <a:r>
              <a:rPr sz="1350" b="1" i="0">
                <a:solidFill>
                  <a:srgbClr val="21295C"/>
                </a:solidFill>
                <a:latin typeface="Arial"/>
              </a:rPr>
              <a:t>Как решают без модели — классические режимы по именам:</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Отбор</a:t>
            </a:r>
            <a:r>
              <a:rPr sz="135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Диагностика</a:t>
            </a:r>
            <a:r>
              <a:rPr sz="1350" b="0" i="0">
                <a:solidFill>
                  <a:srgbClr val="21295C"/>
                </a:solidFill>
                <a:latin typeface="Arial"/>
              </a:rPr>
              <a:t> — две доли сразу: сколько нашли из больных и скольких не напугали из здоровых, обе при пороге протокола.</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Диагноз</a:t>
            </a:r>
            <a:r>
              <a:rPr sz="1350" b="0" i="0">
                <a:solidFill>
                  <a:srgbClr val="21295C"/>
                </a:solidFill>
                <a:latin typeface="Arial"/>
              </a:rPr>
              <a:t> — выписать объясняющее, назначить различающую проверку; второе мнение, консилиум.</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Наблюдение</a:t>
            </a:r>
            <a:r>
              <a:rPr sz="135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Документация</a:t>
            </a:r>
            <a:r>
              <a:rPr sz="1350" b="0" i="0">
                <a:solidFill>
                  <a:srgbClr val="21295C"/>
                </a:solidFill>
                <a:latin typeface="Arial"/>
              </a:rPr>
              <a:t> — структура записи, вычитка, подпись, выписной эпикриз.</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Надзор</a:t>
            </a:r>
            <a:r>
              <a:rPr sz="1350" b="0" i="0">
                <a:solidFill>
                  <a:srgbClr val="21295C"/>
                </a:solidFill>
                <a:latin typeface="Arial"/>
              </a:rPr>
              <a:t> — разбор случая после исхода и изменение порядка работы.</a:t>
            </a:r>
          </a:p>
        </p:txBody>
      </p:sp>
      <p:sp>
        <p:nvSpPr>
          <p:cNvPr id="17" name="Rectangle 16"/>
          <p:cNvSpPr/>
          <p:nvPr/>
        </p:nvSpPr>
        <p:spPr>
          <a:xfrm>
            <a:off x="6091275" y="3397127"/>
            <a:ext cx="9144" cy="267289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Три секунды и ноль рублей против 48 секунд человеческого чтения.</a:t>
            </a:r>
            <a:r>
              <a:rPr sz="1300" b="0" i="0">
                <a:solidFill>
                  <a:srgbClr val="21295C"/>
                </a:solidFill>
                <a:latin typeface="Arial"/>
              </a:rPr>
              <a:t> </a:t>
            </a:r>
            <a:r>
              <a:rPr sz="1300" b="0" i="1">
                <a:solidFill>
                  <a:srgbClr val="21295C"/>
                </a:solidFill>
                <a:latin typeface="Arial"/>
              </a:rPr>
              <a:t>Единицы разные — сравнение на разряд.</a:t>
            </a:r>
          </a:p>
          <a:p>
            <a:pPr algn="l">
              <a:lnSpc>
                <a:spcPct val="126000"/>
              </a:lnSpc>
              <a:spcBef>
                <a:spcPts val="700"/>
              </a:spcBef>
            </a:pPr>
            <a:r>
              <a:rPr sz="1300" b="0" i="0">
                <a:solidFill>
                  <a:srgbClr val="21295C"/>
                </a:solidFill>
                <a:latin typeface="Arial"/>
              </a:rPr>
              <a:t/>
            </a:r>
            <a:r>
              <a:rPr sz="1300" b="1" i="0">
                <a:solidFill>
                  <a:srgbClr val="21295C"/>
                </a:solidFill>
                <a:latin typeface="Arial"/>
              </a:rPr>
              <a:t>Как мерили.</a:t>
            </a:r>
            <a:r>
              <a:rPr sz="130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300" b="0" i="0">
                <a:solidFill>
                  <a:srgbClr val="21295C"/>
                </a:solidFill>
                <a:latin typeface="Arial"/>
              </a:rPr>
              <a:t/>
            </a:r>
            <a:r>
              <a:rPr sz="130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300" b="0" i="0">
                <a:solidFill>
                  <a:srgbClr val="21295C"/>
                </a:solidFill>
                <a:latin typeface="Arial"/>
              </a:rPr>
              <a:t/>
            </a:r>
            <a:r>
              <a:rPr sz="1300" b="1" i="0">
                <a:solidFill>
                  <a:srgbClr val="21295C"/>
                </a:solidFill>
                <a:latin typeface="Arial"/>
              </a:rPr>
              <a:t>Чем платят:</a:t>
            </a:r>
            <a:r>
              <a:rPr sz="1300" b="0" i="0">
                <a:solidFill>
                  <a:srgbClr val="21295C"/>
                </a:solidFill>
                <a:latin typeface="Arial"/>
              </a:rPr>
              <a:t> внимание — смотрит после модели · навык — перестаёт делать сам · подпись — ставят не читая · </a:t>
            </a:r>
            <a:r>
              <a:rPr sz="1300" b="1" i="0">
                <a:solidFill>
                  <a:srgbClr val="21295C"/>
                </a:solidFill>
                <a:latin typeface="Arial"/>
              </a:rPr>
              <a:t>арбитраж — дороже прежнего чтения</a:t>
            </a:r>
            <a:r>
              <a:rPr sz="1300" b="0" i="0">
                <a:solidFill>
                  <a:srgbClr val="21295C"/>
                </a:solidFill>
                <a:latin typeface="Arial"/>
              </a:rPr>
              <a:t>.</a:t>
            </a:r>
          </a:p>
          <a:p>
            <a:pPr algn="l">
              <a:lnSpc>
                <a:spcPct val="126000"/>
              </a:lnSpc>
              <a:spcBef>
                <a:spcPts val="700"/>
              </a:spcBef>
            </a:pPr>
            <a:r>
              <a:rPr sz="1000" b="0" i="0">
                <a:solidFill>
                  <a:srgbClr val="21295C"/>
                </a:solidFill>
                <a:latin typeface="Arial"/>
              </a:rPr>
              <a:t/>
            </a:r>
            <a:r>
              <a:rPr sz="1000" b="0" i="1">
                <a:solidFill>
                  <a:srgbClr val="1C7293"/>
                </a:solidFill>
                <a:latin typeface="Arial"/>
              </a:rPr>
              <a:t>У переезда работы девять форм; перечень — на первом разборе.</a:t>
            </a:r>
          </a:p>
          <a:p>
            <a:pPr algn="l">
              <a:lnSpc>
                <a:spcPct val="126000"/>
              </a:lnSpc>
              <a:spcBef>
                <a:spcPts val="700"/>
              </a:spcBef>
            </a:pPr>
            <a:r>
              <a:rPr sz="1300" b="0" i="0">
                <a:solidFill>
                  <a:srgbClr val="21295C"/>
                </a:solidFill>
                <a:latin typeface="Arial"/>
              </a:rPr>
              <a:t/>
            </a:r>
            <a:r>
              <a:rPr sz="130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без модели: шведская программа зовёт по возрасту</a:t>
            </a:r>
            <a:r>
              <a:rPr sz="1550" b="0" i="0">
                <a:solidFill>
                  <a:srgbClr val="21295C"/>
                </a:solidFill>
                <a:latin typeface="Arial"/>
              </a:rPr>
              <a:t> · </a:t>
            </a:r>
            <a:r>
              <a:rPr sz="1550" b="1" i="0">
                <a:solidFill>
                  <a:srgbClr val="21295C"/>
                </a:solidFill>
                <a:latin typeface="Arial"/>
              </a:rPr>
              <a:t>Пример 2: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3: глазное дно снимают на приёме</a:t>
            </a:r>
            <a:r>
              <a:rPr sz="1550" b="0" i="0">
                <a:solidFill>
                  <a:srgbClr val="21295C"/>
                </a:solidFill>
                <a:latin typeface="Arial"/>
              </a:rPr>
              <a:t> · </a:t>
            </a:r>
            <a:r>
              <a:rPr sz="1550" b="1" i="0">
                <a:solidFill>
                  <a:srgbClr val="21295C"/>
                </a:solidFill>
                <a:latin typeface="Arial"/>
              </a:rPr>
              <a:t>Пример 4: Москва, Россия — модель на месте второго читателя маммограмм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уже пришедших по тяжести.</a:t>
            </a:r>
          </a:p>
        </p:txBody>
      </p:sp>
      <p:sp>
        <p:nvSpPr>
          <p:cNvPr id="22" name="Rectangle 21"/>
          <p:cNvSpPr/>
          <p:nvPr/>
        </p:nvSpPr>
        <p:spPr>
          <a:xfrm>
            <a:off x="6091275" y="4183511"/>
            <a:ext cx="9144" cy="127714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на приёме</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Скрининговые программы по странам и участие модели</a:t>
            </a:r>
          </a:p>
        </p:txBody>
      </p:sp>
      <p:sp>
        <p:nvSpPr>
          <p:cNvPr id="4" name="Rounded Rectangle 3"/>
          <p:cNvSpPr/>
          <p:nvPr/>
        </p:nvSpPr>
        <p:spPr>
          <a:xfrm>
            <a:off x="507847" y="1335024"/>
            <a:ext cx="11176000" cy="2743200"/>
          </a:xfrm>
          <a:prstGeom prst="roundRect">
            <a:avLst>
              <a:gd name="adj" fmla="val 11111"/>
            </a:avLst>
          </a:prstGeom>
          <a:solidFill>
            <a:srgbClr val="F4F7FA"/>
          </a:solidFill>
          <a:ln w="19050">
            <a:solidFill>
              <a:srgbClr val="1C7293"/>
            </a:solidFill>
          </a:ln>
          <a:effectLst/>
        </p:spPr>
        <p:txBody>
          <a:bodyPr rtlCol="0" anchor="ctr"/>
          <a:lstStyle/>
          <a:p>
            <a:pPr algn="ctr"/>
          </a:p>
        </p:txBody>
      </p:sp>
      <p:pic>
        <p:nvPicPr>
          <p:cNvPr id="5" name="Picture 4" descr="s12a-ohvat-po-stranam.png"/>
          <p:cNvPicPr>
            <a:picLocks noChangeAspect="1"/>
          </p:cNvPicPr>
          <p:nvPr/>
        </p:nvPicPr>
        <p:blipFill>
          <a:blip r:embed="rId2"/>
          <a:stretch>
            <a:fillRect/>
          </a:stretch>
        </p:blipFill>
        <p:spPr>
          <a:xfrm>
            <a:off x="1066647" y="1472184"/>
            <a:ext cx="10058400" cy="2468880"/>
          </a:xfrm>
          <a:prstGeom prst="rect">
            <a:avLst/>
          </a:prstGeom>
        </p:spPr>
      </p:pic>
      <p:sp>
        <p:nvSpPr>
          <p:cNvPr id="6" name="Rounded Rectangle 5"/>
          <p:cNvSpPr/>
          <p:nvPr/>
        </p:nvSpPr>
        <p:spPr>
          <a:xfrm>
            <a:off x="502920"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В АРХИТЕКТУРЕ</a:t>
            </a:r>
          </a:p>
        </p:txBody>
      </p:sp>
      <p:sp>
        <p:nvSpPr>
          <p:cNvPr id="8" name="TextBox 7"/>
          <p:cNvSpPr txBox="1"/>
          <p:nvPr/>
        </p:nvSpPr>
        <p:spPr>
          <a:xfrm>
            <a:off x="640080"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Польша · Хорватия</a:t>
            </a:r>
          </a:p>
        </p:txBody>
      </p:sp>
      <p:sp>
        <p:nvSpPr>
          <p:cNvPr id="9" name="TextBox 8"/>
          <p:cNvSpPr txBox="1"/>
          <p:nvPr/>
        </p:nvSpPr>
        <p:spPr>
          <a:xfrm>
            <a:off x="640080"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лёгкое, с 2020; охвата источники не дают</a:t>
            </a:r>
          </a:p>
        </p:txBody>
      </p:sp>
      <p:sp>
        <p:nvSpPr>
          <p:cNvPr id="10" name="Rounded Rectangle 9"/>
          <p:cNvSpPr/>
          <p:nvPr/>
        </p:nvSpPr>
        <p:spPr>
          <a:xfrm>
            <a:off x="4286402" y="426110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4423562"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 ОТДЕЛЬНОЙ ОПЛАТОЙ</a:t>
            </a:r>
          </a:p>
        </p:txBody>
      </p:sp>
      <p:sp>
        <p:nvSpPr>
          <p:cNvPr id="12" name="TextBox 11"/>
          <p:cNvSpPr txBox="1"/>
          <p:nvPr/>
        </p:nvSpPr>
        <p:spPr>
          <a:xfrm>
            <a:off x="4423562" y="465145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Япония, с 2024</a:t>
            </a:r>
          </a:p>
        </p:txBody>
      </p:sp>
      <p:sp>
        <p:nvSpPr>
          <p:cNvPr id="13" name="TextBox 12"/>
          <p:cNvSpPr txBox="1"/>
          <p:nvPr/>
        </p:nvSpPr>
        <p:spPr>
          <a:xfrm>
            <a:off x="4423562"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колоректальный: 43% и 28% больниц</a:t>
            </a:r>
          </a:p>
        </p:txBody>
      </p:sp>
      <p:sp>
        <p:nvSpPr>
          <p:cNvPr id="14" name="Rounded Rectangle 13"/>
          <p:cNvSpPr/>
          <p:nvPr/>
        </p:nvSpPr>
        <p:spPr>
          <a:xfrm>
            <a:off x="8069884" y="426110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8207044" y="439826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НА ИСХОД ПАЦИЕНТА</a:t>
            </a:r>
          </a:p>
        </p:txBody>
      </p:sp>
      <p:sp>
        <p:nvSpPr>
          <p:cNvPr id="16" name="TextBox 15"/>
          <p:cNvSpPr txBox="1"/>
          <p:nvPr/>
        </p:nvSpPr>
        <p:spPr>
          <a:xfrm>
            <a:off x="8207044" y="465145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нигде</a:t>
            </a:r>
          </a:p>
        </p:txBody>
      </p:sp>
      <p:sp>
        <p:nvSpPr>
          <p:cNvPr id="17" name="TextBox 16"/>
          <p:cNvSpPr txBox="1"/>
          <p:nvPr/>
        </p:nvSpPr>
        <p:spPr>
          <a:xfrm>
            <a:off x="8207044" y="507845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измерены участие, охват, оплата</a:t>
            </a:r>
          </a:p>
        </p:txBody>
      </p:sp>
      <p:sp>
        <p:nvSpPr>
          <p:cNvPr id="18" name="Rounded Rectangle 17"/>
          <p:cNvSpPr/>
          <p:nvPr/>
        </p:nvSpPr>
        <p:spPr>
          <a:xfrm>
            <a:off x="374904" y="5518297"/>
            <a:ext cx="11441887" cy="71791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609737"/>
            <a:ext cx="11112703" cy="626470"/>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Строка — страна, столбец — её программа.</a:t>
            </a:r>
            <a:r>
              <a:rPr sz="1400" b="0" i="0">
                <a:solidFill>
                  <a:srgbClr val="21295C"/>
                </a:solidFill>
                <a:latin typeface="Arial"/>
              </a:rPr>
              <a:t> Где столбца нет, там нет и программы: простата в США, лёгкое в Нидерландах — оба раза решение, а не пробел в данных.</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Национальные отчёты по программам скрининга, 2022–2025 — десять источников перечислены в заметках</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Скрининг как практика: откуда он взялся</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1920-Е</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врач на ≈800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осмотреть каждого физически нечем</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ПРИЗЫВ, ПЕРВАЯ МИРОВАЯ</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из ста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 млн призванных: скрытая болезнь у годных на вид</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ГЛАЗГО, 1957</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715 тыс. за 5 недель</a:t>
            </a:r>
          </a:p>
        </p:txBody>
      </p:sp>
      <p:sp>
        <p:nvSpPr>
          <p:cNvPr id="15" name="TextBox 14"/>
          <p:cNvSpPr txBox="1"/>
          <p:nvPr/>
        </p:nvSpPr>
        <p:spPr>
          <a:xfrm>
            <a:off x="6315303"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76 из ста взрослых города, 37 установок</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ВОЗ, 1968</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 критериев</a:t>
            </a:r>
          </a:p>
        </p:txBody>
      </p:sp>
      <p:sp>
        <p:nvSpPr>
          <p:cNvPr id="19" name="TextBox 18"/>
          <p:cNvSpPr txBox="1"/>
          <p:nvPr/>
        </p:nvSpPr>
        <p:spPr>
          <a:xfrm>
            <a:off x="9152915"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когда скрининг вообще оправдан</a:t>
            </a:r>
          </a:p>
        </p:txBody>
      </p:sp>
      <p:sp>
        <p:nvSpPr>
          <p:cNvPr id="20" name="Rounded Rectangle 19"/>
          <p:cNvSpPr/>
          <p:nvPr/>
        </p:nvSpPr>
        <p:spPr>
          <a:xfrm>
            <a:off x="374904" y="319388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Медицина лечила обратившегося.</a:t>
            </a:r>
            <a:r>
              <a:rPr sz="1500" b="0" i="0">
                <a:solidFill>
                  <a:srgbClr val="21295C"/>
                </a:solidFill>
                <a:latin typeface="Arial"/>
              </a:rPr>
              <a:t> Осмотреть здорового было не на что и некому — пока не выросли врачи, лаборатории и учёт населения.</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Призыв показал на целой стране:</a:t>
            </a:r>
            <a:r>
              <a:rPr sz="1500" b="0" i="0">
                <a:solidFill>
                  <a:srgbClr val="21295C"/>
                </a:solidFill>
                <a:latin typeface="Arial"/>
              </a:rPr>
              <a:t> у здорового на вид человека скрытую болезнь находят массово.</a:t>
            </a:r>
          </a:p>
          <a:p>
            <a:pPr algn="l">
              <a:lnSpc>
                <a:spcPct val="126000"/>
              </a:lnSpc>
              <a:spcBef>
                <a:spcPts val="700"/>
              </a:spcBef>
            </a:pPr>
            <a:r>
              <a:rPr sz="1500" b="0" i="0">
                <a:solidFill>
                  <a:srgbClr val="21295C"/>
                </a:solidFill>
                <a:latin typeface="Arial"/>
              </a:rPr>
              <a:t/>
            </a:r>
            <a:r>
              <a:rPr sz="1500" b="1" i="0">
                <a:solidFill>
                  <a:srgbClr val="21295C"/>
                </a:solidFill>
                <a:latin typeface="Arial"/>
              </a:rPr>
              <a:t>Критерии ВОЗ 1968 года действуют до сих пор — и ни один из десяти не про точность алгоритма.</a:t>
            </a:r>
          </a:p>
        </p:txBody>
      </p:sp>
      <p:sp>
        <p:nvSpPr>
          <p:cNvPr id="23" name="Rectangle 22"/>
          <p:cNvSpPr/>
          <p:nvPr/>
        </p:nvSpPr>
        <p:spPr>
          <a:xfrm>
            <a:off x="6091275" y="3285324"/>
            <a:ext cx="9144" cy="1277144"/>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Уилсон и Юнгнер, ВОЗ 1968</a:t>
            </a:r>
            <a:r>
              <a:rPr sz="1200" b="0" i="1">
                <a:solidFill>
                  <a:srgbClr val="1C7293"/>
                </a:solidFill>
                <a:latin typeface="Arial"/>
              </a:rPr>
              <a:t> · </a:t>
            </a:r>
            <a:r>
              <a:rPr sz="1200" b="0" i="1">
                <a:solidFill>
                  <a:srgbClr val="1C7293"/>
                </a:solidFill>
                <a:latin typeface="Arial"/>
              </a:rPr>
              <a:t>Райзер, 1978</a:t>
            </a:r>
            <a:r>
              <a:rPr sz="1200" b="0" i="1">
                <a:solidFill>
                  <a:srgbClr val="1C7293"/>
                </a:solidFill>
                <a:latin typeface="Arial"/>
              </a:rPr>
              <a:t> · </a:t>
            </a:r>
            <a:r>
              <a:rPr sz="1200" b="0" i="1">
                <a:solidFill>
                  <a:srgbClr val="1C7293"/>
                </a:solidFill>
                <a:latin typeface="Arial"/>
              </a:rPr>
              <a:t>Глазго, 1957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без модели: шведская программа зовёт по возрасту</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ОБСЛЕДОВАНИИ</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на 1000</a:t>
            </a:r>
          </a:p>
        </p:txBody>
      </p:sp>
      <p:sp>
        <p:nvSpPr>
          <p:cNvPr id="7" name="TextBox 6"/>
          <p:cNvSpPr txBox="1"/>
          <p:nvPr/>
        </p:nvSpPr>
        <p:spPr>
          <a:xfrm>
            <a:off x="640080"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двойное чтение</a:t>
            </a:r>
          </a:p>
        </p:txBody>
      </p:sp>
      <p:sp>
        <p:nvSpPr>
          <p:cNvPr id="8" name="Rounded Rectangle 7"/>
          <p:cNvSpPr/>
          <p:nvPr/>
        </p:nvSpPr>
        <p:spPr>
          <a:xfrm>
            <a:off x="3340531"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52 872 женщины</a:t>
            </a:r>
          </a:p>
        </p:txBody>
      </p:sp>
      <p:sp>
        <p:nvSpPr>
          <p:cNvPr id="12" name="Rounded Rectangle 11"/>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a:t>
            </a:r>
          </a:p>
        </p:txBody>
      </p:sp>
      <p:sp>
        <p:nvSpPr>
          <p:cNvPr id="16" name="Rounded Rectangle 15"/>
          <p:cNvSpPr/>
          <p:nvPr/>
        </p:nvSpPr>
        <p:spPr>
          <a:xfrm>
            <a:off x="9015755"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ПОЗДНЯЯ СТАДИЯ У НАЙДЕННЫХ</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по жребию</a:t>
            </a:r>
          </a:p>
        </p:txBody>
      </p:sp>
      <p:sp>
        <p:nvSpPr>
          <p:cNvPr id="20" name="Rounded Rectangle 19"/>
          <p:cNvSpPr/>
          <p:nvPr/>
        </p:nvSpPr>
        <p:spPr>
          <a:xfrm>
            <a:off x="374904" y="3401355"/>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Приглашение шлёт программа, снимок читают двое, расхождение разбирает третий. Модели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непозванный придёт сам, позже и стадией крупнее.</a:t>
            </a:r>
          </a:p>
        </p:txBody>
      </p:sp>
      <p:sp>
        <p:nvSpPr>
          <p:cNvPr id="22" name="TextBox 21"/>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год рождения, ни одного её собственного признака.</a:t>
            </a:r>
          </a:p>
        </p:txBody>
      </p:sp>
      <p:sp>
        <p:nvSpPr>
          <p:cNvPr id="23" name="Rectangle 22"/>
          <p:cNvSpPr/>
          <p:nvPr/>
        </p:nvSpPr>
        <p:spPr>
          <a:xfrm>
            <a:off x="6091275" y="3492795"/>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контрольное плечо</a:t>
            </a:r>
            <a:r>
              <a:rPr sz="1200" b="0" i="1">
                <a:solidFill>
                  <a:srgbClr val="1C7293"/>
                </a:solidFill>
                <a:latin typeface="Arial"/>
              </a:rPr>
              <a:t> · </a:t>
            </a:r>
            <a:r>
              <a:rPr sz="1200" b="0" i="1">
                <a:solidFill>
                  <a:srgbClr val="1C7293"/>
                </a:solidFill>
                <a:latin typeface="Arial"/>
              </a:rPr>
              <a:t>Мальмёское испытание</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 моделью: кому достаётся второе чтение</a:t>
            </a:r>
          </a:p>
        </p:txBody>
      </p:sp>
      <p:sp>
        <p:nvSpPr>
          <p:cNvPr id="4" name="Rounded Rectangle 3"/>
          <p:cNvSpPr/>
          <p:nvPr/>
        </p:nvSpPr>
        <p:spPr>
          <a:xfrm>
            <a:off x="502920"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С РАКОМ — НАШЛИ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a:t>
            </a:r>
          </a:p>
        </p:txBody>
      </p:sp>
      <p:sp>
        <p:nvSpPr>
          <p:cNvPr id="8" name="Rounded Rectangle 7"/>
          <p:cNvSpPr/>
          <p:nvPr/>
        </p:nvSpPr>
        <p:spPr>
          <a:xfrm>
            <a:off x="4286402"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ВТОРОЙ СНИМОК</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той же программы</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374904" y="2799689"/>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программа и то же приглашение. Изменилось одно.</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Женщин распределяли жребием. Одно плечо — двое читателей и третий на расхождении. Другое — радиолог читает первым и заключение выдаёт сам, а модель ставит снимку оценку риска от 1 до 10: при 1–9 второго чтения нет, при 10 остаётся двойное.</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Заключение выдаёт человек. Модель отбирает, кого прочтут дважды.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маммограмма, выход — оценка риска. Имени системы публикации не дают; режим занимают Transpara, Lunit INSIGHT MMG, iCAD ProFound. </a:t>
            </a:r>
            <a:r>
              <a:rPr sz="1500" b="0" i="1">
                <a:solidFill>
                  <a:srgbClr val="21295C"/>
                </a:solidFill>
                <a:latin typeface="Arial"/>
              </a:rPr>
              <a:t>Распознавание изображений.</a:t>
            </a:r>
          </a:p>
        </p:txBody>
      </p:sp>
      <p:sp>
        <p:nvSpPr>
          <p:cNvPr id="19" name="Rectangle 18"/>
          <p:cNvSpPr/>
          <p:nvPr/>
        </p:nvSpPr>
        <p:spPr>
          <a:xfrm>
            <a:off x="6091275" y="2891129"/>
            <a:ext cx="9144" cy="18712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арбитраж и доверие находке</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ЧТЕНИЙ УШЛО НА АРБИТРАЖ</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вдвое и впятеро больше</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центра, 50 000 женщин: 3,9→9,4 и 11,3→13,8</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АРБИТРАЖ ПО ВРЕМЕНИ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 пять чтений</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секунд против 2 минут 12; 441 276 случаев</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НАХОДКА ПОДТВЕРДИЛАСЬ: РАДИОЛОГ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 22 из ста</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54 991 женщина</a:t>
            </a:r>
          </a:p>
        </p:txBody>
      </p:sp>
      <p:sp>
        <p:nvSpPr>
          <p:cNvPr id="16" name="TextBox 15"/>
          <p:cNvSpPr txBox="1"/>
          <p:nvPr/>
        </p:nvSpPr>
        <p:spPr>
          <a:xfrm>
            <a:off x="502920" y="33219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читают</a:t>
            </a:r>
          </a:p>
        </p:txBody>
      </p:sp>
      <p:sp>
        <p:nvSpPr>
          <p:cNvPr id="19" name="Right Arrow 18"/>
          <p:cNvSpPr/>
          <p:nvPr/>
        </p:nvSpPr>
        <p:spPr>
          <a:xfrm>
            <a:off x="5039258" y="345444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на отзыве</a:t>
            </a:r>
          </a:p>
        </p:txBody>
      </p:sp>
      <p:sp>
        <p:nvSpPr>
          <p:cNvPr id="22" name="Right Arrow 21"/>
          <p:cNvSpPr/>
          <p:nvPr/>
        </p:nvSpPr>
        <p:spPr>
          <a:xfrm>
            <a:off x="8386876" y="345444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53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310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третий читатель</a:t>
            </a:r>
          </a:p>
        </p:txBody>
      </p:sp>
      <p:sp>
        <p:nvSpPr>
          <p:cNvPr id="25" name="TextBox 24"/>
          <p:cNvSpPr txBox="1"/>
          <p:nvPr/>
        </p:nvSpPr>
        <p:spPr>
          <a:xfrm>
            <a:off x="502920" y="394359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0702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2002536" y="395274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Радиолог и модель читают</a:t>
            </a:r>
          </a:p>
        </p:txBody>
      </p:sp>
      <p:sp>
        <p:nvSpPr>
          <p:cNvPr id="28" name="Right Arrow 27"/>
          <p:cNvSpPr/>
          <p:nvPr/>
        </p:nvSpPr>
        <p:spPr>
          <a:xfrm>
            <a:off x="5039258" y="407613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Расхождений больше</a:t>
            </a:r>
          </a:p>
        </p:txBody>
      </p:sp>
      <p:sp>
        <p:nvSpPr>
          <p:cNvPr id="31" name="Right Arrow 30"/>
          <p:cNvSpPr/>
          <p:nvPr/>
        </p:nvSpPr>
        <p:spPr>
          <a:xfrm>
            <a:off x="8386876" y="407613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702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5274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 дольше, чаще</a:t>
            </a:r>
          </a:p>
        </p:txBody>
      </p:sp>
      <p:sp>
        <p:nvSpPr>
          <p:cNvPr id="34" name="Rounded Rectangle 33"/>
          <p:cNvSpPr/>
          <p:nvPr/>
        </p:nvSpPr>
        <p:spPr>
          <a:xfrm>
            <a:off x="374904" y="4473854"/>
            <a:ext cx="11441887" cy="1762353"/>
          </a:xfrm>
          <a:prstGeom prst="roundRect">
            <a:avLst>
              <a:gd name="adj" fmla="val 1729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Британское испытание посчитало цену несогласия, пятого из шести искажений входа:</a:t>
            </a:r>
            <a:r>
              <a:rPr sz="1300" b="0" i="0">
                <a:solidFill>
                  <a:srgbClr val="21295C"/>
                </a:solidFill>
                <a:latin typeface="Arial"/>
              </a:rPr>
              <a:t> расхождений больше, и каждое разбирает третий читатель.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Доверие разведено наоборот.</a:t>
            </a:r>
            <a:r>
              <a:rPr sz="1300" b="0" i="0">
                <a:solidFill>
                  <a:srgbClr val="21295C"/>
                </a:solidFill>
                <a:latin typeface="Arial"/>
              </a:rPr>
              <a:t> Находку радиолога перепроверяют втрое чаще находки модели, хотя подтверждается она вшестеро реже.</a:t>
            </a:r>
          </a:p>
        </p:txBody>
      </p:sp>
      <p:sp>
        <p:nvSpPr>
          <p:cNvPr id="36" name="TextBox 35"/>
          <p:cNvSpPr txBox="1"/>
          <p:nvPr/>
        </p:nvSpPr>
        <p:spPr>
          <a:xfrm>
            <a:off x="6278727" y="4565294"/>
            <a:ext cx="5373471" cy="1670913"/>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Германия не заменила ни одного человеческого чтения;</a:t>
            </a:r>
            <a:r>
              <a:rPr sz="1300" b="0" i="0">
                <a:solidFill>
                  <a:srgbClr val="21295C"/>
                </a:solidFill>
                <a:latin typeface="Arial"/>
              </a:rPr>
              <a:t> 56,7 из ста — пересчёт, а не замер.</a:t>
            </a:r>
          </a:p>
          <a:p>
            <a:pPr algn="l">
              <a:lnSpc>
                <a:spcPct val="126000"/>
              </a:lnSpc>
              <a:spcBef>
                <a:spcPts val="700"/>
              </a:spcBef>
            </a:pPr>
            <a:r>
              <a:rPr sz="1300" b="0" i="0">
                <a:solidFill>
                  <a:srgbClr val="21295C"/>
                </a:solidFill>
                <a:latin typeface="Arial"/>
              </a:rPr>
              <a:t/>
            </a:r>
            <a:r>
              <a:rPr sz="1300" b="1" i="0">
                <a:solidFill>
                  <a:srgbClr val="21295C"/>
                </a:solidFill>
                <a:latin typeface="Arial"/>
              </a:rPr>
              <a:t>Обучение, обновление и дрейф источники не раскрывают.</a:t>
            </a:r>
          </a:p>
        </p:txBody>
      </p:sp>
      <p:sp>
        <p:nvSpPr>
          <p:cNvPr id="37" name="Rectangle 36"/>
          <p:cNvSpPr/>
          <p:nvPr/>
        </p:nvSpPr>
        <p:spPr>
          <a:xfrm>
            <a:off x="6091275" y="4565294"/>
            <a:ext cx="9144" cy="1633617"/>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Уоррен и соавт., Nature Cancer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чат-бот первой линии вместо звонка в практику</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ГОД</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49 тысяч; весь платёж за него — 7,6 млн</a:t>
            </a:r>
          </a:p>
        </p:txBody>
      </p:sp>
      <p:sp>
        <p:nvSpPr>
          <p:cNvPr id="8" name="TextBox 7"/>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9" name="Rounded Rectangle 8"/>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Жалоба</a:t>
            </a:r>
          </a:p>
        </p:txBody>
      </p:sp>
      <p:sp>
        <p:nvSpPr>
          <p:cNvPr id="11" name="Right Arrow 10"/>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Звонок в практику</a:t>
            </a:r>
          </a:p>
        </p:txBody>
      </p:sp>
      <p:sp>
        <p:nvSpPr>
          <p:cNvPr id="14" name="Right Arrow 13"/>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по сортировке</a:t>
            </a:r>
          </a:p>
        </p:txBody>
      </p:sp>
      <p:sp>
        <p:nvSpPr>
          <p:cNvPr id="17" name="TextBox 16"/>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8" name="Rounded Rectangle 17"/>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9" name="TextBox 18"/>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Жалоба в приложении</a:t>
            </a:r>
          </a:p>
        </p:txBody>
      </p:sp>
      <p:sp>
        <p:nvSpPr>
          <p:cNvPr id="20" name="Right Arrow 19"/>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Маршрут выдаёт модель</a:t>
            </a:r>
          </a:p>
        </p:txBody>
      </p:sp>
      <p:sp>
        <p:nvSpPr>
          <p:cNvPr id="23" name="Right Arrow 22"/>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Обращений 4,0 → 4,3</a:t>
            </a:r>
          </a:p>
        </p:txBody>
      </p:sp>
      <p:sp>
        <p:nvSpPr>
          <p:cNvPr id="26" name="TextBox 25"/>
          <p:cNvSpPr txBox="1"/>
          <p:nvPr/>
        </p:nvSpPr>
        <p:spPr>
          <a:xfrm>
            <a:off x="502920" y="381732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Платят практике 155 фунтов за человека в год, от числа обращений — нет</a:t>
            </a:r>
          </a:p>
        </p:txBody>
      </p:sp>
      <p:sp>
        <p:nvSpPr>
          <p:cNvPr id="27" name="Rounded Rectangle 26"/>
          <p:cNvSpPr/>
          <p:nvPr/>
        </p:nvSpPr>
        <p:spPr>
          <a:xfrm>
            <a:off x="374904" y="4120007"/>
            <a:ext cx="11441887" cy="2116200"/>
          </a:xfrm>
          <a:prstGeom prst="roundRect">
            <a:avLst>
              <a:gd name="adj" fmla="val 1440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Сервис первой линии в Англии: человек описывает жалобу, маршрут выдаёт модель. Второй классический порядок — телефонная линия сортировки, назван и не посчитан.</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пропустить того, кому нужно сейчас · занять приём · цена канала.</a:t>
            </a:r>
          </a:p>
        </p:txBody>
      </p:sp>
      <p:sp>
        <p:nvSpPr>
          <p:cNvPr id="29" name="TextBox 28"/>
          <p:cNvSpPr txBox="1"/>
          <p:nvPr/>
        </p:nvSpPr>
        <p:spPr>
          <a:xfrm>
            <a:off x="6278727" y="4211447"/>
            <a:ext cx="5373471" cy="20247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Экзамен: 81 у приложения против 72 у врачей.</a:t>
            </a:r>
            <a:r>
              <a:rPr sz="1500" b="0" i="0">
                <a:solidFill>
                  <a:srgbClr val="21295C"/>
                </a:solidFill>
                <a:latin typeface="Arial"/>
              </a:rPr>
              <a:t> Этим обосновали выход в открытый поток; качества сортировки не измерил никто.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круглосуточную сортировку · </a:t>
            </a:r>
            <a:r>
              <a:rPr sz="1500" b="1" i="0">
                <a:solidFill>
                  <a:srgbClr val="21295C"/>
                </a:solidFill>
                <a:latin typeface="Arial"/>
              </a:rPr>
              <a:t>потребовало</a:t>
            </a:r>
            <a:r>
              <a:rPr sz="1500" b="0" i="0">
                <a:solidFill>
                  <a:srgbClr val="21295C"/>
                </a:solidFill>
                <a:latin typeface="Arial"/>
              </a:rPr>
              <a:t> минус на каждом пациенте · </a:t>
            </a:r>
            <a:r>
              <a:rPr sz="1500" b="1" i="0">
                <a:solidFill>
                  <a:srgbClr val="21295C"/>
                </a:solidFill>
                <a:latin typeface="Arial"/>
              </a:rPr>
              <a:t>в сумме хуже</a:t>
            </a:r>
            <a:r>
              <a:rPr sz="1500" b="0" i="0">
                <a:solidFill>
                  <a:srgbClr val="21295C"/>
                </a:solidFill>
                <a:latin typeface="Arial"/>
              </a:rPr>
              <a:t>: банкротство 2023.</a:t>
            </a:r>
          </a:p>
        </p:txBody>
      </p:sp>
      <p:sp>
        <p:nvSpPr>
          <p:cNvPr id="30" name="Rectangle 29"/>
          <p:cNvSpPr/>
          <p:nvPr/>
        </p:nvSpPr>
        <p:spPr>
          <a:xfrm>
            <a:off x="6091275" y="4211447"/>
            <a:ext cx="9144" cy="1871266"/>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независимая оценка сервиса, 2019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устройство: кто что сказал про внутренности Babylon</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ВЫХОД РЕШЕНИЯ — ОДИН ИЗ</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вариантов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«вызвать скорую» до «справитесь сами»</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путь</a:t>
            </a:r>
          </a:p>
        </p:txBody>
      </p:sp>
      <p:sp>
        <p:nvSpPr>
          <p:cNvPr id="9" name="Rounded Rectangle 8"/>
          <p:cNvSpPr/>
          <p:nvPr/>
        </p:nvSpPr>
        <p:spPr>
          <a:xfrm>
            <a:off x="1920240"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11" name="Right Arrow 10"/>
          <p:cNvSpPr/>
          <p:nvPr/>
        </p:nvSpPr>
        <p:spPr>
          <a:xfrm>
            <a:off x="5039258" y="297159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5267858" y="2683657"/>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350154" y="2729377"/>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Граф считает — нейросеть быстрее</a:t>
            </a:r>
          </a:p>
        </p:txBody>
      </p:sp>
      <p:sp>
        <p:nvSpPr>
          <p:cNvPr id="14" name="Right Arrow 13"/>
          <p:cNvSpPr/>
          <p:nvPr/>
        </p:nvSpPr>
        <p:spPr>
          <a:xfrm>
            <a:off x="8386876" y="297159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8615476" y="2683657"/>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8697772" y="2729377"/>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Один из исходов на выходе</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Красный флаг</a:t>
            </a:r>
          </a:p>
        </p:txBody>
      </p:sp>
      <p:sp>
        <p:nvSpPr>
          <p:cNvPr id="18" name="Rounded Rectangle 17"/>
          <p:cNvSpPr/>
          <p:nvPr/>
        </p:nvSpPr>
        <p:spPr>
          <a:xfrm>
            <a:off x="1920240"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Симптомы на входе</a:t>
            </a:r>
          </a:p>
        </p:txBody>
      </p:sp>
      <p:sp>
        <p:nvSpPr>
          <p:cNvPr id="20" name="Right Arrow 19"/>
          <p:cNvSpPr/>
          <p:nvPr/>
        </p:nvSpPr>
        <p:spPr>
          <a:xfrm>
            <a:off x="5039258" y="3830944"/>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267858"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5350154"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Правило — минуя граф</a:t>
            </a:r>
          </a:p>
        </p:txBody>
      </p:sp>
      <p:sp>
        <p:nvSpPr>
          <p:cNvPr id="23" name="Right Arrow 22"/>
          <p:cNvSpPr/>
          <p:nvPr/>
        </p:nvSpPr>
        <p:spPr>
          <a:xfrm>
            <a:off x="8386876" y="383094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15476" y="354300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8697772" y="358872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Всегда: скорая</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Красный флаг обходит граф целиком</a:t>
            </a:r>
          </a:p>
        </p:txBody>
      </p:sp>
      <p:sp>
        <p:nvSpPr>
          <p:cNvPr id="27" name="Rounded Rectangle 26"/>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Говорили трое, и это не один источник.</a:t>
            </a:r>
            <a:r>
              <a:rPr sz="1350" b="0" i="0">
                <a:solidFill>
                  <a:srgbClr val="21295C"/>
                </a:solidFill>
                <a:latin typeface="Arial"/>
              </a:rPr>
              <a:t> </a:t>
            </a:r>
            <a:r>
              <a:rPr sz="1350" b="1" i="0">
                <a:solidFill>
                  <a:srgbClr val="21295C"/>
                </a:solidFill>
                <a:latin typeface="Arial"/>
              </a:rPr>
              <a:t>Хью Харви</a:t>
            </a:r>
            <a:r>
              <a:rPr sz="1350" b="0" i="0">
                <a:solidFill>
                  <a:srgbClr val="21295C"/>
                </a:solidFill>
                <a:latin typeface="Arial"/>
              </a:rPr>
              <a:t>, глава регуляторных вопросов компании в 2016–2017: внутри дерево «если — то» в таблице. </a:t>
            </a:r>
            <a:r>
              <a:rPr sz="1350" b="1" i="0">
                <a:solidFill>
                  <a:srgbClr val="21295C"/>
                </a:solidFill>
                <a:latin typeface="Arial"/>
              </a:rPr>
              <a:t>Дэвид Уоткинс</a:t>
            </a:r>
            <a:r>
              <a:rPr sz="1350" b="0" i="0">
                <a:solidFill>
                  <a:srgbClr val="21295C"/>
                </a:solidFill>
                <a:latin typeface="Arial"/>
              </a:rPr>
              <a:t>, врач со стороны: с 2017 года писал регулятору о пропусках. </a:t>
            </a:r>
            <a:r>
              <a:rPr sz="1350" b="1" i="0">
                <a:solidFill>
                  <a:srgbClr val="21295C"/>
                </a:solidFill>
                <a:latin typeface="Arial"/>
              </a:rPr>
              <a:t>Сама компания</a:t>
            </a:r>
            <a:r>
              <a:rPr sz="1350" b="0" i="0">
                <a:solidFill>
                  <a:srgbClr val="21295C"/>
                </a:solidFill>
                <a:latin typeface="Arial"/>
              </a:rPr>
              <a:t>, публикация 2016 года: граф вероятностей и правила для красных флагов поверх него — на схеме.</a:t>
            </a:r>
          </a:p>
          <a:p>
            <a:pPr algn="l">
              <a:lnSpc>
                <a:spcPct val="126000"/>
              </a:lnSpc>
              <a:spcBef>
                <a:spcPts val="700"/>
              </a:spcBef>
            </a:pPr>
            <a:r>
              <a:rPr sz="1350" b="0" i="0">
                <a:solidFill>
                  <a:srgbClr val="21295C"/>
                </a:solidFill>
                <a:latin typeface="Arial"/>
              </a:rPr>
              <a:t/>
            </a:r>
            <a:r>
              <a:rPr sz="1350" b="1" i="0">
                <a:solidFill>
                  <a:srgbClr val="21295C"/>
                </a:solidFill>
                <a:latin typeface="Arial"/>
              </a:rPr>
              <a:t>Слова изнутри · письма снаружи · собственная публикация. Независимой проверки нет ни одной.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Обученной модели, принимающей решение, здесь не было вовсе.</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Middleton и соавт., arXiv:1606.02041, 2016 — публикация самой компании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глазное дно снимают на приёме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1 — ДОШЛИ ДО ОБСЛЕДОВАНИЯ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против 83, жребием</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ШАГ 2 — ДОШЛИ ДО ОФТАЛЬМОЛОГА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16 человек из 25</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64 из ста; в контроле — те же 22</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2852774"/>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6836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7293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Rounded Rectangle 29"/>
          <p:cNvSpPr/>
          <p:nvPr/>
        </p:nvSpPr>
        <p:spPr>
          <a:xfrm>
            <a:off x="374904" y="387218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за случай.</a:t>
            </a:r>
            <a:r>
              <a:rPr sz="1500" b="0" i="0">
                <a:solidFill>
                  <a:srgbClr val="21295C"/>
                </a:solidFill>
                <a:latin typeface="Arial"/>
              </a:rPr>
              <a:t> Подростки 8–21 года с диабетом: раз в год их проверяют на осложнение — поражение глазного дна. Это проверка группы риска, не скрининг здоровых.</a:t>
            </a:r>
          </a:p>
        </p:txBody>
      </p:sp>
      <p:sp>
        <p:nvSpPr>
          <p:cNvPr id="32" name="TextBox 31"/>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порядка посчитаны в явке:</a:t>
            </a:r>
            <a:r>
              <a:rPr sz="1500" b="0" i="0">
                <a:solidFill>
                  <a:srgbClr val="21295C"/>
                </a:solidFill>
                <a:latin typeface="Arial"/>
              </a:rPr>
              <a:t> к офтальмологу раз в год — 22 из ста · не обследовать — ноль.</a:t>
            </a:r>
          </a:p>
        </p:txBody>
      </p:sp>
      <p:sp>
        <p:nvSpPr>
          <p:cNvPr id="33" name="Rectangle 32"/>
          <p:cNvSpPr/>
          <p:nvPr/>
        </p:nvSpPr>
        <p:spPr>
          <a:xfrm>
            <a:off x="6091275" y="3963627"/>
            <a:ext cx="9144" cy="1871266"/>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отказной поток и новый шаг</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0,9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910 из 101 710 визитов, 404 клиники, взрослые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прежде нормальное приходило к нему и он мог его проверить</a:t>
            </a:r>
          </a:p>
        </p:txBody>
      </p:sp>
      <p:sp>
        <p:nvSpPr>
          <p:cNvPr id="12" name="TextBox 11"/>
          <p:cNvSpPr txBox="1"/>
          <p:nvPr/>
        </p:nvSpPr>
        <p:spPr>
          <a:xfrm>
            <a:off x="502920" y="27202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3" name="Rounded Rectangle 12"/>
          <p:cNvSpPr/>
          <p:nvPr/>
        </p:nvSpPr>
        <p:spPr>
          <a:xfrm>
            <a:off x="1920240"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Офтальмолог читает</a:t>
            </a:r>
          </a:p>
        </p:txBody>
      </p:sp>
      <p:sp>
        <p:nvSpPr>
          <p:cNvPr id="15" name="Right Arrow 14"/>
          <p:cNvSpPr/>
          <p:nvPr/>
        </p:nvSpPr>
        <p:spPr>
          <a:xfrm>
            <a:off x="6713067" y="2852774"/>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6941667" y="268365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7023963" y="272937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Он же отвечает</a:t>
            </a:r>
          </a:p>
        </p:txBody>
      </p:sp>
      <p:sp>
        <p:nvSpPr>
          <p:cNvPr id="18" name="TextBox 17"/>
          <p:cNvSpPr txBox="1"/>
          <p:nvPr/>
        </p:nvSpPr>
        <p:spPr>
          <a:xfrm>
            <a:off x="502920" y="33419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19" name="Rounded Rectangle 18"/>
          <p:cNvSpPr/>
          <p:nvPr/>
        </p:nvSpPr>
        <p:spPr>
          <a:xfrm>
            <a:off x="1920240" y="3305354"/>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0" name="TextBox 19"/>
          <p:cNvSpPr txBox="1"/>
          <p:nvPr/>
        </p:nvSpPr>
        <p:spPr>
          <a:xfrm>
            <a:off x="2002536" y="3351074"/>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Устройство читает</a:t>
            </a:r>
          </a:p>
        </p:txBody>
      </p:sp>
      <p:sp>
        <p:nvSpPr>
          <p:cNvPr id="21" name="Right Arrow 20"/>
          <p:cNvSpPr/>
          <p:nvPr/>
        </p:nvSpPr>
        <p:spPr>
          <a:xfrm>
            <a:off x="5039258" y="3474471"/>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Ответственность на изделии</a:t>
            </a:r>
          </a:p>
        </p:txBody>
      </p:sp>
      <p:sp>
        <p:nvSpPr>
          <p:cNvPr id="24" name="Right Arrow 23"/>
          <p:cNvSpPr/>
          <p:nvPr/>
        </p:nvSpPr>
        <p:spPr>
          <a:xfrm>
            <a:off x="8386876" y="3474471"/>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3053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3510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Новый шаг: годный снимок</a:t>
            </a:r>
          </a:p>
        </p:txBody>
      </p:sp>
      <p:sp>
        <p:nvSpPr>
          <p:cNvPr id="27" name="Rounded Rectangle 26"/>
          <p:cNvSpPr/>
          <p:nvPr/>
        </p:nvSpPr>
        <p:spPr>
          <a:xfrm>
            <a:off x="374904" y="3872187"/>
            <a:ext cx="11441887" cy="2364020"/>
          </a:xfrm>
          <a:prstGeom prst="roundRect">
            <a:avLst>
              <a:gd name="adj" fmla="val 12893"/>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3963627"/>
            <a:ext cx="5373471" cy="227258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Исполнитель сменился по документу</a:t>
            </a:r>
            <a:r>
              <a:rPr sz="1500" b="0" i="0">
                <a:solidFill>
                  <a:srgbClr val="21295C"/>
                </a:solidFill>
                <a:latin typeface="Arial"/>
              </a:rPr>
              <a:t> — единственный такой случай в лекции: ответственность за пропуск переехала с врача на изделие.</a:t>
            </a:r>
          </a:p>
        </p:txBody>
      </p:sp>
      <p:sp>
        <p:nvSpPr>
          <p:cNvPr id="29" name="TextBox 28"/>
          <p:cNvSpPr txBox="1"/>
          <p:nvPr/>
        </p:nvSpPr>
        <p:spPr>
          <a:xfrm>
            <a:off x="6278727" y="3963627"/>
            <a:ext cx="5373471" cy="227258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Нового шага у офтальмолога не было:</a:t>
            </a:r>
            <a:r>
              <a:rPr sz="1500" b="0" i="0">
                <a:solidFill>
                  <a:srgbClr val="21295C"/>
                </a:solidFill>
                <a:latin typeface="Arial"/>
              </a:rPr>
              <a:t> условия съёмки он поправлял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 на взрослых.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30" name="Rectangle 29"/>
          <p:cNvSpPr/>
          <p:nvPr/>
        </p:nvSpPr>
        <p:spPr>
          <a:xfrm>
            <a:off x="6091275" y="3963627"/>
            <a:ext cx="9144" cy="2257227"/>
          </a:xfrm>
          <a:prstGeom prst="rect">
            <a:avLst/>
          </a:prstGeom>
          <a:solidFill>
            <a:srgbClr val="D9E2EC"/>
          </a:solidFill>
          <a:ln>
            <a:noFill/>
          </a:ln>
          <a:effectLst/>
        </p:spPr>
        <p:txBody>
          <a:bodyPr rtlCol="0" anchor="ctr"/>
          <a:lstStyle/>
          <a:p>
            <a:pPr algn="ct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3, устройство: обучение, обновление и другая популяция</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НЕПРИГОДНЫХ СНИМКОВ В СТАЦИОНАРЕ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875 пациентов, тот же прибор, другая популяция</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НАХОДИТ: ТЯЖЁЛАЯ → УМЕРЕННАЯ ФОРМА</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 → 61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допуске тот же прибор дал 87 и 91</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 СНИМКОВ: ДЕНЬ 1 → ДЕНЬ 4</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47 → 0 из ста</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оператор</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 допуска</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≈25 000 обследований</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Обучение модели</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Допуск регулятора, 2018</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допуска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Другая популяция</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Находит хуже, бракует чаще</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Обновление протокола</a:t>
            </a:r>
          </a:p>
        </p:txBody>
      </p:sp>
      <p:sp>
        <p:nvSpPr>
          <p:cNvPr id="34" name="Rounded Rectangle 33"/>
          <p:cNvSpPr/>
          <p:nvPr/>
        </p:nvSpPr>
        <p:spPr>
          <a:xfrm>
            <a:off x="374904" y="4083431"/>
            <a:ext cx="11441887" cy="1759625"/>
          </a:xfrm>
          <a:prstGeom prst="roundRect">
            <a:avLst>
              <a:gd name="adj" fmla="val 17321"/>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два снимка глазного дна; выход — один из трёх исходов: направить к офтальмологу · норма с повтором через год · снимок негоден. Первым в 2018-м допущен IDx-DR (ныне LumineticsCore). </a:t>
            </a:r>
            <a:r>
              <a:rPr sz="1500" b="0" i="1">
                <a:solidFill>
                  <a:srgbClr val="21295C"/>
                </a:solidFill>
                <a:latin typeface="Arial"/>
              </a:rPr>
              <a:t>Классификация на изображении.</a:t>
            </a:r>
          </a:p>
        </p:txBody>
      </p:sp>
      <p:sp>
        <p:nvSpPr>
          <p:cNvPr id="36" name="TextBox 35"/>
          <p:cNvSpPr txBox="1"/>
          <p:nvPr/>
        </p:nvSpPr>
        <p:spPr>
          <a:xfrm>
            <a:off x="6278727" y="4174871"/>
            <a:ext cx="5373471" cy="206133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Допуск устройство не замораживает:</a:t>
            </a:r>
            <a:r>
              <a:rPr sz="1500" b="0" i="0">
                <a:solidFill>
                  <a:srgbClr val="21295C"/>
                </a:solidFill>
                <a:latin typeface="Arial"/>
              </a:rPr>
              <a:t> классификатор качества обновляли заявкой.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два разных эффекта:</a:t>
            </a:r>
            <a:r>
              <a:rPr sz="1500" b="0" i="0">
                <a:solidFill>
                  <a:srgbClr val="21295C"/>
                </a:solidFill>
                <a:latin typeface="Arial"/>
              </a:rPr>
              <a:t> тяжесть болезни против навыка держать камеру.</a:t>
            </a:r>
          </a:p>
        </p:txBody>
      </p:sp>
      <p:sp>
        <p:nvSpPr>
          <p:cNvPr id="37" name="Rectangle 36"/>
          <p:cNvSpPr/>
          <p:nvPr/>
        </p:nvSpPr>
        <p:spPr>
          <a:xfrm>
            <a:off x="6091275" y="4174871"/>
            <a:ext cx="9144" cy="1485305"/>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Германское исследование IDx-DR, 2026</a:t>
            </a:r>
            <a:r>
              <a:rPr sz="1200" b="0" i="1">
                <a:solidFill>
                  <a:srgbClr val="1C7293"/>
                </a:solidFill>
                <a:latin typeface="Arial"/>
              </a:rPr>
              <a:t> · </a:t>
            </a:r>
            <a:r>
              <a:rPr sz="1200" b="0" i="1">
                <a:solidFill>
                  <a:srgbClr val="1C7293"/>
                </a:solidFill>
                <a:latin typeface="Arial"/>
              </a:rPr>
              <a:t>заявка K213037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4: Москва, Россия — модель на месте второго читателя маммограмм</a:t>
            </a:r>
          </a:p>
        </p:txBody>
      </p:sp>
      <p:sp>
        <p:nvSpPr>
          <p:cNvPr id="4" name="Rounded Rectangle 3"/>
          <p:cNvSpPr/>
          <p:nvPr/>
        </p:nvSpPr>
        <p:spPr>
          <a:xfrm>
            <a:off x="502920"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ПРОВЕРКИ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593 261 исследование</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112 организаций Москвы, 10 производителей аппаратов, 2021–2022</a:t>
            </a:r>
          </a:p>
        </p:txBody>
      </p:sp>
      <p:sp>
        <p:nvSpPr>
          <p:cNvPr id="8" name="Rounded Rectangle 7"/>
          <p:cNvSpPr/>
          <p:nvPr/>
        </p:nvSpPr>
        <p:spPr>
          <a:xfrm>
            <a:off x="4286402" y="1335024"/>
            <a:ext cx="3618890" cy="1610874"/>
          </a:xfrm>
          <a:prstGeom prst="roundRect">
            <a:avLst>
              <a:gd name="adj" fmla="val 1892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ВХОД → ВЫХОД</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0,62 → 0,85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38 признаков рака из ста, не найденных</a:t>
            </a:r>
          </a:p>
        </p:txBody>
      </p:sp>
      <p:sp>
        <p:nvSpPr>
          <p:cNvPr id="12" name="Rounded Rectangle 11"/>
          <p:cNvSpPr/>
          <p:nvPr/>
        </p:nvSpPr>
        <p:spPr>
          <a:xfrm>
            <a:off x="8069884" y="1335024"/>
            <a:ext cx="3618890" cy="1610874"/>
          </a:xfrm>
          <a:prstGeom prst="roundRect">
            <a:avLst>
              <a:gd name="adj" fmla="val 1892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РЕГИСТРАЦИЯ СТОЯЛА РАНЬШЕ ПРОВЕРКИ</a:t>
            </a:r>
          </a:p>
        </p:txBody>
      </p:sp>
      <p:sp>
        <p:nvSpPr>
          <p:cNvPr id="14" name="TextBox 13"/>
          <p:cNvSpPr txBox="1"/>
          <p:nvPr/>
        </p:nvSpPr>
        <p:spPr>
          <a:xfrm>
            <a:off x="8207044" y="1932846"/>
            <a:ext cx="3344570" cy="664648"/>
          </a:xfrm>
          <a:prstGeom prst="rect">
            <a:avLst/>
          </a:prstGeom>
          <a:noFill/>
        </p:spPr>
        <p:txBody>
          <a:bodyPr wrap="square" lIns="0" rIns="0" tIns="0" bIns="0" anchor="t">
            <a:spAutoFit/>
          </a:bodyPr>
          <a:lstStyle/>
          <a:p>
            <a:pPr algn="l">
              <a:lnSpc>
                <a:spcPct val="108000"/>
              </a:lnSpc>
            </a:pPr>
            <a:r>
              <a:rPr sz="1850" b="1" i="0">
                <a:solidFill>
                  <a:srgbClr val="1C7293"/>
                </a:solidFill>
                <a:latin typeface="Arial"/>
              </a:rPr>
              <a:t>2021 — удостоверение Росздравнадзора и знак CE</a:t>
            </a:r>
          </a:p>
        </p:txBody>
      </p:sp>
      <p:sp>
        <p:nvSpPr>
          <p:cNvPr id="15" name="TextBox 14"/>
          <p:cNvSpPr txBox="1"/>
          <p:nvPr/>
        </p:nvSpPr>
        <p:spPr>
          <a:xfrm>
            <a:off x="8207044" y="259749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версию с чувствительностью 0,62</a:t>
            </a:r>
          </a:p>
        </p:txBody>
      </p:sp>
      <p:sp>
        <p:nvSpPr>
          <p:cNvPr id="16" name="TextBox 15"/>
          <p:cNvSpPr txBox="1"/>
          <p:nvPr/>
        </p:nvSpPr>
        <p:spPr>
          <a:xfrm>
            <a:off x="502920" y="3165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4202353" y="329789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врач</a:t>
            </a:r>
          </a:p>
        </p:txBody>
      </p:sp>
      <p:sp>
        <p:nvSpPr>
          <p:cNvPr id="22" name="Right Arrow 21"/>
          <p:cNvSpPr/>
          <p:nvPr/>
        </p:nvSpPr>
        <p:spPr>
          <a:xfrm>
            <a:off x="6713067" y="329789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второй врач</a:t>
            </a:r>
          </a:p>
        </p:txBody>
      </p:sp>
      <p:sp>
        <p:nvSpPr>
          <p:cNvPr id="25" name="Right Arrow 24"/>
          <p:cNvSpPr/>
          <p:nvPr/>
        </p:nvSpPr>
        <p:spPr>
          <a:xfrm>
            <a:off x="9223781" y="329789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128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74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на расхождении</a:t>
            </a:r>
          </a:p>
        </p:txBody>
      </p:sp>
      <p:sp>
        <p:nvSpPr>
          <p:cNvPr id="28" name="TextBox 27"/>
          <p:cNvSpPr txBox="1"/>
          <p:nvPr/>
        </p:nvSpPr>
        <p:spPr>
          <a:xfrm>
            <a:off x="502920" y="37870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31" name="Right Arrow 30"/>
          <p:cNvSpPr/>
          <p:nvPr/>
        </p:nvSpPr>
        <p:spPr>
          <a:xfrm>
            <a:off x="4202353" y="391959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7504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961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первой</a:t>
            </a:r>
          </a:p>
        </p:txBody>
      </p:sp>
      <p:sp>
        <p:nvSpPr>
          <p:cNvPr id="34" name="Right Arrow 33"/>
          <p:cNvSpPr/>
          <p:nvPr/>
        </p:nvSpPr>
        <p:spPr>
          <a:xfrm>
            <a:off x="6713067" y="391959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вторым</a:t>
            </a:r>
          </a:p>
        </p:txBody>
      </p:sp>
      <p:sp>
        <p:nvSpPr>
          <p:cNvPr id="37" name="Right Arrow 36"/>
          <p:cNvSpPr/>
          <p:nvPr/>
        </p:nvSpPr>
        <p:spPr>
          <a:xfrm>
            <a:off x="9223781" y="391959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7504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961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врача</a:t>
            </a:r>
          </a:p>
        </p:txBody>
      </p:sp>
      <p:sp>
        <p:nvSpPr>
          <p:cNvPr id="40" name="TextBox 39"/>
          <p:cNvSpPr txBox="1"/>
          <p:nvPr/>
        </p:nvSpPr>
        <p:spPr>
          <a:xfrm>
            <a:off x="502920" y="42624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встала на место второго читателя, не рядом с первым</a:t>
            </a:r>
          </a:p>
        </p:txBody>
      </p:sp>
      <p:sp>
        <p:nvSpPr>
          <p:cNvPr id="41" name="Rounded Rectangle 40"/>
          <p:cNvSpPr/>
          <p:nvPr/>
        </p:nvSpPr>
        <p:spPr>
          <a:xfrm>
            <a:off x="374904" y="4565127"/>
            <a:ext cx="11441887" cy="1671080"/>
          </a:xfrm>
          <a:prstGeom prst="roundRect">
            <a:avLst>
              <a:gd name="adj" fmla="val 18239"/>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56567"/>
            <a:ext cx="11112703" cy="157964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маммографический скрининг. Модель читает снимок первой, врач — вторым. </a:t>
            </a:r>
            <a:r>
              <a:rPr sz="1400" b="0" i="1">
                <a:solidFill>
                  <a:srgbClr val="21295C"/>
                </a:solidFill>
                <a:latin typeface="Arial"/>
              </a:rPr>
              <a:t>Изделие — «Цельс Маммография».</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маммограмма в четырёх проекциях, выход — число от 0 до 1 на каждую грудь. Faster R-CNN с остовом ResNet-50, обучена на 3 641 снимке. </a:t>
            </a:r>
            <a:r>
              <a:rPr sz="1400" b="0" i="1">
                <a:solidFill>
                  <a:srgbClr val="21295C"/>
                </a:solidFill>
                <a:latin typeface="Arial"/>
              </a:rPr>
              <a:t>Распознавание изображений.</a:t>
            </a:r>
          </a:p>
          <a:p>
            <a:pPr algn="l">
              <a:lnSpc>
                <a:spcPct val="126000"/>
              </a:lnSpc>
              <a:spcBef>
                <a:spcPts val="700"/>
              </a:spcBef>
            </a:pPr>
            <a:r>
              <a:rPr sz="1400" b="0" i="0">
                <a:solidFill>
                  <a:srgbClr val="21295C"/>
                </a:solidFill>
                <a:latin typeface="Arial"/>
              </a:rPr>
              <a:t/>
            </a:r>
            <a:r>
              <a:rPr sz="1400" b="1" i="0">
                <a:solidFill>
                  <a:srgbClr val="21295C"/>
                </a:solidFill>
                <a:latin typeface="Arial"/>
              </a:rPr>
              <a:t>Выигрыша по исходам нет:</a:t>
            </a:r>
            <a:r>
              <a:rPr sz="1400" b="0" i="0">
                <a:solidFill>
                  <a:srgbClr val="21295C"/>
                </a:solidFill>
                <a:latin typeface="Arial"/>
              </a:rPr>
              <a:t> выявляемость, вызовы и интервальные раки не собирали — так говорят сами авторы.</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4, допуск: два года девять месяцев до оплаты по страховке</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ТЕХНИЧЕСКИЕ ОТКАЗЫ</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1 из ста</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большая часть — не модель: настройка аппарата, параметры техника, сбои архива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МЕРИЛИ ТОЧНОСТЬ</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100 исследований, не 593 261</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эталон — заключение того же врача, которого модель замещает: выше него она измерена быть не может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НЕ СОГЛАСИЛСЯ С МОДЕЛЬЮ</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1 745 раз из 8 406</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33 радиолога; это «Несогласие» — пятый механизм кадра входа</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Проверка</a:t>
            </a:r>
          </a:p>
        </p:txBody>
      </p:sp>
      <p:sp>
        <p:nvSpPr>
          <p:cNvPr id="17" name="Rounded Rectangle 16"/>
          <p:cNvSpPr/>
          <p:nvPr/>
        </p:nvSpPr>
        <p:spPr>
          <a:xfrm>
            <a:off x="1920240"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выходу</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калибровка на 100</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и отказы</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обзор врачом-экспертом</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Ответ</a:t>
            </a:r>
          </a:p>
        </p:txBody>
      </p:sp>
      <p:sp>
        <p:nvSpPr>
          <p:cNvPr id="29" name="Rounded Rectangle 28"/>
          <p:cNvSpPr/>
          <p:nvPr/>
        </p:nvSpPr>
        <p:spPr>
          <a:xfrm>
            <a:off x="1920240"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отчёт разработчику</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новая версия модели</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повторная калибровка</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оплата по страховке</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Круг пересмотра: отчёт уходит разработчику каждый месяц</a:t>
            </a:r>
          </a:p>
        </p:txBody>
      </p:sp>
      <p:sp>
        <p:nvSpPr>
          <p:cNvPr id="41" name="Rounded Rectangle 40"/>
          <p:cNvSpPr/>
          <p:nvPr/>
        </p:nvSpPr>
        <p:spPr>
          <a:xfrm>
            <a:off x="374904" y="5408215"/>
            <a:ext cx="11441887" cy="79890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Две первые придирки — не про точность:</a:t>
            </a:r>
            <a:r>
              <a:rPr sz="1100" b="0" i="0">
                <a:solidFill>
                  <a:srgbClr val="21295C"/>
                </a:solidFill>
                <a:latin typeface="Arial"/>
              </a:rPr>
              <a:t> находку подсвечивали цветом, а маммографические мониторы монохромные.</a:t>
            </a:r>
          </a:p>
          <a:p>
            <a:pPr algn="l">
              <a:lnSpc>
                <a:spcPct val="126000"/>
              </a:lnSpc>
              <a:spcBef>
                <a:spcPts val="700"/>
              </a:spcBef>
            </a:pPr>
            <a:r>
              <a:rPr sz="1100" b="0" i="0">
                <a:solidFill>
                  <a:srgbClr val="21295C"/>
                </a:solidFill>
                <a:latin typeface="Arial"/>
              </a:rPr>
              <a:t/>
            </a:r>
            <a:r>
              <a:rPr sz="1100" b="1" i="0">
                <a:solidFill>
                  <a:srgbClr val="21295C"/>
                </a:solidFill>
                <a:latin typeface="Arial"/>
              </a:rPr>
              <a:t>Площадь под кривой 0,73 → 0,81 → 0,94.</a:t>
            </a:r>
            <a:r>
              <a:rPr sz="1100" b="0" i="0">
                <a:solidFill>
                  <a:srgbClr val="21295C"/>
                </a:solidFill>
                <a:latin typeface="Arial"/>
              </a:rPr>
              <a:t> </a:t>
            </a:r>
            <a:r>
              <a:rPr sz="1100" b="0" i="1">
                <a:solidFill>
                  <a:srgbClr val="21295C"/>
                </a:solidFill>
                <a:latin typeface="Arial"/>
              </a:rPr>
              <a:t>Шкала: 0,5 — монетка, 1,0 — без промаха. Порог 0,81 — нижняя граница доверительного интервала самого радиолога.</a:t>
            </a:r>
          </a:p>
        </p:txBody>
      </p:sp>
      <p:sp>
        <p:nvSpPr>
          <p:cNvPr id="43" name="Rectangle 42"/>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Румянцев, Владзимирский и соавт., Diagnostics 2025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и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Отсеянное фильтром не проверяет ни одна процедура. В скрининге человек прочёл каждое исследование; где решала модель — её «норма» до него не дошла.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несогласие:</a:t>
            </a:r>
            <a:r>
              <a:rPr sz="1500" b="0" i="0">
                <a:solidFill>
                  <a:srgbClr val="21295C"/>
                </a:solidFill>
                <a:latin typeface="Arial"/>
              </a:rPr>
              <a:t> арбитраж вырос вдвое и впятеро, и один разбор по времени равен пяти чтениям.</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Инструментальная и лабораторная диагностика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и превращают его состояние в величину, которую прочтут в другом месте и в другое время.</a:t>
            </a:r>
          </a:p>
        </p:txBody>
      </p:sp>
      <p:sp>
        <p:nvSpPr>
          <p:cNvPr id="9" name="TextBox 8"/>
          <p:cNvSpPr txBox="1"/>
          <p:nvPr/>
        </p:nvSpPr>
        <p:spPr>
          <a:xfrm>
            <a:off x="704088" y="3347654"/>
            <a:ext cx="6473952" cy="1849120"/>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Москва — профилактические снимки, которые не читает человек</a:t>
            </a:r>
            <a:r>
              <a:rPr sz="1550" b="0" i="0">
                <a:solidFill>
                  <a:srgbClr val="21295C"/>
                </a:solidFill>
                <a:latin typeface="Arial"/>
              </a:rPr>
              <a:t> · </a:t>
            </a:r>
            <a:r>
              <a:rPr sz="1550" b="1" i="0">
                <a:solidFill>
                  <a:srgbClr val="21295C"/>
                </a:solidFill>
                <a:latin typeface="Arial"/>
              </a:rPr>
              <a:t>Пример 2: Москва — кровоизлияние в череп, где автономию не дали</a:t>
            </a:r>
            <a:r>
              <a:rPr sz="1550" b="0" i="0">
                <a:solidFill>
                  <a:srgbClr val="21295C"/>
                </a:solidFill>
                <a:latin typeface="Arial"/>
              </a:rPr>
              <a:t> · </a:t>
            </a:r>
            <a:r>
              <a:rPr sz="1550" b="1" i="0">
                <a:solidFill>
                  <a:srgbClr val="21295C"/>
                </a:solidFill>
                <a:latin typeface="Arial"/>
              </a:rPr>
              <a:t>Пример 3: Таиланд — чтение глазного дна в кабинете первичного звена</a:t>
            </a:r>
            <a:r>
              <a:rPr sz="1550" b="0" i="0">
                <a:solidFill>
                  <a:srgbClr val="21295C"/>
                </a:solidFill>
                <a:latin typeface="Arial"/>
              </a:rPr>
              <a:t> · </a:t>
            </a:r>
            <a:r>
              <a:rPr sz="1550" b="1" i="0">
                <a:solidFill>
                  <a:srgbClr val="21295C"/>
                </a:solidFill>
                <a:latin typeface="Arial"/>
              </a:rPr>
              <a:t>Пример 4: кожа и состав набора</a:t>
            </a:r>
            <a:r>
              <a:rPr sz="1550" b="0" i="0">
                <a:solidFill>
                  <a:srgbClr val="21295C"/>
                </a:solidFill>
                <a:latin typeface="Arial"/>
              </a:rPr>
              <a:t> · </a:t>
            </a:r>
            <a:r>
              <a:rPr sz="1550" b="1" i="0">
                <a:solidFill>
                  <a:srgbClr val="21295C"/>
                </a:solidFill>
                <a:latin typeface="Arial"/>
              </a:rPr>
              <a:t>Пример 5: отбор в программу повышенного внимания — балл вместо решения врача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Четыре способа снять величину, и заменять один другим нельзя: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Инструментальное исследование</a:t>
            </a:r>
            <a:r>
              <a:rPr sz="1250" b="0" i="0">
                <a:solidFill>
                  <a:srgbClr val="21295C"/>
                </a:solidFill>
                <a:latin typeface="Arial"/>
              </a:rPr>
              <a:t> — прибор работает по самому человеку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Лабораторный анализ</a:t>
            </a:r>
            <a:r>
              <a:rPr sz="1250" b="0" i="0">
                <a:solidFill>
                  <a:srgbClr val="21295C"/>
                </a:solidFill>
                <a:latin typeface="Arial"/>
              </a:rPr>
              <a:t> — человека рядом уже нет, переснять по месту невозможно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Функциональная проба</a:t>
            </a:r>
            <a:r>
              <a:rPr sz="1250" b="0" i="0">
                <a:solidFill>
                  <a:srgbClr val="21295C"/>
                </a:solidFill>
                <a:latin typeface="Arial"/>
              </a:rPr>
              <a:t> — протокол нагрузки входит в условия измерения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Удалённое исследование</a:t>
            </a:r>
            <a:r>
              <a:rPr sz="1250" b="0" i="0">
                <a:solidFill>
                  <a:srgbClr val="21295C"/>
                </a:solidFill>
                <a:latin typeface="Arial"/>
              </a:rPr>
              <a:t> — читающий пациента не видел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заняла два действия из шести, и не самые трудные.</a:t>
            </a:r>
            <a:r>
              <a:rPr sz="1250" b="0" i="0">
                <a:solidFill>
                  <a:srgbClr val="21295C"/>
                </a:solidFill>
                <a:latin typeface="Arial"/>
              </a:rPr>
              <a:t> Порог под цену ошибки не назначает, переснять не умеет, годность входа оставляет человеку.</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Как считают точность: одну рабочую точку применили к двум группам по десять тысяч человек</a:t>
            </a:r>
          </a:p>
        </p:txBody>
      </p:sp>
      <p:sp>
        <p:nvSpPr>
          <p:cNvPr id="4" name="Rounded Rectangle 3"/>
          <p:cNvSpPr/>
          <p:nvPr/>
        </p:nvSpPr>
        <p:spPr>
          <a:xfrm>
            <a:off x="502920" y="1335024"/>
            <a:ext cx="5510631"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СТА БОЛЬНЫХ НАХОДИТ · НА СТА ЗДОРОВЫХ ПУГАЕТ НАПРАСНО</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11</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опубликованная настройка, применённая к обеим группам без изменений</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ТРЕВОГ ОКАЗАЛИСЬ БОЛЕЗНЬЮ: ПОТОК → ОТДЕЛЕНИЕ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 79</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94 из 1 183 против 2 820 из 3 590; две группы по 10 000 человек</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Поголовный поток</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1 из ста</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1 183</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8 из ста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Профильное отделение</a:t>
            </a:r>
          </a:p>
        </p:txBody>
      </p:sp>
      <p:sp>
        <p:nvSpPr>
          <p:cNvPr id="22" name="Rounded Rectangle 21"/>
          <p:cNvSpPr/>
          <p:nvPr/>
        </p:nvSpPr>
        <p:spPr>
          <a:xfrm>
            <a:off x="1920240"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больных 30 из ста</a:t>
            </a:r>
          </a:p>
        </p:txBody>
      </p:sp>
      <p:sp>
        <p:nvSpPr>
          <p:cNvPr id="24" name="Right Arrow 23"/>
          <p:cNvSpPr/>
          <p:nvPr/>
        </p:nvSpPr>
        <p:spPr>
          <a:xfrm>
            <a:off x="5039258"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 3 590</a:t>
            </a:r>
          </a:p>
        </p:txBody>
      </p:sp>
      <p:sp>
        <p:nvSpPr>
          <p:cNvPr id="27" name="Right Arrow 26"/>
          <p:cNvSpPr/>
          <p:nvPr/>
        </p:nvSpPr>
        <p:spPr>
          <a:xfrm>
            <a:off x="8386876"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72406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76978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верных 79 из ста</a:t>
            </a:r>
          </a:p>
        </p:txBody>
      </p:sp>
      <p:sp>
        <p:nvSpPr>
          <p:cNvPr id="30" name="TextBox 29"/>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Система одна, рабочая точка одна; различается доля больных в группе</a:t>
            </a:r>
          </a:p>
        </p:txBody>
      </p:sp>
      <p:sp>
        <p:nvSpPr>
          <p:cNvPr id="31" name="Rounded Rectangle 30"/>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Свойства величины считают на группе.</a:t>
            </a:r>
            <a:r>
              <a:rPr sz="1300" b="0" i="0">
                <a:solidFill>
                  <a:srgbClr val="21295C"/>
                </a:solidFill>
                <a:latin typeface="Arial"/>
              </a:rPr>
              <a:t> Одну рабочую точку применили к двум группам по десять тысяч человек, отличающимся только долей больных.</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Разница почти десятикратная, а внутри системы не изменилась ни одна строка.</a:t>
            </a:r>
            <a:r>
              <a:rPr sz="1300" b="0" i="0">
                <a:solidFill>
                  <a:srgbClr val="21295C"/>
                </a:solidFill>
                <a:latin typeface="Arial"/>
              </a:rPr>
              <a:t> У этой доли есть имя — </a:t>
            </a:r>
            <a:r>
              <a:rPr sz="1300" b="1" i="0">
                <a:solidFill>
                  <a:srgbClr val="21295C"/>
                </a:solidFill>
                <a:latin typeface="Arial"/>
              </a:rPr>
              <a:t>прогностическая ценность положительного результата</a:t>
            </a:r>
            <a:r>
              <a:rPr sz="1300" b="0" i="0">
                <a:solidFill>
                  <a:srgbClr val="21295C"/>
                </a:solidFill>
                <a:latin typeface="Arial"/>
              </a:rPr>
              <a:t>: какая часть тревог оказалась болезнью. Врач на приёме видит именно её, а не чувствительность.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Женщина с письмом стоит в поголовном потоке: у неё 8 из ста.</a:t>
            </a:r>
          </a:p>
        </p:txBody>
      </p:sp>
      <p:sp>
        <p:nvSpPr>
          <p:cNvPr id="33" name="Rectangle 32"/>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Rajpurkar и соавт., CheXNet 2017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режим стадии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измерение читает модель</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ПРИБОР ПОКАЗАЛ НОРМУ, А АНАЛИЗ КРОВИ — КИСЛОРОДНОЕ ГОЛОДАНИЕ: ТЁМНАЯ КОЖА → СВЕТЛАЯ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12 → 4 раза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88 случаев из 749 измерений против 99 из 2 778; одна названная группа пациентов</a:t>
            </a:r>
          </a:p>
        </p:txBody>
      </p:sp>
      <p:sp>
        <p:nvSpPr>
          <p:cNvPr id="8" name="Rounded Rectangle 7"/>
          <p:cNvSpPr/>
          <p:nvPr/>
        </p:nvSpPr>
        <p:spPr>
          <a:xfrm>
            <a:off x="502920" y="2683657"/>
            <a:ext cx="5437479" cy="2193554"/>
          </a:xfrm>
          <a:prstGeom prst="roundRect">
            <a:avLst>
              <a:gd name="adj" fmla="val 1389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a:t>
            </a:r>
          </a:p>
        </p:txBody>
      </p:sp>
      <p:sp>
        <p:nvSpPr>
          <p:cNvPr id="10" name="TextBox 9"/>
          <p:cNvSpPr txBox="1"/>
          <p:nvPr/>
        </p:nvSpPr>
        <p:spPr>
          <a:xfrm>
            <a:off x="667512" y="3195284"/>
            <a:ext cx="5108295" cy="15264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десятитысячный снимок читается как первый, усталости нет</a:t>
            </a:r>
          </a:p>
          <a:p>
            <a:pPr algn="l">
              <a:lnSpc>
                <a:spcPct val="126000"/>
              </a:lnSpc>
            </a:pPr>
            <a:r>
              <a:rPr sz="1450" b="0" i="0">
                <a:solidFill>
                  <a:srgbClr val="21295C"/>
                </a:solidFill>
                <a:latin typeface="Arial"/>
              </a:rPr>
              <a:t>• поток: чтение «нормы» перестаёт занимать специалиста</a:t>
            </a:r>
          </a:p>
          <a:p>
            <a:pPr algn="l">
              <a:lnSpc>
                <a:spcPct val="126000"/>
              </a:lnSpc>
            </a:pPr>
            <a:r>
              <a:rPr sz="1450" b="0" i="0">
                <a:solidFill>
                  <a:srgbClr val="21295C"/>
                </a:solidFill>
                <a:latin typeface="Arial"/>
              </a:rPr>
              <a:t>• воспроизводимость: один вход — один выход, и расхождение можно разобрать</a:t>
            </a:r>
          </a:p>
        </p:txBody>
      </p:sp>
      <p:sp>
        <p:nvSpPr>
          <p:cNvPr id="11" name="Rounded Rectangle 10"/>
          <p:cNvSpPr/>
          <p:nvPr/>
        </p:nvSpPr>
        <p:spPr>
          <a:xfrm>
            <a:off x="6251295" y="2683657"/>
            <a:ext cx="5437479" cy="2193554"/>
          </a:xfrm>
          <a:prstGeom prst="roundRect">
            <a:avLst>
              <a:gd name="adj" fmla="val 13895"/>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a:t>
            </a:r>
          </a:p>
        </p:txBody>
      </p:sp>
      <p:sp>
        <p:nvSpPr>
          <p:cNvPr id="13" name="TextBox 12"/>
          <p:cNvSpPr txBox="1"/>
          <p:nvPr/>
        </p:nvSpPr>
        <p:spPr>
          <a:xfrm>
            <a:off x="6415887" y="3195284"/>
            <a:ext cx="5108295" cy="1526479"/>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переснять система не умеет</a:t>
            </a:r>
          </a:p>
          <a:p>
            <a:pPr algn="l">
              <a:lnSpc>
                <a:spcPct val="126000"/>
              </a:lnSpc>
            </a:pPr>
            <a:r>
              <a:rPr sz="1450" b="0" i="0">
                <a:solidFill>
                  <a:srgbClr val="21295C"/>
                </a:solidFill>
                <a:latin typeface="Arial"/>
              </a:rPr>
              <a:t>• перенос: доли, посчитанные в одной больнице, не переезжают вместе с прибором</a:t>
            </a:r>
          </a:p>
          <a:p>
            <a:pPr algn="l">
              <a:lnSpc>
                <a:spcPct val="126000"/>
              </a:lnSpc>
            </a:pPr>
            <a:r>
              <a:rPr sz="1450" b="0" i="0">
                <a:solidFill>
                  <a:srgbClr val="21295C"/>
                </a:solidFill>
                <a:latin typeface="Arial"/>
              </a:rPr>
              <a:t>• чем измерен вход: смещение прибора модель наследует, не создавая его</a:t>
            </a:r>
          </a:p>
        </p:txBody>
      </p:sp>
      <p:sp>
        <p:nvSpPr>
          <p:cNvPr id="14" name="Rounded Rectangle 13"/>
          <p:cNvSpPr/>
          <p:nvPr/>
        </p:nvSpPr>
        <p:spPr>
          <a:xfrm>
            <a:off x="374904" y="4968652"/>
            <a:ext cx="11441887" cy="1267555"/>
          </a:xfrm>
          <a:prstGeom prst="roundRect">
            <a:avLst>
              <a:gd name="adj" fmla="val 24046"/>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60092"/>
            <a:ext cx="11112703" cy="117611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Обученной модели в этом приборе нет вовсе</a:t>
            </a:r>
            <a:r>
              <a:rPr sz="1350" b="0" i="0">
                <a:solidFill>
                  <a:srgbClr val="21295C"/>
                </a:solidFill>
                <a:latin typeface="Arial"/>
              </a:rPr>
              <a:t> — это оптическое измерение, смещённое до всякого обучения, и смещение одностороннее: показание выше, чем даёт анализ крови, то есть опасное снижение насыщения пропускается чаще. Регулятор выпустил предупреждение, затем проект требования испытывать приборы на разных тонах кожи.</a:t>
            </a:r>
          </a:p>
          <a:p>
            <a:pPr algn="l">
              <a:lnSpc>
                <a:spcPct val="126000"/>
              </a:lnSpc>
              <a:spcBef>
                <a:spcPts val="700"/>
              </a:spcBef>
            </a:pPr>
            <a:r>
              <a:rPr sz="1350" b="0" i="0">
                <a:solidFill>
                  <a:srgbClr val="21295C"/>
                </a:solidFill>
                <a:latin typeface="Arial"/>
              </a:rPr>
              <a:t/>
            </a:r>
            <a:r>
              <a:rPr sz="1350" b="1" i="0">
                <a:solidFill>
                  <a:srgbClr val="21295C"/>
                </a:solidFill>
                <a:latin typeface="Arial"/>
              </a:rPr>
              <a:t>Проверять надо не только модель, но и то, чем измерен её вход.</a:t>
            </a: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Sjoding и соавт., New England Journal of Medicine 2020</a:t>
            </a:r>
            <a:r>
              <a:rPr sz="1200" b="0" i="1">
                <a:solidFill>
                  <a:srgbClr val="1C7293"/>
                </a:solidFill>
                <a:latin typeface="Arial"/>
              </a:rPr>
              <a:t> · </a:t>
            </a:r>
            <a:r>
              <a:rPr sz="1200" b="0" i="1">
                <a:solidFill>
                  <a:srgbClr val="1C7293"/>
                </a:solidFill>
                <a:latin typeface="Arial"/>
              </a:rPr>
              <a:t>предупреждение регулятора США 19.02.2021, проект руководства 06.01.2025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потока читает модель: одно основание на три страны</a:t>
            </a:r>
          </a:p>
        </p:txBody>
      </p:sp>
      <p:sp>
        <p:nvSpPr>
          <p:cNvPr id="4" name="Rounded Rectangle 3"/>
          <p:cNvSpPr/>
          <p:nvPr/>
        </p:nvSpPr>
        <p:spPr>
          <a:xfrm>
            <a:off x="502920" y="1335024"/>
            <a:ext cx="11185855" cy="2621684"/>
          </a:xfrm>
          <a:prstGeom prst="roundRect">
            <a:avLst>
              <a:gd name="adj" fmla="val 11626"/>
            </a:avLst>
          </a:prstGeom>
          <a:solidFill>
            <a:srgbClr val="F4F7FA"/>
          </a:solidFill>
          <a:ln w="19050">
            <a:solidFill>
              <a:srgbClr val="1C7293"/>
            </a:solidFill>
          </a:ln>
          <a:effectLst/>
        </p:spPr>
        <p:txBody>
          <a:bodyPr rtlCol="0" anchor="ctr"/>
          <a:lstStyle/>
          <a:p>
            <a:pPr algn="ctr"/>
          </a:p>
        </p:txBody>
      </p:sp>
      <p:pic>
        <p:nvPicPr>
          <p:cNvPr id="5" name="Picture 4" descr="s27-dolya-potoka-cherez-model.png"/>
          <p:cNvPicPr>
            <a:picLocks noChangeAspect="1"/>
          </p:cNvPicPr>
          <p:nvPr/>
        </p:nvPicPr>
        <p:blipFill>
          <a:blip r:embed="rId2"/>
          <a:stretch>
            <a:fillRect/>
          </a:stretch>
        </p:blipFill>
        <p:spPr>
          <a:xfrm>
            <a:off x="1088135" y="1472184"/>
            <a:ext cx="10015423" cy="2347364"/>
          </a:xfrm>
          <a:prstGeom prst="rect">
            <a:avLst/>
          </a:prstGeom>
        </p:spPr>
      </p:pic>
      <p:sp>
        <p:nvSpPr>
          <p:cNvPr id="6" name="Rounded Rectangle 5"/>
          <p:cNvSpPr/>
          <p:nvPr/>
        </p:nvSpPr>
        <p:spPr>
          <a:xfrm>
            <a:off x="374904" y="4048148"/>
            <a:ext cx="11441887" cy="2188059"/>
          </a:xfrm>
          <a:prstGeom prst="roundRect">
            <a:avLst>
              <a:gd name="adj" fmla="val 13930"/>
            </a:avLst>
          </a:prstGeom>
          <a:solidFill>
            <a:srgbClr val="F4F7FA"/>
          </a:solidFill>
          <a:ln w="19050">
            <a:solidFill>
              <a:srgbClr val="1C7293"/>
            </a:solidFill>
          </a:ln>
          <a:effectLst/>
        </p:spPr>
        <p:txBody>
          <a:bodyPr rtlCol="0" anchor="ctr"/>
          <a:lstStyle/>
          <a:p>
            <a:pPr algn="ctr"/>
          </a:p>
        </p:txBody>
      </p:sp>
      <p:sp>
        <p:nvSpPr>
          <p:cNvPr id="7" name="TextBox 6"/>
          <p:cNvSpPr txBox="1"/>
          <p:nvPr/>
        </p:nvSpPr>
        <p:spPr>
          <a:xfrm>
            <a:off x="539496" y="4139588"/>
            <a:ext cx="11112703" cy="2096619"/>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Вопрос один: из ста снимков грудной клетки, которые в стране делают, сколько прочитала модель.</a:t>
            </a:r>
            <a:r>
              <a:rPr sz="1400" b="0" i="0">
                <a:solidFill>
                  <a:srgbClr val="21295C"/>
                </a:solidFill>
                <a:latin typeface="Arial"/>
              </a:rPr>
              <a:t> Любое другое сравнение стран здесь — склейка выборок.</a:t>
            </a:r>
          </a:p>
          <a:p>
            <a:pPr algn="l">
              <a:lnSpc>
                <a:spcPct val="118000"/>
              </a:lnSpc>
              <a:spcBef>
                <a:spcPts val="600"/>
              </a:spcBef>
            </a:pPr>
            <a:r>
              <a:rPr sz="1400" b="0" i="0">
                <a:solidFill>
                  <a:srgbClr val="21295C"/>
                </a:solidFill>
                <a:latin typeface="Arial"/>
              </a:rPr>
              <a:t/>
            </a:r>
            <a:r>
              <a:rPr sz="1400" b="1" i="0">
                <a:solidFill>
                  <a:srgbClr val="21295C"/>
                </a:solidFill>
                <a:latin typeface="Arial"/>
              </a:rPr>
              <a:t>У английской доли два официальных знаменателя.</a:t>
            </a:r>
            <a:r>
              <a:rPr sz="1400" b="0" i="0">
                <a:solidFill>
                  <a:srgbClr val="21295C"/>
                </a:solidFill>
                <a:latin typeface="Arial"/>
              </a:rPr>
              <a:t> Числитель 2,8 млн называет разработчик. Статистика службы здравоохранения даёт 8,19 млн рентгенограмм — выходит 34 из ста; государственное сообщение называет «свыше 7 миллионов» — те же 2,8 млн дают 40 из ста.</a:t>
            </a:r>
          </a:p>
          <a:p>
            <a:pPr algn="l">
              <a:lnSpc>
                <a:spcPct val="118000"/>
              </a:lnSpc>
              <a:spcBef>
                <a:spcPts val="600"/>
              </a:spcBef>
            </a:pPr>
            <a:r>
              <a:rPr sz="1400" b="0" i="0">
                <a:solidFill>
                  <a:srgbClr val="21295C"/>
                </a:solidFill>
                <a:latin typeface="Arial"/>
              </a:rPr>
              <a:t/>
            </a:r>
            <a:r>
              <a:rPr sz="1400" b="1" i="0">
                <a:solidFill>
                  <a:srgbClr val="21295C"/>
                </a:solidFill>
                <a:latin typeface="Arial"/>
              </a:rPr>
              <a:t>У США числа этого вида нет.</a:t>
            </a:r>
            <a:r>
              <a:rPr sz="1400" b="0" i="0">
                <a:solidFill>
                  <a:srgbClr val="21295C"/>
                </a:solidFill>
                <a:latin typeface="Arial"/>
              </a:rPr>
              <a:t> Публикуют долю изделий в реестре (76,5 из 1 430 за тридцать лет) и долю врачей, применяющих модель (34 по опросу). Второе похоже на английское до совпадения цифр и меряет другое.</a:t>
            </a: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Васильев и соавт., Digital Diagnostics 2025;6(1):5–22</a:t>
            </a:r>
            <a:r>
              <a:rPr sz="1200" b="0" i="1">
                <a:solidFill>
                  <a:srgbClr val="1C7293"/>
                </a:solidFill>
                <a:latin typeface="Arial"/>
              </a:rPr>
              <a:t> · </a:t>
            </a:r>
            <a:r>
              <a:rPr sz="1200" b="0" i="1" u="sng">
                <a:solidFill>
                  <a:srgbClr val="065A82"/>
                </a:solidFill>
                <a:latin typeface="Arial"/>
                <a:hlinkClick r:id="rId4"/>
              </a:rPr>
              <a:t>NHS England, Diagnostic Imaging Dataset Annual Statistical Release 2023/24, таблица 6</a:t>
            </a:r>
            <a:r>
              <a:rPr sz="1200" b="0" i="1">
                <a:solidFill>
                  <a:srgbClr val="1C7293"/>
                </a:solidFill>
                <a:latin typeface="Arial"/>
              </a:rPr>
              <a:t> · </a:t>
            </a:r>
            <a:r>
              <a:rPr sz="1200" b="0" i="1" u="sng">
                <a:solidFill>
                  <a:srgbClr val="065A82"/>
                </a:solidFill>
                <a:latin typeface="Arial"/>
                <a:hlinkClick r:id="rId5"/>
              </a:rPr>
              <a:t>сообщение правительства Великобритании 10.06.2026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Москва — профилактические снимки, которые не читает человек</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болезнь находят на год позже · лишнее уточняющее исследование</a:t>
            </a:r>
          </a:p>
        </p:txBody>
      </p:sp>
      <p:sp>
        <p:nvSpPr>
          <p:cNvPr id="7" name="TextBox 6"/>
          <p:cNvSpPr txBox="1"/>
          <p:nvPr/>
        </p:nvSpPr>
        <p:spPr>
          <a:xfrm>
            <a:off x="640080" y="270405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асимметрия предельная — из неё и выведена рабочая точка</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НАЗВАЛА НОРМОЙ — И ЭТИХ СНИМКОВ НЕ ЧИТАЕТ НИКТО</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55 из ста</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315 491 из 575 549 за пять месяцев 2024 года</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КЛИНИЧЕСКИ ЗНАЧИМЫХ ПРОПУСКОВ</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на 10 тысяч снимков</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290 из 575 549 — это 0,05 процента; у человека на том же виде снимка 3–4 процента, но на другом потоке</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19" name="Right Arrow 18"/>
          <p:cNvSpPr/>
          <p:nvPr/>
        </p:nvSpPr>
        <p:spPr>
          <a:xfrm>
            <a:off x="5039258"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рентгенолог читает каждый</a:t>
            </a:r>
          </a:p>
        </p:txBody>
      </p:sp>
      <p:sp>
        <p:nvSpPr>
          <p:cNvPr id="22" name="Right Arrow 21"/>
          <p:cNvSpPr/>
          <p:nvPr/>
        </p:nvSpPr>
        <p:spPr>
          <a:xfrm>
            <a:off x="8386876"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 в карту</a:t>
            </a:r>
          </a:p>
        </p:txBody>
      </p:sp>
      <p:sp>
        <p:nvSpPr>
          <p:cNvPr id="25" name="TextBox 24"/>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435591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0163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8" name="Right Arrow 27"/>
          <p:cNvSpPr/>
          <p:nvPr/>
        </p:nvSpPr>
        <p:spPr>
          <a:xfrm>
            <a:off x="5039258" y="464385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5591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0163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сортировка: норма или нет</a:t>
            </a:r>
          </a:p>
        </p:txBody>
      </p:sp>
      <p:sp>
        <p:nvSpPr>
          <p:cNvPr id="31" name="Right Arrow 30"/>
          <p:cNvSpPr/>
          <p:nvPr/>
        </p:nvSpPr>
        <p:spPr>
          <a:xfrm>
            <a:off x="8386876"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5591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0163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норма → в карту без врача · не норма → рентгенолог</a:t>
            </a:r>
          </a:p>
        </p:txBody>
      </p:sp>
      <p:sp>
        <p:nvSpPr>
          <p:cNvPr id="34" name="Rounded Rectangle 33"/>
          <p:cNvSpPr/>
          <p:nvPr/>
        </p:nvSpPr>
        <p:spPr>
          <a:xfrm>
            <a:off x="374904" y="5160395"/>
            <a:ext cx="11441887" cy="107581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51835"/>
            <a:ext cx="5373471" cy="984372"/>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Профилактические снимки грудной клетки, Москва, май — сентябрь 2024.</a:t>
            </a:r>
            <a:r>
              <a:rPr sz="1000" b="0" i="0">
                <a:solidFill>
                  <a:srgbClr val="21295C"/>
                </a:solidFill>
                <a:latin typeface="Arial"/>
              </a:rPr>
              <a:t> 575 549 флюорограмм и рентгенограмм, три сервиса.</a:t>
            </a:r>
          </a:p>
        </p:txBody>
      </p:sp>
      <p:sp>
        <p:nvSpPr>
          <p:cNvPr id="36" name="TextBox 35"/>
          <p:cNvSpPr txBox="1"/>
          <p:nvPr/>
        </p:nvSpPr>
        <p:spPr>
          <a:xfrm>
            <a:off x="6278727" y="5251835"/>
            <a:ext cx="5373471" cy="984372"/>
          </a:xfrm>
          <a:prstGeom prst="rect">
            <a:avLst/>
          </a:prstGeom>
          <a:noFill/>
        </p:spPr>
        <p:txBody>
          <a:bodyPr wrap="square" lIns="0" rIns="0" tIns="0" bIns="0" anchor="t">
            <a:spAutoFit/>
          </a:bodyPr>
          <a:lstStyle/>
          <a:p>
            <a:pPr algn="l">
              <a:lnSpc>
                <a:spcPct val="126000"/>
              </a:lnSpc>
            </a:pPr>
            <a:r>
              <a:rPr sz="1000" b="1" i="0">
                <a:solidFill>
                  <a:srgbClr val="21295C"/>
                </a:solidFill>
                <a:latin typeface="Arial"/>
              </a:rPr>
              <a:t>Устроено так.</a:t>
            </a:r>
            <a:r>
              <a:rPr sz="1000" b="0" i="0">
                <a:solidFill>
                  <a:srgbClr val="21295C"/>
                </a:solidFill>
                <a:latin typeface="Arial"/>
              </a:rPr>
              <a:t> Чувствительность выставили </a:t>
            </a:r>
            <a:r>
              <a:rPr sz="1000" b="1" i="0">
                <a:solidFill>
                  <a:srgbClr val="21295C"/>
                </a:solidFill>
                <a:latin typeface="Arial"/>
              </a:rPr>
              <a:t>1,0</a:t>
            </a:r>
            <a:r>
              <a:rPr sz="1000" b="0" i="0">
                <a:solidFill>
                  <a:srgbClr val="21295C"/>
                </a:solidFill>
                <a:latin typeface="Arial"/>
              </a:rPr>
              <a:t>, специфичность объявили </a:t>
            </a:r>
            <a:r>
              <a:rPr sz="1000" b="1" i="0">
                <a:solidFill>
                  <a:srgbClr val="21295C"/>
                </a:solidFill>
                <a:latin typeface="Arial"/>
              </a:rPr>
              <a:t>незначимой</a:t>
            </a:r>
            <a:r>
              <a:rPr sz="1000" b="0" i="0">
                <a:solidFill>
                  <a:srgbClr val="21295C"/>
                </a:solidFill>
                <a:latin typeface="Arial"/>
              </a:rPr>
              <a:t>: тревога поднимается на всём, что отчасти похоже на отклонение. В «не норму» уходит 45 снимков из ста — их читает рентгенолог. Остальные 55 </a:t>
            </a:r>
            <a:r>
              <a:rPr sz="1000" b="1" i="0">
                <a:solidFill>
                  <a:srgbClr val="21295C"/>
                </a:solidFill>
                <a:latin typeface="Arial"/>
              </a:rPr>
              <a:t>не читает никто</a:t>
            </a:r>
            <a:r>
              <a:rPr sz="1000" b="0" i="0">
                <a:solidFill>
                  <a:srgbClr val="21295C"/>
                </a:solidFill>
                <a:latin typeface="Arial"/>
              </a:rPr>
              <a:t>.</a:t>
            </a:r>
          </a:p>
          <a:p>
            <a:pPr algn="l">
              <a:lnSpc>
                <a:spcPct val="126000"/>
              </a:lnSpc>
              <a:spcBef>
                <a:spcPts val="700"/>
              </a:spcBef>
            </a:pPr>
            <a:r>
              <a:rPr sz="1000" b="0" i="0">
                <a:solidFill>
                  <a:srgbClr val="21295C"/>
                </a:solidFill>
                <a:latin typeface="Arial"/>
              </a:rPr>
              <a:t/>
            </a:r>
            <a:r>
              <a:rPr sz="1000" b="1" i="0">
                <a:solidFill>
                  <a:srgbClr val="21295C"/>
                </a:solidFill>
                <a:latin typeface="Arial"/>
              </a:rPr>
              <a:t>Что пропущено:</a:t>
            </a:r>
            <a:r>
              <a:rPr sz="1000" b="0" i="0">
                <a:solidFill>
                  <a:srgbClr val="21295C"/>
                </a:solidFill>
                <a:latin typeface="Arial"/>
              </a:rPr>
              <a:t> инфильтрат или затемнение — 266 из 290 случаев.</a:t>
            </a:r>
          </a:p>
        </p:txBody>
      </p:sp>
      <p:sp>
        <p:nvSpPr>
          <p:cNvPr id="37" name="Rectangle 36"/>
          <p:cNvSpPr/>
          <p:nvPr/>
        </p:nvSpPr>
        <p:spPr>
          <a:xfrm>
            <a:off x="6091275" y="5251835"/>
            <a:ext cx="9144" cy="881063"/>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цена: дешевле стало только потому, что половину не читает никто</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ОДНОГО СНИМКА ЧЕЛОВЕКОМ: БЫЛО → СТАЛО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132,98 → 155,62 руб.</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подорожало на каждом читаемом снимке; заключение модели — 6,9 руб.</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ПЯТЬ МЕСЯЦЕВ: БЕЗ МОДЕЛИ → С МОДЕЛЬЮ</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76,5 → 43,1 млн руб.</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−43,7 процента, экономия 33,4 млн руб. по тарифам ОМС</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ПОЛОВИНА ПОТОКА — ЛЮДИ 18–44 ЛЕТ, И ПРОПУСКОВ У НИХ БОЛЬШЕ</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против 7 на 10 тысяч</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155 898 из 315 491 «норм»</a:t>
            </a:r>
          </a:p>
        </p:txBody>
      </p:sp>
      <p:sp>
        <p:nvSpPr>
          <p:cNvPr id="16" name="TextBox 15"/>
          <p:cNvSpPr txBox="1"/>
          <p:nvPr/>
        </p:nvSpPr>
        <p:spPr>
          <a:xfrm>
            <a:off x="502920" y="331812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Откуда экономия</a:t>
            </a:r>
          </a:p>
        </p:txBody>
      </p:sp>
      <p:sp>
        <p:nvSpPr>
          <p:cNvPr id="17" name="Rounded Rectangle 16"/>
          <p:cNvSpPr/>
          <p:nvPr/>
        </p:nvSpPr>
        <p:spPr>
          <a:xfrm>
            <a:off x="1920240"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45 из ста читает врач — дороже прежнего</a:t>
            </a:r>
          </a:p>
        </p:txBody>
      </p:sp>
      <p:sp>
        <p:nvSpPr>
          <p:cNvPr id="19" name="Right Arrow 18"/>
          <p:cNvSpPr/>
          <p:nvPr/>
        </p:nvSpPr>
        <p:spPr>
          <a:xfrm>
            <a:off x="5039258" y="356949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55 из ста не читает никто</a:t>
            </a:r>
          </a:p>
        </p:txBody>
      </p:sp>
      <p:sp>
        <p:nvSpPr>
          <p:cNvPr id="22" name="Right Arrow 21"/>
          <p:cNvSpPr/>
          <p:nvPr/>
        </p:nvSpPr>
        <p:spPr>
          <a:xfrm>
            <a:off x="8386876" y="356949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 сумме −43,7%</a:t>
            </a:r>
          </a:p>
        </p:txBody>
      </p:sp>
      <p:sp>
        <p:nvSpPr>
          <p:cNvPr id="25" name="TextBox 24"/>
          <p:cNvSpPr txBox="1"/>
          <p:nvPr/>
        </p:nvSpPr>
        <p:spPr>
          <a:xfrm>
            <a:off x="502920" y="417747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пришлось сделать до</a:t>
            </a:r>
          </a:p>
        </p:txBody>
      </p:sp>
      <p:sp>
        <p:nvSpPr>
          <p:cNvPr id="26" name="Rounded Rectangle 25"/>
          <p:cNvSpPr/>
          <p:nvPr/>
        </p:nvSpPr>
        <p:spPr>
          <a:xfrm>
            <a:off x="1920240"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тарифного соглашения ОМС</a:t>
            </a:r>
          </a:p>
        </p:txBody>
      </p:sp>
      <p:sp>
        <p:nvSpPr>
          <p:cNvPr id="28" name="Right Arrow 27"/>
          <p:cNvSpPr/>
          <p:nvPr/>
        </p:nvSpPr>
        <p:spPr>
          <a:xfrm>
            <a:off x="5039258" y="442883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новые услуги</a:t>
            </a:r>
          </a:p>
        </p:txBody>
      </p:sp>
      <p:sp>
        <p:nvSpPr>
          <p:cNvPr id="31" name="Right Arrow 30"/>
          <p:cNvSpPr/>
          <p:nvPr/>
        </p:nvSpPr>
        <p:spPr>
          <a:xfrm>
            <a:off x="8386876" y="442883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4089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8661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неё платить за заключение модели нечем</a:t>
            </a:r>
          </a:p>
        </p:txBody>
      </p:sp>
      <p:sp>
        <p:nvSpPr>
          <p:cNvPr id="34" name="Rounded Rectangle 33"/>
          <p:cNvSpPr/>
          <p:nvPr/>
        </p:nvSpPr>
        <p:spPr>
          <a:xfrm>
            <a:off x="374904" y="4945380"/>
            <a:ext cx="11441887" cy="1290828"/>
          </a:xfrm>
          <a:prstGeom prst="roundRect">
            <a:avLst>
              <a:gd name="adj" fmla="val 23612"/>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Выигрыш не в том, что чтение подешевело.</a:t>
            </a:r>
            <a:r>
              <a:rPr sz="1100" b="0" i="0">
                <a:solidFill>
                  <a:srgbClr val="21295C"/>
                </a:solidFill>
                <a:latin typeface="Arial"/>
              </a:rPr>
              <a:t> Один снимок у человека стал </a:t>
            </a:r>
            <a:r>
              <a:rPr sz="1100" b="1" i="0">
                <a:solidFill>
                  <a:srgbClr val="21295C"/>
                </a:solidFill>
                <a:latin typeface="Arial"/>
              </a:rPr>
              <a:t>дороже</a:t>
            </a:r>
            <a:r>
              <a:rPr sz="1100" b="0" i="0">
                <a:solidFill>
                  <a:srgbClr val="21295C"/>
                </a:solidFill>
                <a:latin typeface="Arial"/>
              </a:rPr>
              <a:t>: 155,62 руб. против 132,98. Экономия — целиком из тех 55 снимков из ста, которых не читает никто.</a:t>
            </a:r>
          </a:p>
        </p:txBody>
      </p:sp>
      <p:sp>
        <p:nvSpPr>
          <p:cNvPr id="36" name="TextBox 35"/>
          <p:cNvSpPr txBox="1"/>
          <p:nvPr/>
        </p:nvSpPr>
        <p:spPr>
          <a:xfrm>
            <a:off x="6278727" y="5036820"/>
            <a:ext cx="5373471" cy="1199388"/>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Слоя, который нашёл 290 пропусков, в штатной работе не будет:</a:t>
            </a:r>
            <a:r>
              <a:rPr sz="1100" b="0" i="0">
                <a:solidFill>
                  <a:srgbClr val="21295C"/>
                </a:solidFill>
                <a:latin typeface="Arial"/>
              </a:rPr>
              <a:t> все «нормы» перечитали люди по протоколу исследования. Доля останется, способ её увидеть — нет.</a:t>
            </a:r>
          </a:p>
          <a:p>
            <a:pPr algn="l">
              <a:lnSpc>
                <a:spcPct val="126000"/>
              </a:lnSpc>
              <a:spcBef>
                <a:spcPts val="700"/>
              </a:spcBef>
            </a:pPr>
            <a:r>
              <a:rPr sz="1100" b="0" i="0">
                <a:solidFill>
                  <a:srgbClr val="21295C"/>
                </a:solidFill>
                <a:latin typeface="Arial"/>
              </a:rPr>
              <a:t/>
            </a:r>
            <a:r>
              <a:rPr sz="1100" b="1" i="0">
                <a:solidFill>
                  <a:srgbClr val="21295C"/>
                </a:solidFill>
                <a:latin typeface="Arial"/>
              </a:rPr>
              <a:t>Дало:</a:t>
            </a:r>
            <a:r>
              <a:rPr sz="1100" b="0" i="0">
                <a:solidFill>
                  <a:srgbClr val="21295C"/>
                </a:solidFill>
                <a:latin typeface="Arial"/>
              </a:rPr>
              <a:t> −33,4 млн руб. за пять месяцев. </a:t>
            </a:r>
            <a:r>
              <a:rPr sz="1100" b="1" i="0">
                <a:solidFill>
                  <a:srgbClr val="21295C"/>
                </a:solidFill>
                <a:latin typeface="Arial"/>
              </a:rPr>
              <a:t>Потребовало:</a:t>
            </a:r>
            <a:r>
              <a:rPr sz="1100" b="0" i="0">
                <a:solidFill>
                  <a:srgbClr val="21295C"/>
                </a:solidFill>
                <a:latin typeface="Arial"/>
              </a:rPr>
              <a:t> 290 пропущенных находок и правку тарифного соглашения прежде работы.</a:t>
            </a:r>
          </a:p>
        </p:txBody>
      </p:sp>
      <p:sp>
        <p:nvSpPr>
          <p:cNvPr id="37" name="Rectangle 36"/>
          <p:cNvSpPr/>
          <p:nvPr/>
        </p:nvSpPr>
        <p:spPr>
          <a:xfrm>
            <a:off x="6091275" y="5036820"/>
            <a:ext cx="9144" cy="1178124"/>
          </a:xfrm>
          <a:prstGeom prst="rect">
            <a:avLst/>
          </a:prstGeom>
          <a:solidFill>
            <a:srgbClr val="D9E2EC"/>
          </a:solidFill>
          <a:ln>
            <a:noFill/>
          </a:ln>
          <a:effectLst/>
        </p:spPr>
        <p:txBody>
          <a:bodyPr rtlCol="0" anchor="ctr"/>
          <a:lstStyle/>
          <a:p>
            <a:pPr algn="ctr"/>
          </a:p>
        </p:txBody>
      </p:sp>
      <p:sp>
        <p:nvSpPr>
          <p:cNvPr id="38" name="Rectangle 3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9" name="TextBox 3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Васильев и соавт., Digital Diagnostics 2025;6(1):5–22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Москва — кровоизлияние в череп, где автономию не дали</a:t>
            </a:r>
          </a:p>
        </p:txBody>
      </p:sp>
      <p:sp>
        <p:nvSpPr>
          <p:cNvPr id="4" name="Rounded Rectangle 3"/>
          <p:cNvSpPr/>
          <p:nvPr/>
        </p:nvSpPr>
        <p:spPr>
          <a:xfrm>
            <a:off x="502920"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смерть или необратимое поражение · напрасно развёрнутая бригада</a:t>
            </a:r>
          </a:p>
        </p:txBody>
      </p:sp>
      <p:sp>
        <p:nvSpPr>
          <p:cNvPr id="7" name="TextBox 6"/>
          <p:cNvSpPr txBox="1"/>
          <p:nvPr/>
        </p:nvSpPr>
        <p:spPr>
          <a:xfrm>
            <a:off x="640080" y="2780446"/>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идёт на минуты — времени на проверку тревоги нет</a:t>
            </a:r>
          </a:p>
        </p:txBody>
      </p:sp>
      <p:sp>
        <p:nvSpPr>
          <p:cNvPr id="8" name="Rounded Rectangle 7"/>
          <p:cNvSpPr/>
          <p:nvPr/>
        </p:nvSpPr>
        <p:spPr>
          <a:xfrm>
            <a:off x="4286402" y="1335024"/>
            <a:ext cx="3618890" cy="2005069"/>
          </a:xfrm>
          <a:prstGeom prst="roundRect">
            <a:avLst>
              <a:gd name="adj" fmla="val 1520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ЛОЖНЫХ ТРЕВОГ НА 3 409 ТОМОГРАММАХ: МОДЕЛЬ ОДНА → ВРАЧ</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293 → 4</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73 раза больше; каждая двенадцатая томограмма пошла бы в экстренный путь напрасно</a:t>
            </a:r>
          </a:p>
        </p:txBody>
      </p:sp>
      <p:sp>
        <p:nvSpPr>
          <p:cNvPr id="12" name="Rounded Rectangle 11"/>
          <p:cNvSpPr/>
          <p:nvPr/>
        </p:nvSpPr>
        <p:spPr>
          <a:xfrm>
            <a:off x="8069884" y="1335024"/>
            <a:ext cx="3618890" cy="2005069"/>
          </a:xfrm>
          <a:prstGeom prst="roundRect">
            <a:avLst>
              <a:gd name="adj" fmla="val 152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ПРОПУСКИ НЕ СОВПАЛИ НИ РАЗУ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 и 12</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45, пропущенные моделью, нашёл врач; все 12, пропущенные врачом, нашла модель</a:t>
            </a:r>
          </a:p>
        </p:txBody>
      </p:sp>
      <p:sp>
        <p:nvSpPr>
          <p:cNvPr id="16" name="TextBox 15"/>
          <p:cNvSpPr txBox="1"/>
          <p:nvPr/>
        </p:nvSpPr>
        <p:spPr>
          <a:xfrm>
            <a:off x="502920" y="355954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предлагали</a:t>
            </a:r>
          </a:p>
        </p:txBody>
      </p:sp>
      <p:sp>
        <p:nvSpPr>
          <p:cNvPr id="17" name="Rounded Rectangle 16"/>
          <p:cNvSpPr/>
          <p:nvPr/>
        </p:nvSpPr>
        <p:spPr>
          <a:xfrm>
            <a:off x="1920240"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19" name="Right Arrow 18"/>
          <p:cNvSpPr/>
          <p:nvPr/>
        </p:nvSpPr>
        <p:spPr>
          <a:xfrm>
            <a:off x="5039258" y="381091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522973"/>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568693"/>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читает одна</a:t>
            </a:r>
          </a:p>
        </p:txBody>
      </p:sp>
      <p:sp>
        <p:nvSpPr>
          <p:cNvPr id="22" name="Right Arrow 21"/>
          <p:cNvSpPr/>
          <p:nvPr/>
        </p:nvSpPr>
        <p:spPr>
          <a:xfrm>
            <a:off x="8386876" y="381091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522973"/>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68693"/>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экстренный путь</a:t>
            </a:r>
          </a:p>
        </p:txBody>
      </p:sp>
      <p:sp>
        <p:nvSpPr>
          <p:cNvPr id="25" name="TextBox 24"/>
          <p:cNvSpPr txBox="1"/>
          <p:nvPr/>
        </p:nvSpPr>
        <p:spPr>
          <a:xfrm>
            <a:off x="502920" y="441889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вышло по замеру</a:t>
            </a:r>
          </a:p>
        </p:txBody>
      </p:sp>
      <p:sp>
        <p:nvSpPr>
          <p:cNvPr id="26" name="Rounded Rectangle 25"/>
          <p:cNvSpPr/>
          <p:nvPr/>
        </p:nvSpPr>
        <p:spPr>
          <a:xfrm>
            <a:off x="1920240"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томограмма</a:t>
            </a:r>
          </a:p>
        </p:txBody>
      </p:sp>
      <p:sp>
        <p:nvSpPr>
          <p:cNvPr id="28" name="Right Arrow 27"/>
          <p:cNvSpPr/>
          <p:nvPr/>
        </p:nvSpPr>
        <p:spPr>
          <a:xfrm>
            <a:off x="5039258" y="467026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382319"/>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428039"/>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отмечает подозрение</a:t>
            </a:r>
          </a:p>
        </p:txBody>
      </p:sp>
      <p:sp>
        <p:nvSpPr>
          <p:cNvPr id="31" name="Right Arrow 30"/>
          <p:cNvSpPr/>
          <p:nvPr/>
        </p:nvSpPr>
        <p:spPr>
          <a:xfrm>
            <a:off x="8386876" y="467026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38231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42803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 и остаётся первым читателем</a:t>
            </a:r>
          </a:p>
        </p:txBody>
      </p:sp>
      <p:sp>
        <p:nvSpPr>
          <p:cNvPr id="34" name="Rounded Rectangle 33"/>
          <p:cNvSpPr/>
          <p:nvPr/>
        </p:nvSpPr>
        <p:spPr>
          <a:xfrm>
            <a:off x="374904" y="5186801"/>
            <a:ext cx="11441887" cy="104940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78241"/>
            <a:ext cx="11112703" cy="9579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Та же Москва, тот же круг сервисов — обратный ответ.</a:t>
            </a:r>
            <a:r>
              <a:rPr sz="1300" b="0" i="0">
                <a:solidFill>
                  <a:srgbClr val="21295C"/>
                </a:solidFill>
                <a:latin typeface="Arial"/>
              </a:rPr>
              <a:t> 3 409 томограмм головы, 67 клиник, 2022–2024; кровоизлияние у 1 101 человека.</a:t>
            </a:r>
          </a:p>
          <a:p>
            <a:pPr algn="l">
              <a:lnSpc>
                <a:spcPct val="126000"/>
              </a:lnSpc>
              <a:spcBef>
                <a:spcPts val="700"/>
              </a:spcBef>
            </a:pPr>
            <a:r>
              <a:rPr sz="1300" b="0" i="0">
                <a:solidFill>
                  <a:srgbClr val="21295C"/>
                </a:solidFill>
                <a:latin typeface="Arial"/>
              </a:rPr>
              <a:t/>
            </a:r>
            <a:r>
              <a:rPr sz="1300" b="1" i="0">
                <a:solidFill>
                  <a:srgbClr val="21295C"/>
                </a:solidFill>
                <a:latin typeface="Arial"/>
              </a:rPr>
              <a:t>Читается не по долям, а по счёту.</a:t>
            </a:r>
            <a:r>
              <a:rPr sz="1300" b="0" i="0">
                <a:solidFill>
                  <a:srgbClr val="21295C"/>
                </a:solidFill>
                <a:latin typeface="Arial"/>
              </a:rPr>
              <a:t> Из ста больных модель находит 96, врач 99. Ложных тревог: </a:t>
            </a:r>
            <a:r>
              <a:rPr sz="1300" b="1" i="0">
                <a:solidFill>
                  <a:srgbClr val="21295C"/>
                </a:solidFill>
                <a:latin typeface="Arial"/>
              </a:rPr>
              <a:t>293 против 4</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Оговорка.</a:t>
            </a:r>
            <a:r>
              <a:rPr sz="1300" b="0" i="0">
                <a:solidFill>
                  <a:srgbClr val="21295C"/>
                </a:solidFill>
                <a:latin typeface="Arial"/>
              </a:rPr>
              <a:t> Врач здесь работал </a:t>
            </a:r>
            <a:r>
              <a:rPr sz="1300" b="1" i="0">
                <a:solidFill>
                  <a:srgbClr val="21295C"/>
                </a:solidFill>
                <a:latin typeface="Arial"/>
              </a:rPr>
              <a:t>с подсказкой модели</a:t>
            </a:r>
            <a:r>
              <a:rPr sz="1300" b="0" i="0">
                <a:solidFill>
                  <a:srgbClr val="21295C"/>
                </a:solidFill>
                <a:latin typeface="Arial"/>
              </a:rPr>
              <a:t>; измерения «врач без подсказки» в работе нет.</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Хоружая и соавт., Journal of Clinical Medicine 2025;14(16):5700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3: Таиланд — чтение глазного дна в кабинете первичного звена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a:t>
            </a:r>
          </a:p>
        </p:txBody>
      </p:sp>
      <p:sp>
        <p:nvSpPr>
          <p:cNvPr id="12" name="TextBox 11"/>
          <p:cNvSpPr txBox="1"/>
          <p:nvPr/>
        </p:nvSpPr>
        <p:spPr>
          <a:xfrm>
            <a:off x="502920" y="311065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специалисту</a:t>
            </a:r>
          </a:p>
        </p:txBody>
      </p:sp>
      <p:sp>
        <p:nvSpPr>
          <p:cNvPr id="15" name="Right Arrow 14"/>
          <p:cNvSpPr/>
          <p:nvPr/>
        </p:nvSpPr>
        <p:spPr>
          <a:xfrm>
            <a:off x="5039258" y="336202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36202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07408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1980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970002"/>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медсестры/техника</a:t>
            </a:r>
          </a:p>
        </p:txBody>
      </p:sp>
      <p:sp>
        <p:nvSpPr>
          <p:cNvPr id="24" name="Right Arrow 23"/>
          <p:cNvSpPr/>
          <p:nvPr/>
        </p:nvSpPr>
        <p:spPr>
          <a:xfrm>
            <a:off x="5039258" y="4221367"/>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933426"/>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3979146"/>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автономное чтение</a:t>
            </a:r>
          </a:p>
        </p:txBody>
      </p:sp>
      <p:sp>
        <p:nvSpPr>
          <p:cNvPr id="27" name="Right Arrow 26"/>
          <p:cNvSpPr/>
          <p:nvPr/>
        </p:nvSpPr>
        <p:spPr>
          <a:xfrm>
            <a:off x="8386876" y="4221367"/>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933426"/>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979146"/>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 отрицательно / отказ по качеству</a:t>
            </a:r>
          </a:p>
        </p:txBody>
      </p:sp>
      <p:sp>
        <p:nvSpPr>
          <p:cNvPr id="30" name="Rounded Rectangle 29"/>
          <p:cNvSpPr/>
          <p:nvPr/>
        </p:nvSpPr>
        <p:spPr>
          <a:xfrm>
            <a:off x="374904" y="4737908"/>
            <a:ext cx="11441887" cy="1498299"/>
          </a:xfrm>
          <a:prstGeom prst="roundRect">
            <a:avLst>
              <a:gd name="adj" fmla="val 20343"/>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Чтение глазного дна в кабинете первичного звена.</a:t>
            </a:r>
            <a:r>
              <a:rPr sz="1200" b="0" i="0">
                <a:solidFill>
                  <a:srgbClr val="21295C"/>
                </a:solidFill>
                <a:latin typeface="Arial"/>
              </a:rPr>
              <a:t> Полгода, одиннадцать клиник Таиланда: медсёстры и техники снимали, система читала на месте меньше минуты и сама отклоняла негодное.</a:t>
            </a:r>
          </a:p>
        </p:txBody>
      </p:sp>
      <p:sp>
        <p:nvSpPr>
          <p:cNvPr id="32" name="TextBox 31"/>
          <p:cNvSpPr txBox="1"/>
          <p:nvPr/>
        </p:nvSpPr>
        <p:spPr>
          <a:xfrm>
            <a:off x="6278727" y="4829348"/>
            <a:ext cx="5373471" cy="140685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Устроено.</a:t>
            </a:r>
            <a:r>
              <a:rPr sz="1200" b="0" i="0">
                <a:solidFill>
                  <a:srgbClr val="21295C"/>
                </a:solidFill>
                <a:latin typeface="Arial"/>
              </a:rPr>
              <a:t> Обучено на отобранных по качеству снимках; в поле отбор делает человек без правила. Имени системы не называют. </a:t>
            </a:r>
            <a:r>
              <a:rPr sz="1200" b="1" i="0">
                <a:solidFill>
                  <a:srgbClr val="21295C"/>
                </a:solidFill>
                <a:latin typeface="Arial"/>
              </a:rPr>
              <a:t>Причины отказов:</a:t>
            </a:r>
            <a:r>
              <a:rPr sz="1200" b="0" i="0">
                <a:solidFill>
                  <a:srgbClr val="21295C"/>
                </a:solidFill>
                <a:latin typeface="Arial"/>
              </a:rPr>
              <a:t> освещение, медленная связь.</a:t>
            </a:r>
          </a:p>
          <a:p>
            <a:pPr algn="l">
              <a:lnSpc>
                <a:spcPct val="126000"/>
              </a:lnSpc>
              <a:spcBef>
                <a:spcPts val="700"/>
              </a:spcBef>
            </a:pPr>
            <a:r>
              <a:rPr sz="1200" b="0" i="0">
                <a:solidFill>
                  <a:srgbClr val="21295C"/>
                </a:solidFill>
                <a:latin typeface="Arial"/>
              </a:rPr>
              <a:t/>
            </a:r>
            <a:r>
              <a:rPr sz="1200" b="1" i="0">
                <a:solidFill>
                  <a:srgbClr val="21295C"/>
                </a:solidFill>
                <a:latin typeface="Arial"/>
              </a:rPr>
              <a:t>Провалилось развёртывание, чтение сработало.</a:t>
            </a:r>
            <a:r>
              <a:rPr sz="1200" b="0" i="0">
                <a:solidFill>
                  <a:srgbClr val="21295C"/>
                </a:solidFill>
                <a:latin typeface="Arial"/>
              </a:rPr>
              <a:t> </a:t>
            </a:r>
            <a:r>
              <a:rPr sz="1200" b="0" i="1">
                <a:solidFill>
                  <a:srgbClr val="21295C"/>
                </a:solidFill>
                <a:latin typeface="Arial"/>
              </a:rPr>
              <a:t>Полевое наблюдение, измерено однажды; сопоставляются порядки, не выборки.</a:t>
            </a:r>
          </a:p>
        </p:txBody>
      </p:sp>
      <p:sp>
        <p:nvSpPr>
          <p:cNvPr id="33" name="Rectangle 32"/>
          <p:cNvSpPr/>
          <p:nvPr/>
        </p:nvSpPr>
        <p:spPr>
          <a:xfrm>
            <a:off x="6091275" y="4829348"/>
            <a:ext cx="9144" cy="1277144"/>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Beede и соавт., CHI 2020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кожа и состав набора</a:t>
            </a:r>
          </a:p>
        </p:txBody>
      </p:sp>
      <p:sp>
        <p:nvSpPr>
          <p:cNvPr id="4" name="Rounded Rectangle 3"/>
          <p:cNvSpPr/>
          <p:nvPr/>
        </p:nvSpPr>
        <p:spPr>
          <a:xfrm>
            <a:off x="502920"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лечение на поздней стадии · биопсия и рубец</a:t>
            </a:r>
          </a:p>
        </p:txBody>
      </p:sp>
      <p:sp>
        <p:nvSpPr>
          <p:cNvPr id="7" name="Rounded Rectangle 6"/>
          <p:cNvSpPr/>
          <p:nvPr/>
        </p:nvSpPr>
        <p:spPr>
          <a:xfrm>
            <a:off x="4286402" y="1335024"/>
            <a:ext cx="3618890"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БОЛЬНЫХ НАХОДЯТ: ГЛАЗОМ → ЧЕРЕЗ ЛУПУ С ПОДСВЕТКОЙ</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 91</a:t>
            </a:r>
          </a:p>
        </p:txBody>
      </p:sp>
      <p:sp>
        <p:nvSpPr>
          <p:cNvPr id="10" name="TextBox 9"/>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ста здоровых пугают напрасно 23 → 26; один метаанализ</a:t>
            </a:r>
          </a:p>
        </p:txBody>
      </p:sp>
      <p:sp>
        <p:nvSpPr>
          <p:cNvPr id="11" name="Rounded Rectangle 10"/>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НАСКОЛЬКО ХУЖЕ МОДЕЛЬ РАЗЛИЧАЕТ БОЛЬНОГО И ЗДОРОВОГО НА ТЁМНОЙ КОЖЕ</a:t>
            </a:r>
          </a:p>
        </p:txBody>
      </p:sp>
      <p:sp>
        <p:nvSpPr>
          <p:cNvPr id="13" name="TextBox 12"/>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9–15 из 100</a:t>
            </a:r>
          </a:p>
        </p:txBody>
      </p:sp>
      <p:sp>
        <p:nvSpPr>
          <p:cNvPr id="14" name="TextBox 13"/>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50 — монетка, 100 — без промаха. Три модели, 656 изображений с подтверждённым диагнозом: 208 светлых · 241 средних · 207 тёмных</a:t>
            </a:r>
          </a:p>
        </p:txBody>
      </p:sp>
      <p:sp>
        <p:nvSpPr>
          <p:cNvPr id="15" name="TextBox 14"/>
          <p:cNvSpPr txBox="1"/>
          <p:nvPr/>
        </p:nvSpPr>
        <p:spPr>
          <a:xfrm>
            <a:off x="502920" y="37689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осмотр глазом / дермоскопия</a:t>
            </a:r>
          </a:p>
        </p:txBody>
      </p:sp>
      <p:sp>
        <p:nvSpPr>
          <p:cNvPr id="18" name="Right Arrow 17"/>
          <p:cNvSpPr/>
          <p:nvPr/>
        </p:nvSpPr>
        <p:spPr>
          <a:xfrm>
            <a:off x="6713067" y="390144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732330"/>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778050"/>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к врачу или нет</a:t>
            </a:r>
          </a:p>
        </p:txBody>
      </p:sp>
      <p:sp>
        <p:nvSpPr>
          <p:cNvPr id="21" name="TextBox 20"/>
          <p:cNvSpPr txBox="1"/>
          <p:nvPr/>
        </p:nvSpPr>
        <p:spPr>
          <a:xfrm>
            <a:off x="502920" y="439060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телефоном/камерой</a:t>
            </a:r>
          </a:p>
        </p:txBody>
      </p:sp>
      <p:sp>
        <p:nvSpPr>
          <p:cNvPr id="24" name="Right Arrow 23"/>
          <p:cNvSpPr/>
          <p:nvPr/>
        </p:nvSpPr>
        <p:spPr>
          <a:xfrm>
            <a:off x="5039258" y="452314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435402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6" name="TextBox 25"/>
          <p:cNvSpPr txBox="1"/>
          <p:nvPr/>
        </p:nvSpPr>
        <p:spPr>
          <a:xfrm>
            <a:off x="5350154" y="439974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a:t>
            </a:r>
          </a:p>
        </p:txBody>
      </p:sp>
      <p:sp>
        <p:nvSpPr>
          <p:cNvPr id="27" name="Right Arrow 26"/>
          <p:cNvSpPr/>
          <p:nvPr/>
        </p:nvSpPr>
        <p:spPr>
          <a:xfrm>
            <a:off x="8386876" y="452314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435402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439974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показать врачу или нет</a:t>
            </a:r>
          </a:p>
        </p:txBody>
      </p:sp>
      <p:sp>
        <p:nvSpPr>
          <p:cNvPr id="30" name="Rounded Rectangle 29"/>
          <p:cNvSpPr/>
          <p:nvPr/>
        </p:nvSpPr>
        <p:spPr>
          <a:xfrm>
            <a:off x="374904" y="4920860"/>
            <a:ext cx="11441887" cy="1315347"/>
          </a:xfrm>
          <a:prstGeom prst="roundRect">
            <a:avLst>
              <a:gd name="adj" fmla="val 23172"/>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делали до модели.</a:t>
            </a:r>
            <a:r>
              <a:rPr sz="1400" b="0" i="0">
                <a:solidFill>
                  <a:srgbClr val="21295C"/>
                </a:solidFill>
                <a:latin typeface="Arial"/>
              </a:rPr>
              <a:t> Человек находит на коже образование и хочет знать, идти ли к врачу. Смотрел врач глазом, обученный специалист — через дермоскоп.</a:t>
            </a:r>
          </a:p>
        </p:txBody>
      </p:sp>
      <p:sp>
        <p:nvSpPr>
          <p:cNvPr id="32" name="TextBox 31"/>
          <p:cNvSpPr txBox="1"/>
          <p:nvPr/>
        </p:nvSpPr>
        <p:spPr>
          <a:xfrm>
            <a:off x="6278727" y="5012300"/>
            <a:ext cx="5373471" cy="122390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Три модели на одном проверочном наборе, светлые тона против тёмных. Наборы у трёх свои, тёмных тонов в них мало — в этом дело. </a:t>
            </a:r>
            <a:r>
              <a:rPr sz="1400" b="0" i="1">
                <a:solidFill>
                  <a:srgbClr val="21295C"/>
                </a:solidFill>
                <a:latin typeface="Arial"/>
              </a:rPr>
              <a:t>Классификация на изображении.</a:t>
            </a:r>
          </a:p>
          <a:p>
            <a:pPr algn="l">
              <a:lnSpc>
                <a:spcPct val="126000"/>
              </a:lnSpc>
              <a:spcBef>
                <a:spcPts val="700"/>
              </a:spcBef>
            </a:pPr>
            <a:r>
              <a:rPr sz="1150" b="0" i="0">
                <a:solidFill>
                  <a:srgbClr val="21295C"/>
                </a:solidFill>
                <a:latin typeface="Arial"/>
              </a:rPr>
              <a:t/>
            </a:r>
            <a:r>
              <a:rPr sz="1150" b="0" i="1">
                <a:solidFill>
                  <a:srgbClr val="1C7293"/>
                </a:solidFill>
                <a:latin typeface="Arial"/>
              </a:rPr>
              <a:t>Классические режимы — из одного метаанализа прямого сравнения.</a:t>
            </a:r>
          </a:p>
        </p:txBody>
      </p:sp>
      <p:sp>
        <p:nvSpPr>
          <p:cNvPr id="33" name="Rectangle 32"/>
          <p:cNvSpPr/>
          <p:nvPr/>
        </p:nvSpPr>
        <p:spPr>
          <a:xfrm>
            <a:off x="6091275" y="5012300"/>
            <a:ext cx="9144" cy="1148418"/>
          </a:xfrm>
          <a:prstGeom prst="rect">
            <a:avLst/>
          </a:prstGeom>
          <a:solidFill>
            <a:srgbClr val="D9E2EC"/>
          </a:solidFill>
          <a:ln>
            <a:noFill/>
          </a:ln>
          <a:effectLst/>
        </p:spPr>
        <p:txBody>
          <a:bodyPr rtlCol="0" anchor="ctr"/>
          <a:lstStyle/>
          <a:p>
            <a:pPr algn="ct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r>
              <a:rPr sz="1200" b="0" i="1">
                <a:solidFill>
                  <a:srgbClr val="1C7293"/>
                </a:solidFill>
                <a:latin typeface="Arial"/>
              </a:rPr>
              <a:t> · </a:t>
            </a:r>
            <a:r>
              <a:rPr sz="1200" b="0" i="1" u="sng">
                <a:solidFill>
                  <a:srgbClr val="065A82"/>
                </a:solidFill>
                <a:latin typeface="Arial"/>
                <a:hlinkClick r:id="rId3"/>
              </a:rPr>
              <a:t>Vestergaard и соавт., British Journal of Dermatology 2008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разрыв лечит состав данных</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ДОУЧИЛИ НА НАБОРЕ, ГДЕ ТЁМНЫХ ТОНОВ ПОРОВНУ</a:t>
            </a:r>
          </a:p>
        </p:txBody>
      </p:sp>
      <p:sp>
        <p:nvSpPr>
          <p:cNvPr id="6" name="TextBox 5"/>
          <p:cNvSpPr txBox="1"/>
          <p:nvPr/>
        </p:nvSpPr>
        <p:spPr>
          <a:xfrm>
            <a:off x="640080" y="1932846"/>
            <a:ext cx="2398699"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светлые 73 · тёмные 76 из 100</a:t>
            </a:r>
          </a:p>
        </p:txBody>
      </p:sp>
      <p:sp>
        <p:nvSpPr>
          <p:cNvPr id="7" name="TextBox 6"/>
          <p:cNvSpPr txBox="1"/>
          <p:nvPr/>
        </p:nvSpPr>
        <p:spPr>
          <a:xfrm>
            <a:off x="640080" y="2682369"/>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не исчез, а перевернулся; лечит сбор и разметка, не алгоритм</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разрыв не уменьшили</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работа, те же данные</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КЛАССИЧЕСКИХ МЕТОДОВ РАЗРЫВ</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5" name="TextBox 14"/>
          <p:cNvSpPr txBox="1"/>
          <p:nvPr/>
        </p:nvSpPr>
        <p:spPr>
          <a:xfrm>
            <a:off x="6315303"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a:t>
            </a:r>
          </a:p>
        </p:txBody>
      </p:sp>
      <p:sp>
        <p:nvSpPr>
          <p:cNvPr id="16" name="Rounded Rectangle 15"/>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 → ПОТРЕБОВАЛО</a:t>
            </a:r>
          </a:p>
        </p:txBody>
      </p:sp>
      <p:sp>
        <p:nvSpPr>
          <p:cNvPr id="18" name="TextBox 17"/>
          <p:cNvSpPr txBox="1"/>
          <p:nvPr/>
        </p:nvSpPr>
        <p:spPr>
          <a:xfrm>
            <a:off x="9152915"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оценку там, где дерматолога нет → набор под состав тех, на ком работает</a:t>
            </a:r>
          </a:p>
        </p:txBody>
      </p:sp>
      <p:sp>
        <p:nvSpPr>
          <p:cNvPr id="19" name="TextBox 18"/>
          <p:cNvSpPr txBox="1"/>
          <p:nvPr/>
        </p:nvSpPr>
        <p:spPr>
          <a:xfrm>
            <a:off x="9152915" y="239851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сумме: средняя держится, цена — на подгруппе</a:t>
            </a:r>
          </a:p>
        </p:txBody>
      </p:sp>
      <p:sp>
        <p:nvSpPr>
          <p:cNvPr id="20" name="TextBox 19"/>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Коррекция алгоритмом</a:t>
            </a:r>
          </a:p>
        </p:txBody>
      </p:sp>
      <p:sp>
        <p:nvSpPr>
          <p:cNvPr id="21" name="Rounded Rectangle 20"/>
          <p:cNvSpPr/>
          <p:nvPr/>
        </p:nvSpPr>
        <p:spPr>
          <a:xfrm>
            <a:off x="1920240"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алгоритмическая коррекция</a:t>
            </a:r>
          </a:p>
        </p:txBody>
      </p:sp>
      <p:sp>
        <p:nvSpPr>
          <p:cNvPr id="23" name="Right Arrow 22"/>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6941667" y="3704039"/>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7023963" y="3749759"/>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не уменьшился</a:t>
            </a:r>
          </a:p>
        </p:txBody>
      </p:sp>
      <p:sp>
        <p:nvSpPr>
          <p:cNvPr id="26" name="TextBox 25"/>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Состав данных</a:t>
            </a:r>
          </a:p>
        </p:txBody>
      </p:sp>
      <p:sp>
        <p:nvSpPr>
          <p:cNvPr id="27" name="Rounded Rectangle 26"/>
          <p:cNvSpPr/>
          <p:nvPr/>
        </p:nvSpPr>
        <p:spPr>
          <a:xfrm>
            <a:off x="1920240"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2002536"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дообучение на представительном наборе</a:t>
            </a:r>
          </a:p>
        </p:txBody>
      </p:sp>
      <p:sp>
        <p:nvSpPr>
          <p:cNvPr id="29" name="Right Arrow 28"/>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941667" y="4325736"/>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7023963" y="4371456"/>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разрыв снят</a:t>
            </a:r>
          </a:p>
        </p:txBody>
      </p:sp>
      <p:sp>
        <p:nvSpPr>
          <p:cNvPr id="32" name="TextBox 3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двух путей против смещения сработал один, и это не выбор метода</a:t>
            </a:r>
          </a:p>
        </p:txBody>
      </p:sp>
      <p:sp>
        <p:nvSpPr>
          <p:cNvPr id="33" name="Rounded Rectangle 3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по набору осталась приличной, а платит подгруппа, которой в обучающем наборе было мало.</a:t>
            </a:r>
          </a:p>
        </p:txBody>
      </p:sp>
      <p:sp>
        <p:nvSpPr>
          <p:cNvPr id="35" name="TextBox 34"/>
          <p:cNvSpPr txBox="1"/>
          <p:nvPr/>
        </p:nvSpPr>
        <p:spPr>
          <a:xfrm>
            <a:off x="6278727" y="5231828"/>
            <a:ext cx="5373471" cy="100437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Отсутствие замера равенства не доказывает.</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Исправление измерено в той же работе; в настоящем кабинете — ни одну из трёх.</a:t>
            </a:r>
          </a:p>
        </p:txBody>
      </p:sp>
      <p:sp>
        <p:nvSpPr>
          <p:cNvPr id="36" name="Rectangle 35"/>
          <p:cNvSpPr/>
          <p:nvPr/>
        </p:nvSpPr>
        <p:spPr>
          <a:xfrm>
            <a:off x="6091275" y="5231828"/>
            <a:ext cx="9144" cy="891183"/>
          </a:xfrm>
          <a:prstGeom prst="rect">
            <a:avLst/>
          </a:prstGeom>
          <a:solidFill>
            <a:srgbClr val="D9E2EC"/>
          </a:solidFill>
          <a:ln>
            <a:noFill/>
          </a:ln>
          <a:effectLst/>
        </p:spPr>
        <p:txBody>
          <a:bodyPr rtlCol="0" anchor="ctr"/>
          <a:lstStyle/>
          <a:p>
            <a:pPr algn="ct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Daneshjou и соавт., Science Advances 2022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отбор в программу повышенного внимания — балл вместо решения врача</a:t>
            </a:r>
          </a:p>
        </p:txBody>
      </p:sp>
      <p:sp>
        <p:nvSpPr>
          <p:cNvPr id="4" name="Rounded Rectangle 3"/>
          <p:cNvSpPr/>
          <p:nvPr/>
        </p:nvSpPr>
        <p:spPr>
          <a:xfrm>
            <a:off x="502920"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болезнь без присмотра · занятое место</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координатора — кто-то третий не попал</a:t>
            </a:r>
          </a:p>
        </p:txBody>
      </p:sp>
      <p:sp>
        <p:nvSpPr>
          <p:cNvPr id="8" name="Rounded Rectangle 7"/>
          <p:cNvSpPr/>
          <p:nvPr/>
        </p:nvSpPr>
        <p:spPr>
          <a:xfrm>
            <a:off x="3340531" y="1335024"/>
            <a:ext cx="2673019" cy="2421898"/>
          </a:xfrm>
          <a:prstGeom prst="roundRect">
            <a:avLst>
              <a:gd name="adj" fmla="val 1258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ЧЕРНОКОЖИХ СРЕДИ ОТОБРАННЫХ: РЕШАЛ ВРАЧ → РЕШАЛ БАЛЛ</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 → 17 из ста</a:t>
            </a:r>
          </a:p>
        </p:txBody>
      </p:sp>
      <p:sp>
        <p:nvSpPr>
          <p:cNvPr id="11" name="TextBox 10"/>
          <p:cNvSpPr txBox="1"/>
          <p:nvPr/>
        </p:nvSpPr>
        <p:spPr>
          <a:xfrm>
            <a:off x="3477691"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одной больницы, 2013–2015; одна выборка, оба режима на ней</a:t>
            </a:r>
          </a:p>
        </p:txBody>
      </p:sp>
      <p:sp>
        <p:nvSpPr>
          <p:cNvPr id="12" name="Rounded Rectangle 11"/>
          <p:cNvSpPr/>
          <p:nvPr/>
        </p:nvSpPr>
        <p:spPr>
          <a:xfrm>
            <a:off x="6178143"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ОДИНАКОВОМ БАЛЛЕ У ЧЕРНОКОЖИХ ХРОНИЧЕСКИХ БОЛЕЗНЕЙ БОЛЬШЕ, ЧЕМ У БЕЛЫХ</a:t>
            </a:r>
          </a:p>
        </p:txBody>
      </p:sp>
      <p:sp>
        <p:nvSpPr>
          <p:cNvPr id="14" name="TextBox 13"/>
          <p:cNvSpPr txBox="1"/>
          <p:nvPr/>
        </p:nvSpPr>
        <p:spPr>
          <a:xfrm>
            <a:off x="6315303" y="2347789"/>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26 из ста</a:t>
            </a:r>
          </a:p>
        </p:txBody>
      </p:sp>
      <p:sp>
        <p:nvSpPr>
          <p:cNvPr id="15" name="TextBox 14"/>
          <p:cNvSpPr txBox="1"/>
          <p:nvPr/>
        </p:nvSpPr>
        <p:spPr>
          <a:xfrm>
            <a:off x="6315303" y="277478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балл назвал одинаково здоровыми людей, здоровье которых различается; 100 009 пациенто-лет</a:t>
            </a:r>
          </a:p>
        </p:txBody>
      </p:sp>
      <p:sp>
        <p:nvSpPr>
          <p:cNvPr id="16" name="Rounded Rectangle 15"/>
          <p:cNvSpPr/>
          <p:nvPr/>
        </p:nvSpPr>
        <p:spPr>
          <a:xfrm>
            <a:off x="9015755" y="1335024"/>
            <a:ext cx="2673019" cy="2421898"/>
          </a:xfrm>
          <a:prstGeom prst="roundRect">
            <a:avLst>
              <a:gd name="adj" fmla="val 1258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ЕСЛИ БЫ БАЛЛ СЧИТАЛ БОЛЕЗНЬ, А НЕ РАСХОДЫ: ТА ЖЕ ДОЛЯ</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47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 авторов на тех же данных (17,7 → 46,5); это выкладка, а не внедрение — такого развёртывания не было</a:t>
            </a:r>
          </a:p>
        </p:txBody>
      </p:sp>
      <p:sp>
        <p:nvSpPr>
          <p:cNvPr id="20" name="TextBox 19"/>
          <p:cNvSpPr txBox="1"/>
          <p:nvPr/>
        </p:nvSpPr>
        <p:spPr>
          <a:xfrm>
            <a:off x="502920" y="397637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(видел балл)</a:t>
            </a:r>
          </a:p>
        </p:txBody>
      </p:sp>
      <p:sp>
        <p:nvSpPr>
          <p:cNvPr id="21" name="Rounded Rectangle 20"/>
          <p:cNvSpPr/>
          <p:nvPr/>
        </p:nvSpPr>
        <p:spPr>
          <a:xfrm>
            <a:off x="1920240"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пациента</a:t>
            </a:r>
          </a:p>
        </p:txBody>
      </p:sp>
      <p:sp>
        <p:nvSpPr>
          <p:cNvPr id="23" name="Right Arrow 22"/>
          <p:cNvSpPr/>
          <p:nvPr/>
        </p:nvSpPr>
        <p:spPr>
          <a:xfrm>
            <a:off x="5039258" y="410891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балл</a:t>
            </a:r>
          </a:p>
        </p:txBody>
      </p:sp>
      <p:sp>
        <p:nvSpPr>
          <p:cNvPr id="26" name="Right Arrow 25"/>
          <p:cNvSpPr/>
          <p:nvPr/>
        </p:nvSpPr>
        <p:spPr>
          <a:xfrm>
            <a:off x="8386876" y="410891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393980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398552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врача</a:t>
            </a:r>
          </a:p>
        </p:txBody>
      </p:sp>
      <p:sp>
        <p:nvSpPr>
          <p:cNvPr id="29" name="TextBox 28"/>
          <p:cNvSpPr txBox="1"/>
          <p:nvPr/>
        </p:nvSpPr>
        <p:spPr>
          <a:xfrm>
            <a:off x="502920" y="45980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Один балл</a:t>
            </a:r>
          </a:p>
        </p:txBody>
      </p:sp>
      <p:sp>
        <p:nvSpPr>
          <p:cNvPr id="30" name="Rounded Rectangle 29"/>
          <p:cNvSpPr/>
          <p:nvPr/>
        </p:nvSpPr>
        <p:spPr>
          <a:xfrm>
            <a:off x="1920240"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 расходы</a:t>
            </a:r>
          </a:p>
        </p:txBody>
      </p:sp>
      <p:sp>
        <p:nvSpPr>
          <p:cNvPr id="32" name="Right Arrow 31"/>
          <p:cNvSpPr/>
          <p:nvPr/>
        </p:nvSpPr>
        <p:spPr>
          <a:xfrm>
            <a:off x="5039258" y="4730615"/>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456149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4" name="TextBox 33"/>
          <p:cNvSpPr txBox="1"/>
          <p:nvPr/>
        </p:nvSpPr>
        <p:spPr>
          <a:xfrm>
            <a:off x="5350154" y="460721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прогноз расходов</a:t>
            </a:r>
          </a:p>
        </p:txBody>
      </p:sp>
      <p:sp>
        <p:nvSpPr>
          <p:cNvPr id="35" name="Right Arrow 34"/>
          <p:cNvSpPr/>
          <p:nvPr/>
        </p:nvSpPr>
        <p:spPr>
          <a:xfrm>
            <a:off x="8386876" y="4730615"/>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456149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460721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по порогу</a:t>
            </a:r>
          </a:p>
        </p:txBody>
      </p:sp>
      <p:sp>
        <p:nvSpPr>
          <p:cNvPr id="38" name="Rounded Rectangle 37"/>
          <p:cNvSpPr/>
          <p:nvPr/>
        </p:nvSpPr>
        <p:spPr>
          <a:xfrm>
            <a:off x="374904" y="5128331"/>
            <a:ext cx="11441887" cy="110787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Отбор в программу повышенного внимания.</a:t>
            </a:r>
            <a:r>
              <a:rPr sz="1050" b="0" i="0">
                <a:solidFill>
                  <a:srgbClr val="21295C"/>
                </a:solidFill>
                <a:latin typeface="Arial"/>
              </a:rPr>
              <a:t> Кого позвать на усиленное наблюдение, решал врач — стало решать одно число. </a:t>
            </a:r>
            <a:r>
              <a:rPr sz="1050" b="1" i="0">
                <a:solidFill>
                  <a:srgbClr val="21295C"/>
                </a:solidFill>
                <a:latin typeface="Arial"/>
              </a:rPr>
              <a:t>Обучено оно предсказывать будущие расходы на лечение</a:t>
            </a:r>
            <a:r>
              <a:rPr sz="1050" b="0" i="0">
                <a:solidFill>
                  <a:srgbClr val="21295C"/>
                </a:solidFill>
                <a:latin typeface="Arial"/>
              </a:rPr>
              <a:t>, а решение принималось о болезни: расходы отражают обращаемость, а она при одинаковом здоровье у групп разная.</a:t>
            </a:r>
          </a:p>
        </p:txBody>
      </p:sp>
      <p:sp>
        <p:nvSpPr>
          <p:cNvPr id="40" name="TextBox 39"/>
          <p:cNvSpPr txBox="1"/>
          <p:nvPr/>
        </p:nvSpPr>
        <p:spPr>
          <a:xfrm>
            <a:off x="6278727" y="5219771"/>
            <a:ext cx="5373471" cy="1016436"/>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Устроено.</a:t>
            </a:r>
            <a:r>
              <a:rPr sz="1050" b="0" i="0">
                <a:solidFill>
                  <a:srgbClr val="21295C"/>
                </a:solidFill>
                <a:latin typeface="Arial"/>
              </a:rPr>
              <a:t> Имени алгоритму публикация не даёт. </a:t>
            </a:r>
            <a:r>
              <a:rPr sz="1050" b="0" i="1">
                <a:solidFill>
                  <a:srgbClr val="21295C"/>
                </a:solidFill>
                <a:latin typeface="Arial"/>
              </a:rPr>
              <a:t>Прогноз на структурированных данных.</a:t>
            </a:r>
          </a:p>
          <a:p>
            <a:pPr algn="l">
              <a:lnSpc>
                <a:spcPct val="126000"/>
              </a:lnSpc>
              <a:spcBef>
                <a:spcPts val="700"/>
              </a:spcBef>
            </a:pPr>
            <a:r>
              <a:rPr sz="1050" b="0" i="0">
                <a:solidFill>
                  <a:srgbClr val="21295C"/>
                </a:solidFill>
                <a:latin typeface="Arial"/>
              </a:rPr>
              <a:t/>
            </a:r>
            <a:r>
              <a:rPr sz="1050" b="1" i="0">
                <a:solidFill>
                  <a:srgbClr val="21295C"/>
                </a:solidFill>
                <a:latin typeface="Arial"/>
              </a:rPr>
              <a:t>Переехала цена ошибки</a:t>
            </a:r>
            <a:r>
              <a:rPr sz="1050" b="0" i="0">
                <a:solidFill>
                  <a:srgbClr val="21295C"/>
                </a:solidFill>
                <a:latin typeface="Arial"/>
              </a:rPr>
              <a:t> — на группу, где при равном балле болезней больше. </a:t>
            </a:r>
            <a:r>
              <a:rPr sz="1050" b="1" i="0">
                <a:solidFill>
                  <a:srgbClr val="21295C"/>
                </a:solidFill>
                <a:latin typeface="Arial"/>
              </a:rPr>
              <a:t>Эффекта на деньги и здоровье работа не измеряла.</a:t>
            </a:r>
          </a:p>
        </p:txBody>
      </p:sp>
      <p:sp>
        <p:nvSpPr>
          <p:cNvPr id="41" name="Rectangle 40"/>
          <p:cNvSpPr/>
          <p:nvPr/>
        </p:nvSpPr>
        <p:spPr>
          <a:xfrm>
            <a:off x="6091275" y="5219771"/>
            <a:ext cx="9144" cy="920671"/>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чтение провалилось один раз из пяти</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ПРОВАЛИЛИСЬ МЕСТО, НАБОР И ЦЕЛЬ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ЧТЕНИЕ ПРОВАЛИЛОСЬ КАК ЧТЕНИЕ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 из 5</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кровоизлияние: 293 ложные тревоги против 4 на 3 409 томограммах</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АВТОНОМИЮ ДАЛИ И ЗАПРЕТИЛИ В ОДНОМ ГОРОДЕ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решила цена тревоги</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профилактика — уточняющее исследование · экстренный путь — бригада</a:t>
            </a:r>
          </a:p>
        </p:txBody>
      </p:sp>
      <p:sp>
        <p:nvSpPr>
          <p:cNvPr id="16" name="Rounded Rectangle 15"/>
          <p:cNvSpPr/>
          <p:nvPr/>
        </p:nvSpPr>
        <p:spPr>
          <a:xfrm>
            <a:off x="502920" y="31023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2578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8" name="TextBox 17"/>
          <p:cNvSpPr txBox="1"/>
          <p:nvPr/>
        </p:nvSpPr>
        <p:spPr>
          <a:xfrm>
            <a:off x="667512"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постоянство: десятитысячный снимок как первый</a:t>
            </a:r>
          </a:p>
          <a:p>
            <a:pPr algn="l">
              <a:lnSpc>
                <a:spcPct val="126000"/>
              </a:lnSpc>
            </a:pPr>
            <a:r>
              <a:rPr sz="1250" b="0" i="0">
                <a:solidFill>
                  <a:srgbClr val="21295C"/>
                </a:solidFill>
                <a:latin typeface="Arial"/>
              </a:rPr>
              <a:t>• поток: «норма» не занимает специалиста</a:t>
            </a:r>
          </a:p>
          <a:p>
            <a:pPr algn="l">
              <a:lnSpc>
                <a:spcPct val="126000"/>
              </a:lnSpc>
            </a:pPr>
            <a:r>
              <a:rPr sz="1250" b="0" i="0">
                <a:solidFill>
                  <a:srgbClr val="21295C"/>
                </a:solidFill>
                <a:latin typeface="Arial"/>
              </a:rPr>
              <a:t>• воспроизводимость: расхождение можно разобрать</a:t>
            </a:r>
          </a:p>
        </p:txBody>
      </p:sp>
      <p:sp>
        <p:nvSpPr>
          <p:cNvPr id="19" name="Rounded Rectangle 18"/>
          <p:cNvSpPr/>
          <p:nvPr/>
        </p:nvSpPr>
        <p:spPr>
          <a:xfrm>
            <a:off x="6251295" y="31023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2578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21" name="TextBox 20"/>
          <p:cNvSpPr txBox="1"/>
          <p:nvPr/>
        </p:nvSpPr>
        <p:spPr>
          <a:xfrm>
            <a:off x="6415887" y="3613999"/>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назначить рабочую точку: за порогом цена обеих ошибок</a:t>
            </a:r>
          </a:p>
          <a:p>
            <a:pPr algn="l">
              <a:lnSpc>
                <a:spcPct val="126000"/>
              </a:lnSpc>
            </a:pPr>
            <a:r>
              <a:rPr sz="1250" b="0" i="0">
                <a:solidFill>
                  <a:srgbClr val="21295C"/>
                </a:solidFill>
                <a:latin typeface="Arial"/>
              </a:rPr>
              <a:t>• переснять: годность измерения осталась человеку</a:t>
            </a:r>
          </a:p>
          <a:p>
            <a:pPr algn="l">
              <a:lnSpc>
                <a:spcPct val="126000"/>
              </a:lnSpc>
            </a:pPr>
            <a:r>
              <a:rPr sz="1250" b="0" i="0">
                <a:solidFill>
                  <a:srgbClr val="21295C"/>
                </a:solidFill>
                <a:latin typeface="Arial"/>
              </a:rPr>
              <a:t>• увидеть, что смещён сам вход: этого не умеет ни одна процедура</a:t>
            </a:r>
          </a:p>
        </p:txBody>
      </p:sp>
      <p:sp>
        <p:nvSpPr>
          <p:cNvPr id="22" name="Rounded Rectangle 21"/>
          <p:cNvSpPr/>
          <p:nvPr/>
        </p:nvSpPr>
        <p:spPr>
          <a:xfrm>
            <a:off x="374904" y="4611132"/>
            <a:ext cx="11441887" cy="1625075"/>
          </a:xfrm>
          <a:prstGeom prst="roundRect">
            <a:avLst>
              <a:gd name="adj" fmla="val 18756"/>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702572"/>
            <a:ext cx="11112703" cy="1533635"/>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Ошибиться можно в трёх местах, не ошибившись в модели:</a:t>
            </a:r>
            <a:r>
              <a:rPr sz="1050" b="0" i="0">
                <a:solidFill>
                  <a:srgbClr val="21295C"/>
                </a:solidFill>
                <a:latin typeface="Arial"/>
              </a:rPr>
              <a:t> вход измеряет прибор, набор собирает человек, цель задаёт переменная. Так провалились три из пяти; в четвёртом месте, самом чтении, провалился пятый.</a:t>
            </a:r>
          </a:p>
          <a:p>
            <a:pPr algn="l">
              <a:lnSpc>
                <a:spcPct val="126000"/>
              </a:lnSpc>
              <a:spcBef>
                <a:spcPts val="700"/>
              </a:spcBef>
            </a:pPr>
            <a:r>
              <a:rPr sz="1050" b="0" i="0">
                <a:solidFill>
                  <a:srgbClr val="21295C"/>
                </a:solidFill>
                <a:latin typeface="Arial"/>
              </a:rPr>
              <a:t/>
            </a:r>
            <a:r>
              <a:rPr sz="1050" b="1" i="0">
                <a:solidFill>
                  <a:srgbClr val="21295C"/>
                </a:solidFill>
                <a:latin typeface="Arial"/>
              </a:rPr>
              <a:t>Автономию решает цена ложной тревоги, не качество модели.</a:t>
            </a:r>
          </a:p>
          <a:p>
            <a:pPr algn="l">
              <a:lnSpc>
                <a:spcPct val="126000"/>
              </a:lnSpc>
              <a:spcBef>
                <a:spcPts val="700"/>
              </a:spcBef>
            </a:pPr>
            <a:r>
              <a:rPr sz="1050" b="0" i="0">
                <a:solidFill>
                  <a:srgbClr val="21295C"/>
                </a:solidFill>
                <a:latin typeface="Arial"/>
              </a:rPr>
              <a:t/>
            </a:r>
            <a:r>
              <a:rPr sz="1050" b="1" i="0">
                <a:solidFill>
                  <a:srgbClr val="21295C"/>
                </a:solidFill>
                <a:latin typeface="Arial"/>
              </a:rPr>
              <a:t>Где модель стоит.</a:t>
            </a:r>
            <a:r>
              <a:rPr sz="1050" b="0" i="0">
                <a:solidFill>
                  <a:srgbClr val="21295C"/>
                </a:solidFill>
                <a:latin typeface="Arial"/>
              </a:rPr>
              <a:t> </a:t>
            </a:r>
            <a:r>
              <a:rPr sz="1050" b="0" i="1">
                <a:solidFill>
                  <a:srgbClr val="21295C"/>
                </a:solidFill>
                <a:latin typeface="Arial"/>
              </a:rPr>
              <a:t>Классификация на изображении</a:t>
            </a:r>
            <a:r>
              <a:rPr sz="1050" b="0" i="0">
                <a:solidFill>
                  <a:srgbClr val="21295C"/>
                </a:solidFill>
                <a:latin typeface="Arial"/>
              </a:rPr>
              <a:t> — глазное дно, кожное образование. </a:t>
            </a:r>
            <a:r>
              <a:rPr sz="1050" b="0" i="1">
                <a:solidFill>
                  <a:srgbClr val="21295C"/>
                </a:solidFill>
                <a:latin typeface="Arial"/>
              </a:rPr>
              <a:t>Распознавание на изображении</a:t>
            </a:r>
            <a:r>
              <a:rPr sz="1050" b="0" i="0">
                <a:solidFill>
                  <a:srgbClr val="21295C"/>
                </a:solidFill>
                <a:latin typeface="Arial"/>
              </a:rPr>
              <a:t> — сортировка потока на рентгене и томографии. </a:t>
            </a:r>
            <a:r>
              <a:rPr sz="1050" b="0" i="1">
                <a:solidFill>
                  <a:srgbClr val="21295C"/>
                </a:solidFill>
                <a:latin typeface="Arial"/>
              </a:rPr>
              <a:t>Прогноз на структурированных данных</a:t>
            </a:r>
            <a:r>
              <a:rPr sz="1050" b="0" i="0">
                <a:solidFill>
                  <a:srgbClr val="21295C"/>
                </a:solidFill>
                <a:latin typeface="Arial"/>
              </a:rPr>
              <a:t> — счёт риска в карте. </a:t>
            </a:r>
            <a:r>
              <a:rPr sz="1050" b="0" i="1">
                <a:solidFill>
                  <a:srgbClr val="21295C"/>
                </a:solidFill>
                <a:latin typeface="Arial"/>
              </a:rPr>
              <a:t>Измерение · сигнал прибора</a:t>
            </a:r>
            <a:r>
              <a:rPr sz="1050" b="0" i="0">
                <a:solidFill>
                  <a:srgbClr val="21295C"/>
                </a:solidFill>
                <a:latin typeface="Arial"/>
              </a:rPr>
              <a:t> — </a:t>
            </a:r>
            <a:r>
              <a:rPr sz="1050" b="1" i="0">
                <a:solidFill>
                  <a:srgbClr val="21295C"/>
                </a:solidFill>
                <a:latin typeface="Arial"/>
              </a:rPr>
              <a:t>модели нет, а смещение есть.</a:t>
            </a:r>
          </a:p>
          <a:p>
            <a:pPr algn="l">
              <a:lnSpc>
                <a:spcPct val="126000"/>
              </a:lnSpc>
              <a:spcBef>
                <a:spcPts val="700"/>
              </a:spcBef>
            </a:pPr>
            <a:r>
              <a:rPr sz="1050" b="0" i="0">
                <a:solidFill>
                  <a:srgbClr val="21295C"/>
                </a:solidFill>
                <a:latin typeface="Arial"/>
              </a:rPr>
              <a:t/>
            </a:r>
            <a:r>
              <a:rPr sz="1050" b="1" i="0">
                <a:solidFill>
                  <a:srgbClr val="21295C"/>
                </a:solidFill>
                <a:latin typeface="Arial"/>
              </a:rPr>
              <a:t>Из шести искажений входа раздел не встретил ни одного: поток читает модель одна.</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Пять вопросов, которые задают до вопроса о точности</a:t>
            </a:r>
          </a:p>
        </p:txBody>
      </p:sp>
      <p:sp>
        <p:nvSpPr>
          <p:cNvPr id="4" name="Rounded Rectangle 3"/>
          <p:cNvSpPr/>
          <p:nvPr/>
        </p:nvSpPr>
        <p:spPr>
          <a:xfrm>
            <a:off x="502920"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ВОПРОСОВ ДО ВОПРОСА О ТОЧНОСТИ</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пять</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каждый оплачен разобранным случаем</a:t>
            </a:r>
          </a:p>
        </p:txBody>
      </p:sp>
      <p:sp>
        <p:nvSpPr>
          <p:cNvPr id="8" name="Rounded Rectangle 7"/>
          <p:cNvSpPr/>
          <p:nvPr/>
        </p:nvSpPr>
        <p:spPr>
          <a:xfrm>
            <a:off x="4286402" y="1335024"/>
            <a:ext cx="3618890"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СОРВАЛИ ВНЕДРЕНИЕ</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 из 5</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Таиланд · кожа · отбор в программу</a:t>
            </a:r>
          </a:p>
        </p:txBody>
      </p:sp>
      <p:sp>
        <p:nvSpPr>
          <p:cNvPr id="12" name="Rounded Rectangle 11"/>
          <p:cNvSpPr/>
          <p:nvPr/>
        </p:nvSpPr>
        <p:spPr>
          <a:xfrm>
            <a:off x="8069884" y="1335024"/>
            <a:ext cx="3618890"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ЧЕТВЁРТЫЙ СОРВАЛ ИЗМЕРЕНИЕ, ПЯТЫЙ РЕШИЛ ВОПРОС ОБ АВТОНОМИИ</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прибор · цена тревоги</a:t>
            </a:r>
          </a:p>
        </p:txBody>
      </p:sp>
      <p:sp>
        <p:nvSpPr>
          <p:cNvPr id="15" name="TextBox 14"/>
          <p:cNvSpPr txBox="1"/>
          <p:nvPr/>
        </p:nvSpPr>
        <p:spPr>
          <a:xfrm>
            <a:off x="8207044"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тревоги развела два московских случая</a:t>
            </a:r>
          </a:p>
        </p:txBody>
      </p:sp>
      <p:sp>
        <p:nvSpPr>
          <p:cNvPr id="16" name="Rounded Rectangle 15"/>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«Какая у неё точность» — вопрос шестой. Пять идут раньше.</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На какой группе посчитаны доли?</a:t>
            </a:r>
            <a:r>
              <a:rPr sz="1350" b="0" i="0">
                <a:solidFill>
                  <a:srgbClr val="21295C"/>
                </a:solidFill>
                <a:latin typeface="Arial"/>
              </a:rPr>
              <a:t> Набор собрали из снимков, прошедших отбор по качеству; в поле отбор делает человек без правила — </a:t>
            </a:r>
            <a:r>
              <a:rPr sz="1350" b="0" i="1">
                <a:solidFill>
                  <a:srgbClr val="21295C"/>
                </a:solidFill>
                <a:latin typeface="Arial"/>
              </a:rPr>
              <a:t>Таиланд</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Чем измерен вход?</a:t>
            </a:r>
            <a:r>
              <a:rPr sz="1350" b="0" i="0">
                <a:solidFill>
                  <a:srgbClr val="21295C"/>
                </a:solidFill>
                <a:latin typeface="Arial"/>
              </a:rPr>
              <a:t> Прибор показал норму, а анализ — кислородное голодание: </a:t>
            </a:r>
            <a:r>
              <a:rPr sz="1350" b="1" i="0">
                <a:solidFill>
                  <a:srgbClr val="21295C"/>
                </a:solidFill>
                <a:latin typeface="Arial"/>
              </a:rPr>
              <a:t>12 раз из ста против 4</a:t>
            </a:r>
            <a:r>
              <a:rPr sz="1350" b="0" i="0">
                <a:solidFill>
                  <a:srgbClr val="21295C"/>
                </a:solidFill>
                <a:latin typeface="Arial"/>
              </a:rPr>
              <a:t>. Обученной модели в приборе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Из чего собран обучающий набор?</a:t>
            </a:r>
            <a:r>
              <a:rPr sz="1350" b="0" i="0">
                <a:solidFill>
                  <a:srgbClr val="21295C"/>
                </a:solidFill>
                <a:latin typeface="Arial"/>
              </a:rPr>
              <a:t> Тёмных тонов в наборах было мало: на тёмной коже модель различает больного и здорового </a:t>
            </a:r>
            <a:r>
              <a:rPr sz="1350" b="1" i="0">
                <a:solidFill>
                  <a:srgbClr val="21295C"/>
                </a:solidFill>
                <a:latin typeface="Arial"/>
              </a:rPr>
              <a:t>на 9–15 из 100 хуже</a:t>
            </a:r>
            <a:r>
              <a:rPr sz="1350" b="0" i="0">
                <a:solidFill>
                  <a:srgbClr val="21295C"/>
                </a:solidFill>
                <a:latin typeface="Arial"/>
              </a:rPr>
              <a:t> (100 — без промаха, 50 — монетка) — </a:t>
            </a:r>
            <a:r>
              <a:rPr sz="1350" b="0" i="1">
                <a:solidFill>
                  <a:srgbClr val="21295C"/>
                </a:solidFill>
                <a:latin typeface="Arial"/>
              </a:rPr>
              <a:t>кожа</a:t>
            </a:r>
            <a:r>
              <a:rPr sz="1350" b="0" i="0">
                <a:solidFill>
                  <a:srgbClr val="21295C"/>
                </a:solidFill>
                <a:latin typeface="Arial"/>
              </a:rPr>
              <a:t>.</a:t>
            </a:r>
          </a:p>
        </p:txBody>
      </p:sp>
      <p:sp>
        <p:nvSpPr>
          <p:cNvPr id="18" name="TextBox 17"/>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a:t>
            </a:r>
            <a:r>
              <a:rPr sz="1350" b="1" i="0">
                <a:solidFill>
                  <a:srgbClr val="21295C"/>
                </a:solidFill>
                <a:latin typeface="Arial"/>
              </a:rPr>
              <a:t>Что система считает своей целью?</a:t>
            </a:r>
            <a:r>
              <a:rPr sz="1350" b="0" i="0">
                <a:solidFill>
                  <a:srgbClr val="21295C"/>
                </a:solidFill>
                <a:latin typeface="Arial"/>
              </a:rPr>
              <a:t> Обучена на будущих расходах, решение принималось о болезни — </a:t>
            </a:r>
            <a:r>
              <a:rPr sz="1350" b="0" i="1">
                <a:solidFill>
                  <a:srgbClr val="21295C"/>
                </a:solidFill>
                <a:latin typeface="Arial"/>
              </a:rPr>
              <a:t>отбор в программу</a:t>
            </a:r>
            <a:r>
              <a:rPr sz="1350" b="0" i="0">
                <a:solidFill>
                  <a:srgbClr val="21295C"/>
                </a:solidFill>
                <a:latin typeface="Arial"/>
              </a:rPr>
              <a:t>.</a:t>
            </a:r>
          </a:p>
          <a:p>
            <a:pPr algn="l">
              <a:lnSpc>
                <a:spcPct val="126000"/>
              </a:lnSpc>
              <a:spcBef>
                <a:spcPts val="700"/>
              </a:spcBef>
            </a:pPr>
            <a:r>
              <a:rPr sz="1350" b="0" i="0">
                <a:solidFill>
                  <a:srgbClr val="21295C"/>
                </a:solidFill>
                <a:latin typeface="Arial"/>
              </a:rPr>
              <a:t/>
            </a:r>
            <a:r>
              <a:rPr sz="1350" b="0" i="0">
                <a:solidFill>
                  <a:srgbClr val="21295C"/>
                </a:solidFill>
                <a:latin typeface="Arial"/>
              </a:rPr>
              <a:t>• </a:t>
            </a:r>
            <a:r>
              <a:rPr sz="1350" b="1" i="0">
                <a:solidFill>
                  <a:srgbClr val="21295C"/>
                </a:solidFill>
                <a:latin typeface="Arial"/>
              </a:rPr>
              <a:t>Во что обходится ложная тревога и есть ли время её проверить?</a:t>
            </a:r>
            <a:r>
              <a:rPr sz="1350" b="0" i="0">
                <a:solidFill>
                  <a:srgbClr val="21295C"/>
                </a:solidFill>
                <a:latin typeface="Arial"/>
              </a:rPr>
              <a:t> Один город: на профилактике автономию </a:t>
            </a:r>
            <a:r>
              <a:rPr sz="1350" b="1" i="0">
                <a:solidFill>
                  <a:srgbClr val="21295C"/>
                </a:solidFill>
                <a:latin typeface="Arial"/>
              </a:rPr>
              <a:t>дали</a:t>
            </a:r>
            <a:r>
              <a:rPr sz="1350" b="0" i="0">
                <a:solidFill>
                  <a:srgbClr val="21295C"/>
                </a:solidFill>
                <a:latin typeface="Arial"/>
              </a:rPr>
              <a:t>, на экстренных томограммах </a:t>
            </a:r>
            <a:r>
              <a:rPr sz="1350" b="1" i="0">
                <a:solidFill>
                  <a:srgbClr val="21295C"/>
                </a:solidFill>
                <a:latin typeface="Arial"/>
              </a:rPr>
              <a:t>запретили</a:t>
            </a:r>
            <a:r>
              <a:rPr sz="1350" b="0" i="0">
                <a:solidFill>
                  <a:srgbClr val="21295C"/>
                </a:solidFill>
                <a:latin typeface="Arial"/>
              </a:rPr>
              <a:t> — </a:t>
            </a:r>
            <a:r>
              <a:rPr sz="1350" b="1" i="0">
                <a:solidFill>
                  <a:srgbClr val="21295C"/>
                </a:solidFill>
                <a:latin typeface="Arial"/>
              </a:rPr>
              <a:t>293 ложные тревоги против 4</a:t>
            </a:r>
            <a:r>
              <a:rPr sz="1350" b="0" i="0">
                <a:solidFill>
                  <a:srgbClr val="21295C"/>
                </a:solidFill>
                <a:latin typeface="Arial"/>
              </a:rPr>
              <a:t> у врача.</a:t>
            </a:r>
          </a:p>
          <a:p>
            <a:pPr algn="l">
              <a:lnSpc>
                <a:spcPct val="126000"/>
              </a:lnSpc>
              <a:spcBef>
                <a:spcPts val="700"/>
              </a:spcBef>
            </a:pPr>
            <a:r>
              <a:rPr sz="1350" b="0" i="0">
                <a:solidFill>
                  <a:srgbClr val="21295C"/>
                </a:solidFill>
                <a:latin typeface="Arial"/>
              </a:rPr>
              <a:t/>
            </a:r>
            <a:r>
              <a:rPr sz="1350" b="1" i="0">
                <a:solidFill>
                  <a:srgbClr val="21295C"/>
                </a:solidFill>
                <a:latin typeface="Arial"/>
              </a:rPr>
              <a:t>Три сорвали по внедрению. Четвёртый — само измерение. Пятый решает, можно ли убрать человека.</a:t>
            </a:r>
          </a:p>
        </p:txBody>
      </p:sp>
      <p:sp>
        <p:nvSpPr>
          <p:cNvPr id="19" name="Rectangle 18"/>
          <p:cNvSpPr/>
          <p:nvPr/>
        </p:nvSpPr>
        <p:spPr>
          <a:xfrm>
            <a:off x="6091275" y="2891129"/>
            <a:ext cx="9144" cy="3207605"/>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Постановка диагноза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Там стадия производила величины — здесь по ним выносят заключение, и подпись ставит человек.</a:t>
            </a:r>
            <a:r>
              <a:rPr sz="1550" b="0" i="0">
                <a:solidFill>
                  <a:srgbClr val="21295C"/>
                </a:solidFill>
                <a:latin typeface="Arial"/>
              </a:rPr>
              <a:t> Читает он теперь не только снимок, но и подсказку рядом: от порядка их предъявления зависит результат.</a:t>
            </a:r>
          </a:p>
        </p:txBody>
      </p:sp>
      <p:sp>
        <p:nvSpPr>
          <p:cNvPr id="9" name="TextBox 8"/>
          <p:cNvSpPr txBox="1"/>
          <p:nvPr/>
        </p:nvSpPr>
        <p:spPr>
          <a:xfrm>
            <a:off x="704088" y="3217513"/>
            <a:ext cx="6473952" cy="2453301"/>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замер взгляда — при ложной и при верной подсказке</a:t>
            </a:r>
            <a:r>
              <a:rPr sz="1550" b="0" i="0">
                <a:solidFill>
                  <a:srgbClr val="21295C"/>
                </a:solidFill>
                <a:latin typeface="Arial"/>
              </a:rPr>
              <a:t> · </a:t>
            </a:r>
            <a:r>
              <a:rPr sz="1550" b="1" i="0">
                <a:solidFill>
                  <a:srgbClr val="21295C"/>
                </a:solidFill>
                <a:latin typeface="Arial"/>
              </a:rPr>
              <a:t>Пример 2: патологи читают срезы — с подсказкой и без</a:t>
            </a:r>
            <a:r>
              <a:rPr sz="1550" b="0" i="0">
                <a:solidFill>
                  <a:srgbClr val="21295C"/>
                </a:solidFill>
                <a:latin typeface="Arial"/>
              </a:rPr>
              <a:t> · </a:t>
            </a:r>
            <a:r>
              <a:rPr sz="1550" b="1" i="0">
                <a:solidFill>
                  <a:srgbClr val="21295C"/>
                </a:solidFill>
                <a:latin typeface="Arial"/>
              </a:rPr>
              <a:t>Пример 3: шведское испытание — второе человеческое чтение заменено моделью</a:t>
            </a:r>
            <a:r>
              <a:rPr sz="1550" b="0" i="0">
                <a:solidFill>
                  <a:srgbClr val="21295C"/>
                </a:solidFill>
                <a:latin typeface="Arial"/>
              </a:rPr>
              <a:t> · </a:t>
            </a:r>
            <a:r>
              <a:rPr sz="1550" b="1" i="0">
                <a:solidFill>
                  <a:srgbClr val="21295C"/>
                </a:solidFill>
                <a:latin typeface="Arial"/>
              </a:rPr>
              <a:t>Пример 4: хирурги оценивают риск — сами и после знакомства с моделью</a:t>
            </a:r>
            <a:r>
              <a:rPr sz="1550" b="0" i="0">
                <a:solidFill>
                  <a:srgbClr val="21295C"/>
                </a:solidFill>
                <a:latin typeface="Arial"/>
              </a:rPr>
              <a:t> · и, уже из непрерывного наблюдения, </a:t>
            </a:r>
            <a:r>
              <a:rPr sz="1550" b="1" i="0">
                <a:solidFill>
                  <a:srgbClr val="21295C"/>
                </a:solidFill>
                <a:latin typeface="Arial"/>
              </a:rPr>
              <a:t>Пример 5: модель раннего предупреждения о сепсисе</a:t>
            </a:r>
            <a:r>
              <a:rPr sz="1550" b="0" i="0">
                <a:solidFill>
                  <a:srgbClr val="21295C"/>
                </a:solidFill>
                <a:latin typeface="Arial"/>
              </a:rPr>
              <a:t> · </a:t>
            </a:r>
            <a:r>
              <a:rPr sz="1550" b="1" i="0">
                <a:solidFill>
                  <a:srgbClr val="21295C"/>
                </a:solidFill>
                <a:latin typeface="Arial"/>
              </a:rPr>
              <a:t>Пример 6: Москва, Россия — модель предлагает заключительный диагноз по медкарте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Замер взгляда, патологи, хирурги — и шведское испытание, где человек остаётся первым читателем, а модель вторым: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Отметка со снимком</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с отметкой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21" name="TextBox 20"/>
          <p:cNvSpPr txBox="1"/>
          <p:nvPr/>
        </p:nvSpPr>
        <p:spPr>
          <a:xfrm>
            <a:off x="502920" y="376064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Разметка по запросу</a:t>
            </a:r>
          </a:p>
        </p:txBody>
      </p:sp>
      <p:sp>
        <p:nvSpPr>
          <p:cNvPr id="22" name="Rounded Rectangle 21"/>
          <p:cNvSpPr/>
          <p:nvPr/>
        </p:nvSpPr>
        <p:spPr>
          <a:xfrm>
            <a:off x="1920240"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a:t>
            </a:r>
          </a:p>
        </p:txBody>
      </p:sp>
      <p:sp>
        <p:nvSpPr>
          <p:cNvPr id="24" name="Right Arrow 23"/>
          <p:cNvSpPr/>
          <p:nvPr/>
        </p:nvSpPr>
        <p:spPr>
          <a:xfrm>
            <a:off x="4202353" y="3893186"/>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430953"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513249"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a:t>
            </a:r>
          </a:p>
        </p:txBody>
      </p:sp>
      <p:sp>
        <p:nvSpPr>
          <p:cNvPr id="27" name="Right Arrow 26"/>
          <p:cNvSpPr/>
          <p:nvPr/>
        </p:nvSpPr>
        <p:spPr>
          <a:xfrm>
            <a:off x="6713067" y="389318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запрос разметки</a:t>
            </a:r>
          </a:p>
        </p:txBody>
      </p:sp>
      <p:sp>
        <p:nvSpPr>
          <p:cNvPr id="30" name="Right Arrow 29"/>
          <p:cNvSpPr/>
          <p:nvPr/>
        </p:nvSpPr>
        <p:spPr>
          <a:xfrm>
            <a:off x="9223781" y="389318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9452381" y="372406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534677" y="376978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a:t>
            </a:r>
          </a:p>
        </p:txBody>
      </p:sp>
      <p:sp>
        <p:nvSpPr>
          <p:cNvPr id="33" name="TextBox 32"/>
          <p:cNvSpPr txBox="1"/>
          <p:nvPr/>
        </p:nvSpPr>
        <p:spPr>
          <a:xfrm>
            <a:off x="502920" y="423603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Разошлись опыты порядком предъявления подсказки</a:t>
            </a:r>
          </a:p>
        </p:txBody>
      </p:sp>
      <p:sp>
        <p:nvSpPr>
          <p:cNvPr id="34" name="Rounded Rectangle 33"/>
          <p:cNvSpPr/>
          <p:nvPr/>
        </p:nvSpPr>
        <p:spPr>
          <a:xfrm>
            <a:off x="374904" y="4538721"/>
            <a:ext cx="11441887" cy="1697486"/>
          </a:xfrm>
          <a:prstGeom prst="roundRect">
            <a:avLst>
              <a:gd name="adj" fmla="val 17955"/>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4630161"/>
            <a:ext cx="11112703" cy="160604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Два замера одной величины.</a:t>
            </a:r>
            <a:r>
              <a:rPr sz="1100" b="0" i="0">
                <a:solidFill>
                  <a:srgbClr val="21295C"/>
                </a:solidFill>
                <a:latin typeface="Arial"/>
              </a:rPr>
              <a:t> 10 радиологов прочли 60 маммограмм дважды: сами и с подсказкой, нарочно ошибавшейся в обе стороны. 12 радиологов другой программы: 150 исследований тоже дважды, с допущенной системой.</a:t>
            </a:r>
          </a:p>
          <a:p>
            <a:pPr algn="l">
              <a:lnSpc>
                <a:spcPct val="126000"/>
              </a:lnSpc>
              <a:spcBef>
                <a:spcPts val="700"/>
              </a:spcBef>
            </a:pPr>
            <a:r>
              <a:rPr sz="1100" b="0" i="0">
                <a:solidFill>
                  <a:srgbClr val="21295C"/>
                </a:solidFill>
                <a:latin typeface="Arial"/>
              </a:rPr>
              <a:t/>
            </a:r>
            <a:r>
              <a:rPr sz="1100" b="1" i="0">
                <a:solidFill>
                  <a:srgbClr val="21295C"/>
                </a:solidFill>
                <a:latin typeface="Arial"/>
              </a:rPr>
              <a:t>Другой порядок предъявления — обратный знак.</a:t>
            </a:r>
          </a:p>
          <a:p>
            <a:pPr algn="l">
              <a:lnSpc>
                <a:spcPct val="126000"/>
              </a:lnSpc>
              <a:spcBef>
                <a:spcPts val="700"/>
              </a:spcBef>
            </a:pPr>
            <a:r>
              <a:rPr sz="1100" b="0" i="0">
                <a:solidFill>
                  <a:srgbClr val="21295C"/>
                </a:solidFill>
                <a:latin typeface="Arial"/>
              </a:rPr>
              <a:t/>
            </a:r>
            <a:r>
              <a:rPr sz="1100" b="1" i="0">
                <a:solidFill>
                  <a:srgbClr val="21295C"/>
                </a:solidFill>
                <a:latin typeface="Arial"/>
              </a:rPr>
              <a:t>Устроено.</a:t>
            </a:r>
            <a:r>
              <a:rPr sz="1100" b="0" i="0">
                <a:solidFill>
                  <a:srgbClr val="21295C"/>
                </a:solidFill>
                <a:latin typeface="Arial"/>
              </a:rPr>
              <a:t> Вход — маммограмма, выход — оценка подозрительности области. Изделие называет вторая работа: </a:t>
            </a:r>
            <a:r>
              <a:rPr sz="1100" b="1" i="0">
                <a:solidFill>
                  <a:srgbClr val="21295C"/>
                </a:solidFill>
                <a:latin typeface="Arial"/>
              </a:rPr>
              <a:t>Transpara 2.1.0, ScreenPoint Medical.</a:t>
            </a:r>
            <a:r>
              <a:rPr sz="1100" b="0" i="0">
                <a:solidFill>
                  <a:srgbClr val="21295C"/>
                </a:solidFill>
                <a:latin typeface="Arial"/>
              </a:rPr>
              <a:t> </a:t>
            </a:r>
            <a:r>
              <a:rPr sz="1100" b="1" i="0">
                <a:solidFill>
                  <a:srgbClr val="21295C"/>
                </a:solidFill>
                <a:latin typeface="Arial"/>
              </a:rPr>
              <a:t>Фокусировка:</a:t>
            </a:r>
            <a:r>
              <a:rPr sz="1100" b="0" i="0">
                <a:solidFill>
                  <a:srgbClr val="21295C"/>
                </a:solidFill>
                <a:latin typeface="Arial"/>
              </a:rPr>
              <a:t> осмотрено 11,1 → 9,5 из ста площади снимка, в нужном месте дольше — 4,4 → 5,4 секунды.</a:t>
            </a:r>
          </a:p>
          <a:p>
            <a:pPr algn="l">
              <a:lnSpc>
                <a:spcPct val="126000"/>
              </a:lnSpc>
              <a:spcBef>
                <a:spcPts val="700"/>
              </a:spcBef>
            </a:pPr>
            <a:r>
              <a:rPr sz="1100" b="0" i="0">
                <a:solidFill>
                  <a:srgbClr val="21295C"/>
                </a:solidFill>
                <a:latin typeface="Arial"/>
              </a:rPr>
              <a:t/>
            </a:r>
            <a:r>
              <a:rPr sz="1100" b="1" i="0">
                <a:solidFill>
                  <a:srgbClr val="21295C"/>
                </a:solidFill>
                <a:latin typeface="Arial"/>
              </a:rPr>
              <a:t>Это сужение — второе из шести искажений с входа вечера:</a:t>
            </a:r>
            <a:r>
              <a:rPr sz="1100" b="0" i="0">
                <a:solidFill>
                  <a:srgbClr val="21295C"/>
                </a:solidFill>
                <a:latin typeface="Arial"/>
              </a:rPr>
              <a:t> где модель молчит, взгляд не задерживается, и пропуск модели становится пропуском читателя.</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на группе НЕ устойчива — отношение шансов 1,281.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устойчивых в обе стороны,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TextBox 14"/>
          <p:cNvSpPr txBox="1"/>
          <p:nvPr/>
        </p:nvSpPr>
        <p:spPr>
          <a:xfrm>
            <a:off x="502920" y="37726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6" name="Rounded Rectangle 15"/>
          <p:cNvSpPr/>
          <p:nvPr/>
        </p:nvSpPr>
        <p:spPr>
          <a:xfrm>
            <a:off x="1920240"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18" name="Right Arrow 17"/>
          <p:cNvSpPr/>
          <p:nvPr/>
        </p:nvSpPr>
        <p:spPr>
          <a:xfrm>
            <a:off x="5039258" y="390521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21" name="Right Arrow 20"/>
          <p:cNvSpPr/>
          <p:nvPr/>
        </p:nvSpPr>
        <p:spPr>
          <a:xfrm>
            <a:off x="8386876" y="39052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736103"/>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697772" y="3781823"/>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439437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5" name="Rounded Rectangle 24"/>
          <p:cNvSpPr/>
          <p:nvPr/>
        </p:nvSpPr>
        <p:spPr>
          <a:xfrm>
            <a:off x="1920240"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срез на экране</a:t>
            </a:r>
          </a:p>
        </p:txBody>
      </p:sp>
      <p:sp>
        <p:nvSpPr>
          <p:cNvPr id="27" name="Right Arrow 26"/>
          <p:cNvSpPr/>
          <p:nvPr/>
        </p:nvSpPr>
        <p:spPr>
          <a:xfrm>
            <a:off x="4202353" y="45269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357799"/>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4513249" y="4403519"/>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подсказка модели</a:t>
            </a:r>
          </a:p>
        </p:txBody>
      </p:sp>
      <p:sp>
        <p:nvSpPr>
          <p:cNvPr id="30" name="Right Arrow 29"/>
          <p:cNvSpPr/>
          <p:nvPr/>
        </p:nvSpPr>
        <p:spPr>
          <a:xfrm>
            <a:off x="6713067" y="45269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патолог решает</a:t>
            </a:r>
          </a:p>
        </p:txBody>
      </p:sp>
      <p:sp>
        <p:nvSpPr>
          <p:cNvPr id="33" name="Right Arrow 32"/>
          <p:cNvSpPr/>
          <p:nvPr/>
        </p:nvSpPr>
        <p:spPr>
          <a:xfrm>
            <a:off x="9223781" y="45269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35779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40351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86976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случаев с подсказкой, половина без; подпись в обоих случаях за патологом</a:t>
            </a:r>
          </a:p>
        </p:txBody>
      </p:sp>
      <p:sp>
        <p:nvSpPr>
          <p:cNvPr id="37" name="Rounded Rectangle 36"/>
          <p:cNvSpPr/>
          <p:nvPr/>
        </p:nvSpPr>
        <p:spPr>
          <a:xfrm>
            <a:off x="374904" y="5172452"/>
            <a:ext cx="11441887" cy="10637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11 патологов разного опыта</a:t>
            </a:r>
            <a:r>
              <a:rPr sz="1100" b="0" i="0">
                <a:solidFill>
                  <a:srgbClr val="21295C"/>
                </a:solidFill>
                <a:latin typeface="Arial"/>
              </a:rPr>
              <a:t> различали два вида рака печени по 80 оцифрованным срезам. </a:t>
            </a:r>
            <a:r>
              <a:rPr sz="1100" b="1" i="0">
                <a:solidFill>
                  <a:srgbClr val="21295C"/>
                </a:solidFill>
                <a:latin typeface="Arial"/>
              </a:rPr>
              <a:t>Цена ошибки обоюдна:</a:t>
            </a:r>
            <a:r>
              <a:rPr sz="1100" b="0" i="0">
                <a:solidFill>
                  <a:srgbClr val="21295C"/>
                </a:solidFill>
                <a:latin typeface="Arial"/>
              </a:rPr>
              <a:t> спутать два вида опухоли — другое лечение; перепроверка — время специалиста.</a:t>
            </a:r>
          </a:p>
        </p:txBody>
      </p:sp>
      <p:sp>
        <p:nvSpPr>
          <p:cNvPr id="39" name="TextBox 38"/>
          <p:cNvSpPr txBox="1"/>
          <p:nvPr/>
        </p:nvSpPr>
        <p:spPr>
          <a:xfrm>
            <a:off x="6278727" y="5263892"/>
            <a:ext cx="5373471" cy="97231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Здесь патолог сильнее модели, и пара выше обеих сторон.</a:t>
            </a:r>
            <a:r>
              <a:rPr sz="1100" b="0" i="0">
                <a:solidFill>
                  <a:srgbClr val="21295C"/>
                </a:solidFill>
                <a:latin typeface="Arial"/>
              </a:rPr>
              <a:t> Ошибка модели при этом становится ошибкой врача: подпись ставит он.</a:t>
            </a:r>
          </a:p>
          <a:p>
            <a:pPr algn="l">
              <a:lnSpc>
                <a:spcPct val="126000"/>
              </a:lnSpc>
              <a:spcBef>
                <a:spcPts val="700"/>
              </a:spcBef>
            </a:pPr>
            <a:r>
              <a:rPr sz="1100" b="0" i="0">
                <a:solidFill>
                  <a:srgbClr val="21295C"/>
                </a:solidFill>
                <a:latin typeface="Arial"/>
              </a:rPr>
              <a:t/>
            </a:r>
            <a:r>
              <a:rPr sz="1100" b="1" i="0">
                <a:solidFill>
                  <a:srgbClr val="21295C"/>
                </a:solidFill>
                <a:latin typeface="Arial"/>
              </a:rPr>
              <a:t>«Эффекта нет» в отчёте с одним числом:</a:t>
            </a:r>
            <a:r>
              <a:rPr sz="1100" b="0" i="0">
                <a:solidFill>
                  <a:srgbClr val="21295C"/>
                </a:solidFill>
                <a:latin typeface="Arial"/>
              </a:rPr>
              <a:t> на группе прибавка незначима, хотя в обе стороны эффект вчетверо.</a:t>
            </a:r>
          </a:p>
        </p:txBody>
      </p:sp>
      <p:sp>
        <p:nvSpPr>
          <p:cNvPr id="40" name="Rectangle 39"/>
          <p:cNvSpPr/>
          <p:nvPr/>
        </p:nvSpPr>
        <p:spPr>
          <a:xfrm>
            <a:off x="6091275" y="5263892"/>
            <a:ext cx="9144" cy="960279"/>
          </a:xfrm>
          <a:prstGeom prst="rect">
            <a:avLst/>
          </a:prstGeom>
          <a:solidFill>
            <a:srgbClr val="D9E2EC"/>
          </a:solidFill>
          <a:ln>
            <a:noFill/>
          </a:ln>
          <a:effectLst/>
        </p:spPr>
        <p:txBody>
          <a:bodyPr rtlCol="0" anchor="ctr"/>
          <a:lstStyle/>
          <a:p>
            <a:pPr algn="ctr"/>
          </a:p>
        </p:txBody>
      </p:sp>
      <p:sp>
        <p:nvSpPr>
          <p:cNvPr id="41" name="Rectangle 4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2" name="TextBox 4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3: шведское испытание — второе человеческое чтение заменено моделью</a:t>
            </a:r>
          </a:p>
        </p:txBody>
      </p:sp>
      <p:sp>
        <p:nvSpPr>
          <p:cNvPr id="4" name="Rounded Rectangle 3"/>
          <p:cNvSpPr/>
          <p:nvPr/>
        </p:nvSpPr>
        <p:spPr>
          <a:xfrm>
            <a:off x="502920"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140317"/>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295774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различие устойчиво</a:t>
            </a:r>
          </a:p>
        </p:txBody>
      </p:sp>
      <p:sp>
        <p:nvSpPr>
          <p:cNvPr id="8" name="Rounded Rectangle 7"/>
          <p:cNvSpPr/>
          <p:nvPr/>
        </p:nvSpPr>
        <p:spPr>
          <a:xfrm>
            <a:off x="4286402"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4423562"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4423562"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a:t>
            </a:r>
          </a:p>
        </p:txBody>
      </p:sp>
      <p:sp>
        <p:nvSpPr>
          <p:cNvPr id="12" name="Rounded Rectangle 11"/>
          <p:cNvSpPr/>
          <p:nvPr/>
        </p:nvSpPr>
        <p:spPr>
          <a:xfrm>
            <a:off x="8069884" y="1335024"/>
            <a:ext cx="3618890"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двойное чтение, два человеческих прочтения на снимок; промежуточный анализ, 80 033 обследованных</a:t>
            </a:r>
          </a:p>
        </p:txBody>
      </p:sp>
      <p:sp>
        <p:nvSpPr>
          <p:cNvPr id="16" name="TextBox 15"/>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Двойное чтение</a:t>
            </a:r>
          </a:p>
        </p:txBody>
      </p:sp>
      <p:sp>
        <p:nvSpPr>
          <p:cNvPr id="17" name="Rounded Rectangle 16"/>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два радиолога порознь</a:t>
            </a:r>
          </a:p>
        </p:txBody>
      </p:sp>
      <p:sp>
        <p:nvSpPr>
          <p:cNvPr id="19" name="Right Arrow 18"/>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сводят</a:t>
            </a:r>
          </a:p>
        </p:txBody>
      </p:sp>
      <p:sp>
        <p:nvSpPr>
          <p:cNvPr id="22" name="Right Arrow 21"/>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25" name="TextBox 24"/>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Второе чтение — модель</a:t>
            </a:r>
          </a:p>
        </p:txBody>
      </p:sp>
      <p:sp>
        <p:nvSpPr>
          <p:cNvPr id="26" name="Rounded Rectangle 25"/>
          <p:cNvSpPr/>
          <p:nvPr/>
        </p:nvSpPr>
        <p:spPr>
          <a:xfrm>
            <a:off x="1920240"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радиолог первым</a:t>
            </a:r>
          </a:p>
        </p:txBody>
      </p:sp>
      <p:sp>
        <p:nvSpPr>
          <p:cNvPr id="28" name="Right Arrow 27"/>
          <p:cNvSpPr/>
          <p:nvPr/>
        </p:nvSpPr>
        <p:spPr>
          <a:xfrm>
            <a:off x="4202353" y="4491080"/>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219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3676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вторым</a:t>
            </a:r>
          </a:p>
        </p:txBody>
      </p:sp>
      <p:sp>
        <p:nvSpPr>
          <p:cNvPr id="31" name="Right Arrow 30"/>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 — третий</a:t>
            </a:r>
          </a:p>
        </p:txBody>
      </p:sp>
      <p:sp>
        <p:nvSpPr>
          <p:cNvPr id="34" name="Right Arrow 33"/>
          <p:cNvSpPr/>
          <p:nvPr/>
        </p:nvSpPr>
        <p:spPr>
          <a:xfrm>
            <a:off x="9223781" y="4491080"/>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219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3676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7" name="TextBox 36"/>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 арбитру уходит только расхождение, а не весь поток</a:t>
            </a:r>
          </a:p>
        </p:txBody>
      </p:sp>
      <p:sp>
        <p:nvSpPr>
          <p:cNvPr id="38" name="Rounded Rectangle 37"/>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105 934 женщины шведской программы распределены жребием между двумя порядками чтения.</a:t>
            </a:r>
            <a:r>
              <a:rPr sz="1150" b="0" i="0">
                <a:solidFill>
                  <a:srgbClr val="21295C"/>
                </a:solidFill>
                <a:latin typeface="Arial"/>
              </a:rPr>
              <a:t> Человеческого чтения во втором меньше: к арбитру уходит только расхождение.</a:t>
            </a:r>
          </a:p>
        </p:txBody>
      </p:sp>
      <p:sp>
        <p:nvSpPr>
          <p:cNvPr id="40" name="TextBox 39"/>
          <p:cNvSpPr txBox="1"/>
          <p:nvPr/>
        </p:nvSpPr>
        <p:spPr>
          <a:xfrm>
            <a:off x="6278727" y="5228056"/>
            <a:ext cx="5373471" cy="1008151"/>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одну это испытание не измеряло,</a:t>
            </a:r>
            <a:r>
              <a:rPr sz="1150" b="0" i="0">
                <a:solidFill>
                  <a:srgbClr val="21295C"/>
                </a:solidFill>
                <a:latin typeface="Arial"/>
              </a:rPr>
              <a:t> и одиночного чтения без арбитража тоже нет: сравнивали против сильного режима.</a:t>
            </a:r>
          </a:p>
          <a:p>
            <a:pPr algn="l">
              <a:lnSpc>
                <a:spcPct val="126000"/>
              </a:lnSpc>
              <a:spcBef>
                <a:spcPts val="700"/>
              </a:spcBef>
            </a:pPr>
            <a:r>
              <a:rPr sz="1150" b="0" i="0">
                <a:solidFill>
                  <a:srgbClr val="21295C"/>
                </a:solidFill>
                <a:latin typeface="Arial"/>
              </a:rPr>
              <a:t/>
            </a:r>
            <a:r>
              <a:rPr sz="1150" b="1" i="0">
                <a:solidFill>
                  <a:srgbClr val="21295C"/>
                </a:solidFill>
                <a:latin typeface="Arial"/>
              </a:rPr>
              <a:t>Несогласие, пятое искажение входа, стало новой работой; повторных вызовов не стало ни больше, ни меньше.</a:t>
            </a:r>
          </a:p>
        </p:txBody>
      </p:sp>
      <p:sp>
        <p:nvSpPr>
          <p:cNvPr id="41" name="Rectangle 40"/>
          <p:cNvSpPr/>
          <p:nvPr/>
        </p:nvSpPr>
        <p:spPr>
          <a:xfrm>
            <a:off x="6091275" y="5228056"/>
            <a:ext cx="9144" cy="999887"/>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различие устойчиво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TextBox 11"/>
          <p:cNvSpPr txBox="1"/>
          <p:nvPr/>
        </p:nvSpPr>
        <p:spPr>
          <a:xfrm>
            <a:off x="502920" y="313894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читали</a:t>
            </a:r>
          </a:p>
        </p:txBody>
      </p:sp>
      <p:sp>
        <p:nvSpPr>
          <p:cNvPr id="13" name="Rounded Rectangle 12"/>
          <p:cNvSpPr/>
          <p:nvPr/>
        </p:nvSpPr>
        <p:spPr>
          <a:xfrm>
            <a:off x="1920240"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кардиограмма с расшифровкой</a:t>
            </a:r>
          </a:p>
        </p:txBody>
      </p:sp>
      <p:sp>
        <p:nvSpPr>
          <p:cNvPr id="15" name="Right Arrow 14"/>
          <p:cNvSpPr/>
          <p:nvPr/>
        </p:nvSpPr>
        <p:spPr>
          <a:xfrm>
            <a:off x="5039258" y="3271489"/>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стажёр читает</a:t>
            </a:r>
          </a:p>
        </p:txBody>
      </p:sp>
      <p:sp>
        <p:nvSpPr>
          <p:cNvPr id="18" name="Right Arrow 17"/>
          <p:cNvSpPr/>
          <p:nvPr/>
        </p:nvSpPr>
        <p:spPr>
          <a:xfrm>
            <a:off x="8386876" y="327148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10237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14809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заключение</a:t>
            </a:r>
          </a:p>
        </p:txBody>
      </p:sp>
      <p:sp>
        <p:nvSpPr>
          <p:cNvPr id="21" name="TextBox 20"/>
          <p:cNvSpPr txBox="1"/>
          <p:nvPr/>
        </p:nvSpPr>
        <p:spPr>
          <a:xfrm>
            <a:off x="502920" y="36143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Расшифровка приходит до собственного решения; чтения без неё работа не измеряла</a:t>
            </a:r>
          </a:p>
        </p:txBody>
      </p:sp>
      <p:sp>
        <p:nvSpPr>
          <p:cNvPr id="22" name="Rounded Rectangle 21"/>
          <p:cNvSpPr/>
          <p:nvPr/>
        </p:nvSpPr>
        <p:spPr>
          <a:xfrm>
            <a:off x="374904" y="3917025"/>
            <a:ext cx="11441887" cy="2319182"/>
          </a:xfrm>
          <a:prstGeom prst="roundRect">
            <a:avLst>
              <a:gd name="adj" fmla="val 1314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008465"/>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30 стажёров читали кардиограммы с машинной расшифровкой, верной и неверной.</a:t>
            </a:r>
            <a:r>
              <a:rPr sz="1500" b="0" i="0">
                <a:solidFill>
                  <a:srgbClr val="21295C"/>
                </a:solidFill>
                <a:latin typeface="Arial"/>
              </a:rPr>
              <a:t> По 15 в каждой группе.</a:t>
            </a:r>
          </a:p>
        </p:txBody>
      </p:sp>
      <p:sp>
        <p:nvSpPr>
          <p:cNvPr id="24" name="Rectangle 23"/>
          <p:cNvSpPr/>
          <p:nvPr/>
        </p:nvSpPr>
        <p:spPr>
          <a:xfrm>
            <a:off x="539496" y="4456859"/>
            <a:ext cx="6304024" cy="428960"/>
          </a:xfrm>
          <a:prstGeom prst="rect">
            <a:avLst/>
          </a:prstGeom>
          <a:solidFill>
            <a:srgbClr val="065A82"/>
          </a:solidFill>
          <a:ln>
            <a:noFill/>
          </a:ln>
          <a:effectLst/>
        </p:spPr>
        <p:txBody>
          <a:bodyPr rtlCol="0" anchor="ctr"/>
          <a:lstStyle/>
          <a:p>
            <a:pPr algn="ctr"/>
          </a:p>
        </p:txBody>
      </p:sp>
      <p:sp>
        <p:nvSpPr>
          <p:cNvPr id="25" name="TextBox 24"/>
          <p:cNvSpPr txBox="1"/>
          <p:nvPr/>
        </p:nvSpPr>
        <p:spPr>
          <a:xfrm>
            <a:off x="685800" y="4456859"/>
            <a:ext cx="6011416"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точность заключения, из ста</a:t>
            </a:r>
          </a:p>
        </p:txBody>
      </p:sp>
      <p:sp>
        <p:nvSpPr>
          <p:cNvPr id="26" name="Rectangle 25"/>
          <p:cNvSpPr/>
          <p:nvPr/>
        </p:nvSpPr>
        <p:spPr>
          <a:xfrm>
            <a:off x="6843520" y="4456859"/>
            <a:ext cx="2182152" cy="428960"/>
          </a:xfrm>
          <a:prstGeom prst="rect">
            <a:avLst/>
          </a:prstGeom>
          <a:solidFill>
            <a:srgbClr val="065A82"/>
          </a:solidFill>
          <a:ln>
            <a:noFill/>
          </a:ln>
          <a:effectLst/>
        </p:spPr>
        <p:txBody>
          <a:bodyPr rtlCol="0" anchor="ctr"/>
          <a:lstStyle/>
          <a:p>
            <a:pPr algn="ctr"/>
          </a:p>
        </p:txBody>
      </p:sp>
      <p:sp>
        <p:nvSpPr>
          <p:cNvPr id="27" name="TextBox 26"/>
          <p:cNvSpPr txBox="1"/>
          <p:nvPr/>
        </p:nvSpPr>
        <p:spPr>
          <a:xfrm>
            <a:off x="6989824" y="4456859"/>
            <a:ext cx="1889544"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верная</a:t>
            </a:r>
          </a:p>
        </p:txBody>
      </p:sp>
      <p:sp>
        <p:nvSpPr>
          <p:cNvPr id="28" name="Rectangle 27"/>
          <p:cNvSpPr/>
          <p:nvPr/>
        </p:nvSpPr>
        <p:spPr>
          <a:xfrm>
            <a:off x="9025673" y="4456859"/>
            <a:ext cx="2626526" cy="428960"/>
          </a:xfrm>
          <a:prstGeom prst="rect">
            <a:avLst/>
          </a:prstGeom>
          <a:solidFill>
            <a:srgbClr val="065A82"/>
          </a:solidFill>
          <a:ln>
            <a:noFill/>
          </a:ln>
          <a:effectLst/>
        </p:spPr>
        <p:txBody>
          <a:bodyPr rtlCol="0" anchor="ctr"/>
          <a:lstStyle/>
          <a:p>
            <a:pPr algn="ctr"/>
          </a:p>
        </p:txBody>
      </p:sp>
      <p:sp>
        <p:nvSpPr>
          <p:cNvPr id="29" name="TextBox 28"/>
          <p:cNvSpPr txBox="1"/>
          <p:nvPr/>
        </p:nvSpPr>
        <p:spPr>
          <a:xfrm>
            <a:off x="9171977" y="4456859"/>
            <a:ext cx="2333918"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неверная</a:t>
            </a:r>
          </a:p>
        </p:txBody>
      </p:sp>
      <p:sp>
        <p:nvSpPr>
          <p:cNvPr id="30" name="Rectangle 29"/>
          <p:cNvSpPr/>
          <p:nvPr/>
        </p:nvSpPr>
        <p:spPr>
          <a:xfrm>
            <a:off x="539496" y="4885820"/>
            <a:ext cx="6304024" cy="428960"/>
          </a:xfrm>
          <a:prstGeom prst="rect">
            <a:avLst/>
          </a:prstGeom>
          <a:solidFill>
            <a:srgbClr val="FFFFFF"/>
          </a:solidFill>
          <a:ln w="12700">
            <a:solidFill>
              <a:srgbClr val="D9E2EC"/>
            </a:solidFill>
          </a:ln>
          <a:effectLst/>
        </p:spPr>
        <p:txBody>
          <a:bodyPr rtlCol="0" anchor="ctr"/>
          <a:lstStyle/>
          <a:p>
            <a:pPr algn="ctr"/>
          </a:p>
        </p:txBody>
      </p:sp>
      <p:sp>
        <p:nvSpPr>
          <p:cNvPr id="31" name="TextBox 30"/>
          <p:cNvSpPr txBox="1"/>
          <p:nvPr/>
        </p:nvSpPr>
        <p:spPr>
          <a:xfrm>
            <a:off x="685800" y="4885820"/>
            <a:ext cx="6011416"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стажёры кардиологии</a:t>
            </a:r>
          </a:p>
        </p:txBody>
      </p:sp>
      <p:sp>
        <p:nvSpPr>
          <p:cNvPr id="32" name="Rectangle 31"/>
          <p:cNvSpPr/>
          <p:nvPr/>
        </p:nvSpPr>
        <p:spPr>
          <a:xfrm>
            <a:off x="6843520" y="4885820"/>
            <a:ext cx="2182152" cy="428960"/>
          </a:xfrm>
          <a:prstGeom prst="rect">
            <a:avLst/>
          </a:prstGeom>
          <a:solidFill>
            <a:srgbClr val="FFFFFF"/>
          </a:solidFill>
          <a:ln w="12700">
            <a:solidFill>
              <a:srgbClr val="D9E2EC"/>
            </a:solidFill>
          </a:ln>
          <a:effectLst/>
        </p:spPr>
        <p:txBody>
          <a:bodyPr rtlCol="0" anchor="ctr"/>
          <a:lstStyle/>
          <a:p>
            <a:pPr algn="ctr"/>
          </a:p>
        </p:txBody>
      </p:sp>
      <p:sp>
        <p:nvSpPr>
          <p:cNvPr id="33" name="TextBox 32"/>
          <p:cNvSpPr txBox="1"/>
          <p:nvPr/>
        </p:nvSpPr>
        <p:spPr>
          <a:xfrm>
            <a:off x="6989824" y="4885820"/>
            <a:ext cx="188954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84,86</a:t>
            </a:r>
          </a:p>
        </p:txBody>
      </p:sp>
      <p:sp>
        <p:nvSpPr>
          <p:cNvPr id="34" name="Rectangle 33"/>
          <p:cNvSpPr/>
          <p:nvPr/>
        </p:nvSpPr>
        <p:spPr>
          <a:xfrm>
            <a:off x="9025673" y="4885820"/>
            <a:ext cx="2626526" cy="428960"/>
          </a:xfrm>
          <a:prstGeom prst="rect">
            <a:avLst/>
          </a:prstGeom>
          <a:solidFill>
            <a:srgbClr val="FFFFFF"/>
          </a:solidFill>
          <a:ln w="12700">
            <a:solidFill>
              <a:srgbClr val="D9E2EC"/>
            </a:solidFill>
          </a:ln>
          <a:effectLst/>
        </p:spPr>
        <p:txBody>
          <a:bodyPr rtlCol="0" anchor="ctr"/>
          <a:lstStyle/>
          <a:p>
            <a:pPr algn="ctr"/>
          </a:p>
        </p:txBody>
      </p:sp>
      <p:sp>
        <p:nvSpPr>
          <p:cNvPr id="35" name="TextBox 34"/>
          <p:cNvSpPr txBox="1"/>
          <p:nvPr/>
        </p:nvSpPr>
        <p:spPr>
          <a:xfrm>
            <a:off x="9171977" y="4885820"/>
            <a:ext cx="233391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41,66</a:t>
            </a:r>
          </a:p>
        </p:txBody>
      </p:sp>
      <p:sp>
        <p:nvSpPr>
          <p:cNvPr id="36" name="Rectangle 35"/>
          <p:cNvSpPr/>
          <p:nvPr/>
        </p:nvSpPr>
        <p:spPr>
          <a:xfrm>
            <a:off x="539496" y="5314781"/>
            <a:ext cx="6304024" cy="428960"/>
          </a:xfrm>
          <a:prstGeom prst="rect">
            <a:avLst/>
          </a:prstGeom>
          <a:solidFill>
            <a:srgbClr val="F4F7FA"/>
          </a:solidFill>
          <a:ln w="12700">
            <a:solidFill>
              <a:srgbClr val="D9E2EC"/>
            </a:solidFill>
          </a:ln>
          <a:effectLst/>
        </p:spPr>
        <p:txBody>
          <a:bodyPr rtlCol="0" anchor="ctr"/>
          <a:lstStyle/>
          <a:p>
            <a:pPr algn="ctr"/>
          </a:p>
        </p:txBody>
      </p:sp>
      <p:sp>
        <p:nvSpPr>
          <p:cNvPr id="37" name="TextBox 36"/>
          <p:cNvSpPr txBox="1"/>
          <p:nvPr/>
        </p:nvSpPr>
        <p:spPr>
          <a:xfrm>
            <a:off x="685800" y="5314781"/>
            <a:ext cx="6011416"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другие специальности</a:t>
            </a:r>
          </a:p>
        </p:txBody>
      </p:sp>
      <p:sp>
        <p:nvSpPr>
          <p:cNvPr id="38" name="Rectangle 37"/>
          <p:cNvSpPr/>
          <p:nvPr/>
        </p:nvSpPr>
        <p:spPr>
          <a:xfrm>
            <a:off x="6843520" y="5314781"/>
            <a:ext cx="2182152" cy="428960"/>
          </a:xfrm>
          <a:prstGeom prst="rect">
            <a:avLst/>
          </a:prstGeom>
          <a:solidFill>
            <a:srgbClr val="F4F7FA"/>
          </a:solidFill>
          <a:ln w="12700">
            <a:solidFill>
              <a:srgbClr val="D9E2EC"/>
            </a:solidFill>
          </a:ln>
          <a:effectLst/>
        </p:spPr>
        <p:txBody>
          <a:bodyPr rtlCol="0" anchor="ctr"/>
          <a:lstStyle/>
          <a:p>
            <a:pPr algn="ctr"/>
          </a:p>
        </p:txBody>
      </p:sp>
      <p:sp>
        <p:nvSpPr>
          <p:cNvPr id="39" name="TextBox 38"/>
          <p:cNvSpPr txBox="1"/>
          <p:nvPr/>
        </p:nvSpPr>
        <p:spPr>
          <a:xfrm>
            <a:off x="6989824" y="5314781"/>
            <a:ext cx="1889544"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86,38</a:t>
            </a:r>
          </a:p>
        </p:txBody>
      </p:sp>
      <p:sp>
        <p:nvSpPr>
          <p:cNvPr id="40" name="Rectangle 39"/>
          <p:cNvSpPr/>
          <p:nvPr/>
        </p:nvSpPr>
        <p:spPr>
          <a:xfrm>
            <a:off x="9025673" y="5314781"/>
            <a:ext cx="2626526" cy="428960"/>
          </a:xfrm>
          <a:prstGeom prst="rect">
            <a:avLst/>
          </a:prstGeom>
          <a:solidFill>
            <a:srgbClr val="F4F7FA"/>
          </a:solidFill>
          <a:ln w="12700">
            <a:solidFill>
              <a:srgbClr val="D9E2EC"/>
            </a:solidFill>
          </a:ln>
          <a:effectLst/>
        </p:spPr>
        <p:txBody>
          <a:bodyPr rtlCol="0" anchor="ctr"/>
          <a:lstStyle/>
          <a:p>
            <a:pPr algn="ctr"/>
          </a:p>
        </p:txBody>
      </p:sp>
      <p:sp>
        <p:nvSpPr>
          <p:cNvPr id="41" name="TextBox 40"/>
          <p:cNvSpPr txBox="1"/>
          <p:nvPr/>
        </p:nvSpPr>
        <p:spPr>
          <a:xfrm>
            <a:off x="9171977" y="5314781"/>
            <a:ext cx="2333918"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27,43</a:t>
            </a:r>
          </a:p>
        </p:txBody>
      </p:sp>
      <p:sp>
        <p:nvSpPr>
          <p:cNvPr id="42" name="TextBox 41"/>
          <p:cNvSpPr txBox="1"/>
          <p:nvPr/>
        </p:nvSpPr>
        <p:spPr>
          <a:xfrm>
            <a:off x="539496" y="5890045"/>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Якорение, первое из шести искажений входа.</a:t>
            </a:r>
            <a:r>
              <a:rPr sz="1500" b="0" i="0">
                <a:solidFill>
                  <a:srgbClr val="21295C"/>
                </a:solidFill>
                <a:latin typeface="Arial"/>
              </a:rPr>
              <a:t> Специальность защищает, но не спасает: падают обе, вдвое.</a:t>
            </a:r>
          </a:p>
        </p:txBody>
      </p:sp>
      <p:sp>
        <p:nvSpPr>
          <p:cNvPr id="43" name="Rectangle 42"/>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Обзор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обе половины свода читаются как части,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обе величины считаны на одних и тех же опытах:</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другие опыты, рядом с минус 0,54 это число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4: хирурги оценивают риск — сами и после знакомства с моделью</a:t>
            </a:r>
          </a:p>
        </p:txBody>
      </p:sp>
      <p:sp>
        <p:nvSpPr>
          <p:cNvPr id="4" name="Rounded Rectangle 3"/>
          <p:cNvSpPr/>
          <p:nvPr/>
        </p:nvSpPr>
        <p:spPr>
          <a:xfrm>
            <a:off x="502920" y="1335024"/>
            <a:ext cx="3618890" cy="1965461"/>
          </a:xfrm>
          <a:prstGeom prst="roundRect">
            <a:avLst>
              <a:gd name="adj" fmla="val 1550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1965461"/>
          </a:xfrm>
          <a:prstGeom prst="roundRect">
            <a:avLst>
              <a:gd name="adj" fmla="val 15507"/>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пневмония 0,753 → 0,803: на трёх исходах из четырёх пара точнее хирурга одного. Шкала: 0,5 — монетка, 1,0 — без промаха</a:t>
            </a:r>
          </a:p>
        </p:txBody>
      </p:sp>
      <p:sp>
        <p:nvSpPr>
          <p:cNvPr id="16" name="TextBox 15"/>
          <p:cNvSpPr txBox="1"/>
          <p:nvPr/>
        </p:nvSpPr>
        <p:spPr>
          <a:xfrm>
            <a:off x="502920" y="351994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сам</a:t>
            </a:r>
          </a:p>
        </p:txBody>
      </p:sp>
      <p:sp>
        <p:nvSpPr>
          <p:cNvPr id="17" name="Rounded Rectangle 16"/>
          <p:cNvSpPr/>
          <p:nvPr/>
        </p:nvSpPr>
        <p:spPr>
          <a:xfrm>
            <a:off x="1920240"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письменное описание случая</a:t>
            </a:r>
          </a:p>
        </p:txBody>
      </p:sp>
      <p:sp>
        <p:nvSpPr>
          <p:cNvPr id="19" name="Right Arrow 18"/>
          <p:cNvSpPr/>
          <p:nvPr/>
        </p:nvSpPr>
        <p:spPr>
          <a:xfrm>
            <a:off x="5039258" y="365248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22" name="Right Arrow 21"/>
          <p:cNvSpPr/>
          <p:nvPr/>
        </p:nvSpPr>
        <p:spPr>
          <a:xfrm>
            <a:off x="8386876" y="3652481"/>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83365"/>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29085"/>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25" name="TextBox 24"/>
          <p:cNvSpPr txBox="1"/>
          <p:nvPr/>
        </p:nvSpPr>
        <p:spPr>
          <a:xfrm>
            <a:off x="502920" y="414163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Хирург после модели</a:t>
            </a:r>
          </a:p>
        </p:txBody>
      </p:sp>
      <p:sp>
        <p:nvSpPr>
          <p:cNvPr id="26" name="Rounded Rectangle 25"/>
          <p:cNvSpPr/>
          <p:nvPr/>
        </p:nvSpPr>
        <p:spPr>
          <a:xfrm>
            <a:off x="1920240"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случая</a:t>
            </a:r>
          </a:p>
        </p:txBody>
      </p:sp>
      <p:sp>
        <p:nvSpPr>
          <p:cNvPr id="28" name="Right Arrow 27"/>
          <p:cNvSpPr/>
          <p:nvPr/>
        </p:nvSpPr>
        <p:spPr>
          <a:xfrm>
            <a:off x="4202353" y="42741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105062"/>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150782"/>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POTTER: 4–11 ответов</a:t>
            </a:r>
          </a:p>
        </p:txBody>
      </p:sp>
      <p:sp>
        <p:nvSpPr>
          <p:cNvPr id="31" name="Right Arrow 30"/>
          <p:cNvSpPr/>
          <p:nvPr/>
        </p:nvSpPr>
        <p:spPr>
          <a:xfrm>
            <a:off x="6713067" y="427417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оценка риска</a:t>
            </a:r>
          </a:p>
        </p:txBody>
      </p:sp>
      <p:sp>
        <p:nvSpPr>
          <p:cNvPr id="34" name="Right Arrow 33"/>
          <p:cNvSpPr/>
          <p:nvPr/>
        </p:nvSpPr>
        <p:spPr>
          <a:xfrm>
            <a:off x="9223781" y="4274178"/>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105062"/>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150782"/>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пять исходов</a:t>
            </a:r>
          </a:p>
        </p:txBody>
      </p:sp>
      <p:sp>
        <p:nvSpPr>
          <p:cNvPr id="37" name="TextBox 36"/>
          <p:cNvSpPr txBox="1"/>
          <p:nvPr/>
        </p:nvSpPr>
        <p:spPr>
          <a:xfrm>
            <a:off x="502920" y="46170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Жребием на две группы по 15; больного не осматривал никто</a:t>
            </a:r>
          </a:p>
        </p:txBody>
      </p:sp>
      <p:sp>
        <p:nvSpPr>
          <p:cNvPr id="38" name="Rounded Rectangle 37"/>
          <p:cNvSpPr/>
          <p:nvPr/>
        </p:nvSpPr>
        <p:spPr>
          <a:xfrm>
            <a:off x="374904" y="4919714"/>
            <a:ext cx="11441887" cy="1316493"/>
          </a:xfrm>
          <a:prstGeom prst="roundRect">
            <a:avLst>
              <a:gd name="adj" fmla="val 23152"/>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30 хирургов оценивали риск по 150 письменным описаниям случаев;</a:t>
            </a:r>
            <a:r>
              <a:rPr sz="1100" b="0" i="0">
                <a:solidFill>
                  <a:srgbClr val="21295C"/>
                </a:solidFill>
                <a:latin typeface="Arial"/>
              </a:rPr>
              <a:t> исходы прослежены вперёд 30 дней.</a:t>
            </a:r>
          </a:p>
          <a:p>
            <a:pPr algn="l">
              <a:lnSpc>
                <a:spcPct val="126000"/>
              </a:lnSpc>
              <a:spcBef>
                <a:spcPts val="700"/>
              </a:spcBef>
            </a:pPr>
            <a:r>
              <a:rPr sz="1100" b="0" i="0">
                <a:solidFill>
                  <a:srgbClr val="21295C"/>
                </a:solidFill>
                <a:latin typeface="Arial"/>
              </a:rPr>
              <a:t/>
            </a:r>
            <a:r>
              <a:rPr sz="1100" b="1" i="0">
                <a:solidFill>
                  <a:srgbClr val="21295C"/>
                </a:solidFill>
                <a:latin typeface="Arial"/>
              </a:rPr>
              <a:t>На септическом шоке пара ниже и хирурга, и модели:</a:t>
            </a:r>
            <a:r>
              <a:rPr sz="1100" b="0" i="0">
                <a:solidFill>
                  <a:srgbClr val="21295C"/>
                </a:solidFill>
                <a:latin typeface="Arial"/>
              </a:rPr>
              <a:t> та одна дала 0,816. </a:t>
            </a:r>
            <a:r>
              <a:rPr sz="1100" b="1" i="0">
                <a:solidFill>
                  <a:srgbClr val="21295C"/>
                </a:solidFill>
                <a:latin typeface="Arial"/>
              </a:rPr>
              <a:t>Второй классический режим — шкалы риска,</a:t>
            </a:r>
            <a:r>
              <a:rPr sz="1100" b="0" i="0">
                <a:solidFill>
                  <a:srgbClr val="21295C"/>
                </a:solidFill>
                <a:latin typeface="Arial"/>
              </a:rPr>
              <a:t> другая выборка: 0,874–0,898 против модели 0,916.</a:t>
            </a:r>
          </a:p>
        </p:txBody>
      </p:sp>
      <p:sp>
        <p:nvSpPr>
          <p:cNvPr id="40" name="TextBox 39"/>
          <p:cNvSpPr txBox="1"/>
          <p:nvPr/>
        </p:nvSpPr>
        <p:spPr>
          <a:xfrm>
            <a:off x="6278727" y="5011154"/>
            <a:ext cx="5373471" cy="1225053"/>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Исполнитель тот же, но стал хуже. Ступень — смотрит вторым.</a:t>
            </a:r>
            <a:r>
              <a:rPr sz="1100" b="0" i="0">
                <a:solidFill>
                  <a:srgbClr val="21295C"/>
                </a:solidFill>
                <a:latin typeface="Arial"/>
              </a:rPr>
              <a:t> Где перевес модели наибольший, пара не прибавила вовсе: </a:t>
            </a:r>
            <a:r>
              <a:rPr sz="1100" b="1" i="0">
                <a:solidFill>
                  <a:srgbClr val="21295C"/>
                </a:solidFill>
                <a:latin typeface="Arial"/>
              </a:rPr>
              <a:t>0,834 против 0,833.</a:t>
            </a:r>
          </a:p>
          <a:p>
            <a:pPr algn="l">
              <a:lnSpc>
                <a:spcPct val="126000"/>
              </a:lnSpc>
              <a:spcBef>
                <a:spcPts val="700"/>
              </a:spcBef>
            </a:pPr>
            <a:r>
              <a:rPr sz="900" b="0" i="0">
                <a:solidFill>
                  <a:srgbClr val="21295C"/>
                </a:solidFill>
                <a:latin typeface="Arial"/>
              </a:rPr>
              <a:t/>
            </a:r>
            <a:r>
              <a:rPr sz="900" b="0" i="1">
                <a:solidFill>
                  <a:srgbClr val="1C7293"/>
                </a:solidFill>
                <a:latin typeface="Arial"/>
              </a:rPr>
              <a:t>Больного не осматривал никто. Повторения замера нет.</a:t>
            </a:r>
          </a:p>
        </p:txBody>
      </p:sp>
      <p:sp>
        <p:nvSpPr>
          <p:cNvPr id="41" name="Rectangle 40"/>
          <p:cNvSpPr/>
          <p:nvPr/>
        </p:nvSpPr>
        <p:spPr>
          <a:xfrm>
            <a:off x="6091275" y="5011154"/>
            <a:ext cx="9144" cy="1178124"/>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875588"/>
          </a:xfrm>
          <a:prstGeom prst="roundRect">
            <a:avLst>
              <a:gd name="adj" fmla="val 625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3184048" cy="43807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891440"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случай</a:t>
            </a:r>
          </a:p>
        </p:txBody>
      </p:sp>
      <p:sp>
        <p:nvSpPr>
          <p:cNvPr id="7" name="Rectangle 6"/>
          <p:cNvSpPr/>
          <p:nvPr/>
        </p:nvSpPr>
        <p:spPr>
          <a:xfrm>
            <a:off x="3723544" y="1335024"/>
            <a:ext cx="5476860" cy="438076"/>
          </a:xfrm>
          <a:prstGeom prst="rect">
            <a:avLst/>
          </a:prstGeom>
          <a:solidFill>
            <a:srgbClr val="065A82"/>
          </a:solidFill>
          <a:ln>
            <a:noFill/>
          </a:ln>
          <a:effectLst/>
        </p:spPr>
        <p:txBody>
          <a:bodyPr rtlCol="0" anchor="ctr"/>
          <a:lstStyle/>
          <a:p>
            <a:pPr algn="ctr"/>
          </a:p>
        </p:txBody>
      </p:sp>
      <p:sp>
        <p:nvSpPr>
          <p:cNvPr id="8" name="TextBox 7"/>
          <p:cNvSpPr txBox="1"/>
          <p:nvPr/>
        </p:nvSpPr>
        <p:spPr>
          <a:xfrm>
            <a:off x="3869848" y="1335024"/>
            <a:ext cx="5184252"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эффект</a:t>
            </a:r>
          </a:p>
        </p:txBody>
      </p:sp>
      <p:sp>
        <p:nvSpPr>
          <p:cNvPr id="9" name="Rectangle 8"/>
          <p:cNvSpPr/>
          <p:nvPr/>
        </p:nvSpPr>
        <p:spPr>
          <a:xfrm>
            <a:off x="9200405" y="1335024"/>
            <a:ext cx="2451794" cy="438076"/>
          </a:xfrm>
          <a:prstGeom prst="rect">
            <a:avLst/>
          </a:prstGeom>
          <a:solidFill>
            <a:srgbClr val="065A82"/>
          </a:solidFill>
          <a:ln>
            <a:noFill/>
          </a:ln>
          <a:effectLst/>
        </p:spPr>
        <p:txBody>
          <a:bodyPr rtlCol="0" anchor="ctr"/>
          <a:lstStyle/>
          <a:p>
            <a:pPr algn="ctr"/>
          </a:p>
        </p:txBody>
      </p:sp>
      <p:sp>
        <p:nvSpPr>
          <p:cNvPr id="10" name="TextBox 9"/>
          <p:cNvSpPr txBox="1"/>
          <p:nvPr/>
        </p:nvSpPr>
        <p:spPr>
          <a:xfrm>
            <a:off x="9346709" y="1335024"/>
            <a:ext cx="2159186" cy="438076"/>
          </a:xfrm>
          <a:prstGeom prst="rect">
            <a:avLst/>
          </a:prstGeom>
          <a:noFill/>
        </p:spPr>
        <p:txBody>
          <a:bodyPr wrap="square" lIns="0" rIns="0" tIns="0" bIns="0" anchor="ctr">
            <a:spAutoFit/>
          </a:bodyPr>
          <a:lstStyle/>
          <a:p>
            <a:pPr algn="l">
              <a:lnSpc>
                <a:spcPct val="116000"/>
              </a:lnSpc>
            </a:pPr>
            <a:r>
              <a:rPr sz="1500" b="1" i="0">
                <a:solidFill>
                  <a:srgbClr val="FFFFFF"/>
                </a:solidFill>
                <a:latin typeface="Arial"/>
              </a:rPr>
              <a:t>вывод</a:t>
            </a:r>
          </a:p>
        </p:txBody>
      </p:sp>
      <p:sp>
        <p:nvSpPr>
          <p:cNvPr id="11" name="Rectangle 10"/>
          <p:cNvSpPr/>
          <p:nvPr/>
        </p:nvSpPr>
        <p:spPr>
          <a:xfrm>
            <a:off x="539496" y="1773100"/>
            <a:ext cx="3184048" cy="985046"/>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73100"/>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Хирурги и POTTER.</a:t>
            </a:r>
            <a:r>
              <a:rPr sz="1500" b="0" i="0">
                <a:solidFill>
                  <a:srgbClr val="21295C"/>
                </a:solidFill>
                <a:latin typeface="Arial"/>
              </a:rPr>
              <a:t> 30 хирургов, 150 случаев, жребием</a:t>
            </a:r>
          </a:p>
        </p:txBody>
      </p:sp>
      <p:sp>
        <p:nvSpPr>
          <p:cNvPr id="13" name="Rectangle 12"/>
          <p:cNvSpPr/>
          <p:nvPr/>
        </p:nvSpPr>
        <p:spPr>
          <a:xfrm>
            <a:off x="3723544" y="1773100"/>
            <a:ext cx="5476860" cy="98504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869848" y="1773100"/>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на трёх исходах из четырёх пара точнее хирурга; на септическом шоке </a:t>
            </a:r>
            <a:r>
              <a:rPr sz="1500" b="1" i="0">
                <a:solidFill>
                  <a:srgbClr val="21295C"/>
                </a:solidFill>
                <a:latin typeface="Arial"/>
              </a:rPr>
              <a:t>0,712</a:t>
            </a:r>
            <a:r>
              <a:rPr sz="1500" b="0" i="0">
                <a:solidFill>
                  <a:srgbClr val="21295C"/>
                </a:solidFill>
                <a:latin typeface="Arial"/>
              </a:rPr>
              <a:t> против 0,820 и 0,816</a:t>
            </a:r>
          </a:p>
        </p:txBody>
      </p:sp>
      <p:sp>
        <p:nvSpPr>
          <p:cNvPr id="15" name="Rectangle 14"/>
          <p:cNvSpPr/>
          <p:nvPr/>
        </p:nvSpPr>
        <p:spPr>
          <a:xfrm>
            <a:off x="9200405" y="1773100"/>
            <a:ext cx="2451794" cy="98504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346709" y="1773100"/>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проиграла там, где человек был сильнее</a:t>
            </a:r>
          </a:p>
        </p:txBody>
      </p:sp>
      <p:sp>
        <p:nvSpPr>
          <p:cNvPr id="17" name="Rectangle 16"/>
          <p:cNvSpPr/>
          <p:nvPr/>
        </p:nvSpPr>
        <p:spPr>
          <a:xfrm>
            <a:off x="539496" y="2758147"/>
            <a:ext cx="3184048" cy="711561"/>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758147"/>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Врачи с языковой моделью.</a:t>
            </a:r>
            <a:r>
              <a:rPr sz="1500" b="0" i="0">
                <a:solidFill>
                  <a:srgbClr val="21295C"/>
                </a:solidFill>
                <a:latin typeface="Arial"/>
              </a:rPr>
              <a:t> 50 врачей, жребием</a:t>
            </a:r>
          </a:p>
        </p:txBody>
      </p:sp>
      <p:sp>
        <p:nvSpPr>
          <p:cNvPr id="19" name="Rectangle 18"/>
          <p:cNvSpPr/>
          <p:nvPr/>
        </p:nvSpPr>
        <p:spPr>
          <a:xfrm>
            <a:off x="3723544" y="2758147"/>
            <a:ext cx="5476860" cy="711561"/>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869848" y="2758147"/>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балл рассуждения </a:t>
            </a:r>
            <a:r>
              <a:rPr sz="1500" b="1" i="0">
                <a:solidFill>
                  <a:srgbClr val="21295C"/>
                </a:solidFill>
                <a:latin typeface="Arial"/>
              </a:rPr>
              <a:t>76 против 74</a:t>
            </a:r>
            <a:r>
              <a:rPr sz="1500" b="0" i="0">
                <a:solidFill>
                  <a:srgbClr val="21295C"/>
                </a:solidFill>
                <a:latin typeface="Arial"/>
              </a:rPr>
              <a:t>: разница 2 пункта, интервал −4…8</a:t>
            </a:r>
          </a:p>
        </p:txBody>
      </p:sp>
      <p:sp>
        <p:nvSpPr>
          <p:cNvPr id="21" name="Rectangle 20"/>
          <p:cNvSpPr/>
          <p:nvPr/>
        </p:nvSpPr>
        <p:spPr>
          <a:xfrm>
            <a:off x="9200405" y="2758147"/>
            <a:ext cx="2451794" cy="711561"/>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346709" y="2758147"/>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от справочника не отличима</a:t>
            </a:r>
          </a:p>
        </p:txBody>
      </p:sp>
      <p:sp>
        <p:nvSpPr>
          <p:cNvPr id="23" name="Rectangle 22"/>
          <p:cNvSpPr/>
          <p:nvPr/>
        </p:nvSpPr>
        <p:spPr>
          <a:xfrm>
            <a:off x="539496" y="3469709"/>
            <a:ext cx="3184048" cy="985046"/>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69709"/>
            <a:ext cx="2891440" cy="985046"/>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Обзор с мета-анализом.</a:t>
            </a:r>
            <a:r>
              <a:rPr sz="1500" b="0" i="0">
                <a:solidFill>
                  <a:srgbClr val="21295C"/>
                </a:solidFill>
                <a:latin typeface="Arial"/>
              </a:rPr>
              <a:t> 74 работы, 106 опытов</a:t>
            </a:r>
          </a:p>
        </p:txBody>
      </p:sp>
      <p:sp>
        <p:nvSpPr>
          <p:cNvPr id="25" name="Rectangle 24"/>
          <p:cNvSpPr/>
          <p:nvPr/>
        </p:nvSpPr>
        <p:spPr>
          <a:xfrm>
            <a:off x="3723544" y="3469709"/>
            <a:ext cx="5476860" cy="985046"/>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869848" y="3469709"/>
            <a:ext cx="5184252"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модель сильнее — пара хуже модели на </a:t>
            </a:r>
            <a:r>
              <a:rPr sz="1500" b="1" i="0">
                <a:solidFill>
                  <a:srgbClr val="21295C"/>
                </a:solidFill>
                <a:latin typeface="Arial"/>
              </a:rPr>
              <a:t>0,54</a:t>
            </a:r>
            <a:r>
              <a:rPr sz="1500" b="0" i="0">
                <a:solidFill>
                  <a:srgbClr val="21295C"/>
                </a:solidFill>
                <a:latin typeface="Arial"/>
              </a:rPr>
              <a:t>, лучше человека на 0,74; по всему обзору −0,23</a:t>
            </a:r>
          </a:p>
        </p:txBody>
      </p:sp>
      <p:sp>
        <p:nvSpPr>
          <p:cNvPr id="27" name="Rectangle 26"/>
          <p:cNvSpPr/>
          <p:nvPr/>
        </p:nvSpPr>
        <p:spPr>
          <a:xfrm>
            <a:off x="9200405" y="3469709"/>
            <a:ext cx="2451794" cy="98504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346709" y="3469709"/>
            <a:ext cx="2159186" cy="985046"/>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счёт идёт против сильнейшей стороны</a:t>
            </a:r>
          </a:p>
        </p:txBody>
      </p:sp>
      <p:sp>
        <p:nvSpPr>
          <p:cNvPr id="29" name="Rectangle 28"/>
          <p:cNvSpPr/>
          <p:nvPr/>
        </p:nvSpPr>
        <p:spPr>
          <a:xfrm>
            <a:off x="539496" y="4454755"/>
            <a:ext cx="3184048" cy="711561"/>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454755"/>
            <a:ext cx="2891440" cy="711561"/>
          </a:xfrm>
          <a:prstGeom prst="rect">
            <a:avLst/>
          </a:prstGeom>
          <a:noFill/>
        </p:spPr>
        <p:txBody>
          <a:bodyPr wrap="square" lIns="0" rIns="0" tIns="0" bIns="0" anchor="ctr">
            <a:spAutoFit/>
          </a:bodyPr>
          <a:lstStyle/>
          <a:p>
            <a:pPr algn="l">
              <a:lnSpc>
                <a:spcPct val="116000"/>
              </a:lnSpc>
            </a:pPr>
            <a:r>
              <a:rPr sz="1500" b="1" i="0">
                <a:solidFill>
                  <a:srgbClr val="21295C"/>
                </a:solidFill>
                <a:latin typeface="Arial"/>
              </a:rPr>
              <a:t>Замер взгляда.</a:t>
            </a:r>
            <a:r>
              <a:rPr sz="1500" b="0" i="0">
                <a:solidFill>
                  <a:srgbClr val="21295C"/>
                </a:solidFill>
                <a:latin typeface="Arial"/>
              </a:rPr>
              <a:t> 10 читателей, против себя</a:t>
            </a:r>
          </a:p>
        </p:txBody>
      </p:sp>
      <p:sp>
        <p:nvSpPr>
          <p:cNvPr id="31" name="Rectangle 30"/>
          <p:cNvSpPr/>
          <p:nvPr/>
        </p:nvSpPr>
        <p:spPr>
          <a:xfrm>
            <a:off x="3723544" y="4454755"/>
            <a:ext cx="5476860" cy="711561"/>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869848" y="4454755"/>
            <a:ext cx="5184252"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где подсказка молчала (14 случаев) — пропущенных раков </a:t>
            </a:r>
            <a:r>
              <a:rPr sz="1500" b="1" i="0">
                <a:solidFill>
                  <a:srgbClr val="21295C"/>
                </a:solidFill>
                <a:latin typeface="Arial"/>
              </a:rPr>
              <a:t>29 → 61</a:t>
            </a:r>
            <a:r>
              <a:rPr sz="1500" b="0" i="0">
                <a:solidFill>
                  <a:srgbClr val="21295C"/>
                </a:solidFill>
                <a:latin typeface="Arial"/>
              </a:rPr>
              <a:t> из ста</a:t>
            </a:r>
          </a:p>
        </p:txBody>
      </p:sp>
      <p:sp>
        <p:nvSpPr>
          <p:cNvPr id="33" name="Rectangle 32"/>
          <p:cNvSpPr/>
          <p:nvPr/>
        </p:nvSpPr>
        <p:spPr>
          <a:xfrm>
            <a:off x="9200405" y="4454755"/>
            <a:ext cx="2451794" cy="711561"/>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346709" y="4454755"/>
            <a:ext cx="2159186" cy="711561"/>
          </a:xfrm>
          <a:prstGeom prst="rect">
            <a:avLst/>
          </a:prstGeom>
          <a:noFill/>
        </p:spPr>
        <p:txBody>
          <a:bodyPr wrap="square" lIns="0" rIns="0" tIns="0" bIns="0" anchor="ctr">
            <a:spAutoFit/>
          </a:bodyPr>
          <a:lstStyle/>
          <a:p>
            <a:pPr algn="l">
              <a:lnSpc>
                <a:spcPct val="116000"/>
              </a:lnSpc>
            </a:pPr>
            <a:r>
              <a:rPr sz="1500" b="0" i="0">
                <a:solidFill>
                  <a:srgbClr val="21295C"/>
                </a:solidFill>
                <a:latin typeface="Arial"/>
              </a:rPr>
              <a:t>знак задаёт правота подсказки</a:t>
            </a:r>
          </a:p>
        </p:txBody>
      </p:sp>
      <p:sp>
        <p:nvSpPr>
          <p:cNvPr id="35" name="TextBox 34"/>
          <p:cNvSpPr txBox="1"/>
          <p:nvPr/>
        </p:nvSpPr>
        <p:spPr>
          <a:xfrm>
            <a:off x="539496" y="5312621"/>
            <a:ext cx="11112703" cy="623671"/>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Ни в одном из четырёх решение человека не дошло до больного.</a:t>
            </a:r>
            <a:r>
              <a:rPr sz="1550" b="0" i="0">
                <a:solidFill>
                  <a:srgbClr val="21295C"/>
                </a:solidFill>
                <a:latin typeface="Arial"/>
              </a:rPr>
              <a:t> Исходы служат эталоном для счёта точности, а не последствием подсказки.</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время, снятое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площадь под кривой: 0,5 монетка, 1,0 без промаха. Поймано 33 случая из ста — не выявлено 1 709 из 2 552</a:t>
            </a:r>
          </a:p>
        </p:txBody>
      </p:sp>
      <p:sp>
        <p:nvSpPr>
          <p:cNvPr id="20" name="TextBox 19"/>
          <p:cNvSpPr txBox="1"/>
          <p:nvPr/>
        </p:nvSpPr>
        <p:spPr>
          <a:xfrm>
            <a:off x="502920" y="37123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Шкала руками</a:t>
            </a:r>
          </a:p>
        </p:txBody>
      </p:sp>
      <p:sp>
        <p:nvSpPr>
          <p:cNvPr id="21" name="Rounded Rectangle 20"/>
          <p:cNvSpPr/>
          <p:nvPr/>
        </p:nvSpPr>
        <p:spPr>
          <a:xfrm>
            <a:off x="1920240"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таблице</a:t>
            </a:r>
          </a:p>
        </p:txBody>
      </p:sp>
      <p:sp>
        <p:nvSpPr>
          <p:cNvPr id="23" name="Right Arrow 22"/>
          <p:cNvSpPr/>
          <p:nvPr/>
        </p:nvSpPr>
        <p:spPr>
          <a:xfrm>
            <a:off x="4202353" y="396368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a:t>
            </a:r>
          </a:p>
        </p:txBody>
      </p:sp>
      <p:sp>
        <p:nvSpPr>
          <p:cNvPr id="26" name="Right Arrow 25"/>
          <p:cNvSpPr/>
          <p:nvPr/>
        </p:nvSpPr>
        <p:spPr>
          <a:xfrm>
            <a:off x="6713067" y="396368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порог</a:t>
            </a:r>
          </a:p>
        </p:txBody>
      </p:sp>
      <p:sp>
        <p:nvSpPr>
          <p:cNvPr id="29" name="Right Arrow 28"/>
          <p:cNvSpPr/>
          <p:nvPr/>
        </p:nvSpPr>
        <p:spPr>
          <a:xfrm>
            <a:off x="9223781" y="396368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675747"/>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721467"/>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32" name="TextBox 31"/>
          <p:cNvSpPr txBox="1"/>
          <p:nvPr/>
        </p:nvSpPr>
        <p:spPr>
          <a:xfrm>
            <a:off x="502920" y="457166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в карте</a:t>
            </a:r>
          </a:p>
        </p:txBody>
      </p:sp>
      <p:sp>
        <p:nvSpPr>
          <p:cNvPr id="33" name="Rounded Rectangle 32"/>
          <p:cNvSpPr/>
          <p:nvPr/>
        </p:nvSpPr>
        <p:spPr>
          <a:xfrm>
            <a:off x="1920240"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показатели и записи непрерывно</a:t>
            </a:r>
          </a:p>
        </p:txBody>
      </p:sp>
      <p:sp>
        <p:nvSpPr>
          <p:cNvPr id="35" name="Right Arrow 34"/>
          <p:cNvSpPr/>
          <p:nvPr/>
        </p:nvSpPr>
        <p:spPr>
          <a:xfrm>
            <a:off x="4202353" y="482303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453509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458081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балл риска</a:t>
            </a:r>
          </a:p>
        </p:txBody>
      </p:sp>
      <p:sp>
        <p:nvSpPr>
          <p:cNvPr id="38" name="Right Arrow 37"/>
          <p:cNvSpPr/>
          <p:nvPr/>
        </p:nvSpPr>
        <p:spPr>
          <a:xfrm>
            <a:off x="6713067" y="4823034"/>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тревога с назначениями</a:t>
            </a:r>
          </a:p>
        </p:txBody>
      </p:sp>
      <p:sp>
        <p:nvSpPr>
          <p:cNvPr id="41" name="Right Arrow 40"/>
          <p:cNvSpPr/>
          <p:nvPr/>
        </p:nvSpPr>
        <p:spPr>
          <a:xfrm>
            <a:off x="9223781" y="4823034"/>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453509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458081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смена разбирает</a:t>
            </a:r>
          </a:p>
        </p:txBody>
      </p:sp>
      <p:sp>
        <p:nvSpPr>
          <p:cNvPr id="44" name="TextBox 43"/>
          <p:cNvSpPr txBox="1"/>
          <p:nvPr/>
        </p:nvSpPr>
        <p:spPr>
          <a:xfrm>
            <a:off x="502920" y="528471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 не ноль, а шкала, которую считали руками</a:t>
            </a:r>
          </a:p>
        </p:txBody>
      </p:sp>
      <p:sp>
        <p:nvSpPr>
          <p:cNvPr id="45" name="Rounded Rectangle 44"/>
          <p:cNvSpPr/>
          <p:nvPr/>
        </p:nvSpPr>
        <p:spPr>
          <a:xfrm>
            <a:off x="374904" y="5587394"/>
            <a:ext cx="11441887" cy="6488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5678834"/>
            <a:ext cx="11112703" cy="557373"/>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Модель сепсиса Epic</a:t>
            </a:r>
            <a:r>
              <a:rPr sz="1150" b="0" i="0">
                <a:solidFill>
                  <a:srgbClr val="21295C"/>
                </a:solidFill>
                <a:latin typeface="Arial"/>
              </a:rPr>
              <a:t> в медицинской карте. </a:t>
            </a:r>
            <a:r>
              <a:rPr sz="1150" b="0" i="1">
                <a:solidFill>
                  <a:srgbClr val="21295C"/>
                </a:solidFill>
                <a:latin typeface="Arial"/>
              </a:rPr>
              <a:t>Прогноз на структурированных данных: штрафованная логистическая регрессия, глубокой сети нет.</a:t>
            </a:r>
          </a:p>
          <a:p>
            <a:pPr algn="l">
              <a:lnSpc>
                <a:spcPct val="126000"/>
              </a:lnSpc>
              <a:spcBef>
                <a:spcPts val="700"/>
              </a:spcBef>
            </a:pPr>
            <a:r>
              <a:rPr sz="1150" b="0" i="0">
                <a:solidFill>
                  <a:srgbClr val="21295C"/>
                </a:solidFill>
                <a:latin typeface="Arial"/>
              </a:rPr>
              <a:t/>
            </a:r>
            <a:r>
              <a:rPr sz="1150" b="1" i="0">
                <a:solidFill>
                  <a:srgbClr val="21295C"/>
                </a:solidFill>
                <a:latin typeface="Arial"/>
              </a:rPr>
              <a:t>Сравнивать надо со шкалой, а не с нулём.</a:t>
            </a:r>
            <a:r>
              <a:rPr sz="1150" b="0" i="0">
                <a:solidFill>
                  <a:srgbClr val="21295C"/>
                </a:solidFill>
                <a:latin typeface="Arial"/>
              </a:rPr>
              <a:t> </a:t>
            </a:r>
            <a:r>
              <a:rPr sz="1150" b="0" i="1">
                <a:solidFill>
                  <a:srgbClr val="21295C"/>
                </a:solidFill>
                <a:latin typeface="Arial"/>
              </a:rPr>
              <a:t>Ретроспективно, 27 697 пациентов.</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5,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полосы не вышла.</a:t>
            </a:r>
            <a:r>
              <a:rPr sz="1300" b="0" i="0">
                <a:solidFill>
                  <a:srgbClr val="21295C"/>
                </a:solidFill>
                <a:latin typeface="Arial"/>
              </a:rPr>
              <a:t> Населения разные: сравнивается порядок величины, превосходства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считала сама. </a:t>
            </a:r>
            <a:r>
              <a:rPr sz="1300" b="1" i="0">
                <a:solidFill>
                  <a:srgbClr val="21295C"/>
                </a:solidFill>
                <a:latin typeface="Arial"/>
              </a:rPr>
              <a:t>Распределение входов сдвинулось, порог остался. Поток тревог, четвёртое искажение входа.</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6: Москва, Россия — модель предлагает заключительный диагноз по медкарте</a:t>
            </a:r>
          </a:p>
        </p:txBody>
      </p:sp>
      <p:sp>
        <p:nvSpPr>
          <p:cNvPr id="4" name="Rounded Rectangle 3"/>
          <p:cNvSpPr/>
          <p:nvPr/>
        </p:nvSpPr>
        <p:spPr>
          <a:xfrm>
            <a:off x="502920"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САМ → МОДЕЛЬ</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91,7 → 87,7 верных из ста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3 332 случая: модель на четыре пункта ХУЖЕ врача и внедрена как страховка от просмотра</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НАБОР КОДОВ</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256 → 571 → 363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571 покрывал 95 обращений из ста; сократили, убрав коды, которые терапевт не ставит</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УМЕЕТ МОЛЧАТЬ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млн запросов → 3 млн ответов</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выше порога неуверенности ответа нет</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Врач сам</a:t>
            </a:r>
          </a:p>
        </p:txBody>
      </p:sp>
      <p:sp>
        <p:nvSpPr>
          <p:cNvPr id="17" name="Rounded Rectangle 16"/>
          <p:cNvSpPr/>
          <p:nvPr/>
        </p:nvSpPr>
        <p:spPr>
          <a:xfrm>
            <a:off x="1920240"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жалобы и осмотр</a:t>
            </a:r>
          </a:p>
        </p:txBody>
      </p:sp>
      <p:sp>
        <p:nvSpPr>
          <p:cNvPr id="19" name="Right Arrow 18"/>
          <p:cNvSpPr/>
          <p:nvPr/>
        </p:nvSpPr>
        <p:spPr>
          <a:xfrm>
            <a:off x="4202353"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список</a:t>
            </a:r>
          </a:p>
        </p:txBody>
      </p:sp>
      <p:sp>
        <p:nvSpPr>
          <p:cNvPr id="22" name="Right Arrow 21"/>
          <p:cNvSpPr/>
          <p:nvPr/>
        </p:nvSpPr>
        <p:spPr>
          <a:xfrm>
            <a:off x="6713067"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выбирает</a:t>
            </a:r>
          </a:p>
        </p:txBody>
      </p:sp>
      <p:sp>
        <p:nvSpPr>
          <p:cNvPr id="25" name="Right Arrow 24"/>
          <p:cNvSpPr/>
          <p:nvPr/>
        </p:nvSpPr>
        <p:spPr>
          <a:xfrm>
            <a:off x="9223781" y="366568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8" name="TextBox 27"/>
          <p:cNvSpPr txBox="1"/>
          <p:nvPr/>
        </p:nvSpPr>
        <p:spPr>
          <a:xfrm>
            <a:off x="502920" y="41548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Москва, с моделью</a:t>
            </a:r>
          </a:p>
        </p:txBody>
      </p:sp>
      <p:sp>
        <p:nvSpPr>
          <p:cNvPr id="29" name="Rounded Rectangle 28"/>
          <p:cNvSpPr/>
          <p:nvPr/>
        </p:nvSpPr>
        <p:spPr>
          <a:xfrm>
            <a:off x="1920240"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целиком</a:t>
            </a:r>
          </a:p>
        </p:txBody>
      </p:sp>
      <p:sp>
        <p:nvSpPr>
          <p:cNvPr id="31" name="Right Arrow 30"/>
          <p:cNvSpPr/>
          <p:nvPr/>
        </p:nvSpPr>
        <p:spPr>
          <a:xfrm>
            <a:off x="4202353" y="428738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11826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416398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предлагает код</a:t>
            </a:r>
          </a:p>
        </p:txBody>
      </p:sp>
      <p:sp>
        <p:nvSpPr>
          <p:cNvPr id="34" name="Right Arrow 33"/>
          <p:cNvSpPr/>
          <p:nvPr/>
        </p:nvSpPr>
        <p:spPr>
          <a:xfrm>
            <a:off x="6713067" y="4287381"/>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верить ли</a:t>
            </a:r>
          </a:p>
        </p:txBody>
      </p:sp>
      <p:sp>
        <p:nvSpPr>
          <p:cNvPr id="37" name="Right Arrow 36"/>
          <p:cNvSpPr/>
          <p:nvPr/>
        </p:nvSpPr>
        <p:spPr>
          <a:xfrm>
            <a:off x="9223781" y="4287381"/>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11826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16398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40" name="TextBox 39"/>
          <p:cNvSpPr txBox="1"/>
          <p:nvPr/>
        </p:nvSpPr>
        <p:spPr>
          <a:xfrm>
            <a:off x="502920" y="46302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Подсказка приходит ДО решения врача и стоит выше него на экране</a:t>
            </a:r>
          </a:p>
        </p:txBody>
      </p:sp>
      <p:sp>
        <p:nvSpPr>
          <p:cNvPr id="41" name="Rounded Rectangle 40"/>
          <p:cNvSpPr/>
          <p:nvPr/>
        </p:nvSpPr>
        <p:spPr>
          <a:xfrm>
            <a:off x="374904" y="4932917"/>
            <a:ext cx="11441887" cy="1303290"/>
          </a:xfrm>
          <a:prstGeom prst="roundRect">
            <a:avLst>
              <a:gd name="adj" fmla="val 23386"/>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024357"/>
            <a:ext cx="11112703" cy="121185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за случай.</a:t>
            </a:r>
            <a:r>
              <a:rPr sz="1400" b="0" i="0">
                <a:solidFill>
                  <a:srgbClr val="21295C"/>
                </a:solidFill>
                <a:latin typeface="Arial"/>
              </a:rPr>
              <a:t> Москва, приём терапевта. Модель читает медкарту целиком и до решения врача предлагает заключительный диагноз кодом. </a:t>
            </a:r>
            <a:r>
              <a:rPr sz="1400" b="0" i="1">
                <a:solidFill>
                  <a:srgbClr val="21295C"/>
                </a:solidFill>
                <a:latin typeface="Arial"/>
              </a:rPr>
              <a:t>Изделие — AIDA.</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вся карта: жалобы, анамнез, осмотр, лаборатория, протоколы, история кодов. Выход — один код с оценкой неуверенности. Longformer до 8 192 токенов, 1,5 млн карт. </a:t>
            </a:r>
            <a:r>
              <a:rPr sz="1400" b="0" i="1">
                <a:solidFill>
                  <a:srgbClr val="21295C"/>
                </a:solidFill>
                <a:latin typeface="Arial"/>
              </a:rPr>
              <a:t>Обработка текста.</a:t>
            </a:r>
          </a:p>
        </p:txBody>
      </p:sp>
      <p:sp>
        <p:nvSpPr>
          <p:cNvPr id="43" name="Rectangle 42"/>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трек «ИИ для общественного блага», с. 9880–9886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6, цена: где врач и модель расходятся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СОГЛАСНЫ — 2 635 СЛУЧАЕВ</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99 верных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лёгкая часть набора: решать нечего</a:t>
            </a:r>
          </a:p>
        </p:txBody>
      </p:sp>
      <p:sp>
        <p:nvSpPr>
          <p:cNvPr id="8" name="Rounded Rectangle 7"/>
          <p:cNvSpPr/>
          <p:nvPr/>
        </p:nvSpPr>
        <p:spPr>
          <a:xfrm>
            <a:off x="4286402"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РАСХОДЯТСЯ — 697 СЛУЧАЕВ</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врач 64 → модель 45 из ста</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одном случае из пяти не надёжен никто: врач меньше чем в двух третях, модель меньше чем в половине</a:t>
            </a:r>
          </a:p>
        </p:txBody>
      </p:sp>
      <p:sp>
        <p:nvSpPr>
          <p:cNvPr id="12" name="Rounded Rectangle 11"/>
          <p:cNvSpPr/>
          <p:nvPr/>
        </p:nvSpPr>
        <p:spPr>
          <a:xfrm>
            <a:off x="8069884"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ТРОЕ ЭКСПЕРТОВ НЕ СОШЛИСЬ ПОЛНОСТЬЮ — 965 СЛУЧАЕВ</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врач 78,2 → модель 72</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проваливаются оба сразу, на двадцать пунктов</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Согласны — 2 635</a:t>
            </a:r>
          </a:p>
        </p:txBody>
      </p:sp>
      <p:sp>
        <p:nvSpPr>
          <p:cNvPr id="17" name="Rounded Rectangle 16"/>
          <p:cNvSpPr/>
          <p:nvPr/>
        </p:nvSpPr>
        <p:spPr>
          <a:xfrm>
            <a:off x="1920240" y="349656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4228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19" name="Right Arrow 18"/>
          <p:cNvSpPr/>
          <p:nvPr/>
        </p:nvSpPr>
        <p:spPr>
          <a:xfrm>
            <a:off x="4202353"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согласен</a:t>
            </a:r>
          </a:p>
        </p:txBody>
      </p:sp>
      <p:sp>
        <p:nvSpPr>
          <p:cNvPr id="22" name="Right Arrow 21"/>
          <p:cNvSpPr/>
          <p:nvPr/>
        </p:nvSpPr>
        <p:spPr>
          <a:xfrm>
            <a:off x="6713067"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код в карту</a:t>
            </a:r>
          </a:p>
        </p:txBody>
      </p:sp>
      <p:sp>
        <p:nvSpPr>
          <p:cNvPr id="25" name="Right Arrow 24"/>
          <p:cNvSpPr/>
          <p:nvPr/>
        </p:nvSpPr>
        <p:spPr>
          <a:xfrm>
            <a:off x="9223781" y="37845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49656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54228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проверять нечего</a:t>
            </a:r>
          </a:p>
        </p:txBody>
      </p:sp>
      <p:sp>
        <p:nvSpPr>
          <p:cNvPr id="28" name="TextBox 27"/>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Расходятся — 697</a:t>
            </a:r>
          </a:p>
        </p:txBody>
      </p:sp>
      <p:sp>
        <p:nvSpPr>
          <p:cNvPr id="29" name="Rounded Rectangle 28"/>
          <p:cNvSpPr/>
          <p:nvPr/>
        </p:nvSpPr>
        <p:spPr>
          <a:xfrm>
            <a:off x="1920240"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предложила код</a:t>
            </a:r>
          </a:p>
        </p:txBody>
      </p:sp>
      <p:sp>
        <p:nvSpPr>
          <p:cNvPr id="31" name="Right Arrow 30"/>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не согласен</a:t>
            </a:r>
          </a:p>
        </p:txBody>
      </p:sp>
      <p:sp>
        <p:nvSpPr>
          <p:cNvPr id="34" name="Right Arrow 33"/>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ставит свой код</a:t>
            </a:r>
          </a:p>
        </p:txBody>
      </p:sp>
      <p:sp>
        <p:nvSpPr>
          <p:cNvPr id="37" name="Right Arrow 36"/>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 нет</a:t>
            </a:r>
          </a:p>
        </p:txBody>
      </p:sp>
      <p:sp>
        <p:nvSpPr>
          <p:cNvPr id="40" name="TextBox 39"/>
          <p:cNvSpPr txBox="1"/>
          <p:nvPr/>
        </p:nvSpPr>
        <p:spPr>
          <a:xfrm>
            <a:off x="502920" y="510553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разбирает тот же врач — третьего читателя на этой стадии нет</a:t>
            </a:r>
          </a:p>
        </p:txBody>
      </p:sp>
      <p:sp>
        <p:nvSpPr>
          <p:cNvPr id="41" name="Rounded Rectangle 40"/>
          <p:cNvSpPr/>
          <p:nvPr/>
        </p:nvSpPr>
        <p:spPr>
          <a:xfrm>
            <a:off x="374904" y="5408215"/>
            <a:ext cx="11441887" cy="827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5499655"/>
            <a:ext cx="11112703" cy="7365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Где согласны — верны оба и решать нечего. Вся цена в пятой части случаев, где расходятся.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Эталон сам нестабилен:</a:t>
            </a:r>
            <a:r>
              <a:rPr sz="1500" b="0" i="0">
                <a:solidFill>
                  <a:srgbClr val="21295C"/>
                </a:solidFill>
                <a:latin typeface="Arial"/>
              </a:rPr>
              <a:t> на 168 случаях из 3 500 трое опытных врачей не сошлись вовсе.</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Умеренков, Нестеров, Шапошников и соавт., IJCAI-25, табл. 5, с. 9882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раздела: инструмент один, исходы противоположные</a:t>
            </a:r>
          </a:p>
        </p:txBody>
      </p:sp>
      <p:sp>
        <p:nvSpPr>
          <p:cNvPr id="4" name="Rounded Rectangle 3"/>
          <p:cNvSpPr/>
          <p:nvPr/>
        </p:nvSpPr>
        <p:spPr>
          <a:xfrm>
            <a:off x="502920" y="1335024"/>
            <a:ext cx="5437479" cy="2623525"/>
          </a:xfrm>
          <a:prstGeom prst="roundRect">
            <a:avLst>
              <a:gd name="adj" fmla="val 11617"/>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сторон — при одном устройстве процедуры</a:t>
            </a:r>
          </a:p>
          <a:p>
            <a:pPr algn="l">
              <a:lnSpc>
                <a:spcPct val="126000"/>
              </a:lnSpc>
            </a:pPr>
            <a:r>
              <a:rPr sz="1450" b="0" i="0">
                <a:solidFill>
                  <a:srgbClr val="21295C"/>
                </a:solidFill>
                <a:latin typeface="Arial"/>
              </a:rPr>
              <a:t>• арбитраж только на расхождениях: весь поток к нему не идёт</a:t>
            </a:r>
          </a:p>
        </p:txBody>
      </p:sp>
      <p:sp>
        <p:nvSpPr>
          <p:cNvPr id="7" name="Rounded Rectangle 6"/>
          <p:cNvSpPr/>
          <p:nvPr/>
        </p:nvSpPr>
        <p:spPr>
          <a:xfrm>
            <a:off x="6251295" y="1335024"/>
            <a:ext cx="5437479" cy="2623525"/>
          </a:xfrm>
          <a:prstGeom prst="roundRect">
            <a:avLst>
              <a:gd name="adj" fmla="val 11617"/>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95645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a:p>
            <a:pPr algn="l">
              <a:lnSpc>
                <a:spcPct val="126000"/>
              </a:lnSpc>
            </a:pPr>
            <a:r>
              <a:rPr sz="1450" b="0" i="0">
                <a:solidFill>
                  <a:srgbClr val="21295C"/>
                </a:solidFill>
                <a:latin typeface="Arial"/>
              </a:rPr>
              <a:t>• заметить, что распределение входов сдвинулось</a:t>
            </a:r>
          </a:p>
          <a:p>
            <a:pPr algn="l">
              <a:lnSpc>
                <a:spcPct val="126000"/>
              </a:lnSpc>
            </a:pPr>
            <a:r>
              <a:rPr sz="1450" b="0" i="0">
                <a:solidFill>
                  <a:srgbClr val="21295C"/>
                </a:solidFill>
                <a:latin typeface="Arial"/>
              </a:rPr>
              <a:t>• назначить ступень участия: её не записывает никто</a:t>
            </a:r>
          </a:p>
        </p:txBody>
      </p:sp>
      <p:sp>
        <p:nvSpPr>
          <p:cNvPr id="10" name="Rounded Rectangle 9"/>
          <p:cNvSpPr/>
          <p:nvPr/>
        </p:nvSpPr>
        <p:spPr>
          <a:xfrm>
            <a:off x="374904" y="4049989"/>
            <a:ext cx="11441887" cy="2186218"/>
          </a:xfrm>
          <a:prstGeom prst="roundRect">
            <a:avLst>
              <a:gd name="adj" fmla="val 1394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141429"/>
            <a:ext cx="11112703" cy="20947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Шесть разборов стадии дали противоположные исходы при одном инструменте.</a:t>
            </a:r>
            <a:r>
              <a:rPr sz="1300" b="0" i="0">
                <a:solidFill>
                  <a:srgbClr val="21295C"/>
                </a:solidFill>
                <a:latin typeface="Arial"/>
              </a:rPr>
              <a:t> Шведское испытание: одно человеческое чтение поверх модели сильнее двойного. Хирурги: та же пара ниже обоих. Расходится устройство процедуры: сохранена ли независимость мнений и порядок предъявления подсказки.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под цену обеих ошибок и арбитраж на расхождениях.</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a:p>
            <a:pPr algn="l">
              <a:lnSpc>
                <a:spcPct val="126000"/>
              </a:lnSpc>
              <a:spcBef>
                <a:spcPts val="700"/>
              </a:spcBef>
            </a:pPr>
            <a:r>
              <a:rPr sz="1300" b="0" i="0">
                <a:solidFill>
                  <a:srgbClr val="21295C"/>
                </a:solidFill>
                <a:latin typeface="Arial"/>
              </a:rPr>
              <a:t/>
            </a:r>
            <a:r>
              <a:rPr sz="1300" b="1" i="0">
                <a:solidFill>
                  <a:srgbClr val="21295C"/>
                </a:solidFill>
                <a:latin typeface="Arial"/>
              </a:rPr>
              <a:t>Из шести искажений входа раздел встретил четыре:</a:t>
            </a:r>
            <a:r>
              <a:rPr sz="1300" b="0" i="0">
                <a:solidFill>
                  <a:srgbClr val="21295C"/>
                </a:solidFill>
                <a:latin typeface="Arial"/>
              </a:rPr>
              <a:t> якорение на неверной расшифровке · сужение · поток тревог · несогласие штатным шагом.</a:t>
            </a: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855563"/>
          </a:xfrm>
          <a:prstGeom prst="roundRect">
            <a:avLst>
              <a:gd name="adj" fmla="val 10673"/>
            </a:avLst>
          </a:prstGeom>
          <a:solidFill>
            <a:srgbClr val="F4F7FA"/>
          </a:solidFill>
          <a:ln w="19050">
            <a:solidFill>
              <a:srgbClr val="1C7293"/>
            </a:solidFill>
          </a:ln>
          <a:effectLst/>
        </p:spPr>
        <p:txBody>
          <a:bodyPr rtlCol="0" anchor="ctr"/>
          <a:lstStyle/>
          <a:p>
            <a:pPr algn="ctr"/>
          </a:p>
        </p:txBody>
      </p:sp>
      <p:pic>
        <p:nvPicPr>
          <p:cNvPr id="5" name="Picture 4" descr="s60b-kartoteka-zapisey-patsientov.jpg"/>
          <p:cNvPicPr>
            <a:picLocks noChangeAspect="1"/>
          </p:cNvPicPr>
          <p:nvPr/>
        </p:nvPicPr>
        <p:blipFill>
          <a:blip r:embed="rId2"/>
          <a:stretch>
            <a:fillRect/>
          </a:stretch>
        </p:blipFill>
        <p:spPr>
          <a:xfrm>
            <a:off x="7680960" y="1051560"/>
            <a:ext cx="3870655" cy="258124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Ведение медицинской документации</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9" name="TextBox 8"/>
          <p:cNvSpPr txBox="1"/>
          <p:nvPr/>
        </p:nvSpPr>
        <p:spPr>
          <a:xfrm>
            <a:off x="704088" y="3347654"/>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r>
              <a:rPr sz="1550" b="0" i="0">
                <a:solidFill>
                  <a:srgbClr val="21295C"/>
                </a:solidFill>
                <a:latin typeface="Arial"/>
              </a:rPr>
              <a:t> · </a:t>
            </a:r>
            <a:r>
              <a:rPr sz="1550" b="1" i="0">
                <a:solidFill>
                  <a:srgbClr val="21295C"/>
                </a:solidFill>
                <a:latin typeface="Arial"/>
              </a:rPr>
              <a:t>Пример 3: голосовой ввод протокола лучевого исследования</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r>
              <a:rPr sz="1500" b="0" i="0">
                <a:solidFill>
                  <a:srgbClr val="21295C"/>
                </a:solidFill>
                <a:latin typeface="Arial"/>
              </a:rPr>
              <a:t> Своего измерения стадия не добавляет.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Пять способов получить запись:</a:t>
            </a:r>
            <a:r>
              <a:rPr sz="1500" b="0" i="0">
                <a:solidFill>
                  <a:srgbClr val="21295C"/>
                </a:solidFill>
                <a:latin typeface="Arial"/>
              </a:rPr>
              <a:t> набор руками при пациенте · набор после приёма · диктовка · автоподстановка из полей карты · перенос прежней записи.</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 что попадёт в документ, по которому назначат потом.</a:t>
            </a:r>
            <a:r>
              <a:rPr sz="1500" b="0" i="0">
                <a:solidFill>
                  <a:srgbClr val="21295C"/>
                </a:solidFill>
                <a:latin typeface="Arial"/>
              </a:rPr>
              <a:t> Стоит она после наблюдения: запись читают позже, и читает её другой человек со своим вопросом.</a:t>
            </a:r>
          </a:p>
        </p:txBody>
      </p:sp>
      <p:sp>
        <p:nvSpPr>
          <p:cNvPr id="15" name="Rectangle 14"/>
          <p:cNvSpPr/>
          <p:nvPr/>
        </p:nvSpPr>
        <p:spPr>
          <a:xfrm>
            <a:off x="6091275" y="2683657"/>
            <a:ext cx="9144" cy="15742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на стадии: запись приёма и выписной эпикриз</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приёма</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Держать структуру</a:t>
            </a:r>
          </a:p>
          <a:p>
            <a:pPr algn="ctr">
              <a:lnSpc>
                <a:spcPct val="112000"/>
              </a:lnSpc>
            </a:pPr>
            <a:r>
              <a:rPr sz="1350" b="0" i="0">
                <a:solidFill>
                  <a:srgbClr val="21295C"/>
                </a:solidFill>
                <a:latin typeface="Arial"/>
              </a:rPr>
              <a:t>в голове при разговоре</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Набрать запись</a:t>
            </a:r>
          </a:p>
          <a:p>
            <a:pPr algn="ctr">
              <a:lnSpc>
                <a:spcPct val="112000"/>
              </a:lnSpc>
            </a:pPr>
            <a:r>
              <a:rPr sz="1350" b="0" i="0">
                <a:solidFill>
                  <a:srgbClr val="21295C"/>
                </a:solidFill>
                <a:latin typeface="Arial"/>
              </a:rPr>
              <a:t>после приёма</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Вычитать</a:t>
            </a:r>
          </a:p>
          <a:p>
            <a:pPr algn="ctr">
              <a:lnSpc>
                <a:spcPct val="112000"/>
              </a:lnSpc>
            </a:pPr>
            <a:r>
              <a:rPr sz="1350" b="0" i="0">
                <a:solidFill>
                  <a:srgbClr val="21295C"/>
                </a:solidFill>
                <a:latin typeface="Arial"/>
              </a:rPr>
              <a:t>и подписать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Выписной эпикриз</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итог</a:t>
            </a:r>
          </a:p>
          <a:p>
            <a:pPr algn="ctr">
              <a:lnSpc>
                <a:spcPct val="112000"/>
              </a:lnSpc>
            </a:pPr>
            <a:r>
              <a:rPr sz="1350" b="0" i="0">
                <a:solidFill>
                  <a:srgbClr val="21295C"/>
                </a:solidFill>
                <a:latin typeface="Arial"/>
              </a:rPr>
              <a:t>из дневников</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Передать документ</a:t>
            </a:r>
          </a:p>
          <a:p>
            <a:pPr algn="ctr">
              <a:lnSpc>
                <a:spcPct val="112000"/>
              </a:lnSpc>
            </a:pPr>
            <a:r>
              <a:rPr sz="1350" b="0" i="0">
                <a:solidFill>
                  <a:srgbClr val="21295C"/>
                </a:solidFill>
                <a:latin typeface="Arial"/>
              </a:rPr>
              <a:t>следующему врачу</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Предъявить</a:t>
            </a:r>
          </a:p>
          <a:p>
            <a:pPr algn="ctr">
              <a:lnSpc>
                <a:spcPct val="112000"/>
              </a:lnSpc>
            </a:pPr>
            <a:r>
              <a:rPr sz="1350" b="0" i="0">
                <a:solidFill>
                  <a:srgbClr val="21295C"/>
                </a:solidFill>
                <a:latin typeface="Arial"/>
              </a:rPr>
              <a:t>при разборе случая</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по три на каждую форму документа</a:t>
            </a:r>
          </a:p>
        </p:txBody>
      </p:sp>
      <p:sp>
        <p:nvSpPr>
          <p:cNvPr id="23" name="Rounded Rectangle 22"/>
          <p:cNvSpPr/>
          <p:nvPr/>
        </p:nvSpPr>
        <p:spPr>
          <a:xfrm>
            <a:off x="374904" y="3246671"/>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Запись приёма.</a:t>
            </a:r>
            <a:r>
              <a:rPr sz="1500" b="0" i="0">
                <a:solidFill>
                  <a:srgbClr val="21295C"/>
                </a:solidFill>
                <a:latin typeface="Arial"/>
              </a:rPr>
              <a:t> Слушают разговор; в текст кладут жалобы, найденное при осмотре, диагноз и назначение. Читают её сам пациент и следующий врач.</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Выписной эпикриз.</a:t>
            </a:r>
            <a:r>
              <a:rPr sz="1500" b="0" i="0">
                <a:solidFill>
                  <a:srgbClr val="21295C"/>
                </a:solidFill>
                <a:latin typeface="Arial"/>
              </a:rPr>
              <a:t> Слушать нечего — собирают из дневников всю госпитализацию. Читают его участковый врач, следующий стационар и страховщик.</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Зачем вообще ведут медицинскую документацию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8123278" cy="310895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о человеке живёт дольше того, кто его принял.</a:t>
            </a:r>
            <a:r>
              <a:rPr sz="1500" b="0" i="0">
                <a:solidFill>
                  <a:srgbClr val="21295C"/>
                </a:solidFill>
                <a:latin typeface="Arial"/>
              </a:rPr>
              <a:t> Врач уйдёт в отпуск, сменит место, забудет; пациент придёт через год в другое учреждение. Единственное, что переходит между ними, —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Журнал случаев, 1819 год.</a:t>
            </a:r>
            <a:r>
              <a:rPr sz="1500" b="0" i="0">
                <a:solidFill>
                  <a:srgbClr val="21295C"/>
                </a:solidFill>
                <a:latin typeface="Arial"/>
              </a:rPr>
              <a:t> Имя, возраст, диагноз, давность жалобы, что назначено, запись на следующий день.</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Двести лет спустя это те же поля</a:t>
            </a:r>
            <a:r>
              <a:rPr sz="1500" b="0" i="0">
                <a:solidFill>
                  <a:srgbClr val="21295C"/>
                </a:solidFill>
                <a:latin typeface="Arial"/>
              </a:rPr>
              <a:t> — только теперь их состав и порядок ведения заданы приказом, а не привычкой врача.</a:t>
            </a:r>
          </a:p>
        </p:txBody>
      </p:sp>
      <p:sp>
        <p:nvSpPr>
          <p:cNvPr id="7" name="Rounded Rectangle 6"/>
          <p:cNvSpPr/>
          <p:nvPr/>
        </p:nvSpPr>
        <p:spPr>
          <a:xfrm>
            <a:off x="9010246" y="1335024"/>
            <a:ext cx="2678529" cy="3108960"/>
          </a:xfrm>
          <a:prstGeom prst="roundRect">
            <a:avLst>
              <a:gd name="adj" fmla="val 11379"/>
            </a:avLst>
          </a:prstGeom>
          <a:solidFill>
            <a:srgbClr val="F4F7FA"/>
          </a:solidFill>
          <a:ln w="19050">
            <a:solidFill>
              <a:srgbClr val="1C7293"/>
            </a:solidFill>
          </a:ln>
          <a:effectLst/>
        </p:spPr>
        <p:txBody>
          <a:bodyPr rtlCol="0" anchor="ctr"/>
          <a:lstStyle/>
          <a:p>
            <a:pPr algn="ctr"/>
          </a:p>
        </p:txBody>
      </p:sp>
      <p:pic>
        <p:nvPicPr>
          <p:cNvPr id="8" name="Picture 7" descr="s60bab-zapis-1819.jpg"/>
          <p:cNvPicPr>
            <a:picLocks noChangeAspect="1"/>
          </p:cNvPicPr>
          <p:nvPr/>
        </p:nvPicPr>
        <p:blipFill>
          <a:blip r:embed="rId2"/>
          <a:stretch>
            <a:fillRect/>
          </a:stretch>
        </p:blipFill>
        <p:spPr>
          <a:xfrm>
            <a:off x="9147406" y="1472184"/>
            <a:ext cx="2404209" cy="283464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Журнал случаев лазарета Филадельфийского работного дома, 1819–1820, Wellcome Collection L0016766</a:t>
            </a:r>
            <a:r>
              <a:rPr sz="1200" b="0" i="1">
                <a:solidFill>
                  <a:srgbClr val="1C7293"/>
                </a:solidFill>
                <a:latin typeface="Arial"/>
              </a:rPr>
              <a:t> · </a:t>
            </a:r>
            <a:r>
              <a:rPr sz="1200" b="0" i="1" u="sng">
                <a:solidFill>
                  <a:srgbClr val="065A82"/>
                </a:solidFill>
                <a:latin typeface="Arial"/>
                <a:hlinkClick r:id="rId3"/>
              </a:rPr>
              <a:t>приказ Минздрава России от 05.08.2022 № 530н</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ДОСЛОВНО — В ДОЛЕ СЛОВ КАРТЫ</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2 млн пациентов</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ВКЛАД ОШИБОК ПЕРЕНОСА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2,6 % из 190 ошибок</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190 на 212 165 приёмов</a:t>
            </a:r>
          </a:p>
        </p:txBody>
      </p:sp>
      <p:sp>
        <p:nvSpPr>
          <p:cNvPr id="12" name="TextBox 11"/>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Посчитаны</a:t>
            </a:r>
          </a:p>
        </p:txBody>
      </p:sp>
      <p:sp>
        <p:nvSpPr>
          <p:cNvPr id="13" name="Rounded Rectangle 12"/>
          <p:cNvSpPr/>
          <p:nvPr/>
        </p:nvSpPr>
        <p:spPr>
          <a:xfrm>
            <a:off x="1920240" y="2683657"/>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729377"/>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пишет сам</a:t>
            </a:r>
          </a:p>
          <a:p>
            <a:pPr algn="ctr">
              <a:lnSpc>
                <a:spcPct val="112000"/>
              </a:lnSpc>
            </a:pPr>
            <a:r>
              <a:rPr sz="1350" b="0" i="0">
                <a:solidFill>
                  <a:srgbClr val="21295C"/>
                </a:solidFill>
                <a:latin typeface="Arial"/>
              </a:rPr>
              <a:t>в минутах</a:t>
            </a:r>
          </a:p>
        </p:txBody>
      </p:sp>
      <p:sp>
        <p:nvSpPr>
          <p:cNvPr id="15" name="Rounded Rectangle 14"/>
          <p:cNvSpPr/>
          <p:nvPr/>
        </p:nvSpPr>
        <p:spPr>
          <a:xfrm>
            <a:off x="6877659" y="2683657"/>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6959955" y="2729377"/>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Перенос прежней записи</a:t>
            </a:r>
          </a:p>
          <a:p>
            <a:pPr algn="ctr">
              <a:lnSpc>
                <a:spcPct val="112000"/>
              </a:lnSpc>
            </a:pPr>
            <a:r>
              <a:rPr sz="1350" b="0" i="0">
                <a:solidFill>
                  <a:srgbClr val="21295C"/>
                </a:solidFill>
                <a:latin typeface="Arial"/>
              </a:rPr>
              <a:t>в доле слов</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Названы без числа</a:t>
            </a:r>
          </a:p>
        </p:txBody>
      </p:sp>
      <p:sp>
        <p:nvSpPr>
          <p:cNvPr id="18" name="Rounded Rectangle 17"/>
          <p:cNvSpPr/>
          <p:nvPr/>
        </p:nvSpPr>
        <p:spPr>
          <a:xfrm>
            <a:off x="1920240" y="3543003"/>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Живой писец</a:t>
            </a:r>
          </a:p>
        </p:txBody>
      </p:sp>
      <p:sp>
        <p:nvSpPr>
          <p:cNvPr id="20" name="Rounded Rectangle 19"/>
          <p:cNvSpPr/>
          <p:nvPr/>
        </p:nvSpPr>
        <p:spPr>
          <a:xfrm>
            <a:off x="6877659" y="3543003"/>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 ординатора</a:t>
            </a:r>
          </a:p>
        </p:txBody>
      </p:sp>
      <p:sp>
        <p:nvSpPr>
          <p:cNvPr id="22" name="TextBox 21"/>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режима письма: кто кладёт текст в документ</a:t>
            </a:r>
          </a:p>
        </p:txBody>
      </p:sp>
      <p:sp>
        <p:nvSpPr>
          <p:cNvPr id="23" name="Rounded Rectangle 22"/>
          <p:cNvSpPr/>
          <p:nvPr/>
        </p:nvSpPr>
        <p:spPr>
          <a:xfrm>
            <a:off x="374904" y="4595305"/>
            <a:ext cx="11441887" cy="1640902"/>
          </a:xfrm>
          <a:prstGeom prst="roundRect">
            <a:avLst>
              <a:gd name="adj" fmla="val 1857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Половина слов карты уже была написана об этом же пациенте раньше</a:t>
            </a:r>
            <a:r>
              <a:rPr sz="1450" b="0" i="0">
                <a:solidFill>
                  <a:srgbClr val="21295C"/>
                </a:solidFill>
                <a:latin typeface="Arial"/>
              </a:rPr>
              <a:t> — не «половина заметок скопирована», а «половина написанного уже было написано».</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это кончается у одного человека.</a:t>
            </a:r>
            <a:r>
              <a:rPr sz="1450" b="0" i="0">
                <a:solidFill>
                  <a:srgbClr val="21295C"/>
                </a:solidFill>
                <a:latin typeface="Arial"/>
              </a:rPr>
              <a:t> Пациенту на химиотерапии запись о профилактике гепарином перенесли в поступательную заметку. Гепарин не назначали. Запись переносили пять дней, и каждый читавший считал профилактику выполняемой. После выписки — тромбоэмболия лёгочной артерии.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модель заняла на стадии записи и чего не может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Работает:</a:t>
            </a:r>
            <a:r>
              <a:rPr sz="1500" b="0" i="0">
                <a:solidFill>
                  <a:srgbClr val="21295C"/>
                </a:solidFill>
                <a:latin typeface="Arial"/>
              </a:rPr>
              <a:t> набор записи и сборка выписного документа. Держать структуру в голове при живом разговоре с человека снято — единственное место лекции, где шаг у него действительно убрали.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работает в трёх местах:</a:t>
            </a:r>
            <a:r>
              <a:rPr sz="1500" b="0" i="0">
                <a:solidFill>
                  <a:srgbClr val="21295C"/>
                </a:solidFill>
                <a:latin typeface="Arial"/>
              </a:rPr>
              <a:t> снять обязанность вычитки · сократить активное время правки · отличить правдоподобное от записанного.</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p:txBody>
      </p:sp>
      <p:sp>
        <p:nvSpPr>
          <p:cNvPr id="11" name="Rectangle 1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Сколько пишут в разных странах и почему</a:t>
            </a:r>
          </a:p>
        </p:txBody>
      </p:sp>
      <p:sp>
        <p:nvSpPr>
          <p:cNvPr id="4" name="Rounded Rectangle 3"/>
          <p:cNvSpPr/>
          <p:nvPr/>
        </p:nvSpPr>
        <p:spPr>
          <a:xfrm>
            <a:off x="502920"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ЗАМЕТКА В США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6 000 знаков</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~1 200 вне США, у одного поставщика карты</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СВЕРХ КЛИНИЧЕСКОГО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платёжное и контрольное</a:t>
            </a:r>
          </a:p>
        </p:txBody>
      </p:sp>
      <p:sp>
        <p:nvSpPr>
          <p:cNvPr id="11" name="Rounded Rectangle 10"/>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ПОСЛЕ ПРАВКИ ПРАВИЛ ОПЛАТЫ В 2021-М</a:t>
            </a:r>
          </a:p>
        </p:txBody>
      </p:sp>
      <p:sp>
        <p:nvSpPr>
          <p:cNvPr id="13" name="TextBox 12"/>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+8,1 % за три года</a:t>
            </a:r>
          </a:p>
        </p:txBody>
      </p:sp>
      <p:sp>
        <p:nvSpPr>
          <p:cNvPr id="14" name="TextBox 13"/>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выборка — все 1,7 млрд заметок поставщика, не только США</a:t>
            </a:r>
          </a:p>
        </p:txBody>
      </p:sp>
      <p:sp>
        <p:nvSpPr>
          <p:cNvPr id="15" name="Rounded Rectangle 14"/>
          <p:cNvSpPr/>
          <p:nvPr/>
        </p:nvSpPr>
        <p:spPr>
          <a:xfrm>
            <a:off x="374904" y="2803461"/>
            <a:ext cx="11441887" cy="93856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2894901"/>
            <a:ext cx="11112703" cy="3341306"/>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Поставщик карты один, длина вчетверо разная.</a:t>
            </a:r>
            <a:r>
              <a:rPr sz="1400" b="0" i="0">
                <a:solidFill>
                  <a:srgbClr val="21295C"/>
                </a:solidFill>
                <a:latin typeface="Arial"/>
              </a:rPr>
              <a:t> Длину задаёт тот, кто читает документ и за что платит.</a:t>
            </a:r>
          </a:p>
          <a:p>
            <a:pPr algn="l">
              <a:lnSpc>
                <a:spcPct val="118000"/>
              </a:lnSpc>
              <a:spcBef>
                <a:spcPts val="600"/>
              </a:spcBef>
            </a:pPr>
            <a:r>
              <a:rPr sz="1400" b="0" i="0">
                <a:solidFill>
                  <a:srgbClr val="21295C"/>
                </a:solidFill>
                <a:latin typeface="Arial"/>
              </a:rPr>
              <a:t/>
            </a:r>
            <a:r>
              <a:rPr sz="1400" b="1" i="0">
                <a:solidFill>
                  <a:srgbClr val="21295C"/>
                </a:solidFill>
                <a:latin typeface="Arial"/>
              </a:rPr>
              <a:t>В России состав записи задан приказом</a:t>
            </a:r>
            <a:r>
              <a:rPr sz="1400" b="0" i="0">
                <a:solidFill>
                  <a:srgbClr val="21295C"/>
                </a:solidFill>
                <a:latin typeface="Arial"/>
              </a:rPr>
              <a:t>, проверяет её экспертиза качества, не плательщик. </a:t>
            </a:r>
            <a:r>
              <a:rPr sz="1400" b="0" i="1">
                <a:solidFill>
                  <a:srgbClr val="21295C"/>
                </a:solidFill>
                <a:latin typeface="Arial"/>
              </a:rPr>
              <a:t>Замера длины не публиковалось.</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Downing, Bates, Longhurst, Annals of Internal Medicine 2018</a:t>
            </a:r>
            <a:r>
              <a:rPr sz="1200" b="0" i="1">
                <a:solidFill>
                  <a:srgbClr val="1C7293"/>
                </a:solidFill>
                <a:latin typeface="Arial"/>
              </a:rPr>
              <a:t> · </a:t>
            </a:r>
            <a:r>
              <a:rPr sz="1200" b="0" i="1" u="sng">
                <a:solidFill>
                  <a:srgbClr val="065A82"/>
                </a:solidFill>
                <a:latin typeface="Arial"/>
                <a:hlinkClick r:id="rId3"/>
              </a:rPr>
              <a:t>Epic Research, 1,7 млрд заметок, 2023</a:t>
            </a:r>
            <a:r>
              <a:rPr sz="1200" b="0" i="1">
                <a:solidFill>
                  <a:srgbClr val="1C7293"/>
                </a:solidFill>
                <a:latin typeface="Arial"/>
              </a:rPr>
              <a:t> · </a:t>
            </a:r>
            <a:r>
              <a:rPr sz="1200" b="0" i="1" u="sng">
                <a:solidFill>
                  <a:srgbClr val="065A82"/>
                </a:solidFill>
                <a:latin typeface="Arial"/>
                <a:hlinkClick r:id="rId4"/>
              </a:rPr>
              <a:t>приказ Минздрава России от 05.08.2022 № 530н</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ВРАЧ ПИШЕТ САМ</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на заметку</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свой дрейф —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ИНСТРУМЕНТ ПРОТИВ КОНТРОЛЬНОЙ ГРУППЫ</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 ни у одного</a:t>
            </a:r>
          </a:p>
        </p:txBody>
      </p:sp>
      <p:sp>
        <p:nvSpPr>
          <p:cNvPr id="14" name="Rounded Rectangle 13"/>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ПОСТАВЩИКОМ, МЕТОДИКИ НЕТ</a:t>
            </a:r>
          </a:p>
        </p:txBody>
      </p:sp>
      <p:sp>
        <p:nvSpPr>
          <p:cNvPr id="16" name="TextBox 15"/>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17" name="TextBox 16"/>
          <p:cNvSpPr txBox="1"/>
          <p:nvPr/>
        </p:nvSpPr>
        <p:spPr>
          <a:xfrm>
            <a:off x="9152915"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 — в четыре минуты не укладывается</a:t>
            </a:r>
          </a:p>
        </p:txBody>
      </p:sp>
      <p:sp>
        <p:nvSpPr>
          <p:cNvPr id="18" name="TextBox 17"/>
          <p:cNvSpPr txBox="1"/>
          <p:nvPr/>
        </p:nvSpPr>
        <p:spPr>
          <a:xfrm>
            <a:off x="502920" y="374061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9" name="Rounded Rectangle 18"/>
          <p:cNvSpPr/>
          <p:nvPr/>
        </p:nvSpPr>
        <p:spPr>
          <a:xfrm>
            <a:off x="1920240"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1" name="Right Arrow 20"/>
          <p:cNvSpPr/>
          <p:nvPr/>
        </p:nvSpPr>
        <p:spPr>
          <a:xfrm>
            <a:off x="4202353" y="38731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430953"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4513249"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Структура — в голове</a:t>
            </a:r>
          </a:p>
        </p:txBody>
      </p:sp>
      <p:sp>
        <p:nvSpPr>
          <p:cNvPr id="24" name="Right Arrow 23"/>
          <p:cNvSpPr/>
          <p:nvPr/>
        </p:nvSpPr>
        <p:spPr>
          <a:xfrm>
            <a:off x="6713067" y="38731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6941667"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7023963"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набирает сам</a:t>
            </a:r>
          </a:p>
        </p:txBody>
      </p:sp>
      <p:sp>
        <p:nvSpPr>
          <p:cNvPr id="27" name="Right Arrow 26"/>
          <p:cNvSpPr/>
          <p:nvPr/>
        </p:nvSpPr>
        <p:spPr>
          <a:xfrm>
            <a:off x="9223781" y="38731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52381" y="3704039"/>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9534677" y="3749759"/>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0" name="TextBox 29"/>
          <p:cNvSpPr txBox="1"/>
          <p:nvPr/>
        </p:nvSpPr>
        <p:spPr>
          <a:xfrm>
            <a:off x="502920" y="436231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1" name="Rounded Rectangle 30"/>
          <p:cNvSpPr/>
          <p:nvPr/>
        </p:nvSpPr>
        <p:spPr>
          <a:xfrm>
            <a:off x="1920240"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Звук приёма</a:t>
            </a:r>
          </a:p>
        </p:txBody>
      </p:sp>
      <p:sp>
        <p:nvSpPr>
          <p:cNvPr id="33" name="Right Arrow 32"/>
          <p:cNvSpPr/>
          <p:nvPr/>
        </p:nvSpPr>
        <p:spPr>
          <a:xfrm>
            <a:off x="4202353" y="4494852"/>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4430953" y="4325736"/>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5" name="TextBox 34"/>
          <p:cNvSpPr txBox="1"/>
          <p:nvPr/>
        </p:nvSpPr>
        <p:spPr>
          <a:xfrm>
            <a:off x="4513249" y="4371456"/>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даёт черновик</a:t>
            </a:r>
          </a:p>
        </p:txBody>
      </p:sp>
      <p:sp>
        <p:nvSpPr>
          <p:cNvPr id="36" name="Right Arrow 35"/>
          <p:cNvSpPr/>
          <p:nvPr/>
        </p:nvSpPr>
        <p:spPr>
          <a:xfrm>
            <a:off x="6713067" y="4494852"/>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6941667"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7023963"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39" name="Right Arrow 38"/>
          <p:cNvSpPr/>
          <p:nvPr/>
        </p:nvSpPr>
        <p:spPr>
          <a:xfrm>
            <a:off x="9223781" y="4494852"/>
            <a:ext cx="182880" cy="137160"/>
          </a:xfrm>
          <a:prstGeom prst="rightArrow">
            <a:avLst/>
          </a:prstGeom>
          <a:solidFill>
            <a:srgbClr val="1C7293"/>
          </a:solidFill>
          <a:ln>
            <a:noFill/>
          </a:ln>
          <a:effectLst/>
        </p:spPr>
        <p:txBody>
          <a:bodyPr rtlCol="0" anchor="ctr"/>
          <a:lstStyle/>
          <a:p>
            <a:pPr algn="ctr"/>
          </a:p>
        </p:txBody>
      </p:sp>
      <p:sp>
        <p:nvSpPr>
          <p:cNvPr id="40" name="Rounded Rectangle 39"/>
          <p:cNvSpPr/>
          <p:nvPr/>
        </p:nvSpPr>
        <p:spPr>
          <a:xfrm>
            <a:off x="9452381" y="4325736"/>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9534677" y="4371456"/>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42" name="TextBox 41"/>
          <p:cNvSpPr txBox="1"/>
          <p:nvPr/>
        </p:nvSpPr>
        <p:spPr>
          <a:xfrm>
            <a:off x="502920" y="483770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и тот же приём двумя порядками: сверху без модели, снизу с ней</a:t>
            </a:r>
          </a:p>
        </p:txBody>
      </p:sp>
      <p:sp>
        <p:nvSpPr>
          <p:cNvPr id="43" name="Rounded Rectangle 42"/>
          <p:cNvSpPr/>
          <p:nvPr/>
        </p:nvSpPr>
        <p:spPr>
          <a:xfrm>
            <a:off x="374904" y="5140388"/>
            <a:ext cx="11441887" cy="109581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4" name="TextBox 43"/>
          <p:cNvSpPr txBox="1"/>
          <p:nvPr/>
        </p:nvSpPr>
        <p:spPr>
          <a:xfrm>
            <a:off x="539496" y="5231828"/>
            <a:ext cx="11112703" cy="1004379"/>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звук приёма, на выходе черновик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врачей, три равные группы: два инструмента и обычная практика. </a:t>
            </a:r>
            <a:r>
              <a:rPr sz="1500" b="1" i="0">
                <a:solidFill>
                  <a:srgbClr val="21295C"/>
                </a:solidFill>
                <a:latin typeface="Arial"/>
              </a:rPr>
              <a:t>У второго изменений нет</a:t>
            </a:r>
            <a:r>
              <a:rPr sz="1500" b="0" i="0">
                <a:solidFill>
                  <a:srgbClr val="21295C"/>
                </a:solidFill>
                <a:latin typeface="Arial"/>
              </a:rPr>
              <a:t> — эффект принадлежит реализации, не классу.</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1, Россия: протокол приёма заполняет голосовой помощник</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УЧАСТКОВЫЕ ВРАЧИ МОСКВЫ С ПОМОЩНИКОМ</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больше 3 000</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все взрослые городские поликлиники, с сентября 2026</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ПРОТОКОЛА ПО ОЦЕНКЕ ЭКСПЕРТОВ</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из 5</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столько же, сколько у заполненного человеком</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ВНИМАНИЕ ВРАЧА К ПАЦИЕНТУ</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выросло вдвое</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неврологов; от какой величины — не названо</a:t>
            </a:r>
          </a:p>
        </p:txBody>
      </p:sp>
      <p:sp>
        <p:nvSpPr>
          <p:cNvPr id="16" name="TextBox 15"/>
          <p:cNvSpPr txBox="1"/>
          <p:nvPr/>
        </p:nvSpPr>
        <p:spPr>
          <a:xfrm>
            <a:off x="502920" y="3138948"/>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19" name="Right Arrow 18"/>
          <p:cNvSpPr/>
          <p:nvPr/>
        </p:nvSpPr>
        <p:spPr>
          <a:xfrm>
            <a:off x="5039258" y="3390313"/>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печатает сам</a:t>
            </a:r>
          </a:p>
        </p:txBody>
      </p:sp>
      <p:sp>
        <p:nvSpPr>
          <p:cNvPr id="22" name="Right Arrow 21"/>
          <p:cNvSpPr/>
          <p:nvPr/>
        </p:nvSpPr>
        <p:spPr>
          <a:xfrm>
            <a:off x="8386876" y="3390313"/>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102372"/>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48092"/>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5" name="TextBox 24"/>
          <p:cNvSpPr txBox="1"/>
          <p:nvPr/>
        </p:nvSpPr>
        <p:spPr>
          <a:xfrm>
            <a:off x="502920" y="399829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8" name="Right Arrow 27"/>
          <p:cNvSpPr/>
          <p:nvPr/>
        </p:nvSpPr>
        <p:spPr>
          <a:xfrm>
            <a:off x="4202353" y="4249659"/>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3961718"/>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007438"/>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раскладывает по полям</a:t>
            </a:r>
          </a:p>
        </p:txBody>
      </p:sp>
      <p:sp>
        <p:nvSpPr>
          <p:cNvPr id="31" name="Right Arrow 30"/>
          <p:cNvSpPr/>
          <p:nvPr/>
        </p:nvSpPr>
        <p:spPr>
          <a:xfrm>
            <a:off x="6713067" y="4249659"/>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проверяет и правит</a:t>
            </a:r>
          </a:p>
        </p:txBody>
      </p:sp>
      <p:sp>
        <p:nvSpPr>
          <p:cNvPr id="34" name="Right Arrow 33"/>
          <p:cNvSpPr/>
          <p:nvPr/>
        </p:nvSpPr>
        <p:spPr>
          <a:xfrm>
            <a:off x="9223781" y="4249659"/>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3961718"/>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007438"/>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7" name="TextBox 36"/>
          <p:cNvSpPr txBox="1"/>
          <p:nvPr/>
        </p:nvSpPr>
        <p:spPr>
          <a:xfrm>
            <a:off x="502920" y="47113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приём двумя порядками — отечественное развёртывание</a:t>
            </a:r>
          </a:p>
        </p:txBody>
      </p:sp>
      <p:sp>
        <p:nvSpPr>
          <p:cNvPr id="38" name="Rounded Rectangle 37"/>
          <p:cNvSpPr/>
          <p:nvPr/>
        </p:nvSpPr>
        <p:spPr>
          <a:xfrm>
            <a:off x="374904" y="5014019"/>
            <a:ext cx="11441887" cy="1222188"/>
          </a:xfrm>
          <a:prstGeom prst="roundRect">
            <a:avLst>
              <a:gd name="adj" fmla="val 24938"/>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105459"/>
            <a:ext cx="5373471" cy="113074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разговор приёма, на выходе поля протокола.</a:t>
            </a:r>
          </a:p>
        </p:txBody>
      </p:sp>
      <p:sp>
        <p:nvSpPr>
          <p:cNvPr id="40" name="TextBox 39"/>
          <p:cNvSpPr txBox="1"/>
          <p:nvPr/>
        </p:nvSpPr>
        <p:spPr>
          <a:xfrm>
            <a:off x="6278727" y="5105459"/>
            <a:ext cx="5373471" cy="11307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Экспертная оценка готовых протоколов. Слепого сравнения и контрольной группы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Обучен на обезличенных записях реальных приёмов.</a:t>
            </a:r>
          </a:p>
        </p:txBody>
      </p:sp>
      <p:sp>
        <p:nvSpPr>
          <p:cNvPr id="41" name="Rectangle 40"/>
          <p:cNvSpPr/>
          <p:nvPr/>
        </p:nvSpPr>
        <p:spPr>
          <a:xfrm>
            <a:off x="6091275" y="5105459"/>
            <a:ext cx="9144" cy="980083"/>
          </a:xfrm>
          <a:prstGeom prst="rect">
            <a:avLst/>
          </a:prstGeom>
          <a:solidFill>
            <a:srgbClr val="D9E2EC"/>
          </a:solidFill>
          <a:ln>
            <a:noFill/>
          </a:ln>
          <a:effectLst/>
        </p:spPr>
        <p:txBody>
          <a:bodyPr rtlCol="0" anchor="ctr"/>
          <a:lstStyle/>
          <a:p>
            <a:pPr algn="ctr"/>
          </a:p>
        </p:txBody>
      </p:sp>
      <p:sp>
        <p:nvSpPr>
          <p:cNvPr id="42" name="Rectangle 4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Департамент здравоохранения Москвы, 09.09.2026</a:t>
            </a:r>
            <a:r>
              <a:rPr sz="1200" b="0" i="1">
                <a:solidFill>
                  <a:srgbClr val="1C7293"/>
                </a:solidFill>
                <a:latin typeface="Arial"/>
              </a:rPr>
              <a:t> · </a:t>
            </a:r>
            <a:r>
              <a:rPr sz="1200" b="0" i="1" u="sng">
                <a:solidFill>
                  <a:srgbClr val="065A82"/>
                </a:solidFill>
                <a:latin typeface="Arial"/>
                <a:hlinkClick r:id="rId3"/>
              </a:rPr>
              <a:t>Департамент здравоохранения Москвы, 25.06.2026</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Штат службы контроля — из неопубликованного отчёта клиники: своего адреса у числа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2673019" cy="1678773"/>
          </a:xfrm>
          <a:prstGeom prst="roundRect">
            <a:avLst>
              <a:gd name="adj" fmla="val 1815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ХОТЯ БЫ ОДНА ОШИБКА В ДОКУМЕНТЕ</a:t>
            </a:r>
          </a:p>
        </p:txBody>
      </p:sp>
      <p:sp>
        <p:nvSpPr>
          <p:cNvPr id="6" name="TextBox 5"/>
          <p:cNvSpPr txBox="1"/>
          <p:nvPr/>
        </p:nvSpPr>
        <p:spPr>
          <a:xfrm>
            <a:off x="640080" y="1932846"/>
            <a:ext cx="2398699" cy="732547"/>
          </a:xfrm>
          <a:prstGeom prst="rect">
            <a:avLst/>
          </a:prstGeom>
          <a:noFill/>
        </p:spPr>
        <p:txBody>
          <a:bodyPr wrap="square" lIns="0" rIns="0" tIns="0" bIns="0" anchor="t">
            <a:spAutoFit/>
          </a:bodyPr>
          <a:lstStyle/>
          <a:p>
            <a:pPr algn="l">
              <a:lnSpc>
                <a:spcPct val="108000"/>
              </a:lnSpc>
            </a:pPr>
            <a:r>
              <a:rPr sz="2050" b="1" i="0">
                <a:solidFill>
                  <a:srgbClr val="1C7293"/>
                </a:solidFill>
                <a:latin typeface="Arial"/>
              </a:rPr>
              <a:t>9 из 11 машинных эпикризов</a:t>
            </a:r>
          </a:p>
        </p:txBody>
      </p:sp>
      <p:sp>
        <p:nvSpPr>
          <p:cNvPr id="7" name="TextBox 6"/>
          <p:cNvSpPr txBox="1"/>
          <p:nvPr/>
        </p:nvSpPr>
        <p:spPr>
          <a:xfrm>
            <a:off x="640080" y="266539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19 выдумок крупных 10</a:t>
            </a:r>
          </a:p>
        </p:txBody>
      </p:sp>
      <p:sp>
        <p:nvSpPr>
          <p:cNvPr id="8" name="Rounded Rectangle 7"/>
          <p:cNvSpPr/>
          <p:nvPr/>
        </p:nvSpPr>
        <p:spPr>
          <a:xfrm>
            <a:off x="3340531"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рецензентов</a:t>
            </a:r>
          </a:p>
        </p:txBody>
      </p:sp>
      <p:sp>
        <p:nvSpPr>
          <p:cNvPr id="12" name="Rounded Rectangle 11"/>
          <p:cNvSpPr/>
          <p:nvPr/>
        </p:nvSpPr>
        <p:spPr>
          <a:xfrm>
            <a:off x="6178143"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6" name="Rounded Rectangle 15"/>
          <p:cNvSpPr/>
          <p:nvPr/>
        </p:nvSpPr>
        <p:spPr>
          <a:xfrm>
            <a:off x="9015755" y="1335024"/>
            <a:ext cx="2673019" cy="1678773"/>
          </a:xfrm>
          <a:prstGeom prst="roundRect">
            <a:avLst>
              <a:gd name="adj" fmla="val 1815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1,34 → 1,35</a:t>
            </a:r>
          </a:p>
        </p:txBody>
      </p:sp>
      <p:sp>
        <p:nvSpPr>
          <p:cNvPr id="19" name="TextBox 18"/>
          <p:cNvSpPr txBox="1"/>
          <p:nvPr/>
        </p:nvSpPr>
        <p:spPr>
          <a:xfrm>
            <a:off x="9152915"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20" name="TextBox 19"/>
          <p:cNvSpPr txBox="1"/>
          <p:nvPr/>
        </p:nvSpPr>
        <p:spPr>
          <a:xfrm>
            <a:off x="502920" y="323325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21" name="Rounded Rectangle 20"/>
          <p:cNvSpPr/>
          <p:nvPr/>
        </p:nvSpPr>
        <p:spPr>
          <a:xfrm>
            <a:off x="1920240"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23" name="Right Arrow 22"/>
          <p:cNvSpPr/>
          <p:nvPr/>
        </p:nvSpPr>
        <p:spPr>
          <a:xfrm>
            <a:off x="4202353" y="336579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собирает сам</a:t>
            </a:r>
          </a:p>
        </p:txBody>
      </p:sp>
      <p:sp>
        <p:nvSpPr>
          <p:cNvPr id="26" name="Right Arrow 25"/>
          <p:cNvSpPr/>
          <p:nvPr/>
        </p:nvSpPr>
        <p:spPr>
          <a:xfrm>
            <a:off x="6713067" y="336579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своего</a:t>
            </a:r>
          </a:p>
        </p:txBody>
      </p:sp>
      <p:sp>
        <p:nvSpPr>
          <p:cNvPr id="29" name="Right Arrow 28"/>
          <p:cNvSpPr/>
          <p:nvPr/>
        </p:nvSpPr>
        <p:spPr>
          <a:xfrm>
            <a:off x="9223781" y="3365794"/>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196677"/>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242397"/>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32" name="TextBox 31"/>
          <p:cNvSpPr txBox="1"/>
          <p:nvPr/>
        </p:nvSpPr>
        <p:spPr>
          <a:xfrm>
            <a:off x="502920" y="385495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33" name="Rounded Rectangle 32"/>
          <p:cNvSpPr/>
          <p:nvPr/>
        </p:nvSpPr>
        <p:spPr>
          <a:xfrm>
            <a:off x="1920240"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История и дневники</a:t>
            </a:r>
          </a:p>
        </p:txBody>
      </p:sp>
      <p:sp>
        <p:nvSpPr>
          <p:cNvPr id="35" name="Right Arrow 34"/>
          <p:cNvSpPr/>
          <p:nvPr/>
        </p:nvSpPr>
        <p:spPr>
          <a:xfrm>
            <a:off x="4202353" y="3987491"/>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3818374"/>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7" name="TextBox 36"/>
          <p:cNvSpPr txBox="1"/>
          <p:nvPr/>
        </p:nvSpPr>
        <p:spPr>
          <a:xfrm>
            <a:off x="4513249" y="3864094"/>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собирает</a:t>
            </a:r>
          </a:p>
        </p:txBody>
      </p:sp>
      <p:sp>
        <p:nvSpPr>
          <p:cNvPr id="38" name="Right Arrow 37"/>
          <p:cNvSpPr/>
          <p:nvPr/>
        </p:nvSpPr>
        <p:spPr>
          <a:xfrm>
            <a:off x="6713067" y="3987491"/>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 чужого</a:t>
            </a:r>
          </a:p>
        </p:txBody>
      </p:sp>
      <p:sp>
        <p:nvSpPr>
          <p:cNvPr id="41" name="Right Arrow 40"/>
          <p:cNvSpPr/>
          <p:nvPr/>
        </p:nvSpPr>
        <p:spPr>
          <a:xfrm>
            <a:off x="9223781" y="3987491"/>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3818374"/>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3864094"/>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 лечащего</a:t>
            </a:r>
          </a:p>
        </p:txBody>
      </p:sp>
      <p:sp>
        <p:nvSpPr>
          <p:cNvPr id="44" name="TextBox 43"/>
          <p:cNvSpPr txBox="1"/>
          <p:nvPr/>
        </p:nvSpPr>
        <p:spPr>
          <a:xfrm>
            <a:off x="502920" y="433034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Сборка выписного документа двумя порядками</a:t>
            </a:r>
          </a:p>
        </p:txBody>
      </p:sp>
      <p:sp>
        <p:nvSpPr>
          <p:cNvPr id="45" name="Rounded Rectangle 44"/>
          <p:cNvSpPr/>
          <p:nvPr/>
        </p:nvSpPr>
        <p:spPr>
          <a:xfrm>
            <a:off x="374904" y="4633027"/>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46" name="TextBox 45"/>
          <p:cNvSpPr txBox="1"/>
          <p:nvPr/>
        </p:nvSpPr>
        <p:spPr>
          <a:xfrm>
            <a:off x="539496" y="4724467"/>
            <a:ext cx="5373471" cy="1511740"/>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Генерация на тексте: на входе история болезни, на выходе черновик повествовательной части.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рецензента: каждый документ читали двое вслепую.</a:t>
            </a:r>
          </a:p>
        </p:txBody>
      </p:sp>
      <p:sp>
        <p:nvSpPr>
          <p:cNvPr id="47" name="TextBox 46"/>
          <p:cNvSpPr txBox="1"/>
          <p:nvPr/>
        </p:nvSpPr>
        <p:spPr>
          <a:xfrm>
            <a:off x="6278727" y="4724467"/>
            <a:ext cx="5373471" cy="15117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Короче и связнее, но менее полон.</a:t>
            </a:r>
            <a:r>
              <a:rPr sz="1500" b="0" i="0">
                <a:solidFill>
                  <a:srgbClr val="21295C"/>
                </a:solidFill>
                <a:latin typeface="Arial"/>
              </a:rPr>
              <a:t> Ни имени модели, ни обучающих данных работа не называет.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ошибки сместилась:</a:t>
            </a:r>
            <a:r>
              <a:rPr sz="1500" b="0" i="0">
                <a:solidFill>
                  <a:srgbClr val="21295C"/>
                </a:solidFill>
                <a:latin typeface="Arial"/>
              </a:rPr>
              <a:t> пишет тот же, а платит читатель.</a:t>
            </a:r>
          </a:p>
        </p:txBody>
      </p:sp>
      <p:sp>
        <p:nvSpPr>
          <p:cNvPr id="48" name="Rectangle 47"/>
          <p:cNvSpPr/>
          <p:nvPr/>
        </p:nvSpPr>
        <p:spPr>
          <a:xfrm>
            <a:off x="6091275" y="4724467"/>
            <a:ext cx="9144" cy="1277144"/>
          </a:xfrm>
          <a:prstGeom prst="rect">
            <a:avLst/>
          </a:prstGeom>
          <a:solidFill>
            <a:srgbClr val="D9E2EC"/>
          </a:solidFill>
          <a:ln>
            <a:noFill/>
          </a:ln>
          <a:effectLst/>
        </p:spPr>
        <p:txBody>
          <a:bodyPr rtlCol="0" anchor="ctr"/>
          <a:lstStyle/>
          <a:p>
            <a:pPr algn="ct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TextBox 17"/>
          <p:cNvSpPr txBox="1"/>
          <p:nvPr/>
        </p:nvSpPr>
        <p:spPr>
          <a:xfrm>
            <a:off x="502920" y="370477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Ночью</a:t>
            </a:r>
          </a:p>
        </p:txBody>
      </p:sp>
      <p:sp>
        <p:nvSpPr>
          <p:cNvPr id="19" name="Rounded Rectangle 18"/>
          <p:cNvSpPr/>
          <p:nvPr/>
        </p:nvSpPr>
        <p:spPr>
          <a:xfrm>
            <a:off x="1920240"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и дневники</a:t>
            </a:r>
          </a:p>
        </p:txBody>
      </p:sp>
      <p:sp>
        <p:nvSpPr>
          <p:cNvPr id="21" name="Right Arrow 20"/>
          <p:cNvSpPr/>
          <p:nvPr/>
        </p:nvSpPr>
        <p:spPr>
          <a:xfrm>
            <a:off x="6713067" y="383731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668203"/>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713923"/>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собирает сводку</a:t>
            </a:r>
          </a:p>
        </p:txBody>
      </p:sp>
      <p:sp>
        <p:nvSpPr>
          <p:cNvPr id="24" name="TextBox 23"/>
          <p:cNvSpPr txBox="1"/>
          <p:nvPr/>
        </p:nvSpPr>
        <p:spPr>
          <a:xfrm>
            <a:off x="502920" y="432647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Днём</a:t>
            </a:r>
          </a:p>
        </p:txBody>
      </p:sp>
      <p:sp>
        <p:nvSpPr>
          <p:cNvPr id="25" name="Rounded Rectangle 24"/>
          <p:cNvSpPr/>
          <p:nvPr/>
        </p:nvSpPr>
        <p:spPr>
          <a:xfrm>
            <a:off x="1920240"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читает по желанию</a:t>
            </a:r>
          </a:p>
        </p:txBody>
      </p:sp>
      <p:sp>
        <p:nvSpPr>
          <p:cNvPr id="27" name="Right Arrow 26"/>
          <p:cNvSpPr/>
          <p:nvPr/>
        </p:nvSpPr>
        <p:spPr>
          <a:xfrm>
            <a:off x="5039258" y="4459016"/>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5267858"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5350154"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Ищет, чего не было</a:t>
            </a:r>
          </a:p>
        </p:txBody>
      </p:sp>
      <p:sp>
        <p:nvSpPr>
          <p:cNvPr id="30" name="Right Arrow 29"/>
          <p:cNvSpPr/>
          <p:nvPr/>
        </p:nvSpPr>
        <p:spPr>
          <a:xfrm>
            <a:off x="8386876" y="44590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8615476" y="428990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8697772" y="433562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3" name="TextBox 32"/>
          <p:cNvSpPr txBox="1"/>
          <p:nvPr/>
        </p:nvSpPr>
        <p:spPr>
          <a:xfrm>
            <a:off x="502920" y="480186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вычитка и что она ищет</a:t>
            </a:r>
          </a:p>
        </p:txBody>
      </p:sp>
      <p:sp>
        <p:nvSpPr>
          <p:cNvPr id="34" name="Rounded Rectangle 33"/>
          <p:cNvSpPr/>
          <p:nvPr/>
        </p:nvSpPr>
        <p:spPr>
          <a:xfrm>
            <a:off x="374904" y="5104552"/>
            <a:ext cx="11441887" cy="113165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195992"/>
            <a:ext cx="11112703" cy="104021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писал и подписывал лечащий врач</a:t>
            </a:r>
            <a:r>
              <a:rPr sz="1500" b="0" i="0">
                <a:solidFill>
                  <a:srgbClr val="21295C"/>
                </a:solidFill>
                <a:latin typeface="Arial"/>
              </a:rPr>
              <a:t>; в учебных клиниках черновик готовил ординатор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Поправка, шестое искажение входа, работает в нашу пользу.</a:t>
            </a:r>
            <a:r>
              <a:rPr sz="1500" b="0" i="0">
                <a:solidFill>
                  <a:srgbClr val="21295C"/>
                </a:solidFill>
                <a:latin typeface="Arial"/>
              </a:rPr>
              <a:t> Вычитка сменила предмет: глаз настроен на опечатку, искать надо утверждение, которого в истории болезни не было. </a:t>
            </a:r>
            <a:r>
              <a:rPr sz="1500" b="1" i="0">
                <a:solidFill>
                  <a:srgbClr val="21295C"/>
                </a:solidFill>
                <a:latin typeface="Arial"/>
              </a:rPr>
              <a:t>Этому чтению никто не учит.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Cureus 2026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голосовой ввод протокола лучевого исследования</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КЛАВИАТУРНЫЙ ВВОД</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на исследование</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одно описание КТ или МРТ</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РАСПОЗНАВАНИЕ РЕЧИ, ТОТ ЖЕ ЗАМЕР</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 мин 2 с</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 мин 13 с, 21,6 % от базы</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МАСШТАБ К ЯНВАРЮ 2023</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210 тыс. протоколов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словарь обучен на 2,5 млн протоколов</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на экране</a:t>
            </a:r>
          </a:p>
        </p:txBody>
      </p:sp>
      <p:sp>
        <p:nvSpPr>
          <p:cNvPr id="19" name="Right Arrow 18"/>
          <p:cNvSpPr/>
          <p:nvPr/>
        </p:nvSpPr>
        <p:spPr>
          <a:xfrm>
            <a:off x="4202353"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на клавиатуре</a:t>
            </a:r>
          </a:p>
        </p:txBody>
      </p:sp>
      <p:sp>
        <p:nvSpPr>
          <p:cNvPr id="22" name="Right Arrow 21"/>
          <p:cNvSpPr/>
          <p:nvPr/>
        </p:nvSpPr>
        <p:spPr>
          <a:xfrm>
            <a:off x="6713067"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25" name="Right Arrow 24"/>
          <p:cNvSpPr/>
          <p:nvPr/>
        </p:nvSpPr>
        <p:spPr>
          <a:xfrm>
            <a:off x="9223781" y="3243197"/>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074081"/>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119801"/>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28" name="TextBox 27"/>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9" name="Rounded Rectangle 28"/>
          <p:cNvSpPr/>
          <p:nvPr/>
        </p:nvSpPr>
        <p:spPr>
          <a:xfrm>
            <a:off x="1920240"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2002536"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Речь в гарнитуру</a:t>
            </a:r>
          </a:p>
        </p:txBody>
      </p:sp>
      <p:sp>
        <p:nvSpPr>
          <p:cNvPr id="31" name="Right Arrow 30"/>
          <p:cNvSpPr/>
          <p:nvPr/>
        </p:nvSpPr>
        <p:spPr>
          <a:xfrm>
            <a:off x="4202353" y="386489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4430953" y="3695778"/>
            <a:ext cx="2236393"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3" name="TextBox 32"/>
          <p:cNvSpPr txBox="1"/>
          <p:nvPr/>
        </p:nvSpPr>
        <p:spPr>
          <a:xfrm>
            <a:off x="4513249" y="3741498"/>
            <a:ext cx="2071801"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Модель распознаёт</a:t>
            </a:r>
          </a:p>
        </p:txBody>
      </p:sp>
      <p:sp>
        <p:nvSpPr>
          <p:cNvPr id="34" name="Right Arrow 33"/>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6941667"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7023963"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Правка и подпись</a:t>
            </a:r>
          </a:p>
        </p:txBody>
      </p:sp>
      <p:sp>
        <p:nvSpPr>
          <p:cNvPr id="37" name="Right Arrow 36"/>
          <p:cNvSpPr/>
          <p:nvPr/>
        </p:nvSpPr>
        <p:spPr>
          <a:xfrm>
            <a:off x="9223781" y="3864894"/>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9452381" y="3695778"/>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9534677" y="3741498"/>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 в карте</a:t>
            </a:r>
          </a:p>
        </p:txBody>
      </p:sp>
      <p:sp>
        <p:nvSpPr>
          <p:cNvPr id="40" name="TextBox 3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одного исследования двумя порядками</a:t>
            </a:r>
          </a:p>
        </p:txBody>
      </p:sp>
      <p:sp>
        <p:nvSpPr>
          <p:cNvPr id="41" name="Rounded Rectangle 40"/>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42" name="TextBox 41"/>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Распознавание на звуке: на входе речь врача, на выходе текст протокола.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Сорок лет эта технология проигрывала клавиатуре:</a:t>
            </a:r>
            <a:r>
              <a:rPr sz="1500" b="0" i="0">
                <a:solidFill>
                  <a:srgbClr val="21295C"/>
                </a:solidFill>
                <a:latin typeface="Arial"/>
              </a:rPr>
              <a:t> в 1981 году голосовой ввод шёл вчетверо дольше и давал 12 ошибок против нуля.</a:t>
            </a:r>
          </a:p>
        </p:txBody>
      </p:sp>
      <p:sp>
        <p:nvSpPr>
          <p:cNvPr id="43" name="TextBox 42"/>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измерено.</a:t>
            </a:r>
            <a:r>
              <a:rPr sz="1500" b="0" i="0">
                <a:solidFill>
                  <a:srgbClr val="21295C"/>
                </a:solidFill>
                <a:latin typeface="Arial"/>
              </a:rPr>
              <a:t> Рентгенологи семи поликлиник описывали исследования двумя способами, время — по секундомеру.</a:t>
            </a:r>
          </a:p>
        </p:txBody>
      </p:sp>
      <p:sp>
        <p:nvSpPr>
          <p:cNvPr id="44" name="Rectangle 43"/>
          <p:cNvSpPr/>
          <p:nvPr/>
        </p:nvSpPr>
        <p:spPr>
          <a:xfrm>
            <a:off x="6091275" y="4601870"/>
            <a:ext cx="9144" cy="1455381"/>
          </a:xfrm>
          <a:prstGeom prst="rect">
            <a:avLst/>
          </a:prstGeom>
          <a:solidFill>
            <a:srgbClr val="D9E2EC"/>
          </a:solidFill>
          <a:ln>
            <a:noFill/>
          </a:ln>
          <a:effectLst/>
        </p:spPr>
        <p:txBody>
          <a:bodyPr rtlCol="0" anchor="ctr"/>
          <a:lstStyle/>
          <a:p>
            <a:pPr algn="ct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и соавт., Digital Diagnostics 2023</a:t>
            </a:r>
            <a:r>
              <a:rPr sz="1200" b="0" i="1">
                <a:solidFill>
                  <a:srgbClr val="1C7293"/>
                </a:solidFill>
                <a:latin typeface="Arial"/>
              </a:rPr>
              <a:t> · </a:t>
            </a:r>
            <a:r>
              <a:rPr sz="1200" b="0" i="1" u="sng">
                <a:solidFill>
                  <a:srgbClr val="065A82"/>
                </a:solidFill>
                <a:latin typeface="Arial"/>
                <a:hlinkClick r:id="rId3"/>
              </a:rPr>
              <a:t>ДЗМ 07.01.2023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окончания слов, чужая речь и число без базы</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ОТМЕЧАЮТ РОСТ СВОЕЙ ЭФФЕКТИВНОСТИ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62,8 % опрошенных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опрос рентгенологов 2022; самоотчёт, не замер времени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ВНЕДРЕНИЕ: ДВА ЭНДОСКОПИЧЕСКИХ ЦЕНТРА</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−27 % времени протокола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180–200 исследований в день на центр; СКОЛЬКО БЫЛО МИНУТ — не опубликовано</a:t>
            </a:r>
          </a:p>
        </p:txBody>
      </p:sp>
      <p:sp>
        <p:nvSpPr>
          <p:cNvPr id="12" name="TextBox 11"/>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сказано</a:t>
            </a:r>
          </a:p>
        </p:txBody>
      </p:sp>
      <p:sp>
        <p:nvSpPr>
          <p:cNvPr id="13" name="Rounded Rectangle 12"/>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окончания слов</a:t>
            </a:r>
          </a:p>
        </p:txBody>
      </p:sp>
      <p:sp>
        <p:nvSpPr>
          <p:cNvPr id="16" name="Rounded Rectangle 15"/>
          <p:cNvSpPr/>
          <p:nvPr/>
        </p:nvSpPr>
        <p:spPr>
          <a:xfrm>
            <a:off x="6895947" y="2922333"/>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6978243" y="2968053"/>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чужая речь в кабинете</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записано</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шум оборудования</a:t>
            </a:r>
          </a:p>
        </p:txBody>
      </p:sp>
      <p:sp>
        <p:nvSpPr>
          <p:cNvPr id="22" name="Rounded Rectangle 21"/>
          <p:cNvSpPr/>
          <p:nvPr/>
        </p:nvSpPr>
        <p:spPr>
          <a:xfrm>
            <a:off x="6895947" y="3544125"/>
            <a:ext cx="470138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6978243" y="3589845"/>
            <a:ext cx="453679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дешёвый микрофон</a:t>
            </a:r>
          </a:p>
        </p:txBody>
      </p:sp>
      <p:sp>
        <p:nvSpPr>
          <p:cNvPr id="24" name="TextBox 23"/>
          <p:cNvSpPr txBox="1"/>
          <p:nvPr/>
        </p:nvSpPr>
        <p:spPr>
          <a:xfrm>
            <a:off x="502920" y="410190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независимых источника порчи результата — и ни один не в модели</a:t>
            </a:r>
          </a:p>
        </p:txBody>
      </p:sp>
      <p:sp>
        <p:nvSpPr>
          <p:cNvPr id="25" name="Rounded Rectangle 24"/>
          <p:cNvSpPr/>
          <p:nvPr/>
        </p:nvSpPr>
        <p:spPr>
          <a:xfrm>
            <a:off x="374904" y="4408365"/>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Охотнее всех берут инструмент врачи 30–40 лет.</a:t>
            </a:r>
          </a:p>
          <a:p>
            <a:pPr algn="l">
              <a:lnSpc>
                <a:spcPct val="126000"/>
              </a:lnSpc>
              <a:spcBef>
                <a:spcPts val="700"/>
              </a:spcBef>
            </a:pPr>
            <a:r>
              <a:rPr sz="1500" b="0" i="0">
                <a:solidFill>
                  <a:srgbClr val="21295C"/>
                </a:solidFill>
                <a:latin typeface="Arial"/>
              </a:rPr>
              <a:t/>
            </a:r>
            <a:r>
              <a:rPr sz="1500" b="1" i="0">
                <a:solidFill>
                  <a:srgbClr val="21295C"/>
                </a:solidFill>
                <a:latin typeface="Arial"/>
              </a:rPr>
              <a:t>62,8 процента — доля врачей, которые ТАК СЧИТАЮТ, а не измеренное время.</a:t>
            </a:r>
          </a:p>
        </p:txBody>
      </p:sp>
      <p:sp>
        <p:nvSpPr>
          <p:cNvPr id="27" name="TextBox 26"/>
          <p:cNvSpPr txBox="1"/>
          <p:nvPr/>
        </p:nvSpPr>
        <p:spPr>
          <a:xfrm>
            <a:off x="6278727" y="4499805"/>
            <a:ext cx="5373471" cy="173640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на работе диктовка уже пишет протокол — что у вас с чужой речью в записи?</a:t>
            </a:r>
          </a:p>
        </p:txBody>
      </p:sp>
      <p:sp>
        <p:nvSpPr>
          <p:cNvPr id="28" name="Rectangle 27"/>
          <p:cNvSpPr/>
          <p:nvPr/>
        </p:nvSpPr>
        <p:spPr>
          <a:xfrm>
            <a:off x="6091275" y="4499805"/>
            <a:ext cx="9144" cy="98008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Кудрявцев, Бардасова, Хоружая, Digital Diagnostics 2023;4(2)</a:t>
            </a:r>
            <a:r>
              <a:rPr sz="1200" b="0" i="1">
                <a:solidFill>
                  <a:srgbClr val="1C7293"/>
                </a:solidFill>
                <a:latin typeface="Arial"/>
              </a:rPr>
              <a:t> · </a:t>
            </a:r>
            <a:r>
              <a:rPr sz="1200" b="0" i="1" u="sng">
                <a:solidFill>
                  <a:srgbClr val="065A82"/>
                </a:solidFill>
                <a:latin typeface="Arial"/>
                <a:hlinkClick r:id="rId3"/>
              </a:rPr>
              <a:t>НИИОЗММ ДЗМ, «Московская медицина», эндоскопические центры, 2022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Надиктовка, которая предлагает диагноз: допуск и замеры</a:t>
            </a:r>
          </a:p>
        </p:txBody>
      </p:sp>
      <p:sp>
        <p:nvSpPr>
          <p:cNvPr id="4" name="Rounded Rectangle 3"/>
          <p:cNvSpPr/>
          <p:nvPr/>
        </p:nvSpPr>
        <p:spPr>
          <a:xfrm>
            <a:off x="502920"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на предложение из речи — ноль; независимых замеров точности — ноль</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предложение» нет ни одной</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МОСКОВСКАЯ ТОП-3: СОГЛАСИЕ ВРАЧА С ПОДСКАЗКОЙ</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одном диагнозе и при выборе из трёх; голосового входа у неё нет</a:t>
            </a:r>
          </a:p>
        </p:txBody>
      </p:sp>
      <p:sp>
        <p:nvSpPr>
          <p:cNvPr id="16" name="Rounded Rectangle 15"/>
          <p:cNvSpPr/>
          <p:nvPr/>
        </p:nvSpPr>
        <p:spPr>
          <a:xfrm>
            <a:off x="374904" y="3010932"/>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медизделия проведена по подписи.</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Делают это сейчас Glass Health и Corti</a:t>
            </a:r>
            <a:r>
              <a:rPr sz="1500" b="0" i="0">
                <a:solidFill>
                  <a:srgbClr val="21295C"/>
                </a:solidFill>
                <a:latin typeface="Arial"/>
              </a:rPr>
              <a:t> — достраивают предположительный диагноз по ходу живой речи. </a:t>
            </a:r>
            <a:r>
              <a:rPr sz="1500" b="0" i="1">
                <a:solidFill>
                  <a:srgbClr val="21295C"/>
                </a:solidFill>
                <a:latin typeface="Arial"/>
              </a:rPr>
              <a:t>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согласие врача с подсказкой, а не её точность.</a:t>
            </a:r>
          </a:p>
        </p:txBody>
      </p:sp>
      <p:sp>
        <p:nvSpPr>
          <p:cNvPr id="19" name="Rectangle 18"/>
          <p:cNvSpPr/>
          <p:nvPr/>
        </p:nvSpPr>
        <p:spPr>
          <a:xfrm>
            <a:off x="6091275" y="3102372"/>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a:t>
            </a:r>
            <a:r>
              <a:rPr sz="1200" b="0" i="1">
                <a:solidFill>
                  <a:srgbClr val="1C7293"/>
                </a:solidFill>
                <a:latin typeface="Arial"/>
              </a:rPr>
              <a:t> · </a:t>
            </a:r>
            <a:r>
              <a:rPr sz="1200" b="0" i="1" u="sng">
                <a:solidFill>
                  <a:srgbClr val="065A82"/>
                </a:solidFill>
                <a:latin typeface="Arial"/>
                <a:hlinkClick r:id="rId3"/>
              </a:rPr>
              <a:t>ТОП-3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Вывод раздела: что получается, что не получается, куда переехала нагрузка</a:t>
            </a:r>
          </a:p>
        </p:txBody>
      </p:sp>
      <p:sp>
        <p:nvSpPr>
          <p:cNvPr id="4" name="Rounded Rectangle 3"/>
          <p:cNvSpPr/>
          <p:nvPr/>
        </p:nvSpPr>
        <p:spPr>
          <a:xfrm>
            <a:off x="502920"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ВСЯ ИЗМЕРЕННАЯ ЭКОНОМИЯ СТАДИИ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9,5 % времени в заметке</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контрольной группы, 4 мин 22 с; у второго инструмента её нет</a:t>
            </a:r>
          </a:p>
        </p:txBody>
      </p:sp>
      <p:sp>
        <p:nvSpPr>
          <p:cNvPr id="8" name="Rounded Rectangle 7"/>
          <p:cNvSpPr/>
          <p:nvPr/>
        </p:nvSpPr>
        <p:spPr>
          <a:xfrm>
            <a:off x="3340531"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сдвинулось ни у одного</a:t>
            </a:r>
          </a:p>
        </p:txBody>
      </p:sp>
      <p:sp>
        <p:nvSpPr>
          <p:cNvPr id="11" name="Rounded Rectangle 10"/>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13" name="TextBox 12"/>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14" name="TextBox 13"/>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слепое сравнение ста госпитализаций</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ОТЕЧЕСТВЕННЫЙ ХРОНОМЕТРАЖ ПРОТОКОЛА</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 мин 15 с → 8 мин 2 с</a:t>
            </a:r>
          </a:p>
        </p:txBody>
      </p:sp>
      <p:sp>
        <p:nvSpPr>
          <p:cNvPr id="18" name="TextBox 17"/>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клавиатура против речи</a:t>
            </a:r>
          </a:p>
        </p:txBody>
      </p:sp>
      <p:sp>
        <p:nvSpPr>
          <p:cNvPr id="19" name="Rounded Rectangle 18"/>
          <p:cNvSpPr/>
          <p:nvPr/>
        </p:nvSpPr>
        <p:spPr>
          <a:xfrm>
            <a:off x="374904" y="3612599"/>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Черновик готов к концу приёма; структуру больше не надо держать в голове при живом человеке — единственный убранный шаг.</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Полнее человека модель не пишет. Заявленные 15 791 час подтвердить нечем.</a:t>
            </a:r>
          </a:p>
        </p:txBody>
      </p:sp>
      <p:sp>
        <p:nvSpPr>
          <p:cNvPr id="21" name="TextBox 20"/>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a:t>
            </a:r>
            <a:r>
              <a:rPr sz="1500" b="0" i="0">
                <a:solidFill>
                  <a:srgbClr val="21295C"/>
                </a:solidFill>
                <a:latin typeface="Arial"/>
              </a:rPr>
              <a:t> с набора на вычитку чужого; появился выборочный контроль заметок со штатом. Дальше по циклу — чем эту вычитку удерживают: </a:t>
            </a:r>
            <a:r>
              <a:rPr sz="1500" b="1" i="0">
                <a:solidFill>
                  <a:srgbClr val="21295C"/>
                </a:solidFill>
                <a:latin typeface="Arial"/>
              </a:rPr>
              <a:t>подпись.</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Вычитке другого рода не учат нигде.</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поправку: врач правит машинное.</a:t>
            </a:r>
          </a:p>
        </p:txBody>
      </p:sp>
      <p:sp>
        <p:nvSpPr>
          <p:cNvPr id="22" name="Rectangle 21"/>
          <p:cNvSpPr/>
          <p:nvPr/>
        </p:nvSpPr>
        <p:spPr>
          <a:xfrm>
            <a:off x="6091275" y="3704039"/>
            <a:ext cx="9144" cy="1900754"/>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5.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говорят три замера — и у каждого своя слабость.</a:t>
            </a:r>
          </a:p>
        </p:txBody>
      </p:sp>
      <p:sp>
        <p:nvSpPr>
          <p:cNvPr id="9" name="TextBox 8"/>
          <p:cNvSpPr txBox="1"/>
          <p:nvPr/>
        </p:nvSpPr>
        <p:spPr>
          <a:xfrm>
            <a:off x="704088" y="3347654"/>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2 классических режима с числами · обзор допуска по трём странам</a:t>
            </a:r>
          </a:p>
        </p:txBody>
      </p:sp>
      <p:sp>
        <p:nvSpPr>
          <p:cNvPr id="10" name="TextBox 9"/>
          <p:cNvSpPr txBox="1"/>
          <p:nvPr/>
        </p:nvSpPr>
        <p:spPr>
          <a:xfrm>
            <a:off x="704088" y="4116427"/>
            <a:ext cx="6473952" cy="184912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Пример 1: доля упала без помощника</a:t>
            </a:r>
            <a:r>
              <a:rPr sz="1550" b="0" i="0">
                <a:solidFill>
                  <a:srgbClr val="21295C"/>
                </a:solidFill>
                <a:latin typeface="Arial"/>
              </a:rPr>
              <a:t> — единственный замер износа на реальной клинической работе. </a:t>
            </a:r>
            <a:r>
              <a:rPr sz="1550" b="1" i="0">
                <a:solidFill>
                  <a:srgbClr val="21295C"/>
                </a:solidFill>
                <a:latin typeface="Arial"/>
              </a:rPr>
              <a:t>Пример 2: ArtInCol, Россия — помощник на той же процедуре</a:t>
            </a:r>
            <a:r>
              <a:rPr sz="1550" b="0" i="0">
                <a:solidFill>
                  <a:srgbClr val="21295C"/>
                </a:solidFill>
                <a:latin typeface="Arial"/>
              </a:rPr>
              <a:t> — та же величина, испытание сильнее, расход не мерен. </a:t>
            </a:r>
            <a:r>
              <a:rPr sz="1550" b="1" i="0">
                <a:solidFill>
                  <a:srgbClr val="21295C"/>
                </a:solidFill>
                <a:latin typeface="Arial"/>
              </a:rPr>
              <a:t>Пример 3: разработчики на незнакомой библиотеке</a:t>
            </a:r>
            <a:r>
              <a:rPr sz="1550" b="0" i="0">
                <a:solidFill>
                  <a:srgbClr val="21295C"/>
                </a:solidFill>
                <a:latin typeface="Arial"/>
              </a:rPr>
              <a:t> — та же вторая половина пары, измеренная жребием, и снята она на вашей работе, не в клинике.</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Аденома — предраковое утолщение слизистой: снятая сегодня, она не станет раком через годы.</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Данные берут четырьмя способами, и все работают на обычном потоке:</a:t>
            </a:r>
            <a:r>
              <a:rPr sz="1500" b="0" i="0">
                <a:solidFill>
                  <a:srgbClr val="21295C"/>
                </a:solidFill>
                <a:latin typeface="Arial"/>
              </a:rPr>
              <a:t> аудит решений по работе — доля процедур с находкой · замер времени по таймеру · счёт процедур за год · периодическое подтверждение. </a:t>
            </a:r>
            <a:r>
              <a:rPr sz="1500" b="1" i="0">
                <a:solidFill>
                  <a:srgbClr val="21295C"/>
                </a:solidFill>
                <a:latin typeface="Arial"/>
              </a:rPr>
              <a:t>Разбор случая приходит после исхода и в счёт не входит.</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Долю находок не поднять старанием:</a:t>
            </a:r>
            <a:r>
              <a:rPr sz="1500" b="0" i="0">
                <a:solidFill>
                  <a:srgbClr val="21295C"/>
                </a:solidFill>
                <a:latin typeface="Arial"/>
              </a:rPr>
              <a:t> аденома попадает в знаменатель и тогда, когда врач за складку не заглянул. Время осмотра — дисциплина, держать проще.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Почему стадия стоит здесь:</a:t>
            </a:r>
            <a:r>
              <a:rPr sz="1500" b="0" i="0">
                <a:solidFill>
                  <a:srgbClr val="21295C"/>
                </a:solidFill>
                <a:latin typeface="Arial"/>
              </a:rPr>
              <a:t> износ копится по всем стадиям сразу — собрать его можно, только когда все они прошли.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снимке — стандарт BCSP-S14 «Scope withdrawal time» национальной программы скрининга рака кишечника, GOV.UK</a:t>
            </a:r>
            <a:r>
              <a:rPr sz="1200" b="0" i="1">
                <a:solidFill>
                  <a:srgbClr val="1C7293"/>
                </a:solidFill>
                <a:latin typeface="Arial"/>
              </a:rPr>
              <a:t> · </a:t>
            </a:r>
            <a:r>
              <a:rPr sz="1200" b="0" i="1" u="sng">
                <a:solidFill>
                  <a:srgbClr val="065A82"/>
                </a:solidFill>
                <a:latin typeface="Arial"/>
                <a:hlinkClick r:id="rId3"/>
              </a:rPr>
              <a:t>показатели качества колоноскопии, Gastrointestinal Endoscopy 2015</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 держат форму, и ни одна не спрашивает человека:</a:t>
            </a:r>
            <a:r>
              <a:rPr sz="1500" b="0" i="0">
                <a:solidFill>
                  <a:srgbClr val="21295C"/>
                </a:solidFill>
                <a:latin typeface="Arial"/>
              </a:rPr>
              <a:t> объём практики за год, допуск от организации, периодическое подтверждение.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Россия:</a:t>
            </a:r>
            <a:r>
              <a:rPr sz="1500" b="0" i="0">
                <a:solidFill>
                  <a:srgbClr val="21295C"/>
                </a:solidFill>
                <a:latin typeface="Arial"/>
              </a:rPr>
              <a:t> периодическая аккредитация раз в пять лет — 144 часа учёбы плюс портфолио. </a:t>
            </a:r>
            <a:r>
              <a:rPr sz="1500" b="1" i="0">
                <a:solidFill>
                  <a:srgbClr val="21295C"/>
                </a:solidFill>
                <a:latin typeface="Arial"/>
              </a:rPr>
              <a:t>Отчёт о работе специалист пишет сам. Числового порога по результату — ни доли находок, ни времени выведения прибора — в требованиях нет.</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465389"/>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r>
              <a:rPr sz="1200" b="0" i="1">
                <a:solidFill>
                  <a:srgbClr val="1C7293"/>
                </a:solidFill>
                <a:latin typeface="Arial"/>
              </a:rPr>
              <a:t> · </a:t>
            </a:r>
            <a:r>
              <a:rPr sz="1200" b="0" i="1">
                <a:solidFill>
                  <a:srgbClr val="1C7293"/>
                </a:solidFill>
                <a:latin typeface="Arial"/>
              </a:rPr>
              <a:t>Приказ Минздрава России от 28.10.2022 № 709н «Об утверждении Положения об аккредитации специалистов»</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Осмотр при выведении прибора: цена промаха и два порядка работы без модели</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АДЕНОМУ</a:t>
            </a:r>
          </a:p>
        </p:txBody>
      </p:sp>
      <p:sp>
        <p:nvSpPr>
          <p:cNvPr id="6" name="TextBox 5"/>
          <p:cNvSpPr txBox="1"/>
          <p:nvPr/>
        </p:nvSpPr>
        <p:spPr>
          <a:xfrm>
            <a:off x="640080" y="1725375"/>
            <a:ext cx="2398699"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останется в человеке до следующего обследования</a:t>
            </a:r>
          </a:p>
        </p:txBody>
      </p:sp>
      <p:sp>
        <p:nvSpPr>
          <p:cNvPr id="7" name="Rounded Rectangle 6"/>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3477691" y="1725375"/>
            <a:ext cx="2398699" cy="1105996"/>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снятие, кровотечение, повторный визит</a:t>
            </a:r>
          </a:p>
        </p:txBody>
      </p:sp>
      <p:sp>
        <p:nvSpPr>
          <p:cNvPr id="10" name="Rounded Rectangle 9"/>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ПРИБОР ВЫВОДЯТ ДОЛЬШЕ</a:t>
            </a:r>
          </a:p>
        </p:txBody>
      </p:sp>
      <p:sp>
        <p:nvSpPr>
          <p:cNvPr id="12" name="TextBox 11"/>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тысячи</a:t>
            </a:r>
          </a:p>
        </p:txBody>
      </p:sp>
      <p:sp>
        <p:nvSpPr>
          <p:cNvPr id="13" name="TextBox 12"/>
          <p:cNvSpPr txBox="1"/>
          <p:nvPr/>
        </p:nvSpPr>
        <p:spPr>
          <a:xfrm>
            <a:off x="6315303"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1 027 пациентов, жребием; девять минут вместо шести</a:t>
            </a:r>
          </a:p>
        </p:txBody>
      </p:sp>
      <p:sp>
        <p:nvSpPr>
          <p:cNvPr id="14" name="Rounded Rectangle 13"/>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ПРОЦЕДУР С НАХОДКОЙ: НА ЭКРАН СМОТРИТ И МЕДСЕСТРА</a:t>
            </a:r>
          </a:p>
        </p:txBody>
      </p:sp>
      <p:sp>
        <p:nvSpPr>
          <p:cNvPr id="16" name="TextBox 15"/>
          <p:cNvSpPr txBox="1"/>
          <p:nvPr/>
        </p:nvSpPr>
        <p:spPr>
          <a:xfrm>
            <a:off x="9152915"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393 → 457 из тысячи</a:t>
            </a:r>
          </a:p>
        </p:txBody>
      </p:sp>
      <p:sp>
        <p:nvSpPr>
          <p:cNvPr id="17" name="TextBox 16"/>
          <p:cNvSpPr txBox="1"/>
          <p:nvPr/>
        </p:nvSpPr>
        <p:spPr>
          <a:xfrm>
            <a:off x="9152915"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свод трёх испытаний</a:t>
            </a:r>
          </a:p>
        </p:txBody>
      </p:sp>
      <p:sp>
        <p:nvSpPr>
          <p:cNvPr id="18" name="TextBox 17"/>
          <p:cNvSpPr txBox="1"/>
          <p:nvPr/>
        </p:nvSpPr>
        <p:spPr>
          <a:xfrm>
            <a:off x="502920" y="373684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Обычный порядок</a:t>
            </a:r>
          </a:p>
        </p:txBody>
      </p:sp>
      <p:sp>
        <p:nvSpPr>
          <p:cNvPr id="19" name="Rounded Rectangle 18"/>
          <p:cNvSpPr/>
          <p:nvPr/>
        </p:nvSpPr>
        <p:spPr>
          <a:xfrm>
            <a:off x="1920240"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ввести прибор</a:t>
            </a:r>
          </a:p>
        </p:txBody>
      </p:sp>
      <p:sp>
        <p:nvSpPr>
          <p:cNvPr id="21" name="Right Arrow 20"/>
          <p:cNvSpPr/>
          <p:nvPr/>
        </p:nvSpPr>
        <p:spPr>
          <a:xfrm>
            <a:off x="5039258" y="386938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5267858"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5350154"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осматривать при выведении</a:t>
            </a:r>
          </a:p>
        </p:txBody>
      </p:sp>
      <p:sp>
        <p:nvSpPr>
          <p:cNvPr id="24" name="Right Arrow 23"/>
          <p:cNvSpPr/>
          <p:nvPr/>
        </p:nvSpPr>
        <p:spPr>
          <a:xfrm>
            <a:off x="8386876" y="3869383"/>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8615476" y="370026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8697772" y="374598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заглянуть за складку</a:t>
            </a:r>
          </a:p>
        </p:txBody>
      </p:sp>
      <p:sp>
        <p:nvSpPr>
          <p:cNvPr id="27" name="TextBox 26"/>
          <p:cNvSpPr txBox="1"/>
          <p:nvPr/>
        </p:nvSpPr>
        <p:spPr>
          <a:xfrm>
            <a:off x="502920" y="435854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места вмешательства</a:t>
            </a:r>
          </a:p>
        </p:txBody>
      </p:sp>
      <p:sp>
        <p:nvSpPr>
          <p:cNvPr id="28" name="Rounded Rectangle 27"/>
          <p:cNvSpPr/>
          <p:nvPr/>
        </p:nvSpPr>
        <p:spPr>
          <a:xfrm>
            <a:off x="1920240"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2002536"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таймер: не шесть минут, а девять</a:t>
            </a:r>
          </a:p>
        </p:txBody>
      </p:sp>
      <p:sp>
        <p:nvSpPr>
          <p:cNvPr id="30" name="Right Arrow 29"/>
          <p:cNvSpPr/>
          <p:nvPr/>
        </p:nvSpPr>
        <p:spPr>
          <a:xfrm>
            <a:off x="6713067" y="449108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32196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36768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 экран смотрит и медсестра</a:t>
            </a:r>
          </a:p>
        </p:txBody>
      </p:sp>
      <p:sp>
        <p:nvSpPr>
          <p:cNvPr id="33" name="TextBox 32"/>
          <p:cNvSpPr txBox="1"/>
          <p:nvPr/>
        </p:nvSpPr>
        <p:spPr>
          <a:xfrm>
            <a:off x="502920" y="483393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вмешиваются без модели</a:t>
            </a:r>
          </a:p>
        </p:txBody>
      </p:sp>
      <p:sp>
        <p:nvSpPr>
          <p:cNvPr id="34" name="Rounded Rectangle 33"/>
          <p:cNvSpPr/>
          <p:nvPr/>
        </p:nvSpPr>
        <p:spPr>
          <a:xfrm>
            <a:off x="374904" y="5136616"/>
            <a:ext cx="11441887" cy="109959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28056"/>
            <a:ext cx="11112703" cy="100815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Плохой осмотр выглядит как хороший, в котором ничего не нашли</a:t>
            </a:r>
            <a:r>
              <a:rPr sz="1250" b="0" i="0">
                <a:solidFill>
                  <a:srgbClr val="21295C"/>
                </a:solidFill>
                <a:latin typeface="Arial"/>
              </a:rPr>
              <a:t> — своего сигнала у врача нет.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Оба прироста — того же порядка, что у помощника, или больше, и не бесплатны:</a:t>
            </a:r>
            <a:r>
              <a:rPr sz="1250" b="0" i="0">
                <a:solidFill>
                  <a:srgbClr val="21295C"/>
                </a:solidFill>
                <a:latin typeface="Arial"/>
              </a:rPr>
              <a:t> три минуты врача на процедуру и второй человек в кабинете.</a:t>
            </a:r>
          </a:p>
          <a:p>
            <a:pPr algn="l">
              <a:lnSpc>
                <a:spcPct val="126000"/>
              </a:lnSpc>
              <a:spcBef>
                <a:spcPts val="700"/>
              </a:spcBef>
            </a:pPr>
            <a:r>
              <a:rPr sz="1250" b="0" i="0">
                <a:solidFill>
                  <a:srgbClr val="21295C"/>
                </a:solidFill>
                <a:latin typeface="Arial"/>
              </a:rPr>
              <a:t/>
            </a:r>
            <a:r>
              <a:rPr sz="1250" b="1" i="0">
                <a:solidFill>
                  <a:srgbClr val="21295C"/>
                </a:solidFill>
                <a:latin typeface="Arial"/>
              </a:rPr>
              <a:t>Базы разные:</a:t>
            </a:r>
            <a:r>
              <a:rPr sz="1250" b="0" i="0">
                <a:solidFill>
                  <a:srgbClr val="21295C"/>
                </a:solidFill>
                <a:latin typeface="Arial"/>
              </a:rPr>
              <a:t> 271 из тысячи у первого порядка, 393 у второго — другие больницы и пациенты. Приросты не складываются.</a:t>
            </a:r>
          </a:p>
        </p:txBody>
      </p:sp>
      <p:sp>
        <p:nvSpPr>
          <p:cNvPr id="36" name="Rectangle 3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3"/>
              </a:rPr>
              <a:t>Lei и соавт., International Journal of Colorectal Disease 2024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Входит ли измеренный результат работы врача в его допуск: Великобритания, США, Россия</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ВЕЛИКОБРИТАНИЯ: ПОРОГ ВХОДИТ В ДОПУСК</a:t>
            </a:r>
          </a:p>
        </p:txBody>
      </p:sp>
      <p:sp>
        <p:nvSpPr>
          <p:cNvPr id="6" name="TextBox 5"/>
          <p:cNvSpPr txBox="1"/>
          <p:nvPr/>
        </p:nvSpPr>
        <p:spPr>
          <a:xfrm>
            <a:off x="640080" y="193284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15 процедур с находкой из ста и выше</a:t>
            </a:r>
          </a:p>
        </p:txBody>
      </p:sp>
      <p:sp>
        <p:nvSpPr>
          <p:cNvPr id="7" name="TextBox 6"/>
          <p:cNvSpPr txBox="1"/>
          <p:nvPr/>
        </p:nvSpPr>
        <p:spPr>
          <a:xfrm>
            <a:off x="640080" y="268236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минимальный стандарт; 280 колоноскопий до аттестации, 100 в год после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США: ТА ЖЕ ВЕЛИЧИНА, ДОПУСКОМ БЫТЬ ЗАПРЕЩЕНО</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целевой уровень 35 из ста</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реестр профессии собрал свыше 10 млн колоноскопий</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РОССИЯ: ОТЧЁТ О РАБОТЕ ПИШЕТ САМ СПЕЦИАЛИСТ</a:t>
            </a:r>
          </a:p>
        </p:txBody>
      </p:sp>
      <p:sp>
        <p:nvSpPr>
          <p:cNvPr id="14" name="TextBox 13"/>
          <p:cNvSpPr txBox="1"/>
          <p:nvPr/>
        </p:nvSpPr>
        <p:spPr>
          <a:xfrm>
            <a:off x="8207044" y="1932846"/>
            <a:ext cx="3344570"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порога по результату нет · 144 часа учёбы за 5 лет</a:t>
            </a:r>
          </a:p>
        </p:txBody>
      </p:sp>
      <p:sp>
        <p:nvSpPr>
          <p:cNvPr id="15" name="TextBox 14"/>
          <p:cNvSpPr txBox="1"/>
          <p:nvPr/>
        </p:nvSpPr>
        <p:spPr>
          <a:xfrm>
            <a:off x="8207044" y="2648419"/>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находок, ни времени выведения прибора</a:t>
            </a:r>
          </a:p>
        </p:txBody>
      </p:sp>
      <p:sp>
        <p:nvSpPr>
          <p:cNvPr id="16" name="Rounded Rectangle 15"/>
          <p:cNvSpPr/>
          <p:nvPr/>
        </p:nvSpPr>
        <p:spPr>
          <a:xfrm>
            <a:off x="374904" y="340135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Оба порядка с прошлого кадра измерены долей процедур с находкой. Она же лежит в основании допуска.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Величина одна на три страны; расходится последствие.</a:t>
            </a:r>
            <a:r>
              <a:rPr sz="1500" b="0" i="0">
                <a:solidFill>
                  <a:srgbClr val="21295C"/>
                </a:solidFill>
                <a:latin typeface="Arial"/>
              </a:rPr>
              <a:t> В Великобритании по ней допускают к работе в скрининге. В США тот же документ, что назначил целевой уровень, называет применение своих показателей как условия допуска неверным использованием. В России отчёт о работе требуется, но пишет его сам специалист: порога, который считали бы за него,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Искали и не нашли ни в одной из трёх:</a:t>
            </a:r>
            <a:r>
              <a:rPr sz="1500" b="0" i="0">
                <a:solidFill>
                  <a:srgbClr val="21295C"/>
                </a:solidFill>
                <a:latin typeface="Arial"/>
              </a:rPr>
              <a:t> продления допуска, в которое входил бы измеренный результат врача </a:t>
            </a:r>
            <a:r>
              <a:rPr sz="1500" b="1" i="0">
                <a:solidFill>
                  <a:srgbClr val="21295C"/>
                </a:solidFill>
                <a:latin typeface="Arial"/>
              </a:rPr>
              <a:t>после периода работы с подсветкой</a:t>
            </a:r>
            <a:r>
              <a:rPr sz="1500" b="0" i="0">
                <a:solidFill>
                  <a:srgbClr val="21295C"/>
                </a:solidFill>
                <a:latin typeface="Arial"/>
              </a:rPr>
              <a:t>.</a:t>
            </a:r>
          </a:p>
        </p:txBody>
      </p:sp>
      <p:sp>
        <p:nvSpPr>
          <p:cNvPr id="18" name="Rectangle 1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Siau и соавт., Frontline Gastroenterology 2023</a:t>
            </a:r>
            <a:r>
              <a:rPr sz="1200" b="0" i="1">
                <a:solidFill>
                  <a:srgbClr val="1C7293"/>
                </a:solidFill>
                <a:latin typeface="Arial"/>
              </a:rPr>
              <a:t> · </a:t>
            </a:r>
            <a:r>
              <a:rPr sz="1200" b="0" i="1">
                <a:solidFill>
                  <a:srgbClr val="1C7293"/>
                </a:solidFill>
                <a:latin typeface="Arial"/>
              </a:rPr>
              <a:t>ASGE/ACG, Gastrointestinal Endoscopy 2024;100(3)</a:t>
            </a:r>
            <a:r>
              <a:rPr sz="1200" b="0" i="1">
                <a:solidFill>
                  <a:srgbClr val="1C7293"/>
                </a:solidFill>
                <a:latin typeface="Arial"/>
              </a:rPr>
              <a:t> · </a:t>
            </a:r>
            <a:r>
              <a:rPr sz="1200" b="0" i="1">
                <a:solidFill>
                  <a:srgbClr val="1C7293"/>
                </a:solidFill>
                <a:latin typeface="Arial"/>
              </a:rPr>
              <a:t>приказ Минздрава № 709н</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ДО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 795</a:t>
            </a:r>
          </a:p>
        </p:txBody>
      </p:sp>
      <p:sp>
        <p:nvSpPr>
          <p:cNvPr id="8" name="Rounded Rectangle 7"/>
          <p:cNvSpPr/>
          <p:nvPr/>
        </p:nvSpPr>
        <p:spPr>
          <a:xfrm>
            <a:off x="4286402"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ЧЕРЕЗ ТРИ МЕСЯЦА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224 из тысячи</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145 на 648</a:t>
            </a:r>
          </a:p>
        </p:txBody>
      </p:sp>
      <p:sp>
        <p:nvSpPr>
          <p:cNvPr id="12" name="Rounded Rectangle 11"/>
          <p:cNvSpPr/>
          <p:nvPr/>
        </p:nvSpPr>
        <p:spPr>
          <a:xfrm>
            <a:off x="8069884"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находок на тысячу</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стаж 28 лет</a:t>
            </a:r>
          </a:p>
        </p:txBody>
      </p:sp>
      <p:sp>
        <p:nvSpPr>
          <p:cNvPr id="16" name="TextBox 15"/>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помощником</a:t>
            </a:r>
          </a:p>
        </p:txBody>
      </p:sp>
      <p:sp>
        <p:nvSpPr>
          <p:cNvPr id="17" name="Rounded Rectangle 16"/>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поток кадров</a:t>
            </a:r>
          </a:p>
        </p:txBody>
      </p:sp>
      <p:sp>
        <p:nvSpPr>
          <p:cNvPr id="19" name="Right Arrow 18"/>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решает сам</a:t>
            </a:r>
          </a:p>
        </p:txBody>
      </p:sp>
      <p:sp>
        <p:nvSpPr>
          <p:cNvPr id="25" name="TextBox 24"/>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замерили</a:t>
            </a:r>
          </a:p>
        </p:txBody>
      </p:sp>
      <p:sp>
        <p:nvSpPr>
          <p:cNvPr id="26" name="Rounded Rectangle 25"/>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 же врачи</a:t>
            </a:r>
          </a:p>
        </p:txBody>
      </p:sp>
      <p:sp>
        <p:nvSpPr>
          <p:cNvPr id="28" name="Right Arrow 27"/>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процедуры БЕЗ помощника</a:t>
            </a:r>
          </a:p>
        </p:txBody>
      </p:sp>
      <p:sp>
        <p:nvSpPr>
          <p:cNvPr id="31" name="TextBox 30"/>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помощник и где замерили врача без него</a:t>
            </a:r>
          </a:p>
        </p:txBody>
      </p:sp>
      <p:sp>
        <p:nvSpPr>
          <p:cNvPr id="32" name="Rounded Rectangle 31"/>
          <p:cNvSpPr/>
          <p:nvPr/>
        </p:nvSpPr>
        <p:spPr>
          <a:xfrm>
            <a:off x="374904" y="4510430"/>
            <a:ext cx="11441887" cy="1725777"/>
          </a:xfrm>
          <a:prstGeom prst="roundRect">
            <a:avLst>
              <a:gd name="adj" fmla="val 17661"/>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делали.</a:t>
            </a:r>
            <a:r>
              <a:rPr sz="1300" b="0" i="0">
                <a:solidFill>
                  <a:srgbClr val="21295C"/>
                </a:solidFill>
                <a:latin typeface="Arial"/>
              </a:rPr>
              <a:t> В четырёх центрах Польши эндоскопистам дали помощника, обводящего находку рамкой. Через три месяца сравнили процедуры тех же врачей </a:t>
            </a:r>
            <a:r>
              <a:rPr sz="1300" b="1" i="0">
                <a:solidFill>
                  <a:srgbClr val="21295C"/>
                </a:solidFill>
                <a:latin typeface="Arial"/>
              </a:rPr>
              <a:t>без</a:t>
            </a:r>
            <a:r>
              <a:rPr sz="1300" b="0" i="0">
                <a:solidFill>
                  <a:srgbClr val="21295C"/>
                </a:solidFill>
                <a:latin typeface="Arial"/>
              </a:rPr>
              <a:t> него.</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когнитивное искажение — износ навыка, третье из шести, предъявленных на входе вечера.</a:t>
            </a:r>
            <a:r>
              <a:rPr sz="1300" b="0" i="0">
                <a:solidFill>
                  <a:srgbClr val="21295C"/>
                </a:solidFill>
                <a:latin typeface="Arial"/>
              </a:rPr>
              <a:t> У человека оно проявляется так: те же врачи, без помощника, находят меньше.</a:t>
            </a:r>
          </a:p>
        </p:txBody>
      </p:sp>
      <p:sp>
        <p:nvSpPr>
          <p:cNvPr id="34" name="TextBox 33"/>
          <p:cNvSpPr txBox="1"/>
          <p:nvPr/>
        </p:nvSpPr>
        <p:spPr>
          <a:xfrm>
            <a:off x="6278727" y="4601870"/>
            <a:ext cx="5373471" cy="163433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Дало:</a:t>
            </a:r>
            <a:r>
              <a:rPr sz="1300" b="0" i="0">
                <a:solidFill>
                  <a:srgbClr val="21295C"/>
                </a:solidFill>
                <a:latin typeface="Arial"/>
              </a:rPr>
              <a:t> находят больше, пока включён. </a:t>
            </a:r>
            <a:r>
              <a:rPr sz="1300" b="1" i="0">
                <a:solidFill>
                  <a:srgbClr val="21295C"/>
                </a:solidFill>
                <a:latin typeface="Arial"/>
              </a:rPr>
              <a:t>Потребовало:</a:t>
            </a:r>
            <a:r>
              <a:rPr sz="1300" b="0" i="0">
                <a:solidFill>
                  <a:srgbClr val="21295C"/>
                </a:solidFill>
                <a:latin typeface="Arial"/>
              </a:rPr>
              <a:t> умения искать самому. </a:t>
            </a:r>
            <a:r>
              <a:rPr sz="1300" b="1" i="0">
                <a:solidFill>
                  <a:srgbClr val="21295C"/>
                </a:solidFill>
                <a:latin typeface="Arial"/>
              </a:rPr>
              <a:t>В сумме:</a:t>
            </a:r>
            <a:r>
              <a:rPr sz="1300" b="0" i="0">
                <a:solidFill>
                  <a:srgbClr val="21295C"/>
                </a:solidFill>
                <a:latin typeface="Arial"/>
              </a:rPr>
              <a:t> исполнитель тот же — место, объём и рука прежние, —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Имени своей системы публикация не называет.</a:t>
            </a:r>
          </a:p>
        </p:txBody>
      </p:sp>
      <p:sp>
        <p:nvSpPr>
          <p:cNvPr id="35" name="Rectangle 34"/>
          <p:cNvSpPr/>
          <p:nvPr/>
        </p:nvSpPr>
        <p:spPr>
          <a:xfrm>
            <a:off x="6091275" y="4601870"/>
            <a:ext cx="9144" cy="1633617"/>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ArtInCol, Россия — помощник на той же процедуре</a:t>
            </a:r>
          </a:p>
        </p:txBody>
      </p:sp>
      <p:sp>
        <p:nvSpPr>
          <p:cNvPr id="4" name="Rounded Rectangle 3"/>
          <p:cNvSpPr/>
          <p:nvPr/>
        </p:nvSpPr>
        <p:spPr>
          <a:xfrm>
            <a:off x="502920"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процедуры с находкой из тысячи</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547 пациентов</a:t>
            </a:r>
          </a:p>
        </p:txBody>
      </p:sp>
      <p:sp>
        <p:nvSpPr>
          <p:cNvPr id="8" name="Rounded Rectangle 7"/>
          <p:cNvSpPr/>
          <p:nvPr/>
        </p:nvSpPr>
        <p:spPr>
          <a:xfrm>
            <a:off x="4286402" y="1335024"/>
            <a:ext cx="3618890"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РОССИЙСКИМ ПОМОЩНИКОМ</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472 процедуры из тысячи</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581 пациент</a:t>
            </a:r>
          </a:p>
        </p:txBody>
      </p:sp>
      <p:sp>
        <p:nvSpPr>
          <p:cNvPr id="12" name="Rounded Rectangle 11"/>
          <p:cNvSpPr/>
          <p:nvPr/>
        </p:nvSpPr>
        <p:spPr>
          <a:xfrm>
            <a:off x="8069884" y="1335024"/>
            <a:ext cx="3618890"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У ИСПЫТАНИЯ НЕТ</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замера после снятия помощника</a:t>
            </a:r>
          </a:p>
        </p:txBody>
      </p:sp>
      <p:sp>
        <p:nvSpPr>
          <p:cNvPr id="15" name="TextBox 14"/>
          <p:cNvSpPr txBox="1"/>
          <p:nvPr/>
        </p:nvSpPr>
        <p:spPr>
          <a:xfrm>
            <a:off x="502920" y="31106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Устройство</a:t>
            </a:r>
          </a:p>
        </p:txBody>
      </p:sp>
      <p:sp>
        <p:nvSpPr>
          <p:cNvPr id="16" name="Rounded Rectangle 15"/>
          <p:cNvSpPr/>
          <p:nvPr/>
        </p:nvSpPr>
        <p:spPr>
          <a:xfrm>
            <a:off x="1920240"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видеопоток с прибора</a:t>
            </a:r>
          </a:p>
        </p:txBody>
      </p:sp>
      <p:sp>
        <p:nvSpPr>
          <p:cNvPr id="18" name="Right Arrow 17"/>
          <p:cNvSpPr/>
          <p:nvPr/>
        </p:nvSpPr>
        <p:spPr>
          <a:xfrm>
            <a:off x="5039258" y="3243197"/>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267858" y="30740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50154" y="31198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компьютер у стойки</a:t>
            </a:r>
          </a:p>
        </p:txBody>
      </p:sp>
      <p:sp>
        <p:nvSpPr>
          <p:cNvPr id="21" name="Right Arrow 20"/>
          <p:cNvSpPr/>
          <p:nvPr/>
        </p:nvSpPr>
        <p:spPr>
          <a:xfrm>
            <a:off x="8386876" y="3243197"/>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15476" y="307408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3" name="TextBox 22"/>
          <p:cNvSpPr txBox="1"/>
          <p:nvPr/>
        </p:nvSpPr>
        <p:spPr>
          <a:xfrm>
            <a:off x="8697772" y="311980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мониторе</a:t>
            </a:r>
          </a:p>
        </p:txBody>
      </p:sp>
      <p:sp>
        <p:nvSpPr>
          <p:cNvPr id="24" name="TextBox 23"/>
          <p:cNvSpPr txBox="1"/>
          <p:nvPr/>
        </p:nvSpPr>
        <p:spPr>
          <a:xfrm>
            <a:off x="502920" y="373235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Обучено на</a:t>
            </a:r>
          </a:p>
        </p:txBody>
      </p:sp>
      <p:sp>
        <p:nvSpPr>
          <p:cNvPr id="25" name="Rounded Rectangle 24"/>
          <p:cNvSpPr/>
          <p:nvPr/>
        </p:nvSpPr>
        <p:spPr>
          <a:xfrm>
            <a:off x="1920240"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архиве НМИЦ колопроктологии</a:t>
            </a:r>
          </a:p>
        </p:txBody>
      </p:sp>
      <p:sp>
        <p:nvSpPr>
          <p:cNvPr id="27" name="Right Arrow 26"/>
          <p:cNvSpPr/>
          <p:nvPr/>
        </p:nvSpPr>
        <p:spPr>
          <a:xfrm>
            <a:off x="6713067" y="386489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3695778"/>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3741498"/>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разметке его эндоскопистов</a:t>
            </a:r>
          </a:p>
        </p:txBody>
      </p:sp>
      <p:sp>
        <p:nvSpPr>
          <p:cNvPr id="30" name="TextBox 29"/>
          <p:cNvSpPr txBox="1"/>
          <p:nvPr/>
        </p:nvSpPr>
        <p:spPr>
          <a:xfrm>
            <a:off x="502920" y="42077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стоит система в потоке</a:t>
            </a:r>
          </a:p>
        </p:txBody>
      </p:sp>
      <p:sp>
        <p:nvSpPr>
          <p:cNvPr id="31" name="Rounded Rectangle 30"/>
          <p:cNvSpPr/>
          <p:nvPr/>
        </p:nvSpPr>
        <p:spPr>
          <a:xfrm>
            <a:off x="374904" y="4510430"/>
            <a:ext cx="11441887" cy="1689874"/>
          </a:xfrm>
          <a:prstGeom prst="roundRect">
            <a:avLst>
              <a:gd name="adj" fmla="val 18036"/>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601870"/>
            <a:ext cx="11112703" cy="1634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делали.</a:t>
            </a:r>
            <a:r>
              <a:rPr sz="1250" b="0" i="0">
                <a:solidFill>
                  <a:srgbClr val="21295C"/>
                </a:solidFill>
                <a:latin typeface="Arial"/>
              </a:rPr>
              <a:t> В четырёх учреждениях России — Москва и Уфа — 1 128 пациентов разделили жребием: колоноскопия как обычно и с российским помощником, обводящим участок рамкой.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Две формы словаря.</a:t>
            </a:r>
            <a:r>
              <a:rPr sz="1250" b="0" i="0">
                <a:solidFill>
                  <a:srgbClr val="21295C"/>
                </a:solidFill>
                <a:latin typeface="Arial"/>
              </a:rPr>
              <a:t> Сменился исполнитель: часть поиска делает допущенное устройство. Нагрузка выросла на том же месте: 1,23 ложного срабатывания на исследование там, где их было ноль, — столько раз врач смотрит на пустое место.</a:t>
            </a:r>
          </a:p>
          <a:p>
            <a:pPr algn="l">
              <a:lnSpc>
                <a:spcPct val="126000"/>
              </a:lnSpc>
              <a:spcBef>
                <a:spcPts val="700"/>
              </a:spcBef>
            </a:pPr>
            <a:r>
              <a:rPr sz="1250" b="0" i="0">
                <a:solidFill>
                  <a:srgbClr val="21295C"/>
                </a:solidFill>
                <a:latin typeface="Arial"/>
              </a:rPr>
              <a:t/>
            </a:r>
            <a:r>
              <a:rPr sz="1250" b="1" i="0">
                <a:solidFill>
                  <a:srgbClr val="21295C"/>
                </a:solidFill>
                <a:latin typeface="Arial"/>
              </a:rPr>
              <a:t>Внедрение в России крупнейшее в мире по заявленным числам, а замера последствий нет:</a:t>
            </a:r>
            <a:r>
              <a:rPr sz="1250" b="0" i="0">
                <a:solidFill>
                  <a:srgbClr val="21295C"/>
                </a:solidFill>
                <a:latin typeface="Arial"/>
              </a:rPr>
              <a:t> врача после снятия помощника здесь не мерили.</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Ачкасов С.И., Шелыгин Ю.А. и соавт. Эффективность системы искусственного интеллекта ArtInCol в диагностике новообразований при колоноскопии: результаты многоцентрового рандомизированного исследования. Колопроктология, 2025; 24(3):12–21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разработчики на незнакомой библиотеке</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ПИСАЛИ РУКАМИ: ВЕРНЫХ НА ПРОВЕРКЕ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67 из ста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разрыв шире на заданиях «найди ошибку»</a:t>
            </a:r>
          </a:p>
        </p:txBody>
      </p:sp>
      <p:sp>
        <p:nvSpPr>
          <p:cNvPr id="8" name="Rounded Rectangle 7"/>
          <p:cNvSpPr/>
          <p:nvPr/>
        </p:nvSpPr>
        <p:spPr>
          <a:xfrm>
            <a:off x="4286402"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ПОМОЩНИКОМ: ТА ЖЕ ПРОВЕРКА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0,738, значимость 0,01; по времени выигрыша нет</a:t>
            </a:r>
          </a:p>
        </p:txBody>
      </p:sp>
      <p:sp>
        <p:nvSpPr>
          <p:cNvPr id="12" name="Rounded Rectangle 11"/>
          <p:cNvSpPr/>
          <p:nvPr/>
        </p:nvSpPr>
        <p:spPr>
          <a:xfrm>
            <a:off x="8069884"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СПРАШИВАЛИ ЛИШЬ ПРО ПОНЯТИЯ</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выше 65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человек; кто отдавал задачу целиком — четверо — ниже 40 из ста</a:t>
            </a:r>
          </a:p>
        </p:txBody>
      </p:sp>
      <p:sp>
        <p:nvSpPr>
          <p:cNvPr id="16" name="TextBox 15"/>
          <p:cNvSpPr txBox="1"/>
          <p:nvPr/>
        </p:nvSpPr>
        <p:spPr>
          <a:xfrm>
            <a:off x="502920" y="293147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Половина жребием</a:t>
            </a:r>
          </a:p>
        </p:txBody>
      </p:sp>
      <p:sp>
        <p:nvSpPr>
          <p:cNvPr id="17" name="Rounded Rectangle 16"/>
          <p:cNvSpPr/>
          <p:nvPr/>
        </p:nvSpPr>
        <p:spPr>
          <a:xfrm>
            <a:off x="1920240"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задача на незнакомой библиотеке</a:t>
            </a:r>
          </a:p>
        </p:txBody>
      </p:sp>
      <p:sp>
        <p:nvSpPr>
          <p:cNvPr id="19" name="Right Arrow 18"/>
          <p:cNvSpPr/>
          <p:nvPr/>
        </p:nvSpPr>
        <p:spPr>
          <a:xfrm>
            <a:off x="5039258" y="306401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2940621"/>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помощник рядом</a:t>
            </a:r>
          </a:p>
        </p:txBody>
      </p:sp>
      <p:sp>
        <p:nvSpPr>
          <p:cNvPr id="22" name="Right Arrow 21"/>
          <p:cNvSpPr/>
          <p:nvPr/>
        </p:nvSpPr>
        <p:spPr>
          <a:xfrm>
            <a:off x="8386876" y="3064017"/>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без него</a:t>
            </a:r>
          </a:p>
        </p:txBody>
      </p:sp>
      <p:sp>
        <p:nvSpPr>
          <p:cNvPr id="25" name="TextBox 24"/>
          <p:cNvSpPr txBox="1"/>
          <p:nvPr/>
        </p:nvSpPr>
        <p:spPr>
          <a:xfrm>
            <a:off x="502920" y="355317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Вторая половина</a:t>
            </a:r>
          </a:p>
        </p:txBody>
      </p:sp>
      <p:sp>
        <p:nvSpPr>
          <p:cNvPr id="26" name="Rounded Rectangle 25"/>
          <p:cNvSpPr/>
          <p:nvPr/>
        </p:nvSpPr>
        <p:spPr>
          <a:xfrm>
            <a:off x="1920240"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задача</a:t>
            </a:r>
          </a:p>
        </p:txBody>
      </p:sp>
      <p:sp>
        <p:nvSpPr>
          <p:cNvPr id="28" name="Right Arrow 27"/>
          <p:cNvSpPr/>
          <p:nvPr/>
        </p:nvSpPr>
        <p:spPr>
          <a:xfrm>
            <a:off x="5039258" y="368571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документация и свой разбор</a:t>
            </a:r>
          </a:p>
        </p:txBody>
      </p:sp>
      <p:sp>
        <p:nvSpPr>
          <p:cNvPr id="31" name="Right Arrow 30"/>
          <p:cNvSpPr/>
          <p:nvPr/>
        </p:nvSpPr>
        <p:spPr>
          <a:xfrm>
            <a:off x="8386876" y="368571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1659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56231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та же проверка</a:t>
            </a:r>
          </a:p>
        </p:txBody>
      </p:sp>
      <p:sp>
        <p:nvSpPr>
          <p:cNvPr id="34" name="TextBox 33"/>
          <p:cNvSpPr txBox="1"/>
          <p:nvPr/>
        </p:nvSpPr>
        <p:spPr>
          <a:xfrm>
            <a:off x="502920" y="40285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с чем сравнивали</a:t>
            </a:r>
          </a:p>
        </p:txBody>
      </p:sp>
      <p:sp>
        <p:nvSpPr>
          <p:cNvPr id="35" name="Rounded Rectangle 34"/>
          <p:cNvSpPr/>
          <p:nvPr/>
        </p:nvSpPr>
        <p:spPr>
          <a:xfrm>
            <a:off x="374904" y="4331250"/>
            <a:ext cx="11441887" cy="1904957"/>
          </a:xfrm>
          <a:prstGeom prst="roundRect">
            <a:avLst>
              <a:gd name="adj" fmla="val 16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22690"/>
            <a:ext cx="11112703" cy="181351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делали.</a:t>
            </a:r>
            <a:r>
              <a:rPr sz="1300" b="0" i="0">
                <a:solidFill>
                  <a:srgbClr val="21295C"/>
                </a:solidFill>
                <a:latin typeface="Arial"/>
              </a:rPr>
              <a:t> 52 участника — младшие инженеры, незнакомые с библиотекой асинхронного программирования, — распределили жребием: половина с помощником, половина руками. Проверяли всех без помощника.</a:t>
            </a:r>
          </a:p>
          <a:p>
            <a:pPr algn="l">
              <a:lnSpc>
                <a:spcPct val="126000"/>
              </a:lnSpc>
              <a:spcBef>
                <a:spcPts val="700"/>
              </a:spcBef>
            </a:pPr>
            <a:r>
              <a:rPr sz="1300" b="0" i="0">
                <a:solidFill>
                  <a:srgbClr val="21295C"/>
                </a:solidFill>
                <a:latin typeface="Arial"/>
              </a:rPr>
              <a:t/>
            </a:r>
            <a:r>
              <a:rPr sz="1300" b="1" i="0">
                <a:solidFill>
                  <a:srgbClr val="21295C"/>
                </a:solidFill>
                <a:latin typeface="Arial"/>
              </a:rPr>
              <a:t>Это та работа, которой занят зал.</a:t>
            </a:r>
            <a:r>
              <a:rPr sz="1300" b="0" i="0">
                <a:solidFill>
                  <a:srgbClr val="21295C"/>
                </a:solidFill>
                <a:latin typeface="Arial"/>
              </a:rPr>
              <a:t> Вторую половину пары измерили жребием — чего нет у соседних разборов.</a:t>
            </a:r>
          </a:p>
          <a:p>
            <a:pPr algn="l">
              <a:lnSpc>
                <a:spcPct val="126000"/>
              </a:lnSpc>
              <a:spcBef>
                <a:spcPts val="700"/>
              </a:spcBef>
            </a:pPr>
            <a:r>
              <a:rPr sz="1300" b="0" i="0">
                <a:solidFill>
                  <a:srgbClr val="21295C"/>
                </a:solidFill>
                <a:latin typeface="Arial"/>
              </a:rPr>
              <a:t/>
            </a:r>
            <a:r>
              <a:rPr sz="1300" b="1" i="0">
                <a:solidFill>
                  <a:srgbClr val="21295C"/>
                </a:solidFill>
                <a:latin typeface="Arial"/>
              </a:rPr>
              <a:t>Здесь измерен несложившийся навык:</a:t>
            </a:r>
            <a:r>
              <a:rPr sz="1300" b="0" i="0">
                <a:solidFill>
                  <a:srgbClr val="21295C"/>
                </a:solidFill>
                <a:latin typeface="Arial"/>
              </a:rPr>
              <a:t> библиотеки не знал никто, износу взяться неоткуда; формы словаря такому случаю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Тот же расход бывает и без модели.</a:t>
            </a:r>
            <a:r>
              <a:rPr sz="1300" b="0" i="0">
                <a:solidFill>
                  <a:srgbClr val="21295C"/>
                </a:solidFill>
                <a:latin typeface="Arial"/>
              </a:rPr>
              <a:t> В цитологии Великобритании после перехода на тест на вирус папилломы поток на чтение упал на 80–85 из ста, центров осталось 8 из 45. Навык расходует переданный объём работы; модель — лишь один из способов его передать.</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Shen и Tamkin, arXiv:2601.20245, 2026</a:t>
            </a:r>
            <a:r>
              <a:rPr sz="1200" b="0" i="1">
                <a:solidFill>
                  <a:srgbClr val="1C7293"/>
                </a:solidFill>
                <a:latin typeface="Arial"/>
              </a:rPr>
              <a:t> · </a:t>
            </a:r>
            <a:r>
              <a:rPr sz="1200" b="0" i="1" u="sng">
                <a:solidFill>
                  <a:srgbClr val="065A82"/>
                </a:solidFill>
                <a:latin typeface="Arial"/>
                <a:hlinkClick r:id="rId3"/>
              </a:rPr>
              <a:t>Heudel и соавт., ESMO Real World Data and Digital Oncology 2026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режима одного класса: где человек остаётся и где его снимают</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ПОДСВЕТКА: МЕСТО ОСТАЛОСЬ ЗА ЧЕЛОВЕКОМ, РАСХОД ИЗМЕРЕН</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a:t>
            </a:r>
          </a:p>
        </p:txBody>
      </p:sp>
      <p:sp>
        <p:nvSpPr>
          <p:cNvPr id="7" name="TextBox 6"/>
          <p:cNvSpPr txBox="1"/>
          <p:nvPr/>
        </p:nvSpPr>
        <p:spPr>
          <a:xfrm>
            <a:off x="640080"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19 врачей, процедуры без помощника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ЧИТАТЕЛЬ: ЧЕЛОВЕКА С МЕСТА СНЯЛИ</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человеческого чтения ниже на 44,3 процента</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шведская программа, 80 033 обследованных</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У СНЯТОГО МЕСТА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и измерен быть не может</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мерить некого</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Подсветка на видео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врач ведёт процедуру</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рамка на участке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и решает сам</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Второй читатель снимка</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готов</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заключение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второго человека нет</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режима, и что остаётся человеку</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11112703" cy="142686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Оба клинических разбора раздела сняты на одном режиме — подсветке. Режимов два, и разница не в точности.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Подсветка на видео:</a:t>
            </a:r>
            <a:r>
              <a:rPr sz="1250" b="0" i="0">
                <a:solidFill>
                  <a:srgbClr val="21295C"/>
                </a:solidFill>
                <a:latin typeface="Arial"/>
              </a:rPr>
              <a:t> врач ведёт процедуру, рамка появляется на участке, место остаётся за ним — и расход на этом месте измерен. </a:t>
            </a:r>
            <a:r>
              <a:rPr sz="1250" b="1" i="0">
                <a:solidFill>
                  <a:srgbClr val="21295C"/>
                </a:solidFill>
                <a:latin typeface="Arial"/>
              </a:rPr>
              <a:t>Второй читатель снимка:</a:t>
            </a:r>
            <a:r>
              <a:rPr sz="1250" b="0" i="0">
                <a:solidFill>
                  <a:srgbClr val="21295C"/>
                </a:solidFill>
                <a:latin typeface="Arial"/>
              </a:rPr>
              <a:t> модель встаёт на место второго человека, и человека с этого места снимают совсем.</a:t>
            </a:r>
          </a:p>
          <a:p>
            <a:pPr algn="l">
              <a:lnSpc>
                <a:spcPct val="126000"/>
              </a:lnSpc>
              <a:spcBef>
                <a:spcPts val="700"/>
              </a:spcBef>
            </a:pPr>
            <a:r>
              <a:rPr sz="1250" b="0" i="0">
                <a:solidFill>
                  <a:srgbClr val="21295C"/>
                </a:solidFill>
                <a:latin typeface="Arial"/>
              </a:rPr>
              <a:t/>
            </a:r>
            <a:r>
              <a:rPr sz="1250" b="1" i="0">
                <a:solidFill>
                  <a:srgbClr val="21295C"/>
                </a:solidFill>
                <a:latin typeface="Arial"/>
              </a:rPr>
              <a:t>Навык расходуется там, где человек формально остался.</a:t>
            </a:r>
            <a:r>
              <a:rPr sz="1250" b="0" i="0">
                <a:solidFill>
                  <a:srgbClr val="21295C"/>
                </a:solidFill>
                <a:latin typeface="Arial"/>
              </a:rPr>
              <a:t> Там, где его сняли, расход не измерить. Это свойство самого решения, и будущим замером оно не закрывается.</a:t>
            </a:r>
          </a:p>
        </p:txBody>
      </p:sp>
      <p:sp>
        <p:nvSpPr>
          <p:cNvPr id="37" name="Rectangle 3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анализ безопасности MASAI, Lancet Oncology 2023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Свод стадии: что получается, что нет и что из этого про вас</a:t>
            </a:r>
          </a:p>
        </p:txBody>
      </p:sp>
      <p:sp>
        <p:nvSpPr>
          <p:cNvPr id="4" name="Rounded Rectangle 3"/>
          <p:cNvSpPr/>
          <p:nvPr/>
        </p:nvSpPr>
        <p:spPr>
          <a:xfrm>
            <a:off x="502920" y="1335024"/>
            <a:ext cx="3618890" cy="1597671"/>
          </a:xfrm>
          <a:prstGeom prst="roundRect">
            <a:avLst>
              <a:gd name="adj" fmla="val 1907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ВРАЧЕЙ</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находки на тысячу процедур</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 однажды</a:t>
            </a:r>
          </a:p>
        </p:txBody>
      </p:sp>
      <p:sp>
        <p:nvSpPr>
          <p:cNvPr id="8" name="Rounded Rectangle 7"/>
          <p:cNvSpPr/>
          <p:nvPr/>
        </p:nvSpPr>
        <p:spPr>
          <a:xfrm>
            <a:off x="4286402"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УЧЁБЕ, ЖРЕБИЕМ</a:t>
            </a:r>
          </a:p>
        </p:txBody>
      </p:sp>
      <p:sp>
        <p:nvSpPr>
          <p:cNvPr id="10" name="TextBox 9"/>
          <p:cNvSpPr txBox="1"/>
          <p:nvPr/>
        </p:nvSpPr>
        <p:spPr>
          <a:xfrm>
            <a:off x="4423562" y="1725375"/>
            <a:ext cx="3344570"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экзамен без модели на 17 % ниже контроля</a:t>
            </a:r>
          </a:p>
        </p:txBody>
      </p:sp>
      <p:sp>
        <p:nvSpPr>
          <p:cNvPr id="11" name="TextBox 10"/>
          <p:cNvSpPr txBox="1"/>
          <p:nvPr/>
        </p:nvSpPr>
        <p:spPr>
          <a:xfrm>
            <a:off x="4423562" y="2525822"/>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1 000 школьников</a:t>
            </a:r>
          </a:p>
        </p:txBody>
      </p:sp>
      <p:sp>
        <p:nvSpPr>
          <p:cNvPr id="12" name="Rounded Rectangle 11"/>
          <p:cNvSpPr/>
          <p:nvPr/>
        </p:nvSpPr>
        <p:spPr>
          <a:xfrm>
            <a:off x="8069884" y="1335024"/>
            <a:ext cx="3618890" cy="1597671"/>
          </a:xfrm>
          <a:prstGeom prst="roundRect">
            <a:avLst>
              <a:gd name="adj" fmla="val 1907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ПРОТИВОВЕС БЕЗ СВОЕГО ЧИСЛА</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у 69 новичков через неделю расход не подтвердился</a:t>
            </a:r>
          </a:p>
        </p:txBody>
      </p:sp>
      <p:sp>
        <p:nvSpPr>
          <p:cNvPr id="15" name="TextBox 14"/>
          <p:cNvSpPr txBox="1"/>
          <p:nvPr/>
        </p:nvSpPr>
        <p:spPr>
          <a:xfrm>
            <a:off x="8207044"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горизонт неделя; размера этого «не подтвердился» источник не называет</a:t>
            </a:r>
          </a:p>
        </p:txBody>
      </p:sp>
      <p:sp>
        <p:nvSpPr>
          <p:cNvPr id="16" name="Rounded Rectangle 15"/>
          <p:cNvSpPr/>
          <p:nvPr/>
        </p:nvSpPr>
        <p:spPr>
          <a:xfrm>
            <a:off x="374904" y="302413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находят больше, пока включён; измерено жребием и повторено.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сказать врачу о пропуске в процедуре · измерить доверие за месяцы.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разбирать расхождение врача и модели. Перепроверку потока сменил целевой арбитраж: защита сменилась целиком.</a:t>
            </a:r>
          </a:p>
        </p:txBody>
      </p:sp>
      <p:sp>
        <p:nvSpPr>
          <p:cNvPr id="18" name="TextBox 17"/>
          <p:cNvSpPr txBox="1"/>
          <p:nvPr/>
        </p:nvSpPr>
        <p:spPr>
          <a:xfrm>
            <a:off x="6278727" y="3115575"/>
            <a:ext cx="5373471" cy="31206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Врача без помощника не измеряет ни одна процедура ни в одной стране.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вас:</a:t>
            </a:r>
            <a:r>
              <a:rPr sz="1500" b="0" i="0">
                <a:solidFill>
                  <a:srgbClr val="21295C"/>
                </a:solidFill>
                <a:latin typeface="Arial"/>
              </a:rPr>
              <a:t> неограниченный помощник создаёт видимость обучения: в работе выше, на проверке ниже. Лечится устройством доступа, не объёмом практики.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Из шести искажений входа раздел встретил одно — износ навыка: минус 60 находок на тысячу.</a:t>
            </a:r>
          </a:p>
        </p:txBody>
      </p:sp>
      <p:sp>
        <p:nvSpPr>
          <p:cNvPr id="19" name="Rectangle 18"/>
          <p:cNvSpPr/>
          <p:nvPr/>
        </p:nvSpPr>
        <p:spPr>
          <a:xfrm>
            <a:off x="6091275" y="3115575"/>
            <a:ext cx="9144" cy="22572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Счёт приписок</a:t>
            </a:r>
            <a:r>
              <a:rPr sz="1550" b="0" i="0">
                <a:solidFill>
                  <a:srgbClr val="21295C"/>
                </a:solidFill>
                <a:latin typeface="Arial"/>
              </a:rPr>
              <a:t> — чей это результат, и в скольких случаях не модели 3. </a:t>
            </a:r>
            <a:r>
              <a:rPr sz="1550" b="1" i="0">
                <a:solidFill>
                  <a:srgbClr val="21295C"/>
                </a:solidFill>
                <a:latin typeface="Arial"/>
              </a:rPr>
              <a:t>Что работает и что не работает</a:t>
            </a:r>
            <a:r>
              <a:rPr sz="1550" b="0" i="0">
                <a:solidFill>
                  <a:srgbClr val="21295C"/>
                </a:solidFill>
                <a:latin typeface="Arial"/>
              </a:rPr>
              <a:t> — по типам задач, через все пять стадий 4.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5. </a:t>
            </a:r>
            <a:r>
              <a:rPr sz="1550" b="1" i="0">
                <a:solidFill>
                  <a:srgbClr val="21295C"/>
                </a:solidFill>
                <a:latin typeface="Arial"/>
              </a:rPr>
              <a:t>Шесть механизмов из введения</a:t>
            </a:r>
            <a:r>
              <a:rPr sz="1550" b="0" i="0">
                <a:solidFill>
                  <a:srgbClr val="21295C"/>
                </a:solidFill>
                <a:latin typeface="Arial"/>
              </a:rPr>
              <a:t> — что стало с человеком 6.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7.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9803"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719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1129299" y="1335024"/>
            <a:ext cx="3270410"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1275603" y="1335024"/>
            <a:ext cx="2977802"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форма</a:t>
            </a:r>
          </a:p>
        </p:txBody>
      </p:sp>
      <p:sp>
        <p:nvSpPr>
          <p:cNvPr id="9" name="Rectangle 8"/>
          <p:cNvSpPr/>
          <p:nvPr/>
        </p:nvSpPr>
        <p:spPr>
          <a:xfrm>
            <a:off x="4399709" y="1335024"/>
            <a:ext cx="1445150"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46013" y="1335024"/>
            <a:ext cx="1152542"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мерит</a:t>
            </a:r>
          </a:p>
        </p:txBody>
      </p:sp>
      <p:sp>
        <p:nvSpPr>
          <p:cNvPr id="11" name="Rectangle 10"/>
          <p:cNvSpPr/>
          <p:nvPr/>
        </p:nvSpPr>
        <p:spPr>
          <a:xfrm>
            <a:off x="5844860" y="1335024"/>
            <a:ext cx="5807338"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91164" y="1335024"/>
            <a:ext cx="55147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счёт</a:t>
            </a:r>
          </a:p>
        </p:txBody>
      </p:sp>
      <p:sp>
        <p:nvSpPr>
          <p:cNvPr id="13" name="Rectangle 12"/>
          <p:cNvSpPr/>
          <p:nvPr/>
        </p:nvSpPr>
        <p:spPr>
          <a:xfrm>
            <a:off x="539496" y="1727520"/>
            <a:ext cx="589803"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1</a:t>
            </a:r>
          </a:p>
        </p:txBody>
      </p:sp>
      <p:sp>
        <p:nvSpPr>
          <p:cNvPr id="15" name="Rectangle 14"/>
          <p:cNvSpPr/>
          <p:nvPr/>
        </p:nvSpPr>
        <p:spPr>
          <a:xfrm>
            <a:off x="1129299" y="1727520"/>
            <a:ext cx="3270410"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75603" y="1727520"/>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Нагрузка переехала на другой шаг</a:t>
            </a:r>
          </a:p>
        </p:txBody>
      </p:sp>
      <p:sp>
        <p:nvSpPr>
          <p:cNvPr id="17" name="Rectangle 16"/>
          <p:cNvSpPr/>
          <p:nvPr/>
        </p:nvSpPr>
        <p:spPr>
          <a:xfrm>
            <a:off x="4399709" y="1727520"/>
            <a:ext cx="1445150"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46013" y="1727520"/>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место</a:t>
            </a:r>
          </a:p>
        </p:txBody>
      </p:sp>
      <p:sp>
        <p:nvSpPr>
          <p:cNvPr id="19" name="Rectangle 18"/>
          <p:cNvSpPr/>
          <p:nvPr/>
        </p:nvSpPr>
        <p:spPr>
          <a:xfrm>
            <a:off x="5844860" y="1727520"/>
            <a:ext cx="5807338"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91164" y="1727520"/>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время заметки </a:t>
            </a:r>
            <a:r>
              <a:rPr sz="1250" b="1" i="0">
                <a:solidFill>
                  <a:srgbClr val="21295C"/>
                </a:solidFill>
                <a:latin typeface="Arial"/>
              </a:rPr>
              <a:t>−9,5 %</a:t>
            </a:r>
            <a:r>
              <a:rPr sz="1250" b="0" i="0">
                <a:solidFill>
                  <a:srgbClr val="21295C"/>
                </a:solidFill>
                <a:latin typeface="Arial"/>
              </a:rPr>
              <a:t> к контролю, правка не изменилась</a:t>
            </a:r>
          </a:p>
        </p:txBody>
      </p:sp>
      <p:sp>
        <p:nvSpPr>
          <p:cNvPr id="21" name="Rectangle 20"/>
          <p:cNvSpPr/>
          <p:nvPr/>
        </p:nvSpPr>
        <p:spPr>
          <a:xfrm>
            <a:off x="539496" y="2120016"/>
            <a:ext cx="589803"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2</a:t>
            </a:r>
          </a:p>
        </p:txBody>
      </p:sp>
      <p:sp>
        <p:nvSpPr>
          <p:cNvPr id="23" name="Rectangle 22"/>
          <p:cNvSpPr/>
          <p:nvPr/>
        </p:nvSpPr>
        <p:spPr>
          <a:xfrm>
            <a:off x="1129299" y="2120016"/>
            <a:ext cx="3270410"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75603" y="2120016"/>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Шаг исчез совсем</a:t>
            </a:r>
          </a:p>
        </p:txBody>
      </p:sp>
      <p:sp>
        <p:nvSpPr>
          <p:cNvPr id="25" name="Rectangle 24"/>
          <p:cNvSpPr/>
          <p:nvPr/>
        </p:nvSpPr>
        <p:spPr>
          <a:xfrm>
            <a:off x="4399709" y="2120016"/>
            <a:ext cx="1445150"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46013" y="2120016"/>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место</a:t>
            </a:r>
          </a:p>
        </p:txBody>
      </p:sp>
      <p:sp>
        <p:nvSpPr>
          <p:cNvPr id="27" name="Rectangle 26"/>
          <p:cNvSpPr/>
          <p:nvPr/>
        </p:nvSpPr>
        <p:spPr>
          <a:xfrm>
            <a:off x="5844860" y="2120016"/>
            <a:ext cx="5807338"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91164" y="2120016"/>
            <a:ext cx="5514730"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случая не встретилось</a:t>
            </a:r>
          </a:p>
        </p:txBody>
      </p:sp>
      <p:sp>
        <p:nvSpPr>
          <p:cNvPr id="29" name="Rectangle 28"/>
          <p:cNvSpPr/>
          <p:nvPr/>
        </p:nvSpPr>
        <p:spPr>
          <a:xfrm>
            <a:off x="539496" y="2512512"/>
            <a:ext cx="589803"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3</a:t>
            </a:r>
          </a:p>
        </p:txBody>
      </p:sp>
      <p:sp>
        <p:nvSpPr>
          <p:cNvPr id="31" name="Rectangle 30"/>
          <p:cNvSpPr/>
          <p:nvPr/>
        </p:nvSpPr>
        <p:spPr>
          <a:xfrm>
            <a:off x="1129299" y="2512512"/>
            <a:ext cx="3270410"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75603" y="2512512"/>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Шаг появился</a:t>
            </a:r>
          </a:p>
        </p:txBody>
      </p:sp>
      <p:sp>
        <p:nvSpPr>
          <p:cNvPr id="33" name="Rectangle 32"/>
          <p:cNvSpPr/>
          <p:nvPr/>
        </p:nvSpPr>
        <p:spPr>
          <a:xfrm>
            <a:off x="4399709" y="2512512"/>
            <a:ext cx="1445150"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46013" y="2512512"/>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место</a:t>
            </a:r>
          </a:p>
        </p:txBody>
      </p:sp>
      <p:sp>
        <p:nvSpPr>
          <p:cNvPr id="35" name="Rectangle 34"/>
          <p:cNvSpPr/>
          <p:nvPr/>
        </p:nvSpPr>
        <p:spPr>
          <a:xfrm>
            <a:off x="5844860" y="2512512"/>
            <a:ext cx="5807338"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91164" y="2512512"/>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 арбитраж </a:t>
            </a:r>
            <a:r>
              <a:rPr sz="1250" b="1" i="0">
                <a:solidFill>
                  <a:srgbClr val="21295C"/>
                </a:solidFill>
                <a:latin typeface="Arial"/>
              </a:rPr>
              <a:t>3,9 → 9,4</a:t>
            </a:r>
            <a:r>
              <a:rPr sz="1250" b="0" i="0">
                <a:solidFill>
                  <a:srgbClr val="21295C"/>
                </a:solidFill>
                <a:latin typeface="Arial"/>
              </a:rPr>
              <a:t> и </a:t>
            </a:r>
            <a:r>
              <a:rPr sz="1250" b="1" i="0">
                <a:solidFill>
                  <a:srgbClr val="21295C"/>
                </a:solidFill>
                <a:latin typeface="Arial"/>
              </a:rPr>
              <a:t>11,3 → 13,8</a:t>
            </a:r>
            <a:r>
              <a:rPr sz="1250" b="0" i="0">
                <a:solidFill>
                  <a:srgbClr val="21295C"/>
                </a:solidFill>
                <a:latin typeface="Arial"/>
              </a:rPr>
              <a:t> из ста чтений</a:t>
            </a:r>
          </a:p>
        </p:txBody>
      </p:sp>
      <p:sp>
        <p:nvSpPr>
          <p:cNvPr id="37" name="Rectangle 36"/>
          <p:cNvSpPr/>
          <p:nvPr/>
        </p:nvSpPr>
        <p:spPr>
          <a:xfrm>
            <a:off x="539496" y="2905008"/>
            <a:ext cx="589803"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4</a:t>
            </a:r>
          </a:p>
        </p:txBody>
      </p:sp>
      <p:sp>
        <p:nvSpPr>
          <p:cNvPr id="39" name="Rectangle 38"/>
          <p:cNvSpPr/>
          <p:nvPr/>
        </p:nvSpPr>
        <p:spPr>
          <a:xfrm>
            <a:off x="1129299" y="2905008"/>
            <a:ext cx="3270410"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75603" y="2905008"/>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Нагрузка выросла на том же месте</a:t>
            </a:r>
          </a:p>
        </p:txBody>
      </p:sp>
      <p:sp>
        <p:nvSpPr>
          <p:cNvPr id="41" name="Rectangle 40"/>
          <p:cNvSpPr/>
          <p:nvPr/>
        </p:nvSpPr>
        <p:spPr>
          <a:xfrm>
            <a:off x="4399709" y="2905008"/>
            <a:ext cx="1445150"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46013" y="2905008"/>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объём</a:t>
            </a:r>
          </a:p>
        </p:txBody>
      </p:sp>
      <p:sp>
        <p:nvSpPr>
          <p:cNvPr id="43" name="Rectangle 42"/>
          <p:cNvSpPr/>
          <p:nvPr/>
        </p:nvSpPr>
        <p:spPr>
          <a:xfrm>
            <a:off x="5844860" y="2905008"/>
            <a:ext cx="5807338"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91164" y="2905008"/>
            <a:ext cx="5514730"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18</a:t>
            </a:r>
            <a:r>
              <a:rPr sz="1250" b="0" i="0">
                <a:solidFill>
                  <a:srgbClr val="21295C"/>
                </a:solidFill>
                <a:latin typeface="Arial"/>
              </a:rPr>
              <a:t> тревог на сто госпитализаций · </a:t>
            </a:r>
            <a:r>
              <a:rPr sz="1250" b="1" i="0">
                <a:solidFill>
                  <a:srgbClr val="21295C"/>
                </a:solidFill>
                <a:latin typeface="Arial"/>
              </a:rPr>
              <a:t>1,23</a:t>
            </a:r>
            <a:r>
              <a:rPr sz="1250" b="0" i="0">
                <a:solidFill>
                  <a:srgbClr val="21295C"/>
                </a:solidFill>
                <a:latin typeface="Arial"/>
              </a:rPr>
              <a:t> впустую на исследование</a:t>
            </a:r>
          </a:p>
        </p:txBody>
      </p:sp>
      <p:sp>
        <p:nvSpPr>
          <p:cNvPr id="45" name="Rectangle 44"/>
          <p:cNvSpPr/>
          <p:nvPr/>
        </p:nvSpPr>
        <p:spPr>
          <a:xfrm>
            <a:off x="539496" y="3297504"/>
            <a:ext cx="589803"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97504"/>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4а</a:t>
            </a:r>
          </a:p>
        </p:txBody>
      </p:sp>
      <p:sp>
        <p:nvSpPr>
          <p:cNvPr id="47" name="Rectangle 46"/>
          <p:cNvSpPr/>
          <p:nvPr/>
        </p:nvSpPr>
        <p:spPr>
          <a:xfrm>
            <a:off x="1129299" y="3297504"/>
            <a:ext cx="3270410"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75603" y="3297504"/>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Нагрузка на том же месте упала</a:t>
            </a:r>
          </a:p>
        </p:txBody>
      </p:sp>
      <p:sp>
        <p:nvSpPr>
          <p:cNvPr id="49" name="Rectangle 48"/>
          <p:cNvSpPr/>
          <p:nvPr/>
        </p:nvSpPr>
        <p:spPr>
          <a:xfrm>
            <a:off x="4399709" y="3297504"/>
            <a:ext cx="1445150"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46013" y="3297504"/>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объём</a:t>
            </a:r>
          </a:p>
        </p:txBody>
      </p:sp>
      <p:sp>
        <p:nvSpPr>
          <p:cNvPr id="51" name="Rectangle 50"/>
          <p:cNvSpPr/>
          <p:nvPr/>
        </p:nvSpPr>
        <p:spPr>
          <a:xfrm>
            <a:off x="5844860" y="3297504"/>
            <a:ext cx="5807338" cy="392496"/>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91164" y="3297504"/>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чтение ниже </a:t>
            </a:r>
            <a:r>
              <a:rPr sz="1250" b="1" i="0">
                <a:solidFill>
                  <a:srgbClr val="21295C"/>
                </a:solidFill>
                <a:latin typeface="Arial"/>
              </a:rPr>
              <a:t>на 44,3 %</a:t>
            </a:r>
          </a:p>
        </p:txBody>
      </p:sp>
      <p:sp>
        <p:nvSpPr>
          <p:cNvPr id="53" name="Rectangle 52"/>
          <p:cNvSpPr/>
          <p:nvPr/>
        </p:nvSpPr>
        <p:spPr>
          <a:xfrm>
            <a:off x="539496" y="3690000"/>
            <a:ext cx="589803"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90000"/>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5</a:t>
            </a:r>
          </a:p>
        </p:txBody>
      </p:sp>
      <p:sp>
        <p:nvSpPr>
          <p:cNvPr id="55" name="Rectangle 54"/>
          <p:cNvSpPr/>
          <p:nvPr/>
        </p:nvSpPr>
        <p:spPr>
          <a:xfrm>
            <a:off x="1129299" y="3690000"/>
            <a:ext cx="3270410" cy="39249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75603" y="3690000"/>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Сменился исполнитель</a:t>
            </a:r>
          </a:p>
        </p:txBody>
      </p:sp>
      <p:sp>
        <p:nvSpPr>
          <p:cNvPr id="57" name="Rectangle 56"/>
          <p:cNvSpPr/>
          <p:nvPr/>
        </p:nvSpPr>
        <p:spPr>
          <a:xfrm>
            <a:off x="4399709" y="3690000"/>
            <a:ext cx="1445150" cy="39249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46013" y="3690000"/>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рука</a:t>
            </a:r>
          </a:p>
        </p:txBody>
      </p:sp>
      <p:sp>
        <p:nvSpPr>
          <p:cNvPr id="59" name="Rectangle 58"/>
          <p:cNvSpPr/>
          <p:nvPr/>
        </p:nvSpPr>
        <p:spPr>
          <a:xfrm>
            <a:off x="5844860" y="3690000"/>
            <a:ext cx="5807338" cy="392496"/>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91164" y="3690000"/>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явка </a:t>
            </a:r>
            <a:r>
              <a:rPr sz="1250" b="1" i="0">
                <a:solidFill>
                  <a:srgbClr val="21295C"/>
                </a:solidFill>
                <a:latin typeface="Arial"/>
              </a:rPr>
              <a:t>22 → 100</a:t>
            </a:r>
            <a:r>
              <a:rPr sz="1250" b="0" i="0">
                <a:solidFill>
                  <a:srgbClr val="21295C"/>
                </a:solidFill>
                <a:latin typeface="Arial"/>
              </a:rPr>
              <a:t> из ста · находки </a:t>
            </a:r>
            <a:r>
              <a:rPr sz="1250" b="1" i="0">
                <a:solidFill>
                  <a:srgbClr val="21295C"/>
                </a:solidFill>
                <a:latin typeface="Arial"/>
              </a:rPr>
              <a:t>413 → 472</a:t>
            </a:r>
            <a:r>
              <a:rPr sz="1250" b="0" i="0">
                <a:solidFill>
                  <a:srgbClr val="21295C"/>
                </a:solidFill>
                <a:latin typeface="Arial"/>
              </a:rPr>
              <a:t> из тысячи</a:t>
            </a:r>
          </a:p>
        </p:txBody>
      </p:sp>
      <p:sp>
        <p:nvSpPr>
          <p:cNvPr id="61" name="Rectangle 60"/>
          <p:cNvSpPr/>
          <p:nvPr/>
        </p:nvSpPr>
        <p:spPr>
          <a:xfrm>
            <a:off x="539496" y="4082496"/>
            <a:ext cx="589803" cy="392496"/>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82496"/>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6</a:t>
            </a:r>
          </a:p>
        </p:txBody>
      </p:sp>
      <p:sp>
        <p:nvSpPr>
          <p:cNvPr id="63" name="Rectangle 62"/>
          <p:cNvSpPr/>
          <p:nvPr/>
        </p:nvSpPr>
        <p:spPr>
          <a:xfrm>
            <a:off x="1129299" y="4082496"/>
            <a:ext cx="3270410" cy="392496"/>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75603" y="4082496"/>
            <a:ext cx="297780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Изменился порядок работ</a:t>
            </a:r>
          </a:p>
        </p:txBody>
      </p:sp>
      <p:sp>
        <p:nvSpPr>
          <p:cNvPr id="65" name="Rectangle 64"/>
          <p:cNvSpPr/>
          <p:nvPr/>
        </p:nvSpPr>
        <p:spPr>
          <a:xfrm>
            <a:off x="4399709" y="4082496"/>
            <a:ext cx="1445150" cy="392496"/>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46013" y="4082496"/>
            <a:ext cx="115254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порядок</a:t>
            </a:r>
          </a:p>
        </p:txBody>
      </p:sp>
      <p:sp>
        <p:nvSpPr>
          <p:cNvPr id="67" name="Rectangle 66"/>
          <p:cNvSpPr/>
          <p:nvPr/>
        </p:nvSpPr>
        <p:spPr>
          <a:xfrm>
            <a:off x="5844860" y="4082496"/>
            <a:ext cx="5807338" cy="392496"/>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91164" y="4082496"/>
            <a:ext cx="5514730"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*счёта нет</a:t>
            </a:r>
            <a:r>
              <a:rPr sz="1250" b="0" i="0">
                <a:solidFill>
                  <a:srgbClr val="21295C"/>
                </a:solidFill>
                <a:latin typeface="Arial"/>
              </a:rPr>
              <a:t>*</a:t>
            </a:r>
          </a:p>
        </p:txBody>
      </p:sp>
      <p:sp>
        <p:nvSpPr>
          <p:cNvPr id="69" name="Rectangle 68"/>
          <p:cNvSpPr/>
          <p:nvPr/>
        </p:nvSpPr>
        <p:spPr>
          <a:xfrm>
            <a:off x="539496" y="4474992"/>
            <a:ext cx="589803" cy="392496"/>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74992"/>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7</a:t>
            </a:r>
          </a:p>
        </p:txBody>
      </p:sp>
      <p:sp>
        <p:nvSpPr>
          <p:cNvPr id="71" name="Rectangle 70"/>
          <p:cNvSpPr/>
          <p:nvPr/>
        </p:nvSpPr>
        <p:spPr>
          <a:xfrm>
            <a:off x="1129299" y="4474992"/>
            <a:ext cx="3270410" cy="392496"/>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75603" y="4474992"/>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Сместилась цена ошибки</a:t>
            </a:r>
          </a:p>
        </p:txBody>
      </p:sp>
      <p:sp>
        <p:nvSpPr>
          <p:cNvPr id="73" name="Rectangle 72"/>
          <p:cNvSpPr/>
          <p:nvPr/>
        </p:nvSpPr>
        <p:spPr>
          <a:xfrm>
            <a:off x="4399709" y="4474992"/>
            <a:ext cx="1445150" cy="392496"/>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46013" y="4474992"/>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цена ошибки</a:t>
            </a:r>
          </a:p>
        </p:txBody>
      </p:sp>
      <p:sp>
        <p:nvSpPr>
          <p:cNvPr id="75" name="Rectangle 74"/>
          <p:cNvSpPr/>
          <p:nvPr/>
        </p:nvSpPr>
        <p:spPr>
          <a:xfrm>
            <a:off x="5844860" y="4474992"/>
            <a:ext cx="5807338" cy="392496"/>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91164" y="4474992"/>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 тёмной коже хуже </a:t>
            </a:r>
            <a:r>
              <a:rPr sz="1250" b="1" i="0">
                <a:solidFill>
                  <a:srgbClr val="21295C"/>
                </a:solidFill>
                <a:latin typeface="Arial"/>
              </a:rPr>
              <a:t>на 9–15</a:t>
            </a:r>
            <a:r>
              <a:rPr sz="1250" b="0" i="0">
                <a:solidFill>
                  <a:srgbClr val="21295C"/>
                </a:solidFill>
                <a:latin typeface="Arial"/>
              </a:rPr>
              <a:t> из 100 · болезней больше </a:t>
            </a:r>
            <a:r>
              <a:rPr sz="1250" b="1" i="0">
                <a:solidFill>
                  <a:srgbClr val="21295C"/>
                </a:solidFill>
                <a:latin typeface="Arial"/>
              </a:rPr>
              <a:t>на 26</a:t>
            </a:r>
            <a:r>
              <a:rPr sz="1250" b="0" i="0">
                <a:solidFill>
                  <a:srgbClr val="21295C"/>
                </a:solidFill>
                <a:latin typeface="Arial"/>
              </a:rPr>
              <a:t> из ста</a:t>
            </a:r>
          </a:p>
        </p:txBody>
      </p:sp>
      <p:sp>
        <p:nvSpPr>
          <p:cNvPr id="77" name="Rectangle 76"/>
          <p:cNvSpPr/>
          <p:nvPr/>
        </p:nvSpPr>
        <p:spPr>
          <a:xfrm>
            <a:off x="539496" y="4867488"/>
            <a:ext cx="589803" cy="392496"/>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867488"/>
            <a:ext cx="297195"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8</a:t>
            </a:r>
          </a:p>
        </p:txBody>
      </p:sp>
      <p:sp>
        <p:nvSpPr>
          <p:cNvPr id="79" name="Rectangle 78"/>
          <p:cNvSpPr/>
          <p:nvPr/>
        </p:nvSpPr>
        <p:spPr>
          <a:xfrm>
            <a:off x="1129299" y="4867488"/>
            <a:ext cx="3270410" cy="392496"/>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75603" y="4867488"/>
            <a:ext cx="297780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Исполнитель тот же, но стал хуже</a:t>
            </a:r>
          </a:p>
        </p:txBody>
      </p:sp>
      <p:sp>
        <p:nvSpPr>
          <p:cNvPr id="81" name="Rectangle 80"/>
          <p:cNvSpPr/>
          <p:nvPr/>
        </p:nvSpPr>
        <p:spPr>
          <a:xfrm>
            <a:off x="4399709" y="4867488"/>
            <a:ext cx="1445150" cy="392496"/>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46013" y="4867488"/>
            <a:ext cx="1152542"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рука</a:t>
            </a:r>
          </a:p>
        </p:txBody>
      </p:sp>
      <p:sp>
        <p:nvSpPr>
          <p:cNvPr id="83" name="Rectangle 82"/>
          <p:cNvSpPr/>
          <p:nvPr/>
        </p:nvSpPr>
        <p:spPr>
          <a:xfrm>
            <a:off x="5844860" y="4867488"/>
            <a:ext cx="5807338" cy="392496"/>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91164" y="4867488"/>
            <a:ext cx="55147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находок </a:t>
            </a:r>
            <a:r>
              <a:rPr sz="1250" b="1" i="0">
                <a:solidFill>
                  <a:srgbClr val="21295C"/>
                </a:solidFill>
                <a:latin typeface="Arial"/>
              </a:rPr>
              <a:t>284 → 224</a:t>
            </a:r>
            <a:r>
              <a:rPr sz="1250" b="0" i="0">
                <a:solidFill>
                  <a:srgbClr val="21295C"/>
                </a:solidFill>
                <a:latin typeface="Arial"/>
              </a:rPr>
              <a:t> из тысячи</a:t>
            </a:r>
          </a:p>
        </p:txBody>
      </p:sp>
      <p:sp>
        <p:nvSpPr>
          <p:cNvPr id="85" name="Rectangle 84"/>
          <p:cNvSpPr/>
          <p:nvPr/>
        </p:nvSpPr>
        <p:spPr>
          <a:xfrm>
            <a:off x="539496" y="5259984"/>
            <a:ext cx="589803" cy="392496"/>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259984"/>
            <a:ext cx="29719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8а</a:t>
            </a:r>
          </a:p>
        </p:txBody>
      </p:sp>
      <p:sp>
        <p:nvSpPr>
          <p:cNvPr id="87" name="Rectangle 86"/>
          <p:cNvSpPr/>
          <p:nvPr/>
        </p:nvSpPr>
        <p:spPr>
          <a:xfrm>
            <a:off x="1129299" y="5259984"/>
            <a:ext cx="3270410" cy="392496"/>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75603" y="5259984"/>
            <a:ext cx="297780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Исполнитель тот же, но стал лучше</a:t>
            </a:r>
          </a:p>
        </p:txBody>
      </p:sp>
      <p:sp>
        <p:nvSpPr>
          <p:cNvPr id="89" name="Rectangle 88"/>
          <p:cNvSpPr/>
          <p:nvPr/>
        </p:nvSpPr>
        <p:spPr>
          <a:xfrm>
            <a:off x="4399709" y="5259984"/>
            <a:ext cx="1445150" cy="392496"/>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46013" y="5259984"/>
            <a:ext cx="1152542"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рука</a:t>
            </a:r>
          </a:p>
        </p:txBody>
      </p:sp>
      <p:sp>
        <p:nvSpPr>
          <p:cNvPr id="91" name="Rectangle 90"/>
          <p:cNvSpPr/>
          <p:nvPr/>
        </p:nvSpPr>
        <p:spPr>
          <a:xfrm>
            <a:off x="5844860" y="5259984"/>
            <a:ext cx="5807338" cy="392496"/>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91164" y="5259984"/>
            <a:ext cx="5514730" cy="392496"/>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измерения нет</a:t>
            </a:r>
          </a:p>
        </p:txBody>
      </p:sp>
      <p:sp>
        <p:nvSpPr>
          <p:cNvPr id="93" name="TextBox 92"/>
          <p:cNvSpPr txBox="1"/>
          <p:nvPr/>
        </p:nvSpPr>
        <p:spPr>
          <a:xfrm>
            <a:off x="539496" y="579878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Семь форм из девяти несут счёт; два прочерка названы прочерками.</a:t>
            </a:r>
            <a:r>
              <a:rPr sz="1300" b="0" i="0">
                <a:solidFill>
                  <a:srgbClr val="21295C"/>
                </a:solidFill>
                <a:latin typeface="Arial"/>
              </a:rPr>
              <a:t> Какая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Счёт приписок: в тринадцати случаях из двадцати одного выигрыш не у модели</a:t>
            </a:r>
          </a:p>
        </p:txBody>
      </p:sp>
      <p:sp>
        <p:nvSpPr>
          <p:cNvPr id="4" name="Rounded Rectangle 3"/>
          <p:cNvSpPr/>
          <p:nvPr/>
        </p:nvSpPr>
        <p:spPr>
          <a:xfrm>
            <a:off x="502920"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МОДЕЛИ НЕТ ВОВСЕ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 из 21</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уберёшь модель — механизм работает: дерево «если — то» в сортировке; навык расходует переданный объём</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ВЫИГРЫШ НЕ У МОДЕЛИ</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из 21</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принадлежит порогу, составу обучающего набора, заданной цели, порядку предъявления или реализации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ЧИСЛО ВЫРОСЛО ПРИ ПЕРЕСКАЗЕ</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из 21</a:t>
            </a:r>
          </a:p>
        </p:txBody>
      </p:sp>
      <p:sp>
        <p:nvSpPr>
          <p:cNvPr id="15" name="TextBox 14"/>
          <p:cNvSpPr txBox="1"/>
          <p:nvPr/>
        </p:nvSpPr>
        <p:spPr>
          <a:xfrm>
            <a:off x="8207044"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56,7 % вместо нуля · «эффекта нет» одним числом · доля мнений вместо времени · масштаб вместо замера</a:t>
            </a:r>
          </a:p>
        </p:txBody>
      </p:sp>
      <p:sp>
        <p:nvSpPr>
          <p:cNvPr id="16" name="Rounded Rectangle 15"/>
          <p:cNvSpPr/>
          <p:nvPr/>
        </p:nvSpPr>
        <p:spPr>
          <a:xfrm>
            <a:off x="374904" y="301470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Двадцать один разбор за вечер. В тринадцати выигрыш или вина принадлежат не обученной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Семь разборов из двадцати одного — отечественная практика:</a:t>
            </a:r>
            <a:r>
              <a:rPr sz="1500" b="0" i="0">
                <a:solidFill>
                  <a:srgbClr val="21295C"/>
                </a:solidFill>
                <a:latin typeface="Arial"/>
              </a:rPr>
              <a:t> маммограммы в скрининге, Москва дважды в диагностике, медкарта в диагнозе, протокол приёма и голосовой ввод в документации, ArtInCol в квалификации.</a:t>
            </a:r>
          </a:p>
        </p:txBody>
      </p:sp>
      <p:sp>
        <p:nvSpPr>
          <p:cNvPr id="18" name="TextBox 17"/>
          <p:cNvSpPr txBox="1"/>
          <p:nvPr/>
        </p:nvSpPr>
        <p:spPr>
          <a:xfrm>
            <a:off x="6278727" y="3106144"/>
            <a:ext cx="5373471" cy="313006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сильные строки линии до экрана не доехали:</a:t>
            </a:r>
            <a:r>
              <a:rPr sz="1500" b="0" i="0">
                <a:solidFill>
                  <a:srgbClr val="21295C"/>
                </a:solidFill>
                <a:latin typeface="Arial"/>
              </a:rPr>
              <a:t> их разделы изъяты из лекции. Сильнейшая — рецензируемый обзор, перепутавший шесть из семи своих первоисточников.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Приём отсюда:</a:t>
            </a:r>
            <a:r>
              <a:rPr sz="1500" b="0" i="0">
                <a:solidFill>
                  <a:srgbClr val="21295C"/>
                </a:solidFill>
                <a:latin typeface="Arial"/>
              </a:rPr>
              <a:t> у заявленного эффекта спрашивать, </a:t>
            </a:r>
            <a:r>
              <a:rPr sz="1500" b="1" i="0">
                <a:solidFill>
                  <a:srgbClr val="21295C"/>
                </a:solidFill>
                <a:latin typeface="Arial"/>
              </a:rPr>
              <a:t>от чего он посчитан</a:t>
            </a:r>
            <a:r>
              <a:rPr sz="1500" b="0" i="0">
                <a:solidFill>
                  <a:srgbClr val="21295C"/>
                </a:solidFill>
                <a:latin typeface="Arial"/>
              </a:rPr>
              <a:t>, у пересказанного — </a:t>
            </a:r>
            <a:r>
              <a:rPr sz="1500" b="1" i="0">
                <a:solidFill>
                  <a:srgbClr val="21295C"/>
                </a:solidFill>
                <a:latin typeface="Arial"/>
              </a:rPr>
              <a:t>открывать первоисточник</a:t>
            </a:r>
            <a:r>
              <a:rPr sz="1500" b="0" i="0">
                <a:solidFill>
                  <a:srgbClr val="21295C"/>
                </a:solidFill>
                <a:latin typeface="Arial"/>
              </a:rPr>
              <a:t>.</a:t>
            </a:r>
          </a:p>
        </p:txBody>
      </p:sp>
      <p:sp>
        <p:nvSpPr>
          <p:cNvPr id="19" name="Rectangle 18"/>
          <p:cNvSpPr/>
          <p:nvPr/>
        </p:nvSpPr>
        <p:spPr>
          <a:xfrm>
            <a:off x="6091275" y="3106144"/>
            <a:ext cx="9144" cy="2168327"/>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REESTR-PRIPISOK-DEKI.md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работает и что не работает — по типам задач, через все пять стадий</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Работает</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распознавание на изображении — фильтром потока: кого прочесть дважды</a:t>
            </a:r>
          </a:p>
          <a:p>
            <a:pPr algn="l">
              <a:lnSpc>
                <a:spcPct val="126000"/>
              </a:lnSpc>
            </a:pPr>
            <a:r>
              <a:rPr sz="1350" b="0" i="0">
                <a:solidFill>
                  <a:srgbClr val="21295C"/>
                </a:solidFill>
                <a:latin typeface="Arial"/>
              </a:rPr>
              <a:t>• классификация на изображении — где снимок стандартизован, а годность решена до модели</a:t>
            </a:r>
          </a:p>
          <a:p>
            <a:pPr algn="l">
              <a:lnSpc>
                <a:spcPct val="126000"/>
              </a:lnSpc>
            </a:pPr>
            <a:r>
              <a:rPr sz="1350" b="0" i="0">
                <a:solidFill>
                  <a:srgbClr val="21295C"/>
                </a:solidFill>
                <a:latin typeface="Arial"/>
              </a:rPr>
              <a:t>• распознавание на звуке — набором текста вместо клавиатуры</a:t>
            </a:r>
          </a:p>
          <a:p>
            <a:pPr algn="l">
              <a:lnSpc>
                <a:spcPct val="126000"/>
              </a:lnSpc>
            </a:pPr>
            <a:r>
              <a:rPr sz="1350" b="0" i="0">
                <a:solidFill>
                  <a:srgbClr val="21295C"/>
                </a:solidFill>
                <a:latin typeface="Arial"/>
              </a:rPr>
              <a:t>• генерация на тексте — черновиком к концу приёма</a:t>
            </a:r>
          </a:p>
          <a:p>
            <a:pPr algn="l">
              <a:lnSpc>
                <a:spcPct val="126000"/>
              </a:lnSpc>
            </a:pPr>
            <a:r>
              <a:rPr sz="1350" b="0" i="0">
                <a:solidFill>
                  <a:srgbClr val="21295C"/>
                </a:solidFill>
                <a:latin typeface="Arial"/>
              </a:rPr>
              <a:t>• прогноз на структурированных данных — сигналом рядом со шкалой</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работает</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основанием снять чтение: экономия из непрочитанного, не из точности</a:t>
            </a:r>
          </a:p>
          <a:p>
            <a:pPr algn="l">
              <a:lnSpc>
                <a:spcPct val="126000"/>
              </a:lnSpc>
            </a:pPr>
            <a:r>
              <a:rPr sz="1450" b="0" i="0">
                <a:solidFill>
                  <a:srgbClr val="21295C"/>
                </a:solidFill>
                <a:latin typeface="Arial"/>
              </a:rPr>
              <a:t>• на подгруппе, которой в наборе было мало — платит она</a:t>
            </a:r>
          </a:p>
          <a:p>
            <a:pPr algn="l">
              <a:lnSpc>
                <a:spcPct val="126000"/>
              </a:lnSpc>
            </a:pPr>
            <a:r>
              <a:rPr sz="1450" b="0" i="0">
                <a:solidFill>
                  <a:srgbClr val="21295C"/>
                </a:solidFill>
                <a:latin typeface="Arial"/>
              </a:rPr>
              <a:t>• на окончаниях слов и чужой речи; времени никто не измерил</a:t>
            </a:r>
          </a:p>
          <a:p>
            <a:pPr algn="l">
              <a:lnSpc>
                <a:spcPct val="126000"/>
              </a:lnSpc>
            </a:pPr>
            <a:r>
              <a:rPr sz="1450" b="0" i="0">
                <a:solidFill>
                  <a:srgbClr val="21295C"/>
                </a:solidFill>
                <a:latin typeface="Arial"/>
              </a:rPr>
              <a:t>• полнее человека: пишет тот же, а платит читатель</a:t>
            </a:r>
          </a:p>
          <a:p>
            <a:pPr algn="l">
              <a:lnSpc>
                <a:spcPct val="126000"/>
              </a:lnSpc>
            </a:pPr>
            <a:r>
              <a:rPr sz="1450" b="0" i="0">
                <a:solidFill>
                  <a:srgbClr val="21295C"/>
                </a:solidFill>
                <a:latin typeface="Arial"/>
              </a:rPr>
              <a:t>• решением: цель задаёт переменная, а порог — документ</a:t>
            </a:r>
          </a:p>
        </p:txBody>
      </p:sp>
      <p:sp>
        <p:nvSpPr>
          <p:cNvPr id="10" name="Rounded Rectangle 9"/>
          <p:cNvSpPr/>
          <p:nvPr/>
        </p:nvSpPr>
        <p:spPr>
          <a:xfrm>
            <a:off x="374904" y="4535424"/>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Шестой тип — измерение прибором: обученной модели нет вовсе, а смещение есть.</a:t>
            </a:r>
            <a:r>
              <a:rPr sz="1500" b="0" i="0">
                <a:solidFill>
                  <a:srgbClr val="21295C"/>
                </a:solidFill>
                <a:latin typeface="Arial"/>
              </a:rPr>
              <a:t> Его наследует всё, что берёт признак на вход.</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Разрез по типу задачи, а не по стадии:</a:t>
            </a:r>
            <a:r>
              <a:rPr sz="1500" b="0" i="0">
                <a:solidFill>
                  <a:srgbClr val="21295C"/>
                </a:solidFill>
                <a:latin typeface="Arial"/>
              </a:rPr>
              <a:t> один тип идёт через несколько стадий, и граница «работает» у него везде одна.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Правая сторона ни в одной строке не про качество модели</a:t>
            </a:r>
            <a:r>
              <a:rPr sz="1500" b="0" i="0">
                <a:solidFill>
                  <a:srgbClr val="21295C"/>
                </a:solidFill>
                <a:latin typeface="Arial"/>
              </a:rPr>
              <a:t> — про годность входа, состав данных, цель и порог.</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Итог карты: четыре ячейки заняты пятью разделами, восемь пусты</a:t>
            </a:r>
          </a:p>
        </p:txBody>
      </p:sp>
      <p:sp>
        <p:nvSpPr>
          <p:cNvPr id="4" name="Rounded Rectangle 3"/>
          <p:cNvSpPr/>
          <p:nvPr/>
        </p:nvSpPr>
        <p:spPr>
          <a:xfrm>
            <a:off x="374904" y="1243584"/>
            <a:ext cx="11441887" cy="4462479"/>
          </a:xfrm>
          <a:prstGeom prst="roundRect">
            <a:avLst>
              <a:gd name="adj" fmla="val 6830"/>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976843"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684235"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2516339" y="1335024"/>
            <a:ext cx="3106859"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2662643" y="1335024"/>
            <a:ext cx="281425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текст</a:t>
            </a:r>
          </a:p>
        </p:txBody>
      </p:sp>
      <p:sp>
        <p:nvSpPr>
          <p:cNvPr id="9" name="Rectangle 8"/>
          <p:cNvSpPr/>
          <p:nvPr/>
        </p:nvSpPr>
        <p:spPr>
          <a:xfrm>
            <a:off x="5623199" y="1335024"/>
            <a:ext cx="3211302"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5769503" y="1335024"/>
            <a:ext cx="2918694"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изображение</a:t>
            </a:r>
          </a:p>
        </p:txBody>
      </p:sp>
      <p:sp>
        <p:nvSpPr>
          <p:cNvPr id="11" name="Rectangle 10"/>
          <p:cNvSpPr/>
          <p:nvPr/>
        </p:nvSpPr>
        <p:spPr>
          <a:xfrm>
            <a:off x="8834501" y="1335024"/>
            <a:ext cx="2817697"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980805" y="1335024"/>
            <a:ext cx="252508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структурированные данные</a:t>
            </a:r>
          </a:p>
        </p:txBody>
      </p:sp>
      <p:sp>
        <p:nvSpPr>
          <p:cNvPr id="13" name="Rectangle 12"/>
          <p:cNvSpPr/>
          <p:nvPr/>
        </p:nvSpPr>
        <p:spPr>
          <a:xfrm>
            <a:off x="539496" y="1745752"/>
            <a:ext cx="1976843"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168423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классификация</a:t>
            </a:r>
          </a:p>
        </p:txBody>
      </p:sp>
      <p:sp>
        <p:nvSpPr>
          <p:cNvPr id="15" name="Rectangle 14"/>
          <p:cNvSpPr/>
          <p:nvPr/>
        </p:nvSpPr>
        <p:spPr>
          <a:xfrm>
            <a:off x="2516339" y="1745752"/>
            <a:ext cx="3106859"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62643" y="1745752"/>
            <a:ext cx="281425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17" name="Rectangle 16"/>
          <p:cNvSpPr/>
          <p:nvPr/>
        </p:nvSpPr>
        <p:spPr>
          <a:xfrm>
            <a:off x="5623199" y="1745752"/>
            <a:ext cx="3211302"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769503" y="1745752"/>
            <a:ext cx="291869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скрининг · диагностика</a:t>
            </a:r>
          </a:p>
        </p:txBody>
      </p:sp>
      <p:sp>
        <p:nvSpPr>
          <p:cNvPr id="19" name="Rectangle 18"/>
          <p:cNvSpPr/>
          <p:nvPr/>
        </p:nvSpPr>
        <p:spPr>
          <a:xfrm>
            <a:off x="8834501" y="1745752"/>
            <a:ext cx="2817697"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980805" y="1745752"/>
            <a:ext cx="252508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1" name="Rectangle 20"/>
          <p:cNvSpPr/>
          <p:nvPr/>
        </p:nvSpPr>
        <p:spPr>
          <a:xfrm>
            <a:off x="539496" y="2156480"/>
            <a:ext cx="1976843"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168423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распознавание</a:t>
            </a:r>
          </a:p>
        </p:txBody>
      </p:sp>
      <p:sp>
        <p:nvSpPr>
          <p:cNvPr id="23" name="Rectangle 22"/>
          <p:cNvSpPr/>
          <p:nvPr/>
        </p:nvSpPr>
        <p:spPr>
          <a:xfrm>
            <a:off x="2516339" y="2156480"/>
            <a:ext cx="3106859"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62643" y="2156480"/>
            <a:ext cx="281425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5" name="Rectangle 24"/>
          <p:cNvSpPr/>
          <p:nvPr/>
        </p:nvSpPr>
        <p:spPr>
          <a:xfrm>
            <a:off x="5623199" y="2156480"/>
            <a:ext cx="3211302"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769503" y="2156480"/>
            <a:ext cx="291869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скрининг · диагностика · диагноз</a:t>
            </a:r>
          </a:p>
        </p:txBody>
      </p:sp>
      <p:sp>
        <p:nvSpPr>
          <p:cNvPr id="27" name="Rectangle 26"/>
          <p:cNvSpPr/>
          <p:nvPr/>
        </p:nvSpPr>
        <p:spPr>
          <a:xfrm>
            <a:off x="8834501" y="2156480"/>
            <a:ext cx="2817697"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980805" y="2156480"/>
            <a:ext cx="252508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29" name="Rectangle 28"/>
          <p:cNvSpPr/>
          <p:nvPr/>
        </p:nvSpPr>
        <p:spPr>
          <a:xfrm>
            <a:off x="539496" y="2567209"/>
            <a:ext cx="1976843"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168423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поиск и генерация</a:t>
            </a:r>
          </a:p>
        </p:txBody>
      </p:sp>
      <p:sp>
        <p:nvSpPr>
          <p:cNvPr id="31" name="Rectangle 30"/>
          <p:cNvSpPr/>
          <p:nvPr/>
        </p:nvSpPr>
        <p:spPr>
          <a:xfrm>
            <a:off x="2516339" y="2567209"/>
            <a:ext cx="3106859"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62643" y="2567209"/>
            <a:ext cx="281425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скрининг · диагноз · документы</a:t>
            </a:r>
          </a:p>
        </p:txBody>
      </p:sp>
      <p:sp>
        <p:nvSpPr>
          <p:cNvPr id="33" name="Rectangle 32"/>
          <p:cNvSpPr/>
          <p:nvPr/>
        </p:nvSpPr>
        <p:spPr>
          <a:xfrm>
            <a:off x="5623199" y="2567209"/>
            <a:ext cx="3211302"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769503" y="2567209"/>
            <a:ext cx="291869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5" name="Rectangle 34"/>
          <p:cNvSpPr/>
          <p:nvPr/>
        </p:nvSpPr>
        <p:spPr>
          <a:xfrm>
            <a:off x="8834501" y="2567209"/>
            <a:ext cx="2817697"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980805" y="2567209"/>
            <a:ext cx="252508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37" name="Rectangle 36"/>
          <p:cNvSpPr/>
          <p:nvPr/>
        </p:nvSpPr>
        <p:spPr>
          <a:xfrm>
            <a:off x="539496" y="2977937"/>
            <a:ext cx="1976843"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1684235"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прогноз</a:t>
            </a:r>
          </a:p>
        </p:txBody>
      </p:sp>
      <p:sp>
        <p:nvSpPr>
          <p:cNvPr id="39" name="Rectangle 38"/>
          <p:cNvSpPr/>
          <p:nvPr/>
        </p:nvSpPr>
        <p:spPr>
          <a:xfrm>
            <a:off x="2516339" y="2977937"/>
            <a:ext cx="3106859"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62643" y="2977937"/>
            <a:ext cx="281425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1" name="Rectangle 40"/>
          <p:cNvSpPr/>
          <p:nvPr/>
        </p:nvSpPr>
        <p:spPr>
          <a:xfrm>
            <a:off x="5623199" y="2977937"/>
            <a:ext cx="3211302"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769503" y="2977937"/>
            <a:ext cx="2918694"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a:t>
            </a:r>
          </a:p>
        </p:txBody>
      </p:sp>
      <p:sp>
        <p:nvSpPr>
          <p:cNvPr id="43" name="Rectangle 42"/>
          <p:cNvSpPr/>
          <p:nvPr/>
        </p:nvSpPr>
        <p:spPr>
          <a:xfrm>
            <a:off x="8834501" y="2977937"/>
            <a:ext cx="2817697"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980805" y="2977937"/>
            <a:ext cx="2525089"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диагностика · диагноз</a:t>
            </a:r>
          </a:p>
        </p:txBody>
      </p:sp>
      <p:sp>
        <p:nvSpPr>
          <p:cNvPr id="45" name="TextBox 44"/>
          <p:cNvSpPr txBox="1"/>
          <p:nvPr/>
        </p:nvSpPr>
        <p:spPr>
          <a:xfrm>
            <a:off x="539496" y="3534969"/>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Занято 4 из 12; в восемь за пять разделов не зашёл никто.</a:t>
            </a:r>
            <a:r>
              <a:rPr sz="1400" b="0" i="0">
                <a:solidFill>
                  <a:srgbClr val="21295C"/>
                </a:solidFill>
                <a:latin typeface="Arial"/>
              </a:rPr>
              <a:t> Вне окна ещё три: видео, речь на приёме и сигнал прибора, где модели нет вовсе. </a:t>
            </a:r>
            <a:r>
              <a:rPr sz="1450" b="1" i="0">
                <a:solidFill>
                  <a:srgbClr val="21295C"/>
                </a:solidFill>
                <a:latin typeface="Arial"/>
              </a:rPr>
              <a:t>Квалификация в окне не занимает ничего:</a:t>
            </a:r>
            <a:r>
              <a:rPr sz="1400" b="0" i="0">
                <a:solidFill>
                  <a:srgbClr val="21295C"/>
                </a:solidFill>
                <a:latin typeface="Arial"/>
              </a:rPr>
              <a:t> её помощник работает на видео.</a:t>
            </a:r>
          </a:p>
        </p:txBody>
      </p:sp>
      <p:sp>
        <p:nvSpPr>
          <p:cNvPr id="46" name="TextBox 45"/>
          <p:cNvSpPr txBox="1"/>
          <p:nvPr/>
        </p:nvSpPr>
        <p:spPr>
          <a:xfrm>
            <a:off x="539496" y="4246475"/>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Процедуры удержания разные, ни одна не совпадает:</a:t>
            </a:r>
            <a:r>
              <a:rPr sz="1400" b="0" i="0">
                <a:solidFill>
                  <a:srgbClr val="21295C"/>
                </a:solidFill>
                <a:latin typeface="Arial"/>
              </a:rPr>
              <a:t> двойное чтение и арбитраж · годность входа · разбор ложных тревог · вычитка и подпись.</a:t>
            </a:r>
          </a:p>
        </p:txBody>
      </p:sp>
      <p:sp>
        <p:nvSpPr>
          <p:cNvPr id="47" name="TextBox 46"/>
          <p:cNvSpPr txBox="1"/>
          <p:nvPr/>
        </p:nvSpPr>
        <p:spPr>
          <a:xfrm>
            <a:off x="539496" y="4957981"/>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Чем позже проверка, тем дольше живёт ошибка:</a:t>
            </a:r>
            <a:r>
              <a:rPr sz="1400" b="0" i="0">
                <a:solidFill>
                  <a:srgbClr val="21295C"/>
                </a:solidFill>
                <a:latin typeface="Arial"/>
              </a:rPr>
              <a:t> на изображении — внутри смены, на тексте — при подписи, на прогнозе — при срезе данных регулятору. </a:t>
            </a:r>
            <a:r>
              <a:rPr sz="1450" b="1" i="0">
                <a:solidFill>
                  <a:srgbClr val="21295C"/>
                </a:solidFill>
                <a:latin typeface="Arial"/>
              </a:rPr>
              <a:t>А износ руки не поймают нигде.</a:t>
            </a:r>
          </a:p>
        </p:txBody>
      </p:sp>
      <p:sp>
        <p:nvSpPr>
          <p:cNvPr id="48" name="Rectangle 4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механизмов из введения: встретились все, назван один</a:t>
            </a:r>
          </a:p>
        </p:txBody>
      </p:sp>
      <p:sp>
        <p:nvSpPr>
          <p:cNvPr id="4" name="Rounded Rectangle 3"/>
          <p:cNvSpPr/>
          <p:nvPr/>
        </p:nvSpPr>
        <p:spPr>
          <a:xfrm>
            <a:off x="502920" y="133502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94360" y="142646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Якорение</a:t>
            </a:r>
          </a:p>
        </p:txBody>
      </p:sp>
      <p:sp>
        <p:nvSpPr>
          <p:cNvPr id="6" name="TextBox 5"/>
          <p:cNvSpPr txBox="1"/>
          <p:nvPr/>
        </p:nvSpPr>
        <p:spPr>
          <a:xfrm>
            <a:off x="594360" y="169578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Трижды, и ни разу не названо: на кардиограмме 41,7 против 84,9 из ста. Ошибка модели становится ошибкой подписи.</a:t>
            </a:r>
          </a:p>
        </p:txBody>
      </p:sp>
      <p:sp>
        <p:nvSpPr>
          <p:cNvPr id="7" name="Rounded Rectangle 6"/>
          <p:cNvSpPr/>
          <p:nvPr/>
        </p:nvSpPr>
        <p:spPr>
          <a:xfrm>
            <a:off x="502920" y="2080010"/>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8" name="TextBox 7"/>
          <p:cNvSpPr txBox="1"/>
          <p:nvPr/>
        </p:nvSpPr>
        <p:spPr>
          <a:xfrm>
            <a:off x="594360" y="2171450"/>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Сужение</a:t>
            </a:r>
          </a:p>
        </p:txBody>
      </p:sp>
      <p:sp>
        <p:nvSpPr>
          <p:cNvPr id="9" name="TextBox 8"/>
          <p:cNvSpPr txBox="1"/>
          <p:nvPr/>
        </p:nvSpPr>
        <p:spPr>
          <a:xfrm>
            <a:off x="594360" y="2440774"/>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Осмотрено 11,1 → 9,5 из ста площади снимка. Где подсказка молчала, пропущено 61 из ста против 29.</a:t>
            </a:r>
          </a:p>
        </p:txBody>
      </p:sp>
      <p:sp>
        <p:nvSpPr>
          <p:cNvPr id="10" name="Rounded Rectangle 9"/>
          <p:cNvSpPr/>
          <p:nvPr/>
        </p:nvSpPr>
        <p:spPr>
          <a:xfrm>
            <a:off x="502920" y="2824996"/>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94360" y="2916436"/>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Износ навыка</a:t>
            </a:r>
          </a:p>
        </p:txBody>
      </p:sp>
      <p:sp>
        <p:nvSpPr>
          <p:cNvPr id="12" name="TextBox 11"/>
          <p:cNvSpPr txBox="1"/>
          <p:nvPr/>
        </p:nvSpPr>
        <p:spPr>
          <a:xfrm>
            <a:off x="594360" y="3185760"/>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Единственный, названный на кадре: находок 284 → 224 из тысячи. Отката нет ни в одной стране.</a:t>
            </a:r>
          </a:p>
        </p:txBody>
      </p:sp>
      <p:sp>
        <p:nvSpPr>
          <p:cNvPr id="13" name="Rounded Rectangle 12"/>
          <p:cNvSpPr/>
          <p:nvPr/>
        </p:nvSpPr>
        <p:spPr>
          <a:xfrm>
            <a:off x="502920" y="3569982"/>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94360" y="3661422"/>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Поток тревог</a:t>
            </a:r>
          </a:p>
        </p:txBody>
      </p:sp>
      <p:sp>
        <p:nvSpPr>
          <p:cNvPr id="15" name="TextBox 14"/>
          <p:cNvSpPr txBox="1"/>
          <p:nvPr/>
        </p:nvSpPr>
        <p:spPr>
          <a:xfrm>
            <a:off x="594360" y="3930746"/>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Трижды: 45 снимков из ста в «не норму», 18 тревог на сто госпитализаций, 1,23 впустую на исследование.</a:t>
            </a:r>
          </a:p>
        </p:txBody>
      </p:sp>
      <p:sp>
        <p:nvSpPr>
          <p:cNvPr id="16" name="Rounded Rectangle 15"/>
          <p:cNvSpPr/>
          <p:nvPr/>
        </p:nvSpPr>
        <p:spPr>
          <a:xfrm>
            <a:off x="502920" y="4314968"/>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94360" y="4406408"/>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Несогласие</a:t>
            </a:r>
          </a:p>
        </p:txBody>
      </p:sp>
      <p:sp>
        <p:nvSpPr>
          <p:cNvPr id="18" name="TextBox 17"/>
          <p:cNvSpPr txBox="1"/>
          <p:nvPr/>
        </p:nvSpPr>
        <p:spPr>
          <a:xfrm>
            <a:off x="594360" y="4675732"/>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На арбитраж уходит 3,9 → 9,4 и 11,3 → 13,8 из ста чтений. Один разбор равен пяти чтениям.</a:t>
            </a:r>
          </a:p>
        </p:txBody>
      </p:sp>
      <p:sp>
        <p:nvSpPr>
          <p:cNvPr id="19" name="Rounded Rectangle 18"/>
          <p:cNvSpPr/>
          <p:nvPr/>
        </p:nvSpPr>
        <p:spPr>
          <a:xfrm>
            <a:off x="502920" y="5059954"/>
            <a:ext cx="11185855" cy="65354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94360" y="5151394"/>
            <a:ext cx="11002975" cy="241892"/>
          </a:xfrm>
          <a:prstGeom prst="rect">
            <a:avLst/>
          </a:prstGeom>
          <a:noFill/>
        </p:spPr>
        <p:txBody>
          <a:bodyPr wrap="square" lIns="0" rIns="0" tIns="0" bIns="0" anchor="t">
            <a:spAutoFit/>
          </a:bodyPr>
          <a:lstStyle/>
          <a:p>
            <a:pPr algn="l">
              <a:lnSpc>
                <a:spcPct val="114000"/>
              </a:lnSpc>
            </a:pPr>
            <a:r>
              <a:rPr sz="1350" b="1" i="0">
                <a:solidFill>
                  <a:srgbClr val="065A82"/>
                </a:solidFill>
                <a:latin typeface="Arial"/>
              </a:rPr>
              <a:t>Поправка</a:t>
            </a:r>
          </a:p>
        </p:txBody>
      </p:sp>
      <p:sp>
        <p:nvSpPr>
          <p:cNvPr id="21" name="TextBox 20"/>
          <p:cNvSpPr txBox="1"/>
          <p:nvPr/>
        </p:nvSpPr>
        <p:spPr>
          <a:xfrm>
            <a:off x="594360" y="5420718"/>
            <a:ext cx="11002975" cy="201341"/>
          </a:xfrm>
          <a:prstGeom prst="rect">
            <a:avLst/>
          </a:prstGeom>
          <a:noFill/>
        </p:spPr>
        <p:txBody>
          <a:bodyPr wrap="square" lIns="0" rIns="0" tIns="0" bIns="0" anchor="t">
            <a:spAutoFit/>
          </a:bodyPr>
          <a:lstStyle/>
          <a:p>
            <a:pPr algn="l">
              <a:lnSpc>
                <a:spcPct val="122000"/>
              </a:lnSpc>
            </a:pPr>
            <a:r>
              <a:rPr sz="1050" b="0" i="0">
                <a:solidFill>
                  <a:srgbClr val="21295C"/>
                </a:solidFill>
                <a:latin typeface="Arial"/>
              </a:rPr>
              <a:t>Один с обратным знаком: 9 из 11 эпикризов с ошибкой, врач их правит. Вычитка сменила предмет.</a:t>
            </a:r>
          </a:p>
        </p:txBody>
      </p:sp>
      <p:sp>
        <p:nvSpPr>
          <p:cNvPr id="22" name="Rounded Rectangle 21"/>
          <p:cNvSpPr/>
          <p:nvPr/>
        </p:nvSpPr>
        <p:spPr>
          <a:xfrm>
            <a:off x="374904" y="5804940"/>
            <a:ext cx="11441887" cy="43126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896380"/>
            <a:ext cx="11112703" cy="339827"/>
          </a:xfrm>
          <a:prstGeom prst="rect">
            <a:avLst/>
          </a:prstGeom>
          <a:noFill/>
        </p:spPr>
        <p:txBody>
          <a:bodyPr wrap="square" lIns="0" rIns="0" tIns="0" bIns="0" anchor="t">
            <a:spAutoFit/>
          </a:bodyPr>
          <a:lstStyle/>
          <a:p>
            <a:pPr algn="l">
              <a:lnSpc>
                <a:spcPct val="118000"/>
              </a:lnSpc>
            </a:pPr>
            <a:r>
              <a:rPr sz="1400" b="1" i="0">
                <a:solidFill>
                  <a:srgbClr val="21295C"/>
                </a:solidFill>
                <a:latin typeface="Arial"/>
              </a:rPr>
              <a:t>Сторона пациента не дошла:</a:t>
            </a:r>
            <a:r>
              <a:rPr sz="1400" b="0" i="0">
                <a:solidFill>
                  <a:srgbClr val="21295C"/>
                </a:solidFill>
                <a:latin typeface="Arial"/>
              </a:rPr>
              <a:t> из пяти её механизмов повторился один. </a:t>
            </a:r>
            <a:r>
              <a:rPr sz="1400" b="1" i="0">
                <a:solidFill>
                  <a:srgbClr val="21295C"/>
                </a:solidFill>
                <a:latin typeface="Arial"/>
              </a:rPr>
              <a:t>Предупредить не помогает — помогают действия.</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рамка и термины — s01ae; числа — на кадрах своих разборов</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82601"/>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Четыре платежа из начала — поимённо, под каждым измерение.</a:t>
            </a:r>
          </a:p>
        </p:txBody>
      </p:sp>
      <p:sp>
        <p:nvSpPr>
          <p:cNvPr id="6" name="Rectangle 5"/>
          <p:cNvSpPr/>
          <p:nvPr/>
        </p:nvSpPr>
        <p:spPr>
          <a:xfrm>
            <a:off x="539496" y="1763929"/>
            <a:ext cx="1259344" cy="410728"/>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63929"/>
            <a:ext cx="966736"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платёж</a:t>
            </a:r>
          </a:p>
        </p:txBody>
      </p:sp>
      <p:sp>
        <p:nvSpPr>
          <p:cNvPr id="8" name="Rectangle 7"/>
          <p:cNvSpPr/>
          <p:nvPr/>
        </p:nvSpPr>
        <p:spPr>
          <a:xfrm>
            <a:off x="1798840" y="1763929"/>
            <a:ext cx="6592818" cy="410728"/>
          </a:xfrm>
          <a:prstGeom prst="rect">
            <a:avLst/>
          </a:prstGeom>
          <a:solidFill>
            <a:srgbClr val="065A82"/>
          </a:solidFill>
          <a:ln>
            <a:noFill/>
          </a:ln>
          <a:effectLst/>
        </p:spPr>
        <p:txBody>
          <a:bodyPr rtlCol="0" anchor="ctr"/>
          <a:lstStyle/>
          <a:p>
            <a:pPr algn="ctr"/>
          </a:p>
        </p:txBody>
      </p:sp>
      <p:sp>
        <p:nvSpPr>
          <p:cNvPr id="9" name="TextBox 8"/>
          <p:cNvSpPr txBox="1"/>
          <p:nvPr/>
        </p:nvSpPr>
        <p:spPr>
          <a:xfrm>
            <a:off x="1945144" y="1763929"/>
            <a:ext cx="6300210"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чем заплачено</a:t>
            </a:r>
          </a:p>
        </p:txBody>
      </p:sp>
      <p:sp>
        <p:nvSpPr>
          <p:cNvPr id="10" name="Rectangle 9"/>
          <p:cNvSpPr/>
          <p:nvPr/>
        </p:nvSpPr>
        <p:spPr>
          <a:xfrm>
            <a:off x="8391659" y="1763929"/>
            <a:ext cx="3260540" cy="410728"/>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537963" y="1763929"/>
            <a:ext cx="296793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чем измерено</a:t>
            </a:r>
          </a:p>
        </p:txBody>
      </p:sp>
      <p:sp>
        <p:nvSpPr>
          <p:cNvPr id="12" name="Rectangle 11"/>
          <p:cNvSpPr/>
          <p:nvPr/>
        </p:nvSpPr>
        <p:spPr>
          <a:xfrm>
            <a:off x="539496" y="2174657"/>
            <a:ext cx="1259344" cy="656864"/>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74657"/>
            <a:ext cx="966736" cy="656864"/>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Внимание</a:t>
            </a:r>
          </a:p>
        </p:txBody>
      </p:sp>
      <p:sp>
        <p:nvSpPr>
          <p:cNvPr id="14" name="Rectangle 13"/>
          <p:cNvSpPr/>
          <p:nvPr/>
        </p:nvSpPr>
        <p:spPr>
          <a:xfrm>
            <a:off x="1798840" y="2174657"/>
            <a:ext cx="6592818" cy="656864"/>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45144" y="2174657"/>
            <a:ext cx="6300210"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смотрели </a:t>
            </a:r>
            <a:r>
              <a:rPr sz="1350" b="1" i="0">
                <a:solidFill>
                  <a:srgbClr val="21295C"/>
                </a:solidFill>
                <a:latin typeface="Arial"/>
              </a:rPr>
              <a:t>11,1 → 9,5 %</a:t>
            </a:r>
            <a:r>
              <a:rPr sz="1350" b="0" i="0">
                <a:solidFill>
                  <a:srgbClr val="21295C"/>
                </a:solidFill>
                <a:latin typeface="Arial"/>
              </a:rPr>
              <a:t> площади снимка; пропущенных раков </a:t>
            </a:r>
            <a:r>
              <a:rPr sz="1350" b="1" i="0">
                <a:solidFill>
                  <a:srgbClr val="21295C"/>
                </a:solidFill>
                <a:latin typeface="Arial"/>
              </a:rPr>
              <a:t>29 → 61</a:t>
            </a:r>
            <a:r>
              <a:rPr sz="1350" b="0" i="0">
                <a:solidFill>
                  <a:srgbClr val="21295C"/>
                </a:solidFill>
                <a:latin typeface="Arial"/>
              </a:rPr>
              <a:t> из ста</a:t>
            </a:r>
          </a:p>
        </p:txBody>
      </p:sp>
      <p:sp>
        <p:nvSpPr>
          <p:cNvPr id="16" name="Rectangle 15"/>
          <p:cNvSpPr/>
          <p:nvPr/>
        </p:nvSpPr>
        <p:spPr>
          <a:xfrm>
            <a:off x="8391659" y="2174657"/>
            <a:ext cx="3260540" cy="656864"/>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537963" y="2174657"/>
            <a:ext cx="2967932"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замер взгляда; подгруппа 14 случаев</a:t>
            </a:r>
          </a:p>
        </p:txBody>
      </p:sp>
      <p:sp>
        <p:nvSpPr>
          <p:cNvPr id="18" name="Rectangle 17"/>
          <p:cNvSpPr/>
          <p:nvPr/>
        </p:nvSpPr>
        <p:spPr>
          <a:xfrm>
            <a:off x="539496" y="2831522"/>
            <a:ext cx="1259344" cy="656864"/>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831522"/>
            <a:ext cx="966736" cy="656864"/>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Навык</a:t>
            </a:r>
          </a:p>
        </p:txBody>
      </p:sp>
      <p:sp>
        <p:nvSpPr>
          <p:cNvPr id="20" name="Rectangle 19"/>
          <p:cNvSpPr/>
          <p:nvPr/>
        </p:nvSpPr>
        <p:spPr>
          <a:xfrm>
            <a:off x="1798840" y="2831522"/>
            <a:ext cx="6592818" cy="656864"/>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45144" y="2831522"/>
            <a:ext cx="6300210"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находок </a:t>
            </a:r>
            <a:r>
              <a:rPr sz="1350" b="1" i="0">
                <a:solidFill>
                  <a:srgbClr val="21295C"/>
                </a:solidFill>
                <a:latin typeface="Arial"/>
              </a:rPr>
              <a:t>284 → 224</a:t>
            </a:r>
            <a:r>
              <a:rPr sz="1350" b="0" i="0">
                <a:solidFill>
                  <a:srgbClr val="21295C"/>
                </a:solidFill>
                <a:latin typeface="Arial"/>
              </a:rPr>
              <a:t> из тысячи процедур у тех же девятнадцати врачей</a:t>
            </a:r>
          </a:p>
        </p:txBody>
      </p:sp>
      <p:sp>
        <p:nvSpPr>
          <p:cNvPr id="22" name="Rectangle 21"/>
          <p:cNvSpPr/>
          <p:nvPr/>
        </p:nvSpPr>
        <p:spPr>
          <a:xfrm>
            <a:off x="8391659" y="2831522"/>
            <a:ext cx="3260540" cy="656864"/>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537963" y="2831522"/>
            <a:ext cx="2967932"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наблюдательное, однажды и спорно</a:t>
            </a:r>
          </a:p>
        </p:txBody>
      </p:sp>
      <p:sp>
        <p:nvSpPr>
          <p:cNvPr id="24" name="Rectangle 23"/>
          <p:cNvSpPr/>
          <p:nvPr/>
        </p:nvSpPr>
        <p:spPr>
          <a:xfrm>
            <a:off x="539496" y="3488386"/>
            <a:ext cx="1259344" cy="656864"/>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488386"/>
            <a:ext cx="966736" cy="656864"/>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Подпись</a:t>
            </a:r>
          </a:p>
        </p:txBody>
      </p:sp>
      <p:sp>
        <p:nvSpPr>
          <p:cNvPr id="26" name="Rectangle 25"/>
          <p:cNvSpPr/>
          <p:nvPr/>
        </p:nvSpPr>
        <p:spPr>
          <a:xfrm>
            <a:off x="1798840" y="3488386"/>
            <a:ext cx="6592818" cy="656864"/>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45144" y="3488386"/>
            <a:ext cx="6300210" cy="656864"/>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9 из 11</a:t>
            </a:r>
            <a:r>
              <a:rPr sz="1350" b="0" i="0">
                <a:solidFill>
                  <a:srgbClr val="21295C"/>
                </a:solidFill>
                <a:latin typeface="Arial"/>
              </a:rPr>
              <a:t> машинных эпикризов с ошибкой</a:t>
            </a:r>
          </a:p>
        </p:txBody>
      </p:sp>
      <p:sp>
        <p:nvSpPr>
          <p:cNvPr id="28" name="Rectangle 27"/>
          <p:cNvSpPr/>
          <p:nvPr/>
        </p:nvSpPr>
        <p:spPr>
          <a:xfrm>
            <a:off x="8391659" y="3488386"/>
            <a:ext cx="3260540" cy="656864"/>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537963" y="3488386"/>
            <a:ext cx="2967932"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сто госпитализаций, двое читали вслепую</a:t>
            </a:r>
          </a:p>
        </p:txBody>
      </p:sp>
      <p:sp>
        <p:nvSpPr>
          <p:cNvPr id="30" name="Rectangle 29"/>
          <p:cNvSpPr/>
          <p:nvPr/>
        </p:nvSpPr>
        <p:spPr>
          <a:xfrm>
            <a:off x="539496" y="4145251"/>
            <a:ext cx="1259344" cy="656864"/>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145251"/>
            <a:ext cx="966736" cy="656864"/>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Арбитраж</a:t>
            </a:r>
          </a:p>
        </p:txBody>
      </p:sp>
      <p:sp>
        <p:nvSpPr>
          <p:cNvPr id="32" name="Rectangle 31"/>
          <p:cNvSpPr/>
          <p:nvPr/>
        </p:nvSpPr>
        <p:spPr>
          <a:xfrm>
            <a:off x="1798840" y="4145251"/>
            <a:ext cx="6592818" cy="656864"/>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45144" y="4145251"/>
            <a:ext cx="6300210"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чтений на арбитраж </a:t>
            </a:r>
            <a:r>
              <a:rPr sz="1350" b="1" i="0">
                <a:solidFill>
                  <a:srgbClr val="21295C"/>
                </a:solidFill>
                <a:latin typeface="Arial"/>
              </a:rPr>
              <a:t>втрое и на четверть</a:t>
            </a:r>
            <a:r>
              <a:rPr sz="1350" b="0" i="0">
                <a:solidFill>
                  <a:srgbClr val="21295C"/>
                </a:solidFill>
                <a:latin typeface="Arial"/>
              </a:rPr>
              <a:t> больше; один разбор по времени — </a:t>
            </a:r>
            <a:r>
              <a:rPr sz="1350" b="1" i="0">
                <a:solidFill>
                  <a:srgbClr val="21295C"/>
                </a:solidFill>
                <a:latin typeface="Arial"/>
              </a:rPr>
              <a:t>как пять чтений</a:t>
            </a:r>
          </a:p>
        </p:txBody>
      </p:sp>
      <p:sp>
        <p:nvSpPr>
          <p:cNvPr id="34" name="Rectangle 33"/>
          <p:cNvSpPr/>
          <p:nvPr/>
        </p:nvSpPr>
        <p:spPr>
          <a:xfrm>
            <a:off x="8391659" y="4145251"/>
            <a:ext cx="3260540" cy="656864"/>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537963" y="4145251"/>
            <a:ext cx="2967932" cy="656864"/>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два центра, 50 000 женщин; 441 276 случаев</a:t>
            </a:r>
          </a:p>
        </p:txBody>
      </p:sp>
      <p:sp>
        <p:nvSpPr>
          <p:cNvPr id="36" name="TextBox 35"/>
          <p:cNvSpPr txBox="1"/>
          <p:nvPr/>
        </p:nvSpPr>
        <p:spPr>
          <a:xfrm>
            <a:off x="539496" y="4948420"/>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Оплачены неровно, и разряд важнее величины:</a:t>
            </a:r>
            <a:r>
              <a:rPr sz="1400" b="0" i="0">
                <a:solidFill>
                  <a:srgbClr val="21295C"/>
                </a:solidFill>
                <a:latin typeface="Arial"/>
              </a:rPr>
              <a:t> у арбитража два испытания и крупнейшие выборки вечера, у внимания — подгруппа в 14 случаев, у навыка — одно наблюдение без повторения, у подписи — доля документов, а не исход.</a:t>
            </a:r>
          </a:p>
        </p:txBody>
      </p:sp>
      <p:sp>
        <p:nvSpPr>
          <p:cNvPr id="37" name="TextBox 36"/>
          <p:cNvSpPr txBox="1"/>
          <p:nvPr/>
        </p:nvSpPr>
        <p:spPr>
          <a:xfrm>
            <a:off x="539496" y="5659926"/>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Кто платит:</a:t>
            </a:r>
            <a:r>
              <a:rPr sz="1400" b="0" i="0">
                <a:solidFill>
                  <a:srgbClr val="21295C"/>
                </a:solidFill>
                <a:latin typeface="Arial"/>
              </a:rPr>
              <a:t> скрининг — арбитражем · диагноз — вниманием · документы — подписью · квалификация — навыком. </a:t>
            </a:r>
            <a:r>
              <a:rPr sz="1450" b="1" i="0">
                <a:solidFill>
                  <a:srgbClr val="21295C"/>
                </a:solidFill>
                <a:latin typeface="Arial"/>
              </a:rPr>
              <a:t>Инструментальная диагностика не платит ничем из четырёх:</a:t>
            </a:r>
            <a:r>
              <a:rPr sz="1400" b="0" i="0">
                <a:solidFill>
                  <a:srgbClr val="21295C"/>
                </a:solidFill>
                <a:latin typeface="Arial"/>
              </a:rPr>
              <a:t> её цена — 290 пропущенных находок, другая плоскость.</a:t>
            </a:r>
          </a:p>
        </p:txBody>
      </p:sp>
      <p:sp>
        <p:nvSpPr>
          <p:cNvPr id="38" name="Rectangle 3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в арбитраж · рандомизированное, 105 934 женщины</a:t>
            </a:r>
          </a:p>
        </p:txBody>
      </p:sp>
      <p:sp>
        <p:nvSpPr>
          <p:cNvPr id="8" name="Rounded Rectangle 7"/>
          <p:cNvSpPr/>
          <p:nvPr/>
        </p:nvSpPr>
        <p:spPr>
          <a:xfrm>
            <a:off x="3340531"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55 снимков из ста не читает никто</a:t>
            </a:r>
          </a:p>
        </p:txBody>
      </p:sp>
      <p:sp>
        <p:nvSpPr>
          <p:cNvPr id="16" name="Rounded Rectangle 15"/>
          <p:cNvSpPr/>
          <p:nvPr/>
        </p:nvSpPr>
        <p:spPr>
          <a:xfrm>
            <a:off x="9015755" y="1335024"/>
            <a:ext cx="2673019"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цену отказа мерил разбор, снятый с разделом</a:t>
            </a:r>
          </a:p>
        </p:txBody>
      </p:sp>
      <p:sp>
        <p:nvSpPr>
          <p:cNvPr id="20" name="Rounded Rectangle 19"/>
          <p:cNvSpPr/>
          <p:nvPr/>
        </p:nvSpPr>
        <p:spPr>
          <a:xfrm>
            <a:off x="374904" y="3795551"/>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ниже по ступеням,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Все четыре встретились над одним случаем</a:t>
            </a:r>
            <a:r>
              <a:rPr sz="1500" b="0" i="0">
                <a:solidFill>
                  <a:srgbClr val="21295C"/>
                </a:solidFill>
                <a:latin typeface="Arial"/>
              </a:rPr>
              <a:t> — женщины, которую позвали письмом по году рождения: </a:t>
            </a:r>
            <a:r>
              <a:rPr sz="1500" b="1" i="0">
                <a:solidFill>
                  <a:srgbClr val="21295C"/>
                </a:solidFill>
                <a:latin typeface="Arial"/>
              </a:rPr>
              <a:t>①</a:t>
            </a:r>
            <a:r>
              <a:rPr sz="1500" b="0" i="0">
                <a:solidFill>
                  <a:srgbClr val="21295C"/>
                </a:solidFill>
                <a:latin typeface="Arial"/>
              </a:rPr>
              <a:t> на скрининге, </a:t>
            </a:r>
            <a:r>
              <a:rPr sz="1500" b="1" i="0">
                <a:solidFill>
                  <a:srgbClr val="21295C"/>
                </a:solidFill>
                <a:latin typeface="Arial"/>
              </a:rPr>
              <a:t>②</a:t>
            </a:r>
            <a:r>
              <a:rPr sz="1500" b="0" i="0">
                <a:solidFill>
                  <a:srgbClr val="21295C"/>
                </a:solidFill>
                <a:latin typeface="Arial"/>
              </a:rPr>
              <a:t> на её снимке, </a:t>
            </a:r>
            <a:r>
              <a:rPr sz="1500" b="1" i="0">
                <a:solidFill>
                  <a:srgbClr val="21295C"/>
                </a:solidFill>
                <a:latin typeface="Arial"/>
              </a:rPr>
              <a:t>③</a:t>
            </a:r>
            <a:r>
              <a:rPr sz="1500" b="0" i="0">
                <a:solidFill>
                  <a:srgbClr val="21295C"/>
                </a:solidFill>
                <a:latin typeface="Arial"/>
              </a:rPr>
              <a:t> на профилактическом снимке лёгких, </a:t>
            </a:r>
            <a:r>
              <a:rPr sz="1500" b="1" i="0">
                <a:solidFill>
                  <a:srgbClr val="21295C"/>
                </a:solidFill>
                <a:latin typeface="Arial"/>
              </a:rPr>
              <a:t>④</a:t>
            </a:r>
            <a:r>
              <a:rPr sz="1500" b="0" i="0">
                <a:solidFill>
                  <a:srgbClr val="21295C"/>
                </a:solidFill>
                <a:latin typeface="Arial"/>
              </a:rPr>
              <a:t> на её выписке.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a:t>
            </a:r>
            <a:r>
              <a:rPr sz="1500" b="0" i="0">
                <a:solidFill>
                  <a:srgbClr val="21295C"/>
                </a:solidFill>
                <a:latin typeface="Arial"/>
              </a:rPr>
              <a:t> измерено, что человек сделал с данными, а не что стало с больным.</a:t>
            </a:r>
          </a:p>
        </p:txBody>
      </p:sp>
      <p:sp>
        <p:nvSpPr>
          <p:cNvPr id="23" name="Rectangle 22"/>
          <p:cNvSpPr/>
          <p:nvPr/>
        </p:nvSpPr>
        <p:spPr>
          <a:xfrm>
            <a:off x="6091275" y="3886991"/>
            <a:ext cx="9144" cy="1871266"/>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 Nucl Med 2026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норма требует способности вмешаться</a:t>
            </a:r>
          </a:p>
        </p:txBody>
      </p:sp>
      <p:sp>
        <p:nvSpPr>
          <p:cNvPr id="7" name="TextBox 6"/>
          <p:cNvSpPr txBox="1"/>
          <p:nvPr/>
        </p:nvSpPr>
        <p:spPr>
          <a:xfrm>
            <a:off x="640080"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перепись изделий, проверявшая эту способность, ушла со снятым разделом надзора</a:t>
            </a:r>
          </a:p>
        </p:txBody>
      </p:sp>
      <p:sp>
        <p:nvSpPr>
          <p:cNvPr id="8" name="Rounded Rectangle 7"/>
          <p:cNvSpPr/>
          <p:nvPr/>
        </p:nvSpPr>
        <p:spPr>
          <a:xfrm>
            <a:off x="4286402"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379555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оценивают действия человека; вопроса о модели в этой процедуре нет — </a:t>
            </a:r>
            <a:r>
              <a:rPr sz="1500" b="0" i="1">
                <a:solidFill>
                  <a:srgbClr val="21295C"/>
                </a:solidFill>
                <a:latin typeface="Arial"/>
              </a:rPr>
              <a:t>разбор, показывавший это, снят вместе с разделом надзора</a:t>
            </a:r>
          </a:p>
        </p:txBody>
      </p:sp>
      <p:sp>
        <p:nvSpPr>
          <p:cNvPr id="18" name="TextBox 17"/>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88699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