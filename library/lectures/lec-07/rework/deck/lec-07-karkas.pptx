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hyperlink" Target="https://mlmed.org/tools/xray" TargetMode="External"/><Relationship Id="rId4" Type="http://schemas.openxmlformats.org/officeDocument/2006/relationships/hyperlink" Target="https://doi.org/10.1001/jamanetworkopen.2025.42338"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38/s41467-023-44676-z"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www.accessdata.fda.gov/cdrh_docs/pdf18/DEN180001.pdf"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38/s42256-021-00307-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arxiv.org/abs/1711.05225"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145/3313831.3376718"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145/3313831.3376718"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26/sciadv.abq6147"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ence.aax2342"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ence.aax2342"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148/radiol.252590"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8/radiol.252590"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8/radiol.243688"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746-020-0232-8"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networkopen.2024.40969"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01/jamanetworkopen.2021.35286"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doi.org/10.1001/jamainternmed.2025.0821"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93/jamia/ocad11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93/jamia/ocad118"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gie.2014.07.058"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metr.org/blog/2026-02-24-uplift-update/"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doi.org/10.1016/S2468-1253%2825%2900133-5"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 Id="rId3" Type="http://schemas.openxmlformats.org/officeDocument/2006/relationships/hyperlink" Target="https://go.bio.org/rs/490-EHZ-999/images/ClinicalDevelopmentSuccessRates2011_2020.pdf" TargetMode="Externa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go.bio.org/rs/490-EHZ-999/images/ClinicalDevelopmentSuccessRates2011_2020.pdf"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 Id="rId3" Type="http://schemas.openxmlformats.org/officeDocument/2006/relationships/hyperlink" Target="https://doi.org/10.1001/jamahealthforum.2025.3172" TargetMode="Externa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перед разговором одного человека, потому что дальше вечер будет считать решения о людях, и считать их легче, когда видно, о ком они.</a:t>
            </a:r>
          </a:p>
          <a:p>
            <a:r>
              <a:t/>
            </a:r>
          </a:p>
          <a:p>
            <a:r>
              <a:t>Женщине пятьдесят четыре года. У неё нет жалоб, она ничего не чувствует, и к медицине в этом году её привело не самочувствие, а возраст: программа приглашает всех женщин этого возраста с назначенным интервалом. Она приходит, снимок делает лаборант. Дальше её снимок читают люди, которые её не видели и между собой о ней не говорят, а если они разошлись, снимок уходит третьему — на арбитраж. Через несколько недель приходит либо письмо «норма», либо звонок с приглашением на дообследование. Это весь её контакт с решением, которое о ней принимается: письмо на входе и письмо на выходе.</a:t>
            </a:r>
          </a:p>
          <a:p>
            <a:r>
              <a:t/>
            </a:r>
          </a:p>
          <a:p>
            <a:r>
              <a:t>Решение при этом одно, и формулируется оно коротко: есть на снимке находка или нет. Цена у него с обеих сторон, и обе стороны стоит назвать до всякого разговора о точности. Пропустили находку — лечить будут позже и хуже, и у этой ошибки нет проверочного шага: её покажет не повторный снимок, а сама болезнь, через год или через три. Позвали лишнего — повторный снимок, иногда биопсия, и недели, которые человек живёт с открытым вопросом. Ни одна из этих двух цен не исчезает от того, что решение стало приниматься быстрее.</a:t>
            </a:r>
          </a:p>
          <a:p>
            <a:r>
              <a:t/>
            </a:r>
          </a:p>
          <a:p>
            <a:r>
              <a:t>Теперь то, что изменилось, и изменилось оно до всякого внедрения. Чтение медицинских данных стало стоить секунды и ноль рублей. Открывается страница в браузере, в неё перетаскивается снимок, и через три секунды страница выдаёт профиль вероятностей по восемнадцати патологиям и тепловую карту поверх снимка — область, на которую модель смотрела, когда считала профиль. Вычисление идёт на том же ноутбуке: снимок никуда не уходит, страница работает и без сети. Допуска не требуется, аккаунта не требуется, денег не требуется. Инструмент опубликован в 2019 году и лежит в открытом доступе семь лет. Внутри — узкая свёрточная сеть, обученная на размеченных снимках; она не рассуждает и не пишет текста, она выдаёт восемнадцать чисел.</a:t>
            </a:r>
          </a:p>
          <a:p>
            <a:r>
              <a:t/>
            </a:r>
          </a:p>
          <a:p>
            <a:r>
              <a:t>Рядом с этими числами стоит строка «не для диагностики», и читают её обычно как признание незрелости: инструмент показательный, бесплатный, до клиники дело не дошло, у допущенного изделия такой строки не будет. Из такого чтения следует одно — ждать, пока модели дорастут. Строка говорит о другом. О точности профиля она не сообщает ничего: ни одного из восемнадцати чисел она не подтверждает и ни одного не ставит под сомнение. Она переводит машинный вывод в разряд сведений, за использование которых отвечает прочитавший. Первое, что посмотрело на снимок, заранее передало подпись дальше — тому, кто посмотрит вторым.</a:t>
            </a:r>
          </a:p>
          <a:p>
            <a:r>
              <a:t/>
            </a:r>
          </a:p>
          <a:p>
            <a:r>
              <a:t>В этом же разряде существует и весь допущенный класс. Условие, на котором изделие допускают к продаже, говорит о том же: человек истолковывает машинный вывод и принимает решение сам. Европейская норма формулирует точнее — надзирающий обязан сохранять способность не согласиться с выводом и отменить его. Бесплатная страница в браузере и купленное изделие стоят здесь на одном: подпись на человеке.</a:t>
            </a:r>
          </a:p>
          <a:p>
            <a:r>
              <a:t/>
            </a:r>
          </a:p>
          <a:p>
            <a:r>
              <a:t>Отсюда и вопрос, который стоит задавать с этой минуты: чем измерено, что человек, которому передали подпись, её держит. У вопроса есть место, где ищут ответ, — документация, по которой изделие допускали. По этому адресу ответ измерен: тестирование с человеком в контуре нашли у 56 радиологических изделий из 717, у восьми из ста. У остальных 661 при допуске не проверяли ничего о том, как с машинным выводом обращается человек. Складывается шов, по которому пойдёт весь вечер: передача подписи задокументирована у всего класса, приём подписи проверен у восьми процентов.</a:t>
            </a:r>
          </a:p>
          <a:p>
            <a:r>
              <a:t/>
            </a:r>
          </a:p>
          <a:p>
            <a:r>
              <a:t>Разбором этот кадр не идёт, и это стоит сказать прямо: чисел с двух сторон у него нет, цена обеих ошибок названа словами, классический режим не посчитан, и в счёт разборов лекции он не входит. Работает он на другое — показывает, что порядок работы изменился до всякого внедрения и что передача подписи стала технически бесплатной.</a:t>
            </a:r>
          </a:p>
          <a:p>
            <a:r>
              <a:t/>
            </a:r>
          </a:p>
          <a:p>
            <a:r>
              <a:t>Вопрос про результат обследования, пришедший раньше, чем его прочитал врач, видел почти каждый, у кого есть доступ к электронной карте. Кто его получал, стоял по другую сторону ровно этого порядка — и подпись в тот момент была уже передана.</a:t>
            </a:r>
          </a:p>
          <a:p>
            <a:r>
              <a:t/>
            </a:r>
          </a:p>
          <a:p>
            <a:r>
              <a:t>**Источники.** </a:t>
            </a:r>
            <a:r>
              <a:rPr u="sng">
                <a:solidFill>
                  <a:srgbClr val="065A82"/>
                </a:solidFill>
                <a:hlinkClick r:id="rId3"/>
              </a:rPr>
              <a:t>Cohen, Bertin, Frappier, 2019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и у перестановки нет варианта, при котором она работает.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Чем удерживают — это процедура: двойное чтение, арбитраж, подпись, норматив; она стоит вокруг всех пяти сразу, отдельным шагом её не поставить. Что стало с теми, кто решает, — замер по человеку: что сделалось с его вниманием, навыком и готовностью возразить; шаг работы такого замера не показывает. Разработка лекарства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Второе имя — с какими данными система работает: текст, изображение, звук, видео, структурированные данные, код, комбинации нескольких видов. Пара бывает составной: чат, который ищет в документах и пишет по ним ответ, решает две задачи подряд. Шесть типов задачи на семь видов данных дают сорок две клетки; на экране дальше стоит окно из двенадцати — ровно то, что лекция разбирает в клинике.</a:t>
            </a:r>
          </a:p>
          <a:p>
            <a:r>
              <a:t/>
            </a:r>
          </a:p>
          <a:p>
            <a:r>
              <a:t>Зачем это нужно. Два имени задают поставщику два вопроса, на которые тот обязан ответить коротко, и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и видно подмену, которая стоит дорого: успех показывают в одной клетке, а продают инструмент для другой. Заполняется сетка по ходу вечера: разделом за разделом в неё вписываются короткие имена разобранных случаев, и к сборке она собрана целиком — у двух разделов из восьми своей клетки в окне нет вовсе, и сказано это будет там же. Занятых клеток наберётся четыре; восемь из двенадцати останутся пустыми, 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лечения разобрано в главе и со сцены сегодня не идёт: разбора, у которого обе половины измерены в сопоставимых единицах, на нём не нашлось. Из оперативной помощи на сцену вынесен один разбор — оценка риска перед экстренной операцией; остальное тоже остаётся в главе.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разбирали одни и те же клинические случаи,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Goh и соавт., JAMA Network Open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 прочерк.</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этот прочерк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Это прочерк, и он называется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Женщина с письмом, с которой вечер начался,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человек читает отобранное.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вечер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раздела — та же сетка, которой курс называет каждый встреченный инструмент: по строкам тип задачи, по столбцам вид данных. Собирается она ради одного вопроса, который инженер задаёт поставщику до всякой демонстрации: какую задачу ваша система решает и на каких данных. Пока на этот вопрос нет короткого ответа, разговор о пригодности инструмента ещё не начался.</a:t>
            </a:r>
          </a:p>
          <a:p>
            <a:r>
              <a:t/>
            </a:r>
          </a:p>
          <a:p>
            <a:r>
              <a:t>Занято в разделе три клетки из двенадцати показанных, и стоит пройти по каждой.</a:t>
            </a:r>
          </a:p>
          <a:p>
            <a:r>
              <a:t/>
            </a:r>
          </a:p>
          <a:p>
            <a:r>
              <a:t>Классификация на изображении — автономное чтение глазного дна. На входе снимок сетчатки, на выходе метка из конечного набора: направить или нет. Ничего, кроме метки, устройство не выдаёт, и в этом вся задача.</a:t>
            </a:r>
          </a:p>
          <a:p>
            <a:r>
              <a:t/>
            </a:r>
          </a:p>
          <a:p>
            <a:r>
              <a:t>Распознавание на изображении — сортировка потока по предсказанному риску. Система находит на снимке подозрительные места и расставляет исследования по очереди; читает отобранное человек. Выход здесь — разметка и порядок исследований, и поэтому клетка другая.</a:t>
            </a:r>
          </a:p>
          <a:p>
            <a:r>
              <a:t/>
            </a:r>
          </a:p>
          <a:p>
            <a:r>
              <a:t>Поиск с генерацией на тексте — чат-бот первой линии. Человек описывает жалобу свободным текстом, система ищет подходящее и отвечает словами. Клетка занята неудачей, и помнить надо обе половины: сама клетка рабочая — запись приёма под диктовку в ней живёт и сегодня, — а сортировка живого обращения в открытом потоке в ней не получилась.</a:t>
            </a:r>
          </a:p>
          <a:p>
            <a:r>
              <a:t/>
            </a:r>
          </a:p>
          <a:p>
            <a:r>
              <a:t>Теперь прочерки, ради которых карта и собирается. Прогноза в разделе нет ни одного, и это не пробел подбора. Кого звать на обследование и с каким интервалом — назначено документом: за порогом стоит решение о том, что хуже — пропустить или позвать лишнего, — и подпись под этим решением. Предсказывать тут нечего: величину назначают. Поставщик, который приносит на эту стадию прогнозную модель, предлагает инструмент не для этой работы, и видно это по карте за несколько секунд, до разбора его цифр.</a:t>
            </a:r>
          </a:p>
          <a:p>
            <a:r>
              <a:t/>
            </a:r>
          </a:p>
          <a:p>
            <a:r>
              <a:t>Классификации и распознавания на тексте в разделе нет. Поиска с генерацией на изображении и на структурированных данных нет. Девять клеток из двенадцати пусты, и пустая клетка говорит ровно столько же, сколько занятая: инструмент такого класса здесь искать незачем, и время, которое ушло бы на поиск, карта экономит заранее.</a:t>
            </a:r>
          </a:p>
          <a:p>
            <a:r>
              <a:t/>
            </a:r>
          </a:p>
          <a:p>
            <a:r>
              <a:t>Третье читается прямо с таблицы. Ни одна из трёх занятых клеток не про лечение: модель на этой стадии решает, кого посмотрят; что с человеком делать, решают дальше по пути. Отсюда и мера выигрыша, которая вышла в разделе, — доступ. Точности модель здесь не прибавила.</a:t>
            </a:r>
          </a:p>
          <a:p>
            <a:r>
              <a:t/>
            </a:r>
          </a:p>
          <a:p>
            <a:r>
              <a:t>Клетки накопительные. Полужирным набрано то, что занял этот раздел; дальше к ним добавятся клетки следующих разделов, и к концу станет видно, сколько клеток занято всего и какие остались пустыми до последней минуты. Складывать между собой числа разных клеток нельзя: у каждой своя выборка, своя программа и своя оговорка. Складывается только одно — перечень мест, где обученная модель на этом пути вообще встала.</a:t>
            </a:r>
          </a:p>
          <a:p>
            <a:r>
              <a:t/>
            </a:r>
          </a:p>
          <a:p>
            <a:r>
              <a:t>Что из этого следует для работы инженера. Встретив инструмент, положите его в сетку прежде всего остального: что он выдаёт на выходе и с какими данными работает. Это две минуты разговора, и после них видно, с каким классическим способом его сравнивать и у кого спрашивать цифры. Инструмент, который в клетку не укладывается, — повод задать поставщику тот же вопрос ещё раз, другими словами. А успех, показанный в одной клетке и проданный для другой, карта ловит раньше, чем начинается спор о процентах.</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Ни в одном из трёх разборов не провалилось само чтение.</a:t>
            </a:r>
          </a:p>
          <a:p>
            <a:r>
              <a:t/>
            </a:r>
          </a:p>
          <a:p>
            <a:r>
              <a:t>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главное, что стоит унести из раздела: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разбора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 Карта задачи и данных, которая идёт следом, добавляет к этому своё: раздел занял в ней одну новую клетку, а два разбора из трёх легли туда, где уже стоял прошлый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названы во входе. К этой минуте в окне занято четыре клетки, и раздел добавил из них одну — прогноз на структурированных данных, отбор по предсказанным расходам.</a:t>
            </a:r>
          </a:p>
          <a:p>
            <a:r>
              <a:t/>
            </a:r>
          </a:p>
          <a:p>
            <a:r>
              <a:t>Как читать накопительную карту. Полужирным отмечено разобранное в этом разделе числами, в скобках — раздел, который занял клетку раньше. Слово «отбор» стоит теперь в трёх клетках, и это значит, что прошлый раздел уже привёл инструменты туда же: автономное чтение глазного дна, сортировка потока по риску, первая линия на словах. Клетки не обнуляются при переходе между разделами — к концу лекции по ним будет видно, сколько раз курс возвращался в одно и то же место.</a:t>
            </a:r>
          </a:p>
          <a:p>
            <a:r>
              <a:t/>
            </a:r>
          </a:p>
          <a:p>
            <a:r>
              <a:t>Первая строка чтения — про счёт. Четыре клетки из двенадцати, и новая за весь раздел одна. Это не бедность подбора: три разбора раздела взяты из трёх разных мест, где можно провалиться, и два из трёх попали в клетку, уже занятую отбором. Клетка, стало быть, про класс инструмента, а не про то, что с ним случится.</a:t>
            </a:r>
          </a:p>
          <a:p>
            <a:r>
              <a:t/>
            </a:r>
          </a:p>
          <a:p>
            <a:r>
              <a:t>Вторая строка чтения — про прочерки, и она важнее первой. Восемь клеток пусты, и за два раздела в них не зашёл никто. Классификации и распознавания на тексте в разборах нет; поиска с генерацией на изображении и на структурированных данных нет; прогноза на тексте и на изображении нет. Пустая клетка — такое же содержание, как занятая: она говорит, инструмент какого класса на этой стадии искать незачем, и экономит время, которое ушло бы на поиск. Поставщик, принёсший историю успеха на звуке или на видео, принёс историю не про эту стадию — этих видов данных в окне нет вовсе.</a:t>
            </a:r>
          </a:p>
          <a:p>
            <a:r>
              <a:t/>
            </a:r>
          </a:p>
          <a:p>
            <a:r>
              <a:t>Третья строка чтения — про клетку, занятую дважды, и это особенность именно этого раздела. Классификация на изображении держит оба первых разбора: автономное чтение глазного дна в стране развёртывания и оценку кожного образования. Класс инструмента у них один, а провалились разные вещи: в Таиланде место развёртывания — освещение в кабинете и медленная связь; в дерматологии состав обучающего набора — тёмных тонов кожи в нём мало. Отчёт, который сложил бы оба случая под именем клетки, не сказал бы ни о том, ни о другом. Отсюда прямое следствие для работы: клетка годится, чтобы выбрать, с чем сравнивать инструмент, и не годится, чтобы предсказать, где он сломается.</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 поэтому она и стоит отдельной строкой под таблицей, а не внутри сетки.</a:t>
            </a:r>
          </a:p>
          <a:p>
            <a:r>
              <a:t/>
            </a:r>
          </a:p>
          <a:p>
            <a:r>
              <a:t>Строки под таблицей называют, чем это делают: режим один, реализаций много, и разницу в результате делает устройство процедуры вокруг прибора, а не имя на корпусе. Марок в клетках нет намеренно, и запрет этот — про клетки: клетка несёт класс задачи, а не поставщика. Имена изделий стоят там, где их проверяют: строками под таблицей и на кадрах разборов, у каждого разобранного случая.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четырёх выйдет на экран под этим заголовком, и зеркало тоже. После четвёртого разбора раздел закрывают три кадра: правило, собранное из ста шести опытов, вывод стадии и карта задачи и данных.</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и прочерк на этом месте честнее числа.</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том, чем удерживают,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устройство самого изделия, названная форма словаря. Здесь из пяти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вечера.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это прочерк, а не умолчание: он называется здесь, рядом с собственными числами, тем же приёмом, которым лекция требует базу у чужих.</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раздел не добавил ни одной. Это само по себе результат: разборов было пять, и каждый встал туда, где уже стояли отбор или анализ.</a:t>
            </a:r>
          </a:p>
          <a:p>
            <a:r>
              <a:t/>
            </a:r>
          </a:p>
          <a:p>
            <a:r>
              <a:t>Как читать накопительную карту. Имя без скобок — разобранное в этом разделе числами, имя в скобках — раздел, занявший клетку раньше. Три разбора из пяти легли на изображение, и это свойство стадии: подсказка живёт там, где человек читает картинку. Пятый лёг на прогноз по структурированным данным — в клетку, занятую разделом об анализе.</a:t>
            </a:r>
          </a:p>
          <a:p>
            <a:r>
              <a:t/>
            </a:r>
          </a:p>
          <a:p>
            <a:r>
              <a:t>Теперь то, ради чего карту стоит разглядывать клетками. В клетке распознавания на изображении стоят три разбора: замер взгляда, где подсказка уронила чувствительность читателя на тридцать два пункта; его зеркало, где при верной подсказке поиск сузился так же, а различение выросло; и контрольная линия, где пара вышла сильнее обеих сторон. Одна задача, один вид данных, один класс инструмента — и три разных знака. Отчёт, сложивший бы их под именем клетки, не сказал бы ни о том, ни о другом.</a:t>
            </a:r>
          </a:p>
          <a:p>
            <a:r>
              <a:t/>
            </a:r>
          </a:p>
          <a:p>
            <a:r>
              <a:t>Про две плашки надо произнести прямо, потому что соблазн их сложить велик, а складывать нельзя. Обе величины называются чувствительностью, обе выражены в долях из ста, и это единственное, что у них общее. Первая измерена на десяти читателях и шестидесяти случаях, в наборе, куда нарочно положили ошибки системы в обе стороны, и база сравнения там — тот же читатель без подсказки. Вторая измерена на ста пяти тысячах женщин со случайным распределением, и база там — двойное человеческое чтение с арбитражем. Вычесть одну из другой, получить «в среднем ничего» и успокоиться — это та самая склейка знаменателей, которую раздел учит ловить. Складывается у этих двух чисел ровно одно — клетка сетки; и ровно поэтому клетка оказывается слабым предсказателем результата.</a:t>
            </a:r>
          </a:p>
          <a:p>
            <a:r>
              <a:t/>
            </a:r>
          </a:p>
          <a:p>
            <a:r>
              <a:t>Классификация на изображении занята подсказкой по оцифрованному срезу. Входит этот режим туда,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Прогноз на структурированных данных остался светлым: его занял прошлый раздел, собственного разбора здесь нет.</a:t>
            </a:r>
          </a:p>
          <a:p>
            <a:r>
              <a:t/>
            </a:r>
          </a:p>
          <a:p>
            <a:r>
              <a:t>Восемь прочерков — то, ради чего карту и держат, и читаются они неподвижностью: число тут ни при чём. Третий раздел подряд они стоят на месте: классификации и распознавания на тексте в лекции нет, поиска с генерацией на изображении и на структурированных данных нет, прогноза на тексте и на изображении нет. Прочерк говорит ровно столько же, сколько занятая клетка: инструмент такого класса здесь искать незачем, и время на поиск карта экономит заранее.</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И одна клетка по-прежнему стоит вне окна — измерение и сигнал прибора, занятая прошлым разделом. Обученной модели в ней нет, и внутрь сетки её поэтому не вносят.</a:t>
            </a:r>
          </a:p>
          <a:p>
            <a:r>
              <a:t/>
            </a:r>
          </a:p>
          <a:p>
            <a:r>
              <a:t>Последнее, и это уже про курс. Третий раздел подряд лекция возвращается в одни и те же клетки: отбор привёл инструменты в распознавание и классификацию на изображении и в поиск с генерацией на тексте, анализ данных добавил прогноз на структурированных, диагноз не добавил ничего. Класс модели разделы не различает. Различают их цена промаха и процедура, выстроенная вокруг человека, — и это тот же вывод, который сетка дала в инженерной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Два кадра до него разбором не считаются: первый — подача стадии, шесть действий дежурной смены без всякой модели; второй — классический режим, балльная шкала, которую модель застала на этом месте. Дальше идёт цена обеих ошибок, потом счёт обоих классических режимов в той же единице. И только после этого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a:p>
            <a:r>
              <a:t/>
            </a:r>
          </a:p>
          <a:p>
            <a:r>
              <a:t>И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 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поток изменился, порог остался прежним.</a:t>
            </a:r>
          </a:p>
          <a:p>
            <a:r>
              <a:t/>
            </a:r>
          </a:p>
          <a:p>
            <a:r>
              <a:t>Женщины с письмом в этой палате нет, и сказать об этом стоит прямо. Её путь кончается письмом «норма» или звонком на дообследование: никакого наблюдения за ней программа не ведёт, следующий контакт назначен тем же интервалом, что и первый. Наблюдение в этом разделе — про того, кто уже лежит в отделении, и измеряется оно на его дорожке величин. Это не пробел подборки: за человеком, которого обследовали и отпустили, в медицине вообще наблюдают редко, и ровно поэтому долгосрочного исхода у разборов этой лекции нет ни у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Изделие называется своим именем: это модель сепсиса, встроенная в медицинскую информационную систему Epic. Вход — показатели и записи, которые уже лежат в карте, читаемые непрерывно; выход — балл риска и прерывающая тревога с готовым набором назначений в один щелчок. Класс модели — штрафованная логистическая регрессия, то есть обученная статистика, а не глубокая сеть. Обучена она на данных пациентов — так пишет разработчик; объём обучающей выборки он построчно не подтверждает, и поэтому числа обучающей выборки на кадре нет.</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a:p>
            <a:r>
              <a:t/>
            </a:r>
          </a:p>
          <a:p>
            <a:r>
              <a:t>Карту задачи и данных держит отдельный кадр, и на нём видно главное: новой клетки раздел не добавил. Прогноз на структурированных данных занят с прошлого раздела — там это был отбор по предсказанным расходам, здесь модель раннего предупреждения, и класс модели у них один. Различает эти два разбора то, кому приходит выход: в одном случае администрации, в другом дежурной смене у постели.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названы во входе. К этой минуте в окне занято четыре клетки, и раздел не добавил ни одной.</a:t>
            </a:r>
          </a:p>
          <a:p>
            <a:r>
              <a:t/>
            </a:r>
          </a:p>
          <a:p>
            <a:r>
              <a:t>Своя клетка раздела — прогноз на структурированных данных. Вход — показатели и записи, которые уже лежат в карте; выход — балл риска и прерывающая тревога. Полужирной она набрана потому, что разобрана числами: заявленное качество против измеренного, доля подтверждения, опережение, поток тревог. Светлое слово «анализ» стоит в той же клетке: её занял прошлый раздел отбором по предсказанным расходам, и класс модели у двух разборов один. Различает их то, кому приходит выход — администрации или дежурной смене у постели.</a:t>
            </a:r>
          </a:p>
          <a:p>
            <a:r>
              <a:t/>
            </a:r>
          </a:p>
          <a:p>
            <a:r>
              <a:t>Что говорит занятая клетка. Это единственный раздел лекции, который целиком стоит не на изображении. На отборе, на анализе данных и на чтении исследований работали со снимком; здесь снимка нет вовсе. Именно поэтому модель сюда и зашла: снимать данные отдельно не нужно, они уже есть в машинном виде, и это же объясняет, почему внедрение обогнало независимые проверки.</a:t>
            </a:r>
          </a:p>
          <a:p>
            <a:r>
              <a:t/>
            </a:r>
          </a:p>
          <a:p>
            <a:r>
              <a:t>Что говорит светлое в трёх других клетках. Три клетки заняты прежними разделами, и ни в одну из них этот раздел ничего не добавил. Карта накопительная, поэтому видно то, чего не видно на отдельном разборе: курс четвёртый раздел подряд работает в одних и тех же четырёх клетках. Разделы различает цена промаха и процедура вокруг человека; класс задачи и вид данных у них общие.</a:t>
            </a:r>
          </a:p>
          <a:p>
            <a:r>
              <a:t/>
            </a:r>
          </a:p>
          <a:p>
            <a:r>
              <a:t>Что говорят пустые. Восемь клеток окна пусты, и пусты они не впервые — те же восемь стояли прочерками и на трёх прежних картах. Неподвижный прочерк и есть содержание: он говорит, что инструмент такого класса на этих местах искать незачем, и экономит время, которое ушло бы на поиск. Поставщик, принёсший историю успеха на звуке, на видео или на изображении, принёс историю не про эту стадию, и проверять его надо вопросом, в какую клетку он попадает; придирки к цифрам тут не помогут.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 то, чего в заключении не написали, следующий читатель не восстановит, а то, что написали лишнего, он примет за найденное.</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a:p>
            <a:r>
              <a:t/>
            </a:r>
          </a:p>
          <a:p>
            <a:r>
              <a:t>И то же поле с моделью, названное до разборов.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Своё вычитывают иначе, глаз настроен на опечатку и пропуск; правдоподобная подробность, которой в карте нет, этому глазу не видна. Три места, где модель не работает: снять обязанность вычитки она не может — подпись остаётся человеческой, и при разборе случая разбирать будут её;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Про устройство здесь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запись приёма в фоне делают Abridge, Dragon Copilot, Nabla, Heidi.</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Второй шаг формы назовём до чисел. Классических режимов на этом месте работало два. Первый — лечащий врач пишет эпикриз сам; он посчитан ниже и служит базой всех сравнений. Второй — черновик, подготовленный ординатором или младшим врачом под подпись лечащего: та же работа, другая рука, и в учебных клиниках она чаще всего делается именно так. Этот режим назван и не посчитан: отдельным плечом его не выделяла ни одна из трёх работ, то есть сравнения «модель против ординатора» на этом материале нет. Называть его обязательно по той же причине, по которой считают первый: сравнение с дорогим вариантом завышает выигрыш по времени, сравнение с дешёвым — завышает выигрыш по качеству.</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собирается одним числом, и число это маленькое — поэтому оно и стоит крупно.</a:t>
            </a:r>
          </a:p>
          <a:p>
            <a:r>
              <a:t/>
            </a:r>
          </a:p>
          <a:p>
            <a:r>
              <a:t>Девять с половиной процентов времени в заметке — вся экономия, которую на этой стадии удалось измерить. Устройство замера надо назвать целиком, иначе число прочтётся сильнее, чем оно есть. Испытание рандомизированное: двести тридцать восемь врачей четырнадцати специальностей, три равные группы, два разных продукта одного режима и контрольная группа без всякого инструмента. Один продукт дал девять с половиной процентов, второй — ноль. Дизайн один, население врачей одно, разница между результатами — сам продукт. Отсюда вывод, который переносится на любую закупку: измеренный эффект принадлежит реализации, а не классу инструмента, и фраза «мы внедрили автоматическую запись приёма» о величине эффекта не говорит ничего.</a:t>
            </a:r>
          </a:p>
          <a:p>
            <a:r>
              <a:t/>
            </a:r>
          </a:p>
          <a:p>
            <a:r>
              <a:t>Рядом стоит величина, без которой первая не читается: в контрольной группе, где не внедряли ничего, время в заметке за то же окно снизилось на восемнадцать секунд. Всякое «после внедрения стало быстрее» считают против этой величины, а не против нуля.</a:t>
            </a:r>
          </a:p>
          <a:p>
            <a:r>
              <a:t/>
            </a:r>
          </a:p>
          <a:p>
            <a:r>
              <a:t>Активное время правки не изменилось ни у одного из двух инструментов, и это то, что стадия сообщает прежде остального. Набор текста действительно сократился, и сократилось то, что мучило больше всего: держать структуру будущей записи в голове, пока перед тобой говорит живой человек. Но на место набора встала вычитка чужого текста, и она измерена отдельно. Это форма первая — нагрузка переехала на другой шаг. А рядом появилась работа, которой в процессе не было вовсе: выборочный контроль заметок, и у него постоянный штат — свыше трёх тысяч шестисот прочитанных отзывов и тысяча двести пятьдесят две анкеты в отчёте одной клиники. Это форма третья, шаг появился.</a:t>
            </a:r>
          </a:p>
          <a:p>
            <a:r>
              <a:t/>
            </a:r>
          </a:p>
          <a:p>
            <a:r>
              <a:t>Теперь про заявленную экономию, и её стоит отделить от измеренной жёстко. Пятнадцать тысяч семьсот девяносто один час на шестьдесят три тысячи приёмов — это около четверти часа на приём, при том что вся работа над заметкой занимает около четырёх минут. Методика счёта не раскрыта, и значит число не проверяется и не опровергается: утверждением о мире оно не является. Заявление и измерение здесь посчитаны в разных величинах — время в карте вообще против времени в заметке, — и складывать их нельзя.</a:t>
            </a:r>
          </a:p>
          <a:p>
            <a:r>
              <a:t/>
            </a:r>
          </a:p>
          <a:p>
            <a:r>
              <a:t>Полнота — третье утверждение стадии. Машинный документ короче и связнее человеческого и при этом менее полон: три целых семьдесят две сотых против четырёх целых тринадцати. Ошибок в нём больше — две целых девяносто одна против одной целой восьмидесяти двух, — а потенциал вреда отдельной ошибки тот же. Отсюда форма седьмая: цена ошибки сместилась. Прежний глаз настроен на опечатку и на пропущенную строку; искать теперь надо связное, уместное по стилю утверждение, которого в истории болезни не было. Это другое чтение, и прежний навык на него не переносится.</a:t>
            </a:r>
          </a:p>
          <a:p>
            <a:r>
              <a:t/>
            </a:r>
          </a:p>
          <a:p>
            <a:r>
              <a:t>Держат стадию две вещи: вычитка с подписью врача и тот же выборочный контроль. И один прочерк, который надо произнести вслух: вычитке другого рода никто не учит — ни в ординатуре, ни на рабочем месте, ни в документации инструмента.</a:t>
            </a:r>
          </a:p>
          <a:p>
            <a:r>
              <a:t/>
            </a:r>
          </a:p>
          <a:p>
            <a:r>
              <a:t>Направление развития режима делает плату больше, и это стоит сказать до следующего раздела: от диктовки под шаблон к записи приёма целиком, а дальше к черновику назначений и кодов — то есть к документу, который что-то запускает. Чем больше документ запускает, тем дороже в нём правдоподобная подробность, которой не было. Под каждым таким документом стоит подпись человека, и когда по документу что-то произойдёт, разбирать будут её.</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не добавил ни одной: обе его работы — запись приёма и выписной эпикриз — встали в клетку поиска с генерацией на тексте, которую до них заняли отбор и диагноз.</a:t>
            </a:r>
          </a:p>
          <a:p>
            <a:r>
              <a:t/>
            </a:r>
          </a:p>
          <a:p>
            <a:r>
              <a:t>Начнём с прочерков, потому что в этой карте они говорят громче занятых клеток. Их восемь, и с Раздела 2 ни один не закрылся. Отбор занял три клетки, анализ данных добавил четвёртую, и дальше сетка стоит: диагноз, наблюдение и эта стадия легли туда, где уже стояли прежние разделы. Пустая клетка не означает, что материал не искали. Она означает ровно то, что написано: инструмента такого класса на этой работе нет, и поставщик, который его приносит, принёс инструмент не для этой стадии. Это и есть практическая польза карты — она отвечает «нет» быстрее, чем любое обсуждение.</a:t>
            </a:r>
          </a:p>
          <a:p>
            <a:r>
              <a:t/>
            </a:r>
          </a:p>
          <a:p>
            <a:r>
              <a:t>Теперь занятая клетка. Почему она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и оно работало задолго до нынешних моделей; ни одно из измеренных чисел раздела к нему не относится.</a:t>
            </a:r>
          </a:p>
          <a:p>
            <a:r>
              <a:t/>
            </a:r>
          </a:p>
          <a:p>
            <a:r>
              <a:t>Что говорит одна клетка, занятая четырьмя работами. Два разбора этого раздела отличаются тем, что документ запускает дальше: запись приёма читает следующий врач, выписной эпикриз запускает назначения в другом учреждении. Светлые «отбор» и «диагноз» в той же клетке добавляют третий и четвёртый случай — первая линия обращений на словах и клиническое рассуждение. Четыре работы, одна клетка, четыре разные цены ошибки. Ради этой мысли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в своей работе. Запись приёма в фоне с черновиком заметки принимается массово и принимается именно как черновик. Второй режим — сборка клинического документа внутри самой карты, и у него есть важная разновидность: сводка со ссылкой на место в карте-источнике. Различает их проверяемость. Привязка строки к месту в карте-источнике — единственное, что превращает вычитку из чтения на правдоподобие в сверку; качество текста тут ни при чём.</a:t>
            </a:r>
          </a:p>
          <a:p>
            <a:r>
              <a:t/>
            </a:r>
          </a:p>
          <a:p>
            <a:r>
              <a:t>Куда это направление идёт дальше: от заметки к черновику назначений и кодов, то есть к документу, который что-то запускает сам. Там та же клетка будет стоять под другой ценой ошибки — и карта об этом по-прежнему не скажет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изделий из 717.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занято в нём четыре, и четвёртый раздел подряд не добавил ни одной. Подсказка по снимку, которой верят, стоит в клетке распознавания на изображении — ровно там, где уже стояли разборы об отборе и о чтении исследований.</a:t>
            </a:r>
          </a:p>
          <a:p>
            <a:r>
              <a:t/>
            </a:r>
          </a:p>
          <a:p>
            <a:r>
              <a:t>Дальше начинается то, ради чего эта карта и стоит в этом разделе. У прежних карт пустота означала одно: инструмента такого класса на стадии нет, искать его незачем. Здесь она означает другое и более сильное. Раздел занимался подписью, информированным согласием, независимым вторым чтением и арбитражем, разбором случая после исхода, допуском изделия и надзором после допуска — семью настоящими действиями, которые и держат в медицине цену ошибки. Ни одно из них не встало на сетку, и не потому, что до них не дошла очередь. Они на этой сетке не стоят нигде и стоять не могут: подпись не распознаёт, согласие не прогнозирует, арбитраж ничего не порождает. Сетка размечает инструменты по тому, что они производят, а процедура не производит ничего — она удерживает.</a:t>
            </a:r>
          </a:p>
          <a:p>
            <a:r>
              <a:t/>
            </a:r>
          </a:p>
          <a:p>
            <a:r>
              <a:t>Отсюда вывод, который стоит унести в любую отрасль: клетка говорит, чем инструмент занят, и ничего не говорит о том, чем его держат. Накопительная карта делает это очевидным. В клетке распознавания на изображении стоят теперь три захода — отбор, диагноз и этот раздел, — и под каждым своя процедура. Две системы в одной клетке могут удерживаться совершенно по-разному, и разницу между ними задаёт цена промаха и то, кто её платит; класс задачи и вид данных у них при этом общие.</a:t>
            </a:r>
          </a:p>
          <a:p>
            <a:r>
              <a:t/>
            </a:r>
          </a:p>
          <a:p>
            <a:r>
              <a:t>Строки под таблицей — не клетки, и путать их с клетками нельзя. Первая перечисляет, чем держат саму клетку распознавания на изображении: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 Имён изделий в клетках нет сознательно: режим узнаётся не по марке. Правило это про клетки и только про них — на кадрах разборов изделие названо своим именем, потому что проверять идут именно туда.</a:t>
            </a:r>
          </a:p>
          <a:p>
            <a:r>
              <a:t/>
            </a:r>
          </a:p>
          <a:p>
            <a:r>
              <a:t>И практический вопрос, который из карты следует прямо. Назовите клетку, в которую попадает ваш инструмент, а затем назовите процедуру, которая держит цену его промаха, — и проверьте, существует ли эта процедура вообще. Там, где клетка занята, а процедуры под ней нет, цена промаха никуда не делась: она просто не записана ни за кем. Именно это и показал раздел числом — проверку способности подписавшего возразить нашли у пятидесяти шести изделий из семисот семнадцати.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называется так: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 первая такая система, разрешённая в США по пути de novo в 2021 году, — CAD EYE от Fujifilm и ENDO-AID CADe от Olympus; в сводных сетевых сравнениях разница между системами мала, и это важнее имён.</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И строка про карту задачи и данных: клетка этого раздела в показанное окно не попадает — подсветка в реальном времени снята на потоке кадров во время процедуры, то есть на видео, а столбца видео в окне нет. Отдельно стоит назвать то, чему клетки не находится вовсе: психология участия — доверие, его калибровка, готовность работать без инструмента — в сетку «задача × вид данных» не ложится, потому что режима там нет. Предмет этой плоскости — то, чего про человека не измерено, и сеткой инструментов он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клетками, и причина в самом разделе: ни одной клетки он окну не прибавил.</a:t>
            </a:r>
          </a:p>
          <a:p>
            <a:r>
              <a:t/>
            </a:r>
          </a:p>
          <a:p>
            <a:r>
              <a:t>Двенадцать клеток окна — это четыре строки задач на три вида данных, оси и порядок те же, что были объявлены в начале вечера. За семь разделов занято четыре клетки, и те же четыре стояли уже два раздела назад. Восемь клеток пусты с раздела об анализе данных, и читать надо именно их: прочерк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и сравнить итог с обещанием станет невозможно.</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клеткой этого раздела в сетке стоит распознавание на снимке в режиме второго читателя — клетку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клеток. Доверие к выводу модели, его калибровка, готовность человека работать без инструмента — всё это клетки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 Отсюда и правило чтения любой такой сетки: имя клетки говорит, чем инструмент занят, и ничего не говорит ни о том, что он делает с рукой работающего, ни о том, чем его держат.</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свой разбор есть у четырёх из них, и сказано это на самом кадре.</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названы во входе.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отбором, анализом данных и диагнозом. Распознавание на изображении трижды — отбором, диагнозом и удержанием.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Строку эту надо читать так: подпись дорога не потому, что её трудно поставить, а потому, что отказ от неё дороже.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a:p>
            <a:r>
              <a:t/>
            </a:r>
          </a:p>
          <a:p>
            <a:r>
              <a:t>И последняя строка ведомости, которая называет отсутствие измерения. Ни один разбор ядра лекции не доходит до исхода пациента. Измерено поведение — куда смотрит глаз, что человек подписывает, сколько находок он делает без помощника; измерено качество работы — доля обнаружения, объём арбитража. Что из этого случилось с больным, не проверил никто: что стало с человеком, которого смотрел врач, разучившийся смотреть сам, — вопрос, на который в собранном материале нет ответа. Это не упрёк исследователям: такой замер стоит лет и требует исходов, которых в лабораторном устройстве опыта нет вовсе. Но называть разряд своего замера вслух — включая свой собственный — лекция требует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 Ступень эта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 И третье свидетельство, которое объясняет, почему эта ступень самая частая: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Отсюда и ответ одной фразой: «человек в контуре» — не ответ, а вопрос. Четыре ступени — четыре разных устройства работы, и измерены они на четырёх разных разрядах свидетельства: первая на исходе пациента, вторая на точности корпуса, третья на качестве работы, четвёртая счётом секунд вне медицины. Разряд падает ровно по мере того, как участие человека становится формальнее, и это само по себе наблюдение: про самую распространённую ступень известно меньше всего.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стоит прочерк, и он объявлен был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lmed.org/tools/xray"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igital-transformation.hee.nhs.uk/binaries/content/assets/digital-transformation/dart-ed/understandingconfidenceinai-may22.pdf" TargetMode="External"/><Relationship Id="rId3" Type="http://schemas.openxmlformats.org/officeDocument/2006/relationships/hyperlink" Target="https://doi.org/10.1007/s10278-025-01485-8" TargetMode="Externa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0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Лекция идёт по пути одного случая: что модель делает с процедурой и с человеком в ней.</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Письмо по возрасту: кто смотрел снимок первым</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ПОЗВАЛИ ИМЕННО ЕЁ</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возрасту и интервалу</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назначен документом</a:t>
            </a:r>
          </a:p>
        </p:txBody>
      </p:sp>
      <p:sp>
        <p:nvSpPr>
          <p:cNvPr id="8" name="Rounded Rectangle 7"/>
          <p:cNvSpPr/>
          <p:nvPr/>
        </p:nvSpPr>
        <p:spPr>
          <a:xfrm>
            <a:off x="3340531"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ВЗГЛЯД НА СНИМОК СЕГОДНЯ</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секунды</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в браузере, без допуска и без денег</a:t>
            </a:r>
          </a:p>
        </p:txBody>
      </p:sp>
      <p:sp>
        <p:nvSpPr>
          <p:cNvPr id="12" name="Rounded Rectangle 11"/>
          <p:cNvSpPr/>
          <p:nvPr/>
        </p:nvSpPr>
        <p:spPr>
          <a:xfrm>
            <a:off x="6178143"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 РЕШЕНИЕМ О НЕЙ СТОИТ ПОДПИСЬ</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того, кто посмотрит вторым</a:t>
            </a:r>
          </a:p>
        </p:txBody>
      </p:sp>
      <p:sp>
        <p:nvSpPr>
          <p:cNvPr id="15" name="TextBox 14"/>
          <p:cNvSpPr txBox="1"/>
          <p:nvPr/>
        </p:nvSpPr>
        <p:spPr>
          <a:xfrm>
            <a:off x="6315303"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передана заранее и бесплатно</a:t>
            </a:r>
          </a:p>
        </p:txBody>
      </p:sp>
      <p:sp>
        <p:nvSpPr>
          <p:cNvPr id="16" name="Rounded Rectangle 15"/>
          <p:cNvSpPr/>
          <p:nvPr/>
        </p:nvSpPr>
        <p:spPr>
          <a:xfrm>
            <a:off x="9015755"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ЭТОЙ ПОДПИСИ ПРИ ДОПУСКЕ ПРОВЕРЯЛИ</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56 изделий из 717</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срез июнь 2024</a:t>
            </a:r>
          </a:p>
        </p:txBody>
      </p:sp>
      <p:sp>
        <p:nvSpPr>
          <p:cNvPr id="20" name="Rounded Rectangle 19"/>
          <p:cNvSpPr/>
          <p:nvPr/>
        </p:nvSpPr>
        <p:spPr>
          <a:xfrm>
            <a:off x="374904" y="3580535"/>
            <a:ext cx="11441887" cy="2590960"/>
          </a:xfrm>
          <a:prstGeom prst="roundRect">
            <a:avLst>
              <a:gd name="adj" fmla="val 1176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Женщине пятьдесят четыре года, она ничего не чувствует и ни на что не жаловалась.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200" b="0" i="0">
                <a:solidFill>
                  <a:srgbClr val="21295C"/>
                </a:solidFill>
                <a:latin typeface="Arial"/>
              </a:rPr>
              <a:t/>
            </a:r>
            <a:r>
              <a:rPr sz="1200" b="1" i="0">
                <a:solidFill>
                  <a:srgbClr val="21295C"/>
                </a:solidFill>
                <a:latin typeface="Arial"/>
              </a:rPr>
              <a:t>Решается про неё одно: есть на снимке находка или нет.</a:t>
            </a:r>
            <a:r>
              <a:rPr sz="1200" b="0" i="0">
                <a:solidFill>
                  <a:srgbClr val="21295C"/>
                </a:solidFill>
                <a:latin typeface="Arial"/>
              </a:rPr>
              <a:t> Пропустили — лечить будут позже и хуже. Позвали лишнего — биопсия и недели с открытым вопросом.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Смотрит её снимок первым уже не обязательно человек.</a:t>
            </a:r>
            <a:r>
              <a:rPr sz="1200" b="0" i="0">
                <a:solidFill>
                  <a:srgbClr val="21295C"/>
                </a:solidFill>
                <a:latin typeface="Arial"/>
              </a:rPr>
              <a:t> Страница в браузере, три секунды, профиль по восемнадцати патологиям — и строка </a:t>
            </a:r>
            <a:r>
              <a:rPr sz="1200" b="1" i="0">
                <a:solidFill>
                  <a:srgbClr val="21295C"/>
                </a:solidFill>
                <a:latin typeface="Arial"/>
              </a:rPr>
              <a:t>«не для диагностики»</a:t>
            </a:r>
            <a:r>
              <a:rPr sz="1200" b="0" i="0">
                <a:solidFill>
                  <a:srgbClr val="21295C"/>
                </a:solidFill>
                <a:latin typeface="Arial"/>
              </a:rPr>
              <a:t>.</a:t>
            </a:r>
          </a:p>
        </p:txBody>
      </p:sp>
      <p:sp>
        <p:nvSpPr>
          <p:cNvPr id="22" name="TextBox 21"/>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Эту строку принимают за признание незрелости.</a:t>
            </a:r>
            <a:r>
              <a:rPr sz="1200" b="0" i="0">
                <a:solidFill>
                  <a:srgbClr val="21295C"/>
                </a:solidFill>
                <a:latin typeface="Arial"/>
              </a:rPr>
              <a:t> О точности она не говорит ничего: она называет отвечающего — решение остаётся на том, кто посмотрит вторым.</a:t>
            </a:r>
          </a:p>
          <a:p>
            <a:pPr algn="l">
              <a:lnSpc>
                <a:spcPct val="126000"/>
              </a:lnSpc>
              <a:spcBef>
                <a:spcPts val="700"/>
              </a:spcBef>
            </a:pPr>
            <a:r>
              <a:rPr sz="1200" b="0" i="0">
                <a:solidFill>
                  <a:srgbClr val="21295C"/>
                </a:solidFill>
                <a:latin typeface="Arial"/>
              </a:rPr>
              <a:t/>
            </a:r>
            <a:r>
              <a:rPr sz="1200" b="1" i="0">
                <a:solidFill>
                  <a:srgbClr val="21295C"/>
                </a:solidFill>
                <a:latin typeface="Arial"/>
              </a:rPr>
              <a:t>Передача подписи бесплатна. Приём подписи проверяли у восьми изделий из ста.</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Получали ли вы результат обследования раньше, чем его прочитал врач?</a:t>
            </a:r>
          </a:p>
        </p:txBody>
      </p:sp>
      <p:sp>
        <p:nvSpPr>
          <p:cNvPr id="23" name="Rectangle 22"/>
          <p:cNvSpPr/>
          <p:nvPr/>
        </p:nvSpPr>
        <p:spPr>
          <a:xfrm>
            <a:off x="6091275" y="3671975"/>
            <a:ext cx="9144" cy="231664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Cohen J. P., Bertin P., Frappier V. Chester: A Web Delivered Locally Computed Chest X-Ray Disease Prediction System, 2019</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JAMA Network Open 2025;8(11):e2542338, срез июнь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Анализ данных</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записи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Чем удерживают</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Что стало с теми, кто решает</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лекарства</a:t>
            </a:r>
          </a:p>
        </p:txBody>
      </p:sp>
      <p:sp>
        <p:nvSpPr>
          <p:cNvPr id="23" name="Rounded Rectangle 22"/>
          <p:cNvSpPr/>
          <p:nvPr/>
        </p:nvSpPr>
        <p:spPr>
          <a:xfrm>
            <a:off x="374904" y="3145250"/>
            <a:ext cx="11441887" cy="3090957"/>
          </a:xfrm>
          <a:prstGeom prst="roundRect">
            <a:avLst>
              <a:gd name="adj" fmla="val 986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r>
              <a:rPr sz="1500" b="0" i="0">
                <a:solidFill>
                  <a:srgbClr val="21295C"/>
                </a:solidFill>
                <a:latin typeface="Arial"/>
              </a:rPr>
              <a:t> смотреть можно только того, кто попал в поле зрения; решать — только по измеренному; наблюдать — только после решения; читать запись — только после того, как её сделали.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последних идут поперёк пути:</a:t>
            </a:r>
            <a:r>
              <a:rPr sz="1500" b="0" i="0">
                <a:solidFill>
                  <a:srgbClr val="21295C"/>
                </a:solidFill>
                <a:latin typeface="Arial"/>
              </a:rPr>
              <a:t> процедура вокруг всех пяти · замер по самому человеку · откуда берётся то, что назначают.</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разбора одна:</a:t>
            </a:r>
            <a:r>
              <a:rPr sz="1500" b="0" i="0">
                <a:solidFill>
                  <a:srgbClr val="21295C"/>
                </a:solidFill>
                <a:latin typeface="Arial"/>
              </a:rPr>
              <a:t> цена обеих ошибок · два классических режима · модель против них · как это устроено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каждый инструмент спрашиваем две вещи: какую задачу он решает и с какими данными работает.</a:t>
            </a:r>
            <a:r>
              <a:rPr sz="1500" b="0" i="0">
                <a:solidFill>
                  <a:srgbClr val="21295C"/>
                </a:solidFill>
                <a:latin typeface="Arial"/>
              </a:rPr>
              <a:t> Сетка из этих двух имён заполняется по ходу, разделом за разделом; к концу видно, в какие клетки за восемь разделов не зашёл никто.</a:t>
            </a:r>
          </a:p>
        </p:txBody>
      </p:sp>
      <p:sp>
        <p:nvSpPr>
          <p:cNvPr id="26" name="Rectangle 25"/>
          <p:cNvSpPr/>
          <p:nvPr/>
        </p:nvSpPr>
        <p:spPr>
          <a:xfrm>
            <a:off x="6091275" y="3236690"/>
            <a:ext cx="9144" cy="2851350"/>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участие человека убывает; требование регулятора исполнено на всех четырёх</a:t>
            </a:r>
          </a:p>
        </p:txBody>
      </p:sp>
      <p:sp>
        <p:nvSpPr>
          <p:cNvPr id="17" name="Rounded Rectangle 16"/>
          <p:cNvSpPr/>
          <p:nvPr/>
        </p:nvSpPr>
        <p:spPr>
          <a:xfrm>
            <a:off x="374904" y="2387325"/>
            <a:ext cx="11441887" cy="3808692"/>
          </a:xfrm>
          <a:prstGeom prst="roundRect">
            <a:avLst>
              <a:gd name="adj" fmla="val 800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«Человек в контуре» — четыре разных устройства работы.</a:t>
            </a:r>
            <a:r>
              <a:rPr sz="1500" b="0" i="0">
                <a:solidFill>
                  <a:srgbClr val="21295C"/>
                </a:solidFill>
                <a:latin typeface="Arial"/>
              </a:rPr>
              <a:t> Между первым и четвёртым разница больше, чем между парой моделей. Человек обязателен не потому, что он точнее: измерено, что часто он не точнее. Обязателен потому,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право подписи выдано ему</a:t>
            </a:r>
            <a:r>
              <a:rPr sz="1500" b="0" i="0">
                <a:solidFill>
                  <a:srgbClr val="21295C"/>
                </a:solidFill>
                <a:latin typeface="Arial"/>
              </a:rPr>
              <a:t> — при разборе случая оценивают действия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ошибается он иначе, чем модель</a:t>
            </a:r>
            <a:r>
              <a:rPr sz="1500" b="0" i="0">
                <a:solidFill>
                  <a:srgbClr val="21295C"/>
                </a:solidFill>
                <a:latin typeface="Arial"/>
              </a:rPr>
              <a:t> — выигрыш даёт несовпадение ошибок;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отменить принятое решение нельзя</a:t>
            </a:r>
            <a:r>
              <a:rPr sz="1500" b="0" i="0">
                <a:solidFill>
                  <a:srgbClr val="21295C"/>
                </a:solidFill>
                <a:latin typeface="Arial"/>
              </a:rPr>
              <a:t> — изделие отзывают, решения по нему остаются.</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для любого рабочего контура: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независимый источник истины, кроме объяснения самой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человек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Контур, не прошедший эти проверки, и есть четвёртая ступень: подпись стоит, участия нет.</a:t>
            </a:r>
          </a:p>
        </p:txBody>
      </p:sp>
      <p:sp>
        <p:nvSpPr>
          <p:cNvPr id="20" name="Rectangle 19"/>
          <p:cNvSpPr/>
          <p:nvPr/>
        </p:nvSpPr>
        <p:spPr>
          <a:xfrm>
            <a:off x="6091275" y="2478765"/>
            <a:ext cx="9144" cy="3534372"/>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прогон без человека</a:t>
            </a:r>
          </a:p>
        </p:txBody>
      </p:sp>
      <p:sp>
        <p:nvSpPr>
          <p:cNvPr id="8" name="Rounded Rectangle 7"/>
          <p:cNvSpPr/>
          <p:nvPr/>
        </p:nvSpPr>
        <p:spPr>
          <a:xfrm>
            <a:off x="2279827"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ОДИН</a:t>
            </a:r>
          </a:p>
        </p:txBody>
      </p:sp>
      <p:sp>
        <p:nvSpPr>
          <p:cNvPr id="10" name="TextBox 9"/>
          <p:cNvSpPr txBox="1"/>
          <p:nvPr/>
        </p:nvSpPr>
        <p:spPr>
          <a:xfrm>
            <a:off x="2416987"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2416987"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обычно, своя ветвь</a:t>
            </a:r>
          </a:p>
        </p:txBody>
      </p:sp>
      <p:sp>
        <p:nvSpPr>
          <p:cNvPr id="12" name="Rounded Rectangle 11"/>
          <p:cNvSpPr/>
          <p:nvPr/>
        </p:nvSpPr>
        <p:spPr>
          <a:xfrm>
            <a:off x="4056735" y="1335024"/>
            <a:ext cx="1612315" cy="1791939"/>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ПОВЕРХ МОДЕЛИ</a:t>
            </a:r>
          </a:p>
        </p:txBody>
      </p:sp>
      <p:sp>
        <p:nvSpPr>
          <p:cNvPr id="14" name="TextBox 13"/>
          <p:cNvSpPr txBox="1"/>
          <p:nvPr/>
        </p:nvSpPr>
        <p:spPr>
          <a:xfrm>
            <a:off x="4193895" y="2140317"/>
            <a:ext cx="133799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4193895" y="2567316"/>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2 пункта, p = 0,60</a:t>
            </a:r>
          </a:p>
        </p:txBody>
      </p:sp>
      <p:sp>
        <p:nvSpPr>
          <p:cNvPr id="16" name="Rounded Rectangle 15"/>
          <p:cNvSpPr/>
          <p:nvPr/>
        </p:nvSpPr>
        <p:spPr>
          <a:xfrm>
            <a:off x="5833643"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КТО И НА ЧЁМ МЕРИЛ</a:t>
            </a:r>
          </a:p>
        </p:txBody>
      </p:sp>
      <p:sp>
        <p:nvSpPr>
          <p:cNvPr id="18" name="TextBox 17"/>
          <p:cNvSpPr txBox="1"/>
          <p:nvPr/>
        </p:nvSpPr>
        <p:spPr>
          <a:xfrm>
            <a:off x="5970803" y="1932846"/>
            <a:ext cx="13379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50 врачей · виньетки</a:t>
            </a:r>
          </a:p>
        </p:txBody>
      </p:sp>
      <p:sp>
        <p:nvSpPr>
          <p:cNvPr id="19" name="TextBox 18"/>
          <p:cNvSpPr txBox="1"/>
          <p:nvPr/>
        </p:nvSpPr>
        <p:spPr>
          <a:xfrm>
            <a:off x="5970803" y="2631444"/>
            <a:ext cx="13379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Goh, 2024</a:t>
            </a:r>
          </a:p>
        </p:txBody>
      </p:sp>
      <p:sp>
        <p:nvSpPr>
          <p:cNvPr id="20" name="Rounded Rectangle 19"/>
          <p:cNvSpPr/>
          <p:nvPr/>
        </p:nvSpPr>
        <p:spPr>
          <a:xfrm>
            <a:off x="374904" y="3218403"/>
            <a:ext cx="11441887" cy="3017804"/>
          </a:xfrm>
          <a:prstGeom prst="roundRect">
            <a:avLst>
              <a:gd name="adj" fmla="val 101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309843"/>
            <a:ext cx="11112703" cy="292636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Удешевление предъявлено: три секунды, ноль рублей и строка «не для диагностики».</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Этот переезд вы узнаете без перевода — он ваш собственный.</a:t>
            </a:r>
            <a:r>
              <a:rPr sz="1300" b="0" i="0">
                <a:solidFill>
                  <a:srgbClr val="21295C"/>
                </a:solidFill>
                <a:latin typeface="Arial"/>
              </a:rPr>
              <a:t> Младшие разработчики пишут с моделью и пишут больше; проверять не успевают старшие.</a:t>
            </a:r>
          </a:p>
          <a:p>
            <a:pPr algn="l">
              <a:lnSpc>
                <a:spcPct val="126000"/>
              </a:lnSpc>
              <a:spcBef>
                <a:spcPts val="700"/>
              </a:spcBef>
            </a:pPr>
            <a:r>
              <a:rPr sz="1300" b="0" i="0">
                <a:solidFill>
                  <a:srgbClr val="21295C"/>
                </a:solidFill>
                <a:latin typeface="Arial"/>
              </a:rPr>
              <a:t/>
            </a:r>
            <a:r>
              <a:rPr sz="1300" b="0" i="0">
                <a:solidFill>
                  <a:srgbClr val="21295C"/>
                </a:solidFill>
                <a:latin typeface="Arial"/>
              </a:rPr>
              <a:t>Замера под этим нет ни одного: он иллюстрация оси, разбором не идёт.</a:t>
            </a:r>
          </a:p>
          <a:p>
            <a:pPr algn="l">
              <a:lnSpc>
                <a:spcPct val="126000"/>
              </a:lnSpc>
              <a:spcBef>
                <a:spcPts val="700"/>
              </a:spcBef>
            </a:pPr>
            <a:r>
              <a:rPr sz="1300" b="0" i="0">
                <a:solidFill>
                  <a:srgbClr val="21295C"/>
                </a:solidFill>
                <a:latin typeface="Arial"/>
              </a:rPr>
              <a:t/>
            </a:r>
            <a:r>
              <a:rPr sz="1300" b="0" i="0">
                <a:solidFill>
                  <a:srgbClr val="21295C"/>
                </a:solidFill>
                <a:latin typeface="Arial"/>
              </a:rPr>
              <a:t>Подешевел шаг — платят на другом. Своё здесь — </a:t>
            </a:r>
            <a:r>
              <a:rPr sz="1300" b="1" i="0">
                <a:solidFill>
                  <a:srgbClr val="21295C"/>
                </a:solidFill>
                <a:latin typeface="Arial"/>
              </a:rPr>
              <a:t>адрес: платят тем шагом, которым работает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Адреса платежа:</a:t>
            </a:r>
            <a:r>
              <a:rPr sz="1300" b="0" i="0">
                <a:solidFill>
                  <a:srgbClr val="21295C"/>
                </a:solidFill>
                <a:latin typeface="Arial"/>
              </a:rPr>
              <a:t> внимание — смотрит после модели · навык — перестаёт делать сам · подпись — ставят не читая · </a:t>
            </a:r>
            <a:r>
              <a:rPr sz="1300" b="1" i="0">
                <a:solidFill>
                  <a:srgbClr val="21295C"/>
                </a:solidFill>
                <a:latin typeface="Arial"/>
              </a:rPr>
              <a:t>арбитраж — дороже прежнего чтения</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Путь, ступень, адрес — этим читается каждый разбор лекции.</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посмотрела первой. Что теперь делает человек — и кто это измерял?</a:t>
            </a:r>
          </a:p>
        </p:txBody>
      </p:sp>
      <p:sp>
        <p:nvSpPr>
          <p:cNvPr id="22" name="Rounded Rectangle 21"/>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3" name="Picture 22"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4" name="Rectangle 23"/>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E. и соавт., JAMA Network Open 2024;7(10):e2440969, 28 октября 2024</a:t>
            </a:r>
            <a:r>
              <a:rPr sz="1200" b="0" i="1">
                <a:solidFill>
                  <a:srgbClr val="1C7293"/>
                </a:solidFill>
                <a:latin typeface="Arial"/>
              </a:rPr>
              <a:t> · </a:t>
            </a:r>
            <a:r>
              <a:rPr sz="1200" b="0" i="1" u="sng">
                <a:solidFill>
                  <a:srgbClr val="065A82"/>
                </a:solidFill>
                <a:latin typeface="Arial"/>
                <a:hlinkClick r:id="rId4"/>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переезда: чем лекция будет называть то, что стало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843813"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55120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383309" y="1335024"/>
            <a:ext cx="4759479"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529613" y="1335024"/>
            <a:ext cx="446687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6142789" y="1335024"/>
            <a:ext cx="5509410"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289093" y="1335024"/>
            <a:ext cx="52168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узнаётся</a:t>
            </a:r>
          </a:p>
        </p:txBody>
      </p:sp>
      <p:sp>
        <p:nvSpPr>
          <p:cNvPr id="11" name="Rectangle 10"/>
          <p:cNvSpPr/>
          <p:nvPr/>
        </p:nvSpPr>
        <p:spPr>
          <a:xfrm>
            <a:off x="539496" y="1736636"/>
            <a:ext cx="843813" cy="40161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3" name="Rectangle 12"/>
          <p:cNvSpPr/>
          <p:nvPr/>
        </p:nvSpPr>
        <p:spPr>
          <a:xfrm>
            <a:off x="1383309" y="1736636"/>
            <a:ext cx="4759479"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529613" y="1736636"/>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5" name="Rectangle 14"/>
          <p:cNvSpPr/>
          <p:nvPr/>
        </p:nvSpPr>
        <p:spPr>
          <a:xfrm>
            <a:off x="6142789" y="1736636"/>
            <a:ext cx="5509410"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6289093" y="1736636"/>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цела, место другое</a:t>
            </a:r>
          </a:p>
        </p:txBody>
      </p:sp>
      <p:sp>
        <p:nvSpPr>
          <p:cNvPr id="17" name="Rectangle 16"/>
          <p:cNvSpPr/>
          <p:nvPr/>
        </p:nvSpPr>
        <p:spPr>
          <a:xfrm>
            <a:off x="539496" y="2138248"/>
            <a:ext cx="843813" cy="40161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138248"/>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19" name="Rectangle 18"/>
          <p:cNvSpPr/>
          <p:nvPr/>
        </p:nvSpPr>
        <p:spPr>
          <a:xfrm>
            <a:off x="1383309" y="2138248"/>
            <a:ext cx="4759479" cy="40161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529613" y="2138248"/>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1" name="Rectangle 20"/>
          <p:cNvSpPr/>
          <p:nvPr/>
        </p:nvSpPr>
        <p:spPr>
          <a:xfrm>
            <a:off x="6142789" y="2138248"/>
            <a:ext cx="5509410"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289093" y="2138248"/>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работы нет ни у кого</a:t>
            </a:r>
          </a:p>
        </p:txBody>
      </p:sp>
      <p:sp>
        <p:nvSpPr>
          <p:cNvPr id="23" name="Rectangle 22"/>
          <p:cNvSpPr/>
          <p:nvPr/>
        </p:nvSpPr>
        <p:spPr>
          <a:xfrm>
            <a:off x="539496" y="2539860"/>
            <a:ext cx="843813" cy="40161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539860"/>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25" name="Rectangle 24"/>
          <p:cNvSpPr/>
          <p:nvPr/>
        </p:nvSpPr>
        <p:spPr>
          <a:xfrm>
            <a:off x="1383309" y="2539860"/>
            <a:ext cx="4759479" cy="40161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529613" y="2539860"/>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27" name="Rectangle 26"/>
          <p:cNvSpPr/>
          <p:nvPr/>
        </p:nvSpPr>
        <p:spPr>
          <a:xfrm>
            <a:off x="6142789" y="2539860"/>
            <a:ext cx="5509410" cy="40161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289093" y="2539860"/>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новая, раньше её не делали</a:t>
            </a:r>
          </a:p>
        </p:txBody>
      </p:sp>
      <p:sp>
        <p:nvSpPr>
          <p:cNvPr id="29" name="Rectangle 28"/>
          <p:cNvSpPr/>
          <p:nvPr/>
        </p:nvSpPr>
        <p:spPr>
          <a:xfrm>
            <a:off x="539496" y="2941472"/>
            <a:ext cx="843813" cy="40161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2941472"/>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1" name="Rectangle 30"/>
          <p:cNvSpPr/>
          <p:nvPr/>
        </p:nvSpPr>
        <p:spPr>
          <a:xfrm>
            <a:off x="1383309" y="2941472"/>
            <a:ext cx="4759479" cy="40161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529613" y="2941472"/>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33" name="Rectangle 32"/>
          <p:cNvSpPr/>
          <p:nvPr/>
        </p:nvSpPr>
        <p:spPr>
          <a:xfrm>
            <a:off x="6142789" y="2941472"/>
            <a:ext cx="5509410" cy="40161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6289093" y="2941472"/>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 то же, работы больше</a:t>
            </a:r>
          </a:p>
        </p:txBody>
      </p:sp>
      <p:sp>
        <p:nvSpPr>
          <p:cNvPr id="35" name="Rectangle 34"/>
          <p:cNvSpPr/>
          <p:nvPr/>
        </p:nvSpPr>
        <p:spPr>
          <a:xfrm>
            <a:off x="539496" y="3343085"/>
            <a:ext cx="843813"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343085"/>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37" name="Rectangle 36"/>
          <p:cNvSpPr/>
          <p:nvPr/>
        </p:nvSpPr>
        <p:spPr>
          <a:xfrm>
            <a:off x="1383309" y="3343085"/>
            <a:ext cx="4759479" cy="401612"/>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529613" y="3343085"/>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39" name="Rectangle 38"/>
          <p:cNvSpPr/>
          <p:nvPr/>
        </p:nvSpPr>
        <p:spPr>
          <a:xfrm>
            <a:off x="6142789" y="3343085"/>
            <a:ext cx="5509410" cy="401612"/>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6289093" y="3343085"/>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 то же, работы меньше</a:t>
            </a:r>
          </a:p>
        </p:txBody>
      </p:sp>
      <p:sp>
        <p:nvSpPr>
          <p:cNvPr id="41" name="Rectangle 40"/>
          <p:cNvSpPr/>
          <p:nvPr/>
        </p:nvSpPr>
        <p:spPr>
          <a:xfrm>
            <a:off x="539496" y="3744697"/>
            <a:ext cx="843813"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744697"/>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43" name="Rectangle 42"/>
          <p:cNvSpPr/>
          <p:nvPr/>
        </p:nvSpPr>
        <p:spPr>
          <a:xfrm>
            <a:off x="1383309" y="3744697"/>
            <a:ext cx="4759479"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529613" y="3744697"/>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45" name="Rectangle 44"/>
          <p:cNvSpPr/>
          <p:nvPr/>
        </p:nvSpPr>
        <p:spPr>
          <a:xfrm>
            <a:off x="6142789" y="3744697"/>
            <a:ext cx="5509410" cy="401612"/>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6289093" y="3744697"/>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работа та же, рука другая</a:t>
            </a:r>
          </a:p>
        </p:txBody>
      </p:sp>
      <p:sp>
        <p:nvSpPr>
          <p:cNvPr id="47" name="Rectangle 46"/>
          <p:cNvSpPr/>
          <p:nvPr/>
        </p:nvSpPr>
        <p:spPr>
          <a:xfrm>
            <a:off x="539496" y="4146309"/>
            <a:ext cx="843813"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146309"/>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49" name="Rectangle 48"/>
          <p:cNvSpPr/>
          <p:nvPr/>
        </p:nvSpPr>
        <p:spPr>
          <a:xfrm>
            <a:off x="1383309" y="4146309"/>
            <a:ext cx="4759479"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529613" y="4146309"/>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51" name="Rectangle 50"/>
          <p:cNvSpPr/>
          <p:nvPr/>
        </p:nvSpPr>
        <p:spPr>
          <a:xfrm>
            <a:off x="6142789" y="4146309"/>
            <a:ext cx="5509410"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289093" y="4146309"/>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состав тот же, порядок другой</a:t>
            </a:r>
          </a:p>
        </p:txBody>
      </p:sp>
      <p:sp>
        <p:nvSpPr>
          <p:cNvPr id="53" name="Rectangle 52"/>
          <p:cNvSpPr/>
          <p:nvPr/>
        </p:nvSpPr>
        <p:spPr>
          <a:xfrm>
            <a:off x="539496" y="4547921"/>
            <a:ext cx="843813"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547921"/>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55" name="Rectangle 54"/>
          <p:cNvSpPr/>
          <p:nvPr/>
        </p:nvSpPr>
        <p:spPr>
          <a:xfrm>
            <a:off x="1383309" y="4547921"/>
            <a:ext cx="4759479"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529613" y="4547921"/>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57" name="Rectangle 56"/>
          <p:cNvSpPr/>
          <p:nvPr/>
        </p:nvSpPr>
        <p:spPr>
          <a:xfrm>
            <a:off x="6142789" y="4547921"/>
            <a:ext cx="5509410"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6289093" y="4547921"/>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промах машины стал промахом человека</a:t>
            </a:r>
          </a:p>
        </p:txBody>
      </p:sp>
      <p:sp>
        <p:nvSpPr>
          <p:cNvPr id="59" name="Rectangle 58"/>
          <p:cNvSpPr/>
          <p:nvPr/>
        </p:nvSpPr>
        <p:spPr>
          <a:xfrm>
            <a:off x="539496" y="4949533"/>
            <a:ext cx="843813" cy="401612"/>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4949533"/>
            <a:ext cx="55120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61" name="Rectangle 60"/>
          <p:cNvSpPr/>
          <p:nvPr/>
        </p:nvSpPr>
        <p:spPr>
          <a:xfrm>
            <a:off x="1383309" y="4949533"/>
            <a:ext cx="4759479"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529613" y="4949533"/>
            <a:ext cx="446687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63" name="Rectangle 62"/>
          <p:cNvSpPr/>
          <p:nvPr/>
        </p:nvSpPr>
        <p:spPr>
          <a:xfrm>
            <a:off x="6142789" y="4949533"/>
            <a:ext cx="5509410"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6289093" y="4949533"/>
            <a:ext cx="52168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 та же, и она разучилась</a:t>
            </a:r>
          </a:p>
        </p:txBody>
      </p:sp>
      <p:sp>
        <p:nvSpPr>
          <p:cNvPr id="65" name="Rectangle 64"/>
          <p:cNvSpPr/>
          <p:nvPr/>
        </p:nvSpPr>
        <p:spPr>
          <a:xfrm>
            <a:off x="539496" y="5351146"/>
            <a:ext cx="843813" cy="401612"/>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351146"/>
            <a:ext cx="551205"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67" name="Rectangle 66"/>
          <p:cNvSpPr/>
          <p:nvPr/>
        </p:nvSpPr>
        <p:spPr>
          <a:xfrm>
            <a:off x="1383309" y="5351146"/>
            <a:ext cx="4759479" cy="401612"/>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529613" y="5351146"/>
            <a:ext cx="4466871"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69" name="Rectangle 68"/>
          <p:cNvSpPr/>
          <p:nvPr/>
        </p:nvSpPr>
        <p:spPr>
          <a:xfrm>
            <a:off x="6142789" y="5351146"/>
            <a:ext cx="5509410"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289093" y="5351146"/>
            <a:ext cx="5216802"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номер пуст: измерения нет ни одного</a:t>
            </a:r>
          </a:p>
        </p:txBody>
      </p:sp>
      <p:sp>
        <p:nvSpPr>
          <p:cNvPr id="71" name="TextBox 70"/>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Форма отвечает, что сделалось с работой. Адрес платежа — на каком человеческом шаге.</a:t>
            </a:r>
          </a:p>
        </p:txBody>
      </p:sp>
      <p:sp>
        <p:nvSpPr>
          <p:cNvPr id="72" name="Rectangle 7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разрядов свидетельства: насколько устроен опыт, из которого взято число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695986"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40337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7" name="Rectangle 6"/>
          <p:cNvSpPr/>
          <p:nvPr/>
        </p:nvSpPr>
        <p:spPr>
          <a:xfrm>
            <a:off x="3235482" y="1335024"/>
            <a:ext cx="37776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3381786" y="1335024"/>
            <a:ext cx="34850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как добыто число</a:t>
            </a:r>
          </a:p>
        </p:txBody>
      </p:sp>
      <p:sp>
        <p:nvSpPr>
          <p:cNvPr id="9" name="Rectangle 8"/>
          <p:cNvSpPr/>
          <p:nvPr/>
        </p:nvSpPr>
        <p:spPr>
          <a:xfrm>
            <a:off x="7013115" y="1335024"/>
            <a:ext cx="4639083"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59419" y="1335024"/>
            <a:ext cx="434647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что по нему можно утверждать</a:t>
            </a:r>
          </a:p>
        </p:txBody>
      </p:sp>
      <p:sp>
        <p:nvSpPr>
          <p:cNvPr id="11" name="Rectangle 10"/>
          <p:cNvSpPr/>
          <p:nvPr/>
        </p:nvSpPr>
        <p:spPr>
          <a:xfrm>
            <a:off x="539496" y="1763984"/>
            <a:ext cx="2695986" cy="69332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рандомизированное испытание</a:t>
            </a:r>
          </a:p>
        </p:txBody>
      </p:sp>
      <p:sp>
        <p:nvSpPr>
          <p:cNvPr id="13" name="Rectangle 12"/>
          <p:cNvSpPr/>
          <p:nvPr/>
        </p:nvSpPr>
        <p:spPr>
          <a:xfrm>
            <a:off x="3235482" y="1763984"/>
            <a:ext cx="3777633" cy="69332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381786" y="1763984"/>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участников развели по группам жребием</a:t>
            </a:r>
          </a:p>
        </p:txBody>
      </p:sp>
      <p:sp>
        <p:nvSpPr>
          <p:cNvPr id="15" name="Rectangle 14"/>
          <p:cNvSpPr/>
          <p:nvPr/>
        </p:nvSpPr>
        <p:spPr>
          <a:xfrm>
            <a:off x="7013115" y="1763984"/>
            <a:ext cx="4639083" cy="69332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59419" y="1763984"/>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разницу между группами можно отнести к вмешательству</a:t>
            </a:r>
          </a:p>
        </p:txBody>
      </p:sp>
      <p:sp>
        <p:nvSpPr>
          <p:cNvPr id="17" name="Rectangle 16"/>
          <p:cNvSpPr/>
          <p:nvPr/>
        </p:nvSpPr>
        <p:spPr>
          <a:xfrm>
            <a:off x="539496" y="2457314"/>
            <a:ext cx="2695986" cy="69332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457314"/>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проспективное наблюдение</a:t>
            </a:r>
          </a:p>
        </p:txBody>
      </p:sp>
      <p:sp>
        <p:nvSpPr>
          <p:cNvPr id="19" name="Rectangle 18"/>
          <p:cNvSpPr/>
          <p:nvPr/>
        </p:nvSpPr>
        <p:spPr>
          <a:xfrm>
            <a:off x="3235482" y="2457314"/>
            <a:ext cx="3777633" cy="69332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381786" y="2457314"/>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следили вперёд и дождались исхода</a:t>
            </a:r>
          </a:p>
        </p:txBody>
      </p:sp>
      <p:sp>
        <p:nvSpPr>
          <p:cNvPr id="21" name="Rectangle 20"/>
          <p:cNvSpPr/>
          <p:nvPr/>
        </p:nvSpPr>
        <p:spPr>
          <a:xfrm>
            <a:off x="7013115" y="2457314"/>
            <a:ext cx="4639083" cy="69332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59419" y="2457314"/>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что произошло — да; из-за чего — с оговоркой</a:t>
            </a:r>
          </a:p>
        </p:txBody>
      </p:sp>
      <p:sp>
        <p:nvSpPr>
          <p:cNvPr id="23" name="Rectangle 22"/>
          <p:cNvSpPr/>
          <p:nvPr/>
        </p:nvSpPr>
        <p:spPr>
          <a:xfrm>
            <a:off x="539496" y="3150643"/>
            <a:ext cx="2695986" cy="69332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150643"/>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ретроспективный срез</a:t>
            </a:r>
          </a:p>
        </p:txBody>
      </p:sp>
      <p:sp>
        <p:nvSpPr>
          <p:cNvPr id="25" name="Rectangle 24"/>
          <p:cNvSpPr/>
          <p:nvPr/>
        </p:nvSpPr>
        <p:spPr>
          <a:xfrm>
            <a:off x="3235482" y="3150643"/>
            <a:ext cx="3777633" cy="69332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381786" y="3150643"/>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посмотрели назад по уже собранным записям</a:t>
            </a:r>
          </a:p>
        </p:txBody>
      </p:sp>
      <p:sp>
        <p:nvSpPr>
          <p:cNvPr id="27" name="Rectangle 26"/>
          <p:cNvSpPr/>
          <p:nvPr/>
        </p:nvSpPr>
        <p:spPr>
          <a:xfrm>
            <a:off x="7013115" y="3150643"/>
            <a:ext cx="4639083" cy="69332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59419" y="3150643"/>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связь — да; направление связи — нет</a:t>
            </a:r>
          </a:p>
        </p:txBody>
      </p:sp>
      <p:sp>
        <p:nvSpPr>
          <p:cNvPr id="29" name="Rectangle 28"/>
          <p:cNvSpPr/>
          <p:nvPr/>
        </p:nvSpPr>
        <p:spPr>
          <a:xfrm>
            <a:off x="539496" y="3843972"/>
            <a:ext cx="2695986" cy="428960"/>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843972"/>
            <a:ext cx="240337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пересказ в обзоре</a:t>
            </a:r>
          </a:p>
        </p:txBody>
      </p:sp>
      <p:sp>
        <p:nvSpPr>
          <p:cNvPr id="31" name="Rectangle 30"/>
          <p:cNvSpPr/>
          <p:nvPr/>
        </p:nvSpPr>
        <p:spPr>
          <a:xfrm>
            <a:off x="3235482" y="3843972"/>
            <a:ext cx="3777633" cy="428960"/>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381786" y="3843972"/>
            <a:ext cx="348502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число дошло через чужой текст</a:t>
            </a:r>
          </a:p>
        </p:txBody>
      </p:sp>
      <p:sp>
        <p:nvSpPr>
          <p:cNvPr id="33" name="Rectangle 32"/>
          <p:cNvSpPr/>
          <p:nvPr/>
        </p:nvSpPr>
        <p:spPr>
          <a:xfrm>
            <a:off x="7013115" y="3843972"/>
            <a:ext cx="4639083" cy="428960"/>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59419" y="3843972"/>
            <a:ext cx="4346475"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ничего, пока не открыт первоисточник</a:t>
            </a:r>
          </a:p>
        </p:txBody>
      </p:sp>
      <p:sp>
        <p:nvSpPr>
          <p:cNvPr id="35" name="Rectangle 34"/>
          <p:cNvSpPr/>
          <p:nvPr/>
        </p:nvSpPr>
        <p:spPr>
          <a:xfrm>
            <a:off x="539496" y="4272933"/>
            <a:ext cx="2695986" cy="69332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272933"/>
            <a:ext cx="2403378"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самоотчёт</a:t>
            </a:r>
          </a:p>
        </p:txBody>
      </p:sp>
      <p:sp>
        <p:nvSpPr>
          <p:cNvPr id="37" name="Rectangle 36"/>
          <p:cNvSpPr/>
          <p:nvPr/>
        </p:nvSpPr>
        <p:spPr>
          <a:xfrm>
            <a:off x="3235482" y="4272933"/>
            <a:ext cx="3777633" cy="693329"/>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381786" y="4272933"/>
            <a:ext cx="34850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человек сам сказал, сколько и как он работает</a:t>
            </a:r>
          </a:p>
        </p:txBody>
      </p:sp>
      <p:sp>
        <p:nvSpPr>
          <p:cNvPr id="39" name="Rectangle 38"/>
          <p:cNvSpPr/>
          <p:nvPr/>
        </p:nvSpPr>
        <p:spPr>
          <a:xfrm>
            <a:off x="7013115" y="4272933"/>
            <a:ext cx="4639083" cy="693329"/>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59419" y="4272933"/>
            <a:ext cx="434647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то, что он думает о своей работе</a:t>
            </a:r>
          </a:p>
        </p:txBody>
      </p:sp>
      <p:sp>
        <p:nvSpPr>
          <p:cNvPr id="41" name="TextBox 40"/>
          <p:cNvSpPr txBox="1"/>
          <p:nvPr/>
        </p:nvSpPr>
        <p:spPr>
          <a:xfrm>
            <a:off x="539496" y="511256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Разряд называется вместе с числом. Выше своего разряда число не утверждает ничего — к своим числам лекция применяет это правило тоже.</a:t>
            </a:r>
          </a:p>
        </p:txBody>
      </p:sp>
      <p:sp>
        <p:nvSpPr>
          <p:cNvPr id="42" name="TextBox 41"/>
          <p:cNvSpPr txBox="1"/>
          <p:nvPr/>
        </p:nvSpPr>
        <p:spPr>
          <a:xfrm>
            <a:off x="539496" y="5863052"/>
            <a:ext cx="11112703" cy="292345"/>
          </a:xfrm>
          <a:prstGeom prst="rect">
            <a:avLst/>
          </a:prstGeom>
          <a:noFill/>
        </p:spPr>
        <p:txBody>
          <a:bodyPr wrap="square" lIns="0" rIns="0" tIns="0" bIns="0" anchor="t">
            <a:spAutoFit/>
          </a:bodyPr>
          <a:lstStyle/>
          <a:p>
            <a:pPr algn="l">
              <a:lnSpc>
                <a:spcPct val="124000"/>
              </a:lnSpc>
            </a:pPr>
            <a:r>
              <a:rPr sz="1500" b="0" i="1">
                <a:solidFill>
                  <a:srgbClr val="1C7293"/>
                </a:solidFill>
                <a:latin typeface="Arial"/>
              </a:rPr>
              <a:t>Это про устройство опыта; ступень участия — другая разметка.</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Письмо дошло, и женщина пришла. Дальше вокруг неё работает устройство, которого она не видит.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Снимок делает лаборант</a:t>
            </a:r>
          </a:p>
          <a:p>
            <a:pPr algn="l">
              <a:lnSpc>
                <a:spcPct val="126000"/>
              </a:lnSpc>
              <a:spcBef>
                <a:spcPts val="700"/>
              </a:spcBef>
            </a:pPr>
            <a:r>
              <a:rPr sz="1250" b="0" i="0">
                <a:solidFill>
                  <a:srgbClr val="21295C"/>
                </a:solidFill>
                <a:latin typeface="Arial"/>
              </a:rPr>
              <a:t/>
            </a:r>
            <a:r>
              <a:rPr sz="1250" b="0" i="0">
                <a:solidFill>
                  <a:srgbClr val="21295C"/>
                </a:solidFill>
                <a:latin typeface="Arial"/>
              </a:rPr>
              <a:t>• Читают двое рентгенологов: её они не видели и между собой о ней не говорят</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Разошлись — снимок уходит третьему</a:t>
            </a:r>
          </a:p>
          <a:p>
            <a:pPr algn="l">
              <a:lnSpc>
                <a:spcPct val="126000"/>
              </a:lnSpc>
              <a:spcBef>
                <a:spcPts val="700"/>
              </a:spcBef>
            </a:pPr>
            <a:r>
              <a:rPr sz="1250" b="0" i="0">
                <a:solidFill>
                  <a:srgbClr val="21295C"/>
                </a:solidFill>
                <a:latin typeface="Arial"/>
              </a:rPr>
              <a:t/>
            </a:r>
            <a:r>
              <a:rPr sz="1250" b="0" i="0">
                <a:solidFill>
                  <a:srgbClr val="21295C"/>
                </a:solidFill>
                <a:latin typeface="Arial"/>
              </a:rPr>
              <a:t>• Через несколько недель приходит письмо «норма» либо звонок на дообследование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Семь действий стадии.</a:t>
            </a:r>
            <a:r>
              <a:rPr sz="125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a:p>
            <a:pPr algn="l">
              <a:lnSpc>
                <a:spcPct val="126000"/>
              </a:lnSpc>
              <a:spcBef>
                <a:spcPts val="700"/>
              </a:spcBef>
            </a:pPr>
            <a:r>
              <a:rPr sz="1250" b="0" i="0">
                <a:solidFill>
                  <a:srgbClr val="21295C"/>
                </a:solidFill>
                <a:latin typeface="Arial"/>
              </a:rPr>
              <a:t/>
            </a:r>
            <a:r>
              <a:rPr sz="1250" b="1" i="0">
                <a:solidFill>
                  <a:srgbClr val="21295C"/>
                </a:solidFill>
                <a:latin typeface="Arial"/>
              </a:rPr>
              <a:t>Без обученной модели каждое из семи делает человек по записанному правилу.</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 обученной моделью — три шага из семи:</a:t>
            </a:r>
            <a:r>
              <a:rPr sz="1250" b="0" i="0">
                <a:solidFill>
                  <a:srgbClr val="21295C"/>
                </a:solidFill>
                <a:latin typeface="Arial"/>
              </a:rPr>
              <a:t> прочесть · сообщить исход · отсортировать поток. Порог, приглашение, съёмка и арбитраж остались людям. </a:t>
            </a:r>
            <a:r>
              <a:rPr sz="1250" b="1" i="0">
                <a:solidFill>
                  <a:srgbClr val="21295C"/>
                </a:solidFill>
                <a:latin typeface="Arial"/>
              </a:rPr>
              <a:t>Новый шаг — добыть годный снимок.</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порядка работы.</a:t>
            </a:r>
            <a:r>
              <a:rPr sz="1250" b="0" i="0">
                <a:solidFill>
                  <a:srgbClr val="21295C"/>
                </a:solidFill>
                <a:latin typeface="Arial"/>
              </a:rPr>
              <a:t> Скрининг — зовут тех, у кого жалоб нет, по признаку группы · обращение по симптому — человек пришёл сам, и ведёт его жалоба · сортировка потока — кого из обратившихся смотреть первым.</a:t>
            </a:r>
          </a:p>
          <a:p>
            <a:pPr algn="l">
              <a:lnSpc>
                <a:spcPct val="126000"/>
              </a:lnSpc>
              <a:spcBef>
                <a:spcPts val="700"/>
              </a:spcBef>
            </a:pPr>
            <a:r>
              <a:rPr sz="1250" b="0" i="0">
                <a:solidFill>
                  <a:srgbClr val="21295C"/>
                </a:solidFill>
                <a:latin typeface="Arial"/>
              </a:rPr>
              <a:t/>
            </a:r>
            <a:r>
              <a:rPr sz="125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два классических режима — звать по возрасту и ждать жалобу</a:t>
            </a:r>
          </a:p>
        </p:txBody>
      </p:sp>
      <p:sp>
        <p:nvSpPr>
          <p:cNvPr id="4" name="Rounded Rectangle 3"/>
          <p:cNvSpPr/>
          <p:nvPr/>
        </p:nvSpPr>
        <p:spPr>
          <a:xfrm>
            <a:off x="502920"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93322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3340531" y="1335024"/>
            <a:ext cx="2673019"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3477691" y="1725375"/>
            <a:ext cx="2398699" cy="800447"/>
          </a:xfrm>
          <a:prstGeom prst="rect">
            <a:avLst/>
          </a:prstGeom>
          <a:noFill/>
        </p:spPr>
        <p:txBody>
          <a:bodyPr wrap="square" lIns="0" rIns="0" tIns="0" bIns="0" anchor="t">
            <a:spAutoFit/>
          </a:bodyPr>
          <a:lstStyle/>
          <a:p>
            <a:pPr algn="l">
              <a:lnSpc>
                <a:spcPct val="108000"/>
              </a:lnSpc>
            </a:pPr>
            <a:r>
              <a:rPr sz="2250" b="1" i="0">
                <a:solidFill>
                  <a:srgbClr val="F0AB00"/>
                </a:solidFill>
                <a:latin typeface="Arial"/>
              </a:rPr>
              <a:t>2,0 из ста обследованных</a:t>
            </a:r>
          </a:p>
        </p:txBody>
      </p:sp>
      <p:sp>
        <p:nvSpPr>
          <p:cNvPr id="11" name="TextBox 10"/>
          <p:cNvSpPr txBox="1"/>
          <p:nvPr/>
        </p:nvSpPr>
        <p:spPr>
          <a:xfrm>
            <a:off x="3477691" y="2525822"/>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6178143"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ЖДАТЬ ЖАЛОБУ: БЕЗ ПРИГЛАШЕНИЯ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15" name="TextBox 14"/>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16" name="Rounded Rectangle 15"/>
          <p:cNvSpPr/>
          <p:nvPr/>
        </p:nvSpPr>
        <p:spPr>
          <a:xfrm>
            <a:off x="9015755"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ЖДАТЬ ЖАЛОБУ: С ПРИГЛАШЕНИЕМ</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 из ста найденных</a:t>
            </a:r>
          </a:p>
        </p:txBody>
      </p:sp>
      <p:sp>
        <p:nvSpPr>
          <p:cNvPr id="19" name="TextBox 18"/>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из 160 — та же единица, другая группа того же испытания</a:t>
            </a:r>
          </a:p>
        </p:txBody>
      </p:sp>
      <p:sp>
        <p:nvSpPr>
          <p:cNvPr id="20" name="Rounded Rectangle 19"/>
          <p:cNvSpPr/>
          <p:nvPr/>
        </p:nvSpPr>
        <p:spPr>
          <a:xfrm>
            <a:off x="374904" y="4006794"/>
            <a:ext cx="11441887" cy="2229413"/>
          </a:xfrm>
          <a:prstGeom prst="roundRect">
            <a:avLst>
              <a:gd name="adj" fmla="val 1367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98234"/>
            <a:ext cx="5373471" cy="213797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Режим первый: звать всех по возрасту и интервалу</a:t>
            </a:r>
            <a:r>
              <a:rPr sz="1350" b="0" i="0">
                <a:solidFill>
                  <a:srgbClr val="21295C"/>
                </a:solidFill>
                <a:latin typeface="Arial"/>
              </a:rPr>
              <a:t> — шведская программа, контрольная группа. </a:t>
            </a:r>
            <a:r>
              <a:rPr sz="1350" b="1" i="0">
                <a:solidFill>
                  <a:srgbClr val="21295C"/>
                </a:solidFill>
                <a:latin typeface="Arial"/>
              </a:rPr>
              <a:t>Порог — это документ:</a:t>
            </a:r>
            <a:r>
              <a:rPr sz="1350" b="0" i="0">
                <a:solidFill>
                  <a:srgbClr val="21295C"/>
                </a:solidFill>
                <a:latin typeface="Arial"/>
              </a:rPr>
              <a:t> возраст и интервал назначены раньше, чем кто-либо измерил точность прибора.</a:t>
            </a:r>
          </a:p>
          <a:p>
            <a:pPr algn="l">
              <a:lnSpc>
                <a:spcPct val="126000"/>
              </a:lnSpc>
              <a:spcBef>
                <a:spcPts val="700"/>
              </a:spcBef>
            </a:pPr>
            <a:r>
              <a:rPr sz="1350" b="0" i="0">
                <a:solidFill>
                  <a:srgbClr val="21295C"/>
                </a:solidFill>
                <a:latin typeface="Arial"/>
              </a:rPr>
              <a:t/>
            </a:r>
            <a:r>
              <a:rPr sz="1350" b="1" i="0">
                <a:solidFill>
                  <a:srgbClr val="21295C"/>
                </a:solidFill>
                <a:latin typeface="Arial"/>
              </a:rPr>
              <a:t>Режим второй: ждать жалобу</a:t>
            </a:r>
            <a:r>
              <a:rPr sz="1350" b="0" i="0">
                <a:solidFill>
                  <a:srgbClr val="21295C"/>
                </a:solidFill>
                <a:latin typeface="Arial"/>
              </a:rPr>
              <a:t> — человек приходит сам, когда почувствовал. Находка приходит позже и стадией крупнее: Мальмёское испытание распределяло приглашение случайно.</a:t>
            </a:r>
          </a:p>
        </p:txBody>
      </p:sp>
      <p:sp>
        <p:nvSpPr>
          <p:cNvPr id="22" name="TextBox 21"/>
          <p:cNvSpPr txBox="1"/>
          <p:nvPr/>
        </p:nvSpPr>
        <p:spPr>
          <a:xfrm>
            <a:off x="6278727" y="4098234"/>
            <a:ext cx="5373471" cy="2137973"/>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Доля поздних стадий среди найденных зависит не от того, сколько нашли, а от того, когда нашли. Два числа режимов взяты с разных программ и эпох: вместе они дают не сумму, а две стороны цены.</a:t>
            </a:r>
          </a:p>
          <a:p>
            <a:pPr algn="l">
              <a:lnSpc>
                <a:spcPct val="126000"/>
              </a:lnSpc>
              <a:spcBef>
                <a:spcPts val="700"/>
              </a:spcBef>
            </a:pPr>
            <a:r>
              <a:rPr sz="1350" b="0" i="0">
                <a:solidFill>
                  <a:srgbClr val="21295C"/>
                </a:solidFill>
                <a:latin typeface="Arial"/>
              </a:rPr>
              <a:t/>
            </a:r>
            <a:r>
              <a:rPr sz="1350" b="1" i="0">
                <a:solidFill>
                  <a:srgbClr val="21295C"/>
                </a:solidFill>
                <a:latin typeface="Arial"/>
              </a:rPr>
              <a:t>Женщина с письмом попала сюда так: ни одного её собственного признака — только возраст и интервал.</a:t>
            </a:r>
          </a:p>
          <a:p>
            <a:pPr algn="l">
              <a:lnSpc>
                <a:spcPct val="126000"/>
              </a:lnSpc>
              <a:spcBef>
                <a:spcPts val="700"/>
              </a:spcBef>
            </a:pPr>
            <a:r>
              <a:rPr sz="1350" b="0" i="0">
                <a:solidFill>
                  <a:srgbClr val="21295C"/>
                </a:solidFill>
                <a:latin typeface="Arial"/>
              </a:rPr>
              <a:t/>
            </a:r>
            <a:r>
              <a:rPr sz="1350" b="1" i="0">
                <a:solidFill>
                  <a:srgbClr val="21295C"/>
                </a:solidFill>
                <a:latin typeface="Arial"/>
              </a:rPr>
              <a:t>Поставщик сравнивает «с тем, как было раньше» — спрашивайте, какое именно «раньше» он посчитал.</a:t>
            </a:r>
          </a:p>
        </p:txBody>
      </p:sp>
      <p:sp>
        <p:nvSpPr>
          <p:cNvPr id="23" name="Rectangle 22"/>
          <p:cNvSpPr/>
          <p:nvPr/>
        </p:nvSpPr>
        <p:spPr>
          <a:xfrm>
            <a:off x="6091275" y="4098234"/>
            <a:ext cx="9144" cy="204928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r>
              <a:rPr sz="1200" b="0" i="1">
                <a:solidFill>
                  <a:srgbClr val="1C7293"/>
                </a:solidFill>
                <a:latin typeface="Arial"/>
              </a:rPr>
              <a:t> · </a:t>
            </a: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 моделью, то же поле: сортировка потока по предсказанному риску</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200" b="0" i="0">
                <a:solidFill>
                  <a:srgbClr val="21295C"/>
                </a:solidFill>
                <a:latin typeface="Arial"/>
              </a:rPr>
              <a:t/>
            </a:r>
            <a:r>
              <a:rPr sz="1200" b="1" i="0">
                <a:solidFill>
                  <a:srgbClr val="21295C"/>
                </a:solidFill>
                <a:latin typeface="Arial"/>
              </a:rPr>
              <a:t>Устроено:</a:t>
            </a:r>
            <a:r>
              <a:rPr sz="1200" b="0" i="0">
                <a:solidFill>
                  <a:srgbClr val="21295C"/>
                </a:solidFill>
                <a:latin typeface="Arial"/>
              </a:rPr>
              <a:t> вход — цифровая маммограмма, выход — оценка риска и место в очереди чтения; на чём обучена, программы не публикуют. </a:t>
            </a:r>
            <a:r>
              <a:rPr sz="1200" b="1" i="0">
                <a:solidFill>
                  <a:srgbClr val="21295C"/>
                </a:solidFill>
                <a:latin typeface="Arial"/>
              </a:rPr>
              <a:t>Имени системы не называет ни одна публикация программы</a:t>
            </a:r>
            <a:r>
              <a:rPr sz="1200" b="0" i="0">
                <a:solidFill>
                  <a:srgbClr val="21295C"/>
                </a:solidFill>
                <a:latin typeface="Arial"/>
              </a:rPr>
              <a:t>; режим занимают Transpara, Lunit INSIGHT MMG, iCAD ProFound. </a:t>
            </a:r>
            <a:r>
              <a:rPr sz="1200" b="0" i="1">
                <a:solidFill>
                  <a:srgbClr val="21295C"/>
                </a:solidFill>
                <a:latin typeface="Arial"/>
              </a:rPr>
              <a:t>Распознавание на изображении.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Два числа с разных выборок и в один список не складываются:</a:t>
            </a:r>
            <a:r>
              <a:rPr sz="1200" b="0" i="0">
                <a:solidFill>
                  <a:srgbClr val="21295C"/>
                </a:solidFill>
                <a:latin typeface="Arial"/>
              </a:rPr>
              <a:t> объём чтения — промежуточный анализ, чувствительность — итоговый.</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Второго независимого человека большинство обследованных больше не получает</a:t>
            </a:r>
            <a:r>
              <a:rPr sz="1200" b="0" i="0">
                <a:solidFill>
                  <a:srgbClr val="21295C"/>
                </a:solidFill>
                <a:latin typeface="Arial"/>
              </a:rPr>
              <a:t> — цена здесь в устройстве процедуры, не в точности прибора.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r>
              <a:rPr sz="1200" b="0" i="0">
                <a:solidFill>
                  <a:srgbClr val="21295C"/>
                </a:solidFill>
                <a:latin typeface="Arial"/>
              </a:rPr>
              <a:t> как работа распределилась между моделью и вторым читателем, германская программа не опубликовала; отечественная платформа лучевой диагностики сообщает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без методики подсчёта, а годового числа исследований в стране нет — доля охвата не считается.</a:t>
            </a:r>
          </a:p>
          <a:p>
            <a:pPr algn="l">
              <a:lnSpc>
                <a:spcPct val="126000"/>
              </a:lnSpc>
              <a:spcBef>
                <a:spcPts val="700"/>
              </a:spcBef>
            </a:pPr>
            <a:r>
              <a:rPr sz="950" b="0" i="0">
                <a:solidFill>
                  <a:srgbClr val="21295C"/>
                </a:solidFill>
                <a:latin typeface="Arial"/>
              </a:rPr>
              <a:t/>
            </a:r>
            <a:r>
              <a:rPr sz="95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9291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11112703"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в сортировке обращений:</a:t>
            </a:r>
            <a:r>
              <a:rPr sz="1500" b="0" i="0">
                <a:solidFill>
                  <a:srgbClr val="21295C"/>
                </a:solidFill>
                <a:latin typeface="Arial"/>
              </a:rPr>
              <a:t> пропустить того, кому нужно сейчас · занять приём тем, кому не нужно · и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Изделие — приложение </a:t>
            </a:r>
            <a:r>
              <a:rPr sz="1500" b="1" i="0">
                <a:solidFill>
                  <a:srgbClr val="21295C"/>
                </a:solidFill>
                <a:latin typeface="Arial"/>
              </a:rPr>
              <a:t>Babylon</a:t>
            </a:r>
            <a:r>
              <a:rPr sz="1500" b="0" i="0">
                <a:solidFill>
                  <a:srgbClr val="21295C"/>
                </a:solidFill>
                <a:latin typeface="Arial"/>
              </a:rPr>
              <a:t>, сервис первой линии </a:t>
            </a:r>
            <a:r>
              <a:rPr sz="1500" b="1" i="0">
                <a:solidFill>
                  <a:srgbClr val="21295C"/>
                </a:solidFill>
                <a:latin typeface="Arial"/>
              </a:rPr>
              <a:t>«GP at Hand»</a:t>
            </a:r>
            <a:r>
              <a:rPr sz="1500" b="0" i="0">
                <a:solidFill>
                  <a:srgbClr val="21295C"/>
                </a:solidFill>
                <a:latin typeface="Arial"/>
              </a:rPr>
              <a:t>. Вход — жалоба свободным текстом, выход — маршрут «куда вам сейчас». </a:t>
            </a:r>
            <a:r>
              <a:rPr sz="1500" b="1" i="0">
                <a:solidFill>
                  <a:srgbClr val="21295C"/>
                </a:solidFill>
                <a:latin typeface="Arial"/>
              </a:rPr>
              <a:t>На чём обучено — неизвестно: по словам бывшего руководителя регуляторных вопросов компании, внутри стояло дерево решений «если — то».</a:t>
            </a:r>
            <a:r>
              <a:rPr sz="1500" b="0" i="0">
                <a:solidFill>
                  <a:srgbClr val="21295C"/>
                </a:solidFill>
                <a:latin typeface="Arial"/>
              </a:rPr>
              <a:t> </a:t>
            </a:r>
            <a:r>
              <a:rPr sz="1500" b="0" i="1">
                <a:solidFill>
                  <a:srgbClr val="21295C"/>
                </a:solidFill>
                <a:latin typeface="Arial"/>
              </a:rPr>
              <a:t>Заявлен поиск с генерацией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Уберите модель — и сервис продолжит работать.</a:t>
            </a:r>
            <a:r>
              <a:rPr sz="1500" b="0" i="0">
                <a:solidFill>
                  <a:srgbClr val="21295C"/>
                </a:solidFill>
                <a:latin typeface="Arial"/>
              </a:rPr>
              <a:t> </a:t>
            </a:r>
            <a:r>
              <a:rPr sz="1500" b="0" i="1">
                <a:solidFill>
                  <a:srgbClr val="21295C"/>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 запись приёма под диктовку в нём принимается, сортировка обращения после этого случая — нет.</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Сумма за человека в год фиксирована, число обращений выросло.</a:t>
            </a:r>
            <a:r>
              <a:rPr sz="1500" b="0" i="0">
                <a:solidFill>
                  <a:srgbClr val="21295C"/>
                </a:solidFill>
                <a:latin typeface="Arial"/>
              </a:rPr>
              <a:t> Делим одно на другое — на каждое обращение приходится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Возрасты взяты не средние по стране: сервис почти целиком состоял из молодых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Двигатель переезда — доступность канала: вход стал мгновенным и бесплатным, и обращений стало больше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Выигрыш здесь измерен явкой. </a:t>
            </a:r>
            <a:r>
              <a:rPr sz="1300" b="1" i="0">
                <a:solidFill>
                  <a:srgbClr val="21295C"/>
                </a:solidFill>
                <a:latin typeface="Arial"/>
              </a:rPr>
              <a:t>Классический режим</a:t>
            </a:r>
            <a:r>
              <a:rPr sz="1300" b="0" i="0">
                <a:solidFill>
                  <a:srgbClr val="21295C"/>
                </a:solidFill>
                <a:latin typeface="Arial"/>
              </a:rPr>
              <a:t> — раз в год отдельный визит к специалисту.</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вход — два снимка глазного дна от медсестры, выход — метка «направить или нет» на месте за минуту; на чём обучен — не публикуют. </a:t>
            </a:r>
            <a:r>
              <a:rPr sz="1300" b="1" i="0">
                <a:solidFill>
                  <a:srgbClr val="21295C"/>
                </a:solidFill>
                <a:latin typeface="Arial"/>
              </a:rPr>
              <a:t>Прибор испытания не назван</a:t>
            </a:r>
            <a:r>
              <a:rPr sz="1300" b="0" i="0">
                <a:solidFill>
                  <a:srgbClr val="21295C"/>
                </a:solidFill>
                <a:latin typeface="Arial"/>
              </a:rPr>
              <a:t>; режим допущен первым в 2018-м — IDx-DR, ныне LumineticsCore. </a:t>
            </a:r>
            <a:r>
              <a:rPr sz="1300" b="0" i="1">
                <a:solidFill>
                  <a:srgbClr val="21295C"/>
                </a:solidFill>
                <a:latin typeface="Arial"/>
              </a:rPr>
              <a:t>Классификация на изображении.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Второй шаг: из 25 с отклонением до офтальмолога дошли 16 — </a:t>
            </a:r>
            <a:r>
              <a:rPr sz="130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Отбор: выигрыш здесь измерен доступом — точности модель не прибавила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объём человеческого чтения снимается там, где процедура уже плотная</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решение выносится на месте, и обследование получают те, кто иначе не придёт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измерен доступом: точности модель здесь не прибавила.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порог — кого звать и с какого возраста: за этим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работать в открытом потоке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отвечать за годность снимка: добывает её человек без профильной подготовки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с сортировки на приём, и платить за неё стало некому</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сменился исполнитель</a:t>
            </a:r>
            <a:r>
              <a:rPr sz="1300" b="0" i="0">
                <a:solidFill>
                  <a:srgbClr val="21295C"/>
                </a:solidFill>
                <a:latin typeface="Arial"/>
              </a:rPr>
              <a:t>, и производной формой </a:t>
            </a:r>
            <a:r>
              <a:rPr sz="1300" b="1" i="0">
                <a:solidFill>
                  <a:srgbClr val="21295C"/>
                </a:solidFill>
                <a:latin typeface="Arial"/>
              </a:rPr>
              <a:t>появился шаг</a:t>
            </a:r>
            <a:r>
              <a:rPr sz="1300" b="0" i="0">
                <a:solidFill>
                  <a:srgbClr val="21295C"/>
                </a:solidFill>
                <a:latin typeface="Arial"/>
              </a:rPr>
              <a:t> — добыть годный снимок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вмешательства, записанный документом задолго до всякой точности</a:t>
            </a:r>
          </a:p>
          <a:p>
            <a:pPr algn="l">
              <a:lnSpc>
                <a:spcPct val="126000"/>
              </a:lnSpc>
              <a:spcBef>
                <a:spcPts val="700"/>
              </a:spcBef>
            </a:pPr>
            <a:r>
              <a:rPr sz="1300" b="0" i="0">
                <a:solidFill>
                  <a:srgbClr val="21295C"/>
                </a:solidFill>
                <a:latin typeface="Arial"/>
              </a:rPr>
              <a:t/>
            </a:r>
            <a:r>
              <a:rPr sz="1300" b="0" i="0">
                <a:solidFill>
                  <a:srgbClr val="21295C"/>
                </a:solidFill>
                <a:latin typeface="Arial"/>
              </a:rPr>
              <a:t>• двойное чтение и арбитраж — там, где второго читателя не заменили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отсеянное фильтром,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Дальше поток приходит смещённым: что модель назвала нормой, человек не увидит.</a:t>
            </a:r>
          </a:p>
        </p:txBody>
      </p:sp>
      <p:sp>
        <p:nvSpPr>
          <p:cNvPr id="7" name="Rectangle 6"/>
          <p:cNvSpPr/>
          <p:nvPr/>
        </p:nvSpPr>
        <p:spPr>
          <a:xfrm>
            <a:off x="6091275" y="1335024"/>
            <a:ext cx="9144" cy="483044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Полужирное — разбор этого раздела, в скобках — кто занял клетку раньше, прочерк — пусто.</a:t>
            </a:r>
            <a:r>
              <a:rPr sz="1500" b="0" i="0">
                <a:solidFill>
                  <a:srgbClr val="21295C"/>
                </a:solidFill>
                <a:latin typeface="Arial"/>
              </a:rPr>
              <a:t> Раздел первый, скобок ещё нет. Занято 3 клетки из 12 показанных — окно курсовой сетки из 42.</a:t>
            </a:r>
          </a:p>
        </p:txBody>
      </p:sp>
      <p:sp>
        <p:nvSpPr>
          <p:cNvPr id="46" name="TextBox 45"/>
          <p:cNvSpPr txBox="1"/>
          <p:nvPr/>
        </p:nvSpPr>
        <p:spPr>
          <a:xfrm>
            <a:off x="539496" y="437661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Прогноза в разделе нет ни одного:</a:t>
            </a:r>
            <a:r>
              <a:rPr sz="1500" b="0" i="0">
                <a:solidFill>
                  <a:srgbClr val="21295C"/>
                </a:solidFill>
                <a:latin typeface="Arial"/>
              </a:rPr>
              <a:t> кого звать и с каким интервалом — назначено документом; предсказывать здесь нечего.</a:t>
            </a:r>
          </a:p>
        </p:txBody>
      </p:sp>
      <p:sp>
        <p:nvSpPr>
          <p:cNvPr id="47" name="TextBox 46"/>
          <p:cNvSpPr txBox="1"/>
          <p:nvPr/>
        </p:nvSpPr>
        <p:spPr>
          <a:xfrm>
            <a:off x="539496" y="5127102"/>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Девять прочерков, и читать надо их:</a:t>
            </a:r>
            <a:r>
              <a:rPr sz="1500" b="0" i="0">
                <a:solidFill>
                  <a:srgbClr val="21295C"/>
                </a:solidFill>
                <a:latin typeface="Arial"/>
              </a:rPr>
              <a:t> инструмент такого класса в этом разделе искать незачем.</a:t>
            </a:r>
          </a:p>
        </p:txBody>
      </p:sp>
      <p:sp>
        <p:nvSpPr>
          <p:cNvPr id="48" name="TextBox 47"/>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Ни одна занятая клетка не про лечение:</a:t>
            </a:r>
            <a:r>
              <a:rPr sz="1500" b="0" i="0">
                <a:solidFill>
                  <a:srgbClr val="21295C"/>
                </a:solidFill>
                <a:latin typeface="Arial"/>
              </a:rPr>
              <a:t> модель решает, кого посмотрят; что с человеком делать, решают дальше.</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раздел 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 прибора стоит человек — лаборант, техник, медсестра.</a:t>
            </a:r>
          </a:p>
          <a:p>
            <a:pPr algn="l">
              <a:lnSpc>
                <a:spcPct val="126000"/>
              </a:lnSpc>
              <a:spcBef>
                <a:spcPts val="700"/>
              </a:spcBef>
            </a:pPr>
            <a:r>
              <a:rPr sz="1300" b="0" i="0">
                <a:solidFill>
                  <a:srgbClr val="21295C"/>
                </a:solidFill>
                <a:latin typeface="Arial"/>
              </a:rPr>
              <a:t/>
            </a:r>
            <a:r>
              <a:rPr sz="1300" b="0" i="0">
                <a:solidFill>
                  <a:srgbClr val="21295C"/>
                </a:solidFill>
                <a:latin typeface="Arial"/>
              </a:rPr>
              <a:t>Порог, за которым говорят «болен», записан в протоколе кабинета до прибора.</a:t>
            </a:r>
          </a:p>
          <a:p>
            <a:pPr algn="l">
              <a:lnSpc>
                <a:spcPct val="126000"/>
              </a:lnSpc>
              <a:spcBef>
                <a:spcPts val="700"/>
              </a:spcBef>
            </a:pPr>
            <a:r>
              <a:rPr sz="1300" b="0" i="0">
                <a:solidFill>
                  <a:srgbClr val="21295C"/>
                </a:solidFill>
                <a:latin typeface="Arial"/>
              </a:rPr>
              <a:t/>
            </a:r>
            <a:r>
              <a:rPr sz="1300" b="1" i="0">
                <a:solidFill>
                  <a:srgbClr val="21295C"/>
                </a:solidFill>
                <a:latin typeface="Arial"/>
              </a:rPr>
              <a:t>Шесть действий стадии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измерение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решить, годно ли оно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прочесть и назвать две доли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пересчитать их под свою распространённость</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сообщить результат тому, кто решает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два шага из шести:</a:t>
            </a:r>
            <a:r>
              <a:rPr sz="1300" b="0" i="0">
                <a:solidFill>
                  <a:srgbClr val="21295C"/>
                </a:solidFill>
                <a:latin typeface="Arial"/>
              </a:rPr>
              <a:t> прочесть измерение, где вместо величины выдаётся один балл, и сообщить результат.</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Рабочая точка, съёмка, годность и пересчёт остались людям.</a:t>
            </a:r>
            <a:r>
              <a:rPr sz="1300" b="0" i="0">
                <a:solidFill>
                  <a:srgbClr val="21295C"/>
                </a:solidFill>
                <a:latin typeface="Arial"/>
              </a:rPr>
              <a:t> Новый шаг —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Чувствительность</a:t>
            </a:r>
            <a:r>
              <a:rPr sz="1300" b="0" i="0">
                <a:solidFill>
                  <a:srgbClr val="21295C"/>
                </a:solidFill>
                <a:latin typeface="Arial"/>
              </a:rPr>
              <a:t> и </a:t>
            </a:r>
            <a:r>
              <a:rPr sz="1300" b="1" i="0">
                <a:solidFill>
                  <a:srgbClr val="21295C"/>
                </a:solidFill>
                <a:latin typeface="Arial"/>
              </a:rPr>
              <a:t>специфичность</a:t>
            </a:r>
            <a:r>
              <a:rPr sz="1300" b="0" i="0">
                <a:solidFill>
                  <a:srgbClr val="21295C"/>
                </a:solidFill>
                <a:latin typeface="Arial"/>
              </a:rPr>
              <a:t> — полнота по больным и по здоровым; всегда парой и всегда для одной рабочей точки.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верных тревог</a:t>
            </a:r>
            <a:r>
              <a:rPr sz="1300" b="0" i="0">
                <a:solidFill>
                  <a:srgbClr val="21295C"/>
                </a:solidFill>
                <a:latin typeface="Arial"/>
              </a:rPr>
              <a:t> — третья, и считает её тот, кто применяет. Врач на приёме видит на столе именно её.</a:t>
            </a:r>
          </a:p>
          <a:p>
            <a:pPr algn="l">
              <a:lnSpc>
                <a:spcPct val="126000"/>
              </a:lnSpc>
              <a:spcBef>
                <a:spcPts val="700"/>
              </a:spcBef>
            </a:pPr>
            <a:r>
              <a:rPr sz="1300" b="0" i="0">
                <a:solidFill>
                  <a:srgbClr val="21295C"/>
                </a:solidFill>
                <a:latin typeface="Arial"/>
              </a:rPr>
              <a:t/>
            </a:r>
            <a:r>
              <a:rPr sz="13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5" name="Rectangle 14"/>
          <p:cNvSpPr/>
          <p:nvPr/>
        </p:nvSpPr>
        <p:spPr>
          <a:xfrm>
            <a:off x="6091275" y="2683657"/>
            <a:ext cx="9144" cy="353393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верных тревог из ста против 79</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ПОТОК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10 000 подряд больных 100: 94 верные тревоги и 1 089 ложных — 1 183 поднятые</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тех же 10 000 больных 3 000: 2 820 верных и 770 ложных — 3 590 поднятых</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изменилась ни одна строка.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счёт методики на опубликованной рабочей точке — не разбор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способа поднять долю верных тревог,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ложных тревог меньше, пропущенных больных больше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сменить группу: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Женщина с письмом — в поголовном потоке: на её группе у той же системы верных тревог 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Заявленная точность без названной группы и распространённости болезни на слайд не идёт.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 доля верных тревог посчитана при распространённости один из ста и тридцать из ста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трёх классических режимов чтения раздел берёт один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Двойное чтение и арбитраж придут позже, вместе с человеком, который читает рядом с моделью.</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264318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3303906"/>
          </a:xfrm>
          <a:prstGeom prst="roundRect">
            <a:avLst>
              <a:gd name="adj" fmla="val 922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 в исходах и визитах, не в деньгах:</a:t>
            </a:r>
            <a:r>
              <a:rPr sz="1500" b="0" i="0">
                <a:solidFill>
                  <a:srgbClr val="21295C"/>
                </a:solidFill>
                <a:latin typeface="Arial"/>
              </a:rPr>
              <a:t> пропуск — необратимая потеря зрения; ложная тревога — направление к офтальмологу, которого в районе может не быть.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к офтальмологу, тот сам снимает и сам читает.</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 — и здесь это и есть разбор.</a:t>
            </a:r>
            <a:r>
              <a:rPr sz="1500" b="0" i="0">
                <a:solidFill>
                  <a:srgbClr val="21295C"/>
                </a:solidFill>
                <a:latin typeface="Arial"/>
              </a:rPr>
              <a:t> Вход — два снимка глазного дна в кабинете, выход — та же метка. </a:t>
            </a:r>
            <a:r>
              <a:rPr sz="1500" b="1" i="0">
                <a:solidFill>
                  <a:srgbClr val="21295C"/>
                </a:solidFill>
                <a:latin typeface="Arial"/>
              </a:rPr>
              <a:t>Обучено на лабораторном наборе из снимков, прошедших отбор по качеству</a:t>
            </a:r>
            <a:r>
              <a:rPr sz="1500" b="0" i="0">
                <a:solidFill>
                  <a:srgbClr val="21295C"/>
                </a:solidFill>
                <a:latin typeface="Arial"/>
              </a:rPr>
              <a:t> — а в поле отбор делает человек, которому правила не назвали. Имени системы оценка не называет.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 поле отклонён </a:t>
            </a:r>
            <a:r>
              <a:rPr sz="1500" b="1" i="0">
                <a:solidFill>
                  <a:srgbClr val="21295C"/>
                </a:solidFill>
                <a:latin typeface="Arial"/>
              </a:rPr>
              <a:t>21 снимок из ста</a:t>
            </a:r>
            <a:r>
              <a:rPr sz="1500" b="0" i="0">
                <a:solidFill>
                  <a:srgbClr val="21295C"/>
                </a:solidFill>
                <a:latin typeface="Arial"/>
              </a:rPr>
              <a:t>; причины обе про место съёмки — освещение и медленная связь.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доля негодных снимков. Явку мерил другой разбор и на другой выборке.</a:t>
            </a:r>
          </a:p>
        </p:txBody>
      </p:sp>
      <p:sp>
        <p:nvSpPr>
          <p:cNvPr id="11" name="Rectangle 10"/>
          <p:cNvSpPr/>
          <p:nvPr/>
        </p:nvSpPr>
        <p:spPr>
          <a:xfrm>
            <a:off x="6091275" y="2683657"/>
            <a:ext cx="9144" cy="302958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Появился шаг — повторный визит тем, чей снимок не прошёл: это 21 человек из каждых ста обследованных.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отклонения обе про место съёмки: освещение в кабинете и медленная связь. Ни одна на лабораторном наборе не видна.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6315303" y="1932846"/>
            <a:ext cx="2398699" cy="630698"/>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9–15 пунктов площади под кривой</a:t>
            </a:r>
          </a:p>
        </p:txBody>
      </p:sp>
      <p:sp>
        <p:nvSpPr>
          <p:cNvPr id="15" name="TextBox 14"/>
          <p:cNvSpPr txBox="1"/>
          <p:nvPr/>
        </p:nvSpPr>
        <p:spPr>
          <a:xfrm>
            <a:off x="6315303"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656 изображений</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207 самых тёмных тонов · 241 средних · 208 светлых; все с биопсией</a:t>
            </a:r>
          </a:p>
        </p:txBody>
      </p:sp>
      <p:sp>
        <p:nvSpPr>
          <p:cNvPr id="20" name="Rounded Rectangle 19"/>
          <p:cNvSpPr/>
          <p:nvPr/>
        </p:nvSpPr>
        <p:spPr>
          <a:xfrm>
            <a:off x="374904" y="3405128"/>
            <a:ext cx="11441887" cy="2680296"/>
          </a:xfrm>
          <a:prstGeom prst="roundRect">
            <a:avLst>
              <a:gd name="adj" fmla="val 1137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a:t>
            </a:r>
            <a:r>
              <a:rPr sz="1300" b="0" i="0">
                <a:solidFill>
                  <a:srgbClr val="21295C"/>
                </a:solidFill>
                <a:latin typeface="Arial"/>
              </a:rPr>
              <a:t> Пропуск — лечение на поздней стадии вместо ранней. Лишняя тревога — биопсия, рубец, месяцы ожидания.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Оба классических режима посчитаны одной методологией</a:t>
            </a:r>
            <a:r>
              <a:rPr sz="1300" b="0" i="0">
                <a:solidFill>
                  <a:srgbClr val="21295C"/>
                </a:solidFill>
                <a:latin typeface="Arial"/>
              </a:rPr>
              <a:t> — одним метаанализом прямого сравнения.</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против них.</a:t>
            </a:r>
            <a:r>
              <a:rPr sz="1300" b="0" i="0">
                <a:solidFill>
                  <a:srgbClr val="21295C"/>
                </a:solidFill>
                <a:latin typeface="Arial"/>
              </a:rPr>
              <a:t> На биопсийно подтверждённых изображениях три модели дают площадь под кривой на тёмных тонах ниже, чем на светлых. </a:t>
            </a:r>
            <a:r>
              <a:rPr sz="1300" b="1" i="0">
                <a:solidFill>
                  <a:srgbClr val="21295C"/>
                </a:solidFill>
                <a:latin typeface="Arial"/>
              </a:rPr>
              <a:t>Знаменатель назван.</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Устроено:</a:t>
            </a:r>
            <a:r>
              <a:rPr sz="1300" b="0" i="0">
                <a:solidFill>
                  <a:srgbClr val="21295C"/>
                </a:solidFill>
                <a:latin typeface="Arial"/>
              </a:rPr>
              <a:t> вход — снимок кожного образования, выход — оценка «показать врачу или нет». </a:t>
            </a:r>
            <a:r>
              <a:rPr sz="1300" b="1" i="0">
                <a:solidFill>
                  <a:srgbClr val="21295C"/>
                </a:solidFill>
                <a:latin typeface="Arial"/>
              </a:rPr>
              <a:t>Обучающие наборы у трёх моделей свои, и тёмных тонов в них мало — в этом весь разбор.</a:t>
            </a:r>
            <a:r>
              <a:rPr sz="1300" b="0" i="0">
                <a:solidFill>
                  <a:srgbClr val="21295C"/>
                </a:solidFill>
                <a:latin typeface="Arial"/>
              </a:rPr>
              <a:t> Имён публикация не даёт; назван проверочный набор — DDI. </a:t>
            </a:r>
            <a:r>
              <a:rPr sz="1300" b="0" i="1">
                <a:solidFill>
                  <a:srgbClr val="21295C"/>
                </a:solidFill>
                <a:latin typeface="Arial"/>
              </a:rPr>
              <a:t>Классификация на изображении.</a:t>
            </a:r>
          </a:p>
          <a:p>
            <a:pPr algn="l">
              <a:lnSpc>
                <a:spcPct val="126000"/>
              </a:lnSpc>
              <a:spcBef>
                <a:spcPts val="700"/>
              </a:spcBef>
            </a:pPr>
            <a:r>
              <a:rPr sz="1300" b="0" i="0">
                <a:solidFill>
                  <a:srgbClr val="21295C"/>
                </a:solidFill>
                <a:latin typeface="Arial"/>
              </a:rPr>
              <a:t/>
            </a:r>
            <a:r>
              <a:rPr sz="1300" b="1" i="0">
                <a:solidFill>
                  <a:srgbClr val="21295C"/>
                </a:solidFill>
                <a:latin typeface="Arial"/>
              </a:rPr>
              <a:t>Ходовую цифру разбор произносить отказывается:</a:t>
            </a:r>
            <a:r>
              <a:rPr sz="1300" b="0" i="0">
                <a:solidFill>
                  <a:srgbClr val="21295C"/>
                </a:solidFill>
                <a:latin typeface="Arial"/>
              </a:rPr>
              <a:t> «на тёмной коже чувствительность падает на 20–30 процентов» в публикации не найдена. </a:t>
            </a:r>
            <a:r>
              <a:rPr sz="1300" b="0" i="1">
                <a:solidFill>
                  <a:srgbClr val="21295C"/>
                </a:solidFill>
                <a:latin typeface="Arial"/>
              </a:rPr>
              <a:t>Ближайшее измеренное, у одной из трёх моделей: 69 больных из ста на светлых тонах против 23 на тёмных.</a:t>
            </a:r>
          </a:p>
        </p:txBody>
      </p:sp>
      <p:sp>
        <p:nvSpPr>
          <p:cNvPr id="23" name="Rectangle 22"/>
          <p:cNvSpPr/>
          <p:nvPr/>
        </p:nvSpPr>
        <p:spPr>
          <a:xfrm>
            <a:off x="6091275" y="3496568"/>
            <a:ext cx="9144" cy="240597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Отсутствие замера равенства не доказывает.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49 618 пациентов</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академическая больница, 100 009 пациенто-лет, 2013–2015 годы</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11112703"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 попал тот, кому программа нужна: болезнь развивается без присмотра. Попал тот, кому она не нужна: занято место и время координатора.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на одной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записи карты и данные о расходах, выход — один балл на человека и отбор по порогу. </a:t>
            </a:r>
            <a:r>
              <a:rPr sz="1500" b="1" i="0">
                <a:solidFill>
                  <a:srgbClr val="21295C"/>
                </a:solidFill>
                <a:latin typeface="Arial"/>
              </a:rPr>
              <a:t>Обучено предсказывать будущие расходы на лечение</a:t>
            </a:r>
            <a:r>
              <a:rPr sz="1500" b="0" i="0">
                <a:solidFill>
                  <a:srgbClr val="21295C"/>
                </a:solidFill>
                <a:latin typeface="Arial"/>
              </a:rPr>
              <a:t> — а решение принималось о болезни. Имени у промышленного алгоритма публикация не даёт. </a:t>
            </a:r>
            <a:r>
              <a:rPr sz="1500" b="0" i="1">
                <a:solidFill>
                  <a:srgbClr val="21295C"/>
                </a:solidFill>
                <a:latin typeface="Arial"/>
              </a:rPr>
              <a:t>Прогноз на структурированных данных.</a:t>
            </a:r>
          </a:p>
          <a:p>
            <a:pPr algn="l">
              <a:lnSpc>
                <a:spcPct val="126000"/>
              </a:lnSpc>
              <a:spcBef>
                <a:spcPts val="700"/>
              </a:spcBef>
            </a:pPr>
            <a:r>
              <a:rPr sz="1200" b="0" i="0">
                <a:solidFill>
                  <a:srgbClr val="21295C"/>
                </a:solidFill>
                <a:latin typeface="Arial"/>
              </a:rPr>
              <a:t/>
            </a:r>
            <a:r>
              <a:rPr sz="12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Покупает такой счёт администрация или плательщик, не врач, и «дорого лечится» от «болен» он не отличает.</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1878013"/>
          </a:xfrm>
          <a:prstGeom prst="roundRect">
            <a:avLst>
              <a:gd name="adj" fmla="val 162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Масштаб и знаменатель — порознь.</a:t>
            </a: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603693"/>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Анализ данных: ни в одном разборе не провалилось само чтение</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Постоянство: десятитысячный снимок читается так же, как первый</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Поток: чтение нормы перестаёт занимать специалиста</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Воспроизводимость: один вход даёт один выход, и расхождение можно разобрать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 за порогом стоит цена обеих ошибок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качество входа остаётся человеку без профильной подготовки</a:t>
            </a:r>
          </a:p>
          <a:p>
            <a:pPr algn="l">
              <a:lnSpc>
                <a:spcPct val="126000"/>
              </a:lnSpc>
              <a:spcBef>
                <a:spcPts val="700"/>
              </a:spcBef>
            </a:pPr>
            <a:r>
              <a:rPr sz="1300" b="0" i="0">
                <a:solidFill>
                  <a:srgbClr val="21295C"/>
                </a:solidFill>
                <a:latin typeface="Arial"/>
              </a:rPr>
              <a:t/>
            </a:r>
            <a:r>
              <a:rPr sz="1300" b="0" i="0">
                <a:solidFill>
                  <a:srgbClr val="21295C"/>
                </a:solidFill>
                <a:latin typeface="Arial"/>
              </a:rPr>
              <a:t>• Увидеть, чем измерен вход: смещение прибора модель наследует молча —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Нагрузка выросла на том же месте: у техника появилась работа добиться годного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Появился шаг: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Сменился исполнитель: отбор делал врач, стал делать один балл</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Сместилась цена ошибки на подгруппу, которой в обучающем наборе было мало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Рабочая точка под цену обеих ошибок и пересчёт доли верных тревог под свою группу</a:t>
            </a:r>
          </a:p>
          <a:p>
            <a:pPr algn="l">
              <a:lnSpc>
                <a:spcPct val="126000"/>
              </a:lnSpc>
              <a:spcBef>
                <a:spcPts val="700"/>
              </a:spcBef>
            </a:pPr>
            <a:r>
              <a:rPr sz="1300" b="0" i="0">
                <a:solidFill>
                  <a:srgbClr val="21295C"/>
                </a:solidFill>
                <a:latin typeface="Arial"/>
              </a:rPr>
              <a:t/>
            </a:r>
            <a:r>
              <a:rPr sz="1300" b="0" i="0">
                <a:solidFill>
                  <a:srgbClr val="21295C"/>
                </a:solidFill>
                <a:latin typeface="Arial"/>
              </a:rPr>
              <a:t>• Контроль годности измерения: правило кабинета, и прибор его не заменяет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что система считает своей целью,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59596"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66988"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899092" y="1335024"/>
            <a:ext cx="1200523"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3045396" y="1335024"/>
            <a:ext cx="907915"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099615" y="1335024"/>
            <a:ext cx="436504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45919" y="1335024"/>
            <a:ext cx="407243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464658" y="1335024"/>
            <a:ext cx="318754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10962" y="1335024"/>
            <a:ext cx="289493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359596"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899092" y="1709287"/>
            <a:ext cx="1200523"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45396" y="1709287"/>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099615" y="1709287"/>
            <a:ext cx="436504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45919" y="1709287"/>
            <a:ext cx="4072434"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Таиланд</a:t>
            </a:r>
            <a:r>
              <a:rPr sz="1150" b="0" i="0">
                <a:solidFill>
                  <a:srgbClr val="21295C"/>
                </a:solidFill>
                <a:latin typeface="Arial"/>
              </a:rPr>
              <a:t> · </a:t>
            </a:r>
            <a:r>
              <a:rPr sz="1150" b="1" i="0">
                <a:solidFill>
                  <a:srgbClr val="21295C"/>
                </a:solidFill>
                <a:latin typeface="Arial"/>
              </a:rPr>
              <a:t>кожа и состав набора</a:t>
            </a:r>
            <a:r>
              <a:rPr sz="1150" b="0" i="0">
                <a:solidFill>
                  <a:srgbClr val="21295C"/>
                </a:solidFill>
                <a:latin typeface="Arial"/>
              </a:rPr>
              <a:t> · (отбор)</a:t>
            </a:r>
          </a:p>
        </p:txBody>
      </p:sp>
      <p:sp>
        <p:nvSpPr>
          <p:cNvPr id="19" name="Rectangle 18"/>
          <p:cNvSpPr/>
          <p:nvPr/>
        </p:nvSpPr>
        <p:spPr>
          <a:xfrm>
            <a:off x="8464658" y="1709287"/>
            <a:ext cx="318754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10962" y="1709287"/>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359596"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899092" y="2083551"/>
            <a:ext cx="1200523"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45396" y="2083551"/>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099615" y="2083551"/>
            <a:ext cx="436504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45919" y="2083551"/>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27" name="Rectangle 26"/>
          <p:cNvSpPr/>
          <p:nvPr/>
        </p:nvSpPr>
        <p:spPr>
          <a:xfrm>
            <a:off x="8464658" y="2083551"/>
            <a:ext cx="318754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10962" y="2083551"/>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359596"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899092" y="2457815"/>
            <a:ext cx="1200523"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45396" y="2457815"/>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33" name="Rectangle 32"/>
          <p:cNvSpPr/>
          <p:nvPr/>
        </p:nvSpPr>
        <p:spPr>
          <a:xfrm>
            <a:off x="4099615" y="2457815"/>
            <a:ext cx="436504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45919" y="2457815"/>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464658" y="2457815"/>
            <a:ext cx="318754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10962" y="2457815"/>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359596"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899092" y="2832078"/>
            <a:ext cx="1200523"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45396" y="2832078"/>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099615" y="2832078"/>
            <a:ext cx="436504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45919" y="2832078"/>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464658" y="2832078"/>
            <a:ext cx="318754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10962" y="2832078"/>
            <a:ext cx="289493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расходы вместо болезни</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этот раздел, в скобках — кто занял клетку раньше, прочерк — пусто.</a:t>
            </a:r>
            <a:r>
              <a:rPr sz="1200" b="0" i="0">
                <a:solidFill>
                  <a:srgbClr val="21295C"/>
                </a:solidFill>
                <a:latin typeface="Arial"/>
              </a:rPr>
              <a:t> Занято 4 клетки из 12, новая одна: прогноз.</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за два раздела не двинулись, и читать надо их:</a:t>
            </a:r>
            <a:r>
              <a:rPr sz="1200" b="0" i="0">
                <a:solidFill>
                  <a:srgbClr val="21295C"/>
                </a:solidFill>
                <a:latin typeface="Arial"/>
              </a:rPr>
              <a:t> инструмент такого класса здесь искать незачем.</a:t>
            </a:r>
          </a:p>
        </p:txBody>
      </p:sp>
      <p:sp>
        <p:nvSpPr>
          <p:cNvPr id="47" name="TextBox 46"/>
          <p:cNvSpPr txBox="1"/>
          <p:nvPr/>
        </p:nvSpPr>
        <p:spPr>
          <a:xfrm>
            <a:off x="539496" y="4132497"/>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занята дважды, и провалилось разное:</a:t>
            </a:r>
            <a:r>
              <a:rPr sz="1200" b="0" i="0">
                <a:solidFill>
                  <a:srgbClr val="21295C"/>
                </a:solidFill>
                <a:latin typeface="Arial"/>
              </a:rPr>
              <a:t> в Таиланде — место развёртывания, в дерматологии — состав набора. Отчёт под именем клетки не сказал бы ни о том, ни о другом.</a:t>
            </a:r>
          </a:p>
        </p:txBody>
      </p:sp>
      <p:sp>
        <p:nvSpPr>
          <p:cNvPr id="48" name="TextBox 47"/>
          <p:cNvSpPr txBox="1"/>
          <p:nvPr/>
        </p:nvSpPr>
        <p:spPr>
          <a:xfrm>
            <a:off x="539496" y="476604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Вне окна — одно занятое место:</a:t>
            </a:r>
            <a:r>
              <a:rPr sz="1200" b="0" i="0">
                <a:solidFill>
                  <a:srgbClr val="21295C"/>
                </a:solidFill>
                <a:latin typeface="Arial"/>
              </a:rPr>
              <a:t> </a:t>
            </a:r>
            <a:r>
              <a:rPr sz="1200" b="0" i="1">
                <a:solidFill>
                  <a:srgbClr val="1C7293"/>
                </a:solidFill>
                <a:latin typeface="Arial"/>
              </a:rPr>
              <a:t>измерение · сигнал прибора</a:t>
            </a:r>
            <a:r>
              <a:rPr sz="1200" b="0" i="0">
                <a:solidFill>
                  <a:srgbClr val="21295C"/>
                </a:solidFill>
                <a:latin typeface="Arial"/>
              </a:rPr>
              <a:t>, где обученной модели нет вовсе.</a:t>
            </a:r>
          </a:p>
        </p:txBody>
      </p:sp>
      <p:sp>
        <p:nvSpPr>
          <p:cNvPr id="49" name="Rounded Rectangle 48"/>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автономное чтение без врача</a:t>
            </a:r>
            <a:r>
              <a:rPr sz="1200" b="0" i="0">
                <a:solidFill>
                  <a:srgbClr val="21295C"/>
                </a:solidFill>
                <a:latin typeface="Arial"/>
              </a:rPr>
              <a:t> — LumineticsCore · EyeArt · AEYE-DS</a:t>
            </a:r>
          </a:p>
        </p:txBody>
      </p:sp>
      <p:sp>
        <p:nvSpPr>
          <p:cNvPr id="51" name="Rounded Rectangle 50"/>
          <p:cNvSpPr/>
          <p:nvPr/>
        </p:nvSpPr>
        <p:spPr>
          <a:xfrm>
            <a:off x="630936" y="5629715"/>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54589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оценка кожного образования</a:t>
            </a:r>
            <a:r>
              <a:rPr sz="1200" b="0" i="0">
                <a:solidFill>
                  <a:srgbClr val="21295C"/>
                </a:solidFill>
                <a:latin typeface="Arial"/>
              </a:rPr>
              <a:t> — SkinVision · DermaSensor</a:t>
            </a:r>
          </a:p>
        </p:txBody>
      </p:sp>
      <p:sp>
        <p:nvSpPr>
          <p:cNvPr id="53" name="Rounded Rectangle 52"/>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4" name="TextBox 53"/>
          <p:cNvSpPr txBox="1"/>
          <p:nvPr/>
        </p:nvSpPr>
        <p:spPr>
          <a:xfrm>
            <a:off x="923544" y="5935821"/>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покупает плательщик или администрация, не врач</a:t>
            </a:r>
          </a:p>
        </p:txBody>
      </p:sp>
      <p:sp>
        <p:nvSpPr>
          <p:cNvPr id="55" name="Rectangle 5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6" name="TextBox 5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Полужирным — разборы этого раздела со сверенными числами; в скобках — раздел, занявший клетку раньше</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выносит человек. Читает он теперь не только снимок, но и подсказку модели рядом. Разборы по порядку:</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512246"/>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978928"/>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44561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91229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37897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Семь действий стадии.</a:t>
            </a:r>
            <a:r>
              <a:rPr sz="140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Один приём, женщина тридцати четырёх лет: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 входе</a:t>
            </a:r>
            <a:r>
              <a:rPr sz="1400" b="0" i="0">
                <a:solidFill>
                  <a:srgbClr val="21295C"/>
                </a:solidFill>
                <a:latin typeface="Arial"/>
              </a:rPr>
              <a:t> — кашель три недели · вечерняя температура · минус четыре килограмма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 списке</a:t>
            </a:r>
            <a:r>
              <a:rPr sz="1400" b="0" i="0">
                <a:solidFill>
                  <a:srgbClr val="21295C"/>
                </a:solidFill>
                <a:latin typeface="Arial"/>
              </a:rPr>
              <a:t> — затяжной бронхит · туберкулёз · лимфома · аутоиммунное поражение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различают дешёвым и отсекающим</a:t>
            </a:r>
            <a:r>
              <a:rPr sz="1400" b="0" i="0">
                <a:solidFill>
                  <a:srgbClr val="21295C"/>
                </a:solidFill>
                <a:latin typeface="Arial"/>
              </a:rPr>
              <a:t> — снимок и анализ крови</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через два дня</a:t>
            </a:r>
            <a:r>
              <a:rPr sz="1400" b="0" i="0">
                <a:solidFill>
                  <a:srgbClr val="21295C"/>
                </a:solidFill>
                <a:latin typeface="Arial"/>
              </a:rPr>
              <a:t> — два вычеркнуты, осталось два, которые по снимку не различаются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семи делает человек по записанному правилу.</a:t>
            </a:r>
            <a:r>
              <a:rPr sz="1400" b="0" i="0">
                <a:solidFill>
                  <a:srgbClr val="21295C"/>
                </a:solidFill>
                <a:latin typeface="Arial"/>
              </a:rPr>
              <a:t> Решение не принимается, пока список не сузился.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Обученная модель заняла три действия из семи:</a:t>
            </a:r>
            <a:r>
              <a:rPr sz="1400" b="0" i="0">
                <a:solidFill>
                  <a:srgbClr val="21295C"/>
                </a:solidFill>
                <a:latin typeface="Arial"/>
              </a:rPr>
              <a:t> состав списка (2) · второе чтение (5) · подпись (7). </a:t>
            </a:r>
            <a:r>
              <a:rPr sz="1400" b="1" i="0">
                <a:solidFill>
                  <a:srgbClr val="21295C"/>
                </a:solidFill>
                <a:latin typeface="Arial"/>
              </a:rPr>
              <a:t>Добавилось одно, которого у врача не было: решить, верить ли подсказке.</a:t>
            </a:r>
          </a:p>
          <a:p>
            <a:pPr algn="l">
              <a:lnSpc>
                <a:spcPct val="126000"/>
              </a:lnSpc>
              <a:spcBef>
                <a:spcPts val="700"/>
              </a:spcBef>
            </a:pPr>
            <a:r>
              <a:rPr sz="1400" b="0" i="0">
                <a:solidFill>
                  <a:srgbClr val="21295C"/>
                </a:solidFill>
                <a:latin typeface="Arial"/>
              </a:rPr>
              <a:t/>
            </a:r>
            <a:r>
              <a:rPr sz="1400" b="0" i="0">
                <a:solidFill>
                  <a:srgbClr val="21295C"/>
                </a:solidFill>
                <a:latin typeface="Arial"/>
              </a:rPr>
              <a:t>Ошибка здесь — </a:t>
            </a:r>
            <a:r>
              <a:rPr sz="1400" b="1" i="0">
                <a:solidFill>
                  <a:srgbClr val="21295C"/>
                </a:solidFill>
                <a:latin typeface="Arial"/>
              </a:rPr>
              <a:t>не вписать в список то, что должно было там быть</a:t>
            </a:r>
            <a:r>
              <a:rPr sz="1400" b="0" i="0">
                <a:solidFill>
                  <a:srgbClr val="21295C"/>
                </a:solidFill>
                <a:latin typeface="Arial"/>
              </a:rPr>
              <a:t>: проверки, которая бы это нашла, никто не назначит.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Какую свою гипотезу вы не записали — и как узнали, что её не хватало?</a:t>
            </a:r>
          </a:p>
        </p:txBody>
      </p:sp>
      <p:sp>
        <p:nvSpPr>
          <p:cNvPr id="20" name="Rectangle 19"/>
          <p:cNvSpPr/>
          <p:nvPr/>
        </p:nvSpPr>
        <p:spPr>
          <a:xfrm>
            <a:off x="6091275" y="2478765"/>
            <a:ext cx="9144" cy="368268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 — и на чём оно держится</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848374"/>
          </a:xfrm>
          <a:prstGeom prst="roundRect">
            <a:avLst>
              <a:gd name="adj" fmla="val 1649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Когда второе мнение даёт модель — а первое чтение она же и подсказала — </a:t>
            </a:r>
            <a:r>
              <a:rPr sz="1300" b="1" i="0">
                <a:solidFill>
                  <a:srgbClr val="21295C"/>
                </a:solidFill>
                <a:latin typeface="Arial"/>
              </a:rPr>
              <a:t>два мнения перестают быть независимыми</a:t>
            </a:r>
            <a:r>
              <a:rPr sz="13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Женщина с письмом: её снимок достанется читателю, у которого подсказка уже на экране — а перегородка ставилась ровно против этого.</a:t>
            </a:r>
          </a:p>
          <a:p>
            <a:pPr algn="l">
              <a:lnSpc>
                <a:spcPct val="126000"/>
              </a:lnSpc>
              <a:spcBef>
                <a:spcPts val="700"/>
              </a:spcBef>
            </a:pPr>
            <a:r>
              <a:rPr sz="1300" b="0" i="0">
                <a:solidFill>
                  <a:srgbClr val="21295C"/>
                </a:solidFill>
                <a:latin typeface="Arial"/>
              </a:rPr>
              <a:t/>
            </a:r>
            <a:r>
              <a:rPr sz="1300" b="0" i="0">
                <a:solidFill>
                  <a:srgbClr val="21295C"/>
                </a:solidFill>
                <a:latin typeface="Arial"/>
              </a:rPr>
              <a:t>Рядом тем же устройством держится консилиум.</a:t>
            </a:r>
          </a:p>
          <a:p>
            <a:pPr algn="l">
              <a:lnSpc>
                <a:spcPct val="126000"/>
              </a:lnSpc>
              <a:spcBef>
                <a:spcPts val="700"/>
              </a:spcBef>
            </a:pPr>
            <a:r>
              <a:rPr sz="1300" b="0" i="0">
                <a:solidFill>
                  <a:srgbClr val="21295C"/>
                </a:solidFill>
                <a:latin typeface="Arial"/>
              </a:rPr>
              <a:t/>
            </a:r>
            <a:r>
              <a:rPr sz="13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722517"/>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006845"/>
          </a:xfrm>
          <a:prstGeom prst="roundRect">
            <a:avLst>
              <a:gd name="adj" fmla="val 1013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a:t>
            </a:r>
            <a:r>
              <a:rPr sz="1500" b="1" i="0">
                <a:solidFill>
                  <a:srgbClr val="21295C"/>
                </a:solidFill>
                <a:latin typeface="Arial"/>
              </a:rPr>
              <a:t>53 случаях из ста против 18</a:t>
            </a:r>
            <a:r>
              <a:rPr sz="1500" b="0" i="0">
                <a:solidFill>
                  <a:srgbClr val="21295C"/>
                </a:solidFill>
                <a:latin typeface="Arial"/>
              </a:rPr>
              <a:t>; медиана измерена </a:t>
            </a:r>
            <a:r>
              <a:rPr sz="1500" b="1" i="0">
                <a:solidFill>
                  <a:srgbClr val="21295C"/>
                </a:solidFill>
                <a:latin typeface="Arial"/>
              </a:rPr>
              <a:t>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И ход этот не разгильдяйство, а дешёвый:</a:t>
            </a:r>
            <a:r>
              <a:rPr sz="1500" b="0" i="0">
                <a:solidFill>
                  <a:srgbClr val="21295C"/>
                </a:solidFill>
                <a:latin typeface="Arial"/>
              </a:rPr>
              <a:t> согласившегося с подсказкой при разборе случая оценивают как более разумного, чем отказавшегося. Счёт предъявляется в разделе о том, чем удерживают.</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при верных рекомендациях точность рассуждения </a:t>
            </a:r>
            <a:r>
              <a:rPr sz="1500" b="1" i="0">
                <a:solidFill>
                  <a:srgbClr val="21295C"/>
                </a:solidFill>
                <a:latin typeface="Arial"/>
              </a:rPr>
              <a:t>84,9 из ста</a:t>
            </a:r>
            <a:r>
              <a:rPr sz="1500" b="0" i="0">
                <a:solidFill>
                  <a:srgbClr val="21295C"/>
                </a:solidFill>
                <a:latin typeface="Arial"/>
              </a:rPr>
              <a:t>, при намеренно неверных — </a:t>
            </a:r>
            <a:r>
              <a:rPr sz="1500" b="1" i="0">
                <a:solidFill>
                  <a:srgbClr val="21295C"/>
                </a:solidFill>
                <a:latin typeface="Arial"/>
              </a:rPr>
              <a:t>73,3</a:t>
            </a:r>
            <a:r>
              <a:rPr sz="1500" b="0" i="0">
                <a:solidFill>
                  <a:srgbClr val="21295C"/>
                </a:solidFill>
                <a:latin typeface="Arial"/>
              </a:rPr>
              <a:t>; поправленная разница 14,0 пункта.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44 врача, 264 случая. Ступени не ранжированы по качеству: на каждой есть и выигрыш, и своя слепота.</a:t>
            </a:r>
          </a:p>
        </p:txBody>
      </p:sp>
      <p:sp>
        <p:nvSpPr>
          <p:cNvPr id="20" name="Rectangle 19"/>
          <p:cNvSpPr/>
          <p:nvPr/>
        </p:nvSpPr>
        <p:spPr>
          <a:xfrm>
            <a:off x="6091275" y="3151411"/>
            <a:ext cx="9144" cy="273252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цифровая маммограмма, выход — отметка области с оценкой подозрительности; порог показа — 10 из 100. </a:t>
            </a:r>
            <a:r>
              <a:rPr sz="1500" b="1" i="0">
                <a:solidFill>
                  <a:srgbClr val="21295C"/>
                </a:solidFill>
                <a:latin typeface="Arial"/>
              </a:rPr>
              <a:t>Подсказки подлинные: это вывод коммерчески доступной допущенной системы, и ни имени её, ни обучающих данных работа не называет.</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чтение вторым читателем либо сортировка потока; удержать читателя от сужения поиска режим не умеет.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p:txBody>
      </p:sp>
      <p:sp>
        <p:nvSpPr>
          <p:cNvPr id="14" name="Rectangle 13"/>
          <p:cNvSpPr/>
          <p:nvPr/>
        </p:nvSpPr>
        <p:spPr>
          <a:xfrm>
            <a:off x="6091275" y="2891129"/>
            <a:ext cx="9144" cy="3178335"/>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Зеркало того же замера: подсказка верна, поиск сузился,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МОДЕЛИ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МОДЕЛИ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ста, но незначимо</a:t>
            </a:r>
          </a:p>
        </p:txBody>
      </p:sp>
      <p:sp>
        <p:nvSpPr>
          <p:cNvPr id="12" name="Rounded Rectangle 11"/>
          <p:cNvSpPr/>
          <p:nvPr/>
        </p:nvSpPr>
        <p:spPr>
          <a:xfrm>
            <a:off x="502920" y="2683657"/>
            <a:ext cx="5437479" cy="2120402"/>
          </a:xfrm>
          <a:prstGeom prst="roundRect">
            <a:avLst>
              <a:gd name="adj" fmla="val 1437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доказано</a:t>
            </a:r>
          </a:p>
        </p:txBody>
      </p:sp>
      <p:sp>
        <p:nvSpPr>
          <p:cNvPr id="14" name="TextBox 13"/>
          <p:cNvSpPr txBox="1"/>
          <p:nvPr/>
        </p:nvSpPr>
        <p:spPr>
          <a:xfrm>
            <a:off x="667512"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различение больного и здорового выросло, и прибавка значима</a:t>
            </a:r>
          </a:p>
          <a:p>
            <a:pPr algn="l">
              <a:lnSpc>
                <a:spcPct val="126000"/>
              </a:lnSpc>
            </a:pPr>
            <a:r>
              <a:rPr sz="1450" b="0" i="0">
                <a:solidFill>
                  <a:srgbClr val="21295C"/>
                </a:solidFill>
                <a:latin typeface="Arial"/>
              </a:rPr>
              <a:t>• в нужном месте взгляд задержался дольше: 4,4 → 5,4 секунды</a:t>
            </a:r>
          </a:p>
        </p:txBody>
      </p:sp>
      <p:sp>
        <p:nvSpPr>
          <p:cNvPr id="15" name="Rounded Rectangle 14"/>
          <p:cNvSpPr/>
          <p:nvPr/>
        </p:nvSpPr>
        <p:spPr>
          <a:xfrm>
            <a:off x="6251295" y="2683657"/>
            <a:ext cx="5437479" cy="2120402"/>
          </a:xfrm>
          <a:prstGeom prst="roundRect">
            <a:avLst>
              <a:gd name="adj" fmla="val 14374"/>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доказано</a:t>
            </a:r>
          </a:p>
        </p:txBody>
      </p:sp>
      <p:sp>
        <p:nvSpPr>
          <p:cNvPr id="17" name="TextBox 16"/>
          <p:cNvSpPr txBox="1"/>
          <p:nvPr/>
        </p:nvSpPr>
        <p:spPr>
          <a:xfrm>
            <a:off x="6415887"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прибавка чувствительности значимости не достигла</a:t>
            </a:r>
          </a:p>
          <a:p>
            <a:pPr algn="l">
              <a:lnSpc>
                <a:spcPct val="126000"/>
              </a:lnSpc>
            </a:pPr>
            <a:r>
              <a:rPr sz="1450" b="0" i="0">
                <a:solidFill>
                  <a:srgbClr val="21295C"/>
                </a:solidFill>
                <a:latin typeface="Arial"/>
              </a:rPr>
              <a:t>• специфичность и время чтения не изменились</a:t>
            </a:r>
          </a:p>
          <a:p>
            <a:pPr algn="l">
              <a:lnSpc>
                <a:spcPct val="126000"/>
              </a:lnSpc>
            </a:pPr>
            <a:r>
              <a:rPr sz="1450" b="0" i="0">
                <a:solidFill>
                  <a:srgbClr val="21295C"/>
                </a:solidFill>
                <a:latin typeface="Arial"/>
              </a:rPr>
              <a:t>• «модель сделала врачей лучше» этими данными не держится</a:t>
            </a:r>
          </a:p>
        </p:txBody>
      </p:sp>
      <p:sp>
        <p:nvSpPr>
          <p:cNvPr id="18" name="Rounded Rectangle 17"/>
          <p:cNvSpPr/>
          <p:nvPr/>
        </p:nvSpPr>
        <p:spPr>
          <a:xfrm>
            <a:off x="374904" y="4895500"/>
            <a:ext cx="11441887" cy="1340707"/>
          </a:xfrm>
          <a:prstGeom prst="roundRect">
            <a:avLst>
              <a:gd name="adj" fmla="val 22734"/>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300" b="0" i="0">
                <a:solidFill>
                  <a:srgbClr val="21295C"/>
                </a:solidFill>
                <a:latin typeface="Arial"/>
              </a:rPr>
              <a:t/>
            </a:r>
            <a:r>
              <a:rPr sz="1300" b="1" i="0">
                <a:solidFill>
                  <a:srgbClr val="21295C"/>
                </a:solidFill>
                <a:latin typeface="Arial"/>
              </a:rPr>
              <a:t>Сужение поиска само по себе ни польза, ни вред.</a:t>
            </a:r>
            <a:r>
              <a:rPr sz="1300" b="0" i="0">
                <a:solidFill>
                  <a:srgbClr val="21295C"/>
                </a:solidFill>
                <a:latin typeface="Arial"/>
              </a:rPr>
              <a:t> Знак задаёт правота подсказки, и по сигналу различить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Оговорки.</a:t>
            </a:r>
            <a:r>
              <a:rPr sz="1300" b="0" i="0">
                <a:solidFill>
                  <a:srgbClr val="21295C"/>
                </a:solidFill>
                <a:latin typeface="Arial"/>
              </a:rPr>
              <a:t> Двенадцать радиологов, 3 600 прочтений. Чтение лабораторное: раков в наборе половина. Институциональные интересы с производителями авторы назвали сами.</a:t>
            </a: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 ЖЕ ШАНСЫ В ДОЛЯХ: МОДЕЛЬ ПРАВА → НЕПРАВА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50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восьми верных ответах из десяти без подсказки</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срезов, два чтения</a:t>
            </a:r>
          </a:p>
        </p:txBody>
      </p:sp>
      <p:sp>
        <p:nvSpPr>
          <p:cNvPr id="20" name="Rounded Rectangle 19"/>
          <p:cNvSpPr/>
          <p:nvPr/>
        </p:nvSpPr>
        <p:spPr>
          <a:xfrm>
            <a:off x="374904" y="379177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Спутать два вида опухоли печени — другое лечение и прогноз. Лишняя перепроверка — время специалиста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среза одним патологом; второе мнение субспециалиста.</a:t>
            </a:r>
          </a:p>
        </p:txBody>
      </p:sp>
      <p:sp>
        <p:nvSpPr>
          <p:cNvPr id="22" name="TextBox 21"/>
          <p:cNvSpPr txBox="1"/>
          <p:nvPr/>
        </p:nvSpPr>
        <p:spPr>
          <a:xfrm>
            <a:off x="6278727"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оцифрованный срез, выход — один из двух диагнозов. </a:t>
            </a:r>
            <a:r>
              <a:rPr sz="1500" b="1" i="0">
                <a:solidFill>
                  <a:srgbClr val="21295C"/>
                </a:solidFill>
                <a:latin typeface="Arial"/>
              </a:rPr>
              <a:t>Ассистент исследовательский: ни имени, ни обучающего набора работа не печатает.</a:t>
            </a:r>
            <a:r>
              <a:rPr sz="1500" b="0" i="0">
                <a:solidFill>
                  <a:srgbClr val="21295C"/>
                </a:solidFill>
                <a:latin typeface="Arial"/>
              </a:rPr>
              <a:t>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Симметрия в шансах даёт асимметрию в долях. </a:t>
            </a:r>
            <a:r>
              <a:rPr sz="1500" b="0" i="1">
                <a:solidFill>
                  <a:srgbClr val="21295C"/>
                </a:solidFill>
                <a:latin typeface="Arial"/>
              </a:rPr>
              <a:t>Ступень: смотрит вторым — подсказка выведена одновременно со срезом.</a:t>
            </a:r>
          </a:p>
        </p:txBody>
      </p:sp>
      <p:sp>
        <p:nvSpPr>
          <p:cNvPr id="23" name="Rectangle 22"/>
          <p:cNvSpPr/>
          <p:nvPr/>
        </p:nvSpPr>
        <p:spPr>
          <a:xfrm>
            <a:off x="6091275" y="3883219"/>
            <a:ext cx="9144" cy="21683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6178143"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первым</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под рукой справочником; рассуждение врач начинает сам</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А может, пара всё-таки лучше человека без модели? Три числа на одних задачах отвечают на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 потерянное время. Избыточная проверка — свой риск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врач с обычными справочниками: это база. Разница между врачом одним и врачом с моделью — два пункта, и она </a:t>
            </a:r>
            <a:r>
              <a:rPr sz="1500" b="1" i="0">
                <a:solidFill>
                  <a:srgbClr val="21295C"/>
                </a:solidFill>
                <a:latin typeface="Arial"/>
              </a:rPr>
              <a:t>незначима</a:t>
            </a:r>
            <a:r>
              <a:rPr sz="1500" b="0" i="0">
                <a:solidFill>
                  <a:srgbClr val="21295C"/>
                </a:solidFill>
                <a:latin typeface="Arial"/>
              </a:rPr>
              <a:t>.</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письменное описание случая, выход — разбор словами: гипотезы, обоснование, различающие проверки. </a:t>
            </a:r>
            <a:r>
              <a:rPr sz="1500" b="1" i="0">
                <a:solidFill>
                  <a:srgbClr val="21295C"/>
                </a:solidFill>
                <a:latin typeface="Arial"/>
              </a:rPr>
              <a:t>Какая это модель и на чём обучена — публикация не называет: сказано «большая языковая модель».</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входит </a:t>
            </a:r>
            <a:r>
              <a:rPr sz="1500" b="1" i="0">
                <a:solidFill>
                  <a:srgbClr val="21295C"/>
                </a:solidFill>
                <a:latin typeface="Arial"/>
              </a:rPr>
              <a:t>снизу</a:t>
            </a:r>
            <a:r>
              <a:rPr sz="1500" b="0" i="0">
                <a:solidFill>
                  <a:srgbClr val="21295C"/>
                </a:solidFill>
                <a:latin typeface="Arial"/>
              </a:rPr>
              <a:t>, самостоятельным употреблением врача, минуя закупку.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Прогон «модель одна» равноправной ветвью не был. Пятьдесят врачей, виньетки по реальным случаям: исходов пациентов никто не проверял.</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анализа одного испытания; в одну базу не складываются</a:t>
            </a:r>
          </a:p>
        </p:txBody>
      </p:sp>
      <p:sp>
        <p:nvSpPr>
          <p:cNvPr id="16" name="Rounded Rectangle 15"/>
          <p:cNvSpPr/>
          <p:nvPr/>
        </p:nvSpPr>
        <p:spPr>
          <a:xfrm>
            <a:off x="374904" y="3193884"/>
            <a:ext cx="11441887" cy="2947433"/>
          </a:xfrm>
          <a:prstGeom prst="roundRect">
            <a:avLst>
              <a:gd name="adj" fmla="val 1034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Цена обеих ошибок</a:t>
            </a:r>
            <a:r>
              <a:rPr sz="1400" b="0" i="0">
                <a:solidFill>
                  <a:srgbClr val="21295C"/>
                </a:solidFill>
                <a:latin typeface="Arial"/>
              </a:rPr>
              <a:t> та же, что в разделе про отбор: пропуск — рак, найденный позже; ложный вызов — повторные исследования и месяцы тревоги.</a:t>
            </a:r>
          </a:p>
          <a:p>
            <a:pPr algn="l">
              <a:lnSpc>
                <a:spcPct val="126000"/>
              </a:lnSpc>
              <a:spcBef>
                <a:spcPts val="700"/>
              </a:spcBef>
            </a:pPr>
            <a:r>
              <a:rPr sz="1400" b="0" i="0">
                <a:solidFill>
                  <a:srgbClr val="21295C"/>
                </a:solidFill>
                <a:latin typeface="Arial"/>
              </a:rPr>
              <a:t/>
            </a:r>
            <a:r>
              <a:rPr sz="1400" b="1" i="0">
                <a:solidFill>
                  <a:srgbClr val="21295C"/>
                </a:solidFill>
                <a:latin typeface="Arial"/>
              </a:rPr>
              <a:t>Оба классических режима.</a:t>
            </a:r>
            <a:r>
              <a:rPr sz="1400" b="0" i="0">
                <a:solidFill>
                  <a:srgbClr val="21295C"/>
                </a:solidFill>
                <a:latin typeface="Arial"/>
              </a:rPr>
              <a:t> База сравнения — двойное чтение двумя людьми с арбитражем третьего на разногласиях.</a:t>
            </a:r>
          </a:p>
          <a:p>
            <a:pPr algn="l">
              <a:lnSpc>
                <a:spcPct val="126000"/>
              </a:lnSpc>
              <a:spcBef>
                <a:spcPts val="700"/>
              </a:spcBef>
            </a:pPr>
            <a:r>
              <a:rPr sz="1400" b="0" i="0">
                <a:solidFill>
                  <a:srgbClr val="21295C"/>
                </a:solidFill>
                <a:latin typeface="Arial"/>
              </a:rPr>
              <a:t/>
            </a:r>
            <a:r>
              <a:rPr sz="1400" b="1" i="0">
                <a:solidFill>
                  <a:srgbClr val="21295C"/>
                </a:solidFill>
                <a:latin typeface="Arial"/>
              </a:rPr>
              <a:t>Модель против них.</a:t>
            </a:r>
            <a:r>
              <a:rPr sz="1400" b="0" i="0">
                <a:solidFill>
                  <a:srgbClr val="21295C"/>
                </a:solidFill>
                <a:latin typeface="Arial"/>
              </a:rPr>
              <a:t> Модель читает первой, человек читает сам, разногласие разбирает третий. Прибавка чувствительности </a:t>
            </a:r>
            <a:r>
              <a:rPr sz="1400" b="1" i="0">
                <a:solidFill>
                  <a:srgbClr val="21295C"/>
                </a:solidFill>
                <a:latin typeface="Arial"/>
              </a:rPr>
              <a:t>значима</a:t>
            </a:r>
            <a:r>
              <a:rPr sz="1400" b="0" i="0">
                <a:solidFill>
                  <a:srgbClr val="21295C"/>
                </a:solidFill>
                <a:latin typeface="Arial"/>
              </a:rPr>
              <a:t>: независимость здесь </a:t>
            </a:r>
            <a:r>
              <a:rPr sz="1400" b="1" i="0">
                <a:solidFill>
                  <a:srgbClr val="21295C"/>
                </a:solidFill>
                <a:latin typeface="Arial"/>
              </a:rPr>
              <a:t>перестроена</a:t>
            </a:r>
            <a:r>
              <a:rPr sz="1400" b="0" i="0">
                <a:solidFill>
                  <a:srgbClr val="21295C"/>
                </a:solidFill>
                <a:latin typeface="Arial"/>
              </a:rPr>
              <a:t>, и выиграло устройство процедуры.</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Инструмент тот же, что в разборе выше, и устройство то же:</a:t>
            </a:r>
            <a:r>
              <a:rPr sz="1400" b="0" i="0">
                <a:solidFill>
                  <a:srgbClr val="21295C"/>
                </a:solidFill>
                <a:latin typeface="Arial"/>
              </a:rPr>
              <a:t> вход — снимок скрининга, выход — оценка риска вместо второго человеческого чтения. </a:t>
            </a:r>
            <a:r>
              <a:rPr sz="1400" b="1" i="0">
                <a:solidFill>
                  <a:srgbClr val="21295C"/>
                </a:solidFill>
                <a:latin typeface="Arial"/>
              </a:rPr>
              <a:t>Имени система не получила ни там, ни здесь</a:t>
            </a:r>
            <a:r>
              <a:rPr sz="1400" b="0" i="0">
                <a:solidFill>
                  <a:srgbClr val="21295C"/>
                </a:solidFill>
                <a:latin typeface="Arial"/>
              </a:rPr>
              <a:t>, и на чём обучена — не публикуется. </a:t>
            </a:r>
            <a:r>
              <a:rPr sz="1400" b="0" i="1">
                <a:solidFill>
                  <a:srgbClr val="21295C"/>
                </a:solidFill>
                <a:latin typeface="Arial"/>
              </a:rPr>
              <a:t>Распознавание на изображении.</a:t>
            </a:r>
          </a:p>
          <a:p>
            <a:pPr algn="l">
              <a:lnSpc>
                <a:spcPct val="126000"/>
              </a:lnSpc>
              <a:spcBef>
                <a:spcPts val="700"/>
              </a:spcBef>
            </a:pPr>
            <a:r>
              <a:rPr sz="1150" b="0" i="0">
                <a:solidFill>
                  <a:srgbClr val="21295C"/>
                </a:solidFill>
                <a:latin typeface="Arial"/>
              </a:rPr>
              <a:t/>
            </a:r>
            <a:r>
              <a:rPr sz="1150" b="0" i="1">
                <a:solidFill>
                  <a:srgbClr val="1C7293"/>
                </a:solidFill>
                <a:latin typeface="Arial"/>
              </a:rP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a:t>
            </a:r>
          </a:p>
        </p:txBody>
      </p:sp>
      <p:sp>
        <p:nvSpPr>
          <p:cNvPr id="19" name="Rectangle 18"/>
          <p:cNvSpPr/>
          <p:nvPr/>
        </p:nvSpPr>
        <p:spPr>
          <a:xfrm>
            <a:off x="6091275" y="3285324"/>
            <a:ext cx="9144" cy="2673113"/>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у обеих групп слабеет связь уверенности с правотой.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промах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по единичному промаху.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Выводят подсказку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5839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разбора дали четыре разных исхода: падение · оба знака сразу · нуль · выигрыш. По отдельному испытанию правило не строится — вот оно, собранное из ста шести: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Теперь «помогает ли ИИ» читается как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места в реанимации и без разговора с семьёй; осложнение считают на тридцатый день</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операцию отложат или не сделают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этой половины в тридцатидневном счёте не видно вовсе: человека не оперировали, и сравнивать не с чем</a:t>
            </a:r>
          </a:p>
        </p:txBody>
      </p:sp>
      <p:sp>
        <p:nvSpPr>
          <p:cNvPr id="12" name="Rounded Rectangle 11"/>
          <p:cNvSpPr/>
          <p:nvPr/>
        </p:nvSpPr>
        <p:spPr>
          <a:xfrm>
            <a:off x="502920" y="2894901"/>
            <a:ext cx="5437479" cy="2166611"/>
          </a:xfrm>
          <a:prstGeom prst="roundRect">
            <a:avLst>
              <a:gd name="adj" fmla="val 1406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05034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шкалы риска — на одной выборке с моделью</a:t>
            </a:r>
          </a:p>
        </p:txBody>
      </p:sp>
      <p:sp>
        <p:nvSpPr>
          <p:cNvPr id="14" name="TextBox 13"/>
          <p:cNvSpPr txBox="1"/>
          <p:nvPr/>
        </p:nvSpPr>
        <p:spPr>
          <a:xfrm>
            <a:off x="667512" y="3406528"/>
            <a:ext cx="5108295" cy="149953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физического состояния — 0,8743</a:t>
            </a:r>
          </a:p>
          <a:p>
            <a:pPr algn="l">
              <a:lnSpc>
                <a:spcPct val="126000"/>
              </a:lnSpc>
            </a:pPr>
            <a:r>
              <a:rPr sz="1450" b="0" i="0">
                <a:solidFill>
                  <a:srgbClr val="21295C"/>
                </a:solidFill>
                <a:latin typeface="Arial"/>
              </a:rPr>
              <a:t>• экстренной хирургии — 0,8910</a:t>
            </a:r>
          </a:p>
          <a:p>
            <a:pPr algn="l">
              <a:lnSpc>
                <a:spcPct val="126000"/>
              </a:lnSpc>
            </a:pPr>
            <a:r>
              <a:rPr sz="1450" b="0" i="0">
                <a:solidFill>
                  <a:srgbClr val="21295C"/>
                </a:solidFill>
                <a:latin typeface="Arial"/>
              </a:rPr>
              <a:t>• онлайн-калькулятор — 0,8975</a:t>
            </a:r>
          </a:p>
          <a:p>
            <a:pPr algn="l">
              <a:lnSpc>
                <a:spcPct val="126000"/>
              </a:lnSpc>
            </a:pPr>
            <a:r>
              <a:rPr sz="1450" b="0" i="0">
                <a:solidFill>
                  <a:srgbClr val="21295C"/>
                </a:solidFill>
                <a:latin typeface="Arial"/>
              </a:rPr>
              <a:t>• модель там же — 0,9162</a:t>
            </a:r>
          </a:p>
        </p:txBody>
      </p:sp>
      <p:sp>
        <p:nvSpPr>
          <p:cNvPr id="15" name="Rounded Rectangle 14"/>
          <p:cNvSpPr/>
          <p:nvPr/>
        </p:nvSpPr>
        <p:spPr>
          <a:xfrm>
            <a:off x="6251295" y="2894901"/>
            <a:ext cx="5437479" cy="2166611"/>
          </a:xfrm>
          <a:prstGeom prst="roundRect">
            <a:avLst>
              <a:gd name="adj" fmla="val 1406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05034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Чутьё хирурга — на других 150 случаях</a:t>
            </a:r>
          </a:p>
        </p:txBody>
      </p:sp>
      <p:sp>
        <p:nvSpPr>
          <p:cNvPr id="17" name="TextBox 16"/>
          <p:cNvSpPr txBox="1"/>
          <p:nvPr/>
        </p:nvSpPr>
        <p:spPr>
          <a:xfrm>
            <a:off x="6415887" y="3406528"/>
            <a:ext cx="5108295" cy="149953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судят по описанию случая, 15 врачей</a:t>
            </a:r>
          </a:p>
          <a:p>
            <a:pPr algn="l">
              <a:lnSpc>
                <a:spcPct val="126000"/>
              </a:lnSpc>
            </a:pPr>
            <a:r>
              <a:rPr sz="1450" b="0" i="0">
                <a:solidFill>
                  <a:srgbClr val="21295C"/>
                </a:solidFill>
                <a:latin typeface="Arial"/>
              </a:rPr>
              <a:t>• смертность 0,841 — модель точнее</a:t>
            </a:r>
          </a:p>
          <a:p>
            <a:pPr algn="l">
              <a:lnSpc>
                <a:spcPct val="126000"/>
              </a:lnSpc>
            </a:pPr>
            <a:r>
              <a:rPr sz="1450" b="0" i="0">
                <a:solidFill>
                  <a:srgbClr val="21295C"/>
                </a:solidFill>
                <a:latin typeface="Arial"/>
              </a:rPr>
              <a:t>• септический шок 0,820 — точнее хирург</a:t>
            </a:r>
          </a:p>
        </p:txBody>
      </p:sp>
      <p:sp>
        <p:nvSpPr>
          <p:cNvPr id="18" name="Rounded Rectangle 17"/>
          <p:cNvSpPr/>
          <p:nvPr/>
        </p:nvSpPr>
        <p:spPr>
          <a:xfrm>
            <a:off x="374904" y="5152953"/>
            <a:ext cx="11441887" cy="108325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244393"/>
            <a:ext cx="11112703" cy="99181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Обещано было дважды: разбор, где добавление человека к машине ухудшило результат — у профессиональных медиков. Это он.</a:t>
            </a:r>
          </a:p>
          <a:p>
            <a:pPr algn="l">
              <a:lnSpc>
                <a:spcPct val="126000"/>
              </a:lnSpc>
              <a:spcBef>
                <a:spcPts val="700"/>
              </a:spcBef>
            </a:pPr>
            <a:r>
              <a:rPr sz="1300" b="0" i="0">
                <a:solidFill>
                  <a:srgbClr val="21295C"/>
                </a:solidFill>
                <a:latin typeface="Arial"/>
              </a:rPr>
              <a:t/>
            </a:r>
            <a:r>
              <a:rPr sz="1300" b="1" i="0">
                <a:solidFill>
                  <a:srgbClr val="21295C"/>
                </a:solidFill>
                <a:latin typeface="Arial"/>
              </a:rPr>
              <a:t>Классический режим</a:t>
            </a:r>
            <a:r>
              <a:rPr sz="1300" b="0" i="0">
                <a:solidFill>
                  <a:srgbClr val="21295C"/>
                </a:solidFill>
                <a:latin typeface="Arial"/>
              </a:rPr>
              <a:t> — чем задачу решают без обученной модели: шкала, справочник, процедура, второй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c-статистика</a:t>
            </a:r>
            <a:r>
              <a:rPr sz="1300" b="0" i="0">
                <a:solidFill>
                  <a:srgbClr val="21295C"/>
                </a:solidFill>
                <a:latin typeface="Arial"/>
              </a:rPr>
              <a:t> — насколько уверенно шкала отличает того, с кем беда случится, от того, с кем нет: 0,5 — монетка, 1,0 — без промаха.</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калькулятор POTTER, Annals of Surgery 2018, PMID 30124479</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and Acute Care Surgery 2023, PMID 37314698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0,816</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150 случаев</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ХИРУРГ ОДИН</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a:t>
            </a:r>
          </a:p>
        </p:txBody>
      </p:sp>
      <p:sp>
        <p:nvSpPr>
          <p:cNvPr id="11" name="TextBox 10"/>
          <p:cNvSpPr txBox="1"/>
          <p:nvPr/>
        </p:nvSpPr>
        <p:spPr>
          <a:xfrm>
            <a:off x="3477691"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точнее модели</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ХИРУРГ С ПОДСКАЗКОЙ</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0,712</a:t>
            </a:r>
          </a:p>
        </p:txBody>
      </p:sp>
      <p:sp>
        <p:nvSpPr>
          <p:cNvPr id="15" name="TextBox 14"/>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ниже обеих сторон</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 СРАВНЕНИЯ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пара хуже обеих сторон</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30 хирургов по группам жребием, 30 дней наблюдения</a:t>
            </a:r>
          </a:p>
        </p:txBody>
      </p:sp>
      <p:sp>
        <p:nvSpPr>
          <p:cNvPr id="20" name="Rounded Rectangle 19"/>
          <p:cNvSpPr/>
          <p:nvPr/>
        </p:nvSpPr>
        <p:spPr>
          <a:xfrm>
            <a:off x="374904" y="3193884"/>
            <a:ext cx="11441887" cy="2412723"/>
          </a:xfrm>
          <a:prstGeom prst="roundRect">
            <a:avLst>
              <a:gd name="adj" fmla="val 1263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калькулятор риска перед операцией.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ничего — </a:t>
            </a:r>
            <a:r>
              <a:rPr sz="1500" b="1" i="0">
                <a:solidFill>
                  <a:srgbClr val="21295C"/>
                </a:solidFill>
                <a:latin typeface="Arial"/>
              </a:rPr>
              <a:t>0,834 против 0,833</a:t>
            </a:r>
            <a:r>
              <a:rPr sz="1500" b="0" i="0">
                <a:solidFill>
                  <a:srgbClr val="21295C"/>
                </a:solidFill>
                <a:latin typeface="Arial"/>
              </a:rPr>
              <a:t>.</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Форма восьмая: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Команда, измерившая тройку 92 · 74 · 76, на 70 врачах измерила и </a:t>
            </a:r>
            <a:r>
              <a:rPr sz="1500" b="1" i="0">
                <a:solidFill>
                  <a:srgbClr val="21295C"/>
                </a:solidFill>
                <a:latin typeface="Arial"/>
              </a:rPr>
              <a:t>порядок предъявления: он стоит 8,9 пункта</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Риск оценивался по описаниям случаев, не у койки. Повторения замера нет.</a:t>
            </a:r>
          </a:p>
        </p:txBody>
      </p:sp>
      <p:sp>
        <p:nvSpPr>
          <p:cNvPr id="23" name="Rectangle 22"/>
          <p:cNvSpPr/>
          <p:nvPr/>
        </p:nvSpPr>
        <p:spPr>
          <a:xfrm>
            <a:off x="6091275" y="3285324"/>
            <a:ext cx="9144" cy="213840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and Acute Care Surgery 2023, PMID 37314698</a:t>
            </a:r>
            <a:r>
              <a:rPr sz="1200" b="0" i="1">
                <a:solidFill>
                  <a:srgbClr val="1C7293"/>
                </a:solidFill>
                <a:latin typeface="Arial"/>
              </a:rPr>
              <a:t> · </a:t>
            </a:r>
            <a:r>
              <a:rPr sz="1200" b="0" i="1" u="sng">
                <a:solidFill>
                  <a:srgbClr val="065A82"/>
                </a:solidFill>
                <a:latin typeface="Arial"/>
                <a:hlinkClick r:id="rId3"/>
              </a:rPr>
              <a:t>Эверетт и соавт., порядок предъявления подсказки, npj Digital Medicine 2026;9:409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977569"/>
          </a:xfrm>
          <a:prstGeom prst="roundRect">
            <a:avLst>
              <a:gd name="adj" fmla="val 6123"/>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5487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622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замер</a:t>
            </a:r>
          </a:p>
        </p:txBody>
      </p:sp>
      <p:sp>
        <p:nvSpPr>
          <p:cNvPr id="7" name="Rectangle 6"/>
          <p:cNvSpPr/>
          <p:nvPr/>
        </p:nvSpPr>
        <p:spPr>
          <a:xfrm>
            <a:off x="3894373" y="1335024"/>
            <a:ext cx="42213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4040677" y="1335024"/>
            <a:ext cx="39287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 свидетельства</a:t>
            </a:r>
          </a:p>
        </p:txBody>
      </p:sp>
      <p:sp>
        <p:nvSpPr>
          <p:cNvPr id="9" name="Rectangle 8"/>
          <p:cNvSpPr/>
          <p:nvPr/>
        </p:nvSpPr>
        <p:spPr>
          <a:xfrm>
            <a:off x="8115707" y="1335024"/>
            <a:ext cx="3536491"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8262011" y="1335024"/>
            <a:ext cx="3243883"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на ком и на чём</a:t>
            </a:r>
          </a:p>
        </p:txBody>
      </p:sp>
      <p:sp>
        <p:nvSpPr>
          <p:cNvPr id="11" name="Rectangle 10"/>
          <p:cNvSpPr/>
          <p:nvPr/>
        </p:nvSpPr>
        <p:spPr>
          <a:xfrm>
            <a:off x="539496" y="1763984"/>
            <a:ext cx="3354877" cy="693329"/>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0,712</a:t>
            </a:r>
            <a:r>
              <a:rPr sz="1450" b="0" i="0">
                <a:solidFill>
                  <a:srgbClr val="21295C"/>
                </a:solidFill>
                <a:latin typeface="Arial"/>
              </a:rPr>
              <a:t> против 0,816 и 0,820 — пара ниже обеих сторон</a:t>
            </a:r>
          </a:p>
        </p:txBody>
      </p:sp>
      <p:sp>
        <p:nvSpPr>
          <p:cNvPr id="13" name="Rectangle 12"/>
          <p:cNvSpPr/>
          <p:nvPr/>
        </p:nvSpPr>
        <p:spPr>
          <a:xfrm>
            <a:off x="3894373" y="1763984"/>
            <a:ext cx="4221333" cy="69332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4040677" y="1763984"/>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рандомизированное испытание </a:t>
            </a:r>
            <a:r>
              <a:rPr sz="1450" b="1" i="0">
                <a:solidFill>
                  <a:srgbClr val="21295C"/>
                </a:solidFill>
                <a:latin typeface="Arial"/>
              </a:rPr>
              <a:t>и</a:t>
            </a:r>
            <a:r>
              <a:rPr sz="1450" b="0" i="0">
                <a:solidFill>
                  <a:srgbClr val="21295C"/>
                </a:solidFill>
                <a:latin typeface="Arial"/>
              </a:rPr>
              <a:t> проспективное наблюдение</a:t>
            </a:r>
          </a:p>
        </p:txBody>
      </p:sp>
      <p:sp>
        <p:nvSpPr>
          <p:cNvPr id="15" name="Rectangle 14"/>
          <p:cNvSpPr/>
          <p:nvPr/>
        </p:nvSpPr>
        <p:spPr>
          <a:xfrm>
            <a:off x="8115707" y="1763984"/>
            <a:ext cx="3536491" cy="69332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262011" y="1763984"/>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30 хирургов по группам жребием, 150 случаев, тридцать дней</a:t>
            </a:r>
          </a:p>
        </p:txBody>
      </p:sp>
      <p:sp>
        <p:nvSpPr>
          <p:cNvPr id="17" name="Rectangle 16"/>
          <p:cNvSpPr/>
          <p:nvPr/>
        </p:nvSpPr>
        <p:spPr>
          <a:xfrm>
            <a:off x="539496" y="2457314"/>
            <a:ext cx="3354877" cy="693329"/>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457314"/>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92 · 74 · 76</a:t>
            </a:r>
            <a:r>
              <a:rPr sz="1450" b="0" i="0">
                <a:solidFill>
                  <a:srgbClr val="21295C"/>
                </a:solidFill>
                <a:latin typeface="Arial"/>
              </a:rPr>
              <a:t> — врач с моделью не отличим от врача без неё</a:t>
            </a:r>
          </a:p>
        </p:txBody>
      </p:sp>
      <p:sp>
        <p:nvSpPr>
          <p:cNvPr id="19" name="Rectangle 18"/>
          <p:cNvSpPr/>
          <p:nvPr/>
        </p:nvSpPr>
        <p:spPr>
          <a:xfrm>
            <a:off x="3894373" y="2457314"/>
            <a:ext cx="4221333" cy="693329"/>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4040677" y="2457314"/>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рандомизированное испытание; ветвь «модель одна» — наблюдательная</a:t>
            </a:r>
          </a:p>
        </p:txBody>
      </p:sp>
      <p:sp>
        <p:nvSpPr>
          <p:cNvPr id="21" name="Rectangle 20"/>
          <p:cNvSpPr/>
          <p:nvPr/>
        </p:nvSpPr>
        <p:spPr>
          <a:xfrm>
            <a:off x="8115707" y="2457314"/>
            <a:ext cx="3536491" cy="69332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262011" y="2457314"/>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50 врачей, составленные описания случаев, исходов нет</a:t>
            </a:r>
          </a:p>
        </p:txBody>
      </p:sp>
      <p:sp>
        <p:nvSpPr>
          <p:cNvPr id="23" name="Rectangle 22"/>
          <p:cNvSpPr/>
          <p:nvPr/>
        </p:nvSpPr>
        <p:spPr>
          <a:xfrm>
            <a:off x="539496" y="3150643"/>
            <a:ext cx="3354877" cy="693329"/>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150643"/>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−0,54</a:t>
            </a:r>
            <a:r>
              <a:rPr sz="1450" b="0" i="0">
                <a:solidFill>
                  <a:srgbClr val="21295C"/>
                </a:solidFill>
                <a:latin typeface="Arial"/>
              </a:rPr>
              <a:t> — где модель сильнее, пара хуже модели</a:t>
            </a:r>
          </a:p>
        </p:txBody>
      </p:sp>
      <p:sp>
        <p:nvSpPr>
          <p:cNvPr id="25" name="Rectangle 24"/>
          <p:cNvSpPr/>
          <p:nvPr/>
        </p:nvSpPr>
        <p:spPr>
          <a:xfrm>
            <a:off x="3894373" y="3150643"/>
            <a:ext cx="4221333" cy="693329"/>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4040677" y="3150643"/>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свод с мета-анализом, предрегистрированный</a:t>
            </a:r>
          </a:p>
        </p:txBody>
      </p:sp>
      <p:sp>
        <p:nvSpPr>
          <p:cNvPr id="27" name="Rectangle 26"/>
          <p:cNvSpPr/>
          <p:nvPr/>
        </p:nvSpPr>
        <p:spPr>
          <a:xfrm>
            <a:off x="8115707" y="3150643"/>
            <a:ext cx="3536491" cy="693329"/>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262011" y="3150643"/>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74 работы, 106 опытов; медицинских среди них часть</a:t>
            </a:r>
          </a:p>
        </p:txBody>
      </p:sp>
      <p:sp>
        <p:nvSpPr>
          <p:cNvPr id="29" name="Rectangle 28"/>
          <p:cNvSpPr/>
          <p:nvPr/>
        </p:nvSpPr>
        <p:spPr>
          <a:xfrm>
            <a:off x="539496" y="3843972"/>
            <a:ext cx="3354877" cy="693329"/>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843972"/>
            <a:ext cx="306226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71 → 39</a:t>
            </a:r>
            <a:r>
              <a:rPr sz="1450" b="0" i="0">
                <a:solidFill>
                  <a:srgbClr val="21295C"/>
                </a:solidFill>
                <a:latin typeface="Arial"/>
              </a:rPr>
              <a:t> — тот же читатель при ложной подсказке</a:t>
            </a:r>
          </a:p>
        </p:txBody>
      </p:sp>
      <p:sp>
        <p:nvSpPr>
          <p:cNvPr id="31" name="Rectangle 30"/>
          <p:cNvSpPr/>
          <p:nvPr/>
        </p:nvSpPr>
        <p:spPr>
          <a:xfrm>
            <a:off x="3894373" y="3843972"/>
            <a:ext cx="4221333" cy="693329"/>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4040677" y="3843972"/>
            <a:ext cx="39287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опыт с перекрёстной подачей: читатель против себя</a:t>
            </a:r>
          </a:p>
        </p:txBody>
      </p:sp>
      <p:sp>
        <p:nvSpPr>
          <p:cNvPr id="33" name="Rectangle 32"/>
          <p:cNvSpPr/>
          <p:nvPr/>
        </p:nvSpPr>
        <p:spPr>
          <a:xfrm>
            <a:off x="8115707" y="3843972"/>
            <a:ext cx="3536491" cy="693329"/>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262011" y="3843972"/>
            <a:ext cx="3243883"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10 читателей национальной программы, 60 случаев</a:t>
            </a:r>
          </a:p>
        </p:txBody>
      </p:sp>
      <p:sp>
        <p:nvSpPr>
          <p:cNvPr id="35" name="TextBox 34"/>
          <p:cNvSpPr txBox="1"/>
          <p:nvPr/>
        </p:nvSpPr>
        <p:spPr>
          <a:xfrm>
            <a:off x="539496" y="468360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Один вывод на четыре замера: пара человека и модели не наследует силу сильнейшей стороны.</a:t>
            </a:r>
            <a:r>
              <a:rPr sz="1500" b="0" i="0">
                <a:solidFill>
                  <a:srgbClr val="21295C"/>
                </a:solidFill>
                <a:latin typeface="Arial"/>
              </a:rPr>
              <a:t> Человека одного она обычно обходит — размер эффекта 0,64. Сильнейшую сторону — нет.</a:t>
            </a:r>
          </a:p>
        </p:txBody>
      </p:sp>
      <p:sp>
        <p:nvSpPr>
          <p:cNvPr id="36" name="TextBox 35"/>
          <p:cNvSpPr txBox="1"/>
          <p:nvPr/>
        </p:nvSpPr>
        <p:spPr>
          <a:xfrm>
            <a:off x="539496" y="543409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Исход пациента не измерен ни в одном из четырёх. Выше своего разряда ни одно из этих чисел не утверждает ничего.</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and Acute Care Surgery 2023, PMID 37314698</a:t>
            </a:r>
            <a:r>
              <a:rPr sz="1200" b="0" i="1">
                <a:solidFill>
                  <a:srgbClr val="1C7293"/>
                </a:solidFill>
                <a:latin typeface="Arial"/>
              </a:rPr>
              <a:t> · </a:t>
            </a:r>
            <a:r>
              <a:rPr sz="1200" b="0" i="1" u="sng">
                <a:solidFill>
                  <a:srgbClr val="065A82"/>
                </a:solidFill>
                <a:latin typeface="Arial"/>
                <a:hlinkClick r:id="rId3"/>
              </a:rPr>
              <a:t>тройка: Го и соавт., JAMA Network Open 2024</a:t>
            </a:r>
            <a:r>
              <a:rPr sz="1200" b="0" i="1">
                <a:solidFill>
                  <a:srgbClr val="1C7293"/>
                </a:solidFill>
                <a:latin typeface="Arial"/>
              </a:rPr>
              <a:t> · </a:t>
            </a:r>
            <a:r>
              <a:rPr sz="1200" b="0" i="1" u="sng">
                <a:solidFill>
                  <a:srgbClr val="065A82"/>
                </a:solidFill>
                <a:latin typeface="Arial"/>
                <a:hlinkClick r:id="rId4"/>
              </a:rPr>
              <a:t>свод: Ваккаро и соавт., Nature Human Behaviour 2024</a:t>
            </a:r>
            <a:r>
              <a:rPr sz="1200" b="0" i="1">
                <a:solidFill>
                  <a:srgbClr val="1C7293"/>
                </a:solidFill>
                <a:latin typeface="Arial"/>
              </a:rPr>
              <a:t> · </a:t>
            </a:r>
            <a:r>
              <a:rPr sz="1200" b="0" i="1" u="sng">
                <a:solidFill>
                  <a:srgbClr val="065A82"/>
                </a:solidFill>
                <a:latin typeface="Arial"/>
                <a:hlinkClick r:id="rId5"/>
              </a:rPr>
              <a:t>взгляд: Тайб и соавт., Radiology 2026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Диагноз: один инструмент уронил результат и поднял его — разошлось устройство процедуры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Удержать собственное преимущество: там, где человек был точнее машины, подсказка увела его </a:t>
            </a:r>
            <a:r>
              <a:rPr sz="1500" b="1" i="0">
                <a:solidFill>
                  <a:srgbClr val="21295C"/>
                </a:solidFill>
                <a:latin typeface="Arial"/>
              </a:rPr>
              <a:t>ниже его же уровня</a:t>
            </a:r>
            <a:r>
              <a:rPr sz="1500" b="0" i="0">
                <a:solidFill>
                  <a:srgbClr val="21295C"/>
                </a:solidFill>
                <a:latin typeface="Arial"/>
              </a:rPr>
              <a:t> — 0,712 против 0,820. Объяснимость: упрощённое объяснение неверной рекомендации роняет выбор препарата с </a:t>
            </a:r>
            <a:r>
              <a:rPr sz="1500" b="1" i="0">
                <a:solidFill>
                  <a:srgbClr val="21295C"/>
                </a:solidFill>
                <a:latin typeface="Arial"/>
              </a:rPr>
              <a:t>35,7 до 26,2 из ста</a:t>
            </a:r>
            <a:r>
              <a:rPr sz="1500" b="0" i="0">
                <a:solidFill>
                  <a:srgbClr val="21295C"/>
                </a:solidFill>
                <a:latin typeface="Arial"/>
              </a:rPr>
              <a:t> — ниже работы вообще без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 </a:t>
            </a:r>
            <a:r>
              <a:rPr sz="1500" b="1" i="0">
                <a:solidFill>
                  <a:srgbClr val="21295C"/>
                </a:solidFill>
                <a:latin typeface="Arial"/>
              </a:rPr>
              <a:t>Исполнитель тот же, но стал хуже</a:t>
            </a:r>
            <a:r>
              <a:rPr sz="1500" b="0" i="0">
                <a:solidFill>
                  <a:srgbClr val="21295C"/>
                </a:solidFill>
                <a:latin typeface="Arial"/>
              </a:rPr>
              <a:t> — у хирурга при той же работе просело собственное преимущество.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865372"/>
          </a:xfrm>
          <a:prstGeom prst="roundRect">
            <a:avLst>
              <a:gd name="adj" fmla="val 6264"/>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54328"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6172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393824" y="1335024"/>
            <a:ext cx="2408090"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40128" y="1335024"/>
            <a:ext cx="21154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801914" y="1335024"/>
            <a:ext cx="434530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48218" y="1335024"/>
            <a:ext cx="405269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9147216" y="1335024"/>
            <a:ext cx="2504982"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93520" y="1335024"/>
            <a:ext cx="221237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1854328"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393824" y="1709287"/>
            <a:ext cx="2408090"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40128" y="1709287"/>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801914" y="1709287"/>
            <a:ext cx="434530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48218" y="1709287"/>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подсказка по срезу (отбор · анализ)</a:t>
            </a:r>
          </a:p>
        </p:txBody>
      </p:sp>
      <p:sp>
        <p:nvSpPr>
          <p:cNvPr id="19" name="Rectangle 18"/>
          <p:cNvSpPr/>
          <p:nvPr/>
        </p:nvSpPr>
        <p:spPr>
          <a:xfrm>
            <a:off x="9147216" y="1709287"/>
            <a:ext cx="2504982"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93520" y="1709287"/>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1854328"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393824" y="2083551"/>
            <a:ext cx="2408090"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40128" y="2083551"/>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801914" y="2083551"/>
            <a:ext cx="434530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48218" y="2083551"/>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зеркало · контрольная линия (отбор)</a:t>
            </a:r>
          </a:p>
        </p:txBody>
      </p:sp>
      <p:sp>
        <p:nvSpPr>
          <p:cNvPr id="27" name="Rectangle 26"/>
          <p:cNvSpPr/>
          <p:nvPr/>
        </p:nvSpPr>
        <p:spPr>
          <a:xfrm>
            <a:off x="9147216" y="2083551"/>
            <a:ext cx="2504982"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93520" y="2083551"/>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1854328"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393824" y="2457815"/>
            <a:ext cx="2408090"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40128" y="2457815"/>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измеренная тройка (отбор)</a:t>
            </a:r>
          </a:p>
        </p:txBody>
      </p:sp>
      <p:sp>
        <p:nvSpPr>
          <p:cNvPr id="33" name="Rectangle 32"/>
          <p:cNvSpPr/>
          <p:nvPr/>
        </p:nvSpPr>
        <p:spPr>
          <a:xfrm>
            <a:off x="4801914" y="2457815"/>
            <a:ext cx="434530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48218" y="2457815"/>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9147216" y="2457815"/>
            <a:ext cx="2504982"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93520" y="2457815"/>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1854328"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393824" y="2832078"/>
            <a:ext cx="2408090"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40128" y="2832078"/>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801914" y="2832078"/>
            <a:ext cx="434530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48218" y="2832078"/>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9147216" y="2832078"/>
            <a:ext cx="2504982"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293520" y="2832078"/>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риск до операции (анализ)</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этого раздела, в скобках — кто занял клетку раньше.</a:t>
            </a:r>
            <a:r>
              <a:rPr sz="1200" b="0" i="0">
                <a:solidFill>
                  <a:srgbClr val="21295C"/>
                </a:solidFill>
                <a:latin typeface="Arial"/>
              </a:rPr>
              <a:t> Новых клеток раздел не добавил.</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один класс инструмента — три знака, в одно число не сводятся:</a:t>
            </a:r>
          </a:p>
        </p:txBody>
      </p:sp>
      <p:sp>
        <p:nvSpPr>
          <p:cNvPr id="47" name="Rounded Rectangle 46"/>
          <p:cNvSpPr/>
          <p:nvPr/>
        </p:nvSpPr>
        <p:spPr>
          <a:xfrm>
            <a:off x="630936" y="4216317"/>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132497"/>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замер взгляда</a:t>
            </a:r>
            <a:r>
              <a:rPr sz="1200" b="0" i="0">
                <a:solidFill>
                  <a:srgbClr val="21295C"/>
                </a:solidFill>
                <a:latin typeface="Arial"/>
              </a:rPr>
              <a:t> — чувствительность упала</a:t>
            </a:r>
          </a:p>
        </p:txBody>
      </p:sp>
      <p:sp>
        <p:nvSpPr>
          <p:cNvPr id="49" name="Rounded Rectangle 48"/>
          <p:cNvSpPr/>
          <p:nvPr/>
        </p:nvSpPr>
        <p:spPr>
          <a:xfrm>
            <a:off x="630936" y="4606243"/>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4522423"/>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зеркало</a:t>
            </a:r>
            <a:r>
              <a:rPr sz="1200" b="0" i="0">
                <a:solidFill>
                  <a:srgbClr val="21295C"/>
                </a:solidFill>
                <a:latin typeface="Arial"/>
              </a:rPr>
              <a:t> — поиск сузился так же, различение выросло</a:t>
            </a:r>
          </a:p>
        </p:txBody>
      </p:sp>
      <p:sp>
        <p:nvSpPr>
          <p:cNvPr id="51" name="Rounded Rectangle 50"/>
          <p:cNvSpPr/>
          <p:nvPr/>
        </p:nvSpPr>
        <p:spPr>
          <a:xfrm>
            <a:off x="630936" y="4996168"/>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4912348"/>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контрольная линия</a:t>
            </a:r>
            <a:r>
              <a:rPr sz="1200" b="0" i="0">
                <a:solidFill>
                  <a:srgbClr val="21295C"/>
                </a:solidFill>
                <a:latin typeface="Arial"/>
              </a:rPr>
              <a:t> — пара сильнее обеих сторон</a:t>
            </a:r>
          </a:p>
        </p:txBody>
      </p:sp>
      <p:sp>
        <p:nvSpPr>
          <p:cNvPr id="53" name="TextBox 52"/>
          <p:cNvSpPr txBox="1"/>
          <p:nvPr/>
        </p:nvSpPr>
        <p:spPr>
          <a:xfrm>
            <a:off x="539496" y="530227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из двенадцати неподвижны третий раздел подряд.</a:t>
            </a:r>
            <a:r>
              <a:rPr sz="1200" b="0" i="0">
                <a:solidFill>
                  <a:srgbClr val="21295C"/>
                </a:solidFill>
                <a:latin typeface="Arial"/>
              </a:rPr>
              <a:t> Вне окна — </a:t>
            </a:r>
            <a:r>
              <a:rPr sz="1200" b="0" i="1">
                <a:solidFill>
                  <a:srgbClr val="1C7293"/>
                </a:solidFill>
                <a:latin typeface="Arial"/>
              </a:rPr>
              <a:t>измерение · сигнал прибора</a:t>
            </a:r>
            <a:r>
              <a:rPr sz="1200" b="0" i="0">
                <a:solidFill>
                  <a:srgbClr val="21295C"/>
                </a:solidFill>
                <a:latin typeface="Arial"/>
              </a:rPr>
              <a:t>.</a:t>
            </a:r>
          </a:p>
        </p:txBody>
      </p:sp>
      <p:sp>
        <p:nvSpPr>
          <p:cNvPr id="54" name="Rounded Rectangle 53"/>
          <p:cNvSpPr/>
          <p:nvPr/>
        </p:nvSpPr>
        <p:spPr>
          <a:xfrm>
            <a:off x="630936" y="5776019"/>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5692199"/>
            <a:ext cx="10728655"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изделия занятых клеток — Transpara · Lunit INSIGHT MMG · Annalise · Aidoc · Paige · Abridge · Nabla · Dragon Copilot · POTTER</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состояние меняется — иногда за несколько часов.</a:t>
            </a:r>
          </a:p>
        </p:txBody>
      </p:sp>
      <p:sp>
        <p:nvSpPr>
          <p:cNvPr id="9" name="TextBox 8"/>
          <p:cNvSpPr txBox="1"/>
          <p:nvPr/>
        </p:nvSpPr>
        <p:spPr>
          <a:xfrm>
            <a:off x="704088" y="261333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Кто-то должен заметить перемену раньше, чем она станет очевидной.</a:t>
            </a:r>
          </a:p>
        </p:txBody>
      </p:sp>
      <p:sp>
        <p:nvSpPr>
          <p:cNvPr id="10" name="TextBox 9"/>
          <p:cNvSpPr txBox="1"/>
          <p:nvPr/>
        </p:nvSpPr>
        <p:spPr>
          <a:xfrm>
            <a:off x="704088" y="308001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1" name="TextBox 10"/>
          <p:cNvSpPr txBox="1"/>
          <p:nvPr/>
        </p:nvSpPr>
        <p:spPr>
          <a:xfrm>
            <a:off x="704088" y="384878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считает балл риска непрерывно, по тем же показателям, что снимает дежурная смена</a:t>
            </a:r>
          </a:p>
        </p:txBody>
      </p:sp>
      <p:sp>
        <p:nvSpPr>
          <p:cNvPr id="12" name="TextBox 11"/>
          <p:cNvSpPr txBox="1"/>
          <p:nvPr/>
        </p:nvSpPr>
        <p:spPr>
          <a:xfrm>
            <a:off x="704088" y="461756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прерывает работу тревогой, когда балл переходит порог</a:t>
            </a:r>
          </a:p>
        </p:txBody>
      </p:sp>
      <p:sp>
        <p:nvSpPr>
          <p:cNvPr id="13" name="TextBox 12"/>
          <p:cNvSpPr txBox="1"/>
          <p:nvPr/>
        </p:nvSpPr>
        <p:spPr>
          <a:xfrm>
            <a:off x="704088" y="508424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подача стадии и классический режим, который модель застала на этом месте.</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4086531"/>
          </a:xfrm>
          <a:prstGeom prst="roundRect">
            <a:avLst>
              <a:gd name="adj" fmla="val 745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Сестра идёт по палатам с тележкой: дыхание, пульс, давление, температура — пара минут у постели.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Числа ложатся в бумажный бланк в ногах кровати; обход повторяется через несколько часов.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К утру дорожка измерений готова — и читает её тот, кто пациента ночью не видел.</a:t>
            </a:r>
          </a:p>
          <a:p>
            <a:pPr algn="l">
              <a:lnSpc>
                <a:spcPct val="126000"/>
              </a:lnSpc>
              <a:spcBef>
                <a:spcPts val="700"/>
              </a:spcBef>
            </a:pPr>
            <a:r>
              <a:rPr sz="1350" b="0" i="0">
                <a:solidFill>
                  <a:srgbClr val="21295C"/>
                </a:solidFill>
                <a:latin typeface="Arial"/>
              </a:rPr>
              <a:t/>
            </a:r>
            <a:r>
              <a:rPr sz="1350" b="1" i="0">
                <a:solidFill>
                  <a:srgbClr val="21295C"/>
                </a:solidFill>
                <a:latin typeface="Arial"/>
              </a:rPr>
              <a:t>Шесть действий стадии.</a:t>
            </a:r>
            <a:r>
              <a:rPr sz="1350" b="0" i="0">
                <a:solidFill>
                  <a:srgbClr val="21295C"/>
                </a:solidFill>
                <a:latin typeface="Arial"/>
              </a:rPr>
              <a:t> 1. Снять величины по расписанию · 2. Записать измерение в лист · 3. Перевести отклонения в баллы · 4. Сравнить сумму с порогом · 5. Выполнить назначенное действие · 6. Передать дорожку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Без обученной модели каждое из шести делает человек по таблице</a:t>
            </a:r>
            <a:r>
              <a:rPr sz="135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350" b="0" i="0">
                <a:solidFill>
                  <a:srgbClr val="21295C"/>
                </a:solidFill>
                <a:latin typeface="Arial"/>
              </a:rPr>
              <a:t/>
            </a:r>
            <a:r>
              <a:rPr sz="1350" b="1" i="0">
                <a:solidFill>
                  <a:srgbClr val="21295C"/>
                </a:solidFill>
                <a:latin typeface="Arial"/>
              </a:rPr>
              <a:t>С обученной моделью — три действия из шести:</a:t>
            </a:r>
            <a:r>
              <a:rPr sz="1350" b="0" i="0">
                <a:solidFill>
                  <a:srgbClr val="21295C"/>
                </a:solidFill>
                <a:latin typeface="Arial"/>
              </a:rPr>
              <a:t> счёт балла (3) · сравнение с порогом (4) · назначенное действие (5). Измерение, запись и передача дорожки остались людям.</a:t>
            </a:r>
          </a:p>
          <a:p>
            <a:pPr algn="l">
              <a:lnSpc>
                <a:spcPct val="126000"/>
              </a:lnSpc>
              <a:spcBef>
                <a:spcPts val="700"/>
              </a:spcBef>
            </a:pPr>
            <a:r>
              <a:rPr sz="1350" b="0" i="0">
                <a:solidFill>
                  <a:srgbClr val="21295C"/>
                </a:solidFill>
                <a:latin typeface="Arial"/>
              </a:rPr>
              <a:t/>
            </a:r>
            <a:r>
              <a:rPr sz="1350" b="1" i="0">
                <a:solidFill>
                  <a:srgbClr val="21295C"/>
                </a:solidFill>
                <a:latin typeface="Arial"/>
              </a:rPr>
              <a:t>Новый шаг — разобрать тревогу и отклонить её.</a:t>
            </a:r>
          </a:p>
          <a:p>
            <a:pPr algn="l">
              <a:lnSpc>
                <a:spcPct val="126000"/>
              </a:lnSpc>
              <a:spcBef>
                <a:spcPts val="700"/>
              </a:spcBef>
            </a:pPr>
            <a:r>
              <a:rPr sz="1350" b="0" i="0">
                <a:solidFill>
                  <a:srgbClr val="21295C"/>
                </a:solidFill>
                <a:latin typeface="Arial"/>
              </a:rPr>
              <a:t/>
            </a:r>
            <a:r>
              <a:rPr sz="1350" b="0" i="0">
                <a:solidFill>
                  <a:srgbClr val="21295C"/>
                </a:solidFill>
                <a:latin typeface="Arial"/>
              </a:rPr>
              <a:t>Ухудшение читается по направлению дорожки: 78 → 92 → 104 при падающем давлении говорит больше каждого числа отдельно.</a:t>
            </a:r>
          </a:p>
          <a:p>
            <a:pPr algn="l">
              <a:lnSpc>
                <a:spcPct val="126000"/>
              </a:lnSpc>
              <a:spcBef>
                <a:spcPts val="700"/>
              </a:spcBef>
            </a:pPr>
            <a:r>
              <a:rPr sz="1350" b="0" i="0">
                <a:solidFill>
                  <a:srgbClr val="21295C"/>
                </a:solidFill>
                <a:latin typeface="Arial"/>
              </a:rPr>
              <a:t/>
            </a:r>
            <a:r>
              <a:rPr sz="1350" b="0" i="0">
                <a:solidFill>
                  <a:srgbClr val="21295C"/>
                </a:solidFill>
                <a:latin typeface="Arial"/>
              </a:rPr>
              <a:t>Решение одно и повторяющееся: звать старшего сейчас или на следующем обходе. </a:t>
            </a:r>
            <a:r>
              <a:rPr sz="1350" b="1" i="0">
                <a:solidFill>
                  <a:srgbClr val="21295C"/>
                </a:solidFill>
                <a:latin typeface="Arial"/>
              </a:rPr>
              <a:t>Решает тот, кто видит только запись.</a:t>
            </a:r>
          </a:p>
          <a:p>
            <a:pPr algn="l">
              <a:lnSpc>
                <a:spcPct val="126000"/>
              </a:lnSpc>
              <a:spcBef>
                <a:spcPts val="700"/>
              </a:spcBef>
            </a:pPr>
            <a:r>
              <a:rPr sz="1350" b="0" i="0">
                <a:solidFill>
                  <a:srgbClr val="21295C"/>
                </a:solidFill>
                <a:latin typeface="Arial"/>
              </a:rPr>
              <a:t/>
            </a:r>
            <a:r>
              <a:rPr sz="1350" b="1" i="0">
                <a:solidFill>
                  <a:srgbClr val="21295C"/>
                </a:solidFill>
                <a:latin typeface="Arial"/>
              </a:rPr>
              <a:t>Женщины с письмом в этой палате нет: после письма «норма» за ней не наблюдает никто.</a:t>
            </a:r>
          </a:p>
        </p:txBody>
      </p:sp>
      <p:sp>
        <p:nvSpPr>
          <p:cNvPr id="17" name="Rectangle 16"/>
          <p:cNvSpPr/>
          <p:nvPr/>
        </p:nvSpPr>
        <p:spPr>
          <a:xfrm>
            <a:off x="6091275" y="2241116"/>
            <a:ext cx="9144" cy="392011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502920" y="2478765"/>
            <a:ext cx="5437479"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согласительная комиссия и напечатала на карте</a:t>
            </a:r>
          </a:p>
          <a:p>
            <a:pPr algn="l">
              <a:lnSpc>
                <a:spcPct val="126000"/>
              </a:lnSpc>
            </a:pPr>
            <a:r>
              <a:rPr sz="1450" b="0" i="0">
                <a:solidFill>
                  <a:srgbClr val="21295C"/>
                </a:solidFill>
                <a:latin typeface="Arial"/>
              </a:rPr>
              <a:t>• видно, почему при частоте дыхания 25 выходит ровно три балла</a:t>
            </a:r>
          </a:p>
          <a:p>
            <a:pPr algn="l">
              <a:lnSpc>
                <a:spcPct val="126000"/>
              </a:lnSpc>
            </a:pPr>
            <a:r>
              <a:rPr sz="1450" b="0" i="0">
                <a:solidFill>
                  <a:srgbClr val="21295C"/>
                </a:solidFill>
                <a:latin typeface="Arial"/>
              </a:rPr>
              <a:t>• ошибку правят как ошибку документа: комиссия, новая редакция, адресат возражения</a:t>
            </a:r>
          </a:p>
        </p:txBody>
      </p:sp>
      <p:sp>
        <p:nvSpPr>
          <p:cNvPr id="19" name="Rounded Rectangle 18"/>
          <p:cNvSpPr/>
          <p:nvPr/>
        </p:nvSpPr>
        <p:spPr>
          <a:xfrm>
            <a:off x="6251295" y="2478765"/>
            <a:ext cx="5437479"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263421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и целилась</a:t>
            </a:r>
          </a:p>
        </p:txBody>
      </p:sp>
      <p:sp>
        <p:nvSpPr>
          <p:cNvPr id="21" name="TextBox 20"/>
          <p:cNvSpPr txBox="1"/>
          <p:nvPr/>
        </p:nvSpPr>
        <p:spPr>
          <a:xfrm>
            <a:off x="6415887"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когда показатели уже отклонились, а человеку с сепсисом к этой минуте плохо несколько часов</a:t>
            </a:r>
          </a:p>
          <a:p>
            <a:pPr algn="l">
              <a:lnSpc>
                <a:spcPct val="126000"/>
              </a:lnSpc>
            </a:pPr>
            <a:r>
              <a:rPr sz="1450" b="0" i="0">
                <a:solidFill>
                  <a:srgbClr val="21295C"/>
                </a:solidFill>
                <a:latin typeface="Arial"/>
              </a:rPr>
              <a:t>• груба: один порог на восьмидесятилетнего после операции на брюшной полости и на тридцатилетнего с переломом</a:t>
            </a:r>
          </a:p>
          <a:p>
            <a:pPr algn="l">
              <a:lnSpc>
                <a:spcPct val="126000"/>
              </a:lnSpc>
            </a:pPr>
            <a:r>
              <a:rPr sz="1450" b="0" i="0">
                <a:solidFill>
                  <a:srgbClr val="21295C"/>
                </a:solidFill>
                <a:latin typeface="Arial"/>
              </a:rPr>
              <a:t>• знает шесть величин, снятых сейчас: ни диагноза, ни анализов, ни прошлых госпитализаций</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Шкала — классический режим этой стадии: дальше модель сравнивается именно с ней.</a:t>
            </a:r>
            <a:r>
              <a:rPr sz="1450" b="0" i="0">
                <a:solidFill>
                  <a:srgbClr val="21295C"/>
                </a:solidFill>
                <a:latin typeface="Arial"/>
              </a:rPr>
              <a:t> </a:t>
            </a:r>
            <a:r>
              <a:rPr sz="1450" b="0" i="1">
                <a:solidFill>
                  <a:srgbClr val="21295C"/>
                </a:solidFill>
                <a:latin typeface="Arial"/>
              </a:rPr>
              <a:t>Выходные данные действующей редакции карты не названы — ни года, ни публикации профессионального общества.</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часы задержки лечения: от капельницы с антибиотиком до реанимации</a:t>
            </a:r>
          </a:p>
          <a:p>
            <a:pPr algn="l">
              <a:lnSpc>
                <a:spcPct val="126000"/>
              </a:lnSpc>
            </a:pPr>
            <a:r>
              <a:rPr sz="1350" b="0" i="0">
                <a:solidFill>
                  <a:srgbClr val="21295C"/>
                </a:solidFill>
                <a:latin typeface="Arial"/>
              </a:rPr>
              <a:t>• нераспознанное ухудшение — одна из ведущих причин внутрибольничной смерти</a:t>
            </a:r>
          </a:p>
          <a:p>
            <a:pPr algn="l">
              <a:lnSpc>
                <a:spcPct val="126000"/>
              </a:lnSpc>
            </a:pPr>
            <a:r>
              <a:rPr sz="1350" b="0" i="0">
                <a:solidFill>
                  <a:srgbClr val="21295C"/>
                </a:solidFill>
                <a:latin typeface="Arial"/>
              </a:rPr>
              <a:t>• считается не в деньгах; точное место в ряду причин здесь не названо</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анализы, назначенные «чтобы исключить»</a:t>
            </a:r>
          </a:p>
          <a:p>
            <a:pPr algn="l">
              <a:lnSpc>
                <a:spcPct val="126000"/>
              </a:lnSpc>
            </a:pPr>
            <a:r>
              <a:rPr sz="1350" b="0" i="0">
                <a:solidFill>
                  <a:srgbClr val="21295C"/>
                </a:solidFill>
                <a:latin typeface="Arial"/>
              </a:rPr>
              <a:t>• антибиотик «на всякий случай» — и вклад в устойчивость возбудителя</a:t>
            </a:r>
          </a:p>
          <a:p>
            <a:pPr algn="l">
              <a:lnSpc>
                <a:spcPct val="126000"/>
              </a:lnSpc>
            </a:pPr>
            <a:r>
              <a:rPr sz="1350" b="0" i="0">
                <a:solidFill>
                  <a:srgbClr val="21295C"/>
                </a:solidFill>
                <a:latin typeface="Arial"/>
              </a:rPr>
              <a:t>• время сестры и врача, снятое с другого пациента той же смены</a:t>
            </a:r>
          </a:p>
          <a:p>
            <a:pPr algn="l">
              <a:lnSpc>
                <a:spcPct val="126000"/>
              </a:lnSpc>
            </a:pPr>
            <a:r>
              <a:rPr sz="1350" b="0" i="0">
                <a:solidFill>
                  <a:srgbClr val="21295C"/>
                </a:solidFill>
                <a:latin typeface="Arial"/>
              </a:rPr>
              <a:t>• через сотню повторений — привычка закрывать оповещение не читая</a:t>
            </a:r>
          </a:p>
        </p:txBody>
      </p:sp>
      <p:sp>
        <p:nvSpPr>
          <p:cNvPr id="10" name="Rounded Rectangle 9"/>
          <p:cNvSpPr/>
          <p:nvPr/>
        </p:nvSpPr>
        <p:spPr>
          <a:xfrm>
            <a:off x="374904" y="4535424"/>
            <a:ext cx="11441887" cy="1283891"/>
          </a:xfrm>
          <a:prstGeom prst="roundRect">
            <a:avLst>
              <a:gd name="adj" fmla="val 2374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и та же дежурная смена, и выбор между ними делается по многу раз за ночь.</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Оба классических режима, посчитанные в одной единице — до всякой модели</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У шкалы раннего предупреждения подтверждаются 8 тревог из ста. Остальные 92 сделаны впустую — до всякого машинного обучения.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другие шкалы того же разбора, на той же выборке: 12 и 18 из ста.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Прибор у постели решает другую задачу: порог там выставлен рукой, обученной модели нет вовсе. Доли прибора и шкалы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Сравнивать модель надо с этими числами. Нуля в этом сравнении нет.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27 697 пациентов одной университетской системы, сепсис у 6,6 из ста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301470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информационную систему. Вход — показатели и записи карты, читаемые непрерывно; выход — балл риска и тревога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0,76 и 0,63 — это разница в пригодности.</a:t>
            </a:r>
          </a:p>
        </p:txBody>
      </p:sp>
      <p:sp>
        <p:nvSpPr>
          <p:cNvPr id="18" name="TextBox 17"/>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 0,76 можно опереться при настройке порога; при 0,63 неприемлем либо поток тревог, либо чувствительность.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 </a:t>
            </a:r>
            <a:r>
              <a:rPr sz="1500" b="1" i="0">
                <a:solidFill>
                  <a:srgbClr val="21295C"/>
                </a:solidFill>
                <a:latin typeface="Arial"/>
              </a:rPr>
              <a:t>Обучена на данных пациентов — так пишет разработчик; объёма выборки он не подтверждает.</a:t>
            </a:r>
            <a:r>
              <a:rPr sz="1500" b="0" i="0">
                <a:solidFill>
                  <a:srgbClr val="21295C"/>
                </a:solidFill>
                <a:latin typeface="Arial"/>
              </a:rPr>
              <a:t> </a:t>
            </a:r>
            <a:r>
              <a:rPr sz="1500" b="0" i="1">
                <a:solidFill>
                  <a:srgbClr val="21295C"/>
                </a:solidFill>
                <a:latin typeface="Arial"/>
              </a:rPr>
              <a:t>Прогноз на структурированных данных.</a:t>
            </a:r>
          </a:p>
        </p:txBody>
      </p:sp>
      <p:sp>
        <p:nvSpPr>
          <p:cNvPr id="19" name="Rectangle 18"/>
          <p:cNvSpPr/>
          <p:nvPr/>
        </p:nvSpPr>
        <p:spPr>
          <a:xfrm>
            <a:off x="6091275" y="310614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Пример 1, арифметика: сто госпитализаций, восемнадцать тревог, два подтверждённых случая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занижает измеренное</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 а не госпитализации</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 пресса печатает отозванное до сих пор</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7" name="Rounded Rectangle 16"/>
          <p:cNvSpPr/>
          <p:nvPr/>
        </p:nvSpPr>
        <p:spPr>
          <a:xfrm>
            <a:off x="1920240"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40085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4311220"/>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Знаменатели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Шкала, которую модель заменяла, подтверждалась 8 тревогами из ста; другая шкала того же разбора — 18. Модель из этой полосы не вышла.</a:t>
            </a:r>
          </a:p>
        </p:txBody>
      </p:sp>
      <p:sp>
        <p:nvSpPr>
          <p:cNvPr id="28" name="TextBox 27"/>
          <p:cNvSpPr txBox="1"/>
          <p:nvPr/>
        </p:nvSpPr>
        <p:spPr>
          <a:xfrm>
            <a:off x="6278727"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9" name="Rectangle 28"/>
          <p:cNvSpPr/>
          <p:nvPr/>
        </p:nvSpPr>
        <p:spPr>
          <a:xfrm>
            <a:off x="6091275" y="4402660"/>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другие больницы</a:t>
            </a:r>
          </a:p>
        </p:txBody>
      </p:sp>
      <p:sp>
        <p:nvSpPr>
          <p:cNvPr id="4" name="Rounded Rectangle 3"/>
          <p:cNvSpPr/>
          <p:nvPr/>
        </p:nvSpPr>
        <p:spPr>
          <a:xfrm>
            <a:off x="502920"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a:t>
            </a:r>
          </a:p>
        </p:txBody>
      </p:sp>
      <p:sp>
        <p:nvSpPr>
          <p:cNvPr id="8" name="Rounded Rectangle 7"/>
          <p:cNvSpPr/>
          <p:nvPr/>
        </p:nvSpPr>
        <p:spPr>
          <a:xfrm>
            <a:off x="2394127"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506772"/>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4–8 тревог на подтверждение</a:t>
            </a:r>
          </a:p>
        </p:txBody>
      </p:sp>
      <p:sp>
        <p:nvSpPr>
          <p:cNvPr id="20" name="Rounded Rectangle 19"/>
          <p:cNvSpPr/>
          <p:nvPr/>
        </p:nvSpPr>
        <p:spPr>
          <a:xfrm>
            <a:off x="374904" y="3933236"/>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24676"/>
            <a:ext cx="11112703" cy="22115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данные 2023 года, окно предсказания шесть часов.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проверили проспективно, в четырёх системах: различение выросло, доля подтверждения осталась низкой.</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Форма «нагрузка выросла на том же месте» — та же смена у той же постели; форма «шаг появился» — разбор потока тревог как статья рабочего времени.</a:t>
            </a:r>
          </a:p>
          <a:p>
            <a:pPr algn="l">
              <a:lnSpc>
                <a:spcPct val="126000"/>
              </a:lnSpc>
              <a:spcBef>
                <a:spcPts val="700"/>
              </a:spcBef>
            </a:pPr>
            <a:r>
              <a:rPr sz="1250" b="0" i="0">
                <a:solidFill>
                  <a:srgbClr val="21295C"/>
                </a:solidFill>
                <a:latin typeface="Arial"/>
              </a:rPr>
              <a:t/>
            </a:r>
            <a:r>
              <a:rPr sz="1250" b="0" i="0">
                <a:solidFill>
                  <a:srgbClr val="21295C"/>
                </a:solidFill>
                <a:latin typeface="Arial"/>
              </a:rPr>
              <a:t>Та же постановка перенесена на детей; чисел из того разбора не приводим — полный текст закрыт.</a:t>
            </a:r>
          </a:p>
        </p:txBody>
      </p:sp>
      <p:sp>
        <p:nvSpPr>
          <p:cNvPr id="34" name="TextBox 33"/>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поток тревог в 24 больницах за вирусную эпидемию: </a:t>
            </a:r>
            <a:r>
              <a:rPr sz="1250" b="1" i="0">
                <a:solidFill>
                  <a:srgbClr val="21295C"/>
                </a:solidFill>
                <a:latin typeface="Arial"/>
              </a:rPr>
              <a:t>953 → 1 363 в сутки</a:t>
            </a:r>
          </a:p>
          <a:p>
            <a:pPr algn="l">
              <a:lnSpc>
                <a:spcPct val="126000"/>
              </a:lnSpc>
              <a:spcBef>
                <a:spcPts val="700"/>
              </a:spcBef>
            </a:pPr>
            <a:r>
              <a:rPr sz="1250" b="0" i="0">
                <a:solidFill>
                  <a:srgbClr val="21295C"/>
                </a:solidFill>
                <a:latin typeface="Arial"/>
              </a:rPr>
              <a:t/>
            </a:r>
            <a:r>
              <a:rPr sz="1250" b="0" i="0">
                <a:solidFill>
                  <a:srgbClr val="21295C"/>
                </a:solidFill>
                <a:latin typeface="Arial"/>
              </a:rPr>
              <a:t>• загрузка за тот же период: </a:t>
            </a:r>
            <a:r>
              <a:rPr sz="1250" b="1" i="0">
                <a:solidFill>
                  <a:srgbClr val="21295C"/>
                </a:solidFill>
                <a:latin typeface="Arial"/>
              </a:rPr>
              <a:t>10 159 → 6 634 пациента</a:t>
            </a:r>
            <a:r>
              <a:rPr sz="1250" b="0" i="0">
                <a:solidFill>
                  <a:srgbClr val="21295C"/>
                </a:solidFill>
                <a:latin typeface="Arial"/>
              </a:rPr>
              <a:t>, доля с тревогой </a:t>
            </a:r>
            <a:r>
              <a:rPr sz="1250" b="1" i="0">
                <a:solidFill>
                  <a:srgbClr val="21295C"/>
                </a:solidFill>
                <a:latin typeface="Arial"/>
              </a:rPr>
              <a:t>9 → 21 из ста</a:t>
            </a:r>
          </a:p>
          <a:p>
            <a:pPr algn="l">
              <a:lnSpc>
                <a:spcPct val="126000"/>
              </a:lnSpc>
              <a:spcBef>
                <a:spcPts val="700"/>
              </a:spcBef>
            </a:pPr>
            <a:r>
              <a:rPr sz="1250" b="0" i="0">
                <a:solidFill>
                  <a:srgbClr val="21295C"/>
                </a:solidFill>
                <a:latin typeface="Arial"/>
              </a:rPr>
              <a:t/>
            </a:r>
            <a:r>
              <a:rPr sz="1250" b="1" i="0">
                <a:solidFill>
                  <a:srgbClr val="21295C"/>
                </a:solidFill>
                <a:latin typeface="Arial"/>
              </a:rPr>
              <a:t>Распределение входов сдвинулось, порог остался на месте.</a:t>
            </a:r>
          </a:p>
        </p:txBody>
      </p:sp>
      <p:sp>
        <p:nvSpPr>
          <p:cNvPr id="35" name="Rectangle 34"/>
          <p:cNvSpPr/>
          <p:nvPr/>
        </p:nvSpPr>
        <p:spPr>
          <a:xfrm>
            <a:off x="6091275" y="4781050"/>
            <a:ext cx="9144" cy="1415554"/>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названной базы не предупреждает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98075"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0546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737571" y="1335024"/>
            <a:ext cx="1967277"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883875" y="1335024"/>
            <a:ext cx="167466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704849" y="1335024"/>
            <a:ext cx="2735458"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851153" y="1335024"/>
            <a:ext cx="244285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7440308" y="1335024"/>
            <a:ext cx="421189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586612" y="1335024"/>
            <a:ext cx="39192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198075"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737571" y="1709287"/>
            <a:ext cx="1967277"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83875" y="1709287"/>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704849" y="1709287"/>
            <a:ext cx="2735458"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851153" y="1709287"/>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7440308" y="1709287"/>
            <a:ext cx="421189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586612" y="1709287"/>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198075"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737571" y="2083551"/>
            <a:ext cx="1967277"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83875" y="2083551"/>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704849" y="2083551"/>
            <a:ext cx="2735458"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851153" y="2083551"/>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7440308" y="2083551"/>
            <a:ext cx="421189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586612" y="2083551"/>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198075"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737571" y="2457815"/>
            <a:ext cx="1967277"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83875" y="2457815"/>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33" name="Rectangle 32"/>
          <p:cNvSpPr/>
          <p:nvPr/>
        </p:nvSpPr>
        <p:spPr>
          <a:xfrm>
            <a:off x="4704849" y="2457815"/>
            <a:ext cx="2735458"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851153" y="2457815"/>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7440308" y="2457815"/>
            <a:ext cx="421189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86612" y="2457815"/>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198075"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737571" y="2832078"/>
            <a:ext cx="1967277"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83875" y="2832078"/>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704849" y="2832078"/>
            <a:ext cx="2735458"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851153" y="2832078"/>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7440308" y="2832078"/>
            <a:ext cx="421189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586612" y="2832078"/>
            <a:ext cx="391928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модель раннего предупреждения</a:t>
            </a:r>
            <a:r>
              <a:rPr sz="1150" b="0" i="0">
                <a:solidFill>
                  <a:srgbClr val="21295C"/>
                </a:solidFill>
                <a:latin typeface="Arial"/>
              </a:rPr>
              <a:t> (анализ)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раздела, в скобках — занявшие клетку раньше, прочерк — пусто. Занято 4 из 12 показанных клеток</a:t>
            </a:r>
            <a:r>
              <a:rPr sz="1200" b="0" i="0">
                <a:solidFill>
                  <a:srgbClr val="21295C"/>
                </a:solidFill>
                <a:latin typeface="Arial"/>
              </a:rPr>
              <a:t>, окно курсовой сетки из 42. Новой клетки раздел не добавил.</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Те же восемь клеток пусты четвёртый раздел подряд:</a:t>
            </a:r>
            <a:r>
              <a:rPr sz="1200" b="0" i="0">
                <a:solidFill>
                  <a:srgbClr val="21295C"/>
                </a:solidFill>
                <a:latin typeface="Arial"/>
              </a:rPr>
              <a:t> прочерк говорит столько же, сколько имя — инструмент такого класса здесь искать незачем.</a:t>
            </a:r>
          </a:p>
        </p:txBody>
      </p:sp>
      <p:sp>
        <p:nvSpPr>
          <p:cNvPr id="47" name="TextBox 46"/>
          <p:cNvSpPr txBox="1"/>
          <p:nvPr/>
        </p:nvSpPr>
        <p:spPr>
          <a:xfrm>
            <a:off x="539496" y="4619740"/>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Единственный раздел лекции целиком не на изображении:</a:t>
            </a:r>
            <a:r>
              <a:rPr sz="1200" b="0" i="0">
                <a:solidFill>
                  <a:srgbClr val="21295C"/>
                </a:solidFill>
                <a:latin typeface="Arial"/>
              </a:rPr>
              <a:t> наблюдение считает по числам, уже попавшим в карту.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48" name="Rounded Rectangle 47"/>
          <p:cNvSpPr/>
          <p:nvPr/>
        </p:nvSpPr>
        <p:spPr>
          <a:xfrm>
            <a:off x="630936" y="533710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253287"/>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модуль поставщика карты: действующая версия на решающих деревьях с градиентным бустингом, донастроенных на свою больницу; из зарегистрированных в России — Webiomed</a:t>
            </a:r>
          </a:p>
        </p:txBody>
      </p:sp>
      <p:sp>
        <p:nvSpPr>
          <p:cNvPr id="50" name="Rounded Rectangle 49"/>
          <p:cNvSpPr/>
          <p:nvPr/>
        </p:nvSpPr>
        <p:spPr>
          <a:xfrm>
            <a:off x="630936" y="5970655"/>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88683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надзор за дрейфом и пересчёт порога</a:t>
            </a:r>
            <a:r>
              <a:rPr sz="1200" b="0" i="0">
                <a:solidFill>
                  <a:srgbClr val="21295C"/>
                </a:solidFill>
                <a:latin typeface="Arial"/>
              </a:rPr>
              <a:t> под своё население — отдельный рынок рядом с моделью</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Решение по нему принимает тот, кто пациента не видел.</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24460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37112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Приём на двенадцать минут. Врач спрашивает, смотрит, назначает — и параллельно держит в голове структуру будущей записи. Что не успели, остаётся домашней работой с картой.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Держать структуру в голове · 2. Набрать запись · 3. Вычитать и подписать · 4. Собрать выписной документ · 5. Передать его читателю · 6. Предъявить при разборе случая.</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два действия из шести:</a:t>
            </a:r>
            <a:r>
              <a:rPr sz="1200" b="0" i="0">
                <a:solidFill>
                  <a:srgbClr val="21295C"/>
                </a:solidFill>
                <a:latin typeface="Arial"/>
              </a:rPr>
              <a:t> набор записи (2) · сборка выписного документа (4). Шаг у человека убрали: структуру во время разговора держит инструмент — за лекцию это единственное такое место. Взамен дали новый: вычитать чужой текст и найти то, чего не было.</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до всякой точности.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меньше, чем было</a:t>
            </a:r>
            <a:r>
              <a:rPr sz="1200" b="0" i="0">
                <a:solidFill>
                  <a:srgbClr val="21295C"/>
                </a:solidFill>
                <a:latin typeface="Arial"/>
              </a:rPr>
              <a:t> — читатель назначит заново уже проверенное</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то, чего не было</a:t>
            </a:r>
            <a:r>
              <a:rPr sz="1200" b="0" i="0">
                <a:solidFill>
                  <a:srgbClr val="21295C"/>
                </a:solidFill>
                <a:latin typeface="Arial"/>
              </a:rPr>
              <a:t> — назначит по ложному основанию</a:t>
            </a:r>
          </a:p>
          <a:p>
            <a:pPr algn="l">
              <a:lnSpc>
                <a:spcPct val="126000"/>
              </a:lnSpc>
              <a:spcBef>
                <a:spcPts val="700"/>
              </a:spcBef>
            </a:pPr>
            <a:r>
              <a:rPr sz="1200" b="0" i="0">
                <a:solidFill>
                  <a:srgbClr val="21295C"/>
                </a:solidFill>
                <a:latin typeface="Arial"/>
              </a:rPr>
              <a:t/>
            </a:r>
            <a:r>
              <a:rPr sz="1200" b="1" i="0">
                <a:solidFill>
                  <a:srgbClr val="21295C"/>
                </a:solidFill>
                <a:latin typeface="Arial"/>
              </a:rPr>
              <a:t>Запись о женщине с письмом — заключение по снимку и строка исхода: читает их другой человек со своим вопросом.</a:t>
            </a:r>
          </a:p>
          <a:p>
            <a:pPr algn="l">
              <a:lnSpc>
                <a:spcPct val="126000"/>
              </a:lnSpc>
              <a:spcBef>
                <a:spcPts val="700"/>
              </a:spcBef>
            </a:pPr>
            <a:r>
              <a:rPr sz="1200" b="0" i="0">
                <a:solidFill>
                  <a:srgbClr val="21295C"/>
                </a:solidFill>
                <a:latin typeface="Arial"/>
              </a:rPr>
              <a:t/>
            </a:r>
            <a:r>
              <a:rPr sz="1200" b="1" i="0">
                <a:solidFill>
                  <a:srgbClr val="21295C"/>
                </a:solidFill>
                <a:latin typeface="Arial"/>
              </a:rPr>
              <a:t>Восемнадцать секунд улучшения без инструмента: всякое «стало быстрее» считают против этой величины.</a:t>
            </a:r>
          </a:p>
        </p:txBody>
      </p:sp>
      <p:sp>
        <p:nvSpPr>
          <p:cNvPr id="14" name="Rectangle 13"/>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250" b="0" i="0">
                <a:solidFill>
                  <a:srgbClr val="21295C"/>
                </a:solidFill>
                <a:latin typeface="Arial"/>
              </a:rPr>
              <a:t/>
            </a:r>
            <a:r>
              <a:rPr sz="1250" b="1" i="0">
                <a:solidFill>
                  <a:srgbClr val="21295C"/>
                </a:solidFill>
                <a:latin typeface="Arial"/>
              </a:rPr>
              <a:t>Устроено.</a:t>
            </a:r>
            <a:r>
              <a:rPr sz="1250" b="0" i="0">
                <a:solidFill>
                  <a:srgbClr val="21295C"/>
                </a:solidFill>
                <a:latin typeface="Arial"/>
              </a:rPr>
              <a:t> Вход — звук приёма, выход — черновик под вычитку. </a:t>
            </a:r>
            <a:r>
              <a:rPr sz="1250" b="1" i="0">
                <a:solidFill>
                  <a:srgbClr val="21295C"/>
                </a:solidFill>
                <a:latin typeface="Arial"/>
              </a:rPr>
              <a:t>На чём обучены оба инструмента, препринт не раскрывает, и имён их не печатает тоже:</a:t>
            </a:r>
            <a:r>
              <a:rPr sz="1250" b="0" i="0">
                <a:solidFill>
                  <a:srgbClr val="21295C"/>
                </a:solidFill>
                <a:latin typeface="Arial"/>
              </a:rPr>
              <a:t> в испытании они «первый» и «второй». Режим занимают Abridge, Dragon Copilot, Nabla, Heidi. </a:t>
            </a:r>
            <a:r>
              <a:rPr sz="1250" b="0" i="1">
                <a:solidFill>
                  <a:srgbClr val="21295C"/>
                </a:solidFill>
                <a:latin typeface="Arial"/>
              </a:rPr>
              <a:t>Генерация на тексте.</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Классический режим.</a:t>
            </a:r>
            <a:r>
              <a:rPr sz="1250" b="0" i="0">
                <a:solidFill>
                  <a:srgbClr val="21295C"/>
                </a:solidFill>
                <a:latin typeface="Arial"/>
              </a:rPr>
              <a:t> Врач пишет сам — посчитан контрольной группой. Живой писец — назван и не посчитан.</a:t>
            </a:r>
          </a:p>
        </p:txBody>
      </p:sp>
      <p:sp>
        <p:nvSpPr>
          <p:cNvPr id="20" name="TextBox 19"/>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Заявление и замер считают разные величины:</a:t>
            </a:r>
            <a:r>
              <a:rPr sz="1250" b="0" i="0">
                <a:solidFill>
                  <a:srgbClr val="21295C"/>
                </a:solidFill>
                <a:latin typeface="Arial"/>
              </a:rPr>
              <a:t> время в карте вообще против времени в заметке. Четверть часа экономии не укладывается в четыре минуты работы над заметкой. </a:t>
            </a:r>
            <a:r>
              <a:rPr sz="125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Два продукта одного режима, один дизайн, одно население врачей — и один результат значимый, другой нулевой.</a:t>
            </a:r>
            <a:r>
              <a:rPr sz="1250" b="0" i="0">
                <a:solidFill>
                  <a:srgbClr val="21295C"/>
                </a:solidFill>
                <a:latin typeface="Arial"/>
              </a:rPr>
              <a:t> Измеренный эффект принадлежит реализации, а не классу инструмента.</a:t>
            </a:r>
          </a:p>
          <a:p>
            <a:pPr algn="l">
              <a:lnSpc>
                <a:spcPct val="126000"/>
              </a:lnSpc>
              <a:spcBef>
                <a:spcPts val="700"/>
              </a:spcBef>
            </a:pPr>
            <a:r>
              <a:rPr sz="1250" b="0" i="0">
                <a:solidFill>
                  <a:srgbClr val="21295C"/>
                </a:solidFill>
                <a:latin typeface="Arial"/>
              </a:rPr>
              <a:t/>
            </a:r>
            <a:r>
              <a:rPr sz="12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1" name="Rectangle 20"/>
          <p:cNvSpPr/>
          <p:nvPr/>
        </p:nvSpPr>
        <p:spPr>
          <a:xfrm>
            <a:off x="6091275" y="3700267"/>
            <a:ext cx="9144" cy="2405758"/>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усталость от работы ниже</a:t>
            </a:r>
          </a:p>
        </p:txBody>
      </p:sp>
      <p:sp>
        <p:nvSpPr>
          <p:cNvPr id="8" name="Rounded Rectangle 7"/>
          <p:cNvSpPr/>
          <p:nvPr/>
        </p:nvSpPr>
        <p:spPr>
          <a:xfrm>
            <a:off x="3340531"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вычитку каждого черновика и службу контроля со штатом</a:t>
            </a:r>
          </a:p>
        </p:txBody>
      </p:sp>
      <p:sp>
        <p:nvSpPr>
          <p:cNvPr id="11" name="Rounded Rectangle 10"/>
          <p:cNvSpPr/>
          <p:nvPr/>
        </p:nvSpPr>
        <p:spPr>
          <a:xfrm>
            <a:off x="6178143"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4" name="TextBox 13"/>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день внедрения → сто пятидесятый</a:t>
            </a:r>
          </a:p>
        </p:txBody>
      </p:sp>
      <p:sp>
        <p:nvSpPr>
          <p:cNvPr id="15" name="Rounded Rectangle 14"/>
          <p:cNvSpPr/>
          <p:nvPr/>
        </p:nvSpPr>
        <p:spPr>
          <a:xfrm>
            <a:off x="9015755" y="1335024"/>
            <a:ext cx="2673019" cy="1480733"/>
          </a:xfrm>
          <a:prstGeom prst="roundRect">
            <a:avLst>
              <a:gd name="adj" fmla="val 2058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953221"/>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набор сократился, вычитка появилась, правка та же</a:t>
            </a:r>
          </a:p>
        </p:txBody>
      </p:sp>
      <p:sp>
        <p:nvSpPr>
          <p:cNvPr id="18" name="TextBox 17"/>
          <p:cNvSpPr txBox="1"/>
          <p:nvPr/>
        </p:nvSpPr>
        <p:spPr>
          <a:xfrm>
            <a:off x="502920" y="303521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9" name="Rounded Rectangle 18"/>
          <p:cNvSpPr/>
          <p:nvPr/>
        </p:nvSpPr>
        <p:spPr>
          <a:xfrm>
            <a:off x="1920240"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21" name="Right Arrow 20"/>
          <p:cNvSpPr/>
          <p:nvPr/>
        </p:nvSpPr>
        <p:spPr>
          <a:xfrm>
            <a:off x="6713067" y="316775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36569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1920240"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7" name="Right Arrow 26"/>
          <p:cNvSpPr/>
          <p:nvPr/>
        </p:nvSpPr>
        <p:spPr>
          <a:xfrm>
            <a:off x="4202353" y="378945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30" name="Right Arrow 29"/>
          <p:cNvSpPr/>
          <p:nvPr/>
        </p:nvSpPr>
        <p:spPr>
          <a:xfrm>
            <a:off x="6713067" y="378945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33" name="Right Arrow 32"/>
          <p:cNvSpPr/>
          <p:nvPr/>
        </p:nvSpPr>
        <p:spPr>
          <a:xfrm>
            <a:off x="9223781" y="3789450"/>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2786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7" name="Rounded Rectangle 36"/>
          <p:cNvSpPr/>
          <p:nvPr/>
        </p:nvSpPr>
        <p:spPr>
          <a:xfrm>
            <a:off x="1920240" y="4242030"/>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2002536" y="4287750"/>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9" name="TextBox 38"/>
          <p:cNvSpPr txBox="1"/>
          <p:nvPr/>
        </p:nvSpPr>
        <p:spPr>
          <a:xfrm>
            <a:off x="502920" y="47539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40" name="Rounded Rectangle 39"/>
          <p:cNvSpPr/>
          <p:nvPr/>
        </p:nvSpPr>
        <p:spPr>
          <a:xfrm>
            <a:off x="374904" y="5056683"/>
            <a:ext cx="11441887" cy="11795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148123"/>
            <a:ext cx="11112703" cy="10880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Пятую операцию делает не врач:</a:t>
            </a:r>
            <a:r>
              <a:rPr sz="150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Усталость ниже, а активное время правки то же.</a:t>
            </a:r>
            <a:r>
              <a:rPr sz="1500" b="0" i="0">
                <a:solidFill>
                  <a:srgbClr val="21295C"/>
                </a:solidFill>
                <a:latin typeface="Arial"/>
              </a:rPr>
              <a:t> Сняли другое: необходимость держать структуру документа в голове при живом человеке.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Модель собирает выписной документ; врач вычитывает и подписывает. Шаги и исполнители те же, а по эпикризу назначают в другом месте. </a:t>
            </a:r>
            <a:r>
              <a:rPr sz="1350" b="1" i="0">
                <a:solidFill>
                  <a:srgbClr val="21295C"/>
                </a:solidFill>
                <a:latin typeface="Arial"/>
              </a:rPr>
              <a:t>Вход — история болезни и дневниковые записи госпитализации, выход — черновик повествовательной части; ни имени модели, ни обучающих данных работа не называет.</a:t>
            </a:r>
            <a:r>
              <a:rPr sz="1350" b="0" i="0">
                <a:solidFill>
                  <a:srgbClr val="21295C"/>
                </a:solidFill>
                <a:latin typeface="Arial"/>
              </a:rPr>
              <a:t> </a:t>
            </a:r>
            <a:r>
              <a:rPr sz="1350" b="0" i="1">
                <a:solidFill>
                  <a:srgbClr val="21295C"/>
                </a:solidFill>
                <a:latin typeface="Arial"/>
              </a:rPr>
              <a:t>Генерация на тексте.</a:t>
            </a:r>
          </a:p>
          <a:p>
            <a:pPr algn="l">
              <a:lnSpc>
                <a:spcPct val="126000"/>
              </a:lnSpc>
              <a:spcBef>
                <a:spcPts val="700"/>
              </a:spcBef>
            </a:pPr>
            <a:r>
              <a:rPr sz="1350" b="0" i="0">
                <a:solidFill>
                  <a:srgbClr val="21295C"/>
                </a:solidFill>
                <a:latin typeface="Arial"/>
              </a:rPr>
              <a:t/>
            </a:r>
            <a:r>
              <a:rPr sz="1350" b="1" i="0">
                <a:solidFill>
                  <a:srgbClr val="21295C"/>
                </a:solidFill>
                <a:latin typeface="Arial"/>
              </a:rPr>
              <a:t>Оба классических режима, и посчитан из них один.</a:t>
            </a:r>
            <a:r>
              <a:rPr sz="1350" b="0" i="0">
                <a:solidFill>
                  <a:srgbClr val="21295C"/>
                </a:solidFill>
                <a:latin typeface="Arial"/>
              </a:rPr>
              <a:t> Врач пишет эпикриз сам — посчитан, и это база всех сравнений. Черновик ординатора под подпись лечащего — назван и не посчитан.</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 измерено.</a:t>
            </a:r>
            <a:r>
              <a:rPr sz="1350" b="0" i="0">
                <a:solidFill>
                  <a:srgbClr val="21295C"/>
                </a:solidFill>
                <a:latin typeface="Arial"/>
              </a:rPr>
              <a:t> Сто госпитализаций длиной от трёх до шести дней. 22 врача-рецензента. Каждый документ смотрели двое, и ни один не знал, где машинный текст.</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общее качество сопоставимо</a:t>
            </a:r>
            <a:r>
              <a:rPr sz="1350" b="0" i="0">
                <a:solidFill>
                  <a:srgbClr val="21295C"/>
                </a:solidFill>
                <a:latin typeface="Arial"/>
              </a:rPr>
              <a:t> — 3,67 у врачей против 3,77 у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документ модели короче и связнее</a:t>
            </a:r>
            <a:r>
              <a:rPr sz="1350" b="0" i="0">
                <a:solidFill>
                  <a:srgbClr val="21295C"/>
                </a:solidFill>
                <a:latin typeface="Arial"/>
              </a:rPr>
              <a:t> — и при этом менее полон</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ошибок больше, каждая не страшнее</a:t>
            </a:r>
            <a:r>
              <a:rPr sz="1350" b="0" i="0">
                <a:solidFill>
                  <a:srgbClr val="21295C"/>
                </a:solidFill>
                <a:latin typeface="Arial"/>
              </a:rPr>
              <a:t> — потенциал вреда одной 1,34 против 1,35</a:t>
            </a:r>
          </a:p>
          <a:p>
            <a:pPr algn="l">
              <a:lnSpc>
                <a:spcPct val="126000"/>
              </a:lnSpc>
              <a:spcBef>
                <a:spcPts val="700"/>
              </a:spcBef>
            </a:pPr>
            <a:r>
              <a:rPr sz="1350" b="0" i="0">
                <a:solidFill>
                  <a:srgbClr val="21295C"/>
                </a:solidFill>
                <a:latin typeface="Arial"/>
              </a:rPr>
              <a:t/>
            </a:r>
            <a:r>
              <a:rPr sz="1350" b="1" i="0">
                <a:solidFill>
                  <a:srgbClr val="21295C"/>
                </a:solidFill>
                <a:latin typeface="Arial"/>
              </a:rPr>
              <a:t>Сместилась цена ошибки:</a:t>
            </a:r>
            <a:r>
              <a:rPr sz="1350" b="0" i="0">
                <a:solidFill>
                  <a:srgbClr val="21295C"/>
                </a:solidFill>
                <a:latin typeface="Arial"/>
              </a:rPr>
              <a:t> пишет тот же человек, а стоит пропущенная строка другого.</a:t>
            </a:r>
          </a:p>
        </p:txBody>
      </p:sp>
      <p:sp>
        <p:nvSpPr>
          <p:cNvPr id="19" name="Rectangle 18"/>
          <p:cNvSpPr/>
          <p:nvPr/>
        </p:nvSpPr>
        <p:spPr>
          <a:xfrm>
            <a:off x="6091275" y="3102372"/>
            <a:ext cx="9144" cy="30291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она сменила предмет.</a:t>
            </a:r>
            <a:r>
              <a:rPr sz="1500" b="0" i="0">
                <a:solidFill>
                  <a:srgbClr val="21295C"/>
                </a:solidFill>
                <a:latin typeface="Arial"/>
              </a:rPr>
              <a:t> Прежний глаз настроен на опечатку, на то, что оставляет уставший человек. Искать теперь надо связное и уместное по стилю утверждение, которого в истории болезни не было. Этому чтению никто не учит.</a:t>
            </a:r>
          </a:p>
        </p:txBody>
      </p:sp>
      <p:sp>
        <p:nvSpPr>
          <p:cNvPr id="21" name="TextBox 20"/>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 теперь то, что по этому случаю чаще всего пересказывают.</a:t>
            </a:r>
            <a:r>
              <a:rPr sz="1500" b="0" i="0">
                <a:solidFill>
                  <a:srgbClr val="21295C"/>
                </a:solidFill>
                <a:latin typeface="Arial"/>
              </a:rPr>
              <a:t> В обзорах ходит тройка аккуратных чисел со ссылкой на «исследование ста эпикризов». Построчное чтение трёх первоисточников её не даёт.</a:t>
            </a:r>
          </a:p>
          <a:p>
            <a:pPr algn="l">
              <a:lnSpc>
                <a:spcPct val="126000"/>
              </a:lnSpc>
              <a:spcBef>
                <a:spcPts val="700"/>
              </a:spcBef>
            </a:pPr>
            <a:r>
              <a:rPr sz="1200" b="0" i="0">
                <a:solidFill>
                  <a:srgbClr val="21295C"/>
                </a:solidFill>
                <a:latin typeface="Arial"/>
              </a:rPr>
              <a:t/>
            </a:r>
            <a:r>
              <a:rPr sz="1200" b="0" i="1">
                <a:solidFill>
                  <a:srgbClr val="1C7293"/>
                </a:solidFill>
                <a:latin typeface="Arial"/>
              </a:rPr>
              <a:t>Ссылку проверяют по одному вопросу: считает ли работа ровно эту величину в ровно этих определениях.</a:t>
            </a:r>
          </a:p>
        </p:txBody>
      </p:sp>
      <p:sp>
        <p:nvSpPr>
          <p:cNvPr id="22" name="Rectangle 21"/>
          <p:cNvSpPr/>
          <p:nvPr/>
        </p:nvSpPr>
        <p:spPr>
          <a:xfrm>
            <a:off x="6091275" y="3675747"/>
            <a:ext cx="9144" cy="17524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записи: столько времени в заметке сняли — и это вся измеренная экономия стадии</a:t>
            </a:r>
          </a:p>
        </p:txBody>
      </p:sp>
      <p:sp>
        <p:nvSpPr>
          <p:cNvPr id="5" name="Rounded Rectangle 4"/>
          <p:cNvSpPr/>
          <p:nvPr/>
        </p:nvSpPr>
        <p:spPr>
          <a:xfrm>
            <a:off x="374904" y="1379297"/>
            <a:ext cx="11441887" cy="3511631"/>
          </a:xfrm>
          <a:prstGeom prst="roundRect">
            <a:avLst>
              <a:gd name="adj" fmla="val 8679"/>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Девять с половиной процентов — это у одного инструмента из двух.</a:t>
            </a:r>
            <a:r>
              <a:rPr sz="1500" b="0" i="0">
                <a:solidFill>
                  <a:srgbClr val="21295C"/>
                </a:solidFill>
                <a:latin typeface="Arial"/>
              </a:rPr>
              <a:t> У второго, того же режима и того же дизайна испытания, экономии нет вовсе: измеренный эффект принадлежит реализации, а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Активное время правки не сдвинулось ни у одного из двух.</a:t>
            </a:r>
            <a:r>
              <a:rPr sz="1500" b="0" i="0">
                <a:solidFill>
                  <a:srgbClr val="21295C"/>
                </a:solidFill>
                <a:latin typeface="Arial"/>
              </a:rPr>
              <a:t> Заметка готова к концу приёма, а не к концу дня, и структуру документа больше не надо держать в голове при живом человеке — </a:t>
            </a:r>
            <a:r>
              <a:rPr sz="1500" b="1" i="0">
                <a:solidFill>
                  <a:srgbClr val="21295C"/>
                </a:solidFill>
                <a:latin typeface="Arial"/>
              </a:rPr>
              <a:t>нагрузка переехала с набора текста на вычитку чужого</a:t>
            </a:r>
            <a:r>
              <a:rPr sz="1500" b="0" i="0">
                <a:solidFill>
                  <a:srgbClr val="21295C"/>
                </a:solidFill>
                <a:latin typeface="Arial"/>
              </a:rPr>
              <a:t>, и </a:t>
            </a:r>
            <a:r>
              <a:rPr sz="1500" b="1" i="0">
                <a:solidFill>
                  <a:srgbClr val="21295C"/>
                </a:solidFill>
                <a:latin typeface="Arial"/>
              </a:rPr>
              <a:t>появился шаг</a:t>
            </a:r>
            <a:r>
              <a:rPr sz="1500" b="0" i="0">
                <a:solidFill>
                  <a:srgbClr val="21295C"/>
                </a:solidFill>
                <a:latin typeface="Arial"/>
              </a:rPr>
              <a:t>: выборочный контроль заметок со своим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Заявленную экономию подтвердить нельзя:</a:t>
            </a:r>
            <a:r>
              <a:rPr sz="1500" b="0" i="0">
                <a:solidFill>
                  <a:srgbClr val="21295C"/>
                </a:solidFill>
                <a:latin typeface="Arial"/>
              </a:rPr>
              <a:t> 15 791 час на 63 000 приёмов — без раскрытой методики счёта.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Полнее человека документ не пишет:</a:t>
            </a:r>
            <a:r>
              <a:rPr sz="1500" b="0" i="0">
                <a:solidFill>
                  <a:srgbClr val="21295C"/>
                </a:solidFill>
                <a:latin typeface="Arial"/>
              </a:rPr>
              <a:t> полнота 3,72 против 4,13, ошибок 2,91 против 1,82. </a:t>
            </a:r>
            <a:r>
              <a:rPr sz="1500" b="1" i="0">
                <a:solidFill>
                  <a:srgbClr val="21295C"/>
                </a:solidFill>
                <a:latin typeface="Arial"/>
              </a:rPr>
              <a:t>Сместилась цена ошибки</a:t>
            </a:r>
            <a:r>
              <a:rPr sz="15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врача. Прочерк: вычитке другого рода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 по этому документу назначают — и когда что-то произойдёт, разбирать будут подпись.</a:t>
            </a:r>
          </a:p>
        </p:txBody>
      </p:sp>
      <p:sp>
        <p:nvSpPr>
          <p:cNvPr id="8" name="Rectangle 7"/>
          <p:cNvSpPr/>
          <p:nvPr/>
        </p:nvSpPr>
        <p:spPr>
          <a:xfrm>
            <a:off x="6091275" y="1470737"/>
            <a:ext cx="9144" cy="3237311"/>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21564"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2895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561060" y="1335024"/>
            <a:ext cx="3844444"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707364" y="1335024"/>
            <a:ext cx="355183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6405505" y="1335024"/>
            <a:ext cx="2515794"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51809" y="1335024"/>
            <a:ext cx="222318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921299" y="1335024"/>
            <a:ext cx="2730899"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7603" y="1335024"/>
            <a:ext cx="2438291"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021564"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561060" y="1709287"/>
            <a:ext cx="3844444"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707364" y="1709287"/>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6405505" y="1709287"/>
            <a:ext cx="2515794"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51809" y="1709287"/>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8921299" y="1709287"/>
            <a:ext cx="2730899"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7603" y="1709287"/>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021564"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561060" y="2083551"/>
            <a:ext cx="3844444"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707364" y="2083551"/>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6405505" y="2083551"/>
            <a:ext cx="2515794"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51809" y="2083551"/>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8921299" y="2083551"/>
            <a:ext cx="2730899"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7603" y="2083551"/>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021564"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561060" y="2457815"/>
            <a:ext cx="3844444"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707364" y="2457815"/>
            <a:ext cx="3551836"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запись приёма · эпикриз</a:t>
            </a:r>
            <a:r>
              <a:rPr sz="1150" b="0" i="0">
                <a:solidFill>
                  <a:srgbClr val="21295C"/>
                </a:solidFill>
                <a:latin typeface="Arial"/>
              </a:rPr>
              <a:t> (отбор · диагноз)</a:t>
            </a:r>
          </a:p>
        </p:txBody>
      </p:sp>
      <p:sp>
        <p:nvSpPr>
          <p:cNvPr id="33" name="Rectangle 32"/>
          <p:cNvSpPr/>
          <p:nvPr/>
        </p:nvSpPr>
        <p:spPr>
          <a:xfrm>
            <a:off x="6405505" y="2457815"/>
            <a:ext cx="2515794"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51809" y="2457815"/>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921299" y="2457815"/>
            <a:ext cx="2730899"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7603" y="2457815"/>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021564"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561060" y="2832078"/>
            <a:ext cx="3844444"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707364" y="2832078"/>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6405505" y="2832078"/>
            <a:ext cx="2515794"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551809" y="2832078"/>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921299" y="2832078"/>
            <a:ext cx="2730899"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7603" y="2832078"/>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 · наблюдение)</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разборы этого раздела; светлое в скобках — разделы, занявшие клетку раньше.</a:t>
            </a:r>
            <a:r>
              <a:rPr sz="1200" b="0" i="0">
                <a:solidFill>
                  <a:srgbClr val="21295C"/>
                </a:solidFill>
                <a:latin typeface="Arial"/>
              </a:rPr>
              <a:t> Занято 4 клетки из 12 показанных — окно курсовой сетки из 42.</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 они не двигались с Раздела 2.</a:t>
            </a:r>
            <a:r>
              <a:rPr sz="1200" b="0" i="0">
                <a:solidFill>
                  <a:srgbClr val="21295C"/>
                </a:solidFill>
                <a:latin typeface="Arial"/>
              </a:rPr>
              <a:t> Прочерк не пробел подборки: инструмента такого класса в этом разделе искать незачем.</a:t>
            </a:r>
          </a:p>
        </p:txBody>
      </p:sp>
      <p:sp>
        <p:nvSpPr>
          <p:cNvPr id="47" name="Rounded Rectangle 46"/>
          <p:cNvSpPr/>
          <p:nvPr/>
        </p:nvSpPr>
        <p:spPr>
          <a:xfrm>
            <a:off x="630936" y="4703560"/>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61974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запись приёма в фоне с черновиком заметки</a:t>
            </a:r>
            <a:r>
              <a:rPr sz="1200" b="0" i="0">
                <a:solidFill>
                  <a:srgbClr val="21295C"/>
                </a:solidFill>
                <a:latin typeface="Arial"/>
              </a:rPr>
              <a:t> — Abridge · Dragon Copilot (прежний Nuance DAX) · Nabla · Heidi</a:t>
            </a:r>
          </a:p>
        </p:txBody>
      </p:sp>
      <p:sp>
        <p:nvSpPr>
          <p:cNvPr id="49" name="Rounded Rectangle 48"/>
          <p:cNvSpPr/>
          <p:nvPr/>
        </p:nvSpPr>
        <p:spPr>
          <a:xfrm>
            <a:off x="630936" y="5093486"/>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009666"/>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сборка клинического документа внутри карты</a:t>
            </a:r>
            <a:r>
              <a:rPr sz="1200" b="0" i="0">
                <a:solidFill>
                  <a:srgbClr val="21295C"/>
                </a:solidFill>
                <a:latin typeface="Arial"/>
              </a:rPr>
              <a:t> — сводка событий госпитализации; отдельно — сводка со ссылкой на место в карте-источнике</a:t>
            </a:r>
          </a:p>
        </p:txBody>
      </p:sp>
      <p:sp>
        <p:nvSpPr>
          <p:cNvPr id="51" name="TextBox 50"/>
          <p:cNvSpPr txBox="1"/>
          <p:nvPr/>
        </p:nvSpPr>
        <p:spPr>
          <a:xfrm>
            <a:off x="539496" y="564321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Четыре работы, одна клетка, четыре разные цены ошибки.</a:t>
            </a:r>
            <a:r>
              <a:rPr sz="1200" b="0" i="0">
                <a:solidFill>
                  <a:srgbClr val="21295C"/>
                </a:solidFill>
                <a:latin typeface="Arial"/>
              </a:rPr>
              <a:t> Вход у записи приёма звуковой, а клетка стоит по выходу: подписывают и вычитывают текст.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документом под подписью. Этот — про саму подпись: что она значит и кто проверяет, что подписавший способен возразить машине.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 · 1 определение подходящего человека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с конца: норма есть, а проверки нет</a:t>
            </a:r>
          </a:p>
        </p:txBody>
      </p:sp>
      <p:sp>
        <p:nvSpPr>
          <p:cNvPr id="10" name="TextBox 9"/>
          <p:cNvSpPr txBox="1"/>
          <p:nvPr/>
        </p:nvSpPr>
        <p:spPr>
          <a:xfrm>
            <a:off x="704088" y="4013379"/>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ounded Rectangle 6"/>
          <p:cNvSpPr/>
          <p:nvPr/>
        </p:nvSpPr>
        <p:spPr>
          <a:xfrm>
            <a:off x="439894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9" name="Rounded Rectangle 8"/>
          <p:cNvSpPr/>
          <p:nvPr/>
        </p:nvSpPr>
        <p:spPr>
          <a:xfrm>
            <a:off x="687765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1" name="Rounded Rectangle 10"/>
          <p:cNvSpPr/>
          <p:nvPr/>
        </p:nvSpPr>
        <p:spPr>
          <a:xfrm>
            <a:off x="935636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4" name="Rounded Rectangle 13"/>
          <p:cNvSpPr/>
          <p:nvPr/>
        </p:nvSpPr>
        <p:spPr>
          <a:xfrm>
            <a:off x="1920240"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6" name="Rounded Rectangle 15"/>
          <p:cNvSpPr/>
          <p:nvPr/>
        </p:nvSpPr>
        <p:spPr>
          <a:xfrm>
            <a:off x="439894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18" name="Rounded Rectangle 17"/>
          <p:cNvSpPr/>
          <p:nvPr/>
        </p:nvSpPr>
        <p:spPr>
          <a:xfrm>
            <a:off x="687765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0" name="Rounded Rectangle 19"/>
          <p:cNvSpPr/>
          <p:nvPr/>
        </p:nvSpPr>
        <p:spPr>
          <a:xfrm>
            <a:off x="935636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2" name="TextBox 21"/>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3" name="Rounded Rectangle 22"/>
          <p:cNvSpPr/>
          <p:nvPr/>
        </p:nvSpPr>
        <p:spPr>
          <a:xfrm>
            <a:off x="374904" y="3721968"/>
            <a:ext cx="11441887" cy="2514239"/>
          </a:xfrm>
          <a:prstGeom prst="roundRect">
            <a:avLst>
              <a:gd name="adj" fmla="val 12122"/>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Четверг, кабинет заместителя главного врача. Комиссия разбирает один случай: пациентку выписали через четыре дня, и через сутки она вернулась с осложнением. Двое из сидящих за столом с лечащим врачом вместе не работают. Под каждым заключением в карте стоит фамилия.</a:t>
            </a:r>
          </a:p>
          <a:p>
            <a:pPr algn="l">
              <a:lnSpc>
                <a:spcPct val="126000"/>
              </a:lnSpc>
              <a:spcBef>
                <a:spcPts val="700"/>
              </a:spcBef>
            </a:pPr>
            <a:r>
              <a:rPr sz="1300" b="0" i="0">
                <a:solidFill>
                  <a:srgbClr val="21295C"/>
                </a:solidFill>
                <a:latin typeface="Arial"/>
              </a:rPr>
              <a:t/>
            </a:r>
            <a:r>
              <a:rPr sz="1300" b="1" i="0">
                <a:solidFill>
                  <a:srgbClr val="21295C"/>
                </a:solidFill>
                <a:latin typeface="Arial"/>
              </a:rPr>
              <a:t>Семь действий стадии.</a:t>
            </a:r>
            <a:r>
              <a:rPr sz="13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25" name="TextBox 24"/>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ни одного действия из семи.</a:t>
            </a:r>
            <a:r>
              <a:rPr sz="1300" b="0" i="0">
                <a:solidFill>
                  <a:srgbClr val="21295C"/>
                </a:solidFill>
                <a:latin typeface="Arial"/>
              </a:rPr>
              <a:t> Подписать ей нечем, а оценить её порядок не умеет, пока его не перепишут. Норма добавила восьмое требование, и адресовано оно человеку: мочь возразить и остановить.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Один вопрос:</a:t>
            </a:r>
            <a:r>
              <a:rPr sz="1300" b="0" i="0">
                <a:solidFill>
                  <a:srgbClr val="21295C"/>
                </a:solidFill>
                <a:latin typeface="Arial"/>
              </a:rPr>
              <a:t> соответствовали ли действия врача утверждённым порядкам, стандартам и рекомендациям.</a:t>
            </a:r>
          </a:p>
        </p:txBody>
      </p:sp>
      <p:sp>
        <p:nvSpPr>
          <p:cNvPr id="26" name="Rectangle 25"/>
          <p:cNvSpPr/>
          <p:nvPr/>
        </p:nvSpPr>
        <p:spPr>
          <a:xfrm>
            <a:off x="6091275" y="3813408"/>
            <a:ext cx="9144" cy="24059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315410"/>
          </a:xfrm>
          <a:prstGeom prst="roundRect">
            <a:avLst>
              <a:gd name="adj" fmla="val 13163"/>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11112703" cy="222397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Склонность доверять автомату.</a:t>
            </a:r>
            <a:r>
              <a:rPr sz="1300" b="0" i="0">
                <a:solidFill>
                  <a:srgbClr val="21295C"/>
                </a:solidFill>
                <a:latin typeface="Arial"/>
              </a:rPr>
              <a:t> С моделью точность выше на девять пунктов — и почти половина оставшихся ошибок связана именно с ней. Наблюдалась на всех уровнях квалификации: стаж не защищает.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 вред идут из одного места:</a:t>
            </a:r>
            <a:r>
              <a:rPr sz="1300" b="0" i="0">
                <a:solidFill>
                  <a:srgbClr val="21295C"/>
                </a:solidFill>
                <a:latin typeface="Arial"/>
              </a:rPr>
              <a:t> человек соглашается там, где без подсказки решил бы иначе и правильнее.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считается от остаточных ошибок, а не от всех прочтений.</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 это устроено.</a:t>
            </a:r>
            <a:r>
              <a:rPr sz="1300" b="0" i="0">
                <a:solidFill>
                  <a:srgbClr val="21295C"/>
                </a:solidFill>
                <a:latin typeface="Arial"/>
              </a:rPr>
              <a:t> Вход — серия магнитно-резонансных снимков коленного сустава, выход — заключение о разрыве передней крестообразной связки. </a:t>
            </a:r>
            <a:r>
              <a:rPr sz="1300" b="1" i="0">
                <a:solidFill>
                  <a:srgbClr val="21295C"/>
                </a:solidFill>
                <a:latin typeface="Arial"/>
              </a:rPr>
              <a:t>Ассистент лабораторный: ни имени, ни обучающего набора работа не печатает.</a:t>
            </a:r>
            <a:r>
              <a:rPr sz="1300" b="0" i="0">
                <a:solidFill>
                  <a:srgbClr val="21295C"/>
                </a:solidFill>
                <a:latin typeface="Arial"/>
              </a:rPr>
              <a:t> </a:t>
            </a:r>
            <a:r>
              <a:rPr sz="1300" b="0" i="1">
                <a:solidFill>
                  <a:srgbClr val="21295C"/>
                </a:solidFill>
                <a:latin typeface="Arial"/>
              </a:rPr>
              <a:t>Классификация на изображении.</a:t>
            </a:r>
          </a:p>
          <a:p>
            <a:pPr algn="l">
              <a:lnSpc>
                <a:spcPct val="126000"/>
              </a:lnSpc>
              <a:spcBef>
                <a:spcPts val="700"/>
              </a:spcBef>
            </a:pPr>
            <a:r>
              <a:rPr sz="1300" b="0" i="0">
                <a:solidFill>
                  <a:srgbClr val="21295C"/>
                </a:solidFill>
                <a:latin typeface="Arial"/>
              </a:rPr>
              <a:t/>
            </a:r>
            <a:r>
              <a:rPr sz="13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скрываемой зоне остаются и случаи, где модель права, — поэтому знак итогового эффекта неизвестен.</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у приёма нет и назвать её нечем: к живой работе его не прикладывали. Форму присваивают измерению, расчёту её не присваивают.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для контраста.</a:t>
            </a:r>
            <a:r>
              <a:rPr sz="1500" b="0" i="0">
                <a:solidFill>
                  <a:srgbClr val="21295C"/>
                </a:solidFill>
                <a:latin typeface="Arial"/>
              </a:rPr>
              <a:t> Алгоритмическое планирование смен медсестёр: обученной модели внутри нет — нормы отдыха, квалификации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там, где цена промаха мала, дорогая процедура не окупается.</a:t>
            </a:r>
          </a:p>
        </p:txBody>
      </p:sp>
      <p:sp>
        <p:nvSpPr>
          <p:cNvPr id="15" name="Rectangle 14"/>
          <p:cNvSpPr/>
          <p:nvPr/>
        </p:nvSpPr>
        <p:spPr>
          <a:xfrm>
            <a:off x="6091275" y="2683657"/>
            <a:ext cx="9144" cy="34454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 717</a:t>
            </a:r>
          </a:p>
        </p:txBody>
      </p:sp>
      <p:sp>
        <p:nvSpPr>
          <p:cNvPr id="7" name="TextBox 6"/>
          <p:cNvSpPr txBox="1"/>
          <p:nvPr/>
        </p:nvSpPr>
        <p:spPr>
          <a:xfrm>
            <a:off x="640080"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срез июнь 2024</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ПРОСПЕКТИВНОЕ ИСПЫТАНИЕ</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717</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 из ста</a:t>
            </a:r>
          </a:p>
        </p:txBody>
      </p:sp>
      <p:sp>
        <p:nvSpPr>
          <p:cNvPr id="12" name="Rounded Rectangle 11"/>
          <p:cNvSpPr/>
          <p:nvPr/>
        </p:nvSpPr>
        <p:spPr>
          <a:xfrm>
            <a:off x="6178143"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КАКОЕ-ЛИБО КЛИНИЧЕСКОЕ ИСПЫТАНИЕ</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208 из 717</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 из ста</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своя дата среза</a:t>
            </a:r>
          </a:p>
        </p:txBody>
      </p:sp>
      <p:sp>
        <p:nvSpPr>
          <p:cNvPr id="20" name="Rounded Rectangle 19"/>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11112703"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Этот разбор идёт с конца: сначала то, чем он кончился, а счёт, из которого это сложилось, — следом.</a:t>
            </a:r>
          </a:p>
          <a:p>
            <a:pPr algn="l">
              <a:lnSpc>
                <a:spcPct val="126000"/>
              </a:lnSpc>
              <a:spcBef>
                <a:spcPts val="700"/>
              </a:spcBef>
            </a:pPr>
            <a:r>
              <a:rPr sz="1400" b="0" i="0">
                <a:solidFill>
                  <a:srgbClr val="21295C"/>
                </a:solidFill>
                <a:latin typeface="Arial"/>
              </a:rPr>
              <a:t/>
            </a:r>
            <a:r>
              <a:rPr sz="1400" b="0" i="0">
                <a:solidFill>
                  <a:srgbClr val="21295C"/>
                </a:solidFill>
                <a:latin typeface="Arial"/>
              </a:rPr>
              <a:t>Регулятор требует, чтобы человек оставался финальным звеном. </a:t>
            </a:r>
            <a:r>
              <a:rPr sz="1400" b="0" i="1">
                <a:solidFill>
                  <a:srgbClr val="21295C"/>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400" b="0" i="0">
                <a:solidFill>
                  <a:srgbClr val="21295C"/>
                </a:solidFill>
                <a:latin typeface="Arial"/>
              </a:rPr>
              <a:t/>
            </a:r>
            <a:r>
              <a:rPr sz="1400" b="1" i="0">
                <a:solidFill>
                  <a:srgbClr val="21295C"/>
                </a:solidFill>
                <a:latin typeface="Arial"/>
              </a:rPr>
              <a:t>Норма описывает способность вмешаться; присутствия человека при каждом решении она не требует.</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Предмет здесь другой:</a:t>
            </a:r>
            <a:r>
              <a:rPr sz="1400" b="0" i="0">
                <a:solidFill>
                  <a:srgbClr val="21295C"/>
                </a:solidFill>
                <a:latin typeface="Arial"/>
              </a:rPr>
              <a:t> разбирается не изделие, а поданная регуляторам документация. Вход проверки — заявленное назначение и клинические данные изделия, выход — допуск. </a:t>
            </a:r>
            <a:r>
              <a:rPr sz="1400" b="1" i="0">
                <a:solidFill>
                  <a:srgbClr val="21295C"/>
                </a:solidFill>
                <a:latin typeface="Arial"/>
              </a:rPr>
              <a:t>Имён свод не печатает ни у одного из 717:</a:t>
            </a:r>
            <a:r>
              <a:rPr sz="1400" b="0" i="0">
                <a:solidFill>
                  <a:srgbClr val="21295C"/>
                </a:solidFill>
                <a:latin typeface="Arial"/>
              </a:rPr>
              <a:t> он считает процедуры, а не марки.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Знаменатели держим врозь:</a:t>
            </a:r>
            <a:r>
              <a:rPr sz="1400" b="0" i="0">
                <a:solidFill>
                  <a:srgbClr val="21295C"/>
                </a:solidFill>
                <a:latin typeface="Arial"/>
              </a:rPr>
              <a:t> 717 — изделия с доступной документацией, 950 — все допущенные; лучевых среди них 723, то есть 76 из ста.</a:t>
            </a:r>
          </a:p>
          <a:p>
            <a:pPr algn="l">
              <a:lnSpc>
                <a:spcPct val="126000"/>
              </a:lnSpc>
              <a:spcBef>
                <a:spcPts val="700"/>
              </a:spcBef>
            </a:pPr>
            <a:r>
              <a:rPr sz="1400" b="0" i="0">
                <a:solidFill>
                  <a:srgbClr val="21295C"/>
                </a:solidFill>
                <a:latin typeface="Arial"/>
              </a:rPr>
              <a:t/>
            </a:r>
            <a:r>
              <a:rPr sz="14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как к этому пришли: двойное чтение в минутах труда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3340531"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4,6 раза дольше</a:t>
            </a:r>
          </a:p>
        </p:txBody>
      </p:sp>
      <p:sp>
        <p:nvSpPr>
          <p:cNvPr id="15" name="TextBox 14"/>
          <p:cNvSpPr txBox="1"/>
          <p:nvPr/>
        </p:nvSpPr>
        <p:spPr>
          <a:xfrm>
            <a:off x="6315303"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медианам; по средним в 2,75</a:t>
            </a:r>
          </a:p>
        </p:txBody>
      </p:sp>
      <p:sp>
        <p:nvSpPr>
          <p:cNvPr id="16" name="Rounded Rectangle 15"/>
          <p:cNvSpPr/>
          <p:nvPr/>
        </p:nvSpPr>
        <p:spPr>
          <a:xfrm>
            <a:off x="9015755"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+53 процента</a:t>
            </a:r>
          </a:p>
        </p:txBody>
      </p:sp>
      <p:sp>
        <p:nvSpPr>
          <p:cNvPr id="19" name="TextBox 18"/>
          <p:cNvSpPr txBox="1"/>
          <p:nvPr/>
        </p:nvSpPr>
        <p:spPr>
          <a:xfrm>
            <a:off x="9152915"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20" name="Rounded Rectangle 19"/>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Теперь счёт, из которого эта подпись сложилась.</a:t>
            </a:r>
          </a:p>
          <a:p>
            <a:pPr algn="l">
              <a:lnSpc>
                <a:spcPct val="126000"/>
              </a:lnSpc>
              <a:spcBef>
                <a:spcPts val="700"/>
              </a:spcBef>
            </a:pPr>
            <a:r>
              <a:rPr sz="1250" b="0" i="0">
                <a:solidFill>
                  <a:srgbClr val="21295C"/>
                </a:solidFill>
                <a:latin typeface="Arial"/>
              </a:rPr>
              <a:t/>
            </a:r>
            <a:r>
              <a:rPr sz="1250" b="1" i="0">
                <a:solidFill>
                  <a:srgbClr val="21295C"/>
                </a:solidFill>
                <a:latin typeface="Arial"/>
              </a:rPr>
              <a:t>Цена обеих ошибок у подписи.</a:t>
            </a:r>
            <a:r>
              <a:rPr sz="1250" b="0" i="0">
                <a:solidFill>
                  <a:srgbClr val="21295C"/>
                </a:solidFill>
                <a:latin typeface="Arial"/>
              </a:rPr>
              <a:t> И пропущенный диагноз, и лишнее вмешательство: подпись человеческая, а платит исходом пациент.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Классических режимов два, и счёт у них разный.</a:t>
            </a:r>
            <a:r>
              <a:rPr sz="1250" b="0" i="0">
                <a:solidFill>
                  <a:srgbClr val="21295C"/>
                </a:solidFill>
                <a:latin typeface="Arial"/>
              </a:rPr>
              <a:t> Один читатель без арбитража — назван и своего числа не имеет. Двое с арбитражем — посчитаны, и сразу в двух единицах.</a:t>
            </a:r>
          </a:p>
        </p:txBody>
      </p:sp>
      <p:sp>
        <p:nvSpPr>
          <p:cNvPr id="22" name="TextBox 21"/>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Первая единица — чувствительность, доля найденного среди больных.</a:t>
            </a:r>
            <a:r>
              <a:rPr sz="1250" b="0" i="0">
                <a:solidFill>
                  <a:srgbClr val="21295C"/>
                </a:solidFill>
                <a:latin typeface="Arial"/>
              </a:rPr>
              <a:t> С выявляемостью её путать нельзя: в той же программе это около шести находок на тысячу обследованных.</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Вторая единица — минуты труда, и без неё экономия на чтении не считается.</a:t>
            </a:r>
            <a:r>
              <a:rPr sz="1250" b="0" i="0">
                <a:solidFill>
                  <a:srgbClr val="21295C"/>
                </a:solidFill>
                <a:latin typeface="Arial"/>
              </a:rPr>
              <a:t> База: 441 276 первичных прочтений, то есть около 219 тысяч обследований, каждое читают двое; 16 центров.</a:t>
            </a:r>
          </a:p>
          <a:p>
            <a:pPr algn="l">
              <a:lnSpc>
                <a:spcPct val="126000"/>
              </a:lnSpc>
              <a:spcBef>
                <a:spcPts val="700"/>
              </a:spcBef>
            </a:pPr>
            <a:r>
              <a:rPr sz="1250" b="0" i="0">
                <a:solidFill>
                  <a:srgbClr val="21295C"/>
                </a:solidFill>
                <a:latin typeface="Arial"/>
              </a:rPr>
              <a:t/>
            </a:r>
            <a:r>
              <a:rPr sz="1250" b="1" i="0">
                <a:solidFill>
                  <a:srgbClr val="21295C"/>
                </a:solidFill>
                <a:latin typeface="Arial"/>
              </a:rPr>
              <a:t>Разброс произносится вместе со средним:</a:t>
            </a:r>
            <a:r>
              <a:rPr sz="1250" b="0" i="0">
                <a:solidFill>
                  <a:srgbClr val="21295C"/>
                </a:solidFill>
                <a:latin typeface="Arial"/>
              </a:rPr>
              <a:t> протоколы арбитража разные, и устройство нового шага само задаёт нагрузку.</a:t>
            </a:r>
          </a:p>
          <a:p>
            <a:pPr algn="l">
              <a:lnSpc>
                <a:spcPct val="126000"/>
              </a:lnSpc>
              <a:spcBef>
                <a:spcPts val="700"/>
              </a:spcBef>
            </a:pPr>
            <a:r>
              <a:rPr sz="1250" b="0" i="0">
                <a:solidFill>
                  <a:srgbClr val="21295C"/>
                </a:solidFill>
                <a:latin typeface="Arial"/>
              </a:rPr>
              <a:t/>
            </a:r>
            <a:r>
              <a:rPr sz="1250" b="1" i="0">
                <a:solidFill>
                  <a:srgbClr val="21295C"/>
                </a:solidFill>
                <a:latin typeface="Arial"/>
              </a:rPr>
              <a:t>Экономия на одном шаге не обязана компенсировать рост другого.</a:t>
            </a:r>
          </a:p>
        </p:txBody>
      </p:sp>
      <p:sp>
        <p:nvSpPr>
          <p:cNvPr id="23" name="Rectangle 22"/>
          <p:cNvSpPr/>
          <p:nvPr/>
        </p:nvSpPr>
        <p:spPr>
          <a:xfrm>
            <a:off x="6091275" y="3700267"/>
            <a:ext cx="9144" cy="2494658"/>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3267963"/>
          </a:xfrm>
          <a:prstGeom prst="roundRect">
            <a:avLst>
              <a:gd name="adj" fmla="val 9326"/>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5373471"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 </a:t>
            </a:r>
            <a:r>
              <a:rPr sz="1500" b="1" i="0">
                <a:solidFill>
                  <a:srgbClr val="21295C"/>
                </a:solidFill>
                <a:latin typeface="Arial"/>
              </a:rPr>
              <a:t>Шов между контролем и ответственностью проходит по подписи врача.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во что обходится несогласие.</a:t>
            </a:r>
            <a:r>
              <a:rPr sz="1500" b="0" i="0">
                <a:solidFill>
                  <a:srgbClr val="21295C"/>
                </a:solidFill>
                <a:latin typeface="Arial"/>
              </a:rPr>
              <a:t> Врача, принявшего подсказку в пользу стандартного лечения, оценивают как более разумного, чем отвергнувшего её. Так оценивают и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то есть та сторона, которую порядок и назначает разбирать случай. При нестандартной рекомендации разницы нет.</a:t>
            </a:r>
          </a:p>
        </p:txBody>
      </p:sp>
      <p:sp>
        <p:nvSpPr>
          <p:cNvPr id="15" name="TextBox 14"/>
          <p:cNvSpPr txBox="1"/>
          <p:nvPr/>
        </p:nvSpPr>
        <p:spPr>
          <a:xfrm>
            <a:off x="6278727" y="3059684"/>
            <a:ext cx="5373471" cy="317652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и четвёртая ступень:</a:t>
            </a:r>
            <a:r>
              <a:rPr sz="1500" b="0" i="0">
                <a:solidFill>
                  <a:srgbClr val="21295C"/>
                </a:solidFill>
                <a:latin typeface="Arial"/>
              </a:rPr>
              <a:t> «подписывает не глядя» — не разгильдяйство, а дешёвый ход в заданном порядке разбора. Не согласиться и ошибиться дороже, чем подписать.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а проверка способности её нести — нет: 56 изделий из 717.</a:t>
            </a:r>
          </a:p>
          <a:p>
            <a:pPr algn="l">
              <a:lnSpc>
                <a:spcPct val="126000"/>
              </a:lnSpc>
              <a:spcBef>
                <a:spcPts val="700"/>
              </a:spcBef>
            </a:pPr>
            <a:r>
              <a:rPr sz="1500" b="0" i="0">
                <a:solidFill>
                  <a:srgbClr val="21295C"/>
                </a:solidFill>
                <a:latin typeface="Arial"/>
              </a:rPr>
              <a:t/>
            </a:r>
            <a:r>
              <a:rPr sz="1500" b="1" i="0">
                <a:solidFill>
                  <a:srgbClr val="21295C"/>
                </a:solidFill>
                <a:latin typeface="Arial"/>
              </a:rPr>
              <a:t>Соберут комиссию по случаю женщины с письмом — оценивать будут действия человека: вопроса о модели в списке нет.</a:t>
            </a:r>
          </a:p>
        </p:txBody>
      </p:sp>
      <p:sp>
        <p:nvSpPr>
          <p:cNvPr id="16" name="Rectangle 15"/>
          <p:cNvSpPr/>
          <p:nvPr/>
        </p:nvSpPr>
        <p:spPr>
          <a:xfrm>
            <a:off x="6091275" y="3059684"/>
            <a:ext cx="9144" cy="3059511"/>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соавторы, How Following Medical AI Advice Can Mitigate Malpractice Liability, Journal of Nuclear Medicine 2026;67(9):1474–1480 — рандомизированное испытание: 248 немецких врачей и взрослые двух стран</a:t>
            </a:r>
            <a:r>
              <a:rPr sz="1200" b="0" i="1">
                <a:solidFill>
                  <a:srgbClr val="1C7293"/>
                </a:solidFill>
                <a:latin typeface="Arial"/>
              </a:rPr>
              <a:t> · </a:t>
            </a:r>
            <a:r>
              <a:rPr sz="1200" b="0" i="1" u="sng">
                <a:solidFill>
                  <a:srgbClr val="065A82"/>
                </a:solidFill>
                <a:latin typeface="Arial"/>
                <a:hlinkClick r:id="rId3"/>
              </a:rPr>
              <a:t>предшественник, Tobia и соавторы, там же 2021;62(1):17–21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ОПРЕДЕЛЕНИЕ</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тот, кто сделает это сам, без модели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с квалификацией и подготовкой, достаточными для той же услуги без помощи модели</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 подтверждения</a:t>
            </a:r>
          </a:p>
        </p:txBody>
      </p:sp>
      <p:sp>
        <p:nvSpPr>
          <p:cNvPr id="12" name="Rounded Rectangle 11"/>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Дословно, пункт 1(g): </a:t>
            </a:r>
            <a:r>
              <a:rPr sz="1500" b="1" i="0">
                <a:solidFill>
                  <a:srgbClr val="21295C"/>
                </a:solidFill>
                <a:latin typeface="Arial"/>
              </a:rPr>
              <a:t>«A qualified human is defined as a licensed physician with the necessary qualifications and training to independently provide the same medical service without the aid of AI»</a:t>
            </a:r>
            <a:r>
              <a:rPr sz="1500" b="0" i="0">
                <a:solidFill>
                  <a:srgbClr val="21295C"/>
                </a:solidFill>
                <a:latin typeface="Arial"/>
              </a:rPr>
              <a:t> — подходящий человек есть лицензированный врач, способный оказать ту же медицинскую услугу самостоятельно, без помощи модели.</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Прочтите это рядом с разбором доли обнаружения.</a:t>
            </a:r>
            <a:r>
              <a:rPr sz="1500" b="0" i="0">
                <a:solidFill>
                  <a:srgbClr val="21295C"/>
                </a:solidFill>
                <a:latin typeface="Arial"/>
              </a:rPr>
              <a:t> Как только врач перестаёт уметь без подсказки, точка человеческого вмешательства перестаёт быть точкой вмешательства — и схема, построенная на подписи, перестаёт выполнять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здесь не оговорка про этику, а условие законности.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И ни одного числа:</a:t>
            </a:r>
            <a:r>
              <a:rPr sz="1500" b="0" i="0">
                <a:solidFill>
                  <a:srgbClr val="21295C"/>
                </a:solidFill>
                <a:latin typeface="Arial"/>
              </a:rPr>
              <a:t> порог не назван, срок не назван, способ проверить, что врач ещё умеет сам, не назван.</a:t>
            </a:r>
          </a:p>
        </p:txBody>
      </p:sp>
      <p:sp>
        <p:nvSpPr>
          <p:cNvPr id="15" name="Rectangle 14"/>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60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на изделие против 1,9</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108 остались неразрешёнными</a:t>
            </a:r>
          </a:p>
        </p:txBody>
      </p:sp>
      <p:sp>
        <p:nvSpPr>
          <p:cNvPr id="16" name="TextBox 15"/>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17" name="Rounded Rectangle 16"/>
          <p:cNvSpPr/>
          <p:nvPr/>
        </p:nvSpPr>
        <p:spPr>
          <a:xfrm>
            <a:off x="1920240"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9" name="Right Arrow 18"/>
          <p:cNvSpPr/>
          <p:nvPr/>
        </p:nvSpPr>
        <p:spPr>
          <a:xfrm>
            <a:off x="5039258" y="318284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22" name="Right Arrow 21"/>
          <p:cNvSpPr/>
          <p:nvPr/>
        </p:nvSpPr>
        <p:spPr>
          <a:xfrm>
            <a:off x="8386876" y="318284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25" name="TextBox 24"/>
          <p:cNvSpPr txBox="1"/>
          <p:nvPr/>
        </p:nvSpPr>
        <p:spPr>
          <a:xfrm>
            <a:off x="502920" y="36445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26" name="Rounded Rectangle 25"/>
          <p:cNvSpPr/>
          <p:nvPr/>
        </p:nvSpPr>
        <p:spPr>
          <a:xfrm>
            <a:off x="374904" y="3947202"/>
            <a:ext cx="11441887" cy="2289005"/>
          </a:xfrm>
          <a:prstGeom prst="roundRect">
            <a:avLst>
              <a:gd name="adj" fmla="val 1331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038642"/>
            <a:ext cx="11112703" cy="219756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Сроки разведены по приложениям, а не по признаку «самостоятельное или встроенное»:</a:t>
            </a:r>
            <a:r>
              <a:rPr sz="1500" b="0" i="0">
                <a:solidFill>
                  <a:srgbClr val="21295C"/>
                </a:solidFill>
                <a:latin typeface="Arial"/>
              </a:rPr>
              <a:t>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рамки — ранний отзыв:</a:t>
            </a:r>
            <a:r>
              <a:rPr sz="1500" b="0" i="0">
                <a:solidFill>
                  <a:srgbClr val="21295C"/>
                </a:solidFill>
                <a:latin typeface="Arial"/>
              </a:rPr>
              <a:t> проверка, которая не состоялась до допуска, состоялась после.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48 в ноябре 2025 → 57 в июне 2026 → 59 в августе 2026. Доля от общего реестра не приводится.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28" name="Rectangle 2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B. и соавт., JAMA Health Forum 2025;6(8):e253172, срез ноябрь 2024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Чем удерживают: 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4787684"/>
          </a:xfrm>
          <a:prstGeom prst="roundRect">
            <a:avLst>
              <a:gd name="adj" fmla="val 63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72465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Поднять долю верных заключений: 87,2 → 96,4 из ста — против одного читателя</a:t>
            </a:r>
          </a:p>
          <a:p>
            <a:pPr algn="l">
              <a:lnSpc>
                <a:spcPct val="126000"/>
              </a:lnSpc>
              <a:spcBef>
                <a:spcPts val="700"/>
              </a:spcBef>
            </a:pPr>
            <a:r>
              <a:rPr sz="1250" b="0" i="0">
                <a:solidFill>
                  <a:srgbClr val="21295C"/>
                </a:solidFill>
                <a:latin typeface="Arial"/>
              </a:rPr>
              <a:t/>
            </a:r>
            <a:r>
              <a:rPr sz="1250" b="0" i="0">
                <a:solidFill>
                  <a:srgbClr val="21295C"/>
                </a:solidFill>
                <a:latin typeface="Arial"/>
              </a:rPr>
              <a:t>• Сократить первичные чтения вдвое: 48 секунд на чтение против 2 минут 12 секунд на арбитраж</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Назвать требование словами: понять ограничения, не согласиться, остановить</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не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Удержать независимость, когда оба читателя видят одну подсказку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Избавиться от арбитража: его объём вырос на 53 процента, в двух центрах от 22 до 142</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Проверить, что подписавший способен возразить: 56 изделий из 717</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стало с работой</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Сместилась цена ошибки</a:t>
            </a:r>
            <a:r>
              <a:rPr sz="1250" b="0" i="0">
                <a:solidFill>
                  <a:srgbClr val="21295C"/>
                </a:solidFill>
                <a:latin typeface="Arial"/>
              </a:rPr>
              <a:t> — подпись человеческая, основание решения пришло извне</a:t>
            </a:r>
          </a:p>
        </p:txBody>
      </p:sp>
      <p:sp>
        <p:nvSpPr>
          <p:cNvPr id="6" name="TextBox 5"/>
          <p:cNvSpPr txBox="1"/>
          <p:nvPr/>
        </p:nvSpPr>
        <p:spPr>
          <a:xfrm>
            <a:off x="6278727" y="1335024"/>
            <a:ext cx="5373471" cy="472465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Нагрузка выросла на том же месте</a:t>
            </a:r>
            <a:r>
              <a:rPr sz="1250" b="0" i="0">
                <a:solidFill>
                  <a:srgbClr val="21295C"/>
                </a:solidFill>
                <a:latin typeface="Arial"/>
              </a:rPr>
              <a:t> — арбитраж, и каждый разбор дороже чтения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45,5 из ста оставшихся ошибок идут от склонности доверять автомату</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это держит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Подпись: юридический акт физического лица, и права подписи у модели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Двойное чтение и арбитраж там, где второго читателя не заменили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Разбор случая после исхода и правка порядка по его итогам</a:t>
            </a:r>
          </a:p>
          <a:p>
            <a:pPr algn="l">
              <a:lnSpc>
                <a:spcPct val="126000"/>
              </a:lnSpc>
              <a:spcBef>
                <a:spcPts val="700"/>
              </a:spcBef>
            </a:pPr>
            <a:r>
              <a:rPr sz="1250" b="0" i="0">
                <a:solidFill>
                  <a:srgbClr val="21295C"/>
                </a:solidFill>
                <a:latin typeface="Arial"/>
              </a:rPr>
              <a:t/>
            </a:r>
            <a:r>
              <a:rPr sz="1250" b="1" i="0">
                <a:solidFill>
                  <a:srgbClr val="21295C"/>
                </a:solidFill>
                <a:latin typeface="Arial"/>
              </a:rPr>
              <a:t>В прошлой лекции требований к ИИ внутри промышленных изделий не было. Здесь они есть — с документами, сроками и измеримым исполнением.</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7" name="Rectangle 6"/>
          <p:cNvSpPr/>
          <p:nvPr/>
        </p:nvSpPr>
        <p:spPr>
          <a:xfrm>
            <a:off x="6091275" y="1335024"/>
            <a:ext cx="9144" cy="451336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00782"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081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540278" y="1335024"/>
            <a:ext cx="2493237"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86582" y="1335024"/>
            <a:ext cx="220062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033516" y="1335024"/>
            <a:ext cx="3903209"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79820" y="1335024"/>
            <a:ext cx="361060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36725" y="1335024"/>
            <a:ext cx="2715473"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83029" y="1335024"/>
            <a:ext cx="242286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000782"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540278" y="1727520"/>
            <a:ext cx="2493237"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86582" y="1727520"/>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033516" y="1727520"/>
            <a:ext cx="3903209"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79820" y="1727520"/>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936725" y="1727520"/>
            <a:ext cx="2715473"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83029" y="1727520"/>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000782"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540278" y="2120016"/>
            <a:ext cx="2493237"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86582" y="2120016"/>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033516" y="2120016"/>
            <a:ext cx="3903209"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79820" y="2120016"/>
            <a:ext cx="361060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подсказка, которой верят</a:t>
            </a:r>
            <a:r>
              <a:rPr sz="1250" b="0" i="0">
                <a:solidFill>
                  <a:srgbClr val="21295C"/>
                </a:solidFill>
                <a:latin typeface="Arial"/>
              </a:rPr>
              <a:t> (отбор · диагноз)</a:t>
            </a:r>
          </a:p>
        </p:txBody>
      </p:sp>
      <p:sp>
        <p:nvSpPr>
          <p:cNvPr id="27" name="Rectangle 26"/>
          <p:cNvSpPr/>
          <p:nvPr/>
        </p:nvSpPr>
        <p:spPr>
          <a:xfrm>
            <a:off x="8936725" y="2120016"/>
            <a:ext cx="2715473"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83029" y="2120016"/>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000782"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540278" y="2512512"/>
            <a:ext cx="2493237"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86582" y="2512512"/>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033516" y="2512512"/>
            <a:ext cx="3903209"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79820" y="2512512"/>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36725" y="2512512"/>
            <a:ext cx="2715473"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83029" y="2512512"/>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000782"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540278" y="2905008"/>
            <a:ext cx="2493237"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86582" y="2905008"/>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033516" y="2905008"/>
            <a:ext cx="3903209"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79820" y="2905008"/>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36725" y="2905008"/>
            <a:ext cx="2715473"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83029" y="2905008"/>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Полужирное — разбор этого раздела, светлое в скобках — прежние разделы.</a:t>
            </a:r>
            <a:r>
              <a:rPr sz="1300" b="0" i="0">
                <a:solidFill>
                  <a:srgbClr val="21295C"/>
                </a:solidFill>
                <a:latin typeface="Arial"/>
              </a:rPr>
              <a:t> Занято 4 клетки из 12 показанных, восемь прочерков стоят с Раздела 2: четвёртый раздел подряд не добавил сетке ничего.</a:t>
            </a:r>
          </a:p>
        </p:txBody>
      </p:sp>
      <p:sp>
        <p:nvSpPr>
          <p:cNvPr id="46" name="TextBox 45"/>
          <p:cNvSpPr txBox="1"/>
          <p:nvPr/>
        </p:nvSpPr>
        <p:spPr>
          <a:xfrm>
            <a:off x="539496" y="411633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И этот — особый случай: он не добавляет ни одной клетки не потому, что опоздал.</a:t>
            </a:r>
            <a:r>
              <a:rPr sz="1300" b="0" i="0">
                <a:solidFill>
                  <a:srgbClr val="21295C"/>
                </a:solidFill>
                <a:latin typeface="Arial"/>
              </a:rPr>
              <a:t> Подпись не распознаёт. Согласие не прогнозирует. Арбитраж ничего не порождает. Разбор случая, допуск изделия и надзор после допуска — тоже.</a:t>
            </a:r>
          </a:p>
        </p:txBody>
      </p:sp>
      <p:sp>
        <p:nvSpPr>
          <p:cNvPr id="47" name="Rounded Rectangle 46"/>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788861"/>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эту клетку</a:t>
            </a:r>
            <a:r>
              <a:rPr sz="13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9" name="Rounded Rectangle 48"/>
          <p:cNvSpPr/>
          <p:nvPr/>
        </p:nvSpPr>
        <p:spPr>
          <a:xfrm>
            <a:off x="630936" y="5552192"/>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46138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сам допуск</a:t>
            </a:r>
            <a:r>
              <a:rPr sz="1300" b="0" i="0">
                <a:solidFill>
                  <a:srgbClr val="21295C"/>
                </a:solidFill>
                <a:latin typeface="Arial"/>
              </a:rPr>
              <a:t> — заранее утверждённый план изменений модели · передача данных регулятору · отзыв с рынка</a:t>
            </a:r>
          </a:p>
        </p:txBody>
      </p:sp>
      <p:sp>
        <p:nvSpPr>
          <p:cNvPr id="51" name="TextBox 50"/>
          <p:cNvSpPr txBox="1"/>
          <p:nvPr/>
        </p:nvSpPr>
        <p:spPr>
          <a:xfrm>
            <a:off x="539496" y="5870803"/>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Клетка говорит, чем инструмент занят, и ничего не говорит о том, чем его держат.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упала там, где помощника не было</a:t>
            </a:r>
          </a:p>
        </p:txBody>
      </p:sp>
      <p:sp>
        <p:nvSpPr>
          <p:cNvPr id="11" name="TextBox 10"/>
          <p:cNvSpPr txBox="1"/>
          <p:nvPr/>
        </p:nvSpPr>
        <p:spPr>
          <a:xfrm>
            <a:off x="704088" y="415087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собственного разбора: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долгая болезнь, отпуск по уходу за ребёнком.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первая процедура идёт иначе: прибор продвигается медленнее, рука дольше ищет угол изгиба, складку врач проходит мимо</a:t>
            </a:r>
          </a:p>
          <a:p>
            <a:pPr algn="l">
              <a:lnSpc>
                <a:spcPct val="126000"/>
              </a:lnSpc>
              <a:spcBef>
                <a:spcPts val="700"/>
              </a:spcBef>
            </a:pPr>
            <a:r>
              <a:rPr sz="1500" b="0" i="0">
                <a:solidFill>
                  <a:srgbClr val="21295C"/>
                </a:solidFill>
                <a:latin typeface="Arial"/>
              </a:rPr>
              <a:t/>
            </a:r>
            <a:r>
              <a:rPr sz="1500" b="0" i="0">
                <a:solidFill>
                  <a:srgbClr val="21295C"/>
                </a:solidFill>
                <a:latin typeface="Arial"/>
              </a:rPr>
              <a:t>• осложнений нет,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r>
              <a:rPr sz="1500" b="0" i="0">
                <a:solidFill>
                  <a:srgbClr val="21295C"/>
                </a:solidFill>
                <a:latin typeface="Arial"/>
              </a:rPr>
              <a:t> 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 обученной моделью — один шаг из восьми:</a:t>
            </a:r>
            <a:r>
              <a:rPr sz="1500" b="0" i="0">
                <a:solidFill>
                  <a:srgbClr val="21295C"/>
                </a:solidFill>
                <a:latin typeface="Arial"/>
              </a:rPr>
              <a:t> осмотр при выведении (3), рамка на участке в реальном времени. </a:t>
            </a:r>
            <a:r>
              <a:rPr sz="1500" b="1" i="0">
                <a:solidFill>
                  <a:srgbClr val="21295C"/>
                </a:solidFill>
                <a:latin typeface="Arial"/>
              </a:rPr>
              <a:t>Новый шаг — решить, доверять ли рамке.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9004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95195" cy="3651636"/>
          </a:xfrm>
          <a:prstGeom prst="roundRect">
            <a:avLst>
              <a:gd name="adj" fmla="val 1697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2087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52087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784218"/>
            <a:ext cx="152087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2462707" y="1335024"/>
            <a:ext cx="1795195" cy="3651636"/>
          </a:xfrm>
          <a:prstGeom prst="roundRect">
            <a:avLst>
              <a:gd name="adj" fmla="val 1697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99867" y="1472184"/>
            <a:ext cx="152087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2599867" y="1725375"/>
            <a:ext cx="1520875" cy="851372"/>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снятие, кровотечение, гистология, повторный визит</a:t>
            </a:r>
          </a:p>
        </p:txBody>
      </p:sp>
      <p:sp>
        <p:nvSpPr>
          <p:cNvPr id="11" name="TextBox 10"/>
          <p:cNvSpPr txBox="1"/>
          <p:nvPr/>
        </p:nvSpPr>
        <p:spPr>
          <a:xfrm>
            <a:off x="2599867" y="2576747"/>
            <a:ext cx="152087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4422495" y="1335024"/>
            <a:ext cx="1795195" cy="3651636"/>
          </a:xfrm>
          <a:prstGeom prst="roundRect">
            <a:avLst>
              <a:gd name="adj" fmla="val 1697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559655" y="1472184"/>
            <a:ext cx="152087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14" name="TextBox 13"/>
          <p:cNvSpPr txBox="1"/>
          <p:nvPr/>
        </p:nvSpPr>
        <p:spPr>
          <a:xfrm>
            <a:off x="4559655" y="2140317"/>
            <a:ext cx="1520875"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27,1 → 36,6 из ста процедур</a:t>
            </a:r>
          </a:p>
        </p:txBody>
      </p:sp>
      <p:sp>
        <p:nvSpPr>
          <p:cNvPr id="15" name="TextBox 14"/>
          <p:cNvSpPr txBox="1"/>
          <p:nvPr/>
        </p:nvSpPr>
        <p:spPr>
          <a:xfrm>
            <a:off x="4559655" y="2737066"/>
            <a:ext cx="152087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a:t>
            </a:r>
          </a:p>
        </p:txBody>
      </p:sp>
      <p:sp>
        <p:nvSpPr>
          <p:cNvPr id="16" name="Rounded Rectangle 15"/>
          <p:cNvSpPr/>
          <p:nvPr/>
        </p:nvSpPr>
        <p:spPr>
          <a:xfrm>
            <a:off x="6382283" y="1335024"/>
            <a:ext cx="1795195" cy="3651636"/>
          </a:xfrm>
          <a:prstGeom prst="roundRect">
            <a:avLst>
              <a:gd name="adj" fmla="val 1697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519443" y="1472184"/>
            <a:ext cx="152087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8" name="TextBox 17"/>
          <p:cNvSpPr txBox="1"/>
          <p:nvPr/>
        </p:nvSpPr>
        <p:spPr>
          <a:xfrm>
            <a:off x="6519443" y="2140317"/>
            <a:ext cx="1520875"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39,3 → 45,7 из ста процедур</a:t>
            </a:r>
          </a:p>
        </p:txBody>
      </p:sp>
      <p:sp>
        <p:nvSpPr>
          <p:cNvPr id="19" name="TextBox 18"/>
          <p:cNvSpPr txBox="1"/>
          <p:nvPr/>
        </p:nvSpPr>
        <p:spPr>
          <a:xfrm>
            <a:off x="6519443" y="2737066"/>
            <a:ext cx="1520875"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называют высокий риск систематической ошибки у всех включённых работ</a:t>
            </a:r>
          </a:p>
        </p:txBody>
      </p:sp>
      <p:sp>
        <p:nvSpPr>
          <p:cNvPr id="20" name="Rounded Rectangle 19"/>
          <p:cNvSpPr/>
          <p:nvPr/>
        </p:nvSpPr>
        <p:spPr>
          <a:xfrm>
            <a:off x="374904" y="5078100"/>
            <a:ext cx="11441887" cy="115810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169540"/>
            <a:ext cx="11112703" cy="106666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в доле обнаружения, и 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p:txBody>
      </p:sp>
      <p:sp>
        <p:nvSpPr>
          <p:cNvPr id="22" name="Rounded Rectangle 21"/>
          <p:cNvSpPr/>
          <p:nvPr/>
        </p:nvSpPr>
        <p:spPr>
          <a:xfrm>
            <a:off x="8488375" y="1335024"/>
            <a:ext cx="3200400" cy="1915067"/>
          </a:xfrm>
          <a:prstGeom prst="roundRect">
            <a:avLst>
              <a:gd name="adj" fmla="val 15915"/>
            </a:avLst>
          </a:prstGeom>
          <a:solidFill>
            <a:srgbClr val="F4F7FA"/>
          </a:solidFill>
          <a:ln w="19050">
            <a:solidFill>
              <a:srgbClr val="1C7293"/>
            </a:solidFill>
          </a:ln>
          <a:effectLst/>
        </p:spPr>
        <p:txBody>
          <a:bodyPr rtlCol="0" anchor="ctr"/>
          <a:lstStyle/>
          <a:p>
            <a:pPr algn="ctr"/>
          </a:p>
        </p:txBody>
      </p:sp>
      <p:pic>
        <p:nvPicPr>
          <p:cNvPr id="23" name="Picture 22" descr="s90-ekran-protsedury-panel-b.jpg"/>
          <p:cNvPicPr>
            <a:picLocks noChangeAspect="1"/>
          </p:cNvPicPr>
          <p:nvPr/>
        </p:nvPicPr>
        <p:blipFill>
          <a:blip r:embed="rId2"/>
          <a:stretch>
            <a:fillRect/>
          </a:stretch>
        </p:blipFill>
        <p:spPr>
          <a:xfrm>
            <a:off x="8625535" y="1472184"/>
            <a:ext cx="2926080" cy="1640747"/>
          </a:xfrm>
          <a:prstGeom prst="rect">
            <a:avLst/>
          </a:prstGeom>
        </p:spPr>
      </p:pic>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r>
              <a:rPr sz="1200" b="0" i="1">
                <a:solidFill>
                  <a:srgbClr val="1C7293"/>
                </a:solidFill>
                <a:latin typeface="Arial"/>
              </a:rPr>
              <a:t> · </a:t>
            </a:r>
            <a:r>
              <a:rPr sz="1200" b="0" i="1" u="sng">
                <a:solidFill>
                  <a:srgbClr val="065A82"/>
                </a:solidFill>
                <a:latin typeface="Arial"/>
                <a:hlinkClick r:id="rId4"/>
              </a:rPr>
              <a:t>дисциплина осмотра: 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второй наблюдатель: Lei и соавт., International Journal of Colorectal Disease 2024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175180"/>
          </a:xfrm>
          <a:prstGeom prst="roundRect">
            <a:avLst>
              <a:gd name="adj" fmla="val 959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250" b="1" i="0">
                <a:solidFill>
                  <a:srgbClr val="21295C"/>
                </a:solidFill>
                <a:latin typeface="Arial"/>
              </a:rPr>
              <a:t>без</a:t>
            </a:r>
            <a:r>
              <a:rPr sz="1250" b="0" i="0">
                <a:solidFill>
                  <a:srgbClr val="21295C"/>
                </a:solidFill>
                <a:latin typeface="Arial"/>
              </a:rPr>
              <a:t> помощника, выполненными теми же врачами.</a:t>
            </a:r>
          </a:p>
          <a:p>
            <a:pPr algn="l">
              <a:lnSpc>
                <a:spcPct val="126000"/>
              </a:lnSpc>
              <a:spcBef>
                <a:spcPts val="700"/>
              </a:spcBef>
            </a:pPr>
            <a:r>
              <a:rPr sz="1250" b="0" i="0">
                <a:solidFill>
                  <a:srgbClr val="21295C"/>
                </a:solidFill>
                <a:latin typeface="Arial"/>
              </a:rPr>
              <a:t/>
            </a:r>
            <a:r>
              <a:rPr sz="1250" b="1" i="0">
                <a:solidFill>
                  <a:srgbClr val="21295C"/>
                </a:solidFill>
                <a:latin typeface="Arial"/>
              </a:rPr>
              <a:t>Как это устроено.</a:t>
            </a:r>
            <a:r>
              <a:rPr sz="1250" b="0" i="0">
                <a:solidFill>
                  <a:srgbClr val="21295C"/>
                </a:solidFill>
                <a:latin typeface="Arial"/>
              </a:rPr>
              <a:t> Вход — поток кадров во время процедуры, выход — рамка на подозрительном участке в ту же секунду. </a:t>
            </a:r>
            <a:r>
              <a:rPr sz="1250" b="1" i="0">
                <a:solidFill>
                  <a:srgbClr val="21295C"/>
                </a:solidFill>
                <a:latin typeface="Arial"/>
              </a:rPr>
              <a:t>Система в работе одна, и имени её публикация не называет</a:t>
            </a:r>
            <a:r>
              <a:rPr sz="1250" b="0" i="0">
                <a:solidFill>
                  <a:srgbClr val="21295C"/>
                </a:solidFill>
                <a:latin typeface="Arial"/>
              </a:rPr>
              <a:t>; режим занимают GI Genius (Medtronic), CAD EYE (Fujifilm), ENDO-AID CADe (Olympus), и на чём они обучены, производители не публикуют. </a:t>
            </a:r>
            <a:r>
              <a:rPr sz="1250" b="0" i="1">
                <a:solidFill>
                  <a:srgbClr val="21295C"/>
                </a:solidFill>
                <a:latin typeface="Arial"/>
              </a:rPr>
              <a:t>Распознавание на видео, в реальном времени.</a:t>
            </a:r>
          </a:p>
          <a:p>
            <a:pPr algn="l">
              <a:lnSpc>
                <a:spcPct val="126000"/>
              </a:lnSpc>
              <a:spcBef>
                <a:spcPts val="700"/>
              </a:spcBef>
            </a:pPr>
            <a:r>
              <a:rPr sz="1250" b="0" i="0">
                <a:solidFill>
                  <a:srgbClr val="21295C"/>
                </a:solidFill>
                <a:latin typeface="Arial"/>
              </a:rPr>
              <a:t/>
            </a:r>
            <a:r>
              <a:rPr sz="1250" b="1" i="0">
                <a:solidFill>
                  <a:srgbClr val="21295C"/>
                </a:solidFill>
                <a:latin typeface="Arial"/>
              </a:rPr>
              <a:t>Сила свидетельства названа здесь, на экране:</a:t>
            </a:r>
            <a:r>
              <a:rPr sz="1250" b="0" i="0">
                <a:solidFill>
                  <a:srgbClr val="21295C"/>
                </a:solidFill>
                <a:latin typeface="Arial"/>
              </a:rPr>
              <a:t> ретроспективное наблюдательное, </a:t>
            </a:r>
            <a:r>
              <a:rPr sz="1250" b="1" i="0">
                <a:solidFill>
                  <a:srgbClr val="21295C"/>
                </a:solidFill>
                <a:latin typeface="Arial"/>
              </a:rPr>
              <a:t>не воспроизводилось</a:t>
            </a:r>
            <a:r>
              <a:rPr sz="1250" b="0" i="0">
                <a:solidFill>
                  <a:srgbClr val="21295C"/>
                </a:solidFill>
                <a:latin typeface="Arial"/>
              </a:rPr>
              <a:t>, причинности не доказывает.</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Состав спора — тоже на экране:</a:t>
            </a:r>
          </a:p>
          <a:p>
            <a:pPr algn="l">
              <a:lnSpc>
                <a:spcPct val="126000"/>
              </a:lnSpc>
              <a:spcBef>
                <a:spcPts val="700"/>
              </a:spcBef>
            </a:pPr>
            <a:r>
              <a:rPr sz="1250" b="0" i="0">
                <a:solidFill>
                  <a:srgbClr val="21295C"/>
                </a:solidFill>
                <a:latin typeface="Arial"/>
              </a:rPr>
              <a:t/>
            </a:r>
            <a:r>
              <a:rPr sz="1250" b="0" i="0">
                <a:solidFill>
                  <a:srgbClr val="21295C"/>
                </a:solidFill>
                <a:latin typeface="Arial"/>
              </a:rPr>
              <a:t>• опубликованное исправление, три письма и ответ авторов</a:t>
            </a:r>
          </a:p>
          <a:p>
            <a:pPr algn="l">
              <a:lnSpc>
                <a:spcPct val="126000"/>
              </a:lnSpc>
              <a:spcBef>
                <a:spcPts val="700"/>
              </a:spcBef>
            </a:pPr>
            <a:r>
              <a:rPr sz="1250" b="0" i="0">
                <a:solidFill>
                  <a:srgbClr val="21295C"/>
                </a:solidFill>
                <a:latin typeface="Arial"/>
              </a:rPr>
              <a:t/>
            </a:r>
            <a:r>
              <a:rPr sz="1250" b="0" i="0">
                <a:solidFill>
                  <a:srgbClr val="21295C"/>
                </a:solidFill>
                <a:latin typeface="Arial"/>
              </a:rPr>
              <a:t>• вторичные исходы </a:t>
            </a:r>
            <a:r>
              <a:rPr sz="1250" b="1" i="0">
                <a:solidFill>
                  <a:srgbClr val="21295C"/>
                </a:solidFill>
                <a:latin typeface="Arial"/>
              </a:rPr>
              <a:t>не просели</a:t>
            </a:r>
            <a:r>
              <a:rPr sz="1250" b="0" i="0">
                <a:solidFill>
                  <a:srgbClr val="21295C"/>
                </a:solidFill>
                <a:latin typeface="Arial"/>
              </a:rPr>
              <a:t>, время выведения прибора в работе </a:t>
            </a:r>
            <a:r>
              <a:rPr sz="1250" b="1" i="0">
                <a:solidFill>
                  <a:srgbClr val="21295C"/>
                </a:solidFill>
                <a:latin typeface="Arial"/>
              </a:rPr>
              <a:t>не измерено вовсе</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нагрузка на тех же врачей выросла с </a:t>
            </a:r>
            <a:r>
              <a:rPr sz="1250" b="1" i="0">
                <a:solidFill>
                  <a:srgbClr val="21295C"/>
                </a:solidFill>
                <a:latin typeface="Arial"/>
              </a:rPr>
              <a:t>795 до 1 382 процедур</a:t>
            </a:r>
            <a:r>
              <a:rPr sz="1250" b="0" i="0">
                <a:solidFill>
                  <a:srgbClr val="21295C"/>
                </a:solidFill>
                <a:latin typeface="Arial"/>
              </a:rPr>
              <a:t> за окно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0086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Rounded Rectangle 13"/>
          <p:cNvSpPr/>
          <p:nvPr/>
        </p:nvSpPr>
        <p:spPr>
          <a:xfrm>
            <a:off x="374904" y="3161820"/>
            <a:ext cx="11441887" cy="2709784"/>
          </a:xfrm>
          <a:prstGeom prst="roundRect">
            <a:avLst>
              <a:gd name="adj" fmla="val 11248"/>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всё, что есть про доверие врача, снято в один сеанс</a:t>
            </a:r>
          </a:p>
        </p:txBody>
      </p:sp>
      <p:sp>
        <p:nvSpPr>
          <p:cNvPr id="16" name="TextBox 15"/>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Того, кто читает снимок женщины с письмом, без помощника не измерял никто: падение доли обнаружения снято на эндоскопии.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17" name="Rectangle 16"/>
          <p:cNvSpPr/>
          <p:nvPr/>
        </p:nvSpPr>
        <p:spPr>
          <a:xfrm>
            <a:off x="6091275" y="3253260"/>
            <a:ext cx="9144" cy="243546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Единственный чертёж темы — с пустыми осями</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ЕДИНСТВЕННЫЙ ЧЕРТЁЖ ТЕМЫ ВО ВСЁМ КОРПУСЕ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оси подписаны, поле пустое</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уверенность пользователя против уместной уверенности, обе в процентах; точек под осями нет</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«ЯКОРЕНИЕ», «САМОУСПОКОЕНИЕ» В СИЛЛАБУСЕ ЧЕТЫРЁХ ВРАЧЕБНЫХ ОБЩЕСТВ</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11" name="TextBox 10"/>
          <p:cNvSpPr txBox="1"/>
          <p:nvPr/>
        </p:nvSpPr>
        <p:spPr>
          <a:xfrm>
            <a:off x="4423562" y="256731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по полному тексту: 6 196 слов</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КРУПНЕЙШАЯ ВРАЧЕБНАЯ ПРОГРАММА ПО ИИ: МИНУТ НА ЭТУ ТЕМУ</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из 60 часов</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 программы</a:t>
            </a:r>
          </a:p>
        </p:txBody>
      </p:sp>
      <p:sp>
        <p:nvSpPr>
          <p:cNvPr id="16" name="Rounded Rectangle 15"/>
          <p:cNvSpPr/>
          <p:nvPr/>
        </p:nvSpPr>
        <p:spPr>
          <a:xfrm>
            <a:off x="374904" y="3612599"/>
            <a:ext cx="11441887" cy="2623608"/>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Отчёт государственного органа образования — единственный документ корпуса, доведший тему до чертежа. На графике подписаны обе оси: уверенность пользователя и уместная уверенность. </a:t>
            </a:r>
            <a:r>
              <a:rPr sz="1300" b="1" i="0">
                <a:solidFill>
                  <a:srgbClr val="21295C"/>
                </a:solidFill>
                <a:latin typeface="Arial"/>
              </a:rPr>
              <a:t>Поле под осями пустое.</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не небрежность, а честность:</a:t>
            </a:r>
            <a:r>
              <a:rPr sz="1300" b="0" i="0">
                <a:solidFill>
                  <a:srgbClr val="21295C"/>
                </a:solidFill>
                <a:latin typeface="Arial"/>
              </a:rPr>
              <a:t> оси назвать было чем, данные под них — нечем.</a:t>
            </a:r>
          </a:p>
          <a:p>
            <a:pPr algn="l">
              <a:lnSpc>
                <a:spcPct val="126000"/>
              </a:lnSpc>
              <a:spcBef>
                <a:spcPts val="700"/>
              </a:spcBef>
            </a:pPr>
            <a:r>
              <a:rPr sz="1300" b="0" i="0">
                <a:solidFill>
                  <a:srgbClr val="21295C"/>
                </a:solidFill>
                <a:latin typeface="Arial"/>
              </a:rPr>
              <a:t/>
            </a:r>
            <a:r>
              <a:rPr sz="1300" b="1" i="0">
                <a:solidFill>
                  <a:srgbClr val="21295C"/>
                </a:solidFill>
                <a:latin typeface="Arial"/>
              </a:rPr>
              <a:t>Тот же корпус описывает механизм подробно и без величин:</a:t>
            </a:r>
            <a:r>
              <a:rPr sz="1300" b="0" i="0">
                <a:solidFill>
                  <a:srgbClr val="21295C"/>
                </a:solidFill>
                <a:latin typeface="Arial"/>
              </a:rPr>
              <a:t> резидент недополучает самостоятельных прочтений · деградация умений · самоуспокоение. Ни срока, ни доли, ни замера.</a:t>
            </a:r>
          </a:p>
        </p:txBody>
      </p:sp>
      <p:sp>
        <p:nvSpPr>
          <p:cNvPr id="18" name="TextBox 17"/>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Работ в указателе — больше тысячи; в программы обучения из них не пришло ни одной величины.</a:t>
            </a:r>
            <a:r>
              <a:rPr sz="1300" b="0" i="0">
                <a:solidFill>
                  <a:srgbClr val="21295C"/>
                </a:solidFill>
                <a:latin typeface="Arial"/>
              </a:rPr>
              <a:t> Разрыв не в знании, а в переносе.</a:t>
            </a:r>
          </a:p>
          <a:p>
            <a:pPr algn="l">
              <a:lnSpc>
                <a:spcPct val="126000"/>
              </a:lnSpc>
              <a:spcBef>
                <a:spcPts val="700"/>
              </a:spcBef>
            </a:pPr>
            <a:r>
              <a:rPr sz="1300" b="0" i="0">
                <a:solidFill>
                  <a:srgbClr val="21295C"/>
                </a:solidFill>
                <a:latin typeface="Arial"/>
              </a:rPr>
              <a:t/>
            </a:r>
            <a:r>
              <a:rPr sz="1300" b="1" i="0">
                <a:solidFill>
                  <a:srgbClr val="21295C"/>
                </a:solidFill>
                <a:latin typeface="Arial"/>
              </a:rPr>
              <a:t>Отсюда и наш собственный порог:</a:t>
            </a:r>
            <a:r>
              <a:rPr sz="1300" b="0" i="0">
                <a:solidFill>
                  <a:srgbClr val="21295C"/>
                </a:solidFill>
                <a:latin typeface="Arial"/>
              </a:rPr>
              <a:t> взятое наблюдательно и один раз мы называем наблюдательным и однократным — и всё равно ставим на кадр, потому что иначе на этом месте остаются пустые оси.</a:t>
            </a:r>
          </a:p>
        </p:txBody>
      </p:sp>
      <p:sp>
        <p:nvSpPr>
          <p:cNvPr id="19" name="Rectangle 18"/>
          <p:cNvSpPr/>
          <p:nvPr/>
        </p:nvSpPr>
        <p:spPr>
          <a:xfrm>
            <a:off x="6091275" y="3704039"/>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Health Education England и NHS AI Lab, Understanding healthcare workers' confidence in AI, май 2022, 90 страниц</a:t>
            </a:r>
            <a:r>
              <a:rPr sz="1200" b="0" i="1">
                <a:solidFill>
                  <a:srgbClr val="1C7293"/>
                </a:solidFill>
                <a:latin typeface="Arial"/>
              </a:rPr>
              <a:t> · </a:t>
            </a:r>
            <a:r>
              <a:rPr sz="1200" b="0" i="1" u="sng">
                <a:solidFill>
                  <a:srgbClr val="065A82"/>
                </a:solidFill>
                <a:latin typeface="Arial"/>
                <a:hlinkClick r:id="rId3"/>
              </a:rPr>
              <a:t>AAPM, ACR, RSNA, SIIM, Teaching AI for Radiology Applications, 2025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 кто решает: исполнитель тот же, но стал хуже — 28,4 против 22,4 из ста</a:t>
            </a:r>
          </a:p>
        </p:txBody>
      </p:sp>
      <p:sp>
        <p:nvSpPr>
          <p:cNvPr id="4" name="Rounded Rectangle 3"/>
          <p:cNvSpPr/>
          <p:nvPr/>
        </p:nvSpPr>
        <p:spPr>
          <a:xfrm>
            <a:off x="374904" y="1243584"/>
            <a:ext cx="11441887" cy="4965702"/>
          </a:xfrm>
          <a:prstGeom prst="roundRect">
            <a:avLst>
              <a:gd name="adj" fmla="val 613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 включённым помощником находят больше: прирост измерен и повторён многократно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считать показатели самого врача: долю обнаружения и время выведения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снять объём рутинной перепроверки: человеческого чтения ниже на </a:t>
            </a:r>
            <a:r>
              <a:rPr sz="1200" b="1" i="0">
                <a:solidFill>
                  <a:srgbClr val="21295C"/>
                </a:solidFill>
                <a:latin typeface="Arial"/>
              </a:rPr>
              <a:t>44,3 процента</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поддерживать навык: измерено обратное — </a:t>
            </a:r>
            <a:r>
              <a:rPr sz="1200" b="1" i="0">
                <a:solidFill>
                  <a:srgbClr val="21295C"/>
                </a:solidFill>
                <a:latin typeface="Arial"/>
              </a:rPr>
              <a:t>28,4 против 22,4 из ста</a:t>
            </a:r>
            <a:r>
              <a:rPr sz="1200" b="0" i="0">
                <a:solidFill>
                  <a:srgbClr val="21295C"/>
                </a:solidFill>
                <a:latin typeface="Arial"/>
              </a:rPr>
              <a:t> без помощника</a:t>
            </a:r>
          </a:p>
          <a:p>
            <a:pPr algn="l">
              <a:lnSpc>
                <a:spcPct val="126000"/>
              </a:lnSpc>
              <a:spcBef>
                <a:spcPts val="700"/>
              </a:spcBef>
            </a:pPr>
            <a:r>
              <a:rPr sz="1200" b="0" i="0">
                <a:solidFill>
                  <a:srgbClr val="21295C"/>
                </a:solidFill>
                <a:latin typeface="Arial"/>
              </a:rPr>
              <a:t/>
            </a:r>
            <a:r>
              <a:rPr sz="1200" b="0" i="0">
                <a:solidFill>
                  <a:srgbClr val="21295C"/>
                </a:solidFill>
                <a:latin typeface="Arial"/>
              </a:rPr>
              <a:t>• дать врачу обратную связь о пропуске: внутри процедуры её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измерить доверие за месяцы работы: таких измерений нет ни у кого</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исполнитель тот же, но стал хуже</a:t>
            </a:r>
            <a:r>
              <a:rPr sz="1200" b="0" i="0">
                <a:solidFill>
                  <a:srgbClr val="21295C"/>
                </a:solidFill>
                <a:latin typeface="Arial"/>
              </a:rPr>
              <a:t> — место, объём и рука прежние, изменилось состояние руки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появился шаг</a:t>
            </a:r>
            <a:r>
              <a:rPr sz="1200" b="0" i="0">
                <a:solidFill>
                  <a:srgbClr val="21295C"/>
                </a:solidFill>
                <a:latin typeface="Arial"/>
              </a:rPr>
              <a:t> — посредник, переводящий вывод модели на язык, которому поверит врач</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 второй шаг</a:t>
            </a:r>
            <a:r>
              <a:rPr sz="1200" b="0" i="0">
                <a:solidFill>
                  <a:srgbClr val="21295C"/>
                </a:solidFill>
                <a:latin typeface="Arial"/>
              </a:rPr>
              <a:t> — целевой арбитраж расхождения вместо рутинной перепроверки каждого случая: структура защиты от ошибки сменилась целиком</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доверие выше у тех, кто работает с моделью руками: точечные оценки есть, </a:t>
            </a:r>
            <a:r>
              <a:rPr sz="1200" b="1" i="0">
                <a:solidFill>
                  <a:srgbClr val="21295C"/>
                </a:solidFill>
                <a:latin typeface="Arial"/>
              </a:rPr>
              <a:t>значимости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доля обнаружения по каждому врачу отдельно, из обычной работы</a:t>
            </a:r>
          </a:p>
          <a:p>
            <a:pPr algn="l">
              <a:lnSpc>
                <a:spcPct val="126000"/>
              </a:lnSpc>
              <a:spcBef>
                <a:spcPts val="700"/>
              </a:spcBef>
            </a:pPr>
            <a:r>
              <a:rPr sz="1200" b="0" i="0">
                <a:solidFill>
                  <a:srgbClr val="21295C"/>
                </a:solidFill>
                <a:latin typeface="Arial"/>
              </a:rPr>
              <a:t/>
            </a:r>
            <a:r>
              <a:rPr sz="1200" b="0" i="0">
                <a:solidFill>
                  <a:srgbClr val="21295C"/>
                </a:solidFill>
                <a:latin typeface="Arial"/>
              </a:rPr>
              <a:t>• время выведения прибора с назначенной нижней границей, по таймеру</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врача без помощника не измеряет ни одна процедура ни в одной юрисдикции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Повторения на реальной работе нет, и пробел назван числом: 22 отдельные попытки поиска.</a:t>
            </a:r>
            <a:r>
              <a:rPr sz="12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девять форм, счёт приписок, накопительная карта и ответ на вопрос лекции.</a:t>
            </a:r>
          </a:p>
        </p:txBody>
      </p:sp>
      <p:sp>
        <p:nvSpPr>
          <p:cNvPr id="7" name="Rectangle 6"/>
          <p:cNvSpPr/>
          <p:nvPr/>
        </p:nvSpPr>
        <p:spPr>
          <a:xfrm>
            <a:off x="6091275" y="1335024"/>
            <a:ext cx="9144" cy="4691382"/>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этого раздела в сетке курса: вне окна</a:t>
            </a:r>
          </a:p>
        </p:txBody>
      </p:sp>
      <p:sp>
        <p:nvSpPr>
          <p:cNvPr id="4" name="Rounded Rectangle 3"/>
          <p:cNvSpPr/>
          <p:nvPr/>
        </p:nvSpPr>
        <p:spPr>
          <a:xfrm>
            <a:off x="502920"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КЛЕТОК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курсовой сетки из 42</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СЕМЬ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TextBox 10"/>
          <p:cNvSpPr txBox="1"/>
          <p:nvPr/>
        </p:nvSpPr>
        <p:spPr>
          <a:xfrm>
            <a:off x="3477691"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четыре</a:t>
            </a:r>
          </a:p>
        </p:txBody>
      </p:sp>
      <p:sp>
        <p:nvSpPr>
          <p:cNvPr id="12" name="Rounded Rectangle 11"/>
          <p:cNvSpPr/>
          <p:nvPr/>
        </p:nvSpPr>
        <p:spPr>
          <a:xfrm>
            <a:off x="6178143"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ЭТОТ РАЗДЕЛ ПРИБАВИЛ</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ни одной</a:t>
            </a:r>
          </a:p>
        </p:txBody>
      </p:sp>
      <p:sp>
        <p:nvSpPr>
          <p:cNvPr id="15" name="TextBox 14"/>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пятый раздел подряд</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клеток</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инструмент такого класса здесь искать незачем</a:t>
            </a:r>
          </a:p>
        </p:txBody>
      </p:sp>
      <p:sp>
        <p:nvSpPr>
          <p:cNvPr id="20" name="Rounded Rectangle 19"/>
          <p:cNvSpPr/>
          <p:nvPr/>
        </p:nvSpPr>
        <p:spPr>
          <a:xfrm>
            <a:off x="374904" y="2803461"/>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Клетка этого раздела лежит вне окна: это распознавание на видео</a:t>
            </a:r>
            <a:r>
              <a:rPr sz="1500" b="0" i="0">
                <a:solidFill>
                  <a:srgbClr val="21295C"/>
                </a:solidFill>
                <a:latin typeface="Arial"/>
              </a:rPr>
              <a:t> — подсветка на живом потоке кадров во время процедуры, готового снимка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Столбца «видео» в окне нет, и дописывать его нельзя:</a:t>
            </a:r>
            <a:r>
              <a:rPr sz="1500" b="0" i="0">
                <a:solidFill>
                  <a:srgbClr val="21295C"/>
                </a:solidFill>
                <a:latin typeface="Arial"/>
              </a:rPr>
              <a:t> окно собрано под клинику, где читают снимок, текст и карту, и объявлено оно таким на входе.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А доверие клетки не получает вовсе:</a:t>
            </a:r>
            <a:r>
              <a:rPr sz="1500" b="0" i="0">
                <a:solidFill>
                  <a:srgbClr val="21295C"/>
                </a:solidFill>
                <a:latin typeface="Arial"/>
              </a:rPr>
              <a:t> режима работы в нём нет, и описывать эту плоскость приходится словами.</a:t>
            </a:r>
          </a:p>
        </p:txBody>
      </p:sp>
      <p:sp>
        <p:nvSpPr>
          <p:cNvPr id="22" name="TextBox 21"/>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между двумя режимами — в последствиях: у подсветки человек остаётся и решает, со второго места его снимают. Навык расходуется там, где он формально остался.</a:t>
            </a:r>
          </a:p>
        </p:txBody>
      </p:sp>
      <p:sp>
        <p:nvSpPr>
          <p:cNvPr id="23" name="Rectangle 22"/>
          <p:cNvSpPr/>
          <p:nvPr/>
        </p:nvSpPr>
        <p:spPr>
          <a:xfrm>
            <a:off x="6091275" y="2894901"/>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человеком, который стал хуже. Здесь меняется масштаб: ранний шаг разработки подешевел многократно, а шаг, на котором стоит основной объём работы, не подешевел ни на сколько.</a:t>
            </a:r>
          </a:p>
        </p:txBody>
      </p:sp>
      <p:sp>
        <p:nvSpPr>
          <p:cNvPr id="9" name="TextBox 8"/>
          <p:cNvSpPr txBox="1"/>
          <p:nvPr/>
        </p:nvSpPr>
        <p:spPr>
          <a:xfrm>
            <a:off x="704088" y="3649744"/>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упоминания с числом и базой.</a:t>
            </a:r>
            <a:r>
              <a:rPr sz="1550" b="0" i="0">
                <a:solidFill>
                  <a:srgbClr val="21295C"/>
                </a:solidFill>
                <a:latin typeface="Arial"/>
              </a:rPr>
              <a:t> Разбор один: </a:t>
            </a:r>
            <a:r>
              <a:rPr sz="1550" b="1" i="0">
                <a:solidFill>
                  <a:srgbClr val="21295C"/>
                </a:solidFill>
                <a:latin typeface="Arial"/>
              </a:rPr>
              <a:t>Пример 1: компания, отказавшаяся от своего обещания</a:t>
            </a:r>
            <a:r>
              <a:rPr sz="1550" b="0" i="0">
                <a:solidFill>
                  <a:srgbClr val="21295C"/>
                </a:solidFill>
                <a:latin typeface="Arial"/>
              </a:rPr>
              <a:t>; упоминания стоят в своде раздела.</a:t>
            </a:r>
          </a:p>
        </p:txBody>
      </p:sp>
      <p:sp>
        <p:nvSpPr>
          <p:cNvPr id="10" name="TextBox 9"/>
          <p:cNvSpPr txBox="1"/>
          <p:nvPr/>
        </p:nvSpPr>
        <p:spPr>
          <a:xfrm>
            <a:off x="704088" y="472060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 и узкое место стоит дальше.</a:t>
            </a:r>
          </a:p>
        </p:txBody>
      </p:sp>
      <p:sp>
        <p:nvSpPr>
          <p:cNvPr id="11" name="TextBox 10"/>
          <p:cNvSpPr txBox="1"/>
          <p:nvPr/>
        </p:nvSpPr>
        <p:spPr>
          <a:xfrm>
            <a:off x="704088" y="5489382"/>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«перешли» и «завершили» — </a:t>
            </a:r>
            <a:r>
              <a:rPr sz="1500" b="1" i="0">
                <a:solidFill>
                  <a:srgbClr val="21295C"/>
                </a:solidFill>
                <a:latin typeface="Arial"/>
              </a:rPr>
              <a:t>две разные дроби</a:t>
            </a:r>
            <a:r>
              <a:rPr sz="1500" b="0" i="0">
                <a:solidFill>
                  <a:srgbClr val="21295C"/>
                </a:solidFill>
                <a:latin typeface="Arial"/>
              </a:rPr>
              <a:t>: база считана на завершённых траекториях, живые активы в неё не попадают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502920" y="2683657"/>
            <a:ext cx="5437479" cy="1862949"/>
          </a:xfrm>
          <a:prstGeom prst="roundRect">
            <a:avLst>
              <a:gd name="adj" fmla="val 1636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Вести в клинику всё синтезированное</a:t>
            </a:r>
          </a:p>
        </p:txBody>
      </p:sp>
      <p:sp>
        <p:nvSpPr>
          <p:cNvPr id="14" name="TextBox 13"/>
          <p:cNvSpPr txBox="1"/>
          <p:nvPr/>
        </p:nvSpPr>
        <p:spPr>
          <a:xfrm>
            <a:off x="667512"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первой фазой за каждую пустышку</a:t>
            </a:r>
          </a:p>
          <a:p>
            <a:pPr algn="l">
              <a:lnSpc>
                <a:spcPct val="126000"/>
              </a:lnSpc>
            </a:pPr>
            <a:r>
              <a:rPr sz="1450" b="0" i="0">
                <a:solidFill>
                  <a:srgbClr val="21295C"/>
                </a:solidFill>
                <a:latin typeface="Arial"/>
              </a:rPr>
              <a:t>• ошибку видно: молекула дошла до людей и отсеялась</a:t>
            </a:r>
          </a:p>
          <a:p>
            <a:pPr algn="l">
              <a:lnSpc>
                <a:spcPct val="126000"/>
              </a:lnSpc>
            </a:pPr>
            <a:r>
              <a:rPr sz="1450" b="0" i="0">
                <a:solidFill>
                  <a:srgbClr val="21295C"/>
                </a:solidFill>
                <a:latin typeface="Arial"/>
              </a:rPr>
              <a:t>• цена считается в месяцах работы центра</a:t>
            </a:r>
          </a:p>
        </p:txBody>
      </p:sp>
      <p:sp>
        <p:nvSpPr>
          <p:cNvPr id="15" name="Rounded Rectangle 14"/>
          <p:cNvSpPr/>
          <p:nvPr/>
        </p:nvSpPr>
        <p:spPr>
          <a:xfrm>
            <a:off x="6251295" y="2683657"/>
            <a:ext cx="5437479" cy="1862949"/>
          </a:xfrm>
          <a:prstGeom prst="roundRect">
            <a:avLst>
              <a:gd name="adj" fmla="val 16361"/>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Вести только прошедшее экспертный отбор</a:t>
            </a:r>
          </a:p>
        </p:txBody>
      </p:sp>
      <p:sp>
        <p:nvSpPr>
          <p:cNvPr id="17" name="TextBox 16"/>
          <p:cNvSpPr txBox="1"/>
          <p:nvPr/>
        </p:nvSpPr>
        <p:spPr>
          <a:xfrm>
            <a:off x="6415887"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отброшенными молекулами</a:t>
            </a:r>
          </a:p>
          <a:p>
            <a:pPr algn="l">
              <a:lnSpc>
                <a:spcPct val="126000"/>
              </a:lnSpc>
            </a:pPr>
            <a:r>
              <a:rPr sz="1450" b="0" i="0">
                <a:solidFill>
                  <a:srgbClr val="21295C"/>
                </a:solidFill>
                <a:latin typeface="Arial"/>
              </a:rPr>
              <a:t>• сколько их — не знает никто</a:t>
            </a:r>
          </a:p>
          <a:p>
            <a:pPr algn="l">
              <a:lnSpc>
                <a:spcPct val="126000"/>
              </a:lnSpc>
            </a:pPr>
            <a:r>
              <a:rPr sz="1450" b="0" i="0">
                <a:solidFill>
                  <a:srgbClr val="21295C"/>
                </a:solidFill>
                <a:latin typeface="Arial"/>
              </a:rPr>
              <a:t>• ошибки не увидит никто: эксперимента не было</a:t>
            </a:r>
          </a:p>
        </p:txBody>
      </p:sp>
      <p:sp>
        <p:nvSpPr>
          <p:cNvPr id="18" name="Rounded Rectangle 17"/>
          <p:cNvSpPr/>
          <p:nvPr/>
        </p:nvSpPr>
        <p:spPr>
          <a:xfrm>
            <a:off x="374904" y="4638047"/>
            <a:ext cx="11441887" cy="1598160"/>
          </a:xfrm>
          <a:prstGeom prst="roundRect">
            <a:avLst>
              <a:gd name="adj" fmla="val 1907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729487"/>
            <a:ext cx="11112703" cy="150672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Счёт у двух режимов один и тот же — 52,0 · 28,9 · 7,9.</a:t>
            </a:r>
            <a:r>
              <a:rPr sz="1300" b="0" i="0">
                <a:solidFill>
                  <a:srgbClr val="21295C"/>
                </a:solidFill>
                <a:latin typeface="Arial"/>
              </a:rPr>
              <a:t> Различие между ними числом не предъявлено ни одним источником: отчёт считает отрасль целиком.</a:t>
            </a:r>
          </a:p>
          <a:p>
            <a:pPr algn="l">
              <a:lnSpc>
                <a:spcPct val="126000"/>
              </a:lnSpc>
              <a:spcBef>
                <a:spcPts val="700"/>
              </a:spcBef>
            </a:pPr>
            <a:r>
              <a:rPr sz="1300" b="0" i="0">
                <a:solidFill>
                  <a:srgbClr val="21295C"/>
                </a:solidFill>
                <a:latin typeface="Arial"/>
              </a:rPr>
              <a:t/>
            </a:r>
            <a:r>
              <a:rPr sz="1300" b="1" i="0">
                <a:solidFill>
                  <a:srgbClr val="21295C"/>
                </a:solidFill>
                <a:latin typeface="Arial"/>
              </a:rPr>
              <a:t>Экспертный отбор</a:t>
            </a:r>
            <a:r>
              <a:rPr sz="1300" b="0" i="0">
                <a:solidFill>
                  <a:srgbClr val="21295C"/>
                </a:solidFill>
                <a:latin typeface="Arial"/>
              </a:rPr>
              <a:t> — совет из химиков, биологов и токсикологов: опыт и литература, протоколом решение не описано, повторяемость никто не замерял.</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компания, отказавшаяся от своего обещания, и минус 180 рабочих мест</a:t>
            </a:r>
          </a:p>
        </p:txBody>
      </p:sp>
      <p:sp>
        <p:nvSpPr>
          <p:cNvPr id="4" name="Rounded Rectangle 3"/>
          <p:cNvSpPr/>
          <p:nvPr/>
        </p:nvSpPr>
        <p:spPr>
          <a:xfrm>
            <a:off x="502920" y="1335024"/>
            <a:ext cx="2673019" cy="1906992"/>
          </a:xfrm>
          <a:prstGeom prst="roundRect">
            <a:avLst>
              <a:gd name="adj" fmla="val 159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18–65 лет</a:t>
            </a:r>
          </a:p>
        </p:txBody>
      </p:sp>
      <p:sp>
        <p:nvSpPr>
          <p:cNvPr id="8" name="Rounded Rectangle 7"/>
          <p:cNvSpPr/>
          <p:nvPr/>
        </p:nvSpPr>
        <p:spPr>
          <a:xfrm>
            <a:off x="3340531" y="1335024"/>
            <a:ext cx="2673019" cy="1906992"/>
          </a:xfrm>
          <a:prstGeom prst="roundRect">
            <a:avLst>
              <a:gd name="adj" fmla="val 159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ТЯЖЕСТЬ ЭКЗЕМЫ И ЗУД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1" name="TextBox 10"/>
          <p:cNvSpPr txBox="1"/>
          <p:nvPr/>
        </p:nvSpPr>
        <p:spPr>
          <a:xfrm>
            <a:off x="3477691"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плацебо не превзойдено; первичная точка — безопасность — достигнута</a:t>
            </a:r>
          </a:p>
        </p:txBody>
      </p:sp>
      <p:sp>
        <p:nvSpPr>
          <p:cNvPr id="12" name="Rounded Rectangle 11"/>
          <p:cNvSpPr/>
          <p:nvPr/>
        </p:nvSpPr>
        <p:spPr>
          <a:xfrm>
            <a:off x="6178143" y="1335024"/>
            <a:ext cx="2673019" cy="1906992"/>
          </a:xfrm>
          <a:prstGeom prst="roundRect">
            <a:avLst>
              <a:gd name="adj" fmla="val 1598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4" name="TextBox 13"/>
          <p:cNvSpPr txBox="1"/>
          <p:nvPr/>
        </p:nvSpPr>
        <p:spPr>
          <a:xfrm>
            <a:off x="6315303" y="193284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28,9 процента перехода фазы II</a:t>
            </a:r>
          </a:p>
        </p:txBody>
      </p:sp>
      <p:sp>
        <p:nvSpPr>
          <p:cNvPr id="15" name="TextBox 14"/>
          <p:cNvSpPr txBox="1"/>
          <p:nvPr/>
        </p:nvSpPr>
        <p:spPr>
          <a:xfrm>
            <a:off x="6315303" y="26823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 не неудача команды</a:t>
            </a:r>
          </a:p>
        </p:txBody>
      </p:sp>
      <p:sp>
        <p:nvSpPr>
          <p:cNvPr id="16" name="Rounded Rectangle 15"/>
          <p:cNvSpPr/>
          <p:nvPr/>
        </p:nvSpPr>
        <p:spPr>
          <a:xfrm>
            <a:off x="9015755" y="1335024"/>
            <a:ext cx="2673019" cy="1906992"/>
          </a:xfrm>
          <a:prstGeom prst="roundRect">
            <a:avLst>
              <a:gd name="adj" fmla="val 1598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9152915" y="1725375"/>
            <a:ext cx="2398699" cy="443974"/>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минус 180 мест, годом позже ещё минус 30 процентов штата</a:t>
            </a:r>
          </a:p>
        </p:txBody>
      </p:sp>
      <p:sp>
        <p:nvSpPr>
          <p:cNvPr id="19" name="TextBox 18"/>
          <p:cNvSpPr txBox="1"/>
          <p:nvPr/>
        </p:nvSpPr>
        <p:spPr>
          <a:xfrm>
            <a:off x="9152915" y="216934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следом офис за рубежом, смена руководителя и сервисная модель</a:t>
            </a:r>
          </a:p>
        </p:txBody>
      </p:sp>
      <p:sp>
        <p:nvSpPr>
          <p:cNvPr id="20" name="TextBox 19"/>
          <p:cNvSpPr txBox="1"/>
          <p:nvPr/>
        </p:nvSpPr>
        <p:spPr>
          <a:xfrm>
            <a:off x="502920" y="3461472"/>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21" name="Rounded Rectangle 20"/>
          <p:cNvSpPr/>
          <p:nvPr/>
        </p:nvSpPr>
        <p:spPr>
          <a:xfrm>
            <a:off x="1920240" y="342489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47061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23" name="Right Arrow 22"/>
          <p:cNvSpPr/>
          <p:nvPr/>
        </p:nvSpPr>
        <p:spPr>
          <a:xfrm>
            <a:off x="4202353" y="383166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42489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47061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26" name="Right Arrow 25"/>
          <p:cNvSpPr/>
          <p:nvPr/>
        </p:nvSpPr>
        <p:spPr>
          <a:xfrm>
            <a:off x="6713067" y="3831661"/>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42489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47061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9" name="Right Arrow 28"/>
          <p:cNvSpPr/>
          <p:nvPr/>
        </p:nvSpPr>
        <p:spPr>
          <a:xfrm>
            <a:off x="9223781" y="3831661"/>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424896"/>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470616"/>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32" name="TextBox 31"/>
          <p:cNvSpPr txBox="1"/>
          <p:nvPr/>
        </p:nvSpPr>
        <p:spPr>
          <a:xfrm>
            <a:off x="502920" y="441216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33" name="Rounded Rectangle 32"/>
          <p:cNvSpPr/>
          <p:nvPr/>
        </p:nvSpPr>
        <p:spPr>
          <a:xfrm>
            <a:off x="374904" y="4714846"/>
            <a:ext cx="11441887" cy="1344831"/>
          </a:xfrm>
          <a:prstGeom prst="roundRect">
            <a:avLst>
              <a:gd name="adj" fmla="val 22664"/>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806286"/>
            <a:ext cx="11112703" cy="125339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a:t>
            </a:r>
            <a:r>
              <a:rPr sz="1250" b="0" i="1">
                <a:solidFill>
                  <a:srgbClr val="21295C"/>
                </a:solidFill>
                <a:latin typeface="Arial"/>
              </a:rPr>
              <a:t>прогноз на структурированных данных</a:t>
            </a:r>
            <a:r>
              <a:rPr sz="1250" b="0" i="0">
                <a:solidFill>
                  <a:srgbClr val="21295C"/>
                </a:solidFill>
                <a:latin typeface="Arial"/>
              </a:rPr>
              <a:t>): вход — связи «мишень — болезнь — препарат», выход — молекула под мишень. </a:t>
            </a:r>
            <a:r>
              <a:rPr sz="1250" b="1" i="0">
                <a:solidFill>
                  <a:srgbClr val="21295C"/>
                </a:solidFill>
                <a:latin typeface="Arial"/>
              </a:rPr>
              <a:t>Ни компании, ни молекулы, ни данных обучения источники не называют.</a:t>
            </a:r>
            <a:r>
              <a:rPr sz="1250" b="0" i="0">
                <a:solidFill>
                  <a:srgbClr val="21295C"/>
                </a:solidFill>
                <a:latin typeface="Arial"/>
              </a:rPr>
              <a:t> Испытание прошло по правилам: разница выяснилась </a:t>
            </a:r>
            <a:r>
              <a:rPr sz="1250" b="1" i="0">
                <a:solidFill>
                  <a:srgbClr val="21295C"/>
                </a:solidFill>
                <a:latin typeface="Arial"/>
              </a:rPr>
              <a:t>только на людях</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1" i="0">
                <a:solidFill>
                  <a:srgbClr val="21295C"/>
                </a:solidFill>
                <a:latin typeface="Arial"/>
              </a:rPr>
              <a:t>Переехал порядок работ — на масштабе модели бизнеса. дало</a:t>
            </a:r>
            <a:r>
              <a:rPr sz="1250" b="0" i="0">
                <a:solidFill>
                  <a:srgbClr val="21295C"/>
                </a:solidFill>
                <a:latin typeface="Arial"/>
              </a:rPr>
              <a:t> программу до второй фазы · </a:t>
            </a:r>
            <a:r>
              <a:rPr sz="1250" b="1" i="0">
                <a:solidFill>
                  <a:srgbClr val="21295C"/>
                </a:solidFill>
                <a:latin typeface="Arial"/>
              </a:rPr>
              <a:t>потребовало</a:t>
            </a:r>
            <a:r>
              <a:rPr sz="1250" b="0" i="0">
                <a:solidFill>
                  <a:srgbClr val="21295C"/>
                </a:solidFill>
                <a:latin typeface="Arial"/>
              </a:rPr>
              <a:t> успеха там, где отрасль даёт меньше трети · </a:t>
            </a:r>
            <a:r>
              <a:rPr sz="1250" b="1" i="0">
                <a:solidFill>
                  <a:srgbClr val="21295C"/>
                </a:solidFill>
                <a:latin typeface="Arial"/>
              </a:rPr>
              <a:t>в сумме</a:t>
            </a:r>
            <a:r>
              <a:rPr sz="1250" b="0" i="0">
                <a:solidFill>
                  <a:srgbClr val="21295C"/>
                </a:solidFill>
                <a:latin typeface="Arial"/>
              </a:rPr>
              <a:t> две волны сокращений</a:t>
            </a:r>
          </a:p>
        </p:txBody>
      </p:sp>
      <p:sp>
        <p:nvSpPr>
          <p:cNvPr id="35" name="Rectangle 34"/>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r>
              <a:rPr sz="1200" b="0" i="1">
                <a:solidFill>
                  <a:srgbClr val="1C7293"/>
                </a:solidFill>
                <a:latin typeface="Arial"/>
              </a:rPr>
              <a:t> · </a:t>
            </a: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Разработка лекарства: ранний шаг подешевел многократно, одобрений — ноль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срезать объём физического перебора: расчёт вместо миллионов опытных итераций</a:t>
            </a:r>
          </a:p>
          <a:p>
            <a:pPr algn="l">
              <a:lnSpc>
                <a:spcPct val="126000"/>
              </a:lnSpc>
              <a:spcBef>
                <a:spcPts val="700"/>
              </a:spcBef>
            </a:pPr>
            <a:r>
              <a:rPr sz="1200" b="0" i="0">
                <a:solidFill>
                  <a:srgbClr val="21295C"/>
                </a:solidFill>
                <a:latin typeface="Arial"/>
              </a:rPr>
              <a:t/>
            </a:r>
            <a:r>
              <a:rPr sz="1200" b="0" i="0">
                <a:solidFill>
                  <a:srgbClr val="21295C"/>
                </a:solidFill>
                <a:latin typeface="Arial"/>
              </a:rPr>
              <a:t>• сжать доклинику: заявлено меньше двенадцати месяцев вместо нескольких лет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первую фазу чаще базы: </a:t>
            </a:r>
            <a:r>
              <a:rPr sz="1200" b="1" i="0">
                <a:solidFill>
                  <a:srgbClr val="21295C"/>
                </a:solidFill>
                <a:latin typeface="Arial"/>
              </a:rPr>
              <a:t>80–90 из ста</a:t>
            </a:r>
            <a:r>
              <a:rPr sz="1200" b="0" i="0">
                <a:solidFill>
                  <a:srgbClr val="21295C"/>
                </a:solidFill>
                <a:latin typeface="Arial"/>
              </a:rPr>
              <a:t> против </a:t>
            </a:r>
            <a:r>
              <a:rPr sz="1200" b="1" i="0">
                <a:solidFill>
                  <a:srgbClr val="21295C"/>
                </a:solidFill>
                <a:latin typeface="Arial"/>
              </a:rPr>
              <a:t>52,0</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вторую фазу лучше базы: около </a:t>
            </a:r>
            <a:r>
              <a:rPr sz="1200" b="1" i="0">
                <a:solidFill>
                  <a:srgbClr val="21295C"/>
                </a:solidFill>
                <a:latin typeface="Arial"/>
              </a:rPr>
              <a:t>40</a:t>
            </a:r>
            <a:r>
              <a:rPr sz="1200" b="0" i="0">
                <a:solidFill>
                  <a:srgbClr val="21295C"/>
                </a:solidFill>
                <a:latin typeface="Arial"/>
              </a:rPr>
              <a:t> против </a:t>
            </a:r>
            <a:r>
              <a:rPr sz="1200" b="1" i="0">
                <a:solidFill>
                  <a:srgbClr val="21295C"/>
                </a:solidFill>
                <a:latin typeface="Arial"/>
              </a:rPr>
              <a:t>28,9</a:t>
            </a:r>
            <a:r>
              <a:rPr sz="1200" b="0" i="0">
                <a:solidFill>
                  <a:srgbClr val="21295C"/>
                </a:solidFill>
                <a:latin typeface="Arial"/>
              </a:rPr>
              <a:t> — сопоставимо</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получить одобрение: за десять лет категории — </a:t>
            </a:r>
            <a:r>
              <a:rPr sz="1200" b="1" i="0">
                <a:solidFill>
                  <a:srgbClr val="21295C"/>
                </a:solidFill>
                <a:latin typeface="Arial"/>
              </a:rPr>
              <a:t>ноль</a:t>
            </a:r>
            <a:r>
              <a:rPr sz="1200" b="0" i="0">
                <a:solidFill>
                  <a:srgbClr val="21295C"/>
                </a:solidFill>
                <a:latin typeface="Arial"/>
              </a:rPr>
              <a:t> при 75 и 117 активах</a:t>
            </a:r>
          </a:p>
          <a:p>
            <a:pPr algn="l">
              <a:lnSpc>
                <a:spcPct val="126000"/>
              </a:lnSpc>
              <a:spcBef>
                <a:spcPts val="700"/>
              </a:spcBef>
            </a:pPr>
            <a:r>
              <a:rPr sz="1200" b="0" i="0">
                <a:solidFill>
                  <a:srgbClr val="21295C"/>
                </a:solidFill>
                <a:latin typeface="Arial"/>
              </a:rPr>
              <a:t/>
            </a:r>
            <a:r>
              <a:rPr sz="1200" b="0" i="0">
                <a:solidFill>
                  <a:srgbClr val="21295C"/>
                </a:solidFill>
                <a:latin typeface="Arial"/>
              </a:rPr>
              <a:t>• сократить четыре работы на людях: задачи для модели там нет ни одной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нагрузка переехала на другой шаг</a:t>
            </a:r>
            <a:r>
              <a:rPr sz="1200" b="0" i="0">
                <a:solidFill>
                  <a:srgbClr val="21295C"/>
                </a:solidFill>
                <a:latin typeface="Arial"/>
              </a:rPr>
              <a:t> — и на молекуле, и на отрасли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объём на том же месте упал</a:t>
            </a:r>
            <a:r>
              <a:rPr sz="1200" b="0" i="0">
                <a:solidFill>
                  <a:srgbClr val="21295C"/>
                </a:solidFill>
                <a:latin typeface="Arial"/>
              </a:rPr>
              <a:t> — тот же шаг, тот же исполнитель, меньше итераций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изменился порядок работ</a:t>
            </a:r>
            <a:r>
              <a:rPr sz="1200" b="0" i="0">
                <a:solidFill>
                  <a:srgbClr val="21295C"/>
                </a:solidFill>
                <a:latin typeface="Arial"/>
              </a:rPr>
              <a:t> — на масштабе модели бизнеса; препарата это не касается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доклиника и три фазы на людях: их длину задают физиология и протокол</a:t>
            </a:r>
          </a:p>
          <a:p>
            <a:pPr algn="l">
              <a:lnSpc>
                <a:spcPct val="126000"/>
              </a:lnSpc>
              <a:spcBef>
                <a:spcPts val="700"/>
              </a:spcBef>
            </a:pPr>
            <a:r>
              <a:rPr sz="1200" b="0" i="0">
                <a:solidFill>
                  <a:srgbClr val="21295C"/>
                </a:solidFill>
                <a:latin typeface="Arial"/>
              </a:rPr>
              <a:t/>
            </a:r>
            <a:r>
              <a:rPr sz="1200" b="0" i="0">
                <a:solidFill>
                  <a:srgbClr val="21295C"/>
                </a:solidFill>
                <a:latin typeface="Arial"/>
              </a:rPr>
              <a:t>• воронка переходов </a:t>
            </a:r>
            <a:r>
              <a:rPr sz="1200" b="1" i="0">
                <a:solidFill>
                  <a:srgbClr val="21295C"/>
                </a:solidFill>
                <a:latin typeface="Arial"/>
              </a:rPr>
              <a:t>52,0 · 28,9 · 7,9</a:t>
            </a:r>
            <a:r>
              <a:rPr sz="1200" b="0" i="0">
                <a:solidFill>
                  <a:srgbClr val="21295C"/>
                </a:solidFill>
                <a:latin typeface="Arial"/>
              </a:rPr>
              <a:t> — база для сравнения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«шаг исчез» не подтверждается</a:t>
            </a:r>
            <a:r>
              <a:rPr sz="1200" b="0" i="0">
                <a:solidFill>
                  <a:srgbClr val="21295C"/>
                </a:solidFill>
                <a:latin typeface="Arial"/>
              </a:rPr>
              <a:t> — депозиты держат плато </a:t>
            </a:r>
            <a:r>
              <a:rPr sz="1200" b="1" i="0">
                <a:solidFill>
                  <a:srgbClr val="21295C"/>
                </a:solidFill>
                <a:latin typeface="Arial"/>
              </a:rPr>
              <a:t>9–10 тысяч в год</a:t>
            </a:r>
            <a:r>
              <a:rPr sz="1200" b="0" i="0">
                <a:solidFill>
                  <a:srgbClr val="21295C"/>
                </a:solidFill>
                <a:latin typeface="Arial"/>
              </a:rPr>
              <a:t> с 2015 года</a:t>
            </a:r>
          </a:p>
          <a:p>
            <a:pPr algn="l">
              <a:lnSpc>
                <a:spcPct val="126000"/>
              </a:lnSpc>
              <a:spcBef>
                <a:spcPts val="700"/>
              </a:spcBef>
            </a:pPr>
            <a:r>
              <a:rPr sz="1200" b="0" i="0">
                <a:solidFill>
                  <a:srgbClr val="21295C"/>
                </a:solidFill>
                <a:latin typeface="Arial"/>
              </a:rPr>
              <a:t/>
            </a:r>
            <a:r>
              <a:rPr sz="1200" b="1" i="0">
                <a:solidFill>
                  <a:srgbClr val="21295C"/>
                </a:solidFill>
                <a:latin typeface="Arial"/>
              </a:rPr>
              <a:t>Ещё два случая — упоминанием, числом и базой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молекула за год:</a:t>
            </a:r>
            <a:r>
              <a:rPr sz="1200" b="0" i="0">
                <a:solidFill>
                  <a:srgbClr val="21295C"/>
                </a:solidFill>
                <a:latin typeface="Arial"/>
              </a:rPr>
              <a:t> доклиника меньше </a:t>
            </a:r>
            <a:r>
              <a:rPr sz="1200" b="1" i="0">
                <a:solidFill>
                  <a:srgbClr val="21295C"/>
                </a:solidFill>
                <a:latin typeface="Arial"/>
              </a:rPr>
              <a:t>12 месяцев</a:t>
            </a:r>
            <a:r>
              <a:rPr sz="1200" b="0" i="0">
                <a:solidFill>
                  <a:srgbClr val="21295C"/>
                </a:solidFill>
                <a:latin typeface="Arial"/>
              </a:rPr>
              <a:t> против </a:t>
            </a:r>
            <a:r>
              <a:rPr sz="1200" b="1" i="0">
                <a:solidFill>
                  <a:srgbClr val="21295C"/>
                </a:solidFill>
                <a:latin typeface="Arial"/>
              </a:rPr>
              <a:t>4,5 года</a:t>
            </a:r>
            <a:r>
              <a:rPr sz="1200" b="0" i="0">
                <a:solidFill>
                  <a:srgbClr val="21295C"/>
                </a:solidFill>
                <a:latin typeface="Arial"/>
              </a:rPr>
              <a:t>, но оба числа заявила сама компания; снята на первой фазе, база перехода — </a:t>
            </a:r>
            <a:r>
              <a:rPr sz="1200" b="1" i="0">
                <a:solidFill>
                  <a:srgbClr val="21295C"/>
                </a:solidFill>
                <a:latin typeface="Arial"/>
              </a:rPr>
              <a:t>52,0 из 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воронка категории:</a:t>
            </a:r>
            <a:r>
              <a:rPr sz="1200" b="0" i="0">
                <a:solidFill>
                  <a:srgbClr val="21295C"/>
                </a:solidFill>
                <a:latin typeface="Arial"/>
              </a:rPr>
              <a:t> переход второй фазы </a:t>
            </a:r>
            <a:r>
              <a:rPr sz="1200" b="1" i="0">
                <a:solidFill>
                  <a:srgbClr val="21295C"/>
                </a:solidFill>
                <a:latin typeface="Arial"/>
              </a:rPr>
              <a:t>около 40</a:t>
            </a:r>
            <a:r>
              <a:rPr sz="1200" b="0" i="0">
                <a:solidFill>
                  <a:srgbClr val="21295C"/>
                </a:solidFill>
                <a:latin typeface="Arial"/>
              </a:rPr>
              <a:t> против базы </a:t>
            </a:r>
            <a:r>
              <a:rPr sz="1200" b="1" i="0">
                <a:solidFill>
                  <a:srgbClr val="21295C"/>
                </a:solidFill>
                <a:latin typeface="Arial"/>
              </a:rPr>
              <a:t>28,9</a:t>
            </a:r>
            <a:r>
              <a:rPr sz="1200" b="0" i="0">
                <a:solidFill>
                  <a:srgbClr val="21295C"/>
                </a:solidFill>
                <a:latin typeface="Arial"/>
              </a:rPr>
              <a:t>; одобрений — </a:t>
            </a:r>
            <a:r>
              <a:rPr sz="1200" b="1" i="0">
                <a:solidFill>
                  <a:srgbClr val="21295C"/>
                </a:solidFill>
                <a:latin typeface="Arial"/>
              </a:rPr>
              <a:t>0</a:t>
            </a:r>
            <a:r>
              <a:rPr sz="1200" b="0" i="0">
                <a:solidFill>
                  <a:srgbClr val="21295C"/>
                </a:solidFill>
                <a:latin typeface="Arial"/>
              </a:rPr>
              <a:t> при 75 и 117 активах в клинике</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Ранний шаг подешевел многократно. Одобрений — </a:t>
            </a:r>
            <a:r>
              <a:rPr sz="1200" b="1" i="0">
                <a:solidFill>
                  <a:srgbClr val="21295C"/>
                </a:solidFill>
                <a:latin typeface="Arial"/>
              </a:rPr>
              <a:t>0</a:t>
            </a:r>
            <a:r>
              <a:rPr sz="1200" b="0" i="0">
                <a:solidFill>
                  <a:srgbClr val="21295C"/>
                </a:solidFill>
                <a:latin typeface="Arial"/>
              </a:rPr>
              <a:t>. Узкое место лежит дальше и не подешевело.</a:t>
            </a:r>
          </a:p>
          <a:p>
            <a:pPr algn="l">
              <a:lnSpc>
                <a:spcPct val="126000"/>
              </a:lnSpc>
              <a:spcBef>
                <a:spcPts val="700"/>
              </a:spcBef>
            </a:pPr>
            <a:r>
              <a:rPr sz="1200" b="0" i="0">
                <a:solidFill>
                  <a:srgbClr val="21295C"/>
                </a:solidFill>
                <a:latin typeface="Arial"/>
              </a:rPr>
              <a:t/>
            </a:r>
            <a:r>
              <a:rPr sz="1200" b="1" i="0">
                <a:solidFill>
                  <a:srgbClr val="21295C"/>
                </a:solidFill>
                <a:latin typeface="Arial"/>
              </a:rPr>
              <a:t>Адрес платежа здесь пуст: платит не человек</a:t>
            </a:r>
            <a:r>
              <a:rPr sz="1200" b="0" i="0">
                <a:solidFill>
                  <a:srgbClr val="21295C"/>
                </a:solidFill>
                <a:latin typeface="Arial"/>
              </a:rPr>
              <a:t> — решают о веществе. Мерить надо пропускную способность шага, которого вы не трогали.</a:t>
            </a:r>
          </a:p>
        </p:txBody>
      </p:sp>
      <p:sp>
        <p:nvSpPr>
          <p:cNvPr id="7" name="Rectangle 6"/>
          <p:cNvSpPr/>
          <p:nvPr/>
        </p:nvSpPr>
        <p:spPr>
          <a:xfrm>
            <a:off x="6091275" y="1335024"/>
            <a:ext cx="9144" cy="4840131"/>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Девять форм словаря целиком, со счётом под каждой · 2. Сколько раз выигрыш оказался приписан не тому · 3. Клетки узнаваемые, процедуры другие · 4. Чем заплатили и чем каждое держится · 5. Четыре разных ответа на один вопрос</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целиком: чем лекция называла то, что происходит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9107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9846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230567" y="1335024"/>
            <a:ext cx="374354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376871" y="1335024"/>
            <a:ext cx="345093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974111" y="1335024"/>
            <a:ext cx="1902397"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20415" y="1335024"/>
            <a:ext cx="160978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что мерит</a:t>
            </a:r>
          </a:p>
        </p:txBody>
      </p:sp>
      <p:sp>
        <p:nvSpPr>
          <p:cNvPr id="11" name="Rectangle 10"/>
          <p:cNvSpPr/>
          <p:nvPr/>
        </p:nvSpPr>
        <p:spPr>
          <a:xfrm>
            <a:off x="6876508" y="1335024"/>
            <a:ext cx="4775690"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022812" y="1335024"/>
            <a:ext cx="4483082"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69107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230567" y="1718403"/>
            <a:ext cx="374354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76871" y="171840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974111" y="1718403"/>
            <a:ext cx="1902397"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20415" y="171840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6876508" y="1718403"/>
            <a:ext cx="4775690"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022812" y="171840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одобрений регулятора </a:t>
            </a:r>
            <a:r>
              <a:rPr sz="1200" b="1" i="0">
                <a:solidFill>
                  <a:srgbClr val="21295C"/>
                </a:solidFill>
                <a:latin typeface="Arial"/>
              </a:rPr>
              <a:t>ноль</a:t>
            </a:r>
          </a:p>
        </p:txBody>
      </p:sp>
      <p:sp>
        <p:nvSpPr>
          <p:cNvPr id="21" name="Rectangle 20"/>
          <p:cNvSpPr/>
          <p:nvPr/>
        </p:nvSpPr>
        <p:spPr>
          <a:xfrm>
            <a:off x="539496" y="2101783"/>
            <a:ext cx="69107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230567" y="2101783"/>
            <a:ext cx="374354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76871" y="210178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974111" y="2101783"/>
            <a:ext cx="1902397"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20415" y="210178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6876508" y="2101783"/>
            <a:ext cx="4775690"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022812" y="2101783"/>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69107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230567" y="2485163"/>
            <a:ext cx="374354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76871" y="248516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974111" y="2485163"/>
            <a:ext cx="1902397"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20415" y="248516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6876508" y="2485163"/>
            <a:ext cx="4775690"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022812" y="248516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расхождений </a:t>
            </a:r>
            <a:r>
              <a:rPr sz="1200" b="1" i="0">
                <a:solidFill>
                  <a:srgbClr val="21295C"/>
                </a:solidFill>
                <a:latin typeface="Arial"/>
              </a:rPr>
              <a:t>+53 %</a:t>
            </a:r>
          </a:p>
        </p:txBody>
      </p:sp>
      <p:sp>
        <p:nvSpPr>
          <p:cNvPr id="37" name="Rectangle 36"/>
          <p:cNvSpPr/>
          <p:nvPr/>
        </p:nvSpPr>
        <p:spPr>
          <a:xfrm>
            <a:off x="539496" y="2868543"/>
            <a:ext cx="69107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230567" y="2868543"/>
            <a:ext cx="374354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76871" y="286854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974111" y="2868543"/>
            <a:ext cx="1902397"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20415" y="286854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6876508" y="2868543"/>
            <a:ext cx="4775690"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022812" y="286854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69107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230567" y="3251923"/>
            <a:ext cx="374354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76871" y="325192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974111" y="3251923"/>
            <a:ext cx="1902397"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20415" y="325192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6876508" y="3251923"/>
            <a:ext cx="4775690"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7022812" y="325192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две реализации, знаки противоположные</a:t>
            </a:r>
          </a:p>
        </p:txBody>
      </p:sp>
      <p:sp>
        <p:nvSpPr>
          <p:cNvPr id="53" name="Rectangle 52"/>
          <p:cNvSpPr/>
          <p:nvPr/>
        </p:nvSpPr>
        <p:spPr>
          <a:xfrm>
            <a:off x="539496" y="3635303"/>
            <a:ext cx="69107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230567" y="3635303"/>
            <a:ext cx="374354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76871" y="363530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сменился</a:t>
            </a:r>
          </a:p>
        </p:txBody>
      </p:sp>
      <p:sp>
        <p:nvSpPr>
          <p:cNvPr id="57" name="Rectangle 56"/>
          <p:cNvSpPr/>
          <p:nvPr/>
        </p:nvSpPr>
        <p:spPr>
          <a:xfrm>
            <a:off x="4974111" y="3635303"/>
            <a:ext cx="1902397"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20415" y="363530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6876508" y="3635303"/>
            <a:ext cx="4775690"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7022812" y="363530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61" name="Rectangle 60"/>
          <p:cNvSpPr/>
          <p:nvPr/>
        </p:nvSpPr>
        <p:spPr>
          <a:xfrm>
            <a:off x="539496" y="4018683"/>
            <a:ext cx="69107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230567" y="4018683"/>
            <a:ext cx="374354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76871" y="401868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974111" y="4018683"/>
            <a:ext cx="1902397"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20415" y="401868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6876508" y="4018683"/>
            <a:ext cx="4775690"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7022812" y="4018683"/>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69107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230567" y="4402063"/>
            <a:ext cx="374354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76871" y="4402063"/>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974111" y="4402063"/>
            <a:ext cx="1902397"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20415" y="4402063"/>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6876508" y="4402063"/>
            <a:ext cx="4775690"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7022812" y="4402063"/>
            <a:ext cx="448308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вмешаться способны — проверено у </a:t>
            </a:r>
            <a:r>
              <a:rPr sz="1200" b="1" i="0">
                <a:solidFill>
                  <a:srgbClr val="21295C"/>
                </a:solidFill>
                <a:latin typeface="Arial"/>
              </a:rPr>
              <a:t>56 из 717</a:t>
            </a:r>
          </a:p>
        </p:txBody>
      </p:sp>
      <p:sp>
        <p:nvSpPr>
          <p:cNvPr id="77" name="Rectangle 76"/>
          <p:cNvSpPr/>
          <p:nvPr/>
        </p:nvSpPr>
        <p:spPr>
          <a:xfrm>
            <a:off x="539496" y="4785442"/>
            <a:ext cx="69107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9846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230567" y="4785442"/>
            <a:ext cx="374354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76871" y="4785442"/>
            <a:ext cx="345093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974111" y="4785442"/>
            <a:ext cx="1902397"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20415" y="4785442"/>
            <a:ext cx="160978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состояние руки</a:t>
            </a:r>
          </a:p>
        </p:txBody>
      </p:sp>
      <p:sp>
        <p:nvSpPr>
          <p:cNvPr id="83" name="Rectangle 82"/>
          <p:cNvSpPr/>
          <p:nvPr/>
        </p:nvSpPr>
        <p:spPr>
          <a:xfrm>
            <a:off x="6876508" y="4785442"/>
            <a:ext cx="4775690"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7022812" y="4785442"/>
            <a:ext cx="4483082"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 процедур</a:t>
            </a:r>
          </a:p>
        </p:txBody>
      </p:sp>
      <p:sp>
        <p:nvSpPr>
          <p:cNvPr id="85" name="Rectangle 84"/>
          <p:cNvSpPr/>
          <p:nvPr/>
        </p:nvSpPr>
        <p:spPr>
          <a:xfrm>
            <a:off x="539496" y="5168822"/>
            <a:ext cx="69107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9846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230567" y="5168822"/>
            <a:ext cx="374354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76871" y="5168822"/>
            <a:ext cx="345093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974111" y="5168822"/>
            <a:ext cx="1902397"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20415" y="5168822"/>
            <a:ext cx="1609789"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состояние руки</a:t>
            </a:r>
          </a:p>
        </p:txBody>
      </p:sp>
      <p:sp>
        <p:nvSpPr>
          <p:cNvPr id="91" name="Rectangle 90"/>
          <p:cNvSpPr/>
          <p:nvPr/>
        </p:nvSpPr>
        <p:spPr>
          <a:xfrm>
            <a:off x="6876508" y="5168822"/>
            <a:ext cx="4775690"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7022812" y="5168822"/>
            <a:ext cx="4483082"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 ни одного</a:t>
            </a:r>
          </a:p>
        </p:txBody>
      </p:sp>
      <p:sp>
        <p:nvSpPr>
          <p:cNvPr id="93" name="TextBox 92"/>
          <p:cNvSpPr txBox="1"/>
          <p:nvPr/>
        </p:nvSpPr>
        <p:spPr>
          <a:xfrm>
            <a:off x="539496" y="5698506"/>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Семь форм из девяти со счётом; у двух счёта нет, и на их месте прочерк. Десятая строка — пустой номер: обратного случая не измерено. Какая из девяти встречалась у вас на работе?</a:t>
            </a:r>
          </a:p>
        </p:txBody>
      </p:sp>
      <p:sp>
        <p:nvSpPr>
          <p:cNvPr id="94" name="Rectangle 9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НА СВОИХ КАДРАХ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из пятнадцати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строк реестра: свой кадр либо названное число внутри разбора</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 И НА СЦЕНУ НЕ ВЫШЛО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потеряли свой кадр при сокращении, три стоят условно — их адрес за другим разделом</a:t>
            </a:r>
          </a:p>
        </p:txBody>
      </p:sp>
      <p:sp>
        <p:nvSpPr>
          <p:cNvPr id="12" name="Rounded Rectangle 11"/>
          <p:cNvSpPr/>
          <p:nvPr/>
        </p:nvSpPr>
        <p:spPr>
          <a:xfrm>
            <a:off x="374904" y="2803461"/>
            <a:ext cx="11441887" cy="3313590"/>
          </a:xfrm>
          <a:prstGeom prst="roundRect">
            <a:avLst>
              <a:gd name="adj" fmla="val 91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11112703"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Правило счёта: номинация подтверждена, если её разбор был на экране. Из девяти строк ниже свой разбор есть у четырёх.</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там вообще нет модели.</a:t>
            </a:r>
            <a:r>
              <a:rPr sz="1400" b="0" i="0">
                <a:solidFill>
                  <a:srgbClr val="21295C"/>
                </a:solidFill>
                <a:latin typeface="Arial"/>
              </a:rPr>
              <a:t> Сортировка обращений оказалась деревом «если-то». Прибор, измеряющий насыщение крови кислородом, смещён ещё до модели. Тревога кардиомонитора — порог на приборе. </a:t>
            </a:r>
            <a:r>
              <a:rPr sz="1400" b="1" i="0">
                <a:solidFill>
                  <a:srgbClr val="21295C"/>
                </a:solidFill>
                <a:latin typeface="Arial"/>
              </a:rPr>
              <a:t>Убери модель</a:t>
            </a:r>
            <a:r>
              <a:rPr sz="1400" b="0" i="0">
                <a:solidFill>
                  <a:srgbClr val="21295C"/>
                </a:solidFill>
                <a:latin typeface="Arial"/>
              </a:rPr>
              <a:t> — механизм продолжит работать.</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выигрыш не там, где показывают.</a:t>
            </a:r>
            <a:r>
              <a:rPr sz="1400" b="0" i="0">
                <a:solidFill>
                  <a:srgbClr val="21295C"/>
                </a:solidFill>
                <a:latin typeface="Arial"/>
              </a:rPr>
              <a:t> Снижение смертности принадлежит новой роли; качеству прогноза оно не принадлежит. «ИИ изобрёл лекарство» — расчёту физики связывания под известную мишень. «Миллионы обработанных исследований» — объёму: знаменателя нет. </a:t>
            </a:r>
            <a:r>
              <a:rPr sz="1400" b="1" i="0">
                <a:solidFill>
                  <a:srgbClr val="21295C"/>
                </a:solidFill>
                <a:latin typeface="Arial"/>
              </a:rPr>
              <a:t>Спроси, от чего посчитан эффект.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Копаешь — а числа выросли при пересказе.</a:t>
            </a:r>
            <a:r>
              <a:rPr sz="1400" b="0" i="0">
                <a:solidFill>
                  <a:srgbClr val="21295C"/>
                </a:solidFill>
                <a:latin typeface="Arial"/>
              </a:rPr>
              <a:t> Рецензируемый обзор перепутал шесть первоисточников из семи своих. «Три секунды на описание исследования» оказались временем модели, поданным как время врача. «Экономия двойного чтения» взята из сценария, который авторы сами назвали вымышленным. </a:t>
            </a:r>
            <a:r>
              <a:rPr sz="1400" b="1" i="0">
                <a:solidFill>
                  <a:srgbClr val="21295C"/>
                </a:solidFill>
                <a:latin typeface="Arial"/>
              </a:rPr>
              <a:t>Открой первоисточник: выборка, дизайн, журнал.</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Итог карты: четыре занятые клетки, восемь пустых — и ни одной общей процедуры</a:t>
            </a:r>
          </a:p>
        </p:txBody>
      </p:sp>
      <p:sp>
        <p:nvSpPr>
          <p:cNvPr id="4" name="Rounded Rectangle 3"/>
          <p:cNvSpPr/>
          <p:nvPr/>
        </p:nvSpPr>
        <p:spPr>
          <a:xfrm>
            <a:off x="374904" y="1243584"/>
            <a:ext cx="11441887" cy="4926906"/>
          </a:xfrm>
          <a:prstGeom prst="roundRect">
            <a:avLst>
              <a:gd name="adj" fmla="val 61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78364"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8575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717860" y="1335024"/>
            <a:ext cx="2595911"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864164" y="1335024"/>
            <a:ext cx="23033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13772" y="1335024"/>
            <a:ext cx="2941797"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0076" y="1335024"/>
            <a:ext cx="26491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569" y="1335024"/>
            <a:ext cx="339662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873" y="1335024"/>
            <a:ext cx="310402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178364"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717860" y="1727520"/>
            <a:ext cx="2595911"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64164" y="1727520"/>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13772" y="1727520"/>
            <a:ext cx="2941797"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60076" y="1727520"/>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255569" y="1727520"/>
            <a:ext cx="339662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873" y="1727520"/>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178364"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717860" y="2120016"/>
            <a:ext cx="2595911"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64164" y="2120016"/>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13772" y="2120016"/>
            <a:ext cx="2941797"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60076" y="2120016"/>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удержание</a:t>
            </a:r>
          </a:p>
        </p:txBody>
      </p:sp>
      <p:sp>
        <p:nvSpPr>
          <p:cNvPr id="27" name="Rectangle 26"/>
          <p:cNvSpPr/>
          <p:nvPr/>
        </p:nvSpPr>
        <p:spPr>
          <a:xfrm>
            <a:off x="8255569" y="2120016"/>
            <a:ext cx="339662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873" y="2120016"/>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178364"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717860" y="2512512"/>
            <a:ext cx="2595911"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64164" y="2512512"/>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313772" y="2512512"/>
            <a:ext cx="2941797"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60076" y="2512512"/>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569" y="2512512"/>
            <a:ext cx="339662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873" y="2512512"/>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17836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717860" y="2905008"/>
            <a:ext cx="2595911"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64164" y="2905008"/>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13772" y="2905008"/>
            <a:ext cx="2941797"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60076" y="2905008"/>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569" y="2905008"/>
            <a:ext cx="339662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873" y="2905008"/>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 · лекарство</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показанных — окно курсовой сетки из 42. В восемь клеток за восемь разделов не зашёл никто.</a:t>
            </a:r>
            <a:r>
              <a:rPr sz="1300" b="0" i="0">
                <a:solidFill>
                  <a:srgbClr val="21295C"/>
                </a:solidFill>
                <a:latin typeface="Arial"/>
              </a:rPr>
              <a:t> Вне окна ещё три места: генерация структуры · распознавание на видео · измерение и сигнал прибора, где обученной модели нет вовсе.</a:t>
            </a:r>
          </a:p>
        </p:txBody>
      </p:sp>
      <p:sp>
        <p:nvSpPr>
          <p:cNvPr id="46" name="TextBox 45"/>
          <p:cNvSpPr txBox="1"/>
          <p:nvPr/>
        </p:nvSpPr>
        <p:spPr>
          <a:xfrm>
            <a:off x="539496" y="4116334"/>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Процедуры — разные, и ни одна не совпадает с другой:</a:t>
            </a:r>
            <a:r>
              <a:rPr sz="1300" b="0" i="0">
                <a:solidFill>
                  <a:srgbClr val="21295C"/>
                </a:solidFill>
                <a:latin typeface="Arial"/>
              </a:rPr>
              <a:t> на изображении держат двойное чтение и арбитраж · на прогнозе — разбор ложных тревог как рабочее время · на тексте — вычитку и подпись · на структуре — фазы испытаний.</a:t>
            </a:r>
          </a:p>
        </p:txBody>
      </p:sp>
      <p:sp>
        <p:nvSpPr>
          <p:cNvPr id="47" name="TextBox 46"/>
          <p:cNvSpPr txBox="1"/>
          <p:nvPr/>
        </p:nvSpPr>
        <p:spPr>
          <a:xfrm>
            <a:off x="539496" y="505197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в процедуре проверка, тем дольше живёт ошибка:</a:t>
            </a:r>
            <a:r>
              <a:rPr sz="1300" b="0" i="0">
                <a:solidFill>
                  <a:srgbClr val="21295C"/>
                </a:solidFill>
                <a:latin typeface="Arial"/>
              </a:rPr>
              <a:t> изображение — внутри смены, структура — во второй фазе испытаний, через годы.</a:t>
            </a:r>
          </a:p>
        </p:txBody>
      </p:sp>
      <p:sp>
        <p:nvSpPr>
          <p:cNvPr id="48" name="TextBox 47"/>
          <p:cNvSpPr txBox="1"/>
          <p:nvPr/>
        </p:nvSpPr>
        <p:spPr>
          <a:xfrm>
            <a:off x="539496" y="5724499"/>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Пятая строка, которой в сетке нет: результат исполнителя без инструмента не держится ничем</a:t>
            </a:r>
            <a:r>
              <a:rPr sz="1300" b="0" i="0">
                <a:solidFill>
                  <a:srgbClr val="21295C"/>
                </a:solidFill>
                <a:latin typeface="Arial"/>
              </a:rPr>
              <a:t> — такой процедуры нет ни у кого.</a:t>
            </a:r>
          </a:p>
        </p:txBody>
      </p:sp>
      <p:sp>
        <p:nvSpPr>
          <p:cNvPr id="49" name="Rectangle 4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87243"/>
          </a:xfrm>
          <a:prstGeom prst="rect">
            <a:avLst/>
          </a:prstGeom>
          <a:noFill/>
        </p:spPr>
        <p:txBody>
          <a:bodyPr wrap="square" lIns="0" rIns="0" tIns="0" bIns="0" anchor="t">
            <a:spAutoFit/>
          </a:bodyPr>
          <a:lstStyle/>
          <a:p>
            <a:pPr algn="l">
              <a:lnSpc>
                <a:spcPct val="124000"/>
              </a:lnSpc>
            </a:pPr>
            <a:r>
              <a:rPr sz="1250" b="0" i="0">
                <a:solidFill>
                  <a:srgbClr val="21295C"/>
                </a:solidFill>
                <a:latin typeface="Arial"/>
              </a:rPr>
              <a:t>Четыре адреса платежа из начала возвращаются измерениями: внимание и навык — в поведении, арбитраж — в процессе, подпись — своей строкой.</a:t>
            </a:r>
          </a:p>
        </p:txBody>
      </p:sp>
      <p:sp>
        <p:nvSpPr>
          <p:cNvPr id="6" name="Rectangle 5"/>
          <p:cNvSpPr/>
          <p:nvPr/>
        </p:nvSpPr>
        <p:spPr>
          <a:xfrm>
            <a:off x="539496" y="1968571"/>
            <a:ext cx="1294566" cy="383379"/>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968571"/>
            <a:ext cx="100195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строка</a:t>
            </a:r>
          </a:p>
        </p:txBody>
      </p:sp>
      <p:sp>
        <p:nvSpPr>
          <p:cNvPr id="8" name="Rectangle 7"/>
          <p:cNvSpPr/>
          <p:nvPr/>
        </p:nvSpPr>
        <p:spPr>
          <a:xfrm>
            <a:off x="1834062" y="1968571"/>
            <a:ext cx="6184296" cy="383379"/>
          </a:xfrm>
          <a:prstGeom prst="rect">
            <a:avLst/>
          </a:prstGeom>
          <a:solidFill>
            <a:srgbClr val="065A82"/>
          </a:solidFill>
          <a:ln>
            <a:noFill/>
          </a:ln>
          <a:effectLst/>
        </p:spPr>
        <p:txBody>
          <a:bodyPr rtlCol="0" anchor="ctr"/>
          <a:lstStyle/>
          <a:p>
            <a:pPr algn="ctr"/>
          </a:p>
        </p:txBody>
      </p:sp>
      <p:sp>
        <p:nvSpPr>
          <p:cNvPr id="9" name="TextBox 8"/>
          <p:cNvSpPr txBox="1"/>
          <p:nvPr/>
        </p:nvSpPr>
        <p:spPr>
          <a:xfrm>
            <a:off x="1980366" y="1968571"/>
            <a:ext cx="589168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что измерено</a:t>
            </a:r>
          </a:p>
        </p:txBody>
      </p:sp>
      <p:sp>
        <p:nvSpPr>
          <p:cNvPr id="10" name="Rectangle 9"/>
          <p:cNvSpPr/>
          <p:nvPr/>
        </p:nvSpPr>
        <p:spPr>
          <a:xfrm>
            <a:off x="8018358" y="1968571"/>
            <a:ext cx="3633840" cy="383379"/>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164662" y="1968571"/>
            <a:ext cx="3341232"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измерено</a:t>
            </a:r>
          </a:p>
        </p:txBody>
      </p:sp>
      <p:sp>
        <p:nvSpPr>
          <p:cNvPr id="12" name="Rectangle 11"/>
          <p:cNvSpPr/>
          <p:nvPr/>
        </p:nvSpPr>
        <p:spPr>
          <a:xfrm>
            <a:off x="539496" y="2351950"/>
            <a:ext cx="1294566" cy="602167"/>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351950"/>
            <a:ext cx="100195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Поведение</a:t>
            </a:r>
          </a:p>
        </p:txBody>
      </p:sp>
      <p:sp>
        <p:nvSpPr>
          <p:cNvPr id="14" name="Rectangle 13"/>
          <p:cNvSpPr/>
          <p:nvPr/>
        </p:nvSpPr>
        <p:spPr>
          <a:xfrm>
            <a:off x="1834062" y="2351950"/>
            <a:ext cx="6184296" cy="602167"/>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80366" y="2351950"/>
            <a:ext cx="58916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поиск сужается при неверной подсказке · решение меняется под влиянием совета · техника падает без помощника · тревоги отклоняют массово</a:t>
            </a:r>
          </a:p>
        </p:txBody>
      </p:sp>
      <p:sp>
        <p:nvSpPr>
          <p:cNvPr id="16" name="Rectangle 15"/>
          <p:cNvSpPr/>
          <p:nvPr/>
        </p:nvSpPr>
        <p:spPr>
          <a:xfrm>
            <a:off x="8018358" y="2351950"/>
            <a:ext cx="3633840" cy="602167"/>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164662" y="2351950"/>
            <a:ext cx="3341232"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замер взгляда · обзор · наблюдение без повторения · обзор отклонений</a:t>
            </a:r>
          </a:p>
        </p:txBody>
      </p:sp>
      <p:sp>
        <p:nvSpPr>
          <p:cNvPr id="18" name="Rectangle 17"/>
          <p:cNvSpPr/>
          <p:nvPr/>
        </p:nvSpPr>
        <p:spPr>
          <a:xfrm>
            <a:off x="539496" y="2954118"/>
            <a:ext cx="1294566" cy="602167"/>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954118"/>
            <a:ext cx="100195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Психология</a:t>
            </a:r>
          </a:p>
        </p:txBody>
      </p:sp>
      <p:sp>
        <p:nvSpPr>
          <p:cNvPr id="20" name="Rectangle 19"/>
          <p:cNvSpPr/>
          <p:nvPr/>
        </p:nvSpPr>
        <p:spPr>
          <a:xfrm>
            <a:off x="1834062" y="2954118"/>
            <a:ext cx="6184296" cy="602167"/>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80366" y="2954118"/>
            <a:ext cx="58916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объяснение повышает согласие, качество решения — нет · запись пишется быстрее, вычитка остаётся</a:t>
            </a:r>
          </a:p>
        </p:txBody>
      </p:sp>
      <p:sp>
        <p:nvSpPr>
          <p:cNvPr id="22" name="Rectangle 21"/>
          <p:cNvSpPr/>
          <p:nvPr/>
        </p:nvSpPr>
        <p:spPr>
          <a:xfrm>
            <a:off x="8018358" y="2954118"/>
            <a:ext cx="3633840" cy="602167"/>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164662" y="2954118"/>
            <a:ext cx="3341232"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полевой опыт · замер рабочего времени</a:t>
            </a:r>
          </a:p>
        </p:txBody>
      </p:sp>
      <p:sp>
        <p:nvSpPr>
          <p:cNvPr id="24" name="Rectangle 23"/>
          <p:cNvSpPr/>
          <p:nvPr/>
        </p:nvSpPr>
        <p:spPr>
          <a:xfrm>
            <a:off x="539496" y="3556286"/>
            <a:ext cx="1294566"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556286"/>
            <a:ext cx="1001958"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Процесс</a:t>
            </a:r>
          </a:p>
        </p:txBody>
      </p:sp>
      <p:sp>
        <p:nvSpPr>
          <p:cNvPr id="26" name="Rectangle 25"/>
          <p:cNvSpPr/>
          <p:nvPr/>
        </p:nvSpPr>
        <p:spPr>
          <a:xfrm>
            <a:off x="1834062" y="3556286"/>
            <a:ext cx="6184296"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80366" y="3556286"/>
            <a:ext cx="58916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роль второго проверяющего переходит от человека к модели</a:t>
            </a:r>
          </a:p>
        </p:txBody>
      </p:sp>
      <p:sp>
        <p:nvSpPr>
          <p:cNvPr id="28" name="Rectangle 27"/>
          <p:cNvSpPr/>
          <p:nvPr/>
        </p:nvSpPr>
        <p:spPr>
          <a:xfrm>
            <a:off x="8018358" y="3556286"/>
            <a:ext cx="3633840"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164662" y="3556286"/>
            <a:ext cx="3341232"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испытание программы скрининга</a:t>
            </a:r>
          </a:p>
        </p:txBody>
      </p:sp>
      <p:sp>
        <p:nvSpPr>
          <p:cNvPr id="30" name="Rectangle 29"/>
          <p:cNvSpPr/>
          <p:nvPr/>
        </p:nvSpPr>
        <p:spPr>
          <a:xfrm>
            <a:off x="539496" y="3939666"/>
            <a:ext cx="1294566" cy="1039743"/>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939666"/>
            <a:ext cx="1001958" cy="1039743"/>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Подпись</a:t>
            </a:r>
          </a:p>
        </p:txBody>
      </p:sp>
      <p:sp>
        <p:nvSpPr>
          <p:cNvPr id="32" name="Rectangle 31"/>
          <p:cNvSpPr/>
          <p:nvPr/>
        </p:nvSpPr>
        <p:spPr>
          <a:xfrm>
            <a:off x="1834062" y="3939666"/>
            <a:ext cx="6184296" cy="1039743"/>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80366" y="3939666"/>
            <a:ext cx="5891688" cy="1039743"/>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требует человека финальным звеном — проверено у </a:t>
            </a:r>
            <a:r>
              <a:rPr sz="1200" b="1" i="0">
                <a:solidFill>
                  <a:srgbClr val="21295C"/>
                </a:solidFill>
                <a:latin typeface="Arial"/>
              </a:rPr>
              <a:t>56 из 717</a:t>
            </a:r>
            <a:r>
              <a:rPr sz="1200" b="0" i="0">
                <a:solidFill>
                  <a:srgbClr val="21295C"/>
                </a:solidFill>
                <a:latin typeface="Arial"/>
              </a:rPr>
              <a:t> · надзор говорит о способности вмешаться, о подписи не сказано · </a:t>
            </a:r>
            <a:r>
              <a:rPr sz="1200" b="1" i="0">
                <a:solidFill>
                  <a:srgbClr val="21295C"/>
                </a:solidFill>
                <a:latin typeface="Arial"/>
              </a:rPr>
              <a:t>несогласие с подсказкой при разборе случая оценивают ниже согласия</a:t>
            </a:r>
          </a:p>
        </p:txBody>
      </p:sp>
      <p:sp>
        <p:nvSpPr>
          <p:cNvPr id="34" name="Rectangle 33"/>
          <p:cNvSpPr/>
          <p:nvPr/>
        </p:nvSpPr>
        <p:spPr>
          <a:xfrm>
            <a:off x="8018358" y="3939666"/>
            <a:ext cx="3633840" cy="1039743"/>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164662" y="3939666"/>
            <a:ext cx="3341232" cy="1039743"/>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обзор поданной регуляторам документации · нормативный текст · рандомизированное испытание, 248 немецких врачей</a:t>
            </a:r>
          </a:p>
        </p:txBody>
      </p:sp>
      <p:sp>
        <p:nvSpPr>
          <p:cNvPr id="36" name="Rectangle 35"/>
          <p:cNvSpPr/>
          <p:nvPr/>
        </p:nvSpPr>
        <p:spPr>
          <a:xfrm>
            <a:off x="539496" y="4979409"/>
            <a:ext cx="1294566" cy="602167"/>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979409"/>
            <a:ext cx="100195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Контроль</a:t>
            </a:r>
          </a:p>
        </p:txBody>
      </p:sp>
      <p:sp>
        <p:nvSpPr>
          <p:cNvPr id="38" name="Rectangle 37"/>
          <p:cNvSpPr/>
          <p:nvPr/>
        </p:nvSpPr>
        <p:spPr>
          <a:xfrm>
            <a:off x="1834062" y="4979409"/>
            <a:ext cx="6184296" cy="602167"/>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1980366" y="4979409"/>
            <a:ext cx="58916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разная структура ошибок человека и модели даёт выигрыш пары</a:t>
            </a:r>
          </a:p>
        </p:txBody>
      </p:sp>
      <p:sp>
        <p:nvSpPr>
          <p:cNvPr id="40" name="Rectangle 39"/>
          <p:cNvSpPr/>
          <p:nvPr/>
        </p:nvSpPr>
        <p:spPr>
          <a:xfrm>
            <a:off x="8018358" y="4979409"/>
            <a:ext cx="3633840" cy="602167"/>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164662" y="4979409"/>
            <a:ext cx="3341232"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крупное агрегационное исследование, повторения нет</a:t>
            </a:r>
          </a:p>
        </p:txBody>
      </p:sp>
      <p:sp>
        <p:nvSpPr>
          <p:cNvPr id="42" name="TextBox 41"/>
          <p:cNvSpPr txBox="1"/>
          <p:nvPr/>
        </p:nvSpPr>
        <p:spPr>
          <a:xfrm>
            <a:off x="539496" y="572788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И то, чего нет ни в одной строке: исхода пациента нет ни у одного разбора ядра.</a:t>
            </a:r>
            <a:r>
              <a:rPr sz="1250" b="0" i="0">
                <a:solidFill>
                  <a:srgbClr val="21295C"/>
                </a:solidFill>
                <a:latin typeface="Arial"/>
              </a:rPr>
              <a:t> Никто не проверил, что случилось с больным из-за того, что врач стал хуже смотреть.</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СВИДЕТЕЛЬСТВА У ПЕРВОЙ СТУПЕНИ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рандомизированное исследование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программа скрининга, 80 033 женщины</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СВИДЕТЕЛЬСТВА У ЧЕТВЁРТОЙ, САМОЙ ЧАСТОЙ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счёт секунд — около двух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 — программисты с ассистентом кода</a:t>
            </a:r>
          </a:p>
        </p:txBody>
      </p:sp>
      <p:sp>
        <p:nvSpPr>
          <p:cNvPr id="12" name="Rounded Rectangle 11"/>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первым</a:t>
            </a:r>
            <a:r>
              <a:rPr sz="1400" b="0" i="0">
                <a:solidFill>
                  <a:srgbClr val="21295C"/>
                </a:solidFill>
                <a:latin typeface="Arial"/>
              </a:rPr>
              <a:t> — читает сам, модель даёт второе мнение; при расхождении идёт арбитраж. </a:t>
            </a:r>
            <a:r>
              <a:rPr sz="1400" b="0" i="1">
                <a:solidFill>
                  <a:srgbClr val="21295C"/>
                </a:solidFill>
                <a:latin typeface="Arial"/>
              </a:rPr>
              <a:t>Рандомизированное исследование программы скрининга.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вторым</a:t>
            </a:r>
            <a:r>
              <a:rPr sz="1400" b="0" i="0">
                <a:solidFill>
                  <a:srgbClr val="21295C"/>
                </a:solidFill>
                <a:latin typeface="Arial"/>
              </a:rPr>
              <a:t> — читает после модели: внимание сужается, верное решение иногда меняется на неверное. </a:t>
            </a:r>
            <a:r>
              <a:rPr sz="1400" b="0" i="1">
                <a:solidFill>
                  <a:srgbClr val="21295C"/>
                </a:solidFill>
                <a:latin typeface="Arial"/>
              </a:rPr>
              <a:t>Чтение с замером взгляда и систематический обзор.</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только спорное</a:t>
            </a:r>
            <a:r>
              <a:rPr sz="1400" b="0" i="0">
                <a:solidFill>
                  <a:srgbClr val="21295C"/>
                </a:solidFill>
                <a:latin typeface="Arial"/>
              </a:rPr>
              <a:t> — разбирает то, что модель отметила; остальное проходит мимо. </a:t>
            </a:r>
            <a:r>
              <a:rPr sz="1400" b="0" i="1">
                <a:solidFill>
                  <a:srgbClr val="21295C"/>
                </a:solidFill>
                <a:latin typeface="Arial"/>
              </a:rPr>
              <a:t>Обзор отклонений тревог и модель раннего предупреждения.</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Подписывает не глядя</a:t>
            </a:r>
            <a:r>
              <a:rPr sz="1400" b="0" i="0">
                <a:solidFill>
                  <a:srgbClr val="21295C"/>
                </a:solidFill>
                <a:latin typeface="Arial"/>
              </a:rPr>
              <a:t> — подпись есть, чтения нет, и </a:t>
            </a:r>
            <a:r>
              <a:rPr sz="1400" b="1" i="0">
                <a:solidFill>
                  <a:srgbClr val="21295C"/>
                </a:solidFill>
                <a:latin typeface="Arial"/>
              </a:rPr>
              <a:t>ход этот дешёвый: согласие с подсказкой при разборе случая оценивают выше отказа.</a:t>
            </a:r>
            <a:r>
              <a:rPr sz="1400" b="0" i="0">
                <a:solidFill>
                  <a:srgbClr val="21295C"/>
                </a:solidFill>
                <a:latin typeface="Arial"/>
              </a:rPr>
              <a:t> </a:t>
            </a:r>
            <a:r>
              <a:rPr sz="1400" b="0" i="1">
                <a:solidFill>
                  <a:srgbClr val="21295C"/>
                </a:solidFill>
                <a:latin typeface="Arial"/>
              </a:rPr>
              <a:t>Счёт секунд в лабораторном опыте, доля изделий с проверенной способностью вмешаться и испытание на 248 немецких врачах.</a:t>
            </a:r>
          </a:p>
          <a:p>
            <a:pPr algn="l">
              <a:lnSpc>
                <a:spcPct val="126000"/>
              </a:lnSpc>
              <a:spcBef>
                <a:spcPts val="700"/>
              </a:spcBef>
            </a:pPr>
            <a:r>
              <a:rPr sz="1400" b="0" i="0">
                <a:solidFill>
                  <a:srgbClr val="21295C"/>
                </a:solidFill>
                <a:latin typeface="Arial"/>
              </a:rPr>
              <a:t/>
            </a:r>
            <a:r>
              <a:rPr sz="1400" b="0" i="0">
                <a:solidFill>
                  <a:srgbClr val="21295C"/>
                </a:solidFill>
                <a:latin typeface="Arial"/>
              </a:rPr>
              <a:t>«Человек в контуре» — формулировка вопроса. Разряд свидетельства падает по мере того, как участие формальнее: про самую частую ступень известно меньше всего.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Четвёртая ступень — не чья-то вина: она следствие устройства процедуры и переделывается процедурой.</a:t>
            </a:r>
          </a:p>
        </p:txBody>
      </p:sp>
      <p:sp>
        <p:nvSpPr>
          <p:cNvPr id="15" name="Rectangle 14"/>
          <p:cNvSpPr/>
          <p:nvPr/>
        </p:nvSpPr>
        <p:spPr>
          <a:xfrm>
            <a:off x="6091275" y="2894901"/>
            <a:ext cx="9144" cy="33165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Цена несогласия при разборе случая: Tacconelli и соавторы, Journal of Nuclear Medicine 2026;67(9):1474–1480</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Что было обещано в начале — и чем лекция это отработала · 2. Изделие отзовут, решения этого года останутся · 3. Три проверки, которые работают в любой отрасли, и вопрос залу</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проведённую процедуру не переделать</a:t>
            </a:r>
          </a:p>
        </p:txBody>
      </p:sp>
      <p:sp>
        <p:nvSpPr>
          <p:cNvPr id="15" name="TextBox 14"/>
          <p:cNvSpPr txBox="1"/>
          <p:nvPr/>
        </p:nvSpPr>
        <p:spPr>
          <a:xfrm>
            <a:off x="8207044"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принятые до отзыва решения вместе с изделием не отзываются</a:t>
            </a:r>
          </a:p>
        </p:txBody>
      </p:sp>
      <p:sp>
        <p:nvSpPr>
          <p:cNvPr id="16" name="Rounded Rectangle 15"/>
          <p:cNvSpPr/>
          <p:nvPr/>
        </p:nvSpPr>
        <p:spPr>
          <a:xfrm>
            <a:off x="374904" y="3584307"/>
            <a:ext cx="11441887" cy="2475369"/>
          </a:xfrm>
          <a:prstGeom prst="roundRect">
            <a:avLst>
              <a:gd name="adj" fmla="val 123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75747"/>
            <a:ext cx="11112703" cy="238392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1" i="0">
                <a:solidFill>
                  <a:srgbClr val="21295C"/>
                </a:solidFill>
                <a:latin typeface="Arial"/>
              </a:rPr>
              <a:t>Право подписи.</a:t>
            </a:r>
            <a:r>
              <a:rPr sz="1250" b="0" i="0">
                <a:solidFill>
                  <a:srgbClr val="21295C"/>
                </a:solidFill>
                <a:latin typeface="Arial"/>
              </a:rPr>
              <a:t> При разборе случая комиссия оценивает действия человека; вопроса о модели в этой процедуре нет. А способен ли человек этим правом воспользоваться,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Ошибается иначе.</a:t>
            </a:r>
            <a:r>
              <a:rPr sz="1250" b="0" i="0">
                <a:solidFill>
                  <a:srgbClr val="21295C"/>
                </a:solidFill>
                <a:latin typeface="Arial"/>
              </a:rPr>
              <a:t> Направление подтверждено: на 106 опытах знак выигрыша пары зависит от того, какая сторона сильнее на задаче. Величины у опоры нет, и сказано это той же строкой, которой лекция требовала базу у чужих чисел.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 процедуры, проведённые упавшей рукой, уже проведены.</a:t>
            </a:r>
          </a:p>
          <a:p>
            <a:pPr algn="l">
              <a:lnSpc>
                <a:spcPct val="126000"/>
              </a:lnSpc>
              <a:spcBef>
                <a:spcPts val="70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a:t>
            </a:r>
            <a:r>
              <a:rPr sz="1250" b="0" i="0">
                <a:solidFill>
                  <a:srgbClr val="21295C"/>
                </a:solidFill>
                <a:latin typeface="Arial"/>
              </a:rPr>
              <a:t> Присутствие само по себе её не исполняет, и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50779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6845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95456"/>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37983"/>
            <a:ext cx="1770735" cy="188651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93431"/>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96060"/>
            <a:ext cx="1441551" cy="9729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37983"/>
            <a:ext cx="1770735" cy="188651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93431"/>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96060"/>
            <a:ext cx="1441551" cy="9729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Решение до отзыва</a:t>
            </a:r>
          </a:p>
          <a:p>
            <a:pPr algn="l">
              <a:lnSpc>
                <a:spcPct val="126000"/>
              </a:lnSpc>
            </a:pPr>
            <a:r>
              <a:rPr sz="12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которые работают в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у человека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как часто возражает и как часто правильно. Не измерена ни одна — «человек проверяет» ничем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который надо прочитать. Измеренная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и принятое без предварительной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