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Инструмент открывается в браузере: в страницу перетаскивают рентгеновский снимок грудной клетки и через три секунды получают профиль вероятностей по восемнадцати патологиям и тепловую карту поверх снимка — область, на которую модель смотрела, когда выдавала этот профиль. Вычисление идёт на том же ноутбуке: снимок не уходит на сервер, страница работает и без сети. Допуска не требуется, учётной записи не требуется, денег не требуется. Опубликован инструмент в 2019 году и лежит в открытом доступе седьмой год.</a:t>
            </a:r>
          </a:p>
          <a:p>
            <a:r>
              <a:t/>
            </a:r>
          </a:p>
          <a:p>
            <a:r>
              <a:t>Внутри — узкая свёрточная сеть, потомок работ по распознаванию патологий на рентгене грудной клетки, обученная на сотнях тысяч размеченных снимков. Она не рассуждает и не пишет текста: она выдаёт восемнадцать чисел. И сама подписана строкой «не для диагностики» — то есть первое, что посмотрело на снимок, заранее сняло с себя ответственность за то, что увидело.</a:t>
            </a:r>
          </a:p>
          <a:p>
            <a:r>
              <a:t/>
            </a:r>
          </a:p>
          <a:p>
            <a:r>
              <a:t>Разбором этот случай не стал, и причину стоит назвать сразу, потому что она держит всю лекцию: чисел с двух сторон у него нет, цена обеих ошибок не названа, классический порядок работы не посчитан. По трём условиям, которым подчиняются все разбираемые дальше случаи, он не проходит. Нужен он для другого — показать, что порядок работы изменился до всякого внедрения: модель оказалась первым, кто посмотрел на медицинское изображение, и это стало технически бесплатным. Барьера входа здесь нет вообще.</a:t>
            </a:r>
          </a:p>
          <a:p>
            <a:r>
              <a:t/>
            </a:r>
          </a:p>
          <a:p>
            <a:r>
              <a:t>Дальше всё — про второго смотрящего. Что он теперь делает, в какой момент подключается, сколько у него секунд, подтверждает ли прочитанное или подписывает непрочитанное, и чем всё это измерено. Вопрос, с которым стоит идти дальше, лучше задать себе на собственном опыте: получали ли вы когда-нибудь результат обследования раньше, чем врач успел его прочитать? Если получали — вы видели ровно этот порядок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 а для тех, кто учился сразу с помощником, длительных измерений не существует.</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 а разброс между двумя центрами оказался огромным — его называют вместе со средним, иначе получается отраслевая норма там, где её нет.</a:t>
            </a:r>
          </a:p>
          <a:p>
            <a:r>
              <a:t/>
            </a:r>
          </a:p>
          <a:p>
            <a:r>
              <a:t>Первая половина этой мысли курсу уже знакома: подешевел шаг — перестроилась работа, платят на другом шаге. Своё здесь — адрес: платят тем шагом, которым работает человек. При этом утверждения «платят дороже, чем сэкономили» тут нет и не будет: такого счёта в одной валюте не делал никто, и выдавать его за измеренный — ровно то, за что лекция разбирает поставщиков. Утверждение скромнее и проверяемо: платят, и вот чем.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октябре 2024 года опубликованы результаты рандомизированного исследования диагностического рассуждения. Пятьдесят практикующих врачей разбирали одни и те же клинические случаи, и случайно распределены были два состояния: врач работает как обычно — со справочниками, поиском и собственной памятью — и врач работает поверх большой языковой модели, то есть видит её разбор случая и строит заключение с ним. Третье состояние случайной ветвью не было: модель прогнали отдельно, без человека, по тем же задачам и оценили той же шкалой. Это наблюдательное дополнение к испытанию, и читать его надо именно так.</a:t>
            </a:r>
          </a:p>
          <a:p>
            <a:r>
              <a:t/>
            </a:r>
          </a:p>
          <a:p>
            <a:r>
              <a:t>Оценивали слепо, по шкале структурированного диагностического рассуждения: насколько полно назван перечень возможных диагнозов, насколько обоснованно из него вычеркнуто лишнее, насколько уместны следующие назначения. Результат из ста возможных: модель одна — 92, человек поверх модели — 76. Разрыв между ними по медианам — шестнадцать пунктов, и проверки значимости именно у этой пары в первоисточнике нет; первоисточник проверяет другой разрыв, и полный счёт идёт там, где разбирают чтение снимка.</a:t>
            </a:r>
          </a:p>
          <a:p>
            <a:r>
              <a:t/>
            </a:r>
          </a:p>
          <a:p>
            <a:r>
              <a:t>База, без которой эти числа говорят больше, чем источник. Пятьдесят врачей — почти все терапевты: сорок четыре из пятидесяти, остальные из неотложной и семейной медицины. Единица измерения — рассуждение на клинических виньетках по реальным случаям; исходов пациентов здесь нет, никто не проверял, выздоровел ли кто-нибудь. Группа с моделью работала быстрее — около пятисот двадцати секунд на случай против пятисот шестидесяти пяти, — и эта разница тоже в пределах случайного.</a:t>
            </a:r>
          </a:p>
          <a:p>
            <a:r>
              <a:t/>
            </a:r>
          </a:p>
          <a:p>
            <a:r>
              <a:t>Чего эта пара не доказывает: что модель лучше лечит, и что она сильнее пары при честном случайном распределении. Что она показывает: инструмент, который сам по себе точнее любой человеческой группы в этом замере, не поднял человека до себя. Организация, купившая такой инструмент, получила нереализованный потенциал — куплено девяносто два, работает семьдесят шесть, и в отчётности убытка нет. Такую цену не находят в отчёте и поэтому не чинят.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«человек в контуре» называет сразу четыре разных устройства работы, и между первым и четвёртым разница больше, чем между любой парой моделей. Разложить их помогает один признак — кто смотрит первым.</a:t>
            </a:r>
          </a:p>
          <a:p>
            <a:r>
              <a:t/>
            </a:r>
          </a:p>
          <a:p>
            <a:r>
              <a:t>Смотрит первым: человек читает данные сам, модель подключается после него или не подключается вовсе. Это классический режим двойного чтения и база для дальнейших разборов — именно с ним модель и сравнивают. Смотрит вторым: первый проход сделан моделью, человек читает её результат и подтверждает либо отклоняет; это та самая фраза в её обычном понимании. Смотрит только спорное: человек подключается на расхождении — там, где модель и второй источник не сошлись, или там, где модель отметила случай сомнительным; остального потока человек не видит. Подписывает не глядя: формально требование регулятора выполнено, человек в контуре стоит и подпись его есть — фактически участия нет.</a:t>
            </a:r>
          </a:p>
          <a:p>
            <a:r>
              <a:t/>
            </a:r>
          </a:p>
          <a:p>
            <a:r>
              <a:t>Чем заземлена четвёртая ступень. Медиана времени над подсказкой до решения её принять — около двух секунд; принятое без предварительной проверки правится потом в половине случаев против одной пятой. Если досчитать проверку, которую человек делает после принятия, медиана поднимается до шести с половиной секунд — больше половины всей проверки происходит после того, как решение принято. Разряд этого свидетельства называется точно: лабораторный замер на программистах с помощником кода, двадцать один участник и около тысячи подсказок. Клинического измерения под этой цифрой нет; она про формальность подтверждения как таковую, и двух секунд ровно столько, сколько нужно, чтобы согласиться, не прочитав.</a:t>
            </a:r>
          </a:p>
          <a:p>
            <a:r>
              <a:t/>
            </a:r>
          </a:p>
          <a:p>
            <a:r>
              <a:t>Рядом свидетельство без замера, и подпись у него соответствующая: нагрузка проверки в разработке переехала с младших на старших — младшие пишут с моделью и пишут больше, старшие не успевают проверять. Ни доли написанного с моделью, ни времени старших на проверку, ни числа отклонённых изменений под этим нет. Форма та же, что во всей лекции: пара сдвинула нагрузку и уронила результат в точке проверяющего. Но названа она свидетельством, измерением её назвать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начинается отрицанием точности, и это не фигура речи: измерено, что часто человек не точнее, и обоснование, стоящее на его точности, рассыпалось бы на первом разборе. Значит опоры нужны другие, и их три.</a:t>
            </a:r>
          </a:p>
          <a:p>
            <a:r>
              <a:t/>
            </a:r>
          </a:p>
          <a:p>
            <a:r>
              <a:t>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 вопрос о том, пользовался ли он моделью, в протоколе разбора обычно не стоит вовсе. Отсюда прямое следствие: вопрос о модели оказывается вопросом о процедуре вокруг неё.</a:t>
            </a:r>
          </a:p>
          <a:p>
            <a:r>
              <a:t/>
            </a:r>
          </a:p>
          <a:p>
            <a:r>
              <a:t>Ошибается иначе. Выигрыш пары «человек и модель» даёт несовпадение ошибок, а не превосходство одной из сторон. Если человек и модель ошибаются на одних и тех же случаях, пара не даёт ничего; если на разных — пара выигрывает даже тогда, когда каждая сторона в одиночку слабее. Самой доли несовпадения здесь нет, и это говорится сразу: такие измерения существуют, их числа сверку по первоисточнику не прошли. Измерена структура несовпадения — знак выигрыша пары переворачивается в зависимости от того, какая сторона сильнее на задаче, — и измерена асимметрия отклонений; на этом опора и стоит.</a:t>
            </a:r>
          </a:p>
          <a:p>
            <a:r>
              <a:t/>
            </a:r>
          </a:p>
          <a:p>
            <a:r>
              <a:t>Отменить нельзя. Изделие отозвать можно, и отзывают; решения, принятые по нему до отзыва, не отзываются.</a:t>
            </a:r>
          </a:p>
          <a:p>
            <a:r>
              <a:t/>
            </a:r>
          </a:p>
          <a:p>
            <a:r>
              <a:t>Из формулировки следуют три проверки, и они нужны не только в медицине — их прикладывают к любому рабочему контуру. Первая: есть ли независимый источник истины, кроме объяснения самой модели? Если вывод проверяют по её же самообъяснению, это не проверка: объяснение построено той же системой и согласовано с выводом по устройству. Вторая: измерено ли, что человек возражает? Нужны две доли — доля отклонённых подсказок и доля верных отклонений; без второй первая не подтверждает ничего, отклонять можно всё подряд. Третья: успевает ли он физически — секунды на решение против объёма, который надо прочитать. У этой величины бывает ответ «нет», и две секунды медианной проверки до принятия и есть такой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путь одного решения об одном человеке. Пришёл результат обследования. По нему назначено лечение. По назначению проведена операция. Человек живёт дальше с её последствиями. Ни один из этих шагов не отзывается. Снимок можно перечитать — и перечитывают. Назначение можно отменить до того, как его выполнили. Проведённую операцию и потерянные месяцы отменить нельзя.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видна разница между клиническим решением и инженерным, и она в цене отката. В инженерии цена ошибки зависит от того, сколько прошло между ошибкой и её обнаружением и чем именно обнаружение делается; прибор там физический — измерение, стенд, разборка узла. Накопленное считается в изделиях, и партию отзывают: это дорого, это публично, но это возможно. В медицине накопленное считается в людях, и отзыва нет. Устройство с рынка снять можно; решения, принятые по нему за два года его работы, останутся решениями.</a:t>
            </a:r>
          </a:p>
          <a:p>
            <a:r>
              <a:t/>
            </a:r>
          </a:p>
          <a:p>
            <a:r>
              <a:t>И второе, что меняется вместе с этим.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меняется навык, меняется доверие, меняется готовность возразить. Измерять ошибку модели через прибор, который сама модель и меняет, — это устройство задачи, с которым дальше придётся иметь дело в каждом разборе.</a:t>
            </a:r>
          </a:p>
          <a:p>
            <a:r>
              <a:t/>
            </a:r>
          </a:p>
          <a:p>
            <a:r>
              <a:t>Задержка между ошибкой и её обнаружением в клинической линии измеряется визитами: обнаружить ошибку может только следующий шаг, то есть другой человек в другой день. Отсюда и порядок лекций курса. Требования к доказательству в медицине сложились раньше и строже, чем в отраслях, где изделие можно разобрать: про инженерные системы с обученной моделью внутри прошлая лекция сказала залу прямо, что требований к ним нет, и это пробел. В медицине требования есть, и дальше они предъявляются документами.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курса — тип задачи по одной оси, модальность данных по другой — дана в начале курса и не переопределяется. По типу задачи: классификация, распознавание, поиск, генерация, прогноз, планирование. По модальности: текст, изображение, звук, видео, структурированные данные, код. Медицина занимает четыре клетки.</a:t>
            </a:r>
          </a:p>
          <a:p>
            <a:r>
              <a:t/>
            </a:r>
          </a:p>
          <a:p>
            <a:r>
              <a:t>Сама по себе такая раскладка — классификация, и мимо неё правильно проходить: на вопросы практика она не отвечает. Поэтому в каждой занятой клетке названо не «что бывает», а чем это делают сегодня: режим работы, несколько реализаций как примеры режима, направление принятия и то, чего режим не умеет.</a:t>
            </a:r>
          </a:p>
          <a:p>
            <a:r>
              <a:t/>
            </a:r>
          </a:p>
          <a:p>
            <a:r>
              <a:t>Чтение снимка занято режимом «модель вторым читателем или сортировка потока по риску». Растёт в скрининге и в сортировке, в автономию почти не идёт. Не умеет заменить арбитраж: кто разбирает расхождение, назначает процедура. Решение «направить или нет» на месте занято автономным чтением без врача: допущено единицами и только там, где вопрос бинарный; за годность снимка режим не отвечает, и добывать её приходится человеку без профильной подготовки. Предупреждение по данным карты встроено в медицинскую информационную систему поставщиком: расходится вместе с системой, независимые проверки отстают от развёртывания, а порог тревоги назначает организация — и цена ложной тревоги ложится на рабочее время. Работа с текстом даёт три режима с разной скоростью принятия: запись приёма под диктовку — быстрее всех, потому что диагноза не ставит; ответ по документам со ссылкой на источник; сортировка обращения словами после разобранного дальше случая стагнирует.</a:t>
            </a:r>
          </a:p>
          <a:p>
            <a:r>
              <a:t/>
            </a:r>
          </a:p>
          <a:p>
            <a:r>
              <a:t>Чисел в раскладке нет ни одного — ни долей рынка, ни числа допущенных изделий, ни «лидеров»: направление принятия названо словами, а названия реализаций устойчивее чисел, но не бессмертны. Прошлая лекция кончилась обещанием: инструменты в медицине будут выглядеть похоже, а отличаться будет цена ошибки и устройство процедур, которые её удерживают. Клетки те же, плюс одна, которой в инженерном проектировании не было, — порождение текста в медицинской записи. Совпадение клеток и есть результат: отрасли различает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 человеке, а не как каталог применений: каталог отвечает на вопрос «что бывает», путь — на вопрос «где за это платят». Раздел «Отбор» открывает вечер, потому что раньше всякого диагноза кто-то решает, попадёт ли человек в поле зрения. Дальше — «Анализ данных»: что именно измерили и на какой группе это посчитано, потому что число без группы ничего не говорит. «Постановка диагноза» разбирает, что происходит, когда человек читает рядом с моделью, а не вместо неё. «Наблюдение за состоянием» — кто вообще заметит ухудшение, если оно начнётся между визитами. «Ведение записи» — кто прочтёт сделанную запись потом, и в каком виде. «Чем удерживают» — какая подпись, процедура и норматив держат решение на месте. «Разработка лекарства» — где именно удешевили начало цикла и где после этого образовалось узкое место. «Что стало с теми, кто решает» — что происходит с навыком человека, который годами работает рядом с моделью. «Сборка» возвращает счёт по всем разделам сразу, а «Закрытие» — обязательство, заявленное в начале.</a:t>
            </a:r>
          </a:p>
          <a:p>
            <a:r>
              <a:t/>
            </a:r>
          </a:p>
          <a:p>
            <a:r>
              <a:t>Три разграничения — честный адрес, по которому тема закрывается: производство лекарственной формы — предмет другой лекции, про производственную линию; устройство предсказания структуры белка в этом вечере встречается только как готовый инструмент на столе исследователя, а как метод и научное событие его разбирает отдельная лекция про научный цикл; цифровые двойники — обещание отдельной лекции, и оно подтверждается, а не отменяется.</a:t>
            </a:r>
          </a:p>
          <a:p>
            <a:r>
              <a:t/>
            </a:r>
          </a:p>
          <a:p>
            <a:r>
              <a:t>Назначение лечения и оперативная помощь — не пробел и не чужая тема: оба предмета глава закрывает своими разделами, с числами, базами и разобранными провалами — от подбора дозы до предсказания падения давления на операции и сравнения с роботом. Со сцены они не идут потому, что на них нет времени. Материал есть, времени на него нет, и сказать это надо именно так. Прочерк как приём при этом остаётся — для клеток, по которым измеренного материала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так, а не «умеет ли модель читать снимки», по одной причине: умение модели уже предъявлено и ничего не стоит, а решение о человеке принимает не модель. Поэтому спрашивать надо про второго смотрящего — и про того, кто его работу измерял.</a:t>
            </a:r>
          </a:p>
          <a:p>
            <a:r>
              <a:t/>
            </a:r>
          </a:p>
          <a:p>
            <a:r>
              <a:t>Фраза «человек в контуре» на этот вопрос не отвечает. Она называет сразу четыре разных устройства работы: человек читает данные первым; человек читает после модели и подтверждает; человек подключается только на спорном; человек подписывает, не глядя. Между первым и четвёртым разница больше, чем между любой парой моделей, — а в документах и в рекламе все четыре называются одними словами. Дальше каждый разбор отвечает предметно: какое из четырёх устройств стоит на этом месте и чем это подтверждено.</a:t>
            </a:r>
          </a:p>
          <a:p>
            <a:r>
              <a:t/>
            </a:r>
          </a:p>
          <a:p>
            <a:r>
              <a:t>Вторая половина вопроса — «кто это измерял» — не риторическая, и она задаёт правила чтения всего дальнейшего. У каждого числа названо, чем оно получено: случайное распределение по группам, наблюдение вперёд по заранее написанному протоколу, разбор уже существовавших данных, лабораторный эксперимент, опрос, нерецензированная выкладка, сообщение поставщика о собственном продукте. Это разные разряды, и уравнивать их нельзя. Рядом с разрядом стоит второй вопрос: воспроизводилось ли. Измеренное однажды называется однажды измеренным — даже когда разряд высокий и результат удобен.</a:t>
            </a:r>
          </a:p>
          <a:p>
            <a:r>
              <a:t/>
            </a:r>
          </a:p>
          <a:p>
            <a:r>
              <a:t>И у каждого числа названа база: знаменатель, группа, период. Число без знаменателя дальше не идёт; там, где знаменателя не нашлось, сказано, какого именно числа не хватает, и сказано рядом с числом, а не в конце. Из этого складывается и ответ на вопрос: не «ИИ в медицине работает» и не «не работает», а перечень мест, где посчитано, что стало с работой человека, — и перечень мест, где не посчитано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столкнулись три разных порядка работы, и различать их придётся весь вечер.</a:t>
            </a:r>
          </a:p>
          <a:p>
            <a:r>
              <a:t/>
            </a:r>
          </a:p>
          <a:p>
            <a:r>
              <a:t>Скрининг — обследование людей, у которых нет жалоб, по признаку принадлежности к группе: возраст, пол, профессия, предшествующий диагноз. Его польза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 Обращение по симптому работает иначе: поиск ведёт сама жалоба, обследуют одного человека под конкретную гипотезу, и цена лишнего обследования разделена между ним и врачом — сотня тысяч приглашённых за неё не платит. Вероятность болезни у пришедшего по жалобе совсем другая, и от неё зависит смысл любого положительного результата. Третий порядок ближе всего инженерной практике: сортировка потока — кто попадёт к врачу сегодня, а кто через две недели. Это то же решение об отборе, только внутри уже обратившегося потока.</a:t>
            </a:r>
          </a:p>
          <a:p>
            <a:r>
              <a:t/>
            </a:r>
          </a:p>
          <a:p>
            <a:r>
              <a:t>У сортировки есть классический инструмент, и разобрать его стоит: модель приходит именно на его место. Вошедшего в приёмное отделение относят к одной из пяти категорий тяжести: категорию присваивает медсестра по протоколу — несколько вопросов, несколько снятых величин, сверка с таблицей, — и каждой категории назначено нормативное время до осмотра врачом. Недооценка означает, что человек с развивающимся инфарктом сидит в очереди; переоценка — что занят ресурс, которого не хватило кому-то другому. Обе ошибки платит одна и та же смена.</a:t>
            </a:r>
          </a:p>
          <a:p>
            <a:r>
              <a:t/>
            </a:r>
          </a:p>
          <a:p>
            <a:r>
              <a:t>И свойство этой шкалы, которое встретится ещё не раз: веса в ней назначены людьми и опубликованы. Таблицу можно открыть, посмотреть, сколько баллов даёт каждый признак, и возразить составителю. Обученная модель на том же месте выдаёт тот же выход — категорию или приоритет — и весов своих не предъявляет. Это не делает её хуже и не делает лучше; это делает сравнение с ней возможным только по результату, а разбор расхождения — работой, которой у протокольной шкалы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методическом указании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 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 в Швеции второго читателя заменили, в Германии сохранили. Вопрос «выросло ли выявление» ни о чём не говорит, пока не назван порядок работы, внутри которого оно выросло.</a:t>
            </a:r>
          </a:p>
          <a:p>
            <a:r>
              <a:t/>
            </a:r>
          </a:p>
          <a:p>
            <a:r>
              <a:t>А вот где охват действительно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и это решение, а не умолчание: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 этом шаге модель решает, кого вообще посмотрят, и выигрыш в обоих разборах измерен доступом — тем, сколько людей дошло до обследования и сколько снимков прочёл второй человек. Точности модель здесь не прибавила: в шведском испытании чувствительность выросла вместе с заменой порядка чтения, а в испытании явки точность прибора не измерялась вовсе. Берут этот выигрыш двумя способами: снимают объём человеческого чтения там, где процедура уже плотная, и дотягиваются до тех, кто иначе не придёт. Второй способ сильнее первого по простой причине — тест, до которого человек не дошёл, имеет нулевую чувствительность.</a:t>
            </a:r>
          </a:p>
          <a:p>
            <a:r>
              <a:t/>
            </a:r>
          </a:p>
          <a:p>
            <a:r>
              <a:t>Границы. В открытом потоке обращений ни один разбор выигрыша не дал, а единственная состоявшаяся попытка кончилась банкротством. И утверждение «охват сообщают, а устройство работы — нет» держится ровно для одного источника — отечественной платформы лучевой диагностики; скрининговые программы, разобранные здесь, устройство работы публикуют, и расширять эту претензию на все внедрения нельзя.</a:t>
            </a:r>
          </a:p>
          <a:p>
            <a:r>
              <a:t/>
            </a:r>
          </a:p>
          <a:p>
            <a:r>
              <a:t>Риск. Удешевление входа перестраивает экономику системы раньше, чем кто-нибудь успевает проверить качество, и платить за переехавшую нагрузку оказывается некому. Второй риск тише и опаснее: критерий, по которому отбирают, способен незаметно сместить, кого вообще видят, — и обнаружить это смещение по отчётам самой системы нельзя, потому что отбирала она же.</a:t>
            </a:r>
          </a:p>
          <a:p>
            <a:r>
              <a:t/>
            </a:r>
          </a:p>
          <a:p>
            <a:r>
              <a:t>Нагрузка дальше. Поток, отобранный моделью, приходит на следующий шаг уже смещённым: то, что модель назвала нормой, человек не увидит. Ошибку отбора обнаруживает только следующий виток — другой человек в другой день, — и поэтому дальше речь пойдёт о том, что вообще значит «измерили»: на какой группе посчитана точность и почему смысл любого положительного результата зависит от того, кого в эту группу отобрали.</a:t>
            </a:r>
          </a:p>
          <a:p>
            <a:r>
              <a:t/>
            </a:r>
          </a:p>
          <a:p>
            <a:r>
              <a:t>Два названия того, что переехало: на сервисе первой линии нагрузка переехала на другой шаг — с сортировки на приём; на автономном скрининге глазного дна сменился исполнитель, и производной формой появился шаг, которого не было, — добыть годный снимок.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клетки сетки курса заняты на этом шаге, и ни одна из них не про лечение: модель решает, кого посмотрят, а не что с человеком делать. Это и есть ответ на вопрос «где мы сейчас» — не в списке болезней, а на входе в поток.</a:t>
            </a:r>
          </a:p>
          <a:p>
            <a:r>
              <a:t/>
            </a:r>
          </a:p>
          <a:p>
            <a:r>
              <a:t>Работа с текстом даёт здесь три режима с разной судьбой, и разницу стоит проговорить: она не про качество моделей. Сортировка обращения словами после разобранного случая стагнирует. Запись приёма под диктовку и ответ по документам со ссылкой на источник, наоборот, принимаются быстро. Разницу делает одно: первый режим принимает решение, а два других оформляют уже принятое. Там, где режим решает, допуск и доверие даются медленно; там, где он оформляет, — быстро.</a:t>
            </a:r>
          </a:p>
          <a:p>
            <a:r>
              <a:t/>
            </a:r>
          </a:p>
          <a:p>
            <a:r>
              <a:t>Решение «направить или нет» на месте занято автономным чтением без врача. Допущено оно единицами и только там, где вопрос бинарный: направлять или не направлять. Это свойство задачи, а не особая осторожность регулятора — у бинарного вопроса есть проверяемый ответ, у открытого диагноза его нет. За годность снимка этот режим не отвечает; добыть годный снимок — отдельная работа, и достаётся она человеку без профильной подготовки.</a:t>
            </a:r>
          </a:p>
          <a:p>
            <a:r>
              <a:t/>
            </a:r>
          </a:p>
          <a:p>
            <a:r>
              <a:t>Чтение снимка занято режимом «модель вторым читателем или сортировка потока по риску», и растёт он шире всех остальных. Причина опять не в точности: этот режим не отменяет ни одной подписи. Кто разбирает расхождение — назначает процедура, и модель здесь ничего не забирает у человека формально, хотя фактически забирает его внимание. Подробный счёт по этому режиму идёт там, где разбирают чтение снимка.</a:t>
            </a:r>
          </a:p>
          <a:p>
            <a:r>
              <a:t/>
            </a:r>
          </a:p>
          <a:p>
            <a:r>
              <a:t>И общее правило чтения такой раскладки. Названо здесь, чем делают, а не чья марка лучше: режим один, реализаций много, и разницу в результате делает устройство процедуры вокруг модели, а не бренд. Чисел в раскладке нет ни одного — ни долей рынка, ни числа допущенных изделий, ни «лидеров»: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только что проведённой границей: в разделе 1 система решала, кого посмотреть; здесь система меряет и сама выносит заключение по измеренному. Отличие от раздела 3: там заключение по данным делает человек, здесь — машина. Граница проходит не по модальности данных и не по сложности алгоритма, а по тому, кто подписывает результат измерения.</a:t>
            </a:r>
          </a:p>
          <a:p>
            <a:r>
              <a:t/>
            </a:r>
          </a:p>
          <a:p>
            <a:r>
              <a:t>Раздел держится на одной идее,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этой доли на другую группу она перестаёт означать то же самое. Поэтому раздел начинается с определений: чувствительность и специфичность без привязки к болезни, и что происходит с одними и теми же долями на двух группах — поголовном скрининге и профильном отделении.</a:t>
            </a:r>
          </a:p>
          <a:p>
            <a:r>
              <a:t/>
            </a:r>
          </a:p>
          <a:p>
            <a:r>
              <a:t>Перед тремя разборами раздел даёт картину узнаваемого человека — техника флюорографии, который на месте решает, годится ли снимок; это не разбор, а сцена, к которой возвращается первый из трёх случаев.</a:t>
            </a:r>
          </a:p>
          <a:p>
            <a:r>
              <a:t/>
            </a:r>
          </a:p>
          <a:p>
            <a:r>
              <a:t>Первый разбор — «Таиланд» — показывает ту же задачу годности снимка в развёрнутом виде: автономное чтение снимков глазного дна в одиннадцати клиниках отклоняет по качеству каждый пятый снимок, и это измеренный провал развёртывания, а не прибора. Глазное дно без офтальмолога — случай про доступ, а не про годность входа, — предмет раздела 1.</a:t>
            </a:r>
          </a:p>
          <a:p>
            <a:r>
              <a:t/>
            </a:r>
          </a:p>
          <a:p>
            <a:r>
              <a:t>Второй разбор — «Кожа и состав набора» — показывает ту же проблему группы с другой модальностью измерения: набор, на котором обучена и проверена модель, редко повторяет состав населения, на котором она потом работает.</a:t>
            </a:r>
          </a:p>
          <a:p>
            <a:r>
              <a:t/>
            </a:r>
          </a:p>
          <a:p>
            <a:r>
              <a:t>Третий разбор — «Расходы вместо болезни» — меняет модальность измерения ещё раз: целевой переменной взяты будущие расходы на лечение, а не тяжесть болезни, и это смещает, кого модель считает «достаточно больной», чтобы включить в программу повышенного внимания.</a:t>
            </a:r>
          </a:p>
          <a:p>
            <a:r>
              <a:t/>
            </a:r>
          </a:p>
          <a:p>
            <a:r>
              <a:t>Раздел заканчивается картой стадии и выводом: польза раздела — постоянство измерения там, где человек устаёт; граница — она же заявлена группой, на которой измерение посчитано.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Любую систему, которая отвечает «болен или нет», описывают двумя долями, и считаются они на разных группах людей. Чувствительность берёт только тех, у кого болезнь есть, и спрашивает, какую их долю система назвала больными. Специфичность берёт только здоровых и спрашивает, какую их долю она не стала пугать. В инженерной практике это знакомо под другими именами — полнота по положительному классу и полнота по отрицательному; медицинские имена взяты здесь затем, что в клинических публикациях стоят именно они.</a:t>
            </a:r>
          </a:p>
          <a:p>
            <a:r>
              <a:t/>
            </a:r>
          </a:p>
          <a:p>
            <a:r>
              <a:t>Почему доли называют парой и почему общая точность ни одну из них не заменяет. Пусть болезнь есть у одного человека из тысячи. Система, которая всем без исключения говорит «здоров», даёт общую точность 99,9 процента и не находит ни одного больного. На редком событии общая точность измеряет распространённость, а не работу системы, и в медицине её поэтому не публикуют.</a:t>
            </a:r>
          </a:p>
          <a:p>
            <a:r>
              <a:t/>
            </a:r>
          </a:p>
          <a:p>
            <a:r>
              <a:t>Второе свойство: доли меняются только вместе. Сдвиньте порог, за которым система объявляет «болен», — найденных больных станет больше, а напрасно напуганных здоровых тоже больше. Поэтому доли всегда называются парой и всегда для одной рабочей точки, а выбирает эту точку протокол под цену обеих ошибок — и выбор сделан раньше, чем к задаче подошёл разработчик.</a:t>
            </a:r>
          </a:p>
          <a:p>
            <a:r>
              <a:t/>
            </a:r>
          </a:p>
          <a:p>
            <a:r>
              <a:t>Третье свойство и несущее для всего раздела: обе доли посчитаны на группе, которую собрал исследователь. Кого включили, кого исключили, в какой больнице, в какие годы — вместе с группой меняется и то, что доли означают на выходе.</a:t>
            </a:r>
          </a:p>
          <a:p>
            <a:r>
              <a:t/>
            </a:r>
          </a:p>
          <a:p>
            <a:r>
              <a:t>Систематический обзор работ машинного обучения на снимках при ковидной пневмонии отобрал из 2 212 публикаций 62 для разбора и не нашёл среди этих 62 ни одной, пригодной для клинического применения: изъяны методики и смещения в данных. Доли считали все; группу, на которой они посчитаны, почти никто. Оговорка обязательна и произносится рядом с числом: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Левая половина берётся не из вежливости. Постоянство: система читает десятитысячный снимок так же, как первый, и не устаёт, тогда как у человека к концу смены доля пропусков меняется, и это измерено в работах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из них не повторит собственное чтение буквально.</a:t>
            </a:r>
          </a:p>
          <a:p>
            <a:r>
              <a:t/>
            </a:r>
          </a:p>
          <a:p>
            <a:r>
              <a:t>Правая половина — три вещи, и ни одна не про качество модели. Качество входа: система не умеет переснять. Перенос: доли, посчитанные в одной больнице, не переезжают в другую вместе с прибором — переезжает прибор, а группа остаётся на месте. И третье, самое незаметное: чем измерен вход.</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 88 случаев из 749. У светлокожих та же доля 3,6 процента — 99 из 2 778. Обе доли считаются по измерениям, не по пациентам, и обе взяты из одной названной когорты; многоцентровая выборка той же работы даёт другие числа, и рядом с этими они не произносятся — два набора из одной статьи легко прочитать как одну выборку и склеить.</a:t>
            </a:r>
          </a:p>
          <a:p>
            <a:r>
              <a:t/>
            </a:r>
          </a:p>
          <a:p>
            <a:r>
              <a:t>Смещение одностороннее, и это главное в примере: показание прибора выше, чем даёт анализ, то есть опасное снижение насыщения пропускается чаще. Регулятор выпустил предупреждение в феврале 2021 года, а в январе 2025-го — проект требования испытывать такие приборы на разных тонах кожи.</a:t>
            </a:r>
          </a:p>
          <a:p>
            <a:r>
              <a:t/>
            </a:r>
          </a:p>
          <a:p>
            <a:r>
              <a:t>И последнее: обученной модели в этом приборе нет вовсе. Это оптическое измерение, смещённое до всякой модели. Система, которая берёт этот признак на вход, смещение наследует, не создавая его, — и потому проверять надо не только модель, но и то, чем измерен её вход.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86 больных из ста при специфичности 77, а дермоскопия у обученного специалиста — 91 при специфичности 74. Свежий обзор по той же задаче даёт для осмотра другие числа, а сводной оценки дермоскопии не даёт вовсе — из-за разнородности работ; две методологии рядом не ставятся.</a:t>
            </a:r>
          </a:p>
          <a:p>
            <a:r>
              <a:t/>
            </a:r>
          </a:p>
          <a:p>
            <a:r>
              <a:t>Модель против этих режимов. На наборе из 656 изображений, каждое с подтверждённой биопсией — 208 светлых тонов кожи, 241 средних, 207 самых тёмных, — три модели дают площадь под кривой на тёмных тонах на 9–15 пунктов ниже, чем на светлых. Знаменатель назван, и он приличный: это не «несколько примеров».</a:t>
            </a:r>
          </a:p>
          <a:p>
            <a:r>
              <a:t/>
            </a:r>
          </a:p>
          <a:p>
            <a:r>
              <a:t>Одну цифру раздел произносить отказывается. Формулировка «на тёмной коже чувствительность падает на 20–30 процентов» в публикации не найдена, источник не опознаётся. Ближайшее измеренное: у одной из трёх моделей найдено 69 больных из ста на светлых тонах против 23 на тёмных.</a:t>
            </a:r>
          </a:p>
          <a:p>
            <a:r>
              <a:t/>
            </a:r>
          </a:p>
          <a:p>
            <a:r>
              <a:t>Исправление измерено, и лечит его не алгоритм: дообучение на представительном наборе разрыв снимает и даже переворачивает, а три алгоритмических метода против смещения его значимо не уменьшили. Чинилось это сбором и разметкой — той работой, которая в руках инженера.</a:t>
            </a:r>
          </a:p>
          <a:p>
            <a:r>
              <a:t/>
            </a:r>
          </a:p>
          <a:p>
            <a:r>
              <a:t>И строка, которая несёт разбор: разрыв по тону кожи измерен у модели, а у классических методов не измерен вовсе — по тону кожи точность не разбивает ни метаанализ, ни обзоры. Сказать «модель хуже человека на этой подгруппе» не с чем. Средняя точность по набору остаётся приличной, а цена ошибки сместилась на подгруппу, которой в обучающем наборе было мало.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стадии показывает одно: какие клетки матрицы «тип задачи × модальность» на этом шаге заняты настоящими работающими системами. Их четыре из тридцати с лишним, и четвёртая занята особым образом.</a:t>
            </a:r>
          </a:p>
          <a:p>
            <a:r>
              <a:t/>
            </a:r>
          </a:p>
          <a:p>
            <a:r>
              <a:t>Классификация на изображении. Автономное чтение глазного дна — LumineticsCore, EyeArt, AEYE-DS — и оценка кожного образования: SkinVision в Европе работает через приложение у самого человека, DermaSensor в США — щуп со спектроскопией, который закупает первичное звено. Оба обходят дерматолога и оба дают только сортировку «показать врачу или нет», а не диагноз.</a:t>
            </a:r>
          </a:p>
          <a:p>
            <a:r>
              <a:t/>
            </a:r>
          </a:p>
          <a:p>
            <a:r>
              <a:t>Распознавание на изображении. Детекция и сортировка потока на снимках грудной клетки и на компьютерной томографии — Annalise, Aidoc, Lunit; в России это сервисы московского эксперимента.</a:t>
            </a:r>
          </a:p>
          <a:p>
            <a:r>
              <a:t/>
            </a:r>
          </a:p>
          <a:p>
            <a:r>
              <a:t>Прогноз на структурированных данных. Счёт риска внутри медицинской карты и разделение населения по уровням внимания. Покупает это администрация или плательщик, и решение о том, кого взять под присмотр, принимается там, где считают деньги, а не там, где лечат.</a:t>
            </a:r>
          </a:p>
          <a:p>
            <a:r>
              <a:t/>
            </a:r>
          </a:p>
          <a:p>
            <a:r>
              <a:t>И четвёртая клетка — измерение и сигнал прибора. Она занята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это смещение наследует молча. Пустой клетку назвать нельзя, занятой моделью — тоже; так и помечено.</a:t>
            </a:r>
          </a:p>
          <a:p>
            <a:r>
              <a:t/>
            </a:r>
          </a:p>
          <a:p>
            <a:r>
              <a:t>Три разбора раздела ложатся на эту карту по разным клеткам: автономное чтение глазного дна — в первую, оценка кожного образования — в ту же первую, отбор по прогнозу расходов — в третью. То есть провалились они на разных стадиях одной и той же работы, а не в одном месте.</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настоящая, и специалист её возьмёт. Система читает десятитысячный снимок так же, как первый, а у человека к концу смены доля пропусков меняется; чтение нормы перестаёт занимать специалиста; и у разбора расхождений появляется воспроизводимая сторона: один вход даёт один и тот же выход, чего от двух людей не добиться.</a:t>
            </a:r>
          </a:p>
          <a:p>
            <a:r>
              <a:t/>
            </a:r>
          </a:p>
          <a:p>
            <a:r>
              <a:t>Граница названа группой. Доли посчитаны на группе, которую собрал исследователь, и вместе с группой меняется смысл выхода: один и тот же сигнал «болен» в поголовном обследовании оказался верным в 8 случаях из ста поднятых тревог, а в профильном отделении — в 79 из ста. Разница десятикратная, и ни одна строка внутри системы не менялась.</a:t>
            </a:r>
          </a:p>
          <a:p>
            <a:r>
              <a:t/>
            </a:r>
          </a:p>
          <a:p>
            <a:r>
              <a:t>Риск разложен по трём местам, и ни одно не в модели. Вход измеряет прибор, и прибор может быть смещён до модели. Набор собирает человек, и его состав может не повторять население, на котором система потом работает. Цель задаёт переменная — и ею становится то, что было в данных.</a:t>
            </a:r>
          </a:p>
          <a:p>
            <a:r>
              <a:t/>
            </a:r>
          </a:p>
          <a:p>
            <a:r>
              <a:t>Три разбора раздела ровно такие. В Таиланде провалилось развёртывание: 393 снимка из 1 838 отклонены по качеству за первые полгода в одиннадцати клиниках. В дерматологии провалился состав набора: на 656 биопсийно подтверждённых изображениях, из которых 207 с тёмными тонами кожи, три модели теряют на них 9–15 пунктов площади под кривой. В отборе по прогнозу расходов провалилось определение цели: на 49 618 пациентах при равном балле у одной группы болезней оказалось на 26 процентов больше. Ни в одном из трёх не провалилось само чтение.</a:t>
            </a:r>
          </a:p>
          <a:p>
            <a:r>
              <a:t/>
            </a:r>
          </a:p>
          <a:p>
            <a:r>
              <a:t>Отсюда рабочее правило. Прежде чем спрашивать про точность, спросите: на какой группе посчитаны доли, чем измерен вход, из чего собран обучающий набор и что система считает целью. Четыре вопроса — и каждый в этом разделе провалил по одному внедрению.</a:t>
            </a:r>
          </a:p>
          <a:p>
            <a:r>
              <a:t/>
            </a:r>
          </a:p>
          <a:p>
            <a:r>
              <a:t>И одно обнадёживающее наблюдение: единственное измеренное исправление пришло из состава данных — дообучение на представительном наборе разрыв сняло, а алгоритмические методы против смещения его не сняли.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раздел 2 от раздела 1, только с другой стороны: здесь данные уже измерены и прочитаны системой, но заключение — диагноз — подписывает человек. Подсказка модели встаёт рядом со снимком, и вопрос раздела в том, что именно человек теперь смотрит: сам снимок, подсказку, или уже не то и не другое, а привычку доверять экрану.</a:t>
            </a:r>
          </a:p>
          <a:p>
            <a:r>
              <a:t/>
            </a:r>
          </a:p>
          <a:p>
            <a:r>
              <a:t>Первый разбор, «Замер взгляда радиолога», берёт инструмент, который редко применяют в разборах такого рода, — айтрекер. Он показывает механику того, что обычно описывают словом «автоматизационное искажение»: при ложной подсказке взгляд радиолога на самом поражении задерживается реже, и это измерено в движении глаз, а не в опросе после просмотра.</a:t>
            </a:r>
          </a:p>
          <a:p>
            <a:r>
              <a:t/>
            </a:r>
          </a:p>
          <a:p>
            <a:r>
              <a:t>Второй разбор, «Одна подсказка с двумя знаками», показывает то же устройство эффекта на уровне решения, а не взгляда: одна и та же подсказка модели по срезу в патологии поднимает шансы верного ответа вчетверо, когда модель права, и роняет вчетверо, когда неправа. Знак эффекта зависит не от модели вообще, а от конкретного случая.</a:t>
            </a:r>
          </a:p>
          <a:p>
            <a:r>
              <a:t/>
            </a:r>
          </a:p>
          <a:p>
            <a:r>
              <a:t>Третий разбор, «Измеренная тройка», ставит рядом три числа на одних и тех же случаях: модель в одиночку, врач в одиночку, врач с моделью. Разрыв между третьим и первым — то, ради чего часто покупают систему; разрыв между третьим и вторым — то, что она реально даёт.</a:t>
            </a:r>
          </a:p>
          <a:p>
            <a:r>
              <a:t/>
            </a:r>
          </a:p>
          <a:p>
            <a:r>
              <a:t>Четвёртый разбор, «Контрольная линия», — единственный в разделе случай предрегистрированного скринингового испытания с реальным объёмом: объём человеческого чтения падает почти наполовину, и это измерено, а не оценено.</a:t>
            </a:r>
          </a:p>
          <a:p>
            <a:r>
              <a:t/>
            </a:r>
          </a:p>
          <a:p>
            <a:r>
              <a:t>Раздел держит одну линию: пара «человек плюс модель» не равна ни человеку, ни модели в отдельности, и какая сторона в итоге перевешивает, нельзя сказать заранее, не замерив — обычно замеряют что угодно, кроме этого.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Работа, которую этот случай показывает целиком, называется дифференциальным диагнозом и состоит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Инженеру это знакомо — так же он перебирает гипотезы, разбирая отказ узла. Клиническая версия жёстче в одном: часть проверок сама опасна или дорога, поэтому порядок проверок становится отдельным решением, которое надо обосновывать. Снимок и анализ крови назначены первыми поэтому — они стоят мало и отсекают много.</a:t>
            </a:r>
          </a:p>
          <a:p>
            <a:r>
              <a:t/>
            </a:r>
          </a:p>
          <a:p>
            <a:r>
              <a:t>Бронхит вычеркнут снимком: изменений в верхней доле правого лёгкого при бронхите не бывает. Аутоиммунное поражение вычеркнуто спокойными воспалительными показателями. Остались два диагноза, которые по снимку между собой не различаются, и решает их исследование мокроты. Три недели ожидания посева — часть цены, которую платит пациент, а не задержка оформления.</a:t>
            </a:r>
          </a:p>
          <a:p>
            <a:r>
              <a:t/>
            </a:r>
          </a:p>
          <a:p>
            <a:r>
              <a:t>Отсюда два свойства, которые лекция дальше измеряет. Диагноз — последовательность решений, а не классификация в один проход. И ошибка здесь имеет особую форму. Можно выбрать неверно из составленного списка: это заметят — придёт результат проверки и не совпадёт с ожиданием. А можно не вписать в список то, что должно было там стоять, — и тогда проверки, которая бы это обнаружила, никто не назначит. Второй вид ошибки не оставляет следа в карте: случай уходит с другим диагнозом и возвращается через год.</a:t>
            </a:r>
          </a:p>
          <a:p>
            <a:r>
              <a:t/>
            </a:r>
          </a:p>
          <a:p>
            <a:r>
              <a:t>Подсказка модели входит именно в начало — она участвует в составлении списка, а не в выборе из составленного. Если система отметила инфильтрат, строка про лимфому появится с меньшей вероятностью: внимание уже направлено, а лимфома на обзорном снимке выглядит иначе и требует отдельного усилия, чтобы о ней подумать. Если система не отметила ничего, список с высокой вероятностью остановится на самом частом и безобидном, и посев мокроты не назначается вовсе. Разница между двумя исходами целиком в том, права ли была система, и изнутри случая её не видно: оба раза врач видел снимок, видел заключение и действовал разумно.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Сперва половина, где выигрыш настоящий. Программа скрининга обрабатывает десятки тысяч исследований в год, и модель читает всё: она не устаёт к концу смены и не теряет чувствительность в пятницу вечером. Это дешёвое и реальное полезное действие, и оно не требует, чтобы модель была лучше среднего читателя, — она просто есть на каждом случае. Напоминание о редком диагнозе работает тем же механизмом, которым подсказка и вредит: модель дополняет состав списка гипотез, и строка, которой у усталого врача не появилось бы, появляется. Редкие диагнозы пропускают именно так — их не вписывают, и потому неверного выбора из списка никто не делает. Сортировка даёт выигрыш во времени до решения, и в неотложной помощи минуты имеют клиническую цену. У неё есть обратная сторона: исследование, ошибочно отнесённое к неподозрительным, попадает во вторую очередь и ждёт тем дольше, чем лучше сортировка работает на остальном потоке.</a:t>
            </a:r>
          </a:p>
          <a:p>
            <a:r>
              <a:t/>
            </a:r>
          </a:p>
          <a:p>
            <a:r>
              <a:t>Вторая половина. Независимость теряется потому, что так устроен интерфейс, а не потому, что врач невнимателен. Избирательности не хватает процедуры: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У объяснимости цена измерена. База — точность выбора препарата без всякой модели, 35,7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26,2 — ниже той линии, которую тот же врач даёт без модели вообще. Точность подсказки в опыте задана имитацией на уровне 66,7 из ста; настоящей обученной модели здесь не было, и это ограничение называется вместе с числом. Состав выборки раскрыт: 220 врачей, назначающих антидепрессанты, из них психиатрия — 195 человек, первичное звено — 18, прочие профили — 7. Упрощённое объяснение создаёт ясность, не связанную с правильностью: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 это не возражение предыдущим кадрам: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 знак эффекта не усредняется.</a:t>
            </a:r>
          </a:p>
          <a:p>
            <a:r>
              <a:t/>
            </a:r>
          </a:p>
          <a:p>
            <a:r>
              <a:t>От устройства опыта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80 срезов; точность самой модели на независимом тестовом наборе 0,842.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не был защищён. А на группе в целом, без разделения на правоту модели, прибавка значимости не достигает. Отчёт о внедрении с одним числом показал бы отсутствие эффекта там, где эффект велик в обе стороны. Средняя прибавка и знакопеременность — не два наблюдения, а одно, прочитанное с двух сторон, на одной выборке.</a:t>
            </a:r>
          </a:p>
          <a:p>
            <a:r>
              <a:t/>
            </a:r>
          </a:p>
          <a:p>
            <a:r>
              <a:t>Как читать «вчетверо». Шансы — отношение вероятности верного ответа к вероятности неверного. Если без подсказки патолог отвечал верно в восьми случаях из десяти, то выросшие вчетверо шансы дают около девяноста четырёх из ста, а упавшие вчетверо уводят к примерно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Подпись к обзору обязательна: в той совокупности много систем, работающих на правилах, а обученных моделей среди них часть.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Проходить карту надо по занятым клеткам, и на каждой говорить одно: кто покупает и чего режим не умеет. Имена инструментов метриками не являются, и подряд их перечислять незачем.</a:t>
            </a:r>
          </a:p>
          <a:p>
            <a:r>
              <a:t/>
            </a:r>
          </a:p>
          <a:p>
            <a:r>
              <a:t>Распознавание на изображении — чтение маммограммы моделью как второй читатель в программе скрининга либо сортировка потока в неотложной рентгенологии. Покупает это организатор национальной или региональной программы, а не отдельная больница; в сортировке — больница или сеть. Режим не умеет удержать читателя от сужения поиска: порядок предъявления подсказки решает больше, чем точность модели, и измерено это на той клетке, где лежит разбор раздела.</a:t>
            </a:r>
          </a:p>
          <a:p>
            <a:r>
              <a:t/>
            </a:r>
          </a:p>
          <a:p>
            <a:r>
              <a:t>Классификация на изображении — подсказка по оцифрованному срезу в цифровой патологии и оценка кожного образования. Входит режим не там, где нужнее, а там, где уже есть сканер: оцифровка стекла идёт раньше модели и стоит дороже неё. Не умеет сказать, что сам неправ, а подпись под заключением ставит патолог, и цена ошибки переезжает к нему.</a:t>
            </a:r>
          </a:p>
          <a:p>
            <a:r>
              <a:t/>
            </a:r>
          </a:p>
          <a:p>
            <a:r>
              <a:t>Генерация на тексте — вопрос-ответ со ссылками на литературу и автоматическая запись приёма. Первое входит снизу, самостоятельным употреблением врача, минуя закупку, — и потому никто не настраивал режим под процесс. Вторая клетка на предыдущей стадии отсутствовала, и это существенно: текст в карте появляется машинно, а держат его те же процедуры подписи — врач вычитывает черновик.</a:t>
            </a:r>
          </a:p>
          <a:p>
            <a:r>
              <a:t/>
            </a:r>
          </a:p>
          <a:p>
            <a:r>
              <a:t>Прогноз на структурированных данных — счёт риска внутри карты. Поиск на тексте — поиск по карте пациента.</a:t>
            </a:r>
          </a:p>
          <a:p>
            <a:r>
              <a:t/>
            </a:r>
          </a:p>
          <a:p>
            <a:r>
              <a:t>Сгустки видны сразу: распознавание на изображении, вопрос-ответ на тексте и счёт риска на структурированных данных.</a:t>
            </a:r>
          </a:p>
          <a:p>
            <a:r>
              <a:t/>
            </a:r>
          </a:p>
          <a:p>
            <a:r>
              <a:t>И клетка, которой на рынке нет, — ансамбль моделей с голосованием. Это не пробел подборки: ансамбль существует как направление исследований,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именно так: ожидание «соберём несколько моделей, и они проголосуют» звучит разумно и ничем доступным не обеспечено.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читателей программы скрининга подсказка прямо уронила результат и сузила поиск. У патологов та же подсказка качнула результат в обе стороны — вчетверо вверх, когда модель права, вчетверо вниз, когда неправа. У врачей на рассуждении она не дала ничего, хотя сама была точнее обоих человеческих условий. А там, где процедуру перестроили и разногласие стали разбирать третьим, пара выиграла: чувствительность 80,5 против 73,8 из ста при одинаковой специфичности 98,5 и при объёме человеческого чтения ниже на 44,3 процента, измеренном в промежуточном анализе на 80 033 обследованных.</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 Инструмент совпал, разошлось устройство процедуры. Там подсказка выводилась вместе со снимком и читатель шёл по её колее; здесь человек читает сам, модель с ним спорит, а спор разбирает третий.</a:t>
            </a:r>
          </a:p>
          <a:p>
            <a:r>
              <a:t/>
            </a:r>
          </a:p>
          <a:p>
            <a:r>
              <a:t>Выигрыш пары создаётся несовпадением ошибок человека и модели, а не точностью модели. Это прямое продолжение того, зачем существует второе мнение, и утверждение проверяемое: долю несовпадающих ошибок можно посчитать на своих данных прежде, чем собирать пару. Отсюда следствие, которое ломает отчётность о внедрении: средняя точность складывает две противоположные вещи, и отчёт с одним числом показал бы отсутствие эффекта там, где он был четырёхкратным в обе стороны.</a:t>
            </a:r>
          </a:p>
          <a:p>
            <a:r>
              <a:t/>
            </a:r>
          </a:p>
          <a:p>
            <a:r>
              <a:t>И одно расхождение, которое нельзя сглаживать. Агрегат по ста шести опытам говорит, что человека одного пара в среднем обходит — размер эффекта 0,64 при интервале от 0,53 до 0,74. Измеренная тройка на своём материале разницы не нашла: 76 против 74 при интервале от −4 до 8. Это не ошибка ни там, ни здесь, а агрегат против одного опыта: правило задаёт ожидание, отдельное испытание показывает, что ожидание не гарантия.</a:t>
            </a:r>
          </a:p>
          <a:p>
            <a:r>
              <a:t/>
            </a:r>
          </a:p>
          <a:p>
            <a:r>
              <a:t>Что остаётся инженеру: измерить обе стороны по отдельности, посчитать долю несовпадающих ошибок, назначить ступень участия явно и записать её, задать порядок предъявления подсказки и мерить поведение наряду с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модель раннего предупреждения о сепсисе,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Два экрана перед разбором ставят классику на место: как сегодня выглядит обход и запись в лист наблюдения, и как устроена шкала, которую десятилетиями читали руками. Без них разбор модели был бы сравнением с нулём, а не с работающим режимом, и именно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третьего ночи, отделение на тридцать коек: на смене две сестры и дежурный врач на несколько отделений. Сестра идёт по палатам и снимает четыре-пять величин — дыхание, пульс, давление, температуру, иногда насыщение крови кислородом. У постели это занимает две-три минуты, и числа ложатся в лист наблюдения: бумажный бланк в ногах кровати или экранную форму в карте. Через несколько часов обход повторяется.</a:t>
            </a:r>
          </a:p>
          <a:p>
            <a:r>
              <a:t/>
            </a:r>
          </a:p>
          <a:p>
            <a:r>
              <a:t>Зачем измерять человека, который спит и выглядит стабильно. Ухудшение читается не по одному числу, а по направлению дорожки измерений. Пульс сто четыре сам по себе не говорит почти ничего: у одного это норма дня, у другого боль, у третьего обезвоживание. А пульс семьдесят восемь, потом девяносто два, потом сто четыре при падающем давлении и учащённом дыхании говорит много — и говорит за несколько часов до того, как человеку станет очевидно плохо. Поэтому измерения ставят по расписанию: дорожка существует только пока её ведут непрерывно, и восстановить её задним числом нельзя.</a:t>
            </a:r>
          </a:p>
          <a:p>
            <a:r>
              <a:t/>
            </a:r>
          </a:p>
          <a:p>
            <a:r>
              <a:t>Кто это физически делает. У сестры ночной смены десятки пациентов, у каждого несколько измерений за смену, плюс назначения и документы. Отсюда два свойства шага. Работа распределена между людьми разной подготовки: измеряет младший персонал, решает врач. И решение принимает тот, кто пациента в этот момент не видит, — дежурный врач за несколько отделений читает лист наблюдения и слышит голос сестры по телефону. Запись здесь не бюрократия, а единственный канал, по которому состояние человека доходит до того, кто вправе назначить лечение.</a:t>
            </a:r>
          </a:p>
          <a:p>
            <a:r>
              <a:t/>
            </a:r>
          </a:p>
          <a:p>
            <a:r>
              <a:t>Решение на этом шаге одно и повторяющееся: звать старшего сейчас или на следующем обходе. Его принимают по многу раз за ночь, и ошибка здесь накапливается. Диагноз ставят однажды и подписывают, а наблюдение переоценивает одно и то же состояние каждые несколько часов — и каждая переоценка отдельная возможность пройти мимо.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таблица, по которой каждая измеренная величина получает баллы за отклонение от нормы. Устройство из четырёх шагов, и каждый шаг можно показать пальцем. Баллы за отклонение: частота дыхания от двенадцати до двадцати — ноль баллов, от двадцати одного до двадцати четырёх — два, двадцать пять и выше — три; так же для пульса, давления, температуры, уровня сознания и насыщения крови кислородом. Сложение: баллы по всем величинам суммируются в одно число. Сравнение с порогом: сумма попадает в одну из полос — низкую, среднюю, высокую. Назначенное действие: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a:t>
            </a:r>
          </a:p>
          <a:p>
            <a:r>
              <a:t/>
            </a:r>
          </a:p>
          <a:p>
            <a:r>
              <a:t>Ценность этой конструкции в двух свойствах. Первое: баллы передаются между сменами. Суждение «мне кажется, он сдал» передать нельзя — его не записать в лист и не предъявить утром; число передаётся. Второе: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и любой может посмотреть, почему при частоте дыхания двадцать пять получается именно три балла. Ошибка шкалы разбирается как ошибка документа: собирается комиссия, правит таблицу, выпускает новую редакцию.</a:t>
            </a:r>
          </a:p>
          <a:p>
            <a:r>
              <a:t/>
            </a:r>
          </a:p>
          <a:p>
            <a:r>
              <a:t>Это и есть классический режим, с которым дальше сравнивается обученная модель. У него две названные слабости, и в них модель и целилась. Шкала медленна: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 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 — только шесть величин, снятых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четырьмя утверждениями, и у каждого своя база.</a:t>
            </a:r>
          </a:p>
          <a:p>
            <a:r>
              <a:t/>
            </a:r>
          </a:p>
          <a:p>
            <a:r>
              <a:t>Классический режим не был бесплатным. Балльная шкала раннего предупреждения подтверждается восемью эскалациями из ста на 45 776 пациентов, где сепсис встречается у 3,3 из ста; две другие шкалы того же разбора — двенадцатью и восемнадцатью; пороговые тревоги прибора у постели ложны в 88,8 случая из ста на 12 671 размеченной тревоге. Это и есть база сравнения, и без неё числа модели не прочитать.</a:t>
            </a:r>
          </a:p>
          <a:p>
            <a:r>
              <a:t/>
            </a:r>
          </a:p>
          <a:p>
            <a:r>
              <a:t>Модель осталась в той же полосе цены. Тревога на 18 из ста госпитализаций, восемь тревог на один найденный случай, две трети случаев сепсиса не выявлены, нулевое медианное опережение во второй проверке. Действующая версия различает лучше, а подтверждение держит от 0,13 до 0,26 — от четырёх до восьми тревог на одно подтверждение.</a:t>
            </a:r>
          </a:p>
          <a:p>
            <a:r>
              <a:t/>
            </a:r>
          </a:p>
          <a:p>
            <a:r>
              <a:t>Поток тревог создал статью рабочего времени, которой не было. Рядом стоит измерение на другой системе — лекарственных тревогах в поддержке решений: отклоняется от 87 до 96 из ста. Это другая задача, и складывать её долю с числами модели сепсиса нельзя; но направление у обоих измерений одно — разбор машинных тревог стал самостоятельной работой, у которой есть объём, исполнитель и, в отдельных больницах, штат.</a:t>
            </a:r>
          </a:p>
          <a:p>
            <a:r>
              <a:t/>
            </a:r>
          </a:p>
          <a:p>
            <a:r>
              <a:t>Четвёртое, и это вывод раздела: тревога без названной базы не предупреждает. Оповещение, у которого не посчитана доля подтверждения на вашем населении, не несёт сведений о том, что произошло с пациентом, — оно несёт сведения о том, что сработал порог.</a:t>
            </a:r>
          </a:p>
          <a:p>
            <a:r>
              <a:t/>
            </a:r>
          </a:p>
          <a:p>
            <a:r>
              <a:t>Инженеру отсюда следуют три требования, и все три проверяемые. Посчитать долю подтверждения на своём потоке до внедрения. Назначить, кто разбирает поток, и посчитать это время рабочим. Держать классический режим живым, потому что сравнивать модель придётся именно с ним.</a:t>
            </a:r>
          </a:p>
          <a:p>
            <a:r>
              <a:t/>
            </a:r>
          </a:p>
          <a:p>
            <a:r>
              <a:t>Наблюдение оставляет после себя документ, и решение по нему принимает тот, кто пациента не видел.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диктовка под шаблон или набор текста руками сразу после приёма,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Слепое сравнение с врачебными документами: 100 случайно отобранных госпитализаций продолжительностью от трёх до шести дней, 22 лечащих врача-рецензента, дублированная оценка, и рецензенты не знали, где машинный текст, а где человеческий. Общее качество сопоставимо — 3,67 у врачей против 3,77 у модели по пятибалльной шкале. Машинные версии сжатее, 4,01 против 3,70, и связнее, 4,16 против 4,01, но менее полны — 3,72 против 4,13. Уникальных ошибок на документ у модели больше: 2,91 против 1,82. Потенциальный вред отдельной ошибки не различается — 1,35 против 1,34 по шкале от нуля до семи; ошибок с потенциалом необратимого вреда шесть у модели и пять у врачей.</a:t>
            </a:r>
          </a:p>
          <a:p>
            <a:r>
              <a:t/>
            </a:r>
          </a:p>
          <a:p>
            <a:r>
              <a:t>Проспективная проверка в работе даёт другой состав ошибок: на 384 выписки система выдала 1 274 сводки, врачи использовали машинное содержание в 219 случаях — 57 из ста; на сотне сводок пропуски нашлись в 25, неточности в 20, выдумки в 2, а из ста неотредактированных 88 признаны не несущими потенциала вреда, одна — способной причинить умеренный вред, тяжёлого вреда нет.</a:t>
            </a:r>
          </a:p>
          <a:p>
            <a:r>
              <a:t/>
            </a:r>
          </a:p>
          <a:p>
            <a:r>
              <a:t>Что это потребовало — вычитки другого рода, которой никто не учит.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 связное, уместное по стилю и отсутствующее в источнике.</a:t>
            </a:r>
          </a:p>
          <a:p>
            <a:r>
              <a:t/>
            </a:r>
          </a:p>
          <a:p>
            <a:r>
              <a:t>И то, что по этому случаю чаще всего пересказывают: тройка аккуратных чисел со ссылкой на «исследование ста эпикризов». Построчное чтение трёх доступных первоисточников её не даёт —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тремя утверждениями и выводом.</a:t>
            </a:r>
          </a:p>
          <a:p>
            <a:r>
              <a:t/>
            </a:r>
          </a:p>
          <a:p>
            <a:r>
              <a:t>Заявленная экономия и измеренная экономия посчитаны в разных величинах. Заявление — 15 791 час на 63 000 приёмов без раскрытой методики; измерение — 9,5 процента времени в заметке у одного инструмента и ноль у второго при 238 рандомизированных врачах, причём активное время правки не изменилось. Разница между заявлением и измерением здесь не в величине, а в том, что заявление не является проверяемым утверждением.</a:t>
            </a:r>
          </a:p>
          <a:p>
            <a:r>
              <a:t/>
            </a:r>
          </a:p>
          <a:p>
            <a:r>
              <a:t>Время не исчезло — оно переехало. Набор текста сократился, вычитка черновика появилась и измерена отдельно, а служба контроля качества заметок получила штат: свыше 3 600 прочитанных отзывов врачей и 1 252 анкеты в отчёте одной клиники. Обе формы — «нагрузка переехала» и «шаг появился» — предъявлены с объёмом, а не словами.</a:t>
            </a:r>
          </a:p>
          <a:p>
            <a:r>
              <a:t/>
            </a:r>
          </a:p>
          <a:p>
            <a:r>
              <a:t>У машинного документа другое устройство ошибки, и прежний навык вычитки на него не переносится. Ошибок больше — 2,91 против 1,82 на документ; документ менее полон — 3,72 против 4,13 по пятибалльной шкале; потенциал вреда отдельной ошибки тот же. Искать приходится не опечатку, а правдоподобную подробность, которой не было в истории болезни.</a:t>
            </a:r>
          </a:p>
          <a:p>
            <a:r>
              <a:t/>
            </a:r>
          </a:p>
          <a:p>
            <a:r>
              <a:t>И вывод раздела. Автоматическая запись приёма — тот случай, где выигрыш настоящий и берётся сразу, а плата возникает на шаге, которого в процессе не было. Направление развития этого режима делает плату больше: от диктовки под шаблон — к записи приёма целиком, а дальше к черновику назначений и кодов, то есть к документу, который что-то запускает. Чем больше документ запускает, тем дороже в нём правдоподобная подробность, которой не было.</a:t>
            </a:r>
          </a:p>
          <a:p>
            <a:r>
              <a:t/>
            </a:r>
          </a:p>
          <a:p>
            <a:r>
              <a:t>Под каждым из этих документов стоит подпись. Запись приёма подписывает врач, выписной эпикриз подписывает врач, и когда по документу что-то произойдёт, разбирать будут подпись.</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Разбор «Норма есть, проверки нет» показывает, как редко эту способность проверяют на практике до того, как устройство допустят к продаже: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«Модель, которая меняется после допуска» называет три инструмента регулятора: заранее утверждённый план будущих изменений модели, передачу данных о работе устройства регулятору и перенесённые сроки обязательной отчётности в европейском регламенте об ИИ. У этого обзора нет формы разбора в словаре курса, и это не недостаток материала: он описывает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Медицинское заключение существует как документ, под которым стоит имя конкретного человека; в электронном контуре это усиленная квалифицированная электронная подпись, привязанная к одному физическому лицу. Отсюда следует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Разбор случая — третий механизм этой процедуры, после подписи и информированного согласия, и устроен он как работа людей.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Если соответствовали — ответственность не наступает, даже когда исход оказался плохим. Если не соответствовали — комиссия называет расхождение и то, что из него следует.</a:t>
            </a:r>
          </a:p>
          <a:p>
            <a:r>
              <a:t/>
            </a:r>
          </a:p>
          <a:p>
            <a:r>
              <a:t>Вопроса «пользовался ли он моделью» в этом списке нет вовсе. Вывод модели упоминается ровно в той мере, в какой он попал в карту и мог повлиять на действие; решение комиссии не меняется от того, следовал врач подсказке или возразил ей.</a:t>
            </a:r>
          </a:p>
          <a:p>
            <a:r>
              <a:t/>
            </a:r>
          </a:p>
          <a:p>
            <a:r>
              <a:t>Такая постановка делает три вещи сразу. Она держит цену ошибки на человеке с подписью, сколько бы машин ни участвовало в подготовке решения. Она переводит разбор с личности на документ: исправляют порядок оказания помощи, а не характер врача. И она не умеет оценивать модель — инструмент оценки здесь соответствие порядку, а порядок про модель ничего не говорит, пока его не перепишут.</a:t>
            </a:r>
          </a:p>
          <a:p>
            <a:r>
              <a:t/>
            </a:r>
          </a:p>
          <a:p>
            <a:r>
              <a:t>Чисел на этом кадре нет, и это свойство самого кадра: он показывает устройство работы. Числа появятся там, где мы спросим, насколько часто проверяют то, на чём вся конструкция стоит, — способность подписывающего возразить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которым медицина удерживает цену ошибки, собран здесь из двух шагов.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Второй — изменение порядка по итогам разбора: расхождение, которое повторяется, становится основанием поправить документ — порядок оказания помощи или внутренний регламент отделения. Третий шаг, независимое второе мнение и арбитраж при расхождении, разобран раньше; независимость теряется в тот момент, когда оба читателя видят одну и ту же машинную подсказку. Общее у всех трёх одно: каждый существует потому, что один человек ошибается, и процедура знает это заранее — внимательнее людей она не делает.</a:t>
            </a:r>
          </a:p>
          <a:p>
            <a:r>
              <a:t/>
            </a:r>
          </a:p>
          <a:p>
            <a:r>
              <a:t>Планирование смен стоит рядом как разбор подмены. Время на составление графика упало с 32,0 до 6,0 часа в месяц, но обученной модели внутри планировщика нет: нормы отдыха, квалификации, заявки на отпуск и минимальный состав дежурства задают систему условий, которую решает оптимизатор. Выигрыш относится к организации труда — ошибка в графике исправляется до начала смены и никому не стоит здоровья.</a:t>
            </a:r>
          </a:p>
          <a:p>
            <a:r>
              <a:t/>
            </a:r>
          </a:p>
          <a:p>
            <a:r>
              <a:t>Числа по подсказке получены в опыте с перекрёстным планом: сорок клиницистов, по двести снимков каждый, восемь тысяч прочтений. Без модели верных заключений 87,2 из ста, с моделью 96,4. Девять пунктов посчитаны против одного читателя — второго человека в этом опыте не было, и сколько из них осталось бы при сравнении с парой людей, он не говорит. А 45,5 из ста оставшихся ошибок связаны со склонностью доверять автомату: человек соглашается с машинным выводом там, где без него решил бы иначе и правильнее. Стаж от этого не защищает.</a:t>
            </a:r>
          </a:p>
          <a:p>
            <a:r>
              <a:t/>
            </a:r>
          </a:p>
          <a:p>
            <a:r>
              <a:t>Очевидное лекарство — прятать подсказку там, где она скорее введёт в заблуждение.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 Раскрытый конфликт интересов произносится рядом с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закрывается четырьмя утверждениями, и у каждого своя база.</a:t>
            </a:r>
          </a:p>
          <a:p>
            <a:r>
              <a:t/>
            </a:r>
          </a:p>
          <a:p>
            <a:r>
              <a:t>Первое: цену ошибки держит процедура, а работает она на документе. Разбор случая оценивает соответствие действий утверждённым порядкам; изменение порядка — то, чем разбор заканчивается. Вопроса «пользовался ли врач моделью» в этой процедуре нет, и пока порядок про модель не переписан, процедура её не оценивает.</a:t>
            </a:r>
          </a:p>
          <a:p>
            <a:r>
              <a:t/>
            </a:r>
          </a:p>
          <a:p>
            <a:r>
              <a:t>Второе: выигрыш и вред от подсказки идут из одного места. Точность с 87,2 до 96,4 из ста и 45,5 из ста оставшихся ошибок, связанных со склонностью доверять автомату, на всех уровнях стажа — одно исследование, сильный план, повторения нет. Очевидное лекарство оценено расчётом и не измерено: третьего раунда не было, и знак итогового эффекта неизвестен.</a:t>
            </a:r>
          </a:p>
          <a:p>
            <a:r>
              <a:t/>
            </a:r>
          </a:p>
          <a:p>
            <a:r>
              <a:t>Третье: норма требует человека финальным звеном, а проверено ли, что он способен вмешаться, — почти никогда. 56 изделий из 717, срез июнь 2024 года, одна публикация без независимого повтора. Рядом: 924 изделия из 950 допущены по подобию, 60 из 950 отозваны, 43,4 процента отзывов — в первый год.</a:t>
            </a:r>
          </a:p>
          <a:p>
            <a:r>
              <a:t/>
            </a:r>
          </a:p>
          <a:p>
            <a:r>
              <a:t>Четвёртое: процедура живёт вне сетки «задача × модальность», и это её свойство. Подпись, согласие, разбор случая, допуск, надзор после допуска — ни одно из них не занимается распознаванием, прогнозом или генерацией. Клетка сетки говорит, чем инструмент занят, и ничего не говорит о том, чем его держат.</a:t>
            </a:r>
          </a:p>
          <a:p>
            <a:r>
              <a:t/>
            </a:r>
          </a:p>
          <a:p>
            <a:r>
              <a:t>Контраст с прошлой лекцией предъявляется прямо. Там требований к системам с искусственным интеллектом внутри промышленных изделий не было, и это было названо пробелом. В медицине они есть: класс риска, национальные стандарты, порядок передачи данных регулятору, статья о человеческом надзоре, планы изменений модели после допуска — и названы сроки. Разница в том, что здесь документ есть и измеримо, насколько он исполняется.</a:t>
            </a:r>
          </a:p>
          <a:p>
            <a:r>
              <a:t/>
            </a:r>
          </a:p>
          <a:p>
            <a:r>
              <a:t>Удерживает то, что стоит за подписью: время прочитать, способность возразить, процедура, в которой возражение чем-то кончается, и проверка, что всё это есть. Где за подписью не стоит ничего, цена ошибки переезжает на того, кто не подписывал.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Химик-синтетик получает миллиграммы вещества. Тот же порошок через полгода едет в виварий на токсикологию. Ещё через год координатор исследования часами пишет наблюдения по одному здоровому добровольцу первой фазы. Три человека, три места, одно вещество, и между первым эпизодом и третьим проходит около двух лет. Картина стоит здесь затем, что дальше пойдут проценты и доли, а за каждым стоит такая же работа руками.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вечера проверяют один и тот же вопрос на разном материале. Первый — молекула, спроектированная моделью целиком: доклинический этап у неё занял меньше года против нескольких лет отраслевой нормы, она вошла в клинику человека, а затем была снята на первой фазе — ускорение одного шага не гарантировало следующий. Второй — воронка молекул, в происхождении которых участвовала обученная модель: десятки активов вошли в клинику, часть дошла до второй фазы, а одобрений регулятора за всё время существования категории —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который модель бизнеса считала предрешённым.</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Производство лекарственной формы на линии — отдельная тема курса, в этот раздел она не входит. Одну границу надо удержать до первого разбора: это работа на масштабе отрасли, а не решение о человеке у койки, и переносить выводы одного масштаба на другой запрещено так же, как в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здесь — порядок величины, а не замер. Около двух лет между первым эпизодом и третьим и четыре-пять лет на весь путь от мишени до клинического кандидата — отраслевая норма из согласующихся между собой обзоров, не построчно сверенная статистика; разброс между программами при этом большой. Удержать стоит не цифру, а то, что каждый шаг этого пути кто-то делает руками: одна реакция, одно животное, один доброволец. Длина такого шага от вычислений не зависит — её задают физиология, протокол и расписание центра.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называет не только шаги, но и тех, кто их делает, и исполнитель здесь важнее названия шага. Дальше весь раздел говорит об одном: переехала не работа, а один исполнитель на одном шаге — в самом начале пути.</a:t>
            </a:r>
          </a:p>
          <a:p>
            <a:r>
              <a:t/>
            </a:r>
          </a:p>
          <a:p>
            <a:r>
              <a:t>Мишень выбирают биологи: решают, какой белок или процесс в организме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и меньше задевает соседние цели.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на первой фазе до сотен и тысяч пациентов на третьей. Заявку собирают регуляторные специалисты: это тоже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с визитами, анализами и оплатой работы каждого центра. Поэтому ускорение в начале пути меняет общую длину и общую стоимость разработки незначительно: оно происходит на самом дешёвом и самом коротком участке.</a:t>
            </a:r>
          </a:p>
          <a:p>
            <a:r>
              <a:t/>
            </a:r>
          </a:p>
          <a:p>
            <a:r>
              <a:t>Вычисление приходится на один шаг — подбор молекулы и, реже, выбор мишени. Остальные три шага схемы им не затрагиваются вовсе: переносимость проверяют на людях, пациентов набирают в больницах, документы подаёт человек. Эту границу стоит держать в голове, когда дальше пойдут числа: все они про первый шаг, а узкое место ищут там, где стоит основной объём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 Это и есть база, с которой сравнивают любое улучшение.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Цена обеих ошибок называется здесь, до всякой точности, и половины её несопоставимы по измеримости. Довести негодную молекулу до первой фазы — это месяцы работы клинического центра, здоровые добровольцы под дозой и деньги, не ушедшие в другую программу. Отбросить годную — терапии не будет ни у кого, и эта цена не измеряется вовсе: узнать, что отброшенная молекула сработала бы, невозможно, потому что эксперимента не было. Вторую цену называют прямо и не заменяют оценкой; подставить сюда правдоподобную цифру значило бы её выдумать.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той же формы, знакомый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потому что в его знаменателе сидят те, кто до экзамена просто не дошёл: взял отпуск, не закрыл допуск, ещё учится. Ни одно из двух чисел не врёт; врёт их сопоставление друг с другом.</a:t>
            </a:r>
          </a:p>
          <a:p>
            <a:r>
              <a:t/>
            </a:r>
          </a:p>
          <a:p>
            <a:r>
              <a:t>В разработке лекарства устройство такое же. Переход считают среди тех, кто фазу прошёл до конца: знаменатель — завершившие фазу, числитель — пошедшие дальше. Завершение считают среди всех, кто когда-либо вошёл в испытания, и в этом знаменателе сидят активы, которые до следующей фазы ещё не дошли — ни провалившись, ни преуспев. Чем моложе набор активов, тем сильнее второе число занижено просто ходом времени, а не качеством работы.</a:t>
            </a:r>
          </a:p>
          <a:p>
            <a:r>
              <a:t/>
            </a:r>
          </a:p>
          <a:p>
            <a:r>
              <a:t>Это не придирка к словам. Дальше в разделе будет замер, где такие две дроби склеены в публичном пересказе, и знак вывода от склейки переворачивается: «втрое хуже отрасли» получается там, где сопоставимое сравнение даёт «не хуже базы».</a:t>
            </a:r>
          </a:p>
          <a:p>
            <a:r>
              <a:t/>
            </a:r>
          </a:p>
          <a:p>
            <a:r>
              <a:t>Третья причина не ставить такие числа в один ряд — разная единица счёта. Отраслевая база считает переходы по показаниям: одна молекула, которую проверяют на трёх болезнях, даёт три перехода. Замеры по молекулам машинного происхождения считают уникальные молекулы и активы, то есть ту же молекулу один раз. Отсюда короткое правило, которое переносится за пределы этой отрасли: прежде чем сравнивать две доли, проверяют три вещи — что стоит в знаменателе, что считается единицей счёта и на какую дату сделан срез. Если хоть одна из трёх различается, сравнения нет, даже когда числа выглядят однотипно.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Левый столбец держится на двух случаях, и у каждого названа база сравнения. Перебор гипотез по графу биомедицинских связей занял 48 часов — против недель и месяцев систематического обзора литературы и экспертной гипотезы; для нового патогена, по которому литературы почти нет, классический путь не работает вовсе, и это важная часть выигрыша.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a:t>
            </a:r>
          </a:p>
          <a:p>
            <a:r>
              <a:t/>
            </a:r>
          </a:p>
          <a:p>
            <a:r>
              <a:t>Второй случай — расчётная оценка связывания 13 000 соединений под уже известную мишень. Он ценен тем, что сделан аккуратно: метод назван, сказано, что именно он считает — физику связывания, — и обещания «придумал лекарство из ничего» нет. База сравнения тут — классический цикл «синтезируй и протестируй», где физически через опыт прогоняют от одного до трёх миллионов соединений. Упал объём физических итераций, а не цена результата: готовый актив покупатель забрал за 4 миллиарда долларов авансом плюс до 2 миллиардов выплат по достижениям. Удешевление поиска молекулы не удешевило молекулу.</a:t>
            </a:r>
          </a:p>
          <a:p>
            <a:r>
              <a:t/>
            </a:r>
          </a:p>
          <a:p>
            <a:r>
              <a:t>Правый столбец пуст по числам, и это его вывод, а не пробел подборки. Ни переносимость у людей, ни набор пациентов, ни длительность наблюдения за медленно прогрессирующей болезнью, ни производство клинической партии не содержат задачи, которую делает модель. Отсюда приём, работающий в любой отрасли: у заявленного эффекта спрашивают, от чего он посчитан, и отдельно — какую долю всего пути занимает шаг, на котором он получен.</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вечера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 подставить сюда правдоподобную цифру значило бы её выдумать.</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Счёт у двух режимов один и тот же, и это и делает его базой: первая фаза пропускает дальше 52,0 процента программ, вторая — 28,9, до одобрения доходит 7,9. Любое улучшение сравнивают с этими числами, а не с нулём и не с ожиданиями из заголовков. Пока сравнения с ними нет, фраза «модель ускорила разработку» говорит только про тот шаг, на котором её применили, и ничего — про путь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этот случай, требует оговорки, и она не формальная. И «меньше двенадцати месяцев», и «четыре с половиной года» — заявления самой компании: второе —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a:t>
            </a:r>
          </a:p>
          <a:p>
            <a:r>
              <a:t/>
            </a:r>
          </a:p>
          <a:p>
            <a:r>
              <a:t>Что отсюда забирают. Доклиника сжалась в месяцы, а переносимость у людей осталась той же длины и у того же исполнителя — и она же остановила проект. Исход при этом ровно такой, какой предсказывает база отрасли, где первая фаза пропускает дальше 52,0 процента программ: ничего исключительного не произошло, обычный отсев. Ускорение одного шага не ускоряет и не гарантирует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машинного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одно число опирается на тысячи наблюдений, другое на несколько. К этому добавляется вторая оговорка: первоисточник замера напрямую не открылся, числа взяты из трёх независимых согласующихся пересказов, и сверка остаётся вторичной.</a:t>
            </a:r>
          </a:p>
          <a:p>
            <a:r>
              <a:t/>
            </a:r>
          </a:p>
          <a:p>
            <a:r>
              <a:t>Одно уточнение про знаменатель, чтобы рядом не встал чужой. В клинику с 2015 года вошло 75 молекул машинного происхождения — это вся совокупность категории, а не знаменатель второй фазы, и ставить 75 рядом с «около сорока процентов» нельзя. Против 4 933 переходов отраслевой стороны такая пара внушала бы сопоставимый вес свидетельства там, где разница в три порядка.</a:t>
            </a:r>
          </a:p>
          <a:p>
            <a:r>
              <a:t/>
            </a:r>
          </a:p>
          <a:p>
            <a:r>
              <a:t>Направление вывода здесь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 — ровно тот дефект, который этот раздел разбирает у чужих материалов.</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 и так это и стоит произносить.</a:t>
            </a:r>
          </a:p>
          <a:p>
            <a:r>
              <a:t/>
            </a:r>
          </a:p>
          <a:p>
            <a:r>
              <a:t>В публичных обзорах встречается «больше двухсот молекул в клинике». В этом разделе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Форсированная жизненная ёмкость лёгких выросла на 98,4 миллилитра в группе препарата против падения на 20,3 миллилитра в группе плацебо. Второе число и есть база: без лечения функция лёгких у этих пациентов продолжает падать, на месте она не стоит, и прирост считают от падения, а не от нуля. Из исследования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a:t>
            </a:r>
          </a:p>
          <a:p>
            <a:r>
              <a:t/>
            </a:r>
          </a:p>
          <a:p>
            <a:r>
              <a:t>Испытание было устроено по правилам: 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и показать не могли.</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собирается тремя формами, и все три уже предъявлены на разборах. Нагрузка переехала на другой шаг — дважды: на масштабе отрасли весь объём работы стоит в клинических фазах, которые не подешевели, а на масштабе одной молекулы доклиника сжалась в месяцы, и остановила проект переносимость у людей. Объём на том же месте упал — расчётный отбор соединений под уже известную мишень: тот же шаг, тот же исполнитель, меньше физических итераций «синтезируй и протестируй». Изменился порядок работ — но на масштабе модели бизнеса, а не процесса одного препарата, и это заимствование формы на другой масштаб, сказанное прямо.</a:t>
            </a:r>
          </a:p>
          <a:p>
            <a:r>
              <a:t/>
            </a:r>
          </a:p>
          <a:p>
            <a:r>
              <a:t>Узкое место стоит назвать по частям, иначе оно звучит отговоркой: переносимость у людей, набор пациентов, длительность наблюдения, производство клинической партии. Расчётный отбор соединений не касается ни одной из этих четырёх работ.</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У этого вывода есть и срок годности, и его стоит произнести: появится первое одобрение — вывод придётся менять целиком, переформулировкой тут не обойтись. И чего раздел не касается: производства лекарственной формы на линии.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 Ускорение участка, который не был узким местом, меняет длину всего пути ровно на ноль — и видно это не на одном проекте, а на отрасли с десятилетней историей, шестьюдесятью тремя компаниями и ста семнадцатью активами в клинике.</a:t>
            </a:r>
          </a:p>
          <a:p>
            <a:r>
              <a:t/>
            </a:r>
          </a:p>
          <a:p>
            <a:r>
              <a:t>Дальше вечер меняет масштаб: от отрасли, где удешевили начало целиком, — к одному человеку, который принимает решение, и к тому, что происходит с его собственным навыком.</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Три предмета раздела идут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сертификат на руках. В медицине она устроена иначе, и это различение несущее для всего раздела: врачебный навык — расходуемое. 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и снаружи это проверяется одной величиной — сколько раз человек процедуру выполнил.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спрашивает самого человека. Профессия не спрашивает врача, в форме ли он: она считает за него. Для колоноскопии счёт устроен двумя показателями. Доля обнаружения — доля процедур, в которых врач нашёл хотя бы одно предраковое образование, от всех выполненных им. Её нельзя получить старанием, волей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сама картина.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 и самочувствие специалиста поэтому негодно как прибор для измерения его формы.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заканчивается своими пробелами — первая проверка на себе того требования, которое весь вечер предъявлялось чужим числам.</a:t>
            </a:r>
          </a:p>
          <a:p>
            <a:r>
              <a:t/>
            </a:r>
          </a:p>
          <a:p>
            <a:r>
              <a:t>Первое. На реальной работе измерено однажды: падение доли обнаружения — одна страна, четыре центра, наблюдательный дизайн, опубликованное исправление, три письма и ответ авторов. Содержание этих четырёх текстов за платным доступом и нам неизвестно, поэтому ссылаться можно на их существование и состав, но не на содержание: ссылка на то, чего не читали, была бы тем, в чём лекция упрекает поставщика.</a:t>
            </a:r>
          </a:p>
          <a:p>
            <a:r>
              <a:t/>
            </a:r>
          </a:p>
          <a:p>
            <a:r>
              <a:t>Второе. Повторения на реальной работе нет, и пробел назван числом: двадцать две отдельные попытки — восемнадцать поисковых формулировок и четыре целевых обращения, включая поиск отечественных измерений. Число это про поиск; о самом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Вместо измерений нашлись организаторские величины — доля согласия врача с подсказкой, медиана времени обработки, объём обработанных исследований — и пресс-релизные цифры, годные как упражнение на недостоверность.</a:t>
            </a:r>
          </a:p>
          <a:p>
            <a:r>
              <a:t/>
            </a:r>
          </a:p>
          <a:p>
            <a:r>
              <a:t>Третье. Продольного измерения навыка у тех, кто учился сразу с помощником,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a:t>
            </a:r>
          </a:p>
          <a:p>
            <a:r>
              <a:t/>
            </a:r>
          </a:p>
          <a:p>
            <a:r>
              <a:t>И пустая клетка. Операция, которая должна была бы появиться вместе с помощником — периодическая работа без него или переподготовка, — не появилась, и её отсутствие входит в находку. Написать туда «переаттестация» нельзя: такой процедуры нет ни в одной юрисдикции. Отсюда практическое следствие: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числа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за вечер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Между двумя осями стоят три кадра, каждый —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начался вечер.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этом вечере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вечера.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6" name="Rectangle 5"/>
          <p:cNvSpPr/>
          <p:nvPr/>
        </p:nvSpPr>
        <p:spPr>
          <a:xfrm>
            <a:off x="502920" y="621792"/>
            <a:ext cx="1463040"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посмотрела на снимок первой</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СКОРОСТЬ ОТВЕТА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секунды</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работы модели; человеческого контрфакта у этой величины нет — врач за три секунды снимок не читает</a:t>
            </a:r>
          </a:p>
        </p:txBody>
      </p:sp>
      <p:sp>
        <p:nvSpPr>
          <p:cNvPr id="8" name="Rounded Rectangle 7"/>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ПРИВАТНОСТЬ</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вычисление в браузере, снимок не уходит на сервер</a:t>
            </a:r>
          </a:p>
        </p:txBody>
      </p:sp>
      <p:sp>
        <p:nvSpPr>
          <p:cNvPr id="11" name="Rounded Rectangle 10"/>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ДОПУСК</a:t>
            </a:r>
          </a:p>
        </p:txBody>
      </p:sp>
      <p:sp>
        <p:nvSpPr>
          <p:cNvPr id="13" name="TextBox 12"/>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требуется</a:t>
            </a:r>
          </a:p>
        </p:txBody>
      </p:sp>
      <p:sp>
        <p:nvSpPr>
          <p:cNvPr id="14" name="Rounded Rectangle 13"/>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Перетащенный рентген грудной клетки. Профиль вероятностей по восемнадцати патологиям. Тепловая карта поверх снимка — область, на которую модель смотрела.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секунды</a:t>
            </a:r>
            <a:r>
              <a:rPr sz="1500" b="0" i="0">
                <a:solidFill>
                  <a:srgbClr val="21295C"/>
                </a:solidFill>
                <a:latin typeface="Arial"/>
              </a:rPr>
              <a:t> · </a:t>
            </a:r>
            <a:r>
              <a:rPr sz="1500" b="1" i="0">
                <a:solidFill>
                  <a:srgbClr val="21295C"/>
                </a:solidFill>
                <a:latin typeface="Arial"/>
              </a:rPr>
              <a:t>в браузере, снимок не уходит на сервер</a:t>
            </a:r>
            <a:r>
              <a:rPr sz="1500" b="0" i="0">
                <a:solidFill>
                  <a:srgbClr val="21295C"/>
                </a:solidFill>
                <a:latin typeface="Arial"/>
              </a:rPr>
              <a:t> · </a:t>
            </a:r>
            <a:r>
              <a:rPr sz="1500" b="1" i="0">
                <a:solidFill>
                  <a:srgbClr val="21295C"/>
                </a:solidFill>
                <a:latin typeface="Arial"/>
              </a:rPr>
              <a:t>допуска не требуется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Сама модель подписана: «не для диагностики».</a:t>
            </a:r>
          </a:p>
          <a:p>
            <a:pPr algn="l">
              <a:lnSpc>
                <a:spcPct val="126000"/>
              </a:lnSpc>
              <a:spcBef>
                <a:spcPts val="700"/>
              </a:spcBef>
            </a:pPr>
            <a:r>
              <a:rPr sz="1500" b="0" i="0">
                <a:solidFill>
                  <a:srgbClr val="21295C"/>
                </a:solidFill>
                <a:latin typeface="Arial"/>
              </a:rPr>
              <a:t/>
            </a:r>
            <a:r>
              <a:rPr sz="1500" b="0" i="1">
                <a:solidFill>
                  <a:srgbClr val="21295C"/>
                </a:solidFill>
                <a:latin typeface="Arial"/>
              </a:rPr>
              <a:t>Кто из вас когда-нибудь получал результат обследования раньше, чем врач успел его прочитать?</a:t>
            </a:r>
            <a:r>
              <a:rPr sz="1500" b="0" i="0">
                <a:solidFill>
                  <a:srgbClr val="21295C"/>
                </a:solidFill>
                <a:latin typeface="Arial"/>
              </a:rPr>
              <a:t> — в чат: да / нет / не помню.</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Cohen, Bertin, Frappier, 2019</a:t>
            </a:r>
            <a:r>
              <a:rPr sz="1100" b="0" i="1">
                <a:solidFill>
                  <a:srgbClr val="1C7293"/>
                </a:solidFill>
                <a:latin typeface="Arial"/>
              </a:rPr>
              <a:t> · </a:t>
            </a:r>
            <a:r>
              <a:rPr sz="1100" b="0" i="1">
                <a:solidFill>
                  <a:srgbClr val="1C7293"/>
                </a:solidFill>
                <a:latin typeface="Arial"/>
              </a:rPr>
              <a:t>mlmed.org/tools/xray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 а не до неё</a:t>
            </a:r>
          </a:p>
        </p:txBody>
      </p:sp>
      <p:sp>
        <p:nvSpPr>
          <p:cNvPr id="7" name="Rounded Rectangle 6"/>
          <p:cNvSpPr/>
          <p:nvPr/>
        </p:nvSpPr>
        <p:spPr>
          <a:xfrm>
            <a:off x="3340531"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перестаёт делать сам</a:t>
            </a:r>
          </a:p>
        </p:txBody>
      </p:sp>
      <p:sp>
        <p:nvSpPr>
          <p:cNvPr id="10" name="Rounded Rectangle 9"/>
          <p:cNvSpPr/>
          <p:nvPr/>
        </p:nvSpPr>
        <p:spPr>
          <a:xfrm>
            <a:off x="6178143"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подтверждает не читая</a:t>
            </a:r>
          </a:p>
        </p:txBody>
      </p:sp>
      <p:sp>
        <p:nvSpPr>
          <p:cNvPr id="13" name="Rounded Rectangle 12"/>
          <p:cNvSpPr/>
          <p:nvPr/>
        </p:nvSpPr>
        <p:spPr>
          <a:xfrm>
            <a:off x="9015755" y="1335024"/>
            <a:ext cx="2673019"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9152915" y="1690796"/>
            <a:ext cx="2398699" cy="927759"/>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разбор расхождений 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Удешевили чтение данных. Платят вниманием, навыком, подписью и арбитражем.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Внимание</a:t>
            </a:r>
            <a:r>
              <a:rPr sz="1500" b="0" i="0">
                <a:solidFill>
                  <a:srgbClr val="21295C"/>
                </a:solidFill>
                <a:latin typeface="Arial"/>
              </a:rPr>
              <a:t> — человек смотрит после модели, а не до неё</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Навык</a:t>
            </a:r>
            <a:r>
              <a:rPr sz="1500" b="0" i="0">
                <a:solidFill>
                  <a:srgbClr val="21295C"/>
                </a:solidFill>
                <a:latin typeface="Arial"/>
              </a:rPr>
              <a:t> — перестаёт делать сам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Подпись</a:t>
            </a:r>
            <a:r>
              <a:rPr sz="1500" b="0" i="0">
                <a:solidFill>
                  <a:srgbClr val="21295C"/>
                </a:solidFill>
                <a:latin typeface="Arial"/>
              </a:rPr>
              <a:t> — подтверждает не читая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Арбитраж</a:t>
            </a:r>
            <a:r>
              <a:rPr sz="1500" b="0" i="0">
                <a:solidFill>
                  <a:srgbClr val="21295C"/>
                </a:solidFill>
                <a:latin typeface="Arial"/>
              </a:rPr>
              <a:t> — разбор расхождений дороже прежнего чтения</a:t>
            </a:r>
          </a:p>
          <a:p>
            <a:pPr algn="l">
              <a:lnSpc>
                <a:spcPct val="126000"/>
              </a:lnSpc>
              <a:spcBef>
                <a:spcPts val="700"/>
              </a:spcBef>
            </a:pPr>
            <a:r>
              <a:rPr sz="1200" b="0" i="0">
                <a:solidFill>
                  <a:srgbClr val="21295C"/>
                </a:solidFill>
                <a:latin typeface="Arial"/>
              </a:rPr>
              <a:t/>
            </a:r>
            <a:r>
              <a:rPr sz="1200" b="0" i="1">
                <a:solidFill>
                  <a:srgbClr val="1C7293"/>
                </a:solidFill>
                <a:latin typeface="Arial"/>
              </a:rPr>
              <a:t>Удешевление одного шага перестраивает работу целиком, платят на другом шаге — линза предыдущих лекций, применённая здесь к человеку.</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одна против человека с моделью</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100</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модели по тем же задачам — наблюдательное дополнение, случайной ветвью он не был</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100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50 практикующих врачей, из них 44 терапевта; те же случаи, та же шкала</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одна — 92 из 100.</a:t>
            </a:r>
            <a:r>
              <a:rPr sz="1500" b="0" i="0">
                <a:solidFill>
                  <a:srgbClr val="21295C"/>
                </a:solidFill>
                <a:latin typeface="Arial"/>
              </a:rPr>
              <a:t> </a:t>
            </a:r>
            <a:r>
              <a:rPr sz="1500" b="0" i="1">
                <a:solidFill>
                  <a:srgbClr val="21295C"/>
                </a:solidFill>
                <a:latin typeface="Arial"/>
              </a:rPr>
              <a:t>(отдельный прогон, три повтора)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Человек с моделью — 76 из 100.</a:t>
            </a:r>
            <a:r>
              <a:rPr sz="1500" b="0" i="0">
                <a:solidFill>
                  <a:srgbClr val="21295C"/>
                </a:solidFill>
                <a:latin typeface="Arial"/>
              </a:rPr>
              <a:t> </a:t>
            </a:r>
            <a:r>
              <a:rPr sz="1500" b="0" i="1">
                <a:solidFill>
                  <a:srgbClr val="21295C"/>
                </a:solidFill>
                <a:latin typeface="Arial"/>
              </a:rPr>
              <a:t>(50 практикующих врачей, одни и те же случаи)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a:t>
            </a:r>
            <a:r>
              <a:rPr sz="1500" b="1" i="0">
                <a:solidFill>
                  <a:srgbClr val="21295C"/>
                </a:solidFill>
                <a:latin typeface="Arial"/>
              </a:rPr>
              <a:t>16 пунктов по медианам</a:t>
            </a:r>
            <a:r>
              <a:rPr sz="1500" b="0" i="0">
                <a:solidFill>
                  <a:srgbClr val="21295C"/>
                </a:solidFill>
                <a:latin typeface="Arial"/>
              </a:rPr>
              <a:t> — и проверки значимости у этой пары в первоисточнике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Инструмент, который сам по себе точнее, не поднял человека до себя.</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Происхождение: рандомизированное исследование, 50 практикующих врачей; случайно распределены </a:t>
            </a:r>
            <a:r>
              <a:rPr sz="1500" b="1" i="0">
                <a:solidFill>
                  <a:srgbClr val="21295C"/>
                </a:solidFill>
                <a:latin typeface="Arial"/>
              </a:rPr>
              <a:t>два</a:t>
            </a:r>
            <a:r>
              <a:rPr sz="1500" b="0" i="0">
                <a:solidFill>
                  <a:srgbClr val="21295C"/>
                </a:solidFill>
                <a:latin typeface="Arial"/>
              </a:rPr>
              <a:t> состояния на одних и тех же случаях, прогон модели без человека — отдельный.</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Единица: шкала диагностического рассуждения на клинических виньетках по реальным случаям — не исходы пациентов.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Урок: куплен потенциал, измеренного выигрыша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Третье число — человек без модели, второе случайное состояние — и чем этот разрыв посчитан: в разделе про чтение снимка.</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и соавторы, JAMA Network Open, октябрь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И то же самое в вашей работе</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TextBox 15"/>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смотрит первым</a:t>
            </a:r>
          </a:p>
        </p:txBody>
      </p:sp>
      <p:sp>
        <p:nvSpPr>
          <p:cNvPr id="17" name="Rounded Rectangle 16"/>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ступени — кто смотрит первым.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Свидетельство, замера нет.</a:t>
            </a:r>
            <a:r>
              <a:rPr sz="1500" b="0" i="0">
                <a:solidFill>
                  <a:srgbClr val="21295C"/>
                </a:solidFill>
                <a:latin typeface="Arial"/>
              </a:rPr>
              <a:t> Нагрузка в разработке переехала с младших разработчиков на старших — младшие пишут с моделью, старшие не успевают проверять.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та же градация степеней участия, что дана в курсе ранее (человек в каждой точке решения · над контуром · вне контура), прочитанная по одному признаку — кто смотрит первым. Новой шкалы здесь нет.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без человека нельзя: три опоры и три проверки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опоры:</a:t>
            </a:r>
            <a:r>
              <a:rPr sz="1500" b="0" i="0">
                <a:solidFill>
                  <a:srgbClr val="21295C"/>
                </a:solidFill>
                <a:latin typeface="Arial"/>
              </a:rPr>
              <a:t> - Право подписи выдано человеку - Ошибается иначе, чем модель - Отменить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a:t>
            </a:r>
            <a:r>
              <a:rPr sz="1500" b="0" i="0">
                <a:solidFill>
                  <a:srgbClr val="21295C"/>
                </a:solidFill>
                <a:latin typeface="Arial"/>
              </a:rPr>
              <a:t> - Есть ли независимый источник истины, кроме объяснения модели? - Измерено ли, что человек возражает — и что возражает верно? -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заявка; каждую опору лекция посчитает, и в конце мы к ней вернёмся.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Партию можно отозвать. Решение о человеке — нельзя</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одного решения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Путь одного решения об одном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Пришёл результат обследования → назначено лечение → проведена операция → человек живёт с её последствиями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из этих шагов не отзывается: снимок можно перечитать, назначение можно отменить до того, как его выполнили, а проведённую операцию и потерянные месяцы —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Партию можно отозвать. Решение о человеке отозвать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 медицине прибором, которым узнают об ошибке модели, становится человек.</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Где медицина стоит в сетке курса — и 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Распознавание на изображении</a:t>
            </a:r>
            <a:r>
              <a:rPr sz="1440" b="0" i="0">
                <a:solidFill>
                  <a:srgbClr val="21295C"/>
                </a:solidFill>
                <a:latin typeface="Arial"/>
              </a:rPr>
              <a:t> — чтение снимка. Режим: модель вторым читателем или сортировка потока по риску (Transpara · Lunit INSIGHT MMG; в России — платформа лучевой диагностики, «Цельс», «Третье мнение», Care Mentor AI) и режим сортировки потока по приоритету (Aidoc). Растёт в скрининге и в сортировке потока. Не умеет заменить арбитраж: кто разбирает расхождение, назначает процедура.</a:t>
            </a:r>
          </a:p>
          <a:p>
            <a:pPr algn="l">
              <a:lnSpc>
                <a:spcPct val="126000"/>
              </a:lnSpc>
              <a:spcBef>
                <a:spcPts val="700"/>
              </a:spcBef>
            </a:pPr>
            <a:r>
              <a:rPr sz="1440" b="0" i="0">
                <a:solidFill>
                  <a:srgbClr val="21295C"/>
                </a:solidFill>
                <a:latin typeface="Arial"/>
              </a:rPr>
              <a:t/>
            </a:r>
            <a:r>
              <a:rPr sz="1440" b="1" i="0">
                <a:solidFill>
                  <a:srgbClr val="21295C"/>
                </a:solidFill>
                <a:latin typeface="Arial"/>
              </a:rPr>
              <a:t>Классификация на изображении</a:t>
            </a:r>
            <a:r>
              <a:rPr sz="1440" b="0" i="0">
                <a:solidFill>
                  <a:srgbClr val="21295C"/>
                </a:solidFill>
                <a:latin typeface="Arial"/>
              </a:rPr>
              <a:t> — решение «направить или нет» на месте. Режим: автономное решение без врача (LumineticsCore, бывший IDx-DR · EyeArt). Допущено единицами, и только там, где вопрос бинарный. Не умеет отвечать за годность снимка.</a:t>
            </a:r>
          </a:p>
          <a:p>
            <a:pPr algn="l">
              <a:lnSpc>
                <a:spcPct val="126000"/>
              </a:lnSpc>
              <a:spcBef>
                <a:spcPts val="700"/>
              </a:spcBef>
            </a:pPr>
            <a:r>
              <a:rPr sz="1440" b="0" i="0">
                <a:solidFill>
                  <a:srgbClr val="21295C"/>
                </a:solidFill>
                <a:latin typeface="Arial"/>
              </a:rPr>
              <a:t/>
            </a:r>
            <a:r>
              <a:rPr sz="1440" b="1" i="0">
                <a:solidFill>
                  <a:srgbClr val="21295C"/>
                </a:solidFill>
                <a:latin typeface="Arial"/>
              </a:rPr>
              <a:t>Прогноз на структурированных данных</a:t>
            </a:r>
            <a:r>
              <a:rPr sz="1440" b="0" i="0">
                <a:solidFill>
                  <a:srgbClr val="21295C"/>
                </a:solidFill>
                <a:latin typeface="Arial"/>
              </a:rPr>
              <a:t> — раннее предупреждение по данным карты. Режим: предупреждение внутри медицинской информационной системы, встроенное поставщиком (модель сепсиса у Epic; в России — Webiomed). Расходится вместе с системой, а не покупается отдельно. Не умеет назначить себе порог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Поиск с генерацией на тексте</a:t>
            </a:r>
            <a:r>
              <a:rPr sz="1440" b="0" i="0">
                <a:solidFill>
                  <a:srgbClr val="21295C"/>
                </a:solidFill>
                <a:latin typeface="Arial"/>
              </a:rPr>
              <a:t> — ответ по документам, сортировка обращения, запись приёма. Три режима: запись приёма под диктовку (Nuance DAX · Abridge · Nabla) принимается быстрее всех, потому что не ставит диагноз; ответ по документам со ссылкой на источник; сортировка обращения словами — после краха сервиса первой линии стагнирует. Не умеет отличать редкое от частого в открытом потоке.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Клетки те же, что в инженерии; отличается цена ошибки и устройство процедур, которые её удерживают.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Названо, чем делают, а не чья марка лучше: режим один, реализаций много, и разницу в результате делает устройство процедуры, а не бренд.</a:t>
            </a:r>
          </a:p>
        </p:txBody>
      </p:sp>
      <p:sp>
        <p:nvSpPr>
          <p:cNvPr id="6" name="Rectangle 5"/>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этот вечер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0. Вход 1. Отбор — кого вообще смотреть 2. Анализ данных — и группа, на которой он посчитан 3. Постановка диагноза — человек читает рядом с моделью 4. Наблюдение за состоянием — кто заметит ухудшение 5. Ведение записи — кто прочтёт её потом 6. Чем удерживают — подпись, процедура, норматив 7. Разработка лекарства — удешевили начало, где узкое место 8. Что стало с теми, кто решает — навык 9. Сборка 10. Закрытие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закрываются другими лекциями.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Назначение и лечение · оперативная помощь — разобраны в главе; со сцены сегодня не идут.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Модель посмотрела первой. Что теперь делает человек — и кто это измерял?</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200" b="0" i="0">
                <a:solidFill>
                  <a:srgbClr val="21295C"/>
                </a:solidFill>
                <a:latin typeface="Arial"/>
              </a:rPr>
              <a:t/>
            </a:r>
            <a:r>
              <a:rPr sz="1200" b="0" i="1">
                <a:solidFill>
                  <a:srgbClr val="1C7293"/>
                </a:solidFill>
                <a:latin typeface="Arial"/>
              </a:rPr>
              <a:t>Ответ собирается в сборке, поимённо.</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Женщине пришло письмо, и её снимок прочли двое, которые её не видели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пятидесяти четырёх лет: она ничего не чувствует —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500" b="0" i="0">
                <a:solidFill>
                  <a:srgbClr val="21295C"/>
                </a:solidFill>
                <a:latin typeface="Arial"/>
              </a:rPr>
              <a:t/>
            </a:r>
            <a:r>
              <a:rPr sz="1500" b="0" i="0">
                <a:solidFill>
                  <a:srgbClr val="21295C"/>
                </a:solidFill>
                <a:latin typeface="Arial"/>
              </a:rPr>
              <a:t>Снимок читают двое рентгенологов, которые её не видели и между собой не говорят. Если один сказал «есть», а другой «нет» — снимок уходит третьему.</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либо письмо «норма», либо звонок «придите на дообследование».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с жалобой идёт обратным путём — он пришёл сам, и его ведёт симптом.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Кто-то решает, кто попадёт к врачу сегодня, а кто — через две недели.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Приглашение по возрасту и интервалу. Шведская программа</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Пропуск</a:t>
            </a:r>
            <a:r>
              <a:rPr sz="1500" b="0" i="0">
                <a:solidFill>
                  <a:srgbClr val="21295C"/>
                </a:solidFill>
                <a:latin typeface="Arial"/>
              </a:rPr>
              <a:t> — рак, найденный между двумя приглашениями: программа его не поймала, поймал симптом. Счёт этой цены предъявляется в контрольной линии, где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Ложный вызов</a:t>
            </a:r>
            <a:r>
              <a:rPr sz="1500" b="0" i="0">
                <a:solidFill>
                  <a:srgbClr val="21295C"/>
                </a:solidFill>
                <a:latin typeface="Arial"/>
              </a:rPr>
              <a:t> — </a:t>
            </a:r>
            <a:r>
              <a:rPr sz="1500" b="1" i="0">
                <a:solidFill>
                  <a:srgbClr val="21295C"/>
                </a:solidFill>
                <a:latin typeface="Arial"/>
              </a:rPr>
              <a:t>2,0 из ста обследованных</a:t>
            </a:r>
            <a:r>
              <a:rPr sz="1500" b="0" i="0">
                <a:solidFill>
                  <a:srgbClr val="21295C"/>
                </a:solidFill>
                <a:latin typeface="Arial"/>
              </a:rPr>
              <a:t> вызваны повторно: повторный снимок, иногда биопсия, недели ожидания. База: контрольное плечо шведской программы, 52 872 женщины, наблюдение два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с которого зовут, и интервал назначены раньше, чем кто-либо измерил точность какого-либо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А чем кончается «ждать жалобу»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 чем кончается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Стадия II и выше среди найденных случаев: </a:t>
            </a:r>
            <a:r>
              <a:rPr sz="1500" b="1" i="0">
                <a:solidFill>
                  <a:srgbClr val="21295C"/>
                </a:solidFill>
                <a:latin typeface="Arial"/>
              </a:rPr>
              <a:t>57 из ста</a:t>
            </a:r>
            <a:r>
              <a:rPr sz="1500" b="0" i="0">
                <a:solidFill>
                  <a:srgbClr val="21295C"/>
                </a:solidFill>
                <a:latin typeface="Arial"/>
              </a:rPr>
              <a:t> в группе без приглашения — против </a:t>
            </a:r>
            <a:r>
              <a:rPr sz="1500" b="1" i="0">
                <a:solidFill>
                  <a:srgbClr val="21295C"/>
                </a:solidFill>
                <a:latin typeface="Arial"/>
              </a:rPr>
              <a:t>39 из ста</a:t>
            </a:r>
            <a:r>
              <a:rPr sz="1500" b="0" i="0">
                <a:solidFill>
                  <a:srgbClr val="21295C"/>
                </a:solidFill>
                <a:latin typeface="Arial"/>
              </a:rPr>
              <a:t> в приглашённой. База: Мальмёское рандомизированное испытание,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Что здесь получилось, что не получилось, и что про это публикуют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поддержкой модели · 5,7 без неё</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8" name="Rounded Rectangle 7"/>
          <p:cNvSpPr/>
          <p:nvPr/>
        </p:nvSpPr>
        <p:spPr>
          <a:xfrm>
            <a:off x="502920" y="2807511"/>
            <a:ext cx="5437479"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Получилось</a:t>
            </a:r>
          </a:p>
        </p:txBody>
      </p:sp>
      <p:sp>
        <p:nvSpPr>
          <p:cNvPr id="10" name="TextBox 9"/>
          <p:cNvSpPr txBox="1"/>
          <p:nvPr/>
        </p:nvSpPr>
        <p:spPr>
          <a:xfrm>
            <a:off x="667512" y="3319138"/>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Объём человеческого чтения снимается без потери чувствительности</a:t>
            </a:r>
          </a:p>
          <a:p>
            <a:pPr algn="l">
              <a:lnSpc>
                <a:spcPct val="126000"/>
              </a:lnSpc>
            </a:pPr>
            <a:r>
              <a:rPr sz="1200" b="0" i="0">
                <a:solidFill>
                  <a:srgbClr val="21295C"/>
                </a:solidFill>
                <a:latin typeface="Arial"/>
              </a:rPr>
              <a:t>• Решение «направить или нет» на месте, где специалиста нет вовсе — измерено явкой</a:t>
            </a:r>
          </a:p>
        </p:txBody>
      </p:sp>
      <p:sp>
        <p:nvSpPr>
          <p:cNvPr id="11" name="Rounded Rectangle 10"/>
          <p:cNvSpPr/>
          <p:nvPr/>
        </p:nvSpPr>
        <p:spPr>
          <a:xfrm>
            <a:off x="6251295" y="2807511"/>
            <a:ext cx="5437479" cy="1417320"/>
          </a:xfrm>
          <a:prstGeom prst="roundRect">
            <a:avLst>
              <a:gd name="adj" fmla="val 21505"/>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получилось</a:t>
            </a:r>
          </a:p>
        </p:txBody>
      </p:sp>
      <p:sp>
        <p:nvSpPr>
          <p:cNvPr id="13" name="TextBox 12"/>
          <p:cNvSpPr txBox="1"/>
          <p:nvPr/>
        </p:nvSpPr>
        <p:spPr>
          <a:xfrm>
            <a:off x="6415887" y="3319138"/>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Открытый поток обращений: редкие диагнозы, дети, беременные, пожилые</a:t>
            </a:r>
          </a:p>
          <a:p>
            <a:pPr algn="l">
              <a:lnSpc>
                <a:spcPct val="126000"/>
              </a:lnSpc>
            </a:pPr>
            <a:r>
              <a:rPr sz="1250" b="0" i="0">
                <a:solidFill>
                  <a:srgbClr val="21295C"/>
                </a:solidFill>
                <a:latin typeface="Arial"/>
              </a:rPr>
              <a:t>• Экзаменационная метрика как основание для допуска к потоку</a:t>
            </a:r>
          </a:p>
        </p:txBody>
      </p:sp>
      <p:sp>
        <p:nvSpPr>
          <p:cNvPr id="14" name="Rounded Rectangle 13"/>
          <p:cNvSpPr/>
          <p:nvPr/>
        </p:nvSpPr>
        <p:spPr>
          <a:xfrm>
            <a:off x="374904" y="4316271"/>
            <a:ext cx="11441887" cy="1919936"/>
          </a:xfrm>
          <a:prstGeom prst="roundRect">
            <a:avLst>
              <a:gd name="adj" fmla="val 15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407711"/>
            <a:ext cx="11112703" cy="182849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Сортировка потока по предсказанному риску снимает </a:t>
            </a:r>
            <a:r>
              <a:rPr sz="1200" b="1" i="0">
                <a:solidFill>
                  <a:srgbClr val="21295C"/>
                </a:solidFill>
                <a:latin typeface="Arial"/>
              </a:rPr>
              <a:t>44,3 процента</a:t>
            </a:r>
            <a:r>
              <a:rPr sz="1200" b="0" i="0">
                <a:solidFill>
                  <a:srgbClr val="21295C"/>
                </a:solidFill>
                <a:latin typeface="Arial"/>
              </a:rPr>
              <a:t> человеческого чтения при чувствительности </a:t>
            </a:r>
            <a:r>
              <a:rPr sz="1200" b="1" i="0">
                <a:solidFill>
                  <a:srgbClr val="21295C"/>
                </a:solidFill>
                <a:latin typeface="Arial"/>
              </a:rPr>
              <a:t>80,5 из ста</a:t>
            </a:r>
            <a:r>
              <a:rPr sz="1200" b="0" i="0">
                <a:solidFill>
                  <a:srgbClr val="21295C"/>
                </a:solidFill>
                <a:latin typeface="Arial"/>
              </a:rPr>
              <a:t> против </a:t>
            </a:r>
            <a:r>
              <a:rPr sz="1200" b="1" i="0">
                <a:solidFill>
                  <a:srgbClr val="21295C"/>
                </a:solidFill>
                <a:latin typeface="Arial"/>
              </a:rPr>
              <a:t>73,8 из ста</a:t>
            </a:r>
            <a:r>
              <a:rPr sz="1200" b="0" i="0">
                <a:solidFill>
                  <a:srgbClr val="21295C"/>
                </a:solidFill>
                <a:latin typeface="Arial"/>
              </a:rPr>
              <a:t> у двойного чтения без модели. </a:t>
            </a:r>
            <a:r>
              <a:rPr sz="1200" b="1" i="0">
                <a:solidFill>
                  <a:srgbClr val="21295C"/>
                </a:solidFill>
                <a:latin typeface="Arial"/>
              </a:rPr>
              <a:t>Базы разные: объём чтения — промежуточный анализ на 80 033 женщинах, чувствительность — итоговый на 105 934.</a:t>
            </a:r>
            <a:r>
              <a:rPr sz="12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Охват публикуют, устройство работы —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Германская программа скрининга: как распределилась работа между моделью и вторым читателем, не опубликовано.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Отечественная платформа лучевой диагностики: свыше </a:t>
            </a:r>
            <a:r>
              <a:rPr sz="1200" b="1" i="0">
                <a:solidFill>
                  <a:srgbClr val="21295C"/>
                </a:solidFill>
                <a:latin typeface="Arial"/>
              </a:rPr>
              <a:t>16 млн</a:t>
            </a:r>
            <a:r>
              <a:rPr sz="1200" b="0" i="0">
                <a:solidFill>
                  <a:srgbClr val="21295C"/>
                </a:solidFill>
                <a:latin typeface="Arial"/>
              </a:rPr>
              <a:t> исследований в </a:t>
            </a:r>
            <a:r>
              <a:rPr sz="1200" b="1" i="0">
                <a:solidFill>
                  <a:srgbClr val="21295C"/>
                </a:solidFill>
                <a:latin typeface="Arial"/>
              </a:rPr>
              <a:t>75 регионах</a:t>
            </a:r>
            <a:r>
              <a:rPr sz="1200" b="0" i="0">
                <a:solidFill>
                  <a:srgbClr val="21295C"/>
                </a:solidFill>
                <a:latin typeface="Arial"/>
              </a:rPr>
              <a:t> на срез конца июля 2026 года. Методика подсчёта не раскрыта; сколько всего лучевых исследований делается в стране за год, не опубликовано — доля охвата поэтому не считается.</a:t>
            </a:r>
          </a:p>
        </p:txBody>
      </p:sp>
      <p:sp>
        <p:nvSpPr>
          <p:cNvPr id="16" name="Rectangle 15"/>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(упоминание)</a:t>
            </a:r>
            <a:r>
              <a:rPr sz="1100" b="0" i="1">
                <a:solidFill>
                  <a:srgbClr val="1C7293"/>
                </a:solidFill>
                <a:latin typeface="Arial"/>
              </a:rPr>
              <a:t> · </a:t>
            </a:r>
            <a:r>
              <a:rPr sz="1100" b="0" i="1">
                <a:solidFill>
                  <a:srgbClr val="1C7293"/>
                </a:solidFill>
                <a:latin typeface="Arial"/>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Цена обеих ошибок в сортировке обращений: пропустить того, кому нужно сейчас, и занять приём тем, кому не нужно — плюс цена самого канала.</a:t>
            </a:r>
          </a:p>
          <a:p>
            <a:pPr algn="l">
              <a:lnSpc>
                <a:spcPct val="126000"/>
              </a:lnSpc>
              <a:spcBef>
                <a:spcPts val="700"/>
              </a:spcBef>
            </a:pPr>
            <a:r>
              <a:rPr sz="1470" b="0" i="0">
                <a:solidFill>
                  <a:srgbClr val="21295C"/>
                </a:solidFill>
                <a:latin typeface="Arial"/>
              </a:rPr>
              <a:t/>
            </a:r>
            <a:r>
              <a:rPr sz="1470" b="0" i="0">
                <a:solidFill>
                  <a:srgbClr val="21295C"/>
                </a:solidFill>
                <a:latin typeface="Arial"/>
              </a:rPr>
              <a:t>Что предъявили вместо модели:</a:t>
            </a:r>
          </a:p>
          <a:p>
            <a:pPr algn="l">
              <a:lnSpc>
                <a:spcPct val="126000"/>
              </a:lnSpc>
              <a:spcBef>
                <a:spcPts val="700"/>
              </a:spcBef>
            </a:pPr>
            <a:r>
              <a:rPr sz="1470" b="0" i="0">
                <a:solidFill>
                  <a:srgbClr val="21295C"/>
                </a:solidFill>
                <a:latin typeface="Arial"/>
              </a:rPr>
              <a:t/>
            </a:r>
            <a:r>
              <a:rPr sz="1470" b="0" i="0">
                <a:solidFill>
                  <a:srgbClr val="21295C"/>
                </a:solidFill>
                <a:latin typeface="Arial"/>
              </a:rPr>
              <a:t>• На экзаменационных вопросах для начинающих врачей, июнь 2018 года: </a:t>
            </a:r>
            <a:r>
              <a:rPr sz="1470" b="1" i="0">
                <a:solidFill>
                  <a:srgbClr val="21295C"/>
                </a:solidFill>
                <a:latin typeface="Arial"/>
              </a:rPr>
              <a:t>81</a:t>
            </a:r>
            <a:r>
              <a:rPr sz="1470" b="0" i="0">
                <a:solidFill>
                  <a:srgbClr val="21295C"/>
                </a:solidFill>
                <a:latin typeface="Arial"/>
              </a:rPr>
              <a:t> у приложения против </a:t>
            </a:r>
            <a:r>
              <a:rPr sz="1470" b="1" i="0">
                <a:solidFill>
                  <a:srgbClr val="21295C"/>
                </a:solidFill>
                <a:latin typeface="Arial"/>
              </a:rPr>
              <a:t>72</a:t>
            </a:r>
            <a:r>
              <a:rPr sz="1470" b="0" i="0">
                <a:solidFill>
                  <a:srgbClr val="21295C"/>
                </a:solidFill>
                <a:latin typeface="Arial"/>
              </a:rPr>
              <a:t> — среднего результата живых врачей на тех же вопросах.</a:t>
            </a:r>
          </a:p>
          <a:p>
            <a:pPr algn="l">
              <a:lnSpc>
                <a:spcPct val="126000"/>
              </a:lnSpc>
              <a:spcBef>
                <a:spcPts val="700"/>
              </a:spcBef>
            </a:pPr>
            <a:r>
              <a:rPr sz="1470" b="0" i="0">
                <a:solidFill>
                  <a:srgbClr val="21295C"/>
                </a:solidFill>
                <a:latin typeface="Arial"/>
              </a:rPr>
              <a:t/>
            </a:r>
            <a:r>
              <a:rPr sz="1470" b="0" i="0">
                <a:solidFill>
                  <a:srgbClr val="21295C"/>
                </a:solidFill>
                <a:latin typeface="Arial"/>
              </a:rPr>
              <a:t>• Независимый тест годом раньше: из трёх приложений это оказалось наименее точным.</a:t>
            </a:r>
          </a:p>
          <a:p>
            <a:pPr algn="l">
              <a:lnSpc>
                <a:spcPct val="126000"/>
              </a:lnSpc>
              <a:spcBef>
                <a:spcPts val="700"/>
              </a:spcBef>
            </a:pPr>
            <a:r>
              <a:rPr sz="1470" b="0" i="0">
                <a:solidFill>
                  <a:srgbClr val="21295C"/>
                </a:solidFill>
                <a:latin typeface="Arial"/>
              </a:rPr>
              <a:t/>
            </a:r>
            <a:r>
              <a:rPr sz="1470" b="1" i="0">
                <a:solidFill>
                  <a:srgbClr val="21295C"/>
                </a:solidFill>
                <a:latin typeface="Arial"/>
              </a:rPr>
              <a:t>Уберите модель — и сервис продолжит работать.</a:t>
            </a:r>
            <a:r>
              <a:rPr sz="1470" b="0" i="0">
                <a:solidFill>
                  <a:srgbClr val="21295C"/>
                </a:solidFill>
                <a:latin typeface="Arial"/>
              </a:rPr>
              <a:t> По заявлению бывшего руководителя регуляторных вопросов компании, внутри было дерево решений если-то, собранное в таблице. </a:t>
            </a:r>
            <a:r>
              <a:rPr sz="1470" b="0" i="1">
                <a:solidFill>
                  <a:srgbClr val="21295C"/>
                </a:solidFill>
                <a:latin typeface="Arial"/>
              </a:rPr>
              <a:t>(по заявлению бывшего сотрудника, не аудит)</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это делают сегодня: </a:t>
            </a:r>
            <a:r>
              <a:rPr sz="1470" b="0" i="1">
                <a:solidFill>
                  <a:srgbClr val="21295C"/>
                </a:solidFill>
                <a:latin typeface="Arial"/>
              </a:rPr>
              <a:t>поиск с генерацией на тексте</a:t>
            </a:r>
            <a:r>
              <a:rPr sz="1470" b="0" i="0">
                <a:solidFill>
                  <a:srgbClr val="21295C"/>
                </a:solidFill>
                <a:latin typeface="Arial"/>
              </a:rPr>
              <a:t> — запись приёма под диктовку принимается, сортировка обращения после этого случая — нет. Не умеет отличать редкое от частого в открытом потоке.</a:t>
            </a:r>
          </a:p>
          <a:p>
            <a:pPr algn="l">
              <a:lnSpc>
                <a:spcPct val="126000"/>
              </a:lnSpc>
              <a:spcBef>
                <a:spcPts val="700"/>
              </a:spcBef>
            </a:pPr>
            <a:r>
              <a:rPr sz="1180" b="0" i="0">
                <a:solidFill>
                  <a:srgbClr val="21295C"/>
                </a:solidFill>
                <a:latin typeface="Arial"/>
              </a:rPr>
              <a:t/>
            </a:r>
            <a:r>
              <a:rPr sz="118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Фиксированная сумма, делённая на выросшее число обращений</a:t>
            </a:r>
          </a:p>
        </p:txBody>
      </p:sp>
      <p:sp>
        <p:nvSpPr>
          <p:cNvPr id="4" name="Rounded Rectangle 3"/>
          <p:cNvSpPr/>
          <p:nvPr/>
        </p:nvSpPr>
        <p:spPr>
          <a:xfrm>
            <a:off x="502920"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62909"/>
          </a:xfrm>
          <a:prstGeom prst="roundRect">
            <a:avLst>
              <a:gd name="adj" fmla="val 1477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89373"/>
            <a:ext cx="11441887" cy="2746834"/>
          </a:xfrm>
          <a:prstGeom prst="roundRect">
            <a:avLst>
              <a:gd name="adj" fmla="val 1109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580813"/>
            <a:ext cx="11112703" cy="2655394"/>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Практика получает </a:t>
            </a:r>
            <a:r>
              <a:rPr sz="1440" b="1" i="0">
                <a:solidFill>
                  <a:srgbClr val="21295C"/>
                </a:solidFill>
                <a:latin typeface="Arial"/>
              </a:rPr>
              <a:t>около 155 фунтов</a:t>
            </a:r>
            <a:r>
              <a:rPr sz="144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Классически обращаются </a:t>
            </a:r>
            <a:r>
              <a:rPr sz="1440" b="1" i="0">
                <a:solidFill>
                  <a:srgbClr val="21295C"/>
                </a:solidFill>
                <a:latin typeface="Arial"/>
              </a:rPr>
              <a:t>4,0 раза</a:t>
            </a:r>
            <a:r>
              <a:rPr sz="1440" b="0" i="0">
                <a:solidFill>
                  <a:srgbClr val="21295C"/>
                </a:solidFill>
                <a:latin typeface="Arial"/>
              </a:rPr>
              <a:t> в год у 25–44-летних и </a:t>
            </a:r>
            <a:r>
              <a:rPr sz="1440" b="1" i="0">
                <a:solidFill>
                  <a:srgbClr val="21295C"/>
                </a:solidFill>
                <a:latin typeface="Arial"/>
              </a:rPr>
              <a:t>3,26 раза</a:t>
            </a:r>
            <a:r>
              <a:rPr sz="144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440" b="0" i="0">
                <a:solidFill>
                  <a:srgbClr val="21295C"/>
                </a:solidFill>
                <a:latin typeface="Arial"/>
              </a:rPr>
              <a:t/>
            </a:r>
            <a:r>
              <a:rPr sz="1440" b="0" i="0">
                <a:solidFill>
                  <a:srgbClr val="21295C"/>
                </a:solidFill>
                <a:latin typeface="Arial"/>
              </a:rPr>
              <a:t>В сервисе обращений стало </a:t>
            </a:r>
            <a:r>
              <a:rPr sz="1440" b="1" i="0">
                <a:solidFill>
                  <a:srgbClr val="21295C"/>
                </a:solidFill>
                <a:latin typeface="Arial"/>
              </a:rPr>
              <a:t>4,3</a:t>
            </a:r>
            <a:r>
              <a:rPr sz="1440" b="0" i="0">
                <a:solidFill>
                  <a:srgbClr val="21295C"/>
                </a:solidFill>
                <a:latin typeface="Arial"/>
              </a:rPr>
              <a:t> на человека в год при той же подушевой сумме.</a:t>
            </a:r>
          </a:p>
          <a:p>
            <a:pPr algn="l">
              <a:lnSpc>
                <a:spcPct val="126000"/>
              </a:lnSpc>
              <a:spcBef>
                <a:spcPts val="700"/>
              </a:spcBef>
            </a:pPr>
            <a:r>
              <a:rPr sz="1440" b="0" i="0">
                <a:solidFill>
                  <a:srgbClr val="21295C"/>
                </a:solidFill>
                <a:latin typeface="Arial"/>
              </a:rPr>
              <a:t/>
            </a:r>
            <a:r>
              <a:rPr sz="1440" b="1" i="0">
                <a:solidFill>
                  <a:srgbClr val="21295C"/>
                </a:solidFill>
                <a:latin typeface="Arial"/>
              </a:rPr>
              <a:t>Нагрузка переехала на другой шаг</a:t>
            </a:r>
            <a:r>
              <a:rPr sz="1440" b="0" i="0">
                <a:solidFill>
                  <a:srgbClr val="21295C"/>
                </a:solidFill>
                <a:latin typeface="Arial"/>
              </a:rPr>
              <a:t> — с сортировки на приём, и платить за это стало некому.</a:t>
            </a:r>
          </a:p>
          <a:p>
            <a:pPr algn="l">
              <a:lnSpc>
                <a:spcPct val="126000"/>
              </a:lnSpc>
              <a:spcBef>
                <a:spcPts val="700"/>
              </a:spcBef>
            </a:pPr>
            <a:r>
              <a:rPr sz="1440" b="0" i="0">
                <a:solidFill>
                  <a:srgbClr val="21295C"/>
                </a:solidFill>
                <a:latin typeface="Arial"/>
              </a:rPr>
              <a:t/>
            </a:r>
            <a:r>
              <a:rPr sz="1440" b="1" i="0">
                <a:solidFill>
                  <a:srgbClr val="21295C"/>
                </a:solidFill>
                <a:latin typeface="Arial"/>
              </a:rPr>
              <a:t>дало</a:t>
            </a:r>
            <a:r>
              <a:rPr sz="1440" b="0" i="0">
                <a:solidFill>
                  <a:srgbClr val="21295C"/>
                </a:solidFill>
                <a:latin typeface="Arial"/>
              </a:rPr>
              <a:t> — сортировка круглосуточно и мгновенно, порог обращения ниже · </a:t>
            </a:r>
            <a:r>
              <a:rPr sz="1440" b="1" i="0">
                <a:solidFill>
                  <a:srgbClr val="21295C"/>
                </a:solidFill>
                <a:latin typeface="Arial"/>
              </a:rPr>
              <a:t>потребовало</a:t>
            </a:r>
            <a:r>
              <a:rPr sz="1440" b="0" i="0">
                <a:solidFill>
                  <a:srgbClr val="21295C"/>
                </a:solidFill>
                <a:latin typeface="Arial"/>
              </a:rPr>
              <a:t> — экономика на каждом пациенте в минус, задокументированный случай нераспознанных симптомов · </a:t>
            </a:r>
            <a:r>
              <a:rPr sz="1440" b="1" i="0">
                <a:solidFill>
                  <a:srgbClr val="21295C"/>
                </a:solidFill>
                <a:latin typeface="Arial"/>
              </a:rPr>
              <a:t>в сумме хуже</a:t>
            </a:r>
            <a:r>
              <a:rPr sz="1440" b="0" i="0">
                <a:solidFill>
                  <a:srgbClr val="21295C"/>
                </a:solidFill>
                <a:latin typeface="Arial"/>
              </a:rPr>
              <a:t> — оценка на выходе </a:t>
            </a:r>
            <a:r>
              <a:rPr sz="1440" b="1" i="0">
                <a:solidFill>
                  <a:srgbClr val="21295C"/>
                </a:solidFill>
                <a:latin typeface="Arial"/>
              </a:rPr>
              <a:t>4,2 млрд долларов</a:t>
            </a:r>
            <a:r>
              <a:rPr sz="1440" b="0" i="0">
                <a:solidFill>
                  <a:srgbClr val="21295C"/>
                </a:solidFill>
                <a:latin typeface="Arial"/>
              </a:rPr>
              <a:t>, банкротство в августе 2023 года, активы проданы за </a:t>
            </a:r>
            <a:r>
              <a:rPr sz="1440" b="1" i="0">
                <a:solidFill>
                  <a:srgbClr val="21295C"/>
                </a:solidFill>
                <a:latin typeface="Arial"/>
              </a:rPr>
              <a:t>500 тысяч фунтов</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8579815" y="1335024"/>
            <a:ext cx="3108960" cy="2159650"/>
          </a:xfrm>
          <a:prstGeom prst="roundRect">
            <a:avLst>
              <a:gd name="adj" fmla="val 141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8-fundus-kamera-v-kabinete.jpg"/>
          <p:cNvPicPr>
            <a:picLocks noChangeAspect="1"/>
          </p:cNvPicPr>
          <p:nvPr/>
        </p:nvPicPr>
        <p:blipFill>
          <a:blip r:embed="rId2"/>
          <a:stretch>
            <a:fillRect/>
          </a:stretch>
        </p:blipFill>
        <p:spPr>
          <a:xfrm>
            <a:off x="8716975" y="1472184"/>
            <a:ext cx="2834639" cy="1885330"/>
          </a:xfrm>
          <a:prstGeom prst="rect">
            <a:avLst/>
          </a:prstGeom>
        </p:spPr>
      </p:pic>
      <p:sp>
        <p:nvSpPr>
          <p:cNvPr id="6" name="Rounded Rectangle 5"/>
          <p:cNvSpPr/>
          <p:nvPr/>
        </p:nvSpPr>
        <p:spPr>
          <a:xfrm>
            <a:off x="502920" y="1335024"/>
            <a:ext cx="3800703"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72184"/>
            <a:ext cx="352638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8" name="TextBox 7"/>
          <p:cNvSpPr txBox="1"/>
          <p:nvPr/>
        </p:nvSpPr>
        <p:spPr>
          <a:xfrm>
            <a:off x="640080" y="1690796"/>
            <a:ext cx="35263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9" name="TextBox 8"/>
          <p:cNvSpPr txBox="1"/>
          <p:nvPr/>
        </p:nvSpPr>
        <p:spPr>
          <a:xfrm>
            <a:off x="640080" y="2117795"/>
            <a:ext cx="352638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10" name="Rounded Rectangle 9"/>
          <p:cNvSpPr/>
          <p:nvPr/>
        </p:nvSpPr>
        <p:spPr>
          <a:xfrm>
            <a:off x="4468215" y="1335024"/>
            <a:ext cx="3800703"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5375" y="1472184"/>
            <a:ext cx="352638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2" name="TextBox 11"/>
          <p:cNvSpPr txBox="1"/>
          <p:nvPr/>
        </p:nvSpPr>
        <p:spPr>
          <a:xfrm>
            <a:off x="4605375" y="1690796"/>
            <a:ext cx="352638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3" name="TextBox 12"/>
          <p:cNvSpPr txBox="1"/>
          <p:nvPr/>
        </p:nvSpPr>
        <p:spPr>
          <a:xfrm>
            <a:off x="4605375" y="2117795"/>
            <a:ext cx="3526383"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4" name="TextBox 13"/>
          <p:cNvSpPr txBox="1"/>
          <p:nvPr/>
        </p:nvSpPr>
        <p:spPr>
          <a:xfrm>
            <a:off x="502920" y="3232052"/>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15" name="Rounded Rectangle 14"/>
          <p:cNvSpPr/>
          <p:nvPr/>
        </p:nvSpPr>
        <p:spPr>
          <a:xfrm>
            <a:off x="1920240" y="3177188"/>
            <a:ext cx="193334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02536" y="3259484"/>
            <a:ext cx="176875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7" name="Right Arrow 16"/>
          <p:cNvSpPr/>
          <p:nvPr/>
        </p:nvSpPr>
        <p:spPr>
          <a:xfrm>
            <a:off x="3899306" y="342992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27906" y="3177188"/>
            <a:ext cx="193334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0202" y="3259484"/>
            <a:ext cx="176875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20" name="Right Arrow 19"/>
          <p:cNvSpPr/>
          <p:nvPr/>
        </p:nvSpPr>
        <p:spPr>
          <a:xfrm>
            <a:off x="6106972" y="342992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35572" y="3177188"/>
            <a:ext cx="193334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7868" y="3259484"/>
            <a:ext cx="176875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3" name="TextBox 22"/>
          <p:cNvSpPr txBox="1"/>
          <p:nvPr/>
        </p:nvSpPr>
        <p:spPr>
          <a:xfrm>
            <a:off x="502920" y="402098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 моделью</a:t>
            </a:r>
          </a:p>
        </p:txBody>
      </p:sp>
      <p:sp>
        <p:nvSpPr>
          <p:cNvPr id="24" name="Rounded Rectangle 23"/>
          <p:cNvSpPr/>
          <p:nvPr/>
        </p:nvSpPr>
        <p:spPr>
          <a:xfrm>
            <a:off x="1920240" y="3966119"/>
            <a:ext cx="1933346"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02536" y="4048415"/>
            <a:ext cx="1768754"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6" name="Right Arrow 25"/>
          <p:cNvSpPr/>
          <p:nvPr/>
        </p:nvSpPr>
        <p:spPr>
          <a:xfrm>
            <a:off x="3899306" y="412613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127906" y="3966119"/>
            <a:ext cx="1933346"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10202" y="4048415"/>
            <a:ext cx="1768754"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9" name="Right Arrow 28"/>
          <p:cNvSpPr/>
          <p:nvPr/>
        </p:nvSpPr>
        <p:spPr>
          <a:xfrm>
            <a:off x="6106972" y="412613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35572" y="3966119"/>
            <a:ext cx="1933346"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7868" y="4048415"/>
            <a:ext cx="1768754"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2" name="TextBox 31"/>
          <p:cNvSpPr txBox="1"/>
          <p:nvPr/>
        </p:nvSpPr>
        <p:spPr>
          <a:xfrm>
            <a:off x="502920" y="4569623"/>
            <a:ext cx="77659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3" name="Rounded Rectangle 32"/>
          <p:cNvSpPr/>
          <p:nvPr/>
        </p:nvSpPr>
        <p:spPr>
          <a:xfrm>
            <a:off x="374904" y="4882477"/>
            <a:ext cx="11441887" cy="1249082"/>
          </a:xfrm>
          <a:prstGeom prst="roundRect">
            <a:avLst>
              <a:gd name="adj" fmla="val 244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9496" y="4973917"/>
            <a:ext cx="11112703" cy="1084490"/>
          </a:xfrm>
          <a:prstGeom prst="rect">
            <a:avLst/>
          </a:prstGeom>
          <a:noFill/>
        </p:spPr>
        <p:txBody>
          <a:bodyPr wrap="square" lIns="0" rIns="0" tIns="0" bIns="0" anchor="t">
            <a:spAutoFit/>
          </a:bodyPr>
          <a:lstStyle/>
          <a:p>
            <a:pPr algn="l">
              <a:lnSpc>
                <a:spcPct val="126000"/>
              </a:lnSpc>
            </a:pPr>
            <a:r>
              <a:rPr sz="1080" b="0" i="0">
                <a:solidFill>
                  <a:srgbClr val="21295C"/>
                </a:solidFill>
                <a:latin typeface="Arial"/>
              </a:rPr>
              <a:t>Выигрыш здесь измерен явкой, а не точностью.</a:t>
            </a:r>
          </a:p>
          <a:p>
            <a:pPr algn="l">
              <a:lnSpc>
                <a:spcPct val="126000"/>
              </a:lnSpc>
              <a:spcBef>
                <a:spcPts val="700"/>
              </a:spcBef>
            </a:pPr>
            <a:r>
              <a:rPr sz="1080" b="0" i="0">
                <a:solidFill>
                  <a:srgbClr val="21295C"/>
                </a:solidFill>
                <a:latin typeface="Arial"/>
              </a:rPr>
              <a:t/>
            </a:r>
            <a:r>
              <a:rPr sz="1080" b="1" i="0">
                <a:solidFill>
                  <a:srgbClr val="21295C"/>
                </a:solidFill>
                <a:latin typeface="Arial"/>
              </a:rPr>
              <a:t>Классический режим.</a:t>
            </a:r>
            <a:r>
              <a:rPr sz="1080" b="0" i="0">
                <a:solidFill>
                  <a:srgbClr val="21295C"/>
                </a:solidFill>
                <a:latin typeface="Arial"/>
              </a:rPr>
              <a:t> Раз в год человек с диабетом идёт к специалисту-офтальмологу; до теста реально доходят </a:t>
            </a:r>
            <a:r>
              <a:rPr sz="1080" b="1" i="0">
                <a:solidFill>
                  <a:srgbClr val="21295C"/>
                </a:solidFill>
                <a:latin typeface="Arial"/>
              </a:rPr>
              <a:t>22 из ста</a:t>
            </a:r>
            <a:r>
              <a:rPr sz="1080" b="0" i="0">
                <a:solidFill>
                  <a:srgbClr val="21295C"/>
                </a:solidFill>
                <a:latin typeface="Arial"/>
              </a:rPr>
              <a:t>.</a:t>
            </a:r>
          </a:p>
          <a:p>
            <a:pPr algn="l">
              <a:lnSpc>
                <a:spcPct val="126000"/>
              </a:lnSpc>
              <a:spcBef>
                <a:spcPts val="700"/>
              </a:spcBef>
            </a:pPr>
            <a:r>
              <a:rPr sz="1080" b="0" i="0">
                <a:solidFill>
                  <a:srgbClr val="21295C"/>
                </a:solidFill>
                <a:latin typeface="Arial"/>
              </a:rPr>
              <a:t/>
            </a:r>
            <a:r>
              <a:rPr sz="1080" b="1" i="0">
                <a:solidFill>
                  <a:srgbClr val="21295C"/>
                </a:solidFill>
                <a:latin typeface="Arial"/>
              </a:rPr>
              <a:t>Модель.</a:t>
            </a:r>
            <a:r>
              <a:rPr sz="1080" b="0" i="0">
                <a:solidFill>
                  <a:srgbClr val="21295C"/>
                </a:solidFill>
                <a:latin typeface="Arial"/>
              </a:rPr>
              <a:t> Снимок делает медсестра в первичном звене, решение «направить или нет» принимается на месте меньше чем за минуту; до теста доходят </a:t>
            </a:r>
            <a:r>
              <a:rPr sz="1080" b="1" i="0">
                <a:solidFill>
                  <a:srgbClr val="21295C"/>
                </a:solidFill>
                <a:latin typeface="Arial"/>
              </a:rPr>
              <a:t>100 из ста</a:t>
            </a:r>
            <a:r>
              <a:rPr sz="1080" b="0" i="0">
                <a:solidFill>
                  <a:srgbClr val="21295C"/>
                </a:solidFill>
                <a:latin typeface="Arial"/>
              </a:rPr>
              <a:t>. И второй шаг того же пути посчитан внутри того же испытания: из 25 человек, у кого результат оказался отклонением, до офтальмолога дошли 16 — </a:t>
            </a:r>
            <a:r>
              <a:rPr sz="1080" b="1" i="0">
                <a:solidFill>
                  <a:srgbClr val="21295C"/>
                </a:solidFill>
                <a:latin typeface="Arial"/>
              </a:rPr>
              <a:t>64 из ста против 22 в контроле</a:t>
            </a:r>
            <a:r>
              <a:rPr sz="1080" b="0" i="0">
                <a:solidFill>
                  <a:srgbClr val="21295C"/>
                </a:solidFill>
                <a:latin typeface="Arial"/>
              </a:rPr>
              <a:t>.</a:t>
            </a:r>
          </a:p>
        </p:txBody>
      </p:sp>
      <p:sp>
        <p:nvSpPr>
          <p:cNvPr id="35" name="Rectangle 3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 </a:t>
            </a:r>
            <a:r>
              <a:rPr sz="1500" b="1" i="0">
                <a:solidFill>
                  <a:srgbClr val="21295C"/>
                </a:solidFill>
                <a:latin typeface="Arial"/>
              </a:rPr>
              <a:t>75,7 процента</a:t>
            </a:r>
            <a:r>
              <a:rPr sz="1500" b="0" i="0">
                <a:solidFill>
                  <a:srgbClr val="21295C"/>
                </a:solidFill>
                <a:latin typeface="Arial"/>
              </a:rPr>
              <a:t> потока специалист не видит вовсе.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переехало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польза:</a:t>
            </a:r>
            <a:r>
              <a:rPr sz="1500" b="0" i="0">
                <a:solidFill>
                  <a:srgbClr val="21295C"/>
                </a:solidFill>
                <a:latin typeface="Arial"/>
              </a:rPr>
              <a:t> на этом шаге модель решает, кого вообще посмотрят — выигрыш, где он измерен, лежит в доступе, а не в точности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границы:</a:t>
            </a:r>
            <a:r>
              <a:rPr sz="1500" b="0" i="0">
                <a:solidFill>
                  <a:srgbClr val="21295C"/>
                </a:solidFill>
                <a:latin typeface="Arial"/>
              </a:rPr>
              <a:t> в открытом потоке обращений и при отборе в программу повышенного внимания ни один полный разбор выигрыша не подтвердил; охват публикуют, устройство работы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риск:</a:t>
            </a:r>
            <a:r>
              <a:rPr sz="1500" b="0" i="0">
                <a:solidFill>
                  <a:srgbClr val="21295C"/>
                </a:solidFill>
                <a:latin typeface="Arial"/>
              </a:rPr>
              <a:t> удешевление входа перестраивает экономику системы раньше, чем кто-нибудь успевает проверить качество, а критерий отбора способен тихо сместить, кого вообще видят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дальше:</a:t>
            </a:r>
            <a:r>
              <a:rPr sz="1500" b="0" i="0">
                <a:solidFill>
                  <a:srgbClr val="21295C"/>
                </a:solidFill>
                <a:latin typeface="Arial"/>
              </a:rPr>
              <a:t> поток, отобранный моделью, приходит в следующий раздел уже смещённым — то, что она назвала нормой, человек не увидит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(чат-бот первой линии) · </a:t>
            </a:r>
            <a:r>
              <a:rPr sz="1500" b="1" i="0">
                <a:solidFill>
                  <a:srgbClr val="21295C"/>
                </a:solidFill>
                <a:latin typeface="Arial"/>
              </a:rPr>
              <a:t>сменился исполнитель</a:t>
            </a:r>
            <a:r>
              <a:rPr sz="1500" b="0" i="0">
                <a:solidFill>
                  <a:srgbClr val="21295C"/>
                </a:solidFill>
                <a:latin typeface="Arial"/>
              </a:rPr>
              <a:t>, и производной — </a:t>
            </a:r>
            <a:r>
              <a:rPr sz="1500" b="1" i="0">
                <a:solidFill>
                  <a:srgbClr val="21295C"/>
                </a:solidFill>
                <a:latin typeface="Arial"/>
              </a:rPr>
              <a:t>шаг появился</a:t>
            </a:r>
            <a:r>
              <a:rPr sz="1500" b="0" i="0">
                <a:solidFill>
                  <a:srgbClr val="21295C"/>
                </a:solidFill>
                <a:latin typeface="Arial"/>
              </a:rPr>
              <a:t> (глазное дно без офтальмолога)</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Поиск с генерацией на тексте</a:t>
            </a:r>
            <a:r>
              <a:rPr sz="1500" b="0" i="0">
                <a:solidFill>
                  <a:srgbClr val="21295C"/>
                </a:solidFill>
                <a:latin typeface="Arial"/>
              </a:rPr>
              <a:t> (разбор: чат-бот первой линии) — режим «сортировка обращения словами»: после этого случая стагнирует; рядом — «запись приёма под диктовку» (принимается быстрее всех, потому что не ставит диагноз) и «ответ по документам со ссылкой на источник». Не умеет отличать редкое от частого в открытом потоке.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Классификация на изображении</a:t>
            </a:r>
            <a:r>
              <a:rPr sz="1500" b="0" i="0">
                <a:solidFill>
                  <a:srgbClr val="21295C"/>
                </a:solidFill>
                <a:latin typeface="Arial"/>
              </a:rPr>
              <a:t> (разбор: глазное дно без офтальмолога) — режим «автономное решение без врача» (LumineticsCore, прежде IDx-DR · EyeArt): допущено единицами и только там, где вопрос бинарный, — это свойство задачи. Не умеет отвечать за годность снимка: добыть годный снимок — отдельный шаг, и делает его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на изображении</a:t>
            </a:r>
            <a:r>
              <a:rPr sz="1500" b="0" i="0">
                <a:solidFill>
                  <a:srgbClr val="21295C"/>
                </a:solidFill>
                <a:latin typeface="Arial"/>
              </a:rPr>
              <a:t> (упоминание — подробно в разделе про чтение снимка) — режим «модель вторым читателем или сортировка потока по риску» (Transpara · Lunit INSIGHT MMG; в России — платформа лучевой диагностики, «Цельс», «Третье мнение», Care Mentor AI). Растёт в скрининге. Не умеет заменить арбитраж: кто разбирает расхождение, назначает процедура.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этом шаге занято три клетки из тридцати с лишним, и ни одна не про лечение — модель решает, кого посмотрят, а не что с ним делать.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Названо, чем делают, а не чья марка лучше — режим один, реализаций много, и разницу в результате делает устройство процедуры, а не бренд.</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2276789"/>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о человеке принимает система, а не человек — и решение это построено на том, что про человека измерили. У каждого измерения есть группа, на которой оно посчитано: доля, посчитанная на одних людях, на других означает не то же самое.</a:t>
            </a:r>
          </a:p>
        </p:txBody>
      </p:sp>
      <p:sp>
        <p:nvSpPr>
          <p:cNvPr id="9" name="TextBox 8"/>
          <p:cNvSpPr txBox="1"/>
          <p:nvPr/>
        </p:nvSpPr>
        <p:spPr>
          <a:xfrm>
            <a:off x="704088" y="3649744"/>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 · 3 упоминания</a:t>
            </a:r>
          </a:p>
        </p:txBody>
      </p:sp>
      <p:sp>
        <p:nvSpPr>
          <p:cNvPr id="10" name="TextBox 9"/>
          <p:cNvSpPr txBox="1"/>
          <p:nvPr/>
        </p:nvSpPr>
        <p:spPr>
          <a:xfrm>
            <a:off x="704088" y="4116427"/>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Таиланд · 2. Кожа и состав набора · 3. Расходы вместо болезни</a:t>
            </a:r>
          </a:p>
        </p:txBody>
      </p:sp>
      <p:sp>
        <p:nvSpPr>
          <p:cNvPr id="11" name="TextBox 10"/>
          <p:cNvSpPr txBox="1"/>
          <p:nvPr/>
        </p:nvSpPr>
        <p:spPr>
          <a:xfrm>
            <a:off x="704088" y="4885201"/>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Чувствительность и специфичность: две доли без рабочей точки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числа нет — рабочая точка не названа</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читаются только парой и только для одной рабочей точки; порознь ни одна не говорит ничего</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СПЕЦИФИЧНОСТЬ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числа нет — группа не названа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считали все отобранные работы, группу, на которой они посчитаны, — почти никто</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всех, у кого болезнь есть, — какую долю система назвала больными. Из всех, у кого болезни нет, — какую долю она не стала пугать.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доли считаются по группе, которую собрал исследователь.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Упоминание: систематический обзор работ по машинному обучению на данных ковидной пневмонии отобрал из </a:t>
            </a:r>
            <a:r>
              <a:rPr sz="1500" b="1" i="0">
                <a:solidFill>
                  <a:srgbClr val="21295C"/>
                </a:solidFill>
                <a:latin typeface="Arial"/>
              </a:rPr>
              <a:t>2 212</a:t>
            </a:r>
            <a:r>
              <a:rPr sz="1500" b="0" i="0">
                <a:solidFill>
                  <a:srgbClr val="21295C"/>
                </a:solidFill>
                <a:latin typeface="Arial"/>
              </a:rPr>
              <a:t> публикаций </a:t>
            </a:r>
            <a:r>
              <a:rPr sz="1500" b="1" i="0">
                <a:solidFill>
                  <a:srgbClr val="21295C"/>
                </a:solidFill>
                <a:latin typeface="Arial"/>
              </a:rPr>
              <a:t>62</a:t>
            </a:r>
            <a:r>
              <a:rPr sz="1500" b="0" i="0">
                <a:solidFill>
                  <a:srgbClr val="21295C"/>
                </a:solidFill>
                <a:latin typeface="Arial"/>
              </a:rPr>
              <a:t> для анализа — и не нашёл среди них </a:t>
            </a:r>
            <a:r>
              <a:rPr sz="1500" b="1" i="0">
                <a:solidFill>
                  <a:srgbClr val="21295C"/>
                </a:solidFill>
                <a:latin typeface="Arial"/>
              </a:rPr>
              <a:t>ни одной</a:t>
            </a:r>
            <a:r>
              <a:rPr sz="1500" b="0" i="0">
                <a:solidFill>
                  <a:srgbClr val="21295C"/>
                </a:solidFill>
                <a:latin typeface="Arial"/>
              </a:rPr>
              <a:t>, пригодной для клинического применения. Это вывод о качестве исследовательских работ; про внедрённые системы он не говорит ничего.</a:t>
            </a:r>
          </a:p>
        </p:txBody>
      </p:sp>
      <p:sp>
        <p:nvSpPr>
          <p:cNvPr id="14" name="Rectangle 13"/>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Одна и та же система, с одними и теми же долями чувствительности и специфичности, работает на двух группах: десять тысяч здоровых подряд и десять тысяч в профильном отделении, где больных заметно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остаётся без ответа до следующего кадра: что это меняет в том, скольким из тревог стоит верить?</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схема с проявленным результатом: доля тревог, которые оказались верными, различается почти на порядок между поголовным скринингом и профильным отделением — при одних и тех же долях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Rounded Rectangle 3"/>
          <p:cNvSpPr/>
          <p:nvPr/>
        </p:nvSpPr>
        <p:spPr>
          <a:xfrm>
            <a:off x="7756855" y="1335024"/>
            <a:ext cx="3931920" cy="2817495"/>
          </a:xfrm>
          <a:prstGeom prst="roundRect">
            <a:avLst>
              <a:gd name="adj" fmla="val 108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894015" y="1472184"/>
            <a:ext cx="3657600" cy="2543175"/>
          </a:xfrm>
          <a:prstGeom prst="rect">
            <a:avLst/>
          </a:prstGeom>
        </p:spPr>
      </p:pic>
      <p:sp>
        <p:nvSpPr>
          <p:cNvPr id="6" name="TextBox 5"/>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7" name="Rounded Rectangle 6"/>
          <p:cNvSpPr/>
          <p:nvPr/>
        </p:nvSpPr>
        <p:spPr>
          <a:xfrm>
            <a:off x="1920240" y="1335024"/>
            <a:ext cx="165902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02536" y="1417320"/>
            <a:ext cx="149443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9" name="Right Arrow 8"/>
          <p:cNvSpPr/>
          <p:nvPr/>
        </p:nvSpPr>
        <p:spPr>
          <a:xfrm>
            <a:off x="3624986"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853586" y="1335024"/>
            <a:ext cx="165902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35882" y="1417320"/>
            <a:ext cx="149443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2" name="Right Arrow 11"/>
          <p:cNvSpPr/>
          <p:nvPr/>
        </p:nvSpPr>
        <p:spPr>
          <a:xfrm>
            <a:off x="5558332"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786932" y="1335024"/>
            <a:ext cx="165902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69228" y="1417320"/>
            <a:ext cx="149443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5" name="TextBox 14"/>
          <p:cNvSpPr txBox="1"/>
          <p:nvPr/>
        </p:nvSpPr>
        <p:spPr>
          <a:xfrm>
            <a:off x="502920" y="2123955"/>
            <a:ext cx="694303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6" name="Rounded Rectangle 15"/>
          <p:cNvSpPr/>
          <p:nvPr/>
        </p:nvSpPr>
        <p:spPr>
          <a:xfrm>
            <a:off x="374904" y="2436809"/>
            <a:ext cx="7199071" cy="3516950"/>
          </a:xfrm>
          <a:prstGeom prst="roundRect">
            <a:avLst>
              <a:gd name="adj" fmla="val 8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528249"/>
            <a:ext cx="6869887" cy="33523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анализ данных</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 не устаёт и не отвлекается</a:t>
            </a:r>
          </a:p>
          <a:p>
            <a:pPr algn="l">
              <a:lnSpc>
                <a:spcPct val="126000"/>
              </a:lnSpc>
            </a:pPr>
            <a:r>
              <a:rPr sz="1450" b="0" i="0">
                <a:solidFill>
                  <a:srgbClr val="21295C"/>
                </a:solidFill>
                <a:latin typeface="Arial"/>
              </a:rPr>
              <a:t>• Поток — держит объём, который человек не удержит</a:t>
            </a:r>
          </a:p>
          <a:p>
            <a:pPr algn="l">
              <a:lnSpc>
                <a:spcPct val="126000"/>
              </a:lnSpc>
            </a:pPr>
            <a:r>
              <a:rPr sz="1450" b="0" i="0">
                <a:solidFill>
                  <a:srgbClr val="21295C"/>
                </a:solidFill>
                <a:latin typeface="Arial"/>
              </a:rPr>
              <a:t>• Воспроизводимость — один и тот же вход даёт один и тот же результат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 зависит от прибора и условий съёмки</a:t>
            </a:r>
          </a:p>
          <a:p>
            <a:pPr algn="l">
              <a:lnSpc>
                <a:spcPct val="126000"/>
              </a:lnSpc>
            </a:pPr>
            <a:r>
              <a:rPr sz="1450" b="0" i="0">
                <a:solidFill>
                  <a:srgbClr val="21295C"/>
                </a:solidFill>
                <a:latin typeface="Arial"/>
              </a:rPr>
              <a:t>• Перенос долей между больницами — доля верна там, где посчитана</a:t>
            </a:r>
          </a:p>
          <a:p>
            <a:pPr algn="l">
              <a:lnSpc>
                <a:spcPct val="126000"/>
              </a:lnSpc>
            </a:pPr>
            <a:r>
              <a:rPr sz="1450" b="0" i="0">
                <a:solidFill>
                  <a:srgbClr val="21295C"/>
                </a:solidFill>
                <a:latin typeface="Arial"/>
              </a:rPr>
              <a:t>• Смещение самого измерительного прибора — модель наследует его молча</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Пример смещения на входе: прибор насыщения крови кислородом расходится с прямым анализом крови у пациентов с тёмной кожей в </a:t>
            </a:r>
            <a:r>
              <a:rPr sz="1500" b="1" i="0">
                <a:solidFill>
                  <a:srgbClr val="21295C"/>
                </a:solidFill>
                <a:latin typeface="Arial"/>
              </a:rPr>
              <a:t>11,7 процента измерений</a:t>
            </a:r>
            <a:r>
              <a:rPr sz="1500" b="0" i="0">
                <a:solidFill>
                  <a:srgbClr val="21295C"/>
                </a:solidFill>
                <a:latin typeface="Arial"/>
              </a:rPr>
              <a:t> — 88 случаев из 749; у светлокожих та же доля </a:t>
            </a:r>
            <a:r>
              <a:rPr sz="1500" b="1" i="0">
                <a:solidFill>
                  <a:srgbClr val="21295C"/>
                </a:solidFill>
                <a:latin typeface="Arial"/>
              </a:rPr>
              <a:t>3,6 процента</a:t>
            </a:r>
            <a:r>
              <a:rPr sz="1500" b="0" i="0">
                <a:solidFill>
                  <a:srgbClr val="21295C"/>
                </a:solidFill>
                <a:latin typeface="Arial"/>
              </a:rPr>
              <a:t> — 99 из 2 778. Доля считается по измерениям, не по пациентам, и обе взяты из одной названной когорты. Смещение одностороннее: показание прибора выше, то есть опасное снижение насыщения пропускается чаще, — и обученная модель, принимающая показания прибора на вход, этого смещения не видит вовсе.</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точность приехала, а снимки не прошли</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что переехало и чем за это платят</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классических режима посчитаны одной методологией — одним метаанализом прямого сравнения осмотра и дермоскопии. Модель: на биопсийно подтверждённых изображениях три модели дают площадь под кривой на самых тёмных тонах кожи ниже, чем на самых светлых, — на </a:t>
            </a:r>
            <a:r>
              <a:rPr sz="1500" b="1" i="0">
                <a:solidFill>
                  <a:srgbClr val="21295C"/>
                </a:solidFill>
                <a:latin typeface="Arial"/>
              </a:rPr>
              <a:t>9–15 пунктов</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a:t>
            </a:r>
            <a:r>
              <a:rPr sz="1500" b="1" i="0">
                <a:solidFill>
                  <a:srgbClr val="21295C"/>
                </a:solidFill>
                <a:latin typeface="Arial"/>
              </a:rPr>
              <a:t>656 изображений</a:t>
            </a:r>
            <a:r>
              <a:rPr sz="1500" b="0" i="0">
                <a:solidFill>
                  <a:srgbClr val="21295C"/>
                </a:solidFill>
                <a:latin typeface="Arial"/>
              </a:rPr>
              <a:t>, все с подтверждённой биопсией, из них </a:t>
            </a:r>
            <a:r>
              <a:rPr sz="1500" b="1" i="0">
                <a:solidFill>
                  <a:srgbClr val="21295C"/>
                </a:solidFill>
                <a:latin typeface="Arial"/>
              </a:rPr>
              <a:t>207 с тёмными тонами кожи</a:t>
            </a:r>
            <a:r>
              <a:rPr sz="1500" b="0" i="0">
                <a:solidFill>
                  <a:srgbClr val="21295C"/>
                </a:solidFill>
                <a:latin typeface="Arial"/>
              </a:rPr>
              <a:t> (светлых 208, средних 241). Знаменатель назван, и это не «несколько примеров».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Исправление измерено, и лечит его не алгоритм: дообучение на представительном наборе разрыв снимает и переворачивает, а три названных алгоритмических метода борьбы со смещением его значимо не уменьшили.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по тону кожи измерен </a:t>
            </a:r>
            <a:r>
              <a:rPr sz="1500" b="1" i="0">
                <a:solidFill>
                  <a:srgbClr val="21295C"/>
                </a:solidFill>
                <a:latin typeface="Arial"/>
              </a:rPr>
              <a:t>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 сказать «модель хуже человека на этой подгруппе» не с чем.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отбор в программу повышенного внимания по прогнозу расходов</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 посчитаны на одной выборке:</a:t>
            </a:r>
            <a:r>
              <a:rPr sz="1320" b="0" i="0">
                <a:solidFill>
                  <a:srgbClr val="21295C"/>
                </a:solidFill>
                <a:latin typeface="Arial"/>
              </a:rPr>
              <a:t> отбор решением лечащего врача и отбор одним баллом по прогнозу расходов.</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балл на каждого, отбор по порогу; целевой переменной взяты будущие расходы на лечение. При равном балле у пациентов одной группы болезней оказалось больше.</a:t>
            </a:r>
          </a:p>
          <a:p>
            <a:pPr algn="l">
              <a:lnSpc>
                <a:spcPct val="126000"/>
              </a:lnSpc>
              <a:spcBef>
                <a:spcPts val="700"/>
              </a:spcBef>
            </a:pPr>
            <a:r>
              <a:rPr sz="1320" b="0" i="0">
                <a:solidFill>
                  <a:srgbClr val="21295C"/>
                </a:solidFill>
                <a:latin typeface="Arial"/>
              </a:rPr>
              <a:t/>
            </a:r>
            <a:r>
              <a:rPr sz="1320" b="0" i="0">
                <a:solidFill>
                  <a:srgbClr val="21295C"/>
                </a:solidFill>
                <a:latin typeface="Arial"/>
              </a:rPr>
              <a:t>База: </a:t>
            </a:r>
            <a:r>
              <a:rPr sz="1320" b="1" i="0">
                <a:solidFill>
                  <a:srgbClr val="21295C"/>
                </a:solidFill>
                <a:latin typeface="Arial"/>
              </a:rPr>
              <a:t>49 618 пациентов</a:t>
            </a:r>
            <a:r>
              <a:rPr sz="1320" b="0" i="0">
                <a:solidFill>
                  <a:srgbClr val="21295C"/>
                </a:solidFill>
                <a:latin typeface="Arial"/>
              </a:rPr>
              <a:t> одной академической больницы, 100 009 пациенто-лет, 2013–2015 годы.</a:t>
            </a:r>
          </a:p>
          <a:p>
            <a:pPr algn="l">
              <a:lnSpc>
                <a:spcPct val="126000"/>
              </a:lnSpc>
              <a:spcBef>
                <a:spcPts val="700"/>
              </a:spcBef>
            </a:pPr>
            <a:r>
              <a:rPr sz="1060" b="0" i="0">
                <a:solidFill>
                  <a:srgbClr val="21295C"/>
                </a:solidFill>
                <a:latin typeface="Arial"/>
              </a:rPr>
              <a:t/>
            </a:r>
            <a:r>
              <a:rPr sz="1060" b="0" i="1">
                <a:solidFill>
                  <a:srgbClr val="1C7293"/>
                </a:solidFill>
                <a:latin typeface="Arial"/>
              </a:rPr>
              <a:t>Ограничение второго режима: врач, отбиравший пациентов, уже видел балл — выше порога ему приходила подсказка. Отбора до модели в публикации нет.</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прогноз на структурированных данных</a:t>
            </a:r>
            <a:r>
              <a:rPr sz="1320" b="0" i="0">
                <a:solidFill>
                  <a:srgbClr val="21295C"/>
                </a:solidFill>
                <a:latin typeface="Arial"/>
              </a:rPr>
              <a:t> — счёт риска на данных плательщика и на медицинской карте, стратификация населения. Принимает это закупка плательщика и администрации, не врача. Не умеет отличить «дорого лечится» от «болен», если целевой переменной взяты расходы.</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Исправление посчитано и не применено.</a:t>
            </a:r>
            <a:r>
              <a:rPr sz="1110" b="0" i="0">
                <a:solidFill>
                  <a:srgbClr val="21295C"/>
                </a:solidFill>
                <a:latin typeface="Arial"/>
              </a:rPr>
              <a:t> Если убрать разрыв в здоровье на границе отбора, доля этой группы среди отобранных поднялась бы — расчёт авторов на тех же данных, не результат внедрения.</a:t>
            </a:r>
          </a:p>
          <a:p>
            <a:pPr algn="l">
              <a:lnSpc>
                <a:spcPct val="126000"/>
              </a:lnSpc>
              <a:spcBef>
                <a:spcPts val="700"/>
              </a:spcBef>
            </a:pPr>
            <a:r>
              <a:rPr sz="1110" b="0" i="0">
                <a:solidFill>
                  <a:srgbClr val="21295C"/>
                </a:solidFill>
                <a:latin typeface="Arial"/>
              </a:rPr>
              <a:t/>
            </a:r>
            <a:r>
              <a:rPr sz="1110" b="1" i="0">
                <a:solidFill>
                  <a:srgbClr val="21295C"/>
                </a:solidFill>
                <a:latin typeface="Arial"/>
              </a:rPr>
              <a:t>Что переехало.</a:t>
            </a:r>
            <a:r>
              <a:rPr sz="1110" b="0" i="0">
                <a:solidFill>
                  <a:srgbClr val="21295C"/>
                </a:solidFill>
                <a:latin typeface="Arial"/>
              </a:rPr>
              <a:t> Сменился исполнитель: отбор делал врач, стал делать балл. И сместилась цена ошибки — на группу, у которой при равном балле больше болезней.</a:t>
            </a:r>
          </a:p>
          <a:p>
            <a:pPr algn="l">
              <a:lnSpc>
                <a:spcPct val="126000"/>
              </a:lnSpc>
              <a:spcBef>
                <a:spcPts val="700"/>
              </a:spcBef>
            </a:pPr>
            <a:r>
              <a:rPr sz="1110" b="0" i="0">
                <a:solidFill>
                  <a:srgbClr val="21295C"/>
                </a:solidFill>
                <a:latin typeface="Arial"/>
              </a:rPr>
              <a:t/>
            </a:r>
            <a:r>
              <a:rPr sz="1110" b="0" i="0">
                <a:solidFill>
                  <a:srgbClr val="21295C"/>
                </a:solidFill>
                <a:latin typeface="Arial"/>
              </a:rPr>
              <a:t>Модели этого класса применяются примерно к </a:t>
            </a:r>
            <a:r>
              <a:rPr sz="1110" b="1" i="0">
                <a:solidFill>
                  <a:srgbClr val="21295C"/>
                </a:solidFill>
                <a:latin typeface="Arial"/>
              </a:rPr>
              <a:t>200 миллионам</a:t>
            </a:r>
            <a:r>
              <a:rPr sz="1110" b="0" i="0">
                <a:solidFill>
                  <a:srgbClr val="21295C"/>
                </a:solidFill>
                <a:latin typeface="Arial"/>
              </a:rPr>
              <a:t> человек в год — </a:t>
            </a:r>
            <a:r>
              <a:rPr sz="1110" b="0" i="1">
                <a:solidFill>
                  <a:srgbClr val="21295C"/>
                </a:solidFill>
                <a:latin typeface="Arial"/>
              </a:rPr>
              <a:t>оценка отраслевого масштаба, не выборка измерения: сам перекос измерен на 49 618 пациентах одной больницы, и складывать одно с другим нельзя</a:t>
            </a:r>
            <a:r>
              <a:rPr sz="1110" b="0" i="0">
                <a:solidFill>
                  <a:srgbClr val="21295C"/>
                </a:solidFill>
                <a:latin typeface="Arial"/>
              </a:rPr>
              <a:t>.</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модели чтения рентгена при переносе на другой набор теряют чувствительность по отдельным патологиям, сохраняя высокую специфичность — </a:t>
            </a:r>
            <a:r>
              <a:rPr sz="1110" b="0" i="1">
                <a:solidFill>
                  <a:srgbClr val="21295C"/>
                </a:solidFill>
                <a:latin typeface="Arial"/>
              </a:rPr>
              <a:t>препринт</a:t>
            </a:r>
            <a:r>
              <a:rPr sz="1110" b="0" i="0">
                <a:solidFill>
                  <a:srgbClr val="21295C"/>
                </a:solidFill>
                <a:latin typeface="Arial"/>
              </a:rPr>
              <a:t>. Внутренняя проверка этого не видит: провал проявляется там, где его меньше всего проверяют.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В каждой занятой клетке — режим и одно-два названия: автономное чтение глазного дна, оценка кожного образования, детекция и сортировка потока на рентгене и КТ,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раздела отмечены отдельно. Клетка «измерение · сигнал прибора» помечена как не занятая обученной моделью.</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постоянство чтения и разгрузка потока.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доли посчитаны на группе, и вместе с группой меняется смысл выхода.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ошибиться можно в приборе на входе, в составе набора и в определении цели, не ошибившись в самой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результат измерения попадает к человеку, который примет решение.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несут эти границы: </a:t>
            </a:r>
            <a:r>
              <a:rPr sz="1500" b="1" i="0">
                <a:solidFill>
                  <a:srgbClr val="21295C"/>
                </a:solidFill>
                <a:latin typeface="Arial"/>
              </a:rPr>
              <a:t>Таиланд</a:t>
            </a:r>
            <a:r>
              <a:rPr sz="1500" b="0" i="0">
                <a:solidFill>
                  <a:srgbClr val="21295C"/>
                </a:solidFill>
                <a:latin typeface="Arial"/>
              </a:rPr>
              <a:t> (провал развёртывания) · </a:t>
            </a:r>
            <a:r>
              <a:rPr sz="1500" b="1" i="0">
                <a:solidFill>
                  <a:srgbClr val="21295C"/>
                </a:solidFill>
                <a:latin typeface="Arial"/>
              </a:rPr>
              <a:t>кожа и состав набора</a:t>
            </a:r>
            <a:r>
              <a:rPr sz="1500" b="0" i="0">
                <a:solidFill>
                  <a:srgbClr val="21295C"/>
                </a:solidFill>
                <a:latin typeface="Arial"/>
              </a:rPr>
              <a:t> (провал набора) · </a:t>
            </a:r>
            <a:r>
              <a:rPr sz="1500" b="1" i="0">
                <a:solidFill>
                  <a:srgbClr val="21295C"/>
                </a:solidFill>
                <a:latin typeface="Arial"/>
              </a:rPr>
              <a:t>расходы вместо болезни</a:t>
            </a:r>
            <a:r>
              <a:rPr sz="1500" b="0" i="0">
                <a:solidFill>
                  <a:srgbClr val="21295C"/>
                </a:solidFill>
                <a:latin typeface="Arial"/>
              </a:rPr>
              <a:t> (провал цели).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4 подробных разбора</a:t>
            </a:r>
          </a:p>
        </p:txBody>
      </p:sp>
      <p:sp>
        <p:nvSpPr>
          <p:cNvPr id="8" name="TextBox 7"/>
          <p:cNvSpPr txBox="1"/>
          <p:nvPr/>
        </p:nvSpPr>
        <p:spPr>
          <a:xfrm>
            <a:off x="704088" y="2760634"/>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Замер взгляда радиолога · 2. Одна подсказка с двумя знаками · 3. Измеренная тройка · 4. Контрольная линия</a:t>
            </a:r>
          </a:p>
        </p:txBody>
      </p:sp>
      <p:sp>
        <p:nvSpPr>
          <p:cNvPr id="9" name="TextBox 8"/>
          <p:cNvSpPr txBox="1"/>
          <p:nvPr/>
        </p:nvSpPr>
        <p:spPr>
          <a:xfrm>
            <a:off x="704088" y="352940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ставят диагноз: один случай и сужение списка</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Женщина тридцати четырёх лет, три недели кашля, вечерами температура, потеряла четыре килограмма за полтора месяца — без диеты и без смены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 списке</a:t>
            </a:r>
            <a:r>
              <a:rPr sz="1500" b="0" i="0">
                <a:solidFill>
                  <a:srgbClr val="21295C"/>
                </a:solidFill>
                <a:latin typeface="Arial"/>
              </a:rPr>
              <a:t> — затяжной бронхит, туберкулёз, лимфома, аутоиммунное поражение лёгких.</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различают</a:t>
            </a:r>
            <a:r>
              <a:rPr sz="1500" b="0" i="0">
                <a:solidFill>
                  <a:srgbClr val="21295C"/>
                </a:solidFill>
                <a:latin typeface="Arial"/>
              </a:rPr>
              <a:t> — снимок грудной клетки и анализ крови.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вычеркнули</a:t>
            </a:r>
            <a:r>
              <a:rPr sz="1500" b="0" i="0">
                <a:solidFill>
                  <a:srgbClr val="21295C"/>
                </a:solidFill>
                <a:latin typeface="Arial"/>
              </a:rPr>
              <a:t> — бронхит: на снимке изменения в верхней доле. И аутоиммунное: анализ спокоен.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осталось</a:t>
            </a:r>
            <a:r>
              <a:rPr sz="1500" b="0" i="0">
                <a:solidFill>
                  <a:srgbClr val="21295C"/>
                </a:solidFill>
                <a:latin typeface="Arial"/>
              </a:rPr>
              <a:t> — два, и между ними решает исследование мокроты, которое идёт три недели.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не принимается, пока список не сузился. Ошибка здесь — </a:t>
            </a:r>
            <a:r>
              <a:rPr sz="1500" b="1" i="0">
                <a:solidFill>
                  <a:srgbClr val="21295C"/>
                </a:solidFill>
                <a:latin typeface="Arial"/>
              </a:rPr>
              <a:t>не вписать в список то, что должно было там быть</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Подсказка модели входит в самое начало — туда, где список только составляется.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Типовой случай, собранный по учебному материалу, не история конкретного пациента.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8127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84777"/>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93341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246271"/>
            <a:ext cx="11441887" cy="1989936"/>
          </a:xfrm>
          <a:prstGeom prst="roundRect">
            <a:avLst>
              <a:gd name="adj" fmla="val 153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337711"/>
            <a:ext cx="11112703" cy="18984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500" b="0" i="0">
                <a:solidFill>
                  <a:srgbClr val="21295C"/>
                </a:solidFill>
                <a:latin typeface="Arial"/>
              </a:rPr>
              <a:t/>
            </a:r>
            <a:r>
              <a:rPr sz="1500" b="0" i="0">
                <a:solidFill>
                  <a:srgbClr val="21295C"/>
                </a:solidFill>
                <a:latin typeface="Arial"/>
              </a:rPr>
              <a:t>Медиана проверки подсказки измерена </a:t>
            </a:r>
            <a:r>
              <a:rPr sz="1500" b="1" i="0">
                <a:solidFill>
                  <a:srgbClr val="21295C"/>
                </a:solidFill>
                <a:latin typeface="Arial"/>
              </a:rPr>
              <a:t>в лабораторном опыте 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точность рассуждения при верных рекомендациях — </a:t>
            </a:r>
            <a:r>
              <a:rPr sz="1500" b="1" i="0">
                <a:solidFill>
                  <a:srgbClr val="21295C"/>
                </a:solidFill>
                <a:latin typeface="Arial"/>
              </a:rPr>
              <a:t>84,9 из ста</a:t>
            </a:r>
            <a:r>
              <a:rPr sz="1500" b="0" i="0">
                <a:solidFill>
                  <a:srgbClr val="21295C"/>
                </a:solidFill>
                <a:latin typeface="Arial"/>
              </a:rPr>
              <a:t>, а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 14,0 пункта. Рандомизированное испытание, 44 врача, 264 случая, двадцатичасовой курс работы с ИИ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a:t>
            </a:r>
            <a:r>
              <a:rPr sz="1100" b="0" i="1">
                <a:solidFill>
                  <a:srgbClr val="1C7293"/>
                </a:solidFill>
                <a:latin typeface="Arial"/>
              </a:rPr>
              <a:t> · </a:t>
            </a:r>
            <a:r>
              <a:rPr sz="1100" b="0" i="1">
                <a:solidFill>
                  <a:srgbClr val="1C7293"/>
                </a:solidFill>
                <a:latin typeface="Arial"/>
              </a:rPr>
              <a:t>Mozannar H. и соавт., Reading Between the Lines, CHI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подсказку читает человек</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ВЫБОРА ПРЕПАРАТА: БЕЗ МОДЕЛИ → ПРИ НЕВЕРНОЙ РЕКОМЕНДАЦИИ С УПРОЩЁННЫМ ОБЪЯСНЕНИЕМ</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35,7 → 26,2 из ста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шкала, те же задачи, те же клиницисты; точность самой подсказки здесь задана имитацией — настоящей модели в опыте не было</a:t>
            </a:r>
          </a:p>
        </p:txBody>
      </p:sp>
      <p:sp>
        <p:nvSpPr>
          <p:cNvPr id="8" name="Rounded Rectangle 7"/>
          <p:cNvSpPr/>
          <p:nvPr/>
        </p:nvSpPr>
        <p:spPr>
          <a:xfrm>
            <a:off x="502920" y="2622673"/>
            <a:ext cx="5437479" cy="2220994"/>
          </a:xfrm>
          <a:prstGeom prst="roundRect">
            <a:avLst>
              <a:gd name="adj" fmla="val 137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0" name="TextBox 9"/>
          <p:cNvSpPr txBox="1"/>
          <p:nvPr/>
        </p:nvSpPr>
        <p:spPr>
          <a:xfrm>
            <a:off x="667512"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Второй взгляд на поток, который человеку не прочесть целиком</a:t>
            </a:r>
          </a:p>
          <a:p>
            <a:pPr algn="l">
              <a:lnSpc>
                <a:spcPct val="126000"/>
              </a:lnSpc>
            </a:pPr>
            <a:r>
              <a:rPr sz="1300" b="0" i="0">
                <a:solidFill>
                  <a:srgbClr val="21295C"/>
                </a:solidFill>
                <a:latin typeface="Arial"/>
              </a:rPr>
              <a:t>• Напоминание о редком диагнозе, выпадающем из списка гипотез</a:t>
            </a:r>
          </a:p>
          <a:p>
            <a:pPr algn="l">
              <a:lnSpc>
                <a:spcPct val="126000"/>
              </a:lnSpc>
            </a:pPr>
            <a:r>
              <a:rPr sz="1300" b="0" i="0">
                <a:solidFill>
                  <a:srgbClr val="21295C"/>
                </a:solidFill>
                <a:latin typeface="Arial"/>
              </a:rPr>
              <a:t>• Сортировка, после которой специалист смотрит не всё подряд</a:t>
            </a:r>
          </a:p>
        </p:txBody>
      </p:sp>
      <p:sp>
        <p:nvSpPr>
          <p:cNvPr id="11" name="Rounded Rectangle 10"/>
          <p:cNvSpPr/>
          <p:nvPr/>
        </p:nvSpPr>
        <p:spPr>
          <a:xfrm>
            <a:off x="6251295" y="2622673"/>
            <a:ext cx="5437479" cy="2220994"/>
          </a:xfrm>
          <a:prstGeom prst="roundRect">
            <a:avLst>
              <a:gd name="adj" fmla="val 1372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13" name="TextBox 12"/>
          <p:cNvSpPr txBox="1"/>
          <p:nvPr/>
        </p:nvSpPr>
        <p:spPr>
          <a:xfrm>
            <a:off x="6415887"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Независимость — подсказка видна до собственного вывода</a:t>
            </a:r>
          </a:p>
          <a:p>
            <a:pPr algn="l">
              <a:lnSpc>
                <a:spcPct val="126000"/>
              </a:lnSpc>
            </a:pPr>
            <a:r>
              <a:rPr sz="1300" b="0" i="0">
                <a:solidFill>
                  <a:srgbClr val="21295C"/>
                </a:solidFill>
                <a:latin typeface="Arial"/>
              </a:rPr>
              <a:t>• Избирательность — без отдельной подготовки человек не умеет не поверить именно там, где модель ошиблась</a:t>
            </a:r>
          </a:p>
          <a:p>
            <a:pPr algn="l">
              <a:lnSpc>
                <a:spcPct val="126000"/>
              </a:lnSpc>
            </a:pPr>
            <a:r>
              <a:rPr sz="1300" b="0" i="0">
                <a:solidFill>
                  <a:srgbClr val="21295C"/>
                </a:solidFill>
                <a:latin typeface="Arial"/>
              </a:rPr>
              <a:t>• Объяснимость — упрощённое объяснение неверной рекомендации уронило точность выбора препарата ниже базовой</a:t>
            </a:r>
          </a:p>
        </p:txBody>
      </p:sp>
      <p:sp>
        <p:nvSpPr>
          <p:cNvPr id="14" name="Rounded Rectangle 13"/>
          <p:cNvSpPr/>
          <p:nvPr/>
        </p:nvSpPr>
        <p:spPr>
          <a:xfrm>
            <a:off x="374904" y="4935108"/>
            <a:ext cx="11441887" cy="1301099"/>
          </a:xfrm>
          <a:prstGeom prst="roundRect">
            <a:avLst>
              <a:gd name="adj" fmla="val 234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5026548"/>
            <a:ext cx="11112703" cy="120965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Объяснение покупает согласие, а не качество. Упрощённое объяснение создаёт ясность, не связанную с правильностью, и человеку труднее возразить тому, что он понял.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Объяснимость — требование к интерфейсу с измеренной ценой, а не безусловное улучшение.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в сети, не решения о живых пациентах.</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440" b="0" i="0">
                <a:solidFill>
                  <a:srgbClr val="21295C"/>
                </a:solidFill>
                <a:latin typeface="Arial"/>
              </a:rPr>
              <a:t/>
            </a:r>
            <a:r>
              <a:rPr sz="1440" b="1" i="0">
                <a:solidFill>
                  <a:srgbClr val="21295C"/>
                </a:solidFill>
                <a:latin typeface="Arial"/>
              </a:rPr>
              <a:t>Цена обеих ошибок, до всякой точности.</a:t>
            </a:r>
            <a:r>
              <a:rPr sz="144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Оба классических режима.</a:t>
            </a:r>
            <a:r>
              <a:rPr sz="144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440" b="0" i="0">
                <a:solidFill>
                  <a:srgbClr val="21295C"/>
                </a:solidFill>
                <a:latin typeface="Arial"/>
              </a:rPr>
              <a:t/>
            </a:r>
            <a:r>
              <a:rPr sz="1440" b="1" i="0">
                <a:solidFill>
                  <a:srgbClr val="21295C"/>
                </a:solidFill>
                <a:latin typeface="Arial"/>
              </a:rPr>
              <a:t>Модель против них.</a:t>
            </a:r>
            <a:r>
              <a:rPr sz="144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1150" b="0" i="0">
                <a:solidFill>
                  <a:srgbClr val="21295C"/>
                </a:solidFill>
                <a:latin typeface="Arial"/>
              </a:rPr>
              <a:t/>
            </a:r>
            <a:r>
              <a:rPr sz="115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440" b="0" i="0">
                <a:solidFill>
                  <a:srgbClr val="21295C"/>
                </a:solidFill>
                <a:latin typeface="Arial"/>
              </a:rPr>
              <a:t/>
            </a:r>
            <a:r>
              <a:rPr sz="1440" b="0" i="0">
                <a:solidFill>
                  <a:srgbClr val="21295C"/>
                </a:solidFill>
                <a:latin typeface="Arial"/>
              </a:rPr>
              <a:t>Чем это делают сегодня: </a:t>
            </a:r>
            <a:r>
              <a:rPr sz="1440" b="0" i="1">
                <a:solidFill>
                  <a:srgbClr val="21295C"/>
                </a:solidFill>
                <a:latin typeface="Arial"/>
              </a:rPr>
              <a:t>распознавание на изображении</a:t>
            </a:r>
            <a:r>
              <a:rPr sz="1440" b="0" i="0">
                <a:solidFill>
                  <a:srgbClr val="21295C"/>
                </a:solidFill>
                <a:latin typeface="Arial"/>
              </a:rPr>
              <a:t> — чтение маммограммы моделью как второй читатель или как сортировка потока. Принимает это организатор национальной или региональной программы скрининга, а не отдельная больница.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Тот же замер,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подсказка с двумя знаками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290" b="0" i="0">
                <a:solidFill>
                  <a:srgbClr val="21295C"/>
                </a:solidFill>
                <a:latin typeface="Arial"/>
              </a:rPr>
              <a:t/>
            </a:r>
            <a:r>
              <a:rPr sz="1290" b="1" i="0">
                <a:solidFill>
                  <a:srgbClr val="21295C"/>
                </a:solidFill>
                <a:latin typeface="Arial"/>
              </a:rPr>
              <a:t>Цена обеих ошибок.</a:t>
            </a:r>
            <a:r>
              <a:rPr sz="129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290" b="0" i="0">
                <a:solidFill>
                  <a:srgbClr val="21295C"/>
                </a:solidFill>
                <a:latin typeface="Arial"/>
              </a:rPr>
              <a:t/>
            </a:r>
            <a:r>
              <a:rPr sz="1290" b="1" i="0">
                <a:solidFill>
                  <a:srgbClr val="21295C"/>
                </a:solidFill>
                <a:latin typeface="Arial"/>
              </a:rPr>
              <a:t>Оба классических режима:</a:t>
            </a:r>
            <a:r>
              <a:rPr sz="129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290" b="0" i="0">
                <a:solidFill>
                  <a:srgbClr val="21295C"/>
                </a:solidFill>
                <a:latin typeface="Arial"/>
              </a:rPr>
              <a:t/>
            </a:r>
            <a:r>
              <a:rPr sz="1290" b="1" i="0">
                <a:solidFill>
                  <a:srgbClr val="21295C"/>
                </a:solidFill>
                <a:latin typeface="Arial"/>
              </a:rPr>
              <a:t>Модель против них.</a:t>
            </a:r>
            <a:r>
              <a:rPr sz="1290" b="0" i="0">
                <a:solidFill>
                  <a:srgbClr val="21295C"/>
                </a:solidFill>
                <a:latin typeface="Arial"/>
              </a:rPr>
              <a:t> Когда модель права, шансы верного ответа растут примерно вчетверо; когда неправа — падают примерно вчетверо. На всех уровнях опыта и на случаях любой сложности одинаково. </a:t>
            </a:r>
            <a:r>
              <a:rPr sz="1290" b="1" i="0">
                <a:solidFill>
                  <a:srgbClr val="21295C"/>
                </a:solidFill>
                <a:latin typeface="Arial"/>
              </a:rPr>
              <a:t>А на группе в целом, без разделения на правоту модели, прибавка незначима</a:t>
            </a:r>
            <a:r>
              <a:rPr sz="1290" b="0" i="0">
                <a:solidFill>
                  <a:srgbClr val="21295C"/>
                </a:solidFill>
                <a:latin typeface="Arial"/>
              </a:rPr>
              <a:t> — отчёт о внедрении с одним числом показал бы «эффекта нет» там, где эффект велик в обе стороны.</a:t>
            </a:r>
          </a:p>
          <a:p>
            <a:pPr algn="l">
              <a:lnSpc>
                <a:spcPct val="126000"/>
              </a:lnSpc>
              <a:spcBef>
                <a:spcPts val="700"/>
              </a:spcBef>
            </a:pPr>
            <a:r>
              <a:rPr sz="1290" b="0" i="0">
                <a:solidFill>
                  <a:srgbClr val="21295C"/>
                </a:solidFill>
                <a:latin typeface="Arial"/>
              </a:rPr>
              <a:t/>
            </a:r>
            <a:r>
              <a:rPr sz="1290" b="1" i="0">
                <a:solidFill>
                  <a:srgbClr val="21295C"/>
                </a:solidFill>
                <a:latin typeface="Arial"/>
              </a:rPr>
              <a:t>Что переехало.</a:t>
            </a:r>
            <a:r>
              <a:rPr sz="1290" b="0" i="0">
                <a:solidFill>
                  <a:srgbClr val="21295C"/>
                </a:solidFill>
                <a:latin typeface="Arial"/>
              </a:rPr>
              <a:t> Сместилась цена ошибки: ошибка модели стала ошибкой врача.</a:t>
            </a:r>
          </a:p>
          <a:p>
            <a:pPr algn="l">
              <a:lnSpc>
                <a:spcPct val="126000"/>
              </a:lnSpc>
              <a:spcBef>
                <a:spcPts val="700"/>
              </a:spcBef>
            </a:pPr>
            <a:r>
              <a:rPr sz="1290" b="0" i="0">
                <a:solidFill>
                  <a:srgbClr val="21295C"/>
                </a:solidFill>
                <a:latin typeface="Arial"/>
              </a:rPr>
              <a:t/>
            </a:r>
            <a:r>
              <a:rPr sz="1290" b="0" i="0">
                <a:solidFill>
                  <a:srgbClr val="21295C"/>
                </a:solidFill>
                <a:latin typeface="Arial"/>
              </a:rPr>
              <a:t>Рядом, другим жанром: по сводке систем поддержки врачебных решений неверная подсказка повышает риск неверного решения на </a:t>
            </a:r>
            <a:r>
              <a:rPr sz="1290" b="1" i="0">
                <a:solidFill>
                  <a:srgbClr val="21295C"/>
                </a:solidFill>
                <a:latin typeface="Arial"/>
              </a:rPr>
              <a:t>26 процентов</a:t>
            </a:r>
            <a:r>
              <a:rPr sz="1290" b="0" i="0">
                <a:solidFill>
                  <a:srgbClr val="21295C"/>
                </a:solidFill>
                <a:latin typeface="Arial"/>
              </a:rPr>
              <a:t>; обзор включил 74 исследования из 13 821 просмотренного. </a:t>
            </a:r>
            <a:r>
              <a:rPr sz="1290" b="0" i="1">
                <a:solidFill>
                  <a:srgbClr val="21295C"/>
                </a:solidFill>
                <a:latin typeface="Arial"/>
              </a:rPr>
              <a:t>В той совокупности много систем на правилах, а не обученных моделей.</a:t>
            </a:r>
          </a:p>
          <a:p>
            <a:pPr algn="l">
              <a:lnSpc>
                <a:spcPct val="126000"/>
              </a:lnSpc>
              <a:spcBef>
                <a:spcPts val="700"/>
              </a:spcBef>
            </a:pPr>
            <a:r>
              <a:rPr sz="1030" b="0" i="0">
                <a:solidFill>
                  <a:srgbClr val="21295C"/>
                </a:solidFill>
                <a:latin typeface="Arial"/>
              </a:rPr>
              <a:t/>
            </a:r>
            <a:r>
              <a:rPr sz="1030" b="0" i="1">
                <a:solidFill>
                  <a:srgbClr val="1C7293"/>
                </a:solidFill>
                <a:latin typeface="Arial"/>
              </a:rPr>
              <a:t>Ступень: смотрит вторым — подсказка выведена одновременно со срезом.</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 — разбор</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32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320" b="0" i="0">
                <a:solidFill>
                  <a:srgbClr val="21295C"/>
                </a:solidFill>
                <a:latin typeface="Arial"/>
              </a:rPr>
              <a:t/>
            </a:r>
            <a:r>
              <a:rPr sz="1320" b="1" i="0">
                <a:solidFill>
                  <a:srgbClr val="21295C"/>
                </a:solidFill>
                <a:latin typeface="Arial"/>
              </a:rPr>
              <a:t>Цена обеих ошибок.</a:t>
            </a:r>
            <a:r>
              <a:rPr sz="132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320" b="0" i="0">
                <a:solidFill>
                  <a:srgbClr val="21295C"/>
                </a:solidFill>
                <a:latin typeface="Arial"/>
              </a:rPr>
              <a:t/>
            </a:r>
            <a:r>
              <a:rPr sz="1320" b="1" i="0">
                <a:solidFill>
                  <a:srgbClr val="21295C"/>
                </a:solidFill>
                <a:latin typeface="Arial"/>
              </a:rPr>
              <a:t>Классический режим</a:t>
            </a:r>
            <a:r>
              <a:rPr sz="1320" b="0" i="0">
                <a:solidFill>
                  <a:srgbClr val="21295C"/>
                </a:solidFill>
                <a:latin typeface="Arial"/>
              </a:rPr>
              <a:t> — врач с обычными справочниками, и это база сравнения.</a:t>
            </a:r>
          </a:p>
          <a:p>
            <a:pPr algn="l">
              <a:lnSpc>
                <a:spcPct val="126000"/>
              </a:lnSpc>
              <a:spcBef>
                <a:spcPts val="700"/>
              </a:spcBef>
            </a:pPr>
            <a:r>
              <a:rPr sz="1320" b="0" i="0">
                <a:solidFill>
                  <a:srgbClr val="21295C"/>
                </a:solidFill>
                <a:latin typeface="Arial"/>
              </a:rPr>
              <a:t/>
            </a:r>
            <a:r>
              <a:rPr sz="1320" b="0" i="0">
                <a:solidFill>
                  <a:srgbClr val="21295C"/>
                </a:solidFill>
                <a:latin typeface="Arial"/>
              </a:rPr>
              <a:t>Разница между врачом одним и врачом с моделью — два пункта, и она </a:t>
            </a:r>
            <a:r>
              <a:rPr sz="1320" b="1" i="0">
                <a:solidFill>
                  <a:srgbClr val="21295C"/>
                </a:solidFill>
                <a:latin typeface="Arial"/>
              </a:rPr>
              <a:t>незначима</a:t>
            </a:r>
            <a:r>
              <a:rPr sz="1320" b="0" i="0">
                <a:solidFill>
                  <a:srgbClr val="21295C"/>
                </a:solidFill>
                <a:latin typeface="Arial"/>
              </a:rPr>
              <a:t>. Это ноль, измеренный, а не отсутствие данных.</a:t>
            </a:r>
          </a:p>
          <a:p>
            <a:pPr algn="l">
              <a:lnSpc>
                <a:spcPct val="126000"/>
              </a:lnSpc>
              <a:spcBef>
                <a:spcPts val="700"/>
              </a:spcBef>
            </a:pPr>
            <a:r>
              <a:rPr sz="1320" b="0" i="0">
                <a:solidFill>
                  <a:srgbClr val="21295C"/>
                </a:solidFill>
                <a:latin typeface="Arial"/>
              </a:rPr>
              <a:t/>
            </a:r>
            <a:r>
              <a:rPr sz="1320" b="0" i="0">
                <a:solidFill>
                  <a:srgbClr val="21295C"/>
                </a:solidFill>
                <a:latin typeface="Arial"/>
              </a:rPr>
              <a:t>Прогон «модель одна» не был равноправной случайной ветвью — он идёт </a:t>
            </a:r>
            <a:r>
              <a:rPr sz="1320" b="1" i="0">
                <a:solidFill>
                  <a:srgbClr val="21295C"/>
                </a:solidFill>
                <a:latin typeface="Arial"/>
              </a:rPr>
              <a:t>наблюдательным дополнением</a:t>
            </a:r>
            <a:r>
              <a:rPr sz="1320" b="0" i="0">
                <a:solidFill>
                  <a:srgbClr val="21295C"/>
                </a:solidFill>
                <a:latin typeface="Arial"/>
              </a:rPr>
              <a:t>, не результатом распределения.</a:t>
            </a:r>
          </a:p>
          <a:p>
            <a:pPr algn="l">
              <a:lnSpc>
                <a:spcPct val="126000"/>
              </a:lnSpc>
              <a:spcBef>
                <a:spcPts val="700"/>
              </a:spcBef>
            </a:pPr>
            <a:r>
              <a:rPr sz="1060" b="0" i="0">
                <a:solidFill>
                  <a:srgbClr val="21295C"/>
                </a:solidFill>
                <a:latin typeface="Arial"/>
              </a:rPr>
              <a:t/>
            </a:r>
            <a:r>
              <a:rPr sz="106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генерация на тексте</a:t>
            </a:r>
            <a:r>
              <a:rPr sz="1320" b="0" i="0">
                <a:solidFill>
                  <a:srgbClr val="21295C"/>
                </a:solidFill>
                <a:latin typeface="Arial"/>
              </a:rPr>
              <a:t> — клиническое рассуждение и вопрос-ответ со ссылками на литературу. Входит в работу </a:t>
            </a:r>
            <a:r>
              <a:rPr sz="1320" b="1" i="0">
                <a:solidFill>
                  <a:srgbClr val="21295C"/>
                </a:solidFill>
                <a:latin typeface="Arial"/>
              </a:rPr>
              <a:t>снизу</a:t>
            </a:r>
            <a:r>
              <a:rPr sz="1320" b="0" i="0">
                <a:solidFill>
                  <a:srgbClr val="21295C"/>
                </a:solidFill>
                <a:latin typeface="Arial"/>
              </a:rPr>
              <a:t>, самостоятельным употреблением врача, минуя закупку, — и поэтому никто не настраивал этот режим под процесс. Не умеет перенести свою силу на пару.</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a:t>
            </a:r>
            <a:r>
              <a:rPr sz="132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человек плюс модель, арбитраж на разногласиях. Прибавка чувствительности </a:t>
            </a:r>
            <a:r>
              <a:rPr sz="1320" b="1" i="0">
                <a:solidFill>
                  <a:srgbClr val="21295C"/>
                </a:solidFill>
                <a:latin typeface="Arial"/>
              </a:rPr>
              <a:t>значима</a:t>
            </a:r>
            <a:r>
              <a:rPr sz="1320" b="0" i="0">
                <a:solidFill>
                  <a:srgbClr val="21295C"/>
                </a:solidFill>
                <a:latin typeface="Arial"/>
              </a:rPr>
              <a:t>.</a:t>
            </a:r>
          </a:p>
          <a:p>
            <a:pPr algn="l">
              <a:lnSpc>
                <a:spcPct val="126000"/>
              </a:lnSpc>
              <a:spcBef>
                <a:spcPts val="700"/>
              </a:spcBef>
            </a:pPr>
            <a:r>
              <a:rPr sz="1060" b="0" i="0">
                <a:solidFill>
                  <a:srgbClr val="21295C"/>
                </a:solidFill>
                <a:latin typeface="Arial"/>
              </a:rPr>
              <a:t/>
            </a:r>
            <a:r>
              <a:rPr sz="106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320" b="0" i="0">
                <a:solidFill>
                  <a:srgbClr val="21295C"/>
                </a:solidFill>
                <a:latin typeface="Arial"/>
              </a:rPr>
              <a:t/>
            </a:r>
            <a:r>
              <a:rPr sz="1320" b="0" i="0">
                <a:solidFill>
                  <a:srgbClr val="21295C"/>
                </a:solidFill>
                <a:latin typeface="Arial"/>
              </a:rPr>
              <a:t>Независимость здесь не нарушена, а </a:t>
            </a:r>
            <a:r>
              <a:rPr sz="1320" b="1" i="0">
                <a:solidFill>
                  <a:srgbClr val="21295C"/>
                </a:solidFill>
                <a:latin typeface="Arial"/>
              </a:rPr>
              <a:t>перестроена</a:t>
            </a:r>
            <a:r>
              <a:rPr sz="132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1060" b="0" i="0">
                <a:solidFill>
                  <a:srgbClr val="21295C"/>
                </a:solidFill>
                <a:latin typeface="Arial"/>
              </a:rPr>
              <a:t/>
            </a:r>
            <a:r>
              <a:rPr sz="106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распознавание на изображении</a:t>
            </a:r>
            <a:r>
              <a:rPr sz="1320" b="0" i="0">
                <a:solidFill>
                  <a:srgbClr val="21295C"/>
                </a:solidFill>
                <a:latin typeface="Arial"/>
              </a:rPr>
              <a:t>, та же клетка и </a:t>
            </a:r>
            <a:r>
              <a:rPr sz="1320" b="1" i="0">
                <a:solidFill>
                  <a:srgbClr val="21295C"/>
                </a:solidFill>
                <a:latin typeface="Arial"/>
              </a:rPr>
              <a:t>тот же инструмент</a:t>
            </a:r>
            <a:r>
              <a:rPr sz="1320" b="0" i="0">
                <a:solidFill>
                  <a:srgbClr val="21295C"/>
                </a:solidFill>
                <a:latin typeface="Arial"/>
              </a:rPr>
              <a:t>, что в разборе выше. Держат клетку арбитраж третьим читателем только на разногласиях и постоянный контроль порога.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MASAI — Gommers J., … Lång K., The Lancet 2026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 (80 033 распределённых)</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Что переехало.</a:t>
            </a:r>
            <a:r>
              <a:rPr sz="114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 Больше форм здесь не называется.</a:t>
            </a:r>
          </a:p>
          <a:p>
            <a:pPr algn="l">
              <a:lnSpc>
                <a:spcPct val="126000"/>
              </a:lnSpc>
              <a:spcBef>
                <a:spcPts val="700"/>
              </a:spcBef>
            </a:pPr>
            <a:r>
              <a:rPr sz="1140" b="0" i="0">
                <a:solidFill>
                  <a:srgbClr val="21295C"/>
                </a:solidFill>
                <a:latin typeface="Arial"/>
              </a:rPr>
              <a:t/>
            </a:r>
            <a:r>
              <a:rPr sz="114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 настолько, чтобы это было различием.</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и это разворачивает весь раздел: в другой программе измерили, </a:t>
            </a:r>
            <a:r>
              <a:rPr sz="1140" b="1" i="0">
                <a:solidFill>
                  <a:srgbClr val="21295C"/>
                </a:solidFill>
                <a:latin typeface="Arial"/>
              </a:rPr>
              <a:t>чьим находкам верят</a:t>
            </a:r>
            <a:r>
              <a:rPr sz="1140" b="0" i="0">
                <a:solidFill>
                  <a:srgbClr val="21295C"/>
                </a:solidFill>
                <a:latin typeface="Arial"/>
              </a:rPr>
              <a:t>. Из ста находок, сделанных </a:t>
            </a:r>
            <a:r>
              <a:rPr sz="1140" b="1" i="0">
                <a:solidFill>
                  <a:srgbClr val="21295C"/>
                </a:solidFill>
                <a:latin typeface="Arial"/>
              </a:rPr>
              <a:t>только моделью</a:t>
            </a:r>
            <a:r>
              <a:rPr sz="1140" b="0" i="0">
                <a:solidFill>
                  <a:srgbClr val="21295C"/>
                </a:solidFill>
                <a:latin typeface="Arial"/>
              </a:rPr>
              <a:t>, подтверждается раком </a:t>
            </a:r>
            <a:r>
              <a:rPr sz="1140" b="1" i="0">
                <a:solidFill>
                  <a:srgbClr val="21295C"/>
                </a:solidFill>
                <a:latin typeface="Arial"/>
              </a:rPr>
              <a:t>22</a:t>
            </a:r>
            <a:r>
              <a:rPr sz="1140" b="0" i="0">
                <a:solidFill>
                  <a:srgbClr val="21295C"/>
                </a:solidFill>
                <a:latin typeface="Arial"/>
              </a:rPr>
              <a:t>; из ста находок, сделанных </a:t>
            </a:r>
            <a:r>
              <a:rPr sz="1140" b="1" i="0">
                <a:solidFill>
                  <a:srgbClr val="21295C"/>
                </a:solidFill>
                <a:latin typeface="Arial"/>
              </a:rPr>
              <a:t>только радиологом</a:t>
            </a:r>
            <a:r>
              <a:rPr sz="1140" b="0" i="0">
                <a:solidFill>
                  <a:srgbClr val="21295C"/>
                </a:solidFill>
                <a:latin typeface="Arial"/>
              </a:rPr>
              <a:t> — </a:t>
            </a:r>
            <a:r>
              <a:rPr sz="1140" b="1" i="0">
                <a:solidFill>
                  <a:srgbClr val="21295C"/>
                </a:solidFill>
                <a:latin typeface="Arial"/>
              </a:rPr>
              <a:t>3,4</a:t>
            </a:r>
            <a:r>
              <a:rPr sz="1140" b="0" i="0">
                <a:solidFill>
                  <a:srgbClr val="21295C"/>
                </a:solidFill>
                <a:latin typeface="Arial"/>
              </a:rPr>
              <a:t>. А на дообследование отзывают чаще вторую: находку радиолога — в 14,2 случая из ста, находку модели — в 4,6.</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есть здесь доверия к модели </a:t>
            </a:r>
            <a:r>
              <a:rPr sz="1140" b="1" i="0">
                <a:solidFill>
                  <a:srgbClr val="21295C"/>
                </a:solidFill>
                <a:latin typeface="Arial"/>
              </a:rPr>
              <a:t>слишком мало</a:t>
            </a:r>
            <a:r>
              <a:rPr sz="1140" b="0" i="0">
                <a:solidFill>
                  <a:srgbClr val="21295C"/>
                </a:solidFill>
                <a:latin typeface="Arial"/>
              </a:rPr>
              <a:t>, а не слишком много.</a:t>
            </a:r>
          </a:p>
          <a:p>
            <a:pPr algn="l">
              <a:lnSpc>
                <a:spcPct val="126000"/>
              </a:lnSpc>
              <a:spcBef>
                <a:spcPts val="700"/>
              </a:spcBef>
            </a:pPr>
            <a:r>
              <a:rPr sz="910" b="0" i="0">
                <a:solidFill>
                  <a:srgbClr val="21295C"/>
                </a:solidFill>
                <a:latin typeface="Arial"/>
              </a:rPr>
              <a:t/>
            </a:r>
            <a:r>
              <a:rPr sz="910" b="0" i="1">
                <a:solidFill>
                  <a:srgbClr val="1C7293"/>
                </a:solidFill>
                <a:latin typeface="Arial"/>
              </a:rPr>
              <a:t>Проспективное исследование в другой программе скрининга: 54 991 женщина, каждое исследование читают три независимых источника — два радиолога и система. Знаменатели двух сравниваемых групп почти одинаковы: 1 858 находок от одного радиолога против 1 886 от одной системы.</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 Lång K., The Lancet 2026</a:t>
            </a:r>
            <a:r>
              <a:rPr sz="1100" b="0" i="1">
                <a:solidFill>
                  <a:srgbClr val="1C7293"/>
                </a:solidFill>
                <a:latin typeface="Arial"/>
              </a:rPr>
              <a:t> · </a:t>
            </a:r>
            <a:r>
              <a:rPr sz="1100" b="0" i="1">
                <a:solidFill>
                  <a:srgbClr val="1C7293"/>
                </a:solidFill>
                <a:latin typeface="Arial"/>
              </a:rPr>
              <a:t>Dembrower K. E. и соавт., Radiology 2025 — проспективное исследование ScreenTrustCAD, 54 991 женщина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ломается.</a:t>
            </a:r>
            <a:r>
              <a:rPr sz="1110" b="0" i="0">
                <a:solidFill>
                  <a:srgbClr val="21295C"/>
                </a:solidFill>
                <a:latin typeface="Arial"/>
              </a:rPr>
              <a:t> База падения — </a:t>
            </a:r>
            <a:r>
              <a:rPr sz="1110" b="1" i="0">
                <a:solidFill>
                  <a:srgbClr val="21295C"/>
                </a:solidFill>
                <a:latin typeface="Arial"/>
              </a:rPr>
              <a:t>верная</a:t>
            </a:r>
            <a:r>
              <a:rPr sz="1110" b="0" i="0">
                <a:solidFill>
                  <a:srgbClr val="21295C"/>
                </a:solidFill>
                <a:latin typeface="Arial"/>
              </a:rPr>
              <a:t> расшифровка, а не работа без подсказки: 84,86 против 41,66 и 86,38 против 27,43 из ста. Существеннее величины то, что связь уверенности с правотой ослабевает у обеих групп: человек остаётся так же уверен, будучи неправ.</a:t>
            </a:r>
          </a:p>
          <a:p>
            <a:pPr algn="l">
              <a:lnSpc>
                <a:spcPct val="126000"/>
              </a:lnSpc>
              <a:spcBef>
                <a:spcPts val="700"/>
              </a:spcBef>
            </a:pPr>
            <a:r>
              <a:rPr sz="1110" b="0" i="0">
                <a:solidFill>
                  <a:srgbClr val="21295C"/>
                </a:solidFill>
                <a:latin typeface="Arial"/>
              </a:rPr>
              <a:t/>
            </a:r>
            <a:r>
              <a:rPr sz="1110" b="1" i="0">
                <a:solidFill>
                  <a:srgbClr val="21295C"/>
                </a:solidFill>
                <a:latin typeface="Arial"/>
              </a:rPr>
              <a:t>Где потолок.</a:t>
            </a:r>
            <a:r>
              <a:rPr sz="1110" b="0" i="0">
                <a:solidFill>
                  <a:srgbClr val="21295C"/>
                </a:solidFill>
                <a:latin typeface="Arial"/>
              </a:rPr>
              <a:t> Переустройство подачи подсказки снижает согласие с неверной подсказкой значимо — это настоящее улучшение. И при нём почти половина согласий с неверной подсказкой остаётся. </a:t>
            </a:r>
            <a:r>
              <a:rPr sz="1110" b="0" i="1">
                <a:solidFill>
                  <a:srgbClr val="21295C"/>
                </a:solidFill>
                <a:latin typeface="Arial"/>
              </a:rPr>
              <a:t>Лабораторный эксперимент, 199 участников; задача не клиническая, точность подсказки задана имитацией.</a:t>
            </a:r>
          </a:p>
          <a:p>
            <a:pPr algn="l">
              <a:lnSpc>
                <a:spcPct val="126000"/>
              </a:lnSpc>
              <a:spcBef>
                <a:spcPts val="700"/>
              </a:spcBef>
            </a:pPr>
            <a:r>
              <a:rPr sz="1110" b="0" i="0">
                <a:solidFill>
                  <a:srgbClr val="21295C"/>
                </a:solidFill>
                <a:latin typeface="Arial"/>
              </a:rPr>
              <a:t/>
            </a:r>
            <a:r>
              <a:rPr sz="1110" b="1" i="0">
                <a:solidFill>
                  <a:srgbClr val="21295C"/>
                </a:solidFill>
                <a:latin typeface="Arial"/>
              </a:rPr>
              <a:t>Не измерено, и это названо пробелом.</a:t>
            </a:r>
            <a:r>
              <a:rPr sz="1110" b="0" i="0">
                <a:solidFill>
                  <a:srgbClr val="21295C"/>
                </a:solidFill>
                <a:latin typeface="Arial"/>
              </a:rPr>
              <a:t> «Одна ошибка обрывает доверие» как отдельная величина не опубликована. Измерено другое: увидев ошибку алгоритма, человек реже выбирает его и дальше — продолжая видеть, что алгоритм точнее человека; возможность хоть немного подправить прогноз этот отказ ослабляет.</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Доверие откалибровано </a:t>
            </a:r>
            <a:r>
              <a:rPr sz="1110" b="1" i="0">
                <a:solidFill>
                  <a:srgbClr val="21295C"/>
                </a:solidFill>
                <a:latin typeface="Arial"/>
              </a:rPr>
              <a:t>не по тому признаку</a:t>
            </a:r>
            <a:r>
              <a:rPr sz="1110" b="0" i="0">
                <a:solidFill>
                  <a:srgbClr val="21295C"/>
                </a:solidFill>
                <a:latin typeface="Arial"/>
              </a:rPr>
              <a:t>: не по правоте, а по подписи, по уверенности и по единичному видимому промаху.</a:t>
            </a:r>
          </a:p>
          <a:p>
            <a:pPr algn="l">
              <a:lnSpc>
                <a:spcPct val="126000"/>
              </a:lnSpc>
              <a:spcBef>
                <a:spcPts val="700"/>
              </a:spcBef>
            </a:pPr>
            <a:r>
              <a:rPr sz="1110" b="0" i="0">
                <a:solidFill>
                  <a:srgbClr val="21295C"/>
                </a:solidFill>
                <a:latin typeface="Arial"/>
              </a:rPr>
              <a:t/>
            </a:r>
            <a:r>
              <a:rPr sz="1110" b="0" i="0">
                <a:solidFill>
                  <a:srgbClr val="21295C"/>
                </a:solidFill>
                <a:latin typeface="Arial"/>
              </a:rPr>
              <a:t>Чем это делают сегодня: подсказку выводят внутрь рабочего места рентгенолога через платформу-оркестратор, а не ставят отдельной программой. Больница закупает одну платформу и дальше подключает модули по подписке — решение «какой алгоритм смотрит ваш снимок» принимается после закупки. Платформа не добавляет точности: она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и соавт., Journal of Electrocardiology 2018</a:t>
            </a:r>
            <a:r>
              <a:rPr sz="1100" b="0" i="1">
                <a:solidFill>
                  <a:srgbClr val="1C7293"/>
                </a:solidFill>
                <a:latin typeface="Arial"/>
              </a:rPr>
              <a:t> · </a:t>
            </a:r>
            <a:r>
              <a:rPr sz="1100" b="0" i="1">
                <a:solidFill>
                  <a:srgbClr val="1C7293"/>
                </a:solidFill>
                <a:latin typeface="Arial"/>
              </a:rPr>
              <a:t>Yu F. и соавт., Nature Medicine 2024</a:t>
            </a:r>
            <a:r>
              <a:rPr sz="1100" b="0" i="1">
                <a:solidFill>
                  <a:srgbClr val="1C7293"/>
                </a:solidFill>
                <a:latin typeface="Arial"/>
              </a:rPr>
              <a:t> · </a:t>
            </a:r>
            <a:r>
              <a:rPr sz="1100" b="0" i="1">
                <a:solidFill>
                  <a:srgbClr val="1C7293"/>
                </a:solidFill>
                <a:latin typeface="Arial"/>
              </a:rPr>
              <a:t>Buçinca Z. и соавт., To Trust or to Think, CSCW 2021</a:t>
            </a:r>
            <a:r>
              <a:rPr sz="1100" b="0" i="1">
                <a:solidFill>
                  <a:srgbClr val="1C7293"/>
                </a:solidFill>
                <a:latin typeface="Arial"/>
              </a:rPr>
              <a:t> · </a:t>
            </a:r>
            <a:r>
              <a:rPr sz="1100" b="0" i="1">
                <a:solidFill>
                  <a:srgbClr val="1C7293"/>
                </a:solidFill>
                <a:latin typeface="Arial"/>
              </a:rPr>
              <a:t>Dietvorst B. и соавт., Algorithm Aversion, Journal of Experimental Psychology: General 2015 — названный пробел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чтение и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оси те же, что в начале курса. В каждой занятой клетке — режим и одно-два названия; разборы раздела выделены.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 модель вторым читателем в скрининге и сортировка потока в неотложной рентгенологии.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Классификация на изображении</a:t>
            </a:r>
            <a:r>
              <a:rPr sz="1500" b="0" i="0">
                <a:solidFill>
                  <a:srgbClr val="21295C"/>
                </a:solidFill>
                <a:latin typeface="Arial"/>
              </a:rPr>
              <a:t> — подсказка по оцифрованному срезу и оценка кожного образования.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 вопрос-ответ со ссылками и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Поиск на тексте</a:t>
            </a:r>
            <a:r>
              <a:rPr sz="1500" b="0" i="0">
                <a:solidFill>
                  <a:srgbClr val="21295C"/>
                </a:solidFill>
                <a:latin typeface="Arial"/>
              </a:rPr>
              <a:t> — поиск по карте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на рынке нет: </a:t>
            </a:r>
            <a:r>
              <a:rPr sz="1500" b="1" i="0">
                <a:solidFill>
                  <a:srgbClr val="21295C"/>
                </a:solidFill>
                <a:latin typeface="Arial"/>
              </a:rPr>
              <a:t>ансамбль моделей с голосованием</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не было на предыдущей стадии, — автоматическая запись приёма: текст в карте теперь появляется машинно, и держат его те же процедуры подписи.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Имена инструментов — не метрики.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чтение рядом с моделью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второй взгляд на поток и напоминание о редком диагнозе настоящие; в одном устройстве процедуры пара измеренно сильнее обеих сторон.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выигрыш даёт несовпадение ошибок, а не точность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знак эффекта зависит от правоты модели, и средняя точность внедрения складывает две противоположные вещи.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если знак зависит от правоты модели, кто и чем замечает, что она неправа.</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Выигрыш даёт устройство процедуры, а не сила инструмента: в разборе, где результат упал, и в контрольной линии, где он вырос, работал </a:t>
            </a:r>
            <a:r>
              <a:rPr sz="1500" b="1" i="0">
                <a:solidFill>
                  <a:srgbClr val="21295C"/>
                </a:solidFill>
                <a:latin typeface="Arial"/>
              </a:rPr>
              <a:t>один и тот же инструмент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9" name="TextBox 8"/>
          <p:cNvSpPr txBox="1"/>
          <p:nvPr/>
        </p:nvSpPr>
        <p:spPr>
          <a:xfrm>
            <a:off x="704088" y="3217513"/>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в палате и лист наблюдения</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Палата, обход по расписанию. Дежурная смена снимает руками и прибором несколько величин — дыхание, пульс, давление, температуру — и сравнивает с нормой.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Каждое измерение уходит в лист наблюдения. Он — единственное, что видит следующая смена, врач на обходе и разбор случая при осложнении.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решают на этом шаге: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Шкала раннего предупреждения</a:t>
            </a:r>
          </a:p>
        </p:txBody>
      </p:sp>
      <p:sp>
        <p:nvSpPr>
          <p:cNvPr id="4" name="Rounded Rectangle 3"/>
          <p:cNvSpPr/>
          <p:nvPr/>
        </p:nvSpPr>
        <p:spPr>
          <a:xfrm>
            <a:off x="502920"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50259"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347"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Каждая измеренная величина получает баллы по тому, насколько она отклонилась от нормы. Баллы складываются. Сумма сравнивается с порогом. Порог назначает действие: участить наблюдение, вызвать старшего, вызвать бригаду.</a:t>
            </a:r>
          </a:p>
          <a:p>
            <a:pPr algn="l">
              <a:lnSpc>
                <a:spcPct val="126000"/>
              </a:lnSpc>
              <a:spcBef>
                <a:spcPts val="700"/>
              </a:spcBef>
            </a:pPr>
            <a:r>
              <a:rPr sz="1500" b="0" i="0">
                <a:solidFill>
                  <a:srgbClr val="21295C"/>
                </a:solidFill>
                <a:latin typeface="Arial"/>
              </a:rPr>
              <a:t/>
            </a:r>
            <a:r>
              <a:rPr sz="1500" b="0" i="0">
                <a:solidFill>
                  <a:srgbClr val="21295C"/>
                </a:solidFill>
                <a:latin typeface="Arial"/>
              </a:rPr>
              <a:t>Отличие от модели: </a:t>
            </a:r>
            <a:r>
              <a:rPr sz="1500" b="1" i="0">
                <a:solidFill>
                  <a:srgbClr val="21295C"/>
                </a:solidFill>
                <a:latin typeface="Arial"/>
              </a:rPr>
              <a:t>веса здесь назначены людьми и опубликованы.</a:t>
            </a:r>
            <a:r>
              <a:rPr sz="1500" b="0" i="0">
                <a:solidFill>
                  <a:srgbClr val="21295C"/>
                </a:solidFill>
                <a:latin typeface="Arial"/>
              </a:rPr>
              <a:t> Любой может посмотреть, почему балл такой.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Пропустить ухудшение.</a:t>
            </a:r>
            <a:r>
              <a:rPr sz="15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Поднять ложную тревогу.</a:t>
            </a:r>
            <a:r>
              <a:rPr sz="15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ошибки платит одна и та же дежурная смена.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раннего предупреждения</a:t>
            </a:r>
          </a:p>
        </p:txBody>
      </p:sp>
      <p:sp>
        <p:nvSpPr>
          <p:cNvPr id="4" name="Rounded Rectangle 3"/>
          <p:cNvSpPr/>
          <p:nvPr/>
        </p:nvSpPr>
        <p:spPr>
          <a:xfrm>
            <a:off x="502920" y="1335024"/>
            <a:ext cx="3618890" cy="2419383"/>
          </a:xfrm>
          <a:prstGeom prst="roundRect">
            <a:avLst>
              <a:gd name="adj" fmla="val 1259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по первой · 0,83–0,86 по второй</a:t>
            </a:r>
          </a:p>
        </p:txBody>
      </p:sp>
      <p:sp>
        <p:nvSpPr>
          <p:cNvPr id="7" name="TextBox 6"/>
          <p:cNvSpPr txBox="1"/>
          <p:nvPr/>
        </p:nvSpPr>
        <p:spPr>
          <a:xfrm>
            <a:off x="640080" y="2508219"/>
            <a:ext cx="3344570"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первое — качество, сообщённое разработчиком по первой версии, второе — заявление по второй версии по трём своим площадкам; это не одно число, и оно менялось от версии к версии. Совпадение 0,83 на границе двух заявлений — совпадение: полосы «0,76–0,86» не существует</a:t>
            </a:r>
          </a:p>
        </p:txBody>
      </p:sp>
      <p:sp>
        <p:nvSpPr>
          <p:cNvPr id="8" name="Rounded Rectangle 7"/>
          <p:cNvSpPr/>
          <p:nvPr/>
        </p:nvSpPr>
        <p:spPr>
          <a:xfrm>
            <a:off x="4286402" y="1335024"/>
            <a:ext cx="3618890" cy="2419383"/>
          </a:xfrm>
          <a:prstGeom prst="roundRect">
            <a:avLst>
              <a:gd name="adj" fmla="val 1259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419383"/>
          </a:xfrm>
          <a:prstGeom prst="roundRect">
            <a:avLst>
              <a:gd name="adj" fmla="val 1259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845847"/>
            <a:ext cx="11441887" cy="2390360"/>
          </a:xfrm>
          <a:prstGeom prst="roundRect">
            <a:avLst>
              <a:gd name="adj" fmla="val 12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937287"/>
            <a:ext cx="11112703" cy="2298920"/>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470" b="0" i="0">
                <a:solidFill>
                  <a:srgbClr val="21295C"/>
                </a:solidFill>
                <a:latin typeface="Arial"/>
              </a:rPr>
              <a:t/>
            </a:r>
            <a:r>
              <a:rPr sz="1470" b="1" i="0">
                <a:solidFill>
                  <a:srgbClr val="21295C"/>
                </a:solidFill>
                <a:latin typeface="Arial"/>
              </a:rPr>
              <a:t>Заявлено разработчиком:</a:t>
            </a:r>
            <a:r>
              <a:rPr sz="1470" b="0" i="0">
                <a:solidFill>
                  <a:srgbClr val="21295C"/>
                </a:solidFill>
                <a:latin typeface="Arial"/>
              </a:rPr>
              <a:t> 0,76–0,83 по первой версии, 0,83–0,86 по второй. </a:t>
            </a:r>
            <a:r>
              <a:rPr sz="1470" b="1" i="0">
                <a:solidFill>
                  <a:srgbClr val="21295C"/>
                </a:solidFill>
                <a:latin typeface="Arial"/>
              </a:rPr>
              <a:t>Измерено независимой проверкой первой версии:</a:t>
            </a:r>
            <a:r>
              <a:rPr sz="1470" b="0" i="0">
                <a:solidFill>
                  <a:srgbClr val="21295C"/>
                </a:solidFill>
                <a:latin typeface="Arial"/>
              </a:rPr>
              <a:t> 0,63. </a:t>
            </a:r>
            <a:r>
              <a:rPr sz="1470" b="1" i="0">
                <a:solidFill>
                  <a:srgbClr val="21295C"/>
                </a:solidFill>
                <a:latin typeface="Arial"/>
              </a:rPr>
              <a:t>Поймано</a:t>
            </a:r>
            <a:r>
              <a:rPr sz="1470" b="0" i="0">
                <a:solidFill>
                  <a:srgbClr val="21295C"/>
                </a:solidFill>
                <a:latin typeface="Arial"/>
              </a:rPr>
              <a:t> 33 случая сепсиса из ста — не выявлено 1 709 из 2 552.</a:t>
            </a:r>
          </a:p>
          <a:p>
            <a:pPr algn="l">
              <a:lnSpc>
                <a:spcPct val="126000"/>
              </a:lnSpc>
              <a:spcBef>
                <a:spcPts val="700"/>
              </a:spcBef>
            </a:pPr>
            <a:r>
              <a:rPr sz="1470" b="0" i="0">
                <a:solidFill>
                  <a:srgbClr val="21295C"/>
                </a:solidFill>
                <a:latin typeface="Arial"/>
              </a:rPr>
              <a:t/>
            </a:r>
            <a:r>
              <a:rPr sz="1470" b="0" i="0">
                <a:solidFill>
                  <a:srgbClr val="21295C"/>
                </a:solidFill>
                <a:latin typeface="Arial"/>
              </a:rPr>
              <a:t>Класс модели — штрафованная логистическая регрессия: обученная статистика, а не глубокая сеть.</a:t>
            </a:r>
          </a:p>
          <a:p>
            <a:pPr algn="l">
              <a:lnSpc>
                <a:spcPct val="126000"/>
              </a:lnSpc>
              <a:spcBef>
                <a:spcPts val="700"/>
              </a:spcBef>
            </a:pPr>
            <a:r>
              <a:rPr sz="1180" b="0" i="0">
                <a:solidFill>
                  <a:srgbClr val="21295C"/>
                </a:solidFill>
                <a:latin typeface="Arial"/>
              </a:rPr>
              <a:t/>
            </a:r>
            <a:r>
              <a:rPr sz="1180" b="0" i="1">
                <a:solidFill>
                  <a:srgbClr val="1C7293"/>
                </a:solidFill>
                <a:latin typeface="Arial"/>
              </a:rPr>
              <a:t>Режим: предиктивный модуль внутри самой медицинской карты. Чем это делают сегодня: модель сепсиса у Epic (действующая версия — решающие деревья с градиентным бустингом, с донастройкой на историю своей больницы); у второго крупного поставщика карты — та же схема на моделях облачного партнёра; в России — Webiomed. Чего режим не умеет: переносить качество между населениями; замолкать, когда картина населения меняется.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62375"/>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41101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723870"/>
            <a:ext cx="11441887" cy="2512337"/>
          </a:xfrm>
          <a:prstGeom prst="roundRect">
            <a:avLst>
              <a:gd name="adj" fmla="val 12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 y="3815310"/>
            <a:ext cx="11112703" cy="24208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Вторая проверка, другие авторы, другие больницы: 145 885 обращений двух приёмных отделений. Поймано </a:t>
            </a:r>
            <a:r>
              <a:rPr sz="1440" b="1" i="0">
                <a:solidFill>
                  <a:srgbClr val="21295C"/>
                </a:solidFill>
                <a:latin typeface="Arial"/>
              </a:rPr>
              <a:t>14,7 случая сепсиса из ста</a:t>
            </a:r>
            <a:r>
              <a:rPr sz="1440" b="0" i="0">
                <a:solidFill>
                  <a:srgbClr val="21295C"/>
                </a:solidFill>
                <a:latin typeface="Arial"/>
              </a:rPr>
              <a:t>. Срабатывание — </a:t>
            </a:r>
            <a:r>
              <a:rPr sz="1440" b="1" i="0">
                <a:solidFill>
                  <a:srgbClr val="21295C"/>
                </a:solidFill>
                <a:latin typeface="Arial"/>
              </a:rPr>
              <a:t>4,9 обращения из ста</a:t>
            </a:r>
            <a:r>
              <a:rPr sz="1440" b="0" i="0">
                <a:solidFill>
                  <a:srgbClr val="21295C"/>
                </a:solidFill>
                <a:latin typeface="Arial"/>
              </a:rPr>
              <a:t>. Медианное опережение клинического решения — </a:t>
            </a:r>
            <a:r>
              <a:rPr sz="1440" b="1" i="0">
                <a:solidFill>
                  <a:srgbClr val="21295C"/>
                </a:solidFill>
                <a:latin typeface="Arial"/>
              </a:rPr>
              <a:t>ноль минут</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Действующую версию модели проверили отдельно, многоцентрово и проспективно: различение </a:t>
            </a:r>
            <a:r>
              <a:rPr sz="1440" b="1" i="0">
                <a:solidFill>
                  <a:srgbClr val="21295C"/>
                </a:solidFill>
                <a:latin typeface="Arial"/>
              </a:rPr>
              <a:t>от 0,82 до 0,92</a:t>
            </a:r>
            <a:r>
              <a:rPr sz="1440" b="0" i="0">
                <a:solidFill>
                  <a:srgbClr val="21295C"/>
                </a:solidFill>
                <a:latin typeface="Arial"/>
              </a:rPr>
              <a:t>, прогностическая ценность </a:t>
            </a:r>
            <a:r>
              <a:rPr sz="1440" b="1" i="0">
                <a:solidFill>
                  <a:srgbClr val="21295C"/>
                </a:solidFill>
                <a:latin typeface="Arial"/>
              </a:rPr>
              <a:t>от 0,13 до 0,26</a:t>
            </a:r>
            <a:r>
              <a:rPr sz="144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Пара на тревогах: дало, потребовало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наблюдение за состоянием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модель считает балл риска непрерывно и там, где дежурная смена успевает складывать его раз в несколько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она не вышла за полосу подтверждения заменённой шкалы: больше тревог не значит больше пойманных случаев.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нагрузка выросла на том же месте, и появился шаг — разбор и отклонение потока, за которым теперь нужен штат.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запись об этом решении читает кто-то, кто пациента не видел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встретится ещё раз в разделе о ведении записи: это повторение формы на разном материале, не новое наблюдение.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Автоматическая запись приёма</a:t>
            </a:r>
            <a:r>
              <a:rPr sz="1550" b="0" i="0">
                <a:solidFill>
                  <a:srgbClr val="21295C"/>
                </a:solidFill>
                <a:latin typeface="Arial"/>
              </a:rPr>
              <a:t> · </a:t>
            </a:r>
            <a:r>
              <a:rPr sz="1550" b="1" i="0">
                <a:solidFill>
                  <a:srgbClr val="21295C"/>
                </a:solidFill>
                <a:latin typeface="Arial"/>
              </a:rPr>
              <a:t>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Автоматическая запись приёма</a:t>
            </a:r>
          </a:p>
        </p:txBody>
      </p:sp>
      <p:sp>
        <p:nvSpPr>
          <p:cNvPr id="4" name="Rounded Rectangle 3"/>
          <p:cNvSpPr/>
          <p:nvPr/>
        </p:nvSpPr>
        <p:spPr>
          <a:xfrm>
            <a:off x="502920"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080" b="0" i="0">
                <a:solidFill>
                  <a:srgbClr val="21295C"/>
                </a:solidFill>
                <a:latin typeface="Arial"/>
              </a:rPr>
              <a:t/>
            </a:r>
            <a:r>
              <a:rPr sz="1080" b="0" i="1">
                <a:solidFill>
                  <a:srgbClr val="1C7293"/>
                </a:solidFill>
                <a:latin typeface="Arial"/>
              </a:rPr>
              <a:t>Режим: амбиентная запись приёма — голосом в текст. Чем это делают сегодня: Abridge и Ambience в крупных системах, Microsoft Dragon Copilot (прежний Nuance DAX), Nabla и Suki в среднем сегменте. Чего режим не умеет: снять обязанность вычитки; сократить активное время правки.</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дорожки: набор текста и вычитка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73546"/>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02536"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23963"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7705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3249"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3963"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677"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8055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4507986"/>
            <a:ext cx="9603943"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502919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42048"/>
            <a:ext cx="11441887" cy="894159"/>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5433488"/>
            <a:ext cx="11112703" cy="8027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350" b="0" i="0">
                <a:solidFill>
                  <a:srgbClr val="21295C"/>
                </a:solidFill>
                <a:latin typeface="Arial"/>
              </a:rPr>
              <a:t/>
            </a:r>
            <a:r>
              <a:rPr sz="1350" b="0" i="0">
                <a:solidFill>
                  <a:srgbClr val="21295C"/>
                </a:solidFill>
                <a:latin typeface="Arial"/>
              </a:rPr>
              <a:t>Нагрузка переехала с набора на вычитку, и рядом появился шаг, которого не было.</a:t>
            </a:r>
          </a:p>
          <a:p>
            <a:pPr algn="l">
              <a:lnSpc>
                <a:spcPct val="126000"/>
              </a:lnSpc>
              <a:spcBef>
                <a:spcPts val="700"/>
              </a:spcBef>
            </a:pPr>
            <a:r>
              <a:rPr sz="1350" b="0" i="0">
                <a:solidFill>
                  <a:srgbClr val="21295C"/>
                </a:solidFill>
                <a:latin typeface="Arial"/>
              </a:rPr>
              <a:t/>
            </a:r>
            <a:r>
              <a:rPr sz="135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Выписной эпикриз</a:t>
            </a:r>
          </a:p>
        </p:txBody>
      </p:sp>
      <p:sp>
        <p:nvSpPr>
          <p:cNvPr id="4" name="Rounded Rectangle 3"/>
          <p:cNvSpPr/>
          <p:nvPr/>
        </p:nvSpPr>
        <p:spPr>
          <a:xfrm>
            <a:off x="502920"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863689"/>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4,13 → 3,72 по пятибалльной шкале</a:t>
            </a:r>
          </a:p>
        </p:txBody>
      </p:sp>
      <p:sp>
        <p:nvSpPr>
          <p:cNvPr id="7" name="TextBox 6"/>
          <p:cNvSpPr txBox="1"/>
          <p:nvPr/>
        </p:nvSpPr>
        <p:spPr>
          <a:xfrm>
            <a:off x="640080" y="2477412"/>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слепая дублированная оценка 22 рецензентов на 100 госпитализациях</a:t>
            </a:r>
          </a:p>
        </p:txBody>
      </p:sp>
      <p:sp>
        <p:nvSpPr>
          <p:cNvPr id="8" name="Rounded Rectangle 7"/>
          <p:cNvSpPr/>
          <p:nvPr/>
        </p:nvSpPr>
        <p:spPr>
          <a:xfrm>
            <a:off x="3340531"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потенциальный вред одной ошибки у человека и у модели не различается</a:t>
            </a:r>
          </a:p>
        </p:txBody>
      </p:sp>
      <p:sp>
        <p:nvSpPr>
          <p:cNvPr id="12" name="Rounded Rectangle 11"/>
          <p:cNvSpPr/>
          <p:nvPr/>
        </p:nvSpPr>
        <p:spPr>
          <a:xfrm>
            <a:off x="6178143" y="1335024"/>
            <a:ext cx="2673019" cy="1669971"/>
          </a:xfrm>
          <a:prstGeom prst="roundRect">
            <a:avLst>
              <a:gd name="adj" fmla="val 1825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a:t>
            </a:r>
          </a:p>
        </p:txBody>
      </p:sp>
      <p:sp>
        <p:nvSpPr>
          <p:cNvPr id="14" name="TextBox 13"/>
          <p:cNvSpPr txBox="1"/>
          <p:nvPr/>
        </p:nvSpPr>
        <p:spPr>
          <a:xfrm>
            <a:off x="6315303" y="1863689"/>
            <a:ext cx="2398699" cy="1004146"/>
          </a:xfrm>
          <a:prstGeom prst="rect">
            <a:avLst/>
          </a:prstGeom>
          <a:noFill/>
        </p:spPr>
        <p:txBody>
          <a:bodyPr wrap="square" lIns="0" rIns="0" tIns="0" bIns="0" anchor="t">
            <a:spAutoFit/>
          </a:bodyPr>
          <a:lstStyle/>
          <a:p>
            <a:pPr algn="l">
              <a:lnSpc>
                <a:spcPct val="108000"/>
              </a:lnSpc>
            </a:pPr>
            <a:r>
              <a:rPr sz="1900" b="1" i="0">
                <a:solidFill>
                  <a:srgbClr val="F0AB00"/>
                </a:solidFill>
                <a:latin typeface="Arial"/>
              </a:rPr>
              <a:t>у человека и у модели совпадает, обе оценки низкие</a:t>
            </a:r>
          </a:p>
        </p:txBody>
      </p:sp>
      <p:sp>
        <p:nvSpPr>
          <p:cNvPr id="15" name="Rounded Rectangle 14"/>
          <p:cNvSpPr/>
          <p:nvPr/>
        </p:nvSpPr>
        <p:spPr>
          <a:xfrm>
            <a:off x="9015755"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построчно не найдена ни в одной из трёх открытых работ</a:t>
            </a:r>
          </a:p>
        </p:txBody>
      </p:sp>
      <p:sp>
        <p:nvSpPr>
          <p:cNvPr id="18" name="Rounded Rectangle 17"/>
          <p:cNvSpPr/>
          <p:nvPr/>
        </p:nvSpPr>
        <p:spPr>
          <a:xfrm>
            <a:off x="374904" y="3096435"/>
            <a:ext cx="11441887" cy="3139772"/>
          </a:xfrm>
          <a:prstGeom prst="roundRect">
            <a:avLst>
              <a:gd name="adj" fmla="val 97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187875"/>
            <a:ext cx="11112703" cy="304833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Модель собирает выписной документ по истории болезни; врач вычитывает и подписывает; документ читает следующий врач и назначает по нему.</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Дало</a:t>
            </a:r>
            <a:r>
              <a:rPr sz="1200" b="0" i="0">
                <a:solidFill>
                  <a:srgbClr val="21295C"/>
                </a:solidFill>
                <a:latin typeface="Arial"/>
              </a:rPr>
              <a:t> — документ готов раньше, короче и связнее. </a:t>
            </a:r>
            <a:r>
              <a:rPr sz="1200" b="1" i="0">
                <a:solidFill>
                  <a:srgbClr val="21295C"/>
                </a:solidFill>
                <a:latin typeface="Arial"/>
              </a:rPr>
              <a:t>Потребовало</a:t>
            </a:r>
            <a:r>
              <a:rPr sz="1200" b="0" i="0">
                <a:solidFill>
                  <a:srgbClr val="21295C"/>
                </a:solidFill>
                <a:latin typeface="Arial"/>
              </a:rPr>
              <a:t> — полноты и вычитки другого рода. </a:t>
            </a:r>
            <a:r>
              <a:rPr sz="1200" b="1" i="0">
                <a:solidFill>
                  <a:srgbClr val="21295C"/>
                </a:solidFill>
                <a:latin typeface="Arial"/>
              </a:rPr>
              <a:t>В сумме</a:t>
            </a:r>
            <a:r>
              <a:rPr sz="1200" b="0" i="0">
                <a:solidFill>
                  <a:srgbClr val="21295C"/>
                </a:solidFill>
                <a:latin typeface="Arial"/>
              </a:rPr>
              <a:t> — потенциал вреда одной ошибки тот же, ошибок больше, документ менее полон.</a:t>
            </a:r>
          </a:p>
          <a:p>
            <a:pPr algn="l">
              <a:lnSpc>
                <a:spcPct val="126000"/>
              </a:lnSpc>
              <a:spcBef>
                <a:spcPts val="700"/>
              </a:spcBef>
            </a:pPr>
            <a:r>
              <a:rPr sz="1200" b="0" i="0">
                <a:solidFill>
                  <a:srgbClr val="21295C"/>
                </a:solidFill>
                <a:latin typeface="Arial"/>
              </a:rPr>
              <a:t/>
            </a:r>
            <a:r>
              <a:rPr sz="1200" b="1" i="0">
                <a:solidFill>
                  <a:srgbClr val="21295C"/>
                </a:solidFill>
                <a:latin typeface="Arial"/>
              </a:rPr>
              <a:t>А теперь то, что по этому случаю чаще всего и пересказывают.</a:t>
            </a:r>
            <a:r>
              <a:rPr sz="1200" b="0" i="0">
                <a:solidFill>
                  <a:srgbClr val="21295C"/>
                </a:solidFill>
                <a:latin typeface="Arial"/>
              </a:rPr>
              <a:t> В обзорах и в журналистских пересказах ходит тройка: потенциально вредные проблемы в части машинных эпикризов, добавленный несуществующий препарат, расхождение с потенциалом необратимого вреда — три аккуратных числа со ссылкой на «исследование ста эпикризов».</a:t>
            </a:r>
          </a:p>
          <a:p>
            <a:pPr algn="l">
              <a:lnSpc>
                <a:spcPct val="126000"/>
              </a:lnSpc>
              <a:spcBef>
                <a:spcPts val="700"/>
              </a:spcBef>
            </a:pPr>
            <a:r>
              <a:rPr sz="1200" b="0" i="0">
                <a:solidFill>
                  <a:srgbClr val="21295C"/>
                </a:solidFill>
                <a:latin typeface="Arial"/>
              </a:rPr>
              <a:t/>
            </a:r>
            <a:r>
              <a:rPr sz="1200" b="1" i="0">
                <a:solidFill>
                  <a:srgbClr val="21295C"/>
                </a:solidFill>
                <a:latin typeface="Arial"/>
              </a:rPr>
              <a:t>Построчное чтение трёх доступных первоисточников этой тройки не даёт.</a:t>
            </a:r>
            <a:r>
              <a:rPr sz="1200" b="0" i="0">
                <a:solidFill>
                  <a:srgbClr val="21295C"/>
                </a:solidFill>
                <a:latin typeface="Arial"/>
              </a:rPr>
              <a:t> Проспективное исследование ста сводок считает другой состав и в других определениях: пропуски, неточности, выдумки, умеренный вред — и ни одного случая тяжёлого. Слепое сравнение ста госпитализаций даёт счёт отдельных ошибок с потенциалом необратимого вреда у модели против такого же счёта у врачей.</a:t>
            </a:r>
          </a:p>
          <a:p>
            <a:pPr algn="l">
              <a:lnSpc>
                <a:spcPct val="126000"/>
              </a:lnSpc>
              <a:spcBef>
                <a:spcPts val="700"/>
              </a:spcBef>
            </a:pPr>
            <a:r>
              <a:rPr sz="1200" b="0" i="0">
                <a:solidFill>
                  <a:srgbClr val="21295C"/>
                </a:solidFill>
                <a:latin typeface="Arial"/>
              </a:rPr>
              <a:t/>
            </a:r>
            <a:r>
              <a:rPr sz="1200" b="0" i="0">
                <a:solidFill>
                  <a:srgbClr val="21295C"/>
                </a:solidFill>
                <a:latin typeface="Arial"/>
              </a:rPr>
              <a:t>Числа, которые удобно звучат, живут в пересказах дольше, чем в первоисточниках. </a:t>
            </a:r>
            <a:r>
              <a:rPr sz="1200" b="1" i="0">
                <a:solidFill>
                  <a:srgbClr val="21295C"/>
                </a:solidFill>
                <a:latin typeface="Arial"/>
              </a:rPr>
              <a:t>Разряд свидетельства у пересказа ниже, чем у исследования, даже когда числа совпадают</a:t>
            </a:r>
            <a:r>
              <a:rPr sz="1200" b="0" i="0">
                <a:solidFill>
                  <a:srgbClr val="21295C"/>
                </a:solidFill>
                <a:latin typeface="Arial"/>
              </a:rPr>
              <a:t> — а проверка одного первоисточника построчно меняет состав утверждения целиком.</a:t>
            </a:r>
          </a:p>
          <a:p>
            <a:pPr algn="l">
              <a:lnSpc>
                <a:spcPct val="126000"/>
              </a:lnSpc>
              <a:spcBef>
                <a:spcPts val="700"/>
              </a:spcBef>
            </a:pPr>
            <a:r>
              <a:rPr sz="960" b="0" i="0">
                <a:solidFill>
                  <a:srgbClr val="21295C"/>
                </a:solidFill>
                <a:latin typeface="Arial"/>
              </a:rPr>
              <a:t/>
            </a:r>
            <a:r>
              <a:rPr sz="960" b="0" i="1">
                <a:solidFill>
                  <a:srgbClr val="1C7293"/>
                </a:solidFill>
                <a:latin typeface="Arial"/>
              </a:rPr>
              <a:t>Режим: генерация клинических документов внутри карты — сводка событий госпитализации, отдельно сводка со ссылкой на место в карте-источнике. Без такой привязки режим не умеет отличить правдоподобное от записанного.</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проспективный пилот, JAMA Network Open 2026</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 — журнал с авторским взносом и минимальным рецензированием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ведение записи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заметка и выписной документ готовы быстрее, короче и связнее прежнего.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вычитка не исчезла, она сменила предмет: искать теперь надо не опечатку, а правдоподобную подробность, которой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набор текста переехал на вычитку, а у вычитки появился собственный штат; документ, по которому назначают, стал менее полным.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эпикриз и есть документ, под которым стоит подпись.</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повторилась здесь на другом материале — так же, как в наблюдении за состоянием.</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разбирал запись — эпикриз, который кто-то вычитывает и подписывает. Этот раздел про саму подпись: что она значит, кто проверяет, что подписавший ещё способен возразить машине, и что происходит, когда программа меняется уже после того, как её допустили к продаже.</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1 обзор надзора после допуска</a:t>
            </a:r>
          </a:p>
        </p:txBody>
      </p:sp>
      <p:sp>
        <p:nvSpPr>
          <p:cNvPr id="9" name="TextBox 8"/>
          <p:cNvSpPr txBox="1"/>
          <p:nvPr/>
        </p:nvSpPr>
        <p:spPr>
          <a:xfrm>
            <a:off x="704088" y="3848787"/>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разбор </a:t>
            </a:r>
            <a:r>
              <a:rPr sz="1550" b="1" i="0">
                <a:solidFill>
                  <a:srgbClr val="21295C"/>
                </a:solidFill>
                <a:latin typeface="Arial"/>
              </a:rPr>
              <a:t>«Норма есть, проверки нет»</a:t>
            </a:r>
            <a:r>
              <a:rPr sz="1550" b="0" i="0">
                <a:solidFill>
                  <a:srgbClr val="21295C"/>
                </a:solidFill>
                <a:latin typeface="Arial"/>
              </a:rPr>
              <a:t> — требование оставить человека финальным звеном проверили на практике у считаных устройств из сотен допущенных. И обзор </a:t>
            </a:r>
            <a:r>
              <a:rPr sz="1550" b="1" i="0">
                <a:solidFill>
                  <a:srgbClr val="21295C"/>
                </a:solidFill>
                <a:latin typeface="Arial"/>
              </a:rPr>
              <a:t>«Модель, которая меняется после допуска»</a:t>
            </a:r>
            <a:r>
              <a:rPr sz="1550" b="0" i="0">
                <a:solidFill>
                  <a:srgbClr val="21295C"/>
                </a:solidFill>
                <a:latin typeface="Arial"/>
              </a:rPr>
              <a:t> — что регулятор требует от программы, которая продолжает обучаться уже на рынке.</a:t>
            </a:r>
          </a:p>
        </p:txBody>
      </p:sp>
      <p:sp>
        <p:nvSpPr>
          <p:cNvPr id="10" name="TextBox 9"/>
          <p:cNvSpPr txBox="1"/>
          <p:nvPr/>
        </p:nvSpPr>
        <p:spPr>
          <a:xfrm>
            <a:off x="704088" y="4919652"/>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и один случай: врачебная комиссия</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81260"/>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На столе</a:t>
            </a:r>
          </a:p>
        </p:txBody>
      </p:sp>
      <p:sp>
        <p:nvSpPr>
          <p:cNvPr id="17" name="Rounded Rectangle 16"/>
          <p:cNvSpPr/>
          <p:nvPr/>
        </p:nvSpPr>
        <p:spPr>
          <a:xfrm>
            <a:off x="1920240"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30953"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3249"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41667"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3963"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452381"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34677"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1153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28182"/>
            <a:ext cx="11441887" cy="2808025"/>
          </a:xfrm>
          <a:prstGeom prst="roundRect">
            <a:avLst>
              <a:gd name="adj" fmla="val 108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9496" y="3519622"/>
            <a:ext cx="11112703" cy="2716585"/>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Четверг, кабинет заместителя главного врача. Комиссия разбирает один случай: пациентка шестидесяти восьми лет, госпитализирована с болью в животе, выписана через четыре дня, вернулась через сутки с осложнением.</a:t>
            </a:r>
          </a:p>
          <a:p>
            <a:pPr algn="l">
              <a:lnSpc>
                <a:spcPct val="126000"/>
              </a:lnSpc>
              <a:spcBef>
                <a:spcPts val="700"/>
              </a:spcBef>
            </a:pPr>
            <a:r>
              <a:rPr sz="1380" b="0" i="0">
                <a:solidFill>
                  <a:srgbClr val="21295C"/>
                </a:solidFill>
                <a:latin typeface="Arial"/>
              </a:rPr>
              <a:t/>
            </a:r>
            <a:r>
              <a:rPr sz="1380" b="1" i="0">
                <a:solidFill>
                  <a:srgbClr val="21295C"/>
                </a:solidFill>
                <a:latin typeface="Arial"/>
              </a:rPr>
              <a:t>Кто сидит за столом.</a:t>
            </a:r>
            <a:r>
              <a:rPr sz="1380" b="0" i="0">
                <a:solidFill>
                  <a:srgbClr val="21295C"/>
                </a:solidFill>
                <a:latin typeface="Arial"/>
              </a:rPr>
              <a:t> Председатель — заместитель главного врача. Заведующий отделением. Двое врачей той же специальности из другого отделения — с лечащим они не работают вместе. Эксперт по качеству медицинской помощи. Секретарь, ведущий протокол.</a:t>
            </a:r>
          </a:p>
          <a:p>
            <a:pPr algn="l">
              <a:lnSpc>
                <a:spcPct val="126000"/>
              </a:lnSpc>
              <a:spcBef>
                <a:spcPts val="700"/>
              </a:spcBef>
            </a:pPr>
            <a:r>
              <a:rPr sz="1380" b="0" i="0">
                <a:solidFill>
                  <a:srgbClr val="21295C"/>
                </a:solidFill>
                <a:latin typeface="Arial"/>
              </a:rPr>
              <a:t/>
            </a:r>
            <a:r>
              <a:rPr sz="1380" b="1" i="0">
                <a:solidFill>
                  <a:srgbClr val="21295C"/>
                </a:solidFill>
                <a:latin typeface="Arial"/>
              </a:rPr>
              <a:t>Что лежит на столе.</a:t>
            </a:r>
            <a:r>
              <a:rPr sz="1380" b="0" i="0">
                <a:solidFill>
                  <a:srgbClr val="21295C"/>
                </a:solidFill>
                <a:latin typeface="Arial"/>
              </a:rPr>
              <a:t> Карта со всеми заключениями и подписями. Протоколы исследований. Распечатка того, что показала модель, и отметка, в какой момент она это показала. Утверждённый порядок оказания помощи и клинические рекомендации.</a:t>
            </a:r>
          </a:p>
          <a:p>
            <a:pPr algn="l">
              <a:lnSpc>
                <a:spcPct val="126000"/>
              </a:lnSpc>
              <a:spcBef>
                <a:spcPts val="700"/>
              </a:spcBef>
            </a:pPr>
            <a:r>
              <a:rPr sz="1380" b="0" i="0">
                <a:solidFill>
                  <a:srgbClr val="21295C"/>
                </a:solidFill>
                <a:latin typeface="Arial"/>
              </a:rPr>
              <a:t/>
            </a:r>
            <a:r>
              <a:rPr sz="1380" b="1" i="0">
                <a:solidFill>
                  <a:srgbClr val="21295C"/>
                </a:solidFill>
                <a:latin typeface="Arial"/>
              </a:rPr>
              <a:t>Какой вопрос решают.</a:t>
            </a:r>
            <a:r>
              <a:rPr sz="1380" b="0" i="0">
                <a:solidFill>
                  <a:srgbClr val="21295C"/>
                </a:solidFill>
                <a:latin typeface="Arial"/>
              </a:rPr>
              <a:t> Один: соответствовали ли действия врача утверждённым порядкам, стандартам и рекомендациям.</a:t>
            </a:r>
          </a:p>
          <a:p>
            <a:pPr algn="l">
              <a:lnSpc>
                <a:spcPct val="126000"/>
              </a:lnSpc>
              <a:spcBef>
                <a:spcPts val="700"/>
              </a:spcBef>
            </a:pPr>
            <a:r>
              <a:rPr sz="1380" b="0" i="0">
                <a:solidFill>
                  <a:srgbClr val="21295C"/>
                </a:solidFill>
                <a:latin typeface="Arial"/>
              </a:rPr>
              <a:t/>
            </a:r>
            <a:r>
              <a:rPr sz="1380" b="0" i="0">
                <a:solidFill>
                  <a:srgbClr val="21295C"/>
                </a:solidFill>
                <a:latin typeface="Arial"/>
              </a:rPr>
              <a:t>Вопроса «пользовался ли он моделью» в этом списке нет.</a:t>
            </a:r>
          </a:p>
          <a:p>
            <a:pPr algn="l">
              <a:lnSpc>
                <a:spcPct val="126000"/>
              </a:lnSpc>
              <a:spcBef>
                <a:spcPts val="700"/>
              </a:spcBef>
            </a:pPr>
            <a:r>
              <a:rPr sz="1100" b="0" i="0">
                <a:solidFill>
                  <a:srgbClr val="21295C"/>
                </a:solidFill>
                <a:latin typeface="Arial"/>
              </a:rPr>
              <a:t/>
            </a:r>
            <a:r>
              <a:rPr sz="110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1" name="Rectangle 3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шага процедуры: разбор случая и склонность доверять автомату</a:t>
            </a:r>
          </a:p>
        </p:txBody>
      </p:sp>
      <p:sp>
        <p:nvSpPr>
          <p:cNvPr id="4" name="Rounded Rectangle 3"/>
          <p:cNvSpPr/>
          <p:nvPr/>
        </p:nvSpPr>
        <p:spPr>
          <a:xfrm>
            <a:off x="502920" y="1335024"/>
            <a:ext cx="3618890"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девять пунктов посчитаны против ОДНОГО читателя: второе мнение второго человека в опыте названо и не посчитано</a:t>
            </a:r>
          </a:p>
        </p:txBody>
      </p:sp>
      <p:sp>
        <p:nvSpPr>
          <p:cNvPr id="8" name="Rounded Rectangle 7"/>
          <p:cNvSpPr/>
          <p:nvPr/>
        </p:nvSpPr>
        <p:spPr>
          <a:xfrm>
            <a:off x="4286402"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знак итогового эффекта неизвестен</a:t>
            </a:r>
          </a:p>
        </p:txBody>
      </p:sp>
      <p:sp>
        <p:nvSpPr>
          <p:cNvPr id="16" name="TextBox 15"/>
          <p:cNvSpPr txBox="1"/>
          <p:nvPr/>
        </p:nvSpPr>
        <p:spPr>
          <a:xfrm>
            <a:off x="502920" y="3232052"/>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Процедура</a:t>
            </a:r>
          </a:p>
        </p:txBody>
      </p:sp>
      <p:sp>
        <p:nvSpPr>
          <p:cNvPr id="17" name="Rounded Rectangle 16"/>
          <p:cNvSpPr/>
          <p:nvPr/>
        </p:nvSpPr>
        <p:spPr>
          <a:xfrm>
            <a:off x="1920240"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33720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41667"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3963"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78069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093546"/>
            <a:ext cx="11441887" cy="2142661"/>
          </a:xfrm>
          <a:prstGeom prst="roundRect">
            <a:avLst>
              <a:gd name="adj" fmla="val 142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 y="4184986"/>
            <a:ext cx="11112703" cy="205122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Независимое второе мнение и арбитраж — третий шаг этой же процедуры, разобранный ранее.</a:t>
            </a:r>
          </a:p>
          <a:p>
            <a:pPr algn="l">
              <a:lnSpc>
                <a:spcPct val="126000"/>
              </a:lnSpc>
              <a:spcBef>
                <a:spcPts val="700"/>
              </a:spcBef>
            </a:pPr>
            <a:r>
              <a:rPr sz="1200" b="0" i="0">
                <a:solidFill>
                  <a:srgbClr val="21295C"/>
                </a:solidFill>
                <a:latin typeface="Arial"/>
              </a:rPr>
              <a:t/>
            </a:r>
            <a:r>
              <a:rPr sz="1200" b="0" i="1">
                <a:solidFill>
                  <a:srgbClr val="21295C"/>
                </a:solidFill>
                <a:latin typeface="Arial"/>
              </a:rPr>
              <a:t>Упоминание.</a:t>
            </a:r>
            <a:r>
              <a:rPr sz="1200" b="0" i="0">
                <a:solidFill>
                  <a:srgbClr val="21295C"/>
                </a:solidFill>
                <a:latin typeface="Arial"/>
              </a:rPr>
              <a:t> Алгоритмическое планирование смен медсестёр: время на составление графика сократилось на </a:t>
            </a:r>
            <a:r>
              <a:rPr sz="1200" b="1" i="0">
                <a:solidFill>
                  <a:srgbClr val="21295C"/>
                </a:solidFill>
                <a:latin typeface="Arial"/>
              </a:rPr>
              <a:t>81,2 процента</a:t>
            </a:r>
            <a:r>
              <a:rPr sz="1200" b="0" i="0">
                <a:solidFill>
                  <a:srgbClr val="21295C"/>
                </a:solidFill>
                <a:latin typeface="Arial"/>
              </a:rPr>
              <a:t> — с 32,0 до 6,0 часа в месяц. Это не обученная модель, а задача комбинаторной оптимизации с ограничениями, и формы словаря случай поэтому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Склонность доверять автомату.</a:t>
            </a:r>
            <a:r>
              <a:rPr sz="1200" b="0" i="0">
                <a:solidFill>
                  <a:srgbClr val="21295C"/>
                </a:solidFill>
                <a:latin typeface="Arial"/>
              </a:rPr>
              <a:t> С моделью точность выше на девять пунктов — и почти половина оставшихся ошибок связана именно со склонностью доверять автомату, на всех уровнях квалификации. Выигрыш и вред идут из одного места.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Предложенное лекарство — скрывать подсказку там, где она чаще ошибается — </a:t>
            </a:r>
            <a:r>
              <a:rPr sz="1200" b="1" i="0">
                <a:solidFill>
                  <a:srgbClr val="21295C"/>
                </a:solidFill>
                <a:latin typeface="Arial"/>
              </a:rPr>
              <a:t>оценено расчётом, а не измерено</a:t>
            </a:r>
            <a:r>
              <a:rPr sz="1200" b="0" i="0">
                <a:solidFill>
                  <a:srgbClr val="21295C"/>
                </a:solidFill>
                <a:latin typeface="Arial"/>
              </a:rPr>
              <a:t>. Третьего раунда, где это проверили бы на живых врачах, не было.</a:t>
            </a:r>
          </a:p>
          <a:p>
            <a:pPr algn="l">
              <a:lnSpc>
                <a:spcPct val="126000"/>
              </a:lnSpc>
              <a:spcBef>
                <a:spcPts val="700"/>
              </a:spcBef>
            </a:pPr>
            <a:r>
              <a:rPr sz="1200" b="0" i="0">
                <a:solidFill>
                  <a:srgbClr val="21295C"/>
                </a:solidFill>
                <a:latin typeface="Arial"/>
              </a:rPr>
              <a:t/>
            </a:r>
            <a:r>
              <a:rPr sz="1200" b="0" i="0">
                <a:solidFill>
                  <a:srgbClr val="21295C"/>
                </a:solidFill>
                <a:latin typeface="Arial"/>
              </a:rPr>
              <a:t>Раскрытый конфликт интересов: часть авторов работает в компании-производителе модели или имеет на неё патент.</a:t>
            </a:r>
          </a:p>
        </p:txBody>
      </p:sp>
      <p:sp>
        <p:nvSpPr>
          <p:cNvPr id="25" name="Rectangle 24"/>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Цена обеих ошибок у подписи и счёт двойного чтения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 у подписи.</a:t>
            </a:r>
            <a:r>
              <a:rPr sz="135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350" b="0" i="0">
                <a:solidFill>
                  <a:srgbClr val="21295C"/>
                </a:solidFill>
                <a:latin typeface="Arial"/>
              </a:rPr>
              <a:t/>
            </a:r>
            <a:r>
              <a:rPr sz="1350" b="1" i="0">
                <a:solidFill>
                  <a:srgbClr val="21295C"/>
                </a:solidFill>
                <a:latin typeface="Arial"/>
              </a:rPr>
              <a:t>Счёт классического режима в двух единицах.</a:t>
            </a:r>
            <a:r>
              <a:rPr sz="1350" b="0" i="0">
                <a:solidFill>
                  <a:srgbClr val="21295C"/>
                </a:solidFill>
                <a:latin typeface="Arial"/>
              </a:rPr>
              <a:t> Первая — </a:t>
            </a:r>
            <a:r>
              <a:rPr sz="1350" b="1" i="0">
                <a:solidFill>
                  <a:srgbClr val="21295C"/>
                </a:solidFill>
                <a:latin typeface="Arial"/>
              </a:rPr>
              <a:t>чувствительность</a:t>
            </a:r>
            <a:r>
              <a:rPr sz="135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Вторая единица — минуты труда</a:t>
            </a:r>
            <a:r>
              <a:rPr sz="135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 сокращении первичных чтений вдвое объём арбитража вырос на </a:t>
            </a:r>
            <a:r>
              <a:rPr sz="1350" b="1" i="0">
                <a:solidFill>
                  <a:srgbClr val="21295C"/>
                </a:solidFill>
                <a:latin typeface="Arial"/>
              </a:rPr>
              <a:t>53 процента</a:t>
            </a:r>
            <a:r>
              <a:rPr sz="135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4565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Норма есть,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Разработчик</a:t>
            </a:r>
          </a:p>
          <a:p>
            <a:pPr algn="ctr">
              <a:lnSpc>
                <a:spcPct val="112000"/>
              </a:lnSpc>
            </a:pPr>
            <a:r>
              <a:rPr sz="115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1825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Врач</a:t>
            </a:r>
          </a:p>
          <a:p>
            <a:pPr algn="ctr">
              <a:lnSpc>
                <a:spcPct val="112000"/>
              </a:lnSpc>
            </a:pPr>
            <a:r>
              <a:rPr sz="115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5129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Больница</a:t>
            </a:r>
          </a:p>
          <a:p>
            <a:pPr algn="ctr">
              <a:lnSpc>
                <a:spcPct val="112000"/>
              </a:lnSpc>
            </a:pPr>
            <a:r>
              <a:rPr sz="115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8433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Регулятор</a:t>
            </a:r>
          </a:p>
          <a:p>
            <a:pPr algn="ctr">
              <a:lnSpc>
                <a:spcPct val="112000"/>
              </a:lnSpc>
            </a:pPr>
            <a:r>
              <a:rPr sz="115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73128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3044134"/>
            <a:ext cx="11441887" cy="3192073"/>
          </a:xfrm>
          <a:prstGeom prst="roundRect">
            <a:avLst>
              <a:gd name="adj" fmla="val 95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135574"/>
            <a:ext cx="11112703" cy="310063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 авторов и издание кадр не называет.</a:t>
            </a:r>
          </a:p>
        </p:txBody>
      </p:sp>
      <p:sp>
        <p:nvSpPr>
          <p:cNvPr id="15" name="Rectangle 14"/>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32639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639251"/>
            <a:ext cx="11441887" cy="3596956"/>
          </a:xfrm>
          <a:prstGeom prst="roundRect">
            <a:avLst>
              <a:gd name="adj" fmla="val 84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730691"/>
            <a:ext cx="11112703" cy="35055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удерживает то, что стоит за подписью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одна публикация, независимого повторного замера нет</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прошлой лекции</a:t>
            </a:r>
            <a:r>
              <a:rPr sz="1500" b="0" i="0">
                <a:solidFill>
                  <a:srgbClr val="21295C"/>
                </a:solidFill>
                <a:latin typeface="Arial"/>
              </a:rPr>
              <a:t> требований к системам с ИИ внутри промышленных изделий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медицине они есть.</a:t>
            </a:r>
            <a:r>
              <a:rPr sz="1500" b="0" i="0">
                <a:solidFill>
                  <a:srgbClr val="21295C"/>
                </a:solidFill>
                <a:latin typeface="Arial"/>
              </a:rPr>
              <a:t> Названы документы: класс риска, стандарты, порядок передачи данных регулятору, статья о человеческом надзоре. Названы сроки.</a:t>
            </a:r>
          </a:p>
          <a:p>
            <a:pPr algn="l">
              <a:lnSpc>
                <a:spcPct val="126000"/>
              </a:lnSpc>
              <a:spcBef>
                <a:spcPts val="700"/>
              </a:spcBef>
            </a:pPr>
            <a:r>
              <a:rPr sz="1500" b="0" i="0">
                <a:solidFill>
                  <a:srgbClr val="21295C"/>
                </a:solidFill>
                <a:latin typeface="Arial"/>
              </a:rPr>
              <a:t/>
            </a:r>
            <a:r>
              <a:rPr sz="1500" b="0" i="0">
                <a:solidFill>
                  <a:srgbClr val="21295C"/>
                </a:solidFill>
                <a:latin typeface="Arial"/>
              </a:rPr>
              <a:t>И </a:t>
            </a:r>
            <a:r>
              <a:rPr sz="1500" b="1" i="0">
                <a:solidFill>
                  <a:srgbClr val="21295C"/>
                </a:solidFill>
                <a:latin typeface="Arial"/>
              </a:rPr>
              <a:t>56 изделий из 717</a:t>
            </a:r>
            <a:r>
              <a:rPr sz="1500" b="0" i="0">
                <a:solidFill>
                  <a:srgbClr val="21295C"/>
                </a:solidFill>
                <a:latin typeface="Arial"/>
              </a:rPr>
              <a:t> показывают, где требование описывает работу, которой не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Удерживает то, что стоит за подписью.</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 приказ Минздрава России № 686н; ГОСТ Р 71671-2024; 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Разработка лекарства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Удешевили начало — где узкое место.</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 мишени до заявки на регистрацию путь проходит годами, и вычисление в нём занимает один шаг — в самом начале, у химика. Дальше — доклиника, три фазы испытаний на людях, заявка. Три разбора вечера — про то, что из этого пути подешевело, а что осталось прежней длины.</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a:t>
            </a:r>
          </a:p>
        </p:txBody>
      </p:sp>
      <p:sp>
        <p:nvSpPr>
          <p:cNvPr id="9" name="TextBox 8"/>
          <p:cNvSpPr txBox="1"/>
          <p:nvPr/>
        </p:nvSpPr>
        <p:spPr>
          <a:xfrm>
            <a:off x="704088" y="3848787"/>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Молекула за год, снятая на первой фазе · 2. Воронка молекул машинного происхождения · 3. Компания, отказавшаяся от своего обещания.</a:t>
            </a:r>
          </a:p>
        </p:txBody>
      </p:sp>
      <p:sp>
        <p:nvSpPr>
          <p:cNvPr id="10" name="TextBox 9"/>
          <p:cNvSpPr txBox="1"/>
          <p:nvPr/>
        </p:nvSpPr>
        <p:spPr>
          <a:xfrm>
            <a:off x="704088" y="461756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704088" y="5084244"/>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Это та же работа, что и в предыдущих разделах, только на масштабе отрасли: решение не о человеке у койки, а о веществе, которое до койки может не дойти вовсе.</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человека, три места, одно вещество. Между первым эпизодом и третьим — около двух лет. Классический путь от мишени до клинического кандидата занимает четыре-пять лет по отраслевой норме.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разработки схемой: четыре шага от мишени до заявки</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токсикология на культурах и животных</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Шаг вычисления — один, и он в начале</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Мишень и молекула.</a:t>
            </a:r>
            <a:r>
              <a:rPr sz="1500" b="0" i="0">
                <a:solidFill>
                  <a:srgbClr val="21295C"/>
                </a:solidFill>
                <a:latin typeface="Arial"/>
              </a:rPr>
              <a:t> Что в организме затронуть и чем — выбирают биологи, подбирают химики.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Доклиника.</a:t>
            </a:r>
            <a:r>
              <a:rPr sz="1500" b="0" i="0">
                <a:solidFill>
                  <a:srgbClr val="21295C"/>
                </a:solidFill>
                <a:latin typeface="Arial"/>
              </a:rPr>
              <a:t> Культуры клеток и животные: работает ли, не убивает ли, как выводится.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Фазы I–III.</a:t>
            </a:r>
            <a:r>
              <a:rPr sz="1500" b="0" i="0">
                <a:solidFill>
                  <a:srgbClr val="21295C"/>
                </a:solidFill>
                <a:latin typeface="Arial"/>
              </a:rPr>
              <a:t> Переносимость → работает ли и в какой дозе → подтверждение на больших выборках.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Заявка.</a:t>
            </a:r>
            <a:r>
              <a:rPr sz="1500" b="0" i="0">
                <a:solidFill>
                  <a:srgbClr val="21295C"/>
                </a:solidFill>
                <a:latin typeface="Arial"/>
              </a:rPr>
              <a:t> Регистрация у регулятора.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Шаг, на который приходится вычисление, — один, и он в начале, у химика. Весь остальной путь делают руками люди.</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Воронка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Фаза I → фаза II — </a:t>
            </a:r>
            <a:r>
              <a:rPr sz="1500" b="1" i="0">
                <a:solidFill>
                  <a:srgbClr val="21295C"/>
                </a:solidFill>
                <a:latin typeface="Arial"/>
              </a:rPr>
              <a:t>52,0 процента</a:t>
            </a:r>
            <a:r>
              <a:rPr sz="1500" b="0" i="0">
                <a:solidFill>
                  <a:srgbClr val="21295C"/>
                </a:solidFill>
                <a:latin typeface="Arial"/>
              </a:rPr>
              <a:t>. Фаза II → фаза III — </a:t>
            </a:r>
            <a:r>
              <a:rPr sz="1500" b="1" i="0">
                <a:solidFill>
                  <a:srgbClr val="21295C"/>
                </a:solidFill>
                <a:latin typeface="Arial"/>
              </a:rPr>
              <a:t>28,9</a:t>
            </a:r>
            <a:r>
              <a:rPr sz="1500" b="0" i="0">
                <a:solidFill>
                  <a:srgbClr val="21295C"/>
                </a:solidFill>
                <a:latin typeface="Arial"/>
              </a:rPr>
              <a:t>. От первой фазы до одобрения — </a:t>
            </a:r>
            <a:r>
              <a:rPr sz="1500" b="1" i="0">
                <a:solidFill>
                  <a:srgbClr val="21295C"/>
                </a:solidFill>
                <a:latin typeface="Arial"/>
              </a:rPr>
              <a:t>7,9</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Знаменатель: </a:t>
            </a:r>
            <a:r>
              <a:rPr sz="1500" b="1" i="0">
                <a:solidFill>
                  <a:srgbClr val="21295C"/>
                </a:solidFill>
                <a:latin typeface="Arial"/>
              </a:rPr>
              <a:t>12 728 переходов</a:t>
            </a:r>
            <a:r>
              <a:rPr sz="1500" b="0" i="0">
                <a:solidFill>
                  <a:srgbClr val="21295C"/>
                </a:solidFill>
                <a:latin typeface="Arial"/>
              </a:rPr>
              <a:t> из </a:t>
            </a:r>
            <a:r>
              <a:rPr sz="1500" b="1" i="0">
                <a:solidFill>
                  <a:srgbClr val="21295C"/>
                </a:solidFill>
                <a:latin typeface="Arial"/>
              </a:rPr>
              <a:t>9 704 программ</a:t>
            </a:r>
            <a:r>
              <a:rPr sz="1500" b="0" i="0">
                <a:solidFill>
                  <a:srgbClr val="21295C"/>
                </a:solidFill>
                <a:latin typeface="Arial"/>
              </a:rPr>
              <a:t>, 1 779 компаний, 2011–2020 годы.</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Разброс по областям огромен — переход второй фазы в гематологии 48,1 процента, в урологии 15,0, — поэтому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Плотнее всего отсев в середине, не в начале и не в конце.</a:t>
            </a:r>
          </a:p>
        </p:txBody>
      </p:sp>
      <p:sp>
        <p:nvSpPr>
          <p:cNvPr id="22" name="Rectangle 21"/>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дроби рядом: «перешли» и «завершили»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«Перешли».</a:t>
            </a:r>
            <a:r>
              <a:rPr sz="1500" b="0" i="0">
                <a:solidFill>
                  <a:srgbClr val="21295C"/>
                </a:solidFill>
                <a:latin typeface="Arial"/>
              </a:rPr>
              <a:t> Считают среди тех, кто фазу прошёл до конца — знаменатель: завершившие фазу.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«Завершили».</a:t>
            </a:r>
            <a:r>
              <a:rPr sz="1500" b="0" i="0">
                <a:solidFill>
                  <a:srgbClr val="21295C"/>
                </a:solidFill>
                <a:latin typeface="Arial"/>
              </a:rPr>
              <a:t> Считают среди всех, кто когда-либо вошёл в испытания — в знаменателе сидят активы, которые ещё идут и до следующей фазы просто не дошли.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Поставить эти две дроби через «против» — получить вывод, которого не делает ни один из двух замеров.</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Знаменатели двух замеров: BIO / QLS / Informa, Clinical Development Success Rates and Contributing Factors 2011–2020 — переходы по показаниям; Haque W. и соавт., J Clin Oncol 2026, DOI 10.1200/JCO.2026.44.16_suppl.11072 — завершения по уникальным активам</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подешевело и что не подешевело</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ЗНАНИЙ</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подтверждение этой гипотезы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13 000 соединений под известную мишень</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расчёта физики связывания, не генеративная модель; цена готового актива при этом не упала — покупатель заплатил 4 млрд долларов авансом</a:t>
            </a:r>
          </a:p>
        </p:txBody>
      </p:sp>
      <p:sp>
        <p:nvSpPr>
          <p:cNvPr id="12" name="Rounded Rectangle 11"/>
          <p:cNvSpPr/>
          <p:nvPr/>
        </p:nvSpPr>
        <p:spPr>
          <a:xfrm>
            <a:off x="502920" y="3197935"/>
            <a:ext cx="5437479" cy="2267334"/>
          </a:xfrm>
          <a:prstGeom prst="roundRect">
            <a:avLst>
              <a:gd name="adj" fmla="val 134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35338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Подешевело</a:t>
            </a:r>
          </a:p>
        </p:txBody>
      </p:sp>
      <p:sp>
        <p:nvSpPr>
          <p:cNvPr id="14" name="TextBox 13"/>
          <p:cNvSpPr txBox="1"/>
          <p:nvPr/>
        </p:nvSpPr>
        <p:spPr>
          <a:xfrm>
            <a:off x="667512"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гипотез по графу знаний</a:t>
            </a:r>
          </a:p>
          <a:p>
            <a:pPr algn="l">
              <a:lnSpc>
                <a:spcPct val="126000"/>
              </a:lnSpc>
            </a:pPr>
            <a:r>
              <a:rPr sz="1450" b="0" i="0">
                <a:solidFill>
                  <a:srgbClr val="21295C"/>
                </a:solidFill>
                <a:latin typeface="Arial"/>
              </a:rPr>
              <a:t>• Расчётная оценка связывания соединений</a:t>
            </a:r>
          </a:p>
        </p:txBody>
      </p:sp>
      <p:sp>
        <p:nvSpPr>
          <p:cNvPr id="15" name="Rounded Rectangle 14"/>
          <p:cNvSpPr/>
          <p:nvPr/>
        </p:nvSpPr>
        <p:spPr>
          <a:xfrm>
            <a:off x="6251295" y="3197935"/>
            <a:ext cx="5437479" cy="2267334"/>
          </a:xfrm>
          <a:prstGeom prst="roundRect">
            <a:avLst>
              <a:gd name="adj" fmla="val 1344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5887" y="335338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подешевело</a:t>
            </a:r>
          </a:p>
        </p:txBody>
      </p:sp>
      <p:sp>
        <p:nvSpPr>
          <p:cNvPr id="17" name="TextBox 16"/>
          <p:cNvSpPr txBox="1"/>
          <p:nvPr/>
        </p:nvSpPr>
        <p:spPr>
          <a:xfrm>
            <a:off x="6415887"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Переносимость у людей</a:t>
            </a:r>
          </a:p>
          <a:p>
            <a:pPr algn="l">
              <a:lnSpc>
                <a:spcPct val="126000"/>
              </a:lnSpc>
            </a:pPr>
            <a:r>
              <a:rPr sz="1450" b="0" i="0">
                <a:solidFill>
                  <a:srgbClr val="21295C"/>
                </a:solidFill>
                <a:latin typeface="Arial"/>
              </a:rPr>
              <a:t>• Набор пациентов</a:t>
            </a:r>
          </a:p>
          <a:p>
            <a:pPr algn="l">
              <a:lnSpc>
                <a:spcPct val="126000"/>
              </a:lnSpc>
            </a:pPr>
            <a:r>
              <a:rPr sz="1450" b="0" i="0">
                <a:solidFill>
                  <a:srgbClr val="21295C"/>
                </a:solidFill>
                <a:latin typeface="Arial"/>
              </a:rPr>
              <a:t>• Длительность наблюдения</a:t>
            </a:r>
          </a:p>
          <a:p>
            <a:pPr algn="l">
              <a:lnSpc>
                <a:spcPct val="126000"/>
              </a:lnSpc>
            </a:pPr>
            <a:r>
              <a:rPr sz="1450" b="0" i="0">
                <a:solidFill>
                  <a:srgbClr val="21295C"/>
                </a:solidFill>
                <a:latin typeface="Arial"/>
              </a:rPr>
              <a:t>• Производство клинической партии</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Левый столбец посчитан числами. У правого нет ни одного числа ни на одной строке — </a:t>
            </a:r>
            <a:r>
              <a:rPr sz="1470" b="1" i="0">
                <a:solidFill>
                  <a:srgbClr val="21295C"/>
                </a:solidFill>
                <a:latin typeface="Arial"/>
              </a:rPr>
              <a:t>и это вывод столбца, а не пробел подборки: формы здесь нет.</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 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 У этих чисел нет ни имени проекта, ни даты,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Воронка молекул машинного происхождения</a:t>
            </a:r>
          </a:p>
        </p:txBody>
      </p:sp>
      <p:sp>
        <p:nvSpPr>
          <p:cNvPr id="4" name="Rounded Rectangle 3"/>
          <p:cNvSpPr/>
          <p:nvPr/>
        </p:nvSpPr>
        <p:spPr>
          <a:xfrm>
            <a:off x="502920"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863689"/>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месяцы работы центра, добровольцы под дозой</a:t>
            </a:r>
          </a:p>
        </p:txBody>
      </p:sp>
      <p:sp>
        <p:nvSpPr>
          <p:cNvPr id="7" name="Rounded Rectangle 6"/>
          <p:cNvSpPr/>
          <p:nvPr/>
        </p:nvSpPr>
        <p:spPr>
          <a:xfrm>
            <a:off x="3340531"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9" name="TextBox 8"/>
          <p:cNvSpPr txBox="1"/>
          <p:nvPr/>
        </p:nvSpPr>
        <p:spPr>
          <a:xfrm>
            <a:off x="3477691"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терапии не будет ни у кого — цена не измеряется</a:t>
            </a:r>
          </a:p>
        </p:txBody>
      </p:sp>
      <p:sp>
        <p:nvSpPr>
          <p:cNvPr id="10" name="Rounded Rectangle 9"/>
          <p:cNvSpPr/>
          <p:nvPr/>
        </p:nvSpPr>
        <p:spPr>
          <a:xfrm>
            <a:off x="6178143"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ПЕРЕХОД ФАЗЫ I</a:t>
            </a:r>
          </a:p>
        </p:txBody>
      </p:sp>
      <p:sp>
        <p:nvSpPr>
          <p:cNvPr id="12" name="TextBox 11"/>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13" name="TextBox 12"/>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того режима, с которым сравнивают любое улучшение</a:t>
            </a:r>
          </a:p>
        </p:txBody>
      </p:sp>
      <p:sp>
        <p:nvSpPr>
          <p:cNvPr id="14" name="Rounded Rectangle 13"/>
          <p:cNvSpPr/>
          <p:nvPr/>
        </p:nvSpPr>
        <p:spPr>
          <a:xfrm>
            <a:off x="9015755" y="1335024"/>
            <a:ext cx="2673019"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ОТ ФАЗЫ I ДО ОДОБРЕНИЯ</a:t>
            </a:r>
          </a:p>
        </p:txBody>
      </p:sp>
      <p:sp>
        <p:nvSpPr>
          <p:cNvPr id="16" name="TextBox 15"/>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процента</a:t>
            </a:r>
          </a:p>
        </p:txBody>
      </p:sp>
      <p:sp>
        <p:nvSpPr>
          <p:cNvPr id="17" name="TextBox 16"/>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программа из примерно тринадцати; вторую цену — отброшенную годную молекулу — измерить нельзя вовсе</a:t>
            </a:r>
          </a:p>
        </p:txBody>
      </p:sp>
      <p:sp>
        <p:nvSpPr>
          <p:cNvPr id="18" name="Rounded Rectangle 17"/>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Довести негодную молекулу до первой фазы — месяцы работы клинического центра, здоровые добровольцы под дозой. Отбросить годную — терапии не будет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тем же числом.</a:t>
            </a:r>
            <a:r>
              <a:rPr sz="1500" b="0" i="0">
                <a:solidFill>
                  <a:srgbClr val="21295C"/>
                </a:solidFill>
                <a:latin typeface="Arial"/>
              </a:rPr>
              <a:t> Вести в клинику всё синтезированное, и вести только то, что прошло полный экспертный отбор: у обоих переход фазы I — </a:t>
            </a:r>
            <a:r>
              <a:rPr sz="1500" b="1" i="0">
                <a:solidFill>
                  <a:srgbClr val="21295C"/>
                </a:solidFill>
                <a:latin typeface="Arial"/>
              </a:rPr>
              <a:t>52,0 процента</a:t>
            </a:r>
            <a:r>
              <a:rPr sz="1500" b="0" i="0">
                <a:solidFill>
                  <a:srgbClr val="21295C"/>
                </a:solidFill>
                <a:latin typeface="Arial"/>
              </a:rPr>
              <a:t>, переход фазы II — </a:t>
            </a:r>
            <a:r>
              <a:rPr sz="1500" b="1" i="0">
                <a:solidFill>
                  <a:srgbClr val="21295C"/>
                </a:solidFill>
                <a:latin typeface="Arial"/>
              </a:rPr>
              <a:t>28,9</a:t>
            </a:r>
            <a:r>
              <a:rPr sz="1500" b="0" i="0">
                <a:solidFill>
                  <a:srgbClr val="21295C"/>
                </a:solidFill>
                <a:latin typeface="Arial"/>
              </a:rPr>
              <a:t>, до одобрения — </a:t>
            </a:r>
            <a:r>
              <a:rPr sz="1500" b="1" i="0">
                <a:solidFill>
                  <a:srgbClr val="21295C"/>
                </a:solidFill>
                <a:latin typeface="Arial"/>
              </a:rPr>
              <a:t>7,9</a:t>
            </a:r>
            <a:r>
              <a:rPr sz="1500" b="0" i="0">
                <a:solidFill>
                  <a:srgbClr val="21295C"/>
                </a:solidFill>
                <a:latin typeface="Arial"/>
              </a:rPr>
              <a:t>.</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Молекула за год, снятая на первой фазе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Доклинический этап — </a:t>
            </a:r>
            <a:r>
              <a:rPr sz="1500" b="1" i="0">
                <a:solidFill>
                  <a:srgbClr val="21295C"/>
                </a:solidFill>
                <a:latin typeface="Arial"/>
              </a:rPr>
              <a:t>меньше двенадцати месяцев</a:t>
            </a:r>
            <a:r>
              <a:rPr sz="1500" b="0" i="0">
                <a:solidFill>
                  <a:srgbClr val="21295C"/>
                </a:solidFill>
                <a:latin typeface="Arial"/>
              </a:rPr>
              <a:t> против заявленных </a:t>
            </a:r>
            <a:r>
              <a:rPr sz="1500" b="1" i="0">
                <a:solidFill>
                  <a:srgbClr val="21295C"/>
                </a:solidFill>
                <a:latin typeface="Arial"/>
              </a:rPr>
              <a:t>четырёх с половиной лет</a:t>
            </a:r>
            <a:r>
              <a:rPr sz="1500" b="0" i="0">
                <a:solidFill>
                  <a:srgbClr val="21295C"/>
                </a:solidFill>
                <a:latin typeface="Arial"/>
              </a:rPr>
              <a:t> отраслевой нормы для этого класса мишеней.</a:t>
            </a:r>
          </a:p>
          <a:p>
            <a:pPr algn="l">
              <a:lnSpc>
                <a:spcPct val="126000"/>
              </a:lnSpc>
              <a:spcBef>
                <a:spcPts val="700"/>
              </a:spcBef>
            </a:pPr>
            <a:r>
              <a:rPr sz="1500" b="0" i="0">
                <a:solidFill>
                  <a:srgbClr val="21295C"/>
                </a:solidFill>
                <a:latin typeface="Arial"/>
              </a:rPr>
              <a:t/>
            </a:r>
            <a:r>
              <a:rPr sz="1500" b="0" i="0">
                <a:solidFill>
                  <a:srgbClr val="21295C"/>
                </a:solidFill>
                <a:latin typeface="Arial"/>
              </a:rPr>
              <a:t>Молекула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В январе 2022 года молекула снята: не удовлетворила критериям исследования на первой фазе. Ровно столько, сколько предсказывает база отрасли, где первая фаза пропускает дальше 52,0 процента.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Оба числа — доклиника и норма — заявления самой компании.</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Переход второй фазы: не хуже базы</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МОЛЕКУЛЫ МАШИННОГО ПРОИСХОЖДЕНИЯ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 авторы называют результат сопоставимым с отраслевой нормой, лучшим — нет</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порядки</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Переход второй фазы у молекул машинного происхождения — </a:t>
            </a:r>
            <a:r>
              <a:rPr sz="1500" b="1" i="0">
                <a:solidFill>
                  <a:srgbClr val="21295C"/>
                </a:solidFill>
                <a:latin typeface="Arial"/>
              </a:rPr>
              <a:t>около 40 процентов</a:t>
            </a:r>
            <a:r>
              <a:rPr sz="1500" b="0" i="0">
                <a:solidFill>
                  <a:srgbClr val="21295C"/>
                </a:solidFill>
                <a:latin typeface="Arial"/>
              </a:rPr>
              <a:t> — против </a:t>
            </a:r>
            <a:r>
              <a:rPr sz="1500" b="1" i="0">
                <a:solidFill>
                  <a:srgbClr val="21295C"/>
                </a:solidFill>
                <a:latin typeface="Arial"/>
              </a:rPr>
              <a:t>28,9</a:t>
            </a:r>
            <a:r>
              <a:rPr sz="1500" b="0" i="0">
                <a:solidFill>
                  <a:srgbClr val="21295C"/>
                </a:solidFill>
                <a:latin typeface="Arial"/>
              </a:rPr>
              <a:t> по отрасли. На первой фазе те же молекулы идут заметно выше базы: 80–90 процентов против 52,0.</a:t>
            </a:r>
          </a:p>
          <a:p>
            <a:pPr algn="l">
              <a:lnSpc>
                <a:spcPct val="126000"/>
              </a:lnSpc>
              <a:spcBef>
                <a:spcPts val="700"/>
              </a:spcBef>
            </a:pPr>
            <a:r>
              <a:rPr sz="1500" b="0" i="0">
                <a:solidFill>
                  <a:srgbClr val="21295C"/>
                </a:solidFill>
                <a:latin typeface="Arial"/>
              </a:rPr>
              <a:t/>
            </a:r>
            <a:r>
              <a:rPr sz="1500" b="0" i="0">
                <a:solidFill>
                  <a:srgbClr val="21295C"/>
                </a:solidFill>
                <a:latin typeface="Arial"/>
              </a:rPr>
              <a:t>Не хуже базы.</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Одобрений — ноль</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При </a:t>
            </a:r>
            <a:r>
              <a:rPr sz="1500" b="1" i="0">
                <a:solidFill>
                  <a:srgbClr val="21295C"/>
                </a:solidFill>
                <a:latin typeface="Arial"/>
              </a:rPr>
              <a:t>75</a:t>
            </a:r>
            <a:r>
              <a:rPr sz="1500" b="0" i="0">
                <a:solidFill>
                  <a:srgbClr val="21295C"/>
                </a:solidFill>
                <a:latin typeface="Arial"/>
              </a:rPr>
              <a:t> активах по одному замеру и </a:t>
            </a:r>
            <a:r>
              <a:rPr sz="1500" b="1" i="0">
                <a:solidFill>
                  <a:srgbClr val="21295C"/>
                </a:solidFill>
                <a:latin typeface="Arial"/>
              </a:rPr>
              <a:t>117</a:t>
            </a:r>
            <a:r>
              <a:rPr sz="1500" b="0" i="0">
                <a:solidFill>
                  <a:srgbClr val="21295C"/>
                </a:solidFill>
                <a:latin typeface="Arial"/>
              </a:rPr>
              <a:t> по другому, за десять лет существования категории.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Подписанное как несопоставимое: из активов второго замера вторую фазу завершили </a:t>
            </a:r>
            <a:r>
              <a:rPr sz="1500" b="1" i="0">
                <a:solidFill>
                  <a:srgbClr val="21295C"/>
                </a:solidFill>
                <a:latin typeface="Arial"/>
              </a:rPr>
              <a:t>8 из 117</a:t>
            </a:r>
            <a:r>
              <a:rPr sz="1500" b="0" i="0">
                <a:solidFill>
                  <a:srgbClr val="21295C"/>
                </a:solidFill>
                <a:latin typeface="Arial"/>
              </a:rPr>
              <a:t> — 6,8 процента, срез 1 декабря 2025 года. Это доля завершивших, и с переходом она не складывается.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Одной строкой: одна молекула — третья фаза начата.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Компания, отказавшаяся от своего обещания</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ОБЕИХ ОШИБОК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фаза IIa целиком против терапии, которой не будет</a:t>
            </a:r>
          </a:p>
        </p:txBody>
      </p:sp>
      <p:sp>
        <p:nvSpPr>
          <p:cNvPr id="7" name="Rounded Rectangle 6"/>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 — НАПОМИНАНИЕ</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 перехода второй фазы</a:t>
            </a:r>
          </a:p>
        </p:txBody>
      </p:sp>
      <p:sp>
        <p:nvSpPr>
          <p:cNvPr id="10" name="TextBox 9"/>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обещание доводить препараты самостоятельно рассчитано на успех там, где отрасль даёт меньше трети: провал на этом шаге — норма воронки</a:t>
            </a:r>
          </a:p>
        </p:txBody>
      </p:sp>
      <p:sp>
        <p:nvSpPr>
          <p:cNvPr id="11" name="TextBox 10"/>
          <p:cNvSpPr txBox="1"/>
          <p:nvPr/>
        </p:nvSpPr>
        <p:spPr>
          <a:xfrm>
            <a:off x="502920" y="3252799"/>
            <a:ext cx="1289304" cy="104751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12" name="Rounded Rectangle 11"/>
          <p:cNvSpPr/>
          <p:nvPr/>
        </p:nvSpPr>
        <p:spPr>
          <a:xfrm>
            <a:off x="1920240"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2536"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4" name="Right Arrow 13"/>
          <p:cNvSpPr/>
          <p:nvPr/>
        </p:nvSpPr>
        <p:spPr>
          <a:xfrm>
            <a:off x="4202353"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0953"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3249"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 91 пациент, 28 дней нанесения, точки эффективности не достигнуты</a:t>
            </a:r>
          </a:p>
        </p:txBody>
      </p:sp>
      <p:sp>
        <p:nvSpPr>
          <p:cNvPr id="17" name="Right Arrow 16"/>
          <p:cNvSpPr/>
          <p:nvPr/>
        </p:nvSpPr>
        <p:spPr>
          <a:xfrm>
            <a:off x="6713067"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41667"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3963"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0" name="Right Arrow 19"/>
          <p:cNvSpPr/>
          <p:nvPr/>
        </p:nvSpPr>
        <p:spPr>
          <a:xfrm>
            <a:off x="9223781"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452381"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34677"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3" name="TextBox 22"/>
          <p:cNvSpPr txBox="1"/>
          <p:nvPr/>
        </p:nvSpPr>
        <p:spPr>
          <a:xfrm>
            <a:off x="502920" y="43917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компании</a:t>
            </a:r>
          </a:p>
        </p:txBody>
      </p:sp>
      <p:sp>
        <p:nvSpPr>
          <p:cNvPr id="24" name="Rounded Rectangle 23"/>
          <p:cNvSpPr/>
          <p:nvPr/>
        </p:nvSpPr>
        <p:spPr>
          <a:xfrm>
            <a:off x="374904" y="4704603"/>
            <a:ext cx="11441887" cy="1531604"/>
          </a:xfrm>
          <a:prstGeom prst="roundRect">
            <a:avLst>
              <a:gd name="adj" fmla="val 199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796043"/>
            <a:ext cx="11112703" cy="144016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Цена обеих ошибок.</a:t>
            </a:r>
            <a:r>
              <a:rPr sz="1440" b="0" i="0">
                <a:solidFill>
                  <a:srgbClr val="21295C"/>
                </a:solidFill>
                <a:latin typeface="Arial"/>
              </a:rPr>
              <a:t> Обещание рассчитано на успех там, где отраслевая база даёт </a:t>
            </a:r>
            <a:r>
              <a:rPr sz="1440" b="1" i="0">
                <a:solidFill>
                  <a:srgbClr val="21295C"/>
                </a:solidFill>
                <a:latin typeface="Arial"/>
              </a:rPr>
              <a:t>28,9 процента</a:t>
            </a:r>
            <a:r>
              <a:rPr sz="1440" b="0" i="0">
                <a:solidFill>
                  <a:srgbClr val="21295C"/>
                </a:solidFill>
                <a:latin typeface="Arial"/>
              </a:rPr>
              <a:t> перехода — провал на этом шаге норма воронки.</a:t>
            </a:r>
          </a:p>
          <a:p>
            <a:pPr algn="l">
              <a:lnSpc>
                <a:spcPct val="126000"/>
              </a:lnSpc>
              <a:spcBef>
                <a:spcPts val="700"/>
              </a:spcBef>
            </a:pPr>
            <a:r>
              <a:rPr sz="1440" b="0" i="0">
                <a:solidFill>
                  <a:srgbClr val="21295C"/>
                </a:solidFill>
                <a:latin typeface="Arial"/>
              </a:rPr>
              <a:t/>
            </a:r>
            <a:r>
              <a:rPr sz="1440" b="1" i="0">
                <a:solidFill>
                  <a:srgbClr val="21295C"/>
                </a:solidFill>
                <a:latin typeface="Arial"/>
              </a:rPr>
              <a:t>Путь компании.</a:t>
            </a:r>
            <a:r>
              <a:rPr sz="1440" b="0" i="0">
                <a:solidFill>
                  <a:srgbClr val="21295C"/>
                </a:solidFill>
                <a:latin typeface="Arial"/>
              </a:rPr>
              <a:t> Обещание доводить препараты до регистрации самостоятельно → фаза IIa: </a:t>
            </a:r>
            <a:r>
              <a:rPr sz="1440" b="1" i="0">
                <a:solidFill>
                  <a:srgbClr val="21295C"/>
                </a:solidFill>
                <a:latin typeface="Arial"/>
              </a:rPr>
              <a:t>91 пациент</a:t>
            </a:r>
            <a:r>
              <a:rPr sz="1440" b="0" i="0">
                <a:solidFill>
                  <a:srgbClr val="21295C"/>
                </a:solidFill>
                <a:latin typeface="Arial"/>
              </a:rPr>
              <a:t> 18–65 лет, </a:t>
            </a:r>
            <a:r>
              <a:rPr sz="1440" b="1" i="0">
                <a:solidFill>
                  <a:srgbClr val="21295C"/>
                </a:solidFill>
                <a:latin typeface="Arial"/>
              </a:rPr>
              <a:t>28 дней</a:t>
            </a:r>
            <a:r>
              <a:rPr sz="1440" b="0" i="0">
                <a:solidFill>
                  <a:srgbClr val="21295C"/>
                </a:solidFill>
                <a:latin typeface="Arial"/>
              </a:rPr>
              <a:t> нанесения, первичная точка по безопасности достигнута, точки эффективности — нет → </a:t>
            </a:r>
            <a:r>
              <a:rPr sz="1440" b="1" i="0">
                <a:solidFill>
                  <a:srgbClr val="21295C"/>
                </a:solidFill>
                <a:latin typeface="Arial"/>
              </a:rPr>
              <a:t>минус 180 рабочих мест</a:t>
            </a:r>
            <a:r>
              <a:rPr sz="1440" b="0" i="0">
                <a:solidFill>
                  <a:srgbClr val="21295C"/>
                </a:solidFill>
                <a:latin typeface="Arial"/>
              </a:rPr>
              <a:t>, и ещё минус 30 процентов штата годом позже → отказ от собственной модели бизнеса.</a:t>
            </a:r>
          </a:p>
        </p:txBody>
      </p:sp>
      <p:sp>
        <p:nvSpPr>
          <p:cNvPr id="26" name="Rectangle 2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Рентгеновская кристаллография — плато около девяти-десяти тысяч депозитов в год, причём </a:t>
            </a:r>
            <a:r>
              <a:rPr sz="1500" b="1" i="0">
                <a:solidFill>
                  <a:srgbClr val="21295C"/>
                </a:solidFill>
                <a:latin typeface="Arial"/>
              </a:rPr>
              <a:t>с 2015 года</a:t>
            </a:r>
            <a:r>
              <a:rPr sz="1500" b="0" i="0">
                <a:solidFill>
                  <a:srgbClr val="21295C"/>
                </a:solidFill>
                <a:latin typeface="Arial"/>
              </a:rPr>
              <a:t>, то есть задолго до появления предсказания структуры.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Криоэлектронная микроскопия — рост с 2 385 депозитов до 5 787, продолжающий траекторию, начатую раньше. Объём экспериментальных депозиций не упал.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Ожидаемая форма «шаг исчез» числами не подтверждается.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узкое место не подешевело</a:t>
            </a:r>
          </a:p>
        </p:txBody>
      </p:sp>
      <p:sp>
        <p:nvSpPr>
          <p:cNvPr id="4" name="Rounded Rectangle 3"/>
          <p:cNvSpPr/>
          <p:nvPr/>
        </p:nvSpPr>
        <p:spPr>
          <a:xfrm>
            <a:off x="502920" y="1335024"/>
            <a:ext cx="11185855" cy="919931"/>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74904" y="2346395"/>
            <a:ext cx="11441887" cy="3889812"/>
          </a:xfrm>
          <a:prstGeom prst="roundRect">
            <a:avLst>
              <a:gd name="adj" fmla="val 7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2437835"/>
            <a:ext cx="11112703" cy="37983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a:t>
            </a:r>
            <a:r>
              <a:rPr sz="1500" b="0" i="0">
                <a:solidFill>
                  <a:srgbClr val="21295C"/>
                </a:solidFill>
                <a:latin typeface="Arial"/>
              </a:rPr>
              <a:t> Нагрузка переехала на другой шаг — на масштабе отрасли и на масштабе одной молекулы.</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4а.</a:t>
            </a:r>
            <a:r>
              <a:rPr sz="1500" b="0" i="0">
                <a:solidFill>
                  <a:srgbClr val="21295C"/>
                </a:solidFill>
                <a:latin typeface="Arial"/>
              </a:rPr>
              <a:t> Объём на том же месте упал — расчётный отбор соединений под известную мишень.</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6.</a:t>
            </a:r>
            <a:r>
              <a:rPr sz="1500" b="0" i="0">
                <a:solidFill>
                  <a:srgbClr val="21295C"/>
                </a:solidFill>
                <a:latin typeface="Arial"/>
              </a:rPr>
              <a:t> Изменился порядок работ — на масштабе модели бизнеса, не процесса одного препарата.</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0" i="0">
                <a:solidFill>
                  <a:srgbClr val="21295C"/>
                </a:solidFill>
                <a:latin typeface="Arial"/>
              </a:rPr>
              <a:t>Инженеру: мерить пропускную способность шага, который вы не трогали.</a:t>
            </a:r>
          </a:p>
        </p:txBody>
      </p:sp>
      <p:sp>
        <p:nvSpPr>
          <p:cNvPr id="9" name="Rectangle 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поток тревог, документ, воронку разработки лекарства. Ни один из этих замеров не отвечает на вопрос, что стало с человеком внутри этой работы — а он в ней остался и остался решающим.</a:t>
            </a:r>
          </a:p>
        </p:txBody>
      </p:sp>
      <p:sp>
        <p:nvSpPr>
          <p:cNvPr id="9" name="TextBox 8"/>
          <p:cNvSpPr txBox="1"/>
          <p:nvPr/>
        </p:nvSpPr>
        <p:spPr>
          <a:xfrm>
            <a:off x="704088" y="321751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Доля обнаружения после отключения помощника · 2. Кто теперь исполнитель · 3. Чего про доверие не измерено</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Эндоскопист после года без процедур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декрет, административная должность, долгая болезнь, неважно.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Первая процедура: прибор идёт медленнее, рука ищет угол дольше, складку, за которую надо заглянуть, он проходит — и сам этого не знает, потому что обратной связи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Поэтому профессия не спрашивает врача, в форме ли он, а </a:t>
            </a:r>
            <a:r>
              <a:rPr sz="1500" b="1" i="0">
                <a:solidFill>
                  <a:srgbClr val="21295C"/>
                </a:solidFill>
                <a:latin typeface="Arial"/>
              </a:rPr>
              <a:t>считает за него</a:t>
            </a:r>
            <a:r>
              <a:rPr sz="1500" b="0" i="0">
                <a:solidFill>
                  <a:srgbClr val="21295C"/>
                </a:solidFill>
                <a:latin typeface="Arial"/>
              </a:rPr>
              <a:t> — долю обследований с находкой, по каждому врачу отдельно.</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образование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остаётся в человеке до следующего обследования</a:t>
            </a:r>
          </a:p>
          <a:p>
            <a:pPr algn="l">
              <a:lnSpc>
                <a:spcPct val="126000"/>
              </a:lnSpc>
            </a:pPr>
            <a:r>
              <a:rPr sz="1450" b="0" i="0">
                <a:solidFill>
                  <a:srgbClr val="21295C"/>
                </a:solidFill>
                <a:latin typeface="Arial"/>
              </a:rPr>
              <a:t>• так возникает болезнь, найденная между обследованиями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Увидеть лишнее</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снятие</a:t>
            </a:r>
          </a:p>
          <a:p>
            <a:pPr algn="l">
              <a:lnSpc>
                <a:spcPct val="126000"/>
              </a:lnSpc>
            </a:pPr>
            <a:r>
              <a:rPr sz="1450" b="0" i="0">
                <a:solidFill>
                  <a:srgbClr val="21295C"/>
                </a:solidFill>
                <a:latin typeface="Arial"/>
              </a:rPr>
              <a:t>• кровотечение</a:t>
            </a:r>
          </a:p>
          <a:p>
            <a:pPr algn="l">
              <a:lnSpc>
                <a:spcPct val="126000"/>
              </a:lnSpc>
            </a:pPr>
            <a:r>
              <a:rPr sz="1450" b="0" i="0">
                <a:solidFill>
                  <a:srgbClr val="21295C"/>
                </a:solidFill>
                <a:latin typeface="Arial"/>
              </a:rPr>
              <a:t>• гистология</a:t>
            </a:r>
          </a:p>
          <a:p>
            <a:pPr algn="l">
              <a:lnSpc>
                <a:spcPct val="126000"/>
              </a:lnSpc>
            </a:pPr>
            <a:r>
              <a:rPr sz="1450" b="0" i="0">
                <a:solidFill>
                  <a:srgbClr val="21295C"/>
                </a:solidFill>
                <a:latin typeface="Arial"/>
              </a:rPr>
              <a:t>• повторный визит</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классических режима, посчитанные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извлечение прибора удлинили.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режима не бесплатны — и оба дают прирост того же порядка, что помощник, или больше.</a:t>
            </a:r>
            <a:r>
              <a:rPr sz="1500" b="0" i="0">
                <a:solidFill>
                  <a:srgbClr val="21295C"/>
                </a:solidFill>
                <a:latin typeface="Arial"/>
              </a:rPr>
              <a:t> Первый стоит трёх минут времени врача на процедуру,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Базы у двух приростов разные: 27,1 и 39,3 — разные исходные доли обнаружения в разных центрах и популяциях. Два прироста между собой не сравниваются; каждый сравнивается с приростом от помощника в своей работе.</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 на экране, а не в заметках.</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r>
              <a:rPr sz="1500" b="0" i="0">
                <a:solidFill>
                  <a:srgbClr val="21295C"/>
                </a:solidFill>
                <a:latin typeface="Arial"/>
              </a:rPr>
              <a:t> Опубликованное исправление, три письма и ответ авторов: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r>
              <a:rPr sz="1500" b="0" i="0">
                <a:solidFill>
                  <a:srgbClr val="21295C"/>
                </a:solidFill>
                <a:latin typeface="Arial"/>
              </a:rPr>
              <a:t>, а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 У числа 795 при этом меняется знаменатель: в раннем окне помощника ещё не было, поэтому 795 значит одновременно «без помощника» и «всего», тогда как в позднем окне эти величины расходятся — 648 без помощника и 1 382 всего.</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это дало, чего потребовало — форма «Исполнитель тот же, но стал хуже»</a:t>
            </a:r>
          </a:p>
        </p:txBody>
      </p:sp>
      <p:sp>
        <p:nvSpPr>
          <p:cNvPr id="4" name="Rounded Rectangle 3"/>
          <p:cNvSpPr/>
          <p:nvPr/>
        </p:nvSpPr>
        <p:spPr>
          <a:xfrm>
            <a:off x="502920"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Дало</a:t>
            </a:r>
            <a:r>
              <a:rPr sz="1140" b="0" i="0">
                <a:solidFill>
                  <a:srgbClr val="21295C"/>
                </a:solidFill>
                <a:latin typeface="Arial"/>
              </a:rPr>
              <a:t> — с помощником находят больше.</a:t>
            </a:r>
          </a:p>
          <a:p>
            <a:pPr algn="l">
              <a:lnSpc>
                <a:spcPct val="126000"/>
              </a:lnSpc>
              <a:spcBef>
                <a:spcPts val="700"/>
              </a:spcBef>
            </a:pPr>
            <a:r>
              <a:rPr sz="1140" b="0" i="0">
                <a:solidFill>
                  <a:srgbClr val="21295C"/>
                </a:solidFill>
                <a:latin typeface="Arial"/>
              </a:rPr>
              <a:t/>
            </a:r>
            <a:r>
              <a:rPr sz="1140" b="1" i="0">
                <a:solidFill>
                  <a:srgbClr val="21295C"/>
                </a:solidFill>
                <a:latin typeface="Arial"/>
              </a:rPr>
              <a:t>Потребовало</a:t>
            </a:r>
            <a:r>
              <a:rPr sz="1140" b="0" i="0">
                <a:solidFill>
                  <a:srgbClr val="21295C"/>
                </a:solidFill>
                <a:latin typeface="Arial"/>
              </a:rPr>
              <a:t> — умения искать самому.</a:t>
            </a:r>
          </a:p>
          <a:p>
            <a:pPr algn="l">
              <a:lnSpc>
                <a:spcPct val="126000"/>
              </a:lnSpc>
              <a:spcBef>
                <a:spcPts val="700"/>
              </a:spcBef>
            </a:pPr>
            <a:r>
              <a:rPr sz="1140" b="0" i="0">
                <a:solidFill>
                  <a:srgbClr val="21295C"/>
                </a:solidFill>
                <a:latin typeface="Arial"/>
              </a:rPr>
              <a:t/>
            </a:r>
            <a:r>
              <a:rPr sz="1140" b="1" i="0">
                <a:solidFill>
                  <a:srgbClr val="21295C"/>
                </a:solidFill>
                <a:latin typeface="Arial"/>
              </a:rPr>
              <a:t>В сумме</a:t>
            </a:r>
            <a:r>
              <a:rPr sz="114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140" b="0" i="0">
                <a:solidFill>
                  <a:srgbClr val="21295C"/>
                </a:solidFill>
                <a:latin typeface="Arial"/>
              </a:rPr>
              <a:t/>
            </a:r>
            <a:r>
              <a:rPr sz="1140" b="1" i="0">
                <a:solidFill>
                  <a:srgbClr val="21295C"/>
                </a:solidFill>
                <a:latin typeface="Arial"/>
              </a:rPr>
              <a:t>Форма 8 словаря: Исполнитель тот же, но стал хуже.</a:t>
            </a:r>
            <a:r>
              <a:rPr sz="1140" b="0" i="0">
                <a:solidFill>
                  <a:srgbClr val="21295C"/>
                </a:solidFill>
                <a:latin typeface="Arial"/>
              </a:rPr>
              <a:t> Место, объём, порядок шагов и рука прежние — изменилось состояние самой руки. Не форма 5: там сменилась рука, здесь рука та же, и именно на этом стоит измерение. Не форма 4а: там упал объём операции, здесь объём тот же, упала доля находок.</a:t>
            </a:r>
          </a:p>
          <a:p>
            <a:pPr algn="l">
              <a:lnSpc>
                <a:spcPct val="126000"/>
              </a:lnSpc>
              <a:spcBef>
                <a:spcPts val="700"/>
              </a:spcBef>
            </a:pPr>
            <a:r>
              <a:rPr sz="910" b="0" i="0">
                <a:solidFill>
                  <a:srgbClr val="21295C"/>
                </a:solidFill>
                <a:latin typeface="Arial"/>
              </a:rPr>
              <a:t/>
            </a:r>
            <a:r>
              <a:rPr sz="910" b="0" i="1">
                <a:solidFill>
                  <a:srgbClr val="1C7293"/>
                </a:solidFill>
                <a:latin typeface="Arial"/>
              </a:rPr>
              <a:t>режим: распознавание на видео, в реальном времени · чем делают сегодня: обнаружение образований в реальном времени, реализаций много, разница между ними мала · куда движется: от обнаружения к характеристике найденного и к счёту показателей самого врача · чего не умеет: поддерживать навык — здесь измерено обратное</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же явление измерено рандомизированно — но в учёбе, на примерно тысяче старшеклассников и на задачах математики: практика с моделью дала плюс 48 процентов к контролю, а экзамен без модели — на 17 процентов хуже контроля. </a:t>
            </a:r>
            <a:r>
              <a:rPr sz="1140" b="1" i="0">
                <a:solidFill>
                  <a:srgbClr val="21295C"/>
                </a:solidFill>
                <a:latin typeface="Arial"/>
              </a:rPr>
              <a:t>Повторением клинической находки это не является:</a:t>
            </a:r>
            <a:r>
              <a:rPr sz="1140" b="0" i="0">
                <a:solidFill>
                  <a:srgbClr val="21295C"/>
                </a:solidFill>
                <a:latin typeface="Arial"/>
              </a:rPr>
              <a:t> другая работа, другие люди, другая задача; строка «на реальной работе не воспроизводилось» остаётся в силе.</a:t>
            </a:r>
          </a:p>
          <a:p>
            <a:pPr algn="l">
              <a:lnSpc>
                <a:spcPct val="126000"/>
              </a:lnSpc>
              <a:spcBef>
                <a:spcPts val="700"/>
              </a:spcBef>
            </a:pPr>
            <a:r>
              <a:rPr sz="1140" b="0" i="0">
                <a:solidFill>
                  <a:srgbClr val="21295C"/>
                </a:solidFill>
                <a:latin typeface="Arial"/>
              </a:rPr>
              <a:t/>
            </a:r>
            <a:r>
              <a:rPr sz="114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41689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2039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модель</a:t>
            </a:r>
          </a:p>
        </p:txBody>
      </p:sp>
      <p:sp>
        <p:nvSpPr>
          <p:cNvPr id="31" name="Right Arrow 30"/>
          <p:cNvSpPr/>
          <p:nvPr/>
        </p:nvSpPr>
        <p:spPr>
          <a:xfrm>
            <a:off x="8386876"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56903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881888"/>
            <a:ext cx="11441887" cy="1354319"/>
          </a:xfrm>
          <a:prstGeom prst="roundRect">
            <a:avLst>
              <a:gd name="adj" fmla="val 22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973328"/>
            <a:ext cx="11112703" cy="12628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Навык — расходуемое, и расход измерен один раз</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ЦЕЛЕВЫХ ПОПЫТОК ПОИСКА ПОВТОРЕНИЯ</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22 попытки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восемнадцать поисковых формулировок плюс четыре целевых обращения к журналам и базе диссертаций; это число про поиск, о самом предмете оно не говорит ничего</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реальной работе измерено однажды</a:t>
            </a:r>
            <a:r>
              <a:rPr sz="1500" b="0" i="0">
                <a:solidFill>
                  <a:srgbClr val="21295C"/>
                </a:solidFill>
                <a:latin typeface="Arial"/>
              </a:rPr>
              <a:t> — падение доли обнаружения, с опубликованным исправлением и тремя письмами.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a:t>
            </a:r>
            <a:r>
              <a:rPr sz="1500" b="0" i="0">
                <a:solidFill>
                  <a:srgbClr val="21295C"/>
                </a:solidFill>
                <a:latin typeface="Arial"/>
              </a:rPr>
              <a:t>, и пробел назван числом.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Продольного измерения для тех, кто учился сразу с ассистентом, не существует вовсе</a:t>
            </a:r>
            <a:r>
              <a:rPr sz="1500" b="0" i="0">
                <a:solidFill>
                  <a:srgbClr val="21295C"/>
                </a:solidFill>
                <a:latin typeface="Arial"/>
              </a:rPr>
              <a:t> — про людей в этой аудитории данных нет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Матрица ниже — третий слой «чем держат» — имеет одну пустую клетку: </a:t>
            </a:r>
            <a:r>
              <a:rPr sz="1500" b="1" i="0">
                <a:solidFill>
                  <a:srgbClr val="21295C"/>
                </a:solidFill>
                <a:latin typeface="Arial"/>
              </a:rPr>
              <a:t>процедуры, измеряющей результат врача без помощника,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мы складываем вечер — девять форм, счёт красной линии и ответ на вопрос лекции.</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Свод раздела: 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1. Нагрузка переехала на другой шаг</a:t>
            </a:r>
            <a:r>
              <a:rPr sz="1350" b="0" i="0">
                <a:solidFill>
                  <a:srgbClr val="21295C"/>
                </a:solidFill>
                <a:latin typeface="Arial"/>
              </a:rPr>
              <a:t> — воронка молекул ИИ-происхождения против базы отрасли: одобрений регулятора </a:t>
            </a:r>
            <a:r>
              <a:rPr sz="1350" b="1" i="0">
                <a:solidFill>
                  <a:srgbClr val="21295C"/>
                </a:solidFill>
                <a:latin typeface="Arial"/>
              </a:rPr>
              <a:t>ноль</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2. Шаг исчез совсем</a:t>
            </a:r>
            <a:r>
              <a:rPr sz="1350" b="0" i="0">
                <a:solidFill>
                  <a:srgbClr val="21295C"/>
                </a:solidFill>
                <a:latin typeface="Arial"/>
              </a:rPr>
              <a:t> — </a:t>
            </a:r>
            <a:r>
              <a:rPr sz="1350" b="0" i="1">
                <a:solidFill>
                  <a:srgbClr val="21295C"/>
                </a:solidFill>
                <a:latin typeface="Arial"/>
              </a:rPr>
              <a:t>ни одного подтверждённого случая за вечер.</a:t>
            </a:r>
            <a:r>
              <a:rPr sz="135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3. Шаг появился</a:t>
            </a:r>
            <a:r>
              <a:rPr sz="135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 заранее утверждённый план изменений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 Нагрузка выросла на том же месте</a:t>
            </a:r>
            <a:r>
              <a:rPr sz="135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4а. Нагрузка на том же месте упала</a:t>
            </a:r>
            <a:r>
              <a:rPr sz="135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80" b="0" i="0">
                <a:solidFill>
                  <a:srgbClr val="21295C"/>
                </a:solidFill>
                <a:latin typeface="Arial"/>
              </a:rPr>
              <a:t/>
            </a:r>
            <a:r>
              <a:rPr sz="108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80" b="0" i="0">
                <a:solidFill>
                  <a:srgbClr val="21295C"/>
                </a:solidFill>
                <a:latin typeface="Arial"/>
              </a:rPr>
              <a:t/>
            </a:r>
            <a:r>
              <a:rPr sz="108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 </a:t>
            </a:r>
            <a:r>
              <a:rPr sz="1260" b="1" i="0">
                <a:solidFill>
                  <a:srgbClr val="21295C"/>
                </a:solidFill>
                <a:latin typeface="Arial"/>
              </a:rPr>
              <a:t>5. Исполнитель сменился</a:t>
            </a:r>
            <a:r>
              <a:rPr sz="126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6. Изменился порядок работ</a:t>
            </a:r>
            <a:r>
              <a:rPr sz="1260" b="0" i="0">
                <a:solidFill>
                  <a:srgbClr val="21295C"/>
                </a:solidFill>
                <a:latin typeface="Arial"/>
              </a:rPr>
              <a:t> — сортировка до приёма. </a:t>
            </a:r>
            <a:r>
              <a:rPr sz="1260" b="0" i="1">
                <a:solidFill>
                  <a:srgbClr val="21295C"/>
                </a:solidFill>
                <a:latin typeface="Arial"/>
              </a:rPr>
              <a:t>Числа у этой формы на своде нет: порядок работ переставлен, но посчитан там не был.</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7. Сместилась цена ошибки</a:t>
            </a:r>
            <a:r>
              <a:rPr sz="1260" b="0" i="0">
                <a:solidFill>
                  <a:srgbClr val="21295C"/>
                </a:solidFill>
                <a:latin typeface="Arial"/>
              </a:rPr>
              <a:t> — разрыв между нормой и проверкой.</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8. Исполнитель тот же, но стал хуже</a:t>
            </a:r>
            <a:r>
              <a:rPr sz="126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60" b="0" i="0">
                <a:solidFill>
                  <a:srgbClr val="21295C"/>
                </a:solidFill>
                <a:latin typeface="Arial"/>
              </a:rPr>
              <a:t/>
            </a:r>
            <a:r>
              <a:rPr sz="1260" b="0" i="0">
                <a:solidFill>
                  <a:srgbClr val="21295C"/>
                </a:solidFill>
                <a:latin typeface="Arial"/>
              </a:rPr>
              <a:t>Чем восьмая форма отличается от двух соседних: в пятой сменилась </a:t>
            </a:r>
            <a:r>
              <a:rPr sz="1260" b="1" i="0">
                <a:solidFill>
                  <a:srgbClr val="21295C"/>
                </a:solidFill>
                <a:latin typeface="Arial"/>
              </a:rPr>
              <a:t>рука</a:t>
            </a:r>
            <a:r>
              <a:rPr sz="1260" b="0" i="0">
                <a:solidFill>
                  <a:srgbClr val="21295C"/>
                </a:solidFill>
                <a:latin typeface="Arial"/>
              </a:rPr>
              <a:t> — здесь рука та же, и на этом стоит измерение. В форме 4а упал </a:t>
            </a:r>
            <a:r>
              <a:rPr sz="1260" b="1" i="0">
                <a:solidFill>
                  <a:srgbClr val="21295C"/>
                </a:solidFill>
                <a:latin typeface="Arial"/>
              </a:rPr>
              <a:t>объём</a:t>
            </a:r>
            <a:r>
              <a:rPr sz="1260" b="0" i="0">
                <a:solidFill>
                  <a:srgbClr val="21295C"/>
                </a:solidFill>
                <a:latin typeface="Arial"/>
              </a:rPr>
              <a:t> — здесь объём тот же, упала </a:t>
            </a:r>
            <a:r>
              <a:rPr sz="1260" b="1" i="0">
                <a:solidFill>
                  <a:srgbClr val="21295C"/>
                </a:solidFill>
                <a:latin typeface="Arial"/>
              </a:rPr>
              <a:t>доля находок</a:t>
            </a:r>
            <a:r>
              <a:rPr sz="1260" b="0" i="0">
                <a:solidFill>
                  <a:srgbClr val="21295C"/>
                </a:solidFill>
                <a:latin typeface="Arial"/>
              </a:rPr>
              <a:t>.</a:t>
            </a:r>
          </a:p>
          <a:p>
            <a:pPr algn="l">
              <a:lnSpc>
                <a:spcPct val="126000"/>
              </a:lnSpc>
              <a:spcBef>
                <a:spcPts val="700"/>
              </a:spcBef>
            </a:pPr>
            <a:r>
              <a:rPr sz="1010" b="0" i="0">
                <a:solidFill>
                  <a:srgbClr val="21295C"/>
                </a:solidFill>
                <a:latin typeface="Arial"/>
              </a:rPr>
              <a:t/>
            </a:r>
            <a:r>
              <a:rPr sz="101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60" b="0" i="0">
                <a:solidFill>
                  <a:srgbClr val="21295C"/>
                </a:solidFill>
                <a:latin typeface="Arial"/>
              </a:rPr>
              <a:t/>
            </a:r>
            <a:r>
              <a:rPr sz="126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Копаешь — а там вообще нет модели.</a:t>
            </a:r>
            <a:r>
              <a:rPr sz="135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выигрыш не там, где показывают.</a:t>
            </a:r>
            <a:r>
              <a:rPr sz="135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числа выросли при пересказе.</a:t>
            </a:r>
            <a:r>
              <a:rPr sz="135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Приёмы, по одному на графу: </a:t>
            </a:r>
            <a:r>
              <a:rPr sz="1350" b="1" i="0">
                <a:solidFill>
                  <a:srgbClr val="21295C"/>
                </a:solidFill>
                <a:latin typeface="Arial"/>
              </a:rPr>
              <a:t>убери модель</a:t>
            </a:r>
            <a:r>
              <a:rPr sz="1350" b="0" i="0">
                <a:solidFill>
                  <a:srgbClr val="21295C"/>
                </a:solidFill>
                <a:latin typeface="Arial"/>
              </a:rPr>
              <a:t> · </a:t>
            </a:r>
            <a:r>
              <a:rPr sz="1350" b="1" i="0">
                <a:solidFill>
                  <a:srgbClr val="21295C"/>
                </a:solidFill>
                <a:latin typeface="Arial"/>
              </a:rPr>
              <a:t>спроси, от чего посчитан эффект</a:t>
            </a:r>
            <a:r>
              <a:rPr sz="1350" b="0" i="0">
                <a:solidFill>
                  <a:srgbClr val="21295C"/>
                </a:solidFill>
                <a:latin typeface="Arial"/>
              </a:rPr>
              <a:t> · </a:t>
            </a:r>
            <a:r>
              <a:rPr sz="1350" b="1" i="0">
                <a:solidFill>
                  <a:srgbClr val="21295C"/>
                </a:solidFill>
                <a:latin typeface="Arial"/>
              </a:rPr>
              <a:t>открой первоисточник и сверь выборку, дизайн и журнал</a:t>
            </a:r>
            <a:r>
              <a:rPr sz="135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Распознавание на изображении</a:t>
            </a:r>
            <a:r>
              <a:rPr sz="1500" b="0" i="0">
                <a:solidFill>
                  <a:srgbClr val="21295C"/>
                </a:solidFill>
                <a:latin typeface="Arial"/>
              </a:rPr>
              <a:t> — скрининг и чтение исследований. </a:t>
            </a:r>
            <a:r>
              <a:rPr sz="1500" b="0" i="1">
                <a:solidFill>
                  <a:srgbClr val="21295C"/>
                </a:solidFill>
                <a:latin typeface="Arial"/>
              </a:rPr>
              <a:t>Держат:</a:t>
            </a:r>
            <a:r>
              <a:rPr sz="150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Прогноз на структурированных данных</a:t>
            </a:r>
            <a:r>
              <a:rPr sz="1500" b="0" i="0">
                <a:solidFill>
                  <a:srgbClr val="21295C"/>
                </a:solidFill>
                <a:latin typeface="Arial"/>
              </a:rPr>
              <a:t> — раннее предупреждение, воронка активов. </a:t>
            </a:r>
            <a:r>
              <a:rPr sz="1500" b="0" i="1">
                <a:solidFill>
                  <a:srgbClr val="21295C"/>
                </a:solidFill>
                <a:latin typeface="Arial"/>
              </a:rPr>
              <a:t>Держат:</a:t>
            </a:r>
            <a:r>
              <a:rPr sz="150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Поиск и генерация на тексте</a:t>
            </a:r>
            <a:r>
              <a:rPr sz="1500" b="0" i="0">
                <a:solidFill>
                  <a:srgbClr val="21295C"/>
                </a:solidFill>
                <a:latin typeface="Arial"/>
              </a:rPr>
              <a:t> — запись приёма, выписка, дифференциальный диагноз. </a:t>
            </a:r>
            <a:r>
              <a:rPr sz="1500" b="0" i="1">
                <a:solidFill>
                  <a:srgbClr val="21295C"/>
                </a:solidFill>
                <a:latin typeface="Arial"/>
              </a:rPr>
              <a:t>Держат:</a:t>
            </a:r>
            <a:r>
              <a:rPr sz="150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Генерация структуры</a:t>
            </a:r>
            <a:r>
              <a:rPr sz="1500" b="0" i="0">
                <a:solidFill>
                  <a:srgbClr val="21295C"/>
                </a:solidFill>
                <a:latin typeface="Arial"/>
              </a:rPr>
              <a:t> — молекула под заданную мишень, дизайн белка. </a:t>
            </a:r>
            <a:r>
              <a:rPr sz="1500" b="0" i="1">
                <a:solidFill>
                  <a:srgbClr val="21295C"/>
                </a:solidFill>
                <a:latin typeface="Arial"/>
              </a:rPr>
              <a:t>Держат:</a:t>
            </a:r>
            <a:r>
              <a:rPr sz="150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Результат исполнителя без инструмента</a:t>
            </a:r>
            <a:r>
              <a:rPr sz="1500" b="0" i="0">
                <a:solidFill>
                  <a:srgbClr val="21295C"/>
                </a:solidFill>
                <a:latin typeface="Arial"/>
              </a:rPr>
              <a:t> — тот же врач, та же процедура, без помощника: находок меньше. </a:t>
            </a:r>
            <a:r>
              <a:rPr sz="1500" b="0" i="1">
                <a:solidFill>
                  <a:srgbClr val="21295C"/>
                </a:solidFill>
                <a:latin typeface="Arial"/>
              </a:rPr>
              <a:t>Держат:</a:t>
            </a:r>
            <a:r>
              <a:rPr sz="1500" b="0" i="0">
                <a:solidFill>
                  <a:srgbClr val="21295C"/>
                </a:solidFill>
                <a:latin typeface="Arial"/>
              </a:rPr>
              <a:t> </a:t>
            </a:r>
            <a:r>
              <a:rPr sz="150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сгустка те же, добавилась одна клетка, держат их четыре разные процедуры — </a:t>
            </a:r>
            <a:r>
              <a:rPr sz="1500" b="1" i="0">
                <a:solidFill>
                  <a:srgbClr val="21295C"/>
                </a:solidFill>
                <a:latin typeface="Arial"/>
              </a:rPr>
              <a:t>а пятую не держит ничто</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10" b="0" i="0">
                <a:solidFill>
                  <a:srgbClr val="21295C"/>
                </a:solidFill>
                <a:latin typeface="Arial"/>
              </a:rPr>
              <a:t/>
            </a:r>
            <a:r>
              <a:rPr sz="1110" b="0" i="0">
                <a:solidFill>
                  <a:srgbClr val="21295C"/>
                </a:solidFill>
                <a:latin typeface="Arial"/>
              </a:rPr>
              <a:t>У опоры «ошибается иначе» величины нет, и сказано это той же строкой, которой вечер требовал базу у чужих чисел: </a:t>
            </a:r>
            <a:r>
              <a:rPr sz="1110" b="1" i="0">
                <a:solidFill>
                  <a:srgbClr val="21295C"/>
                </a:solidFill>
                <a:latin typeface="Arial"/>
              </a:rPr>
              <a:t>доли взаимного перекрытия ошибок не измерены</a:t>
            </a:r>
            <a:r>
              <a:rPr sz="1110" b="0" i="0">
                <a:solidFill>
                  <a:srgbClr val="21295C"/>
                </a:solidFill>
                <a:latin typeface="Arial"/>
              </a:rPr>
              <a:t> — измерения есть, их числа сверку по первоисточнику не прошли. Держится опора механизмом: какая сторона сильнее, такой у пары и знак.</a:t>
            </a:r>
          </a:p>
          <a:p>
            <a:pPr algn="l">
              <a:lnSpc>
                <a:spcPct val="126000"/>
              </a:lnSpc>
              <a:spcBef>
                <a:spcPts val="700"/>
              </a:spcBef>
            </a:pPr>
            <a:r>
              <a:rPr sz="1110" b="0" i="0">
                <a:solidFill>
                  <a:srgbClr val="21295C"/>
                </a:solidFill>
                <a:latin typeface="Arial"/>
              </a:rPr>
              <a:t/>
            </a:r>
            <a:r>
              <a:rPr sz="1110" b="0" i="0">
                <a:solidFill>
                  <a:srgbClr val="21295C"/>
                </a:solidFill>
                <a:latin typeface="Arial"/>
              </a:rPr>
              <a:t>Три проверки, которые инженер может приложить к своему контуру:</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Есть ли у человека независимый источник истины, кроме объяснения модели?</a:t>
            </a:r>
            <a:r>
              <a:rPr sz="1110" b="0" i="0">
                <a:solidFill>
                  <a:srgbClr val="21295C"/>
                </a:solidFill>
                <a:latin typeface="Arial"/>
              </a:rPr>
              <a:t> Если он проверяет вывод по самообъяснению модели — это не проверка.</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Измерено ли, что он возражает?</a:t>
            </a:r>
            <a:r>
              <a:rPr sz="1110" b="0" i="0">
                <a:solidFill>
                  <a:srgbClr val="21295C"/>
                </a:solidFill>
                <a:latin typeface="Arial"/>
              </a:rPr>
              <a:t> Доля отклонений и доля </a:t>
            </a:r>
            <a:r>
              <a:rPr sz="1110" b="1" i="0">
                <a:solidFill>
                  <a:srgbClr val="21295C"/>
                </a:solidFill>
                <a:latin typeface="Arial"/>
              </a:rPr>
              <a:t>правильных</a:t>
            </a:r>
            <a:r>
              <a:rPr sz="111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Успевает ли он физически?</a:t>
            </a:r>
            <a:r>
              <a:rPr sz="111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890" b="0" i="0">
                <a:solidFill>
                  <a:srgbClr val="21295C"/>
                </a:solidFill>
                <a:latin typeface="Arial"/>
              </a:rPr>
              <a:t/>
            </a:r>
            <a:r>
              <a:rPr sz="890" b="0" i="1">
                <a:solidFill>
                  <a:srgbClr val="1C7293"/>
                </a:solidFill>
                <a:latin typeface="Arial"/>
              </a:rPr>
              <a:t>Норма сформулирована как способность вмешаться, а не как присутствие: формулировка не требует, чтобы человек смотрел каждое решение.</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2992350"/>
            <a:ext cx="1770735" cy="2032143"/>
          </a:xfrm>
          <a:prstGeom prst="roundRect">
            <a:avLst>
              <a:gd name="adj" fmla="val 172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147798"/>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750427"/>
            <a:ext cx="1441551" cy="111861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2992350"/>
            <a:ext cx="1770735" cy="2032143"/>
          </a:xfrm>
          <a:prstGeom prst="roundRect">
            <a:avLst>
              <a:gd name="adj" fmla="val 1721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9143" y="3147798"/>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750427"/>
            <a:ext cx="1441551" cy="1118618"/>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Решение, принятое по изделию до отзыва</a:t>
            </a:r>
          </a:p>
          <a:p>
            <a:pPr algn="l">
              <a:lnSpc>
                <a:spcPct val="126000"/>
              </a:lnSpc>
            </a:pPr>
            <a:r>
              <a:rPr sz="11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5079357"/>
            <a:ext cx="11112703" cy="979050"/>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30" b="0" i="0">
                <a:solidFill>
                  <a:srgbClr val="21295C"/>
                </a:solidFill>
                <a:latin typeface="Arial"/>
              </a:rPr>
              <a:t/>
            </a:r>
            <a:r>
              <a:rPr sz="123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30" b="0" i="0">
                <a:solidFill>
                  <a:srgbClr val="21295C"/>
                </a:solidFill>
                <a:latin typeface="Arial"/>
              </a:rPr>
              <a:t/>
            </a:r>
            <a:r>
              <a:rPr sz="123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