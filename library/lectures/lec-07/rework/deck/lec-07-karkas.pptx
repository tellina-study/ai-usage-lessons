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 Id="rId3" Type="http://schemas.openxmlformats.org/officeDocument/2006/relationships/hyperlink" Target="https://rg.ru/documents/2014/04/23/minzdrav-dok.html" TargetMode="External"/><Relationship Id="rId4" Type="http://schemas.openxmlformats.org/officeDocument/2006/relationships/hyperlink" Target="https://polimertest.ru/gallery/gallery-Prikaz_ot_30_08_21_N_885n_.pdf" TargetMode="External"/><Relationship Id="rId5" Type="http://schemas.openxmlformats.org/officeDocument/2006/relationships/hyperlink" Target="https://pravo.ppt.ru/kodeks/nk/st-333.32.2" TargetMode="External"/><Relationship Id="rId6" Type="http://schemas.openxmlformats.org/officeDocument/2006/relationships/hyperlink" Target="https://www.zakonrf.info/postanovlenie-pravitelstvo-rf-1684-30112024/" TargetMode="External"/><Relationship Id="rId7" Type="http://schemas.openxmlformats.org/officeDocument/2006/relationships/hyperlink" Target="https://www.fda.gov/media/158308/download" TargetMode="External"/><Relationship Id="rId8" Type="http://schemas.openxmlformats.org/officeDocument/2006/relationships/hyperlink" Target="https://www.vniiimt.ru/uslugi/ekspertiza/ekspertiza-dlya-gosudarstvennoy-registratsii-meditsinskikh-izdeliy/"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www.etnews.com/20260410000195" TargetMode="External"/><Relationship Id="rId5" Type="http://schemas.openxmlformats.org/officeDocument/2006/relationships/hyperlink" Target="https://www.dataeconomy.co.kr/news/articleView.html?idxno=42899" TargetMode="External"/><Relationship Id="rId6" Type="http://schemas.openxmlformats.org/officeDocument/2006/relationships/hyperlink" Target="https://medinform.jmir.org/2026/1/e85538" TargetMode="External"/><Relationship Id="rId7" Type="http://schemas.openxmlformats.org/officeDocument/2006/relationships/hyperlink" Target="https://www.jfmda.gr.jp/wp/wp-content/uploads/2026/01/Final-Study-Report-for-Review-of-SaMD-utilizing-AI_English.pdf" TargetMode="External"/><Relationship Id="rId8"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github.com/tellina-study/AI-usage-lessons/blob/main/library/lectures/lec-07/rework/research/16-doverie-patsienta-k-modeli.md"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niercheck.nl/wp-content/uploads/2019/06/Wilson-Jungner-1968.pdf" TargetMode="External"/><Relationship Id="rId4" Type="http://schemas.openxmlformats.org/officeDocument/2006/relationships/hyperlink" Target="https://www.milbank.org/wp-content/uploads/mq/volume-56/issue-04/56-4-The-Emergence-of-the-Concept-of-Screening-for-Disease.pdf" TargetMode="External"/><Relationship Id="rId5" Type="http://schemas.openxmlformats.org/officeDocument/2006/relationships/hyperlink" Target="https://journals.plos.org/plosmedicine/article?id=10.1371%2Fjournal.pmed.1004448" TargetMode="External"/><Relationship Id="rId6" Type="http://schemas.openxmlformats.org/officeDocument/2006/relationships/hyperlink" Target="https://www.medrxiv.org/content/10.1101/2024.07.25.24310967v1.full" TargetMode="External"/><Relationship Id="rId7" Type="http://schemas.openxmlformats.org/officeDocument/2006/relationships/hyperlink" Target="https://bcmj.org/blog/origins-pap-test"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arxiv.org/pdf/1606.02041"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www.accessdata.fda.gov/cdrh_docs/pdf18/DEN180001.pdf"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3390/diagnostics15070822"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3390/diagnostics15070822"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038/s42256-021-00307-0"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arxiv.org/abs/1711.05225"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056/NEJMc202924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7816/DD641703"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7816/DD641703"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3390/jcm1416570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126/sciadv.abq6147"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126/science.aax2342"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www.ijcai.org/proceedings/2025/1098.pdf"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www.ijcai.org/proceedings/2025/1098.pdf"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internmed.2017.1548"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www.medrxiv.org/content/10.1101/2025.07.10.25331333"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001/jamainternmed.2025.0821"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 Id="rId3" Type="http://schemas.openxmlformats.org/officeDocument/2006/relationships/hyperlink" Target="https://doi.org/10.1016/j.gie.2014.07.058" TargetMode="Externa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16/j.gie.2014.07.058"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33878/2073-7556-2025-24-3-12-21"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doi.org/10.1016/S2468-1253%2825%2900133-5"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 Id="rId12" Type="http://schemas.openxmlformats.org/officeDocument/2006/relationships/hyperlink" Target="https://doi.org/10.33878/2073-7556-2025-24-3-12-21" TargetMode="Externa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doi.org/10.1001/jamahealthforum.2025.3172"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 Поэтому порядок допуска входит в инженерное задание наравне с выбором модели.</a:t>
            </a:r>
          </a:p>
          <a:p>
            <a:r>
              <a:t/>
            </a:r>
          </a:p>
          <a:p>
            <a:r>
              <a:t>Начнём с американской стороны, потому что через неё прошло больше изделий с машинным обучением, чем через любую другую. Все медизделия в США разделены на три класса по риску для человека: класс I — бинты и ручной инструмент, класс II — инфузионные насосы и большинство диагностических систем, класс III — то, что поддерживает или замещает жизненно важную функцию: кардиостимуляторы, искусственные клапаны. Класс присвоен типу изделия, и таких типов у регулятора тысячи. Класс определяет, какой порядок допуска обязателен, и в этом смысле решение о пути принято задолго до того, как разработчик написал первую строку.</a:t>
            </a:r>
          </a:p>
          <a:p>
            <a:r>
              <a:t/>
            </a:r>
          </a:p>
          <a:p>
            <a:r>
              <a:t>Обычный порядок для класса II называется 510(k) — по номеру статьи закона. Производитель не доказывает безопасность и эффективность с нуля. Он доказывает, что его изделие существенно похоже на уже легально продающееся — на предшественника. Сравнивают назначение и технические характеристики, иногда стендовые данные, изредка минимальные клинические. Проспективных клинических испытаний этот путь почти никогда не требует, и долгосрочного исхода у человека тоже. Целевой срок рассмотрения — около 124 дней, и это общее время, которое регулятор делит с заявителем, а не время работы экспертов. Полный цикл — PMA — требует собственных клинических данных, полного досье производства, у значимых заявок ещё и публичного заседания внешней панели; целевой срок около 285 дней. Между этими двумя путями есть третий, De Novo: он придуман для изделия умеренного риска, у которого предшественника нет, и после него изделие само становится предшественником для чужих будущих заявок.</a:t>
            </a:r>
          </a:p>
          <a:p>
            <a:r>
              <a:t/>
            </a:r>
          </a:p>
          <a:p>
            <a:r>
              <a:t>Отдельно стоит назвать то, что в схеме не поместилось: часть изделий не проходит никакого предпродажного рассмотрения. Среди типов изделий класса I освобождены около 89,7%, среди типов класса II — около 13,3%. Освобождение снимает рассмотрение, но не снимает регистрацию производства, требования к системе качества, маркировку и отчётность о нежелательных явлениях.</a:t>
            </a:r>
          </a:p>
          <a:p>
            <a:r>
              <a:t/>
            </a:r>
          </a:p>
          <a:p>
            <a:r>
              <a:t>Российский порядок устроен иначе на обоих концах. Классов четыре — 1, 2а, 2б и 3, — и назначаются они по длительности применения и инвазивности, а не по назначению изделия: два изделия одного назначения могут получить разные классы. Форм оценки соответствия три. Технические испытания проводит аккредитованная лаборатория, регламентный срок — 30 рабочих дней. Токсикологические исследования обязательны при всех классах, включая первый. Клинические испытания требуют отдельного разрешения Росздравнадзора и бывают в двух формах, и это место стоит прочесть по тексту приказа. Пункт 37 перечисляет, когда нужны испытания с участием человека: новый вид изделия; применение новых сложных, уникальных или специальных методов; случай, когда анализ и оценка клинических данных эффективность и безопасность не подтвердили.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слова «аналог» в этом пункте нет ни в одном из трёх поднятых текстов — официальной публикации приказа № 2н 2014 года, его зеркале и документе Минюста по приказу № 885н 2021 года.</a:t>
            </a:r>
          </a:p>
          <a:p>
            <a:r>
              <a:t/>
            </a:r>
          </a:p>
          <a:p>
            <a:r>
              <a:t>И последняя ступень, которой у американского короткого пути нет совсем: государственная экспертиза качества, эффективности и безопасности. Её проводит ВНИИИМТ, и только по заданию Росздравнадзора, а не по заявлению производителя. Основание регистрации сформулировано через союз «и»: результаты испытаний и экспертиза. Это два параллельно обязательных основания, и класс риска определяет объём экспертизы, а не её необходимость. Регламентные сроки по сводным источникам — до 20 рабочих дней на экспертизу качества, эффективности и безопасности и до 10 на экспертизу клинических данных; на практике, когда в деле есть клинические испытания, проходит до полугода, потому что длительность самих испытаний не регламентирована.</a:t>
            </a:r>
          </a:p>
          <a:p>
            <a:r>
              <a:t/>
            </a:r>
          </a:p>
          <a:p>
            <a:r>
              <a:t>Цена вопроса в деньгах: за рассмотрение по короткому пути в США обычный заявитель платит 26 067 долларов, за полный цикл — 579 272; малому бизнесу в обеих графах вчетверо меньше. Российская пошлина за экспертизу привязана к классу: 72, 104, 136 и 184 тысячи рублей, плюс 11 тысяч за выдачу удостоверения. Те же суммы кодекс устанавливает и для союзной регистрации — разница между национальным и союзным треком не в тарифе.</a:t>
            </a:r>
          </a:p>
          <a:p>
            <a:r>
              <a:t/>
            </a:r>
          </a:p>
          <a:p>
            <a:r>
              <a:t>Сумма на кадре, 0,6–3 млн рублей по классам от первого до третьего, — не пошлина, а полная стоимость регистрации «под ключ». Это коммерческая оценка регистраторов-посредников, а не тариф регулятора: сама пошлина входит в неё лишь частью, остальное — услуги лаборатории, токсикологов и подготовки досье. Официального норматива на полную стоимость нет, потому что ВНИИИМТ не публикует сводный прейскурант в рублях по всем классам в одном месте.</a:t>
            </a:r>
          </a:p>
          <a:p>
            <a:r>
              <a:t/>
            </a:r>
          </a:p>
          <a:p>
            <a:r>
              <a:t>Две оговорки на день чтения. Приказ № 885н сменяется с 1 сентября 2026 года приказом № 421н; по сводкам основания для испытаний с участием человека там сформулированы тем же способом, но полный текст стоит взять напрямую. Американские пошлины взяты из отраслевых сводок тарифной сетки, а не из акта регулятора, и за год они выросли на 7,1% — у обеих категорий.</a:t>
            </a:r>
          </a:p>
          <a:p>
            <a:r>
              <a:t/>
            </a:r>
          </a:p>
          <a:p>
            <a:r>
              <a:t>**Источники.** </a:t>
            </a:r>
            <a:r>
              <a:rPr u="sng">
                <a:solidFill>
                  <a:srgbClr val="065A82"/>
                </a:solidFill>
                <a:hlinkClick r:id="rId3"/>
              </a:rPr>
              <a:t>Приказ Минздрава № 2н от 09.01.2014, официальная публикация «Российской газеты»</a:t>
            </a:r>
            <a:r>
              <a:t> · </a:t>
            </a:r>
            <a:r>
              <a:rPr u="sng">
                <a:solidFill>
                  <a:srgbClr val="065A82"/>
                </a:solidFill>
                <a:hlinkClick r:id="rId4"/>
              </a:rPr>
              <a:t>приказ № 885н от 30.08.2021, документ Минюста</a:t>
            </a:r>
            <a:r>
              <a:t> · </a:t>
            </a:r>
            <a:r>
              <a:rPr u="sng">
                <a:solidFill>
                  <a:srgbClr val="065A82"/>
                </a:solidFill>
                <a:hlinkClick r:id="rId5"/>
              </a:rPr>
              <a:t>НК РФ ст. 333.32.2, редакция от 01.10.2026</a:t>
            </a:r>
            <a:r>
              <a:t> · </a:t>
            </a:r>
            <a:r>
              <a:rPr u="sng">
                <a:solidFill>
                  <a:srgbClr val="065A82"/>
                </a:solidFill>
                <a:hlinkClick r:id="rId6"/>
              </a:rPr>
              <a:t>постановление Правительства № 1684 от 30.11.2024</a:t>
            </a:r>
            <a:r>
              <a:t> · </a:t>
            </a:r>
            <a:r>
              <a:rPr u="sng">
                <a:solidFill>
                  <a:srgbClr val="065A82"/>
                </a:solidFill>
                <a:hlinkClick r:id="rId7"/>
              </a:rPr>
              <a:t>FDA, MDUFA Performance Goals FY2023–2027</a:t>
            </a:r>
            <a:r>
              <a:t> · </a:t>
            </a:r>
            <a:r>
              <a:rPr u="sng">
                <a:solidFill>
                  <a:srgbClr val="065A82"/>
                </a:solidFill>
                <a:hlinkClick r:id="rId8"/>
              </a:rPr>
              <a:t>ВНИИИМТ об экспертизе для государственной регистрации</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Числа сняты с таблицы регулятора напрямую, прямым чтением страницы, а не взяты из отраслевой сводки — это важно, потому что сводки по этому предмету расходятся между собой на сотни изделий. В списке FDA на 17 октября 2026 года — 1 614 изделий с ИИ или машинным обучением. Знаменатель дальше везде этот, и его стоит произнести один раз громко: все доли ниже считаны от 1 614.</a:t>
            </a:r>
          </a:p>
          <a:p>
            <a:r>
              <a:t/>
            </a:r>
          </a:p>
          <a:p>
            <a:r>
              <a:t>Путей три, и доли между ними распределены крайне неравномерно. По короткому пути, через похожесть на предшественник, прошли 1 553 изделия — 96,2%. Новый класс через De Novo получили 40 — 2,5%. Полный цикл с собственными клиническими испытаниями прошли 21 изделие — 1,3%. Для сравнения: по всем медизделиям за историю системы доля полного цикла около 1,87%, то есть у изделий с ИИ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a:t>
            </a:r>
          </a:p>
          <a:p>
            <a:r>
              <a:t/>
            </a:r>
          </a:p>
          <a:p>
            <a:r>
              <a:t>Структура по специальностям объясняет, что такое «ИИ в медицине» на самом деле. Радиология — 1 230 изделий, 76,2%. Кардиология — 154, это 9,5%. Неврология — 73, 4,5%. Дальше идут анестезиология, гастроэнтерология, гематология, патология, офтальмология, хирургия и клиническая химия — у каждой от 9 до 30 изделий. Психиатрии в списке нет ни одного изделия за всю историю. То есть ИИ в медицине на 2026 год — это преимущественно работа с изображениями, и остальные специальности вместе не дают и четверти.</a:t>
            </a:r>
          </a:p>
          <a:p>
            <a:r>
              <a:t/>
            </a:r>
          </a:p>
          <a:p>
            <a:r>
              <a:t>Теперь про динамику, и здесь надо разделить два счёта, которые легко перепутать. Весь массив изделий с ИИ растёт быстро: 6 изделий в 2014 году, 335 в 2025-м, то есть каждое десятое новое медизделие в США в 2025 году — с ИИ, против двух на тысячу в 2015-м. Но если убрать короткий путь и оставить только изделия, допущенные без ссылки на предшественник, картина другая: накопленным счётом их было 7 к 2010 году и 56 к концу 2025-го. Плюс 49 за шестнадцать лет, в среднем по 3,1 изделия в год. Эта линия почти горизонтальна: 7 в 2021 году, 2 в 2022-м, 7 в 2023-м, 10 в 2024-м, 6 в 2025-м — ни одного признака ускорения.</a:t>
            </a:r>
          </a:p>
          <a:p>
            <a:r>
              <a:t/>
            </a:r>
          </a:p>
          <a:p>
            <a:r>
              <a:t>Рядом —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около 3 063 решений в 2015 году и около 3 265 в 2025-м. Изделия с ИИ не замещали собой что-то другое, они прибавлялись сверху.</a:t>
            </a:r>
          </a:p>
          <a:p>
            <a:r>
              <a:t/>
            </a:r>
          </a:p>
          <a:p>
            <a:r>
              <a:t>Страновой перечень требует отдельной оговорки, и она важнее самих цифр. Каждая строка считана по собственному признаку новизны, потому что единого международного определения «реально нового изделия» не существует. Корея: 88 изделий из 549 кумулятивно на первый квартал 2026 года, признак — добровольный инновационный статус, который регулятор присваивает сам; на 51,7 миллиона населения выходит 1,70. Если взять другой корейский признак — прошло ли изделие возмещение по страховке, — остаётся 49 из 549, и показатель падает до 0,95. Два честных числа по одной стране, разные критерии. Китай: 118 изделий из 154 прошли собственное клиническое испытание как путь допуска, по классу высокого риска отдельно — 116 из 123; на 1 409 миллионов населения это 0,08. Япония: около 14 из 51, и это экстраполяция общей доли по всем программным медизделиям на часть опытов с ИИ, а не прямой подсчёт. США: 61 из 1 614 на 342 миллиона населения — 0,18.</a:t>
            </a:r>
          </a:p>
          <a:p>
            <a:r>
              <a:t/>
            </a:r>
          </a:p>
          <a:p>
            <a:r>
              <a:t>Российская строка стоит на другом признаке, и это надо сказать залу прямо. Росздравнадзор не публикует разбивку «сколько изделий прошли испытания с участием человека, а сколько оценку по документам», поэтому в числителе стоят все 57 зарегистрированных изделий, а на 146 миллионов населения это даёт 0,39. Признак новизны к ним не применён — его нечем применить. Достоверно известно про первые два российских изделия 2020 года, Webiomed и Botkin.AI: аналогов в реестре у них не было, и оба прошли полноценные клинические испытания с участием пациентов. К 2026 году в реестре накопилось больше десяти продуктов анализа медицинских изображений, и для новых заявок той же товарной категории доказательная база по документам уже существует. Значит, строка 0,39 сравнима с остальными по способу счёта только условно, и приравнивать 57 российских изделий к 57 «реально новым» в американском смысле неверно. На рейтинге рядом стоит столбец, собранный из двух разных счётов: четыре строки — по признаку новизны, одна — по всему реестру.</a:t>
            </a:r>
          </a:p>
          <a:p>
            <a:r>
              <a:t/>
            </a:r>
          </a:p>
          <a:p>
            <a:r>
              <a:t>**Источники.** </a:t>
            </a:r>
            <a:r>
              <a:rPr u="sng">
                <a:solidFill>
                  <a:srgbClr val="065A82"/>
                </a:solidFill>
                <a:hlinkClick r:id="rId3"/>
              </a:rPr>
              <a:t>FDA, AI/ML-Enabled Medical Devices</a:t>
            </a:r>
            <a:r>
              <a:t> · </a:t>
            </a:r>
            <a:r>
              <a:rPr u="sng">
                <a:solidFill>
                  <a:srgbClr val="065A82"/>
                </a:solidFill>
                <a:hlinkClick r:id="rId4"/>
              </a:rPr>
              <a:t>Корея, кумулятивный счёт 549, отраслевой дайджест</a:t>
            </a:r>
            <a:r>
              <a:t> · </a:t>
            </a:r>
            <a:r>
              <a:rPr u="sng">
                <a:solidFill>
                  <a:srgbClr val="065A82"/>
                </a:solidFill>
                <a:hlinkClick r:id="rId5"/>
              </a:rPr>
              <a:t>Корея, возмещение 49 из 549</a:t>
            </a:r>
            <a:r>
              <a:t> · </a:t>
            </a:r>
            <a:r>
              <a:rPr u="sng">
                <a:solidFill>
                  <a:srgbClr val="065A82"/>
                </a:solidFill>
                <a:hlinkClick r:id="rId6"/>
              </a:rPr>
              <a:t>Китай, пути клинической оценки, JMIR Medical Informatics 2026</a:t>
            </a:r>
            <a:r>
              <a:t> · </a:t>
            </a:r>
            <a:r>
              <a:rPr u="sng">
                <a:solidFill>
                  <a:srgbClr val="065A82"/>
                </a:solidFill>
                <a:hlinkClick r:id="rId7"/>
              </a:rPr>
              <a:t>Япония, итоговый отчёт по программным медизделиям с ИИ</a:t>
            </a:r>
            <a:r>
              <a:t> · </a:t>
            </a:r>
            <a:r>
              <a:rPr u="sng">
                <a:solidFill>
                  <a:srgbClr val="065A82"/>
                </a:solidFill>
                <a:hlinkClick r:id="rId8"/>
              </a:rPr>
              <a:t>Webiomed, первое российское изделие с ИИ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нужен ровно затем, чтобы следующие два не слиплись в один. Про влияние ИИ на человека обычно говорят одним словом «человек», и получается каша: в одну кучу идут врач, который принимает решение, и пациент, который это решение принимает или не принимает. Это разные люди, разные механизмы и, что важнее для нас, разные замеры — их мерили разными способами, на разных выборках, и складывать их результаты между собой нельзя.</a:t>
            </a:r>
          </a:p>
          <a:p>
            <a:r>
              <a:t/>
            </a:r>
          </a:p>
          <a:p>
            <a:r>
              <a:t>Схема говорит одну вещь. До модели в приёме две стороны: врач принимает решение, пациент его получает. С моделью сторон по-прежнему две, но между ними появляется третий участник, и он влияет на обе. Это не «инструмент у врача в руках» — пациент тоже знает или не знает, что модель участвовала, и от этого меняется его поведение. Поэтому модель стоит в схеме не сбоку, а в самой цепочке.</a:t>
            </a:r>
          </a:p>
          <a:p>
            <a:r>
              <a:t/>
            </a:r>
          </a:p>
          <a:p>
            <a:r>
              <a:t>Со стороны врача меняется, как он принимает решение. Три вещи: на что он смотрит, чему верит и что умеет без помощника. На что смотрит — это буквально про движение глаза, и это измерено. Чему верит — про то, принимает ли он подсказку, когда она неверна, и это тоже измерено, причём на больших группах. Что умеет без помощника — про то, что остаётся, когда инструмент выключили, и это единственная из трёх вещей, измеренная не в лаборатории, а в живой работе.</a:t>
            </a:r>
          </a:p>
          <a:p>
            <a:r>
              <a:t/>
            </a:r>
          </a:p>
          <a:p>
            <a:r>
              <a:t>Со стороны пациента меняется другое: согласен ли он. Кому доверяет — врачу, который пользуется моделью, или врачу, который от неё отказался. Что просит перепроверить — и в какую сторону просит, потому что просьба несимметрична. От чего отказывается — и здесь выясняется, что отказ направлен не на модель вообще, а на модель, оставленную без человека.</a:t>
            </a:r>
          </a:p>
          <a:p>
            <a:r>
              <a:t/>
            </a:r>
          </a:p>
          <a:p>
            <a:r>
              <a:t>Почему разбирать порознь. Соблазн свести всё в одну картину велик, и он обманывает. У врача мерили поведение на задаче: читает снимок, ставит заключение, находит или пропускает. У пациента мерили согласие: выберет ли он такой приём, попросит ли перепроверку, доверяет ли врачу после того, как ему сказали про модель. Это разные предметы. Фраза «ИИ влияет на человека» их объединяет и тем самым врёт: влияние на того, кто решает, и влияние на того, кто с решением соглашается, — это два разных влияния, и они даже направлены в разные стороны. Врач модели доверяет слишком сильно; пациент — слишком слабо. Если произнести это одной фразой, получится бессмыслица, а порознь — два измеренных факта.</a:t>
            </a:r>
          </a:p>
          <a:p>
            <a:r>
              <a:t/>
            </a:r>
          </a:p>
          <a:p>
            <a:r>
              <a:t>И последнее, что стоит сказать здесь, а не на следующих кадрах. Ни один из замеров, которые будут дальше, не доходит до исхода пациента. Мерили работу врача и мерили согласие пациента; что стало со здоровьем человека на столе — не мерил никто из тех, на кого мы ссылаемся. Это честная граница всего блока, и назвать её лучше на входе, чем оправдываться на выходе.</a:t>
            </a:r>
          </a:p>
          <a:p>
            <a:r>
              <a:t/>
            </a:r>
          </a:p>
          <a:p>
            <a:r>
              <a:t>Ещё одно различие, которое стоит назвать здесь, потому что дальше оно будет мешать. Влияние на врача измеряли почти всегда в лаборатории: собирали набор случаев, нарочно портили часть подсказок, смотрели, что человек сделает. Влияние на пациента измеряли опросом и описанием случая: спрашивали, что он выберет, если. Ни то ни другое не есть наблюдение живой практики, и у обоих способов своя слабость. У лабораторного замера доля испорченных подсказок куда выше, чем в жизни, — значит и провал там резче. У опроса человек отвечает про воображаемую ситуацию, а не про ту, в которой ему страшно. Когда дальше прозвучат резкие числа, эту оговорку надо держать в уме: они верно показывают направление и завышают величину.</a:t>
            </a:r>
          </a:p>
          <a:p>
            <a:r>
              <a:t/>
            </a:r>
          </a:p>
          <a:p>
            <a:r>
              <a:t>**У кого в работе рядом встал инструмент, который меняет не результат, а то, как вы к нему приходите?**</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этого кадра — не наша. Три механизма предложены работой об искажениях при взаимодействии человек — модель, и медицинские замеры всей этой лекции ложатся на два из трёх как частный случай. Произносить это надо прямо: механизмы проверены в трёх областях на двух с лишним тысячах человек совокупно, значит медицина не особая. Возражение «у врачей так, потому что медицина» на одном медицинском замере не снимается, а на трёх областях снимается.</a:t>
            </a:r>
          </a:p>
          <a:p>
            <a:r>
              <a:t/>
            </a:r>
          </a:p>
          <a:p>
            <a:r>
              <a:t>Первая строка — единственная с контрольной ветвью, и поэтому она головная. Люди классифицировали выражение лиц в наборах по двенадцать; их ответы отдали свёрточной сети, та усилила исходное смещение, и рядом с ней работала новая группа людей. Доля смещённых ответов у этой группы выросла с сорока девяти и девяти десятых до пятидесяти шести и трёх десятых из ста. Контрольная ветвь устроена так же, только вместо модели — другие люди: там доля не изменилась, пятьдесят и шесть десятых против пятидесяти одного с половиной, различия нет. Вот это и есть содержание механизма: усиливает не согласие с чужим мнением вообще, усиливает именно модель. И усиление растёт: в первом блоке взаимодействия смещённых ответов было пятьдесят и семь десятых из ста, в последнем — шестьдесят один и четыре. Снежный ком, и он измерен, а не назван.</a:t>
            </a:r>
          </a:p>
          <a:p>
            <a:r>
              <a:t/>
            </a:r>
          </a:p>
          <a:p>
            <a:r>
              <a:t>Вторую строку надо произнести вместе с тем единственным приёмом, который якорение снимает, иначе кадр учит бессилию. Семьсот семьдесят пять менеджеров в двух опытах оценивали работу сотрудников после подсказки, и оценки стягивались к подсказке. Величину работа в реферате не печатает, и ставить сюда похожее число из другого опыта нельзя. Зато та же работа называет своим вторым вкладом приём, который якорение снимает: потребовать от человека рассмотреть противоположное. Это не то же, что предупредить. Предупреждение — сообщение, которое человек принимает к сведению и продолжает делать как делал; рассмотрение противоположного — действие, которое он обязан выполнить. Разница между сообщением и действием и есть практический вывод. И тонкость: источник подсказки взаимодействовал с величиной якоря — при высоком якоре человек и модель давали разные оценки, при низком разницы не было. Значит «модель влияет сильнее человека» верно не всегда, и это говорит сама работа.</a:t>
            </a:r>
          </a:p>
          <a:p>
            <a:r>
              <a:t/>
            </a:r>
          </a:p>
          <a:p>
            <a:r>
              <a:t>Третья строка — наследование, и у неё самый аккуратный замер из трёх: шестьсот шестьдесят шесть участников проходили тест критического мышления БЕЗ доступа к модели, и связь частоты пользования с результатом оказалась отрицательной и значимой. Коэффициента не называю: полный текст закрыт по всем маршрутам, включая ссылку, которую обещает указатель открытого доступа. Рядом там же две вещи, о которых спрашивают: чем моложе участник, тем сильнее опора на модель и ниже результат; а образование связано с результатом независимо от пользования. Два других замера этого же механизма: пятьдесят четыре человека писали эссе с моделью и без под замером токов мозга, и снижение сохранялось в сессиях без модели; шестьдесят семь человек оценивали правдивость новостей, и разговор с моделью веру в дезинформацию снижал, а устойчивого навыка различения не оставлял.</a:t>
            </a:r>
          </a:p>
          <a:p>
            <a:r>
              <a:t/>
            </a:r>
          </a:p>
          <a:p>
            <a:r>
              <a:t>Четвёртая и пятая строки — те же второй и третий механизмы, снятые в медицине. Двести двадцать читателей снимков грудной клетки: при верной подсказке доля верных заключений девяносто два и восемь десятых, при заведомо неверной — двадцать три и шесть. Это якорение в чистом виде, и падение здесь больше, чем прибавка от верной подсказки. Доля процедур с найденным предраковым образованием: в процедурах БЕЗ помощника она упала с двадцати восьми и четырёх десятых до двадцати двух и четырёх — двести двадцать шесть находок из семисот девяноста пяти процедур до внедрения, сто сорок пять из шестисот сорока восьми после. Разряд у этой строки слабее остальных: ретроспективное наблюдательное, окна по три месяца, повторения нет, и причинности авторы не утверждают. Врачей было девятнадцать — шестнадцать гастроэнтерологов и три хирурга; числа этого нет в реферате самой работы, оно из разбора рецензируемого журнального клуба, то есть источник второго разряда. Оттуда же возражение, которое надо произнести вместе с падением: среднее число находок на процедуру изменилось незначимо — ноль пятьдесят четыре против ноль сорока трёх, — и по продвинутым находкам разницы нет вовсе. То есть упала доля процедур с находкой, а не количество найденного.</a:t>
            </a:r>
          </a:p>
          <a:p>
            <a:r>
              <a:t/>
            </a:r>
          </a:p>
          <a:p>
            <a:r>
              <a:t>Последняя подпись отвечает на вопрос, который зал задаёт сам: почему этого не видно изнутри. В той же первой работе участников спросили, насколько на них повлиял каждый алгоритм, и они назвали смещающий менее влиятельным, чем точный, — то есть ровно наоборот. А без всякой модели человек своё смещение правит сам: доля падала с пятидесяти шести и семи десятых до пятидесяти одного и девяти по ходу опыта.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**Источники.** Полная запись — </a:t>
            </a:r>
            <a:r>
              <a:rPr u="sng">
                <a:solidFill>
                  <a:srgbClr val="065A82"/>
                </a:solidFill>
                <a:hlinkClick r:id="rId3"/>
              </a:rPr>
              <a:t>разбор работы владельца об искажениях</a:t>
            </a:r>
            <a:r>
              <a:t> (рамка трёх механизмов и все 18 источников) и </a:t>
            </a:r>
            <a:r>
              <a:rPr u="sng">
                <a:solidFill>
                  <a:srgbClr val="065A82"/>
                </a:solidFill>
                <a:hlinkClick r:id="rId4"/>
              </a:rPr>
              <a:t>свод медицинских замеров</a:t>
            </a:r>
            <a:r>
              <a:t>. Числа первой строки и последней подписи сняты из полного текста Glickman и Sharot, Nature Human Behaviour 2025, PMID 39695250; четвёртой — Prinster и соавт., Radiology 2024;313(2), опыт с имитированной подсказкой; пятой — Budzyń и соавт., PMID 40816301.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врача мерили поведение на задаче. У пациента мерят согласие — чем он отвечает на сам факт, что в его случае участвовала модель. И первое для зала: согласие это не одно число. Пациент принимает модель помощником и отвергает исполнителем, причём обе величины сняты на одних и тех же людях.</a:t>
            </a:r>
          </a:p>
          <a:p>
            <a:r>
              <a:t/>
            </a:r>
          </a:p>
          <a:p>
            <a:r>
              <a:t>Замер, который прямее остальных. Тысяча семьсот шестьдесят два взрослых, представительных для населения Соединённых Штатов, случайно разделены на четыре группы по признаку пользования ИИ. Профиль врача у всех один. Шкала пятиступенчатая, приведённая к отрезку от нуля до единицы; лестница вышла ровная: шестьдесят три сотых, пятьдесят, тридцать четыре, тридцать. Раскрытие стоит пациенту двадцати пунктов доверия от середины шкалы. И менее ожидаемое: прямой отказ от ИИ приносит врачу тринадцать пунктов сверх того, что он имеет, когда об ИИ не сказано вовсе. Молчание — не нейтральная позиция, а уже проигрышная относительно заявленного отказа.</a:t>
            </a:r>
          </a:p>
          <a:p>
            <a:r>
              <a:t/>
            </a:r>
          </a:p>
          <a:p>
            <a:r>
              <a:t>Вторая и третья строки сняты на одной выборке и читаются вместе. Пятьсот восемнадцать женщин, пришедших на снимок молочной железы. Модель единственным читателем согласились принять двадцать три человека; вторым читателем — триста шестьдесят восемь из тех же пятисот восемнадцати. Разница в шестнадцать раз: пациент против не модели, а её одиночества. Третья строка показывает, что согласие несимметрично. Трёмстам пятидесяти девяти участницам задали оба вопроса: тревогу подняла модель — пусть посмотрит врач? триста девятнадцать да. Вызвал врач — пусть посмотрит модель? сто восемьдесят четыре. Перепроверка просится вверх и почти не просится вниз.</a:t>
            </a:r>
          </a:p>
          <a:p>
            <a:r>
              <a:t/>
            </a:r>
          </a:p>
          <a:p>
            <a:r>
              <a:t>Четвёртая строка про то, чем согласие двигается на самом деле. Двести сорок восемь взрослых с диабетом первого типа: пора на ежегодный осмотр глаз, доступна самостоятельная модель вместо направления к специалисту. Снятие доплаты в пятьдесят долларов подняло выбор модели с сорока трёх до восьмидесяти одного из ста, почти вдвое, а кто за неё платит — страховщик или разработчик, — на выбор не повлияло. Рядом то, что деньгами не сдвинулось: выбравшие модель хотели перепроверки у специалиста заметно сильнее обратного, и хотели её даже при нормальном результате. Произносить это надо парой: цена согласие покупает, доверия не покупает.</a:t>
            </a:r>
          </a:p>
          <a:p>
            <a:r>
              <a:t/>
            </a:r>
          </a:p>
          <a:p>
            <a:r>
              <a:t>Пятая строка — противоположный знак, и его надо назвать честно. Сорок пять человек с онкологическим диагнозом оценивали ответы на вопросы о болезни: четыре ответа на вопрос, три машинных и один врачебный, перемешанные и без подписи. Сочувствие в машинном ответе они оценили в четыре целых одиннадцать сотых из пяти, во врачебном — в две целых одну сотую. Строка говорит не то, что машина сочувствует: человек, не знающий авторства, выбирает машинный текст, а знающий — снижает доверие к врачу за один факт пользования. В одну фразу эти две строки не складываются: выборки и вопросы разные, и у пятой сорок пять участников, почти все старше шестидесяти пяти.</a:t>
            </a:r>
          </a:p>
          <a:p>
            <a:r>
              <a:t/>
            </a:r>
          </a:p>
          <a:p>
            <a:r>
              <a:t>Про новизну. Сто два взрослых курильщика пять недель разговаривали с чат-ботом поддержки отказа от курения, удовлетворённость замерялась каждую неделю. Кривая ровно та, которую новизна и даёт: три целых четыре десятых на входе, три целых семь на первой неделе — вершина, — и три целых ноль к пятой. Причину авторы называют предположительно, и на исход вмешательства падение не повлияло. И прямо скажу, чего нет: замера затухания доверия пациента к медицинской модели во времени не нашлось ни одного. Всё, что есть рядом, — срез по частоте собственного пользования ИИ в работе о раскрытии: у тех, кто пользуется часто, разрыв доверия меньше. Это срез, а не наблюдение во времени.</a:t>
            </a:r>
          </a:p>
          <a:p>
            <a:r>
              <a:t/>
            </a:r>
          </a:p>
          <a:p>
            <a:r>
              <a:t>Про возраст и образование, потому что спрашивают именно об этом. В работе о раскрытии падение доверия оказалось одинаковым по возрасту, полу, образованию и политическим взглядам: отказ широкий, а не свойство группы, — и это снимает удобное «не привыкли старшие». Одобрение модели в принципе у образованных выше, отношение шансов около двух, но это другой вопрос и другие люди.</a:t>
            </a:r>
          </a:p>
          <a:p>
            <a:r>
              <a:t/>
            </a:r>
          </a:p>
          <a:p>
            <a:r>
              <a:t>И последнее, прикладное. Три тысячи взрослых выбирали между описаниями приёма; цена двух признаков названа числом: присутствие врача поднимает вероятность выбора на восемнадцать пунктов, уровень модели выше специалиста — на тридцать два. Вот и ответ, чем лечить недоверие: качеством модели и человеком, оставленным в контуре. Объяснения и кампании в этом замере не участвовали.</a:t>
            </a:r>
          </a:p>
          <a:p>
            <a:r>
              <a:t/>
            </a:r>
          </a:p>
          <a:p>
            <a:r>
              <a:t>**Источники.** Полная запись всех шести замеров с выборками, интервалами и разрядом — </a:t>
            </a:r>
            <a:r>
              <a:rPr u="sng">
                <a:solidFill>
                  <a:srgbClr val="065A82"/>
                </a:solidFill>
                <a:hlinkClick r:id="rId3"/>
              </a:rPr>
              <a:t>свод доверия пациента к модели</a:t>
            </a:r>
            <a:r>
              <a:t>. Там же §8 — две пары, которые намеренно не собраны, и §9 — чего не нашлось.</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четыре разбора одной работы с четырёх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Четыре разбора показывают одну работу с четырёх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всякого разговора о модели — откуда вообще взялась сама идея осматривать здорового человека, у которого нет жалоб. Ответ лежит не в медицине изображений и не в статистике, а в истории организации самой медицины, и он старше любого компьютера.</a:t>
            </a:r>
          </a:p>
          <a:p>
            <a:r>
              <a:t/>
            </a:r>
          </a:p>
          <a:p>
            <a:r>
              <a:t>В 1920-е годы в США на одного врача приходилось около 800 человек населения. Историк медицины Стэнли Райзер в разборе происхождения скрининга приводит прямой расчёт современников: чтобы осмотреть всё население страны поголовно, каждому врачу пришлось бы тратить на это около двух с половиной часов в день — сверх всей остальной практики. Осмотреть каждого было физически невозможно, и вопрос «кого смотреть, если жалоб нет» долгое время не вставал вовсе: медицина лечила обратившегося, а не искала больного среди здоровых.</a:t>
            </a:r>
          </a:p>
          <a:p>
            <a:r>
              <a:t/>
            </a:r>
          </a:p>
          <a:p>
            <a:r>
              <a:t>Первый массовый случай, который показал, что скрытая болезнь есть у огромной доли людей, выглядящих здоровыми, — призывная медкомиссия Первой мировой войны. Из примерно 2,7 миллиона американцев, призванных на военную службу, у 47 процентов нашли физические дефекты — от плоскостопия до болезней сердца, ни разу не диагностированные раньше, потому что их никто специально не искал. Это был первый опыт национального масштаба: осмотр по формальному признаку (возраст, годность к службе) нашёл болезнь там, где никто её не предполагал.</a:t>
            </a:r>
          </a:p>
          <a:p>
            <a:r>
              <a:t/>
            </a:r>
          </a:p>
          <a:p>
            <a:r>
              <a:t>Из этого в 1920-е годы родилось общественное движение за регулярный осмотр здорового человека. В 1914 году открылся Институт продления жизни (Life Extension Institute) — за первое десятилетие он провёл больше 250 тысяч осмотров. В 1917 году больше 10 процентов из трёхсот крупнейших корпораций США уже спонсировали регулярные медосмотры своих сотрудников. В 1922 году Американская медицинская ассоциация (AMA) формально одобрила ежегодный осмотр как практику, а в 1923 году Национальный совет здравоохранения запустил кампанию «пройди осмотр в день своего рождения» с целью провести 10 миллионов осмотров. Вторая мировая война повторила тот же урок на ещё большем масштабе: с 1940 по 1946 год призывная медкомиссия осмотрела около 20 миллионов американцев, и около трети получили отвод по медицинским показаниям.</a:t>
            </a:r>
          </a:p>
          <a:p>
            <a:r>
              <a:t/>
            </a:r>
          </a:p>
          <a:p>
            <a:r>
              <a:t>Параллельно шёл второй процесс — не осмотр отдельного человека, а организованный скрининг целой популяции одним методом. Самый измеренный пример — кампания против туберкулёза в Глазго весной 1957 года. За пять недель, с 11 марта по 12 апреля, тридцать семь передвижных рентгеновских установок, прикомандированных со всей Великобритании, обследовали 714 915 человек — это 76 процентов всего взрослого населения города. Нашли 2369 случаев туберкулёза — около 60 процентов всех случаев, зарегистрированных в городе в тот год. Темп снижения заболеваемости туберкулёзом в городе после кампании ускорился больше чем вдвое — с 2,3 процента в год до неё до 5,4 процента в год после. Рентген грудной клетки как инструмент существовал и раньше; новым было то, что его направили не на обратившегося больного, а на всё население города сразу, по формальному признаку «живёт в Глазго».</a:t>
            </a:r>
          </a:p>
          <a:p>
            <a:r>
              <a:t/>
            </a:r>
          </a:p>
          <a:p>
            <a:r>
              <a:t>Третий классический пример — мазок на цитологию, предложенный Георгиосом Папаниколау ещё в 1928 году и клинически описанный в начале 1940-х годов вместе с Гербертом Траутом. Путь от лабораторного метода до организованной программы занял больше двадцати лет: Британская Колумбия в Канаде одной из первых превратила отдельный тест в постоянную систему приглашений, и это тоже скрининг целой популяции по формальному признаку — на этот раз по полу и возрасту, а не по месту жительства. [VFY-day-of: точные годы и цифры охвата канадской программы и эффект на смертность по провинции расходятся у разных вторичных источников — перед устным использованием сверить по первоисточнику Popadiuk/bcmj.org отдельно.]</a:t>
            </a:r>
          </a:p>
          <a:p>
            <a:r>
              <a:t/>
            </a:r>
          </a:p>
          <a:p>
            <a:r>
              <a:t>К 1968 году накопленного опыта хватило, чтобы Всемирная организация здравоохранения формализовала сам вопрос: когда скрининг вообще оправдан как практика. Джеймс Уилсон и Гуннар Юнгнер сформулировали десять критериев, действующих до сих пор без единой модели внутри: у болезни должна быть распознаваемая скрытая или ранняя стадия, должно существовать признанное лечение и мощности его провести, тест должен быть приемлем для населения, а сам скрининг — не разовой кампанией, а постоянным процессом. Ни один из этих десяти критериев не говорит о точности алгоритма — все десять были написаны за много десятилетий до первой обученной модели, и это сам по себе урок: вопрос «оправдан ли скрининг» не сводится к вопросу «насколько точна модель внутри него», и первый вопрос был поставлен и формализован задолго до второго.</a:t>
            </a:r>
          </a:p>
          <a:p>
            <a:r>
              <a:t/>
            </a:r>
          </a:p>
          <a:p>
            <a:r>
              <a:t>Так закрывается общая картина происхождения скрининга как класса практики. Дальше раздел возвращается к одной конкретной его стадии — отбору на обследование — и к тому же самому вопросу в более узкой форме: кого именно и по какому формальному признаку позовут смотреть.</a:t>
            </a:r>
          </a:p>
          <a:p>
            <a:r>
              <a:t/>
            </a:r>
          </a:p>
          <a:p>
            <a:r>
              <a:t>**Источники.** </a:t>
            </a:r>
            <a:r>
              <a:rPr u="sng">
                <a:solidFill>
                  <a:srgbClr val="065A82"/>
                </a:solidFill>
                <a:hlinkClick r:id="rId3"/>
              </a:rPr>
              <a:t>Wilson, Jungner — Principles and practice of screening for disease, WHO 1968</a:t>
            </a:r>
            <a:r>
              <a:t> · </a:t>
            </a:r>
            <a:r>
              <a:rPr u="sng">
                <a:solidFill>
                  <a:srgbClr val="065A82"/>
                </a:solidFill>
                <a:hlinkClick r:id="rId4"/>
              </a:rPr>
              <a:t>Reiser — The Emergence of the Concept of Screening for Disease, Milbank Memorial Fund Quarterly 1978</a:t>
            </a:r>
            <a:r>
              <a:t> · </a:t>
            </a:r>
            <a:r>
              <a:rPr u="sng">
                <a:solidFill>
                  <a:srgbClr val="065A82"/>
                </a:solidFill>
                <a:hlinkClick r:id="rId5"/>
              </a:rPr>
              <a:t>Глазго 1957, массовая кампания против туберкулёза, PLOS Medicine 2024</a:t>
            </a:r>
            <a:r>
              <a:t> · </a:t>
            </a:r>
            <a:r>
              <a:rPr u="sng">
                <a:solidFill>
                  <a:srgbClr val="065A82"/>
                </a:solidFill>
                <a:hlinkClick r:id="rId6"/>
              </a:rPr>
              <a:t>препринт того же исследования, medRxiv</a:t>
            </a:r>
            <a:r>
              <a:t> · </a:t>
            </a:r>
            <a:r>
              <a:rPr u="sng">
                <a:solidFill>
                  <a:srgbClr val="065A82"/>
                </a:solidFill>
                <a:hlinkClick r:id="rId7"/>
              </a:rPr>
              <a:t>история мазка Папаниколау в Британской Колумбии, bcmj.org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 первый российский в разделе, и взят он не ради географии. Он единственный в деке, где видно, как модель допускают к массовому потоку и что с ней делают после допуска; три предыдущих разбора этой работы не делают, а у шведского порядка на предыдущем кадре про обучение и дрейф не сказано вообще ничего — источники молчат.</a:t>
            </a:r>
          </a:p>
          <a:p>
            <a:r>
              <a:t/>
            </a:r>
          </a:p>
          <a:p>
            <a:r>
              <a:t>Начну с того, что за случай. Москва, маммографический скрининг, часть городского опыта по компьютерному зрению в лучевой диагностике, который идёт с двухтысячного двадцатого года. За время этого опыта пятьдесят две разные модели обработали почти четырнадцать миллионов исследований — это рамка, в которой стоит наш случай, а сам случай один: модель «Цельс Маммография» на маммографическом потоке города.</a:t>
            </a:r>
          </a:p>
          <a:p>
            <a:r>
              <a:t/>
            </a:r>
          </a:p>
          <a:p>
            <a:r>
              <a:t>Теперь самое важное про механику, и именно здесь этот пример расходится со шведским. В шведской программе модель отбирает — ставит снимку оценку риска и по ней решает, выполнять ли второе человеческое чтение; заключение по каждому снимку всё равно выдаёт человек. Здесь устроено иначе: модель читает снимок первой, врач читает вторым, и замысел городского опыта назван прямо — заменить второго радиолога зарегистрированным медицинским изделием. Это один слот, и два разных способа его занять. Одна стадия, разные механики, поэтому это два разбора, а не один.</a:t>
            </a:r>
          </a:p>
          <a:p>
            <a:r>
              <a:t/>
            </a:r>
          </a:p>
          <a:p>
            <a:r>
              <a:t>Про устройство — то, чего зал до сих пор ни на одном кадре этого раздела не получил. Вход — стандартная маммограмма в четырёх снимках: две проекции на каждую грудь. Выход — не категория и не слово, а число от нуля до единицы на каждую грудь: вероятность признаков рака. Внутри — свёрточная сеть обнаружения Faster R-CNN с остовом ResNet-50; обучена она на трёх тысячах шестистах сорока одном снимке. Задержитесь на этой паре чисел: обучающая выборка — три с половиной тысячи снимков, проверочный поток — пятьсот девяносто три тысячи двести шестьдесят одно исследование. Отношение почти один к ста шестидесяти. Это не упрёк разработчику, это свойство задачи: разметить снимок с подтверждённым гистологией исходом дорого, и столько, сколько проходит через город за год, разметить нельзя.</a:t>
            </a:r>
          </a:p>
          <a:p>
            <a:r>
              <a:t/>
            </a:r>
          </a:p>
          <a:p>
            <a:r>
              <a:t>Цену обеих ошибок назову в тех же единицах, в которых её уже посчитал шведский порядок, потому что складывать разные единицы здесь нельзя. Пропустить рак — это интервальный рак: он придёт сам, позже и стадией крупнее, и у шведов это одна целая семьдесят шесть сотых случая на тысячу обследованных. Поднять ложную тревогу — это вызов женщины на второй снимок, у шведов две из ста. А теперь цена, которую меряет именно наш случай, и она другого рода: на входе в проверку у модели чувствительность ноль целых шестьдесят две сотых. Переведу: из ста признаков рака на наборе, где их искали, модель не нашла тридцать восемь. И с этой чувствительностью у неё уже было регистрационное удостоверение Росздравнадзора и европейский знак соответствия — оба получены в двадцать первом году, до того, как городская проверка началась. Вот это и есть главный урок кадра: регистрация изделия и работоспособность изделия — два разных факта, и первый не влечёт второго.</a:t>
            </a:r>
          </a:p>
          <a:p>
            <a:r>
              <a:t/>
            </a:r>
          </a:p>
          <a:p>
            <a:r>
              <a:t>Два классических режима, с которыми надо сравнивать, у нас уже посчитаны: двойное чтение двумя врачами с третьим на расхождении — тот самый порядок, который модель здесь и замещает, — и одно чтение одним врачом, которое шире распространено и которое нулём не работает. А теперь то, что я обязан сказать честно и чего многие пересказы этой работы не говорят: сравнения «модель вместо второго врача против двух врачей» по исходам в ней нет. Авторы не собирали ни выявляемость, ни долю вызовов, ни интервальные раки — и называют это собственным ограничением, в тексте, своими словами. Значит у этого случая нет измеренного выигрыша по исходам, и приписывать его модели мы не станем. Что в нём измерено — на следующем кадре; измерено там много, но измерено другое.</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ради чего этот разбор здесь стоит: что с моделью делали после регистрации и до того, как город начал платить за её работу из страховых денег. Весь круг занял два года и девять месяцев.</a:t>
            </a:r>
          </a:p>
          <a:p>
            <a:r>
              <a:t/>
            </a:r>
          </a:p>
          <a:p>
            <a:r>
              <a:t>Первая проверка — функциональная, и она останавливает модель на двух пунктах, ни один из которых не про точность. Первое: в выходном документе и в дополнительной серии снимков не было пометки «только для исследовательских целей». Второе, и его стоит запомнить: находку модель подсвечивала цветом — а маммографические мониторы монохромные, и на них цветную подсветку не различить. Модель могла быть сколь угодно точной; её ответ физически не читался на том оборудовании, которое стоит в кабинете. Это и есть инженерная работа, которой не заменишь ни одной метрикой: пока кто-то не сел за реальный монитор, этого не видно.</a:t>
            </a:r>
          </a:p>
          <a:p>
            <a:r>
              <a:t/>
            </a:r>
          </a:p>
          <a:p>
            <a:r>
              <a:t>Вторая проверка — калибровочная, на сотне исследований с подтверждённой разметкой, и здесь модель не прошла по площади под кривой: напомню шкалу, ноль пять десятых — монетка, единица — без промаха. Порог был назначен ноль восемьдесят одна сотая, и взят он не с потолка: это нижняя граница доверительного интервала, который на той же задаче даёт сам радиолог. То есть требование сформулировано так: будь не хуже худшего правдоподобного человека. Модель дала ноль семьдесят три сотых и была отправлена обратно.</a:t>
            </a:r>
          </a:p>
          <a:p>
            <a:r>
              <a:t/>
            </a:r>
          </a:p>
          <a:p>
            <a:r>
              <a:t>Что разработчик переписал за следующий месяц — список стоит произнести, потому что он отвечает на вопрос «а что вообще делают, когда модель не прошла». Расширили обучающий набор. Доработали предобработку снимка. Добавили отдельный канал с подбором окна яркости и выравниванием гистограммы. Завели голову, которая оценивает качество входного изображения. Сменили остов сети с ResNet-50 на ResNeSt. Заменили грубое приведение области к размеру на точное. Поменяли функцию активации. После этого площадь под кривой стала ноль восемьдесят одна — ровно порог, не выше, — и модель пустили в поток. Дальше было ещё два пересмотра: на девятом месяце добавили класс фиброзно-кистозных изменений и разметку по международной шкале описания молочной железы, причём добавили по прямой просьбе радиологов; на пятнадцатом — ещё два класса находок, оценку качества снимка и деление на квадранты, а сеть перевели на другую архитектуру. К четвёртой версии площадь под кривой дошла до ноль девяносто четырёх сотых, а перед допуском к оплате была пятая калибровка, и на ней показатель оказался чуть ниже пика. Пересматривают не только вверх.</a:t>
            </a:r>
          </a:p>
          <a:p>
            <a:r>
              <a:t/>
            </a:r>
          </a:p>
          <a:p>
            <a:r>
              <a:t>Технические отказы — отдельная история и, пожалуй, самая полезная для инженера. Они упали с девяти процентов до одного, и это настоящее улучшение устойчивости. Но посмотрите на состав: большая часть отказов — это не разобранный целиком снимок, когда модель обработала один, два или три кадра из четырёх, и причины названы прямо — неверная настройка маммографа, параметры исследования, выставленные техником, и сбои самого городского архива. То есть значительная доля того, что в отчёте числится дефектом модели, дефектом модели не является. Без этого разбора цифра «отказы упали в девять раз» читалась бы как заслуга сети.</a:t>
            </a:r>
          </a:p>
          <a:p>
            <a:r>
              <a:t/>
            </a:r>
          </a:p>
          <a:p>
            <a:r>
              <a:t>И два нюанса, которые меняют надёжность всего, что я назвал; оба стоят на кадре. Первый: точность считана на ста исследованиях калибровочного набора — не на пятистах девяноста трёх тысячах. Поток такого размера мерил отказы, согласие врача и экспертную оценку, а не точность; авторы называют это ограничением сами. Второй: в проспективной части эталоном служило заключение врача — того самого, которого модель замещает. Такой мерой модель не может оказаться лучше человека даже теоретически, а общий промах обоих не виден вовсе. Добавлю третий, помельче: клинический обзор вёл один врач-эксперт за раз, и на пятнадцатом месяце он сменился — то есть сам измерительный прибор посреди замера поменялся, и авторы это оговаривают.</a:t>
            </a:r>
          </a:p>
          <a:p>
            <a:r>
              <a:t/>
            </a:r>
          </a:p>
          <a:p>
            <a:r>
              <a:t>Что переехало. Решение «годен ли выход модели» переехало от разработчика к городскому тестировщику: требования к выходу опубликованы, калибровка обязательна, отчёт уходит разработчику каждый месяц. А у врача появился шаг, которого не было: тридцать три радиолога за время наблюдения нажали кнопку «не согласен» тысячу семьсот сорок пять раз из восьми тысяч четырёхсот шести ответов — каждый пятый раз. Это «Несогласие», пятый из шести механизмов, которые мы назвали на входе: расхождение с моделью разбирают отдельным шагом, и шаг этот оплачивается рабочим временем. В январе двадцать третьего года город ввёл отдельную оплачиваемую услугу — описание и интерпретация маммографии с применением модели. Два года девять месяцев от начала проверки до тарифа.</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Так бывает, но по стране это не делится: отечественная платформа лучевой диагностики публикует охват без устройства, и ровно на ней же, на московском маммографическом разборе, устройство раскрыто полнее, чем в любом другом случае этого раздела, — архитектура, объём обучающей выборки, происхождение порога, состав отказов. Шведская и германская программы скрининга устройство публикуют обе, а про обучение и дрейф не говорят ни одна. Значит делится это не по стране, а по тому, кто именно отчитывается: платформа отчитывается охватом, проверка изделия — устройством.</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И один механизм из тех шести, что названы на входе, этот раздел встретил по-настоящему: «Несогласие». На московском маммографическом потоке тридцать три радиолога нажали «не согласен» тысячу семьсот сорок пять раз из восьми тысяч четырёхсот шести ответов — каждый пятый раз, — и разбор каждого такого расхождения оплачивается рабочим временем, которого до модели на этом шаге не тратили.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одной рабочей точкой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названной рабочей точке: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где внедрения провалились, стоит назвать обе половины честно — и начать с той, которую легко принять за реверанс. Она не реверанс.</a:t>
            </a:r>
          </a:p>
          <a:p>
            <a:r>
              <a:t/>
            </a:r>
          </a:p>
          <a:p>
            <a:r>
              <a:t>Постоянство. Система читает десятитысячный снимок так же, как первый, и не устаёт. У человека к концу смены доля пропусков меняется, и это измерено в литературе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и вот это свойство недооценивают сильнее двух первых — оно делает возможным разбор расхождений. У двух людей такой возможности нет: переспросить вчерашнего себя нельзя.</a:t>
            </a:r>
          </a:p>
          <a:p>
            <a:r>
              <a:t/>
            </a:r>
          </a:p>
          <a:p>
            <a:r>
              <a:t>Теперь вторая половина, и в ней три вещи, причём ни одна не про качество модели.</a:t>
            </a:r>
          </a:p>
          <a:p>
            <a:r>
              <a:t/>
            </a:r>
          </a:p>
          <a:p>
            <a:r>
              <a:t>Качество входа: система не умеет переснять. Решение «годится или переснять» принимает человек у прибора, и в приборе этого правила нет — об этом был предыдущий кадр.</a:t>
            </a:r>
          </a:p>
          <a:p>
            <a:r>
              <a:t/>
            </a:r>
          </a:p>
          <a:p>
            <a:r>
              <a:t>Перенос: доли, посчитанные в одной больнице, не переезжают в другую вместе с прибором, потому что переезжает прибор, а группа остаётся на месте. Это тот же счёт, что мы вели двумя кадрами раньше, только с другой стороны.</a:t>
            </a:r>
          </a:p>
          <a:p>
            <a:r>
              <a:t/>
            </a:r>
          </a:p>
          <a:p>
            <a:r>
              <a:t>И третье — чем измерен сам вход. Здесь стоит задержаться, потому что это единственный случай раздела, где смещение доказано до всякой модели, и он самый неудобный для разговоров о «предвзятом алгоритме».</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против 3,6 у светлокожих. Знаменатели называю, потому что без них число не читается: 88 расхождений из 749 измерений против 99 из 2 778.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Смещение одностороннее, и направление здесь важнее величины. Прибор показывает выше, чем даёт анализ, значит опасное снижение насыщения он пропускает чаще — ошибка идёт в сторону «всё в порядке». Регулятор выпустил предупреждение в феврале 2021 года, а в январе 2025-го — проект руководства с требованием испытаний на разных тонах кожи. То есть это не предположение исследователей, а признанная проблема измерения, закреплённая документом.</a:t>
            </a:r>
          </a:p>
          <a:p>
            <a:r>
              <a:t/>
            </a:r>
          </a:p>
          <a:p>
            <a:r>
              <a:t>И вот то, ради чего прибор стоит на этом кадре. Обученной модели в нём нет.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встретимся в следующем разделе, — смещение наследует. Не создаёт, не усиливает по своей вине, а просто получает уже смещённое число и работает с ним как с измерением.</a:t>
            </a:r>
          </a:p>
          <a:p>
            <a:r>
              <a:t/>
            </a:r>
          </a:p>
          <a:p>
            <a:r>
              <a:t>Отсюда вывод, который раздел несёт дальше и который легко упустить, споря о справедливости алгоритмов: проверять надо не только модель, но и то, чем измерен её вход. Вопрос «на каких данных обучали» задают часто. Вопрос «чем получена каждая величина в этих данных» — почти никогда, и он дешевле: на него отвечает документация прибора, а не исследование.</a:t>
            </a:r>
          </a:p>
          <a:p>
            <a:r>
              <a:t/>
            </a:r>
          </a:p>
          <a:p>
            <a:r>
              <a:t>Сила свидетельства: проспективное сравнение с прямым анализом крови, направление подтверждено независимо и закреплено документом регулятора — сила свидетельства высокая.</a:t>
            </a:r>
          </a:p>
          <a:p>
            <a:r>
              <a:t/>
            </a:r>
          </a:p>
          <a:p>
            <a:r>
              <a:t>И у кадра есть вопрос в зал, он короткий. У кого в рабочем контуре на входе стоит величина, снятая прибором, а не введённая человеком? Если такая величина есть — кто проверял сам прибор?</a:t>
            </a:r>
          </a:p>
          <a:p>
            <a:r>
              <a:t/>
            </a:r>
          </a:p>
          <a:p>
            <a:r>
              <a:t>**Источники.** </a:t>
            </a:r>
            <a:r>
              <a:rPr u="sng">
                <a:solidFill>
                  <a:srgbClr val="065A82"/>
                </a:solidFill>
                <a:hlinkClick r:id="rId3"/>
              </a:rPr>
              <a:t>Sjoding и соавт., New England Journal of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названной рабочей точкой. Разбор самого случая идёт следующим кадром, и число оттуда же.</a:t>
            </a:r>
          </a:p>
          <a:p>
            <a:r>
              <a:t/>
            </a:r>
          </a:p>
          <a:p>
            <a:r>
              <a:t>Англия, рентген грудной клетки: тридцать четыре из ста. И здесь стоит остановиться, потому что доля зависит от знаменателя сильнее, чем кажется на слух. Числитель — 2,8 миллиона снимков в год — это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рабочую точку.</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Рабочую точку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рабочая точка выставлена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Рабочая точка, назначенная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Пульсоксиметр здесь стоит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восемьдесят восемь из семисот сорока девяти против девяноста девяти из двух тысяч семисот семидесяти восьми, смещение одностороннее, и регулятор это признал документом.</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 вопрос в зал на этом кадре такой. Возьмите классификатор из своей практики, работающий на редком событии. Можете ли вы назвать его рабочую точку, группу, на которой она посчитана, и частоту события там, где он применяется? Если хотя бы одно из трёх неизвестно — напишите в чат, какое именно; интересно, какой из трёх пропадает чаще.</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Шесть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У кого в работе подсказка инструмента приходит до вашего собственного решения — а не после? Если приходит до, замечали ли вы за собой, что перестали смотреть туда, где она молчит?</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Различает их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третьего столбца здесь нет,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разбор раздела и первый российский в нём. Все пять предыдущих мерили подсказку на одном исследовании: снимок, срез, кардиограмма, балл риска. Здесь модель читает медкарту целиком — и ставит не предварительный диагноз, а заключительный.</a:t>
            </a:r>
          </a:p>
          <a:p>
            <a:r>
              <a:t/>
            </a:r>
          </a:p>
          <a:p>
            <a:r>
              <a:t>Что за случай. Москва, приём терапевта или врача общей практики в городской поликлинике. Система называется AIDA; она встроена в городскую систему поддержки врачебных решений и работает поверх той же электронной медкарты, в которой врач и так сидит. Важное уточнение, чтобы не путать два изделия: раньше в Москве работал сервис, предлагавший три наиболее вероятных предварительных диагноза по жалобам, записанным при обращении. AIDA — следующая работа той же линии, и предмет у неё другой: не предварительный диагноз по жалобе, а заключительный диагноз по всей истории. Для нашей стадии это и есть нужный случай: раздел про то, как по собранным величинам выносят заключение.</a:t>
            </a:r>
          </a:p>
          <a:p>
            <a:r>
              <a:t/>
            </a:r>
          </a:p>
          <a:p>
            <a:r>
              <a:t>Устройство. Вход — не одно поле, а вся карта в текстовом виде: жалобы, анамнез, данные осмотра, результаты лаборатории, протоколы и заключения инструментальных исследований, история ранее выставленных кодов. Выход — один код международной классификации болезней плюс оценка собственной неуверенности. Внутри — языковая модель Longformer, то есть преобразователь с разреженным вниманием, который держит последовательность до восьми тысяч ста девяноста двух токенов; сначала её обучили предсказывать замаскированные слова на неструктурированных врачебных записях, потом донастроили предсказывать код. Обучающий набор — полтора миллиона обезличенных карт городской системы, из них миллион триста пятьдесят тысяч на обучение и сто тридцать три тысячи на проверку. Метками служили диагнозы, подтверждённые лабораторией или инструментально и помеченные в карте как заключительные.</a:t>
            </a:r>
          </a:p>
          <a:p>
            <a:r>
              <a:t/>
            </a:r>
          </a:p>
          <a:p>
            <a:r>
              <a:t>Две инженерные подробности оттуда же, обе поучительные. Первая: когда в текст подавали полные результаты лаборатории, точность ПАДАЛА — длинная выдача анализов вытесняла из окна старую историю, и модель теряла долгие тренды. Поэтому анализы подают только отклонившиеся от нормы. Вторая: добавление временных промежутков между приёмами, которое кажется очевидно полезным, измеримого улучшения не дало вовсе; рост и вес — тоже. Перебор признаков здесь мерили, а не угадывали, и самыми весомыми оказались жалобы и анамнез, а не лаборатория.</a:t>
            </a:r>
          </a:p>
          <a:p>
            <a:r>
              <a:t/>
            </a:r>
          </a:p>
          <a:p>
            <a:r>
              <a:t>Набор кодов — отдельная история про то, как задача сужается под практику. Сначала взяли двести пятьдесят шесть самых частых диагнозов. Расширили до пятисот семидесяти одного, и этот набор покрывал девяносто пять обращений из ста, кроме акушерства, онкологии и профосмотров. Потом СОКРАТИЛИ до трёхсот шестидесяти трёх, выбросив коды, которые терапевт не ставит, которых нет в клинических руководствах или которые не годятся как заключительные. То есть набор правили не ради метрики, а под то, что на этом месте вообще бывает заключительным диагнозом.</a:t>
            </a:r>
          </a:p>
          <a:p>
            <a:r>
              <a:t/>
            </a:r>
          </a:p>
          <a:p>
            <a:r>
              <a:t>Теперь классический режим, с которым сравнивают. Он здесь один и он измерен: врач решает сам. На наборе размеченных случаев врач даёт девяносто одну целую семь десятых верных из ста. Второго режима — второго мнения коллеги — на приёме в поликлинике просто нет: в разборе второго мнения мы уже говорили, чем оно держится, а на пятнадцатиминутном приёме держать его нечем. Это не пробел замера, это свойство стадии, и я называю его прямо.</a:t>
            </a:r>
          </a:p>
          <a:p>
            <a:r>
              <a:t/>
            </a:r>
          </a:p>
          <a:p>
            <a:r>
              <a:t>И главное число кадра, из-за которого разбор того стоит. Модель даёт восемьдесят семь целых семь десятых против девяносто одной целой семи десятых у врача. Модель ХУЖЕ врача на четыре пункта — и внедрена. Авторы не прячут это и не оправдывают: они пишут, что модель работает как средство проверки и страховки, чтобы ни одна существенная подробность карты не осталась незамеченной. Это важно разделить: аргумент «модель точнее человека» здесь не прозвучал ни разу, а три миллиона рекомендаций за первый год всё равно сделаны. Основание внедрения другое — не точность, а полнота просмотра.</a:t>
            </a:r>
          </a:p>
          <a:p>
            <a:r>
              <a:t/>
            </a:r>
          </a:p>
          <a:p>
            <a:r>
              <a:t>И последнее на этом кадре: модель умеет молчать. Она выдаёт код с оценкой неуверенности — сначала это был просто максимум выходного распределения, потом поставили отдельную модель оценки неуверенности, — и если неуверенность выше порога, ответа нет вовсе, а на экране появляется сообщение, что данных карты недостаточно; отдельно есть предупреждение «особо сложный случай». Отсюда разрыв в числах, который иначе выглядит потерей: пять миллионов запросов за первый год и три миллиона рекомендаций. Два миллиона раз модель отказалась отвечать. Авторы пишут, что именно этот отказ и поднимает доверие врачей к инструменту, — то есть умение молчать здесь часть изделия, а не его недоработка.</a:t>
            </a:r>
          </a:p>
          <a:p>
            <a:r>
              <a:t/>
            </a:r>
          </a:p>
          <a:p>
            <a:r>
              <a:t>**Источники.** </a:t>
            </a:r>
            <a:r>
              <a:rPr u="sng">
                <a:solidFill>
                  <a:srgbClr val="065A82"/>
                </a:solidFill>
                <a:hlinkClick r:id="rId3"/>
              </a:rPr>
              <a:t>Умеренков, Нестеров, Шапошников и соавт., IJCAI-25, с. 9880–9886</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то место, которое в разборах подсказки почти всегда пропускают, а оно и есть единственное, где подсказка вообще на что-то влияет.</a:t>
            </a:r>
          </a:p>
          <a:p>
            <a:r>
              <a:t/>
            </a:r>
          </a:p>
          <a:p>
            <a:r>
              <a:t>Набор, на котором всё посчитано: три тысячи пятьсот обезличенных случаев, выгруженных из той же городской системы, но ПОСЛЕ того, как обучающий набор был закрыт, — чтобы обучающие случаи не протекли в проверочные. Каждый случай независимо смотрели трое опытных врачей, видя всю историю; эталоном считался диагноз, на котором сошлись хотя бы двое.</a:t>
            </a:r>
          </a:p>
          <a:p>
            <a:r>
              <a:t/>
            </a:r>
          </a:p>
          <a:p>
            <a:r>
              <a:t>И вот первая вещь, которую стоит произнести медленно, потому что она про саму меру, а не про модель. Все трое сошлись в шестидесяти семи с половиной случаях из ста. Двое из трёх — в двадцати семи с половиной. А в пяти случаях из ста — это сто шестьдесят восемь случаев из трёх тысяч пятисот — трое опытных врачей, глядя на полную историю одного человека, не сошлись ВОВСЕ: три разных диагноза на один случай. Запомните это, когда в следующий раз услышите про точность диагностической модели: та линия, относительно которой её меряют, сама дрожит. Там, где эталон собирается голосованием двух из трёх, «точность» означает «совпадение с большинством», а не «правильность».</a:t>
            </a:r>
          </a:p>
          <a:p>
            <a:r>
              <a:t/>
            </a:r>
          </a:p>
          <a:p>
            <a:r>
              <a:t>Теперь главное число вечера для этого раздела, и я разложу его на три подмножества одного набора. Первое: случаи, где врач и модель дали одно и то же, — две тысячи шестьсот тридцать пять, то есть три четверти набора. Там верны оба практически всегда: девяносто девять из ста. Решать там нечего, подсказка там не нужна, и именно эти случаи дают основную часть красивой общей цифры. Второе: случаи, где врач и модель РАСОШЛИСЬ, — шестьсот девяносто семь, почти ровно пятая часть. И вот здесь: врач прав в шестидесяти четырёх случаях из ста, модель — в сорока пяти. Произнесу вывод прямо, он того стоит: в той пятой части случаев, где подсказка только и могла бы что-то изменить, не надёжен НИ ОДИН из двоих. Врач прав меньше чем в двух третях, модель — меньше чем в половине. Правило «слушай врача» там даёт треть ошибок, правило «слушай модель» — больше половины.</a:t>
            </a:r>
          </a:p>
          <a:p>
            <a:r>
              <a:t/>
            </a:r>
          </a:p>
          <a:p>
            <a:r>
              <a:t>Третье подмножество добивает картину. Возьмите те девятьсот шестьдесят пять случаев, где трое экспертов сошлись не полностью, то есть объективно трудные. Там обваливаются оба сразу: врач с девяноста семи до семидесяти восьми, модель с девяноста четырёх до семидесяти двух. Падают они вместе и примерно на одинаковую величину. Значит модель не трудна там, где трудно ей, — она трудна там, где трудно человеку, и ошибки у них коррелированы. Для пары это худший возможный расклад: страховка, которая отказывает одновременно со страхуемым, страховкой не является.</a:t>
            </a:r>
          </a:p>
          <a:p>
            <a:r>
              <a:t/>
            </a:r>
          </a:p>
          <a:p>
            <a:r>
              <a:t>И нюанс про сами проценты, который стоит на кадре. Восемьдесят семь целых семь десятых и девяносто одна целая семь десятых получены счётом, в котором синонимичный код классификации зачтён как верный — то есть та же болезнь, записанная другим кодом, считается попаданием. Строгим счётом, код в код: врач девяносто ровно, модель восемьдесят шесть целых одна десятая. Разница небольшая, но направление важно: заголовочная цифра — всегда более щедрая из двух, и спрашивать, какая именно считалась, надо до того, как её повторять.</a:t>
            </a:r>
          </a:p>
          <a:p>
            <a:r>
              <a:t/>
            </a:r>
          </a:p>
          <a:p>
            <a:r>
              <a:t>Что переехало. Три вещи, и ни одна не про точность. Первое: подсказка приходит ДО решения врача и стоит выше него на экране — не рядом, не по запросу, а наверху. Мы называли это механизмом на входе, и имя у него есть: якорение. Заключение сдвигается к подсказке, даже когда подсказка неверна, и порядок предъявления — управляемый параметр, который здесь выставлен в самую рискованную позицию. Второе: у врача появился шаг, которого не было в его работе, — решить, верить ли предложенному коду; в пятой части случаев этот шаг действительно совершается, и мы только что видели, чем он кончается. Третье, и это из опросов самих авторов: больше всего инструмент пригодился молодым специалистам — они с ним увереннее. Разрыв по стажу мы уже встречали на кардиограмме с неверной машинной расшифровкой; здесь он проступает с другой стороны, и честно сказать, что опросы эти качественные, числа у них нет.</a:t>
            </a:r>
          </a:p>
          <a:p>
            <a:r>
              <a:t/>
            </a:r>
          </a:p>
          <a:p>
            <a:r>
              <a:t>**Источники.** </a:t>
            </a:r>
            <a:r>
              <a:rPr u="sng">
                <a:solidFill>
                  <a:srgbClr val="065A82"/>
                </a:solidFill>
                <a:hlinkClick r:id="rId3"/>
              </a:rPr>
              <a:t>Умеренков, Нестеров, Шапошников и соавт., IJCAI-25, табл. 5, с. 9882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И механизм входа, который этот раздел встретил сильнее всех остальных: «Якорение». Московский шестой разбор ставит подсказку модели НАВЕРХ рабочего экрана до того, как врач решил, — то есть выставляет порядок предъявления в самую рискованную позицию, какая на этой стадии возможна. Там же измерено, чем это кончается в единственном месте, где подсказка на что-то влияет: в той пятой части случаев, где врач и модель расходятся, прав ни один — врач в шестидесяти четырёх случаях из ста, модель в сорока пяти.</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об одном случае, самое слабое свидетельство из возможных: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делает с записью модель, надо ответить на вопрос, который в этом разделе легко пропустить: а одинаково ли вообще устроена эта работа в разных странах? Канон курса велит не решать это на глаз, а проводить проверку: меняется ли от страны к стране порядок самой работы — или меняется только то, чей продукт её исполняет. Я проверку провёл, и она дала «обзор нужен». Скажу сразу, почему, потому что это не очевидно: сам канон предполагал обратное — что ведение документации подчиняется больничным правилам уровня организации, а не национальным, и странового разреза не заслуживает.</a:t>
            </a:r>
          </a:p>
          <a:p>
            <a:r>
              <a:t/>
            </a:r>
          </a:p>
          <a:p>
            <a:r>
              <a:t>Вот что переворачивает это предположение. Три врача, которые занимались внедрением одной и той же системы электронной карты в больницах США и за их пределами, заметили разницу в отношении: за границей коллеги ждали от цифровой карты улучшений, в США закатывали глаза. Они взяли данные самого поставщика и посчитали длину заметок. Американская заметка оказалась вчетверо длиннее: больше шести тысяч знаков против примерно тысячи двухсот у специалистов вне США.</a:t>
            </a:r>
          </a:p>
          <a:p>
            <a:r>
              <a:t/>
            </a:r>
          </a:p>
          <a:p>
            <a:r>
              <a:t>Обратите внимание на то, что здесь проконтролировано. Поставщик карты один и тот же. Интерфейс тот же, поля те же, инструменты вставки те же. Различие не может быть различием продукта — продукт один. Авторы называют причину прямо: документация вне США короче, потому что в неё кладут только клинически существенное; американская заметка раздута тем, что служит ещё и платёжным и контрольным документом. То есть различается не работа врача, а то, кто читает текст и за что по нему платят. Для нашего раздела это попадание в самую ось: он весь про то, кто прочтёт запись потом.</a:t>
            </a:r>
          </a:p>
          <a:p>
            <a:r>
              <a:t/>
            </a:r>
          </a:p>
          <a:p>
            <a:r>
              <a:t>Про силу этого свидетельства скажу честно, как со всяким числом лекции. Это редакционная статья, а не исследование с методом: числа предоставлены поставщиком, выборка и способ счёта в статье не раскрыты. Направление она показывает, величину — заявляет.</a:t>
            </a:r>
          </a:p>
          <a:p>
            <a:r>
              <a:t/>
            </a:r>
          </a:p>
          <a:p>
            <a:r>
              <a:t>Теперь второе число, и его надо отделить от первого. В двадцать первом году в США поправили правила оплаты приёма ровно с этой целью — снять с врача документирование, нужное только для счёта. Через три года посмотрели, что вышло: один миллиард семьсот миллионов заметок ста шестидесяти шести тысяч амбулаторных врачей. Средняя длина не упала, а выросла на восемь целых одну десятую процента — с четырёх тысяч шестисот двадцати восьми знаков до пяти тысяч двух. При этом время на одну заметку упало на одиннадцать целых одну десятую — с пяти минут двадцати четырёх секунд до четырёх минут сорока восьми секунд. Пишут быстрее, а не короче. И отдельная находка оттуда же, прямо по нашему разделу: длину снизили те учреждения, которые снизили употребление подстановки и копирования.</a:t>
            </a:r>
          </a:p>
          <a:p>
            <a:r>
              <a:t/>
            </a:r>
          </a:p>
          <a:p>
            <a:r>
              <a:t>Единицу и выборку здесь надо держать врозь от первого числа: шесть тысяч знаков — это сравнение стран на одной выборке специалистов, а четыре тысячи шестьсот двадцать восемь — средняя по всем амбулаторным заметкам другой выборки за другие годы. Эти два ряда в один столбик не складываются, и поэтому диаграммы на кадре нет.</a:t>
            </a:r>
          </a:p>
          <a:p>
            <a:r>
              <a:t/>
            </a:r>
          </a:p>
          <a:p>
            <a:r>
              <a:t>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Читатель, который проверяет запись, — экспертиза качества медицинской помощи; она смотрит, соответствовали ли действия порядкам, а не выставляет по объёму текста счёт. Это другой механизм давления на длину, чем американский. Сопоставимого замера длины заметки по России я не нашёл: ни публикации со счётом знаков, ни ведомственной статистики — и пишу это прямо, чтобы следующий, кто откроет вопрос, знал, что он уже был задан и чем кончился, а не подставлял сюда похожее число из американской работы.</a:t>
            </a:r>
          </a:p>
          <a:p>
            <a:r>
              <a:t/>
            </a:r>
          </a:p>
          <a:p>
            <a:r>
              <a:t>**Вопрос залу.** У кого на работе есть документ, который вы пишете не для коллеги, а для проверяющего, — насколько он длиннее того, что нужно по делу? Напишите в чат одной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У кого на работе расшифровка разговора уже пишет за вас документ — вы его перечитываете целиком или просматриваете?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вашу больницу.</a:t>
            </a:r>
          </a:p>
          <a:p>
            <a:r>
              <a:t/>
            </a:r>
          </a:p>
          <a:p>
            <a:r>
              <a:t>Вопрос залу я задаю здесь и про их собственную работу: у кого диктовка уже пишет протокол совещания или письмо — что у вас с чужой речью в записи. Ответ «в стенограмму попадает сосед по столу» и есть тот самый дефект, который в карте пациента становится назначением.</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Третий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Доля обнаружения, измеренная у тех же врачей до появления помощника и после периода работы с ним, — единственное прямое свидетельство износа на реальной клинической работе. Российское испытание ArtInCol меряет ту же величину на той же процедуре сильнее по разряду свидетельства, но периода наблюдения после снятия помощника у него нет. А рандомизированный опыт на разработчиках меряет ровно вторую половину пары — и меряет её жребием, то есть тем способом, которого нет у польской работы; клинической она при этом не является, и путать эти два разряда нельзя.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Поэтому вопрос про внешнюю числовую проверку формы имеет здесь неприятный ответ: у большинства никакой внешней числовой проверки формы нет, и узнать о падении им неоткуда — ровно как врачу из картины выше.</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у кого есть внешняя числовая проверка собственной формы и кто её считает — он сам, руководитель или заказчик.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на работе разработчиков такой замер появился, и он идёт следом, но клиническим он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третьим и закрывает дыру, которую два предыдущих оставили каждый по-своему. Польская работа измерила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мерит нужное слабым способом, другая мерит сильным способом не то. Здесь вторая половина пары измерена жребием.</a:t>
            </a:r>
          </a:p>
          <a:p>
            <a:r>
              <a:t/>
            </a:r>
          </a:p>
          <a:p>
            <a:r>
              <a:t>И сразу различение, которое нельзя проглотить. Польская работа мерила ИЗНОС: те же девятнадцать врачей были в форме и стали хуже. Здесь мерится ФОРМИРОВАНИЕ: библиотеки не знал никто, и вопрос стоял так: сложился ли навык вообще. Восьмую форму словаря — «исполнитель тот же, но стал хуже» —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И второе, ради чего случай взят именно сюда. Он снят на той работе, которой занят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рычаг, ради которого этот случай ценнее двух предыдущих.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польского,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переворачивает весь раздел, если её произнести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вашу собственную работу,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Сила свидетельства названа там, где она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своя сила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Вторая опора пятой формы — российская колоноскопия с допущенным устройством: часть поиска на рабочем месте делает оно,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 нагрузка выросла у того же врача на том же месте.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4 и 5, вторая опора у обеих: </a:t>
            </a:r>
            <a:r>
              <a:rPr u="sng">
                <a:solidFill>
                  <a:srgbClr val="065A82"/>
                </a:solidFill>
                <a:hlinkClick r:id="rId12"/>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hyperlink" Target="https://github.com/tellina-study/AI-usage-lessons/blob/main/library/lectures/lec-07/rework/research/12-korotkiy-put-v-rf-razbor.md" TargetMode="Externa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0-II-FDA-PERVICHNYY-SCHET.md" TargetMode="External"/><Relationship Id="rId4" Type="http://schemas.openxmlformats.org/officeDocument/2006/relationships/hyperlink" Target="https://github.com/tellina-study/AI-usage-lessons/blob/main/library/lectures/lec-07/rework/research/11-dinamika-po-stranam-realno-novye.md" TargetMode="External"/><Relationship Id="rId5" Type="http://schemas.openxmlformats.org/officeDocument/2006/relationships/hyperlink" Target="https://github.com/tellina-study/AI-usage-lessons/blob/main/library/lectures/lec-07/rework/research/13-koreya-kitay-proverka.md" TargetMode="Externa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5-rabota-vladeltsa-iskazheniya.md" TargetMode="External"/><Relationship Id="rId3" Type="http://schemas.openxmlformats.org/officeDocument/2006/relationships/hyperlink" Target="https://github.com/tellina-study/AI-usage-lessons/blob/main/library/lectures/lec-07/rework/research/10b-ii-ispolzovanie-i-effekt.md"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16-doverie-patsienta-k-modeli.md"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iercheck.nl/wp-content/uploads/2019/06/Wilson-Jungner-1968.pdf"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doi.org/10.1038/s42256-021-00307-0" TargetMode="Externa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doi.org/10.1136/bmjqs-2013-002627"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7326/M18-0139" TargetMode="External"/><Relationship Id="rId3" Type="http://schemas.openxmlformats.org/officeDocument/2006/relationships/hyperlink" Target="https://www.epicresearch.org/articles/two-years-after-coding-changes-sought-to-decrease-documentation-notes-remain-bloated/" TargetMode="External"/><Relationship Id="rId4" Type="http://schemas.openxmlformats.org/officeDocument/2006/relationships/hyperlink" Target="https://www.consultant.ru/document/cons_doc_LAW_429359/" TargetMode="Externa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16/j.gie.2014.07.058"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Механизмы допуска медицинского изделия: США и Россия</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ПОШЛИНА ЗА РАССМОТРЕНИЕ, США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26 067 · 579 272 доллара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короткий путь · полный цикл</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2" name="Rounded Rectangle 21"/>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4" name="Right Arrow 23"/>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27" name="Right Arrow 26"/>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0" name="Right Arrow 29"/>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3" name="TextBox 32"/>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4" name="Rounded Rectangle 33"/>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6" name="Right Arrow 35"/>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39" name="Right Arrow 38"/>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2" name="Right Arrow 41"/>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5" name="TextBox 44"/>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46" name="Rounded Rectangle 45"/>
          <p:cNvSpPr/>
          <p:nvPr/>
        </p:nvSpPr>
        <p:spPr>
          <a:xfrm>
            <a:off x="374904" y="4741704"/>
            <a:ext cx="11441887" cy="1494503"/>
          </a:xfrm>
          <a:prstGeom prst="roundRect">
            <a:avLst>
              <a:gd name="adj" fmla="val 20394"/>
            </a:avLst>
          </a:prstGeom>
          <a:solidFill>
            <a:srgbClr val="F4F7FA"/>
          </a:solidFill>
          <a:ln w="19050">
            <a:solidFill>
              <a:srgbClr val="1C7293"/>
            </a:solidFill>
          </a:ln>
          <a:effectLst/>
        </p:spPr>
        <p:txBody>
          <a:bodyPr rtlCol="0" anchor="ctr"/>
          <a:lstStyle/>
          <a:p>
            <a:pPr algn="ctr"/>
          </a:p>
        </p:txBody>
      </p:sp>
      <p:sp>
        <p:nvSpPr>
          <p:cNvPr id="47" name="TextBox 46"/>
          <p:cNvSpPr txBox="1"/>
          <p:nvPr/>
        </p:nvSpPr>
        <p:spPr>
          <a:xfrm>
            <a:off x="539496" y="4833144"/>
            <a:ext cx="11112703" cy="1403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r>
              <a:rPr sz="1500" b="0" i="0">
                <a:solidFill>
                  <a:srgbClr val="21295C"/>
                </a:solidFill>
                <a:latin typeface="Arial"/>
              </a:rPr>
              <a:t> Допуск — ворота и в клинику, и в закупку.</a:t>
            </a:r>
          </a:p>
          <a:p>
            <a:pPr algn="l">
              <a:lnSpc>
                <a:spcPct val="126000"/>
              </a:lnSpc>
              <a:spcBef>
                <a:spcPts val="700"/>
              </a:spcBef>
            </a:pPr>
            <a:r>
              <a:rPr sz="1500" b="0" i="0">
                <a:solidFill>
                  <a:srgbClr val="21295C"/>
                </a:solidFill>
                <a:latin typeface="Arial"/>
              </a:rPr>
              <a:t/>
            </a:r>
            <a:r>
              <a:rPr sz="1500" b="1" i="0">
                <a:solidFill>
                  <a:srgbClr val="21295C"/>
                </a:solidFill>
                <a:latin typeface="Arial"/>
              </a:rPr>
              <a:t>Короткий путь — заявление о похожести на уже допущенное изделие:</a:t>
            </a:r>
            <a:r>
              <a:rPr sz="1500" b="0" i="0">
                <a:solidFill>
                  <a:srgbClr val="21295C"/>
                </a:solidFill>
                <a:latin typeface="Arial"/>
              </a:rPr>
              <a:t> им идут 97,5 новых решений из ста, полным циклом — 1,04.</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9" name="TextBox 4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r>
              <a:rPr sz="1200" b="0" i="1">
                <a:solidFill>
                  <a:srgbClr val="1C7293"/>
                </a:solidFill>
                <a:latin typeface="Arial"/>
              </a:rPr>
              <a:t> · </a:t>
            </a:r>
            <a:r>
              <a:rPr sz="1200" b="0" i="1" u="sng">
                <a:solidFill>
                  <a:srgbClr val="065A82"/>
                </a:solidFill>
                <a:latin typeface="Arial"/>
                <a:hlinkClick r:id="rId4"/>
              </a:rPr>
              <a:t>короткий путь в России, разбор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Изделия с ИИ: счёт и пути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b-strany-i-dinamika.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предшественник</a:t>
            </a:r>
          </a:p>
        </p:txBody>
      </p:sp>
      <p:sp>
        <p:nvSpPr>
          <p:cNvPr id="10" name="Rounded Rectangle 9"/>
          <p:cNvSpPr/>
          <p:nvPr/>
        </p:nvSpPr>
        <p:spPr>
          <a:xfrm>
            <a:off x="4286402"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4" name="Rounded Rectangle 13"/>
          <p:cNvSpPr/>
          <p:nvPr/>
        </p:nvSpPr>
        <p:spPr>
          <a:xfrm>
            <a:off x="8069884"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РАДИОЛОГИЯ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1 230 из 1 614</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психиатрии ноль за всю историю</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Рост держится на одном уровне — 3,1 по-настоящему новых изделия в год, без ускорения.</a:t>
            </a:r>
            <a:r>
              <a:rPr sz="1400" b="0" i="0">
                <a:solidFill>
                  <a:srgbClr val="21295C"/>
                </a:solidFill>
                <a:latin typeface="Arial"/>
              </a:rPr>
              <a:t> Весь остальной прирост массива идёт через похожесть на предшественник.</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счёт по таблице FDA</a:t>
            </a:r>
            <a:r>
              <a:rPr sz="1200" b="0" i="1">
                <a:solidFill>
                  <a:srgbClr val="1C7293"/>
                </a:solidFill>
                <a:latin typeface="Arial"/>
              </a:rPr>
              <a:t> · </a:t>
            </a:r>
            <a:r>
              <a:rPr sz="1200" b="0" i="1" u="sng">
                <a:solidFill>
                  <a:srgbClr val="065A82"/>
                </a:solidFill>
                <a:latin typeface="Arial"/>
                <a:hlinkClick r:id="rId4"/>
              </a:rPr>
              <a:t>страновой разрез</a:t>
            </a:r>
            <a:r>
              <a:rPr sz="1200" b="0" i="1">
                <a:solidFill>
                  <a:srgbClr val="1C7293"/>
                </a:solidFill>
                <a:latin typeface="Arial"/>
              </a:rPr>
              <a:t> · </a:t>
            </a:r>
            <a:r>
              <a:rPr sz="1200" b="0" i="1" u="sng">
                <a:solidFill>
                  <a:srgbClr val="065A82"/>
                </a:solidFill>
                <a:latin typeface="Arial"/>
                <a:hlinkClick r:id="rId5"/>
              </a:rPr>
              <a:t>проверка Кореи и Китая</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ИИ: врачи и поток</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стороны приёма: врач и пациент</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TextBox 9"/>
          <p:cNvSpPr txBox="1"/>
          <p:nvPr/>
        </p:nvSpPr>
        <p:spPr>
          <a:xfrm>
            <a:off x="502920" y="42062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1" name="Rounded Rectangle 10"/>
          <p:cNvSpPr/>
          <p:nvPr/>
        </p:nvSpPr>
        <p:spPr>
          <a:xfrm>
            <a:off x="1920240"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13" name="Right Arrow 12"/>
          <p:cNvSpPr/>
          <p:nvPr/>
        </p:nvSpPr>
        <p:spPr>
          <a:xfrm>
            <a:off x="5039258" y="433878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16" name="Right Arrow 15"/>
          <p:cNvSpPr/>
          <p:nvPr/>
        </p:nvSpPr>
        <p:spPr>
          <a:xfrm>
            <a:off x="8386876" y="433878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416966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421538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19" name="TextBox 18"/>
          <p:cNvSpPr txBox="1"/>
          <p:nvPr/>
        </p:nvSpPr>
        <p:spPr>
          <a:xfrm>
            <a:off x="502920" y="48279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0" name="Rounded Rectangle 19"/>
          <p:cNvSpPr/>
          <p:nvPr/>
        </p:nvSpPr>
        <p:spPr>
          <a:xfrm>
            <a:off x="1920240"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2002536"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a:t>
            </a:r>
          </a:p>
        </p:txBody>
      </p:sp>
      <p:sp>
        <p:nvSpPr>
          <p:cNvPr id="22" name="Right Arrow 21"/>
          <p:cNvSpPr/>
          <p:nvPr/>
        </p:nvSpPr>
        <p:spPr>
          <a:xfrm>
            <a:off x="4202353" y="496047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4430953"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4513249"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a:t>
            </a:r>
          </a:p>
        </p:txBody>
      </p:sp>
      <p:sp>
        <p:nvSpPr>
          <p:cNvPr id="25" name="Right Arrow 24"/>
          <p:cNvSpPr/>
          <p:nvPr/>
        </p:nvSpPr>
        <p:spPr>
          <a:xfrm>
            <a:off x="6713067" y="496047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941667"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023963"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8" name="Right Arrow 27"/>
          <p:cNvSpPr/>
          <p:nvPr/>
        </p:nvSpPr>
        <p:spPr>
          <a:xfrm>
            <a:off x="9223781" y="496047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452381" y="4791360"/>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534677" y="4837080"/>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Пациент</a:t>
            </a:r>
          </a:p>
        </p:txBody>
      </p:sp>
      <p:sp>
        <p:nvSpPr>
          <p:cNvPr id="31" name="TextBox 30"/>
          <p:cNvSpPr txBox="1"/>
          <p:nvPr/>
        </p:nvSpPr>
        <p:spPr>
          <a:xfrm>
            <a:off x="502920" y="530332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встаёт не рядом с приёмом, а внутри него</a:t>
            </a:r>
          </a:p>
        </p:txBody>
      </p:sp>
      <p:sp>
        <p:nvSpPr>
          <p:cNvPr id="32" name="Rounded Rectangle 31"/>
          <p:cNvSpPr/>
          <p:nvPr/>
        </p:nvSpPr>
        <p:spPr>
          <a:xfrm>
            <a:off x="374904" y="5606013"/>
            <a:ext cx="11441887" cy="6301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697453"/>
            <a:ext cx="11112703" cy="538754"/>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У приёма две стороны: у врача мерили поведение на задаче, у пациента — согласие с решением, и это разные предметы измерения.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врача</a:t>
            </a:r>
          </a:p>
        </p:txBody>
      </p:sp>
      <p:sp>
        <p:nvSpPr>
          <p:cNvPr id="4" name="Rounded Rectangle 3"/>
          <p:cNvSpPr/>
          <p:nvPr/>
        </p:nvSpPr>
        <p:spPr>
          <a:xfrm>
            <a:off x="502920" y="133502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Якорение</a:t>
            </a:r>
          </a:p>
        </p:txBody>
      </p:sp>
      <p:sp>
        <p:nvSpPr>
          <p:cNvPr id="6" name="TextBox 5"/>
          <p:cNvSpPr txBox="1"/>
          <p:nvPr/>
        </p:nvSpPr>
        <p:spPr>
          <a:xfrm>
            <a:off x="594360" y="169578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Заключение врача сдвигается к подсказке модели, даже заведомо неверной: 23,6 против 92,8 из ста, 220 врачей.</a:t>
            </a:r>
          </a:p>
        </p:txBody>
      </p:sp>
      <p:sp>
        <p:nvSpPr>
          <p:cNvPr id="7" name="Rounded Rectangle 6"/>
          <p:cNvSpPr/>
          <p:nvPr/>
        </p:nvSpPr>
        <p:spPr>
          <a:xfrm>
            <a:off x="502920" y="2080010"/>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17145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Сужение</a:t>
            </a:r>
          </a:p>
        </p:txBody>
      </p:sp>
      <p:sp>
        <p:nvSpPr>
          <p:cNvPr id="9" name="TextBox 8"/>
          <p:cNvSpPr txBox="1"/>
          <p:nvPr/>
        </p:nvSpPr>
        <p:spPr>
          <a:xfrm>
            <a:off x="594360" y="2440774"/>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Там, где модель молчит, взгляд врача реже задерживается — пропущено 61 против 29 из ста, 10 врачей.</a:t>
            </a:r>
          </a:p>
        </p:txBody>
      </p:sp>
      <p:sp>
        <p:nvSpPr>
          <p:cNvPr id="10" name="Rounded Rectangle 9"/>
          <p:cNvSpPr/>
          <p:nvPr/>
        </p:nvSpPr>
        <p:spPr>
          <a:xfrm>
            <a:off x="502920" y="2824996"/>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16436"/>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Износ навыка</a:t>
            </a:r>
          </a:p>
        </p:txBody>
      </p:sp>
      <p:sp>
        <p:nvSpPr>
          <p:cNvPr id="12" name="TextBox 11"/>
          <p:cNvSpPr txBox="1"/>
          <p:nvPr/>
        </p:nvSpPr>
        <p:spPr>
          <a:xfrm>
            <a:off x="594360" y="3185760"/>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Привыкнув к модели, врач без неё находит меньше: 22,4 против 28,4 из ста, 1 443 процедуры.</a:t>
            </a:r>
          </a:p>
        </p:txBody>
      </p:sp>
      <p:sp>
        <p:nvSpPr>
          <p:cNvPr id="13" name="Rounded Rectangle 12"/>
          <p:cNvSpPr/>
          <p:nvPr/>
        </p:nvSpPr>
        <p:spPr>
          <a:xfrm>
            <a:off x="502920" y="3569982"/>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661422"/>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Поток тревог</a:t>
            </a:r>
          </a:p>
        </p:txBody>
      </p:sp>
      <p:sp>
        <p:nvSpPr>
          <p:cNvPr id="15" name="TextBox 14"/>
          <p:cNvSpPr txBox="1"/>
          <p:nvPr/>
        </p:nvSpPr>
        <p:spPr>
          <a:xfrm>
            <a:off x="594360" y="3930746"/>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Модель шлёт тревоги потоком, и врач отклоняет почти все подряд — 90 из ста, из высшей тяжести лишь 0,5.</a:t>
            </a:r>
          </a:p>
        </p:txBody>
      </p:sp>
      <p:sp>
        <p:nvSpPr>
          <p:cNvPr id="16" name="Rounded Rectangle 15"/>
          <p:cNvSpPr/>
          <p:nvPr/>
        </p:nvSpPr>
        <p:spPr>
          <a:xfrm>
            <a:off x="502920" y="4314968"/>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406408"/>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Несогласие</a:t>
            </a:r>
          </a:p>
        </p:txBody>
      </p:sp>
      <p:sp>
        <p:nvSpPr>
          <p:cNvPr id="18" name="TextBox 17"/>
          <p:cNvSpPr txBox="1"/>
          <p:nvPr/>
        </p:nvSpPr>
        <p:spPr>
          <a:xfrm>
            <a:off x="594360" y="4675732"/>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Расхождение с моделью разбирают отдельным шагом: 3 449 арбитражей без модели против 5 283 с ней, на 50 000 женщин.</a:t>
            </a:r>
          </a:p>
        </p:txBody>
      </p:sp>
      <p:sp>
        <p:nvSpPr>
          <p:cNvPr id="19" name="Rounded Rectangle 18"/>
          <p:cNvSpPr/>
          <p:nvPr/>
        </p:nvSpPr>
        <p:spPr>
          <a:xfrm>
            <a:off x="502920" y="505995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94360" y="515139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Поправка</a:t>
            </a:r>
          </a:p>
        </p:txBody>
      </p:sp>
      <p:sp>
        <p:nvSpPr>
          <p:cNvPr id="21" name="TextBox 20"/>
          <p:cNvSpPr txBox="1"/>
          <p:nvPr/>
        </p:nvSpPr>
        <p:spPr>
          <a:xfrm>
            <a:off x="594360" y="542071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Здесь наоборот: врач переписывает заключение модели, если находит ошибку — 31 из ста, 159 630 кардиограмм.</a:t>
            </a:r>
          </a:p>
        </p:txBody>
      </p:sp>
      <p:sp>
        <p:nvSpPr>
          <p:cNvPr id="22" name="Rounded Rectangle 21"/>
          <p:cNvSpPr/>
          <p:nvPr/>
        </p:nvSpPr>
        <p:spPr>
          <a:xfrm>
            <a:off x="374904" y="5804940"/>
            <a:ext cx="11441887" cy="4312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896380"/>
            <a:ext cx="11112703" cy="339827"/>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Предупредить не помогает — помогают только действия человека во время работы с моделью или после неё.</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r>
              <a:rPr sz="1200" b="0" i="1">
                <a:solidFill>
                  <a:srgbClr val="1C7293"/>
                </a:solidFill>
                <a:latin typeface="Arial"/>
              </a:rPr>
              <a:t> · </a:t>
            </a:r>
            <a:r>
              <a:rPr sz="1200" b="0" i="1" u="sng">
                <a:solidFill>
                  <a:srgbClr val="065A82"/>
                </a:solidFill>
                <a:latin typeface="Arial"/>
                <a:hlinkClick r:id="rId3"/>
              </a:rPr>
              <a:t>медицинские замеры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Влияние на пациента</a:t>
            </a:r>
          </a:p>
        </p:txBody>
      </p:sp>
      <p:sp>
        <p:nvSpPr>
          <p:cNvPr id="4" name="Rounded Rectangle 3"/>
          <p:cNvSpPr/>
          <p:nvPr/>
        </p:nvSpPr>
        <p:spPr>
          <a:xfrm>
            <a:off x="502920" y="133502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Раскрытие</a:t>
            </a:r>
          </a:p>
        </p:txBody>
      </p:sp>
      <p:sp>
        <p:nvSpPr>
          <p:cNvPr id="6" name="TextBox 5"/>
          <p:cNvSpPr txBox="1"/>
          <p:nvPr/>
        </p:nvSpPr>
        <p:spPr>
          <a:xfrm>
            <a:off x="594360" y="1695788"/>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пациенту говорят, что врач пользуется моделью, доверие к врачу падает: 0,30 против 0,63 у 1 762 взрослых.</a:t>
            </a:r>
          </a:p>
        </p:txBody>
      </p:sp>
      <p:sp>
        <p:nvSpPr>
          <p:cNvPr id="7" name="Rounded Rectangle 6"/>
          <p:cNvSpPr/>
          <p:nvPr/>
        </p:nvSpPr>
        <p:spPr>
          <a:xfrm>
            <a:off x="502920" y="2118360"/>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20980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Одиночество</a:t>
            </a:r>
          </a:p>
        </p:txBody>
      </p:sp>
      <p:sp>
        <p:nvSpPr>
          <p:cNvPr id="9" name="TextBox 8"/>
          <p:cNvSpPr txBox="1"/>
          <p:nvPr/>
        </p:nvSpPr>
        <p:spPr>
          <a:xfrm>
            <a:off x="594360" y="247912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Модель как единственного читателя снимка почти не принимают, а как второе мнение — охотно: 23 против 368 из 518.</a:t>
            </a:r>
          </a:p>
        </p:txBody>
      </p:sp>
      <p:sp>
        <p:nvSpPr>
          <p:cNvPr id="10" name="Rounded Rectangle 9"/>
          <p:cNvSpPr/>
          <p:nvPr/>
        </p:nvSpPr>
        <p:spPr>
          <a:xfrm>
            <a:off x="502920" y="2901697"/>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93137"/>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Асимметрия</a:t>
            </a:r>
          </a:p>
        </p:txBody>
      </p:sp>
      <p:sp>
        <p:nvSpPr>
          <p:cNvPr id="12" name="TextBox 11"/>
          <p:cNvSpPr txBox="1"/>
          <p:nvPr/>
        </p:nvSpPr>
        <p:spPr>
          <a:xfrm>
            <a:off x="594360" y="3262462"/>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Если тревогу поднимает модель — 319 из 359 просят проверки врача; если тревогу поднимает врач — лишь 184 из 359 просят проверки модели.</a:t>
            </a:r>
          </a:p>
        </p:txBody>
      </p:sp>
      <p:sp>
        <p:nvSpPr>
          <p:cNvPr id="13" name="Rounded Rectangle 12"/>
          <p:cNvSpPr/>
          <p:nvPr/>
        </p:nvSpPr>
        <p:spPr>
          <a:xfrm>
            <a:off x="502920" y="3685034"/>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77647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Цена</a:t>
            </a:r>
          </a:p>
        </p:txBody>
      </p:sp>
      <p:sp>
        <p:nvSpPr>
          <p:cNvPr id="15" name="TextBox 14"/>
          <p:cNvSpPr txBox="1"/>
          <p:nvPr/>
        </p:nvSpPr>
        <p:spPr>
          <a:xfrm>
            <a:off x="594360" y="4045799"/>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Когда осмотр моделью бесплатен, её выбирают заметно чаще — 81 против 43 из ста, 248 взрослых.</a:t>
            </a:r>
          </a:p>
        </p:txBody>
      </p:sp>
      <p:sp>
        <p:nvSpPr>
          <p:cNvPr id="16" name="Rounded Rectangle 15"/>
          <p:cNvSpPr/>
          <p:nvPr/>
        </p:nvSpPr>
        <p:spPr>
          <a:xfrm>
            <a:off x="502920" y="4468371"/>
            <a:ext cx="11185855" cy="69189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559811"/>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Безымянность</a:t>
            </a:r>
          </a:p>
        </p:txBody>
      </p:sp>
      <p:sp>
        <p:nvSpPr>
          <p:cNvPr id="18" name="TextBox 17"/>
          <p:cNvSpPr txBox="1"/>
          <p:nvPr/>
        </p:nvSpPr>
        <p:spPr>
          <a:xfrm>
            <a:off x="594360" y="4829135"/>
            <a:ext cx="11002975" cy="239692"/>
          </a:xfrm>
          <a:prstGeom prst="rect">
            <a:avLst/>
          </a:prstGeom>
          <a:noFill/>
        </p:spPr>
        <p:txBody>
          <a:bodyPr wrap="square" lIns="0" rIns="0" tIns="0" bIns="0" anchor="t">
            <a:spAutoFit/>
          </a:bodyPr>
          <a:lstStyle/>
          <a:p>
            <a:pPr algn="l">
              <a:lnSpc>
                <a:spcPct val="122000"/>
              </a:lnSpc>
            </a:pPr>
            <a:r>
              <a:rPr sz="1250" b="0" i="0">
                <a:solidFill>
                  <a:srgbClr val="21295C"/>
                </a:solidFill>
                <a:latin typeface="Arial"/>
              </a:rPr>
              <a:t>Без подписи автора ответ модели кажется более сочувственным, чем ответ врача: 4,11 против 2,01 из пяти, 45 человек.</a:t>
            </a:r>
          </a:p>
        </p:txBody>
      </p:sp>
      <p:sp>
        <p:nvSpPr>
          <p:cNvPr id="19" name="Rounded Rectangle 18"/>
          <p:cNvSpPr/>
          <p:nvPr/>
        </p:nvSpPr>
        <p:spPr>
          <a:xfrm>
            <a:off x="374904" y="5251708"/>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343148"/>
            <a:ext cx="11112703" cy="89305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Пациент принимает модель помощником и отвергает исполнителем.</a:t>
            </a:r>
          </a:p>
          <a:p>
            <a:pPr algn="l">
              <a:lnSpc>
                <a:spcPct val="118000"/>
              </a:lnSpc>
              <a:spcBef>
                <a:spcPts val="600"/>
              </a:spcBef>
            </a:pPr>
            <a:r>
              <a:rPr sz="1400" b="0" i="0">
                <a:solidFill>
                  <a:srgbClr val="21295C"/>
                </a:solidFill>
                <a:latin typeface="Arial"/>
              </a:rPr>
              <a:t/>
            </a:r>
            <a:r>
              <a:rPr sz="1400" b="1" i="0">
                <a:solidFill>
                  <a:srgbClr val="21295C"/>
                </a:solidFill>
                <a:latin typeface="Arial"/>
              </a:rPr>
              <a:t>Возраст и образование этого не объясняют. Затухания доверия во времени не измерено нигде.</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Полная запись источников</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без модели: шведская программа зовёт по возрасту</a:t>
            </a:r>
            <a:r>
              <a:rPr sz="1550" b="0" i="0">
                <a:solidFill>
                  <a:srgbClr val="21295C"/>
                </a:solidFill>
                <a:latin typeface="Arial"/>
              </a:rPr>
              <a:t> · </a:t>
            </a:r>
            <a:r>
              <a:rPr sz="1550" b="1" i="0">
                <a:solidFill>
                  <a:srgbClr val="21295C"/>
                </a:solidFill>
                <a:latin typeface="Arial"/>
              </a:rPr>
              <a:t>Пример 2: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3: глазное дно снимают на приёме</a:t>
            </a:r>
            <a:r>
              <a:rPr sz="1550" b="0" i="0">
                <a:solidFill>
                  <a:srgbClr val="21295C"/>
                </a:solidFill>
                <a:latin typeface="Arial"/>
              </a:rPr>
              <a:t> · </a:t>
            </a:r>
            <a:r>
              <a:rPr sz="1550" b="1" i="0">
                <a:solidFill>
                  <a:srgbClr val="21295C"/>
                </a:solidFill>
                <a:latin typeface="Arial"/>
              </a:rPr>
              <a:t>Пример 4: Москва, Россия — модель на месте второго читателя маммограмм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12a-ohvat-po-stranam.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10" name="Rounded Rectangle 9"/>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4" name="Rounded Rectangle 13"/>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 как практика: откуда он взялся</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1920-Е</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врач на ≈800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осмотреть каждого физически нечем</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ПРИЗЫВ, ПЕРВАЯ МИРОВАЯ</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из ста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 млн призванных: скрытая болезнь у годных на вид</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ГЛАЗГО, 1957</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715 тыс. за 5 недель</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76 из ста взрослых города, 37 установок</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ВОЗ, 1968</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 критериев</a:t>
            </a:r>
          </a:p>
        </p:txBody>
      </p:sp>
      <p:sp>
        <p:nvSpPr>
          <p:cNvPr id="19" name="TextBox 18"/>
          <p:cNvSpPr txBox="1"/>
          <p:nvPr/>
        </p:nvSpPr>
        <p:spPr>
          <a:xfrm>
            <a:off x="9152915"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когда скрининг вообще оправдан</a:t>
            </a:r>
          </a:p>
        </p:txBody>
      </p:sp>
      <p:sp>
        <p:nvSpPr>
          <p:cNvPr id="20" name="Rounded Rectangle 19"/>
          <p:cNvSpPr/>
          <p:nvPr/>
        </p:nvSpPr>
        <p:spPr>
          <a:xfrm>
            <a:off x="374904" y="31938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Медицина лечила обратившегося.</a:t>
            </a:r>
            <a:r>
              <a:rPr sz="1500" b="0" i="0">
                <a:solidFill>
                  <a:srgbClr val="21295C"/>
                </a:solidFill>
                <a:latin typeface="Arial"/>
              </a:rPr>
              <a:t> Осмотреть здорового было не на что и некому — пока не выросли врачи, лаборатории и учёт населения.</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Призыв показал на целой стране:</a:t>
            </a:r>
            <a:r>
              <a:rPr sz="1500" b="0" i="0">
                <a:solidFill>
                  <a:srgbClr val="21295C"/>
                </a:solidFill>
                <a:latin typeface="Arial"/>
              </a:rPr>
              <a:t> у здорового на вид человека скрытую болезнь находят массово.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Критерии ВОЗ 1968 года действуют до сих пор — и ни один из десяти не про точность алгоритма.</a:t>
            </a:r>
          </a:p>
        </p:txBody>
      </p:sp>
      <p:sp>
        <p:nvSpPr>
          <p:cNvPr id="23" name="Rectangle 22"/>
          <p:cNvSpPr/>
          <p:nvPr/>
        </p:nvSpPr>
        <p:spPr>
          <a:xfrm>
            <a:off x="6091275" y="3285324"/>
            <a:ext cx="9144" cy="127714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Уилсон и Юнгнер, ВОЗ 1968</a:t>
            </a:r>
            <a:r>
              <a:rPr sz="1200" b="0" i="1">
                <a:solidFill>
                  <a:srgbClr val="1C7293"/>
                </a:solidFill>
                <a:latin typeface="Arial"/>
              </a:rPr>
              <a:t> · </a:t>
            </a:r>
            <a:r>
              <a:rPr sz="1200" b="0" i="1">
                <a:solidFill>
                  <a:srgbClr val="1C7293"/>
                </a:solidFill>
                <a:latin typeface="Arial"/>
              </a:rPr>
              <a:t>Райзер, 1978</a:t>
            </a:r>
            <a:r>
              <a:rPr sz="1200" b="0" i="1">
                <a:solidFill>
                  <a:srgbClr val="1C7293"/>
                </a:solidFill>
                <a:latin typeface="Arial"/>
              </a:rPr>
              <a:t> · </a:t>
            </a:r>
            <a:r>
              <a:rPr sz="1200" b="0" i="1">
                <a:solidFill>
                  <a:srgbClr val="1C7293"/>
                </a:solidFill>
                <a:latin typeface="Arial"/>
              </a:rPr>
              <a:t>Глазго, 1957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0135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492795"/>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11112703" cy="1670913"/>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Британское испытание посчитало цену нового шага:</a:t>
            </a:r>
            <a:r>
              <a:rPr sz="1400" b="0" i="0">
                <a:solidFill>
                  <a:srgbClr val="21295C"/>
                </a:solidFill>
                <a:latin typeface="Arial"/>
              </a:rPr>
              <a:t> расхождений стало больше, и каждое разбирает третий читатель.</a:t>
            </a:r>
          </a:p>
          <a:p>
            <a:pPr algn="l">
              <a:lnSpc>
                <a:spcPct val="126000"/>
              </a:lnSpc>
              <a:spcBef>
                <a:spcPts val="700"/>
              </a:spcBef>
            </a:pPr>
            <a:r>
              <a:rPr sz="1400" b="0" i="0">
                <a:solidFill>
                  <a:srgbClr val="21295C"/>
                </a:solidFill>
                <a:latin typeface="Arial"/>
              </a:rPr>
              <a:t/>
            </a:r>
            <a:r>
              <a:rPr sz="1400" b="1" i="0">
                <a:solidFill>
                  <a:srgbClr val="21295C"/>
                </a:solidFill>
                <a:latin typeface="Arial"/>
              </a:rPr>
              <a:t>Доверие разведено не в ту сторону.</a:t>
            </a:r>
            <a:r>
              <a:rPr sz="1400" b="0" i="0">
                <a:solidFill>
                  <a:srgbClr val="21295C"/>
                </a:solidFill>
                <a:latin typeface="Arial"/>
              </a:rPr>
              <a:t> Находку радиолога перепроверяют втрое чаще, чем находку модели, — хотя подтверждается она вшестеро реже.</a:t>
            </a:r>
          </a:p>
          <a:p>
            <a:pPr algn="l">
              <a:lnSpc>
                <a:spcPct val="126000"/>
              </a:lnSpc>
              <a:spcBef>
                <a:spcPts val="700"/>
              </a:spcBef>
            </a:pPr>
            <a:r>
              <a:rPr sz="1400" b="0" i="0">
                <a:solidFill>
                  <a:srgbClr val="21295C"/>
                </a:solidFill>
                <a:latin typeface="Arial"/>
              </a:rPr>
              <a:t/>
            </a:r>
            <a:r>
              <a:rPr sz="1400" b="1" i="0">
                <a:solidFill>
                  <a:srgbClr val="21295C"/>
                </a:solidFill>
                <a:latin typeface="Arial"/>
              </a:rPr>
              <a:t>Германия не заменила ни одного человеческого чтения;</a:t>
            </a:r>
            <a:r>
              <a:rPr sz="1400" b="0" i="0">
                <a:solidFill>
                  <a:srgbClr val="21295C"/>
                </a:solidFill>
                <a:latin typeface="Arial"/>
              </a:rPr>
              <a:t> 56,7 из ста — пересчёт, а не замер.</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Обучение, обновление и дрейф источники не раскрывают.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126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126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5722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485305"/>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4: Москва, Россия — модель на месте второго читателя маммограмм</a:t>
            </a:r>
          </a:p>
        </p:txBody>
      </p:sp>
      <p:sp>
        <p:nvSpPr>
          <p:cNvPr id="4" name="Rounded Rectangle 3"/>
          <p:cNvSpPr/>
          <p:nvPr/>
        </p:nvSpPr>
        <p:spPr>
          <a:xfrm>
            <a:off x="502920"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ПРОВЕРКИ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593 261 исследование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112 организаций Москвы, 10 производителей аппаратов, 2021–2022</a:t>
            </a:r>
          </a:p>
        </p:txBody>
      </p:sp>
      <p:sp>
        <p:nvSpPr>
          <p:cNvPr id="8" name="Rounded Rectangle 7"/>
          <p:cNvSpPr/>
          <p:nvPr/>
        </p:nvSpPr>
        <p:spPr>
          <a:xfrm>
            <a:off x="4286402"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ВХОД → ВЫХОД</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0,62 → 0,85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38 признаков рака из ста, не найденных</a:t>
            </a:r>
          </a:p>
        </p:txBody>
      </p:sp>
      <p:sp>
        <p:nvSpPr>
          <p:cNvPr id="12" name="Rounded Rectangle 11"/>
          <p:cNvSpPr/>
          <p:nvPr/>
        </p:nvSpPr>
        <p:spPr>
          <a:xfrm>
            <a:off x="8069884" y="1335024"/>
            <a:ext cx="3618890" cy="1610874"/>
          </a:xfrm>
          <a:prstGeom prst="roundRect">
            <a:avLst>
              <a:gd name="adj" fmla="val 189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СТОЯЛА РАНЬШЕ ПРОВЕРКИ</a:t>
            </a:r>
          </a:p>
        </p:txBody>
      </p:sp>
      <p:sp>
        <p:nvSpPr>
          <p:cNvPr id="14" name="TextBox 13"/>
          <p:cNvSpPr txBox="1"/>
          <p:nvPr/>
        </p:nvSpPr>
        <p:spPr>
          <a:xfrm>
            <a:off x="8207044" y="1932846"/>
            <a:ext cx="3344570"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2021 — удостоверение Росздравнадзора и знак CE</a:t>
            </a:r>
          </a:p>
        </p:txBody>
      </p:sp>
      <p:sp>
        <p:nvSpPr>
          <p:cNvPr id="15" name="TextBox 14"/>
          <p:cNvSpPr txBox="1"/>
          <p:nvPr/>
        </p:nvSpPr>
        <p:spPr>
          <a:xfrm>
            <a:off x="8207044" y="259749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версию с чувствительностью 0,62</a:t>
            </a:r>
          </a:p>
        </p:txBody>
      </p:sp>
      <p:sp>
        <p:nvSpPr>
          <p:cNvPr id="16" name="TextBox 15"/>
          <p:cNvSpPr txBox="1"/>
          <p:nvPr/>
        </p:nvSpPr>
        <p:spPr>
          <a:xfrm>
            <a:off x="502920" y="3165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4202353" y="329789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врач</a:t>
            </a:r>
          </a:p>
        </p:txBody>
      </p:sp>
      <p:sp>
        <p:nvSpPr>
          <p:cNvPr id="22" name="Right Arrow 21"/>
          <p:cNvSpPr/>
          <p:nvPr/>
        </p:nvSpPr>
        <p:spPr>
          <a:xfrm>
            <a:off x="6713067" y="329789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врач</a:t>
            </a:r>
          </a:p>
        </p:txBody>
      </p:sp>
      <p:sp>
        <p:nvSpPr>
          <p:cNvPr id="25" name="Right Arrow 24"/>
          <p:cNvSpPr/>
          <p:nvPr/>
        </p:nvSpPr>
        <p:spPr>
          <a:xfrm>
            <a:off x="9223781" y="329789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на расхождении</a:t>
            </a:r>
          </a:p>
        </p:txBody>
      </p:sp>
      <p:sp>
        <p:nvSpPr>
          <p:cNvPr id="28" name="TextBox 27"/>
          <p:cNvSpPr txBox="1"/>
          <p:nvPr/>
        </p:nvSpPr>
        <p:spPr>
          <a:xfrm>
            <a:off x="502920" y="37870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31" name="Right Arrow 30"/>
          <p:cNvSpPr/>
          <p:nvPr/>
        </p:nvSpPr>
        <p:spPr>
          <a:xfrm>
            <a:off x="4202353" y="391959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7504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961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первой</a:t>
            </a:r>
          </a:p>
        </p:txBody>
      </p:sp>
      <p:sp>
        <p:nvSpPr>
          <p:cNvPr id="34" name="Right Arrow 33"/>
          <p:cNvSpPr/>
          <p:nvPr/>
        </p:nvSpPr>
        <p:spPr>
          <a:xfrm>
            <a:off x="6713067" y="391959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вторым</a:t>
            </a:r>
          </a:p>
        </p:txBody>
      </p:sp>
      <p:sp>
        <p:nvSpPr>
          <p:cNvPr id="37" name="Right Arrow 36"/>
          <p:cNvSpPr/>
          <p:nvPr/>
        </p:nvSpPr>
        <p:spPr>
          <a:xfrm>
            <a:off x="9223781" y="39195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врача</a:t>
            </a:r>
          </a:p>
        </p:txBody>
      </p:sp>
      <p:sp>
        <p:nvSpPr>
          <p:cNvPr id="40" name="TextBox 39"/>
          <p:cNvSpPr txBox="1"/>
          <p:nvPr/>
        </p:nvSpPr>
        <p:spPr>
          <a:xfrm>
            <a:off x="502920" y="42624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встала на место второго читателя, не рядом с первым</a:t>
            </a:r>
          </a:p>
        </p:txBody>
      </p:sp>
      <p:sp>
        <p:nvSpPr>
          <p:cNvPr id="41" name="Rounded Rectangle 40"/>
          <p:cNvSpPr/>
          <p:nvPr/>
        </p:nvSpPr>
        <p:spPr>
          <a:xfrm>
            <a:off x="374904" y="4565127"/>
            <a:ext cx="11441887" cy="1671080"/>
          </a:xfrm>
          <a:prstGeom prst="roundRect">
            <a:avLst>
              <a:gd name="adj" fmla="val 18239"/>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56567"/>
            <a:ext cx="11112703" cy="157964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маммографический скрининг. Модель читает снимок первой, врач — вторым. </a:t>
            </a:r>
            <a:r>
              <a:rPr sz="1400" b="0" i="1">
                <a:solidFill>
                  <a:srgbClr val="21295C"/>
                </a:solidFill>
                <a:latin typeface="Arial"/>
              </a:rPr>
              <a:t>Изделие — «Цельс Маммография».</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маммограмма в четырёх проекциях, выход — число от 0 до 1 на каждую грудь. Faster R-CNN с остовом ResNet-50, обучена на 3 641 снимке. </a:t>
            </a:r>
            <a:r>
              <a:rPr sz="1400" b="0" i="1">
                <a:solidFill>
                  <a:srgbClr val="21295C"/>
                </a:solidFill>
                <a:latin typeface="Arial"/>
              </a:rPr>
              <a:t>Распознавание изображений.</a:t>
            </a:r>
          </a:p>
          <a:p>
            <a:pPr algn="l">
              <a:lnSpc>
                <a:spcPct val="126000"/>
              </a:lnSpc>
              <a:spcBef>
                <a:spcPts val="700"/>
              </a:spcBef>
            </a:pPr>
            <a:r>
              <a:rPr sz="1400" b="0" i="0">
                <a:solidFill>
                  <a:srgbClr val="21295C"/>
                </a:solidFill>
                <a:latin typeface="Arial"/>
              </a:rPr>
              <a:t/>
            </a:r>
            <a:r>
              <a:rPr sz="1400" b="1" i="0">
                <a:solidFill>
                  <a:srgbClr val="21295C"/>
                </a:solidFill>
                <a:latin typeface="Arial"/>
              </a:rPr>
              <a:t>Выигрыша по исходам нет:</a:t>
            </a:r>
            <a:r>
              <a:rPr sz="1400" b="0" i="0">
                <a:solidFill>
                  <a:srgbClr val="21295C"/>
                </a:solidFill>
                <a:latin typeface="Arial"/>
              </a:rPr>
              <a:t> выявляемость, вызовы и интервальные раки не собирали — так говорят сами авторы.</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4, допуск: два года девять месяцев до оплаты по страховке</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ТЕХНИЧЕСКИЕ ОТКАЗЫ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1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большая часть — не модель: настройка аппарата, параметры техника, сбои архива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МЕРИЛИ ТОЧНОСТЬ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100 исследований, не 593 261</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эталон — заключение того же врача, которого модель замещает: выше него она измерена быть не может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НЕ СОГЛАСИЛСЯ С МОДЕЛЬЮ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1 745 раз из 8 406</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33 радиолога; это «Несогласие» — пятый механизм кадра входа</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Проверка</a:t>
            </a:r>
          </a:p>
        </p:txBody>
      </p:sp>
      <p:sp>
        <p:nvSpPr>
          <p:cNvPr id="17" name="Rounded Rectangle 16"/>
          <p:cNvSpPr/>
          <p:nvPr/>
        </p:nvSpPr>
        <p:spPr>
          <a:xfrm>
            <a:off x="1920240"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выходу</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калибровка на 100</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и отказы</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обзор врачом-экспертом</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Ответ</a:t>
            </a:r>
          </a:p>
        </p:txBody>
      </p:sp>
      <p:sp>
        <p:nvSpPr>
          <p:cNvPr id="29" name="Rounded Rectangle 28"/>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отчёт разработчику</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новая версия модели</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повторная калибровка</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оплата по страховке</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Круг пересмотра: отчёт уходит разработчику каждый месяц</a:t>
            </a:r>
          </a:p>
        </p:txBody>
      </p:sp>
      <p:sp>
        <p:nvSpPr>
          <p:cNvPr id="41" name="Rounded Rectangle 40"/>
          <p:cNvSpPr/>
          <p:nvPr/>
        </p:nvSpPr>
        <p:spPr>
          <a:xfrm>
            <a:off x="374904" y="5408215"/>
            <a:ext cx="11441887" cy="79890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Две первые придирки — не про точность:</a:t>
            </a:r>
            <a:r>
              <a:rPr sz="1100" b="0" i="0">
                <a:solidFill>
                  <a:srgbClr val="21295C"/>
                </a:solidFill>
                <a:latin typeface="Arial"/>
              </a:rPr>
              <a:t> находку подсвечивали цветом, а маммографические мониторы монохромные.</a:t>
            </a:r>
          </a:p>
          <a:p>
            <a:pPr algn="l">
              <a:lnSpc>
                <a:spcPct val="126000"/>
              </a:lnSpc>
              <a:spcBef>
                <a:spcPts val="700"/>
              </a:spcBef>
            </a:pPr>
            <a:r>
              <a:rPr sz="1100" b="0" i="0">
                <a:solidFill>
                  <a:srgbClr val="21295C"/>
                </a:solidFill>
                <a:latin typeface="Arial"/>
              </a:rPr>
              <a:t/>
            </a:r>
            <a:r>
              <a:rPr sz="1100" b="1" i="0">
                <a:solidFill>
                  <a:srgbClr val="21295C"/>
                </a:solidFill>
                <a:latin typeface="Arial"/>
              </a:rPr>
              <a:t>Площадь под кривой 0,73 → 0,81 → 0,94.</a:t>
            </a:r>
            <a:r>
              <a:rPr sz="1100" b="0" i="0">
                <a:solidFill>
                  <a:srgbClr val="21295C"/>
                </a:solidFill>
                <a:latin typeface="Arial"/>
              </a:rPr>
              <a:t> </a:t>
            </a:r>
            <a:r>
              <a:rPr sz="1100" b="0" i="1">
                <a:solidFill>
                  <a:srgbClr val="21295C"/>
                </a:solidFill>
                <a:latin typeface="Arial"/>
              </a:rPr>
              <a:t>Шкала: 0,5 — монетка, 1,0 — без промаха. Порог 0,81 — нижняя граница доверительного интервала самого радиолога.</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187126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9" name="TextBox 8"/>
          <p:cNvSpPr txBox="1"/>
          <p:nvPr/>
        </p:nvSpPr>
        <p:spPr>
          <a:xfrm>
            <a:off x="704088" y="3347654"/>
            <a:ext cx="647395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Москва — профилактические снимки, которые не читает человек</a:t>
            </a:r>
            <a:r>
              <a:rPr sz="1550" b="0" i="0">
                <a:solidFill>
                  <a:srgbClr val="21295C"/>
                </a:solidFill>
                <a:latin typeface="Arial"/>
              </a:rPr>
              <a:t> · </a:t>
            </a:r>
            <a:r>
              <a:rPr sz="1550" b="1" i="0">
                <a:solidFill>
                  <a:srgbClr val="21295C"/>
                </a:solidFill>
                <a:latin typeface="Arial"/>
              </a:rPr>
              <a:t>Пример 2: Москва — кровоизлияние в череп, где автономию не дали</a:t>
            </a:r>
            <a:r>
              <a:rPr sz="1550" b="0" i="0">
                <a:solidFill>
                  <a:srgbClr val="21295C"/>
                </a:solidFill>
                <a:latin typeface="Arial"/>
              </a:rPr>
              <a:t> · </a:t>
            </a:r>
            <a:r>
              <a:rPr sz="1550" b="1" i="0">
                <a:solidFill>
                  <a:srgbClr val="21295C"/>
                </a:solidFill>
                <a:latin typeface="Arial"/>
              </a:rPr>
              <a:t>Пример 3: Таиланд — чтение глазного дна в кабинете первичного звена</a:t>
            </a:r>
            <a:r>
              <a:rPr sz="1550" b="0" i="0">
                <a:solidFill>
                  <a:srgbClr val="21295C"/>
                </a:solidFill>
                <a:latin typeface="Arial"/>
              </a:rPr>
              <a:t> · </a:t>
            </a:r>
            <a:r>
              <a:rPr sz="1550" b="1" i="0">
                <a:solidFill>
                  <a:srgbClr val="21295C"/>
                </a:solidFill>
                <a:latin typeface="Arial"/>
              </a:rPr>
              <a:t>Пример 4: кожа и состав набора</a:t>
            </a:r>
            <a:r>
              <a:rPr sz="1550" b="0" i="0">
                <a:solidFill>
                  <a:srgbClr val="21295C"/>
                </a:solidFill>
                <a:latin typeface="Arial"/>
              </a:rPr>
              <a:t> · </a:t>
            </a:r>
            <a:r>
              <a:rPr sz="155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Как считают точность: одну рабочую точку применили к двум группам по десять тысяч человек</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рабочая точка одна;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Одну рабочую точку применили к двум группам по десять тысяч человек, отличающимся только долей больных.</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измерение читает модель</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ПРИБОР ПОКАЗАЛ НОРМУ, А АНАЛИЗ КРОВИ — КИСЛОРОДНОЕ ГОЛОДАНИЕ: ТЁМНАЯ КОЖА → СВЕТЛАЯ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 4 раза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88 случаев из 749 измерений против 99 из 2 778; одна названная группа пациентов</a:t>
            </a:r>
          </a:p>
        </p:txBody>
      </p:sp>
      <p:sp>
        <p:nvSpPr>
          <p:cNvPr id="8" name="Rounded Rectangle 7"/>
          <p:cNvSpPr/>
          <p:nvPr/>
        </p:nvSpPr>
        <p:spPr>
          <a:xfrm>
            <a:off x="502920" y="2683657"/>
            <a:ext cx="5437479" cy="2193554"/>
          </a:xfrm>
          <a:prstGeom prst="roundRect">
            <a:avLst>
              <a:gd name="adj" fmla="val 1389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a:t>
            </a:r>
          </a:p>
        </p:txBody>
      </p:sp>
      <p:sp>
        <p:nvSpPr>
          <p:cNvPr id="10" name="TextBox 9"/>
          <p:cNvSpPr txBox="1"/>
          <p:nvPr/>
        </p:nvSpPr>
        <p:spPr>
          <a:xfrm>
            <a:off x="667512"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десятитысячный снимок читается как первый, усталости нет</a:t>
            </a:r>
          </a:p>
          <a:p>
            <a:pPr algn="l">
              <a:lnSpc>
                <a:spcPct val="126000"/>
              </a:lnSpc>
            </a:pPr>
            <a:r>
              <a:rPr sz="1450" b="0" i="0">
                <a:solidFill>
                  <a:srgbClr val="21295C"/>
                </a:solidFill>
                <a:latin typeface="Arial"/>
              </a:rPr>
              <a:t>• поток: чтение «нормы» перестаёт занимать специалиста</a:t>
            </a:r>
          </a:p>
          <a:p>
            <a:pPr algn="l">
              <a:lnSpc>
                <a:spcPct val="126000"/>
              </a:lnSpc>
            </a:pPr>
            <a:r>
              <a:rPr sz="1450" b="0" i="0">
                <a:solidFill>
                  <a:srgbClr val="21295C"/>
                </a:solidFill>
                <a:latin typeface="Arial"/>
              </a:rPr>
              <a:t>• воспроизводимость: один вход — один выход, и расхождение можно разобрать</a:t>
            </a:r>
          </a:p>
        </p:txBody>
      </p:sp>
      <p:sp>
        <p:nvSpPr>
          <p:cNvPr id="11" name="Rounded Rectangle 10"/>
          <p:cNvSpPr/>
          <p:nvPr/>
        </p:nvSpPr>
        <p:spPr>
          <a:xfrm>
            <a:off x="6251295" y="2683657"/>
            <a:ext cx="5437479" cy="2193554"/>
          </a:xfrm>
          <a:prstGeom prst="roundRect">
            <a:avLst>
              <a:gd name="adj" fmla="val 1389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a:t>
            </a:r>
          </a:p>
        </p:txBody>
      </p:sp>
      <p:sp>
        <p:nvSpPr>
          <p:cNvPr id="13" name="TextBox 12"/>
          <p:cNvSpPr txBox="1"/>
          <p:nvPr/>
        </p:nvSpPr>
        <p:spPr>
          <a:xfrm>
            <a:off x="6415887"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переснять система не умеет</a:t>
            </a:r>
          </a:p>
          <a:p>
            <a:pPr algn="l">
              <a:lnSpc>
                <a:spcPct val="126000"/>
              </a:lnSpc>
            </a:pPr>
            <a:r>
              <a:rPr sz="1450" b="0" i="0">
                <a:solidFill>
                  <a:srgbClr val="21295C"/>
                </a:solidFill>
                <a:latin typeface="Arial"/>
              </a:rPr>
              <a:t>• перенос: доли, посчитанные в одной больнице, не переезжают вместе с прибором</a:t>
            </a:r>
          </a:p>
          <a:p>
            <a:pPr algn="l">
              <a:lnSpc>
                <a:spcPct val="126000"/>
              </a:lnSpc>
            </a:pPr>
            <a:r>
              <a:rPr sz="1450" b="0" i="0">
                <a:solidFill>
                  <a:srgbClr val="21295C"/>
                </a:solidFill>
                <a:latin typeface="Arial"/>
              </a:rPr>
              <a:t>• чем измерен вход: смещение прибора модель наследует, не создавая его</a:t>
            </a:r>
          </a:p>
        </p:txBody>
      </p:sp>
      <p:sp>
        <p:nvSpPr>
          <p:cNvPr id="14" name="Rounded Rectangle 13"/>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Обученной модели в этом приборе нет вовсе</a:t>
            </a:r>
            <a:r>
              <a:rPr sz="1350" b="0" i="0">
                <a:solidFill>
                  <a:srgbClr val="21295C"/>
                </a:solidFill>
                <a:latin typeface="Arial"/>
              </a:rPr>
              <a:t> — это оптическое измерение, смещённое до всякого обучения, и смещение одностороннее: показание выше, чем даёт анализ крови, то есть опасное снижение насыщения пропускается чаще. Регулятор выпустил предупреждение, затем проект требования испытывать приборы на разных тонах кожи.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Проверять надо не только модель, но и то, чем измерен её вход.</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sp>
        <p:nvSpPr>
          <p:cNvPr id="4" name="Rounded Rectangle 3"/>
          <p:cNvSpPr/>
          <p:nvPr/>
        </p:nvSpPr>
        <p:spPr>
          <a:xfrm>
            <a:off x="502920" y="1335024"/>
            <a:ext cx="11185855" cy="2621684"/>
          </a:xfrm>
          <a:prstGeom prst="roundRect">
            <a:avLst>
              <a:gd name="adj" fmla="val 11626"/>
            </a:avLst>
          </a:prstGeom>
          <a:solidFill>
            <a:srgbClr val="F4F7FA"/>
          </a:solidFill>
          <a:ln w="19050">
            <a:solidFill>
              <a:srgbClr val="1C7293"/>
            </a:solidFill>
          </a:ln>
          <a:effectLst/>
        </p:spPr>
        <p:txBody>
          <a:bodyPr rtlCol="0" anchor="ctr"/>
          <a:lstStyle/>
          <a:p>
            <a:pPr algn="ctr"/>
          </a:p>
        </p:txBody>
      </p:sp>
      <p:pic>
        <p:nvPicPr>
          <p:cNvPr id="5" name="Picture 4" descr="s27-dolya-potoka-cherez-model.png"/>
          <p:cNvPicPr>
            <a:picLocks noChangeAspect="1"/>
          </p:cNvPicPr>
          <p:nvPr/>
        </p:nvPicPr>
        <p:blipFill>
          <a:blip r:embed="rId2"/>
          <a:stretch>
            <a:fillRect/>
          </a:stretch>
        </p:blipFill>
        <p:spPr>
          <a:xfrm>
            <a:off x="1088135" y="1472184"/>
            <a:ext cx="10015423" cy="2347364"/>
          </a:xfrm>
          <a:prstGeom prst="rect">
            <a:avLst/>
          </a:prstGeom>
        </p:spPr>
      </p:pic>
      <p:sp>
        <p:nvSpPr>
          <p:cNvPr id="6" name="Rounded Rectangle 5"/>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Вопрос один: из ста снимков грудной клетки, которые в стране делают, сколько прочитала модель.</a:t>
            </a:r>
            <a:r>
              <a:rPr sz="1400" b="0" i="0">
                <a:solidFill>
                  <a:srgbClr val="21295C"/>
                </a:solidFill>
                <a:latin typeface="Arial"/>
              </a:rPr>
              <a:t>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Annual Statistical Release 2023/24, таблица 6</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 10.06.2026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выведена рабочая точка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НАЗВАЛА НОРМОЙ — И ЭТИХ СНИМКОВ НЕ ЧИТАЕТ НИКТО</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315 491 из 575 549 за пять месяцев 2024 года</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на 10 тысяч снимков</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8" name="Right Arrow 27"/>
          <p:cNvSpPr/>
          <p:nvPr/>
        </p:nvSpPr>
        <p:spPr>
          <a:xfrm>
            <a:off x="5039258"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5591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0163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31" name="Right Arrow 30"/>
          <p:cNvSpPr/>
          <p:nvPr/>
        </p:nvSpPr>
        <p:spPr>
          <a:xfrm>
            <a:off x="8386876"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4" name="Rounded Rectangle 33"/>
          <p:cNvSpPr/>
          <p:nvPr/>
        </p:nvSpPr>
        <p:spPr>
          <a:xfrm>
            <a:off x="374904" y="5160395"/>
            <a:ext cx="11441887" cy="107581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Профилактические снимки грудной клетки, Москва, май — сентябрь 2024.</a:t>
            </a:r>
            <a:r>
              <a:rPr sz="1000" b="0" i="0">
                <a:solidFill>
                  <a:srgbClr val="21295C"/>
                </a:solidFill>
                <a:latin typeface="Arial"/>
              </a:rPr>
              <a:t> 575 549 флюорограмм и рентгенограмм, три сервиса.</a:t>
            </a:r>
          </a:p>
        </p:txBody>
      </p:sp>
      <p:sp>
        <p:nvSpPr>
          <p:cNvPr id="36" name="TextBox 35"/>
          <p:cNvSpPr txBox="1"/>
          <p:nvPr/>
        </p:nvSpPr>
        <p:spPr>
          <a:xfrm>
            <a:off x="6278727"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Устроено так.</a:t>
            </a:r>
            <a:r>
              <a:rPr sz="1000" b="0" i="0">
                <a:solidFill>
                  <a:srgbClr val="21295C"/>
                </a:solidFill>
                <a:latin typeface="Arial"/>
              </a:rPr>
              <a:t> Чувствительность выставили </a:t>
            </a:r>
            <a:r>
              <a:rPr sz="1000" b="1" i="0">
                <a:solidFill>
                  <a:srgbClr val="21295C"/>
                </a:solidFill>
                <a:latin typeface="Arial"/>
              </a:rPr>
              <a:t>1,0</a:t>
            </a:r>
            <a:r>
              <a:rPr sz="1000" b="0" i="0">
                <a:solidFill>
                  <a:srgbClr val="21295C"/>
                </a:solidFill>
                <a:latin typeface="Arial"/>
              </a:rPr>
              <a:t>, специфичность объявили </a:t>
            </a:r>
            <a:r>
              <a:rPr sz="1000" b="1" i="0">
                <a:solidFill>
                  <a:srgbClr val="21295C"/>
                </a:solidFill>
                <a:latin typeface="Arial"/>
              </a:rPr>
              <a:t>незначимой</a:t>
            </a:r>
            <a:r>
              <a:rPr sz="1000" b="0" i="0">
                <a:solidFill>
                  <a:srgbClr val="21295C"/>
                </a:solidFill>
                <a:latin typeface="Arial"/>
              </a:rPr>
              <a:t>: тревога поднимается на всём, что отчасти похоже на отклонение. В «не норму» уходит 45 снимков из ста — их читает рентгенолог. Остальные 55 </a:t>
            </a:r>
            <a:r>
              <a:rPr sz="1000" b="1" i="0">
                <a:solidFill>
                  <a:srgbClr val="21295C"/>
                </a:solidFill>
                <a:latin typeface="Arial"/>
              </a:rPr>
              <a:t>не читает никто</a:t>
            </a:r>
            <a:r>
              <a:rPr sz="1000" b="0" i="0">
                <a:solidFill>
                  <a:srgbClr val="21295C"/>
                </a:solidFill>
                <a:latin typeface="Arial"/>
              </a:rPr>
              <a:t>.</a:t>
            </a:r>
          </a:p>
          <a:p>
            <a:pPr algn="l">
              <a:lnSpc>
                <a:spcPct val="126000"/>
              </a:lnSpc>
              <a:spcBef>
                <a:spcPts val="700"/>
              </a:spcBef>
            </a:pPr>
            <a:r>
              <a:rPr sz="1000" b="0" i="0">
                <a:solidFill>
                  <a:srgbClr val="21295C"/>
                </a:solidFill>
                <a:latin typeface="Arial"/>
              </a:rPr>
              <a:t/>
            </a:r>
            <a:r>
              <a:rPr sz="1000" b="1" i="0">
                <a:solidFill>
                  <a:srgbClr val="21295C"/>
                </a:solidFill>
                <a:latin typeface="Arial"/>
              </a:rPr>
              <a:t>Что пропущено:</a:t>
            </a:r>
            <a:r>
              <a:rPr sz="1000" b="0" i="0">
                <a:solidFill>
                  <a:srgbClr val="21295C"/>
                </a:solidFill>
                <a:latin typeface="Arial"/>
              </a:rPr>
              <a:t> инфильтрат или затемнение — 266 из 290 случаев.</a:t>
            </a:r>
          </a:p>
        </p:txBody>
      </p:sp>
      <p:sp>
        <p:nvSpPr>
          <p:cNvPr id="37" name="Rectangle 36"/>
          <p:cNvSpPr/>
          <p:nvPr/>
        </p:nvSpPr>
        <p:spPr>
          <a:xfrm>
            <a:off x="6091275" y="5251835"/>
            <a:ext cx="9144" cy="88106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7812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714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4841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Поправка метода</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поправка</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Отбор в программу повышенного внимания.</a:t>
            </a:r>
            <a:r>
              <a:rPr sz="1050" b="0" i="0">
                <a:solidFill>
                  <a:srgbClr val="21295C"/>
                </a:solidFill>
                <a:latin typeface="Arial"/>
              </a:rPr>
              <a:t> Кого позвать на усиленное наблюдение, решал врач — стало решать одно число. </a:t>
            </a:r>
            <a:r>
              <a:rPr sz="1050" b="1" i="0">
                <a:solidFill>
                  <a:srgbClr val="21295C"/>
                </a:solidFill>
                <a:latin typeface="Arial"/>
              </a:rPr>
              <a:t>Обучено оно предсказывать будущие расходы на лечение</a:t>
            </a:r>
            <a:r>
              <a:rPr sz="10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Имени алгоритму публикация не даёт. </a:t>
            </a:r>
            <a:r>
              <a:rPr sz="1050" b="0" i="1">
                <a:solidFill>
                  <a:srgbClr val="21295C"/>
                </a:solidFill>
                <a:latin typeface="Arial"/>
              </a:rPr>
              <a:t>Прогноз на структурированных данных.</a:t>
            </a:r>
          </a:p>
          <a:p>
            <a:pPr algn="l">
              <a:lnSpc>
                <a:spcPct val="126000"/>
              </a:lnSpc>
              <a:spcBef>
                <a:spcPts val="700"/>
              </a:spcBef>
            </a:pPr>
            <a:r>
              <a:rPr sz="1050" b="0" i="0">
                <a:solidFill>
                  <a:srgbClr val="21295C"/>
                </a:solidFill>
                <a:latin typeface="Arial"/>
              </a:rPr>
              <a:t/>
            </a:r>
            <a:r>
              <a:rPr sz="1050" b="1" i="0">
                <a:solidFill>
                  <a:srgbClr val="21295C"/>
                </a:solidFill>
                <a:latin typeface="Arial"/>
              </a:rPr>
              <a:t>Переехала цена ошибки</a:t>
            </a:r>
            <a:r>
              <a:rPr sz="1050" b="0" i="0">
                <a:solidFill>
                  <a:srgbClr val="21295C"/>
                </a:solidFill>
                <a:latin typeface="Arial"/>
              </a:rPr>
              <a:t> — на группу, где при равном балле болезней больше. </a:t>
            </a:r>
            <a:r>
              <a:rPr sz="10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20671"/>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ПРОВАЛИЛОСЬ НЕ ЧТЕНИЕ, А МЕСТО, НАБОР И ЦЕЛЬ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назначить рабочую точку: за порогом цена обеих ошибок</a:t>
            </a:r>
          </a:p>
          <a:p>
            <a:pPr algn="l">
              <a:lnSpc>
                <a:spcPct val="126000"/>
              </a:lnSpc>
            </a:pPr>
            <a:r>
              <a:rPr sz="1200" b="0" i="0">
                <a:solidFill>
                  <a:srgbClr val="21295C"/>
                </a:solidFill>
                <a:latin typeface="Arial"/>
              </a:rPr>
              <a:t>• переснять: годность измерения осталась человеку</a:t>
            </a:r>
          </a:p>
          <a:p>
            <a:pPr algn="l">
              <a:lnSpc>
                <a:spcPct val="126000"/>
              </a:lnSpc>
            </a:pPr>
            <a:r>
              <a:rPr sz="1200" b="0" i="0">
                <a:solidFill>
                  <a:srgbClr val="21295C"/>
                </a:solidFill>
                <a:latin typeface="Arial"/>
              </a:rPr>
              <a:t>• увидеть, что смещён сам вход — этого не умеет ни одна из процедур</a:t>
            </a:r>
          </a:p>
        </p:txBody>
      </p:sp>
      <p:sp>
        <p:nvSpPr>
          <p:cNvPr id="22" name="Rounded Rectangle 21"/>
          <p:cNvSpPr/>
          <p:nvPr/>
        </p:nvSpPr>
        <p:spPr>
          <a:xfrm>
            <a:off x="374904" y="4611132"/>
            <a:ext cx="11441887" cy="1541344"/>
          </a:xfrm>
          <a:prstGeom prst="roundRect">
            <a:avLst>
              <a:gd name="adj" fmla="val 1977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Ошибиться можно в трёх местах, не ошибившись в модели</a:t>
            </a:r>
            <a:r>
              <a:rPr sz="1100" b="0" i="0">
                <a:solidFill>
                  <a:srgbClr val="21295C"/>
                </a:solidFill>
                <a:latin typeface="Arial"/>
              </a:rPr>
              <a:t> — вход измеряет прибор, набор собирает человек, цель задаёт переменная. Так провалились три разбора из пяти; в четвёртом месте, самом чтении, провалился пятый.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Автономию решает цена ложной тревоги, а не качество модели.</a:t>
            </a:r>
          </a:p>
          <a:p>
            <a:pPr algn="l">
              <a:lnSpc>
                <a:spcPct val="126000"/>
              </a:lnSpc>
              <a:spcBef>
                <a:spcPts val="700"/>
              </a:spcBef>
            </a:pPr>
            <a:r>
              <a:rPr sz="1100" b="0" i="0">
                <a:solidFill>
                  <a:srgbClr val="21295C"/>
                </a:solidFill>
                <a:latin typeface="Arial"/>
              </a:rPr>
              <a:t/>
            </a:r>
            <a:r>
              <a:rPr sz="1100" b="1" i="0">
                <a:solidFill>
                  <a:srgbClr val="21295C"/>
                </a:solidFill>
                <a:latin typeface="Arial"/>
              </a:rPr>
              <a:t>Где модель на этой стадии стоит.</a:t>
            </a:r>
            <a:r>
              <a:rPr sz="1100" b="0" i="0">
                <a:solidFill>
                  <a:srgbClr val="21295C"/>
                </a:solidFill>
                <a:latin typeface="Arial"/>
              </a:rPr>
              <a:t> </a:t>
            </a:r>
            <a:r>
              <a:rPr sz="1100" b="0" i="1">
                <a:solidFill>
                  <a:srgbClr val="21295C"/>
                </a:solidFill>
                <a:latin typeface="Arial"/>
              </a:rPr>
              <a:t>Классификация на изображении</a:t>
            </a:r>
            <a:r>
              <a:rPr sz="1100" b="0" i="0">
                <a:solidFill>
                  <a:srgbClr val="21295C"/>
                </a:solidFill>
                <a:latin typeface="Arial"/>
              </a:rPr>
              <a:t> — чтение глазного дна, оценка кожного образования. </a:t>
            </a:r>
            <a:r>
              <a:rPr sz="1100" b="0" i="1">
                <a:solidFill>
                  <a:srgbClr val="21295C"/>
                </a:solidFill>
                <a:latin typeface="Arial"/>
              </a:rPr>
              <a:t>Распознавание на изображении</a:t>
            </a:r>
            <a:r>
              <a:rPr sz="1100" b="0" i="0">
                <a:solidFill>
                  <a:srgbClr val="21295C"/>
                </a:solidFill>
                <a:latin typeface="Arial"/>
              </a:rPr>
              <a:t> — сортировка потока на рентгене и томографии. </a:t>
            </a:r>
            <a:r>
              <a:rPr sz="1100" b="0" i="1">
                <a:solidFill>
                  <a:srgbClr val="21295C"/>
                </a:solidFill>
                <a:latin typeface="Arial"/>
              </a:rPr>
              <a:t>Прогноз на структурированных данных</a:t>
            </a:r>
            <a:r>
              <a:rPr sz="1100" b="0" i="0">
                <a:solidFill>
                  <a:srgbClr val="21295C"/>
                </a:solidFill>
                <a:latin typeface="Arial"/>
              </a:rPr>
              <a:t> — счёт риска в карте. </a:t>
            </a:r>
            <a:r>
              <a:rPr sz="1100" b="0" i="1">
                <a:solidFill>
                  <a:srgbClr val="21295C"/>
                </a:solidFill>
                <a:latin typeface="Arial"/>
              </a:rPr>
              <a:t>Измерение · сигнал прибора</a:t>
            </a:r>
            <a:r>
              <a:rPr sz="1100" b="0" i="0">
                <a:solidFill>
                  <a:srgbClr val="21295C"/>
                </a:solidFill>
                <a:latin typeface="Arial"/>
              </a:rPr>
              <a:t> — </a:t>
            </a:r>
            <a:r>
              <a:rPr sz="1100" b="1" i="0">
                <a:solidFill>
                  <a:srgbClr val="21295C"/>
                </a:solidFill>
                <a:latin typeface="Arial"/>
              </a:rPr>
              <a:t>модели нет, а смещение есть.</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076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стадия производила величины — здесь по ним выносят заключение, и подпись ставит человек.</a:t>
            </a:r>
            <a:r>
              <a:rPr sz="155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9" name="TextBox 8"/>
          <p:cNvSpPr txBox="1"/>
          <p:nvPr/>
        </p:nvSpPr>
        <p:spPr>
          <a:xfrm>
            <a:off x="704088" y="3217513"/>
            <a:ext cx="6473952" cy="245330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замер взгляда — при ложной и при верной подсказке</a:t>
            </a:r>
            <a:r>
              <a:rPr sz="1550" b="0" i="0">
                <a:solidFill>
                  <a:srgbClr val="21295C"/>
                </a:solidFill>
                <a:latin typeface="Arial"/>
              </a:rPr>
              <a:t> · </a:t>
            </a:r>
            <a:r>
              <a:rPr sz="1550" b="1" i="0">
                <a:solidFill>
                  <a:srgbClr val="21295C"/>
                </a:solidFill>
                <a:latin typeface="Arial"/>
              </a:rPr>
              <a:t>Пример 2: патологи читают срезы — с подсказкой и без</a:t>
            </a:r>
            <a:r>
              <a:rPr sz="1550" b="0" i="0">
                <a:solidFill>
                  <a:srgbClr val="21295C"/>
                </a:solidFill>
                <a:latin typeface="Arial"/>
              </a:rPr>
              <a:t> · </a:t>
            </a:r>
            <a:r>
              <a:rPr sz="1550" b="1" i="0">
                <a:solidFill>
                  <a:srgbClr val="21295C"/>
                </a:solidFill>
                <a:latin typeface="Arial"/>
              </a:rPr>
              <a:t>Пример 3: шведское испытание — второе человеческое чтение заменено моделью</a:t>
            </a:r>
            <a:r>
              <a:rPr sz="1550" b="0" i="0">
                <a:solidFill>
                  <a:srgbClr val="21295C"/>
                </a:solidFill>
                <a:latin typeface="Arial"/>
              </a:rPr>
              <a:t> · </a:t>
            </a:r>
            <a:r>
              <a:rPr sz="1550" b="1" i="0">
                <a:solidFill>
                  <a:srgbClr val="21295C"/>
                </a:solidFill>
                <a:latin typeface="Arial"/>
              </a:rPr>
              <a:t>Пример 4: хирурги оценивают риск — сами и после знакомства с моделью</a:t>
            </a:r>
            <a:r>
              <a:rPr sz="1550" b="0" i="0">
                <a:solidFill>
                  <a:srgbClr val="21295C"/>
                </a:solidFill>
                <a:latin typeface="Arial"/>
              </a:rPr>
              <a:t> · и, уже из непрерывного наблюдения, </a:t>
            </a:r>
            <a:r>
              <a:rPr sz="1550" b="1" i="0">
                <a:solidFill>
                  <a:srgbClr val="21295C"/>
                </a:solidFill>
                <a:latin typeface="Arial"/>
              </a:rPr>
              <a:t>Пример 5: модель раннего предупреждения о сепсисе</a:t>
            </a:r>
            <a:r>
              <a:rPr sz="1550" b="0" i="0">
                <a:solidFill>
                  <a:srgbClr val="21295C"/>
                </a:solidFill>
                <a:latin typeface="Arial"/>
              </a:rPr>
              <a:t> · </a:t>
            </a:r>
            <a:r>
              <a:rPr sz="1550" b="1" i="0">
                <a:solidFill>
                  <a:srgbClr val="21295C"/>
                </a:solidFill>
                <a:latin typeface="Arial"/>
              </a:rPr>
              <a:t>Пример 6: Москва, Россия — модель предлагает заключительный диагноз по медкарте</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100" b="0" i="0">
                <a:solidFill>
                  <a:srgbClr val="21295C"/>
                </a:solidFill>
                <a:latin typeface="Arial"/>
              </a:rPr>
              <a:t/>
            </a:r>
            <a:r>
              <a:rPr sz="1100" b="1" i="0">
                <a:solidFill>
                  <a:srgbClr val="21295C"/>
                </a:solidFill>
                <a:latin typeface="Arial"/>
              </a:rPr>
              <a:t>Та же величина, другой порядок предъявления — обратный знак.</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00"/>
              </a:spcBef>
            </a:pPr>
            <a:r>
              <a:rPr sz="1100" b="0" i="0">
                <a:solidFill>
                  <a:srgbClr val="21295C"/>
                </a:solidFill>
                <a:latin typeface="Arial"/>
              </a:rPr>
              <a:t/>
            </a:r>
            <a:r>
              <a:rPr sz="1100" b="1" i="0">
                <a:solidFill>
                  <a:srgbClr val="21295C"/>
                </a:solidFill>
                <a:latin typeface="Arial"/>
              </a:rPr>
              <a:t>Нагрузка на том же месте упала, и при ложной подсказке это цена:</a:t>
            </a:r>
            <a:r>
              <a:rPr sz="1100" b="0" i="0">
                <a:solidFill>
                  <a:srgbClr val="21295C"/>
                </a:solidFill>
                <a:latin typeface="Arial"/>
              </a:rPr>
              <a:t> пропуск модели стал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0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027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потому, что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в нём тоже нет: сравнивали против сильного режима.</a:t>
            </a:r>
          </a:p>
          <a:p>
            <a:pPr algn="l">
              <a:lnSpc>
                <a:spcPct val="126000"/>
              </a:lnSpc>
              <a:spcBef>
                <a:spcPts val="700"/>
              </a:spcBef>
            </a:pPr>
            <a:r>
              <a:rPr sz="1150" b="0" i="0">
                <a:solidFill>
                  <a:srgbClr val="21295C"/>
                </a:solidFill>
                <a:latin typeface="Arial"/>
              </a:rPr>
              <a:t/>
            </a:r>
            <a:r>
              <a:rPr sz="1150" b="1" i="0">
                <a:solidFill>
                  <a:srgbClr val="21295C"/>
                </a:solidFill>
                <a:latin typeface="Arial"/>
              </a:rPr>
              <a:t>Арбитраж стал новой работой; повторных вызовов не стало ни больше, ни меньше.</a:t>
            </a:r>
          </a:p>
        </p:txBody>
      </p:sp>
      <p:sp>
        <p:nvSpPr>
          <p:cNvPr id="41" name="Rectangle 40"/>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21" name="TextBox 20"/>
          <p:cNvSpPr txBox="1"/>
          <p:nvPr/>
        </p:nvSpPr>
        <p:spPr>
          <a:xfrm>
            <a:off x="502920" y="36143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22" name="Rounded Rectangle 21"/>
          <p:cNvSpPr/>
          <p:nvPr/>
        </p:nvSpPr>
        <p:spPr>
          <a:xfrm>
            <a:off x="374904" y="3917025"/>
            <a:ext cx="11441887" cy="2319182"/>
          </a:xfrm>
          <a:prstGeom prst="roundRect">
            <a:avLst>
              <a:gd name="adj" fmla="val 1314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008465"/>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из кардиологии, 15 из других специальностей.</a:t>
            </a:r>
          </a:p>
        </p:txBody>
      </p:sp>
      <p:sp>
        <p:nvSpPr>
          <p:cNvPr id="24" name="Rectangle 23"/>
          <p:cNvSpPr/>
          <p:nvPr/>
        </p:nvSpPr>
        <p:spPr>
          <a:xfrm>
            <a:off x="539496" y="4661501"/>
            <a:ext cx="4999381" cy="383379"/>
          </a:xfrm>
          <a:prstGeom prst="rect">
            <a:avLst/>
          </a:prstGeom>
          <a:solidFill>
            <a:srgbClr val="065A82"/>
          </a:solidFill>
          <a:ln>
            <a:noFill/>
          </a:ln>
          <a:effectLst/>
        </p:spPr>
        <p:txBody>
          <a:bodyPr rtlCol="0" anchor="ctr"/>
          <a:lstStyle/>
          <a:p>
            <a:pPr algn="ctr"/>
          </a:p>
        </p:txBody>
      </p:sp>
      <p:sp>
        <p:nvSpPr>
          <p:cNvPr id="25" name="TextBox 24"/>
          <p:cNvSpPr txBox="1"/>
          <p:nvPr/>
        </p:nvSpPr>
        <p:spPr>
          <a:xfrm>
            <a:off x="685800" y="4661501"/>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6" name="Rectangle 25"/>
          <p:cNvSpPr/>
          <p:nvPr/>
        </p:nvSpPr>
        <p:spPr>
          <a:xfrm>
            <a:off x="5538877" y="4661501"/>
            <a:ext cx="3951879" cy="383379"/>
          </a:xfrm>
          <a:prstGeom prst="rect">
            <a:avLst/>
          </a:prstGeom>
          <a:solidFill>
            <a:srgbClr val="065A82"/>
          </a:solidFill>
          <a:ln>
            <a:noFill/>
          </a:ln>
          <a:effectLst/>
        </p:spPr>
        <p:txBody>
          <a:bodyPr rtlCol="0" anchor="ctr"/>
          <a:lstStyle/>
          <a:p>
            <a:pPr algn="ctr"/>
          </a:p>
        </p:txBody>
      </p:sp>
      <p:sp>
        <p:nvSpPr>
          <p:cNvPr id="27" name="TextBox 26"/>
          <p:cNvSpPr txBox="1"/>
          <p:nvPr/>
        </p:nvSpPr>
        <p:spPr>
          <a:xfrm>
            <a:off x="5685181" y="4661501"/>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8" name="Rectangle 27"/>
          <p:cNvSpPr/>
          <p:nvPr/>
        </p:nvSpPr>
        <p:spPr>
          <a:xfrm>
            <a:off x="9490756" y="4661501"/>
            <a:ext cx="2161442" cy="383379"/>
          </a:xfrm>
          <a:prstGeom prst="rect">
            <a:avLst/>
          </a:prstGeom>
          <a:solidFill>
            <a:srgbClr val="065A82"/>
          </a:solidFill>
          <a:ln>
            <a:noFill/>
          </a:ln>
          <a:effectLst/>
        </p:spPr>
        <p:txBody>
          <a:bodyPr rtlCol="0" anchor="ctr"/>
          <a:lstStyle/>
          <a:p>
            <a:pPr algn="ctr"/>
          </a:p>
        </p:txBody>
      </p:sp>
      <p:sp>
        <p:nvSpPr>
          <p:cNvPr id="29" name="TextBox 28"/>
          <p:cNvSpPr txBox="1"/>
          <p:nvPr/>
        </p:nvSpPr>
        <p:spPr>
          <a:xfrm>
            <a:off x="9637060" y="4661501"/>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30" name="Rectangle 29"/>
          <p:cNvSpPr/>
          <p:nvPr/>
        </p:nvSpPr>
        <p:spPr>
          <a:xfrm>
            <a:off x="539496" y="5044881"/>
            <a:ext cx="4999381" cy="383379"/>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685800" y="5044881"/>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32" name="Rectangle 31"/>
          <p:cNvSpPr/>
          <p:nvPr/>
        </p:nvSpPr>
        <p:spPr>
          <a:xfrm>
            <a:off x="5538877" y="5044881"/>
            <a:ext cx="3951879" cy="383379"/>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5685181" y="5044881"/>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34" name="Rectangle 33"/>
          <p:cNvSpPr/>
          <p:nvPr/>
        </p:nvSpPr>
        <p:spPr>
          <a:xfrm>
            <a:off x="9490756" y="5044881"/>
            <a:ext cx="2161442" cy="383379"/>
          </a:xfrm>
          <a:prstGeom prst="rect">
            <a:avLst/>
          </a:prstGeom>
          <a:solidFill>
            <a:srgbClr val="FFFFFF"/>
          </a:solidFill>
          <a:ln w="12700">
            <a:solidFill>
              <a:srgbClr val="D9E2EC"/>
            </a:solidFill>
          </a:ln>
          <a:effectLst/>
        </p:spPr>
        <p:txBody>
          <a:bodyPr rtlCol="0" anchor="ctr"/>
          <a:lstStyle/>
          <a:p>
            <a:pPr algn="ctr"/>
          </a:p>
        </p:txBody>
      </p:sp>
      <p:sp>
        <p:nvSpPr>
          <p:cNvPr id="35" name="TextBox 34"/>
          <p:cNvSpPr txBox="1"/>
          <p:nvPr/>
        </p:nvSpPr>
        <p:spPr>
          <a:xfrm>
            <a:off x="9637060" y="5044881"/>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6" name="Rectangle 35"/>
          <p:cNvSpPr/>
          <p:nvPr/>
        </p:nvSpPr>
        <p:spPr>
          <a:xfrm>
            <a:off x="539496" y="5428261"/>
            <a:ext cx="4999381" cy="383379"/>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685800" y="5428261"/>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8" name="Rectangle 37"/>
          <p:cNvSpPr/>
          <p:nvPr/>
        </p:nvSpPr>
        <p:spPr>
          <a:xfrm>
            <a:off x="5538877" y="5428261"/>
            <a:ext cx="3951879" cy="383379"/>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5685181" y="5428261"/>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40" name="Rectangle 39"/>
          <p:cNvSpPr/>
          <p:nvPr/>
        </p:nvSpPr>
        <p:spPr>
          <a:xfrm>
            <a:off x="9490756" y="5428261"/>
            <a:ext cx="2161442" cy="383379"/>
          </a:xfrm>
          <a:prstGeom prst="rect">
            <a:avLst/>
          </a:prstGeom>
          <a:solidFill>
            <a:srgbClr val="F4F7FA"/>
          </a:solidFill>
          <a:ln w="12700">
            <a:solidFill>
              <a:srgbClr val="D9E2EC"/>
            </a:solidFill>
          </a:ln>
          <a:effectLst/>
        </p:spPr>
        <p:txBody>
          <a:bodyPr rtlCol="0" anchor="ctr"/>
          <a:lstStyle/>
          <a:p>
            <a:pPr algn="ctr"/>
          </a:p>
        </p:txBody>
      </p:sp>
      <p:sp>
        <p:nvSpPr>
          <p:cNvPr id="41" name="TextBox 40"/>
          <p:cNvSpPr txBox="1"/>
          <p:nvPr/>
        </p:nvSpPr>
        <p:spPr>
          <a:xfrm>
            <a:off x="9637060" y="5428261"/>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42" name="TextBox 41"/>
          <p:cNvSpPr txBox="1"/>
          <p:nvPr/>
        </p:nvSpPr>
        <p:spPr>
          <a:xfrm>
            <a:off x="539496" y="5957945"/>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a:t>
            </a:r>
          </a:p>
        </p:txBody>
      </p:sp>
      <p:sp>
        <p:nvSpPr>
          <p:cNvPr id="43" name="Rectangle 4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30 хирургов оценивали риск по 150 письменным описаниям случаев;</a:t>
            </a:r>
            <a:r>
              <a:rPr sz="1100" b="0" i="0">
                <a:solidFill>
                  <a:srgbClr val="21295C"/>
                </a:solidFill>
                <a:latin typeface="Arial"/>
              </a:rPr>
              <a:t> исходы прослежены вперёд 30 дней.</a:t>
            </a:r>
          </a:p>
          <a:p>
            <a:pPr algn="l">
              <a:lnSpc>
                <a:spcPct val="126000"/>
              </a:lnSpc>
              <a:spcBef>
                <a:spcPts val="700"/>
              </a:spcBef>
            </a:pPr>
            <a:r>
              <a:rPr sz="1100" b="0" i="0">
                <a:solidFill>
                  <a:srgbClr val="21295C"/>
                </a:solidFill>
                <a:latin typeface="Arial"/>
              </a:rPr>
              <a:t/>
            </a:r>
            <a:r>
              <a:rPr sz="1100" b="1" i="0">
                <a:solidFill>
                  <a:srgbClr val="21295C"/>
                </a:solidFill>
                <a:latin typeface="Arial"/>
              </a:rPr>
              <a:t>На септическом шоке пара ниже и хирурга, и модели:</a:t>
            </a:r>
            <a:r>
              <a:rPr sz="1100" b="0" i="0">
                <a:solidFill>
                  <a:srgbClr val="21295C"/>
                </a:solidFill>
                <a:latin typeface="Arial"/>
              </a:rPr>
              <a:t> та одна дала 0,816. </a:t>
            </a:r>
            <a:r>
              <a:rPr sz="1100" b="1" i="0">
                <a:solidFill>
                  <a:srgbClr val="21295C"/>
                </a:solidFill>
                <a:latin typeface="Arial"/>
              </a:rPr>
              <a:t>Второй классический режим — шкалы риска,</a:t>
            </a:r>
            <a:r>
              <a:rPr sz="1100" b="0" i="0">
                <a:solidFill>
                  <a:srgbClr val="21295C"/>
                </a:solidFill>
                <a:latin typeface="Arial"/>
              </a:rPr>
              <a:t> другая выборка: 0,874–0,898 против модели 0,916.</a:t>
            </a:r>
          </a:p>
        </p:txBody>
      </p:sp>
      <p:sp>
        <p:nvSpPr>
          <p:cNvPr id="40" name="TextBox 39"/>
          <p:cNvSpPr txBox="1"/>
          <p:nvPr/>
        </p:nvSpPr>
        <p:spPr>
          <a:xfrm>
            <a:off x="6278727"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Исполнитель тот же, но стал хуже. Ступень — смотрит вторым.</a:t>
            </a:r>
            <a:r>
              <a:rPr sz="1100" b="0" i="0">
                <a:solidFill>
                  <a:srgbClr val="21295C"/>
                </a:solidFill>
                <a:latin typeface="Arial"/>
              </a:rPr>
              <a:t> Где перевес модели наибольший, пара не прибавила вовсе: </a:t>
            </a:r>
            <a:r>
              <a:rPr sz="1100" b="1" i="0">
                <a:solidFill>
                  <a:srgbClr val="21295C"/>
                </a:solidFill>
                <a:latin typeface="Arial"/>
              </a:rPr>
              <a:t>0,834 против 0,833.</a:t>
            </a:r>
          </a:p>
          <a:p>
            <a:pPr algn="l">
              <a:lnSpc>
                <a:spcPct val="126000"/>
              </a:lnSpc>
              <a:spcBef>
                <a:spcPts val="700"/>
              </a:spcBef>
            </a:pPr>
            <a:r>
              <a:rPr sz="900" b="0" i="0">
                <a:solidFill>
                  <a:srgbClr val="21295C"/>
                </a:solidFill>
                <a:latin typeface="Arial"/>
              </a:rPr>
              <a:t/>
            </a:r>
            <a:r>
              <a:rPr sz="900" b="0" i="1">
                <a:solidFill>
                  <a:srgbClr val="1C7293"/>
                </a:solidFill>
                <a:latin typeface="Arial"/>
              </a:rPr>
              <a:t>Больного не осматривал никто. Повторения замера нет.</a:t>
            </a:r>
          </a:p>
        </p:txBody>
      </p:sp>
      <p:sp>
        <p:nvSpPr>
          <p:cNvPr id="41" name="Rectangle 40"/>
          <p:cNvSpPr/>
          <p:nvPr/>
        </p:nvSpPr>
        <p:spPr>
          <a:xfrm>
            <a:off x="6091275" y="5011154"/>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6: Москва, Россия — модель предлагает заключительный диагноз по медкарте</a:t>
            </a:r>
          </a:p>
        </p:txBody>
      </p:sp>
      <p:sp>
        <p:nvSpPr>
          <p:cNvPr id="4" name="Rounded Rectangle 3"/>
          <p:cNvSpPr/>
          <p:nvPr/>
        </p:nvSpPr>
        <p:spPr>
          <a:xfrm>
            <a:off x="502920"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САМ → МОДЕЛЬ</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91,7 → 87,7 верных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3 332 случая: модель на четыре пункта ХУЖЕ врача и внедрена как страховка от просмотра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НАБОР КОДОВ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 → 571 → 363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571 покрывал 95 обращений из ста; сократили, убрав коды, которые терапевт не ставит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УМЕЕТ МОЛЧАТЬ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млн запросов → 3 млн ответов</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порога неуверенности ответа нет</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сам</a:t>
            </a:r>
          </a:p>
        </p:txBody>
      </p:sp>
      <p:sp>
        <p:nvSpPr>
          <p:cNvPr id="17" name="Rounded Rectangle 16"/>
          <p:cNvSpPr/>
          <p:nvPr/>
        </p:nvSpPr>
        <p:spPr>
          <a:xfrm>
            <a:off x="1920240"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жалобы и осмотр</a:t>
            </a:r>
          </a:p>
        </p:txBody>
      </p:sp>
      <p:sp>
        <p:nvSpPr>
          <p:cNvPr id="19" name="Right Arrow 18"/>
          <p:cNvSpPr/>
          <p:nvPr/>
        </p:nvSpPr>
        <p:spPr>
          <a:xfrm>
            <a:off x="4202353"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список</a:t>
            </a:r>
          </a:p>
        </p:txBody>
      </p:sp>
      <p:sp>
        <p:nvSpPr>
          <p:cNvPr id="22" name="Right Arrow 21"/>
          <p:cNvSpPr/>
          <p:nvPr/>
        </p:nvSpPr>
        <p:spPr>
          <a:xfrm>
            <a:off x="6713067"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выбирает</a:t>
            </a:r>
          </a:p>
        </p:txBody>
      </p:sp>
      <p:sp>
        <p:nvSpPr>
          <p:cNvPr id="25" name="Right Arrow 24"/>
          <p:cNvSpPr/>
          <p:nvPr/>
        </p:nvSpPr>
        <p:spPr>
          <a:xfrm>
            <a:off x="9223781" y="36656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8" name="TextBox 27"/>
          <p:cNvSpPr txBox="1"/>
          <p:nvPr/>
        </p:nvSpPr>
        <p:spPr>
          <a:xfrm>
            <a:off x="502920" y="41548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целиком</a:t>
            </a:r>
          </a:p>
        </p:txBody>
      </p:sp>
      <p:sp>
        <p:nvSpPr>
          <p:cNvPr id="31" name="Right Arrow 30"/>
          <p:cNvSpPr/>
          <p:nvPr/>
        </p:nvSpPr>
        <p:spPr>
          <a:xfrm>
            <a:off x="4202353" y="428738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1182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1639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предлагает код</a:t>
            </a:r>
          </a:p>
        </p:txBody>
      </p:sp>
      <p:sp>
        <p:nvSpPr>
          <p:cNvPr id="34" name="Right Arrow 33"/>
          <p:cNvSpPr/>
          <p:nvPr/>
        </p:nvSpPr>
        <p:spPr>
          <a:xfrm>
            <a:off x="6713067" y="428738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верить ли</a:t>
            </a:r>
          </a:p>
        </p:txBody>
      </p:sp>
      <p:sp>
        <p:nvSpPr>
          <p:cNvPr id="37" name="Right Arrow 36"/>
          <p:cNvSpPr/>
          <p:nvPr/>
        </p:nvSpPr>
        <p:spPr>
          <a:xfrm>
            <a:off x="9223781" y="428738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40" name="TextBox 39"/>
          <p:cNvSpPr txBox="1"/>
          <p:nvPr/>
        </p:nvSpPr>
        <p:spPr>
          <a:xfrm>
            <a:off x="502920" y="46302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Подсказка приходит ДО решения врача и стоит выше него на экране</a:t>
            </a:r>
          </a:p>
        </p:txBody>
      </p:sp>
      <p:sp>
        <p:nvSpPr>
          <p:cNvPr id="41" name="Rounded Rectangle 40"/>
          <p:cNvSpPr/>
          <p:nvPr/>
        </p:nvSpPr>
        <p:spPr>
          <a:xfrm>
            <a:off x="374904" y="4932917"/>
            <a:ext cx="11441887" cy="1303290"/>
          </a:xfrm>
          <a:prstGeom prst="roundRect">
            <a:avLst>
              <a:gd name="adj" fmla="val 23386"/>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24357"/>
            <a:ext cx="11112703" cy="121185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приём терапевта. Модель читает медкарту целиком и до решения врача предлагает заключительный диагноз кодом. </a:t>
            </a:r>
            <a:r>
              <a:rPr sz="1400" b="0" i="1">
                <a:solidFill>
                  <a:srgbClr val="21295C"/>
                </a:solidFill>
                <a:latin typeface="Arial"/>
              </a:rPr>
              <a:t>Изделие — AIDA.</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вся карта: жалобы, анамнез, осмотр, лаборатория, протоколы, история кодов. Выход — один код с оценкой неуверенности. Longformer до 8 192 токенов, 1,5 млн карт. </a:t>
            </a:r>
            <a:r>
              <a:rPr sz="1400" b="0" i="1">
                <a:solidFill>
                  <a:srgbClr val="21295C"/>
                </a:solidFill>
                <a:latin typeface="Arial"/>
              </a:rPr>
              <a:t>Обработка текста.</a:t>
            </a:r>
          </a:p>
        </p:txBody>
      </p:sp>
      <p:sp>
        <p:nvSpPr>
          <p:cNvPr id="43" name="Rectangle 4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трек «ИИ для общественного блага», с. 9880–9886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цена: где врач и модель расходятся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СОГЛАСНЫ — 2 635 СЛУЧАЕВ</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 верных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лёгкая часть набора: решать нечего</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РАСХОДЯТСЯ — 697 СЛУЧАЕВ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врач 64 → модель 45 из ста</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одном случае из пяти не надёжен никто: врач меньше чем в двух третях, модель меньше чем в половине</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ТРОЕ ЭКСПЕРТОВ НЕ СОШЛИСЬ ПОЛНОСТЬЮ — 965 СЛУЧАЕВ</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врач 78,2 → модель 72</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проваливаются оба сразу, на двадцать пунктов</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Согласны — 2 635</a:t>
            </a:r>
          </a:p>
        </p:txBody>
      </p:sp>
      <p:sp>
        <p:nvSpPr>
          <p:cNvPr id="17" name="Rounded Rectangle 16"/>
          <p:cNvSpPr/>
          <p:nvPr/>
        </p:nvSpPr>
        <p:spPr>
          <a:xfrm>
            <a:off x="1920240" y="349656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согласен</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проверять нечего</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Расходятся — 697</a:t>
            </a:r>
          </a:p>
        </p:txBody>
      </p:sp>
      <p:sp>
        <p:nvSpPr>
          <p:cNvPr id="29" name="Rounded Rectangle 28"/>
          <p:cNvSpPr/>
          <p:nvPr/>
        </p:nvSpPr>
        <p:spPr>
          <a:xfrm>
            <a:off x="1920240"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не согласен</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ставит свой код</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 нет</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разбирает тот же врач — третьего читателя на этой стадии нет</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Где согласны — верны оба и решать нечего. Вся цена в пятой части случаев, где расходятся.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Эталон сам нестабилен:</a:t>
            </a:r>
            <a:r>
              <a:rPr sz="1500" b="0" i="0">
                <a:solidFill>
                  <a:srgbClr val="21295C"/>
                </a:solidFill>
                <a:latin typeface="Arial"/>
              </a:rPr>
              <a:t> на 168 случаях из 3 500 трое опытных врачей не сошлись вовсе.</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табл. 5, с. 9882</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Шесть разборов стадии дали противоположные исходы при одном и том же инструменте.</a:t>
            </a:r>
            <a:r>
              <a:rPr sz="1350" b="0" i="0">
                <a:solidFill>
                  <a:srgbClr val="21295C"/>
                </a:solidFill>
                <a:latin typeface="Arial"/>
              </a:rPr>
              <a:t> Шведское испытание: одно человеческое чтение поверх модели сильнее двойного человеческого. Хирурги: та же пара ниже и человека, и модели. Расходится не модель — расходится устройство процедуры: сохранена ли независимость двух мнений и в каком порядке предъявлена подсказка.</a:t>
            </a:r>
          </a:p>
          <a:p>
            <a:pPr algn="l">
              <a:lnSpc>
                <a:spcPct val="126000"/>
              </a:lnSpc>
              <a:spcBef>
                <a:spcPts val="700"/>
              </a:spcBef>
            </a:pPr>
            <a:r>
              <a:rPr sz="1350" b="0" i="0">
                <a:solidFill>
                  <a:srgbClr val="21295C"/>
                </a:solidFill>
                <a:latin typeface="Arial"/>
              </a:rPr>
              <a:t/>
            </a:r>
            <a:r>
              <a:rPr sz="1350" b="1" i="0">
                <a:solidFill>
                  <a:srgbClr val="21295C"/>
                </a:solidFill>
                <a:latin typeface="Arial"/>
              </a:rPr>
              <a:t>Держат это</a:t>
            </a:r>
            <a:r>
              <a:rPr sz="1350" b="0" i="0">
                <a:solidFill>
                  <a:srgbClr val="21295C"/>
                </a:solidFill>
                <a:latin typeface="Arial"/>
              </a:rPr>
              <a:t> порог, назначенный под цену обеих ошибок, арбитраж на расхождениях и порядок предъявления подсказки.</a:t>
            </a:r>
          </a:p>
          <a:p>
            <a:pPr algn="l">
              <a:lnSpc>
                <a:spcPct val="126000"/>
              </a:lnSpc>
              <a:spcBef>
                <a:spcPts val="700"/>
              </a:spcBef>
            </a:pPr>
            <a:r>
              <a:rPr sz="1350" b="0" i="0">
                <a:solidFill>
                  <a:srgbClr val="21295C"/>
                </a:solidFill>
                <a:latin typeface="Arial"/>
              </a:rPr>
              <a:t/>
            </a:r>
            <a:r>
              <a:rPr sz="135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855563"/>
          </a:xfrm>
          <a:prstGeom prst="roundRect">
            <a:avLst>
              <a:gd name="adj" fmla="val 10673"/>
            </a:avLst>
          </a:prstGeom>
          <a:solidFill>
            <a:srgbClr val="F4F7FA"/>
          </a:solidFill>
          <a:ln w="19050">
            <a:solidFill>
              <a:srgbClr val="1C7293"/>
            </a:solidFill>
          </a:ln>
          <a:effectLst/>
        </p:spPr>
        <p:txBody>
          <a:bodyPr rtlCol="0" anchor="ctr"/>
          <a:lstStyle/>
          <a:p>
            <a:pPr algn="ctr"/>
          </a:p>
        </p:txBody>
      </p:sp>
      <p:pic>
        <p:nvPicPr>
          <p:cNvPr id="5" name="Picture 4" descr="s60b-kartoteka-zapisey-patsientov.jpg"/>
          <p:cNvPicPr>
            <a:picLocks noChangeAspect="1"/>
          </p:cNvPicPr>
          <p:nvPr/>
        </p:nvPicPr>
        <p:blipFill>
          <a:blip r:embed="rId2"/>
          <a:stretch>
            <a:fillRect/>
          </a:stretch>
        </p:blipFill>
        <p:spPr>
          <a:xfrm>
            <a:off x="7680960" y="1051560"/>
            <a:ext cx="3870655" cy="258124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 · </a:t>
            </a:r>
            <a:r>
              <a:rPr sz="1550" b="1" i="0">
                <a:solidFill>
                  <a:srgbClr val="21295C"/>
                </a:solidFill>
                <a:latin typeface="Arial"/>
              </a:rPr>
              <a:t>Пример 3: голосовой ввод протокола лучевого исследования</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2683657"/>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2466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13" name="Rounded Rectangle 12"/>
          <p:cNvSpPr/>
          <p:nvPr/>
        </p:nvSpPr>
        <p:spPr>
          <a:xfrm>
            <a:off x="1920240"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a:t>
            </a:r>
          </a:p>
          <a:p>
            <a:pPr algn="ctr">
              <a:lnSpc>
                <a:spcPct val="112000"/>
              </a:lnSpc>
            </a:pPr>
            <a:r>
              <a:rPr sz="1350" b="0" i="0">
                <a:solidFill>
                  <a:srgbClr val="21295C"/>
                </a:solidFill>
                <a:latin typeface="Arial"/>
              </a:rPr>
              <a:t>в минутах</a:t>
            </a:r>
          </a:p>
        </p:txBody>
      </p:sp>
      <p:sp>
        <p:nvSpPr>
          <p:cNvPr id="15" name="Rounded Rectangle 14"/>
          <p:cNvSpPr/>
          <p:nvPr/>
        </p:nvSpPr>
        <p:spPr>
          <a:xfrm>
            <a:off x="6877659"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6959955"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a:t>
            </a:r>
          </a:p>
          <a:p>
            <a:pPr algn="ctr">
              <a:lnSpc>
                <a:spcPct val="112000"/>
              </a:lnSpc>
            </a:pPr>
            <a:r>
              <a:rPr sz="1350" b="0" i="0">
                <a:solidFill>
                  <a:srgbClr val="21295C"/>
                </a:solidFill>
                <a:latin typeface="Arial"/>
              </a:rPr>
              <a:t>в доле слов</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18" name="Rounded Rectangle 17"/>
          <p:cNvSpPr/>
          <p:nvPr/>
        </p:nvSpPr>
        <p:spPr>
          <a:xfrm>
            <a:off x="1920240"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20" name="Rounded Rectangle 19"/>
          <p:cNvSpPr/>
          <p:nvPr/>
        </p:nvSpPr>
        <p:spPr>
          <a:xfrm>
            <a:off x="6877659"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22" name="TextBox 21"/>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23" name="Rounded Rectangle 22"/>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Половина слов карты уже была написана об этом же пациенте раньше</a:t>
            </a:r>
            <a:r>
              <a:rPr sz="1450" b="0" i="0">
                <a:solidFill>
                  <a:srgbClr val="21295C"/>
                </a:solidFill>
                <a:latin typeface="Arial"/>
              </a:rPr>
              <a:t> — не «половина заметок скопирована», а «половина написанного уже было написано».</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это кончается у одного человека.</a:t>
            </a:r>
            <a:r>
              <a:rPr sz="1450" b="0" i="0">
                <a:solidFill>
                  <a:srgbClr val="21295C"/>
                </a:solidFill>
                <a:latin typeface="Arial"/>
              </a:rPr>
              <a:t> Пациенту на химиотерапии запись о профилактике гепарином перенесли в поступательную заметку. Гепарин не назначали. Запись переносили пять дней, и каждый читавший считал профилактику выполняемой. После выписки — тромбоэмболия лёгочной артерии.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пишут в разных странах и почему</a:t>
            </a:r>
          </a:p>
        </p:txBody>
      </p:sp>
      <p:sp>
        <p:nvSpPr>
          <p:cNvPr id="4" name="Rounded Rectangle 3"/>
          <p:cNvSpPr/>
          <p:nvPr/>
        </p:nvSpPr>
        <p:spPr>
          <a:xfrm>
            <a:off x="502920"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ЗАМЕТКА В США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6 000 знаков</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~1 200 вне США, у одного поставщика карты</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СВЕРХ КЛИНИЧЕСКОГО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платёжное и контрольное</a:t>
            </a:r>
          </a:p>
        </p:txBody>
      </p:sp>
      <p:sp>
        <p:nvSpPr>
          <p:cNvPr id="11" name="Rounded Rectangle 10"/>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ПРАВКИ ПРАВИЛ ОПЛАТЫ В 2021-М</a:t>
            </a:r>
          </a:p>
        </p:txBody>
      </p:sp>
      <p:sp>
        <p:nvSpPr>
          <p:cNvPr id="13" name="TextBox 12"/>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+8,1 % за три года</a:t>
            </a:r>
          </a:p>
        </p:txBody>
      </p:sp>
      <p:sp>
        <p:nvSpPr>
          <p:cNvPr id="14" name="TextBox 13"/>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выборка — все 1,7 млрд заметок поставщика, не только США</a:t>
            </a:r>
          </a:p>
        </p:txBody>
      </p:sp>
      <p:sp>
        <p:nvSpPr>
          <p:cNvPr id="15" name="Rounded Rectangle 14"/>
          <p:cNvSpPr/>
          <p:nvPr/>
        </p:nvSpPr>
        <p:spPr>
          <a:xfrm>
            <a:off x="374904" y="2803461"/>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2894901"/>
            <a:ext cx="11112703" cy="334130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Поставщик карты один, длина вчетверо разная.</a:t>
            </a:r>
            <a:r>
              <a:rPr sz="1400" b="0" i="0">
                <a:solidFill>
                  <a:srgbClr val="21295C"/>
                </a:solidFill>
                <a:latin typeface="Arial"/>
              </a:rPr>
              <a:t> Длину задаёт тот, кто читает документ и за что платит.</a:t>
            </a:r>
          </a:p>
          <a:p>
            <a:pPr algn="l">
              <a:lnSpc>
                <a:spcPct val="118000"/>
              </a:lnSpc>
              <a:spcBef>
                <a:spcPts val="600"/>
              </a:spcBef>
            </a:pPr>
            <a:r>
              <a:rPr sz="1400" b="0" i="0">
                <a:solidFill>
                  <a:srgbClr val="21295C"/>
                </a:solidFill>
                <a:latin typeface="Arial"/>
              </a:rPr>
              <a:t/>
            </a:r>
            <a:r>
              <a:rPr sz="1400" b="1" i="0">
                <a:solidFill>
                  <a:srgbClr val="21295C"/>
                </a:solidFill>
                <a:latin typeface="Arial"/>
              </a:rPr>
              <a:t>В России состав записи задан приказом</a:t>
            </a:r>
            <a:r>
              <a:rPr sz="1400" b="0" i="0">
                <a:solidFill>
                  <a:srgbClr val="21295C"/>
                </a:solidFill>
                <a:latin typeface="Arial"/>
              </a:rPr>
              <a:t>, проверяет её экспертиза качества, не плательщик. </a:t>
            </a:r>
            <a:r>
              <a:rPr sz="1400" b="0" i="1">
                <a:solidFill>
                  <a:srgbClr val="21295C"/>
                </a:solidFill>
                <a:latin typeface="Arial"/>
              </a:rPr>
              <a:t>Замера длины не публиковалось.</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Downing, Bates, Longhurst, Annals of Internal Medicine 2018</a:t>
            </a:r>
            <a:r>
              <a:rPr sz="1200" b="0" i="1">
                <a:solidFill>
                  <a:srgbClr val="1C7293"/>
                </a:solidFill>
                <a:latin typeface="Arial"/>
              </a:rPr>
              <a:t> · </a:t>
            </a:r>
            <a:r>
              <a:rPr sz="1200" b="0" i="1" u="sng">
                <a:solidFill>
                  <a:srgbClr val="065A82"/>
                </a:solidFill>
                <a:latin typeface="Arial"/>
                <a:hlinkClick r:id="rId3"/>
              </a:rPr>
              <a:t>Epic Research, 1,7 млрд заметок, 2023</a:t>
            </a:r>
            <a:r>
              <a:rPr sz="1200" b="0" i="1">
                <a:solidFill>
                  <a:srgbClr val="1C7293"/>
                </a:solidFill>
                <a:latin typeface="Arial"/>
              </a:rPr>
              <a:t> · </a:t>
            </a:r>
            <a:r>
              <a:rPr sz="1200" b="0" i="1" u="sng">
                <a:solidFill>
                  <a:srgbClr val="065A82"/>
                </a:solidFill>
                <a:latin typeface="Arial"/>
                <a:hlinkClick r:id="rId4"/>
              </a:rPr>
              <a:t>приказ Минздрава России от 05.08.2022 № 530н</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звук приёма, на выходе черновик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врачей, три равные группы: два инструмента и обычная практика. </a:t>
            </a:r>
            <a:r>
              <a:rPr sz="1500" b="1" i="0">
                <a:solidFill>
                  <a:srgbClr val="21295C"/>
                </a:solidFill>
                <a:latin typeface="Arial"/>
              </a:rPr>
              <a:t>У второго изменений нет</a:t>
            </a:r>
            <a:r>
              <a:rPr sz="15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008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714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538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7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на работе диктовка уже пишет протокол — что у вас с чужой речью в записи?</a:t>
            </a:r>
          </a:p>
        </p:txBody>
      </p:sp>
      <p:sp>
        <p:nvSpPr>
          <p:cNvPr id="28" name="Rectangle 27"/>
          <p:cNvSpPr/>
          <p:nvPr/>
        </p:nvSpPr>
        <p:spPr>
          <a:xfrm>
            <a:off x="6091275" y="4499805"/>
            <a:ext cx="9144" cy="9800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010932"/>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102372"/>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612599"/>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документа больше не надо держать в голове при живом человеке — единственный шаг, который у него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то, чем эту вычитку удерживают: </a:t>
            </a:r>
            <a:r>
              <a:rPr sz="1500" b="1" i="0">
                <a:solidFill>
                  <a:srgbClr val="21295C"/>
                </a:solidFill>
                <a:latin typeface="Arial"/>
              </a:rPr>
              <a:t>подпись.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Вычитке другого рода не учат нигде.</a:t>
            </a:r>
          </a:p>
        </p:txBody>
      </p:sp>
      <p:sp>
        <p:nvSpPr>
          <p:cNvPr id="22" name="Rectangle 21"/>
          <p:cNvSpPr/>
          <p:nvPr/>
        </p:nvSpPr>
        <p:spPr>
          <a:xfrm>
            <a:off x="6091275" y="3704039"/>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2 классических режима с числами · обзор допуска по трём странам</a:t>
            </a:r>
          </a:p>
        </p:txBody>
      </p:sp>
      <p:sp>
        <p:nvSpPr>
          <p:cNvPr id="10" name="TextBox 9"/>
          <p:cNvSpPr txBox="1"/>
          <p:nvPr/>
        </p:nvSpPr>
        <p:spPr>
          <a:xfrm>
            <a:off x="704088" y="4116427"/>
            <a:ext cx="6473952" cy="184912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доля упала без помощника</a:t>
            </a:r>
            <a:r>
              <a:rPr sz="1550" b="0" i="0">
                <a:solidFill>
                  <a:srgbClr val="21295C"/>
                </a:solidFill>
                <a:latin typeface="Arial"/>
              </a:rPr>
              <a:t> — единственный замер износа на реальной клинической работе. </a:t>
            </a:r>
            <a:r>
              <a:rPr sz="1550" b="1" i="0">
                <a:solidFill>
                  <a:srgbClr val="21295C"/>
                </a:solidFill>
                <a:latin typeface="Arial"/>
              </a:rPr>
              <a:t>Пример 2: ArtInCol, Россия — помощник на той же процедуре</a:t>
            </a:r>
            <a:r>
              <a:rPr sz="1550" b="0" i="0">
                <a:solidFill>
                  <a:srgbClr val="21295C"/>
                </a:solidFill>
                <a:latin typeface="Arial"/>
              </a:rPr>
              <a:t> — та же величина, испытание сильнее, расход не мерен. </a:t>
            </a:r>
            <a:r>
              <a:rPr sz="1550" b="1" i="0">
                <a:solidFill>
                  <a:srgbClr val="21295C"/>
                </a:solidFill>
                <a:latin typeface="Arial"/>
              </a:rPr>
              <a:t>Пример 3: разработчики на незнакомой библиотеке</a:t>
            </a:r>
            <a:r>
              <a:rPr sz="1550" b="0" i="0">
                <a:solidFill>
                  <a:srgbClr val="21295C"/>
                </a:solidFill>
                <a:latin typeface="Arial"/>
              </a:rPr>
              <a:t> — та же вторая половина пары, измеренная жребием, и снята она на вашей работе, не в клинике.</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Данные берут четырьмя способами, и все работают на обычном потоке:</a:t>
            </a:r>
            <a:r>
              <a:rPr sz="150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500" b="1" i="0">
                <a:solidFill>
                  <a:srgbClr val="21295C"/>
                </a:solidFill>
                <a:latin typeface="Arial"/>
              </a:rPr>
              <a:t>Разбор случая приходит после исхода и в счёт не входит.</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Долю находок не поднять старанием:</a:t>
            </a:r>
            <a:r>
              <a:rPr sz="150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стадия стоит здесь:</a:t>
            </a:r>
            <a:r>
              <a:rPr sz="150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 держат форму,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465389"/>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11112703" cy="100815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Плохой осмотр выглядит как хороший, в котором ничего не нашли</a:t>
            </a:r>
            <a:r>
              <a:rPr sz="1250" b="0" i="0">
                <a:solidFill>
                  <a:srgbClr val="21295C"/>
                </a:solidFill>
                <a:latin typeface="Arial"/>
              </a:rPr>
              <a:t> — своего сигнала у врача нет.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Оба прироста — того же порядка, что у помощника, или больше, и не бесплатны:</a:t>
            </a:r>
            <a:r>
              <a:rPr sz="1250" b="0" i="0">
                <a:solidFill>
                  <a:srgbClr val="21295C"/>
                </a:solidFill>
                <a:latin typeface="Arial"/>
              </a:rPr>
              <a:t> три минуты врача на процедуру и второй человек в кабинете.</a:t>
            </a:r>
          </a:p>
          <a:p>
            <a:pPr algn="l">
              <a:lnSpc>
                <a:spcPct val="126000"/>
              </a:lnSpc>
              <a:spcBef>
                <a:spcPts val="700"/>
              </a:spcBef>
            </a:pPr>
            <a:r>
              <a:rPr sz="1250" b="0" i="0">
                <a:solidFill>
                  <a:srgbClr val="21295C"/>
                </a:solidFill>
                <a:latin typeface="Arial"/>
              </a:rPr>
              <a:t/>
            </a:r>
            <a:r>
              <a:rPr sz="1250" b="1" i="0">
                <a:solidFill>
                  <a:srgbClr val="21295C"/>
                </a:solidFill>
                <a:latin typeface="Arial"/>
              </a:rPr>
              <a:t>Базы разные:</a:t>
            </a:r>
            <a:r>
              <a:rPr sz="12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6" name="Rectangle 3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300" b="1" i="0">
                <a:solidFill>
                  <a:srgbClr val="21295C"/>
                </a:solidFill>
                <a:latin typeface="Arial"/>
              </a:rPr>
              <a:t>без</a:t>
            </a:r>
            <a:r>
              <a:rPr sz="1300" b="0" i="0">
                <a:solidFill>
                  <a:srgbClr val="21295C"/>
                </a:solidFill>
                <a:latin typeface="Arial"/>
              </a:rPr>
              <a:t> него.</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когнитивное искажение — износ навыка, третье из шести, предъявленных на входе вечера.</a:t>
            </a:r>
            <a:r>
              <a:rPr sz="130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находят больше, пока включён. </a:t>
            </a:r>
            <a:r>
              <a:rPr sz="1300" b="1" i="0">
                <a:solidFill>
                  <a:srgbClr val="21295C"/>
                </a:solidFill>
                <a:latin typeface="Arial"/>
              </a:rPr>
              <a:t>Потребовало:</a:t>
            </a:r>
            <a:r>
              <a:rPr sz="1300" b="0" i="0">
                <a:solidFill>
                  <a:srgbClr val="21295C"/>
                </a:solidFill>
                <a:latin typeface="Arial"/>
              </a:rPr>
              <a:t> умения искать самому. </a:t>
            </a:r>
            <a:r>
              <a:rPr sz="1300" b="1" i="0">
                <a:solidFill>
                  <a:srgbClr val="21295C"/>
                </a:solidFill>
                <a:latin typeface="Arial"/>
              </a:rPr>
              <a:t>В сумме:</a:t>
            </a:r>
            <a:r>
              <a:rPr sz="1300" b="0" i="0">
                <a:solidFill>
                  <a:srgbClr val="21295C"/>
                </a:solidFill>
                <a:latin typeface="Arial"/>
              </a:rPr>
              <a:t> исполнитель тот же — место, объём и рука прежние, —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633617"/>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89874"/>
          </a:xfrm>
          <a:prstGeom prst="roundRect">
            <a:avLst>
              <a:gd name="adj" fmla="val 18036"/>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11112703" cy="181351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та работа, которой занят зал.</a:t>
            </a:r>
            <a:r>
              <a:rPr sz="1300" b="0" i="0">
                <a:solidFill>
                  <a:srgbClr val="21295C"/>
                </a:solidFill>
                <a:latin typeface="Arial"/>
              </a:rPr>
              <a:t> Вторую половину пары измерили жребием — чего нет у соседних разборов.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Здесь измерен несложившийся навык:</a:t>
            </a:r>
            <a:r>
              <a:rPr sz="130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Тот же расход бывает и без модели.</a:t>
            </a:r>
            <a:r>
              <a:rPr sz="1300" b="0" i="0">
                <a:solidFill>
                  <a:srgbClr val="21295C"/>
                </a:solidFill>
                <a:latin typeface="Arial"/>
              </a:rPr>
              <a:t> В цитологии Великобритании после перехода на тест на вирус папилломы поток на чтение упал на 80–85 из ста, центров осталось 8 из 45. Навык расходует переданный объём работы; модель — лишь один из способов его передать.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805142"/>
          </a:xfrm>
          <a:prstGeom prst="roundRect">
            <a:avLst>
              <a:gd name="adj" fmla="val 1688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805142"/>
          </a:xfrm>
          <a:prstGeom prst="roundRect">
            <a:avLst>
              <a:gd name="adj" fmla="val 168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805142"/>
          </a:xfrm>
          <a:prstGeom prst="roundRect">
            <a:avLst>
              <a:gd name="adj" fmla="val 1688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У КОТОРОГО НЕТ СВОЕГО ЧИСЛА</a:t>
            </a:r>
          </a:p>
        </p:txBody>
      </p:sp>
      <p:sp>
        <p:nvSpPr>
          <p:cNvPr id="14" name="TextBox 13"/>
          <p:cNvSpPr txBox="1"/>
          <p:nvPr/>
        </p:nvSpPr>
        <p:spPr>
          <a:xfrm>
            <a:off x="8207044" y="1932846"/>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5805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231606"/>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323046"/>
            <a:ext cx="5373471" cy="291316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 измерено жребием и повторено.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 сказать врачу о пропуске внутри процедуры · измерить доверие за месяцы работы.</a:t>
            </a:r>
          </a:p>
        </p:txBody>
      </p:sp>
      <p:sp>
        <p:nvSpPr>
          <p:cNvPr id="18" name="TextBox 17"/>
          <p:cNvSpPr txBox="1"/>
          <p:nvPr/>
        </p:nvSpPr>
        <p:spPr>
          <a:xfrm>
            <a:off x="6278727" y="3323046"/>
            <a:ext cx="5373471" cy="291316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Перепроверка всего потока ушла, её место занял целевой арбитраж: защита сменилась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 в работе результат выше, на проверке ниже. Лечится устройством доступа, не объёмом практики.</a:t>
            </a:r>
          </a:p>
        </p:txBody>
      </p:sp>
      <p:sp>
        <p:nvSpPr>
          <p:cNvPr id="19" name="Rectangle 18"/>
          <p:cNvSpPr/>
          <p:nvPr/>
        </p:nvSpPr>
        <p:spPr>
          <a:xfrm>
            <a:off x="6091275" y="3323046"/>
            <a:ext cx="9144" cy="25542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 · </a:t>
            </a:r>
            <a:r>
              <a:rPr sz="1200" b="1" i="0">
                <a:solidFill>
                  <a:srgbClr val="21295C"/>
                </a:solidFill>
                <a:latin typeface="Arial"/>
              </a:rPr>
              <a:t>1,23</a:t>
            </a:r>
            <a:r>
              <a:rPr sz="1200" b="0" i="0">
                <a:solidFill>
                  <a:srgbClr val="21295C"/>
                </a:solidFill>
                <a:latin typeface="Arial"/>
              </a:rPr>
              <a:t> ложного срабатывания</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 · </a:t>
            </a:r>
            <a:r>
              <a:rPr sz="1200" b="1" i="0">
                <a:solidFill>
                  <a:srgbClr val="21295C"/>
                </a:solidFill>
                <a:latin typeface="Arial"/>
              </a:rPr>
              <a:t>413 → 472</a:t>
            </a:r>
            <a:r>
              <a:rPr sz="1200" b="0" i="0">
                <a:solidFill>
                  <a:srgbClr val="21295C"/>
                </a:solidFill>
                <a:latin typeface="Arial"/>
              </a:rPr>
              <a:t> из тысячи</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