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Чем эта лекция отличается от прошлой по предмету: там накопленное считалось в изделиях, здесь — в людях. Партию бракованных деталей отзывают; принятое клиническое решение отозвать нельзя, даже когда ошибку нашли сразу после. Это меняет саму постановку вопроса о цене ошибки, и курс идёт в медицину вторым не случайно — чтобы цена отказа стала видна по контрасту.</a:t>
            </a:r>
          </a:p>
          <a:p>
            <a:r>
              <a:t/>
            </a:r>
          </a:p>
          <a:p>
            <a:r>
              <a:t>Что значит «процедура удерживает цену ошибки»: двойное чтение снимка, второе мнение коллеги, консилиум при спорном случае, информированное согласие перед вмешательством — ни одно из этих устройств не придумано ради искусственного интеллекта. Все они существовали задолго до него и решали одну задачу: чтобы ошибка одного человека не стала окончательным решением без проверки. Модель входит в уже сложившуюся процедуру, а не строит свою заново, и именно поэтому интересный вопрос — не «умеет ли модель», а что происходит с самой процедурой и с человеком внутри неё, когда рядом появляется ещё один участник, который не устаёт, не сомневается и не просит паузы.</a:t>
            </a:r>
          </a:p>
          <a:p>
            <a:r>
              <a:t/>
            </a:r>
          </a:p>
          <a:p>
            <a:r>
              <a:t>Почему именно медицина идёт после машиностроения: предмет тот же — та же пара вопросов «что стоит пропуск» и «что стоит ложная тревога», то же устройство разбора через цену обеих ошибок. Граница допустимого риска при этом проведена в другом месте, и увидеть это можно только по контрасту с уже разобранной отраслью, а не абстрактным рассуждением.</a:t>
            </a:r>
          </a:p>
          <a:p>
            <a:r>
              <a:t/>
            </a:r>
          </a:p>
          <a:p>
            <a:r>
              <a:t>Что стоит унести с этого кадра, даже если к концу вечера забудутся все числа: вопрос звучит не «человек в контуре или нет», а предметно — что именно в каждом конкретном случае делает человек после того, как модель уже посмотрела. Ответ на этот вопрос и собирает вечер, случай за случаем, предъявляя не оценку инструмента, а то, что он сделал с работой вокруг себя.</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Инструмент открывается в браузере: в страницу перетаскивают рентгеновский снимок грудной клетки и через три секунды получают профиль вероятностей по восемнадцати патологиям и тепловую карту поверх снимка — область, на которую модель смотрела, когда выдавала этот профиль. Вычисление идёт на том же ноутбуке: снимок не уходит на сервер, страница работает и без сети. Допуска не требуется, учётной записи не требуется, денег не требуется. Опубликован инструмент в 2019 году и лежит в открытом доступе седьмой год.</a:t>
            </a:r>
          </a:p>
          <a:p>
            <a:r>
              <a:t/>
            </a:r>
          </a:p>
          <a:p>
            <a:r>
              <a:t>Внутри — узкая свёрточная сеть, потомок работ по распознаванию патологий на рентгене грудной клетки, обученная на сотнях тысяч размеченных снимков. Она не рассуждает и не пишет текста: она выдаёт восемнадцать чисел. И сама подписана строкой «не для диагностики» — то есть первое, что посмотрело на снимок, заранее сняло с себя ответственность за то, что увидело.</a:t>
            </a:r>
          </a:p>
          <a:p>
            <a:r>
              <a:t/>
            </a:r>
          </a:p>
          <a:p>
            <a:r>
              <a:t>Разбором этот случай не стал, и причину стоит назвать сразу, потому что она держит всю лекцию: чисел с двух сторон у него нет, цена обеих ошибок не названа, классический порядок работы не посчитан. По трём условиям, которым подчиняются все разбираемые дальше случаи, он не проходит. Нужен он для другого — показать, что порядок работы изменился до всякого внедрения: модель оказалась первым, кто посмотрел на медицинское изображение, и это стало технически бесплатным. Барьера входа здесь нет вообще.</a:t>
            </a:r>
          </a:p>
          <a:p>
            <a:r>
              <a:t/>
            </a:r>
          </a:p>
          <a:p>
            <a:r>
              <a:t>Дальше всё — про второго смотрящего. Что он теперь делает, в какой момент подключается, сколько у него секунд, подтверждает ли прочитанное или подписывает непрочитанное, и чем всё это измерено. Вопрос, с которым стоит идти дальше, лучше задать себе на собственном опыте: получали ли вы когда-нибудь результат обследования раньше, чем врач успел его прочитать? Если получали — вы видели ровно этот порядок с другой стороны.</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Чтение медицинских данных стало стоить три секунды и ноль рублей. Дальше читается вслух то, что у этого удешевления на другом конце, и адресов платежа четыре.</a:t>
            </a:r>
          </a:p>
          <a:p>
            <a:r>
              <a:t/>
            </a:r>
          </a:p>
          <a:p>
            <a:r>
              <a:t>Внимание. Человек смотрит после модели, и его зрительный поиск сужается — это измерено движением глаз, причём в обе стороны: при верной подсказке охват снимка падает, и качество чтения при этом растёт; при подсказке, пропустившей находку, охват падает так же, а качество чтения обваливается.</a:t>
            </a:r>
          </a:p>
          <a:p>
            <a:r>
              <a:t/>
            </a:r>
          </a:p>
          <a:p>
            <a:r>
              <a:t>Навык. Человек перестаёт делать сам то, что делал годами. Измерено это отключением помощника: доля обнаружения в процедурах без него у тех, кто к нему привык, оказалась ниже, чем до его появления. Состав свидетельства здесь слабее остальных трёх, и его стоит назвать составом: на реальной работе следствие измерено один раз и спорно, то же явление измерено случайным распределением в учёбе, повторения на реальной работе нет ни одного, а для тех, кто учился сразу с помощником, длительных измерений не существует вовсе.</a:t>
            </a:r>
          </a:p>
          <a:p>
            <a:r>
              <a:t/>
            </a:r>
          </a:p>
          <a:p>
            <a:r>
              <a:t>Подпись. Человек подтверждает решение, которого не читал. Требование, чтобы человек оставался последним звеном, у регулятора записано; проверку же этого требования нашли у 56 радиологических изделий из 717 — у восьми процентов.</a:t>
            </a:r>
          </a:p>
          <a:p>
            <a:r>
              <a:t/>
            </a:r>
          </a:p>
          <a:p>
            <a:r>
              <a:t>Арбитраж. Разбор одного расхождения дороже прежнего чтения: чтение одного снимка занимает 48 секунд, разбор расхождения — две минуты двенадцать секунд, то есть пять чтений. И когда первичных человеческих чтений стало вдвое меньше, объём арбитража вырос больше чем наполовину, причём разброс между двумя центрами оказался огромным — его называют вместе со средним, иначе получается отраслевая норма там, где её нет.</a:t>
            </a:r>
          </a:p>
          <a:p>
            <a:r>
              <a:t/>
            </a:r>
          </a:p>
          <a:p>
            <a:r>
              <a:t>Первая половина этой мысли курсу уже знакома: подешевел шаг — перестроилась работа, платят на другом шаге. Своё здесь — адрес: платят тем шагом, которым работает человек. При этом утверждения «платят дороже, чем сэкономили» тут нет и не будет: такого счёта в одной валюте не делал никто, и выдавать его за измеренный — ровно то, за что эта лекция разбирает поставщиков. Утверждение скромнее и проверяемо: платят, и вот чем.</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октябре 2024 года опубликованы результаты рандомизированного исследования диагностического рассуждения. Пятьдесят практикующих врачей разбирали одни и те же клинические случаи, и случайно распределены были два состояния: врач работает как обычно — со справочниками, поиском и собственной памятью — и врач работает поверх большой языковой модели, то есть видит её разбор случая и строит заключение с ним. Третье состояние случайной ветвью не было: модель прогнали отдельно, без человека, по тем же задачам и оценили той же шкалой. Это наблюдательное дополнение к испытанию, и читать его надо именно так.</a:t>
            </a:r>
          </a:p>
          <a:p>
            <a:r>
              <a:t/>
            </a:r>
          </a:p>
          <a:p>
            <a:r>
              <a:t>Оценивали слепо, по шкале структурированного диагностического рассуждения: насколько полно назван перечень возможных диагнозов, насколько обоснованно из него вычеркнуто лишнее, насколько уместны следующие назначения. Результат из ста возможных: модель одна — 92, человек поверх модели — 76. Разрыв между ними по медианам — шестнадцать пунктов, и проверки значимости именно у этой пары в первоисточнике нет; первоисточник проверяет другой разрыв, и полный счёт идёт там, где разбирают чтение снимка.</a:t>
            </a:r>
          </a:p>
          <a:p>
            <a:r>
              <a:t/>
            </a:r>
          </a:p>
          <a:p>
            <a:r>
              <a:t>База, без которой эти числа говорят больше, чем источник. Пятьдесят врачей — почти все терапевты: сорок четыре из пятидесяти, остальные из неотложной и семейной медицины. Единица измерения — рассуждение на клинических виньетках по реальным случаям; исходов пациентов здесь нет, никто не проверял, выздоровел ли кто-нибудь. Группа с моделью работала быстрее — около пятисот двадцати секунд на случай против пятисот шестидесяти пяти, — и эта разница тоже в пределах случайного.</a:t>
            </a:r>
          </a:p>
          <a:p>
            <a:r>
              <a:t/>
            </a:r>
          </a:p>
          <a:p>
            <a:r>
              <a:t>Чего эта пара не доказывает: что модель лучше лечит, и что она сильнее пары при честном случайном распределении. Что она показывает: инструмент, который сам по себе точнее любой человеческой группы в этом замере, не поднял человека до себя. Организация, купившая такой инструмент, получила нереализованный потенциал — куплено девяносто два, работает семьдесят шесть, и в отчётности убытка нет. Такую цену не находят в отчёте и поэтому не чинят.</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Фраза «человек в контуре» называет сразу четыре разных устройства работы, и между первым и четвёртым разница больше, чем между любой парой моделей. Разложить их помогает один признак — кто смотрит первым.</a:t>
            </a:r>
          </a:p>
          <a:p>
            <a:r>
              <a:t/>
            </a:r>
          </a:p>
          <a:p>
            <a:r>
              <a:t>Смотрит первым: человек читает данные сам, модель подключается после него или не подключается вовсе. Это классический режим двойного чтения, и он же база для всех дальнейших разборов — именно с ним модель и сравнивают. Смотрит вторым: первый проход сделан моделью, человек читает её результат и подтверждает либо отклоняет; это та самая фраза в её обычном понимании. Смотрит только спорное: человек подключается на расхождении — там, где модель и второй источник не сошлись, или там, где модель отметила случай как сомнительный; остального потока человек не видит. Подписывает не глядя: формально требование регулятора выполнено, человек в контуре стоит и подпись его есть — фактически участия нет.</a:t>
            </a:r>
          </a:p>
          <a:p>
            <a:r>
              <a:t/>
            </a:r>
          </a:p>
          <a:p>
            <a:r>
              <a:t>Чем заземлена четвёртая ступень. Медиана времени над подсказкой до решения её принять — около двух секунд; принятое без предварительной проверки правится потом в половине случаев против одной пятой. Если досчитать проверку, которую человек делает уже после принятия, медиана поднимается до шести с половиной секунд — то есть больше половины всей проверки происходит после того, как решение принято. Разряд этого свидетельства называется точно: лабораторный замер на программистах с помощником кода, двадцать один участник и около тысячи подсказок. Клинического измерения под этой цифрой нет; она про формальность подтверждения как таковую, и двух секунд ровно столько, сколько нужно, чтобы согласиться, не прочитав.</a:t>
            </a:r>
          </a:p>
          <a:p>
            <a:r>
              <a:t/>
            </a:r>
          </a:p>
          <a:p>
            <a:r>
              <a:t>Рядом стоит свидетельство без замера, и подпись у него соответствующая: нагрузка проверки в разработке переехала с младших на старших — младшие пишут с моделью и пишут больше, старшие не успевают проверять. Ни доли написанного с моделью, ни времени старших на проверку, ни числа отклонённых изменений под этим нет. Форма та же, что во всей лекции: пара сдвинула нагрузку и уронила результат в точке проверяющего. Но названа она свидетельством, измерением её назвать нечем.</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Формулировка начинается отрицанием точности, и это не фигура речи: измерено, что часто человек не точнее, и обоснование, стоящее на его точности, рассыпалось бы на первом же разборе. Значит опоры нужны другие, и их три.</a:t>
            </a:r>
          </a:p>
          <a:p>
            <a:r>
              <a:t/>
            </a:r>
          </a:p>
          <a:p>
            <a:r>
              <a:t>Право подписи выдано человеку. Ни в одной из рассмотренных здесь стран модель права подписи не имеет: заключение оформляется подписью человека, а при разборе случая оценивают действия человека — вопрос о том, пользовался ли он моделью, в протоколе разбора обычно не стоит вовсе. Отсюда прямое следствие: вопрос о модели оказывается вопросом о процедуре вокруг неё.</a:t>
            </a:r>
          </a:p>
          <a:p>
            <a:r>
              <a:t/>
            </a:r>
          </a:p>
          <a:p>
            <a:r>
              <a:t>Ошибается иначе. Выигрыш пары «человек и модель» даёт несовпадение ошибок, а не превосходство одной из сторон. Если человек и модель ошибаются на одних и тех же случаях, пара не даёт ничего; если на разных — пара выигрывает даже тогда, когда каждая сторона в одиночку слабее. Самой доли несовпадения здесь нет, и это говорится сразу: такие измерения существуют, их числа сверку по первоисточнику не прошли. Измерена структура несовпадения — знак выигрыша пары переворачивается в зависимости от того, какая сторона сильнее на задаче, — и измерена асимметрия отклонений; на этом опора и стоит.</a:t>
            </a:r>
          </a:p>
          <a:p>
            <a:r>
              <a:t/>
            </a:r>
          </a:p>
          <a:p>
            <a:r>
              <a:t>Отменить нельзя. Изделие отозвать можно, и отзывают; решения, принятые по нему до отзыва, не отзываются.</a:t>
            </a:r>
          </a:p>
          <a:p>
            <a:r>
              <a:t/>
            </a:r>
          </a:p>
          <a:p>
            <a:r>
              <a:t>Из формулировки следуют три проверки, и они нужны не только в медицине — их прикладывают к любому рабочему контуру. Первая: есть ли независимый источник истины, кроме объяснения самой модели? Если вывод проверяют по её же самообъяснению, это не проверка: объяснение построено той же системой и согласовано с выводом по устройству. Вторая: измерено ли, что человек возражает? Нужны две доли — доля отклонённых подсказок и доля верных отклонений; без второй первая не подтверждает ничего, отклонять можно всё подряд. Третья: успевает ли он физически — секунды на решение против объёма, который надо прочитать. У этой величины бывает ответ «нет», и две секунды медианной проверки до принятия и есть такой ответ.</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Проведём путь одного решения об одном человеке. Пришёл результат обследования. По нему назначено лечение. По назначению проведена операция. Человек живёт дальше с её последствиями. Ни один из этих шагов не отзывается. Снимок можно перечитать — и перечитывают. Назначение можно отменить до того, как его выполнили. Проведённую операцию и потерянные месяцы отменить нельзя. Первые три шага закрыты материалом, четвёртый — прочерком: измерения долгосрочного исхода человека после решения, принятого с участием модели, не нашлось ни одного.</a:t>
            </a:r>
          </a:p>
          <a:p>
            <a:r>
              <a:t/>
            </a:r>
          </a:p>
          <a:p>
            <a:r>
              <a:t>Отсюда видна разница между клиническим решением и инженерным, и она в цене отката. В инженерии цена ошибки зависит от того, сколько прошло между ошибкой и её обнаружением и чем именно обнаружение делается; прибор там физический — измерение, стенд, разборка узла. Накопленное считается в изделиях, и партию отзывают: это дорого, это публично, но это возможно. В медицине накопленное считается в людях, и отзыва нет. Устройство с рынка снять можно; решения, принятые по нему за два года его работы, останутся решениями.</a:t>
            </a:r>
          </a:p>
          <a:p>
            <a:r>
              <a:t/>
            </a:r>
          </a:p>
          <a:p>
            <a:r>
              <a:t>И второе, что меняется вместе с этим. Прибором, которым узнают об ошибке модели, становится человек — врач, который читает подсказку, решает и подписывает. В отличие от томографа этот прибор меняется от того, что рядом работает модель: меняется внимание, меняется навык, меняется доверие, меняется готовность возразить. Измерять ошибку модели через прибор, который сама модель и меняет, — это устройство задачи, с которым дальше придётся иметь дело в каждом разборе.</a:t>
            </a:r>
          </a:p>
          <a:p>
            <a:r>
              <a:t/>
            </a:r>
          </a:p>
          <a:p>
            <a:r>
              <a:t>Задержка между ошибкой и её обнаружением в клинической линии измеряется визитами: обнаружить ошибку может только следующий шаг, то есть другой человек в другой день. Отсюда и порядок лекций курса. Требования к доказательству в медицине сложились раньше и строже, чем в отраслях, где изделие можно разобрать: про инженерные системы с обученной моделью внутри прошлая лекция сказала залу прямо, что требований к ним нет, и это пробел. В медицине требования есть, и дальше они предъявляются документами.</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Сетка курса — тип задачи по одной оси, модальность данных по другой — дана в начале курса и здесь не переопределяется. По типу задачи: классификация, распознавание, поиск, генерация, прогноз, планирование. По модальности: текст, изображение, звук, видео, структурированные данные, код. Медицина занимает четыре клетки.</a:t>
            </a:r>
          </a:p>
          <a:p>
            <a:r>
              <a:t/>
            </a:r>
          </a:p>
          <a:p>
            <a:r>
              <a:t>Сама по себе такая раскладка — классификация, и мимо неё правильно проходить: она не отвечает ни на один вопрос практика. Поэтому в каждой занятой клетке названо не «что бывает», а чем это делают сегодня: режим работы, несколько реализаций как примеры режима, направление принятия и то, чего режим не умеет.</a:t>
            </a:r>
          </a:p>
          <a:p>
            <a:r>
              <a:t/>
            </a:r>
          </a:p>
          <a:p>
            <a:r>
              <a:t>Чтение снимка занято режимом «модель вторым читателем или сортировка потока по риску»; отдельный режим — сортировка потока по приоритету. Растёт в скрининге и в сортировке, в автономию почти не идёт. Не умеет заменить арбитраж: кто разбирает расхождение, назначает процедура. Решение «направить или нет» на месте занято автономным чтением без врача: допущено единицами и только там, где вопрос бинарный; за годность снимка режим не отвечает, и добывать годный снимок приходится человеку без профильной подготовки. Предупреждение по данным карты встроено в медицинскую информационную систему поставщиком: расходится вместе с системой, отдельной закупки не требует, независимые проверки отстают от развёртывания, а порог тревоги назначает организация — и цена ложной тревоги ложится на рабочее время. Работа с текстом даёт три режима с разной скоростью принятия: запись приёма под диктовку принимается быстрее всех, потому что диагноза не ставит; ответ по документам со ссылкой на источник; сортировка обращения словами после разобранного дальше случая стагнирует.</a:t>
            </a:r>
          </a:p>
          <a:p>
            <a:r>
              <a:t/>
            </a:r>
          </a:p>
          <a:p>
            <a:r>
              <a:t>Чисел в этой раскладке нет ни одного — ни долей рынка, ни числа допущенных изделий, ни «лидеров»: направление принятия названо словами, а названия реализаций устойчивее чисел, но не бессмертны. Прошлая лекция кончилась обещанием: инструменты в медицине будут выглядеть похоже, а отличаться будет цена ошибки и устройство процедур, которые её удерживают. Клетки действительно те же, плюс одна, которой в инженерном проектировании не было, — порождение текста в медицинской записи. Совпадение клеток и есть результат: отрасли различает не класс модели.</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Хребет лекции собран как путь одного решения о человеке, а не как каталог применений: каталог отвечает на вопрос «что бывает», путь — на вопрос «где за это платят». Раздел «Отбор» открывает вечер, потому что раньше всякого диагноза кто-то решает, попадёт ли человек в поле зрения вообще. Дальше — «Анализ данных»: что именно измерили и на какой группе это посчитано, потому что число без группы ничего не говорит. «Постановка диагноза» разбирает, что происходит, когда человек читает рядом с моделью, а не вместо неё. «Наблюдение за состоянием» — кто вообще заметит ухудшение, если оно начнётся между визитами. «Ведение записи» — кто прочтёт сделанную запись потом, и в каком виде. «Чем удерживают» — какая подпись, какая процедура и какой норматив держат решение на месте, если что-то пойдёт не так. «Разработка лекарства» — где именно удешевили начало цикла и где после этого образовалось узкое место. «Что стало с теми, кто решает» — что происходит с навыком человека, который годами работает рядом с моделью. «Сборка» возвращает счёт по всем разделам сразу, а «Закрытие» — обязательство, заявленное в начале вечера.</a:t>
            </a:r>
          </a:p>
          <a:p>
            <a:r>
              <a:t/>
            </a:r>
          </a:p>
          <a:p>
            <a:r>
              <a:t>Последняя позиция списка, наравне с разделами, — вопросы: так показано, что время на них отведено, без единой минуты на экране.</a:t>
            </a:r>
          </a:p>
          <a:p>
            <a:r>
              <a:t/>
            </a:r>
          </a:p>
          <a:p>
            <a:r>
              <a:t>Три разграничения в подвале — честный адрес, по которому тема закрывается, и дешевле сказать его сейчас, чем отбиваться от вопроса в середине вечера: производство лекарственной формы — предмет другой лекции, про производственную линию; устройство предсказания структуры белка в этом вечере встречается только как готовый инструмент на столе исследователя, а разбирает его как метод и как научное событие отдельная лекция про научный цикл; цифровые двойники — обещание отдельной лекции, и оно подтверждается, а не отменяется.</a:t>
            </a:r>
          </a:p>
          <a:p>
            <a:r>
              <a:t/>
            </a:r>
          </a:p>
          <a:p>
            <a:r>
              <a:t>Последняя строка подвала устроена иначе. Назначение лечения и оперативная помощь — не пробел и не чужая тема: оба предмета глава закрывает своими разделами, с числами, базами и разобранными провалами — от подбора дозы до предсказания падения давления на операции и сравнения с роботом. Со сцены они не идут по одной причине: на них нет времени. Материал есть, времени на него нет — и сказать это надо именно так, потому что «материала по этой работе у лекции нет» было бы неверным утверждением о собственной лекции, а вечер целиком про то, как проверяют чужие утверждения. Прочерк как приём при этом остаётся — для клеток, по которым измеренного материала действительно нет.</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звучит так, а не «умеет ли модель читать снимки», по одной причине: умение модели уже предъявлено и ничего не стоит, а решение о человеке принимает не модель. Поэтому спрашивать надо про второго смотрящего — и про того, кто его работу измерял.</a:t>
            </a:r>
          </a:p>
          <a:p>
            <a:r>
              <a:t/>
            </a:r>
          </a:p>
          <a:p>
            <a:r>
              <a:t>Фраза «человек в контуре» на этот вопрос не отвечает. Она называет сразу четыре разных устройства работы: человек читает данные первым; человек читает после модели и подтверждает; человек подключается только на спорном; человек подписывает, не глядя. Между первым и четвёртым разница больше, чем между любой парой моделей, — а в документах и в рекламе все четыре называются одними словами. Дальше каждый разбор отвечает предметно: какое из четырёх устройств стоит на этом месте и чем это подтверждено.</a:t>
            </a:r>
          </a:p>
          <a:p>
            <a:r>
              <a:t/>
            </a:r>
          </a:p>
          <a:p>
            <a:r>
              <a:t>Вторая половина вопроса — «кто это измерял» — не риторическая, и она задаёт правила чтения всего дальнейшего. У каждого числа названо, чем оно получено: случайное распределение по группам, наблюдение вперёд по заранее написанному протоколу, разбор уже существовавших данных, лабораторный эксперимент, опрос, нерецензированная выкладка, сообщение поставщика о собственном продукте. Это разные разряды, и уравнивать их нельзя. Рядом с разрядом стоит второй вопрос: воспроизводилось ли. Измеренное однажды называется однажды измеренным — даже когда разряд высокий и результат удобен.</a:t>
            </a:r>
          </a:p>
          <a:p>
            <a:r>
              <a:t/>
            </a:r>
          </a:p>
          <a:p>
            <a:r>
              <a:t>И у каждого числа названа база: знаменатель, группа, период. Число без знаменателя дальше не идёт; там, где знаменателя не нашлось, сказано, какого именно числа не хватает, и сказано рядом с числом, а не в конце. Из этого складывается и ответ на вопрос: не «ИИ в медицине работает» и не «не работает», а перечень мест, где посчитано, что стало с работой человека, — и перечень мест, где не посчитано ничего.</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стоит первым в хребте вечера не по алфавиту, а по месту в работе: дальше лекция разбирает решения о человеке, который уже попал в поле зрения, а здесь решается, попадёт ли он вообще — и это решение принимается до всякого диагноза, часто без врача и всегда без участия самого пациента в момент, когда оно принимается.</a:t>
            </a:r>
          </a:p>
          <a:p>
            <a:r>
              <a:t/>
            </a:r>
          </a:p>
          <a:p>
            <a:r>
              <a:t>Два разбора раздела показывают эту работу с двух разных сторон одной и той же задачи — сортировки потока, кого вообще стоит посмотреть внимательнее. «Пример 1: чат-бот первой линии» — случай, где модель (или то, что ею называли) встала на входе в поток обращений и решала, кого направить, а кого нет; разбор идёт через то, что предъявили публично, и через то, что это стоило каналу обращений, когда удешевлённый вход изменил само число людей, которые решили обратиться. «Глазное дно без офтальмолога» — случай, где выигрыш измерен не точностью чтения, а явкой: пока человек с диабетом идёт за направлением к отдельному специалисту, до теста реально доходят 22 из 100; когда снимок делает медсестра в первичном звене и решение «направить или нет» выносится на месте, до теста доходят 100 из 100 — это смена доступа, а не точности прибора.</a:t>
            </a:r>
          </a:p>
          <a:p>
            <a:r>
              <a:t/>
            </a:r>
          </a:p>
          <a:p>
            <a:r>
              <a:t>Общее между разборами — не тема и не отрасль, а то, что оба показывают: отбор решает не только «кого лечить», но прежде — «кого вообще стоит заметить», и ошибка на этом шаге не видна там, где её обычно ищут, потому что она случается раньше любого диагноза и любого измерения точности.</a:t>
            </a:r>
          </a:p>
          <a:p>
            <a:r>
              <a:t/>
            </a:r>
          </a:p>
          <a:p>
            <a:r>
              <a:t>Снимок рядом — настоящий кабинет чтения снимков с двумя рабочими местами и маммографическими мониторами: работа отбора выглядит именно так — не драматично, а буднично, и именно в этой будничности она чаще всего и остаётся незамеченной.</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Здесь столкнулись три разных порядка работы, и различать их придётся весь вечер.</a:t>
            </a:r>
          </a:p>
          <a:p>
            <a:r>
              <a:t/>
            </a:r>
          </a:p>
          <a:p>
            <a:r>
              <a:t>Скрининг — обследование людей, у которых нет жалоб, по признаку принадлежности к группе: возраст, пол, профессия, предшествующий диагноз. Его польза держится на одном допущении: находка, сделанная раньше жалобы, меняет исход. Если болезнь при раннем обнаружении лечится так же, как при позднем, скрининг не приносит ничего и остаётся чистой стоимостью — плюс вред от ложных вызовов. Обращение по симптому работает иначе: поиск ведёт сама жалоба, обследуют одного человека под конкретную гипотезу, и цена лишнего обследования разделена между ним и врачом — сотня тысяч приглашённых за неё не платит. Вероятность болезни у пришедшего по жалобе на входе совсем другая, и от этой величины зависит смысл любого положительного результата. Третий порядок ближе всего инженерной практике: сортировка потока — кто попадёт к врачу сегодня, а кто через две недели. Это то же решение об отборе, только внутри уже обратившегося потока.</a:t>
            </a:r>
          </a:p>
          <a:p>
            <a:r>
              <a:t/>
            </a:r>
          </a:p>
          <a:p>
            <a:r>
              <a:t>У сортировки есть классический инструмент, и разобрать его стоит, потому что модель приходит именно на его место. Вошедшего в приёмное отделение относят к одной из пяти категорий тяжести: категорию присваивает медсестра по протоколу — несколько вопросов, несколько снятых величин, сверка с таблицей, — и каждой категории назначено нормативное время до осмотра врачом. Недооценка означает, что человек с развивающимся инфарктом сидит в очереди; переоценка означает, что занят ресурс, которого в этот момент не хватило кому-то другому. Обе ошибки платит одна и та же смена.</a:t>
            </a:r>
          </a:p>
          <a:p>
            <a:r>
              <a:t/>
            </a:r>
          </a:p>
          <a:p>
            <a:r>
              <a:t>И свойство этой шкалы, которое встретится ещё не раз: веса в ней назначены людьми и опубликованы. Таблицу можно открыть, посмотреть, сколько баллов даёт каждый признак, и возразить составителю. Обученная модель на том же месте выдаёт тот же выход — категорию или приоритет — и весов своих не предъявляет. Это не делает её хуже и не делает лучше; это делает сравнение с ней возможным только по результату, а разбор расхождения — работой, которой у протокольной шкалы не было.</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Порог вмешательства — это документ. Возраст, с которого зовут. Интервал между приглашениями. Критерий, по которому человека отзывают на дообследование. Всё это записано в методическом указании органа здравоохранения, и записано задолго до того, как кто-нибудь измерил точность какого-нибудь прибора. Разработчик модели порога не назначает; врач у монитора порога не назначает; его назначает тот, кто решил, что хуже — пропустить или позвать лишнего. С этого и начинается разбор любого случая: пока не названа цена обеих ошибок, никакая точность не читается.</a:t>
            </a:r>
          </a:p>
          <a:p>
            <a:r>
              <a:t/>
            </a:r>
          </a:p>
          <a:p>
            <a:r>
              <a:t>Цена пропуска в этом режиме считается долей рака, найденного между двумя приглашениями: программа его не поймала, поймал симптом. Единица честная, потому что считается она на тех же людях, которых программа смотрела. Сам счёт предъявляется там, где разбирают чтение снимка: у этого числа есть вторая половина и оговорка о значимости, и без них оно читается сильнее, чем есть.</a:t>
            </a:r>
          </a:p>
          <a:p>
            <a:r>
              <a:t/>
            </a:r>
          </a:p>
          <a:p>
            <a:r>
              <a:t>Цена ложного вызова — два человека из ста обследованных вызваны повторно. За этим стоит повторный снимок, иногда биопсия и несколько недель, которые человек живёт с открытым вопросом. Последнее в отчёты не ставят, и это тоже цена — её платит не программа и не поставщик, а тот, кого позвали.</a:t>
            </a:r>
          </a:p>
          <a:p>
            <a:r>
              <a:t/>
            </a:r>
          </a:p>
          <a:p>
            <a:r>
              <a:t>База у обоих чисел одна, и называть её надо вместе с ними: контрольная группа шведской рандомизированной программы скрининга, пятьдесят две тысячи восемьсот семьдесят две женщины, двойное чтение без всякой модели, наблюдение два года. Распределение по группам случайное, исходы написаны заранее — это высший разряд свидетельства из тех, что встретятся в этот вечер, и именно поэтому контрольная группа годится как точка отсчёта для всего остального.</a:t>
            </a:r>
          </a:p>
          <a:p>
            <a:r>
              <a:t/>
            </a:r>
          </a:p>
          <a:p>
            <a:r>
              <a:t>Главное, что стоит унести: обе цены назначены в этом режиме до всякой модели и без всякой модели. Когда дальше кто-то скажет «система снижает число пропусков на столько-то процентов», первый вопрос будет не про проценты, а про то, какую из двух цен эта система должна была уменьшать и кто это решил.</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классический режим — не делать ничего и ждать, пока человек придёт сам. Считать его труднее первого, потому что нулём он не работает: тот, кого не позвали, всё равно однажды придёт — позже и с другой стадией. Значит сравнивать надо не «нашли или не нашли», а когда нашли.</a:t>
            </a:r>
          </a:p>
          <a:p>
            <a:r>
              <a:t/>
            </a:r>
          </a:p>
          <a:p>
            <a:r>
              <a:t>Единственный момент, когда этот режим измеряли случайным распределением, — время, когда скрининг только вводили. Мальмёское испытание набирало участниц с середины семидесятых по середину восьмидесятых и распределяло приглашение случайно: две группы отличались ровно тем, позвали человека или нет. Доля стадии II и выше среди найденных случаев составила девяносто один случай из ста пятидесяти девяти в группе без приглашения — пятьдесят семь из ста — против шестидесяти двух из ста шестидесяти в приглашённой, то есть тридцати девяти из ста.</a:t>
            </a:r>
          </a:p>
          <a:p>
            <a:r>
              <a:t/>
            </a:r>
          </a:p>
          <a:p>
            <a:r>
              <a:t>Единица выбрана не случайно. Доля поздних стадий среди найденных не зависит от того, сколько случаев нашли, — только от того, когда их нашли. Поэтому она годится для сравнения двух порядков работы, тогда как «сколько нашли» сравнивало бы заодно и охват, и мощность программы, и численность групп.</a:t>
            </a:r>
          </a:p>
          <a:p>
            <a:r>
              <a:t/>
            </a:r>
          </a:p>
          <a:p>
            <a:r>
              <a:t>Оговорка, без которой это число нельзя употреблять. Испытание шло почти полвека назад: другой прибор, другое лечение, другая эпоха. Это измерение режима, а не свойств аппаратуры, и переносить его на сегодняшнюю технику нельзя. Складывать его с числами шведской программы тоже нельзя: две разные программы и две разные эпохи, и вместе они дают только одно — две стороны цены, назначенные до всякой модели. Сегодня такое сравнение не поставить вовсе, потому что программу не отменяют ради замера. Воспроизведение: по направлению эффекта — многократно, разными программами разных стран; по величине — нет, и от эпохи величина зависит сильно.</a:t>
            </a:r>
          </a:p>
          <a:p>
            <a:r>
              <a:t/>
            </a:r>
          </a:p>
          <a:p>
            <a:r>
              <a:t>Отсюда и общее правило, которое дальше будет работать молча: когда поставщик сравнивает свою систему «с тем, как было раньше», надо спрашивать, какое именно «раньше» он посчитал — и в каких единицах.</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Шведская программа поставила испытание со случайным распределением: одно плечо читало снимки по-прежнему — двое людей с арбитражем на расхождении, — а во втором модель сортировала поток по предсказанному риску, и человек читал отобранное. Исходы написаны заранее. Публикаций у программы две, и выборки у них разные: промежуточный анализ безопасности на восьмидесяти тысячах распределённых женщин и итоговый на ста шести тысячах. Числа из них в один список складывать нельзя: объём человеческого чтения принадлежит промежуточному анализу, а чувствительность 80,5 против 73,8 — итоговому, и специфичность там одинакова в обоих плечах. Поставленное под чужую выборку число становится другим утверждением; черновики этой лекции такую склейку несли.</a:t>
            </a:r>
          </a:p>
          <a:p>
            <a:r>
              <a:t/>
            </a:r>
          </a:p>
          <a:p>
            <a:r>
              <a:t>Главный ответ этого разбора на вопрос раздела: большинство обследованных второго независимого человека больше не получает. Двойное чтение как механизм несовпадения ошибок заменено одним человеческим чтением поверх модели плюс арбитраж на расхождениях — и цена лежит именно здесь, в устройстве процедуры, а не в точности прибора.</a:t>
            </a:r>
          </a:p>
          <a:p>
            <a:r>
              <a:t/>
            </a:r>
          </a:p>
          <a:p>
            <a:r>
              <a:t>Германская программа рядом стоит для контраста, и разряд её ниже шведского: это наблюдательное внедрение, применять модель каждый радиолог решал сам, распределения по группам не было. Поэтому направление подтверждено, а величину приписывать модели нельзя. Устройство работы там опубликовано — сравнивали двойное чтение с поддержкой модели против обычного двойного чтения, то есть второго читателя в Германии не заменяли. Отсюда вывод, который одно внедрение дать не может: одинаковая фраза «внедрили модель в скрининг» означает две разные процедуры — в Швеции второго читателя заменили, в Германии сохранили. Вопрос «выросло ли выявление» ни о чём не говорит, пока не назван порядок работы, внутри которого оно выросло.</a:t>
            </a:r>
          </a:p>
          <a:p>
            <a:r>
              <a:t/>
            </a:r>
          </a:p>
          <a:p>
            <a:r>
              <a:t>А вот где охват действительно сообщают, а устройство работы — нет: отечественная платформа лучевой диагностики. Больше шестнадцати миллионов исследований в семидесяти пяти регионах, методика подсчёта не раскрыта ни в одном сообщении; сколько всего лучевых исследований делается в стране за год, не опубликовано — значит доля охвата не вычисляется. Независимого протокола сравнения с врачом без модели в открытом доступе тоже нет. Это утверждение об одном источнике, и на скрининговые программы оно не распространяется.</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в сортировке обращений считается так. Пропустить того, кому помощь нужна сейчас, — цена в исходе. Занять приём тем, кому он не нужен, — цена во времени врача и в чьём-то отложенном визите. И третья цена, которую в этой задаче обычно не считают вовсе: сортировка стоит денег тому, кто её содержит, и устройство оплаты решает, выживет ли она.</a:t>
            </a:r>
          </a:p>
          <a:p>
            <a:r>
              <a:t/>
            </a:r>
          </a:p>
          <a:p>
            <a:r>
              <a:t>Что предъявили. В июне 2018 года на публичном мероприятии было заявлено, что приложение набрало восемьдесят один процент против семидесяти двух на экзаменационных вопросах для начинающих врачей — против среднего результата живых врачей на тех же вопросах. Коллегия врачей общей практики публично назвала эти заявления сомнительными.</a:t>
            </a:r>
          </a:p>
          <a:p>
            <a:r>
              <a:t/>
            </a:r>
          </a:p>
          <a:p>
            <a:r>
              <a:t>Почему эта метрика не читается как основание. Вопрос экзамена приходит уже сформулированным и содержит нужные признаки. Живое обращение приходит без формулировки: человек говорит «мне плохо», а «загрудинная боль с иррадиацией в левую руку» он не произносит. Экзаменационная метрика измеряет работу с готовой формулировкой — ровно ту часть задачи, которой в открытом потоке нет. И правильное сравнение существовало: за год до демонстрации независимое сопоставление трёх приложений на одних и тех же задачах поставило это приложение на последнее место из трёх, хуже всех распознавало типовые болезни. Сравнение было, и его прошли мимо.</a:t>
            </a:r>
          </a:p>
          <a:p>
            <a:r>
              <a:t/>
            </a:r>
          </a:p>
          <a:p>
            <a:r>
              <a:t>Проверка «уберите модель, продолжит ли работать остальное». По публичному заявлению бывшего руководителя регуляторных вопросов компании, внутри «алгоритма» было дерево решений «если — то», собранное в таблице; он же документировал проблемы распознавания для надзорных органов с 2017 года. Сила этого свидетельства называется прямо: слова участника, не аудит. Выдать их за установленный факт значило бы сделать то, за что этот случай и разбирают.</a:t>
            </a:r>
          </a:p>
          <a:p>
            <a:r>
              <a:t/>
            </a:r>
          </a:p>
          <a:p>
            <a:r>
              <a:t>Случай всё равно взят, и провал условия — его содержание. Измерена здесь не точность дерева решений, а цена заявления о модели: копаешь — а там не модель. Урок остаётся проверяемым критерием: демонстрационная метрика не служит основанием для допуска в открытый поток, и спрашивать надо, на каком материале она получена и какой части живой задачи в этом материале нет.</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Классический режим здесь посчитан в деньгах, и счёт простой. Практика получает от национальной службы около ста пятидесяти пяти фунтов на зарегистрированного человека в год, и эта сумма не зависит от числа обращений. Классическая частота обращений — четыре раза в год у людей от двадцати пяти до сорока четырёх и три с четвертью у людей от пятнадцати до двадцати четырёх. База выбрана именно эта, а не среднее по стране: больше восьмидесяти процентов списка сервиса были младше сорока, и среднее по стране разницу бы занизило.</a:t>
            </a:r>
          </a:p>
          <a:p>
            <a:r>
              <a:t/>
            </a:r>
          </a:p>
          <a:p>
            <a:r>
              <a:t>В сервисе обращений стало четыре и три десятых на человека в год. Это оценка независимого отчёта по двенадцати месяцам данных, причём личные обращения посчитаны по единственному месяцу, который дали посчитать. Оговорка обязательна — это оценка с продолжением тренда, и отчёт сам это пишет.</a:t>
            </a:r>
          </a:p>
          <a:p>
            <a:r>
              <a:t/>
            </a:r>
          </a:p>
          <a:p>
            <a:r>
              <a:t>Дальше арифметика проводится делением, и в ней вся соль. Сверху — фиксированная сумма за человека в год. Снизу — выросшее число обращений. Каждое следующее обращение бесплатно для пациента и оплачивается тем же платежом, поделённым на большее число обращений. Нагрузка переехала с сортировки на приём, и платить за это стало некому. Двигатель переезда стоит назвать отдельно: доступность канала, а не качество модели. Вход стал мгновенным и бесплатным, и обращений стало больше; плохо ли сортировало дерево решений, данных нет вовсе.</a:t>
            </a:r>
          </a:p>
          <a:p>
            <a:r>
              <a:t/>
            </a:r>
          </a:p>
          <a:p>
            <a:r>
              <a:t>Что получили и чего это потребовало. Получили круглосуточную мгновенную сортировку и низкий порог обращения. Потребовало: экономику в минус на каждом пациенте, более десяти миллионов фунтов дополнительных расходов заказчика услуги за год при списке около сорока девяти тысяч человек и задокументированный случай, когда симптомы, похожие на инфаркт, не были распознаны. В сумме: оценка на выходе через слияние — четыре с лишним миллиарда долларов, банкротство в августе 2023 года, активы проданы за пятьсот тысяч фунтов.</a:t>
            </a:r>
          </a:p>
          <a:p>
            <a:r>
              <a:t/>
            </a:r>
          </a:p>
          <a:p>
            <a:r>
              <a:t>Чего эти числа не доказывают: был ли рост обращений непокрытой прежде потребностью или спросом, созданным самим предложением. Отчёт честно говорит, что не знает, и удобного чтения здесь выбирать не стоит.</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называется здесь до всякой точности. Пропустить поражение глазного дна у человека с диабетом — значит дойти до потери зрения: до поздних стадий это поражение бессимптомно, человек ничего не чувствует и потому не приходит. Лишнее направление стоит визита к специалисту, которого в районе может не быть вовсе. И третья величина, решающая здесь всё: теряют на неявке. Тест, до которого человек не дошёл, имеет нулевую чувствительность, какой бы она ни была в лаборатории.</a:t>
            </a:r>
          </a:p>
          <a:p>
            <a:r>
              <a:t/>
            </a:r>
          </a:p>
          <a:p>
            <a:r>
              <a:t>Оба классических режима посчитаны в одной единице — в явке. Первый: раз в год человек с диабетом идёт к офтальмологу, тот сам снимает и сам читает; до теста доходят двадцать два человека из ста. Отдельный визит к отдельному специалисту в отдельный день, часто в другом городе, притом что человек ничего не чувствует, — этот режим теряет людей по дороге. Второй режим называть неприятно, и распространён он шире первого: не обследовать вовсе. Явка у него ноль, и величина эта получена определением, измерением её не получить. Именно так устроено наблюдение там, где офтальмолога в районе нет.</a:t>
            </a:r>
          </a:p>
          <a:p>
            <a:r>
              <a:t/>
            </a:r>
          </a:p>
          <a:p>
            <a:r>
              <a:t>Модель против этих режимов. Снимок делает медсестра или техник в кабинете первичного звена, решение «направить или нет» выдаётся на месте меньше чем за минуту, без офтальмолога — доходят сто из ста. База: испытание со случайным распределением, подростки от восьми до двадцати одного года с диабетом, восемьдесят один человек против восьмидесяти трёх, один прибор. Чувствительность самого прибора здесь не произносится, и это решение, а не умолчание: распространённости поражения в этих выборках в источниках нет, а точность без группы и без распространённости не читается.</a:t>
            </a:r>
          </a:p>
          <a:p>
            <a:r>
              <a:t/>
            </a:r>
          </a:p>
          <a:p>
            <a:r>
              <a:t>И второй шаг того же пути посчитан внутри того же испытания: из двадцати пяти человек, у кого результат оказался отклонением, до офтальмолога дошли шестнадцать — шестьдесят четыре из ста против двадцати двух в контроле. Отсюда критерий, который разбор оставляет: автономия переносит ответственность, но не отменяет работу — она перекладывает её на другой шаг и на другого человека. Если этот шаг не посчитали, внедрение считается дешевле, чем оно есть.</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Ведущая форма изменения здесь — сменился исполнитель. Решение «направить или нет» перешло от офтальмолога к допущенному регулятором устройству целиком, и вместе с решением сместилась ответственность за пропуск: прежде она лежала на решении врача, теперь — на изделии. Это единственный случай всего вечера, где исполнитель сменился по документу: первое разрешение на автономную диагностику без интерпретации врачом выдано в 2018 году. Производная форма — появился шаг, которого не было: добиться годного снимка. У офтальмолога такой операции не существовало, потому что условия съёмки он компенсировал сам, на месте.</a:t>
            </a:r>
          </a:p>
          <a:p>
            <a:r>
              <a:t/>
            </a:r>
          </a:p>
          <a:p>
            <a:r>
              <a:t>Сколько стоит этот новый шаг, измерено — но на другом материале, и это надо называть вслух. На зрелом потоке у прибора другого производителя и у взрослых пациентов пять процентов снимков негодны по качеству: счёт идёт на сто одну тысячу визитов в четырёхстах с лишним клиниках, и семьдесят пять с лишним процентов потока специалист не видит вовсе. С явкой двадцать два против ста эти числа в одну бухгалтерию не складываются: две разные программы, два разных прибора, две разные возрастные группы. Сложить их в одну пару «дало — потребовало» означало бы ровно ту склейку выборок, которую этот вечер разбирает.</a:t>
            </a:r>
          </a:p>
          <a:p>
            <a:r>
              <a:t/>
            </a:r>
          </a:p>
          <a:p>
            <a:r>
              <a:t>Что стало с офтальмологом. Он видит примерно пятую часть потока, и это та часть, которую отобрала модель. Прежде именно специалист решал, что нормально; теперь нормальное к нему не приходит — и проверить, что оно действительно было нормальным, он не может. Это и есть переезд, названный точно: работа не исчезла, она перешла к другому исполнителю, а вместе с ней перешла и возможность её проверить.</a:t>
            </a:r>
          </a:p>
          <a:p>
            <a:r>
              <a:t/>
            </a:r>
          </a:p>
          <a:p>
            <a:r>
              <a:t>Чем этот случай отличается от шведского скрининга, где тоже «внедрили модель»: там модель распределяла снимки, а заключение оставалось за человеком — сменился порядок работы. Здесь заключение выдаёт устройство — сменился исполнитель. Одними словами эти два внедрения описывать нельзя, хотя описывают.</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Польза. На этом шаге модель решает, кого вообще посмотрят, и выигрыш в обоих разборах измерен доступом — тем, сколько людей дошло до обследования и сколько снимков прочёл второй человек. Точности модель здесь не прибавила: в шведском испытании чувствительность выросла вместе с заменой порядка чтения, а в испытании явки точность прибора не измерялась вовсе. Берут этот выигрыш двумя способами: снимают объём человеческого чтения там, где процедура уже плотная, и дотягиваются до тех, кто иначе не придёт. Второй способ сильнее первого по простой причине — тест, до которого человек не дошёл, имеет нулевую чувствительность.</a:t>
            </a:r>
          </a:p>
          <a:p>
            <a:r>
              <a:t/>
            </a:r>
          </a:p>
          <a:p>
            <a:r>
              <a:t>Границы. В открытом потоке обращений ни один разбор выигрыша не дал, а единственная состоявшаяся попытка кончилась банкротством. И утверждение «охват сообщают, а устройство работы — нет» держится ровно для одного источника — отечественной платформы лучевой диагностики; скрининговые программы, разобранные здесь, устройство работы публикуют, и расширять эту претензию на все внедрения нельзя.</a:t>
            </a:r>
          </a:p>
          <a:p>
            <a:r>
              <a:t/>
            </a:r>
          </a:p>
          <a:p>
            <a:r>
              <a:t>Риск. Удешевление входа перестраивает экономику системы раньше, чем кто-нибудь успевает проверить качество, и платить за переехавшую нагрузку оказывается некому. Второй риск тише и опаснее: критерий, по которому отбирают, способен незаметно сместить, кого вообще видят, — и обнаружить это смещение по отчётам самой системы нельзя, потому что отбирала она же.</a:t>
            </a:r>
          </a:p>
          <a:p>
            <a:r>
              <a:t/>
            </a:r>
          </a:p>
          <a:p>
            <a:r>
              <a:t>Нагрузка дальше. Поток, отобранный моделью, приходит на следующий шаг уже смещённым: то, что модель назвала нормой, человек не увидит. Ошибку отбора обнаруживает только следующий виток — другой человек в другой день, — и поэтому дальше речь пойдёт о том, что вообще значит «измерили»: на какой группе посчитана точность и почему смысл любого положительного результата зависит от того, кого в эту группу отобрали.</a:t>
            </a:r>
          </a:p>
          <a:p>
            <a:r>
              <a:t/>
            </a:r>
          </a:p>
          <a:p>
            <a:r>
              <a:t>Два названия того, что переехало: на сервисе первой линии нагрузка переехала на другой шаг — с сортировки на приём; на автономном скрининге глазного дна сменился исполнитель, и производной формой появился шаг, которого не было, — добыть годный снимок.</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клетки сетки курса заняты на этом шаге, и ни одна из них не про лечение: модель решает, кого посмотрят, а не что с человеком делать. Это и есть ответ на вопрос «где мы сейчас» — не в списке болезней, а на входе в поток.</a:t>
            </a:r>
          </a:p>
          <a:p>
            <a:r>
              <a:t/>
            </a:r>
          </a:p>
          <a:p>
            <a:r>
              <a:t>Работа с текстом даёт здесь три режима с очень разной судьбой, и разницу между ними стоит проговорить, потому что она не про качество моделей. Сортировка обращения словами после разобранного случая стагнирует. Запись приёма под диктовку и ответ по документам со ссылкой на источник, наоборот, принимаются быстро. Разницу делает одно: первый режим принимает решение, а два других оформляют уже принятое. Там, где режим решает, допуск и доверие даются медленно; там, где он оформляет, — быстро.</a:t>
            </a:r>
          </a:p>
          <a:p>
            <a:r>
              <a:t/>
            </a:r>
          </a:p>
          <a:p>
            <a:r>
              <a:t>Решение «направить или нет» на месте занято автономным чтением без врача. Допущено оно единицами и только там, где вопрос бинарный: направлять или не направлять. Это свойство задачи, а не особая осторожность регулятора — у бинарного вопроса есть проверяемый ответ, у открытого диагноза его нет. За годность снимка этот режим не отвечает; добыть годный снимок — отдельная работа, и достаётся она человеку без профильной подготовки.</a:t>
            </a:r>
          </a:p>
          <a:p>
            <a:r>
              <a:t/>
            </a:r>
          </a:p>
          <a:p>
            <a:r>
              <a:t>Чтение снимка занято режимом «модель вторым читателем или сортировка потока по риску», и растёт он шире всех остальных. Причина опять не в точности: этот режим не отменяет ни одной подписи. Кто разбирает расхождение — назначает процедура, и модель здесь ничего не забирает у человека формально, хотя фактически забирает его внимание. Подробный счёт по этому режиму идёт там, где разбирают чтение снимка.</a:t>
            </a:r>
          </a:p>
          <a:p>
            <a:r>
              <a:t/>
            </a:r>
          </a:p>
          <a:p>
            <a:r>
              <a:t>И общее правило чтения такой раскладки. Названо здесь, чем делают, а не чья марка лучше: режим один, реализаций много, и разницу в результате делает устройство процедуры вокруг модели, а не бренд. Чисел в раскладке нет ни одного — ни долей рынка, ни числа допущенных изделий, ни «лидеров»: направление принятия названо словами, потому что слова здесь проверяемы, а цифры рынка — нет.</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открывается границей, которую мы только что провели: в разделе 1 система решала, кого вообще посмотреть; здесь система не просто смотрит — она меряет и сама выносит заключение по измеренному. Отличие от раздела 3 принципиальное: там заключение по данным делает человек, здесь — машина. Граница проходит не по модальности данных и не по сложности алгоритма, а по тому, кто подписывает результат измерения.</a:t>
            </a:r>
          </a:p>
          <a:p>
            <a:r>
              <a:t/>
            </a:r>
          </a:p>
          <a:p>
            <a:r>
              <a:t>Раздел держится на одной идее, которую трудно удержать в голове при чтении рекламных материалов: любая доля — чувствительность, специфичность, точность — посчитана на конкретной группе людей, и при переносе этой доли на другую группу она перестаёт означать то же самое. Поэтому первые кадры раздела — не кейсы, а определения: что такое чувствительность и специфичность без привязки к конкретной болезни, и что происходит с одними и теми же долями системы на двух разных группах — поголовном скрининге и профильном отделении.</a:t>
            </a:r>
          </a:p>
          <a:p>
            <a:r>
              <a:t/>
            </a:r>
          </a:p>
          <a:p>
            <a:r>
              <a:t>Перед тремя разборами раздел даёт одну картину узнаваемого человека — техника флюорографии, который на месте решает, годится ли снимок для чтения; это не отдельный разбор, а сцена, к которой возвращается первый из трёх случаев.</a:t>
            </a:r>
          </a:p>
          <a:p>
            <a:r>
              <a:t/>
            </a:r>
          </a:p>
          <a:p>
            <a:r>
              <a:t>Первый разбор — «Таиланд» — показывает ту же задачу годности снимка в развёрнутом виде: автономное чтение снимков глазного дна в одиннадцати клиниках отклоняет по качеству каждый пятый снимок, и это измеренный провал развёртывания, а не прибора. Глазное дно без офтальмолога — отдельный случай про доступ, а не про годность входа, — предмет раздела 1, здесь он снимается строкой.</a:t>
            </a:r>
          </a:p>
          <a:p>
            <a:r>
              <a:t/>
            </a:r>
          </a:p>
          <a:p>
            <a:r>
              <a:t>Второй разбор — «Кожа и состав набора» — показывает ту же проблему группы с другой модальностью измерения: набор, на котором обучена и проверена модель, редко повторяет состав населения, на котором она потом работает.</a:t>
            </a:r>
          </a:p>
          <a:p>
            <a:r>
              <a:t/>
            </a:r>
          </a:p>
          <a:p>
            <a:r>
              <a:t>Третий разбор — «Расходы вместо болезни» — меняет модальность измерения ещё раз: целевой переменной взяты будущие расходы на лечение, а не тяжесть болезни, и это смещает, кого модель считает «достаточно больной», чтобы включить в программу повышенного внимания.</a:t>
            </a:r>
          </a:p>
          <a:p>
            <a:r>
              <a:t/>
            </a:r>
          </a:p>
          <a:p>
            <a:r>
              <a:t>Раздел заканчивается картой стадии и выводом: польза раздела — постоянство измерения там, где человек устаёт; граница — она же заявлена группой, на которой измерение посчитано.</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Любую систему, которая отвечает «болен или нет», описывают двумя долями, и считаются они на разных группах людей. Чувствительность берёт только тех, у кого болезнь есть, и спрашивает, какую их долю система назвала больными. Специфичность берёт только здоровых и спрашивает, какую их долю она не стала пугать. В инженерной практике это знакомо под другими именами — полнота по положительному классу и полнота по отрицательному; медицинские имена взяты здесь затем, что в клинических публикациях стоят именно они.</a:t>
            </a:r>
          </a:p>
          <a:p>
            <a:r>
              <a:t/>
            </a:r>
          </a:p>
          <a:p>
            <a:r>
              <a:t>Почему доли называют парой и почему общая точность ни одну из них не заменяет. Пусть болезнь есть у одного человека из тысячи. Система, которая всем без исключения говорит «здоров», даёт общую точность 99,9 процента и не находит ни одного больного. На редком событии общая точность измеряет распространённость, а не работу системы, и в медицине её поэтому не публикуют.</a:t>
            </a:r>
          </a:p>
          <a:p>
            <a:r>
              <a:t/>
            </a:r>
          </a:p>
          <a:p>
            <a:r>
              <a:t>Второе свойство: доли меняются только вместе. Сдвиньте порог, за которым система объявляет «болен», — найденных больных станет больше, а напрасно напуганных здоровых тоже больше. Поэтому доли всегда называются парой и всегда для одной рабочей точки, а выбирает эту точку протокол под цену обеих ошибок — и выбор сделан раньше, чем к задаче подошёл разработчик.</a:t>
            </a:r>
          </a:p>
          <a:p>
            <a:r>
              <a:t/>
            </a:r>
          </a:p>
          <a:p>
            <a:r>
              <a:t>Третье свойство и несущее для всего раздела: обе доли посчитаны на группе, которую собрал исследователь. Кого включили, кого исключили, в какой больнице, в какие годы — вместе с группой меняется и то, что доли означают на выходе.</a:t>
            </a:r>
          </a:p>
          <a:p>
            <a:r>
              <a:t/>
            </a:r>
          </a:p>
          <a:p>
            <a:r>
              <a:t>Систематический обзор работ машинного обучения на снимках при ковидной пневмонии отобрал из 2 212 публикаций 62 для разбора и не нашёл среди этих 62 ни одной, пригодной для клинического применения: изъяны методики и смещения в данных. Доли считали все; группу, на которой они посчитаны, почти никто. Оговорка обязательна и произносится рядом с числом: это вывод о качестве исследовательских работ, про внедрённые системы он не говорит ничего.</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Проведём счёт целиком, в людях и без формул. Возьмём одну систему с одной рабочей точкой: она ловит 94 больных из ста и напрасно пугает 11 здоровых из ста. Эти два числа — иллюстрация методики, взятая из опубликованной рабочей точки модели чтения снимков грудной клетки; характеристикой конкретного изделия они не служат, и ни одно решение о закупке на них опирать нельзя.</a:t>
            </a:r>
          </a:p>
          <a:p>
            <a:r>
              <a:t/>
            </a:r>
          </a:p>
          <a:p>
            <a:r>
              <a:t>Применим эту систему в двух группах, которые отличаются ровно одним — долей больных среди обследованных.</a:t>
            </a:r>
          </a:p>
          <a:p>
            <a:r>
              <a:t/>
            </a:r>
          </a:p>
          <a:p>
            <a:r>
              <a:t>Группа первая: десять тысяч человек подряд, поголовное обследование. Болезнь здесь у одного из ста, то есть у 100 человек из 10 000; здоровых 9 900. Система найдёт 94 больных из ста — это 94 верные тревоги. И напрасно напугает 11 здоровых из ста — это 1 089 ложных тревог. Всего тревог 1 183.</a:t>
            </a:r>
          </a:p>
          <a:p>
            <a:r>
              <a:t/>
            </a:r>
          </a:p>
          <a:p>
            <a:r>
              <a:t>Группа вторая: десять тысяч человек в профильном отделении. Сюда попали те, кого уже кто-то отобрал по жалобе или по направлению, и болезнь здесь у тридцати из ста — у 3 000 человек из 10 000; здоровых 7 000. Верных тревог 2 820, ложных 770, всего 3 590.</a:t>
            </a:r>
          </a:p>
          <a:p>
            <a:r>
              <a:t/>
            </a:r>
          </a:p>
          <a:p>
            <a:r>
              <a:t>Система одна. Её доли одни и те же, ни одна строка внутри неё не изменилась. Менялась только группа — а долю больных в группе назначил не разработчик, а тот, кто решил, кого звать на обследование. Это и есть решение об отборе, принятое за всех ещё до того, как кто-нибудь посмотрел на точность.</a:t>
            </a:r>
          </a:p>
          <a:p>
            <a:r>
              <a:t/>
            </a:r>
          </a:p>
          <a:p>
            <a:r>
              <a:t>Прежде чем идти дальше, стоит сделать два деления самому. Врач, которому тревога пришла на стол, чувствительности не видит вовсе — он видит, какая доля пришедших к нему тревог оказалась болезнью. В первой группе это 94 из 1 183, во второй 2 820 из 3 590. Посчитайте оба и запомните свой ответ: дальше он понадобится целиком.</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Счёт сходится так. В поголовном обследовании десяти тысяч человек система подняла 1 183 тревоги, и верными из них оказались 94 — это 8 из ста тревог. В профильном отделении на тех же десяти тысячах тревог вышло 3 590, верных среди них 2 820 — 79 из ста. Система одна, доли её одни и те же; различается только доля больных в группе — один из ста против тридцати из ста. Разница в результате получается почти десятикратная.</a:t>
            </a:r>
          </a:p>
          <a:p>
            <a:r>
              <a:t/>
            </a:r>
          </a:p>
          <a:p>
            <a:r>
              <a:t>У этой доли есть имя: прогностическая ценность положительного результата — какая часть поднятых тревог оказалась болезнью. Зависит она от распространённости, то есть от доли больных в обследованной группе, а распространённость свойством прибора не служит: её меняет тот, кто решил, кого обследовать.</a:t>
            </a:r>
          </a:p>
          <a:p>
            <a:r>
              <a:t/>
            </a:r>
          </a:p>
          <a:p>
            <a:r>
              <a:t>Что это значит для врача на приёме. Он видит именно эту долю, а не чувствительность. Объяснять пациенту одну ложную тревогу из десяти и девять ложных из десяти — две разные профессии, и разговоры эти устроены по-разному.</a:t>
            </a:r>
          </a:p>
          <a:p>
            <a:r>
              <a:t/>
            </a:r>
          </a:p>
          <a:p>
            <a:r>
              <a:t>Что это значит для инженера. Перенос системы из профильного отделения в поголовное обследование — не смена масштаба, а смена смысла выхода: один и тот же сигнал «болен» в первом случае почти достоверная находка, во втором — повод для дообследования, которое в девяти случаях из десяти кончится словом «норма».</a:t>
            </a:r>
          </a:p>
          <a:p>
            <a:r>
              <a:t/>
            </a:r>
          </a:p>
          <a:p>
            <a:r>
              <a:t>И отсюда видно, какими тремя способами долю верных тревог поднимают, причём ни один из них не состоит в улучшении модели. Поднять порог: ложных тревог станет меньше, пропущенных больных больше, и обменный курс здесь назначает цена обеих ошибок. Изменить группу: обследовать тех, у кого болезнь встречается чаще. Поставить второй, подтверждающий тест и объявлять «болен» только по двум — именно так устроены две ступени скрининговых программ.</a:t>
            </a:r>
          </a:p>
          <a:p>
            <a:r>
              <a:t/>
            </a:r>
          </a:p>
          <a:p>
            <a:r>
              <a:t>Отсюда и правило, которое раздел выдаёт всей лекции: заявленная точность без названной группы и названной распространённости не читается.</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Кабинет флюорографии районной поликлиники. Техник ставит пациента к аппарату, снимает, смотрит на экран и решает: годится или переснять. Решает он по тому, что видно на кадре, — положение пациента, захват объёма, наличие артефактов, видимость того, что должно быть видно. Это правило живёт в инструкции кабинета и в глазах того, кто снимал; в самом приборе его нет вовсе.</a:t>
            </a:r>
          </a:p>
          <a:p>
            <a:r>
              <a:t/>
            </a:r>
          </a:p>
          <a:p>
            <a:r>
              <a:t>Если негодный снимок уйдёт на чтение, читать будут артефакт — и читающий об этом может не узнать, потому что пациента он не видел. Диагноз поставят по тому, что видно, а не по тому, что было на самом деле. Заметить подмену, кроме техника, некому: обратная связь к нему не возвращается, и до пересмотра случая никто обычно и не узнаёт, что снимок был негодным.</a:t>
            </a:r>
          </a:p>
          <a:p>
            <a:r>
              <a:t/>
            </a:r>
          </a:p>
          <a:p>
            <a:r>
              <a:t>Отсюда общее утверждение, которое стоит произнести прежде всякого разбора: до всякого чтения кто-то решает, пригодно ли измерение, и решает это человек. Контроль годности — процедура, и свойством прибора он не становится.</a:t>
            </a:r>
          </a:p>
          <a:p>
            <a:r>
              <a:t/>
            </a:r>
          </a:p>
          <a:p>
            <a:r>
              <a:t>У этой работы есть объём, и объём этот меряется. Техник переснимает, пациент переодевается второй раз, очередь стоит. В разборе, который идёт следом, та же работа посчитана прямо: при автономном чтении снимков глазного дна в одиннадцати клиниках по качеству отклонили 393 снимка из 1 838 — то есть каждый пятый из всего потока первых полугода.</a:t>
            </a:r>
          </a:p>
          <a:p>
            <a:r>
              <a:t/>
            </a:r>
          </a:p>
          <a:p>
            <a:r>
              <a:t>И вот где сцена перестаёт быть бытовой. Пока чтение делает человек, годность остаётся внутренним делом кабинета: не понравилось — переснял. Когда чтение становится автономным и выполняется на месте, годность превращается в условие, от которого зависит результат: переснять некому, и посмотреть на заключение специалисту тоже некому. Из трёх режимов чтения — двойное чтение, арбитраж и контроль годности — раздел берёт только третий; первые два придут позже, вместе с человеком, который читает рядом с моделью.</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Левая половина берётся не из вежливости. Постоянство: система читает десятитысячный снимок так же, как первый, и не устаёт, тогда как у человека к концу смены доля пропусков меняется, и это измерено в работах по чтению скрининговых снимков. Поток: чтение «нормы» перестаёт занимать специалиста, и его время перераспределяется на спорное. Воспроизводимость: один и тот же вход даёт один и тот же выход, а значит расхождение можно разобрать — у двух людей такой возможности нет, потому что ни один из них не повторит собственное чтение буквально.</a:t>
            </a:r>
          </a:p>
          <a:p>
            <a:r>
              <a:t/>
            </a:r>
          </a:p>
          <a:p>
            <a:r>
              <a:t>Правая половина — три вещи, и ни одна не про качество модели. Качество входа: система не умеет переснять. Перенос: доли, посчитанные в одной больнице, не переезжают в другую вместе с прибором — переезжает прибор, а группа остаётся на месте. И третье, самое незаметное: чем измерен вход.</a:t>
            </a:r>
          </a:p>
          <a:p>
            <a:r>
              <a:t/>
            </a:r>
          </a:p>
          <a:p>
            <a:r>
              <a:t>Прибор, определяющий насыщение крови кислородом по поглощению света в тканях, расходится с прямым анализом крови у пациентов с тёмной кожей в 11,7 процента измерений — 88 случаев из 749. У светлокожих та же доля 3,6 процента — 99 из 2 778. Обе доли считаются по измерениям, не по пациентам, и обе взяты из одной названной когорты; многоцентровая выборка той же работы даёт другие числа, и рядом с этими они не произносятся — два набора из одной статьи легко прочитать как одну выборку и склеить.</a:t>
            </a:r>
          </a:p>
          <a:p>
            <a:r>
              <a:t/>
            </a:r>
          </a:p>
          <a:p>
            <a:r>
              <a:t>Смещение одностороннее, и это главное в примере: показание прибора выше, чем даёт анализ, то есть опасное снижение насыщения пропускается чаще. Регулятор выпустил предупреждение в феврале 2021 года, а в январе 2025-го — проект требования испытывать такие приборы на разных тонах кожи.</a:t>
            </a:r>
          </a:p>
          <a:p>
            <a:r>
              <a:t/>
            </a:r>
          </a:p>
          <a:p>
            <a:r>
              <a:t>И последнее: обученной модели в этом приборе нет вовсе. Это оптическое измерение, смещённое до всякой модели. Система, которая берёт этот признак на вход, смещение наследует, не создавая его, — и потому проверять надо не только модель, но и то, чем измерен её вход.</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считается здесь в исходах и в визитах, а не в деньгах. Пропущенное поражение глазного дна у человека с диабетом — это необратимая потеря зрения: до поздних стадий оно бессимптомно, человек ничего не чувствует и сам не приходит. Ложная тревога — направление к офтальмологу, которого в районе может не быть вовсе, и очередь, в которой стоят те, кому направление нужно. Денежных оценок для этой страны в открытых источниках нет, а американские сюда не переносятся, поэтому цена названа исходом и визитом.</a:t>
            </a:r>
          </a:p>
          <a:p>
            <a:r>
              <a:t/>
            </a:r>
          </a:p>
          <a:p>
            <a:r>
              <a:t>Классический режим произносится словами и без числа: раз в год человек с диабетом идёт на приём к офтальмологу, тот сам снимает и сам читает. Своего счёта этого режима на той же тайской выборке в источнике нет, и подставлять сюда явку из другого испытания — другая страна, другая возрастная группа — значило бы склеить две выборки в одну.</a:t>
            </a:r>
          </a:p>
          <a:p>
            <a:r>
              <a:t/>
            </a:r>
          </a:p>
          <a:p>
            <a:r>
              <a:t>Модель против этого режима: автономное чтение двух снимков глазного дна прямо в кабинете первичного звена, результат меньше чем за минуту, без офтальмолога. И вот что показало поле. За первые полгода развёртывания в одиннадцати клиниках по качеству отклонён 21 снимок из ста — 393 из 1 838 сделанных. Причины названы и обе про место, а не про модель: освещение в кабинете, где снимали, и медленная связь, из-за которой снимок не успевал уйти на обработку.</a:t>
            </a:r>
          </a:p>
          <a:p>
            <a:r>
              <a:t/>
            </a:r>
          </a:p>
          <a:p>
            <a:r>
              <a:t>Два числа рядом стоять не должны, и это стоит произнести прямо: 21 из ста — доля негодных снимков, а не доля неявки. Явку мерил другой разбор, на другой выборке и в другой стране.</a:t>
            </a:r>
          </a:p>
          <a:p>
            <a:r>
              <a:t/>
            </a:r>
          </a:p>
          <a:p>
            <a:r>
              <a:t>Лабораторная точность модели-предшественника опубликована, и в этом разборе она не произносится — по тому самому правилу раздела: у неё нет ни названной группы, ни названной распространённости. Правило применяется к числу, которое разбору было бы выгодно.</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Нагрузка выросла на том же месте, и это ведущее изменение в этом случае. Место и рука те же — техник первичного звена, та же камера, — а объём работы больше: у него появилась работа добиться годного снимка. У офтальмолога такой операции не было вовсе, потому что он компенсировал условия съёмки сам: подправил положение, переснял, посмотрел собственными глазами на результат.</a:t>
            </a:r>
          </a:p>
          <a:p>
            <a:r>
              <a:t/>
            </a:r>
          </a:p>
          <a:p>
            <a:r>
              <a:t>Рядом появился шаг, которого в классическом порядке не существовало: повторный визит для тех, чей снимок не прошёл. Это 21 человек из каждых ста обследованных — 393 отклонённых снимка из 1 838 за первые полгода, — и каждому из них нужно прийти второй раз.</a:t>
            </a:r>
          </a:p>
          <a:p>
            <a:r>
              <a:t/>
            </a:r>
          </a:p>
          <a:p>
            <a:r>
              <a:t>Пара, которой разбор закрывается. Дало: результат в кабинете первичного звена, без направления и без ожидания специалиста. Потребовало: годного снимка в условиях, под которые систему не проверяли. В сумме: на старте развёртывания результат оказался хуже лабораторного замера, и разница объясняется устройством места, а не устройством модели.</a:t>
            </a:r>
          </a:p>
          <a:p>
            <a:r>
              <a:t/>
            </a:r>
          </a:p>
          <a:p>
            <a:r>
              <a:t>Урок, который стоит унести с этого разбора целиком. Провалилось развёртывание — чтение сработало. Лабораторный набор, на котором модель проверяли, собран из снимков, прошедших отбор по качеству; в поле этот отбор делает человек, которому никто не сказал, по какому правилу он отбирает. Модель приехала готовой, место под неё — нет, и ровно это место никто не измерял до внедрения. Ни одно из двух названных изменений не про модель: оба про место.</a:t>
            </a:r>
          </a:p>
          <a:p>
            <a:r>
              <a:t/>
            </a:r>
          </a:p>
          <a:p>
            <a:r>
              <a:t>И честная оговорка о силе свидетельства. Это полевое наблюдательное исследование внедрения: одиннадцать клиник, первые полгода. Измерено однажды, прямого повторения нет — и это произносится рядом с числом, а не вместо него.</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здесь называется стадией. Пропущенное злокачественное образование кожи — лечение на поздней стадии, а не на ранней; единого числа выживаемости по группам пациентов, посчитанного на одной когорте за один период, в открытых сводках нет, поэтому цена названа стадией, а не процентом. Лишняя тревога — биопсия, рубец и месяцы ожидания результата.</a:t>
            </a:r>
          </a:p>
          <a:p>
            <a:r>
              <a:t/>
            </a:r>
          </a:p>
          <a:p>
            <a:r>
              <a:t>Оба классических режима взяты из одной работы и посчитаны одной методологией: метаанализ прямого сравнения показал, что осмотр невооружённым глазом находит 86 больных из ста при специфичности 77, а дермоскопия у обученного специалиста — 91 при специфичности 74. Свежий обзор по той же задаче даёт для осмотра другие числа и сводной оценки дермоскопии не даёт вовсе — из-за разнородности включённых работ; две оценки из двух методологий рядом не ставятся.</a:t>
            </a:r>
          </a:p>
          <a:p>
            <a:r>
              <a:t/>
            </a:r>
          </a:p>
          <a:p>
            <a:r>
              <a:t>Модель против этих режимов. На наборе из 656 изображений, каждое с подтверждённой биопсией — 208 светлых тонов кожи, 241 средних, 207 самых тёмных, — три модели дают площадь под кривой на самых тёмных тонах на 9–15 пунктов ниже, чем на самых светлых. Знаменатель назван, и он приличный: это не «несколько примеров».</a:t>
            </a:r>
          </a:p>
          <a:p>
            <a:r>
              <a:t/>
            </a:r>
          </a:p>
          <a:p>
            <a:r>
              <a:t>Одну цифру раздел произносить отказывается. Формулировка «на тёмной коже чувствительность падает на 20–30 процентов» ходила по материалам курса два круга; в публикации её нет, источник не опознаётся. Ближайшее измеренное: у одной из трёх моделей найдено 69 больных из ста на светлых тонах против 23 на тёмных.</a:t>
            </a:r>
          </a:p>
          <a:p>
            <a:r>
              <a:t/>
            </a:r>
          </a:p>
          <a:p>
            <a:r>
              <a:t>Исправление измерено, и лечит его не алгоритм: дообучение на представительном наборе разрыв снимает и даже переворачивает, а три алгоритмических метода борьбы со смещением его значимо не уменьшили. Чинилось это сбором и разметкой — той частью работы, которая в руках инженера.</a:t>
            </a:r>
          </a:p>
          <a:p>
            <a:r>
              <a:t/>
            </a:r>
          </a:p>
          <a:p>
            <a:r>
              <a:t>И строка, которая несёт разбор: разрыв по тону кожи измерен у модели и у классических методов не измерен вовсе — точность по тону кожи не разбивает ни метаанализ осмотра и дермоскопии, ни обзоры по той же задаче. Сказать «модель хуже человека на этой подгруппе» не с чем. Средняя точность модели по набору остаётся приличной, а цена ошибки сместилась на подгруппу, которой в обучающем наборе было мало.</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Речь о программе повышенного внимания: больница выделяет ограниченное число мест, куда берут людей, за которыми нужно присматривать плотнее обычного. Цена обеих ошибок считается местами. Не попал тот, кому программа нужна, — болезнь развивается без присмотра, и узнают об этом на госпитализации. Попал тот, кому не нужна, — потрачено место в программе и время координатора, то есть кто-то третий не попал.</a:t>
            </a:r>
          </a:p>
          <a:p>
            <a:r>
              <a:t/>
            </a:r>
          </a:p>
          <a:p>
            <a:r>
              <a:t>Оба классических режима посчитаны на одной выборке. При отборе решением лечащего врача доля рассматриваемой группы пациентов среди фактически отобранных — 19,2 из ста отобранных. При отборе одним баллом по прогнозу расходов — 17,2 из ста. Два числа близки, различаются только ярлыком режима, и потому подряд они не произносятся. Ограничение этого счёта надо назвать вслух: врач, отбиравший пациентов, уже видел балл — выше порога ему приходила подсказка. Значит посчитан отбор врачом, у которого балл уже под рукой; отбора, вовсе не видевшего балла, в публикации нет.</a:t>
            </a:r>
          </a:p>
          <a:p>
            <a:r>
              <a:t/>
            </a:r>
          </a:p>
          <a:p>
            <a:r>
              <a:t>Модель против этих режимов. Система считает каждому пациенту один балл, отбор идёт по порогу, а целевой переменной взяты будущие расходы на лечение. Результат: при равном балле у пациентов одной группы болезней оказалось на 26 процентов больше. То есть чтобы попасть в программу, им нужно было быть болезненнее при той же оценке риска. База: 49 618 пациентов одной академической больницы, 100 009 пациенто-лет, 2013–2015 годы.</a:t>
            </a:r>
          </a:p>
          <a:p>
            <a:r>
              <a:t/>
            </a:r>
          </a:p>
          <a:p>
            <a:r>
              <a:t>Механизм стоит разобрать медленно, потому что выбор целевой переменной был инженерно разумным и поучителен именно поэтому. Расходы есть в данных у всех пациентов, они числовые, не требуют разметки и действительно связаны с болезнью. Но расходы отражают обращаемость — сколько человек пользовался медициной, — а обращаемость у разных групп населения разная при одинаковом состоянии здоровья. Ошибка не в модели и не в данных по отдельности: никто не записал, что решение считает своей целью, и целью стало то, что было в данных.</a:t>
            </a:r>
          </a:p>
          <a:p>
            <a:r>
              <a:t/>
            </a:r>
          </a:p>
          <a:p>
            <a:r>
              <a:t>Чем это делают сегодня: счёт риска на данных плательщика и на медицинской карте, разделение населения по уровням внимания. Покупает такие системы администрация или плательщик, не врач.</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Авторы работы посчитали, что было бы, если убрать разрыв в здоровье на границе отбора: доля этой группы пациентов среди отобранных поднялась бы с наблюдаемых 17,7 до 46,5 из ста. Произносить это надо условным наклонением, иначе арифметическое упражнение выдаётся за внедрённое исправление. Устроен расчёт так: авторы заменяют на границе более здорового пациента более больным, пока разрыв не исчезнет, и смотрят, какой состав получится. Внедрения за этим нет, переобучения тоже.</a:t>
            </a:r>
          </a:p>
          <a:p>
            <a:r>
              <a:t/>
            </a:r>
          </a:p>
          <a:p>
            <a:r>
              <a:t>Настоящее переобучение авторы тоже сделали, и оно слабее расчёта. Их собственный предсказатель на числе активных хронических состояний даёт в группе высшего риска 26,7 из ста против 14,1 у их же предсказателя расходов, обученного на тех же данных. А наблюдаемая доля 17,7 принадлежит промышленному алгоритму, который авторы разбирают, — это третья модель, и вычитать одно из другого нельзя: такой разности в первоисточнике нет. Урок становится точнее: смена целевой переменной двигает состав отобранных и всё равно не доходит до 46,5.</a:t>
            </a:r>
          </a:p>
          <a:p>
            <a:r>
              <a:t/>
            </a:r>
          </a:p>
          <a:p>
            <a:r>
              <a:t>Что переехало. Сменился исполнитель: отбор делал лечащий врач, стал делать один балл. И сместилась цена ошибки — она переехала на группу, у которой при равном балле больше болезней. Пара, которой закрывается разбор: дало последовательный отбор там, где ручной непоследователен; потребовало совпадения расходов с болезнью, которого нет; в сумме для одной группы пациентов отбор стал хуже прежнего, а исправление до сих пор только посчитано.</a:t>
            </a:r>
          </a:p>
          <a:p>
            <a:r>
              <a:t/>
            </a:r>
          </a:p>
          <a:p>
            <a:r>
              <a:t>Про масштаб и его знаменатель — отдельно, потому что два числа тут легко сложить неправильно. Модели этого класса применяются, по оценке отрасли, примерно к 200 миллионам человек в год. Это оценка охвата, а не выборка измерения: сам перекос измерен на 49 618 пациентах одной больницы, и все выводы о его величине относятся к этому знаменателю.</a:t>
            </a:r>
          </a:p>
          <a:p>
            <a:r>
              <a:t/>
            </a:r>
          </a:p>
          <a:p>
            <a:r>
              <a:t>Рядом, другим жанром и слабее по силе, стоит одно наблюдение: модели чтения рентгена при переносе на чужой набор теряют чувствительность по отдельным патологиям, сохраняя формально высокую специфичность. Источник — препринт, и числа из него в видимый слой не выносятся до пересверки. Ценно в нём другое: внутренняя проверка этого не видит, провал проявляется там, где его меньше всего проверяют.</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Карта стадии показывает одно: какие клетки матрицы «тип задачи × модальность» на этом шаге заняты настоящими работающими системами. Их четыре из тридцати с лишним, и четвёртая занята особым образом.</a:t>
            </a:r>
          </a:p>
          <a:p>
            <a:r>
              <a:t/>
            </a:r>
          </a:p>
          <a:p>
            <a:r>
              <a:t>Классификация на изображении. Автономное чтение глазного дна — LumineticsCore, EyeArt, AEYE-DS — и оценка кожного образования: SkinVision в Европе работает через приложение у самого человека, DermaSensor в США — щуп со спектроскопией, который закупает первичное звено. Оба обходят дерматолога и оба дают только сортировку «показать врачу или нет», а не диагноз.</a:t>
            </a:r>
          </a:p>
          <a:p>
            <a:r>
              <a:t/>
            </a:r>
          </a:p>
          <a:p>
            <a:r>
              <a:t>Распознавание на изображении. Детекция и сортировка потока на снимках грудной клетки и на компьютерной томографии — Annalise, Aidoc, Lunit; в России это сервисы московского эксперимента, причём у одного из них регистрация была приостановлена надзором, поскольку заявленные характеристики при проверке не подтвердились.</a:t>
            </a:r>
          </a:p>
          <a:p>
            <a:r>
              <a:t/>
            </a:r>
          </a:p>
          <a:p>
            <a:r>
              <a:t>Прогноз на структурированных данных. Счёт риска внутри медицинской карты и разделение населения по уровням внимания. Покупает это администрация или плательщик, и решение о том, кого взять под присмотр, принимается там, где считают деньги, а не там, где лечат.</a:t>
            </a:r>
          </a:p>
          <a:p>
            <a:r>
              <a:t/>
            </a:r>
          </a:p>
          <a:p>
            <a:r>
              <a:t>И четвёртая клетка — измерение и сигнал прибора. Она занята работающей техникой, в которой обученной модели нет вовсе: смещение прибора насыщения крови приходит до всякой модели, а система, принимающая его показания на вход, это смещение наследует молча. Пустой клетку назвать нельзя, занятой моделью — тоже; так и помечено.</a:t>
            </a:r>
          </a:p>
          <a:p>
            <a:r>
              <a:t/>
            </a:r>
          </a:p>
          <a:p>
            <a:r>
              <a:t>Три разбора раздела ложатся на эту карту по разным клеткам: автономное чтение глазного дна — в первую, оценка кожного образования — в ту же первую, отбор по прогнозу расходов — в третью. То есть провалились они на разных стадиях одной и той же работы, а не в одном месте.</a:t>
            </a:r>
          </a:p>
          <a:p>
            <a:r>
              <a:t/>
            </a:r>
          </a:p>
          <a:p>
            <a:r>
              <a:t>Названо здесь, чем делают, а не чья марка лучше: режим один, реализаций много, и разницу в результате делает устройство процедуры вокруг прибора, а не имя на корпусе.</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Польза настоящая и измеримая, и специалист её возьмёт. Система читает десятитысячный снимок так же, как первый, тогда как у человека к концу смены доля пропусков меняется; чтение нормы перестаёт занимать специалиста; и у разбора расхождений появляется воспроизводимая сторона — один и тот же вход даёт один и тот же выход, чего от двух людей не добиться.</a:t>
            </a:r>
          </a:p>
          <a:p>
            <a:r>
              <a:t/>
            </a:r>
          </a:p>
          <a:p>
            <a:r>
              <a:t>Граница названа группой. Доли посчитаны на той группе, которую собрал исследователь, и вместе с группой меняется смысл выхода: один и тот же сигнал «болен» в поголовном обследовании оказался верным в 8 случаях из ста поднятых тревог, а в профильном отделении — в 79 из ста. Разница десятикратная, и ни одна строка внутри системы для этого не менялась.</a:t>
            </a:r>
          </a:p>
          <a:p>
            <a:r>
              <a:t/>
            </a:r>
          </a:p>
          <a:p>
            <a:r>
              <a:t>Риск разложен по трём местам, и ни одно не в самой модели. Вход измеряет прибор, и прибор может быть смещён до всякой модели. Набор собирает человек, и состав набора может не повторять состав населения, на котором система потом работает. Цель задаёт переменная — и целью становится то, что было в данных.</a:t>
            </a:r>
          </a:p>
          <a:p>
            <a:r>
              <a:t/>
            </a:r>
          </a:p>
          <a:p>
            <a:r>
              <a:t>Три разбора раздела ровно такие. В Таиланде провалилось развёртывание: 393 снимка из 1 838 отклонены по качеству за первые полгода в одиннадцати клиниках. В дерматологии провалился состав набора: на 656 биопсийно подтверждённых изображениях, из которых 207 с самыми тёмными тонами кожи, три модели теряют на них 9–15 пунктов площади под кривой. В отборе по прогнозу расходов провалилось определение цели: на 49 618 пациентах при равном балле у пациентов одной группы болезней оказалось на 26 процентов больше. Ни в одном из трёх не провалилось само чтение.</a:t>
            </a:r>
          </a:p>
          <a:p>
            <a:r>
              <a:t/>
            </a:r>
          </a:p>
          <a:p>
            <a:r>
              <a:t>Отсюда рабочее правило. Прежде чем спрашивать про точность, спросите: на какой группе посчитаны доли, чем измерен вход, из чего собран обучающий набор и что система считает своей целью. Четыре вопроса — и каждый из них в этом разделе провалил по одному внедрению. Дальше результат измерения попадает к человеку, который примет решение.</a:t>
            </a:r>
          </a:p>
          <a:p>
            <a:r>
              <a:t/>
            </a:r>
          </a:p>
          <a:p>
            <a:r>
              <a:t>И одно обнадёживающее наблюдение: единственное исправление, измеренное в разделе, пришло из состава данных — дообучение на представительном наборе разрыв сняло, а алгоритмические методы против смещения его не сняли.</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переходит через ту же границу, что отделила раздел 2 от раздела 1, только с другой стороны: здесь данные уже измерены и прочитаны системой, но заключение — диагноз — подписывает человек. Подсказка модели встаёт рядом со снимком, и вопрос раздела в том, что именно человек теперь смотрит: сам снимок, подсказку, или уже не то и не другое, а привычку доверять экрану.</a:t>
            </a:r>
          </a:p>
          <a:p>
            <a:r>
              <a:t/>
            </a:r>
          </a:p>
          <a:p>
            <a:r>
              <a:t>Первый разбор, «Замер взгляда радиолога», берёт инструмент, который редко применяют в разборах такого рода, — айтрекер. Он показывает механику того, что обычно описывают словом «автоматизационное искажение»: при ложной подсказке взгляд радиолога на самом поражении задерживается реже, и это измерено в движении глаз, а не в опросе после просмотра.</a:t>
            </a:r>
          </a:p>
          <a:p>
            <a:r>
              <a:t/>
            </a:r>
          </a:p>
          <a:p>
            <a:r>
              <a:t>Второй разбор, «Одна подсказка с двумя знаками», показывает то же устройство эффекта на уровне решения, а не взгляда: одна и та же подсказка модели по срезу в патологии поднимает шансы верного ответа вчетверо, когда модель права, и роняет вчетверо, когда неправа. Знак эффекта зависит не от модели вообще, а от конкретного случая.</a:t>
            </a:r>
          </a:p>
          <a:p>
            <a:r>
              <a:t/>
            </a:r>
          </a:p>
          <a:p>
            <a:r>
              <a:t>Третий разбор, «Измеренная тройка», ставит рядом три числа на одних и тех же случаях: модель в одиночку, врач в одиночку, врач с моделью. Разрыв между третьим и первым — то, ради чего часто покупают систему; разрыв между третьим и вторым — то, что она реально даёт.</a:t>
            </a:r>
          </a:p>
          <a:p>
            <a:r>
              <a:t/>
            </a:r>
          </a:p>
          <a:p>
            <a:r>
              <a:t>Четвёртый разбор, «Контрольная линия», — единственный в разделе случай предрегистрированного скринингового испытания с реальным объёмом: объём человеческого чтения падает почти наполовину, и это измерено, а не оценено.</a:t>
            </a:r>
          </a:p>
          <a:p>
            <a:r>
              <a:t/>
            </a:r>
          </a:p>
          <a:p>
            <a:r>
              <a:t>Раздел держит одну линию: пара «человек плюс модель» не равна ни человеку, ни модели в отдельности, и какая сторона в итоге перевешивает, нельзя сказать заранее, не замерив — обычно замеряют что угодно, кроме этого.</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Работа, которую этот случай показывает целиком, называется дифференциальным диагнозом и состоит из двух движений, повторяющихся по кругу: выписать болезни, способные объяснить наблюдаемое, и назначить проверку, которая эти болезни между собой различит. Инженеру это знакомо — так же он перебирает гипотезы, разбирая отказ узла. Клиническая версия жёстче в одном: часть проверок сама опасна или дорога, поэтому порядок проверок становится отдельным решением, которое приходится обосновывать. Снимок и анализ крови назначены первыми именно поэтому — они стоят мало и отсекают много.</a:t>
            </a:r>
          </a:p>
          <a:p>
            <a:r>
              <a:t/>
            </a:r>
          </a:p>
          <a:p>
            <a:r>
              <a:t>Бронхит вычеркнут снимком: изменений в верхней доле правого лёгкого при бронхите не бывает. Аутоиммунное поражение вычеркнуто спокойными воспалительными показателями. Остались два диагноза, которые по снимку между собой не различаются, и решает их исследование мокроты. Три недели ожидания посева — часть цены, которую платит пациент, а не задержка оформления.</a:t>
            </a:r>
          </a:p>
          <a:p>
            <a:r>
              <a:t/>
            </a:r>
          </a:p>
          <a:p>
            <a:r>
              <a:t>Отсюда два свойства, которые лекция дальше измеряет. Диагноз — последовательность решений, а не классификация в один проход. И ошибка здесь имеет особую форму. Можно выбрать неверно из составленного списка: это заметят, потому что придёт результат проверки и не совпадёт с ожиданием. А можно не вписать в список то, что должно было там стоять, — и тогда проверки, которая бы это обнаружила, никто не назначит. Второй вид ошибки не оставляет следа в карте: случай уходит с другим диагнозом и возвращается через год.</a:t>
            </a:r>
          </a:p>
          <a:p>
            <a:r>
              <a:t/>
            </a:r>
          </a:p>
          <a:p>
            <a:r>
              <a:t>Подсказка модели входит именно в начало — она участвует в составлении списка, а не в выборе из составленного. Если система отметила инфильтрат, строка про лимфому появится с меньшей вероятностью: внимание уже направлено, а лимфома на обзорном снимке выглядит иначе и требует отдельного усилия, чтобы о ней подумать. Если система не отметила ничего, список с высокой вероятностью остановится на самом частом и безобидном, и посев мокроты не назначается вовсе. Разница между двумя исходами целиком в том, права ли была система, и изнутри случая её не видно: оба раза врач видел снимок, видел заключение и действовал разумно.</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Второе мнение — заключение по тому же случаю, сделанное тем, кто не видел первого. Вся работа этого определения держится на второй половине.</a:t>
            </a:r>
          </a:p>
          <a:p>
            <a:r>
              <a:t/>
            </a:r>
          </a:p>
          <a:p>
            <a:r>
              <a:t>Существует устройство потому, что одиночное чтение пропускает, и пропускает у любого читателя: внимание ограниченно, снимок большой, признак бывает мелким и стоит там, где его не ждали. Полезным второе мнение делает одно наблюдение: пропуски двух читателей не совпадают. Первый не заметил уплотнение, потому что отвлёкся на кальцинаты в центре; второй отвлёкся на другое. Если бы оба систематически не видели одно и то же, второй читатель не добавлял бы ничего, кроме стоимости. Выигрыш двойного чтения создаётся несовпадением ошибок и ничем больше — силу первого читателя он не удваивает.</a:t>
            </a:r>
          </a:p>
          <a:p>
            <a:r>
              <a:t/>
            </a:r>
          </a:p>
          <a:p>
            <a:r>
              <a:t>Независимость при этом не свойство характера, а организационная работа: отдельная очередь чтения, скрытое поле заключения, иногда отдельная смена или отдельное учреждение. Проверяемый признак один — мог ли второй читатель физически увидеть первое заключение в момент чтения; ответ дают права доступа, а не регламент. Перегородка стоит денег, и поэтому её убирают первой, когда ищут, на чём сэкономить. Формальная независимость выглядит так же и работает иначе: доля расхождений падает, и руководство читает это как рост согласованности.</a:t>
            </a:r>
          </a:p>
          <a:p>
            <a:r>
              <a:t/>
            </a:r>
          </a:p>
          <a:p>
            <a:r>
              <a:t>Арбитраж — третий читатель, который видит оба заключения и включается только там, где два первых не совпали. Объём его работы задан числом разногласий, то есть считается заранее и управляется порогом. Консилиум устроен иначе: несколько специалистов обсуждают случай, видя мнения друг друга, и независимость здесь утрачена сознательно — ценность в обмене доводами. Поэтому консилиумом поток в скрининге не читают.</a:t>
            </a:r>
          </a:p>
          <a:p>
            <a:r>
              <a:t/>
            </a:r>
          </a:p>
          <a:p>
            <a:r>
              <a:t>Подсказка модели ломает независимость с двух сторон. Она видна до того, как сложилось собственное мнение. И она одна и та же для всех читателей: пропуск обученной системы у всех один, поэтому её ошибка не усредняется между двумя читателями, а удваивается. Отсюда вывод, на котором держится весь раздел: «добавим второе мнение от модели» и «добавим второго врача» — разные изменения процесса, хотя на схеме выглядят одним блоком.</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Формула «человек в контуре» отвечает на вопрос, которого никто не задавал: она говорит, что человек присутствует, и ничего не говорит о том, что он делает. Четыре ступени разводят это по тому, что человек успевает увидеть. Читающий первым видит случай и собственный вывод делает до того, как узнает машинный: ступень дороже всех по времени и сохраняет независимость. Читающий вторым видит случай вместе с готовым выводом — независимость утрачена по построению, выигрыш в скорости есть. Читающий только спорное видит выборку, которую отобрала модель, и то, что отобрано ошибочно, до него не доходит никогда. Подписывающий не глядя видит только текст заключения.</a:t>
            </a:r>
          </a:p>
          <a:p>
            <a:r>
              <a:t/>
            </a:r>
          </a:p>
          <a:p>
            <a:r>
              <a:t>У четвёртой ступени есть измеренная величина, и найдена она за пределами медицины: двадцать один программист, 1 096 обработанных подсказок ассистента кода, поведенческая телеметрия. Медиана времени над подсказкой до решения её принять — 1,99 секунды. В той же работе есть вторая медиана, и путать их нельзя: если досчитать проверку уже после принятия подсказки, выходит 6,48 секунды, то есть больше половины всей проверки приходится на время, когда решение уже принято. На вопрос «успевает ли человек прочитать прежде, чем подписал» отвечает первая величина. Существеннее другое: подсказка, принятая без предварительной проверки, позже требовала правки с вероятностью 0,53, проверенная до принятия — 0,18. Медицины в этой выборке нет вовсе, и перенос на врача держится на аналогии.</a:t>
            </a:r>
          </a:p>
          <a:p>
            <a:r>
              <a:t/>
            </a:r>
          </a:p>
          <a:p>
            <a:r>
              <a:t>Медицинское измерение рядом — про то, что обучение ступень не повышает. База сравнения здесь не работа без подсказки, а работа с верными рекомендациями: те же 44 врача дают 84,9 из ста при верных рекомендациях модели и 73,3, когда часть рекомендаций намеренно неверна; неверные давались в трёх случаях из шести. Поправленная разница — 14,0 пункта при интервале от −18,9 до −9,1. Разряд свидетельства высокий, выборка маленькая и страна одна, и одно другого не отменяет. Человек, прошедший двадцатичасовой курс, остался на той ступени, на которой стоял: курс не делает его читателем, который умеет выборочно не поверить.</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Сперва половина, где выигрыш настоящий. Программа скрининга обрабатывает десятки тысяч исследований в год, и модель читает всё: она не устаёт к концу смены и не теряет чувствительность в пятницу вечером. Это дешёвое и реальное полезное действие, и оно не требует, чтобы модель была лучше среднего читателя, — она просто есть на каждом случае. Напоминание о редком диагнозе работает тем же механизмом, которым подсказка и вредит: модель дополняет состав списка гипотез, и строка, которой у усталого врача не появилось бы, появляется. Редкие диагнозы пропускают именно так — их не вписывают, и потому неверного выбора из списка никто не делает. Сортировка даёт выигрыш во времени до решения, и в неотложной помощи минуты имеют клиническую цену. У неё есть обратная сторона: исследование, ошибочно отнесённое к неподозрительным, попадает во вторую очередь и ждёт тем дольше, чем лучше сортировка работает на остальном потоке.</a:t>
            </a:r>
          </a:p>
          <a:p>
            <a:r>
              <a:t/>
            </a:r>
          </a:p>
          <a:p>
            <a:r>
              <a:t>Вторая половина. Независимость теряется потому, что так устроен интерфейс, а не потому, что врач невнимателен. Избирательности не хватает процедуры: ни в одной разобранной работе специалисты не получали инструмента, позволяющего отличить верную подсказку от неверной, и ни одна группа с этой задачей не справилась.</a:t>
            </a:r>
          </a:p>
          <a:p>
            <a:r>
              <a:t/>
            </a:r>
          </a:p>
          <a:p>
            <a:r>
              <a:t>У объяснимости цена измерена. База — точность выбора препарата без всякой модели, 35,7 из ста у тех же клиницистов на тех же задачах. Верная рекомендация значимого улучшения им не дала. А неверная рекомендация с упрощённым объяснением по признакам уронила точность до 26,2 — ниже той линии, которую тот же врач даёт без модели вообще. Точность подсказки в опыте задана имитацией на уровне 66,7 из ста; настоящей обученной модели здесь не было, и это ограничение называется вместе с числом. Состав выборки раскрыт: 220 врачей, назначающих антидепрессанты, из них психиатрия — 195 человек, первичное звено — 18, прочие профили — 7. Упрощённое объяснение создаёт ясность, не связанную с правильностью: понятому возразить труднее, чем непонятному.</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яркие измеренные истории — это три случая, пусть и измеренных. Чтобы говорить о правиле, нужен агрегат, и он есть: предрегистрированный обзор с мета-анализом, 74 работы из 5 126 просмотренных, 106 уникальных опытов, 370 размеров эффекта, публикации с января 2020 по июнь 2023. Критерий включения решает здесь всё: опыт брали только тогда, когда измерены все три величины — человек один, модель одна и пара. Без третьей величины сравнивать пару не с чем, и ровно поэтому большинство отчётов о внедрении на этот вопрос не отвечают.</a:t>
            </a:r>
          </a:p>
          <a:p>
            <a:r>
              <a:t/>
            </a:r>
          </a:p>
          <a:p>
            <a:r>
              <a:t>Размер эффекта — мера «насколько сдвинулось», выраженная в долях разброса самих данных. Она нужна там, где надо сложить сто шесть опытов с разными шкалами: один мерил долю верных ответов, другой балл эксперта, третий время. Читаются такие числа по двум признакам: знак и то, лежит ли интервал целиком по одну сторону от нуля. Интервал от −0,71 до −0,37 отрицателен целиком — значит при повторении опытов эффект останется отрицательным. Третий знак после запятой смысла не несёт: содержательно здесь «около половины разброса вниз» против «около половины разброса вверх».</a:t>
            </a:r>
          </a:p>
          <a:p>
            <a:r>
              <a:t/>
            </a:r>
          </a:p>
          <a:p>
            <a:r>
              <a:t>Оговорку надо произносить каждый раз вместе с числом. Общий результат −0,23 считается против лучшей из двух сторон, а не против человека. Авторы отдельно пишут, что усиление человека в среднем есть, и у этого есть своё число: пара работает лучше человека одного с размером эффекта 0,64 при интервале от 0,53 до 0,74. Прочтение «пара человека и модели работает плохо» эти данные не поддерживают. Верная формулировка одна: пара обычно лучше человека и хуже сильнейшего из двух.</a:t>
            </a:r>
          </a:p>
          <a:p>
            <a:r>
              <a:t/>
            </a:r>
          </a:p>
          <a:p>
            <a:r>
              <a:t>Чего агрегат не говорит. Он не про исходы пациентов, разнородность внутри высокая, и медицинских работ там часть. Форма из словаря здесь не определяется: за агрегатом нет внедрённого процесса — ни места, ни объёма, ни исполнителя, — и подгонять под ближайшую форму нечем. Правило отсюда короткое: сначала измерь, кто сильнее по отдельности, потом решай, кто решает.</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то самое, что было обещано залу, и отрабатывается оно буквально: профессиональные читатели национальной программы скрининга, их собственная ежедневная работа, прямое ухудшение результата.</a:t>
            </a:r>
          </a:p>
          <a:p>
            <a:r>
              <a:t/>
            </a:r>
          </a:p>
          <a:p>
            <a:r>
              <a:t>Устройство опыта. Десять радиологов читают один и тот же набор из шестидесяти случаев дважды: сначала без подсказок, через шесть недель — с подсказками. Подсказки подлинные: это вывод коммерчески доступной допущенной системы при пороге оценки области 10 из 100. Преднамеренным был подбор набора — в него нарочно положили случаи, где система ошибается в обе стороны: 26 верно-положительных подсказок, 14 ложноотрицательных, 14 ложноположительных, 6 верно-отрицательных; исходы подтверждены трёхлетним наблюдением или гистологией. Сравнивается один человек с собой, и это сильная сторона дизайна: межчитательский разброс, который в чтении маммограмм велик, из сравнения исключён целиком.</a:t>
            </a:r>
          </a:p>
          <a:p>
            <a:r>
              <a:t/>
            </a:r>
          </a:p>
          <a:p>
            <a:r>
              <a:t>База — медианная чувствительность того же читателя на тех же случаях без подсказки, 71 из ста. На случаях, где подсказка была ложноотрицательной, та же величина составила 39, и падение в 32 пункта значимо. Медиана по десяти читателям устойчивее средней к одному выпадающему читателю.</a:t>
            </a:r>
          </a:p>
          <a:p>
            <a:r>
              <a:t/>
            </a:r>
          </a:p>
          <a:p>
            <a:r>
              <a:t>Вторая половина того же измерения показывает перелом знака внутри одной работы: на случаях с ложноположительной подсказкой специфичность читателя выросла — с 21 до 39 из ста. Пару надо читать вместе: ложноотрицательная подсказка стоит читателю 32 пункта чувствительности, ложноположительная приносит ему 18 пунктов специфичности. Подсказка не «ухудшает чтение» и не «улучшает» его — она сдвигает порог читателя в ту сторону, которую сама называет, и цена сдвига зависит от того, в какую сторону подсказка ошиблась.</a:t>
            </a:r>
          </a:p>
          <a:p>
            <a:r>
              <a:t/>
            </a:r>
          </a:p>
          <a:p>
            <a:r>
              <a:t>Сила свидетельства названа вместе с числом: по механизму сильное, по выборке читателей среднее — их десять, и обобщение на всю профессию на этом не строится. Шесть недель между сессиями защищают от узнавания случая по памяти, но полностью такой интервал не защищает. Прямого повторения по величине падения нет.</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Величина падения сама по себе оставляет открытым вопрос «как именно». Ответ в той же работе получен измерением. На поражениях, которые модель пропустила, взгляд читателя задерживался реже: без подсказки — 0,47 фиксации в секунду, с подсказкой — 0,44. Два числа различаются в третьем знаке, поэтому называть их полезно порознь и каждое со своим ярлыком; база — чтение тех же случаев тем же читателем без подсказки.</a:t>
            </a:r>
          </a:p>
          <a:p>
            <a:r>
              <a:t/>
            </a:r>
          </a:p>
          <a:p>
            <a:r>
              <a:t>Что это значит. Ложная подсказка сузила зрительный поиск. Переубеждения словами не было: читателю никто не доказывал, что поражения нет. Его глаз просто реже останавливался на том месте, которое система не отметила. Это физическое изменение сканирующего поведения под влиянием машинного указания, измеренное в движении глаза.</a:t>
            </a:r>
          </a:p>
          <a:p>
            <a:r>
              <a:t/>
            </a:r>
          </a:p>
          <a:p>
            <a:r>
              <a:t>Почему механизм существеннее самой величины. Если подсказка меняет мнение, лечится это доводами: объяснением, показом уверенности модели, обучением. Если подсказка меняет то, что человек физически успевает увидеть, доводы бессильны, и призыв быть внимательнее перестаёт быть мерой. Лечится это процедурой: порядком предъявления, временем на самостоятельное чтение до показа подсказки, запретом выводить отметку одновременно со снимком. Отсюда три следствия. Порядок предъявления — управляемый параметр с измеренной ценой: интерфейс, показывающий отметку вместе со снимком, покупает скорость за 32 пункта медианной чувствительности на случаях, где подсказка молчала. Обучение бьёт не туда. И мера эффекта должна быть поведенческой: процесс поиска меняется раньше и надёжнее, чем доля находок.</a:t>
            </a:r>
          </a:p>
          <a:p>
            <a:r>
              <a:t/>
            </a:r>
          </a:p>
          <a:p>
            <a:r>
              <a:t>Про словарь форм. Нагрузка на том же месте упала — три проверки формы выполняются буквально: место то же, исполнитель тот же, объём ниже. Эталонные примеры этой формы предполагали, что падение объёма работы — выигрыш; здесь оно оказалось ценой. Значит, форма знака не несёт: знак задаёт правота подсказки. Второй формой сместилась цена ошибки — пропуск модели стал пропуском читателя, подписанным человеком. И отдельно: исполнитель остался тот же и стал хуже, то есть изменилось состояние руки, а состояния руки в словаре до сих пор не было. Чего этот разбор не говорит: что подсказки вредны.</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Без этого измерения остался бы только провал — восторг наизнанку, такой же односторонний, как восторг. И это не возражение предыдущим двум кадрам: измерение то же, сигнал тот же, разница в одном — там подсказка была намеренно ложной, здесь это обычная работа одобренной системы с оценкой подозрительности по шкале от 1 до 100.</a:t>
            </a:r>
          </a:p>
          <a:p>
            <a:r>
              <a:t/>
            </a:r>
          </a:p>
          <a:p>
            <a:r>
              <a:t>Двенадцать радиологов программы скрининга, стаж от 4 до 32 лет при медиане 12, из десяти учреждений. Сто пятьдесят исследований: 75 с подтверждённым раком, 75 без. Каждое читается без системы и с системой — 3 600 прочтений, по 1 800 на режим; знаменатель каждой доли внутри режима — 900, то есть двенадцать читателей на семьдесят пять случаев.</a:t>
            </a:r>
          </a:p>
          <a:p>
            <a:r>
              <a:t/>
            </a:r>
          </a:p>
          <a:p>
            <a:r>
              <a:t>Каждая величина идёт со своей базой «без модели». Охват площади груди фиксациями взгляда упал с 11,1 до 9,5 из ста — то же сужение поиска. Время фиксации в области поражения выросло с 4,4 до 5,4 секунды: читатель осматривал меньшую площадь, но дольше задерживался в нужном месте, и авторы называют это более эффективным поиском — для их условий они правы. Площадь под кривой выросла с 0,93 при интервале 0,91–0,96 до 0,97 при интервале 0,95–0,98.</a:t>
            </a:r>
          </a:p>
          <a:p>
            <a:r>
              <a:t/>
            </a:r>
          </a:p>
          <a:p>
            <a:r>
              <a:t>Дальше произносить надо точно. Выросла именно площадь под кривой — мера различения больного и здорового. Чувствительность выросла с 81,7 из ста, то есть с 735 случаев из 900, до 87,2, то есть до 785 из 900, но прибавка значимости не достигла. Специфичность не изменилась: 89,0 против 91,1. Время чтения тоже: 29,4 против 30,8 секунды. Формулировка «модель сделала врачей лучше» этими данными не держится. Доказано другое: читатели стали лучше различать по шкале подозрительности, а что из этого выйдет при конкретном пороге отзыва на дообследование, работа не измеряла.</a:t>
            </a:r>
          </a:p>
          <a:p>
            <a:r>
              <a:t/>
            </a:r>
          </a:p>
          <a:p>
            <a:r>
              <a:t>Оговорки — вслух. Набор обогащён раками до половины, тогда как в живой программе рак встречается у единиц на тысячу. И у работы раскрыты щедрые институциональные соглашения с производителями систем: результат это не отменяет — дизайн рецензирован, интервалы явные, знаменатели у каждой доли, — но назвать их нужно, потому что единственное измерение раздела в пользу помощника оказалось работой с названными интересами.</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предыдущих измерения показали, что подсказка меняет работу глаза. Это показывает то же на уровне решения — и показывает, что знак эффекта не усредняется.</a:t>
            </a:r>
          </a:p>
          <a:p>
            <a:r>
              <a:t/>
            </a:r>
          </a:p>
          <a:p>
            <a:r>
              <a:t>От устройства опыта зависит отметка ступени. Одиннадцать патологов разного опыта — трое субспециалистов по желудочно-кишечному тракту, трое специалистов других профилей, трое резидентов и двое, чей профиль не определён, — различают два вида опухоли печени по оцифрованным срезам. Набор — 80 срезов; точность самой модели на независимом тестовом наборе 0,842. Один и тот же патолог читал один и тот же набор дважды в разных сессиях: половина случаев с подсказкой, половина без, с перевёрнутым распределением во второй сессии и отмывочным периодом не меньше двух недель. Сравнение идёт между сессиями, а не между первым и вторым взглядом на один случай.</a:t>
            </a:r>
          </a:p>
          <a:p>
            <a:r>
              <a:t/>
            </a:r>
          </a:p>
          <a:p>
            <a:r>
              <a:t>База — чтение среза без подсказки. Когда подсказка верна, шансы верного ответа вырастают примерно вчетверо; когда неверна — падают примерно во столько же. Работало это на всех уровнях опыта и на случаях любой сложности одинаково: субспециалист по профилю не был защищён. А на группе в целом, без разделения на правоту модели, прибавка значимости не достигает. Отчёт о внедрении с одним числом показал бы отсутствие эффекта там, где эффект велик в обе стороны. Средняя прибавка и знакопеременность — не два наблюдения, а одно, прочитанное с двух сторон, и получены они на одной выборке.</a:t>
            </a:r>
          </a:p>
          <a:p>
            <a:r>
              <a:t/>
            </a:r>
          </a:p>
          <a:p>
            <a:r>
              <a:t>Как читать «вчетверо». Шансы — отношение вероятности верного ответа к вероятности неверного. Если без подсказки патолог отвечал верно в восьми случаях из десяти, то выросшие вчетверо шансы дают около девяноста четырёх из ста, а упавшие вчетверо уводят к примерно пятидесяти: симметрия в шансах даёт асимметрию в долях, потому что у высокой точности есть куда падать и почти некуда расти.</a:t>
            </a:r>
          </a:p>
          <a:p>
            <a:r>
              <a:t/>
            </a:r>
          </a:p>
          <a:p>
            <a:r>
              <a:t>Второй классический режим — второе мнение субспециалиста — назван и не посчитан: на этом наборе срезов его не измеряли. Подпись к обзору обязательна: в той совокупности много систем, работающих на правилах, а обученных моделей среди них часть.</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После трёх измерений механизма остаётся один незакрытый вопрос: допустим, пара хуже сильной модели — но человека-то одного она ведь обходит? Два числа из трёх зал уже видел на входе; новое здесь — 74, база, которой на входе не было.</a:t>
            </a:r>
          </a:p>
          <a:p>
            <a:r>
              <a:t/>
            </a:r>
          </a:p>
          <a:p>
            <a:r>
              <a:t>Пятьдесят практикующих врачей распределены по двум условиям: рассуждение по клиническому случаю с обычными справочными ресурсами и то же рассуждение с доступом к большой языковой модели. Оценивалось структурированное рассуждение — перечень гипотез, их обоснование, назначенные различающие проверки. Медианы с межквартильными размахами: модель одна — 92 из ста при размахе от 82 до 97, врач один — 74 при размахе от 63 до 84, врач с моделью — 76 при размахе от 66 до 87. Разница между двумя человеческими условиями — два пункта, интервал от −4 до 8, и значимости она не достигает. Это измеренный ноль, а не отсутствие данных: интервал исключает выигрыш больше восьми пунктов, то есть эффект того размера, который от внедрения ожидают, был бы виден.</a:t>
            </a:r>
          </a:p>
          <a:p>
            <a:r>
              <a:t/>
            </a:r>
          </a:p>
          <a:p>
            <a:r>
              <a:t>Прогон «модель одна» равноправной случайной ветвью не был — это отдельный прогон модели по тем же задачам, и сравнение 76 против 92 читается наблюдательным дополнением к испытанию, а не результатом распределения. Рядом ловушка подписи. Первоисточник проверяет на значимость единственный разрыв: модель выше человека без модели на 16 поправленных пунктов при интервале от 2 до 30. По медианам разница модели и пары тоже 16 пунктов, а модели и человека без модели — 18; две шестнадцатки совпали случайно, и для пары первоисточник не печатает ни интервала, ни уровня значимости вовсе.</a:t>
            </a:r>
          </a:p>
          <a:p>
            <a:r>
              <a:t/>
            </a:r>
          </a:p>
          <a:p>
            <a:r>
              <a:t>Виньетка — письменное описание случая, собранное по реальной истории. Она позволяет дать пятидесяти врачам одни и те же случаи, но осмотра на ней нет, вопроса задать нельзя, цены ожидания нет и ответственности за исход нет. Поэтому 76 против 74 относится к рассуждению по описанию случая и ни к чему больше. Причину нулевого результата испытание называет само: инструмент выдали, а процедуру работы с ним — нет.</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 время надо говорить медленно и с ярлыками у обоих чисел. Медианное время на случай: без модели 565 секунд, с моделью 519. Без ярлыков меньшее число читается как выигрыш — и прочитано будет наоборот, потому что 519 это как раз группа с моделью, а разница между группами значимости не достигает. То есть времени тоже не сэкономили.</a:t>
            </a:r>
          </a:p>
          <a:p>
            <a:r>
              <a:t/>
            </a:r>
          </a:p>
          <a:p>
            <a:r>
              <a:t>Что переехало. Форма одна — сменился исполнитель, и три её проверки выполняются буквально. Место то же: рассуждение по случаю. Объём тот же, и здесь это измерено — 565 против 519 секунд при незначимой разнице, то есть работа не стала ни больше, ни меньше. Рука сменилась: рассуждение строит врач, читающий готовую подсказку, вместо врача, собирающего ответ из справочников. И отдельной строкой: ни одна форма из словаря не фиксирует здесь улучшения. Это итог разбора, а не пробел изложения.</a:t>
            </a:r>
          </a:p>
          <a:p>
            <a:r>
              <a:t/>
            </a:r>
          </a:p>
          <a:p>
            <a:r>
              <a:t>Пара читается так. Дало — ничего измеримого. Потребовало — доступ к инструменту для каждого врача и новый шаг внутри рассуждения: сформулировать запрос, прочитать ответ, решить, что с ним делать. В сумме — так же, как было, при том что инструмент сам по себе точнее обоих человеческих условий: по медианам на восемнадцать пунктов против человека без модели и на шестнадцать против пары.</a:t>
            </a:r>
          </a:p>
          <a:p>
            <a:r>
              <a:t/>
            </a:r>
          </a:p>
          <a:p>
            <a:r>
              <a:t>«Ничего измеримого» требует отдельного пояснения, потому что звучит как отсутствие данных. Это не отсутствие: это измеренный нулевой результат при рабочей выборке, и такие результаты публикуют реже положительных. Отсюда проверяемое правило: закупка сильного инструмента и улучшение результата — два разных события, и между ними лежит отдельная работа, у которой в этом испытании не было исполнителя. Как человек формулирует запрос, как он видит ответ и когда он имеет право не поверить — ничего из этого никому из пятидесяти врачей не задали. Ограничение называется вместе с выводом: оценивалось рассуждение на задачах, пациент в испытании не лечился, и ни одно число здесь не говорит о том, что с ним стало.</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Силу свидетельства надо назвать первым делом, и она здесь сильнейшая в разделе: рандомизированное исследование национальной программы скрининга, 105 934 женщины распределены случайно, четыре площадки, набор с апреля 2021 по декабрь 2022, исходы предрегистрированы. Девятнадцать человек исключены из анализа, и в него вошли 53 043 в плечо с моделью и 52 872 в контроль. Дизайн одно-слепой, на не-меньшую эффективность. Это единственное измерение раздела, где измерен исход пациента, а не точность чтения, движение взгляда или балл рассуждения.</a:t>
            </a:r>
          </a:p>
          <a:p>
            <a:r>
              <a:t/>
            </a:r>
          </a:p>
          <a:p>
            <a:r>
              <a:t>Что сравнивалось. Контрольное плечо работало классическим двойным чтением: два независимых радиолога, арбитраж третьего на расхождении, чувствительность 73,8 из ста при интервале от 68,9 до 78,3 — это база. Плечо с моделью: модель читает поток, один радиолог читает сам, расхождение между ними разбирает арбитр; чувствительность 80,5 при интервале от 76,4 до 84,2, и прибавка значима. Специфичность в двух плечах одинакова — 98,5 из ста здоровых. То есть заменён второй читатель, а устройство независимости и арбитража сохранено и переустроено под нового участника.</a:t>
            </a:r>
          </a:p>
          <a:p>
            <a:r>
              <a:t/>
            </a:r>
          </a:p>
          <a:p>
            <a:r>
              <a:t>Две половины счёта нельзя сводить в одну базу, хотя программа одна. Снижение объёма человеческого чтения на 44,3 процента принадлежит промежуточному анализу безопасности: там выборка 80 033, на четверть меньше, и набор короче на четыре с половиной месяца. Чувствительность принадлежит итоговому анализу на 105 934. Поставить минус 44,3 процента под объявленной выборкой 105 934 значило бы склеить знаменатели — ровно то, что лекция учит ловить.</a:t>
            </a:r>
          </a:p>
          <a:p>
            <a:r>
              <a:t/>
            </a:r>
          </a:p>
          <a:p>
            <a:r>
              <a:t>Арбитраж и порог. Модель выставляет оценку подозрительности, радиолог выставляет своё заключение, при расхождении случай уходит арбитру, который видит оба. Нагрузка арбитра задана долей расхождений, а доля расхождений задана порогом: сдвиг порога в сторону подозрительности растит и число расхождений, и число отзывов на дообследование. В классическом двойном чтении порог тоже существовал, но его назначала практика каждого из двух читателей, где он не записан и не настраивается; переход к модели сделал его явным параметром. Второй классический режим — одиночное чтение без арбитража, которым работают программы без ресурса на второго читателя, — в испытании не воспроизводился: сравнение шло против сильного режима.</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Форма здесь одна, и две соседние сняты проверкой. «Шаг исчез совсем» неверно: второе чтение каждого случая не исчезло, его делает модель. «Шаг появился» неверно тоньше: арбитраж выглядит новым, но разбор расхождения существовал и в классическом двойном чтении — изменился его объём и то, с чьим заключением расходится человеческое.</a:t>
            </a:r>
          </a:p>
          <a:p>
            <a:r>
              <a:t/>
            </a:r>
          </a:p>
          <a:p>
            <a:r>
              <a:t>Про интервальные раки — болезнь, найденную между двумя обследованиями, — надо сказать точно. В плече двойного чтения 1,76 на 1000 обследованных, в плече с моделью 1,55: это 93 случая из 52 872 против 82 из 53 043. Отношение частот 0,88 при интервале от 0,65 до 1,18 — интервал пересекает единицу, значимости нет, и заявленным дизайном испытания была именно не-худшесть. Читать 1,55 против 1,76 как доказанное улучшение нельзя. Доказано другое, и оно сильное: чувствительность выше значимо, исход при этом не ухудшился, а состав пропущенного сдвинулся в менее опасную сторону — инвазивных на 16 процентов меньше (75 против 89), крупных, стадии T2 и выше, на 21 процент меньше (38 против 48), агрессивных подтипов на 27 процентов меньше (43 против 59).</a:t>
            </a:r>
          </a:p>
          <a:p>
            <a:r>
              <a:t/>
            </a:r>
          </a:p>
          <a:p>
            <a:r>
              <a:t>Обратный сюжет измерен в другой программе и у профессионалов. Там каждое исследование читают три независимых источника — два радиолога и система; положительная находка любого из трёх уходит на обсуждение консенсуса, куда попало 5 489 случаев из 54 991, и отозвано оттуда 1 348. Одиночную находку системы отзывали в 4,6 случая из ста (86 из 1 886), одиночную находку радиолога — в 14,2 (263 из 1 858), то есть втрое чаще. При этом находка системы подтверждалась раком в 22 процентах (19 из 86), находка радиолога — в 3,4 (9 из 263), то есть была точнее в шесть с лишним раз. Почти равные знаменатели здесь важны: сравниваются сопоставимые по объёму потоки находок, а не большая группа с маленькой.</a:t>
            </a:r>
          </a:p>
          <a:p>
            <a:r>
              <a:t/>
            </a:r>
          </a:p>
          <a:p>
            <a:r>
              <a:t>Это не ошибка модели и не её точности, а ошибка организационного доверия к источнику находки, и появилась она вместе с новым шагом процесса. Вывод не сглаживать: калибровка ломается в обе стороны, и «люди слишком доверяют машине» покрывает половину измеренного.</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Здесь три величины и один названный пробел, и жанры у них разные.</a:t>
            </a:r>
          </a:p>
          <a:p>
            <a:r>
              <a:t/>
            </a:r>
          </a:p>
          <a:p>
            <a:r>
              <a:t>Что ломается — измерено прямо. Тридцать читателей, девять тысяч прочтений электрокардиограмм: сто кардиограмм, и каждую каждый читатель проходил трижды — без автоматической расшифровки, с одной расшифровкой, половина из которых была неверной, и с несколькими вариантами диагноза. Девять тысяч — это повторные измерения на тридцати читателях, а не девять тысяч независимых наблюдений, и ограничение называют сами авторы. База падения — верная расшифровка, а не отсутствие подсказки: сравниваются те же читатели на тех же ста кардиограммах при подсказке, которая права, и при подсказке, которая ошибается. У стажёров кардиологии точность падает с 84,86 до 41,66 из ста, на 43,20 пункта; у стажёров других специальностей — с 86,38 до 27,43, на 58,95 пункта. Две группы различает специальность, а не стаж: обе состоят из стажёров. И существеннее величины другое: связь между уверенностью читателя и его правотой ослабевает у обеих групп. Из падения точности можно выйти процедурой перепроверки; из сломанной калибровки нельзя, потому что человек не знает, какие случаи на перепроверку отправлять.</a:t>
            </a:r>
          </a:p>
          <a:p>
            <a:r>
              <a:t/>
            </a:r>
          </a:p>
          <a:p>
            <a:r>
              <a:t>Что не спасает. Сто сорок радиологов, пятнадцать задач по рентгенограмме грудной клетки: стаж, субспециализация и знакомство с инструментами надёжно не предсказывают, кому помощь модели поможет и кому повредит; ходовое допущение, что выигрывают слабые читатели, проверено и опровергнуто. Предсказывает наличие ошибок модели. Числа у этой величины нет сознательно: её содержание и есть отсутствие связи.</a:t>
            </a:r>
          </a:p>
          <a:p>
            <a:r>
              <a:t/>
            </a:r>
          </a:p>
          <a:p>
            <a:r>
              <a:t>Где потолок. Сто девяносто девять платных участников краудплатформы, задача про состав питания — не клиническая и без ставок; точность подсказки задана имитацией на уровне 75 процентов, никакой модели не обучали. Принудительные приёмы подачи — не показывать подсказку, пока её не запросят; сначала своё решение, потом подсказка; задержка перед показом — снизили согласие с неверной подсказкой с 64 до 48 из ста. Посчитана эта пара на одной задаче набора; на общей метрике по всем задачам сдвиг значимости не достиг. Обе половины держатся вместе: шестнадцать пунктов — настоящее улучшение от одной перестройки подачи, и при нём почти половина согласий остаётся. Цена измерена тем же опытом: участники хуже оценивали именно те интерфейсы, которые сильнее снижали опору.</a:t>
            </a:r>
          </a:p>
          <a:p>
            <a:r>
              <a:t/>
            </a:r>
          </a:p>
          <a:p>
            <a:r>
              <a:t>Пробел назван потому, что числа нет в литературе, а не потому, что его не искали.</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Проходить карту надо по занятым клеткам, и на каждой говорить одно: кто это покупает и чего этот режим не умеет. Имена инструментов метриками не являются, и подряд их перечислять незачем.</a:t>
            </a:r>
          </a:p>
          <a:p>
            <a:r>
              <a:t/>
            </a:r>
          </a:p>
          <a:p>
            <a:r>
              <a:t>Распознавание на изображении — чтение маммограммы моделью как второй читатель в программе скрининга либо триаж потока в неотложной рентгенологии. Покупает это организатор национальной или региональной программы, а не отдельная больница; в триаже — больница или сеть. Режим не умеет удержать читателя от сужения поиска: порядок предъявления подсказки решает здесь больше, чем точность модели, и измерено это ровно на той клетке, где лежит разбор раздела.</a:t>
            </a:r>
          </a:p>
          <a:p>
            <a:r>
              <a:t/>
            </a:r>
          </a:p>
          <a:p>
            <a:r>
              <a:t>Классификация на изображении — подсказка по оцифрованному срезу в цифровой патологии и оценка кожного образования. Входит режим не там, где нужнее, а там, где уже есть сканер: оцифровка стекла идёт раньше модели и стоит дороже неё. Не умеет сказать, что сам неправ, а подпись под заключением ставит патолог, и цена ошибки переезжает к нему.</a:t>
            </a:r>
          </a:p>
          <a:p>
            <a:r>
              <a:t/>
            </a:r>
          </a:p>
          <a:p>
            <a:r>
              <a:t>Генерация на тексте — вопрос-ответ со ссылками на литературу и автоматическая запись приёма. Первое входит снизу, самостоятельным употреблением врача, минуя закупку, и поэтому никто не настраивал этот режим под процесс. Вторая клетка на предыдущей стадии отсутствовала, и это существенно: текст в карте теперь появляется машинно, а держат его те же процедуры подписи — врач вычитывает черновик.</a:t>
            </a:r>
          </a:p>
          <a:p>
            <a:r>
              <a:t/>
            </a:r>
          </a:p>
          <a:p>
            <a:r>
              <a:t>Прогноз на структурированных данных — счёт риска внутри карты. Поиск на тексте — поиск по карте пациента.</a:t>
            </a:r>
          </a:p>
          <a:p>
            <a:r>
              <a:t/>
            </a:r>
          </a:p>
          <a:p>
            <a:r>
              <a:t>Сгустки видны сразу: распознавание на изображении, вопрос-ответ на тексте и счёт риска на структурированных данных.</a:t>
            </a:r>
          </a:p>
          <a:p>
            <a:r>
              <a:t/>
            </a:r>
          </a:p>
          <a:p>
            <a:r>
              <a:t>И клетка, которой на рынке нет, — ансамбль моделей с голосованием. Это не пробел подборки: ансамбль из нескольких моделей существует как направление исследований, а купить и развернуть его в клинике сегодня нельзя — регуляторно допущенного продукта такого устройства нет. Все работающие вторые мнения на рынке — узкие модели под одну задачу с конкретным допуском. Произносить это стоит именно так, потому что ожидание «соберём несколько моделей, и они проголосуют» звучит разумно и ничем доступным не обеспечено.</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Собрать раздел в один вывод стоит в том порядке, в котором он шёл. У читателей программы скрининга подсказка прямо уронила результат и сузила поиск. У патологов та же подсказка качнула результат в обе стороны — вчетверо вверх, когда модель права, вчетверо вниз, когда неправа. У врачей на рассуждении она не дала ничего, хотя сама была точнее обоих человеческих условий. А там, где процедуру перестроили и разногласие стали разбирать третьим, пара выиграла: чувствительность 80,5 против 73,8 из ста при одинаковой специфичности 98,5 и при объёме человеческого чтения ниже на 44,3 процента, измеренном в промежуточном анализе на 80 033 обследованных.</a:t>
            </a:r>
          </a:p>
          <a:p>
            <a:r>
              <a:t/>
            </a:r>
          </a:p>
          <a:p>
            <a:r>
              <a:t>Связку надо произнести обязательно, потому что на ней держится вывод вечера: в разборе, где результат упал, и в контрольной линии, где он вырос, работала одна и та же система от одного и того же производителя. Инструмент совпал, разошлось устройство процедуры. Там подсказка выводилась вместе со снимком и читатель шёл по её колее; здесь человек читает сам, модель с ним спорит, а спор разбирает третий.</a:t>
            </a:r>
          </a:p>
          <a:p>
            <a:r>
              <a:t/>
            </a:r>
          </a:p>
          <a:p>
            <a:r>
              <a:t>Выигрыш пары создаётся несовпадением ошибок человека и модели, а не точностью модели. Это прямое продолжение того, зачем вообще существует второе мнение, и утверждение проверяемое: долю несовпадающих ошибок можно посчитать на своих данных прежде, чем собирать пару. Отсюда и следствие, которое ломает отчётность о внедрении: средняя точность складывает две противоположные вещи, и отчёт с одним числом показал бы отсутствие эффекта там, где он был четырёхкратным в обе стороны.</a:t>
            </a:r>
          </a:p>
          <a:p>
            <a:r>
              <a:t/>
            </a:r>
          </a:p>
          <a:p>
            <a:r>
              <a:t>И одно расхождение, которое нельзя сглаживать. Агрегат по ста шести опытам говорит, что человека одного пара в среднем обходит — размер эффекта 0,64 при интервале от 0,53 до 0,74. Измеренная тройка на своём материале разницы не нашла: 76 против 74 при интервале от −4 до 8. Это не противоречие и не ошибка ни там, ни здесь, это агрегат против одного опыта: правило задаёт ожидание, отдельное испытание показывает, что ожидание не гарантия.</a:t>
            </a:r>
          </a:p>
          <a:p>
            <a:r>
              <a:t/>
            </a:r>
          </a:p>
          <a:p>
            <a:r>
              <a:t>Что остаётся инженеру: измерить обе стороны по отдельности на своей задаче, посчитать долю несовпадающих ошибок, назначить ступень участия явно и записать её, задать порядок предъявления подсказки и мерить поведение наряду с результатом.</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 сих пор лекция разбирала разовое решение: прочитать снимок, поставить диагноз, назначить лечение. Наблюдение — работа другого устройства. Предмет тот же человек, но решение не принимается один раз, а повторяется каждые несколько часов, и ошибка здесь не однократная, а накапливающаяся: пропущенное ухудшение не остаётся пропущенным навсегда, оно просто замечено не вовремя.</a:t>
            </a:r>
          </a:p>
          <a:p>
            <a:r>
              <a:t/>
            </a:r>
          </a:p>
          <a:p>
            <a:r>
              <a:t>Классический вид этой работы держится тремя вещами: расписанием измерений, балльной шкалой, которая переводит несколько показателей в одно число, и порогом, на котором дежурная смена обязана вызвать старшего. Все три — документ, а не прибор: баллы назначила согласительная комиссия, порог опубликован, и любой может посмотреть, почему решение такое.</a:t>
            </a:r>
          </a:p>
          <a:p>
            <a:r>
              <a:t/>
            </a:r>
          </a:p>
          <a:p>
            <a:r>
              <a:t>Именно сюда и заходит модель: данные уже лежат в карте в машинном виде, снимать их отдельно не нужно. Вместо дежурной смены, которая раз в несколько часов складывает показатели в одно число, карта сама считает балл риска непрерывно и сама решает, когда прерывать работу тревогой.</a:t>
            </a:r>
          </a:p>
          <a:p>
            <a:r>
              <a:t/>
            </a:r>
          </a:p>
          <a:p>
            <a:r>
              <a:t>Раздел разбирает один случай — модель раннего предупреждения о сепсисе, встроенную в медицинскую карту, — и держит его на четырёх экранах: что заявлено и что измерила независимая проверка; чего стоит поток тревог и как это против шкалы, которую модель заменила; подтвердила ли это вторая, независимая проверка; и что это дало, чего потребовало и что было дальше. Один случай, разобранный подробно, — не три случая, разобранных бегло.</a:t>
            </a:r>
          </a:p>
          <a:p>
            <a:r>
              <a:t/>
            </a:r>
          </a:p>
          <a:p>
            <a:r>
              <a:t>Два экрана перед разбором ставят классику на место: как сегодня выглядит обход и запись в лист наблюдения, и как устроена шкала, которую десятилетиями читали руками. Без них разбор модели был бы сравнением с нулём, а не с работающим режимом, и именно эту ошибку курс ловит у других.</a:t>
            </a:r>
          </a:p>
          <a:p>
            <a:r>
              <a:t/>
            </a:r>
          </a:p>
          <a:p>
            <a:r>
              <a:t>Снимок рядом — сестринский пост с монитором показателей: место, где решение «звать врача сейчас или на следующем обходе» принималось и принимается до сих пор, с моделью или без неё.</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Половина третьего ночи, отделение на тридцать коек: на смене две сестры и дежурный врач на несколько отделений. Сестра идёт по палатам и снимает четыре-пять величин — дыхание, пульс, давление, температуру, иногда насыщение крови кислородом. У постели это занимает две-три минуты, и числа ложатся в лист наблюдения: бумажный бланк в ногах кровати или экранную форму в карте. Через несколько часов обход повторяется.</a:t>
            </a:r>
          </a:p>
          <a:p>
            <a:r>
              <a:t/>
            </a:r>
          </a:p>
          <a:p>
            <a:r>
              <a:t>Зачем измерять человека, который спит и выглядит стабильно. Ухудшение читается не по одному числу, а по направлению дорожки измерений. Пульс сто четыре сам по себе не говорит почти ничего: у одного это норма дня, у другого боль, у третьего обезвоживание. А пульс семьдесят восемь, потом девяносто два, потом сто четыре при падающем давлении и учащённом дыхании говорит много — и говорит за несколько часов до того, как человеку станет очевидно плохо. Поэтому измерения ставят по расписанию: дорожка существует только пока её ведут непрерывно, и восстановить её задним числом нельзя.</a:t>
            </a:r>
          </a:p>
          <a:p>
            <a:r>
              <a:t/>
            </a:r>
          </a:p>
          <a:p>
            <a:r>
              <a:t>Кто это физически делает. У сестры ночной смены десятки пациентов, у каждого несколько измерений за смену, плюс назначения и документы. Отсюда два свойства шага. Работа распределена между людьми разной подготовки: измеряет младший персонал, решает врач. И решение принимает тот, кто пациента в этот момент не видит, — дежурный врач за несколько отделений читает лист наблюдения и слышит голос сестры по телефону. Запись здесь не бюрократия, а единственный канал, по которому состояние человека доходит до того, кто вправе назначить лечение.</a:t>
            </a:r>
          </a:p>
          <a:p>
            <a:r>
              <a:t/>
            </a:r>
          </a:p>
          <a:p>
            <a:r>
              <a:t>Решение на этом шаге одно и повторяющееся: звать старшего сейчас или на следующем обходе. Его принимают по многу раз за ночь, и ошибка здесь накапливается. Диагноз ставят однажды и подписывают, а наблюдение переоценивает одно и то же состояние каждые несколько часов — и каждая переоценка отдельная возможность пройти мимо.</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Шкала раннего предупреждения — таблица, по которой каждая измеренная величина получает баллы за отклонение от нормы. Устройство из четырёх шагов, и каждый шаг можно показать пальцем. Баллы за отклонение: частота дыхания от двенадцати до двадцати — ноль баллов, от двадцати одного до двадцати четырёх — два, двадцать пять и выше — три; так же для пульса, давления, температуры, уровня сознания и насыщения крови кислородом. Сложение: баллы по всем величинам суммируются в одно число. Сравнение с порогом: сумма попадает в одну из полос — низкую, среднюю, высокую. Назначенное действие: низкая полоса — продолжать наблюдение по расписанию, средняя — участить измерения и позвать дежурного врача, высокая — вызвать реанимационную бригаду немедленно.</a:t>
            </a:r>
          </a:p>
          <a:p>
            <a:r>
              <a:t/>
            </a:r>
          </a:p>
          <a:p>
            <a:r>
              <a:t>Ценность этой конструкции в двух свойствах. Первое: баллы передаются между сменами. Суждение «мне кажется, он сдал» передать нельзя — его не записать в лист и не предъявить утром; число передаётся. Второе: веса в таблице назначены людьми и опубликованы. Их выписала согласительная комиссия профессионального общества, они напечатаны на карте, которая лежит в отделении, и любой может посмотреть, почему при частоте дыхания двадцать пять получается именно три балла. Ошибка шкалы разбирается как ошибка документа: собирается комиссия, правит таблицу, выпускает новую редакцию.</a:t>
            </a:r>
          </a:p>
          <a:p>
            <a:r>
              <a:t/>
            </a:r>
          </a:p>
          <a:p>
            <a:r>
              <a:t>Это и есть классический режим, с которым дальше сравнивается обученная модель. У него две названные слабости, и в них модель и целилась. Шкала медленна: она считает по тому, что уже произошло, баллы растут, когда показатели уже отклонились, а человеку с развивающимся сепсисом к этому моменту уже несколько часов плохо. Шкала груба: один и тот же порог стоит для восьмидесятилетнего после операции на брюшной полости и для тридцатилетнего с переломом. Она не знает ни диагноза, ни анализов, ни прошлых госпитализаций — только шесть величин, снятых сейчас.</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называется до чисел: сначала нужны единицы, в которых эти числа потом придётся читать.</a:t>
            </a:r>
          </a:p>
          <a:p>
            <a:r>
              <a:t/>
            </a:r>
          </a:p>
          <a:p>
            <a:r>
              <a:t>Пропустить ухудшение. Между моментом, когда состояние начало портиться, и моментом, когда это заметили, проходят часы. При сепсисе за эти часы меняется исход: от капельницы с антибиотиком до реанимации и органной недостаточности. Нераспознанное ухудшение состояния — одна из ведущих причин внутрибольничной смерти, и считается она не в деньгах. Точное место в ряду причин здесь не называется: проверяемого числа для него нет, а подставить похожее из другого разбора нельзя — это та самая склейка выборок, которую разбирают дальше как ошибку.</a:t>
            </a:r>
          </a:p>
          <a:p>
            <a:r>
              <a:t/>
            </a:r>
          </a:p>
          <a:p>
            <a:r>
              <a:t>Поднять ложную тревогу. Эта ошибка стоит дешевле, и именно поэтому её цену почти никогда не называют. А состоит она из четырёх слагаемых: анализы, назначенные «чтобы исключить»; антибиотик широкого спектра «на всякий случай» и вклад этого назначения в устойчивость возбудителя; время сестры и врача, снятое с другого пациента в той же смене; и — через сотню повторений — привычка закрывать такие оповещения не читая.</a:t>
            </a:r>
          </a:p>
          <a:p>
            <a:r>
              <a:t/>
            </a:r>
          </a:p>
          <a:p>
            <a:r>
              <a:t>Обе ошибки платит один и тот же человек: дежурная смена. Это свойство шага, и держать его в голове стоит на весь раздел. На прежних шагах пути решения платили разные люди: лишнее обследование пациент оплачивал временем и деньгами, пропущенную находку — исходом. Здесь оба столбца сходятся в одной ночной смене, и выбор между ними делается по многу раз за ночь.</a:t>
            </a:r>
          </a:p>
          <a:p>
            <a:r>
              <a:t/>
            </a:r>
          </a:p>
          <a:p>
            <a:r>
              <a:t>Вопрос, который стоит задать себе до всяких чисел: какую долю автоматических оповещений вы в своём рабочем контуре закрываете не читая. Ответ на него и есть база, с которой дальше сравниваются измеренные доли подтверждения. Прямого медицинского опыта у инженера нет, а контур с автоматическими оповещениями есть почти у каждого — и ответ «почти все» звучит чаще, чем хотелось бы.</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шаг разбора — оба классических режима, посчитанные в той же цене, в которой потом считается модель. Этот шаг пропускают чаще всего: модель сравнивают с нулём или с ощущением, что раньше было плохо. Здесь числа есть, и единица у них одна — доля подтверждения: из ста поднятых тревог сколько оказались тревогами о том, что действительно происходило.</a:t>
            </a:r>
          </a:p>
          <a:p>
            <a:r>
              <a:t/>
            </a:r>
          </a:p>
          <a:p>
            <a:r>
              <a:t>Заменяемый режим — балльная шкала раннего предупреждения. Сравнение шкал на поиске сепсиса в общем отделении разбирает 45 776 пациентов общего профиля; сепсис в этой выборке у 3,3 из ста — 1 496 случаев. Чувствительность шкалы 0,758, специфичность 0,711, доля подтверждения — восемь эскалаций из ста. Прочитаем это медленно: инструмент, который стоит в стационарах десятилетиями и чьи веса опубликованы, подтверждается восемью случаями из ста поднятых тревог. Девяносто две эскалации из ста — работа, проделанная впустую, и она была частью цены ещё до всякого машинного обучения. Две другие шкалы того же разбора, на той же выборке, подтверждаются двенадцатью и восемнадцатью из ста.</a:t>
            </a:r>
          </a:p>
          <a:p>
            <a:r>
              <a:t/>
            </a:r>
          </a:p>
          <a:p>
            <a:r>
              <a:t>Режим-сосед — пороговая тревога прибора у постели. Из 12 671 размеченной вручную тревоги аритмии ложных 88,8 из ста; объём — от ста пятидесяти до четырёхсот тревог за смену на одного пациента, к вмешательству ведут от пяти до тринадцати из ста. Обученной модели в приборе нет вовсе: там порог, выставленный рукой. Поэтому прибор стоит соседом, а не заменяемым режимом — порог на мониторе и балльная шкала решают разные задачи, и доли их не складываются. Ценность этого числа в другом: поток ложных тревог существовал в палате до обученных моделей, и персонал научился его фильтровать задолго до них.</a:t>
            </a:r>
          </a:p>
          <a:p>
            <a:r>
              <a:t/>
            </a:r>
          </a:p>
          <a:p>
            <a:r>
              <a:t>И оговорка, без которой сравнение дальше не читается: шкалы измерены там, где сепсис встречается у 3,3 из ста, а модель — там, где у 6,6 из ста. Доля подтверждения прямо зависит от распространённости, поэтому сравнивается порядок величины.</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Постановка задачи в одну фразу: обученная модель непрерывно считает балл риска сепсиса по данным медицинской карты и, когда балл переходит порог, прерывает работу врача тревогой с готовым набором назначений — обследование и лечение в один щелчок.</a:t>
            </a:r>
          </a:p>
          <a:p>
            <a:r>
              <a:t/>
            </a:r>
          </a:p>
          <a:p>
            <a:r>
              <a:t>Что заявлял разработчик. По первой версии — «не менее 0,76» в информационном листе поставщика; по второй — от 0,83 до 0,86 по трём своим площадкам, и это заявление напечатано внутри рецензируемой работы. Уже здесь полезный факт: заявленное качество закрытой модели бывает множественным и меняется от версии к версии.</a:t>
            </a:r>
          </a:p>
          <a:p>
            <a:r>
              <a:t/>
            </a:r>
          </a:p>
          <a:p>
            <a:r>
              <a:t>Что измерила независимая внешняя проверка. Ретроспективная когорта одной университетской системы: 38 455 госпитализаций 27 697 пациентов, сепсис у 2 552 из них — это 6,6 из ста. Качество различения 0,63 против заявленных 0,76–0,86. При выбранном пороге чувствительность 33 из ста, специфичность 83 из ста, подтверждается 12 тревог из ста поднятых. Модель не выявила 1 709 случаев из 2 552 — две трети. А из пациентов, которых пропустил живой клиницист, поймала 7 из ста: почти не ловила именно те случаи, где была бы полезна сверх человека.</a:t>
            </a:r>
          </a:p>
          <a:p>
            <a:r>
              <a:t/>
            </a:r>
          </a:p>
          <a:p>
            <a:r>
              <a:t>Разницу между 0,63 и 0,76 легко прочитать как «чуть хуже заявленного» — мелочь в третьем знаке. На деле между этими величинами лежит разница в пригодности. 0,76 — инструмент, на который можно опереться при настройке порога; 0,63 — инструмент, у которого при любом пороге либо чувствительность, либо поток тревог оказывается неприемлемым. Отсюда вывод, переносимый на любую отрасль: качество модели есть свойство пары «модель и население».</a:t>
            </a:r>
          </a:p>
          <a:p>
            <a:r>
              <a:t/>
            </a:r>
          </a:p>
          <a:p>
            <a:r>
              <a:t>Класс модели стоит произнести вслух: штрафованная логистическая регрессия, простейшая из обучаемых конструкций, никакой глубокой сети. Это делает случай сильнее, а не слабее: цена заплачена за постановку задачи и за поток тревог, и сложность устройства тут ни при чём.</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Проверим измеренные числа арифметикой — проверка занимает две минуты.</a:t>
            </a:r>
          </a:p>
          <a:p>
            <a:r>
              <a:t/>
            </a:r>
          </a:p>
          <a:p>
            <a:r>
              <a:t>Возьмём тысячу госпитализаций в той системе, где модель измеряли. Сепсис там у 6,6 из ста, значит случаев 66, а остальных 934. Чувствительность 33 из ста даёт из этих 66 двадцать два пойманных. Специфичность 83 из ста означает, что из 934 человек без сепсиса модель ошибочно отметит 17 из ста — это 159 тревог. Складываем: 22 и 159 — около 181 тревоги на тысячу госпитализаций, то есть 18 из ста. Ровно столько и измерено: 6 971 тревога на 38 455 госпитализаций. Делим пойманных на все тревоги: 22 из 181 — это 12 из ста, та самая доля подтверждения. Обратная величина, 181 на 22, и есть восемь тревог на одно подтверждение.</a:t>
            </a:r>
          </a:p>
          <a:p>
            <a:r>
              <a:t/>
            </a:r>
          </a:p>
          <a:p>
            <a:r>
              <a:t>Переведём это на сотню госпитализаций. Тревога приходит на 18 из ста, подтверждаются около двух. Рядом надо держать третье число: сепсис в этой системе развивается у шести-семи пациентов из ста, и модель находит из них двоих — остальные остаются ненайденными. Два знаменателя разные, и путать их нельзя: 18 — доля госпитализаций, на которые пришла тревога, 12 — доля поднятых тревог, которые подтвердились.</a:t>
            </a:r>
          </a:p>
          <a:p>
            <a:r>
              <a:t/>
            </a:r>
          </a:p>
          <a:p>
            <a:r>
              <a:t>Про саму восьмёрку надо сказать одно, иначе покажется, что в счёте ошибка. В первой публикации на этом месте стояло пятнадцать; значение отозвано эрратой того же журнала, и здесь используется исправленное. Пресса до сих пор печатает пятнадцать и в поиске стоит выше эрраты.</a:t>
            </a:r>
          </a:p>
          <a:p>
            <a:r>
              <a:t/>
            </a:r>
          </a:p>
          <a:p>
            <a:r>
              <a:t>Та же модель в общем отделении, где сепсис у 3,3 из ста, даёт около 175 тревог на тысячу, подтверждение падает до 6 из ста, а на одно подтверждение приходится шестнадцать разборов. Доля подтверждения не переносится вместе с моделью: её пересчитывают под распространённость своего потока, арифметикой на четыре действия, до закупки. Поэтому шкалу с её восемью эскалациями из ста, измеренную там, где сепсис вдвое реже, и модель с её двенадцатью сравнивают по порядку величины, а не по превосходству.</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Один провал — это один провал; два независимых повторения — другой разряд свидетельства, и поэтому вторая проверка разбирается отдельно.</a:t>
            </a:r>
          </a:p>
          <a:p>
            <a:r>
              <a:t/>
            </a:r>
          </a:p>
          <a:p>
            <a:r>
              <a:t>Через три года другая группа авторов проверила ту же модель в приёмных отделениях двух округов: 145 885 обращений, данные 2023 года, окно предсказания шесть часов. Чувствительность 14,7 из ста, специфичность 95,3. Тревога срабатывала на 4,9 обращения из ста — 7 183 из 145 885; до «пяти из ста» здесь не округляют по тому же правилу, по которому отвергнут пересказ «каждая шестая госпитализация». Медианное опережение клинического решения — ноль минут, причём восемьдесят процентов случаев укладываются в полосу от шести часов сорока двух минут раньше врача до двенадцати часов позже: модель с равной вероятностью приходит задолго до человека и много позже него. Примерно в половине случаев врачи вели сепсис уже до прихода тревоги. Вывод авторов в их собственной формулировке: добавляет мало к тому, что врачи и так делают.</a:t>
            </a:r>
          </a:p>
          <a:p>
            <a:r>
              <a:t/>
            </a:r>
          </a:p>
          <a:p>
            <a:r>
              <a:t>Нулевое опережение — свойство другого рода, чем низкая точность, и механика его видна без всякой статистики. Модель считает по тому, что попало в карту, а в карту данные попадают после того, как врач их запросил. Если анализ заказан потому, что сепсис уже подозревают, его результат поднимет балл после возникшего подозрения. Опережение в такой схеме уходит в ноль по устройству, и никакая донастройка весов этого не меняет.</a:t>
            </a:r>
          </a:p>
          <a:p>
            <a:r>
              <a:t/>
            </a:r>
          </a:p>
          <a:p>
            <a:r>
              <a:t>Действующую версию проверили отдельно, проспективно и в нескольких центрах: 227 091 госпитализация в четырёх системах здравоохранения, сепсис у 3,3 из ста — 7 401 случай. Различение выросло до полосы от 0,82 до 0,92 в зависимости от учреждения. А доля подтверждения осталась низкой, от 0,13 до 0,26, то есть от четырёх до восьми тревог на одно подтверждение. Различение улучшилось, статья расхода уцелела — и разброс между четырьмя системами говорит то же, что и первая проверка: качество есть свойство пары «модель и население».</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Четвёртый шаг разбора — назвать, что переехало.</a:t>
            </a:r>
          </a:p>
          <a:p>
            <a:r>
              <a:t/>
            </a:r>
          </a:p>
          <a:p>
            <a:r>
              <a:t>Дало. Раннее оповещение существует и работает без участия человека: круглосуточно, по всем пациентам сразу, по данным, которые уже лежат в карте в машинном виде. Это настоящий выигрыш, и специалист его возьмёт — ни одна балльная шкала не пересчитывается по всей больнице каждые пятнадцать минут.</a:t>
            </a:r>
          </a:p>
          <a:p>
            <a:r>
              <a:t/>
            </a:r>
          </a:p>
          <a:p>
            <a:r>
              <a:t>Потребовало. Разбор и отклонение тревоги стали отдельной статьёй рабочего времени, которой до внедрения не существовало; в отдельных больницах у этого шага появился штат. Плюс проверка доли подтверждения на своём населении до включения, правила тишины, порог под местную распространённость и наблюдение за тем, не поплыло ли распределение входов.</a:t>
            </a:r>
          </a:p>
          <a:p>
            <a:r>
              <a:t/>
            </a:r>
          </a:p>
          <a:p>
            <a:r>
              <a:t>В сумме. Внимание расходуется там же, где и раньше — у постели, в ту же дежурную смену, — и расходуется его больше.</a:t>
            </a:r>
          </a:p>
          <a:p>
            <a:r>
              <a:t/>
            </a:r>
          </a:p>
          <a:p>
            <a:r>
              <a:t>Форма «нагрузка выросла на том же месте» подходит здесь буквально: место то же, рука та же, вырос объём чтения и отклонения. Форма «шаг появился» — про разбор тревоги: у этой операции нет предшественника, потому что шкала считала порог сама и отклонять в ней было нечего. А формы «исполнитель тот же, но стал хуже» в этом разделе нет, и это проверено: качество работы дежурной смены до внедрения и после него никто не измерял, а выдумать такое измерение нельзя так же, как выдумать число.</a:t>
            </a:r>
          </a:p>
          <a:p>
            <a:r>
              <a:t/>
            </a:r>
          </a:p>
          <a:p>
            <a:r>
              <a:t>Та же постановка перенесена на детей, и разбор опубликован; числа из него не приводятся — полный текст закрыт, а краткое изложение для числа слабое основание.</a:t>
            </a:r>
          </a:p>
          <a:p>
            <a:r>
              <a:t/>
            </a:r>
          </a:p>
          <a:p>
            <a:r>
              <a:t>И последнее число, которое читается только с базой. Суточный поток тревог в двадцати четырёх больницах за время вирусной эпидемии вырос с 953 до 1 363 — на сорок три процента. Но загрузка за тот же период упала с 10 159 до 6 634 пациентов, и доля пациентов с тревогой выросла с 9 до 21 из ста, то есть больше чем вдвое. Распределение входов сдвинулось, порог остался на месте.</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раздел четырьмя утверждениями, и у каждого своя база.</a:t>
            </a:r>
          </a:p>
          <a:p>
            <a:r>
              <a:t/>
            </a:r>
          </a:p>
          <a:p>
            <a:r>
              <a:t>Классический режим не был бесплатным. Балльная шкала раннего предупреждения подтверждается восемью эскалациями из ста на 45 776 пациентов, где сепсис встречается у 3,3 из ста; две другие шкалы того же разбора — двенадцатью и восемнадцатью; пороговые тревоги прибора у постели ложны в 88,8 случая из ста на 12 671 размеченной тревоге. Это и есть база сравнения, и без неё числа модели не прочитать.</a:t>
            </a:r>
          </a:p>
          <a:p>
            <a:r>
              <a:t/>
            </a:r>
          </a:p>
          <a:p>
            <a:r>
              <a:t>Модель осталась в той же полосе цены. Тревога на 18 из ста госпитализаций, восемь тревог на один найденный случай, две трети случаев сепсиса не выявлены, нулевое медианное опережение во второй проверке. Действующая версия различает лучше, а подтверждение держит от 0,13 до 0,26 — от четырёх до восьми тревог на одно подтверждение.</a:t>
            </a:r>
          </a:p>
          <a:p>
            <a:r>
              <a:t/>
            </a:r>
          </a:p>
          <a:p>
            <a:r>
              <a:t>Поток тревог создал статью рабочего времени, которой не было. Рядом стоит измерение на другой системе — лекарственных тревогах в поддержке решений: отклоняется от 87 до 96 из ста. Это другая задача, и складывать её долю с числами модели сепсиса нельзя; но направление у обоих измерений одно — разбор машинных тревог стал самостоятельной работой, у которой есть объём, исполнитель и, в отдельных больницах, штат.</a:t>
            </a:r>
          </a:p>
          <a:p>
            <a:r>
              <a:t/>
            </a:r>
          </a:p>
          <a:p>
            <a:r>
              <a:t>Четвёртое, и это вывод раздела: тревога без названной базы не предупреждает. Оповещение, у которого не посчитана доля подтверждения на вашем населении, не несёт сведений о том, что произошло с пациентом, — оно несёт сведения о том, что сработал порог.</a:t>
            </a:r>
          </a:p>
          <a:p>
            <a:r>
              <a:t/>
            </a:r>
          </a:p>
          <a:p>
            <a:r>
              <a:t>Инженеру отсюда следуют три требования, и все три проверяемые. Посчитать долю подтверждения на своём потоке до внедрения. Назначить, кто разбирает поток, и посчитать это время рабочим. Держать классический режим живым, потому что сравнивать модель придётся именно с ним.</a:t>
            </a:r>
          </a:p>
          <a:p>
            <a:r>
              <a:t/>
            </a:r>
          </a:p>
          <a:p>
            <a:r>
              <a:t>Наблюдение оставляет после себя документ, и решение по нему принимает тот, кто пациента не видел.</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Наблюдение искало ухудшение в цифрах; эта работа устроена иначе. Решение по ней принимает не прибор и не дежурная смена, а человек, который читает документ позже, иногда через месяцы, и не видел пациента лично. Качество записи для него — не стиль, а единственный канал, через который к нему попадает чужое решение.</a:t>
            </a:r>
          </a:p>
          <a:p>
            <a:r>
              <a:t/>
            </a:r>
          </a:p>
          <a:p>
            <a:r>
              <a:t>Классический вид этой работы — диктовка под шаблон или набор текста руками сразу после приёма, с подписью в конце. Модель входит в неё с двух сторон. Первая — запись самого приёма: инструмент слушает разговор и отдаёт черновик заметки, врач вычитывает и подписывает. Вторая — запись исхода госпитализации целиком: модель собирает выписной документ по истории болезни, врач снова вычитывает и подписывает, и дальше по этому документу назначают лечение в другом месте.</a:t>
            </a:r>
          </a:p>
          <a:p>
            <a:r>
              <a:t/>
            </a:r>
          </a:p>
          <a:p>
            <a:r>
              <a:t>Оба разбора держатся одной и той же формой. Классический режим посчитан отдельно от заявленного эффекта модели; измеренный эффект — рандомизированным испытанием или слепым сравнением, а не самоотчётом тех, кто сам выбрал инструмент; и у каждого названа пара — что стало возможно и чего это потребовало.</a:t>
            </a:r>
          </a:p>
          <a:p>
            <a:r>
              <a:t/>
            </a:r>
          </a:p>
          <a:p>
            <a:r>
              <a:t>Разбор записи приёма показывает, как заявленная экономия времени и измеренный результат — две разные величины, посчитанные в разных единицах. Разбор выписного эпикриза идёт дальше: счёт ошибок у модели и у человека сопоставим, но устройство ошибки другое — не опечатка, а правдоподобно звучащая подробность, которой не было в истории. Прежний навык вычитки «как после коллеги» на этот документ не переносится.</a:t>
            </a:r>
          </a:p>
          <a:p>
            <a:r>
              <a:t/>
            </a:r>
          </a:p>
          <a:p>
            <a:r>
              <a:t>Раздел заканчивается документом, а документ в медицине почти всегда стоит под чьей-то подписью. Это и есть мост к следующему разделу: чем вообще удерживают цену ошибки, если решение уже принято и записано.</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Начнём с заявления. Крупная система здравоохранения сообщила об экономии 15 791 часа на 63 000 приёмов за десять недель работы инструмента автоматической записи приёма. Методика счёта не раскрыта.</a:t>
            </a:r>
          </a:p>
          <a:p>
            <a:r>
              <a:t/>
            </a:r>
          </a:p>
          <a:p>
            <a:r>
              <a:t>Поищем базу своими руками. 15 791 час на 63 000 приёмов — это около четверти часа на приём. Теперь вспомним, в чём измерено время заметки: в минутах и секундах, порядка четырёх минут. Пятнадцать минут экономии на приёме не укладываются в четыре минуты работы над заметкой — экономить больше, чем вся операция стоила, нельзя. Значит заявление посчитано в другой величине, скорее всего во времени, проведённом в карте вообще, и сопоставить его с измеренным результатом невозможно. Число без названной методики счёта не проверяется и не опровергается: оно не является утверждением о мире.</a:t>
            </a:r>
          </a:p>
          <a:p>
            <a:r>
              <a:t/>
            </a:r>
          </a:p>
          <a:p>
            <a:r>
              <a:t>Теперь измеренное. Испытание с настоящей рандомизацией и тремя равными группами разбирает 238 амбулаторных врачей четырнадцати специальностей: два коммерческих инструмента и обычная практика. У первого инструмента время в заметке снизилось на 9,5 процента относительно контрольной группы, у второго значимых изменений нет. По шкалам самочувствия подействовали оба — общий балл профессионального самочувствия вырос на 2,76 на шкале от десяти до пятидесяти — и между двумя инструментами по этим шкалам разницы нет.</a:t>
            </a:r>
          </a:p>
          <a:p>
            <a:r>
              <a:t/>
            </a:r>
          </a:p>
          <a:p>
            <a:r>
              <a:t>Важна и база самой контрольной группы: там время в заметке за период наблюдения само снизилось с четырёх минут двадцати двух секунд до четырёх минут четырёх секунд. Восемнадцать секунд без всякого инструмента — это практика и ход времени, и всякое «стало быстрее» считают против этой величины.</a:t>
            </a:r>
          </a:p>
          <a:p>
            <a:r>
              <a:t/>
            </a:r>
          </a:p>
          <a:p>
            <a:r>
              <a:t>В многоцентровом наблюдении приёмных отделений заметка завершалась раньше, пациенты чаще отмечали, что их слушали, нагрузка на внимание падала — а активное время правки заметки не изменилось. Сократился набор текста, правка осталась прежней.</a:t>
            </a:r>
          </a:p>
          <a:p>
            <a:r>
              <a:t/>
            </a:r>
          </a:p>
          <a:p>
            <a:r>
              <a:t>Отсюда вывод сильнее обоих чисел: один дизайн, одно население врачей, два продукта одного режима — и один результат значимый, другой нулевой. Измеренный эффект принадлежит реализации, а не классу инструмента.</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Было: держать структуру документа в голове во время разговора и набирать текст после приёма. Стало: говорить свободно, а затем вычитывать чужой текст. Объём работы сопоставим, место сменилось — это форма «нагрузка переехала на другой шаг», и здесь она именно переезд, а не исчезновение.</a:t>
            </a:r>
          </a:p>
          <a:p>
            <a:r>
              <a:t/>
            </a:r>
          </a:p>
          <a:p>
            <a:r>
              <a:t>Пятую операцию делает не врач. В отчёте одной клиники постоянная служба контроля качества заметок прочитала свыше 3 600 отзывов врачей и собрала 1 252 анкеты — со своим постоянным штатом. Операции «выборочно прочитать машинные черновики и собрать отзывы» в прежнем процессе не было просто потому, что не было машинных черновиков. Это форма «шаг появился», и у неё есть измеримая стоимость: штат.</a:t>
            </a:r>
          </a:p>
          <a:p>
            <a:r>
              <a:t/>
            </a:r>
          </a:p>
          <a:p>
            <a:r>
              <a:t>Одно наблюдение выглядит противоречием и им не является: усталость ниже, а активное время правки то же. Сняли не время — сняли необходимость держать структуру документа в голове во время разговора с человеком. Это настоящий выигрыш, он измерен; он просто измерен в другой величине, чем та, в которой его продают.</a:t>
            </a:r>
          </a:p>
          <a:p>
            <a:r>
              <a:t/>
            </a:r>
          </a:p>
          <a:p>
            <a:r>
              <a:t>Величина эффекта к тому же зависит от того, когда измерять. Продольное сравнение до и после с контролем даёт снижение времени записи на 7 из ста в день внедрения и до 16 из ста к сто пятидесятому дню. Отсюда сразу две осторожности. Быстрый пробный запуск недооценивает: измерив эффект в первую неделю, можно не увидеть того, что появится к пятому месяцу, и отвергнуть работающий инструмент. И обратная: часть прироста к сто пятидесятому дню — привыкание человека, а разделить привыкание и свойство инструмента наблюдательным сравнением нельзя.</a:t>
            </a:r>
          </a:p>
          <a:p>
            <a:r>
              <a:t/>
            </a:r>
          </a:p>
          <a:p>
            <a:r>
              <a:t>И ещё одно, прямо с этого кадра. У второго инструмента того же испытания изменений во времени не было вовсе, при том же дизайне и на том же населении врачей. Значит измеренный эффект принадлежит не режиму работы как таковому, а конкретной реализации, и фраза «мы внедрили автоматическую запись приёма» сведений о результате не содержит.</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Выписной эпикриз завершает госпитализацию, и по нему действуют дальше: участковый врач, следующий стационар, иногда реабилитационное отделение. Работа та же, что и при записи приёма, а цена ошибки другая, потому что по эпикризу назначают.</a:t>
            </a:r>
          </a:p>
          <a:p>
            <a:r>
              <a:t/>
            </a:r>
          </a:p>
          <a:p>
            <a:r>
              <a:t>Слепое сравнение с врачебными документами: 100 случайно отобранных госпитализаций продолжительностью от трёх до шести дней, 22 лечащих врача-рецензента, дублированная оценка, и рецензенты не знали, где машинный текст, а где человеческий. Общее качество сопоставимо — 3,67 у врачей против 3,77 у модели по пятибалльной шкале. Машинные версии сжатее, 4,01 против 3,70, и связнее, 4,16 против 4,01, но менее полны — 3,72 против 4,13. Уникальных ошибок на документ у модели больше: 2,91 против 1,82. Потенциальный вред отдельной ошибки не различается — 1,35 против 1,34 по шкале от нуля до семи; ошибок с потенциалом необратимого вреда шесть у модели и пять у врачей.</a:t>
            </a:r>
          </a:p>
          <a:p>
            <a:r>
              <a:t/>
            </a:r>
          </a:p>
          <a:p>
            <a:r>
              <a:t>Проспективная проверка в работе даёт другой состав ошибок: на 384 выписки система выдала 1 274 сводки, врачи использовали машинное содержание в 219 случаях — 57 из ста; на сотне сводок пропуски нашлись в 25, неточности в 20, выдумки в 2, а из ста неотредактированных 88 признаны не несущими потенциала вреда, одна — способной причинить умеренный вред, тяжёлого вреда нет.</a:t>
            </a:r>
          </a:p>
          <a:p>
            <a:r>
              <a:t/>
            </a:r>
          </a:p>
          <a:p>
            <a:r>
              <a:t>Что это потребовало — вычитки другого рода, которой никто не учит. Прежний глаз настроен на опечатку и пропуск, на то, что оставляет после себя уставший человек; искать теперь надо утверждение, которого не было в истории болезни, — связное, уместное по стилю и отсутствующее в источнике.</a:t>
            </a:r>
          </a:p>
          <a:p>
            <a:r>
              <a:t/>
            </a:r>
          </a:p>
          <a:p>
            <a:r>
              <a:t>И то, что по этому случаю чаще всего пересказывают: тройка аккуратных чисел со ссылкой на «исследование ста эпикризов». Построчное чтение трёх доступных первоисточников её не даёт — ни одна работа не считает в тех определениях, в которых её пересказывают. Числа, которые удобно звучат, живут в пересказах дольше, чем в первоисточниках.</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раздел тремя утверждениями и выводом.</a:t>
            </a:r>
          </a:p>
          <a:p>
            <a:r>
              <a:t/>
            </a:r>
          </a:p>
          <a:p>
            <a:r>
              <a:t>Заявленная экономия и измеренная экономия посчитаны в разных величинах. Заявление — 15 791 час на 63 000 приёмов без раскрытой методики; измерение — 9,5 процента времени в заметке у одного инструмента и ноль у второго при 238 рандомизированных врачах, причём активное время правки не изменилось. Разница между заявлением и измерением здесь не в величине, а в том, что заявление не является проверяемым утверждением.</a:t>
            </a:r>
          </a:p>
          <a:p>
            <a:r>
              <a:t/>
            </a:r>
          </a:p>
          <a:p>
            <a:r>
              <a:t>Время не исчезло — оно переехало. Набор текста сократился, вычитка черновика появилась и измерена отдельно, а служба контроля качества заметок получила штат: свыше 3 600 прочитанных отзывов врачей и 1 252 анкеты в отчёте одной клиники. Обе формы — «нагрузка переехала» и «шаг появился» — предъявлены с объёмом, а не словами.</a:t>
            </a:r>
          </a:p>
          <a:p>
            <a:r>
              <a:t/>
            </a:r>
          </a:p>
          <a:p>
            <a:r>
              <a:t>У машинного документа другое устройство ошибки, и прежний навык вычитки на него не переносится. Ошибок больше — 2,91 против 1,82 на документ; документ менее полон — 3,72 против 4,13 по пятибалльной шкале; потенциал вреда отдельной ошибки тот же. Искать приходится не опечатку, а правдоподобную подробность, которой не было в истории болезни.</a:t>
            </a:r>
          </a:p>
          <a:p>
            <a:r>
              <a:t/>
            </a:r>
          </a:p>
          <a:p>
            <a:r>
              <a:t>И вывод раздела. Автоматическая запись приёма — тот случай, где выигрыш настоящий и берётся сразу, а плата возникает на шаге, которого в процессе не было. Направление развития этого режима делает плату больше: от диктовки под шаблон — к записи приёма целиком, а дальше к черновику назначений и кодов, то есть к документу, который что-то запускает. Чем больше документ запускает, тем дороже в нём правдоподобная подробность, которой не было.</a:t>
            </a:r>
          </a:p>
          <a:p>
            <a:r>
              <a:t/>
            </a:r>
          </a:p>
          <a:p>
            <a:r>
              <a:t>Под каждым из этих документов стоит подпись. Запись приёма подписывает врач, выписной эпикриз подписывает врач, и когда по документу что-то произойдёт, разбирать будут подпись.</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который открывает этот дивайдер, продолжает прямую линию от записи к подписи. Эпикриз из прошлого раздела — документ, у которого есть автор и подпись лечащего врача; то же самое верно для заключения по снимку, для плана лечения, для любого решения, в котором участвовала модель. Вопрос этого раздела простой и неудобный: что стоит за этой подписью, кроме самого акта подписания.</a:t>
            </a:r>
          </a:p>
          <a:p>
            <a:r>
              <a:t/>
            </a:r>
          </a:p>
          <a:p>
            <a:r>
              <a:t>Первый механизм — врачебная комиссия. Она не разбирает, пользовался ли врач алгоритмом; она разбирает, соответствовали ли его действия утверждённому порядку оказания помощи. Если соответствовали — ответственность не наступает, даже если исход оказался плохим. Модель в этой процедуре присутствует ровно в той мере, в какой её вывод попал в карту пациента и мог повлиять на решение.</a:t>
            </a:r>
          </a:p>
          <a:p>
            <a:r>
              <a:t/>
            </a:r>
          </a:p>
          <a:p>
            <a:r>
              <a:t>Второй механизм — норма, которая требует, чтобы человек оставался последним звеном: способным понять ограничения системы, не согласиться с её выводом и остановить её. Разбор «Норма есть, проверки нет» показывает, как редко эту способность проверяют на практике до того, как устройство допустят к продаже: систематический обзор поданной регулятору документации по радиологическим устройствам с ИИ нашёл тестирование с реальным участием врача у считаных процентов проверенных устройств — подавляющее большинство допущено без такой проверки вовсе.</a:t>
            </a:r>
          </a:p>
          <a:p>
            <a:r>
              <a:t/>
            </a:r>
          </a:p>
          <a:p>
            <a:r>
              <a:t>Третий механизм — то, что происходит, когда модель продолжает обучаться уже после допуска. Обзор «Модель, которая меняется после допуска» называет три инструмента регулятора: заранее утверждённый план будущих изменений модели, передачу данных о работе устройства регулятору и перенесённые сроки обязательной отчётности в европейском регламенте об ИИ. У этого обзора нет формы разбора в словаре курса, и это не недостаток материала: он описывает надзорный механизм, а не измеренное изменение работы, и сказать об этом прямо — часть самого раздела.</a:t>
            </a:r>
          </a:p>
          <a:p>
            <a:r>
              <a:t/>
            </a:r>
          </a:p>
          <a:p>
            <a:r>
              <a:t>Раздел заканчивается тем же, с чего начинается: удерживает не сама по себе подпись, а то, что стоит за ней — время прочитать вывод, способность с ним не согласиться и процедура, в которой это несогласие что-то меняет.</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Подпись в медицине — юридический акт. Медицинское заключение существует как документ, под которым стоит имя конкретного человека; в электронном контуре это усиленная квалифицированная электронная подпись, привязанная к одному физическому лицу. Отсюда следует то, на что опирается весь раздел: модель не может взять ответственность на себя, потому что право подписи ей не выдано. Ни в одной из рассмотренных стран алгоритм не является субъектом, способным подписать заключение, — поэтому все вопросы о модели в медицине оказываются вопросами о процедуре вокруг человека.</a:t>
            </a:r>
          </a:p>
          <a:p>
            <a:r>
              <a:t/>
            </a:r>
          </a:p>
          <a:p>
            <a:r>
              <a:t>Разбор случая — третий механизм этой процедуры, после подписи и информированного согласия, и устроен он как работа людей. Комиссия собирается по одному случаю, читает документы и отвечает на один вопрос, сформулированный дословно: соответствовали ли действия врача утверждённым порядкам, стандартам и клиническим рекомендациям. Если соответствовали — ответственность не наступает, даже когда исход оказался плохим. Если не соответствовали — комиссия называет расхождение и то, что из него следует.</a:t>
            </a:r>
          </a:p>
          <a:p>
            <a:r>
              <a:t/>
            </a:r>
          </a:p>
          <a:p>
            <a:r>
              <a:t>Вопроса «пользовался ли он моделью» в этом списке нет вовсе. Вывод модели упоминается ровно в той мере, в какой он попал в карту и мог повлиять на действие; решение комиссии не меняется от того, следовал врач подсказке или возразил ей.</a:t>
            </a:r>
          </a:p>
          <a:p>
            <a:r>
              <a:t/>
            </a:r>
          </a:p>
          <a:p>
            <a:r>
              <a:t>Такая постановка делает три вещи сразу. Она держит цену ошибки на человеке с подписью, сколько бы машин ни участвовало в подготовке решения. Она переводит разбор с личности на документ: исправляют порядок оказания помощи, а не характер врача. И она не умеет оценивать модель — инструмент оценки здесь соответствие порядку, а порядок про модель ничего не говорит, пока его не перепишут.</a:t>
            </a:r>
          </a:p>
          <a:p>
            <a:r>
              <a:t/>
            </a:r>
          </a:p>
          <a:p>
            <a:r>
              <a:t>Чисел на этом кадре нет, и это свойство самого кадра: он показывает устройство работы. Числа появятся там, где мы спросим, насколько часто проверяют то, на чём вся конструкция стоит, — способность подписывающего возразить машине.</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Механизм, которым медицина удерживает цену ошибки, собран здесь из двух шагов. Первый — разбор случая после исхода: произошло осложнение или смерть, собирается комиссия, читает документы, называет расхождение с утверждённым порядком. Второй — изменение порядка по итогам разбора: расхождение, которое повторяется, становится основанием поправить документ — порядок оказания помощи или внутренний регламент отделения. Третий шаг, независимое второе мнение и арбитраж при расхождении, разобран раньше; независимость теряется в тот момент, когда оба читателя видят одну и ту же машинную подсказку. Общее у всех трёх одно: каждый существует потому, что один человек ошибается, и процедура знает это заранее — внимательнее людей она не делает.</a:t>
            </a:r>
          </a:p>
          <a:p>
            <a:r>
              <a:t/>
            </a:r>
          </a:p>
          <a:p>
            <a:r>
              <a:t>Планирование смен стоит рядом как разбор подмены. Время на составление графика упало с 32,0 до 6,0 часа в месяц, но обученной модели внутри планировщика нет: нормы отдыха, квалификации, заявки на отпуск и минимальный состав дежурства задают систему условий, которую решает оптимизатор. Выигрыш относится к организации труда — ошибка в графике исправляется до начала смены и никому не стоит здоровья.</a:t>
            </a:r>
          </a:p>
          <a:p>
            <a:r>
              <a:t/>
            </a:r>
          </a:p>
          <a:p>
            <a:r>
              <a:t>Числа по подсказке получены в опыте с перекрёстным планом: сорок клиницистов, по двести снимков каждый, восемь тысяч прочтений. Без модели верных заключений 87,2 из ста, с моделью 96,4. Девять пунктов посчитаны против одного читателя — второго человека в этом опыте не было, и сколько из них осталось бы при сравнении с парой людей, он не говорит. А 45,5 из ста оставшихся ошибок связаны со склонностью доверять автомату: человек соглашается с машинным выводом там, где без него решил бы иначе и правильнее. Стаж от этого не защищает.</a:t>
            </a:r>
          </a:p>
          <a:p>
            <a:r>
              <a:t/>
            </a:r>
          </a:p>
          <a:p>
            <a:r>
              <a:t>Очевидное лекарство — прятать подсказку там, где она скорее введёт в заблуждение. Снижение на 41,7 процента получено расчётом по двум уже собранным раундам; третьего раунда с живыми врачами не было, а в скрываемой зоне остаются и случаи, где модель права, — поэтому знак итогового эффекта неизвестен. Раскрытый конфликт интересов произносится рядом с числами.</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Начинать надо с цены обеих ошибок. Модель пропустила находку, человек подтвердил её заключение не глядя — пропущенный диагноз, и подпись под ним человеческая. Модель отметила лишнее, человек подтвердил — лишнее вмешательство, и подпись опять человеческая. Обе ошибки оплачивает пациент исходом, а отвечает за них подписавший.</a:t>
            </a:r>
          </a:p>
          <a:p>
            <a:r>
              <a:t/>
            </a:r>
          </a:p>
          <a:p>
            <a:r>
              <a:t>Классических режимов здесь два. Первый — человек смотрит первым и единственным: один читатель, одно заключение, никакого арбитража; собственного числа у этого режима нет, и сказано это прямо. Второй — два независимых читателя плюс арбитраж при расхождении, и у него счёт есть: чувствительность двойного чтения 73,8 из ста против 80,5 при чтении одним человеком с моделью. Чувствительность — доля найденного среди больных, и с выявляемостью её путать нельзя: выявляемость в той же программе около шести находок на тысячу обследованных.</a:t>
            </a:r>
          </a:p>
          <a:p>
            <a:r>
              <a:t/>
            </a:r>
          </a:p>
          <a:p>
            <a:r>
              <a:t>Доля найденного говорит, сколько находят; минуты говорят, чего это стоит. По рабочим записям национальной программы — 441 276 первичных прочтений, то есть около 219 тысяч обследований, потому что каждое читают двое, 16 центров — одно чтение маммограммы занимает 48 секунд в среднем при медиане 25 секунд, а согласительный разбор расхождения двух читателей 2 минуты 12 секунд при медиане 1 минута 55 секунд. Отсюда кратность: по медианам разбор дороже чтения в 4,6 раза, по средним в 2,75. Называется она двумя счётами: по медианам и по средним выходит разное.</a:t>
            </a:r>
          </a:p>
          <a:p>
            <a:r>
              <a:t/>
            </a:r>
          </a:p>
          <a:p>
            <a:r>
              <a:t>Дальше — сколько таких разборов становится. Когда модель заняла место второго человека на пятидесяти тысячах обследований, первичных чтений стало вдвое меньше, а объём арбитража вырос на 53 процента: в одном центре на 142, в другом на 22. Протоколы арбитража там разные — в одном разбирают только расхождения по отзыву, в другом все отзывы, — значит, устройство нового шага само задаёт нагрузку. Поэтому среднее произносится вместе с разбросом: без него оно читается как отраслевая норма, которой нет. Вывод от величин не зависит: экономия на одном шаге не обязана компенсировать рост другого.</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Требование регулятора в обеих рассматриваемых странах формулируется одинаково по смыслу: человек остаётся финальным звеном. Изделие допускают к продаже в предположении, что клиницист истолкует машинный вывод и примет клиническое решение сам. Точнее всех это записано в статье 14 европейского регламента: система высокого риска проектируется так, чтобы человек, который за ней надзирает, мог понимать её возможности и ограничения, сохранять настороженность к склонности доверять автомату, правильно истолковать вывод, не согласиться с ним или отменить его и остановить систему. Норма описывает способность вмешаться; физического присутствия человека при каждом решении она не требует. Это прямая нормативная формулировка проблемы подписи не глядя: нажатие кнопки согласия требованию не удовлетворяет, если вмешаться подписавший не может.</a:t>
            </a:r>
          </a:p>
          <a:p>
            <a:r>
              <a:t/>
            </a:r>
          </a:p>
          <a:p>
            <a:r>
              <a:t>Теперь измерение. Систематический обзор документации, поданной регулятору по радиологическим изделиям с искусственным интеллектом, разбирает 717 изделий, у которых эта документация доступна. Тестирование с человеком в контуре нашли у 56 — восемь из ста; значит, у 661 изделия при допуске не проверяли ничего о том, как с выводом обращается человек. Рядом два числа из той же работы: проспективное клиническое испытание было у 33 изделий, какое-либо клиническое испытание — у 208.</a:t>
            </a:r>
          </a:p>
          <a:p>
            <a:r>
              <a:t/>
            </a:r>
          </a:p>
          <a:p>
            <a:r>
              <a:t>Второй знаменатель другой, и дата среза у него своя. Из 950 допущенных изделий 924 — девяносто семь из ста — прошли упрощённым путём, по подобию ранее допущенному, а такой путь проспективной проверки не предполагает. Радиология здесь крупная по объёму область: 723 изделия из 950.</a:t>
            </a:r>
          </a:p>
          <a:p>
            <a:r>
              <a:t/>
            </a:r>
          </a:p>
          <a:p>
            <a:r>
              <a:t>Сила свидетельства разная для факта и для вывода. Для самого факта она сильная: это обзор поданной документации, и число проверяемо. Для чтения «значит, надзор формален» — средняя: поведение людей здесь не измерялось, измерялось содержание дела о допуске. Повторного независимого замера нет, публикация одна, и это произносится вслух.</a:t>
            </a:r>
          </a:p>
          <a:p>
            <a:r>
              <a:t/>
            </a:r>
          </a:p>
          <a:p>
            <a:r>
              <a:t>В сумме: норма есть, а свидетельства её исполнения при допуске нет. Работа при этом не переехала, не выросла и не досталась другой руке — переехала цена промаха в ней.</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Чтобы разрыв из предыдущего кадра читался как устройство, а не как небрежность, нужна карта участников. Рамка, сложившаяся в работах 2019 и 2020 годов, называет четырёх и у каждого разделяет две вещи: что он контролирует и за что отвечает.</a:t>
            </a:r>
          </a:p>
          <a:p>
            <a:r>
              <a:t/>
            </a:r>
          </a:p>
          <a:p>
            <a:r>
              <a:t>Разработчик контролирует обучающие данные, архитектуру и обновления модели — почти всё, что определяет качество вывода, — и отвечает за соответствие изделия заявленному назначению. Врач контролирует решение по одному человеку и отвечает за это решение целиком. Больница контролирует закупку, настройку, обучение персонала и порядок применения — отвечает за организацию работы. Регулятор контролирует допуск и надзор после допуска, отвечает за рамку.</a:t>
            </a:r>
          </a:p>
          <a:p>
            <a:r>
              <a:t/>
            </a:r>
          </a:p>
          <a:p>
            <a:r>
              <a:t>Читается таблица в одну строку: контроль и ответственность лежат у разных участников, и шов между ними проходит по подписи врача. Разработчик держит то, что определяет качество вывода, и не отвечает за решение о конкретном человеке. Врач отвечает за решение целиком и не контролирует ни обучающие данные, ни обновления. Измеренный разрыв — проверку способности вмешаться нашли у 56 изделий из 717 — и есть измерение этого шва: ответственность по шву передана, а проверка способности её нести по шву не передана.</a:t>
            </a:r>
          </a:p>
          <a:p>
            <a:r>
              <a:t/>
            </a:r>
          </a:p>
          <a:p>
            <a:r>
              <a:t>Рамка качественная, числовых данных в ней нет, и читать её как измерение нельзя: иначе таблица выглядит доказательством того, что она лишь описывает. Границу стоит назвать: она описывает четырёх участников клинического контура и ничего не говорит о том, кто платит за лечение.</a:t>
            </a:r>
          </a:p>
          <a:p>
            <a:r>
              <a:t/>
            </a:r>
          </a:p>
          <a:p>
            <a:r>
              <a:t>Формулировки по странам различаются, и общей теории из них не выводится. В Европе требуется способность понять ограничения, не согласиться, отменить и остановить, а присутствие при каждом решении не обязательно. В России подпись есть юридический акт, и при разборе оценивают соответствие действий врача утверждённым порядкам: ответственность не наступает при соответствии — независимо от того, следовал врач подсказке или возразил ей. В Китае рамка 2026 года по применению искусственного интеллекта в обращении лекарств формулирует совместное человеко-машинное рецензирование и отказ от перехода к автономным регуляторным решениям.</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модели есть свойство, которого нет у скальпеля: она меняется после того, как её допустили. Переобучение на новых данных, смена версии, донастройка на население конкретной больницы — всё это меняет поведение изделия уже на рынке. Регулятор отвечает тремя механизмами.</a:t>
            </a:r>
          </a:p>
          <a:p>
            <a:r>
              <a:t/>
            </a:r>
          </a:p>
          <a:p>
            <a:r>
              <a:t>Первый — заранее утверждённый план изменений. Производитель вместе с заявкой описывает, какие именно изменения модели допустимы после выхода на рынок, включая автоматическое дообучение, и протокол проверки каждого: данные, обучение, тестирование, маркировку, защиту от вторжения, систему качества. Если план утверждён, последующие изменения в его рамках новой заявки не требуют. Прямой ответ на вопрос, что делать с моделью, которая учится дальше, звучит так: разрешить изменение до того, как оно произошло, и перенести работу на проектирование. Конструкция осмысленная, и цена у неё есть: качество проверки целиком определяется качеством плана, написанного до того, как изменения случились.</a:t>
            </a:r>
          </a:p>
          <a:p>
            <a:r>
              <a:t/>
            </a:r>
          </a:p>
          <a:p>
            <a:r>
              <a:t>Второй — передача данных о работе изделия регулятору. В отечественном контуре порядок утверждён приказом, номер которого проверен, и на этом утверждения заканчиваются: дата вступления в силу, срок действия и область действия по тексту акта не установлены. Поэтому слов «обязательная передача» и утверждений, что поток данных уже идёт, здесь нет.</a:t>
            </a:r>
          </a:p>
          <a:p>
            <a:r>
              <a:t/>
            </a:r>
          </a:p>
          <a:p>
            <a:r>
              <a:t>Третий — сроки европейского регламента, и путаница здесь дорогая. Закон разводит обязательства по приложениям, а не по признаку «самостоятельное или встроенное». Приложение III — перечисленные сферы применения высокого риска, срок 2 декабря 2027 года. Приложение I — искусственный интеллект в составе изделий, которые регулирует отраслевое законодательство Союза; медицинские изделия названы там прямо, срок 2 августа 2028 года. Самостоятельное медицинское программное обеспечение регулируется как медицинское изделие — значит, попадает в Приложение I и живёт по августу 2028 года, а не по декабрю 2027. Отсрочка — политическое решение, и называется нейтрально.</a:t>
            </a:r>
          </a:p>
          <a:p>
            <a:r>
              <a:t/>
            </a:r>
          </a:p>
          <a:p>
            <a:r>
              <a:t>Формы разбора у этого кадра нет, и причина названа: цена обеих ошибок у надзорного механизма не измерена, классического режима в той же цене никто не посчитал. Обзор механизмов остаётся обзором.</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надзорной рамки есть измеренное последствие, и оно показывает, где она не успевает. Исследование реестра допущенных изделий со срезом в ноябре 2024 года даёт картину: из 950 допущенных изделий с искусственным интеллектом отзывались 60, на них пришлось 182 отзывных события, и 79 из этих 182 — 43,4 процента — случились в первые двенадцать месяцев после допуска, примерно вдвое чаще, чем в среднем по этому пути допуска. Изделия без заявленной клинической проверки отзывались чаще: в среднем 3,4 отзыва на изделие против 1,9 у проверенных ретроспективно. К концу исследования 108 отзывов из 182 оставались неразрешёнными.</a:t>
            </a:r>
          </a:p>
          <a:p>
            <a:r>
              <a:t/>
            </a:r>
          </a:p>
          <a:p>
            <a:r>
              <a:t>Знаменатели надо держать врозь: 950 — общий объём, из которого отобраны 60 отзывавшихся; 182 — число событий, пришедшихся на эти 60.</a:t>
            </a:r>
          </a:p>
          <a:p>
            <a:r>
              <a:t/>
            </a:r>
          </a:p>
          <a:p>
            <a:r>
              <a:t>Читается это так: ранний отзыв — проверка, которая не состоялась до допуска и состоялась после. Рамка переносит работу на проектирование, и то, чего в проектировании не предусмотрели, выясняется на рынке; доля 43,4 процента в первый год — измеренный объём такого выяснения. Отдельно — чего найти не удалось: ни одного именованного случая «допуск выдали — отозвали за диагностическую ошибку» в собранном материале нет. Это отсутствие данных, а не отсутствие события.</a:t>
            </a:r>
          </a:p>
          <a:p>
            <a:r>
              <a:t/>
            </a:r>
          </a:p>
          <a:p>
            <a:r>
              <a:t>Отечественный реестр считает ту же величину с другой стороны. Зарегистрированных медицинских программ с искусственным интеллектом 48 в ноябре 2025 года, 57 в июне 2026, 59 в августе 2026; темп регистраций вырос втрое: 13 за 2020 и 2021 годы, 9 за 2022 и 2023, 26 за 2024 и 2025. Доля от общего реестра не приводится: знаменатель «всего медицинских изделий» в источниках расходится, 28 тысяч против 48 тысяч, и достоверен только порядок величины — десятые доли процента.</a:t>
            </a:r>
          </a:p>
          <a:p>
            <a:r>
              <a:t/>
            </a:r>
          </a:p>
          <a:p>
            <a:r>
              <a:t>И пробел, который называется числом, чтобы не выглядеть умолчанием: независимой, то есть не организаторской, оценки влияния этих систем на работу врача найти не удалось. Это установлено двадцатью двумя попытками: восемнадцать поисковых формулировок и четыре обращения к профильным журналам и базе диссертаций.</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закрывается четырьмя утверждениями, и у каждого своя база.</a:t>
            </a:r>
          </a:p>
          <a:p>
            <a:r>
              <a:t/>
            </a:r>
          </a:p>
          <a:p>
            <a:r>
              <a:t>Первое: цену ошибки держит процедура, а работает она на документе. Разбор случая оценивает соответствие действий утверждённым порядкам; изменение порядка — то, чем разбор заканчивается. Вопроса «пользовался ли врач моделью» в этой процедуре нет, и пока порядок про модель не переписан, процедура её не оценивает.</a:t>
            </a:r>
          </a:p>
          <a:p>
            <a:r>
              <a:t/>
            </a:r>
          </a:p>
          <a:p>
            <a:r>
              <a:t>Второе: выигрыш и вред от подсказки идут из одного места. Точность с 87,2 до 96,4 из ста и 45,5 из ста оставшихся ошибок, связанных со склонностью доверять автомату, на всех уровнях стажа — одно исследование, сильный план, повторения нет. Очевидное лекарство оценено расчётом и не измерено: третьего раунда не было, и знак итогового эффекта неизвестен.</a:t>
            </a:r>
          </a:p>
          <a:p>
            <a:r>
              <a:t/>
            </a:r>
          </a:p>
          <a:p>
            <a:r>
              <a:t>Третье: норма требует человека финальным звеном, а проверено ли, что он способен вмешаться, — почти никогда. 56 изделий из 717, срез июнь 2024 года, одна публикация без независимого повтора. Рядом: 924 изделия из 950 допущены по подобию, 60 из 950 отозваны, 43,4 процента отзывов — в первый год.</a:t>
            </a:r>
          </a:p>
          <a:p>
            <a:r>
              <a:t/>
            </a:r>
          </a:p>
          <a:p>
            <a:r>
              <a:t>Четвёртое: процедура живёт вне сетки «задача × модальность», и это её свойство. Подпись, согласие, разбор случая, допуск, надзор после допуска — ни одно из них не занимается распознаванием, прогнозом или генерацией. Клетка сетки говорит, чем инструмент занят, и ничего не говорит о том, чем его держат.</a:t>
            </a:r>
          </a:p>
          <a:p>
            <a:r>
              <a:t/>
            </a:r>
          </a:p>
          <a:p>
            <a:r>
              <a:t>Контраст с прошлой лекцией предъявляется прямо. Там требований к системам с искусственным интеллектом внутри промышленных изделий не было, и это было названо пробелом. В медицине они есть: класс риска, национальные стандарты, порядок передачи данных регулятору, статья о человеческом надзоре, планы изменений модели после допуска — и названы сроки. Разница в том, что здесь документ есть и измеримо, насколько он исполняется.</a:t>
            </a:r>
          </a:p>
          <a:p>
            <a:r>
              <a:t/>
            </a:r>
          </a:p>
          <a:p>
            <a:r>
              <a:t>Удерживает то, что стоит за подписью: время прочитать, способность возразить, процедура, в которой возражение чем-то кончается, и проверка, что всё это есть. Где за подписью не стоит ничего, цена ошибки переезжает на того, кто не подписывал.</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Химик-синтетик получает миллиграммы вещества. Тот же порошок через полгода едет в виварий на токсикологию. Ещё через год координатор исследования часами пишет наблюдения по одному здоровому добровольцу первой фазы. Три человека, три места, одно вещество, и между первым эпизодом и третьим проходит около двух лет. Этот раздел начинается с этой картины не случайно: дальше пойдут проценты и доли, и за каждым из них стоит такая же работа руками.</a:t>
            </a:r>
          </a:p>
          <a:p>
            <a:r>
              <a:t/>
            </a:r>
          </a:p>
          <a:p>
            <a:r>
              <a:t>Отраслевая база нужна раньше любого числа про модель: из программ, вошедших в первую фазу, лекарством становится меньше одной десятой, и отсев плотнее всего в середине пути — не в начале и не в конце, — при переходе из второй фазы в третью. Это и есть счёт классического режима, с которым сравнивается всё остальное.</a:t>
            </a:r>
          </a:p>
          <a:p>
            <a:r>
              <a:t/>
            </a:r>
          </a:p>
          <a:p>
            <a:r>
              <a:t>Три разбора вечера проверяют один и тот же вопрос на разном материале. Первый — молекула, спроектированная моделью целиком: доклинический этап у неё занял меньше года против нескольких лет отраслевой нормы, она вошла в клинику человека, а затем была снята на первой фазе — ускорение одного шага не ускорило и не гарантировало следующий. Второй — воронка молекул, в происхождении которых участвовала обученная модель: десятки активов вошли в клинику, часть дошла до второй фазы, а одобрений регулятора за всё время существования категории — ноль. Третий — компания, которая публично обещала доводить препараты до регистрации самостоятельно, нашла молекулу через граф биомедицинских связей и потеряла сотни рабочих мест, когда клиническое испытание не показало эффекта, который модель бизнеса обещала считать предрешённым.</a:t>
            </a:r>
          </a:p>
          <a:p>
            <a:r>
              <a:t/>
            </a:r>
          </a:p>
          <a:p>
            <a:r>
              <a:t>Отдельно в разделе стоит эпизод про предсказание структуры белка: ожидание, что экспериментальная структурная биология сожмётся после его появления, не подтвердилось числами депозитария — это оговорка против рекламы, и она держится не на мнении, а на статистике.</a:t>
            </a:r>
          </a:p>
          <a:p>
            <a:r>
              <a:t/>
            </a:r>
          </a:p>
          <a:p>
            <a:r>
              <a:t>Производство лекарственной формы на линии — отдельная тема курса, и в этот раздел она не входит. Важно удержать одну границу до первого разбора: это работа на масштабе отрасли, а не решение о конкретном человеке у койки, и переносить выводы одного масштаба на другой здесь запрещено так же, как и в остальных разделах лекции.</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Фазы различаются не номером, а вопросом. Первая идёт обычно на здоровых добровольцах, и вопрос у неё один: переносит ли человек вещество и в какой дозе. Вторая идёт на пациентах, и вопрос другой: меняет ли вещество ход болезни и при какой дозе меняет. Пройти первую и провалиться на второй — обычный исход, а не странность: это разные вопросы к одному веществу, и ответ на первый ничего не обещает про второй.</a:t>
            </a:r>
          </a:p>
          <a:p>
            <a:r>
              <a:t/>
            </a:r>
          </a:p>
          <a:p>
            <a:r>
              <a:t>Доклиника на культурах клеток и животных стоит перед обеими по простой причине: до человека надо знать, в каком диапазоне доз вещество не отравляет, как выводится из организма и какие органы страдают первыми. Производство клинической партии — отдельная работа, а не приложение к химии: миллиграммы из лаборатории превращают в партию с подтверждённой чистотой и документированной технологией, и занимаются этим другие люди на другом оборудовании.</a:t>
            </a:r>
          </a:p>
          <a:p>
            <a:r>
              <a:t/>
            </a:r>
          </a:p>
          <a:p>
            <a:r>
              <a:t>У группы плацебо есть своя цена, и платят её пациенты: часть группы получает пустышку, и болезнь у них идёт своим ходом. Это принятая регуляторами цена метода — без группы сравнения нельзя отличить действие вещества от естественного течения болезни, и к происхождению молекулы эта цена отношения не имеет.</a:t>
            </a:r>
          </a:p>
          <a:p>
            <a:r>
              <a:t/>
            </a:r>
          </a:p>
          <a:p>
            <a:r>
              <a:t>Сроки здесь — порядок величины, а не замер. Около двух лет между первым эпизодом и третьим и четыре-пять лет на весь путь от мишени до клинического кандидата — отраслевая норма из согласующихся между собой обзоров, не построчно сверенная статистика; разброс между программами при этом большой. Удержать стоит не цифру, а то, что каждый шаг этого пути кто-то делает руками: одна реакция, одно животное, один доброволец. Длина такого шага от вычислений не зависит — её задают физиология, протокол и расписание центра.</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Схема называет не только шаги, но и тех, кто их делает, и исполнитель здесь важнее названия шага. Дальше весь раздел говорит об одном: переехала не работа, а один исполнитель на одном шаге — в самом начале пути.</a:t>
            </a:r>
          </a:p>
          <a:p>
            <a:r>
              <a:t/>
            </a:r>
          </a:p>
          <a:p>
            <a:r>
              <a:t>Мишень выбирают биологи: решают, какой белок или процесс в организме надо затронуть, чтобы болезнь пошла иначе. Молекулу под эту мишень подбирают химики — синтезируют серии близких веществ и смотрят, какое действует избирательнее и меньше задевает соседние цели. Доклиникой заняты токсикологи и специалисты по фармакокинетике, чаще всего в сторонних исследовательских организациях. Клинические фазы ведут исследователи в больницах и координаторы в центрах, и счёт участников растёт от десятков здоровых добровольцев на первой фазе до сотен и тысяч пациентов на третьей. Заявку собирают регуляторные специалисты: это тоже месяцы работы и отдельная профессия.</a:t>
            </a:r>
          </a:p>
          <a:p>
            <a:r>
              <a:t/>
            </a:r>
          </a:p>
          <a:p>
            <a:r>
              <a:t>Людей и денег больше всего на поздних фазах, и причина арифметическая. Стоимость испытания растёт с числом пациентов, числом центров и длительностью наблюдения. Первая фаза — десятки людей в одном-двух центрах за несколько месяцев; третья — сотни пациентов в десятках центров на год и больше, с визитами, анализами и оплатой работы каждого центра. Поэтому ускорение в начале пути меняет общую длину и общую стоимость разработки незначительно: оно происходит на самом дешёвом и самом коротком участке.</a:t>
            </a:r>
          </a:p>
          <a:p>
            <a:r>
              <a:t/>
            </a:r>
          </a:p>
          <a:p>
            <a:r>
              <a:t>Вычисление приходится на один шаг — подбор молекулы и, реже, выбор мишени. Остальные три шага схемы им не затрагиваются вовсе: переносимость проверяют на людях, пациентов набирают в больницах, документы подаёт человек. Эту границу стоит держать в голове, когда дальше пойдут числа: все они про первый шаг, а узкое место ищут там, где стоит основной объём работы.</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Без этого счёта ни одно «ускорили в несколько раз» не читается. Отчёт считает 12 728 переходов в 9 704 программах 1 779 компаний за десять лет — это счёт переходов, а не программ: у каждой фазы свой знаменатель, и доли разных фаз между собой не складываются.</a:t>
            </a:r>
          </a:p>
          <a:p>
            <a:r>
              <a:t/>
            </a:r>
          </a:p>
          <a:p>
            <a:r>
              <a:t>Из первой фазы во вторую проходит чуть больше половины программ, из второй в третью — меньше трети. Два поздних перехода, из третьей фазы в заявку и из заявки в одобрение, даются заметно легче; точные доли по ним здесь не произносятся, потому что построчно по таблице отчёта они не сверены. Итог пути от первой фазы до одобрения — 7,9 процента: из примерно тринадцати программ, вошедших в клинику, лекарством становится одна. Это и есть база, с которой сравнивают любое улучшение.</a:t>
            </a:r>
          </a:p>
          <a:p>
            <a:r>
              <a:t/>
            </a:r>
          </a:p>
          <a:p>
            <a:r>
              <a:t>Средняя по отрасли годится как база и не годится как предсказание. Переход второй фазы в гематологии — 48,1 процента, в урологии — 15,0: разброс втрое, и конкретную программу осмысленно сравнивать со своей терапевтической областью, а не с общей средней. Дата среза и знаменатель стоят на кадре по той же причине: число без них не проверяемо и не оспоримо.</a:t>
            </a:r>
          </a:p>
          <a:p>
            <a:r>
              <a:t/>
            </a:r>
          </a:p>
          <a:p>
            <a:r>
              <a:t>Цена обеих ошибок называется здесь, до всякой точности, и половины её несопоставимы по измеримости. Довести негодную молекулу до первой фазы — это месяцы работы клинического центра, здоровые добровольцы под дозой и деньги, не ушедшие в другую программу. Отбросить годную — терапии не будет ни у кого, и эта цена не измеряется вовсе: узнать, что отброшенная молекула сработала бы, невозможно, потому что эксперимента не было. Вторую цену называют прямо и не заменяют оценкой; подставить сюда правдоподобную цифру значило бы её выдумать.</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Пример той же формы, знакомый без всякой фармацевтики: доля сдавших экзамен среди допущенных к нему и доля сдавших среди зачисленных на курс. Второе число всегда ниже первого при любом качестве преподавания — потому что в его знаменателе сидят те, кто до экзамена просто не дошёл: взял отпуск, не закрыл допуск, ещё учится. Ни одно из двух чисел не врёт; врёт их сопоставление друг с другом.</a:t>
            </a:r>
          </a:p>
          <a:p>
            <a:r>
              <a:t/>
            </a:r>
          </a:p>
          <a:p>
            <a:r>
              <a:t>В разработке лекарства устройство такое же. Переход считают среди тех, кто фазу прошёл до конца: знаменатель — завершившие фазу, числитель — пошедшие дальше. Завершение считают среди всех, кто когда-либо вошёл в испытания, и в этом знаменателе сидят активы, которые до следующей фазы ещё не дошли — ни провалившись, ни преуспев. Чем моложе набор активов, тем сильнее второе число занижено просто ходом времени, а не качеством работы.</a:t>
            </a:r>
          </a:p>
          <a:p>
            <a:r>
              <a:t/>
            </a:r>
          </a:p>
          <a:p>
            <a:r>
              <a:t>Это не придирка к словам. Дальше в разделе будет замер, где такие две дроби склеены в публичном пересказе, и знак вывода от склейки переворачивается: «втрое хуже отрасли» получается там, где сопоставимое сравнение даёт «не хуже базы».</a:t>
            </a:r>
          </a:p>
          <a:p>
            <a:r>
              <a:t/>
            </a:r>
          </a:p>
          <a:p>
            <a:r>
              <a:t>Третья причина не ставить такие числа в один ряд — разная единица счёта. Отраслевая база считает переходы по показаниям: одна молекула, которую проверяют на трёх болезнях, даёт три перехода. Замеры по молекулам машинного происхождения считают уникальные молекулы и активы, то есть ту же молекулу один раз. Отсюда короткое правило, которое переносится за пределы этой отрасли: прежде чем сравнивать две доли, проверяют три вещи — что стоит в знаменателе, что считается единицей счёта и на какую дату сделан срез. Если хоть одна из трёх различается, сравнения нет, даже когда числа выглядят однотипно.</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Левый столбец держится на двух случаях, и у каждого названа база сравнения. Перебор гипотез по графу биомедицинских связей занял 48 часов — против недель и месяцев систематического обзора литературы и экспертной гипотезы; для нового патогена, по которому литературы почти нет, классический путь не работает вовсе, и это важная часть выигрыша. Вторая половина случая не менее важна: найденный препарат уже был одобрен по другому показанию, то есть токсикология, дозирование и производство для него существовали. Это поиск среди уже безопасных веществ, и такой класс задачи дешевле прочих. А подтверждение гипотезы дали рандомизированные исследования и клиницисты по всему миру в течение года: авторы гипотезы этой работы не делали и не платили за неё.</a:t>
            </a:r>
          </a:p>
          <a:p>
            <a:r>
              <a:t/>
            </a:r>
          </a:p>
          <a:p>
            <a:r>
              <a:t>Второй случай — расчётная оценка связывания 13 000 соединений под уже известную мишень. Он ценен тем, что сделан аккуратно: метод назван, сказано, что именно он считает — физику связывания, — и обещания «придумал лекарство из ничего» нет. База сравнения тут — классический цикл «синтезируй и протестируй», где физически через опыт прогоняют от одного до трёх миллионов соединений. Упал объём физических итераций, а не цена результата: готовый актив покупатель забрал за 4 миллиарда долларов авансом плюс до 2 миллиардов выплат по достижениям. Удешевление поиска молекулы не удешевило молекулу.</a:t>
            </a:r>
          </a:p>
          <a:p>
            <a:r>
              <a:t/>
            </a:r>
          </a:p>
          <a:p>
            <a:r>
              <a:t>Правый столбец пуст по числам, и это его вывод, а не пробел подборки. Ни переносимость у людей, ни набор пациентов, ни длительность наблюдения за медленно прогрессирующей болезнью, ни производство клинической партии не содержат задачи, которую делает модель. Отсюда приём, работающий в любой отрасли: у заявленного эффекта спрашивают, от чего он посчитан, и отдельно — какую долю всего пути занимает шаг, на котором он получен.</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классического физического перебора числа проверяемы, потому что названы обе половины дроби. В знаменателе — библиотека от одного до трёх миллионов соединений, которые реально прогоняют через опыт; в числителе — попадания, один-два процента. Назван и метод, которым это получено. Такое число можно оспорить: проверить состав библиотеки, пересчитать попадания, не согласиться с определением попадания.</a:t>
            </a:r>
          </a:p>
          <a:p>
            <a:r>
              <a:t/>
            </a:r>
          </a:p>
          <a:p>
            <a:r>
              <a:t>Рядом живут заявленные доля попаданий и заявленная экономия перехода от попадания к готовому соединению. Оспорить их нельзя — и не потому, что они верны. У них нет имени проекта, нет даты, нет публикации. Неизвестно, какая библиотека стояла в знаменателе, что считалось попаданием, сколько проектов вошло в среднее и кто считал. Один из источников таких диапазонов — страница с откровенно рекламным слогом, и это не повод смеяться, а повод не брать число.</a:t>
            </a:r>
          </a:p>
          <a:p>
            <a:r>
              <a:t/>
            </a:r>
          </a:p>
          <a:p>
            <a:r>
              <a:t>Отсюда приём, который переносится на любую отрасль: у заявленного эффекта спрашивают две вещи — от чего он посчитан и кто считал. Если на первый вопрос ответа нет, эффект не измерен, какой бы правдоподобной ни была величина. Правдоподобие тут и есть ловушка: диапазон, похожий на правду, проходит без проверки легче, чем явно завышенный.</a:t>
            </a:r>
          </a:p>
          <a:p>
            <a:r>
              <a:t/>
            </a:r>
          </a:p>
          <a:p>
            <a:r>
              <a:t>И отсюда же различение, которое стоит держать отдельно. «Число слабое» и «числа нет» — разные положения. Слабое число произносят с оговоркой: называют источник, говорят, что сверка вторичная, и не строят на нём вывод. Отсутствующее число не произносят вовсе — ни с оговоркой, ни в обёртке «по некоторым оценкам». Подставить вместо него похожую величину из другого разбора — та же склейка несовместимых выборок, с которой начинается этот раздел.</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Разбор начинается не с результата модели, а с цены ошибки: иначе «меньше года вместо четырёх с половиной» не с чем сравнивать. Цена здесь двусторонняя, и половины её несопоставимы по измеримости — это надо сказать до любой цифры.</a:t>
            </a:r>
          </a:p>
          <a:p>
            <a:r>
              <a:t/>
            </a:r>
          </a:p>
          <a:p>
            <a:r>
              <a:t>Довести негодную молекулу до первой фазы — цена измеримая: месяцы работы клинического центра, здоровые добровольцы, которым дают дозу вещества без всякой пользы для них самих, и деньги, не ушедшие в другую программу. Отбросить годную молекулу — цена, которой в числах нет вовсе: узнать, что отброшенное вещество сработало бы, невозможно, потому что эксперимента не было. Эту половину называют прямо и не заменяют оценкой; подставить сюда правдоподобную цифру значило бы её выдумать.</a:t>
            </a:r>
          </a:p>
          <a:p>
            <a:r>
              <a:t/>
            </a:r>
          </a:p>
          <a:p>
            <a:r>
              <a:t>Классических режимов на этом месте два, и платят оба. Режим «вести в клинику всё, что синтезировали» платит первой фазой за каждую пустышку. Режим «вести только то, что прошло полный экспертный отбор» платит отброшенными молекулами, число которых никто не знает. Экспертный отбор — это совет из медицинских химиков, биологов и токсикологов: смотрят серию близких соединений и решают, какое брать в доклинику. Решение опирается на опыт и литературу, протоколом оно не описано, и повторяемость его никто не замерял.</a:t>
            </a:r>
          </a:p>
          <a:p>
            <a:r>
              <a:t/>
            </a:r>
          </a:p>
          <a:p>
            <a:r>
              <a:t>Счёт у двух режимов один и тот же, и это и делает его базой: первая фаза пропускает дальше 52,0 процента программ, вторая — 28,9, до одобрения доходит 7,9. Любое улучшение сравнивают с этими числами, а не с нулём и не с ожиданиями из заголовков. Пока сравнения с ними нет, фраза «модель ускорила разработку» говорит только про тот шаг, на котором её применили, и ничего — про путь целиком.</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случай был флагманом всей категории: первая малая молекула, спроектированная моделью целиком, дошедшая до испытаний на человеке. Показание — навязчивое расстройство, в клинику молекула вошла в январе 2020 года, и о ней говорили как о доказательстве того, что разработка лекарства изменилась.</a:t>
            </a:r>
          </a:p>
          <a:p>
            <a:r>
              <a:t/>
            </a:r>
          </a:p>
          <a:p>
            <a:r>
              <a:t>Сравнение, на котором держится этот случай, требует оговорки, и она не формальная. И «меньше двенадцати месяцев», и «четыре с половиной года» — заявления самой компании: второе — её собственная оценка средней нормы отрасли, а не независимая статистика по сопоставимому классу мишеней. Такой независимой статистики в собранном материале нет вообще. Что считалось началом и концом интервала — входила ли в двенадцать месяцев токсикология на животных и производство клинической партии или только расчёт, синтез и первичные тесты — публично не раскрыто. Обе половины сравнения исходят от одной заинтересованной стороны: число есть, базы под ним нет, и говорить его стоит именно так.</a:t>
            </a:r>
          </a:p>
          <a:p>
            <a:r>
              <a:t/>
            </a:r>
          </a:p>
          <a:p>
            <a:r>
              <a:t>Чем дело кончилось: в январе 2022 года молекула снята — «не удовлетворила критериям исследования» на первой фазе. Точная причина публично не детализирована, и это само по себе наблюдение о силе свидетельства: об успехе доклиники было известно подробно, о провале — из одной строки.</a:t>
            </a:r>
          </a:p>
          <a:p>
            <a:r>
              <a:t/>
            </a:r>
          </a:p>
          <a:p>
            <a:r>
              <a:t>Что отсюда забирают. Доклиника сжалась в месяцы, а переносимость у людей осталась той же длины и у того же исполнителя — и она же остановила проект. Исход при этом ровно такой, какой предсказывает база отрасли, где первая фаза пропускает дальше 52,0 процента программ: ничего исключительного не произошло, обычный отсев. Ускорение одного шага не ускоряет и не гарантирует следующий.</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единственное сопоставимое сравнение раздела: переход против перехода, одна и та же дробь с обеих сторон. Остальные числа двух замеров категории с отраслевой базой несопоставимы, и ставить их рядом нельзя.</a:t>
            </a:r>
          </a:p>
          <a:p>
            <a:r>
              <a:t/>
            </a:r>
          </a:p>
          <a:p>
            <a:r>
              <a:t>У сравнения есть слабая сторона, и её называют до вывода, а не после. Отраслевая доля посчитана на 4 933 переходах второй фазы; доля молекул машинного происхождения — на единицах, завершивших вторую фазу к сроку среза, и ограниченность этой выборки объявляет сам первоисточник. Разница в весе свидетельства — три порядка: одно число опирается на тысячи наблюдений, другое на несколько. К этому добавляется вторая оговорка: первоисточник замера напрямую не открылся, числа взяты из трёх независимых согласующихся пересказов, и сверка остаётся вторичной.</a:t>
            </a:r>
          </a:p>
          <a:p>
            <a:r>
              <a:t/>
            </a:r>
          </a:p>
          <a:p>
            <a:r>
              <a:t>Направление вывода здесь важнее самой цифры. По первой фазе авторы замера говорят о заметном превосходстве над историческими средними отрасли — восемьдесят-девяносто процентов против 52,0. По второй фазе те же авторы называют свой результат сопоставимым с отраслевой нормой. Лучшим они его не называют, и написать «похоже что лучше» значило бы поменять знак вывода при верном числе — ровно тот дефект, который этот раздел разбирает у чужих материалов.</a:t>
            </a:r>
          </a:p>
          <a:p>
            <a:r>
              <a:t/>
            </a:r>
          </a:p>
          <a:p>
            <a:r>
              <a:t>Осторожное объяснение, которое из двух чисел складывается: лёгкая первая фаза при обычной второй похожа на то, что модель помогает выбирать более безопасные, уже известные типы мишеней — отсюда хорошая переносимость — и не снимает риск отсутствия эффекта у пациентов. Рецензируемая публикация по единственной молекуле категории, дошедшей до третьей фазы, говорит это прямо: препараты, открытые с моделью, столкнулись с тем же уровнем провалов во второй фазе, что и остальные.</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Ноль одобрений — то твёрдое, что остаётся после всех оговорок двух замеров. При 75 активах по одному и 117 по другому, за десять лет существования категории полного одобрения регулятора не получил ни один препарат, найденный или спроектированный моделью. Факт подтверждён двумя независимыми агрегаторами. Он означает состояние категории на дату, а не приговор методу: появится первое одобрение — вывод придётся менять целиком, и это число проверяют перед каждым произнесением.</a:t>
            </a:r>
          </a:p>
          <a:p>
            <a:r>
              <a:t/>
            </a:r>
          </a:p>
          <a:p>
            <a:r>
              <a:t>Второй замер сам называет свои 117 активов верхней границей: заявления компаний о вкладе модели проверить нечем, и в набор попадает всё, где такой вклад заявлен. Разряд свидетельства тоже назван прямо — рецензируемый абстракт съезда, не полная статья: выше публикации в блоге и ниже статьи, и так это и стоит произносить.</a:t>
            </a:r>
          </a:p>
          <a:p>
            <a:r>
              <a:t/>
            </a:r>
          </a:p>
          <a:p>
            <a:r>
              <a:t>В публичных обзорах встречается «больше двухсот молекул в клинике». В этом разделе такое число не произносится: оба реальных замера дают 75 и 117, и двухсот не даёт ни один. Откуда взялись двести — неизвестно, и этого достаточно, чтобы число не брать.</a:t>
            </a:r>
          </a:p>
          <a:p>
            <a:r>
              <a:t/>
            </a:r>
          </a:p>
          <a:p>
            <a:r>
              <a:t>Про единственную молекулу, дошедшую до третьей фазы, известно точное. Вторая фаза: 71 пациент, 22 центра, двенадцать недель. Форсированная жизненная ёмкость лёгких выросла на 98,4 миллилитра в группе препарата против падения на 20,3 миллилитра в группе плацебо. Второе число и есть база: без лечения функция лёгких у этих пациентов продолжает падать, на месте она не стоит, и прирост считают от падения, а не от нуля. Из исследования выбыли 16 человек из 71. Медиана от основания компании до начала первой фазы по второму замеру — шесть с половиной лет: столько проходит до первого человека, а не до лекарства.</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разбор отличается от двух предыдущих предметом замера: здесь измерен не препарат, а последствие для людей, которые его делали.</a:t>
            </a:r>
          </a:p>
          <a:p>
            <a:r>
              <a:t/>
            </a:r>
          </a:p>
          <a:p>
            <a:r>
              <a:t>Испытание было устроено по правилам: рандомизированное, двойное слепое, с группой плацебо, 91 пациент от восемнадцати до шестидесяти пяти лет, двадцать восемь дней нанесения препарата на кожу. Первичная точка — безопасность и переносимость — достигнута. Вторичные точки эффективности, индекс тяжести экземы и шкала зуда, не достигнуты: препарат оказался не лучше плацебо по заявленным мерам улучшения. Это и означает «механизм правдоподобен, эффекта у пациентов нет». Разница выяснилась только на людях: ни граф связей, ни доклиника её не показали и показать не могли.</a:t>
            </a:r>
          </a:p>
          <a:p>
            <a:r>
              <a:t/>
            </a:r>
          </a:p>
          <a:p>
            <a:r>
              <a:t>По базе отрасли такой исход предсказуем. Переход второй фазы в третью — 28,9 процента, то есть провал на этом шаге норма воронки, а не неудача конкретной команды. Публичное обещание доводить препараты до регистрации самостоятельно было рассчитано на успех там, где отрасль даёт меньше трети, и противоречие предъявляется одним этим числом — без разговора о качестве модели, которая молекулу нашла.</a:t>
            </a:r>
          </a:p>
          <a:p>
            <a:r>
              <a:t/>
            </a:r>
          </a:p>
          <a:p>
            <a:r>
              <a:t>Что было дальше: инвестировать в актив прекратили сразу, следом ушли 180 рабочих мест, годом позже — ещё около трети штата и зарубежный офис, затем смена руководителя и объявленный план ухода с биржи. Исходную модель бизнеса — «сами доводим препараты до регистрации» — заменили сервисной: продажа платформы и ранних данных партнёрам. Заплатили сотрудники двумя волнами сокращений и публичные акционеры, для которых уход с биржи означает потерю ликвидности позиции. Статус этого ухода и текущая модель бизнеса со временем меняются, а вот порядок событий — обещание, провал середины воронки, отказ от обещания — уже не изменится.</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Предсказание структуры белка стоит здесь как инструмент внутри работы; сам метод — тема отдельной лекции курса, и в этом разделе он появляется только там, где измерен объём экспериментальной работы.</a:t>
            </a:r>
          </a:p>
          <a:p>
            <a:r>
              <a:t/>
            </a:r>
          </a:p>
          <a:p>
            <a:r>
              <a:t>Ожидание было прямое: если структуру можно предсказать за минуты, экспериментальная структурная биология должна сжаться. Числа депозитария этого не подтверждают. Рентгеновская кристаллография держит плато около девяти-десяти тысяч депозитов в год, и держит его с 2015 года — то есть выход предсказания на этом плато не отразился никак. Криоэлектронная микроскопия выросла за пять лет примерно в два с половиной раза, продолжая траекторию, начатую до появления предсказания. База сравнения здесь — сама же кривая до события: когда рост или плато начались раньше, приписывать их новому инструменту нельзя. Сами ряды депозитов взяты из пересказа статистики архива, а не прочитаны по таблице, и сверка по архиву остаётся обязательной.</a:t>
            </a:r>
          </a:p>
          <a:p>
            <a:r>
              <a:t/>
            </a:r>
          </a:p>
          <a:p>
            <a:r>
              <a:t>Где предсказание задачу не решает. Оно выдаёт одну статичную укладку вместо набора состояний, в которых белок живёт. Прочность связывания вещества с белком оно не предсказывает — уверенная поза и прочное связывание суть разные вопросы. Для подвижных и многосоставных сборок точность падает, а уверенность модели при этом может остаться высокой. Документированную ошибку применения называет сама область: принять уверенную оценку за ответ о связывании и пропустить экспериментальную проверку.</a:t>
            </a:r>
          </a:p>
          <a:p>
            <a:r>
              <a:t/>
            </a:r>
          </a:p>
          <a:p>
            <a:r>
              <a:t>Появился и новый шаг — проверка предсказания против экспериментальных данных, и делает её тот же структурный биолог. Рядом стоит дизайн белков с нуля: автор метода сам говорит, что прочности связывания сконструированных антител для клинического кандидата не хватает — метод даёт отправную точку. Поэтому честная формулировка не «шаг исчез», а «нагрузка перераспределилась внутри того же шага».</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собирается тремя формами, и все три уже предъявлены на разборах. Нагрузка переехала на другой шаг — дважды: на масштабе отрасли весь объём работы стоит в клинических фазах, которые не подешевели, а на масштабе одной молекулы доклиника сжалась в месяцы, и остановила проект переносимость у людей. Объём на том же месте упал — расчётный отбор соединений под уже известную мишень: тот же шаг, тот же исполнитель, меньше физических итераций «синтезируй и протестируй». Изменился порядок работ — но на масштабе модели бизнеса, а не процесса одного препарата, и это заимствование формы на другой масштаб, сказанное прямо.</a:t>
            </a:r>
          </a:p>
          <a:p>
            <a:r>
              <a:t/>
            </a:r>
          </a:p>
          <a:p>
            <a:r>
              <a:t>Чего раздел не утверждает: что подход не работает. Ноль одобрений — состояние категории на дату, при десятках активов в клинике и одной молекуле в третьей фазе; приговором методу оно не является. И чего раздел не касается: производства лекарственной формы на линии.</a:t>
            </a:r>
          </a:p>
          <a:p>
            <a:r>
              <a:t/>
            </a:r>
          </a:p>
          <a:p>
            <a:r>
              <a:t>Что отсюда забирают за пределы фармацевтики — два навыка чтения чисел. Первый: прежде чем сравнивать две доли, проверить знаменатели, потому что «перешли» и «завершили» выглядят одинаково и значат разное. Второй: мерить пропускную способность, и мерить её у того шага, который вы не трогали. Ускорение участка, который не был узким местом, меняет длину всего пути ровно на ноль — и видно это не на одном проекте, а на отрасли с десятилетней историей, шестьюдесятью тремя компаниями и ста семнадцатью активами в клинике.</a:t>
            </a:r>
          </a:p>
          <a:p>
            <a:r>
              <a:t/>
            </a:r>
          </a:p>
          <a:p>
            <a:r>
              <a:t>Дальше вечер меняет масштаб: от отрасли, где удешевили начало целиком, — к одному человеку, который принимает решение, и к тому, что происходит с его собственным навыком.</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стоит после лекарства и перед сборкой не по случайности порядка, а потому что отвечает на вопрос, который все предыдущие разделы оставили открытым. Раздел про лекарство закончился выводом: узкое место лежит не на шаге, который ускорили, а на шаге, которого никто не трогал. Эта же мысль здесь поворачивается на человека: есть ещё один шаг, которого никто не трогал, — сам человек, который решает. Весь вечер измеряли отрасль: поток тревог, документ, воронку. Ни один из этих замеров не говорит, что происходит с тем, кто внутри этой работы остаётся решающим звеном.</a:t>
            </a:r>
          </a:p>
          <a:p>
            <a:r>
              <a:t/>
            </a:r>
          </a:p>
          <a:p>
            <a:r>
              <a:t>Раздел отличается от общего разговора о влиянии техники на людей тем, что в нём есть числа, снятые на реальной работе, а не домыслы о будущем или общие тревоги. Чисел мало, и именно поэтому они дорогие: единственное прямое измерение деквалификации на реальной, а не лабораторной работе случилось один раз, и повторения у него нет. Раздел называет это прямо, не прячет и не смягчает.</a:t>
            </a:r>
          </a:p>
          <a:p>
            <a:r>
              <a:t/>
            </a:r>
          </a:p>
          <a:p>
            <a:r>
              <a:t>Три предмета раздела идут по порядку. Сначала — доля обнаружения, измеренная у тех же врачей до появления помощника и после периода работы с ним: единственное прямое свидетельство того, что навык расходуется, если инструмент исключить из работы. Затем — кто теперь исполнитель: какие новые роли и шаги появились в процессе, когда часть решения стала доверяться модели. И наконец — то, чего про доверие не измерено вовсе: раздел не стесняется сказать, где у него нет данных, а есть только предположение.</a:t>
            </a:r>
          </a:p>
          <a:p>
            <a:r>
              <a:t/>
            </a:r>
          </a:p>
          <a:p>
            <a:r>
              <a:t>Это последний материал содержания вечера: дальше в деке — только свод. Поэтому раздел закрывает не тему, а саму ось лекции, и закрывает её тем же приёмом, которым лекция весь вечер читает чужие числа: называет, что измерено, а что нет.</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Инженер привык считать квалификацию выданной: диплом получен, допуск оформлен, сертификат на руках. В медицине она устроена иначе, и это различение несущее для всего раздела: врачебный навык — расходуемое. Держат его три опоры, работающие одновременно. Объём практики: профессиональные общества назначают минимальное число процедур в год, ниже которого специалист считается выпавшим из формы, и снаружи это проверяется одной величиной — сколько раз человек процедуру выполнил. Аккредитация: допуск выдаётся к одному виду деятельности, привязан к рабочему месту и к процедуре, его можно сузить, приостановить, не продлить. Повторная сертификация: квалификация подтверждается периодически, и между двумя подтверждениями состояние специалиста меняется, причём в обе стороны.</a:t>
            </a:r>
          </a:p>
          <a:p>
            <a:r>
              <a:t/>
            </a:r>
          </a:p>
          <a:p>
            <a:r>
              <a:t>Три опоры отвечают на один вопрос — держится ли человек в форме, — и ни одна не спрашивает самого человека. Профессия не спрашивает врача, в форме ли он: она считает за него. Для колоноскопии счёт устроен двумя показателями. Доля обнаружения — доля процедур, в которых врач нашёл хотя бы одно предраковое образование, от всех выполненных им. Её нельзя получить старанием, волей или аккуратностью в описании: образование, за которым надо заглянуть под складку, попадает в знаменатель независимо от того, заглянул врач или нет, а в числитель — только если заглянул. Поэтому доля обнаружения измеряет поведение. Время выведения прибора — величина дисциплинарная: осмотр делается при выведении эндоскопа, минимальное время назначено рекомендациями и засекается таймером.</a:t>
            </a:r>
          </a:p>
          <a:p>
            <a:r>
              <a:t/>
            </a:r>
          </a:p>
          <a:p>
            <a:r>
              <a:t>Отсюда и сама картина. Врач вернулся после года без процедур, допуск не отзывали — отзывать его было не за что. Первая процедура прошла без осложнений, протокол написан, пациент отпущен домой. Обратной связи нет и не будет: образование, которое не увидели, остаётся в человеке до следующего обследования, а оно через годы. Плохой осмотр выглядит ровно как хороший осмотр, в котором ничего не нашли, — и самочувствие специалиста поэтому негодно как прибор для измерения его формы.</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Разбор начинается ценой обеих ошибок, и называется она прежде любой точности — до того, как прозвучит хоть одна цифра про модель. Для колоноскопии скрининга цена эта такая.</a:t>
            </a:r>
          </a:p>
          <a:p>
            <a:r>
              <a:t/>
            </a:r>
          </a:p>
          <a:p>
            <a:r>
              <a:t>Пропустить образование. Аденома остаётся в человеке до следующего обследования — так и возникает болезнь, найденная между двумя обследованиями, предмет, из-за которого доля обнаружения вообще существует как показатель. Цена пропуска считается в стадии, на которой болезнь найдут в следующий раз, и в числе вариантов лечения, оставшихся к тому моменту.</a:t>
            </a:r>
          </a:p>
          <a:p>
            <a:r>
              <a:t/>
            </a:r>
          </a:p>
          <a:p>
            <a:r>
              <a:t>Увидеть лишнее. Образование снимают, и снятие даёт кровотечение с известной частотой; материал уходит на гистологию; пациент получает повторный визит и повторную подготовку. Цена ложной тревоги считается в осложнениях, визитах и работе лаборатории.</a:t>
            </a:r>
          </a:p>
          <a:p>
            <a:r>
              <a:t/>
            </a:r>
          </a:p>
          <a:p>
            <a:r>
              <a:t>Две цены несимметричны, и несимметричность эту назначил орган здравоохранения, когда решал, кого и с какой периодичностью звать на обследование, — задолго до того, как кто-нибудь измерил точность какого-нибудь помощника. Это существенно: порог здесь не свойство модели и не выбор врача, он назначен решением о программе.</a:t>
            </a:r>
          </a:p>
          <a:p>
            <a:r>
              <a:t/>
            </a:r>
          </a:p>
          <a:p>
            <a:r>
              <a:t>И третье, из чего растёт весь раздел: обратная связь приходит через годы. Цена ошибки зависит от того, сколько прошло между ошибкой и её обнаружением, — а здесь между ними стоит интервал скрининговой программы. Поэтому плохой осмотр не чувствуется плохим: внутри процедуры нет ничего, что сообщило бы врачу о пропуске. В инженерной работе о промахе сообщает ближайшая сборка, проверка или обзор кода, в тот же день; здесь ближайший прибор — следующий визит того же пациента, через годы и к другому врачу. Отсюда и устройство трёх опор, которыми держат навык: они считают за человека именно потому, что сам он узнать не может.</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второй шаг формы разбора — тот, на пропуске которого разборы и теряются. Модель, сравнённая с пустым местом, выигрывает всегда, и выигрыш этот ничего не значит: там, куда приходит помощник, уже работали два порядка, и оба измерены в той же единице — в доле обнаружения.</a:t>
            </a:r>
          </a:p>
          <a:p>
            <a:r>
              <a:t/>
            </a:r>
          </a:p>
          <a:p>
            <a:r>
              <a:t>Режим первый — дисциплина времени осмотра. Время выведения прибора удлинили с шести минут до девяти. Рандомизированное испытание, 1 027 пациентов, 514 против 513, время засекали по таймеру: доля обнаружения выросла с 27,1 до 36,6 процента при уровне значимости 0,001. Отдельное наблюдение даёт и ручку к этому режиму: каждая дополнительная минута выведения прибавляет около шести процентов к шансам найти аденому, измерено в окне от шести до тринадцати минут.</a:t>
            </a:r>
          </a:p>
          <a:p>
            <a:r>
              <a:t/>
            </a:r>
          </a:p>
          <a:p>
            <a:r>
              <a:t>Режим второй — второй наблюдатель в кабинете: на тот же экран, кроме врача, смотрит медицинская сестра. Сводный разбор трёх рандомизированных испытаний на 1 676 пациентах: с 39,3 до 45,7 процента, относительный риск 1,16 при интервале от 1,04 до 1,30; второй сводный разбор, на одиннадцати испытаниях и 8 278 пациентах, даёт 1,15 от 1,05 до 1,26. Оговорка самих авторов обзора называется вместе с числом: все включённые испытания несут высокий риск систематической ошибки, а выигрыша по обнаружению полипов и по продвинутым находкам в том же обзоре нет вовсе. И оговорка своя: часть эффекта режима может быть эффектом наблюдения за наблюдающим, и отделить одно от другого эти испытания не могли.</a:t>
            </a:r>
          </a:p>
          <a:p>
            <a:r>
              <a:t/>
            </a:r>
          </a:p>
          <a:p>
            <a:r>
              <a:t>Базы у двух приростов разные, поэтому между собой они не сравниваются; каждый сравнивается с приростом от помощника в своей работе. Вывод, ради которого шаг стоит отдельно: оба классических режима дают прирост того же порядка, что помощник, или больше, и ни один из них не бесплатен — первый стоит трёх минут времени врача на каждой процедуре, второй присутствия второго человека. А расхода навыка у этих двух режимов не измерял никто, и произносить это надо именно так: измерения нет. Сказать «они навык не расходуют» значило бы утверждать больше, чем измерено.</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Замысел разбора в том, где именно смотрели. В четырёх центрах внедрили помощника, подсвечивающего образование на видео в реальном времени, а затем посмотрели не на процедуры с ним, а на процедуры без него, выполненные теми же врачами: расход навыка виден только там, где инструмента нет.</a:t>
            </a:r>
          </a:p>
          <a:p>
            <a:r>
              <a:t/>
            </a:r>
          </a:p>
          <a:p>
            <a:r>
              <a:t>Состав. Девятнадцать эндоскопистов — шестнадцать гастроэнтерологов и три хирурга, у каждого больше двух тысяч выполненных колоноскопий, средний стаж 28 лет при разбросе от 8 до 39. Два окна по три месяца, помощник внедрён между ними. В основное сравнение вошли 1 443 процедуры без помощника: 795 в раннем окне и 648 в позднем. Медиана возраста пациентов 61 год, женщин 58,7 процента.</a:t>
            </a:r>
          </a:p>
          <a:p>
            <a:r>
              <a:t/>
            </a:r>
          </a:p>
          <a:p>
            <a:r>
              <a:t>Результат. Доля обнаружения в процедурах без помощника — 28,4 процента до внедрения, это 226 находок на 795 процедур, и 22,4 процента после, 145 находок на 648. Абсолютная разница минус 6,0 процентного пункта при доверительном интервале от минус 10,5 до минус 1,6 и уровне значимости 0,0089. В многофакторной модели работа врача рядом с помощником даёт отношение шансов 0,69 при интервале от 0,53 до 0,89. В той же модели возраст пациента от шестидесяти лет даёт 3,60 при интервале от 2,74 до 4,72 — то есть возраст пациента здесь заметно более сильный предсказатель выявляемости. Кратность между этими двумя величинами не произносится: деление отношения больше единицы на отношение меньше единицы ничего не сравнивает. Шесть пунктов лежат в том же диапазоне, где живут эффекты состава пациентов, и это задаёт масштаб находки, не отменяя её.</a:t>
            </a:r>
          </a:p>
          <a:p>
            <a:r>
              <a:t/>
            </a:r>
          </a:p>
          <a:p>
            <a:r>
              <a:t>Сила свидетельства названа на экране и не смягчается: ретроспективное наблюдательное, не рандомизированное; причинности оно не доказывает, и авторы этого не утверждают. Окна короткие, регион один, система помощника одна, повторения нет ни одного. «Падение на пятую часть» и «шесть пунктов» — одна величина в двух выражениях, и произносить надо одно, иначе два выражения сложатся как два свидетельства.</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Пара «дало — потребовало» — то единственное противопоставление, которое держится намеренно, потому что оно и есть содержание разбора.</a:t>
            </a:r>
          </a:p>
          <a:p>
            <a:r>
              <a:t/>
            </a:r>
          </a:p>
          <a:p>
            <a:r>
              <a:t>Дало: с включённым помощником врачи находят больше. Прирост доли обнаружения в рандомизированных испытаниях систем обнаружения образований измерен и повторён многократно, и скрыть эту половину значило бы сделать то, за что весь вечер разбирались поставщики, только в обратную сторону.</a:t>
            </a:r>
          </a:p>
          <a:p>
            <a:r>
              <a:t/>
            </a:r>
          </a:p>
          <a:p>
            <a:r>
              <a:t>Потребовало: умения искать самому. Расход виден за три месяца и у врачей со средним стажем 28 лет. Речь о натренированном навыке, который поддерживается объёмом выполнения, — старательность и внимательность здесь ни при чём, и падение шло ровно по центрам, а не у отдельных врачей.</a:t>
            </a:r>
          </a:p>
          <a:p>
            <a:r>
              <a:t/>
            </a:r>
          </a:p>
          <a:p>
            <a:r>
              <a:t>В сумме: помощник повышает результат, пока включён, и это состояние не бесплатно. Счёта в одной валюте — сколько прибавил включённый помощник против того, сколько убыло в выключенном состоянии, — не сделал никто, и выдавать его за измеренный нельзя.</a:t>
            </a:r>
          </a:p>
          <a:p>
            <a:r>
              <a:t/>
            </a:r>
          </a:p>
          <a:p>
            <a:r>
              <a:t>Форма восьмая словаря: исполнитель тот же, но стал хуже. Место работы, объём, порядок шагов и рука прежние; изменилось состояние самой руки. Соседние две формы выглядят подходящими, и обе проверку не проходят. Пятая требует, чтобы сменилась рука, а здесь сравнение построено внутри тех же девятнадцати врачей — на этом стоит всё измерение, и пятая форма утверждала бы смену исполнителя, которую измерение прямо исключает. Четыре-а говорит про объём операции, а здесь объём процедур тот же, упала доля находок; назвать это падением объёма значит подменить единицу измерения. Направление названо вниз осознанно: измерен один знак, обратный случай получит свой номер и будет назван, когда найдётся измеренным.</a:t>
            </a:r>
          </a:p>
          <a:p>
            <a:r>
              <a:t/>
            </a:r>
          </a:p>
          <a:p>
            <a:r>
              <a:t>То же явление измерено рандомизированно, но в учёбе: около тысячи старшеклассников, математика, три группы. Практика со свободным доступом к модели дала плюс 48 процентов к контролю, с учительскими ограничителями плюс 127; экзамен без модели у свободной группы оказался на 17 процентов хуже контроля, у группы с ограничителями — примерно на уровне контроля. Практика с неограниченным помощником создаёт видимость обучения, и там же измерено средство. Повторением клинической находки это не является: другая работа, другие люди, другая задача.</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Эта плоскость предъявляется в основном пробелом, и пробел добыт поиском — то есть он и есть результат, а не отсутствие работы.</a:t>
            </a:r>
          </a:p>
          <a:p>
            <a:r>
              <a:t/>
            </a:r>
          </a:p>
          <a:p>
            <a:r>
              <a:t>Пробел первый. Утверждение «одна грубая ошибка модели обрывает доверие к ней» как отдельная измеренная величина не опубликовано. То, что за него обычно выдают, измеряет выбор между моделью и человеком в задачах прогнозирования вне медицины, в лаборатории, в один сеанс, — и картину даёт мягче: доверие осыпается постепенно.</a:t>
            </a:r>
          </a:p>
          <a:p>
            <a:r>
              <a:t/>
            </a:r>
          </a:p>
          <a:p>
            <a:r>
              <a:t>Пробел второй, и он прямо про предмет раздела. Измерений того, как доверие врача к модели меняется за месяцы реальной работы, нет вовсе. Всё, что есть, снято в один сеанс, на подготовленных случаях. Однократный опыт измеряет реакцию; расход он измерить не может по своему устройству.</a:t>
            </a:r>
          </a:p>
          <a:p>
            <a:r>
              <a:t/>
            </a:r>
          </a:p>
          <a:p>
            <a:r>
              <a:t>Различать надо две вещи, и это различение уносится дальше любого числа: «измерения нет» и «измерено, что эффекта нет» — разные утверждения. Первое говорит о состоянии знания, второе о состоянии мира. Здесь первое.</a:t>
            </a:r>
          </a:p>
          <a:p>
            <a:r>
              <a:t/>
            </a:r>
          </a:p>
          <a:p>
            <a:r>
              <a:t>И одно свидетельство, которое в этой плоскости есть, — с точно названным разрядом. От 30 до 50 процентов опытных разработчиков сказали исследователям в опросе, что не сдают часть задач, потому что не хотят делать их без модели. Поведенческий факт рядом реален и сверен: задачи действительно не сдавали, и устройство замера пришлось перепроектировать. Но сколько именно их не сдавали, известно из самоотчёта участников, а не из телеметрии, — поэтому величина названа опросной. Предмет немедицинский, это разработка программ, и свидетельство числится переносом; свидетельством медицинской плоскости оно не становится. Отсюда правило чтения, годное далеко за пределами этого случая: заявленное отношение к инструменту и готовность без него работать — разные величины, у каждой свой разряд, и смешивать разряд поведения с разрядом самоотчёта нельзя даже тогда, когда оба говорят об одном и том же человеке. О качестве работы это свидетельство не говорит ничего — только о готовности работу делать.</a:t>
            </a:r>
          </a:p>
          <a:p>
            <a:r>
              <a:t/>
            </a:r>
          </a:p>
          <a:p>
            <a:r>
              <a:t>И одно средство, которое измерено: если человеку дают хоть немного поправить прогноз модели, он не бросает её после ошибки. Это устройство интерфейса, а не режим инструмента, и найдено оно тоже вне медицины.</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Третья плоскость спрашивает не про человека и не про число, а про устройство работы: кто теперь исполнитель, какие шаги появились и где подпись стала формальной.</a:t>
            </a:r>
          </a:p>
          <a:p>
            <a:r>
              <a:t/>
            </a:r>
          </a:p>
          <a:p>
            <a:r>
              <a:t>Появилась посредническая роль. При внедрении модели раннего предупреждения медицинские сёстры бригады быстрого реагирования стали переводить вывод модели на язык, которому поверит врач. Шаг «кто-то должен решить, доверять ли этой тревоге» не исчез — под него нашли человека, и человек этот не бесплатен. Там же замечено, что доверие выше у тех, кто работает с моделью руками, чем у врачей приёмного отделения, получающих готовый вывод. Сила свидетельства слабая: качественное исследование, пятнадцать интервью, то есть наблюдение роли, а не измерение эффекта.</a:t>
            </a:r>
          </a:p>
          <a:p>
            <a:r>
              <a:t/>
            </a:r>
          </a:p>
          <a:p>
            <a:r>
              <a:t>Появился целевой арбитраж, а рутинная перепроверка каждого случая ушла. В программе скрининга с моделью вместо второго читателя объём человеческого чтения ниже на 44,3 процента — промежуточный анализ безопасности той же программы, 80 033 женщины, и это его собственная выборка, не та, на которой считали чувствительность. Единого числа по разным внедрениям одной идеи нет: по направлению они согласуются, по величине расходятся, а разброс в опубликованных числах не называется — у прежней пары величин источник сверку не прошёл. Цена сдвига при этом посчитана: разборов расхождения становится на 53 процента больше при разбросе от 22 до 142, и один такой разбор стоит двух минут двенадцати секунд против сорока восьми секунд на чтение. Структура защиты от ошибки меняется целиком: было два независимых взгляда, стало калибровка одного порога плюс человеческий арбитраж расхождения, а это требует другого контроля качества, и заводить его надо отдельно.</a:t>
            </a:r>
          </a:p>
          <a:p>
            <a:r>
              <a:t/>
            </a:r>
          </a:p>
          <a:p>
            <a:r>
              <a:t>Третья строка — измеренная зависимость от прежнего контакта с инструментом: у вернувшихся участников замера минус 18 процентов, у новых минус 4. Знак отрицательный в обеих группах, доверительные интервалы накрыли ноль. Точечные оценки есть, значимости нет, и произносить это надо одной фразой. Предмет здесь легко испортить в обе стороны: «вернувшиеся» и «новые» — это опыт участия в самом замере, а стаж в профессии там не измеряли вовсе.</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заканчивается своими пробелами, и это первая проверка на себе того требования, которое весь вечер предъявлялось чужим числам.</a:t>
            </a:r>
          </a:p>
          <a:p>
            <a:r>
              <a:t/>
            </a:r>
          </a:p>
          <a:p>
            <a:r>
              <a:t>Первое. На реальной работе измерено однажды: падение доли обнаружения — одна страна, четыре центра, наблюдательный дизайн, опубликованное исправление, три письма и ответ авторов. Содержание этих четырёх текстов за платным доступом и нам неизвестно, поэтому ссылаться можно на их существование и состав, но не на содержание: ссылка на то, чего не читали, была бы ровно тем, в чём лекция упрекает поставщика.</a:t>
            </a:r>
          </a:p>
          <a:p>
            <a:r>
              <a:t/>
            </a:r>
          </a:p>
          <a:p>
            <a:r>
              <a:t>Второе. Повторения на реальной работе нет, и пробел назван числом: двадцать две отдельные попытки — восемнадцать поисковых формулировок и четыре целевых обращения, включая поиск отечественных измерений. Число это про поиск; о самом предмете оно не говорит ничего, и нужно оно затем, чтобы отличить «искали и не нашли» от «не искали»: внешне эти две вещи выглядят одинаково, а первая проверяема. Вместо измерений нашлись организаторские величины — доля согласия врача с подсказкой, медиана времени обработки, объём обработанных исследований — и пресс-релизные цифры, годные как упражнение на недостоверность.</a:t>
            </a:r>
          </a:p>
          <a:p>
            <a:r>
              <a:t/>
            </a:r>
          </a:p>
          <a:p>
            <a:r>
              <a:t>Третье. Продольного измерения навыка у тех, кто учился сразу с помощником, не существует вовсе: про людей в этой аудитории данных нет ни у кого — ни о просевшем навыке, ни о сохранившемся. Клиническая находка эту пустоту не заполняет: она снята на специалистах с без малого тридцатилетним стажем.</a:t>
            </a:r>
          </a:p>
          <a:p>
            <a:r>
              <a:t/>
            </a:r>
          </a:p>
          <a:p>
            <a:r>
              <a:t>И пустая клетка. Операция, которая должна была бы появиться вместе с помощником — периодическая работа без него или переподготовка, — как раз не появилась, и её отсутствие входит в находку. Написать туда «переаттестация» нельзя: такой процедуры нет ни в одной юрисдикции. Отсюда практическое следствие: ставя помощника в контур, измерять надо и результат с ним, и результат без него, и не однажды. Показатель для такого замера у профессии есть, а процедуры нет — и требовать от этого числа большего, чем оно весит, была бы та же ошибка, что требовать работы от заявленной точности без знаменателя.</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раздел не добавляет к вечеру ни одного нового случая и ни одного нового числа — кроме одного: счёта того, сколько раз за вечер выигрыш оказался приписан не обученной модели. Всё остальное здесь уже предъявлено, каждое со своей базой, и задача раздела — сложить предъявленное так, чтобы из суммы читалось то, чего не видно в отдельном случае.</a:t>
            </a:r>
          </a:p>
          <a:p>
            <a:r>
              <a:t/>
            </a:r>
          </a:p>
          <a:p>
            <a:r>
              <a:t>Складывается это по двум осям. Первая — словарь форм: девять способов, которыми работа меняет место, объём, руку, время, последствие и состояние руки. Словарь нужен затем, чтобы вместо образа «уехало вправо» на каждом случае стояла названная форма с числом; один образ описывает одну форму и врёт там, где работа не переехала, а удвоилась или исчезла. Две строки словаря стоят без числа, и это произносится вслух: за этот вечер ни одного подтверждённого случая, где шаг исчез бы совсем, не встретилось, а у формы, мерящей порядок работ, единственное её число ушло вместе со снятым материалом.</a:t>
            </a:r>
          </a:p>
          <a:p>
            <a:r>
              <a:t/>
            </a:r>
          </a:p>
          <a:p>
            <a:r>
              <a:t>Вторая ось — что стало с человеком, который эту работу делает: поведение, психология, процесс и подпись. Она отвечает на другой вопрос, чем первая: первая говорит, куда переехала работа, вторая — что произошло с тем, кто её делает.</a:t>
            </a:r>
          </a:p>
          <a:p>
            <a:r>
              <a:t/>
            </a:r>
          </a:p>
          <a:p>
            <a:r>
              <a:t>Между двумя осями стоят три кадра, каждый из которых предъявляет требование к самим себе. Счёт приписок отвечает на вопрос, сколько раз за вечер результат принадлежал не модели, а порогу, протоколу, новой роли или объёму — и отдельной графой на то, сколько раз число выросло по дороге от первоисточника к пересказу. Градация замера называет уровень, на котором измерен каждый разбор вечера, включая самые сильные, и честный вывод этого кадра неудобен: исхода пациента нет ни у одного разбора ядра. Сводная сетка показывает, что клетки «задача × модальность» узнаваемы по прошлой лекции, а процедуры, которыми в них удерживают цену ошибки, у каждой клетки свои — и одна строка в этой сетке остаётся пустой.</a:t>
            </a:r>
          </a:p>
          <a:p>
            <a:r>
              <a:t/>
            </a:r>
          </a:p>
          <a:p>
            <a:r>
              <a:t>Закрывается раздел поимённым ответом на вопрос, с которого вечер начался. Ответ не общий: четыре ступени, на каждой своё дело человека и своё измерение.</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Сборка не вводит ни одного нового случая. Работ у неё три: назвать формой каждое изменение, которое вечер измерил; посчитать, сколько раз выигрыш был приписан не тому; и сказать, на каком уровне вообще мерили. Правило свода одно: на каждом случае названа форма словаря, и образ её не заменяет: «нагрузка уехала вправо» не произносится ни разу, потому что один образ описывает одну форму и врёт там, где работа удвоилась или исчезла.</a:t>
            </a:r>
          </a:p>
          <a:p>
            <a:r>
              <a:t/>
            </a:r>
          </a:p>
          <a:p>
            <a:r>
              <a:t>Первые формы мерят место и объём работы. Нагрузка переехала на другой шаг: воронка молекул, спроектированных моделью, против базы отрасли — одобрений регулятора ноль. Шаг появился: разбор расхождения при замене второго читателя моделью, разбор и отклонение тревоги как статья рабочего времени, служба вычитки машинных заметок со своим штатом, заранее утверждённый план изменений модели. У этой формы теперь есть счёт самого шага, и он в единицах труда: плюс 53 процента объёма арбитража, а один разбор расхождения против одного чтения дольше в 4,6 раза по медианам и в 2,75 по средним. Среднее произносится вместе с разбросом: тот же замысел при разных протоколах арбитража даёт от плюс 22 до плюс 142 процентов, то есть устройство нового шага само задаёт нагрузку. Нагрузка выросла на том же месте: модель раннего предупреждения — тревога приходит часто, подтверждается редко. Нагрузка на том же месте упала — форма, которая знака не несёт: упавший объём работы при верной подсказке оказывается выигрышем, а при ложной ценой. Форма говорит, что произошло с работой, и не говорит, хорошо это или плохо.</a:t>
            </a:r>
          </a:p>
          <a:p>
            <a:r>
              <a:t/>
            </a:r>
          </a:p>
          <a:p>
            <a:r>
              <a:t>Форма, которой за вечер не встретилось, предъявляется прочерком, и замазывать прочерк похожим случаем запрещено. Отмены шага без появления нового предмета не было ни разу: три кандидата проверены, и у каждого взамен появился новый шаг. Второй человеческий читатель действительно ушёл с рабочего места, но его работу делает модель. Ручная работа структурного биолога не исчезла: объём экспериментальных депозитов вырос, и появилась проверка предсказания. Рутинная перепроверка каждого случая ушла, а на её место пришёл разбор расхождения, посчитанный в минутах. Утверждать «модель не убирает шаги» при этом нельзя: это шире любого замера вечера.</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Вторая половина словаря мерит руку, время, последствие ошибки и состояние руки.</a:t>
            </a:r>
          </a:p>
          <a:p>
            <a:r>
              <a:t/>
            </a:r>
          </a:p>
          <a:p>
            <a:r>
              <a:t>Исполнитель сменился: одного из двух читателей в программе скрининга заменила модель — объём человеческого чтения ниже на 44,3 процента при большем числе найденных раков; промежуточный анализ безопасности, 80 033 женщины, и это его собственная выборка. Обратная сторона той же формы — пара «врач плюс модель» слабее самой модели там, где сильнее модель: в замере диагностического рассуждения модель в одиночку дала 92, а человек поверх модели 76.</a:t>
            </a:r>
          </a:p>
          <a:p>
            <a:r>
              <a:t/>
            </a:r>
          </a:p>
          <a:p>
            <a:r>
              <a:t>Изменился порядок работ: числа у этой формы на своде нет, и это произносится вслух — порядок работ переставлен, а посчитан как порядок он не был. Сместилась цена ошибки: разрыв между нормой «решает человек» и проверкой этой нормы — способность вмешаться проверена у 56 изделий из 717, срез июнь 2024 года.</a:t>
            </a:r>
          </a:p>
          <a:p>
            <a:r>
              <a:t/>
            </a:r>
          </a:p>
          <a:p>
            <a:r>
              <a:t>Исполнитель тот же, но стал хуже: падение доли обнаружения в процедурах без помощника у тех же девятнадцати врачей, с 28,4 до 22,4 процента, минус 6,0 процентного пункта. Второй подтверждающий случай вечера — хирурги с подсказкой модели на септическом шоке: 0,712 против 0,820 у хирургов без подсказки.</a:t>
            </a:r>
          </a:p>
          <a:p>
            <a:r>
              <a:t/>
            </a:r>
          </a:p>
          <a:p>
            <a:r>
              <a:t>Чем восьмая форма отличается от двух соседних. В пятой сменилась рука — здесь рука та же, и на этом стоит измерение: сравнение построено внутри тех же девятнадцати врачей, и пятая форма утверждала бы смену исполнителя, которую измерение прямо исключает. В форме четыре-а упал объём операции — здесь объём тот же, упала доля находок, то есть единицы измерения разные. Для проверки годится вопрос о знаменателе: у формы четыре-а его нет вовсе, там абсолютный объём; у восьмой он есть и не менялся.</a:t>
            </a:r>
          </a:p>
          <a:p>
            <a:r>
              <a:t/>
            </a:r>
          </a:p>
          <a:p>
            <a:r>
              <a:t>Пятая и восьмая формы стоят на одном разборе, и это не противоречие: у колоноскопии с помощником два состояния контура. Пока помощник включён, часть поиска делает модель, а человек подписывает результат. Когда выключен, та же рука находит меньше, чем находила до его появления. Измерен пока один знак; обратный случай получит свой номер, а не расширит это определение задним числом.</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Линия вечера звучит так: копаешь — а это не модель. Порог на приборе, таблица правил, оптика, протокол или новая роль в процессе. Линия эта про принадлежность выигрыша и вины, а не про их наличие: в том же вечере есть разборы, где выигрыш принадлежит именно модели, и они названы по именам. Счёт ведётся по реестру номинаций и берётся из реестра на день сборки: он читался десять, потом двенадцать, потом снова десять, и вписанное заранее соврало бы трижды.</a:t>
            </a:r>
          </a:p>
          <a:p>
            <a:r>
              <a:t/>
            </a:r>
          </a:p>
          <a:p>
            <a:r>
              <a:t>Граф три, и проверка у каждой своя.</a:t>
            </a:r>
          </a:p>
          <a:p>
            <a:r>
              <a:t/>
            </a:r>
          </a:p>
          <a:p>
            <a:r>
              <a:t>Первая: модели нет вовсе. Сортировка обращений оказалась деревом «если-то»; прибор, измеряющий насыщение крови кислородом, смещён до всякой модели, и система наследует смещение, не создавая его; тревога кардиомонитора — порог на приборе. Проверка здесь — убери модель: механизм продолжит работать, потому что модели в нём и не было. Цена при этом измерена в каждом случае: 88,8 процента ложных из 12 671 размеченной тревоги; расхождение у пациентов с тёмной кожей на 11,7 процента измерений против 3,6 у остальных; оценка 4,2 миллиарда и продажа активов за 500 тысяч фунтов.</a:t>
            </a:r>
          </a:p>
          <a:p>
            <a:r>
              <a:t/>
            </a:r>
          </a:p>
          <a:p>
            <a:r>
              <a:t>Вторая: модель есть, но результат принадлежит не ей — классу модели, методу, новой роли в процессе, объёму потока или пресс-сообщению. Снижение смертности принадлежит новой роли, а не качеству прогноза; «искусственный интеллект изобрёл лекарство» — расчёту физики связывания под уже известную мишень; «миллионы обработанных исследований» — объёму, без знаменателя и без доли ошибок. Проверка — спроси, от чего посчитан эффект.</a:t>
            </a:r>
          </a:p>
          <a:p>
            <a:r>
              <a:t/>
            </a:r>
          </a:p>
          <a:p>
            <a:r>
              <a:t>Третья: числа выросли при пересказе, и здесь ошибку делает не заявитель, а пересказчик, потому что первоисточник часто аккуратен. Экспонат — рецензируемый обзор, перепутавший шесть из семи своих первоисточников: наблюдательное исследование названо рандомизированным, 1 443 процедуры стали «более 23 000», восемь ординаторов — тридцатью двумя. Ошибка живёт выше блога, там, где читатель обычно уже не проверяет. Проверка — открой первоисточник и сверь выборку, дизайн и журнал. Для курса эта графа весит столько же, сколько две первые, по простой причине: пересказ встречается чаще, чем первоисточник.</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продолжение градации прибора, данной прошлой лекцией. Там спрашивали, чем измеряют: независимым прибором, прибором того же семейства, той же моделью или прибора нет вовсе. Здесь спрашивают, на каком уровне измеряют результат, и ступеней четыре: заявление поставщика, точность на корпусе, качество работы, исход пациента.</a:t>
            </a:r>
          </a:p>
          <a:p>
            <a:r>
              <a:t/>
            </a:r>
          </a:p>
          <a:p>
            <a:r>
              <a:t>Градация поднимает требование вечера на уровень выше и обращает его против самого вечера. Весь разговор требовал у каждого числа базу — от чего посчитан эффект. Градация добавляет: точность на корпусе — тоже посредник, она не говорит ни что изменилось в работе человека, ни что стало с больным.</a:t>
            </a:r>
          </a:p>
          <a:p>
            <a:r>
              <a:t/>
            </a:r>
          </a:p>
          <a:p>
            <a:r>
              <a:t>На верхней ступени стоят считанные разборы. Шведский скрининг: болезней, найденных между обследованиями, 1,55 против 1,76 на тысячу — и это не доказанное улучшение, показана не-худшесть. Глазное дно. Разработка лекарства: одобрений ноль. Модель раннего предупреждения — частично. Из этих разборов два дали нулевой результат по исходам, один — ноль одобрений, один — не-худшесть без доказанного улучшения; ни один из них не про состояние человека, работающего с моделью. Ступенью ниже, на качестве работы, лежат расход навыка и арбитраж. А всё ядро вечера — агрегат размеров эффекта, замер взгляда, подсказка по срезу, обратный знак, кардиограммы, ортопедия — стоит на точности корпуса.</a:t>
            </a:r>
          </a:p>
          <a:p>
            <a:r>
              <a:t/>
            </a:r>
          </a:p>
          <a:p>
            <a:r>
              <a:t>Отсюда вывод, и он неудобный: исхода пациента нет ни у одного разбора ядра. Никто не проверил, что случилось с больным из-за того, что врач стал хуже смотреть. На точности корпуса нельзя утверждать вред пациенту; на качестве работы нельзя утверждать исход; на заявлении поставщика нельзя утверждать ничего.</a:t>
            </a:r>
          </a:p>
          <a:p>
            <a:r>
              <a:t/>
            </a:r>
          </a:p>
          <a:p>
            <a:r>
              <a:t>Это не упрёк исследователям: такой замер стоит лет и требует исходов, которых в лабораторном устройстве опыта нет вовсе. Но назвать свою ступень обязан тот, кто весь вечер спрашивал про чужую. Поставить на верхнюю ступень явку на обследование или опережение клинического решения было бы соблазнительно — первое измеряет доступ, второе качество работы, — и подстановка смягчила бы собственный неудобный ответ. Градация же требует обратного: называть ступень вслух, в том числе свою.</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Оси этой сетки — тип задачи и модальность — наследуются от первой лекции курса дословно и здесь не переопределяются. Новое в ней третья колонка: какая процедура удерживает цену ошибки в каждой клетке.</a:t>
            </a:r>
          </a:p>
          <a:p>
            <a:r>
              <a:t/>
            </a:r>
          </a:p>
          <a:p>
            <a:r>
              <a:t>Четыре клетки заняты узнаваемыми инструментами, и ни одна из четырёх процедур удержания не совпадает с другой. Распознавание на изображении держат двойное чтение, арбитраж при расхождении, порог вмешательства и пересчёт прогностической ценности под местную распространённость. Прогноз на структурированных данных — разбор ложных тревог как статья рабочего времени, заранее утверждённый план изменений модели и передача данных о работе изделия регулятору. Поиск и генерацию на тексте — вычитка и подпись врача, разбор случая и границы допуска по заявленному назначению изделия. Генерацию структуры — доклиника, фазы испытаний, воронка переходов и регистрация. Вывод «те же клетки, другие процедуры» и есть эта колонка, прочитанная сверху вниз. Три сгустка инженер узнаёт по прошлой лекции; добавилась одна клетка, которой в клиническом контуре нет вовсе, и держит её воронка испытаний.</a:t>
            </a:r>
          </a:p>
          <a:p>
            <a:r>
              <a:t/>
            </a:r>
          </a:p>
          <a:p>
            <a:r>
              <a:t>Пятая строка остаётся пустой, и это содержание, а не недоделка. Процедуры, которая измеряла бы результат исполнителя без инструмента, не существует ни у кого, и ни одна из четырёх её не закрывает: двойное чтение считает находки при включённом контуре, разбор ложных тревог считает поток подсказок, вычитка проверяет текст модели, воронка испытаний проверяет молекулу. Ни одна не измеряет, что стало с человеком, когда инструмент выключили. Написать в эту клетку «переаттестация» нельзя — такой процедуры нет ни в одной юрисдикции; убрать строку тоже нельзя — таблица из четырёх занятых клеток читается как «на всё есть процедура», и это неправда.</a:t>
            </a:r>
          </a:p>
          <a:p>
            <a:r>
              <a:t/>
            </a:r>
          </a:p>
          <a:p>
            <a:r>
              <a:t>Второе, что читается прямо с сетки: чем позже в процедуре стоит проверка, тем дольше живёт ошибка. Для изображения она укладывается в смену, для текста — в момент подписи, для прогноза — в следующий срез данных для регулятора, для структуры — во вторую фазу испытаний, через годы. А в пятой строке проверки нет вовсе, и ошибка в ней не кончается никогда, потому что её никто не ищет.</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Эта таблица отвечает на другой вопрос, чем словарь форм. Словарь говорит, куда переехала работа; таблица — что стало с тем, кто её делает, и чем именно каждая строка держится.</a:t>
            </a:r>
          </a:p>
          <a:p>
            <a:r>
              <a:t/>
            </a:r>
          </a:p>
          <a:p>
            <a:r>
              <a:t>Поведение. Зрительный поиск сужается при неверной подсказке — лабораторное чтение с замером взгляда, воспроизведённое по направлению, причём в другой специальности прочтение вышло обратным. Верное решение меняется на неверное под влиянием совета — систематический обзор. Техника падает в работе без помощника после привыкания — наблюдательное исследование, с 28,4 до 22,4 процента, повторения нет. Доля отклоняемых тревог предельно высока — обзор отклонений.</a:t>
            </a:r>
          </a:p>
          <a:p>
            <a:r>
              <a:t/>
            </a:r>
          </a:p>
          <a:p>
            <a:r>
              <a:t>Психология. Объяснение повышает согласие и не повышает качество решения — полевой опыт. Запись приёма пишется быстрее, а вычитка остаётся — рандомизированное исследование вместе с замером рабочего времени.</a:t>
            </a:r>
          </a:p>
          <a:p>
            <a:r>
              <a:t/>
            </a:r>
          </a:p>
          <a:p>
            <a:r>
              <a:t>Процесс. Роль второго проверяющего переходит от человека к модели — рандомизированное испытание программы скрининга.</a:t>
            </a:r>
          </a:p>
          <a:p>
            <a:r>
              <a:t/>
            </a:r>
          </a:p>
          <a:p>
            <a:r>
              <a:t>Подпись. Норма требует человека финальным звеном, и это редко проверено — обзор поданной регуляторам документации, 56 изделий из 717. Стандарт надзора сформулирован как способность вмешаться, а не как присутствие, — нормативный текст, и формулировка эта не требует, чтобы человек смотрел каждое решение.</a:t>
            </a:r>
          </a:p>
          <a:p>
            <a:r>
              <a:t/>
            </a:r>
          </a:p>
          <a:p>
            <a:r>
              <a:t>Последняя строка обязательна, и без неё таблица врёт в одну сторону: читалась бы как перечень одних потерь. Разная структура ошибок человека и модели даёт выигрыш пары — агрегационный замер на 106 опытах, где знак эффекта пары переворачивается в зависимости от того, какая сторона сильнее на задаче, и оба интервала лежат целиком по одну сторону нуля. У этой строки есть направление и нет величины: долей взаимного перекрытия ошибок нет — такие измерения существуют, но их числа сверку по первоисточнику не прошли, и подставить их значило бы сделать то, за что вечер разбирает поставщиков. Сам агрегат при этом есть свод независимых повторений, то есть вопрос о воспроизведении в этой строке закрыт её устройством, а не оставлен без ответа.</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вечера звучал так: модель посмотрела первой — что теперь делает человек и кто это измерял. Ответ не общий, а поимённый, и ступеней четыре.</a:t>
            </a:r>
          </a:p>
          <a:p>
            <a:r>
              <a:t/>
            </a:r>
          </a:p>
          <a:p>
            <a:r>
              <a:t>Смотрит первым: читает сам, модель даёт второе мнение, при расхождении идёт арбитраж. Измерено рандомизированным испытанием программы скрининга — разряд свидетельства здесь сильный.</a:t>
            </a:r>
          </a:p>
          <a:p>
            <a:r>
              <a:t/>
            </a:r>
          </a:p>
          <a:p>
            <a:r>
              <a:t>Смотрит вторым: читает после модели. Внимание сужается, верное решение иногда меняется на неверное. Измерено лабораторным чтением с замером взгляда и систематическим обзором.</a:t>
            </a:r>
          </a:p>
          <a:p>
            <a:r>
              <a:t/>
            </a:r>
          </a:p>
          <a:p>
            <a:r>
              <a:t>Смотрит только спорное: разбирает то, что модель отметила, остальной поток проходит мимо. Измерено обзором отклонений тревог и внешними проверками модели раннего предупреждения.</a:t>
            </a:r>
          </a:p>
          <a:p>
            <a:r>
              <a:t/>
            </a:r>
          </a:p>
          <a:p>
            <a:r>
              <a:t>Подписывает не глядя: подпись есть, чтения нет. Измерено счётом секунд — медиана времени над подсказкой до её принятия около двух секунд, и принятое без предварительной проверки правится потом в 53 процентах случаев против 18. Замер этот сделан вне медицины, на программистах с ассистентом кода, и перенос назван переносом. Отдельным свидетельством, другого предмета и другого знаменателя, рядом стоит перепись допущенных изделий: способность человека вмешаться проверена у 56 из 717.</a:t>
            </a:r>
          </a:p>
          <a:p>
            <a:r>
              <a:t/>
            </a:r>
          </a:p>
          <a:p>
            <a:r>
              <a:t>Отсюда и ответ одной фразой: «человек в контуре» — не ответ, а вопрос. Четыре ступени — четыре разных устройства работы, и измерены они по-разному: первая рандомизированным испытанием, последняя счётом секунд, причём счётом вне медицины. Поэтому фраза «у нас человек в контуре» сама по себе не говорит ничего, пока не названа ступень.</a:t>
            </a:r>
          </a:p>
          <a:p>
            <a:r>
              <a:t/>
            </a:r>
          </a:p>
          <a:p>
            <a:r>
              <a:t>Четвёртая ступень — не чья-то вина и не упрёк врачу: она следствие устройства процедуры и переделывается процедурой, а не внимательностью. Если у подтверждения нет времени в расписании, подпись стоит, а чтения нет.</a:t>
            </a:r>
          </a:p>
          <a:p>
            <a:r>
              <a:t/>
            </a:r>
          </a:p>
          <a:p>
            <a:r>
              <a:t>Четыре ступени описывают процедуру, а не автономию. Новой лестницы автономии здесь не вводится: лестницы в курсе уже есть, и сводная таблица их стоит в финальной лекции.</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Закрытие устроено как сверка, а не как объявление. Фраза, которой открылся вечер, — что участие человека в медицинском решении обязательно не потому, что человек точнее, — за три кадра до конца перестаёт быть заявлением и становится ведомостью: у каждой из трёх её опор есть разбор, который её оплатил, и число, которым он это сделал. Это и есть разница между тезисом и утверждением: тезис произносят, утверждение предъявляют со счётом.</a:t>
            </a:r>
          </a:p>
          <a:p>
            <a:r>
              <a:t/>
            </a:r>
          </a:p>
          <a:p>
            <a:r>
              <a:t>Второй кадр закрытия отрабатывает долг перед прошлой лекцией. Та закончилась мыслью о необратимости, и зал её слышал. Вечер эту мысль подтвердил и внёс в неё поправку, которую стоит знать: отзыв существует, он посчитан, и значительная часть отзывов приходится на первый год работы изделия. А вот решения, принятые по этому изделию за тот год, не отзываются вместе с ним. Необратимы не изделия — необратимы решения, принятые по ним до отзыва. Формулировка «в медицине всё необратимо» шире замера; разрыв между обратимостью изделия и необратимостью решения измерен, и это сильнее исходной фразы.</a:t>
            </a:r>
          </a:p>
          <a:p>
            <a:r>
              <a:t/>
            </a:r>
          </a:p>
          <a:p>
            <a:r>
              <a:t>Там же отвечается вопрос, зачем медицина шла в курсе после машиностроения: та же работа с той же парой вопросов — что стоит ошибиться в обе стороны и кто за это отвечает, — только граница допустимого проведена в другом месте, и проведена она процедурой, а не чувством.</a:t>
            </a:r>
          </a:p>
          <a:p>
            <a:r>
              <a:t/>
            </a:r>
          </a:p>
          <a:p>
            <a:r>
              <a:t>Последний кадр — вопросы. Он существует отдельным кадром не ради оформления: на прошлой лекции слайда под вопросы не было ни одного, и вопросов не было тоже. Выходить было некуда, и закрытие затухло, вместо того чтобы сесть. Здесь есть куда выйти, и на кадре стоит один вопрос — не о материале лекции, а о собственном рабочем контуре слушателя, с тремя проверками рядом, чтобы отвечать было с чего начать.</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Закрытие устроено как сверка, а не как объявление. Фраза прозвучала на входе обязательством вечера; здесь она возвращается заработанной, и доказывать её заново не нужно — нужно предъявить ведомость по каждой опоре.</a:t>
            </a:r>
          </a:p>
          <a:p>
            <a:r>
              <a:t/>
            </a:r>
          </a:p>
          <a:p>
            <a:r>
              <a:t>Право подписи выдано человеку. При разборе случая комиссия оценивает действия человека, и вопроса о модели в этой процедуре нет. И измерено, как редко проверяют, что человек способен этим правом воспользоваться: способность вмешаться проверена у 56 радиологических изделий из 717, срез июнь 2024 года.</a:t>
            </a:r>
          </a:p>
          <a:p>
            <a:r>
              <a:t/>
            </a:r>
          </a:p>
          <a:p>
            <a:r>
              <a:t>Ошибается иначе. У этой опоры величины нет, и сказать это надо той же строкой, которой весь вечер требовалась база у чужих чисел: доли взаимного перекрытия ошибок человека и модели не измерены. Такие измерения существуют, но их числа сверку по первоисточнику не прошли, и подставить их здесь значило бы сделать в ведомости ровно то, за что вечер разбирает поставщиков, — причём на той минуте, когда объявляется закрытым собственный долг. Держится опора механизмом и структурой: на 106 опытах пара работает хуже самой модели там, где сильнее модель, и лучше обеих сторон там, где сильнее человек, — то есть знак результата пары задаёт распределение ошибок по случаям. Рядом измеренная асимметрия отклонений: более точные находки модели отклоняли чаще, чем менее точные свои. Вместе это подтверждает направление — ошибки человека и модели лежат на разных случаях — и не подтверждает величину. Опоре этого достаточно: она утверждает, что ошибки расходятся, а на скольких случаях — не измерено.</a:t>
            </a:r>
          </a:p>
          <a:p>
            <a:r>
              <a:t/>
            </a:r>
          </a:p>
          <a:p>
            <a:r>
              <a:t>Отменить нельзя. Изделие отзывают, и это посчитано: из 950 допущенных изделий с моделью отзывались 60, на них 182 отзывных события, и 43,4 процента отзывов приходятся на первый год; срез ноябрь 2024 года. Решения, принятые по изделию за этот год, вместе с ним не отзываются. Два знаменателя рядом — 717 и 950 — приходят из двух разных работ при разных срезах, поэтому у каждого числа стоит своя дата.</a:t>
            </a:r>
          </a:p>
          <a:p>
            <a:r>
              <a:t/>
            </a:r>
          </a:p>
          <a:p>
            <a:r>
              <a:t>Ведомость не добавляет ни одной опоры и ни одной проверки: их три и три, они заявлены на входе, и четвёртая опора в закрытии означала бы, что обещание было неполным.</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Прошлая лекция закончилась фразой, произнесённой залу: партию можно отозвать, решение о человеке отозвать нельзя. Этот вечер тезис отработал измеренным материалом — тезис подтверждается, и к нему есть поправка, которая делает его сильнее.</a:t>
            </a:r>
          </a:p>
          <a:p>
            <a:r>
              <a:t/>
            </a:r>
          </a:p>
          <a:p>
            <a:r>
              <a:t>Первая половина подтверждается буквально и даже шире, чем произносилась: отзывается не только партия деталей, но и изделие с обученной моделью внутри. Из 950 допущенных изделий отзывались 60, на них 182 отзывных события, и 79 из них — 43,4 процента — пришлись на первые двенадцать месяцев после допуска, примерно вдвое чаще обычного для этого пути допуска; срез ноябрь 2024 года. Изделия без заявленной клинической проверки отзывались чаще: 3,4 отзыва на изделие против 1,9 у проверенных ретроспективно. А около шестидесяти процентов отзывов к концу исследования оставались неразрешёнными.</a:t>
            </a:r>
          </a:p>
          <a:p>
            <a:r>
              <a:t/>
            </a:r>
          </a:p>
          <a:p>
            <a:r>
              <a:t>Вторая половина подтверждается двумя разборами вечера. В исследовании подбора дозы два смертельных исхода — программу остановили, исходы остались. Техника, упавшая в процедурах без помощника, — те процедуры уже проведены, и переделать их нельзя.</a:t>
            </a:r>
          </a:p>
          <a:p>
            <a:r>
              <a:t/>
            </a:r>
          </a:p>
          <a:p>
            <a:r>
              <a:t>Поправка, которую стоит произнести: отзыв существует, работает и посчитан. Изделие отзывается — необратимы решения, принятые по нему до отзыва. Сорок три процента отзывов приходятся на первый год работы изделия, и решения этого года остаются. Формулировка «в медицине всё необратимо» шире замера, и проверить её нечем. Формулировка «между обратимостью изделия и необратимостью решения есть разрыв, и он измерен» проверяема, и её можно приложить к своему рабочему контуру: спросить, что в нём отзывается, а что остаётся после отзыва.</a:t>
            </a:r>
          </a:p>
          <a:p>
            <a:r>
              <a:t/>
            </a:r>
          </a:p>
          <a:p>
            <a:r>
              <a:t>И честная оговорка про охват: оба оставшихся разбора лежат внутри медицинского контура, где решение принимал тот, кто за него отвечает. Третий, в котором необратимость касалась решения о лечении, принятого не врачом, снят вместе с изъятой темой, и усиливать опору взамен нечем. Дальше курс идёт в отрасль, где ошибку почти всегда можно отменить, и спор там о принадлежности результата, а не о цене ошибки: смена вопроса и есть переход.</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строки под вопросом — это и есть то, что вечер оставляет в руках. Каждая из них проверяема на конкретной системе, и каждая уже была применена на разборе, а не придумана в конце.</a:t>
            </a:r>
          </a:p>
          <a:p>
            <a:r>
              <a:t/>
            </a:r>
          </a:p>
          <a:p>
            <a:r>
              <a:t>Первая проверка отделяет проверку от её видимости. Если единственное, по чему человек сверяет вывод модели, — это объяснение самой модели, то проверки нет: объяснение покупает согласие, а не качество, и это измерено. Упрощённое объяснение неверной рекомендации уронило точность выбора ниже той, которую тот же человек даёт без всякой модели. Независимый источник истины — это другой прибор, другой анализ, другой человек или сам предмет; самообъяснение в этот список не входит.</a:t>
            </a:r>
          </a:p>
          <a:p>
            <a:r>
              <a:t/>
            </a:r>
          </a:p>
          <a:p>
            <a:r>
              <a:t>Вторая проверка превращает слово «контроль» в величину. У любого контура, где человек подтверждает решение модели, есть две считаемые доли: как часто он возражает и как часто возражает правильно. Если ни одна из них не измерена — утверждение «человек проверяет» ничем не отличается от утверждения «человек подписывает». В разборах вечера это различие было видно дважды: там, где подсказка приходила раньше собственного вывода, человек возражал реже и хуже; там, где процедуру перестроили и человек смотрел только расхождения, возражение стало отдельной работой — и её объём оказалось возможно посчитать.</a:t>
            </a:r>
          </a:p>
          <a:p>
            <a:r>
              <a:t/>
            </a:r>
          </a:p>
          <a:p>
            <a:r>
              <a:t>Третья проверка — про физику, а не про старательность. У проверки есть длительность, и она сравнивается с объёмом, который надо прочитать, чтобы проверка состоялась. Измеренная медиана проверки подсказки — секунды; за это время подсказку нельзя прочесть, и то, что принято без проверки, правится потом заметно чаще. Отсюда вывод, который переносится на любую отрасль: требование «человек подтверждает» выполнимо только тогда, когда у подтверждения есть время в расписании. Если его нет, подпись стоит, а чтения нет, и переделывается это процедурой, а не внимательностью.</a:t>
            </a:r>
          </a:p>
          <a:p>
            <a:r>
              <a:t/>
            </a:r>
          </a:p>
          <a:p>
            <a:r>
              <a:t>Вопрос задан про собственный рабочий контур, а не про медицину: медицинского опыта он не требует, а автоматический элемент, решающий что-то за человека, есть сегодня почти в каждом рабочем контуре.</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554480"/>
            <a:ext cx="11185855" cy="3840480"/>
          </a:xfrm>
          <a:prstGeom prst="rect">
            <a:avLst/>
          </a:prstGeom>
          <a:noFill/>
        </p:spPr>
        <p:txBody>
          <a:bodyPr wrap="square" lIns="0" rIns="0" tIns="0" bIns="0" anchor="t">
            <a:spAutoFit/>
          </a:bodyPr>
          <a:lstStyle/>
          <a:p>
            <a:pPr algn="l">
              <a:lnSpc>
                <a:spcPct val="122000"/>
              </a:lnSpc>
            </a:pPr>
            <a:r>
              <a:rPr sz="3400" b="0" i="0">
                <a:solidFill>
                  <a:srgbClr val="21295C"/>
                </a:solidFill>
                <a:latin typeface="Arial"/>
              </a:rPr>
              <a:t>AI в медицине и фармацевтике</a:t>
            </a:r>
          </a:p>
          <a:p>
            <a:pPr algn="l">
              <a:lnSpc>
                <a:spcPct val="122000"/>
              </a:lnSpc>
              <a:spcBef>
                <a:spcPts val="1200"/>
              </a:spcBef>
            </a:pPr>
            <a:r>
              <a:rPr sz="3400" b="0" i="0">
                <a:solidFill>
                  <a:srgbClr val="21295C"/>
                </a:solidFill>
                <a:latin typeface="Arial"/>
              </a:rPr>
              <a:t/>
            </a:r>
            <a:r>
              <a:rPr sz="3400" b="0" i="0">
                <a:solidFill>
                  <a:srgbClr val="21295C"/>
                </a:solidFill>
                <a:latin typeface="Arial"/>
              </a:rPr>
              <a:t>Лекция 7</a:t>
            </a:r>
          </a:p>
          <a:p>
            <a:pPr algn="l">
              <a:lnSpc>
                <a:spcPct val="122000"/>
              </a:lnSpc>
              <a:spcBef>
                <a:spcPts val="1200"/>
              </a:spcBef>
            </a:pPr>
            <a:r>
              <a:rPr sz="3400" b="0" i="0">
                <a:solidFill>
                  <a:srgbClr val="21295C"/>
                </a:solidFill>
                <a:latin typeface="Arial"/>
              </a:rPr>
              <a:t/>
            </a:r>
            <a:r>
              <a:rPr sz="1700" b="0" i="0">
                <a:solidFill>
                  <a:srgbClr val="21295C"/>
                </a:solidFill>
                <a:latin typeface="Arial"/>
              </a:rPr>
              <a:t>Цену ошибки в медицине удерживает процедура вокруг человека: двойное чтение, второе мнение, консилиум, информированное согласие.</a:t>
            </a:r>
          </a:p>
          <a:p>
            <a:pPr algn="l">
              <a:lnSpc>
                <a:spcPct val="122000"/>
              </a:lnSpc>
              <a:spcBef>
                <a:spcPts val="1200"/>
              </a:spcBef>
            </a:pPr>
            <a:r>
              <a:rPr sz="1700" b="0" i="0">
                <a:solidFill>
                  <a:srgbClr val="21295C"/>
                </a:solidFill>
                <a:latin typeface="Arial"/>
              </a:rPr>
              <a:t/>
            </a:r>
            <a:r>
              <a:rPr sz="1700" b="0" i="0">
                <a:solidFill>
                  <a:srgbClr val="21295C"/>
                </a:solidFill>
                <a:latin typeface="Arial"/>
              </a:rPr>
              <a:t>Эта лекция разбирает, что модель делает с этой процедурой — и с человеком внутри неё.</a:t>
            </a:r>
          </a:p>
        </p:txBody>
      </p:sp>
      <p:sp>
        <p:nvSpPr>
          <p:cNvPr id="4" name="Rectangle 3"/>
          <p:cNvSpPr/>
          <p:nvPr/>
        </p:nvSpPr>
        <p:spPr>
          <a:xfrm>
            <a:off x="502920" y="1170432"/>
            <a:ext cx="1463040" cy="64008"/>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Модель посмотрела на снимок первой</a:t>
            </a:r>
          </a:p>
        </p:txBody>
      </p:sp>
      <p:sp>
        <p:nvSpPr>
          <p:cNvPr id="4" name="Rounded Rectangle 3"/>
          <p:cNvSpPr/>
          <p:nvPr/>
        </p:nvSpPr>
        <p:spPr>
          <a:xfrm>
            <a:off x="502920" y="1335024"/>
            <a:ext cx="3618890" cy="1700778"/>
          </a:xfrm>
          <a:prstGeom prst="roundRect">
            <a:avLst>
              <a:gd name="adj" fmla="val 1792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СКОРОСТЬ ОТВЕТА</a:t>
            </a:r>
          </a:p>
        </p:txBody>
      </p:sp>
      <p:sp>
        <p:nvSpPr>
          <p:cNvPr id="6" name="TextBox 5"/>
          <p:cNvSpPr txBox="1"/>
          <p:nvPr/>
        </p:nvSpPr>
        <p:spPr>
          <a:xfrm>
            <a:off x="640080"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три секунды</a:t>
            </a:r>
          </a:p>
        </p:txBody>
      </p:sp>
      <p:sp>
        <p:nvSpPr>
          <p:cNvPr id="7" name="TextBox 6"/>
          <p:cNvSpPr txBox="1"/>
          <p:nvPr/>
        </p:nvSpPr>
        <p:spPr>
          <a:xfrm>
            <a:off x="640080" y="2117795"/>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время работы модели; человеческого контрфакта у этой величины нет — врач за три секунды снимок не читает</a:t>
            </a:r>
          </a:p>
        </p:txBody>
      </p:sp>
      <p:sp>
        <p:nvSpPr>
          <p:cNvPr id="8" name="Rounded Rectangle 7"/>
          <p:cNvSpPr/>
          <p:nvPr/>
        </p:nvSpPr>
        <p:spPr>
          <a:xfrm>
            <a:off x="4286402" y="1335024"/>
            <a:ext cx="3618890" cy="1700778"/>
          </a:xfrm>
          <a:prstGeom prst="roundRect">
            <a:avLst>
              <a:gd name="adj" fmla="val 1792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ПРИВАТНОСТЬ</a:t>
            </a:r>
          </a:p>
        </p:txBody>
      </p:sp>
      <p:sp>
        <p:nvSpPr>
          <p:cNvPr id="10" name="TextBox 9"/>
          <p:cNvSpPr txBox="1"/>
          <p:nvPr/>
        </p:nvSpPr>
        <p:spPr>
          <a:xfrm>
            <a:off x="4423562" y="1690796"/>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вычисление в браузере, снимок не уходит на сервер</a:t>
            </a:r>
          </a:p>
        </p:txBody>
      </p:sp>
      <p:sp>
        <p:nvSpPr>
          <p:cNvPr id="11" name="Rounded Rectangle 10"/>
          <p:cNvSpPr/>
          <p:nvPr/>
        </p:nvSpPr>
        <p:spPr>
          <a:xfrm>
            <a:off x="8069884" y="1335024"/>
            <a:ext cx="3618890" cy="1700778"/>
          </a:xfrm>
          <a:prstGeom prst="roundRect">
            <a:avLst>
              <a:gd name="adj" fmla="val 17921"/>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ДОПУСК</a:t>
            </a:r>
          </a:p>
        </p:txBody>
      </p:sp>
      <p:sp>
        <p:nvSpPr>
          <p:cNvPr id="13" name="TextBox 12"/>
          <p:cNvSpPr txBox="1"/>
          <p:nvPr/>
        </p:nvSpPr>
        <p:spPr>
          <a:xfrm>
            <a:off x="8207044" y="169079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не требуется</a:t>
            </a:r>
          </a:p>
        </p:txBody>
      </p:sp>
      <p:sp>
        <p:nvSpPr>
          <p:cNvPr id="14" name="Rounded Rectangle 13"/>
          <p:cNvSpPr/>
          <p:nvPr/>
        </p:nvSpPr>
        <p:spPr>
          <a:xfrm>
            <a:off x="374904" y="3127242"/>
            <a:ext cx="11441887" cy="3108965"/>
          </a:xfrm>
          <a:prstGeom prst="roundRect">
            <a:avLst>
              <a:gd name="adj" fmla="val 980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39496" y="3218682"/>
            <a:ext cx="11112703" cy="301752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Перетащенный рентген грудной клетки. Профиль вероятностей по восемнадцати патологиям. Тепловая карта поверх снимка — область, на которую модель смотрела.</a:t>
            </a:r>
          </a:p>
          <a:p>
            <a:pPr algn="l">
              <a:lnSpc>
                <a:spcPct val="126000"/>
              </a:lnSpc>
              <a:spcBef>
                <a:spcPts val="700"/>
              </a:spcBef>
            </a:pPr>
            <a:r>
              <a:rPr sz="1500" b="0" i="0">
                <a:solidFill>
                  <a:srgbClr val="21295C"/>
                </a:solidFill>
                <a:latin typeface="Arial"/>
              </a:rPr>
              <a:t/>
            </a:r>
            <a:r>
              <a:rPr sz="1500" b="1" i="0">
                <a:solidFill>
                  <a:srgbClr val="21295C"/>
                </a:solidFill>
                <a:latin typeface="Arial"/>
              </a:rPr>
              <a:t>три секунды</a:t>
            </a:r>
            <a:r>
              <a:rPr sz="1500" b="0" i="0">
                <a:solidFill>
                  <a:srgbClr val="21295C"/>
                </a:solidFill>
                <a:latin typeface="Arial"/>
              </a:rPr>
              <a:t> · </a:t>
            </a:r>
            <a:r>
              <a:rPr sz="1500" b="1" i="0">
                <a:solidFill>
                  <a:srgbClr val="21295C"/>
                </a:solidFill>
                <a:latin typeface="Arial"/>
              </a:rPr>
              <a:t>в браузере, снимок не уходит на сервер</a:t>
            </a:r>
            <a:r>
              <a:rPr sz="1500" b="0" i="0">
                <a:solidFill>
                  <a:srgbClr val="21295C"/>
                </a:solidFill>
                <a:latin typeface="Arial"/>
              </a:rPr>
              <a:t> · </a:t>
            </a:r>
            <a:r>
              <a:rPr sz="1500" b="1" i="0">
                <a:solidFill>
                  <a:srgbClr val="21295C"/>
                </a:solidFill>
                <a:latin typeface="Arial"/>
              </a:rPr>
              <a:t>допуска не требуется</a:t>
            </a:r>
          </a:p>
          <a:p>
            <a:pPr algn="l">
              <a:lnSpc>
                <a:spcPct val="126000"/>
              </a:lnSpc>
              <a:spcBef>
                <a:spcPts val="700"/>
              </a:spcBef>
            </a:pPr>
            <a:r>
              <a:rPr sz="1500" b="0" i="0">
                <a:solidFill>
                  <a:srgbClr val="21295C"/>
                </a:solidFill>
                <a:latin typeface="Arial"/>
              </a:rPr>
              <a:t/>
            </a:r>
            <a:r>
              <a:rPr sz="1500" b="0" i="0">
                <a:solidFill>
                  <a:srgbClr val="21295C"/>
                </a:solidFill>
                <a:latin typeface="Arial"/>
              </a:rPr>
              <a:t>Сама модель подписана: «не для диагностики».</a:t>
            </a:r>
          </a:p>
          <a:p>
            <a:pPr algn="l">
              <a:lnSpc>
                <a:spcPct val="126000"/>
              </a:lnSpc>
              <a:spcBef>
                <a:spcPts val="700"/>
              </a:spcBef>
            </a:pPr>
            <a:r>
              <a:rPr sz="1500" b="0" i="0">
                <a:solidFill>
                  <a:srgbClr val="21295C"/>
                </a:solidFill>
                <a:latin typeface="Arial"/>
              </a:rPr>
              <a:t/>
            </a:r>
            <a:r>
              <a:rPr sz="1500" b="0" i="1">
                <a:solidFill>
                  <a:srgbClr val="21295C"/>
                </a:solidFill>
                <a:latin typeface="Arial"/>
              </a:rPr>
              <a:t>Кто из вас когда-нибудь получал результат обследования раньше, чем врач успел его прочитать?</a:t>
            </a:r>
            <a:r>
              <a:rPr sz="1500" b="0" i="0">
                <a:solidFill>
                  <a:srgbClr val="21295C"/>
                </a:solidFill>
                <a:latin typeface="Arial"/>
              </a:rPr>
              <a:t> — в чат: да / нет / не помню.</a:t>
            </a:r>
          </a:p>
        </p:txBody>
      </p:sp>
      <p:sp>
        <p:nvSpPr>
          <p:cNvPr id="16" name="Rectangle 1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Cohen, Bertin, Frappier, 2019</a:t>
            </a:r>
            <a:r>
              <a:rPr sz="1100" b="0" i="1">
                <a:solidFill>
                  <a:srgbClr val="1C7293"/>
                </a:solidFill>
                <a:latin typeface="Arial"/>
              </a:rPr>
              <a:t> · </a:t>
            </a:r>
            <a:r>
              <a:rPr sz="1100" b="0" i="1">
                <a:solidFill>
                  <a:srgbClr val="1C7293"/>
                </a:solidFill>
                <a:latin typeface="Arial"/>
              </a:rPr>
              <a:t>mlmed.org/tools/xray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Удешевили чтение данных. Платят вниманием, навыком, подписью и арбитражем</a:t>
            </a:r>
          </a:p>
        </p:txBody>
      </p:sp>
      <p:sp>
        <p:nvSpPr>
          <p:cNvPr id="4" name="Rounded Rectangle 3"/>
          <p:cNvSpPr/>
          <p:nvPr/>
        </p:nvSpPr>
        <p:spPr>
          <a:xfrm>
            <a:off x="502920" y="1335024"/>
            <a:ext cx="2673019" cy="1700778"/>
          </a:xfrm>
          <a:prstGeom prst="roundRect">
            <a:avLst>
              <a:gd name="adj" fmla="val 1792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ВНИМАНИЕ</a:t>
            </a:r>
          </a:p>
        </p:txBody>
      </p:sp>
      <p:sp>
        <p:nvSpPr>
          <p:cNvPr id="6" name="TextBox 5"/>
          <p:cNvSpPr txBox="1"/>
          <p:nvPr/>
        </p:nvSpPr>
        <p:spPr>
          <a:xfrm>
            <a:off x="640080" y="1690796"/>
            <a:ext cx="2398699"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смотрит после модели, а не до неё</a:t>
            </a:r>
          </a:p>
        </p:txBody>
      </p:sp>
      <p:sp>
        <p:nvSpPr>
          <p:cNvPr id="7" name="Rounded Rectangle 6"/>
          <p:cNvSpPr/>
          <p:nvPr/>
        </p:nvSpPr>
        <p:spPr>
          <a:xfrm>
            <a:off x="3340531" y="1335024"/>
            <a:ext cx="2673019" cy="1700778"/>
          </a:xfrm>
          <a:prstGeom prst="roundRect">
            <a:avLst>
              <a:gd name="adj" fmla="val 1792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НАВЫК</a:t>
            </a:r>
          </a:p>
        </p:txBody>
      </p:sp>
      <p:sp>
        <p:nvSpPr>
          <p:cNvPr id="9" name="TextBox 8"/>
          <p:cNvSpPr txBox="1"/>
          <p:nvPr/>
        </p:nvSpPr>
        <p:spPr>
          <a:xfrm>
            <a:off x="3477691"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перестаёт делать сам</a:t>
            </a:r>
          </a:p>
        </p:txBody>
      </p:sp>
      <p:sp>
        <p:nvSpPr>
          <p:cNvPr id="10" name="Rounded Rectangle 9"/>
          <p:cNvSpPr/>
          <p:nvPr/>
        </p:nvSpPr>
        <p:spPr>
          <a:xfrm>
            <a:off x="6178143" y="1335024"/>
            <a:ext cx="2673019" cy="1700778"/>
          </a:xfrm>
          <a:prstGeom prst="roundRect">
            <a:avLst>
              <a:gd name="adj" fmla="val 1792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ПОДПИСЬ</a:t>
            </a:r>
          </a:p>
        </p:txBody>
      </p:sp>
      <p:sp>
        <p:nvSpPr>
          <p:cNvPr id="12" name="TextBox 11"/>
          <p:cNvSpPr txBox="1"/>
          <p:nvPr/>
        </p:nvSpPr>
        <p:spPr>
          <a:xfrm>
            <a:off x="6315303"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подтверждает не читая</a:t>
            </a:r>
          </a:p>
        </p:txBody>
      </p:sp>
      <p:sp>
        <p:nvSpPr>
          <p:cNvPr id="13" name="Rounded Rectangle 12"/>
          <p:cNvSpPr/>
          <p:nvPr/>
        </p:nvSpPr>
        <p:spPr>
          <a:xfrm>
            <a:off x="9015755" y="1335024"/>
            <a:ext cx="2673019" cy="1700778"/>
          </a:xfrm>
          <a:prstGeom prst="roundRect">
            <a:avLst>
              <a:gd name="adj" fmla="val 17921"/>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АРБИТРАЖ</a:t>
            </a:r>
          </a:p>
        </p:txBody>
      </p:sp>
      <p:sp>
        <p:nvSpPr>
          <p:cNvPr id="15" name="TextBox 14"/>
          <p:cNvSpPr txBox="1"/>
          <p:nvPr/>
        </p:nvSpPr>
        <p:spPr>
          <a:xfrm>
            <a:off x="9152915" y="1690796"/>
            <a:ext cx="2398699" cy="927759"/>
          </a:xfrm>
          <a:prstGeom prst="rect">
            <a:avLst/>
          </a:prstGeom>
          <a:noFill/>
        </p:spPr>
        <p:txBody>
          <a:bodyPr wrap="square" lIns="0" rIns="0" tIns="0" bIns="0" anchor="t">
            <a:spAutoFit/>
          </a:bodyPr>
          <a:lstStyle/>
          <a:p>
            <a:pPr algn="l">
              <a:lnSpc>
                <a:spcPct val="108000"/>
              </a:lnSpc>
            </a:pPr>
            <a:r>
              <a:rPr sz="1750" b="1" i="0">
                <a:solidFill>
                  <a:srgbClr val="F0AB00"/>
                </a:solidFill>
                <a:latin typeface="Arial"/>
              </a:rPr>
              <a:t>разбор расхождений дороже прежнего чтения</a:t>
            </a:r>
          </a:p>
        </p:txBody>
      </p:sp>
      <p:sp>
        <p:nvSpPr>
          <p:cNvPr id="16" name="Rounded Rectangle 15"/>
          <p:cNvSpPr/>
          <p:nvPr/>
        </p:nvSpPr>
        <p:spPr>
          <a:xfrm>
            <a:off x="374904" y="3127242"/>
            <a:ext cx="11441887" cy="3108965"/>
          </a:xfrm>
          <a:prstGeom prst="roundRect">
            <a:avLst>
              <a:gd name="adj" fmla="val 980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3218682"/>
            <a:ext cx="11112703" cy="301752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Удешевили чтение данных. Платят вниманием, навыком, подписью и арбитражем.</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Внимание</a:t>
            </a:r>
            <a:r>
              <a:rPr sz="1500" b="0" i="0">
                <a:solidFill>
                  <a:srgbClr val="21295C"/>
                </a:solidFill>
                <a:latin typeface="Arial"/>
              </a:rPr>
              <a:t> — человек смотрит после модели, а не до неё</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Навык</a:t>
            </a:r>
            <a:r>
              <a:rPr sz="1500" b="0" i="0">
                <a:solidFill>
                  <a:srgbClr val="21295C"/>
                </a:solidFill>
                <a:latin typeface="Arial"/>
              </a:rPr>
              <a:t> — перестаёт делать сам</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Подпись</a:t>
            </a:r>
            <a:r>
              <a:rPr sz="1500" b="0" i="0">
                <a:solidFill>
                  <a:srgbClr val="21295C"/>
                </a:solidFill>
                <a:latin typeface="Arial"/>
              </a:rPr>
              <a:t> — подтверждает не читая</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Арбитраж</a:t>
            </a:r>
            <a:r>
              <a:rPr sz="1500" b="0" i="0">
                <a:solidFill>
                  <a:srgbClr val="21295C"/>
                </a:solidFill>
                <a:latin typeface="Arial"/>
              </a:rPr>
              <a:t> — разбор расхождений дороже прежнего чтения</a:t>
            </a:r>
          </a:p>
          <a:p>
            <a:pPr algn="l">
              <a:lnSpc>
                <a:spcPct val="126000"/>
              </a:lnSpc>
              <a:spcBef>
                <a:spcPts val="700"/>
              </a:spcBef>
            </a:pPr>
            <a:r>
              <a:rPr sz="1200" b="0" i="0">
                <a:solidFill>
                  <a:srgbClr val="21295C"/>
                </a:solidFill>
                <a:latin typeface="Arial"/>
              </a:rPr>
              <a:t/>
            </a:r>
            <a:r>
              <a:rPr sz="1200" b="0" i="1">
                <a:solidFill>
                  <a:srgbClr val="1C7293"/>
                </a:solidFill>
                <a:latin typeface="Arial"/>
              </a:rPr>
              <a:t>Удешевление одного шага перестраивает работу целиком, платят на другом шаге — линза предыдущих лекций, применённая здесь к человеку.</a:t>
            </a:r>
          </a:p>
        </p:txBody>
      </p:sp>
      <p:sp>
        <p:nvSpPr>
          <p:cNvPr id="18" name="Rectangle 17"/>
          <p:cNvSpPr/>
          <p:nvPr/>
        </p:nvSpPr>
        <p:spPr>
          <a:xfrm>
            <a:off x="502920" y="1179576"/>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Модель одна против человека с моделью</a:t>
            </a:r>
          </a:p>
        </p:txBody>
      </p:sp>
      <p:sp>
        <p:nvSpPr>
          <p:cNvPr id="4" name="Rounded Rectangle 3"/>
          <p:cNvSpPr/>
          <p:nvPr/>
        </p:nvSpPr>
        <p:spPr>
          <a:xfrm>
            <a:off x="502920" y="1335024"/>
            <a:ext cx="5510631" cy="1289607"/>
          </a:xfrm>
          <a:prstGeom prst="roundRect">
            <a:avLst>
              <a:gd name="adj" fmla="val 23635"/>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МОДЕЛЬ ОДНА</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92 из 100</a:t>
            </a:r>
          </a:p>
        </p:txBody>
      </p:sp>
      <p:sp>
        <p:nvSpPr>
          <p:cNvPr id="7" name="TextBox 6"/>
          <p:cNvSpPr txBox="1"/>
          <p:nvPr/>
        </p:nvSpPr>
        <p:spPr>
          <a:xfrm>
            <a:off x="640080"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отдельный прогон модели по тем же задачам — наблюдательное дополнение, случайной ветвью он не был</a:t>
            </a:r>
          </a:p>
        </p:txBody>
      </p:sp>
      <p:sp>
        <p:nvSpPr>
          <p:cNvPr id="8" name="Rounded Rectangle 7"/>
          <p:cNvSpPr/>
          <p:nvPr/>
        </p:nvSpPr>
        <p:spPr>
          <a:xfrm>
            <a:off x="6178143" y="1335024"/>
            <a:ext cx="5510631" cy="1289607"/>
          </a:xfrm>
          <a:prstGeom prst="roundRect">
            <a:avLst>
              <a:gd name="adj" fmla="val 23635"/>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ЧЕЛОВЕК С МОДЕЛЬЮ</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76 из 100</a:t>
            </a:r>
          </a:p>
        </p:txBody>
      </p:sp>
      <p:sp>
        <p:nvSpPr>
          <p:cNvPr id="11" name="TextBox 10"/>
          <p:cNvSpPr txBox="1"/>
          <p:nvPr/>
        </p:nvSpPr>
        <p:spPr>
          <a:xfrm>
            <a:off x="6315303" y="2117795"/>
            <a:ext cx="5236311"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50 практикующих врачей, из них 44 терапевта; те же случаи, та же шкала</a:t>
            </a:r>
          </a:p>
        </p:txBody>
      </p:sp>
      <p:sp>
        <p:nvSpPr>
          <p:cNvPr id="12" name="Rounded Rectangle 11"/>
          <p:cNvSpPr/>
          <p:nvPr/>
        </p:nvSpPr>
        <p:spPr>
          <a:xfrm>
            <a:off x="374904" y="2716071"/>
            <a:ext cx="11441887" cy="3520136"/>
          </a:xfrm>
          <a:prstGeom prst="roundRect">
            <a:avLst>
              <a:gd name="adj" fmla="val 865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2807511"/>
            <a:ext cx="11112703" cy="342869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Модель одна — 92 из 100.</a:t>
            </a:r>
            <a:r>
              <a:rPr sz="1500" b="0" i="0">
                <a:solidFill>
                  <a:srgbClr val="21295C"/>
                </a:solidFill>
                <a:latin typeface="Arial"/>
              </a:rPr>
              <a:t> </a:t>
            </a:r>
            <a:r>
              <a:rPr sz="1500" b="0" i="1">
                <a:solidFill>
                  <a:srgbClr val="21295C"/>
                </a:solidFill>
                <a:latin typeface="Arial"/>
              </a:rPr>
              <a:t>(отдельный прогон, три повтора)</a:t>
            </a:r>
          </a:p>
          <a:p>
            <a:pPr algn="l">
              <a:lnSpc>
                <a:spcPct val="126000"/>
              </a:lnSpc>
              <a:spcBef>
                <a:spcPts val="700"/>
              </a:spcBef>
            </a:pPr>
            <a:r>
              <a:rPr sz="1500" b="0" i="0">
                <a:solidFill>
                  <a:srgbClr val="21295C"/>
                </a:solidFill>
                <a:latin typeface="Arial"/>
              </a:rPr>
              <a:t/>
            </a:r>
            <a:r>
              <a:rPr sz="1500" b="1" i="0">
                <a:solidFill>
                  <a:srgbClr val="21295C"/>
                </a:solidFill>
                <a:latin typeface="Arial"/>
              </a:rPr>
              <a:t>Человек с моделью — 76 из 100.</a:t>
            </a:r>
            <a:r>
              <a:rPr sz="1500" b="0" i="0">
                <a:solidFill>
                  <a:srgbClr val="21295C"/>
                </a:solidFill>
                <a:latin typeface="Arial"/>
              </a:rPr>
              <a:t> </a:t>
            </a:r>
            <a:r>
              <a:rPr sz="1500" b="0" i="1">
                <a:solidFill>
                  <a:srgbClr val="21295C"/>
                </a:solidFill>
                <a:latin typeface="Arial"/>
              </a:rPr>
              <a:t>(50 практикующих врачей, одни и те же случаи)</a:t>
            </a:r>
          </a:p>
          <a:p>
            <a:pPr algn="l">
              <a:lnSpc>
                <a:spcPct val="126000"/>
              </a:lnSpc>
              <a:spcBef>
                <a:spcPts val="700"/>
              </a:spcBef>
            </a:pPr>
            <a:r>
              <a:rPr sz="1500" b="0" i="0">
                <a:solidFill>
                  <a:srgbClr val="21295C"/>
                </a:solidFill>
                <a:latin typeface="Arial"/>
              </a:rPr>
              <a:t/>
            </a:r>
            <a:r>
              <a:rPr sz="1500" b="0" i="0">
                <a:solidFill>
                  <a:srgbClr val="21295C"/>
                </a:solidFill>
                <a:latin typeface="Arial"/>
              </a:rPr>
              <a:t>Разрыв: </a:t>
            </a:r>
            <a:r>
              <a:rPr sz="1500" b="1" i="0">
                <a:solidFill>
                  <a:srgbClr val="21295C"/>
                </a:solidFill>
                <a:latin typeface="Arial"/>
              </a:rPr>
              <a:t>16 пунктов по медианам</a:t>
            </a:r>
            <a:r>
              <a:rPr sz="1500" b="0" i="0">
                <a:solidFill>
                  <a:srgbClr val="21295C"/>
                </a:solidFill>
                <a:latin typeface="Arial"/>
              </a:rPr>
              <a:t> — и проверки значимости у этой пары в первоисточнике нет.</a:t>
            </a:r>
          </a:p>
          <a:p>
            <a:pPr algn="l">
              <a:lnSpc>
                <a:spcPct val="126000"/>
              </a:lnSpc>
              <a:spcBef>
                <a:spcPts val="700"/>
              </a:spcBef>
            </a:pPr>
            <a:r>
              <a:rPr sz="1500" b="0" i="0">
                <a:solidFill>
                  <a:srgbClr val="21295C"/>
                </a:solidFill>
                <a:latin typeface="Arial"/>
              </a:rPr>
              <a:t/>
            </a:r>
            <a:r>
              <a:rPr sz="1500" b="0" i="0">
                <a:solidFill>
                  <a:srgbClr val="21295C"/>
                </a:solidFill>
                <a:latin typeface="Arial"/>
              </a:rPr>
              <a:t>Инструмент, который сам по себе точнее, не поднял человека до себя.</a:t>
            </a:r>
          </a:p>
          <a:p>
            <a:pPr algn="l">
              <a:lnSpc>
                <a:spcPct val="126000"/>
              </a:lnSpc>
              <a:spcBef>
                <a:spcPts val="700"/>
              </a:spcBef>
            </a:pPr>
            <a:r>
              <a:rPr sz="1500" b="0" i="0">
                <a:solidFill>
                  <a:srgbClr val="21295C"/>
                </a:solidFill>
                <a:latin typeface="Arial"/>
              </a:rPr>
              <a:t/>
            </a:r>
            <a:r>
              <a:rPr sz="1500" b="0" i="0">
                <a:solidFill>
                  <a:srgbClr val="21295C"/>
                </a:solidFill>
                <a:latin typeface="Arial"/>
              </a:rPr>
              <a:t>Происхождение: рандомизированное исследование, 50 практикующих врачей, три состояния на одних и тех же случаях.</a:t>
            </a:r>
          </a:p>
          <a:p>
            <a:pPr algn="l">
              <a:lnSpc>
                <a:spcPct val="126000"/>
              </a:lnSpc>
              <a:spcBef>
                <a:spcPts val="700"/>
              </a:spcBef>
            </a:pPr>
            <a:r>
              <a:rPr sz="1500" b="0" i="0">
                <a:solidFill>
                  <a:srgbClr val="21295C"/>
                </a:solidFill>
                <a:latin typeface="Arial"/>
              </a:rPr>
              <a:t/>
            </a:r>
            <a:r>
              <a:rPr sz="1500" b="0" i="0">
                <a:solidFill>
                  <a:srgbClr val="21295C"/>
                </a:solidFill>
                <a:latin typeface="Arial"/>
              </a:rPr>
              <a:t>Единица: шкала диагностического рассуждения на клинических виньетках по реальным случаям — не исходы пациентов.</a:t>
            </a:r>
          </a:p>
          <a:p>
            <a:pPr algn="l">
              <a:lnSpc>
                <a:spcPct val="126000"/>
              </a:lnSpc>
              <a:spcBef>
                <a:spcPts val="700"/>
              </a:spcBef>
            </a:pPr>
            <a:r>
              <a:rPr sz="1500" b="0" i="0">
                <a:solidFill>
                  <a:srgbClr val="21295C"/>
                </a:solidFill>
                <a:latin typeface="Arial"/>
              </a:rPr>
              <a:t/>
            </a:r>
            <a:r>
              <a:rPr sz="1500" b="0" i="0">
                <a:solidFill>
                  <a:srgbClr val="21295C"/>
                </a:solidFill>
                <a:latin typeface="Arial"/>
              </a:rPr>
              <a:t>Урок: куплен потенциал, измеренного выигрыша нет.</a:t>
            </a:r>
          </a:p>
          <a:p>
            <a:pPr algn="l">
              <a:lnSpc>
                <a:spcPct val="126000"/>
              </a:lnSpc>
              <a:spcBef>
                <a:spcPts val="700"/>
              </a:spcBef>
            </a:pPr>
            <a:r>
              <a:rPr sz="1200" b="0" i="0">
                <a:solidFill>
                  <a:srgbClr val="21295C"/>
                </a:solidFill>
                <a:latin typeface="Arial"/>
              </a:rPr>
              <a:t/>
            </a:r>
            <a:r>
              <a:rPr sz="1200" b="0" i="1">
                <a:solidFill>
                  <a:srgbClr val="1C7293"/>
                </a:solidFill>
                <a:latin typeface="Arial"/>
              </a:rPr>
              <a:t>Третье состояние — человек без модели — и чем этот разрыв посчитан: в разделе про чтение снимка.</a:t>
            </a:r>
          </a:p>
        </p:txBody>
      </p:sp>
      <p:sp>
        <p:nvSpPr>
          <p:cNvPr id="14" name="Rectangle 13"/>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Goh и соавторы, JAMA Network Open, октябрь 2024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Четыре ступени участия. И то же самое в вашей работе</a:t>
            </a:r>
          </a:p>
        </p:txBody>
      </p:sp>
      <p:sp>
        <p:nvSpPr>
          <p:cNvPr id="4" name="TextBox 3"/>
          <p:cNvSpPr txBox="1"/>
          <p:nvPr/>
        </p:nvSpPr>
        <p:spPr>
          <a:xfrm>
            <a:off x="502920" y="1389888"/>
            <a:ext cx="1289304" cy="457200"/>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Ступени</a:t>
            </a:r>
          </a:p>
        </p:txBody>
      </p:sp>
      <p:sp>
        <p:nvSpPr>
          <p:cNvPr id="5" name="Rounded Rectangle 4"/>
          <p:cNvSpPr/>
          <p:nvPr/>
        </p:nvSpPr>
        <p:spPr>
          <a:xfrm>
            <a:off x="1920240" y="1335024"/>
            <a:ext cx="2236393"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002536" y="1417320"/>
            <a:ext cx="2071801"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Смотрит первым</a:t>
            </a:r>
          </a:p>
        </p:txBody>
      </p:sp>
      <p:sp>
        <p:nvSpPr>
          <p:cNvPr id="7" name="Right Arrow 6"/>
          <p:cNvSpPr/>
          <p:nvPr/>
        </p:nvSpPr>
        <p:spPr>
          <a:xfrm>
            <a:off x="4202353" y="1495044"/>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430953" y="1335024"/>
            <a:ext cx="2236393"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13249" y="1417320"/>
            <a:ext cx="2071801"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Смотрит вторым</a:t>
            </a:r>
          </a:p>
        </p:txBody>
      </p:sp>
      <p:sp>
        <p:nvSpPr>
          <p:cNvPr id="10" name="Right Arrow 9"/>
          <p:cNvSpPr/>
          <p:nvPr/>
        </p:nvSpPr>
        <p:spPr>
          <a:xfrm>
            <a:off x="6713067" y="1495044"/>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941667" y="1335024"/>
            <a:ext cx="2236393"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23963" y="1417320"/>
            <a:ext cx="2071801"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Смотрит только спорное</a:t>
            </a:r>
          </a:p>
        </p:txBody>
      </p:sp>
      <p:sp>
        <p:nvSpPr>
          <p:cNvPr id="13" name="Right Arrow 12"/>
          <p:cNvSpPr/>
          <p:nvPr/>
        </p:nvSpPr>
        <p:spPr>
          <a:xfrm>
            <a:off x="9223781" y="1495044"/>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9452381" y="1335024"/>
            <a:ext cx="2236393"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534677" y="1417320"/>
            <a:ext cx="2071801"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Подписывает не глядя</a:t>
            </a:r>
          </a:p>
        </p:txBody>
      </p:sp>
      <p:sp>
        <p:nvSpPr>
          <p:cNvPr id="16" name="TextBox 15"/>
          <p:cNvSpPr txBox="1"/>
          <p:nvPr/>
        </p:nvSpPr>
        <p:spPr>
          <a:xfrm>
            <a:off x="502920" y="1938528"/>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Кто смотрит первым</a:t>
            </a:r>
          </a:p>
        </p:txBody>
      </p:sp>
      <p:sp>
        <p:nvSpPr>
          <p:cNvPr id="17" name="Rounded Rectangle 16"/>
          <p:cNvSpPr/>
          <p:nvPr/>
        </p:nvSpPr>
        <p:spPr>
          <a:xfrm>
            <a:off x="374904" y="2251382"/>
            <a:ext cx="11441887" cy="3984825"/>
          </a:xfrm>
          <a:prstGeom prst="roundRect">
            <a:avLst>
              <a:gd name="adj" fmla="val 764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9496" y="2342822"/>
            <a:ext cx="11112703" cy="389338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Четыре ступени — кто смотрит первым.</a:t>
            </a:r>
          </a:p>
          <a:p>
            <a:pPr algn="l">
              <a:lnSpc>
                <a:spcPct val="126000"/>
              </a:lnSpc>
              <a:spcBef>
                <a:spcPts val="700"/>
              </a:spcBef>
            </a:pPr>
            <a:r>
              <a:rPr sz="1500" b="0" i="0">
                <a:solidFill>
                  <a:srgbClr val="21295C"/>
                </a:solidFill>
                <a:latin typeface="Arial"/>
              </a:rPr>
              <a:t/>
            </a:r>
            <a:r>
              <a:rPr sz="1500" b="0" i="0">
                <a:solidFill>
                  <a:srgbClr val="21295C"/>
                </a:solidFill>
                <a:latin typeface="Arial"/>
              </a:rPr>
              <a:t>Четвёртая ступень формально та же, что требует регулятор, и фактически его отсутствие.</a:t>
            </a:r>
          </a:p>
          <a:p>
            <a:pPr algn="l">
              <a:lnSpc>
                <a:spcPct val="126000"/>
              </a:lnSpc>
              <a:spcBef>
                <a:spcPts val="700"/>
              </a:spcBef>
            </a:pPr>
            <a:r>
              <a:rPr sz="1500" b="0" i="0">
                <a:solidFill>
                  <a:srgbClr val="21295C"/>
                </a:solidFill>
                <a:latin typeface="Arial"/>
              </a:rPr>
              <a:t/>
            </a:r>
            <a:r>
              <a:rPr sz="1500" b="1" i="0">
                <a:solidFill>
                  <a:srgbClr val="21295C"/>
                </a:solidFill>
                <a:latin typeface="Arial"/>
              </a:rPr>
              <a:t>Свидетельство, замера нет.</a:t>
            </a:r>
            <a:r>
              <a:rPr sz="1500" b="0" i="0">
                <a:solidFill>
                  <a:srgbClr val="21295C"/>
                </a:solidFill>
                <a:latin typeface="Arial"/>
              </a:rPr>
              <a:t> Нагрузка в разработке переехала с младших разработчиков на старших — младшие пишут с моделью, старшие не успевают проверять.</a:t>
            </a:r>
          </a:p>
          <a:p>
            <a:pPr algn="l">
              <a:lnSpc>
                <a:spcPct val="126000"/>
              </a:lnSpc>
              <a:spcBef>
                <a:spcPts val="700"/>
              </a:spcBef>
            </a:pPr>
            <a:r>
              <a:rPr sz="1200" b="0" i="0">
                <a:solidFill>
                  <a:srgbClr val="21295C"/>
                </a:solidFill>
                <a:latin typeface="Arial"/>
              </a:rPr>
              <a:t/>
            </a:r>
            <a:r>
              <a:rPr sz="1200" b="0" i="1">
                <a:solidFill>
                  <a:srgbClr val="1C7293"/>
                </a:solidFill>
                <a:latin typeface="Arial"/>
              </a:rPr>
              <a:t>Это та же градация степеней участия, что дана в курсе ранее (человек в каждой точке решения · над контуром · вне контура), прочитанная по одному признаку — кто смотрит первым. Новой шкалы здесь нет.</a:t>
            </a:r>
          </a:p>
        </p:txBody>
      </p:sp>
      <p:sp>
        <p:nvSpPr>
          <p:cNvPr id="19" name="Rectangle 18"/>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Почему без человека нельзя: три опоры и три проверки</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Участие человека в медицинском решении обязательно не потому, что человек точнее. Измерено, что часто он не точнее. Обязательно — потому что право подписи выдано ему, ошибается он иначе, чем модель, и отменить принятое решение нельзя.</a:t>
            </a:r>
          </a:p>
          <a:p>
            <a:pPr algn="l">
              <a:lnSpc>
                <a:spcPct val="126000"/>
              </a:lnSpc>
              <a:spcBef>
                <a:spcPts val="700"/>
              </a:spcBef>
            </a:pPr>
            <a:r>
              <a:rPr sz="1500" b="0" i="0">
                <a:solidFill>
                  <a:srgbClr val="21295C"/>
                </a:solidFill>
                <a:latin typeface="Arial"/>
              </a:rPr>
              <a:t/>
            </a:r>
            <a:r>
              <a:rPr sz="1500" b="1" i="0">
                <a:solidFill>
                  <a:srgbClr val="21295C"/>
                </a:solidFill>
                <a:latin typeface="Arial"/>
              </a:rPr>
              <a:t>Три опоры:</a:t>
            </a:r>
            <a:r>
              <a:rPr sz="1500" b="0" i="0">
                <a:solidFill>
                  <a:srgbClr val="21295C"/>
                </a:solidFill>
                <a:latin typeface="Arial"/>
              </a:rPr>
              <a:t> - Право подписи выдано человеку - Ошибается иначе, чем модель - Отменить нельзя</a:t>
            </a:r>
          </a:p>
          <a:p>
            <a:pPr algn="l">
              <a:lnSpc>
                <a:spcPct val="126000"/>
              </a:lnSpc>
              <a:spcBef>
                <a:spcPts val="700"/>
              </a:spcBef>
            </a:pPr>
            <a:r>
              <a:rPr sz="1500" b="0" i="0">
                <a:solidFill>
                  <a:srgbClr val="21295C"/>
                </a:solidFill>
                <a:latin typeface="Arial"/>
              </a:rPr>
              <a:t/>
            </a:r>
            <a:r>
              <a:rPr sz="1500" b="1" i="0">
                <a:solidFill>
                  <a:srgbClr val="21295C"/>
                </a:solidFill>
                <a:latin typeface="Arial"/>
              </a:rPr>
              <a:t>Три проверки:</a:t>
            </a:r>
            <a:r>
              <a:rPr sz="1500" b="0" i="0">
                <a:solidFill>
                  <a:srgbClr val="21295C"/>
                </a:solidFill>
                <a:latin typeface="Arial"/>
              </a:rPr>
              <a:t> - Есть ли независимый источник истины, кроме объяснения модели? - Измерено ли, что человек возражает — и что возражает верно? - Успевает ли он физически: секунды на решение против объёма, который надо прочитать?</a:t>
            </a:r>
          </a:p>
          <a:p>
            <a:pPr algn="l">
              <a:lnSpc>
                <a:spcPct val="126000"/>
              </a:lnSpc>
              <a:spcBef>
                <a:spcPts val="700"/>
              </a:spcBef>
            </a:pPr>
            <a:r>
              <a:rPr sz="1500" b="0" i="0">
                <a:solidFill>
                  <a:srgbClr val="21295C"/>
                </a:solidFill>
                <a:latin typeface="Arial"/>
              </a:rPr>
              <a:t/>
            </a:r>
            <a:r>
              <a:rPr sz="1500" b="0" i="0">
                <a:solidFill>
                  <a:srgbClr val="21295C"/>
                </a:solidFill>
                <a:latin typeface="Arial"/>
              </a:rPr>
              <a:t>Это заявка; каждую опору лекция посчитает, и в конце мы к ней вернёмся.</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Партию можно отозвать. Решение о человеке — нельзя</a:t>
            </a:r>
          </a:p>
        </p:txBody>
      </p:sp>
      <p:sp>
        <p:nvSpPr>
          <p:cNvPr id="4" name="TextBox 3"/>
          <p:cNvSpPr txBox="1"/>
          <p:nvPr/>
        </p:nvSpPr>
        <p:spPr>
          <a:xfrm>
            <a:off x="502920" y="1389888"/>
            <a:ext cx="1289304" cy="642627"/>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Путь</a:t>
            </a:r>
          </a:p>
        </p:txBody>
      </p:sp>
      <p:sp>
        <p:nvSpPr>
          <p:cNvPr id="5" name="Rounded Rectangle 4"/>
          <p:cNvSpPr/>
          <p:nvPr/>
        </p:nvSpPr>
        <p:spPr>
          <a:xfrm>
            <a:off x="1920240" y="1335024"/>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002536" y="1417320"/>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Пришёл результат обследования</a:t>
            </a:r>
          </a:p>
        </p:txBody>
      </p:sp>
      <p:sp>
        <p:nvSpPr>
          <p:cNvPr id="7" name="Right Arrow 6"/>
          <p:cNvSpPr/>
          <p:nvPr/>
        </p:nvSpPr>
        <p:spPr>
          <a:xfrm>
            <a:off x="4202353" y="1587757"/>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430953" y="1335024"/>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13249" y="1417320"/>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Назначено лечение</a:t>
            </a:r>
          </a:p>
        </p:txBody>
      </p:sp>
      <p:sp>
        <p:nvSpPr>
          <p:cNvPr id="10" name="Right Arrow 9"/>
          <p:cNvSpPr/>
          <p:nvPr/>
        </p:nvSpPr>
        <p:spPr>
          <a:xfrm>
            <a:off x="6713067" y="1587757"/>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941667" y="1335024"/>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23963" y="1417320"/>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Проведена операция</a:t>
            </a:r>
          </a:p>
        </p:txBody>
      </p:sp>
      <p:sp>
        <p:nvSpPr>
          <p:cNvPr id="13" name="Right Arrow 12"/>
          <p:cNvSpPr/>
          <p:nvPr/>
        </p:nvSpPr>
        <p:spPr>
          <a:xfrm>
            <a:off x="9223781" y="1587757"/>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9452381" y="1335024"/>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534677" y="1417320"/>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Человек живёт с последствиями</a:t>
            </a:r>
          </a:p>
        </p:txBody>
      </p:sp>
      <p:sp>
        <p:nvSpPr>
          <p:cNvPr id="16" name="TextBox 15"/>
          <p:cNvSpPr txBox="1"/>
          <p:nvPr/>
        </p:nvSpPr>
        <p:spPr>
          <a:xfrm>
            <a:off x="502920" y="2123955"/>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Путь одного решения</a:t>
            </a:r>
          </a:p>
        </p:txBody>
      </p:sp>
      <p:sp>
        <p:nvSpPr>
          <p:cNvPr id="17" name="Rounded Rectangle 16"/>
          <p:cNvSpPr/>
          <p:nvPr/>
        </p:nvSpPr>
        <p:spPr>
          <a:xfrm>
            <a:off x="374904" y="2436809"/>
            <a:ext cx="11441887" cy="3799398"/>
          </a:xfrm>
          <a:prstGeom prst="roundRect">
            <a:avLst>
              <a:gd name="adj" fmla="val 802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9496" y="2528249"/>
            <a:ext cx="11112703" cy="370795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Путь одного решения об одном человеке:</a:t>
            </a:r>
          </a:p>
          <a:p>
            <a:pPr algn="l">
              <a:lnSpc>
                <a:spcPct val="126000"/>
              </a:lnSpc>
              <a:spcBef>
                <a:spcPts val="700"/>
              </a:spcBef>
            </a:pPr>
            <a:r>
              <a:rPr sz="1500" b="0" i="0">
                <a:solidFill>
                  <a:srgbClr val="21295C"/>
                </a:solidFill>
                <a:latin typeface="Arial"/>
              </a:rPr>
              <a:t/>
            </a:r>
            <a:r>
              <a:rPr sz="1500" b="0" i="0">
                <a:solidFill>
                  <a:srgbClr val="21295C"/>
                </a:solidFill>
                <a:latin typeface="Arial"/>
              </a:rPr>
              <a:t>Пришёл результат обследования → назначено лечение → проведена операция → человек живёт с её последствиями</a:t>
            </a:r>
          </a:p>
          <a:p>
            <a:pPr algn="l">
              <a:lnSpc>
                <a:spcPct val="126000"/>
              </a:lnSpc>
              <a:spcBef>
                <a:spcPts val="700"/>
              </a:spcBef>
            </a:pPr>
            <a:r>
              <a:rPr sz="1500" b="0" i="0">
                <a:solidFill>
                  <a:srgbClr val="21295C"/>
                </a:solidFill>
                <a:latin typeface="Arial"/>
              </a:rPr>
              <a:t/>
            </a:r>
            <a:r>
              <a:rPr sz="1500" b="0" i="0">
                <a:solidFill>
                  <a:srgbClr val="21295C"/>
                </a:solidFill>
                <a:latin typeface="Arial"/>
              </a:rPr>
              <a:t>Ни один из этих шагов не отзывается: снимок можно перечитать, назначение можно отменить до того, как его выполнили, а проведённую операцию и потерянные месяцы — нельзя.</a:t>
            </a:r>
          </a:p>
          <a:p>
            <a:pPr algn="l">
              <a:lnSpc>
                <a:spcPct val="126000"/>
              </a:lnSpc>
              <a:spcBef>
                <a:spcPts val="700"/>
              </a:spcBef>
            </a:pPr>
            <a:r>
              <a:rPr sz="1500" b="0" i="0">
                <a:solidFill>
                  <a:srgbClr val="21295C"/>
                </a:solidFill>
                <a:latin typeface="Arial"/>
              </a:rPr>
              <a:t/>
            </a:r>
            <a:r>
              <a:rPr sz="1500" b="0" i="0">
                <a:solidFill>
                  <a:srgbClr val="21295C"/>
                </a:solidFill>
                <a:latin typeface="Arial"/>
              </a:rPr>
              <a:t>Партию можно отозвать. Решение о человеке отозвать нельзя.</a:t>
            </a:r>
          </a:p>
          <a:p>
            <a:pPr algn="l">
              <a:lnSpc>
                <a:spcPct val="126000"/>
              </a:lnSpc>
              <a:spcBef>
                <a:spcPts val="700"/>
              </a:spcBef>
            </a:pPr>
            <a:r>
              <a:rPr sz="1500" b="0" i="0">
                <a:solidFill>
                  <a:srgbClr val="21295C"/>
                </a:solidFill>
                <a:latin typeface="Arial"/>
              </a:rPr>
              <a:t/>
            </a:r>
            <a:r>
              <a:rPr sz="1500" b="0" i="0">
                <a:solidFill>
                  <a:srgbClr val="21295C"/>
                </a:solidFill>
                <a:latin typeface="Arial"/>
              </a:rPr>
              <a:t>В медицине прибором, которым узнают об ошибке модели, становится человек.</a:t>
            </a:r>
          </a:p>
        </p:txBody>
      </p:sp>
      <p:sp>
        <p:nvSpPr>
          <p:cNvPr id="19" name="Rectangle 18"/>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Где медицина стоит в сетке курса — и чем эти клетки заняты сегодня</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440" b="1" i="0">
                <a:solidFill>
                  <a:srgbClr val="21295C"/>
                </a:solidFill>
                <a:latin typeface="Arial"/>
              </a:rPr>
              <a:t>Распознавание на изображении</a:t>
            </a:r>
            <a:r>
              <a:rPr sz="1440" b="0" i="0">
                <a:solidFill>
                  <a:srgbClr val="21295C"/>
                </a:solidFill>
                <a:latin typeface="Arial"/>
              </a:rPr>
              <a:t> — чтение снимка. Режим: модель вторым читателем или триаж потока по риску (Transpara · Lunit INSIGHT MMG; в России — платформа лучевой диагностики, «Цельс», «Третье мнение», Care Mentor AI) и режим сортировки потока по приоритету (Aidoc). Растёт в скрининге и в сортировке потока. Не умеет заменить арбитраж: кто разбирает расхождение, назначает процедура.</a:t>
            </a:r>
          </a:p>
          <a:p>
            <a:pPr algn="l">
              <a:lnSpc>
                <a:spcPct val="126000"/>
              </a:lnSpc>
              <a:spcBef>
                <a:spcPts val="700"/>
              </a:spcBef>
            </a:pPr>
            <a:r>
              <a:rPr sz="1440" b="0" i="0">
                <a:solidFill>
                  <a:srgbClr val="21295C"/>
                </a:solidFill>
                <a:latin typeface="Arial"/>
              </a:rPr>
              <a:t/>
            </a:r>
            <a:r>
              <a:rPr sz="1440" b="1" i="0">
                <a:solidFill>
                  <a:srgbClr val="21295C"/>
                </a:solidFill>
                <a:latin typeface="Arial"/>
              </a:rPr>
              <a:t>Классификация на изображении</a:t>
            </a:r>
            <a:r>
              <a:rPr sz="1440" b="0" i="0">
                <a:solidFill>
                  <a:srgbClr val="21295C"/>
                </a:solidFill>
                <a:latin typeface="Arial"/>
              </a:rPr>
              <a:t> — решение «направить или нет» на месте. Режим: автономное решение без врача (LumineticsCore, бывший IDx-DR · EyeArt). Допущено единицами, и только там, где вопрос бинарный. Не умеет отвечать за годность снимка.</a:t>
            </a:r>
          </a:p>
          <a:p>
            <a:pPr algn="l">
              <a:lnSpc>
                <a:spcPct val="126000"/>
              </a:lnSpc>
              <a:spcBef>
                <a:spcPts val="700"/>
              </a:spcBef>
            </a:pPr>
            <a:r>
              <a:rPr sz="1440" b="0" i="0">
                <a:solidFill>
                  <a:srgbClr val="21295C"/>
                </a:solidFill>
                <a:latin typeface="Arial"/>
              </a:rPr>
              <a:t/>
            </a:r>
            <a:r>
              <a:rPr sz="1440" b="1" i="0">
                <a:solidFill>
                  <a:srgbClr val="21295C"/>
                </a:solidFill>
                <a:latin typeface="Arial"/>
              </a:rPr>
              <a:t>Прогноз на структурированных данных</a:t>
            </a:r>
            <a:r>
              <a:rPr sz="1440" b="0" i="0">
                <a:solidFill>
                  <a:srgbClr val="21295C"/>
                </a:solidFill>
                <a:latin typeface="Arial"/>
              </a:rPr>
              <a:t> — раннее предупреждение по данным карты. Режим: предупреждение внутри медицинской информационной системы, встроенное поставщиком (модель сепсиса у Epic; в России — Webiomed). Расходится вместе с системой, а не покупается отдельно. Не умеет назначить себе порог тревоги.</a:t>
            </a:r>
          </a:p>
          <a:p>
            <a:pPr algn="l">
              <a:lnSpc>
                <a:spcPct val="126000"/>
              </a:lnSpc>
              <a:spcBef>
                <a:spcPts val="700"/>
              </a:spcBef>
            </a:pPr>
            <a:r>
              <a:rPr sz="1440" b="0" i="0">
                <a:solidFill>
                  <a:srgbClr val="21295C"/>
                </a:solidFill>
                <a:latin typeface="Arial"/>
              </a:rPr>
              <a:t/>
            </a:r>
            <a:r>
              <a:rPr sz="1440" b="1" i="0">
                <a:solidFill>
                  <a:srgbClr val="21295C"/>
                </a:solidFill>
                <a:latin typeface="Arial"/>
              </a:rPr>
              <a:t>Поиск с генерацией на тексте</a:t>
            </a:r>
            <a:r>
              <a:rPr sz="1440" b="0" i="0">
                <a:solidFill>
                  <a:srgbClr val="21295C"/>
                </a:solidFill>
                <a:latin typeface="Arial"/>
              </a:rPr>
              <a:t> — ответ по документам, сортировка обращения, запись приёма. Три режима: запись приёма под диктовку (Nuance DAX · Abridge · Nabla) принимается быстрее всех, потому что не ставит диагноз; ответ по документам со ссылкой на источник; сортировка обращения словами — после краха сервиса первой линии стагнирует. Не умеет отличать редкое от частого в открытом потоке.</a:t>
            </a:r>
          </a:p>
          <a:p>
            <a:pPr algn="l">
              <a:lnSpc>
                <a:spcPct val="126000"/>
              </a:lnSpc>
              <a:spcBef>
                <a:spcPts val="700"/>
              </a:spcBef>
            </a:pPr>
            <a:r>
              <a:rPr sz="1440" b="0" i="0">
                <a:solidFill>
                  <a:srgbClr val="21295C"/>
                </a:solidFill>
                <a:latin typeface="Arial"/>
              </a:rPr>
              <a:t/>
            </a:r>
            <a:r>
              <a:rPr sz="1440" b="0" i="0">
                <a:solidFill>
                  <a:srgbClr val="21295C"/>
                </a:solidFill>
                <a:latin typeface="Arial"/>
              </a:rPr>
              <a:t>Клетки те же, что в инженерии; отличается цена ошибки и устройство процедур, которые её удерживают.</a:t>
            </a:r>
          </a:p>
          <a:p>
            <a:pPr algn="l">
              <a:lnSpc>
                <a:spcPct val="126000"/>
              </a:lnSpc>
              <a:spcBef>
                <a:spcPts val="700"/>
              </a:spcBef>
            </a:pPr>
            <a:r>
              <a:rPr sz="1440" b="0" i="0">
                <a:solidFill>
                  <a:srgbClr val="21295C"/>
                </a:solidFill>
                <a:latin typeface="Arial"/>
              </a:rPr>
              <a:t/>
            </a:r>
            <a:r>
              <a:rPr sz="1440" b="0" i="0">
                <a:solidFill>
                  <a:srgbClr val="21295C"/>
                </a:solidFill>
                <a:latin typeface="Arial"/>
              </a:rPr>
              <a:t>Названо, чем делают, а не чья марка лучше: режим один, реализаций много, и разницу в результате делает устройство процедуры, а не бренд.</a:t>
            </a:r>
          </a:p>
        </p:txBody>
      </p:sp>
      <p:sp>
        <p:nvSpPr>
          <p:cNvPr id="6" name="Rectangle 5"/>
          <p:cNvSpPr/>
          <p:nvPr/>
        </p:nvSpPr>
        <p:spPr>
          <a:xfrm>
            <a:off x="502920" y="854141"/>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Из чего состоит этот вечер</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0. Вход 1. Отбор — кого вообще смотреть 2. Анализ данных — и группа, на которой он посчитан 3. Постановка диагноза — человек читает рядом с моделью 4. Наблюдение за состоянием — кто заметит ухудшение 5. Ведение записи — кто прочтёт её потом 6. Чем удерживают — подпись, процедура, норматив 7. Разработка лекарства — удешевили начало, где узкое место 8. Что стало с теми, кто решает — навык 9. Сборка 10. Закрытие</a:t>
            </a:r>
          </a:p>
          <a:p>
            <a:pPr algn="l">
              <a:lnSpc>
                <a:spcPct val="126000"/>
              </a:lnSpc>
              <a:spcBef>
                <a:spcPts val="700"/>
              </a:spcBef>
            </a:pPr>
            <a:r>
              <a:rPr sz="1500" b="0" i="0">
                <a:solidFill>
                  <a:srgbClr val="21295C"/>
                </a:solidFill>
                <a:latin typeface="Arial"/>
              </a:rPr>
              <a:t/>
            </a:r>
            <a:r>
              <a:rPr sz="1500" b="1" i="0">
                <a:solidFill>
                  <a:srgbClr val="21295C"/>
                </a:solidFill>
                <a:latin typeface="Arial"/>
              </a:rPr>
              <a:t>Вопросы</a:t>
            </a:r>
          </a:p>
          <a:p>
            <a:pPr algn="l">
              <a:lnSpc>
                <a:spcPct val="126000"/>
              </a:lnSpc>
              <a:spcBef>
                <a:spcPts val="700"/>
              </a:spcBef>
            </a:pPr>
            <a:r>
              <a:rPr sz="1500" b="0" i="0">
                <a:solidFill>
                  <a:srgbClr val="21295C"/>
                </a:solidFill>
                <a:latin typeface="Arial"/>
              </a:rPr>
              <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0" i="0">
                <a:solidFill>
                  <a:srgbClr val="21295C"/>
                </a:solidFill>
                <a:latin typeface="Arial"/>
              </a:rPr>
              <a:t>Производство лекарственной формы, устройство предсказания структуры белка и цифровые двойники закрываются другими лекциями.</a:t>
            </a:r>
          </a:p>
          <a:p>
            <a:pPr algn="l">
              <a:lnSpc>
                <a:spcPct val="126000"/>
              </a:lnSpc>
              <a:spcBef>
                <a:spcPts val="700"/>
              </a:spcBef>
            </a:pPr>
            <a:r>
              <a:rPr sz="1500" b="0" i="0">
                <a:solidFill>
                  <a:srgbClr val="21295C"/>
                </a:solidFill>
                <a:latin typeface="Arial"/>
              </a:rPr>
              <a:t/>
            </a:r>
            <a:r>
              <a:rPr sz="1500" b="0" i="0">
                <a:solidFill>
                  <a:srgbClr val="21295C"/>
                </a:solidFill>
                <a:latin typeface="Arial"/>
              </a:rPr>
              <a:t>Назначение и лечение · оперативная помощь — разобраны в главе; со сцены сегодня не идут.</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Модель посмотрела первой. Что теперь делает человек — и кто это измерял?</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Модель посмотрела первой. Что теперь делает человек — и кто это измерял?</a:t>
            </a:r>
          </a:p>
          <a:p>
            <a:pPr algn="l">
              <a:lnSpc>
                <a:spcPct val="126000"/>
              </a:lnSpc>
              <a:spcBef>
                <a:spcPts val="700"/>
              </a:spcBef>
            </a:pPr>
            <a:r>
              <a:rPr sz="1200" b="0" i="0">
                <a:solidFill>
                  <a:srgbClr val="21295C"/>
                </a:solidFill>
                <a:latin typeface="Arial"/>
              </a:rPr>
              <a:t/>
            </a:r>
            <a:r>
              <a:rPr sz="1200" b="0" i="1">
                <a:solidFill>
                  <a:srgbClr val="1C7293"/>
                </a:solidFill>
                <a:latin typeface="Arial"/>
              </a:rPr>
              <a:t>Ответ собирается в сборке, поимённо.</a:t>
            </a:r>
          </a:p>
        </p:txBody>
      </p:sp>
      <p:sp>
        <p:nvSpPr>
          <p:cNvPr id="6" name="Rectangle 5"/>
          <p:cNvSpPr/>
          <p:nvPr/>
        </p:nvSpPr>
        <p:spPr>
          <a:xfrm>
            <a:off x="502920" y="1179576"/>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1. Отбор — кого вообще смотреть</a:t>
            </a:r>
          </a:p>
        </p:txBody>
      </p:sp>
      <p:sp>
        <p:nvSpPr>
          <p:cNvPr id="5" name="Rectangle 4"/>
          <p:cNvSpPr/>
          <p:nvPr/>
        </p:nvSpPr>
        <p:spPr>
          <a:xfrm>
            <a:off x="704088" y="1570238"/>
            <a:ext cx="1188720" cy="59436"/>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1844558"/>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Прежде чем кого-то лечить, кто-то решает, кого вообще посмотреть.</a:t>
            </a:r>
          </a:p>
        </p:txBody>
      </p:sp>
      <p:sp>
        <p:nvSpPr>
          <p:cNvPr id="7" name="TextBox 6"/>
          <p:cNvSpPr txBox="1"/>
          <p:nvPr/>
        </p:nvSpPr>
        <p:spPr>
          <a:xfrm>
            <a:off x="704088" y="2311240"/>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Разборы по порядку: </a:t>
            </a:r>
            <a:r>
              <a:rPr sz="1550" b="1" i="0">
                <a:solidFill>
                  <a:srgbClr val="21295C"/>
                </a:solidFill>
                <a:latin typeface="Arial"/>
              </a:rPr>
              <a:t>Пример 1: чат-бот первой линии</a:t>
            </a:r>
            <a:r>
              <a:rPr sz="1550" b="0" i="0">
                <a:solidFill>
                  <a:srgbClr val="21295C"/>
                </a:solidFill>
                <a:latin typeface="Arial"/>
              </a:rPr>
              <a:t> · </a:t>
            </a:r>
            <a:r>
              <a:rPr sz="1550" b="1" i="0">
                <a:solidFill>
                  <a:srgbClr val="21295C"/>
                </a:solidFill>
                <a:latin typeface="Arial"/>
              </a:rPr>
              <a:t>Глазное дно без офтальмолога</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Женщине пришло письмо, и её снимок прочли двое, которые её не видели</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Женщине пятидесяти четырёх лет: она ничего не чувствует — письмо пришло потому, что программа зовёт всех женщин этого возраста с назначенным интервалом. Снимок делает лаборант.</a:t>
            </a:r>
          </a:p>
          <a:p>
            <a:pPr algn="l">
              <a:lnSpc>
                <a:spcPct val="126000"/>
              </a:lnSpc>
              <a:spcBef>
                <a:spcPts val="700"/>
              </a:spcBef>
            </a:pPr>
            <a:r>
              <a:rPr sz="1500" b="0" i="0">
                <a:solidFill>
                  <a:srgbClr val="21295C"/>
                </a:solidFill>
                <a:latin typeface="Arial"/>
              </a:rPr>
              <a:t/>
            </a:r>
            <a:r>
              <a:rPr sz="1500" b="0" i="0">
                <a:solidFill>
                  <a:srgbClr val="21295C"/>
                </a:solidFill>
                <a:latin typeface="Arial"/>
              </a:rPr>
              <a:t>Снимок читают двое рентгенологов, которые её не видели и между собой не говорят. Если один сказал «есть», а другой «нет» — снимок уходит третьему.</a:t>
            </a:r>
          </a:p>
          <a:p>
            <a:pPr algn="l">
              <a:lnSpc>
                <a:spcPct val="126000"/>
              </a:lnSpc>
              <a:spcBef>
                <a:spcPts val="700"/>
              </a:spcBef>
            </a:pPr>
            <a:r>
              <a:rPr sz="1500" b="0" i="0">
                <a:solidFill>
                  <a:srgbClr val="21295C"/>
                </a:solidFill>
                <a:latin typeface="Arial"/>
              </a:rPr>
              <a:t/>
            </a:r>
            <a:r>
              <a:rPr sz="1500" b="0" i="0">
                <a:solidFill>
                  <a:srgbClr val="21295C"/>
                </a:solidFill>
                <a:latin typeface="Arial"/>
              </a:rPr>
              <a:t>Дальше либо письмо «норма», либо звонок «придите на дообследование».</a:t>
            </a:r>
          </a:p>
          <a:p>
            <a:pPr algn="l">
              <a:lnSpc>
                <a:spcPct val="126000"/>
              </a:lnSpc>
              <a:spcBef>
                <a:spcPts val="700"/>
              </a:spcBef>
            </a:pPr>
            <a:r>
              <a:rPr sz="1500" b="0" i="0">
                <a:solidFill>
                  <a:srgbClr val="21295C"/>
                </a:solidFill>
                <a:latin typeface="Arial"/>
              </a:rPr>
              <a:t/>
            </a:r>
            <a:r>
              <a:rPr sz="1500" b="0" i="0">
                <a:solidFill>
                  <a:srgbClr val="21295C"/>
                </a:solidFill>
                <a:latin typeface="Arial"/>
              </a:rPr>
              <a:t>Человек с жалобой идёт обратным путём — он пришёл сам, и его ведёт симптом.</a:t>
            </a:r>
          </a:p>
          <a:p>
            <a:pPr algn="l">
              <a:lnSpc>
                <a:spcPct val="126000"/>
              </a:lnSpc>
              <a:spcBef>
                <a:spcPts val="700"/>
              </a:spcBef>
            </a:pPr>
            <a:r>
              <a:rPr sz="1500" b="0" i="0">
                <a:solidFill>
                  <a:srgbClr val="21295C"/>
                </a:solidFill>
                <a:latin typeface="Arial"/>
              </a:rPr>
              <a:t/>
            </a:r>
            <a:r>
              <a:rPr sz="1500" b="0" i="0">
                <a:solidFill>
                  <a:srgbClr val="21295C"/>
                </a:solidFill>
                <a:latin typeface="Arial"/>
              </a:rPr>
              <a:t>Кто-то решает, кто попадёт к врачу сегодня, а кто — через две недели.</a:t>
            </a:r>
          </a:p>
          <a:p>
            <a:pPr algn="l">
              <a:lnSpc>
                <a:spcPct val="126000"/>
              </a:lnSpc>
              <a:spcBef>
                <a:spcPts val="700"/>
              </a:spcBef>
            </a:pPr>
            <a:r>
              <a:rPr sz="1500" b="0" i="0">
                <a:solidFill>
                  <a:srgbClr val="21295C"/>
                </a:solidFill>
                <a:latin typeface="Arial"/>
              </a:rPr>
              <a:t/>
            </a:r>
            <a:r>
              <a:rPr sz="1500" b="1" i="0">
                <a:solidFill>
                  <a:srgbClr val="21295C"/>
                </a:solidFill>
                <a:latin typeface="Arial"/>
              </a:rPr>
              <a:t>У кого в рабочем контуре стоит автоматический фильтр, который решает, что до вас вообще дойдёт, — и кто разбирает то, что он отфильтровал?</a:t>
            </a:r>
          </a:p>
        </p:txBody>
      </p:sp>
      <p:sp>
        <p:nvSpPr>
          <p:cNvPr id="6" name="Rectangle 5"/>
          <p:cNvSpPr/>
          <p:nvPr/>
        </p:nvSpPr>
        <p:spPr>
          <a:xfrm>
            <a:off x="502920" y="1179576"/>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Приглашение по возрасту и интервалу. Шведская программа</a:t>
            </a:r>
          </a:p>
        </p:txBody>
      </p:sp>
      <p:sp>
        <p:nvSpPr>
          <p:cNvPr id="4" name="Rounded Rectangle 3"/>
          <p:cNvSpPr/>
          <p:nvPr/>
        </p:nvSpPr>
        <p:spPr>
          <a:xfrm>
            <a:off x="502920" y="1335024"/>
            <a:ext cx="5510631" cy="1680031"/>
          </a:xfrm>
          <a:prstGeom prst="roundRect">
            <a:avLst>
              <a:gd name="adj" fmla="val 1814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ПРОПУСК</a:t>
            </a:r>
          </a:p>
        </p:txBody>
      </p:sp>
      <p:sp>
        <p:nvSpPr>
          <p:cNvPr id="6" name="TextBox 5"/>
          <p:cNvSpPr txBox="1"/>
          <p:nvPr/>
        </p:nvSpPr>
        <p:spPr>
          <a:xfrm>
            <a:off x="640080" y="1690796"/>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рак, найденный между приглашениями</a:t>
            </a:r>
          </a:p>
        </p:txBody>
      </p:sp>
      <p:sp>
        <p:nvSpPr>
          <p:cNvPr id="7" name="TextBox 6"/>
          <p:cNvSpPr txBox="1"/>
          <p:nvPr/>
        </p:nvSpPr>
        <p:spPr>
          <a:xfrm>
            <a:off x="640080" y="2508219"/>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счёт этой цены стоит в контрольной линии раздела о чтении снимка и здесь не произносится</a:t>
            </a:r>
          </a:p>
        </p:txBody>
      </p:sp>
      <p:sp>
        <p:nvSpPr>
          <p:cNvPr id="8" name="Rounded Rectangle 7"/>
          <p:cNvSpPr/>
          <p:nvPr/>
        </p:nvSpPr>
        <p:spPr>
          <a:xfrm>
            <a:off x="6178143" y="1335024"/>
            <a:ext cx="5510631" cy="1680031"/>
          </a:xfrm>
          <a:prstGeom prst="roundRect">
            <a:avLst>
              <a:gd name="adj" fmla="val 1814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ЛОЖНЫЙ ВЫЗОВ</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2,0 из ста обследованных</a:t>
            </a:r>
          </a:p>
        </p:txBody>
      </p:sp>
      <p:sp>
        <p:nvSpPr>
          <p:cNvPr id="11" name="TextBox 10"/>
          <p:cNvSpPr txBox="1"/>
          <p:nvPr/>
        </p:nvSpPr>
        <p:spPr>
          <a:xfrm>
            <a:off x="6315303"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контрольное плечо шведской программы: 52 872 женщины, двойное чтение без модели, наблюдение два года</a:t>
            </a:r>
          </a:p>
        </p:txBody>
      </p:sp>
      <p:sp>
        <p:nvSpPr>
          <p:cNvPr id="12" name="Rounded Rectangle 11"/>
          <p:cNvSpPr/>
          <p:nvPr/>
        </p:nvSpPr>
        <p:spPr>
          <a:xfrm>
            <a:off x="374904" y="3106495"/>
            <a:ext cx="11441887" cy="3129712"/>
          </a:xfrm>
          <a:prstGeom prst="roundRect">
            <a:avLst>
              <a:gd name="adj" fmla="val 97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3197935"/>
            <a:ext cx="11112703" cy="3038272"/>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Режим: </a:t>
            </a:r>
            <a:r>
              <a:rPr sz="1500" b="1" i="0">
                <a:solidFill>
                  <a:srgbClr val="21295C"/>
                </a:solidFill>
                <a:latin typeface="Arial"/>
              </a:rPr>
              <a:t>звать всех по возрасту и интервалу</a:t>
            </a:r>
            <a:r>
              <a:rPr sz="1500" b="0" i="0">
                <a:solidFill>
                  <a:srgbClr val="21295C"/>
                </a:solidFill>
                <a:latin typeface="Arial"/>
              </a:rPr>
              <a:t> (шведская программа, контрольная группа).</a:t>
            </a:r>
          </a:p>
          <a:p>
            <a:pPr algn="l">
              <a:lnSpc>
                <a:spcPct val="126000"/>
              </a:lnSpc>
              <a:spcBef>
                <a:spcPts val="700"/>
              </a:spcBef>
            </a:pPr>
            <a:r>
              <a:rPr sz="1500" b="0" i="0">
                <a:solidFill>
                  <a:srgbClr val="21295C"/>
                </a:solidFill>
                <a:latin typeface="Arial"/>
              </a:rPr>
              <a:t/>
            </a:r>
            <a:r>
              <a:rPr sz="1500" b="1" i="0">
                <a:solidFill>
                  <a:srgbClr val="21295C"/>
                </a:solidFill>
                <a:latin typeface="Arial"/>
              </a:rPr>
              <a:t>Пропуск</a:t>
            </a:r>
            <a:r>
              <a:rPr sz="1500" b="0" i="0">
                <a:solidFill>
                  <a:srgbClr val="21295C"/>
                </a:solidFill>
                <a:latin typeface="Arial"/>
              </a:rPr>
              <a:t> — рак, найденный между двумя приглашениями: программа его не поймала, поймал симптом. Счёт этой цены предъявляется в контрольной линии, где у него есть и вторая половина, и оговорка о значимости.</a:t>
            </a:r>
          </a:p>
          <a:p>
            <a:pPr algn="l">
              <a:lnSpc>
                <a:spcPct val="126000"/>
              </a:lnSpc>
              <a:spcBef>
                <a:spcPts val="700"/>
              </a:spcBef>
            </a:pPr>
            <a:r>
              <a:rPr sz="1500" b="0" i="0">
                <a:solidFill>
                  <a:srgbClr val="21295C"/>
                </a:solidFill>
                <a:latin typeface="Arial"/>
              </a:rPr>
              <a:t/>
            </a:r>
            <a:r>
              <a:rPr sz="1500" b="1" i="0">
                <a:solidFill>
                  <a:srgbClr val="21295C"/>
                </a:solidFill>
                <a:latin typeface="Arial"/>
              </a:rPr>
              <a:t>Ложный вызов</a:t>
            </a:r>
            <a:r>
              <a:rPr sz="1500" b="0" i="0">
                <a:solidFill>
                  <a:srgbClr val="21295C"/>
                </a:solidFill>
                <a:latin typeface="Arial"/>
              </a:rPr>
              <a:t> — </a:t>
            </a:r>
            <a:r>
              <a:rPr sz="1500" b="1" i="0">
                <a:solidFill>
                  <a:srgbClr val="21295C"/>
                </a:solidFill>
                <a:latin typeface="Arial"/>
              </a:rPr>
              <a:t>2,0 из ста обследованных</a:t>
            </a:r>
            <a:r>
              <a:rPr sz="1500" b="0" i="0">
                <a:solidFill>
                  <a:srgbClr val="21295C"/>
                </a:solidFill>
                <a:latin typeface="Arial"/>
              </a:rPr>
              <a:t> вызваны повторно: повторный снимок, иногда биопсия, недели ожидания. База: контрольное плечо шведской программы, 52 872 женщины, наблюдение два года.</a:t>
            </a:r>
          </a:p>
          <a:p>
            <a:pPr algn="l">
              <a:lnSpc>
                <a:spcPct val="126000"/>
              </a:lnSpc>
              <a:spcBef>
                <a:spcPts val="700"/>
              </a:spcBef>
            </a:pPr>
            <a:r>
              <a:rPr sz="1500" b="0" i="0">
                <a:solidFill>
                  <a:srgbClr val="21295C"/>
                </a:solidFill>
                <a:latin typeface="Arial"/>
              </a:rPr>
              <a:t/>
            </a:r>
            <a:r>
              <a:rPr sz="1500" b="0" i="0">
                <a:solidFill>
                  <a:srgbClr val="21295C"/>
                </a:solidFill>
                <a:latin typeface="Arial"/>
              </a:rPr>
              <a:t>Порог — это документ: возраст, с которого зовут, и интервал назначены раньше, чем кто-либо измерил точность какого-либо прибора.</a:t>
            </a:r>
          </a:p>
          <a:p>
            <a:pPr algn="l">
              <a:lnSpc>
                <a:spcPct val="126000"/>
              </a:lnSpc>
              <a:spcBef>
                <a:spcPts val="700"/>
              </a:spcBef>
            </a:pPr>
            <a:r>
              <a:rPr sz="1200" b="0" i="0">
                <a:solidFill>
                  <a:srgbClr val="21295C"/>
                </a:solidFill>
                <a:latin typeface="Arial"/>
              </a:rPr>
              <a:t/>
            </a:r>
            <a:r>
              <a:rPr sz="1200" b="0" i="1">
                <a:solidFill>
                  <a:srgbClr val="1C7293"/>
                </a:solidFill>
                <a:latin typeface="Arial"/>
              </a:rPr>
              <a:t>А чем кончается «ждать жалобу» — следующий кадр.</a:t>
            </a:r>
          </a:p>
        </p:txBody>
      </p:sp>
      <p:sp>
        <p:nvSpPr>
          <p:cNvPr id="14" name="Rectangle 13"/>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Рандомизированное исследование шведской программы скрининга, контрольная группа — промежуточные данные 2023, итоговые 2026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А чем кончается «ждать жалобу»</a:t>
            </a:r>
          </a:p>
        </p:txBody>
      </p:sp>
      <p:sp>
        <p:nvSpPr>
          <p:cNvPr id="4" name="Rounded Rectangle 3"/>
          <p:cNvSpPr/>
          <p:nvPr/>
        </p:nvSpPr>
        <p:spPr>
          <a:xfrm>
            <a:off x="502920" y="1335024"/>
            <a:ext cx="5510631" cy="1289607"/>
          </a:xfrm>
          <a:prstGeom prst="roundRect">
            <a:avLst>
              <a:gd name="adj" fmla="val 23635"/>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БЕЗ ПРИГЛАШЕНИЯ</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57 из ста найденных</a:t>
            </a:r>
          </a:p>
        </p:txBody>
      </p:sp>
      <p:sp>
        <p:nvSpPr>
          <p:cNvPr id="7" name="TextBox 6"/>
          <p:cNvSpPr txBox="1"/>
          <p:nvPr/>
        </p:nvSpPr>
        <p:spPr>
          <a:xfrm>
            <a:off x="640080" y="2117795"/>
            <a:ext cx="5236311"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91 случай из 159 — стадия II и выше</a:t>
            </a:r>
          </a:p>
        </p:txBody>
      </p:sp>
      <p:sp>
        <p:nvSpPr>
          <p:cNvPr id="8" name="Rounded Rectangle 7"/>
          <p:cNvSpPr/>
          <p:nvPr/>
        </p:nvSpPr>
        <p:spPr>
          <a:xfrm>
            <a:off x="6178143" y="1335024"/>
            <a:ext cx="5510631" cy="1289607"/>
          </a:xfrm>
          <a:prstGeom prst="roundRect">
            <a:avLst>
              <a:gd name="adj" fmla="val 23635"/>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 ПРИГЛАШЕНИЕМ</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39 из ста найденных</a:t>
            </a:r>
          </a:p>
        </p:txBody>
      </p:sp>
      <p:sp>
        <p:nvSpPr>
          <p:cNvPr id="11" name="TextBox 10"/>
          <p:cNvSpPr txBox="1"/>
          <p:nvPr/>
        </p:nvSpPr>
        <p:spPr>
          <a:xfrm>
            <a:off x="6315303"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62 случая из 160; доля поздних стадий среди найденных не зависит от того, сколько нашли, — только от того, когда нашли</a:t>
            </a:r>
          </a:p>
        </p:txBody>
      </p:sp>
      <p:sp>
        <p:nvSpPr>
          <p:cNvPr id="12" name="Rounded Rectangle 11"/>
          <p:cNvSpPr/>
          <p:nvPr/>
        </p:nvSpPr>
        <p:spPr>
          <a:xfrm>
            <a:off x="374904" y="2716071"/>
            <a:ext cx="11441887" cy="3520136"/>
          </a:xfrm>
          <a:prstGeom prst="roundRect">
            <a:avLst>
              <a:gd name="adj" fmla="val 865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2807511"/>
            <a:ext cx="11112703" cy="342869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Режим: </a:t>
            </a:r>
            <a:r>
              <a:rPr sz="1500" b="1" i="0">
                <a:solidFill>
                  <a:srgbClr val="21295C"/>
                </a:solidFill>
                <a:latin typeface="Arial"/>
              </a:rPr>
              <a:t>ждать жалобу</a:t>
            </a:r>
            <a:r>
              <a:rPr sz="1500" b="0" i="0">
                <a:solidFill>
                  <a:srgbClr val="21295C"/>
                </a:solidFill>
                <a:latin typeface="Arial"/>
              </a:rPr>
              <a:t> — человек приходит сам, когда почувствовал.</a:t>
            </a:r>
          </a:p>
          <a:p>
            <a:pPr algn="l">
              <a:lnSpc>
                <a:spcPct val="126000"/>
              </a:lnSpc>
              <a:spcBef>
                <a:spcPts val="700"/>
              </a:spcBef>
            </a:pPr>
            <a:r>
              <a:rPr sz="1500" b="0" i="0">
                <a:solidFill>
                  <a:srgbClr val="21295C"/>
                </a:solidFill>
                <a:latin typeface="Arial"/>
              </a:rPr>
              <a:t/>
            </a:r>
            <a:r>
              <a:rPr sz="1500" b="0" i="0">
                <a:solidFill>
                  <a:srgbClr val="21295C"/>
                </a:solidFill>
                <a:latin typeface="Arial"/>
              </a:rPr>
              <a:t>Стадия II и выше среди найденных случаев: </a:t>
            </a:r>
            <a:r>
              <a:rPr sz="1500" b="1" i="0">
                <a:solidFill>
                  <a:srgbClr val="21295C"/>
                </a:solidFill>
                <a:latin typeface="Arial"/>
              </a:rPr>
              <a:t>57 из ста</a:t>
            </a:r>
            <a:r>
              <a:rPr sz="1500" b="0" i="0">
                <a:solidFill>
                  <a:srgbClr val="21295C"/>
                </a:solidFill>
                <a:latin typeface="Arial"/>
              </a:rPr>
              <a:t> в группе без приглашения — против </a:t>
            </a:r>
            <a:r>
              <a:rPr sz="1500" b="1" i="0">
                <a:solidFill>
                  <a:srgbClr val="21295C"/>
                </a:solidFill>
                <a:latin typeface="Arial"/>
              </a:rPr>
              <a:t>39 из ста</a:t>
            </a:r>
            <a:r>
              <a:rPr sz="1500" b="0" i="0">
                <a:solidFill>
                  <a:srgbClr val="21295C"/>
                </a:solidFill>
                <a:latin typeface="Arial"/>
              </a:rPr>
              <a:t> в приглашённой. База: Мальмёское рандомизированное испытание, набор шёл с середины семидесятых по середину восьмидесятых.</a:t>
            </a:r>
          </a:p>
          <a:p>
            <a:pPr algn="l">
              <a:lnSpc>
                <a:spcPct val="126000"/>
              </a:lnSpc>
              <a:spcBef>
                <a:spcPts val="700"/>
              </a:spcBef>
            </a:pPr>
            <a:r>
              <a:rPr sz="1500" b="0" i="0">
                <a:solidFill>
                  <a:srgbClr val="21295C"/>
                </a:solidFill>
                <a:latin typeface="Arial"/>
              </a:rPr>
              <a:t/>
            </a:r>
            <a:r>
              <a:rPr sz="1500" b="0" i="0">
                <a:solidFill>
                  <a:srgbClr val="21295C"/>
                </a:solidFill>
                <a:latin typeface="Arial"/>
              </a:rPr>
              <a:t>Находка приходит позже и стадией крупнее — и это измерено, а не рассуждение.</a:t>
            </a:r>
          </a:p>
          <a:p>
            <a:pPr algn="l">
              <a:lnSpc>
                <a:spcPct val="126000"/>
              </a:lnSpc>
              <a:spcBef>
                <a:spcPts val="700"/>
              </a:spcBef>
            </a:pPr>
            <a:r>
              <a:rPr sz="1200" b="0" i="0">
                <a:solidFill>
                  <a:srgbClr val="21295C"/>
                </a:solidFill>
                <a:latin typeface="Arial"/>
              </a:rPr>
              <a:t/>
            </a:r>
            <a:r>
              <a:rPr sz="1200" b="0" i="1">
                <a:solidFill>
                  <a:srgbClr val="1C7293"/>
                </a:solidFill>
                <a:latin typeface="Arial"/>
              </a:rPr>
              <a:t>Измерение того режима в единственный момент, когда его измеряли случайным распределением — пока скрининг вводили; сегодня его так не измерить.</a:t>
            </a:r>
          </a:p>
        </p:txBody>
      </p:sp>
      <p:sp>
        <p:nvSpPr>
          <p:cNvPr id="14" name="Rectangle 13"/>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Мальмёское рандомизированное испытание маммографического скрининга (набор 1976–1986)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600" b="1" i="0">
                <a:solidFill>
                  <a:srgbClr val="21295C"/>
                </a:solidFill>
                <a:latin typeface="Arial"/>
              </a:rPr>
              <a:t>Что здесь получилось, что не получилось, и что про это публикуют</a:t>
            </a:r>
          </a:p>
        </p:txBody>
      </p:sp>
      <p:sp>
        <p:nvSpPr>
          <p:cNvPr id="4" name="Rounded Rectangle 3"/>
          <p:cNvSpPr/>
          <p:nvPr/>
        </p:nvSpPr>
        <p:spPr>
          <a:xfrm>
            <a:off x="502920" y="1335024"/>
            <a:ext cx="11185855" cy="1289607"/>
          </a:xfrm>
          <a:prstGeom prst="roundRect">
            <a:avLst>
              <a:gd name="adj" fmla="val 23635"/>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10911535"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ГЕРМАНСКАЯ ПРОГРАММА — ВЫЯВЛЕНИЕ НА 1000 ОБСЛЕДОВАННЫХ</a:t>
            </a:r>
          </a:p>
        </p:txBody>
      </p:sp>
      <p:sp>
        <p:nvSpPr>
          <p:cNvPr id="6" name="TextBox 5"/>
          <p:cNvSpPr txBox="1"/>
          <p:nvPr/>
        </p:nvSpPr>
        <p:spPr>
          <a:xfrm>
            <a:off x="640080" y="1690796"/>
            <a:ext cx="10911535"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6,7 с поддержкой модели · 5,7 без неё</a:t>
            </a:r>
          </a:p>
        </p:txBody>
      </p:sp>
      <p:sp>
        <p:nvSpPr>
          <p:cNvPr id="7" name="TextBox 6"/>
          <p:cNvSpPr txBox="1"/>
          <p:nvPr/>
        </p:nvSpPr>
        <p:spPr>
          <a:xfrm>
            <a:off x="640080" y="2117795"/>
            <a:ext cx="10911535"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463 094 обследованные женщины, из них 260 739 с поддержкой модели; наблюдательное внедрение — применять модель каждый радиолог решал сам, поэтому направление подтверждено, а величина модели не приписывается</a:t>
            </a:r>
          </a:p>
        </p:txBody>
      </p:sp>
      <p:sp>
        <p:nvSpPr>
          <p:cNvPr id="8" name="Rounded Rectangle 7"/>
          <p:cNvSpPr/>
          <p:nvPr/>
        </p:nvSpPr>
        <p:spPr>
          <a:xfrm>
            <a:off x="502920" y="2807511"/>
            <a:ext cx="5437479"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2962959"/>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Получилось</a:t>
            </a:r>
          </a:p>
        </p:txBody>
      </p:sp>
      <p:sp>
        <p:nvSpPr>
          <p:cNvPr id="10" name="TextBox 9"/>
          <p:cNvSpPr txBox="1"/>
          <p:nvPr/>
        </p:nvSpPr>
        <p:spPr>
          <a:xfrm>
            <a:off x="667512" y="3319138"/>
            <a:ext cx="5108295" cy="750245"/>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 Объём человеческого чтения снимается без потери чувствительности</a:t>
            </a:r>
          </a:p>
          <a:p>
            <a:pPr algn="l">
              <a:lnSpc>
                <a:spcPct val="126000"/>
              </a:lnSpc>
            </a:pPr>
            <a:r>
              <a:rPr sz="1200" b="0" i="0">
                <a:solidFill>
                  <a:srgbClr val="21295C"/>
                </a:solidFill>
                <a:latin typeface="Arial"/>
              </a:rPr>
              <a:t>• Решение «направить или нет» на месте, где специалиста нет вовсе — измерено явкой</a:t>
            </a:r>
          </a:p>
        </p:txBody>
      </p:sp>
      <p:sp>
        <p:nvSpPr>
          <p:cNvPr id="11" name="Rounded Rectangle 10"/>
          <p:cNvSpPr/>
          <p:nvPr/>
        </p:nvSpPr>
        <p:spPr>
          <a:xfrm>
            <a:off x="6251295" y="2807511"/>
            <a:ext cx="5437479" cy="1417320"/>
          </a:xfrm>
          <a:prstGeom prst="roundRect">
            <a:avLst>
              <a:gd name="adj" fmla="val 21505"/>
            </a:avLst>
          </a:prstGeom>
          <a:solidFill>
            <a:srgbClr val="FFFFFF"/>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15887" y="2962959"/>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Не получилось</a:t>
            </a:r>
          </a:p>
        </p:txBody>
      </p:sp>
      <p:sp>
        <p:nvSpPr>
          <p:cNvPr id="13" name="TextBox 12"/>
          <p:cNvSpPr txBox="1"/>
          <p:nvPr/>
        </p:nvSpPr>
        <p:spPr>
          <a:xfrm>
            <a:off x="6415887" y="3319138"/>
            <a:ext cx="5108295" cy="750245"/>
          </a:xfrm>
          <a:prstGeom prst="rect">
            <a:avLst/>
          </a:prstGeom>
          <a:noFill/>
        </p:spPr>
        <p:txBody>
          <a:bodyPr wrap="square" lIns="0" rIns="0" tIns="0" bIns="0" anchor="t">
            <a:spAutoFit/>
          </a:bodyPr>
          <a:lstStyle/>
          <a:p>
            <a:pPr algn="l">
              <a:lnSpc>
                <a:spcPct val="126000"/>
              </a:lnSpc>
            </a:pPr>
            <a:r>
              <a:rPr sz="1250" b="0" i="0">
                <a:solidFill>
                  <a:srgbClr val="21295C"/>
                </a:solidFill>
                <a:latin typeface="Arial"/>
              </a:rPr>
              <a:t>• Открытый поток обращений: редкие диагнозы, дети, беременные, пожилые</a:t>
            </a:r>
          </a:p>
          <a:p>
            <a:pPr algn="l">
              <a:lnSpc>
                <a:spcPct val="126000"/>
              </a:lnSpc>
            </a:pPr>
            <a:r>
              <a:rPr sz="1250" b="0" i="0">
                <a:solidFill>
                  <a:srgbClr val="21295C"/>
                </a:solidFill>
                <a:latin typeface="Arial"/>
              </a:rPr>
              <a:t>• Экзаменационная метрика как основание для допуска к потоку</a:t>
            </a:r>
          </a:p>
        </p:txBody>
      </p:sp>
      <p:sp>
        <p:nvSpPr>
          <p:cNvPr id="14" name="Rounded Rectangle 13"/>
          <p:cNvSpPr/>
          <p:nvPr/>
        </p:nvSpPr>
        <p:spPr>
          <a:xfrm>
            <a:off x="374904" y="4316271"/>
            <a:ext cx="11441887" cy="1919936"/>
          </a:xfrm>
          <a:prstGeom prst="roundRect">
            <a:avLst>
              <a:gd name="adj" fmla="val 1587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39496" y="4407711"/>
            <a:ext cx="11112703" cy="1828496"/>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Триаж по предсказанному риску снимает </a:t>
            </a:r>
            <a:r>
              <a:rPr sz="1200" b="1" i="0">
                <a:solidFill>
                  <a:srgbClr val="21295C"/>
                </a:solidFill>
                <a:latin typeface="Arial"/>
              </a:rPr>
              <a:t>44,3 процента</a:t>
            </a:r>
            <a:r>
              <a:rPr sz="1200" b="0" i="0">
                <a:solidFill>
                  <a:srgbClr val="21295C"/>
                </a:solidFill>
                <a:latin typeface="Arial"/>
              </a:rPr>
              <a:t> человеческого чтения при чувствительности </a:t>
            </a:r>
            <a:r>
              <a:rPr sz="1200" b="1" i="0">
                <a:solidFill>
                  <a:srgbClr val="21295C"/>
                </a:solidFill>
                <a:latin typeface="Arial"/>
              </a:rPr>
              <a:t>80,5 из ста</a:t>
            </a:r>
            <a:r>
              <a:rPr sz="1200" b="0" i="0">
                <a:solidFill>
                  <a:srgbClr val="21295C"/>
                </a:solidFill>
                <a:latin typeface="Arial"/>
              </a:rPr>
              <a:t> против </a:t>
            </a:r>
            <a:r>
              <a:rPr sz="1200" b="1" i="0">
                <a:solidFill>
                  <a:srgbClr val="21295C"/>
                </a:solidFill>
                <a:latin typeface="Arial"/>
              </a:rPr>
              <a:t>73,8 из ста</a:t>
            </a:r>
            <a:r>
              <a:rPr sz="1200" b="0" i="0">
                <a:solidFill>
                  <a:srgbClr val="21295C"/>
                </a:solidFill>
                <a:latin typeface="Arial"/>
              </a:rPr>
              <a:t> у двойного чтения без модели. </a:t>
            </a:r>
            <a:r>
              <a:rPr sz="1200" b="1" i="0">
                <a:solidFill>
                  <a:srgbClr val="21295C"/>
                </a:solidFill>
                <a:latin typeface="Arial"/>
              </a:rPr>
              <a:t>Базы разные: объём чтения — промежуточный анализ на 80 033 женщинах, чувствительность — итоговый на 105 934.</a:t>
            </a:r>
            <a:r>
              <a:rPr sz="1200" b="0" i="0">
                <a:solidFill>
                  <a:srgbClr val="21295C"/>
                </a:solidFill>
                <a:latin typeface="Arial"/>
              </a:rPr>
              <a:t> Второго независимого человека большинство обследованных больше не получает.</a:t>
            </a:r>
          </a:p>
          <a:p>
            <a:pPr algn="l">
              <a:lnSpc>
                <a:spcPct val="126000"/>
              </a:lnSpc>
              <a:spcBef>
                <a:spcPts val="700"/>
              </a:spcBef>
            </a:pPr>
            <a:r>
              <a:rPr sz="1200" b="0" i="0">
                <a:solidFill>
                  <a:srgbClr val="21295C"/>
                </a:solidFill>
                <a:latin typeface="Arial"/>
              </a:rPr>
              <a:t/>
            </a:r>
            <a:r>
              <a:rPr sz="1200" b="1" i="0">
                <a:solidFill>
                  <a:srgbClr val="21295C"/>
                </a:solidFill>
                <a:latin typeface="Arial"/>
              </a:rPr>
              <a:t>Охват публикуют, устройство работы — нет.</a:t>
            </a:r>
          </a:p>
          <a:p>
            <a:pPr algn="l">
              <a:lnSpc>
                <a:spcPct val="126000"/>
              </a:lnSpc>
              <a:spcBef>
                <a:spcPts val="700"/>
              </a:spcBef>
            </a:pPr>
            <a:r>
              <a:rPr sz="1200" b="0" i="0">
                <a:solidFill>
                  <a:srgbClr val="21295C"/>
                </a:solidFill>
                <a:latin typeface="Arial"/>
              </a:rPr>
              <a:t/>
            </a:r>
            <a:r>
              <a:rPr sz="1200" b="0" i="0">
                <a:solidFill>
                  <a:srgbClr val="21295C"/>
                </a:solidFill>
                <a:latin typeface="Arial"/>
              </a:rPr>
              <a:t>• Германская программа скрининга: как распределилась работа между моделью и вторым читателем, не опубликовано.</a:t>
            </a:r>
          </a:p>
          <a:p>
            <a:pPr algn="l">
              <a:lnSpc>
                <a:spcPct val="126000"/>
              </a:lnSpc>
              <a:spcBef>
                <a:spcPts val="700"/>
              </a:spcBef>
            </a:pPr>
            <a:r>
              <a:rPr sz="1200" b="0" i="0">
                <a:solidFill>
                  <a:srgbClr val="21295C"/>
                </a:solidFill>
                <a:latin typeface="Arial"/>
              </a:rPr>
              <a:t/>
            </a:r>
            <a:r>
              <a:rPr sz="1200" b="0" i="0">
                <a:solidFill>
                  <a:srgbClr val="21295C"/>
                </a:solidFill>
                <a:latin typeface="Arial"/>
              </a:rPr>
              <a:t>• Отечественная платформа лучевой диагностики: свыше </a:t>
            </a:r>
            <a:r>
              <a:rPr sz="1200" b="1" i="0">
                <a:solidFill>
                  <a:srgbClr val="21295C"/>
                </a:solidFill>
                <a:latin typeface="Arial"/>
              </a:rPr>
              <a:t>16 млн</a:t>
            </a:r>
            <a:r>
              <a:rPr sz="1200" b="0" i="0">
                <a:solidFill>
                  <a:srgbClr val="21295C"/>
                </a:solidFill>
                <a:latin typeface="Arial"/>
              </a:rPr>
              <a:t> исследований в </a:t>
            </a:r>
            <a:r>
              <a:rPr sz="1200" b="1" i="0">
                <a:solidFill>
                  <a:srgbClr val="21295C"/>
                </a:solidFill>
                <a:latin typeface="Arial"/>
              </a:rPr>
              <a:t>75 регионах</a:t>
            </a:r>
            <a:r>
              <a:rPr sz="1200" b="0" i="0">
                <a:solidFill>
                  <a:srgbClr val="21295C"/>
                </a:solidFill>
                <a:latin typeface="Arial"/>
              </a:rPr>
              <a:t> на срез конца июля 2026 года. Методика подсчёта не раскрыта; сколько всего лучевых исследований делается в стране за год, не опубликовано — доля охвата поэтому не считается.</a:t>
            </a:r>
          </a:p>
        </p:txBody>
      </p:sp>
      <p:sp>
        <p:nvSpPr>
          <p:cNvPr id="16" name="Rectangle 15"/>
          <p:cNvSpPr/>
          <p:nvPr/>
        </p:nvSpPr>
        <p:spPr>
          <a:xfrm>
            <a:off x="502920" y="871115"/>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Шведская программа скрининга (упоминание)</a:t>
            </a:r>
            <a:r>
              <a:rPr sz="1100" b="0" i="1">
                <a:solidFill>
                  <a:srgbClr val="1C7293"/>
                </a:solidFill>
                <a:latin typeface="Arial"/>
              </a:rPr>
              <a:t> · </a:t>
            </a:r>
            <a:r>
              <a:rPr sz="1100" b="0" i="1">
                <a:solidFill>
                  <a:srgbClr val="1C7293"/>
                </a:solidFill>
                <a:latin typeface="Arial"/>
              </a:rPr>
              <a:t>германское исследование скрининга, 2025</a:t>
            </a:r>
            <a:r>
              <a:rPr sz="1100" b="0" i="1">
                <a:solidFill>
                  <a:srgbClr val="1C7293"/>
                </a:solidFill>
                <a:latin typeface="Arial"/>
              </a:rPr>
              <a:t> · </a:t>
            </a:r>
            <a:r>
              <a:rPr sz="1100" b="0" i="1">
                <a:solidFill>
                  <a:srgbClr val="1C7293"/>
                </a:solidFill>
                <a:latin typeface="Arial"/>
              </a:rPr>
              <a:t>материалы отечественной платформы лучевой диагностики (дата среза)</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чат-бот первой линии</a:t>
            </a:r>
          </a:p>
        </p:txBody>
      </p:sp>
      <p:sp>
        <p:nvSpPr>
          <p:cNvPr id="4" name="Rounded Rectangle 3"/>
          <p:cNvSpPr/>
          <p:nvPr/>
        </p:nvSpPr>
        <p:spPr>
          <a:xfrm>
            <a:off x="502920" y="1335024"/>
            <a:ext cx="5510631" cy="1474446"/>
          </a:xfrm>
          <a:prstGeom prst="roundRect">
            <a:avLst>
              <a:gd name="adj" fmla="val 2067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НА ЭКЗАМЕНАЦИОННЫХ ВОПРОСАХ</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81 у приложения · 72 у врачей</a:t>
            </a:r>
          </a:p>
        </p:txBody>
      </p:sp>
      <p:sp>
        <p:nvSpPr>
          <p:cNvPr id="7" name="TextBox 6"/>
          <p:cNvSpPr txBox="1"/>
          <p:nvPr/>
        </p:nvSpPr>
        <p:spPr>
          <a:xfrm>
            <a:off x="640080" y="2117795"/>
            <a:ext cx="5236311"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экзаменационные вопросы для начинающих врачей против среднего результата живых врачей на тех же вопросах; коллегия врачей общей практики публично назвала эти заявления сомнительными</a:t>
            </a:r>
          </a:p>
        </p:txBody>
      </p:sp>
      <p:sp>
        <p:nvSpPr>
          <p:cNvPr id="8" name="Rounded Rectangle 7"/>
          <p:cNvSpPr/>
          <p:nvPr/>
        </p:nvSpPr>
        <p:spPr>
          <a:xfrm>
            <a:off x="6178143" y="1335024"/>
            <a:ext cx="5510631" cy="1474446"/>
          </a:xfrm>
          <a:prstGeom prst="roundRect">
            <a:avLst>
              <a:gd name="adj" fmla="val 2067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НЕЗАВИСИМЫЙ ТЕСТ ГОДОМ РАНЬШЕ</a:t>
            </a:r>
          </a:p>
        </p:txBody>
      </p:sp>
      <p:sp>
        <p:nvSpPr>
          <p:cNvPr id="10" name="TextBox 9"/>
          <p:cNvSpPr txBox="1"/>
          <p:nvPr/>
        </p:nvSpPr>
        <p:spPr>
          <a:xfrm>
            <a:off x="6315303" y="1690796"/>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из трёх приложений — наименее точное</a:t>
            </a:r>
          </a:p>
        </p:txBody>
      </p:sp>
      <p:sp>
        <p:nvSpPr>
          <p:cNvPr id="11" name="Rounded Rectangle 10"/>
          <p:cNvSpPr/>
          <p:nvPr/>
        </p:nvSpPr>
        <p:spPr>
          <a:xfrm>
            <a:off x="374904" y="2900910"/>
            <a:ext cx="11441887" cy="3335297"/>
          </a:xfrm>
          <a:prstGeom prst="roundRect">
            <a:avLst>
              <a:gd name="adj" fmla="val 91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39496" y="2992350"/>
            <a:ext cx="11112703" cy="3243857"/>
          </a:xfrm>
          <a:prstGeom prst="rect">
            <a:avLst/>
          </a:prstGeom>
          <a:noFill/>
        </p:spPr>
        <p:txBody>
          <a:bodyPr wrap="square" lIns="0" rIns="0" tIns="0" bIns="0" anchor="t">
            <a:spAutoFit/>
          </a:bodyPr>
          <a:lstStyle/>
          <a:p>
            <a:pPr algn="l">
              <a:lnSpc>
                <a:spcPct val="126000"/>
              </a:lnSpc>
            </a:pPr>
            <a:r>
              <a:rPr sz="1470" b="0" i="0">
                <a:solidFill>
                  <a:srgbClr val="21295C"/>
                </a:solidFill>
                <a:latin typeface="Arial"/>
              </a:rPr>
              <a:t>Цена обеих ошибок в сортировке обращений: пропустить того, кому нужно сейчас, и занять приём тем, кому не нужно — плюс цена самого канала.</a:t>
            </a:r>
          </a:p>
          <a:p>
            <a:pPr algn="l">
              <a:lnSpc>
                <a:spcPct val="126000"/>
              </a:lnSpc>
              <a:spcBef>
                <a:spcPts val="700"/>
              </a:spcBef>
            </a:pPr>
            <a:r>
              <a:rPr sz="1470" b="0" i="0">
                <a:solidFill>
                  <a:srgbClr val="21295C"/>
                </a:solidFill>
                <a:latin typeface="Arial"/>
              </a:rPr>
              <a:t/>
            </a:r>
            <a:r>
              <a:rPr sz="1470" b="0" i="0">
                <a:solidFill>
                  <a:srgbClr val="21295C"/>
                </a:solidFill>
                <a:latin typeface="Arial"/>
              </a:rPr>
              <a:t>Что предъявили вместо модели:</a:t>
            </a:r>
          </a:p>
          <a:p>
            <a:pPr algn="l">
              <a:lnSpc>
                <a:spcPct val="126000"/>
              </a:lnSpc>
              <a:spcBef>
                <a:spcPts val="700"/>
              </a:spcBef>
            </a:pPr>
            <a:r>
              <a:rPr sz="1470" b="0" i="0">
                <a:solidFill>
                  <a:srgbClr val="21295C"/>
                </a:solidFill>
                <a:latin typeface="Arial"/>
              </a:rPr>
              <a:t/>
            </a:r>
            <a:r>
              <a:rPr sz="1470" b="0" i="0">
                <a:solidFill>
                  <a:srgbClr val="21295C"/>
                </a:solidFill>
                <a:latin typeface="Arial"/>
              </a:rPr>
              <a:t>• На экзаменационных вопросах для начинающих врачей, июнь 2018 года: </a:t>
            </a:r>
            <a:r>
              <a:rPr sz="1470" b="1" i="0">
                <a:solidFill>
                  <a:srgbClr val="21295C"/>
                </a:solidFill>
                <a:latin typeface="Arial"/>
              </a:rPr>
              <a:t>81</a:t>
            </a:r>
            <a:r>
              <a:rPr sz="1470" b="0" i="0">
                <a:solidFill>
                  <a:srgbClr val="21295C"/>
                </a:solidFill>
                <a:latin typeface="Arial"/>
              </a:rPr>
              <a:t> у приложения против </a:t>
            </a:r>
            <a:r>
              <a:rPr sz="1470" b="1" i="0">
                <a:solidFill>
                  <a:srgbClr val="21295C"/>
                </a:solidFill>
                <a:latin typeface="Arial"/>
              </a:rPr>
              <a:t>72</a:t>
            </a:r>
            <a:r>
              <a:rPr sz="1470" b="0" i="0">
                <a:solidFill>
                  <a:srgbClr val="21295C"/>
                </a:solidFill>
                <a:latin typeface="Arial"/>
              </a:rPr>
              <a:t> — среднего результата живых врачей на тех же вопросах.</a:t>
            </a:r>
          </a:p>
          <a:p>
            <a:pPr algn="l">
              <a:lnSpc>
                <a:spcPct val="126000"/>
              </a:lnSpc>
              <a:spcBef>
                <a:spcPts val="700"/>
              </a:spcBef>
            </a:pPr>
            <a:r>
              <a:rPr sz="1470" b="0" i="0">
                <a:solidFill>
                  <a:srgbClr val="21295C"/>
                </a:solidFill>
                <a:latin typeface="Arial"/>
              </a:rPr>
              <a:t/>
            </a:r>
            <a:r>
              <a:rPr sz="1470" b="0" i="0">
                <a:solidFill>
                  <a:srgbClr val="21295C"/>
                </a:solidFill>
                <a:latin typeface="Arial"/>
              </a:rPr>
              <a:t>• Независимый тест годом раньше: из трёх приложений это оказалось наименее точным.</a:t>
            </a:r>
          </a:p>
          <a:p>
            <a:pPr algn="l">
              <a:lnSpc>
                <a:spcPct val="126000"/>
              </a:lnSpc>
              <a:spcBef>
                <a:spcPts val="700"/>
              </a:spcBef>
            </a:pPr>
            <a:r>
              <a:rPr sz="1470" b="0" i="0">
                <a:solidFill>
                  <a:srgbClr val="21295C"/>
                </a:solidFill>
                <a:latin typeface="Arial"/>
              </a:rPr>
              <a:t/>
            </a:r>
            <a:r>
              <a:rPr sz="1470" b="1" i="0">
                <a:solidFill>
                  <a:srgbClr val="21295C"/>
                </a:solidFill>
                <a:latin typeface="Arial"/>
              </a:rPr>
              <a:t>Уберите модель — и сервис продолжит работать.</a:t>
            </a:r>
            <a:r>
              <a:rPr sz="1470" b="0" i="0">
                <a:solidFill>
                  <a:srgbClr val="21295C"/>
                </a:solidFill>
                <a:latin typeface="Arial"/>
              </a:rPr>
              <a:t> По заявлению бывшего руководителя регуляторных вопросов компании, внутри было дерево решений если-то, собранное в таблице. </a:t>
            </a:r>
            <a:r>
              <a:rPr sz="1470" b="0" i="1">
                <a:solidFill>
                  <a:srgbClr val="21295C"/>
                </a:solidFill>
                <a:latin typeface="Arial"/>
              </a:rPr>
              <a:t>(по заявлению бывшего сотрудника, не аудит)</a:t>
            </a:r>
          </a:p>
          <a:p>
            <a:pPr algn="l">
              <a:lnSpc>
                <a:spcPct val="126000"/>
              </a:lnSpc>
              <a:spcBef>
                <a:spcPts val="700"/>
              </a:spcBef>
            </a:pPr>
            <a:r>
              <a:rPr sz="1470" b="0" i="0">
                <a:solidFill>
                  <a:srgbClr val="21295C"/>
                </a:solidFill>
                <a:latin typeface="Arial"/>
              </a:rPr>
              <a:t/>
            </a:r>
            <a:r>
              <a:rPr sz="1470" b="0" i="0">
                <a:solidFill>
                  <a:srgbClr val="21295C"/>
                </a:solidFill>
                <a:latin typeface="Arial"/>
              </a:rPr>
              <a:t>Чем это делают сегодня: </a:t>
            </a:r>
            <a:r>
              <a:rPr sz="1470" b="0" i="1">
                <a:solidFill>
                  <a:srgbClr val="21295C"/>
                </a:solidFill>
                <a:latin typeface="Arial"/>
              </a:rPr>
              <a:t>поиск с генерацией на тексте</a:t>
            </a:r>
            <a:r>
              <a:rPr sz="1470" b="0" i="0">
                <a:solidFill>
                  <a:srgbClr val="21295C"/>
                </a:solidFill>
                <a:latin typeface="Arial"/>
              </a:rPr>
              <a:t> — запись приёма под диктовку принимается, сортировка обращения после этого случая — нет. Не умеет отличать редкое от частого в открытом потоке.</a:t>
            </a:r>
          </a:p>
          <a:p>
            <a:pPr algn="l">
              <a:lnSpc>
                <a:spcPct val="126000"/>
              </a:lnSpc>
              <a:spcBef>
                <a:spcPts val="700"/>
              </a:spcBef>
            </a:pPr>
            <a:r>
              <a:rPr sz="1180" b="0" i="0">
                <a:solidFill>
                  <a:srgbClr val="21295C"/>
                </a:solidFill>
                <a:latin typeface="Arial"/>
              </a:rPr>
              <a:t/>
            </a:r>
            <a:r>
              <a:rPr sz="1180" b="0" i="1">
                <a:solidFill>
                  <a:srgbClr val="1C7293"/>
                </a:solidFill>
                <a:latin typeface="Arial"/>
              </a:rPr>
              <a:t>Сколько это стоило — следующий кадр.</a:t>
            </a:r>
          </a:p>
        </p:txBody>
      </p:sp>
      <p:sp>
        <p:nvSpPr>
          <p:cNvPr id="13" name="Rectangle 12"/>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Независимый сравнительный тест, 2017</a:t>
            </a:r>
            <a:r>
              <a:rPr sz="1100" b="0" i="1">
                <a:solidFill>
                  <a:srgbClr val="1C7293"/>
                </a:solidFill>
                <a:latin typeface="Arial"/>
              </a:rPr>
              <a:t> · </a:t>
            </a:r>
            <a:r>
              <a:rPr sz="1100" b="0" i="1">
                <a:solidFill>
                  <a:srgbClr val="1C7293"/>
                </a:solidFill>
                <a:latin typeface="Arial"/>
              </a:rPr>
              <a:t>публичное заявление коллегии врачей общей практики, 2018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Фиксированная сумма, делённая на выросшее число обращений</a:t>
            </a:r>
          </a:p>
        </p:txBody>
      </p:sp>
      <p:sp>
        <p:nvSpPr>
          <p:cNvPr id="4" name="Rounded Rectangle 3"/>
          <p:cNvSpPr/>
          <p:nvPr/>
        </p:nvSpPr>
        <p:spPr>
          <a:xfrm>
            <a:off x="502920" y="1335024"/>
            <a:ext cx="2673019" cy="2049707"/>
          </a:xfrm>
          <a:prstGeom prst="roundRect">
            <a:avLst>
              <a:gd name="adj" fmla="val 1487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СКОЛЬКО ПЛАТЯТ ПРАКТИКЕ</a:t>
            </a:r>
          </a:p>
        </p:txBody>
      </p:sp>
      <p:sp>
        <p:nvSpPr>
          <p:cNvPr id="6" name="TextBox 5"/>
          <p:cNvSpPr txBox="1"/>
          <p:nvPr/>
        </p:nvSpPr>
        <p:spPr>
          <a:xfrm>
            <a:off x="640080" y="1690796"/>
            <a:ext cx="2398699" cy="732547"/>
          </a:xfrm>
          <a:prstGeom prst="rect">
            <a:avLst/>
          </a:prstGeom>
          <a:noFill/>
        </p:spPr>
        <p:txBody>
          <a:bodyPr wrap="square" lIns="0" rIns="0" tIns="0" bIns="0" anchor="t">
            <a:spAutoFit/>
          </a:bodyPr>
          <a:lstStyle/>
          <a:p>
            <a:pPr algn="l">
              <a:lnSpc>
                <a:spcPct val="108000"/>
              </a:lnSpc>
            </a:pPr>
            <a:r>
              <a:rPr sz="2050" b="1" i="0">
                <a:solidFill>
                  <a:srgbClr val="21295C"/>
                </a:solidFill>
                <a:latin typeface="Arial"/>
              </a:rPr>
              <a:t>около 155 фунтов за человека в год</a:t>
            </a:r>
          </a:p>
        </p:txBody>
      </p:sp>
      <p:sp>
        <p:nvSpPr>
          <p:cNvPr id="7" name="TextBox 6"/>
          <p:cNvSpPr txBox="1"/>
          <p:nvPr/>
        </p:nvSpPr>
        <p:spPr>
          <a:xfrm>
            <a:off x="640080" y="2423344"/>
            <a:ext cx="2398699"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средняя выплата национальной службы, 2018/19; от числа обращений не зависит</a:t>
            </a:r>
          </a:p>
        </p:txBody>
      </p:sp>
      <p:sp>
        <p:nvSpPr>
          <p:cNvPr id="8" name="Rounded Rectangle 7"/>
          <p:cNvSpPr/>
          <p:nvPr/>
        </p:nvSpPr>
        <p:spPr>
          <a:xfrm>
            <a:off x="3340531" y="1335024"/>
            <a:ext cx="2673019" cy="2049707"/>
          </a:xfrm>
          <a:prstGeom prst="roundRect">
            <a:avLst>
              <a:gd name="adj" fmla="val 1487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ОБРАЩАЮТСЯ КЛАССИЧЕСКИ</a:t>
            </a:r>
          </a:p>
        </p:txBody>
      </p:sp>
      <p:sp>
        <p:nvSpPr>
          <p:cNvPr id="10" name="TextBox 9"/>
          <p:cNvSpPr txBox="1"/>
          <p:nvPr/>
        </p:nvSpPr>
        <p:spPr>
          <a:xfrm>
            <a:off x="3477691"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4,0 раза в год у 25–44 лет</a:t>
            </a:r>
          </a:p>
        </p:txBody>
      </p:sp>
      <p:sp>
        <p:nvSpPr>
          <p:cNvPr id="11" name="TextBox 10"/>
          <p:cNvSpPr txBox="1"/>
          <p:nvPr/>
        </p:nvSpPr>
        <p:spPr>
          <a:xfrm>
            <a:off x="3477691" y="2508219"/>
            <a:ext cx="2398699"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и 3,26 раза в год у 15–24 лет — национальная работа 2016 года; эти возраста и составляли список сервиса почти целиком</a:t>
            </a:r>
          </a:p>
        </p:txBody>
      </p:sp>
      <p:sp>
        <p:nvSpPr>
          <p:cNvPr id="12" name="Rounded Rectangle 11"/>
          <p:cNvSpPr/>
          <p:nvPr/>
        </p:nvSpPr>
        <p:spPr>
          <a:xfrm>
            <a:off x="6178143" y="1335024"/>
            <a:ext cx="2673019" cy="2049707"/>
          </a:xfrm>
          <a:prstGeom prst="roundRect">
            <a:avLst>
              <a:gd name="adj" fmla="val 1487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ОБРАЩАЮТСЯ В СЕРВИСЕ</a:t>
            </a:r>
          </a:p>
        </p:txBody>
      </p:sp>
      <p:sp>
        <p:nvSpPr>
          <p:cNvPr id="14" name="TextBox 13"/>
          <p:cNvSpPr txBox="1"/>
          <p:nvPr/>
        </p:nvSpPr>
        <p:spPr>
          <a:xfrm>
            <a:off x="6315303" y="169079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4,3 раза в год</a:t>
            </a:r>
          </a:p>
        </p:txBody>
      </p:sp>
      <p:sp>
        <p:nvSpPr>
          <p:cNvPr id="15" name="TextBox 14"/>
          <p:cNvSpPr txBox="1"/>
          <p:nvPr/>
        </p:nvSpPr>
        <p:spPr>
          <a:xfrm>
            <a:off x="6315303" y="2117795"/>
            <a:ext cx="2398699"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оценка итогового независимого отчёта по двенадцати месяцам данных, с экстраполяцией — отчёт это и пишет</a:t>
            </a:r>
          </a:p>
        </p:txBody>
      </p:sp>
      <p:sp>
        <p:nvSpPr>
          <p:cNvPr id="16" name="Rounded Rectangle 15"/>
          <p:cNvSpPr/>
          <p:nvPr/>
        </p:nvSpPr>
        <p:spPr>
          <a:xfrm>
            <a:off x="9015755" y="1335024"/>
            <a:ext cx="2673019" cy="2049707"/>
          </a:xfrm>
          <a:prstGeom prst="roundRect">
            <a:avLst>
              <a:gd name="adj" fmla="val 14870"/>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ИТОГ</a:t>
            </a:r>
          </a:p>
        </p:txBody>
      </p:sp>
      <p:sp>
        <p:nvSpPr>
          <p:cNvPr id="18" name="TextBox 17"/>
          <p:cNvSpPr txBox="1"/>
          <p:nvPr/>
        </p:nvSpPr>
        <p:spPr>
          <a:xfrm>
            <a:off x="9152915" y="1690796"/>
            <a:ext cx="2398699" cy="460949"/>
          </a:xfrm>
          <a:prstGeom prst="rect">
            <a:avLst/>
          </a:prstGeom>
          <a:noFill/>
        </p:spPr>
        <p:txBody>
          <a:bodyPr wrap="square" lIns="0" rIns="0" tIns="0" bIns="0" anchor="t">
            <a:spAutoFit/>
          </a:bodyPr>
          <a:lstStyle/>
          <a:p>
            <a:pPr algn="l">
              <a:lnSpc>
                <a:spcPct val="108000"/>
              </a:lnSpc>
            </a:pPr>
            <a:r>
              <a:rPr sz="1250" b="1" i="0">
                <a:solidFill>
                  <a:srgbClr val="F0AB00"/>
                </a:solidFill>
                <a:latin typeface="Arial"/>
              </a:rPr>
              <a:t>оценка 4,2 млрд долларов → активы за 500 тысяч фунтов</a:t>
            </a:r>
          </a:p>
        </p:txBody>
      </p:sp>
      <p:sp>
        <p:nvSpPr>
          <p:cNvPr id="19" name="TextBox 18"/>
          <p:cNvSpPr txBox="1"/>
          <p:nvPr/>
        </p:nvSpPr>
        <p:spPr>
          <a:xfrm>
            <a:off x="9152915" y="2151745"/>
            <a:ext cx="2398699" cy="924190"/>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две разные валюты: оценка на выходе через слияние — в долларах, продажа активов — в фунтах; в части сообщений та же сумма названа как 620 тысяч долларов</a:t>
            </a:r>
          </a:p>
        </p:txBody>
      </p:sp>
      <p:sp>
        <p:nvSpPr>
          <p:cNvPr id="20" name="Rounded Rectangle 19"/>
          <p:cNvSpPr/>
          <p:nvPr/>
        </p:nvSpPr>
        <p:spPr>
          <a:xfrm>
            <a:off x="374904" y="3476171"/>
            <a:ext cx="11441887" cy="2760036"/>
          </a:xfrm>
          <a:prstGeom prst="roundRect">
            <a:avLst>
              <a:gd name="adj" fmla="val 1104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9496" y="3567611"/>
            <a:ext cx="11112703" cy="2668596"/>
          </a:xfrm>
          <a:prstGeom prst="rect">
            <a:avLst/>
          </a:prstGeom>
          <a:noFill/>
        </p:spPr>
        <p:txBody>
          <a:bodyPr wrap="square" lIns="0" rIns="0" tIns="0" bIns="0" anchor="t">
            <a:spAutoFit/>
          </a:bodyPr>
          <a:lstStyle/>
          <a:p>
            <a:pPr algn="l">
              <a:lnSpc>
                <a:spcPct val="126000"/>
              </a:lnSpc>
            </a:pPr>
            <a:r>
              <a:rPr sz="1440" b="0" i="0">
                <a:solidFill>
                  <a:srgbClr val="21295C"/>
                </a:solidFill>
                <a:latin typeface="Arial"/>
              </a:rPr>
              <a:t>Практика получает </a:t>
            </a:r>
            <a:r>
              <a:rPr sz="1440" b="1" i="0">
                <a:solidFill>
                  <a:srgbClr val="21295C"/>
                </a:solidFill>
                <a:latin typeface="Arial"/>
              </a:rPr>
              <a:t>около 155 фунтов</a:t>
            </a:r>
            <a:r>
              <a:rPr sz="1440" b="0" i="0">
                <a:solidFill>
                  <a:srgbClr val="21295C"/>
                </a:solidFill>
                <a:latin typeface="Arial"/>
              </a:rPr>
              <a:t> на зарегистрированного человека в год — сумма не зависит от числа обращений.</a:t>
            </a:r>
          </a:p>
          <a:p>
            <a:pPr algn="l">
              <a:lnSpc>
                <a:spcPct val="126000"/>
              </a:lnSpc>
              <a:spcBef>
                <a:spcPts val="700"/>
              </a:spcBef>
            </a:pPr>
            <a:r>
              <a:rPr sz="1440" b="0" i="0">
                <a:solidFill>
                  <a:srgbClr val="21295C"/>
                </a:solidFill>
                <a:latin typeface="Arial"/>
              </a:rPr>
              <a:t/>
            </a:r>
            <a:r>
              <a:rPr sz="1440" b="0" i="0">
                <a:solidFill>
                  <a:srgbClr val="21295C"/>
                </a:solidFill>
                <a:latin typeface="Arial"/>
              </a:rPr>
              <a:t>Классически обращаются </a:t>
            </a:r>
            <a:r>
              <a:rPr sz="1440" b="1" i="0">
                <a:solidFill>
                  <a:srgbClr val="21295C"/>
                </a:solidFill>
                <a:latin typeface="Arial"/>
              </a:rPr>
              <a:t>4,0 раза</a:t>
            </a:r>
            <a:r>
              <a:rPr sz="1440" b="0" i="0">
                <a:solidFill>
                  <a:srgbClr val="21295C"/>
                </a:solidFill>
                <a:latin typeface="Arial"/>
              </a:rPr>
              <a:t> в год у 25–44-летних и </a:t>
            </a:r>
            <a:r>
              <a:rPr sz="1440" b="1" i="0">
                <a:solidFill>
                  <a:srgbClr val="21295C"/>
                </a:solidFill>
                <a:latin typeface="Arial"/>
              </a:rPr>
              <a:t>3,26 раза</a:t>
            </a:r>
            <a:r>
              <a:rPr sz="1440" b="0" i="0">
                <a:solidFill>
                  <a:srgbClr val="21295C"/>
                </a:solidFill>
                <a:latin typeface="Arial"/>
              </a:rPr>
              <a:t> у 15–24-летних — тех возрастов, из которых сервис почти целиком состоял.</a:t>
            </a:r>
          </a:p>
          <a:p>
            <a:pPr algn="l">
              <a:lnSpc>
                <a:spcPct val="126000"/>
              </a:lnSpc>
              <a:spcBef>
                <a:spcPts val="700"/>
              </a:spcBef>
            </a:pPr>
            <a:r>
              <a:rPr sz="1440" b="0" i="0">
                <a:solidFill>
                  <a:srgbClr val="21295C"/>
                </a:solidFill>
                <a:latin typeface="Arial"/>
              </a:rPr>
              <a:t/>
            </a:r>
            <a:r>
              <a:rPr sz="1440" b="0" i="0">
                <a:solidFill>
                  <a:srgbClr val="21295C"/>
                </a:solidFill>
                <a:latin typeface="Arial"/>
              </a:rPr>
              <a:t>В сервисе обращений стало </a:t>
            </a:r>
            <a:r>
              <a:rPr sz="1440" b="1" i="0">
                <a:solidFill>
                  <a:srgbClr val="21295C"/>
                </a:solidFill>
                <a:latin typeface="Arial"/>
              </a:rPr>
              <a:t>4,3</a:t>
            </a:r>
            <a:r>
              <a:rPr sz="1440" b="0" i="0">
                <a:solidFill>
                  <a:srgbClr val="21295C"/>
                </a:solidFill>
                <a:latin typeface="Arial"/>
              </a:rPr>
              <a:t> на человека в год при той же подушевой сумме.</a:t>
            </a:r>
          </a:p>
          <a:p>
            <a:pPr algn="l">
              <a:lnSpc>
                <a:spcPct val="126000"/>
              </a:lnSpc>
              <a:spcBef>
                <a:spcPts val="700"/>
              </a:spcBef>
            </a:pPr>
            <a:r>
              <a:rPr sz="1440" b="0" i="0">
                <a:solidFill>
                  <a:srgbClr val="21295C"/>
                </a:solidFill>
                <a:latin typeface="Arial"/>
              </a:rPr>
              <a:t/>
            </a:r>
            <a:r>
              <a:rPr sz="1440" b="1" i="0">
                <a:solidFill>
                  <a:srgbClr val="21295C"/>
                </a:solidFill>
                <a:latin typeface="Arial"/>
              </a:rPr>
              <a:t>Нагрузка переехала на другой шаг</a:t>
            </a:r>
            <a:r>
              <a:rPr sz="1440" b="0" i="0">
                <a:solidFill>
                  <a:srgbClr val="21295C"/>
                </a:solidFill>
                <a:latin typeface="Arial"/>
              </a:rPr>
              <a:t> — с сортировки на приём, и платить за это стало некому.</a:t>
            </a:r>
          </a:p>
          <a:p>
            <a:pPr algn="l">
              <a:lnSpc>
                <a:spcPct val="126000"/>
              </a:lnSpc>
              <a:spcBef>
                <a:spcPts val="700"/>
              </a:spcBef>
            </a:pPr>
            <a:r>
              <a:rPr sz="1440" b="0" i="0">
                <a:solidFill>
                  <a:srgbClr val="21295C"/>
                </a:solidFill>
                <a:latin typeface="Arial"/>
              </a:rPr>
              <a:t/>
            </a:r>
            <a:r>
              <a:rPr sz="1440" b="1" i="0">
                <a:solidFill>
                  <a:srgbClr val="21295C"/>
                </a:solidFill>
                <a:latin typeface="Arial"/>
              </a:rPr>
              <a:t>дало</a:t>
            </a:r>
            <a:r>
              <a:rPr sz="1440" b="0" i="0">
                <a:solidFill>
                  <a:srgbClr val="21295C"/>
                </a:solidFill>
                <a:latin typeface="Arial"/>
              </a:rPr>
              <a:t> — сортировка круглосуточно и мгновенно, порог обращения ниже · </a:t>
            </a:r>
            <a:r>
              <a:rPr sz="1440" b="1" i="0">
                <a:solidFill>
                  <a:srgbClr val="21295C"/>
                </a:solidFill>
                <a:latin typeface="Arial"/>
              </a:rPr>
              <a:t>потребовало</a:t>
            </a:r>
            <a:r>
              <a:rPr sz="1440" b="0" i="0">
                <a:solidFill>
                  <a:srgbClr val="21295C"/>
                </a:solidFill>
                <a:latin typeface="Arial"/>
              </a:rPr>
              <a:t> — экономика на каждом пациенте в минус, задокументированный случай нераспознанных симптомов · </a:t>
            </a:r>
            <a:r>
              <a:rPr sz="1440" b="1" i="0">
                <a:solidFill>
                  <a:srgbClr val="21295C"/>
                </a:solidFill>
                <a:latin typeface="Arial"/>
              </a:rPr>
              <a:t>в сумме хуже</a:t>
            </a:r>
            <a:r>
              <a:rPr sz="1440" b="0" i="0">
                <a:solidFill>
                  <a:srgbClr val="21295C"/>
                </a:solidFill>
                <a:latin typeface="Arial"/>
              </a:rPr>
              <a:t> — оценка на выходе </a:t>
            </a:r>
            <a:r>
              <a:rPr sz="1440" b="1" i="0">
                <a:solidFill>
                  <a:srgbClr val="21295C"/>
                </a:solidFill>
                <a:latin typeface="Arial"/>
              </a:rPr>
              <a:t>4,2 млрд долларов</a:t>
            </a:r>
            <a:r>
              <a:rPr sz="1440" b="0" i="0">
                <a:solidFill>
                  <a:srgbClr val="21295C"/>
                </a:solidFill>
                <a:latin typeface="Arial"/>
              </a:rPr>
              <a:t>, банкротство в августе 2023 года, активы проданы за </a:t>
            </a:r>
            <a:r>
              <a:rPr sz="1440" b="1" i="0">
                <a:solidFill>
                  <a:srgbClr val="21295C"/>
                </a:solidFill>
                <a:latin typeface="Arial"/>
              </a:rPr>
              <a:t>500 тысяч фунтов</a:t>
            </a:r>
            <a:r>
              <a:rPr sz="1440" b="0" i="0">
                <a:solidFill>
                  <a:srgbClr val="21295C"/>
                </a:solidFill>
                <a:latin typeface="Arial"/>
              </a:rPr>
              <a:t>.</a:t>
            </a:r>
          </a:p>
          <a:p>
            <a:pPr algn="l">
              <a:lnSpc>
                <a:spcPct val="126000"/>
              </a:lnSpc>
              <a:spcBef>
                <a:spcPts val="700"/>
              </a:spcBef>
            </a:pPr>
            <a:r>
              <a:rPr sz="1440" b="0" i="0">
                <a:solidFill>
                  <a:srgbClr val="21295C"/>
                </a:solidFill>
                <a:latin typeface="Arial"/>
              </a:rPr>
              <a:t/>
            </a:r>
            <a:r>
              <a:rPr sz="1440" b="0" i="0">
                <a:solidFill>
                  <a:srgbClr val="21295C"/>
                </a:solidFill>
                <a:latin typeface="Arial"/>
              </a:rPr>
              <a:t>Удешевление входа перестраивает экономику системы раньше, чем кто-нибудь успевает проверить качество.</a:t>
            </a:r>
          </a:p>
        </p:txBody>
      </p:sp>
      <p:sp>
        <p:nvSpPr>
          <p:cNvPr id="22" name="Rectangle 21"/>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Итоговый независимый отчёт об оценке сервиса, 2019</a:t>
            </a:r>
            <a:r>
              <a:rPr sz="1100" b="0" i="1">
                <a:solidFill>
                  <a:srgbClr val="1C7293"/>
                </a:solidFill>
                <a:latin typeface="Arial"/>
              </a:rPr>
              <a:t> · </a:t>
            </a:r>
            <a:r>
              <a:rPr sz="1100" b="0" i="1">
                <a:solidFill>
                  <a:srgbClr val="1C7293"/>
                </a:solidFill>
                <a:latin typeface="Arial"/>
              </a:rPr>
              <a:t>статистика выплат национальной службы, 2018/19</a:t>
            </a:r>
            <a:r>
              <a:rPr sz="1100" b="0" i="1">
                <a:solidFill>
                  <a:srgbClr val="1C7293"/>
                </a:solidFill>
                <a:latin typeface="Arial"/>
              </a:rPr>
              <a:t> · </a:t>
            </a:r>
            <a:r>
              <a:rPr sz="1100" b="0" i="1">
                <a:solidFill>
                  <a:srgbClr val="1C7293"/>
                </a:solidFill>
                <a:latin typeface="Arial"/>
              </a:rPr>
              <a:t>материалы о банкротстве, 2023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Глазное дно без офтальмолога</a:t>
            </a:r>
          </a:p>
        </p:txBody>
      </p:sp>
      <p:sp>
        <p:nvSpPr>
          <p:cNvPr id="4" name="Rounded Rectangle 3"/>
          <p:cNvSpPr/>
          <p:nvPr/>
        </p:nvSpPr>
        <p:spPr>
          <a:xfrm>
            <a:off x="502920" y="1335024"/>
            <a:ext cx="5510631" cy="1474446"/>
          </a:xfrm>
          <a:prstGeom prst="roundRect">
            <a:avLst>
              <a:gd name="adj" fmla="val 2067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ЯВКА: ДОХОДЯТ ДО СПЕЦИАЛИСТА</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22 из ста направленных</a:t>
            </a:r>
          </a:p>
        </p:txBody>
      </p:sp>
      <p:sp>
        <p:nvSpPr>
          <p:cNvPr id="7" name="TextBox 6"/>
          <p:cNvSpPr txBox="1"/>
          <p:nvPr/>
        </p:nvSpPr>
        <p:spPr>
          <a:xfrm>
            <a:off x="640080"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рандомизированное испытание, подростки 8–21 года с диабетом, 81 человек против 83, один прибор</a:t>
            </a:r>
          </a:p>
        </p:txBody>
      </p:sp>
      <p:sp>
        <p:nvSpPr>
          <p:cNvPr id="8" name="Rounded Rectangle 7"/>
          <p:cNvSpPr/>
          <p:nvPr/>
        </p:nvSpPr>
        <p:spPr>
          <a:xfrm>
            <a:off x="6178143" y="1335024"/>
            <a:ext cx="5510631" cy="1474446"/>
          </a:xfrm>
          <a:prstGeom prst="roundRect">
            <a:avLst>
              <a:gd name="adj" fmla="val 2067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ЯВКА: ДОХОДЯТ ДО ТЕСТА НА МЕСТЕ</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100 из ста</a:t>
            </a:r>
          </a:p>
        </p:txBody>
      </p:sp>
      <p:sp>
        <p:nvSpPr>
          <p:cNvPr id="11" name="TextBox 10"/>
          <p:cNvSpPr txBox="1"/>
          <p:nvPr/>
        </p:nvSpPr>
        <p:spPr>
          <a:xfrm>
            <a:off x="6315303" y="2117795"/>
            <a:ext cx="5236311"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та же выборка того же испытания; выигрыш здесь измерен явкой, а чувствительность прибора в разборе не произносится — распространённости поражения в этих выборках в источниках нет</a:t>
            </a:r>
          </a:p>
        </p:txBody>
      </p:sp>
      <p:sp>
        <p:nvSpPr>
          <p:cNvPr id="12" name="TextBox 11"/>
          <p:cNvSpPr txBox="1"/>
          <p:nvPr/>
        </p:nvSpPr>
        <p:spPr>
          <a:xfrm>
            <a:off x="502920" y="3047214"/>
            <a:ext cx="1289304" cy="457200"/>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Без модели</a:t>
            </a:r>
          </a:p>
        </p:txBody>
      </p:sp>
      <p:sp>
        <p:nvSpPr>
          <p:cNvPr id="13" name="Rounded Rectangle 12"/>
          <p:cNvSpPr/>
          <p:nvPr/>
        </p:nvSpPr>
        <p:spPr>
          <a:xfrm>
            <a:off x="1920240" y="2992350"/>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002536" y="3074646"/>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Направление к офтальмологу</a:t>
            </a:r>
          </a:p>
        </p:txBody>
      </p:sp>
      <p:sp>
        <p:nvSpPr>
          <p:cNvPr id="15" name="Right Arrow 14"/>
          <p:cNvSpPr/>
          <p:nvPr/>
        </p:nvSpPr>
        <p:spPr>
          <a:xfrm>
            <a:off x="5039258" y="3152370"/>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267858" y="2992350"/>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50154" y="3074646"/>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Ожидание визита</a:t>
            </a:r>
          </a:p>
        </p:txBody>
      </p:sp>
      <p:sp>
        <p:nvSpPr>
          <p:cNvPr id="18" name="Right Arrow 17"/>
          <p:cNvSpPr/>
          <p:nvPr/>
        </p:nvSpPr>
        <p:spPr>
          <a:xfrm>
            <a:off x="8386876" y="3152370"/>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615476" y="2992350"/>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97772" y="3074646"/>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Чтение специалистом</a:t>
            </a:r>
          </a:p>
        </p:txBody>
      </p:sp>
      <p:sp>
        <p:nvSpPr>
          <p:cNvPr id="21" name="TextBox 20"/>
          <p:cNvSpPr txBox="1"/>
          <p:nvPr/>
        </p:nvSpPr>
        <p:spPr>
          <a:xfrm>
            <a:off x="502920" y="3650718"/>
            <a:ext cx="1289304" cy="457200"/>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С моделью</a:t>
            </a:r>
          </a:p>
        </p:txBody>
      </p:sp>
      <p:sp>
        <p:nvSpPr>
          <p:cNvPr id="22" name="Rounded Rectangle 21"/>
          <p:cNvSpPr/>
          <p:nvPr/>
        </p:nvSpPr>
        <p:spPr>
          <a:xfrm>
            <a:off x="1920240" y="3595854"/>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002536" y="3678150"/>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Снимок у медсестры</a:t>
            </a:r>
          </a:p>
        </p:txBody>
      </p:sp>
      <p:sp>
        <p:nvSpPr>
          <p:cNvPr id="24" name="Right Arrow 23"/>
          <p:cNvSpPr/>
          <p:nvPr/>
        </p:nvSpPr>
        <p:spPr>
          <a:xfrm>
            <a:off x="5039258" y="3755874"/>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267858" y="3595854"/>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50154" y="3678150"/>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Автономное чтение</a:t>
            </a:r>
          </a:p>
        </p:txBody>
      </p:sp>
      <p:sp>
        <p:nvSpPr>
          <p:cNvPr id="27" name="Right Arrow 26"/>
          <p:cNvSpPr/>
          <p:nvPr/>
        </p:nvSpPr>
        <p:spPr>
          <a:xfrm>
            <a:off x="8386876" y="3755874"/>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8615476" y="3595854"/>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697772" y="3678150"/>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Решение на месте</a:t>
            </a:r>
          </a:p>
        </p:txBody>
      </p:sp>
      <p:sp>
        <p:nvSpPr>
          <p:cNvPr id="30" name="TextBox 29"/>
          <p:cNvSpPr txBox="1"/>
          <p:nvPr/>
        </p:nvSpPr>
        <p:spPr>
          <a:xfrm>
            <a:off x="502920" y="4199358"/>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Путь от снимка до решения</a:t>
            </a:r>
          </a:p>
        </p:txBody>
      </p:sp>
      <p:sp>
        <p:nvSpPr>
          <p:cNvPr id="31" name="Rounded Rectangle 30"/>
          <p:cNvSpPr/>
          <p:nvPr/>
        </p:nvSpPr>
        <p:spPr>
          <a:xfrm>
            <a:off x="374904" y="4512212"/>
            <a:ext cx="11441887" cy="1723995"/>
          </a:xfrm>
          <a:prstGeom prst="roundRect">
            <a:avLst>
              <a:gd name="adj" fmla="val 1767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39496" y="4603652"/>
            <a:ext cx="11112703" cy="1632555"/>
          </a:xfrm>
          <a:prstGeom prst="rect">
            <a:avLst/>
          </a:prstGeom>
          <a:noFill/>
        </p:spPr>
        <p:txBody>
          <a:bodyPr wrap="square" lIns="0" rIns="0" tIns="0" bIns="0" anchor="t">
            <a:spAutoFit/>
          </a:bodyPr>
          <a:lstStyle/>
          <a:p>
            <a:pPr algn="l">
              <a:lnSpc>
                <a:spcPct val="126000"/>
              </a:lnSpc>
            </a:pPr>
            <a:r>
              <a:rPr sz="1410" b="0" i="0">
                <a:solidFill>
                  <a:srgbClr val="21295C"/>
                </a:solidFill>
                <a:latin typeface="Arial"/>
              </a:rPr>
              <a:t>Выигрыш здесь измерен явкой, а не точностью.</a:t>
            </a:r>
          </a:p>
          <a:p>
            <a:pPr algn="l">
              <a:lnSpc>
                <a:spcPct val="126000"/>
              </a:lnSpc>
              <a:spcBef>
                <a:spcPts val="700"/>
              </a:spcBef>
            </a:pPr>
            <a:r>
              <a:rPr sz="1410" b="0" i="0">
                <a:solidFill>
                  <a:srgbClr val="21295C"/>
                </a:solidFill>
                <a:latin typeface="Arial"/>
              </a:rPr>
              <a:t/>
            </a:r>
            <a:r>
              <a:rPr sz="1410" b="1" i="0">
                <a:solidFill>
                  <a:srgbClr val="21295C"/>
                </a:solidFill>
                <a:latin typeface="Arial"/>
              </a:rPr>
              <a:t>Классический режим.</a:t>
            </a:r>
            <a:r>
              <a:rPr sz="1410" b="0" i="0">
                <a:solidFill>
                  <a:srgbClr val="21295C"/>
                </a:solidFill>
                <a:latin typeface="Arial"/>
              </a:rPr>
              <a:t> Раз в год человек с диабетом идёт к специалисту-офтальмологу; до теста реально доходят </a:t>
            </a:r>
            <a:r>
              <a:rPr sz="1410" b="1" i="0">
                <a:solidFill>
                  <a:srgbClr val="21295C"/>
                </a:solidFill>
                <a:latin typeface="Arial"/>
              </a:rPr>
              <a:t>22 из ста</a:t>
            </a:r>
            <a:r>
              <a:rPr sz="1410" b="0" i="0">
                <a:solidFill>
                  <a:srgbClr val="21295C"/>
                </a:solidFill>
                <a:latin typeface="Arial"/>
              </a:rPr>
              <a:t>.</a:t>
            </a:r>
          </a:p>
          <a:p>
            <a:pPr algn="l">
              <a:lnSpc>
                <a:spcPct val="126000"/>
              </a:lnSpc>
              <a:spcBef>
                <a:spcPts val="700"/>
              </a:spcBef>
            </a:pPr>
            <a:r>
              <a:rPr sz="1410" b="0" i="0">
                <a:solidFill>
                  <a:srgbClr val="21295C"/>
                </a:solidFill>
                <a:latin typeface="Arial"/>
              </a:rPr>
              <a:t/>
            </a:r>
            <a:r>
              <a:rPr sz="1410" b="1" i="0">
                <a:solidFill>
                  <a:srgbClr val="21295C"/>
                </a:solidFill>
                <a:latin typeface="Arial"/>
              </a:rPr>
              <a:t>Модель.</a:t>
            </a:r>
            <a:r>
              <a:rPr sz="1410" b="0" i="0">
                <a:solidFill>
                  <a:srgbClr val="21295C"/>
                </a:solidFill>
                <a:latin typeface="Arial"/>
              </a:rPr>
              <a:t> Снимок делает медсестра в первичном звене, решение «направить или нет» принимается на месте меньше чем за минуту; до теста доходят </a:t>
            </a:r>
            <a:r>
              <a:rPr sz="1410" b="1" i="0">
                <a:solidFill>
                  <a:srgbClr val="21295C"/>
                </a:solidFill>
                <a:latin typeface="Arial"/>
              </a:rPr>
              <a:t>100 из ста</a:t>
            </a:r>
            <a:r>
              <a:rPr sz="1410" b="0" i="0">
                <a:solidFill>
                  <a:srgbClr val="21295C"/>
                </a:solidFill>
                <a:latin typeface="Arial"/>
              </a:rPr>
              <a:t>. И второй шаг того же пути посчитан внутри того же испытания: из 25 человек, у кого результат оказался отклонением, до офтальмолога дошли 16 — </a:t>
            </a:r>
            <a:r>
              <a:rPr sz="1410" b="1" i="0">
                <a:solidFill>
                  <a:srgbClr val="21295C"/>
                </a:solidFill>
                <a:latin typeface="Arial"/>
              </a:rPr>
              <a:t>64 из ста против 22 в контроле</a:t>
            </a:r>
            <a:r>
              <a:rPr sz="1410" b="0" i="0">
                <a:solidFill>
                  <a:srgbClr val="21295C"/>
                </a:solidFill>
                <a:latin typeface="Arial"/>
              </a:rPr>
              <a:t>.</a:t>
            </a:r>
          </a:p>
        </p:txBody>
      </p:sp>
      <p:sp>
        <p:nvSpPr>
          <p:cNvPr id="33" name="Rectangle 32"/>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Wolf и соавторы, Nature Communications, 2024;15:421 — рандомизированное испытание явки на скрининг глазного дна, подростки 8–21 года</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Глазное дно без офтальмолога</a:t>
            </a:r>
          </a:p>
        </p:txBody>
      </p:sp>
      <p:sp>
        <p:nvSpPr>
          <p:cNvPr id="4" name="Rounded Rectangle 3"/>
          <p:cNvSpPr/>
          <p:nvPr/>
        </p:nvSpPr>
        <p:spPr>
          <a:xfrm>
            <a:off x="502920" y="1335024"/>
            <a:ext cx="3618890" cy="1700778"/>
          </a:xfrm>
          <a:prstGeom prst="roundRect">
            <a:avLst>
              <a:gd name="adj" fmla="val 1792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ДАЛО</a:t>
            </a:r>
          </a:p>
        </p:txBody>
      </p:sp>
      <p:sp>
        <p:nvSpPr>
          <p:cNvPr id="6" name="TextBox 5"/>
          <p:cNvSpPr txBox="1"/>
          <p:nvPr/>
        </p:nvSpPr>
        <p:spPr>
          <a:xfrm>
            <a:off x="640080"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Доступ на месте, без визита к специалисту</a:t>
            </a:r>
          </a:p>
        </p:txBody>
      </p:sp>
      <p:sp>
        <p:nvSpPr>
          <p:cNvPr id="7" name="Rounded Rectangle 6"/>
          <p:cNvSpPr/>
          <p:nvPr/>
        </p:nvSpPr>
        <p:spPr>
          <a:xfrm>
            <a:off x="4286402" y="1335024"/>
            <a:ext cx="3618890" cy="1700778"/>
          </a:xfrm>
          <a:prstGeom prst="roundRect">
            <a:avLst>
              <a:gd name="adj" fmla="val 1792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ПОТРЕБОВАЛО</a:t>
            </a:r>
          </a:p>
        </p:txBody>
      </p:sp>
      <p:sp>
        <p:nvSpPr>
          <p:cNvPr id="9" name="TextBox 8"/>
          <p:cNvSpPr txBox="1"/>
          <p:nvPr/>
        </p:nvSpPr>
        <p:spPr>
          <a:xfrm>
            <a:off x="4423562" y="1690796"/>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Годный снимок — новый шаг, которого не было</a:t>
            </a:r>
          </a:p>
        </p:txBody>
      </p:sp>
      <p:sp>
        <p:nvSpPr>
          <p:cNvPr id="10" name="Rounded Rectangle 9"/>
          <p:cNvSpPr/>
          <p:nvPr/>
        </p:nvSpPr>
        <p:spPr>
          <a:xfrm>
            <a:off x="8069884" y="1335024"/>
            <a:ext cx="3618890" cy="1700778"/>
          </a:xfrm>
          <a:prstGeom prst="roundRect">
            <a:avLst>
              <a:gd name="adj" fmla="val 17921"/>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СУММЕ</a:t>
            </a:r>
          </a:p>
        </p:txBody>
      </p:sp>
      <p:sp>
        <p:nvSpPr>
          <p:cNvPr id="12" name="TextBox 11"/>
          <p:cNvSpPr txBox="1"/>
          <p:nvPr/>
        </p:nvSpPr>
        <p:spPr>
          <a:xfrm>
            <a:off x="8207044" y="1690796"/>
            <a:ext cx="3344570" cy="1207845"/>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Выигрыш в доступе ценой нового отказного потока</a:t>
            </a:r>
          </a:p>
        </p:txBody>
      </p:sp>
      <p:sp>
        <p:nvSpPr>
          <p:cNvPr id="13" name="Rounded Rectangle 12"/>
          <p:cNvSpPr/>
          <p:nvPr/>
        </p:nvSpPr>
        <p:spPr>
          <a:xfrm>
            <a:off x="374904" y="3127242"/>
            <a:ext cx="11441887" cy="3108965"/>
          </a:xfrm>
          <a:prstGeom prst="roundRect">
            <a:avLst>
              <a:gd name="adj" fmla="val 980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9496" y="3218682"/>
            <a:ext cx="11112703" cy="301752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Сменился исполнитель: решение целиком перешло к допущенному регулятором устройству. Появился шаг — обеспечить годность снимка.</a:t>
            </a:r>
          </a:p>
          <a:p>
            <a:pPr algn="l">
              <a:lnSpc>
                <a:spcPct val="126000"/>
              </a:lnSpc>
              <a:spcBef>
                <a:spcPts val="700"/>
              </a:spcBef>
            </a:pPr>
            <a:r>
              <a:rPr sz="1500" b="0" i="0">
                <a:solidFill>
                  <a:srgbClr val="21295C"/>
                </a:solidFill>
                <a:latin typeface="Arial"/>
              </a:rPr>
              <a:t/>
            </a:r>
            <a:r>
              <a:rPr sz="1500" b="1" i="0">
                <a:solidFill>
                  <a:srgbClr val="21295C"/>
                </a:solidFill>
                <a:latin typeface="Arial"/>
              </a:rPr>
              <a:t>Отдельно, другой прибор и взрослые пациенты:</a:t>
            </a:r>
            <a:r>
              <a:rPr sz="1500" b="0" i="0">
                <a:solidFill>
                  <a:srgbClr val="21295C"/>
                </a:solidFill>
                <a:latin typeface="Arial"/>
              </a:rPr>
              <a:t> негодны по качеству </a:t>
            </a:r>
            <a:r>
              <a:rPr sz="1500" b="1" i="0">
                <a:solidFill>
                  <a:srgbClr val="21295C"/>
                </a:solidFill>
                <a:latin typeface="Arial"/>
              </a:rPr>
              <a:t>5 снимков из ста</a:t>
            </a:r>
            <a:r>
              <a:rPr sz="1500" b="0" i="0">
                <a:solidFill>
                  <a:srgbClr val="21295C"/>
                </a:solidFill>
                <a:latin typeface="Arial"/>
              </a:rPr>
              <a:t> — на </a:t>
            </a:r>
            <a:r>
              <a:rPr sz="1500" b="1" i="0">
                <a:solidFill>
                  <a:srgbClr val="21295C"/>
                </a:solidFill>
                <a:latin typeface="Arial"/>
              </a:rPr>
              <a:t>101 710 визитов</a:t>
            </a:r>
            <a:r>
              <a:rPr sz="1500" b="0" i="0">
                <a:solidFill>
                  <a:srgbClr val="21295C"/>
                </a:solidFill>
                <a:latin typeface="Arial"/>
              </a:rPr>
              <a:t> в 404 клиниках; </a:t>
            </a:r>
            <a:r>
              <a:rPr sz="1500" b="1" i="0">
                <a:solidFill>
                  <a:srgbClr val="21295C"/>
                </a:solidFill>
                <a:latin typeface="Arial"/>
              </a:rPr>
              <a:t>75,7 процента</a:t>
            </a:r>
            <a:r>
              <a:rPr sz="1500" b="0" i="0">
                <a:solidFill>
                  <a:srgbClr val="21295C"/>
                </a:solidFill>
                <a:latin typeface="Arial"/>
              </a:rPr>
              <a:t> потока специалист не видит вовсе. С явкой 22 против 100 эти числа в одну бухгалтерию не складываются: другая программа, другой прибор, другая возрастная группа.</a:t>
            </a:r>
          </a:p>
        </p:txBody>
      </p:sp>
      <p:sp>
        <p:nvSpPr>
          <p:cNvPr id="15" name="Rectangle 14"/>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Решение регулятора США о допуске первой автономной диагностической системы, 2018</a:t>
            </a:r>
            <a:r>
              <a:rPr sz="1100" b="0" i="1">
                <a:solidFill>
                  <a:srgbClr val="1C7293"/>
                </a:solidFill>
                <a:latin typeface="Arial"/>
              </a:rPr>
              <a:t> · </a:t>
            </a:r>
            <a:r>
              <a:rPr sz="1100" b="0" i="1">
                <a:solidFill>
                  <a:srgbClr val="1C7293"/>
                </a:solidFill>
                <a:latin typeface="Arial"/>
              </a:rPr>
              <a:t>ретроспективное исследование потока автономного чтения глазного дна: 101 710 визитов, 404 клиники</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здесь переехало</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a:t>
            </a:r>
            <a:r>
              <a:rPr sz="1500" b="1" i="0">
                <a:solidFill>
                  <a:srgbClr val="21295C"/>
                </a:solidFill>
                <a:latin typeface="Arial"/>
              </a:rPr>
              <a:t>польза:</a:t>
            </a:r>
            <a:r>
              <a:rPr sz="1500" b="0" i="0">
                <a:solidFill>
                  <a:srgbClr val="21295C"/>
                </a:solidFill>
                <a:latin typeface="Arial"/>
              </a:rPr>
              <a:t> на этом шаге модель решает, кого вообще посмотрят — выигрыш, где он измерен, лежит в доступе, а не в точности</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границы:</a:t>
            </a:r>
            <a:r>
              <a:rPr sz="1500" b="0" i="0">
                <a:solidFill>
                  <a:srgbClr val="21295C"/>
                </a:solidFill>
                <a:latin typeface="Arial"/>
              </a:rPr>
              <a:t> в открытом потоке обращений и при отборе в программу повышенного внимания ни один полный разбор выигрыша не подтвердил; охват публикуют, устройство работы — нет</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риск:</a:t>
            </a:r>
            <a:r>
              <a:rPr sz="1500" b="0" i="0">
                <a:solidFill>
                  <a:srgbClr val="21295C"/>
                </a:solidFill>
                <a:latin typeface="Arial"/>
              </a:rPr>
              <a:t> удешевление входа перестраивает экономику системы раньше, чем кто-нибудь успевает проверить качество, а критерий отбора способен тихо сместить, кого вообще видят</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нагрузка дальше:</a:t>
            </a:r>
            <a:r>
              <a:rPr sz="1500" b="0" i="0">
                <a:solidFill>
                  <a:srgbClr val="21295C"/>
                </a:solidFill>
                <a:latin typeface="Arial"/>
              </a:rPr>
              <a:t> поток, отобранный моделью, приходит в следующий раздел уже смещённым — то, что она назвала нормой, человек не увидит</a:t>
            </a:r>
          </a:p>
          <a:p>
            <a:pPr algn="l">
              <a:lnSpc>
                <a:spcPct val="126000"/>
              </a:lnSpc>
              <a:spcBef>
                <a:spcPts val="700"/>
              </a:spcBef>
            </a:pPr>
            <a:r>
              <a:rPr sz="1500" b="0" i="0">
                <a:solidFill>
                  <a:srgbClr val="21295C"/>
                </a:solidFill>
                <a:latin typeface="Arial"/>
              </a:rPr>
              <a:t/>
            </a:r>
            <a:r>
              <a:rPr sz="1500" b="1" i="0">
                <a:solidFill>
                  <a:srgbClr val="21295C"/>
                </a:solidFill>
                <a:latin typeface="Arial"/>
              </a:rPr>
              <a:t>Нагрузка переехала на другой шаг</a:t>
            </a:r>
            <a:r>
              <a:rPr sz="1500" b="0" i="0">
                <a:solidFill>
                  <a:srgbClr val="21295C"/>
                </a:solidFill>
                <a:latin typeface="Arial"/>
              </a:rPr>
              <a:t> (чат-бот первой линии) · </a:t>
            </a:r>
            <a:r>
              <a:rPr sz="1500" b="1" i="0">
                <a:solidFill>
                  <a:srgbClr val="21295C"/>
                </a:solidFill>
                <a:latin typeface="Arial"/>
              </a:rPr>
              <a:t>сменился исполнитель</a:t>
            </a:r>
            <a:r>
              <a:rPr sz="1500" b="0" i="0">
                <a:solidFill>
                  <a:srgbClr val="21295C"/>
                </a:solidFill>
                <a:latin typeface="Arial"/>
              </a:rPr>
              <a:t>, и производной — </a:t>
            </a:r>
            <a:r>
              <a:rPr sz="1500" b="1" i="0">
                <a:solidFill>
                  <a:srgbClr val="21295C"/>
                </a:solidFill>
                <a:latin typeface="Arial"/>
              </a:rPr>
              <a:t>шаг появился</a:t>
            </a:r>
            <a:r>
              <a:rPr sz="1500" b="0" i="0">
                <a:solidFill>
                  <a:srgbClr val="21295C"/>
                </a:solidFill>
                <a:latin typeface="Arial"/>
              </a:rPr>
              <a:t> (глазное дно без офтальмолога)</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Чем эти клетки заняты сегодня</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Поиск с генерацией на тексте</a:t>
            </a:r>
            <a:r>
              <a:rPr sz="1500" b="0" i="0">
                <a:solidFill>
                  <a:srgbClr val="21295C"/>
                </a:solidFill>
                <a:latin typeface="Arial"/>
              </a:rPr>
              <a:t> (разбор: чат-бот первой линии) — режим «сортировка обращения словами»: после этого случая стагнирует; рядом — «запись приёма под диктовку» (принимается быстрее всех, потому что не ставит диагноз) и «ответ по документам со ссылкой на источник». Не умеет отличать редкое от частого в открытом потоке.</a:t>
            </a:r>
          </a:p>
          <a:p>
            <a:pPr algn="l">
              <a:lnSpc>
                <a:spcPct val="126000"/>
              </a:lnSpc>
              <a:spcBef>
                <a:spcPts val="700"/>
              </a:spcBef>
            </a:pPr>
            <a:r>
              <a:rPr sz="1500" b="0" i="0">
                <a:solidFill>
                  <a:srgbClr val="21295C"/>
                </a:solidFill>
                <a:latin typeface="Arial"/>
              </a:rPr>
              <a:t/>
            </a:r>
            <a:r>
              <a:rPr sz="1500" b="1" i="0">
                <a:solidFill>
                  <a:srgbClr val="21295C"/>
                </a:solidFill>
                <a:latin typeface="Arial"/>
              </a:rPr>
              <a:t>Классификация на изображении</a:t>
            </a:r>
            <a:r>
              <a:rPr sz="1500" b="0" i="0">
                <a:solidFill>
                  <a:srgbClr val="21295C"/>
                </a:solidFill>
                <a:latin typeface="Arial"/>
              </a:rPr>
              <a:t> (разбор: глазное дно без офтальмолога) — режим «автономное решение без врача» (LumineticsCore, прежде IDx-DR · EyeArt): допущено единицами и только там, где вопрос бинарный, — это свойство задачи. Не умеет отвечать за годность снимка: добыть годный снимок — отдельный шаг, и делает его человек без профильной подготовки.</a:t>
            </a:r>
          </a:p>
          <a:p>
            <a:pPr algn="l">
              <a:lnSpc>
                <a:spcPct val="126000"/>
              </a:lnSpc>
              <a:spcBef>
                <a:spcPts val="700"/>
              </a:spcBef>
            </a:pPr>
            <a:r>
              <a:rPr sz="1500" b="0" i="0">
                <a:solidFill>
                  <a:srgbClr val="21295C"/>
                </a:solidFill>
                <a:latin typeface="Arial"/>
              </a:rPr>
              <a:t/>
            </a:r>
            <a:r>
              <a:rPr sz="1500" b="1" i="0">
                <a:solidFill>
                  <a:srgbClr val="21295C"/>
                </a:solidFill>
                <a:latin typeface="Arial"/>
              </a:rPr>
              <a:t>Распознавание на изображении</a:t>
            </a:r>
            <a:r>
              <a:rPr sz="1500" b="0" i="0">
                <a:solidFill>
                  <a:srgbClr val="21295C"/>
                </a:solidFill>
                <a:latin typeface="Arial"/>
              </a:rPr>
              <a:t> (упоминание — подробно в разделе про чтение снимка) — режим «модель вторым читателем или триаж потока по риску» (Transpara · Lunit INSIGHT MMG; в России — платформа лучевой диагностики, «Цельс», «Третье мнение», Care Mentor AI). Растёт в скрининге. Не умеет заменить арбитраж: кто разбирает расхождение, назначает процедура.</a:t>
            </a:r>
          </a:p>
          <a:p>
            <a:pPr algn="l">
              <a:lnSpc>
                <a:spcPct val="126000"/>
              </a:lnSpc>
              <a:spcBef>
                <a:spcPts val="700"/>
              </a:spcBef>
            </a:pPr>
            <a:r>
              <a:rPr sz="1500" b="0" i="0">
                <a:solidFill>
                  <a:srgbClr val="21295C"/>
                </a:solidFill>
                <a:latin typeface="Arial"/>
              </a:rPr>
              <a:t/>
            </a:r>
            <a:r>
              <a:rPr sz="1500" b="0" i="0">
                <a:solidFill>
                  <a:srgbClr val="21295C"/>
                </a:solidFill>
                <a:latin typeface="Arial"/>
              </a:rPr>
              <a:t>На этом шаге занято три клетки из тридцати с лишним, и ни одна не про лечение — модель решает, кого посмотрят, а не что с ним делать.</a:t>
            </a:r>
          </a:p>
          <a:p>
            <a:pPr algn="l">
              <a:lnSpc>
                <a:spcPct val="126000"/>
              </a:lnSpc>
              <a:spcBef>
                <a:spcPts val="700"/>
              </a:spcBef>
            </a:pPr>
            <a:r>
              <a:rPr sz="1500" b="0" i="0">
                <a:solidFill>
                  <a:srgbClr val="21295C"/>
                </a:solidFill>
                <a:latin typeface="Arial"/>
              </a:rPr>
              <a:t/>
            </a:r>
            <a:r>
              <a:rPr sz="1500" b="0" i="0">
                <a:solidFill>
                  <a:srgbClr val="21295C"/>
                </a:solidFill>
                <a:latin typeface="Arial"/>
              </a:rPr>
              <a:t>Названо, чем делают, а не чья марка лучше — режим один, реализаций много, и разницу в результате делает устройство процедуры, а не бренд.</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2. Анализ данных — и группа, на которой он посчитан</a:t>
            </a:r>
          </a:p>
        </p:txBody>
      </p:sp>
      <p:sp>
        <p:nvSpPr>
          <p:cNvPr id="5" name="Rectangle 4"/>
          <p:cNvSpPr/>
          <p:nvPr/>
        </p:nvSpPr>
        <p:spPr>
          <a:xfrm>
            <a:off x="704088" y="1570238"/>
            <a:ext cx="1188720" cy="59436"/>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1844558"/>
            <a:ext cx="10984687" cy="94284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Решение о человеке принимает система, а не человек — и решение это построено на том, что про человека измерили. У каждого измерения есть группа, на которой оно посчитано: доля, посчитанная на одних людях, на других означает не то же самое.</a:t>
            </a:r>
          </a:p>
        </p:txBody>
      </p:sp>
      <p:sp>
        <p:nvSpPr>
          <p:cNvPr id="7" name="TextBox 6"/>
          <p:cNvSpPr txBox="1"/>
          <p:nvPr/>
        </p:nvSpPr>
        <p:spPr>
          <a:xfrm>
            <a:off x="704088" y="2915422"/>
            <a:ext cx="10984687" cy="338666"/>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3 подробных разбора · 3 упоминания</a:t>
            </a:r>
          </a:p>
        </p:txBody>
      </p:sp>
      <p:sp>
        <p:nvSpPr>
          <p:cNvPr id="8" name="TextBox 7"/>
          <p:cNvSpPr txBox="1"/>
          <p:nvPr/>
        </p:nvSpPr>
        <p:spPr>
          <a:xfrm>
            <a:off x="704088" y="3382105"/>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Разборы по порядку: 1. Таиланд · 2. Кожа и состав набора · 3. Расходы вместо болезни</a:t>
            </a:r>
          </a:p>
        </p:txBody>
      </p:sp>
      <p:sp>
        <p:nvSpPr>
          <p:cNvPr id="9" name="TextBox 8"/>
          <p:cNvSpPr txBox="1"/>
          <p:nvPr/>
        </p:nvSpPr>
        <p:spPr>
          <a:xfrm>
            <a:off x="704088" y="3848787"/>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Рабочее место, где снимают данные</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650" b="1" i="0">
                <a:solidFill>
                  <a:srgbClr val="21295C"/>
                </a:solidFill>
                <a:latin typeface="Arial"/>
              </a:rPr>
              <a:t>Чувствительность и специфичность: две доли без рабочей точки</a:t>
            </a:r>
          </a:p>
        </p:txBody>
      </p:sp>
      <p:sp>
        <p:nvSpPr>
          <p:cNvPr id="4" name="Rounded Rectangle 3"/>
          <p:cNvSpPr/>
          <p:nvPr/>
        </p:nvSpPr>
        <p:spPr>
          <a:xfrm>
            <a:off x="502920" y="1335024"/>
            <a:ext cx="5510631" cy="1310355"/>
          </a:xfrm>
          <a:prstGeom prst="roundRect">
            <a:avLst>
              <a:gd name="adj" fmla="val 2326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ЧУВСТВИТЕЛЬНОСТЬ</a:t>
            </a:r>
          </a:p>
        </p:txBody>
      </p:sp>
      <p:sp>
        <p:nvSpPr>
          <p:cNvPr id="6" name="TextBox 5"/>
          <p:cNvSpPr txBox="1"/>
          <p:nvPr/>
        </p:nvSpPr>
        <p:spPr>
          <a:xfrm>
            <a:off x="640080" y="1690796"/>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{{нет в главе: число для доли «назвала больными»}}</a:t>
            </a:r>
          </a:p>
        </p:txBody>
      </p:sp>
      <p:sp>
        <p:nvSpPr>
          <p:cNvPr id="7" name="Rounded Rectangle 6"/>
          <p:cNvSpPr/>
          <p:nvPr/>
        </p:nvSpPr>
        <p:spPr>
          <a:xfrm>
            <a:off x="6178143" y="1335024"/>
            <a:ext cx="5510631" cy="1310355"/>
          </a:xfrm>
          <a:prstGeom prst="roundRect">
            <a:avLst>
              <a:gd name="adj" fmla="val 23260"/>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СПЕЦИФИЧНОСТЬ</a:t>
            </a:r>
          </a:p>
        </p:txBody>
      </p:sp>
      <p:sp>
        <p:nvSpPr>
          <p:cNvPr id="9" name="TextBox 8"/>
          <p:cNvSpPr txBox="1"/>
          <p:nvPr/>
        </p:nvSpPr>
        <p:spPr>
          <a:xfrm>
            <a:off x="6315303" y="1690796"/>
            <a:ext cx="5236311"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{{нет в главе: число для доли «не стала пугать»}}</a:t>
            </a:r>
          </a:p>
        </p:txBody>
      </p:sp>
      <p:sp>
        <p:nvSpPr>
          <p:cNvPr id="10" name="Rounded Rectangle 9"/>
          <p:cNvSpPr/>
          <p:nvPr/>
        </p:nvSpPr>
        <p:spPr>
          <a:xfrm>
            <a:off x="374904" y="2736819"/>
            <a:ext cx="11441887" cy="3499388"/>
          </a:xfrm>
          <a:prstGeom prst="roundRect">
            <a:avLst>
              <a:gd name="adj" fmla="val 871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9496" y="2828259"/>
            <a:ext cx="11112703" cy="3407948"/>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Из всех, у кого болезнь есть, — какую долю система назвала больными. Из всех, у кого болезни нет, — какую долю она не стала пугать.</a:t>
            </a:r>
          </a:p>
          <a:p>
            <a:pPr algn="l">
              <a:lnSpc>
                <a:spcPct val="126000"/>
              </a:lnSpc>
              <a:spcBef>
                <a:spcPts val="700"/>
              </a:spcBef>
            </a:pPr>
            <a:r>
              <a:rPr sz="1500" b="0" i="0">
                <a:solidFill>
                  <a:srgbClr val="21295C"/>
                </a:solidFill>
                <a:latin typeface="Arial"/>
              </a:rPr>
              <a:t/>
            </a:r>
            <a:r>
              <a:rPr sz="1500" b="0" i="0">
                <a:solidFill>
                  <a:srgbClr val="21295C"/>
                </a:solidFill>
                <a:latin typeface="Arial"/>
              </a:rPr>
              <a:t>Обе доли считаются по группе, которую собрал исследователь.</a:t>
            </a:r>
          </a:p>
          <a:p>
            <a:pPr algn="l">
              <a:lnSpc>
                <a:spcPct val="126000"/>
              </a:lnSpc>
              <a:spcBef>
                <a:spcPts val="700"/>
              </a:spcBef>
            </a:pPr>
            <a:r>
              <a:rPr sz="1500" b="0" i="0">
                <a:solidFill>
                  <a:srgbClr val="21295C"/>
                </a:solidFill>
                <a:latin typeface="Arial"/>
              </a:rPr>
              <a:t/>
            </a:r>
            <a:r>
              <a:rPr sz="1500" b="0" i="0">
                <a:solidFill>
                  <a:srgbClr val="21295C"/>
                </a:solidFill>
                <a:latin typeface="Arial"/>
              </a:rPr>
              <a:t>Упоминание: систематический обзор работ по машинному обучению на данных ковидной пневмонии отобрал из </a:t>
            </a:r>
            <a:r>
              <a:rPr sz="1500" b="1" i="0">
                <a:solidFill>
                  <a:srgbClr val="21295C"/>
                </a:solidFill>
                <a:latin typeface="Arial"/>
              </a:rPr>
              <a:t>2 212</a:t>
            </a:r>
            <a:r>
              <a:rPr sz="1500" b="0" i="0">
                <a:solidFill>
                  <a:srgbClr val="21295C"/>
                </a:solidFill>
                <a:latin typeface="Arial"/>
              </a:rPr>
              <a:t> публикаций </a:t>
            </a:r>
            <a:r>
              <a:rPr sz="1500" b="1" i="0">
                <a:solidFill>
                  <a:srgbClr val="21295C"/>
                </a:solidFill>
                <a:latin typeface="Arial"/>
              </a:rPr>
              <a:t>62</a:t>
            </a:r>
            <a:r>
              <a:rPr sz="1500" b="0" i="0">
                <a:solidFill>
                  <a:srgbClr val="21295C"/>
                </a:solidFill>
                <a:latin typeface="Arial"/>
              </a:rPr>
              <a:t> для анализа — и не нашёл среди них </a:t>
            </a:r>
            <a:r>
              <a:rPr sz="1500" b="1" i="0">
                <a:solidFill>
                  <a:srgbClr val="21295C"/>
                </a:solidFill>
                <a:latin typeface="Arial"/>
              </a:rPr>
              <a:t>ни одной</a:t>
            </a:r>
            <a:r>
              <a:rPr sz="1500" b="0" i="0">
                <a:solidFill>
                  <a:srgbClr val="21295C"/>
                </a:solidFill>
                <a:latin typeface="Arial"/>
              </a:rPr>
              <a:t>, пригодной для клинического применения. Это вывод о качестве исследовательских работ; про внедрённые системы он не говорит ничего.</a:t>
            </a:r>
          </a:p>
        </p:txBody>
      </p:sp>
      <p:sp>
        <p:nvSpPr>
          <p:cNvPr id="12" name="Rectangle 11"/>
          <p:cNvSpPr/>
          <p:nvPr/>
        </p:nvSpPr>
        <p:spPr>
          <a:xfrm>
            <a:off x="502920" y="879603"/>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Систематический обзор работ машинного обучения на снимках при ковидной пневмонии: Roberts и соавторы, Nature Machine Intelligence, 2021;3:199–217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Одна система, две группы</a:t>
            </a:r>
          </a:p>
        </p:txBody>
      </p:sp>
      <p:sp>
        <p:nvSpPr>
          <p:cNvPr id="4" name="Rounded Rectangle 3"/>
          <p:cNvSpPr/>
          <p:nvPr/>
        </p:nvSpPr>
        <p:spPr>
          <a:xfrm>
            <a:off x="502920" y="1335024"/>
            <a:ext cx="2673019" cy="2234545"/>
          </a:xfrm>
          <a:prstGeom prst="roundRect">
            <a:avLst>
              <a:gd name="adj" fmla="val 13640"/>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ЛОВИТ БОЛЬНЫХ</a:t>
            </a:r>
          </a:p>
        </p:txBody>
      </p:sp>
      <p:sp>
        <p:nvSpPr>
          <p:cNvPr id="6" name="TextBox 5"/>
          <p:cNvSpPr txBox="1"/>
          <p:nvPr/>
        </p:nvSpPr>
        <p:spPr>
          <a:xfrm>
            <a:off x="640080" y="1690796"/>
            <a:ext cx="2398699"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94 из ста больных</a:t>
            </a:r>
          </a:p>
        </p:txBody>
      </p:sp>
      <p:sp>
        <p:nvSpPr>
          <p:cNvPr id="7" name="TextBox 6"/>
          <p:cNvSpPr txBox="1"/>
          <p:nvPr/>
        </p:nvSpPr>
        <p:spPr>
          <a:xfrm>
            <a:off x="640080" y="2508219"/>
            <a:ext cx="2398699" cy="924190"/>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опубликованная рабочая точка модели чтения рентгена, взятая иллюстрацией методики; характеристикой изделия она не служит</a:t>
            </a:r>
          </a:p>
        </p:txBody>
      </p:sp>
      <p:sp>
        <p:nvSpPr>
          <p:cNvPr id="8" name="Rounded Rectangle 7"/>
          <p:cNvSpPr/>
          <p:nvPr/>
        </p:nvSpPr>
        <p:spPr>
          <a:xfrm>
            <a:off x="3340531" y="1335024"/>
            <a:ext cx="2673019" cy="2234545"/>
          </a:xfrm>
          <a:prstGeom prst="roundRect">
            <a:avLst>
              <a:gd name="adj" fmla="val 1364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НАПРАСНО ПУГАЕТ ЗДОРОВЫХ</a:t>
            </a:r>
          </a:p>
        </p:txBody>
      </p:sp>
      <p:sp>
        <p:nvSpPr>
          <p:cNvPr id="10" name="TextBox 9"/>
          <p:cNvSpPr txBox="1"/>
          <p:nvPr/>
        </p:nvSpPr>
        <p:spPr>
          <a:xfrm>
            <a:off x="3477691"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11 из ста здоровых</a:t>
            </a:r>
          </a:p>
        </p:txBody>
      </p:sp>
      <p:sp>
        <p:nvSpPr>
          <p:cNvPr id="11" name="TextBox 10"/>
          <p:cNvSpPr txBox="1"/>
          <p:nvPr/>
        </p:nvSpPr>
        <p:spPr>
          <a:xfrm>
            <a:off x="3477691" y="2508219"/>
            <a:ext cx="2398699"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та же рабочая точка той же системы; обе доли меняются только вместе</a:t>
            </a:r>
          </a:p>
        </p:txBody>
      </p:sp>
      <p:sp>
        <p:nvSpPr>
          <p:cNvPr id="12" name="Rounded Rectangle 11"/>
          <p:cNvSpPr/>
          <p:nvPr/>
        </p:nvSpPr>
        <p:spPr>
          <a:xfrm>
            <a:off x="6178143" y="1335024"/>
            <a:ext cx="2673019" cy="2234545"/>
          </a:xfrm>
          <a:prstGeom prst="roundRect">
            <a:avLst>
              <a:gd name="adj" fmla="val 1364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ГРУППА 1 — ПОГОЛОВНЫЙ ПОТОК</a:t>
            </a:r>
          </a:p>
        </p:txBody>
      </p:sp>
      <p:sp>
        <p:nvSpPr>
          <p:cNvPr id="14" name="TextBox 13"/>
          <p:cNvSpPr txBox="1"/>
          <p:nvPr/>
        </p:nvSpPr>
        <p:spPr>
          <a:xfrm>
            <a:off x="6315303"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100 больных на 10 000</a:t>
            </a:r>
          </a:p>
        </p:txBody>
      </p:sp>
      <p:sp>
        <p:nvSpPr>
          <p:cNvPr id="15" name="TextBox 14"/>
          <p:cNvSpPr txBox="1"/>
          <p:nvPr/>
        </p:nvSpPr>
        <p:spPr>
          <a:xfrm>
            <a:off x="6315303" y="2508219"/>
            <a:ext cx="2398699"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один человек из ста — распространённость назначил тот, кто решил, кого звать</a:t>
            </a:r>
          </a:p>
        </p:txBody>
      </p:sp>
      <p:sp>
        <p:nvSpPr>
          <p:cNvPr id="16" name="Rounded Rectangle 15"/>
          <p:cNvSpPr/>
          <p:nvPr/>
        </p:nvSpPr>
        <p:spPr>
          <a:xfrm>
            <a:off x="9015755" y="1335024"/>
            <a:ext cx="2673019" cy="2234545"/>
          </a:xfrm>
          <a:prstGeom prst="roundRect">
            <a:avLst>
              <a:gd name="adj" fmla="val 1364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52915"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ГРУППА 2 — ПРОФИЛЬНОЕ ОТДЕЛЕНИЕ</a:t>
            </a:r>
          </a:p>
        </p:txBody>
      </p:sp>
      <p:sp>
        <p:nvSpPr>
          <p:cNvPr id="18" name="TextBox 17"/>
          <p:cNvSpPr txBox="1"/>
          <p:nvPr/>
        </p:nvSpPr>
        <p:spPr>
          <a:xfrm>
            <a:off x="9152915" y="1863689"/>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3 000 больных на 10 000</a:t>
            </a:r>
          </a:p>
        </p:txBody>
      </p:sp>
      <p:sp>
        <p:nvSpPr>
          <p:cNvPr id="19" name="TextBox 18"/>
          <p:cNvSpPr txBox="1"/>
          <p:nvPr/>
        </p:nvSpPr>
        <p:spPr>
          <a:xfrm>
            <a:off x="9152915" y="2681111"/>
            <a:ext cx="2398699"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тридцать из ста — сюда людей уже отобрал кто-то по жалобе или направлению</a:t>
            </a:r>
          </a:p>
        </p:txBody>
      </p:sp>
      <p:sp>
        <p:nvSpPr>
          <p:cNvPr id="20" name="Rounded Rectangle 19"/>
          <p:cNvSpPr/>
          <p:nvPr/>
        </p:nvSpPr>
        <p:spPr>
          <a:xfrm>
            <a:off x="374904" y="3661009"/>
            <a:ext cx="11441887" cy="2575198"/>
          </a:xfrm>
          <a:prstGeom prst="roundRect">
            <a:avLst>
              <a:gd name="adj" fmla="val 1183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9496" y="3752449"/>
            <a:ext cx="11112703" cy="2483758"/>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Одна и та же система, с одними и теми же долями чувствительности и специфичности, работает на двух группах: десять тысяч здоровых подряд и десять тысяч в профильном отделении, где больных заметно больше.</a:t>
            </a:r>
          </a:p>
          <a:p>
            <a:pPr algn="l">
              <a:lnSpc>
                <a:spcPct val="126000"/>
              </a:lnSpc>
              <a:spcBef>
                <a:spcPts val="700"/>
              </a:spcBef>
            </a:pPr>
            <a:r>
              <a:rPr sz="1500" b="0" i="0">
                <a:solidFill>
                  <a:srgbClr val="21295C"/>
                </a:solidFill>
                <a:latin typeface="Arial"/>
              </a:rPr>
              <a:t/>
            </a:r>
            <a:r>
              <a:rPr sz="1500" b="0" i="0">
                <a:solidFill>
                  <a:srgbClr val="21295C"/>
                </a:solidFill>
                <a:latin typeface="Arial"/>
              </a:rPr>
              <a:t>Вопрос, который остаётся без ответа до следующего кадра: что это меняет в том, скольким из тревог стоит верить?</a:t>
            </a:r>
          </a:p>
        </p:txBody>
      </p:sp>
      <p:sp>
        <p:nvSpPr>
          <p:cNvPr id="22" name="Rectangle 21"/>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Рабочая точка 94 и 11 — опубликованный замер модели чтения снимков грудной клетки: Rajpurkar и соавторы, CheXNet, 2017; взята иллюстрацией методики</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Верные тревоги в двух группах</a:t>
            </a:r>
          </a:p>
        </p:txBody>
      </p:sp>
      <p:sp>
        <p:nvSpPr>
          <p:cNvPr id="4" name="Rounded Rectangle 3"/>
          <p:cNvSpPr/>
          <p:nvPr/>
        </p:nvSpPr>
        <p:spPr>
          <a:xfrm>
            <a:off x="502920" y="1335024"/>
            <a:ext cx="5510631" cy="1289607"/>
          </a:xfrm>
          <a:prstGeom prst="roundRect">
            <a:avLst>
              <a:gd name="adj" fmla="val 23635"/>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ВЕРНАЯ ТРЕВОГА — ПОГОЛОВНЫЙ СКРИНИНГ</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 из ста тревог</a:t>
            </a:r>
          </a:p>
        </p:txBody>
      </p:sp>
      <p:sp>
        <p:nvSpPr>
          <p:cNvPr id="7" name="TextBox 6"/>
          <p:cNvSpPr txBox="1"/>
          <p:nvPr/>
        </p:nvSpPr>
        <p:spPr>
          <a:xfrm>
            <a:off x="640080" y="2117795"/>
            <a:ext cx="5236311"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94 верные тревоги на 1 183 поднятые</a:t>
            </a:r>
          </a:p>
        </p:txBody>
      </p:sp>
      <p:sp>
        <p:nvSpPr>
          <p:cNvPr id="8" name="Rounded Rectangle 7"/>
          <p:cNvSpPr/>
          <p:nvPr/>
        </p:nvSpPr>
        <p:spPr>
          <a:xfrm>
            <a:off x="6178143" y="1335024"/>
            <a:ext cx="5510631" cy="1289607"/>
          </a:xfrm>
          <a:prstGeom prst="roundRect">
            <a:avLst>
              <a:gd name="adj" fmla="val 23635"/>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ВЕРНАЯ ТРЕВОГА — ПРОФИЛЬНОЕ ОТДЕЛЕНИЕ</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79 из ста тревог</a:t>
            </a:r>
          </a:p>
        </p:txBody>
      </p:sp>
      <p:sp>
        <p:nvSpPr>
          <p:cNvPr id="11" name="TextBox 10"/>
          <p:cNvSpPr txBox="1"/>
          <p:nvPr/>
        </p:nvSpPr>
        <p:spPr>
          <a:xfrm>
            <a:off x="6315303"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2 820 верных на 3 590 поднятых; система одна, доли её одни и те же — различается только доля больных в группе</a:t>
            </a:r>
          </a:p>
        </p:txBody>
      </p:sp>
      <p:sp>
        <p:nvSpPr>
          <p:cNvPr id="12" name="Rounded Rectangle 11"/>
          <p:cNvSpPr/>
          <p:nvPr/>
        </p:nvSpPr>
        <p:spPr>
          <a:xfrm>
            <a:off x="374904" y="2716071"/>
            <a:ext cx="11441887" cy="3520136"/>
          </a:xfrm>
          <a:prstGeom prst="roundRect">
            <a:avLst>
              <a:gd name="adj" fmla="val 865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2807511"/>
            <a:ext cx="11112703" cy="342869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Та же схема с проявленным результатом: доля тревог, которые оказались верными, различается почти на порядок между поголовным скринингом и профильным отделением — при одних и тех же долях системы.</a:t>
            </a:r>
          </a:p>
          <a:p>
            <a:pPr algn="l">
              <a:lnSpc>
                <a:spcPct val="126000"/>
              </a:lnSpc>
              <a:spcBef>
                <a:spcPts val="700"/>
              </a:spcBef>
            </a:pPr>
            <a:r>
              <a:rPr sz="1500" b="0" i="0">
                <a:solidFill>
                  <a:srgbClr val="21295C"/>
                </a:solidFill>
                <a:latin typeface="Arial"/>
              </a:rPr>
              <a:t/>
            </a:r>
            <a:r>
              <a:rPr sz="1500" b="1" i="0">
                <a:solidFill>
                  <a:srgbClr val="21295C"/>
                </a:solidFill>
                <a:latin typeface="Arial"/>
              </a:rPr>
              <a:t>Правило, которое раздел выдаёт лекции:</a:t>
            </a:r>
            <a:r>
              <a:rPr sz="1500" b="0" i="0">
                <a:solidFill>
                  <a:srgbClr val="21295C"/>
                </a:solidFill>
                <a:latin typeface="Arial"/>
              </a:rPr>
              <a:t> заявленная точность без названной группы и распространённости болезни на слайд не идёт.</a:t>
            </a:r>
          </a:p>
        </p:txBody>
      </p:sp>
      <p:sp>
        <p:nvSpPr>
          <p:cNvPr id="14" name="Rectangle 13"/>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Та же рабочая точка той же работы: Rajpurkar и соавторы, CheXNet, 2017 — доля верных тревог посчитана при распространённости один из ста и тридцать из ста</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Техник флюорографии и годность снимка</a:t>
            </a:r>
          </a:p>
        </p:txBody>
      </p:sp>
      <p:sp>
        <p:nvSpPr>
          <p:cNvPr id="4" name="TextBox 3"/>
          <p:cNvSpPr txBox="1"/>
          <p:nvPr/>
        </p:nvSpPr>
        <p:spPr>
          <a:xfrm>
            <a:off x="502920" y="1389888"/>
            <a:ext cx="1289304" cy="457200"/>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Без модели</a:t>
            </a:r>
          </a:p>
        </p:txBody>
      </p:sp>
      <p:sp>
        <p:nvSpPr>
          <p:cNvPr id="5" name="Rounded Rectangle 4"/>
          <p:cNvSpPr/>
          <p:nvPr/>
        </p:nvSpPr>
        <p:spPr>
          <a:xfrm>
            <a:off x="1920240" y="1335024"/>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002536" y="1417320"/>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Снять пациента</a:t>
            </a:r>
          </a:p>
        </p:txBody>
      </p:sp>
      <p:sp>
        <p:nvSpPr>
          <p:cNvPr id="7" name="Right Arrow 6"/>
          <p:cNvSpPr/>
          <p:nvPr/>
        </p:nvSpPr>
        <p:spPr>
          <a:xfrm>
            <a:off x="5039258" y="1495044"/>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267858" y="1335024"/>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350154" y="1417320"/>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Посмотреть на экран</a:t>
            </a:r>
          </a:p>
        </p:txBody>
      </p:sp>
      <p:sp>
        <p:nvSpPr>
          <p:cNvPr id="10" name="Right Arrow 9"/>
          <p:cNvSpPr/>
          <p:nvPr/>
        </p:nvSpPr>
        <p:spPr>
          <a:xfrm>
            <a:off x="8386876" y="1495044"/>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615476" y="1335024"/>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97772" y="1417320"/>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Решить: годится или переснять</a:t>
            </a:r>
          </a:p>
        </p:txBody>
      </p:sp>
      <p:sp>
        <p:nvSpPr>
          <p:cNvPr id="13" name="TextBox 12"/>
          <p:cNvSpPr txBox="1"/>
          <p:nvPr/>
        </p:nvSpPr>
        <p:spPr>
          <a:xfrm>
            <a:off x="502920" y="1938528"/>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Решение техника о годности снимка</a:t>
            </a:r>
          </a:p>
        </p:txBody>
      </p:sp>
      <p:sp>
        <p:nvSpPr>
          <p:cNvPr id="14" name="Rounded Rectangle 13"/>
          <p:cNvSpPr/>
          <p:nvPr/>
        </p:nvSpPr>
        <p:spPr>
          <a:xfrm>
            <a:off x="374904" y="2251382"/>
            <a:ext cx="11441887" cy="3984825"/>
          </a:xfrm>
          <a:prstGeom prst="roundRect">
            <a:avLst>
              <a:gd name="adj" fmla="val 764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39496" y="2342822"/>
            <a:ext cx="11112703" cy="389338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Техник флюорографии районной поликлиники ставит пациента, снимает, смотрит на экран и решает — годится снимок или нужно переснять.</a:t>
            </a:r>
          </a:p>
          <a:p>
            <a:pPr algn="l">
              <a:lnSpc>
                <a:spcPct val="126000"/>
              </a:lnSpc>
              <a:spcBef>
                <a:spcPts val="700"/>
              </a:spcBef>
            </a:pPr>
            <a:r>
              <a:rPr sz="1500" b="0" i="0">
                <a:solidFill>
                  <a:srgbClr val="21295C"/>
                </a:solidFill>
                <a:latin typeface="Arial"/>
              </a:rPr>
              <a:t/>
            </a:r>
            <a:r>
              <a:rPr sz="1500" b="1" i="0">
                <a:solidFill>
                  <a:srgbClr val="21295C"/>
                </a:solidFill>
                <a:latin typeface="Arial"/>
              </a:rPr>
              <a:t>По какому правилу он решает.</a:t>
            </a:r>
            <a:r>
              <a:rPr sz="1500" b="0" i="0">
                <a:solidFill>
                  <a:srgbClr val="21295C"/>
                </a:solidFill>
                <a:latin typeface="Arial"/>
              </a:rPr>
              <a:t> Опыт и видимое качество кадра, не формальный норматив.</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бывает, если негодный снимок уйдёт на чтение.</a:t>
            </a:r>
            <a:r>
              <a:rPr sz="1500" b="0" i="0">
                <a:solidFill>
                  <a:srgbClr val="21295C"/>
                </a:solidFill>
                <a:latin typeface="Arial"/>
              </a:rPr>
              <a:t> Диагноз ставят по тому, что видно, не по тому, что было на самом деле.</a:t>
            </a:r>
          </a:p>
          <a:p>
            <a:pPr algn="l">
              <a:lnSpc>
                <a:spcPct val="126000"/>
              </a:lnSpc>
              <a:spcBef>
                <a:spcPts val="700"/>
              </a:spcBef>
            </a:pPr>
            <a:r>
              <a:rPr sz="1500" b="0" i="0">
                <a:solidFill>
                  <a:srgbClr val="21295C"/>
                </a:solidFill>
                <a:latin typeface="Arial"/>
              </a:rPr>
              <a:t/>
            </a:r>
            <a:r>
              <a:rPr sz="1500" b="1" i="0">
                <a:solidFill>
                  <a:srgbClr val="21295C"/>
                </a:solidFill>
                <a:latin typeface="Arial"/>
              </a:rPr>
              <a:t>Кто это заметит, если не он.</a:t>
            </a:r>
            <a:r>
              <a:rPr sz="1500" b="0" i="0">
                <a:solidFill>
                  <a:srgbClr val="21295C"/>
                </a:solidFill>
                <a:latin typeface="Arial"/>
              </a:rPr>
              <a:t> Чаще всего — никто, пока не понадобится пересмотр.</a:t>
            </a:r>
          </a:p>
          <a:p>
            <a:pPr algn="l">
              <a:lnSpc>
                <a:spcPct val="126000"/>
              </a:lnSpc>
              <a:spcBef>
                <a:spcPts val="700"/>
              </a:spcBef>
            </a:pPr>
            <a:r>
              <a:rPr sz="1500" b="0" i="0">
                <a:solidFill>
                  <a:srgbClr val="21295C"/>
                </a:solidFill>
                <a:latin typeface="Arial"/>
              </a:rPr>
              <a:t/>
            </a:r>
            <a:r>
              <a:rPr sz="1500" b="0" i="0">
                <a:solidFill>
                  <a:srgbClr val="21295C"/>
                </a:solidFill>
                <a:latin typeface="Arial"/>
              </a:rPr>
              <a:t>Пригодность измерения решает не прибор.</a:t>
            </a:r>
          </a:p>
        </p:txBody>
      </p:sp>
      <p:sp>
        <p:nvSpPr>
          <p:cNvPr id="16" name="Rectangle 1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работает и что не работает: анализ данных</a:t>
            </a:r>
          </a:p>
        </p:txBody>
      </p:sp>
      <p:sp>
        <p:nvSpPr>
          <p:cNvPr id="4" name="Rounded Rectangle 3"/>
          <p:cNvSpPr/>
          <p:nvPr/>
        </p:nvSpPr>
        <p:spPr>
          <a:xfrm>
            <a:off x="502920" y="1335024"/>
            <a:ext cx="5437479" cy="3108960"/>
          </a:xfrm>
          <a:prstGeom prst="roundRect">
            <a:avLst>
              <a:gd name="adj" fmla="val 980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67512" y="1490472"/>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получается</a:t>
            </a:r>
          </a:p>
        </p:txBody>
      </p:sp>
      <p:sp>
        <p:nvSpPr>
          <p:cNvPr id="6" name="TextBox 5"/>
          <p:cNvSpPr txBox="1"/>
          <p:nvPr/>
        </p:nvSpPr>
        <p:spPr>
          <a:xfrm>
            <a:off x="667512" y="1846650"/>
            <a:ext cx="5108295" cy="2441885"/>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Постоянство — не устаёт и не отвлекается</a:t>
            </a:r>
          </a:p>
          <a:p>
            <a:pPr algn="l">
              <a:lnSpc>
                <a:spcPct val="126000"/>
              </a:lnSpc>
            </a:pPr>
            <a:r>
              <a:rPr sz="1450" b="0" i="0">
                <a:solidFill>
                  <a:srgbClr val="21295C"/>
                </a:solidFill>
                <a:latin typeface="Arial"/>
              </a:rPr>
              <a:t>• Поток — держит объём, который человек не удержит</a:t>
            </a:r>
          </a:p>
          <a:p>
            <a:pPr algn="l">
              <a:lnSpc>
                <a:spcPct val="126000"/>
              </a:lnSpc>
            </a:pPr>
            <a:r>
              <a:rPr sz="1450" b="0" i="0">
                <a:solidFill>
                  <a:srgbClr val="21295C"/>
                </a:solidFill>
                <a:latin typeface="Arial"/>
              </a:rPr>
              <a:t>• Воспроизводимость — один и тот же вход даёт один и тот же результат</a:t>
            </a:r>
          </a:p>
        </p:txBody>
      </p:sp>
      <p:sp>
        <p:nvSpPr>
          <p:cNvPr id="7" name="Rounded Rectangle 6"/>
          <p:cNvSpPr/>
          <p:nvPr/>
        </p:nvSpPr>
        <p:spPr>
          <a:xfrm>
            <a:off x="6251295" y="1335024"/>
            <a:ext cx="5437479" cy="3108960"/>
          </a:xfrm>
          <a:prstGeom prst="roundRect">
            <a:avLst>
              <a:gd name="adj" fmla="val 9803"/>
            </a:avLst>
          </a:prstGeom>
          <a:solidFill>
            <a:srgbClr val="FFFFFF"/>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15887" y="1490472"/>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Что не получается</a:t>
            </a:r>
          </a:p>
        </p:txBody>
      </p:sp>
      <p:sp>
        <p:nvSpPr>
          <p:cNvPr id="9" name="TextBox 8"/>
          <p:cNvSpPr txBox="1"/>
          <p:nvPr/>
        </p:nvSpPr>
        <p:spPr>
          <a:xfrm>
            <a:off x="6415887" y="1846650"/>
            <a:ext cx="5108295" cy="2441885"/>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Качество входа — зависит от прибора и условий съёмки</a:t>
            </a:r>
          </a:p>
          <a:p>
            <a:pPr algn="l">
              <a:lnSpc>
                <a:spcPct val="126000"/>
              </a:lnSpc>
            </a:pPr>
            <a:r>
              <a:rPr sz="1450" b="0" i="0">
                <a:solidFill>
                  <a:srgbClr val="21295C"/>
                </a:solidFill>
                <a:latin typeface="Arial"/>
              </a:rPr>
              <a:t>• Перенос долей между больницами — доля верна там, где посчитана</a:t>
            </a:r>
          </a:p>
          <a:p>
            <a:pPr algn="l">
              <a:lnSpc>
                <a:spcPct val="126000"/>
              </a:lnSpc>
            </a:pPr>
            <a:r>
              <a:rPr sz="1450" b="0" i="0">
                <a:solidFill>
                  <a:srgbClr val="21295C"/>
                </a:solidFill>
                <a:latin typeface="Arial"/>
              </a:rPr>
              <a:t>• Смещение самого измерительного прибора — модель наследует его молча</a:t>
            </a:r>
          </a:p>
        </p:txBody>
      </p:sp>
      <p:sp>
        <p:nvSpPr>
          <p:cNvPr id="10" name="Rounded Rectangle 9"/>
          <p:cNvSpPr/>
          <p:nvPr/>
        </p:nvSpPr>
        <p:spPr>
          <a:xfrm>
            <a:off x="374904" y="4535424"/>
            <a:ext cx="11441887" cy="1700784"/>
          </a:xfrm>
          <a:prstGeom prst="roundRect">
            <a:avLst>
              <a:gd name="adj" fmla="val 1792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9496" y="4626864"/>
            <a:ext cx="11112703" cy="1609343"/>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Пример смещения на входе: прибор насыщения крови кислородом расходится с прямым анализом крови у пациентов с тёмной кожей в </a:t>
            </a:r>
            <a:r>
              <a:rPr sz="1500" b="1" i="0">
                <a:solidFill>
                  <a:srgbClr val="21295C"/>
                </a:solidFill>
                <a:latin typeface="Arial"/>
              </a:rPr>
              <a:t>11,7 процента измерений</a:t>
            </a:r>
            <a:r>
              <a:rPr sz="1500" b="0" i="0">
                <a:solidFill>
                  <a:srgbClr val="21295C"/>
                </a:solidFill>
                <a:latin typeface="Arial"/>
              </a:rPr>
              <a:t> — 88 случаев из 749; у светлокожих та же доля </a:t>
            </a:r>
            <a:r>
              <a:rPr sz="1500" b="1" i="0">
                <a:solidFill>
                  <a:srgbClr val="21295C"/>
                </a:solidFill>
                <a:latin typeface="Arial"/>
              </a:rPr>
              <a:t>3,6 процента</a:t>
            </a:r>
            <a:r>
              <a:rPr sz="1500" b="0" i="0">
                <a:solidFill>
                  <a:srgbClr val="21295C"/>
                </a:solidFill>
                <a:latin typeface="Arial"/>
              </a:rPr>
              <a:t> — 99 из 2 778. Доля считается по измерениям, не по пациентам, и обе взяты из одной названной когорты. Смещение одностороннее: показание прибора выше, то есть опасное снижение насыщения пропускается чаще, — и обученная модель, принимающая показания прибора на вход, этого смещения не видит вовсе.</a:t>
            </a:r>
          </a:p>
        </p:txBody>
      </p:sp>
      <p:sp>
        <p:nvSpPr>
          <p:cNvPr id="12" name="Rectangle 11"/>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Сравнение прибора насыщения крови с прямым анализом крови по тону кожи: Sjoding и соавторы, New England Journal of Medicine, 2020;383:2477–2478</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Таиланд: точность приехала, а снимки не прошли</a:t>
            </a:r>
          </a:p>
        </p:txBody>
      </p:sp>
      <p:sp>
        <p:nvSpPr>
          <p:cNvPr id="4" name="Rounded Rectangle 3"/>
          <p:cNvSpPr/>
          <p:nvPr/>
        </p:nvSpPr>
        <p:spPr>
          <a:xfrm>
            <a:off x="502920" y="1335024"/>
            <a:ext cx="5510631" cy="1700778"/>
          </a:xfrm>
          <a:prstGeom prst="roundRect">
            <a:avLst>
              <a:gd name="adj" fmla="val 1792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КЛАССИЧЕСКИЙ РЕЖИМ</a:t>
            </a:r>
          </a:p>
        </p:txBody>
      </p:sp>
      <p:sp>
        <p:nvSpPr>
          <p:cNvPr id="6" name="TextBox 5"/>
          <p:cNvSpPr txBox="1"/>
          <p:nvPr/>
        </p:nvSpPr>
        <p:spPr>
          <a:xfrm>
            <a:off x="640080" y="1690796"/>
            <a:ext cx="5236311"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{{нет в главе: свой счёт классического режима для этого разбора}}</a:t>
            </a:r>
          </a:p>
        </p:txBody>
      </p:sp>
      <p:sp>
        <p:nvSpPr>
          <p:cNvPr id="7" name="Rounded Rectangle 6"/>
          <p:cNvSpPr/>
          <p:nvPr/>
        </p:nvSpPr>
        <p:spPr>
          <a:xfrm>
            <a:off x="6178143" y="1335024"/>
            <a:ext cx="5510631" cy="1700778"/>
          </a:xfrm>
          <a:prstGeom prst="roundRect">
            <a:avLst>
              <a:gd name="adj" fmla="val 17921"/>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СНИМОК ОТКЛОНЁН ПО КАЧЕСТВУ</a:t>
            </a:r>
          </a:p>
        </p:txBody>
      </p:sp>
      <p:sp>
        <p:nvSpPr>
          <p:cNvPr id="9" name="TextBox 8"/>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21 из ста снимков</a:t>
            </a:r>
          </a:p>
        </p:txBody>
      </p:sp>
      <p:sp>
        <p:nvSpPr>
          <p:cNvPr id="10" name="TextBox 9"/>
          <p:cNvSpPr txBox="1"/>
          <p:nvPr/>
        </p:nvSpPr>
        <p:spPr>
          <a:xfrm>
            <a:off x="6315303"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393 снимка из 1 838 в одиннадцати клиниках за первые полгода развёртывания; причины — освещение в кабинете и медленная связь</a:t>
            </a:r>
          </a:p>
        </p:txBody>
      </p:sp>
      <p:sp>
        <p:nvSpPr>
          <p:cNvPr id="11" name="Rounded Rectangle 10"/>
          <p:cNvSpPr/>
          <p:nvPr/>
        </p:nvSpPr>
        <p:spPr>
          <a:xfrm>
            <a:off x="374904" y="3127242"/>
            <a:ext cx="11441887" cy="3108965"/>
          </a:xfrm>
          <a:prstGeom prst="roundRect">
            <a:avLst>
              <a:gd name="adj" fmla="val 980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39496" y="3218682"/>
            <a:ext cx="11112703" cy="301752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Три шага формы: цена обеих ошибок считается в исходах и в визитах.</a:t>
            </a:r>
          </a:p>
          <a:p>
            <a:pPr algn="l">
              <a:lnSpc>
                <a:spcPct val="126000"/>
              </a:lnSpc>
              <a:spcBef>
                <a:spcPts val="700"/>
              </a:spcBef>
            </a:pPr>
            <a:r>
              <a:rPr sz="1500" b="0" i="0">
                <a:solidFill>
                  <a:srgbClr val="21295C"/>
                </a:solidFill>
                <a:latin typeface="Arial"/>
              </a:rPr>
              <a:t/>
            </a:r>
            <a:r>
              <a:rPr sz="1500" b="1" i="0">
                <a:solidFill>
                  <a:srgbClr val="21295C"/>
                </a:solidFill>
                <a:latin typeface="Arial"/>
              </a:rPr>
              <a:t>Классический режим</a:t>
            </a:r>
            <a:r>
              <a:rPr sz="1500" b="0" i="0">
                <a:solidFill>
                  <a:srgbClr val="21295C"/>
                </a:solidFill>
                <a:latin typeface="Arial"/>
              </a:rPr>
              <a:t> — словами, без числа: раз в год человек с диабетом идёт на приём к офтальмологу.</a:t>
            </a:r>
          </a:p>
          <a:p>
            <a:pPr algn="l">
              <a:lnSpc>
                <a:spcPct val="126000"/>
              </a:lnSpc>
              <a:spcBef>
                <a:spcPts val="700"/>
              </a:spcBef>
            </a:pPr>
            <a:r>
              <a:rPr sz="1500" b="0" i="0">
                <a:solidFill>
                  <a:srgbClr val="21295C"/>
                </a:solidFill>
                <a:latin typeface="Arial"/>
              </a:rPr>
              <a:t/>
            </a:r>
            <a:r>
              <a:rPr sz="1500" b="1" i="0">
                <a:solidFill>
                  <a:srgbClr val="21295C"/>
                </a:solidFill>
                <a:latin typeface="Arial"/>
              </a:rPr>
              <a:t>Модель</a:t>
            </a:r>
            <a:r>
              <a:rPr sz="1500" b="0" i="0">
                <a:solidFill>
                  <a:srgbClr val="21295C"/>
                </a:solidFill>
                <a:latin typeface="Arial"/>
              </a:rPr>
              <a:t> — автономное чтение двух снимков глазного дна на месте, и в поле по качеству отклонён </a:t>
            </a:r>
            <a:r>
              <a:rPr sz="1500" b="1" i="0">
                <a:solidFill>
                  <a:srgbClr val="21295C"/>
                </a:solidFill>
                <a:latin typeface="Arial"/>
              </a:rPr>
              <a:t>21 снимок из ста</a:t>
            </a:r>
            <a:r>
              <a:rPr sz="1500" b="0" i="0">
                <a:solidFill>
                  <a:srgbClr val="21295C"/>
                </a:solidFill>
                <a:latin typeface="Arial"/>
              </a:rPr>
              <a:t>: 393 из 1 838 за первые полгода в одиннадцати клиниках. Это доля негодных снимков, а не явка: явку мерил другой разбор и на другой выборке.</a:t>
            </a:r>
          </a:p>
        </p:txBody>
      </p:sp>
      <p:sp>
        <p:nvSpPr>
          <p:cNvPr id="13" name="Rectangle 12"/>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Полевая оценка развёртывания автономного чтения глазного дна в одиннадцати клиниках Таиланда: Beede и соавторы, CHI 2020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Таиланд: что переехало и чем за это платят</a:t>
            </a:r>
          </a:p>
        </p:txBody>
      </p:sp>
      <p:sp>
        <p:nvSpPr>
          <p:cNvPr id="4" name="Rounded Rectangle 3"/>
          <p:cNvSpPr/>
          <p:nvPr/>
        </p:nvSpPr>
        <p:spPr>
          <a:xfrm>
            <a:off x="502920" y="1335024"/>
            <a:ext cx="3618890" cy="1700778"/>
          </a:xfrm>
          <a:prstGeom prst="roundRect">
            <a:avLst>
              <a:gd name="adj" fmla="val 1792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ДАЛО</a:t>
            </a:r>
          </a:p>
        </p:txBody>
      </p:sp>
      <p:sp>
        <p:nvSpPr>
          <p:cNvPr id="6" name="TextBox 5"/>
          <p:cNvSpPr txBox="1"/>
          <p:nvPr/>
        </p:nvSpPr>
        <p:spPr>
          <a:xfrm>
            <a:off x="640080"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Результат в кабинете первичного звена</a:t>
            </a:r>
          </a:p>
        </p:txBody>
      </p:sp>
      <p:sp>
        <p:nvSpPr>
          <p:cNvPr id="7" name="Rounded Rectangle 6"/>
          <p:cNvSpPr/>
          <p:nvPr/>
        </p:nvSpPr>
        <p:spPr>
          <a:xfrm>
            <a:off x="4286402" y="1335024"/>
            <a:ext cx="3618890" cy="1700778"/>
          </a:xfrm>
          <a:prstGeom prst="roundRect">
            <a:avLst>
              <a:gd name="adj" fmla="val 1792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ПОТРЕБОВАЛО</a:t>
            </a:r>
          </a:p>
        </p:txBody>
      </p:sp>
      <p:sp>
        <p:nvSpPr>
          <p:cNvPr id="9" name="TextBox 8"/>
          <p:cNvSpPr txBox="1"/>
          <p:nvPr/>
        </p:nvSpPr>
        <p:spPr>
          <a:xfrm>
            <a:off x="4423562" y="1690796"/>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Годный снимок в непроверенных условиях</a:t>
            </a:r>
          </a:p>
        </p:txBody>
      </p:sp>
      <p:sp>
        <p:nvSpPr>
          <p:cNvPr id="10" name="Rounded Rectangle 9"/>
          <p:cNvSpPr/>
          <p:nvPr/>
        </p:nvSpPr>
        <p:spPr>
          <a:xfrm>
            <a:off x="8069884" y="1335024"/>
            <a:ext cx="3618890" cy="1700778"/>
          </a:xfrm>
          <a:prstGeom prst="roundRect">
            <a:avLst>
              <a:gd name="adj" fmla="val 17921"/>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СУММЕ</a:t>
            </a:r>
          </a:p>
        </p:txBody>
      </p:sp>
      <p:sp>
        <p:nvSpPr>
          <p:cNvPr id="12" name="TextBox 11"/>
          <p:cNvSpPr txBox="1"/>
          <p:nvPr/>
        </p:nvSpPr>
        <p:spPr>
          <a:xfrm>
            <a:off x="8207044" y="1690796"/>
            <a:ext cx="3344570"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На старте хуже лабораторного замера</a:t>
            </a:r>
          </a:p>
        </p:txBody>
      </p:sp>
      <p:sp>
        <p:nvSpPr>
          <p:cNvPr id="13" name="Rounded Rectangle 12"/>
          <p:cNvSpPr/>
          <p:nvPr/>
        </p:nvSpPr>
        <p:spPr>
          <a:xfrm>
            <a:off x="374904" y="3127242"/>
            <a:ext cx="11441887" cy="3108965"/>
          </a:xfrm>
          <a:prstGeom prst="roundRect">
            <a:avLst>
              <a:gd name="adj" fmla="val 980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9496" y="3218682"/>
            <a:ext cx="11112703" cy="301752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Нагрузка выросла на том же месте: у техника появилась работа добиться годного снимка. Появился шаг — повторный визит тем, чей снимок не прошёл.</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дало</a:t>
            </a:r>
            <a:r>
              <a:rPr sz="1500" b="0" i="0">
                <a:solidFill>
                  <a:srgbClr val="21295C"/>
                </a:solidFill>
                <a:latin typeface="Arial"/>
              </a:rPr>
              <a:t> результат в кабинете первичного звена · </a:t>
            </a:r>
            <a:r>
              <a:rPr sz="1500" b="1" i="0">
                <a:solidFill>
                  <a:srgbClr val="21295C"/>
                </a:solidFill>
                <a:latin typeface="Arial"/>
              </a:rPr>
              <a:t>потребовало</a:t>
            </a:r>
            <a:r>
              <a:rPr sz="1500" b="0" i="0">
                <a:solidFill>
                  <a:srgbClr val="21295C"/>
                </a:solidFill>
                <a:latin typeface="Arial"/>
              </a:rPr>
              <a:t> годного снимка в непроверенных условиях · </a:t>
            </a:r>
            <a:r>
              <a:rPr sz="1500" b="1" i="0">
                <a:solidFill>
                  <a:srgbClr val="21295C"/>
                </a:solidFill>
                <a:latin typeface="Arial"/>
              </a:rPr>
              <a:t>в сумме</a:t>
            </a:r>
            <a:r>
              <a:rPr sz="1500" b="0" i="0">
                <a:solidFill>
                  <a:srgbClr val="21295C"/>
                </a:solidFill>
                <a:latin typeface="Arial"/>
              </a:rPr>
              <a:t> на старте хуже лабораторного замера.</a:t>
            </a:r>
          </a:p>
        </p:txBody>
      </p:sp>
      <p:sp>
        <p:nvSpPr>
          <p:cNvPr id="15" name="Rectangle 14"/>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То же полевое наблюдение развёртывания, одиннадцать клиник, первые полгода: Beede и соавторы, CHI 2020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Кожа и состав набора</a:t>
            </a:r>
          </a:p>
        </p:txBody>
      </p:sp>
      <p:sp>
        <p:nvSpPr>
          <p:cNvPr id="4" name="Rounded Rectangle 3"/>
          <p:cNvSpPr/>
          <p:nvPr/>
        </p:nvSpPr>
        <p:spPr>
          <a:xfrm>
            <a:off x="502920" y="1335024"/>
            <a:ext cx="3618890" cy="1864869"/>
          </a:xfrm>
          <a:prstGeom prst="roundRect">
            <a:avLst>
              <a:gd name="adj" fmla="val 16344"/>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ОСМОТР НЕВООРУЖЁННЫМ ГЛАЗОМ</a:t>
            </a:r>
          </a:p>
        </p:txBody>
      </p:sp>
      <p:sp>
        <p:nvSpPr>
          <p:cNvPr id="6" name="TextBox 5"/>
          <p:cNvSpPr txBox="1"/>
          <p:nvPr/>
        </p:nvSpPr>
        <p:spPr>
          <a:xfrm>
            <a:off x="640080"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86 из ста больных</a:t>
            </a:r>
          </a:p>
        </p:txBody>
      </p:sp>
      <p:sp>
        <p:nvSpPr>
          <p:cNvPr id="7" name="TextBox 6"/>
          <p:cNvSpPr txBox="1"/>
          <p:nvPr/>
        </p:nvSpPr>
        <p:spPr>
          <a:xfrm>
            <a:off x="640080" y="2117795"/>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специфичность 77 из ста здоровых; оба режима взяты из одного метаанализа прямого сравнения</a:t>
            </a:r>
          </a:p>
        </p:txBody>
      </p:sp>
      <p:sp>
        <p:nvSpPr>
          <p:cNvPr id="8" name="Rounded Rectangle 7"/>
          <p:cNvSpPr/>
          <p:nvPr/>
        </p:nvSpPr>
        <p:spPr>
          <a:xfrm>
            <a:off x="4286402" y="1335024"/>
            <a:ext cx="3618890" cy="1864869"/>
          </a:xfrm>
          <a:prstGeom prst="roundRect">
            <a:avLst>
              <a:gd name="adj" fmla="val 16344"/>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ДЕРМОСКОПИЯ У ОБУЧЕННОГО СПЕЦИАЛИСТА</a:t>
            </a:r>
          </a:p>
        </p:txBody>
      </p:sp>
      <p:sp>
        <p:nvSpPr>
          <p:cNvPr id="10" name="TextBox 9"/>
          <p:cNvSpPr txBox="1"/>
          <p:nvPr/>
        </p:nvSpPr>
        <p:spPr>
          <a:xfrm>
            <a:off x="4423562"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91 из ста больных</a:t>
            </a:r>
          </a:p>
        </p:txBody>
      </p:sp>
      <p:sp>
        <p:nvSpPr>
          <p:cNvPr id="11" name="TextBox 10"/>
          <p:cNvSpPr txBox="1"/>
          <p:nvPr/>
        </p:nvSpPr>
        <p:spPr>
          <a:xfrm>
            <a:off x="4423562" y="2117795"/>
            <a:ext cx="3344570"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специфичность 74; обзор другой методологии даёт для осмотра другие числа и сводной оценки дермоскопии не даёт вовсе — две методологии рядом не ставятся</a:t>
            </a:r>
          </a:p>
        </p:txBody>
      </p:sp>
      <p:sp>
        <p:nvSpPr>
          <p:cNvPr id="12" name="Rounded Rectangle 11"/>
          <p:cNvSpPr/>
          <p:nvPr/>
        </p:nvSpPr>
        <p:spPr>
          <a:xfrm>
            <a:off x="8069884" y="1335024"/>
            <a:ext cx="3618890" cy="1864869"/>
          </a:xfrm>
          <a:prstGeom prst="roundRect">
            <a:avLst>
              <a:gd name="adj" fmla="val 16344"/>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РАЗРЫВ ПО ТОНУ КОЖИ У МОДЕЛИ</a:t>
            </a:r>
          </a:p>
        </p:txBody>
      </p:sp>
      <p:sp>
        <p:nvSpPr>
          <p:cNvPr id="14" name="TextBox 13"/>
          <p:cNvSpPr txBox="1"/>
          <p:nvPr/>
        </p:nvSpPr>
        <p:spPr>
          <a:xfrm>
            <a:off x="8207044" y="1690796"/>
            <a:ext cx="3344570"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9–15 пунктов площади под кривой</a:t>
            </a:r>
          </a:p>
        </p:txBody>
      </p:sp>
      <p:sp>
        <p:nvSpPr>
          <p:cNvPr id="15" name="TextBox 14"/>
          <p:cNvSpPr txBox="1"/>
          <p:nvPr/>
        </p:nvSpPr>
        <p:spPr>
          <a:xfrm>
            <a:off x="8207044" y="2508219"/>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на самых тёмных тонах против самых светлых, у трёх моделей; это пункты площади под кривой, а не доля найденных больных</a:t>
            </a:r>
          </a:p>
        </p:txBody>
      </p:sp>
      <p:sp>
        <p:nvSpPr>
          <p:cNvPr id="16" name="Rounded Rectangle 15"/>
          <p:cNvSpPr/>
          <p:nvPr/>
        </p:nvSpPr>
        <p:spPr>
          <a:xfrm>
            <a:off x="374904" y="3291333"/>
            <a:ext cx="11441887" cy="2944874"/>
          </a:xfrm>
          <a:prstGeom prst="roundRect">
            <a:avLst>
              <a:gd name="adj" fmla="val 1035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3382773"/>
            <a:ext cx="11112703" cy="285343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Оба классических режима посчитаны одной методологией — одним метаанализом прямого сравнения осмотра и дермоскопии. Модель: на биопсийно подтверждённых изображениях три модели дают площадь под кривой на самых тёмных тонах кожи ниже, чем на самых светлых, — на </a:t>
            </a:r>
            <a:r>
              <a:rPr sz="1500" b="1" i="0">
                <a:solidFill>
                  <a:srgbClr val="21295C"/>
                </a:solidFill>
                <a:latin typeface="Arial"/>
              </a:rPr>
              <a:t>9–15 пунктов</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0" i="0">
                <a:solidFill>
                  <a:srgbClr val="21295C"/>
                </a:solidFill>
                <a:latin typeface="Arial"/>
              </a:rPr>
              <a:t>База: </a:t>
            </a:r>
            <a:r>
              <a:rPr sz="1500" b="1" i="0">
                <a:solidFill>
                  <a:srgbClr val="21295C"/>
                </a:solidFill>
                <a:latin typeface="Arial"/>
              </a:rPr>
              <a:t>656 изображений</a:t>
            </a:r>
            <a:r>
              <a:rPr sz="1500" b="0" i="0">
                <a:solidFill>
                  <a:srgbClr val="21295C"/>
                </a:solidFill>
                <a:latin typeface="Arial"/>
              </a:rPr>
              <a:t>, все с подтверждённой биопсией, из них </a:t>
            </a:r>
            <a:r>
              <a:rPr sz="1500" b="1" i="0">
                <a:solidFill>
                  <a:srgbClr val="21295C"/>
                </a:solidFill>
                <a:latin typeface="Arial"/>
              </a:rPr>
              <a:t>207 с тёмными тонами кожи</a:t>
            </a:r>
            <a:r>
              <a:rPr sz="1500" b="0" i="0">
                <a:solidFill>
                  <a:srgbClr val="21295C"/>
                </a:solidFill>
                <a:latin typeface="Arial"/>
              </a:rPr>
              <a:t> (светлых 208, средних 241). Знаменатель назван, и это не «несколько примеров».</a:t>
            </a:r>
          </a:p>
          <a:p>
            <a:pPr algn="l">
              <a:lnSpc>
                <a:spcPct val="126000"/>
              </a:lnSpc>
              <a:spcBef>
                <a:spcPts val="700"/>
              </a:spcBef>
            </a:pPr>
            <a:r>
              <a:rPr sz="1500" b="0" i="0">
                <a:solidFill>
                  <a:srgbClr val="21295C"/>
                </a:solidFill>
                <a:latin typeface="Arial"/>
              </a:rPr>
              <a:t/>
            </a:r>
            <a:r>
              <a:rPr sz="1500" b="0" i="0">
                <a:solidFill>
                  <a:srgbClr val="21295C"/>
                </a:solidFill>
                <a:latin typeface="Arial"/>
              </a:rPr>
              <a:t>Исправление измерено, и лечит его не алгоритм: дообучение на представительном наборе разрыв снимает и переворачивает, а три названных алгоритмических метода борьбы со смещением его значимо не уменьшили.</a:t>
            </a:r>
          </a:p>
          <a:p>
            <a:pPr algn="l">
              <a:lnSpc>
                <a:spcPct val="126000"/>
              </a:lnSpc>
              <a:spcBef>
                <a:spcPts val="700"/>
              </a:spcBef>
            </a:pPr>
            <a:r>
              <a:rPr sz="1500" b="0" i="0">
                <a:solidFill>
                  <a:srgbClr val="21295C"/>
                </a:solidFill>
                <a:latin typeface="Arial"/>
              </a:rPr>
              <a:t/>
            </a:r>
            <a:r>
              <a:rPr sz="1500" b="0" i="0">
                <a:solidFill>
                  <a:srgbClr val="21295C"/>
                </a:solidFill>
                <a:latin typeface="Arial"/>
              </a:rPr>
              <a:t>Разрыв по тону кожи измерен </a:t>
            </a:r>
            <a:r>
              <a:rPr sz="1500" b="1" i="0">
                <a:solidFill>
                  <a:srgbClr val="21295C"/>
                </a:solidFill>
                <a:latin typeface="Arial"/>
              </a:rPr>
              <a:t>у модели</a:t>
            </a:r>
            <a:r>
              <a:rPr sz="1500" b="0" i="0">
                <a:solidFill>
                  <a:srgbClr val="21295C"/>
                </a:solidFill>
                <a:latin typeface="Arial"/>
              </a:rPr>
              <a:t> и у классических методов </a:t>
            </a:r>
            <a:r>
              <a:rPr sz="1500" b="1" i="0">
                <a:solidFill>
                  <a:srgbClr val="21295C"/>
                </a:solidFill>
                <a:latin typeface="Arial"/>
              </a:rPr>
              <a:t>не измерен вовсе</a:t>
            </a:r>
            <a:r>
              <a:rPr sz="1500" b="0" i="0">
                <a:solidFill>
                  <a:srgbClr val="21295C"/>
                </a:solidFill>
                <a:latin typeface="Arial"/>
              </a:rPr>
              <a:t> — сказать «модель хуже человека на этой подгруппе» не с чем.</a:t>
            </a:r>
          </a:p>
        </p:txBody>
      </p:sp>
      <p:sp>
        <p:nvSpPr>
          <p:cNvPr id="18" name="Rectangle 17"/>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Набор DDI, 656 биопсийно подтверждённых изображений — Daneshjou и соавторы, Science Advances, 2022;8(31):eabq6147</a:t>
            </a:r>
            <a:r>
              <a:rPr sz="1100" b="0" i="1">
                <a:solidFill>
                  <a:srgbClr val="1C7293"/>
                </a:solidFill>
                <a:latin typeface="Arial"/>
              </a:rPr>
              <a:t> · </a:t>
            </a:r>
            <a:r>
              <a:rPr sz="1100" b="0" i="1">
                <a:solidFill>
                  <a:srgbClr val="1C7293"/>
                </a:solidFill>
                <a:latin typeface="Arial"/>
              </a:rPr>
              <a:t>осмотр и дермоскопия — Vestergaard и соавторы, British Journal of Dermatology, 2008;159(3):669–676</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Пример: отбор в программу повышенного внимания по прогнозу расходов</a:t>
            </a:r>
          </a:p>
        </p:txBody>
      </p:sp>
      <p:sp>
        <p:nvSpPr>
          <p:cNvPr id="4" name="Rounded Rectangle 3"/>
          <p:cNvSpPr/>
          <p:nvPr/>
        </p:nvSpPr>
        <p:spPr>
          <a:xfrm>
            <a:off x="502920" y="1335024"/>
            <a:ext cx="3618890" cy="1680031"/>
          </a:xfrm>
          <a:prstGeom prst="roundRect">
            <a:avLst>
              <a:gd name="adj" fmla="val 1814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ОТБОР РЕШЕНИЕМ ЛЕЧАЩЕГО ВРАЧА</a:t>
            </a:r>
          </a:p>
        </p:txBody>
      </p:sp>
      <p:sp>
        <p:nvSpPr>
          <p:cNvPr id="6" name="TextBox 5"/>
          <p:cNvSpPr txBox="1"/>
          <p:nvPr/>
        </p:nvSpPr>
        <p:spPr>
          <a:xfrm>
            <a:off x="640080"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19,2 из ста отобранных</a:t>
            </a:r>
          </a:p>
        </p:txBody>
      </p:sp>
      <p:sp>
        <p:nvSpPr>
          <p:cNvPr id="7" name="TextBox 6"/>
          <p:cNvSpPr txBox="1"/>
          <p:nvPr/>
        </p:nvSpPr>
        <p:spPr>
          <a:xfrm>
            <a:off x="640080" y="2508219"/>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доля рассматриваемой группы пациентов среди фактически отобранных</a:t>
            </a:r>
          </a:p>
        </p:txBody>
      </p:sp>
      <p:sp>
        <p:nvSpPr>
          <p:cNvPr id="8" name="Rounded Rectangle 7"/>
          <p:cNvSpPr/>
          <p:nvPr/>
        </p:nvSpPr>
        <p:spPr>
          <a:xfrm>
            <a:off x="4286402" y="1335024"/>
            <a:ext cx="3618890" cy="1680031"/>
          </a:xfrm>
          <a:prstGeom prst="roundRect">
            <a:avLst>
              <a:gd name="adj" fmla="val 1814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ОТБОР ОДНИМ БАЛЛОМ ПО ПРОГНОЗУ РАСХОДОВ</a:t>
            </a:r>
          </a:p>
        </p:txBody>
      </p:sp>
      <p:sp>
        <p:nvSpPr>
          <p:cNvPr id="10" name="TextBox 9"/>
          <p:cNvSpPr txBox="1"/>
          <p:nvPr/>
        </p:nvSpPr>
        <p:spPr>
          <a:xfrm>
            <a:off x="4423562"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17,2 из ста отобранных</a:t>
            </a:r>
          </a:p>
        </p:txBody>
      </p:sp>
      <p:sp>
        <p:nvSpPr>
          <p:cNvPr id="11" name="TextBox 10"/>
          <p:cNvSpPr txBox="1"/>
          <p:nvPr/>
        </p:nvSpPr>
        <p:spPr>
          <a:xfrm>
            <a:off x="4423562" y="2508219"/>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та же доля при отборе по порогу балла; два близких числа различаются только ярлыком режима</a:t>
            </a:r>
          </a:p>
        </p:txBody>
      </p:sp>
      <p:sp>
        <p:nvSpPr>
          <p:cNvPr id="12" name="Rounded Rectangle 11"/>
          <p:cNvSpPr/>
          <p:nvPr/>
        </p:nvSpPr>
        <p:spPr>
          <a:xfrm>
            <a:off x="8069884" y="1335024"/>
            <a:ext cx="3618890" cy="1680031"/>
          </a:xfrm>
          <a:prstGeom prst="roundRect">
            <a:avLst>
              <a:gd name="adj" fmla="val 1814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ПРИ РАВНОМ БАЛЛЕ БОЛЕЗНЕЙ БОЛЬШЕ НА</a:t>
            </a:r>
          </a:p>
        </p:txBody>
      </p:sp>
      <p:sp>
        <p:nvSpPr>
          <p:cNvPr id="14" name="TextBox 13"/>
          <p:cNvSpPr txBox="1"/>
          <p:nvPr/>
        </p:nvSpPr>
        <p:spPr>
          <a:xfrm>
            <a:off x="8207044" y="169079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26 процентов</a:t>
            </a:r>
          </a:p>
        </p:txBody>
      </p:sp>
      <p:sp>
        <p:nvSpPr>
          <p:cNvPr id="15" name="TextBox 14"/>
          <p:cNvSpPr txBox="1"/>
          <p:nvPr/>
        </p:nvSpPr>
        <p:spPr>
          <a:xfrm>
            <a:off x="8207044" y="2117795"/>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у пациентов одной группы при одинаковом балле; целевой переменной взяты будущие расходы на лечение</a:t>
            </a:r>
          </a:p>
        </p:txBody>
      </p:sp>
      <p:sp>
        <p:nvSpPr>
          <p:cNvPr id="16" name="Rounded Rectangle 15"/>
          <p:cNvSpPr/>
          <p:nvPr/>
        </p:nvSpPr>
        <p:spPr>
          <a:xfrm>
            <a:off x="374904" y="3106495"/>
            <a:ext cx="11441887" cy="3129712"/>
          </a:xfrm>
          <a:prstGeom prst="roundRect">
            <a:avLst>
              <a:gd name="adj" fmla="val 97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3197935"/>
            <a:ext cx="11112703" cy="3038272"/>
          </a:xfrm>
          <a:prstGeom prst="rect">
            <a:avLst/>
          </a:prstGeom>
          <a:noFill/>
        </p:spPr>
        <p:txBody>
          <a:bodyPr wrap="square" lIns="0" rIns="0" tIns="0" bIns="0" anchor="t">
            <a:spAutoFit/>
          </a:bodyPr>
          <a:lstStyle/>
          <a:p>
            <a:pPr algn="l">
              <a:lnSpc>
                <a:spcPct val="126000"/>
              </a:lnSpc>
            </a:pPr>
            <a:r>
              <a:rPr sz="1410" b="1" i="0">
                <a:solidFill>
                  <a:srgbClr val="21295C"/>
                </a:solidFill>
                <a:latin typeface="Arial"/>
              </a:rPr>
              <a:t>Цена обеих ошибок.</a:t>
            </a:r>
            <a:r>
              <a:rPr sz="1410" b="0" i="0">
                <a:solidFill>
                  <a:srgbClr val="21295C"/>
                </a:solidFill>
                <a:latin typeface="Arial"/>
              </a:rPr>
              <a:t> Не попал в программу тот, кому она нужна, — болезнь развивается без присмотра. Попал тот, кому не нужна, — потрачено время и занято место в программе.</a:t>
            </a:r>
          </a:p>
          <a:p>
            <a:pPr algn="l">
              <a:lnSpc>
                <a:spcPct val="126000"/>
              </a:lnSpc>
              <a:spcBef>
                <a:spcPts val="700"/>
              </a:spcBef>
            </a:pPr>
            <a:r>
              <a:rPr sz="1410" b="0" i="0">
                <a:solidFill>
                  <a:srgbClr val="21295C"/>
                </a:solidFill>
                <a:latin typeface="Arial"/>
              </a:rPr>
              <a:t/>
            </a:r>
            <a:r>
              <a:rPr sz="1410" b="1" i="0">
                <a:solidFill>
                  <a:srgbClr val="21295C"/>
                </a:solidFill>
                <a:latin typeface="Arial"/>
              </a:rPr>
              <a:t>Оба классических режима посчитаны на одной выборке:</a:t>
            </a:r>
            <a:r>
              <a:rPr sz="1410" b="0" i="0">
                <a:solidFill>
                  <a:srgbClr val="21295C"/>
                </a:solidFill>
                <a:latin typeface="Arial"/>
              </a:rPr>
              <a:t> отбор решением лечащего врача и отбор одним баллом по прогнозу расходов.</a:t>
            </a:r>
          </a:p>
          <a:p>
            <a:pPr algn="l">
              <a:lnSpc>
                <a:spcPct val="126000"/>
              </a:lnSpc>
              <a:spcBef>
                <a:spcPts val="700"/>
              </a:spcBef>
            </a:pPr>
            <a:r>
              <a:rPr sz="1410" b="0" i="0">
                <a:solidFill>
                  <a:srgbClr val="21295C"/>
                </a:solidFill>
                <a:latin typeface="Arial"/>
              </a:rPr>
              <a:t/>
            </a:r>
            <a:r>
              <a:rPr sz="1410" b="1" i="0">
                <a:solidFill>
                  <a:srgbClr val="21295C"/>
                </a:solidFill>
                <a:latin typeface="Arial"/>
              </a:rPr>
              <a:t>Модель против них.</a:t>
            </a:r>
            <a:r>
              <a:rPr sz="1410" b="0" i="0">
                <a:solidFill>
                  <a:srgbClr val="21295C"/>
                </a:solidFill>
                <a:latin typeface="Arial"/>
              </a:rPr>
              <a:t> Один балл на каждого, отбор по порогу; целевой переменной взяты будущие расходы на лечение. При равном балле у пациентов одной группы болезней оказалось больше.</a:t>
            </a:r>
          </a:p>
          <a:p>
            <a:pPr algn="l">
              <a:lnSpc>
                <a:spcPct val="126000"/>
              </a:lnSpc>
              <a:spcBef>
                <a:spcPts val="700"/>
              </a:spcBef>
            </a:pPr>
            <a:r>
              <a:rPr sz="1410" b="0" i="0">
                <a:solidFill>
                  <a:srgbClr val="21295C"/>
                </a:solidFill>
                <a:latin typeface="Arial"/>
              </a:rPr>
              <a:t/>
            </a:r>
            <a:r>
              <a:rPr sz="1410" b="0" i="0">
                <a:solidFill>
                  <a:srgbClr val="21295C"/>
                </a:solidFill>
                <a:latin typeface="Arial"/>
              </a:rPr>
              <a:t>База: </a:t>
            </a:r>
            <a:r>
              <a:rPr sz="1410" b="1" i="0">
                <a:solidFill>
                  <a:srgbClr val="21295C"/>
                </a:solidFill>
                <a:latin typeface="Arial"/>
              </a:rPr>
              <a:t>49 618 пациентов</a:t>
            </a:r>
            <a:r>
              <a:rPr sz="1410" b="0" i="0">
                <a:solidFill>
                  <a:srgbClr val="21295C"/>
                </a:solidFill>
                <a:latin typeface="Arial"/>
              </a:rPr>
              <a:t> одной академической больницы, 100 009 пациенто-лет, 2013–2015 годы.</a:t>
            </a:r>
          </a:p>
          <a:p>
            <a:pPr algn="l">
              <a:lnSpc>
                <a:spcPct val="126000"/>
              </a:lnSpc>
              <a:spcBef>
                <a:spcPts val="700"/>
              </a:spcBef>
            </a:pPr>
            <a:r>
              <a:rPr sz="1130" b="0" i="0">
                <a:solidFill>
                  <a:srgbClr val="21295C"/>
                </a:solidFill>
                <a:latin typeface="Arial"/>
              </a:rPr>
              <a:t/>
            </a:r>
            <a:r>
              <a:rPr sz="1130" b="0" i="1">
                <a:solidFill>
                  <a:srgbClr val="1C7293"/>
                </a:solidFill>
                <a:latin typeface="Arial"/>
              </a:rPr>
              <a:t>Ограничение второго режима: врач, отбиравший пациентов, уже видел балл — выше порога ему приходила подсказка. Отбора до модели в публикации нет.</a:t>
            </a:r>
          </a:p>
          <a:p>
            <a:pPr algn="l">
              <a:lnSpc>
                <a:spcPct val="126000"/>
              </a:lnSpc>
              <a:spcBef>
                <a:spcPts val="700"/>
              </a:spcBef>
            </a:pPr>
            <a:r>
              <a:rPr sz="1410" b="0" i="0">
                <a:solidFill>
                  <a:srgbClr val="21295C"/>
                </a:solidFill>
                <a:latin typeface="Arial"/>
              </a:rPr>
              <a:t/>
            </a:r>
            <a:r>
              <a:rPr sz="1410" b="0" i="0">
                <a:solidFill>
                  <a:srgbClr val="21295C"/>
                </a:solidFill>
                <a:latin typeface="Arial"/>
              </a:rPr>
              <a:t>Чем это делают сегодня: </a:t>
            </a:r>
            <a:r>
              <a:rPr sz="1410" b="0" i="1">
                <a:solidFill>
                  <a:srgbClr val="21295C"/>
                </a:solidFill>
                <a:latin typeface="Arial"/>
              </a:rPr>
              <a:t>прогноз на структурированных данных</a:t>
            </a:r>
            <a:r>
              <a:rPr sz="1410" b="0" i="0">
                <a:solidFill>
                  <a:srgbClr val="21295C"/>
                </a:solidFill>
                <a:latin typeface="Arial"/>
              </a:rPr>
              <a:t> — счёт риска на данных плательщика и на медицинской карте, стратификация населения. Принимает это закупка плательщика и администрации, не врача. Не умеет отличить «дорого лечится» от «болен», если целевой переменной взяты расходы.</a:t>
            </a:r>
          </a:p>
        </p:txBody>
      </p:sp>
      <p:sp>
        <p:nvSpPr>
          <p:cNvPr id="18" name="Rectangle 17"/>
          <p:cNvSpPr/>
          <p:nvPr/>
        </p:nvSpPr>
        <p:spPr>
          <a:xfrm>
            <a:off x="502920" y="1179576"/>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Разбор промышленного алгоритма отбора в программу повышенного внимания: Obermeyer и соавторы, Science, 2019;366(6464):447–453</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То же: исправление посчитали и не применили</a:t>
            </a:r>
          </a:p>
        </p:txBody>
      </p:sp>
      <p:sp>
        <p:nvSpPr>
          <p:cNvPr id="4" name="Rounded Rectangle 3"/>
          <p:cNvSpPr/>
          <p:nvPr/>
        </p:nvSpPr>
        <p:spPr>
          <a:xfrm>
            <a:off x="502920" y="1335024"/>
            <a:ext cx="2673019" cy="2938061"/>
          </a:xfrm>
          <a:prstGeom prst="roundRect">
            <a:avLst>
              <a:gd name="adj" fmla="val 1140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737290"/>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ДОЛЯ ГРУППЫ СРЕДИ ОТОБРАННЫХ: НАБЛЮДАЕМАЯ → ПРИ УБРАННОМ РАЗРЫВЕ В ЗДОРОВЬЕ</a:t>
            </a:r>
          </a:p>
        </p:txBody>
      </p:sp>
      <p:sp>
        <p:nvSpPr>
          <p:cNvPr id="6" name="TextBox 5"/>
          <p:cNvSpPr txBox="1"/>
          <p:nvPr/>
        </p:nvSpPr>
        <p:spPr>
          <a:xfrm>
            <a:off x="640080" y="2209474"/>
            <a:ext cx="2398699"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17,7 → 46,5 из ста</a:t>
            </a:r>
          </a:p>
        </p:txBody>
      </p:sp>
      <p:sp>
        <p:nvSpPr>
          <p:cNvPr id="7" name="TextBox 6"/>
          <p:cNvSpPr txBox="1"/>
          <p:nvPr/>
        </p:nvSpPr>
        <p:spPr>
          <a:xfrm>
            <a:off x="640080" y="3026897"/>
            <a:ext cx="2398699" cy="110902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вторая половина — расчёт авторов на тех же данных, а не результат внедрения: авторы заменяют на границе более здорового пациента более больным, пока разрыв не исчезнет</a:t>
            </a:r>
          </a:p>
        </p:txBody>
      </p:sp>
      <p:sp>
        <p:nvSpPr>
          <p:cNvPr id="8" name="Rounded Rectangle 7"/>
          <p:cNvSpPr/>
          <p:nvPr/>
        </p:nvSpPr>
        <p:spPr>
          <a:xfrm>
            <a:off x="3340531" y="1335024"/>
            <a:ext cx="2673019" cy="2938061"/>
          </a:xfrm>
          <a:prstGeom prst="roundRect">
            <a:avLst>
              <a:gd name="adj" fmla="val 1140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ДАЛО</a:t>
            </a:r>
          </a:p>
        </p:txBody>
      </p:sp>
      <p:sp>
        <p:nvSpPr>
          <p:cNvPr id="10" name="TextBox 9"/>
          <p:cNvSpPr txBox="1"/>
          <p:nvPr/>
        </p:nvSpPr>
        <p:spPr>
          <a:xfrm>
            <a:off x="3477691" y="1690796"/>
            <a:ext cx="2398699" cy="876834"/>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последовательный отбор там, где ручной непоследователен</a:t>
            </a:r>
          </a:p>
        </p:txBody>
      </p:sp>
      <p:sp>
        <p:nvSpPr>
          <p:cNvPr id="11" name="Rounded Rectangle 10"/>
          <p:cNvSpPr/>
          <p:nvPr/>
        </p:nvSpPr>
        <p:spPr>
          <a:xfrm>
            <a:off x="6178143" y="1335024"/>
            <a:ext cx="2673019" cy="2938061"/>
          </a:xfrm>
          <a:prstGeom prst="roundRect">
            <a:avLst>
              <a:gd name="adj" fmla="val 1140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ПОТРЕБОВАЛО</a:t>
            </a:r>
          </a:p>
        </p:txBody>
      </p:sp>
      <p:sp>
        <p:nvSpPr>
          <p:cNvPr id="13" name="TextBox 12"/>
          <p:cNvSpPr txBox="1"/>
          <p:nvPr/>
        </p:nvSpPr>
        <p:spPr>
          <a:xfrm>
            <a:off x="6315303" y="1690796"/>
            <a:ext cx="2398699" cy="876834"/>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совпадения расходов с болезнью, которого нет</a:t>
            </a:r>
          </a:p>
        </p:txBody>
      </p:sp>
      <p:sp>
        <p:nvSpPr>
          <p:cNvPr id="14" name="Rounded Rectangle 13"/>
          <p:cNvSpPr/>
          <p:nvPr/>
        </p:nvSpPr>
        <p:spPr>
          <a:xfrm>
            <a:off x="9015755" y="1335024"/>
            <a:ext cx="2673019" cy="2938061"/>
          </a:xfrm>
          <a:prstGeom prst="roundRect">
            <a:avLst>
              <a:gd name="adj" fmla="val 1140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СУММЕ</a:t>
            </a:r>
          </a:p>
        </p:txBody>
      </p:sp>
      <p:sp>
        <p:nvSpPr>
          <p:cNvPr id="16" name="TextBox 15"/>
          <p:cNvSpPr txBox="1"/>
          <p:nvPr/>
        </p:nvSpPr>
        <p:spPr>
          <a:xfrm>
            <a:off x="9152915" y="1690796"/>
            <a:ext cx="2398699" cy="596748"/>
          </a:xfrm>
          <a:prstGeom prst="rect">
            <a:avLst/>
          </a:prstGeom>
          <a:noFill/>
        </p:spPr>
        <p:txBody>
          <a:bodyPr wrap="square" lIns="0" rIns="0" tIns="0" bIns="0" anchor="t">
            <a:spAutoFit/>
          </a:bodyPr>
          <a:lstStyle/>
          <a:p>
            <a:pPr algn="l">
              <a:lnSpc>
                <a:spcPct val="108000"/>
              </a:lnSpc>
            </a:pPr>
            <a:r>
              <a:rPr sz="1100" b="1" i="0">
                <a:solidFill>
                  <a:srgbClr val="21295C"/>
                </a:solidFill>
                <a:latin typeface="Arial"/>
              </a:rPr>
              <a:t>для одной группы хуже прежнего отбора, и исправление до сих пор только посчитано</a:t>
            </a:r>
          </a:p>
        </p:txBody>
      </p:sp>
      <p:sp>
        <p:nvSpPr>
          <p:cNvPr id="17" name="Rounded Rectangle 16"/>
          <p:cNvSpPr/>
          <p:nvPr/>
        </p:nvSpPr>
        <p:spPr>
          <a:xfrm>
            <a:off x="374904" y="4364525"/>
            <a:ext cx="11441887" cy="1871682"/>
          </a:xfrm>
          <a:prstGeom prst="roundRect">
            <a:avLst>
              <a:gd name="adj" fmla="val 1628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9496" y="4455965"/>
            <a:ext cx="11112703" cy="1780242"/>
          </a:xfrm>
          <a:prstGeom prst="rect">
            <a:avLst/>
          </a:prstGeom>
          <a:noFill/>
        </p:spPr>
        <p:txBody>
          <a:bodyPr wrap="square" lIns="0" rIns="0" tIns="0" bIns="0" anchor="t">
            <a:spAutoFit/>
          </a:bodyPr>
          <a:lstStyle/>
          <a:p>
            <a:pPr algn="l">
              <a:lnSpc>
                <a:spcPct val="126000"/>
              </a:lnSpc>
            </a:pPr>
            <a:r>
              <a:rPr sz="1110" b="1" i="0">
                <a:solidFill>
                  <a:srgbClr val="21295C"/>
                </a:solidFill>
                <a:latin typeface="Arial"/>
              </a:rPr>
              <a:t>Исправление посчитано и не применено.</a:t>
            </a:r>
            <a:r>
              <a:rPr sz="1110" b="0" i="0">
                <a:solidFill>
                  <a:srgbClr val="21295C"/>
                </a:solidFill>
                <a:latin typeface="Arial"/>
              </a:rPr>
              <a:t> Если убрать разрыв в здоровье на границе отбора, доля этой группы среди отобранных поднялась бы — расчёт авторов на тех же данных, не результат внедрения.</a:t>
            </a:r>
          </a:p>
          <a:p>
            <a:pPr algn="l">
              <a:lnSpc>
                <a:spcPct val="126000"/>
              </a:lnSpc>
              <a:spcBef>
                <a:spcPts val="700"/>
              </a:spcBef>
            </a:pPr>
            <a:r>
              <a:rPr sz="1110" b="0" i="0">
                <a:solidFill>
                  <a:srgbClr val="21295C"/>
                </a:solidFill>
                <a:latin typeface="Arial"/>
              </a:rPr>
              <a:t/>
            </a:r>
            <a:r>
              <a:rPr sz="1110" b="1" i="0">
                <a:solidFill>
                  <a:srgbClr val="21295C"/>
                </a:solidFill>
                <a:latin typeface="Arial"/>
              </a:rPr>
              <a:t>Что переехало.</a:t>
            </a:r>
            <a:r>
              <a:rPr sz="1110" b="0" i="0">
                <a:solidFill>
                  <a:srgbClr val="21295C"/>
                </a:solidFill>
                <a:latin typeface="Arial"/>
              </a:rPr>
              <a:t> Сменился исполнитель: отбор делал врач, стал делать балл. И сместилась цена ошибки — на группу, у которой при равном балле больше болезней.</a:t>
            </a:r>
          </a:p>
          <a:p>
            <a:pPr algn="l">
              <a:lnSpc>
                <a:spcPct val="126000"/>
              </a:lnSpc>
              <a:spcBef>
                <a:spcPts val="700"/>
              </a:spcBef>
            </a:pPr>
            <a:r>
              <a:rPr sz="1110" b="0" i="0">
                <a:solidFill>
                  <a:srgbClr val="21295C"/>
                </a:solidFill>
                <a:latin typeface="Arial"/>
              </a:rPr>
              <a:t/>
            </a:r>
            <a:r>
              <a:rPr sz="1110" b="0" i="0">
                <a:solidFill>
                  <a:srgbClr val="21295C"/>
                </a:solidFill>
                <a:latin typeface="Arial"/>
              </a:rPr>
              <a:t>Модели этого класса применяются примерно к </a:t>
            </a:r>
            <a:r>
              <a:rPr sz="1110" b="1" i="0">
                <a:solidFill>
                  <a:srgbClr val="21295C"/>
                </a:solidFill>
                <a:latin typeface="Arial"/>
              </a:rPr>
              <a:t>200 миллионам</a:t>
            </a:r>
            <a:r>
              <a:rPr sz="1110" b="0" i="0">
                <a:solidFill>
                  <a:srgbClr val="21295C"/>
                </a:solidFill>
                <a:latin typeface="Arial"/>
              </a:rPr>
              <a:t> человек в год — </a:t>
            </a:r>
            <a:r>
              <a:rPr sz="1110" b="0" i="1">
                <a:solidFill>
                  <a:srgbClr val="21295C"/>
                </a:solidFill>
                <a:latin typeface="Arial"/>
              </a:rPr>
              <a:t>оценка отраслевого масштаба, не выборка измерения: сам перекос измерен на 49 618 пациентах одной больницы, и складывать одно с другим нельзя</a:t>
            </a:r>
            <a:r>
              <a:rPr sz="1110" b="0" i="0">
                <a:solidFill>
                  <a:srgbClr val="21295C"/>
                </a:solidFill>
                <a:latin typeface="Arial"/>
              </a:rPr>
              <a:t>.</a:t>
            </a:r>
          </a:p>
          <a:p>
            <a:pPr algn="l">
              <a:lnSpc>
                <a:spcPct val="126000"/>
              </a:lnSpc>
              <a:spcBef>
                <a:spcPts val="700"/>
              </a:spcBef>
            </a:pPr>
            <a:r>
              <a:rPr sz="1110" b="0" i="0">
                <a:solidFill>
                  <a:srgbClr val="21295C"/>
                </a:solidFill>
                <a:latin typeface="Arial"/>
              </a:rPr>
              <a:t/>
            </a:r>
            <a:r>
              <a:rPr sz="1110" b="0" i="0">
                <a:solidFill>
                  <a:srgbClr val="21295C"/>
                </a:solidFill>
                <a:latin typeface="Arial"/>
              </a:rPr>
              <a:t>Рядом, другим жанром: модели чтения рентгена при переносе на другой набор теряют чувствительность по отдельным патологиям, сохраняя высокую специфичность — </a:t>
            </a:r>
            <a:r>
              <a:rPr sz="1110" b="0" i="1">
                <a:solidFill>
                  <a:srgbClr val="21295C"/>
                </a:solidFill>
                <a:latin typeface="Arial"/>
              </a:rPr>
              <a:t>препринт</a:t>
            </a:r>
            <a:r>
              <a:rPr sz="1110" b="0" i="0">
                <a:solidFill>
                  <a:srgbClr val="21295C"/>
                </a:solidFill>
                <a:latin typeface="Arial"/>
              </a:rPr>
              <a:t>. Внутренняя проверка этого не видит: провал проявляется там, где его меньше всего проверяют.</a:t>
            </a:r>
          </a:p>
        </p:txBody>
      </p:sp>
      <p:sp>
        <p:nvSpPr>
          <p:cNvPr id="19" name="Rectangle 18"/>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Та же публикация: Obermeyer и соавторы, Science, 2019;366(6464):447–453</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Карта стадии: анализ данных</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Матрица «тип задачи × модальность». В каждой занятой клетке — режим и одно-два названия: автономное чтение глазного дна, детекция и триаж на рентгене и КТ, счёт риска внутри карты, автоматическая запись приёма.</a:t>
            </a:r>
          </a:p>
          <a:p>
            <a:pPr algn="l">
              <a:lnSpc>
                <a:spcPct val="126000"/>
              </a:lnSpc>
              <a:spcBef>
                <a:spcPts val="700"/>
              </a:spcBef>
            </a:pPr>
            <a:r>
              <a:rPr sz="1500" b="0" i="0">
                <a:solidFill>
                  <a:srgbClr val="21295C"/>
                </a:solidFill>
                <a:latin typeface="Arial"/>
              </a:rPr>
              <a:t/>
            </a:r>
            <a:r>
              <a:rPr sz="1500" b="0" i="0">
                <a:solidFill>
                  <a:srgbClr val="21295C"/>
                </a:solidFill>
                <a:latin typeface="Arial"/>
              </a:rPr>
              <a:t>Три разбора раздела отмечены отдельно. Клетка «измерение · сигнал прибора» помечена как не занятая обученной моделью.</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Вывод: анализ данных</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Польза</a:t>
            </a:r>
            <a:r>
              <a:rPr sz="1500" b="0" i="0">
                <a:solidFill>
                  <a:srgbClr val="21295C"/>
                </a:solidFill>
                <a:latin typeface="Arial"/>
              </a:rPr>
              <a:t> — постоянство чтения и разгрузка потока.</a:t>
            </a:r>
          </a:p>
          <a:p>
            <a:pPr algn="l">
              <a:lnSpc>
                <a:spcPct val="126000"/>
              </a:lnSpc>
              <a:spcBef>
                <a:spcPts val="700"/>
              </a:spcBef>
            </a:pPr>
            <a:r>
              <a:rPr sz="1500" b="0" i="0">
                <a:solidFill>
                  <a:srgbClr val="21295C"/>
                </a:solidFill>
                <a:latin typeface="Arial"/>
              </a:rPr>
              <a:t/>
            </a:r>
            <a:r>
              <a:rPr sz="1500" b="1" i="0">
                <a:solidFill>
                  <a:srgbClr val="21295C"/>
                </a:solidFill>
                <a:latin typeface="Arial"/>
              </a:rPr>
              <a:t>Граница</a:t>
            </a:r>
            <a:r>
              <a:rPr sz="1500" b="0" i="0">
                <a:solidFill>
                  <a:srgbClr val="21295C"/>
                </a:solidFill>
                <a:latin typeface="Arial"/>
              </a:rPr>
              <a:t> — доли посчитаны на группе, и вместе с группой меняется смысл выхода.</a:t>
            </a:r>
          </a:p>
          <a:p>
            <a:pPr algn="l">
              <a:lnSpc>
                <a:spcPct val="126000"/>
              </a:lnSpc>
              <a:spcBef>
                <a:spcPts val="700"/>
              </a:spcBef>
            </a:pPr>
            <a:r>
              <a:rPr sz="1500" b="0" i="0">
                <a:solidFill>
                  <a:srgbClr val="21295C"/>
                </a:solidFill>
                <a:latin typeface="Arial"/>
              </a:rPr>
              <a:t/>
            </a:r>
            <a:r>
              <a:rPr sz="1500" b="1" i="0">
                <a:solidFill>
                  <a:srgbClr val="21295C"/>
                </a:solidFill>
                <a:latin typeface="Arial"/>
              </a:rPr>
              <a:t>Риск</a:t>
            </a:r>
            <a:r>
              <a:rPr sz="1500" b="0" i="0">
                <a:solidFill>
                  <a:srgbClr val="21295C"/>
                </a:solidFill>
                <a:latin typeface="Arial"/>
              </a:rPr>
              <a:t> — ошибиться можно в приборе на входе, в составе набора и в определении цели, не ошибившись в самой модели.</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Дальше</a:t>
            </a:r>
            <a:r>
              <a:rPr sz="1500" b="0" i="0">
                <a:solidFill>
                  <a:srgbClr val="21295C"/>
                </a:solidFill>
                <a:latin typeface="Arial"/>
              </a:rPr>
              <a:t> — результат измерения попадает к человеку, который примет решение.</a:t>
            </a:r>
          </a:p>
          <a:p>
            <a:pPr algn="l">
              <a:lnSpc>
                <a:spcPct val="126000"/>
              </a:lnSpc>
              <a:spcBef>
                <a:spcPts val="700"/>
              </a:spcBef>
            </a:pPr>
            <a:r>
              <a:rPr sz="1500" b="0" i="0">
                <a:solidFill>
                  <a:srgbClr val="21295C"/>
                </a:solidFill>
                <a:latin typeface="Arial"/>
              </a:rPr>
              <a:t/>
            </a:r>
            <a:r>
              <a:rPr sz="1500" b="0" i="0">
                <a:solidFill>
                  <a:srgbClr val="21295C"/>
                </a:solidFill>
                <a:latin typeface="Arial"/>
              </a:rPr>
              <a:t>Три разбора несут эти границы: </a:t>
            </a:r>
            <a:r>
              <a:rPr sz="1500" b="1" i="0">
                <a:solidFill>
                  <a:srgbClr val="21295C"/>
                </a:solidFill>
                <a:latin typeface="Arial"/>
              </a:rPr>
              <a:t>Таиланд</a:t>
            </a:r>
            <a:r>
              <a:rPr sz="1500" b="0" i="0">
                <a:solidFill>
                  <a:srgbClr val="21295C"/>
                </a:solidFill>
                <a:latin typeface="Arial"/>
              </a:rPr>
              <a:t> (провал развёртывания) · </a:t>
            </a:r>
            <a:r>
              <a:rPr sz="1500" b="1" i="0">
                <a:solidFill>
                  <a:srgbClr val="21295C"/>
                </a:solidFill>
                <a:latin typeface="Arial"/>
              </a:rPr>
              <a:t>кожа и состав набора</a:t>
            </a:r>
            <a:r>
              <a:rPr sz="1500" b="0" i="0">
                <a:solidFill>
                  <a:srgbClr val="21295C"/>
                </a:solidFill>
                <a:latin typeface="Arial"/>
              </a:rPr>
              <a:t> (провал набора) · </a:t>
            </a:r>
            <a:r>
              <a:rPr sz="1500" b="1" i="0">
                <a:solidFill>
                  <a:srgbClr val="21295C"/>
                </a:solidFill>
                <a:latin typeface="Arial"/>
              </a:rPr>
              <a:t>расходы вместо болезни</a:t>
            </a:r>
            <a:r>
              <a:rPr sz="1500" b="0" i="0">
                <a:solidFill>
                  <a:srgbClr val="21295C"/>
                </a:solidFill>
                <a:latin typeface="Arial"/>
              </a:rPr>
              <a:t> (провал цели).</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4088" y="960120"/>
            <a:ext cx="11185855" cy="501388"/>
          </a:xfrm>
          <a:prstGeom prst="rect">
            <a:avLst/>
          </a:prstGeom>
          <a:noFill/>
        </p:spPr>
        <p:txBody>
          <a:bodyPr wrap="square" lIns="0" rIns="0" tIns="0" bIns="0" anchor="t">
            <a:spAutoFit/>
          </a:bodyPr>
          <a:lstStyle/>
          <a:p>
            <a:pPr algn="l">
              <a:lnSpc>
                <a:spcPct val="110000"/>
              </a:lnSpc>
            </a:pPr>
            <a:r>
              <a:rPr sz="2900" b="1" i="0">
                <a:solidFill>
                  <a:srgbClr val="21295C"/>
                </a:solidFill>
                <a:latin typeface="Arial"/>
              </a:rPr>
              <a:t>3. Постановка диагноза — человек читает рядом с моделью</a:t>
            </a:r>
          </a:p>
        </p:txBody>
      </p:sp>
      <p:sp>
        <p:nvSpPr>
          <p:cNvPr id="5" name="Rectangle 4"/>
          <p:cNvSpPr/>
          <p:nvPr/>
        </p:nvSpPr>
        <p:spPr>
          <a:xfrm>
            <a:off x="704088" y="1552948"/>
            <a:ext cx="1188720" cy="59436"/>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1827268"/>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Заключение по данным выносит человек. Читает он теперь не только снимок, но и подсказку модели рядом с ним.</a:t>
            </a:r>
          </a:p>
        </p:txBody>
      </p:sp>
      <p:sp>
        <p:nvSpPr>
          <p:cNvPr id="7" name="TextBox 6"/>
          <p:cNvSpPr txBox="1"/>
          <p:nvPr/>
        </p:nvSpPr>
        <p:spPr>
          <a:xfrm>
            <a:off x="704088" y="2293951"/>
            <a:ext cx="10984687" cy="338666"/>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4 подробных разбора</a:t>
            </a:r>
          </a:p>
        </p:txBody>
      </p:sp>
      <p:sp>
        <p:nvSpPr>
          <p:cNvPr id="8" name="TextBox 7"/>
          <p:cNvSpPr txBox="1"/>
          <p:nvPr/>
        </p:nvSpPr>
        <p:spPr>
          <a:xfrm>
            <a:off x="704088" y="2760634"/>
            <a:ext cx="10984687"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Разборы по порядку: 1. Замер взгляда радиолога · 2. Одна подсказка с двумя знаками · 3. Измеренная тройка · 4. Контрольная линия</a:t>
            </a:r>
          </a:p>
        </p:txBody>
      </p:sp>
      <p:sp>
        <p:nvSpPr>
          <p:cNvPr id="9" name="TextBox 8"/>
          <p:cNvSpPr txBox="1"/>
          <p:nvPr/>
        </p:nvSpPr>
        <p:spPr>
          <a:xfrm>
            <a:off x="704088" y="3529407"/>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Два врача у одного экрана</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Как ставят диагноз: один случай и сужение списка</a:t>
            </a:r>
          </a:p>
        </p:txBody>
      </p:sp>
      <p:sp>
        <p:nvSpPr>
          <p:cNvPr id="4" name="TextBox 3"/>
          <p:cNvSpPr txBox="1"/>
          <p:nvPr/>
        </p:nvSpPr>
        <p:spPr>
          <a:xfrm>
            <a:off x="502920" y="1389888"/>
            <a:ext cx="1289304" cy="642627"/>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Ход работы</a:t>
            </a:r>
          </a:p>
        </p:txBody>
      </p:sp>
      <p:sp>
        <p:nvSpPr>
          <p:cNvPr id="5" name="Rounded Rectangle 4"/>
          <p:cNvSpPr/>
          <p:nvPr/>
        </p:nvSpPr>
        <p:spPr>
          <a:xfrm>
            <a:off x="1920240" y="1335024"/>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002536" y="1417320"/>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собрать данные</a:t>
            </a:r>
          </a:p>
        </p:txBody>
      </p:sp>
      <p:sp>
        <p:nvSpPr>
          <p:cNvPr id="7" name="Right Arrow 6"/>
          <p:cNvSpPr/>
          <p:nvPr/>
        </p:nvSpPr>
        <p:spPr>
          <a:xfrm>
            <a:off x="4202353" y="1587757"/>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430953" y="1335024"/>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13249" y="1417320"/>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выписать объясняющие болезни</a:t>
            </a:r>
          </a:p>
        </p:txBody>
      </p:sp>
      <p:sp>
        <p:nvSpPr>
          <p:cNvPr id="10" name="Right Arrow 9"/>
          <p:cNvSpPr/>
          <p:nvPr/>
        </p:nvSpPr>
        <p:spPr>
          <a:xfrm>
            <a:off x="6713067" y="1587757"/>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941667" y="1335024"/>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23963" y="1417320"/>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назначить различающее</a:t>
            </a:r>
          </a:p>
        </p:txBody>
      </p:sp>
      <p:sp>
        <p:nvSpPr>
          <p:cNvPr id="13" name="Right Arrow 12"/>
          <p:cNvSpPr/>
          <p:nvPr/>
        </p:nvSpPr>
        <p:spPr>
          <a:xfrm>
            <a:off x="9223781" y="1587757"/>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9452381" y="1335024"/>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534677" y="1417320"/>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вычеркнуть опровергнутое</a:t>
            </a:r>
          </a:p>
        </p:txBody>
      </p:sp>
      <p:sp>
        <p:nvSpPr>
          <p:cNvPr id="16" name="TextBox 15"/>
          <p:cNvSpPr txBox="1"/>
          <p:nvPr/>
        </p:nvSpPr>
        <p:spPr>
          <a:xfrm>
            <a:off x="502920" y="2123955"/>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Как список сужается</a:t>
            </a:r>
          </a:p>
        </p:txBody>
      </p:sp>
      <p:sp>
        <p:nvSpPr>
          <p:cNvPr id="17" name="Rounded Rectangle 16"/>
          <p:cNvSpPr/>
          <p:nvPr/>
        </p:nvSpPr>
        <p:spPr>
          <a:xfrm>
            <a:off x="374904" y="2436809"/>
            <a:ext cx="11441887" cy="3799398"/>
          </a:xfrm>
          <a:prstGeom prst="roundRect">
            <a:avLst>
              <a:gd name="adj" fmla="val 802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9496" y="2528249"/>
            <a:ext cx="11112703" cy="3707958"/>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Женщина тридцати четырёх лет, три недели кашля, вечерами температура, потеряла четыре килограмма за полтора месяца — без диеты и без смены работы.</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в списке</a:t>
            </a:r>
            <a:r>
              <a:rPr sz="1500" b="0" i="0">
                <a:solidFill>
                  <a:srgbClr val="21295C"/>
                </a:solidFill>
                <a:latin typeface="Arial"/>
              </a:rPr>
              <a:t> — затяжной бронхит, туберкулёз, лимфома, аутоиммунное поражение лёгких.</a:t>
            </a:r>
          </a:p>
          <a:p>
            <a:pPr algn="l">
              <a:lnSpc>
                <a:spcPct val="126000"/>
              </a:lnSpc>
              <a:spcBef>
                <a:spcPts val="700"/>
              </a:spcBef>
            </a:pPr>
            <a:r>
              <a:rPr sz="1500" b="0" i="0">
                <a:solidFill>
                  <a:srgbClr val="21295C"/>
                </a:solidFill>
                <a:latin typeface="Arial"/>
              </a:rPr>
              <a:t/>
            </a:r>
            <a:r>
              <a:rPr sz="1500" b="1" i="0">
                <a:solidFill>
                  <a:srgbClr val="21295C"/>
                </a:solidFill>
                <a:latin typeface="Arial"/>
              </a:rPr>
              <a:t>Чем различают</a:t>
            </a:r>
            <a:r>
              <a:rPr sz="1500" b="0" i="0">
                <a:solidFill>
                  <a:srgbClr val="21295C"/>
                </a:solidFill>
                <a:latin typeface="Arial"/>
              </a:rPr>
              <a:t> — снимок грудной клетки и анализ крови.</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вычеркнули</a:t>
            </a:r>
            <a:r>
              <a:rPr sz="1500" b="0" i="0">
                <a:solidFill>
                  <a:srgbClr val="21295C"/>
                </a:solidFill>
                <a:latin typeface="Arial"/>
              </a:rPr>
              <a:t> — бронхит: на снимке изменения в верхней доле. И аутоиммунное: анализ спокоен.</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осталось</a:t>
            </a:r>
            <a:r>
              <a:rPr sz="1500" b="0" i="0">
                <a:solidFill>
                  <a:srgbClr val="21295C"/>
                </a:solidFill>
                <a:latin typeface="Arial"/>
              </a:rPr>
              <a:t> — два, и между ними решает исследование мокроты, которое идёт три недели.</a:t>
            </a:r>
          </a:p>
          <a:p>
            <a:pPr algn="l">
              <a:lnSpc>
                <a:spcPct val="126000"/>
              </a:lnSpc>
              <a:spcBef>
                <a:spcPts val="700"/>
              </a:spcBef>
            </a:pPr>
            <a:r>
              <a:rPr sz="1500" b="0" i="0">
                <a:solidFill>
                  <a:srgbClr val="21295C"/>
                </a:solidFill>
                <a:latin typeface="Arial"/>
              </a:rPr>
              <a:t/>
            </a:r>
            <a:r>
              <a:rPr sz="1500" b="0" i="0">
                <a:solidFill>
                  <a:srgbClr val="21295C"/>
                </a:solidFill>
                <a:latin typeface="Arial"/>
              </a:rPr>
              <a:t>Решение не принимается, пока список не сузился. Ошибка здесь — </a:t>
            </a:r>
            <a:r>
              <a:rPr sz="1500" b="1" i="0">
                <a:solidFill>
                  <a:srgbClr val="21295C"/>
                </a:solidFill>
                <a:latin typeface="Arial"/>
              </a:rPr>
              <a:t>не вписать в список то, что должно было там быть</a:t>
            </a:r>
            <a:r>
              <a:rPr sz="1500" b="0" i="0">
                <a:solidFill>
                  <a:srgbClr val="21295C"/>
                </a:solidFill>
                <a:latin typeface="Arial"/>
              </a:rPr>
              <a:t>.</a:t>
            </a:r>
          </a:p>
          <a:p>
            <a:pPr algn="l">
              <a:lnSpc>
                <a:spcPct val="126000"/>
              </a:lnSpc>
              <a:spcBef>
                <a:spcPts val="700"/>
              </a:spcBef>
            </a:pPr>
            <a:r>
              <a:rPr sz="1200" b="0" i="0">
                <a:solidFill>
                  <a:srgbClr val="21295C"/>
                </a:solidFill>
                <a:latin typeface="Arial"/>
              </a:rPr>
              <a:t/>
            </a:r>
            <a:r>
              <a:rPr sz="1200" b="0" i="1">
                <a:solidFill>
                  <a:srgbClr val="1C7293"/>
                </a:solidFill>
                <a:latin typeface="Arial"/>
              </a:rPr>
              <a:t>Подсказка модели входит в самое начало — туда, где список только составляется.</a:t>
            </a:r>
          </a:p>
          <a:p>
            <a:pPr algn="l">
              <a:lnSpc>
                <a:spcPct val="126000"/>
              </a:lnSpc>
              <a:spcBef>
                <a:spcPts val="700"/>
              </a:spcBef>
            </a:pPr>
            <a:r>
              <a:rPr sz="1200" b="0" i="0">
                <a:solidFill>
                  <a:srgbClr val="21295C"/>
                </a:solidFill>
                <a:latin typeface="Arial"/>
              </a:rPr>
              <a:t/>
            </a:r>
            <a:r>
              <a:rPr sz="1200" b="0" i="1">
                <a:solidFill>
                  <a:srgbClr val="1C7293"/>
                </a:solidFill>
                <a:latin typeface="Arial"/>
              </a:rPr>
              <a:t>Типовой случай, собранный по учебному материалу, не история конкретного пациента.</a:t>
            </a:r>
          </a:p>
        </p:txBody>
      </p:sp>
      <p:sp>
        <p:nvSpPr>
          <p:cNvPr id="19" name="Rectangle 18"/>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Второе мнение: независимость и арбитраж</a:t>
            </a:r>
          </a:p>
        </p:txBody>
      </p:sp>
      <p:sp>
        <p:nvSpPr>
          <p:cNvPr id="4" name="Rounded Rectangle 3"/>
          <p:cNvSpPr/>
          <p:nvPr/>
        </p:nvSpPr>
        <p:spPr>
          <a:xfrm>
            <a:off x="502920" y="1335024"/>
            <a:ext cx="2673019" cy="1208505"/>
          </a:xfrm>
          <a:prstGeom prst="roundRect">
            <a:avLst>
              <a:gd name="adj" fmla="val 2500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ЧТО ЭТО</a:t>
            </a:r>
          </a:p>
        </p:txBody>
      </p:sp>
      <p:sp>
        <p:nvSpPr>
          <p:cNvPr id="6" name="TextBox 5"/>
          <p:cNvSpPr txBox="1"/>
          <p:nvPr/>
        </p:nvSpPr>
        <p:spPr>
          <a:xfrm>
            <a:off x="640080" y="1690796"/>
            <a:ext cx="2398699" cy="698597"/>
          </a:xfrm>
          <a:prstGeom prst="rect">
            <a:avLst/>
          </a:prstGeom>
          <a:noFill/>
        </p:spPr>
        <p:txBody>
          <a:bodyPr wrap="square" lIns="0" rIns="0" tIns="0" bIns="0" anchor="t">
            <a:spAutoFit/>
          </a:bodyPr>
          <a:lstStyle/>
          <a:p>
            <a:pPr algn="l">
              <a:lnSpc>
                <a:spcPct val="108000"/>
              </a:lnSpc>
            </a:pPr>
            <a:r>
              <a:rPr sz="1300" b="1" i="0">
                <a:solidFill>
                  <a:srgbClr val="21295C"/>
                </a:solidFill>
                <a:latin typeface="Arial"/>
              </a:rPr>
              <a:t>второе заключение по тому же случаю, сделанное тем, кто не видел первого</a:t>
            </a:r>
          </a:p>
        </p:txBody>
      </p:sp>
      <p:sp>
        <p:nvSpPr>
          <p:cNvPr id="7" name="Rounded Rectangle 6"/>
          <p:cNvSpPr/>
          <p:nvPr/>
        </p:nvSpPr>
        <p:spPr>
          <a:xfrm>
            <a:off x="3340531" y="1335024"/>
            <a:ext cx="2673019" cy="1208505"/>
          </a:xfrm>
          <a:prstGeom prst="roundRect">
            <a:avLst>
              <a:gd name="adj" fmla="val 2500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ЗАЧЕМ</a:t>
            </a:r>
          </a:p>
        </p:txBody>
      </p:sp>
      <p:sp>
        <p:nvSpPr>
          <p:cNvPr id="9" name="TextBox 8"/>
          <p:cNvSpPr txBox="1"/>
          <p:nvPr/>
        </p:nvSpPr>
        <p:spPr>
          <a:xfrm>
            <a:off x="3477691" y="1690796"/>
            <a:ext cx="2398699" cy="673135"/>
          </a:xfrm>
          <a:prstGeom prst="rect">
            <a:avLst/>
          </a:prstGeom>
          <a:noFill/>
        </p:spPr>
        <p:txBody>
          <a:bodyPr wrap="square" lIns="0" rIns="0" tIns="0" bIns="0" anchor="t">
            <a:spAutoFit/>
          </a:bodyPr>
          <a:lstStyle/>
          <a:p>
            <a:pPr algn="l">
              <a:lnSpc>
                <a:spcPct val="108000"/>
              </a:lnSpc>
            </a:pPr>
            <a:r>
              <a:rPr sz="1250" b="1" i="0">
                <a:solidFill>
                  <a:srgbClr val="21295C"/>
                </a:solidFill>
                <a:latin typeface="Arial"/>
              </a:rPr>
              <a:t>одиночное чтение пропускает, и пропуски двух читателей не совпадают</a:t>
            </a:r>
          </a:p>
        </p:txBody>
      </p:sp>
      <p:sp>
        <p:nvSpPr>
          <p:cNvPr id="10" name="Rounded Rectangle 9"/>
          <p:cNvSpPr/>
          <p:nvPr/>
        </p:nvSpPr>
        <p:spPr>
          <a:xfrm>
            <a:off x="6178143" y="1335024"/>
            <a:ext cx="2673019" cy="1208505"/>
          </a:xfrm>
          <a:prstGeom prst="roundRect">
            <a:avLst>
              <a:gd name="adj" fmla="val 2500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ЧТО ПРЕДПОЛАГАЕТ</a:t>
            </a:r>
          </a:p>
        </p:txBody>
      </p:sp>
      <p:sp>
        <p:nvSpPr>
          <p:cNvPr id="12" name="TextBox 11"/>
          <p:cNvSpPr txBox="1"/>
          <p:nvPr/>
        </p:nvSpPr>
        <p:spPr>
          <a:xfrm>
            <a:off x="6315303" y="1690796"/>
            <a:ext cx="2398699" cy="715572"/>
          </a:xfrm>
          <a:prstGeom prst="rect">
            <a:avLst/>
          </a:prstGeom>
          <a:noFill/>
        </p:spPr>
        <p:txBody>
          <a:bodyPr wrap="square" lIns="0" rIns="0" tIns="0" bIns="0" anchor="t">
            <a:spAutoFit/>
          </a:bodyPr>
          <a:lstStyle/>
          <a:p>
            <a:pPr algn="l">
              <a:lnSpc>
                <a:spcPct val="108000"/>
              </a:lnSpc>
            </a:pPr>
            <a:r>
              <a:rPr sz="1000" b="1" i="0">
                <a:solidFill>
                  <a:srgbClr val="21295C"/>
                </a:solidFill>
                <a:latin typeface="Arial"/>
              </a:rPr>
              <a:t>независимость: доступа к первому заключению второго читателя лишают, и за этим следит организация работы</a:t>
            </a:r>
          </a:p>
        </p:txBody>
      </p:sp>
      <p:sp>
        <p:nvSpPr>
          <p:cNvPr id="13" name="Rounded Rectangle 12"/>
          <p:cNvSpPr/>
          <p:nvPr/>
        </p:nvSpPr>
        <p:spPr>
          <a:xfrm>
            <a:off x="9015755" y="1335024"/>
            <a:ext cx="2673019" cy="1208505"/>
          </a:xfrm>
          <a:prstGeom prst="roundRect">
            <a:avLst>
              <a:gd name="adj" fmla="val 25000"/>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КАК РАЗБИРАЮТ РАЗНОГЛАСИЕ</a:t>
            </a:r>
          </a:p>
        </p:txBody>
      </p:sp>
      <p:sp>
        <p:nvSpPr>
          <p:cNvPr id="15" name="TextBox 14"/>
          <p:cNvSpPr txBox="1"/>
          <p:nvPr/>
        </p:nvSpPr>
        <p:spPr>
          <a:xfrm>
            <a:off x="9152915" y="1690796"/>
            <a:ext cx="2398699" cy="698597"/>
          </a:xfrm>
          <a:prstGeom prst="rect">
            <a:avLst/>
          </a:prstGeom>
          <a:noFill/>
        </p:spPr>
        <p:txBody>
          <a:bodyPr wrap="square" lIns="0" rIns="0" tIns="0" bIns="0" anchor="t">
            <a:spAutoFit/>
          </a:bodyPr>
          <a:lstStyle/>
          <a:p>
            <a:pPr algn="l">
              <a:lnSpc>
                <a:spcPct val="108000"/>
              </a:lnSpc>
            </a:pPr>
            <a:r>
              <a:rPr sz="1300" b="1" i="0">
                <a:solidFill>
                  <a:srgbClr val="F0AB00"/>
                </a:solidFill>
                <a:latin typeface="Arial"/>
              </a:rPr>
              <a:t>арбитраж третьим читателем — только там, где два первых не совпали</a:t>
            </a:r>
          </a:p>
        </p:txBody>
      </p:sp>
      <p:sp>
        <p:nvSpPr>
          <p:cNvPr id="16" name="TextBox 15"/>
          <p:cNvSpPr txBox="1"/>
          <p:nvPr/>
        </p:nvSpPr>
        <p:spPr>
          <a:xfrm>
            <a:off x="502920" y="2781273"/>
            <a:ext cx="1289304" cy="457200"/>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Два чтения</a:t>
            </a:r>
          </a:p>
        </p:txBody>
      </p:sp>
      <p:sp>
        <p:nvSpPr>
          <p:cNvPr id="17" name="Rounded Rectangle 16"/>
          <p:cNvSpPr/>
          <p:nvPr/>
        </p:nvSpPr>
        <p:spPr>
          <a:xfrm>
            <a:off x="1920240" y="2726409"/>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002536" y="2808705"/>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первое чтение</a:t>
            </a:r>
          </a:p>
        </p:txBody>
      </p:sp>
      <p:sp>
        <p:nvSpPr>
          <p:cNvPr id="19" name="Right Arrow 18"/>
          <p:cNvSpPr/>
          <p:nvPr/>
        </p:nvSpPr>
        <p:spPr>
          <a:xfrm>
            <a:off x="5039258" y="2886429"/>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267858" y="2726409"/>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50154" y="2808705"/>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перегородка</a:t>
            </a:r>
          </a:p>
        </p:txBody>
      </p:sp>
      <p:sp>
        <p:nvSpPr>
          <p:cNvPr id="22" name="Right Arrow 21"/>
          <p:cNvSpPr/>
          <p:nvPr/>
        </p:nvSpPr>
        <p:spPr>
          <a:xfrm>
            <a:off x="8386876" y="2886429"/>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8615476" y="2726409"/>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697772" y="2808705"/>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второе чтение</a:t>
            </a:r>
          </a:p>
        </p:txBody>
      </p:sp>
      <p:sp>
        <p:nvSpPr>
          <p:cNvPr id="25" name="TextBox 24"/>
          <p:cNvSpPr txBox="1"/>
          <p:nvPr/>
        </p:nvSpPr>
        <p:spPr>
          <a:xfrm>
            <a:off x="502920" y="3384777"/>
            <a:ext cx="1289304" cy="457200"/>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Если не совпали</a:t>
            </a:r>
          </a:p>
        </p:txBody>
      </p:sp>
      <p:sp>
        <p:nvSpPr>
          <p:cNvPr id="26" name="Rounded Rectangle 25"/>
          <p:cNvSpPr/>
          <p:nvPr/>
        </p:nvSpPr>
        <p:spPr>
          <a:xfrm>
            <a:off x="1920240" y="3329913"/>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002536" y="3412209"/>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расхождение</a:t>
            </a:r>
          </a:p>
        </p:txBody>
      </p:sp>
      <p:sp>
        <p:nvSpPr>
          <p:cNvPr id="28" name="Right Arrow 27"/>
          <p:cNvSpPr/>
          <p:nvPr/>
        </p:nvSpPr>
        <p:spPr>
          <a:xfrm>
            <a:off x="5039258" y="3489933"/>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5267858" y="3329913"/>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350154" y="3412209"/>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третий читатель</a:t>
            </a:r>
          </a:p>
        </p:txBody>
      </p:sp>
      <p:sp>
        <p:nvSpPr>
          <p:cNvPr id="31" name="Right Arrow 30"/>
          <p:cNvSpPr/>
          <p:nvPr/>
        </p:nvSpPr>
        <p:spPr>
          <a:xfrm>
            <a:off x="8386876" y="3489933"/>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8615476" y="3329913"/>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697772" y="3412209"/>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решение</a:t>
            </a:r>
          </a:p>
        </p:txBody>
      </p:sp>
      <p:sp>
        <p:nvSpPr>
          <p:cNvPr id="34" name="TextBox 33"/>
          <p:cNvSpPr txBox="1"/>
          <p:nvPr/>
        </p:nvSpPr>
        <p:spPr>
          <a:xfrm>
            <a:off x="502920" y="3933417"/>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Устройство второго мнения</a:t>
            </a:r>
          </a:p>
        </p:txBody>
      </p:sp>
      <p:sp>
        <p:nvSpPr>
          <p:cNvPr id="35" name="Rounded Rectangle 34"/>
          <p:cNvSpPr/>
          <p:nvPr/>
        </p:nvSpPr>
        <p:spPr>
          <a:xfrm>
            <a:off x="374904" y="4246271"/>
            <a:ext cx="11441887" cy="1989936"/>
          </a:xfrm>
          <a:prstGeom prst="roundRect">
            <a:avLst>
              <a:gd name="adj" fmla="val 1531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39496" y="4337711"/>
            <a:ext cx="11112703" cy="189849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Когда второе мнение даёт модель — а первое чтение она же и подсказала — </a:t>
            </a:r>
            <a:r>
              <a:rPr sz="1500" b="1" i="0">
                <a:solidFill>
                  <a:srgbClr val="21295C"/>
                </a:solidFill>
                <a:latin typeface="Arial"/>
              </a:rPr>
              <a:t>два мнения перестают быть независимыми</a:t>
            </a:r>
            <a:r>
              <a:rPr sz="1500" b="0" i="0">
                <a:solidFill>
                  <a:srgbClr val="21295C"/>
                </a:solidFill>
                <a:latin typeface="Arial"/>
              </a:rPr>
              <a:t>, и сложение работает иначе.</a:t>
            </a:r>
          </a:p>
          <a:p>
            <a:pPr algn="l">
              <a:lnSpc>
                <a:spcPct val="126000"/>
              </a:lnSpc>
              <a:spcBef>
                <a:spcPts val="700"/>
              </a:spcBef>
            </a:pPr>
            <a:r>
              <a:rPr sz="1500" b="0" i="0">
                <a:solidFill>
                  <a:srgbClr val="21295C"/>
                </a:solidFill>
                <a:latin typeface="Arial"/>
              </a:rPr>
              <a:t/>
            </a:r>
            <a:r>
              <a:rPr sz="1500" b="0" i="0">
                <a:solidFill>
                  <a:srgbClr val="21295C"/>
                </a:solidFill>
                <a:latin typeface="Arial"/>
              </a:rPr>
              <a:t>Рядом тем же устройством держится консилиум.</a:t>
            </a:r>
          </a:p>
          <a:p>
            <a:pPr algn="l">
              <a:lnSpc>
                <a:spcPct val="126000"/>
              </a:lnSpc>
              <a:spcBef>
                <a:spcPts val="700"/>
              </a:spcBef>
            </a:pPr>
            <a:r>
              <a:rPr sz="1500" b="0" i="0">
                <a:solidFill>
                  <a:srgbClr val="21295C"/>
                </a:solidFill>
                <a:latin typeface="Arial"/>
              </a:rPr>
              <a:t/>
            </a:r>
            <a:r>
              <a:rPr sz="1500" b="1" i="0">
                <a:solidFill>
                  <a:srgbClr val="21295C"/>
                </a:solidFill>
                <a:latin typeface="Arial"/>
              </a:rPr>
              <a:t>Кто из вас просил у модели второе мнение по решению, которое уже принял сам? И что вы сделали, когда она не согласилась?</a:t>
            </a:r>
          </a:p>
          <a:p>
            <a:pPr algn="l">
              <a:lnSpc>
                <a:spcPct val="126000"/>
              </a:lnSpc>
              <a:spcBef>
                <a:spcPts val="700"/>
              </a:spcBef>
            </a:pPr>
            <a:r>
              <a:rPr sz="1200" b="0" i="0">
                <a:solidFill>
                  <a:srgbClr val="21295C"/>
                </a:solidFill>
                <a:latin typeface="Arial"/>
              </a:rPr>
              <a:t/>
            </a:r>
            <a:r>
              <a:rPr sz="1200" b="0" i="1">
                <a:solidFill>
                  <a:srgbClr val="1C7293"/>
                </a:solidFill>
                <a:latin typeface="Arial"/>
              </a:rPr>
              <a:t>На это устройство опирается ещё три раздела вечера.</a:t>
            </a:r>
          </a:p>
        </p:txBody>
      </p:sp>
      <p:sp>
        <p:nvSpPr>
          <p:cNvPr id="37" name="Rectangle 36"/>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Четыре ступени: что именно делает человек</a:t>
            </a:r>
          </a:p>
        </p:txBody>
      </p:sp>
      <p:sp>
        <p:nvSpPr>
          <p:cNvPr id="4" name="Rounded Rectangle 3"/>
          <p:cNvSpPr/>
          <p:nvPr/>
        </p:nvSpPr>
        <p:spPr>
          <a:xfrm>
            <a:off x="502920" y="1335024"/>
            <a:ext cx="2673019" cy="1793197"/>
          </a:xfrm>
          <a:prstGeom prst="roundRect">
            <a:avLst>
              <a:gd name="adj" fmla="val 16997"/>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СМОТРИТ ПЕРВЫМ</a:t>
            </a:r>
          </a:p>
        </p:txBody>
      </p:sp>
      <p:sp>
        <p:nvSpPr>
          <p:cNvPr id="6" name="TextBox 5"/>
          <p:cNvSpPr txBox="1"/>
          <p:nvPr/>
        </p:nvSpPr>
        <p:spPr>
          <a:xfrm>
            <a:off x="640080" y="169079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видит случай</a:t>
            </a:r>
          </a:p>
        </p:txBody>
      </p:sp>
      <p:sp>
        <p:nvSpPr>
          <p:cNvPr id="7" name="Rounded Rectangle 6"/>
          <p:cNvSpPr/>
          <p:nvPr/>
        </p:nvSpPr>
        <p:spPr>
          <a:xfrm>
            <a:off x="3340531" y="1335024"/>
            <a:ext cx="2673019" cy="1793197"/>
          </a:xfrm>
          <a:prstGeom prst="roundRect">
            <a:avLst>
              <a:gd name="adj" fmla="val 16997"/>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СМОТРИТ ВТОРЫМ</a:t>
            </a:r>
          </a:p>
        </p:txBody>
      </p:sp>
      <p:sp>
        <p:nvSpPr>
          <p:cNvPr id="9" name="TextBox 8"/>
          <p:cNvSpPr txBox="1"/>
          <p:nvPr/>
        </p:nvSpPr>
        <p:spPr>
          <a:xfrm>
            <a:off x="3477691"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видит случай и готовый вывод</a:t>
            </a:r>
          </a:p>
        </p:txBody>
      </p:sp>
      <p:sp>
        <p:nvSpPr>
          <p:cNvPr id="10" name="Rounded Rectangle 9"/>
          <p:cNvSpPr/>
          <p:nvPr/>
        </p:nvSpPr>
        <p:spPr>
          <a:xfrm>
            <a:off x="6178143" y="1335024"/>
            <a:ext cx="2673019" cy="1793197"/>
          </a:xfrm>
          <a:prstGeom prst="roundRect">
            <a:avLst>
              <a:gd name="adj" fmla="val 16997"/>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СМОТРИТ ТОЛЬКО СПОРНОЕ</a:t>
            </a:r>
          </a:p>
        </p:txBody>
      </p:sp>
      <p:sp>
        <p:nvSpPr>
          <p:cNvPr id="12" name="TextBox 11"/>
          <p:cNvSpPr txBox="1"/>
          <p:nvPr/>
        </p:nvSpPr>
        <p:spPr>
          <a:xfrm>
            <a:off x="6315303" y="1690796"/>
            <a:ext cx="2398699" cy="1105996"/>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видит выборку, которую отобрала модель</a:t>
            </a:r>
          </a:p>
        </p:txBody>
      </p:sp>
      <p:sp>
        <p:nvSpPr>
          <p:cNvPr id="13" name="Rounded Rectangle 12"/>
          <p:cNvSpPr/>
          <p:nvPr/>
        </p:nvSpPr>
        <p:spPr>
          <a:xfrm>
            <a:off x="9015755" y="1335024"/>
            <a:ext cx="2673019" cy="1793197"/>
          </a:xfrm>
          <a:prstGeom prst="roundRect">
            <a:avLst>
              <a:gd name="adj" fmla="val 16997"/>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ПОДПИСЫВАЕТ НЕ ГЛЯДЯ</a:t>
            </a:r>
          </a:p>
        </p:txBody>
      </p:sp>
      <p:sp>
        <p:nvSpPr>
          <p:cNvPr id="15" name="TextBox 14"/>
          <p:cNvSpPr txBox="1"/>
          <p:nvPr/>
        </p:nvSpPr>
        <p:spPr>
          <a:xfrm>
            <a:off x="9152915" y="1690796"/>
            <a:ext cx="2398699" cy="376074"/>
          </a:xfrm>
          <a:prstGeom prst="rect">
            <a:avLst/>
          </a:prstGeom>
          <a:noFill/>
        </p:spPr>
        <p:txBody>
          <a:bodyPr wrap="square" lIns="0" rIns="0" tIns="0" bIns="0" anchor="t">
            <a:spAutoFit/>
          </a:bodyPr>
          <a:lstStyle/>
          <a:p>
            <a:pPr algn="l">
              <a:lnSpc>
                <a:spcPct val="108000"/>
              </a:lnSpc>
            </a:pPr>
            <a:r>
              <a:rPr sz="1000" b="1" i="0">
                <a:solidFill>
                  <a:srgbClr val="F0AB00"/>
                </a:solidFill>
                <a:latin typeface="Arial"/>
              </a:rPr>
              <a:t>видит только текст: медиана проверки подсказки — 1,99 секунды</a:t>
            </a:r>
          </a:p>
        </p:txBody>
      </p:sp>
      <p:sp>
        <p:nvSpPr>
          <p:cNvPr id="16" name="TextBox 15"/>
          <p:cNvSpPr txBox="1"/>
          <p:nvPr/>
        </p:nvSpPr>
        <p:spPr>
          <a:xfrm>
            <a:off x="9152915" y="2066871"/>
            <a:ext cx="2398699" cy="924190"/>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время над подсказкой ДО решения её принять; вторая медиана той же работы — 6,48 секунды с поправкой на проверку после принятия, и путать их нельзя</a:t>
            </a:r>
          </a:p>
        </p:txBody>
      </p:sp>
      <p:sp>
        <p:nvSpPr>
          <p:cNvPr id="17" name="Rounded Rectangle 16"/>
          <p:cNvSpPr/>
          <p:nvPr/>
        </p:nvSpPr>
        <p:spPr>
          <a:xfrm>
            <a:off x="374904" y="3219661"/>
            <a:ext cx="11441887" cy="3016546"/>
          </a:xfrm>
          <a:prstGeom prst="roundRect">
            <a:avLst>
              <a:gd name="adj" fmla="val 1010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9496" y="3311101"/>
            <a:ext cx="11112703" cy="292510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Четвёртая ступень — формально то же требование, фактически его отсутствие. Принятое без предварительной проверки правят потом в 53 случаях из ста против 18.</a:t>
            </a:r>
          </a:p>
          <a:p>
            <a:pPr algn="l">
              <a:lnSpc>
                <a:spcPct val="126000"/>
              </a:lnSpc>
              <a:spcBef>
                <a:spcPts val="700"/>
              </a:spcBef>
            </a:pPr>
            <a:r>
              <a:rPr sz="1500" b="0" i="0">
                <a:solidFill>
                  <a:srgbClr val="21295C"/>
                </a:solidFill>
                <a:latin typeface="Arial"/>
              </a:rPr>
              <a:t/>
            </a:r>
            <a:r>
              <a:rPr sz="1500" b="0" i="0">
                <a:solidFill>
                  <a:srgbClr val="21295C"/>
                </a:solidFill>
                <a:latin typeface="Arial"/>
              </a:rPr>
              <a:t>Медиана проверки подсказки измерена </a:t>
            </a:r>
            <a:r>
              <a:rPr sz="1500" b="1" i="0">
                <a:solidFill>
                  <a:srgbClr val="21295C"/>
                </a:solidFill>
                <a:latin typeface="Arial"/>
              </a:rPr>
              <a:t>в лабораторном опыте на разработчиках, не в клинике</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0" i="0">
                <a:solidFill>
                  <a:srgbClr val="21295C"/>
                </a:solidFill>
                <a:latin typeface="Arial"/>
              </a:rPr>
              <a:t>Рядом, другим жанром: у врачей, </a:t>
            </a:r>
            <a:r>
              <a:rPr sz="1500" b="1" i="0">
                <a:solidFill>
                  <a:srgbClr val="21295C"/>
                </a:solidFill>
                <a:latin typeface="Arial"/>
              </a:rPr>
              <a:t>которых специально обучали работе с ИИ</a:t>
            </a:r>
            <a:r>
              <a:rPr sz="1500" b="0" i="0">
                <a:solidFill>
                  <a:srgbClr val="21295C"/>
                </a:solidFill>
                <a:latin typeface="Arial"/>
              </a:rPr>
              <a:t>, точность рассуждения при верных рекомендациях — </a:t>
            </a:r>
            <a:r>
              <a:rPr sz="1500" b="1" i="0">
                <a:solidFill>
                  <a:srgbClr val="21295C"/>
                </a:solidFill>
                <a:latin typeface="Arial"/>
              </a:rPr>
              <a:t>84,9 из ста</a:t>
            </a:r>
            <a:r>
              <a:rPr sz="1500" b="0" i="0">
                <a:solidFill>
                  <a:srgbClr val="21295C"/>
                </a:solidFill>
                <a:latin typeface="Arial"/>
              </a:rPr>
              <a:t>, а когда часть рекомендаций намеренно неверна — </a:t>
            </a:r>
            <a:r>
              <a:rPr sz="1500" b="1" i="0">
                <a:solidFill>
                  <a:srgbClr val="21295C"/>
                </a:solidFill>
                <a:latin typeface="Arial"/>
              </a:rPr>
              <a:t>73,3 из ста</a:t>
            </a:r>
            <a:r>
              <a:rPr sz="1500" b="0" i="0">
                <a:solidFill>
                  <a:srgbClr val="21295C"/>
                </a:solidFill>
                <a:latin typeface="Arial"/>
              </a:rPr>
              <a:t>; поправленная разница — 14,0 пункта. Рандомизированное испытание, 44 врача, 264 случая, двадцатичасовой курс работы с ИИ за спиной у каждого.</a:t>
            </a:r>
          </a:p>
          <a:p>
            <a:pPr algn="l">
              <a:lnSpc>
                <a:spcPct val="126000"/>
              </a:lnSpc>
              <a:spcBef>
                <a:spcPts val="700"/>
              </a:spcBef>
            </a:pPr>
            <a:r>
              <a:rPr sz="1500" b="0" i="0">
                <a:solidFill>
                  <a:srgbClr val="21295C"/>
                </a:solidFill>
                <a:latin typeface="Arial"/>
              </a:rPr>
              <a:t/>
            </a:r>
            <a:r>
              <a:rPr sz="1500" b="0" i="0">
                <a:solidFill>
                  <a:srgbClr val="21295C"/>
                </a:solidFill>
                <a:latin typeface="Arial"/>
              </a:rPr>
              <a:t>Обучение работе с инструментом </a:t>
            </a:r>
            <a:r>
              <a:rPr sz="1500" b="1" i="0">
                <a:solidFill>
                  <a:srgbClr val="21295C"/>
                </a:solidFill>
                <a:latin typeface="Arial"/>
              </a:rPr>
              <a:t>не передвигает человека на ступень выше</a:t>
            </a:r>
            <a:r>
              <a:rPr sz="1500" b="0" i="0">
                <a:solidFill>
                  <a:srgbClr val="21295C"/>
                </a:solidFill>
                <a:latin typeface="Arial"/>
              </a:rPr>
              <a:t> — замерено ровно на тех, кого обучали.</a:t>
            </a:r>
          </a:p>
          <a:p>
            <a:pPr algn="l">
              <a:lnSpc>
                <a:spcPct val="126000"/>
              </a:lnSpc>
              <a:spcBef>
                <a:spcPts val="700"/>
              </a:spcBef>
            </a:pPr>
            <a:r>
              <a:rPr sz="1200" b="0" i="0">
                <a:solidFill>
                  <a:srgbClr val="21295C"/>
                </a:solidFill>
                <a:latin typeface="Arial"/>
              </a:rPr>
              <a:t/>
            </a:r>
            <a:r>
              <a:rPr sz="1200" b="0" i="1">
                <a:solidFill>
                  <a:srgbClr val="1C7293"/>
                </a:solidFill>
                <a:latin typeface="Arial"/>
              </a:rPr>
              <a:t>Шкала не ранжирует ступени по качеству: на каждой есть и выигрыш, и своя слепота.</a:t>
            </a:r>
          </a:p>
        </p:txBody>
      </p:sp>
      <p:sp>
        <p:nvSpPr>
          <p:cNvPr id="19" name="Rectangle 18"/>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Qazi S. и соавт., NEJM AI, DOI 10.1056/AIoa2501001 — рандомизированное испытание, 44 врача, 264 случая (препринт medRxiv от 23.08.2025 — промежуточная стадия той же работы)</a:t>
            </a:r>
            <a:r>
              <a:rPr sz="1100" b="0" i="1">
                <a:solidFill>
                  <a:srgbClr val="1C7293"/>
                </a:solidFill>
                <a:latin typeface="Arial"/>
              </a:rPr>
              <a:t> · </a:t>
            </a:r>
            <a:r>
              <a:rPr sz="1100" b="0" i="1">
                <a:solidFill>
                  <a:srgbClr val="1C7293"/>
                </a:solidFill>
                <a:latin typeface="Arial"/>
              </a:rPr>
              <a:t>Mozannar H., Bansal G., Fourney A., Horvitz E., Reading Between the Lines: Modeling User Behavior and Costs in AI-Assisted Programming, CHI 2024; препринт arXiv:2210.14306v5</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работает и что не работает, когда подсказку читает человек</a:t>
            </a:r>
          </a:p>
        </p:txBody>
      </p:sp>
      <p:sp>
        <p:nvSpPr>
          <p:cNvPr id="4" name="Rounded Rectangle 3"/>
          <p:cNvSpPr/>
          <p:nvPr/>
        </p:nvSpPr>
        <p:spPr>
          <a:xfrm>
            <a:off x="502920" y="1335024"/>
            <a:ext cx="11185855" cy="1104769"/>
          </a:xfrm>
          <a:prstGeom prst="roundRect">
            <a:avLst>
              <a:gd name="adj" fmla="val 25000"/>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10911535"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ТОЧНОСТЬ ВЫБОРА ПРЕПАРАТА: БЕЗ МОДЕЛИ → ПРИ НЕВЕРНОЙ РЕКОМЕНДАЦИИ С УПРОЩЁННЫМ ОБЪЯСНЕНИЕМ</a:t>
            </a:r>
          </a:p>
        </p:txBody>
      </p:sp>
      <p:sp>
        <p:nvSpPr>
          <p:cNvPr id="6" name="TextBox 5"/>
          <p:cNvSpPr txBox="1"/>
          <p:nvPr/>
        </p:nvSpPr>
        <p:spPr>
          <a:xfrm>
            <a:off x="640080" y="1690796"/>
            <a:ext cx="10911535"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35,7 → 26,2 из ста</a:t>
            </a:r>
          </a:p>
        </p:txBody>
      </p:sp>
      <p:sp>
        <p:nvSpPr>
          <p:cNvPr id="7" name="TextBox 6"/>
          <p:cNvSpPr txBox="1"/>
          <p:nvPr/>
        </p:nvSpPr>
        <p:spPr>
          <a:xfrm>
            <a:off x="640080" y="2117795"/>
            <a:ext cx="1091153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та же шкала, те же задачи, те же клиницисты; точность самой подсказки здесь задана имитацией — настоящей модели в опыте не было</a:t>
            </a:r>
          </a:p>
        </p:txBody>
      </p:sp>
      <p:sp>
        <p:nvSpPr>
          <p:cNvPr id="8" name="Rounded Rectangle 7"/>
          <p:cNvSpPr/>
          <p:nvPr/>
        </p:nvSpPr>
        <p:spPr>
          <a:xfrm>
            <a:off x="502920" y="2622673"/>
            <a:ext cx="5437479" cy="2220994"/>
          </a:xfrm>
          <a:prstGeom prst="roundRect">
            <a:avLst>
              <a:gd name="adj" fmla="val 1372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2778121"/>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получается</a:t>
            </a:r>
          </a:p>
        </p:txBody>
      </p:sp>
      <p:sp>
        <p:nvSpPr>
          <p:cNvPr id="10" name="TextBox 9"/>
          <p:cNvSpPr txBox="1"/>
          <p:nvPr/>
        </p:nvSpPr>
        <p:spPr>
          <a:xfrm>
            <a:off x="667512" y="3134300"/>
            <a:ext cx="5108295" cy="1553919"/>
          </a:xfrm>
          <a:prstGeom prst="rect">
            <a:avLst/>
          </a:prstGeom>
          <a:noFill/>
        </p:spPr>
        <p:txBody>
          <a:bodyPr wrap="square" lIns="0" rIns="0" tIns="0" bIns="0" anchor="t">
            <a:spAutoFit/>
          </a:bodyPr>
          <a:lstStyle/>
          <a:p>
            <a:pPr algn="l">
              <a:lnSpc>
                <a:spcPct val="126000"/>
              </a:lnSpc>
            </a:pPr>
            <a:r>
              <a:rPr sz="1300" b="0" i="0">
                <a:solidFill>
                  <a:srgbClr val="21295C"/>
                </a:solidFill>
                <a:latin typeface="Arial"/>
              </a:rPr>
              <a:t>• Второй взгляд на поток, который человеку не прочесть целиком</a:t>
            </a:r>
          </a:p>
          <a:p>
            <a:pPr algn="l">
              <a:lnSpc>
                <a:spcPct val="126000"/>
              </a:lnSpc>
            </a:pPr>
            <a:r>
              <a:rPr sz="1300" b="0" i="0">
                <a:solidFill>
                  <a:srgbClr val="21295C"/>
                </a:solidFill>
                <a:latin typeface="Arial"/>
              </a:rPr>
              <a:t>• Напоминание о редком диагнозе, выпадающем из списка гипотез</a:t>
            </a:r>
          </a:p>
          <a:p>
            <a:pPr algn="l">
              <a:lnSpc>
                <a:spcPct val="126000"/>
              </a:lnSpc>
            </a:pPr>
            <a:r>
              <a:rPr sz="1300" b="0" i="0">
                <a:solidFill>
                  <a:srgbClr val="21295C"/>
                </a:solidFill>
                <a:latin typeface="Arial"/>
              </a:rPr>
              <a:t>• Сортировка, после которой специалист смотрит не всё подряд</a:t>
            </a:r>
          </a:p>
        </p:txBody>
      </p:sp>
      <p:sp>
        <p:nvSpPr>
          <p:cNvPr id="11" name="Rounded Rectangle 10"/>
          <p:cNvSpPr/>
          <p:nvPr/>
        </p:nvSpPr>
        <p:spPr>
          <a:xfrm>
            <a:off x="6251295" y="2622673"/>
            <a:ext cx="5437479" cy="2220994"/>
          </a:xfrm>
          <a:prstGeom prst="roundRect">
            <a:avLst>
              <a:gd name="adj" fmla="val 13723"/>
            </a:avLst>
          </a:prstGeom>
          <a:solidFill>
            <a:srgbClr val="FFFFFF"/>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15887" y="2778121"/>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Что не получается</a:t>
            </a:r>
          </a:p>
        </p:txBody>
      </p:sp>
      <p:sp>
        <p:nvSpPr>
          <p:cNvPr id="13" name="TextBox 12"/>
          <p:cNvSpPr txBox="1"/>
          <p:nvPr/>
        </p:nvSpPr>
        <p:spPr>
          <a:xfrm>
            <a:off x="6415887" y="3134300"/>
            <a:ext cx="5108295" cy="1553919"/>
          </a:xfrm>
          <a:prstGeom prst="rect">
            <a:avLst/>
          </a:prstGeom>
          <a:noFill/>
        </p:spPr>
        <p:txBody>
          <a:bodyPr wrap="square" lIns="0" rIns="0" tIns="0" bIns="0" anchor="t">
            <a:spAutoFit/>
          </a:bodyPr>
          <a:lstStyle/>
          <a:p>
            <a:pPr algn="l">
              <a:lnSpc>
                <a:spcPct val="126000"/>
              </a:lnSpc>
            </a:pPr>
            <a:r>
              <a:rPr sz="1300" b="0" i="0">
                <a:solidFill>
                  <a:srgbClr val="21295C"/>
                </a:solidFill>
                <a:latin typeface="Arial"/>
              </a:rPr>
              <a:t>• Независимость — подсказка видна до собственного вывода</a:t>
            </a:r>
          </a:p>
          <a:p>
            <a:pPr algn="l">
              <a:lnSpc>
                <a:spcPct val="126000"/>
              </a:lnSpc>
            </a:pPr>
            <a:r>
              <a:rPr sz="1300" b="0" i="0">
                <a:solidFill>
                  <a:srgbClr val="21295C"/>
                </a:solidFill>
                <a:latin typeface="Arial"/>
              </a:rPr>
              <a:t>• Избирательность — без отдельной подготовки человек не умеет не поверить именно там, где модель ошиблась</a:t>
            </a:r>
          </a:p>
          <a:p>
            <a:pPr algn="l">
              <a:lnSpc>
                <a:spcPct val="126000"/>
              </a:lnSpc>
            </a:pPr>
            <a:r>
              <a:rPr sz="1300" b="0" i="0">
                <a:solidFill>
                  <a:srgbClr val="21295C"/>
                </a:solidFill>
                <a:latin typeface="Arial"/>
              </a:rPr>
              <a:t>• Объяснимость — упрощённое объяснение неверной рекомендации уронило точность выбора препарата ниже базовой</a:t>
            </a:r>
          </a:p>
        </p:txBody>
      </p:sp>
      <p:sp>
        <p:nvSpPr>
          <p:cNvPr id="14" name="Rounded Rectangle 13"/>
          <p:cNvSpPr/>
          <p:nvPr/>
        </p:nvSpPr>
        <p:spPr>
          <a:xfrm>
            <a:off x="374904" y="4935108"/>
            <a:ext cx="11441887" cy="1301099"/>
          </a:xfrm>
          <a:prstGeom prst="roundRect">
            <a:avLst>
              <a:gd name="adj" fmla="val 234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39496" y="5026548"/>
            <a:ext cx="11112703" cy="1209659"/>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Объяснение покупает согласие, а не качество. Упрощённое объяснение создаёт ясность, не связанную с правильностью, и человеку труднее возразить тому, что он понял.</a:t>
            </a:r>
          </a:p>
          <a:p>
            <a:pPr algn="l">
              <a:lnSpc>
                <a:spcPct val="126000"/>
              </a:lnSpc>
              <a:spcBef>
                <a:spcPts val="700"/>
              </a:spcBef>
            </a:pPr>
            <a:r>
              <a:rPr sz="1500" b="0" i="0">
                <a:solidFill>
                  <a:srgbClr val="21295C"/>
                </a:solidFill>
                <a:latin typeface="Arial"/>
              </a:rPr>
              <a:t/>
            </a:r>
            <a:r>
              <a:rPr sz="1500" b="0" i="0">
                <a:solidFill>
                  <a:srgbClr val="21295C"/>
                </a:solidFill>
                <a:latin typeface="Arial"/>
              </a:rPr>
              <a:t>Объяснимость — требование к интерфейсу с измеренной ценой, а не безусловное улучшение.</a:t>
            </a:r>
          </a:p>
          <a:p>
            <a:pPr algn="l">
              <a:lnSpc>
                <a:spcPct val="126000"/>
              </a:lnSpc>
              <a:spcBef>
                <a:spcPts val="700"/>
              </a:spcBef>
            </a:pPr>
            <a:r>
              <a:rPr sz="1200" b="0" i="0">
                <a:solidFill>
                  <a:srgbClr val="21295C"/>
                </a:solidFill>
                <a:latin typeface="Arial"/>
              </a:rPr>
              <a:t/>
            </a:r>
            <a:r>
              <a:rPr sz="1200" b="0" i="1">
                <a:solidFill>
                  <a:srgbClr val="1C7293"/>
                </a:solidFill>
                <a:latin typeface="Arial"/>
              </a:rPr>
              <a:t>Лабораторный опыт в сети, не решения о живых пациентах.</a:t>
            </a:r>
          </a:p>
        </p:txBody>
      </p:sp>
      <p:sp>
        <p:nvSpPr>
          <p:cNvPr id="16" name="Rectangle 1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Jacobs M., Pradier M., McCoy T., Perlis R., Doshi-Velez F., Gajos K., How machine-learning recommendations influence clinician treatment selections: the example of the antidepressant selection, Translational Psychiatry 2021, DOI 10.1038/s41398-021-01224-x — внутригрупповой факторный опыт на виньетках, 220 врачей</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600" b="1" i="0">
                <a:solidFill>
                  <a:srgbClr val="21295C"/>
                </a:solidFill>
                <a:latin typeface="Arial"/>
              </a:rPr>
              <a:t>Правило, а не случай: что в среднем даёт пара человека и модели</a:t>
            </a:r>
          </a:p>
        </p:txBody>
      </p:sp>
      <p:sp>
        <p:nvSpPr>
          <p:cNvPr id="4" name="Rounded Rectangle 3"/>
          <p:cNvSpPr/>
          <p:nvPr/>
        </p:nvSpPr>
        <p:spPr>
          <a:xfrm>
            <a:off x="502920" y="1335024"/>
            <a:ext cx="3618890" cy="1796969"/>
          </a:xfrm>
          <a:prstGeom prst="roundRect">
            <a:avLst>
              <a:gd name="adj" fmla="val 1696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МОДЕЛЬ СИЛЬНЕЕ ЧЕЛОВЕКА: ПАРА ХУЖЕ МОДЕЛИ</a:t>
            </a:r>
          </a:p>
        </p:txBody>
      </p:sp>
      <p:sp>
        <p:nvSpPr>
          <p:cNvPr id="6" name="TextBox 5"/>
          <p:cNvSpPr txBox="1"/>
          <p:nvPr/>
        </p:nvSpPr>
        <p:spPr>
          <a:xfrm>
            <a:off x="640080" y="1863689"/>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−0,54</a:t>
            </a:r>
          </a:p>
        </p:txBody>
      </p:sp>
      <p:sp>
        <p:nvSpPr>
          <p:cNvPr id="7" name="TextBox 6"/>
          <p:cNvSpPr txBox="1"/>
          <p:nvPr/>
        </p:nvSpPr>
        <p:spPr>
          <a:xfrm>
            <a:off x="640080" y="2290688"/>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размер эффекта в долях разброса; интервал от −0,71 до −0,37 — целиком ниже нуля</a:t>
            </a:r>
          </a:p>
        </p:txBody>
      </p:sp>
      <p:sp>
        <p:nvSpPr>
          <p:cNvPr id="8" name="Rounded Rectangle 7"/>
          <p:cNvSpPr/>
          <p:nvPr/>
        </p:nvSpPr>
        <p:spPr>
          <a:xfrm>
            <a:off x="4286402" y="1335024"/>
            <a:ext cx="3618890" cy="1796969"/>
          </a:xfrm>
          <a:prstGeom prst="roundRect">
            <a:avLst>
              <a:gd name="adj" fmla="val 16961"/>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23562"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ЧЕЛОВЕК СИЛЬНЕЕ МОДЕЛИ: ПАРА ЛУЧШЕ ОБЕИХ СТОРОН</a:t>
            </a:r>
          </a:p>
        </p:txBody>
      </p:sp>
      <p:sp>
        <p:nvSpPr>
          <p:cNvPr id="10" name="TextBox 9"/>
          <p:cNvSpPr txBox="1"/>
          <p:nvPr/>
        </p:nvSpPr>
        <p:spPr>
          <a:xfrm>
            <a:off x="4423562" y="1863689"/>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+0,46</a:t>
            </a:r>
          </a:p>
        </p:txBody>
      </p:sp>
      <p:sp>
        <p:nvSpPr>
          <p:cNvPr id="11" name="TextBox 10"/>
          <p:cNvSpPr txBox="1"/>
          <p:nvPr/>
        </p:nvSpPr>
        <p:spPr>
          <a:xfrm>
            <a:off x="4423562" y="2290688"/>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интервал от 0,28 до 0,66 — целиком выше нуля; знак задаёт то, какая сторона сильнее на задаче</a:t>
            </a:r>
          </a:p>
        </p:txBody>
      </p:sp>
      <p:sp>
        <p:nvSpPr>
          <p:cNvPr id="12" name="Rounded Rectangle 11"/>
          <p:cNvSpPr/>
          <p:nvPr/>
        </p:nvSpPr>
        <p:spPr>
          <a:xfrm>
            <a:off x="8069884" y="1335024"/>
            <a:ext cx="3618890" cy="1796969"/>
          </a:xfrm>
          <a:prstGeom prst="roundRect">
            <a:avLst>
              <a:gd name="adj" fmla="val 1696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БАЗА</a:t>
            </a:r>
          </a:p>
        </p:txBody>
      </p:sp>
      <p:sp>
        <p:nvSpPr>
          <p:cNvPr id="14" name="TextBox 13"/>
          <p:cNvSpPr txBox="1"/>
          <p:nvPr/>
        </p:nvSpPr>
        <p:spPr>
          <a:xfrm>
            <a:off x="8207044" y="1690796"/>
            <a:ext cx="3344570" cy="749522"/>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74 работы · 106 опытов · 370 размеров эффекта</a:t>
            </a:r>
          </a:p>
        </p:txBody>
      </p:sp>
      <p:sp>
        <p:nvSpPr>
          <p:cNvPr id="15" name="TextBox 14"/>
          <p:cNvSpPr txBox="1"/>
          <p:nvPr/>
        </p:nvSpPr>
        <p:spPr>
          <a:xfrm>
            <a:off x="8207044" y="2440319"/>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из 5 126 просмотренных работ; брали только опыты, где измерены все три величины — человек один, модель одна, пара</a:t>
            </a:r>
          </a:p>
        </p:txBody>
      </p:sp>
      <p:sp>
        <p:nvSpPr>
          <p:cNvPr id="16" name="Rounded Rectangle 15"/>
          <p:cNvSpPr/>
          <p:nvPr/>
        </p:nvSpPr>
        <p:spPr>
          <a:xfrm>
            <a:off x="374904" y="3223433"/>
            <a:ext cx="11441887" cy="3012774"/>
          </a:xfrm>
          <a:prstGeom prst="roundRect">
            <a:avLst>
              <a:gd name="adj" fmla="val 1011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3314873"/>
            <a:ext cx="11112703" cy="292133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Зал видел разрыв на одном испытании — вот то же самое, собранное по сотне опытов. Предрегистрированный мета-анализ.</a:t>
            </a:r>
          </a:p>
          <a:p>
            <a:pPr algn="l">
              <a:lnSpc>
                <a:spcPct val="126000"/>
              </a:lnSpc>
              <a:spcBef>
                <a:spcPts val="700"/>
              </a:spcBef>
            </a:pPr>
            <a:r>
              <a:rPr sz="1500" b="0" i="0">
                <a:solidFill>
                  <a:srgbClr val="21295C"/>
                </a:solidFill>
                <a:latin typeface="Arial"/>
              </a:rPr>
              <a:t/>
            </a:r>
            <a:r>
              <a:rPr sz="1500" b="1" i="0">
                <a:solidFill>
                  <a:srgbClr val="21295C"/>
                </a:solidFill>
                <a:latin typeface="Arial"/>
              </a:rPr>
              <a:t>Оговорка, без которой число врёт:</a:t>
            </a:r>
            <a:r>
              <a:rPr sz="1500" b="0" i="0">
                <a:solidFill>
                  <a:srgbClr val="21295C"/>
                </a:solidFill>
                <a:latin typeface="Arial"/>
              </a:rPr>
              <a:t> общий результат считается против </a:t>
            </a:r>
            <a:r>
              <a:rPr sz="1500" b="1" i="0">
                <a:solidFill>
                  <a:srgbClr val="21295C"/>
                </a:solidFill>
                <a:latin typeface="Arial"/>
              </a:rPr>
              <a:t>лучшей</a:t>
            </a:r>
            <a:r>
              <a:rPr sz="1500" b="0" i="0">
                <a:solidFill>
                  <a:srgbClr val="21295C"/>
                </a:solidFill>
                <a:latin typeface="Arial"/>
              </a:rPr>
              <a:t> из двух сторон. </a:t>
            </a:r>
            <a:r>
              <a:rPr sz="1500" b="1" i="0">
                <a:solidFill>
                  <a:srgbClr val="21295C"/>
                </a:solidFill>
                <a:latin typeface="Arial"/>
              </a:rPr>
              <a:t>Человека одного пара всё-таки обходит</a:t>
            </a:r>
            <a:r>
              <a:rPr sz="1500" b="0" i="0">
                <a:solidFill>
                  <a:srgbClr val="21295C"/>
                </a:solidFill>
                <a:latin typeface="Arial"/>
              </a:rPr>
              <a:t> — размер эффекта 0,64 при интервале от 0,53 до 0,74.</a:t>
            </a:r>
          </a:p>
          <a:p>
            <a:pPr algn="l">
              <a:lnSpc>
                <a:spcPct val="126000"/>
              </a:lnSpc>
              <a:spcBef>
                <a:spcPts val="700"/>
              </a:spcBef>
            </a:pPr>
            <a:r>
              <a:rPr sz="1500" b="0" i="0">
                <a:solidFill>
                  <a:srgbClr val="21295C"/>
                </a:solidFill>
                <a:latin typeface="Arial"/>
              </a:rPr>
              <a:t/>
            </a:r>
            <a:r>
              <a:rPr sz="1500" b="0" i="0">
                <a:solidFill>
                  <a:srgbClr val="21295C"/>
                </a:solidFill>
                <a:latin typeface="Arial"/>
              </a:rPr>
              <a:t>«Помогает ли ИИ» — вопрос не к инструменту, а к тому, кто в этой паре сильнее на этой задаче.</a:t>
            </a:r>
          </a:p>
          <a:p>
            <a:pPr algn="l">
              <a:lnSpc>
                <a:spcPct val="126000"/>
              </a:lnSpc>
              <a:spcBef>
                <a:spcPts val="700"/>
              </a:spcBef>
            </a:pPr>
            <a:r>
              <a:rPr sz="1200" b="0" i="0">
                <a:solidFill>
                  <a:srgbClr val="21295C"/>
                </a:solidFill>
                <a:latin typeface="Arial"/>
              </a:rPr>
              <a:t/>
            </a:r>
            <a:r>
              <a:rPr sz="1200" b="0" i="1">
                <a:solidFill>
                  <a:srgbClr val="1C7293"/>
                </a:solidFill>
                <a:latin typeface="Arial"/>
              </a:rPr>
              <a:t>Агрегат замеров, а не внедрённый процесс: он не про исходы пациентов и собран по опытам разной природы. Правило не привязано к модальности.</a:t>
            </a:r>
          </a:p>
        </p:txBody>
      </p:sp>
      <p:sp>
        <p:nvSpPr>
          <p:cNvPr id="18" name="Rectangle 17"/>
          <p:cNvSpPr/>
          <p:nvPr/>
        </p:nvSpPr>
        <p:spPr>
          <a:xfrm>
            <a:off x="502920" y="871115"/>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Vaccaro M., Almaatouq A., Malone T., When combinations of humans and AI are useful: a systematic review and meta-analysis, Nature Human Behaviour 2024;8:2293–2303, DOI 10.1038/s41562-024-02024-1; открытый препринт той же версии — arXiv:2405.06087v2</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Замер взгляда радиолога</a:t>
            </a:r>
          </a:p>
        </p:txBody>
      </p:sp>
      <p:sp>
        <p:nvSpPr>
          <p:cNvPr id="4" name="Rounded Rectangle 3"/>
          <p:cNvSpPr/>
          <p:nvPr/>
        </p:nvSpPr>
        <p:spPr>
          <a:xfrm>
            <a:off x="502920" y="1335024"/>
            <a:ext cx="5510631" cy="1647338"/>
          </a:xfrm>
          <a:prstGeom prst="roundRect">
            <a:avLst>
              <a:gd name="adj" fmla="val 1850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ЧУВСТВИТЕЛЬНОСТЬ ТОГО ЖЕ ЧИТАТЕЛЯ: БЕЗ ПОДСКАЗКИ → ПРИ ЛОЖНООТРИЦАТЕЛЬНОЙ ПОДСКАЗКЕ</a:t>
            </a:r>
          </a:p>
        </p:txBody>
      </p:sp>
      <p:sp>
        <p:nvSpPr>
          <p:cNvPr id="6" name="TextBox 5"/>
          <p:cNvSpPr txBox="1"/>
          <p:nvPr/>
        </p:nvSpPr>
        <p:spPr>
          <a:xfrm>
            <a:off x="640080" y="1863689"/>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71 → 39 из ста</a:t>
            </a:r>
          </a:p>
        </p:txBody>
      </p:sp>
      <p:sp>
        <p:nvSpPr>
          <p:cNvPr id="7" name="TextBox 6"/>
          <p:cNvSpPr txBox="1"/>
          <p:nvPr/>
        </p:nvSpPr>
        <p:spPr>
          <a:xfrm>
            <a:off x="640080" y="2290688"/>
            <a:ext cx="5236311"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медиана по десяти читателям; падение 32 пункта, значимое. Та же половина работы с ложноположительной подсказкой дала читателю 18 пунктов специфичности — с 21 до 39 из ста</a:t>
            </a:r>
          </a:p>
        </p:txBody>
      </p:sp>
      <p:sp>
        <p:nvSpPr>
          <p:cNvPr id="8" name="Rounded Rectangle 7"/>
          <p:cNvSpPr/>
          <p:nvPr/>
        </p:nvSpPr>
        <p:spPr>
          <a:xfrm>
            <a:off x="6178143" y="1335024"/>
            <a:ext cx="5510631" cy="1647338"/>
          </a:xfrm>
          <a:prstGeom prst="roundRect">
            <a:avLst>
              <a:gd name="adj" fmla="val 1850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СТУПЕНЬ</a:t>
            </a:r>
          </a:p>
        </p:txBody>
      </p:sp>
      <p:sp>
        <p:nvSpPr>
          <p:cNvPr id="10" name="TextBox 9"/>
          <p:cNvSpPr txBox="1"/>
          <p:nvPr/>
        </p:nvSpPr>
        <p:spPr>
          <a:xfrm>
            <a:off x="6315303" y="1690796"/>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смотрит вторым — подсказка выведена вместе со случаем</a:t>
            </a:r>
          </a:p>
        </p:txBody>
      </p:sp>
      <p:sp>
        <p:nvSpPr>
          <p:cNvPr id="11" name="Rounded Rectangle 10"/>
          <p:cNvSpPr/>
          <p:nvPr/>
        </p:nvSpPr>
        <p:spPr>
          <a:xfrm>
            <a:off x="374904" y="3073802"/>
            <a:ext cx="11441887" cy="3162405"/>
          </a:xfrm>
          <a:prstGeom prst="roundRect">
            <a:avLst>
              <a:gd name="adj" fmla="val 96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39496" y="3165242"/>
            <a:ext cx="11112703" cy="3070965"/>
          </a:xfrm>
          <a:prstGeom prst="rect">
            <a:avLst/>
          </a:prstGeom>
          <a:noFill/>
        </p:spPr>
        <p:txBody>
          <a:bodyPr wrap="square" lIns="0" rIns="0" tIns="0" bIns="0" anchor="t">
            <a:spAutoFit/>
          </a:bodyPr>
          <a:lstStyle/>
          <a:p>
            <a:pPr algn="l">
              <a:lnSpc>
                <a:spcPct val="126000"/>
              </a:lnSpc>
            </a:pPr>
            <a:r>
              <a:rPr sz="1440" b="0" i="0">
                <a:solidFill>
                  <a:srgbClr val="21295C"/>
                </a:solidFill>
                <a:latin typeface="Arial"/>
              </a:rPr>
              <a:t>Правило мы увидели. Теперь — что происходит, когда подсказка неверна, и с какой величиной.</a:t>
            </a:r>
          </a:p>
          <a:p>
            <a:pPr algn="l">
              <a:lnSpc>
                <a:spcPct val="126000"/>
              </a:lnSpc>
              <a:spcBef>
                <a:spcPts val="700"/>
              </a:spcBef>
            </a:pPr>
            <a:r>
              <a:rPr sz="1440" b="0" i="0">
                <a:solidFill>
                  <a:srgbClr val="21295C"/>
                </a:solidFill>
                <a:latin typeface="Arial"/>
              </a:rPr>
              <a:t/>
            </a:r>
            <a:r>
              <a:rPr sz="1440" b="1" i="0">
                <a:solidFill>
                  <a:srgbClr val="21295C"/>
                </a:solidFill>
                <a:latin typeface="Arial"/>
              </a:rPr>
              <a:t>Цена обеих ошибок, до всякой точности.</a:t>
            </a:r>
            <a:r>
              <a:rPr sz="1440" b="0" i="0">
                <a:solidFill>
                  <a:srgbClr val="21295C"/>
                </a:solidFill>
                <a:latin typeface="Arial"/>
              </a:rPr>
              <a:t> Пропущенный рак на маммограмме — лечение позже и хуже. Ложный вызов — повторные исследования, биопсия и месяцы тревоги.</a:t>
            </a:r>
          </a:p>
          <a:p>
            <a:pPr algn="l">
              <a:lnSpc>
                <a:spcPct val="126000"/>
              </a:lnSpc>
              <a:spcBef>
                <a:spcPts val="700"/>
              </a:spcBef>
            </a:pPr>
            <a:r>
              <a:rPr sz="1440" b="0" i="0">
                <a:solidFill>
                  <a:srgbClr val="21295C"/>
                </a:solidFill>
                <a:latin typeface="Arial"/>
              </a:rPr>
              <a:t/>
            </a:r>
            <a:r>
              <a:rPr sz="1440" b="1" i="0">
                <a:solidFill>
                  <a:srgbClr val="21295C"/>
                </a:solidFill>
                <a:latin typeface="Arial"/>
              </a:rPr>
              <a:t>Оба классических режима.</a:t>
            </a:r>
            <a:r>
              <a:rPr sz="1440" b="0" i="0">
                <a:solidFill>
                  <a:srgbClr val="21295C"/>
                </a:solidFill>
                <a:latin typeface="Arial"/>
              </a:rPr>
              <a:t> Чтение той же маммограммы без подсказки — база сравнения. Второе человеческое чтение — режим, которым эта программа и держится.</a:t>
            </a:r>
          </a:p>
          <a:p>
            <a:pPr algn="l">
              <a:lnSpc>
                <a:spcPct val="126000"/>
              </a:lnSpc>
              <a:spcBef>
                <a:spcPts val="700"/>
              </a:spcBef>
            </a:pPr>
            <a:r>
              <a:rPr sz="1440" b="0" i="0">
                <a:solidFill>
                  <a:srgbClr val="21295C"/>
                </a:solidFill>
                <a:latin typeface="Arial"/>
              </a:rPr>
              <a:t/>
            </a:r>
            <a:r>
              <a:rPr sz="1440" b="1" i="0">
                <a:solidFill>
                  <a:srgbClr val="21295C"/>
                </a:solidFill>
                <a:latin typeface="Arial"/>
              </a:rPr>
              <a:t>Модель против них.</a:t>
            </a:r>
            <a:r>
              <a:rPr sz="1440" b="0" i="0">
                <a:solidFill>
                  <a:srgbClr val="21295C"/>
                </a:solidFill>
                <a:latin typeface="Arial"/>
              </a:rPr>
              <a:t> Одни и те же случаи, одни и те же читатели, разница только в наличии подсказки.</a:t>
            </a:r>
          </a:p>
          <a:p>
            <a:pPr algn="l">
              <a:lnSpc>
                <a:spcPct val="126000"/>
              </a:lnSpc>
              <a:spcBef>
                <a:spcPts val="700"/>
              </a:spcBef>
            </a:pPr>
            <a:r>
              <a:rPr sz="1150" b="0" i="0">
                <a:solidFill>
                  <a:srgbClr val="21295C"/>
                </a:solidFill>
                <a:latin typeface="Arial"/>
              </a:rPr>
              <a:t/>
            </a:r>
            <a:r>
              <a:rPr sz="1150" b="0" i="1">
                <a:solidFill>
                  <a:srgbClr val="1C7293"/>
                </a:solidFill>
                <a:latin typeface="Arial"/>
              </a:rPr>
              <a:t>Десять читателей национальной программы скрининга, 60 случаев, каждый прочитан дважды с перерывом в шесть недель; набор нарочно наполнен ошибками системы в обе стороны. Сильное по механизму, среднее по выборке читателей, повторения по величине падения нет.</a:t>
            </a:r>
          </a:p>
          <a:p>
            <a:pPr algn="l">
              <a:lnSpc>
                <a:spcPct val="126000"/>
              </a:lnSpc>
              <a:spcBef>
                <a:spcPts val="700"/>
              </a:spcBef>
            </a:pPr>
            <a:r>
              <a:rPr sz="1440" b="0" i="0">
                <a:solidFill>
                  <a:srgbClr val="21295C"/>
                </a:solidFill>
                <a:latin typeface="Arial"/>
              </a:rPr>
              <a:t/>
            </a:r>
            <a:r>
              <a:rPr sz="1440" b="0" i="0">
                <a:solidFill>
                  <a:srgbClr val="21295C"/>
                </a:solidFill>
                <a:latin typeface="Arial"/>
              </a:rPr>
              <a:t>Чем это делают сегодня: </a:t>
            </a:r>
            <a:r>
              <a:rPr sz="1440" b="0" i="1">
                <a:solidFill>
                  <a:srgbClr val="21295C"/>
                </a:solidFill>
                <a:latin typeface="Arial"/>
              </a:rPr>
              <a:t>распознавание на изображении</a:t>
            </a:r>
            <a:r>
              <a:rPr sz="1440" b="0" i="0">
                <a:solidFill>
                  <a:srgbClr val="21295C"/>
                </a:solidFill>
                <a:latin typeface="Arial"/>
              </a:rPr>
              <a:t> — чтение маммограммы моделью как второй читатель или как триаж потока. Принимает это организатор национальной или региональной программы скрининга, а не отдельная больница. Не умеет удержать читателя от сужения поиска.</a:t>
            </a:r>
          </a:p>
        </p:txBody>
      </p:sp>
      <p:sp>
        <p:nvSpPr>
          <p:cNvPr id="13" name="Rectangle 12"/>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Taib A., Partridge G., Phillips P., Chen Y. и соавт., Automation Bias in Action: Eye Tracking of Humans Reading Screening Mammograms with and without AI Prompts, Radiology 2026;320(1):e252590, DOI 10.1148/radiol.252590, PMID 42446361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То же: измеренный механизм и что переехало</a:t>
            </a:r>
          </a:p>
        </p:txBody>
      </p:sp>
      <p:sp>
        <p:nvSpPr>
          <p:cNvPr id="4" name="Rounded Rectangle 3"/>
          <p:cNvSpPr/>
          <p:nvPr/>
        </p:nvSpPr>
        <p:spPr>
          <a:xfrm>
            <a:off x="502920" y="1335024"/>
            <a:ext cx="2673019" cy="2398636"/>
          </a:xfrm>
          <a:prstGeom prst="roundRect">
            <a:avLst>
              <a:gd name="adj" fmla="val 12707"/>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737290"/>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ЗАДЕРЖКА ВЗГЛЯДА НА ПОРАЖЕНИЯХ, ПРОПУЩЕННЫХ МОДЕЛЬЮ: БЕЗ ПОДСКАЗКИ → С ПОДСКАЗКОЙ</a:t>
            </a:r>
          </a:p>
        </p:txBody>
      </p:sp>
      <p:sp>
        <p:nvSpPr>
          <p:cNvPr id="6" name="TextBox 5"/>
          <p:cNvSpPr txBox="1"/>
          <p:nvPr/>
        </p:nvSpPr>
        <p:spPr>
          <a:xfrm>
            <a:off x="640080" y="2209474"/>
            <a:ext cx="2398699" cy="647673"/>
          </a:xfrm>
          <a:prstGeom prst="rect">
            <a:avLst/>
          </a:prstGeom>
          <a:noFill/>
        </p:spPr>
        <p:txBody>
          <a:bodyPr wrap="square" lIns="0" rIns="0" tIns="0" bIns="0" anchor="t">
            <a:spAutoFit/>
          </a:bodyPr>
          <a:lstStyle/>
          <a:p>
            <a:pPr algn="l">
              <a:lnSpc>
                <a:spcPct val="108000"/>
              </a:lnSpc>
            </a:pPr>
            <a:r>
              <a:rPr sz="1800" b="1" i="0">
                <a:solidFill>
                  <a:srgbClr val="F0AB00"/>
                </a:solidFill>
                <a:latin typeface="Arial"/>
              </a:rPr>
              <a:t>0,47 → 0,44 фиксации в секунду</a:t>
            </a:r>
          </a:p>
        </p:txBody>
      </p:sp>
      <p:sp>
        <p:nvSpPr>
          <p:cNvPr id="7" name="TextBox 6"/>
          <p:cNvSpPr txBox="1"/>
          <p:nvPr/>
        </p:nvSpPr>
        <p:spPr>
          <a:xfrm>
            <a:off x="640080" y="2857148"/>
            <a:ext cx="2398699"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два числа различаются в третьем знаке, поэтому называются порознь и по ярлыкам: без подсказки — 0,47, с подсказкой — 0,44</a:t>
            </a:r>
          </a:p>
        </p:txBody>
      </p:sp>
      <p:sp>
        <p:nvSpPr>
          <p:cNvPr id="8" name="Rounded Rectangle 7"/>
          <p:cNvSpPr/>
          <p:nvPr/>
        </p:nvSpPr>
        <p:spPr>
          <a:xfrm>
            <a:off x="3340531" y="1335024"/>
            <a:ext cx="2673019" cy="2398636"/>
          </a:xfrm>
          <a:prstGeom prst="roundRect">
            <a:avLst>
              <a:gd name="adj" fmla="val 12707"/>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ДАЛО</a:t>
            </a:r>
          </a:p>
        </p:txBody>
      </p:sp>
      <p:sp>
        <p:nvSpPr>
          <p:cNvPr id="10" name="TextBox 9"/>
          <p:cNvSpPr txBox="1"/>
          <p:nvPr/>
        </p:nvSpPr>
        <p:spPr>
          <a:xfrm>
            <a:off x="3477691"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указание, куда смотреть</a:t>
            </a:r>
          </a:p>
        </p:txBody>
      </p:sp>
      <p:sp>
        <p:nvSpPr>
          <p:cNvPr id="11" name="Rounded Rectangle 10"/>
          <p:cNvSpPr/>
          <p:nvPr/>
        </p:nvSpPr>
        <p:spPr>
          <a:xfrm>
            <a:off x="6178143" y="1335024"/>
            <a:ext cx="2673019" cy="2398636"/>
          </a:xfrm>
          <a:prstGeom prst="roundRect">
            <a:avLst>
              <a:gd name="adj" fmla="val 12707"/>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ПОТРЕБОВАЛО</a:t>
            </a:r>
          </a:p>
        </p:txBody>
      </p:sp>
      <p:sp>
        <p:nvSpPr>
          <p:cNvPr id="13" name="TextBox 12"/>
          <p:cNvSpPr txBox="1"/>
          <p:nvPr/>
        </p:nvSpPr>
        <p:spPr>
          <a:xfrm>
            <a:off x="6315303"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чтобы указание было верным</a:t>
            </a:r>
          </a:p>
        </p:txBody>
      </p:sp>
      <p:sp>
        <p:nvSpPr>
          <p:cNvPr id="14" name="Rounded Rectangle 13"/>
          <p:cNvSpPr/>
          <p:nvPr/>
        </p:nvSpPr>
        <p:spPr>
          <a:xfrm>
            <a:off x="9015755" y="1335024"/>
            <a:ext cx="2673019" cy="2398636"/>
          </a:xfrm>
          <a:prstGeom prst="roundRect">
            <a:avLst>
              <a:gd name="adj" fmla="val 12707"/>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СУММЕ</a:t>
            </a:r>
          </a:p>
        </p:txBody>
      </p:sp>
      <p:sp>
        <p:nvSpPr>
          <p:cNvPr id="16" name="TextBox 15"/>
          <p:cNvSpPr txBox="1"/>
          <p:nvPr/>
        </p:nvSpPr>
        <p:spPr>
          <a:xfrm>
            <a:off x="9152915" y="1690796"/>
            <a:ext cx="2398699" cy="596748"/>
          </a:xfrm>
          <a:prstGeom prst="rect">
            <a:avLst/>
          </a:prstGeom>
          <a:noFill/>
        </p:spPr>
        <p:txBody>
          <a:bodyPr wrap="square" lIns="0" rIns="0" tIns="0" bIns="0" anchor="t">
            <a:spAutoFit/>
          </a:bodyPr>
          <a:lstStyle/>
          <a:p>
            <a:pPr algn="l">
              <a:lnSpc>
                <a:spcPct val="108000"/>
              </a:lnSpc>
            </a:pPr>
            <a:r>
              <a:rPr sz="1100" b="1" i="0">
                <a:solidFill>
                  <a:srgbClr val="21295C"/>
                </a:solidFill>
                <a:latin typeface="Arial"/>
              </a:rPr>
              <a:t>у профессиональных читателей программы скрининга результат стал хуже, чем без инструмента</a:t>
            </a:r>
          </a:p>
        </p:txBody>
      </p:sp>
      <p:sp>
        <p:nvSpPr>
          <p:cNvPr id="17" name="Rounded Rectangle 16"/>
          <p:cNvSpPr/>
          <p:nvPr/>
        </p:nvSpPr>
        <p:spPr>
          <a:xfrm>
            <a:off x="374904" y="3825100"/>
            <a:ext cx="11441887" cy="2411107"/>
          </a:xfrm>
          <a:prstGeom prst="roundRect">
            <a:avLst>
              <a:gd name="adj" fmla="val 1264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9496" y="3916540"/>
            <a:ext cx="11112703" cy="2319667"/>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Механизм измерен, а не предположен: на поражениях, пропущенных моделью, взгляд читателя задерживался реже.</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переехало.</a:t>
            </a:r>
            <a:r>
              <a:rPr sz="1500" b="0" i="0">
                <a:solidFill>
                  <a:srgbClr val="21295C"/>
                </a:solidFill>
                <a:latin typeface="Arial"/>
              </a:rPr>
              <a:t> Нагрузка на том же месте упала — и здесь это цена, а не польза: тот же читатель на том же месте стал осматривать снимок меньше. Второй формой — сместилась цена ошибки: пропуск модели стал пропуском читателя.</a:t>
            </a:r>
          </a:p>
          <a:p>
            <a:pPr algn="l">
              <a:lnSpc>
                <a:spcPct val="126000"/>
              </a:lnSpc>
              <a:spcBef>
                <a:spcPts val="700"/>
              </a:spcBef>
            </a:pPr>
            <a:r>
              <a:rPr sz="1500" b="0" i="0">
                <a:solidFill>
                  <a:srgbClr val="21295C"/>
                </a:solidFill>
                <a:latin typeface="Arial"/>
              </a:rPr>
              <a:t/>
            </a:r>
            <a:r>
              <a:rPr sz="1500" b="0" i="0">
                <a:solidFill>
                  <a:srgbClr val="21295C"/>
                </a:solidFill>
                <a:latin typeface="Arial"/>
              </a:rPr>
              <a:t>«Быть внимательнее» здесь не мера: подсказка меняет не мнение, а то, что человек физически успевает увидеть.</a:t>
            </a:r>
          </a:p>
          <a:p>
            <a:pPr algn="l">
              <a:lnSpc>
                <a:spcPct val="126000"/>
              </a:lnSpc>
              <a:spcBef>
                <a:spcPts val="700"/>
              </a:spcBef>
            </a:pPr>
            <a:r>
              <a:rPr sz="1200" b="0" i="0">
                <a:solidFill>
                  <a:srgbClr val="21295C"/>
                </a:solidFill>
                <a:latin typeface="Arial"/>
              </a:rPr>
              <a:t/>
            </a:r>
            <a:r>
              <a:rPr sz="1200" b="0" i="1">
                <a:solidFill>
                  <a:srgbClr val="1C7293"/>
                </a:solidFill>
                <a:latin typeface="Arial"/>
              </a:rPr>
              <a:t>Исполнитель остался тот же и стал хуже — ни одна из прежних форм словаря этого не описывает.</a:t>
            </a:r>
          </a:p>
        </p:txBody>
      </p:sp>
      <p:sp>
        <p:nvSpPr>
          <p:cNvPr id="19" name="Rectangle 18"/>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Та же публикация — Taib A., Partridge G., Phillips P., Chen Y. и соавт., Radiology 2026;320(1):e252590, DOI 10.1148/radiol.252590, PMID 42446361</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Тот же замер, обратный знак: подсказка верна, поиск сузился, результат вырос</a:t>
            </a:r>
          </a:p>
        </p:txBody>
      </p:sp>
      <p:sp>
        <p:nvSpPr>
          <p:cNvPr id="4" name="Rounded Rectangle 3"/>
          <p:cNvSpPr/>
          <p:nvPr/>
        </p:nvSpPr>
        <p:spPr>
          <a:xfrm>
            <a:off x="502920" y="1335024"/>
            <a:ext cx="5510631" cy="1462500"/>
          </a:xfrm>
          <a:prstGeom prst="roundRect">
            <a:avLst>
              <a:gd name="adj" fmla="val 2084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КАК СМОТРЕЛИ: ОХВАТ ПЛОЩАДИ СНИМКА ФИКСАЦИЯМИ, БЕЗ МОДЕЛИ → С МОДЕЛЬЮ</a:t>
            </a:r>
          </a:p>
        </p:txBody>
      </p:sp>
      <p:sp>
        <p:nvSpPr>
          <p:cNvPr id="6" name="TextBox 5"/>
          <p:cNvSpPr txBox="1"/>
          <p:nvPr/>
        </p:nvSpPr>
        <p:spPr>
          <a:xfrm>
            <a:off x="640080" y="1863689"/>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11,1 → 9,5 из ста</a:t>
            </a:r>
          </a:p>
        </p:txBody>
      </p:sp>
      <p:sp>
        <p:nvSpPr>
          <p:cNvPr id="7" name="TextBox 6"/>
          <p:cNvSpPr txBox="1"/>
          <p:nvPr/>
        </p:nvSpPr>
        <p:spPr>
          <a:xfrm>
            <a:off x="640080" y="2290688"/>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доля площади груди, по которой прошёл взгляд; поиск сузился — и здесь это выигрыш</a:t>
            </a:r>
          </a:p>
        </p:txBody>
      </p:sp>
      <p:sp>
        <p:nvSpPr>
          <p:cNvPr id="8" name="Rounded Rectangle 7"/>
          <p:cNvSpPr/>
          <p:nvPr/>
        </p:nvSpPr>
        <p:spPr>
          <a:xfrm>
            <a:off x="6178143" y="1335024"/>
            <a:ext cx="5510631" cy="1462500"/>
          </a:xfrm>
          <a:prstGeom prst="roundRect">
            <a:avLst>
              <a:gd name="adj" fmla="val 20841"/>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ЧТО ПОЛУЧИЛОСЬ: ПЛОЩАДЬ ПОД КРИВОЙ, БЕЗ МОДЕЛИ → С МОДЕЛЬЮ</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0,93 → 0,97</a:t>
            </a:r>
          </a:p>
        </p:txBody>
      </p:sp>
      <p:sp>
        <p:nvSpPr>
          <p:cNvPr id="11" name="TextBox 10"/>
          <p:cNvSpPr txBox="1"/>
          <p:nvPr/>
        </p:nvSpPr>
        <p:spPr>
          <a:xfrm>
            <a:off x="6315303"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мера различения больного и здорового; чувствительность выросла с 81,7 до 87,2 из ста, но незначимо, а время чтения не изменилось</a:t>
            </a:r>
          </a:p>
        </p:txBody>
      </p:sp>
      <p:sp>
        <p:nvSpPr>
          <p:cNvPr id="12" name="Rounded Rectangle 11"/>
          <p:cNvSpPr/>
          <p:nvPr/>
        </p:nvSpPr>
        <p:spPr>
          <a:xfrm>
            <a:off x="374904" y="2888964"/>
            <a:ext cx="11441887" cy="3347243"/>
          </a:xfrm>
          <a:prstGeom prst="roundRect">
            <a:avLst>
              <a:gd name="adj" fmla="val 910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2980404"/>
            <a:ext cx="11112703" cy="3255803"/>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То же измерение, другая работа — и обратный знак. Там подсказка была намеренно ложной; здесь это обычная работа одобренной системы.</a:t>
            </a:r>
          </a:p>
          <a:p>
            <a:pPr algn="l">
              <a:lnSpc>
                <a:spcPct val="126000"/>
              </a:lnSpc>
              <a:spcBef>
                <a:spcPts val="700"/>
              </a:spcBef>
            </a:pPr>
            <a:r>
              <a:rPr sz="1500" b="0" i="0">
                <a:solidFill>
                  <a:srgbClr val="21295C"/>
                </a:solidFill>
                <a:latin typeface="Arial"/>
              </a:rPr>
              <a:t/>
            </a:r>
            <a:r>
              <a:rPr sz="1500" b="1" i="0">
                <a:solidFill>
                  <a:srgbClr val="21295C"/>
                </a:solidFill>
                <a:latin typeface="Arial"/>
              </a:rPr>
              <a:t>Сужение поиска само по себе ни польза, ни вред.</a:t>
            </a:r>
            <a:r>
              <a:rPr sz="1500" b="0" i="0">
                <a:solidFill>
                  <a:srgbClr val="21295C"/>
                </a:solidFill>
                <a:latin typeface="Arial"/>
              </a:rPr>
              <a:t> Знак задаёт правота подсказки, и по самому сигналу различить нельзя.</a:t>
            </a:r>
          </a:p>
          <a:p>
            <a:pPr algn="l">
              <a:lnSpc>
                <a:spcPct val="126000"/>
              </a:lnSpc>
              <a:spcBef>
                <a:spcPts val="700"/>
              </a:spcBef>
            </a:pPr>
            <a:r>
              <a:rPr sz="1500" b="0" i="0">
                <a:solidFill>
                  <a:srgbClr val="21295C"/>
                </a:solidFill>
                <a:latin typeface="Arial"/>
              </a:rPr>
              <a:t/>
            </a:r>
            <a:r>
              <a:rPr sz="1500" b="0" i="0">
                <a:solidFill>
                  <a:srgbClr val="21295C"/>
                </a:solidFill>
                <a:latin typeface="Arial"/>
              </a:rPr>
              <a:t>Выросла именно площадь под кривой. Чувствительность выросла </a:t>
            </a:r>
            <a:r>
              <a:rPr sz="1500" b="1" i="0">
                <a:solidFill>
                  <a:srgbClr val="21295C"/>
                </a:solidFill>
                <a:latin typeface="Arial"/>
              </a:rPr>
              <a:t>незначимо</a:t>
            </a:r>
            <a:r>
              <a:rPr sz="1500" b="0" i="0">
                <a:solidFill>
                  <a:srgbClr val="21295C"/>
                </a:solidFill>
                <a:latin typeface="Arial"/>
              </a:rPr>
              <a:t> — «модель сделала врачей лучше» данными не держится.</a:t>
            </a:r>
          </a:p>
          <a:p>
            <a:pPr algn="l">
              <a:lnSpc>
                <a:spcPct val="126000"/>
              </a:lnSpc>
              <a:spcBef>
                <a:spcPts val="700"/>
              </a:spcBef>
            </a:pPr>
            <a:r>
              <a:rPr sz="1200" b="0" i="0">
                <a:solidFill>
                  <a:srgbClr val="21295C"/>
                </a:solidFill>
                <a:latin typeface="Arial"/>
              </a:rPr>
              <a:t/>
            </a:r>
            <a:r>
              <a:rPr sz="1200" b="0" i="1">
                <a:solidFill>
                  <a:srgbClr val="1C7293"/>
                </a:solidFill>
                <a:latin typeface="Arial"/>
              </a:rPr>
              <a:t>Двенадцать радиологов скрининга из десяти учреждений, 150 исследований, 3 600 прочтений — 900 на каждую долю внутри одного режима. Лабораторное чтение, не живой скрининг: набор обогащён раками до половины. У работы названы институциональные интересы с производителями систем.</a:t>
            </a:r>
          </a:p>
        </p:txBody>
      </p:sp>
      <p:sp>
        <p:nvSpPr>
          <p:cNvPr id="14" name="Rectangle 13"/>
          <p:cNvSpPr/>
          <p:nvPr/>
        </p:nvSpPr>
        <p:spPr>
          <a:xfrm>
            <a:off x="502920" y="1179576"/>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Gommers J., Verboom E., Duvivier K., Sechopoulos I. и соавт., Radiology 2025;316(1):e243688, DOI 10.1148/radiol.243688, PMID 40626877 — ретроспективное мультиридерное чтение с замером взгляда; институциональные интересы раскрыты авторами</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Одна подсказка с двумя знаками</a:t>
            </a:r>
          </a:p>
        </p:txBody>
      </p:sp>
      <p:sp>
        <p:nvSpPr>
          <p:cNvPr id="4" name="Rounded Rectangle 3"/>
          <p:cNvSpPr/>
          <p:nvPr/>
        </p:nvSpPr>
        <p:spPr>
          <a:xfrm>
            <a:off x="502920" y="1335024"/>
            <a:ext cx="3618890" cy="1310355"/>
          </a:xfrm>
          <a:prstGeom prst="roundRect">
            <a:avLst>
              <a:gd name="adj" fmla="val 2326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ДАЛО</a:t>
            </a:r>
          </a:p>
        </p:txBody>
      </p:sp>
      <p:sp>
        <p:nvSpPr>
          <p:cNvPr id="6" name="TextBox 5"/>
          <p:cNvSpPr txBox="1"/>
          <p:nvPr/>
        </p:nvSpPr>
        <p:spPr>
          <a:xfrm>
            <a:off x="640080"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прибавку при верной подсказке</a:t>
            </a:r>
          </a:p>
        </p:txBody>
      </p:sp>
      <p:sp>
        <p:nvSpPr>
          <p:cNvPr id="7" name="Rounded Rectangle 6"/>
          <p:cNvSpPr/>
          <p:nvPr/>
        </p:nvSpPr>
        <p:spPr>
          <a:xfrm>
            <a:off x="4286402" y="1335024"/>
            <a:ext cx="3618890" cy="1310355"/>
          </a:xfrm>
          <a:prstGeom prst="roundRect">
            <a:avLst>
              <a:gd name="adj" fmla="val 2326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ПОТРЕБОВАЛО</a:t>
            </a:r>
          </a:p>
        </p:txBody>
      </p:sp>
      <p:sp>
        <p:nvSpPr>
          <p:cNvPr id="9" name="TextBox 8"/>
          <p:cNvSpPr txBox="1"/>
          <p:nvPr/>
        </p:nvSpPr>
        <p:spPr>
          <a:xfrm>
            <a:off x="4423562"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равной потери при неверной</a:t>
            </a:r>
          </a:p>
        </p:txBody>
      </p:sp>
      <p:sp>
        <p:nvSpPr>
          <p:cNvPr id="10" name="Rounded Rectangle 9"/>
          <p:cNvSpPr/>
          <p:nvPr/>
        </p:nvSpPr>
        <p:spPr>
          <a:xfrm>
            <a:off x="8069884" y="1335024"/>
            <a:ext cx="3618890" cy="1310355"/>
          </a:xfrm>
          <a:prstGeom prst="roundRect">
            <a:avLst>
              <a:gd name="adj" fmla="val 23260"/>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СУММЕ</a:t>
            </a:r>
          </a:p>
        </p:txBody>
      </p:sp>
      <p:sp>
        <p:nvSpPr>
          <p:cNvPr id="12" name="TextBox 11"/>
          <p:cNvSpPr txBox="1"/>
          <p:nvPr/>
        </p:nvSpPr>
        <p:spPr>
          <a:xfrm>
            <a:off x="8207044" y="1690796"/>
            <a:ext cx="3344570"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средняя та же, разброс вырос</a:t>
            </a:r>
          </a:p>
        </p:txBody>
      </p:sp>
      <p:sp>
        <p:nvSpPr>
          <p:cNvPr id="13" name="Rounded Rectangle 12"/>
          <p:cNvSpPr/>
          <p:nvPr/>
        </p:nvSpPr>
        <p:spPr>
          <a:xfrm>
            <a:off x="374904" y="2736819"/>
            <a:ext cx="11441887" cy="3499388"/>
          </a:xfrm>
          <a:prstGeom prst="roundRect">
            <a:avLst>
              <a:gd name="adj" fmla="val 871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9496" y="2828259"/>
            <a:ext cx="11112703" cy="3407948"/>
          </a:xfrm>
          <a:prstGeom prst="rect">
            <a:avLst/>
          </a:prstGeom>
          <a:noFill/>
        </p:spPr>
        <p:txBody>
          <a:bodyPr wrap="square" lIns="0" rIns="0" tIns="0" bIns="0" anchor="t">
            <a:spAutoFit/>
          </a:bodyPr>
          <a:lstStyle/>
          <a:p>
            <a:pPr algn="l">
              <a:lnSpc>
                <a:spcPct val="126000"/>
              </a:lnSpc>
            </a:pPr>
            <a:r>
              <a:rPr sz="1290" b="0" i="0">
                <a:solidFill>
                  <a:srgbClr val="21295C"/>
                </a:solidFill>
                <a:latin typeface="Arial"/>
              </a:rPr>
              <a:t>Подсказка по оцифрованному срезу в патологии. То же — но теперь не на взгляде, а на решении.</a:t>
            </a:r>
          </a:p>
          <a:p>
            <a:pPr algn="l">
              <a:lnSpc>
                <a:spcPct val="126000"/>
              </a:lnSpc>
              <a:spcBef>
                <a:spcPts val="700"/>
              </a:spcBef>
            </a:pPr>
            <a:r>
              <a:rPr sz="1290" b="0" i="0">
                <a:solidFill>
                  <a:srgbClr val="21295C"/>
                </a:solidFill>
                <a:latin typeface="Arial"/>
              </a:rPr>
              <a:t/>
            </a:r>
            <a:r>
              <a:rPr sz="1290" b="1" i="0">
                <a:solidFill>
                  <a:srgbClr val="21295C"/>
                </a:solidFill>
                <a:latin typeface="Arial"/>
              </a:rPr>
              <a:t>Цена обеих ошибок.</a:t>
            </a:r>
            <a:r>
              <a:rPr sz="1290" b="0" i="0">
                <a:solidFill>
                  <a:srgbClr val="21295C"/>
                </a:solidFill>
                <a:latin typeface="Arial"/>
              </a:rPr>
              <a:t> Спутать два вида опухоли печени — другое лечение и другой прогноз. Лишняя перепроверка — время специалиста и отложенное решение.</a:t>
            </a:r>
          </a:p>
          <a:p>
            <a:pPr algn="l">
              <a:lnSpc>
                <a:spcPct val="126000"/>
              </a:lnSpc>
              <a:spcBef>
                <a:spcPts val="700"/>
              </a:spcBef>
            </a:pPr>
            <a:r>
              <a:rPr sz="1290" b="0" i="0">
                <a:solidFill>
                  <a:srgbClr val="21295C"/>
                </a:solidFill>
                <a:latin typeface="Arial"/>
              </a:rPr>
              <a:t/>
            </a:r>
            <a:r>
              <a:rPr sz="1290" b="1" i="0">
                <a:solidFill>
                  <a:srgbClr val="21295C"/>
                </a:solidFill>
                <a:latin typeface="Arial"/>
              </a:rPr>
              <a:t>Оба классических режима:</a:t>
            </a:r>
            <a:r>
              <a:rPr sz="1290" b="0" i="0">
                <a:solidFill>
                  <a:srgbClr val="21295C"/>
                </a:solidFill>
                <a:latin typeface="Arial"/>
              </a:rPr>
              <a:t> чтение среза одним патологом; второе мнение субспециалиста. Чисел у них на кадре нет — названы, но не посчитаны.</a:t>
            </a:r>
          </a:p>
          <a:p>
            <a:pPr algn="l">
              <a:lnSpc>
                <a:spcPct val="126000"/>
              </a:lnSpc>
              <a:spcBef>
                <a:spcPts val="700"/>
              </a:spcBef>
            </a:pPr>
            <a:r>
              <a:rPr sz="1290" b="0" i="0">
                <a:solidFill>
                  <a:srgbClr val="21295C"/>
                </a:solidFill>
                <a:latin typeface="Arial"/>
              </a:rPr>
              <a:t/>
            </a:r>
            <a:r>
              <a:rPr sz="1290" b="1" i="0">
                <a:solidFill>
                  <a:srgbClr val="21295C"/>
                </a:solidFill>
                <a:latin typeface="Arial"/>
              </a:rPr>
              <a:t>Модель против них.</a:t>
            </a:r>
            <a:r>
              <a:rPr sz="1290" b="0" i="0">
                <a:solidFill>
                  <a:srgbClr val="21295C"/>
                </a:solidFill>
                <a:latin typeface="Arial"/>
              </a:rPr>
              <a:t> Когда модель права, шансы верного ответа растут примерно вчетверо; когда неправа — падают примерно вчетверо. На всех уровнях опыта и на случаях любой сложности одинаково. </a:t>
            </a:r>
            <a:r>
              <a:rPr sz="1290" b="1" i="0">
                <a:solidFill>
                  <a:srgbClr val="21295C"/>
                </a:solidFill>
                <a:latin typeface="Arial"/>
              </a:rPr>
              <a:t>А на группе в целом, без разделения на правоту модели, прибавка незначима</a:t>
            </a:r>
            <a:r>
              <a:rPr sz="1290" b="0" i="0">
                <a:solidFill>
                  <a:srgbClr val="21295C"/>
                </a:solidFill>
                <a:latin typeface="Arial"/>
              </a:rPr>
              <a:t> — отчёт о внедрении с одним числом показал бы «эффекта нет» там, где эффект велик в обе стороны.</a:t>
            </a:r>
          </a:p>
          <a:p>
            <a:pPr algn="l">
              <a:lnSpc>
                <a:spcPct val="126000"/>
              </a:lnSpc>
              <a:spcBef>
                <a:spcPts val="700"/>
              </a:spcBef>
            </a:pPr>
            <a:r>
              <a:rPr sz="1290" b="0" i="0">
                <a:solidFill>
                  <a:srgbClr val="21295C"/>
                </a:solidFill>
                <a:latin typeface="Arial"/>
              </a:rPr>
              <a:t/>
            </a:r>
            <a:r>
              <a:rPr sz="1290" b="1" i="0">
                <a:solidFill>
                  <a:srgbClr val="21295C"/>
                </a:solidFill>
                <a:latin typeface="Arial"/>
              </a:rPr>
              <a:t>Что переехало.</a:t>
            </a:r>
            <a:r>
              <a:rPr sz="1290" b="0" i="0">
                <a:solidFill>
                  <a:srgbClr val="21295C"/>
                </a:solidFill>
                <a:latin typeface="Arial"/>
              </a:rPr>
              <a:t> Сместилась цена ошибки: ошибка модели стала ошибкой врача.</a:t>
            </a:r>
          </a:p>
          <a:p>
            <a:pPr algn="l">
              <a:lnSpc>
                <a:spcPct val="126000"/>
              </a:lnSpc>
              <a:spcBef>
                <a:spcPts val="700"/>
              </a:spcBef>
            </a:pPr>
            <a:r>
              <a:rPr sz="1290" b="0" i="0">
                <a:solidFill>
                  <a:srgbClr val="21295C"/>
                </a:solidFill>
                <a:latin typeface="Arial"/>
              </a:rPr>
              <a:t/>
            </a:r>
            <a:r>
              <a:rPr sz="1290" b="0" i="0">
                <a:solidFill>
                  <a:srgbClr val="21295C"/>
                </a:solidFill>
                <a:latin typeface="Arial"/>
              </a:rPr>
              <a:t>Рядом, другим жанром: по сводке систем поддержки врачебных решений неверная подсказка повышает риск неверного решения на </a:t>
            </a:r>
            <a:r>
              <a:rPr sz="1290" b="1" i="0">
                <a:solidFill>
                  <a:srgbClr val="21295C"/>
                </a:solidFill>
                <a:latin typeface="Arial"/>
              </a:rPr>
              <a:t>26 процентов</a:t>
            </a:r>
            <a:r>
              <a:rPr sz="1290" b="0" i="0">
                <a:solidFill>
                  <a:srgbClr val="21295C"/>
                </a:solidFill>
                <a:latin typeface="Arial"/>
              </a:rPr>
              <a:t>; обзор включил 74 исследования из 13 821 просмотренного. </a:t>
            </a:r>
            <a:r>
              <a:rPr sz="1290" b="0" i="1">
                <a:solidFill>
                  <a:srgbClr val="21295C"/>
                </a:solidFill>
                <a:latin typeface="Arial"/>
              </a:rPr>
              <a:t>В той совокупности много систем на правилах, а не обученных моделей.</a:t>
            </a:r>
          </a:p>
          <a:p>
            <a:pPr algn="l">
              <a:lnSpc>
                <a:spcPct val="126000"/>
              </a:lnSpc>
              <a:spcBef>
                <a:spcPts val="700"/>
              </a:spcBef>
            </a:pPr>
            <a:r>
              <a:rPr sz="1030" b="0" i="0">
                <a:solidFill>
                  <a:srgbClr val="21295C"/>
                </a:solidFill>
                <a:latin typeface="Arial"/>
              </a:rPr>
              <a:t/>
            </a:r>
            <a:r>
              <a:rPr sz="1030" b="0" i="1">
                <a:solidFill>
                  <a:srgbClr val="1C7293"/>
                </a:solidFill>
                <a:latin typeface="Arial"/>
              </a:rPr>
              <a:t>Ступень: смотрит вторым — подсказка выведена одновременно со срезом.</a:t>
            </a:r>
          </a:p>
        </p:txBody>
      </p:sp>
      <p:sp>
        <p:nvSpPr>
          <p:cNvPr id="15" name="Rectangle 14"/>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Kiani A. и соавт., Impact of a deep learning assistant on the histopathologic classification of liver cancer, npj Digital Medicine 2020, PMC7044422 — разбор</a:t>
            </a:r>
            <a:r>
              <a:rPr sz="1100" b="0" i="1">
                <a:solidFill>
                  <a:srgbClr val="1C7293"/>
                </a:solidFill>
                <a:latin typeface="Arial"/>
              </a:rPr>
              <a:t> · </a:t>
            </a:r>
            <a:r>
              <a:rPr sz="1100" b="0" i="1">
                <a:solidFill>
                  <a:srgbClr val="1C7293"/>
                </a:solidFill>
                <a:latin typeface="Arial"/>
              </a:rPr>
              <a:t>Goddard K., Roudsari A., Wyatt J., Automation bias: a systematic review of frequency, effect mediators, and mitigators, JAMIA 2012;19(1):121–127 — обзор</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Измеренная тройка</a:t>
            </a:r>
          </a:p>
        </p:txBody>
      </p:sp>
      <p:sp>
        <p:nvSpPr>
          <p:cNvPr id="4" name="Rounded Rectangle 3"/>
          <p:cNvSpPr/>
          <p:nvPr/>
        </p:nvSpPr>
        <p:spPr>
          <a:xfrm>
            <a:off x="502920" y="1335024"/>
            <a:ext cx="3618890" cy="1474446"/>
          </a:xfrm>
          <a:prstGeom prst="roundRect">
            <a:avLst>
              <a:gd name="adj" fmla="val 2067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МОДЕЛЬ ОДНА</a:t>
            </a:r>
          </a:p>
        </p:txBody>
      </p:sp>
      <p:sp>
        <p:nvSpPr>
          <p:cNvPr id="6" name="TextBox 5"/>
          <p:cNvSpPr txBox="1"/>
          <p:nvPr/>
        </p:nvSpPr>
        <p:spPr>
          <a:xfrm>
            <a:off x="640080"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92 из ста</a:t>
            </a:r>
          </a:p>
        </p:txBody>
      </p:sp>
      <p:sp>
        <p:nvSpPr>
          <p:cNvPr id="7" name="TextBox 6"/>
          <p:cNvSpPr txBox="1"/>
          <p:nvPr/>
        </p:nvSpPr>
        <p:spPr>
          <a:xfrm>
            <a:off x="640080" y="2117795"/>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отдельный прогон по тем же задачам — наблюдательное дополнение, равноправной случайной ветвью он не был</a:t>
            </a:r>
          </a:p>
        </p:txBody>
      </p:sp>
      <p:sp>
        <p:nvSpPr>
          <p:cNvPr id="8" name="Rounded Rectangle 7"/>
          <p:cNvSpPr/>
          <p:nvPr/>
        </p:nvSpPr>
        <p:spPr>
          <a:xfrm>
            <a:off x="4286402" y="1335024"/>
            <a:ext cx="3618890" cy="1474446"/>
          </a:xfrm>
          <a:prstGeom prst="roundRect">
            <a:avLst>
              <a:gd name="adj" fmla="val 2067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ВРАЧ ОДИН, СО СПРАВОЧНИКАМИ</a:t>
            </a:r>
          </a:p>
        </p:txBody>
      </p:sp>
      <p:sp>
        <p:nvSpPr>
          <p:cNvPr id="10" name="TextBox 9"/>
          <p:cNvSpPr txBox="1"/>
          <p:nvPr/>
        </p:nvSpPr>
        <p:spPr>
          <a:xfrm>
            <a:off x="4423562"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74 из ста</a:t>
            </a:r>
          </a:p>
        </p:txBody>
      </p:sp>
      <p:sp>
        <p:nvSpPr>
          <p:cNvPr id="11" name="TextBox 10"/>
          <p:cNvSpPr txBox="1"/>
          <p:nvPr/>
        </p:nvSpPr>
        <p:spPr>
          <a:xfrm>
            <a:off x="4423562" y="2117795"/>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привычные источники: справочники, поиск, собственная память — это база сравнения</a:t>
            </a:r>
          </a:p>
        </p:txBody>
      </p:sp>
      <p:sp>
        <p:nvSpPr>
          <p:cNvPr id="12" name="Rounded Rectangle 11"/>
          <p:cNvSpPr/>
          <p:nvPr/>
        </p:nvSpPr>
        <p:spPr>
          <a:xfrm>
            <a:off x="8069884" y="1335024"/>
            <a:ext cx="3618890" cy="1474446"/>
          </a:xfrm>
          <a:prstGeom prst="roundRect">
            <a:avLst>
              <a:gd name="adj" fmla="val 2067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ВРАЧ ПОВЕРХ МОДЕЛИ</a:t>
            </a:r>
          </a:p>
        </p:txBody>
      </p:sp>
      <p:sp>
        <p:nvSpPr>
          <p:cNvPr id="14" name="TextBox 13"/>
          <p:cNvSpPr txBox="1"/>
          <p:nvPr/>
        </p:nvSpPr>
        <p:spPr>
          <a:xfrm>
            <a:off x="8207044" y="169079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76 из ста</a:t>
            </a:r>
          </a:p>
        </p:txBody>
      </p:sp>
      <p:sp>
        <p:nvSpPr>
          <p:cNvPr id="15" name="TextBox 14"/>
          <p:cNvSpPr txBox="1"/>
          <p:nvPr/>
        </p:nvSpPr>
        <p:spPr>
          <a:xfrm>
            <a:off x="8207044" y="2117795"/>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разница с предыдущей плашкой — два пункта, и она незначима: интервал от −4 до 8 пунктов</a:t>
            </a:r>
          </a:p>
        </p:txBody>
      </p:sp>
      <p:sp>
        <p:nvSpPr>
          <p:cNvPr id="16" name="Rounded Rectangle 15"/>
          <p:cNvSpPr/>
          <p:nvPr/>
        </p:nvSpPr>
        <p:spPr>
          <a:xfrm>
            <a:off x="374904" y="2900910"/>
            <a:ext cx="11441887" cy="3335297"/>
          </a:xfrm>
          <a:prstGeom prst="roundRect">
            <a:avLst>
              <a:gd name="adj" fmla="val 91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2992350"/>
            <a:ext cx="11112703" cy="3243857"/>
          </a:xfrm>
          <a:prstGeom prst="rect">
            <a:avLst/>
          </a:prstGeom>
          <a:noFill/>
        </p:spPr>
        <p:txBody>
          <a:bodyPr wrap="square" lIns="0" rIns="0" tIns="0" bIns="0" anchor="t">
            <a:spAutoFit/>
          </a:bodyPr>
          <a:lstStyle/>
          <a:p>
            <a:pPr algn="l">
              <a:lnSpc>
                <a:spcPct val="126000"/>
              </a:lnSpc>
            </a:pPr>
            <a:r>
              <a:rPr sz="1320" b="0" i="0">
                <a:solidFill>
                  <a:srgbClr val="21295C"/>
                </a:solidFill>
                <a:latin typeface="Arial"/>
              </a:rPr>
              <a:t>Три числа на одних и тех же задачах: модель одна, врач один, врач с моделью. А может, пара всё-таки лучше человека без модели?</a:t>
            </a:r>
          </a:p>
          <a:p>
            <a:pPr algn="l">
              <a:lnSpc>
                <a:spcPct val="126000"/>
              </a:lnSpc>
              <a:spcBef>
                <a:spcPts val="700"/>
              </a:spcBef>
            </a:pPr>
            <a:r>
              <a:rPr sz="1320" b="0" i="0">
                <a:solidFill>
                  <a:srgbClr val="21295C"/>
                </a:solidFill>
                <a:latin typeface="Arial"/>
              </a:rPr>
              <a:t/>
            </a:r>
            <a:r>
              <a:rPr sz="1320" b="1" i="0">
                <a:solidFill>
                  <a:srgbClr val="21295C"/>
                </a:solidFill>
                <a:latin typeface="Arial"/>
              </a:rPr>
              <a:t>Цена обеих ошибок.</a:t>
            </a:r>
            <a:r>
              <a:rPr sz="1320" b="0" i="0">
                <a:solidFill>
                  <a:srgbClr val="21295C"/>
                </a:solidFill>
                <a:latin typeface="Arial"/>
              </a:rPr>
              <a:t> Неверный диагноз — лечение не той болезни и потерянное время. Избыточная проверка — риск самой проверки и отложенное решение.</a:t>
            </a:r>
          </a:p>
          <a:p>
            <a:pPr algn="l">
              <a:lnSpc>
                <a:spcPct val="126000"/>
              </a:lnSpc>
              <a:spcBef>
                <a:spcPts val="700"/>
              </a:spcBef>
            </a:pPr>
            <a:r>
              <a:rPr sz="1320" b="0" i="0">
                <a:solidFill>
                  <a:srgbClr val="21295C"/>
                </a:solidFill>
                <a:latin typeface="Arial"/>
              </a:rPr>
              <a:t/>
            </a:r>
            <a:r>
              <a:rPr sz="1320" b="1" i="0">
                <a:solidFill>
                  <a:srgbClr val="21295C"/>
                </a:solidFill>
                <a:latin typeface="Arial"/>
              </a:rPr>
              <a:t>Классический режим</a:t>
            </a:r>
            <a:r>
              <a:rPr sz="1320" b="0" i="0">
                <a:solidFill>
                  <a:srgbClr val="21295C"/>
                </a:solidFill>
                <a:latin typeface="Arial"/>
              </a:rPr>
              <a:t> — врач с обычными справочниками, и это база сравнения.</a:t>
            </a:r>
          </a:p>
          <a:p>
            <a:pPr algn="l">
              <a:lnSpc>
                <a:spcPct val="126000"/>
              </a:lnSpc>
              <a:spcBef>
                <a:spcPts val="700"/>
              </a:spcBef>
            </a:pPr>
            <a:r>
              <a:rPr sz="1320" b="0" i="0">
                <a:solidFill>
                  <a:srgbClr val="21295C"/>
                </a:solidFill>
                <a:latin typeface="Arial"/>
              </a:rPr>
              <a:t/>
            </a:r>
            <a:r>
              <a:rPr sz="1320" b="0" i="0">
                <a:solidFill>
                  <a:srgbClr val="21295C"/>
                </a:solidFill>
                <a:latin typeface="Arial"/>
              </a:rPr>
              <a:t>Разница между врачом одним и врачом с моделью — два пункта, и она </a:t>
            </a:r>
            <a:r>
              <a:rPr sz="1320" b="1" i="0">
                <a:solidFill>
                  <a:srgbClr val="21295C"/>
                </a:solidFill>
                <a:latin typeface="Arial"/>
              </a:rPr>
              <a:t>незначима</a:t>
            </a:r>
            <a:r>
              <a:rPr sz="1320" b="0" i="0">
                <a:solidFill>
                  <a:srgbClr val="21295C"/>
                </a:solidFill>
                <a:latin typeface="Arial"/>
              </a:rPr>
              <a:t>. Это ноль, измеренный, а не отсутствие данных.</a:t>
            </a:r>
          </a:p>
          <a:p>
            <a:pPr algn="l">
              <a:lnSpc>
                <a:spcPct val="126000"/>
              </a:lnSpc>
              <a:spcBef>
                <a:spcPts val="700"/>
              </a:spcBef>
            </a:pPr>
            <a:r>
              <a:rPr sz="1320" b="0" i="0">
                <a:solidFill>
                  <a:srgbClr val="21295C"/>
                </a:solidFill>
                <a:latin typeface="Arial"/>
              </a:rPr>
              <a:t/>
            </a:r>
            <a:r>
              <a:rPr sz="1320" b="0" i="0">
                <a:solidFill>
                  <a:srgbClr val="21295C"/>
                </a:solidFill>
                <a:latin typeface="Arial"/>
              </a:rPr>
              <a:t>Прогон «модель одна» не был равноправной случайной ветвью — он идёт </a:t>
            </a:r>
            <a:r>
              <a:rPr sz="1320" b="1" i="0">
                <a:solidFill>
                  <a:srgbClr val="21295C"/>
                </a:solidFill>
                <a:latin typeface="Arial"/>
              </a:rPr>
              <a:t>наблюдательным дополнением</a:t>
            </a:r>
            <a:r>
              <a:rPr sz="1320" b="0" i="0">
                <a:solidFill>
                  <a:srgbClr val="21295C"/>
                </a:solidFill>
                <a:latin typeface="Arial"/>
              </a:rPr>
              <a:t>, не результатом распределения.</a:t>
            </a:r>
          </a:p>
          <a:p>
            <a:pPr algn="l">
              <a:lnSpc>
                <a:spcPct val="126000"/>
              </a:lnSpc>
              <a:spcBef>
                <a:spcPts val="700"/>
              </a:spcBef>
            </a:pPr>
            <a:r>
              <a:rPr sz="1060" b="0" i="0">
                <a:solidFill>
                  <a:srgbClr val="21295C"/>
                </a:solidFill>
                <a:latin typeface="Arial"/>
              </a:rPr>
              <a:t/>
            </a:r>
            <a:r>
              <a:rPr sz="1060" b="0" i="1">
                <a:solidFill>
                  <a:srgbClr val="1C7293"/>
                </a:solidFill>
                <a:latin typeface="Arial"/>
              </a:rPr>
              <a:t>Пятьдесят врачей, из них 44 терапевта, неотложная помощь — пять человек, семейная медицина — один; медиана пять случаев на врача. Виньетки по реальным случаям, не исходы пациентов: никто не проверял, выздоровел ли кто-нибудь.</a:t>
            </a:r>
          </a:p>
          <a:p>
            <a:pPr algn="l">
              <a:lnSpc>
                <a:spcPct val="126000"/>
              </a:lnSpc>
              <a:spcBef>
                <a:spcPts val="700"/>
              </a:spcBef>
            </a:pPr>
            <a:r>
              <a:rPr sz="1320" b="0" i="0">
                <a:solidFill>
                  <a:srgbClr val="21295C"/>
                </a:solidFill>
                <a:latin typeface="Arial"/>
              </a:rPr>
              <a:t/>
            </a:r>
            <a:r>
              <a:rPr sz="1320" b="0" i="0">
                <a:solidFill>
                  <a:srgbClr val="21295C"/>
                </a:solidFill>
                <a:latin typeface="Arial"/>
              </a:rPr>
              <a:t>Чем это делают сегодня: </a:t>
            </a:r>
            <a:r>
              <a:rPr sz="1320" b="0" i="1">
                <a:solidFill>
                  <a:srgbClr val="21295C"/>
                </a:solidFill>
                <a:latin typeface="Arial"/>
              </a:rPr>
              <a:t>генерация на тексте</a:t>
            </a:r>
            <a:r>
              <a:rPr sz="1320" b="0" i="0">
                <a:solidFill>
                  <a:srgbClr val="21295C"/>
                </a:solidFill>
                <a:latin typeface="Arial"/>
              </a:rPr>
              <a:t> — клиническое рассуждение и вопрос-ответ со ссылками на литературу. Входит в работу </a:t>
            </a:r>
            <a:r>
              <a:rPr sz="1320" b="1" i="0">
                <a:solidFill>
                  <a:srgbClr val="21295C"/>
                </a:solidFill>
                <a:latin typeface="Arial"/>
              </a:rPr>
              <a:t>снизу</a:t>
            </a:r>
            <a:r>
              <a:rPr sz="1320" b="0" i="0">
                <a:solidFill>
                  <a:srgbClr val="21295C"/>
                </a:solidFill>
                <a:latin typeface="Arial"/>
              </a:rPr>
              <a:t>, самостоятельным употреблением врача, минуя закупку, — и поэтому никто не настраивал этот режим под процесс. Не умеет перенести свою силу на пару.</a:t>
            </a:r>
          </a:p>
        </p:txBody>
      </p:sp>
      <p:sp>
        <p:nvSpPr>
          <p:cNvPr id="18" name="Rectangle 17"/>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Goh E. и соавт., JAMA Network Open 2024;7(10):e2440969, 28 октября 2024 — рандомизированное исследование диагностического рассуждения, 50 практикующих врачей</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То же: время и что переехало</a:t>
            </a:r>
          </a:p>
        </p:txBody>
      </p:sp>
      <p:sp>
        <p:nvSpPr>
          <p:cNvPr id="4" name="Rounded Rectangle 3"/>
          <p:cNvSpPr/>
          <p:nvPr/>
        </p:nvSpPr>
        <p:spPr>
          <a:xfrm>
            <a:off x="502920" y="1335024"/>
            <a:ext cx="2673019" cy="2407438"/>
          </a:xfrm>
          <a:prstGeom prst="roundRect">
            <a:avLst>
              <a:gd name="adj" fmla="val 12660"/>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МЕДИАННОЕ ВРЕМЯ НА СЛУЧАЙ: БЕЗ МОДЕЛИ → С МОДЕЛЬЮ</a:t>
            </a:r>
          </a:p>
        </p:txBody>
      </p:sp>
      <p:sp>
        <p:nvSpPr>
          <p:cNvPr id="6" name="TextBox 5"/>
          <p:cNvSpPr txBox="1"/>
          <p:nvPr/>
        </p:nvSpPr>
        <p:spPr>
          <a:xfrm>
            <a:off x="640080" y="1863689"/>
            <a:ext cx="2398699"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565 → 519 секунд</a:t>
            </a:r>
          </a:p>
        </p:txBody>
      </p:sp>
      <p:sp>
        <p:nvSpPr>
          <p:cNvPr id="7" name="TextBox 6"/>
          <p:cNvSpPr txBox="1"/>
          <p:nvPr/>
        </p:nvSpPr>
        <p:spPr>
          <a:xfrm>
            <a:off x="640080" y="2681111"/>
            <a:ext cx="2398699" cy="924190"/>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ярлыки обязательны: 519 — это группа С моделью; без ярлыков меньшее число читается как выигрыш, а разница между группами значимости не достигает</a:t>
            </a:r>
          </a:p>
        </p:txBody>
      </p:sp>
      <p:sp>
        <p:nvSpPr>
          <p:cNvPr id="8" name="Rounded Rectangle 7"/>
          <p:cNvSpPr/>
          <p:nvPr/>
        </p:nvSpPr>
        <p:spPr>
          <a:xfrm>
            <a:off x="3340531" y="1335024"/>
            <a:ext cx="2673019" cy="2407438"/>
          </a:xfrm>
          <a:prstGeom prst="roundRect">
            <a:avLst>
              <a:gd name="adj" fmla="val 1266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ДАЛО</a:t>
            </a:r>
          </a:p>
        </p:txBody>
      </p:sp>
      <p:sp>
        <p:nvSpPr>
          <p:cNvPr id="10" name="TextBox 9"/>
          <p:cNvSpPr txBox="1"/>
          <p:nvPr/>
        </p:nvSpPr>
        <p:spPr>
          <a:xfrm>
            <a:off x="3477691"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ничего измеримого</a:t>
            </a:r>
          </a:p>
        </p:txBody>
      </p:sp>
      <p:sp>
        <p:nvSpPr>
          <p:cNvPr id="11" name="Rounded Rectangle 10"/>
          <p:cNvSpPr/>
          <p:nvPr/>
        </p:nvSpPr>
        <p:spPr>
          <a:xfrm>
            <a:off x="6178143" y="1335024"/>
            <a:ext cx="2673019" cy="2407438"/>
          </a:xfrm>
          <a:prstGeom prst="roundRect">
            <a:avLst>
              <a:gd name="adj" fmla="val 1266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ПОТРЕБОВАЛО</a:t>
            </a:r>
          </a:p>
        </p:txBody>
      </p:sp>
      <p:sp>
        <p:nvSpPr>
          <p:cNvPr id="13" name="TextBox 12"/>
          <p:cNvSpPr txBox="1"/>
          <p:nvPr/>
        </p:nvSpPr>
        <p:spPr>
          <a:xfrm>
            <a:off x="6315303" y="1690796"/>
            <a:ext cx="2398699" cy="749522"/>
          </a:xfrm>
          <a:prstGeom prst="rect">
            <a:avLst/>
          </a:prstGeom>
          <a:noFill/>
        </p:spPr>
        <p:txBody>
          <a:bodyPr wrap="square" lIns="0" rIns="0" tIns="0" bIns="0" anchor="t">
            <a:spAutoFit/>
          </a:bodyPr>
          <a:lstStyle/>
          <a:p>
            <a:pPr algn="l">
              <a:lnSpc>
                <a:spcPct val="108000"/>
              </a:lnSpc>
            </a:pPr>
            <a:r>
              <a:rPr sz="1400" b="1" i="0">
                <a:solidFill>
                  <a:srgbClr val="21295C"/>
                </a:solidFill>
                <a:latin typeface="Arial"/>
              </a:rPr>
              <a:t>доступ к инструменту для каждого врача и новый шаг внутри рассуждения</a:t>
            </a:r>
          </a:p>
        </p:txBody>
      </p:sp>
      <p:sp>
        <p:nvSpPr>
          <p:cNvPr id="14" name="Rounded Rectangle 13"/>
          <p:cNvSpPr/>
          <p:nvPr/>
        </p:nvSpPr>
        <p:spPr>
          <a:xfrm>
            <a:off x="9015755" y="1335024"/>
            <a:ext cx="2673019" cy="2407438"/>
          </a:xfrm>
          <a:prstGeom prst="roundRect">
            <a:avLst>
              <a:gd name="adj" fmla="val 1266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СУММЕ</a:t>
            </a:r>
          </a:p>
        </p:txBody>
      </p:sp>
      <p:sp>
        <p:nvSpPr>
          <p:cNvPr id="16" name="TextBox 15"/>
          <p:cNvSpPr txBox="1"/>
          <p:nvPr/>
        </p:nvSpPr>
        <p:spPr>
          <a:xfrm>
            <a:off x="9152915" y="169079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так же, как было</a:t>
            </a:r>
          </a:p>
        </p:txBody>
      </p:sp>
      <p:sp>
        <p:nvSpPr>
          <p:cNvPr id="17" name="Rounded Rectangle 16"/>
          <p:cNvSpPr/>
          <p:nvPr/>
        </p:nvSpPr>
        <p:spPr>
          <a:xfrm>
            <a:off x="374904" y="3833902"/>
            <a:ext cx="11441887" cy="2402305"/>
          </a:xfrm>
          <a:prstGeom prst="roundRect">
            <a:avLst>
              <a:gd name="adj" fmla="val 1268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9496" y="3925342"/>
            <a:ext cx="11112703" cy="231086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Разница во времени </a:t>
            </a:r>
            <a:r>
              <a:rPr sz="1500" b="1" i="0">
                <a:solidFill>
                  <a:srgbClr val="21295C"/>
                </a:solidFill>
                <a:latin typeface="Arial"/>
              </a:rPr>
              <a:t>незначима</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переехало.</a:t>
            </a:r>
            <a:r>
              <a:rPr sz="1500" b="0" i="0">
                <a:solidFill>
                  <a:srgbClr val="21295C"/>
                </a:solidFill>
                <a:latin typeface="Arial"/>
              </a:rPr>
              <a:t> Сменился исполнитель: то же место, тот же измеренный объём, другая рука. Улучшения здесь не фиксирует ни одна форма словаря.</a:t>
            </a:r>
          </a:p>
          <a:p>
            <a:pPr algn="l">
              <a:lnSpc>
                <a:spcPct val="126000"/>
              </a:lnSpc>
              <a:spcBef>
                <a:spcPts val="700"/>
              </a:spcBef>
            </a:pPr>
            <a:r>
              <a:rPr sz="1500" b="0" i="0">
                <a:solidFill>
                  <a:srgbClr val="21295C"/>
                </a:solidFill>
                <a:latin typeface="Arial"/>
              </a:rPr>
              <a:t/>
            </a:r>
            <a:r>
              <a:rPr sz="1500" b="0" i="0">
                <a:solidFill>
                  <a:srgbClr val="21295C"/>
                </a:solidFill>
                <a:latin typeface="Arial"/>
              </a:rPr>
              <a:t>«Ничего измеримого» — это не отсутствие данных, а измеренный нулевой результат при рабочей выборке.</a:t>
            </a:r>
          </a:p>
          <a:p>
            <a:pPr algn="l">
              <a:lnSpc>
                <a:spcPct val="126000"/>
              </a:lnSpc>
              <a:spcBef>
                <a:spcPts val="700"/>
              </a:spcBef>
            </a:pPr>
            <a:r>
              <a:rPr sz="1500" b="0" i="0">
                <a:solidFill>
                  <a:srgbClr val="21295C"/>
                </a:solidFill>
                <a:latin typeface="Arial"/>
              </a:rPr>
              <a:t/>
            </a:r>
            <a:r>
              <a:rPr sz="1500" b="0" i="0">
                <a:solidFill>
                  <a:srgbClr val="21295C"/>
                </a:solidFill>
                <a:latin typeface="Arial"/>
              </a:rPr>
              <a:t>Вопрос «помогает ли модель» на этом материале ответа не имеет. Имеет ответ вопрос «как именно подсказка входит в решение».</a:t>
            </a:r>
          </a:p>
          <a:p>
            <a:pPr algn="l">
              <a:lnSpc>
                <a:spcPct val="126000"/>
              </a:lnSpc>
              <a:spcBef>
                <a:spcPts val="700"/>
              </a:spcBef>
            </a:pPr>
            <a:r>
              <a:rPr sz="1200" b="0" i="0">
                <a:solidFill>
                  <a:srgbClr val="21295C"/>
                </a:solidFill>
                <a:latin typeface="Arial"/>
              </a:rPr>
              <a:t/>
            </a:r>
            <a:r>
              <a:rPr sz="1200" b="0" i="1">
                <a:solidFill>
                  <a:srgbClr val="1C7293"/>
                </a:solidFill>
                <a:latin typeface="Arial"/>
              </a:rPr>
              <a:t>Оценивалось рассуждение на задачах, не исходы пациентов.</a:t>
            </a:r>
          </a:p>
        </p:txBody>
      </p:sp>
      <p:sp>
        <p:nvSpPr>
          <p:cNvPr id="19" name="Rectangle 18"/>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Та же публикация — Goh E. и соавт., JAMA Network Open 2024;7(10):e2440969</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Контрольная линия</a:t>
            </a:r>
          </a:p>
        </p:txBody>
      </p:sp>
      <p:sp>
        <p:nvSpPr>
          <p:cNvPr id="4" name="Rounded Rectangle 3"/>
          <p:cNvSpPr/>
          <p:nvPr/>
        </p:nvSpPr>
        <p:spPr>
          <a:xfrm>
            <a:off x="502920" y="1335024"/>
            <a:ext cx="3618890" cy="1680031"/>
          </a:xfrm>
          <a:prstGeom prst="roundRect">
            <a:avLst>
              <a:gd name="adj" fmla="val 1814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ЧУВСТВИТЕЛЬНОСТЬ: ДВОЙНОЕ ЧТЕНИЕ ДВУМЯ ЛЮДЬМИ → ОДИН ЧЕЛОВЕК С МОДЕЛЬЮ</a:t>
            </a:r>
          </a:p>
        </p:txBody>
      </p:sp>
      <p:sp>
        <p:nvSpPr>
          <p:cNvPr id="6" name="TextBox 5"/>
          <p:cNvSpPr txBox="1"/>
          <p:nvPr/>
        </p:nvSpPr>
        <p:spPr>
          <a:xfrm>
            <a:off x="640080" y="1863689"/>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73,8 → 80,5 из ста</a:t>
            </a:r>
          </a:p>
        </p:txBody>
      </p:sp>
      <p:sp>
        <p:nvSpPr>
          <p:cNvPr id="7" name="TextBox 6"/>
          <p:cNvSpPr txBox="1"/>
          <p:nvPr/>
        </p:nvSpPr>
        <p:spPr>
          <a:xfrm>
            <a:off x="640080" y="2290688"/>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прибавка значима; специфичность в обоих плечах одинакова — 98,5 из ста здоровых</a:t>
            </a:r>
          </a:p>
        </p:txBody>
      </p:sp>
      <p:sp>
        <p:nvSpPr>
          <p:cNvPr id="8" name="Rounded Rectangle 7"/>
          <p:cNvSpPr/>
          <p:nvPr/>
        </p:nvSpPr>
        <p:spPr>
          <a:xfrm>
            <a:off x="4286402" y="1335024"/>
            <a:ext cx="3618890" cy="1680031"/>
          </a:xfrm>
          <a:prstGeom prst="roundRect">
            <a:avLst>
              <a:gd name="adj" fmla="val 1814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ОБЪЁМ ЧЕЛОВЕЧЕСКОГО ЧТЕНИЯ</a:t>
            </a:r>
          </a:p>
        </p:txBody>
      </p:sp>
      <p:sp>
        <p:nvSpPr>
          <p:cNvPr id="10" name="TextBox 9"/>
          <p:cNvSpPr txBox="1"/>
          <p:nvPr/>
        </p:nvSpPr>
        <p:spPr>
          <a:xfrm>
            <a:off x="4423562"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ниже на 44,3 процента</a:t>
            </a:r>
          </a:p>
        </p:txBody>
      </p:sp>
      <p:sp>
        <p:nvSpPr>
          <p:cNvPr id="11" name="TextBox 10"/>
          <p:cNvSpPr txBox="1"/>
          <p:nvPr/>
        </p:nvSpPr>
        <p:spPr>
          <a:xfrm>
            <a:off x="4423562" y="2117795"/>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промежуточный анализ безопасности той же программы: 80 033 распределённые женщины, набор на четыре с половиной месяца короче</a:t>
            </a:r>
          </a:p>
        </p:txBody>
      </p:sp>
      <p:sp>
        <p:nvSpPr>
          <p:cNvPr id="12" name="Rounded Rectangle 11"/>
          <p:cNvSpPr/>
          <p:nvPr/>
        </p:nvSpPr>
        <p:spPr>
          <a:xfrm>
            <a:off x="8069884" y="1335024"/>
            <a:ext cx="3618890" cy="1680031"/>
          </a:xfrm>
          <a:prstGeom prst="roundRect">
            <a:avLst>
              <a:gd name="adj" fmla="val 1814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БАЗА ЧУВСТВИТЕЛЬНОСТИ</a:t>
            </a:r>
          </a:p>
        </p:txBody>
      </p:sp>
      <p:sp>
        <p:nvSpPr>
          <p:cNvPr id="14" name="TextBox 13"/>
          <p:cNvSpPr txBox="1"/>
          <p:nvPr/>
        </p:nvSpPr>
        <p:spPr>
          <a:xfrm>
            <a:off x="8207044"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итоговый анализ, 105 934 женщины</a:t>
            </a:r>
          </a:p>
        </p:txBody>
      </p:sp>
      <p:sp>
        <p:nvSpPr>
          <p:cNvPr id="15" name="TextBox 14"/>
          <p:cNvSpPr txBox="1"/>
          <p:nvPr/>
        </p:nvSpPr>
        <p:spPr>
          <a:xfrm>
            <a:off x="8207044" y="2508219"/>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предрегистрированные исходы; в анализ вошли 53 043 в плечо с моделью и 52 872 в контроль</a:t>
            </a:r>
          </a:p>
        </p:txBody>
      </p:sp>
      <p:sp>
        <p:nvSpPr>
          <p:cNvPr id="16" name="Rounded Rectangle 15"/>
          <p:cNvSpPr/>
          <p:nvPr/>
        </p:nvSpPr>
        <p:spPr>
          <a:xfrm>
            <a:off x="374904" y="3106495"/>
            <a:ext cx="11441887" cy="3129712"/>
          </a:xfrm>
          <a:prstGeom prst="roundRect">
            <a:avLst>
              <a:gd name="adj" fmla="val 97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3197935"/>
            <a:ext cx="11112703" cy="3038272"/>
          </a:xfrm>
          <a:prstGeom prst="rect">
            <a:avLst/>
          </a:prstGeom>
          <a:noFill/>
        </p:spPr>
        <p:txBody>
          <a:bodyPr wrap="square" lIns="0" rIns="0" tIns="0" bIns="0" anchor="t">
            <a:spAutoFit/>
          </a:bodyPr>
          <a:lstStyle/>
          <a:p>
            <a:pPr algn="l">
              <a:lnSpc>
                <a:spcPct val="126000"/>
              </a:lnSpc>
            </a:pPr>
            <a:r>
              <a:rPr sz="1320" b="1" i="0">
                <a:solidFill>
                  <a:srgbClr val="21295C"/>
                </a:solidFill>
                <a:latin typeface="Arial"/>
              </a:rPr>
              <a:t>Цена обеих ошибок</a:t>
            </a:r>
            <a:r>
              <a:rPr sz="1320" b="0" i="0">
                <a:solidFill>
                  <a:srgbClr val="21295C"/>
                </a:solidFill>
                <a:latin typeface="Arial"/>
              </a:rPr>
              <a:t> назначена в разделе про отбор, на этой же программе: пропуск — рак, найденный позже; ложный вызов — повторные исследования и месяцы тревоги.</a:t>
            </a:r>
          </a:p>
          <a:p>
            <a:pPr algn="l">
              <a:lnSpc>
                <a:spcPct val="126000"/>
              </a:lnSpc>
              <a:spcBef>
                <a:spcPts val="700"/>
              </a:spcBef>
            </a:pPr>
            <a:r>
              <a:rPr sz="1320" b="0" i="0">
                <a:solidFill>
                  <a:srgbClr val="21295C"/>
                </a:solidFill>
                <a:latin typeface="Arial"/>
              </a:rPr>
              <a:t/>
            </a:r>
            <a:r>
              <a:rPr sz="1320" b="1" i="0">
                <a:solidFill>
                  <a:srgbClr val="21295C"/>
                </a:solidFill>
                <a:latin typeface="Arial"/>
              </a:rPr>
              <a:t>Оба классических режима.</a:t>
            </a:r>
            <a:r>
              <a:rPr sz="1320" b="0" i="0">
                <a:solidFill>
                  <a:srgbClr val="21295C"/>
                </a:solidFill>
                <a:latin typeface="Arial"/>
              </a:rPr>
              <a:t> Двойное чтение двумя людьми с арбитражем третьего на разногласиях — база сравнения.</a:t>
            </a:r>
          </a:p>
          <a:p>
            <a:pPr algn="l">
              <a:lnSpc>
                <a:spcPct val="126000"/>
              </a:lnSpc>
              <a:spcBef>
                <a:spcPts val="700"/>
              </a:spcBef>
            </a:pPr>
            <a:r>
              <a:rPr sz="1320" b="0" i="0">
                <a:solidFill>
                  <a:srgbClr val="21295C"/>
                </a:solidFill>
                <a:latin typeface="Arial"/>
              </a:rPr>
              <a:t/>
            </a:r>
            <a:r>
              <a:rPr sz="1320" b="1" i="0">
                <a:solidFill>
                  <a:srgbClr val="21295C"/>
                </a:solidFill>
                <a:latin typeface="Arial"/>
              </a:rPr>
              <a:t>Модель против них.</a:t>
            </a:r>
            <a:r>
              <a:rPr sz="1320" b="0" i="0">
                <a:solidFill>
                  <a:srgbClr val="21295C"/>
                </a:solidFill>
                <a:latin typeface="Arial"/>
              </a:rPr>
              <a:t> Один человек плюс модель, арбитраж на разногласиях. Прибавка чувствительности </a:t>
            </a:r>
            <a:r>
              <a:rPr sz="1320" b="1" i="0">
                <a:solidFill>
                  <a:srgbClr val="21295C"/>
                </a:solidFill>
                <a:latin typeface="Arial"/>
              </a:rPr>
              <a:t>значима</a:t>
            </a:r>
            <a:r>
              <a:rPr sz="1320" b="0" i="0">
                <a:solidFill>
                  <a:srgbClr val="21295C"/>
                </a:solidFill>
                <a:latin typeface="Arial"/>
              </a:rPr>
              <a:t>.</a:t>
            </a:r>
          </a:p>
          <a:p>
            <a:pPr algn="l">
              <a:lnSpc>
                <a:spcPct val="126000"/>
              </a:lnSpc>
              <a:spcBef>
                <a:spcPts val="700"/>
              </a:spcBef>
            </a:pPr>
            <a:r>
              <a:rPr sz="1060" b="0" i="0">
                <a:solidFill>
                  <a:srgbClr val="21295C"/>
                </a:solidFill>
                <a:latin typeface="Arial"/>
              </a:rPr>
              <a:t/>
            </a:r>
            <a:r>
              <a:rPr sz="1060" b="0" i="1">
                <a:solidFill>
                  <a:srgbClr val="1C7293"/>
                </a:solidFill>
                <a:latin typeface="Arial"/>
              </a:rPr>
              <a:t>Две половины счёта пришли из двух анализов одного испытания, и складывать их в одну базу нельзя: снижение объёма чтения — из промежуточного анализа, чувствительность — из итогового.</a:t>
            </a:r>
          </a:p>
          <a:p>
            <a:pPr algn="l">
              <a:lnSpc>
                <a:spcPct val="126000"/>
              </a:lnSpc>
              <a:spcBef>
                <a:spcPts val="700"/>
              </a:spcBef>
            </a:pPr>
            <a:r>
              <a:rPr sz="1320" b="0" i="0">
                <a:solidFill>
                  <a:srgbClr val="21295C"/>
                </a:solidFill>
                <a:latin typeface="Arial"/>
              </a:rPr>
              <a:t/>
            </a:r>
            <a:r>
              <a:rPr sz="1320" b="0" i="0">
                <a:solidFill>
                  <a:srgbClr val="21295C"/>
                </a:solidFill>
                <a:latin typeface="Arial"/>
              </a:rPr>
              <a:t>Независимость здесь не нарушена, а </a:t>
            </a:r>
            <a:r>
              <a:rPr sz="1320" b="1" i="0">
                <a:solidFill>
                  <a:srgbClr val="21295C"/>
                </a:solidFill>
                <a:latin typeface="Arial"/>
              </a:rPr>
              <a:t>перестроена</a:t>
            </a:r>
            <a:r>
              <a:rPr sz="1320" b="0" i="0">
                <a:solidFill>
                  <a:srgbClr val="21295C"/>
                </a:solidFill>
                <a:latin typeface="Arial"/>
              </a:rPr>
              <a:t>: модель читает первой, человек читает сам, разногласие разбирает третий. Выиграло устройство процедуры.</a:t>
            </a:r>
          </a:p>
          <a:p>
            <a:pPr algn="l">
              <a:lnSpc>
                <a:spcPct val="126000"/>
              </a:lnSpc>
              <a:spcBef>
                <a:spcPts val="700"/>
              </a:spcBef>
            </a:pPr>
            <a:r>
              <a:rPr sz="1060" b="0" i="0">
                <a:solidFill>
                  <a:srgbClr val="21295C"/>
                </a:solidFill>
                <a:latin typeface="Arial"/>
              </a:rPr>
              <a:t/>
            </a:r>
            <a:r>
              <a:rPr sz="1060" b="0" i="1">
                <a:solidFill>
                  <a:srgbClr val="1C7293"/>
                </a:solidFill>
                <a:latin typeface="Arial"/>
              </a:rPr>
              <a:t>Ступень: человек смотрел только спорное — и это назначено устройством программы, а не выбором врача.</a:t>
            </a:r>
          </a:p>
          <a:p>
            <a:pPr algn="l">
              <a:lnSpc>
                <a:spcPct val="126000"/>
              </a:lnSpc>
              <a:spcBef>
                <a:spcPts val="700"/>
              </a:spcBef>
            </a:pPr>
            <a:r>
              <a:rPr sz="1320" b="0" i="0">
                <a:solidFill>
                  <a:srgbClr val="21295C"/>
                </a:solidFill>
                <a:latin typeface="Arial"/>
              </a:rPr>
              <a:t/>
            </a:r>
            <a:r>
              <a:rPr sz="1320" b="0" i="0">
                <a:solidFill>
                  <a:srgbClr val="21295C"/>
                </a:solidFill>
                <a:latin typeface="Arial"/>
              </a:rPr>
              <a:t>Чем это делают сегодня: </a:t>
            </a:r>
            <a:r>
              <a:rPr sz="1320" b="0" i="1">
                <a:solidFill>
                  <a:srgbClr val="21295C"/>
                </a:solidFill>
                <a:latin typeface="Arial"/>
              </a:rPr>
              <a:t>распознавание на изображении</a:t>
            </a:r>
            <a:r>
              <a:rPr sz="1320" b="0" i="0">
                <a:solidFill>
                  <a:srgbClr val="21295C"/>
                </a:solidFill>
                <a:latin typeface="Arial"/>
              </a:rPr>
              <a:t>, та же клетка и </a:t>
            </a:r>
            <a:r>
              <a:rPr sz="1320" b="1" i="0">
                <a:solidFill>
                  <a:srgbClr val="21295C"/>
                </a:solidFill>
                <a:latin typeface="Arial"/>
              </a:rPr>
              <a:t>тот же инструмент</a:t>
            </a:r>
            <a:r>
              <a:rPr sz="1320" b="0" i="0">
                <a:solidFill>
                  <a:srgbClr val="21295C"/>
                </a:solidFill>
                <a:latin typeface="Arial"/>
              </a:rPr>
              <a:t>, что в разборе выше. Держат клетку арбитраж третьим читателем только на разногласиях и постоянный контроль порога. Не умеет работать вне протокола скрининга бессимптомных.</a:t>
            </a:r>
          </a:p>
        </p:txBody>
      </p:sp>
      <p:sp>
        <p:nvSpPr>
          <p:cNvPr id="18" name="Rectangle 17"/>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Итоговый анализ — Gommers J., Hernström V., … Lång K., Interval cancer, sensitivity, and specificity comparing AI-supported mammography screening with standard double reading without AI in the MASAI study, The Lancet 2026;407(10527):505–514, DOI 10.1016/S0140-6736(25)02464-X, PMID 41620232 (105 934 распределённых)</a:t>
            </a:r>
            <a:r>
              <a:rPr sz="1100" b="0" i="1">
                <a:solidFill>
                  <a:srgbClr val="1C7293"/>
                </a:solidFill>
                <a:latin typeface="Arial"/>
              </a:rPr>
              <a:t> · </a:t>
            </a:r>
            <a:r>
              <a:rPr sz="1100" b="0" i="1">
                <a:solidFill>
                  <a:srgbClr val="1C7293"/>
                </a:solidFill>
                <a:latin typeface="Arial"/>
              </a:rPr>
              <a:t>Промежуточный анализ безопасности — Lång K. и соавт., Lancet Oncology 2023;24(8):936–944, DOI 10.1016/S1470-2045(23)00298-X, PMID 37541274 (80 033 распределённых)</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Контрольная линия: что переехало и чем за это платят</a:t>
            </a:r>
          </a:p>
        </p:txBody>
      </p:sp>
      <p:sp>
        <p:nvSpPr>
          <p:cNvPr id="4" name="Rounded Rectangle 3"/>
          <p:cNvSpPr/>
          <p:nvPr/>
        </p:nvSpPr>
        <p:spPr>
          <a:xfrm>
            <a:off x="502920" y="1335024"/>
            <a:ext cx="2673019" cy="2496713"/>
          </a:xfrm>
          <a:prstGeom prst="roundRect">
            <a:avLst>
              <a:gd name="adj" fmla="val 12208"/>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737290"/>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ИНТЕРВАЛЬНЫЕ РАКИ НА 1000 ОБСЛЕДОВАННЫХ: ПЛЕЧО ДВОЙНОГО ЧТЕНИЯ → ПЛЕЧО С МОДЕЛЬЮ</a:t>
            </a:r>
          </a:p>
        </p:txBody>
      </p:sp>
      <p:sp>
        <p:nvSpPr>
          <p:cNvPr id="6" name="TextBox 5"/>
          <p:cNvSpPr txBox="1"/>
          <p:nvPr/>
        </p:nvSpPr>
        <p:spPr>
          <a:xfrm>
            <a:off x="640080" y="2209474"/>
            <a:ext cx="2398699" cy="376074"/>
          </a:xfrm>
          <a:prstGeom prst="rect">
            <a:avLst/>
          </a:prstGeom>
          <a:noFill/>
        </p:spPr>
        <p:txBody>
          <a:bodyPr wrap="square" lIns="0" rIns="0" tIns="0" bIns="0" anchor="t">
            <a:spAutoFit/>
          </a:bodyPr>
          <a:lstStyle/>
          <a:p>
            <a:pPr algn="l">
              <a:lnSpc>
                <a:spcPct val="108000"/>
              </a:lnSpc>
            </a:pPr>
            <a:r>
              <a:rPr sz="1000" b="1" i="0">
                <a:solidFill>
                  <a:srgbClr val="F0AB00"/>
                </a:solidFill>
                <a:latin typeface="Arial"/>
              </a:rPr>
              <a:t>1,76 → 1,55 — показана не-худшесть, улучшение не доказано</a:t>
            </a:r>
          </a:p>
        </p:txBody>
      </p:sp>
      <p:sp>
        <p:nvSpPr>
          <p:cNvPr id="7" name="TextBox 6"/>
          <p:cNvSpPr txBox="1"/>
          <p:nvPr/>
        </p:nvSpPr>
        <p:spPr>
          <a:xfrm>
            <a:off x="640080" y="2585549"/>
            <a:ext cx="2398699" cy="110902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отношение частот 0,88 при интервале от 0,65 до 1,18: 82 случая из 53 043 против 93 из 52 872. Доказано другое — чувствительность выше, и состав пропущенного сдвинулся в менее опасную сторону</a:t>
            </a:r>
          </a:p>
        </p:txBody>
      </p:sp>
      <p:sp>
        <p:nvSpPr>
          <p:cNvPr id="8" name="Rounded Rectangle 7"/>
          <p:cNvSpPr/>
          <p:nvPr/>
        </p:nvSpPr>
        <p:spPr>
          <a:xfrm>
            <a:off x="3340531" y="1335024"/>
            <a:ext cx="2673019" cy="2496713"/>
          </a:xfrm>
          <a:prstGeom prst="roundRect">
            <a:avLst>
              <a:gd name="adj" fmla="val 12208"/>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ДАЛО</a:t>
            </a:r>
          </a:p>
        </p:txBody>
      </p:sp>
      <p:sp>
        <p:nvSpPr>
          <p:cNvPr id="10" name="TextBox 9"/>
          <p:cNvSpPr txBox="1"/>
          <p:nvPr/>
        </p:nvSpPr>
        <p:spPr>
          <a:xfrm>
            <a:off x="3477691" y="1690796"/>
            <a:ext cx="2398699" cy="749522"/>
          </a:xfrm>
          <a:prstGeom prst="rect">
            <a:avLst/>
          </a:prstGeom>
          <a:noFill/>
        </p:spPr>
        <p:txBody>
          <a:bodyPr wrap="square" lIns="0" rIns="0" tIns="0" bIns="0" anchor="t">
            <a:spAutoFit/>
          </a:bodyPr>
          <a:lstStyle/>
          <a:p>
            <a:pPr algn="l">
              <a:lnSpc>
                <a:spcPct val="108000"/>
              </a:lnSpc>
            </a:pPr>
            <a:r>
              <a:rPr sz="1400" b="1" i="0">
                <a:solidFill>
                  <a:srgbClr val="21295C"/>
                </a:solidFill>
                <a:latin typeface="Arial"/>
              </a:rPr>
              <a:t>больше найденных раков и меньше пропущенных между обследованиями</a:t>
            </a:r>
          </a:p>
        </p:txBody>
      </p:sp>
      <p:sp>
        <p:nvSpPr>
          <p:cNvPr id="11" name="Rounded Rectangle 10"/>
          <p:cNvSpPr/>
          <p:nvPr/>
        </p:nvSpPr>
        <p:spPr>
          <a:xfrm>
            <a:off x="6178143" y="1335024"/>
            <a:ext cx="2673019" cy="2496713"/>
          </a:xfrm>
          <a:prstGeom prst="roundRect">
            <a:avLst>
              <a:gd name="adj" fmla="val 12208"/>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ПОТРЕБОВАЛО</a:t>
            </a:r>
          </a:p>
        </p:txBody>
      </p:sp>
      <p:sp>
        <p:nvSpPr>
          <p:cNvPr id="13" name="TextBox 12"/>
          <p:cNvSpPr txBox="1"/>
          <p:nvPr/>
        </p:nvSpPr>
        <p:spPr>
          <a:xfrm>
            <a:off x="6315303" y="1690796"/>
            <a:ext cx="2398699" cy="673135"/>
          </a:xfrm>
          <a:prstGeom prst="rect">
            <a:avLst/>
          </a:prstGeom>
          <a:noFill/>
        </p:spPr>
        <p:txBody>
          <a:bodyPr wrap="square" lIns="0" rIns="0" tIns="0" bIns="0" anchor="t">
            <a:spAutoFit/>
          </a:bodyPr>
          <a:lstStyle/>
          <a:p>
            <a:pPr algn="l">
              <a:lnSpc>
                <a:spcPct val="108000"/>
              </a:lnSpc>
            </a:pPr>
            <a:r>
              <a:rPr sz="1250" b="1" i="0">
                <a:solidFill>
                  <a:srgbClr val="21295C"/>
                </a:solidFill>
                <a:latin typeface="Arial"/>
              </a:rPr>
              <a:t>арбитраж как измеримую новую работу и постоянный контроль порога</a:t>
            </a:r>
          </a:p>
        </p:txBody>
      </p:sp>
      <p:sp>
        <p:nvSpPr>
          <p:cNvPr id="14" name="Rounded Rectangle 13"/>
          <p:cNvSpPr/>
          <p:nvPr/>
        </p:nvSpPr>
        <p:spPr>
          <a:xfrm>
            <a:off x="9015755" y="1335024"/>
            <a:ext cx="2673019" cy="2496713"/>
          </a:xfrm>
          <a:prstGeom prst="roundRect">
            <a:avLst>
              <a:gd name="adj" fmla="val 12208"/>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СУММЕ</a:t>
            </a:r>
          </a:p>
        </p:txBody>
      </p:sp>
      <p:sp>
        <p:nvSpPr>
          <p:cNvPr id="16" name="TextBox 15"/>
          <p:cNvSpPr txBox="1"/>
          <p:nvPr/>
        </p:nvSpPr>
        <p:spPr>
          <a:xfrm>
            <a:off x="9152915" y="1690796"/>
            <a:ext cx="2398699"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лучше и по качеству, и по нагрузке</a:t>
            </a:r>
          </a:p>
        </p:txBody>
      </p:sp>
      <p:sp>
        <p:nvSpPr>
          <p:cNvPr id="17" name="Rounded Rectangle 16"/>
          <p:cNvSpPr/>
          <p:nvPr/>
        </p:nvSpPr>
        <p:spPr>
          <a:xfrm>
            <a:off x="374904" y="3923177"/>
            <a:ext cx="11441887" cy="2313030"/>
          </a:xfrm>
          <a:prstGeom prst="roundRect">
            <a:avLst>
              <a:gd name="adj" fmla="val 1317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9496" y="4014617"/>
            <a:ext cx="11112703" cy="2221590"/>
          </a:xfrm>
          <a:prstGeom prst="rect">
            <a:avLst/>
          </a:prstGeom>
          <a:noFill/>
        </p:spPr>
        <p:txBody>
          <a:bodyPr wrap="square" lIns="0" rIns="0" tIns="0" bIns="0" anchor="t">
            <a:spAutoFit/>
          </a:bodyPr>
          <a:lstStyle/>
          <a:p>
            <a:pPr algn="l">
              <a:lnSpc>
                <a:spcPct val="126000"/>
              </a:lnSpc>
            </a:pPr>
            <a:r>
              <a:rPr sz="1140" b="1" i="0">
                <a:solidFill>
                  <a:srgbClr val="21295C"/>
                </a:solidFill>
                <a:latin typeface="Arial"/>
              </a:rPr>
              <a:t>Что переехало.</a:t>
            </a:r>
            <a:r>
              <a:rPr sz="1140" b="0" i="0">
                <a:solidFill>
                  <a:srgbClr val="21295C"/>
                </a:solidFill>
                <a:latin typeface="Arial"/>
              </a:rPr>
              <a:t> Сменился исполнитель: вторым читателем стала модель, и объём человеческого чтения упал как следствие этой смены. Больше форм здесь не называется.</a:t>
            </a:r>
          </a:p>
          <a:p>
            <a:pPr algn="l">
              <a:lnSpc>
                <a:spcPct val="126000"/>
              </a:lnSpc>
              <a:spcBef>
                <a:spcPts val="700"/>
              </a:spcBef>
            </a:pPr>
            <a:r>
              <a:rPr sz="1140" b="0" i="0">
                <a:solidFill>
                  <a:srgbClr val="21295C"/>
                </a:solidFill>
                <a:latin typeface="Arial"/>
              </a:rPr>
              <a:t/>
            </a:r>
            <a:r>
              <a:rPr sz="1140" b="0" i="0">
                <a:solidFill>
                  <a:srgbClr val="21295C"/>
                </a:solidFill>
                <a:latin typeface="Arial"/>
              </a:rPr>
              <a:t>Доля ложноположительных и специфичность в двух плечах одинаковы: повторных вызовов не стало ни больше, ни меньше настолько, чтобы это было различием.</a:t>
            </a:r>
          </a:p>
          <a:p>
            <a:pPr algn="l">
              <a:lnSpc>
                <a:spcPct val="126000"/>
              </a:lnSpc>
              <a:spcBef>
                <a:spcPts val="700"/>
              </a:spcBef>
            </a:pPr>
            <a:r>
              <a:rPr sz="1140" b="0" i="0">
                <a:solidFill>
                  <a:srgbClr val="21295C"/>
                </a:solidFill>
                <a:latin typeface="Arial"/>
              </a:rPr>
              <a:t/>
            </a:r>
            <a:r>
              <a:rPr sz="1140" b="0" i="0">
                <a:solidFill>
                  <a:srgbClr val="21295C"/>
                </a:solidFill>
                <a:latin typeface="Arial"/>
              </a:rPr>
              <a:t>Рядом, другим жанром, и это разворачивает весь раздел: в другой программе измерили, </a:t>
            </a:r>
            <a:r>
              <a:rPr sz="1140" b="1" i="0">
                <a:solidFill>
                  <a:srgbClr val="21295C"/>
                </a:solidFill>
                <a:latin typeface="Arial"/>
              </a:rPr>
              <a:t>чьим находкам верят</a:t>
            </a:r>
            <a:r>
              <a:rPr sz="1140" b="0" i="0">
                <a:solidFill>
                  <a:srgbClr val="21295C"/>
                </a:solidFill>
                <a:latin typeface="Arial"/>
              </a:rPr>
              <a:t>. Из ста находок, сделанных </a:t>
            </a:r>
            <a:r>
              <a:rPr sz="1140" b="1" i="0">
                <a:solidFill>
                  <a:srgbClr val="21295C"/>
                </a:solidFill>
                <a:latin typeface="Arial"/>
              </a:rPr>
              <a:t>только моделью</a:t>
            </a:r>
            <a:r>
              <a:rPr sz="1140" b="0" i="0">
                <a:solidFill>
                  <a:srgbClr val="21295C"/>
                </a:solidFill>
                <a:latin typeface="Arial"/>
              </a:rPr>
              <a:t>, подтверждается раком </a:t>
            </a:r>
            <a:r>
              <a:rPr sz="1140" b="1" i="0">
                <a:solidFill>
                  <a:srgbClr val="21295C"/>
                </a:solidFill>
                <a:latin typeface="Arial"/>
              </a:rPr>
              <a:t>22</a:t>
            </a:r>
            <a:r>
              <a:rPr sz="1140" b="0" i="0">
                <a:solidFill>
                  <a:srgbClr val="21295C"/>
                </a:solidFill>
                <a:latin typeface="Arial"/>
              </a:rPr>
              <a:t>; из ста находок, сделанных </a:t>
            </a:r>
            <a:r>
              <a:rPr sz="1140" b="1" i="0">
                <a:solidFill>
                  <a:srgbClr val="21295C"/>
                </a:solidFill>
                <a:latin typeface="Arial"/>
              </a:rPr>
              <a:t>только радиологом</a:t>
            </a:r>
            <a:r>
              <a:rPr sz="1140" b="0" i="0">
                <a:solidFill>
                  <a:srgbClr val="21295C"/>
                </a:solidFill>
                <a:latin typeface="Arial"/>
              </a:rPr>
              <a:t> — </a:t>
            </a:r>
            <a:r>
              <a:rPr sz="1140" b="1" i="0">
                <a:solidFill>
                  <a:srgbClr val="21295C"/>
                </a:solidFill>
                <a:latin typeface="Arial"/>
              </a:rPr>
              <a:t>3,4</a:t>
            </a:r>
            <a:r>
              <a:rPr sz="1140" b="0" i="0">
                <a:solidFill>
                  <a:srgbClr val="21295C"/>
                </a:solidFill>
                <a:latin typeface="Arial"/>
              </a:rPr>
              <a:t>. А на дообследование отзывают чаще вторую: находку радиолога — в 14,2 случая из ста, находку модели — в 4,6.</a:t>
            </a:r>
          </a:p>
          <a:p>
            <a:pPr algn="l">
              <a:lnSpc>
                <a:spcPct val="126000"/>
              </a:lnSpc>
              <a:spcBef>
                <a:spcPts val="700"/>
              </a:spcBef>
            </a:pPr>
            <a:r>
              <a:rPr sz="1140" b="0" i="0">
                <a:solidFill>
                  <a:srgbClr val="21295C"/>
                </a:solidFill>
                <a:latin typeface="Arial"/>
              </a:rPr>
              <a:t/>
            </a:r>
            <a:r>
              <a:rPr sz="1140" b="0" i="0">
                <a:solidFill>
                  <a:srgbClr val="21295C"/>
                </a:solidFill>
                <a:latin typeface="Arial"/>
              </a:rPr>
              <a:t>То есть здесь доверия к модели </a:t>
            </a:r>
            <a:r>
              <a:rPr sz="1140" b="1" i="0">
                <a:solidFill>
                  <a:srgbClr val="21295C"/>
                </a:solidFill>
                <a:latin typeface="Arial"/>
              </a:rPr>
              <a:t>слишком мало</a:t>
            </a:r>
            <a:r>
              <a:rPr sz="1140" b="0" i="0">
                <a:solidFill>
                  <a:srgbClr val="21295C"/>
                </a:solidFill>
                <a:latin typeface="Arial"/>
              </a:rPr>
              <a:t>, а не слишком много.</a:t>
            </a:r>
          </a:p>
          <a:p>
            <a:pPr algn="l">
              <a:lnSpc>
                <a:spcPct val="126000"/>
              </a:lnSpc>
              <a:spcBef>
                <a:spcPts val="700"/>
              </a:spcBef>
            </a:pPr>
            <a:r>
              <a:rPr sz="910" b="0" i="0">
                <a:solidFill>
                  <a:srgbClr val="21295C"/>
                </a:solidFill>
                <a:latin typeface="Arial"/>
              </a:rPr>
              <a:t/>
            </a:r>
            <a:r>
              <a:rPr sz="910" b="0" i="1">
                <a:solidFill>
                  <a:srgbClr val="1C7293"/>
                </a:solidFill>
                <a:latin typeface="Arial"/>
              </a:rPr>
              <a:t>Проспективное исследование в другой программе скрининга: 54 991 женщина, каждое исследование читают три независимых источника — два радиолога и система. Знаменатели двух сравниваемых групп почти одинаковы: 1 858 находок от одного радиолога против 1 886 от одной системы.</a:t>
            </a:r>
          </a:p>
        </p:txBody>
      </p:sp>
      <p:sp>
        <p:nvSpPr>
          <p:cNvPr id="19" name="Rectangle 18"/>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Итоговый анализ той же программы — Gommers J., Hernström V., … Lång K., The Lancet 2026;407(10527):505–514, DOI 10.1016/S0140-6736(25)02464-X, PMID 41620232</a:t>
            </a:r>
            <a:r>
              <a:rPr sz="1100" b="0" i="1">
                <a:solidFill>
                  <a:srgbClr val="1C7293"/>
                </a:solidFill>
                <a:latin typeface="Arial"/>
              </a:rPr>
              <a:t> · </a:t>
            </a:r>
            <a:r>
              <a:rPr sz="1100" b="0" i="1">
                <a:solidFill>
                  <a:srgbClr val="1C7293"/>
                </a:solidFill>
                <a:latin typeface="Arial"/>
              </a:rPr>
              <a:t>Dembrower K. E., Crippa A., Eklund M., Strand F., Radiology 2025;314(3):e242566, DOI 10.1148/radiol.242566, PMID 40100021 — проспективное исследование ScreenTrustCAD, 54 991 женщина</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Доверие и стаж: что ломается, что не спасает и где потолок</a:t>
            </a:r>
          </a:p>
        </p:txBody>
      </p:sp>
      <p:sp>
        <p:nvSpPr>
          <p:cNvPr id="4" name="Rounded Rectangle 3"/>
          <p:cNvSpPr/>
          <p:nvPr/>
        </p:nvSpPr>
        <p:spPr>
          <a:xfrm>
            <a:off x="502920" y="1335024"/>
            <a:ext cx="2673019" cy="2177962"/>
          </a:xfrm>
          <a:prstGeom prst="roundRect">
            <a:avLst>
              <a:gd name="adj" fmla="val 13994"/>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НЕВЕРНАЯ РАСШИФРОВКА РОНЯЕТ ТОЧНОСТЬ</a:t>
            </a:r>
          </a:p>
        </p:txBody>
      </p:sp>
      <p:sp>
        <p:nvSpPr>
          <p:cNvPr id="6" name="TextBox 5"/>
          <p:cNvSpPr txBox="1"/>
          <p:nvPr/>
        </p:nvSpPr>
        <p:spPr>
          <a:xfrm>
            <a:off x="640080" y="1863689"/>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на 43 пункта · на 59 пунктов</a:t>
            </a:r>
          </a:p>
        </p:txBody>
      </p:sp>
      <p:sp>
        <p:nvSpPr>
          <p:cNvPr id="7" name="TextBox 6"/>
          <p:cNvSpPr txBox="1"/>
          <p:nvPr/>
        </p:nvSpPr>
        <p:spPr>
          <a:xfrm>
            <a:off x="640080" y="2681111"/>
            <a:ext cx="2398699"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у стажёров кардиологии и у стажёров других специальностей: различает их специальность, не стаж</a:t>
            </a:r>
          </a:p>
        </p:txBody>
      </p:sp>
      <p:sp>
        <p:nvSpPr>
          <p:cNvPr id="8" name="Rounded Rectangle 7"/>
          <p:cNvSpPr/>
          <p:nvPr/>
        </p:nvSpPr>
        <p:spPr>
          <a:xfrm>
            <a:off x="3340531" y="1335024"/>
            <a:ext cx="2673019" cy="2177962"/>
          </a:xfrm>
          <a:prstGeom prst="roundRect">
            <a:avLst>
              <a:gd name="adj" fmla="val 13994"/>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77691"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СТАЖ, СУБСПЕЦИАЛИЗАЦИЯ, ЗНАКОМСТВО С ИНСТРУМЕНТОМ</a:t>
            </a:r>
          </a:p>
        </p:txBody>
      </p:sp>
      <p:sp>
        <p:nvSpPr>
          <p:cNvPr id="10" name="TextBox 9"/>
          <p:cNvSpPr txBox="1"/>
          <p:nvPr/>
        </p:nvSpPr>
        <p:spPr>
          <a:xfrm>
            <a:off x="3477691" y="1863689"/>
            <a:ext cx="2398699" cy="622210"/>
          </a:xfrm>
          <a:prstGeom prst="rect">
            <a:avLst/>
          </a:prstGeom>
          <a:noFill/>
        </p:spPr>
        <p:txBody>
          <a:bodyPr wrap="square" lIns="0" rIns="0" tIns="0" bIns="0" anchor="t">
            <a:spAutoFit/>
          </a:bodyPr>
          <a:lstStyle/>
          <a:p>
            <a:pPr algn="l">
              <a:lnSpc>
                <a:spcPct val="108000"/>
              </a:lnSpc>
            </a:pPr>
            <a:r>
              <a:rPr sz="1150" b="1" i="0">
                <a:solidFill>
                  <a:srgbClr val="21295C"/>
                </a:solidFill>
                <a:latin typeface="Arial"/>
              </a:rPr>
              <a:t>выигрыш от подсказки не предсказывают — предсказывает правота модели</a:t>
            </a:r>
          </a:p>
        </p:txBody>
      </p:sp>
      <p:sp>
        <p:nvSpPr>
          <p:cNvPr id="11" name="Rounded Rectangle 10"/>
          <p:cNvSpPr/>
          <p:nvPr/>
        </p:nvSpPr>
        <p:spPr>
          <a:xfrm>
            <a:off x="6178143" y="1335024"/>
            <a:ext cx="2673019" cy="2177962"/>
          </a:xfrm>
          <a:prstGeom prst="roundRect">
            <a:avLst>
              <a:gd name="adj" fmla="val 13994"/>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15303" y="1472184"/>
            <a:ext cx="2398699" cy="737290"/>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СОГЛАСИЕ С НЕВЕРНОЙ ПОДСКАЗКОЙ: ОБЫЧНОЕ ОБЪЯСНЕНИЕ → ПРИНУДИТЕЛЬНЫЕ ПРИЁМЫ ПОДАЧИ</a:t>
            </a:r>
          </a:p>
        </p:txBody>
      </p:sp>
      <p:sp>
        <p:nvSpPr>
          <p:cNvPr id="13" name="TextBox 12"/>
          <p:cNvSpPr txBox="1"/>
          <p:nvPr/>
        </p:nvSpPr>
        <p:spPr>
          <a:xfrm>
            <a:off x="6315303" y="2209474"/>
            <a:ext cx="2398699"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64 → 48 из ста</a:t>
            </a:r>
          </a:p>
        </p:txBody>
      </p:sp>
      <p:sp>
        <p:nvSpPr>
          <p:cNvPr id="14" name="TextBox 13"/>
          <p:cNvSpPr txBox="1"/>
          <p:nvPr/>
        </p:nvSpPr>
        <p:spPr>
          <a:xfrm>
            <a:off x="6315303" y="2636474"/>
            <a:ext cx="2398699"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минус 16 пунктов; посчитано на ОДНОЙ задаче набора, а на общей метрике по всем задачам сдвиг значимости не достиг</a:t>
            </a:r>
          </a:p>
        </p:txBody>
      </p:sp>
      <p:sp>
        <p:nvSpPr>
          <p:cNvPr id="15" name="Rounded Rectangle 14"/>
          <p:cNvSpPr/>
          <p:nvPr/>
        </p:nvSpPr>
        <p:spPr>
          <a:xfrm>
            <a:off x="9015755" y="1335024"/>
            <a:ext cx="2673019" cy="2177962"/>
          </a:xfrm>
          <a:prstGeom prst="roundRect">
            <a:avLst>
              <a:gd name="adj" fmla="val 13994"/>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52915"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ОСТАЁТСЯ ПРИ САМОЙ СИЛЬНОЙ ИЗ ПРОВЕРЕННЫХ МЕР</a:t>
            </a:r>
          </a:p>
        </p:txBody>
      </p:sp>
      <p:sp>
        <p:nvSpPr>
          <p:cNvPr id="17" name="TextBox 16"/>
          <p:cNvSpPr txBox="1"/>
          <p:nvPr/>
        </p:nvSpPr>
        <p:spPr>
          <a:xfrm>
            <a:off x="9152915" y="1863689"/>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48 согласий из ста</a:t>
            </a:r>
          </a:p>
        </p:txBody>
      </p:sp>
      <p:sp>
        <p:nvSpPr>
          <p:cNvPr id="18" name="TextBox 17"/>
          <p:cNvSpPr txBox="1"/>
          <p:nvPr/>
        </p:nvSpPr>
        <p:spPr>
          <a:xfrm>
            <a:off x="9152915" y="2681111"/>
            <a:ext cx="2398699"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на эту остаточную долю процедуре и приходится рассчитывать</a:t>
            </a:r>
          </a:p>
        </p:txBody>
      </p:sp>
      <p:sp>
        <p:nvSpPr>
          <p:cNvPr id="19" name="Rounded Rectangle 18"/>
          <p:cNvSpPr/>
          <p:nvPr/>
        </p:nvSpPr>
        <p:spPr>
          <a:xfrm>
            <a:off x="374904" y="3604426"/>
            <a:ext cx="11441887" cy="2631781"/>
          </a:xfrm>
          <a:prstGeom prst="roundRect">
            <a:avLst>
              <a:gd name="adj" fmla="val 1158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9496" y="3695866"/>
            <a:ext cx="11112703" cy="2540341"/>
          </a:xfrm>
          <a:prstGeom prst="rect">
            <a:avLst/>
          </a:prstGeom>
          <a:noFill/>
        </p:spPr>
        <p:txBody>
          <a:bodyPr wrap="square" lIns="0" rIns="0" tIns="0" bIns="0" anchor="t">
            <a:spAutoFit/>
          </a:bodyPr>
          <a:lstStyle/>
          <a:p>
            <a:pPr algn="l">
              <a:lnSpc>
                <a:spcPct val="126000"/>
              </a:lnSpc>
            </a:pPr>
            <a:r>
              <a:rPr sz="1110" b="1" i="0">
                <a:solidFill>
                  <a:srgbClr val="21295C"/>
                </a:solidFill>
                <a:latin typeface="Arial"/>
              </a:rPr>
              <a:t>Что ломается.</a:t>
            </a:r>
            <a:r>
              <a:rPr sz="1110" b="0" i="0">
                <a:solidFill>
                  <a:srgbClr val="21295C"/>
                </a:solidFill>
                <a:latin typeface="Arial"/>
              </a:rPr>
              <a:t> База падения — </a:t>
            </a:r>
            <a:r>
              <a:rPr sz="1110" b="1" i="0">
                <a:solidFill>
                  <a:srgbClr val="21295C"/>
                </a:solidFill>
                <a:latin typeface="Arial"/>
              </a:rPr>
              <a:t>верная</a:t>
            </a:r>
            <a:r>
              <a:rPr sz="1110" b="0" i="0">
                <a:solidFill>
                  <a:srgbClr val="21295C"/>
                </a:solidFill>
                <a:latin typeface="Arial"/>
              </a:rPr>
              <a:t> расшифровка, а не работа без подсказки: 84,86 против 41,66 и 86,38 против 27,43 из ста. Существеннее величины то, что связь уверенности с правотой ослабевает у обеих групп: человек остаётся так же уверен, будучи неправ.</a:t>
            </a:r>
          </a:p>
          <a:p>
            <a:pPr algn="l">
              <a:lnSpc>
                <a:spcPct val="126000"/>
              </a:lnSpc>
              <a:spcBef>
                <a:spcPts val="700"/>
              </a:spcBef>
            </a:pPr>
            <a:r>
              <a:rPr sz="1110" b="0" i="0">
                <a:solidFill>
                  <a:srgbClr val="21295C"/>
                </a:solidFill>
                <a:latin typeface="Arial"/>
              </a:rPr>
              <a:t/>
            </a:r>
            <a:r>
              <a:rPr sz="1110" b="1" i="0">
                <a:solidFill>
                  <a:srgbClr val="21295C"/>
                </a:solidFill>
                <a:latin typeface="Arial"/>
              </a:rPr>
              <a:t>Где потолок.</a:t>
            </a:r>
            <a:r>
              <a:rPr sz="1110" b="0" i="0">
                <a:solidFill>
                  <a:srgbClr val="21295C"/>
                </a:solidFill>
                <a:latin typeface="Arial"/>
              </a:rPr>
              <a:t> Переустройство подачи подсказки снижает согласие с неверной подсказкой значимо — это настоящее улучшение. И при нём почти половина согласий с неверной подсказкой остаётся. </a:t>
            </a:r>
            <a:r>
              <a:rPr sz="1110" b="0" i="1">
                <a:solidFill>
                  <a:srgbClr val="21295C"/>
                </a:solidFill>
                <a:latin typeface="Arial"/>
              </a:rPr>
              <a:t>Лабораторный эксперимент, 199 участников; задача не клиническая, точность подсказки задана имитацией.</a:t>
            </a:r>
          </a:p>
          <a:p>
            <a:pPr algn="l">
              <a:lnSpc>
                <a:spcPct val="126000"/>
              </a:lnSpc>
              <a:spcBef>
                <a:spcPts val="700"/>
              </a:spcBef>
            </a:pPr>
            <a:r>
              <a:rPr sz="1110" b="0" i="0">
                <a:solidFill>
                  <a:srgbClr val="21295C"/>
                </a:solidFill>
                <a:latin typeface="Arial"/>
              </a:rPr>
              <a:t/>
            </a:r>
            <a:r>
              <a:rPr sz="1110" b="1" i="0">
                <a:solidFill>
                  <a:srgbClr val="21295C"/>
                </a:solidFill>
                <a:latin typeface="Arial"/>
              </a:rPr>
              <a:t>Не измерено, и это названо пробелом.</a:t>
            </a:r>
            <a:r>
              <a:rPr sz="1110" b="0" i="0">
                <a:solidFill>
                  <a:srgbClr val="21295C"/>
                </a:solidFill>
                <a:latin typeface="Arial"/>
              </a:rPr>
              <a:t> «Одна ошибка обрывает доверие» как отдельная величина не опубликована. Измерено другое: увидев ошибку алгоритма, человек реже выбирает его и дальше — продолжая видеть, что алгоритм точнее человека; возможность хоть немного подправить прогноз этот отказ ослабляет.</a:t>
            </a:r>
          </a:p>
          <a:p>
            <a:pPr algn="l">
              <a:lnSpc>
                <a:spcPct val="126000"/>
              </a:lnSpc>
              <a:spcBef>
                <a:spcPts val="700"/>
              </a:spcBef>
            </a:pPr>
            <a:r>
              <a:rPr sz="1110" b="0" i="0">
                <a:solidFill>
                  <a:srgbClr val="21295C"/>
                </a:solidFill>
                <a:latin typeface="Arial"/>
              </a:rPr>
              <a:t/>
            </a:r>
            <a:r>
              <a:rPr sz="1110" b="0" i="0">
                <a:solidFill>
                  <a:srgbClr val="21295C"/>
                </a:solidFill>
                <a:latin typeface="Arial"/>
              </a:rPr>
              <a:t>Доверие откалибровано </a:t>
            </a:r>
            <a:r>
              <a:rPr sz="1110" b="1" i="0">
                <a:solidFill>
                  <a:srgbClr val="21295C"/>
                </a:solidFill>
                <a:latin typeface="Arial"/>
              </a:rPr>
              <a:t>не по тому признаку</a:t>
            </a:r>
            <a:r>
              <a:rPr sz="1110" b="0" i="0">
                <a:solidFill>
                  <a:srgbClr val="21295C"/>
                </a:solidFill>
                <a:latin typeface="Arial"/>
              </a:rPr>
              <a:t>: не по правоте, а по подписи, по уверенности и по единичному видимому промаху.</a:t>
            </a:r>
          </a:p>
          <a:p>
            <a:pPr algn="l">
              <a:lnSpc>
                <a:spcPct val="126000"/>
              </a:lnSpc>
              <a:spcBef>
                <a:spcPts val="700"/>
              </a:spcBef>
            </a:pPr>
            <a:r>
              <a:rPr sz="1110" b="0" i="0">
                <a:solidFill>
                  <a:srgbClr val="21295C"/>
                </a:solidFill>
                <a:latin typeface="Arial"/>
              </a:rPr>
              <a:t/>
            </a:r>
            <a:r>
              <a:rPr sz="1110" b="0" i="0">
                <a:solidFill>
                  <a:srgbClr val="21295C"/>
                </a:solidFill>
                <a:latin typeface="Arial"/>
              </a:rPr>
              <a:t>Чем это делают сегодня: подсказку выводят внутрь рабочего места рентгенолога через платформу-оркестратор, а не ставят отдельной программой. Больница закупает одну платформу и дальше подключает модули по подписке — решение «какой алгоритм смотрит ваш снимок» принимается после закупки. Платформа не добавляет точности: она добавляет подпись «смотрела программа».</a:t>
            </a:r>
          </a:p>
        </p:txBody>
      </p:sp>
      <p:sp>
        <p:nvSpPr>
          <p:cNvPr id="21" name="Rectangle 20"/>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Bond R. R., Novotny T., Andrsova I. и соавт., Automation bias in medicine: the influence of automated diagnoses on interpreter accuracy and uncertainty when reading electrocardiograms, Journal of Electrocardiology 2018;51(6S):S6–S11, DOI 10.1016/j.jelectrocard.2018.08.007, PMID 30122457</a:t>
            </a:r>
            <a:r>
              <a:rPr sz="1100" b="0" i="1">
                <a:solidFill>
                  <a:srgbClr val="1C7293"/>
                </a:solidFill>
                <a:latin typeface="Arial"/>
              </a:rPr>
              <a:t> · </a:t>
            </a:r>
            <a:r>
              <a:rPr sz="1100" b="0" i="1">
                <a:solidFill>
                  <a:srgbClr val="1C7293"/>
                </a:solidFill>
                <a:latin typeface="Arial"/>
              </a:rPr>
              <a:t>Yu F., Moehring A., Banerjee O., Salz T., Agarwal N., Rajpurkar P., Heterogeneity and predictors of the effects of AI assistance on radiologists, Nature Medicine 2024;30(3):837–849, DOI 10.1038/s41591-024-02850-w, PMID 38504016</a:t>
            </a:r>
            <a:r>
              <a:rPr sz="1100" b="0" i="1">
                <a:solidFill>
                  <a:srgbClr val="1C7293"/>
                </a:solidFill>
                <a:latin typeface="Arial"/>
              </a:rPr>
              <a:t> · </a:t>
            </a:r>
            <a:r>
              <a:rPr sz="1100" b="0" i="1">
                <a:solidFill>
                  <a:srgbClr val="1C7293"/>
                </a:solidFill>
                <a:latin typeface="Arial"/>
              </a:rPr>
              <a:t>Buçinca Z., Malaya M. B., Gajos K. Z., To Trust or to Think: Cognitive Forcing Functions Can Reduce Overreliance on AI in AI-assisted Decision-making, Proc. ACM Hum.-Comput. Interact. 2021;5(CSCW1), статья 188, DOI 10.1145/3449287</a:t>
            </a:r>
            <a:r>
              <a:rPr sz="1100" b="0" i="1">
                <a:solidFill>
                  <a:srgbClr val="1C7293"/>
                </a:solidFill>
                <a:latin typeface="Arial"/>
              </a:rPr>
              <a:t> · </a:t>
            </a:r>
            <a:r>
              <a:rPr sz="1100" b="0" i="1">
                <a:solidFill>
                  <a:srgbClr val="1C7293"/>
                </a:solidFill>
                <a:latin typeface="Arial"/>
              </a:rPr>
              <a:t>Dietvorst B., Simmons J., Massey C., Algorithm Aversion: People Erroneously Avoid Algorithms after Seeing Them Err, Journal of Experimental Psychology: General 2015;144(1):114–126 — названный пробел</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Карта стадии: чтение и решение</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Матрица «тип задачи × модальность», оси те же, что в начале курса. В каждой занятой клетке — режим и одно-два названия; разборы раздела выделены.</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0" i="1">
                <a:solidFill>
                  <a:srgbClr val="21295C"/>
                </a:solidFill>
                <a:latin typeface="Arial"/>
              </a:rPr>
              <a:t>Распознавание на изображении</a:t>
            </a:r>
            <a:r>
              <a:rPr sz="1500" b="0" i="0">
                <a:solidFill>
                  <a:srgbClr val="21295C"/>
                </a:solidFill>
                <a:latin typeface="Arial"/>
              </a:rPr>
              <a:t> — модель вторым читателем в скрининге и триаж потока в неотложной рентгенологии.</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0" i="1">
                <a:solidFill>
                  <a:srgbClr val="21295C"/>
                </a:solidFill>
                <a:latin typeface="Arial"/>
              </a:rPr>
              <a:t>Классификация на изображении</a:t>
            </a:r>
            <a:r>
              <a:rPr sz="1500" b="0" i="0">
                <a:solidFill>
                  <a:srgbClr val="21295C"/>
                </a:solidFill>
                <a:latin typeface="Arial"/>
              </a:rPr>
              <a:t> — подсказка по оцифрованному срезу и оценка кожного образования.</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0" i="1">
                <a:solidFill>
                  <a:srgbClr val="21295C"/>
                </a:solidFill>
                <a:latin typeface="Arial"/>
              </a:rPr>
              <a:t>Генерация на тексте</a:t>
            </a:r>
            <a:r>
              <a:rPr sz="1500" b="0" i="0">
                <a:solidFill>
                  <a:srgbClr val="21295C"/>
                </a:solidFill>
                <a:latin typeface="Arial"/>
              </a:rPr>
              <a:t> — вопрос-ответ со ссылками и автоматическая запись приёма.</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0" i="1">
                <a:solidFill>
                  <a:srgbClr val="21295C"/>
                </a:solidFill>
                <a:latin typeface="Arial"/>
              </a:rPr>
              <a:t>Прогноз на структурированных данных</a:t>
            </a:r>
            <a:r>
              <a:rPr sz="1500" b="0" i="0">
                <a:solidFill>
                  <a:srgbClr val="21295C"/>
                </a:solidFill>
                <a:latin typeface="Arial"/>
              </a:rPr>
              <a:t> — счёт риска внутри карты.</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0" i="1">
                <a:solidFill>
                  <a:srgbClr val="21295C"/>
                </a:solidFill>
                <a:latin typeface="Arial"/>
              </a:rPr>
              <a:t>Поиск на тексте</a:t>
            </a:r>
            <a:r>
              <a:rPr sz="1500" b="0" i="0">
                <a:solidFill>
                  <a:srgbClr val="21295C"/>
                </a:solidFill>
                <a:latin typeface="Arial"/>
              </a:rPr>
              <a:t> — поиск по карте пациента.</a:t>
            </a:r>
          </a:p>
          <a:p>
            <a:pPr algn="l">
              <a:lnSpc>
                <a:spcPct val="126000"/>
              </a:lnSpc>
              <a:spcBef>
                <a:spcPts val="700"/>
              </a:spcBef>
            </a:pPr>
            <a:r>
              <a:rPr sz="1500" b="0" i="0">
                <a:solidFill>
                  <a:srgbClr val="21295C"/>
                </a:solidFill>
                <a:latin typeface="Arial"/>
              </a:rPr>
              <a:t/>
            </a:r>
            <a:r>
              <a:rPr sz="1500" b="0" i="0">
                <a:solidFill>
                  <a:srgbClr val="21295C"/>
                </a:solidFill>
                <a:latin typeface="Arial"/>
              </a:rPr>
              <a:t>Клетка, которой на рынке нет: </a:t>
            </a:r>
            <a:r>
              <a:rPr sz="1500" b="1" i="0">
                <a:solidFill>
                  <a:srgbClr val="21295C"/>
                </a:solidFill>
                <a:latin typeface="Arial"/>
              </a:rPr>
              <a:t>ансамбль моделей с голосованием</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0" i="0">
                <a:solidFill>
                  <a:srgbClr val="21295C"/>
                </a:solidFill>
                <a:latin typeface="Arial"/>
              </a:rPr>
              <a:t>Клетка, которой не было на предыдущей стадии, — автоматическая запись приёма: текст в карте теперь появляется машинно, и держат его те же процедуры подписи.</a:t>
            </a:r>
          </a:p>
          <a:p>
            <a:pPr algn="l">
              <a:lnSpc>
                <a:spcPct val="126000"/>
              </a:lnSpc>
              <a:spcBef>
                <a:spcPts val="700"/>
              </a:spcBef>
            </a:pPr>
            <a:r>
              <a:rPr sz="1200" b="0" i="0">
                <a:solidFill>
                  <a:srgbClr val="21295C"/>
                </a:solidFill>
                <a:latin typeface="Arial"/>
              </a:rPr>
              <a:t/>
            </a:r>
            <a:r>
              <a:rPr sz="1200" b="0" i="1">
                <a:solidFill>
                  <a:srgbClr val="1C7293"/>
                </a:solidFill>
                <a:latin typeface="Arial"/>
              </a:rPr>
              <a:t>Имена инструментов — не метрики.</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Вывод: чтение рядом с моделью</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Польза</a:t>
            </a:r>
            <a:r>
              <a:rPr sz="1500" b="0" i="0">
                <a:solidFill>
                  <a:srgbClr val="21295C"/>
                </a:solidFill>
                <a:latin typeface="Arial"/>
              </a:rPr>
              <a:t> — второй взгляд на поток и напоминание о редком диагнозе настоящие; в одном устройстве процедуры пара измеренно сильнее обеих сторон.</a:t>
            </a:r>
          </a:p>
          <a:p>
            <a:pPr algn="l">
              <a:lnSpc>
                <a:spcPct val="126000"/>
              </a:lnSpc>
              <a:spcBef>
                <a:spcPts val="700"/>
              </a:spcBef>
            </a:pPr>
            <a:r>
              <a:rPr sz="1500" b="0" i="0">
                <a:solidFill>
                  <a:srgbClr val="21295C"/>
                </a:solidFill>
                <a:latin typeface="Arial"/>
              </a:rPr>
              <a:t/>
            </a:r>
            <a:r>
              <a:rPr sz="1500" b="1" i="0">
                <a:solidFill>
                  <a:srgbClr val="21295C"/>
                </a:solidFill>
                <a:latin typeface="Arial"/>
              </a:rPr>
              <a:t>Граница</a:t>
            </a:r>
            <a:r>
              <a:rPr sz="1500" b="0" i="0">
                <a:solidFill>
                  <a:srgbClr val="21295C"/>
                </a:solidFill>
                <a:latin typeface="Arial"/>
              </a:rPr>
              <a:t> — выигрыш даёт несовпадение ошибок, а не точность модели.</a:t>
            </a:r>
          </a:p>
          <a:p>
            <a:pPr algn="l">
              <a:lnSpc>
                <a:spcPct val="126000"/>
              </a:lnSpc>
              <a:spcBef>
                <a:spcPts val="700"/>
              </a:spcBef>
            </a:pPr>
            <a:r>
              <a:rPr sz="1500" b="0" i="0">
                <a:solidFill>
                  <a:srgbClr val="21295C"/>
                </a:solidFill>
                <a:latin typeface="Arial"/>
              </a:rPr>
              <a:t/>
            </a:r>
            <a:r>
              <a:rPr sz="1500" b="1" i="0">
                <a:solidFill>
                  <a:srgbClr val="21295C"/>
                </a:solidFill>
                <a:latin typeface="Arial"/>
              </a:rPr>
              <a:t>Риск</a:t>
            </a:r>
            <a:r>
              <a:rPr sz="1500" b="0" i="0">
                <a:solidFill>
                  <a:srgbClr val="21295C"/>
                </a:solidFill>
                <a:latin typeface="Arial"/>
              </a:rPr>
              <a:t> — знак эффекта зависит от правоты модели, и средняя точность внедрения складывает две противоположные вещи.</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Дальше</a:t>
            </a:r>
            <a:r>
              <a:rPr sz="1500" b="0" i="0">
                <a:solidFill>
                  <a:srgbClr val="21295C"/>
                </a:solidFill>
                <a:latin typeface="Arial"/>
              </a:rPr>
              <a:t> — если знак зависит от правоты модели, кто и чем замечает, что она неправа.</a:t>
            </a:r>
          </a:p>
          <a:p>
            <a:pPr algn="l">
              <a:lnSpc>
                <a:spcPct val="126000"/>
              </a:lnSpc>
              <a:spcBef>
                <a:spcPts val="700"/>
              </a:spcBef>
            </a:pPr>
            <a:r>
              <a:rPr sz="1500" b="0" i="0">
                <a:solidFill>
                  <a:srgbClr val="21295C"/>
                </a:solidFill>
                <a:latin typeface="Arial"/>
              </a:rPr>
              <a:t/>
            </a:r>
            <a:r>
              <a:rPr sz="1500" b="0" i="0">
                <a:solidFill>
                  <a:srgbClr val="21295C"/>
                </a:solidFill>
                <a:latin typeface="Arial"/>
              </a:rPr>
              <a:t>Выигрыш даёт устройство процедуры, а не сила инструмента: в разборе, где результат упал, и в контрольной линии, где он вырос, работал </a:t>
            </a:r>
            <a:r>
              <a:rPr sz="1500" b="1" i="0">
                <a:solidFill>
                  <a:srgbClr val="21295C"/>
                </a:solidFill>
                <a:latin typeface="Arial"/>
              </a:rPr>
              <a:t>один и тот же инструмент</a:t>
            </a:r>
            <a:r>
              <a:rPr sz="1500" b="0" i="0">
                <a:solidFill>
                  <a:srgbClr val="21295C"/>
                </a:solidFill>
                <a:latin typeface="Arial"/>
              </a:rPr>
              <a:t>.</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4. Наблюдение за состоянием</a:t>
            </a:r>
          </a:p>
        </p:txBody>
      </p:sp>
      <p:sp>
        <p:nvSpPr>
          <p:cNvPr id="5" name="Rectangle 4"/>
          <p:cNvSpPr/>
          <p:nvPr/>
        </p:nvSpPr>
        <p:spPr>
          <a:xfrm>
            <a:off x="704088" y="1570238"/>
            <a:ext cx="1188720" cy="59436"/>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1844558"/>
            <a:ext cx="10984687"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Решение принято, лечение назначено. Дальше человек не стоит на месте: состояние меняется — иногда медленно, иногда за несколько часов. Кто-то должен заметить перемену раньше, чем она станет очевидной.</a:t>
            </a:r>
          </a:p>
        </p:txBody>
      </p:sp>
      <p:sp>
        <p:nvSpPr>
          <p:cNvPr id="7" name="TextBox 6"/>
          <p:cNvSpPr txBox="1"/>
          <p:nvPr/>
        </p:nvSpPr>
        <p:spPr>
          <a:xfrm>
            <a:off x="704088" y="2613331"/>
            <a:ext cx="10984687"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 раздела один — </a:t>
            </a:r>
            <a:r>
              <a:rPr sz="1550" b="1" i="0">
                <a:solidFill>
                  <a:srgbClr val="21295C"/>
                </a:solidFill>
                <a:latin typeface="Arial"/>
              </a:rPr>
              <a:t>Модель раннего предупреждения</a:t>
            </a:r>
            <a:r>
              <a:rPr sz="1550" b="0" i="0">
                <a:solidFill>
                  <a:srgbClr val="21295C"/>
                </a:solidFill>
                <a:latin typeface="Arial"/>
              </a:rPr>
              <a:t>. Она непрерывно считает балл риска по тем же показателям, что снимает дежурная смена, и прерывает работу тревогой, когда балл переходит порог.</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Обход в палате и лист наблюдения</a:t>
            </a:r>
          </a:p>
        </p:txBody>
      </p:sp>
      <p:sp>
        <p:nvSpPr>
          <p:cNvPr id="4" name="TextBox 3"/>
          <p:cNvSpPr txBox="1"/>
          <p:nvPr/>
        </p:nvSpPr>
        <p:spPr>
          <a:xfrm>
            <a:off x="502920" y="1389888"/>
            <a:ext cx="1289304" cy="457200"/>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Обход по расписанию</a:t>
            </a:r>
          </a:p>
        </p:txBody>
      </p:sp>
      <p:sp>
        <p:nvSpPr>
          <p:cNvPr id="5" name="Rounded Rectangle 4"/>
          <p:cNvSpPr/>
          <p:nvPr/>
        </p:nvSpPr>
        <p:spPr>
          <a:xfrm>
            <a:off x="1920240" y="1335024"/>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002536" y="1417320"/>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измерение величин</a:t>
            </a:r>
          </a:p>
        </p:txBody>
      </p:sp>
      <p:sp>
        <p:nvSpPr>
          <p:cNvPr id="7" name="Right Arrow 6"/>
          <p:cNvSpPr/>
          <p:nvPr/>
        </p:nvSpPr>
        <p:spPr>
          <a:xfrm>
            <a:off x="5039258" y="1495044"/>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267858" y="1335024"/>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350154" y="1417320"/>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сравнение с нормой</a:t>
            </a:r>
          </a:p>
        </p:txBody>
      </p:sp>
      <p:sp>
        <p:nvSpPr>
          <p:cNvPr id="10" name="Right Arrow 9"/>
          <p:cNvSpPr/>
          <p:nvPr/>
        </p:nvSpPr>
        <p:spPr>
          <a:xfrm>
            <a:off x="8386876" y="1495044"/>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615476" y="1335024"/>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97772" y="1417320"/>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запись в лист наблюдения</a:t>
            </a:r>
          </a:p>
        </p:txBody>
      </p:sp>
      <p:sp>
        <p:nvSpPr>
          <p:cNvPr id="13" name="TextBox 12"/>
          <p:cNvSpPr txBox="1"/>
          <p:nvPr/>
        </p:nvSpPr>
        <p:spPr>
          <a:xfrm>
            <a:off x="502920" y="1938528"/>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Как собирается запись между обходами</a:t>
            </a:r>
          </a:p>
        </p:txBody>
      </p:sp>
      <p:sp>
        <p:nvSpPr>
          <p:cNvPr id="14" name="Rounded Rectangle 13"/>
          <p:cNvSpPr/>
          <p:nvPr/>
        </p:nvSpPr>
        <p:spPr>
          <a:xfrm>
            <a:off x="374904" y="2251382"/>
            <a:ext cx="11441887" cy="3984825"/>
          </a:xfrm>
          <a:prstGeom prst="roundRect">
            <a:avLst>
              <a:gd name="adj" fmla="val 764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39496" y="2342822"/>
            <a:ext cx="11112703" cy="389338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Палата, обход по расписанию. Дежурная смена снимает руками и прибором несколько величин — дыхание, пульс, давление, температуру — и сравнивает с нормой.</a:t>
            </a:r>
          </a:p>
          <a:p>
            <a:pPr algn="l">
              <a:lnSpc>
                <a:spcPct val="126000"/>
              </a:lnSpc>
              <a:spcBef>
                <a:spcPts val="700"/>
              </a:spcBef>
            </a:pPr>
            <a:r>
              <a:rPr sz="1500" b="0" i="0">
                <a:solidFill>
                  <a:srgbClr val="21295C"/>
                </a:solidFill>
                <a:latin typeface="Arial"/>
              </a:rPr>
              <a:t/>
            </a:r>
            <a:r>
              <a:rPr sz="1500" b="0" i="0">
                <a:solidFill>
                  <a:srgbClr val="21295C"/>
                </a:solidFill>
                <a:latin typeface="Arial"/>
              </a:rPr>
              <a:t>Каждое измерение уходит в лист наблюдения. Он — единственное, что видит следующая смена, врач на обходе и разбор случая при осложнении.</a:t>
            </a:r>
          </a:p>
          <a:p>
            <a:pPr algn="l">
              <a:lnSpc>
                <a:spcPct val="126000"/>
              </a:lnSpc>
              <a:spcBef>
                <a:spcPts val="700"/>
              </a:spcBef>
            </a:pPr>
            <a:r>
              <a:rPr sz="1500" b="0" i="0">
                <a:solidFill>
                  <a:srgbClr val="21295C"/>
                </a:solidFill>
                <a:latin typeface="Arial"/>
              </a:rPr>
              <a:t/>
            </a:r>
            <a:r>
              <a:rPr sz="1500" b="0" i="0">
                <a:solidFill>
                  <a:srgbClr val="21295C"/>
                </a:solidFill>
                <a:latin typeface="Arial"/>
              </a:rPr>
              <a:t>Вопрос, который решают на этом шаге: звать старшего сейчас или на следующем обходе.</a:t>
            </a:r>
          </a:p>
          <a:p>
            <a:pPr algn="l">
              <a:lnSpc>
                <a:spcPct val="126000"/>
              </a:lnSpc>
              <a:spcBef>
                <a:spcPts val="700"/>
              </a:spcBef>
            </a:pPr>
            <a:r>
              <a:rPr sz="1500" b="0" i="0">
                <a:solidFill>
                  <a:srgbClr val="21295C"/>
                </a:solidFill>
                <a:latin typeface="Arial"/>
              </a:rPr>
              <a:t/>
            </a:r>
            <a:r>
              <a:rPr sz="1500" b="1" i="0">
                <a:solidFill>
                  <a:srgbClr val="21295C"/>
                </a:solidFill>
                <a:latin typeface="Arial"/>
              </a:rPr>
              <a:t>Решает тот, кто пациента не видел — и видит он только запись.</a:t>
            </a:r>
          </a:p>
        </p:txBody>
      </p:sp>
      <p:sp>
        <p:nvSpPr>
          <p:cNvPr id="16" name="Rectangle 1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Шкала раннего предупреждения</a:t>
            </a:r>
          </a:p>
        </p:txBody>
      </p:sp>
      <p:sp>
        <p:nvSpPr>
          <p:cNvPr id="4" name="Rounded Rectangle 3"/>
          <p:cNvSpPr/>
          <p:nvPr/>
        </p:nvSpPr>
        <p:spPr>
          <a:xfrm>
            <a:off x="502920" y="1335024"/>
            <a:ext cx="2590723"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85216" y="1417320"/>
            <a:ext cx="2426131"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баллы по отклонению от нормы</a:t>
            </a:r>
          </a:p>
        </p:txBody>
      </p:sp>
      <p:sp>
        <p:nvSpPr>
          <p:cNvPr id="6" name="Right Arrow 5"/>
          <p:cNvSpPr/>
          <p:nvPr/>
        </p:nvSpPr>
        <p:spPr>
          <a:xfrm>
            <a:off x="3139363" y="1495044"/>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367963" y="1335024"/>
            <a:ext cx="2590723"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50259" y="1417320"/>
            <a:ext cx="2426131"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сумма баллов</a:t>
            </a:r>
          </a:p>
        </p:txBody>
      </p:sp>
      <p:sp>
        <p:nvSpPr>
          <p:cNvPr id="9" name="Right Arrow 8"/>
          <p:cNvSpPr/>
          <p:nvPr/>
        </p:nvSpPr>
        <p:spPr>
          <a:xfrm>
            <a:off x="6004407" y="1495044"/>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33007" y="1335024"/>
            <a:ext cx="2590723"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15303" y="1417320"/>
            <a:ext cx="2426131"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сравнение с порогом</a:t>
            </a:r>
          </a:p>
        </p:txBody>
      </p:sp>
      <p:sp>
        <p:nvSpPr>
          <p:cNvPr id="12" name="Right Arrow 11"/>
          <p:cNvSpPr/>
          <p:nvPr/>
        </p:nvSpPr>
        <p:spPr>
          <a:xfrm>
            <a:off x="8869451" y="1495044"/>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9098051" y="1335024"/>
            <a:ext cx="2590723"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80347" y="1417320"/>
            <a:ext cx="2426131"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назначенное действие</a:t>
            </a:r>
          </a:p>
        </p:txBody>
      </p:sp>
      <p:sp>
        <p:nvSpPr>
          <p:cNvPr id="15" name="TextBox 14"/>
          <p:cNvSpPr txBox="1"/>
          <p:nvPr/>
        </p:nvSpPr>
        <p:spPr>
          <a:xfrm>
            <a:off x="502920" y="1938528"/>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Устройство шкалы — без обученной модели</a:t>
            </a:r>
          </a:p>
        </p:txBody>
      </p:sp>
      <p:sp>
        <p:nvSpPr>
          <p:cNvPr id="16" name="Rounded Rectangle 15"/>
          <p:cNvSpPr/>
          <p:nvPr/>
        </p:nvSpPr>
        <p:spPr>
          <a:xfrm>
            <a:off x="374904" y="2251382"/>
            <a:ext cx="11441887" cy="3984825"/>
          </a:xfrm>
          <a:prstGeom prst="roundRect">
            <a:avLst>
              <a:gd name="adj" fmla="val 764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2342822"/>
            <a:ext cx="11112703" cy="389338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Каждая измеренная величина получает баллы по тому, насколько она отклонилась от нормы. Баллы складываются. Сумма сравнивается с порогом. Порог назначает действие: участить наблюдение, вызвать старшего, вызвать бригаду.</a:t>
            </a:r>
          </a:p>
          <a:p>
            <a:pPr algn="l">
              <a:lnSpc>
                <a:spcPct val="126000"/>
              </a:lnSpc>
              <a:spcBef>
                <a:spcPts val="700"/>
              </a:spcBef>
            </a:pPr>
            <a:r>
              <a:rPr sz="1500" b="0" i="0">
                <a:solidFill>
                  <a:srgbClr val="21295C"/>
                </a:solidFill>
                <a:latin typeface="Arial"/>
              </a:rPr>
              <a:t/>
            </a:r>
            <a:r>
              <a:rPr sz="1500" b="0" i="0">
                <a:solidFill>
                  <a:srgbClr val="21295C"/>
                </a:solidFill>
                <a:latin typeface="Arial"/>
              </a:rPr>
              <a:t>Отличие от модели: </a:t>
            </a:r>
            <a:r>
              <a:rPr sz="1500" b="1" i="0">
                <a:solidFill>
                  <a:srgbClr val="21295C"/>
                </a:solidFill>
                <a:latin typeface="Arial"/>
              </a:rPr>
              <a:t>веса здесь назначены людьми и опубликованы.</a:t>
            </a:r>
            <a:r>
              <a:rPr sz="1500" b="0" i="0">
                <a:solidFill>
                  <a:srgbClr val="21295C"/>
                </a:solidFill>
                <a:latin typeface="Arial"/>
              </a:rPr>
              <a:t> Любой может посмотреть, почему балл такой.</a:t>
            </a:r>
          </a:p>
        </p:txBody>
      </p:sp>
      <p:sp>
        <p:nvSpPr>
          <p:cNvPr id="18" name="Rectangle 17"/>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{{источник: официальная публикация действующей редакции шкалы раннего предупреждения, профессиональное общество, год редакции}}</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Цена двух ошибок дежурной смены</a:t>
            </a:r>
          </a:p>
        </p:txBody>
      </p:sp>
      <p:sp>
        <p:nvSpPr>
          <p:cNvPr id="4" name="Rounded Rectangle 3"/>
          <p:cNvSpPr/>
          <p:nvPr/>
        </p:nvSpPr>
        <p:spPr>
          <a:xfrm>
            <a:off x="502920" y="1335024"/>
            <a:ext cx="5437479" cy="2880978"/>
          </a:xfrm>
          <a:prstGeom prst="roundRect">
            <a:avLst>
              <a:gd name="adj" fmla="val 1057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67512" y="1490472"/>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Пропустить ухудшение</a:t>
            </a:r>
          </a:p>
        </p:txBody>
      </p:sp>
      <p:sp>
        <p:nvSpPr>
          <p:cNvPr id="6" name="TextBox 5"/>
          <p:cNvSpPr txBox="1"/>
          <p:nvPr/>
        </p:nvSpPr>
        <p:spPr>
          <a:xfrm>
            <a:off x="667512" y="1846650"/>
            <a:ext cx="5108295" cy="2213903"/>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часы задержки лечения</a:t>
            </a:r>
          </a:p>
          <a:p>
            <a:pPr algn="l">
              <a:lnSpc>
                <a:spcPct val="126000"/>
              </a:lnSpc>
            </a:pPr>
            <a:r>
              <a:rPr sz="1450" b="0" i="0">
                <a:solidFill>
                  <a:srgbClr val="21295C"/>
                </a:solidFill>
                <a:latin typeface="Arial"/>
              </a:rPr>
              <a:t>• одна из ведущих причин внутрибольничной смерти</a:t>
            </a:r>
          </a:p>
        </p:txBody>
      </p:sp>
      <p:sp>
        <p:nvSpPr>
          <p:cNvPr id="7" name="Rounded Rectangle 6"/>
          <p:cNvSpPr/>
          <p:nvPr/>
        </p:nvSpPr>
        <p:spPr>
          <a:xfrm>
            <a:off x="6251295" y="1335024"/>
            <a:ext cx="5437479" cy="2880978"/>
          </a:xfrm>
          <a:prstGeom prst="roundRect">
            <a:avLst>
              <a:gd name="adj" fmla="val 10579"/>
            </a:avLst>
          </a:prstGeom>
          <a:solidFill>
            <a:srgbClr val="FFFFFF"/>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15887" y="1490472"/>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Поднять ложную тревогу</a:t>
            </a:r>
          </a:p>
        </p:txBody>
      </p:sp>
      <p:sp>
        <p:nvSpPr>
          <p:cNvPr id="9" name="TextBox 8"/>
          <p:cNvSpPr txBox="1"/>
          <p:nvPr/>
        </p:nvSpPr>
        <p:spPr>
          <a:xfrm>
            <a:off x="6415887" y="1846650"/>
            <a:ext cx="5108295" cy="2213903"/>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дополнительные анализы</a:t>
            </a:r>
          </a:p>
          <a:p>
            <a:pPr algn="l">
              <a:lnSpc>
                <a:spcPct val="126000"/>
              </a:lnSpc>
            </a:pPr>
            <a:r>
              <a:rPr sz="1450" b="0" i="0">
                <a:solidFill>
                  <a:srgbClr val="21295C"/>
                </a:solidFill>
                <a:latin typeface="Arial"/>
              </a:rPr>
              <a:t>• антибиотик «на всякий случай»</a:t>
            </a:r>
          </a:p>
          <a:p>
            <a:pPr algn="l">
              <a:lnSpc>
                <a:spcPct val="126000"/>
              </a:lnSpc>
            </a:pPr>
            <a:r>
              <a:rPr sz="1450" b="0" i="0">
                <a:solidFill>
                  <a:srgbClr val="21295C"/>
                </a:solidFill>
                <a:latin typeface="Arial"/>
              </a:rPr>
              <a:t>• время сестры, снятое с другого пациента</a:t>
            </a:r>
          </a:p>
        </p:txBody>
      </p:sp>
      <p:sp>
        <p:nvSpPr>
          <p:cNvPr id="10" name="Rounded Rectangle 9"/>
          <p:cNvSpPr/>
          <p:nvPr/>
        </p:nvSpPr>
        <p:spPr>
          <a:xfrm>
            <a:off x="374904" y="4307442"/>
            <a:ext cx="11441887" cy="1928765"/>
          </a:xfrm>
          <a:prstGeom prst="roundRect">
            <a:avLst>
              <a:gd name="adj" fmla="val 1580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9496" y="4398882"/>
            <a:ext cx="11112703" cy="183732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Пропустить ухудшение.</a:t>
            </a:r>
            <a:r>
              <a:rPr sz="1500" b="0" i="0">
                <a:solidFill>
                  <a:srgbClr val="21295C"/>
                </a:solidFill>
                <a:latin typeface="Arial"/>
              </a:rPr>
              <a:t> Часы задержки лечения; нераспознанное ухудшение состояния — одна из ведущих причин внутрибольничной смерти, и считается она не в деньгах.</a:t>
            </a:r>
          </a:p>
          <a:p>
            <a:pPr algn="l">
              <a:lnSpc>
                <a:spcPct val="126000"/>
              </a:lnSpc>
              <a:spcBef>
                <a:spcPts val="700"/>
              </a:spcBef>
            </a:pPr>
            <a:r>
              <a:rPr sz="1500" b="0" i="0">
                <a:solidFill>
                  <a:srgbClr val="21295C"/>
                </a:solidFill>
                <a:latin typeface="Arial"/>
              </a:rPr>
              <a:t/>
            </a:r>
            <a:r>
              <a:rPr sz="1500" b="1" i="0">
                <a:solidFill>
                  <a:srgbClr val="21295C"/>
                </a:solidFill>
                <a:latin typeface="Arial"/>
              </a:rPr>
              <a:t>Поднять ложную тревогу.</a:t>
            </a:r>
            <a:r>
              <a:rPr sz="1500" b="0" i="0">
                <a:solidFill>
                  <a:srgbClr val="21295C"/>
                </a:solidFill>
                <a:latin typeface="Arial"/>
              </a:rPr>
              <a:t> Дополнительные анализы, антибиотик «на всякий случай», устойчивость возбудителя, время сестры, снятое с другого пациента.</a:t>
            </a:r>
          </a:p>
          <a:p>
            <a:pPr algn="l">
              <a:lnSpc>
                <a:spcPct val="126000"/>
              </a:lnSpc>
              <a:spcBef>
                <a:spcPts val="700"/>
              </a:spcBef>
            </a:pPr>
            <a:r>
              <a:rPr sz="1500" b="0" i="0">
                <a:solidFill>
                  <a:srgbClr val="21295C"/>
                </a:solidFill>
                <a:latin typeface="Arial"/>
              </a:rPr>
              <a:t/>
            </a:r>
            <a:r>
              <a:rPr sz="1500" b="0" i="0">
                <a:solidFill>
                  <a:srgbClr val="21295C"/>
                </a:solidFill>
                <a:latin typeface="Arial"/>
              </a:rPr>
              <a:t>Обе ошибки платит одна и та же дежурная смена.</a:t>
            </a:r>
          </a:p>
          <a:p>
            <a:pPr algn="l">
              <a:lnSpc>
                <a:spcPct val="126000"/>
              </a:lnSpc>
              <a:spcBef>
                <a:spcPts val="700"/>
              </a:spcBef>
            </a:pPr>
            <a:r>
              <a:rPr sz="1500" b="0" i="0">
                <a:solidFill>
                  <a:srgbClr val="21295C"/>
                </a:solidFill>
                <a:latin typeface="Arial"/>
              </a:rPr>
              <a:t/>
            </a:r>
            <a:r>
              <a:rPr sz="1500" b="1" i="0">
                <a:solidFill>
                  <a:srgbClr val="21295C"/>
                </a:solidFill>
                <a:latin typeface="Arial"/>
              </a:rPr>
              <a:t>Какую долю входящих оповещений вы закрываете, не читая?</a:t>
            </a:r>
          </a:p>
        </p:txBody>
      </p:sp>
      <p:sp>
        <p:nvSpPr>
          <p:cNvPr id="12" name="Rectangle 11"/>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Счёт заменяемых режимов</a:t>
            </a:r>
          </a:p>
        </p:txBody>
      </p:sp>
      <p:sp>
        <p:nvSpPr>
          <p:cNvPr id="4" name="Rounded Rectangle 3"/>
          <p:cNvSpPr/>
          <p:nvPr/>
        </p:nvSpPr>
        <p:spPr>
          <a:xfrm>
            <a:off x="502920" y="1335024"/>
            <a:ext cx="3618890" cy="1680031"/>
          </a:xfrm>
          <a:prstGeom prst="roundRect">
            <a:avLst>
              <a:gd name="adj" fmla="val 1814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ШКАЛА РАННЕГО ПРЕДУПРЕЖДЕНИЯ — ПОДТВЕРЖДАЕТСЯ</a:t>
            </a:r>
          </a:p>
        </p:txBody>
      </p:sp>
      <p:sp>
        <p:nvSpPr>
          <p:cNvPr id="6" name="TextBox 5"/>
          <p:cNvSpPr txBox="1"/>
          <p:nvPr/>
        </p:nvSpPr>
        <p:spPr>
          <a:xfrm>
            <a:off x="640080" y="1863689"/>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 эскалаций из ста</a:t>
            </a:r>
          </a:p>
        </p:txBody>
      </p:sp>
      <p:sp>
        <p:nvSpPr>
          <p:cNvPr id="7" name="TextBox 6"/>
          <p:cNvSpPr txBox="1"/>
          <p:nvPr/>
        </p:nvSpPr>
        <p:spPr>
          <a:xfrm>
            <a:off x="640080" y="2290688"/>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45 776 пациентов общего профиля, сепсис у 3,3 из ста — 1 496 случаев; чувствительность шкалы 0,758, специфичность 0,711</a:t>
            </a:r>
          </a:p>
        </p:txBody>
      </p:sp>
      <p:sp>
        <p:nvSpPr>
          <p:cNvPr id="8" name="Rounded Rectangle 7"/>
          <p:cNvSpPr/>
          <p:nvPr/>
        </p:nvSpPr>
        <p:spPr>
          <a:xfrm>
            <a:off x="4286402" y="1335024"/>
            <a:ext cx="3618890" cy="1680031"/>
          </a:xfrm>
          <a:prstGeom prst="roundRect">
            <a:avLst>
              <a:gd name="adj" fmla="val 1814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ДВЕ ДРУГИЕ ШКАЛЫ ТОГО ЖЕ РАЗБОРА</a:t>
            </a:r>
          </a:p>
        </p:txBody>
      </p:sp>
      <p:sp>
        <p:nvSpPr>
          <p:cNvPr id="10" name="TextBox 9"/>
          <p:cNvSpPr txBox="1"/>
          <p:nvPr/>
        </p:nvSpPr>
        <p:spPr>
          <a:xfrm>
            <a:off x="4423562"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12 и 18 эскалаций из ста</a:t>
            </a:r>
          </a:p>
        </p:txBody>
      </p:sp>
      <p:sp>
        <p:nvSpPr>
          <p:cNvPr id="11" name="TextBox 10"/>
          <p:cNvSpPr txBox="1"/>
          <p:nvPr/>
        </p:nvSpPr>
        <p:spPr>
          <a:xfrm>
            <a:off x="4423562" y="2508219"/>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тот же разбор, та же выборка — шкалы сравнивались между собой на одном населении</a:t>
            </a:r>
          </a:p>
        </p:txBody>
      </p:sp>
      <p:sp>
        <p:nvSpPr>
          <p:cNvPr id="12" name="Rounded Rectangle 11"/>
          <p:cNvSpPr/>
          <p:nvPr/>
        </p:nvSpPr>
        <p:spPr>
          <a:xfrm>
            <a:off x="8069884" y="1335024"/>
            <a:ext cx="3618890" cy="1680031"/>
          </a:xfrm>
          <a:prstGeom prst="roundRect">
            <a:avLst>
              <a:gd name="adj" fmla="val 1814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ТРЕВОГИ ПРИКРОВАТНОГО ПРИБОРА — ЛОЖНЫЕ</a:t>
            </a:r>
          </a:p>
        </p:txBody>
      </p:sp>
      <p:sp>
        <p:nvSpPr>
          <p:cNvPr id="14" name="TextBox 13"/>
          <p:cNvSpPr txBox="1"/>
          <p:nvPr/>
        </p:nvSpPr>
        <p:spPr>
          <a:xfrm>
            <a:off x="8207044" y="169079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88,8 из ста</a:t>
            </a:r>
          </a:p>
        </p:txBody>
      </p:sp>
      <p:sp>
        <p:nvSpPr>
          <p:cNvPr id="15" name="TextBox 14"/>
          <p:cNvSpPr txBox="1"/>
          <p:nvPr/>
        </p:nvSpPr>
        <p:spPr>
          <a:xfrm>
            <a:off x="8207044" y="2117795"/>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12 671 размеченная тревога аритмии в реанимации; обученной модели в приборе нет вовсе — там порог, выставленный рукой</a:t>
            </a:r>
          </a:p>
        </p:txBody>
      </p:sp>
      <p:sp>
        <p:nvSpPr>
          <p:cNvPr id="16" name="Rounded Rectangle 15"/>
          <p:cNvSpPr/>
          <p:nvPr/>
        </p:nvSpPr>
        <p:spPr>
          <a:xfrm>
            <a:off x="374904" y="3106495"/>
            <a:ext cx="11441887" cy="3129712"/>
          </a:xfrm>
          <a:prstGeom prst="roundRect">
            <a:avLst>
              <a:gd name="adj" fmla="val 97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3197935"/>
            <a:ext cx="11112703" cy="303827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8 эскалаций из ста</a:t>
            </a:r>
            <a:r>
              <a:rPr sz="1500" b="0" i="0">
                <a:solidFill>
                  <a:srgbClr val="21295C"/>
                </a:solidFill>
                <a:latin typeface="Arial"/>
              </a:rPr>
              <a:t> подтверждаются у шкалы раннего предупреждения на поиске сепсиса в общем отделении — то есть 92 из ста сделаны впустую, и эта цена была частью контура до всякого машинного обучения.</a:t>
            </a:r>
          </a:p>
          <a:p>
            <a:pPr algn="l">
              <a:lnSpc>
                <a:spcPct val="126000"/>
              </a:lnSpc>
              <a:spcBef>
                <a:spcPts val="700"/>
              </a:spcBef>
            </a:pPr>
            <a:r>
              <a:rPr sz="1500" b="0" i="0">
                <a:solidFill>
                  <a:srgbClr val="21295C"/>
                </a:solidFill>
                <a:latin typeface="Arial"/>
              </a:rPr>
              <a:t/>
            </a:r>
            <a:r>
              <a:rPr sz="1500" b="1" i="0">
                <a:solidFill>
                  <a:srgbClr val="21295C"/>
                </a:solidFill>
                <a:latin typeface="Arial"/>
              </a:rPr>
              <a:t>12 и 18 эскалаций из ста</a:t>
            </a:r>
            <a:r>
              <a:rPr sz="1500" b="0" i="0">
                <a:solidFill>
                  <a:srgbClr val="21295C"/>
                </a:solidFill>
                <a:latin typeface="Arial"/>
              </a:rPr>
              <a:t> — две другие шкалы того же разбора, на той же выборке.</a:t>
            </a:r>
          </a:p>
          <a:p>
            <a:pPr algn="l">
              <a:lnSpc>
                <a:spcPct val="126000"/>
              </a:lnSpc>
              <a:spcBef>
                <a:spcPts val="700"/>
              </a:spcBef>
            </a:pPr>
            <a:r>
              <a:rPr sz="1500" b="0" i="0">
                <a:solidFill>
                  <a:srgbClr val="21295C"/>
                </a:solidFill>
                <a:latin typeface="Arial"/>
              </a:rPr>
              <a:t/>
            </a:r>
            <a:r>
              <a:rPr sz="1500" b="1" i="0">
                <a:solidFill>
                  <a:srgbClr val="21295C"/>
                </a:solidFill>
                <a:latin typeface="Arial"/>
              </a:rPr>
              <a:t>88,8 из ста тревог</a:t>
            </a:r>
            <a:r>
              <a:rPr sz="1500" b="0" i="0">
                <a:solidFill>
                  <a:srgbClr val="21295C"/>
                </a:solidFill>
                <a:latin typeface="Arial"/>
              </a:rPr>
              <a:t> прикроватного прибора ложные — из 12 671 размеченной тревоги аритмии. Обученной модели там нет вовсе: порог выставлен рукой. Прибор и шкала решают разные задачи, и доли их не складываются.</a:t>
            </a:r>
          </a:p>
          <a:p>
            <a:pPr algn="l">
              <a:lnSpc>
                <a:spcPct val="126000"/>
              </a:lnSpc>
              <a:spcBef>
                <a:spcPts val="700"/>
              </a:spcBef>
            </a:pPr>
            <a:r>
              <a:rPr sz="1500" b="0" i="0">
                <a:solidFill>
                  <a:srgbClr val="21295C"/>
                </a:solidFill>
                <a:latin typeface="Arial"/>
              </a:rPr>
              <a:t/>
            </a:r>
            <a:r>
              <a:rPr sz="1500" b="0" i="0">
                <a:solidFill>
                  <a:srgbClr val="21295C"/>
                </a:solidFill>
                <a:latin typeface="Arial"/>
              </a:rPr>
              <a:t>Ни один классический режим не был бесплатным. Сравнивать модель надо с этими числами, а не с нулём.</a:t>
            </a:r>
          </a:p>
        </p:txBody>
      </p:sp>
      <p:sp>
        <p:nvSpPr>
          <p:cNvPr id="18" name="Rectangle 17"/>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Сравнение балльных шкал на поиске сепсиса в общем отделении, JAMIA Open 2021, DOI 10.1093/jamiaopen/ooab062, PMID 34820600</a:t>
            </a:r>
            <a:r>
              <a:rPr sz="1100" b="0" i="1">
                <a:solidFill>
                  <a:srgbClr val="1C7293"/>
                </a:solidFill>
                <a:latin typeface="Arial"/>
              </a:rPr>
              <a:t> · </a:t>
            </a:r>
            <a:r>
              <a:rPr sz="1100" b="0" i="1">
                <a:solidFill>
                  <a:srgbClr val="1C7293"/>
                </a:solidFill>
                <a:latin typeface="Arial"/>
              </a:rPr>
              <a:t>Drew B. J. и соавт., PLoS One 2014;9(10):e110274, DOI 10.1371/journal.pone.0110274, PMID 25338067</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Модель раннего предупреждения</a:t>
            </a:r>
          </a:p>
        </p:txBody>
      </p:sp>
      <p:sp>
        <p:nvSpPr>
          <p:cNvPr id="4" name="Rounded Rectangle 3"/>
          <p:cNvSpPr/>
          <p:nvPr/>
        </p:nvSpPr>
        <p:spPr>
          <a:xfrm>
            <a:off x="502920" y="1335024"/>
            <a:ext cx="3618890" cy="2049707"/>
          </a:xfrm>
          <a:prstGeom prst="roundRect">
            <a:avLst>
              <a:gd name="adj" fmla="val 1487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ЗАЯВЛЕНО РАЗРАБОТЧИКОМ</a:t>
            </a:r>
          </a:p>
        </p:txBody>
      </p:sp>
      <p:sp>
        <p:nvSpPr>
          <p:cNvPr id="6" name="TextBox 5"/>
          <p:cNvSpPr txBox="1"/>
          <p:nvPr/>
        </p:nvSpPr>
        <p:spPr>
          <a:xfrm>
            <a:off x="640080"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менее 0,76 · 0,83–0,86</a:t>
            </a:r>
          </a:p>
        </p:txBody>
      </p:sp>
      <p:sp>
        <p:nvSpPr>
          <p:cNvPr id="7" name="TextBox 6"/>
          <p:cNvSpPr txBox="1"/>
          <p:nvPr/>
        </p:nvSpPr>
        <p:spPr>
          <a:xfrm>
            <a:off x="640080" y="2508219"/>
            <a:ext cx="3344570"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первое — информационный лист по первой версии, второе — заявление по второй версии по трём своим площадкам; это не одно число, и оно менялось от версии к версии</a:t>
            </a:r>
          </a:p>
        </p:txBody>
      </p:sp>
      <p:sp>
        <p:nvSpPr>
          <p:cNvPr id="8" name="Rounded Rectangle 7"/>
          <p:cNvSpPr/>
          <p:nvPr/>
        </p:nvSpPr>
        <p:spPr>
          <a:xfrm>
            <a:off x="4286402" y="1335024"/>
            <a:ext cx="3618890" cy="2049707"/>
          </a:xfrm>
          <a:prstGeom prst="roundRect">
            <a:avLst>
              <a:gd name="adj" fmla="val 14870"/>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ИЗМЕРЕНО НЕЗАВИСИМОЙ ПРОВЕРКОЙ</a:t>
            </a:r>
          </a:p>
        </p:txBody>
      </p:sp>
      <p:sp>
        <p:nvSpPr>
          <p:cNvPr id="10" name="TextBox 9"/>
          <p:cNvSpPr txBox="1"/>
          <p:nvPr/>
        </p:nvSpPr>
        <p:spPr>
          <a:xfrm>
            <a:off x="4423562" y="169079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0,63</a:t>
            </a:r>
          </a:p>
        </p:txBody>
      </p:sp>
      <p:sp>
        <p:nvSpPr>
          <p:cNvPr id="11" name="TextBox 10"/>
          <p:cNvSpPr txBox="1"/>
          <p:nvPr/>
        </p:nvSpPr>
        <p:spPr>
          <a:xfrm>
            <a:off x="4423562" y="2117795"/>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внешняя проверка первой версии: 38 455 госпитализаций 27 697 пациентов одной университетской системы</a:t>
            </a:r>
          </a:p>
        </p:txBody>
      </p:sp>
      <p:sp>
        <p:nvSpPr>
          <p:cNvPr id="12" name="Rounded Rectangle 11"/>
          <p:cNvSpPr/>
          <p:nvPr/>
        </p:nvSpPr>
        <p:spPr>
          <a:xfrm>
            <a:off x="8069884" y="1335024"/>
            <a:ext cx="3618890" cy="2049707"/>
          </a:xfrm>
          <a:prstGeom prst="roundRect">
            <a:avLst>
              <a:gd name="adj" fmla="val 1487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ПОЙМАНО СЛУЧАЕВ СЕПСИСА</a:t>
            </a:r>
          </a:p>
        </p:txBody>
      </p:sp>
      <p:sp>
        <p:nvSpPr>
          <p:cNvPr id="14" name="TextBox 13"/>
          <p:cNvSpPr txBox="1"/>
          <p:nvPr/>
        </p:nvSpPr>
        <p:spPr>
          <a:xfrm>
            <a:off x="8207044"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33 из ста</a:t>
            </a:r>
          </a:p>
        </p:txBody>
      </p:sp>
      <p:sp>
        <p:nvSpPr>
          <p:cNvPr id="15" name="TextBox 14"/>
          <p:cNvSpPr txBox="1"/>
          <p:nvPr/>
        </p:nvSpPr>
        <p:spPr>
          <a:xfrm>
            <a:off x="8207044" y="2117795"/>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не выявлено 1 709 из 2 552; из пациентов, которых пропустил клиницист, модель поймала 7 из ста</a:t>
            </a:r>
          </a:p>
        </p:txBody>
      </p:sp>
      <p:sp>
        <p:nvSpPr>
          <p:cNvPr id="16" name="Rounded Rectangle 15"/>
          <p:cNvSpPr/>
          <p:nvPr/>
        </p:nvSpPr>
        <p:spPr>
          <a:xfrm>
            <a:off x="374904" y="3476171"/>
            <a:ext cx="11441887" cy="2760036"/>
          </a:xfrm>
          <a:prstGeom prst="roundRect">
            <a:avLst>
              <a:gd name="adj" fmla="val 1104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3567611"/>
            <a:ext cx="11112703" cy="266859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Модель непрерывно считает балл риска по карте и прерывает работу тревогой с готовым набором назначений в один щелчок.</a:t>
            </a:r>
          </a:p>
          <a:p>
            <a:pPr algn="l">
              <a:lnSpc>
                <a:spcPct val="126000"/>
              </a:lnSpc>
              <a:spcBef>
                <a:spcPts val="700"/>
              </a:spcBef>
            </a:pPr>
            <a:r>
              <a:rPr sz="1500" b="0" i="0">
                <a:solidFill>
                  <a:srgbClr val="21295C"/>
                </a:solidFill>
                <a:latin typeface="Arial"/>
              </a:rPr>
              <a:t/>
            </a:r>
            <a:r>
              <a:rPr sz="1500" b="1" i="0">
                <a:solidFill>
                  <a:srgbClr val="21295C"/>
                </a:solidFill>
                <a:latin typeface="Arial"/>
              </a:rPr>
              <a:t>Заявлено разработчиком:</a:t>
            </a:r>
            <a:r>
              <a:rPr sz="1500" b="0" i="0">
                <a:solidFill>
                  <a:srgbClr val="21295C"/>
                </a:solidFill>
                <a:latin typeface="Arial"/>
              </a:rPr>
              <a:t> не менее 0,76 по первой версии, 0,83–0,86 по второй. </a:t>
            </a:r>
            <a:r>
              <a:rPr sz="1500" b="1" i="0">
                <a:solidFill>
                  <a:srgbClr val="21295C"/>
                </a:solidFill>
                <a:latin typeface="Arial"/>
              </a:rPr>
              <a:t>Измерено независимой проверкой первой версии:</a:t>
            </a:r>
            <a:r>
              <a:rPr sz="1500" b="0" i="0">
                <a:solidFill>
                  <a:srgbClr val="21295C"/>
                </a:solidFill>
                <a:latin typeface="Arial"/>
              </a:rPr>
              <a:t> 0,63. </a:t>
            </a:r>
            <a:r>
              <a:rPr sz="1500" b="1" i="0">
                <a:solidFill>
                  <a:srgbClr val="21295C"/>
                </a:solidFill>
                <a:latin typeface="Arial"/>
              </a:rPr>
              <a:t>Поймано</a:t>
            </a:r>
            <a:r>
              <a:rPr sz="1500" b="0" i="0">
                <a:solidFill>
                  <a:srgbClr val="21295C"/>
                </a:solidFill>
                <a:latin typeface="Arial"/>
              </a:rPr>
              <a:t> 33 случая сепсиса из ста — не выявлено 1 709 из 2 552.</a:t>
            </a:r>
          </a:p>
          <a:p>
            <a:pPr algn="l">
              <a:lnSpc>
                <a:spcPct val="126000"/>
              </a:lnSpc>
              <a:spcBef>
                <a:spcPts val="700"/>
              </a:spcBef>
            </a:pPr>
            <a:r>
              <a:rPr sz="1500" b="0" i="0">
                <a:solidFill>
                  <a:srgbClr val="21295C"/>
                </a:solidFill>
                <a:latin typeface="Arial"/>
              </a:rPr>
              <a:t/>
            </a:r>
            <a:r>
              <a:rPr sz="1500" b="0" i="0">
                <a:solidFill>
                  <a:srgbClr val="21295C"/>
                </a:solidFill>
                <a:latin typeface="Arial"/>
              </a:rPr>
              <a:t>Класс модели — штрафованная логистическая регрессия: обученная статистика, а не глубокая сеть.</a:t>
            </a:r>
          </a:p>
          <a:p>
            <a:pPr algn="l">
              <a:lnSpc>
                <a:spcPct val="126000"/>
              </a:lnSpc>
              <a:spcBef>
                <a:spcPts val="700"/>
              </a:spcBef>
            </a:pPr>
            <a:r>
              <a:rPr sz="1200" b="0" i="0">
                <a:solidFill>
                  <a:srgbClr val="21295C"/>
                </a:solidFill>
                <a:latin typeface="Arial"/>
              </a:rPr>
              <a:t/>
            </a:r>
            <a:r>
              <a:rPr sz="1200" b="0" i="1">
                <a:solidFill>
                  <a:srgbClr val="1C7293"/>
                </a:solidFill>
                <a:latin typeface="Arial"/>
              </a:rPr>
              <a:t>Режим: предиктивный модуль внутри самой медицинской карты. Чем это делают сегодня: модель сепсиса у Epic (действующая версия — решающие деревья с градиентным бустингом, с донастройкой на историю своей больницы); у второго крупного поставщика карты — та же схема на моделях облачного партнёра; в России — Webiomed. Чего режим не умеет: переносить качество между населениями; замолкать, когда картина населения меняется.</a:t>
            </a:r>
          </a:p>
        </p:txBody>
      </p:sp>
      <p:sp>
        <p:nvSpPr>
          <p:cNvPr id="18" name="Rectangle 17"/>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Wong, Otles и соавт., JAMA Internal Medicine 2021, DOI 10.1001/jamainternmed.2021.2626</a:t>
            </a:r>
            <a:r>
              <a:rPr sz="1100" b="0" i="1">
                <a:solidFill>
                  <a:srgbClr val="1C7293"/>
                </a:solidFill>
                <a:latin typeface="Arial"/>
              </a:rPr>
              <a:t> · </a:t>
            </a:r>
            <a:r>
              <a:rPr sz="1100" b="0" i="1">
                <a:solidFill>
                  <a:srgbClr val="1C7293"/>
                </a:solidFill>
                <a:latin typeface="Arial"/>
              </a:rPr>
              <a:t>заявления разработчика: информационный лист по первой версии и заявление по второй версии, напечатанное внутри рецензируемой работы 2026 года</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Сто госпитализаций, восемнадцать тревог, два подтверждённых случая</a:t>
            </a:r>
          </a:p>
        </p:txBody>
      </p:sp>
      <p:sp>
        <p:nvSpPr>
          <p:cNvPr id="4" name="Rounded Rectangle 3"/>
          <p:cNvSpPr/>
          <p:nvPr/>
        </p:nvSpPr>
        <p:spPr>
          <a:xfrm>
            <a:off x="502920" y="1335024"/>
            <a:ext cx="5510631" cy="1289607"/>
          </a:xfrm>
          <a:prstGeom prst="roundRect">
            <a:avLst>
              <a:gd name="adj" fmla="val 23635"/>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ТРЕВОГА ПРИХОДИТ НА</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18 из ста госпитализаций</a:t>
            </a:r>
          </a:p>
        </p:txBody>
      </p:sp>
      <p:sp>
        <p:nvSpPr>
          <p:cNvPr id="7" name="TextBox 6"/>
          <p:cNvSpPr txBox="1"/>
          <p:nvPr/>
        </p:nvSpPr>
        <p:spPr>
          <a:xfrm>
            <a:off x="640080"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6 971 тревога на 38 455 госпитализаций; пересказ «каждая шестая госпитализация» занижает измеренное</a:t>
            </a:r>
          </a:p>
        </p:txBody>
      </p:sp>
      <p:sp>
        <p:nvSpPr>
          <p:cNvPr id="8" name="Rounded Rectangle 7"/>
          <p:cNvSpPr/>
          <p:nvPr/>
        </p:nvSpPr>
        <p:spPr>
          <a:xfrm>
            <a:off x="6178143" y="1335024"/>
            <a:ext cx="5510631" cy="1289607"/>
          </a:xfrm>
          <a:prstGeom prst="roundRect">
            <a:avLst>
              <a:gd name="adj" fmla="val 23635"/>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ЧТОБЫ НАЙТИ ОДИН СЛУЧАЙ СЕПСИСА, РАЗОБРАТЬ</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восемь тревог</a:t>
            </a:r>
          </a:p>
        </p:txBody>
      </p:sp>
      <p:sp>
        <p:nvSpPr>
          <p:cNvPr id="11" name="TextBox 10"/>
          <p:cNvSpPr txBox="1"/>
          <p:nvPr/>
        </p:nvSpPr>
        <p:spPr>
          <a:xfrm>
            <a:off x="6315303"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прежнее значение той же работы — пятнадцать — отозвано эрратой того же журнала; пресса печатает отозванное до сих пор</a:t>
            </a:r>
          </a:p>
        </p:txBody>
      </p:sp>
      <p:sp>
        <p:nvSpPr>
          <p:cNvPr id="12" name="TextBox 11"/>
          <p:cNvSpPr txBox="1"/>
          <p:nvPr/>
        </p:nvSpPr>
        <p:spPr>
          <a:xfrm>
            <a:off x="502920" y="2862375"/>
            <a:ext cx="1289304" cy="457200"/>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Поток тревоги</a:t>
            </a:r>
          </a:p>
        </p:txBody>
      </p:sp>
      <p:sp>
        <p:nvSpPr>
          <p:cNvPr id="13" name="Rounded Rectangle 12"/>
          <p:cNvSpPr/>
          <p:nvPr/>
        </p:nvSpPr>
        <p:spPr>
          <a:xfrm>
            <a:off x="1920240" y="2807511"/>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002536" y="2889807"/>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1 000 госпитализаций</a:t>
            </a:r>
          </a:p>
        </p:txBody>
      </p:sp>
      <p:sp>
        <p:nvSpPr>
          <p:cNvPr id="15" name="Right Arrow 14"/>
          <p:cNvSpPr/>
          <p:nvPr/>
        </p:nvSpPr>
        <p:spPr>
          <a:xfrm>
            <a:off x="5039258" y="2967531"/>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267858" y="2807511"/>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50154" y="2889807"/>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около 181 тревоги</a:t>
            </a:r>
          </a:p>
        </p:txBody>
      </p:sp>
      <p:sp>
        <p:nvSpPr>
          <p:cNvPr id="18" name="Right Arrow 17"/>
          <p:cNvSpPr/>
          <p:nvPr/>
        </p:nvSpPr>
        <p:spPr>
          <a:xfrm>
            <a:off x="8386876" y="2967531"/>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615476" y="2807511"/>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97772" y="2889807"/>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22 подтверждённых случая</a:t>
            </a:r>
          </a:p>
        </p:txBody>
      </p:sp>
      <p:sp>
        <p:nvSpPr>
          <p:cNvPr id="21" name="TextBox 20"/>
          <p:cNvSpPr txBox="1"/>
          <p:nvPr/>
        </p:nvSpPr>
        <p:spPr>
          <a:xfrm>
            <a:off x="502920" y="3411015"/>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Путь одной тревоги</a:t>
            </a:r>
          </a:p>
        </p:txBody>
      </p:sp>
      <p:sp>
        <p:nvSpPr>
          <p:cNvPr id="22" name="Rounded Rectangle 21"/>
          <p:cNvSpPr/>
          <p:nvPr/>
        </p:nvSpPr>
        <p:spPr>
          <a:xfrm>
            <a:off x="374904" y="3723870"/>
            <a:ext cx="11441887" cy="2512337"/>
          </a:xfrm>
          <a:prstGeom prst="roundRect">
            <a:avLst>
              <a:gd name="adj" fmla="val 1213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39496" y="3815310"/>
            <a:ext cx="11112703" cy="2420897"/>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Тревога приходит на </a:t>
            </a:r>
            <a:r>
              <a:rPr sz="1500" b="1" i="0">
                <a:solidFill>
                  <a:srgbClr val="21295C"/>
                </a:solidFill>
                <a:latin typeface="Arial"/>
              </a:rPr>
              <a:t>18 из ста госпитализаций</a:t>
            </a:r>
            <a:r>
              <a:rPr sz="1500" b="0" i="0">
                <a:solidFill>
                  <a:srgbClr val="21295C"/>
                </a:solidFill>
                <a:latin typeface="Arial"/>
              </a:rPr>
              <a:t>. Чтобы найти одного пациента, у которого разовьётся сепсис, разобрать приходится </a:t>
            </a:r>
            <a:r>
              <a:rPr sz="1500" b="1" i="0">
                <a:solidFill>
                  <a:srgbClr val="21295C"/>
                </a:solidFill>
                <a:latin typeface="Arial"/>
              </a:rPr>
              <a:t>восемь тревог</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0" i="0">
                <a:solidFill>
                  <a:srgbClr val="21295C"/>
                </a:solidFill>
                <a:latin typeface="Arial"/>
              </a:rPr>
              <a:t>Знаменатели здесь разные, и путать их нельзя: 18 — доля </a:t>
            </a:r>
            <a:r>
              <a:rPr sz="1500" b="1" i="0">
                <a:solidFill>
                  <a:srgbClr val="21295C"/>
                </a:solidFill>
                <a:latin typeface="Arial"/>
              </a:rPr>
              <a:t>госпитализаций</a:t>
            </a:r>
            <a:r>
              <a:rPr sz="1500" b="0" i="0">
                <a:solidFill>
                  <a:srgbClr val="21295C"/>
                </a:solidFill>
                <a:latin typeface="Arial"/>
              </a:rPr>
              <a:t>, на которые пришла тревога; 12 — доля </a:t>
            </a:r>
            <a:r>
              <a:rPr sz="1500" b="1" i="0">
                <a:solidFill>
                  <a:srgbClr val="21295C"/>
                </a:solidFill>
                <a:latin typeface="Arial"/>
              </a:rPr>
              <a:t>поднятых тревог</a:t>
            </a:r>
            <a:r>
              <a:rPr sz="1500" b="0" i="0">
                <a:solidFill>
                  <a:srgbClr val="21295C"/>
                </a:solidFill>
                <a:latin typeface="Arial"/>
              </a:rPr>
              <a:t>, которые подтвердились. Шкала, которую модель заменяла, подтверждалась 8 эскалациями из ста, другая шкала того же разбора — 18. Модель из этой полосы не вышла.</a:t>
            </a:r>
          </a:p>
          <a:p>
            <a:pPr algn="l">
              <a:lnSpc>
                <a:spcPct val="126000"/>
              </a:lnSpc>
              <a:spcBef>
                <a:spcPts val="700"/>
              </a:spcBef>
            </a:pPr>
            <a:r>
              <a:rPr sz="1500" b="0" i="0">
                <a:solidFill>
                  <a:srgbClr val="21295C"/>
                </a:solidFill>
                <a:latin typeface="Arial"/>
              </a:rPr>
              <a:t/>
            </a:r>
            <a:r>
              <a:rPr sz="1500" b="0" i="0">
                <a:solidFill>
                  <a:srgbClr val="21295C"/>
                </a:solidFill>
                <a:latin typeface="Arial"/>
              </a:rPr>
              <a:t>Населения разные, и событие в них случается с разной частотой: сравнивается порядок величины, а не превосходство.</a:t>
            </a:r>
          </a:p>
        </p:txBody>
      </p:sp>
      <p:sp>
        <p:nvSpPr>
          <p:cNvPr id="24" name="Rectangle 23"/>
          <p:cNvSpPr/>
          <p:nvPr/>
        </p:nvSpPr>
        <p:spPr>
          <a:xfrm>
            <a:off x="502920" y="1179576"/>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Wong, Otles и соавт., JAMA Internal Medicine 2021, DOI 10.1001/jamainternmed.2021.2626, с эрратой того же журнала</a:t>
            </a:r>
            <a:r>
              <a:rPr sz="1100" b="0" i="1">
                <a:solidFill>
                  <a:srgbClr val="1C7293"/>
                </a:solidFill>
                <a:latin typeface="Arial"/>
              </a:rPr>
              <a:t> · </a:t>
            </a:r>
            <a:r>
              <a:rPr sz="1100" b="0" i="1">
                <a:solidFill>
                  <a:srgbClr val="1C7293"/>
                </a:solidFill>
                <a:latin typeface="Arial"/>
              </a:rPr>
              <a:t>сравнение балльных шкал, JAMIA Open 2021, DOI 10.1093/jamiaopen/ooab062, PMID 34820600</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Вторая проверка: другие авторы, другие больницы</a:t>
            </a:r>
          </a:p>
        </p:txBody>
      </p:sp>
      <p:sp>
        <p:nvSpPr>
          <p:cNvPr id="4" name="Rounded Rectangle 3"/>
          <p:cNvSpPr/>
          <p:nvPr/>
        </p:nvSpPr>
        <p:spPr>
          <a:xfrm>
            <a:off x="502920" y="1335024"/>
            <a:ext cx="2673019" cy="2777114"/>
          </a:xfrm>
          <a:prstGeom prst="roundRect">
            <a:avLst>
              <a:gd name="adj" fmla="val 1140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ПОЙМАНО СЛУЧАЕВ СЕПСИСА</a:t>
            </a:r>
          </a:p>
        </p:txBody>
      </p:sp>
      <p:sp>
        <p:nvSpPr>
          <p:cNvPr id="6" name="TextBox 5"/>
          <p:cNvSpPr txBox="1"/>
          <p:nvPr/>
        </p:nvSpPr>
        <p:spPr>
          <a:xfrm>
            <a:off x="640080" y="169079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14,7 из ста</a:t>
            </a:r>
          </a:p>
        </p:txBody>
      </p:sp>
      <p:sp>
        <p:nvSpPr>
          <p:cNvPr id="7" name="TextBox 6"/>
          <p:cNvSpPr txBox="1"/>
          <p:nvPr/>
        </p:nvSpPr>
        <p:spPr>
          <a:xfrm>
            <a:off x="640080" y="2117795"/>
            <a:ext cx="2398699"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специфичность 95,3 из ста; окно предсказания шесть часов, данные 2023 года</a:t>
            </a:r>
          </a:p>
        </p:txBody>
      </p:sp>
      <p:sp>
        <p:nvSpPr>
          <p:cNvPr id="8" name="Rounded Rectangle 7"/>
          <p:cNvSpPr/>
          <p:nvPr/>
        </p:nvSpPr>
        <p:spPr>
          <a:xfrm>
            <a:off x="3340531" y="1335024"/>
            <a:ext cx="2673019" cy="2777114"/>
          </a:xfrm>
          <a:prstGeom prst="roundRect">
            <a:avLst>
              <a:gd name="adj" fmla="val 1140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77691"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СРАБАТЫВАНИЕ — ДОЛЯ ОБРАЩЕНИЙ</a:t>
            </a:r>
          </a:p>
        </p:txBody>
      </p:sp>
      <p:sp>
        <p:nvSpPr>
          <p:cNvPr id="10" name="TextBox 9"/>
          <p:cNvSpPr txBox="1"/>
          <p:nvPr/>
        </p:nvSpPr>
        <p:spPr>
          <a:xfrm>
            <a:off x="3477691" y="1863689"/>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4,9 из ста обращений</a:t>
            </a:r>
          </a:p>
        </p:txBody>
      </p:sp>
      <p:sp>
        <p:nvSpPr>
          <p:cNvPr id="11" name="TextBox 10"/>
          <p:cNvSpPr txBox="1"/>
          <p:nvPr/>
        </p:nvSpPr>
        <p:spPr>
          <a:xfrm>
            <a:off x="3477691" y="2681111"/>
            <a:ext cx="2398699"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7 183 срабатывания на 145 885 обращений; до «пяти из ста» не округляется</a:t>
            </a:r>
          </a:p>
        </p:txBody>
      </p:sp>
      <p:sp>
        <p:nvSpPr>
          <p:cNvPr id="12" name="Rounded Rectangle 11"/>
          <p:cNvSpPr/>
          <p:nvPr/>
        </p:nvSpPr>
        <p:spPr>
          <a:xfrm>
            <a:off x="6178143" y="1335024"/>
            <a:ext cx="2673019" cy="2777114"/>
          </a:xfrm>
          <a:prstGeom prst="roundRect">
            <a:avLst>
              <a:gd name="adj" fmla="val 1140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15303"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ОПЕРЕЖЕНИЕ КЛИНИЧЕСКОГО РЕШЕНИЯ</a:t>
            </a:r>
          </a:p>
        </p:txBody>
      </p:sp>
      <p:sp>
        <p:nvSpPr>
          <p:cNvPr id="14" name="TextBox 13"/>
          <p:cNvSpPr txBox="1"/>
          <p:nvPr/>
        </p:nvSpPr>
        <p:spPr>
          <a:xfrm>
            <a:off x="6315303" y="1863689"/>
            <a:ext cx="2398699"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ноль минут</a:t>
            </a:r>
          </a:p>
        </p:txBody>
      </p:sp>
      <p:sp>
        <p:nvSpPr>
          <p:cNvPr id="15" name="TextBox 14"/>
          <p:cNvSpPr txBox="1"/>
          <p:nvPr/>
        </p:nvSpPr>
        <p:spPr>
          <a:xfrm>
            <a:off x="6315303" y="2290688"/>
            <a:ext cx="2398699" cy="110902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разброс по восьмидесяти процентам случаев — от шести часов сорока двух минут раньше врача до двенадцати часов позже; примерно в половине случаев врачи вели сепсис уже до тревоги</a:t>
            </a:r>
          </a:p>
        </p:txBody>
      </p:sp>
      <p:sp>
        <p:nvSpPr>
          <p:cNvPr id="16" name="Rounded Rectangle 15"/>
          <p:cNvSpPr/>
          <p:nvPr/>
        </p:nvSpPr>
        <p:spPr>
          <a:xfrm>
            <a:off x="9015755" y="1335024"/>
            <a:ext cx="2673019" cy="2777114"/>
          </a:xfrm>
          <a:prstGeom prst="roundRect">
            <a:avLst>
              <a:gd name="adj" fmla="val 1140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52915"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ДЕЙСТВУЮЩАЯ ВЕРСИЯ — РАЗЛИЧЕНИЕ И ПОДТВЕРЖДЕНИЕ</a:t>
            </a:r>
          </a:p>
        </p:txBody>
      </p:sp>
      <p:sp>
        <p:nvSpPr>
          <p:cNvPr id="18" name="TextBox 17"/>
          <p:cNvSpPr txBox="1"/>
          <p:nvPr/>
        </p:nvSpPr>
        <p:spPr>
          <a:xfrm>
            <a:off x="9152915" y="1863689"/>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от 0,82 до 0,92 · от 0,13 до 0,26</a:t>
            </a:r>
          </a:p>
        </p:txBody>
      </p:sp>
      <p:sp>
        <p:nvSpPr>
          <p:cNvPr id="19" name="TextBox 18"/>
          <p:cNvSpPr txBox="1"/>
          <p:nvPr/>
        </p:nvSpPr>
        <p:spPr>
          <a:xfrm>
            <a:off x="9152915" y="2681111"/>
            <a:ext cx="2398699" cy="129386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площадь под кривой на уровне госпитализации и прогностическая ценность — то есть от четырёх до восьми тревог на одно подтверждение; 227 091 госпитализация в четырёх системах, сепсис у 3,3 из ста</a:t>
            </a:r>
          </a:p>
        </p:txBody>
      </p:sp>
      <p:sp>
        <p:nvSpPr>
          <p:cNvPr id="20" name="Rounded Rectangle 19"/>
          <p:cNvSpPr/>
          <p:nvPr/>
        </p:nvSpPr>
        <p:spPr>
          <a:xfrm>
            <a:off x="374904" y="4203578"/>
            <a:ext cx="11441887" cy="2032629"/>
          </a:xfrm>
          <a:prstGeom prst="roundRect">
            <a:avLst>
              <a:gd name="adj" fmla="val 1499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9496" y="4295018"/>
            <a:ext cx="11112703" cy="1941189"/>
          </a:xfrm>
          <a:prstGeom prst="rect">
            <a:avLst/>
          </a:prstGeom>
          <a:noFill/>
        </p:spPr>
        <p:txBody>
          <a:bodyPr wrap="square" lIns="0" rIns="0" tIns="0" bIns="0" anchor="t">
            <a:spAutoFit/>
          </a:bodyPr>
          <a:lstStyle/>
          <a:p>
            <a:pPr algn="l">
              <a:lnSpc>
                <a:spcPct val="126000"/>
              </a:lnSpc>
            </a:pPr>
            <a:r>
              <a:rPr sz="1440" b="0" i="0">
                <a:solidFill>
                  <a:srgbClr val="21295C"/>
                </a:solidFill>
                <a:latin typeface="Arial"/>
              </a:rPr>
              <a:t>Вторая проверка, другие авторы, другие больницы: 145 885 обращений двух приёмных отделений. Поймано </a:t>
            </a:r>
            <a:r>
              <a:rPr sz="1440" b="1" i="0">
                <a:solidFill>
                  <a:srgbClr val="21295C"/>
                </a:solidFill>
                <a:latin typeface="Arial"/>
              </a:rPr>
              <a:t>14,7 случая сепсиса из ста</a:t>
            </a:r>
            <a:r>
              <a:rPr sz="1440" b="0" i="0">
                <a:solidFill>
                  <a:srgbClr val="21295C"/>
                </a:solidFill>
                <a:latin typeface="Arial"/>
              </a:rPr>
              <a:t>. Срабатывание — </a:t>
            </a:r>
            <a:r>
              <a:rPr sz="1440" b="1" i="0">
                <a:solidFill>
                  <a:srgbClr val="21295C"/>
                </a:solidFill>
                <a:latin typeface="Arial"/>
              </a:rPr>
              <a:t>4,9 обращения из ста</a:t>
            </a:r>
            <a:r>
              <a:rPr sz="1440" b="0" i="0">
                <a:solidFill>
                  <a:srgbClr val="21295C"/>
                </a:solidFill>
                <a:latin typeface="Arial"/>
              </a:rPr>
              <a:t>. Медианное опережение клинического решения — </a:t>
            </a:r>
            <a:r>
              <a:rPr sz="1440" b="1" i="0">
                <a:solidFill>
                  <a:srgbClr val="21295C"/>
                </a:solidFill>
                <a:latin typeface="Arial"/>
              </a:rPr>
              <a:t>ноль минут</a:t>
            </a:r>
            <a:r>
              <a:rPr sz="1440" b="0" i="0">
                <a:solidFill>
                  <a:srgbClr val="21295C"/>
                </a:solidFill>
                <a:latin typeface="Arial"/>
              </a:rPr>
              <a:t>.</a:t>
            </a:r>
          </a:p>
          <a:p>
            <a:pPr algn="l">
              <a:lnSpc>
                <a:spcPct val="126000"/>
              </a:lnSpc>
              <a:spcBef>
                <a:spcPts val="700"/>
              </a:spcBef>
            </a:pPr>
            <a:r>
              <a:rPr sz="1440" b="0" i="0">
                <a:solidFill>
                  <a:srgbClr val="21295C"/>
                </a:solidFill>
                <a:latin typeface="Arial"/>
              </a:rPr>
              <a:t/>
            </a:r>
            <a:r>
              <a:rPr sz="1440" b="0" i="0">
                <a:solidFill>
                  <a:srgbClr val="21295C"/>
                </a:solidFill>
                <a:latin typeface="Arial"/>
              </a:rPr>
              <a:t>Вывод авторов дословно: «добавляет мало к тому, что врачи и так делают».</a:t>
            </a:r>
          </a:p>
          <a:p>
            <a:pPr algn="l">
              <a:lnSpc>
                <a:spcPct val="126000"/>
              </a:lnSpc>
              <a:spcBef>
                <a:spcPts val="700"/>
              </a:spcBef>
            </a:pPr>
            <a:r>
              <a:rPr sz="1440" b="0" i="0">
                <a:solidFill>
                  <a:srgbClr val="21295C"/>
                </a:solidFill>
                <a:latin typeface="Arial"/>
              </a:rPr>
              <a:t/>
            </a:r>
            <a:r>
              <a:rPr sz="1440" b="0" i="0">
                <a:solidFill>
                  <a:srgbClr val="21295C"/>
                </a:solidFill>
                <a:latin typeface="Arial"/>
              </a:rPr>
              <a:t>Действующую версию модели проверили отдельно, многоцентрово и проспективно: различение </a:t>
            </a:r>
            <a:r>
              <a:rPr sz="1440" b="1" i="0">
                <a:solidFill>
                  <a:srgbClr val="21295C"/>
                </a:solidFill>
                <a:latin typeface="Arial"/>
              </a:rPr>
              <a:t>от 0,82 до 0,92</a:t>
            </a:r>
            <a:r>
              <a:rPr sz="1440" b="0" i="0">
                <a:solidFill>
                  <a:srgbClr val="21295C"/>
                </a:solidFill>
                <a:latin typeface="Arial"/>
              </a:rPr>
              <a:t>, прогностическая ценность </a:t>
            </a:r>
            <a:r>
              <a:rPr sz="1440" b="1" i="0">
                <a:solidFill>
                  <a:srgbClr val="21295C"/>
                </a:solidFill>
                <a:latin typeface="Arial"/>
              </a:rPr>
              <a:t>от 0,13 до 0,26</a:t>
            </a:r>
            <a:r>
              <a:rPr sz="1440" b="0" i="0">
                <a:solidFill>
                  <a:srgbClr val="21295C"/>
                </a:solidFill>
                <a:latin typeface="Arial"/>
              </a:rPr>
              <a:t> — от четырёх до восьми тревог на одно подтверждение. Это текущее состояние того же случая, а не снятая версия.</a:t>
            </a:r>
          </a:p>
        </p:txBody>
      </p:sp>
      <p:sp>
        <p:nvSpPr>
          <p:cNvPr id="22" name="Rectangle 21"/>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Ostermayer D. G., Braunheim B., Mehta A. M., Ward J., Andrabi S., Sirajuddin A. M., JAMIA Open 2024;7(4):ooae133, DOI 10.1093/jamiaopen/ooae133, PMID 39545248</a:t>
            </a:r>
            <a:r>
              <a:rPr sz="1100" b="0" i="1">
                <a:solidFill>
                  <a:srgbClr val="1C7293"/>
                </a:solidFill>
                <a:latin typeface="Arial"/>
              </a:rPr>
              <a:t> · </a:t>
            </a:r>
            <a:r>
              <a:rPr sz="1100" b="0" i="1">
                <a:solidFill>
                  <a:srgbClr val="1C7293"/>
                </a:solidFill>
                <a:latin typeface="Arial"/>
              </a:rPr>
              <a:t>проспективная многоцентровая проверка действующей версии, JAMA Network Open 2026, DOI 10.1001/jamanetworkopen.2026.0181</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Пара на тревогах: дало, потребовало</a:t>
            </a:r>
          </a:p>
        </p:txBody>
      </p:sp>
      <p:sp>
        <p:nvSpPr>
          <p:cNvPr id="4" name="Rounded Rectangle 3"/>
          <p:cNvSpPr/>
          <p:nvPr/>
        </p:nvSpPr>
        <p:spPr>
          <a:xfrm>
            <a:off x="502920" y="1335024"/>
            <a:ext cx="3618890" cy="1700778"/>
          </a:xfrm>
          <a:prstGeom prst="roundRect">
            <a:avLst>
              <a:gd name="adj" fmla="val 1792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ДАЛО</a:t>
            </a:r>
          </a:p>
        </p:txBody>
      </p:sp>
      <p:sp>
        <p:nvSpPr>
          <p:cNvPr id="6" name="TextBox 5"/>
          <p:cNvSpPr txBox="1"/>
          <p:nvPr/>
        </p:nvSpPr>
        <p:spPr>
          <a:xfrm>
            <a:off x="640080" y="1690796"/>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раннее оповещение работает без участия человека</a:t>
            </a:r>
          </a:p>
        </p:txBody>
      </p:sp>
      <p:sp>
        <p:nvSpPr>
          <p:cNvPr id="7" name="Rounded Rectangle 6"/>
          <p:cNvSpPr/>
          <p:nvPr/>
        </p:nvSpPr>
        <p:spPr>
          <a:xfrm>
            <a:off x="4286402" y="1335024"/>
            <a:ext cx="3618890" cy="1700778"/>
          </a:xfrm>
          <a:prstGeom prst="roundRect">
            <a:avLst>
              <a:gd name="adj" fmla="val 1792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ПОТРЕБОВАЛО</a:t>
            </a:r>
          </a:p>
        </p:txBody>
      </p:sp>
      <p:sp>
        <p:nvSpPr>
          <p:cNvPr id="9" name="TextBox 8"/>
          <p:cNvSpPr txBox="1"/>
          <p:nvPr/>
        </p:nvSpPr>
        <p:spPr>
          <a:xfrm>
            <a:off x="4423562" y="1690796"/>
            <a:ext cx="3344570" cy="902297"/>
          </a:xfrm>
          <a:prstGeom prst="rect">
            <a:avLst/>
          </a:prstGeom>
          <a:noFill/>
        </p:spPr>
        <p:txBody>
          <a:bodyPr wrap="square" lIns="0" rIns="0" tIns="0" bIns="0" anchor="t">
            <a:spAutoFit/>
          </a:bodyPr>
          <a:lstStyle/>
          <a:p>
            <a:pPr algn="l">
              <a:lnSpc>
                <a:spcPct val="108000"/>
              </a:lnSpc>
            </a:pPr>
            <a:r>
              <a:rPr sz="1700" b="1" i="0">
                <a:solidFill>
                  <a:srgbClr val="21295C"/>
                </a:solidFill>
                <a:latin typeface="Arial"/>
              </a:rPr>
              <a:t>разбор и отклонение тревоги — отдельная статья рабочего времени, со штатом</a:t>
            </a:r>
          </a:p>
        </p:txBody>
      </p:sp>
      <p:sp>
        <p:nvSpPr>
          <p:cNvPr id="10" name="Rounded Rectangle 9"/>
          <p:cNvSpPr/>
          <p:nvPr/>
        </p:nvSpPr>
        <p:spPr>
          <a:xfrm>
            <a:off x="8069884" y="1335024"/>
            <a:ext cx="3618890" cy="1700778"/>
          </a:xfrm>
          <a:prstGeom prst="roundRect">
            <a:avLst>
              <a:gd name="adj" fmla="val 17921"/>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СУММЕ</a:t>
            </a:r>
          </a:p>
        </p:txBody>
      </p:sp>
      <p:sp>
        <p:nvSpPr>
          <p:cNvPr id="12" name="TextBox 11"/>
          <p:cNvSpPr txBox="1"/>
          <p:nvPr/>
        </p:nvSpPr>
        <p:spPr>
          <a:xfrm>
            <a:off x="8207044" y="1690796"/>
            <a:ext cx="3344570" cy="1156920"/>
          </a:xfrm>
          <a:prstGeom prst="rect">
            <a:avLst/>
          </a:prstGeom>
          <a:noFill/>
        </p:spPr>
        <p:txBody>
          <a:bodyPr wrap="square" lIns="0" rIns="0" tIns="0" bIns="0" anchor="t">
            <a:spAutoFit/>
          </a:bodyPr>
          <a:lstStyle/>
          <a:p>
            <a:pPr algn="l">
              <a:lnSpc>
                <a:spcPct val="108000"/>
              </a:lnSpc>
            </a:pPr>
            <a:r>
              <a:rPr sz="2200" b="1" i="0">
                <a:solidFill>
                  <a:srgbClr val="F0AB00"/>
                </a:solidFill>
                <a:latin typeface="Arial"/>
              </a:rPr>
              <a:t>внимание расходуется там же, где раньше, только больше</a:t>
            </a:r>
          </a:p>
        </p:txBody>
      </p:sp>
      <p:sp>
        <p:nvSpPr>
          <p:cNvPr id="13" name="Rounded Rectangle 12"/>
          <p:cNvSpPr/>
          <p:nvPr/>
        </p:nvSpPr>
        <p:spPr>
          <a:xfrm>
            <a:off x="374904" y="3127242"/>
            <a:ext cx="11441887" cy="3108965"/>
          </a:xfrm>
          <a:prstGeom prst="roundRect">
            <a:avLst>
              <a:gd name="adj" fmla="val 980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9496" y="3218682"/>
            <a:ext cx="11112703" cy="301752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Дало</a:t>
            </a:r>
            <a:r>
              <a:rPr sz="1500" b="0" i="0">
                <a:solidFill>
                  <a:srgbClr val="21295C"/>
                </a:solidFill>
                <a:latin typeface="Arial"/>
              </a:rPr>
              <a:t> — раннее оповещение существует и работает без участия человека. </a:t>
            </a:r>
            <a:r>
              <a:rPr sz="1500" b="1" i="0">
                <a:solidFill>
                  <a:srgbClr val="21295C"/>
                </a:solidFill>
                <a:latin typeface="Arial"/>
              </a:rPr>
              <a:t>Потребовало</a:t>
            </a:r>
            <a:r>
              <a:rPr sz="1500" b="0" i="0">
                <a:solidFill>
                  <a:srgbClr val="21295C"/>
                </a:solidFill>
                <a:latin typeface="Arial"/>
              </a:rPr>
              <a:t> — разбор и отклонение тревоги стало отдельной статьёй рабочего времени, которой до внедрения не существовало; в отдельных больницах у этого шага появился штат. </a:t>
            </a:r>
            <a:r>
              <a:rPr sz="1500" b="1" i="0">
                <a:solidFill>
                  <a:srgbClr val="21295C"/>
                </a:solidFill>
                <a:latin typeface="Arial"/>
              </a:rPr>
              <a:t>В сумме</a:t>
            </a:r>
            <a:r>
              <a:rPr sz="1500" b="0" i="0">
                <a:solidFill>
                  <a:srgbClr val="21295C"/>
                </a:solidFill>
                <a:latin typeface="Arial"/>
              </a:rPr>
              <a:t> — внимание расходуется там же, где и раньше, только больше.</a:t>
            </a:r>
          </a:p>
          <a:p>
            <a:pPr algn="l">
              <a:lnSpc>
                <a:spcPct val="126000"/>
              </a:lnSpc>
              <a:spcBef>
                <a:spcPts val="700"/>
              </a:spcBef>
            </a:pPr>
            <a:r>
              <a:rPr sz="1500" b="0" i="0">
                <a:solidFill>
                  <a:srgbClr val="21295C"/>
                </a:solidFill>
                <a:latin typeface="Arial"/>
              </a:rPr>
              <a:t/>
            </a:r>
            <a:r>
              <a:rPr sz="1500" b="0" i="0">
                <a:solidFill>
                  <a:srgbClr val="21295C"/>
                </a:solidFill>
                <a:latin typeface="Arial"/>
              </a:rPr>
              <a:t>Форма «нагрузка выросла на том же месте»: та же дежурная смена у той же постели, объём чтения и отклонения вырос. Форма «шаг появился»: разбор потока тревог как статья рабочего времени.</a:t>
            </a:r>
          </a:p>
          <a:p>
            <a:pPr algn="l">
              <a:lnSpc>
                <a:spcPct val="126000"/>
              </a:lnSpc>
              <a:spcBef>
                <a:spcPts val="700"/>
              </a:spcBef>
            </a:pPr>
            <a:r>
              <a:rPr sz="1500" b="0" i="0">
                <a:solidFill>
                  <a:srgbClr val="21295C"/>
                </a:solidFill>
                <a:latin typeface="Arial"/>
              </a:rPr>
              <a:t/>
            </a:r>
            <a:r>
              <a:rPr sz="1500" b="0" i="0">
                <a:solidFill>
                  <a:srgbClr val="21295C"/>
                </a:solidFill>
                <a:latin typeface="Arial"/>
              </a:rPr>
              <a:t>Та же постановка перенесена на детей, и разбор опубликован; числа из него не приводятся — полный текст закрыт. Поток тревог в 24 больницах за время вирусной эпидемии вырос с </a:t>
            </a:r>
            <a:r>
              <a:rPr sz="1500" b="1" i="0">
                <a:solidFill>
                  <a:srgbClr val="21295C"/>
                </a:solidFill>
                <a:latin typeface="Arial"/>
              </a:rPr>
              <a:t>953 до 1 363 в сутки</a:t>
            </a:r>
            <a:r>
              <a:rPr sz="1500" b="0" i="0">
                <a:solidFill>
                  <a:srgbClr val="21295C"/>
                </a:solidFill>
                <a:latin typeface="Arial"/>
              </a:rPr>
              <a:t>, причём загрузка за тот же период </a:t>
            </a:r>
            <a:r>
              <a:rPr sz="1500" b="1" i="0">
                <a:solidFill>
                  <a:srgbClr val="21295C"/>
                </a:solidFill>
                <a:latin typeface="Arial"/>
              </a:rPr>
              <a:t>упала с 10 159 до 6 634 пациентов</a:t>
            </a:r>
            <a:r>
              <a:rPr sz="1500" b="0" i="0">
                <a:solidFill>
                  <a:srgbClr val="21295C"/>
                </a:solidFill>
                <a:latin typeface="Arial"/>
              </a:rPr>
              <a:t>: доля пациентов с тревогой выросла с 9 до 21 из ста.</a:t>
            </a:r>
          </a:p>
        </p:txBody>
      </p:sp>
      <p:sp>
        <p:nvSpPr>
          <p:cNvPr id="15" name="Rectangle 14"/>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Wong A., Cao J., Lyons P. G. и соавт., JAMA Network Open 2021;4(11), DOI 10.1001/jamanetworkopen.2021.35286, PMID 34797372</a:t>
            </a:r>
            <a:r>
              <a:rPr sz="1100" b="0" i="1">
                <a:solidFill>
                  <a:srgbClr val="1C7293"/>
                </a:solidFill>
                <a:latin typeface="Arial"/>
              </a:rPr>
              <a:t> · </a:t>
            </a:r>
            <a:r>
              <a:rPr sz="1100" b="0" i="1">
                <a:solidFill>
                  <a:srgbClr val="1C7293"/>
                </a:solidFill>
                <a:latin typeface="Arial"/>
              </a:rPr>
              <a:t>разбор той же постановки на детской популяции, публикация октября 2026 года, выходные данные не установлены</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Вывод: наблюдение за состоянием</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Польза</a:t>
            </a:r>
            <a:r>
              <a:rPr sz="1500" b="0" i="0">
                <a:solidFill>
                  <a:srgbClr val="21295C"/>
                </a:solidFill>
                <a:latin typeface="Arial"/>
              </a:rPr>
              <a:t> — модель считает балл риска непрерывно и там, где дежурная смена успевает складывать его раз в несколько часов.</a:t>
            </a:r>
          </a:p>
          <a:p>
            <a:pPr algn="l">
              <a:lnSpc>
                <a:spcPct val="126000"/>
              </a:lnSpc>
              <a:spcBef>
                <a:spcPts val="700"/>
              </a:spcBef>
            </a:pPr>
            <a:r>
              <a:rPr sz="1500" b="0" i="0">
                <a:solidFill>
                  <a:srgbClr val="21295C"/>
                </a:solidFill>
                <a:latin typeface="Arial"/>
              </a:rPr>
              <a:t/>
            </a:r>
            <a:r>
              <a:rPr sz="1500" b="1" i="0">
                <a:solidFill>
                  <a:srgbClr val="21295C"/>
                </a:solidFill>
                <a:latin typeface="Arial"/>
              </a:rPr>
              <a:t>Граница</a:t>
            </a:r>
            <a:r>
              <a:rPr sz="1500" b="0" i="0">
                <a:solidFill>
                  <a:srgbClr val="21295C"/>
                </a:solidFill>
                <a:latin typeface="Arial"/>
              </a:rPr>
              <a:t> — она не вышла за полосу подтверждения заменённой шкалы: больше тревог не значит больше пойманных случаев.</a:t>
            </a:r>
          </a:p>
          <a:p>
            <a:pPr algn="l">
              <a:lnSpc>
                <a:spcPct val="126000"/>
              </a:lnSpc>
              <a:spcBef>
                <a:spcPts val="700"/>
              </a:spcBef>
            </a:pPr>
            <a:r>
              <a:rPr sz="1500" b="0" i="0">
                <a:solidFill>
                  <a:srgbClr val="21295C"/>
                </a:solidFill>
                <a:latin typeface="Arial"/>
              </a:rPr>
              <a:t/>
            </a:r>
            <a:r>
              <a:rPr sz="1500" b="1" i="0">
                <a:solidFill>
                  <a:srgbClr val="21295C"/>
                </a:solidFill>
                <a:latin typeface="Arial"/>
              </a:rPr>
              <a:t>Риск</a:t>
            </a:r>
            <a:r>
              <a:rPr sz="1500" b="0" i="0">
                <a:solidFill>
                  <a:srgbClr val="21295C"/>
                </a:solidFill>
                <a:latin typeface="Arial"/>
              </a:rPr>
              <a:t> — нагрузка выросла на том же месте, и появился шаг — разбор и отклонение потока, за которым теперь нужен штат.</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Дальше</a:t>
            </a:r>
            <a:r>
              <a:rPr sz="1500" b="0" i="0">
                <a:solidFill>
                  <a:srgbClr val="21295C"/>
                </a:solidFill>
                <a:latin typeface="Arial"/>
              </a:rPr>
              <a:t> — запись об этом решении читает кто-то, кто пациента не видел вовсе.</a:t>
            </a:r>
          </a:p>
          <a:p>
            <a:pPr algn="l">
              <a:lnSpc>
                <a:spcPct val="126000"/>
              </a:lnSpc>
              <a:spcBef>
                <a:spcPts val="700"/>
              </a:spcBef>
            </a:pPr>
            <a:r>
              <a:rPr sz="1500" b="0" i="0">
                <a:solidFill>
                  <a:srgbClr val="21295C"/>
                </a:solidFill>
                <a:latin typeface="Arial"/>
              </a:rPr>
              <a:t/>
            </a:r>
            <a:r>
              <a:rPr sz="1500" b="0" i="0">
                <a:solidFill>
                  <a:srgbClr val="21295C"/>
                </a:solidFill>
                <a:latin typeface="Arial"/>
              </a:rPr>
              <a:t>Форма «появился шаг» встретится ещё раз в разделе о ведении записи: это повторение формы на разном материале, не новое наблюдение.</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5. Ведение записи</a:t>
            </a:r>
          </a:p>
        </p:txBody>
      </p:sp>
      <p:sp>
        <p:nvSpPr>
          <p:cNvPr id="5" name="Rectangle 4"/>
          <p:cNvSpPr/>
          <p:nvPr/>
        </p:nvSpPr>
        <p:spPr>
          <a:xfrm>
            <a:off x="704088" y="1570238"/>
            <a:ext cx="1188720" cy="59436"/>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1844558"/>
            <a:ext cx="10984687" cy="94284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Приём и госпитализация заканчиваются документом. Запись приёма читает сам пациент и следующий врач; выписной эпикриз читает участковый врач, следующий стационар, страховщик — человек, который пациента не видел и видит только текст.</a:t>
            </a:r>
          </a:p>
        </p:txBody>
      </p:sp>
      <p:sp>
        <p:nvSpPr>
          <p:cNvPr id="7" name="TextBox 6"/>
          <p:cNvSpPr txBox="1"/>
          <p:nvPr/>
        </p:nvSpPr>
        <p:spPr>
          <a:xfrm>
            <a:off x="704088" y="2915422"/>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Два разбора по порядку: </a:t>
            </a:r>
            <a:r>
              <a:rPr sz="1550" b="1" i="0">
                <a:solidFill>
                  <a:srgbClr val="21295C"/>
                </a:solidFill>
                <a:latin typeface="Arial"/>
              </a:rPr>
              <a:t>Автоматическая запись приёма</a:t>
            </a:r>
            <a:r>
              <a:rPr sz="1550" b="0" i="0">
                <a:solidFill>
                  <a:srgbClr val="21295C"/>
                </a:solidFill>
                <a:latin typeface="Arial"/>
              </a:rPr>
              <a:t> · </a:t>
            </a:r>
            <a:r>
              <a:rPr sz="1550" b="1" i="0">
                <a:solidFill>
                  <a:srgbClr val="21295C"/>
                </a:solidFill>
                <a:latin typeface="Arial"/>
              </a:rPr>
              <a:t>Выписной эпикриз</a:t>
            </a:r>
            <a:r>
              <a:rPr sz="1550" b="0" i="0">
                <a:solidFill>
                  <a:srgbClr val="21295C"/>
                </a:solidFill>
                <a:latin typeface="Arial"/>
              </a:rPr>
              <a: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Автоматическая запись приёма</a:t>
            </a:r>
          </a:p>
        </p:txBody>
      </p:sp>
      <p:sp>
        <p:nvSpPr>
          <p:cNvPr id="4" name="Rounded Rectangle 3"/>
          <p:cNvSpPr/>
          <p:nvPr/>
        </p:nvSpPr>
        <p:spPr>
          <a:xfrm>
            <a:off x="502920" y="1335024"/>
            <a:ext cx="2673019" cy="2407438"/>
          </a:xfrm>
          <a:prstGeom prst="roundRect">
            <a:avLst>
              <a:gd name="adj" fmla="val 1266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ЗАЯВЛЕНО — БЕЗ РАСКРЫТОЙ МЕТОДИКИ СЧЁТА</a:t>
            </a:r>
          </a:p>
        </p:txBody>
      </p:sp>
      <p:sp>
        <p:nvSpPr>
          <p:cNvPr id="6" name="TextBox 5"/>
          <p:cNvSpPr txBox="1"/>
          <p:nvPr/>
        </p:nvSpPr>
        <p:spPr>
          <a:xfrm>
            <a:off x="640080" y="1863689"/>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15 791 час на 63 000 приёмов</a:t>
            </a:r>
          </a:p>
        </p:txBody>
      </p:sp>
      <p:sp>
        <p:nvSpPr>
          <p:cNvPr id="7" name="TextBox 6"/>
          <p:cNvSpPr txBox="1"/>
          <p:nvPr/>
        </p:nvSpPr>
        <p:spPr>
          <a:xfrm>
            <a:off x="640080" y="2681111"/>
            <a:ext cx="2398699" cy="924190"/>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за десять недель работы инструмента — это около четверти часа на приём, тогда как вся работа над заметкой измерена минутами: сопоставить одно с другим нельзя</a:t>
            </a:r>
          </a:p>
        </p:txBody>
      </p:sp>
      <p:sp>
        <p:nvSpPr>
          <p:cNvPr id="8" name="Rounded Rectangle 7"/>
          <p:cNvSpPr/>
          <p:nvPr/>
        </p:nvSpPr>
        <p:spPr>
          <a:xfrm>
            <a:off x="3340531" y="1335024"/>
            <a:ext cx="2673019" cy="2407438"/>
          </a:xfrm>
          <a:prstGeom prst="roundRect">
            <a:avLst>
              <a:gd name="adj" fmla="val 1266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ИЗМЕРЕНО — ПЕРВЫЙ ИНСТРУМЕНТ</a:t>
            </a:r>
          </a:p>
        </p:txBody>
      </p:sp>
      <p:sp>
        <p:nvSpPr>
          <p:cNvPr id="10" name="TextBox 9"/>
          <p:cNvSpPr txBox="1"/>
          <p:nvPr/>
        </p:nvSpPr>
        <p:spPr>
          <a:xfrm>
            <a:off x="3477691" y="1690796"/>
            <a:ext cx="2398699" cy="613723"/>
          </a:xfrm>
          <a:prstGeom prst="rect">
            <a:avLst/>
          </a:prstGeom>
          <a:noFill/>
        </p:spPr>
        <p:txBody>
          <a:bodyPr wrap="square" lIns="0" rIns="0" tIns="0" bIns="0" anchor="t">
            <a:spAutoFit/>
          </a:bodyPr>
          <a:lstStyle/>
          <a:p>
            <a:pPr algn="l">
              <a:lnSpc>
                <a:spcPct val="108000"/>
              </a:lnSpc>
            </a:pPr>
            <a:r>
              <a:rPr sz="1700" b="1" i="0">
                <a:solidFill>
                  <a:srgbClr val="21295C"/>
                </a:solidFill>
                <a:latin typeface="Arial"/>
              </a:rPr>
              <a:t>время в заметке ниже на 9,5 процента</a:t>
            </a:r>
          </a:p>
        </p:txBody>
      </p:sp>
      <p:sp>
        <p:nvSpPr>
          <p:cNvPr id="11" name="TextBox 10"/>
          <p:cNvSpPr txBox="1"/>
          <p:nvPr/>
        </p:nvSpPr>
        <p:spPr>
          <a:xfrm>
            <a:off x="3477691" y="2304520"/>
            <a:ext cx="2398699"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относительно контрольной группы, которая писала заметки как раньше</a:t>
            </a:r>
          </a:p>
        </p:txBody>
      </p:sp>
      <p:sp>
        <p:nvSpPr>
          <p:cNvPr id="12" name="Rounded Rectangle 11"/>
          <p:cNvSpPr/>
          <p:nvPr/>
        </p:nvSpPr>
        <p:spPr>
          <a:xfrm>
            <a:off x="6178143" y="1335024"/>
            <a:ext cx="2673019" cy="2407438"/>
          </a:xfrm>
          <a:prstGeom prst="roundRect">
            <a:avLst>
              <a:gd name="adj" fmla="val 1266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ИЗМЕРЕНО — ИНСТРУМЕНТ 2</a:t>
            </a:r>
          </a:p>
        </p:txBody>
      </p:sp>
      <p:sp>
        <p:nvSpPr>
          <p:cNvPr id="14" name="TextBox 13"/>
          <p:cNvSpPr txBox="1"/>
          <p:nvPr/>
        </p:nvSpPr>
        <p:spPr>
          <a:xfrm>
            <a:off x="6315303"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значимого изменения нет</a:t>
            </a:r>
          </a:p>
        </p:txBody>
      </p:sp>
      <p:sp>
        <p:nvSpPr>
          <p:cNvPr id="15" name="Rounded Rectangle 14"/>
          <p:cNvSpPr/>
          <p:nvPr/>
        </p:nvSpPr>
        <p:spPr>
          <a:xfrm>
            <a:off x="9015755" y="1335024"/>
            <a:ext cx="2673019" cy="2407438"/>
          </a:xfrm>
          <a:prstGeom prst="roundRect">
            <a:avLst>
              <a:gd name="adj" fmla="val 12660"/>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АКТИВНОЕ ВРЕМЯ ПРАВКИ</a:t>
            </a:r>
          </a:p>
        </p:txBody>
      </p:sp>
      <p:sp>
        <p:nvSpPr>
          <p:cNvPr id="17" name="TextBox 16"/>
          <p:cNvSpPr txBox="1"/>
          <p:nvPr/>
        </p:nvSpPr>
        <p:spPr>
          <a:xfrm>
            <a:off x="9152915" y="1690796"/>
            <a:ext cx="2398699"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не изменилось</a:t>
            </a:r>
          </a:p>
        </p:txBody>
      </p:sp>
      <p:sp>
        <p:nvSpPr>
          <p:cNvPr id="18" name="Rounded Rectangle 17"/>
          <p:cNvSpPr/>
          <p:nvPr/>
        </p:nvSpPr>
        <p:spPr>
          <a:xfrm>
            <a:off x="374904" y="3833902"/>
            <a:ext cx="11441887" cy="2402305"/>
          </a:xfrm>
          <a:prstGeom prst="roundRect">
            <a:avLst>
              <a:gd name="adj" fmla="val 1268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39496" y="3925342"/>
            <a:ext cx="11112703" cy="2310865"/>
          </a:xfrm>
          <a:prstGeom prst="rect">
            <a:avLst/>
          </a:prstGeom>
          <a:noFill/>
        </p:spPr>
        <p:txBody>
          <a:bodyPr wrap="square" lIns="0" rIns="0" tIns="0" bIns="0" anchor="t">
            <a:spAutoFit/>
          </a:bodyPr>
          <a:lstStyle/>
          <a:p>
            <a:pPr algn="l">
              <a:lnSpc>
                <a:spcPct val="126000"/>
              </a:lnSpc>
            </a:pPr>
            <a:r>
              <a:rPr sz="1350" b="0" i="0">
                <a:solidFill>
                  <a:srgbClr val="21295C"/>
                </a:solidFill>
                <a:latin typeface="Arial"/>
              </a:rPr>
              <a:t>Инструмент слушает приём и отдаёт черновик заметки; врач вычитывает и подписывает.</a:t>
            </a:r>
          </a:p>
          <a:p>
            <a:pPr algn="l">
              <a:lnSpc>
                <a:spcPct val="126000"/>
              </a:lnSpc>
              <a:spcBef>
                <a:spcPts val="700"/>
              </a:spcBef>
            </a:pPr>
            <a:r>
              <a:rPr sz="1350" b="0" i="0">
                <a:solidFill>
                  <a:srgbClr val="21295C"/>
                </a:solidFill>
                <a:latin typeface="Arial"/>
              </a:rPr>
              <a:t/>
            </a:r>
            <a:r>
              <a:rPr sz="1350" b="1" i="0">
                <a:solidFill>
                  <a:srgbClr val="21295C"/>
                </a:solidFill>
                <a:latin typeface="Arial"/>
              </a:rPr>
              <a:t>Заявлено:</a:t>
            </a:r>
            <a:r>
              <a:rPr sz="1350" b="0" i="0">
                <a:solidFill>
                  <a:srgbClr val="21295C"/>
                </a:solidFill>
                <a:latin typeface="Arial"/>
              </a:rPr>
              <a:t> экономия </a:t>
            </a:r>
            <a:r>
              <a:rPr sz="1350" b="1" i="0">
                <a:solidFill>
                  <a:srgbClr val="21295C"/>
                </a:solidFill>
                <a:latin typeface="Arial"/>
              </a:rPr>
              <a:t>15 791 часа на 63 000 приёмов</a:t>
            </a:r>
            <a:r>
              <a:rPr sz="1350" b="0" i="0">
                <a:solidFill>
                  <a:srgbClr val="21295C"/>
                </a:solidFill>
                <a:latin typeface="Arial"/>
              </a:rPr>
              <a:t> за десять недель — методика счёта не раскрыта. </a:t>
            </a:r>
            <a:r>
              <a:rPr sz="1350" b="1" i="0">
                <a:solidFill>
                  <a:srgbClr val="21295C"/>
                </a:solidFill>
                <a:latin typeface="Arial"/>
              </a:rPr>
              <a:t>Измерено рандомизированным испытанием (238 врачей четырнадцати специальностей):</a:t>
            </a:r>
            <a:r>
              <a:rPr sz="1350" b="0" i="0">
                <a:solidFill>
                  <a:srgbClr val="21295C"/>
                </a:solidFill>
                <a:latin typeface="Arial"/>
              </a:rPr>
              <a:t> у одного из двух инструментов время в заметке упало на </a:t>
            </a:r>
            <a:r>
              <a:rPr sz="1350" b="1" i="0">
                <a:solidFill>
                  <a:srgbClr val="21295C"/>
                </a:solidFill>
                <a:latin typeface="Arial"/>
              </a:rPr>
              <a:t>9,5 процента</a:t>
            </a:r>
            <a:r>
              <a:rPr sz="1350" b="0" i="0">
                <a:solidFill>
                  <a:srgbClr val="21295C"/>
                </a:solidFill>
                <a:latin typeface="Arial"/>
              </a:rPr>
              <a:t> относительно контрольной группы, у второго значимого изменения нет; </a:t>
            </a:r>
            <a:r>
              <a:rPr sz="1350" b="1" i="0">
                <a:solidFill>
                  <a:srgbClr val="21295C"/>
                </a:solidFill>
                <a:latin typeface="Arial"/>
              </a:rPr>
              <a:t>активное время правки заметки не изменилось.</a:t>
            </a:r>
          </a:p>
          <a:p>
            <a:pPr algn="l">
              <a:lnSpc>
                <a:spcPct val="126000"/>
              </a:lnSpc>
              <a:spcBef>
                <a:spcPts val="700"/>
              </a:spcBef>
            </a:pPr>
            <a:r>
              <a:rPr sz="1350" b="0" i="0">
                <a:solidFill>
                  <a:srgbClr val="21295C"/>
                </a:solidFill>
                <a:latin typeface="Arial"/>
              </a:rPr>
              <a:t/>
            </a:r>
            <a:r>
              <a:rPr sz="1350" b="0" i="0">
                <a:solidFill>
                  <a:srgbClr val="21295C"/>
                </a:solidFill>
                <a:latin typeface="Arial"/>
              </a:rPr>
              <a:t>Две величины разные — время в карте и время правки, — и заявление посчитано не в той, в которой измерен результат.</a:t>
            </a:r>
          </a:p>
          <a:p>
            <a:pPr algn="l">
              <a:lnSpc>
                <a:spcPct val="126000"/>
              </a:lnSpc>
              <a:spcBef>
                <a:spcPts val="700"/>
              </a:spcBef>
            </a:pPr>
            <a:r>
              <a:rPr sz="1080" b="0" i="0">
                <a:solidFill>
                  <a:srgbClr val="21295C"/>
                </a:solidFill>
                <a:latin typeface="Arial"/>
              </a:rPr>
              <a:t/>
            </a:r>
            <a:r>
              <a:rPr sz="1080" b="0" i="1">
                <a:solidFill>
                  <a:srgbClr val="1C7293"/>
                </a:solidFill>
                <a:latin typeface="Arial"/>
              </a:rPr>
              <a:t>Режим: амбиентная запись приёма — голосом в текст. Чем это делают сегодня: Abridge и Ambience в крупных системах, Microsoft Dragon Copilot (прежний Nuance DAX), Nabla и Suki в среднем сегменте. Чего режим не умеет: снять обязанность вычитки; сократить активное время правки.</a:t>
            </a:r>
          </a:p>
          <a:p>
            <a:pPr algn="l">
              <a:lnSpc>
                <a:spcPct val="126000"/>
              </a:lnSpc>
              <a:spcBef>
                <a:spcPts val="700"/>
              </a:spcBef>
            </a:pPr>
            <a:r>
              <a:rPr sz="1350" b="0" i="0">
                <a:solidFill>
                  <a:srgbClr val="21295C"/>
                </a:solidFill>
                <a:latin typeface="Arial"/>
              </a:rPr>
              <a:t/>
            </a:r>
            <a:r>
              <a:rPr sz="1350" b="1" i="0">
                <a:solidFill>
                  <a:srgbClr val="21295C"/>
                </a:solidFill>
                <a:latin typeface="Arial"/>
              </a:rPr>
              <a:t>Кто из вас прочитывает автоматический протокол встречи построчно перед тем, как разослать?</a:t>
            </a:r>
          </a:p>
        </p:txBody>
      </p:sp>
      <p:sp>
        <p:nvSpPr>
          <p:cNvPr id="20" name="Rectangle 19"/>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Трёхрукое рандомизированное испытание двух инструментов, препринт medRxiv 2025.07.10.25331333, регистрация NCT06792890 — рецензирования не проходил</a:t>
            </a:r>
            <a:r>
              <a:rPr sz="1100" b="0" i="1">
                <a:solidFill>
                  <a:srgbClr val="1C7293"/>
                </a:solidFill>
                <a:latin typeface="Arial"/>
              </a:rPr>
              <a:t> · </a:t>
            </a:r>
            <a:r>
              <a:rPr sz="1100" b="0" i="1">
                <a:solidFill>
                  <a:srgbClr val="1C7293"/>
                </a:solidFill>
                <a:latin typeface="Arial"/>
              </a:rPr>
              <a:t>многоцентровое наблюдение сети приёмных отделений, выходные данные не установлены</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Две дорожки: набор текста и вычитка</a:t>
            </a:r>
          </a:p>
        </p:txBody>
      </p:sp>
      <p:sp>
        <p:nvSpPr>
          <p:cNvPr id="4" name="Rounded Rectangle 3"/>
          <p:cNvSpPr/>
          <p:nvPr/>
        </p:nvSpPr>
        <p:spPr>
          <a:xfrm>
            <a:off x="502920" y="1335024"/>
            <a:ext cx="3618890" cy="1700778"/>
          </a:xfrm>
          <a:prstGeom prst="roundRect">
            <a:avLst>
              <a:gd name="adj" fmla="val 1792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ДАЛО</a:t>
            </a:r>
          </a:p>
        </p:txBody>
      </p:sp>
      <p:sp>
        <p:nvSpPr>
          <p:cNvPr id="6" name="TextBox 5"/>
          <p:cNvSpPr txBox="1"/>
          <p:nvPr/>
        </p:nvSpPr>
        <p:spPr>
          <a:xfrm>
            <a:off x="640080" y="1690796"/>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заметка готова раньше, усталость от работы ниже</a:t>
            </a:r>
          </a:p>
        </p:txBody>
      </p:sp>
      <p:sp>
        <p:nvSpPr>
          <p:cNvPr id="7" name="Rounded Rectangle 6"/>
          <p:cNvSpPr/>
          <p:nvPr/>
        </p:nvSpPr>
        <p:spPr>
          <a:xfrm>
            <a:off x="4286402" y="1335024"/>
            <a:ext cx="3618890" cy="1700778"/>
          </a:xfrm>
          <a:prstGeom prst="roundRect">
            <a:avLst>
              <a:gd name="adj" fmla="val 1792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ПОТРЕБОВАЛО</a:t>
            </a:r>
          </a:p>
        </p:txBody>
      </p:sp>
      <p:sp>
        <p:nvSpPr>
          <p:cNvPr id="9" name="TextBox 8"/>
          <p:cNvSpPr txBox="1"/>
          <p:nvPr/>
        </p:nvSpPr>
        <p:spPr>
          <a:xfrm>
            <a:off x="4423562" y="1690796"/>
            <a:ext cx="3344570" cy="902297"/>
          </a:xfrm>
          <a:prstGeom prst="rect">
            <a:avLst/>
          </a:prstGeom>
          <a:noFill/>
        </p:spPr>
        <p:txBody>
          <a:bodyPr wrap="square" lIns="0" rIns="0" tIns="0" bIns="0" anchor="t">
            <a:spAutoFit/>
          </a:bodyPr>
          <a:lstStyle/>
          <a:p>
            <a:pPr algn="l">
              <a:lnSpc>
                <a:spcPct val="108000"/>
              </a:lnSpc>
            </a:pPr>
            <a:r>
              <a:rPr sz="1700" b="1" i="0">
                <a:solidFill>
                  <a:srgbClr val="21295C"/>
                </a:solidFill>
                <a:latin typeface="Arial"/>
              </a:rPr>
              <a:t>обязательная вычитка каждого черновика и служба контроля качества со штатом</a:t>
            </a:r>
          </a:p>
        </p:txBody>
      </p:sp>
      <p:sp>
        <p:nvSpPr>
          <p:cNvPr id="10" name="Rounded Rectangle 9"/>
          <p:cNvSpPr/>
          <p:nvPr/>
        </p:nvSpPr>
        <p:spPr>
          <a:xfrm>
            <a:off x="8069884" y="1335024"/>
            <a:ext cx="3618890" cy="1700778"/>
          </a:xfrm>
          <a:prstGeom prst="roundRect">
            <a:avLst>
              <a:gd name="adj" fmla="val 17921"/>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СУММЕ</a:t>
            </a:r>
          </a:p>
        </p:txBody>
      </p:sp>
      <p:sp>
        <p:nvSpPr>
          <p:cNvPr id="12" name="TextBox 11"/>
          <p:cNvSpPr txBox="1"/>
          <p:nvPr/>
        </p:nvSpPr>
        <p:spPr>
          <a:xfrm>
            <a:off x="8207044" y="1690796"/>
            <a:ext cx="3344570" cy="825909"/>
          </a:xfrm>
          <a:prstGeom prst="rect">
            <a:avLst/>
          </a:prstGeom>
          <a:noFill/>
        </p:spPr>
        <p:txBody>
          <a:bodyPr wrap="square" lIns="0" rIns="0" tIns="0" bIns="0" anchor="t">
            <a:spAutoFit/>
          </a:bodyPr>
          <a:lstStyle/>
          <a:p>
            <a:pPr algn="l">
              <a:lnSpc>
                <a:spcPct val="108000"/>
              </a:lnSpc>
            </a:pPr>
            <a:r>
              <a:rPr sz="1550" b="1" i="0">
                <a:solidFill>
                  <a:srgbClr val="F0AB00"/>
                </a:solidFill>
                <a:latin typeface="Arial"/>
              </a:rPr>
              <a:t>набор текста сократился, вычитка появилась, активное время правки осталось прежним</a:t>
            </a:r>
          </a:p>
        </p:txBody>
      </p:sp>
      <p:sp>
        <p:nvSpPr>
          <p:cNvPr id="13" name="TextBox 12"/>
          <p:cNvSpPr txBox="1"/>
          <p:nvPr/>
        </p:nvSpPr>
        <p:spPr>
          <a:xfrm>
            <a:off x="502920" y="3273546"/>
            <a:ext cx="1289304" cy="457200"/>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Было</a:t>
            </a:r>
          </a:p>
        </p:txBody>
      </p:sp>
      <p:sp>
        <p:nvSpPr>
          <p:cNvPr id="14" name="Rounded Rectangle 13"/>
          <p:cNvSpPr/>
          <p:nvPr/>
        </p:nvSpPr>
        <p:spPr>
          <a:xfrm>
            <a:off x="1920240" y="3218682"/>
            <a:ext cx="4747107"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002536" y="3300978"/>
            <a:ext cx="4582515"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набор текста</a:t>
            </a:r>
          </a:p>
        </p:txBody>
      </p:sp>
      <p:sp>
        <p:nvSpPr>
          <p:cNvPr id="16" name="Right Arrow 15"/>
          <p:cNvSpPr/>
          <p:nvPr/>
        </p:nvSpPr>
        <p:spPr>
          <a:xfrm>
            <a:off x="6713067" y="3378702"/>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941667" y="3218682"/>
            <a:ext cx="4747107"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023963" y="3300978"/>
            <a:ext cx="4582515"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подпись</a:t>
            </a:r>
          </a:p>
        </p:txBody>
      </p:sp>
      <p:sp>
        <p:nvSpPr>
          <p:cNvPr id="19" name="TextBox 18"/>
          <p:cNvSpPr txBox="1"/>
          <p:nvPr/>
        </p:nvSpPr>
        <p:spPr>
          <a:xfrm>
            <a:off x="502920" y="3877050"/>
            <a:ext cx="1289304" cy="457200"/>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Стало</a:t>
            </a:r>
          </a:p>
        </p:txBody>
      </p:sp>
      <p:sp>
        <p:nvSpPr>
          <p:cNvPr id="20" name="Rounded Rectangle 19"/>
          <p:cNvSpPr/>
          <p:nvPr/>
        </p:nvSpPr>
        <p:spPr>
          <a:xfrm>
            <a:off x="1920240" y="3822186"/>
            <a:ext cx="2236393"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002536" y="3904482"/>
            <a:ext cx="2071801"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разговор</a:t>
            </a:r>
          </a:p>
        </p:txBody>
      </p:sp>
      <p:sp>
        <p:nvSpPr>
          <p:cNvPr id="22" name="Right Arrow 21"/>
          <p:cNvSpPr/>
          <p:nvPr/>
        </p:nvSpPr>
        <p:spPr>
          <a:xfrm>
            <a:off x="4202353" y="3982206"/>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430953" y="3822186"/>
            <a:ext cx="2236393"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13249" y="3904482"/>
            <a:ext cx="2071801"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черновик</a:t>
            </a:r>
          </a:p>
        </p:txBody>
      </p:sp>
      <p:sp>
        <p:nvSpPr>
          <p:cNvPr id="25" name="Right Arrow 24"/>
          <p:cNvSpPr/>
          <p:nvPr/>
        </p:nvSpPr>
        <p:spPr>
          <a:xfrm>
            <a:off x="6713067" y="3982206"/>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6941667" y="3822186"/>
            <a:ext cx="2236393"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023963" y="3904482"/>
            <a:ext cx="2071801"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вычитка</a:t>
            </a:r>
          </a:p>
        </p:txBody>
      </p:sp>
      <p:sp>
        <p:nvSpPr>
          <p:cNvPr id="28" name="Right Arrow 27"/>
          <p:cNvSpPr/>
          <p:nvPr/>
        </p:nvSpPr>
        <p:spPr>
          <a:xfrm>
            <a:off x="9223781" y="3982206"/>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9452381" y="3822186"/>
            <a:ext cx="2236393"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534677" y="3904482"/>
            <a:ext cx="2071801"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подпись</a:t>
            </a:r>
          </a:p>
        </p:txBody>
      </p:sp>
      <p:sp>
        <p:nvSpPr>
          <p:cNvPr id="31" name="TextBox 30"/>
          <p:cNvSpPr txBox="1"/>
          <p:nvPr/>
        </p:nvSpPr>
        <p:spPr>
          <a:xfrm>
            <a:off x="502920" y="4480554"/>
            <a:ext cx="1289304" cy="457200"/>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Поверх, другой рукой</a:t>
            </a:r>
          </a:p>
        </p:txBody>
      </p:sp>
      <p:sp>
        <p:nvSpPr>
          <p:cNvPr id="32" name="Rounded Rectangle 31"/>
          <p:cNvSpPr/>
          <p:nvPr/>
        </p:nvSpPr>
        <p:spPr>
          <a:xfrm>
            <a:off x="1920240" y="4425690"/>
            <a:ext cx="9768535"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002536" y="4507986"/>
            <a:ext cx="9603943"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выборочный контроль заметок</a:t>
            </a:r>
          </a:p>
        </p:txBody>
      </p:sp>
      <p:sp>
        <p:nvSpPr>
          <p:cNvPr id="34" name="TextBox 33"/>
          <p:cNvSpPr txBox="1"/>
          <p:nvPr/>
        </p:nvSpPr>
        <p:spPr>
          <a:xfrm>
            <a:off x="502920" y="5029194"/>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Две дорожки врача — и третья строка: операция, которую делает не он</a:t>
            </a:r>
          </a:p>
        </p:txBody>
      </p:sp>
      <p:sp>
        <p:nvSpPr>
          <p:cNvPr id="35" name="Rounded Rectangle 34"/>
          <p:cNvSpPr/>
          <p:nvPr/>
        </p:nvSpPr>
        <p:spPr>
          <a:xfrm>
            <a:off x="374904" y="5342048"/>
            <a:ext cx="11441887" cy="894159"/>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39496" y="5433488"/>
            <a:ext cx="11112703" cy="802719"/>
          </a:xfrm>
          <a:prstGeom prst="rect">
            <a:avLst/>
          </a:prstGeom>
          <a:noFill/>
        </p:spPr>
        <p:txBody>
          <a:bodyPr wrap="square" lIns="0" rIns="0" tIns="0" bIns="0" anchor="t">
            <a:spAutoFit/>
          </a:bodyPr>
          <a:lstStyle/>
          <a:p>
            <a:pPr algn="l">
              <a:lnSpc>
                <a:spcPct val="126000"/>
              </a:lnSpc>
            </a:pPr>
            <a:r>
              <a:rPr sz="1350" b="0" i="0">
                <a:solidFill>
                  <a:srgbClr val="21295C"/>
                </a:solidFill>
                <a:latin typeface="Arial"/>
              </a:rPr>
              <a:t>Пятую операцию делает не врач: выборочный контроль заметок — работа появившейся службы со своим штатом.</a:t>
            </a:r>
          </a:p>
          <a:p>
            <a:pPr algn="l">
              <a:lnSpc>
                <a:spcPct val="126000"/>
              </a:lnSpc>
              <a:spcBef>
                <a:spcPts val="700"/>
              </a:spcBef>
            </a:pPr>
            <a:r>
              <a:rPr sz="1350" b="0" i="0">
                <a:solidFill>
                  <a:srgbClr val="21295C"/>
                </a:solidFill>
                <a:latin typeface="Arial"/>
              </a:rPr>
              <a:t/>
            </a:r>
            <a:r>
              <a:rPr sz="1350" b="0" i="0">
                <a:solidFill>
                  <a:srgbClr val="21295C"/>
                </a:solidFill>
                <a:latin typeface="Arial"/>
              </a:rPr>
              <a:t>Нагрузка переехала с набора на вычитку, и рядом появился шаг, которого не было.</a:t>
            </a:r>
          </a:p>
          <a:p>
            <a:pPr algn="l">
              <a:lnSpc>
                <a:spcPct val="126000"/>
              </a:lnSpc>
              <a:spcBef>
                <a:spcPts val="700"/>
              </a:spcBef>
            </a:pPr>
            <a:r>
              <a:rPr sz="1350" b="0" i="0">
                <a:solidFill>
                  <a:srgbClr val="21295C"/>
                </a:solidFill>
                <a:latin typeface="Arial"/>
              </a:rPr>
              <a:t/>
            </a:r>
            <a:r>
              <a:rPr sz="1350" b="0" i="0">
                <a:solidFill>
                  <a:srgbClr val="21295C"/>
                </a:solidFill>
                <a:latin typeface="Arial"/>
              </a:rPr>
              <a:t>Ноль изменений у второго инструмента: эффект принадлежит не режиму, а реализации.</a:t>
            </a:r>
          </a:p>
        </p:txBody>
      </p:sp>
      <p:sp>
        <p:nvSpPr>
          <p:cNvPr id="37" name="Rectangle 36"/>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Отчёт службы контроля качества заметок одной клиники</a:t>
            </a:r>
            <a:r>
              <a:rPr sz="1100" b="0" i="1">
                <a:solidFill>
                  <a:srgbClr val="1C7293"/>
                </a:solidFill>
                <a:latin typeface="Arial"/>
              </a:rPr>
              <a:t> · </a:t>
            </a:r>
            <a:r>
              <a:rPr sz="1100" b="0" i="1">
                <a:solidFill>
                  <a:srgbClr val="1C7293"/>
                </a:solidFill>
                <a:latin typeface="Arial"/>
              </a:rPr>
              <a:t>трёхрукое рандомизированное испытание двух инструментов, препринт medRxiv 2025.07.10.25331333</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Выписной эпикриз</a:t>
            </a:r>
          </a:p>
        </p:txBody>
      </p:sp>
      <p:sp>
        <p:nvSpPr>
          <p:cNvPr id="4" name="Rounded Rectangle 3"/>
          <p:cNvSpPr/>
          <p:nvPr/>
        </p:nvSpPr>
        <p:spPr>
          <a:xfrm>
            <a:off x="502920" y="1335024"/>
            <a:ext cx="2673019" cy="1669971"/>
          </a:xfrm>
          <a:prstGeom prst="roundRect">
            <a:avLst>
              <a:gd name="adj" fmla="val 1825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ПОЛНОТА ДОКУМЕНТА: ЧЕЛОВЕК → МОДЕЛЬ</a:t>
            </a:r>
          </a:p>
        </p:txBody>
      </p:sp>
      <p:sp>
        <p:nvSpPr>
          <p:cNvPr id="6" name="TextBox 5"/>
          <p:cNvSpPr txBox="1"/>
          <p:nvPr/>
        </p:nvSpPr>
        <p:spPr>
          <a:xfrm>
            <a:off x="640080" y="1863689"/>
            <a:ext cx="2398699" cy="613723"/>
          </a:xfrm>
          <a:prstGeom prst="rect">
            <a:avLst/>
          </a:prstGeom>
          <a:noFill/>
        </p:spPr>
        <p:txBody>
          <a:bodyPr wrap="square" lIns="0" rIns="0" tIns="0" bIns="0" anchor="t">
            <a:spAutoFit/>
          </a:bodyPr>
          <a:lstStyle/>
          <a:p>
            <a:pPr algn="l">
              <a:lnSpc>
                <a:spcPct val="108000"/>
              </a:lnSpc>
            </a:pPr>
            <a:r>
              <a:rPr sz="1700" b="1" i="0">
                <a:solidFill>
                  <a:srgbClr val="21295C"/>
                </a:solidFill>
                <a:latin typeface="Arial"/>
              </a:rPr>
              <a:t>4,13 → 3,72 по пятибалльной шкале</a:t>
            </a:r>
          </a:p>
        </p:txBody>
      </p:sp>
      <p:sp>
        <p:nvSpPr>
          <p:cNvPr id="7" name="TextBox 6"/>
          <p:cNvSpPr txBox="1"/>
          <p:nvPr/>
        </p:nvSpPr>
        <p:spPr>
          <a:xfrm>
            <a:off x="640080" y="2477412"/>
            <a:ext cx="2398699"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слепая дублированная оценка 22 рецензентов на 100 госпитализациях</a:t>
            </a:r>
          </a:p>
        </p:txBody>
      </p:sp>
      <p:sp>
        <p:nvSpPr>
          <p:cNvPr id="8" name="Rounded Rectangle 7"/>
          <p:cNvSpPr/>
          <p:nvPr/>
        </p:nvSpPr>
        <p:spPr>
          <a:xfrm>
            <a:off x="3340531" y="1335024"/>
            <a:ext cx="2673019" cy="1669971"/>
          </a:xfrm>
          <a:prstGeom prst="roundRect">
            <a:avLst>
              <a:gd name="adj" fmla="val 1825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77691"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УНИКАЛЬНЫХ ОШИБОК НА ДОКУМЕНТ: ЧЕЛОВЕК → МОДЕЛЬ</a:t>
            </a:r>
          </a:p>
        </p:txBody>
      </p:sp>
      <p:sp>
        <p:nvSpPr>
          <p:cNvPr id="10" name="TextBox 9"/>
          <p:cNvSpPr txBox="1"/>
          <p:nvPr/>
        </p:nvSpPr>
        <p:spPr>
          <a:xfrm>
            <a:off x="3477691" y="1863689"/>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1,82 → 2,91</a:t>
            </a:r>
          </a:p>
        </p:txBody>
      </p:sp>
      <p:sp>
        <p:nvSpPr>
          <p:cNvPr id="11" name="TextBox 10"/>
          <p:cNvSpPr txBox="1"/>
          <p:nvPr/>
        </p:nvSpPr>
        <p:spPr>
          <a:xfrm>
            <a:off x="3477691" y="2290688"/>
            <a:ext cx="2398699"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потенциальный вред одной ошибки у человека и у модели не различается</a:t>
            </a:r>
          </a:p>
        </p:txBody>
      </p:sp>
      <p:sp>
        <p:nvSpPr>
          <p:cNvPr id="12" name="Rounded Rectangle 11"/>
          <p:cNvSpPr/>
          <p:nvPr/>
        </p:nvSpPr>
        <p:spPr>
          <a:xfrm>
            <a:off x="6178143" y="1335024"/>
            <a:ext cx="2673019" cy="1669971"/>
          </a:xfrm>
          <a:prstGeom prst="roundRect">
            <a:avLst>
              <a:gd name="adj" fmla="val 18251"/>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15303"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ПОТЕНЦИАЛ ВРЕДА ОДНОЙ ОШИБКИ</a:t>
            </a:r>
          </a:p>
        </p:txBody>
      </p:sp>
      <p:sp>
        <p:nvSpPr>
          <p:cNvPr id="14" name="TextBox 13"/>
          <p:cNvSpPr txBox="1"/>
          <p:nvPr/>
        </p:nvSpPr>
        <p:spPr>
          <a:xfrm>
            <a:off x="6315303" y="1863689"/>
            <a:ext cx="2398699" cy="1004146"/>
          </a:xfrm>
          <a:prstGeom prst="rect">
            <a:avLst/>
          </a:prstGeom>
          <a:noFill/>
        </p:spPr>
        <p:txBody>
          <a:bodyPr wrap="square" lIns="0" rIns="0" tIns="0" bIns="0" anchor="t">
            <a:spAutoFit/>
          </a:bodyPr>
          <a:lstStyle/>
          <a:p>
            <a:pPr algn="l">
              <a:lnSpc>
                <a:spcPct val="108000"/>
              </a:lnSpc>
            </a:pPr>
            <a:r>
              <a:rPr sz="1900" b="1" i="0">
                <a:solidFill>
                  <a:srgbClr val="F0AB00"/>
                </a:solidFill>
                <a:latin typeface="Arial"/>
              </a:rPr>
              <a:t>у человека и у модели совпадает, обе оценки низкие</a:t>
            </a:r>
          </a:p>
        </p:txBody>
      </p:sp>
      <p:sp>
        <p:nvSpPr>
          <p:cNvPr id="15" name="Rounded Rectangle 14"/>
          <p:cNvSpPr/>
          <p:nvPr/>
        </p:nvSpPr>
        <p:spPr>
          <a:xfrm>
            <a:off x="9015755" y="1335024"/>
            <a:ext cx="2673019" cy="1669971"/>
          </a:xfrm>
          <a:prstGeom prst="roundRect">
            <a:avLst>
              <a:gd name="adj" fmla="val 1825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ТРОЙКА ИЗ ПЕРЕСКАЗОВ</a:t>
            </a:r>
          </a:p>
        </p:txBody>
      </p:sp>
      <p:sp>
        <p:nvSpPr>
          <p:cNvPr id="17" name="TextBox 16"/>
          <p:cNvSpPr txBox="1"/>
          <p:nvPr/>
        </p:nvSpPr>
        <p:spPr>
          <a:xfrm>
            <a:off x="9152915" y="1690796"/>
            <a:ext cx="2398699" cy="876834"/>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построчно не найдена ни в одной из трёх открытых работ</a:t>
            </a:r>
          </a:p>
        </p:txBody>
      </p:sp>
      <p:sp>
        <p:nvSpPr>
          <p:cNvPr id="18" name="Rounded Rectangle 17"/>
          <p:cNvSpPr/>
          <p:nvPr/>
        </p:nvSpPr>
        <p:spPr>
          <a:xfrm>
            <a:off x="374904" y="3096435"/>
            <a:ext cx="11441887" cy="3139772"/>
          </a:xfrm>
          <a:prstGeom prst="roundRect">
            <a:avLst>
              <a:gd name="adj" fmla="val 970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39496" y="3187875"/>
            <a:ext cx="11112703" cy="3048332"/>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Модель собирает выписной документ по истории болезни; врач вычитывает и подписывает; документ читает следующий врач и назначает по нему.</a:t>
            </a:r>
          </a:p>
          <a:p>
            <a:pPr algn="l">
              <a:lnSpc>
                <a:spcPct val="126000"/>
              </a:lnSpc>
              <a:spcBef>
                <a:spcPts val="700"/>
              </a:spcBef>
            </a:pPr>
            <a:r>
              <a:rPr sz="1200" b="0" i="0">
                <a:solidFill>
                  <a:srgbClr val="21295C"/>
                </a:solidFill>
                <a:latin typeface="Arial"/>
              </a:rPr>
              <a:t/>
            </a:r>
            <a:r>
              <a:rPr sz="1200" b="1" i="0">
                <a:solidFill>
                  <a:srgbClr val="21295C"/>
                </a:solidFill>
                <a:latin typeface="Arial"/>
              </a:rPr>
              <a:t>Дало</a:t>
            </a:r>
            <a:r>
              <a:rPr sz="1200" b="0" i="0">
                <a:solidFill>
                  <a:srgbClr val="21295C"/>
                </a:solidFill>
                <a:latin typeface="Arial"/>
              </a:rPr>
              <a:t> — документ готов раньше, короче и связнее. </a:t>
            </a:r>
            <a:r>
              <a:rPr sz="1200" b="1" i="0">
                <a:solidFill>
                  <a:srgbClr val="21295C"/>
                </a:solidFill>
                <a:latin typeface="Arial"/>
              </a:rPr>
              <a:t>Потребовало</a:t>
            </a:r>
            <a:r>
              <a:rPr sz="1200" b="0" i="0">
                <a:solidFill>
                  <a:srgbClr val="21295C"/>
                </a:solidFill>
                <a:latin typeface="Arial"/>
              </a:rPr>
              <a:t> — полноты и вычитки другого рода. </a:t>
            </a:r>
            <a:r>
              <a:rPr sz="1200" b="1" i="0">
                <a:solidFill>
                  <a:srgbClr val="21295C"/>
                </a:solidFill>
                <a:latin typeface="Arial"/>
              </a:rPr>
              <a:t>В сумме</a:t>
            </a:r>
            <a:r>
              <a:rPr sz="1200" b="0" i="0">
                <a:solidFill>
                  <a:srgbClr val="21295C"/>
                </a:solidFill>
                <a:latin typeface="Arial"/>
              </a:rPr>
              <a:t> — потенциал вреда одной ошибки тот же, ошибок больше, документ менее полон.</a:t>
            </a:r>
          </a:p>
          <a:p>
            <a:pPr algn="l">
              <a:lnSpc>
                <a:spcPct val="126000"/>
              </a:lnSpc>
              <a:spcBef>
                <a:spcPts val="700"/>
              </a:spcBef>
            </a:pPr>
            <a:r>
              <a:rPr sz="1200" b="0" i="0">
                <a:solidFill>
                  <a:srgbClr val="21295C"/>
                </a:solidFill>
                <a:latin typeface="Arial"/>
              </a:rPr>
              <a:t/>
            </a:r>
            <a:r>
              <a:rPr sz="1200" b="1" i="0">
                <a:solidFill>
                  <a:srgbClr val="21295C"/>
                </a:solidFill>
                <a:latin typeface="Arial"/>
              </a:rPr>
              <a:t>А теперь то, что по этому случаю чаще всего и пересказывают.</a:t>
            </a:r>
            <a:r>
              <a:rPr sz="1200" b="0" i="0">
                <a:solidFill>
                  <a:srgbClr val="21295C"/>
                </a:solidFill>
                <a:latin typeface="Arial"/>
              </a:rPr>
              <a:t> В обзорах и в журналистских пересказах ходит тройка: потенциально вредные проблемы в части машинных эпикризов, добавленный несуществующий препарат, расхождение с потенциалом необратимого вреда — три аккуратных числа со ссылкой на «исследование ста эпикризов».</a:t>
            </a:r>
          </a:p>
          <a:p>
            <a:pPr algn="l">
              <a:lnSpc>
                <a:spcPct val="126000"/>
              </a:lnSpc>
              <a:spcBef>
                <a:spcPts val="700"/>
              </a:spcBef>
            </a:pPr>
            <a:r>
              <a:rPr sz="1200" b="0" i="0">
                <a:solidFill>
                  <a:srgbClr val="21295C"/>
                </a:solidFill>
                <a:latin typeface="Arial"/>
              </a:rPr>
              <a:t/>
            </a:r>
            <a:r>
              <a:rPr sz="1200" b="1" i="0">
                <a:solidFill>
                  <a:srgbClr val="21295C"/>
                </a:solidFill>
                <a:latin typeface="Arial"/>
              </a:rPr>
              <a:t>Построчное чтение трёх доступных первоисточников этой тройки не даёт.</a:t>
            </a:r>
            <a:r>
              <a:rPr sz="1200" b="0" i="0">
                <a:solidFill>
                  <a:srgbClr val="21295C"/>
                </a:solidFill>
                <a:latin typeface="Arial"/>
              </a:rPr>
              <a:t> Проспективное исследование ста сводок считает другой состав и в других определениях: пропуски, неточности, выдумки, умеренный вред — и ни одного случая тяжёлого. Слепое сравнение ста госпитализаций даёт счёт отдельных ошибок с потенциалом необратимого вреда у модели против такого же счёта у врачей.</a:t>
            </a:r>
          </a:p>
          <a:p>
            <a:pPr algn="l">
              <a:lnSpc>
                <a:spcPct val="126000"/>
              </a:lnSpc>
              <a:spcBef>
                <a:spcPts val="700"/>
              </a:spcBef>
            </a:pPr>
            <a:r>
              <a:rPr sz="1200" b="0" i="0">
                <a:solidFill>
                  <a:srgbClr val="21295C"/>
                </a:solidFill>
                <a:latin typeface="Arial"/>
              </a:rPr>
              <a:t/>
            </a:r>
            <a:r>
              <a:rPr sz="1200" b="0" i="0">
                <a:solidFill>
                  <a:srgbClr val="21295C"/>
                </a:solidFill>
                <a:latin typeface="Arial"/>
              </a:rPr>
              <a:t>Числа, которые удобно звучат, живут в пересказах дольше, чем в первоисточниках. </a:t>
            </a:r>
            <a:r>
              <a:rPr sz="1200" b="1" i="0">
                <a:solidFill>
                  <a:srgbClr val="21295C"/>
                </a:solidFill>
                <a:latin typeface="Arial"/>
              </a:rPr>
              <a:t>Разряд свидетельства у пересказа ниже, чем у исследования, даже когда числа совпадают</a:t>
            </a:r>
            <a:r>
              <a:rPr sz="1200" b="0" i="0">
                <a:solidFill>
                  <a:srgbClr val="21295C"/>
                </a:solidFill>
                <a:latin typeface="Arial"/>
              </a:rPr>
              <a:t> — а проверка одного первоисточника построчно меняет состав утверждения целиком.</a:t>
            </a:r>
          </a:p>
          <a:p>
            <a:pPr algn="l">
              <a:lnSpc>
                <a:spcPct val="126000"/>
              </a:lnSpc>
              <a:spcBef>
                <a:spcPts val="700"/>
              </a:spcBef>
            </a:pPr>
            <a:r>
              <a:rPr sz="960" b="0" i="0">
                <a:solidFill>
                  <a:srgbClr val="21295C"/>
                </a:solidFill>
                <a:latin typeface="Arial"/>
              </a:rPr>
              <a:t/>
            </a:r>
            <a:r>
              <a:rPr sz="960" b="0" i="1">
                <a:solidFill>
                  <a:srgbClr val="1C7293"/>
                </a:solidFill>
                <a:latin typeface="Arial"/>
              </a:rPr>
              <a:t>Режим: генерация клинических документов внутри карты — сводка событий госпитализации, отдельно сводка со ссылкой на место в карте-источнике. Без такой привязки режим не умеет отличить правдоподобное от записанного.</a:t>
            </a:r>
          </a:p>
        </p:txBody>
      </p:sp>
      <p:sp>
        <p:nvSpPr>
          <p:cNvPr id="20" name="Rectangle 19"/>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Слепое сравнение ста госпитализаций, JAMA Internal Medicine 2025, DOI 10.1001/jamainternmed.2025.0821</a:t>
            </a:r>
            <a:r>
              <a:rPr sz="1100" b="0" i="1">
                <a:solidFill>
                  <a:srgbClr val="1C7293"/>
                </a:solidFill>
                <a:latin typeface="Arial"/>
              </a:rPr>
              <a:t> · </a:t>
            </a:r>
            <a:r>
              <a:rPr sz="1100" b="0" i="1">
                <a:solidFill>
                  <a:srgbClr val="1C7293"/>
                </a:solidFill>
                <a:latin typeface="Arial"/>
              </a:rPr>
              <a:t>проспективный пилот, JAMA Network Open 2026, DOI 10.1001/jamanetworkopen.2026.16556</a:t>
            </a:r>
            <a:r>
              <a:rPr sz="1100" b="0" i="1">
                <a:solidFill>
                  <a:srgbClr val="1C7293"/>
                </a:solidFill>
                <a:latin typeface="Arial"/>
              </a:rPr>
              <a:t> · </a:t>
            </a:r>
            <a:r>
              <a:rPr sz="1100" b="0" i="1">
                <a:solidFill>
                  <a:srgbClr val="1C7293"/>
                </a:solidFill>
                <a:latin typeface="Arial"/>
              </a:rPr>
              <a:t>одноцентровое сравнение «до и после» в реабилитационном отделении, Cureus 2026;18(5):e109247, DOI 10.7759/cureus.109247 — журнал с авторским взносом и минимальным рецензированием</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Вывод: ведение записи</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Польза</a:t>
            </a:r>
            <a:r>
              <a:rPr sz="1500" b="0" i="0">
                <a:solidFill>
                  <a:srgbClr val="21295C"/>
                </a:solidFill>
                <a:latin typeface="Arial"/>
              </a:rPr>
              <a:t> — заметка и выписной документ готовы быстрее, короче и связнее прежнего.</a:t>
            </a:r>
          </a:p>
          <a:p>
            <a:pPr algn="l">
              <a:lnSpc>
                <a:spcPct val="126000"/>
              </a:lnSpc>
              <a:spcBef>
                <a:spcPts val="700"/>
              </a:spcBef>
            </a:pPr>
            <a:r>
              <a:rPr sz="1500" b="0" i="0">
                <a:solidFill>
                  <a:srgbClr val="21295C"/>
                </a:solidFill>
                <a:latin typeface="Arial"/>
              </a:rPr>
              <a:t/>
            </a:r>
            <a:r>
              <a:rPr sz="1500" b="1" i="0">
                <a:solidFill>
                  <a:srgbClr val="21295C"/>
                </a:solidFill>
                <a:latin typeface="Arial"/>
              </a:rPr>
              <a:t>Граница</a:t>
            </a:r>
            <a:r>
              <a:rPr sz="1500" b="0" i="0">
                <a:solidFill>
                  <a:srgbClr val="21295C"/>
                </a:solidFill>
                <a:latin typeface="Arial"/>
              </a:rPr>
              <a:t> — вычитка не исчезла, она сменила предмет: искать теперь надо не опечатку, а правдоподобную подробность, которой не было.</a:t>
            </a:r>
          </a:p>
          <a:p>
            <a:pPr algn="l">
              <a:lnSpc>
                <a:spcPct val="126000"/>
              </a:lnSpc>
              <a:spcBef>
                <a:spcPts val="700"/>
              </a:spcBef>
            </a:pPr>
            <a:r>
              <a:rPr sz="1500" b="0" i="0">
                <a:solidFill>
                  <a:srgbClr val="21295C"/>
                </a:solidFill>
                <a:latin typeface="Arial"/>
              </a:rPr>
              <a:t/>
            </a:r>
            <a:r>
              <a:rPr sz="1500" b="1" i="0">
                <a:solidFill>
                  <a:srgbClr val="21295C"/>
                </a:solidFill>
                <a:latin typeface="Arial"/>
              </a:rPr>
              <a:t>Риск</a:t>
            </a:r>
            <a:r>
              <a:rPr sz="1500" b="0" i="0">
                <a:solidFill>
                  <a:srgbClr val="21295C"/>
                </a:solidFill>
                <a:latin typeface="Arial"/>
              </a:rPr>
              <a:t> — набор текста переехал на вычитку, а у вычитки появился собственный штат; документ, по которому назначают, стал менее полным.</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Дальше</a:t>
            </a:r>
            <a:r>
              <a:rPr sz="1500" b="0" i="0">
                <a:solidFill>
                  <a:srgbClr val="21295C"/>
                </a:solidFill>
                <a:latin typeface="Arial"/>
              </a:rPr>
              <a:t> — эпикриз и есть документ, под которым стоит подпись.</a:t>
            </a:r>
          </a:p>
          <a:p>
            <a:pPr algn="l">
              <a:lnSpc>
                <a:spcPct val="126000"/>
              </a:lnSpc>
              <a:spcBef>
                <a:spcPts val="700"/>
              </a:spcBef>
            </a:pPr>
            <a:r>
              <a:rPr sz="1500" b="0" i="0">
                <a:solidFill>
                  <a:srgbClr val="21295C"/>
                </a:solidFill>
                <a:latin typeface="Arial"/>
              </a:rPr>
              <a:t/>
            </a:r>
            <a:r>
              <a:rPr sz="1500" b="0" i="0">
                <a:solidFill>
                  <a:srgbClr val="21295C"/>
                </a:solidFill>
                <a:latin typeface="Arial"/>
              </a:rPr>
              <a:t>Форма «появился шаг» повторилась здесь на другом материале — так же, как в наблюдении за состоянием.</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6. Чем удерживают</a:t>
            </a:r>
          </a:p>
        </p:txBody>
      </p:sp>
      <p:sp>
        <p:nvSpPr>
          <p:cNvPr id="5" name="Rectangle 4"/>
          <p:cNvSpPr/>
          <p:nvPr/>
        </p:nvSpPr>
        <p:spPr>
          <a:xfrm>
            <a:off x="704088" y="1570238"/>
            <a:ext cx="1188720" cy="59436"/>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1844558"/>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Подпись, процедура, норматив.</a:t>
            </a:r>
          </a:p>
        </p:txBody>
      </p:sp>
      <p:sp>
        <p:nvSpPr>
          <p:cNvPr id="7" name="TextBox 6"/>
          <p:cNvSpPr txBox="1"/>
          <p:nvPr/>
        </p:nvSpPr>
        <p:spPr>
          <a:xfrm>
            <a:off x="704088" y="2311240"/>
            <a:ext cx="10984687" cy="94284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Предыдущий раздел разбирал запись — эпикриз, который кто-то вычитывает и подписывает. Этот раздел про саму подпись: что она значит, кто проверяет, что подписавший ещё способен возразить машине, и что происходит, когда программа меняется уже после того, как её допустили к продаже.</a:t>
            </a:r>
          </a:p>
        </p:txBody>
      </p:sp>
      <p:sp>
        <p:nvSpPr>
          <p:cNvPr id="8" name="TextBox 7"/>
          <p:cNvSpPr txBox="1"/>
          <p:nvPr/>
        </p:nvSpPr>
        <p:spPr>
          <a:xfrm>
            <a:off x="704088" y="3382105"/>
            <a:ext cx="10984687" cy="338666"/>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1 разбор · 1 обзор надзора после допуска</a:t>
            </a:r>
          </a:p>
        </p:txBody>
      </p:sp>
      <p:sp>
        <p:nvSpPr>
          <p:cNvPr id="9" name="TextBox 8"/>
          <p:cNvSpPr txBox="1"/>
          <p:nvPr/>
        </p:nvSpPr>
        <p:spPr>
          <a:xfrm>
            <a:off x="704088" y="3848787"/>
            <a:ext cx="10984687" cy="94284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По порядку: разбор </a:t>
            </a:r>
            <a:r>
              <a:rPr sz="1550" b="1" i="0">
                <a:solidFill>
                  <a:srgbClr val="21295C"/>
                </a:solidFill>
                <a:latin typeface="Arial"/>
              </a:rPr>
              <a:t>«Норма есть, проверки нет»</a:t>
            </a:r>
            <a:r>
              <a:rPr sz="1550" b="0" i="0">
                <a:solidFill>
                  <a:srgbClr val="21295C"/>
                </a:solidFill>
                <a:latin typeface="Arial"/>
              </a:rPr>
              <a:t> — требование оставить человека финальным звеном проверили на практике у считаных устройств из сотен допущенных. И обзор </a:t>
            </a:r>
            <a:r>
              <a:rPr sz="1550" b="1" i="0">
                <a:solidFill>
                  <a:srgbClr val="21295C"/>
                </a:solidFill>
                <a:latin typeface="Arial"/>
              </a:rPr>
              <a:t>«Модель, которая меняется после допуска»</a:t>
            </a:r>
            <a:r>
              <a:rPr sz="1550" b="0" i="0">
                <a:solidFill>
                  <a:srgbClr val="21295C"/>
                </a:solidFill>
                <a:latin typeface="Arial"/>
              </a:rPr>
              <a:t> — что регулятор требует от программы, которая продолжает обучаться уже на рынке.</a:t>
            </a:r>
          </a:p>
        </p:txBody>
      </p:sp>
      <p:sp>
        <p:nvSpPr>
          <p:cNvPr id="10" name="TextBox 9"/>
          <p:cNvSpPr txBox="1"/>
          <p:nvPr/>
        </p:nvSpPr>
        <p:spPr>
          <a:xfrm>
            <a:off x="704088" y="4919652"/>
            <a:ext cx="11185855" cy="430031"/>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Семь человек за столом врачебной комиссии решают один вопрос: соответствовали ли действия врача утверждённому порядку. Пользовался ли он моделью — вопрос, которого в этом списке нет.</a:t>
            </a:r>
          </a:p>
        </p:txBody>
      </p:sp>
      <p:sp>
        <p:nvSpPr>
          <p:cNvPr id="11" name="TextBox 1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Регламент (ЕС) 2024/1689, статья 14; систематический обзор поданной регуляторам документации по радиологическим устройствам с ИИ, JAMA Network Open 2025;8(11):e2542338</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Одна комната и один случай: врачебная комиссия</a:t>
            </a:r>
          </a:p>
        </p:txBody>
      </p:sp>
      <p:sp>
        <p:nvSpPr>
          <p:cNvPr id="4" name="TextBox 3"/>
          <p:cNvSpPr txBox="1"/>
          <p:nvPr/>
        </p:nvSpPr>
        <p:spPr>
          <a:xfrm>
            <a:off x="502920" y="1389888"/>
            <a:ext cx="1289304" cy="845068"/>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За столом</a:t>
            </a:r>
          </a:p>
        </p:txBody>
      </p:sp>
      <p:sp>
        <p:nvSpPr>
          <p:cNvPr id="5" name="Rounded Rectangle 4"/>
          <p:cNvSpPr/>
          <p:nvPr/>
        </p:nvSpPr>
        <p:spPr>
          <a:xfrm>
            <a:off x="1920240" y="1335024"/>
            <a:ext cx="2236393" cy="845068"/>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002536" y="1417320"/>
            <a:ext cx="2071801" cy="680476"/>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Заместитель главного врача — председатель</a:t>
            </a:r>
          </a:p>
        </p:txBody>
      </p:sp>
      <p:sp>
        <p:nvSpPr>
          <p:cNvPr id="7" name="Right Arrow 6"/>
          <p:cNvSpPr/>
          <p:nvPr/>
        </p:nvSpPr>
        <p:spPr>
          <a:xfrm>
            <a:off x="4202353" y="1688978"/>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430953" y="1335024"/>
            <a:ext cx="2236393" cy="845068"/>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13249" y="1417320"/>
            <a:ext cx="2071801" cy="680476"/>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Заведующий отделением</a:t>
            </a:r>
          </a:p>
        </p:txBody>
      </p:sp>
      <p:sp>
        <p:nvSpPr>
          <p:cNvPr id="10" name="Right Arrow 9"/>
          <p:cNvSpPr/>
          <p:nvPr/>
        </p:nvSpPr>
        <p:spPr>
          <a:xfrm>
            <a:off x="6713067" y="1688978"/>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941667" y="1335024"/>
            <a:ext cx="2236393" cy="845068"/>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23963" y="1417320"/>
            <a:ext cx="2071801" cy="680476"/>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Двое врачей той же специальности из другого отделения</a:t>
            </a:r>
          </a:p>
        </p:txBody>
      </p:sp>
      <p:sp>
        <p:nvSpPr>
          <p:cNvPr id="13" name="Right Arrow 12"/>
          <p:cNvSpPr/>
          <p:nvPr/>
        </p:nvSpPr>
        <p:spPr>
          <a:xfrm>
            <a:off x="9223781" y="1688978"/>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9452381" y="1335024"/>
            <a:ext cx="2236393" cy="845068"/>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534677" y="1417320"/>
            <a:ext cx="2071801" cy="680476"/>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Эксперт по качеству помощи · секретарь</a:t>
            </a:r>
          </a:p>
        </p:txBody>
      </p:sp>
      <p:sp>
        <p:nvSpPr>
          <p:cNvPr id="16" name="TextBox 15"/>
          <p:cNvSpPr txBox="1"/>
          <p:nvPr/>
        </p:nvSpPr>
        <p:spPr>
          <a:xfrm>
            <a:off x="502920" y="2381260"/>
            <a:ext cx="1289304" cy="642627"/>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На столе</a:t>
            </a:r>
          </a:p>
        </p:txBody>
      </p:sp>
      <p:sp>
        <p:nvSpPr>
          <p:cNvPr id="17" name="Rounded Rectangle 16"/>
          <p:cNvSpPr/>
          <p:nvPr/>
        </p:nvSpPr>
        <p:spPr>
          <a:xfrm>
            <a:off x="1920240" y="2326396"/>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002536" y="2408692"/>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Карта со всеми заключениями и подписями</a:t>
            </a:r>
          </a:p>
        </p:txBody>
      </p:sp>
      <p:sp>
        <p:nvSpPr>
          <p:cNvPr id="19" name="Right Arrow 18"/>
          <p:cNvSpPr/>
          <p:nvPr/>
        </p:nvSpPr>
        <p:spPr>
          <a:xfrm>
            <a:off x="4202353" y="2579130"/>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430953" y="2326396"/>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13249" y="2408692"/>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Протоколы исследований</a:t>
            </a:r>
          </a:p>
        </p:txBody>
      </p:sp>
      <p:sp>
        <p:nvSpPr>
          <p:cNvPr id="22" name="Right Arrow 21"/>
          <p:cNvSpPr/>
          <p:nvPr/>
        </p:nvSpPr>
        <p:spPr>
          <a:xfrm>
            <a:off x="6713067" y="2579130"/>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6941667" y="2326396"/>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023963" y="2408692"/>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Распечатка вывода модели и момент её показа</a:t>
            </a:r>
          </a:p>
        </p:txBody>
      </p:sp>
      <p:sp>
        <p:nvSpPr>
          <p:cNvPr id="25" name="Right Arrow 24"/>
          <p:cNvSpPr/>
          <p:nvPr/>
        </p:nvSpPr>
        <p:spPr>
          <a:xfrm>
            <a:off x="9223781" y="2579130"/>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9452381" y="2326396"/>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534677" y="2408692"/>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Утверждённый порядок и клинические рекомендации</a:t>
            </a:r>
          </a:p>
        </p:txBody>
      </p:sp>
      <p:sp>
        <p:nvSpPr>
          <p:cNvPr id="28" name="TextBox 27"/>
          <p:cNvSpPr txBox="1"/>
          <p:nvPr/>
        </p:nvSpPr>
        <p:spPr>
          <a:xfrm>
            <a:off x="502920" y="3115328"/>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Кто сидит за столом и что на нём лежит</a:t>
            </a:r>
          </a:p>
        </p:txBody>
      </p:sp>
      <p:sp>
        <p:nvSpPr>
          <p:cNvPr id="29" name="Rounded Rectangle 28"/>
          <p:cNvSpPr/>
          <p:nvPr/>
        </p:nvSpPr>
        <p:spPr>
          <a:xfrm>
            <a:off x="374904" y="3428182"/>
            <a:ext cx="11441887" cy="2808025"/>
          </a:xfrm>
          <a:prstGeom prst="roundRect">
            <a:avLst>
              <a:gd name="adj" fmla="val 1085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39496" y="3519622"/>
            <a:ext cx="11112703" cy="2716585"/>
          </a:xfrm>
          <a:prstGeom prst="rect">
            <a:avLst/>
          </a:prstGeom>
          <a:noFill/>
        </p:spPr>
        <p:txBody>
          <a:bodyPr wrap="square" lIns="0" rIns="0" tIns="0" bIns="0" anchor="t">
            <a:spAutoFit/>
          </a:bodyPr>
          <a:lstStyle/>
          <a:p>
            <a:pPr algn="l">
              <a:lnSpc>
                <a:spcPct val="126000"/>
              </a:lnSpc>
            </a:pPr>
            <a:r>
              <a:rPr sz="1380" b="0" i="0">
                <a:solidFill>
                  <a:srgbClr val="21295C"/>
                </a:solidFill>
                <a:latin typeface="Arial"/>
              </a:rPr>
              <a:t>Четверг, кабинет заместителя главного врача. Комиссия разбирает один случай: пациентка шестидесяти восьми лет, госпитализирована с болью в животе, выписана через четыре дня, вернулась через сутки с осложнением.</a:t>
            </a:r>
          </a:p>
          <a:p>
            <a:pPr algn="l">
              <a:lnSpc>
                <a:spcPct val="126000"/>
              </a:lnSpc>
              <a:spcBef>
                <a:spcPts val="700"/>
              </a:spcBef>
            </a:pPr>
            <a:r>
              <a:rPr sz="1380" b="0" i="0">
                <a:solidFill>
                  <a:srgbClr val="21295C"/>
                </a:solidFill>
                <a:latin typeface="Arial"/>
              </a:rPr>
              <a:t/>
            </a:r>
            <a:r>
              <a:rPr sz="1380" b="1" i="0">
                <a:solidFill>
                  <a:srgbClr val="21295C"/>
                </a:solidFill>
                <a:latin typeface="Arial"/>
              </a:rPr>
              <a:t>Кто сидит за столом.</a:t>
            </a:r>
            <a:r>
              <a:rPr sz="1380" b="0" i="0">
                <a:solidFill>
                  <a:srgbClr val="21295C"/>
                </a:solidFill>
                <a:latin typeface="Arial"/>
              </a:rPr>
              <a:t> Председатель — заместитель главного врача. Заведующий отделением. Двое врачей той же специальности из другого отделения — с лечащим они не работают вместе. Эксперт по качеству медицинской помощи. Секретарь, ведущий протокол.</a:t>
            </a:r>
          </a:p>
          <a:p>
            <a:pPr algn="l">
              <a:lnSpc>
                <a:spcPct val="126000"/>
              </a:lnSpc>
              <a:spcBef>
                <a:spcPts val="700"/>
              </a:spcBef>
            </a:pPr>
            <a:r>
              <a:rPr sz="1380" b="0" i="0">
                <a:solidFill>
                  <a:srgbClr val="21295C"/>
                </a:solidFill>
                <a:latin typeface="Arial"/>
              </a:rPr>
              <a:t/>
            </a:r>
            <a:r>
              <a:rPr sz="1380" b="1" i="0">
                <a:solidFill>
                  <a:srgbClr val="21295C"/>
                </a:solidFill>
                <a:latin typeface="Arial"/>
              </a:rPr>
              <a:t>Что лежит на столе.</a:t>
            </a:r>
            <a:r>
              <a:rPr sz="1380" b="0" i="0">
                <a:solidFill>
                  <a:srgbClr val="21295C"/>
                </a:solidFill>
                <a:latin typeface="Arial"/>
              </a:rPr>
              <a:t> Карта со всеми заключениями и подписями. Протоколы исследований. Распечатка того, что показала модель, и отметка, в какой момент она это показала. Утверждённый порядок оказания помощи и клинические рекомендации.</a:t>
            </a:r>
          </a:p>
          <a:p>
            <a:pPr algn="l">
              <a:lnSpc>
                <a:spcPct val="126000"/>
              </a:lnSpc>
              <a:spcBef>
                <a:spcPts val="700"/>
              </a:spcBef>
            </a:pPr>
            <a:r>
              <a:rPr sz="1380" b="0" i="0">
                <a:solidFill>
                  <a:srgbClr val="21295C"/>
                </a:solidFill>
                <a:latin typeface="Arial"/>
              </a:rPr>
              <a:t/>
            </a:r>
            <a:r>
              <a:rPr sz="1380" b="1" i="0">
                <a:solidFill>
                  <a:srgbClr val="21295C"/>
                </a:solidFill>
                <a:latin typeface="Arial"/>
              </a:rPr>
              <a:t>Какой вопрос решают.</a:t>
            </a:r>
            <a:r>
              <a:rPr sz="1380" b="0" i="0">
                <a:solidFill>
                  <a:srgbClr val="21295C"/>
                </a:solidFill>
                <a:latin typeface="Arial"/>
              </a:rPr>
              <a:t> Один: соответствовали ли действия врача утверждённым порядкам, стандартам и рекомендациям.</a:t>
            </a:r>
          </a:p>
          <a:p>
            <a:pPr algn="l">
              <a:lnSpc>
                <a:spcPct val="126000"/>
              </a:lnSpc>
              <a:spcBef>
                <a:spcPts val="700"/>
              </a:spcBef>
            </a:pPr>
            <a:r>
              <a:rPr sz="1380" b="0" i="0">
                <a:solidFill>
                  <a:srgbClr val="21295C"/>
                </a:solidFill>
                <a:latin typeface="Arial"/>
              </a:rPr>
              <a:t/>
            </a:r>
            <a:r>
              <a:rPr sz="1380" b="0" i="0">
                <a:solidFill>
                  <a:srgbClr val="21295C"/>
                </a:solidFill>
                <a:latin typeface="Arial"/>
              </a:rPr>
              <a:t>Вопроса «пользовался ли он моделью» в этом списке нет.</a:t>
            </a:r>
          </a:p>
        </p:txBody>
      </p:sp>
      <p:sp>
        <p:nvSpPr>
          <p:cNvPr id="31" name="Rectangle 30"/>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{{источник: порядок разбора врачебной ошибки — нормативного акта глава не называет, процедура описана без ссылки}}</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Два шага процедуры: разбор случая и склонность доверять автомату</a:t>
            </a:r>
          </a:p>
        </p:txBody>
      </p:sp>
      <p:sp>
        <p:nvSpPr>
          <p:cNvPr id="4" name="Rounded Rectangle 3"/>
          <p:cNvSpPr/>
          <p:nvPr/>
        </p:nvSpPr>
        <p:spPr>
          <a:xfrm>
            <a:off x="502920" y="1335024"/>
            <a:ext cx="3618890" cy="1659284"/>
          </a:xfrm>
          <a:prstGeom prst="roundRect">
            <a:avLst>
              <a:gd name="adj" fmla="val 18369"/>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ТОЧНОСТЬ БЕЗ МОДЕЛИ → С МОДЕЛЬЮ</a:t>
            </a:r>
          </a:p>
        </p:txBody>
      </p:sp>
      <p:sp>
        <p:nvSpPr>
          <p:cNvPr id="6" name="TextBox 5"/>
          <p:cNvSpPr txBox="1"/>
          <p:nvPr/>
        </p:nvSpPr>
        <p:spPr>
          <a:xfrm>
            <a:off x="640080" y="169079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87,2 → 96,4 из ста</a:t>
            </a:r>
          </a:p>
        </p:txBody>
      </p:sp>
      <p:sp>
        <p:nvSpPr>
          <p:cNvPr id="7" name="TextBox 6"/>
          <p:cNvSpPr txBox="1"/>
          <p:nvPr/>
        </p:nvSpPr>
        <p:spPr>
          <a:xfrm>
            <a:off x="640080" y="2117795"/>
            <a:ext cx="3344570"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40 клиницистов, по 200 снимков каждый — восемь тысяч прочтений; девять пунктов посчитаны против ОДНОГО читателя: второе мнение второго человека в опыте названо и не посчитано</a:t>
            </a:r>
          </a:p>
        </p:txBody>
      </p:sp>
      <p:sp>
        <p:nvSpPr>
          <p:cNvPr id="8" name="Rounded Rectangle 7"/>
          <p:cNvSpPr/>
          <p:nvPr/>
        </p:nvSpPr>
        <p:spPr>
          <a:xfrm>
            <a:off x="4286402" y="1335024"/>
            <a:ext cx="3618890" cy="1659284"/>
          </a:xfrm>
          <a:prstGeom prst="roundRect">
            <a:avLst>
              <a:gd name="adj" fmla="val 18369"/>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23562"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ОСТАТОЧНЫЕ ОШИБКИ ОТ СКЛОННОСТИ ДОВЕРЯТЬ АВТОМАТУ</a:t>
            </a:r>
          </a:p>
        </p:txBody>
      </p:sp>
      <p:sp>
        <p:nvSpPr>
          <p:cNvPr id="10" name="TextBox 9"/>
          <p:cNvSpPr txBox="1"/>
          <p:nvPr/>
        </p:nvSpPr>
        <p:spPr>
          <a:xfrm>
            <a:off x="4423562" y="1863689"/>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45,5 из ста ошибок</a:t>
            </a:r>
          </a:p>
        </p:txBody>
      </p:sp>
      <p:sp>
        <p:nvSpPr>
          <p:cNvPr id="11" name="TextBox 10"/>
          <p:cNvSpPr txBox="1"/>
          <p:nvPr/>
        </p:nvSpPr>
        <p:spPr>
          <a:xfrm>
            <a:off x="4423562" y="2290688"/>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доля считается от ошибок, оставшихся в раунде с подсказкой, и наблюдалась на всех уровнях квалификации</a:t>
            </a:r>
          </a:p>
        </p:txBody>
      </p:sp>
      <p:sp>
        <p:nvSpPr>
          <p:cNvPr id="12" name="Rounded Rectangle 11"/>
          <p:cNvSpPr/>
          <p:nvPr/>
        </p:nvSpPr>
        <p:spPr>
          <a:xfrm>
            <a:off x="8069884" y="1335024"/>
            <a:ext cx="3618890" cy="1659284"/>
          </a:xfrm>
          <a:prstGeom prst="roundRect">
            <a:avLst>
              <a:gd name="adj" fmla="val 18369"/>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07044"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РАСЧЁТНОЕ СНИЖЕНИЕ — ОЦЕНЕНО РАСЧЁТОМ, НЕ ИЗМЕРЕНО</a:t>
            </a:r>
          </a:p>
        </p:txBody>
      </p:sp>
      <p:sp>
        <p:nvSpPr>
          <p:cNvPr id="14" name="TextBox 13"/>
          <p:cNvSpPr txBox="1"/>
          <p:nvPr/>
        </p:nvSpPr>
        <p:spPr>
          <a:xfrm>
            <a:off x="8207044" y="1863689"/>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41,7 процента</a:t>
            </a:r>
          </a:p>
        </p:txBody>
      </p:sp>
      <p:sp>
        <p:nvSpPr>
          <p:cNvPr id="15" name="TextBox 14"/>
          <p:cNvSpPr txBox="1"/>
          <p:nvPr/>
        </p:nvSpPr>
        <p:spPr>
          <a:xfrm>
            <a:off x="8207044" y="2290688"/>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ретроспективный расчёт по двум уже собранным раундам; третьего раунда с живыми врачами не было, и знак итогового эффекта неизвестен</a:t>
            </a:r>
          </a:p>
        </p:txBody>
      </p:sp>
      <p:sp>
        <p:nvSpPr>
          <p:cNvPr id="16" name="TextBox 15"/>
          <p:cNvSpPr txBox="1"/>
          <p:nvPr/>
        </p:nvSpPr>
        <p:spPr>
          <a:xfrm>
            <a:off x="502920" y="3232052"/>
            <a:ext cx="1289304" cy="457200"/>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Процедура</a:t>
            </a:r>
          </a:p>
        </p:txBody>
      </p:sp>
      <p:sp>
        <p:nvSpPr>
          <p:cNvPr id="17" name="Rounded Rectangle 16"/>
          <p:cNvSpPr/>
          <p:nvPr/>
        </p:nvSpPr>
        <p:spPr>
          <a:xfrm>
            <a:off x="1920240" y="3177188"/>
            <a:ext cx="4747107"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002536" y="3259484"/>
            <a:ext cx="4582515"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Разбор случая после исхода</a:t>
            </a:r>
          </a:p>
        </p:txBody>
      </p:sp>
      <p:sp>
        <p:nvSpPr>
          <p:cNvPr id="19" name="Right Arrow 18"/>
          <p:cNvSpPr/>
          <p:nvPr/>
        </p:nvSpPr>
        <p:spPr>
          <a:xfrm>
            <a:off x="6713067" y="3337208"/>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941667" y="3177188"/>
            <a:ext cx="4747107"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023963" y="3259484"/>
            <a:ext cx="4582515"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Изменение порядка по итогам разбора</a:t>
            </a:r>
          </a:p>
        </p:txBody>
      </p:sp>
      <p:sp>
        <p:nvSpPr>
          <p:cNvPr id="22" name="TextBox 21"/>
          <p:cNvSpPr txBox="1"/>
          <p:nvPr/>
        </p:nvSpPr>
        <p:spPr>
          <a:xfrm>
            <a:off x="502920" y="3780692"/>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Процедура из двух шагов, которой медицина держит цену ошибки</a:t>
            </a:r>
          </a:p>
        </p:txBody>
      </p:sp>
      <p:sp>
        <p:nvSpPr>
          <p:cNvPr id="23" name="Rounded Rectangle 22"/>
          <p:cNvSpPr/>
          <p:nvPr/>
        </p:nvSpPr>
        <p:spPr>
          <a:xfrm>
            <a:off x="374904" y="4093546"/>
            <a:ext cx="11441887" cy="2142661"/>
          </a:xfrm>
          <a:prstGeom prst="roundRect">
            <a:avLst>
              <a:gd name="adj" fmla="val 1422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39496" y="4184986"/>
            <a:ext cx="11112703" cy="2051221"/>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Независимое второе мнение и арбитраж — третий шаг этой же процедуры, разобранный ранее.</a:t>
            </a:r>
          </a:p>
          <a:p>
            <a:pPr algn="l">
              <a:lnSpc>
                <a:spcPct val="126000"/>
              </a:lnSpc>
              <a:spcBef>
                <a:spcPts val="700"/>
              </a:spcBef>
            </a:pPr>
            <a:r>
              <a:rPr sz="1200" b="0" i="0">
                <a:solidFill>
                  <a:srgbClr val="21295C"/>
                </a:solidFill>
                <a:latin typeface="Arial"/>
              </a:rPr>
              <a:t/>
            </a:r>
            <a:r>
              <a:rPr sz="1200" b="0" i="1">
                <a:solidFill>
                  <a:srgbClr val="21295C"/>
                </a:solidFill>
                <a:latin typeface="Arial"/>
              </a:rPr>
              <a:t>Упоминание.</a:t>
            </a:r>
            <a:r>
              <a:rPr sz="1200" b="0" i="0">
                <a:solidFill>
                  <a:srgbClr val="21295C"/>
                </a:solidFill>
                <a:latin typeface="Arial"/>
              </a:rPr>
              <a:t> Алгоритмическое планирование смен медсестёр: время на составление графика сократилось на </a:t>
            </a:r>
            <a:r>
              <a:rPr sz="1200" b="1" i="0">
                <a:solidFill>
                  <a:srgbClr val="21295C"/>
                </a:solidFill>
                <a:latin typeface="Arial"/>
              </a:rPr>
              <a:t>81,2 процента</a:t>
            </a:r>
            <a:r>
              <a:rPr sz="1200" b="0" i="0">
                <a:solidFill>
                  <a:srgbClr val="21295C"/>
                </a:solidFill>
                <a:latin typeface="Arial"/>
              </a:rPr>
              <a:t> — с 32,0 до 6,0 часа в месяц. Это не обученная модель, а задача комбинаторной оптимизации с ограничениями, и формы словаря случай поэтому не получает.</a:t>
            </a:r>
          </a:p>
          <a:p>
            <a:pPr algn="l">
              <a:lnSpc>
                <a:spcPct val="126000"/>
              </a:lnSpc>
              <a:spcBef>
                <a:spcPts val="700"/>
              </a:spcBef>
            </a:pPr>
            <a:r>
              <a:rPr sz="1200" b="0" i="0">
                <a:solidFill>
                  <a:srgbClr val="21295C"/>
                </a:solidFill>
                <a:latin typeface="Arial"/>
              </a:rPr>
              <a:t/>
            </a:r>
            <a:r>
              <a:rPr sz="1200" b="1" i="0">
                <a:solidFill>
                  <a:srgbClr val="21295C"/>
                </a:solidFill>
                <a:latin typeface="Arial"/>
              </a:rPr>
              <a:t>Склонность доверять автомату.</a:t>
            </a:r>
            <a:r>
              <a:rPr sz="1200" b="0" i="0">
                <a:solidFill>
                  <a:srgbClr val="21295C"/>
                </a:solidFill>
                <a:latin typeface="Arial"/>
              </a:rPr>
              <a:t> С моделью точность выше на девять пунктов — и почти половина оставшихся ошибок связана именно со склонностью доверять автомату, на всех уровнях квалификации. Выигрыш и вред идут из одного места.</a:t>
            </a:r>
          </a:p>
          <a:p>
            <a:pPr algn="l">
              <a:lnSpc>
                <a:spcPct val="126000"/>
              </a:lnSpc>
              <a:spcBef>
                <a:spcPts val="700"/>
              </a:spcBef>
            </a:pPr>
            <a:r>
              <a:rPr sz="1200" b="0" i="0">
                <a:solidFill>
                  <a:srgbClr val="21295C"/>
                </a:solidFill>
                <a:latin typeface="Arial"/>
              </a:rPr>
              <a:t/>
            </a:r>
            <a:r>
              <a:rPr sz="1200" b="0" i="0">
                <a:solidFill>
                  <a:srgbClr val="21295C"/>
                </a:solidFill>
                <a:latin typeface="Arial"/>
              </a:rPr>
              <a:t>Предложенное лекарство — скрывать подсказку там, где она чаще ошибается — </a:t>
            </a:r>
            <a:r>
              <a:rPr sz="1200" b="1" i="0">
                <a:solidFill>
                  <a:srgbClr val="21295C"/>
                </a:solidFill>
                <a:latin typeface="Arial"/>
              </a:rPr>
              <a:t>оценено расчётом, а не измерено</a:t>
            </a:r>
            <a:r>
              <a:rPr sz="1200" b="0" i="0">
                <a:solidFill>
                  <a:srgbClr val="21295C"/>
                </a:solidFill>
                <a:latin typeface="Arial"/>
              </a:rPr>
              <a:t>. Третьего раунда, где это проверили бы на живых врачах, не было.</a:t>
            </a:r>
          </a:p>
          <a:p>
            <a:pPr algn="l">
              <a:lnSpc>
                <a:spcPct val="126000"/>
              </a:lnSpc>
              <a:spcBef>
                <a:spcPts val="700"/>
              </a:spcBef>
            </a:pPr>
            <a:r>
              <a:rPr sz="1200" b="0" i="0">
                <a:solidFill>
                  <a:srgbClr val="21295C"/>
                </a:solidFill>
                <a:latin typeface="Arial"/>
              </a:rPr>
              <a:t/>
            </a:r>
            <a:r>
              <a:rPr sz="1200" b="0" i="0">
                <a:solidFill>
                  <a:srgbClr val="21295C"/>
                </a:solidFill>
                <a:latin typeface="Arial"/>
              </a:rPr>
              <a:t>Раскрытый конфликт интересов: часть авторов работает в компании-производителе модели или имеет на неё патент.</a:t>
            </a:r>
          </a:p>
        </p:txBody>
      </p:sp>
      <p:sp>
        <p:nvSpPr>
          <p:cNvPr id="25" name="Rectangle 24"/>
          <p:cNvSpPr/>
          <p:nvPr/>
        </p:nvSpPr>
        <p:spPr>
          <a:xfrm>
            <a:off x="502920" y="854141"/>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Wang D. Y., Ding J., Sun A. L. и соавт., JAMIA 2023;30(10):1684–1692, DOI 10.1093/jamia/ocad118</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Цена обеих ошибок у подписи и счёт двойного чтения в минутах труда</a:t>
            </a:r>
          </a:p>
        </p:txBody>
      </p:sp>
      <p:sp>
        <p:nvSpPr>
          <p:cNvPr id="4" name="Rounded Rectangle 3"/>
          <p:cNvSpPr/>
          <p:nvPr/>
        </p:nvSpPr>
        <p:spPr>
          <a:xfrm>
            <a:off x="502920" y="1335024"/>
            <a:ext cx="3618890" cy="2018900"/>
          </a:xfrm>
          <a:prstGeom prst="roundRect">
            <a:avLst>
              <a:gd name="adj" fmla="val 15097"/>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ЧУВСТВИТЕЛЬНОСТЬ: ДВОЙНОЕ ЧТЕНИЕ ДВУМЯ ЛЮДЬМИ → ОДИН ЧЕЛОВЕК С МОДЕЛЬЮ</a:t>
            </a:r>
          </a:p>
        </p:txBody>
      </p:sp>
      <p:sp>
        <p:nvSpPr>
          <p:cNvPr id="6" name="TextBox 5"/>
          <p:cNvSpPr txBox="1"/>
          <p:nvPr/>
        </p:nvSpPr>
        <p:spPr>
          <a:xfrm>
            <a:off x="640080" y="1863689"/>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73,8 → 80,5 из ста</a:t>
            </a:r>
          </a:p>
        </p:txBody>
      </p:sp>
      <p:sp>
        <p:nvSpPr>
          <p:cNvPr id="7" name="TextBox 6"/>
          <p:cNvSpPr txBox="1"/>
          <p:nvPr/>
        </p:nvSpPr>
        <p:spPr>
          <a:xfrm>
            <a:off x="640080" y="2290688"/>
            <a:ext cx="3344570"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предъявлено разбором выше, на той же программе</a:t>
            </a:r>
          </a:p>
        </p:txBody>
      </p:sp>
      <p:sp>
        <p:nvSpPr>
          <p:cNvPr id="8" name="Rounded Rectangle 7"/>
          <p:cNvSpPr/>
          <p:nvPr/>
        </p:nvSpPr>
        <p:spPr>
          <a:xfrm>
            <a:off x="4286402" y="1335024"/>
            <a:ext cx="3618890" cy="2018900"/>
          </a:xfrm>
          <a:prstGeom prst="roundRect">
            <a:avLst>
              <a:gd name="adj" fmla="val 15097"/>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ОДНО ЧТЕНИЕ МАММОГРАММЫ</a:t>
            </a:r>
          </a:p>
        </p:txBody>
      </p:sp>
      <p:sp>
        <p:nvSpPr>
          <p:cNvPr id="10" name="TextBox 9"/>
          <p:cNvSpPr txBox="1"/>
          <p:nvPr/>
        </p:nvSpPr>
        <p:spPr>
          <a:xfrm>
            <a:off x="4423562"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48 секунд в среднем</a:t>
            </a:r>
          </a:p>
        </p:txBody>
      </p:sp>
      <p:sp>
        <p:nvSpPr>
          <p:cNvPr id="11" name="TextBox 10"/>
          <p:cNvSpPr txBox="1"/>
          <p:nvPr/>
        </p:nvSpPr>
        <p:spPr>
          <a:xfrm>
            <a:off x="4423562" y="2117795"/>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медиана 25 секунд; реальные записи рабочего времени национальной программы</a:t>
            </a:r>
          </a:p>
        </p:txBody>
      </p:sp>
      <p:sp>
        <p:nvSpPr>
          <p:cNvPr id="12" name="Rounded Rectangle 11"/>
          <p:cNvSpPr/>
          <p:nvPr/>
        </p:nvSpPr>
        <p:spPr>
          <a:xfrm>
            <a:off x="8069884" y="1335024"/>
            <a:ext cx="3618890" cy="2018900"/>
          </a:xfrm>
          <a:prstGeom prst="roundRect">
            <a:avLst>
              <a:gd name="adj" fmla="val 15097"/>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07044"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ОДИН РАЗБОР РАСХОЖДЕНИЯ ПРОТИВ ОДНОГО ЧТЕНИЯ</a:t>
            </a:r>
          </a:p>
        </p:txBody>
      </p:sp>
      <p:sp>
        <p:nvSpPr>
          <p:cNvPr id="14" name="TextBox 13"/>
          <p:cNvSpPr txBox="1"/>
          <p:nvPr/>
        </p:nvSpPr>
        <p:spPr>
          <a:xfrm>
            <a:off x="8207044" y="1863689"/>
            <a:ext cx="3344570" cy="613723"/>
          </a:xfrm>
          <a:prstGeom prst="rect">
            <a:avLst/>
          </a:prstGeom>
          <a:noFill/>
        </p:spPr>
        <p:txBody>
          <a:bodyPr wrap="square" lIns="0" rIns="0" tIns="0" bIns="0" anchor="t">
            <a:spAutoFit/>
          </a:bodyPr>
          <a:lstStyle/>
          <a:p>
            <a:pPr algn="l">
              <a:lnSpc>
                <a:spcPct val="108000"/>
              </a:lnSpc>
            </a:pPr>
            <a:r>
              <a:rPr sz="1700" b="1" i="0">
                <a:solidFill>
                  <a:srgbClr val="F0AB00"/>
                </a:solidFill>
                <a:latin typeface="Arial"/>
              </a:rPr>
              <a:t>дольше в 4,6 раза по медианам · в 2,75 по средним</a:t>
            </a:r>
          </a:p>
        </p:txBody>
      </p:sp>
      <p:sp>
        <p:nvSpPr>
          <p:cNvPr id="15" name="TextBox 14"/>
          <p:cNvSpPr txBox="1"/>
          <p:nvPr/>
        </p:nvSpPr>
        <p:spPr>
          <a:xfrm>
            <a:off x="8207044" y="2477412"/>
            <a:ext cx="3344570"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кратность названа двумя счётами, потому что по медианам и по средним она разная: 1 минута 55 секунд против 25 секунд и 2 минуты 12 секунд против 48</a:t>
            </a:r>
          </a:p>
        </p:txBody>
      </p:sp>
      <p:sp>
        <p:nvSpPr>
          <p:cNvPr id="16" name="Rounded Rectangle 15"/>
          <p:cNvSpPr/>
          <p:nvPr/>
        </p:nvSpPr>
        <p:spPr>
          <a:xfrm>
            <a:off x="374904" y="3445364"/>
            <a:ext cx="11441887" cy="2790843"/>
          </a:xfrm>
          <a:prstGeom prst="roundRect">
            <a:avLst>
              <a:gd name="adj" fmla="val 1092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3536804"/>
            <a:ext cx="11112703" cy="2699403"/>
          </a:xfrm>
          <a:prstGeom prst="rect">
            <a:avLst/>
          </a:prstGeom>
          <a:noFill/>
        </p:spPr>
        <p:txBody>
          <a:bodyPr wrap="square" lIns="0" rIns="0" tIns="0" bIns="0" anchor="t">
            <a:spAutoFit/>
          </a:bodyPr>
          <a:lstStyle/>
          <a:p>
            <a:pPr algn="l">
              <a:lnSpc>
                <a:spcPct val="126000"/>
              </a:lnSpc>
            </a:pPr>
            <a:r>
              <a:rPr sz="1350" b="1" i="0">
                <a:solidFill>
                  <a:srgbClr val="21295C"/>
                </a:solidFill>
                <a:latin typeface="Arial"/>
              </a:rPr>
              <a:t>Цена обеих ошибок у подписи.</a:t>
            </a:r>
            <a:r>
              <a:rPr sz="1350" b="0" i="0">
                <a:solidFill>
                  <a:srgbClr val="21295C"/>
                </a:solidFill>
                <a:latin typeface="Arial"/>
              </a:rPr>
              <a:t> Пропущенный диагноз — подпись человеческая. Лишнее вмешательство — подпись тоже человеческая. Обе оплачивает пациент исходом.</a:t>
            </a:r>
          </a:p>
          <a:p>
            <a:pPr algn="l">
              <a:lnSpc>
                <a:spcPct val="126000"/>
              </a:lnSpc>
              <a:spcBef>
                <a:spcPts val="700"/>
              </a:spcBef>
            </a:pPr>
            <a:r>
              <a:rPr sz="1350" b="0" i="0">
                <a:solidFill>
                  <a:srgbClr val="21295C"/>
                </a:solidFill>
                <a:latin typeface="Arial"/>
              </a:rPr>
              <a:t/>
            </a:r>
            <a:r>
              <a:rPr sz="1350" b="1" i="0">
                <a:solidFill>
                  <a:srgbClr val="21295C"/>
                </a:solidFill>
                <a:latin typeface="Arial"/>
              </a:rPr>
              <a:t>Счёт классического режима в двух единицах.</a:t>
            </a:r>
            <a:r>
              <a:rPr sz="1350" b="0" i="0">
                <a:solidFill>
                  <a:srgbClr val="21295C"/>
                </a:solidFill>
                <a:latin typeface="Arial"/>
              </a:rPr>
              <a:t> Первая — </a:t>
            </a:r>
            <a:r>
              <a:rPr sz="1350" b="1" i="0">
                <a:solidFill>
                  <a:srgbClr val="21295C"/>
                </a:solidFill>
                <a:latin typeface="Arial"/>
              </a:rPr>
              <a:t>чувствительность</a:t>
            </a:r>
            <a:r>
              <a:rPr sz="1350" b="0" i="0">
                <a:solidFill>
                  <a:srgbClr val="21295C"/>
                </a:solidFill>
                <a:latin typeface="Arial"/>
              </a:rPr>
              <a:t>: у двойного чтения двумя людьми с арбитражем она ниже, чем у одного человека с моделью, и эта пара предъявлена разбором выше.</a:t>
            </a:r>
          </a:p>
          <a:p>
            <a:pPr algn="l">
              <a:lnSpc>
                <a:spcPct val="126000"/>
              </a:lnSpc>
              <a:spcBef>
                <a:spcPts val="700"/>
              </a:spcBef>
            </a:pPr>
            <a:r>
              <a:rPr sz="1350" b="0" i="0">
                <a:solidFill>
                  <a:srgbClr val="21295C"/>
                </a:solidFill>
                <a:latin typeface="Arial"/>
              </a:rPr>
              <a:t/>
            </a:r>
            <a:r>
              <a:rPr sz="1350" b="1" i="0">
                <a:solidFill>
                  <a:srgbClr val="21295C"/>
                </a:solidFill>
                <a:latin typeface="Arial"/>
              </a:rPr>
              <a:t>Вторая единица — минуты труда</a:t>
            </a:r>
            <a:r>
              <a:rPr sz="1350" b="0" i="0">
                <a:solidFill>
                  <a:srgbClr val="21295C"/>
                </a:solidFill>
                <a:latin typeface="Arial"/>
              </a:rPr>
              <a:t>, и без неё экономия на чтении не считается вовсе. Одно чтение маммограммы занимает 48 секунд в среднем; один разбор расхождения двух читателей — кратно дольше. Реальные записи рабочего времени: 441 276 первичных прочтений, то есть около 219 тысяч обследований, потому что каждое читают двое; 16 центров.</a:t>
            </a:r>
          </a:p>
          <a:p>
            <a:pPr algn="l">
              <a:lnSpc>
                <a:spcPct val="126000"/>
              </a:lnSpc>
              <a:spcBef>
                <a:spcPts val="700"/>
              </a:spcBef>
            </a:pPr>
            <a:r>
              <a:rPr sz="1350" b="0" i="0">
                <a:solidFill>
                  <a:srgbClr val="21295C"/>
                </a:solidFill>
                <a:latin typeface="Arial"/>
              </a:rPr>
              <a:t/>
            </a:r>
            <a:r>
              <a:rPr sz="1350" b="0" i="0">
                <a:solidFill>
                  <a:srgbClr val="21295C"/>
                </a:solidFill>
                <a:latin typeface="Arial"/>
              </a:rPr>
              <a:t>При сокращении первичных чтений вдвое объём арбитража вырос на </a:t>
            </a:r>
            <a:r>
              <a:rPr sz="1350" b="1" i="0">
                <a:solidFill>
                  <a:srgbClr val="21295C"/>
                </a:solidFill>
                <a:latin typeface="Arial"/>
              </a:rPr>
              <a:t>53 процента</a:t>
            </a:r>
            <a:r>
              <a:rPr sz="1350" b="0" i="0">
                <a:solidFill>
                  <a:srgbClr val="21295C"/>
                </a:solidFill>
                <a:latin typeface="Arial"/>
              </a:rPr>
              <a:t> — при разбросе от 22 до 142 процентов между двумя центрами: разборов расхождений стало больше, и каждый дороже чтения. Разброс произносится вместе со средним: протоколы арбитража в двух центрах разные, и устройство нового шага само задаёт нагрузку.</a:t>
            </a:r>
          </a:p>
        </p:txBody>
      </p:sp>
      <p:sp>
        <p:nvSpPr>
          <p:cNvPr id="18" name="Rectangle 17"/>
          <p:cNvSpPr/>
          <p:nvPr/>
        </p:nvSpPr>
        <p:spPr>
          <a:xfrm>
            <a:off x="502920" y="845653"/>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Hovda, Holen, Hofvind, European Radiology 2026, DOI 10.1007/s00330-025-12273-x; Warren L. M. и соавт., Nature Cancer 2026, DOI 10.1038/s43018-026-01128-z</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Норма есть, проверки нет</a:t>
            </a:r>
          </a:p>
        </p:txBody>
      </p:sp>
      <p:sp>
        <p:nvSpPr>
          <p:cNvPr id="4" name="Rounded Rectangle 3"/>
          <p:cNvSpPr/>
          <p:nvPr/>
        </p:nvSpPr>
        <p:spPr>
          <a:xfrm>
            <a:off x="502920" y="1335024"/>
            <a:ext cx="5510631" cy="1474446"/>
          </a:xfrm>
          <a:prstGeom prst="roundRect">
            <a:avLst>
              <a:gd name="adj" fmla="val 2067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ТЕСТИРОВАНИЕ С ЧЕЛОВЕКОМ В КОНТУРЕ НАЙДЕНО У</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56 изделий из 717</a:t>
            </a:r>
          </a:p>
        </p:txBody>
      </p:sp>
      <p:sp>
        <p:nvSpPr>
          <p:cNvPr id="7" name="TextBox 6"/>
          <p:cNvSpPr txBox="1"/>
          <p:nvPr/>
        </p:nvSpPr>
        <p:spPr>
          <a:xfrm>
            <a:off x="640080" y="2117795"/>
            <a:ext cx="5236311"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восемь из ста; срез июнь 2024 года, радиологические изделия, у которых документация подачи доступна. У 661 изделия при допуске не проверяли ничего о том, как с выводом обращается человек</a:t>
            </a:r>
          </a:p>
        </p:txBody>
      </p:sp>
      <p:sp>
        <p:nvSpPr>
          <p:cNvPr id="8" name="Rounded Rectangle 7"/>
          <p:cNvSpPr/>
          <p:nvPr/>
        </p:nvSpPr>
        <p:spPr>
          <a:xfrm>
            <a:off x="6178143" y="1335024"/>
            <a:ext cx="5510631" cy="1474446"/>
          </a:xfrm>
          <a:prstGeom prst="roundRect">
            <a:avLst>
              <a:gd name="adj" fmla="val 2067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ДОПУЩЕНЫ УПРОЩЁННЫМ ПУТЁМ, ПО ПОДОБИЮ РАНЕЕ ОДОБРЕННОМУ</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924 изделия из 950</a:t>
            </a:r>
          </a:p>
        </p:txBody>
      </p:sp>
      <p:sp>
        <p:nvSpPr>
          <p:cNvPr id="11" name="TextBox 10"/>
          <p:cNvSpPr txBox="1"/>
          <p:nvPr/>
        </p:nvSpPr>
        <p:spPr>
          <a:xfrm>
            <a:off x="6315303"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97 из ста; допуск по подобию проспективной клинической проверки не предполагает. Это другой знаменатель и другая дата среза, чем у плашки выше</a:t>
            </a:r>
          </a:p>
        </p:txBody>
      </p:sp>
      <p:sp>
        <p:nvSpPr>
          <p:cNvPr id="12" name="Rounded Rectangle 11"/>
          <p:cNvSpPr/>
          <p:nvPr/>
        </p:nvSpPr>
        <p:spPr>
          <a:xfrm>
            <a:off x="374904" y="2900910"/>
            <a:ext cx="11441887" cy="3335297"/>
          </a:xfrm>
          <a:prstGeom prst="roundRect">
            <a:avLst>
              <a:gd name="adj" fmla="val 91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2992350"/>
            <a:ext cx="11112703" cy="3243857"/>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Регулятор требует, чтобы человек оставался финальным звеном.</a:t>
            </a:r>
          </a:p>
          <a:p>
            <a:pPr algn="l">
              <a:lnSpc>
                <a:spcPct val="126000"/>
              </a:lnSpc>
              <a:spcBef>
                <a:spcPts val="700"/>
              </a:spcBef>
            </a:pPr>
            <a:r>
              <a:rPr sz="1500" b="0" i="0">
                <a:solidFill>
                  <a:srgbClr val="21295C"/>
                </a:solidFill>
                <a:latin typeface="Arial"/>
              </a:rPr>
              <a:t/>
            </a:r>
            <a:r>
              <a:rPr sz="1500" b="1" i="0">
                <a:solidFill>
                  <a:srgbClr val="21295C"/>
                </a:solidFill>
                <a:latin typeface="Arial"/>
              </a:rPr>
              <a:t>При допуске тестирование с человеком в контуре нашли у</a:t>
            </a:r>
            <a:r>
              <a:rPr sz="1500" b="0" i="0">
                <a:solidFill>
                  <a:srgbClr val="21295C"/>
                </a:solidFill>
                <a:latin typeface="Arial"/>
              </a:rPr>
              <a:t> 56 изделий из 717 — восемь из ста.</a:t>
            </a:r>
          </a:p>
          <a:p>
            <a:pPr algn="l">
              <a:lnSpc>
                <a:spcPct val="126000"/>
              </a:lnSpc>
              <a:spcBef>
                <a:spcPts val="700"/>
              </a:spcBef>
            </a:pPr>
            <a:r>
              <a:rPr sz="1500" b="0" i="0">
                <a:solidFill>
                  <a:srgbClr val="21295C"/>
                </a:solidFill>
                <a:latin typeface="Arial"/>
              </a:rPr>
              <a:t/>
            </a:r>
            <a:r>
              <a:rPr sz="1500" b="1" i="0">
                <a:solidFill>
                  <a:srgbClr val="21295C"/>
                </a:solidFill>
                <a:latin typeface="Arial"/>
              </a:rPr>
              <a:t>Допущены упрощённым путём, по подобию ранее одобренному</a:t>
            </a:r>
            <a:r>
              <a:rPr sz="1500" b="0" i="0">
                <a:solidFill>
                  <a:srgbClr val="21295C"/>
                </a:solidFill>
                <a:latin typeface="Arial"/>
              </a:rPr>
              <a:t> — 924 изделия из 950. Два знаменателя здесь разные, и у каждого своя дата среза.</a:t>
            </a:r>
          </a:p>
          <a:p>
            <a:pPr algn="l">
              <a:lnSpc>
                <a:spcPct val="126000"/>
              </a:lnSpc>
              <a:spcBef>
                <a:spcPts val="700"/>
              </a:spcBef>
            </a:pPr>
            <a:r>
              <a:rPr sz="1200" b="0" i="0">
                <a:solidFill>
                  <a:srgbClr val="21295C"/>
                </a:solidFill>
                <a:latin typeface="Arial"/>
              </a:rPr>
              <a:t/>
            </a:r>
            <a:r>
              <a:rPr sz="1200" b="0" i="1">
                <a:solidFill>
                  <a:srgbClr val="1C7293"/>
                </a:solidFill>
                <a:latin typeface="Arial"/>
              </a:rPr>
              <a:t>Статья 14 (ЕС 2024/1689): понять ограничения, не поддаться доверию к автомату, правильно истолковать вывод, не согласиться, остановить.</a:t>
            </a:r>
          </a:p>
          <a:p>
            <a:pPr algn="l">
              <a:lnSpc>
                <a:spcPct val="126000"/>
              </a:lnSpc>
              <a:spcBef>
                <a:spcPts val="700"/>
              </a:spcBef>
            </a:pPr>
            <a:r>
              <a:rPr sz="1500" b="0" i="0">
                <a:solidFill>
                  <a:srgbClr val="21295C"/>
                </a:solidFill>
                <a:latin typeface="Arial"/>
              </a:rPr>
              <a:t/>
            </a:r>
            <a:r>
              <a:rPr sz="1500" b="1" i="0">
                <a:solidFill>
                  <a:srgbClr val="21295C"/>
                </a:solidFill>
                <a:latin typeface="Arial"/>
              </a:rPr>
              <a:t>Где в вашем рабочем контуре требуется подпись под тем, что решил автомат, — и проверял ли кто-нибудь, что вы успеваете это решение прочитать?</a:t>
            </a:r>
          </a:p>
        </p:txBody>
      </p:sp>
      <p:sp>
        <p:nvSpPr>
          <p:cNvPr id="14" name="Rectangle 13"/>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Систематический обзор поданной регуляторам документации по радиологическим устройствам с ИИ, JAMA Network Open 2025;8(11):e2542338, срез июнь 2024; Регламент (ЕС) 2024/1689, статья 14</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650" b="1" i="0">
                <a:solidFill>
                  <a:srgbClr val="21295C"/>
                </a:solidFill>
                <a:latin typeface="Arial"/>
              </a:rPr>
              <a:t>Четыре участника: контроль у одного, ответственность у другого</a:t>
            </a:r>
          </a:p>
        </p:txBody>
      </p:sp>
      <p:sp>
        <p:nvSpPr>
          <p:cNvPr id="4" name="Rounded Rectangle 3"/>
          <p:cNvSpPr/>
          <p:nvPr/>
        </p:nvSpPr>
        <p:spPr>
          <a:xfrm>
            <a:off x="502920" y="1335024"/>
            <a:ext cx="2686735" cy="1249952"/>
          </a:xfrm>
          <a:prstGeom prst="roundRect">
            <a:avLst>
              <a:gd name="adj" fmla="val 24384"/>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85216" y="1417320"/>
            <a:ext cx="2522143" cy="10853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Разработчик</a:t>
            </a:r>
          </a:p>
          <a:p>
            <a:pPr algn="ctr">
              <a:lnSpc>
                <a:spcPct val="112000"/>
              </a:lnSpc>
            </a:pPr>
            <a:r>
              <a:rPr sz="1150" b="0" i="0">
                <a:solidFill>
                  <a:srgbClr val="21295C"/>
                </a:solidFill>
                <a:latin typeface="Arial"/>
              </a:rPr>
              <a:t>контролирует данные, устройство и обновления модели · отвечает за соответствие заявленному назначению</a:t>
            </a:r>
          </a:p>
        </p:txBody>
      </p:sp>
      <p:sp>
        <p:nvSpPr>
          <p:cNvPr id="6" name="Rounded Rectangle 5"/>
          <p:cNvSpPr/>
          <p:nvPr/>
        </p:nvSpPr>
        <p:spPr>
          <a:xfrm>
            <a:off x="3335959" y="1335024"/>
            <a:ext cx="2686735" cy="1249952"/>
          </a:xfrm>
          <a:prstGeom prst="roundRect">
            <a:avLst>
              <a:gd name="adj" fmla="val 24384"/>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418255" y="1417320"/>
            <a:ext cx="2522143" cy="10853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Врач</a:t>
            </a:r>
          </a:p>
          <a:p>
            <a:pPr algn="ctr">
              <a:lnSpc>
                <a:spcPct val="112000"/>
              </a:lnSpc>
            </a:pPr>
            <a:r>
              <a:rPr sz="1150" b="0" i="0">
                <a:solidFill>
                  <a:srgbClr val="21295C"/>
                </a:solidFill>
                <a:latin typeface="Arial"/>
              </a:rPr>
              <a:t>контролирует решение по одному человеку · отвечает за это решение целиком</a:t>
            </a:r>
          </a:p>
        </p:txBody>
      </p:sp>
      <p:sp>
        <p:nvSpPr>
          <p:cNvPr id="8" name="Rounded Rectangle 7"/>
          <p:cNvSpPr/>
          <p:nvPr/>
        </p:nvSpPr>
        <p:spPr>
          <a:xfrm>
            <a:off x="6168999" y="1335024"/>
            <a:ext cx="2686735" cy="1249952"/>
          </a:xfrm>
          <a:prstGeom prst="roundRect">
            <a:avLst>
              <a:gd name="adj" fmla="val 24384"/>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51295" y="1417320"/>
            <a:ext cx="2522143" cy="10853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Больница</a:t>
            </a:r>
          </a:p>
          <a:p>
            <a:pPr algn="ctr">
              <a:lnSpc>
                <a:spcPct val="112000"/>
              </a:lnSpc>
            </a:pPr>
            <a:r>
              <a:rPr sz="1150" b="0" i="0">
                <a:solidFill>
                  <a:srgbClr val="21295C"/>
                </a:solidFill>
                <a:latin typeface="Arial"/>
              </a:rPr>
              <a:t>контролирует закупку, обучение и порядок применения · отвечает за организацию работы</a:t>
            </a:r>
          </a:p>
        </p:txBody>
      </p:sp>
      <p:sp>
        <p:nvSpPr>
          <p:cNvPr id="10" name="Rounded Rectangle 9"/>
          <p:cNvSpPr/>
          <p:nvPr/>
        </p:nvSpPr>
        <p:spPr>
          <a:xfrm>
            <a:off x="9002039" y="1335024"/>
            <a:ext cx="2686735" cy="1249952"/>
          </a:xfrm>
          <a:prstGeom prst="roundRect">
            <a:avLst>
              <a:gd name="adj" fmla="val 24384"/>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084335" y="1417320"/>
            <a:ext cx="2522143" cy="10853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Регулятор</a:t>
            </a:r>
          </a:p>
          <a:p>
            <a:pPr algn="ctr">
              <a:lnSpc>
                <a:spcPct val="112000"/>
              </a:lnSpc>
            </a:pPr>
            <a:r>
              <a:rPr sz="1150" b="0" i="0">
                <a:solidFill>
                  <a:srgbClr val="21295C"/>
                </a:solidFill>
                <a:latin typeface="Arial"/>
              </a:rPr>
              <a:t>контролирует допуск и надзор после допуска · отвечает за рамку</a:t>
            </a:r>
          </a:p>
        </p:txBody>
      </p:sp>
      <p:sp>
        <p:nvSpPr>
          <p:cNvPr id="12" name="TextBox 11"/>
          <p:cNvSpPr txBox="1"/>
          <p:nvPr/>
        </p:nvSpPr>
        <p:spPr>
          <a:xfrm>
            <a:off x="502920" y="2731280"/>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Контроль и ответственность у разных участников, и шов между ними проходит по подписи врача</a:t>
            </a:r>
          </a:p>
        </p:txBody>
      </p:sp>
      <p:sp>
        <p:nvSpPr>
          <p:cNvPr id="13" name="Rounded Rectangle 12"/>
          <p:cNvSpPr/>
          <p:nvPr/>
        </p:nvSpPr>
        <p:spPr>
          <a:xfrm>
            <a:off x="374904" y="3044134"/>
            <a:ext cx="11441887" cy="3192073"/>
          </a:xfrm>
          <a:prstGeom prst="roundRect">
            <a:avLst>
              <a:gd name="adj" fmla="val 954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9496" y="3135574"/>
            <a:ext cx="11112703" cy="3100633"/>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Четыре участника. Под каждым — что он контролирует и за что отвечает.</a:t>
            </a:r>
          </a:p>
          <a:p>
            <a:pPr algn="l">
              <a:lnSpc>
                <a:spcPct val="126000"/>
              </a:lnSpc>
              <a:spcBef>
                <a:spcPts val="700"/>
              </a:spcBef>
            </a:pPr>
            <a:r>
              <a:rPr sz="1500" b="0" i="0">
                <a:solidFill>
                  <a:srgbClr val="21295C"/>
                </a:solidFill>
                <a:latin typeface="Arial"/>
              </a:rPr>
              <a:t/>
            </a:r>
            <a:r>
              <a:rPr sz="1500" b="1" i="0">
                <a:solidFill>
                  <a:srgbClr val="21295C"/>
                </a:solidFill>
                <a:latin typeface="Arial"/>
              </a:rPr>
              <a:t>Разработчик</a:t>
            </a:r>
            <a:r>
              <a:rPr sz="1500" b="0" i="0">
                <a:solidFill>
                  <a:srgbClr val="21295C"/>
                </a:solidFill>
                <a:latin typeface="Arial"/>
              </a:rPr>
              <a:t> — контролирует данные, архитектуру, обновления модели; отвечает за соответствие заявленному назначению.</a:t>
            </a:r>
          </a:p>
          <a:p>
            <a:pPr algn="l">
              <a:lnSpc>
                <a:spcPct val="126000"/>
              </a:lnSpc>
              <a:spcBef>
                <a:spcPts val="700"/>
              </a:spcBef>
            </a:pPr>
            <a:r>
              <a:rPr sz="1500" b="0" i="0">
                <a:solidFill>
                  <a:srgbClr val="21295C"/>
                </a:solidFill>
                <a:latin typeface="Arial"/>
              </a:rPr>
              <a:t/>
            </a:r>
            <a:r>
              <a:rPr sz="1500" b="1" i="0">
                <a:solidFill>
                  <a:srgbClr val="21295C"/>
                </a:solidFill>
                <a:latin typeface="Arial"/>
              </a:rPr>
              <a:t>Врач</a:t>
            </a:r>
            <a:r>
              <a:rPr sz="1500" b="0" i="0">
                <a:solidFill>
                  <a:srgbClr val="21295C"/>
                </a:solidFill>
                <a:latin typeface="Arial"/>
              </a:rPr>
              <a:t> — контролирует решение по одному человеку; отвечает за это решение целиком.</a:t>
            </a:r>
          </a:p>
          <a:p>
            <a:pPr algn="l">
              <a:lnSpc>
                <a:spcPct val="126000"/>
              </a:lnSpc>
              <a:spcBef>
                <a:spcPts val="700"/>
              </a:spcBef>
            </a:pPr>
            <a:r>
              <a:rPr sz="1500" b="0" i="0">
                <a:solidFill>
                  <a:srgbClr val="21295C"/>
                </a:solidFill>
                <a:latin typeface="Arial"/>
              </a:rPr>
              <a:t/>
            </a:r>
            <a:r>
              <a:rPr sz="1500" b="1" i="0">
                <a:solidFill>
                  <a:srgbClr val="21295C"/>
                </a:solidFill>
                <a:latin typeface="Arial"/>
              </a:rPr>
              <a:t>Больница</a:t>
            </a:r>
            <a:r>
              <a:rPr sz="1500" b="0" i="0">
                <a:solidFill>
                  <a:srgbClr val="21295C"/>
                </a:solidFill>
                <a:latin typeface="Arial"/>
              </a:rPr>
              <a:t> — контролирует закупку, обучение персонала, порядок применения; отвечает за организацию процесса.</a:t>
            </a:r>
          </a:p>
          <a:p>
            <a:pPr algn="l">
              <a:lnSpc>
                <a:spcPct val="126000"/>
              </a:lnSpc>
              <a:spcBef>
                <a:spcPts val="700"/>
              </a:spcBef>
            </a:pPr>
            <a:r>
              <a:rPr sz="1500" b="0" i="0">
                <a:solidFill>
                  <a:srgbClr val="21295C"/>
                </a:solidFill>
                <a:latin typeface="Arial"/>
              </a:rPr>
              <a:t/>
            </a:r>
            <a:r>
              <a:rPr sz="1500" b="1" i="0">
                <a:solidFill>
                  <a:srgbClr val="21295C"/>
                </a:solidFill>
                <a:latin typeface="Arial"/>
              </a:rPr>
              <a:t>Регулятор</a:t>
            </a:r>
            <a:r>
              <a:rPr sz="1500" b="0" i="0">
                <a:solidFill>
                  <a:srgbClr val="21295C"/>
                </a:solidFill>
                <a:latin typeface="Arial"/>
              </a:rPr>
              <a:t> — контролирует допуск и надзор после допуска; отвечает за рамку.</a:t>
            </a:r>
          </a:p>
          <a:p>
            <a:pPr algn="l">
              <a:lnSpc>
                <a:spcPct val="126000"/>
              </a:lnSpc>
              <a:spcBef>
                <a:spcPts val="700"/>
              </a:spcBef>
            </a:pPr>
            <a:r>
              <a:rPr sz="1500" b="0" i="0">
                <a:solidFill>
                  <a:srgbClr val="21295C"/>
                </a:solidFill>
                <a:latin typeface="Arial"/>
              </a:rPr>
              <a:t/>
            </a:r>
            <a:r>
              <a:rPr sz="1500" b="0" i="0">
                <a:solidFill>
                  <a:srgbClr val="21295C"/>
                </a:solidFill>
                <a:latin typeface="Arial"/>
              </a:rPr>
              <a:t>Контроль и ответственность лежат у разных участников. Шов между ними проходит по подписи врача.</a:t>
            </a:r>
          </a:p>
        </p:txBody>
      </p:sp>
      <p:sp>
        <p:nvSpPr>
          <p:cNvPr id="15" name="Rectangle 14"/>
          <p:cNvSpPr/>
          <p:nvPr/>
        </p:nvSpPr>
        <p:spPr>
          <a:xfrm>
            <a:off x="502920" y="879603"/>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{{источник: рамка четырёх участников — глава называет только «работы 2019 и 2020 годов», авторов и издание не называет}}</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Модель, которая меняется после допуска</a:t>
            </a:r>
          </a:p>
        </p:txBody>
      </p:sp>
      <p:sp>
        <p:nvSpPr>
          <p:cNvPr id="4" name="TextBox 3"/>
          <p:cNvSpPr txBox="1"/>
          <p:nvPr/>
        </p:nvSpPr>
        <p:spPr>
          <a:xfrm>
            <a:off x="502920" y="1389888"/>
            <a:ext cx="1289304" cy="845068"/>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Механизмы</a:t>
            </a:r>
          </a:p>
        </p:txBody>
      </p:sp>
      <p:sp>
        <p:nvSpPr>
          <p:cNvPr id="5" name="Rounded Rectangle 4"/>
          <p:cNvSpPr/>
          <p:nvPr/>
        </p:nvSpPr>
        <p:spPr>
          <a:xfrm>
            <a:off x="1920240" y="1335024"/>
            <a:ext cx="3073298" cy="845068"/>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002536" y="1417320"/>
            <a:ext cx="2908706" cy="680476"/>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План изменений модели — утверждается заранее, протокол проверки каждого шага</a:t>
            </a:r>
          </a:p>
        </p:txBody>
      </p:sp>
      <p:sp>
        <p:nvSpPr>
          <p:cNvPr id="7" name="Right Arrow 6"/>
          <p:cNvSpPr/>
          <p:nvPr/>
        </p:nvSpPr>
        <p:spPr>
          <a:xfrm>
            <a:off x="5039258" y="1688978"/>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267858" y="1335024"/>
            <a:ext cx="3073298" cy="845068"/>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350154" y="1417320"/>
            <a:ext cx="2908706" cy="680476"/>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Передача данных о работе регулятору — порядок утверждён, сроки вступления не установлены</a:t>
            </a:r>
          </a:p>
        </p:txBody>
      </p:sp>
      <p:sp>
        <p:nvSpPr>
          <p:cNvPr id="10" name="Right Arrow 9"/>
          <p:cNvSpPr/>
          <p:nvPr/>
        </p:nvSpPr>
        <p:spPr>
          <a:xfrm>
            <a:off x="8386876" y="1688978"/>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615476" y="1335024"/>
            <a:ext cx="3073298" cy="845068"/>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97772" y="1417320"/>
            <a:ext cx="2908706" cy="680476"/>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Перенесённые сроки — Приложение III: 2 декабря 2027, Приложение I: 2 августа 2028</a:t>
            </a:r>
          </a:p>
        </p:txBody>
      </p:sp>
      <p:sp>
        <p:nvSpPr>
          <p:cNvPr id="13" name="TextBox 12"/>
          <p:cNvSpPr txBox="1"/>
          <p:nvPr/>
        </p:nvSpPr>
        <p:spPr>
          <a:xfrm>
            <a:off x="502920" y="2326396"/>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Три механизма надзора после допуска</a:t>
            </a:r>
          </a:p>
        </p:txBody>
      </p:sp>
      <p:sp>
        <p:nvSpPr>
          <p:cNvPr id="14" name="Rounded Rectangle 13"/>
          <p:cNvSpPr/>
          <p:nvPr/>
        </p:nvSpPr>
        <p:spPr>
          <a:xfrm>
            <a:off x="374904" y="2639251"/>
            <a:ext cx="11441887" cy="3596956"/>
          </a:xfrm>
          <a:prstGeom prst="roundRect">
            <a:avLst>
              <a:gd name="adj" fmla="val 847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39496" y="2730691"/>
            <a:ext cx="11112703" cy="350551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Три механизма, каждый — что требуется, с какого момента, чем подтверждается.</a:t>
            </a:r>
          </a:p>
          <a:p>
            <a:pPr algn="l">
              <a:lnSpc>
                <a:spcPct val="126000"/>
              </a:lnSpc>
              <a:spcBef>
                <a:spcPts val="700"/>
              </a:spcBef>
            </a:pPr>
            <a:r>
              <a:rPr sz="1500" b="0" i="0">
                <a:solidFill>
                  <a:srgbClr val="21295C"/>
                </a:solidFill>
                <a:latin typeface="Arial"/>
              </a:rPr>
              <a:t/>
            </a:r>
            <a:r>
              <a:rPr sz="1500" b="1" i="0">
                <a:solidFill>
                  <a:srgbClr val="21295C"/>
                </a:solidFill>
                <a:latin typeface="Arial"/>
              </a:rPr>
              <a:t>Заранее утверждённый план изменений.</a:t>
            </a:r>
            <a:r>
              <a:rPr sz="1500" b="0" i="0">
                <a:solidFill>
                  <a:srgbClr val="21295C"/>
                </a:solidFill>
                <a:latin typeface="Arial"/>
              </a:rPr>
              <a:t> Какие изменения модели допустимы после выхода на рынок — включая дообучение, — и протокол проверки каждого.</a:t>
            </a:r>
          </a:p>
          <a:p>
            <a:pPr algn="l">
              <a:lnSpc>
                <a:spcPct val="126000"/>
              </a:lnSpc>
              <a:spcBef>
                <a:spcPts val="700"/>
              </a:spcBef>
            </a:pPr>
            <a:r>
              <a:rPr sz="1500" b="0" i="0">
                <a:solidFill>
                  <a:srgbClr val="21295C"/>
                </a:solidFill>
                <a:latin typeface="Arial"/>
              </a:rPr>
              <a:t/>
            </a:r>
            <a:r>
              <a:rPr sz="1500" b="1" i="0">
                <a:solidFill>
                  <a:srgbClr val="21295C"/>
                </a:solidFill>
                <a:latin typeface="Arial"/>
              </a:rPr>
              <a:t>Передача данных о работе регулятору.</a:t>
            </a:r>
            <a:r>
              <a:rPr sz="1500" b="0" i="0">
                <a:solidFill>
                  <a:srgbClr val="21295C"/>
                </a:solidFill>
                <a:latin typeface="Arial"/>
              </a:rPr>
              <a:t> Порядок утверждён; дата вступления в силу, срок действия и область действия по тексту акта не установлены.</a:t>
            </a:r>
          </a:p>
          <a:p>
            <a:pPr algn="l">
              <a:lnSpc>
                <a:spcPct val="126000"/>
              </a:lnSpc>
              <a:spcBef>
                <a:spcPts val="700"/>
              </a:spcBef>
            </a:pPr>
            <a:r>
              <a:rPr sz="1500" b="0" i="0">
                <a:solidFill>
                  <a:srgbClr val="21295C"/>
                </a:solidFill>
                <a:latin typeface="Arial"/>
              </a:rPr>
              <a:t/>
            </a:r>
            <a:r>
              <a:rPr sz="1500" b="1" i="0">
                <a:solidFill>
                  <a:srgbClr val="21295C"/>
                </a:solidFill>
                <a:latin typeface="Arial"/>
              </a:rPr>
              <a:t>Перенесённые сроки — по приложениям, не по признаку «самостоятельное или встроенное».</a:t>
            </a:r>
            <a:r>
              <a:rPr sz="1500" b="0" i="0">
                <a:solidFill>
                  <a:srgbClr val="21295C"/>
                </a:solidFill>
                <a:latin typeface="Arial"/>
              </a:rPr>
              <a:t> 2 декабря 2027 года — по Приложению III: перечисленные сферы применения высокого риска. 2 августа 2028 года — по Приложению I: искусственный интеллект в составе изделий, которые регулирует отраслевое законодательство Союза. Медицинские изделия названы там прямо, и самостоятельное медицинское программное обеспечение живёт по августу 2028 года.</a:t>
            </a:r>
          </a:p>
          <a:p>
            <a:pPr algn="l">
              <a:lnSpc>
                <a:spcPct val="126000"/>
              </a:lnSpc>
              <a:spcBef>
                <a:spcPts val="700"/>
              </a:spcBef>
            </a:pPr>
            <a:r>
              <a:rPr sz="1500" b="0" i="0">
                <a:solidFill>
                  <a:srgbClr val="21295C"/>
                </a:solidFill>
                <a:latin typeface="Arial"/>
              </a:rPr>
              <a:t/>
            </a:r>
            <a:r>
              <a:rPr sz="1500" b="0" i="0">
                <a:solidFill>
                  <a:srgbClr val="21295C"/>
                </a:solidFill>
                <a:latin typeface="Arial"/>
              </a:rPr>
              <a:t>Формы разбора здесь нет: это обзор надзорных механизмов.</a:t>
            </a:r>
          </a:p>
        </p:txBody>
      </p:sp>
      <p:sp>
        <p:nvSpPr>
          <p:cNvPr id="16" name="Rectangle 1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Руководство регулятора США по плану предварительно утверждённых изменений модели, декабрь 2024; приказ Росздравнадзора от 21.07.2025 № 4472; Регламент (ЕС) 2024/1689, пакет поправок 2026 года</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Отзывы и отечественный реестр</a:t>
            </a:r>
          </a:p>
        </p:txBody>
      </p:sp>
      <p:sp>
        <p:nvSpPr>
          <p:cNvPr id="4" name="Rounded Rectangle 3"/>
          <p:cNvSpPr/>
          <p:nvPr/>
        </p:nvSpPr>
        <p:spPr>
          <a:xfrm>
            <a:off x="502920" y="1335024"/>
            <a:ext cx="3618890" cy="1832176"/>
          </a:xfrm>
          <a:prstGeom prst="roundRect">
            <a:avLst>
              <a:gd name="adj" fmla="val 16635"/>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ОТЗЫВАЛИСЬ ИЗ ДОПУЩЕННЫХ ИЗДЕЛИЙ</a:t>
            </a:r>
          </a:p>
        </p:txBody>
      </p:sp>
      <p:sp>
        <p:nvSpPr>
          <p:cNvPr id="6" name="TextBox 5"/>
          <p:cNvSpPr txBox="1"/>
          <p:nvPr/>
        </p:nvSpPr>
        <p:spPr>
          <a:xfrm>
            <a:off x="640080" y="169079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60 изделий из 950</a:t>
            </a:r>
          </a:p>
        </p:txBody>
      </p:sp>
      <p:sp>
        <p:nvSpPr>
          <p:cNvPr id="7" name="TextBox 6"/>
          <p:cNvSpPr txBox="1"/>
          <p:nvPr/>
        </p:nvSpPr>
        <p:spPr>
          <a:xfrm>
            <a:off x="640080" y="2117795"/>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срез ноябрь 2024 года; 950 — общий объём, из которого отобраны отзывавшиеся</a:t>
            </a:r>
          </a:p>
        </p:txBody>
      </p:sp>
      <p:sp>
        <p:nvSpPr>
          <p:cNvPr id="8" name="Rounded Rectangle 7"/>
          <p:cNvSpPr/>
          <p:nvPr/>
        </p:nvSpPr>
        <p:spPr>
          <a:xfrm>
            <a:off x="4286402" y="1335024"/>
            <a:ext cx="3618890" cy="1832176"/>
          </a:xfrm>
          <a:prstGeom prst="roundRect">
            <a:avLst>
              <a:gd name="adj" fmla="val 16635"/>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ОТЗЫВНЫХ СОБЫТИЙ НА ЭТИ ИЗДЕЛИЯ</a:t>
            </a:r>
          </a:p>
        </p:txBody>
      </p:sp>
      <p:sp>
        <p:nvSpPr>
          <p:cNvPr id="10" name="TextBox 9"/>
          <p:cNvSpPr txBox="1"/>
          <p:nvPr/>
        </p:nvSpPr>
        <p:spPr>
          <a:xfrm>
            <a:off x="4423562"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182 события</a:t>
            </a:r>
          </a:p>
        </p:txBody>
      </p:sp>
      <p:sp>
        <p:nvSpPr>
          <p:cNvPr id="11" name="TextBox 10"/>
          <p:cNvSpPr txBox="1"/>
          <p:nvPr/>
        </p:nvSpPr>
        <p:spPr>
          <a:xfrm>
            <a:off x="4423562" y="2117795"/>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изделия без заявленной клинической проверки отзывались чаще: 3,4 отзыва на изделие против 1,9 у проверенных ретроспективно</a:t>
            </a:r>
          </a:p>
        </p:txBody>
      </p:sp>
      <p:sp>
        <p:nvSpPr>
          <p:cNvPr id="12" name="Rounded Rectangle 11"/>
          <p:cNvSpPr/>
          <p:nvPr/>
        </p:nvSpPr>
        <p:spPr>
          <a:xfrm>
            <a:off x="8069884" y="1335024"/>
            <a:ext cx="3618890" cy="1832176"/>
          </a:xfrm>
          <a:prstGeom prst="roundRect">
            <a:avLst>
              <a:gd name="adj" fmla="val 16635"/>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07044"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ПЕРВЫЕ ДВЕНАДЦАТЬ МЕСЯЦЕВ ПОСЛЕ ДОПУСКА</a:t>
            </a:r>
          </a:p>
        </p:txBody>
      </p:sp>
      <p:sp>
        <p:nvSpPr>
          <p:cNvPr id="14" name="TextBox 13"/>
          <p:cNvSpPr txBox="1"/>
          <p:nvPr/>
        </p:nvSpPr>
        <p:spPr>
          <a:xfrm>
            <a:off x="8207044" y="1863689"/>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43,4 процента отзывов</a:t>
            </a:r>
          </a:p>
        </p:txBody>
      </p:sp>
      <p:sp>
        <p:nvSpPr>
          <p:cNvPr id="15" name="TextBox 14"/>
          <p:cNvSpPr txBox="1"/>
          <p:nvPr/>
        </p:nvSpPr>
        <p:spPr>
          <a:xfrm>
            <a:off x="8207044" y="2290688"/>
            <a:ext cx="3344570"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79 событий из 182 — примерно вдвое чаще, чем в среднем по этому пути допуска; к концу исследования 108 отзывов оставались неразрешёнными</a:t>
            </a:r>
          </a:p>
        </p:txBody>
      </p:sp>
      <p:sp>
        <p:nvSpPr>
          <p:cNvPr id="16" name="Rounded Rectangle 15"/>
          <p:cNvSpPr/>
          <p:nvPr/>
        </p:nvSpPr>
        <p:spPr>
          <a:xfrm>
            <a:off x="374904" y="3258640"/>
            <a:ext cx="11441887" cy="2977567"/>
          </a:xfrm>
          <a:prstGeom prst="roundRect">
            <a:avLst>
              <a:gd name="adj" fmla="val 1023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3350080"/>
            <a:ext cx="11112703" cy="2886127"/>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Из </a:t>
            </a:r>
            <a:r>
              <a:rPr sz="1500" b="1" i="0">
                <a:solidFill>
                  <a:srgbClr val="21295C"/>
                </a:solidFill>
                <a:latin typeface="Arial"/>
              </a:rPr>
              <a:t>950</a:t>
            </a:r>
            <a:r>
              <a:rPr sz="1500" b="0" i="0">
                <a:solidFill>
                  <a:srgbClr val="21295C"/>
                </a:solidFill>
                <a:latin typeface="Arial"/>
              </a:rPr>
              <a:t> допущенных изделий с ИИ отзывались </a:t>
            </a:r>
            <a:r>
              <a:rPr sz="1500" b="1" i="0">
                <a:solidFill>
                  <a:srgbClr val="21295C"/>
                </a:solidFill>
                <a:latin typeface="Arial"/>
              </a:rPr>
              <a:t>60</a:t>
            </a:r>
            <a:r>
              <a:rPr sz="1500" b="0" i="0">
                <a:solidFill>
                  <a:srgbClr val="21295C"/>
                </a:solidFill>
                <a:latin typeface="Arial"/>
              </a:rPr>
              <a:t>; на них </a:t>
            </a:r>
            <a:r>
              <a:rPr sz="1500" b="1" i="0">
                <a:solidFill>
                  <a:srgbClr val="21295C"/>
                </a:solidFill>
                <a:latin typeface="Arial"/>
              </a:rPr>
              <a:t>182</a:t>
            </a:r>
            <a:r>
              <a:rPr sz="1500" b="0" i="0">
                <a:solidFill>
                  <a:srgbClr val="21295C"/>
                </a:solidFill>
                <a:latin typeface="Arial"/>
              </a:rPr>
              <a:t> отзывных события; </a:t>
            </a:r>
            <a:r>
              <a:rPr sz="1500" b="1" i="0">
                <a:solidFill>
                  <a:srgbClr val="21295C"/>
                </a:solidFill>
                <a:latin typeface="Arial"/>
              </a:rPr>
              <a:t>43,4 процента</a:t>
            </a:r>
            <a:r>
              <a:rPr sz="1500" b="0" i="0">
                <a:solidFill>
                  <a:srgbClr val="21295C"/>
                </a:solidFill>
                <a:latin typeface="Arial"/>
              </a:rPr>
              <a:t> отзывов — в первые двенадцать месяцев после допуска, срез ноябрь 2024 года.</a:t>
            </a:r>
          </a:p>
          <a:p>
            <a:pPr algn="l">
              <a:lnSpc>
                <a:spcPct val="126000"/>
              </a:lnSpc>
              <a:spcBef>
                <a:spcPts val="700"/>
              </a:spcBef>
            </a:pPr>
            <a:r>
              <a:rPr sz="1500" b="0" i="0">
                <a:solidFill>
                  <a:srgbClr val="21295C"/>
                </a:solidFill>
                <a:latin typeface="Arial"/>
              </a:rPr>
              <a:t/>
            </a:r>
            <a:r>
              <a:rPr sz="1500" b="1" i="0">
                <a:solidFill>
                  <a:srgbClr val="21295C"/>
                </a:solidFill>
                <a:latin typeface="Arial"/>
              </a:rPr>
              <a:t>Отечественный реестр</a:t>
            </a:r>
            <a:r>
              <a:rPr sz="1500" b="0" i="0">
                <a:solidFill>
                  <a:srgbClr val="21295C"/>
                </a:solidFill>
                <a:latin typeface="Arial"/>
              </a:rPr>
              <a:t> зарегистрированных медицинских программ с ИИ, три даты среза: </a:t>
            </a:r>
            <a:r>
              <a:rPr sz="1500" b="1" i="0">
                <a:solidFill>
                  <a:srgbClr val="21295C"/>
                </a:solidFill>
                <a:latin typeface="Arial"/>
              </a:rPr>
              <a:t>48</a:t>
            </a:r>
            <a:r>
              <a:rPr sz="1500" b="0" i="0">
                <a:solidFill>
                  <a:srgbClr val="21295C"/>
                </a:solidFill>
                <a:latin typeface="Arial"/>
              </a:rPr>
              <a:t> в ноябре 2025 года → </a:t>
            </a:r>
            <a:r>
              <a:rPr sz="1500" b="1" i="0">
                <a:solidFill>
                  <a:srgbClr val="21295C"/>
                </a:solidFill>
                <a:latin typeface="Arial"/>
              </a:rPr>
              <a:t>57</a:t>
            </a:r>
            <a:r>
              <a:rPr sz="1500" b="0" i="0">
                <a:solidFill>
                  <a:srgbClr val="21295C"/>
                </a:solidFill>
                <a:latin typeface="Arial"/>
              </a:rPr>
              <a:t> в июне 2026 → </a:t>
            </a:r>
            <a:r>
              <a:rPr sz="1500" b="1" i="0">
                <a:solidFill>
                  <a:srgbClr val="21295C"/>
                </a:solidFill>
                <a:latin typeface="Arial"/>
              </a:rPr>
              <a:t>59</a:t>
            </a:r>
            <a:r>
              <a:rPr sz="1500" b="0" i="0">
                <a:solidFill>
                  <a:srgbClr val="21295C"/>
                </a:solidFill>
                <a:latin typeface="Arial"/>
              </a:rPr>
              <a:t> в августе 2026. Знаменатель «всего медицинских изделий в реестре» в источниках расходится, поэтому доля от общего реестра не приводится.</a:t>
            </a:r>
          </a:p>
          <a:p>
            <a:pPr algn="l">
              <a:lnSpc>
                <a:spcPct val="126000"/>
              </a:lnSpc>
              <a:spcBef>
                <a:spcPts val="700"/>
              </a:spcBef>
            </a:pPr>
            <a:r>
              <a:rPr sz="1500" b="0" i="0">
                <a:solidFill>
                  <a:srgbClr val="21295C"/>
                </a:solidFill>
                <a:latin typeface="Arial"/>
              </a:rPr>
              <a:t/>
            </a:r>
            <a:r>
              <a:rPr sz="1500" b="0" i="0">
                <a:solidFill>
                  <a:srgbClr val="21295C"/>
                </a:solidFill>
                <a:latin typeface="Arial"/>
              </a:rPr>
              <a:t>Независимой — то есть не организаторской — оценки в отечественном контуре не найдено: есть только организаторская.</a:t>
            </a:r>
          </a:p>
        </p:txBody>
      </p:sp>
      <p:sp>
        <p:nvSpPr>
          <p:cNvPr id="18" name="Rectangle 17"/>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Lee B. и соавт., JAMA Health Forum 2025;6(8):e253172, DOI 10.1001/jamahealthforum.2025.3172, срез ноябрь 2024; числа регистраций — сообщения со ссылкой на Росздравнадзор, срезы ноябрь 2025, июнь 2026, август 2026</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Вывод: удерживает то, что стоит за подписью</a:t>
            </a:r>
          </a:p>
        </p:txBody>
      </p:sp>
      <p:sp>
        <p:nvSpPr>
          <p:cNvPr id="4" name="Rounded Rectangle 3"/>
          <p:cNvSpPr/>
          <p:nvPr/>
        </p:nvSpPr>
        <p:spPr>
          <a:xfrm>
            <a:off x="502920" y="1335024"/>
            <a:ext cx="11185855" cy="1104769"/>
          </a:xfrm>
          <a:prstGeom prst="roundRect">
            <a:avLst>
              <a:gd name="adj" fmla="val 25000"/>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10911535"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ТЕСТИРОВАНИЕ С ЧЕЛОВЕКОМ В КОНТУРЕ НАЙДЕНО У</a:t>
            </a:r>
          </a:p>
        </p:txBody>
      </p:sp>
      <p:sp>
        <p:nvSpPr>
          <p:cNvPr id="6" name="TextBox 5"/>
          <p:cNvSpPr txBox="1"/>
          <p:nvPr/>
        </p:nvSpPr>
        <p:spPr>
          <a:xfrm>
            <a:off x="640080" y="1690796"/>
            <a:ext cx="10911535"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56 изделий из 717</a:t>
            </a:r>
          </a:p>
        </p:txBody>
      </p:sp>
      <p:sp>
        <p:nvSpPr>
          <p:cNvPr id="7" name="TextBox 6"/>
          <p:cNvSpPr txBox="1"/>
          <p:nvPr/>
        </p:nvSpPr>
        <p:spPr>
          <a:xfrm>
            <a:off x="640080" y="2117795"/>
            <a:ext cx="1091153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восемь из ста, срез июнь 2024 года; одна публикация, независимого повторного замера нет</a:t>
            </a:r>
          </a:p>
        </p:txBody>
      </p:sp>
      <p:sp>
        <p:nvSpPr>
          <p:cNvPr id="8" name="Rounded Rectangle 7"/>
          <p:cNvSpPr/>
          <p:nvPr/>
        </p:nvSpPr>
        <p:spPr>
          <a:xfrm>
            <a:off x="374904" y="2531233"/>
            <a:ext cx="11441887" cy="3704974"/>
          </a:xfrm>
          <a:prstGeom prst="roundRect">
            <a:avLst>
              <a:gd name="adj" fmla="val 82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39496" y="2622673"/>
            <a:ext cx="11112703" cy="361353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В прошлой лекции</a:t>
            </a:r>
            <a:r>
              <a:rPr sz="1500" b="0" i="0">
                <a:solidFill>
                  <a:srgbClr val="21295C"/>
                </a:solidFill>
                <a:latin typeface="Arial"/>
              </a:rPr>
              <a:t> требований к системам с ИИ внутри промышленных изделий не было.</a:t>
            </a:r>
          </a:p>
          <a:p>
            <a:pPr algn="l">
              <a:lnSpc>
                <a:spcPct val="126000"/>
              </a:lnSpc>
              <a:spcBef>
                <a:spcPts val="700"/>
              </a:spcBef>
            </a:pPr>
            <a:r>
              <a:rPr sz="1500" b="0" i="0">
                <a:solidFill>
                  <a:srgbClr val="21295C"/>
                </a:solidFill>
                <a:latin typeface="Arial"/>
              </a:rPr>
              <a:t/>
            </a:r>
            <a:r>
              <a:rPr sz="1500" b="1" i="0">
                <a:solidFill>
                  <a:srgbClr val="21295C"/>
                </a:solidFill>
                <a:latin typeface="Arial"/>
              </a:rPr>
              <a:t>В медицине они есть.</a:t>
            </a:r>
            <a:r>
              <a:rPr sz="1500" b="0" i="0">
                <a:solidFill>
                  <a:srgbClr val="21295C"/>
                </a:solidFill>
                <a:latin typeface="Arial"/>
              </a:rPr>
              <a:t> Названы документы: класс риска, стандарты, порядок передачи данных регулятору, статья о человеческом надзоре. Названы сроки.</a:t>
            </a:r>
          </a:p>
          <a:p>
            <a:pPr algn="l">
              <a:lnSpc>
                <a:spcPct val="126000"/>
              </a:lnSpc>
              <a:spcBef>
                <a:spcPts val="700"/>
              </a:spcBef>
            </a:pPr>
            <a:r>
              <a:rPr sz="1500" b="0" i="0">
                <a:solidFill>
                  <a:srgbClr val="21295C"/>
                </a:solidFill>
                <a:latin typeface="Arial"/>
              </a:rPr>
              <a:t/>
            </a:r>
            <a:r>
              <a:rPr sz="1500" b="0" i="0">
                <a:solidFill>
                  <a:srgbClr val="21295C"/>
                </a:solidFill>
                <a:latin typeface="Arial"/>
              </a:rPr>
              <a:t>И </a:t>
            </a:r>
            <a:r>
              <a:rPr sz="1500" b="1" i="0">
                <a:solidFill>
                  <a:srgbClr val="21295C"/>
                </a:solidFill>
                <a:latin typeface="Arial"/>
              </a:rPr>
              <a:t>56 изделий из 717</a:t>
            </a:r>
            <a:r>
              <a:rPr sz="1500" b="0" i="0">
                <a:solidFill>
                  <a:srgbClr val="21295C"/>
                </a:solidFill>
                <a:latin typeface="Arial"/>
              </a:rPr>
              <a:t> показывают, где требование описывает работу, которой не делают.</a:t>
            </a:r>
          </a:p>
          <a:p>
            <a:pPr algn="l">
              <a:lnSpc>
                <a:spcPct val="126000"/>
              </a:lnSpc>
              <a:spcBef>
                <a:spcPts val="700"/>
              </a:spcBef>
            </a:pPr>
            <a:r>
              <a:rPr sz="1500" b="0" i="0">
                <a:solidFill>
                  <a:srgbClr val="21295C"/>
                </a:solidFill>
                <a:latin typeface="Arial"/>
              </a:rPr>
              <a:t/>
            </a:r>
            <a:r>
              <a:rPr sz="1500" b="0" i="0">
                <a:solidFill>
                  <a:srgbClr val="21295C"/>
                </a:solidFill>
                <a:latin typeface="Arial"/>
              </a:rPr>
              <a:t>Удерживает то, что стоит за подписью.</a:t>
            </a:r>
          </a:p>
        </p:txBody>
      </p:sp>
      <p:sp>
        <p:nvSpPr>
          <p:cNvPr id="10" name="Rectangle 9"/>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Обзор поданной регуляторам документации по радиологическим изделиям с ИИ, JAMA Network Open 2025;8(11):e2542338, срез июнь 2024; приказ Минздрава России № 686н; ГОСТ Р 71671-2024; Регламент (ЕС) 2024/1689, статья 14</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7. Разработка лекарства</a:t>
            </a:r>
          </a:p>
        </p:txBody>
      </p:sp>
      <p:sp>
        <p:nvSpPr>
          <p:cNvPr id="5" name="Rectangle 4"/>
          <p:cNvSpPr/>
          <p:nvPr/>
        </p:nvSpPr>
        <p:spPr>
          <a:xfrm>
            <a:off x="704088" y="1570238"/>
            <a:ext cx="1188720" cy="59436"/>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1844558"/>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Удешевили начало — где узкое место.</a:t>
            </a:r>
          </a:p>
        </p:txBody>
      </p:sp>
      <p:sp>
        <p:nvSpPr>
          <p:cNvPr id="7" name="TextBox 6"/>
          <p:cNvSpPr txBox="1"/>
          <p:nvPr/>
        </p:nvSpPr>
        <p:spPr>
          <a:xfrm>
            <a:off x="704088" y="2311240"/>
            <a:ext cx="10984687" cy="94284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От мишени до заявки на регистрацию путь проходит годами, и вычисление в нём занимает один шаг — в самом начале, у химика. Дальше — доклиника, три фазы испытаний на людях, заявка. Три разбора вечера — про то, что из этого пути подешевело, а что осталось прежней длины.</a:t>
            </a:r>
          </a:p>
        </p:txBody>
      </p:sp>
      <p:sp>
        <p:nvSpPr>
          <p:cNvPr id="8" name="TextBox 7"/>
          <p:cNvSpPr txBox="1"/>
          <p:nvPr/>
        </p:nvSpPr>
        <p:spPr>
          <a:xfrm>
            <a:off x="704088" y="3382105"/>
            <a:ext cx="10984687" cy="338666"/>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3 подробных разбора</a:t>
            </a:r>
          </a:p>
        </p:txBody>
      </p:sp>
      <p:sp>
        <p:nvSpPr>
          <p:cNvPr id="9" name="TextBox 8"/>
          <p:cNvSpPr txBox="1"/>
          <p:nvPr/>
        </p:nvSpPr>
        <p:spPr>
          <a:xfrm>
            <a:off x="704088" y="3848787"/>
            <a:ext cx="10984687"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По порядку: 1. Молекула за год, снятая на первой фазе · 2. Воронка молекул машинного происхождения · 3. Компания, отказавшаяся от своего обещания.</a:t>
            </a:r>
          </a:p>
        </p:txBody>
      </p:sp>
      <p:sp>
        <p:nvSpPr>
          <p:cNvPr id="10" name="TextBox 9"/>
          <p:cNvSpPr txBox="1"/>
          <p:nvPr/>
        </p:nvSpPr>
        <p:spPr>
          <a:xfrm>
            <a:off x="704088" y="4617561"/>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Производство лекарственной формы на линии в этот раздел не входит — это отдельная лекция курса.</a:t>
            </a:r>
          </a:p>
        </p:txBody>
      </p:sp>
      <p:sp>
        <p:nvSpPr>
          <p:cNvPr id="11" name="TextBox 10"/>
          <p:cNvSpPr txBox="1"/>
          <p:nvPr/>
        </p:nvSpPr>
        <p:spPr>
          <a:xfrm>
            <a:off x="704088" y="5084244"/>
            <a:ext cx="11185855" cy="430031"/>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Это та же работа, что и в предыдущих разделах, только на масштабе отрасли: решение не о человеке у койки, а о веществе, которое до койки может не дойти вовсе.</a:t>
            </a:r>
          </a:p>
        </p:txBody>
      </p:sp>
      <p:sp>
        <p:nvSpPr>
          <p:cNvPr id="12" name="TextBox 1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BIO / QLS / Informa, Clinical Development Success Rates and Contributing Factors 2011–2020; Jayatunga и соавт., Drug Discovery Today, 2024; Haque W. и соавт., J Clin Oncol 2026, DOI 10.1200/JCO.2026.44.16_suppl.11072</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Три человека, три места, одно вещество</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Химик-синтетик ставит реакцию и получает миллиграммы вещества.</a:t>
            </a:r>
          </a:p>
          <a:p>
            <a:pPr algn="l">
              <a:lnSpc>
                <a:spcPct val="126000"/>
              </a:lnSpc>
              <a:spcBef>
                <a:spcPts val="700"/>
              </a:spcBef>
            </a:pPr>
            <a:r>
              <a:rPr sz="1500" b="0" i="0">
                <a:solidFill>
                  <a:srgbClr val="21295C"/>
                </a:solidFill>
                <a:latin typeface="Arial"/>
              </a:rPr>
              <a:t/>
            </a:r>
            <a:r>
              <a:rPr sz="1500" b="0" i="0">
                <a:solidFill>
                  <a:srgbClr val="21295C"/>
                </a:solidFill>
                <a:latin typeface="Arial"/>
              </a:rPr>
              <a:t>Тот же порошок через полгода едет в виварий на токсикологию: доза, переносимость, патология органов у животных.</a:t>
            </a:r>
          </a:p>
          <a:p>
            <a:pPr algn="l">
              <a:lnSpc>
                <a:spcPct val="126000"/>
              </a:lnSpc>
              <a:spcBef>
                <a:spcPts val="700"/>
              </a:spcBef>
            </a:pPr>
            <a:r>
              <a:rPr sz="1500" b="0" i="0">
                <a:solidFill>
                  <a:srgbClr val="21295C"/>
                </a:solidFill>
                <a:latin typeface="Arial"/>
              </a:rPr>
              <a:t/>
            </a:r>
            <a:r>
              <a:rPr sz="1500" b="0" i="0">
                <a:solidFill>
                  <a:srgbClr val="21295C"/>
                </a:solidFill>
                <a:latin typeface="Arial"/>
              </a:rPr>
              <a:t>Ещё через год координатор исследования сидит с одним здоровым добровольцем и часами пишет наблюдения в карту первой фазы.</a:t>
            </a:r>
          </a:p>
          <a:p>
            <a:pPr algn="l">
              <a:lnSpc>
                <a:spcPct val="126000"/>
              </a:lnSpc>
              <a:spcBef>
                <a:spcPts val="700"/>
              </a:spcBef>
            </a:pPr>
            <a:r>
              <a:rPr sz="1500" b="0" i="0">
                <a:solidFill>
                  <a:srgbClr val="21295C"/>
                </a:solidFill>
                <a:latin typeface="Arial"/>
              </a:rPr>
              <a:t/>
            </a:r>
            <a:r>
              <a:rPr sz="1500" b="0" i="0">
                <a:solidFill>
                  <a:srgbClr val="21295C"/>
                </a:solidFill>
                <a:latin typeface="Arial"/>
              </a:rPr>
              <a:t>Три человека, три места, одно вещество. Между первым эпизодом и третьим — около двух лет. Классический путь от мишени до клинического кандидата занимает четыре-пять лет по отраслевой норме.</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Отраслевая норма пути «мишень → клинический кандидат» — согласующиеся между собой отраслевые обзоры разработки; построчно сверенного первоисточника на эту длительность нет</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Путь разработки схемой: четыре шага от мишени до заявки</a:t>
            </a:r>
          </a:p>
        </p:txBody>
      </p:sp>
      <p:sp>
        <p:nvSpPr>
          <p:cNvPr id="4" name="TextBox 3"/>
          <p:cNvSpPr txBox="1"/>
          <p:nvPr/>
        </p:nvSpPr>
        <p:spPr>
          <a:xfrm>
            <a:off x="502920" y="1389888"/>
            <a:ext cx="1289304" cy="642627"/>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Путь разработки</a:t>
            </a:r>
          </a:p>
        </p:txBody>
      </p:sp>
      <p:sp>
        <p:nvSpPr>
          <p:cNvPr id="5" name="Rounded Rectangle 4"/>
          <p:cNvSpPr/>
          <p:nvPr/>
        </p:nvSpPr>
        <p:spPr>
          <a:xfrm>
            <a:off x="1920240" y="1335024"/>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002536" y="1417320"/>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Мишень и молекула — биологи, химики</a:t>
            </a:r>
          </a:p>
        </p:txBody>
      </p:sp>
      <p:sp>
        <p:nvSpPr>
          <p:cNvPr id="7" name="Right Arrow 6"/>
          <p:cNvSpPr/>
          <p:nvPr/>
        </p:nvSpPr>
        <p:spPr>
          <a:xfrm>
            <a:off x="4202353" y="1587757"/>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430953" y="1335024"/>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13249" y="1417320"/>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Доклиника — токсикология на культурах и животных</a:t>
            </a:r>
          </a:p>
        </p:txBody>
      </p:sp>
      <p:sp>
        <p:nvSpPr>
          <p:cNvPr id="10" name="Right Arrow 9"/>
          <p:cNvSpPr/>
          <p:nvPr/>
        </p:nvSpPr>
        <p:spPr>
          <a:xfrm>
            <a:off x="6713067" y="1587757"/>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941667" y="1335024"/>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23963" y="1417320"/>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Фазы I–III — клиницисты, пациенты</a:t>
            </a:r>
          </a:p>
        </p:txBody>
      </p:sp>
      <p:sp>
        <p:nvSpPr>
          <p:cNvPr id="13" name="Right Arrow 12"/>
          <p:cNvSpPr/>
          <p:nvPr/>
        </p:nvSpPr>
        <p:spPr>
          <a:xfrm>
            <a:off x="9223781" y="1587757"/>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9452381" y="1335024"/>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534677" y="1417320"/>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Заявка — регуляторные специалисты</a:t>
            </a:r>
          </a:p>
        </p:txBody>
      </p:sp>
      <p:sp>
        <p:nvSpPr>
          <p:cNvPr id="16" name="TextBox 15"/>
          <p:cNvSpPr txBox="1"/>
          <p:nvPr/>
        </p:nvSpPr>
        <p:spPr>
          <a:xfrm>
            <a:off x="502920" y="2123955"/>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Шаг вычисления — один, и он в начале</a:t>
            </a:r>
          </a:p>
        </p:txBody>
      </p:sp>
      <p:sp>
        <p:nvSpPr>
          <p:cNvPr id="17" name="Rounded Rectangle 16"/>
          <p:cNvSpPr/>
          <p:nvPr/>
        </p:nvSpPr>
        <p:spPr>
          <a:xfrm>
            <a:off x="374904" y="2436809"/>
            <a:ext cx="11441887" cy="3799398"/>
          </a:xfrm>
          <a:prstGeom prst="roundRect">
            <a:avLst>
              <a:gd name="adj" fmla="val 802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9496" y="2528249"/>
            <a:ext cx="11112703" cy="370795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Мишень и молекула.</a:t>
            </a:r>
            <a:r>
              <a:rPr sz="1500" b="0" i="0">
                <a:solidFill>
                  <a:srgbClr val="21295C"/>
                </a:solidFill>
                <a:latin typeface="Arial"/>
              </a:rPr>
              <a:t> Что в организме затронуть и чем — выбирают биологи, подбирают химики.</a:t>
            </a:r>
          </a:p>
          <a:p>
            <a:pPr algn="l">
              <a:lnSpc>
                <a:spcPct val="126000"/>
              </a:lnSpc>
              <a:spcBef>
                <a:spcPts val="700"/>
              </a:spcBef>
            </a:pPr>
            <a:r>
              <a:rPr sz="1500" b="0" i="0">
                <a:solidFill>
                  <a:srgbClr val="21295C"/>
                </a:solidFill>
                <a:latin typeface="Arial"/>
              </a:rPr>
              <a:t/>
            </a:r>
            <a:r>
              <a:rPr sz="1500" b="1" i="0">
                <a:solidFill>
                  <a:srgbClr val="21295C"/>
                </a:solidFill>
                <a:latin typeface="Arial"/>
              </a:rPr>
              <a:t>Доклиника.</a:t>
            </a:r>
            <a:r>
              <a:rPr sz="1500" b="0" i="0">
                <a:solidFill>
                  <a:srgbClr val="21295C"/>
                </a:solidFill>
                <a:latin typeface="Arial"/>
              </a:rPr>
              <a:t> Культуры клеток и животные: работает ли, не убивает ли, как выводится.</a:t>
            </a:r>
          </a:p>
          <a:p>
            <a:pPr algn="l">
              <a:lnSpc>
                <a:spcPct val="126000"/>
              </a:lnSpc>
              <a:spcBef>
                <a:spcPts val="700"/>
              </a:spcBef>
            </a:pPr>
            <a:r>
              <a:rPr sz="1500" b="0" i="0">
                <a:solidFill>
                  <a:srgbClr val="21295C"/>
                </a:solidFill>
                <a:latin typeface="Arial"/>
              </a:rPr>
              <a:t/>
            </a:r>
            <a:r>
              <a:rPr sz="1500" b="1" i="0">
                <a:solidFill>
                  <a:srgbClr val="21295C"/>
                </a:solidFill>
                <a:latin typeface="Arial"/>
              </a:rPr>
              <a:t>Фазы I–III.</a:t>
            </a:r>
            <a:r>
              <a:rPr sz="1500" b="0" i="0">
                <a:solidFill>
                  <a:srgbClr val="21295C"/>
                </a:solidFill>
                <a:latin typeface="Arial"/>
              </a:rPr>
              <a:t> Переносимость → работает ли и в какой дозе → подтверждение на больших выборках.</a:t>
            </a:r>
          </a:p>
          <a:p>
            <a:pPr algn="l">
              <a:lnSpc>
                <a:spcPct val="126000"/>
              </a:lnSpc>
              <a:spcBef>
                <a:spcPts val="700"/>
              </a:spcBef>
            </a:pPr>
            <a:r>
              <a:rPr sz="1500" b="0" i="0">
                <a:solidFill>
                  <a:srgbClr val="21295C"/>
                </a:solidFill>
                <a:latin typeface="Arial"/>
              </a:rPr>
              <a:t/>
            </a:r>
            <a:r>
              <a:rPr sz="1500" b="1" i="0">
                <a:solidFill>
                  <a:srgbClr val="21295C"/>
                </a:solidFill>
                <a:latin typeface="Arial"/>
              </a:rPr>
              <a:t>Заявка.</a:t>
            </a:r>
            <a:r>
              <a:rPr sz="1500" b="0" i="0">
                <a:solidFill>
                  <a:srgbClr val="21295C"/>
                </a:solidFill>
                <a:latin typeface="Arial"/>
              </a:rPr>
              <a:t> Регистрация у регулятора.</a:t>
            </a:r>
          </a:p>
          <a:p>
            <a:pPr algn="l">
              <a:lnSpc>
                <a:spcPct val="126000"/>
              </a:lnSpc>
              <a:spcBef>
                <a:spcPts val="700"/>
              </a:spcBef>
            </a:pPr>
            <a:r>
              <a:rPr sz="1500" b="0" i="0">
                <a:solidFill>
                  <a:srgbClr val="21295C"/>
                </a:solidFill>
                <a:latin typeface="Arial"/>
              </a:rPr>
              <a:t/>
            </a:r>
            <a:r>
              <a:rPr sz="1500" b="0" i="0">
                <a:solidFill>
                  <a:srgbClr val="21295C"/>
                </a:solidFill>
                <a:latin typeface="Arial"/>
              </a:rPr>
              <a:t>Шаг, на который приходится вычисление, — один, и он в начале, у химика. Весь остальной путь делают руками люди.</a:t>
            </a:r>
          </a:p>
        </p:txBody>
      </p:sp>
      <p:sp>
        <p:nvSpPr>
          <p:cNvPr id="19" name="Rectangle 18"/>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Воронка отрасли: из тринадцати программ лекарством становится одна</a:t>
            </a:r>
          </a:p>
        </p:txBody>
      </p:sp>
      <p:sp>
        <p:nvSpPr>
          <p:cNvPr id="4" name="Rounded Rectangle 3"/>
          <p:cNvSpPr/>
          <p:nvPr/>
        </p:nvSpPr>
        <p:spPr>
          <a:xfrm>
            <a:off x="502920" y="1335024"/>
            <a:ext cx="2673019" cy="1763019"/>
          </a:xfrm>
          <a:prstGeom prst="roundRect">
            <a:avLst>
              <a:gd name="adj" fmla="val 17288"/>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ФАЗА I → ФАЗА II</a:t>
            </a:r>
          </a:p>
        </p:txBody>
      </p:sp>
      <p:sp>
        <p:nvSpPr>
          <p:cNvPr id="6" name="TextBox 5"/>
          <p:cNvSpPr txBox="1"/>
          <p:nvPr/>
        </p:nvSpPr>
        <p:spPr>
          <a:xfrm>
            <a:off x="640080" y="169079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52,0 процента</a:t>
            </a:r>
          </a:p>
        </p:txBody>
      </p:sp>
      <p:sp>
        <p:nvSpPr>
          <p:cNvPr id="7" name="TextBox 6"/>
          <p:cNvSpPr txBox="1"/>
          <p:nvPr/>
        </p:nvSpPr>
        <p:spPr>
          <a:xfrm>
            <a:off x="640080" y="2117795"/>
            <a:ext cx="2398699"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4 414 переходов внутри отчёта</a:t>
            </a:r>
          </a:p>
        </p:txBody>
      </p:sp>
      <p:sp>
        <p:nvSpPr>
          <p:cNvPr id="8" name="Rounded Rectangle 7"/>
          <p:cNvSpPr/>
          <p:nvPr/>
        </p:nvSpPr>
        <p:spPr>
          <a:xfrm>
            <a:off x="3340531" y="1335024"/>
            <a:ext cx="2673019" cy="1763019"/>
          </a:xfrm>
          <a:prstGeom prst="roundRect">
            <a:avLst>
              <a:gd name="adj" fmla="val 17288"/>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ФАЗА II → ФАЗА III</a:t>
            </a:r>
          </a:p>
        </p:txBody>
      </p:sp>
      <p:sp>
        <p:nvSpPr>
          <p:cNvPr id="10" name="TextBox 9"/>
          <p:cNvSpPr txBox="1"/>
          <p:nvPr/>
        </p:nvSpPr>
        <p:spPr>
          <a:xfrm>
            <a:off x="3477691" y="1690796"/>
            <a:ext cx="2398699"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28,9 процента</a:t>
            </a:r>
          </a:p>
        </p:txBody>
      </p:sp>
      <p:sp>
        <p:nvSpPr>
          <p:cNvPr id="11" name="TextBox 10"/>
          <p:cNvSpPr txBox="1"/>
          <p:nvPr/>
        </p:nvSpPr>
        <p:spPr>
          <a:xfrm>
            <a:off x="3477691" y="2117795"/>
            <a:ext cx="2398699"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4 933 перехода; жёстче любого другого перехода — плотнее всего отсев в середине</a:t>
            </a:r>
          </a:p>
        </p:txBody>
      </p:sp>
      <p:sp>
        <p:nvSpPr>
          <p:cNvPr id="12" name="Rounded Rectangle 11"/>
          <p:cNvSpPr/>
          <p:nvPr/>
        </p:nvSpPr>
        <p:spPr>
          <a:xfrm>
            <a:off x="6178143" y="1335024"/>
            <a:ext cx="2673019" cy="1763019"/>
          </a:xfrm>
          <a:prstGeom prst="roundRect">
            <a:avLst>
              <a:gd name="adj" fmla="val 17288"/>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ОТ ФАЗЫ I ДО ОДОБРЕНИЯ</a:t>
            </a:r>
          </a:p>
        </p:txBody>
      </p:sp>
      <p:sp>
        <p:nvSpPr>
          <p:cNvPr id="14" name="TextBox 13"/>
          <p:cNvSpPr txBox="1"/>
          <p:nvPr/>
        </p:nvSpPr>
        <p:spPr>
          <a:xfrm>
            <a:off x="6315303" y="169079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7,9 процента</a:t>
            </a:r>
          </a:p>
        </p:txBody>
      </p:sp>
      <p:sp>
        <p:nvSpPr>
          <p:cNvPr id="15" name="TextBox 14"/>
          <p:cNvSpPr txBox="1"/>
          <p:nvPr/>
        </p:nvSpPr>
        <p:spPr>
          <a:xfrm>
            <a:off x="6315303" y="2117795"/>
            <a:ext cx="2398699"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из каждых примерно тринадцати программ, вошедших в первую фазу, лекарством становится одна</a:t>
            </a:r>
          </a:p>
        </p:txBody>
      </p:sp>
      <p:sp>
        <p:nvSpPr>
          <p:cNvPr id="16" name="Rounded Rectangle 15"/>
          <p:cNvSpPr/>
          <p:nvPr/>
        </p:nvSpPr>
        <p:spPr>
          <a:xfrm>
            <a:off x="9015755" y="1335024"/>
            <a:ext cx="2673019" cy="1763019"/>
          </a:xfrm>
          <a:prstGeom prst="roundRect">
            <a:avLst>
              <a:gd name="adj" fmla="val 17288"/>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ЗНАМЕНАТЕЛЬ</a:t>
            </a:r>
          </a:p>
        </p:txBody>
      </p:sp>
      <p:sp>
        <p:nvSpPr>
          <p:cNvPr id="18" name="TextBox 17"/>
          <p:cNvSpPr txBox="1"/>
          <p:nvPr/>
        </p:nvSpPr>
        <p:spPr>
          <a:xfrm>
            <a:off x="9152915" y="1690796"/>
            <a:ext cx="2398699" cy="715572"/>
          </a:xfrm>
          <a:prstGeom prst="rect">
            <a:avLst/>
          </a:prstGeom>
          <a:noFill/>
        </p:spPr>
        <p:txBody>
          <a:bodyPr wrap="square" lIns="0" rIns="0" tIns="0" bIns="0" anchor="t">
            <a:spAutoFit/>
          </a:bodyPr>
          <a:lstStyle/>
          <a:p>
            <a:pPr algn="l">
              <a:lnSpc>
                <a:spcPct val="108000"/>
              </a:lnSpc>
            </a:pPr>
            <a:r>
              <a:rPr sz="2000" b="1" i="0">
                <a:solidFill>
                  <a:srgbClr val="21295C"/>
                </a:solidFill>
                <a:latin typeface="Arial"/>
              </a:rPr>
              <a:t>12 728 переходов из 9 704 программ</a:t>
            </a:r>
          </a:p>
        </p:txBody>
      </p:sp>
      <p:sp>
        <p:nvSpPr>
          <p:cNvPr id="19" name="TextBox 18"/>
          <p:cNvSpPr txBox="1"/>
          <p:nvPr/>
        </p:nvSpPr>
        <p:spPr>
          <a:xfrm>
            <a:off x="9152915" y="2406369"/>
            <a:ext cx="2398699"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1 779 компаний, 2011–2020 годы; это счёт переходов, а не программ, и у каждого перехода свой знаменатель</a:t>
            </a:r>
          </a:p>
        </p:txBody>
      </p:sp>
      <p:sp>
        <p:nvSpPr>
          <p:cNvPr id="20" name="Rounded Rectangle 19"/>
          <p:cNvSpPr/>
          <p:nvPr/>
        </p:nvSpPr>
        <p:spPr>
          <a:xfrm>
            <a:off x="374904" y="3189483"/>
            <a:ext cx="11441887" cy="3046724"/>
          </a:xfrm>
          <a:prstGeom prst="roundRect">
            <a:avLst>
              <a:gd name="adj" fmla="val 1000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9496" y="3280923"/>
            <a:ext cx="11112703" cy="29552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Фаза I → фаза II — </a:t>
            </a:r>
            <a:r>
              <a:rPr sz="1500" b="1" i="0">
                <a:solidFill>
                  <a:srgbClr val="21295C"/>
                </a:solidFill>
                <a:latin typeface="Arial"/>
              </a:rPr>
              <a:t>52,0 процента</a:t>
            </a:r>
            <a:r>
              <a:rPr sz="1500" b="0" i="0">
                <a:solidFill>
                  <a:srgbClr val="21295C"/>
                </a:solidFill>
                <a:latin typeface="Arial"/>
              </a:rPr>
              <a:t>. Фаза II → фаза III — </a:t>
            </a:r>
            <a:r>
              <a:rPr sz="1500" b="1" i="0">
                <a:solidFill>
                  <a:srgbClr val="21295C"/>
                </a:solidFill>
                <a:latin typeface="Arial"/>
              </a:rPr>
              <a:t>28,9</a:t>
            </a:r>
            <a:r>
              <a:rPr sz="1500" b="0" i="0">
                <a:solidFill>
                  <a:srgbClr val="21295C"/>
                </a:solidFill>
                <a:latin typeface="Arial"/>
              </a:rPr>
              <a:t>. От первой фазы до одобрения — </a:t>
            </a:r>
            <a:r>
              <a:rPr sz="1500" b="1" i="0">
                <a:solidFill>
                  <a:srgbClr val="21295C"/>
                </a:solidFill>
                <a:latin typeface="Arial"/>
              </a:rPr>
              <a:t>7,9</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0" i="0">
                <a:solidFill>
                  <a:srgbClr val="21295C"/>
                </a:solidFill>
                <a:latin typeface="Arial"/>
              </a:rPr>
              <a:t>Знаменатель: </a:t>
            </a:r>
            <a:r>
              <a:rPr sz="1500" b="1" i="0">
                <a:solidFill>
                  <a:srgbClr val="21295C"/>
                </a:solidFill>
                <a:latin typeface="Arial"/>
              </a:rPr>
              <a:t>12 728 переходов</a:t>
            </a:r>
            <a:r>
              <a:rPr sz="1500" b="0" i="0">
                <a:solidFill>
                  <a:srgbClr val="21295C"/>
                </a:solidFill>
                <a:latin typeface="Arial"/>
              </a:rPr>
              <a:t> из </a:t>
            </a:r>
            <a:r>
              <a:rPr sz="1500" b="1" i="0">
                <a:solidFill>
                  <a:srgbClr val="21295C"/>
                </a:solidFill>
                <a:latin typeface="Arial"/>
              </a:rPr>
              <a:t>9 704 программ</a:t>
            </a:r>
            <a:r>
              <a:rPr sz="1500" b="0" i="0">
                <a:solidFill>
                  <a:srgbClr val="21295C"/>
                </a:solidFill>
                <a:latin typeface="Arial"/>
              </a:rPr>
              <a:t>, 1 779 компаний, 2011–2020 годы.</a:t>
            </a:r>
          </a:p>
          <a:p>
            <a:pPr algn="l">
              <a:lnSpc>
                <a:spcPct val="126000"/>
              </a:lnSpc>
              <a:spcBef>
                <a:spcPts val="700"/>
              </a:spcBef>
            </a:pPr>
            <a:r>
              <a:rPr sz="1500" b="0" i="0">
                <a:solidFill>
                  <a:srgbClr val="21295C"/>
                </a:solidFill>
                <a:latin typeface="Arial"/>
              </a:rPr>
              <a:t/>
            </a:r>
            <a:r>
              <a:rPr sz="1500" b="0" i="0">
                <a:solidFill>
                  <a:srgbClr val="21295C"/>
                </a:solidFill>
                <a:latin typeface="Arial"/>
              </a:rPr>
              <a:t>Разброс по областям огромен — переход второй фазы в гематологии 48,1 процента, в урологии 15,0, — поэтому средняя по отрасли годится как база и не годится как предсказание для одной программы.</a:t>
            </a:r>
          </a:p>
          <a:p>
            <a:pPr algn="l">
              <a:lnSpc>
                <a:spcPct val="126000"/>
              </a:lnSpc>
              <a:spcBef>
                <a:spcPts val="700"/>
              </a:spcBef>
            </a:pPr>
            <a:r>
              <a:rPr sz="1500" b="0" i="0">
                <a:solidFill>
                  <a:srgbClr val="21295C"/>
                </a:solidFill>
                <a:latin typeface="Arial"/>
              </a:rPr>
              <a:t/>
            </a:r>
            <a:r>
              <a:rPr sz="1500" b="0" i="0">
                <a:solidFill>
                  <a:srgbClr val="21295C"/>
                </a:solidFill>
                <a:latin typeface="Arial"/>
              </a:rPr>
              <a:t>Плотнее всего отсев в середине, не в начале и не в конце.</a:t>
            </a:r>
          </a:p>
        </p:txBody>
      </p:sp>
      <p:sp>
        <p:nvSpPr>
          <p:cNvPr id="22" name="Rectangle 21"/>
          <p:cNvSpPr/>
          <p:nvPr/>
        </p:nvSpPr>
        <p:spPr>
          <a:xfrm>
            <a:off x="502920" y="1179576"/>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BIO / QLS / Informa, Clinical Development Success Rates and Contributing Factors 2011–2020, февраль 2021</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Две дроби рядом: «перешли» и «завершили»</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«Перешли».</a:t>
            </a:r>
            <a:r>
              <a:rPr sz="1500" b="0" i="0">
                <a:solidFill>
                  <a:srgbClr val="21295C"/>
                </a:solidFill>
                <a:latin typeface="Arial"/>
              </a:rPr>
              <a:t> Считают среди тех, кто фазу прошёл до конца — знаменатель: завершившие фазу.</a:t>
            </a:r>
          </a:p>
          <a:p>
            <a:pPr algn="l">
              <a:lnSpc>
                <a:spcPct val="126000"/>
              </a:lnSpc>
              <a:spcBef>
                <a:spcPts val="700"/>
              </a:spcBef>
            </a:pPr>
            <a:r>
              <a:rPr sz="1500" b="0" i="0">
                <a:solidFill>
                  <a:srgbClr val="21295C"/>
                </a:solidFill>
                <a:latin typeface="Arial"/>
              </a:rPr>
              <a:t/>
            </a:r>
            <a:r>
              <a:rPr sz="1500" b="1" i="0">
                <a:solidFill>
                  <a:srgbClr val="21295C"/>
                </a:solidFill>
                <a:latin typeface="Arial"/>
              </a:rPr>
              <a:t>«Завершили».</a:t>
            </a:r>
            <a:r>
              <a:rPr sz="1500" b="0" i="0">
                <a:solidFill>
                  <a:srgbClr val="21295C"/>
                </a:solidFill>
                <a:latin typeface="Arial"/>
              </a:rPr>
              <a:t> Считают среди всех, кто когда-либо вошёл в испытания — в знаменателе сидят активы, которые ещё идут и до следующей фазы просто не дошли.</a:t>
            </a:r>
          </a:p>
          <a:p>
            <a:pPr algn="l">
              <a:lnSpc>
                <a:spcPct val="126000"/>
              </a:lnSpc>
              <a:spcBef>
                <a:spcPts val="700"/>
              </a:spcBef>
            </a:pPr>
            <a:r>
              <a:rPr sz="1500" b="0" i="0">
                <a:solidFill>
                  <a:srgbClr val="21295C"/>
                </a:solidFill>
                <a:latin typeface="Arial"/>
              </a:rPr>
              <a:t/>
            </a:r>
            <a:r>
              <a:rPr sz="1500" b="0" i="0">
                <a:solidFill>
                  <a:srgbClr val="21295C"/>
                </a:solidFill>
                <a:latin typeface="Arial"/>
              </a:rPr>
              <a:t>Поставить эти две дроби через «против» — получить вывод, которого не делает ни один из двух замеров.</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Знаменатели двух замеров: BIO / QLS / Informa, Clinical Development Success Rates and Contributing Factors 2011–2020 — переходы по показаниям; Haque W. и соавт., J Clin Oncol 2026, DOI 10.1200/JCO.2026.44.16_suppl.11072 — завершения по уникальным активам</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подешевело и что не подешевело</a:t>
            </a:r>
          </a:p>
        </p:txBody>
      </p:sp>
      <p:sp>
        <p:nvSpPr>
          <p:cNvPr id="4" name="Rounded Rectangle 3"/>
          <p:cNvSpPr/>
          <p:nvPr/>
        </p:nvSpPr>
        <p:spPr>
          <a:xfrm>
            <a:off x="502920" y="1335024"/>
            <a:ext cx="5510631" cy="1680031"/>
          </a:xfrm>
          <a:prstGeom prst="roundRect">
            <a:avLst>
              <a:gd name="adj" fmla="val 1814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ПЕРЕБОР ГИПОТЕЗ ПО ГРАФУ ЗНАНИЙ</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48 часов на гипотезу</a:t>
            </a:r>
          </a:p>
        </p:txBody>
      </p:sp>
      <p:sp>
        <p:nvSpPr>
          <p:cNvPr id="7" name="TextBox 6"/>
          <p:cNvSpPr txBox="1"/>
          <p:nvPr/>
        </p:nvSpPr>
        <p:spPr>
          <a:xfrm>
            <a:off x="640080"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и подтверждение этой гипотезы дали рандомизированные исследования и клиницисты по всему миру — дорогую часть работы сделала другая рука</a:t>
            </a:r>
          </a:p>
        </p:txBody>
      </p:sp>
      <p:sp>
        <p:nvSpPr>
          <p:cNvPr id="8" name="Rounded Rectangle 7"/>
          <p:cNvSpPr/>
          <p:nvPr/>
        </p:nvSpPr>
        <p:spPr>
          <a:xfrm>
            <a:off x="6178143" y="1335024"/>
            <a:ext cx="5510631" cy="1680031"/>
          </a:xfrm>
          <a:prstGeom prst="roundRect">
            <a:avLst>
              <a:gd name="adj" fmla="val 1814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РАСЧЁТНАЯ ОЦЕНКА СВЯЗЫВАНИЯ</a:t>
            </a:r>
          </a:p>
        </p:txBody>
      </p:sp>
      <p:sp>
        <p:nvSpPr>
          <p:cNvPr id="10" name="TextBox 9"/>
          <p:cNvSpPr txBox="1"/>
          <p:nvPr/>
        </p:nvSpPr>
        <p:spPr>
          <a:xfrm>
            <a:off x="6315303" y="1690796"/>
            <a:ext cx="5236311"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13 000 соединений под известную мишень</a:t>
            </a:r>
          </a:p>
        </p:txBody>
      </p:sp>
      <p:sp>
        <p:nvSpPr>
          <p:cNvPr id="11" name="TextBox 10"/>
          <p:cNvSpPr txBox="1"/>
          <p:nvPr/>
        </p:nvSpPr>
        <p:spPr>
          <a:xfrm>
            <a:off x="6315303" y="2508219"/>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метод расчёта физики связывания, не генеративная модель; цена готового актива при этом не упала — покупатель заплатил 4 млрд долларов авансом</a:t>
            </a:r>
          </a:p>
        </p:txBody>
      </p:sp>
      <p:sp>
        <p:nvSpPr>
          <p:cNvPr id="12" name="Rounded Rectangle 11"/>
          <p:cNvSpPr/>
          <p:nvPr/>
        </p:nvSpPr>
        <p:spPr>
          <a:xfrm>
            <a:off x="502920" y="3197935"/>
            <a:ext cx="5437479" cy="2267334"/>
          </a:xfrm>
          <a:prstGeom prst="roundRect">
            <a:avLst>
              <a:gd name="adj" fmla="val 1344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7512" y="3353383"/>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Подешевело</a:t>
            </a:r>
          </a:p>
        </p:txBody>
      </p:sp>
      <p:sp>
        <p:nvSpPr>
          <p:cNvPr id="14" name="TextBox 13"/>
          <p:cNvSpPr txBox="1"/>
          <p:nvPr/>
        </p:nvSpPr>
        <p:spPr>
          <a:xfrm>
            <a:off x="667512" y="3709561"/>
            <a:ext cx="5108295" cy="1600260"/>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Перебор гипотез по графу знаний</a:t>
            </a:r>
          </a:p>
          <a:p>
            <a:pPr algn="l">
              <a:lnSpc>
                <a:spcPct val="126000"/>
              </a:lnSpc>
            </a:pPr>
            <a:r>
              <a:rPr sz="1450" b="0" i="0">
                <a:solidFill>
                  <a:srgbClr val="21295C"/>
                </a:solidFill>
                <a:latin typeface="Arial"/>
              </a:rPr>
              <a:t>• Расчётная оценка связывания соединений</a:t>
            </a:r>
          </a:p>
        </p:txBody>
      </p:sp>
      <p:sp>
        <p:nvSpPr>
          <p:cNvPr id="15" name="Rounded Rectangle 14"/>
          <p:cNvSpPr/>
          <p:nvPr/>
        </p:nvSpPr>
        <p:spPr>
          <a:xfrm>
            <a:off x="6251295" y="3197935"/>
            <a:ext cx="5437479" cy="2267334"/>
          </a:xfrm>
          <a:prstGeom prst="roundRect">
            <a:avLst>
              <a:gd name="adj" fmla="val 13443"/>
            </a:avLst>
          </a:prstGeom>
          <a:solidFill>
            <a:srgbClr val="FFFFFF"/>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15887" y="3353383"/>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Не подешевело</a:t>
            </a:r>
          </a:p>
        </p:txBody>
      </p:sp>
      <p:sp>
        <p:nvSpPr>
          <p:cNvPr id="17" name="TextBox 16"/>
          <p:cNvSpPr txBox="1"/>
          <p:nvPr/>
        </p:nvSpPr>
        <p:spPr>
          <a:xfrm>
            <a:off x="6415887" y="3709561"/>
            <a:ext cx="5108295" cy="1600260"/>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Переносимость у людей</a:t>
            </a:r>
          </a:p>
          <a:p>
            <a:pPr algn="l">
              <a:lnSpc>
                <a:spcPct val="126000"/>
              </a:lnSpc>
            </a:pPr>
            <a:r>
              <a:rPr sz="1450" b="0" i="0">
                <a:solidFill>
                  <a:srgbClr val="21295C"/>
                </a:solidFill>
                <a:latin typeface="Arial"/>
              </a:rPr>
              <a:t>• Набор пациентов</a:t>
            </a:r>
          </a:p>
          <a:p>
            <a:pPr algn="l">
              <a:lnSpc>
                <a:spcPct val="126000"/>
              </a:lnSpc>
            </a:pPr>
            <a:r>
              <a:rPr sz="1450" b="0" i="0">
                <a:solidFill>
                  <a:srgbClr val="21295C"/>
                </a:solidFill>
                <a:latin typeface="Arial"/>
              </a:rPr>
              <a:t>• Длительность наблюдения</a:t>
            </a:r>
          </a:p>
          <a:p>
            <a:pPr algn="l">
              <a:lnSpc>
                <a:spcPct val="126000"/>
              </a:lnSpc>
            </a:pPr>
            <a:r>
              <a:rPr sz="1450" b="0" i="0">
                <a:solidFill>
                  <a:srgbClr val="21295C"/>
                </a:solidFill>
                <a:latin typeface="Arial"/>
              </a:rPr>
              <a:t>• Производство клинической партии</a:t>
            </a:r>
          </a:p>
        </p:txBody>
      </p:sp>
      <p:sp>
        <p:nvSpPr>
          <p:cNvPr id="18" name="Rounded Rectangle 17"/>
          <p:cNvSpPr/>
          <p:nvPr/>
        </p:nvSpPr>
        <p:spPr>
          <a:xfrm>
            <a:off x="374904" y="5556710"/>
            <a:ext cx="11441887" cy="679497"/>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39496" y="5648150"/>
            <a:ext cx="11112703" cy="588057"/>
          </a:xfrm>
          <a:prstGeom prst="rect">
            <a:avLst/>
          </a:prstGeom>
          <a:noFill/>
        </p:spPr>
        <p:txBody>
          <a:bodyPr wrap="square" lIns="0" rIns="0" tIns="0" bIns="0" anchor="t">
            <a:spAutoFit/>
          </a:bodyPr>
          <a:lstStyle/>
          <a:p>
            <a:pPr algn="l">
              <a:lnSpc>
                <a:spcPct val="126000"/>
              </a:lnSpc>
            </a:pPr>
            <a:r>
              <a:rPr sz="1470" b="0" i="0">
                <a:solidFill>
                  <a:srgbClr val="21295C"/>
                </a:solidFill>
                <a:latin typeface="Arial"/>
              </a:rPr>
              <a:t>Левый столбец посчитан числами. У правого нет ни одного числа ни на одной строке — </a:t>
            </a:r>
            <a:r>
              <a:rPr sz="1470" b="1" i="0">
                <a:solidFill>
                  <a:srgbClr val="21295C"/>
                </a:solidFill>
                <a:latin typeface="Arial"/>
              </a:rPr>
              <a:t>и это вывод столбца, а не пробел подборки: формы здесь нет.</a:t>
            </a:r>
          </a:p>
        </p:txBody>
      </p:sp>
      <p:sp>
        <p:nvSpPr>
          <p:cNvPr id="20" name="Rectangle 19"/>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Граф биомедицинских связей: раскрытие разработчика, 2020, и рецензируемый обзор перепрофилирования, PMC9231077, 2022. Расчётная оценка связывания и условия сделки по готовому активу: отраслевая журналистика 2025–2026 и публичные раскрытия покупателя</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Хитрейт с методом и без</a:t>
            </a:r>
          </a:p>
        </p:txBody>
      </p:sp>
      <p:sp>
        <p:nvSpPr>
          <p:cNvPr id="4" name="Rounded Rectangle 3"/>
          <p:cNvSpPr/>
          <p:nvPr/>
        </p:nvSpPr>
        <p:spPr>
          <a:xfrm>
            <a:off x="502920" y="1335024"/>
            <a:ext cx="5510631" cy="1289607"/>
          </a:xfrm>
          <a:prstGeom prst="roundRect">
            <a:avLst>
              <a:gd name="adj" fmla="val 23635"/>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КЛАССИЧЕСКИЙ ПЕРЕБОР — ПОПАДАНИЯ</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1–2 процента</a:t>
            </a:r>
          </a:p>
        </p:txBody>
      </p:sp>
      <p:sp>
        <p:nvSpPr>
          <p:cNvPr id="7" name="TextBox 6"/>
          <p:cNvSpPr txBox="1"/>
          <p:nvPr/>
        </p:nvSpPr>
        <p:spPr>
          <a:xfrm>
            <a:off x="640080"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метод назван, знаменатель назван — это и отличает его от соседних заявленных долей</a:t>
            </a:r>
          </a:p>
        </p:txBody>
      </p:sp>
      <p:sp>
        <p:nvSpPr>
          <p:cNvPr id="8" name="Rounded Rectangle 7"/>
          <p:cNvSpPr/>
          <p:nvPr/>
        </p:nvSpPr>
        <p:spPr>
          <a:xfrm>
            <a:off x="6178143" y="1335024"/>
            <a:ext cx="5510631" cy="1289607"/>
          </a:xfrm>
          <a:prstGeom prst="roundRect">
            <a:avLst>
              <a:gd name="adj" fmla="val 23635"/>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БИБЛИОТЕКА СОЕДИНЕНИЙ</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от одного до трёх миллионов</a:t>
            </a:r>
          </a:p>
        </p:txBody>
      </p:sp>
      <p:sp>
        <p:nvSpPr>
          <p:cNvPr id="11" name="TextBox 10"/>
          <p:cNvSpPr txBox="1"/>
          <p:nvPr/>
        </p:nvSpPr>
        <p:spPr>
          <a:xfrm>
            <a:off x="6315303" y="2117795"/>
            <a:ext cx="5236311"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физический перебор: столько соединений реально прогоняют через опыт</a:t>
            </a:r>
          </a:p>
        </p:txBody>
      </p:sp>
      <p:sp>
        <p:nvSpPr>
          <p:cNvPr id="12" name="Rounded Rectangle 11"/>
          <p:cNvSpPr/>
          <p:nvPr/>
        </p:nvSpPr>
        <p:spPr>
          <a:xfrm>
            <a:off x="374904" y="2716071"/>
            <a:ext cx="11441887" cy="3520136"/>
          </a:xfrm>
          <a:prstGeom prst="roundRect">
            <a:avLst>
              <a:gd name="adj" fmla="val 865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2807511"/>
            <a:ext cx="11112703" cy="342869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Классический физический перебор: библиотека от </a:t>
            </a:r>
            <a:r>
              <a:rPr sz="1500" b="1" i="0">
                <a:solidFill>
                  <a:srgbClr val="21295C"/>
                </a:solidFill>
                <a:latin typeface="Arial"/>
              </a:rPr>
              <a:t>одного до трёх миллионов</a:t>
            </a:r>
            <a:r>
              <a:rPr sz="1500" b="0" i="0">
                <a:solidFill>
                  <a:srgbClr val="21295C"/>
                </a:solidFill>
                <a:latin typeface="Arial"/>
              </a:rPr>
              <a:t> соединений, попадания — </a:t>
            </a:r>
            <a:r>
              <a:rPr sz="1500" b="1" i="0">
                <a:solidFill>
                  <a:srgbClr val="21295C"/>
                </a:solidFill>
                <a:latin typeface="Arial"/>
              </a:rPr>
              <a:t>1–2 процента</a:t>
            </a:r>
            <a:r>
              <a:rPr sz="1500" b="0" i="0">
                <a:solidFill>
                  <a:srgbClr val="21295C"/>
                </a:solidFill>
                <a:latin typeface="Arial"/>
              </a:rPr>
              <a:t>. Метод назван, знаменатель назван.</a:t>
            </a:r>
          </a:p>
          <a:p>
            <a:pPr algn="l">
              <a:lnSpc>
                <a:spcPct val="126000"/>
              </a:lnSpc>
              <a:spcBef>
                <a:spcPts val="700"/>
              </a:spcBef>
            </a:pPr>
            <a:r>
              <a:rPr sz="1500" b="0" i="0">
                <a:solidFill>
                  <a:srgbClr val="21295C"/>
                </a:solidFill>
                <a:latin typeface="Arial"/>
              </a:rPr>
              <a:t/>
            </a:r>
            <a:r>
              <a:rPr sz="1500" b="0" i="0">
                <a:solidFill>
                  <a:srgbClr val="21295C"/>
                </a:solidFill>
                <a:latin typeface="Arial"/>
              </a:rPr>
              <a:t>Рядом в обзорах и на страницах агрегаторов — заявленные доля попаданий и экономия перехода от попадания к лиду. У этих чисел нет ни имени проекта, ни даты, ни публикации.</a:t>
            </a:r>
          </a:p>
          <a:p>
            <a:pPr algn="l">
              <a:lnSpc>
                <a:spcPct val="126000"/>
              </a:lnSpc>
              <a:spcBef>
                <a:spcPts val="700"/>
              </a:spcBef>
            </a:pPr>
            <a:r>
              <a:rPr sz="1500" b="0" i="0">
                <a:solidFill>
                  <a:srgbClr val="21295C"/>
                </a:solidFill>
                <a:latin typeface="Arial"/>
              </a:rPr>
              <a:t/>
            </a:r>
            <a:r>
              <a:rPr sz="1500" b="1" i="0">
                <a:solidFill>
                  <a:srgbClr val="21295C"/>
                </a:solidFill>
                <a:latin typeface="Arial"/>
              </a:rPr>
              <a:t>У какого числа в вашей работе есть метод и знаменатель, а у какого — только цифра без них?</a:t>
            </a:r>
          </a:p>
        </p:txBody>
      </p:sp>
      <p:sp>
        <p:nvSpPr>
          <p:cNvPr id="14" name="Rectangle 13"/>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Классический физический перебор библиотек соединений — отраслевой обзор скрининга, technologynetworks.com. Заявленные доли попаданий и экономия перехода без имени проекта и без даты — страницы агрегаторов intuitionlabs.ai и aimagicx.com</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Воронка молекул машинного происхождения</a:t>
            </a:r>
          </a:p>
        </p:txBody>
      </p:sp>
      <p:sp>
        <p:nvSpPr>
          <p:cNvPr id="4" name="Rounded Rectangle 3"/>
          <p:cNvSpPr/>
          <p:nvPr/>
        </p:nvSpPr>
        <p:spPr>
          <a:xfrm>
            <a:off x="502920" y="1335024"/>
            <a:ext cx="2673019" cy="1832176"/>
          </a:xfrm>
          <a:prstGeom prst="roundRect">
            <a:avLst>
              <a:gd name="adj" fmla="val 16635"/>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ДОВЕСТИ НЕГОДНУЮ МОЛЕКУЛУ ДО ФАЗЫ I</a:t>
            </a:r>
          </a:p>
        </p:txBody>
      </p:sp>
      <p:sp>
        <p:nvSpPr>
          <p:cNvPr id="6" name="TextBox 5"/>
          <p:cNvSpPr txBox="1"/>
          <p:nvPr/>
        </p:nvSpPr>
        <p:spPr>
          <a:xfrm>
            <a:off x="640080" y="1863689"/>
            <a:ext cx="2398699" cy="876834"/>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месяцы работы центра, добровольцы под дозой</a:t>
            </a:r>
          </a:p>
        </p:txBody>
      </p:sp>
      <p:sp>
        <p:nvSpPr>
          <p:cNvPr id="7" name="Rounded Rectangle 6"/>
          <p:cNvSpPr/>
          <p:nvPr/>
        </p:nvSpPr>
        <p:spPr>
          <a:xfrm>
            <a:off x="3340531" y="1335024"/>
            <a:ext cx="2673019" cy="1832176"/>
          </a:xfrm>
          <a:prstGeom prst="roundRect">
            <a:avLst>
              <a:gd name="adj" fmla="val 16635"/>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ОТБРОСИТЬ ГОДНУЮ МОЛЕКУЛУ</a:t>
            </a:r>
          </a:p>
        </p:txBody>
      </p:sp>
      <p:sp>
        <p:nvSpPr>
          <p:cNvPr id="9" name="TextBox 8"/>
          <p:cNvSpPr txBox="1"/>
          <p:nvPr/>
        </p:nvSpPr>
        <p:spPr>
          <a:xfrm>
            <a:off x="3477691" y="1690796"/>
            <a:ext cx="2398699" cy="1105996"/>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терапии не будет ни у кого — цена не измеряется</a:t>
            </a:r>
          </a:p>
        </p:txBody>
      </p:sp>
      <p:sp>
        <p:nvSpPr>
          <p:cNvPr id="10" name="Rounded Rectangle 9"/>
          <p:cNvSpPr/>
          <p:nvPr/>
        </p:nvSpPr>
        <p:spPr>
          <a:xfrm>
            <a:off x="6178143" y="1335024"/>
            <a:ext cx="2673019" cy="1832176"/>
          </a:xfrm>
          <a:prstGeom prst="roundRect">
            <a:avLst>
              <a:gd name="adj" fmla="val 16635"/>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ОБА РЕЖИМА — ПЕРЕХОД ФАЗЫ I</a:t>
            </a:r>
          </a:p>
        </p:txBody>
      </p:sp>
      <p:sp>
        <p:nvSpPr>
          <p:cNvPr id="12" name="TextBox 11"/>
          <p:cNvSpPr txBox="1"/>
          <p:nvPr/>
        </p:nvSpPr>
        <p:spPr>
          <a:xfrm>
            <a:off x="6315303" y="169079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52,0 процента</a:t>
            </a:r>
          </a:p>
        </p:txBody>
      </p:sp>
      <p:sp>
        <p:nvSpPr>
          <p:cNvPr id="13" name="TextBox 12"/>
          <p:cNvSpPr txBox="1"/>
          <p:nvPr/>
        </p:nvSpPr>
        <p:spPr>
          <a:xfrm>
            <a:off x="6315303" y="2117795"/>
            <a:ext cx="2398699"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счёт того режима, с которым сравнивают любое улучшение</a:t>
            </a:r>
          </a:p>
        </p:txBody>
      </p:sp>
      <p:sp>
        <p:nvSpPr>
          <p:cNvPr id="14" name="Rounded Rectangle 13"/>
          <p:cNvSpPr/>
          <p:nvPr/>
        </p:nvSpPr>
        <p:spPr>
          <a:xfrm>
            <a:off x="9015755" y="1335024"/>
            <a:ext cx="2673019" cy="1832176"/>
          </a:xfrm>
          <a:prstGeom prst="roundRect">
            <a:avLst>
              <a:gd name="adj" fmla="val 16635"/>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52915"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ОБА РЕЖИМА — ОТ ФАЗЫ I ДО ОДОБРЕНИЯ</a:t>
            </a:r>
          </a:p>
        </p:txBody>
      </p:sp>
      <p:sp>
        <p:nvSpPr>
          <p:cNvPr id="16" name="TextBox 15"/>
          <p:cNvSpPr txBox="1"/>
          <p:nvPr/>
        </p:nvSpPr>
        <p:spPr>
          <a:xfrm>
            <a:off x="9152915" y="1863689"/>
            <a:ext cx="2398699"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7,9 процента</a:t>
            </a:r>
          </a:p>
        </p:txBody>
      </p:sp>
      <p:sp>
        <p:nvSpPr>
          <p:cNvPr id="17" name="TextBox 16"/>
          <p:cNvSpPr txBox="1"/>
          <p:nvPr/>
        </p:nvSpPr>
        <p:spPr>
          <a:xfrm>
            <a:off x="9152915" y="2290688"/>
            <a:ext cx="2398699"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одна программа из примерно тринадцати; вторую цену — отброшенную годную молекулу — измерить нельзя вовсе</a:t>
            </a:r>
          </a:p>
        </p:txBody>
      </p:sp>
      <p:sp>
        <p:nvSpPr>
          <p:cNvPr id="18" name="Rounded Rectangle 17"/>
          <p:cNvSpPr/>
          <p:nvPr/>
        </p:nvSpPr>
        <p:spPr>
          <a:xfrm>
            <a:off x="374904" y="3258640"/>
            <a:ext cx="11441887" cy="2977567"/>
          </a:xfrm>
          <a:prstGeom prst="roundRect">
            <a:avLst>
              <a:gd name="adj" fmla="val 1023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39496" y="3350080"/>
            <a:ext cx="11112703" cy="2886127"/>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Цена обеих ошибок.</a:t>
            </a:r>
            <a:r>
              <a:rPr sz="1500" b="0" i="0">
                <a:solidFill>
                  <a:srgbClr val="21295C"/>
                </a:solidFill>
                <a:latin typeface="Arial"/>
              </a:rPr>
              <a:t> Довести негодную молекулу до первой фазы — месяцы работы клинического центра, здоровые добровольцы под дозой. Отбросить годную — терапии не будет ни у кого.</a:t>
            </a:r>
          </a:p>
          <a:p>
            <a:pPr algn="l">
              <a:lnSpc>
                <a:spcPct val="126000"/>
              </a:lnSpc>
              <a:spcBef>
                <a:spcPts val="700"/>
              </a:spcBef>
            </a:pPr>
            <a:r>
              <a:rPr sz="1500" b="0" i="0">
                <a:solidFill>
                  <a:srgbClr val="21295C"/>
                </a:solidFill>
                <a:latin typeface="Arial"/>
              </a:rPr>
              <a:t/>
            </a:r>
            <a:r>
              <a:rPr sz="1500" b="1" i="0">
                <a:solidFill>
                  <a:srgbClr val="21295C"/>
                </a:solidFill>
                <a:latin typeface="Arial"/>
              </a:rPr>
              <a:t>Оба классических режима посчитаны тем же числом.</a:t>
            </a:r>
            <a:r>
              <a:rPr sz="1500" b="0" i="0">
                <a:solidFill>
                  <a:srgbClr val="21295C"/>
                </a:solidFill>
                <a:latin typeface="Arial"/>
              </a:rPr>
              <a:t> Вести в клинику всё синтезированное, и вести только то, что прошло полный экспертный отбор: у обоих переход фазы I — </a:t>
            </a:r>
            <a:r>
              <a:rPr sz="1500" b="1" i="0">
                <a:solidFill>
                  <a:srgbClr val="21295C"/>
                </a:solidFill>
                <a:latin typeface="Arial"/>
              </a:rPr>
              <a:t>52,0 процента</a:t>
            </a:r>
            <a:r>
              <a:rPr sz="1500" b="0" i="0">
                <a:solidFill>
                  <a:srgbClr val="21295C"/>
                </a:solidFill>
                <a:latin typeface="Arial"/>
              </a:rPr>
              <a:t>, переход фазы II — </a:t>
            </a:r>
            <a:r>
              <a:rPr sz="1500" b="1" i="0">
                <a:solidFill>
                  <a:srgbClr val="21295C"/>
                </a:solidFill>
                <a:latin typeface="Arial"/>
              </a:rPr>
              <a:t>28,9</a:t>
            </a:r>
            <a:r>
              <a:rPr sz="1500" b="0" i="0">
                <a:solidFill>
                  <a:srgbClr val="21295C"/>
                </a:solidFill>
                <a:latin typeface="Arial"/>
              </a:rPr>
              <a:t>, до одобрения — </a:t>
            </a:r>
            <a:r>
              <a:rPr sz="1500" b="1" i="0">
                <a:solidFill>
                  <a:srgbClr val="21295C"/>
                </a:solidFill>
                <a:latin typeface="Arial"/>
              </a:rPr>
              <a:t>7,9</a:t>
            </a:r>
            <a:r>
              <a:rPr sz="1500" b="0" i="0">
                <a:solidFill>
                  <a:srgbClr val="21295C"/>
                </a:solidFill>
                <a:latin typeface="Arial"/>
              </a:rPr>
              <a:t>.</a:t>
            </a:r>
          </a:p>
        </p:txBody>
      </p:sp>
      <p:sp>
        <p:nvSpPr>
          <p:cNvPr id="20" name="Rectangle 19"/>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BIO / QLS / Informa, Clinical Development Success Rates and Contributing Factors 2011–2020</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Молекула за год, снятая на первой фазе</a:t>
            </a:r>
          </a:p>
        </p:txBody>
      </p:sp>
      <p:sp>
        <p:nvSpPr>
          <p:cNvPr id="4" name="Rounded Rectangle 3"/>
          <p:cNvSpPr/>
          <p:nvPr/>
        </p:nvSpPr>
        <p:spPr>
          <a:xfrm>
            <a:off x="502920" y="1335024"/>
            <a:ext cx="5510631" cy="1289607"/>
          </a:xfrm>
          <a:prstGeom prst="roundRect">
            <a:avLst>
              <a:gd name="adj" fmla="val 23635"/>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ДОКЛИНИКА</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меньше двенадцати месяцев</a:t>
            </a:r>
          </a:p>
        </p:txBody>
      </p:sp>
      <p:sp>
        <p:nvSpPr>
          <p:cNvPr id="7" name="TextBox 6"/>
          <p:cNvSpPr txBox="1"/>
          <p:nvPr/>
        </p:nvSpPr>
        <p:spPr>
          <a:xfrm>
            <a:off x="640080"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заявление самой компании; что считалось началом и концом интервала, публично не раскрыто</a:t>
            </a:r>
          </a:p>
        </p:txBody>
      </p:sp>
      <p:sp>
        <p:nvSpPr>
          <p:cNvPr id="8" name="Rounded Rectangle 7"/>
          <p:cNvSpPr/>
          <p:nvPr/>
        </p:nvSpPr>
        <p:spPr>
          <a:xfrm>
            <a:off x="6178143" y="1335024"/>
            <a:ext cx="5510631" cy="1289607"/>
          </a:xfrm>
          <a:prstGeom prst="roundRect">
            <a:avLst>
              <a:gd name="adj" fmla="val 23635"/>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ОТРАСЛЕВАЯ НОРМА ДЛЯ ЭТОГО КЛАССА МИШЕНЕЙ</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четыре с половиной года</a:t>
            </a:r>
          </a:p>
        </p:txBody>
      </p:sp>
      <p:sp>
        <p:nvSpPr>
          <p:cNvPr id="11" name="TextBox 10"/>
          <p:cNvSpPr txBox="1"/>
          <p:nvPr/>
        </p:nvSpPr>
        <p:spPr>
          <a:xfrm>
            <a:off x="6315303"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тоже оценка самой компании: обе половины сравнения исходят от одной заинтересованной стороны, независимой статистики нет</a:t>
            </a:r>
          </a:p>
        </p:txBody>
      </p:sp>
      <p:sp>
        <p:nvSpPr>
          <p:cNvPr id="12" name="Rounded Rectangle 11"/>
          <p:cNvSpPr/>
          <p:nvPr/>
        </p:nvSpPr>
        <p:spPr>
          <a:xfrm>
            <a:off x="374904" y="2716071"/>
            <a:ext cx="11441887" cy="3520136"/>
          </a:xfrm>
          <a:prstGeom prst="roundRect">
            <a:avLst>
              <a:gd name="adj" fmla="val 865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2807511"/>
            <a:ext cx="11112703" cy="342869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Доклинический этап — </a:t>
            </a:r>
            <a:r>
              <a:rPr sz="1500" b="1" i="0">
                <a:solidFill>
                  <a:srgbClr val="21295C"/>
                </a:solidFill>
                <a:latin typeface="Arial"/>
              </a:rPr>
              <a:t>меньше двенадцати месяцев</a:t>
            </a:r>
            <a:r>
              <a:rPr sz="1500" b="0" i="0">
                <a:solidFill>
                  <a:srgbClr val="21295C"/>
                </a:solidFill>
                <a:latin typeface="Arial"/>
              </a:rPr>
              <a:t> против заявленных </a:t>
            </a:r>
            <a:r>
              <a:rPr sz="1500" b="1" i="0">
                <a:solidFill>
                  <a:srgbClr val="21295C"/>
                </a:solidFill>
                <a:latin typeface="Arial"/>
              </a:rPr>
              <a:t>четырёх с половиной лет</a:t>
            </a:r>
            <a:r>
              <a:rPr sz="1500" b="0" i="0">
                <a:solidFill>
                  <a:srgbClr val="21295C"/>
                </a:solidFill>
                <a:latin typeface="Arial"/>
              </a:rPr>
              <a:t> отраслевой нормы для этого класса мишеней.</a:t>
            </a:r>
          </a:p>
          <a:p>
            <a:pPr algn="l">
              <a:lnSpc>
                <a:spcPct val="126000"/>
              </a:lnSpc>
              <a:spcBef>
                <a:spcPts val="700"/>
              </a:spcBef>
            </a:pPr>
            <a:r>
              <a:rPr sz="1500" b="0" i="0">
                <a:solidFill>
                  <a:srgbClr val="21295C"/>
                </a:solidFill>
                <a:latin typeface="Arial"/>
              </a:rPr>
              <a:t/>
            </a:r>
            <a:r>
              <a:rPr sz="1500" b="0" i="0">
                <a:solidFill>
                  <a:srgbClr val="21295C"/>
                </a:solidFill>
                <a:latin typeface="Arial"/>
              </a:rPr>
              <a:t>Молекула вошла в клинику человека в январе 2020 года.</a:t>
            </a:r>
          </a:p>
          <a:p>
            <a:pPr algn="l">
              <a:lnSpc>
                <a:spcPct val="126000"/>
              </a:lnSpc>
              <a:spcBef>
                <a:spcPts val="700"/>
              </a:spcBef>
            </a:pPr>
            <a:r>
              <a:rPr sz="1500" b="0" i="0">
                <a:solidFill>
                  <a:srgbClr val="21295C"/>
                </a:solidFill>
                <a:latin typeface="Arial"/>
              </a:rPr>
              <a:t/>
            </a:r>
            <a:r>
              <a:rPr sz="1500" b="0" i="0">
                <a:solidFill>
                  <a:srgbClr val="21295C"/>
                </a:solidFill>
                <a:latin typeface="Arial"/>
              </a:rPr>
              <a:t>В январе 2022 года молекула снята: не удовлетворила критериям исследования на первой фазе. Ровно столько, сколько предсказывает база отрасли, где первая фаза пропускает дальше 52,0 процента.</a:t>
            </a:r>
          </a:p>
          <a:p>
            <a:pPr algn="l">
              <a:lnSpc>
                <a:spcPct val="126000"/>
              </a:lnSpc>
              <a:spcBef>
                <a:spcPts val="700"/>
              </a:spcBef>
            </a:pPr>
            <a:r>
              <a:rPr sz="1500" b="0" i="0">
                <a:solidFill>
                  <a:srgbClr val="21295C"/>
                </a:solidFill>
                <a:latin typeface="Arial"/>
              </a:rPr>
              <a:t/>
            </a:r>
            <a:r>
              <a:rPr sz="1500" b="0" i="0">
                <a:solidFill>
                  <a:srgbClr val="21295C"/>
                </a:solidFill>
                <a:latin typeface="Arial"/>
              </a:rPr>
              <a:t>Оба числа — доклиника и норма — заявления самой компании.</a:t>
            </a:r>
          </a:p>
        </p:txBody>
      </p:sp>
      <p:sp>
        <p:nvSpPr>
          <p:cNvPr id="14" name="Rectangle 13"/>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Отраслевой дайджест о первых спроектированных моделью кандидатах в клинике, CAS Insights, cas.org; независимые пересказы снятия молекулы на первой фазе, 2022. Первоисточник заявления о причине снятия не найден</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Переход второй фазы: не хуже базы</a:t>
            </a:r>
          </a:p>
        </p:txBody>
      </p:sp>
      <p:sp>
        <p:nvSpPr>
          <p:cNvPr id="4" name="Rounded Rectangle 3"/>
          <p:cNvSpPr/>
          <p:nvPr/>
        </p:nvSpPr>
        <p:spPr>
          <a:xfrm>
            <a:off x="502920" y="1335024"/>
            <a:ext cx="5510631" cy="1474446"/>
          </a:xfrm>
          <a:prstGeom prst="roundRect">
            <a:avLst>
              <a:gd name="adj" fmla="val 2067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МОЛЕКУЛЫ МАШИННОГО ПРОИСХОЖДЕНИЯ</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около 40 процентов</a:t>
            </a:r>
          </a:p>
        </p:txBody>
      </p:sp>
      <p:sp>
        <p:nvSpPr>
          <p:cNvPr id="7" name="TextBox 6"/>
          <p:cNvSpPr txBox="1"/>
          <p:nvPr/>
        </p:nvSpPr>
        <p:spPr>
          <a:xfrm>
            <a:off x="640080" y="2117795"/>
            <a:ext cx="5236311"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посчитано на единицах, завершивших вторую фазу к сроку среза, и ограниченность этой выборки называет сам первоисточник; авторы называют результат сопоставимым с отраслевой нормой, лучшим — нет</a:t>
            </a:r>
          </a:p>
        </p:txBody>
      </p:sp>
      <p:sp>
        <p:nvSpPr>
          <p:cNvPr id="8" name="Rounded Rectangle 7"/>
          <p:cNvSpPr/>
          <p:nvPr/>
        </p:nvSpPr>
        <p:spPr>
          <a:xfrm>
            <a:off x="6178143" y="1335024"/>
            <a:ext cx="5510631" cy="1474446"/>
          </a:xfrm>
          <a:prstGeom prst="roundRect">
            <a:avLst>
              <a:gd name="adj" fmla="val 2067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 ОТРАСЛИ</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28,9 процента</a:t>
            </a:r>
          </a:p>
        </p:txBody>
      </p:sp>
      <p:sp>
        <p:nvSpPr>
          <p:cNvPr id="11" name="TextBox 10"/>
          <p:cNvSpPr txBox="1"/>
          <p:nvPr/>
        </p:nvSpPr>
        <p:spPr>
          <a:xfrm>
            <a:off x="6315303"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4 933 перехода второй фазы внутри отчёта; вес двух сторон различается на порядки</a:t>
            </a:r>
          </a:p>
        </p:txBody>
      </p:sp>
      <p:sp>
        <p:nvSpPr>
          <p:cNvPr id="12" name="Rounded Rectangle 11"/>
          <p:cNvSpPr/>
          <p:nvPr/>
        </p:nvSpPr>
        <p:spPr>
          <a:xfrm>
            <a:off x="374904" y="2900910"/>
            <a:ext cx="11441887" cy="3335297"/>
          </a:xfrm>
          <a:prstGeom prst="roundRect">
            <a:avLst>
              <a:gd name="adj" fmla="val 91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2992350"/>
            <a:ext cx="11112703" cy="3243857"/>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Это переход против перехода: одна и та же дробь с обеих сторон.</a:t>
            </a:r>
          </a:p>
          <a:p>
            <a:pPr algn="l">
              <a:lnSpc>
                <a:spcPct val="126000"/>
              </a:lnSpc>
              <a:spcBef>
                <a:spcPts val="700"/>
              </a:spcBef>
            </a:pPr>
            <a:r>
              <a:rPr sz="1500" b="0" i="0">
                <a:solidFill>
                  <a:srgbClr val="21295C"/>
                </a:solidFill>
                <a:latin typeface="Arial"/>
              </a:rPr>
              <a:t/>
            </a:r>
            <a:r>
              <a:rPr sz="1500" b="0" i="0">
                <a:solidFill>
                  <a:srgbClr val="21295C"/>
                </a:solidFill>
                <a:latin typeface="Arial"/>
              </a:rPr>
              <a:t>Переход второй фазы у молекул машинного происхождения — </a:t>
            </a:r>
            <a:r>
              <a:rPr sz="1500" b="1" i="0">
                <a:solidFill>
                  <a:srgbClr val="21295C"/>
                </a:solidFill>
                <a:latin typeface="Arial"/>
              </a:rPr>
              <a:t>около 40 процентов</a:t>
            </a:r>
            <a:r>
              <a:rPr sz="1500" b="0" i="0">
                <a:solidFill>
                  <a:srgbClr val="21295C"/>
                </a:solidFill>
                <a:latin typeface="Arial"/>
              </a:rPr>
              <a:t> — против </a:t>
            </a:r>
            <a:r>
              <a:rPr sz="1500" b="1" i="0">
                <a:solidFill>
                  <a:srgbClr val="21295C"/>
                </a:solidFill>
                <a:latin typeface="Arial"/>
              </a:rPr>
              <a:t>28,9</a:t>
            </a:r>
            <a:r>
              <a:rPr sz="1500" b="0" i="0">
                <a:solidFill>
                  <a:srgbClr val="21295C"/>
                </a:solidFill>
                <a:latin typeface="Arial"/>
              </a:rPr>
              <a:t> по отрасли. На первой фазе те же молекулы идут заметно выше базы: 80–90 процентов против 52,0.</a:t>
            </a:r>
          </a:p>
          <a:p>
            <a:pPr algn="l">
              <a:lnSpc>
                <a:spcPct val="126000"/>
              </a:lnSpc>
              <a:spcBef>
                <a:spcPts val="700"/>
              </a:spcBef>
            </a:pPr>
            <a:r>
              <a:rPr sz="1500" b="0" i="0">
                <a:solidFill>
                  <a:srgbClr val="21295C"/>
                </a:solidFill>
                <a:latin typeface="Arial"/>
              </a:rPr>
              <a:t/>
            </a:r>
            <a:r>
              <a:rPr sz="1500" b="0" i="0">
                <a:solidFill>
                  <a:srgbClr val="21295C"/>
                </a:solidFill>
                <a:latin typeface="Arial"/>
              </a:rPr>
              <a:t>Не хуже базы.</a:t>
            </a:r>
          </a:p>
        </p:txBody>
      </p:sp>
      <p:sp>
        <p:nvSpPr>
          <p:cNvPr id="14" name="Rectangle 13"/>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Jayatunga и соавт., Drug Discovery Today, 2024; BIO / QLS / Informa, Clinical Development Success Rates 2011–2020</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Одобрений — ноль</a:t>
            </a:r>
          </a:p>
        </p:txBody>
      </p:sp>
      <p:sp>
        <p:nvSpPr>
          <p:cNvPr id="4" name="Rounded Rectangle 3"/>
          <p:cNvSpPr/>
          <p:nvPr/>
        </p:nvSpPr>
        <p:spPr>
          <a:xfrm>
            <a:off x="502920" y="1335024"/>
            <a:ext cx="2673019" cy="2222599"/>
          </a:xfrm>
          <a:prstGeom prst="roundRect">
            <a:avLst>
              <a:gd name="adj" fmla="val 13713"/>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ОДОБРЕНИЙ РЕГУЛЯТОРА</a:t>
            </a:r>
          </a:p>
        </p:txBody>
      </p:sp>
      <p:sp>
        <p:nvSpPr>
          <p:cNvPr id="6" name="TextBox 5"/>
          <p:cNvSpPr txBox="1"/>
          <p:nvPr/>
        </p:nvSpPr>
        <p:spPr>
          <a:xfrm>
            <a:off x="640080" y="1690796"/>
            <a:ext cx="2398699"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0</a:t>
            </a:r>
          </a:p>
        </p:txBody>
      </p:sp>
      <p:sp>
        <p:nvSpPr>
          <p:cNvPr id="7" name="Rounded Rectangle 6"/>
          <p:cNvSpPr/>
          <p:nvPr/>
        </p:nvSpPr>
        <p:spPr>
          <a:xfrm>
            <a:off x="3340531" y="1335024"/>
            <a:ext cx="2673019" cy="2222599"/>
          </a:xfrm>
          <a:prstGeom prst="roundRect">
            <a:avLst>
              <a:gd name="adj" fmla="val 13713"/>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77691"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АКТИВОВ В КЛИНИКЕ — ПЕРВЫЙ ЗАМЕР</a:t>
            </a:r>
          </a:p>
        </p:txBody>
      </p:sp>
      <p:sp>
        <p:nvSpPr>
          <p:cNvPr id="9" name="TextBox 8"/>
          <p:cNvSpPr txBox="1"/>
          <p:nvPr/>
        </p:nvSpPr>
        <p:spPr>
          <a:xfrm>
            <a:off x="3477691" y="1863689"/>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75 молекул</a:t>
            </a:r>
          </a:p>
        </p:txBody>
      </p:sp>
      <p:sp>
        <p:nvSpPr>
          <p:cNvPr id="10" name="TextBox 9"/>
          <p:cNvSpPr txBox="1"/>
          <p:nvPr/>
        </p:nvSpPr>
        <p:spPr>
          <a:xfrm>
            <a:off x="3477691" y="2290688"/>
            <a:ext cx="2398699"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вошли в клинику с 2015 года; 67 из них в процессе на момент анализа</a:t>
            </a:r>
          </a:p>
        </p:txBody>
      </p:sp>
      <p:sp>
        <p:nvSpPr>
          <p:cNvPr id="11" name="Rounded Rectangle 10"/>
          <p:cNvSpPr/>
          <p:nvPr/>
        </p:nvSpPr>
        <p:spPr>
          <a:xfrm>
            <a:off x="6178143" y="1335024"/>
            <a:ext cx="2673019" cy="2222599"/>
          </a:xfrm>
          <a:prstGeom prst="roundRect">
            <a:avLst>
              <a:gd name="adj" fmla="val 13713"/>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15303"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АКТИВОВ В КЛИНИКЕ — ВТОРОЙ ЗАМЕР</a:t>
            </a:r>
          </a:p>
        </p:txBody>
      </p:sp>
      <p:sp>
        <p:nvSpPr>
          <p:cNvPr id="13" name="TextBox 12"/>
          <p:cNvSpPr txBox="1"/>
          <p:nvPr/>
        </p:nvSpPr>
        <p:spPr>
          <a:xfrm>
            <a:off x="6315303" y="1863689"/>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117 активов от 63 компаний</a:t>
            </a:r>
          </a:p>
        </p:txBody>
      </p:sp>
      <p:sp>
        <p:nvSpPr>
          <p:cNvPr id="14" name="TextBox 13"/>
          <p:cNvSpPr txBox="1"/>
          <p:nvPr/>
        </p:nvSpPr>
        <p:spPr>
          <a:xfrm>
            <a:off x="6315303" y="2681111"/>
            <a:ext cx="2398699"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сам источник называет эти 117 верхней границей: заявления компаний о вкладе модели проверить нечем</a:t>
            </a:r>
          </a:p>
        </p:txBody>
      </p:sp>
      <p:sp>
        <p:nvSpPr>
          <p:cNvPr id="15" name="Rounded Rectangle 14"/>
          <p:cNvSpPr/>
          <p:nvPr/>
        </p:nvSpPr>
        <p:spPr>
          <a:xfrm>
            <a:off x="9015755" y="1335024"/>
            <a:ext cx="2673019" cy="2222599"/>
          </a:xfrm>
          <a:prstGeom prst="roundRect">
            <a:avLst>
              <a:gd name="adj" fmla="val 13713"/>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52915"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ЗАВЕРШИЛИ ФАЗУ II — ДОЛЯ ЗАВЕРШИВШИХ, НЕ ПЕРЕХОД</a:t>
            </a:r>
          </a:p>
        </p:txBody>
      </p:sp>
      <p:sp>
        <p:nvSpPr>
          <p:cNvPr id="17" name="TextBox 16"/>
          <p:cNvSpPr txBox="1"/>
          <p:nvPr/>
        </p:nvSpPr>
        <p:spPr>
          <a:xfrm>
            <a:off x="9152915" y="1863689"/>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 активов из 117</a:t>
            </a:r>
          </a:p>
        </p:txBody>
      </p:sp>
      <p:sp>
        <p:nvSpPr>
          <p:cNvPr id="18" name="TextBox 17"/>
          <p:cNvSpPr txBox="1"/>
          <p:nvPr/>
        </p:nvSpPr>
        <p:spPr>
          <a:xfrm>
            <a:off x="9152915" y="2290688"/>
            <a:ext cx="2398699"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6,8 процента; складывать эту долю с 28,9 процента перехода нельзя — у «перешли» и «завершили» разные знаменатели</a:t>
            </a:r>
          </a:p>
        </p:txBody>
      </p:sp>
      <p:sp>
        <p:nvSpPr>
          <p:cNvPr id="19" name="Rounded Rectangle 18"/>
          <p:cNvSpPr/>
          <p:nvPr/>
        </p:nvSpPr>
        <p:spPr>
          <a:xfrm>
            <a:off x="374904" y="3649063"/>
            <a:ext cx="11441887" cy="2587144"/>
          </a:xfrm>
          <a:prstGeom prst="roundRect">
            <a:avLst>
              <a:gd name="adj" fmla="val 1178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9496" y="3740503"/>
            <a:ext cx="11112703" cy="249570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Одобрений регулятора — </a:t>
            </a:r>
            <a:r>
              <a:rPr sz="1500" b="1" i="0">
                <a:solidFill>
                  <a:srgbClr val="21295C"/>
                </a:solidFill>
                <a:latin typeface="Arial"/>
              </a:rPr>
              <a:t>ноль</a:t>
            </a:r>
            <a:r>
              <a:rPr sz="1500" b="0" i="0">
                <a:solidFill>
                  <a:srgbClr val="21295C"/>
                </a:solidFill>
                <a:latin typeface="Arial"/>
              </a:rPr>
              <a:t>. При </a:t>
            </a:r>
            <a:r>
              <a:rPr sz="1500" b="1" i="0">
                <a:solidFill>
                  <a:srgbClr val="21295C"/>
                </a:solidFill>
                <a:latin typeface="Arial"/>
              </a:rPr>
              <a:t>75</a:t>
            </a:r>
            <a:r>
              <a:rPr sz="1500" b="0" i="0">
                <a:solidFill>
                  <a:srgbClr val="21295C"/>
                </a:solidFill>
                <a:latin typeface="Arial"/>
              </a:rPr>
              <a:t> активах по одному замеру и </a:t>
            </a:r>
            <a:r>
              <a:rPr sz="1500" b="1" i="0">
                <a:solidFill>
                  <a:srgbClr val="21295C"/>
                </a:solidFill>
                <a:latin typeface="Arial"/>
              </a:rPr>
              <a:t>117</a:t>
            </a:r>
            <a:r>
              <a:rPr sz="1500" b="0" i="0">
                <a:solidFill>
                  <a:srgbClr val="21295C"/>
                </a:solidFill>
                <a:latin typeface="Arial"/>
              </a:rPr>
              <a:t> по другому, за десять лет существования категории.</a:t>
            </a:r>
          </a:p>
          <a:p>
            <a:pPr algn="l">
              <a:lnSpc>
                <a:spcPct val="126000"/>
              </a:lnSpc>
              <a:spcBef>
                <a:spcPts val="700"/>
              </a:spcBef>
            </a:pPr>
            <a:r>
              <a:rPr sz="1500" b="0" i="0">
                <a:solidFill>
                  <a:srgbClr val="21295C"/>
                </a:solidFill>
                <a:latin typeface="Arial"/>
              </a:rPr>
              <a:t/>
            </a:r>
            <a:r>
              <a:rPr sz="1500" b="0" i="0">
                <a:solidFill>
                  <a:srgbClr val="21295C"/>
                </a:solidFill>
                <a:latin typeface="Arial"/>
              </a:rPr>
              <a:t>Подписанное как несопоставимое: из активов второго замера вторую фазу завершили </a:t>
            </a:r>
            <a:r>
              <a:rPr sz="1500" b="1" i="0">
                <a:solidFill>
                  <a:srgbClr val="21295C"/>
                </a:solidFill>
                <a:latin typeface="Arial"/>
              </a:rPr>
              <a:t>8 из 117</a:t>
            </a:r>
            <a:r>
              <a:rPr sz="1500" b="0" i="0">
                <a:solidFill>
                  <a:srgbClr val="21295C"/>
                </a:solidFill>
                <a:latin typeface="Arial"/>
              </a:rPr>
              <a:t> — 6,8 процента, срез 1 декабря 2025 года. Это доля завершивших, и с переходом она не складывается.</a:t>
            </a:r>
          </a:p>
          <a:p>
            <a:pPr algn="l">
              <a:lnSpc>
                <a:spcPct val="126000"/>
              </a:lnSpc>
              <a:spcBef>
                <a:spcPts val="700"/>
              </a:spcBef>
            </a:pPr>
            <a:r>
              <a:rPr sz="1500" b="0" i="0">
                <a:solidFill>
                  <a:srgbClr val="21295C"/>
                </a:solidFill>
                <a:latin typeface="Arial"/>
              </a:rPr>
              <a:t/>
            </a:r>
            <a:r>
              <a:rPr sz="1500" b="0" i="0">
                <a:solidFill>
                  <a:srgbClr val="21295C"/>
                </a:solidFill>
                <a:latin typeface="Arial"/>
              </a:rPr>
              <a:t>Одной строкой: одна молекула — третья фаза начата.</a:t>
            </a:r>
          </a:p>
        </p:txBody>
      </p:sp>
      <p:sp>
        <p:nvSpPr>
          <p:cNvPr id="21" name="Rectangle 20"/>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Haque W. и соавт., J Clin Oncol 2026, DOI 10.1200/JCO.2026.44.16_suppl.11072; Jayatunga и соавт., Drug Discovery Today, 2024</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Компания, отказавшаяся от своего обещания</a:t>
            </a:r>
          </a:p>
        </p:txBody>
      </p:sp>
      <p:sp>
        <p:nvSpPr>
          <p:cNvPr id="4" name="Rounded Rectangle 3"/>
          <p:cNvSpPr/>
          <p:nvPr/>
        </p:nvSpPr>
        <p:spPr>
          <a:xfrm>
            <a:off x="502920" y="1335024"/>
            <a:ext cx="5510631" cy="1680031"/>
          </a:xfrm>
          <a:prstGeom prst="roundRect">
            <a:avLst>
              <a:gd name="adj" fmla="val 1814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ЦЕНА ОБЕИХ ОШИБОК</a:t>
            </a:r>
          </a:p>
        </p:txBody>
      </p:sp>
      <p:sp>
        <p:nvSpPr>
          <p:cNvPr id="6" name="TextBox 5"/>
          <p:cNvSpPr txBox="1"/>
          <p:nvPr/>
        </p:nvSpPr>
        <p:spPr>
          <a:xfrm>
            <a:off x="640080" y="1690796"/>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фаза IIa целиком против терапии, которой не будет</a:t>
            </a:r>
          </a:p>
        </p:txBody>
      </p:sp>
      <p:sp>
        <p:nvSpPr>
          <p:cNvPr id="7" name="Rounded Rectangle 6"/>
          <p:cNvSpPr/>
          <p:nvPr/>
        </p:nvSpPr>
        <p:spPr>
          <a:xfrm>
            <a:off x="6178143" y="1335024"/>
            <a:ext cx="5510631" cy="1680031"/>
          </a:xfrm>
          <a:prstGeom prst="roundRect">
            <a:avLst>
              <a:gd name="adj" fmla="val 1814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КЛАССИЧЕСКИЙ РЕЖИМ — НАПОМИНАНИЕ</a:t>
            </a:r>
          </a:p>
        </p:txBody>
      </p:sp>
      <p:sp>
        <p:nvSpPr>
          <p:cNvPr id="9" name="TextBox 8"/>
          <p:cNvSpPr txBox="1"/>
          <p:nvPr/>
        </p:nvSpPr>
        <p:spPr>
          <a:xfrm>
            <a:off x="6315303" y="1690796"/>
            <a:ext cx="5236311"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28,9 процента перехода второй фазы</a:t>
            </a:r>
          </a:p>
        </p:txBody>
      </p:sp>
      <p:sp>
        <p:nvSpPr>
          <p:cNvPr id="10" name="TextBox 9"/>
          <p:cNvSpPr txBox="1"/>
          <p:nvPr/>
        </p:nvSpPr>
        <p:spPr>
          <a:xfrm>
            <a:off x="6315303" y="2508219"/>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обещание доводить препараты самостоятельно рассчитано на успех там, где отрасль даёт меньше трети: провал на этом шаге — норма воронки</a:t>
            </a:r>
          </a:p>
        </p:txBody>
      </p:sp>
      <p:sp>
        <p:nvSpPr>
          <p:cNvPr id="11" name="TextBox 10"/>
          <p:cNvSpPr txBox="1"/>
          <p:nvPr/>
        </p:nvSpPr>
        <p:spPr>
          <a:xfrm>
            <a:off x="502920" y="3252799"/>
            <a:ext cx="1289304" cy="1047510"/>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Путь</a:t>
            </a:r>
          </a:p>
        </p:txBody>
      </p:sp>
      <p:sp>
        <p:nvSpPr>
          <p:cNvPr id="12" name="Rounded Rectangle 11"/>
          <p:cNvSpPr/>
          <p:nvPr/>
        </p:nvSpPr>
        <p:spPr>
          <a:xfrm>
            <a:off x="1920240" y="3197935"/>
            <a:ext cx="2236393" cy="104751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002536" y="3280231"/>
            <a:ext cx="2071801" cy="88291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Обещание доводить препараты самостоятельно</a:t>
            </a:r>
          </a:p>
        </p:txBody>
      </p:sp>
      <p:sp>
        <p:nvSpPr>
          <p:cNvPr id="14" name="Right Arrow 13"/>
          <p:cNvSpPr/>
          <p:nvPr/>
        </p:nvSpPr>
        <p:spPr>
          <a:xfrm>
            <a:off x="4202353" y="3653110"/>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430953" y="3197935"/>
            <a:ext cx="2236393" cy="104751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13249" y="3280231"/>
            <a:ext cx="2071801" cy="88291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Фаза IIa — 91 пациент, 28 дней нанесения, точки эффективности не достигнуты</a:t>
            </a:r>
          </a:p>
        </p:txBody>
      </p:sp>
      <p:sp>
        <p:nvSpPr>
          <p:cNvPr id="17" name="Right Arrow 16"/>
          <p:cNvSpPr/>
          <p:nvPr/>
        </p:nvSpPr>
        <p:spPr>
          <a:xfrm>
            <a:off x="6713067" y="3653110"/>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941667" y="3197935"/>
            <a:ext cx="2236393" cy="104751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023963" y="3280231"/>
            <a:ext cx="2071801" cy="88291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Минус 180 рабочих мест</a:t>
            </a:r>
          </a:p>
        </p:txBody>
      </p:sp>
      <p:sp>
        <p:nvSpPr>
          <p:cNvPr id="20" name="Right Arrow 19"/>
          <p:cNvSpPr/>
          <p:nvPr/>
        </p:nvSpPr>
        <p:spPr>
          <a:xfrm>
            <a:off x="9223781" y="3653110"/>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9452381" y="3197935"/>
            <a:ext cx="2236393" cy="104751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534677" y="3280231"/>
            <a:ext cx="2071801" cy="88291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Отказ от модели бизнеса</a:t>
            </a:r>
          </a:p>
        </p:txBody>
      </p:sp>
      <p:sp>
        <p:nvSpPr>
          <p:cNvPr id="23" name="TextBox 22"/>
          <p:cNvSpPr txBox="1"/>
          <p:nvPr/>
        </p:nvSpPr>
        <p:spPr>
          <a:xfrm>
            <a:off x="502920" y="4391749"/>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Путь одной компании</a:t>
            </a:r>
          </a:p>
        </p:txBody>
      </p:sp>
      <p:sp>
        <p:nvSpPr>
          <p:cNvPr id="24" name="Rounded Rectangle 23"/>
          <p:cNvSpPr/>
          <p:nvPr/>
        </p:nvSpPr>
        <p:spPr>
          <a:xfrm>
            <a:off x="374904" y="4704603"/>
            <a:ext cx="11441887" cy="1531604"/>
          </a:xfrm>
          <a:prstGeom prst="roundRect">
            <a:avLst>
              <a:gd name="adj" fmla="val 199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39496" y="4796043"/>
            <a:ext cx="11112703" cy="1440164"/>
          </a:xfrm>
          <a:prstGeom prst="rect">
            <a:avLst/>
          </a:prstGeom>
          <a:noFill/>
        </p:spPr>
        <p:txBody>
          <a:bodyPr wrap="square" lIns="0" rIns="0" tIns="0" bIns="0" anchor="t">
            <a:spAutoFit/>
          </a:bodyPr>
          <a:lstStyle/>
          <a:p>
            <a:pPr algn="l">
              <a:lnSpc>
                <a:spcPct val="126000"/>
              </a:lnSpc>
            </a:pPr>
            <a:r>
              <a:rPr sz="1440" b="1" i="0">
                <a:solidFill>
                  <a:srgbClr val="21295C"/>
                </a:solidFill>
                <a:latin typeface="Arial"/>
              </a:rPr>
              <a:t>Цена обеих ошибок.</a:t>
            </a:r>
            <a:r>
              <a:rPr sz="1440" b="0" i="0">
                <a:solidFill>
                  <a:srgbClr val="21295C"/>
                </a:solidFill>
                <a:latin typeface="Arial"/>
              </a:rPr>
              <a:t> Обещание рассчитано на успех там, где отраслевая база даёт </a:t>
            </a:r>
            <a:r>
              <a:rPr sz="1440" b="1" i="0">
                <a:solidFill>
                  <a:srgbClr val="21295C"/>
                </a:solidFill>
                <a:latin typeface="Arial"/>
              </a:rPr>
              <a:t>28,9 процента</a:t>
            </a:r>
            <a:r>
              <a:rPr sz="1440" b="0" i="0">
                <a:solidFill>
                  <a:srgbClr val="21295C"/>
                </a:solidFill>
                <a:latin typeface="Arial"/>
              </a:rPr>
              <a:t> перехода — провал на этом шаге норма воронки.</a:t>
            </a:r>
          </a:p>
          <a:p>
            <a:pPr algn="l">
              <a:lnSpc>
                <a:spcPct val="126000"/>
              </a:lnSpc>
              <a:spcBef>
                <a:spcPts val="700"/>
              </a:spcBef>
            </a:pPr>
            <a:r>
              <a:rPr sz="1440" b="0" i="0">
                <a:solidFill>
                  <a:srgbClr val="21295C"/>
                </a:solidFill>
                <a:latin typeface="Arial"/>
              </a:rPr>
              <a:t/>
            </a:r>
            <a:r>
              <a:rPr sz="1440" b="1" i="0">
                <a:solidFill>
                  <a:srgbClr val="21295C"/>
                </a:solidFill>
                <a:latin typeface="Arial"/>
              </a:rPr>
              <a:t>Путь компании.</a:t>
            </a:r>
            <a:r>
              <a:rPr sz="1440" b="0" i="0">
                <a:solidFill>
                  <a:srgbClr val="21295C"/>
                </a:solidFill>
                <a:latin typeface="Arial"/>
              </a:rPr>
              <a:t> Обещание доводить препараты до регистрации самостоятельно → фаза IIa: </a:t>
            </a:r>
            <a:r>
              <a:rPr sz="1440" b="1" i="0">
                <a:solidFill>
                  <a:srgbClr val="21295C"/>
                </a:solidFill>
                <a:latin typeface="Arial"/>
              </a:rPr>
              <a:t>91 пациент</a:t>
            </a:r>
            <a:r>
              <a:rPr sz="1440" b="0" i="0">
                <a:solidFill>
                  <a:srgbClr val="21295C"/>
                </a:solidFill>
                <a:latin typeface="Arial"/>
              </a:rPr>
              <a:t> 18–65 лет, </a:t>
            </a:r>
            <a:r>
              <a:rPr sz="1440" b="1" i="0">
                <a:solidFill>
                  <a:srgbClr val="21295C"/>
                </a:solidFill>
                <a:latin typeface="Arial"/>
              </a:rPr>
              <a:t>28 дней</a:t>
            </a:r>
            <a:r>
              <a:rPr sz="1440" b="0" i="0">
                <a:solidFill>
                  <a:srgbClr val="21295C"/>
                </a:solidFill>
                <a:latin typeface="Arial"/>
              </a:rPr>
              <a:t> нанесения, первичная точка по безопасности достигнута, точки эффективности — нет → </a:t>
            </a:r>
            <a:r>
              <a:rPr sz="1440" b="1" i="0">
                <a:solidFill>
                  <a:srgbClr val="21295C"/>
                </a:solidFill>
                <a:latin typeface="Arial"/>
              </a:rPr>
              <a:t>минус 180 рабочих мест</a:t>
            </a:r>
            <a:r>
              <a:rPr sz="1440" b="0" i="0">
                <a:solidFill>
                  <a:srgbClr val="21295C"/>
                </a:solidFill>
                <a:latin typeface="Arial"/>
              </a:rPr>
              <a:t>, и ещё минус 30 процентов штата годом позже → отказ от собственной модели бизнеса.</a:t>
            </a:r>
          </a:p>
        </p:txBody>
      </p:sp>
      <p:sp>
        <p:nvSpPr>
          <p:cNvPr id="26" name="Rectangle 2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Сообщение компании о результатах фазы IIa, апрель 2023; отраслевая журналистика о сокращениях и смене модели бизнеса, 2023–2024 — fiercebiotech.com, biospace.com, biopharmadive.com, clinicaltrialsarena.com</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График депозитария: шаг не исчез</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Две линии по данным депозитария, 2020 → 2024.</a:t>
            </a:r>
          </a:p>
          <a:p>
            <a:pPr algn="l">
              <a:lnSpc>
                <a:spcPct val="126000"/>
              </a:lnSpc>
              <a:spcBef>
                <a:spcPts val="700"/>
              </a:spcBef>
            </a:pPr>
            <a:r>
              <a:rPr sz="1500" b="0" i="0">
                <a:solidFill>
                  <a:srgbClr val="21295C"/>
                </a:solidFill>
                <a:latin typeface="Arial"/>
              </a:rPr>
              <a:t/>
            </a:r>
            <a:r>
              <a:rPr sz="1500" b="0" i="0">
                <a:solidFill>
                  <a:srgbClr val="21295C"/>
                </a:solidFill>
                <a:latin typeface="Arial"/>
              </a:rPr>
              <a:t>Рентгеновская кристаллография — плато около девяти-десяти тысяч депозитов в год, причём </a:t>
            </a:r>
            <a:r>
              <a:rPr sz="1500" b="1" i="0">
                <a:solidFill>
                  <a:srgbClr val="21295C"/>
                </a:solidFill>
                <a:latin typeface="Arial"/>
              </a:rPr>
              <a:t>с 2015 года</a:t>
            </a:r>
            <a:r>
              <a:rPr sz="1500" b="0" i="0">
                <a:solidFill>
                  <a:srgbClr val="21295C"/>
                </a:solidFill>
                <a:latin typeface="Arial"/>
              </a:rPr>
              <a:t>, то есть задолго до появления предсказания структуры.</a:t>
            </a:r>
          </a:p>
          <a:p>
            <a:pPr algn="l">
              <a:lnSpc>
                <a:spcPct val="126000"/>
              </a:lnSpc>
              <a:spcBef>
                <a:spcPts val="700"/>
              </a:spcBef>
            </a:pPr>
            <a:r>
              <a:rPr sz="1500" b="0" i="0">
                <a:solidFill>
                  <a:srgbClr val="21295C"/>
                </a:solidFill>
                <a:latin typeface="Arial"/>
              </a:rPr>
              <a:t/>
            </a:r>
            <a:r>
              <a:rPr sz="1500" b="0" i="0">
                <a:solidFill>
                  <a:srgbClr val="21295C"/>
                </a:solidFill>
                <a:latin typeface="Arial"/>
              </a:rPr>
              <a:t>Криоэлектронная микроскопия — рост с 2 385 депозитов до 5 787, продолжающий траекторию, начатую раньше. Объём экспериментальных депозиций не упал.</a:t>
            </a:r>
          </a:p>
          <a:p>
            <a:pPr algn="l">
              <a:lnSpc>
                <a:spcPct val="126000"/>
              </a:lnSpc>
              <a:spcBef>
                <a:spcPts val="700"/>
              </a:spcBef>
            </a:pPr>
            <a:r>
              <a:rPr sz="1500" b="0" i="0">
                <a:solidFill>
                  <a:srgbClr val="21295C"/>
                </a:solidFill>
                <a:latin typeface="Arial"/>
              </a:rPr>
              <a:t/>
            </a:r>
            <a:r>
              <a:rPr sz="1500" b="0" i="0">
                <a:solidFill>
                  <a:srgbClr val="21295C"/>
                </a:solidFill>
                <a:latin typeface="Arial"/>
              </a:rPr>
              <a:t>Ожидаемая форма «шаг исчез» числами не подтверждается.</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Статистика открытого депозитария структур, депозиты по методам 2020–2024 (rcsb.org/stats) — ряды получены через вторичный пересказ, сверка по таблице архива обязательна; рецензируемый обзор 2025, DOI 10.1080/14789450.2025.2456046</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Вывод: узкое место не подешевело</a:t>
            </a:r>
          </a:p>
        </p:txBody>
      </p:sp>
      <p:sp>
        <p:nvSpPr>
          <p:cNvPr id="4" name="Rounded Rectangle 3"/>
          <p:cNvSpPr/>
          <p:nvPr/>
        </p:nvSpPr>
        <p:spPr>
          <a:xfrm>
            <a:off x="502920" y="1335024"/>
            <a:ext cx="11185855" cy="919931"/>
          </a:xfrm>
          <a:prstGeom prst="roundRect">
            <a:avLst>
              <a:gd name="adj" fmla="val 25000"/>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10911535"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ОДОБРЕНИЙ</a:t>
            </a:r>
          </a:p>
        </p:txBody>
      </p:sp>
      <p:sp>
        <p:nvSpPr>
          <p:cNvPr id="6" name="TextBox 5"/>
          <p:cNvSpPr txBox="1"/>
          <p:nvPr/>
        </p:nvSpPr>
        <p:spPr>
          <a:xfrm>
            <a:off x="640080" y="1690796"/>
            <a:ext cx="10911535"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0</a:t>
            </a:r>
          </a:p>
        </p:txBody>
      </p:sp>
      <p:sp>
        <p:nvSpPr>
          <p:cNvPr id="7" name="Rounded Rectangle 6"/>
          <p:cNvSpPr/>
          <p:nvPr/>
        </p:nvSpPr>
        <p:spPr>
          <a:xfrm>
            <a:off x="374904" y="2346395"/>
            <a:ext cx="11441887" cy="3889812"/>
          </a:xfrm>
          <a:prstGeom prst="roundRect">
            <a:avLst>
              <a:gd name="adj" fmla="val 783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39496" y="2437835"/>
            <a:ext cx="11112703" cy="379837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Форма 1.</a:t>
            </a:r>
            <a:r>
              <a:rPr sz="1500" b="0" i="0">
                <a:solidFill>
                  <a:srgbClr val="21295C"/>
                </a:solidFill>
                <a:latin typeface="Arial"/>
              </a:rPr>
              <a:t> Нагрузка переехала на другой шаг — на масштабе отрасли и на масштабе одной молекулы.</a:t>
            </a:r>
          </a:p>
          <a:p>
            <a:pPr algn="l">
              <a:lnSpc>
                <a:spcPct val="126000"/>
              </a:lnSpc>
              <a:spcBef>
                <a:spcPts val="700"/>
              </a:spcBef>
            </a:pPr>
            <a:r>
              <a:rPr sz="1500" b="0" i="0">
                <a:solidFill>
                  <a:srgbClr val="21295C"/>
                </a:solidFill>
                <a:latin typeface="Arial"/>
              </a:rPr>
              <a:t/>
            </a:r>
            <a:r>
              <a:rPr sz="1500" b="1" i="0">
                <a:solidFill>
                  <a:srgbClr val="21295C"/>
                </a:solidFill>
                <a:latin typeface="Arial"/>
              </a:rPr>
              <a:t>Форма 4а.</a:t>
            </a:r>
            <a:r>
              <a:rPr sz="1500" b="0" i="0">
                <a:solidFill>
                  <a:srgbClr val="21295C"/>
                </a:solidFill>
                <a:latin typeface="Arial"/>
              </a:rPr>
              <a:t> Объём на том же месте упал — расчётный отбор соединений под известную мишень.</a:t>
            </a:r>
          </a:p>
          <a:p>
            <a:pPr algn="l">
              <a:lnSpc>
                <a:spcPct val="126000"/>
              </a:lnSpc>
              <a:spcBef>
                <a:spcPts val="700"/>
              </a:spcBef>
            </a:pPr>
            <a:r>
              <a:rPr sz="1500" b="0" i="0">
                <a:solidFill>
                  <a:srgbClr val="21295C"/>
                </a:solidFill>
                <a:latin typeface="Arial"/>
              </a:rPr>
              <a:t/>
            </a:r>
            <a:r>
              <a:rPr sz="1500" b="1" i="0">
                <a:solidFill>
                  <a:srgbClr val="21295C"/>
                </a:solidFill>
                <a:latin typeface="Arial"/>
              </a:rPr>
              <a:t>Форма 6.</a:t>
            </a:r>
            <a:r>
              <a:rPr sz="1500" b="0" i="0">
                <a:solidFill>
                  <a:srgbClr val="21295C"/>
                </a:solidFill>
                <a:latin typeface="Arial"/>
              </a:rPr>
              <a:t> Изменился порядок работ — на масштабе модели бизнеса, не процесса одного препарата.</a:t>
            </a:r>
          </a:p>
          <a:p>
            <a:pPr algn="l">
              <a:lnSpc>
                <a:spcPct val="126000"/>
              </a:lnSpc>
              <a:spcBef>
                <a:spcPts val="700"/>
              </a:spcBef>
            </a:pPr>
            <a:r>
              <a:rPr sz="1500" b="0" i="0">
                <a:solidFill>
                  <a:srgbClr val="21295C"/>
                </a:solidFill>
                <a:latin typeface="Arial"/>
              </a:rPr>
              <a:t/>
            </a:r>
            <a:r>
              <a:rPr sz="1500" b="0" i="0">
                <a:solidFill>
                  <a:srgbClr val="21295C"/>
                </a:solidFill>
                <a:latin typeface="Arial"/>
              </a:rPr>
              <a:t>Ранний шаг подешевел многократно. Одобрений — </a:t>
            </a:r>
            <a:r>
              <a:rPr sz="1500" b="1" i="0">
                <a:solidFill>
                  <a:srgbClr val="21295C"/>
                </a:solidFill>
                <a:latin typeface="Arial"/>
              </a:rPr>
              <a:t>0</a:t>
            </a:r>
            <a:r>
              <a:rPr sz="1500" b="0" i="0">
                <a:solidFill>
                  <a:srgbClr val="21295C"/>
                </a:solidFill>
                <a:latin typeface="Arial"/>
              </a:rPr>
              <a:t>. Узкое место лежит дальше и не подешевело.</a:t>
            </a:r>
          </a:p>
          <a:p>
            <a:pPr algn="l">
              <a:lnSpc>
                <a:spcPct val="126000"/>
              </a:lnSpc>
              <a:spcBef>
                <a:spcPts val="700"/>
              </a:spcBef>
            </a:pPr>
            <a:r>
              <a:rPr sz="1500" b="0" i="0">
                <a:solidFill>
                  <a:srgbClr val="21295C"/>
                </a:solidFill>
                <a:latin typeface="Arial"/>
              </a:rPr>
              <a:t/>
            </a:r>
            <a:r>
              <a:rPr sz="1500" b="0" i="0">
                <a:solidFill>
                  <a:srgbClr val="21295C"/>
                </a:solidFill>
                <a:latin typeface="Arial"/>
              </a:rPr>
              <a:t>Инженеру: мерить пропускную способность шага, который вы не трогали.</a:t>
            </a:r>
          </a:p>
        </p:txBody>
      </p:sp>
      <p:sp>
        <p:nvSpPr>
          <p:cNvPr id="9" name="Rectangle 8"/>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Haque W. и соавт., J Clin Oncol 2026, DOI 10.1200/JCO.2026.44.16_suppl.11072; Jayatunga и соавт., Drug Discovery Today, 2024; BIO / QLS / Informa, Clinical Development Success Rates and Contributing Factors 2011–2020</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8. Что стало с теми, кто решает</a:t>
            </a:r>
          </a:p>
        </p:txBody>
      </p:sp>
      <p:sp>
        <p:nvSpPr>
          <p:cNvPr id="5" name="Rectangle 4"/>
          <p:cNvSpPr/>
          <p:nvPr/>
        </p:nvSpPr>
        <p:spPr>
          <a:xfrm>
            <a:off x="704088" y="1570238"/>
            <a:ext cx="1188720" cy="59436"/>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1844558"/>
            <a:ext cx="10984687"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Весь вечер лекция мерила работу: поток тревог, документ, воронку разработки лекарства. Ни один из этих замеров не отвечает на вопрос, что стало с человеком внутри этой работы — а он в ней остался и остался решающим.</a:t>
            </a:r>
          </a:p>
        </p:txBody>
      </p:sp>
      <p:sp>
        <p:nvSpPr>
          <p:cNvPr id="7" name="TextBox 6"/>
          <p:cNvSpPr txBox="1"/>
          <p:nvPr/>
        </p:nvSpPr>
        <p:spPr>
          <a:xfrm>
            <a:off x="704088" y="2613331"/>
            <a:ext cx="10984687"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Разборы по порядку: 1. Доля обнаружения после отключения помощника · 2. Кто теперь исполнитель · 3. Чего про доверие не измерено</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Эндоскопист после года без процедур</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Врач вернулся после года без процедур — декрет, административная должность, долгая болезнь, неважно. Диплом тот же, сертификат действующий, </a:t>
            </a:r>
            <a:r>
              <a:rPr sz="1500" b="1" i="0">
                <a:solidFill>
                  <a:srgbClr val="21295C"/>
                </a:solidFill>
                <a:latin typeface="Arial"/>
              </a:rPr>
              <a:t>допуск не отзывали</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0" i="0">
                <a:solidFill>
                  <a:srgbClr val="21295C"/>
                </a:solidFill>
                <a:latin typeface="Arial"/>
              </a:rPr>
              <a:t>Первая процедура: прибор идёт медленнее, рука ищет угол дольше, складку, за которую надо заглянуть, он проходит — и сам этого не знает, потому что обратной связи нет.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Навык здесь — расходуемое, и расходуется он молча.</a:t>
            </a:r>
          </a:p>
          <a:p>
            <a:pPr algn="l">
              <a:lnSpc>
                <a:spcPct val="126000"/>
              </a:lnSpc>
              <a:spcBef>
                <a:spcPts val="700"/>
              </a:spcBef>
            </a:pPr>
            <a:r>
              <a:rPr sz="1500" b="0" i="0">
                <a:solidFill>
                  <a:srgbClr val="21295C"/>
                </a:solidFill>
                <a:latin typeface="Arial"/>
              </a:rPr>
              <a:t/>
            </a:r>
            <a:r>
              <a:rPr sz="1500" b="0" i="0">
                <a:solidFill>
                  <a:srgbClr val="21295C"/>
                </a:solidFill>
                <a:latin typeface="Arial"/>
              </a:rPr>
              <a:t>Поэтому профессия не спрашивает врача, в форме ли он, а </a:t>
            </a:r>
            <a:r>
              <a:rPr sz="1500" b="1" i="0">
                <a:solidFill>
                  <a:srgbClr val="21295C"/>
                </a:solidFill>
                <a:latin typeface="Arial"/>
              </a:rPr>
              <a:t>считает за него</a:t>
            </a:r>
            <a:r>
              <a:rPr sz="1500" b="0" i="0">
                <a:solidFill>
                  <a:srgbClr val="21295C"/>
                </a:solidFill>
                <a:latin typeface="Arial"/>
              </a:rPr>
              <a:t> — долю обследований с находкой, по каждому врачу отдельно.</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Рекомендации профессионального общества: доля обнаружения аденом и время выведения прибора как показатели качества колоноскопии</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Цена обеих ошибок, названная до всякой точности</a:t>
            </a:r>
          </a:p>
        </p:txBody>
      </p:sp>
      <p:sp>
        <p:nvSpPr>
          <p:cNvPr id="4" name="Rounded Rectangle 3"/>
          <p:cNvSpPr/>
          <p:nvPr/>
        </p:nvSpPr>
        <p:spPr>
          <a:xfrm>
            <a:off x="502920" y="1335024"/>
            <a:ext cx="5437479" cy="3108960"/>
          </a:xfrm>
          <a:prstGeom prst="roundRect">
            <a:avLst>
              <a:gd name="adj" fmla="val 980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67512" y="1490472"/>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Пропустить образование</a:t>
            </a:r>
          </a:p>
        </p:txBody>
      </p:sp>
      <p:sp>
        <p:nvSpPr>
          <p:cNvPr id="6" name="TextBox 5"/>
          <p:cNvSpPr txBox="1"/>
          <p:nvPr/>
        </p:nvSpPr>
        <p:spPr>
          <a:xfrm>
            <a:off x="667512" y="1846650"/>
            <a:ext cx="5108295" cy="2441885"/>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остаётся в человеке до следующего обследования</a:t>
            </a:r>
          </a:p>
          <a:p>
            <a:pPr algn="l">
              <a:lnSpc>
                <a:spcPct val="126000"/>
              </a:lnSpc>
            </a:pPr>
            <a:r>
              <a:rPr sz="1450" b="0" i="0">
                <a:solidFill>
                  <a:srgbClr val="21295C"/>
                </a:solidFill>
                <a:latin typeface="Arial"/>
              </a:rPr>
              <a:t>• так возникает болезнь, найденная между обследованиями</a:t>
            </a:r>
          </a:p>
        </p:txBody>
      </p:sp>
      <p:sp>
        <p:nvSpPr>
          <p:cNvPr id="7" name="Rounded Rectangle 6"/>
          <p:cNvSpPr/>
          <p:nvPr/>
        </p:nvSpPr>
        <p:spPr>
          <a:xfrm>
            <a:off x="6251295" y="1335024"/>
            <a:ext cx="5437479" cy="3108960"/>
          </a:xfrm>
          <a:prstGeom prst="roundRect">
            <a:avLst>
              <a:gd name="adj" fmla="val 9803"/>
            </a:avLst>
          </a:prstGeom>
          <a:solidFill>
            <a:srgbClr val="FFFFFF"/>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15887" y="1490472"/>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Увидеть лишнее</a:t>
            </a:r>
          </a:p>
        </p:txBody>
      </p:sp>
      <p:sp>
        <p:nvSpPr>
          <p:cNvPr id="9" name="TextBox 8"/>
          <p:cNvSpPr txBox="1"/>
          <p:nvPr/>
        </p:nvSpPr>
        <p:spPr>
          <a:xfrm>
            <a:off x="6415887" y="1846650"/>
            <a:ext cx="5108295" cy="2441885"/>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снятие</a:t>
            </a:r>
          </a:p>
          <a:p>
            <a:pPr algn="l">
              <a:lnSpc>
                <a:spcPct val="126000"/>
              </a:lnSpc>
            </a:pPr>
            <a:r>
              <a:rPr sz="1450" b="0" i="0">
                <a:solidFill>
                  <a:srgbClr val="21295C"/>
                </a:solidFill>
                <a:latin typeface="Arial"/>
              </a:rPr>
              <a:t>• кровотечение</a:t>
            </a:r>
          </a:p>
          <a:p>
            <a:pPr algn="l">
              <a:lnSpc>
                <a:spcPct val="126000"/>
              </a:lnSpc>
            </a:pPr>
            <a:r>
              <a:rPr sz="1450" b="0" i="0">
                <a:solidFill>
                  <a:srgbClr val="21295C"/>
                </a:solidFill>
                <a:latin typeface="Arial"/>
              </a:rPr>
              <a:t>• гистология</a:t>
            </a:r>
          </a:p>
          <a:p>
            <a:pPr algn="l">
              <a:lnSpc>
                <a:spcPct val="126000"/>
              </a:lnSpc>
            </a:pPr>
            <a:r>
              <a:rPr sz="1450" b="0" i="0">
                <a:solidFill>
                  <a:srgbClr val="21295C"/>
                </a:solidFill>
                <a:latin typeface="Arial"/>
              </a:rPr>
              <a:t>• повторный визит</a:t>
            </a:r>
          </a:p>
        </p:txBody>
      </p:sp>
      <p:sp>
        <p:nvSpPr>
          <p:cNvPr id="10" name="Rounded Rectangle 9"/>
          <p:cNvSpPr/>
          <p:nvPr/>
        </p:nvSpPr>
        <p:spPr>
          <a:xfrm>
            <a:off x="374904" y="4535424"/>
            <a:ext cx="11441887" cy="1700784"/>
          </a:xfrm>
          <a:prstGeom prst="roundRect">
            <a:avLst>
              <a:gd name="adj" fmla="val 1792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9496" y="4626864"/>
            <a:ext cx="11112703" cy="160934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Обратная связь приходит через годы — поэтому плохой осмотр не чувствуется плохим.</a:t>
            </a:r>
          </a:p>
        </p:txBody>
      </p:sp>
      <p:sp>
        <p:nvSpPr>
          <p:cNvPr id="12" name="Rectangle 11"/>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Два классических режима, посчитанные в одной единице</a:t>
            </a:r>
          </a:p>
        </p:txBody>
      </p:sp>
      <p:sp>
        <p:nvSpPr>
          <p:cNvPr id="4" name="Rounded Rectangle 3"/>
          <p:cNvSpPr/>
          <p:nvPr/>
        </p:nvSpPr>
        <p:spPr>
          <a:xfrm>
            <a:off x="502920" y="1335024"/>
            <a:ext cx="5510631" cy="1289607"/>
          </a:xfrm>
          <a:prstGeom prst="roundRect">
            <a:avLst>
              <a:gd name="adj" fmla="val 23635"/>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ДИСЦИПЛИНА ОСМОТРА: БЫЛО → СТАЛО</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27,1 → 36,6 из ста процедур</a:t>
            </a:r>
          </a:p>
        </p:txBody>
      </p:sp>
      <p:sp>
        <p:nvSpPr>
          <p:cNvPr id="7" name="TextBox 6"/>
          <p:cNvSpPr txBox="1"/>
          <p:nvPr/>
        </p:nvSpPr>
        <p:spPr>
          <a:xfrm>
            <a:off x="640080"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рандомизированное испытание, 1 027 пациентов, время выведения прибора удлинили с шести минут до девяти, засекали по таймеру</a:t>
            </a:r>
          </a:p>
        </p:txBody>
      </p:sp>
      <p:sp>
        <p:nvSpPr>
          <p:cNvPr id="8" name="Rounded Rectangle 7"/>
          <p:cNvSpPr/>
          <p:nvPr/>
        </p:nvSpPr>
        <p:spPr>
          <a:xfrm>
            <a:off x="6178143" y="1335024"/>
            <a:ext cx="5510631" cy="1289607"/>
          </a:xfrm>
          <a:prstGeom prst="roundRect">
            <a:avLst>
              <a:gd name="adj" fmla="val 23635"/>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ВТОРОЙ НАБЛЮДАТЕЛЬ: БЫЛО → СТАЛО</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39,3 → 45,7 из ста процедур</a:t>
            </a:r>
          </a:p>
        </p:txBody>
      </p:sp>
      <p:sp>
        <p:nvSpPr>
          <p:cNvPr id="11" name="TextBox 10"/>
          <p:cNvSpPr txBox="1"/>
          <p:nvPr/>
        </p:nvSpPr>
        <p:spPr>
          <a:xfrm>
            <a:off x="6315303"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сводный разбор трёх рандомизированных испытаний, 1 676 пациентов; авторы обзора называют высокий риск систематической ошибки у всех включённых работ</a:t>
            </a:r>
          </a:p>
        </p:txBody>
      </p:sp>
      <p:sp>
        <p:nvSpPr>
          <p:cNvPr id="12" name="Rounded Rectangle 11"/>
          <p:cNvSpPr/>
          <p:nvPr/>
        </p:nvSpPr>
        <p:spPr>
          <a:xfrm>
            <a:off x="374904" y="2716071"/>
            <a:ext cx="11441887" cy="3520136"/>
          </a:xfrm>
          <a:prstGeom prst="roundRect">
            <a:avLst>
              <a:gd name="adj" fmla="val 865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2807511"/>
            <a:ext cx="11112703" cy="342869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Дисциплина осмотра</a:t>
            </a:r>
            <a:r>
              <a:rPr sz="1500" b="0" i="0">
                <a:solidFill>
                  <a:srgbClr val="21295C"/>
                </a:solidFill>
                <a:latin typeface="Arial"/>
              </a:rPr>
              <a:t> — извлечение прибора удлинили.</a:t>
            </a:r>
          </a:p>
          <a:p>
            <a:pPr algn="l">
              <a:lnSpc>
                <a:spcPct val="126000"/>
              </a:lnSpc>
              <a:spcBef>
                <a:spcPts val="700"/>
              </a:spcBef>
            </a:pPr>
            <a:r>
              <a:rPr sz="1500" b="0" i="0">
                <a:solidFill>
                  <a:srgbClr val="21295C"/>
                </a:solidFill>
                <a:latin typeface="Arial"/>
              </a:rPr>
              <a:t/>
            </a:r>
            <a:r>
              <a:rPr sz="1500" b="1" i="0">
                <a:solidFill>
                  <a:srgbClr val="21295C"/>
                </a:solidFill>
                <a:latin typeface="Arial"/>
              </a:rPr>
              <a:t>Второй наблюдатель в кабинете</a:t>
            </a:r>
            <a:r>
              <a:rPr sz="1500" b="0" i="0">
                <a:solidFill>
                  <a:srgbClr val="21295C"/>
                </a:solidFill>
                <a:latin typeface="Arial"/>
              </a:rPr>
              <a:t> — на тот же экран смотрит ещё один человек.</a:t>
            </a:r>
          </a:p>
          <a:p>
            <a:pPr algn="l">
              <a:lnSpc>
                <a:spcPct val="126000"/>
              </a:lnSpc>
              <a:spcBef>
                <a:spcPts val="700"/>
              </a:spcBef>
            </a:pPr>
            <a:r>
              <a:rPr sz="1500" b="0" i="0">
                <a:solidFill>
                  <a:srgbClr val="21295C"/>
                </a:solidFill>
                <a:latin typeface="Arial"/>
              </a:rPr>
              <a:t/>
            </a:r>
            <a:r>
              <a:rPr sz="1500" b="1" i="0">
                <a:solidFill>
                  <a:srgbClr val="21295C"/>
                </a:solidFill>
                <a:latin typeface="Arial"/>
              </a:rPr>
              <a:t>Оба режима не бесплатны — и оба дают прирост того же порядка, что помощник, или больше.</a:t>
            </a:r>
            <a:r>
              <a:rPr sz="1500" b="0" i="0">
                <a:solidFill>
                  <a:srgbClr val="21295C"/>
                </a:solidFill>
                <a:latin typeface="Arial"/>
              </a:rPr>
              <a:t> Первый стоит трёх минут времени врача на процедуру, второй — присутствия второго человека.</a:t>
            </a:r>
          </a:p>
          <a:p>
            <a:pPr algn="l">
              <a:lnSpc>
                <a:spcPct val="126000"/>
              </a:lnSpc>
              <a:spcBef>
                <a:spcPts val="700"/>
              </a:spcBef>
            </a:pPr>
            <a:r>
              <a:rPr sz="1500" b="0" i="0">
                <a:solidFill>
                  <a:srgbClr val="21295C"/>
                </a:solidFill>
                <a:latin typeface="Arial"/>
              </a:rPr>
              <a:t/>
            </a:r>
            <a:r>
              <a:rPr sz="1500" b="0" i="0">
                <a:solidFill>
                  <a:srgbClr val="21295C"/>
                </a:solidFill>
                <a:latin typeface="Arial"/>
              </a:rPr>
              <a:t>Базы у двух приростов разные: 27,1 и 39,3 — разные исходные доли обнаружения в разных центрах и популяциях. Два прироста между собой не сравниваются; каждый сравнивается с приростом от помощника в своей работе.</a:t>
            </a:r>
          </a:p>
        </p:txBody>
      </p:sp>
      <p:sp>
        <p:nvSpPr>
          <p:cNvPr id="14" name="Rectangle 13"/>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Zhao S., Yang X., … Bai Y., Clinical Gastroenterology and Hepatology 2022;20(2):e168–e181, DOI 10.1016/j.cgh.2020.11.019</a:t>
            </a:r>
            <a:r>
              <a:rPr sz="1100" b="0" i="1">
                <a:solidFill>
                  <a:srgbClr val="1C7293"/>
                </a:solidFill>
                <a:latin typeface="Arial"/>
              </a:rPr>
              <a:t> · </a:t>
            </a:r>
            <a:r>
              <a:rPr sz="1100" b="0" i="1">
                <a:solidFill>
                  <a:srgbClr val="1C7293"/>
                </a:solidFill>
                <a:latin typeface="Arial"/>
              </a:rPr>
              <a:t>Xu L. и соавт., Gastroenterology Research and Practice 2016;2016:7631981, DOI 10.1155/2016/7631981; Lei X. и соавт., International Journal of Colorectal Disease 2024;39(1):19, DOI 10.1007/s00384-023-04585-5</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Доля обнаружения упала там, где помощника не было</a:t>
            </a:r>
          </a:p>
        </p:txBody>
      </p:sp>
      <p:sp>
        <p:nvSpPr>
          <p:cNvPr id="4" name="Rounded Rectangle 3"/>
          <p:cNvSpPr/>
          <p:nvPr/>
        </p:nvSpPr>
        <p:spPr>
          <a:xfrm>
            <a:off x="502920" y="1335024"/>
            <a:ext cx="5510631" cy="1474446"/>
          </a:xfrm>
          <a:prstGeom prst="roundRect">
            <a:avLst>
              <a:gd name="adj" fmla="val 2067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ДОЛЯ ОБНАРУЖЕНИЯ В ПРОЦЕДУРАХ БЕЗ ПОМОЩНИКА: ДО ВНЕДРЕНИЯ → ПОСЛЕ</a:t>
            </a:r>
          </a:p>
        </p:txBody>
      </p:sp>
      <p:sp>
        <p:nvSpPr>
          <p:cNvPr id="6" name="TextBox 5"/>
          <p:cNvSpPr txBox="1"/>
          <p:nvPr/>
        </p:nvSpPr>
        <p:spPr>
          <a:xfrm>
            <a:off x="640080" y="1863689"/>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28,4 → 22,4 из ста процедур</a:t>
            </a:r>
          </a:p>
        </p:txBody>
      </p:sp>
      <p:sp>
        <p:nvSpPr>
          <p:cNvPr id="7" name="TextBox 6"/>
          <p:cNvSpPr txBox="1"/>
          <p:nvPr/>
        </p:nvSpPr>
        <p:spPr>
          <a:xfrm>
            <a:off x="640080" y="2290688"/>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226 находок на 795 процедур против 145 на 648; четыре центра, два окна по три месяца</a:t>
            </a:r>
          </a:p>
        </p:txBody>
      </p:sp>
      <p:sp>
        <p:nvSpPr>
          <p:cNvPr id="8" name="Rounded Rectangle 7"/>
          <p:cNvSpPr/>
          <p:nvPr/>
        </p:nvSpPr>
        <p:spPr>
          <a:xfrm>
            <a:off x="6178143" y="1335024"/>
            <a:ext cx="5510631" cy="1474446"/>
          </a:xfrm>
          <a:prstGeom prst="roundRect">
            <a:avLst>
              <a:gd name="adj" fmla="val 2067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ПРИВЕЛО</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минус 6,0 процентного пункта</a:t>
            </a:r>
          </a:p>
        </p:txBody>
      </p:sp>
      <p:sp>
        <p:nvSpPr>
          <p:cNvPr id="11" name="TextBox 10"/>
          <p:cNvSpPr txBox="1"/>
          <p:nvPr/>
        </p:nvSpPr>
        <p:spPr>
          <a:xfrm>
            <a:off x="6315303" y="2117795"/>
            <a:ext cx="5236311"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у девятнадцати врачей со средним стажем 28 лет при разбросе от 8 до 39 и более чем двумя тысячами колоноскопий за спиной у каждого. «Падение на пятую часть» и «шесть пунктов» — одна величина в двух выражениях</a:t>
            </a:r>
          </a:p>
        </p:txBody>
      </p:sp>
      <p:sp>
        <p:nvSpPr>
          <p:cNvPr id="12" name="Rounded Rectangle 11"/>
          <p:cNvSpPr/>
          <p:nvPr/>
        </p:nvSpPr>
        <p:spPr>
          <a:xfrm>
            <a:off x="374904" y="2900910"/>
            <a:ext cx="11441887" cy="3335297"/>
          </a:xfrm>
          <a:prstGeom prst="roundRect">
            <a:avLst>
              <a:gd name="adj" fmla="val 91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2992350"/>
            <a:ext cx="11112703" cy="3243857"/>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В четырёх центрах внедрили помощника, подсвечивающего образование на видео в реальном времени. Затем посмотрели, что стало с процедурами </a:t>
            </a:r>
            <a:r>
              <a:rPr sz="1500" b="1" i="0">
                <a:solidFill>
                  <a:srgbClr val="21295C"/>
                </a:solidFill>
                <a:latin typeface="Arial"/>
              </a:rPr>
              <a:t>без</a:t>
            </a:r>
            <a:r>
              <a:rPr sz="1500" b="0" i="0">
                <a:solidFill>
                  <a:srgbClr val="21295C"/>
                </a:solidFill>
                <a:latin typeface="Arial"/>
              </a:rPr>
              <a:t> помощника, выполненными теми же врачами.</a:t>
            </a:r>
          </a:p>
          <a:p>
            <a:pPr algn="l">
              <a:lnSpc>
                <a:spcPct val="126000"/>
              </a:lnSpc>
              <a:spcBef>
                <a:spcPts val="700"/>
              </a:spcBef>
            </a:pPr>
            <a:r>
              <a:rPr sz="1500" b="0" i="0">
                <a:solidFill>
                  <a:srgbClr val="21295C"/>
                </a:solidFill>
                <a:latin typeface="Arial"/>
              </a:rPr>
              <a:t/>
            </a:r>
            <a:r>
              <a:rPr sz="1500" b="1" i="0">
                <a:solidFill>
                  <a:srgbClr val="21295C"/>
                </a:solidFill>
                <a:latin typeface="Arial"/>
              </a:rPr>
              <a:t>Сила свидетельства — на экране, а не в заметках.</a:t>
            </a:r>
            <a:r>
              <a:rPr sz="1500" b="0" i="0">
                <a:solidFill>
                  <a:srgbClr val="21295C"/>
                </a:solidFill>
                <a:latin typeface="Arial"/>
              </a:rPr>
              <a:t> Ретроспективное наблюдательное, </a:t>
            </a:r>
            <a:r>
              <a:rPr sz="1500" b="1" i="0">
                <a:solidFill>
                  <a:srgbClr val="21295C"/>
                </a:solidFill>
                <a:latin typeface="Arial"/>
              </a:rPr>
              <a:t>не воспроизводилось</a:t>
            </a:r>
            <a:r>
              <a:rPr sz="1500" b="0" i="0">
                <a:solidFill>
                  <a:srgbClr val="21295C"/>
                </a:solidFill>
                <a:latin typeface="Arial"/>
              </a:rPr>
              <a:t>, причинности не доказывает.</a:t>
            </a:r>
          </a:p>
          <a:p>
            <a:pPr algn="l">
              <a:lnSpc>
                <a:spcPct val="126000"/>
              </a:lnSpc>
              <a:spcBef>
                <a:spcPts val="700"/>
              </a:spcBef>
            </a:pPr>
            <a:r>
              <a:rPr sz="1500" b="0" i="0">
                <a:solidFill>
                  <a:srgbClr val="21295C"/>
                </a:solidFill>
                <a:latin typeface="Arial"/>
              </a:rPr>
              <a:t/>
            </a:r>
            <a:r>
              <a:rPr sz="1500" b="1" i="0">
                <a:solidFill>
                  <a:srgbClr val="21295C"/>
                </a:solidFill>
                <a:latin typeface="Arial"/>
              </a:rPr>
              <a:t>Состав спора — тоже на экране.</a:t>
            </a:r>
            <a:r>
              <a:rPr sz="1500" b="0" i="0">
                <a:solidFill>
                  <a:srgbClr val="21295C"/>
                </a:solidFill>
                <a:latin typeface="Arial"/>
              </a:rPr>
              <a:t> Опубликованное исправление, три письма и ответ авторов: вторичные исходы </a:t>
            </a:r>
            <a:r>
              <a:rPr sz="1500" b="1" i="0">
                <a:solidFill>
                  <a:srgbClr val="21295C"/>
                </a:solidFill>
                <a:latin typeface="Arial"/>
              </a:rPr>
              <a:t>не просели</a:t>
            </a:r>
            <a:r>
              <a:rPr sz="1500" b="0" i="0">
                <a:solidFill>
                  <a:srgbClr val="21295C"/>
                </a:solidFill>
                <a:latin typeface="Arial"/>
              </a:rPr>
              <a:t>, время выведения прибора в работе </a:t>
            </a:r>
            <a:r>
              <a:rPr sz="1500" b="1" i="0">
                <a:solidFill>
                  <a:srgbClr val="21295C"/>
                </a:solidFill>
                <a:latin typeface="Arial"/>
              </a:rPr>
              <a:t>не измерено вовсе</a:t>
            </a:r>
            <a:r>
              <a:rPr sz="1500" b="0" i="0">
                <a:solidFill>
                  <a:srgbClr val="21295C"/>
                </a:solidFill>
                <a:latin typeface="Arial"/>
              </a:rPr>
              <a:t>, а нагрузка на тех же врачей выросла с </a:t>
            </a:r>
            <a:r>
              <a:rPr sz="1500" b="1" i="0">
                <a:solidFill>
                  <a:srgbClr val="21295C"/>
                </a:solidFill>
                <a:latin typeface="Arial"/>
              </a:rPr>
              <a:t>795 до 1 382 процедур</a:t>
            </a:r>
            <a:r>
              <a:rPr sz="1500" b="0" i="0">
                <a:solidFill>
                  <a:srgbClr val="21295C"/>
                </a:solidFill>
                <a:latin typeface="Arial"/>
              </a:rPr>
              <a:t> за окно. У числа 795 при этом меняется знаменатель: в раннем окне помощника ещё не было, поэтому 795 значит одновременно «без помощника» и «всего», тогда как в позднем окне эти величины расходятся — 648 без помощника и 1 382 всего.</a:t>
            </a:r>
          </a:p>
        </p:txBody>
      </p:sp>
      <p:sp>
        <p:nvSpPr>
          <p:cNvPr id="14" name="Rectangle 13"/>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Budzyń K., Romańczyk M., Kitala D. и соавт., The Lancet Gastroenterology &amp; Hepatology 2025;10(10):896–903, DOI 10.1016/S2468-1253(25)00133-5; опубликованное исправление 2025;10(11):e12, три письма и ответ авторов 2025;10(12):1060–1062</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Что это дало, чего потребовало — форма «Исполнитель тот же, но стал хуже»</a:t>
            </a:r>
          </a:p>
        </p:txBody>
      </p:sp>
      <p:sp>
        <p:nvSpPr>
          <p:cNvPr id="4" name="Rounded Rectangle 3"/>
          <p:cNvSpPr/>
          <p:nvPr/>
        </p:nvSpPr>
        <p:spPr>
          <a:xfrm>
            <a:off x="502920" y="1335024"/>
            <a:ext cx="3618890" cy="2037761"/>
          </a:xfrm>
          <a:prstGeom prst="roundRect">
            <a:avLst>
              <a:gd name="adj" fmla="val 14957"/>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РАСХОД ВИДЕН ЗА</a:t>
            </a:r>
          </a:p>
        </p:txBody>
      </p:sp>
      <p:sp>
        <p:nvSpPr>
          <p:cNvPr id="6" name="TextBox 5"/>
          <p:cNvSpPr txBox="1"/>
          <p:nvPr/>
        </p:nvSpPr>
        <p:spPr>
          <a:xfrm>
            <a:off x="640080"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три месяца</a:t>
            </a:r>
          </a:p>
        </p:txBody>
      </p:sp>
      <p:sp>
        <p:nvSpPr>
          <p:cNvPr id="7" name="TextBox 6"/>
          <p:cNvSpPr txBox="1"/>
          <p:nvPr/>
        </p:nvSpPr>
        <p:spPr>
          <a:xfrm>
            <a:off x="640080" y="2117795"/>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окно наблюдения после внедрения помощника; у врачей со средним стажем 28 лет</a:t>
            </a:r>
          </a:p>
        </p:txBody>
      </p:sp>
      <p:sp>
        <p:nvSpPr>
          <p:cNvPr id="8" name="Rounded Rectangle 7"/>
          <p:cNvSpPr/>
          <p:nvPr/>
        </p:nvSpPr>
        <p:spPr>
          <a:xfrm>
            <a:off x="4286402" y="1335024"/>
            <a:ext cx="3618890" cy="2037761"/>
          </a:xfrm>
          <a:prstGeom prst="roundRect">
            <a:avLst>
              <a:gd name="adj" fmla="val 14957"/>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23562"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ПЕРЕНОС, ДРУГАЯ ОТРАСЛЬ: ПРАКТИКА С МОДЕЛЬЮ</a:t>
            </a:r>
          </a:p>
        </p:txBody>
      </p:sp>
      <p:sp>
        <p:nvSpPr>
          <p:cNvPr id="10" name="TextBox 9"/>
          <p:cNvSpPr txBox="1"/>
          <p:nvPr/>
        </p:nvSpPr>
        <p:spPr>
          <a:xfrm>
            <a:off x="4423562" y="1863689"/>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плюс 48 процентов к контролю</a:t>
            </a:r>
          </a:p>
        </p:txBody>
      </p:sp>
      <p:sp>
        <p:nvSpPr>
          <p:cNvPr id="11" name="TextBox 10"/>
          <p:cNvSpPr txBox="1"/>
          <p:nvPr/>
        </p:nvSpPr>
        <p:spPr>
          <a:xfrm>
            <a:off x="4423562" y="2681111"/>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школьники на задачах математики, не клиницисты: полевое рандомизированное исследование с тремя группами</a:t>
            </a:r>
          </a:p>
        </p:txBody>
      </p:sp>
      <p:sp>
        <p:nvSpPr>
          <p:cNvPr id="12" name="Rounded Rectangle 11"/>
          <p:cNvSpPr/>
          <p:nvPr/>
        </p:nvSpPr>
        <p:spPr>
          <a:xfrm>
            <a:off x="8069884" y="1335024"/>
            <a:ext cx="3618890" cy="2037761"/>
          </a:xfrm>
          <a:prstGeom prst="roundRect">
            <a:avLst>
              <a:gd name="adj" fmla="val 14957"/>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ТОТ ЖЕ ПЕРЕНОС: ЭКЗАМЕН БЕЗ МОДЕЛИ</a:t>
            </a:r>
          </a:p>
        </p:txBody>
      </p:sp>
      <p:sp>
        <p:nvSpPr>
          <p:cNvPr id="14" name="TextBox 13"/>
          <p:cNvSpPr txBox="1"/>
          <p:nvPr/>
        </p:nvSpPr>
        <p:spPr>
          <a:xfrm>
            <a:off x="8207044" y="1690796"/>
            <a:ext cx="3344570"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на 17 процентов хуже контроля</a:t>
            </a:r>
          </a:p>
        </p:txBody>
      </p:sp>
      <p:sp>
        <p:nvSpPr>
          <p:cNvPr id="15" name="TextBox 14"/>
          <p:cNvSpPr txBox="1"/>
          <p:nvPr/>
        </p:nvSpPr>
        <p:spPr>
          <a:xfrm>
            <a:off x="8207044" y="2508219"/>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у группы со свободным доступом; у группы с учительскими ограничителями — примерно на уровне контроля, то есть средство тоже измерено</a:t>
            </a:r>
          </a:p>
        </p:txBody>
      </p:sp>
      <p:sp>
        <p:nvSpPr>
          <p:cNvPr id="16" name="Rounded Rectangle 15"/>
          <p:cNvSpPr/>
          <p:nvPr/>
        </p:nvSpPr>
        <p:spPr>
          <a:xfrm>
            <a:off x="374904" y="3464225"/>
            <a:ext cx="11441887" cy="2771982"/>
          </a:xfrm>
          <a:prstGeom prst="roundRect">
            <a:avLst>
              <a:gd name="adj" fmla="val 1099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3555665"/>
            <a:ext cx="11112703" cy="2680542"/>
          </a:xfrm>
          <a:prstGeom prst="rect">
            <a:avLst/>
          </a:prstGeom>
          <a:noFill/>
        </p:spPr>
        <p:txBody>
          <a:bodyPr wrap="square" lIns="0" rIns="0" tIns="0" bIns="0" anchor="t">
            <a:spAutoFit/>
          </a:bodyPr>
          <a:lstStyle/>
          <a:p>
            <a:pPr algn="l">
              <a:lnSpc>
                <a:spcPct val="126000"/>
              </a:lnSpc>
            </a:pPr>
            <a:r>
              <a:rPr sz="1140" b="1" i="0">
                <a:solidFill>
                  <a:srgbClr val="21295C"/>
                </a:solidFill>
                <a:latin typeface="Arial"/>
              </a:rPr>
              <a:t>Дало</a:t>
            </a:r>
            <a:r>
              <a:rPr sz="1140" b="0" i="0">
                <a:solidFill>
                  <a:srgbClr val="21295C"/>
                </a:solidFill>
                <a:latin typeface="Arial"/>
              </a:rPr>
              <a:t> — с помощником находят больше.</a:t>
            </a:r>
          </a:p>
          <a:p>
            <a:pPr algn="l">
              <a:lnSpc>
                <a:spcPct val="126000"/>
              </a:lnSpc>
              <a:spcBef>
                <a:spcPts val="700"/>
              </a:spcBef>
            </a:pPr>
            <a:r>
              <a:rPr sz="1140" b="0" i="0">
                <a:solidFill>
                  <a:srgbClr val="21295C"/>
                </a:solidFill>
                <a:latin typeface="Arial"/>
              </a:rPr>
              <a:t/>
            </a:r>
            <a:r>
              <a:rPr sz="1140" b="1" i="0">
                <a:solidFill>
                  <a:srgbClr val="21295C"/>
                </a:solidFill>
                <a:latin typeface="Arial"/>
              </a:rPr>
              <a:t>Потребовало</a:t>
            </a:r>
            <a:r>
              <a:rPr sz="1140" b="0" i="0">
                <a:solidFill>
                  <a:srgbClr val="21295C"/>
                </a:solidFill>
                <a:latin typeface="Arial"/>
              </a:rPr>
              <a:t> — умения искать самому.</a:t>
            </a:r>
          </a:p>
          <a:p>
            <a:pPr algn="l">
              <a:lnSpc>
                <a:spcPct val="126000"/>
              </a:lnSpc>
              <a:spcBef>
                <a:spcPts val="700"/>
              </a:spcBef>
            </a:pPr>
            <a:r>
              <a:rPr sz="1140" b="0" i="0">
                <a:solidFill>
                  <a:srgbClr val="21295C"/>
                </a:solidFill>
                <a:latin typeface="Arial"/>
              </a:rPr>
              <a:t/>
            </a:r>
            <a:r>
              <a:rPr sz="1140" b="1" i="0">
                <a:solidFill>
                  <a:srgbClr val="21295C"/>
                </a:solidFill>
                <a:latin typeface="Arial"/>
              </a:rPr>
              <a:t>В сумме</a:t>
            </a:r>
            <a:r>
              <a:rPr sz="1140" b="0" i="0">
                <a:solidFill>
                  <a:srgbClr val="21295C"/>
                </a:solidFill>
                <a:latin typeface="Arial"/>
              </a:rPr>
              <a:t> — помощник повышает результат, пока включён, и это состояние не бесплатно.</a:t>
            </a:r>
          </a:p>
          <a:p>
            <a:pPr algn="l">
              <a:lnSpc>
                <a:spcPct val="126000"/>
              </a:lnSpc>
              <a:spcBef>
                <a:spcPts val="700"/>
              </a:spcBef>
            </a:pPr>
            <a:r>
              <a:rPr sz="1140" b="0" i="0">
                <a:solidFill>
                  <a:srgbClr val="21295C"/>
                </a:solidFill>
                <a:latin typeface="Arial"/>
              </a:rPr>
              <a:t/>
            </a:r>
            <a:r>
              <a:rPr sz="1140" b="1" i="0">
                <a:solidFill>
                  <a:srgbClr val="21295C"/>
                </a:solidFill>
                <a:latin typeface="Arial"/>
              </a:rPr>
              <a:t>Форма 8 словаря: Исполнитель тот же, но стал хуже.</a:t>
            </a:r>
            <a:r>
              <a:rPr sz="1140" b="0" i="0">
                <a:solidFill>
                  <a:srgbClr val="21295C"/>
                </a:solidFill>
                <a:latin typeface="Arial"/>
              </a:rPr>
              <a:t> Место, объём, порядок шагов и рука прежние — изменилось состояние самой руки. Не форма 5: там сменилась рука, здесь рука та же, и именно на этом стоит измерение. Не форма 4а: там упал объём операции, здесь объём тот же, упала доля находок.</a:t>
            </a:r>
          </a:p>
          <a:p>
            <a:pPr algn="l">
              <a:lnSpc>
                <a:spcPct val="126000"/>
              </a:lnSpc>
              <a:spcBef>
                <a:spcPts val="700"/>
              </a:spcBef>
            </a:pPr>
            <a:r>
              <a:rPr sz="910" b="0" i="0">
                <a:solidFill>
                  <a:srgbClr val="21295C"/>
                </a:solidFill>
                <a:latin typeface="Arial"/>
              </a:rPr>
              <a:t/>
            </a:r>
            <a:r>
              <a:rPr sz="910" b="0" i="1">
                <a:solidFill>
                  <a:srgbClr val="1C7293"/>
                </a:solidFill>
                <a:latin typeface="Arial"/>
              </a:rPr>
              <a:t>режим: распознавание на видео, в реальном времени · чем делают сегодня: обнаружение образований в реальном времени, реализаций много, разница между ними мала · куда движется: от обнаружения к характеристике найденного и к счёту показателей самого врача · чего не умеет: поддерживать навык — здесь измерено обратное</a:t>
            </a:r>
          </a:p>
          <a:p>
            <a:pPr algn="l">
              <a:lnSpc>
                <a:spcPct val="126000"/>
              </a:lnSpc>
              <a:spcBef>
                <a:spcPts val="700"/>
              </a:spcBef>
            </a:pPr>
            <a:r>
              <a:rPr sz="1140" b="0" i="0">
                <a:solidFill>
                  <a:srgbClr val="21295C"/>
                </a:solidFill>
                <a:latin typeface="Arial"/>
              </a:rPr>
              <a:t/>
            </a:r>
            <a:r>
              <a:rPr sz="1140" b="0" i="0">
                <a:solidFill>
                  <a:srgbClr val="21295C"/>
                </a:solidFill>
                <a:latin typeface="Arial"/>
              </a:rPr>
              <a:t>То же явление измерено рандомизированно — но в учёбе, на примерно тысяче старшеклассников и на задачах математики: практика с моделью дала плюс 48 процентов к контролю, а экзамен без модели — на 17 процентов хуже контроля. </a:t>
            </a:r>
            <a:r>
              <a:rPr sz="1140" b="1" i="0">
                <a:solidFill>
                  <a:srgbClr val="21295C"/>
                </a:solidFill>
                <a:latin typeface="Arial"/>
              </a:rPr>
              <a:t>Повторением клинической находки это не является:</a:t>
            </a:r>
            <a:r>
              <a:rPr sz="1140" b="0" i="0">
                <a:solidFill>
                  <a:srgbClr val="21295C"/>
                </a:solidFill>
                <a:latin typeface="Arial"/>
              </a:rPr>
              <a:t> другая работа, другие люди, другая задача; строка «на реальной работе не воспроизводилось» остаётся в силе.</a:t>
            </a:r>
          </a:p>
          <a:p>
            <a:pPr algn="l">
              <a:lnSpc>
                <a:spcPct val="126000"/>
              </a:lnSpc>
              <a:spcBef>
                <a:spcPts val="700"/>
              </a:spcBef>
            </a:pPr>
            <a:r>
              <a:rPr sz="1140" b="0" i="0">
                <a:solidFill>
                  <a:srgbClr val="21295C"/>
                </a:solidFill>
                <a:latin typeface="Arial"/>
              </a:rPr>
              <a:t/>
            </a:r>
            <a:r>
              <a:rPr sz="1140" b="1" i="0">
                <a:solidFill>
                  <a:srgbClr val="21295C"/>
                </a:solidFill>
                <a:latin typeface="Arial"/>
              </a:rPr>
              <a:t>У кого за последние три месяца был рабочий день без ассистента — как он прошёл?</a:t>
            </a:r>
          </a:p>
        </p:txBody>
      </p:sp>
      <p:sp>
        <p:nvSpPr>
          <p:cNvPr id="18" name="Rectangle 17"/>
          <p:cNvSpPr/>
          <p:nvPr/>
        </p:nvSpPr>
        <p:spPr>
          <a:xfrm>
            <a:off x="502920" y="1179576"/>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Budzyń K. и соавт., The Lancet Gastroenterology &amp; Hepatology 2025;10(10):896–903, DOI 10.1016/S2468-1253(25)00133-5</a:t>
            </a:r>
            <a:r>
              <a:rPr sz="1100" b="0" i="1">
                <a:solidFill>
                  <a:srgbClr val="1C7293"/>
                </a:solidFill>
                <a:latin typeface="Arial"/>
              </a:rPr>
              <a:t> · </a:t>
            </a:r>
            <a:r>
              <a:rPr sz="1100" b="0" i="1">
                <a:solidFill>
                  <a:srgbClr val="1C7293"/>
                </a:solidFill>
                <a:latin typeface="Arial"/>
              </a:rPr>
              <a:t>Bastani H., Bastani O., Sungu A. и соавт., PNAS 2025, DOI 10.1073/pnas.2422633122</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Два пробела и одно измерение доверия</a:t>
            </a:r>
          </a:p>
        </p:txBody>
      </p:sp>
      <p:sp>
        <p:nvSpPr>
          <p:cNvPr id="4" name="Rounded Rectangle 3"/>
          <p:cNvSpPr/>
          <p:nvPr/>
        </p:nvSpPr>
        <p:spPr>
          <a:xfrm>
            <a:off x="502920" y="1335024"/>
            <a:ext cx="3618890" cy="1964832"/>
          </a:xfrm>
          <a:prstGeom prst="roundRect">
            <a:avLst>
              <a:gd name="adj" fmla="val 1551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ОДНА ОШИБКА ОБРЫВАЕТ ДОВЕРИЕ</a:t>
            </a:r>
          </a:p>
        </p:txBody>
      </p:sp>
      <p:sp>
        <p:nvSpPr>
          <p:cNvPr id="6" name="TextBox 5"/>
          <p:cNvSpPr txBox="1"/>
          <p:nvPr/>
        </p:nvSpPr>
        <p:spPr>
          <a:xfrm>
            <a:off x="640080" y="1690796"/>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опубликовано как отдельная измеренная величина</a:t>
            </a:r>
          </a:p>
        </p:txBody>
      </p:sp>
      <p:sp>
        <p:nvSpPr>
          <p:cNvPr id="7" name="Rounded Rectangle 6"/>
          <p:cNvSpPr/>
          <p:nvPr/>
        </p:nvSpPr>
        <p:spPr>
          <a:xfrm>
            <a:off x="4286402" y="1335024"/>
            <a:ext cx="3618890" cy="1964832"/>
          </a:xfrm>
          <a:prstGeom prst="roundRect">
            <a:avLst>
              <a:gd name="adj" fmla="val 1551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ДОВЕРИЕ ЗА МЕСЯЦЫ РЕАЛЬНОЙ РАБОТЫ</a:t>
            </a:r>
          </a:p>
        </p:txBody>
      </p:sp>
      <p:sp>
        <p:nvSpPr>
          <p:cNvPr id="9" name="TextBox 8"/>
          <p:cNvSpPr txBox="1"/>
          <p:nvPr/>
        </p:nvSpPr>
        <p:spPr>
          <a:xfrm>
            <a:off x="4423562"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измерено ни у кого</a:t>
            </a:r>
          </a:p>
        </p:txBody>
      </p:sp>
      <p:sp>
        <p:nvSpPr>
          <p:cNvPr id="10" name="Rounded Rectangle 9"/>
          <p:cNvSpPr/>
          <p:nvPr/>
        </p:nvSpPr>
        <p:spPr>
          <a:xfrm>
            <a:off x="8069884" y="1335024"/>
            <a:ext cx="3618890" cy="1964832"/>
          </a:xfrm>
          <a:prstGeom prst="roundRect">
            <a:avLst>
              <a:gd name="adj" fmla="val 1551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ОТКАЗ РАБОТАТЬ БЕЗ ПОМОЩНИКА</a:t>
            </a:r>
          </a:p>
        </p:txBody>
      </p:sp>
      <p:sp>
        <p:nvSpPr>
          <p:cNvPr id="12" name="TextBox 11"/>
          <p:cNvSpPr txBox="1"/>
          <p:nvPr/>
        </p:nvSpPr>
        <p:spPr>
          <a:xfrm>
            <a:off x="8207044" y="1690796"/>
            <a:ext cx="3344570" cy="732547"/>
          </a:xfrm>
          <a:prstGeom prst="rect">
            <a:avLst/>
          </a:prstGeom>
          <a:noFill/>
        </p:spPr>
        <p:txBody>
          <a:bodyPr wrap="square" lIns="0" rIns="0" tIns="0" bIns="0" anchor="t">
            <a:spAutoFit/>
          </a:bodyPr>
          <a:lstStyle/>
          <a:p>
            <a:pPr algn="l">
              <a:lnSpc>
                <a:spcPct val="108000"/>
              </a:lnSpc>
            </a:pPr>
            <a:r>
              <a:rPr sz="2050" b="1" i="0">
                <a:solidFill>
                  <a:srgbClr val="F0AB00"/>
                </a:solidFill>
                <a:latin typeface="Arial"/>
              </a:rPr>
              <a:t>от 30 до 50 из ста опытных разработчиков</a:t>
            </a:r>
          </a:p>
        </p:txBody>
      </p:sp>
      <p:sp>
        <p:nvSpPr>
          <p:cNvPr id="13" name="TextBox 12"/>
          <p:cNvSpPr txBox="1"/>
          <p:nvPr/>
        </p:nvSpPr>
        <p:spPr>
          <a:xfrm>
            <a:off x="8207044" y="2423344"/>
            <a:ext cx="3344570"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величина ОПРОСНАЯ — сказали исследователям сами участники, а не телеметрия; предмет немедицинский, это разработка программ, поэтому свидетельство числится переносом</a:t>
            </a:r>
          </a:p>
        </p:txBody>
      </p:sp>
      <p:sp>
        <p:nvSpPr>
          <p:cNvPr id="14" name="Rounded Rectangle 13"/>
          <p:cNvSpPr/>
          <p:nvPr/>
        </p:nvSpPr>
        <p:spPr>
          <a:xfrm>
            <a:off x="374904" y="3391296"/>
            <a:ext cx="11441887" cy="2844911"/>
          </a:xfrm>
          <a:prstGeom prst="roundRect">
            <a:avLst>
              <a:gd name="adj" fmla="val 1071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39496" y="3482736"/>
            <a:ext cx="11112703" cy="2753471"/>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От чего человек отказывается — видно; что он думает о доверии — нет.</a:t>
            </a:r>
          </a:p>
          <a:p>
            <a:pPr algn="l">
              <a:lnSpc>
                <a:spcPct val="126000"/>
              </a:lnSpc>
              <a:spcBef>
                <a:spcPts val="700"/>
              </a:spcBef>
            </a:pPr>
            <a:r>
              <a:rPr sz="1500" b="0" i="0">
                <a:solidFill>
                  <a:srgbClr val="21295C"/>
                </a:solidFill>
                <a:latin typeface="Arial"/>
              </a:rPr>
              <a:t/>
            </a:r>
            <a:r>
              <a:rPr sz="1500" b="0" i="0">
                <a:solidFill>
                  <a:srgbClr val="21295C"/>
                </a:solidFill>
                <a:latin typeface="Arial"/>
              </a:rPr>
              <a:t>Единственное управляемое средство: если человеку дают хоть немного поправить прогноз модели, он не бросает её после ошибки.</a:t>
            </a:r>
          </a:p>
        </p:txBody>
      </p:sp>
      <p:sp>
        <p:nvSpPr>
          <p:cNvPr id="16" name="Rectangle 1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METR, обновление замера производительности разработчиков, 24 февраля 2026</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Кто теперь исполнитель и какие шаги появились</a:t>
            </a:r>
          </a:p>
        </p:txBody>
      </p:sp>
      <p:sp>
        <p:nvSpPr>
          <p:cNvPr id="4" name="Rounded Rectangle 3"/>
          <p:cNvSpPr/>
          <p:nvPr/>
        </p:nvSpPr>
        <p:spPr>
          <a:xfrm>
            <a:off x="502920" y="1335024"/>
            <a:ext cx="3618890" cy="1844122"/>
          </a:xfrm>
          <a:prstGeom prst="roundRect">
            <a:avLst>
              <a:gd name="adj" fmla="val 16528"/>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ОБЪЁМ ЧЕЛОВЕЧЕСКОГО ЧТЕНИЯ</a:t>
            </a:r>
          </a:p>
        </p:txBody>
      </p:sp>
      <p:sp>
        <p:nvSpPr>
          <p:cNvPr id="6" name="TextBox 5"/>
          <p:cNvSpPr txBox="1"/>
          <p:nvPr/>
        </p:nvSpPr>
        <p:spPr>
          <a:xfrm>
            <a:off x="640080"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ниже на 44,3 процента</a:t>
            </a:r>
          </a:p>
        </p:txBody>
      </p:sp>
      <p:sp>
        <p:nvSpPr>
          <p:cNvPr id="7" name="TextBox 6"/>
          <p:cNvSpPr txBox="1"/>
          <p:nvPr/>
        </p:nvSpPr>
        <p:spPr>
          <a:xfrm>
            <a:off x="640080" y="2117795"/>
            <a:ext cx="3344570" cy="924190"/>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промежуточный анализ безопасности, 80 033 женщины — это его собственная выборка; единого числа по разным внедрениям одной идеи нет, и разброса в опубликованных числах тоже: у прежней пары величин источник сверку не прошёл</a:t>
            </a:r>
          </a:p>
        </p:txBody>
      </p:sp>
      <p:sp>
        <p:nvSpPr>
          <p:cNvPr id="8" name="Rounded Rectangle 7"/>
          <p:cNvSpPr/>
          <p:nvPr/>
        </p:nvSpPr>
        <p:spPr>
          <a:xfrm>
            <a:off x="4286402" y="1335024"/>
            <a:ext cx="3618890" cy="1844122"/>
          </a:xfrm>
          <a:prstGeom prst="roundRect">
            <a:avLst>
              <a:gd name="adj" fmla="val 16528"/>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23562"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ЗАВИСИМОСТЬ ОТ ПРЕЖНЕГО КОНТАКТА: ВЕРНУВШИЕСЯ</a:t>
            </a:r>
          </a:p>
        </p:txBody>
      </p:sp>
      <p:sp>
        <p:nvSpPr>
          <p:cNvPr id="10" name="TextBox 9"/>
          <p:cNvSpPr txBox="1"/>
          <p:nvPr/>
        </p:nvSpPr>
        <p:spPr>
          <a:xfrm>
            <a:off x="4423562" y="1863689"/>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минус 18 процентов</a:t>
            </a:r>
          </a:p>
        </p:txBody>
      </p:sp>
      <p:sp>
        <p:nvSpPr>
          <p:cNvPr id="11" name="TextBox 10"/>
          <p:cNvSpPr txBox="1"/>
          <p:nvPr/>
        </p:nvSpPr>
        <p:spPr>
          <a:xfrm>
            <a:off x="4423562" y="2290688"/>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точечная оценка; доверительный интервал накрыл ноль</a:t>
            </a:r>
          </a:p>
        </p:txBody>
      </p:sp>
      <p:sp>
        <p:nvSpPr>
          <p:cNvPr id="12" name="Rounded Rectangle 11"/>
          <p:cNvSpPr/>
          <p:nvPr/>
        </p:nvSpPr>
        <p:spPr>
          <a:xfrm>
            <a:off x="8069884" y="1335024"/>
            <a:ext cx="3618890" cy="1844122"/>
          </a:xfrm>
          <a:prstGeom prst="roundRect">
            <a:avLst>
              <a:gd name="adj" fmla="val 16528"/>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ЗАВИСИМОСТЬ ОТ ПРЕЖНЕГО КОНТАКТА: НОВЫЕ</a:t>
            </a:r>
          </a:p>
        </p:txBody>
      </p:sp>
      <p:sp>
        <p:nvSpPr>
          <p:cNvPr id="14" name="TextBox 13"/>
          <p:cNvSpPr txBox="1"/>
          <p:nvPr/>
        </p:nvSpPr>
        <p:spPr>
          <a:xfrm>
            <a:off x="8207044" y="169079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минус 4 процента</a:t>
            </a:r>
          </a:p>
        </p:txBody>
      </p:sp>
      <p:sp>
        <p:nvSpPr>
          <p:cNvPr id="15" name="TextBox 14"/>
          <p:cNvSpPr txBox="1"/>
          <p:nvPr/>
        </p:nvSpPr>
        <p:spPr>
          <a:xfrm>
            <a:off x="8207044" y="2117795"/>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знак отрицательный в обеих группах, значимости нет ни в одной; «вернувшиеся» и «новые» — это опыт участия в самом замере, а не стаж в профессии</a:t>
            </a:r>
          </a:p>
        </p:txBody>
      </p:sp>
      <p:sp>
        <p:nvSpPr>
          <p:cNvPr id="16" name="TextBox 15"/>
          <p:cNvSpPr txBox="1"/>
          <p:nvPr/>
        </p:nvSpPr>
        <p:spPr>
          <a:xfrm>
            <a:off x="502920" y="3416890"/>
            <a:ext cx="1289304" cy="457200"/>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До</a:t>
            </a:r>
          </a:p>
        </p:txBody>
      </p:sp>
      <p:sp>
        <p:nvSpPr>
          <p:cNvPr id="17" name="Rounded Rectangle 16"/>
          <p:cNvSpPr/>
          <p:nvPr/>
        </p:nvSpPr>
        <p:spPr>
          <a:xfrm>
            <a:off x="1920240" y="3362026"/>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002536" y="3444322"/>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снимок</a:t>
            </a:r>
          </a:p>
        </p:txBody>
      </p:sp>
      <p:sp>
        <p:nvSpPr>
          <p:cNvPr id="19" name="Right Arrow 18"/>
          <p:cNvSpPr/>
          <p:nvPr/>
        </p:nvSpPr>
        <p:spPr>
          <a:xfrm>
            <a:off x="5039258" y="3522046"/>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267858" y="3362026"/>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50154" y="3444322"/>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первый читатель</a:t>
            </a:r>
          </a:p>
        </p:txBody>
      </p:sp>
      <p:sp>
        <p:nvSpPr>
          <p:cNvPr id="22" name="Right Arrow 21"/>
          <p:cNvSpPr/>
          <p:nvPr/>
        </p:nvSpPr>
        <p:spPr>
          <a:xfrm>
            <a:off x="8386876" y="3522046"/>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8615476" y="3362026"/>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697772" y="3444322"/>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второй читатель</a:t>
            </a:r>
          </a:p>
        </p:txBody>
      </p:sp>
      <p:sp>
        <p:nvSpPr>
          <p:cNvPr id="25" name="TextBox 24"/>
          <p:cNvSpPr txBox="1"/>
          <p:nvPr/>
        </p:nvSpPr>
        <p:spPr>
          <a:xfrm>
            <a:off x="502920" y="4020394"/>
            <a:ext cx="1289304" cy="457200"/>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После</a:t>
            </a:r>
          </a:p>
        </p:txBody>
      </p:sp>
      <p:sp>
        <p:nvSpPr>
          <p:cNvPr id="26" name="Rounded Rectangle 25"/>
          <p:cNvSpPr/>
          <p:nvPr/>
        </p:nvSpPr>
        <p:spPr>
          <a:xfrm>
            <a:off x="1920240" y="3965530"/>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002536" y="4047826"/>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снимок</a:t>
            </a:r>
          </a:p>
        </p:txBody>
      </p:sp>
      <p:sp>
        <p:nvSpPr>
          <p:cNvPr id="28" name="Right Arrow 27"/>
          <p:cNvSpPr/>
          <p:nvPr/>
        </p:nvSpPr>
        <p:spPr>
          <a:xfrm>
            <a:off x="5039258" y="4125550"/>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5267858" y="3965530"/>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350154" y="4047826"/>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модель</a:t>
            </a:r>
          </a:p>
        </p:txBody>
      </p:sp>
      <p:sp>
        <p:nvSpPr>
          <p:cNvPr id="31" name="Right Arrow 30"/>
          <p:cNvSpPr/>
          <p:nvPr/>
        </p:nvSpPr>
        <p:spPr>
          <a:xfrm>
            <a:off x="8386876" y="4125550"/>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8615476" y="3965530"/>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697772" y="4047826"/>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арбитр при расхождении</a:t>
            </a:r>
          </a:p>
        </p:txBody>
      </p:sp>
      <p:sp>
        <p:nvSpPr>
          <p:cNvPr id="34" name="TextBox 33"/>
          <p:cNvSpPr txBox="1"/>
          <p:nvPr/>
        </p:nvSpPr>
        <p:spPr>
          <a:xfrm>
            <a:off x="502920" y="4569034"/>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поток решения до и после</a:t>
            </a:r>
          </a:p>
        </p:txBody>
      </p:sp>
      <p:sp>
        <p:nvSpPr>
          <p:cNvPr id="35" name="Rounded Rectangle 34"/>
          <p:cNvSpPr/>
          <p:nvPr/>
        </p:nvSpPr>
        <p:spPr>
          <a:xfrm>
            <a:off x="374904" y="4881888"/>
            <a:ext cx="11441887" cy="1354319"/>
          </a:xfrm>
          <a:prstGeom prst="roundRect">
            <a:avLst>
              <a:gd name="adj" fmla="val 22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39496" y="4973328"/>
            <a:ext cx="11112703" cy="126287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Появилась роль посредника</a:t>
            </a:r>
            <a:r>
              <a:rPr sz="1500" b="0" i="0">
                <a:solidFill>
                  <a:srgbClr val="21295C"/>
                </a:solidFill>
                <a:latin typeface="Arial"/>
              </a:rPr>
              <a:t> — модель даёт вывод, человек переводит его на язык, которому поверит врач; доверие выше у тех, кто работает с моделью руками.</a:t>
            </a:r>
          </a:p>
          <a:p>
            <a:pPr algn="l">
              <a:lnSpc>
                <a:spcPct val="126000"/>
              </a:lnSpc>
              <a:spcBef>
                <a:spcPts val="700"/>
              </a:spcBef>
            </a:pPr>
            <a:r>
              <a:rPr sz="1500" b="0" i="0">
                <a:solidFill>
                  <a:srgbClr val="21295C"/>
                </a:solidFill>
                <a:latin typeface="Arial"/>
              </a:rPr>
              <a:t/>
            </a:r>
            <a:r>
              <a:rPr sz="1500" b="1" i="0">
                <a:solidFill>
                  <a:srgbClr val="21295C"/>
                </a:solidFill>
                <a:latin typeface="Arial"/>
              </a:rPr>
              <a:t>Появился целевой арбитраж</a:t>
            </a:r>
            <a:r>
              <a:rPr sz="1500" b="0" i="0">
                <a:solidFill>
                  <a:srgbClr val="21295C"/>
                </a:solidFill>
                <a:latin typeface="Arial"/>
              </a:rPr>
              <a:t>, а рутинная перепроверка каждого случая ушла.</a:t>
            </a:r>
          </a:p>
          <a:p>
            <a:pPr algn="l">
              <a:lnSpc>
                <a:spcPct val="126000"/>
              </a:lnSpc>
              <a:spcBef>
                <a:spcPts val="700"/>
              </a:spcBef>
            </a:pPr>
            <a:r>
              <a:rPr sz="1500" b="0" i="0">
                <a:solidFill>
                  <a:srgbClr val="21295C"/>
                </a:solidFill>
                <a:latin typeface="Arial"/>
              </a:rPr>
              <a:t/>
            </a:r>
            <a:r>
              <a:rPr sz="1500" b="0" i="0">
                <a:solidFill>
                  <a:srgbClr val="21295C"/>
                </a:solidFill>
                <a:latin typeface="Arial"/>
              </a:rPr>
              <a:t>Третья строка — измеренная зависимость: точечные оценки есть, </a:t>
            </a:r>
            <a:r>
              <a:rPr sz="1500" b="1" i="0">
                <a:solidFill>
                  <a:srgbClr val="21295C"/>
                </a:solidFill>
                <a:latin typeface="Arial"/>
              </a:rPr>
              <a:t>значимости нет</a:t>
            </a:r>
            <a:r>
              <a:rPr sz="1500" b="0" i="0">
                <a:solidFill>
                  <a:srgbClr val="21295C"/>
                </a:solidFill>
                <a:latin typeface="Arial"/>
              </a:rPr>
              <a:t>.</a:t>
            </a:r>
          </a:p>
        </p:txBody>
      </p:sp>
      <p:sp>
        <p:nvSpPr>
          <p:cNvPr id="37" name="Rectangle 36"/>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Качественное исследование внедрения модели раннего предупреждения, JMIR, 2020, пятнадцать интервью</a:t>
            </a:r>
            <a:r>
              <a:rPr sz="1100" b="0" i="1">
                <a:solidFill>
                  <a:srgbClr val="1C7293"/>
                </a:solidFill>
                <a:latin typeface="Arial"/>
              </a:rPr>
              <a:t> · </a:t>
            </a:r>
            <a:r>
              <a:rPr sz="1100" b="0" i="1">
                <a:solidFill>
                  <a:srgbClr val="1C7293"/>
                </a:solidFill>
                <a:latin typeface="Arial"/>
              </a:rPr>
              <a:t>Рандомизированное исследование шведской программы скрининга, промежуточный анализ безопасности</a:t>
            </a:r>
            <a:r>
              <a:rPr sz="1100" b="0" i="1">
                <a:solidFill>
                  <a:srgbClr val="1C7293"/>
                </a:solidFill>
                <a:latin typeface="Arial"/>
              </a:rPr>
              <a:t> · </a:t>
            </a:r>
            <a:r>
              <a:rPr sz="1100" b="0" i="1">
                <a:solidFill>
                  <a:srgbClr val="1C7293"/>
                </a:solidFill>
                <a:latin typeface="Arial"/>
              </a:rPr>
              <a:t>METR, обновление замера производительности разработчиков, 24 февраля 2026</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Навык — расходуемое, и расход измерен один раз</a:t>
            </a:r>
          </a:p>
        </p:txBody>
      </p:sp>
      <p:sp>
        <p:nvSpPr>
          <p:cNvPr id="4" name="Rounded Rectangle 3"/>
          <p:cNvSpPr/>
          <p:nvPr/>
        </p:nvSpPr>
        <p:spPr>
          <a:xfrm>
            <a:off x="502920" y="1335024"/>
            <a:ext cx="11185855" cy="1104769"/>
          </a:xfrm>
          <a:prstGeom prst="roundRect">
            <a:avLst>
              <a:gd name="adj" fmla="val 25000"/>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10911535"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ЦЕЛЕВЫХ ПОПЫТОК ПОИСКА ПОВТОРЕНИЯ</a:t>
            </a:r>
          </a:p>
        </p:txBody>
      </p:sp>
      <p:sp>
        <p:nvSpPr>
          <p:cNvPr id="6" name="TextBox 5"/>
          <p:cNvSpPr txBox="1"/>
          <p:nvPr/>
        </p:nvSpPr>
        <p:spPr>
          <a:xfrm>
            <a:off x="640080" y="1690796"/>
            <a:ext cx="10911535"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22 попытки</a:t>
            </a:r>
          </a:p>
        </p:txBody>
      </p:sp>
      <p:sp>
        <p:nvSpPr>
          <p:cNvPr id="7" name="TextBox 6"/>
          <p:cNvSpPr txBox="1"/>
          <p:nvPr/>
        </p:nvSpPr>
        <p:spPr>
          <a:xfrm>
            <a:off x="640080" y="2117795"/>
            <a:ext cx="1091153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восемнадцать поисковых формулировок плюс четыре целевых обращения к журналам и базе диссертаций; это число про поиск, о самом предмете оно не говорит ничего</a:t>
            </a:r>
          </a:p>
        </p:txBody>
      </p:sp>
      <p:sp>
        <p:nvSpPr>
          <p:cNvPr id="8" name="Rounded Rectangle 7"/>
          <p:cNvSpPr/>
          <p:nvPr/>
        </p:nvSpPr>
        <p:spPr>
          <a:xfrm>
            <a:off x="374904" y="2531233"/>
            <a:ext cx="11441887" cy="3704974"/>
          </a:xfrm>
          <a:prstGeom prst="roundRect">
            <a:avLst>
              <a:gd name="adj" fmla="val 82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39496" y="2622673"/>
            <a:ext cx="11112703" cy="361353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На реальной работе измерено однажды</a:t>
            </a:r>
            <a:r>
              <a:rPr sz="1500" b="0" i="0">
                <a:solidFill>
                  <a:srgbClr val="21295C"/>
                </a:solidFill>
                <a:latin typeface="Arial"/>
              </a:rPr>
              <a:t> — падение доли обнаружения, с опубликованным исправлением и тремя письмами.</a:t>
            </a:r>
          </a:p>
          <a:p>
            <a:pPr algn="l">
              <a:lnSpc>
                <a:spcPct val="126000"/>
              </a:lnSpc>
              <a:spcBef>
                <a:spcPts val="700"/>
              </a:spcBef>
            </a:pPr>
            <a:r>
              <a:rPr sz="1500" b="0" i="0">
                <a:solidFill>
                  <a:srgbClr val="21295C"/>
                </a:solidFill>
                <a:latin typeface="Arial"/>
              </a:rPr>
              <a:t/>
            </a:r>
            <a:r>
              <a:rPr sz="1500" b="1" i="0">
                <a:solidFill>
                  <a:srgbClr val="21295C"/>
                </a:solidFill>
                <a:latin typeface="Arial"/>
              </a:rPr>
              <a:t>Повторения на реальной работе нет</a:t>
            </a:r>
            <a:r>
              <a:rPr sz="1500" b="0" i="0">
                <a:solidFill>
                  <a:srgbClr val="21295C"/>
                </a:solidFill>
                <a:latin typeface="Arial"/>
              </a:rPr>
              <a:t>, и пробел назван числом.</a:t>
            </a:r>
          </a:p>
          <a:p>
            <a:pPr algn="l">
              <a:lnSpc>
                <a:spcPct val="126000"/>
              </a:lnSpc>
              <a:spcBef>
                <a:spcPts val="700"/>
              </a:spcBef>
            </a:pPr>
            <a:r>
              <a:rPr sz="1500" b="0" i="0">
                <a:solidFill>
                  <a:srgbClr val="21295C"/>
                </a:solidFill>
                <a:latin typeface="Arial"/>
              </a:rPr>
              <a:t/>
            </a:r>
            <a:r>
              <a:rPr sz="1500" b="1" i="0">
                <a:solidFill>
                  <a:srgbClr val="21295C"/>
                </a:solidFill>
                <a:latin typeface="Arial"/>
              </a:rPr>
              <a:t>Продольного измерения для тех, кто учился сразу с ассистентом, не существует вовсе</a:t>
            </a:r>
            <a:r>
              <a:rPr sz="1500" b="0" i="0">
                <a:solidFill>
                  <a:srgbClr val="21295C"/>
                </a:solidFill>
                <a:latin typeface="Arial"/>
              </a:rPr>
              <a:t> — про людей в этой аудитории данных нет ни у кого.</a:t>
            </a:r>
          </a:p>
          <a:p>
            <a:pPr algn="l">
              <a:lnSpc>
                <a:spcPct val="126000"/>
              </a:lnSpc>
              <a:spcBef>
                <a:spcPts val="700"/>
              </a:spcBef>
            </a:pPr>
            <a:r>
              <a:rPr sz="1500" b="0" i="0">
                <a:solidFill>
                  <a:srgbClr val="21295C"/>
                </a:solidFill>
                <a:latin typeface="Arial"/>
              </a:rPr>
              <a:t/>
            </a:r>
            <a:r>
              <a:rPr sz="1500" b="0" i="0">
                <a:solidFill>
                  <a:srgbClr val="21295C"/>
                </a:solidFill>
                <a:latin typeface="Arial"/>
              </a:rPr>
              <a:t>Матрица ниже — третий слой «чем держат» — имеет одну пустую клетку: </a:t>
            </a:r>
            <a:r>
              <a:rPr sz="1500" b="1" i="0">
                <a:solidFill>
                  <a:srgbClr val="21295C"/>
                </a:solidFill>
                <a:latin typeface="Arial"/>
              </a:rPr>
              <a:t>процедуры, измеряющей результат врача без помощника, не существует ни у кого.</a:t>
            </a:r>
          </a:p>
          <a:p>
            <a:pPr algn="l">
              <a:lnSpc>
                <a:spcPct val="126000"/>
              </a:lnSpc>
              <a:spcBef>
                <a:spcPts val="700"/>
              </a:spcBef>
            </a:pPr>
            <a:r>
              <a:rPr sz="1500" b="0" i="0">
                <a:solidFill>
                  <a:srgbClr val="21295C"/>
                </a:solidFill>
                <a:latin typeface="Arial"/>
              </a:rPr>
              <a:t/>
            </a:r>
            <a:r>
              <a:rPr sz="1500" b="0" i="0">
                <a:solidFill>
                  <a:srgbClr val="21295C"/>
                </a:solidFill>
                <a:latin typeface="Arial"/>
              </a:rPr>
              <a:t>Дальше мы складываем вечер — девять форм, счёт красной линии и ответ на вопрос лекции.</a:t>
            </a:r>
          </a:p>
        </p:txBody>
      </p:sp>
      <p:sp>
        <p:nvSpPr>
          <p:cNvPr id="10" name="Rectangle 9"/>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Свод раздела: Budzyń K. и соавт., The Lancet Gastroenterology &amp; Hepatology 2025;10(10):896–903, DOI 10.1016/S2468-1253(25)00133-5, с опубликованным исправлением и тремя письмами; пробелы раздела — итог целевого поиска: повторения на реальной работе нет, продольного измерения нет вовсе</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9. Сборка</a:t>
            </a:r>
          </a:p>
        </p:txBody>
      </p:sp>
      <p:sp>
        <p:nvSpPr>
          <p:cNvPr id="5" name="Rectangle 4"/>
          <p:cNvSpPr/>
          <p:nvPr/>
        </p:nvSpPr>
        <p:spPr>
          <a:xfrm>
            <a:off x="704088" y="1570238"/>
            <a:ext cx="1188720" cy="59436"/>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1844558"/>
            <a:ext cx="10984687"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Весь вечер лекция разбирала случаи по одному. Здесь они складываются в счёт: чем платили, сколько раз выигрыш приписали не тому, на каком уровне вообще измеряли результат.</a:t>
            </a:r>
          </a:p>
        </p:txBody>
      </p:sp>
      <p:sp>
        <p:nvSpPr>
          <p:cNvPr id="7" name="TextBox 6"/>
          <p:cNvSpPr txBox="1"/>
          <p:nvPr/>
        </p:nvSpPr>
        <p:spPr>
          <a:xfrm>
            <a:off x="704088" y="2613331"/>
            <a:ext cx="10984687" cy="124493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Своды по порядку: 1. Где работа и сколько её: пять форм из девяти · 2. Кто её делает, когда и чем платит: четыре формы, включая новую · 3. Столько раз за вечер выигрыш был приписан не тому · 4. Что мы вообще измеряли: четыре ступени · 5. Клетки узнаваемые, процедуры другие · 6. Что меняется в человеке, в процессе и в подписи · 7. Четыре разных ответа на один вопрос</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Где работа и сколько её: пять форм из девяти</a:t>
            </a:r>
          </a:p>
        </p:txBody>
      </p:sp>
      <p:sp>
        <p:nvSpPr>
          <p:cNvPr id="4" name="Rounded Rectangle 3"/>
          <p:cNvSpPr/>
          <p:nvPr/>
        </p:nvSpPr>
        <p:spPr>
          <a:xfrm>
            <a:off x="502920" y="1335024"/>
            <a:ext cx="5510631" cy="1680031"/>
          </a:xfrm>
          <a:prstGeom prst="roundRect">
            <a:avLst>
              <a:gd name="adj" fmla="val 1814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ШАГ ПОЯВИЛСЯ: ОБЪЁМ РАЗБОРА РАСХОЖДЕНИЙ</a:t>
            </a:r>
          </a:p>
        </p:txBody>
      </p:sp>
      <p:sp>
        <p:nvSpPr>
          <p:cNvPr id="6" name="TextBox 5"/>
          <p:cNvSpPr txBox="1"/>
          <p:nvPr/>
        </p:nvSpPr>
        <p:spPr>
          <a:xfrm>
            <a:off x="640080" y="1690796"/>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вырос на 53 процента при падении первичных чтений вдвое</a:t>
            </a:r>
          </a:p>
        </p:txBody>
      </p:sp>
      <p:sp>
        <p:nvSpPr>
          <p:cNvPr id="7" name="TextBox 6"/>
          <p:cNvSpPr txBox="1"/>
          <p:nvPr/>
        </p:nvSpPr>
        <p:spPr>
          <a:xfrm>
            <a:off x="640080" y="2508219"/>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разброс между двумя центрами — от 22 до 142 процентов на одной и той же идее: протоколы арбитража разные</a:t>
            </a:r>
          </a:p>
        </p:txBody>
      </p:sp>
      <p:sp>
        <p:nvSpPr>
          <p:cNvPr id="8" name="Rounded Rectangle 7"/>
          <p:cNvSpPr/>
          <p:nvPr/>
        </p:nvSpPr>
        <p:spPr>
          <a:xfrm>
            <a:off x="6178143" y="1335024"/>
            <a:ext cx="5510631" cy="1680031"/>
          </a:xfrm>
          <a:prstGeom prst="roundRect">
            <a:avLst>
              <a:gd name="adj" fmla="val 1814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ОДИН РАЗБОР РАСХОЖДЕНИЯ ПРОТИВ ОДНОГО ЧТЕНИЯ</a:t>
            </a:r>
          </a:p>
        </p:txBody>
      </p:sp>
      <p:sp>
        <p:nvSpPr>
          <p:cNvPr id="10" name="TextBox 9"/>
          <p:cNvSpPr txBox="1"/>
          <p:nvPr/>
        </p:nvSpPr>
        <p:spPr>
          <a:xfrm>
            <a:off x="6315303" y="1690796"/>
            <a:ext cx="5236311"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дольше в 4,6 раза по медианам · в 2,75 по средним</a:t>
            </a:r>
          </a:p>
        </p:txBody>
      </p:sp>
      <p:sp>
        <p:nvSpPr>
          <p:cNvPr id="11" name="TextBox 10"/>
          <p:cNvSpPr txBox="1"/>
          <p:nvPr/>
        </p:nvSpPr>
        <p:spPr>
          <a:xfrm>
            <a:off x="6315303" y="2508219"/>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48 секунд среднего чтения против 2 минут 12 секунд среднего разбора; по медианам — 25 секунд против 1 минуты 55 секунд</a:t>
            </a:r>
          </a:p>
        </p:txBody>
      </p:sp>
      <p:sp>
        <p:nvSpPr>
          <p:cNvPr id="12" name="Rounded Rectangle 11"/>
          <p:cNvSpPr/>
          <p:nvPr/>
        </p:nvSpPr>
        <p:spPr>
          <a:xfrm>
            <a:off x="374904" y="3106495"/>
            <a:ext cx="11441887" cy="3129712"/>
          </a:xfrm>
          <a:prstGeom prst="roundRect">
            <a:avLst>
              <a:gd name="adj" fmla="val 97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3197935"/>
            <a:ext cx="11112703" cy="3038272"/>
          </a:xfrm>
          <a:prstGeom prst="rect">
            <a:avLst/>
          </a:prstGeom>
          <a:noFill/>
        </p:spPr>
        <p:txBody>
          <a:bodyPr wrap="square" lIns="0" rIns="0" tIns="0" bIns="0" anchor="t">
            <a:spAutoFit/>
          </a:bodyPr>
          <a:lstStyle/>
          <a:p>
            <a:pPr algn="l">
              <a:lnSpc>
                <a:spcPct val="126000"/>
              </a:lnSpc>
            </a:pPr>
            <a:r>
              <a:rPr sz="1350" b="0" i="0">
                <a:solidFill>
                  <a:srgbClr val="21295C"/>
                </a:solidFill>
                <a:latin typeface="Arial"/>
              </a:rPr>
              <a:t>Во входе сказано, чем платят: вниманием, навыком, подписью и арбитражем. Здесь это посчитано формами.</a:t>
            </a:r>
          </a:p>
          <a:p>
            <a:pPr algn="l">
              <a:lnSpc>
                <a:spcPct val="126000"/>
              </a:lnSpc>
              <a:spcBef>
                <a:spcPts val="700"/>
              </a:spcBef>
            </a:pPr>
            <a:r>
              <a:rPr sz="1350" b="0" i="0">
                <a:solidFill>
                  <a:srgbClr val="21295C"/>
                </a:solidFill>
                <a:latin typeface="Arial"/>
              </a:rPr>
              <a:t/>
            </a:r>
            <a:r>
              <a:rPr sz="1350" b="0" i="0">
                <a:solidFill>
                  <a:srgbClr val="21295C"/>
                </a:solidFill>
                <a:latin typeface="Arial"/>
              </a:rPr>
              <a:t>• </a:t>
            </a:r>
            <a:r>
              <a:rPr sz="1350" b="1" i="0">
                <a:solidFill>
                  <a:srgbClr val="21295C"/>
                </a:solidFill>
                <a:latin typeface="Arial"/>
              </a:rPr>
              <a:t>1. Нагрузка переехала на другой шаг</a:t>
            </a:r>
            <a:r>
              <a:rPr sz="1350" b="0" i="0">
                <a:solidFill>
                  <a:srgbClr val="21295C"/>
                </a:solidFill>
                <a:latin typeface="Arial"/>
              </a:rPr>
              <a:t> — воронка молекул ИИ-происхождения против базы отрасли: одобрений регулятора </a:t>
            </a:r>
            <a:r>
              <a:rPr sz="1350" b="1" i="0">
                <a:solidFill>
                  <a:srgbClr val="21295C"/>
                </a:solidFill>
                <a:latin typeface="Arial"/>
              </a:rPr>
              <a:t>ноль</a:t>
            </a:r>
            <a:r>
              <a:rPr sz="1350" b="0" i="0">
                <a:solidFill>
                  <a:srgbClr val="21295C"/>
                </a:solidFill>
                <a:latin typeface="Arial"/>
              </a:rPr>
              <a:t>.</a:t>
            </a:r>
          </a:p>
          <a:p>
            <a:pPr algn="l">
              <a:lnSpc>
                <a:spcPct val="126000"/>
              </a:lnSpc>
              <a:spcBef>
                <a:spcPts val="700"/>
              </a:spcBef>
            </a:pPr>
            <a:r>
              <a:rPr sz="1350" b="0" i="0">
                <a:solidFill>
                  <a:srgbClr val="21295C"/>
                </a:solidFill>
                <a:latin typeface="Arial"/>
              </a:rPr>
              <a:t/>
            </a:r>
            <a:r>
              <a:rPr sz="1350" b="0" i="0">
                <a:solidFill>
                  <a:srgbClr val="21295C"/>
                </a:solidFill>
                <a:latin typeface="Arial"/>
              </a:rPr>
              <a:t>• </a:t>
            </a:r>
            <a:r>
              <a:rPr sz="1350" b="1" i="0">
                <a:solidFill>
                  <a:srgbClr val="21295C"/>
                </a:solidFill>
                <a:latin typeface="Arial"/>
              </a:rPr>
              <a:t>2. Шаг исчез совсем</a:t>
            </a:r>
            <a:r>
              <a:rPr sz="1350" b="0" i="0">
                <a:solidFill>
                  <a:srgbClr val="21295C"/>
                </a:solidFill>
                <a:latin typeface="Arial"/>
              </a:rPr>
              <a:t> — </a:t>
            </a:r>
            <a:r>
              <a:rPr sz="1350" b="0" i="1">
                <a:solidFill>
                  <a:srgbClr val="21295C"/>
                </a:solidFill>
                <a:latin typeface="Arial"/>
              </a:rPr>
              <a:t>ни одного подтверждённого случая за вечер.</a:t>
            </a:r>
            <a:r>
              <a:rPr sz="1350" b="0" i="0">
                <a:solidFill>
                  <a:srgbClr val="21295C"/>
                </a:solidFill>
                <a:latin typeface="Arial"/>
              </a:rPr>
              <a:t> Три кандидата проверены, у каждого взамен появился новый шаг.</a:t>
            </a:r>
          </a:p>
          <a:p>
            <a:pPr algn="l">
              <a:lnSpc>
                <a:spcPct val="126000"/>
              </a:lnSpc>
              <a:spcBef>
                <a:spcPts val="700"/>
              </a:spcBef>
            </a:pPr>
            <a:r>
              <a:rPr sz="1350" b="0" i="0">
                <a:solidFill>
                  <a:srgbClr val="21295C"/>
                </a:solidFill>
                <a:latin typeface="Arial"/>
              </a:rPr>
              <a:t/>
            </a:r>
            <a:r>
              <a:rPr sz="1350" b="0" i="0">
                <a:solidFill>
                  <a:srgbClr val="21295C"/>
                </a:solidFill>
                <a:latin typeface="Arial"/>
              </a:rPr>
              <a:t>• </a:t>
            </a:r>
            <a:r>
              <a:rPr sz="1350" b="1" i="0">
                <a:solidFill>
                  <a:srgbClr val="21295C"/>
                </a:solidFill>
                <a:latin typeface="Arial"/>
              </a:rPr>
              <a:t>3. Шаг появился</a:t>
            </a:r>
            <a:r>
              <a:rPr sz="1350" b="0" i="0">
                <a:solidFill>
                  <a:srgbClr val="21295C"/>
                </a:solidFill>
                <a:latin typeface="Arial"/>
              </a:rPr>
              <a:t> — разбор расхождения при замене второго читателя моделью; разбор и отклонение тревоги как статья рабочего времени; служба контроля качества заметок со своим штатом; заранее утверждённый план изменений модели.</a:t>
            </a:r>
          </a:p>
          <a:p>
            <a:pPr algn="l">
              <a:lnSpc>
                <a:spcPct val="126000"/>
              </a:lnSpc>
              <a:spcBef>
                <a:spcPts val="700"/>
              </a:spcBef>
            </a:pPr>
            <a:r>
              <a:rPr sz="1350" b="0" i="0">
                <a:solidFill>
                  <a:srgbClr val="21295C"/>
                </a:solidFill>
                <a:latin typeface="Arial"/>
              </a:rPr>
              <a:t/>
            </a:r>
            <a:r>
              <a:rPr sz="1350" b="0" i="0">
                <a:solidFill>
                  <a:srgbClr val="21295C"/>
                </a:solidFill>
                <a:latin typeface="Arial"/>
              </a:rPr>
              <a:t>• </a:t>
            </a:r>
            <a:r>
              <a:rPr sz="1350" b="1" i="0">
                <a:solidFill>
                  <a:srgbClr val="21295C"/>
                </a:solidFill>
                <a:latin typeface="Arial"/>
              </a:rPr>
              <a:t>4. Нагрузка выросла на том же месте</a:t>
            </a:r>
            <a:r>
              <a:rPr sz="1350" b="0" i="0">
                <a:solidFill>
                  <a:srgbClr val="21295C"/>
                </a:solidFill>
                <a:latin typeface="Arial"/>
              </a:rPr>
              <a:t> — модель раннего предупреждения: тревога приходит часто, подтверждается редко.</a:t>
            </a:r>
          </a:p>
          <a:p>
            <a:pPr algn="l">
              <a:lnSpc>
                <a:spcPct val="126000"/>
              </a:lnSpc>
              <a:spcBef>
                <a:spcPts val="700"/>
              </a:spcBef>
            </a:pPr>
            <a:r>
              <a:rPr sz="1350" b="0" i="0">
                <a:solidFill>
                  <a:srgbClr val="21295C"/>
                </a:solidFill>
                <a:latin typeface="Arial"/>
              </a:rPr>
              <a:t/>
            </a:r>
            <a:r>
              <a:rPr sz="1350" b="0" i="0">
                <a:solidFill>
                  <a:srgbClr val="21295C"/>
                </a:solidFill>
                <a:latin typeface="Arial"/>
              </a:rPr>
              <a:t>• </a:t>
            </a:r>
            <a:r>
              <a:rPr sz="1350" b="1" i="0">
                <a:solidFill>
                  <a:srgbClr val="21295C"/>
                </a:solidFill>
                <a:latin typeface="Arial"/>
              </a:rPr>
              <a:t>4а. Нагрузка на том же месте упала</a:t>
            </a:r>
            <a:r>
              <a:rPr sz="1350" b="0" i="0">
                <a:solidFill>
                  <a:srgbClr val="21295C"/>
                </a:solidFill>
                <a:latin typeface="Arial"/>
              </a:rPr>
              <a:t> — составление расписания медсестёр.</a:t>
            </a:r>
          </a:p>
          <a:p>
            <a:pPr algn="l">
              <a:lnSpc>
                <a:spcPct val="126000"/>
              </a:lnSpc>
              <a:spcBef>
                <a:spcPts val="700"/>
              </a:spcBef>
            </a:pPr>
            <a:r>
              <a:rPr sz="1080" b="0" i="0">
                <a:solidFill>
                  <a:srgbClr val="21295C"/>
                </a:solidFill>
                <a:latin typeface="Arial"/>
              </a:rPr>
              <a:t/>
            </a:r>
            <a:r>
              <a:rPr sz="1080" b="0" i="1">
                <a:solidFill>
                  <a:srgbClr val="1C7293"/>
                </a:solidFill>
                <a:latin typeface="Arial"/>
              </a:rPr>
              <a:t>Среднее по приросту разбора расхождений без разброса не произносится: в одном центре прирост был заметно больше, чем в другом, потому что протоколы арбитража разные. Устройство нового шага само задаёт нагрузку, и «модель вторым читателем» — семейство конфигураций, а не одно число.</a:t>
            </a:r>
          </a:p>
          <a:p>
            <a:pPr algn="l">
              <a:lnSpc>
                <a:spcPct val="126000"/>
              </a:lnSpc>
              <a:spcBef>
                <a:spcPts val="700"/>
              </a:spcBef>
            </a:pPr>
            <a:r>
              <a:rPr sz="1080" b="0" i="0">
                <a:solidFill>
                  <a:srgbClr val="21295C"/>
                </a:solidFill>
                <a:latin typeface="Arial"/>
              </a:rPr>
              <a:t/>
            </a:r>
            <a:r>
              <a:rPr sz="1080" b="0" i="1">
                <a:solidFill>
                  <a:srgbClr val="1C7293"/>
                </a:solidFill>
                <a:latin typeface="Arial"/>
              </a:rPr>
              <a:t>Кратность названа двумя счётами, потому что по медианам и по средним она разная.</a:t>
            </a:r>
          </a:p>
        </p:txBody>
      </p:sp>
      <p:sp>
        <p:nvSpPr>
          <p:cNvPr id="14" name="Rectangle 13"/>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650" b="1" i="0">
                <a:solidFill>
                  <a:srgbClr val="21295C"/>
                </a:solidFill>
                <a:latin typeface="Arial"/>
              </a:rPr>
              <a:t>Кто её делает, когда и чем платит: четыре формы, включая новую</a:t>
            </a:r>
          </a:p>
        </p:txBody>
      </p:sp>
      <p:sp>
        <p:nvSpPr>
          <p:cNvPr id="4" name="Rounded Rectangle 3"/>
          <p:cNvSpPr/>
          <p:nvPr/>
        </p:nvSpPr>
        <p:spPr>
          <a:xfrm>
            <a:off x="502920" y="1335024"/>
            <a:ext cx="3618890" cy="1864869"/>
          </a:xfrm>
          <a:prstGeom prst="roundRect">
            <a:avLst>
              <a:gd name="adj" fmla="val 16344"/>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ИСПОЛНИТЕЛЬ ТОТ ЖЕ, НО СТАЛ ХУЖЕ: ДОЛЯ ОБНАРУЖЕНИЯ ДО → ПОСЛЕ</a:t>
            </a:r>
          </a:p>
        </p:txBody>
      </p:sp>
      <p:sp>
        <p:nvSpPr>
          <p:cNvPr id="6" name="TextBox 5"/>
          <p:cNvSpPr txBox="1"/>
          <p:nvPr/>
        </p:nvSpPr>
        <p:spPr>
          <a:xfrm>
            <a:off x="640080" y="1863689"/>
            <a:ext cx="3344570"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28,4 → 22,4 из ста процедур</a:t>
            </a:r>
          </a:p>
        </p:txBody>
      </p:sp>
      <p:sp>
        <p:nvSpPr>
          <p:cNvPr id="7" name="TextBox 6"/>
          <p:cNvSpPr txBox="1"/>
          <p:nvPr/>
        </p:nvSpPr>
        <p:spPr>
          <a:xfrm>
            <a:off x="640080" y="2681111"/>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в процедурах БЕЗ помощника, у тех же девятнадцати врачей; минус 6,0 процентного пункта</a:t>
            </a:r>
          </a:p>
        </p:txBody>
      </p:sp>
      <p:sp>
        <p:nvSpPr>
          <p:cNvPr id="8" name="Rounded Rectangle 7"/>
          <p:cNvSpPr/>
          <p:nvPr/>
        </p:nvSpPr>
        <p:spPr>
          <a:xfrm>
            <a:off x="4286402" y="1335024"/>
            <a:ext cx="3618890" cy="1864869"/>
          </a:xfrm>
          <a:prstGeom prst="roundRect">
            <a:avLst>
              <a:gd name="adj" fmla="val 16344"/>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ИСПОЛНИТЕЛЬ СМЕНИЛСЯ</a:t>
            </a:r>
          </a:p>
        </p:txBody>
      </p:sp>
      <p:sp>
        <p:nvSpPr>
          <p:cNvPr id="10" name="TextBox 9"/>
          <p:cNvSpPr txBox="1"/>
          <p:nvPr/>
        </p:nvSpPr>
        <p:spPr>
          <a:xfrm>
            <a:off x="4423562"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нагрузка чтения ниже на 44,3 процента</a:t>
            </a:r>
          </a:p>
        </p:txBody>
      </p:sp>
      <p:sp>
        <p:nvSpPr>
          <p:cNvPr id="11" name="TextBox 10"/>
          <p:cNvSpPr txBox="1"/>
          <p:nvPr/>
        </p:nvSpPr>
        <p:spPr>
          <a:xfrm>
            <a:off x="4423562" y="2508219"/>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при большем числе найденных раков; промежуточный анализ безопасности, 80 033 женщины — его собственная выборка</a:t>
            </a:r>
          </a:p>
        </p:txBody>
      </p:sp>
      <p:sp>
        <p:nvSpPr>
          <p:cNvPr id="12" name="Rounded Rectangle 11"/>
          <p:cNvSpPr/>
          <p:nvPr/>
        </p:nvSpPr>
        <p:spPr>
          <a:xfrm>
            <a:off x="8069884" y="1335024"/>
            <a:ext cx="3618890" cy="1864869"/>
          </a:xfrm>
          <a:prstGeom prst="roundRect">
            <a:avLst>
              <a:gd name="adj" fmla="val 16344"/>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СМЕСТИЛАСЬ ЦЕНА ОШИБКИ</a:t>
            </a:r>
          </a:p>
        </p:txBody>
      </p:sp>
      <p:sp>
        <p:nvSpPr>
          <p:cNvPr id="14" name="TextBox 13"/>
          <p:cNvSpPr txBox="1"/>
          <p:nvPr/>
        </p:nvSpPr>
        <p:spPr>
          <a:xfrm>
            <a:off x="8207044" y="1690796"/>
            <a:ext cx="3344570" cy="596748"/>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способность вмешаться проверена у 56 изделий из 717</a:t>
            </a:r>
          </a:p>
        </p:txBody>
      </p:sp>
      <p:sp>
        <p:nvSpPr>
          <p:cNvPr id="15" name="TextBox 14"/>
          <p:cNvSpPr txBox="1"/>
          <p:nvPr/>
        </p:nvSpPr>
        <p:spPr>
          <a:xfrm>
            <a:off x="8207044" y="2287545"/>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срез июнь 2024 года, радиологические изделия с доступной документацией подачи</a:t>
            </a:r>
          </a:p>
        </p:txBody>
      </p:sp>
      <p:sp>
        <p:nvSpPr>
          <p:cNvPr id="16" name="Rounded Rectangle 15"/>
          <p:cNvSpPr/>
          <p:nvPr/>
        </p:nvSpPr>
        <p:spPr>
          <a:xfrm>
            <a:off x="374904" y="3291333"/>
            <a:ext cx="11441887" cy="2944874"/>
          </a:xfrm>
          <a:prstGeom prst="roundRect">
            <a:avLst>
              <a:gd name="adj" fmla="val 1035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3382773"/>
            <a:ext cx="11112703" cy="2853434"/>
          </a:xfrm>
          <a:prstGeom prst="rect">
            <a:avLst/>
          </a:prstGeom>
          <a:noFill/>
        </p:spPr>
        <p:txBody>
          <a:bodyPr wrap="square" lIns="0" rIns="0" tIns="0" bIns="0" anchor="t">
            <a:spAutoFit/>
          </a:bodyPr>
          <a:lstStyle/>
          <a:p>
            <a:pPr algn="l">
              <a:lnSpc>
                <a:spcPct val="126000"/>
              </a:lnSpc>
            </a:pPr>
            <a:r>
              <a:rPr sz="1350" b="0" i="0">
                <a:solidFill>
                  <a:srgbClr val="21295C"/>
                </a:solidFill>
                <a:latin typeface="Arial"/>
              </a:rPr>
              <a:t>• </a:t>
            </a:r>
            <a:r>
              <a:rPr sz="1350" b="1" i="0">
                <a:solidFill>
                  <a:srgbClr val="21295C"/>
                </a:solidFill>
                <a:latin typeface="Arial"/>
              </a:rPr>
              <a:t>5. Исполнитель сменился</a:t>
            </a:r>
            <a:r>
              <a:rPr sz="1350" b="0" i="0">
                <a:solidFill>
                  <a:srgbClr val="21295C"/>
                </a:solidFill>
                <a:latin typeface="Arial"/>
              </a:rPr>
              <a:t> — замена одного из двух читателей моделью; и обратной стороной — пара «врач плюс модель» хуже самой модели.</a:t>
            </a:r>
          </a:p>
          <a:p>
            <a:pPr algn="l">
              <a:lnSpc>
                <a:spcPct val="126000"/>
              </a:lnSpc>
              <a:spcBef>
                <a:spcPts val="700"/>
              </a:spcBef>
            </a:pPr>
            <a:r>
              <a:rPr sz="1350" b="0" i="0">
                <a:solidFill>
                  <a:srgbClr val="21295C"/>
                </a:solidFill>
                <a:latin typeface="Arial"/>
              </a:rPr>
              <a:t/>
            </a:r>
            <a:r>
              <a:rPr sz="1350" b="0" i="0">
                <a:solidFill>
                  <a:srgbClr val="21295C"/>
                </a:solidFill>
                <a:latin typeface="Arial"/>
              </a:rPr>
              <a:t>• </a:t>
            </a:r>
            <a:r>
              <a:rPr sz="1350" b="1" i="0">
                <a:solidFill>
                  <a:srgbClr val="21295C"/>
                </a:solidFill>
                <a:latin typeface="Arial"/>
              </a:rPr>
              <a:t>6. Изменился порядок работ</a:t>
            </a:r>
            <a:r>
              <a:rPr sz="1350" b="0" i="0">
                <a:solidFill>
                  <a:srgbClr val="21295C"/>
                </a:solidFill>
                <a:latin typeface="Arial"/>
              </a:rPr>
              <a:t> — сортировка до приёма. </a:t>
            </a:r>
            <a:r>
              <a:rPr sz="1350" b="0" i="1">
                <a:solidFill>
                  <a:srgbClr val="21295C"/>
                </a:solidFill>
                <a:latin typeface="Arial"/>
              </a:rPr>
              <a:t>Числа у этой формы на своде нет: порядок работ переставлен, но посчитан там не был.</a:t>
            </a:r>
          </a:p>
          <a:p>
            <a:pPr algn="l">
              <a:lnSpc>
                <a:spcPct val="126000"/>
              </a:lnSpc>
              <a:spcBef>
                <a:spcPts val="700"/>
              </a:spcBef>
            </a:pPr>
            <a:r>
              <a:rPr sz="1350" b="0" i="0">
                <a:solidFill>
                  <a:srgbClr val="21295C"/>
                </a:solidFill>
                <a:latin typeface="Arial"/>
              </a:rPr>
              <a:t/>
            </a:r>
            <a:r>
              <a:rPr sz="1350" b="0" i="0">
                <a:solidFill>
                  <a:srgbClr val="21295C"/>
                </a:solidFill>
                <a:latin typeface="Arial"/>
              </a:rPr>
              <a:t>• </a:t>
            </a:r>
            <a:r>
              <a:rPr sz="1350" b="1" i="0">
                <a:solidFill>
                  <a:srgbClr val="21295C"/>
                </a:solidFill>
                <a:latin typeface="Arial"/>
              </a:rPr>
              <a:t>7. Сместилась цена ошибки</a:t>
            </a:r>
            <a:r>
              <a:rPr sz="1350" b="0" i="0">
                <a:solidFill>
                  <a:srgbClr val="21295C"/>
                </a:solidFill>
                <a:latin typeface="Arial"/>
              </a:rPr>
              <a:t> — разрыв между нормой и проверкой.</a:t>
            </a:r>
          </a:p>
          <a:p>
            <a:pPr algn="l">
              <a:lnSpc>
                <a:spcPct val="126000"/>
              </a:lnSpc>
              <a:spcBef>
                <a:spcPts val="700"/>
              </a:spcBef>
            </a:pPr>
            <a:r>
              <a:rPr sz="1350" b="0" i="0">
                <a:solidFill>
                  <a:srgbClr val="21295C"/>
                </a:solidFill>
                <a:latin typeface="Arial"/>
              </a:rPr>
              <a:t/>
            </a:r>
            <a:r>
              <a:rPr sz="1350" b="0" i="0">
                <a:solidFill>
                  <a:srgbClr val="21295C"/>
                </a:solidFill>
                <a:latin typeface="Arial"/>
              </a:rPr>
              <a:t>• </a:t>
            </a:r>
            <a:r>
              <a:rPr sz="1350" b="1" i="0">
                <a:solidFill>
                  <a:srgbClr val="21295C"/>
                </a:solidFill>
                <a:latin typeface="Arial"/>
              </a:rPr>
              <a:t>8. Исполнитель тот же, но стал хуже</a:t>
            </a:r>
            <a:r>
              <a:rPr sz="1350" b="0" i="0">
                <a:solidFill>
                  <a:srgbClr val="21295C"/>
                </a:solidFill>
                <a:latin typeface="Arial"/>
              </a:rPr>
              <a:t> — падение доли обнаружения в процедурах без помощника у тех же врачей.</a:t>
            </a:r>
          </a:p>
          <a:p>
            <a:pPr algn="l">
              <a:lnSpc>
                <a:spcPct val="126000"/>
              </a:lnSpc>
              <a:spcBef>
                <a:spcPts val="700"/>
              </a:spcBef>
            </a:pPr>
            <a:r>
              <a:rPr sz="1350" b="0" i="0">
                <a:solidFill>
                  <a:srgbClr val="21295C"/>
                </a:solidFill>
                <a:latin typeface="Arial"/>
              </a:rPr>
              <a:t/>
            </a:r>
            <a:r>
              <a:rPr sz="1350" b="0" i="0">
                <a:solidFill>
                  <a:srgbClr val="21295C"/>
                </a:solidFill>
                <a:latin typeface="Arial"/>
              </a:rPr>
              <a:t>Чем восьмая форма отличается от двух соседних: в пятой сменилась </a:t>
            </a:r>
            <a:r>
              <a:rPr sz="1350" b="1" i="0">
                <a:solidFill>
                  <a:srgbClr val="21295C"/>
                </a:solidFill>
                <a:latin typeface="Arial"/>
              </a:rPr>
              <a:t>рука</a:t>
            </a:r>
            <a:r>
              <a:rPr sz="1350" b="0" i="0">
                <a:solidFill>
                  <a:srgbClr val="21295C"/>
                </a:solidFill>
                <a:latin typeface="Arial"/>
              </a:rPr>
              <a:t> — здесь рука та же, и на этом стоит измерение. В форме 4а упал </a:t>
            </a:r>
            <a:r>
              <a:rPr sz="1350" b="1" i="0">
                <a:solidFill>
                  <a:srgbClr val="21295C"/>
                </a:solidFill>
                <a:latin typeface="Arial"/>
              </a:rPr>
              <a:t>объём</a:t>
            </a:r>
            <a:r>
              <a:rPr sz="1350" b="0" i="0">
                <a:solidFill>
                  <a:srgbClr val="21295C"/>
                </a:solidFill>
                <a:latin typeface="Arial"/>
              </a:rPr>
              <a:t> — здесь объём тот же, упала </a:t>
            </a:r>
            <a:r>
              <a:rPr sz="1350" b="1" i="0">
                <a:solidFill>
                  <a:srgbClr val="21295C"/>
                </a:solidFill>
                <a:latin typeface="Arial"/>
              </a:rPr>
              <a:t>доля находок</a:t>
            </a:r>
            <a:r>
              <a:rPr sz="1350" b="0" i="0">
                <a:solidFill>
                  <a:srgbClr val="21295C"/>
                </a:solidFill>
                <a:latin typeface="Arial"/>
              </a:rPr>
              <a:t>.</a:t>
            </a:r>
          </a:p>
          <a:p>
            <a:pPr algn="l">
              <a:lnSpc>
                <a:spcPct val="126000"/>
              </a:lnSpc>
              <a:spcBef>
                <a:spcPts val="700"/>
              </a:spcBef>
            </a:pPr>
            <a:r>
              <a:rPr sz="1080" b="0" i="0">
                <a:solidFill>
                  <a:srgbClr val="21295C"/>
                </a:solidFill>
                <a:latin typeface="Arial"/>
              </a:rPr>
              <a:t/>
            </a:r>
            <a:r>
              <a:rPr sz="1080" b="0" i="1">
                <a:solidFill>
                  <a:srgbClr val="1C7293"/>
                </a:solidFill>
                <a:latin typeface="Arial"/>
              </a:rPr>
              <a:t>Измерен только этот знак. Обратный случай — тот же исполнитель, ставший лучше, — получит свой номер, а не расширит это определение задним числом. Измерение под новой формой одно и не воспроизведённое.</a:t>
            </a:r>
          </a:p>
          <a:p>
            <a:pPr algn="l">
              <a:lnSpc>
                <a:spcPct val="126000"/>
              </a:lnSpc>
              <a:spcBef>
                <a:spcPts val="700"/>
              </a:spcBef>
            </a:pPr>
            <a:r>
              <a:rPr sz="1350" b="0" i="0">
                <a:solidFill>
                  <a:srgbClr val="21295C"/>
                </a:solidFill>
                <a:latin typeface="Arial"/>
              </a:rPr>
              <a:t/>
            </a:r>
            <a:r>
              <a:rPr sz="1350" b="1" i="0">
                <a:solidFill>
                  <a:srgbClr val="21295C"/>
                </a:solidFill>
                <a:latin typeface="Arial"/>
              </a:rPr>
              <a:t>Какая из этих форм встречалась у вас на работе? Напишите в чат номер — один.</a:t>
            </a:r>
          </a:p>
        </p:txBody>
      </p:sp>
      <p:sp>
        <p:nvSpPr>
          <p:cNvPr id="18" name="Rectangle 17"/>
          <p:cNvSpPr/>
          <p:nvPr/>
        </p:nvSpPr>
        <p:spPr>
          <a:xfrm>
            <a:off x="502920" y="879603"/>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Столько раз за вечер выигрыш был приписан не тому</a:t>
            </a:r>
          </a:p>
        </p:txBody>
      </p:sp>
      <p:sp>
        <p:nvSpPr>
          <p:cNvPr id="4" name="Rounded Rectangle 3"/>
          <p:cNvSpPr/>
          <p:nvPr/>
        </p:nvSpPr>
        <p:spPr>
          <a:xfrm>
            <a:off x="502920" y="1335024"/>
            <a:ext cx="11185855" cy="1289607"/>
          </a:xfrm>
          <a:prstGeom prst="roundRect">
            <a:avLst>
              <a:gd name="adj" fmla="val 23635"/>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10911535"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ПОДТВЕРЖДЁННЫХ СЛУЧАЕВ ЗА ВЕЧЕР</a:t>
            </a:r>
          </a:p>
        </p:txBody>
      </p:sp>
      <p:sp>
        <p:nvSpPr>
          <p:cNvPr id="6" name="TextBox 5"/>
          <p:cNvSpPr txBox="1"/>
          <p:nvPr/>
        </p:nvSpPr>
        <p:spPr>
          <a:xfrm>
            <a:off x="640080" y="1690796"/>
            <a:ext cx="10911535"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десять строк реестра из тринадцати</a:t>
            </a:r>
          </a:p>
        </p:txBody>
      </p:sp>
      <p:sp>
        <p:nvSpPr>
          <p:cNvPr id="7" name="TextBox 6"/>
          <p:cNvSpPr txBox="1"/>
          <p:nvPr/>
        </p:nvSpPr>
        <p:spPr>
          <a:xfrm>
            <a:off x="640080" y="2117795"/>
            <a:ext cx="10911535"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две строки сняты вместе с темой, изъятой из лекции, и номера их не переиспользуются; три числятся условными — адрес разбора у них лежит за другим разделом. Число берётся из реестра на день сборки: вписанное заранее соврало бы</a:t>
            </a:r>
          </a:p>
        </p:txBody>
      </p:sp>
      <p:sp>
        <p:nvSpPr>
          <p:cNvPr id="8" name="Rounded Rectangle 7"/>
          <p:cNvSpPr/>
          <p:nvPr/>
        </p:nvSpPr>
        <p:spPr>
          <a:xfrm>
            <a:off x="374904" y="2716071"/>
            <a:ext cx="11441887" cy="3520136"/>
          </a:xfrm>
          <a:prstGeom prst="roundRect">
            <a:avLst>
              <a:gd name="adj" fmla="val 865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39496" y="2807511"/>
            <a:ext cx="11112703" cy="3428696"/>
          </a:xfrm>
          <a:prstGeom prst="rect">
            <a:avLst/>
          </a:prstGeom>
          <a:noFill/>
        </p:spPr>
        <p:txBody>
          <a:bodyPr wrap="square" lIns="0" rIns="0" tIns="0" bIns="0" anchor="t">
            <a:spAutoFit/>
          </a:bodyPr>
          <a:lstStyle/>
          <a:p>
            <a:pPr algn="l">
              <a:lnSpc>
                <a:spcPct val="126000"/>
              </a:lnSpc>
            </a:pPr>
            <a:r>
              <a:rPr sz="1350" b="1" i="0">
                <a:solidFill>
                  <a:srgbClr val="21295C"/>
                </a:solidFill>
                <a:latin typeface="Arial"/>
              </a:rPr>
              <a:t>Копаешь — а там вообще нет модели.</a:t>
            </a:r>
            <a:r>
              <a:rPr sz="1350" b="0" i="0">
                <a:solidFill>
                  <a:srgbClr val="21295C"/>
                </a:solidFill>
                <a:latin typeface="Arial"/>
              </a:rPr>
              <a:t> Сортировка обращений оказалась деревом «если-то» в таблице. Прибор, измеряющий насыщение крови кислородом, смещён до всякой модели — система наследует смещение, не создавая его. Тревога кардиомонитора — порог на приборе.</a:t>
            </a:r>
          </a:p>
          <a:p>
            <a:pPr algn="l">
              <a:lnSpc>
                <a:spcPct val="126000"/>
              </a:lnSpc>
              <a:spcBef>
                <a:spcPts val="700"/>
              </a:spcBef>
            </a:pPr>
            <a:r>
              <a:rPr sz="1350" b="0" i="0">
                <a:solidFill>
                  <a:srgbClr val="21295C"/>
                </a:solidFill>
                <a:latin typeface="Arial"/>
              </a:rPr>
              <a:t/>
            </a:r>
            <a:r>
              <a:rPr sz="1350" b="1" i="0">
                <a:solidFill>
                  <a:srgbClr val="21295C"/>
                </a:solidFill>
                <a:latin typeface="Arial"/>
              </a:rPr>
              <a:t>Копаешь — а выигрыш не там, где показывают.</a:t>
            </a:r>
            <a:r>
              <a:rPr sz="1350" b="0" i="0">
                <a:solidFill>
                  <a:srgbClr val="21295C"/>
                </a:solidFill>
                <a:latin typeface="Arial"/>
              </a:rPr>
              <a:t> Снижение смертности принадлежит новой роли в процессе, а не качеству прогноза. «ИИ изобрёл лекарство» — расчёту физики связывания под уже известную мишень, метод не генеративный. «Миллионы обработанных исследований» — объёму, а не качеству: знаменателя нет.</a:t>
            </a:r>
          </a:p>
          <a:p>
            <a:pPr algn="l">
              <a:lnSpc>
                <a:spcPct val="126000"/>
              </a:lnSpc>
              <a:spcBef>
                <a:spcPts val="700"/>
              </a:spcBef>
            </a:pPr>
            <a:r>
              <a:rPr sz="1350" b="0" i="0">
                <a:solidFill>
                  <a:srgbClr val="21295C"/>
                </a:solidFill>
                <a:latin typeface="Arial"/>
              </a:rPr>
              <a:t/>
            </a:r>
            <a:r>
              <a:rPr sz="1350" b="1" i="0">
                <a:solidFill>
                  <a:srgbClr val="21295C"/>
                </a:solidFill>
                <a:latin typeface="Arial"/>
              </a:rPr>
              <a:t>Копаешь — а числа выросли при пересказе.</a:t>
            </a:r>
            <a:r>
              <a:rPr sz="1350" b="0" i="0">
                <a:solidFill>
                  <a:srgbClr val="21295C"/>
                </a:solidFill>
                <a:latin typeface="Arial"/>
              </a:rPr>
              <a:t> Рецензируемый обзор при сверке с семью своими первоисточниками перепутал шесть. «Время описания исследования — три секунды» оказалось временем работы модели, поданным как время работы врача. «Экономия двойного чтения» взята из сценария, названного вымышленным самими авторами, при нулевой реальной замене чтений.</a:t>
            </a:r>
          </a:p>
          <a:p>
            <a:pPr algn="l">
              <a:lnSpc>
                <a:spcPct val="126000"/>
              </a:lnSpc>
              <a:spcBef>
                <a:spcPts val="700"/>
              </a:spcBef>
            </a:pPr>
            <a:r>
              <a:rPr sz="1350" b="0" i="0">
                <a:solidFill>
                  <a:srgbClr val="21295C"/>
                </a:solidFill>
                <a:latin typeface="Arial"/>
              </a:rPr>
              <a:t/>
            </a:r>
            <a:r>
              <a:rPr sz="1350" b="0" i="0">
                <a:solidFill>
                  <a:srgbClr val="21295C"/>
                </a:solidFill>
                <a:latin typeface="Arial"/>
              </a:rPr>
              <a:t>Приёмы, по одному на графу: </a:t>
            </a:r>
            <a:r>
              <a:rPr sz="1350" b="1" i="0">
                <a:solidFill>
                  <a:srgbClr val="21295C"/>
                </a:solidFill>
                <a:latin typeface="Arial"/>
              </a:rPr>
              <a:t>убери модель</a:t>
            </a:r>
            <a:r>
              <a:rPr sz="1350" b="0" i="0">
                <a:solidFill>
                  <a:srgbClr val="21295C"/>
                </a:solidFill>
                <a:latin typeface="Arial"/>
              </a:rPr>
              <a:t> · </a:t>
            </a:r>
            <a:r>
              <a:rPr sz="1350" b="1" i="0">
                <a:solidFill>
                  <a:srgbClr val="21295C"/>
                </a:solidFill>
                <a:latin typeface="Arial"/>
              </a:rPr>
              <a:t>спроси, от чего посчитан эффект</a:t>
            </a:r>
            <a:r>
              <a:rPr sz="1350" b="0" i="0">
                <a:solidFill>
                  <a:srgbClr val="21295C"/>
                </a:solidFill>
                <a:latin typeface="Arial"/>
              </a:rPr>
              <a:t> · </a:t>
            </a:r>
            <a:r>
              <a:rPr sz="1350" b="1" i="0">
                <a:solidFill>
                  <a:srgbClr val="21295C"/>
                </a:solidFill>
                <a:latin typeface="Arial"/>
              </a:rPr>
              <a:t>открой первоисточник и сверь выборку, дизайн и журнал</a:t>
            </a:r>
            <a:r>
              <a:rPr sz="1350" b="0" i="0">
                <a:solidFill>
                  <a:srgbClr val="21295C"/>
                </a:solidFill>
                <a:latin typeface="Arial"/>
              </a:rPr>
              <a:t>.</a:t>
            </a:r>
          </a:p>
          <a:p>
            <a:pPr algn="l">
              <a:lnSpc>
                <a:spcPct val="126000"/>
              </a:lnSpc>
              <a:spcBef>
                <a:spcPts val="700"/>
              </a:spcBef>
            </a:pPr>
            <a:r>
              <a:rPr sz="1080" b="0" i="0">
                <a:solidFill>
                  <a:srgbClr val="21295C"/>
                </a:solidFill>
                <a:latin typeface="Arial"/>
              </a:rPr>
              <a:t/>
            </a:r>
            <a:r>
              <a:rPr sz="1080" b="0" i="1">
                <a:solidFill>
                  <a:srgbClr val="1C7293"/>
                </a:solidFill>
                <a:latin typeface="Arial"/>
              </a:rPr>
              <a:t>В этот же вечер были разборы, где выигрыш принадлежит именно модели, и они названы по именам.</a:t>
            </a:r>
          </a:p>
        </p:txBody>
      </p:sp>
      <p:sp>
        <p:nvSpPr>
          <p:cNvPr id="10" name="Rectangle 9"/>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мы вообще измеряли: четыре ступени</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a:t>
            </a:r>
            <a:r>
              <a:rPr sz="1500" b="1" i="0">
                <a:solidFill>
                  <a:srgbClr val="21295C"/>
                </a:solidFill>
                <a:latin typeface="Arial"/>
              </a:rPr>
              <a:t>Исход пациента</a:t>
            </a:r>
            <a:r>
              <a:rPr sz="1500" b="0" i="0">
                <a:solidFill>
                  <a:srgbClr val="21295C"/>
                </a:solidFill>
                <a:latin typeface="Arial"/>
              </a:rPr>
              <a:t> — шведский скрининг · глазное дно · разработка лекарства · модель сепсиса частично.</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Качество работы</a:t>
            </a:r>
            <a:r>
              <a:rPr sz="1500" b="0" i="0">
                <a:solidFill>
                  <a:srgbClr val="21295C"/>
                </a:solidFill>
                <a:latin typeface="Arial"/>
              </a:rPr>
              <a:t> — деквалификация · арбитраж.</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Точность на корпусе</a:t>
            </a:r>
            <a:r>
              <a:rPr sz="1500" b="0" i="0">
                <a:solidFill>
                  <a:srgbClr val="21295C"/>
                </a:solidFill>
                <a:latin typeface="Arial"/>
              </a:rPr>
              <a:t> — всё ядро вечера: агрегат размеров эффекта, замер взгляда, подсказка по срезу, обратный знак, кардиограммы, ортопедия.</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Заявление вендора</a:t>
            </a:r>
            <a:r>
              <a:rPr sz="1500" b="0" i="0">
                <a:solidFill>
                  <a:srgbClr val="21295C"/>
                </a:solidFill>
                <a:latin typeface="Arial"/>
              </a:rPr>
              <a:t> — «три секунды на описание» · «экономия двойного чтения».</a:t>
            </a:r>
          </a:p>
          <a:p>
            <a:pPr algn="l">
              <a:lnSpc>
                <a:spcPct val="126000"/>
              </a:lnSpc>
              <a:spcBef>
                <a:spcPts val="700"/>
              </a:spcBef>
            </a:pPr>
            <a:r>
              <a:rPr sz="1500" b="0" i="0">
                <a:solidFill>
                  <a:srgbClr val="21295C"/>
                </a:solidFill>
                <a:latin typeface="Arial"/>
              </a:rPr>
              <a:t/>
            </a:r>
            <a:r>
              <a:rPr sz="1500" b="1" i="0">
                <a:solidFill>
                  <a:srgbClr val="21295C"/>
                </a:solidFill>
                <a:latin typeface="Arial"/>
              </a:rPr>
              <a:t>Исхода пациента нет ни у одного разбора ядра.</a:t>
            </a:r>
            <a:r>
              <a:rPr sz="1500" b="0" i="0">
                <a:solidFill>
                  <a:srgbClr val="21295C"/>
                </a:solidFill>
                <a:latin typeface="Arial"/>
              </a:rPr>
              <a:t> Никто не проверил, что случилось с больным из-за того, что врач стал хуже смотреть.</a:t>
            </a:r>
          </a:p>
          <a:p>
            <a:pPr algn="l">
              <a:lnSpc>
                <a:spcPct val="126000"/>
              </a:lnSpc>
              <a:spcBef>
                <a:spcPts val="700"/>
              </a:spcBef>
            </a:pPr>
            <a:r>
              <a:rPr sz="1500" b="0" i="0">
                <a:solidFill>
                  <a:srgbClr val="21295C"/>
                </a:solidFill>
                <a:latin typeface="Arial"/>
              </a:rPr>
              <a:t/>
            </a:r>
            <a:r>
              <a:rPr sz="1500" b="0" i="0">
                <a:solidFill>
                  <a:srgbClr val="21295C"/>
                </a:solidFill>
                <a:latin typeface="Arial"/>
              </a:rPr>
              <a:t>На точности корпуса нельзя утверждать вред пациенту. На качестве работы нельзя утверждать исход. На заявлении вендора нельзя утверждать ничего.</a:t>
            </a:r>
          </a:p>
          <a:p>
            <a:pPr algn="l">
              <a:lnSpc>
                <a:spcPct val="126000"/>
              </a:lnSpc>
              <a:spcBef>
                <a:spcPts val="700"/>
              </a:spcBef>
            </a:pPr>
            <a:r>
              <a:rPr sz="1200" b="0" i="0">
                <a:solidFill>
                  <a:srgbClr val="21295C"/>
                </a:solidFill>
                <a:latin typeface="Arial"/>
              </a:rPr>
              <a:t/>
            </a:r>
            <a:r>
              <a:rPr sz="1200" b="0" i="1">
                <a:solidFill>
                  <a:srgbClr val="1C7293"/>
                </a:solidFill>
                <a:latin typeface="Arial"/>
              </a:rPr>
              <a:t>Это не упрёк исследователям: такой замер стоит лет и требует исходов, которых в лабораторном устройстве опыта нет вовсе. Градация требует называть ступень замера вслух — и свою тоже.</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Клетки узнаваемые, процедуры другие</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a:t>
            </a:r>
            <a:r>
              <a:rPr sz="1500" b="1" i="0">
                <a:solidFill>
                  <a:srgbClr val="21295C"/>
                </a:solidFill>
                <a:latin typeface="Arial"/>
              </a:rPr>
              <a:t>Распознавание на изображении</a:t>
            </a:r>
            <a:r>
              <a:rPr sz="1500" b="0" i="0">
                <a:solidFill>
                  <a:srgbClr val="21295C"/>
                </a:solidFill>
                <a:latin typeface="Arial"/>
              </a:rPr>
              <a:t> — скрининг и чтение исследований. </a:t>
            </a:r>
            <a:r>
              <a:rPr sz="1500" b="0" i="1">
                <a:solidFill>
                  <a:srgbClr val="21295C"/>
                </a:solidFill>
                <a:latin typeface="Arial"/>
              </a:rPr>
              <a:t>Держат:</a:t>
            </a:r>
            <a:r>
              <a:rPr sz="1500" b="0" i="0">
                <a:solidFill>
                  <a:srgbClr val="21295C"/>
                </a:solidFill>
                <a:latin typeface="Arial"/>
              </a:rPr>
              <a:t> двойное чтение, арбитраж при расхождении, порог вмешательства, пересчёт прогностической ценности под местную распространённость.</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Прогноз на структурированных данных</a:t>
            </a:r>
            <a:r>
              <a:rPr sz="1500" b="0" i="0">
                <a:solidFill>
                  <a:srgbClr val="21295C"/>
                </a:solidFill>
                <a:latin typeface="Arial"/>
              </a:rPr>
              <a:t> — раннее предупреждение, воронка активов. </a:t>
            </a:r>
            <a:r>
              <a:rPr sz="1500" b="0" i="1">
                <a:solidFill>
                  <a:srgbClr val="21295C"/>
                </a:solidFill>
                <a:latin typeface="Arial"/>
              </a:rPr>
              <a:t>Держат:</a:t>
            </a:r>
            <a:r>
              <a:rPr sz="1500" b="0" i="0">
                <a:solidFill>
                  <a:srgbClr val="21295C"/>
                </a:solidFill>
                <a:latin typeface="Arial"/>
              </a:rPr>
              <a:t> разбор ложных тревог как статья рабочего времени, заранее утверждённый план изменений модели, передача данных о работе изделия регулятору.</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Поиск и генерация на тексте</a:t>
            </a:r>
            <a:r>
              <a:rPr sz="1500" b="0" i="0">
                <a:solidFill>
                  <a:srgbClr val="21295C"/>
                </a:solidFill>
                <a:latin typeface="Arial"/>
              </a:rPr>
              <a:t> — запись приёма, выписка, дифференциальный диагноз. </a:t>
            </a:r>
            <a:r>
              <a:rPr sz="1500" b="0" i="1">
                <a:solidFill>
                  <a:srgbClr val="21295C"/>
                </a:solidFill>
                <a:latin typeface="Arial"/>
              </a:rPr>
              <a:t>Держат:</a:t>
            </a:r>
            <a:r>
              <a:rPr sz="1500" b="0" i="0">
                <a:solidFill>
                  <a:srgbClr val="21295C"/>
                </a:solidFill>
                <a:latin typeface="Arial"/>
              </a:rPr>
              <a:t> вычитка и подпись врача, разбор случая, границы допуска по заявленному назначению изделия.</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Генерация структуры</a:t>
            </a:r>
            <a:r>
              <a:rPr sz="1500" b="0" i="0">
                <a:solidFill>
                  <a:srgbClr val="21295C"/>
                </a:solidFill>
                <a:latin typeface="Arial"/>
              </a:rPr>
              <a:t> — молекула под заданную мишень, дизайн белка. </a:t>
            </a:r>
            <a:r>
              <a:rPr sz="1500" b="0" i="1">
                <a:solidFill>
                  <a:srgbClr val="21295C"/>
                </a:solidFill>
                <a:latin typeface="Arial"/>
              </a:rPr>
              <a:t>Держат:</a:t>
            </a:r>
            <a:r>
              <a:rPr sz="1500" b="0" i="0">
                <a:solidFill>
                  <a:srgbClr val="21295C"/>
                </a:solidFill>
                <a:latin typeface="Arial"/>
              </a:rPr>
              <a:t> доклиника, фазы испытаний, воронка переходов и регистрация.</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Результат исполнителя без инструмента</a:t>
            </a:r>
            <a:r>
              <a:rPr sz="1500" b="0" i="0">
                <a:solidFill>
                  <a:srgbClr val="21295C"/>
                </a:solidFill>
                <a:latin typeface="Arial"/>
              </a:rPr>
              <a:t> — тот же врач, та же процедура, без помощника: находок меньше. </a:t>
            </a:r>
            <a:r>
              <a:rPr sz="1500" b="0" i="1">
                <a:solidFill>
                  <a:srgbClr val="21295C"/>
                </a:solidFill>
                <a:latin typeface="Arial"/>
              </a:rPr>
              <a:t>Держат:</a:t>
            </a:r>
            <a:r>
              <a:rPr sz="1500" b="0" i="0">
                <a:solidFill>
                  <a:srgbClr val="21295C"/>
                </a:solidFill>
                <a:latin typeface="Arial"/>
              </a:rPr>
              <a:t> </a:t>
            </a:r>
            <a:r>
              <a:rPr sz="1500" b="1" i="0">
                <a:solidFill>
                  <a:srgbClr val="21295C"/>
                </a:solidFill>
                <a:latin typeface="Arial"/>
              </a:rPr>
              <a:t>ничем. Режима нет, и процедуры, которая это измеряет, не существует ни у кого.</a:t>
            </a:r>
          </a:p>
          <a:p>
            <a:pPr algn="l">
              <a:lnSpc>
                <a:spcPct val="126000"/>
              </a:lnSpc>
              <a:spcBef>
                <a:spcPts val="700"/>
              </a:spcBef>
            </a:pPr>
            <a:r>
              <a:rPr sz="1500" b="0" i="0">
                <a:solidFill>
                  <a:srgbClr val="21295C"/>
                </a:solidFill>
                <a:latin typeface="Arial"/>
              </a:rPr>
              <a:t/>
            </a:r>
            <a:r>
              <a:rPr sz="1500" b="0" i="0">
                <a:solidFill>
                  <a:srgbClr val="21295C"/>
                </a:solidFill>
                <a:latin typeface="Arial"/>
              </a:rPr>
              <a:t>Три сгустка те же, добавилась одна клетка, держат их четыре разные процедуры — </a:t>
            </a:r>
            <a:r>
              <a:rPr sz="1500" b="1" i="0">
                <a:solidFill>
                  <a:srgbClr val="21295C"/>
                </a:solidFill>
                <a:latin typeface="Arial"/>
              </a:rPr>
              <a:t>а пятую не держит ничто</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0" i="0">
                <a:solidFill>
                  <a:srgbClr val="21295C"/>
                </a:solidFill>
                <a:latin typeface="Arial"/>
              </a:rPr>
              <a:t>Чем позже в процедуре стоит проверка, тем дольше живёт ошибка: для изображения — внутри смены, для текста — при подписи, для прогноза — при следующем срезе данных, переданных регулятору, для структуры — во второй фазе испытаний, через годы.</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меняется в человеке, в процессе и в подписи</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Поведение.</a:t>
            </a:r>
            <a:r>
              <a:rPr sz="1500" b="0" i="0">
                <a:solidFill>
                  <a:srgbClr val="21295C"/>
                </a:solidFill>
                <a:latin typeface="Arial"/>
              </a:rPr>
              <a:t> Зрительный поиск сужается при неверной подсказке — </a:t>
            </a:r>
            <a:r>
              <a:rPr sz="1500" b="0" i="1">
                <a:solidFill>
                  <a:srgbClr val="21295C"/>
                </a:solidFill>
                <a:latin typeface="Arial"/>
              </a:rPr>
              <a:t>чтение с замером взгляда</a:t>
            </a:r>
            <a:r>
              <a:rPr sz="1500" b="0" i="0">
                <a:solidFill>
                  <a:srgbClr val="21295C"/>
                </a:solidFill>
                <a:latin typeface="Arial"/>
              </a:rPr>
              <a:t>. Верное решение меняется на неверное под влиянием совета — </a:t>
            </a:r>
            <a:r>
              <a:rPr sz="1500" b="0" i="1">
                <a:solidFill>
                  <a:srgbClr val="21295C"/>
                </a:solidFill>
                <a:latin typeface="Arial"/>
              </a:rPr>
              <a:t>систематический обзор</a:t>
            </a:r>
            <a:r>
              <a:rPr sz="1500" b="0" i="0">
                <a:solidFill>
                  <a:srgbClr val="21295C"/>
                </a:solidFill>
                <a:latin typeface="Arial"/>
              </a:rPr>
              <a:t>. Техника падает в работе без помощника после привыкания — </a:t>
            </a:r>
            <a:r>
              <a:rPr sz="1500" b="0" i="1">
                <a:solidFill>
                  <a:srgbClr val="21295C"/>
                </a:solidFill>
                <a:latin typeface="Arial"/>
              </a:rPr>
              <a:t>наблюдательное исследование, повторения нет</a:t>
            </a:r>
            <a:r>
              <a:rPr sz="1500" b="0" i="0">
                <a:solidFill>
                  <a:srgbClr val="21295C"/>
                </a:solidFill>
                <a:latin typeface="Arial"/>
              </a:rPr>
              <a:t>. Доля отклоняемых тревог предельно высока — </a:t>
            </a:r>
            <a:r>
              <a:rPr sz="1500" b="0" i="1">
                <a:solidFill>
                  <a:srgbClr val="21295C"/>
                </a:solidFill>
                <a:latin typeface="Arial"/>
              </a:rPr>
              <a:t>обзор отклонений</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Психология.</a:t>
            </a:r>
            <a:r>
              <a:rPr sz="1500" b="0" i="0">
                <a:solidFill>
                  <a:srgbClr val="21295C"/>
                </a:solidFill>
                <a:latin typeface="Arial"/>
              </a:rPr>
              <a:t> Объяснение повышает согласие, но не качество решения — </a:t>
            </a:r>
            <a:r>
              <a:rPr sz="1500" b="0" i="1">
                <a:solidFill>
                  <a:srgbClr val="21295C"/>
                </a:solidFill>
                <a:latin typeface="Arial"/>
              </a:rPr>
              <a:t>полевой опыт</a:t>
            </a:r>
            <a:r>
              <a:rPr sz="1500" b="0" i="0">
                <a:solidFill>
                  <a:srgbClr val="21295C"/>
                </a:solidFill>
                <a:latin typeface="Arial"/>
              </a:rPr>
              <a:t>. Время пишется быстрее, проверка остаётся — </a:t>
            </a:r>
            <a:r>
              <a:rPr sz="1500" b="0" i="1">
                <a:solidFill>
                  <a:srgbClr val="21295C"/>
                </a:solidFill>
                <a:latin typeface="Arial"/>
              </a:rPr>
              <a:t>рандомизированное исследование плюс замер рабочего времени</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Процесс.</a:t>
            </a:r>
            <a:r>
              <a:rPr sz="1500" b="0" i="0">
                <a:solidFill>
                  <a:srgbClr val="21295C"/>
                </a:solidFill>
                <a:latin typeface="Arial"/>
              </a:rPr>
              <a:t> Роль второго проверяющего переходит от человека к модели — </a:t>
            </a:r>
            <a:r>
              <a:rPr sz="1500" b="0" i="1">
                <a:solidFill>
                  <a:srgbClr val="21295C"/>
                </a:solidFill>
                <a:latin typeface="Arial"/>
              </a:rPr>
              <a:t>рандомизированное исследование программы скрининга</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Подпись.</a:t>
            </a:r>
            <a:r>
              <a:rPr sz="1500" b="0" i="0">
                <a:solidFill>
                  <a:srgbClr val="21295C"/>
                </a:solidFill>
                <a:latin typeface="Arial"/>
              </a:rPr>
              <a:t> Норма требует человека финальным звеном, и это редко проверено — </a:t>
            </a:r>
            <a:r>
              <a:rPr sz="1500" b="0" i="1">
                <a:solidFill>
                  <a:srgbClr val="21295C"/>
                </a:solidFill>
                <a:latin typeface="Arial"/>
              </a:rPr>
              <a:t>обзор поданной документации</a:t>
            </a:r>
            <a:r>
              <a:rPr sz="1500" b="0" i="0">
                <a:solidFill>
                  <a:srgbClr val="21295C"/>
                </a:solidFill>
                <a:latin typeface="Arial"/>
              </a:rPr>
              <a:t>. Стандарт надзора сформулирован как способность вмешаться, а не как подпись — </a:t>
            </a:r>
            <a:r>
              <a:rPr sz="1500" b="0" i="1">
                <a:solidFill>
                  <a:srgbClr val="21295C"/>
                </a:solidFill>
                <a:latin typeface="Arial"/>
              </a:rPr>
              <a:t>нормативный текст</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Контрольная строка.</a:t>
            </a:r>
            <a:r>
              <a:rPr sz="1500" b="0" i="0">
                <a:solidFill>
                  <a:srgbClr val="21295C"/>
                </a:solidFill>
                <a:latin typeface="Arial"/>
              </a:rPr>
              <a:t> Разная структура ошибок человека и модели даёт выигрыш пары — </a:t>
            </a:r>
            <a:r>
              <a:rPr sz="1500" b="0" i="1">
                <a:solidFill>
                  <a:srgbClr val="21295C"/>
                </a:solidFill>
                <a:latin typeface="Arial"/>
              </a:rPr>
              <a:t>крупное агрегационное исследование, повторения нет</a:t>
            </a:r>
            <a:r>
              <a:rPr sz="1500" b="0" i="0">
                <a:solidFill>
                  <a:srgbClr val="21295C"/>
                </a:solidFill>
                <a:latin typeface="Arial"/>
              </a:rPr>
              <a:t>.</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Четыре разных ответа на один вопрос</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Модель посмотрела первой. Что теперь делает человек — и кто это измерял?</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Смотрит первым</a:t>
            </a:r>
            <a:r>
              <a:rPr sz="1500" b="0" i="0">
                <a:solidFill>
                  <a:srgbClr val="21295C"/>
                </a:solidFill>
                <a:latin typeface="Arial"/>
              </a:rPr>
              <a:t> — читает сам, модель даёт второе мнение; при расхождении идёт арбитраж. </a:t>
            </a:r>
            <a:r>
              <a:rPr sz="1500" b="0" i="1">
                <a:solidFill>
                  <a:srgbClr val="21295C"/>
                </a:solidFill>
                <a:latin typeface="Arial"/>
              </a:rPr>
              <a:t>Измерено рандомизированным исследованием программы скрининга.</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Смотрит вторым</a:t>
            </a:r>
            <a:r>
              <a:rPr sz="1500" b="0" i="0">
                <a:solidFill>
                  <a:srgbClr val="21295C"/>
                </a:solidFill>
                <a:latin typeface="Arial"/>
              </a:rPr>
              <a:t> — читает после модели: внимание сужается, верное решение иногда меняется на неверное. </a:t>
            </a:r>
            <a:r>
              <a:rPr sz="1500" b="0" i="1">
                <a:solidFill>
                  <a:srgbClr val="21295C"/>
                </a:solidFill>
                <a:latin typeface="Arial"/>
              </a:rPr>
              <a:t>Измерено чтением с замером взгляда и систематическим обзором.</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Смотрит только спорное</a:t>
            </a:r>
            <a:r>
              <a:rPr sz="1500" b="0" i="0">
                <a:solidFill>
                  <a:srgbClr val="21295C"/>
                </a:solidFill>
                <a:latin typeface="Arial"/>
              </a:rPr>
              <a:t> — разбирает то, что модель отметила; остальное проходит мимо. </a:t>
            </a:r>
            <a:r>
              <a:rPr sz="1500" b="0" i="1">
                <a:solidFill>
                  <a:srgbClr val="21295C"/>
                </a:solidFill>
                <a:latin typeface="Arial"/>
              </a:rPr>
              <a:t>Измерено обзором отклонений тревог и моделью раннего предупреждения.</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Подписывает не глядя</a:t>
            </a:r>
            <a:r>
              <a:rPr sz="1500" b="0" i="0">
                <a:solidFill>
                  <a:srgbClr val="21295C"/>
                </a:solidFill>
                <a:latin typeface="Arial"/>
              </a:rPr>
              <a:t> — подпись есть, чтения нет. </a:t>
            </a:r>
            <a:r>
              <a:rPr sz="1500" b="0" i="1">
                <a:solidFill>
                  <a:srgbClr val="21295C"/>
                </a:solidFill>
                <a:latin typeface="Arial"/>
              </a:rPr>
              <a:t>Измерено счётом секунд на проверку подсказки — в лабораторном опыте, не в клинике, — и долей изделий, у которых способность вмешаться вообще проверяли.</a:t>
            </a:r>
          </a:p>
          <a:p>
            <a:pPr algn="l">
              <a:lnSpc>
                <a:spcPct val="126000"/>
              </a:lnSpc>
              <a:spcBef>
                <a:spcPts val="700"/>
              </a:spcBef>
            </a:pPr>
            <a:r>
              <a:rPr sz="1500" b="0" i="0">
                <a:solidFill>
                  <a:srgbClr val="21295C"/>
                </a:solidFill>
                <a:latin typeface="Arial"/>
              </a:rPr>
              <a:t/>
            </a:r>
            <a:r>
              <a:rPr sz="1500" b="0" i="0">
                <a:solidFill>
                  <a:srgbClr val="21295C"/>
                </a:solidFill>
                <a:latin typeface="Arial"/>
              </a:rPr>
              <a:t>«Человек в контуре» — не ответ, а вопрос. Четыре ступени — четыре разных процедуры, и измерены они по-разному: первая рандомизированным исследованием, последняя счётом секунд.</a:t>
            </a:r>
          </a:p>
          <a:p>
            <a:pPr algn="l">
              <a:lnSpc>
                <a:spcPct val="126000"/>
              </a:lnSpc>
              <a:spcBef>
                <a:spcPts val="700"/>
              </a:spcBef>
            </a:pPr>
            <a:r>
              <a:rPr sz="1500" b="0" i="0">
                <a:solidFill>
                  <a:srgbClr val="21295C"/>
                </a:solidFill>
                <a:latin typeface="Arial"/>
              </a:rPr>
              <a:t/>
            </a:r>
            <a:r>
              <a:rPr sz="1500" b="0" i="0">
                <a:solidFill>
                  <a:srgbClr val="21295C"/>
                </a:solidFill>
                <a:latin typeface="Arial"/>
              </a:rPr>
              <a:t>Четвёртая ступень — не чья-то вина: она следствие устройства процедуры и переделывается процедурой.</a:t>
            </a:r>
          </a:p>
          <a:p>
            <a:pPr algn="l">
              <a:lnSpc>
                <a:spcPct val="126000"/>
              </a:lnSpc>
              <a:spcBef>
                <a:spcPts val="700"/>
              </a:spcBef>
            </a:pPr>
            <a:r>
              <a:rPr sz="1500" b="0" i="0">
                <a:solidFill>
                  <a:srgbClr val="21295C"/>
                </a:solidFill>
                <a:latin typeface="Arial"/>
              </a:rPr>
              <a:t/>
            </a:r>
            <a:r>
              <a:rPr sz="1500" b="0" i="0">
                <a:solidFill>
                  <a:srgbClr val="21295C"/>
                </a:solidFill>
                <a:latin typeface="Arial"/>
              </a:rPr>
              <a:t>Обещание, данное в начале вечера, к этой минуте </a:t>
            </a:r>
            <a:r>
              <a:rPr sz="1500" b="1" i="0">
                <a:solidFill>
                  <a:srgbClr val="21295C"/>
                </a:solidFill>
                <a:latin typeface="Arial"/>
              </a:rPr>
              <a:t>оплачено</a:t>
            </a:r>
            <a:r>
              <a:rPr sz="1500" b="0" i="0">
                <a:solidFill>
                  <a:srgbClr val="21295C"/>
                </a:solidFill>
                <a:latin typeface="Arial"/>
              </a:rPr>
              <a:t> — четырьмя ступенями и всеми измерениями, которые под ними стоят.</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10. Закрытие</a:t>
            </a:r>
          </a:p>
        </p:txBody>
      </p:sp>
      <p:sp>
        <p:nvSpPr>
          <p:cNvPr id="5" name="Rectangle 4"/>
          <p:cNvSpPr/>
          <p:nvPr/>
        </p:nvSpPr>
        <p:spPr>
          <a:xfrm>
            <a:off x="704088" y="1570238"/>
            <a:ext cx="1188720" cy="59436"/>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1844558"/>
            <a:ext cx="10984687"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Обязательство было заявлено в начале вечера. Здесь оно возвращается — заработанным, со счётом по каждой опоре.</a:t>
            </a:r>
          </a:p>
        </p:txBody>
      </p:sp>
      <p:sp>
        <p:nvSpPr>
          <p:cNvPr id="7" name="TextBox 6"/>
          <p:cNvSpPr txBox="1"/>
          <p:nvPr/>
        </p:nvSpPr>
        <p:spPr>
          <a:xfrm>
            <a:off x="704088" y="2613331"/>
            <a:ext cx="10984687"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Кадры по порядку: 1. Что было обещано в начале. И чем вечер это отработал · 2. Устройство отозвали за год. Решения этого года остались · 3. Вопросы</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было обещано в начале. И чем вечер это отработал</a:t>
            </a:r>
          </a:p>
        </p:txBody>
      </p:sp>
      <p:sp>
        <p:nvSpPr>
          <p:cNvPr id="4" name="Rounded Rectangle 3"/>
          <p:cNvSpPr/>
          <p:nvPr/>
        </p:nvSpPr>
        <p:spPr>
          <a:xfrm>
            <a:off x="502920" y="1335024"/>
            <a:ext cx="3618890" cy="2624968"/>
          </a:xfrm>
          <a:prstGeom prst="roundRect">
            <a:avLst>
              <a:gd name="adj" fmla="val 1161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ПРАВО ПОДПИСИ ВЫДАНО ЧЕЛОВЕКУ</a:t>
            </a:r>
          </a:p>
        </p:txBody>
      </p:sp>
      <p:sp>
        <p:nvSpPr>
          <p:cNvPr id="6" name="TextBox 5"/>
          <p:cNvSpPr txBox="1"/>
          <p:nvPr/>
        </p:nvSpPr>
        <p:spPr>
          <a:xfrm>
            <a:off x="640080" y="1690796"/>
            <a:ext cx="3344570" cy="596748"/>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способность вмешаться проверена у 56 изделий из 717</a:t>
            </a:r>
          </a:p>
        </p:txBody>
      </p:sp>
      <p:sp>
        <p:nvSpPr>
          <p:cNvPr id="7" name="TextBox 6"/>
          <p:cNvSpPr txBox="1"/>
          <p:nvPr/>
        </p:nvSpPr>
        <p:spPr>
          <a:xfrm>
            <a:off x="640080" y="2287545"/>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радиологические изделия, срез июнь 2024 года; при разборе случая комиссия оценивает действия человека, и вопроса о модели в этой процедуре нет</a:t>
            </a:r>
          </a:p>
        </p:txBody>
      </p:sp>
      <p:sp>
        <p:nvSpPr>
          <p:cNvPr id="8" name="Rounded Rectangle 7"/>
          <p:cNvSpPr/>
          <p:nvPr/>
        </p:nvSpPr>
        <p:spPr>
          <a:xfrm>
            <a:off x="4286402" y="1335024"/>
            <a:ext cx="3618890" cy="2624968"/>
          </a:xfrm>
          <a:prstGeom prst="roundRect">
            <a:avLst>
              <a:gd name="adj" fmla="val 1161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ОШИБАЕТСЯ ИНАЧЕ</a:t>
            </a:r>
          </a:p>
        </p:txBody>
      </p:sp>
      <p:sp>
        <p:nvSpPr>
          <p:cNvPr id="10" name="TextBox 9"/>
          <p:cNvSpPr txBox="1"/>
          <p:nvPr/>
        </p:nvSpPr>
        <p:spPr>
          <a:xfrm>
            <a:off x="4423562" y="1690796"/>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доли взаимного перекрытия ошибок не измерены</a:t>
            </a:r>
          </a:p>
        </p:txBody>
      </p:sp>
      <p:sp>
        <p:nvSpPr>
          <p:cNvPr id="11" name="TextBox 10"/>
          <p:cNvSpPr txBox="1"/>
          <p:nvPr/>
        </p:nvSpPr>
        <p:spPr>
          <a:xfrm>
            <a:off x="4423562" y="2898642"/>
            <a:ext cx="3344570" cy="924190"/>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оплачено механизмом без величин: пара хуже самой модели там, где сильнее модель, и лучше обеих сторон там, где сильнее человек. Такие измерения существуют, но их числа сверку по первоисточнику не прошли</a:t>
            </a:r>
          </a:p>
        </p:txBody>
      </p:sp>
      <p:sp>
        <p:nvSpPr>
          <p:cNvPr id="12" name="Rounded Rectangle 11"/>
          <p:cNvSpPr/>
          <p:nvPr/>
        </p:nvSpPr>
        <p:spPr>
          <a:xfrm>
            <a:off x="8069884" y="1335024"/>
            <a:ext cx="3618890" cy="2624968"/>
          </a:xfrm>
          <a:prstGeom prst="roundRect">
            <a:avLst>
              <a:gd name="adj" fmla="val 11611"/>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ОТМЕНИТЬ НЕЛЬЗЯ</a:t>
            </a:r>
          </a:p>
        </p:txBody>
      </p:sp>
      <p:sp>
        <p:nvSpPr>
          <p:cNvPr id="14" name="TextBox 13"/>
          <p:cNvSpPr txBox="1"/>
          <p:nvPr/>
        </p:nvSpPr>
        <p:spPr>
          <a:xfrm>
            <a:off x="8207044" y="1690796"/>
            <a:ext cx="3344570" cy="511873"/>
          </a:xfrm>
          <a:prstGeom prst="rect">
            <a:avLst/>
          </a:prstGeom>
          <a:noFill/>
        </p:spPr>
        <p:txBody>
          <a:bodyPr wrap="square" lIns="0" rIns="0" tIns="0" bIns="0" anchor="t">
            <a:spAutoFit/>
          </a:bodyPr>
          <a:lstStyle/>
          <a:p>
            <a:pPr algn="l">
              <a:lnSpc>
                <a:spcPct val="108000"/>
              </a:lnSpc>
            </a:pPr>
            <a:r>
              <a:rPr sz="1400" b="1" i="0">
                <a:solidFill>
                  <a:srgbClr val="F0AB00"/>
                </a:solidFill>
                <a:latin typeface="Arial"/>
              </a:rPr>
              <a:t>отзывались 60 изделий из 950; 43,4 процента отзывов — в первый год</a:t>
            </a:r>
          </a:p>
        </p:txBody>
      </p:sp>
      <p:sp>
        <p:nvSpPr>
          <p:cNvPr id="15" name="TextBox 14"/>
          <p:cNvSpPr txBox="1"/>
          <p:nvPr/>
        </p:nvSpPr>
        <p:spPr>
          <a:xfrm>
            <a:off x="8207044" y="2202670"/>
            <a:ext cx="3344570"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другой знаменатель и другой срез, чем у первой плашки: все изделия с ИИ, ноябрь 2024 года. Решения, принятые по изделию за этот год, не отзываются вместе с ним</a:t>
            </a:r>
          </a:p>
        </p:txBody>
      </p:sp>
      <p:sp>
        <p:nvSpPr>
          <p:cNvPr id="16" name="Rounded Rectangle 15"/>
          <p:cNvSpPr/>
          <p:nvPr/>
        </p:nvSpPr>
        <p:spPr>
          <a:xfrm>
            <a:off x="374904" y="4051432"/>
            <a:ext cx="11441887" cy="2184775"/>
          </a:xfrm>
          <a:prstGeom prst="roundRect">
            <a:avLst>
              <a:gd name="adj" fmla="val 1395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4142872"/>
            <a:ext cx="11112703" cy="2093335"/>
          </a:xfrm>
          <a:prstGeom prst="rect">
            <a:avLst/>
          </a:prstGeom>
          <a:noFill/>
        </p:spPr>
        <p:txBody>
          <a:bodyPr wrap="square" lIns="0" rIns="0" tIns="0" bIns="0" anchor="t">
            <a:spAutoFit/>
          </a:bodyPr>
          <a:lstStyle/>
          <a:p>
            <a:pPr algn="l">
              <a:lnSpc>
                <a:spcPct val="126000"/>
              </a:lnSpc>
            </a:pPr>
            <a:r>
              <a:rPr sz="1050" b="1" i="0">
                <a:solidFill>
                  <a:srgbClr val="21295C"/>
                </a:solidFill>
                <a:latin typeface="Arial"/>
              </a:rPr>
              <a:t>Участие человека в медицинском решении обязательно не потому, что человек точнее. Измерено, что часто он не точнее. Обязательно — потому что право подписи выдано ему, ошибается он иначе, чем модель, и отменить принятое решение нельзя.</a:t>
            </a:r>
          </a:p>
          <a:p>
            <a:pPr algn="l">
              <a:lnSpc>
                <a:spcPct val="126000"/>
              </a:lnSpc>
              <a:spcBef>
                <a:spcPts val="700"/>
              </a:spcBef>
            </a:pPr>
            <a:r>
              <a:rPr sz="1050" b="0" i="0">
                <a:solidFill>
                  <a:srgbClr val="21295C"/>
                </a:solidFill>
                <a:latin typeface="Arial"/>
              </a:rPr>
              <a:t/>
            </a:r>
            <a:r>
              <a:rPr sz="1050" b="0" i="0">
                <a:solidFill>
                  <a:srgbClr val="21295C"/>
                </a:solidFill>
                <a:latin typeface="Arial"/>
              </a:rPr>
              <a:t>У опоры «ошибается иначе» величины нет, и это говорится той же строкой, которой вечер требовал базу у чужих чисел: </a:t>
            </a:r>
            <a:r>
              <a:rPr sz="1050" b="1" i="0">
                <a:solidFill>
                  <a:srgbClr val="21295C"/>
                </a:solidFill>
                <a:latin typeface="Arial"/>
              </a:rPr>
              <a:t>доли взаимного перекрытия ошибок не измерены</a:t>
            </a:r>
            <a:r>
              <a:rPr sz="1050" b="0" i="0">
                <a:solidFill>
                  <a:srgbClr val="21295C"/>
                </a:solidFill>
                <a:latin typeface="Arial"/>
              </a:rPr>
              <a:t> — такие измерения есть, но сверку по первоисточнику их числа не прошли. Держится опора механизмом: знак результата пары задаёт то, какая сторона сильнее на задаче.</a:t>
            </a:r>
          </a:p>
          <a:p>
            <a:pPr algn="l">
              <a:lnSpc>
                <a:spcPct val="126000"/>
              </a:lnSpc>
              <a:spcBef>
                <a:spcPts val="700"/>
              </a:spcBef>
            </a:pPr>
            <a:r>
              <a:rPr sz="1050" b="0" i="0">
                <a:solidFill>
                  <a:srgbClr val="21295C"/>
                </a:solidFill>
                <a:latin typeface="Arial"/>
              </a:rPr>
              <a:t/>
            </a:r>
            <a:r>
              <a:rPr sz="1050" b="0" i="0">
                <a:solidFill>
                  <a:srgbClr val="21295C"/>
                </a:solidFill>
                <a:latin typeface="Arial"/>
              </a:rPr>
              <a:t>Три проверки, которые инженер может приложить к своему контуру:</a:t>
            </a:r>
          </a:p>
          <a:p>
            <a:pPr algn="l">
              <a:lnSpc>
                <a:spcPct val="126000"/>
              </a:lnSpc>
              <a:spcBef>
                <a:spcPts val="700"/>
              </a:spcBef>
            </a:pPr>
            <a:r>
              <a:rPr sz="1050" b="0" i="0">
                <a:solidFill>
                  <a:srgbClr val="21295C"/>
                </a:solidFill>
                <a:latin typeface="Arial"/>
              </a:rPr>
              <a:t/>
            </a:r>
            <a:r>
              <a:rPr sz="1050" b="0" i="0">
                <a:solidFill>
                  <a:srgbClr val="21295C"/>
                </a:solidFill>
                <a:latin typeface="Arial"/>
              </a:rPr>
              <a:t>• </a:t>
            </a:r>
            <a:r>
              <a:rPr sz="1050" b="1" i="0">
                <a:solidFill>
                  <a:srgbClr val="21295C"/>
                </a:solidFill>
                <a:latin typeface="Arial"/>
              </a:rPr>
              <a:t>Есть ли у человека независимый источник истины, кроме объяснения модели?</a:t>
            </a:r>
            <a:r>
              <a:rPr sz="1050" b="0" i="0">
                <a:solidFill>
                  <a:srgbClr val="21295C"/>
                </a:solidFill>
                <a:latin typeface="Arial"/>
              </a:rPr>
              <a:t> Если он проверяет вывод по самообъяснению модели — это не проверка.</a:t>
            </a:r>
          </a:p>
          <a:p>
            <a:pPr algn="l">
              <a:lnSpc>
                <a:spcPct val="126000"/>
              </a:lnSpc>
              <a:spcBef>
                <a:spcPts val="700"/>
              </a:spcBef>
            </a:pPr>
            <a:r>
              <a:rPr sz="1050" b="0" i="0">
                <a:solidFill>
                  <a:srgbClr val="21295C"/>
                </a:solidFill>
                <a:latin typeface="Arial"/>
              </a:rPr>
              <a:t/>
            </a:r>
            <a:r>
              <a:rPr sz="1050" b="0" i="0">
                <a:solidFill>
                  <a:srgbClr val="21295C"/>
                </a:solidFill>
                <a:latin typeface="Arial"/>
              </a:rPr>
              <a:t>• </a:t>
            </a:r>
            <a:r>
              <a:rPr sz="1050" b="1" i="0">
                <a:solidFill>
                  <a:srgbClr val="21295C"/>
                </a:solidFill>
                <a:latin typeface="Arial"/>
              </a:rPr>
              <a:t>Измерено ли, что он возражает?</a:t>
            </a:r>
            <a:r>
              <a:rPr sz="1050" b="0" i="0">
                <a:solidFill>
                  <a:srgbClr val="21295C"/>
                </a:solidFill>
                <a:latin typeface="Arial"/>
              </a:rPr>
              <a:t> Доля отклонений и доля </a:t>
            </a:r>
            <a:r>
              <a:rPr sz="1050" b="1" i="0">
                <a:solidFill>
                  <a:srgbClr val="21295C"/>
                </a:solidFill>
                <a:latin typeface="Arial"/>
              </a:rPr>
              <a:t>правильных</a:t>
            </a:r>
            <a:r>
              <a:rPr sz="1050" b="0" i="0">
                <a:solidFill>
                  <a:srgbClr val="21295C"/>
                </a:solidFill>
                <a:latin typeface="Arial"/>
              </a:rPr>
              <a:t> отклонений. Если отклонений нет вовсе или их не разбирали — участие не подтверждено.</a:t>
            </a:r>
          </a:p>
          <a:p>
            <a:pPr algn="l">
              <a:lnSpc>
                <a:spcPct val="126000"/>
              </a:lnSpc>
              <a:spcBef>
                <a:spcPts val="700"/>
              </a:spcBef>
            </a:pPr>
            <a:r>
              <a:rPr sz="1050" b="0" i="0">
                <a:solidFill>
                  <a:srgbClr val="21295C"/>
                </a:solidFill>
                <a:latin typeface="Arial"/>
              </a:rPr>
              <a:t/>
            </a:r>
            <a:r>
              <a:rPr sz="1050" b="0" i="0">
                <a:solidFill>
                  <a:srgbClr val="21295C"/>
                </a:solidFill>
                <a:latin typeface="Arial"/>
              </a:rPr>
              <a:t>• </a:t>
            </a:r>
            <a:r>
              <a:rPr sz="1050" b="1" i="0">
                <a:solidFill>
                  <a:srgbClr val="21295C"/>
                </a:solidFill>
                <a:latin typeface="Arial"/>
              </a:rPr>
              <a:t>Успевает ли он физически?</a:t>
            </a:r>
            <a:r>
              <a:rPr sz="1050" b="0" i="0">
                <a:solidFill>
                  <a:srgbClr val="21295C"/>
                </a:solidFill>
                <a:latin typeface="Arial"/>
              </a:rPr>
              <a:t> Секунды на решение против объёма, который надо прочитать. Медиана проверки подсказки даёт ответ «нет».</a:t>
            </a:r>
          </a:p>
          <a:p>
            <a:pPr algn="l">
              <a:lnSpc>
                <a:spcPct val="126000"/>
              </a:lnSpc>
              <a:spcBef>
                <a:spcPts val="700"/>
              </a:spcBef>
            </a:pPr>
            <a:r>
              <a:rPr sz="850" b="0" i="0">
                <a:solidFill>
                  <a:srgbClr val="21295C"/>
                </a:solidFill>
                <a:latin typeface="Arial"/>
              </a:rPr>
              <a:t/>
            </a:r>
            <a:r>
              <a:rPr sz="850" b="0" i="1">
                <a:solidFill>
                  <a:srgbClr val="1C7293"/>
                </a:solidFill>
                <a:latin typeface="Arial"/>
              </a:rPr>
              <a:t>Норма сформулирована как способность вмешаться, а не как присутствие: формулировка не требует, чтобы человек смотрел каждое решение.</a:t>
            </a:r>
          </a:p>
        </p:txBody>
      </p:sp>
      <p:sp>
        <p:nvSpPr>
          <p:cNvPr id="18" name="Rectangle 17"/>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Lee B., Kramer P., … Dai T., JAMA Health Forum 2025;6(8):e253172, DOI 10.1001/jamahealthforum.2025.3172, срез ноябрь 2024</a:t>
            </a:r>
            <a:r>
              <a:rPr sz="1100" b="0" i="1">
                <a:solidFill>
                  <a:srgbClr val="1C7293"/>
                </a:solidFill>
                <a:latin typeface="Arial"/>
              </a:rPr>
              <a:t> · </a:t>
            </a:r>
            <a:r>
              <a:rPr sz="1100" b="0" i="1">
                <a:solidFill>
                  <a:srgbClr val="1C7293"/>
                </a:solidFill>
                <a:latin typeface="Arial"/>
              </a:rPr>
              <a:t>Систематический обзор поданной регуляторам документации по радиологическим устройствам с ИИ, JAMA Network Open 2025;8(11):e2542338, срез июнь 2024; Регламент (ЕС) 2024/1689, статья 14</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Устройство отозвали за год. Решения этого года остались</a:t>
            </a:r>
          </a:p>
        </p:txBody>
      </p:sp>
      <p:sp>
        <p:nvSpPr>
          <p:cNvPr id="4" name="Rounded Rectangle 3"/>
          <p:cNvSpPr/>
          <p:nvPr/>
        </p:nvSpPr>
        <p:spPr>
          <a:xfrm>
            <a:off x="502920" y="1335024"/>
            <a:ext cx="11185855" cy="1104769"/>
          </a:xfrm>
          <a:prstGeom prst="roundRect">
            <a:avLst>
              <a:gd name="adj" fmla="val 25000"/>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10911535"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ДОЛЯ ОТЗЫВОВ В ПЕРВЫЕ ДВЕНАДЦАТЬ МЕСЯЦЕВ</a:t>
            </a:r>
          </a:p>
        </p:txBody>
      </p:sp>
      <p:sp>
        <p:nvSpPr>
          <p:cNvPr id="6" name="TextBox 5"/>
          <p:cNvSpPr txBox="1"/>
          <p:nvPr/>
        </p:nvSpPr>
        <p:spPr>
          <a:xfrm>
            <a:off x="640080" y="1690796"/>
            <a:ext cx="10911535"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43,4 процента</a:t>
            </a:r>
          </a:p>
        </p:txBody>
      </p:sp>
      <p:sp>
        <p:nvSpPr>
          <p:cNvPr id="7" name="TextBox 6"/>
          <p:cNvSpPr txBox="1"/>
          <p:nvPr/>
        </p:nvSpPr>
        <p:spPr>
          <a:xfrm>
            <a:off x="640080" y="2117795"/>
            <a:ext cx="1091153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79 отзывных событий из 182 на 60 отозванных изделий из 950 допущенных, срез ноябрь 2024 года — примерно вдвое чаще обычного для этого пути допуска</a:t>
            </a:r>
          </a:p>
        </p:txBody>
      </p:sp>
      <p:sp>
        <p:nvSpPr>
          <p:cNvPr id="8" name="Rounded Rectangle 7"/>
          <p:cNvSpPr/>
          <p:nvPr/>
        </p:nvSpPr>
        <p:spPr>
          <a:xfrm>
            <a:off x="502920" y="2622673"/>
            <a:ext cx="5437479" cy="2181386"/>
          </a:xfrm>
          <a:prstGeom prst="roundRect">
            <a:avLst>
              <a:gd name="adj" fmla="val 1397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2778121"/>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отозвать можно</a:t>
            </a:r>
          </a:p>
        </p:txBody>
      </p:sp>
      <p:sp>
        <p:nvSpPr>
          <p:cNvPr id="10" name="TextBox 9"/>
          <p:cNvSpPr txBox="1"/>
          <p:nvPr/>
        </p:nvSpPr>
        <p:spPr>
          <a:xfrm>
            <a:off x="667512" y="3134300"/>
            <a:ext cx="5108295" cy="1514311"/>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Изделие</a:t>
            </a:r>
          </a:p>
          <a:p>
            <a:pPr algn="l">
              <a:lnSpc>
                <a:spcPct val="126000"/>
              </a:lnSpc>
            </a:pPr>
            <a:r>
              <a:rPr sz="1450" b="0" i="0">
                <a:solidFill>
                  <a:srgbClr val="21295C"/>
                </a:solidFill>
                <a:latin typeface="Arial"/>
              </a:rPr>
              <a:t>• Допуск</a:t>
            </a:r>
          </a:p>
          <a:p>
            <a:pPr algn="l">
              <a:lnSpc>
                <a:spcPct val="126000"/>
              </a:lnSpc>
            </a:pPr>
            <a:r>
              <a:rPr sz="1450" b="0" i="0">
                <a:solidFill>
                  <a:srgbClr val="21295C"/>
                </a:solidFill>
                <a:latin typeface="Arial"/>
              </a:rPr>
              <a:t>• Партию</a:t>
            </a:r>
          </a:p>
        </p:txBody>
      </p:sp>
      <p:sp>
        <p:nvSpPr>
          <p:cNvPr id="11" name="Rounded Rectangle 10"/>
          <p:cNvSpPr/>
          <p:nvPr/>
        </p:nvSpPr>
        <p:spPr>
          <a:xfrm>
            <a:off x="6251295" y="2622673"/>
            <a:ext cx="5437479" cy="2181386"/>
          </a:xfrm>
          <a:prstGeom prst="roundRect">
            <a:avLst>
              <a:gd name="adj" fmla="val 13972"/>
            </a:avLst>
          </a:prstGeom>
          <a:solidFill>
            <a:srgbClr val="FFFFFF"/>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15887" y="2778121"/>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Что отменить нельзя</a:t>
            </a:r>
          </a:p>
        </p:txBody>
      </p:sp>
      <p:sp>
        <p:nvSpPr>
          <p:cNvPr id="13" name="TextBox 12"/>
          <p:cNvSpPr txBox="1"/>
          <p:nvPr/>
        </p:nvSpPr>
        <p:spPr>
          <a:xfrm>
            <a:off x="6415887" y="3134300"/>
            <a:ext cx="5108295" cy="1514311"/>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Исход исследования подбора дозы</a:t>
            </a:r>
          </a:p>
          <a:p>
            <a:pPr algn="l">
              <a:lnSpc>
                <a:spcPct val="126000"/>
              </a:lnSpc>
            </a:pPr>
            <a:r>
              <a:rPr sz="1450" b="0" i="0">
                <a:solidFill>
                  <a:srgbClr val="21295C"/>
                </a:solidFill>
                <a:latin typeface="Arial"/>
              </a:rPr>
              <a:t>• Уже проведённую процедуру</a:t>
            </a:r>
          </a:p>
        </p:txBody>
      </p:sp>
      <p:sp>
        <p:nvSpPr>
          <p:cNvPr id="14" name="Rounded Rectangle 13"/>
          <p:cNvSpPr/>
          <p:nvPr/>
        </p:nvSpPr>
        <p:spPr>
          <a:xfrm>
            <a:off x="374904" y="4895500"/>
            <a:ext cx="11441887" cy="1340707"/>
          </a:xfrm>
          <a:prstGeom prst="roundRect">
            <a:avLst>
              <a:gd name="adj" fmla="val 2273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39496" y="4986940"/>
            <a:ext cx="11112703" cy="1249267"/>
          </a:xfrm>
          <a:prstGeom prst="rect">
            <a:avLst/>
          </a:prstGeom>
          <a:noFill/>
        </p:spPr>
        <p:txBody>
          <a:bodyPr wrap="square" lIns="0" rIns="0" tIns="0" bIns="0" anchor="t">
            <a:spAutoFit/>
          </a:bodyPr>
          <a:lstStyle/>
          <a:p>
            <a:pPr algn="l">
              <a:lnSpc>
                <a:spcPct val="126000"/>
              </a:lnSpc>
            </a:pPr>
            <a:r>
              <a:rPr sz="1410" b="1" i="0">
                <a:solidFill>
                  <a:srgbClr val="21295C"/>
                </a:solidFill>
                <a:latin typeface="Arial"/>
              </a:rPr>
              <a:t>Необратимы не изделия — необратимы решения, принятые по ним до отзыва.</a:t>
            </a:r>
          </a:p>
          <a:p>
            <a:pPr algn="l">
              <a:lnSpc>
                <a:spcPct val="126000"/>
              </a:lnSpc>
              <a:spcBef>
                <a:spcPts val="700"/>
              </a:spcBef>
            </a:pPr>
            <a:r>
              <a:rPr sz="1410" b="0" i="0">
                <a:solidFill>
                  <a:srgbClr val="21295C"/>
                </a:solidFill>
                <a:latin typeface="Arial"/>
              </a:rPr>
              <a:t/>
            </a:r>
            <a:r>
              <a:rPr sz="1410" b="0" i="0">
                <a:solidFill>
                  <a:srgbClr val="21295C"/>
                </a:solidFill>
                <a:latin typeface="Arial"/>
              </a:rPr>
              <a:t>«В медицине всё необратимо» — утверждение шире замера. Отзыв существует и посчитан; решения, принятые по устройству за год его работы, не отзываются вместе с ним.</a:t>
            </a:r>
          </a:p>
          <a:p>
            <a:pPr algn="l">
              <a:lnSpc>
                <a:spcPct val="126000"/>
              </a:lnSpc>
              <a:spcBef>
                <a:spcPts val="700"/>
              </a:spcBef>
            </a:pPr>
            <a:r>
              <a:rPr sz="1410" b="0" i="0">
                <a:solidFill>
                  <a:srgbClr val="21295C"/>
                </a:solidFill>
                <a:latin typeface="Arial"/>
              </a:rPr>
              <a:t/>
            </a:r>
            <a:r>
              <a:rPr sz="1410" b="0" i="0">
                <a:solidFill>
                  <a:srgbClr val="21295C"/>
                </a:solidFill>
                <a:latin typeface="Arial"/>
              </a:rPr>
              <a:t>Дальше — отрасль, где ошибку почти всегда можно отменить, и спор идёт не о цене ошибки, а о том, кому принадлежит результат.</a:t>
            </a:r>
          </a:p>
        </p:txBody>
      </p:sp>
      <p:sp>
        <p:nvSpPr>
          <p:cNvPr id="16" name="Rectangle 1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Lee B., Kramer P., Sandri S., … Dai T., JAMA Health Forum 2025;6(8):e253172, DOI 10.1001/jamahealthforum.2025.3172, срез ноябрь 2024</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Вопросы</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Если бы вы завтра ставили модель в свой рабочий контур — какую одну проверку вы бы сделали обязательной до включения?</a:t>
            </a:r>
          </a:p>
          <a:p>
            <a:pPr algn="l">
              <a:lnSpc>
                <a:spcPct val="126000"/>
              </a:lnSpc>
              <a:spcBef>
                <a:spcPts val="700"/>
              </a:spcBef>
            </a:pPr>
            <a:r>
              <a:rPr sz="1500" b="0" i="0">
                <a:solidFill>
                  <a:srgbClr val="21295C"/>
                </a:solidFill>
                <a:latin typeface="Arial"/>
              </a:rPr>
              <a:t/>
            </a:r>
            <a:r>
              <a:rPr sz="1500" b="0" i="0">
                <a:solidFill>
                  <a:srgbClr val="21295C"/>
                </a:solidFill>
                <a:latin typeface="Arial"/>
              </a:rPr>
              <a:t>• Есть ли у человека независимый источник истины, кроме объяснения модели?</a:t>
            </a:r>
          </a:p>
          <a:p>
            <a:pPr algn="l">
              <a:lnSpc>
                <a:spcPct val="126000"/>
              </a:lnSpc>
              <a:spcBef>
                <a:spcPts val="700"/>
              </a:spcBef>
            </a:pPr>
            <a:r>
              <a:rPr sz="1500" b="0" i="0">
                <a:solidFill>
                  <a:srgbClr val="21295C"/>
                </a:solidFill>
                <a:latin typeface="Arial"/>
              </a:rPr>
              <a:t/>
            </a:r>
            <a:r>
              <a:rPr sz="1500" b="0" i="0">
                <a:solidFill>
                  <a:srgbClr val="21295C"/>
                </a:solidFill>
                <a:latin typeface="Arial"/>
              </a:rPr>
              <a:t>• Измерено ли, что он возражает — и что возражает верно?</a:t>
            </a:r>
          </a:p>
          <a:p>
            <a:pPr algn="l">
              <a:lnSpc>
                <a:spcPct val="126000"/>
              </a:lnSpc>
              <a:spcBef>
                <a:spcPts val="700"/>
              </a:spcBef>
            </a:pPr>
            <a:r>
              <a:rPr sz="1500" b="0" i="0">
                <a:solidFill>
                  <a:srgbClr val="21295C"/>
                </a:solidFill>
                <a:latin typeface="Arial"/>
              </a:rPr>
              <a:t/>
            </a:r>
            <a:r>
              <a:rPr sz="1500" b="0" i="0">
                <a:solidFill>
                  <a:srgbClr val="21295C"/>
                </a:solidFill>
                <a:latin typeface="Arial"/>
              </a:rPr>
              <a:t>• Успевает ли он физически: секунды на решение против объёма, который надо прочитать?</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