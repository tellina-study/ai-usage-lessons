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 причём у одного из них регистрация была приостановлена надзором, поскольку заявленные характеристики при проверке не подтвердились.</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«не менее 0,76» в информационном листе поставщика;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0,76–0,86.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Одно уточнение про знаменатель, чтобы рядом не встал чужой. В клинику с 2015 года вошло 75 молекул машинного происхождения — это вся совокупность категории, а не знаменатель второй фазы, и ставить 75 рядом с «около сорока процентов» нельзя. Против 4 933 переходов отраслевой стороны такая пара внушала бы сопоставимый вес свидетельства там, где разница в три порядка.</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Узкое место стоит назвать по частям, иначе оно звучит отговоркой: переносимость у людей, набор пациентов, длительность наблюдения, производство клинической партии. Расчётный отбор соединений не касается ни одной из этих четырёх работ.</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У этого вывода есть и срок годности, и его стоит произнести: появится первое одобрение — вывод придётся менять целиком, переформулировкой тут не обойтись.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этом вечере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около шестидесяти процентов отзывов к концу исследования оставались неразрешёнными.</a:t>
            </a:r>
          </a:p>
          <a:p>
            <a:r>
              <a:t/>
            </a:r>
          </a:p>
          <a:p>
            <a:r>
              <a:t>Вторая половина подтверждается двумя разборами вечера. В исследовании подбора дозы два смертельных исхода — программу остановили, исходы остались.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принятого не врачом, снят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554480"/>
            <a:ext cx="11185855" cy="3840480"/>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
            </a:r>
            <a:r>
              <a:rPr sz="3400" b="0" i="0">
                <a:solidFill>
                  <a:srgbClr val="21295C"/>
                </a:solidFill>
                <a:latin typeface="Arial"/>
              </a:rPr>
              <a:t>Лекция 7</a:t>
            </a:r>
          </a:p>
          <a:p>
            <a:pPr algn="l">
              <a:lnSpc>
                <a:spcPct val="122000"/>
              </a:lnSpc>
              <a:spcBef>
                <a:spcPts val="1200"/>
              </a:spcBef>
            </a:pPr>
            <a:r>
              <a:rPr sz="3400" b="0" i="0">
                <a:solidFill>
                  <a:srgbClr val="21295C"/>
                </a:solidFill>
                <a:latin typeface="Arial"/>
              </a:rPr>
              <a:t/>
            </a: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
            </a: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4" name="Rectangle 3"/>
          <p:cNvSpPr/>
          <p:nvPr/>
        </p:nvSpPr>
        <p:spPr>
          <a:xfrm>
            <a:off x="502920" y="117043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три состояния на одних и тех же случаях.</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состояние — человек без модели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Распознавание на изображении</a:t>
            </a:r>
            <a:r>
              <a:rPr sz="144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440" b="0" i="0">
                <a:solidFill>
                  <a:srgbClr val="21295C"/>
                </a:solidFill>
                <a:latin typeface="Arial"/>
              </a:rPr>
              <a:t/>
            </a:r>
            <a:r>
              <a:rPr sz="1440" b="1" i="0">
                <a:solidFill>
                  <a:srgbClr val="21295C"/>
                </a:solidFill>
                <a:latin typeface="Arial"/>
              </a:rPr>
              <a:t>Классификация на изображении</a:t>
            </a:r>
            <a:r>
              <a:rPr sz="144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440" b="0" i="0">
                <a:solidFill>
                  <a:srgbClr val="21295C"/>
                </a:solidFill>
                <a:latin typeface="Arial"/>
              </a:rPr>
              <a:t/>
            </a:r>
            <a:r>
              <a:rPr sz="1440" b="1" i="0">
                <a:solidFill>
                  <a:srgbClr val="21295C"/>
                </a:solidFill>
                <a:latin typeface="Arial"/>
              </a:rPr>
              <a:t>Прогноз на структурированных данных</a:t>
            </a:r>
            <a:r>
              <a:rPr sz="144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Поиск с генерацией на тексте</a:t>
            </a:r>
            <a:r>
              <a:rPr sz="144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Сортировка потока по предсказанному риску снимает </a:t>
            </a:r>
            <a:r>
              <a:rPr sz="1200" b="1" i="0">
                <a:solidFill>
                  <a:srgbClr val="21295C"/>
                </a:solidFill>
                <a:latin typeface="Arial"/>
              </a:rPr>
              <a:t>44,3 процента</a:t>
            </a:r>
            <a:r>
              <a:rPr sz="1200" b="0" i="0">
                <a:solidFill>
                  <a:srgbClr val="21295C"/>
                </a:solidFill>
                <a:latin typeface="Arial"/>
              </a:rPr>
              <a:t> человеческого чтения при чувствительности </a:t>
            </a:r>
            <a:r>
              <a:rPr sz="1200" b="1" i="0">
                <a:solidFill>
                  <a:srgbClr val="21295C"/>
                </a:solidFill>
                <a:latin typeface="Arial"/>
              </a:rPr>
              <a:t>80,5 из ста</a:t>
            </a:r>
            <a:r>
              <a:rPr sz="1200" b="0" i="0">
                <a:solidFill>
                  <a:srgbClr val="21295C"/>
                </a:solidFill>
                <a:latin typeface="Arial"/>
              </a:rPr>
              <a:t> против </a:t>
            </a:r>
            <a:r>
              <a:rPr sz="1200" b="1" i="0">
                <a:solidFill>
                  <a:srgbClr val="21295C"/>
                </a:solidFill>
                <a:latin typeface="Arial"/>
              </a:rPr>
              <a:t>73,8 из ста</a:t>
            </a:r>
            <a:r>
              <a:rPr sz="1200" b="0" i="0">
                <a:solidFill>
                  <a:srgbClr val="21295C"/>
                </a:solidFill>
                <a:latin typeface="Arial"/>
              </a:rPr>
              <a:t> у двойного чтения без модели. </a:t>
            </a:r>
            <a:r>
              <a:rPr sz="1200" b="1" i="0">
                <a:solidFill>
                  <a:srgbClr val="21295C"/>
                </a:solidFill>
                <a:latin typeface="Arial"/>
              </a:rPr>
              <a:t>Базы разные: объём чтения — промежуточный анализ на 80 033 женщинах, чувствительность — итоговый на 105 934.</a:t>
            </a:r>
            <a:r>
              <a:rPr sz="12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470" b="0" i="0">
                <a:solidFill>
                  <a:srgbClr val="21295C"/>
                </a:solidFill>
                <a:latin typeface="Arial"/>
              </a:rPr>
              <a:t/>
            </a:r>
            <a:r>
              <a:rPr sz="1470" b="0" i="0">
                <a:solidFill>
                  <a:srgbClr val="21295C"/>
                </a:solidFill>
                <a:latin typeface="Arial"/>
              </a:rPr>
              <a:t>Что предъявили вместо модели:</a:t>
            </a:r>
          </a:p>
          <a:p>
            <a:pPr algn="l">
              <a:lnSpc>
                <a:spcPct val="126000"/>
              </a:lnSpc>
              <a:spcBef>
                <a:spcPts val="700"/>
              </a:spcBef>
            </a:pPr>
            <a:r>
              <a:rPr sz="1470" b="0" i="0">
                <a:solidFill>
                  <a:srgbClr val="21295C"/>
                </a:solidFill>
                <a:latin typeface="Arial"/>
              </a:rPr>
              <a:t/>
            </a:r>
            <a:r>
              <a:rPr sz="1470" b="0" i="0">
                <a:solidFill>
                  <a:srgbClr val="21295C"/>
                </a:solidFill>
                <a:latin typeface="Arial"/>
              </a:rPr>
              <a:t>• На экзаменационных вопросах для начинающих врачей, июнь 2018 года: </a:t>
            </a:r>
            <a:r>
              <a:rPr sz="1470" b="1" i="0">
                <a:solidFill>
                  <a:srgbClr val="21295C"/>
                </a:solidFill>
                <a:latin typeface="Arial"/>
              </a:rPr>
              <a:t>81</a:t>
            </a:r>
            <a:r>
              <a:rPr sz="1470" b="0" i="0">
                <a:solidFill>
                  <a:srgbClr val="21295C"/>
                </a:solidFill>
                <a:latin typeface="Arial"/>
              </a:rPr>
              <a:t> у приложения против </a:t>
            </a:r>
            <a:r>
              <a:rPr sz="1470" b="1" i="0">
                <a:solidFill>
                  <a:srgbClr val="21295C"/>
                </a:solidFill>
                <a:latin typeface="Arial"/>
              </a:rPr>
              <a:t>72</a:t>
            </a:r>
            <a:r>
              <a:rPr sz="1470" b="0" i="0">
                <a:solidFill>
                  <a:srgbClr val="21295C"/>
                </a:solidFill>
                <a:latin typeface="Arial"/>
              </a:rPr>
              <a:t> — среднего результата живых врачей на тех же вопросах.</a:t>
            </a:r>
          </a:p>
          <a:p>
            <a:pPr algn="l">
              <a:lnSpc>
                <a:spcPct val="126000"/>
              </a:lnSpc>
              <a:spcBef>
                <a:spcPts val="700"/>
              </a:spcBef>
            </a:pPr>
            <a:r>
              <a:rPr sz="1470" b="0" i="0">
                <a:solidFill>
                  <a:srgbClr val="21295C"/>
                </a:solidFill>
                <a:latin typeface="Arial"/>
              </a:rPr>
              <a:t/>
            </a:r>
            <a:r>
              <a:rPr sz="147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470" b="0" i="0">
                <a:solidFill>
                  <a:srgbClr val="21295C"/>
                </a:solidFill>
                <a:latin typeface="Arial"/>
              </a:rPr>
              <a:t/>
            </a:r>
            <a:r>
              <a:rPr sz="1470" b="1" i="0">
                <a:solidFill>
                  <a:srgbClr val="21295C"/>
                </a:solidFill>
                <a:latin typeface="Arial"/>
              </a:rPr>
              <a:t>Уберите модель — и сервис продолжит работать.</a:t>
            </a:r>
            <a:r>
              <a:rPr sz="147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470" b="0" i="1">
                <a:solidFill>
                  <a:srgbClr val="21295C"/>
                </a:solidFill>
                <a:latin typeface="Arial"/>
              </a:rPr>
              <a:t>(по заявлению бывшего сотрудника, не аудит)</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это делают сегодня: </a:t>
            </a:r>
            <a:r>
              <a:rPr sz="1470" b="0" i="1">
                <a:solidFill>
                  <a:srgbClr val="21295C"/>
                </a:solidFill>
                <a:latin typeface="Arial"/>
              </a:rPr>
              <a:t>поиск с генерацией на тексте</a:t>
            </a:r>
            <a:r>
              <a:rPr sz="147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180" b="0" i="0">
                <a:solidFill>
                  <a:srgbClr val="21295C"/>
                </a:solidFill>
                <a:latin typeface="Arial"/>
              </a:rPr>
              <a:t/>
            </a:r>
            <a:r>
              <a:rPr sz="118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62909"/>
          </a:xfrm>
          <a:prstGeom prst="roundRect">
            <a:avLst>
              <a:gd name="adj" fmla="val 1477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89373"/>
            <a:ext cx="11441887" cy="2746834"/>
          </a:xfrm>
          <a:prstGeom prst="roundRect">
            <a:avLst>
              <a:gd name="adj" fmla="val 1109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80813"/>
            <a:ext cx="11112703" cy="265539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Практика получает </a:t>
            </a:r>
            <a:r>
              <a:rPr sz="1440" b="1" i="0">
                <a:solidFill>
                  <a:srgbClr val="21295C"/>
                </a:solidFill>
                <a:latin typeface="Arial"/>
              </a:rPr>
              <a:t>около 155 фунтов</a:t>
            </a:r>
            <a:r>
              <a:rPr sz="144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Классически обращаются </a:t>
            </a:r>
            <a:r>
              <a:rPr sz="1440" b="1" i="0">
                <a:solidFill>
                  <a:srgbClr val="21295C"/>
                </a:solidFill>
                <a:latin typeface="Arial"/>
              </a:rPr>
              <a:t>4,0 раза</a:t>
            </a:r>
            <a:r>
              <a:rPr sz="1440" b="0" i="0">
                <a:solidFill>
                  <a:srgbClr val="21295C"/>
                </a:solidFill>
                <a:latin typeface="Arial"/>
              </a:rPr>
              <a:t> в год у 25–44-летних и </a:t>
            </a:r>
            <a:r>
              <a:rPr sz="1440" b="1" i="0">
                <a:solidFill>
                  <a:srgbClr val="21295C"/>
                </a:solidFill>
                <a:latin typeface="Arial"/>
              </a:rPr>
              <a:t>3,26 раза</a:t>
            </a:r>
            <a:r>
              <a:rPr sz="144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440" b="0" i="0">
                <a:solidFill>
                  <a:srgbClr val="21295C"/>
                </a:solidFill>
                <a:latin typeface="Arial"/>
              </a:rPr>
              <a:t/>
            </a:r>
            <a:r>
              <a:rPr sz="1440" b="0" i="0">
                <a:solidFill>
                  <a:srgbClr val="21295C"/>
                </a:solidFill>
                <a:latin typeface="Arial"/>
              </a:rPr>
              <a:t>В сервисе обращений стало </a:t>
            </a:r>
            <a:r>
              <a:rPr sz="1440" b="1" i="0">
                <a:solidFill>
                  <a:srgbClr val="21295C"/>
                </a:solidFill>
                <a:latin typeface="Arial"/>
              </a:rPr>
              <a:t>4,3</a:t>
            </a:r>
            <a:r>
              <a:rPr sz="1440" b="0" i="0">
                <a:solidFill>
                  <a:srgbClr val="21295C"/>
                </a:solidFill>
                <a:latin typeface="Arial"/>
              </a:rPr>
              <a:t> на человека в год при той же подушевой сумме.</a:t>
            </a:r>
          </a:p>
          <a:p>
            <a:pPr algn="l">
              <a:lnSpc>
                <a:spcPct val="126000"/>
              </a:lnSpc>
              <a:spcBef>
                <a:spcPts val="700"/>
              </a:spcBef>
            </a:pPr>
            <a:r>
              <a:rPr sz="1440" b="0" i="0">
                <a:solidFill>
                  <a:srgbClr val="21295C"/>
                </a:solidFill>
                <a:latin typeface="Arial"/>
              </a:rPr>
              <a:t/>
            </a:r>
            <a:r>
              <a:rPr sz="1440" b="1" i="0">
                <a:solidFill>
                  <a:srgbClr val="21295C"/>
                </a:solidFill>
                <a:latin typeface="Arial"/>
              </a:rPr>
              <a:t>Нагрузка переехала на другой шаг</a:t>
            </a:r>
            <a:r>
              <a:rPr sz="1440" b="0" i="0">
                <a:solidFill>
                  <a:srgbClr val="21295C"/>
                </a:solidFill>
                <a:latin typeface="Arial"/>
              </a:rPr>
              <a:t> — с сортировки на приём, и платить за это стало некому.</a:t>
            </a:r>
          </a:p>
          <a:p>
            <a:pPr algn="l">
              <a:lnSpc>
                <a:spcPct val="126000"/>
              </a:lnSpc>
              <a:spcBef>
                <a:spcPts val="700"/>
              </a:spcBef>
            </a:pPr>
            <a:r>
              <a:rPr sz="1440" b="0" i="0">
                <a:solidFill>
                  <a:srgbClr val="21295C"/>
                </a:solidFill>
                <a:latin typeface="Arial"/>
              </a:rPr>
              <a:t/>
            </a:r>
            <a:r>
              <a:rPr sz="1440" b="1" i="0">
                <a:solidFill>
                  <a:srgbClr val="21295C"/>
                </a:solidFill>
                <a:latin typeface="Arial"/>
              </a:rPr>
              <a:t>дало</a:t>
            </a:r>
            <a:r>
              <a:rPr sz="1440" b="0" i="0">
                <a:solidFill>
                  <a:srgbClr val="21295C"/>
                </a:solidFill>
                <a:latin typeface="Arial"/>
              </a:rPr>
              <a:t> — сортировка круглосуточно и мгновенно, порог обращения ниже · </a:t>
            </a:r>
            <a:r>
              <a:rPr sz="1440" b="1" i="0">
                <a:solidFill>
                  <a:srgbClr val="21295C"/>
                </a:solidFill>
                <a:latin typeface="Arial"/>
              </a:rPr>
              <a:t>потребовало</a:t>
            </a:r>
            <a:r>
              <a:rPr sz="1440" b="0" i="0">
                <a:solidFill>
                  <a:srgbClr val="21295C"/>
                </a:solidFill>
                <a:latin typeface="Arial"/>
              </a:rPr>
              <a:t> — экономика на каждом пациенте в минус, задокументированный случай нераспознанных симптомов · </a:t>
            </a:r>
            <a:r>
              <a:rPr sz="1440" b="1" i="0">
                <a:solidFill>
                  <a:srgbClr val="21295C"/>
                </a:solidFill>
                <a:latin typeface="Arial"/>
              </a:rPr>
              <a:t>в сумме хуже</a:t>
            </a:r>
            <a:r>
              <a:rPr sz="1440" b="0" i="0">
                <a:solidFill>
                  <a:srgbClr val="21295C"/>
                </a:solidFill>
                <a:latin typeface="Arial"/>
              </a:rPr>
              <a:t> — оценка на выходе </a:t>
            </a:r>
            <a:r>
              <a:rPr sz="1440" b="1" i="0">
                <a:solidFill>
                  <a:srgbClr val="21295C"/>
                </a:solidFill>
                <a:latin typeface="Arial"/>
              </a:rPr>
              <a:t>4,2 млрд долларов</a:t>
            </a:r>
            <a:r>
              <a:rPr sz="1440" b="0" i="0">
                <a:solidFill>
                  <a:srgbClr val="21295C"/>
                </a:solidFill>
                <a:latin typeface="Arial"/>
              </a:rPr>
              <a:t>, банкротство в августе 2023 года, активы проданы за </a:t>
            </a:r>
            <a:r>
              <a:rPr sz="1440" b="1" i="0">
                <a:solidFill>
                  <a:srgbClr val="21295C"/>
                </a:solidFill>
                <a:latin typeface="Arial"/>
              </a:rPr>
              <a:t>500 тысяч фунтов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2" name="TextBox 11"/>
          <p:cNvSpPr txBox="1"/>
          <p:nvPr/>
        </p:nvSpPr>
        <p:spPr>
          <a:xfrm>
            <a:off x="502920" y="304721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3" name="Rounded Rectangle 12"/>
          <p:cNvSpPr/>
          <p:nvPr/>
        </p:nvSpPr>
        <p:spPr>
          <a:xfrm>
            <a:off x="1920240"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5039258"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8386876"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365071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2" name="Rounded Rectangle 21"/>
          <p:cNvSpPr/>
          <p:nvPr/>
        </p:nvSpPr>
        <p:spPr>
          <a:xfrm>
            <a:off x="1920240"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02536"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5039258"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67858"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0154"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8386876"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15476"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97772"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1993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512212"/>
            <a:ext cx="11441887" cy="1723995"/>
          </a:xfrm>
          <a:prstGeom prst="roundRect">
            <a:avLst>
              <a:gd name="adj" fmla="val 176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9496" y="4603652"/>
            <a:ext cx="11112703" cy="1632555"/>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Выигрыш здесь измерен явкой, а не точностью.</a:t>
            </a:r>
          </a:p>
          <a:p>
            <a:pPr algn="l">
              <a:lnSpc>
                <a:spcPct val="126000"/>
              </a:lnSpc>
              <a:spcBef>
                <a:spcPts val="700"/>
              </a:spcBef>
            </a:pPr>
            <a:r>
              <a:rPr sz="1410" b="0" i="0">
                <a:solidFill>
                  <a:srgbClr val="21295C"/>
                </a:solidFill>
                <a:latin typeface="Arial"/>
              </a:rPr>
              <a:t/>
            </a:r>
            <a:r>
              <a:rPr sz="1410" b="1" i="0">
                <a:solidFill>
                  <a:srgbClr val="21295C"/>
                </a:solidFill>
                <a:latin typeface="Arial"/>
              </a:rPr>
              <a:t>Классический режим.</a:t>
            </a:r>
            <a:r>
              <a:rPr sz="1410" b="0" i="0">
                <a:solidFill>
                  <a:srgbClr val="21295C"/>
                </a:solidFill>
                <a:latin typeface="Arial"/>
              </a:rPr>
              <a:t> Раз в год человек с диабетом идёт к специалисту-офтальмологу; до теста реально доходят </a:t>
            </a:r>
            <a:r>
              <a:rPr sz="1410" b="1" i="0">
                <a:solidFill>
                  <a:srgbClr val="21295C"/>
                </a:solidFill>
                <a:latin typeface="Arial"/>
              </a:rPr>
              <a:t>22 из ста</a:t>
            </a:r>
            <a:r>
              <a:rPr sz="1410" b="0" i="0">
                <a:solidFill>
                  <a:srgbClr val="21295C"/>
                </a:solidFill>
                <a:latin typeface="Arial"/>
              </a:rPr>
              <a:t>.</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a:t>
            </a:r>
            <a:r>
              <a:rPr sz="141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410" b="1" i="0">
                <a:solidFill>
                  <a:srgbClr val="21295C"/>
                </a:solidFill>
                <a:latin typeface="Arial"/>
              </a:rPr>
              <a:t>100 из ста</a:t>
            </a:r>
            <a:r>
              <a:rPr sz="141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410" b="1" i="0">
                <a:solidFill>
                  <a:srgbClr val="21295C"/>
                </a:solidFill>
                <a:latin typeface="Arial"/>
              </a:rPr>
              <a:t>64 из ста против 22 в контроле</a:t>
            </a:r>
            <a:r>
              <a:rPr sz="1410" b="0" i="0">
                <a:solidFill>
                  <a:srgbClr val="21295C"/>
                </a:solidFill>
                <a:latin typeface="Arial"/>
              </a:rPr>
              <a:t>.</a:t>
            </a:r>
          </a:p>
        </p:txBody>
      </p:sp>
      <p:sp>
        <p:nvSpPr>
          <p:cNvPr id="33" name="Rectangle 3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Анализ данных — и группа, на которой он посчитан</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9" name="TextBox 8"/>
          <p:cNvSpPr txBox="1"/>
          <p:nvPr/>
        </p:nvSpPr>
        <p:spPr>
          <a:xfrm>
            <a:off x="704088" y="384878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числа нет — рабочая точка не названа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читаются только парой и только для одной рабочей точки; порознь ни одна не говорит ничего</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числа нет — группа не названа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считали все отобранные работы, группу, на которой они посчитаны, — почти никто</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4" name="Rectangle 13"/>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500" b="1" i="0">
                <a:solidFill>
                  <a:srgbClr val="21295C"/>
                </a:solidFill>
                <a:latin typeface="Arial"/>
              </a:rPr>
              <a:t>9–15 пунктов</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a:t>
            </a:r>
            <a:r>
              <a:rPr sz="1500" b="1" i="0">
                <a:solidFill>
                  <a:srgbClr val="21295C"/>
                </a:solidFill>
                <a:latin typeface="Arial"/>
              </a:rPr>
              <a:t>656 изображений</a:t>
            </a:r>
            <a:r>
              <a:rPr sz="1500" b="0" i="0">
                <a:solidFill>
                  <a:srgbClr val="21295C"/>
                </a:solidFill>
                <a:latin typeface="Arial"/>
              </a:rPr>
              <a:t>, все с подтверждённой биопсией, из них </a:t>
            </a:r>
            <a:r>
              <a:rPr sz="1500" b="1" i="0">
                <a:solidFill>
                  <a:srgbClr val="21295C"/>
                </a:solidFill>
                <a:latin typeface="Arial"/>
              </a:rPr>
              <a:t>207 с тёмными тонами кожи</a:t>
            </a:r>
            <a:r>
              <a:rPr sz="150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по тону кожи измерен </a:t>
            </a:r>
            <a:r>
              <a:rPr sz="1500" b="1" i="0">
                <a:solidFill>
                  <a:srgbClr val="21295C"/>
                </a:solidFill>
                <a:latin typeface="Arial"/>
              </a:rPr>
              <a:t>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 посчитаны на одной выборке:</a:t>
            </a:r>
            <a:r>
              <a:rPr sz="132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320" b="0" i="0">
                <a:solidFill>
                  <a:srgbClr val="21295C"/>
                </a:solidFill>
                <a:latin typeface="Arial"/>
              </a:rPr>
              <a:t/>
            </a:r>
            <a:r>
              <a:rPr sz="1320" b="0" i="0">
                <a:solidFill>
                  <a:srgbClr val="21295C"/>
                </a:solidFill>
                <a:latin typeface="Arial"/>
              </a:rPr>
              <a:t>База: </a:t>
            </a:r>
            <a:r>
              <a:rPr sz="1320" b="1" i="0">
                <a:solidFill>
                  <a:srgbClr val="21295C"/>
                </a:solidFill>
                <a:latin typeface="Arial"/>
              </a:rPr>
              <a:t>49 618 пациентов</a:t>
            </a:r>
            <a:r>
              <a:rPr sz="132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1060" b="0" i="0">
                <a:solidFill>
                  <a:srgbClr val="21295C"/>
                </a:solidFill>
                <a:latin typeface="Arial"/>
              </a:rPr>
              <a:t/>
            </a:r>
            <a:r>
              <a:rPr sz="106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прогноз на структурированных данных</a:t>
            </a:r>
            <a:r>
              <a:rPr sz="132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Если убрать разрыв в здоровье на границе отбора, доля этой группы среди отобранных поднялась бы — расчёт авторов на тех же данных, не результат внедрения.</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И сместилась цена ошибки — на группу, у которой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Модели этого класса применяются примерно к </a:t>
            </a:r>
            <a:r>
              <a:rPr sz="1110" b="1" i="0">
                <a:solidFill>
                  <a:srgbClr val="21295C"/>
                </a:solidFill>
                <a:latin typeface="Arial"/>
              </a:rPr>
              <a:t>200 миллионам</a:t>
            </a:r>
            <a:r>
              <a:rPr sz="1110" b="0" i="0">
                <a:solidFill>
                  <a:srgbClr val="21295C"/>
                </a:solidFill>
                <a:latin typeface="Arial"/>
              </a:rPr>
              <a:t> человек в год — </a:t>
            </a:r>
            <a:r>
              <a:rPr sz="111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10" b="0" i="1">
                <a:solidFill>
                  <a:srgbClr val="21295C"/>
                </a:solidFill>
                <a:latin typeface="Arial"/>
              </a:rPr>
              <a:t>препринт</a:t>
            </a:r>
            <a:r>
              <a:rPr sz="1110" b="0" i="0">
                <a:solidFill>
                  <a:srgbClr val="21295C"/>
                </a:solidFill>
                <a:latin typeface="Arial"/>
              </a:rPr>
              <a:t>. Внутренняя проверка этого не видит: провал проявляется там, где его меньше всего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440" b="0" i="0">
                <a:solidFill>
                  <a:srgbClr val="21295C"/>
                </a:solidFill>
                <a:latin typeface="Arial"/>
              </a:rPr>
              <a:t/>
            </a:r>
            <a:r>
              <a:rPr sz="1440" b="1" i="0">
                <a:solidFill>
                  <a:srgbClr val="21295C"/>
                </a:solidFill>
                <a:latin typeface="Arial"/>
              </a:rPr>
              <a:t>Цена обеих ошибок, до всякой точности.</a:t>
            </a:r>
            <a:r>
              <a:rPr sz="144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Оба классических режима.</a:t>
            </a:r>
            <a:r>
              <a:rPr sz="144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440" b="0" i="0">
                <a:solidFill>
                  <a:srgbClr val="21295C"/>
                </a:solidFill>
                <a:latin typeface="Arial"/>
              </a:rPr>
              <a:t/>
            </a:r>
            <a:r>
              <a:rPr sz="1440" b="1" i="0">
                <a:solidFill>
                  <a:srgbClr val="21295C"/>
                </a:solidFill>
                <a:latin typeface="Arial"/>
              </a:rPr>
              <a:t>Модель против них.</a:t>
            </a:r>
            <a:r>
              <a:rPr sz="144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1150" b="0" i="0">
                <a:solidFill>
                  <a:srgbClr val="21295C"/>
                </a:solidFill>
                <a:latin typeface="Arial"/>
              </a:rPr>
              <a:t/>
            </a:r>
            <a:r>
              <a:rPr sz="115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a:t>
            </a:r>
            <a:r>
              <a:rPr sz="1440" b="0" i="1">
                <a:solidFill>
                  <a:srgbClr val="21295C"/>
                </a:solidFill>
                <a:latin typeface="Arial"/>
              </a:rPr>
              <a:t>распознавание на изображении</a:t>
            </a:r>
            <a:r>
              <a:rPr sz="144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Оба классических режима:</a:t>
            </a:r>
            <a:r>
              <a:rPr sz="129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90" b="0" i="0">
                <a:solidFill>
                  <a:srgbClr val="21295C"/>
                </a:solidFill>
                <a:latin typeface="Arial"/>
              </a:rPr>
              <a:t/>
            </a:r>
            <a:r>
              <a:rPr sz="1290" b="1" i="0">
                <a:solidFill>
                  <a:srgbClr val="21295C"/>
                </a:solidFill>
                <a:latin typeface="Arial"/>
              </a:rPr>
              <a:t>Модель против них.</a:t>
            </a:r>
            <a:r>
              <a:rPr sz="129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90" b="1" i="0">
                <a:solidFill>
                  <a:srgbClr val="21295C"/>
                </a:solidFill>
                <a:latin typeface="Arial"/>
              </a:rPr>
              <a:t>А на группе в целом, без разделения на правоту модели, прибавка незначима</a:t>
            </a:r>
            <a:r>
              <a:rPr sz="129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переехало.</a:t>
            </a:r>
            <a:r>
              <a:rPr sz="129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90" b="0" i="0">
                <a:solidFill>
                  <a:srgbClr val="21295C"/>
                </a:solidFill>
                <a:latin typeface="Arial"/>
              </a:rPr>
              <a:t/>
            </a:r>
            <a:r>
              <a:rPr sz="129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90" b="1" i="0">
                <a:solidFill>
                  <a:srgbClr val="21295C"/>
                </a:solidFill>
                <a:latin typeface="Arial"/>
              </a:rPr>
              <a:t>26 процентов</a:t>
            </a:r>
            <a:r>
              <a:rPr sz="1290" b="0" i="0">
                <a:solidFill>
                  <a:srgbClr val="21295C"/>
                </a:solidFill>
                <a:latin typeface="Arial"/>
              </a:rPr>
              <a:t>; обзор включил 74 исследования из 13 821 просмотренного. </a:t>
            </a:r>
            <a:r>
              <a:rPr sz="129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1030" b="0" i="0">
                <a:solidFill>
                  <a:srgbClr val="21295C"/>
                </a:solidFill>
                <a:latin typeface="Arial"/>
              </a:rPr>
              <a:t/>
            </a:r>
            <a:r>
              <a:rPr sz="103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Классический режим</a:t>
            </a:r>
            <a:r>
              <a:rPr sz="1320" b="0" i="0">
                <a:solidFill>
                  <a:srgbClr val="21295C"/>
                </a:solidFill>
                <a:latin typeface="Arial"/>
              </a:rPr>
              <a:t> — врач с обычными справочниками, и это база сравнения.</a:t>
            </a:r>
          </a:p>
          <a:p>
            <a:pPr algn="l">
              <a:lnSpc>
                <a:spcPct val="126000"/>
              </a:lnSpc>
              <a:spcBef>
                <a:spcPts val="700"/>
              </a:spcBef>
            </a:pPr>
            <a:r>
              <a:rPr sz="1320" b="0" i="0">
                <a:solidFill>
                  <a:srgbClr val="21295C"/>
                </a:solidFill>
                <a:latin typeface="Arial"/>
              </a:rPr>
              <a:t/>
            </a:r>
            <a:r>
              <a:rPr sz="1320" b="0" i="0">
                <a:solidFill>
                  <a:srgbClr val="21295C"/>
                </a:solidFill>
                <a:latin typeface="Arial"/>
              </a:rPr>
              <a:t>Разница между врачом одним и врачом с моделью — два пункта, и она </a:t>
            </a:r>
            <a:r>
              <a:rPr sz="1320" b="1" i="0">
                <a:solidFill>
                  <a:srgbClr val="21295C"/>
                </a:solidFill>
                <a:latin typeface="Arial"/>
              </a:rPr>
              <a:t>незначима</a:t>
            </a:r>
            <a:r>
              <a:rPr sz="1320" b="0" i="0">
                <a:solidFill>
                  <a:srgbClr val="21295C"/>
                </a:solidFill>
                <a:latin typeface="Arial"/>
              </a:rPr>
              <a:t>. Это ноль, измеренный, а не отсутствие данных.</a:t>
            </a:r>
          </a:p>
          <a:p>
            <a:pPr algn="l">
              <a:lnSpc>
                <a:spcPct val="126000"/>
              </a:lnSpc>
              <a:spcBef>
                <a:spcPts val="700"/>
              </a:spcBef>
            </a:pPr>
            <a:r>
              <a:rPr sz="1320" b="0" i="0">
                <a:solidFill>
                  <a:srgbClr val="21295C"/>
                </a:solidFill>
                <a:latin typeface="Arial"/>
              </a:rPr>
              <a:t/>
            </a:r>
            <a:r>
              <a:rPr sz="1320" b="0" i="0">
                <a:solidFill>
                  <a:srgbClr val="21295C"/>
                </a:solidFill>
                <a:latin typeface="Arial"/>
              </a:rPr>
              <a:t>Прогон «модель одна» не был равноправной случайной ветвью — он идёт </a:t>
            </a:r>
            <a:r>
              <a:rPr sz="1320" b="1" i="0">
                <a:solidFill>
                  <a:srgbClr val="21295C"/>
                </a:solidFill>
                <a:latin typeface="Arial"/>
              </a:rPr>
              <a:t>наблюдательным дополнением</a:t>
            </a:r>
            <a:r>
              <a:rPr sz="1320" b="0" i="0">
                <a:solidFill>
                  <a:srgbClr val="21295C"/>
                </a:solidFill>
                <a:latin typeface="Arial"/>
              </a:rPr>
              <a:t>, не результатом распределения.</a:t>
            </a:r>
          </a:p>
          <a:p>
            <a:pPr algn="l">
              <a:lnSpc>
                <a:spcPct val="126000"/>
              </a:lnSpc>
              <a:spcBef>
                <a:spcPts val="700"/>
              </a:spcBef>
            </a:pPr>
            <a:r>
              <a:rPr sz="1060" b="0" i="0">
                <a:solidFill>
                  <a:srgbClr val="21295C"/>
                </a:solidFill>
                <a:latin typeface="Arial"/>
              </a:rPr>
              <a:t/>
            </a:r>
            <a:r>
              <a:rPr sz="106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генерация на тексте</a:t>
            </a:r>
            <a:r>
              <a:rPr sz="1320" b="0" i="0">
                <a:solidFill>
                  <a:srgbClr val="21295C"/>
                </a:solidFill>
                <a:latin typeface="Arial"/>
              </a:rPr>
              <a:t> — клиническое рассуждение и вопрос-ответ со ссылками на литературу. Входит в работу </a:t>
            </a:r>
            <a:r>
              <a:rPr sz="1320" b="1" i="0">
                <a:solidFill>
                  <a:srgbClr val="21295C"/>
                </a:solidFill>
                <a:latin typeface="Arial"/>
              </a:rPr>
              <a:t>снизу</a:t>
            </a:r>
            <a:r>
              <a:rPr sz="132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человек плюс модель, арбитраж на разногласиях. Прибавка чувствительности </a:t>
            </a:r>
            <a:r>
              <a:rPr sz="1320" b="1" i="0">
                <a:solidFill>
                  <a:srgbClr val="21295C"/>
                </a:solidFill>
                <a:latin typeface="Arial"/>
              </a:rPr>
              <a:t>значима</a:t>
            </a:r>
            <a:r>
              <a:rPr sz="1320" b="0" i="0">
                <a:solidFill>
                  <a:srgbClr val="21295C"/>
                </a:solidFill>
                <a:latin typeface="Arial"/>
              </a:rPr>
              <a:t>.</a:t>
            </a:r>
          </a:p>
          <a:p>
            <a:pPr algn="l">
              <a:lnSpc>
                <a:spcPct val="126000"/>
              </a:lnSpc>
              <a:spcBef>
                <a:spcPts val="700"/>
              </a:spcBef>
            </a:pPr>
            <a:r>
              <a:rPr sz="1060" b="0" i="0">
                <a:solidFill>
                  <a:srgbClr val="21295C"/>
                </a:solidFill>
                <a:latin typeface="Arial"/>
              </a:rPr>
              <a:t/>
            </a:r>
            <a:r>
              <a:rPr sz="10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320" b="0" i="0">
                <a:solidFill>
                  <a:srgbClr val="21295C"/>
                </a:solidFill>
                <a:latin typeface="Arial"/>
              </a:rPr>
              <a:t/>
            </a:r>
            <a:r>
              <a:rPr sz="1320" b="0" i="0">
                <a:solidFill>
                  <a:srgbClr val="21295C"/>
                </a:solidFill>
                <a:latin typeface="Arial"/>
              </a:rPr>
              <a:t>Независимость здесь не нарушена, а </a:t>
            </a:r>
            <a:r>
              <a:rPr sz="1320" b="1" i="0">
                <a:solidFill>
                  <a:srgbClr val="21295C"/>
                </a:solidFill>
                <a:latin typeface="Arial"/>
              </a:rPr>
              <a:t>перестроена</a:t>
            </a:r>
            <a:r>
              <a:rPr sz="132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распознавание на изображении</a:t>
            </a:r>
            <a:r>
              <a:rPr sz="1320" b="0" i="0">
                <a:solidFill>
                  <a:srgbClr val="21295C"/>
                </a:solidFill>
                <a:latin typeface="Arial"/>
              </a:rPr>
              <a:t>, та же клетка и </a:t>
            </a:r>
            <a:r>
              <a:rPr sz="1320" b="1" i="0">
                <a:solidFill>
                  <a:srgbClr val="21295C"/>
                </a:solidFill>
                <a:latin typeface="Arial"/>
              </a:rPr>
              <a:t>тот же инструмент</a:t>
            </a:r>
            <a:r>
              <a:rPr sz="132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Что переехало.</a:t>
            </a:r>
            <a:r>
              <a:rPr sz="114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 Больше форм здесь не называется.</a:t>
            </a:r>
          </a:p>
          <a:p>
            <a:pPr algn="l">
              <a:lnSpc>
                <a:spcPct val="126000"/>
              </a:lnSpc>
              <a:spcBef>
                <a:spcPts val="700"/>
              </a:spcBef>
            </a:pPr>
            <a:r>
              <a:rPr sz="1140" b="0" i="0">
                <a:solidFill>
                  <a:srgbClr val="21295C"/>
                </a:solidFill>
                <a:latin typeface="Arial"/>
              </a:rPr>
              <a:t/>
            </a:r>
            <a:r>
              <a:rPr sz="114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и это разворачивает весь раздел: в другой программе измерили, </a:t>
            </a:r>
            <a:r>
              <a:rPr sz="1140" b="1" i="0">
                <a:solidFill>
                  <a:srgbClr val="21295C"/>
                </a:solidFill>
                <a:latin typeface="Arial"/>
              </a:rPr>
              <a:t>чьим находкам верят</a:t>
            </a:r>
            <a:r>
              <a:rPr sz="1140" b="0" i="0">
                <a:solidFill>
                  <a:srgbClr val="21295C"/>
                </a:solidFill>
                <a:latin typeface="Arial"/>
              </a:rPr>
              <a:t>. Из ста находок, сделанных </a:t>
            </a:r>
            <a:r>
              <a:rPr sz="1140" b="1" i="0">
                <a:solidFill>
                  <a:srgbClr val="21295C"/>
                </a:solidFill>
                <a:latin typeface="Arial"/>
              </a:rPr>
              <a:t>только моделью</a:t>
            </a:r>
            <a:r>
              <a:rPr sz="1140" b="0" i="0">
                <a:solidFill>
                  <a:srgbClr val="21295C"/>
                </a:solidFill>
                <a:latin typeface="Arial"/>
              </a:rPr>
              <a:t>, подтверждается раком </a:t>
            </a:r>
            <a:r>
              <a:rPr sz="1140" b="1" i="0">
                <a:solidFill>
                  <a:srgbClr val="21295C"/>
                </a:solidFill>
                <a:latin typeface="Arial"/>
              </a:rPr>
              <a:t>22</a:t>
            </a:r>
            <a:r>
              <a:rPr sz="1140" b="0" i="0">
                <a:solidFill>
                  <a:srgbClr val="21295C"/>
                </a:solidFill>
                <a:latin typeface="Arial"/>
              </a:rPr>
              <a:t>; из ста находок, сделанных </a:t>
            </a:r>
            <a:r>
              <a:rPr sz="1140" b="1" i="0">
                <a:solidFill>
                  <a:srgbClr val="21295C"/>
                </a:solidFill>
                <a:latin typeface="Arial"/>
              </a:rPr>
              <a:t>только радиологом</a:t>
            </a:r>
            <a:r>
              <a:rPr sz="1140" b="0" i="0">
                <a:solidFill>
                  <a:srgbClr val="21295C"/>
                </a:solidFill>
                <a:latin typeface="Arial"/>
              </a:rPr>
              <a:t> — </a:t>
            </a:r>
            <a:r>
              <a:rPr sz="1140" b="1" i="0">
                <a:solidFill>
                  <a:srgbClr val="21295C"/>
                </a:solidFill>
                <a:latin typeface="Arial"/>
              </a:rPr>
              <a:t>3,4</a:t>
            </a:r>
            <a:r>
              <a:rPr sz="114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есть здесь доверия к модели </a:t>
            </a:r>
            <a:r>
              <a:rPr sz="1140" b="1" i="0">
                <a:solidFill>
                  <a:srgbClr val="21295C"/>
                </a:solidFill>
                <a:latin typeface="Arial"/>
              </a:rPr>
              <a:t>слишком мало</a:t>
            </a:r>
            <a:r>
              <a:rPr sz="1140" b="0" i="0">
                <a:solidFill>
                  <a:srgbClr val="21295C"/>
                </a:solidFill>
                <a:latin typeface="Arial"/>
              </a:rPr>
              <a:t>, а не слишком много.</a:t>
            </a:r>
          </a:p>
          <a:p>
            <a:pPr algn="l">
              <a:lnSpc>
                <a:spcPct val="126000"/>
              </a:lnSpc>
              <a:spcBef>
                <a:spcPts val="700"/>
              </a:spcBef>
            </a:pPr>
            <a:r>
              <a:rPr sz="910" b="0" i="0">
                <a:solidFill>
                  <a:srgbClr val="21295C"/>
                </a:solidFill>
                <a:latin typeface="Arial"/>
              </a:rPr>
              <a:t/>
            </a:r>
            <a:r>
              <a:rPr sz="91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ломается.</a:t>
            </a:r>
            <a:r>
              <a:rPr sz="1110" b="0" i="0">
                <a:solidFill>
                  <a:srgbClr val="21295C"/>
                </a:solidFill>
                <a:latin typeface="Arial"/>
              </a:rPr>
              <a:t> База падения — </a:t>
            </a:r>
            <a:r>
              <a:rPr sz="1110" b="1" i="0">
                <a:solidFill>
                  <a:srgbClr val="21295C"/>
                </a:solidFill>
                <a:latin typeface="Arial"/>
              </a:rPr>
              <a:t>верная</a:t>
            </a:r>
            <a:r>
              <a:rPr sz="111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110" b="0" i="0">
                <a:solidFill>
                  <a:srgbClr val="21295C"/>
                </a:solidFill>
                <a:latin typeface="Arial"/>
              </a:rPr>
              <a:t/>
            </a:r>
            <a:r>
              <a:rPr sz="1110" b="1" i="0">
                <a:solidFill>
                  <a:srgbClr val="21295C"/>
                </a:solidFill>
                <a:latin typeface="Arial"/>
              </a:rPr>
              <a:t>Где потолок.</a:t>
            </a:r>
            <a:r>
              <a:rPr sz="111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11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110" b="0" i="0">
                <a:solidFill>
                  <a:srgbClr val="21295C"/>
                </a:solidFill>
                <a:latin typeface="Arial"/>
              </a:rPr>
              <a:t/>
            </a:r>
            <a:r>
              <a:rPr sz="1110" b="1" i="0">
                <a:solidFill>
                  <a:srgbClr val="21295C"/>
                </a:solidFill>
                <a:latin typeface="Arial"/>
              </a:rPr>
              <a:t>Не измерено, и это названо пробелом.</a:t>
            </a:r>
            <a:r>
              <a:rPr sz="111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Доверие откалибровано </a:t>
            </a:r>
            <a:r>
              <a:rPr sz="1110" b="1" i="0">
                <a:solidFill>
                  <a:srgbClr val="21295C"/>
                </a:solidFill>
                <a:latin typeface="Arial"/>
              </a:rPr>
              <a:t>не по тому признаку</a:t>
            </a:r>
            <a:r>
              <a:rPr sz="111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110" b="0" i="0">
                <a:solidFill>
                  <a:srgbClr val="21295C"/>
                </a:solidFill>
                <a:latin typeface="Arial"/>
              </a:rPr>
              <a:t/>
            </a:r>
            <a:r>
              <a:rPr sz="111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Пропустить ухудшение.</a:t>
            </a:r>
            <a:r>
              <a:rPr sz="15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Поднять ложную тревогу.</a:t>
            </a:r>
            <a:r>
              <a:rPr sz="15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ошибки платит одна и та же дежурная смена.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менее 0,76 · 0,83–0,86</a:t>
            </a:r>
          </a:p>
        </p:txBody>
      </p:sp>
      <p:sp>
        <p:nvSpPr>
          <p:cNvPr id="7" name="TextBox 6"/>
          <p:cNvSpPr txBox="1"/>
          <p:nvPr/>
        </p:nvSpPr>
        <p:spPr>
          <a:xfrm>
            <a:off x="640080"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информационный лист по первой версии, второе — заявление по второй версии по трём своим площадкам; это не одно число, и оно менялось от версии к версии</a:t>
            </a:r>
          </a:p>
        </p:txBody>
      </p:sp>
      <p:sp>
        <p:nvSpPr>
          <p:cNvPr id="8" name="Rounded Rectangle 7"/>
          <p:cNvSpPr/>
          <p:nvPr/>
        </p:nvSpPr>
        <p:spPr>
          <a:xfrm>
            <a:off x="4286402" y="1335024"/>
            <a:ext cx="3618890"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не менее 0,76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информационный лист по первой версии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80" b="0" i="0">
                <a:solidFill>
                  <a:srgbClr val="21295C"/>
                </a:solidFill>
                <a:latin typeface="Arial"/>
              </a:rPr>
              <a:t/>
            </a:r>
            <a:r>
              <a:rPr sz="108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Нагрузка переехала с набора на вычитку, и рядом появился шаг, которого не было.</a:t>
            </a:r>
          </a:p>
          <a:p>
            <a:pPr algn="l">
              <a:lnSpc>
                <a:spcPct val="126000"/>
              </a:lnSpc>
              <a:spcBef>
                <a:spcPts val="700"/>
              </a:spcBef>
            </a:pPr>
            <a:r>
              <a:rPr sz="1350" b="0" i="0">
                <a:solidFill>
                  <a:srgbClr val="21295C"/>
                </a:solidFill>
                <a:latin typeface="Arial"/>
              </a:rPr>
              <a:t/>
            </a:r>
            <a:r>
              <a:rPr sz="135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Дало</a:t>
            </a:r>
            <a:r>
              <a:rPr sz="1200" b="0" i="0">
                <a:solidFill>
                  <a:srgbClr val="21295C"/>
                </a:solidFill>
                <a:latin typeface="Arial"/>
              </a:rPr>
              <a:t> — документ готов раньше, короче и связнее. </a:t>
            </a:r>
            <a:r>
              <a:rPr sz="1200" b="1" i="0">
                <a:solidFill>
                  <a:srgbClr val="21295C"/>
                </a:solidFill>
                <a:latin typeface="Arial"/>
              </a:rPr>
              <a:t>Потребовало</a:t>
            </a:r>
            <a:r>
              <a:rPr sz="1200" b="0" i="0">
                <a:solidFill>
                  <a:srgbClr val="21295C"/>
                </a:solidFill>
                <a:latin typeface="Arial"/>
              </a:rPr>
              <a:t> — полноты и вычитки другого рода. </a:t>
            </a:r>
            <a:r>
              <a:rPr sz="1200" b="1" i="0">
                <a:solidFill>
                  <a:srgbClr val="21295C"/>
                </a:solidFill>
                <a:latin typeface="Arial"/>
              </a:rPr>
              <a:t>В сумме</a:t>
            </a:r>
            <a:r>
              <a:rPr sz="1200" b="0" i="0">
                <a:solidFill>
                  <a:srgbClr val="21295C"/>
                </a:solidFill>
                <a:latin typeface="Arial"/>
              </a:rPr>
              <a:t> — потенциал вреда одной ошибки тот же, ошибок больше, документ менее полон.</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Числа, которые удобно звучат, живут в пересказах дольше, чем в первоисточниках. </a:t>
            </a:r>
            <a:r>
              <a:rPr sz="1200" b="1" i="0">
                <a:solidFill>
                  <a:srgbClr val="21295C"/>
                </a:solidFill>
                <a:latin typeface="Arial"/>
              </a:rPr>
              <a:t>Разряд свидетельства у пересказа ниже, чем у исследования, даже когда числа совпадают</a:t>
            </a:r>
            <a:r>
              <a:rPr sz="120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960" b="0" i="0">
                <a:solidFill>
                  <a:srgbClr val="21295C"/>
                </a:solidFill>
                <a:latin typeface="Arial"/>
              </a:rPr>
              <a:t/>
            </a:r>
            <a:r>
              <a:rPr sz="96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380" b="0" i="0">
                <a:solidFill>
                  <a:srgbClr val="21295C"/>
                </a:solidFill>
                <a:latin typeface="Arial"/>
              </a:rPr>
              <a:t/>
            </a:r>
            <a:r>
              <a:rPr sz="1380" b="1" i="0">
                <a:solidFill>
                  <a:srgbClr val="21295C"/>
                </a:solidFill>
                <a:latin typeface="Arial"/>
              </a:rPr>
              <a:t>Кто сидит за столом.</a:t>
            </a:r>
            <a:r>
              <a:rPr sz="138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380" b="0" i="0">
                <a:solidFill>
                  <a:srgbClr val="21295C"/>
                </a:solidFill>
                <a:latin typeface="Arial"/>
              </a:rPr>
              <a:t/>
            </a:r>
            <a:r>
              <a:rPr sz="1380" b="1" i="0">
                <a:solidFill>
                  <a:srgbClr val="21295C"/>
                </a:solidFill>
                <a:latin typeface="Arial"/>
              </a:rPr>
              <a:t>Что лежит на столе.</a:t>
            </a:r>
            <a:r>
              <a:rPr sz="138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Какой вопрос решают.</a:t>
            </a:r>
            <a:r>
              <a:rPr sz="138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380" b="0" i="0">
                <a:solidFill>
                  <a:srgbClr val="21295C"/>
                </a:solidFill>
                <a:latin typeface="Arial"/>
              </a:rPr>
              <a:t/>
            </a:r>
            <a:r>
              <a:rPr sz="1380" b="0" i="0">
                <a:solidFill>
                  <a:srgbClr val="21295C"/>
                </a:solidFill>
                <a:latin typeface="Arial"/>
              </a:rPr>
              <a:t>Вопроса «пользовался ли он моделью» в этом списке нет.</a:t>
            </a:r>
          </a:p>
          <a:p>
            <a:pPr algn="l">
              <a:lnSpc>
                <a:spcPct val="126000"/>
              </a:lnSpc>
              <a:spcBef>
                <a:spcPts val="700"/>
              </a:spcBef>
            </a:pPr>
            <a:r>
              <a:rPr sz="1100" b="0" i="0">
                <a:solidFill>
                  <a:srgbClr val="21295C"/>
                </a:solidFill>
                <a:latin typeface="Arial"/>
              </a:rPr>
              <a:t/>
            </a:r>
            <a:r>
              <a:rPr sz="110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 Третьего раунда, где это проверили бы на живых врачах, не было.</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 авторов и издание кадр не называет.</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Цена обеих ошибок.</a:t>
            </a:r>
            <a:r>
              <a:rPr sz="1440" b="0" i="0">
                <a:solidFill>
                  <a:srgbClr val="21295C"/>
                </a:solidFill>
                <a:latin typeface="Arial"/>
              </a:rPr>
              <a:t> Обещание рассчитано на успех там, где отраслевая база даёт </a:t>
            </a:r>
            <a:r>
              <a:rPr sz="1440" b="1" i="0">
                <a:solidFill>
                  <a:srgbClr val="21295C"/>
                </a:solidFill>
                <a:latin typeface="Arial"/>
              </a:rPr>
              <a:t>28,9 процента</a:t>
            </a:r>
            <a:r>
              <a:rPr sz="1440" b="0" i="0">
                <a:solidFill>
                  <a:srgbClr val="21295C"/>
                </a:solidFill>
                <a:latin typeface="Arial"/>
              </a:rPr>
              <a:t> перехода — провал на этом шаге норма воронки.</a:t>
            </a:r>
          </a:p>
          <a:p>
            <a:pPr algn="l">
              <a:lnSpc>
                <a:spcPct val="126000"/>
              </a:lnSpc>
              <a:spcBef>
                <a:spcPts val="700"/>
              </a:spcBef>
            </a:pPr>
            <a:r>
              <a:rPr sz="1440" b="0" i="0">
                <a:solidFill>
                  <a:srgbClr val="21295C"/>
                </a:solidFill>
                <a:latin typeface="Arial"/>
              </a:rPr>
              <a:t/>
            </a:r>
            <a:r>
              <a:rPr sz="1440" b="1" i="0">
                <a:solidFill>
                  <a:srgbClr val="21295C"/>
                </a:solidFill>
                <a:latin typeface="Arial"/>
              </a:rPr>
              <a:t>Путь компании.</a:t>
            </a:r>
            <a:r>
              <a:rPr sz="1440" b="0" i="0">
                <a:solidFill>
                  <a:srgbClr val="21295C"/>
                </a:solidFill>
                <a:latin typeface="Arial"/>
              </a:rPr>
              <a:t> Обещание доводить препараты до регистрации самостоятельно → фаза IIa: </a:t>
            </a:r>
            <a:r>
              <a:rPr sz="1440" b="1" i="0">
                <a:solidFill>
                  <a:srgbClr val="21295C"/>
                </a:solidFill>
                <a:latin typeface="Arial"/>
              </a:rPr>
              <a:t>91 пациент</a:t>
            </a:r>
            <a:r>
              <a:rPr sz="1440" b="0" i="0">
                <a:solidFill>
                  <a:srgbClr val="21295C"/>
                </a:solidFill>
                <a:latin typeface="Arial"/>
              </a:rPr>
              <a:t> 18–65 лет, </a:t>
            </a:r>
            <a:r>
              <a:rPr sz="1440" b="1" i="0">
                <a:solidFill>
                  <a:srgbClr val="21295C"/>
                </a:solidFill>
                <a:latin typeface="Arial"/>
              </a:rPr>
              <a:t>28 дней</a:t>
            </a:r>
            <a:r>
              <a:rPr sz="1440" b="0" i="0">
                <a:solidFill>
                  <a:srgbClr val="21295C"/>
                </a:solidFill>
                <a:latin typeface="Arial"/>
              </a:rPr>
              <a:t> нанесения, первичная точка по безопасности достигнута, точки эффективности — нет → </a:t>
            </a:r>
            <a:r>
              <a:rPr sz="1440" b="1" i="0">
                <a:solidFill>
                  <a:srgbClr val="21295C"/>
                </a:solidFill>
                <a:latin typeface="Arial"/>
              </a:rPr>
              <a:t>минус 180 рабочих мест</a:t>
            </a:r>
            <a:r>
              <a:rPr sz="144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Дало</a:t>
            </a:r>
            <a:r>
              <a:rPr sz="1140" b="0" i="0">
                <a:solidFill>
                  <a:srgbClr val="21295C"/>
                </a:solidFill>
                <a:latin typeface="Arial"/>
              </a:rPr>
              <a:t> — с помощником находят больше.</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Потребовало</a:t>
            </a:r>
            <a:r>
              <a:rPr sz="1140" b="0" i="0">
                <a:solidFill>
                  <a:srgbClr val="21295C"/>
                </a:solidFill>
                <a:latin typeface="Arial"/>
              </a:rPr>
              <a:t> — умения искать самому.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В сумме</a:t>
            </a:r>
            <a:r>
              <a:rPr sz="11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40" b="0" i="0">
                <a:solidFill>
                  <a:srgbClr val="21295C"/>
                </a:solidFill>
                <a:latin typeface="Arial"/>
              </a:rPr>
              <a:t/>
            </a:r>
            <a:r>
              <a:rPr sz="1140" b="1" i="0">
                <a:solidFill>
                  <a:srgbClr val="21295C"/>
                </a:solidFill>
                <a:latin typeface="Arial"/>
              </a:rPr>
              <a:t>Форма 8 словаря: Исполнитель тот же, но стал хуже.</a:t>
            </a:r>
            <a:r>
              <a:rPr sz="1140" b="0" i="0">
                <a:solidFill>
                  <a:srgbClr val="21295C"/>
                </a:solidFill>
                <a:latin typeface="Arial"/>
              </a:rPr>
              <a:t> Место, объём, порядок шагов и рука прежние — изменилось состояние самой руки. Не форма 5: там сменилась рука, здесь рука та же, и именно на этом стоит измерение. Не форма 4а: там упал объём операции, здесь объём тот же, упала доля находок.</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40" b="1" i="0">
                <a:solidFill>
                  <a:srgbClr val="21295C"/>
                </a:solidFill>
                <a:latin typeface="Arial"/>
              </a:rPr>
              <a:t>Повторением клинической находки это не является:</a:t>
            </a:r>
            <a:r>
              <a:rPr sz="114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40" b="0" i="0">
                <a:solidFill>
                  <a:srgbClr val="21295C"/>
                </a:solidFill>
                <a:latin typeface="Arial"/>
              </a:rPr>
              <a:t/>
            </a:r>
            <a:r>
              <a:rPr sz="11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вечер.</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80" b="0" i="0">
                <a:solidFill>
                  <a:srgbClr val="21295C"/>
                </a:solidFill>
                <a:latin typeface="Arial"/>
              </a:rPr>
              <a:t/>
            </a:r>
            <a:r>
              <a:rPr sz="108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80" b="0" i="0">
                <a:solidFill>
                  <a:srgbClr val="21295C"/>
                </a:solidFill>
                <a:latin typeface="Arial"/>
              </a:rPr>
              <a:t/>
            </a:r>
            <a:r>
              <a:rPr sz="108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 </a:t>
            </a:r>
            <a:r>
              <a:rPr sz="1260" b="1" i="0">
                <a:solidFill>
                  <a:srgbClr val="21295C"/>
                </a:solidFill>
                <a:latin typeface="Arial"/>
              </a:rPr>
              <a:t>5. Исполнитель сменился</a:t>
            </a:r>
            <a:r>
              <a:rPr sz="126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6. Изменился порядок работ</a:t>
            </a:r>
            <a:r>
              <a:rPr sz="1260" b="0" i="0">
                <a:solidFill>
                  <a:srgbClr val="21295C"/>
                </a:solidFill>
                <a:latin typeface="Arial"/>
              </a:rPr>
              <a:t> — сортировка до приёма. </a:t>
            </a:r>
            <a:r>
              <a:rPr sz="126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7. Сместилась цена ошибки</a:t>
            </a:r>
            <a:r>
              <a:rPr sz="1260" b="0" i="0">
                <a:solidFill>
                  <a:srgbClr val="21295C"/>
                </a:solidFill>
                <a:latin typeface="Arial"/>
              </a:rPr>
              <a:t> — разрыв между нормой и проверкой.</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8. Исполнитель тот же, но стал хуже</a:t>
            </a:r>
            <a:r>
              <a:rPr sz="126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восьмая форма отличается от двух соседних: в пятой сменилась </a:t>
            </a:r>
            <a:r>
              <a:rPr sz="1260" b="1" i="0">
                <a:solidFill>
                  <a:srgbClr val="21295C"/>
                </a:solidFill>
                <a:latin typeface="Arial"/>
              </a:rPr>
              <a:t>рука</a:t>
            </a:r>
            <a:r>
              <a:rPr sz="1260" b="0" i="0">
                <a:solidFill>
                  <a:srgbClr val="21295C"/>
                </a:solidFill>
                <a:latin typeface="Arial"/>
              </a:rPr>
              <a:t> — здесь рука та же, и на этом стоит измерение. В форме 4а упал </a:t>
            </a:r>
            <a:r>
              <a:rPr sz="1260" b="1" i="0">
                <a:solidFill>
                  <a:srgbClr val="21295C"/>
                </a:solidFill>
                <a:latin typeface="Arial"/>
              </a:rPr>
              <a:t>объём</a:t>
            </a:r>
            <a:r>
              <a:rPr sz="1260" b="0" i="0">
                <a:solidFill>
                  <a:srgbClr val="21295C"/>
                </a:solidFill>
                <a:latin typeface="Arial"/>
              </a:rPr>
              <a:t> — здесь объём тот же, упала </a:t>
            </a:r>
            <a:r>
              <a:rPr sz="1260" b="1" i="0">
                <a:solidFill>
                  <a:srgbClr val="21295C"/>
                </a:solidFill>
                <a:latin typeface="Arial"/>
              </a:rPr>
              <a:t>доля находок</a:t>
            </a:r>
            <a:r>
              <a:rPr sz="1260" b="0" i="0">
                <a:solidFill>
                  <a:srgbClr val="21295C"/>
                </a:solidFill>
                <a:latin typeface="Arial"/>
              </a:rPr>
              <a:t>.</a:t>
            </a:r>
          </a:p>
          <a:p>
            <a:pPr algn="l">
              <a:lnSpc>
                <a:spcPct val="126000"/>
              </a:lnSpc>
              <a:spcBef>
                <a:spcPts val="700"/>
              </a:spcBef>
            </a:pPr>
            <a:r>
              <a:rPr sz="1010" b="0" i="0">
                <a:solidFill>
                  <a:srgbClr val="21295C"/>
                </a:solidFill>
                <a:latin typeface="Arial"/>
              </a:rPr>
              <a:t/>
            </a:r>
            <a:r>
              <a:rPr sz="101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10" b="0" i="0">
                <a:solidFill>
                  <a:srgbClr val="21295C"/>
                </a:solidFill>
                <a:latin typeface="Arial"/>
              </a:rPr>
              <a:t/>
            </a:r>
            <a:r>
              <a:rPr sz="1110" b="0" i="0">
                <a:solidFill>
                  <a:srgbClr val="21295C"/>
                </a:solidFill>
                <a:latin typeface="Arial"/>
              </a:rPr>
              <a:t>У опоры «ошибается иначе» величины нет, и сказано это той же строкой, которой вечер требовал базу у чужих чисел: </a:t>
            </a:r>
            <a:r>
              <a:rPr sz="1110" b="1" i="0">
                <a:solidFill>
                  <a:srgbClr val="21295C"/>
                </a:solidFill>
                <a:latin typeface="Arial"/>
              </a:rPr>
              <a:t>доли взаимного перекрытия ошибок не измерены</a:t>
            </a:r>
            <a:r>
              <a:rPr sz="1110" b="0" i="0">
                <a:solidFill>
                  <a:srgbClr val="21295C"/>
                </a:solidFill>
                <a:latin typeface="Arial"/>
              </a:rPr>
              <a:t> — измерения есть, их числа сверку по первоисточнику не прошли. Держится опора механизмом: какая сторона сильнее, такой у пары и знак.</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проверки, которые инженер может приложить к своему контуру:</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Есть ли у человека независимый источник истины, кроме объяснения модели?</a:t>
            </a:r>
            <a:r>
              <a:rPr sz="1110" b="0" i="0">
                <a:solidFill>
                  <a:srgbClr val="21295C"/>
                </a:solidFill>
                <a:latin typeface="Arial"/>
              </a:rPr>
              <a:t> Если он проверяет вывод по самообъяснению модели — это не проверка.</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Измерено ли, что он возражает?</a:t>
            </a:r>
            <a:r>
              <a:rPr sz="1110" b="0" i="0">
                <a:solidFill>
                  <a:srgbClr val="21295C"/>
                </a:solidFill>
                <a:latin typeface="Arial"/>
              </a:rPr>
              <a:t> Доля отклонений и доля </a:t>
            </a:r>
            <a:r>
              <a:rPr sz="1110" b="1" i="0">
                <a:solidFill>
                  <a:srgbClr val="21295C"/>
                </a:solidFill>
                <a:latin typeface="Arial"/>
              </a:rPr>
              <a:t>правильных</a:t>
            </a:r>
            <a:r>
              <a:rPr sz="111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Успевает ли он физически?</a:t>
            </a:r>
            <a:r>
              <a:rPr sz="111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90" b="0" i="0">
                <a:solidFill>
                  <a:srgbClr val="21295C"/>
                </a:solidFill>
                <a:latin typeface="Arial"/>
              </a:rPr>
              <a:t/>
            </a:r>
            <a:r>
              <a:rPr sz="890" b="0" i="1">
                <a:solidFill>
                  <a:srgbClr val="1C7293"/>
                </a:solidFill>
                <a:latin typeface="Arial"/>
              </a:rPr>
              <a:t>Норма сформулирована как способность вмешаться, а не как присутствие: формулировка не требует, чтобы человек смотрел каждое решение.</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2992350"/>
            <a:ext cx="1770735" cy="2032143"/>
          </a:xfrm>
          <a:prstGeom prst="roundRect">
            <a:avLst>
              <a:gd name="adj" fmla="val 172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147798"/>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750427"/>
            <a:ext cx="1441551" cy="111861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Допуск</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2992350"/>
            <a:ext cx="1770735" cy="2032143"/>
          </a:xfrm>
          <a:prstGeom prst="roundRect">
            <a:avLst>
              <a:gd name="adj" fmla="val 1721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9143" y="3147798"/>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750427"/>
            <a:ext cx="1441551" cy="111861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Исход исследования подбора дозы</a:t>
            </a:r>
          </a:p>
          <a:p>
            <a:pPr algn="l">
              <a:lnSpc>
                <a:spcPct val="126000"/>
              </a:lnSpc>
            </a:pPr>
            <a:r>
              <a:rPr sz="11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5079357"/>
            <a:ext cx="11112703" cy="9790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