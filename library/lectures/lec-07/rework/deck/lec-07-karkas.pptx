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38/s41467-023-44676-z"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www.accessdata.fda.gov/cdrh_docs/pdf18/DEN180001.pdf"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2256-021-00307-0"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ence.aax2342"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5259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networkopen.2024.40969"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4.40969"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internmed.2025.0821"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93/jamia/ocad118"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93/jamia/ocad118"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gie.2014.07.058"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metr.org/blog/2026-02-24-uplift-update/"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S2468-1253%2825%2900133-5"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go.bio.org/rs/490-EHZ-999/images/ClinicalDevelopmentSuccessRates2011_2020.pdf"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 Id="rId3" Type="http://schemas.openxmlformats.org/officeDocument/2006/relationships/hyperlink" Target="https://doi.org/10.1001/jamahealthforum.2025.3172" TargetMode="Externa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вечер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весь вечер: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Bertin, Frappier, 2019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Что стало с теми, кто решает, — замер по человеку: что сделалось с его вниманием, навыком и готовностью возразить; шаг работы такого замера не показывает. Разработка лекарства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Заполняется сетка по ходу вечера: разделом за разделом в неё вписываются короткие имена разобранных случаев, и к сборке она собрана целиком —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разобрано в главе и со сцены сегодня не идёт: разбора, у которого обе половины измерены в сопоставимых единицах, на нём не нашлось. Из оперативной помощи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и соавт., JAMA Network Open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Женщина с письмом, с которой вечер начался,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Та женщина, которой пришло письмо, попала под этот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вечер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названы во входе.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 клетка про класс задачи, а не про поставщика.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названная форма словаря. Здесь из четырёх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пять,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пяти легли на изображение, и это свойство стадии: подсказка живёт там, где человек читает картинку. Пятый лёг на прогноз по структурированным данным — в клетку, занятую разделом об анализе.</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названы во входе.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 то, чего в заключении не написали, следующий читатель не восстановит, а то, что написали лишнего, он примет за найденное.</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собирается одним числом, и число это маленькое — поэтому оно и стоит крупно.</a:t>
            </a:r>
          </a:p>
          <a:p>
            <a:r>
              <a:t/>
            </a:r>
          </a:p>
          <a:p>
            <a:r>
              <a:t>Девять с половиной процентов времени в заметке — вся экономия, которую на этой стадии удалось измерить. Устройство замера надо назвать целиком, иначе число прочтётся сильнее, чем оно есть. Испытание рандомизированное: двести тридцать восемь врачей четырнадцати специальностей, три равные группы, два разных продукта одного режима и контрольная группа без всякого инструмента. Один продукт дал девять с половиной процентов, второй — ноль. Дизайн один, население врачей одно, разница между результатами — сам продукт. Отсюда вывод, который переносится на любую закупку: измеренный эффект принадлежит реализации, а не классу инструмента, и фраза «мы внедрили автоматическую запись приёма» о величине эффекта не говорит ничего.</a:t>
            </a:r>
          </a:p>
          <a:p>
            <a:r>
              <a:t/>
            </a:r>
          </a:p>
          <a:p>
            <a:r>
              <a:t>Рядом стоит величина, без которой первая не читается: в контрольной группе, где не внедряли ничего, время в заметке за то же окно снизилось на восемнадцать секунд. Всякое «после внедрения стало быстрее» считают против этой величины, а не против нуля.</a:t>
            </a:r>
          </a:p>
          <a:p>
            <a:r>
              <a:t/>
            </a:r>
          </a:p>
          <a:p>
            <a:r>
              <a:t>Активное время правки не изменилось ни у одного из двух инструментов, и это то, что стадия сообщает прежде остального. Набор текста действительно сократился, и сократилось то, что мучило больше всего: держать структуру будущей записи в голове, пока перед тобой говорит живой человек. Но на место набора встала вычитка чужого текста, и она измерена отдельно. Это форма первая — нагрузка переехала на другой шаг. А рядом появилась работа, которой в процессе не было вовсе: выборочный контроль заметок, и у него постоянный штат — свыше трёх тысяч шестисот прочитанных отзывов и тысяча двести пятьдесят две анкеты в отчёте одной клиники. Это форма третья, шаг появился.</a:t>
            </a:r>
          </a:p>
          <a:p>
            <a:r>
              <a:t/>
            </a:r>
          </a:p>
          <a:p>
            <a:r>
              <a:t>Теперь про заявленную экономию, и её стоит отделить от измеренной жёстко. Пятнадцать тысяч семьсот девяносто один час на шестьдесят три тысячи приёмов — это около четверти часа на приём, при том что вся работа над заметкой занимает около четырёх минут. Методика счёта не раскрыта, и значит число не проверяется и не опровергается: утверждением о мире оно не является. Заявление и измерение здесь посчитаны в разных величинах — время в карте вообще против времени в заметке, — и складывать их нельзя.</a:t>
            </a:r>
          </a:p>
          <a:p>
            <a:r>
              <a:t/>
            </a:r>
          </a:p>
          <a:p>
            <a:r>
              <a:t>Полнота — третье утверждение стадии. Машинный документ короче и связнее человеческого и при этом менее полон: три целых семьдесят две сотых против четырёх целых тринадцати. Ошибок в нём больше — две целых девяносто одна против одной целой восьмидесяти двух, — а потенциал вреда отдельной ошибки тот же. Отсюда форма седьмая: цена ошибки сместилась. Прежний глаз настроен на опечатку и на пропущенную строку; искать теперь надо связное, уместное по стилю утверждение, которого в истории болезни не было. Это другое чтение, и прежний навык на него не переносится.</a:t>
            </a:r>
          </a:p>
          <a:p>
            <a:r>
              <a:t/>
            </a:r>
          </a:p>
          <a:p>
            <a:r>
              <a:t>Держат стадию две вещи: вычитка с подписью врача и тот же выборочный контроль. И один прочерк, который надо произнести вслух: вычитке другого рода никто не учит — ни в ординатуре, ни на рабочем месте, ни в документации инструмента.</a:t>
            </a:r>
          </a:p>
          <a:p>
            <a:r>
              <a:t/>
            </a:r>
          </a:p>
          <a:p>
            <a:r>
              <a:t>Направление развития режима делает плату больше, и это стоит сказать до следующего раздела: от диктовки под шаблон к записи приёма целиком, а дальше к черновику назначений и кодов — то есть к документу, который что-то запускает. Чем больше документ запускает, тем дороже в нём правдоподобная подробность, которой не было. Под каждым таким документом стоит подпись человека, и когда по документу что-то произойдёт, разбирать будут её.</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здесь нет сознательно: вход лекции обещал, что марок в клетках не будет, а режим узнаётся не по марке.</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прочерк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свой разбор есть у четырёх из них, и сказано это на самом кадре.</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стоит прочерк, и он объявлен был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 ИМЕННО ЕЁ</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назначен документом</a:t>
            </a:r>
          </a:p>
        </p:txBody>
      </p:sp>
      <p:sp>
        <p:nvSpPr>
          <p:cNvPr id="8" name="Rounded Rectangle 7"/>
          <p:cNvSpPr/>
          <p:nvPr/>
        </p:nvSpPr>
        <p:spPr>
          <a:xfrm>
            <a:off x="3340531"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 СЕГОДНЯ</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в браузере, без допуска и без денег</a:t>
            </a:r>
          </a:p>
        </p:txBody>
      </p:sp>
      <p:sp>
        <p:nvSpPr>
          <p:cNvPr id="12" name="Rounded Rectangle 11"/>
          <p:cNvSpPr/>
          <p:nvPr/>
        </p:nvSpPr>
        <p:spPr>
          <a:xfrm>
            <a:off x="6178143"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 РЕШЕНИЕМ О НЕЙ СТОИТ ПОДПИСЬ</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того, кто посмотрит вторым</a:t>
            </a:r>
          </a:p>
        </p:txBody>
      </p:sp>
      <p:sp>
        <p:nvSpPr>
          <p:cNvPr id="15" name="TextBox 14"/>
          <p:cNvSpPr txBox="1"/>
          <p:nvPr/>
        </p:nvSpPr>
        <p:spPr>
          <a:xfrm>
            <a:off x="6315303"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передана заранее и бесплатно</a:t>
            </a:r>
          </a:p>
        </p:txBody>
      </p:sp>
      <p:sp>
        <p:nvSpPr>
          <p:cNvPr id="16" name="Rounded Rectangle 15"/>
          <p:cNvSpPr/>
          <p:nvPr/>
        </p:nvSpPr>
        <p:spPr>
          <a:xfrm>
            <a:off x="9015755"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ЭТОЙ ПОДПИСИ ПРИ ДОПУСКЕ ПРОВЕРЯЛИ</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56 изделий из 717</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срез июнь 2024</a:t>
            </a:r>
          </a:p>
        </p:txBody>
      </p:sp>
      <p:sp>
        <p:nvSpPr>
          <p:cNvPr id="20" name="Rounded Rectangle 19"/>
          <p:cNvSpPr/>
          <p:nvPr/>
        </p:nvSpPr>
        <p:spPr>
          <a:xfrm>
            <a:off x="374904" y="3580535"/>
            <a:ext cx="11441887" cy="2590960"/>
          </a:xfrm>
          <a:prstGeom prst="roundRect">
            <a:avLst>
              <a:gd name="adj" fmla="val 1176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200" b="0" i="0">
                <a:solidFill>
                  <a:srgbClr val="21295C"/>
                </a:solidFill>
                <a:latin typeface="Arial"/>
              </a:rPr>
              <a:t/>
            </a:r>
            <a:r>
              <a:rPr sz="1200" b="1" i="0">
                <a:solidFill>
                  <a:srgbClr val="21295C"/>
                </a:solidFill>
                <a:latin typeface="Arial"/>
              </a:rPr>
              <a:t>Решается про неё одно: есть на снимке находка или нет.</a:t>
            </a:r>
            <a:r>
              <a:rPr sz="1200" b="0" i="0">
                <a:solidFill>
                  <a:srgbClr val="21295C"/>
                </a:solidFill>
                <a:latin typeface="Arial"/>
              </a:rPr>
              <a:t> Пропустили — лечить будут позже и хуже. Позвали лишнего — биопсия и недели с открытым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Смотрит её снимок первым уже не обязательно человек.</a:t>
            </a:r>
            <a:r>
              <a:rPr sz="1200" b="0" i="0">
                <a:solidFill>
                  <a:srgbClr val="21295C"/>
                </a:solidFill>
                <a:latin typeface="Arial"/>
              </a:rPr>
              <a:t> Страница в браузере, три секунды, профиль по восемнадцати патологиям — и строка </a:t>
            </a:r>
            <a:r>
              <a:rPr sz="1200" b="1" i="0">
                <a:solidFill>
                  <a:srgbClr val="21295C"/>
                </a:solidFill>
                <a:latin typeface="Arial"/>
              </a:rPr>
              <a:t>«не для диагностики»</a:t>
            </a:r>
            <a:r>
              <a:rPr sz="1200" b="0" i="0">
                <a:solidFill>
                  <a:srgbClr val="21295C"/>
                </a:solidFill>
                <a:latin typeface="Arial"/>
              </a:rPr>
              <a:t>.</a:t>
            </a:r>
          </a:p>
        </p:txBody>
      </p:sp>
      <p:sp>
        <p:nvSpPr>
          <p:cNvPr id="22" name="TextBox 21"/>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Эту строку принимают за признание незрелости.</a:t>
            </a:r>
            <a:r>
              <a:rPr sz="1200" b="0" i="0">
                <a:solidFill>
                  <a:srgbClr val="21295C"/>
                </a:solidFill>
                <a:latin typeface="Arial"/>
              </a:rPr>
              <a:t> О точности она не говорит ничего: она называет отвечающего — решение остаётся на том, кто посмотрит вторым.</a:t>
            </a:r>
          </a:p>
          <a:p>
            <a:pPr algn="l">
              <a:lnSpc>
                <a:spcPct val="126000"/>
              </a:lnSpc>
              <a:spcBef>
                <a:spcPts val="700"/>
              </a:spcBef>
            </a:pPr>
            <a:r>
              <a:rPr sz="1200" b="0" i="0">
                <a:solidFill>
                  <a:srgbClr val="21295C"/>
                </a:solidFill>
                <a:latin typeface="Arial"/>
              </a:rPr>
              <a:t/>
            </a:r>
            <a:r>
              <a:rPr sz="1200" b="1" i="0">
                <a:solidFill>
                  <a:srgbClr val="21295C"/>
                </a:solidFill>
                <a:latin typeface="Arial"/>
              </a:rPr>
              <a:t>Передача подписи бесплатна. Приём подписи проверяли у восьми изделий из ста.</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Получали ли вы результат обследования раньше, чем его прочитал врач?</a:t>
            </a:r>
          </a:p>
        </p:txBody>
      </p:sp>
      <p:sp>
        <p:nvSpPr>
          <p:cNvPr id="23" name="Rectangle 22"/>
          <p:cNvSpPr/>
          <p:nvPr/>
        </p:nvSpPr>
        <p:spPr>
          <a:xfrm>
            <a:off x="6091275" y="3671975"/>
            <a:ext cx="9144" cy="231664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J. P., Bertin P., Frappier V. Chester: A Web Delivered Locally Computed Chest X-Ray Disease Prediction System, 2019</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JAMA Network Open 2025;8(11):e2542338, срез июнь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Что стало с теми, кто решает</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лекарства</a:t>
            </a:r>
          </a:p>
        </p:txBody>
      </p:sp>
      <p:sp>
        <p:nvSpPr>
          <p:cNvPr id="23" name="Rounded Rectangle 22"/>
          <p:cNvSpPr/>
          <p:nvPr/>
        </p:nvSpPr>
        <p:spPr>
          <a:xfrm>
            <a:off x="374904" y="3145250"/>
            <a:ext cx="11441887" cy="3090957"/>
          </a:xfrm>
          <a:prstGeom prst="roundRect">
            <a:avLst>
              <a:gd name="adj" fmla="val 986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можно только того, кто попал в поле зрения; решать — только по измеренному; наблюдать — только после решения; читать запись — только после того, как её сделали.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r>
              <a:rPr sz="1500" b="0" i="0">
                <a:solidFill>
                  <a:srgbClr val="21295C"/>
                </a:solidFill>
                <a:latin typeface="Arial"/>
              </a:rPr>
              <a:t> процедура вокруг всех пяти · замер по самому человеку · откуда берётся то, что назначают.</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спрашиваем две вещи: какую задачу он решает и с какими данными работает.</a:t>
            </a:r>
            <a:r>
              <a:rPr sz="1500" b="0" i="0">
                <a:solidFill>
                  <a:srgbClr val="21295C"/>
                </a:solidFill>
                <a:latin typeface="Arial"/>
              </a:rPr>
              <a:t> Сетка из этих двух имён заполняется по ходу, разделом за разделом; к концу видно, в какие клетки за восемь разделов не зашёл никто.</a:t>
            </a:r>
          </a:p>
        </p:txBody>
      </p:sp>
      <p:sp>
        <p:nvSpPr>
          <p:cNvPr id="26" name="Rectangle 25"/>
          <p:cNvSpPr/>
          <p:nvPr/>
        </p:nvSpPr>
        <p:spPr>
          <a:xfrm>
            <a:off x="6091275" y="3236690"/>
            <a:ext cx="9144" cy="2851350"/>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прогон без человека</a:t>
            </a:r>
          </a:p>
        </p:txBody>
      </p:sp>
      <p:sp>
        <p:nvSpPr>
          <p:cNvPr id="8" name="Rounded Rectangle 7"/>
          <p:cNvSpPr/>
          <p:nvPr/>
        </p:nvSpPr>
        <p:spPr>
          <a:xfrm>
            <a:off x="2279827"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ОДИН</a:t>
            </a:r>
          </a:p>
        </p:txBody>
      </p:sp>
      <p:sp>
        <p:nvSpPr>
          <p:cNvPr id="10" name="TextBox 9"/>
          <p:cNvSpPr txBox="1"/>
          <p:nvPr/>
        </p:nvSpPr>
        <p:spPr>
          <a:xfrm>
            <a:off x="2416987"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2416987"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обычно, своя ветвь</a:t>
            </a:r>
          </a:p>
        </p:txBody>
      </p:sp>
      <p:sp>
        <p:nvSpPr>
          <p:cNvPr id="12" name="Rounded Rectangle 11"/>
          <p:cNvSpPr/>
          <p:nvPr/>
        </p:nvSpPr>
        <p:spPr>
          <a:xfrm>
            <a:off x="4056735" y="1335024"/>
            <a:ext cx="1612315" cy="1791939"/>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ПОВЕРХ МОДЕЛИ</a:t>
            </a:r>
          </a:p>
        </p:txBody>
      </p:sp>
      <p:sp>
        <p:nvSpPr>
          <p:cNvPr id="14" name="TextBox 13"/>
          <p:cNvSpPr txBox="1"/>
          <p:nvPr/>
        </p:nvSpPr>
        <p:spPr>
          <a:xfrm>
            <a:off x="4193895" y="2140317"/>
            <a:ext cx="133799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4193895" y="2567316"/>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2 пункта, p = 0,60</a:t>
            </a:r>
          </a:p>
        </p:txBody>
      </p:sp>
      <p:sp>
        <p:nvSpPr>
          <p:cNvPr id="16" name="Rounded Rectangle 15"/>
          <p:cNvSpPr/>
          <p:nvPr/>
        </p:nvSpPr>
        <p:spPr>
          <a:xfrm>
            <a:off x="5833643"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КТО И НА ЧЁМ МЕРИЛ</a:t>
            </a:r>
          </a:p>
        </p:txBody>
      </p:sp>
      <p:sp>
        <p:nvSpPr>
          <p:cNvPr id="18" name="TextBox 17"/>
          <p:cNvSpPr txBox="1"/>
          <p:nvPr/>
        </p:nvSpPr>
        <p:spPr>
          <a:xfrm>
            <a:off x="5970803" y="1932846"/>
            <a:ext cx="13379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50 врачей · виньетки</a:t>
            </a:r>
          </a:p>
        </p:txBody>
      </p:sp>
      <p:sp>
        <p:nvSpPr>
          <p:cNvPr id="19" name="TextBox 18"/>
          <p:cNvSpPr txBox="1"/>
          <p:nvPr/>
        </p:nvSpPr>
        <p:spPr>
          <a:xfrm>
            <a:off x="5970803" y="2631444"/>
            <a:ext cx="13379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Goh, 2024</a:t>
            </a:r>
          </a:p>
        </p:txBody>
      </p:sp>
      <p:sp>
        <p:nvSpPr>
          <p:cNvPr id="20" name="Rounded Rectangle 19"/>
          <p:cNvSpPr/>
          <p:nvPr/>
        </p:nvSpPr>
        <p:spPr>
          <a:xfrm>
            <a:off x="374904" y="3218403"/>
            <a:ext cx="11441887" cy="3017804"/>
          </a:xfrm>
          <a:prstGeom prst="roundRect">
            <a:avLst>
              <a:gd name="adj" fmla="val 101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09843"/>
            <a:ext cx="11112703" cy="292636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Удешевление предъявлено: три секунды, ноль рублей и строка «не для диагностики».</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Этот переезд вы узнаете без перевода — он ваш собственный.</a:t>
            </a:r>
            <a:r>
              <a:rPr sz="130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300" b="0" i="0">
                <a:solidFill>
                  <a:srgbClr val="21295C"/>
                </a:solidFill>
                <a:latin typeface="Arial"/>
              </a:rPr>
              <a:t/>
            </a:r>
            <a:r>
              <a:rPr sz="130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300" b="0" i="0">
                <a:solidFill>
                  <a:srgbClr val="21295C"/>
                </a:solidFill>
                <a:latin typeface="Arial"/>
              </a:rPr>
              <a:t/>
            </a:r>
            <a:r>
              <a:rPr sz="1300" b="0" i="0">
                <a:solidFill>
                  <a:srgbClr val="21295C"/>
                </a:solidFill>
                <a:latin typeface="Arial"/>
              </a:rPr>
              <a:t>Подешевел шаг — платят на другом. Своё здесь — </a:t>
            </a:r>
            <a:r>
              <a:rPr sz="1300" b="1" i="0">
                <a:solidFill>
                  <a:srgbClr val="21295C"/>
                </a:solidFill>
                <a:latin typeface="Arial"/>
              </a:rPr>
              <a:t>адрес: платят тем шагом, которым работает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Адреса платежа:</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22" name="Rounded Rectangle 21"/>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3" name="Picture 22"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E. и соавт., JAMA Network Open 2024;7(10):e2440969, 28 октября 2024</a:t>
            </a:r>
            <a:r>
              <a:rPr sz="1200" b="0" i="1">
                <a:solidFill>
                  <a:srgbClr val="1C7293"/>
                </a:solidFill>
                <a:latin typeface="Arial"/>
              </a:rPr>
              <a:t> · </a:t>
            </a:r>
            <a:r>
              <a:rPr sz="1200" b="0" i="1" u="sng">
                <a:solidFill>
                  <a:srgbClr val="065A82"/>
                </a:solidFill>
                <a:latin typeface="Arial"/>
                <a:hlinkClick r:id="rId4"/>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переезда: чем лекция будет называть то, что стало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843813"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5120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383309" y="1335024"/>
            <a:ext cx="4759479"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529613" y="1335024"/>
            <a:ext cx="446687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6142789" y="1335024"/>
            <a:ext cx="5509410"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289093" y="1335024"/>
            <a:ext cx="5216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узнаётся</a:t>
            </a:r>
          </a:p>
        </p:txBody>
      </p:sp>
      <p:sp>
        <p:nvSpPr>
          <p:cNvPr id="11" name="Rectangle 10"/>
          <p:cNvSpPr/>
          <p:nvPr/>
        </p:nvSpPr>
        <p:spPr>
          <a:xfrm>
            <a:off x="539496" y="1736636"/>
            <a:ext cx="843813" cy="40161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3" name="Rectangle 12"/>
          <p:cNvSpPr/>
          <p:nvPr/>
        </p:nvSpPr>
        <p:spPr>
          <a:xfrm>
            <a:off x="1383309" y="1736636"/>
            <a:ext cx="4759479"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529613" y="1736636"/>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5" name="Rectangle 14"/>
          <p:cNvSpPr/>
          <p:nvPr/>
        </p:nvSpPr>
        <p:spPr>
          <a:xfrm>
            <a:off x="6142789" y="1736636"/>
            <a:ext cx="5509410"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289093" y="1736636"/>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цела, место другое</a:t>
            </a:r>
          </a:p>
        </p:txBody>
      </p:sp>
      <p:sp>
        <p:nvSpPr>
          <p:cNvPr id="17" name="Rectangle 16"/>
          <p:cNvSpPr/>
          <p:nvPr/>
        </p:nvSpPr>
        <p:spPr>
          <a:xfrm>
            <a:off x="539496" y="2138248"/>
            <a:ext cx="843813" cy="40161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38248"/>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19" name="Rectangle 18"/>
          <p:cNvSpPr/>
          <p:nvPr/>
        </p:nvSpPr>
        <p:spPr>
          <a:xfrm>
            <a:off x="1383309" y="2138248"/>
            <a:ext cx="4759479" cy="40161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529613" y="2138248"/>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1" name="Rectangle 20"/>
          <p:cNvSpPr/>
          <p:nvPr/>
        </p:nvSpPr>
        <p:spPr>
          <a:xfrm>
            <a:off x="6142789" y="2138248"/>
            <a:ext cx="5509410"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289093" y="2138248"/>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работы нет ни у кого</a:t>
            </a:r>
          </a:p>
        </p:txBody>
      </p:sp>
      <p:sp>
        <p:nvSpPr>
          <p:cNvPr id="23" name="Rectangle 22"/>
          <p:cNvSpPr/>
          <p:nvPr/>
        </p:nvSpPr>
        <p:spPr>
          <a:xfrm>
            <a:off x="539496" y="2539860"/>
            <a:ext cx="843813" cy="40161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539860"/>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25" name="Rectangle 24"/>
          <p:cNvSpPr/>
          <p:nvPr/>
        </p:nvSpPr>
        <p:spPr>
          <a:xfrm>
            <a:off x="1383309" y="2539860"/>
            <a:ext cx="4759479" cy="40161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529613" y="2539860"/>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27" name="Rectangle 26"/>
          <p:cNvSpPr/>
          <p:nvPr/>
        </p:nvSpPr>
        <p:spPr>
          <a:xfrm>
            <a:off x="6142789" y="2539860"/>
            <a:ext cx="5509410" cy="40161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289093" y="2539860"/>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новая, раньше её не делали</a:t>
            </a:r>
          </a:p>
        </p:txBody>
      </p:sp>
      <p:sp>
        <p:nvSpPr>
          <p:cNvPr id="29" name="Rectangle 28"/>
          <p:cNvSpPr/>
          <p:nvPr/>
        </p:nvSpPr>
        <p:spPr>
          <a:xfrm>
            <a:off x="539496" y="2941472"/>
            <a:ext cx="843813" cy="40161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941472"/>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1" name="Rectangle 30"/>
          <p:cNvSpPr/>
          <p:nvPr/>
        </p:nvSpPr>
        <p:spPr>
          <a:xfrm>
            <a:off x="1383309" y="2941472"/>
            <a:ext cx="4759479" cy="40161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529613" y="2941472"/>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33" name="Rectangle 32"/>
          <p:cNvSpPr/>
          <p:nvPr/>
        </p:nvSpPr>
        <p:spPr>
          <a:xfrm>
            <a:off x="6142789" y="2941472"/>
            <a:ext cx="5509410" cy="40161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6289093" y="2941472"/>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больше</a:t>
            </a:r>
          </a:p>
        </p:txBody>
      </p:sp>
      <p:sp>
        <p:nvSpPr>
          <p:cNvPr id="35" name="Rectangle 34"/>
          <p:cNvSpPr/>
          <p:nvPr/>
        </p:nvSpPr>
        <p:spPr>
          <a:xfrm>
            <a:off x="539496" y="3343085"/>
            <a:ext cx="843813"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343085"/>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37" name="Rectangle 36"/>
          <p:cNvSpPr/>
          <p:nvPr/>
        </p:nvSpPr>
        <p:spPr>
          <a:xfrm>
            <a:off x="1383309" y="3343085"/>
            <a:ext cx="4759479" cy="401612"/>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529613" y="3343085"/>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39" name="Rectangle 38"/>
          <p:cNvSpPr/>
          <p:nvPr/>
        </p:nvSpPr>
        <p:spPr>
          <a:xfrm>
            <a:off x="6142789" y="3343085"/>
            <a:ext cx="5509410" cy="401612"/>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289093" y="3343085"/>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меньше</a:t>
            </a:r>
          </a:p>
        </p:txBody>
      </p:sp>
      <p:sp>
        <p:nvSpPr>
          <p:cNvPr id="41" name="Rectangle 40"/>
          <p:cNvSpPr/>
          <p:nvPr/>
        </p:nvSpPr>
        <p:spPr>
          <a:xfrm>
            <a:off x="539496" y="3744697"/>
            <a:ext cx="843813"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744697"/>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43" name="Rectangle 42"/>
          <p:cNvSpPr/>
          <p:nvPr/>
        </p:nvSpPr>
        <p:spPr>
          <a:xfrm>
            <a:off x="1383309" y="3744697"/>
            <a:ext cx="4759479"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529613" y="3744697"/>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45" name="Rectangle 44"/>
          <p:cNvSpPr/>
          <p:nvPr/>
        </p:nvSpPr>
        <p:spPr>
          <a:xfrm>
            <a:off x="6142789" y="3744697"/>
            <a:ext cx="5509410" cy="401612"/>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289093" y="3744697"/>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та же, рука другая</a:t>
            </a:r>
          </a:p>
        </p:txBody>
      </p:sp>
      <p:sp>
        <p:nvSpPr>
          <p:cNvPr id="47" name="Rectangle 46"/>
          <p:cNvSpPr/>
          <p:nvPr/>
        </p:nvSpPr>
        <p:spPr>
          <a:xfrm>
            <a:off x="539496" y="4146309"/>
            <a:ext cx="843813"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146309"/>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49" name="Rectangle 48"/>
          <p:cNvSpPr/>
          <p:nvPr/>
        </p:nvSpPr>
        <p:spPr>
          <a:xfrm>
            <a:off x="1383309" y="4146309"/>
            <a:ext cx="4759479"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529613" y="4146309"/>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51" name="Rectangle 50"/>
          <p:cNvSpPr/>
          <p:nvPr/>
        </p:nvSpPr>
        <p:spPr>
          <a:xfrm>
            <a:off x="6142789" y="4146309"/>
            <a:ext cx="5509410"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289093" y="4146309"/>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состав тот же, порядок другой</a:t>
            </a:r>
          </a:p>
        </p:txBody>
      </p:sp>
      <p:sp>
        <p:nvSpPr>
          <p:cNvPr id="53" name="Rectangle 52"/>
          <p:cNvSpPr/>
          <p:nvPr/>
        </p:nvSpPr>
        <p:spPr>
          <a:xfrm>
            <a:off x="539496" y="4547921"/>
            <a:ext cx="843813"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547921"/>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55" name="Rectangle 54"/>
          <p:cNvSpPr/>
          <p:nvPr/>
        </p:nvSpPr>
        <p:spPr>
          <a:xfrm>
            <a:off x="1383309" y="4547921"/>
            <a:ext cx="4759479"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529613" y="4547921"/>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57" name="Rectangle 56"/>
          <p:cNvSpPr/>
          <p:nvPr/>
        </p:nvSpPr>
        <p:spPr>
          <a:xfrm>
            <a:off x="6142789" y="4547921"/>
            <a:ext cx="5509410"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6289093" y="4547921"/>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промах машины стал промахом человека</a:t>
            </a:r>
          </a:p>
        </p:txBody>
      </p:sp>
      <p:sp>
        <p:nvSpPr>
          <p:cNvPr id="59" name="Rectangle 58"/>
          <p:cNvSpPr/>
          <p:nvPr/>
        </p:nvSpPr>
        <p:spPr>
          <a:xfrm>
            <a:off x="539496" y="4949533"/>
            <a:ext cx="843813" cy="401612"/>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949533"/>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61" name="Rectangle 60"/>
          <p:cNvSpPr/>
          <p:nvPr/>
        </p:nvSpPr>
        <p:spPr>
          <a:xfrm>
            <a:off x="1383309" y="4949533"/>
            <a:ext cx="4759479"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529613" y="4949533"/>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63" name="Rectangle 62"/>
          <p:cNvSpPr/>
          <p:nvPr/>
        </p:nvSpPr>
        <p:spPr>
          <a:xfrm>
            <a:off x="6142789" y="4949533"/>
            <a:ext cx="5509410"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6289093" y="4949533"/>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 та же, и она разучилась</a:t>
            </a:r>
          </a:p>
        </p:txBody>
      </p:sp>
      <p:sp>
        <p:nvSpPr>
          <p:cNvPr id="65" name="Rectangle 64"/>
          <p:cNvSpPr/>
          <p:nvPr/>
        </p:nvSpPr>
        <p:spPr>
          <a:xfrm>
            <a:off x="539496" y="5351146"/>
            <a:ext cx="843813" cy="401612"/>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351146"/>
            <a:ext cx="55120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67" name="Rectangle 66"/>
          <p:cNvSpPr/>
          <p:nvPr/>
        </p:nvSpPr>
        <p:spPr>
          <a:xfrm>
            <a:off x="1383309" y="5351146"/>
            <a:ext cx="4759479" cy="401612"/>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529613" y="5351146"/>
            <a:ext cx="4466871"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69" name="Rectangle 68"/>
          <p:cNvSpPr/>
          <p:nvPr/>
        </p:nvSpPr>
        <p:spPr>
          <a:xfrm>
            <a:off x="6142789" y="5351146"/>
            <a:ext cx="5509410"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289093" y="5351146"/>
            <a:ext cx="5216802"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номер пуст: измерения нет ни одного</a:t>
            </a:r>
          </a:p>
        </p:txBody>
      </p:sp>
      <p:sp>
        <p:nvSpPr>
          <p:cNvPr id="71" name="TextBox 70"/>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Форма отвечает, что сделалось с работой. Адрес платежа — на каком человеческом шаге.</a:t>
            </a:r>
          </a:p>
        </p:txBody>
      </p:sp>
      <p:sp>
        <p:nvSpPr>
          <p:cNvPr id="72" name="Rectangle 7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разрядов свидетельства: насколько устроен опыт, из которого взято число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95986"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0337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7" name="Rectangle 6"/>
          <p:cNvSpPr/>
          <p:nvPr/>
        </p:nvSpPr>
        <p:spPr>
          <a:xfrm>
            <a:off x="3235482" y="1335024"/>
            <a:ext cx="37776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381786" y="1335024"/>
            <a:ext cx="34850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как добыто число</a:t>
            </a:r>
          </a:p>
        </p:txBody>
      </p:sp>
      <p:sp>
        <p:nvSpPr>
          <p:cNvPr id="9" name="Rectangle 8"/>
          <p:cNvSpPr/>
          <p:nvPr/>
        </p:nvSpPr>
        <p:spPr>
          <a:xfrm>
            <a:off x="7013115" y="1335024"/>
            <a:ext cx="463908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59419" y="1335024"/>
            <a:ext cx="434647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 нему можно утверждать</a:t>
            </a:r>
          </a:p>
        </p:txBody>
      </p:sp>
      <p:sp>
        <p:nvSpPr>
          <p:cNvPr id="11" name="Rectangle 10"/>
          <p:cNvSpPr/>
          <p:nvPr/>
        </p:nvSpPr>
        <p:spPr>
          <a:xfrm>
            <a:off x="539496" y="1763984"/>
            <a:ext cx="2695986"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рандомизированное испытание</a:t>
            </a:r>
          </a:p>
        </p:txBody>
      </p:sp>
      <p:sp>
        <p:nvSpPr>
          <p:cNvPr id="13" name="Rectangle 12"/>
          <p:cNvSpPr/>
          <p:nvPr/>
        </p:nvSpPr>
        <p:spPr>
          <a:xfrm>
            <a:off x="3235482" y="1763984"/>
            <a:ext cx="37776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381786" y="176398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участников развели по группам жребием</a:t>
            </a:r>
          </a:p>
        </p:txBody>
      </p:sp>
      <p:sp>
        <p:nvSpPr>
          <p:cNvPr id="15" name="Rectangle 14"/>
          <p:cNvSpPr/>
          <p:nvPr/>
        </p:nvSpPr>
        <p:spPr>
          <a:xfrm>
            <a:off x="7013115" y="1763984"/>
            <a:ext cx="4639083"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59419" y="176398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разницу между группами можно отнести к вмешательству</a:t>
            </a:r>
          </a:p>
        </p:txBody>
      </p:sp>
      <p:sp>
        <p:nvSpPr>
          <p:cNvPr id="17" name="Rectangle 16"/>
          <p:cNvSpPr/>
          <p:nvPr/>
        </p:nvSpPr>
        <p:spPr>
          <a:xfrm>
            <a:off x="539496" y="2457314"/>
            <a:ext cx="2695986"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проспективное наблюдение</a:t>
            </a:r>
          </a:p>
        </p:txBody>
      </p:sp>
      <p:sp>
        <p:nvSpPr>
          <p:cNvPr id="19" name="Rectangle 18"/>
          <p:cNvSpPr/>
          <p:nvPr/>
        </p:nvSpPr>
        <p:spPr>
          <a:xfrm>
            <a:off x="3235482" y="2457314"/>
            <a:ext cx="37776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381786" y="245731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следили вперёд и дождались исхода</a:t>
            </a:r>
          </a:p>
        </p:txBody>
      </p:sp>
      <p:sp>
        <p:nvSpPr>
          <p:cNvPr id="21" name="Rectangle 20"/>
          <p:cNvSpPr/>
          <p:nvPr/>
        </p:nvSpPr>
        <p:spPr>
          <a:xfrm>
            <a:off x="7013115" y="2457314"/>
            <a:ext cx="4639083"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59419" y="245731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что произошло — да; из-за чего — с оговоркой</a:t>
            </a:r>
          </a:p>
        </p:txBody>
      </p:sp>
      <p:sp>
        <p:nvSpPr>
          <p:cNvPr id="23" name="Rectangle 22"/>
          <p:cNvSpPr/>
          <p:nvPr/>
        </p:nvSpPr>
        <p:spPr>
          <a:xfrm>
            <a:off x="539496" y="3150643"/>
            <a:ext cx="2695986"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ретроспективный срез</a:t>
            </a:r>
          </a:p>
        </p:txBody>
      </p:sp>
      <p:sp>
        <p:nvSpPr>
          <p:cNvPr id="25" name="Rectangle 24"/>
          <p:cNvSpPr/>
          <p:nvPr/>
        </p:nvSpPr>
        <p:spPr>
          <a:xfrm>
            <a:off x="3235482" y="3150643"/>
            <a:ext cx="37776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381786" y="315064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посмотрели назад по уже собранным записям</a:t>
            </a:r>
          </a:p>
        </p:txBody>
      </p:sp>
      <p:sp>
        <p:nvSpPr>
          <p:cNvPr id="27" name="Rectangle 26"/>
          <p:cNvSpPr/>
          <p:nvPr/>
        </p:nvSpPr>
        <p:spPr>
          <a:xfrm>
            <a:off x="7013115" y="3150643"/>
            <a:ext cx="4639083"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59419" y="315064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связь — да; направление связи — нет</a:t>
            </a:r>
          </a:p>
        </p:txBody>
      </p:sp>
      <p:sp>
        <p:nvSpPr>
          <p:cNvPr id="29" name="Rectangle 28"/>
          <p:cNvSpPr/>
          <p:nvPr/>
        </p:nvSpPr>
        <p:spPr>
          <a:xfrm>
            <a:off x="539496" y="3843972"/>
            <a:ext cx="2695986" cy="4289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240337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пересказ в обзоре</a:t>
            </a:r>
          </a:p>
        </p:txBody>
      </p:sp>
      <p:sp>
        <p:nvSpPr>
          <p:cNvPr id="31" name="Rectangle 30"/>
          <p:cNvSpPr/>
          <p:nvPr/>
        </p:nvSpPr>
        <p:spPr>
          <a:xfrm>
            <a:off x="3235482" y="3843972"/>
            <a:ext cx="3777633" cy="428960"/>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381786" y="3843972"/>
            <a:ext cx="348502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число дошло через чужой текст</a:t>
            </a:r>
          </a:p>
        </p:txBody>
      </p:sp>
      <p:sp>
        <p:nvSpPr>
          <p:cNvPr id="33" name="Rectangle 32"/>
          <p:cNvSpPr/>
          <p:nvPr/>
        </p:nvSpPr>
        <p:spPr>
          <a:xfrm>
            <a:off x="7013115" y="3843972"/>
            <a:ext cx="4639083" cy="428960"/>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59419" y="3843972"/>
            <a:ext cx="434647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ничего, пока не открыт первоисточник</a:t>
            </a:r>
          </a:p>
        </p:txBody>
      </p:sp>
      <p:sp>
        <p:nvSpPr>
          <p:cNvPr id="35" name="Rectangle 34"/>
          <p:cNvSpPr/>
          <p:nvPr/>
        </p:nvSpPr>
        <p:spPr>
          <a:xfrm>
            <a:off x="539496" y="4272933"/>
            <a:ext cx="2695986"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27293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самоотчёт</a:t>
            </a:r>
          </a:p>
        </p:txBody>
      </p:sp>
      <p:sp>
        <p:nvSpPr>
          <p:cNvPr id="37" name="Rectangle 36"/>
          <p:cNvSpPr/>
          <p:nvPr/>
        </p:nvSpPr>
        <p:spPr>
          <a:xfrm>
            <a:off x="3235482" y="4272933"/>
            <a:ext cx="37776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381786" y="427293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человек сам сказал, сколько и как он работает</a:t>
            </a:r>
          </a:p>
        </p:txBody>
      </p:sp>
      <p:sp>
        <p:nvSpPr>
          <p:cNvPr id="39" name="Rectangle 38"/>
          <p:cNvSpPr/>
          <p:nvPr/>
        </p:nvSpPr>
        <p:spPr>
          <a:xfrm>
            <a:off x="7013115" y="4272933"/>
            <a:ext cx="4639083"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59419" y="427293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то, что он думает о своей работе</a:t>
            </a:r>
          </a:p>
        </p:txBody>
      </p:sp>
      <p:sp>
        <p:nvSpPr>
          <p:cNvPr id="41" name="TextBox 40"/>
          <p:cNvSpPr txBox="1"/>
          <p:nvPr/>
        </p:nvSpPr>
        <p:spPr>
          <a:xfrm>
            <a:off x="539496" y="511256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Разряд называется вместе с числом. Выше своего разряда число не утверждает ничего — к своим числам лекция применяет это правило тоже.</a:t>
            </a:r>
          </a:p>
        </p:txBody>
      </p:sp>
      <p:sp>
        <p:nvSpPr>
          <p:cNvPr id="42" name="TextBox 41"/>
          <p:cNvSpPr txBox="1"/>
          <p:nvPr/>
        </p:nvSpPr>
        <p:spPr>
          <a:xfrm>
            <a:off x="539496" y="5863052"/>
            <a:ext cx="11112703" cy="292345"/>
          </a:xfrm>
          <a:prstGeom prst="rect">
            <a:avLst/>
          </a:prstGeom>
          <a:noFill/>
        </p:spPr>
        <p:txBody>
          <a:bodyPr wrap="square" lIns="0" rIns="0" tIns="0" bIns="0" anchor="t">
            <a:spAutoFit/>
          </a:bodyPr>
          <a:lstStyle/>
          <a:p>
            <a:pPr algn="l">
              <a:lnSpc>
                <a:spcPct val="124000"/>
              </a:lnSpc>
            </a:pPr>
            <a:r>
              <a:rPr sz="1500" b="0" i="1">
                <a:solidFill>
                  <a:srgbClr val="1C7293"/>
                </a:solidFill>
                <a:latin typeface="Arial"/>
              </a:rPr>
              <a:t>Это про устройство опыта; ступень участия — другая разметка.</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Письмо дошло, и женщина пришла. Дальше вокруг неё работает устройство, которого она не видит.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кто-либо измерил точность прибора.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 ложным вызовом стоят повторный снимок, иногда биопсия и недели, которые человек живёт с открытым вопросом</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Порог назначает тот, кто решил, что хуже — пропустить или позвать лишнего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попала сюда так: ни одного её собственного признака в этом решении нет — только возраст и интервал.</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 та же единица, другая группа того же испытания</a:t>
            </a:r>
          </a:p>
        </p:txBody>
      </p:sp>
      <p:sp>
        <p:nvSpPr>
          <p:cNvPr id="12" name="Rounded Rectangle 11"/>
          <p:cNvSpPr/>
          <p:nvPr/>
        </p:nvSpPr>
        <p:spPr>
          <a:xfrm>
            <a:off x="374904" y="2592217"/>
            <a:ext cx="11441887" cy="2650372"/>
          </a:xfrm>
          <a:prstGeom prst="roundRect">
            <a:avLst>
              <a:gd name="adj" fmla="val 115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Находка приходит позже и стадией крупнее — и это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Доля поздних стадий среди найденных не зависит от того, сколько нашли, — только от того, когда нашли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Поставщик сравнивает систему «с тем, как было раньше» — спрашивайте, какое именно «раньше» он посчитал и в каких единицах.</a:t>
            </a:r>
          </a:p>
        </p:txBody>
      </p:sp>
      <p:sp>
        <p:nvSpPr>
          <p:cNvPr id="15" name="Rectangle 14"/>
          <p:cNvSpPr/>
          <p:nvPr/>
        </p:nvSpPr>
        <p:spPr>
          <a:xfrm>
            <a:off x="6091275" y="2683657"/>
            <a:ext cx="9144" cy="237605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взяты с разных выборок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работа распределилась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исследований в стране за год — не опубликовано: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пропустить того, кому нужно сейчас</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занять приём тем, кому не нужно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7789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в этом разделе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 в поголовном потоке: на её группе у той же системы верных тревог 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 визитах, не в деньгах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пропуск: поражение глазного дна бессимптомно до поздних стадий, потеря зрения необратима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ложная тревога: направление к офтальмологу, которого в районе может не быть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него</a:t>
            </a:r>
            <a:r>
              <a:rPr sz="1500" b="0" i="0">
                <a:solidFill>
                  <a:srgbClr val="21295C"/>
                </a:solidFill>
                <a:latin typeface="Arial"/>
              </a:rPr>
              <a:t> — автономное чтение двух снимков глазного дна на месте, без офтальмолога, результат меньше чем за минуту.</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названы, и обе они про место съёмки: освещение в кабинете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29402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одной методологией</a:t>
            </a:r>
            <a:r>
              <a:rPr sz="1500" b="0" i="0">
                <a:solidFill>
                  <a:srgbClr val="21295C"/>
                </a:solidFill>
                <a:latin typeface="Arial"/>
              </a:rPr>
              <a:t> — одним метаанализом прямого сравнения.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Знаменатель назван: это не «несколько примеров».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Одну ходовую цифру разбор произносить отказывается:</a:t>
            </a:r>
            <a:r>
              <a:rPr sz="1500" b="0" i="0">
                <a:solidFill>
                  <a:srgbClr val="21295C"/>
                </a:solidFill>
                <a:latin typeface="Arial"/>
              </a:rPr>
              <a:t> «на тёмной коже чувствительность падает на 20–30 процентов» в публикации не найдена.</a:t>
            </a:r>
          </a:p>
          <a:p>
            <a:pPr algn="l">
              <a:lnSpc>
                <a:spcPct val="126000"/>
              </a:lnSpc>
              <a:spcBef>
                <a:spcPts val="700"/>
              </a:spcBef>
            </a:pPr>
            <a:r>
              <a:rPr sz="1200" b="0" i="0">
                <a:solidFill>
                  <a:srgbClr val="21295C"/>
                </a:solidFill>
                <a:latin typeface="Arial"/>
              </a:rPr>
              <a:t/>
            </a:r>
            <a:r>
              <a:rPr sz="12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Один балл на каждого, отбор по порогу; целью взяты будущие расходы на лечение.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делают сегодня</a:t>
            </a:r>
            <a:r>
              <a:rPr sz="1500" b="0" i="0">
                <a:solidFill>
                  <a:srgbClr val="21295C"/>
                </a:solidFill>
                <a:latin typeface="Arial"/>
              </a:rPr>
              <a:t> — счёт риска на данных плательщика и на медицинской карте, </a:t>
            </a:r>
            <a:r>
              <a:rPr sz="1500" b="0" i="1">
                <a:solidFill>
                  <a:srgbClr val="21295C"/>
                </a:solidFill>
                <a:latin typeface="Arial"/>
              </a:rPr>
              <a:t>прогноз на структурированных данных</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покупает это администрация или плательщик, не врач</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«дорого лечится» от «болен» такой счёт не отличает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выносит человек. Читает он теперь не только снимок, но и подсказку модели рядом. Разборы по порядку:</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512246"/>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978928"/>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44561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91229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37897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848374"/>
          </a:xfrm>
          <a:prstGeom prst="roundRect">
            <a:avLst>
              <a:gd name="adj" fmla="val 1649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Когда второе мнение даёт модель — а первое чтение она же и подсказала — </a:t>
            </a:r>
            <a:r>
              <a:rPr sz="1300" b="1" i="0">
                <a:solidFill>
                  <a:srgbClr val="21295C"/>
                </a:solidFill>
                <a:latin typeface="Arial"/>
              </a:rPr>
              <a:t>два мнения перестают быть независимыми</a:t>
            </a:r>
            <a:r>
              <a:rPr sz="13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Женщина с письмом: её снимок достанется читателю, у которого подсказка уже на экране — а перегородка ставилась ровно против этого.</a:t>
            </a:r>
          </a:p>
          <a:p>
            <a:pPr algn="l">
              <a:lnSpc>
                <a:spcPct val="126000"/>
              </a:lnSpc>
              <a:spcBef>
                <a:spcPts val="700"/>
              </a:spcBef>
            </a:pPr>
            <a:r>
              <a:rPr sz="1300" b="0" i="0">
                <a:solidFill>
                  <a:srgbClr val="21295C"/>
                </a:solidFill>
                <a:latin typeface="Arial"/>
              </a:rPr>
              <a:t/>
            </a:r>
            <a:r>
              <a:rPr sz="1300" b="0" i="0">
                <a:solidFill>
                  <a:srgbClr val="21295C"/>
                </a:solidFill>
                <a:latin typeface="Arial"/>
              </a:rPr>
              <a:t>Рядом тем же устройством держится консилиум.</a:t>
            </a:r>
          </a:p>
          <a:p>
            <a:pPr algn="l">
              <a:lnSpc>
                <a:spcPct val="126000"/>
              </a:lnSpc>
              <a:spcBef>
                <a:spcPts val="700"/>
              </a:spcBef>
            </a:pPr>
            <a:r>
              <a:rPr sz="1300" b="0" i="0">
                <a:solidFill>
                  <a:srgbClr val="21295C"/>
                </a:solidFill>
                <a:latin typeface="Arial"/>
              </a:rPr>
              <a:t/>
            </a:r>
            <a:r>
              <a:rPr sz="13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722517"/>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76236"/>
          </a:xfrm>
          <a:prstGeom prst="roundRect">
            <a:avLst>
              <a:gd name="adj" fmla="val 95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в лаборатории,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верных рекомендациях точность рассуждения — </a:t>
            </a:r>
            <a:r>
              <a:rPr sz="150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14,0 пункта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Ступени не ранжированы по качеству: на каждой есть и выигрыш, и своя слепота.</a:t>
            </a:r>
          </a:p>
        </p:txBody>
      </p:sp>
      <p:sp>
        <p:nvSpPr>
          <p:cNvPr id="20" name="Rectangle 19"/>
          <p:cNvSpPr/>
          <p:nvPr/>
        </p:nvSpPr>
        <p:spPr>
          <a:xfrm>
            <a:off x="6091275" y="3151411"/>
            <a:ext cx="9144" cy="29402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4428"/>
          </a:xfrm>
          <a:prstGeom prst="roundRect">
            <a:avLst>
              <a:gd name="adj" fmla="val 1246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Подсказка по оцифрованному срезу в патологии. То же устройство — теперь на решении.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Знак эффекта задаёт её правота на этом конкретном случае.</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высокой точности есть куда падать и почти некуда расти.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сравнения.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 данные есть, разницы нет.</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Прогон «модель одна» равноправной случайной ветвью не был — он идёт </a:t>
            </a:r>
            <a:r>
              <a:rPr sz="1500" b="1" i="0">
                <a:solidFill>
                  <a:srgbClr val="21295C"/>
                </a:solidFill>
                <a:latin typeface="Arial"/>
              </a:rPr>
              <a:t>наблюдательным дополнением</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Пятьдесят врачей,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генерация на тексте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p:txBody>
      </p:sp>
      <p:sp>
        <p:nvSpPr>
          <p:cNvPr id="23" name="Rectangle 22"/>
          <p:cNvSpPr/>
          <p:nvPr/>
        </p:nvSpPr>
        <p:spPr>
          <a:xfrm>
            <a:off x="6091275" y="3285324"/>
            <a:ext cx="9144" cy="29402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Модель читает первой, человек читает сам, разногласие разбирает третий. Прибавка чувствительности </a:t>
            </a:r>
            <a:r>
              <a:rPr sz="1500" b="1" i="0">
                <a:solidFill>
                  <a:srgbClr val="21295C"/>
                </a:solidFill>
                <a:latin typeface="Arial"/>
              </a:rPr>
              <a:t>значима</a:t>
            </a:r>
            <a:r>
              <a:rPr sz="1500" b="0" i="0">
                <a:solidFill>
                  <a:srgbClr val="21295C"/>
                </a:solidFill>
                <a:latin typeface="Arial"/>
              </a:rPr>
              <a:t>: независимость здесь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Инструмент тот же, что в разборе выше.</a:t>
            </a:r>
            <a:r>
              <a:rPr sz="1500" b="0" i="0">
                <a:solidFill>
                  <a:srgbClr val="21295C"/>
                </a:solidFill>
                <a:latin typeface="Arial"/>
              </a:rPr>
              <a:t> Держат его контроль порога и арбитраж; вне скрининга бессимптомных он работать не умеет.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места в реанимации и без разговора с семьёй; осложнение считают на тридцатый день</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операцию отложат или не сделают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этой половины в тридцатидневном счёте не видно вовсе: человека не оперировали, и сравнивать не с чем</a:t>
            </a:r>
          </a:p>
        </p:txBody>
      </p:sp>
      <p:sp>
        <p:nvSpPr>
          <p:cNvPr id="12" name="Rounded Rectangle 11"/>
          <p:cNvSpPr/>
          <p:nvPr/>
        </p:nvSpPr>
        <p:spPr>
          <a:xfrm>
            <a:off x="502920" y="2894901"/>
            <a:ext cx="5437479" cy="2166611"/>
          </a:xfrm>
          <a:prstGeom prst="roundRect">
            <a:avLst>
              <a:gd name="adj" fmla="val 140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05034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шкалы риска — на одной выборке с моделью</a:t>
            </a:r>
          </a:p>
        </p:txBody>
      </p:sp>
      <p:sp>
        <p:nvSpPr>
          <p:cNvPr id="14" name="TextBox 13"/>
          <p:cNvSpPr txBox="1"/>
          <p:nvPr/>
        </p:nvSpPr>
        <p:spPr>
          <a:xfrm>
            <a:off x="667512"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физического состояния — 0,8743</a:t>
            </a:r>
          </a:p>
          <a:p>
            <a:pPr algn="l">
              <a:lnSpc>
                <a:spcPct val="126000"/>
              </a:lnSpc>
            </a:pPr>
            <a:r>
              <a:rPr sz="1450" b="0" i="0">
                <a:solidFill>
                  <a:srgbClr val="21295C"/>
                </a:solidFill>
                <a:latin typeface="Arial"/>
              </a:rPr>
              <a:t>• экстренной хирургии — 0,8910</a:t>
            </a:r>
          </a:p>
          <a:p>
            <a:pPr algn="l">
              <a:lnSpc>
                <a:spcPct val="126000"/>
              </a:lnSpc>
            </a:pPr>
            <a:r>
              <a:rPr sz="1450" b="0" i="0">
                <a:solidFill>
                  <a:srgbClr val="21295C"/>
                </a:solidFill>
                <a:latin typeface="Arial"/>
              </a:rPr>
              <a:t>• онлайн-калькулятор — 0,8975</a:t>
            </a:r>
          </a:p>
          <a:p>
            <a:pPr algn="l">
              <a:lnSpc>
                <a:spcPct val="126000"/>
              </a:lnSpc>
            </a:pPr>
            <a:r>
              <a:rPr sz="1450" b="0" i="0">
                <a:solidFill>
                  <a:srgbClr val="21295C"/>
                </a:solidFill>
                <a:latin typeface="Arial"/>
              </a:rPr>
              <a:t>• модель там же — 0,9162</a:t>
            </a:r>
          </a:p>
        </p:txBody>
      </p:sp>
      <p:sp>
        <p:nvSpPr>
          <p:cNvPr id="15" name="Rounded Rectangle 14"/>
          <p:cNvSpPr/>
          <p:nvPr/>
        </p:nvSpPr>
        <p:spPr>
          <a:xfrm>
            <a:off x="6251295" y="2894901"/>
            <a:ext cx="5437479" cy="2166611"/>
          </a:xfrm>
          <a:prstGeom prst="roundRect">
            <a:avLst>
              <a:gd name="adj" fmla="val 1406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05034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Чутьё хирурга — на других 150 случаях</a:t>
            </a:r>
          </a:p>
        </p:txBody>
      </p:sp>
      <p:sp>
        <p:nvSpPr>
          <p:cNvPr id="17" name="TextBox 16"/>
          <p:cNvSpPr txBox="1"/>
          <p:nvPr/>
        </p:nvSpPr>
        <p:spPr>
          <a:xfrm>
            <a:off x="6415887"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судят по описанию случая, 15 врачей</a:t>
            </a:r>
          </a:p>
          <a:p>
            <a:pPr algn="l">
              <a:lnSpc>
                <a:spcPct val="126000"/>
              </a:lnSpc>
            </a:pPr>
            <a:r>
              <a:rPr sz="1450" b="0" i="0">
                <a:solidFill>
                  <a:srgbClr val="21295C"/>
                </a:solidFill>
                <a:latin typeface="Arial"/>
              </a:rPr>
              <a:t>• смертность 0,841 — модель точнее</a:t>
            </a:r>
          </a:p>
          <a:p>
            <a:pPr algn="l">
              <a:lnSpc>
                <a:spcPct val="126000"/>
              </a:lnSpc>
            </a:pPr>
            <a:r>
              <a:rPr sz="1450" b="0" i="0">
                <a:solidFill>
                  <a:srgbClr val="21295C"/>
                </a:solidFill>
                <a:latin typeface="Arial"/>
              </a:rPr>
              <a:t>• септический шок 0,820 — точнее хирург</a:t>
            </a:r>
          </a:p>
        </p:txBody>
      </p:sp>
      <p:sp>
        <p:nvSpPr>
          <p:cNvPr id="18" name="Rounded Rectangle 17"/>
          <p:cNvSpPr/>
          <p:nvPr/>
        </p:nvSpPr>
        <p:spPr>
          <a:xfrm>
            <a:off x="374904" y="5152953"/>
            <a:ext cx="11441887" cy="10832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244393"/>
            <a:ext cx="11112703" cy="99181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Обещано было дважды: разбор, где добавление человека к машине ухудшило результат — у профессиональных медиков. Это он.</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Классический режим</a:t>
            </a:r>
            <a:r>
              <a:rPr sz="1300" b="0" i="0">
                <a:solidFill>
                  <a:srgbClr val="21295C"/>
                </a:solidFill>
                <a:latin typeface="Arial"/>
              </a:rPr>
              <a:t> — чем задачу решают без обученной модели: шкала, справочник, процедура, второй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c-статистика</a:t>
            </a:r>
            <a:r>
              <a:rPr sz="1300" b="0" i="0">
                <a:solidFill>
                  <a:srgbClr val="21295C"/>
                </a:solidFill>
                <a:latin typeface="Arial"/>
              </a:rPr>
              <a:t> — насколько уверенно шкала отличает того, с кем беда случится, от того, с кем нет: 0,5 — монетка, 1,0 — без промаха.</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калькулятор POTTER, Annals of Surgery 2018, PMID 30124479</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and Acute Care Surgery 2023, PMID 37314698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0,816</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150 случаев</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ОДИН</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точнее модели</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С ПОДСКАЗКОЙ</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0,712</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ниже обеих сторон</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 СРАВНЕНИЯ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пара хуже обеих сторон</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 хирургов по группам жребием, 30 дней наблюдения</a:t>
            </a:r>
          </a:p>
        </p:txBody>
      </p:sp>
      <p:sp>
        <p:nvSpPr>
          <p:cNvPr id="20" name="Rounded Rectangle 19"/>
          <p:cNvSpPr/>
          <p:nvPr/>
        </p:nvSpPr>
        <p:spPr>
          <a:xfrm>
            <a:off x="374904" y="3193884"/>
            <a:ext cx="11441887" cy="2412723"/>
          </a:xfrm>
          <a:prstGeom prst="roundRect">
            <a:avLst>
              <a:gd name="adj" fmla="val 1263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калькулятор риска перед операцией.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ничего — </a:t>
            </a:r>
            <a:r>
              <a:rPr sz="1500" b="1" i="0">
                <a:solidFill>
                  <a:srgbClr val="21295C"/>
                </a:solidFill>
                <a:latin typeface="Arial"/>
              </a:rPr>
              <a:t>0,834 против 0,833</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Форма восьмая: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Команда, измерившая тройку 92 · 74 · 76, на 70 врачах измерила и </a:t>
            </a:r>
            <a:r>
              <a:rPr sz="1500" b="1" i="0">
                <a:solidFill>
                  <a:srgbClr val="21295C"/>
                </a:solidFill>
                <a:latin typeface="Arial"/>
              </a:rPr>
              <a:t>порядок предъявления: он стоит 8,9 пункта</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Риск оценивался по описаниям случаев, не у койки. Повторения замера нет.</a:t>
            </a:r>
          </a:p>
        </p:txBody>
      </p:sp>
      <p:sp>
        <p:nvSpPr>
          <p:cNvPr id="23" name="Rectangle 22"/>
          <p:cNvSpPr/>
          <p:nvPr/>
        </p:nvSpPr>
        <p:spPr>
          <a:xfrm>
            <a:off x="6091275" y="3285324"/>
            <a:ext cx="9144" cy="213840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Эверетт и соавт., порядок предъявления подсказки, npj Digital Medicine 2026;9:409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977569"/>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5487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622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замер</a:t>
            </a:r>
          </a:p>
        </p:txBody>
      </p:sp>
      <p:sp>
        <p:nvSpPr>
          <p:cNvPr id="7" name="Rectangle 6"/>
          <p:cNvSpPr/>
          <p:nvPr/>
        </p:nvSpPr>
        <p:spPr>
          <a:xfrm>
            <a:off x="3894373" y="1335024"/>
            <a:ext cx="42213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4040677" y="1335024"/>
            <a:ext cx="39287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 свидетельства</a:t>
            </a:r>
          </a:p>
        </p:txBody>
      </p:sp>
      <p:sp>
        <p:nvSpPr>
          <p:cNvPr id="9" name="Rectangle 8"/>
          <p:cNvSpPr/>
          <p:nvPr/>
        </p:nvSpPr>
        <p:spPr>
          <a:xfrm>
            <a:off x="8115707" y="1335024"/>
            <a:ext cx="353649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262011" y="1335024"/>
            <a:ext cx="324388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на ком и на чём</a:t>
            </a:r>
          </a:p>
        </p:txBody>
      </p:sp>
      <p:sp>
        <p:nvSpPr>
          <p:cNvPr id="11" name="Rectangle 10"/>
          <p:cNvSpPr/>
          <p:nvPr/>
        </p:nvSpPr>
        <p:spPr>
          <a:xfrm>
            <a:off x="539496" y="1763984"/>
            <a:ext cx="3354877"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0,712</a:t>
            </a:r>
            <a:r>
              <a:rPr sz="1450" b="0" i="0">
                <a:solidFill>
                  <a:srgbClr val="21295C"/>
                </a:solidFill>
                <a:latin typeface="Arial"/>
              </a:rPr>
              <a:t> против 0,816 и 0,820 — пара ниже обеих сторон</a:t>
            </a:r>
          </a:p>
        </p:txBody>
      </p:sp>
      <p:sp>
        <p:nvSpPr>
          <p:cNvPr id="13" name="Rectangle 12"/>
          <p:cNvSpPr/>
          <p:nvPr/>
        </p:nvSpPr>
        <p:spPr>
          <a:xfrm>
            <a:off x="3894373" y="1763984"/>
            <a:ext cx="42213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4040677" y="176398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a:t>
            </a:r>
            <a:r>
              <a:rPr sz="1450" b="1" i="0">
                <a:solidFill>
                  <a:srgbClr val="21295C"/>
                </a:solidFill>
                <a:latin typeface="Arial"/>
              </a:rPr>
              <a:t>и</a:t>
            </a:r>
            <a:r>
              <a:rPr sz="1450" b="0" i="0">
                <a:solidFill>
                  <a:srgbClr val="21295C"/>
                </a:solidFill>
                <a:latin typeface="Arial"/>
              </a:rPr>
              <a:t> проспективное наблюдение</a:t>
            </a:r>
          </a:p>
        </p:txBody>
      </p:sp>
      <p:sp>
        <p:nvSpPr>
          <p:cNvPr id="15" name="Rectangle 14"/>
          <p:cNvSpPr/>
          <p:nvPr/>
        </p:nvSpPr>
        <p:spPr>
          <a:xfrm>
            <a:off x="8115707" y="1763984"/>
            <a:ext cx="3536491"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262011" y="176398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30 хирургов по группам жребием, 150 случаев, тридцать дней</a:t>
            </a:r>
          </a:p>
        </p:txBody>
      </p:sp>
      <p:sp>
        <p:nvSpPr>
          <p:cNvPr id="17" name="Rectangle 16"/>
          <p:cNvSpPr/>
          <p:nvPr/>
        </p:nvSpPr>
        <p:spPr>
          <a:xfrm>
            <a:off x="539496" y="2457314"/>
            <a:ext cx="3354877"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92 · 74 · 76</a:t>
            </a:r>
            <a:r>
              <a:rPr sz="1450" b="0" i="0">
                <a:solidFill>
                  <a:srgbClr val="21295C"/>
                </a:solidFill>
                <a:latin typeface="Arial"/>
              </a:rPr>
              <a:t> — врач с моделью не отличим от врача без неё</a:t>
            </a:r>
          </a:p>
        </p:txBody>
      </p:sp>
      <p:sp>
        <p:nvSpPr>
          <p:cNvPr id="19" name="Rectangle 18"/>
          <p:cNvSpPr/>
          <p:nvPr/>
        </p:nvSpPr>
        <p:spPr>
          <a:xfrm>
            <a:off x="3894373" y="2457314"/>
            <a:ext cx="42213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4040677" y="245731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ветвь «модель одна» — наблюдательная</a:t>
            </a:r>
          </a:p>
        </p:txBody>
      </p:sp>
      <p:sp>
        <p:nvSpPr>
          <p:cNvPr id="21" name="Rectangle 20"/>
          <p:cNvSpPr/>
          <p:nvPr/>
        </p:nvSpPr>
        <p:spPr>
          <a:xfrm>
            <a:off x="8115707" y="2457314"/>
            <a:ext cx="3536491"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262011" y="245731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50 врачей, составленные описания случаев, исходов нет</a:t>
            </a:r>
          </a:p>
        </p:txBody>
      </p:sp>
      <p:sp>
        <p:nvSpPr>
          <p:cNvPr id="23" name="Rectangle 22"/>
          <p:cNvSpPr/>
          <p:nvPr/>
        </p:nvSpPr>
        <p:spPr>
          <a:xfrm>
            <a:off x="539496" y="3150643"/>
            <a:ext cx="3354877"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−0,54</a:t>
            </a:r>
            <a:r>
              <a:rPr sz="1450" b="0" i="0">
                <a:solidFill>
                  <a:srgbClr val="21295C"/>
                </a:solidFill>
                <a:latin typeface="Arial"/>
              </a:rPr>
              <a:t> — где модель сильнее, пара хуже модели</a:t>
            </a:r>
          </a:p>
        </p:txBody>
      </p:sp>
      <p:sp>
        <p:nvSpPr>
          <p:cNvPr id="25" name="Rectangle 24"/>
          <p:cNvSpPr/>
          <p:nvPr/>
        </p:nvSpPr>
        <p:spPr>
          <a:xfrm>
            <a:off x="3894373" y="3150643"/>
            <a:ext cx="42213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4040677" y="3150643"/>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свод с мета-анализом, предрегистрированный</a:t>
            </a:r>
          </a:p>
        </p:txBody>
      </p:sp>
      <p:sp>
        <p:nvSpPr>
          <p:cNvPr id="27" name="Rectangle 26"/>
          <p:cNvSpPr/>
          <p:nvPr/>
        </p:nvSpPr>
        <p:spPr>
          <a:xfrm>
            <a:off x="8115707" y="3150643"/>
            <a:ext cx="3536491"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262011" y="3150643"/>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74 работы, 106 опытов; медицинских среди них часть</a:t>
            </a:r>
          </a:p>
        </p:txBody>
      </p:sp>
      <p:sp>
        <p:nvSpPr>
          <p:cNvPr id="29" name="Rectangle 28"/>
          <p:cNvSpPr/>
          <p:nvPr/>
        </p:nvSpPr>
        <p:spPr>
          <a:xfrm>
            <a:off x="539496" y="3843972"/>
            <a:ext cx="3354877"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71 → 39</a:t>
            </a:r>
            <a:r>
              <a:rPr sz="1450" b="0" i="0">
                <a:solidFill>
                  <a:srgbClr val="21295C"/>
                </a:solidFill>
                <a:latin typeface="Arial"/>
              </a:rPr>
              <a:t> — тот же читатель при ложной подсказке</a:t>
            </a:r>
          </a:p>
        </p:txBody>
      </p:sp>
      <p:sp>
        <p:nvSpPr>
          <p:cNvPr id="31" name="Rectangle 30"/>
          <p:cNvSpPr/>
          <p:nvPr/>
        </p:nvSpPr>
        <p:spPr>
          <a:xfrm>
            <a:off x="3894373" y="3843972"/>
            <a:ext cx="42213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4040677" y="3843972"/>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опыт с перекрёстной подачей: читатель против себя</a:t>
            </a:r>
          </a:p>
        </p:txBody>
      </p:sp>
      <p:sp>
        <p:nvSpPr>
          <p:cNvPr id="33" name="Rectangle 32"/>
          <p:cNvSpPr/>
          <p:nvPr/>
        </p:nvSpPr>
        <p:spPr>
          <a:xfrm>
            <a:off x="8115707" y="3843972"/>
            <a:ext cx="3536491"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262011" y="3843972"/>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10 читателей национальной программы, 60 случаев</a:t>
            </a:r>
          </a:p>
        </p:txBody>
      </p:sp>
      <p:sp>
        <p:nvSpPr>
          <p:cNvPr id="35" name="TextBox 34"/>
          <p:cNvSpPr txBox="1"/>
          <p:nvPr/>
        </p:nvSpPr>
        <p:spPr>
          <a:xfrm>
            <a:off x="539496" y="468360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Один вывод на четыре замера: пара человека и модели не наследует силу сильнейшей стороны.</a:t>
            </a:r>
            <a:r>
              <a:rPr sz="1500" b="0" i="0">
                <a:solidFill>
                  <a:srgbClr val="21295C"/>
                </a:solidFill>
                <a:latin typeface="Arial"/>
              </a:rPr>
              <a:t> Человека одного она обычно обходит — размер эффекта 0,64. Сильнейшую сторону — нет.</a:t>
            </a:r>
          </a:p>
        </p:txBody>
      </p:sp>
      <p:sp>
        <p:nvSpPr>
          <p:cNvPr id="36" name="TextBox 35"/>
          <p:cNvSpPr txBox="1"/>
          <p:nvPr/>
        </p:nvSpPr>
        <p:spPr>
          <a:xfrm>
            <a:off x="539496" y="543409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Исход пациента не измерен ни в одном из четырёх. Выше своего разряда ни одно из этих чисел не утверждает ничего.</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тройка: Го и соавт., JAMA Network Open 2024</a:t>
            </a:r>
            <a:r>
              <a:rPr sz="1200" b="0" i="1">
                <a:solidFill>
                  <a:srgbClr val="1C7293"/>
                </a:solidFill>
                <a:latin typeface="Arial"/>
              </a:rPr>
              <a:t> · </a:t>
            </a:r>
            <a:r>
              <a:rPr sz="1200" b="0" i="1" u="sng">
                <a:solidFill>
                  <a:srgbClr val="065A82"/>
                </a:solidFill>
                <a:latin typeface="Arial"/>
                <a:hlinkClick r:id="rId4"/>
              </a:rPr>
              <a:t>свод: Ваккаро и соавт., Nature Human Behaviour 2024</a:t>
            </a:r>
            <a:r>
              <a:rPr sz="1200" b="0" i="1">
                <a:solidFill>
                  <a:srgbClr val="1C7293"/>
                </a:solidFill>
                <a:latin typeface="Arial"/>
              </a:rPr>
              <a:t> · </a:t>
            </a:r>
            <a:r>
              <a:rPr sz="1200" b="0" i="1" u="sng">
                <a:solidFill>
                  <a:srgbClr val="065A82"/>
                </a:solidFill>
                <a:latin typeface="Arial"/>
                <a:hlinkClick r:id="rId5"/>
              </a:rPr>
              <a:t>взгляд: Тайб и соавт., Radiology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Удержать собственное преимущество: там, где человек был точнее машины, подсказка увела его </a:t>
            </a:r>
            <a:r>
              <a:rPr sz="1500" b="1" i="0">
                <a:solidFill>
                  <a:srgbClr val="21295C"/>
                </a:solidFill>
                <a:latin typeface="Arial"/>
              </a:rPr>
              <a:t>ниже его же уровня</a:t>
            </a:r>
            <a:r>
              <a:rPr sz="1500" b="0" i="0">
                <a:solidFill>
                  <a:srgbClr val="21295C"/>
                </a:solidFill>
                <a:latin typeface="Arial"/>
              </a:rPr>
              <a:t> — 0,712 против 0,820.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 </a:t>
            </a:r>
            <a:r>
              <a:rPr sz="1500" b="1" i="0">
                <a:solidFill>
                  <a:srgbClr val="21295C"/>
                </a:solidFill>
                <a:latin typeface="Arial"/>
              </a:rPr>
              <a:t>Исполнитель тот же, но стал хуже</a:t>
            </a:r>
            <a:r>
              <a:rPr sz="1500" b="0" i="0">
                <a:solidFill>
                  <a:srgbClr val="21295C"/>
                </a:solidFill>
                <a:latin typeface="Arial"/>
              </a:rPr>
              <a:t> — у хирурга при той же работе просело собственное преимущество.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865372"/>
          </a:xfrm>
          <a:prstGeom prst="roundRect">
            <a:avLst>
              <a:gd name="adj" fmla="val 6264"/>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риск до операции (анализ)</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в скобках — кто занял клетку раньше.</a:t>
            </a:r>
            <a:r>
              <a:rPr sz="1200" b="0" i="0">
                <a:solidFill>
                  <a:srgbClr val="21295C"/>
                </a:solidFill>
                <a:latin typeface="Arial"/>
              </a:rPr>
              <a:t> Новых клеток раздел не добавил.</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в одно число не сводятся:</a:t>
            </a:r>
          </a:p>
        </p:txBody>
      </p:sp>
      <p:sp>
        <p:nvSpPr>
          <p:cNvPr id="47" name="Rounded Rectangle 46"/>
          <p:cNvSpPr/>
          <p:nvPr/>
        </p:nvSpPr>
        <p:spPr>
          <a:xfrm>
            <a:off x="630936" y="4216317"/>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132497"/>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упала</a:t>
            </a:r>
          </a:p>
        </p:txBody>
      </p:sp>
      <p:sp>
        <p:nvSpPr>
          <p:cNvPr id="49" name="Rounded Rectangle 48"/>
          <p:cNvSpPr/>
          <p:nvPr/>
        </p:nvSpPr>
        <p:spPr>
          <a:xfrm>
            <a:off x="630936" y="4606243"/>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522423"/>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4996168"/>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4912348"/>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сильнее обеих сторон</a:t>
            </a:r>
          </a:p>
        </p:txBody>
      </p:sp>
      <p:sp>
        <p:nvSpPr>
          <p:cNvPr id="53" name="TextBox 52"/>
          <p:cNvSpPr txBox="1"/>
          <p:nvPr/>
        </p:nvSpPr>
        <p:spPr>
          <a:xfrm>
            <a:off x="539496" y="530227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неподвижны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a:t>
            </a:r>
          </a:p>
        </p:txBody>
      </p:sp>
      <p:sp>
        <p:nvSpPr>
          <p:cNvPr id="54" name="Rounded Rectangle 53"/>
          <p:cNvSpPr/>
          <p:nvPr/>
        </p:nvSpPr>
        <p:spPr>
          <a:xfrm>
            <a:off x="630936" y="5776019"/>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692199"/>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 · POTTER</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4086531"/>
          </a:xfrm>
          <a:prstGeom prst="roundRect">
            <a:avLst>
              <a:gd name="adj" fmla="val 745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350" b="0" i="0">
                <a:solidFill>
                  <a:srgbClr val="21295C"/>
                </a:solidFill>
                <a:latin typeface="Arial"/>
              </a:rPr>
              <a:t/>
            </a:r>
            <a:r>
              <a:rPr sz="1350" b="1" i="0">
                <a:solidFill>
                  <a:srgbClr val="21295C"/>
                </a:solidFill>
                <a:latin typeface="Arial"/>
              </a:rPr>
              <a:t>Шесть действий стадии.</a:t>
            </a:r>
            <a:r>
              <a:rPr sz="135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Без обученной модели каждое из шести делает человек по таблице</a:t>
            </a:r>
            <a:r>
              <a:rPr sz="135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350" b="0" i="0">
                <a:solidFill>
                  <a:srgbClr val="21295C"/>
                </a:solidFill>
                <a:latin typeface="Arial"/>
              </a:rPr>
              <a:t/>
            </a:r>
            <a:r>
              <a:rPr sz="1350" b="1" i="0">
                <a:solidFill>
                  <a:srgbClr val="21295C"/>
                </a:solidFill>
                <a:latin typeface="Arial"/>
              </a:rPr>
              <a:t>С обученной моделью — три действия из шести:</a:t>
            </a:r>
            <a:r>
              <a:rPr sz="135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350" b="0" i="0">
                <a:solidFill>
                  <a:srgbClr val="21295C"/>
                </a:solidFill>
                <a:latin typeface="Arial"/>
              </a:rPr>
              <a:t/>
            </a:r>
            <a:r>
              <a:rPr sz="1350" b="1" i="0">
                <a:solidFill>
                  <a:srgbClr val="21295C"/>
                </a:solidFill>
                <a:latin typeface="Arial"/>
              </a:rPr>
              <a:t>Новый шаг — разобрать тревогу и отклонить её.</a:t>
            </a:r>
          </a:p>
          <a:p>
            <a:pPr algn="l">
              <a:lnSpc>
                <a:spcPct val="126000"/>
              </a:lnSpc>
              <a:spcBef>
                <a:spcPts val="700"/>
              </a:spcBef>
            </a:pPr>
            <a:r>
              <a:rPr sz="1350" b="0" i="0">
                <a:solidFill>
                  <a:srgbClr val="21295C"/>
                </a:solidFill>
                <a:latin typeface="Arial"/>
              </a:rPr>
              <a:t/>
            </a:r>
            <a:r>
              <a:rPr sz="135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одно и повторяющееся: звать старшего сейчас или на следующем обходе. </a:t>
            </a:r>
            <a:r>
              <a:rPr sz="1350" b="1" i="0">
                <a:solidFill>
                  <a:srgbClr val="21295C"/>
                </a:solidFill>
                <a:latin typeface="Arial"/>
              </a:rPr>
              <a:t>Решает тот, кто видит только запись.</a:t>
            </a:r>
          </a:p>
          <a:p>
            <a:pPr algn="l">
              <a:lnSpc>
                <a:spcPct val="126000"/>
              </a:lnSpc>
              <a:spcBef>
                <a:spcPts val="700"/>
              </a:spcBef>
            </a:pPr>
            <a:r>
              <a:rPr sz="1350" b="0" i="0">
                <a:solidFill>
                  <a:srgbClr val="21295C"/>
                </a:solidFill>
                <a:latin typeface="Arial"/>
              </a:rPr>
              <a:t/>
            </a:r>
            <a:r>
              <a:rPr sz="1350" b="1" i="0">
                <a:solidFill>
                  <a:srgbClr val="21295C"/>
                </a:solidFill>
                <a:latin typeface="Arial"/>
              </a:rPr>
              <a:t>Женщины с письмом в этой палате нет: после письма «норма» за ней не наблюдает никто.</a:t>
            </a:r>
          </a:p>
        </p:txBody>
      </p:sp>
      <p:sp>
        <p:nvSpPr>
          <p:cNvPr id="17" name="Rectangle 16"/>
          <p:cNvSpPr/>
          <p:nvPr/>
        </p:nvSpPr>
        <p:spPr>
          <a:xfrm>
            <a:off x="6091275" y="2241116"/>
            <a:ext cx="9144" cy="392011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3106144"/>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Запись о женщине с письмом — заключение по снимку и строка исхода: читает их другой человек со своим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a:p>
            <a:pPr algn="l">
              <a:lnSpc>
                <a:spcPct val="126000"/>
              </a:lnSpc>
              <a:spcBef>
                <a:spcPts val="700"/>
              </a:spcBef>
            </a:pPr>
            <a:r>
              <a:rPr sz="1250" b="0" i="0">
                <a:solidFill>
                  <a:srgbClr val="21295C"/>
                </a:solidFill>
                <a:latin typeface="Arial"/>
              </a:rPr>
              <a:t/>
            </a: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Число без названной методики счёта не проверяется и не опровергается: утверждением о мире оно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Измерено рандомизированно:</a:t>
            </a:r>
            <a:r>
              <a:rPr sz="1250" b="0" i="0">
                <a:solidFill>
                  <a:srgbClr val="21295C"/>
                </a:solidFill>
                <a:latin typeface="Arial"/>
              </a:rPr>
              <a:t> три равные группы, 238 врачей четырнадцати специальностей.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и посчитан из них один.</a:t>
            </a:r>
            <a:r>
              <a:rPr sz="14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измерено.</a:t>
            </a:r>
            <a:r>
              <a:rPr sz="14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общее качество сопоставимо</a:t>
            </a:r>
            <a:r>
              <a:rPr sz="1450" b="0" i="0">
                <a:solidFill>
                  <a:srgbClr val="21295C"/>
                </a:solidFill>
                <a:latin typeface="Arial"/>
              </a:rPr>
              <a:t> — 3,67 у врачей против 3,77 у модели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 модели короче и связнее</a:t>
            </a:r>
            <a:r>
              <a:rPr sz="1450" b="0" i="0">
                <a:solidFill>
                  <a:srgbClr val="21295C"/>
                </a:solidFill>
                <a:latin typeface="Arial"/>
              </a:rPr>
              <a:t> — и при этом менее полон</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ошибок больше, каждая не страшнее</a:t>
            </a:r>
            <a:r>
              <a:rPr sz="1450" b="0" i="0">
                <a:solidFill>
                  <a:srgbClr val="21295C"/>
                </a:solidFill>
                <a:latin typeface="Arial"/>
              </a:rPr>
              <a:t> — потенциал вреда одной 1,34 против 1,35</a:t>
            </a:r>
          </a:p>
          <a:p>
            <a:pPr algn="l">
              <a:lnSpc>
                <a:spcPct val="126000"/>
              </a:lnSpc>
              <a:spcBef>
                <a:spcPts val="700"/>
              </a:spcBef>
            </a:pPr>
            <a:r>
              <a:rPr sz="1450" b="0" i="0">
                <a:solidFill>
                  <a:srgbClr val="21295C"/>
                </a:solidFill>
                <a:latin typeface="Arial"/>
              </a:rPr>
              <a:t/>
            </a:r>
            <a:r>
              <a:rPr sz="1450" b="1" i="0">
                <a:solidFill>
                  <a:srgbClr val="21295C"/>
                </a:solidFill>
                <a:latin typeface="Arial"/>
              </a:rPr>
              <a:t>Сместилась цена ошибки:</a:t>
            </a:r>
            <a:r>
              <a:rPr sz="14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4939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записи: столько времени в заметке сняли — и это вся измеренная экономия стадии</a:t>
            </a:r>
          </a:p>
        </p:txBody>
      </p:sp>
      <p:sp>
        <p:nvSpPr>
          <p:cNvPr id="5" name="Rounded Rectangle 4"/>
          <p:cNvSpPr/>
          <p:nvPr/>
        </p:nvSpPr>
        <p:spPr>
          <a:xfrm>
            <a:off x="374904" y="1379297"/>
            <a:ext cx="11441887" cy="3511631"/>
          </a:xfrm>
          <a:prstGeom prst="roundRect">
            <a:avLst>
              <a:gd name="adj" fmla="val 8679"/>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Девять с половиной процентов — это у одного инструмента из двух.</a:t>
            </a:r>
            <a:r>
              <a:rPr sz="1500" b="0" i="0">
                <a:solidFill>
                  <a:srgbClr val="21295C"/>
                </a:solidFill>
                <a:latin typeface="Arial"/>
              </a:rPr>
              <a:t> У второго, того же режима и того же дизайна испытания, экономии нет вовсе: измеренный эффект принадлежит реализации, а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Активное время правки не сдвинулось ни у одного из двух.</a:t>
            </a:r>
            <a:r>
              <a:rPr sz="1500" b="0" i="0">
                <a:solidFill>
                  <a:srgbClr val="21295C"/>
                </a:solidFill>
                <a:latin typeface="Arial"/>
              </a:rPr>
              <a:t> Заметка готова к концу приёма, а не к концу дня, и структуру документа больше не надо держать в голове при живом человеке — </a:t>
            </a:r>
            <a:r>
              <a:rPr sz="1500" b="1" i="0">
                <a:solidFill>
                  <a:srgbClr val="21295C"/>
                </a:solidFill>
                <a:latin typeface="Arial"/>
              </a:rPr>
              <a:t>нагрузка переехала с набора текста на вычитку чужого</a:t>
            </a:r>
            <a:r>
              <a:rPr sz="1500" b="0" i="0">
                <a:solidFill>
                  <a:srgbClr val="21295C"/>
                </a:solidFill>
                <a:latin typeface="Arial"/>
              </a:rPr>
              <a:t>, и </a:t>
            </a:r>
            <a:r>
              <a:rPr sz="1500" b="1" i="0">
                <a:solidFill>
                  <a:srgbClr val="21295C"/>
                </a:solidFill>
                <a:latin typeface="Arial"/>
              </a:rPr>
              <a:t>появился шаг</a:t>
            </a:r>
            <a:r>
              <a:rPr sz="1500" b="0" i="0">
                <a:solidFill>
                  <a:srgbClr val="21295C"/>
                </a:solidFill>
                <a:latin typeface="Arial"/>
              </a:rPr>
              <a:t>: выборочный контроль заметок со своим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Заявленную экономию подтвердить нельзя:</a:t>
            </a:r>
            <a:r>
              <a:rPr sz="1500" b="0" i="0">
                <a:solidFill>
                  <a:srgbClr val="21295C"/>
                </a:solidFill>
                <a:latin typeface="Arial"/>
              </a:rPr>
              <a:t> 15 791 час на 63 000 приёмов — без раскрытой методики счёта.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Полнее человека документ не пишет:</a:t>
            </a:r>
            <a:r>
              <a:rPr sz="1500" b="0" i="0">
                <a:solidFill>
                  <a:srgbClr val="21295C"/>
                </a:solidFill>
                <a:latin typeface="Arial"/>
              </a:rPr>
              <a:t> полнота 3,72 против 4,13, ошибок 2,91 против 1,82.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врача. Прочерк: вычитке другого рода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8" name="Rectangle 7"/>
          <p:cNvSpPr/>
          <p:nvPr/>
        </p:nvSpPr>
        <p:spPr>
          <a:xfrm>
            <a:off x="6091275" y="1470737"/>
            <a:ext cx="9144" cy="3237311"/>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в этом разделе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с конца: норма есть, а проверки нет</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2168327"/>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Этот разбор идёт с конца: сначала то, чем он кончился, а счёт, из которого это сложилось,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Знаменатели держим врозь:</a:t>
            </a:r>
            <a:r>
              <a:rPr sz="15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3" name="Rectangle 22"/>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как к этому пришли: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Теперь счёт, из которого эта подпись сложилась.</a:t>
            </a:r>
          </a:p>
          <a:p>
            <a:pPr algn="l">
              <a:lnSpc>
                <a:spcPct val="126000"/>
              </a:lnSpc>
              <a:spcBef>
                <a:spcPts val="700"/>
              </a:spcBef>
            </a:pPr>
            <a:r>
              <a:rPr sz="1250" b="0" i="0">
                <a:solidFill>
                  <a:srgbClr val="21295C"/>
                </a:solidFill>
                <a:latin typeface="Arial"/>
              </a:rPr>
              <a:t/>
            </a:r>
            <a:r>
              <a:rPr sz="1250" b="1" i="0">
                <a:solidFill>
                  <a:srgbClr val="21295C"/>
                </a:solidFill>
                <a:latin typeface="Arial"/>
              </a:rPr>
              <a:t>Цена обеих ошибок у подписи.</a:t>
            </a:r>
            <a:r>
              <a:rPr sz="125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Классических режимов два, и счёт у них разный.</a:t>
            </a:r>
            <a:r>
              <a:rPr sz="125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Первая единица — чувствительность, доля найденного среди больных.</a:t>
            </a:r>
            <a:r>
              <a:rPr sz="1250" b="0" i="0">
                <a:solidFill>
                  <a:srgbClr val="21295C"/>
                </a:solidFill>
                <a:latin typeface="Arial"/>
              </a:rPr>
              <a:t> С выявляемостью её путать нельзя: в той же программе это около шести находок на тысячу обследованных.</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Вторая единица — минуты труда, и без неё экономия на чтении не считается.</a:t>
            </a:r>
            <a:r>
              <a:rPr sz="125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Разброс произносится вместе со средним:</a:t>
            </a:r>
            <a:r>
              <a:rPr sz="125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250" b="0" i="0">
                <a:solidFill>
                  <a:srgbClr val="21295C"/>
                </a:solidFill>
                <a:latin typeface="Arial"/>
              </a:rPr>
              <a:t/>
            </a:r>
            <a:r>
              <a:rPr sz="125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3124796"/>
          </a:xfrm>
          <a:prstGeom prst="roundRect">
            <a:avLst>
              <a:gd name="adj" fmla="val 9754"/>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11112703"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 держит то, что определяет качество вывода, и за решение о конкретном человеке не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 отвечает за решение целиком и не контролирует ни обучающие данные, ни обновления.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500" b="0" i="0">
                <a:solidFill>
                  <a:srgbClr val="21295C"/>
                </a:solidFill>
                <a:latin typeface="Arial"/>
              </a:rPr>
              <a:t/>
            </a:r>
            <a:r>
              <a:rPr sz="1500" b="1" i="0">
                <a:solidFill>
                  <a:srgbClr val="21295C"/>
                </a:solidFill>
                <a:latin typeface="Arial"/>
              </a:rPr>
              <a:t>Соберут комиссию по случаю женщины с письмом — оценивать будут действия человека: вопроса о модели в списке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качественная: она описывает участников клинического контура и чисел в себе не несёт.</a:t>
            </a:r>
          </a:p>
        </p:txBody>
      </p:sp>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2709784"/>
          </a:xfrm>
          <a:prstGeom prst="roundRect">
            <a:avLst>
              <a:gd name="adj" fmla="val 1124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 падение доли обнаружения снято на эндоскопии.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243546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этого раздела в сетке курса: вне окна</a:t>
            </a:r>
          </a:p>
        </p:txBody>
      </p:sp>
      <p:sp>
        <p:nvSpPr>
          <p:cNvPr id="4" name="Rounded Rectangle 3"/>
          <p:cNvSpPr/>
          <p:nvPr/>
        </p:nvSpPr>
        <p:spPr>
          <a:xfrm>
            <a:off x="502920"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курсовой сетки из 42</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четыре</a:t>
            </a:r>
          </a:p>
        </p:txBody>
      </p:sp>
      <p:sp>
        <p:nvSpPr>
          <p:cNvPr id="12" name="Rounded Rectangle 11"/>
          <p:cNvSpPr/>
          <p:nvPr/>
        </p:nvSpPr>
        <p:spPr>
          <a:xfrm>
            <a:off x="6178143"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ЭТОТ РАЗДЕЛ ПРИБАВИЛ</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одной</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раздел подряд</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инструмент такого класса здесь искать незачем</a:t>
            </a:r>
          </a:p>
        </p:txBody>
      </p:sp>
      <p:sp>
        <p:nvSpPr>
          <p:cNvPr id="20" name="Rounded Rectangle 19"/>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этого раздела лежит вне окна: это распознавание на видео</a:t>
            </a:r>
            <a:r>
              <a:rPr sz="1500" b="0" i="0">
                <a:solidFill>
                  <a:srgbClr val="21295C"/>
                </a:solidFill>
                <a:latin typeface="Arial"/>
              </a:rPr>
              <a:t> — подсветка на живом потоке кадров во время процедуры, готового снимка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Столбца «видео» в окне нет, и дописывать его нельзя:</a:t>
            </a:r>
            <a:r>
              <a:rPr sz="1500" b="0" i="0">
                <a:solidFill>
                  <a:srgbClr val="21295C"/>
                </a:solidFill>
                <a:latin typeface="Arial"/>
              </a:rPr>
              <a:t> окно собрано под клинику, где читают снимок, текст и карту, и объявлено оно таким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А доверие клетки не получает вовсе:</a:t>
            </a:r>
            <a:r>
              <a:rPr sz="1500" b="0" i="0">
                <a:solidFill>
                  <a:srgbClr val="21295C"/>
                </a:solidFill>
                <a:latin typeface="Arial"/>
              </a:rPr>
              <a:t> режима работы в нём нет, и описывать эту плоскость приходится словами.</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двумя режимами — в последствиях: у подсветки человек остаётся и решает, со второго места его снимают. Навык расходуется там, где он формально остался.</a:t>
            </a:r>
          </a:p>
        </p:txBody>
      </p:sp>
      <p:sp>
        <p:nvSpPr>
          <p:cNvPr id="23" name="Rectangle 22"/>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человеком, который стал хуже. Здесь меняется масштаб: ранний шаг разработки подешевел многократно, а шаг, на котором стоит основной объём работы, не подешевел ни на сколько.</a:t>
            </a:r>
          </a:p>
        </p:txBody>
      </p:sp>
      <p:sp>
        <p:nvSpPr>
          <p:cNvPr id="9" name="TextBox 8"/>
          <p:cNvSpPr txBox="1"/>
          <p:nvPr/>
        </p:nvSpPr>
        <p:spPr>
          <a:xfrm>
            <a:off x="704088" y="364974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один: </a:t>
            </a:r>
            <a:r>
              <a:rPr sz="1550" b="1" i="0">
                <a:solidFill>
                  <a:srgbClr val="21295C"/>
                </a:solidFill>
                <a:latin typeface="Arial"/>
              </a:rPr>
              <a:t>Пример 1: компания, отказавшаяся от своего обещания</a:t>
            </a:r>
            <a:r>
              <a:rPr sz="1550" b="0" i="0">
                <a:solidFill>
                  <a:srgbClr val="21295C"/>
                </a:solidFill>
                <a:latin typeface="Arial"/>
              </a:rPr>
              <a:t>; упоминания стоят в своде раздела.</a:t>
            </a:r>
          </a:p>
        </p:txBody>
      </p:sp>
      <p:sp>
        <p:nvSpPr>
          <p:cNvPr id="10" name="TextBox 9"/>
          <p:cNvSpPr txBox="1"/>
          <p:nvPr/>
        </p:nvSpPr>
        <p:spPr>
          <a:xfrm>
            <a:off x="704088" y="472060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489382"/>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«перешли» и «завершили» — </a:t>
            </a:r>
            <a:r>
              <a:rPr sz="1500" b="1" i="0">
                <a:solidFill>
                  <a:srgbClr val="21295C"/>
                </a:solidFill>
                <a:latin typeface="Arial"/>
              </a:rPr>
              <a:t>две разные дроби</a:t>
            </a:r>
            <a:r>
              <a:rPr sz="1500" b="0" i="0">
                <a:solidFill>
                  <a:srgbClr val="21295C"/>
                </a:solidFill>
                <a:latin typeface="Arial"/>
              </a:rPr>
              <a:t>: база считана на завершённых траекториях, живые активы в неё не попадают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компания, отказавшаяся от своего обещания, и минус 180 рабочих мест</a:t>
            </a:r>
          </a:p>
        </p:txBody>
      </p:sp>
      <p:sp>
        <p:nvSpPr>
          <p:cNvPr id="4" name="Rounded Rectangle 3"/>
          <p:cNvSpPr/>
          <p:nvPr/>
        </p:nvSpPr>
        <p:spPr>
          <a:xfrm>
            <a:off x="502920"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ТЯЖЕСТЬ ЭКЗЕМЫ И ЗУД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1" name="TextBox 10"/>
          <p:cNvSpPr txBox="1"/>
          <p:nvPr/>
        </p:nvSpPr>
        <p:spPr>
          <a:xfrm>
            <a:off x="3477691"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 первичная точка, безопасность, при этом достигнута</a:t>
            </a:r>
          </a:p>
        </p:txBody>
      </p:sp>
      <p:sp>
        <p:nvSpPr>
          <p:cNvPr id="12" name="Rounded Rectangle 11"/>
          <p:cNvSpPr/>
          <p:nvPr/>
        </p:nvSpPr>
        <p:spPr>
          <a:xfrm>
            <a:off x="6178143" y="1335024"/>
            <a:ext cx="2673019" cy="2027702"/>
          </a:xfrm>
          <a:prstGeom prst="roundRect">
            <a:avLst>
              <a:gd name="adj" fmla="val 1503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4" name="TextBox 13"/>
          <p:cNvSpPr txBox="1"/>
          <p:nvPr/>
        </p:nvSpPr>
        <p:spPr>
          <a:xfrm>
            <a:off x="6315303"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5" name="TextBox 14"/>
          <p:cNvSpPr txBox="1"/>
          <p:nvPr/>
        </p:nvSpPr>
        <p:spPr>
          <a:xfrm>
            <a:off x="6315303" y="26823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 а не неудача команды</a:t>
            </a:r>
          </a:p>
        </p:txBody>
      </p:sp>
      <p:sp>
        <p:nvSpPr>
          <p:cNvPr id="16" name="Rounded Rectangle 15"/>
          <p:cNvSpPr/>
          <p:nvPr/>
        </p:nvSpPr>
        <p:spPr>
          <a:xfrm>
            <a:off x="9015755" y="1335024"/>
            <a:ext cx="2673019" cy="2027702"/>
          </a:xfrm>
          <a:prstGeom prst="roundRect">
            <a:avLst>
              <a:gd name="adj" fmla="val 1503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9152915" y="1725375"/>
            <a:ext cx="2398699" cy="443974"/>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минус 180 мест, годом позже ещё минус 30 процентов штата</a:t>
            </a:r>
          </a:p>
        </p:txBody>
      </p:sp>
      <p:sp>
        <p:nvSpPr>
          <p:cNvPr id="19" name="TextBox 18"/>
          <p:cNvSpPr txBox="1"/>
          <p:nvPr/>
        </p:nvSpPr>
        <p:spPr>
          <a:xfrm>
            <a:off x="9152915" y="2169349"/>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следом зарубежный офис, смена руководителя, объявленный уход с биржи и сервисная модель вместо собственной разработки</a:t>
            </a:r>
          </a:p>
        </p:txBody>
      </p:sp>
      <p:sp>
        <p:nvSpPr>
          <p:cNvPr id="20" name="TextBox 19"/>
          <p:cNvSpPr txBox="1"/>
          <p:nvPr/>
        </p:nvSpPr>
        <p:spPr>
          <a:xfrm>
            <a:off x="502920" y="3582182"/>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21" name="Rounded Rectangle 20"/>
          <p:cNvSpPr/>
          <p:nvPr/>
        </p:nvSpPr>
        <p:spPr>
          <a:xfrm>
            <a:off x="1920240"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23" name="Right Arrow 22"/>
          <p:cNvSpPr/>
          <p:nvPr/>
        </p:nvSpPr>
        <p:spPr>
          <a:xfrm>
            <a:off x="4202353" y="395237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26" name="Right Arrow 25"/>
          <p:cNvSpPr/>
          <p:nvPr/>
        </p:nvSpPr>
        <p:spPr>
          <a:xfrm>
            <a:off x="6713067" y="3952372"/>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9" name="Right Arrow 28"/>
          <p:cNvSpPr/>
          <p:nvPr/>
        </p:nvSpPr>
        <p:spPr>
          <a:xfrm>
            <a:off x="9223781" y="395237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54560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59132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32" name="TextBox 31"/>
          <p:cNvSpPr txBox="1"/>
          <p:nvPr/>
        </p:nvSpPr>
        <p:spPr>
          <a:xfrm>
            <a:off x="502920" y="453287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33" name="Rounded Rectangle 32"/>
          <p:cNvSpPr/>
          <p:nvPr/>
        </p:nvSpPr>
        <p:spPr>
          <a:xfrm>
            <a:off x="374904" y="4835556"/>
            <a:ext cx="11441887" cy="1224120"/>
          </a:xfrm>
          <a:prstGeom prst="roundRect">
            <a:avLst>
              <a:gd name="adj" fmla="val 24899"/>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26996"/>
            <a:ext cx="5373471" cy="113268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Молекулу нашли через граф биомедицинских связей. Испытание прошло по правилам, и разница выяснилась </a:t>
            </a:r>
            <a:r>
              <a:rPr sz="1300" b="1" i="0">
                <a:solidFill>
                  <a:srgbClr val="21295C"/>
                </a:solidFill>
                <a:latin typeface="Arial"/>
              </a:rPr>
              <a:t>только на людях</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Изменился порядок работ — на масштабе модели бизнеса; процесс одного препарата не менялся.</a:t>
            </a:r>
          </a:p>
        </p:txBody>
      </p:sp>
      <p:sp>
        <p:nvSpPr>
          <p:cNvPr id="35" name="TextBox 34"/>
          <p:cNvSpPr txBox="1"/>
          <p:nvPr/>
        </p:nvSpPr>
        <p:spPr>
          <a:xfrm>
            <a:off x="6278727" y="4926996"/>
            <a:ext cx="5373471" cy="113268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свою молекулу и свою программу до второй фазы · </a:t>
            </a:r>
            <a:r>
              <a:rPr sz="1300" b="1" i="0">
                <a:solidFill>
                  <a:srgbClr val="21295C"/>
                </a:solidFill>
                <a:latin typeface="Arial"/>
              </a:rPr>
              <a:t>потребовало</a:t>
            </a:r>
            <a:r>
              <a:rPr sz="1300" b="0" i="0">
                <a:solidFill>
                  <a:srgbClr val="21295C"/>
                </a:solidFill>
                <a:latin typeface="Arial"/>
              </a:rPr>
              <a:t> успеха там, где отрасль даёт меньше трети · </a:t>
            </a:r>
            <a:r>
              <a:rPr sz="1300" b="1" i="0">
                <a:solidFill>
                  <a:srgbClr val="21295C"/>
                </a:solidFill>
                <a:latin typeface="Arial"/>
              </a:rPr>
              <a:t>в сумме</a:t>
            </a:r>
            <a:r>
              <a:rPr sz="1300" b="0" i="0">
                <a:solidFill>
                  <a:srgbClr val="21295C"/>
                </a:solidFill>
                <a:latin typeface="Arial"/>
              </a:rPr>
              <a:t> две волны сокращений и отказ от обещания</a:t>
            </a:r>
          </a:p>
        </p:txBody>
      </p:sp>
      <p:sp>
        <p:nvSpPr>
          <p:cNvPr id="36" name="Rectangle 35"/>
          <p:cNvSpPr/>
          <p:nvPr/>
        </p:nvSpPr>
        <p:spPr>
          <a:xfrm>
            <a:off x="6091275" y="4926996"/>
            <a:ext cx="9144" cy="1118711"/>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200" b="0" i="0">
                <a:solidFill>
                  <a:srgbClr val="21295C"/>
                </a:solidFill>
                <a:latin typeface="Arial"/>
              </a:rPr>
              <a:t/>
            </a:r>
            <a:r>
              <a:rPr sz="12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первую фазу чаще базы: </a:t>
            </a:r>
            <a:r>
              <a:rPr sz="1200" b="1" i="0">
                <a:solidFill>
                  <a:srgbClr val="21295C"/>
                </a:solidFill>
                <a:latin typeface="Arial"/>
              </a:rPr>
              <a:t>80–90 из ста</a:t>
            </a:r>
            <a:r>
              <a:rPr sz="1200" b="0" i="0">
                <a:solidFill>
                  <a:srgbClr val="21295C"/>
                </a:solidFill>
                <a:latin typeface="Arial"/>
              </a:rPr>
              <a:t> против </a:t>
            </a:r>
            <a:r>
              <a:rPr sz="1200" b="1" i="0">
                <a:solidFill>
                  <a:srgbClr val="21295C"/>
                </a:solidFill>
                <a:latin typeface="Arial"/>
              </a:rPr>
              <a:t>52,0</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вторую фазу лучше базы: около </a:t>
            </a:r>
            <a:r>
              <a:rPr sz="1200" b="1" i="0">
                <a:solidFill>
                  <a:srgbClr val="21295C"/>
                </a:solidFill>
                <a:latin typeface="Arial"/>
              </a:rPr>
              <a:t>40</a:t>
            </a:r>
            <a:r>
              <a:rPr sz="1200" b="0" i="0">
                <a:solidFill>
                  <a:srgbClr val="21295C"/>
                </a:solidFill>
                <a:latin typeface="Arial"/>
              </a:rPr>
              <a:t> против </a:t>
            </a:r>
            <a:r>
              <a:rPr sz="1200" b="1" i="0">
                <a:solidFill>
                  <a:srgbClr val="21295C"/>
                </a:solidFill>
                <a:latin typeface="Arial"/>
              </a:rPr>
              <a:t>28,9</a:t>
            </a:r>
            <a:r>
              <a:rPr sz="1200" b="0" i="0">
                <a:solidFill>
                  <a:srgbClr val="21295C"/>
                </a:solidFill>
                <a:latin typeface="Arial"/>
              </a:rPr>
              <a:t> — сопоставимо</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получить одобрение: за десять лет категории — </a:t>
            </a:r>
            <a:r>
              <a:rPr sz="1200" b="1" i="0">
                <a:solidFill>
                  <a:srgbClr val="21295C"/>
                </a:solidFill>
                <a:latin typeface="Arial"/>
              </a:rPr>
              <a:t>ноль</a:t>
            </a:r>
            <a:r>
              <a:rPr sz="1200" b="0" i="0">
                <a:solidFill>
                  <a:srgbClr val="21295C"/>
                </a:solidFill>
                <a:latin typeface="Arial"/>
              </a:rPr>
              <a:t> при 75 и 117 активах</a:t>
            </a:r>
          </a:p>
          <a:p>
            <a:pPr algn="l">
              <a:lnSpc>
                <a:spcPct val="126000"/>
              </a:lnSpc>
              <a:spcBef>
                <a:spcPts val="700"/>
              </a:spcBef>
            </a:pPr>
            <a:r>
              <a:rPr sz="1200" b="0" i="0">
                <a:solidFill>
                  <a:srgbClr val="21295C"/>
                </a:solidFill>
                <a:latin typeface="Arial"/>
              </a:rPr>
              <a:t/>
            </a:r>
            <a:r>
              <a:rPr sz="12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нагрузка переехала на другой шаг</a:t>
            </a:r>
            <a:r>
              <a:rPr sz="1200" b="0" i="0">
                <a:solidFill>
                  <a:srgbClr val="21295C"/>
                </a:solidFill>
                <a:latin typeface="Arial"/>
              </a:rPr>
              <a:t> — и на молекуле, и на отрасли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объём на том же месте упал</a:t>
            </a:r>
            <a:r>
              <a:rPr sz="1200" b="0" i="0">
                <a:solidFill>
                  <a:srgbClr val="21295C"/>
                </a:solidFill>
                <a:latin typeface="Arial"/>
              </a:rPr>
              <a:t> — тот же шаг, тот же исполнитель, меньше итераций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изменился порядок работ</a:t>
            </a:r>
            <a:r>
              <a:rPr sz="1200" b="0" i="0">
                <a:solidFill>
                  <a:srgbClr val="21295C"/>
                </a:solidFill>
                <a:latin typeface="Arial"/>
              </a:rPr>
              <a:t> — на масштабе модели бизнеса; препарата это не касается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200" b="0" i="0">
                <a:solidFill>
                  <a:srgbClr val="21295C"/>
                </a:solidFill>
                <a:latin typeface="Arial"/>
              </a:rPr>
              <a:t/>
            </a:r>
            <a:r>
              <a:rPr sz="1200" b="0" i="0">
                <a:solidFill>
                  <a:srgbClr val="21295C"/>
                </a:solidFill>
                <a:latin typeface="Arial"/>
              </a:rPr>
              <a:t>• воронка переходов </a:t>
            </a:r>
            <a:r>
              <a:rPr sz="1200" b="1" i="0">
                <a:solidFill>
                  <a:srgbClr val="21295C"/>
                </a:solidFill>
                <a:latin typeface="Arial"/>
              </a:rPr>
              <a:t>52,0 · 28,9 · 7,9</a:t>
            </a:r>
            <a:r>
              <a:rPr sz="1200" b="0" i="0">
                <a:solidFill>
                  <a:srgbClr val="21295C"/>
                </a:solidFill>
                <a:latin typeface="Arial"/>
              </a:rPr>
              <a:t> — база для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«шаг исчез» не подтверждается</a:t>
            </a:r>
            <a:r>
              <a:rPr sz="1200" b="0" i="0">
                <a:solidFill>
                  <a:srgbClr val="21295C"/>
                </a:solidFill>
                <a:latin typeface="Arial"/>
              </a:rPr>
              <a:t> — депозиты держат плато </a:t>
            </a:r>
            <a:r>
              <a:rPr sz="1200" b="1" i="0">
                <a:solidFill>
                  <a:srgbClr val="21295C"/>
                </a:solidFill>
                <a:latin typeface="Arial"/>
              </a:rPr>
              <a:t>9–10 тысяч в год</a:t>
            </a:r>
            <a:r>
              <a:rPr sz="1200" b="0" i="0">
                <a:solidFill>
                  <a:srgbClr val="21295C"/>
                </a:solidFill>
                <a:latin typeface="Arial"/>
              </a:rPr>
              <a:t> с 2015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Ещё два случая — упоминанием, числом и базой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молекула за год:</a:t>
            </a:r>
            <a:r>
              <a:rPr sz="1200" b="0" i="0">
                <a:solidFill>
                  <a:srgbClr val="21295C"/>
                </a:solidFill>
                <a:latin typeface="Arial"/>
              </a:rPr>
              <a:t> доклиника меньше </a:t>
            </a:r>
            <a:r>
              <a:rPr sz="1200" b="1" i="0">
                <a:solidFill>
                  <a:srgbClr val="21295C"/>
                </a:solidFill>
                <a:latin typeface="Arial"/>
              </a:rPr>
              <a:t>12 месяцев</a:t>
            </a:r>
            <a:r>
              <a:rPr sz="1200" b="0" i="0">
                <a:solidFill>
                  <a:srgbClr val="21295C"/>
                </a:solidFill>
                <a:latin typeface="Arial"/>
              </a:rPr>
              <a:t> против </a:t>
            </a:r>
            <a:r>
              <a:rPr sz="1200" b="1" i="0">
                <a:solidFill>
                  <a:srgbClr val="21295C"/>
                </a:solidFill>
                <a:latin typeface="Arial"/>
              </a:rPr>
              <a:t>4,5 года</a:t>
            </a:r>
            <a:r>
              <a:rPr sz="1200" b="0" i="0">
                <a:solidFill>
                  <a:srgbClr val="21295C"/>
                </a:solidFill>
                <a:latin typeface="Arial"/>
              </a:rPr>
              <a:t>, но оба числа заявила сама компания; снята на первой фазе, база перехода — </a:t>
            </a:r>
            <a:r>
              <a:rPr sz="1200" b="1" i="0">
                <a:solidFill>
                  <a:srgbClr val="21295C"/>
                </a:solidFill>
                <a:latin typeface="Arial"/>
              </a:rPr>
              <a:t>52,0 из 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воронка категории:</a:t>
            </a:r>
            <a:r>
              <a:rPr sz="1200" b="0" i="0">
                <a:solidFill>
                  <a:srgbClr val="21295C"/>
                </a:solidFill>
                <a:latin typeface="Arial"/>
              </a:rPr>
              <a:t> переход второй фазы </a:t>
            </a:r>
            <a:r>
              <a:rPr sz="1200" b="1" i="0">
                <a:solidFill>
                  <a:srgbClr val="21295C"/>
                </a:solidFill>
                <a:latin typeface="Arial"/>
              </a:rPr>
              <a:t>около 40</a:t>
            </a:r>
            <a:r>
              <a:rPr sz="1200" b="0" i="0">
                <a:solidFill>
                  <a:srgbClr val="21295C"/>
                </a:solidFill>
                <a:latin typeface="Arial"/>
              </a:rPr>
              <a:t> против базы </a:t>
            </a:r>
            <a:r>
              <a:rPr sz="1200" b="1" i="0">
                <a:solidFill>
                  <a:srgbClr val="21295C"/>
                </a:solidFill>
                <a:latin typeface="Arial"/>
              </a:rPr>
              <a:t>28,9</a:t>
            </a:r>
            <a:r>
              <a:rPr sz="1200" b="0" i="0">
                <a:solidFill>
                  <a:srgbClr val="21295C"/>
                </a:solidFill>
                <a:latin typeface="Arial"/>
              </a:rPr>
              <a:t>; одобрений — </a:t>
            </a:r>
            <a:r>
              <a:rPr sz="1200" b="1" i="0">
                <a:solidFill>
                  <a:srgbClr val="21295C"/>
                </a:solidFill>
                <a:latin typeface="Arial"/>
              </a:rPr>
              <a:t>0</a:t>
            </a:r>
            <a:r>
              <a:rPr sz="1200" b="0" i="0">
                <a:solidFill>
                  <a:srgbClr val="21295C"/>
                </a:solidFill>
                <a:latin typeface="Arial"/>
              </a:rPr>
              <a:t> при 75 и 117 активах в клинике</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Ранний шаг подешевел многократно. Одобрений — </a:t>
            </a:r>
            <a:r>
              <a:rPr sz="1200" b="1" i="0">
                <a:solidFill>
                  <a:srgbClr val="21295C"/>
                </a:solidFill>
                <a:latin typeface="Arial"/>
              </a:rPr>
              <a:t>0</a:t>
            </a:r>
            <a:r>
              <a:rPr sz="1200" b="0" i="0">
                <a:solidFill>
                  <a:srgbClr val="21295C"/>
                </a:solidFill>
                <a:latin typeface="Arial"/>
              </a:rPr>
              <a:t>. Узкое место лежит дальше и не подешевело.</a:t>
            </a:r>
          </a:p>
          <a:p>
            <a:pPr algn="l">
              <a:lnSpc>
                <a:spcPct val="126000"/>
              </a:lnSpc>
              <a:spcBef>
                <a:spcPts val="700"/>
              </a:spcBef>
            </a:pPr>
            <a:r>
              <a:rPr sz="1200" b="0" i="0">
                <a:solidFill>
                  <a:srgbClr val="21295C"/>
                </a:solidFill>
                <a:latin typeface="Arial"/>
              </a:rPr>
              <a:t/>
            </a:r>
            <a:r>
              <a:rPr sz="1200" b="1" i="0">
                <a:solidFill>
                  <a:srgbClr val="21295C"/>
                </a:solidFill>
                <a:latin typeface="Arial"/>
              </a:rPr>
              <a:t>Адрес платежа здесь пуст: платит не человек</a:t>
            </a:r>
            <a:r>
              <a:rPr sz="12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84013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9107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9846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230567" y="1335024"/>
            <a:ext cx="374354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376871" y="1335024"/>
            <a:ext cx="345093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974111" y="1335024"/>
            <a:ext cx="1902397"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20415" y="1335024"/>
            <a:ext cx="160978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мерит</a:t>
            </a:r>
          </a:p>
        </p:txBody>
      </p:sp>
      <p:sp>
        <p:nvSpPr>
          <p:cNvPr id="11" name="Rectangle 10"/>
          <p:cNvSpPr/>
          <p:nvPr/>
        </p:nvSpPr>
        <p:spPr>
          <a:xfrm>
            <a:off x="6876508" y="1335024"/>
            <a:ext cx="4775690"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022812" y="1335024"/>
            <a:ext cx="448308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69107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230567" y="1718403"/>
            <a:ext cx="374354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76871" y="17184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974111" y="1718403"/>
            <a:ext cx="1902397"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20415" y="17184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6876508" y="1718403"/>
            <a:ext cx="4775690"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022812" y="17184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одобрений регулятора </a:t>
            </a:r>
            <a:r>
              <a:rPr sz="1200" b="1" i="0">
                <a:solidFill>
                  <a:srgbClr val="21295C"/>
                </a:solidFill>
                <a:latin typeface="Arial"/>
              </a:rPr>
              <a:t>ноль</a:t>
            </a:r>
          </a:p>
        </p:txBody>
      </p:sp>
      <p:sp>
        <p:nvSpPr>
          <p:cNvPr id="21" name="Rectangle 20"/>
          <p:cNvSpPr/>
          <p:nvPr/>
        </p:nvSpPr>
        <p:spPr>
          <a:xfrm>
            <a:off x="539496" y="2101783"/>
            <a:ext cx="69107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230567" y="2101783"/>
            <a:ext cx="374354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76871" y="21017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974111" y="2101783"/>
            <a:ext cx="1902397"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20415" y="21017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6876508" y="2101783"/>
            <a:ext cx="4775690"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022812" y="21017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69107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230567" y="2485163"/>
            <a:ext cx="374354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76871" y="24851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974111" y="2485163"/>
            <a:ext cx="1902397"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20415" y="24851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6876508" y="2485163"/>
            <a:ext cx="4775690"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022812" y="24851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расхождений </a:t>
            </a:r>
            <a:r>
              <a:rPr sz="1200" b="1" i="0">
                <a:solidFill>
                  <a:srgbClr val="21295C"/>
                </a:solidFill>
                <a:latin typeface="Arial"/>
              </a:rPr>
              <a:t>+53 %</a:t>
            </a:r>
          </a:p>
        </p:txBody>
      </p:sp>
      <p:sp>
        <p:nvSpPr>
          <p:cNvPr id="37" name="Rectangle 36"/>
          <p:cNvSpPr/>
          <p:nvPr/>
        </p:nvSpPr>
        <p:spPr>
          <a:xfrm>
            <a:off x="539496" y="2868543"/>
            <a:ext cx="69107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230567" y="2868543"/>
            <a:ext cx="374354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76871" y="286854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974111" y="2868543"/>
            <a:ext cx="1902397"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20415" y="286854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6876508" y="2868543"/>
            <a:ext cx="4775690"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022812" y="286854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69107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230567" y="3251923"/>
            <a:ext cx="374354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76871" y="325192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974111" y="3251923"/>
            <a:ext cx="1902397"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20415" y="325192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6876508" y="3251923"/>
            <a:ext cx="4775690"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7022812" y="325192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две реализации, знаки противоположные</a:t>
            </a:r>
          </a:p>
        </p:txBody>
      </p:sp>
      <p:sp>
        <p:nvSpPr>
          <p:cNvPr id="53" name="Rectangle 52"/>
          <p:cNvSpPr/>
          <p:nvPr/>
        </p:nvSpPr>
        <p:spPr>
          <a:xfrm>
            <a:off x="539496" y="3635303"/>
            <a:ext cx="69107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230567" y="3635303"/>
            <a:ext cx="374354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76871" y="36353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сменился</a:t>
            </a:r>
          </a:p>
        </p:txBody>
      </p:sp>
      <p:sp>
        <p:nvSpPr>
          <p:cNvPr id="57" name="Rectangle 56"/>
          <p:cNvSpPr/>
          <p:nvPr/>
        </p:nvSpPr>
        <p:spPr>
          <a:xfrm>
            <a:off x="4974111" y="3635303"/>
            <a:ext cx="1902397"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20415" y="36353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6876508" y="3635303"/>
            <a:ext cx="4775690"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7022812" y="36353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61" name="Rectangle 60"/>
          <p:cNvSpPr/>
          <p:nvPr/>
        </p:nvSpPr>
        <p:spPr>
          <a:xfrm>
            <a:off x="539496" y="4018683"/>
            <a:ext cx="69107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230567" y="4018683"/>
            <a:ext cx="374354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76871" y="40186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974111" y="4018683"/>
            <a:ext cx="1902397"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20415" y="40186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6876508" y="4018683"/>
            <a:ext cx="4775690"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7022812" y="40186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69107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230567" y="4402063"/>
            <a:ext cx="374354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76871" y="44020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974111" y="4402063"/>
            <a:ext cx="1902397"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20415" y="44020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6876508" y="4402063"/>
            <a:ext cx="4775690"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7022812" y="44020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вмешаться способны — проверено у </a:t>
            </a:r>
            <a:r>
              <a:rPr sz="1200" b="1" i="0">
                <a:solidFill>
                  <a:srgbClr val="21295C"/>
                </a:solidFill>
                <a:latin typeface="Arial"/>
              </a:rPr>
              <a:t>56 из 717</a:t>
            </a:r>
          </a:p>
        </p:txBody>
      </p:sp>
      <p:sp>
        <p:nvSpPr>
          <p:cNvPr id="77" name="Rectangle 76"/>
          <p:cNvSpPr/>
          <p:nvPr/>
        </p:nvSpPr>
        <p:spPr>
          <a:xfrm>
            <a:off x="539496" y="4785442"/>
            <a:ext cx="69107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230567" y="4785442"/>
            <a:ext cx="374354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76871" y="4785442"/>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974111" y="4785442"/>
            <a:ext cx="1902397"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20415" y="4785442"/>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состояние руки</a:t>
            </a:r>
          </a:p>
        </p:txBody>
      </p:sp>
      <p:sp>
        <p:nvSpPr>
          <p:cNvPr id="83" name="Rectangle 82"/>
          <p:cNvSpPr/>
          <p:nvPr/>
        </p:nvSpPr>
        <p:spPr>
          <a:xfrm>
            <a:off x="6876508" y="4785442"/>
            <a:ext cx="4775690"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7022812" y="4785442"/>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 процедур</a:t>
            </a:r>
          </a:p>
        </p:txBody>
      </p:sp>
      <p:sp>
        <p:nvSpPr>
          <p:cNvPr id="85" name="Rectangle 84"/>
          <p:cNvSpPr/>
          <p:nvPr/>
        </p:nvSpPr>
        <p:spPr>
          <a:xfrm>
            <a:off x="539496" y="5168822"/>
            <a:ext cx="69107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9846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230567" y="5168822"/>
            <a:ext cx="374354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76871" y="5168822"/>
            <a:ext cx="345093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974111" y="5168822"/>
            <a:ext cx="1902397"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20415" y="5168822"/>
            <a:ext cx="1609789"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состояние руки</a:t>
            </a:r>
          </a:p>
        </p:txBody>
      </p:sp>
      <p:sp>
        <p:nvSpPr>
          <p:cNvPr id="91" name="Rectangle 90"/>
          <p:cNvSpPr/>
          <p:nvPr/>
        </p:nvSpPr>
        <p:spPr>
          <a:xfrm>
            <a:off x="6876508" y="5168822"/>
            <a:ext cx="4775690"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7022812" y="5168822"/>
            <a:ext cx="4483082"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 ни одного</a:t>
            </a:r>
          </a:p>
        </p:txBody>
      </p:sp>
      <p:sp>
        <p:nvSpPr>
          <p:cNvPr id="93" name="TextBox 92"/>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со счётом; у двух счёта нет, и на их месте прочерк. Десятая строка — пустой номер: обратного случая не измерено. Какая из девяти встречалась у вас на работе?</a:t>
            </a:r>
          </a:p>
        </p:txBody>
      </p:sp>
      <p:sp>
        <p:nvSpPr>
          <p:cNvPr id="94" name="Rectangle 9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НА СВОИХ КАДРАХ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свой кадр либо названное число внутри разбора</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 И НА СЦЕНУ НЕ ВЫШЛО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потеряли свой кадр при сокращении, три стоят условно — их адрес за другим разделом</a:t>
            </a:r>
          </a:p>
        </p:txBody>
      </p:sp>
      <p:sp>
        <p:nvSpPr>
          <p:cNvPr id="12" name="Rounded Rectangle 11"/>
          <p:cNvSpPr/>
          <p:nvPr/>
        </p:nvSpPr>
        <p:spPr>
          <a:xfrm>
            <a:off x="374904" y="2803461"/>
            <a:ext cx="11441887" cy="3313590"/>
          </a:xfrm>
          <a:prstGeom prst="roundRect">
            <a:avLst>
              <a:gd name="adj" fmla="val 91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Правило счёта: номинация подтверждена, если её разбор был на экране. Из девяти строк ниже свой разбор есть у четырёх.</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там вообще нет модели.</a:t>
            </a:r>
            <a:r>
              <a:rPr sz="14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400" b="1" i="0">
                <a:solidFill>
                  <a:srgbClr val="21295C"/>
                </a:solidFill>
                <a:latin typeface="Arial"/>
              </a:rPr>
              <a:t>Убери модель</a:t>
            </a:r>
            <a:r>
              <a:rPr sz="1400" b="0" i="0">
                <a:solidFill>
                  <a:srgbClr val="21295C"/>
                </a:solidFill>
                <a:latin typeface="Arial"/>
              </a:rPr>
              <a:t> — механизм продолжит работать.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выигрыш не там, где показывают.</a:t>
            </a:r>
            <a:r>
              <a:rPr sz="14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400" b="1" i="0">
                <a:solidFill>
                  <a:srgbClr val="21295C"/>
                </a:solidFill>
                <a:latin typeface="Arial"/>
              </a:rPr>
              <a:t>Спроси, от чего посчитан эффект.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числа выросли при пересказе.</a:t>
            </a:r>
            <a:r>
              <a:rPr sz="14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400" b="1" i="0">
                <a:solidFill>
                  <a:srgbClr val="21295C"/>
                </a:solidFill>
                <a:latin typeface="Arial"/>
              </a:rPr>
              <a:t>Открой первоисточник: выборка, дизайн, журнал.</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715204"/>
            <a:ext cx="1257390" cy="374263"/>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15204"/>
            <a:ext cx="9647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строка</a:t>
            </a:r>
          </a:p>
        </p:txBody>
      </p:sp>
      <p:sp>
        <p:nvSpPr>
          <p:cNvPr id="8" name="Rectangle 7"/>
          <p:cNvSpPr/>
          <p:nvPr/>
        </p:nvSpPr>
        <p:spPr>
          <a:xfrm>
            <a:off x="1796886" y="1715204"/>
            <a:ext cx="6316227" cy="374263"/>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3190" y="1715204"/>
            <a:ext cx="602361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что измерено</a:t>
            </a:r>
          </a:p>
        </p:txBody>
      </p:sp>
      <p:sp>
        <p:nvSpPr>
          <p:cNvPr id="10" name="Rectangle 9"/>
          <p:cNvSpPr/>
          <p:nvPr/>
        </p:nvSpPr>
        <p:spPr>
          <a:xfrm>
            <a:off x="8113114" y="1715204"/>
            <a:ext cx="3539085" cy="3742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59418" y="1715204"/>
            <a:ext cx="324647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чем измерено</a:t>
            </a:r>
          </a:p>
        </p:txBody>
      </p:sp>
      <p:sp>
        <p:nvSpPr>
          <p:cNvPr id="12" name="Rectangle 11"/>
          <p:cNvSpPr/>
          <p:nvPr/>
        </p:nvSpPr>
        <p:spPr>
          <a:xfrm>
            <a:off x="539496" y="2089468"/>
            <a:ext cx="1257390" cy="79360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089468"/>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Поведение</a:t>
            </a:r>
          </a:p>
        </p:txBody>
      </p:sp>
      <p:sp>
        <p:nvSpPr>
          <p:cNvPr id="14" name="Rectangle 13"/>
          <p:cNvSpPr/>
          <p:nvPr/>
        </p:nvSpPr>
        <p:spPr>
          <a:xfrm>
            <a:off x="1796886" y="2089468"/>
            <a:ext cx="6316227" cy="79360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3190" y="2089468"/>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зрительный поиск сужается при неверной подсказке · верное решение меняется под влиянием совета · техника падает без помощника · тревоги отклоняют массово</a:t>
            </a:r>
          </a:p>
        </p:txBody>
      </p:sp>
      <p:sp>
        <p:nvSpPr>
          <p:cNvPr id="16" name="Rectangle 15"/>
          <p:cNvSpPr/>
          <p:nvPr/>
        </p:nvSpPr>
        <p:spPr>
          <a:xfrm>
            <a:off x="8113114" y="2089468"/>
            <a:ext cx="3539085" cy="79360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59418" y="2089468"/>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систематический обзор · наблюдение, повторения нет · обзор отклонений</a:t>
            </a:r>
          </a:p>
        </p:txBody>
      </p:sp>
      <p:sp>
        <p:nvSpPr>
          <p:cNvPr id="18" name="Rectangle 17"/>
          <p:cNvSpPr/>
          <p:nvPr/>
        </p:nvSpPr>
        <p:spPr>
          <a:xfrm>
            <a:off x="539496" y="2883075"/>
            <a:ext cx="1257390" cy="79360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83075"/>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Психология</a:t>
            </a:r>
          </a:p>
        </p:txBody>
      </p:sp>
      <p:sp>
        <p:nvSpPr>
          <p:cNvPr id="20" name="Rectangle 19"/>
          <p:cNvSpPr/>
          <p:nvPr/>
        </p:nvSpPr>
        <p:spPr>
          <a:xfrm>
            <a:off x="1796886" y="2883075"/>
            <a:ext cx="6316227" cy="79360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3190" y="2883075"/>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объяснение повышает согласие; качество решения оно не повышает · запись пишется быстрее, вычитка остаётся</a:t>
            </a:r>
          </a:p>
        </p:txBody>
      </p:sp>
      <p:sp>
        <p:nvSpPr>
          <p:cNvPr id="22" name="Rectangle 21"/>
          <p:cNvSpPr/>
          <p:nvPr/>
        </p:nvSpPr>
        <p:spPr>
          <a:xfrm>
            <a:off x="8113114" y="2883075"/>
            <a:ext cx="3539085" cy="79360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59418" y="2883075"/>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полевой опыт · рандомизированное исследование с замером рабочего времени</a:t>
            </a:r>
          </a:p>
        </p:txBody>
      </p:sp>
      <p:sp>
        <p:nvSpPr>
          <p:cNvPr id="24" name="Rectangle 23"/>
          <p:cNvSpPr/>
          <p:nvPr/>
        </p:nvSpPr>
        <p:spPr>
          <a:xfrm>
            <a:off x="539496" y="3676682"/>
            <a:ext cx="1257390" cy="58393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76682"/>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Процесс</a:t>
            </a:r>
          </a:p>
        </p:txBody>
      </p:sp>
      <p:sp>
        <p:nvSpPr>
          <p:cNvPr id="26" name="Rectangle 25"/>
          <p:cNvSpPr/>
          <p:nvPr/>
        </p:nvSpPr>
        <p:spPr>
          <a:xfrm>
            <a:off x="1796886" y="3676682"/>
            <a:ext cx="6316227" cy="58393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3190" y="3676682"/>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113114" y="3676682"/>
            <a:ext cx="3539085" cy="58393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59418" y="3676682"/>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рандомизированное исследование программы скрининга</a:t>
            </a:r>
          </a:p>
        </p:txBody>
      </p:sp>
      <p:sp>
        <p:nvSpPr>
          <p:cNvPr id="30" name="Rectangle 29"/>
          <p:cNvSpPr/>
          <p:nvPr/>
        </p:nvSpPr>
        <p:spPr>
          <a:xfrm>
            <a:off x="539496" y="4260618"/>
            <a:ext cx="1257390" cy="58393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0618"/>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Подпись</a:t>
            </a:r>
          </a:p>
        </p:txBody>
      </p:sp>
      <p:sp>
        <p:nvSpPr>
          <p:cNvPr id="32" name="Rectangle 31"/>
          <p:cNvSpPr/>
          <p:nvPr/>
        </p:nvSpPr>
        <p:spPr>
          <a:xfrm>
            <a:off x="1796886" y="4260618"/>
            <a:ext cx="6316227" cy="58393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3190" y="4260618"/>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норма требует человека финальным звеном — проверено у </a:t>
            </a:r>
            <a:r>
              <a:rPr sz="1150" b="1" i="0">
                <a:solidFill>
                  <a:srgbClr val="21295C"/>
                </a:solidFill>
                <a:latin typeface="Arial"/>
              </a:rPr>
              <a:t>56 из 717</a:t>
            </a:r>
            <a:r>
              <a:rPr sz="1150" b="0" i="0">
                <a:solidFill>
                  <a:srgbClr val="21295C"/>
                </a:solidFill>
                <a:latin typeface="Arial"/>
              </a:rPr>
              <a:t> · надзор говорит о способности вмешаться, о подписи не сказано</a:t>
            </a:r>
          </a:p>
        </p:txBody>
      </p:sp>
      <p:sp>
        <p:nvSpPr>
          <p:cNvPr id="34" name="Rectangle 33"/>
          <p:cNvSpPr/>
          <p:nvPr/>
        </p:nvSpPr>
        <p:spPr>
          <a:xfrm>
            <a:off x="8113114" y="4260618"/>
            <a:ext cx="3539085" cy="58393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59418" y="4260618"/>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обзор поданной регуляторам документации · нормативный текст</a:t>
            </a:r>
          </a:p>
        </p:txBody>
      </p:sp>
      <p:sp>
        <p:nvSpPr>
          <p:cNvPr id="36" name="Rectangle 35"/>
          <p:cNvSpPr/>
          <p:nvPr/>
        </p:nvSpPr>
        <p:spPr>
          <a:xfrm>
            <a:off x="539496" y="4844553"/>
            <a:ext cx="1257390" cy="58393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844553"/>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Контроль</a:t>
            </a:r>
          </a:p>
        </p:txBody>
      </p:sp>
      <p:sp>
        <p:nvSpPr>
          <p:cNvPr id="38" name="Rectangle 37"/>
          <p:cNvSpPr/>
          <p:nvPr/>
        </p:nvSpPr>
        <p:spPr>
          <a:xfrm>
            <a:off x="1796886" y="4844553"/>
            <a:ext cx="6316227" cy="58393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43190" y="4844553"/>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113114" y="4844553"/>
            <a:ext cx="3539085" cy="58393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259418" y="4844553"/>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5747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И то, чего нет ни в одной строке: исхода пациента нет ни у одного разбора ядра.</a:t>
            </a:r>
            <a:r>
              <a:rPr sz="120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a:t>
            </a:r>
            <a:r>
              <a:rPr sz="1400" b="0" i="1">
                <a:solidFill>
                  <a:srgbClr val="21295C"/>
                </a:solidFill>
                <a:latin typeface="Arial"/>
              </a:rPr>
              <a:t>Счёт секунд в лабораторном опыте и доля изделий, у которых способность вмешаться вообще проверяли.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свидетельства падает по мере того, как участие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