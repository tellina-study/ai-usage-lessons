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2256-021-00307-0"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arxiv.org/abs/1711.05225"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1145/3313831.3376718"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145/3313831.3376718"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26/sciadv.abq6147"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ence.aax2342"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ence.aax234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148/radiol.25259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8/radiol.25259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4368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746-020-0232-8"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01/jamanetworkopen.2024.4096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www.medrxiv.org/content/10.1101/2025.07.10.25331333"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internmed.2025.0821"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93/jamia/ocad118"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93/jamia/ocad11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go.bio.org/rs/490-EHZ-999/images/ClinicalDevelopmentSuccessRates2011_2020.pdf"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go.bio.org/rs/490-EHZ-999/images/ClinicalDevelopmentSuccessRates2011_2020.pdf"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pmc.ncbi.nlm.nih.gov/articles/PMC9231077/"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doi.org/10.1016/j.gie.2014.07.058"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metr.org/blog/2026-02-24-uplift-update/"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016/S2468-1253%2825%2900133-5"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01/jamahealthforum.2025.3172"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Разработка лекарства — другой предмет: откуда берётся то, что назначают, и там удешевили начало, а узкое место осталось на испытаниях. Что стало с теми, кто решает, — замер по человеку: что сделалось с его вниманием, навыком и готовностью возразить. Шаг работы такого замера не показывает.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и оперативная помощь разобраны в главе, со сцены сегодня не идут: на них не нашлось разборов, у которых обе половины измерены в сопоставимых единицах.</a:t>
            </a:r>
          </a:p>
          <a:p>
            <a:r>
              <a:t/>
            </a:r>
          </a:p>
          <a:p>
            <a:r>
              <a:t>Вопрос залу стоит задать и подождать ответа. Результат обследования, пришедший раньше, чем его прочитал врач, видел почти каждый, у кого есть доступ к электронной карте. Это и есть первый шаг пути, увиденный с другой стороны: данные уже есть, решения по ним ещё нет, и промежуток между этими двумя моментами — ровно то место, куда входит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Названия эти курсу знакомы, и определений со сцены они не требуют: на экране рядом с каждым стоит то, что система по нему выдаёт, одной строкой. Второе имя — с какими данными система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Заполняется карта по ходу, и обещать стоит ровно это. В конце каждого раздела на экран возвращается та же сетка, и в неё вписываются короткие имена случаев, которые раздел разобрал: по строкам типы задач, по столбцам виды данных. К последнему разделу карта собрана целиком, и с этого момента читать на ней надо прочерки. Занятых клеток за всю лекцию наберётся четыре, то есть восемь из двенадцати показанных так и останутся пустыми.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 Заполнение само по себе результат, и восемь неподвижных прочерков — результат тоже.</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различают цена ошибки и процедура вокруг человека, класс модели их не различает.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 клетка про класс задачи, а не про поставщика.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сработала хуже обеих сторон, в другом сильнее обеих. Различает их устройство процедуры: сохранена ли независимость двух мнений и кому назначен арбитраж при расхождении. Ступень у них одна.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названная форма словаря. Здесь из четырёх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четыре,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четырёх легли на изображение, и это свойство стадии: подсказка живёт там, где человек читает картинку.</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входа.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a:p>
            <a:r>
              <a:t/>
            </a:r>
          </a:p>
          <a:p>
            <a:r>
              <a:t>Строка про судьбу двух режимов в одной клетке, и она короткая. Сортировка обращения словами после разобранного краха стагнирует, а запись приёма под диктовку принимается быстро. Разницу делает одно: первый режим принимает решение, второй оформляет уже принятое. Карту стадии разберём следующим кадром.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здесь нет сознательно: вход лекции обещал, что марок в клетках не будет, а режим узнаётся не по марке.</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Третий эпизод стоит разглядеть ближе, потому что на кадре он сжат до строки. Координатор клинического центра сидит с одним здоровым добровольцем и часами пишет наблюдения в карту: давление, самочувствие, время приёма дозы, каждое отклонение. Длину этой работы задают расписание центра и протокол исследования: столько визитов, сколько в протоколе, и ни одним меньше. Объём данных её не сокращает.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a:p>
            <a:r>
              <a:t/>
            </a:r>
          </a:p>
          <a:p>
            <a:r>
              <a:t>Что именно стоит за восемью названиями на кадре, раз сами названия сокращены до ярлыков. Выбрать мишень — решить, какой белок или процесс в организме затронуть. Подобрать молекулу — синтезировать серии близких веществ и смотреть, какое действует избирательнее. Проверить на культурах и животных — доза, переносимость, выведение из организма, патология органов. Произвести клиническую партию — превратить лабораторные миллиграммы в партию с подтверждённой чистотой и документированной технологией; это отдельная работа отдельных людей на другом оборудовании. Фаза I — переносит ли человек вещество и в какой дозе. Фаза II — меняет ли вещество ход болезни и при какой дозе меняет. Фаза III — подтверждение на сотнях пациентов в десятках центров. Собрать заявку — месяцы работы регуляторных специалистов.</a:t>
            </a:r>
          </a:p>
          <a:p>
            <a:r>
              <a:t/>
            </a:r>
          </a:p>
          <a:p>
            <a:r>
              <a:t>И то же поле с моделью, названное до разборов. Из восьми действий обученная модель заняла два, причём второе заметно реже первого: подбор молекулы — её проектируют расчётом вместо физического перебора библиотек — и выбор мишени, где гипотезы перебирают по графу биомедицинских связей. Один шаг она добавляет — сверить предсказание с опытом, и работа эта экспериментальная, то есть никуда от лаборатории не уходит. А четыре работы задачи для модели не содержат вовсе: переносимость у людей, набор пациентов, длительность наблюдения и производство клинической партии с подтверждённой чистотой. Это вывод, а не пробел подборки: в каждой из четырёх предмет работы — живой человек или физическое вещество, и ускорить их расчётом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Вопрос залу стоит именно здесь, после разбора приписанного процента, и он один на весь раздел. Опыта в разработке лекарств у зала нет, а опыт «начало подешевело, а узкое место переехало» есть у каждого, кто работает в ИТ: прототип собрали за месяц, довести до рабочего состояния не вышло за год. Это заземление формы материалом слушателя, и ответ на него короткий — одна строка в чат про то, что именно оказалось узким местом. Дальше весь раздел разбирает то же самое на веществе: ранний шаг подешевел многократно, а длину пути задаёт шаг, которого ускорение не коснулось.</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Разбор раздела встал в клетку прогноза на структурированных данных: перебор гипотез «мишень — болезнь — препарат» по графу биомедицинских связей. До него эту клетку занимали анализ данных и наблюдение за состоянием, и имена их стоят светлым в той же клетке.</a:t>
            </a:r>
          </a:p>
          <a:p>
            <a:r>
              <a:t/>
            </a:r>
          </a:p>
          <a:p>
            <a:r>
              <a:t>А вот несущая клетка раздела в окно не попадает, и произнести это надо отдельно, потому что соблазн здесь ровно один — дописать таблице пятую строку и сделать вид, что всё уложилось. Строки «генерация» в показанном окне нет, и отсутствие её содержательное. Вход свёл поиск и генерацию одной строкой, потому что в клинике они так и ходят вместе: найти в документах и написать по найденному. Генерация структуры к этой паре не сводится. Здесь ничего не ищут — здесь производят материал, которого раньше не было: молекулу под заданную мишень, белок, спроектированный с нуля. Клетку эту добавляет отрасль, и окно, собранное под клинику, её держать не может. Поэтому таблица осталась с осями входа, а клетка названа строкой под ней.</a:t>
            </a:r>
          </a:p>
          <a:p>
            <a:r>
              <a:t/>
            </a:r>
          </a:p>
          <a:p>
            <a:r>
              <a:t>Жирным в клетке отмечено разобранное этим разделом числами; светлым — разделы, занявшие клетку раньше. Читается эта таблица как карта раздела; описью наших разборов она не является: применение, распространённое на стадии, стоит в клетке и тогда, когда своего разбора у нас по нему нет.</a:t>
            </a:r>
          </a:p>
          <a:p>
            <a:r>
              <a:t/>
            </a:r>
          </a:p>
          <a:p>
            <a:r>
              <a:t>Что говорят пустые клетки — и это первое, ради чего карту стоит разглядывать. Текст и изображение на стадии разработки пустуют целиком, обе колонки. Распознавания и классификации нет ни одного: на этой стадии нечего узнавать на готовом материале, материал тут производят. Отсюда прямое практическое следствие для разговора с поставщиком. Инструменты, доказавшие себя на снимке, — зрелая, давно обкатанная часть промышленного ИИ, — к этой стадии не относятся, и опыт их внедрения сюда не переносится. Поставщик, принёсший вам историю успеха с рентгеновского снимка или с текста, принёс историю не про разработку лекарства, какой бы убедительной она ни была сама по себе. Светлые имена в трёх клетках и есть ответ на вопрос, кто там работал: клиника. Разработка в этих клетках не стояла ни разу.</a:t>
            </a:r>
          </a:p>
          <a:p>
            <a:r>
              <a:t/>
            </a:r>
          </a:p>
          <a:p>
            <a:r>
              <a:t>Расчётная оценка связывания клетки не занимает, и это различение приходится делать вслух. Это метод расчёта физики, обученной модели внутри него нет. Поставщики ставят два приёма рядом и называют одним словом, а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 Спутать их значит задать инструменту не те вопросы.</a:t>
            </a:r>
          </a:p>
          <a:p>
            <a:r>
              <a:t/>
            </a:r>
          </a:p>
          <a:p>
            <a:r>
              <a:t>Чисел в этой раскладке нет ни одного — ни долей рынка, ни числа компаний, ни «лидеров». Имена изделий стоят буллитами под таблицей; в клетки они не поставлены. Решение это содержательное, и место тут экономить незачем: режим один, реализаций много, и разницу в результате делает устройство процедуры вокруг человека. Марка её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оси и порядок строк те же, что стояли на незаполненной матрице входа. Светлым в занятых клетках стоят разделы, занявшие их раньше.</a:t>
            </a:r>
          </a:p>
          <a:p>
            <a:r>
              <a:t/>
            </a:r>
          </a:p>
          <a:p>
            <a:r>
              <a:t>Полужирного в сетке нет, и это надо произнести вслух, иначе кадр читается как недоделанный. Разбор этого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а зал не сможет сравнить итог с обещанием.</a:t>
            </a:r>
          </a:p>
          <a:p>
            <a:r>
              <a:t/>
            </a:r>
          </a:p>
          <a:p>
            <a:r>
              <a:t>Два раздела подряд не прибавили окну ни одной клетки, и оба по одной и той же причине — не потому, что про них мало известно, а потому, что предмет у них лежит вне клинической раскладки. Раздел о лекарстве добавил генерацию на структуре: там производят вещество. Этот раздел добавил распознавание на видео: здесь смотрят живой поток кадров, и готового снимка тут нет. Два разных ответа, одно следствие: окно, собранное под одну отрасль, не растягивается на соседние, и растягивать его молча — значит соврать о его границах.</a:t>
            </a:r>
          </a:p>
          <a:p>
            <a:r>
              <a:t/>
            </a:r>
          </a:p>
          <a:p>
            <a:r>
              <a:t>Рядом в той же строке светлым стоит распознавание на снимке в режиме второго читателя: клетку занимали разделы об отборе, о чтении исследований и об удержании. Разница между двумя режимами лежит в последствиях, и для этого раздела она существенная: у прибора, который подсвечивает находку, человек остаётся и продолжает решать; со второго места человека снимают. Расходуется навык в первом случае, где человек формально остался на месте.</a:t>
            </a:r>
          </a:p>
          <a:p>
            <a:r>
              <a:t/>
            </a:r>
          </a:p>
          <a:p>
            <a:r>
              <a:t>И пустота, которая лежит строкой ниже сетки, вне клеток. Доверие к выводу модели, его калибровка, готовность человека работать без инструмента — всё это клетки «задача × вид данных» не получает,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восемь разделов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впервые предъявляется целиком одним кадром.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замера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это единственное место лекции, где он виден целиком.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падение доли обнаружения в процедурах без помощника у тех же девятнадцати врачей, с 28,4 до 22,4 процента, минус шесть процентных пунктов; второй подтверждающий случай — хирурги с подсказкой модели на септическом шоке, 0,712 против 0,820 без подсказки.</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пятнадцать живых строк, двенадцать из них подтверждены, три стоят условно — их адрес лежит за другим разделом. На экран идут девять, по три строки из каждой графы: пятнадцать строк на сводном кадре были бы библиографией, и остальные живут в реестре раздела.</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восемнадцати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0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Разработка лекарства</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Что стало с теми, кто решает</a:t>
            </a:r>
          </a:p>
        </p:txBody>
      </p:sp>
      <p:sp>
        <p:nvSpPr>
          <p:cNvPr id="23" name="Rounded Rectangle 22"/>
          <p:cNvSpPr/>
          <p:nvPr/>
        </p:nvSpPr>
        <p:spPr>
          <a:xfrm>
            <a:off x="374904" y="3145250"/>
            <a:ext cx="11441887" cy="3035896"/>
          </a:xfrm>
          <a:prstGeom prst="roundRect">
            <a:avLst>
              <a:gd name="adj" fmla="val 10039"/>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смотреть можно только того, кто попал в поле зрения;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решать — только по тому, что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наблюдать — только после того, как решение принято;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читать запись — только после того, как её сделали.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чем удерживают</a:t>
            </a:r>
            <a:r>
              <a:rPr sz="1500" b="0" i="0">
                <a:solidFill>
                  <a:srgbClr val="21295C"/>
                </a:solidFill>
                <a:latin typeface="Arial"/>
              </a:rPr>
              <a:t> — процедура вокруг всех пяти;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разработка лекарства</a:t>
            </a:r>
            <a:r>
              <a:rPr sz="1500" b="0" i="0">
                <a:solidFill>
                  <a:srgbClr val="21295C"/>
                </a:solidFill>
                <a:latin typeface="Arial"/>
              </a:rPr>
              <a:t> — откуда берётся то, что назначают;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что стало с теми, кто решает</a:t>
            </a:r>
            <a:r>
              <a:rPr sz="1500" b="0" i="0">
                <a:solidFill>
                  <a:srgbClr val="21295C"/>
                </a:solidFill>
                <a:latin typeface="Arial"/>
              </a:rPr>
              <a:t> — замер по человеку.</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получал результат обследования раньше, чем его прочитал врач?</a:t>
            </a:r>
          </a:p>
        </p:txBody>
      </p:sp>
      <p:sp>
        <p:nvSpPr>
          <p:cNvPr id="26" name="Rectangle 25"/>
          <p:cNvSpPr/>
          <p:nvPr/>
        </p:nvSpPr>
        <p:spPr>
          <a:xfrm>
            <a:off x="6091275" y="3236690"/>
            <a:ext cx="9144" cy="27615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502920"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Классификация — метка из списка</a:t>
            </a:r>
          </a:p>
        </p:txBody>
      </p:sp>
      <p:sp>
        <p:nvSpPr>
          <p:cNvPr id="6" name="Rounded Rectangle 5"/>
          <p:cNvSpPr/>
          <p:nvPr/>
        </p:nvSpPr>
        <p:spPr>
          <a:xfrm>
            <a:off x="4280306"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4362602"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Распознавание — находка и место</a:t>
            </a:r>
          </a:p>
        </p:txBody>
      </p:sp>
      <p:sp>
        <p:nvSpPr>
          <p:cNvPr id="8" name="Rounded Rectangle 7"/>
          <p:cNvSpPr/>
          <p:nvPr/>
        </p:nvSpPr>
        <p:spPr>
          <a:xfrm>
            <a:off x="8057692"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8139988"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Поиск — найти нужное в документах</a:t>
            </a:r>
          </a:p>
        </p:txBody>
      </p:sp>
      <p:sp>
        <p:nvSpPr>
          <p:cNvPr id="10" name="Rounded Rectangle 9"/>
          <p:cNvSpPr/>
          <p:nvPr/>
        </p:nvSpPr>
        <p:spPr>
          <a:xfrm>
            <a:off x="502920"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585216"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 написать по найденному</a:t>
            </a:r>
          </a:p>
        </p:txBody>
      </p:sp>
      <p:sp>
        <p:nvSpPr>
          <p:cNvPr id="12" name="Rounded Rectangle 11"/>
          <p:cNvSpPr/>
          <p:nvPr/>
        </p:nvSpPr>
        <p:spPr>
          <a:xfrm>
            <a:off x="4280306"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362602"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Прогноз — число</a:t>
            </a:r>
          </a:p>
        </p:txBody>
      </p:sp>
      <p:sp>
        <p:nvSpPr>
          <p:cNvPr id="14" name="Rounded Rectangle 13"/>
          <p:cNvSpPr/>
          <p:nvPr/>
        </p:nvSpPr>
        <p:spPr>
          <a:xfrm>
            <a:off x="8057692"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8139988"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Планирование — последовательность</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типов задачи — по тому, что система выдаёт на выходе</a:t>
            </a:r>
          </a:p>
        </p:txBody>
      </p:sp>
      <p:sp>
        <p:nvSpPr>
          <p:cNvPr id="17" name="Rounded Rectangle 16"/>
          <p:cNvSpPr/>
          <p:nvPr/>
        </p:nvSpPr>
        <p:spPr>
          <a:xfrm>
            <a:off x="374904" y="2771373"/>
            <a:ext cx="11441887" cy="3318742"/>
          </a:xfrm>
          <a:prstGeom prst="roundRect">
            <a:avLst>
              <a:gd name="adj" fmla="val 91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r>
              <a:rPr sz="1300" b="0" i="0">
                <a:solidFill>
                  <a:srgbClr val="21295C"/>
                </a:solidFill>
                <a:latin typeface="Arial"/>
              </a:rPr>
              <a:t> Шесть типов на семь видов данных — сорок две клетки; на экране окно из двенадцати.</a:t>
            </a:r>
          </a:p>
        </p:txBody>
      </p:sp>
      <p:sp>
        <p:nvSpPr>
          <p:cNvPr id="19" name="Rectangle 18"/>
          <p:cNvSpPr/>
          <p:nvPr/>
        </p:nvSpPr>
        <p:spPr>
          <a:xfrm>
            <a:off x="539496" y="3535339"/>
            <a:ext cx="316192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685800" y="3535339"/>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21" name="Rectangle 20"/>
          <p:cNvSpPr/>
          <p:nvPr/>
        </p:nvSpPr>
        <p:spPr>
          <a:xfrm>
            <a:off x="3701424" y="3535339"/>
            <a:ext cx="1321749"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3847728" y="3535339"/>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23" name="Rectangle 22"/>
          <p:cNvSpPr/>
          <p:nvPr/>
        </p:nvSpPr>
        <p:spPr>
          <a:xfrm>
            <a:off x="5023174" y="3535339"/>
            <a:ext cx="2337638" cy="392496"/>
          </a:xfrm>
          <a:prstGeom prst="rect">
            <a:avLst/>
          </a:prstGeom>
          <a:solidFill>
            <a:srgbClr val="065A82"/>
          </a:solidFill>
          <a:ln>
            <a:noFill/>
          </a:ln>
          <a:effectLst/>
        </p:spPr>
        <p:txBody>
          <a:bodyPr rtlCol="0" anchor="ctr"/>
          <a:lstStyle/>
          <a:p>
            <a:pPr algn="ctr"/>
          </a:p>
        </p:txBody>
      </p:sp>
      <p:sp>
        <p:nvSpPr>
          <p:cNvPr id="24" name="TextBox 23"/>
          <p:cNvSpPr txBox="1"/>
          <p:nvPr/>
        </p:nvSpPr>
        <p:spPr>
          <a:xfrm>
            <a:off x="5169478" y="3535339"/>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5" name="Rectangle 24"/>
          <p:cNvSpPr/>
          <p:nvPr/>
        </p:nvSpPr>
        <p:spPr>
          <a:xfrm>
            <a:off x="7360812" y="3535339"/>
            <a:ext cx="4291386" cy="392496"/>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507116" y="3535339"/>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7" name="Rectangle 26"/>
          <p:cNvSpPr/>
          <p:nvPr/>
        </p:nvSpPr>
        <p:spPr>
          <a:xfrm>
            <a:off x="539496" y="3927835"/>
            <a:ext cx="316192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85800" y="3927835"/>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9" name="Rectangle 28"/>
          <p:cNvSpPr/>
          <p:nvPr/>
        </p:nvSpPr>
        <p:spPr>
          <a:xfrm>
            <a:off x="3701424" y="3927835"/>
            <a:ext cx="1321749"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3847728" y="3927835"/>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023174" y="3927835"/>
            <a:ext cx="2337638"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5169478" y="3927835"/>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3" name="Rectangle 32"/>
          <p:cNvSpPr/>
          <p:nvPr/>
        </p:nvSpPr>
        <p:spPr>
          <a:xfrm>
            <a:off x="7360812" y="3927835"/>
            <a:ext cx="4291386"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7507116" y="3927835"/>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39496" y="4320331"/>
            <a:ext cx="316192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432033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7" name="Rectangle 36"/>
          <p:cNvSpPr/>
          <p:nvPr/>
        </p:nvSpPr>
        <p:spPr>
          <a:xfrm>
            <a:off x="3701424" y="4320331"/>
            <a:ext cx="1321749"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3847728" y="432033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023174" y="4320331"/>
            <a:ext cx="2337638"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5169478" y="432033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1" name="Rectangle 40"/>
          <p:cNvSpPr/>
          <p:nvPr/>
        </p:nvSpPr>
        <p:spPr>
          <a:xfrm>
            <a:off x="7360812" y="4320331"/>
            <a:ext cx="4291386"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07116" y="432033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39496" y="4712827"/>
            <a:ext cx="316192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685800" y="471282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5" name="Rectangle 44"/>
          <p:cNvSpPr/>
          <p:nvPr/>
        </p:nvSpPr>
        <p:spPr>
          <a:xfrm>
            <a:off x="3701424" y="4712827"/>
            <a:ext cx="1321749"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3847728" y="471282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023174" y="4712827"/>
            <a:ext cx="2337638"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5169478" y="471282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9" name="Rectangle 48"/>
          <p:cNvSpPr/>
          <p:nvPr/>
        </p:nvSpPr>
        <p:spPr>
          <a:xfrm>
            <a:off x="7360812" y="4712827"/>
            <a:ext cx="4291386"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7507116" y="471282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39496" y="5105324"/>
            <a:ext cx="316192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85800" y="5105324"/>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53" name="Rectangle 52"/>
          <p:cNvSpPr/>
          <p:nvPr/>
        </p:nvSpPr>
        <p:spPr>
          <a:xfrm>
            <a:off x="3701424" y="5105324"/>
            <a:ext cx="1321749"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3847728" y="5105324"/>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Rectangle 54"/>
          <p:cNvSpPr/>
          <p:nvPr/>
        </p:nvSpPr>
        <p:spPr>
          <a:xfrm>
            <a:off x="5023174" y="5105324"/>
            <a:ext cx="2337638"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5169478" y="5105324"/>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7" name="Rectangle 56"/>
          <p:cNvSpPr/>
          <p:nvPr/>
        </p:nvSpPr>
        <p:spPr>
          <a:xfrm>
            <a:off x="7360812" y="5105324"/>
            <a:ext cx="4291386"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7507116" y="5105324"/>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9" name="TextBox 58"/>
          <p:cNvSpPr txBox="1"/>
          <p:nvPr/>
        </p:nvSpPr>
        <p:spPr>
          <a:xfrm>
            <a:off x="539496" y="56441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заполняются в конце каждого раздела. К концу видно, какие остались пустыми: куда за восемь разделов не зашёл никто.</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a:t>
            </a:r>
          </a:p>
        </p:txBody>
      </p:sp>
      <p:sp>
        <p:nvSpPr>
          <p:cNvPr id="6" name="TextBox 5"/>
          <p:cNvSpPr txBox="1"/>
          <p:nvPr/>
        </p:nvSpPr>
        <p:spPr>
          <a:xfrm>
            <a:off x="640080" y="1725375"/>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НАВЫК</a:t>
            </a:r>
          </a:p>
        </p:txBody>
      </p:sp>
      <p:sp>
        <p:nvSpPr>
          <p:cNvPr id="9" name="TextBox 8"/>
          <p:cNvSpPr txBox="1"/>
          <p:nvPr/>
        </p:nvSpPr>
        <p:spPr>
          <a:xfrm>
            <a:off x="2416987" y="1725375"/>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a:t>
            </a:r>
          </a:p>
        </p:txBody>
      </p:sp>
      <p:sp>
        <p:nvSpPr>
          <p:cNvPr id="12" name="TextBox 11"/>
          <p:cNvSpPr txBox="1"/>
          <p:nvPr/>
        </p:nvSpPr>
        <p:spPr>
          <a:xfrm>
            <a:off x="4193895" y="1725375"/>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35356"/>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АРБИТРАЖ</a:t>
            </a:r>
          </a:p>
        </p:txBody>
      </p:sp>
      <p:sp>
        <p:nvSpPr>
          <p:cNvPr id="15" name="TextBox 14"/>
          <p:cNvSpPr txBox="1"/>
          <p:nvPr/>
        </p:nvSpPr>
        <p:spPr>
          <a:xfrm>
            <a:off x="5970803" y="1725375"/>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61820"/>
            <a:ext cx="11441887" cy="3074387"/>
          </a:xfrm>
          <a:prstGeom prst="roundRect">
            <a:avLst>
              <a:gd name="adj" fmla="val 991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3260"/>
            <a:ext cx="11112703"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Подешевел шаг — платят на другом. Своё здесь — </a:t>
            </a:r>
            <a:r>
              <a:rPr sz="1500" b="1" i="0">
                <a:solidFill>
                  <a:srgbClr val="21295C"/>
                </a:solidFill>
                <a:latin typeface="Arial"/>
              </a:rPr>
              <a:t>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кто-либо измерил точность прибора.</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Порог назначает тот, кто решил, что хуже — пропустить или позвать лишнего</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 та же единица, другая группа того же испытания</a:t>
            </a:r>
          </a:p>
        </p:txBody>
      </p:sp>
      <p:sp>
        <p:nvSpPr>
          <p:cNvPr id="12" name="Rounded Rectangle 11"/>
          <p:cNvSpPr/>
          <p:nvPr/>
        </p:nvSpPr>
        <p:spPr>
          <a:xfrm>
            <a:off x="374904" y="2592217"/>
            <a:ext cx="11441887" cy="2650372"/>
          </a:xfrm>
          <a:prstGeom prst="roundRect">
            <a:avLst>
              <a:gd name="adj" fmla="val 115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Находка приходит позже и стадией крупнее — и это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Доля поздних стадий среди найденных не зависит от того, сколько нашли, — только от того, когда нашли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Поставщик сравнивает систему «с тем, как было раньше» — спрашивайте, какое именно «раньше» он посчитал и в каких единицах.</a:t>
            </a:r>
          </a:p>
        </p:txBody>
      </p:sp>
      <p:sp>
        <p:nvSpPr>
          <p:cNvPr id="15" name="Rectangle 14"/>
          <p:cNvSpPr/>
          <p:nvPr/>
        </p:nvSpPr>
        <p:spPr>
          <a:xfrm>
            <a:off x="6091275" y="2683657"/>
            <a:ext cx="9144" cy="237605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взяты с разных выборок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работа распределилась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исследований в стране за год — не опубликовано: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пропустить того, кому нужно сейчас</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занять приём тем, кому не нужно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7789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в этом разделе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 визитах, не в деньгах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пропуск: поражение глазного дна бессимптомно до поздних стадий, потеря зрения необратима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ложная тревога: направление к офтальмологу, которого в районе может не быть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него</a:t>
            </a:r>
            <a:r>
              <a:rPr sz="1500" b="0" i="0">
                <a:solidFill>
                  <a:srgbClr val="21295C"/>
                </a:solidFill>
                <a:latin typeface="Arial"/>
              </a:rPr>
              <a:t> — автономное чтение двух снимков глазного дна на месте, без офтальмолога, результат меньше чем за минуту.</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названы, и обе они про место съёмки: освещение в кабинете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29402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одной методологией</a:t>
            </a:r>
            <a:r>
              <a:rPr sz="1500" b="0" i="0">
                <a:solidFill>
                  <a:srgbClr val="21295C"/>
                </a:solidFill>
                <a:latin typeface="Arial"/>
              </a:rPr>
              <a:t> — одним метаанализом прямого сравнения.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Знаменатель назван: это не «несколько примеров».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Одну ходовую цифру разбор произносить отказывается:</a:t>
            </a:r>
            <a:r>
              <a:rPr sz="1500" b="0" i="0">
                <a:solidFill>
                  <a:srgbClr val="21295C"/>
                </a:solidFill>
                <a:latin typeface="Arial"/>
              </a:rPr>
              <a:t> «на тёмной коже чувствительность падает на 20–30 процентов» в публикации не найдена.</a:t>
            </a:r>
          </a:p>
          <a:p>
            <a:pPr algn="l">
              <a:lnSpc>
                <a:spcPct val="126000"/>
              </a:lnSpc>
              <a:spcBef>
                <a:spcPts val="700"/>
              </a:spcBef>
            </a:pPr>
            <a:r>
              <a:rPr sz="1200" b="0" i="0">
                <a:solidFill>
                  <a:srgbClr val="21295C"/>
                </a:solidFill>
                <a:latin typeface="Arial"/>
              </a:rPr>
              <a:t/>
            </a:r>
            <a:r>
              <a:rPr sz="12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Один балл на каждого, отбор по порогу; целью взяты будущие расходы на лечение.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делают сегодня</a:t>
            </a:r>
            <a:r>
              <a:rPr sz="1500" b="0" i="0">
                <a:solidFill>
                  <a:srgbClr val="21295C"/>
                </a:solidFill>
                <a:latin typeface="Arial"/>
              </a:rPr>
              <a:t> — счёт риска на данных плательщика и на медицинской карте, </a:t>
            </a:r>
            <a:r>
              <a:rPr sz="1500" b="0" i="1">
                <a:solidFill>
                  <a:srgbClr val="21295C"/>
                </a:solidFill>
                <a:latin typeface="Arial"/>
              </a:rPr>
              <a:t>прогноз на структурированных данных</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покупает это администрация или плательщик, не врач</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«дорого лечится» от «болен» такой счёт не отличает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 и рядом </a:t>
            </a:r>
            <a:r>
              <a:rPr sz="1550" b="1" i="0">
                <a:solidFill>
                  <a:srgbClr val="21295C"/>
                </a:solidFill>
                <a:latin typeface="Arial"/>
              </a:rPr>
              <a:t>зеркало того же замера</a:t>
            </a:r>
          </a:p>
        </p:txBody>
      </p:sp>
      <p:sp>
        <p:nvSpPr>
          <p:cNvPr id="11" name="TextBox 10"/>
          <p:cNvSpPr txBox="1"/>
          <p:nvPr/>
        </p:nvSpPr>
        <p:spPr>
          <a:xfrm>
            <a:off x="704088" y="428101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2" name="TextBox 11"/>
          <p:cNvSpPr txBox="1"/>
          <p:nvPr/>
        </p:nvSpPr>
        <p:spPr>
          <a:xfrm>
            <a:off x="704088" y="474770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3" name="TextBox 12"/>
          <p:cNvSpPr txBox="1"/>
          <p:nvPr/>
        </p:nvSpPr>
        <p:spPr>
          <a:xfrm>
            <a:off x="704088" y="521438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4" name="TextBox 13"/>
          <p:cNvSpPr txBox="1"/>
          <p:nvPr/>
        </p:nvSpPr>
        <p:spPr>
          <a:xfrm>
            <a:off x="704088" y="568106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76236"/>
          </a:xfrm>
          <a:prstGeom prst="roundRect">
            <a:avLst>
              <a:gd name="adj" fmla="val 95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в лаборатории,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верных рекомендациях точность рассуждения — </a:t>
            </a:r>
            <a:r>
              <a:rPr sz="150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14,0 пункта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Ступени не ранжированы по качеству: на каждой есть и выигрыш, и своя слепота.</a:t>
            </a:r>
          </a:p>
        </p:txBody>
      </p:sp>
      <p:sp>
        <p:nvSpPr>
          <p:cNvPr id="20" name="Rectangle 19"/>
          <p:cNvSpPr/>
          <p:nvPr/>
        </p:nvSpPr>
        <p:spPr>
          <a:xfrm>
            <a:off x="6091275" y="3151411"/>
            <a:ext cx="9144" cy="29402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4428"/>
          </a:xfrm>
          <a:prstGeom prst="roundRect">
            <a:avLst>
              <a:gd name="adj" fmla="val 1246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Подсказка по оцифрованному срезу в патологии. То же устройство — теперь на решении.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Знак эффекта задаёт её правота на этом конкретном случае.</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высокой точности есть куда падать и почти некуда расти.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сравнения.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 данные есть, разницы нет.</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Прогон «модель одна» равноправной случайной ветвью не был — он идёт </a:t>
            </a:r>
            <a:r>
              <a:rPr sz="1500" b="1" i="0">
                <a:solidFill>
                  <a:srgbClr val="21295C"/>
                </a:solidFill>
                <a:latin typeface="Arial"/>
              </a:rPr>
              <a:t>наблюдательным дополнением</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Пятьдесят врачей,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генерация на тексте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p:txBody>
      </p:sp>
      <p:sp>
        <p:nvSpPr>
          <p:cNvPr id="23" name="Rectangle 22"/>
          <p:cNvSpPr/>
          <p:nvPr/>
        </p:nvSpPr>
        <p:spPr>
          <a:xfrm>
            <a:off x="6091275" y="3285324"/>
            <a:ext cx="9144" cy="29402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Модель читает первой, человек читает сам, разногласие разбирает третий. Прибавка чувствительности </a:t>
            </a:r>
            <a:r>
              <a:rPr sz="1500" b="1" i="0">
                <a:solidFill>
                  <a:srgbClr val="21295C"/>
                </a:solidFill>
                <a:latin typeface="Arial"/>
              </a:rPr>
              <a:t>значима</a:t>
            </a:r>
            <a:r>
              <a:rPr sz="1500" b="0" i="0">
                <a:solidFill>
                  <a:srgbClr val="21295C"/>
                </a:solidFill>
                <a:latin typeface="Arial"/>
              </a:rPr>
              <a:t>: независимость здесь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Инструмент тот же, что в разборе выше.</a:t>
            </a:r>
            <a:r>
              <a:rPr sz="1500" b="0" i="0">
                <a:solidFill>
                  <a:srgbClr val="21295C"/>
                </a:solidFill>
                <a:latin typeface="Arial"/>
              </a:rPr>
              <a:t> Держат его контроль порога и арбитраж; вне скрининга бессимптомных он работать не умеет.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610975"/>
          </a:xfrm>
          <a:prstGeom prst="roundRect">
            <a:avLst>
              <a:gd name="adj" fmla="val 66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7" name="Rectangle 6"/>
          <p:cNvSpPr/>
          <p:nvPr/>
        </p:nvSpPr>
        <p:spPr>
          <a:xfrm>
            <a:off x="6091275" y="1335024"/>
            <a:ext cx="9144" cy="43366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светлое в скобках — раздел, занявший клетку раньше, прочерк — пусто.</a:t>
            </a:r>
            <a:r>
              <a:rPr sz="1200" b="0" i="0">
                <a:solidFill>
                  <a:srgbClr val="21295C"/>
                </a:solidFill>
                <a:latin typeface="Arial"/>
              </a:rPr>
              <a:t> Новых клеток раздел не добавил.</a:t>
            </a:r>
          </a:p>
        </p:txBody>
      </p:sp>
      <p:sp>
        <p:nvSpPr>
          <p:cNvPr id="46" name="TextBox 45"/>
          <p:cNvSpPr txBox="1"/>
          <p:nvPr/>
        </p:nvSpPr>
        <p:spPr>
          <a:xfrm>
            <a:off x="539496" y="3986193"/>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и в одно число они не сводятся:</a:t>
            </a:r>
          </a:p>
        </p:txBody>
      </p:sp>
      <p:sp>
        <p:nvSpPr>
          <p:cNvPr id="47" name="Rounded Rectangle 46"/>
          <p:cNvSpPr/>
          <p:nvPr/>
        </p:nvSpPr>
        <p:spPr>
          <a:xfrm>
            <a:off x="630936" y="4459939"/>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376119"/>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читателя упала</a:t>
            </a:r>
          </a:p>
        </p:txBody>
      </p:sp>
      <p:sp>
        <p:nvSpPr>
          <p:cNvPr id="49" name="Rounded Rectangle 48"/>
          <p:cNvSpPr/>
          <p:nvPr/>
        </p:nvSpPr>
        <p:spPr>
          <a:xfrm>
            <a:off x="630936" y="4849864"/>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766044"/>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вышла сильнее обеих сторон</a:t>
            </a:r>
          </a:p>
        </p:txBody>
      </p:sp>
      <p:sp>
        <p:nvSpPr>
          <p:cNvPr id="53" name="TextBox 52"/>
          <p:cNvSpPr txBox="1"/>
          <p:nvPr/>
        </p:nvSpPr>
        <p:spPr>
          <a:xfrm>
            <a:off x="539496" y="5545895"/>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стоят неподвижно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54" name="Rounded Rectangle 53"/>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935821"/>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3957004"/>
          </a:xfrm>
          <a:prstGeom prst="roundRect">
            <a:avLst>
              <a:gd name="adj" fmla="val 77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400" b="0" i="0">
                <a:solidFill>
                  <a:srgbClr val="21295C"/>
                </a:solidFill>
                <a:latin typeface="Arial"/>
              </a:rPr>
              <a:t/>
            </a:r>
            <a:r>
              <a:rPr sz="140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по таблице</a:t>
            </a:r>
            <a:r>
              <a:rPr sz="14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400" b="0" i="0">
                <a:solidFill>
                  <a:srgbClr val="21295C"/>
                </a:solidFill>
                <a:latin typeface="Arial"/>
              </a:rPr>
              <a:t/>
            </a:r>
            <a:r>
              <a:rPr sz="1400" b="1" i="0">
                <a:solidFill>
                  <a:srgbClr val="21295C"/>
                </a:solidFill>
                <a:latin typeface="Arial"/>
              </a:rPr>
              <a:t>С обученной моделью — три действия из шести:</a:t>
            </a:r>
            <a:r>
              <a:rPr sz="140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400" b="0" i="0">
                <a:solidFill>
                  <a:srgbClr val="21295C"/>
                </a:solidFill>
                <a:latin typeface="Arial"/>
              </a:rPr>
              <a:t/>
            </a:r>
            <a:r>
              <a:rPr sz="1400" b="1" i="0">
                <a:solidFill>
                  <a:srgbClr val="21295C"/>
                </a:solidFill>
                <a:latin typeface="Arial"/>
              </a:rPr>
              <a:t>Новый шаг — разобрать тревогу и отклонить её.</a:t>
            </a:r>
          </a:p>
          <a:p>
            <a:pPr algn="l">
              <a:lnSpc>
                <a:spcPct val="126000"/>
              </a:lnSpc>
              <a:spcBef>
                <a:spcPts val="700"/>
              </a:spcBef>
            </a:pPr>
            <a:r>
              <a:rPr sz="1400" b="0" i="0">
                <a:solidFill>
                  <a:srgbClr val="21295C"/>
                </a:solidFill>
                <a:latin typeface="Arial"/>
              </a:rPr>
              <a:t/>
            </a:r>
            <a:r>
              <a:rPr sz="140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400" b="0" i="0">
                <a:solidFill>
                  <a:srgbClr val="21295C"/>
                </a:solidFill>
                <a:latin typeface="Arial"/>
              </a:rPr>
              <a:t/>
            </a:r>
            <a:r>
              <a:rPr sz="1400" b="0" i="0">
                <a:solidFill>
                  <a:srgbClr val="21295C"/>
                </a:solidFill>
                <a:latin typeface="Arial"/>
              </a:rPr>
              <a:t>Решение одно и повторяющееся: звать старшего сейчас или на следующем обходе. </a:t>
            </a:r>
            <a:r>
              <a:rPr sz="1400" b="1" i="0">
                <a:solidFill>
                  <a:srgbClr val="21295C"/>
                </a:solidFill>
                <a:latin typeface="Arial"/>
              </a:rPr>
              <a:t>Решает тот, кто видит только запись.</a:t>
            </a:r>
          </a:p>
        </p:txBody>
      </p:sp>
      <p:sp>
        <p:nvSpPr>
          <p:cNvPr id="17" name="Rectangle 16"/>
          <p:cNvSpPr/>
          <p:nvPr/>
        </p:nvSpPr>
        <p:spPr>
          <a:xfrm>
            <a:off x="6091275" y="2241116"/>
            <a:ext cx="9144" cy="368268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3106144"/>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a:p>
            <a:pPr algn="l">
              <a:lnSpc>
                <a:spcPct val="126000"/>
              </a:lnSpc>
              <a:spcBef>
                <a:spcPts val="700"/>
              </a:spcBef>
            </a:pPr>
            <a:r>
              <a:rPr sz="1250" b="0" i="0">
                <a:solidFill>
                  <a:srgbClr val="21295C"/>
                </a:solidFill>
                <a:latin typeface="Arial"/>
              </a:rPr>
              <a:t/>
            </a: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Число без названной методики счёта не проверяется и не опровергается: утверждением о мире оно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Измерено рандомизированно:</a:t>
            </a:r>
            <a:r>
              <a:rPr sz="1250" b="0" i="0">
                <a:solidFill>
                  <a:srgbClr val="21295C"/>
                </a:solidFill>
                <a:latin typeface="Arial"/>
              </a:rPr>
              <a:t> три равные группы, 238 врачей четырнадцати специальностей.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и посчитан из них один.</a:t>
            </a:r>
            <a:r>
              <a:rPr sz="14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измерено.</a:t>
            </a:r>
            <a:r>
              <a:rPr sz="14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общее качество сопоставимо</a:t>
            </a:r>
            <a:r>
              <a:rPr sz="1450" b="0" i="0">
                <a:solidFill>
                  <a:srgbClr val="21295C"/>
                </a:solidFill>
                <a:latin typeface="Arial"/>
              </a:rPr>
              <a:t> — 3,67 у врачей против 3,77 у модели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 модели короче и связнее</a:t>
            </a:r>
            <a:r>
              <a:rPr sz="1450" b="0" i="0">
                <a:solidFill>
                  <a:srgbClr val="21295C"/>
                </a:solidFill>
                <a:latin typeface="Arial"/>
              </a:rPr>
              <a:t> — и при этом менее полон</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ошибок больше, каждая не страшнее</a:t>
            </a:r>
            <a:r>
              <a:rPr sz="1450" b="0" i="0">
                <a:solidFill>
                  <a:srgbClr val="21295C"/>
                </a:solidFill>
                <a:latin typeface="Arial"/>
              </a:rPr>
              <a:t> — потенциал вреда одной 1,34 против 1,35</a:t>
            </a:r>
          </a:p>
          <a:p>
            <a:pPr algn="l">
              <a:lnSpc>
                <a:spcPct val="126000"/>
              </a:lnSpc>
              <a:spcBef>
                <a:spcPts val="700"/>
              </a:spcBef>
            </a:pPr>
            <a:r>
              <a:rPr sz="1450" b="0" i="0">
                <a:solidFill>
                  <a:srgbClr val="21295C"/>
                </a:solidFill>
                <a:latin typeface="Arial"/>
              </a:rPr>
              <a:t/>
            </a:r>
            <a:r>
              <a:rPr sz="1450" b="1" i="0">
                <a:solidFill>
                  <a:srgbClr val="21295C"/>
                </a:solidFill>
                <a:latin typeface="Arial"/>
              </a:rPr>
              <a:t>Сместилась цена ошибки:</a:t>
            </a:r>
            <a:r>
              <a:rPr sz="14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4939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Ведение записи: набор сократился, вычитка появилась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Заметка готова к концу приёма — прежде её дописывали к концу дня</a:t>
            </a:r>
          </a:p>
          <a:p>
            <a:pPr algn="l">
              <a:lnSpc>
                <a:spcPct val="126000"/>
              </a:lnSpc>
              <a:spcBef>
                <a:spcPts val="700"/>
              </a:spcBef>
            </a:pPr>
            <a:r>
              <a:rPr sz="1400" b="0" i="0">
                <a:solidFill>
                  <a:srgbClr val="21295C"/>
                </a:solidFill>
                <a:latin typeface="Arial"/>
              </a:rPr>
              <a:t/>
            </a:r>
            <a:r>
              <a:rPr sz="1400" b="0" i="0">
                <a:solidFill>
                  <a:srgbClr val="21295C"/>
                </a:solidFill>
                <a:latin typeface="Arial"/>
              </a:rPr>
              <a:t>• Документ короче и связнее человеческого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Снята необходимость держать структуру документа в голове при живом человеке</a:t>
            </a:r>
          </a:p>
          <a:p>
            <a:pPr algn="l">
              <a:lnSpc>
                <a:spcPct val="126000"/>
              </a:lnSpc>
              <a:spcBef>
                <a:spcPts val="700"/>
              </a:spcBef>
            </a:pPr>
            <a:r>
              <a:rPr sz="1400" b="0" i="0">
                <a:solidFill>
                  <a:srgbClr val="21295C"/>
                </a:solidFill>
                <a:latin typeface="Arial"/>
              </a:rPr>
              <a:t/>
            </a:r>
            <a:r>
              <a:rPr sz="1400" b="0" i="0">
                <a:solidFill>
                  <a:srgbClr val="21295C"/>
                </a:solidFill>
                <a:latin typeface="Arial"/>
              </a:rPr>
              <a:t>• Писать быстрее — у одного из двух инструментов: 9,5 процента времени в заметке</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не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Подтвердить заявленную экономию: 15 791 час на 63 000 приёмов — без раскрытой методики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Сократить активное время правки: не изменилось ни у одного из двух</a:t>
            </a:r>
          </a:p>
          <a:p>
            <a:pPr algn="l">
              <a:lnSpc>
                <a:spcPct val="126000"/>
              </a:lnSpc>
              <a:spcBef>
                <a:spcPts val="700"/>
              </a:spcBef>
            </a:pPr>
            <a:r>
              <a:rPr sz="1400" b="0" i="0">
                <a:solidFill>
                  <a:srgbClr val="21295C"/>
                </a:solidFill>
                <a:latin typeface="Arial"/>
              </a:rPr>
              <a:t/>
            </a:r>
            <a:r>
              <a:rPr sz="1400" b="0" i="0">
                <a:solidFill>
                  <a:srgbClr val="21295C"/>
                </a:solidFill>
                <a:latin typeface="Arial"/>
              </a:rPr>
              <a:t>• Написать полнее человека: полнота 3,72 против 4,13,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стало с работой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Нагрузка переехала на другой шаг</a:t>
            </a:r>
            <a:r>
              <a:rPr sz="1400" b="0" i="0">
                <a:solidFill>
                  <a:srgbClr val="21295C"/>
                </a:solidFill>
                <a:latin typeface="Arial"/>
              </a:rPr>
              <a:t> — с набора текста на вычитку чужого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Появился шаг</a:t>
            </a:r>
            <a:r>
              <a:rPr sz="1400" b="0" i="0">
                <a:solidFill>
                  <a:srgbClr val="21295C"/>
                </a:solidFill>
                <a:latin typeface="Arial"/>
              </a:rPr>
              <a:t> — выборочный контроль заметок, и у него постоянный штат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Сместилась цена ошибки</a:t>
            </a:r>
            <a:r>
              <a:rPr sz="14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это держит</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Вычитка и подпись врача: подпись остаётся человеческой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Выборочный контроль: 3 600 отзывов и 1 252 анкеты в отчёте одной клиники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Прочерк: вычитке другого рода никто не учит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48700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в этом разделе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2168327"/>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 у подписи.</a:t>
            </a:r>
            <a:r>
              <a:rPr sz="130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Классических режимов два, и счёт у них разный.</a:t>
            </a:r>
            <a:r>
              <a:rPr sz="130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Первая единица — чувствительность, доля найденного среди больных.</a:t>
            </a:r>
            <a:r>
              <a:rPr sz="1300" b="0" i="0">
                <a:solidFill>
                  <a:srgbClr val="21295C"/>
                </a:solidFill>
                <a:latin typeface="Arial"/>
              </a:rPr>
              <a:t> С выявляемостью её путать нельзя: в той же программе это около шести находок на тысячу обследованных.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единица — минуты труда, и без неё экономия на чтении не считается.</a:t>
            </a:r>
            <a:r>
              <a:rPr sz="130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Разброс произносится вместе со средним:</a:t>
            </a:r>
            <a:r>
              <a:rPr sz="130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300" b="0" i="0">
                <a:solidFill>
                  <a:srgbClr val="21295C"/>
                </a:solidFill>
                <a:latin typeface="Arial"/>
              </a:rPr>
              <a:t/>
            </a:r>
            <a:r>
              <a:rPr sz="130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Знаменатели держим врозь:</a:t>
            </a:r>
            <a:r>
              <a:rPr sz="15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3" name="Rectangle 22"/>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11112703"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 держит то, что определяет качество вывода, и за решение о конкретном человеке не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 отвечает за решение целиком и не контролирует ни обучающие данные, ни обновления.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качественная: она описывает участников клинического контура и чисел в себе не несёт.</a:t>
            </a:r>
          </a:p>
        </p:txBody>
      </p:sp>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3 упоминания · 1 опровергнутое ожидание.</a:t>
            </a:r>
            <a:r>
              <a:rPr sz="1550" b="0" i="0">
                <a:solidFill>
                  <a:srgbClr val="21295C"/>
                </a:solidFill>
                <a:latin typeface="Arial"/>
              </a:rPr>
              <a:t> Разборы по порядку: </a:t>
            </a:r>
            <a:r>
              <a:rPr sz="1550" b="1" i="0">
                <a:solidFill>
                  <a:srgbClr val="21295C"/>
                </a:solidFill>
                <a:latin typeface="Arial"/>
              </a:rPr>
              <a:t>Пример 1: молекула за год</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418518"/>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187291"/>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ЦИКЛ «СПРОЕКТИРУЙ — СИНТЕЗИРУЙ — ПРОВЕРЬ»</a:t>
            </a:r>
          </a:p>
        </p:txBody>
      </p:sp>
      <p:sp>
        <p:nvSpPr>
          <p:cNvPr id="6" name="TextBox 5"/>
          <p:cNvSpPr txBox="1"/>
          <p:nvPr/>
        </p:nvSpPr>
        <p:spPr>
          <a:xfrm>
            <a:off x="640080" y="193284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недель до месяцев</a:t>
            </a:r>
          </a:p>
        </p:txBody>
      </p:sp>
      <p:sp>
        <p:nvSpPr>
          <p:cNvPr id="7" name="TextBox 6"/>
          <p:cNvSpPr txBox="1"/>
          <p:nvPr/>
        </p:nvSpPr>
        <p:spPr>
          <a:xfrm>
            <a:off x="640080" y="2750268"/>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порядка, замера нет; разброс между программами большой</a:t>
            </a:r>
          </a:p>
        </p:txBody>
      </p:sp>
      <p:sp>
        <p:nvSpPr>
          <p:cNvPr id="8" name="Rounded Rectangle 7"/>
          <p:cNvSpPr/>
          <p:nvPr/>
        </p:nvSpPr>
        <p:spPr>
          <a:xfrm>
            <a:off x="4056735" y="1335024"/>
            <a:ext cx="3389223"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ЦИКЛОВ ДО ГОДНОЙ МОЛЕКУЛЫ</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десятки и сотни</a:t>
            </a:r>
          </a:p>
        </p:txBody>
      </p:sp>
      <p:sp>
        <p:nvSpPr>
          <p:cNvPr id="11" name="TextBox 10"/>
          <p:cNvSpPr txBox="1"/>
          <p:nvPr/>
        </p:nvSpPr>
        <p:spPr>
          <a:xfrm>
            <a:off x="4193895" y="2152374"/>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из согласующихся обзоров</a:t>
            </a:r>
          </a:p>
        </p:txBody>
      </p:sp>
      <p:sp>
        <p:nvSpPr>
          <p:cNvPr id="12" name="Rounded Rectangle 11"/>
          <p:cNvSpPr/>
          <p:nvPr/>
        </p:nvSpPr>
        <p:spPr>
          <a:xfrm>
            <a:off x="374904" y="3401355"/>
            <a:ext cx="7199071"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2795"/>
            <a:ext cx="6869887"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путь: от первой реакции до первого человека — около двух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химик-синтетик</a:t>
            </a:r>
            <a:r>
              <a:rPr sz="1500" b="0" i="0">
                <a:solidFill>
                  <a:srgbClr val="21295C"/>
                </a:solidFill>
                <a:latin typeface="Arial"/>
              </a:rPr>
              <a:t> ставит реакцию —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через полгода</a:t>
            </a:r>
            <a:r>
              <a:rPr sz="1500" b="0" i="0">
                <a:solidFill>
                  <a:srgbClr val="21295C"/>
                </a:solidFill>
                <a:latin typeface="Arial"/>
              </a:rPr>
              <a:t> порошок едет в виварий: доза, переносимость, органы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ещё через год</a:t>
            </a:r>
            <a:r>
              <a:rPr sz="1500" b="0" i="0">
                <a:solidFill>
                  <a:srgbClr val="21295C"/>
                </a:solidFill>
                <a:latin typeface="Arial"/>
              </a:rPr>
              <a:t> координатор пишет наблюдения по добровольцу фазы I</a:t>
            </a:r>
          </a:p>
          <a:p>
            <a:pPr algn="l">
              <a:lnSpc>
                <a:spcPct val="126000"/>
              </a:lnSpc>
              <a:spcBef>
                <a:spcPts val="700"/>
              </a:spcBef>
            </a:pPr>
            <a:r>
              <a:rPr sz="1500" b="0" i="0">
                <a:solidFill>
                  <a:srgbClr val="21295C"/>
                </a:solidFill>
                <a:latin typeface="Arial"/>
              </a:rPr>
              <a:t/>
            </a:r>
            <a:r>
              <a:rPr sz="1500" b="0" i="0">
                <a:solidFill>
                  <a:srgbClr val="21295C"/>
                </a:solidFill>
                <a:latin typeface="Arial"/>
              </a:rPr>
              <a:t>• каждый шаг делают руками; длину шага задают физиология и расписание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Вторая сцена: проверка клетки вивария</a:t>
            </a:r>
          </a:p>
        </p:txBody>
      </p:sp>
      <p:sp>
        <p:nvSpPr>
          <p:cNvPr id="14" name="Rounded Rectangle 1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5" name="Picture 1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разработки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Мишень и молекула — биологи, химики</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Доклиника — культуры и животные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Фазы I–III — клиницисты, пациенты</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 — регуляторные специалисты</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387325"/>
            <a:ext cx="11441887" cy="3788669"/>
          </a:xfrm>
          <a:prstGeom prst="roundRect">
            <a:avLst>
              <a:gd name="adj" fmla="val 804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Восемь действий стадии.</a:t>
            </a:r>
            <a:r>
              <a:rPr sz="1450" b="0" i="0">
                <a:solidFill>
                  <a:srgbClr val="21295C"/>
                </a:solidFill>
                <a:latin typeface="Arial"/>
              </a:rPr>
              <a:t> 1. Выбрать мишень · 2. Подобрать молекулу · 3. Проверить на культурах и животных · 4. Произвести клиническую партию · 5. Фаза I — переносимость и доза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50" b="0" i="0">
                <a:solidFill>
                  <a:srgbClr val="21295C"/>
                </a:solidFill>
                <a:latin typeface="Arial"/>
              </a:rPr>
              <a:t/>
            </a:r>
            <a:r>
              <a:rPr sz="145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50" b="0" i="0">
                <a:solidFill>
                  <a:srgbClr val="21295C"/>
                </a:solidFill>
                <a:latin typeface="Arial"/>
              </a:rPr>
              <a:t/>
            </a:r>
            <a:r>
              <a:rPr sz="1450" b="1" i="0">
                <a:solidFill>
                  <a:srgbClr val="21295C"/>
                </a:solidFill>
                <a:latin typeface="Arial"/>
              </a:rPr>
              <a:t>С обученной моделью — два шага из восьми:</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подбор молекулы (2) и реже выбор мишени (1)</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новый шаг — сверить предсказание с опытом</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50" b="0" i="0">
                <a:solidFill>
                  <a:srgbClr val="21295C"/>
                </a:solidFill>
                <a:latin typeface="Arial"/>
              </a:rPr>
              <a:t/>
            </a:r>
            <a:r>
              <a:rPr sz="1450" b="1" i="0">
                <a:solidFill>
                  <a:srgbClr val="21295C"/>
                </a:solidFill>
                <a:latin typeface="Arial"/>
              </a:rPr>
              <a:t>Четыре работы задачи для модели не содержат вовсе:</a:t>
            </a:r>
            <a:r>
              <a:rPr sz="145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450" b="0" i="0">
                <a:solidFill>
                  <a:srgbClr val="21295C"/>
                </a:solidFill>
                <a:latin typeface="Arial"/>
              </a:rPr>
              <a:t/>
            </a:r>
            <a:r>
              <a:rPr sz="1450" b="1" i="0">
                <a:solidFill>
                  <a:srgbClr val="21295C"/>
                </a:solidFill>
                <a:latin typeface="Arial"/>
              </a:rPr>
              <a:t>Две дроби, и различать их придётся весь раздел:</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«перешли»</a:t>
            </a:r>
            <a:r>
              <a:rPr sz="1450" b="0" i="0">
                <a:solidFill>
                  <a:srgbClr val="21295C"/>
                </a:solidFill>
                <a:latin typeface="Arial"/>
              </a:rPr>
              <a:t> — считают среди тех, кто фазу прошёл до конца</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«завершили»</a:t>
            </a:r>
            <a:r>
              <a:rPr sz="1450" b="0" i="0">
                <a:solidFill>
                  <a:srgbClr val="21295C"/>
                </a:solidFill>
                <a:latin typeface="Arial"/>
              </a:rPr>
              <a:t> — считают среди всех, кто когда-либо вошёл в испытания: в знаменателе сидят активы, которые ещё идут</a:t>
            </a:r>
          </a:p>
        </p:txBody>
      </p:sp>
      <p:sp>
        <p:nvSpPr>
          <p:cNvPr id="20" name="Rectangle 19"/>
          <p:cNvSpPr/>
          <p:nvPr/>
        </p:nvSpPr>
        <p:spPr>
          <a:xfrm>
            <a:off x="6091275" y="2478765"/>
            <a:ext cx="9144" cy="351434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16631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попаданий: с методом и без</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ПЕРЕБОР — ПОПАДАНИЯ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БИБЛИОТЕКА СОЕДИНЕНИЙ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80346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физический перебор: метод назван, знаменатель назван.</a:t>
            </a:r>
            <a:r>
              <a:rPr sz="1500" b="0" i="0">
                <a:solidFill>
                  <a:srgbClr val="21295C"/>
                </a:solidFill>
                <a:latin typeface="Arial"/>
              </a:rPr>
              <a:t> Такое число можно оспорить — проверить состав библиотеки, пересчитать попадания.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готовому соединению: </a:t>
            </a:r>
            <a:r>
              <a:rPr sz="1500" b="1" i="0">
                <a:solidFill>
                  <a:srgbClr val="21295C"/>
                </a:solidFill>
                <a:latin typeface="Arial"/>
              </a:rPr>
              <a:t>ни имени проекта · ни даты · ни публикации</a:t>
            </a:r>
            <a:r>
              <a:rPr sz="1500" b="0" i="0">
                <a:solidFill>
                  <a:srgbClr val="21295C"/>
                </a:solidFill>
                <a:latin typeface="Arial"/>
              </a:rPr>
              <a:t>.</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Число без метода и знаменателя не оспорить — и это не признак того, что оно верно.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был прототип, который собрали за месяц, а довести до рабочего состояния не вышло за год? Назовите в чат, что именно оказалось узким местом — одной строкой.</a:t>
            </a:r>
          </a:p>
        </p:txBody>
      </p:sp>
      <p:sp>
        <p:nvSpPr>
          <p:cNvPr id="15" name="Rectangle 14"/>
          <p:cNvSpPr/>
          <p:nvPr/>
        </p:nvSpPr>
        <p:spPr>
          <a:xfrm>
            <a:off x="6091275" y="2894901"/>
            <a:ext cx="9144" cy="21683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ПЕРЕБОР ГИПОТЕЗ ПО ГРАФУ СВЯЗЕЙ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недель и месяцев обзора литературы; подтверждение дала другая рука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РАСЧЁТНАЯ ОЦЕНКА СВЯЗЫВАНИЯ</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13 000 соединений под известную мишень</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цикл прогоняет от одного до трёх миллионов</a:t>
            </a:r>
          </a:p>
        </p:txBody>
      </p:sp>
      <p:sp>
        <p:nvSpPr>
          <p:cNvPr id="12" name="Rounded Rectangle 11"/>
          <p:cNvSpPr/>
          <p:nvPr/>
        </p:nvSpPr>
        <p:spPr>
          <a:xfrm>
            <a:off x="8069884"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ГОТОВОГО АКТИВА ПРИ ЭТОМ НЕ УПАЛА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млрд долларов авансом</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до 2 млрд выплат по достижениям</a:t>
            </a:r>
          </a:p>
        </p:txBody>
      </p:sp>
      <p:sp>
        <p:nvSpPr>
          <p:cNvPr id="16" name="Rounded Rectangle 15"/>
          <p:cNvSpPr/>
          <p:nvPr/>
        </p:nvSpPr>
        <p:spPr>
          <a:xfrm>
            <a:off x="374904" y="3190112"/>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Цена результата осталась.</a:t>
            </a:r>
          </a:p>
        </p:txBody>
      </p:sp>
      <p:sp>
        <p:nvSpPr>
          <p:cNvPr id="19" name="Rectangle 18"/>
          <p:cNvSpPr/>
          <p:nvPr/>
        </p:nvSpPr>
        <p:spPr>
          <a:xfrm>
            <a:off x="6091275" y="3281552"/>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200" b="0" i="1">
                <a:solidFill>
                  <a:srgbClr val="1C7293"/>
                </a:solidFill>
                <a:latin typeface="Arial"/>
              </a:rPr>
              <a:t> · </a:t>
            </a:r>
            <a:r>
              <a:rPr sz="12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ДОКЛИНИКА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ОТРАСЛЕВАЯ НОРМА ДЛЯ ЭТОГО КЛАССА МИШЕНЕЙ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80346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5" name="Rectangle 14"/>
          <p:cNvSpPr/>
          <p:nvPr/>
        </p:nvSpPr>
        <p:spPr>
          <a:xfrm>
            <a:off x="6091275" y="2894901"/>
            <a:ext cx="9144" cy="1960166"/>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молекулу сняли на первой фазе</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ВОШЛА В КЛИНИКУ</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СНЯТА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ПЕРЕХОД ФАЗЫ I</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301470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доклинический этап меньше года вместо нескольких лет · </a:t>
            </a:r>
            <a:r>
              <a:rPr sz="1500" b="1" i="0">
                <a:solidFill>
                  <a:srgbClr val="21295C"/>
                </a:solidFill>
                <a:latin typeface="Arial"/>
              </a:rPr>
              <a:t>потребовало</a:t>
            </a:r>
            <a:r>
              <a:rPr sz="1500" b="0" i="0">
                <a:solidFill>
                  <a:srgbClr val="21295C"/>
                </a:solidFill>
                <a:latin typeface="Arial"/>
              </a:rPr>
              <a:t> той же первой фазы, той же длины, у тех же людей · </a:t>
            </a:r>
            <a:r>
              <a:rPr sz="1500" b="1" i="0">
                <a:solidFill>
                  <a:srgbClr val="21295C"/>
                </a:solidFill>
                <a:latin typeface="Arial"/>
              </a:rPr>
              <a:t>в сумме</a:t>
            </a:r>
            <a:r>
              <a:rPr sz="1500" b="0" i="0">
                <a:solidFill>
                  <a:srgbClr val="21295C"/>
                </a:solidFill>
                <a:latin typeface="Arial"/>
              </a:rPr>
              <a:t>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9" name="Rectangle 18"/>
          <p:cNvSpPr/>
          <p:nvPr/>
        </p:nvSpPr>
        <p:spPr>
          <a:xfrm>
            <a:off x="6091275" y="3106144"/>
            <a:ext cx="9144" cy="175244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пересказы снятия молекулы на первой фазе, 2022</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процентов</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посчитано на единицах, завершивших фазу к сроку среза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ОТРАСЛИ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вес двух сторон различается на три порядка</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У ТЕХ ЖЕ МОЛЕКУЛ</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80–90 против 52,0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замера говорят о заметном превосходстве над средними отрасли</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Jayatunga и соавт., Drug Discovery Today, 2024</a:t>
            </a:r>
            <a:r>
              <a:rPr sz="1200" b="0" i="1">
                <a:solidFill>
                  <a:srgbClr val="1C7293"/>
                </a:solidFill>
                <a:latin typeface="Arial"/>
              </a:rPr>
              <a:t> · </a:t>
            </a:r>
            <a:r>
              <a:rPr sz="1200" b="0" i="1" u="sng">
                <a:solidFill>
                  <a:srgbClr val="065A82"/>
                </a:solidFill>
                <a:latin typeface="Arial"/>
                <a:hlinkClick r:id="rId3"/>
              </a:rPr>
              <a:t>BIO / QLS / Informa, Clinical Development Success Rates 2011–2020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ОДОБРЕНИЙ РЕГУЛЯТОРА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ПЕРВЫЙ ЗАМЕР</a:t>
            </a:r>
          </a:p>
        </p:txBody>
      </p:sp>
      <p:sp>
        <p:nvSpPr>
          <p:cNvPr id="9" name="TextBox 8"/>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вошли в клинику с 2015 года, 67 в процессе</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ВТОРОЙ ЗАМЕР</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 источник называет 117 верхней границей</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ЗАВЕРШИЛИ ФАЗУ II — ДОЛЯ ЗАВЕРШИВШИХ, НЕ ПЕРЕХОД</a:t>
            </a:r>
          </a:p>
        </p:txBody>
      </p:sp>
      <p:sp>
        <p:nvSpPr>
          <p:cNvPr id="17" name="TextBox 16"/>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 активов из 117</a:t>
            </a:r>
          </a:p>
        </p:txBody>
      </p:sp>
      <p:sp>
        <p:nvSpPr>
          <p:cNvPr id="18" name="TextBox 17"/>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6,8 процента, срез 1 декабря 2025; с 28,9 процента перехода не складывается</a:t>
            </a:r>
          </a:p>
        </p:txBody>
      </p:sp>
      <p:sp>
        <p:nvSpPr>
          <p:cNvPr id="19" name="Rounded Rectangle 18"/>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 — на масштабе всей отрасли.</a:t>
            </a:r>
            <a:r>
              <a:rPr sz="1500" b="0" i="0">
                <a:solidFill>
                  <a:srgbClr val="21295C"/>
                </a:solidFill>
                <a:latin typeface="Arial"/>
              </a:rPr>
              <a:t> Ранний шаг подешевел, и весь объём работы оказался в клинических фазах, которые не подешевели.</a:t>
            </a:r>
          </a:p>
        </p:txBody>
      </p:sp>
      <p:sp>
        <p:nvSpPr>
          <p:cNvPr id="21" name="TextBox 20"/>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«больше двухсот молекул в клинике» в этом разделе не произносится: оба реальных замера дают </a:t>
            </a:r>
            <a:r>
              <a:rPr sz="1500" b="1" i="0">
                <a:solidFill>
                  <a:srgbClr val="21295C"/>
                </a:solidFill>
                <a:latin typeface="Arial"/>
              </a:rPr>
              <a:t>75</a:t>
            </a:r>
            <a:r>
              <a:rPr sz="1500" b="0" i="0">
                <a:solidFill>
                  <a:srgbClr val="21295C"/>
                </a:solidFill>
                <a:latin typeface="Arial"/>
              </a:rPr>
              <a:t> и </a:t>
            </a:r>
            <a:r>
              <a:rPr sz="1500" b="1" i="0">
                <a:solidFill>
                  <a:srgbClr val="21295C"/>
                </a:solidFill>
                <a:latin typeface="Arial"/>
              </a:rPr>
              <a:t>117</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одной строкой: одна молекула — третья фаза начата; медиана от основания компании до первого человека — </a:t>
            </a:r>
            <a:r>
              <a:rPr sz="1500" b="1" i="0">
                <a:solidFill>
                  <a:srgbClr val="21295C"/>
                </a:solidFill>
                <a:latin typeface="Arial"/>
              </a:rPr>
              <a:t>шесть с половиной лет</a:t>
            </a:r>
          </a:p>
        </p:txBody>
      </p:sp>
      <p:sp>
        <p:nvSpPr>
          <p:cNvPr id="22" name="Rectangle 21"/>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7" name="TextBox 16"/>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a:t>
            </a:r>
          </a:p>
        </p:txBody>
      </p:sp>
      <p:sp>
        <p:nvSpPr>
          <p:cNvPr id="19" name="Rounded Rectangle 18"/>
          <p:cNvSpPr/>
          <p:nvPr/>
        </p:nvSpPr>
        <p:spPr>
          <a:xfrm>
            <a:off x="374904" y="342964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p:txBody>
      </p:sp>
      <p:sp>
        <p:nvSpPr>
          <p:cNvPr id="21" name="TextBox 20"/>
          <p:cNvSpPr txBox="1"/>
          <p:nvPr/>
        </p:nvSpPr>
        <p:spPr>
          <a:xfrm>
            <a:off x="6278727"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2" name="Rectangle 21"/>
          <p:cNvSpPr/>
          <p:nvPr/>
        </p:nvSpPr>
        <p:spPr>
          <a:xfrm>
            <a:off x="6091275" y="3521087"/>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ВОЛНЫ СОКРАЩЕНИЙ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БИЗНЕСА</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15" name="Right Arrow 14"/>
          <p:cNvSpPr/>
          <p:nvPr/>
        </p:nvSpPr>
        <p:spPr>
          <a:xfrm>
            <a:off x="4202353"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18" name="Right Arrow 17"/>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1" name="Right Arrow 20"/>
          <p:cNvSpPr/>
          <p:nvPr/>
        </p:nvSpPr>
        <p:spPr>
          <a:xfrm>
            <a:off x="9223781" y="390333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24" name="TextBox 23"/>
          <p:cNvSpPr txBox="1"/>
          <p:nvPr/>
        </p:nvSpPr>
        <p:spPr>
          <a:xfrm>
            <a:off x="502920" y="44838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25" name="Rounded Rectangle 24"/>
          <p:cNvSpPr/>
          <p:nvPr/>
        </p:nvSpPr>
        <p:spPr>
          <a:xfrm>
            <a:off x="374904" y="4786518"/>
            <a:ext cx="11441887" cy="1449689"/>
          </a:xfrm>
          <a:prstGeom prst="roundRect">
            <a:avLst>
              <a:gd name="adj" fmla="val 2102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77958"/>
            <a:ext cx="11112703" cy="13582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РЕНТГЕНОВСКАЯ КРИСТАЛЛОГРАФИЯ</a:t>
            </a:r>
          </a:p>
        </p:txBody>
      </p:sp>
      <p:sp>
        <p:nvSpPr>
          <p:cNvPr id="6" name="TextBox 5"/>
          <p:cNvSpPr txBox="1"/>
          <p:nvPr/>
        </p:nvSpPr>
        <p:spPr>
          <a:xfrm>
            <a:off x="640080" y="1725375"/>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42797"/>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КРИОЭЛЕКТРОННАЯ МИКРОСКОПИЯ</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42797"/>
            <a:ext cx="31149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616371"/>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707811"/>
            <a:ext cx="11112703" cy="25283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 </a:t>
            </a:r>
            <a:r>
              <a:rPr sz="1500" b="1" i="0">
                <a:solidFill>
                  <a:srgbClr val="21295C"/>
                </a:solidFill>
                <a:latin typeface="Arial"/>
              </a:rPr>
              <a:t>Объём экспериментальных депозиций не упал.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Ожидаемая форма «шаг исчез» числами не подтверждается.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сравнения — сама кривая до события: плато и рост начались раньше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предсказание даёт одну статичную укладку и не даёт прочности связывания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появился новый шаг — сверить предсказание с опытом, и делает это тот же биолог</a:t>
            </a:r>
          </a:p>
          <a:p>
            <a:pPr algn="l">
              <a:lnSpc>
                <a:spcPct val="126000"/>
              </a:lnSpc>
              <a:spcBef>
                <a:spcPts val="700"/>
              </a:spcBef>
            </a:pPr>
            <a:r>
              <a:rPr sz="1200" b="0" i="0">
                <a:solidFill>
                  <a:srgbClr val="21295C"/>
                </a:solidFill>
                <a:latin typeface="Arial"/>
              </a:rPr>
              <a:t/>
            </a:r>
            <a:r>
              <a:rPr sz="1200" b="0" i="1">
                <a:solidFill>
                  <a:srgbClr val="1C7293"/>
                </a:solidFill>
                <a:latin typeface="Arial"/>
              </a:rPr>
              <a:t>Честная формулировка: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200" b="0" i="1">
                <a:solidFill>
                  <a:srgbClr val="1C7293"/>
                </a:solidFill>
                <a:latin typeface="Arial"/>
              </a:rPr>
              <a:t> · </a:t>
            </a:r>
            <a:r>
              <a:rPr sz="12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300" b="0" i="0">
                <a:solidFill>
                  <a:srgbClr val="21295C"/>
                </a:solidFill>
                <a:latin typeface="Arial"/>
              </a:rPr>
              <a:t/>
            </a:r>
            <a:r>
              <a:rPr sz="13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пройти первую фазу чаще базы: </a:t>
            </a:r>
            <a:r>
              <a:rPr sz="1300" b="1" i="0">
                <a:solidFill>
                  <a:srgbClr val="21295C"/>
                </a:solidFill>
                <a:latin typeface="Arial"/>
              </a:rPr>
              <a:t>80–90 из ста</a:t>
            </a:r>
            <a:r>
              <a:rPr sz="1300" b="0" i="0">
                <a:solidFill>
                  <a:srgbClr val="21295C"/>
                </a:solidFill>
                <a:latin typeface="Arial"/>
              </a:rPr>
              <a:t> против </a:t>
            </a:r>
            <a:r>
              <a:rPr sz="1300" b="1" i="0">
                <a:solidFill>
                  <a:srgbClr val="21295C"/>
                </a:solidFill>
                <a:latin typeface="Arial"/>
              </a:rPr>
              <a:t>52,0</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пройти вторую фазу лучше базы: около </a:t>
            </a:r>
            <a:r>
              <a:rPr sz="1300" b="1" i="0">
                <a:solidFill>
                  <a:srgbClr val="21295C"/>
                </a:solidFill>
                <a:latin typeface="Arial"/>
              </a:rPr>
              <a:t>40</a:t>
            </a:r>
            <a:r>
              <a:rPr sz="1300" b="0" i="0">
                <a:solidFill>
                  <a:srgbClr val="21295C"/>
                </a:solidFill>
                <a:latin typeface="Arial"/>
              </a:rPr>
              <a:t> против </a:t>
            </a:r>
            <a:r>
              <a:rPr sz="1300" b="1" i="0">
                <a:solidFill>
                  <a:srgbClr val="21295C"/>
                </a:solidFill>
                <a:latin typeface="Arial"/>
              </a:rPr>
              <a:t>28,9</a:t>
            </a:r>
            <a:r>
              <a:rPr sz="1300" b="0" i="0">
                <a:solidFill>
                  <a:srgbClr val="21295C"/>
                </a:solidFill>
                <a:latin typeface="Arial"/>
              </a:rPr>
              <a:t> — сопоставимо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получить одобрение: за десять лет категории — </a:t>
            </a:r>
            <a:r>
              <a:rPr sz="1300" b="1" i="0">
                <a:solidFill>
                  <a:srgbClr val="21295C"/>
                </a:solidFill>
                <a:latin typeface="Arial"/>
              </a:rPr>
              <a:t>ноль</a:t>
            </a:r>
            <a:r>
              <a:rPr sz="1300" b="0" i="0">
                <a:solidFill>
                  <a:srgbClr val="21295C"/>
                </a:solidFill>
                <a:latin typeface="Arial"/>
              </a:rPr>
              <a:t> при 75 и 117 активах</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и на молекуле, и на отрасли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объём на том же месте упал</a:t>
            </a:r>
            <a:r>
              <a:rPr sz="1300" b="0" i="0">
                <a:solidFill>
                  <a:srgbClr val="21295C"/>
                </a:solidFill>
                <a:latin typeface="Arial"/>
              </a:rPr>
              <a:t> — тот же шаг, тот же исполнитель, меньше итераций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изменился порядок работ</a:t>
            </a:r>
            <a:r>
              <a:rPr sz="1300" b="0" i="0">
                <a:solidFill>
                  <a:srgbClr val="21295C"/>
                </a:solidFill>
                <a:latin typeface="Arial"/>
              </a:rPr>
              <a:t> — на масштабе модели бизнеса; препарата это не касается</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воронка переходов </a:t>
            </a:r>
            <a:r>
              <a:rPr sz="1300" b="1" i="0">
                <a:solidFill>
                  <a:srgbClr val="21295C"/>
                </a:solidFill>
                <a:latin typeface="Arial"/>
              </a:rPr>
              <a:t>52,0 · 28,9 · 7,9</a:t>
            </a:r>
            <a:r>
              <a:rPr sz="1300" b="0" i="0">
                <a:solidFill>
                  <a:srgbClr val="21295C"/>
                </a:solidFill>
                <a:latin typeface="Arial"/>
              </a:rPr>
              <a:t> — база для сравнения</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форма «шаг исчез» числами депозитария не подтверждается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Ранний шаг подешевел многократно. Одобрений — </a:t>
            </a:r>
            <a:r>
              <a:rPr sz="1300" b="1" i="0">
                <a:solidFill>
                  <a:srgbClr val="21295C"/>
                </a:solidFill>
                <a:latin typeface="Arial"/>
              </a:rPr>
              <a:t>0</a:t>
            </a:r>
            <a:r>
              <a:rPr sz="1300" b="0" i="0">
                <a:solidFill>
                  <a:srgbClr val="21295C"/>
                </a:solidFill>
                <a:latin typeface="Arial"/>
              </a:rPr>
              <a:t>. Узкое место лежит дальше и не подешевело.</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 платежа здесь пуст: платит не человек</a:t>
            </a:r>
            <a:r>
              <a:rPr sz="13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442937"/>
          </a:xfrm>
          <a:prstGeom prst="roundRect">
            <a:avLst>
              <a:gd name="adj" fmla="val 6860"/>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02299"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0969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441795" y="1335024"/>
            <a:ext cx="2366506"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588099" y="1335024"/>
            <a:ext cx="207389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4808301" y="1335024"/>
            <a:ext cx="2665972"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54605" y="1335024"/>
            <a:ext cx="237336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7474274" y="1335024"/>
            <a:ext cx="4177925"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620578" y="1335024"/>
            <a:ext cx="38853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1902299"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441795" y="1718403"/>
            <a:ext cx="2366506"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88099" y="171840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4808301" y="1718403"/>
            <a:ext cx="2665972"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54605" y="171840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анализ · диагноз)</a:t>
            </a:r>
          </a:p>
        </p:txBody>
      </p:sp>
      <p:sp>
        <p:nvSpPr>
          <p:cNvPr id="19" name="Rectangle 18"/>
          <p:cNvSpPr/>
          <p:nvPr/>
        </p:nvSpPr>
        <p:spPr>
          <a:xfrm>
            <a:off x="7474274" y="1718403"/>
            <a:ext cx="4177925"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620578" y="171840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1902299"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441795" y="2101783"/>
            <a:ext cx="2366506"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88099" y="210178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4808301" y="2101783"/>
            <a:ext cx="2665972"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54605" y="210178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удержание)</a:t>
            </a:r>
          </a:p>
        </p:txBody>
      </p:sp>
      <p:sp>
        <p:nvSpPr>
          <p:cNvPr id="27" name="Rectangle 26"/>
          <p:cNvSpPr/>
          <p:nvPr/>
        </p:nvSpPr>
        <p:spPr>
          <a:xfrm>
            <a:off x="7474274" y="2101783"/>
            <a:ext cx="4177925"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620578" y="210178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1902299"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441795" y="2485163"/>
            <a:ext cx="2366506"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88099" y="248516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запись)</a:t>
            </a:r>
          </a:p>
        </p:txBody>
      </p:sp>
      <p:sp>
        <p:nvSpPr>
          <p:cNvPr id="33" name="Rectangle 32"/>
          <p:cNvSpPr/>
          <p:nvPr/>
        </p:nvSpPr>
        <p:spPr>
          <a:xfrm>
            <a:off x="4808301" y="2485163"/>
            <a:ext cx="2665972"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54605" y="248516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7474274" y="2485163"/>
            <a:ext cx="4177925"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620578" y="248516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1902299"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441795" y="2868543"/>
            <a:ext cx="2366506"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88099" y="286854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4808301" y="2868543"/>
            <a:ext cx="2665972"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54605" y="286854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7474274" y="2868543"/>
            <a:ext cx="4177925"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620578" y="2868543"/>
            <a:ext cx="3885317"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перебор гипотез по графу</a:t>
            </a:r>
            <a:r>
              <a:rPr sz="1200" b="0" i="0">
                <a:solidFill>
                  <a:srgbClr val="21295C"/>
                </a:solidFill>
                <a:latin typeface="Arial"/>
              </a:rPr>
              <a:t> (анализ · наблюдение)</a:t>
            </a:r>
          </a:p>
        </p:txBody>
      </p:sp>
      <p:sp>
        <p:nvSpPr>
          <p:cNvPr id="45" name="TextBox 44"/>
          <p:cNvSpPr txBox="1"/>
          <p:nvPr/>
        </p:nvSpPr>
        <p:spPr>
          <a:xfrm>
            <a:off x="539496" y="3398227"/>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Полужирная клетка — её занял этот раздел. В скобках — кто занимал её раньше. Прочерк — пусто.</a:t>
            </a:r>
          </a:p>
        </p:txBody>
      </p:sp>
      <p:sp>
        <p:nvSpPr>
          <p:cNvPr id="46" name="TextBox 45"/>
          <p:cNvSpPr txBox="1"/>
          <p:nvPr/>
        </p:nvSpPr>
        <p:spPr>
          <a:xfrm>
            <a:off x="539496" y="379789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Несущая клетка раздела в окно не попадает: это генерация на структуре</a:t>
            </a:r>
            <a:r>
              <a:rPr sz="1250" b="0" i="0">
                <a:solidFill>
                  <a:srgbClr val="21295C"/>
                </a:solidFill>
                <a:latin typeface="Arial"/>
              </a:rPr>
              <a:t> — молекула под мишень, дизайн белка. Строки «генерация» в окне нет вовсе: вход свёл поиск и генерацию одной строкой. Клетку добавляет отрасль.</a:t>
            </a:r>
          </a:p>
        </p:txBody>
      </p:sp>
      <p:sp>
        <p:nvSpPr>
          <p:cNvPr id="47" name="TextBox 46"/>
          <p:cNvSpPr txBox="1"/>
          <p:nvPr/>
        </p:nvSpPr>
        <p:spPr>
          <a:xfrm>
            <a:off x="539496" y="445093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Текст и изображение в этом разделе пусты целиком:</a:t>
            </a:r>
            <a:r>
              <a:rPr sz="1250" b="0" i="0">
                <a:solidFill>
                  <a:srgbClr val="21295C"/>
                </a:solidFill>
                <a:latin typeface="Arial"/>
              </a:rPr>
              <a:t> история успеха на снимке — история не про разработку лекарства.</a:t>
            </a:r>
          </a:p>
        </p:txBody>
      </p:sp>
      <p:sp>
        <p:nvSpPr>
          <p:cNvPr id="48" name="Rounded Rectangle 47"/>
          <p:cNvSpPr/>
          <p:nvPr/>
        </p:nvSpPr>
        <p:spPr>
          <a:xfrm>
            <a:off x="630936" y="493791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50605"/>
            <a:ext cx="10728655"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генерация молекулы и белка</a:t>
            </a:r>
            <a:r>
              <a:rPr sz="1250" b="0" i="0">
                <a:solidFill>
                  <a:srgbClr val="21295C"/>
                </a:solidFill>
                <a:latin typeface="Arial"/>
              </a:rPr>
              <a:t> — Chemistry42 · REINVENT · RFdiffusion · AlphaFold 3</a:t>
            </a:r>
          </a:p>
        </p:txBody>
      </p:sp>
      <p:sp>
        <p:nvSpPr>
          <p:cNvPr id="50" name="Rounded Rectangle 49"/>
          <p:cNvSpPr/>
          <p:nvPr/>
        </p:nvSpPr>
        <p:spPr>
          <a:xfrm>
            <a:off x="630936" y="5337588"/>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50275"/>
            <a:ext cx="10728655"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перебор гипотез «мишень — болезнь — препарат»</a:t>
            </a:r>
            <a:r>
              <a:rPr sz="1250" b="0" i="0">
                <a:solidFill>
                  <a:srgbClr val="21295C"/>
                </a:solidFill>
                <a:latin typeface="Arial"/>
              </a:rPr>
              <a:t> — модель на графе связей</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16631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02900"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102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2642396" y="1335024"/>
            <a:ext cx="262855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2788700" y="1335024"/>
            <a:ext cx="233594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5270953" y="1335024"/>
            <a:ext cx="2967663"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17257" y="1335024"/>
            <a:ext cx="26750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38616" y="1335024"/>
            <a:ext cx="341358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84920" y="1335024"/>
            <a:ext cx="312097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102900"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2642396" y="1745752"/>
            <a:ext cx="2628556"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88700" y="1745752"/>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5270953" y="1745752"/>
            <a:ext cx="2967663"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17257" y="1745752"/>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анализ · диагноз)</a:t>
            </a:r>
          </a:p>
        </p:txBody>
      </p:sp>
      <p:sp>
        <p:nvSpPr>
          <p:cNvPr id="19" name="Rectangle 18"/>
          <p:cNvSpPr/>
          <p:nvPr/>
        </p:nvSpPr>
        <p:spPr>
          <a:xfrm>
            <a:off x="8238616" y="1745752"/>
            <a:ext cx="3413582"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84920" y="1745752"/>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102900"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2642396" y="2156480"/>
            <a:ext cx="2628556"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88700" y="2156480"/>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5270953" y="2156480"/>
            <a:ext cx="2967663"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17257" y="2156480"/>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диагноз · удержание)</a:t>
            </a:r>
          </a:p>
        </p:txBody>
      </p:sp>
      <p:sp>
        <p:nvSpPr>
          <p:cNvPr id="27" name="Rectangle 26"/>
          <p:cNvSpPr/>
          <p:nvPr/>
        </p:nvSpPr>
        <p:spPr>
          <a:xfrm>
            <a:off x="8238616" y="2156480"/>
            <a:ext cx="3413582"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84920" y="2156480"/>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102900"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2642396" y="2567209"/>
            <a:ext cx="2628556"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88700" y="2567209"/>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диагноз · запись)</a:t>
            </a:r>
          </a:p>
        </p:txBody>
      </p:sp>
      <p:sp>
        <p:nvSpPr>
          <p:cNvPr id="33" name="Rectangle 32"/>
          <p:cNvSpPr/>
          <p:nvPr/>
        </p:nvSpPr>
        <p:spPr>
          <a:xfrm>
            <a:off x="5270953" y="2567209"/>
            <a:ext cx="2967663"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17257" y="2567209"/>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38616" y="2567209"/>
            <a:ext cx="3413582"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84920" y="2567209"/>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102900"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2642396" y="2977937"/>
            <a:ext cx="2628556"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88700" y="2977937"/>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5270953" y="2977937"/>
            <a:ext cx="2967663"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17257" y="2977937"/>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38616" y="2977937"/>
            <a:ext cx="3413582"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84920" y="2977937"/>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(анализ · наблюдение · лекарство)</a:t>
            </a:r>
          </a:p>
        </p:txBody>
      </p:sp>
      <p:sp>
        <p:nvSpPr>
          <p:cNvPr id="45" name="TextBox 44"/>
          <p:cNvSpPr txBox="1"/>
          <p:nvPr/>
        </p:nvSpPr>
        <p:spPr>
          <a:xfrm>
            <a:off x="539496" y="3534969"/>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Полужирного в сетке нет, и это не упущение набора.</a:t>
            </a:r>
            <a:r>
              <a:rPr sz="1400" b="0" i="0">
                <a:solidFill>
                  <a:srgbClr val="21295C"/>
                </a:solidFill>
                <a:latin typeface="Arial"/>
              </a:rPr>
              <a:t> В скобках — кто занял клетку раньше; прочерк — пусто.</a:t>
            </a:r>
          </a:p>
        </p:txBody>
      </p:sp>
      <p:sp>
        <p:nvSpPr>
          <p:cNvPr id="46" name="TextBox 45"/>
          <p:cNvSpPr txBox="1"/>
          <p:nvPr/>
        </p:nvSpPr>
        <p:spPr>
          <a:xfrm>
            <a:off x="539496" y="3963874"/>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Клетка раздела лежит вне окна: это распознавание на видео</a:t>
            </a:r>
            <a:r>
              <a:rPr sz="1400" b="0" i="0">
                <a:solidFill>
                  <a:srgbClr val="21295C"/>
                </a:solidFill>
                <a:latin typeface="Arial"/>
              </a:rPr>
              <a:t> — подсветка на потоке кадров во время процедуры. Столбца «видео» в окне нет: оно собрано под клинику, где читают снимок и карту.</a:t>
            </a:r>
          </a:p>
        </p:txBody>
      </p:sp>
      <p:sp>
        <p:nvSpPr>
          <p:cNvPr id="47" name="TextBox 46"/>
          <p:cNvSpPr txBox="1"/>
          <p:nvPr/>
        </p:nvSpPr>
        <p:spPr>
          <a:xfrm>
            <a:off x="539496" y="4675380"/>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Два раздела подряд окну ничего не прибавили — оба стоят вне него.</a:t>
            </a:r>
            <a:r>
              <a:rPr sz="1400" b="0" i="0">
                <a:solidFill>
                  <a:srgbClr val="21295C"/>
                </a:solidFill>
                <a:latin typeface="Arial"/>
              </a:rPr>
              <a:t> А доверие клетки не получает вовсе: режима в нём нет, и описывать эту плоскость приходится словами.</a:t>
            </a:r>
          </a:p>
        </p:txBody>
      </p:sp>
      <p:sp>
        <p:nvSpPr>
          <p:cNvPr id="48" name="Rounded Rectangle 47"/>
          <p:cNvSpPr/>
          <p:nvPr/>
        </p:nvSpPr>
        <p:spPr>
          <a:xfrm>
            <a:off x="630936" y="548467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386886"/>
            <a:ext cx="10728655"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подсветка на видео</a:t>
            </a:r>
            <a:r>
              <a:rPr sz="1400" b="0" i="0">
                <a:solidFill>
                  <a:srgbClr val="21295C"/>
                </a:solidFill>
                <a:latin typeface="Arial"/>
              </a:rPr>
              <a:t> — GI Genius · CAD EYE · ENDO-AID CADe</a:t>
            </a:r>
          </a:p>
        </p:txBody>
      </p:sp>
      <p:sp>
        <p:nvSpPr>
          <p:cNvPr id="50" name="Rounded Rectangle 49"/>
          <p:cNvSpPr/>
          <p:nvPr/>
        </p:nvSpPr>
        <p:spPr>
          <a:xfrm>
            <a:off x="630936" y="59135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15791"/>
            <a:ext cx="10728655"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второй читатель на снимке</a:t>
            </a:r>
            <a:r>
              <a:rPr sz="1400" b="0" i="0">
                <a:solidFill>
                  <a:srgbClr val="21295C"/>
                </a:solidFill>
                <a:latin typeface="Arial"/>
              </a:rPr>
              <a:t> — Transpara · Lunit INSIGHT · iCAD ProFound</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537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611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1193293" y="1335024"/>
            <a:ext cx="371612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1339597" y="1335024"/>
            <a:ext cx="342352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форма</a:t>
            </a:r>
          </a:p>
        </p:txBody>
      </p:sp>
      <p:sp>
        <p:nvSpPr>
          <p:cNvPr id="9" name="Rectangle 8"/>
          <p:cNvSpPr/>
          <p:nvPr/>
        </p:nvSpPr>
        <p:spPr>
          <a:xfrm>
            <a:off x="4909423" y="1335024"/>
            <a:ext cx="1896970"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055727" y="1335024"/>
            <a:ext cx="160436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мерит</a:t>
            </a:r>
          </a:p>
        </p:txBody>
      </p:sp>
      <p:sp>
        <p:nvSpPr>
          <p:cNvPr id="11" name="Rectangle 10"/>
          <p:cNvSpPr/>
          <p:nvPr/>
        </p:nvSpPr>
        <p:spPr>
          <a:xfrm>
            <a:off x="6806393" y="1335024"/>
            <a:ext cx="4845806"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952697" y="1335024"/>
            <a:ext cx="455319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счёт за лекцию</a:t>
            </a:r>
          </a:p>
        </p:txBody>
      </p:sp>
      <p:sp>
        <p:nvSpPr>
          <p:cNvPr id="13" name="Rectangle 12"/>
          <p:cNvSpPr/>
          <p:nvPr/>
        </p:nvSpPr>
        <p:spPr>
          <a:xfrm>
            <a:off x="539496" y="1745752"/>
            <a:ext cx="653797"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1</a:t>
            </a:r>
          </a:p>
        </p:txBody>
      </p:sp>
      <p:sp>
        <p:nvSpPr>
          <p:cNvPr id="15" name="Rectangle 14"/>
          <p:cNvSpPr/>
          <p:nvPr/>
        </p:nvSpPr>
        <p:spPr>
          <a:xfrm>
            <a:off x="1193293" y="1745752"/>
            <a:ext cx="371612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39597" y="174575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переехала на другой шаг</a:t>
            </a:r>
          </a:p>
        </p:txBody>
      </p:sp>
      <p:sp>
        <p:nvSpPr>
          <p:cNvPr id="17" name="Rectangle 16"/>
          <p:cNvSpPr/>
          <p:nvPr/>
        </p:nvSpPr>
        <p:spPr>
          <a:xfrm>
            <a:off x="4909423" y="1745752"/>
            <a:ext cx="1896970"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055727" y="174575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19" name="Rectangle 18"/>
          <p:cNvSpPr/>
          <p:nvPr/>
        </p:nvSpPr>
        <p:spPr>
          <a:xfrm>
            <a:off x="6806393" y="1745752"/>
            <a:ext cx="4845806"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952697" y="1745752"/>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одобрений регулятора </a:t>
            </a:r>
            <a:r>
              <a:rPr sz="1350" b="1" i="0">
                <a:solidFill>
                  <a:srgbClr val="21295C"/>
                </a:solidFill>
                <a:latin typeface="Arial"/>
              </a:rPr>
              <a:t>ноль</a:t>
            </a:r>
          </a:p>
        </p:txBody>
      </p:sp>
      <p:sp>
        <p:nvSpPr>
          <p:cNvPr id="21" name="Rectangle 20"/>
          <p:cNvSpPr/>
          <p:nvPr/>
        </p:nvSpPr>
        <p:spPr>
          <a:xfrm>
            <a:off x="539496" y="2156480"/>
            <a:ext cx="653797"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a:t>
            </a:r>
          </a:p>
        </p:txBody>
      </p:sp>
      <p:sp>
        <p:nvSpPr>
          <p:cNvPr id="23" name="Rectangle 22"/>
          <p:cNvSpPr/>
          <p:nvPr/>
        </p:nvSpPr>
        <p:spPr>
          <a:xfrm>
            <a:off x="1193293" y="2156480"/>
            <a:ext cx="371612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39597" y="215648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исчез совсем</a:t>
            </a:r>
          </a:p>
        </p:txBody>
      </p:sp>
      <p:sp>
        <p:nvSpPr>
          <p:cNvPr id="25" name="Rectangle 24"/>
          <p:cNvSpPr/>
          <p:nvPr/>
        </p:nvSpPr>
        <p:spPr>
          <a:xfrm>
            <a:off x="4909423" y="2156480"/>
            <a:ext cx="1896970"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055727" y="215648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27" name="Rectangle 26"/>
          <p:cNvSpPr/>
          <p:nvPr/>
        </p:nvSpPr>
        <p:spPr>
          <a:xfrm>
            <a:off x="6806393" y="2156480"/>
            <a:ext cx="4845806"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952697" y="2156480"/>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случая не встретилось</a:t>
            </a:r>
          </a:p>
        </p:txBody>
      </p:sp>
      <p:sp>
        <p:nvSpPr>
          <p:cNvPr id="29" name="Rectangle 28"/>
          <p:cNvSpPr/>
          <p:nvPr/>
        </p:nvSpPr>
        <p:spPr>
          <a:xfrm>
            <a:off x="539496" y="2567209"/>
            <a:ext cx="653797"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3</a:t>
            </a:r>
          </a:p>
        </p:txBody>
      </p:sp>
      <p:sp>
        <p:nvSpPr>
          <p:cNvPr id="31" name="Rectangle 30"/>
          <p:cNvSpPr/>
          <p:nvPr/>
        </p:nvSpPr>
        <p:spPr>
          <a:xfrm>
            <a:off x="1193293" y="2567209"/>
            <a:ext cx="371612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39597" y="256720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появился</a:t>
            </a:r>
          </a:p>
        </p:txBody>
      </p:sp>
      <p:sp>
        <p:nvSpPr>
          <p:cNvPr id="33" name="Rectangle 32"/>
          <p:cNvSpPr/>
          <p:nvPr/>
        </p:nvSpPr>
        <p:spPr>
          <a:xfrm>
            <a:off x="4909423" y="2567209"/>
            <a:ext cx="1896970"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055727" y="256720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35" name="Rectangle 34"/>
          <p:cNvSpPr/>
          <p:nvPr/>
        </p:nvSpPr>
        <p:spPr>
          <a:xfrm>
            <a:off x="6806393" y="2567209"/>
            <a:ext cx="4845806"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952697" y="2567209"/>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разбор расхождений </a:t>
            </a:r>
            <a:r>
              <a:rPr sz="1350" b="1" i="0">
                <a:solidFill>
                  <a:srgbClr val="21295C"/>
                </a:solidFill>
                <a:latin typeface="Arial"/>
              </a:rPr>
              <a:t>+53 %</a:t>
            </a:r>
          </a:p>
        </p:txBody>
      </p:sp>
      <p:sp>
        <p:nvSpPr>
          <p:cNvPr id="37" name="Rectangle 36"/>
          <p:cNvSpPr/>
          <p:nvPr/>
        </p:nvSpPr>
        <p:spPr>
          <a:xfrm>
            <a:off x="539496" y="2977937"/>
            <a:ext cx="653797"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a:t>
            </a:r>
          </a:p>
        </p:txBody>
      </p:sp>
      <p:sp>
        <p:nvSpPr>
          <p:cNvPr id="39" name="Rectangle 38"/>
          <p:cNvSpPr/>
          <p:nvPr/>
        </p:nvSpPr>
        <p:spPr>
          <a:xfrm>
            <a:off x="1193293" y="2977937"/>
            <a:ext cx="371612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39597" y="2977937"/>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выросла на том же месте</a:t>
            </a:r>
          </a:p>
        </p:txBody>
      </p:sp>
      <p:sp>
        <p:nvSpPr>
          <p:cNvPr id="41" name="Rectangle 40"/>
          <p:cNvSpPr/>
          <p:nvPr/>
        </p:nvSpPr>
        <p:spPr>
          <a:xfrm>
            <a:off x="4909423" y="2977937"/>
            <a:ext cx="1896970"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055727" y="2977937"/>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43" name="Rectangle 42"/>
          <p:cNvSpPr/>
          <p:nvPr/>
        </p:nvSpPr>
        <p:spPr>
          <a:xfrm>
            <a:off x="6806393" y="2977937"/>
            <a:ext cx="4845806"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952697" y="2977937"/>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тревога часто, подтверждается редко</a:t>
            </a:r>
          </a:p>
        </p:txBody>
      </p:sp>
      <p:sp>
        <p:nvSpPr>
          <p:cNvPr id="45" name="Rectangle 44"/>
          <p:cNvSpPr/>
          <p:nvPr/>
        </p:nvSpPr>
        <p:spPr>
          <a:xfrm>
            <a:off x="539496" y="3388665"/>
            <a:ext cx="653797" cy="410728"/>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88665"/>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4а</a:t>
            </a:r>
          </a:p>
        </p:txBody>
      </p:sp>
      <p:sp>
        <p:nvSpPr>
          <p:cNvPr id="47" name="Rectangle 46"/>
          <p:cNvSpPr/>
          <p:nvPr/>
        </p:nvSpPr>
        <p:spPr>
          <a:xfrm>
            <a:off x="1193293" y="3388665"/>
            <a:ext cx="3716129" cy="410728"/>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39597" y="3388665"/>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на том же месте упала</a:t>
            </a:r>
          </a:p>
        </p:txBody>
      </p:sp>
      <p:sp>
        <p:nvSpPr>
          <p:cNvPr id="49" name="Rectangle 48"/>
          <p:cNvSpPr/>
          <p:nvPr/>
        </p:nvSpPr>
        <p:spPr>
          <a:xfrm>
            <a:off x="4909423" y="3388665"/>
            <a:ext cx="1896970" cy="410728"/>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055727" y="3388665"/>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51" name="Rectangle 50"/>
          <p:cNvSpPr/>
          <p:nvPr/>
        </p:nvSpPr>
        <p:spPr>
          <a:xfrm>
            <a:off x="6806393" y="3388665"/>
            <a:ext cx="4845806" cy="410728"/>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952697" y="3388665"/>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две реализации, знаки противоположные</a:t>
            </a:r>
          </a:p>
        </p:txBody>
      </p:sp>
      <p:sp>
        <p:nvSpPr>
          <p:cNvPr id="53" name="Rectangle 52"/>
          <p:cNvSpPr/>
          <p:nvPr/>
        </p:nvSpPr>
        <p:spPr>
          <a:xfrm>
            <a:off x="539496" y="3799394"/>
            <a:ext cx="653797" cy="410728"/>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99394"/>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5</a:t>
            </a:r>
          </a:p>
        </p:txBody>
      </p:sp>
      <p:sp>
        <p:nvSpPr>
          <p:cNvPr id="55" name="Rectangle 54"/>
          <p:cNvSpPr/>
          <p:nvPr/>
        </p:nvSpPr>
        <p:spPr>
          <a:xfrm>
            <a:off x="1193293" y="3799394"/>
            <a:ext cx="3716129" cy="410728"/>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39597" y="3799394"/>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сменился</a:t>
            </a:r>
          </a:p>
        </p:txBody>
      </p:sp>
      <p:sp>
        <p:nvSpPr>
          <p:cNvPr id="57" name="Rectangle 56"/>
          <p:cNvSpPr/>
          <p:nvPr/>
        </p:nvSpPr>
        <p:spPr>
          <a:xfrm>
            <a:off x="4909423" y="3799394"/>
            <a:ext cx="1896970" cy="410728"/>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055727" y="3799394"/>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рука</a:t>
            </a:r>
          </a:p>
        </p:txBody>
      </p:sp>
      <p:sp>
        <p:nvSpPr>
          <p:cNvPr id="59" name="Rectangle 58"/>
          <p:cNvSpPr/>
          <p:nvPr/>
        </p:nvSpPr>
        <p:spPr>
          <a:xfrm>
            <a:off x="6806393" y="3799394"/>
            <a:ext cx="4845806" cy="410728"/>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952697" y="3799394"/>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чтение ниже </a:t>
            </a:r>
            <a:r>
              <a:rPr sz="1350" b="1" i="0">
                <a:solidFill>
                  <a:srgbClr val="21295C"/>
                </a:solidFill>
                <a:latin typeface="Arial"/>
              </a:rPr>
              <a:t>на 44,3 %</a:t>
            </a:r>
          </a:p>
        </p:txBody>
      </p:sp>
      <p:sp>
        <p:nvSpPr>
          <p:cNvPr id="61" name="Rectangle 60"/>
          <p:cNvSpPr/>
          <p:nvPr/>
        </p:nvSpPr>
        <p:spPr>
          <a:xfrm>
            <a:off x="539496" y="4210122"/>
            <a:ext cx="653797" cy="410728"/>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21012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6</a:t>
            </a:r>
          </a:p>
        </p:txBody>
      </p:sp>
      <p:sp>
        <p:nvSpPr>
          <p:cNvPr id="63" name="Rectangle 62"/>
          <p:cNvSpPr/>
          <p:nvPr/>
        </p:nvSpPr>
        <p:spPr>
          <a:xfrm>
            <a:off x="1193293" y="4210122"/>
            <a:ext cx="3716129" cy="410728"/>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39597" y="421012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Изменился порядок работ</a:t>
            </a:r>
          </a:p>
        </p:txBody>
      </p:sp>
      <p:sp>
        <p:nvSpPr>
          <p:cNvPr id="65" name="Rectangle 64"/>
          <p:cNvSpPr/>
          <p:nvPr/>
        </p:nvSpPr>
        <p:spPr>
          <a:xfrm>
            <a:off x="4909423" y="4210122"/>
            <a:ext cx="1896970" cy="410728"/>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055727" y="421012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a:t>
            </a:r>
          </a:p>
        </p:txBody>
      </p:sp>
      <p:sp>
        <p:nvSpPr>
          <p:cNvPr id="67" name="Rectangle 66"/>
          <p:cNvSpPr/>
          <p:nvPr/>
        </p:nvSpPr>
        <p:spPr>
          <a:xfrm>
            <a:off x="6806393" y="4210122"/>
            <a:ext cx="4845806" cy="410728"/>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952697" y="4210122"/>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счёта нет</a:t>
            </a:r>
          </a:p>
        </p:txBody>
      </p:sp>
      <p:sp>
        <p:nvSpPr>
          <p:cNvPr id="69" name="Rectangle 68"/>
          <p:cNvSpPr/>
          <p:nvPr/>
        </p:nvSpPr>
        <p:spPr>
          <a:xfrm>
            <a:off x="539496" y="4620850"/>
            <a:ext cx="653797" cy="410728"/>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62085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7</a:t>
            </a:r>
          </a:p>
        </p:txBody>
      </p:sp>
      <p:sp>
        <p:nvSpPr>
          <p:cNvPr id="71" name="Rectangle 70"/>
          <p:cNvSpPr/>
          <p:nvPr/>
        </p:nvSpPr>
        <p:spPr>
          <a:xfrm>
            <a:off x="1193293" y="4620850"/>
            <a:ext cx="3716129" cy="410728"/>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39597" y="462085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Сместилась цена ошибки</a:t>
            </a:r>
          </a:p>
        </p:txBody>
      </p:sp>
      <p:sp>
        <p:nvSpPr>
          <p:cNvPr id="73" name="Rectangle 72"/>
          <p:cNvSpPr/>
          <p:nvPr/>
        </p:nvSpPr>
        <p:spPr>
          <a:xfrm>
            <a:off x="4909423" y="4620850"/>
            <a:ext cx="1896970" cy="410728"/>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055727" y="462085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цена ошибки</a:t>
            </a:r>
          </a:p>
        </p:txBody>
      </p:sp>
      <p:sp>
        <p:nvSpPr>
          <p:cNvPr id="75" name="Rectangle 74"/>
          <p:cNvSpPr/>
          <p:nvPr/>
        </p:nvSpPr>
        <p:spPr>
          <a:xfrm>
            <a:off x="6806393" y="4620850"/>
            <a:ext cx="4845806" cy="410728"/>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952697" y="4620850"/>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вмешаться способны — проверено у </a:t>
            </a:r>
            <a:r>
              <a:rPr sz="1350" b="1" i="0">
                <a:solidFill>
                  <a:srgbClr val="21295C"/>
                </a:solidFill>
                <a:latin typeface="Arial"/>
              </a:rPr>
              <a:t>56 из 717</a:t>
            </a:r>
          </a:p>
        </p:txBody>
      </p:sp>
      <p:sp>
        <p:nvSpPr>
          <p:cNvPr id="77" name="Rectangle 76"/>
          <p:cNvSpPr/>
          <p:nvPr/>
        </p:nvSpPr>
        <p:spPr>
          <a:xfrm>
            <a:off x="539496" y="5031579"/>
            <a:ext cx="653797" cy="410728"/>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503157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8</a:t>
            </a:r>
          </a:p>
        </p:txBody>
      </p:sp>
      <p:sp>
        <p:nvSpPr>
          <p:cNvPr id="79" name="Rectangle 78"/>
          <p:cNvSpPr/>
          <p:nvPr/>
        </p:nvSpPr>
        <p:spPr>
          <a:xfrm>
            <a:off x="1193293" y="5031579"/>
            <a:ext cx="3716129" cy="410728"/>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39597" y="503157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тот же, но стал хуже</a:t>
            </a:r>
          </a:p>
        </p:txBody>
      </p:sp>
      <p:sp>
        <p:nvSpPr>
          <p:cNvPr id="81" name="Rectangle 80"/>
          <p:cNvSpPr/>
          <p:nvPr/>
        </p:nvSpPr>
        <p:spPr>
          <a:xfrm>
            <a:off x="4909423" y="5031579"/>
            <a:ext cx="1896970" cy="410728"/>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055727" y="503157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состояние руки</a:t>
            </a:r>
          </a:p>
        </p:txBody>
      </p:sp>
      <p:sp>
        <p:nvSpPr>
          <p:cNvPr id="83" name="Rectangle 82"/>
          <p:cNvSpPr/>
          <p:nvPr/>
        </p:nvSpPr>
        <p:spPr>
          <a:xfrm>
            <a:off x="6806393" y="5031579"/>
            <a:ext cx="4845806" cy="410728"/>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952697" y="5031579"/>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28,4 → 22,4</a:t>
            </a:r>
            <a:r>
              <a:rPr sz="1350" b="0" i="0">
                <a:solidFill>
                  <a:srgbClr val="21295C"/>
                </a:solidFill>
                <a:latin typeface="Arial"/>
              </a:rPr>
              <a:t> из ста процедур</a:t>
            </a:r>
          </a:p>
        </p:txBody>
      </p:sp>
      <p:sp>
        <p:nvSpPr>
          <p:cNvPr id="85" name="TextBox 84"/>
          <p:cNvSpPr txBox="1"/>
          <p:nvPr/>
        </p:nvSpPr>
        <p:spPr>
          <a:xfrm>
            <a:off x="539496" y="5588611"/>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Семь форм из девяти со счётом; у двух счёта нет, и на их месте стоит прочерк. Какая из девяти встречалась у вас на работе — напишите в чат один номер.</a:t>
            </a:r>
          </a:p>
        </p:txBody>
      </p:sp>
      <p:sp>
        <p:nvSpPr>
          <p:cNvPr id="86" name="Rectangle 8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ПОДТВЕРЖДЁННЫХ СЛУЧАЕВ ЗА ЛЕКЦИЮ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три условны — их адрес лежит за другим разделом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ЭКРАНЕ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из пятнадцати</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три строки из каждой графы; остальные живут в реестре раздела</a:t>
            </a:r>
          </a:p>
        </p:txBody>
      </p:sp>
      <p:sp>
        <p:nvSpPr>
          <p:cNvPr id="12" name="Rounded Rectangle 11"/>
          <p:cNvSpPr/>
          <p:nvPr/>
        </p:nvSpPr>
        <p:spPr>
          <a:xfrm>
            <a:off x="374904" y="2592217"/>
            <a:ext cx="11441887" cy="3630892"/>
          </a:xfrm>
          <a:prstGeom prst="roundRect">
            <a:avLst>
              <a:gd name="adj" fmla="val 839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там вообще нет модели.</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500" b="1" i="0">
                <a:solidFill>
                  <a:srgbClr val="21295C"/>
                </a:solidFill>
                <a:latin typeface="Arial"/>
              </a:rPr>
              <a:t>Убери модель</a:t>
            </a:r>
            <a:r>
              <a:rPr sz="1500" b="0" i="0">
                <a:solidFill>
                  <a:srgbClr val="21295C"/>
                </a:solidFill>
                <a:latin typeface="Arial"/>
              </a:rPr>
              <a:t> — механизм продолжит работать.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выигрыш не там, где показывают.</a:t>
            </a:r>
            <a:r>
              <a:rPr sz="15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500" b="1" i="0">
                <a:solidFill>
                  <a:srgbClr val="21295C"/>
                </a:solidFill>
                <a:latin typeface="Arial"/>
              </a:rPr>
              <a:t>Спроси, от чего посчитан эффект.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числа выросли при пересказе.</a:t>
            </a:r>
            <a:r>
              <a:rPr sz="15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500" b="1" i="0">
                <a:solidFill>
                  <a:srgbClr val="21295C"/>
                </a:solidFill>
                <a:latin typeface="Arial"/>
              </a:rPr>
              <a:t>Открой первоисточник: выборка, дизайн, журнал.</a:t>
            </a:r>
          </a:p>
        </p:txBody>
      </p:sp>
      <p:sp>
        <p:nvSpPr>
          <p:cNvPr id="15" name="Rectangle 14"/>
          <p:cNvSpPr/>
          <p:nvPr/>
        </p:nvSpPr>
        <p:spPr>
          <a:xfrm>
            <a:off x="6091275" y="2683657"/>
            <a:ext cx="9144" cy="33565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715204"/>
            <a:ext cx="1257390" cy="374263"/>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15204"/>
            <a:ext cx="9647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строка</a:t>
            </a:r>
          </a:p>
        </p:txBody>
      </p:sp>
      <p:sp>
        <p:nvSpPr>
          <p:cNvPr id="8" name="Rectangle 7"/>
          <p:cNvSpPr/>
          <p:nvPr/>
        </p:nvSpPr>
        <p:spPr>
          <a:xfrm>
            <a:off x="1796886" y="1715204"/>
            <a:ext cx="6316227" cy="374263"/>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3190" y="1715204"/>
            <a:ext cx="602361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что измерено</a:t>
            </a:r>
          </a:p>
        </p:txBody>
      </p:sp>
      <p:sp>
        <p:nvSpPr>
          <p:cNvPr id="10" name="Rectangle 9"/>
          <p:cNvSpPr/>
          <p:nvPr/>
        </p:nvSpPr>
        <p:spPr>
          <a:xfrm>
            <a:off x="8113114" y="1715204"/>
            <a:ext cx="3539085" cy="3742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59418" y="1715204"/>
            <a:ext cx="324647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чем измерено</a:t>
            </a:r>
          </a:p>
        </p:txBody>
      </p:sp>
      <p:sp>
        <p:nvSpPr>
          <p:cNvPr id="12" name="Rectangle 11"/>
          <p:cNvSpPr/>
          <p:nvPr/>
        </p:nvSpPr>
        <p:spPr>
          <a:xfrm>
            <a:off x="539496" y="2089468"/>
            <a:ext cx="1257390" cy="79360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089468"/>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Поведение</a:t>
            </a:r>
          </a:p>
        </p:txBody>
      </p:sp>
      <p:sp>
        <p:nvSpPr>
          <p:cNvPr id="14" name="Rectangle 13"/>
          <p:cNvSpPr/>
          <p:nvPr/>
        </p:nvSpPr>
        <p:spPr>
          <a:xfrm>
            <a:off x="1796886" y="2089468"/>
            <a:ext cx="6316227" cy="79360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3190" y="2089468"/>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зрительный поиск сужается при неверной подсказке · верное решение меняется под влиянием совета · техника падает без помощника · тревоги отклоняют массово</a:t>
            </a:r>
          </a:p>
        </p:txBody>
      </p:sp>
      <p:sp>
        <p:nvSpPr>
          <p:cNvPr id="16" name="Rectangle 15"/>
          <p:cNvSpPr/>
          <p:nvPr/>
        </p:nvSpPr>
        <p:spPr>
          <a:xfrm>
            <a:off x="8113114" y="2089468"/>
            <a:ext cx="3539085" cy="79360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59418" y="2089468"/>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систематический обзор · наблюдение, повторения нет · обзор отклонений</a:t>
            </a:r>
          </a:p>
        </p:txBody>
      </p:sp>
      <p:sp>
        <p:nvSpPr>
          <p:cNvPr id="18" name="Rectangle 17"/>
          <p:cNvSpPr/>
          <p:nvPr/>
        </p:nvSpPr>
        <p:spPr>
          <a:xfrm>
            <a:off x="539496" y="2883075"/>
            <a:ext cx="1257390" cy="79360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83075"/>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Психология</a:t>
            </a:r>
          </a:p>
        </p:txBody>
      </p:sp>
      <p:sp>
        <p:nvSpPr>
          <p:cNvPr id="20" name="Rectangle 19"/>
          <p:cNvSpPr/>
          <p:nvPr/>
        </p:nvSpPr>
        <p:spPr>
          <a:xfrm>
            <a:off x="1796886" y="2883075"/>
            <a:ext cx="6316227" cy="79360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3190" y="2883075"/>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объяснение повышает согласие; качество решения оно не повышает · запись пишется быстрее, вычитка остаётся</a:t>
            </a:r>
          </a:p>
        </p:txBody>
      </p:sp>
      <p:sp>
        <p:nvSpPr>
          <p:cNvPr id="22" name="Rectangle 21"/>
          <p:cNvSpPr/>
          <p:nvPr/>
        </p:nvSpPr>
        <p:spPr>
          <a:xfrm>
            <a:off x="8113114" y="2883075"/>
            <a:ext cx="3539085" cy="79360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59418" y="2883075"/>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полевой опыт · рандомизированное исследование с замером рабочего времени</a:t>
            </a:r>
          </a:p>
        </p:txBody>
      </p:sp>
      <p:sp>
        <p:nvSpPr>
          <p:cNvPr id="24" name="Rectangle 23"/>
          <p:cNvSpPr/>
          <p:nvPr/>
        </p:nvSpPr>
        <p:spPr>
          <a:xfrm>
            <a:off x="539496" y="3676682"/>
            <a:ext cx="1257390" cy="58393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76682"/>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Процесс</a:t>
            </a:r>
          </a:p>
        </p:txBody>
      </p:sp>
      <p:sp>
        <p:nvSpPr>
          <p:cNvPr id="26" name="Rectangle 25"/>
          <p:cNvSpPr/>
          <p:nvPr/>
        </p:nvSpPr>
        <p:spPr>
          <a:xfrm>
            <a:off x="1796886" y="3676682"/>
            <a:ext cx="6316227" cy="58393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3190" y="3676682"/>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113114" y="3676682"/>
            <a:ext cx="3539085" cy="58393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59418" y="3676682"/>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рандомизированное исследование программы скрининга</a:t>
            </a:r>
          </a:p>
        </p:txBody>
      </p:sp>
      <p:sp>
        <p:nvSpPr>
          <p:cNvPr id="30" name="Rectangle 29"/>
          <p:cNvSpPr/>
          <p:nvPr/>
        </p:nvSpPr>
        <p:spPr>
          <a:xfrm>
            <a:off x="539496" y="4260618"/>
            <a:ext cx="1257390" cy="58393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0618"/>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Подпись</a:t>
            </a:r>
          </a:p>
        </p:txBody>
      </p:sp>
      <p:sp>
        <p:nvSpPr>
          <p:cNvPr id="32" name="Rectangle 31"/>
          <p:cNvSpPr/>
          <p:nvPr/>
        </p:nvSpPr>
        <p:spPr>
          <a:xfrm>
            <a:off x="1796886" y="4260618"/>
            <a:ext cx="6316227" cy="58393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3190" y="4260618"/>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норма требует человека финальным звеном — проверено у </a:t>
            </a:r>
            <a:r>
              <a:rPr sz="1150" b="1" i="0">
                <a:solidFill>
                  <a:srgbClr val="21295C"/>
                </a:solidFill>
                <a:latin typeface="Arial"/>
              </a:rPr>
              <a:t>56 из 717</a:t>
            </a:r>
            <a:r>
              <a:rPr sz="1150" b="0" i="0">
                <a:solidFill>
                  <a:srgbClr val="21295C"/>
                </a:solidFill>
                <a:latin typeface="Arial"/>
              </a:rPr>
              <a:t> · надзор говорит о способности вмешаться, о подписи не сказано</a:t>
            </a:r>
          </a:p>
        </p:txBody>
      </p:sp>
      <p:sp>
        <p:nvSpPr>
          <p:cNvPr id="34" name="Rectangle 33"/>
          <p:cNvSpPr/>
          <p:nvPr/>
        </p:nvSpPr>
        <p:spPr>
          <a:xfrm>
            <a:off x="8113114" y="4260618"/>
            <a:ext cx="3539085" cy="58393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59418" y="4260618"/>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обзор поданной регуляторам документации · нормативный текст</a:t>
            </a:r>
          </a:p>
        </p:txBody>
      </p:sp>
      <p:sp>
        <p:nvSpPr>
          <p:cNvPr id="36" name="Rectangle 35"/>
          <p:cNvSpPr/>
          <p:nvPr/>
        </p:nvSpPr>
        <p:spPr>
          <a:xfrm>
            <a:off x="539496" y="4844553"/>
            <a:ext cx="1257390" cy="58393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844553"/>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Контроль</a:t>
            </a:r>
          </a:p>
        </p:txBody>
      </p:sp>
      <p:sp>
        <p:nvSpPr>
          <p:cNvPr id="38" name="Rectangle 37"/>
          <p:cNvSpPr/>
          <p:nvPr/>
        </p:nvSpPr>
        <p:spPr>
          <a:xfrm>
            <a:off x="1796886" y="4844553"/>
            <a:ext cx="6316227" cy="58393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43190" y="4844553"/>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113114" y="4844553"/>
            <a:ext cx="3539085" cy="58393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259418" y="4844553"/>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5747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И то, чего нет ни в одной строке: исхода пациента нет ни у одного разбора ядра.</a:t>
            </a:r>
            <a:r>
              <a:rPr sz="120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a:t>
            </a:r>
            <a:r>
              <a:rPr sz="1400" b="0" i="1">
                <a:solidFill>
                  <a:srgbClr val="21295C"/>
                </a:solidFill>
                <a:latin typeface="Arial"/>
              </a:rPr>
              <a:t>Счёт секунд в лабораторном опыте и доля изделий, у которых способность вмешаться вообще проверяли.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замера падает по мере того, как участие становится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Разрыв между этими двумя вещами измерен, и его стоит приложить к своему рабочему контуру: что в нём отзывается, а что остаётся после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